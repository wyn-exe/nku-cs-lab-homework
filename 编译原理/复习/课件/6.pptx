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3"/>
  </p:notesMasterIdLst>
  <p:handoutMasterIdLst>
    <p:handoutMasterId r:id="rId104"/>
  </p:handoutMasterIdLst>
  <p:sldIdLst>
    <p:sldId id="256" r:id="rId2"/>
    <p:sldId id="334" r:id="rId3"/>
    <p:sldId id="257" r:id="rId4"/>
    <p:sldId id="258" r:id="rId5"/>
    <p:sldId id="259" r:id="rId6"/>
    <p:sldId id="260" r:id="rId7"/>
    <p:sldId id="336" r:id="rId8"/>
    <p:sldId id="261" r:id="rId9"/>
    <p:sldId id="262" r:id="rId10"/>
    <p:sldId id="263" r:id="rId11"/>
    <p:sldId id="264" r:id="rId12"/>
    <p:sldId id="337" r:id="rId13"/>
    <p:sldId id="265" r:id="rId14"/>
    <p:sldId id="266" r:id="rId15"/>
    <p:sldId id="267" r:id="rId16"/>
    <p:sldId id="268" r:id="rId17"/>
    <p:sldId id="269" r:id="rId18"/>
    <p:sldId id="270" r:id="rId19"/>
    <p:sldId id="357" r:id="rId20"/>
    <p:sldId id="271" r:id="rId21"/>
    <p:sldId id="272" r:id="rId22"/>
    <p:sldId id="273" r:id="rId23"/>
    <p:sldId id="274" r:id="rId24"/>
    <p:sldId id="275" r:id="rId25"/>
    <p:sldId id="276" r:id="rId26"/>
    <p:sldId id="335" r:id="rId27"/>
    <p:sldId id="277" r:id="rId28"/>
    <p:sldId id="278" r:id="rId29"/>
    <p:sldId id="279" r:id="rId30"/>
    <p:sldId id="280" r:id="rId31"/>
    <p:sldId id="281" r:id="rId32"/>
    <p:sldId id="282" r:id="rId33"/>
    <p:sldId id="283" r:id="rId34"/>
    <p:sldId id="284" r:id="rId35"/>
    <p:sldId id="285" r:id="rId36"/>
    <p:sldId id="290" r:id="rId37"/>
    <p:sldId id="338" r:id="rId38"/>
    <p:sldId id="339" r:id="rId39"/>
    <p:sldId id="340" r:id="rId40"/>
    <p:sldId id="341" r:id="rId41"/>
    <p:sldId id="342" r:id="rId42"/>
    <p:sldId id="343" r:id="rId43"/>
    <p:sldId id="344" r:id="rId44"/>
    <p:sldId id="345" r:id="rId45"/>
    <p:sldId id="346" r:id="rId46"/>
    <p:sldId id="347" r:id="rId47"/>
    <p:sldId id="348" r:id="rId48"/>
    <p:sldId id="349" r:id="rId49"/>
    <p:sldId id="350" r:id="rId50"/>
    <p:sldId id="351" r:id="rId51"/>
    <p:sldId id="352" r:id="rId52"/>
    <p:sldId id="353" r:id="rId53"/>
    <p:sldId id="354" r:id="rId54"/>
    <p:sldId id="355" r:id="rId55"/>
    <p:sldId id="356" r:id="rId56"/>
    <p:sldId id="287" r:id="rId57"/>
    <p:sldId id="288" r:id="rId58"/>
    <p:sldId id="289" r:id="rId59"/>
    <p:sldId id="291" r:id="rId60"/>
    <p:sldId id="292" r:id="rId61"/>
    <p:sldId id="293" r:id="rId62"/>
    <p:sldId id="294" r:id="rId63"/>
    <p:sldId id="295" r:id="rId64"/>
    <p:sldId id="296" r:id="rId65"/>
    <p:sldId id="297" r:id="rId66"/>
    <p:sldId id="298" r:id="rId67"/>
    <p:sldId id="299" r:id="rId68"/>
    <p:sldId id="300" r:id="rId69"/>
    <p:sldId id="301" r:id="rId70"/>
    <p:sldId id="302" r:id="rId71"/>
    <p:sldId id="303" r:id="rId72"/>
    <p:sldId id="304" r:id="rId73"/>
    <p:sldId id="305" r:id="rId74"/>
    <p:sldId id="306" r:id="rId75"/>
    <p:sldId id="307" r:id="rId76"/>
    <p:sldId id="308" r:id="rId77"/>
    <p:sldId id="309" r:id="rId78"/>
    <p:sldId id="310" r:id="rId79"/>
    <p:sldId id="311" r:id="rId80"/>
    <p:sldId id="312" r:id="rId81"/>
    <p:sldId id="313" r:id="rId82"/>
    <p:sldId id="314" r:id="rId83"/>
    <p:sldId id="315" r:id="rId84"/>
    <p:sldId id="316" r:id="rId85"/>
    <p:sldId id="317" r:id="rId86"/>
    <p:sldId id="318" r:id="rId87"/>
    <p:sldId id="319" r:id="rId88"/>
    <p:sldId id="320" r:id="rId89"/>
    <p:sldId id="321" r:id="rId90"/>
    <p:sldId id="322" r:id="rId91"/>
    <p:sldId id="323" r:id="rId92"/>
    <p:sldId id="324" r:id="rId93"/>
    <p:sldId id="325" r:id="rId94"/>
    <p:sldId id="326" r:id="rId95"/>
    <p:sldId id="327" r:id="rId96"/>
    <p:sldId id="328" r:id="rId97"/>
    <p:sldId id="329" r:id="rId98"/>
    <p:sldId id="330" r:id="rId99"/>
    <p:sldId id="331" r:id="rId100"/>
    <p:sldId id="332" r:id="rId101"/>
    <p:sldId id="333" r:id="rId102"/>
  </p:sldIdLst>
  <p:sldSz cx="9144000" cy="6858000" type="screen4x3"/>
  <p:notesSz cx="6759575" cy="98679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8">
          <p15:clr>
            <a:srgbClr val="A4A3A4"/>
          </p15:clr>
        </p15:guide>
        <p15:guide id="2" pos="212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CF01"/>
    <a:srgbClr val="0000FF"/>
    <a:srgbClr val="3333CC"/>
    <a:srgbClr val="800000"/>
    <a:srgbClr val="99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973" autoAdjust="0"/>
    <p:restoredTop sz="90929"/>
  </p:normalViewPr>
  <p:slideViewPr>
    <p:cSldViewPr>
      <p:cViewPr varScale="1">
        <p:scale>
          <a:sx n="115" d="100"/>
          <a:sy n="115" d="100"/>
        </p:scale>
        <p:origin x="20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6" d="100"/>
          <a:sy n="46" d="100"/>
        </p:scale>
        <p:origin x="-1469" y="-86"/>
      </p:cViewPr>
      <p:guideLst>
        <p:guide orient="horz" pos="3108"/>
        <p:guide pos="212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9FD9A7F3-DA32-468C-A19A-93A070519BCD}"/>
              </a:ext>
            </a:extLst>
          </p:cNvPr>
          <p:cNvSpPr>
            <a:spLocks noGrp="1" noChangeArrowheads="1"/>
          </p:cNvSpPr>
          <p:nvPr>
            <p:ph type="hdr" sz="quarter"/>
          </p:nvPr>
        </p:nvSpPr>
        <p:spPr bwMode="auto">
          <a:xfrm>
            <a:off x="0" y="0"/>
            <a:ext cx="2928938"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vl1pPr>
          </a:lstStyle>
          <a:p>
            <a:pPr>
              <a:defRPr/>
            </a:pPr>
            <a:endParaRPr lang="en-US" altLang="zh-CN"/>
          </a:p>
        </p:txBody>
      </p:sp>
      <p:sp>
        <p:nvSpPr>
          <p:cNvPr id="212995" name="Rectangle 3">
            <a:extLst>
              <a:ext uri="{FF2B5EF4-FFF2-40B4-BE49-F238E27FC236}">
                <a16:creationId xmlns:a16="http://schemas.microsoft.com/office/drawing/2014/main" id="{A6B141C7-CAAE-453F-893E-D96F391B9B93}"/>
              </a:ext>
            </a:extLst>
          </p:cNvPr>
          <p:cNvSpPr>
            <a:spLocks noGrp="1" noChangeArrowheads="1"/>
          </p:cNvSpPr>
          <p:nvPr>
            <p:ph type="dt" sz="quarter" idx="1"/>
          </p:nvPr>
        </p:nvSpPr>
        <p:spPr bwMode="auto">
          <a:xfrm>
            <a:off x="3830638" y="0"/>
            <a:ext cx="2928937"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12996" name="Rectangle 4">
            <a:extLst>
              <a:ext uri="{FF2B5EF4-FFF2-40B4-BE49-F238E27FC236}">
                <a16:creationId xmlns:a16="http://schemas.microsoft.com/office/drawing/2014/main" id="{116E8C79-27B9-428D-A3D4-16862FBB99B9}"/>
              </a:ext>
            </a:extLst>
          </p:cNvPr>
          <p:cNvSpPr>
            <a:spLocks noGrp="1" noChangeArrowheads="1"/>
          </p:cNvSpPr>
          <p:nvPr>
            <p:ph type="ftr" sz="quarter" idx="2"/>
          </p:nvPr>
        </p:nvSpPr>
        <p:spPr bwMode="auto">
          <a:xfrm>
            <a:off x="0" y="9374188"/>
            <a:ext cx="2928938"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endParaRPr lang="en-US" altLang="zh-CN"/>
          </a:p>
        </p:txBody>
      </p:sp>
      <p:sp>
        <p:nvSpPr>
          <p:cNvPr id="212997" name="Rectangle 5">
            <a:extLst>
              <a:ext uri="{FF2B5EF4-FFF2-40B4-BE49-F238E27FC236}">
                <a16:creationId xmlns:a16="http://schemas.microsoft.com/office/drawing/2014/main" id="{6E997F0B-58F9-4F64-AFBB-3BED7C850488}"/>
              </a:ext>
            </a:extLst>
          </p:cNvPr>
          <p:cNvSpPr>
            <a:spLocks noGrp="1" noChangeArrowheads="1"/>
          </p:cNvSpPr>
          <p:nvPr>
            <p:ph type="sldNum" sz="quarter" idx="3"/>
          </p:nvPr>
        </p:nvSpPr>
        <p:spPr bwMode="auto">
          <a:xfrm>
            <a:off x="3830638" y="9374188"/>
            <a:ext cx="2928937"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8930C02-08F1-4CDB-997F-A94642762A9B}"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4B1EB0E-CE0E-4BC2-9CB9-7C0B616F6341}"/>
              </a:ext>
            </a:extLst>
          </p:cNvPr>
          <p:cNvSpPr>
            <a:spLocks noGrp="1" noChangeArrowheads="1"/>
          </p:cNvSpPr>
          <p:nvPr>
            <p:ph type="hdr" sz="quarter"/>
          </p:nvPr>
        </p:nvSpPr>
        <p:spPr bwMode="auto">
          <a:xfrm>
            <a:off x="0" y="0"/>
            <a:ext cx="2928938"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vl1pPr>
          </a:lstStyle>
          <a:p>
            <a:pPr>
              <a:defRPr/>
            </a:pPr>
            <a:endParaRPr lang="en-US" altLang="zh-CN"/>
          </a:p>
        </p:txBody>
      </p:sp>
      <p:sp>
        <p:nvSpPr>
          <p:cNvPr id="52227" name="Rectangle 3">
            <a:extLst>
              <a:ext uri="{FF2B5EF4-FFF2-40B4-BE49-F238E27FC236}">
                <a16:creationId xmlns:a16="http://schemas.microsoft.com/office/drawing/2014/main" id="{ED681D3E-B795-4F5B-8685-37543FF7D0A4}"/>
              </a:ext>
            </a:extLst>
          </p:cNvPr>
          <p:cNvSpPr>
            <a:spLocks noGrp="1" noChangeArrowheads="1"/>
          </p:cNvSpPr>
          <p:nvPr>
            <p:ph type="dt" idx="1"/>
          </p:nvPr>
        </p:nvSpPr>
        <p:spPr bwMode="auto">
          <a:xfrm>
            <a:off x="3830638" y="0"/>
            <a:ext cx="2928937"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32700AFC-EC51-44FC-AFBD-A22C206F4A2A}"/>
              </a:ext>
            </a:extLst>
          </p:cNvPr>
          <p:cNvSpPr>
            <a:spLocks noGrp="1" noRot="1" noChangeAspect="1" noChangeArrowheads="1" noTextEdit="1"/>
          </p:cNvSpPr>
          <p:nvPr>
            <p:ph type="sldImg" idx="2"/>
          </p:nvPr>
        </p:nvSpPr>
        <p:spPr bwMode="auto">
          <a:xfrm>
            <a:off x="912813" y="739775"/>
            <a:ext cx="4933950" cy="3700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F87B61EA-A9F6-4AC1-8165-08AF4E3D4F14}"/>
              </a:ext>
            </a:extLst>
          </p:cNvPr>
          <p:cNvSpPr>
            <a:spLocks noGrp="1" noChangeArrowheads="1"/>
          </p:cNvSpPr>
          <p:nvPr>
            <p:ph type="body" sz="quarter" idx="3"/>
          </p:nvPr>
        </p:nvSpPr>
        <p:spPr bwMode="auto">
          <a:xfrm>
            <a:off x="900113" y="4687888"/>
            <a:ext cx="4959350" cy="44402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2230" name="Rectangle 6">
            <a:extLst>
              <a:ext uri="{FF2B5EF4-FFF2-40B4-BE49-F238E27FC236}">
                <a16:creationId xmlns:a16="http://schemas.microsoft.com/office/drawing/2014/main" id="{468C6F27-BB29-4C42-874A-132F18F71330}"/>
              </a:ext>
            </a:extLst>
          </p:cNvPr>
          <p:cNvSpPr>
            <a:spLocks noGrp="1" noChangeArrowheads="1"/>
          </p:cNvSpPr>
          <p:nvPr>
            <p:ph type="ftr" sz="quarter" idx="4"/>
          </p:nvPr>
        </p:nvSpPr>
        <p:spPr bwMode="auto">
          <a:xfrm>
            <a:off x="0" y="9374188"/>
            <a:ext cx="2928938"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endParaRPr lang="en-US" altLang="zh-CN"/>
          </a:p>
        </p:txBody>
      </p:sp>
      <p:sp>
        <p:nvSpPr>
          <p:cNvPr id="52231" name="Rectangle 7">
            <a:extLst>
              <a:ext uri="{FF2B5EF4-FFF2-40B4-BE49-F238E27FC236}">
                <a16:creationId xmlns:a16="http://schemas.microsoft.com/office/drawing/2014/main" id="{585FF4D4-B53D-4EF3-99D4-2B0EEAB144CE}"/>
              </a:ext>
            </a:extLst>
          </p:cNvPr>
          <p:cNvSpPr>
            <a:spLocks noGrp="1" noChangeArrowheads="1"/>
          </p:cNvSpPr>
          <p:nvPr>
            <p:ph type="sldNum" sz="quarter" idx="5"/>
          </p:nvPr>
        </p:nvSpPr>
        <p:spPr bwMode="auto">
          <a:xfrm>
            <a:off x="3830638" y="9374188"/>
            <a:ext cx="2928937"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EA4273E-B041-4EE0-8591-7A6804304AC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FFC6E82A-5270-4048-B279-B61BBFCB0F43}"/>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481DB664-0BEA-4506-9CBE-55DD169AFC4D}"/>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694832E7-2504-4099-921E-CE3A5E8CBB3F}"/>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a:extLst>
                  <a:ext uri="{FF2B5EF4-FFF2-40B4-BE49-F238E27FC236}">
                    <a16:creationId xmlns:a16="http://schemas.microsoft.com/office/drawing/2014/main" id="{5DD5B559-9957-4498-8950-B914FBB82569}"/>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a:extLst>
                <a:ext uri="{FF2B5EF4-FFF2-40B4-BE49-F238E27FC236}">
                  <a16:creationId xmlns:a16="http://schemas.microsoft.com/office/drawing/2014/main" id="{F5333CA7-CC08-4CAE-A061-54367C612654}"/>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7AE00AD3-32D1-4CD8-86B6-284AB0017AF4}"/>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a:extLst>
                  <a:ext uri="{FF2B5EF4-FFF2-40B4-BE49-F238E27FC236}">
                    <a16:creationId xmlns:a16="http://schemas.microsoft.com/office/drawing/2014/main" id="{BD1AA5F9-2C78-4DD1-B7BD-0A975C1532D2}"/>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a:extLst>
                <a:ext uri="{FF2B5EF4-FFF2-40B4-BE49-F238E27FC236}">
                  <a16:creationId xmlns:a16="http://schemas.microsoft.com/office/drawing/2014/main" id="{8928B375-DC69-40E1-80A4-4400C35459FD}"/>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a:extLst>
                <a:ext uri="{FF2B5EF4-FFF2-40B4-BE49-F238E27FC236}">
                  <a16:creationId xmlns:a16="http://schemas.microsoft.com/office/drawing/2014/main" id="{E872CA4E-D49A-4756-AFB2-391261E8A069}"/>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a:extLst>
                <a:ext uri="{FF2B5EF4-FFF2-40B4-BE49-F238E27FC236}">
                  <a16:creationId xmlns:a16="http://schemas.microsoft.com/office/drawing/2014/main" id="{20829EC9-26E2-49DE-95B9-06A9ACE7CB2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6156"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a:extLst>
              <a:ext uri="{FF2B5EF4-FFF2-40B4-BE49-F238E27FC236}">
                <a16:creationId xmlns:a16="http://schemas.microsoft.com/office/drawing/2014/main" id="{2AEFBDA7-F7F6-416F-8051-3F169A5215B9}"/>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a:extLst>
              <a:ext uri="{FF2B5EF4-FFF2-40B4-BE49-F238E27FC236}">
                <a16:creationId xmlns:a16="http://schemas.microsoft.com/office/drawing/2014/main" id="{6A18CC9E-ADEE-4591-B849-C08A68B85D03}"/>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a:extLst>
              <a:ext uri="{FF2B5EF4-FFF2-40B4-BE49-F238E27FC236}">
                <a16:creationId xmlns:a16="http://schemas.microsoft.com/office/drawing/2014/main" id="{A4E8300B-3725-47EA-8587-81A60A05972D}"/>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30B43706-0FF1-42D3-A6FA-19B47F7C5810}" type="slidenum">
              <a:rPr lang="en-US" altLang="zh-CN"/>
              <a:pPr>
                <a:defRPr/>
              </a:pPr>
              <a:t>‹#›</a:t>
            </a:fld>
            <a:endParaRPr lang="en-US" altLang="zh-CN"/>
          </a:p>
        </p:txBody>
      </p:sp>
    </p:spTree>
    <p:extLst>
      <p:ext uri="{BB962C8B-B14F-4D97-AF65-F5344CB8AC3E}">
        <p14:creationId xmlns:p14="http://schemas.microsoft.com/office/powerpoint/2010/main" val="40771812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AE1FE01F-E972-4D26-BF33-30556D096CE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348D6768-2E05-44DE-929B-1F9083D18DD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28EB28E4-2369-466E-91E9-19757B085D73}"/>
              </a:ext>
            </a:extLst>
          </p:cNvPr>
          <p:cNvSpPr>
            <a:spLocks noGrp="1" noChangeArrowheads="1"/>
          </p:cNvSpPr>
          <p:nvPr>
            <p:ph type="sldNum" sz="quarter" idx="12"/>
          </p:nvPr>
        </p:nvSpPr>
        <p:spPr>
          <a:ln/>
        </p:spPr>
        <p:txBody>
          <a:bodyPr/>
          <a:lstStyle>
            <a:lvl1pPr>
              <a:defRPr/>
            </a:lvl1pPr>
          </a:lstStyle>
          <a:p>
            <a:pPr>
              <a:defRPr/>
            </a:pPr>
            <a:fld id="{B8E9966C-5BA2-4F69-BFE2-774B97F92F98}" type="slidenum">
              <a:rPr lang="en-US" altLang="zh-CN"/>
              <a:pPr>
                <a:defRPr/>
              </a:pPr>
              <a:t>‹#›</a:t>
            </a:fld>
            <a:endParaRPr lang="en-US" altLang="zh-CN"/>
          </a:p>
        </p:txBody>
      </p:sp>
    </p:spTree>
    <p:extLst>
      <p:ext uri="{BB962C8B-B14F-4D97-AF65-F5344CB8AC3E}">
        <p14:creationId xmlns:p14="http://schemas.microsoft.com/office/powerpoint/2010/main" val="412051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666AA163-75C3-4BFE-9A07-E3E1007E6C5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723B7EBB-DB25-41A8-8E5C-737B934764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390700B-029E-40C7-86E3-1E75033A22E2}"/>
              </a:ext>
            </a:extLst>
          </p:cNvPr>
          <p:cNvSpPr>
            <a:spLocks noGrp="1" noChangeArrowheads="1"/>
          </p:cNvSpPr>
          <p:nvPr>
            <p:ph type="sldNum" sz="quarter" idx="12"/>
          </p:nvPr>
        </p:nvSpPr>
        <p:spPr>
          <a:ln/>
        </p:spPr>
        <p:txBody>
          <a:bodyPr/>
          <a:lstStyle>
            <a:lvl1pPr>
              <a:defRPr/>
            </a:lvl1pPr>
          </a:lstStyle>
          <a:p>
            <a:pPr>
              <a:defRPr/>
            </a:pPr>
            <a:fld id="{95BD4D6A-068B-4529-95F8-A18F22054576}" type="slidenum">
              <a:rPr lang="en-US" altLang="zh-CN"/>
              <a:pPr>
                <a:defRPr/>
              </a:pPr>
              <a:t>‹#›</a:t>
            </a:fld>
            <a:endParaRPr lang="en-US" altLang="zh-CN"/>
          </a:p>
        </p:txBody>
      </p:sp>
    </p:spTree>
    <p:extLst>
      <p:ext uri="{BB962C8B-B14F-4D97-AF65-F5344CB8AC3E}">
        <p14:creationId xmlns:p14="http://schemas.microsoft.com/office/powerpoint/2010/main" val="111918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2C9790BC-D346-4381-B647-A6DEE94E26A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9805CA15-B955-4240-86E7-4A5BB8F7EC8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99E0430A-09C2-44C4-A54A-FE9392262278}"/>
              </a:ext>
            </a:extLst>
          </p:cNvPr>
          <p:cNvSpPr>
            <a:spLocks noGrp="1" noChangeArrowheads="1"/>
          </p:cNvSpPr>
          <p:nvPr>
            <p:ph type="sldNum" sz="quarter" idx="12"/>
          </p:nvPr>
        </p:nvSpPr>
        <p:spPr>
          <a:ln/>
        </p:spPr>
        <p:txBody>
          <a:bodyPr/>
          <a:lstStyle>
            <a:lvl1pPr>
              <a:defRPr/>
            </a:lvl1pPr>
          </a:lstStyle>
          <a:p>
            <a:pPr>
              <a:defRPr/>
            </a:pPr>
            <a:fld id="{8E6E6F6E-0FB7-4CC3-AC49-F6E36A6BF242}" type="slidenum">
              <a:rPr lang="en-US" altLang="zh-CN"/>
              <a:pPr>
                <a:defRPr/>
              </a:pPr>
              <a:t>‹#›</a:t>
            </a:fld>
            <a:endParaRPr lang="en-US" altLang="zh-CN"/>
          </a:p>
        </p:txBody>
      </p:sp>
    </p:spTree>
    <p:extLst>
      <p:ext uri="{BB962C8B-B14F-4D97-AF65-F5344CB8AC3E}">
        <p14:creationId xmlns:p14="http://schemas.microsoft.com/office/powerpoint/2010/main" val="5519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D2239065-3A16-4AE6-821F-42B45767B4A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50EC5CF7-E4D9-48BB-B60B-E868F338BC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65F2A5F8-8D37-4F29-852D-3835007D601D}"/>
              </a:ext>
            </a:extLst>
          </p:cNvPr>
          <p:cNvSpPr>
            <a:spLocks noGrp="1" noChangeArrowheads="1"/>
          </p:cNvSpPr>
          <p:nvPr>
            <p:ph type="sldNum" sz="quarter" idx="12"/>
          </p:nvPr>
        </p:nvSpPr>
        <p:spPr>
          <a:ln/>
        </p:spPr>
        <p:txBody>
          <a:bodyPr/>
          <a:lstStyle>
            <a:lvl1pPr>
              <a:defRPr/>
            </a:lvl1pPr>
          </a:lstStyle>
          <a:p>
            <a:pPr>
              <a:defRPr/>
            </a:pPr>
            <a:fld id="{38D850BC-7CD2-4F32-9C2C-6C6080CA26D6}" type="slidenum">
              <a:rPr lang="en-US" altLang="zh-CN"/>
              <a:pPr>
                <a:defRPr/>
              </a:pPr>
              <a:t>‹#›</a:t>
            </a:fld>
            <a:endParaRPr lang="en-US" altLang="zh-CN"/>
          </a:p>
        </p:txBody>
      </p:sp>
    </p:spTree>
    <p:extLst>
      <p:ext uri="{BB962C8B-B14F-4D97-AF65-F5344CB8AC3E}">
        <p14:creationId xmlns:p14="http://schemas.microsoft.com/office/powerpoint/2010/main" val="4163041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B66B8F23-17E2-4B6E-8F51-2F0D3D883B0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665EBE75-AE4E-4331-AD3A-DFAAB56BBDF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22BE8551-7323-4D91-99D7-E58B478875E4}"/>
              </a:ext>
            </a:extLst>
          </p:cNvPr>
          <p:cNvSpPr>
            <a:spLocks noGrp="1" noChangeArrowheads="1"/>
          </p:cNvSpPr>
          <p:nvPr>
            <p:ph type="sldNum" sz="quarter" idx="12"/>
          </p:nvPr>
        </p:nvSpPr>
        <p:spPr>
          <a:ln/>
        </p:spPr>
        <p:txBody>
          <a:bodyPr/>
          <a:lstStyle>
            <a:lvl1pPr>
              <a:defRPr/>
            </a:lvl1pPr>
          </a:lstStyle>
          <a:p>
            <a:pPr>
              <a:defRPr/>
            </a:pPr>
            <a:fld id="{5D9E5249-9469-48A9-853C-6B14F7F53B57}" type="slidenum">
              <a:rPr lang="en-US" altLang="zh-CN"/>
              <a:pPr>
                <a:defRPr/>
              </a:pPr>
              <a:t>‹#›</a:t>
            </a:fld>
            <a:endParaRPr lang="en-US" altLang="zh-CN"/>
          </a:p>
        </p:txBody>
      </p:sp>
    </p:spTree>
    <p:extLst>
      <p:ext uri="{BB962C8B-B14F-4D97-AF65-F5344CB8AC3E}">
        <p14:creationId xmlns:p14="http://schemas.microsoft.com/office/powerpoint/2010/main" val="853142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D37AFFC6-8F35-4423-895F-DF83772DAB0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8EA12FBA-66BE-4F7F-BBFA-14C995C65B2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184066AD-8F2A-4C83-9C5E-33D03DA85065}"/>
              </a:ext>
            </a:extLst>
          </p:cNvPr>
          <p:cNvSpPr>
            <a:spLocks noGrp="1" noChangeArrowheads="1"/>
          </p:cNvSpPr>
          <p:nvPr>
            <p:ph type="sldNum" sz="quarter" idx="12"/>
          </p:nvPr>
        </p:nvSpPr>
        <p:spPr>
          <a:ln/>
        </p:spPr>
        <p:txBody>
          <a:bodyPr/>
          <a:lstStyle>
            <a:lvl1pPr>
              <a:defRPr/>
            </a:lvl1pPr>
          </a:lstStyle>
          <a:p>
            <a:pPr>
              <a:defRPr/>
            </a:pPr>
            <a:fld id="{53BE439F-9DDC-4C93-9314-16D03719DA99}" type="slidenum">
              <a:rPr lang="en-US" altLang="zh-CN"/>
              <a:pPr>
                <a:defRPr/>
              </a:pPr>
              <a:t>‹#›</a:t>
            </a:fld>
            <a:endParaRPr lang="en-US" altLang="zh-CN"/>
          </a:p>
        </p:txBody>
      </p:sp>
    </p:spTree>
    <p:extLst>
      <p:ext uri="{BB962C8B-B14F-4D97-AF65-F5344CB8AC3E}">
        <p14:creationId xmlns:p14="http://schemas.microsoft.com/office/powerpoint/2010/main" val="1818194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9A828943-F25E-4F19-B87A-BC722E95285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955A5038-9DEC-44A1-B551-88646202211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7E9BE80C-2729-4B4A-9060-0C53EB4C9F7C}"/>
              </a:ext>
            </a:extLst>
          </p:cNvPr>
          <p:cNvSpPr>
            <a:spLocks noGrp="1" noChangeArrowheads="1"/>
          </p:cNvSpPr>
          <p:nvPr>
            <p:ph type="sldNum" sz="quarter" idx="12"/>
          </p:nvPr>
        </p:nvSpPr>
        <p:spPr>
          <a:ln/>
        </p:spPr>
        <p:txBody>
          <a:bodyPr/>
          <a:lstStyle>
            <a:lvl1pPr>
              <a:defRPr/>
            </a:lvl1pPr>
          </a:lstStyle>
          <a:p>
            <a:pPr>
              <a:defRPr/>
            </a:pPr>
            <a:fld id="{3086AB9A-5636-4EC6-BE42-6A005594A0B2}" type="slidenum">
              <a:rPr lang="en-US" altLang="zh-CN"/>
              <a:pPr>
                <a:defRPr/>
              </a:pPr>
              <a:t>‹#›</a:t>
            </a:fld>
            <a:endParaRPr lang="en-US" altLang="zh-CN"/>
          </a:p>
        </p:txBody>
      </p:sp>
    </p:spTree>
    <p:extLst>
      <p:ext uri="{BB962C8B-B14F-4D97-AF65-F5344CB8AC3E}">
        <p14:creationId xmlns:p14="http://schemas.microsoft.com/office/powerpoint/2010/main" val="676989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8023A3BD-5794-4418-8249-08323327F2E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6724CA8-F8EF-4A9A-9A5A-A84D23F8CA1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50A8E88B-9F5F-4F8A-AD16-2FBD37862771}"/>
              </a:ext>
            </a:extLst>
          </p:cNvPr>
          <p:cNvSpPr>
            <a:spLocks noGrp="1" noChangeArrowheads="1"/>
          </p:cNvSpPr>
          <p:nvPr>
            <p:ph type="sldNum" sz="quarter" idx="12"/>
          </p:nvPr>
        </p:nvSpPr>
        <p:spPr>
          <a:ln/>
        </p:spPr>
        <p:txBody>
          <a:bodyPr/>
          <a:lstStyle>
            <a:lvl1pPr>
              <a:defRPr/>
            </a:lvl1pPr>
          </a:lstStyle>
          <a:p>
            <a:pPr>
              <a:defRPr/>
            </a:pPr>
            <a:fld id="{83BA9E40-B2B3-4DC9-900E-771277F5F2D8}" type="slidenum">
              <a:rPr lang="en-US" altLang="zh-CN"/>
              <a:pPr>
                <a:defRPr/>
              </a:pPr>
              <a:t>‹#›</a:t>
            </a:fld>
            <a:endParaRPr lang="en-US" altLang="zh-CN"/>
          </a:p>
        </p:txBody>
      </p:sp>
    </p:spTree>
    <p:extLst>
      <p:ext uri="{BB962C8B-B14F-4D97-AF65-F5344CB8AC3E}">
        <p14:creationId xmlns:p14="http://schemas.microsoft.com/office/powerpoint/2010/main" val="202940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F96BE21C-6C8F-4039-A9F8-B0710067C1D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49E88B78-3437-44D3-85E8-146141CBD4F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1F266A6E-C819-4BAE-A2A2-8EDB95727848}"/>
              </a:ext>
            </a:extLst>
          </p:cNvPr>
          <p:cNvSpPr>
            <a:spLocks noGrp="1" noChangeArrowheads="1"/>
          </p:cNvSpPr>
          <p:nvPr>
            <p:ph type="sldNum" sz="quarter" idx="12"/>
          </p:nvPr>
        </p:nvSpPr>
        <p:spPr>
          <a:ln/>
        </p:spPr>
        <p:txBody>
          <a:bodyPr/>
          <a:lstStyle>
            <a:lvl1pPr>
              <a:defRPr/>
            </a:lvl1pPr>
          </a:lstStyle>
          <a:p>
            <a:pPr>
              <a:defRPr/>
            </a:pPr>
            <a:fld id="{C33CAD5A-185F-4511-B042-91186402F817}" type="slidenum">
              <a:rPr lang="en-US" altLang="zh-CN"/>
              <a:pPr>
                <a:defRPr/>
              </a:pPr>
              <a:t>‹#›</a:t>
            </a:fld>
            <a:endParaRPr lang="en-US" altLang="zh-CN"/>
          </a:p>
        </p:txBody>
      </p:sp>
    </p:spTree>
    <p:extLst>
      <p:ext uri="{BB962C8B-B14F-4D97-AF65-F5344CB8AC3E}">
        <p14:creationId xmlns:p14="http://schemas.microsoft.com/office/powerpoint/2010/main" val="139046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76200"/>
            <a:ext cx="1951038" cy="6019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76200"/>
            <a:ext cx="5700712" cy="6019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D00517FB-5FE1-4E7B-9A09-642FC9DE9C3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F9B3EF7C-2C16-45CB-A362-86CA9C4684C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1D8652AC-1FA7-4CEE-9381-0D903B28A0AF}"/>
              </a:ext>
            </a:extLst>
          </p:cNvPr>
          <p:cNvSpPr>
            <a:spLocks noGrp="1" noChangeArrowheads="1"/>
          </p:cNvSpPr>
          <p:nvPr>
            <p:ph type="sldNum" sz="quarter" idx="12"/>
          </p:nvPr>
        </p:nvSpPr>
        <p:spPr>
          <a:ln/>
        </p:spPr>
        <p:txBody>
          <a:bodyPr/>
          <a:lstStyle>
            <a:lvl1pPr>
              <a:defRPr/>
            </a:lvl1pPr>
          </a:lstStyle>
          <a:p>
            <a:pPr>
              <a:defRPr/>
            </a:pPr>
            <a:fld id="{FA3E0711-2CFB-48CF-9736-8AF3874C1FCF}" type="slidenum">
              <a:rPr lang="en-US" altLang="zh-CN"/>
              <a:pPr>
                <a:defRPr/>
              </a:pPr>
              <a:t>‹#›</a:t>
            </a:fld>
            <a:endParaRPr lang="en-US" altLang="zh-CN"/>
          </a:p>
        </p:txBody>
      </p:sp>
    </p:spTree>
    <p:extLst>
      <p:ext uri="{BB962C8B-B14F-4D97-AF65-F5344CB8AC3E}">
        <p14:creationId xmlns:p14="http://schemas.microsoft.com/office/powerpoint/2010/main" val="203646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A8E0CD8-8F2A-4CE3-8FBC-D2262095A458}"/>
              </a:ext>
            </a:extLst>
          </p:cNvPr>
          <p:cNvSpPr>
            <a:spLocks noChangeArrowheads="1"/>
          </p:cNvSpPr>
          <p:nvPr/>
        </p:nvSpPr>
        <p:spPr bwMode="ltGray">
          <a:xfrm>
            <a:off x="417513" y="557213"/>
            <a:ext cx="438150" cy="474662"/>
          </a:xfrm>
          <a:prstGeom prst="rect">
            <a:avLst/>
          </a:prstGeom>
          <a:solidFill>
            <a:srgbClr val="FFCF0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27" name="Rectangle 3">
            <a:extLst>
              <a:ext uri="{FF2B5EF4-FFF2-40B4-BE49-F238E27FC236}">
                <a16:creationId xmlns:a16="http://schemas.microsoft.com/office/drawing/2014/main" id="{0EF4457C-AEA1-4916-96CE-9E26D90207E4}"/>
              </a:ext>
            </a:extLst>
          </p:cNvPr>
          <p:cNvSpPr>
            <a:spLocks noChangeArrowheads="1"/>
          </p:cNvSpPr>
          <p:nvPr/>
        </p:nvSpPr>
        <p:spPr bwMode="ltGray">
          <a:xfrm>
            <a:off x="800100" y="557213"/>
            <a:ext cx="328613" cy="474662"/>
          </a:xfrm>
          <a:prstGeom prst="rect">
            <a:avLst/>
          </a:prstGeom>
          <a:gradFill rotWithShape="0">
            <a:gsLst>
              <a:gs pos="0">
                <a:srgbClr val="FFCF01"/>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28" name="Rectangle 4">
            <a:extLst>
              <a:ext uri="{FF2B5EF4-FFF2-40B4-BE49-F238E27FC236}">
                <a16:creationId xmlns:a16="http://schemas.microsoft.com/office/drawing/2014/main" id="{C09780FB-7122-459B-A257-A35ABD065D45}"/>
              </a:ext>
            </a:extLst>
          </p:cNvPr>
          <p:cNvSpPr>
            <a:spLocks noChangeArrowheads="1"/>
          </p:cNvSpPr>
          <p:nvPr/>
        </p:nvSpPr>
        <p:spPr bwMode="ltGray">
          <a:xfrm>
            <a:off x="541338" y="979488"/>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29" name="Rectangle 5">
            <a:extLst>
              <a:ext uri="{FF2B5EF4-FFF2-40B4-BE49-F238E27FC236}">
                <a16:creationId xmlns:a16="http://schemas.microsoft.com/office/drawing/2014/main" id="{D619B6DE-798D-4DCE-A4AC-5C32F51A93BD}"/>
              </a:ext>
            </a:extLst>
          </p:cNvPr>
          <p:cNvSpPr>
            <a:spLocks noChangeArrowheads="1"/>
          </p:cNvSpPr>
          <p:nvPr/>
        </p:nvSpPr>
        <p:spPr bwMode="ltGray">
          <a:xfrm>
            <a:off x="911225" y="979488"/>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0" name="Rectangle 6">
            <a:extLst>
              <a:ext uri="{FF2B5EF4-FFF2-40B4-BE49-F238E27FC236}">
                <a16:creationId xmlns:a16="http://schemas.microsoft.com/office/drawing/2014/main" id="{05A35099-3695-470C-B52C-9F047D92DFAC}"/>
              </a:ext>
            </a:extLst>
          </p:cNvPr>
          <p:cNvSpPr>
            <a:spLocks noChangeArrowheads="1"/>
          </p:cNvSpPr>
          <p:nvPr/>
        </p:nvSpPr>
        <p:spPr bwMode="ltGray">
          <a:xfrm>
            <a:off x="127000" y="906463"/>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1" name="Rectangle 7">
            <a:extLst>
              <a:ext uri="{FF2B5EF4-FFF2-40B4-BE49-F238E27FC236}">
                <a16:creationId xmlns:a16="http://schemas.microsoft.com/office/drawing/2014/main" id="{09515283-3632-4011-96E7-65E31744F91E}"/>
              </a:ext>
            </a:extLst>
          </p:cNvPr>
          <p:cNvSpPr>
            <a:spLocks noChangeArrowheads="1"/>
          </p:cNvSpPr>
          <p:nvPr/>
        </p:nvSpPr>
        <p:spPr bwMode="gray">
          <a:xfrm>
            <a:off x="762000" y="449263"/>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2" name="Rectangle 8">
            <a:extLst>
              <a:ext uri="{FF2B5EF4-FFF2-40B4-BE49-F238E27FC236}">
                <a16:creationId xmlns:a16="http://schemas.microsoft.com/office/drawing/2014/main" id="{40389DC5-92B5-44AE-8088-1C612CCBE027}"/>
              </a:ext>
            </a:extLst>
          </p:cNvPr>
          <p:cNvSpPr>
            <a:spLocks noChangeArrowheads="1"/>
          </p:cNvSpPr>
          <p:nvPr/>
        </p:nvSpPr>
        <p:spPr bwMode="gray">
          <a:xfrm>
            <a:off x="442913" y="1239838"/>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2400">
                <a:solidFill>
                  <a:schemeClr val="tx1"/>
                </a:solidFill>
                <a:latin typeface="Tahoma" panose="020B0604030504040204" pitchFamily="34" charset="0"/>
                <a:ea typeface="宋体" panose="02010600030101010101" pitchFamily="2" charset="-122"/>
              </a:defRPr>
            </a:lvl1pPr>
            <a:lvl2pPr marL="742950" indent="-285750" algn="ctr">
              <a:defRPr kumimoji="1" sz="2400">
                <a:solidFill>
                  <a:schemeClr val="tx1"/>
                </a:solidFill>
                <a:latin typeface="Tahoma" panose="020B0604030504040204" pitchFamily="34" charset="0"/>
                <a:ea typeface="宋体" panose="02010600030101010101" pitchFamily="2" charset="-122"/>
              </a:defRPr>
            </a:lvl2pPr>
            <a:lvl3pPr marL="1143000" indent="-228600" algn="ctr">
              <a:defRPr kumimoji="1" sz="2400">
                <a:solidFill>
                  <a:schemeClr val="tx1"/>
                </a:solidFill>
                <a:latin typeface="Tahoma" panose="020B0604030504040204" pitchFamily="34" charset="0"/>
                <a:ea typeface="宋体" panose="02010600030101010101" pitchFamily="2" charset="-122"/>
              </a:defRPr>
            </a:lvl3pPr>
            <a:lvl4pPr marL="1600200" indent="-228600" algn="ctr">
              <a:defRPr kumimoji="1" sz="2400">
                <a:solidFill>
                  <a:schemeClr val="tx1"/>
                </a:solidFill>
                <a:latin typeface="Tahoma" panose="020B0604030504040204" pitchFamily="34" charset="0"/>
                <a:ea typeface="宋体" panose="02010600030101010101" pitchFamily="2" charset="-122"/>
              </a:defRPr>
            </a:lvl4pPr>
            <a:lvl5pPr marL="2057400" indent="-228600" algn="ctr">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zh-CN"/>
          </a:p>
        </p:txBody>
      </p:sp>
      <p:sp>
        <p:nvSpPr>
          <p:cNvPr id="1033" name="Rectangle 9">
            <a:extLst>
              <a:ext uri="{FF2B5EF4-FFF2-40B4-BE49-F238E27FC236}">
                <a16:creationId xmlns:a16="http://schemas.microsoft.com/office/drawing/2014/main" id="{499F6026-113B-49D2-B55B-0B544A7E3715}"/>
              </a:ext>
            </a:extLst>
          </p:cNvPr>
          <p:cNvSpPr>
            <a:spLocks noGrp="1" noChangeArrowheads="1"/>
          </p:cNvSpPr>
          <p:nvPr>
            <p:ph type="title"/>
          </p:nvPr>
        </p:nvSpPr>
        <p:spPr bwMode="auto">
          <a:xfrm>
            <a:off x="1150938" y="7620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64F7D46A-9D63-4AB0-B861-20DE9CE91BE9}"/>
              </a:ext>
            </a:extLst>
          </p:cNvPr>
          <p:cNvSpPr>
            <a:spLocks noGrp="1" noChangeArrowheads="1"/>
          </p:cNvSpPr>
          <p:nvPr>
            <p:ph type="body" idx="1"/>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1" name="Rectangle 11">
            <a:extLst>
              <a:ext uri="{FF2B5EF4-FFF2-40B4-BE49-F238E27FC236}">
                <a16:creationId xmlns:a16="http://schemas.microsoft.com/office/drawing/2014/main" id="{AAB868B9-AE0F-42FA-ACBD-C7DB69DF73A8}"/>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0" sz="1400"/>
            </a:lvl1pPr>
          </a:lstStyle>
          <a:p>
            <a:pPr>
              <a:defRPr/>
            </a:pPr>
            <a:endParaRPr lang="en-US" altLang="zh-CN"/>
          </a:p>
        </p:txBody>
      </p:sp>
      <p:sp>
        <p:nvSpPr>
          <p:cNvPr id="5132" name="Rectangle 12">
            <a:extLst>
              <a:ext uri="{FF2B5EF4-FFF2-40B4-BE49-F238E27FC236}">
                <a16:creationId xmlns:a16="http://schemas.microsoft.com/office/drawing/2014/main" id="{C305E653-9973-4A03-8D56-A7027BA8D18D}"/>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kumimoji="0" sz="1400"/>
            </a:lvl1pPr>
          </a:lstStyle>
          <a:p>
            <a:pPr>
              <a:defRPr/>
            </a:pPr>
            <a:endParaRPr lang="en-US" altLang="zh-CN"/>
          </a:p>
        </p:txBody>
      </p:sp>
      <p:sp>
        <p:nvSpPr>
          <p:cNvPr id="5133" name="Rectangle 13">
            <a:extLst>
              <a:ext uri="{FF2B5EF4-FFF2-40B4-BE49-F238E27FC236}">
                <a16:creationId xmlns:a16="http://schemas.microsoft.com/office/drawing/2014/main" id="{A4C848F7-16EE-4641-84C6-AF9C4A53950C}"/>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0" sz="1400"/>
            </a:lvl1pPr>
          </a:lstStyle>
          <a:p>
            <a:pPr>
              <a:defRPr/>
            </a:pPr>
            <a:fld id="{20E6B0BC-F746-4AEF-AC08-2D6979FB882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rgbClr val="FF3300"/>
        </a:buClr>
        <a:buSzPct val="75000"/>
        <a:buFont typeface="Wingdings" panose="05000000000000000000" pitchFamily="2" charset="2"/>
        <a:buChar char="m"/>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9000"/>
        <a:buFont typeface="Wingdings" panose="05000000000000000000" pitchFamily="2" charset="2"/>
        <a:buChar char="q"/>
        <a:defRPr kumimoji="1" sz="2800">
          <a:solidFill>
            <a:srgbClr val="3333CC"/>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Ø"/>
        <a:defRPr kumimoji="1" sz="2400">
          <a:solidFill>
            <a:srgbClr val="FF3300"/>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 Id="rId9" Type="http://schemas.openxmlformats.org/officeDocument/2006/relationships/oleObject" Target="../embeddings/oleObject4.bin"/></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7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8.bin"/><Relationship Id="rId4" Type="http://schemas.openxmlformats.org/officeDocument/2006/relationships/image" Target="../media/image9.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6.wmf"/><Relationship Id="rId5" Type="http://schemas.openxmlformats.org/officeDocument/2006/relationships/oleObject" Target="../embeddings/oleObject12.bin"/><Relationship Id="rId4" Type="http://schemas.openxmlformats.org/officeDocument/2006/relationships/image" Target="../media/image8.wmf"/></Relationships>
</file>

<file path=ppt/slides/_rels/slide85.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8.wmf"/><Relationship Id="rId5" Type="http://schemas.openxmlformats.org/officeDocument/2006/relationships/oleObject" Target="../embeddings/oleObject14.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6.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1.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3.wmf"/><Relationship Id="rId5" Type="http://schemas.openxmlformats.org/officeDocument/2006/relationships/oleObject" Target="../embeddings/oleObject19.bin"/><Relationship Id="rId4" Type="http://schemas.openxmlformats.org/officeDocument/2006/relationships/image" Target="../media/image22.wmf"/></Relationships>
</file>

<file path=ppt/slides/_rels/slide9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02ABCED-83A2-4C0B-9FBD-F3BDF46037FB}"/>
              </a:ext>
            </a:extLst>
          </p:cNvPr>
          <p:cNvSpPr>
            <a:spLocks noGrp="1" noChangeArrowheads="1"/>
          </p:cNvSpPr>
          <p:nvPr>
            <p:ph type="title"/>
          </p:nvPr>
        </p:nvSpPr>
        <p:spPr>
          <a:xfrm>
            <a:off x="1150938" y="2743200"/>
            <a:ext cx="7793037" cy="1143000"/>
          </a:xfrm>
        </p:spPr>
        <p:txBody>
          <a:bodyPr/>
          <a:lstStyle/>
          <a:p>
            <a:pPr algn="ctr" eaLnBrk="1" hangingPunct="1"/>
            <a:r>
              <a:rPr lang="zh-CN" altLang="en-US"/>
              <a:t>第六章  类型检查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491FC83-DCF4-4BA2-A9F3-8CDA70F181D1}"/>
              </a:ext>
            </a:extLst>
          </p:cNvPr>
          <p:cNvSpPr>
            <a:spLocks noGrp="1" noChangeArrowheads="1"/>
          </p:cNvSpPr>
          <p:nvPr>
            <p:ph type="title"/>
          </p:nvPr>
        </p:nvSpPr>
        <p:spPr/>
        <p:txBody>
          <a:bodyPr/>
          <a:lstStyle/>
          <a:p>
            <a:pPr eaLnBrk="1" hangingPunct="1"/>
            <a:r>
              <a:rPr lang="zh-CN" altLang="en-US"/>
              <a:t>内容</a:t>
            </a:r>
          </a:p>
        </p:txBody>
      </p:sp>
      <p:sp>
        <p:nvSpPr>
          <p:cNvPr id="6147" name="Rectangle 3">
            <a:extLst>
              <a:ext uri="{FF2B5EF4-FFF2-40B4-BE49-F238E27FC236}">
                <a16:creationId xmlns:a16="http://schemas.microsoft.com/office/drawing/2014/main" id="{E56D27D8-0AA2-4661-9085-9FC1BB4B9016}"/>
              </a:ext>
            </a:extLst>
          </p:cNvPr>
          <p:cNvSpPr>
            <a:spLocks noGrp="1" noChangeArrowheads="1"/>
          </p:cNvSpPr>
          <p:nvPr>
            <p:ph type="body" idx="1"/>
          </p:nvPr>
        </p:nvSpPr>
        <p:spPr/>
        <p:txBody>
          <a:bodyPr/>
          <a:lstStyle/>
          <a:p>
            <a:pPr eaLnBrk="1" hangingPunct="1"/>
            <a:r>
              <a:rPr lang="zh-CN" altLang="en-US" dirty="0"/>
              <a:t>类型系统</a:t>
            </a:r>
          </a:p>
          <a:p>
            <a:pPr eaLnBrk="1" hangingPunct="1"/>
            <a:r>
              <a:rPr lang="zh-CN" altLang="en-US" dirty="0"/>
              <a:t>类型表达式的等价</a:t>
            </a:r>
          </a:p>
          <a:p>
            <a:pPr eaLnBrk="1" hangingPunct="1"/>
            <a:r>
              <a:rPr lang="zh-CN" altLang="en-US" dirty="0"/>
              <a:t>类型转换</a:t>
            </a:r>
          </a:p>
          <a:p>
            <a:pPr eaLnBrk="1" hangingPunct="1"/>
            <a:r>
              <a:rPr lang="zh-CN" altLang="en-US" dirty="0"/>
              <a:t>函数和运算符的重载</a:t>
            </a:r>
          </a:p>
          <a:p>
            <a:pPr eaLnBrk="1" hangingPunct="1"/>
            <a:r>
              <a:rPr lang="zh-CN" altLang="en-US" dirty="0"/>
              <a:t>多态函数</a:t>
            </a:r>
          </a:p>
          <a:p>
            <a:pPr eaLnBrk="1" hangingPunct="1"/>
            <a:r>
              <a:rPr lang="zh-CN" altLang="en-US" dirty="0"/>
              <a:t>合一算法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BACDA56-C058-4B40-BB4C-6686AB25668C}"/>
              </a:ext>
            </a:extLst>
          </p:cNvPr>
          <p:cNvSpPr>
            <a:spLocks noGrp="1" noChangeArrowheads="1"/>
          </p:cNvSpPr>
          <p:nvPr>
            <p:ph type="title"/>
          </p:nvPr>
        </p:nvSpPr>
        <p:spPr/>
        <p:txBody>
          <a:bodyPr/>
          <a:lstStyle/>
          <a:p>
            <a:pPr eaLnBrk="1" hangingPunct="1"/>
            <a:r>
              <a:rPr lang="zh-CN" altLang="en-US"/>
              <a:t>静态检查（</a:t>
            </a:r>
            <a:r>
              <a:rPr lang="en-US" altLang="zh-CN">
                <a:solidFill>
                  <a:schemeClr val="hlink"/>
                </a:solidFill>
              </a:rPr>
              <a:t>static checking</a:t>
            </a:r>
            <a:r>
              <a:rPr lang="zh-CN" altLang="en-US"/>
              <a:t>）</a:t>
            </a:r>
          </a:p>
        </p:txBody>
      </p:sp>
      <p:sp>
        <p:nvSpPr>
          <p:cNvPr id="7171" name="Rectangle 3">
            <a:extLst>
              <a:ext uri="{FF2B5EF4-FFF2-40B4-BE49-F238E27FC236}">
                <a16:creationId xmlns:a16="http://schemas.microsoft.com/office/drawing/2014/main" id="{7F40114C-481E-4F5B-A1A9-C5DD451D2FB9}"/>
              </a:ext>
            </a:extLst>
          </p:cNvPr>
          <p:cNvSpPr>
            <a:spLocks noGrp="1" noChangeArrowheads="1"/>
          </p:cNvSpPr>
          <p:nvPr>
            <p:ph type="body" idx="1"/>
          </p:nvPr>
        </p:nvSpPr>
        <p:spPr>
          <a:xfrm>
            <a:off x="914400" y="1371600"/>
            <a:ext cx="8040688" cy="4724400"/>
          </a:xfrm>
        </p:spPr>
        <p:txBody>
          <a:bodyPr/>
          <a:lstStyle/>
          <a:p>
            <a:pPr marL="609600" indent="-609600" eaLnBrk="1" hangingPunct="1">
              <a:buFont typeface="Wingdings" panose="05000000000000000000" pitchFamily="2" charset="2"/>
              <a:buAutoNum type="arabicPeriod"/>
            </a:pPr>
            <a:r>
              <a:rPr lang="zh-CN" altLang="en-US" sz="2800"/>
              <a:t>类型检查（</a:t>
            </a:r>
            <a:r>
              <a:rPr lang="en-US" altLang="zh-CN" sz="2800">
                <a:solidFill>
                  <a:schemeClr val="hlink"/>
                </a:solidFill>
              </a:rPr>
              <a:t>type check</a:t>
            </a:r>
            <a:r>
              <a:rPr lang="zh-CN" altLang="en-US" sz="2800"/>
              <a:t>）</a:t>
            </a:r>
          </a:p>
          <a:p>
            <a:pPr marL="990600" lvl="1" indent="-533400" eaLnBrk="1" hangingPunct="1"/>
            <a:r>
              <a:rPr lang="zh-CN" altLang="en-US" sz="2400"/>
              <a:t>操作对象必须与操作符匹配：函数名相加</a:t>
            </a:r>
            <a:r>
              <a:rPr lang="en-US" altLang="zh-CN" sz="2400">
                <a:solidFill>
                  <a:srgbClr val="FF3300"/>
                </a:solidFill>
              </a:rPr>
              <a:t>×</a:t>
            </a:r>
          </a:p>
          <a:p>
            <a:pPr marL="609600" indent="-609600" eaLnBrk="1" hangingPunct="1">
              <a:buFont typeface="Wingdings" panose="05000000000000000000" pitchFamily="2" charset="2"/>
              <a:buAutoNum type="arabicPeriod"/>
            </a:pPr>
            <a:r>
              <a:rPr lang="zh-CN" altLang="en-US" sz="2800"/>
              <a:t>控制流检查（</a:t>
            </a:r>
            <a:r>
              <a:rPr lang="en-US" altLang="zh-CN" sz="2800">
                <a:solidFill>
                  <a:schemeClr val="hlink"/>
                </a:solidFill>
              </a:rPr>
              <a:t>flow-of-control check</a:t>
            </a:r>
            <a:r>
              <a:rPr lang="zh-CN" altLang="en-US" sz="2800"/>
              <a:t>）</a:t>
            </a:r>
          </a:p>
          <a:p>
            <a:pPr marL="990600" lvl="1" indent="-533400" eaLnBrk="1" hangingPunct="1"/>
            <a:r>
              <a:rPr lang="en-US" altLang="zh-CN" sz="2400"/>
              <a:t>break</a:t>
            </a:r>
            <a:r>
              <a:rPr lang="zh-CN" altLang="en-US" sz="2400"/>
              <a:t>必须退出</a:t>
            </a:r>
            <a:r>
              <a:rPr lang="en-US" altLang="zh-CN" sz="2400"/>
              <a:t>while</a:t>
            </a:r>
            <a:r>
              <a:rPr lang="zh-CN" altLang="en-US" sz="2400"/>
              <a:t>、</a:t>
            </a:r>
            <a:r>
              <a:rPr lang="en-US" altLang="zh-CN" sz="2400"/>
              <a:t>for</a:t>
            </a:r>
            <a:r>
              <a:rPr lang="zh-CN" altLang="en-US" sz="2400"/>
              <a:t>、</a:t>
            </a:r>
            <a:r>
              <a:rPr lang="en-US" altLang="zh-CN" sz="2400"/>
              <a:t>switch…</a:t>
            </a:r>
          </a:p>
          <a:p>
            <a:pPr marL="609600" indent="-609600" eaLnBrk="1" hangingPunct="1">
              <a:buFont typeface="Wingdings" panose="05000000000000000000" pitchFamily="2" charset="2"/>
              <a:buAutoNum type="arabicPeriod"/>
            </a:pPr>
            <a:r>
              <a:rPr lang="zh-CN" altLang="en-US" sz="2800"/>
              <a:t>唯一性检查（</a:t>
            </a:r>
            <a:r>
              <a:rPr lang="en-US" altLang="zh-CN" sz="2800">
                <a:solidFill>
                  <a:schemeClr val="hlink"/>
                </a:solidFill>
              </a:rPr>
              <a:t>uniqueness check</a:t>
            </a:r>
            <a:r>
              <a:rPr lang="zh-CN" altLang="en-US" sz="2800"/>
              <a:t>）</a:t>
            </a:r>
          </a:p>
          <a:p>
            <a:pPr marL="990600" lvl="1" indent="-533400" eaLnBrk="1" hangingPunct="1"/>
            <a:r>
              <a:rPr lang="zh-CN" altLang="en-US" sz="2400"/>
              <a:t>对象（变量、标号</a:t>
            </a:r>
            <a:r>
              <a:rPr lang="en-US" altLang="zh-CN" sz="2400"/>
              <a:t>…</a:t>
            </a:r>
            <a:r>
              <a:rPr lang="zh-CN" altLang="en-US" sz="2400"/>
              <a:t>）定义必须唯一</a:t>
            </a:r>
          </a:p>
          <a:p>
            <a:pPr marL="609600" indent="-609600" eaLnBrk="1" hangingPunct="1">
              <a:buFont typeface="Wingdings" panose="05000000000000000000" pitchFamily="2" charset="2"/>
              <a:buAutoNum type="arabicPeriod"/>
            </a:pPr>
            <a:r>
              <a:rPr lang="zh-CN" altLang="en-US" sz="2800"/>
              <a:t>名字关联检查（</a:t>
            </a:r>
            <a:r>
              <a:rPr lang="en-US" altLang="zh-CN" sz="2800">
                <a:solidFill>
                  <a:schemeClr val="hlink"/>
                </a:solidFill>
              </a:rPr>
              <a:t>name-related check</a:t>
            </a:r>
            <a:r>
              <a:rPr lang="zh-CN" altLang="en-US" sz="2800"/>
              <a:t>）</a:t>
            </a:r>
          </a:p>
          <a:p>
            <a:pPr marL="990600" lvl="1" indent="-533400" eaLnBrk="1" hangingPunct="1"/>
            <a:r>
              <a:rPr lang="zh-CN" altLang="en-US" sz="2400"/>
              <a:t>相同名字在不同位置</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F26ECB4-E0A7-4EFB-970D-73408DF1B066}"/>
              </a:ext>
            </a:extLst>
          </p:cNvPr>
          <p:cNvSpPr>
            <a:spLocks noGrp="1" noChangeArrowheads="1"/>
          </p:cNvSpPr>
          <p:nvPr>
            <p:ph type="title"/>
          </p:nvPr>
        </p:nvSpPr>
        <p:spPr/>
        <p:txBody>
          <a:bodyPr/>
          <a:lstStyle/>
          <a:p>
            <a:pPr eaLnBrk="1" hangingPunct="1"/>
            <a:r>
              <a:rPr lang="zh-CN" altLang="en-US"/>
              <a:t>类型检查</a:t>
            </a:r>
          </a:p>
        </p:txBody>
      </p:sp>
      <p:sp>
        <p:nvSpPr>
          <p:cNvPr id="8195" name="Rectangle 3">
            <a:extLst>
              <a:ext uri="{FF2B5EF4-FFF2-40B4-BE49-F238E27FC236}">
                <a16:creationId xmlns:a16="http://schemas.microsoft.com/office/drawing/2014/main" id="{F1CA018D-AAFD-4BF5-A1D0-AF7AAB239C95}"/>
              </a:ext>
            </a:extLst>
          </p:cNvPr>
          <p:cNvSpPr>
            <a:spLocks noGrp="1" noChangeArrowheads="1"/>
          </p:cNvSpPr>
          <p:nvPr>
            <p:ph type="body" idx="1"/>
          </p:nvPr>
        </p:nvSpPr>
        <p:spPr>
          <a:xfrm>
            <a:off x="1182688" y="2362200"/>
            <a:ext cx="7772400" cy="3733800"/>
          </a:xfrm>
        </p:spPr>
        <p:txBody>
          <a:bodyPr/>
          <a:lstStyle/>
          <a:p>
            <a:pPr eaLnBrk="1" hangingPunct="1"/>
            <a:r>
              <a:rPr lang="zh-CN" altLang="en-US"/>
              <a:t>检查语法结构的类型与上下文匹配</a:t>
            </a:r>
          </a:p>
          <a:p>
            <a:pPr lvl="1" eaLnBrk="1" hangingPunct="1"/>
            <a:r>
              <a:rPr lang="zh-CN" altLang="en-US"/>
              <a:t>简单的类型检查</a:t>
            </a:r>
          </a:p>
          <a:p>
            <a:pPr lvl="1" eaLnBrk="1" hangingPunct="1"/>
            <a:r>
              <a:rPr lang="zh-CN" altLang="en-US"/>
              <a:t>两个类型的匹配</a:t>
            </a:r>
          </a:p>
          <a:p>
            <a:pPr eaLnBrk="1" hangingPunct="1"/>
            <a:r>
              <a:rPr lang="zh-CN" altLang="en-US"/>
              <a:t>代码生成要利用类型信息</a:t>
            </a:r>
          </a:p>
          <a:p>
            <a:pPr eaLnBrk="1" hangingPunct="1"/>
            <a:r>
              <a:rPr lang="zh-CN" altLang="en-US"/>
              <a:t>重载，多态</a:t>
            </a:r>
          </a:p>
        </p:txBody>
      </p:sp>
      <p:pic>
        <p:nvPicPr>
          <p:cNvPr id="8196" name="Picture 4" descr="pos">
            <a:extLst>
              <a:ext uri="{FF2B5EF4-FFF2-40B4-BE49-F238E27FC236}">
                <a16:creationId xmlns:a16="http://schemas.microsoft.com/office/drawing/2014/main" id="{641C4FBB-BD34-41A0-81E9-EB89F1B962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8101013"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6B18139-29A2-4867-ACD2-2F5A01C375F4}"/>
              </a:ext>
            </a:extLst>
          </p:cNvPr>
          <p:cNvSpPr>
            <a:spLocks noGrp="1" noChangeArrowheads="1"/>
          </p:cNvSpPr>
          <p:nvPr>
            <p:ph type="title"/>
          </p:nvPr>
        </p:nvSpPr>
        <p:spPr/>
        <p:txBody>
          <a:bodyPr/>
          <a:lstStyle/>
          <a:p>
            <a:pPr eaLnBrk="1" hangingPunct="1"/>
            <a:r>
              <a:rPr lang="en-US" altLang="zh-CN"/>
              <a:t>6.1  </a:t>
            </a:r>
            <a:r>
              <a:rPr lang="zh-CN" altLang="en-US"/>
              <a:t>类型系统</a:t>
            </a:r>
          </a:p>
        </p:txBody>
      </p:sp>
      <p:sp>
        <p:nvSpPr>
          <p:cNvPr id="9219" name="Rectangle 3">
            <a:extLst>
              <a:ext uri="{FF2B5EF4-FFF2-40B4-BE49-F238E27FC236}">
                <a16:creationId xmlns:a16="http://schemas.microsoft.com/office/drawing/2014/main" id="{B8317E27-CCC8-4EEB-8989-6E226757ED7A}"/>
              </a:ext>
            </a:extLst>
          </p:cNvPr>
          <p:cNvSpPr>
            <a:spLocks noGrp="1" noChangeArrowheads="1"/>
          </p:cNvSpPr>
          <p:nvPr>
            <p:ph type="body" idx="1"/>
          </p:nvPr>
        </p:nvSpPr>
        <p:spPr>
          <a:xfrm>
            <a:off x="1182688" y="1371600"/>
            <a:ext cx="7772400" cy="4953000"/>
          </a:xfrm>
        </p:spPr>
        <p:txBody>
          <a:bodyPr/>
          <a:lstStyle/>
          <a:p>
            <a:pPr eaLnBrk="1" hangingPunct="1"/>
            <a:r>
              <a:rPr lang="zh-CN" altLang="en-US" sz="2800" dirty="0"/>
              <a:t>检查语法结构组成成分的类型是否符合要求，并将类型赋予语法结构的规则</a:t>
            </a:r>
          </a:p>
          <a:p>
            <a:pPr lvl="1" eaLnBrk="1" hangingPunct="1"/>
            <a:r>
              <a:rPr lang="zh-CN" altLang="en-US" sz="2400" dirty="0"/>
              <a:t>若</a:t>
            </a:r>
            <a:r>
              <a:rPr lang="en-US" altLang="zh-CN" sz="2400" dirty="0"/>
              <a:t>+, -, *</a:t>
            </a:r>
            <a:r>
              <a:rPr lang="zh-CN" altLang="en-US" sz="2400" dirty="0"/>
              <a:t>的两个运算数均为整数，则结果为整数</a:t>
            </a:r>
          </a:p>
          <a:p>
            <a:pPr lvl="1" eaLnBrk="1" hangingPunct="1"/>
            <a:r>
              <a:rPr lang="en-US" altLang="zh-CN" sz="2400" dirty="0"/>
              <a:t>&amp;</a:t>
            </a:r>
            <a:r>
              <a:rPr lang="zh-CN" altLang="en-US" sz="2400" dirty="0"/>
              <a:t>的结果为指向操作对象的指针，若操作对象类型为</a:t>
            </a:r>
            <a:r>
              <a:rPr lang="en-US" altLang="zh-CN" sz="2400" dirty="0"/>
              <a:t>T</a:t>
            </a:r>
            <a:r>
              <a:rPr lang="zh-CN" altLang="en-US" sz="2400" dirty="0"/>
              <a:t>，则结果类型为“指向</a:t>
            </a:r>
            <a:r>
              <a:rPr lang="en-US" altLang="zh-CN" sz="2400" dirty="0"/>
              <a:t>T</a:t>
            </a:r>
            <a:r>
              <a:rPr lang="zh-CN" altLang="en-US" sz="2400" dirty="0"/>
              <a:t>的指针”</a:t>
            </a:r>
          </a:p>
          <a:p>
            <a:pPr eaLnBrk="1" hangingPunct="1"/>
            <a:r>
              <a:rPr lang="zh-CN" altLang="en-US" sz="2800" dirty="0"/>
              <a:t>每个表达式都有一个相关联的类型</a:t>
            </a:r>
          </a:p>
          <a:p>
            <a:pPr eaLnBrk="1" hangingPunct="1"/>
            <a:r>
              <a:rPr lang="zh-CN" altLang="en-US" sz="2800" dirty="0"/>
              <a:t>类型是有结构的！</a:t>
            </a:r>
            <a:r>
              <a:rPr lang="en-US" altLang="zh-CN" sz="2800" dirty="0"/>
              <a:t>——</a:t>
            </a:r>
            <a:r>
              <a:rPr lang="zh-CN" altLang="en-US" sz="2800" dirty="0"/>
              <a:t>指针</a:t>
            </a:r>
          </a:p>
          <a:p>
            <a:pPr eaLnBrk="1" hangingPunct="1"/>
            <a:r>
              <a:rPr lang="zh-CN" altLang="en-US" sz="2800" dirty="0"/>
              <a:t>基本类型：语言内部支持类型</a:t>
            </a:r>
          </a:p>
          <a:p>
            <a:pPr eaLnBrk="1" hangingPunct="1"/>
            <a:r>
              <a:rPr lang="zh-CN" altLang="en-US" sz="2800" dirty="0"/>
              <a:t>结构类型：组合基本类型构成新类型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0E4F697-D1F5-4AFF-8D64-E8FA973216F2}"/>
              </a:ext>
            </a:extLst>
          </p:cNvPr>
          <p:cNvSpPr>
            <a:spLocks noGrp="1" noChangeArrowheads="1"/>
          </p:cNvSpPr>
          <p:nvPr>
            <p:ph type="title"/>
          </p:nvPr>
        </p:nvSpPr>
        <p:spPr/>
        <p:txBody>
          <a:bodyPr/>
          <a:lstStyle/>
          <a:p>
            <a:pPr eaLnBrk="1" hangingPunct="1"/>
            <a:r>
              <a:rPr lang="en-US" altLang="zh-CN"/>
              <a:t>6.1.1  </a:t>
            </a:r>
            <a:r>
              <a:rPr lang="zh-CN" altLang="en-US"/>
              <a:t>类型表达式</a:t>
            </a:r>
          </a:p>
        </p:txBody>
      </p:sp>
      <p:sp>
        <p:nvSpPr>
          <p:cNvPr id="10243" name="Rectangle 3">
            <a:extLst>
              <a:ext uri="{FF2B5EF4-FFF2-40B4-BE49-F238E27FC236}">
                <a16:creationId xmlns:a16="http://schemas.microsoft.com/office/drawing/2014/main" id="{B40A3780-7B41-4194-BE93-1D4866012CBB}"/>
              </a:ext>
            </a:extLst>
          </p:cNvPr>
          <p:cNvSpPr>
            <a:spLocks noGrp="1" noChangeArrowheads="1"/>
          </p:cNvSpPr>
          <p:nvPr>
            <p:ph type="body" idx="1"/>
          </p:nvPr>
        </p:nvSpPr>
        <p:spPr>
          <a:xfrm>
            <a:off x="1182688" y="1371600"/>
            <a:ext cx="7772400" cy="4865688"/>
          </a:xfrm>
        </p:spPr>
        <p:txBody>
          <a:bodyPr/>
          <a:lstStyle/>
          <a:p>
            <a:pPr marL="609600" indent="-609600" eaLnBrk="1" hangingPunct="1"/>
            <a:r>
              <a:rPr lang="en-US" altLang="zh-CN" dirty="0">
                <a:solidFill>
                  <a:schemeClr val="hlink"/>
                </a:solidFill>
              </a:rPr>
              <a:t>type expression</a:t>
            </a:r>
            <a:r>
              <a:rPr lang="en-US" altLang="zh-CN" dirty="0"/>
              <a:t>——</a:t>
            </a:r>
            <a:r>
              <a:rPr lang="zh-CN" altLang="en-US" dirty="0"/>
              <a:t>用来表示语言结构的类型的表达式</a:t>
            </a:r>
          </a:p>
          <a:p>
            <a:pPr marL="609600" indent="-609600" eaLnBrk="1" hangingPunct="1"/>
            <a:r>
              <a:rPr lang="zh-CN" altLang="en-US" dirty="0"/>
              <a:t>基本类型或用类型构造符组合基本类型</a:t>
            </a:r>
          </a:p>
          <a:p>
            <a:pPr marL="990600" lvl="1" indent="-533400" eaLnBrk="1" hangingPunct="1">
              <a:buFont typeface="Wingdings" panose="05000000000000000000" pitchFamily="2" charset="2"/>
              <a:buAutoNum type="arabicPeriod"/>
            </a:pPr>
            <a:r>
              <a:rPr lang="zh-CN" altLang="en-US" dirty="0"/>
              <a:t>基本类型：</a:t>
            </a:r>
            <a:r>
              <a:rPr lang="en-US" altLang="zh-CN" i="1" dirty="0" err="1"/>
              <a:t>boolean</a:t>
            </a:r>
            <a:r>
              <a:rPr lang="en-US" altLang="zh-CN" dirty="0"/>
              <a:t>, </a:t>
            </a:r>
            <a:r>
              <a:rPr lang="en-US" altLang="zh-CN" i="1" dirty="0"/>
              <a:t>char</a:t>
            </a:r>
            <a:r>
              <a:rPr lang="en-US" altLang="zh-CN" dirty="0"/>
              <a:t>, </a:t>
            </a:r>
            <a:r>
              <a:rPr lang="en-US" altLang="zh-CN" i="1" dirty="0"/>
              <a:t>integer</a:t>
            </a:r>
            <a:r>
              <a:rPr lang="en-US" altLang="zh-CN" dirty="0"/>
              <a:t>, </a:t>
            </a:r>
            <a:r>
              <a:rPr lang="en-US" altLang="zh-CN" i="1" dirty="0"/>
              <a:t>real</a:t>
            </a:r>
            <a:r>
              <a:rPr lang="en-US" altLang="zh-CN" dirty="0"/>
              <a:t>, </a:t>
            </a:r>
            <a:r>
              <a:rPr lang="en-US" altLang="zh-CN" i="1" dirty="0" err="1"/>
              <a:t>type_error</a:t>
            </a:r>
            <a:r>
              <a:rPr lang="en-US" altLang="zh-CN" dirty="0"/>
              <a:t>, </a:t>
            </a:r>
            <a:r>
              <a:rPr lang="en-US" altLang="zh-CN" i="1" dirty="0"/>
              <a:t>void</a:t>
            </a:r>
          </a:p>
          <a:p>
            <a:pPr marL="990600" lvl="1" indent="-533400" eaLnBrk="1" hangingPunct="1">
              <a:buFont typeface="Wingdings" panose="05000000000000000000" pitchFamily="2" charset="2"/>
              <a:buAutoNum type="arabicPeriod"/>
            </a:pPr>
            <a:r>
              <a:rPr lang="zh-CN" altLang="en-US" dirty="0"/>
              <a:t>类型名</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0C198EF-3B71-4B53-BAFB-D96BCC592AD3}"/>
              </a:ext>
            </a:extLst>
          </p:cNvPr>
          <p:cNvSpPr>
            <a:spLocks noGrp="1" noChangeArrowheads="1"/>
          </p:cNvSpPr>
          <p:nvPr>
            <p:ph type="title"/>
          </p:nvPr>
        </p:nvSpPr>
        <p:spPr/>
        <p:txBody>
          <a:bodyPr/>
          <a:lstStyle/>
          <a:p>
            <a:pPr eaLnBrk="1" hangingPunct="1"/>
            <a:r>
              <a:rPr lang="zh-CN" altLang="en-US"/>
              <a:t>类型表达式（续）</a:t>
            </a:r>
          </a:p>
        </p:txBody>
      </p:sp>
      <p:sp>
        <p:nvSpPr>
          <p:cNvPr id="11267" name="Rectangle 3">
            <a:extLst>
              <a:ext uri="{FF2B5EF4-FFF2-40B4-BE49-F238E27FC236}">
                <a16:creationId xmlns:a16="http://schemas.microsoft.com/office/drawing/2014/main" id="{292967A2-8B3A-4658-8F22-5C309B9A9BD8}"/>
              </a:ext>
            </a:extLst>
          </p:cNvPr>
          <p:cNvSpPr>
            <a:spLocks noGrp="1" noChangeArrowheads="1"/>
          </p:cNvSpPr>
          <p:nvPr>
            <p:ph type="body" idx="1"/>
          </p:nvPr>
        </p:nvSpPr>
        <p:spPr>
          <a:xfrm>
            <a:off x="1182688" y="1371600"/>
            <a:ext cx="7772400" cy="4794250"/>
          </a:xfrm>
        </p:spPr>
        <p:txBody>
          <a:bodyPr/>
          <a:lstStyle/>
          <a:p>
            <a:pPr marL="990600" lvl="1" indent="-533400" eaLnBrk="1" hangingPunct="1">
              <a:buFont typeface="Wingdings" panose="05000000000000000000" pitchFamily="2" charset="2"/>
              <a:buAutoNum type="arabicPeriod" startAt="3"/>
            </a:pPr>
            <a:r>
              <a:rPr lang="zh-CN" altLang="en-US"/>
              <a:t>类型构造符</a:t>
            </a:r>
          </a:p>
          <a:p>
            <a:pPr marL="1371600" lvl="2" indent="-457200" eaLnBrk="1" hangingPunct="1">
              <a:buFont typeface="Wingdings" panose="05000000000000000000" pitchFamily="2" charset="2"/>
              <a:buAutoNum type="alphaLcParenR"/>
            </a:pPr>
            <a:r>
              <a:rPr lang="zh-CN" altLang="en-US"/>
              <a:t>数组：</a:t>
            </a:r>
            <a:r>
              <a:rPr lang="en-US" altLang="zh-CN"/>
              <a:t>T</a:t>
            </a:r>
            <a:r>
              <a:rPr lang="zh-CN" altLang="en-US"/>
              <a:t>是类型表达式，</a:t>
            </a:r>
            <a:r>
              <a:rPr lang="en-US" altLang="zh-CN"/>
              <a:t>I</a:t>
            </a:r>
            <a:r>
              <a:rPr lang="zh-CN" altLang="en-US"/>
              <a:t>为索引集合（整数范围），则</a:t>
            </a:r>
            <a:r>
              <a:rPr lang="en-US" altLang="zh-CN"/>
              <a:t>array(I, T)</a:t>
            </a:r>
            <a:r>
              <a:rPr lang="zh-CN" altLang="en-US"/>
              <a:t>是一个类型表达式，表示元素为类型</a:t>
            </a:r>
            <a:r>
              <a:rPr lang="en-US" altLang="zh-CN"/>
              <a:t>T</a:t>
            </a:r>
            <a:r>
              <a:rPr lang="zh-CN" altLang="en-US"/>
              <a:t>的数组类型</a:t>
            </a:r>
            <a:br>
              <a:rPr lang="zh-CN" altLang="en-US"/>
            </a:br>
            <a:r>
              <a:rPr lang="en-US" altLang="zh-CN"/>
              <a:t>int A[10];——array({0, …, 9}, integer)</a:t>
            </a:r>
          </a:p>
          <a:p>
            <a:pPr marL="1371600" lvl="2" indent="-457200" eaLnBrk="1" hangingPunct="1">
              <a:buFont typeface="Wingdings" panose="05000000000000000000" pitchFamily="2" charset="2"/>
              <a:buAutoNum type="alphaLcParenR"/>
            </a:pPr>
            <a:r>
              <a:rPr lang="zh-CN" altLang="en-US"/>
              <a:t>笛卡儿积：</a:t>
            </a:r>
            <a:r>
              <a:rPr lang="en-US" altLang="zh-CN"/>
              <a:t>T</a:t>
            </a:r>
            <a:r>
              <a:rPr lang="en-US" altLang="zh-CN" baseline="-25000"/>
              <a:t>1</a:t>
            </a:r>
            <a:r>
              <a:rPr lang="zh-CN" altLang="en-US"/>
              <a:t>、</a:t>
            </a:r>
            <a:r>
              <a:rPr lang="en-US" altLang="zh-CN"/>
              <a:t>T</a:t>
            </a:r>
            <a:r>
              <a:rPr lang="en-US" altLang="zh-CN" baseline="-25000"/>
              <a:t>2</a:t>
            </a:r>
            <a:r>
              <a:rPr lang="zh-CN" altLang="en-US"/>
              <a:t>为类型表达式，则</a:t>
            </a:r>
            <a:r>
              <a:rPr lang="en-US" altLang="zh-CN"/>
              <a:t>T</a:t>
            </a:r>
            <a:r>
              <a:rPr lang="en-US" altLang="zh-CN" baseline="-25000"/>
              <a:t>1</a:t>
            </a:r>
            <a:r>
              <a:rPr lang="en-US" altLang="zh-CN"/>
              <a:t>×T</a:t>
            </a:r>
            <a:r>
              <a:rPr lang="en-US" altLang="zh-CN" baseline="-25000"/>
              <a:t>2</a:t>
            </a:r>
            <a:r>
              <a:rPr lang="zh-CN" altLang="en-US"/>
              <a:t>为类型表达式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6C27EA8-6E99-4462-A954-D28118601C36}"/>
              </a:ext>
            </a:extLst>
          </p:cNvPr>
          <p:cNvSpPr>
            <a:spLocks noGrp="1" noChangeArrowheads="1"/>
          </p:cNvSpPr>
          <p:nvPr>
            <p:ph type="title"/>
          </p:nvPr>
        </p:nvSpPr>
        <p:spPr/>
        <p:txBody>
          <a:bodyPr/>
          <a:lstStyle/>
          <a:p>
            <a:pPr eaLnBrk="1" hangingPunct="1"/>
            <a:r>
              <a:rPr lang="zh-CN" altLang="en-US"/>
              <a:t>类型表达式（续）</a:t>
            </a:r>
          </a:p>
        </p:txBody>
      </p:sp>
      <p:sp>
        <p:nvSpPr>
          <p:cNvPr id="12291" name="Rectangle 3">
            <a:extLst>
              <a:ext uri="{FF2B5EF4-FFF2-40B4-BE49-F238E27FC236}">
                <a16:creationId xmlns:a16="http://schemas.microsoft.com/office/drawing/2014/main" id="{44913431-CF08-4796-BF5C-C57BD4CFC4C8}"/>
              </a:ext>
            </a:extLst>
          </p:cNvPr>
          <p:cNvSpPr>
            <a:spLocks noGrp="1" noChangeArrowheads="1"/>
          </p:cNvSpPr>
          <p:nvPr>
            <p:ph type="body" idx="1"/>
          </p:nvPr>
        </p:nvSpPr>
        <p:spPr>
          <a:xfrm>
            <a:off x="1182688" y="1371600"/>
            <a:ext cx="7772400" cy="4876800"/>
          </a:xfrm>
        </p:spPr>
        <p:txBody>
          <a:bodyPr/>
          <a:lstStyle/>
          <a:p>
            <a:pPr marL="1371600" lvl="2" indent="-457200" eaLnBrk="1" hangingPunct="1">
              <a:buFont typeface="Wingdings" panose="05000000000000000000" pitchFamily="2" charset="2"/>
              <a:buAutoNum type="alphaLcParenR" startAt="3"/>
            </a:pPr>
            <a:r>
              <a:rPr lang="zh-CN" altLang="en-US"/>
              <a:t>记录：与笛卡儿积的不同之处仅在于记录的域有名字。</a:t>
            </a:r>
            <a:r>
              <a:rPr lang="en-US" altLang="zh-CN"/>
              <a:t>&lt;</a:t>
            </a:r>
            <a:r>
              <a:rPr lang="zh-CN" altLang="en-US"/>
              <a:t>域名，域类型</a:t>
            </a:r>
            <a:r>
              <a:rPr lang="en-US" altLang="zh-CN"/>
              <a:t>&gt;</a:t>
            </a:r>
            <a:r>
              <a:rPr lang="zh-CN" altLang="en-US"/>
              <a:t>元组</a:t>
            </a:r>
            <a:br>
              <a:rPr lang="zh-CN" altLang="en-US"/>
            </a:br>
            <a:r>
              <a:rPr lang="en-US" altLang="zh-CN"/>
              <a:t>typedef struct {</a:t>
            </a:r>
            <a:br>
              <a:rPr lang="en-US" altLang="zh-CN"/>
            </a:br>
            <a:r>
              <a:rPr lang="en-US" altLang="zh-CN"/>
              <a:t>	int address;</a:t>
            </a:r>
            <a:br>
              <a:rPr lang="en-US" altLang="zh-CN"/>
            </a:br>
            <a:r>
              <a:rPr lang="en-US" altLang="zh-CN"/>
              <a:t>	char lexeme[15];</a:t>
            </a:r>
            <a:br>
              <a:rPr lang="en-US" altLang="zh-CN"/>
            </a:br>
            <a:r>
              <a:rPr lang="en-US" altLang="zh-CN"/>
              <a:t>} row;</a:t>
            </a:r>
            <a:br>
              <a:rPr lang="en-US" altLang="zh-CN"/>
            </a:br>
            <a:r>
              <a:rPr lang="en-US" altLang="zh-CN"/>
              <a:t>row table[101];</a:t>
            </a:r>
            <a:br>
              <a:rPr lang="en-US" altLang="zh-CN"/>
            </a:br>
            <a:r>
              <a:rPr lang="zh-CN" altLang="en-US"/>
              <a:t>类型表达式为：</a:t>
            </a:r>
            <a:br>
              <a:rPr lang="zh-CN" altLang="en-US"/>
            </a:br>
            <a:r>
              <a:rPr lang="en-US" altLang="zh-CN"/>
              <a:t>record((address×integer)×</a:t>
            </a:r>
            <a:br>
              <a:rPr lang="en-US" altLang="zh-CN"/>
            </a:br>
            <a:r>
              <a:rPr lang="en-US" altLang="zh-CN"/>
              <a:t>		(lexeme×array({0, …, 15}, char)))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4D7D50E-1FC0-4E10-B7C7-5FC8D818C1D2}"/>
              </a:ext>
            </a:extLst>
          </p:cNvPr>
          <p:cNvSpPr>
            <a:spLocks noGrp="1" noChangeArrowheads="1"/>
          </p:cNvSpPr>
          <p:nvPr>
            <p:ph type="title"/>
          </p:nvPr>
        </p:nvSpPr>
        <p:spPr/>
        <p:txBody>
          <a:bodyPr/>
          <a:lstStyle/>
          <a:p>
            <a:pPr eaLnBrk="1" hangingPunct="1"/>
            <a:r>
              <a:rPr lang="zh-CN" altLang="en-US"/>
              <a:t>类型表达式（续）</a:t>
            </a:r>
          </a:p>
        </p:txBody>
      </p:sp>
      <p:sp>
        <p:nvSpPr>
          <p:cNvPr id="13315" name="Rectangle 3">
            <a:extLst>
              <a:ext uri="{FF2B5EF4-FFF2-40B4-BE49-F238E27FC236}">
                <a16:creationId xmlns:a16="http://schemas.microsoft.com/office/drawing/2014/main" id="{6510F38F-75A9-4A9B-ADF0-A4978F74B745}"/>
              </a:ext>
            </a:extLst>
          </p:cNvPr>
          <p:cNvSpPr>
            <a:spLocks noGrp="1" noChangeArrowheads="1"/>
          </p:cNvSpPr>
          <p:nvPr>
            <p:ph type="body" idx="1"/>
          </p:nvPr>
        </p:nvSpPr>
        <p:spPr>
          <a:xfrm>
            <a:off x="1182688" y="1371600"/>
            <a:ext cx="7772400" cy="4876800"/>
          </a:xfrm>
        </p:spPr>
        <p:txBody>
          <a:bodyPr/>
          <a:lstStyle/>
          <a:p>
            <a:pPr marL="1371600" lvl="2" indent="-457200" eaLnBrk="1" hangingPunct="1">
              <a:buFont typeface="Wingdings" panose="05000000000000000000" pitchFamily="2" charset="2"/>
              <a:buAutoNum type="alphaLcParenR" startAt="4"/>
            </a:pPr>
            <a:r>
              <a:rPr lang="zh-CN" altLang="en-US" sz="2000" dirty="0"/>
              <a:t>指针：</a:t>
            </a:r>
            <a:r>
              <a:rPr lang="en-US" altLang="zh-CN" sz="2000" dirty="0"/>
              <a:t>T</a:t>
            </a:r>
            <a:r>
              <a:rPr lang="zh-CN" altLang="en-US" sz="2000" dirty="0"/>
              <a:t>为类型表达式，则</a:t>
            </a:r>
            <a:r>
              <a:rPr lang="en-US" altLang="zh-CN" sz="2000" dirty="0"/>
              <a:t>pointer(T)</a:t>
            </a:r>
            <a:r>
              <a:rPr lang="zh-CN" altLang="en-US" sz="2000" dirty="0"/>
              <a:t>为类型表达式，表示“指向类型为</a:t>
            </a:r>
            <a:r>
              <a:rPr lang="en-US" altLang="zh-CN" sz="2000" dirty="0"/>
              <a:t>T</a:t>
            </a:r>
            <a:r>
              <a:rPr lang="zh-CN" altLang="en-US" sz="2000" dirty="0"/>
              <a:t>的对象的指针”类型</a:t>
            </a:r>
            <a:br>
              <a:rPr lang="zh-CN" altLang="en-US" sz="2000" dirty="0"/>
            </a:br>
            <a:r>
              <a:rPr lang="en-US" altLang="zh-CN" sz="2000" dirty="0"/>
              <a:t>row *p;——pointer(row)</a:t>
            </a:r>
          </a:p>
          <a:p>
            <a:pPr marL="1371600" lvl="2" indent="-457200" eaLnBrk="1" hangingPunct="1">
              <a:buFont typeface="Wingdings" panose="05000000000000000000" pitchFamily="2" charset="2"/>
              <a:buAutoNum type="alphaLcParenR" startAt="4"/>
            </a:pPr>
            <a:r>
              <a:rPr lang="zh-CN" altLang="en-US" sz="2000" dirty="0"/>
              <a:t>函数：数学上，一个集合“定义域”到另一个集合“值域”的映射。程序语言，定义域类型</a:t>
            </a:r>
            <a:r>
              <a:rPr lang="en-US" altLang="zh-CN" sz="2000" dirty="0"/>
              <a:t>D</a:t>
            </a:r>
            <a:r>
              <a:rPr lang="zh-CN" altLang="en-US" sz="2000" dirty="0"/>
              <a:t>到值域类型</a:t>
            </a:r>
            <a:r>
              <a:rPr lang="en-US" altLang="zh-CN" sz="2000" dirty="0"/>
              <a:t>R</a:t>
            </a:r>
            <a:r>
              <a:rPr lang="zh-CN" altLang="en-US" sz="2000" dirty="0"/>
              <a:t>的映射：</a:t>
            </a:r>
            <a:r>
              <a:rPr lang="en-US" altLang="zh-CN" sz="2000" dirty="0"/>
              <a:t>D</a:t>
            </a:r>
            <a:r>
              <a:rPr lang="en-US" altLang="zh-CN" sz="2000" dirty="0">
                <a:sym typeface="Wingdings" panose="05000000000000000000" pitchFamily="2" charset="2"/>
              </a:rPr>
              <a:t>R</a:t>
            </a:r>
            <a:r>
              <a:rPr lang="zh-CN" altLang="en-US" sz="2000" dirty="0">
                <a:sym typeface="Wingdings" panose="05000000000000000000" pitchFamily="2" charset="2"/>
              </a:rPr>
              <a:t>。</a:t>
            </a:r>
            <a:endParaRPr lang="en-US" altLang="zh-CN" sz="2000" dirty="0">
              <a:sym typeface="Wingdings" panose="05000000000000000000" pitchFamily="2" charset="2"/>
            </a:endParaRPr>
          </a:p>
          <a:p>
            <a:pPr marL="1714500" lvl="2" indent="-342900" eaLnBrk="1" hangingPunct="1"/>
            <a:r>
              <a:rPr lang="en-US" altLang="zh-CN" sz="2000" dirty="0">
                <a:sym typeface="Wingdings" panose="05000000000000000000" pitchFamily="2" charset="2"/>
              </a:rPr>
              <a:t>%</a:t>
            </a:r>
            <a:r>
              <a:rPr lang="zh-CN" altLang="en-US" sz="2000" dirty="0">
                <a:sym typeface="Wingdings" panose="05000000000000000000" pitchFamily="2" charset="2"/>
              </a:rPr>
              <a:t>运算符</a:t>
            </a:r>
            <a:endParaRPr lang="en-US" altLang="zh-CN" sz="2000" dirty="0">
              <a:sym typeface="Wingdings" panose="05000000000000000000" pitchFamily="2" charset="2"/>
            </a:endParaRPr>
          </a:p>
          <a:p>
            <a:pPr marL="1371600" lvl="2" indent="0" eaLnBrk="1" hangingPunct="1">
              <a:buNone/>
            </a:pPr>
            <a:r>
              <a:rPr lang="en-US" altLang="zh-CN" sz="2000" dirty="0">
                <a:sym typeface="Wingdings" panose="05000000000000000000" pitchFamily="2" charset="2"/>
              </a:rPr>
              <a:t>(</a:t>
            </a:r>
            <a:r>
              <a:rPr lang="en-US" altLang="zh-CN" sz="2000" dirty="0" err="1">
                <a:sym typeface="Wingdings" panose="05000000000000000000" pitchFamily="2" charset="2"/>
              </a:rPr>
              <a:t>int×int</a:t>
            </a:r>
            <a:r>
              <a:rPr lang="en-US" altLang="zh-CN" sz="2000" dirty="0">
                <a:sym typeface="Wingdings" panose="05000000000000000000" pitchFamily="2" charset="2"/>
              </a:rPr>
              <a:t>)int</a:t>
            </a:r>
          </a:p>
          <a:p>
            <a:pPr marL="1714500" lvl="2" indent="-342900" eaLnBrk="1" hangingPunct="1"/>
            <a:r>
              <a:rPr lang="en-US" altLang="zh-CN" sz="2000" dirty="0">
                <a:sym typeface="Wingdings" panose="05000000000000000000" pitchFamily="2" charset="2"/>
              </a:rPr>
              <a:t>int *f(char a, char b);</a:t>
            </a:r>
          </a:p>
          <a:p>
            <a:pPr marL="1371600" lvl="2" indent="0" eaLnBrk="1" hangingPunct="1">
              <a:buNone/>
            </a:pPr>
            <a:r>
              <a:rPr lang="en-US" altLang="zh-CN" sz="2000" dirty="0">
                <a:sym typeface="Wingdings" panose="05000000000000000000" pitchFamily="2" charset="2"/>
              </a:rPr>
              <a:t>(</a:t>
            </a:r>
            <a:r>
              <a:rPr lang="en-US" altLang="zh-CN" sz="2000" dirty="0" err="1">
                <a:sym typeface="Wingdings" panose="05000000000000000000" pitchFamily="2" charset="2"/>
              </a:rPr>
              <a:t>char×char</a:t>
            </a:r>
            <a:r>
              <a:rPr lang="en-US" altLang="zh-CN" sz="2000" dirty="0">
                <a:sym typeface="Wingdings" panose="05000000000000000000" pitchFamily="2" charset="2"/>
              </a:rPr>
              <a:t>)pointer(integer)</a:t>
            </a:r>
          </a:p>
          <a:p>
            <a:pPr marL="1714500" lvl="2" indent="-342900" eaLnBrk="1" hangingPunct="1"/>
            <a:r>
              <a:rPr lang="en-US" altLang="zh-CN" sz="2000" dirty="0">
                <a:sym typeface="Wingdings" panose="05000000000000000000" pitchFamily="2" charset="2"/>
              </a:rPr>
              <a:t>(</a:t>
            </a:r>
            <a:r>
              <a:rPr lang="en-US" altLang="zh-CN" sz="2000" dirty="0" err="1">
                <a:sym typeface="Wingdings" panose="05000000000000000000" pitchFamily="2" charset="2"/>
              </a:rPr>
              <a:t>integerinteger</a:t>
            </a:r>
            <a:r>
              <a:rPr lang="en-US" altLang="zh-CN" sz="2000" dirty="0">
                <a:sym typeface="Wingdings" panose="05000000000000000000" pitchFamily="2" charset="2"/>
              </a:rPr>
              <a:t>)(</a:t>
            </a:r>
            <a:r>
              <a:rPr lang="en-US" altLang="zh-CN" sz="2000" dirty="0" err="1">
                <a:sym typeface="Wingdings" panose="05000000000000000000" pitchFamily="2" charset="2"/>
              </a:rPr>
              <a:t>integerinteger</a:t>
            </a:r>
            <a:r>
              <a:rPr lang="en-US" altLang="zh-CN" sz="2000" dirty="0">
                <a:sym typeface="Wingdings" panose="05000000000000000000" pitchFamily="2" charset="2"/>
              </a:rPr>
              <a:t>)</a:t>
            </a:r>
          </a:p>
          <a:p>
            <a:pPr marL="1371600" lvl="2" indent="0" eaLnBrk="1" hangingPunct="1">
              <a:buNone/>
            </a:pPr>
            <a:r>
              <a:rPr lang="zh-CN" altLang="en-US" sz="2000" dirty="0">
                <a:sym typeface="Wingdings" panose="05000000000000000000" pitchFamily="2" charset="2"/>
              </a:rPr>
              <a:t>函数类型，参数和返回值都是接受一个整型、返回一个整型的函数</a:t>
            </a:r>
            <a:endParaRPr lang="en-US" altLang="zh-CN" sz="2000" dirty="0">
              <a:sym typeface="Wingdings" panose="05000000000000000000" pitchFamily="2" charset="2"/>
            </a:endParaRPr>
          </a:p>
          <a:p>
            <a:pPr marL="990600" lvl="1" indent="-533400" eaLnBrk="1" hangingPunct="1">
              <a:buFont typeface="Wingdings" panose="05000000000000000000" pitchFamily="2" charset="2"/>
              <a:buAutoNum type="arabicPeriod" startAt="4"/>
            </a:pPr>
            <a:r>
              <a:rPr lang="zh-CN" altLang="en-US" sz="2400" dirty="0"/>
              <a:t>可使用类型表达式变量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618183A-7E53-4BBA-8A35-407D08AE0621}"/>
              </a:ext>
            </a:extLst>
          </p:cNvPr>
          <p:cNvSpPr>
            <a:spLocks noGrp="1" noChangeArrowheads="1"/>
          </p:cNvSpPr>
          <p:nvPr>
            <p:ph type="title"/>
          </p:nvPr>
        </p:nvSpPr>
        <p:spPr/>
        <p:txBody>
          <a:bodyPr/>
          <a:lstStyle/>
          <a:p>
            <a:pPr eaLnBrk="1" hangingPunct="1"/>
            <a:r>
              <a:rPr lang="zh-CN" altLang="en-US"/>
              <a:t>图表示类型表达式</a:t>
            </a:r>
          </a:p>
        </p:txBody>
      </p:sp>
      <p:sp>
        <p:nvSpPr>
          <p:cNvPr id="14339" name="Rectangle 3">
            <a:extLst>
              <a:ext uri="{FF2B5EF4-FFF2-40B4-BE49-F238E27FC236}">
                <a16:creationId xmlns:a16="http://schemas.microsoft.com/office/drawing/2014/main" id="{3D78A7CD-5745-45E6-9615-CA48CB12CE36}"/>
              </a:ext>
            </a:extLst>
          </p:cNvPr>
          <p:cNvSpPr>
            <a:spLocks noGrp="1" noChangeArrowheads="1"/>
          </p:cNvSpPr>
          <p:nvPr>
            <p:ph type="body" idx="1"/>
          </p:nvPr>
        </p:nvSpPr>
        <p:spPr/>
        <p:txBody>
          <a:bodyPr/>
          <a:lstStyle/>
          <a:p>
            <a:pPr eaLnBrk="1" hangingPunct="1"/>
            <a:r>
              <a:rPr lang="en-US" altLang="zh-CN">
                <a:sym typeface="Wingdings" panose="05000000000000000000" pitchFamily="2" charset="2"/>
              </a:rPr>
              <a:t>(char×char)pointer(integer)</a:t>
            </a:r>
          </a:p>
        </p:txBody>
      </p:sp>
      <p:pic>
        <p:nvPicPr>
          <p:cNvPr id="14340" name="Picture 5" descr="typeexp">
            <a:extLst>
              <a:ext uri="{FF2B5EF4-FFF2-40B4-BE49-F238E27FC236}">
                <a16:creationId xmlns:a16="http://schemas.microsoft.com/office/drawing/2014/main" id="{DCE631A3-979C-4E40-989B-8594E20A8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438400"/>
            <a:ext cx="838835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22DD624-07A8-4557-BCEB-5EA23C03126F}"/>
              </a:ext>
            </a:extLst>
          </p:cNvPr>
          <p:cNvSpPr>
            <a:spLocks noGrp="1" noChangeArrowheads="1"/>
          </p:cNvSpPr>
          <p:nvPr>
            <p:ph type="title"/>
          </p:nvPr>
        </p:nvSpPr>
        <p:spPr/>
        <p:txBody>
          <a:bodyPr/>
          <a:lstStyle/>
          <a:p>
            <a:pPr eaLnBrk="1" hangingPunct="1"/>
            <a:r>
              <a:rPr lang="en-US" altLang="zh-CN"/>
              <a:t>6.1.2  </a:t>
            </a:r>
            <a:r>
              <a:rPr lang="zh-CN" altLang="en-US"/>
              <a:t>类型系统</a:t>
            </a:r>
          </a:p>
        </p:txBody>
      </p:sp>
      <p:sp>
        <p:nvSpPr>
          <p:cNvPr id="15363" name="Rectangle 3">
            <a:extLst>
              <a:ext uri="{FF2B5EF4-FFF2-40B4-BE49-F238E27FC236}">
                <a16:creationId xmlns:a16="http://schemas.microsoft.com/office/drawing/2014/main" id="{B4222D0D-C29A-4325-BE14-7E4348F1FCAA}"/>
              </a:ext>
            </a:extLst>
          </p:cNvPr>
          <p:cNvSpPr>
            <a:spLocks noGrp="1" noChangeArrowheads="1"/>
          </p:cNvSpPr>
          <p:nvPr>
            <p:ph type="body" idx="1"/>
          </p:nvPr>
        </p:nvSpPr>
        <p:spPr>
          <a:xfrm>
            <a:off x="1182688" y="1371600"/>
            <a:ext cx="7772400" cy="5105400"/>
          </a:xfrm>
        </p:spPr>
        <p:txBody>
          <a:bodyPr/>
          <a:lstStyle/>
          <a:p>
            <a:pPr eaLnBrk="1" hangingPunct="1"/>
            <a:r>
              <a:rPr lang="en-US" altLang="zh-CN" dirty="0">
                <a:solidFill>
                  <a:schemeClr val="hlink"/>
                </a:solidFill>
              </a:rPr>
              <a:t>type system</a:t>
            </a:r>
            <a:r>
              <a:rPr lang="zh-CN" altLang="en-US" dirty="0"/>
              <a:t>：规则的集合</a:t>
            </a:r>
            <a:br>
              <a:rPr lang="zh-CN" altLang="en-US" dirty="0"/>
            </a:br>
            <a:r>
              <a:rPr lang="zh-CN" altLang="en-US" dirty="0"/>
              <a:t>规则</a:t>
            </a:r>
            <a:r>
              <a:rPr lang="en-US" altLang="zh-CN" dirty="0"/>
              <a:t>——</a:t>
            </a:r>
            <a:r>
              <a:rPr lang="zh-CN" altLang="en-US" dirty="0"/>
              <a:t>将类型表达式赋予程序的不同部分</a:t>
            </a:r>
          </a:p>
          <a:p>
            <a:pPr eaLnBrk="1" hangingPunct="1"/>
            <a:r>
              <a:rPr lang="zh-CN" altLang="en-US" dirty="0"/>
              <a:t>类型检查程序：实现一个类型系统</a:t>
            </a:r>
          </a:p>
          <a:p>
            <a:pPr eaLnBrk="1" hangingPunct="1"/>
            <a:r>
              <a:rPr lang="zh-CN" altLang="en-US" dirty="0"/>
              <a:t>语法制导方式实现</a:t>
            </a:r>
            <a:r>
              <a:rPr lang="en-US" altLang="zh-CN" dirty="0"/>
              <a:t>——</a:t>
            </a:r>
            <a:r>
              <a:rPr lang="zh-CN" altLang="en-US" dirty="0"/>
              <a:t>实现为语义规则</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7A48FEC-A88F-4585-BDDD-788B012BBFEB}"/>
              </a:ext>
            </a:extLst>
          </p:cNvPr>
          <p:cNvSpPr>
            <a:spLocks noGrp="1" noChangeArrowheads="1"/>
          </p:cNvSpPr>
          <p:nvPr>
            <p:ph type="title"/>
          </p:nvPr>
        </p:nvSpPr>
        <p:spPr/>
        <p:txBody>
          <a:bodyPr/>
          <a:lstStyle/>
          <a:p>
            <a:pPr eaLnBrk="1" hangingPunct="1"/>
            <a:r>
              <a:rPr lang="en-US" altLang="zh-CN"/>
              <a:t>6.1.2</a:t>
            </a:r>
            <a:r>
              <a:rPr lang="zh-CN" altLang="en-US"/>
              <a:t>静态</a:t>
            </a:r>
            <a:r>
              <a:rPr lang="en-US" altLang="zh-CN"/>
              <a:t>/</a:t>
            </a:r>
            <a:r>
              <a:rPr lang="zh-CN" altLang="en-US"/>
              <a:t>动态检查</a:t>
            </a:r>
          </a:p>
        </p:txBody>
      </p:sp>
      <p:sp>
        <p:nvSpPr>
          <p:cNvPr id="16387" name="Rectangle 3">
            <a:extLst>
              <a:ext uri="{FF2B5EF4-FFF2-40B4-BE49-F238E27FC236}">
                <a16:creationId xmlns:a16="http://schemas.microsoft.com/office/drawing/2014/main" id="{46ACF4E6-DF8E-4867-B243-FACCFFDCD7A1}"/>
              </a:ext>
            </a:extLst>
          </p:cNvPr>
          <p:cNvSpPr>
            <a:spLocks noGrp="1" noChangeArrowheads="1"/>
          </p:cNvSpPr>
          <p:nvPr>
            <p:ph type="body" idx="1"/>
          </p:nvPr>
        </p:nvSpPr>
        <p:spPr>
          <a:xfrm>
            <a:off x="1182688" y="1371600"/>
            <a:ext cx="7772400" cy="5010150"/>
          </a:xfrm>
        </p:spPr>
        <p:txBody>
          <a:bodyPr/>
          <a:lstStyle/>
          <a:p>
            <a:pPr eaLnBrk="1" hangingPunct="1"/>
            <a:r>
              <a:rPr lang="zh-CN" altLang="en-US"/>
              <a:t>静态</a:t>
            </a:r>
            <a:r>
              <a:rPr lang="en-US" altLang="zh-CN"/>
              <a:t>——</a:t>
            </a:r>
            <a:r>
              <a:rPr lang="zh-CN" altLang="en-US"/>
              <a:t>编译器进行</a:t>
            </a:r>
            <a:br>
              <a:rPr lang="zh-CN" altLang="en-US"/>
            </a:br>
            <a:r>
              <a:rPr lang="zh-CN" altLang="en-US"/>
              <a:t>动态</a:t>
            </a:r>
            <a:r>
              <a:rPr lang="en-US" altLang="zh-CN"/>
              <a:t>——</a:t>
            </a:r>
            <a:r>
              <a:rPr lang="zh-CN" altLang="en-US"/>
              <a:t>运行时进行</a:t>
            </a:r>
          </a:p>
          <a:p>
            <a:pPr eaLnBrk="1" hangingPunct="1"/>
            <a:r>
              <a:rPr lang="zh-CN" altLang="en-US"/>
              <a:t>可靠类型系统，强类型语言</a:t>
            </a:r>
            <a:r>
              <a:rPr lang="en-US" altLang="zh-CN"/>
              <a:t>——</a:t>
            </a:r>
            <a:r>
              <a:rPr lang="zh-CN" altLang="en-US"/>
              <a:t>编译器无</a:t>
            </a:r>
            <a:r>
              <a:rPr lang="en-US" altLang="zh-CN"/>
              <a:t>type_error</a:t>
            </a:r>
            <a:r>
              <a:rPr lang="en-US" altLang="zh-CN">
                <a:sym typeface="Wingdings" panose="05000000000000000000" pitchFamily="2" charset="2"/>
              </a:rPr>
              <a:t></a:t>
            </a:r>
            <a:r>
              <a:rPr lang="zh-CN" altLang="en-US">
                <a:sym typeface="Wingdings" panose="05000000000000000000" pitchFamily="2" charset="2"/>
              </a:rPr>
              <a:t>运行时无类型错误</a:t>
            </a:r>
          </a:p>
          <a:p>
            <a:pPr eaLnBrk="1" hangingPunct="1"/>
            <a:r>
              <a:rPr lang="en-US" altLang="zh-CN"/>
              <a:t>int a[10], i; b=a[i];——</a:t>
            </a:r>
            <a:r>
              <a:rPr lang="zh-CN" altLang="en-US"/>
              <a:t>需动态检查</a:t>
            </a:r>
          </a:p>
          <a:p>
            <a:pPr eaLnBrk="1" hangingPunct="1"/>
            <a:r>
              <a:rPr lang="zh-CN" altLang="en-US"/>
              <a:t>安全领域也涉及类型检查（缓冲溢出问题）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5AB3219-F8CF-4851-B9CF-93632ADDB40C}"/>
              </a:ext>
            </a:extLst>
          </p:cNvPr>
          <p:cNvSpPr>
            <a:spLocks noGrp="1" noChangeArrowheads="1"/>
          </p:cNvSpPr>
          <p:nvPr>
            <p:ph type="title"/>
          </p:nvPr>
        </p:nvSpPr>
        <p:spPr/>
        <p:txBody>
          <a:bodyPr/>
          <a:lstStyle/>
          <a:p>
            <a:pPr eaLnBrk="1" hangingPunct="1"/>
            <a:r>
              <a:rPr lang="en-US" altLang="zh-CN"/>
              <a:t>6.1.4  </a:t>
            </a:r>
            <a:r>
              <a:rPr lang="zh-CN" altLang="en-US"/>
              <a:t>错误恢复</a:t>
            </a:r>
          </a:p>
        </p:txBody>
      </p:sp>
      <p:sp>
        <p:nvSpPr>
          <p:cNvPr id="17411" name="Rectangle 3">
            <a:extLst>
              <a:ext uri="{FF2B5EF4-FFF2-40B4-BE49-F238E27FC236}">
                <a16:creationId xmlns:a16="http://schemas.microsoft.com/office/drawing/2014/main" id="{84B85A96-6625-437F-ABDB-23315207F67B}"/>
              </a:ext>
            </a:extLst>
          </p:cNvPr>
          <p:cNvSpPr>
            <a:spLocks noGrp="1" noChangeArrowheads="1"/>
          </p:cNvSpPr>
          <p:nvPr>
            <p:ph type="body" idx="1"/>
          </p:nvPr>
        </p:nvSpPr>
        <p:spPr/>
        <p:txBody>
          <a:bodyPr/>
          <a:lstStyle/>
          <a:p>
            <a:pPr eaLnBrk="1" hangingPunct="1"/>
            <a:r>
              <a:rPr lang="zh-CN" altLang="en-US"/>
              <a:t>最低要求：报告类型错误位置</a:t>
            </a:r>
          </a:p>
          <a:p>
            <a:pPr eaLnBrk="1" hangingPunct="1"/>
            <a:r>
              <a:rPr lang="zh-CN" altLang="en-US"/>
              <a:t>错误处理应融入规则中</a:t>
            </a:r>
          </a:p>
          <a:p>
            <a:pPr eaLnBrk="1" hangingPunct="1"/>
            <a:r>
              <a:rPr lang="zh-CN" altLang="en-US"/>
              <a:t>错误修正比描述正确程序更困难</a:t>
            </a:r>
          </a:p>
          <a:p>
            <a:pPr lvl="1" eaLnBrk="1" hangingPunct="1"/>
            <a:r>
              <a:rPr lang="zh-CN" altLang="en-US"/>
              <a:t>根据错误的程序、处理缺失信息，来推测正确类型</a:t>
            </a:r>
            <a:r>
              <a:rPr lang="zh-CN" altLang="en-US">
                <a:sym typeface="Wingdings" panose="05000000000000000000" pitchFamily="2" charset="2"/>
              </a:rPr>
              <a:t>在变量使用之前无需定义它</a:t>
            </a:r>
          </a:p>
          <a:p>
            <a:pPr lvl="1" eaLnBrk="1" hangingPunct="1"/>
            <a:r>
              <a:rPr lang="zh-CN" altLang="en-US">
                <a:sym typeface="Wingdings" panose="05000000000000000000" pitchFamily="2" charset="2"/>
              </a:rPr>
              <a:t>类型变量可用来处理这种问题</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10DAACF-C4FF-487D-94EA-3B689DEB6AAF}"/>
              </a:ext>
            </a:extLst>
          </p:cNvPr>
          <p:cNvSpPr>
            <a:spLocks noGrp="1" noChangeArrowheads="1"/>
          </p:cNvSpPr>
          <p:nvPr>
            <p:ph type="title"/>
          </p:nvPr>
        </p:nvSpPr>
        <p:spPr/>
        <p:txBody>
          <a:bodyPr/>
          <a:lstStyle/>
          <a:p>
            <a:pPr eaLnBrk="1" hangingPunct="1"/>
            <a:r>
              <a:rPr lang="en-US" altLang="zh-CN"/>
              <a:t>6.2  </a:t>
            </a:r>
            <a:r>
              <a:rPr lang="zh-CN" altLang="en-US"/>
              <a:t>一个简单的类型检查器</a:t>
            </a:r>
          </a:p>
        </p:txBody>
      </p:sp>
      <p:sp>
        <p:nvSpPr>
          <p:cNvPr id="18435" name="Rectangle 3">
            <a:extLst>
              <a:ext uri="{FF2B5EF4-FFF2-40B4-BE49-F238E27FC236}">
                <a16:creationId xmlns:a16="http://schemas.microsoft.com/office/drawing/2014/main" id="{B0307683-47DF-4AB9-A2D4-F6A438B6C114}"/>
              </a:ext>
            </a:extLst>
          </p:cNvPr>
          <p:cNvSpPr>
            <a:spLocks noGrp="1" noChangeArrowheads="1"/>
          </p:cNvSpPr>
          <p:nvPr>
            <p:ph type="body" idx="1"/>
          </p:nvPr>
        </p:nvSpPr>
        <p:spPr>
          <a:xfrm>
            <a:off x="990600" y="1371600"/>
            <a:ext cx="7964488" cy="5010150"/>
          </a:xfrm>
        </p:spPr>
        <p:txBody>
          <a:bodyPr/>
          <a:lstStyle/>
          <a:p>
            <a:pPr eaLnBrk="1" hangingPunct="1">
              <a:lnSpc>
                <a:spcPct val="80000"/>
              </a:lnSpc>
              <a:spcBef>
                <a:spcPct val="10000"/>
              </a:spcBef>
              <a:buFont typeface="Wingdings" panose="05000000000000000000" pitchFamily="2" charset="2"/>
              <a:buNone/>
            </a:pPr>
            <a:r>
              <a:rPr lang="en-US" altLang="zh-CN" sz="3600" dirty="0"/>
              <a:t>6.2.1  </a:t>
            </a:r>
            <a:r>
              <a:rPr lang="zh-CN" altLang="en-US" sz="3600" dirty="0"/>
              <a:t>一种简单语言</a:t>
            </a:r>
          </a:p>
          <a:p>
            <a:pPr eaLnBrk="1" hangingPunct="1">
              <a:lnSpc>
                <a:spcPct val="80000"/>
              </a:lnSpc>
              <a:spcBef>
                <a:spcPct val="10000"/>
              </a:spcBef>
            </a:pPr>
            <a:r>
              <a:rPr lang="zh-CN" altLang="en-US" sz="2800" dirty="0"/>
              <a:t>用综合属性</a:t>
            </a:r>
            <a:r>
              <a:rPr lang="en-US" altLang="zh-CN" sz="2800" dirty="0"/>
              <a:t>type</a:t>
            </a:r>
            <a:r>
              <a:rPr lang="zh-CN" altLang="en-US" sz="2800" dirty="0"/>
              <a:t>保存类型表达式</a:t>
            </a:r>
          </a:p>
          <a:p>
            <a:pPr eaLnBrk="1" hangingPunct="1">
              <a:lnSpc>
                <a:spcPct val="80000"/>
              </a:lnSpc>
              <a:spcBef>
                <a:spcPct val="10000"/>
              </a:spcBef>
              <a:buFont typeface="Wingdings" panose="05000000000000000000" pitchFamily="2" charset="2"/>
              <a:buNone/>
            </a:pPr>
            <a:r>
              <a:rPr lang="en-US" altLang="zh-CN" sz="2400" dirty="0"/>
              <a:t>P </a:t>
            </a:r>
            <a:r>
              <a:rPr lang="en-US" altLang="zh-CN" sz="2400" dirty="0">
                <a:sym typeface="Symbol" panose="05050102010706020507" pitchFamily="18" charset="2"/>
              </a:rPr>
              <a:t>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a:t>
            </a: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D |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 </a:t>
            </a:r>
            <a:r>
              <a:rPr lang="en-US" altLang="zh-CN" sz="2400" dirty="0">
                <a:sym typeface="Symbol" panose="05050102010706020507" pitchFamily="18" charset="2"/>
              </a:rPr>
              <a:t>T</a:t>
            </a:r>
            <a:endParaRPr lang="en-US" altLang="zh-CN" sz="2400" i="1"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char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integer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array</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of</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endParaRPr lang="en-US" altLang="zh-CN" sz="2400" dirty="0"/>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E  </a:t>
            </a:r>
            <a:r>
              <a:rPr lang="en-US" altLang="zh-CN" sz="2400" b="1" dirty="0">
                <a:solidFill>
                  <a:schemeClr val="accent2"/>
                </a:solidFill>
                <a:sym typeface="Symbol" panose="05050102010706020507" pitchFamily="18" charset="2"/>
              </a:rPr>
              <a:t>literal</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b="1" dirty="0">
                <a:solidFill>
                  <a:schemeClr val="accent2"/>
                </a:solidFill>
                <a:sym typeface="Symbol" panose="05050102010706020507" pitchFamily="18" charset="2"/>
              </a:rPr>
              <a:t>mod</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E</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a:t>
            </a:r>
            <a:r>
              <a:rPr lang="en-US" altLang="zh-CN" sz="2400" dirty="0">
                <a:solidFill>
                  <a:schemeClr val="accent2"/>
                </a:solidFill>
                <a:sym typeface="Symbol" panose="05050102010706020507" pitchFamily="18" charset="2"/>
              </a:rPr>
              <a:t>^</a:t>
            </a:r>
            <a:endParaRPr lang="en-US" altLang="zh-CN" sz="2400" dirty="0"/>
          </a:p>
          <a:p>
            <a:pPr eaLnBrk="1" hangingPunct="1"/>
            <a:r>
              <a:rPr lang="zh-CN" altLang="en-US" sz="2800" dirty="0"/>
              <a:t>基本类型：</a:t>
            </a:r>
            <a:r>
              <a:rPr lang="en-US" altLang="zh-CN" sz="2800" dirty="0"/>
              <a:t>char</a:t>
            </a:r>
            <a:r>
              <a:rPr lang="zh-CN" altLang="en-US" sz="2800" dirty="0"/>
              <a:t>、</a:t>
            </a:r>
            <a:r>
              <a:rPr lang="en-US" altLang="zh-CN" sz="2800" dirty="0"/>
              <a:t>integer</a:t>
            </a:r>
            <a:r>
              <a:rPr lang="zh-CN" altLang="en-US" sz="2800" dirty="0"/>
              <a:t>、</a:t>
            </a:r>
            <a:r>
              <a:rPr lang="en-US" altLang="zh-CN" sz="2800" dirty="0" err="1"/>
              <a:t>type_error</a:t>
            </a:r>
            <a:endParaRPr lang="en-US" altLang="zh-CN" sz="2800" dirty="0"/>
          </a:p>
          <a:p>
            <a:pPr eaLnBrk="1" hangingPunct="1"/>
            <a:r>
              <a:rPr lang="zh-CN" altLang="en-US" sz="2800" dirty="0"/>
              <a:t>例</a:t>
            </a:r>
          </a:p>
          <a:p>
            <a:pPr eaLnBrk="1" hangingPunct="1">
              <a:buFont typeface="Wingdings" panose="05000000000000000000" pitchFamily="2" charset="2"/>
              <a:buNone/>
            </a:pPr>
            <a:r>
              <a:rPr lang="en-US" altLang="zh-CN" sz="2000" u="sng" dirty="0"/>
              <a:t>CODE</a:t>
            </a:r>
            <a:r>
              <a:rPr lang="en-US" altLang="zh-CN" sz="2000" dirty="0"/>
              <a:t>			</a:t>
            </a:r>
            <a:r>
              <a:rPr lang="en-US" altLang="zh-CN" sz="2000" u="sng" dirty="0"/>
              <a:t>Some Types</a:t>
            </a:r>
            <a:r>
              <a:rPr lang="en-US" altLang="zh-CN" sz="2000" dirty="0"/>
              <a:t>	       	</a:t>
            </a:r>
            <a:r>
              <a:rPr lang="en-US" altLang="zh-CN" sz="2000" u="sng" dirty="0"/>
              <a:t>Type Expressions</a:t>
            </a:r>
          </a:p>
          <a:p>
            <a:pPr eaLnBrk="1" hangingPunct="1">
              <a:buFont typeface="Wingdings" panose="05000000000000000000" pitchFamily="2" charset="2"/>
              <a:buNone/>
            </a:pPr>
            <a:r>
              <a:rPr lang="en-US" altLang="zh-CN" sz="2000" dirty="0"/>
              <a:t>key: integer;  		array [256] of char  	array(1..256, char)</a:t>
            </a:r>
          </a:p>
          <a:p>
            <a:pPr eaLnBrk="1" hangingPunct="1">
              <a:buFont typeface="Wingdings" panose="05000000000000000000" pitchFamily="2" charset="2"/>
              <a:buNone/>
            </a:pPr>
            <a:r>
              <a:rPr lang="en-US" altLang="zh-CN" sz="2000" dirty="0"/>
              <a:t>key mod 1999  		^integer	       		pointer(integer)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7EE6AF5-F5F6-4B21-B288-664E72F3FAB9}"/>
              </a:ext>
            </a:extLst>
          </p:cNvPr>
          <p:cNvSpPr>
            <a:spLocks noGrp="1" noChangeArrowheads="1"/>
          </p:cNvSpPr>
          <p:nvPr>
            <p:ph type="title"/>
          </p:nvPr>
        </p:nvSpPr>
        <p:spPr/>
        <p:txBody>
          <a:bodyPr/>
          <a:lstStyle/>
          <a:p>
            <a:pPr eaLnBrk="1" hangingPunct="1"/>
            <a:r>
              <a:rPr lang="zh-CN" altLang="en-US"/>
              <a:t>翻译模式</a:t>
            </a:r>
          </a:p>
        </p:txBody>
      </p:sp>
      <p:sp>
        <p:nvSpPr>
          <p:cNvPr id="19459" name="Rectangle 3">
            <a:extLst>
              <a:ext uri="{FF2B5EF4-FFF2-40B4-BE49-F238E27FC236}">
                <a16:creationId xmlns:a16="http://schemas.microsoft.com/office/drawing/2014/main" id="{F5DDEF60-A2FB-442A-A380-E25FFF264388}"/>
              </a:ext>
            </a:extLst>
          </p:cNvPr>
          <p:cNvSpPr>
            <a:spLocks noGrp="1" noChangeArrowheads="1"/>
          </p:cNvSpPr>
          <p:nvPr>
            <p:ph type="body" idx="1"/>
          </p:nvPr>
        </p:nvSpPr>
        <p:spPr>
          <a:xfrm>
            <a:off x="1182688" y="1371600"/>
            <a:ext cx="7772400" cy="5010150"/>
          </a:xfrm>
        </p:spPr>
        <p:txBody>
          <a:bodyPr/>
          <a:lstStyle/>
          <a:p>
            <a:pPr eaLnBrk="1" hangingPunct="1">
              <a:lnSpc>
                <a:spcPct val="80000"/>
              </a:lnSpc>
              <a:spcBef>
                <a:spcPct val="10000"/>
              </a:spcBef>
              <a:buFont typeface="Wingdings" panose="05000000000000000000" pitchFamily="2" charset="2"/>
              <a:buNone/>
            </a:pPr>
            <a:r>
              <a:rPr lang="en-US" altLang="zh-CN" sz="2400" dirty="0"/>
              <a:t>P </a:t>
            </a:r>
            <a:r>
              <a:rPr lang="en-US" altLang="zh-CN" sz="2400" dirty="0">
                <a:sym typeface="Symbol" panose="05050102010706020507" pitchFamily="18" charset="2"/>
              </a:rPr>
              <a:t>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E		{ }</a:t>
            </a: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D </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D		{ }</a:t>
            </a: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D  </a:t>
            </a:r>
            <a:r>
              <a:rPr lang="en-US" altLang="zh-CN" sz="2400" b="1" dirty="0">
                <a:solidFill>
                  <a:schemeClr val="accent2"/>
                </a:solidFill>
                <a:sym typeface="Symbol" panose="05050102010706020507" pitchFamily="18" charset="2"/>
              </a:rPr>
              <a:t>id</a:t>
            </a:r>
            <a:r>
              <a:rPr lang="en-US" altLang="zh-CN" sz="2400" dirty="0">
                <a:solidFill>
                  <a:schemeClr val="accent2"/>
                </a:solidFill>
                <a:sym typeface="Symbol" panose="05050102010706020507" pitchFamily="18" charset="2"/>
              </a:rPr>
              <a:t> : </a:t>
            </a:r>
            <a:r>
              <a:rPr lang="en-US" altLang="zh-CN" sz="2400" dirty="0">
                <a:sym typeface="Symbol" panose="05050102010706020507" pitchFamily="18" charset="2"/>
              </a:rPr>
              <a:t>T		{ </a:t>
            </a:r>
            <a:r>
              <a:rPr lang="en-US" altLang="zh-CN" sz="2400" i="1" dirty="0" err="1">
                <a:sym typeface="Symbol" panose="05050102010706020507" pitchFamily="18" charset="2"/>
              </a:rPr>
              <a:t>addtype</a:t>
            </a:r>
            <a:r>
              <a:rPr lang="en-US" altLang="zh-CN" sz="2400" dirty="0">
                <a:sym typeface="Symbol" panose="05050102010706020507" pitchFamily="18" charset="2"/>
              </a:rPr>
              <a:t>(</a:t>
            </a:r>
            <a:r>
              <a:rPr lang="en-US" altLang="zh-CN" sz="2400" b="1" dirty="0" err="1">
                <a:solidFill>
                  <a:schemeClr val="accent2"/>
                </a:solidFill>
                <a:sym typeface="Symbol" panose="05050102010706020507" pitchFamily="18" charset="2"/>
              </a:rPr>
              <a:t>id</a:t>
            </a:r>
            <a:r>
              <a:rPr lang="en-US" altLang="zh-CN" sz="2400" i="1" dirty="0" err="1">
                <a:sym typeface="Symbol" panose="05050102010706020507" pitchFamily="18" charset="2"/>
              </a:rPr>
              <a:t>.entry</a:t>
            </a:r>
            <a:r>
              <a:rPr lang="en-US" altLang="zh-CN" sz="2400" i="1"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a:t>
            </a:r>
            <a:endParaRPr lang="en-US" altLang="zh-CN" sz="2400" i="1" dirty="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char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char</a:t>
            </a:r>
            <a:r>
              <a:rPr lang="en-US" altLang="zh-CN" sz="2400" dirty="0">
                <a:sym typeface="Symbol" panose="05050102010706020507" pitchFamily="18" charset="2"/>
              </a:rPr>
              <a:t> }</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integer</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integer</a:t>
            </a:r>
            <a:r>
              <a:rPr lang="en-US" altLang="zh-CN" sz="2400" dirty="0">
                <a:sym typeface="Symbol" panose="05050102010706020507" pitchFamily="18" charset="2"/>
              </a:rPr>
              <a:t> }</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b="1" dirty="0">
                <a:solidFill>
                  <a:schemeClr val="accent2"/>
                </a:solidFill>
                <a:sym typeface="Symbol" panose="05050102010706020507" pitchFamily="18" charset="2"/>
              </a:rPr>
              <a:t>array</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num</a:t>
            </a:r>
            <a:r>
              <a:rPr lang="en-US" altLang="zh-CN" sz="2400" dirty="0">
                <a:solidFill>
                  <a:schemeClr val="accent2"/>
                </a:solidFill>
                <a:sym typeface="Symbol" panose="05050102010706020507" pitchFamily="18" charset="2"/>
              </a:rPr>
              <a:t> ] </a:t>
            </a:r>
            <a:r>
              <a:rPr lang="en-US" altLang="zh-CN" sz="2400" b="1" dirty="0">
                <a:solidFill>
                  <a:schemeClr val="accent2"/>
                </a:solidFill>
                <a:sym typeface="Symbol" panose="05050102010706020507" pitchFamily="18" charset="2"/>
              </a:rPr>
              <a:t>of</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T</a:t>
            </a:r>
            <a:br>
              <a:rPr lang="en-US" altLang="zh-CN" sz="2400" dirty="0">
                <a:sym typeface="Symbol" panose="05050102010706020507" pitchFamily="18" charset="2"/>
              </a:rPr>
            </a:br>
            <a:r>
              <a:rPr lang="en-US" altLang="zh-CN" sz="2400"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a:t>
            </a:r>
            <a:r>
              <a:rPr lang="en-US" altLang="zh-CN" sz="2400" i="1" dirty="0">
                <a:sym typeface="Symbol" panose="05050102010706020507" pitchFamily="18" charset="2"/>
              </a:rPr>
              <a:t>array</a:t>
            </a:r>
            <a:r>
              <a:rPr lang="en-US" altLang="zh-CN" sz="2400" dirty="0">
                <a:sym typeface="Symbol" panose="05050102010706020507" pitchFamily="18" charset="2"/>
              </a:rPr>
              <a:t>(1..</a:t>
            </a:r>
            <a:r>
              <a:rPr lang="en-US" altLang="zh-CN" sz="2400" b="1" dirty="0">
                <a:solidFill>
                  <a:schemeClr val="accent2"/>
                </a:solidFill>
                <a:sym typeface="Symbol" panose="05050102010706020507" pitchFamily="18" charset="2"/>
              </a:rPr>
              <a:t>num</a:t>
            </a:r>
            <a:r>
              <a:rPr lang="en-US" altLang="zh-CN" sz="2400" dirty="0">
                <a:sym typeface="Symbol" panose="05050102010706020507" pitchFamily="18" charset="2"/>
              </a:rPr>
              <a:t>.</a:t>
            </a:r>
            <a:r>
              <a:rPr lang="en-US" altLang="zh-CN" sz="2400" i="1" dirty="0">
                <a:sym typeface="Symbol" panose="05050102010706020507" pitchFamily="18" charset="2"/>
              </a:rPr>
              <a:t>val</a:t>
            </a:r>
            <a:r>
              <a:rPr lang="en-US" altLang="zh-CN" sz="2400" dirty="0">
                <a:sym typeface="Symbol" panose="05050102010706020507" pitchFamily="18" charset="2"/>
              </a:rPr>
              <a:t>,T.</a:t>
            </a:r>
            <a:r>
              <a:rPr lang="en-US" altLang="zh-CN" sz="2400" i="1" dirty="0">
                <a:sym typeface="Symbol" panose="05050102010706020507" pitchFamily="18" charset="2"/>
              </a:rPr>
              <a:t>type</a:t>
            </a:r>
            <a:r>
              <a:rPr lang="en-US" altLang="zh-CN" sz="2400" dirty="0">
                <a:sym typeface="Symbol" panose="05050102010706020507" pitchFamily="18" charset="2"/>
              </a:rPr>
              <a:t>)}</a:t>
            </a:r>
            <a:endParaRPr lang="en-US" altLang="zh-CN" sz="2400" dirty="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T  </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T</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		{</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i="1" dirty="0">
                <a:sym typeface="Symbol" panose="05050102010706020507" pitchFamily="18" charset="2"/>
              </a:rPr>
              <a:t>pointer</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a:t>
            </a:r>
          </a:p>
          <a:p>
            <a:pPr eaLnBrk="1" hangingPunct="1"/>
            <a:r>
              <a:rPr lang="en-US" altLang="zh-CN" sz="2800" dirty="0" err="1">
                <a:sym typeface="Symbol" panose="05050102010706020507" pitchFamily="18" charset="2"/>
              </a:rPr>
              <a:t>D</a:t>
            </a:r>
            <a:r>
              <a:rPr lang="en-US" altLang="zh-CN" sz="2800" b="1" dirty="0" err="1">
                <a:solidFill>
                  <a:schemeClr val="accent2"/>
                </a:solidFill>
                <a:sym typeface="Symbol" panose="05050102010706020507" pitchFamily="18" charset="2"/>
              </a:rPr>
              <a:t>id</a:t>
            </a:r>
            <a:r>
              <a:rPr lang="en-US" altLang="zh-CN" sz="2800" dirty="0" err="1">
                <a:solidFill>
                  <a:schemeClr val="accent2"/>
                </a:solidFill>
                <a:sym typeface="Symbol" panose="05050102010706020507" pitchFamily="18" charset="2"/>
              </a:rPr>
              <a:t>:</a:t>
            </a:r>
            <a:r>
              <a:rPr lang="en-US" altLang="zh-CN" sz="2800" dirty="0" err="1">
                <a:sym typeface="Symbol" panose="05050102010706020507" pitchFamily="18" charset="2"/>
              </a:rPr>
              <a:t>T</a:t>
            </a:r>
            <a:r>
              <a:rPr lang="zh-CN" altLang="en-US" sz="2800" dirty="0">
                <a:sym typeface="Symbol" panose="05050102010706020507" pitchFamily="18" charset="2"/>
              </a:rPr>
              <a:t>的规则将标识符类型存入符号表</a:t>
            </a:r>
          </a:p>
          <a:p>
            <a:pPr eaLnBrk="1" hangingPunct="1"/>
            <a:r>
              <a:rPr lang="en-US" altLang="zh-CN" sz="2800" dirty="0" err="1">
                <a:sym typeface="Symbol" panose="05050102010706020507" pitchFamily="18" charset="2"/>
              </a:rPr>
              <a:t>T.type</a:t>
            </a:r>
            <a:r>
              <a:rPr lang="zh-CN" altLang="en-US" sz="2800" dirty="0">
                <a:sym typeface="Symbol" panose="05050102010706020507" pitchFamily="18" charset="2"/>
              </a:rPr>
              <a:t>由后几个产生式的语义规则计算</a:t>
            </a:r>
          </a:p>
          <a:p>
            <a:pPr eaLnBrk="1" hangingPunct="1"/>
            <a:r>
              <a:rPr lang="en-US" altLang="zh-CN" sz="2800" dirty="0"/>
              <a:t>P</a:t>
            </a:r>
            <a:r>
              <a:rPr lang="en-US" altLang="zh-CN" sz="2800" dirty="0">
                <a:sym typeface="Symbol" panose="05050102010706020507" pitchFamily="18" charset="2"/>
              </a:rPr>
              <a:t>D</a:t>
            </a:r>
            <a:r>
              <a:rPr lang="en-US" altLang="zh-CN" sz="2800" dirty="0">
                <a:solidFill>
                  <a:schemeClr val="accent2"/>
                </a:solidFill>
                <a:sym typeface="Symbol" panose="05050102010706020507" pitchFamily="18" charset="2"/>
              </a:rPr>
              <a:t>;</a:t>
            </a:r>
            <a:r>
              <a:rPr lang="en-US" altLang="zh-CN" sz="2800" dirty="0">
                <a:sym typeface="Symbol" panose="05050102010706020507" pitchFamily="18" charset="2"/>
              </a:rPr>
              <a:t>E</a:t>
            </a:r>
            <a:r>
              <a:rPr lang="zh-CN" altLang="en-US" sz="2800" dirty="0">
                <a:sym typeface="Symbol" panose="05050102010706020507" pitchFamily="18" charset="2"/>
              </a:rPr>
              <a:t>，</a:t>
            </a:r>
            <a:r>
              <a:rPr lang="en-US" altLang="zh-CN" sz="2800" dirty="0">
                <a:sym typeface="Symbol" panose="05050102010706020507" pitchFamily="18" charset="2"/>
              </a:rPr>
              <a:t>D</a:t>
            </a:r>
            <a:r>
              <a:rPr lang="zh-CN" altLang="en-US" sz="2800" dirty="0">
                <a:sym typeface="Symbol" panose="05050102010706020507" pitchFamily="18" charset="2"/>
              </a:rPr>
              <a:t>在</a:t>
            </a:r>
            <a:r>
              <a:rPr lang="en-US" altLang="zh-CN" sz="2800" dirty="0">
                <a:sym typeface="Symbol" panose="05050102010706020507" pitchFamily="18" charset="2"/>
              </a:rPr>
              <a:t>E</a:t>
            </a:r>
            <a:r>
              <a:rPr lang="zh-CN" altLang="en-US" sz="2800" dirty="0">
                <a:sym typeface="Symbol" panose="05050102010706020507" pitchFamily="18" charset="2"/>
              </a:rPr>
              <a:t>之前，保证在检查表达式类型之前类型信息已经存入符号表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8449F4A-3651-4908-852C-A1FF04682CC7}"/>
              </a:ext>
            </a:extLst>
          </p:cNvPr>
          <p:cNvSpPr>
            <a:spLocks noGrp="1" noChangeArrowheads="1"/>
          </p:cNvSpPr>
          <p:nvPr>
            <p:ph type="title"/>
          </p:nvPr>
        </p:nvSpPr>
        <p:spPr/>
        <p:txBody>
          <a:bodyPr/>
          <a:lstStyle/>
          <a:p>
            <a:pPr eaLnBrk="1" hangingPunct="1"/>
            <a:r>
              <a:rPr lang="en-US" altLang="zh-CN"/>
              <a:t>6.2.2  </a:t>
            </a:r>
            <a:r>
              <a:rPr lang="zh-CN" altLang="en-US"/>
              <a:t>表达式类型检查</a:t>
            </a:r>
          </a:p>
        </p:txBody>
      </p:sp>
      <p:sp>
        <p:nvSpPr>
          <p:cNvPr id="20483" name="Rectangle 3">
            <a:extLst>
              <a:ext uri="{FF2B5EF4-FFF2-40B4-BE49-F238E27FC236}">
                <a16:creationId xmlns:a16="http://schemas.microsoft.com/office/drawing/2014/main" id="{A56CE73D-2E09-4D23-82C2-B0F9F528E33F}"/>
              </a:ext>
            </a:extLst>
          </p:cNvPr>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literal</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char</a:t>
            </a:r>
            <a:r>
              <a:rPr lang="en-US" altLang="zh-CN" sz="2400">
                <a:sym typeface="Symbol" panose="05050102010706020507" pitchFamily="18" charset="2"/>
              </a:rPr>
              <a:t> }</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b="1">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b="1">
                <a:solidFill>
                  <a:schemeClr val="accent2"/>
                </a:solidFill>
                <a:sym typeface="Symbol" panose="05050102010706020507" pitchFamily="18" charset="2"/>
              </a:rPr>
              <a:t>mod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ym typeface="Symbol" panose="05050102010706020507" pitchFamily="18" charset="2"/>
              </a:rPr>
              <a:t>	{E.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integer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a:solidFill>
                  <a:schemeClr val="accent2"/>
                </a:solidFill>
                <a:sym typeface="Symbol" panose="05050102010706020507" pitchFamily="18" charset="2"/>
              </a:rPr>
              <a:t>[</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array</a:t>
            </a:r>
            <a:r>
              <a:rPr lang="en-US" altLang="zh-CN" sz="2400">
                <a:sym typeface="Symbol" panose="05050102010706020507" pitchFamily="18" charset="2"/>
              </a:rPr>
              <a:t>(</a:t>
            </a:r>
            <a:r>
              <a:rPr lang="en-US" altLang="zh-CN" sz="2400" i="1">
                <a:sym typeface="Symbol" panose="05050102010706020507" pitchFamily="18" charset="2"/>
              </a:rPr>
              <a:t>s,t</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pointer</a:t>
            </a:r>
            <a:r>
              <a:rPr lang="en-US" altLang="zh-CN" sz="2400">
                <a:sym typeface="Symbol" panose="05050102010706020507" pitchFamily="18" charset="2"/>
              </a:rPr>
              <a:t>(</a:t>
            </a:r>
            <a:r>
              <a:rPr lang="en-US" altLang="zh-CN" sz="2400" i="1">
                <a:sym typeface="Symbol" panose="05050102010706020507" pitchFamily="18" charset="2"/>
              </a:rPr>
              <a:t>t</a:t>
            </a:r>
            <a:r>
              <a:rPr lang="en-US" altLang="zh-CN" sz="2400">
                <a:sym typeface="Symbol" panose="05050102010706020507" pitchFamily="18" charset="2"/>
              </a:rPr>
              <a:t>))</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t</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a:t>
            </a:r>
          </a:p>
          <a:p>
            <a:pPr eaLnBrk="1" hangingPunct="1"/>
            <a:r>
              <a:rPr lang="zh-CN" altLang="en-US"/>
              <a:t>可添加其他类型和运算</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6F4FC67-C5AC-43E2-BD24-4BB1C6F3598A}"/>
              </a:ext>
            </a:extLst>
          </p:cNvPr>
          <p:cNvSpPr>
            <a:spLocks noGrp="1" noChangeArrowheads="1"/>
          </p:cNvSpPr>
          <p:nvPr>
            <p:ph type="title"/>
          </p:nvPr>
        </p:nvSpPr>
        <p:spPr/>
        <p:txBody>
          <a:bodyPr/>
          <a:lstStyle/>
          <a:p>
            <a:pPr eaLnBrk="1" hangingPunct="1"/>
            <a:r>
              <a:rPr lang="en-US" altLang="zh-CN"/>
              <a:t>6.2.3  </a:t>
            </a:r>
            <a:r>
              <a:rPr lang="zh-CN" altLang="en-US"/>
              <a:t>语句的类型检查</a:t>
            </a:r>
          </a:p>
        </p:txBody>
      </p:sp>
      <p:sp>
        <p:nvSpPr>
          <p:cNvPr id="21507" name="Rectangle 3">
            <a:extLst>
              <a:ext uri="{FF2B5EF4-FFF2-40B4-BE49-F238E27FC236}">
                <a16:creationId xmlns:a16="http://schemas.microsoft.com/office/drawing/2014/main" id="{C2F93592-6B01-4F40-83A9-89E1E4C53B28}"/>
              </a:ext>
            </a:extLst>
          </p:cNvPr>
          <p:cNvSpPr>
            <a:spLocks noGrp="1" noChangeArrowheads="1"/>
          </p:cNvSpPr>
          <p:nvPr>
            <p:ph type="body" idx="1"/>
          </p:nvPr>
        </p:nvSpPr>
        <p:spPr/>
        <p:txBody>
          <a:bodyPr/>
          <a:lstStyle/>
          <a:p>
            <a:pPr eaLnBrk="1" hangingPunct="1"/>
            <a:r>
              <a:rPr lang="zh-CN" altLang="en-US" sz="2800"/>
              <a:t>赋值、条件、</a:t>
            </a:r>
            <a:r>
              <a:rPr lang="en-US" altLang="zh-CN" sz="2800"/>
              <a:t>while</a:t>
            </a:r>
          </a:p>
          <a:p>
            <a:pPr eaLnBrk="1" hangingPunct="1"/>
            <a:r>
              <a:rPr lang="zh-CN" altLang="en-US" sz="2800"/>
              <a:t>无错误，</a:t>
            </a:r>
            <a:r>
              <a:rPr lang="en-US" altLang="zh-CN" sz="2800"/>
              <a:t>void</a:t>
            </a:r>
            <a:r>
              <a:rPr lang="zh-CN" altLang="en-US" sz="2800"/>
              <a:t>；错误，</a:t>
            </a:r>
            <a:r>
              <a:rPr lang="en-US" altLang="zh-CN" sz="2800"/>
              <a:t>type_error</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 </a:t>
            </a:r>
            <a:r>
              <a:rPr lang="en-US" altLang="zh-CN" sz="2400">
                <a:sym typeface="Symbol" panose="05050102010706020507" pitchFamily="18" charset="2"/>
              </a:rPr>
              <a:t>E</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void</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if</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 </a:t>
            </a:r>
            <a:r>
              <a:rPr lang="en-US" altLang="zh-CN" sz="2400" b="1">
                <a:solidFill>
                  <a:schemeClr val="accent2"/>
                </a:solidFill>
                <a:sym typeface="Symbol" panose="05050102010706020507" pitchFamily="18" charset="2"/>
              </a:rPr>
              <a:t>then</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1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i="1">
                <a:sym typeface="Symbol" panose="05050102010706020507" pitchFamily="18" charset="2"/>
              </a:rPr>
              <a:t>type == boolean</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a:t>
            </a:r>
            <a:r>
              <a:rPr lang="en-US" altLang="zh-CN" sz="2400" b="1">
                <a:solidFill>
                  <a:schemeClr val="accent2"/>
                </a:solidFill>
                <a:sym typeface="Symbol" panose="05050102010706020507" pitchFamily="18" charset="2"/>
              </a:rPr>
              <a:t>while</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 </a:t>
            </a:r>
            <a:r>
              <a:rPr lang="en-US" altLang="zh-CN" sz="2400" b="1">
                <a:solidFill>
                  <a:schemeClr val="accent2"/>
                </a:solidFill>
                <a:sym typeface="Symbol" panose="05050102010706020507" pitchFamily="18" charset="2"/>
              </a:rPr>
              <a:t>do</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1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i="1">
                <a:sym typeface="Symbol" panose="05050102010706020507" pitchFamily="18" charset="2"/>
              </a:rPr>
              <a:t>type == boolean</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a:t>
            </a:r>
            <a:r>
              <a:rPr lang="en-US" altLang="zh-CN" sz="2400">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 }</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S  S</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S</a:t>
            </a:r>
            <a:r>
              <a:rPr lang="en-US" altLang="zh-CN" sz="2400" baseline="-25000">
                <a:sym typeface="Symbol" panose="05050102010706020507" pitchFamily="18" charset="2"/>
              </a:rPr>
              <a:t>2		</a:t>
            </a:r>
            <a:r>
              <a:rPr lang="en-US" altLang="zh-CN" sz="2400">
                <a:sym typeface="Symbol" panose="05050102010706020507" pitchFamily="18" charset="2"/>
              </a:rPr>
              <a:t>{S.</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(S</a:t>
            </a:r>
            <a:r>
              <a:rPr lang="en-US" altLang="zh-CN" sz="2400" baseline="-25000">
                <a:sym typeface="Symbol" panose="05050102010706020507" pitchFamily="18" charset="2"/>
              </a:rPr>
              <a:t>1</a:t>
            </a:r>
            <a:r>
              <a:rPr lang="en-US" altLang="zh-CN" sz="2400">
                <a:sym typeface="Symbol" panose="05050102010706020507" pitchFamily="18" charset="2"/>
              </a:rPr>
              <a:t>.</a:t>
            </a:r>
            <a:r>
              <a:rPr lang="en-US" altLang="zh-CN" sz="2400" i="1">
                <a:sym typeface="Symbol" panose="05050102010706020507" pitchFamily="18" charset="2"/>
              </a:rPr>
              <a:t>type == void</a:t>
            </a: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a:sym typeface="Symbol" panose="05050102010706020507" pitchFamily="18" charset="2"/>
              </a:rPr>
              <a:t>				 (S</a:t>
            </a:r>
            <a:r>
              <a:rPr lang="en-US" altLang="zh-CN" sz="2400" baseline="-25000">
                <a:sym typeface="Symbol" panose="05050102010706020507" pitchFamily="18" charset="2"/>
              </a:rPr>
              <a:t>2</a:t>
            </a:r>
            <a:r>
              <a:rPr lang="en-US" altLang="zh-CN" sz="2400">
                <a:sym typeface="Symbol" panose="05050102010706020507" pitchFamily="18" charset="2"/>
              </a:rPr>
              <a:t>.</a:t>
            </a:r>
            <a:r>
              <a:rPr lang="en-US" altLang="zh-CN" sz="2400" i="1">
                <a:sym typeface="Symbol" panose="05050102010706020507" pitchFamily="18" charset="2"/>
              </a:rPr>
              <a:t>type == void</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void </a:t>
            </a:r>
            <a:r>
              <a:rPr lang="en-US" altLang="zh-CN" sz="2400" b="1">
                <a:sym typeface="Symbol" panose="05050102010706020507" pitchFamily="18" charset="2"/>
              </a:rPr>
              <a:t>else</a:t>
            </a:r>
            <a:r>
              <a:rPr lang="en-US" altLang="zh-CN" sz="2400">
                <a:sym typeface="Symbol" panose="05050102010706020507" pitchFamily="18" charset="2"/>
              </a:rPr>
              <a:t> </a:t>
            </a:r>
          </a:p>
          <a:p>
            <a:pPr eaLnBrk="1" hangingPunct="1">
              <a:lnSpc>
                <a:spcPct val="90000"/>
              </a:lnSpc>
              <a:spcBef>
                <a:spcPct val="10000"/>
              </a:spcBef>
              <a:buFont typeface="Wingdings" panose="05000000000000000000" pitchFamily="2" charset="2"/>
              <a:buNone/>
            </a:pPr>
            <a:r>
              <a:rPr lang="en-US" altLang="zh-CN" sz="2400" i="1">
                <a:sym typeface="Symbol" panose="05050102010706020507" pitchFamily="18" charset="2"/>
              </a:rPr>
              <a:t>				 type_error </a:t>
            </a:r>
            <a:r>
              <a:rPr lang="en-US" altLang="zh-CN" sz="2400">
                <a:sym typeface="Symbol" panose="05050102010706020507" pitchFamily="18" charset="2"/>
              </a:rPr>
              <a:t>}</a:t>
            </a:r>
            <a:endParaRPr lang="en-US" altLang="zh-CN">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31F93AA-699F-405B-B3FA-0E4DB263FE4C}"/>
              </a:ext>
            </a:extLst>
          </p:cNvPr>
          <p:cNvSpPr>
            <a:spLocks noGrp="1" noChangeArrowheads="1"/>
          </p:cNvSpPr>
          <p:nvPr>
            <p:ph type="title"/>
          </p:nvPr>
        </p:nvSpPr>
        <p:spPr/>
        <p:txBody>
          <a:bodyPr/>
          <a:lstStyle/>
          <a:p>
            <a:pPr eaLnBrk="1" hangingPunct="1"/>
            <a:r>
              <a:rPr lang="en-US" altLang="zh-CN"/>
              <a:t>6.2.4  </a:t>
            </a:r>
            <a:r>
              <a:rPr lang="zh-CN" altLang="en-US"/>
              <a:t>函数的类型检查</a:t>
            </a:r>
          </a:p>
        </p:txBody>
      </p:sp>
      <p:sp>
        <p:nvSpPr>
          <p:cNvPr id="22531" name="Rectangle 3">
            <a:extLst>
              <a:ext uri="{FF2B5EF4-FFF2-40B4-BE49-F238E27FC236}">
                <a16:creationId xmlns:a16="http://schemas.microsoft.com/office/drawing/2014/main" id="{D8CF5BFE-F3CD-4A59-BC87-75AA56AE616C}"/>
              </a:ext>
            </a:extLst>
          </p:cNvPr>
          <p:cNvSpPr>
            <a:spLocks noGrp="1" noChangeArrowheads="1"/>
          </p:cNvSpPr>
          <p:nvPr>
            <p:ph type="body" idx="1"/>
          </p:nvPr>
        </p:nvSpPr>
        <p:spPr/>
        <p:txBody>
          <a:bodyPr/>
          <a:lstStyle/>
          <a:p>
            <a:pPr eaLnBrk="1" hangingPunct="1"/>
            <a:r>
              <a:rPr lang="zh-CN" altLang="en-US" dirty="0"/>
              <a:t>函数定义</a:t>
            </a:r>
          </a:p>
          <a:p>
            <a:pPr eaLnBrk="1" hangingPunct="1">
              <a:buFont typeface="Wingdings" panose="05000000000000000000" pitchFamily="2" charset="2"/>
              <a:buNone/>
            </a:pPr>
            <a:r>
              <a:rPr lang="en-US" altLang="zh-CN" sz="2400" dirty="0">
                <a:sym typeface="Symbol" panose="05050102010706020507" pitchFamily="18" charset="2"/>
              </a:rPr>
              <a:t>T  T</a:t>
            </a:r>
            <a:r>
              <a:rPr lang="en-US" altLang="zh-CN" sz="2400" baseline="-25000" dirty="0">
                <a:sym typeface="Symbol" panose="05050102010706020507" pitchFamily="18" charset="2"/>
              </a:rPr>
              <a:t>1</a:t>
            </a:r>
            <a:r>
              <a:rPr lang="en-US" altLang="zh-CN" sz="2800" dirty="0"/>
              <a:t>‘</a:t>
            </a:r>
            <a:r>
              <a:rPr lang="en-US" altLang="zh-CN" sz="2400" dirty="0">
                <a:solidFill>
                  <a:schemeClr val="accent2"/>
                </a:solidFill>
                <a:sym typeface="Symbol" panose="05050102010706020507" pitchFamily="18" charset="2"/>
              </a:rPr>
              <a:t></a:t>
            </a:r>
            <a:r>
              <a:rPr lang="en-US" altLang="zh-CN" sz="2400" dirty="0"/>
              <a:t>’</a:t>
            </a:r>
            <a:r>
              <a:rPr lang="en-US" altLang="zh-CN" sz="2400" dirty="0">
                <a:sym typeface="Symbol" panose="05050102010706020507" pitchFamily="18" charset="2"/>
              </a:rPr>
              <a:t>T</a:t>
            </a:r>
            <a:r>
              <a:rPr lang="en-US" altLang="zh-CN" sz="2400" baseline="-25000" dirty="0">
                <a:sym typeface="Symbol" panose="05050102010706020507" pitchFamily="18" charset="2"/>
              </a:rPr>
              <a:t>2</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T.</a:t>
            </a:r>
            <a:r>
              <a:rPr lang="en-US" altLang="zh-CN" sz="2400" i="1" dirty="0" err="1">
                <a:sym typeface="Symbol" panose="05050102010706020507" pitchFamily="18" charset="2"/>
              </a:rPr>
              <a:t>type</a:t>
            </a:r>
            <a:r>
              <a:rPr lang="en-US" altLang="zh-CN" sz="2400" dirty="0">
                <a:sym typeface="Symbol" panose="05050102010706020507" pitchFamily="18" charset="2"/>
              </a:rPr>
              <a:t> = T</a:t>
            </a:r>
            <a:r>
              <a:rPr lang="en-US" altLang="zh-CN" sz="2400" baseline="-25000" dirty="0">
                <a:sym typeface="Symbol" panose="05050102010706020507" pitchFamily="18" charset="2"/>
              </a:rPr>
              <a:t>1</a:t>
            </a:r>
            <a:r>
              <a:rPr lang="en-US" altLang="zh-CN" sz="2400" dirty="0">
                <a:sym typeface="Symbol" panose="05050102010706020507" pitchFamily="18" charset="2"/>
              </a:rPr>
              <a:t>.</a:t>
            </a:r>
            <a:r>
              <a:rPr lang="en-US" altLang="zh-CN" sz="2400" i="1" dirty="0">
                <a:sym typeface="Symbol" panose="05050102010706020507" pitchFamily="18" charset="2"/>
              </a:rPr>
              <a:t>type</a:t>
            </a:r>
            <a:r>
              <a:rPr lang="en-US" altLang="zh-CN" sz="2400" dirty="0">
                <a:sym typeface="Symbol" panose="05050102010706020507" pitchFamily="18" charset="2"/>
              </a:rPr>
              <a:t>T</a:t>
            </a:r>
            <a:r>
              <a:rPr lang="en-US" altLang="zh-CN" sz="2400" baseline="-25000" dirty="0">
                <a:sym typeface="Symbol" panose="05050102010706020507" pitchFamily="18" charset="2"/>
              </a:rPr>
              <a:t>2</a:t>
            </a:r>
            <a:r>
              <a:rPr lang="en-US" altLang="zh-CN" sz="2400" dirty="0">
                <a:sym typeface="Symbol" panose="05050102010706020507" pitchFamily="18" charset="2"/>
              </a:rPr>
              <a:t>.</a:t>
            </a:r>
            <a:r>
              <a:rPr lang="en-US" altLang="zh-CN" sz="2400" i="1" dirty="0">
                <a:sym typeface="Symbol" panose="05050102010706020507" pitchFamily="18" charset="2"/>
              </a:rPr>
              <a:t>type </a:t>
            </a:r>
            <a:r>
              <a:rPr lang="en-US" altLang="zh-CN" sz="2400" dirty="0">
                <a:sym typeface="Symbol" panose="05050102010706020507" pitchFamily="18" charset="2"/>
              </a:rPr>
              <a:t>}</a:t>
            </a:r>
            <a:endParaRPr lang="en-US" altLang="zh-CN" sz="2400" dirty="0"/>
          </a:p>
          <a:p>
            <a:pPr eaLnBrk="1" hangingPunct="1"/>
            <a:r>
              <a:rPr lang="zh-CN" altLang="en-US" dirty="0"/>
              <a:t>函数调用</a:t>
            </a: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E  E</a:t>
            </a:r>
            <a:r>
              <a:rPr lang="en-US" altLang="zh-CN" sz="2400" baseline="-25000" dirty="0">
                <a:sym typeface="Symbol" panose="05050102010706020507" pitchFamily="18" charset="2"/>
              </a:rPr>
              <a:t>1</a:t>
            </a:r>
            <a:r>
              <a:rPr lang="en-US" altLang="zh-CN" sz="2400" dirty="0">
                <a:solidFill>
                  <a:schemeClr val="accent2"/>
                </a:solidFill>
                <a:sym typeface="Symbol" panose="05050102010706020507" pitchFamily="18" charset="2"/>
              </a:rPr>
              <a:t>(</a:t>
            </a:r>
            <a:r>
              <a:rPr lang="en-US" altLang="zh-CN" sz="2400" dirty="0">
                <a:sym typeface="Symbol" panose="05050102010706020507" pitchFamily="18" charset="2"/>
              </a:rPr>
              <a:t>E</a:t>
            </a:r>
            <a:r>
              <a:rPr lang="en-US" altLang="zh-CN" sz="2400" baseline="-25000" dirty="0">
                <a:sym typeface="Symbol" panose="05050102010706020507" pitchFamily="18" charset="2"/>
              </a:rPr>
              <a:t>2</a:t>
            </a:r>
            <a:r>
              <a:rPr lang="en-US" altLang="zh-CN" sz="2400" dirty="0">
                <a:solidFill>
                  <a:schemeClr val="accent2"/>
                </a:solidFill>
                <a:sym typeface="Symbol" panose="05050102010706020507" pitchFamily="18" charset="2"/>
              </a:rPr>
              <a:t>) 		</a:t>
            </a:r>
            <a:r>
              <a:rPr lang="en-US" altLang="zh-CN" sz="2400" dirty="0">
                <a:sym typeface="Symbol" panose="05050102010706020507" pitchFamily="18" charset="2"/>
              </a:rPr>
              <a:t>{</a:t>
            </a:r>
            <a:r>
              <a:rPr lang="en-US" altLang="zh-CN" sz="2400" dirty="0" err="1">
                <a:sym typeface="Symbol" panose="05050102010706020507" pitchFamily="18" charset="2"/>
              </a:rPr>
              <a:t>E.</a:t>
            </a:r>
            <a:r>
              <a:rPr lang="en-US" altLang="zh-CN" sz="2400" i="1" dirty="0" err="1">
                <a:sym typeface="Symbol" panose="05050102010706020507" pitchFamily="18" charset="2"/>
              </a:rPr>
              <a:t>type</a:t>
            </a:r>
            <a:r>
              <a:rPr lang="en-US" altLang="zh-CN" sz="2400" dirty="0">
                <a:sym typeface="Symbol" panose="05050102010706020507" pitchFamily="18" charset="2"/>
              </a:rPr>
              <a:t> = </a:t>
            </a:r>
            <a:r>
              <a:rPr lang="en-US" altLang="zh-CN" sz="2400" b="1" dirty="0">
                <a:sym typeface="Symbol" panose="05050102010706020507" pitchFamily="18" charset="2"/>
              </a:rPr>
              <a:t>if</a:t>
            </a:r>
            <a:r>
              <a:rPr lang="en-US" altLang="zh-CN" sz="2400" dirty="0">
                <a:sym typeface="Symbol" panose="05050102010706020507" pitchFamily="18" charset="2"/>
              </a:rPr>
              <a:t> (E</a:t>
            </a:r>
            <a:r>
              <a:rPr lang="en-US" altLang="zh-CN" sz="2400" baseline="-25000" dirty="0">
                <a:sym typeface="Symbol" panose="05050102010706020507" pitchFamily="18" charset="2"/>
              </a:rPr>
              <a:t>2</a:t>
            </a:r>
            <a:r>
              <a:rPr lang="en-US" altLang="zh-CN" sz="2400" dirty="0">
                <a:sym typeface="Symbol" panose="05050102010706020507" pitchFamily="18" charset="2"/>
              </a:rPr>
              <a:t>.type==s)</a:t>
            </a: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				</a:t>
            </a:r>
            <a:r>
              <a:rPr lang="en-US" altLang="zh-CN" sz="2400" b="1" dirty="0">
                <a:sym typeface="Symbol" panose="05050102010706020507" pitchFamily="18" charset="2"/>
              </a:rPr>
              <a:t>and</a:t>
            </a:r>
            <a:r>
              <a:rPr lang="en-US" altLang="zh-CN" sz="2400" dirty="0">
                <a:sym typeface="Symbol" panose="05050102010706020507" pitchFamily="18" charset="2"/>
              </a:rPr>
              <a:t> (E</a:t>
            </a:r>
            <a:r>
              <a:rPr lang="en-US" altLang="zh-CN" sz="2400" baseline="-25000" dirty="0">
                <a:sym typeface="Symbol" panose="05050102010706020507" pitchFamily="18" charset="2"/>
              </a:rPr>
              <a:t>1</a:t>
            </a:r>
            <a:r>
              <a:rPr lang="en-US" altLang="zh-CN" sz="2400" dirty="0">
                <a:sym typeface="Symbol" panose="05050102010706020507" pitchFamily="18" charset="2"/>
              </a:rPr>
              <a:t>.type==</a:t>
            </a:r>
            <a:r>
              <a:rPr lang="en-US" altLang="zh-CN" sz="2400" dirty="0" err="1">
                <a:sym typeface="Symbol" panose="05050102010706020507" pitchFamily="18" charset="2"/>
              </a:rPr>
              <a:t>s</a:t>
            </a:r>
            <a:r>
              <a:rPr lang="en-US" altLang="zh-CN" sz="2400" i="1" dirty="0" err="1">
                <a:sym typeface="Symbol" panose="05050102010706020507" pitchFamily="18" charset="2"/>
              </a:rPr>
              <a:t>t</a:t>
            </a:r>
            <a:r>
              <a:rPr lang="en-US" altLang="zh-CN" sz="2400" dirty="0">
                <a:sym typeface="Symbol" panose="05050102010706020507" pitchFamily="18" charset="2"/>
              </a:rPr>
              <a:t>)</a:t>
            </a:r>
          </a:p>
          <a:p>
            <a:pPr eaLnBrk="1" hangingPunct="1">
              <a:lnSpc>
                <a:spcPct val="80000"/>
              </a:lnSpc>
              <a:spcBef>
                <a:spcPct val="10000"/>
              </a:spcBef>
              <a:buFont typeface="Wingdings" panose="05000000000000000000" pitchFamily="2" charset="2"/>
              <a:buNone/>
            </a:pPr>
            <a:r>
              <a:rPr lang="en-US" altLang="zh-CN" sz="2400" dirty="0">
                <a:sym typeface="Symbol" panose="05050102010706020507" pitchFamily="18" charset="2"/>
              </a:rPr>
              <a:t>				</a:t>
            </a:r>
            <a:r>
              <a:rPr lang="en-US" altLang="zh-CN" sz="2400" b="1" dirty="0">
                <a:sym typeface="Symbol" panose="05050102010706020507" pitchFamily="18" charset="2"/>
              </a:rPr>
              <a:t>then</a:t>
            </a:r>
            <a:r>
              <a:rPr lang="en-US" altLang="zh-CN" sz="2400" dirty="0">
                <a:sym typeface="Symbol" panose="05050102010706020507" pitchFamily="18" charset="2"/>
              </a:rPr>
              <a:t> </a:t>
            </a:r>
            <a:r>
              <a:rPr lang="en-US" altLang="zh-CN" sz="2400" i="1" dirty="0">
                <a:sym typeface="Symbol" panose="05050102010706020507" pitchFamily="18" charset="2"/>
              </a:rPr>
              <a:t>t </a:t>
            </a:r>
            <a:r>
              <a:rPr lang="en-US" altLang="zh-CN" sz="2400" b="1" dirty="0">
                <a:sym typeface="Symbol" panose="05050102010706020507" pitchFamily="18" charset="2"/>
              </a:rPr>
              <a:t>else</a:t>
            </a:r>
            <a:r>
              <a:rPr lang="en-US" altLang="zh-CN" sz="2400" dirty="0">
                <a:sym typeface="Symbol" panose="05050102010706020507" pitchFamily="18" charset="2"/>
              </a:rPr>
              <a:t> </a:t>
            </a:r>
            <a:r>
              <a:rPr lang="en-US" altLang="zh-CN" sz="2400" i="1" dirty="0" err="1">
                <a:sym typeface="Symbol" panose="05050102010706020507" pitchFamily="18" charset="2"/>
              </a:rPr>
              <a:t>type_error</a:t>
            </a:r>
            <a:r>
              <a:rPr lang="en-US" altLang="zh-CN" sz="2400" i="1" dirty="0">
                <a:sym typeface="Symbol" panose="05050102010706020507" pitchFamily="18" charset="2"/>
              </a:rPr>
              <a:t> </a:t>
            </a:r>
            <a:r>
              <a:rPr lang="en-US" altLang="zh-CN" sz="2400" dirty="0">
                <a:sym typeface="Symbol" panose="05050102010706020507" pitchFamily="18" charset="2"/>
              </a:rPr>
              <a:t>}</a:t>
            </a:r>
            <a:endParaRPr lang="en-US" altLang="zh-CN" sz="2400" dirty="0"/>
          </a:p>
          <a:p>
            <a:pPr eaLnBrk="1" hangingPunct="1"/>
            <a:r>
              <a:rPr lang="zh-CN" altLang="en-US" dirty="0"/>
              <a:t>多参数：</a:t>
            </a:r>
            <a:r>
              <a:rPr lang="en-US" altLang="zh-CN" dirty="0"/>
              <a:t>T</a:t>
            </a:r>
            <a:r>
              <a:rPr lang="en-US" altLang="zh-CN" baseline="-25000" dirty="0"/>
              <a:t>1</a:t>
            </a:r>
            <a:r>
              <a:rPr lang="en-US" altLang="zh-CN" dirty="0"/>
              <a:t>, …, T</a:t>
            </a:r>
            <a:r>
              <a:rPr lang="en-US" altLang="zh-CN" baseline="-25000" dirty="0"/>
              <a:t>n</a:t>
            </a:r>
            <a:r>
              <a:rPr lang="en-US" altLang="zh-CN" dirty="0"/>
              <a:t>——T</a:t>
            </a:r>
            <a:r>
              <a:rPr lang="en-US" altLang="zh-CN" baseline="-25000" dirty="0"/>
              <a:t>1</a:t>
            </a:r>
            <a:r>
              <a:rPr lang="en-US" altLang="zh-CN" dirty="0"/>
              <a:t>×…×T</a:t>
            </a:r>
            <a:r>
              <a:rPr lang="en-US" altLang="zh-CN" baseline="-25000" dirty="0"/>
              <a:t>n</a:t>
            </a:r>
          </a:p>
          <a:p>
            <a:pPr eaLnBrk="1" hangingPunct="1"/>
            <a:r>
              <a:rPr lang="zh-CN" altLang="en-US" dirty="0"/>
              <a:t>更复杂例子：</a:t>
            </a:r>
            <a:r>
              <a:rPr lang="en-US" altLang="zh-CN" dirty="0"/>
              <a:t>root: (</a:t>
            </a:r>
            <a:r>
              <a:rPr lang="en-US" altLang="zh-CN" dirty="0" err="1"/>
              <a:t>real</a:t>
            </a:r>
            <a:r>
              <a:rPr lang="en-US" altLang="zh-CN" dirty="0" err="1">
                <a:sym typeface="Wingdings" panose="05000000000000000000" pitchFamily="2" charset="2"/>
              </a:rPr>
              <a:t>real</a:t>
            </a:r>
            <a:r>
              <a:rPr lang="en-US" altLang="zh-CN" dirty="0">
                <a:sym typeface="Wingdings" panose="05000000000000000000" pitchFamily="2" charset="2"/>
              </a:rPr>
              <a:t>)×</a:t>
            </a:r>
            <a:r>
              <a:rPr lang="en-US" altLang="zh-CN" dirty="0" err="1">
                <a:sym typeface="Wingdings" panose="05000000000000000000" pitchFamily="2" charset="2"/>
              </a:rPr>
              <a:t>realreal</a:t>
            </a:r>
            <a:br>
              <a:rPr lang="en-US" altLang="zh-CN" dirty="0">
                <a:sym typeface="Wingdings" panose="05000000000000000000" pitchFamily="2" charset="2"/>
              </a:rPr>
            </a:br>
            <a:r>
              <a:rPr lang="en-US" altLang="zh-CN" sz="2800" dirty="0">
                <a:sym typeface="Wingdings" panose="05000000000000000000" pitchFamily="2" charset="2"/>
              </a:rPr>
              <a:t>function root(function f(real): real; x: real): real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214301-18D2-4A8F-9916-DF8A45136D2D}"/>
              </a:ext>
            </a:extLst>
          </p:cNvPr>
          <p:cNvSpPr>
            <a:spLocks noGrp="1"/>
          </p:cNvSpPr>
          <p:nvPr>
            <p:ph type="title"/>
          </p:nvPr>
        </p:nvSpPr>
        <p:spPr/>
        <p:txBody>
          <a:bodyPr/>
          <a:lstStyle/>
          <a:p>
            <a:r>
              <a:rPr lang="zh-CN" altLang="en-US" dirty="0"/>
              <a:t>类型检查示例</a:t>
            </a:r>
          </a:p>
        </p:txBody>
      </p:sp>
      <p:sp>
        <p:nvSpPr>
          <p:cNvPr id="3" name="内容占位符 2">
            <a:extLst>
              <a:ext uri="{FF2B5EF4-FFF2-40B4-BE49-F238E27FC236}">
                <a16:creationId xmlns:a16="http://schemas.microsoft.com/office/drawing/2014/main" id="{43E4D8BD-E7EA-4F4D-B702-14DCB66C1886}"/>
              </a:ext>
            </a:extLst>
          </p:cNvPr>
          <p:cNvSpPr>
            <a:spLocks noGrp="1"/>
          </p:cNvSpPr>
          <p:nvPr>
            <p:ph idx="1"/>
          </p:nvPr>
        </p:nvSpPr>
        <p:spPr/>
        <p:txBody>
          <a:bodyPr/>
          <a:lstStyle/>
          <a:p>
            <a:endParaRPr lang="zh-CN" altLang="en-US" dirty="0"/>
          </a:p>
        </p:txBody>
      </p:sp>
      <p:sp>
        <p:nvSpPr>
          <p:cNvPr id="20" name="Text Box 6">
            <a:extLst>
              <a:ext uri="{FF2B5EF4-FFF2-40B4-BE49-F238E27FC236}">
                <a16:creationId xmlns:a16="http://schemas.microsoft.com/office/drawing/2014/main" id="{E9947EE7-DEBE-4C80-9E17-E80FE1BEC4DF}"/>
              </a:ext>
            </a:extLst>
          </p:cNvPr>
          <p:cNvSpPr txBox="1">
            <a:spLocks noChangeArrowheads="1"/>
          </p:cNvSpPr>
          <p:nvPr/>
        </p:nvSpPr>
        <p:spPr bwMode="auto">
          <a:xfrm>
            <a:off x="2915816" y="2579245"/>
            <a:ext cx="838200" cy="45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id1</a:t>
            </a:r>
          </a:p>
        </p:txBody>
      </p:sp>
      <p:sp>
        <p:nvSpPr>
          <p:cNvPr id="22" name="Text Box 5">
            <a:extLst>
              <a:ext uri="{FF2B5EF4-FFF2-40B4-BE49-F238E27FC236}">
                <a16:creationId xmlns:a16="http://schemas.microsoft.com/office/drawing/2014/main" id="{3DD7CBF6-9321-4750-8115-BBEE1107487B}"/>
              </a:ext>
            </a:extLst>
          </p:cNvPr>
          <p:cNvSpPr txBox="1">
            <a:spLocks noChangeArrowheads="1"/>
          </p:cNvSpPr>
          <p:nvPr/>
        </p:nvSpPr>
        <p:spPr bwMode="auto">
          <a:xfrm>
            <a:off x="3615903" y="2004145"/>
            <a:ext cx="784225"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400" b="1"/>
              <a:t>:=</a:t>
            </a:r>
          </a:p>
        </p:txBody>
      </p:sp>
      <p:sp>
        <p:nvSpPr>
          <p:cNvPr id="23" name="Text Box 7">
            <a:extLst>
              <a:ext uri="{FF2B5EF4-FFF2-40B4-BE49-F238E27FC236}">
                <a16:creationId xmlns:a16="http://schemas.microsoft.com/office/drawing/2014/main" id="{72C582FE-8A8B-43CC-B0ED-7934E1F59919}"/>
              </a:ext>
            </a:extLst>
          </p:cNvPr>
          <p:cNvSpPr txBox="1">
            <a:spLocks noChangeArrowheads="1"/>
          </p:cNvSpPr>
          <p:nvPr/>
        </p:nvSpPr>
        <p:spPr bwMode="auto">
          <a:xfrm>
            <a:off x="3712741" y="2924893"/>
            <a:ext cx="1473200" cy="45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id2</a:t>
            </a:r>
          </a:p>
        </p:txBody>
      </p:sp>
      <p:sp>
        <p:nvSpPr>
          <p:cNvPr id="24" name="Text Box 8">
            <a:extLst>
              <a:ext uri="{FF2B5EF4-FFF2-40B4-BE49-F238E27FC236}">
                <a16:creationId xmlns:a16="http://schemas.microsoft.com/office/drawing/2014/main" id="{7B369D30-EFFC-4923-9138-704E67753FBD}"/>
              </a:ext>
            </a:extLst>
          </p:cNvPr>
          <p:cNvSpPr txBox="1">
            <a:spLocks noChangeArrowheads="1"/>
          </p:cNvSpPr>
          <p:nvPr/>
        </p:nvSpPr>
        <p:spPr bwMode="auto">
          <a:xfrm>
            <a:off x="4363616" y="3282716"/>
            <a:ext cx="1473200"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dirty="0"/>
              <a:t>id3</a:t>
            </a:r>
          </a:p>
        </p:txBody>
      </p:sp>
      <p:sp>
        <p:nvSpPr>
          <p:cNvPr id="25" name="Text Box 9">
            <a:extLst>
              <a:ext uri="{FF2B5EF4-FFF2-40B4-BE49-F238E27FC236}">
                <a16:creationId xmlns:a16="http://schemas.microsoft.com/office/drawing/2014/main" id="{020C2620-9D99-44C6-9D60-2F627E782331}"/>
              </a:ext>
            </a:extLst>
          </p:cNvPr>
          <p:cNvSpPr txBox="1">
            <a:spLocks noChangeArrowheads="1"/>
          </p:cNvSpPr>
          <p:nvPr/>
        </p:nvSpPr>
        <p:spPr bwMode="auto">
          <a:xfrm>
            <a:off x="4439816" y="2556416"/>
            <a:ext cx="785812"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a:t>
            </a:r>
          </a:p>
        </p:txBody>
      </p:sp>
      <p:sp>
        <p:nvSpPr>
          <p:cNvPr id="26" name="Text Box 10">
            <a:extLst>
              <a:ext uri="{FF2B5EF4-FFF2-40B4-BE49-F238E27FC236}">
                <a16:creationId xmlns:a16="http://schemas.microsoft.com/office/drawing/2014/main" id="{4E0275D1-BBAB-4B70-ACDF-365F68DF4C23}"/>
              </a:ext>
            </a:extLst>
          </p:cNvPr>
          <p:cNvSpPr txBox="1">
            <a:spLocks noChangeArrowheads="1"/>
          </p:cNvSpPr>
          <p:nvPr/>
        </p:nvSpPr>
        <p:spPr bwMode="auto">
          <a:xfrm>
            <a:off x="5125616" y="2940876"/>
            <a:ext cx="785812" cy="45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a:t>*</a:t>
            </a:r>
          </a:p>
        </p:txBody>
      </p:sp>
      <p:sp>
        <p:nvSpPr>
          <p:cNvPr id="27" name="Text Box 11">
            <a:extLst>
              <a:ext uri="{FF2B5EF4-FFF2-40B4-BE49-F238E27FC236}">
                <a16:creationId xmlns:a16="http://schemas.microsoft.com/office/drawing/2014/main" id="{74B85C4D-7191-4879-A7EC-5EE2F938D6F3}"/>
              </a:ext>
            </a:extLst>
          </p:cNvPr>
          <p:cNvSpPr txBox="1">
            <a:spLocks noChangeArrowheads="1"/>
          </p:cNvSpPr>
          <p:nvPr/>
        </p:nvSpPr>
        <p:spPr bwMode="auto">
          <a:xfrm>
            <a:off x="5884441" y="3284491"/>
            <a:ext cx="785812" cy="45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SzTx/>
              <a:buFontTx/>
              <a:buNone/>
            </a:pPr>
            <a:r>
              <a:rPr kumimoji="0" lang="en-US" altLang="zh-CN" sz="2400" b="1" dirty="0"/>
              <a:t>60</a:t>
            </a:r>
          </a:p>
        </p:txBody>
      </p:sp>
      <p:sp>
        <p:nvSpPr>
          <p:cNvPr id="28" name="Line 12">
            <a:extLst>
              <a:ext uri="{FF2B5EF4-FFF2-40B4-BE49-F238E27FC236}">
                <a16:creationId xmlns:a16="http://schemas.microsoft.com/office/drawing/2014/main" id="{2C0F5CBC-973E-4817-9FED-552F950F76F1}"/>
              </a:ext>
            </a:extLst>
          </p:cNvPr>
          <p:cNvSpPr>
            <a:spLocks noChangeShapeType="1"/>
          </p:cNvSpPr>
          <p:nvPr/>
        </p:nvSpPr>
        <p:spPr bwMode="auto">
          <a:xfrm>
            <a:off x="4596978" y="2927557"/>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3">
            <a:extLst>
              <a:ext uri="{FF2B5EF4-FFF2-40B4-BE49-F238E27FC236}">
                <a16:creationId xmlns:a16="http://schemas.microsoft.com/office/drawing/2014/main" id="{CF2B78BD-2F1D-4DCE-AFDF-C388F8981632}"/>
              </a:ext>
            </a:extLst>
          </p:cNvPr>
          <p:cNvSpPr>
            <a:spLocks noChangeShapeType="1"/>
          </p:cNvSpPr>
          <p:nvPr/>
        </p:nvSpPr>
        <p:spPr bwMode="auto">
          <a:xfrm flipH="1">
            <a:off x="3296816" y="2259859"/>
            <a:ext cx="304800" cy="315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4">
            <a:extLst>
              <a:ext uri="{FF2B5EF4-FFF2-40B4-BE49-F238E27FC236}">
                <a16:creationId xmlns:a16="http://schemas.microsoft.com/office/drawing/2014/main" id="{251E5320-0E88-4FFD-96A8-47E7FEBDF21C}"/>
              </a:ext>
            </a:extLst>
          </p:cNvPr>
          <p:cNvSpPr>
            <a:spLocks noChangeShapeType="1"/>
          </p:cNvSpPr>
          <p:nvPr/>
        </p:nvSpPr>
        <p:spPr bwMode="auto">
          <a:xfrm>
            <a:off x="4135016" y="2259859"/>
            <a:ext cx="457200" cy="2983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5">
            <a:extLst>
              <a:ext uri="{FF2B5EF4-FFF2-40B4-BE49-F238E27FC236}">
                <a16:creationId xmlns:a16="http://schemas.microsoft.com/office/drawing/2014/main" id="{5B8C423A-5FB4-45B4-9554-A25839B3E797}"/>
              </a:ext>
            </a:extLst>
          </p:cNvPr>
          <p:cNvSpPr>
            <a:spLocks noChangeShapeType="1"/>
          </p:cNvSpPr>
          <p:nvPr/>
        </p:nvSpPr>
        <p:spPr bwMode="auto">
          <a:xfrm>
            <a:off x="4973216" y="2728668"/>
            <a:ext cx="457200" cy="2557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16">
            <a:extLst>
              <a:ext uri="{FF2B5EF4-FFF2-40B4-BE49-F238E27FC236}">
                <a16:creationId xmlns:a16="http://schemas.microsoft.com/office/drawing/2014/main" id="{461BBF4C-0F75-4F8A-B550-A58F462FDAEB}"/>
              </a:ext>
            </a:extLst>
          </p:cNvPr>
          <p:cNvSpPr>
            <a:spLocks noChangeShapeType="1"/>
          </p:cNvSpPr>
          <p:nvPr/>
        </p:nvSpPr>
        <p:spPr bwMode="auto">
          <a:xfrm>
            <a:off x="5659016" y="3112239"/>
            <a:ext cx="492125" cy="2299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7">
            <a:extLst>
              <a:ext uri="{FF2B5EF4-FFF2-40B4-BE49-F238E27FC236}">
                <a16:creationId xmlns:a16="http://schemas.microsoft.com/office/drawing/2014/main" id="{8EEF6550-4A14-4575-B9D2-F091ABCA5E62}"/>
              </a:ext>
            </a:extLst>
          </p:cNvPr>
          <p:cNvSpPr>
            <a:spLocks noChangeShapeType="1"/>
          </p:cNvSpPr>
          <p:nvPr/>
        </p:nvSpPr>
        <p:spPr bwMode="auto">
          <a:xfrm flipH="1">
            <a:off x="5201816" y="3112239"/>
            <a:ext cx="196850" cy="2299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8">
            <a:extLst>
              <a:ext uri="{FF2B5EF4-FFF2-40B4-BE49-F238E27FC236}">
                <a16:creationId xmlns:a16="http://schemas.microsoft.com/office/drawing/2014/main" id="{DFAFDDED-BAB1-4BEF-A7DF-0C54586270A7}"/>
              </a:ext>
            </a:extLst>
          </p:cNvPr>
          <p:cNvSpPr>
            <a:spLocks noChangeShapeType="1"/>
          </p:cNvSpPr>
          <p:nvPr/>
        </p:nvSpPr>
        <p:spPr bwMode="auto">
          <a:xfrm flipH="1">
            <a:off x="4439816" y="2728668"/>
            <a:ext cx="196850" cy="2308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11">
            <a:extLst>
              <a:ext uri="{FF2B5EF4-FFF2-40B4-BE49-F238E27FC236}">
                <a16:creationId xmlns:a16="http://schemas.microsoft.com/office/drawing/2014/main" id="{98A221CF-DA4E-44F8-9498-59C9EBD5B6F8}"/>
              </a:ext>
            </a:extLst>
          </p:cNvPr>
          <p:cNvSpPr txBox="1">
            <a:spLocks noChangeArrowheads="1"/>
          </p:cNvSpPr>
          <p:nvPr/>
        </p:nvSpPr>
        <p:spPr bwMode="auto">
          <a:xfrm>
            <a:off x="5710978" y="2882891"/>
            <a:ext cx="26558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000" b="1" dirty="0">
                <a:solidFill>
                  <a:srgbClr val="FF0000"/>
                </a:solidFill>
              </a:rPr>
              <a:t>60</a:t>
            </a:r>
            <a:r>
              <a:rPr kumimoji="0" lang="en-US" altLang="zh-CN" sz="2000" b="1" dirty="0">
                <a:solidFill>
                  <a:srgbClr val="FF0000"/>
                </a:solidFill>
                <a:sym typeface="Wingdings" panose="05000000000000000000" pitchFamily="2" charset="2"/>
              </a:rPr>
              <a:t>60.0</a:t>
            </a:r>
            <a:r>
              <a:rPr kumimoji="0" lang="zh-CN" altLang="en-US" sz="2000" b="1" dirty="0">
                <a:solidFill>
                  <a:srgbClr val="FF0000"/>
                </a:solidFill>
                <a:sym typeface="Wingdings" panose="05000000000000000000" pitchFamily="2" charset="2"/>
              </a:rPr>
              <a:t>，</a:t>
            </a:r>
            <a:r>
              <a:rPr kumimoji="0" lang="en-US" altLang="zh-CN" sz="2000" b="1" dirty="0">
                <a:solidFill>
                  <a:srgbClr val="FF0000"/>
                </a:solidFill>
                <a:sym typeface="Wingdings" panose="05000000000000000000" pitchFamily="2" charset="2"/>
              </a:rPr>
              <a:t>.type=real</a:t>
            </a:r>
            <a:endParaRPr kumimoji="0" lang="en-US" altLang="zh-CN" sz="2000" b="1" dirty="0">
              <a:solidFill>
                <a:srgbClr val="FF0000"/>
              </a:solidFill>
            </a:endParaRPr>
          </a:p>
        </p:txBody>
      </p:sp>
      <p:sp>
        <p:nvSpPr>
          <p:cNvPr id="36" name="Text Box 11">
            <a:extLst>
              <a:ext uri="{FF2B5EF4-FFF2-40B4-BE49-F238E27FC236}">
                <a16:creationId xmlns:a16="http://schemas.microsoft.com/office/drawing/2014/main" id="{BCC94AEF-20B2-463B-B749-2D9810DF4A65}"/>
              </a:ext>
            </a:extLst>
          </p:cNvPr>
          <p:cNvSpPr txBox="1">
            <a:spLocks noChangeArrowheads="1"/>
          </p:cNvSpPr>
          <p:nvPr/>
        </p:nvSpPr>
        <p:spPr bwMode="auto">
          <a:xfrm>
            <a:off x="5051449" y="2479335"/>
            <a:ext cx="1392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000" b="1" dirty="0">
                <a:solidFill>
                  <a:srgbClr val="FF0000"/>
                </a:solidFill>
                <a:sym typeface="Wingdings" panose="05000000000000000000" pitchFamily="2" charset="2"/>
              </a:rPr>
              <a:t>.type=real</a:t>
            </a:r>
            <a:endParaRPr kumimoji="0" lang="en-US" altLang="zh-CN" sz="2000" b="1" dirty="0">
              <a:solidFill>
                <a:srgbClr val="FF0000"/>
              </a:solidFill>
            </a:endParaRPr>
          </a:p>
        </p:txBody>
      </p:sp>
      <p:sp>
        <p:nvSpPr>
          <p:cNvPr id="37" name="Text Box 11">
            <a:extLst>
              <a:ext uri="{FF2B5EF4-FFF2-40B4-BE49-F238E27FC236}">
                <a16:creationId xmlns:a16="http://schemas.microsoft.com/office/drawing/2014/main" id="{D9B070E0-3867-4FC0-8D4F-621A1DECC283}"/>
              </a:ext>
            </a:extLst>
          </p:cNvPr>
          <p:cNvSpPr txBox="1">
            <a:spLocks noChangeArrowheads="1"/>
          </p:cNvSpPr>
          <p:nvPr/>
        </p:nvSpPr>
        <p:spPr bwMode="auto">
          <a:xfrm>
            <a:off x="4276835" y="2025063"/>
            <a:ext cx="1874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SzTx/>
              <a:buFontTx/>
              <a:buNone/>
            </a:pPr>
            <a:r>
              <a:rPr kumimoji="0" lang="en-US" altLang="zh-CN" sz="2000" b="1" dirty="0">
                <a:solidFill>
                  <a:srgbClr val="FF0000"/>
                </a:solidFill>
                <a:sym typeface="Wingdings" panose="05000000000000000000" pitchFamily="2" charset="2"/>
              </a:rPr>
              <a:t>.type=void</a:t>
            </a:r>
            <a:endParaRPr kumimoji="0" lang="en-US" altLang="zh-CN" sz="2000" b="1" dirty="0">
              <a:solidFill>
                <a:srgbClr val="FF0000"/>
              </a:solidFill>
            </a:endParaRPr>
          </a:p>
        </p:txBody>
      </p:sp>
    </p:spTree>
    <p:extLst>
      <p:ext uri="{BB962C8B-B14F-4D97-AF65-F5344CB8AC3E}">
        <p14:creationId xmlns:p14="http://schemas.microsoft.com/office/powerpoint/2010/main" val="346229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47A1426-60FA-43C6-A9A4-FF694764FEFC}"/>
              </a:ext>
            </a:extLst>
          </p:cNvPr>
          <p:cNvSpPr>
            <a:spLocks noGrp="1" noChangeArrowheads="1"/>
          </p:cNvSpPr>
          <p:nvPr>
            <p:ph type="title"/>
          </p:nvPr>
        </p:nvSpPr>
        <p:spPr/>
        <p:txBody>
          <a:bodyPr/>
          <a:lstStyle/>
          <a:p>
            <a:pPr eaLnBrk="1" hangingPunct="1"/>
            <a:r>
              <a:rPr lang="en-US" altLang="zh-CN"/>
              <a:t>6.3  </a:t>
            </a:r>
            <a:r>
              <a:rPr lang="zh-CN" altLang="en-US"/>
              <a:t>类型表达式的等价</a:t>
            </a:r>
          </a:p>
        </p:txBody>
      </p:sp>
      <p:sp>
        <p:nvSpPr>
          <p:cNvPr id="23555" name="Rectangle 3">
            <a:extLst>
              <a:ext uri="{FF2B5EF4-FFF2-40B4-BE49-F238E27FC236}">
                <a16:creationId xmlns:a16="http://schemas.microsoft.com/office/drawing/2014/main" id="{AFC26F14-9552-4884-A05A-E4AB7D5913A2}"/>
              </a:ext>
            </a:extLst>
          </p:cNvPr>
          <p:cNvSpPr>
            <a:spLocks noGrp="1" noChangeArrowheads="1"/>
          </p:cNvSpPr>
          <p:nvPr>
            <p:ph type="body" idx="1"/>
          </p:nvPr>
        </p:nvSpPr>
        <p:spPr/>
        <p:txBody>
          <a:bodyPr/>
          <a:lstStyle/>
          <a:p>
            <a:pPr eaLnBrk="1" hangingPunct="1"/>
            <a:r>
              <a:rPr lang="zh-CN" altLang="en-US" dirty="0"/>
              <a:t>两个类型表达式等价的精确定义？</a:t>
            </a:r>
          </a:p>
          <a:p>
            <a:pPr eaLnBrk="1" hangingPunct="1"/>
            <a:r>
              <a:rPr lang="zh-CN" altLang="en-US" dirty="0"/>
              <a:t>用类型表示方式可快速确定等价性</a:t>
            </a:r>
          </a:p>
          <a:p>
            <a:pPr eaLnBrk="1" hangingPunct="1"/>
            <a:r>
              <a:rPr lang="zh-CN" altLang="en-US" dirty="0"/>
              <a:t>结构等价</a:t>
            </a:r>
          </a:p>
          <a:p>
            <a:pPr lvl="1" eaLnBrk="1" hangingPunct="1"/>
            <a:r>
              <a:rPr lang="zh-CN" altLang="en-US" dirty="0"/>
              <a:t>类型表达式的图表示（叶结点：基本类型、类型名，内部节点：类型构造符）是否相同</a:t>
            </a:r>
          </a:p>
          <a:p>
            <a:pPr lvl="1" eaLnBrk="1" hangingPunct="1"/>
            <a:r>
              <a:rPr lang="zh-CN" altLang="en-US" dirty="0"/>
              <a:t>递归定义类型会导致回路</a:t>
            </a:r>
            <a:endParaRPr lang="en-US" altLang="zh-CN" dirty="0"/>
          </a:p>
          <a:p>
            <a:pPr eaLnBrk="1" hangingPunct="1"/>
            <a:r>
              <a:rPr lang="zh-CN" altLang="en-US" dirty="0"/>
              <a:t>名字等价</a:t>
            </a:r>
          </a:p>
        </p:txBody>
      </p:sp>
      <p:pic>
        <p:nvPicPr>
          <p:cNvPr id="2" name="图片 1">
            <a:extLst>
              <a:ext uri="{FF2B5EF4-FFF2-40B4-BE49-F238E27FC236}">
                <a16:creationId xmlns:a16="http://schemas.microsoft.com/office/drawing/2014/main" id="{944D9AAB-4989-4770-AA34-36402C713B3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140968"/>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F544438-4AE0-429C-8A7A-B8E2C4C5E6B6}"/>
              </a:ext>
            </a:extLst>
          </p:cNvPr>
          <p:cNvSpPr>
            <a:spLocks noGrp="1" noChangeArrowheads="1"/>
          </p:cNvSpPr>
          <p:nvPr>
            <p:ph type="title"/>
          </p:nvPr>
        </p:nvSpPr>
        <p:spPr/>
        <p:txBody>
          <a:bodyPr/>
          <a:lstStyle/>
          <a:p>
            <a:pPr eaLnBrk="1" hangingPunct="1"/>
            <a:r>
              <a:rPr lang="en-US" altLang="zh-CN"/>
              <a:t>6.3.1  </a:t>
            </a:r>
            <a:r>
              <a:rPr lang="zh-CN" altLang="en-US"/>
              <a:t>类型表达式的结构等价</a:t>
            </a:r>
          </a:p>
        </p:txBody>
      </p:sp>
      <p:sp>
        <p:nvSpPr>
          <p:cNvPr id="24579" name="Rectangle 3">
            <a:extLst>
              <a:ext uri="{FF2B5EF4-FFF2-40B4-BE49-F238E27FC236}">
                <a16:creationId xmlns:a16="http://schemas.microsoft.com/office/drawing/2014/main" id="{888DA482-23BA-43CA-A414-D2572879A567}"/>
              </a:ext>
            </a:extLst>
          </p:cNvPr>
          <p:cNvSpPr>
            <a:spLocks noGrp="1" noChangeArrowheads="1"/>
          </p:cNvSpPr>
          <p:nvPr>
            <p:ph type="body" idx="1"/>
          </p:nvPr>
        </p:nvSpPr>
        <p:spPr/>
        <p:txBody>
          <a:bodyPr/>
          <a:lstStyle/>
          <a:p>
            <a:pPr marL="609600" indent="-609600" eaLnBrk="1" hangingPunct="1"/>
            <a:r>
              <a:rPr lang="zh-CN" altLang="en-US" dirty="0"/>
              <a:t>结构等价（</a:t>
            </a:r>
            <a:r>
              <a:rPr lang="en-US" altLang="zh-CN" dirty="0">
                <a:solidFill>
                  <a:srgbClr val="FF3300"/>
                </a:solidFill>
              </a:rPr>
              <a:t>structural equivalence</a:t>
            </a:r>
            <a:r>
              <a:rPr lang="zh-CN" altLang="en-US" dirty="0"/>
              <a:t>）</a:t>
            </a:r>
          </a:p>
          <a:p>
            <a:pPr marL="990600" lvl="1" indent="-533400" eaLnBrk="1" hangingPunct="1">
              <a:buFont typeface="Wingdings" panose="05000000000000000000" pitchFamily="2" charset="2"/>
              <a:buAutoNum type="arabicPeriod"/>
            </a:pPr>
            <a:r>
              <a:rPr lang="zh-CN" altLang="en-US" dirty="0"/>
              <a:t>基本类型相同</a:t>
            </a:r>
          </a:p>
          <a:p>
            <a:pPr marL="990600" lvl="1" indent="-533400" eaLnBrk="1" hangingPunct="1">
              <a:buFont typeface="Wingdings" panose="05000000000000000000" pitchFamily="2" charset="2"/>
              <a:buAutoNum type="arabicPeriod"/>
            </a:pPr>
            <a:r>
              <a:rPr lang="zh-CN" altLang="en-US" dirty="0"/>
              <a:t>对子表达式施加的类型构造符相同</a:t>
            </a:r>
          </a:p>
          <a:p>
            <a:pPr marL="990600" lvl="1" indent="-533400" eaLnBrk="1" hangingPunct="1"/>
            <a:r>
              <a:rPr lang="zh-CN" altLang="en-US" dirty="0"/>
              <a:t>两个类型表达式结构等价</a:t>
            </a:r>
            <a:r>
              <a:rPr lang="en-US" altLang="zh-CN" dirty="0"/>
              <a:t>——</a:t>
            </a:r>
            <a:r>
              <a:rPr lang="en-US" altLang="zh-CN" dirty="0" err="1"/>
              <a:t>dag</a:t>
            </a:r>
            <a:r>
              <a:rPr lang="zh-CN" altLang="en-US" dirty="0"/>
              <a:t>中对应相同结点</a:t>
            </a:r>
          </a:p>
          <a:p>
            <a:pPr marL="609600" indent="-609600" eaLnBrk="1" hangingPunct="1"/>
            <a:r>
              <a:rPr lang="zh-CN" altLang="en-US" dirty="0"/>
              <a:t>有时要放松条件</a:t>
            </a:r>
            <a:r>
              <a:rPr lang="en-US" altLang="zh-CN" dirty="0"/>
              <a:t>——</a:t>
            </a:r>
            <a:r>
              <a:rPr lang="zh-CN" altLang="en-US" dirty="0"/>
              <a:t>数组参数忽略下表范围</a:t>
            </a:r>
          </a:p>
          <a:p>
            <a:pPr marL="990600" lvl="1" indent="-533400" eaLnBrk="1" hangingPunct="1"/>
            <a:r>
              <a:rPr lang="zh-CN" altLang="en-US" dirty="0"/>
              <a:t>等价性检查算法稍做修改</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F62CCD6-49EA-48F0-932E-8C4080D95662}"/>
              </a:ext>
            </a:extLst>
          </p:cNvPr>
          <p:cNvSpPr>
            <a:spLocks noGrp="1" noChangeArrowheads="1"/>
          </p:cNvSpPr>
          <p:nvPr>
            <p:ph type="title"/>
          </p:nvPr>
        </p:nvSpPr>
        <p:spPr/>
        <p:txBody>
          <a:bodyPr/>
          <a:lstStyle/>
          <a:p>
            <a:pPr eaLnBrk="1" hangingPunct="1"/>
            <a:r>
              <a:rPr lang="zh-CN" altLang="en-US"/>
              <a:t>等价性检查算法</a:t>
            </a:r>
          </a:p>
        </p:txBody>
      </p:sp>
      <p:sp>
        <p:nvSpPr>
          <p:cNvPr id="25603" name="Rectangle 3">
            <a:extLst>
              <a:ext uri="{FF2B5EF4-FFF2-40B4-BE49-F238E27FC236}">
                <a16:creationId xmlns:a16="http://schemas.microsoft.com/office/drawing/2014/main" id="{9DD34988-B7FA-41EE-86EB-4D39C91BA34D}"/>
              </a:ext>
            </a:extLst>
          </p:cNvPr>
          <p:cNvSpPr>
            <a:spLocks noGrp="1" noChangeArrowheads="1"/>
          </p:cNvSpPr>
          <p:nvPr>
            <p:ph type="body" idx="1"/>
          </p:nvPr>
        </p:nvSpPr>
        <p:spPr>
          <a:xfrm>
            <a:off x="1182688" y="1371600"/>
            <a:ext cx="7772400" cy="4937125"/>
          </a:xfrm>
        </p:spPr>
        <p:txBody>
          <a:bodyPr/>
          <a:lstStyle/>
          <a:p>
            <a:pPr eaLnBrk="1" hangingPunct="1">
              <a:spcBef>
                <a:spcPct val="10000"/>
              </a:spcBef>
              <a:buFont typeface="Wingdings" panose="05000000000000000000" pitchFamily="2" charset="2"/>
              <a:buNone/>
            </a:pPr>
            <a:r>
              <a:rPr lang="en-US" altLang="zh-CN" sz="2000"/>
              <a:t>bool sequiv(s, t)</a:t>
            </a:r>
          </a:p>
          <a:p>
            <a:pPr eaLnBrk="1" hangingPunct="1">
              <a:spcBef>
                <a:spcPct val="10000"/>
              </a:spcBef>
              <a:buFont typeface="Wingdings" panose="05000000000000000000" pitchFamily="2" charset="2"/>
              <a:buNone/>
            </a:pPr>
            <a:r>
              <a:rPr lang="en-US" altLang="zh-CN" sz="2000"/>
              <a:t>{</a:t>
            </a:r>
          </a:p>
          <a:p>
            <a:pPr eaLnBrk="1" hangingPunct="1">
              <a:spcBef>
                <a:spcPct val="10000"/>
              </a:spcBef>
              <a:buFont typeface="Wingdings" panose="05000000000000000000" pitchFamily="2" charset="2"/>
              <a:buNone/>
            </a:pPr>
            <a:r>
              <a:rPr lang="en-US" altLang="zh-CN" sz="2000"/>
              <a:t>	if (s</a:t>
            </a:r>
            <a:r>
              <a:rPr lang="zh-CN" altLang="en-US" sz="2000"/>
              <a:t>和</a:t>
            </a:r>
            <a:r>
              <a:rPr lang="en-US" altLang="zh-CN" sz="2000"/>
              <a:t>t</a:t>
            </a:r>
            <a:r>
              <a:rPr lang="zh-CN" altLang="en-US" sz="2000"/>
              <a:t>为相同基本类型</a:t>
            </a:r>
            <a:r>
              <a:rPr lang="en-US" altLang="zh-CN" sz="2000"/>
              <a:t>)</a:t>
            </a:r>
          </a:p>
          <a:p>
            <a:pPr eaLnBrk="1" hangingPunct="1">
              <a:spcBef>
                <a:spcPct val="10000"/>
              </a:spcBef>
              <a:buFont typeface="Wingdings" panose="05000000000000000000" pitchFamily="2" charset="2"/>
              <a:buNone/>
            </a:pPr>
            <a:r>
              <a:rPr lang="en-US" altLang="zh-CN" sz="2000"/>
              <a:t>		return true;</a:t>
            </a:r>
          </a:p>
          <a:p>
            <a:pPr eaLnBrk="1" hangingPunct="1">
              <a:spcBef>
                <a:spcPct val="10000"/>
              </a:spcBef>
              <a:buFont typeface="Wingdings" panose="05000000000000000000" pitchFamily="2" charset="2"/>
              <a:buNone/>
            </a:pPr>
            <a:r>
              <a:rPr lang="en-US" altLang="zh-CN" sz="2000"/>
              <a:t>	else if (s == array(s</a:t>
            </a:r>
            <a:r>
              <a:rPr lang="en-US" altLang="zh-CN" sz="2000" baseline="-25000"/>
              <a:t>1</a:t>
            </a:r>
            <a:r>
              <a:rPr lang="en-US" altLang="zh-CN" sz="2000"/>
              <a:t>, s</a:t>
            </a:r>
            <a:r>
              <a:rPr lang="en-US" altLang="zh-CN" sz="2000" baseline="-25000"/>
              <a:t>2</a:t>
            </a:r>
            <a:r>
              <a:rPr lang="en-US" altLang="zh-CN" sz="2000"/>
              <a:t>) and t == array(t</a:t>
            </a:r>
            <a:r>
              <a:rPr lang="en-US" altLang="zh-CN" sz="2000" baseline="-25000"/>
              <a:t>1</a:t>
            </a:r>
            <a:r>
              <a:rPr lang="en-US" altLang="zh-CN" sz="2000"/>
              <a:t>, t</a:t>
            </a:r>
            <a:r>
              <a:rPr lang="en-US" altLang="zh-CN" sz="2000" baseline="-25000"/>
              <a:t>2</a:t>
            </a:r>
            <a:r>
              <a:rPr lang="en-US" altLang="zh-CN" sz="2000"/>
              <a:t>))</a:t>
            </a:r>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p>
          <a:p>
            <a:pPr eaLnBrk="1" hangingPunct="1">
              <a:spcBef>
                <a:spcPct val="10000"/>
              </a:spcBef>
              <a:buFont typeface="Wingdings" panose="05000000000000000000" pitchFamily="2" charset="2"/>
              <a:buNone/>
            </a:pPr>
            <a:r>
              <a:rPr lang="en-US" altLang="zh-CN" sz="2000"/>
              <a:t>	else if (s == s</a:t>
            </a:r>
            <a:r>
              <a:rPr lang="en-US" altLang="zh-CN" sz="2000" baseline="-25000"/>
              <a:t>1</a:t>
            </a:r>
            <a:r>
              <a:rPr lang="en-US" altLang="zh-CN" sz="2000"/>
              <a:t>×s</a:t>
            </a:r>
            <a:r>
              <a:rPr lang="en-US" altLang="zh-CN" sz="2000" baseline="-25000"/>
              <a:t>2</a:t>
            </a:r>
            <a:r>
              <a:rPr lang="en-US" altLang="zh-CN" sz="2000"/>
              <a:t> and t = t</a:t>
            </a:r>
            <a:r>
              <a:rPr lang="en-US" altLang="zh-CN" sz="2000" baseline="-25000"/>
              <a:t>1</a:t>
            </a:r>
            <a:r>
              <a:rPr lang="en-US" altLang="zh-CN" sz="2000"/>
              <a:t>×t</a:t>
            </a:r>
            <a:r>
              <a:rPr lang="en-US" altLang="zh-CN" sz="2000" baseline="-25000"/>
              <a:t>2</a:t>
            </a:r>
            <a:r>
              <a:rPr lang="en-US" altLang="zh-CN" sz="2000"/>
              <a:t>)</a:t>
            </a:r>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p>
          <a:p>
            <a:pPr eaLnBrk="1" hangingPunct="1">
              <a:spcBef>
                <a:spcPct val="10000"/>
              </a:spcBef>
              <a:buFont typeface="Wingdings" panose="05000000000000000000" pitchFamily="2" charset="2"/>
              <a:buNone/>
            </a:pPr>
            <a:r>
              <a:rPr lang="en-US" altLang="zh-CN" sz="2000"/>
              <a:t>	else if (s == pointer(s</a:t>
            </a:r>
            <a:r>
              <a:rPr lang="en-US" altLang="zh-CN" sz="2000" baseline="-25000"/>
              <a:t>1</a:t>
            </a:r>
            <a:r>
              <a:rPr lang="en-US" altLang="zh-CN" sz="2000"/>
              <a:t>) and t == pointer(t</a:t>
            </a:r>
            <a:r>
              <a:rPr lang="en-US" altLang="zh-CN" sz="2000" baseline="-25000"/>
              <a:t>1</a:t>
            </a:r>
            <a:r>
              <a:rPr lang="en-US" altLang="zh-CN" sz="2000"/>
              <a:t>))</a:t>
            </a:r>
          </a:p>
          <a:p>
            <a:pPr eaLnBrk="1" hangingPunct="1">
              <a:spcBef>
                <a:spcPct val="10000"/>
              </a:spcBef>
              <a:buFont typeface="Wingdings" panose="05000000000000000000" pitchFamily="2" charset="2"/>
              <a:buNone/>
            </a:pPr>
            <a:r>
              <a:rPr lang="en-US" altLang="zh-CN" sz="2000"/>
              <a:t>		return sequiv(s</a:t>
            </a:r>
            <a:r>
              <a:rPr lang="en-US" altLang="zh-CN" sz="2000" baseline="-25000"/>
              <a:t>1</a:t>
            </a:r>
            <a:r>
              <a:rPr lang="en-US" altLang="zh-CN" sz="2000"/>
              <a:t>, t</a:t>
            </a:r>
            <a:r>
              <a:rPr lang="en-US" altLang="zh-CN" sz="2000" baseline="-25000"/>
              <a:t>1</a:t>
            </a:r>
            <a:r>
              <a:rPr lang="en-US" altLang="zh-CN" sz="2000"/>
              <a:t>);</a:t>
            </a:r>
          </a:p>
          <a:p>
            <a:pPr eaLnBrk="1" hangingPunct="1">
              <a:spcBef>
                <a:spcPct val="10000"/>
              </a:spcBef>
              <a:buFont typeface="Wingdings" panose="05000000000000000000" pitchFamily="2" charset="2"/>
              <a:buNone/>
            </a:pPr>
            <a:r>
              <a:rPr lang="en-US" altLang="zh-CN" sz="2000"/>
              <a:t>	else if (s == s</a:t>
            </a:r>
            <a:r>
              <a:rPr lang="en-US" altLang="zh-CN" sz="2000" baseline="-25000"/>
              <a:t>1</a:t>
            </a:r>
            <a:r>
              <a:rPr lang="en-US" altLang="zh-CN" sz="2000">
                <a:sym typeface="Wingdings" panose="05000000000000000000" pitchFamily="2" charset="2"/>
              </a:rPr>
              <a:t>s</a:t>
            </a:r>
            <a:r>
              <a:rPr lang="en-US" altLang="zh-CN" sz="2000" baseline="-25000">
                <a:sym typeface="Wingdings" panose="05000000000000000000" pitchFamily="2" charset="2"/>
              </a:rPr>
              <a:t>2</a:t>
            </a:r>
            <a:r>
              <a:rPr lang="en-US" altLang="zh-CN" sz="2000">
                <a:sym typeface="Wingdings" panose="05000000000000000000" pitchFamily="2" charset="2"/>
              </a:rPr>
              <a:t> and t == t</a:t>
            </a:r>
            <a:r>
              <a:rPr lang="en-US" altLang="zh-CN" sz="2000" baseline="-25000">
                <a:sym typeface="Wingdings" panose="05000000000000000000" pitchFamily="2" charset="2"/>
              </a:rPr>
              <a:t>1</a:t>
            </a:r>
            <a:r>
              <a:rPr lang="en-US" altLang="zh-CN" sz="2000">
                <a:sym typeface="Wingdings" panose="05000000000000000000" pitchFamily="2" charset="2"/>
              </a:rPr>
              <a:t>t</a:t>
            </a:r>
            <a:r>
              <a:rPr lang="en-US" altLang="zh-CN" sz="2000" baseline="-25000">
                <a:sym typeface="Wingdings" panose="05000000000000000000" pitchFamily="2" charset="2"/>
              </a:rPr>
              <a:t>2</a:t>
            </a:r>
            <a:r>
              <a:rPr lang="en-US" altLang="zh-CN" sz="2000">
                <a:sym typeface="Wingdings" panose="05000000000000000000" pitchFamily="2" charset="2"/>
              </a:rPr>
              <a:t>)</a:t>
            </a:r>
          </a:p>
          <a:p>
            <a:pPr eaLnBrk="1" hangingPunct="1">
              <a:spcBef>
                <a:spcPct val="10000"/>
              </a:spcBef>
              <a:buFont typeface="Wingdings" panose="05000000000000000000" pitchFamily="2" charset="2"/>
              <a:buNone/>
            </a:pPr>
            <a:r>
              <a:rPr lang="en-US" altLang="zh-CN" sz="2000">
                <a:sym typeface="Wingdings" panose="05000000000000000000" pitchFamily="2" charset="2"/>
              </a:rPr>
              <a:t>		return </a:t>
            </a:r>
            <a:r>
              <a:rPr lang="en-US" altLang="zh-CN" sz="2000"/>
              <a:t>sequiv(s</a:t>
            </a:r>
            <a:r>
              <a:rPr lang="en-US" altLang="zh-CN" sz="2000" baseline="-25000"/>
              <a:t>1</a:t>
            </a:r>
            <a:r>
              <a:rPr lang="en-US" altLang="zh-CN" sz="2000"/>
              <a:t>, t</a:t>
            </a:r>
            <a:r>
              <a:rPr lang="en-US" altLang="zh-CN" sz="2000" baseline="-25000"/>
              <a:t>1</a:t>
            </a:r>
            <a:r>
              <a:rPr lang="en-US" altLang="zh-CN" sz="2000"/>
              <a:t>) and sequiv(s</a:t>
            </a:r>
            <a:r>
              <a:rPr lang="en-US" altLang="zh-CN" sz="2000" baseline="-25000"/>
              <a:t>2</a:t>
            </a:r>
            <a:r>
              <a:rPr lang="en-US" altLang="zh-CN" sz="2000"/>
              <a:t>, t</a:t>
            </a:r>
            <a:r>
              <a:rPr lang="en-US" altLang="zh-CN" sz="2000" baseline="-25000"/>
              <a:t>2</a:t>
            </a:r>
            <a:r>
              <a:rPr lang="en-US" altLang="zh-CN" sz="2000"/>
              <a:t>);</a:t>
            </a:r>
          </a:p>
          <a:p>
            <a:pPr eaLnBrk="1" hangingPunct="1">
              <a:spcBef>
                <a:spcPct val="10000"/>
              </a:spcBef>
              <a:buFont typeface="Wingdings" panose="05000000000000000000" pitchFamily="2" charset="2"/>
              <a:buNone/>
            </a:pPr>
            <a:r>
              <a:rPr lang="en-US" altLang="zh-CN" sz="2000"/>
              <a:t>	else return false;</a:t>
            </a:r>
          </a:p>
          <a:p>
            <a:pPr eaLnBrk="1" hangingPunct="1">
              <a:spcBef>
                <a:spcPct val="10000"/>
              </a:spcBef>
              <a:buFont typeface="Wingdings" panose="05000000000000000000" pitchFamily="2" charset="2"/>
              <a:buNone/>
            </a:pPr>
            <a:r>
              <a:rPr lang="en-US" altLang="zh-CN" sz="200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A2BEDD7-4F18-4ABA-9D6D-F306F4229315}"/>
              </a:ext>
            </a:extLst>
          </p:cNvPr>
          <p:cNvSpPr>
            <a:spLocks noGrp="1" noChangeArrowheads="1"/>
          </p:cNvSpPr>
          <p:nvPr>
            <p:ph type="title"/>
          </p:nvPr>
        </p:nvSpPr>
        <p:spPr/>
        <p:txBody>
          <a:bodyPr/>
          <a:lstStyle/>
          <a:p>
            <a:pPr eaLnBrk="1" hangingPunct="1"/>
            <a:r>
              <a:rPr lang="zh-CN" altLang="en-US" dirty="0"/>
              <a:t>例</a:t>
            </a:r>
            <a:r>
              <a:rPr lang="en-US" altLang="zh-CN" dirty="0"/>
              <a:t>6.1</a:t>
            </a:r>
            <a:r>
              <a:rPr lang="zh-CN" altLang="en-US" dirty="0"/>
              <a:t>：编码类型表达式</a:t>
            </a:r>
          </a:p>
        </p:txBody>
      </p:sp>
      <p:sp>
        <p:nvSpPr>
          <p:cNvPr id="26627" name="Rectangle 3">
            <a:extLst>
              <a:ext uri="{FF2B5EF4-FFF2-40B4-BE49-F238E27FC236}">
                <a16:creationId xmlns:a16="http://schemas.microsoft.com/office/drawing/2014/main" id="{8F08755F-A270-4D05-B1BB-98CCCCA2E71D}"/>
              </a:ext>
            </a:extLst>
          </p:cNvPr>
          <p:cNvSpPr>
            <a:spLocks noGrp="1" noChangeArrowheads="1"/>
          </p:cNvSpPr>
          <p:nvPr>
            <p:ph type="body" idx="1"/>
          </p:nvPr>
        </p:nvSpPr>
        <p:spPr>
          <a:xfrm>
            <a:off x="1182688" y="1371600"/>
            <a:ext cx="7772400" cy="4953000"/>
          </a:xfrm>
        </p:spPr>
        <p:txBody>
          <a:bodyPr/>
          <a:lstStyle/>
          <a:p>
            <a:pPr eaLnBrk="1" hangingPunct="1"/>
            <a:r>
              <a:rPr lang="zh-CN" altLang="en-US" sz="2800" dirty="0"/>
              <a:t>用二进制码表示类型和构造符</a:t>
            </a:r>
          </a:p>
          <a:p>
            <a:pPr eaLnBrk="1" hangingPunct="1"/>
            <a:r>
              <a:rPr lang="zh-CN" altLang="en-US" sz="2800" dirty="0"/>
              <a:t>节省内存，加速检测</a:t>
            </a:r>
            <a:r>
              <a:rPr lang="en-US" altLang="zh-CN" sz="2800" dirty="0"/>
              <a:t>——</a:t>
            </a:r>
            <a:r>
              <a:rPr lang="zh-CN" altLang="en-US" sz="2800" dirty="0"/>
              <a:t>二进制码不同的类型表达式肯定不等价</a:t>
            </a:r>
          </a:p>
          <a:p>
            <a:pPr eaLnBrk="1" hangingPunct="1"/>
            <a:r>
              <a:rPr lang="en-US" altLang="zh-CN" sz="2800" dirty="0"/>
              <a:t>D. M. Ritchie</a:t>
            </a:r>
            <a:r>
              <a:rPr lang="zh-CN" altLang="en-US" sz="2800" dirty="0"/>
              <a:t>，</a:t>
            </a:r>
            <a:r>
              <a:rPr lang="en-US" altLang="zh-CN" sz="2800" dirty="0"/>
              <a:t>C</a:t>
            </a:r>
            <a:r>
              <a:rPr lang="zh-CN" altLang="en-US" sz="2800" dirty="0"/>
              <a:t>语言发明人</a:t>
            </a:r>
          </a:p>
          <a:p>
            <a:pPr eaLnBrk="1" hangingPunct="1"/>
            <a:r>
              <a:rPr lang="zh-CN" altLang="en-US" sz="2800" dirty="0"/>
              <a:t>忽略数组下标范围和函数参数</a:t>
            </a:r>
            <a:br>
              <a:rPr lang="zh-CN" altLang="en-US" sz="2800" dirty="0"/>
            </a:br>
            <a:r>
              <a:rPr lang="en-US" altLang="zh-CN" sz="2800" dirty="0"/>
              <a:t>char</a:t>
            </a:r>
            <a:br>
              <a:rPr lang="en-US" altLang="zh-CN" sz="2800" dirty="0"/>
            </a:br>
            <a:r>
              <a:rPr lang="en-US" altLang="zh-CN" sz="2800" dirty="0" err="1"/>
              <a:t>freturns</a:t>
            </a:r>
            <a:r>
              <a:rPr lang="en-US" altLang="zh-CN" sz="2800" dirty="0"/>
              <a:t>(char)</a:t>
            </a:r>
            <a:br>
              <a:rPr lang="en-US" altLang="zh-CN" sz="2800" dirty="0"/>
            </a:br>
            <a:r>
              <a:rPr lang="en-US" altLang="zh-CN" sz="2800" dirty="0"/>
              <a:t>pointer(</a:t>
            </a:r>
            <a:r>
              <a:rPr lang="en-US" altLang="zh-CN" sz="2800" dirty="0" err="1"/>
              <a:t>freturns</a:t>
            </a:r>
            <a:r>
              <a:rPr lang="en-US" altLang="zh-CN" sz="2800" dirty="0"/>
              <a:t>(char))</a:t>
            </a:r>
            <a:br>
              <a:rPr lang="en-US" altLang="zh-CN" sz="2800" dirty="0"/>
            </a:br>
            <a:r>
              <a:rPr lang="en-US" altLang="zh-CN" sz="2800" dirty="0"/>
              <a:t>array(pointer(</a:t>
            </a:r>
            <a:r>
              <a:rPr lang="en-US" altLang="zh-CN" sz="2800" dirty="0" err="1"/>
              <a:t>freturns</a:t>
            </a:r>
            <a:r>
              <a:rPr lang="en-US" altLang="zh-CN" sz="2800" dirty="0"/>
              <a:t>(char)))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E5E7250-F72F-4DCF-B959-BF6F5F9142F3}"/>
              </a:ext>
            </a:extLst>
          </p:cNvPr>
          <p:cNvSpPr>
            <a:spLocks noGrp="1" noChangeArrowheads="1"/>
          </p:cNvSpPr>
          <p:nvPr>
            <p:ph type="title"/>
          </p:nvPr>
        </p:nvSpPr>
        <p:spPr/>
        <p:txBody>
          <a:bodyPr/>
          <a:lstStyle/>
          <a:p>
            <a:pPr eaLnBrk="1" hangingPunct="1"/>
            <a:r>
              <a:rPr lang="zh-CN" altLang="en-US"/>
              <a:t>例</a:t>
            </a:r>
            <a:r>
              <a:rPr lang="en-US" altLang="zh-CN"/>
              <a:t>6.1</a:t>
            </a:r>
            <a:r>
              <a:rPr lang="zh-CN" altLang="en-US"/>
              <a:t>（续）</a:t>
            </a:r>
          </a:p>
        </p:txBody>
      </p:sp>
      <p:sp>
        <p:nvSpPr>
          <p:cNvPr id="27651" name="Rectangle 3">
            <a:extLst>
              <a:ext uri="{FF2B5EF4-FFF2-40B4-BE49-F238E27FC236}">
                <a16:creationId xmlns:a16="http://schemas.microsoft.com/office/drawing/2014/main" id="{B9F3310B-786F-4F06-B17F-5E690FE72D0B}"/>
              </a:ext>
            </a:extLst>
          </p:cNvPr>
          <p:cNvSpPr>
            <a:spLocks noGrp="1" noChangeArrowheads="1"/>
          </p:cNvSpPr>
          <p:nvPr>
            <p:ph type="body" idx="1"/>
          </p:nvPr>
        </p:nvSpPr>
        <p:spPr/>
        <p:txBody>
          <a:bodyPr/>
          <a:lstStyle/>
          <a:p>
            <a:pPr eaLnBrk="1" hangingPunct="1"/>
            <a:r>
              <a:rPr lang="zh-CN" altLang="en-US" sz="2800"/>
              <a:t>构造符的编码</a:t>
            </a:r>
            <a:br>
              <a:rPr lang="zh-CN" altLang="en-US" sz="2800"/>
            </a:br>
            <a:r>
              <a:rPr lang="en-US" altLang="zh-CN" sz="2800"/>
              <a:t>pointer		01</a:t>
            </a:r>
            <a:br>
              <a:rPr lang="en-US" altLang="zh-CN" sz="2800"/>
            </a:br>
            <a:r>
              <a:rPr lang="en-US" altLang="zh-CN" sz="2800"/>
              <a:t>array		10</a:t>
            </a:r>
            <a:br>
              <a:rPr lang="en-US" altLang="zh-CN" sz="2800"/>
            </a:br>
            <a:r>
              <a:rPr lang="en-US" altLang="zh-CN" sz="2800"/>
              <a:t>freturns		11</a:t>
            </a:r>
          </a:p>
          <a:p>
            <a:pPr eaLnBrk="1" hangingPunct="1"/>
            <a:r>
              <a:rPr lang="zh-CN" altLang="en-US" sz="2800"/>
              <a:t>基本类型编码</a:t>
            </a:r>
            <a:br>
              <a:rPr lang="zh-CN" altLang="en-US" sz="2800"/>
            </a:br>
            <a:r>
              <a:rPr lang="en-US" altLang="zh-CN" sz="2800"/>
              <a:t>boolean		0000</a:t>
            </a:r>
            <a:br>
              <a:rPr lang="en-US" altLang="zh-CN" sz="2800"/>
            </a:br>
            <a:r>
              <a:rPr lang="en-US" altLang="zh-CN" sz="2800"/>
              <a:t>char		0001</a:t>
            </a:r>
            <a:br>
              <a:rPr lang="en-US" altLang="zh-CN" sz="2800"/>
            </a:br>
            <a:r>
              <a:rPr lang="en-US" altLang="zh-CN" sz="2800"/>
              <a:t>integer		0010</a:t>
            </a:r>
            <a:br>
              <a:rPr lang="en-US" altLang="zh-CN" sz="2800"/>
            </a:br>
            <a:r>
              <a:rPr lang="en-US" altLang="zh-CN" sz="2800"/>
              <a:t>real			0011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E49A60E-BD00-43A6-8718-47C4F0937CE0}"/>
              </a:ext>
            </a:extLst>
          </p:cNvPr>
          <p:cNvSpPr>
            <a:spLocks noGrp="1" noChangeArrowheads="1"/>
          </p:cNvSpPr>
          <p:nvPr>
            <p:ph type="title"/>
          </p:nvPr>
        </p:nvSpPr>
        <p:spPr/>
        <p:txBody>
          <a:bodyPr/>
          <a:lstStyle/>
          <a:p>
            <a:pPr eaLnBrk="1" hangingPunct="1"/>
            <a:r>
              <a:rPr lang="zh-CN" altLang="en-US"/>
              <a:t>例</a:t>
            </a:r>
            <a:r>
              <a:rPr lang="en-US" altLang="zh-CN"/>
              <a:t>6.1</a:t>
            </a:r>
            <a:r>
              <a:rPr lang="zh-CN" altLang="en-US"/>
              <a:t>（续）</a:t>
            </a:r>
          </a:p>
        </p:txBody>
      </p:sp>
      <p:sp>
        <p:nvSpPr>
          <p:cNvPr id="28675" name="Rectangle 3">
            <a:extLst>
              <a:ext uri="{FF2B5EF4-FFF2-40B4-BE49-F238E27FC236}">
                <a16:creationId xmlns:a16="http://schemas.microsoft.com/office/drawing/2014/main" id="{B01AE573-EDF0-430E-9B58-6C8AFC331E4B}"/>
              </a:ext>
            </a:extLst>
          </p:cNvPr>
          <p:cNvSpPr>
            <a:spLocks noGrp="1" noChangeArrowheads="1"/>
          </p:cNvSpPr>
          <p:nvPr>
            <p:ph type="body" idx="1"/>
          </p:nvPr>
        </p:nvSpPr>
        <p:spPr>
          <a:xfrm>
            <a:off x="1182688" y="1371600"/>
            <a:ext cx="7772400" cy="5105400"/>
          </a:xfrm>
        </p:spPr>
        <p:txBody>
          <a:bodyPr/>
          <a:lstStyle/>
          <a:p>
            <a:pPr eaLnBrk="1" hangingPunct="1"/>
            <a:r>
              <a:rPr lang="zh-CN" altLang="en-US" sz="2800"/>
              <a:t>编码方法</a:t>
            </a:r>
          </a:p>
          <a:p>
            <a:pPr lvl="1" eaLnBrk="1" hangingPunct="1"/>
            <a:r>
              <a:rPr lang="zh-CN" altLang="en-US" sz="2400"/>
              <a:t>最右端四位二进制位表示基本类型</a:t>
            </a:r>
          </a:p>
          <a:p>
            <a:pPr lvl="1" eaLnBrk="1" hangingPunct="1"/>
            <a:r>
              <a:rPr lang="zh-CN" altLang="en-US" sz="2400"/>
              <a:t>它前面两位表示第一个构造符</a:t>
            </a:r>
          </a:p>
          <a:p>
            <a:pPr lvl="1" eaLnBrk="1" hangingPunct="1"/>
            <a:r>
              <a:rPr lang="zh-CN" altLang="en-US" sz="2400"/>
              <a:t>再前面两位表示第二个构造符</a:t>
            </a:r>
          </a:p>
          <a:p>
            <a:pPr lvl="1" eaLnBrk="1" hangingPunct="1">
              <a:buFont typeface="Wingdings" panose="05000000000000000000" pitchFamily="2" charset="2"/>
              <a:buNone/>
            </a:pPr>
            <a:r>
              <a:rPr lang="zh-CN" altLang="en-US" sz="2400"/>
              <a:t>类型表达式		编码</a:t>
            </a:r>
          </a:p>
          <a:p>
            <a:pPr lvl="1" eaLnBrk="1" hangingPunct="1">
              <a:buFont typeface="Wingdings" panose="05000000000000000000" pitchFamily="2" charset="2"/>
              <a:buNone/>
            </a:pPr>
            <a:r>
              <a:rPr lang="en-US" altLang="zh-CN" sz="2000"/>
              <a:t>char				000000 0001</a:t>
            </a:r>
          </a:p>
          <a:p>
            <a:pPr lvl="1" eaLnBrk="1" hangingPunct="1">
              <a:buFont typeface="Wingdings" panose="05000000000000000000" pitchFamily="2" charset="2"/>
              <a:buNone/>
            </a:pPr>
            <a:r>
              <a:rPr lang="en-US" altLang="zh-CN" sz="2000"/>
              <a:t>freturns(char)		000011 0001</a:t>
            </a:r>
          </a:p>
          <a:p>
            <a:pPr lvl="1" eaLnBrk="1" hangingPunct="1">
              <a:buFont typeface="Wingdings" panose="05000000000000000000" pitchFamily="2" charset="2"/>
              <a:buNone/>
            </a:pPr>
            <a:r>
              <a:rPr lang="en-US" altLang="zh-CN" sz="2000"/>
              <a:t>pointer(freturns(char))		000111 0001</a:t>
            </a:r>
          </a:p>
          <a:p>
            <a:pPr lvl="1" eaLnBrk="1" hangingPunct="1">
              <a:buFont typeface="Wingdings" panose="05000000000000000000" pitchFamily="2" charset="2"/>
              <a:buNone/>
            </a:pPr>
            <a:r>
              <a:rPr lang="en-US" altLang="zh-CN" sz="2000"/>
              <a:t>array(pointer(freturns(char)))	100111 0001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AE55731-4C29-4E4B-9FB3-828DC9A9B56B}"/>
              </a:ext>
            </a:extLst>
          </p:cNvPr>
          <p:cNvSpPr>
            <a:spLocks noGrp="1" noChangeArrowheads="1"/>
          </p:cNvSpPr>
          <p:nvPr>
            <p:ph type="title"/>
          </p:nvPr>
        </p:nvSpPr>
        <p:spPr/>
        <p:txBody>
          <a:bodyPr/>
          <a:lstStyle/>
          <a:p>
            <a:pPr eaLnBrk="1" hangingPunct="1"/>
            <a:r>
              <a:rPr lang="zh-CN" altLang="en-US"/>
              <a:t>例</a:t>
            </a:r>
            <a:r>
              <a:rPr lang="en-US" altLang="zh-CN"/>
              <a:t>6.1</a:t>
            </a:r>
            <a:r>
              <a:rPr lang="zh-CN" altLang="en-US"/>
              <a:t>（续）</a:t>
            </a:r>
          </a:p>
        </p:txBody>
      </p:sp>
      <p:sp>
        <p:nvSpPr>
          <p:cNvPr id="29699" name="Rectangle 3">
            <a:extLst>
              <a:ext uri="{FF2B5EF4-FFF2-40B4-BE49-F238E27FC236}">
                <a16:creationId xmlns:a16="http://schemas.microsoft.com/office/drawing/2014/main" id="{1A644680-6B1B-4F99-8856-202A2AEE8F35}"/>
              </a:ext>
            </a:extLst>
          </p:cNvPr>
          <p:cNvSpPr>
            <a:spLocks noGrp="1" noChangeArrowheads="1"/>
          </p:cNvSpPr>
          <p:nvPr>
            <p:ph type="body" idx="1"/>
          </p:nvPr>
        </p:nvSpPr>
        <p:spPr>
          <a:xfrm>
            <a:off x="1182688" y="1371600"/>
            <a:ext cx="7772400" cy="4800600"/>
          </a:xfrm>
        </p:spPr>
        <p:txBody>
          <a:bodyPr/>
          <a:lstStyle/>
          <a:p>
            <a:pPr eaLnBrk="1" hangingPunct="1"/>
            <a:r>
              <a:rPr lang="zh-CN" altLang="en-US" dirty="0"/>
              <a:t>加速等价性检查</a:t>
            </a:r>
          </a:p>
          <a:p>
            <a:pPr lvl="1" eaLnBrk="1" hangingPunct="1"/>
            <a:r>
              <a:rPr lang="zh-CN" altLang="en-US" dirty="0"/>
              <a:t>不同二进制串不可能表示相同类型</a:t>
            </a:r>
          </a:p>
          <a:p>
            <a:pPr lvl="1" eaLnBrk="1" hangingPunct="1"/>
            <a:r>
              <a:rPr lang="zh-CN" altLang="en-US" dirty="0"/>
              <a:t>不同类型可能表示为相同二进制串</a:t>
            </a:r>
            <a:r>
              <a:rPr lang="en-US" altLang="zh-CN" dirty="0"/>
              <a:t>——</a:t>
            </a:r>
            <a:r>
              <a:rPr lang="zh-CN" altLang="en-US" dirty="0"/>
              <a:t>数组下标范围、函数参数</a:t>
            </a:r>
          </a:p>
          <a:p>
            <a:pPr eaLnBrk="1" hangingPunct="1"/>
            <a:r>
              <a:rPr lang="zh-CN" altLang="en-US" dirty="0"/>
              <a:t>记录的编码</a:t>
            </a:r>
          </a:p>
          <a:p>
            <a:pPr lvl="1" eaLnBrk="1" hangingPunct="1"/>
            <a:r>
              <a:rPr lang="zh-CN" altLang="en-US" dirty="0"/>
              <a:t>在类型表达式中记录作为基本类型</a:t>
            </a:r>
          </a:p>
          <a:p>
            <a:pPr lvl="1" eaLnBrk="1" hangingPunct="1"/>
            <a:r>
              <a:rPr lang="zh-CN" altLang="en-US" dirty="0"/>
              <a:t>用另一个二进制串编码它的域</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BA5AF98-3E66-4E56-A665-316090A53095}"/>
              </a:ext>
            </a:extLst>
          </p:cNvPr>
          <p:cNvSpPr>
            <a:spLocks noGrp="1" noChangeArrowheads="1"/>
          </p:cNvSpPr>
          <p:nvPr>
            <p:ph type="title"/>
          </p:nvPr>
        </p:nvSpPr>
        <p:spPr/>
        <p:txBody>
          <a:bodyPr/>
          <a:lstStyle/>
          <a:p>
            <a:pPr eaLnBrk="1" hangingPunct="1"/>
            <a:r>
              <a:rPr lang="en-US" altLang="zh-CN"/>
              <a:t>6.3.2  </a:t>
            </a:r>
            <a:r>
              <a:rPr lang="zh-CN" altLang="en-US"/>
              <a:t>名字等价</a:t>
            </a:r>
          </a:p>
        </p:txBody>
      </p:sp>
      <p:sp>
        <p:nvSpPr>
          <p:cNvPr id="30723" name="Rectangle 3">
            <a:extLst>
              <a:ext uri="{FF2B5EF4-FFF2-40B4-BE49-F238E27FC236}">
                <a16:creationId xmlns:a16="http://schemas.microsoft.com/office/drawing/2014/main" id="{DCB0B98D-6E21-4B06-93D4-DE52A311D247}"/>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dirty="0"/>
              <a:t>type link = ^cell;</a:t>
            </a:r>
          </a:p>
          <a:p>
            <a:pPr eaLnBrk="1" hangingPunct="1">
              <a:buFont typeface="Wingdings" panose="05000000000000000000" pitchFamily="2" charset="2"/>
              <a:buNone/>
            </a:pPr>
            <a:r>
              <a:rPr lang="en-US" altLang="zh-CN" sz="2400" dirty="0"/>
              <a:t>var next : link;</a:t>
            </a:r>
            <a:br>
              <a:rPr lang="en-US" altLang="zh-CN" sz="2400" dirty="0"/>
            </a:br>
            <a:r>
              <a:rPr lang="en-US" altLang="zh-CN" sz="2400" dirty="0"/>
              <a:t>  last : link;</a:t>
            </a:r>
            <a:br>
              <a:rPr lang="en-US" altLang="zh-CN" sz="2400" dirty="0"/>
            </a:br>
            <a:r>
              <a:rPr lang="en-US" altLang="zh-CN" sz="2400" dirty="0"/>
              <a:t>  p : ^cell;</a:t>
            </a:r>
            <a:br>
              <a:rPr lang="en-US" altLang="zh-CN" sz="2400" dirty="0"/>
            </a:br>
            <a:r>
              <a:rPr lang="en-US" altLang="zh-CN" sz="2400" dirty="0"/>
              <a:t>  q, r : ^cell; </a:t>
            </a:r>
          </a:p>
          <a:p>
            <a:pPr eaLnBrk="1" hangingPunct="1"/>
            <a:r>
              <a:rPr lang="en-US" altLang="zh-CN" sz="2800" dirty="0"/>
              <a:t>5</a:t>
            </a:r>
            <a:r>
              <a:rPr lang="zh-CN" altLang="en-US" sz="2800" dirty="0"/>
              <a:t>个变量类型是否都相同？</a:t>
            </a:r>
            <a:r>
              <a:rPr lang="en-US" altLang="zh-CN" sz="2800" dirty="0"/>
              <a:t>——</a:t>
            </a:r>
            <a:r>
              <a:rPr lang="zh-CN" altLang="en-US" sz="2800" dirty="0"/>
              <a:t>依赖具体编译器实现采用哪种类型等价判定</a:t>
            </a:r>
          </a:p>
          <a:p>
            <a:pPr eaLnBrk="1" hangingPunct="1"/>
            <a:r>
              <a:rPr lang="zh-CN" altLang="en-US" sz="2800" dirty="0"/>
              <a:t>类型表达式允许类型名，但不允许回路</a:t>
            </a:r>
          </a:p>
          <a:p>
            <a:pPr eaLnBrk="1" hangingPunct="1"/>
            <a:r>
              <a:rPr lang="zh-CN" altLang="en-US" sz="2800" dirty="0"/>
              <a:t>名字等价：类型表达式完全相同</a:t>
            </a:r>
          </a:p>
          <a:p>
            <a:pPr eaLnBrk="1" hangingPunct="1"/>
            <a:r>
              <a:rPr lang="zh-CN" altLang="en-US" sz="2800" dirty="0"/>
              <a:t>结构等价：类型名被替换后完全相同</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5629928-378F-4979-B4E8-DCE9CAC4903B}"/>
              </a:ext>
            </a:extLst>
          </p:cNvPr>
          <p:cNvSpPr>
            <a:spLocks noGrp="1" noChangeArrowheads="1"/>
          </p:cNvSpPr>
          <p:nvPr>
            <p:ph type="title"/>
          </p:nvPr>
        </p:nvSpPr>
        <p:spPr/>
        <p:txBody>
          <a:bodyPr/>
          <a:lstStyle/>
          <a:p>
            <a:pPr eaLnBrk="1" hangingPunct="1"/>
            <a:r>
              <a:rPr lang="zh-CN" altLang="en-US"/>
              <a:t>例</a:t>
            </a:r>
            <a:r>
              <a:rPr lang="en-US" altLang="zh-CN"/>
              <a:t>6.2</a:t>
            </a:r>
          </a:p>
        </p:txBody>
      </p:sp>
      <p:sp>
        <p:nvSpPr>
          <p:cNvPr id="31747" name="Rectangle 3">
            <a:extLst>
              <a:ext uri="{FF2B5EF4-FFF2-40B4-BE49-F238E27FC236}">
                <a16:creationId xmlns:a16="http://schemas.microsoft.com/office/drawing/2014/main" id="{C7E62064-4734-4910-A5DD-C98E938692C4}"/>
              </a:ext>
            </a:extLst>
          </p:cNvPr>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zh-CN" altLang="en-US" sz="2800" dirty="0"/>
              <a:t>变量			类型表达式</a:t>
            </a:r>
          </a:p>
          <a:p>
            <a:pPr eaLnBrk="1" hangingPunct="1">
              <a:lnSpc>
                <a:spcPct val="80000"/>
              </a:lnSpc>
              <a:spcBef>
                <a:spcPct val="10000"/>
              </a:spcBef>
              <a:buFont typeface="Wingdings" panose="05000000000000000000" pitchFamily="2" charset="2"/>
              <a:buNone/>
            </a:pPr>
            <a:r>
              <a:rPr lang="en-US" altLang="zh-CN" sz="2800" dirty="0"/>
              <a:t>next			link</a:t>
            </a:r>
          </a:p>
          <a:p>
            <a:pPr eaLnBrk="1" hangingPunct="1">
              <a:lnSpc>
                <a:spcPct val="80000"/>
              </a:lnSpc>
              <a:spcBef>
                <a:spcPct val="10000"/>
              </a:spcBef>
              <a:buFont typeface="Wingdings" panose="05000000000000000000" pitchFamily="2" charset="2"/>
              <a:buNone/>
            </a:pPr>
            <a:r>
              <a:rPr lang="en-US" altLang="zh-CN" sz="2800" dirty="0"/>
              <a:t>last			link</a:t>
            </a:r>
          </a:p>
          <a:p>
            <a:pPr eaLnBrk="1" hangingPunct="1">
              <a:lnSpc>
                <a:spcPct val="80000"/>
              </a:lnSpc>
              <a:spcBef>
                <a:spcPct val="10000"/>
              </a:spcBef>
              <a:buFont typeface="Wingdings" panose="05000000000000000000" pitchFamily="2" charset="2"/>
              <a:buNone/>
            </a:pPr>
            <a:r>
              <a:rPr lang="en-US" altLang="zh-CN" sz="2800" dirty="0"/>
              <a:t>p				pointer(cell)</a:t>
            </a:r>
          </a:p>
          <a:p>
            <a:pPr eaLnBrk="1" hangingPunct="1">
              <a:lnSpc>
                <a:spcPct val="80000"/>
              </a:lnSpc>
              <a:spcBef>
                <a:spcPct val="10000"/>
              </a:spcBef>
              <a:buFont typeface="Wingdings" panose="05000000000000000000" pitchFamily="2" charset="2"/>
              <a:buNone/>
            </a:pPr>
            <a:r>
              <a:rPr lang="en-US" altLang="zh-CN" sz="2800" dirty="0"/>
              <a:t>q				pointer(cell)</a:t>
            </a:r>
          </a:p>
          <a:p>
            <a:pPr eaLnBrk="1" hangingPunct="1">
              <a:lnSpc>
                <a:spcPct val="80000"/>
              </a:lnSpc>
              <a:spcBef>
                <a:spcPct val="10000"/>
              </a:spcBef>
              <a:buFont typeface="Wingdings" panose="05000000000000000000" pitchFamily="2" charset="2"/>
              <a:buNone/>
            </a:pPr>
            <a:r>
              <a:rPr lang="en-US" altLang="zh-CN" sz="2800" dirty="0"/>
              <a:t>r				pointer(cell)</a:t>
            </a:r>
          </a:p>
          <a:p>
            <a:pPr eaLnBrk="1" hangingPunct="1"/>
            <a:r>
              <a:rPr lang="zh-CN" altLang="en-US" dirty="0"/>
              <a:t>结构等价：</a:t>
            </a:r>
            <a:r>
              <a:rPr lang="en-US" altLang="zh-CN" dirty="0"/>
              <a:t>5</a:t>
            </a:r>
            <a:r>
              <a:rPr lang="zh-CN" altLang="en-US" dirty="0"/>
              <a:t>个变量类型都相同</a:t>
            </a:r>
          </a:p>
          <a:p>
            <a:pPr eaLnBrk="1" hangingPunct="1"/>
            <a:r>
              <a:rPr lang="zh-CN" altLang="en-US" dirty="0"/>
              <a:t>名字等价：</a:t>
            </a:r>
            <a:r>
              <a:rPr lang="en-US" altLang="zh-CN" dirty="0"/>
              <a:t>next, last</a:t>
            </a:r>
            <a:r>
              <a:rPr lang="zh-CN" altLang="en-US" dirty="0"/>
              <a:t>类型相同，</a:t>
            </a:r>
            <a:r>
              <a:rPr lang="en-US" altLang="zh-CN" dirty="0"/>
              <a:t>p, q, r</a:t>
            </a:r>
            <a:r>
              <a:rPr lang="zh-CN" altLang="en-US" dirty="0"/>
              <a:t>类型相同，</a:t>
            </a:r>
            <a:r>
              <a:rPr lang="en-US" altLang="zh-CN" dirty="0"/>
              <a:t>p, next</a:t>
            </a:r>
            <a:r>
              <a:rPr lang="zh-CN" altLang="en-US" dirty="0"/>
              <a:t>类型不同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a:extLst>
              <a:ext uri="{FF2B5EF4-FFF2-40B4-BE49-F238E27FC236}">
                <a16:creationId xmlns:a16="http://schemas.microsoft.com/office/drawing/2014/main" id="{3F1FA0E7-AB0F-4B7E-AFE4-02436E998D8C}"/>
              </a:ext>
            </a:extLst>
          </p:cNvPr>
          <p:cNvSpPr>
            <a:spLocks noGrp="1" noChangeArrowheads="1"/>
          </p:cNvSpPr>
          <p:nvPr>
            <p:ph type="title"/>
          </p:nvPr>
        </p:nvSpPr>
        <p:spPr/>
        <p:txBody>
          <a:bodyPr/>
          <a:lstStyle/>
          <a:p>
            <a:pPr eaLnBrk="1" hangingPunct="1"/>
            <a:r>
              <a:rPr lang="zh-CN" altLang="en-US"/>
              <a:t>例</a:t>
            </a:r>
            <a:r>
              <a:rPr lang="en-US" altLang="zh-CN"/>
              <a:t>6.3</a:t>
            </a:r>
          </a:p>
        </p:txBody>
      </p:sp>
      <p:sp>
        <p:nvSpPr>
          <p:cNvPr id="32771" name="Rectangle 1027">
            <a:extLst>
              <a:ext uri="{FF2B5EF4-FFF2-40B4-BE49-F238E27FC236}">
                <a16:creationId xmlns:a16="http://schemas.microsoft.com/office/drawing/2014/main" id="{D72B9538-5311-4255-8517-F900B72D0BD1}"/>
              </a:ext>
            </a:extLst>
          </p:cNvPr>
          <p:cNvSpPr>
            <a:spLocks noGrp="1" noChangeArrowheads="1"/>
          </p:cNvSpPr>
          <p:nvPr>
            <p:ph type="body" idx="1"/>
          </p:nvPr>
        </p:nvSpPr>
        <p:spPr/>
        <p:txBody>
          <a:bodyPr/>
          <a:lstStyle/>
          <a:p>
            <a:pPr eaLnBrk="1" hangingPunct="1"/>
            <a:r>
              <a:rPr lang="zh-CN" altLang="en-US" sz="2800" dirty="0"/>
              <a:t>许多</a:t>
            </a:r>
            <a:r>
              <a:rPr lang="en-US" altLang="zh-CN" sz="2800" dirty="0"/>
              <a:t>Pascal</a:t>
            </a:r>
            <a:r>
              <a:rPr lang="zh-CN" altLang="en-US" sz="2800" dirty="0"/>
              <a:t>编译器会隐含地为每条标识符定义语句涉及到的类型关联一个类型名</a:t>
            </a:r>
          </a:p>
          <a:p>
            <a:pPr eaLnBrk="1" hangingPunct="1">
              <a:lnSpc>
                <a:spcPct val="80000"/>
              </a:lnSpc>
              <a:spcBef>
                <a:spcPct val="10000"/>
              </a:spcBef>
              <a:buFont typeface="Wingdings" panose="05000000000000000000" pitchFamily="2" charset="2"/>
              <a:buNone/>
            </a:pPr>
            <a:r>
              <a:rPr lang="en-US" altLang="zh-CN" sz="2400" dirty="0"/>
              <a:t>type link = ^cell;</a:t>
            </a:r>
            <a:br>
              <a:rPr lang="en-US" altLang="zh-CN" sz="2400" dirty="0"/>
            </a:br>
            <a:r>
              <a:rPr lang="en-US" altLang="zh-CN" sz="2400" dirty="0"/>
              <a:t>    np = ^cell;</a:t>
            </a:r>
            <a:br>
              <a:rPr lang="en-US" altLang="zh-CN" sz="2400" dirty="0"/>
            </a:br>
            <a:r>
              <a:rPr lang="en-US" altLang="zh-CN" sz="2400" dirty="0"/>
              <a:t>    </a:t>
            </a:r>
            <a:r>
              <a:rPr lang="en-US" altLang="zh-CN" sz="2400" dirty="0" err="1"/>
              <a:t>nqr</a:t>
            </a:r>
            <a:r>
              <a:rPr lang="en-US" altLang="zh-CN" sz="2400" dirty="0"/>
              <a:t> = ^cell;</a:t>
            </a:r>
          </a:p>
          <a:p>
            <a:pPr eaLnBrk="1" hangingPunct="1">
              <a:lnSpc>
                <a:spcPct val="80000"/>
              </a:lnSpc>
              <a:spcBef>
                <a:spcPct val="10000"/>
              </a:spcBef>
              <a:buFont typeface="Wingdings" panose="05000000000000000000" pitchFamily="2" charset="2"/>
              <a:buNone/>
            </a:pPr>
            <a:r>
              <a:rPr lang="en-US" altLang="zh-CN" sz="2400" dirty="0"/>
              <a:t>var next : link;</a:t>
            </a:r>
            <a:br>
              <a:rPr lang="en-US" altLang="zh-CN" sz="2400" dirty="0"/>
            </a:br>
            <a:r>
              <a:rPr lang="en-US" altLang="zh-CN" sz="2400" dirty="0"/>
              <a:t>  last : link;</a:t>
            </a:r>
            <a:br>
              <a:rPr lang="en-US" altLang="zh-CN" sz="2400" dirty="0"/>
            </a:br>
            <a:r>
              <a:rPr lang="en-US" altLang="zh-CN" sz="2400" dirty="0"/>
              <a:t>  p : np;</a:t>
            </a:r>
            <a:br>
              <a:rPr lang="en-US" altLang="zh-CN" sz="2400" dirty="0"/>
            </a:br>
            <a:r>
              <a:rPr lang="en-US" altLang="zh-CN" sz="2400" dirty="0"/>
              <a:t>  q, r : </a:t>
            </a:r>
            <a:r>
              <a:rPr lang="en-US" altLang="zh-CN" sz="2400" dirty="0" err="1"/>
              <a:t>nqr</a:t>
            </a:r>
            <a:r>
              <a:rPr lang="en-US" altLang="zh-CN" sz="2400" dirty="0"/>
              <a:t>;</a:t>
            </a:r>
            <a:endParaRPr lang="en-US" altLang="zh-CN" sz="2800" dirty="0"/>
          </a:p>
          <a:p>
            <a:pPr eaLnBrk="1" hangingPunct="1"/>
            <a:r>
              <a:rPr lang="zh-CN" altLang="en-US" sz="2800" dirty="0"/>
              <a:t>名字等价：</a:t>
            </a:r>
            <a:r>
              <a:rPr lang="en-US" altLang="zh-CN" sz="2800" dirty="0"/>
              <a:t>next, last</a:t>
            </a:r>
            <a:r>
              <a:rPr lang="zh-CN" altLang="en-US" sz="2800" dirty="0"/>
              <a:t>类型相同，</a:t>
            </a:r>
            <a:r>
              <a:rPr lang="en-US" altLang="zh-CN" sz="2800" dirty="0"/>
              <a:t>q, r</a:t>
            </a:r>
            <a:r>
              <a:rPr lang="zh-CN" altLang="en-US" sz="2800" dirty="0"/>
              <a:t>类型相同，</a:t>
            </a:r>
            <a:r>
              <a:rPr lang="en-US" altLang="zh-CN" sz="2800" dirty="0"/>
              <a:t>p, next, q</a:t>
            </a:r>
            <a:r>
              <a:rPr lang="zh-CN" altLang="en-US" sz="2800" dirty="0"/>
              <a:t>类型不同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E1140B9-052B-4865-9AF5-7DF18711A0C1}"/>
              </a:ext>
            </a:extLst>
          </p:cNvPr>
          <p:cNvSpPr>
            <a:spLocks noGrp="1" noChangeArrowheads="1"/>
          </p:cNvSpPr>
          <p:nvPr>
            <p:ph type="title"/>
          </p:nvPr>
        </p:nvSpPr>
        <p:spPr/>
        <p:txBody>
          <a:bodyPr/>
          <a:lstStyle/>
          <a:p>
            <a:pPr eaLnBrk="1" hangingPunct="1"/>
            <a:r>
              <a:rPr lang="zh-CN" altLang="en-US"/>
              <a:t>例</a:t>
            </a:r>
            <a:r>
              <a:rPr lang="en-US" altLang="zh-CN"/>
              <a:t>6.3</a:t>
            </a:r>
            <a:r>
              <a:rPr lang="zh-CN" altLang="en-US"/>
              <a:t>（续）</a:t>
            </a:r>
          </a:p>
        </p:txBody>
      </p:sp>
      <p:sp>
        <p:nvSpPr>
          <p:cNvPr id="33795" name="Rectangle 3">
            <a:extLst>
              <a:ext uri="{FF2B5EF4-FFF2-40B4-BE49-F238E27FC236}">
                <a16:creationId xmlns:a16="http://schemas.microsoft.com/office/drawing/2014/main" id="{813256E6-5F26-4BD6-8EC9-EC9D0F531E46}"/>
              </a:ext>
            </a:extLst>
          </p:cNvPr>
          <p:cNvSpPr>
            <a:spLocks noGrp="1" noChangeArrowheads="1"/>
          </p:cNvSpPr>
          <p:nvPr>
            <p:ph type="body" idx="1"/>
          </p:nvPr>
        </p:nvSpPr>
        <p:spPr/>
        <p:txBody>
          <a:bodyPr/>
          <a:lstStyle/>
          <a:p>
            <a:pPr eaLnBrk="1" hangingPunct="1"/>
            <a:r>
              <a:rPr lang="zh-CN" altLang="en-US" sz="2800"/>
              <a:t>实现方式</a:t>
            </a:r>
            <a:r>
              <a:rPr lang="en-US" altLang="zh-CN" sz="2800"/>
              <a:t>——</a:t>
            </a:r>
            <a:r>
              <a:rPr lang="zh-CN" altLang="en-US" sz="2800"/>
              <a:t>构造类型图</a:t>
            </a:r>
          </a:p>
          <a:p>
            <a:pPr lvl="1" eaLnBrk="1" hangingPunct="1"/>
            <a:r>
              <a:rPr lang="zh-CN" altLang="en-US" sz="2400"/>
              <a:t>对基本类型和类型构造符</a:t>
            </a:r>
            <a:r>
              <a:rPr lang="en-US" altLang="zh-CN" sz="2400"/>
              <a:t>——</a:t>
            </a:r>
            <a:r>
              <a:rPr lang="zh-CN" altLang="en-US" sz="2400"/>
              <a:t>创建新结点</a:t>
            </a:r>
          </a:p>
          <a:p>
            <a:pPr lvl="1" eaLnBrk="1" hangingPunct="1"/>
            <a:r>
              <a:rPr lang="zh-CN" altLang="en-US" sz="2400"/>
              <a:t>对新类型名</a:t>
            </a:r>
            <a:r>
              <a:rPr lang="en-US" altLang="zh-CN" sz="2400"/>
              <a:t>——</a:t>
            </a:r>
            <a:r>
              <a:rPr lang="zh-CN" altLang="en-US" sz="2400"/>
              <a:t>创建叶结点，保存与类型表达式的链接</a:t>
            </a:r>
          </a:p>
          <a:p>
            <a:pPr eaLnBrk="1" hangingPunct="1"/>
            <a:r>
              <a:rPr lang="zh-CN" altLang="en-US" sz="2800"/>
              <a:t>名字等价</a:t>
            </a:r>
            <a:r>
              <a:rPr lang="en-US" altLang="zh-CN" sz="2800"/>
              <a:t>——</a:t>
            </a:r>
            <a:r>
              <a:rPr lang="zh-CN" altLang="en-US" sz="2800"/>
              <a:t>相同结点</a:t>
            </a:r>
          </a:p>
        </p:txBody>
      </p:sp>
      <p:pic>
        <p:nvPicPr>
          <p:cNvPr id="33796" name="Picture 5" descr="name">
            <a:extLst>
              <a:ext uri="{FF2B5EF4-FFF2-40B4-BE49-F238E27FC236}">
                <a16:creationId xmlns:a16="http://schemas.microsoft.com/office/drawing/2014/main" id="{4AE88E00-300F-4A47-8AEC-6E6A7DC73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581400"/>
            <a:ext cx="5476875"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CD920B2-F82C-4E14-A690-E3466F83FADC}"/>
              </a:ext>
            </a:extLst>
          </p:cNvPr>
          <p:cNvSpPr>
            <a:spLocks noGrp="1" noChangeArrowheads="1"/>
          </p:cNvSpPr>
          <p:nvPr>
            <p:ph type="title"/>
          </p:nvPr>
        </p:nvSpPr>
        <p:spPr/>
        <p:txBody>
          <a:bodyPr/>
          <a:lstStyle/>
          <a:p>
            <a:pPr eaLnBrk="1" hangingPunct="1"/>
            <a:r>
              <a:rPr lang="en-US" altLang="zh-CN"/>
              <a:t>6.3.3  </a:t>
            </a:r>
            <a:r>
              <a:rPr lang="zh-CN" altLang="en-US"/>
              <a:t>回路问题</a:t>
            </a:r>
          </a:p>
        </p:txBody>
      </p:sp>
      <p:sp>
        <p:nvSpPr>
          <p:cNvPr id="34819" name="Rectangle 3">
            <a:extLst>
              <a:ext uri="{FF2B5EF4-FFF2-40B4-BE49-F238E27FC236}">
                <a16:creationId xmlns:a16="http://schemas.microsoft.com/office/drawing/2014/main" id="{3181382C-1B20-4868-A792-97F31F115804}"/>
              </a:ext>
            </a:extLst>
          </p:cNvPr>
          <p:cNvSpPr>
            <a:spLocks noGrp="1" noChangeArrowheads="1"/>
          </p:cNvSpPr>
          <p:nvPr>
            <p:ph type="body" idx="1"/>
          </p:nvPr>
        </p:nvSpPr>
        <p:spPr/>
        <p:txBody>
          <a:bodyPr/>
          <a:lstStyle/>
          <a:p>
            <a:pPr eaLnBrk="1" hangingPunct="1"/>
            <a:r>
              <a:rPr lang="zh-CN" altLang="en-US"/>
              <a:t>链表、树：递归定义</a:t>
            </a:r>
          </a:p>
          <a:p>
            <a:pPr eaLnBrk="1" hangingPunct="1"/>
            <a:r>
              <a:rPr lang="zh-CN" altLang="en-US"/>
              <a:t>实现：记录</a:t>
            </a:r>
            <a:r>
              <a:rPr lang="en-US" altLang="zh-CN"/>
              <a:t>——</a:t>
            </a:r>
            <a:r>
              <a:rPr lang="zh-CN" altLang="en-US"/>
              <a:t>数据、指向同一记录类型的指针</a:t>
            </a:r>
            <a:r>
              <a:rPr lang="zh-CN" altLang="en-US">
                <a:sym typeface="Wingdings" panose="05000000000000000000" pitchFamily="2" charset="2"/>
              </a:rPr>
              <a:t>回路</a:t>
            </a:r>
          </a:p>
          <a:p>
            <a:pPr eaLnBrk="1" hangingPunct="1">
              <a:lnSpc>
                <a:spcPct val="80000"/>
              </a:lnSpc>
              <a:spcBef>
                <a:spcPct val="10000"/>
              </a:spcBef>
              <a:buFont typeface="Wingdings" panose="05000000000000000000" pitchFamily="2" charset="2"/>
              <a:buNone/>
            </a:pPr>
            <a:r>
              <a:rPr lang="en-US" altLang="zh-CN" sz="2800"/>
              <a:t>type link = ^cell;</a:t>
            </a:r>
          </a:p>
          <a:p>
            <a:pPr eaLnBrk="1" hangingPunct="1">
              <a:lnSpc>
                <a:spcPct val="80000"/>
              </a:lnSpc>
              <a:spcBef>
                <a:spcPct val="10000"/>
              </a:spcBef>
              <a:buFont typeface="Wingdings" panose="05000000000000000000" pitchFamily="2" charset="2"/>
              <a:buNone/>
            </a:pPr>
            <a:r>
              <a:rPr lang="en-US" altLang="zh-CN" sz="2800"/>
              <a:t>	    cell = record</a:t>
            </a:r>
          </a:p>
          <a:p>
            <a:pPr eaLnBrk="1" hangingPunct="1">
              <a:lnSpc>
                <a:spcPct val="80000"/>
              </a:lnSpc>
              <a:spcBef>
                <a:spcPct val="10000"/>
              </a:spcBef>
              <a:buFont typeface="Wingdings" panose="05000000000000000000" pitchFamily="2" charset="2"/>
              <a:buNone/>
            </a:pPr>
            <a:r>
              <a:rPr lang="en-US" altLang="zh-CN" sz="2800"/>
              <a:t>			info : integer;</a:t>
            </a:r>
          </a:p>
          <a:p>
            <a:pPr eaLnBrk="1" hangingPunct="1">
              <a:lnSpc>
                <a:spcPct val="80000"/>
              </a:lnSpc>
              <a:spcBef>
                <a:spcPct val="10000"/>
              </a:spcBef>
              <a:buFont typeface="Wingdings" panose="05000000000000000000" pitchFamily="2" charset="2"/>
              <a:buNone/>
            </a:pPr>
            <a:r>
              <a:rPr lang="en-US" altLang="zh-CN" sz="2800"/>
              <a:t>			next : link;</a:t>
            </a:r>
          </a:p>
          <a:p>
            <a:pPr eaLnBrk="1" hangingPunct="1">
              <a:lnSpc>
                <a:spcPct val="80000"/>
              </a:lnSpc>
              <a:spcBef>
                <a:spcPct val="10000"/>
              </a:spcBef>
              <a:buFont typeface="Wingdings" panose="05000000000000000000" pitchFamily="2" charset="2"/>
              <a:buNone/>
            </a:pPr>
            <a:r>
              <a:rPr lang="en-US" altLang="zh-CN" sz="2800"/>
              <a:t>		        end;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93438A1-99D0-4A46-B5A4-77DF7DBC0487}"/>
              </a:ext>
            </a:extLst>
          </p:cNvPr>
          <p:cNvSpPr>
            <a:spLocks noGrp="1" noChangeArrowheads="1"/>
          </p:cNvSpPr>
          <p:nvPr>
            <p:ph type="title"/>
          </p:nvPr>
        </p:nvSpPr>
        <p:spPr/>
        <p:txBody>
          <a:bodyPr/>
          <a:lstStyle/>
          <a:p>
            <a:pPr eaLnBrk="1" hangingPunct="1"/>
            <a:r>
              <a:rPr lang="zh-CN" altLang="en-US"/>
              <a:t>回路问题（续）</a:t>
            </a:r>
          </a:p>
        </p:txBody>
      </p:sp>
      <p:sp>
        <p:nvSpPr>
          <p:cNvPr id="35843" name="Rectangle 3">
            <a:extLst>
              <a:ext uri="{FF2B5EF4-FFF2-40B4-BE49-F238E27FC236}">
                <a16:creationId xmlns:a16="http://schemas.microsoft.com/office/drawing/2014/main" id="{D4BAC96D-9C67-4FED-886D-15392F44D699}"/>
              </a:ext>
            </a:extLst>
          </p:cNvPr>
          <p:cNvSpPr>
            <a:spLocks noGrp="1" noChangeArrowheads="1"/>
          </p:cNvSpPr>
          <p:nvPr>
            <p:ph type="body" idx="1"/>
          </p:nvPr>
        </p:nvSpPr>
        <p:spPr>
          <a:xfrm>
            <a:off x="1182688" y="1371600"/>
            <a:ext cx="7772400" cy="1219200"/>
          </a:xfrm>
        </p:spPr>
        <p:txBody>
          <a:bodyPr/>
          <a:lstStyle/>
          <a:p>
            <a:pPr eaLnBrk="1" hangingPunct="1"/>
            <a:r>
              <a:rPr lang="zh-CN" altLang="en-US"/>
              <a:t>将递归定义的类型名替换为类型表达式，类型图中会产生回路</a:t>
            </a:r>
          </a:p>
        </p:txBody>
      </p:sp>
      <p:pic>
        <p:nvPicPr>
          <p:cNvPr id="35844" name="Picture 4" descr="cycle">
            <a:extLst>
              <a:ext uri="{FF2B5EF4-FFF2-40B4-BE49-F238E27FC236}">
                <a16:creationId xmlns:a16="http://schemas.microsoft.com/office/drawing/2014/main" id="{AB89126C-6551-4B22-A106-6D16152D8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14600"/>
            <a:ext cx="7794625" cy="313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F36FEB8-E6A8-4585-8BBE-1EAFB4E7B03C}"/>
              </a:ext>
            </a:extLst>
          </p:cNvPr>
          <p:cNvSpPr>
            <a:spLocks noGrp="1" noChangeArrowheads="1"/>
          </p:cNvSpPr>
          <p:nvPr>
            <p:ph type="title"/>
          </p:nvPr>
        </p:nvSpPr>
        <p:spPr/>
        <p:txBody>
          <a:bodyPr/>
          <a:lstStyle/>
          <a:p>
            <a:pPr eaLnBrk="1" hangingPunct="1"/>
            <a:r>
              <a:rPr lang="zh-CN" altLang="en-US"/>
              <a:t>例</a:t>
            </a:r>
            <a:r>
              <a:rPr lang="en-US" altLang="zh-CN"/>
              <a:t>6.4  C</a:t>
            </a:r>
            <a:r>
              <a:rPr lang="zh-CN" altLang="en-US"/>
              <a:t>语言避免回路</a:t>
            </a:r>
          </a:p>
        </p:txBody>
      </p:sp>
      <p:sp>
        <p:nvSpPr>
          <p:cNvPr id="36867" name="Rectangle 3">
            <a:extLst>
              <a:ext uri="{FF2B5EF4-FFF2-40B4-BE49-F238E27FC236}">
                <a16:creationId xmlns:a16="http://schemas.microsoft.com/office/drawing/2014/main" id="{3B418FCF-AB67-4A0B-BB90-889A49F706F6}"/>
              </a:ext>
            </a:extLst>
          </p:cNvPr>
          <p:cNvSpPr>
            <a:spLocks noGrp="1" noChangeArrowheads="1"/>
          </p:cNvSpPr>
          <p:nvPr>
            <p:ph type="body" idx="1"/>
          </p:nvPr>
        </p:nvSpPr>
        <p:spPr>
          <a:xfrm>
            <a:off x="1182688" y="1371600"/>
            <a:ext cx="7772400" cy="5181600"/>
          </a:xfrm>
        </p:spPr>
        <p:txBody>
          <a:bodyPr/>
          <a:lstStyle/>
          <a:p>
            <a:pPr eaLnBrk="1" hangingPunct="1"/>
            <a:r>
              <a:rPr lang="zh-CN" altLang="en-US" sz="2800"/>
              <a:t>对除记录之外的类型使用结构等价</a:t>
            </a:r>
          </a:p>
          <a:p>
            <a:pPr eaLnBrk="1" hangingPunct="1">
              <a:lnSpc>
                <a:spcPct val="80000"/>
              </a:lnSpc>
              <a:spcBef>
                <a:spcPct val="10000"/>
              </a:spcBef>
              <a:buFont typeface="Wingdings" panose="05000000000000000000" pitchFamily="2" charset="2"/>
              <a:buNone/>
            </a:pPr>
            <a:r>
              <a:rPr lang="en-US" altLang="zh-CN" sz="2400"/>
              <a:t>struct cell {</a:t>
            </a:r>
          </a:p>
          <a:p>
            <a:pPr eaLnBrk="1" hangingPunct="1">
              <a:lnSpc>
                <a:spcPct val="80000"/>
              </a:lnSpc>
              <a:spcBef>
                <a:spcPct val="10000"/>
              </a:spcBef>
              <a:buFont typeface="Wingdings" panose="05000000000000000000" pitchFamily="2" charset="2"/>
              <a:buNone/>
            </a:pPr>
            <a:r>
              <a:rPr lang="en-US" altLang="zh-CN" sz="2400"/>
              <a:t>	int info;</a:t>
            </a:r>
          </a:p>
          <a:p>
            <a:pPr eaLnBrk="1" hangingPunct="1">
              <a:lnSpc>
                <a:spcPct val="80000"/>
              </a:lnSpc>
              <a:spcBef>
                <a:spcPct val="10000"/>
              </a:spcBef>
              <a:buFont typeface="Wingdings" panose="05000000000000000000" pitchFamily="2" charset="2"/>
              <a:buNone/>
            </a:pPr>
            <a:r>
              <a:rPr lang="en-US" altLang="zh-CN" sz="2400"/>
              <a:t>	struct cell *next;</a:t>
            </a:r>
          </a:p>
          <a:p>
            <a:pPr eaLnBrk="1" hangingPunct="1">
              <a:lnSpc>
                <a:spcPct val="80000"/>
              </a:lnSpc>
              <a:spcBef>
                <a:spcPct val="10000"/>
              </a:spcBef>
              <a:buFont typeface="Wingdings" panose="05000000000000000000" pitchFamily="2" charset="2"/>
              <a:buNone/>
            </a:pPr>
            <a:r>
              <a:rPr lang="en-US" altLang="zh-CN" sz="2400"/>
              <a:t>};</a:t>
            </a:r>
          </a:p>
          <a:p>
            <a:pPr eaLnBrk="1" hangingPunct="1"/>
            <a:r>
              <a:rPr lang="en-US" altLang="zh-CN" sz="2800"/>
              <a:t>C</a:t>
            </a:r>
            <a:r>
              <a:rPr lang="zh-CN" altLang="en-US" sz="2800"/>
              <a:t>语言要求类型名在使用前声明</a:t>
            </a:r>
          </a:p>
          <a:p>
            <a:pPr eaLnBrk="1" hangingPunct="1"/>
            <a:r>
              <a:rPr lang="zh-CN" altLang="en-US" sz="2800"/>
              <a:t>例外：未定义记录类型的指针</a:t>
            </a:r>
          </a:p>
          <a:p>
            <a:pPr eaLnBrk="1" hangingPunct="1"/>
            <a:r>
              <a:rPr lang="zh-CN" altLang="en-US" sz="2800"/>
              <a:t>回路：只可能是记录指针引起</a:t>
            </a:r>
          </a:p>
          <a:p>
            <a:pPr eaLnBrk="1" hangingPunct="1"/>
            <a:r>
              <a:rPr lang="zh-CN" altLang="en-US" sz="2800"/>
              <a:t>结构等价判定遇到记录类型停止：只有名字相同的记录才认为类型相同</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76F30182-ED8B-415B-BEED-0309CD7D0AA3}"/>
              </a:ext>
            </a:extLst>
          </p:cNvPr>
          <p:cNvSpPr>
            <a:spLocks noGrp="1" noChangeArrowheads="1"/>
          </p:cNvSpPr>
          <p:nvPr>
            <p:ph type="title"/>
          </p:nvPr>
        </p:nvSpPr>
        <p:spPr/>
        <p:txBody>
          <a:bodyPr/>
          <a:lstStyle/>
          <a:p>
            <a:pPr eaLnBrk="1" hangingPunct="1"/>
            <a:r>
              <a:rPr lang="en-US" altLang="zh-CN"/>
              <a:t>6.4  </a:t>
            </a:r>
            <a:r>
              <a:rPr lang="zh-CN" altLang="en-US"/>
              <a:t>类型转换</a:t>
            </a:r>
          </a:p>
        </p:txBody>
      </p:sp>
      <p:sp>
        <p:nvSpPr>
          <p:cNvPr id="37891" name="Rectangle 3">
            <a:extLst>
              <a:ext uri="{FF2B5EF4-FFF2-40B4-BE49-F238E27FC236}">
                <a16:creationId xmlns:a16="http://schemas.microsoft.com/office/drawing/2014/main" id="{F2D550F2-4851-475F-A319-5E6383CAC835}"/>
              </a:ext>
            </a:extLst>
          </p:cNvPr>
          <p:cNvSpPr>
            <a:spLocks noGrp="1" noChangeArrowheads="1"/>
          </p:cNvSpPr>
          <p:nvPr>
            <p:ph type="body" idx="1"/>
          </p:nvPr>
        </p:nvSpPr>
        <p:spPr>
          <a:xfrm>
            <a:off x="1182688" y="1371600"/>
            <a:ext cx="7772400" cy="4953000"/>
          </a:xfrm>
        </p:spPr>
        <p:txBody>
          <a:bodyPr/>
          <a:lstStyle/>
          <a:p>
            <a:pPr eaLnBrk="1" hangingPunct="1"/>
            <a:r>
              <a:rPr lang="en-US" altLang="zh-CN" sz="2800"/>
              <a:t>x+i</a:t>
            </a:r>
            <a:r>
              <a:rPr lang="zh-CN" altLang="en-US" sz="2800"/>
              <a:t>，</a:t>
            </a:r>
            <a:r>
              <a:rPr lang="en-US" altLang="zh-CN" sz="2800"/>
              <a:t>x</a:t>
            </a:r>
            <a:r>
              <a:rPr lang="zh-CN" altLang="en-US" sz="2800"/>
              <a:t>为实型，</a:t>
            </a:r>
            <a:r>
              <a:rPr lang="en-US" altLang="zh-CN" sz="2800"/>
              <a:t>i</a:t>
            </a:r>
            <a:r>
              <a:rPr lang="zh-CN" altLang="en-US" sz="2800"/>
              <a:t>为整型</a:t>
            </a:r>
          </a:p>
          <a:p>
            <a:pPr lvl="1" eaLnBrk="1" hangingPunct="1"/>
            <a:r>
              <a:rPr lang="zh-CN" altLang="en-US" sz="2400"/>
              <a:t>不同保存格式，不同加法指令</a:t>
            </a:r>
          </a:p>
          <a:p>
            <a:pPr lvl="1" eaLnBrk="1" hangingPunct="1"/>
            <a:r>
              <a:rPr lang="zh-CN" altLang="en-US" sz="2400"/>
              <a:t>转换为相同类型进行运算</a:t>
            </a:r>
          </a:p>
          <a:p>
            <a:pPr eaLnBrk="1" hangingPunct="1"/>
            <a:r>
              <a:rPr lang="zh-CN" altLang="en-US" sz="2800"/>
              <a:t>语言定义指定转换方法</a:t>
            </a:r>
          </a:p>
          <a:p>
            <a:pPr lvl="1" eaLnBrk="1" hangingPunct="1"/>
            <a:r>
              <a:rPr lang="zh-CN" altLang="en-US" sz="2400"/>
              <a:t>赋值：转换为左部类型</a:t>
            </a:r>
          </a:p>
          <a:p>
            <a:pPr lvl="1" eaLnBrk="1" hangingPunct="1"/>
            <a:r>
              <a:rPr lang="zh-CN" altLang="en-US" sz="2400"/>
              <a:t>表达式：</a:t>
            </a:r>
            <a:r>
              <a:rPr lang="en-US" altLang="zh-CN" sz="2400"/>
              <a:t>int</a:t>
            </a:r>
            <a:r>
              <a:rPr lang="en-US" altLang="zh-CN" sz="2400">
                <a:sym typeface="Wingdings" panose="05000000000000000000" pitchFamily="2" charset="2"/>
              </a:rPr>
              <a:t>real</a:t>
            </a:r>
          </a:p>
          <a:p>
            <a:pPr lvl="1" eaLnBrk="1" hangingPunct="1"/>
            <a:r>
              <a:rPr lang="zh-CN" altLang="en-US" sz="2400">
                <a:sym typeface="Wingdings" panose="05000000000000000000" pitchFamily="2" charset="2"/>
              </a:rPr>
              <a:t>类型检查器完成转换操作的生成</a:t>
            </a:r>
          </a:p>
          <a:p>
            <a:pPr lvl="1" eaLnBrk="1" hangingPunct="1"/>
            <a:r>
              <a:rPr lang="en-US" altLang="zh-CN" sz="2400">
                <a:sym typeface="Wingdings" panose="05000000000000000000" pitchFamily="2" charset="2"/>
              </a:rPr>
              <a:t>x i </a:t>
            </a:r>
            <a:r>
              <a:rPr lang="en-US" altLang="zh-CN" sz="2400" b="1">
                <a:sym typeface="Wingdings" panose="05000000000000000000" pitchFamily="2" charset="2"/>
              </a:rPr>
              <a:t>inttoreal real</a:t>
            </a:r>
            <a:r>
              <a:rPr lang="en-US" altLang="zh-CN" sz="2400">
                <a:sym typeface="Wingdings" panose="05000000000000000000" pitchFamily="2" charset="2"/>
              </a:rPr>
              <a:t>+</a:t>
            </a:r>
          </a:p>
          <a:p>
            <a:pPr eaLnBrk="1" hangingPunct="1"/>
            <a:r>
              <a:rPr lang="zh-CN" altLang="en-US" sz="2800"/>
              <a:t>类型转换与重载紧密相连</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6AEC60D-17D0-4254-9AD3-7695A64ED48D}"/>
              </a:ext>
            </a:extLst>
          </p:cNvPr>
          <p:cNvSpPr>
            <a:spLocks noGrp="1" noChangeArrowheads="1"/>
          </p:cNvSpPr>
          <p:nvPr>
            <p:ph type="title"/>
          </p:nvPr>
        </p:nvSpPr>
        <p:spPr/>
        <p:txBody>
          <a:bodyPr/>
          <a:lstStyle/>
          <a:p>
            <a:pPr eaLnBrk="1" hangingPunct="1"/>
            <a:r>
              <a:rPr lang="zh-CN" altLang="en-US"/>
              <a:t>强制类型转换（</a:t>
            </a:r>
            <a:r>
              <a:rPr lang="en-US" altLang="zh-CN">
                <a:solidFill>
                  <a:schemeClr val="hlink"/>
                </a:solidFill>
              </a:rPr>
              <a:t>coercion</a:t>
            </a:r>
            <a:r>
              <a:rPr lang="zh-CN" altLang="en-US"/>
              <a:t>）</a:t>
            </a:r>
          </a:p>
        </p:txBody>
      </p:sp>
      <p:sp>
        <p:nvSpPr>
          <p:cNvPr id="38915" name="Rectangle 3">
            <a:extLst>
              <a:ext uri="{FF2B5EF4-FFF2-40B4-BE49-F238E27FC236}">
                <a16:creationId xmlns:a16="http://schemas.microsoft.com/office/drawing/2014/main" id="{5679F992-04D2-4F37-B293-6A59349B0C38}"/>
              </a:ext>
            </a:extLst>
          </p:cNvPr>
          <p:cNvSpPr>
            <a:spLocks noGrp="1" noChangeArrowheads="1"/>
          </p:cNvSpPr>
          <p:nvPr>
            <p:ph type="body" idx="1"/>
          </p:nvPr>
        </p:nvSpPr>
        <p:spPr>
          <a:xfrm>
            <a:off x="1182688" y="1371600"/>
            <a:ext cx="7772400" cy="5029200"/>
          </a:xfrm>
        </p:spPr>
        <p:txBody>
          <a:bodyPr/>
          <a:lstStyle/>
          <a:p>
            <a:pPr eaLnBrk="1" hangingPunct="1"/>
            <a:r>
              <a:rPr lang="zh-CN" altLang="en-US" sz="2800"/>
              <a:t>编译器自动进行的隐含的类型转换</a:t>
            </a:r>
          </a:p>
          <a:p>
            <a:pPr eaLnBrk="1" hangingPunct="1"/>
            <a:r>
              <a:rPr lang="zh-CN" altLang="en-US" sz="2800"/>
              <a:t>一般要求：不能丢失信息</a:t>
            </a:r>
          </a:p>
          <a:p>
            <a:pPr eaLnBrk="1" hangingPunct="1"/>
            <a:r>
              <a:rPr lang="zh-CN" altLang="en-US" sz="2800"/>
              <a:t>显式（</a:t>
            </a:r>
            <a:r>
              <a:rPr lang="en-US" altLang="zh-CN" sz="2800">
                <a:solidFill>
                  <a:schemeClr val="hlink"/>
                </a:solidFill>
              </a:rPr>
              <a:t>explicit</a:t>
            </a:r>
            <a:r>
              <a:rPr lang="zh-CN" altLang="en-US" sz="2800"/>
              <a:t>）类型转换：程序员</a:t>
            </a:r>
          </a:p>
          <a:p>
            <a:pPr lvl="1" eaLnBrk="1" hangingPunct="1"/>
            <a:r>
              <a:rPr lang="en-US" altLang="zh-CN" sz="2400"/>
              <a:t>C</a:t>
            </a:r>
            <a:r>
              <a:rPr lang="zh-CN" altLang="en-US" sz="2400"/>
              <a:t>：</a:t>
            </a:r>
            <a:r>
              <a:rPr lang="en-US" altLang="zh-CN" sz="2400"/>
              <a:t>(float)10</a:t>
            </a:r>
          </a:p>
          <a:p>
            <a:pPr lvl="1" eaLnBrk="1" hangingPunct="1"/>
            <a:r>
              <a:rPr lang="en-US" altLang="zh-CN" sz="2400"/>
              <a:t>Pascal</a:t>
            </a:r>
            <a:r>
              <a:rPr lang="zh-CN" altLang="en-US" sz="2400"/>
              <a:t>：</a:t>
            </a:r>
            <a:r>
              <a:rPr lang="en-US" altLang="zh-CN" sz="2400"/>
              <a:t>ord(‘a’)——</a:t>
            </a:r>
            <a:r>
              <a:rPr lang="zh-CN" altLang="en-US" sz="2400"/>
              <a:t>字符型</a:t>
            </a:r>
            <a:r>
              <a:rPr lang="zh-CN" altLang="en-US" sz="2400">
                <a:sym typeface="Wingdings" panose="05000000000000000000" pitchFamily="2" charset="2"/>
              </a:rPr>
              <a:t>整型</a:t>
            </a:r>
            <a:br>
              <a:rPr lang="zh-CN" altLang="en-US" sz="2400">
                <a:sym typeface="Wingdings" panose="05000000000000000000" pitchFamily="2" charset="2"/>
              </a:rPr>
            </a:br>
            <a:r>
              <a:rPr lang="zh-CN" altLang="en-US" sz="2400">
                <a:sym typeface="Wingdings" panose="05000000000000000000" pitchFamily="2" charset="2"/>
              </a:rPr>
              <a:t>		  </a:t>
            </a:r>
            <a:r>
              <a:rPr lang="en-US" altLang="zh-CN" sz="2400">
                <a:sym typeface="Wingdings" panose="05000000000000000000" pitchFamily="2" charset="2"/>
              </a:rPr>
              <a:t>chr(65)——</a:t>
            </a:r>
            <a:r>
              <a:rPr lang="zh-CN" altLang="en-US" sz="2400">
                <a:sym typeface="Wingdings" panose="05000000000000000000" pitchFamily="2" charset="2"/>
              </a:rPr>
              <a:t>整型字符型</a:t>
            </a:r>
          </a:p>
          <a:p>
            <a:pPr eaLnBrk="1" hangingPunct="1"/>
            <a:r>
              <a:rPr lang="zh-CN" altLang="en-US" sz="2800"/>
              <a:t>常量类型转换编译时进行，提高性能</a:t>
            </a:r>
          </a:p>
          <a:p>
            <a:pPr lvl="1" eaLnBrk="1" hangingPunct="1"/>
            <a:r>
              <a:rPr lang="en-US" altLang="zh-CN" sz="2400"/>
              <a:t>for I := 1 to N do X[I] := 1——48.4N ms</a:t>
            </a:r>
          </a:p>
          <a:p>
            <a:pPr lvl="1" eaLnBrk="1" hangingPunct="1"/>
            <a:r>
              <a:rPr lang="en-US" altLang="zh-CN" sz="2400"/>
              <a:t>for I := 1 to N do X[I] := 1.0——5.4N 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66E2892-A4AF-4C9F-9A18-560987A461D4}"/>
              </a:ext>
            </a:extLst>
          </p:cNvPr>
          <p:cNvSpPr>
            <a:spLocks noGrp="1" noChangeArrowheads="1"/>
          </p:cNvSpPr>
          <p:nvPr>
            <p:ph type="title"/>
          </p:nvPr>
        </p:nvSpPr>
        <p:spPr/>
        <p:txBody>
          <a:bodyPr/>
          <a:lstStyle/>
          <a:p>
            <a:pPr eaLnBrk="1" hangingPunct="1"/>
            <a:r>
              <a:rPr lang="zh-CN" altLang="en-US"/>
              <a:t>例</a:t>
            </a:r>
            <a:r>
              <a:rPr lang="en-US" altLang="zh-CN"/>
              <a:t>6.5</a:t>
            </a:r>
          </a:p>
        </p:txBody>
      </p:sp>
      <p:sp>
        <p:nvSpPr>
          <p:cNvPr id="39939" name="Rectangle 3">
            <a:extLst>
              <a:ext uri="{FF2B5EF4-FFF2-40B4-BE49-F238E27FC236}">
                <a16:creationId xmlns:a16="http://schemas.microsoft.com/office/drawing/2014/main" id="{F8365CC4-FAFF-4096-AFB3-7D0D6F243474}"/>
              </a:ext>
            </a:extLst>
          </p:cNvPr>
          <p:cNvSpPr>
            <a:spLocks noGrp="1" noChangeArrowheads="1"/>
          </p:cNvSpPr>
          <p:nvPr>
            <p:ph type="body" idx="1"/>
          </p:nvPr>
        </p:nvSpPr>
        <p:spPr>
          <a:xfrm>
            <a:off x="533400" y="1371600"/>
            <a:ext cx="8421688" cy="5029200"/>
          </a:xfrm>
        </p:spPr>
        <p:txBody>
          <a:bodyPr/>
          <a:lstStyle/>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integer</a:t>
            </a:r>
            <a:r>
              <a:rPr lang="en-US" altLang="zh-CN" sz="2400">
                <a:sym typeface="Symbol" panose="05050102010706020507" pitchFamily="18" charset="2"/>
              </a:rPr>
              <a:t> }</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a:t>
            </a:r>
            <a:r>
              <a:rPr lang="en-US" altLang="zh-CN" sz="2400" b="1">
                <a:solidFill>
                  <a:schemeClr val="accent2"/>
                </a:solidFill>
                <a:sym typeface="Symbol" panose="05050102010706020507" pitchFamily="18" charset="2"/>
              </a:rPr>
              <a:t>num</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real</a:t>
            </a:r>
            <a:r>
              <a:rPr lang="en-US" altLang="zh-CN" sz="2400">
                <a:sym typeface="Symbol" panose="05050102010706020507" pitchFamily="18" charset="2"/>
              </a:rPr>
              <a:t> }</a:t>
            </a:r>
            <a:endParaRPr lang="en-US" altLang="zh-CN" sz="2400"/>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a:t>
            </a:r>
            <a:r>
              <a:rPr lang="en-US" altLang="zh-CN" sz="2400" b="1">
                <a:solidFill>
                  <a:schemeClr val="accent2"/>
                </a:solidFill>
                <a:sym typeface="Symbol" panose="05050102010706020507" pitchFamily="18" charset="2"/>
              </a:rPr>
              <a:t>id</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i="1">
                <a:sym typeface="Symbol" panose="05050102010706020507" pitchFamily="18" charset="2"/>
              </a:rPr>
              <a:t>lookup</a:t>
            </a:r>
            <a:r>
              <a:rPr lang="en-US" altLang="zh-CN" sz="2400">
                <a:sym typeface="Symbol" panose="05050102010706020507" pitchFamily="18" charset="2"/>
              </a:rPr>
              <a:t>(</a:t>
            </a:r>
            <a:r>
              <a:rPr lang="en-US" altLang="zh-CN" sz="2400" b="1">
                <a:solidFill>
                  <a:schemeClr val="accent2"/>
                </a:solidFill>
                <a:sym typeface="Symbol" panose="05050102010706020507" pitchFamily="18" charset="2"/>
              </a:rPr>
              <a:t>id</a:t>
            </a:r>
            <a:r>
              <a:rPr lang="en-US" altLang="zh-CN" sz="2400">
                <a:sym typeface="Symbol" panose="05050102010706020507" pitchFamily="18" charset="2"/>
              </a:rPr>
              <a:t>.</a:t>
            </a:r>
            <a:r>
              <a:rPr lang="en-US" altLang="zh-CN" sz="2400" i="1">
                <a:sym typeface="Symbol" panose="05050102010706020507" pitchFamily="18" charset="2"/>
              </a:rPr>
              <a:t>entry</a:t>
            </a:r>
            <a:r>
              <a:rPr lang="en-US" altLang="zh-CN" sz="2400">
                <a:sym typeface="Symbol" panose="05050102010706020507" pitchFamily="18" charset="2"/>
              </a:rPr>
              <a:t>)}</a:t>
            </a:r>
            <a:endParaRPr lang="en-US" altLang="zh-CN" sz="2400">
              <a:solidFill>
                <a:schemeClr val="accent2"/>
              </a:solidFill>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a:t>
            </a:r>
            <a:r>
              <a:rPr lang="en-US" altLang="zh-CN" sz="2400" baseline="-25000">
                <a:sym typeface="Symbol" panose="05050102010706020507" pitchFamily="18" charset="2"/>
              </a:rPr>
              <a:t>1</a:t>
            </a:r>
            <a:r>
              <a:rPr lang="en-US" altLang="zh-CN" sz="2400">
                <a:sym typeface="Symbol" panose="05050102010706020507" pitchFamily="18" charset="2"/>
              </a:rPr>
              <a:t> </a:t>
            </a:r>
            <a:r>
              <a:rPr lang="en-US" altLang="zh-CN" sz="2400" b="1">
                <a:solidFill>
                  <a:schemeClr val="accent2"/>
                </a:solidFill>
                <a:sym typeface="Symbol" panose="05050102010706020507" pitchFamily="18" charset="2"/>
              </a:rPr>
              <a:t>op</a:t>
            </a:r>
            <a:r>
              <a:rPr lang="en-US" altLang="zh-CN" sz="2400">
                <a:solidFill>
                  <a:schemeClr val="accent2"/>
                </a:solidFill>
                <a:sym typeface="Symbol" panose="05050102010706020507" pitchFamily="18" charset="2"/>
              </a:rPr>
              <a:t> </a:t>
            </a:r>
            <a:r>
              <a:rPr lang="en-US" altLang="zh-CN" sz="2400">
                <a:sym typeface="Symbol" panose="05050102010706020507" pitchFamily="18" charset="2"/>
              </a:rPr>
              <a:t>E</a:t>
            </a:r>
            <a:r>
              <a:rPr lang="en-US" altLang="zh-CN" sz="2400" baseline="-25000">
                <a:sym typeface="Symbol" panose="05050102010706020507" pitchFamily="18" charset="2"/>
              </a:rPr>
              <a:t>2</a:t>
            </a:r>
            <a:r>
              <a:rPr lang="en-US" altLang="zh-CN" sz="2400">
                <a:sym typeface="Symbol" panose="05050102010706020507" pitchFamily="18" charset="2"/>
              </a:rPr>
              <a:t>	{E.</a:t>
            </a:r>
            <a:r>
              <a:rPr lang="en-US" altLang="zh-CN" sz="2400" i="1">
                <a:sym typeface="Symbol" panose="05050102010706020507" pitchFamily="18" charset="2"/>
              </a:rPr>
              <a:t>type</a:t>
            </a:r>
            <a:r>
              <a:rPr lang="en-US" altLang="zh-CN" sz="2400">
                <a:sym typeface="Symbol" panose="05050102010706020507" pitchFamily="18" charset="2"/>
              </a:rPr>
              <a:t> =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integer </a:t>
            </a: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b="1">
                <a:sym typeface="Symbol" panose="05050102010706020507" pitchFamily="18" charset="2"/>
              </a:rPr>
              <a:t>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 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integer</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 if</a:t>
            </a:r>
            <a:r>
              <a:rPr lang="en-US" altLang="zh-CN" sz="2400">
                <a:sym typeface="Symbol" panose="05050102010706020507" pitchFamily="18" charset="2"/>
              </a:rPr>
              <a:t> (E</a:t>
            </a:r>
            <a:r>
              <a:rPr lang="en-US" altLang="zh-CN" sz="2400" baseline="-25000">
                <a:sym typeface="Symbol" panose="05050102010706020507" pitchFamily="18" charset="2"/>
              </a:rPr>
              <a:t>1</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a:t>
            </a:r>
            <a:r>
              <a:rPr lang="en-US" altLang="zh-CN" sz="2400" b="1">
                <a:sym typeface="Symbol" panose="05050102010706020507" pitchFamily="18" charset="2"/>
              </a:rPr>
              <a:t>and</a:t>
            </a:r>
            <a:r>
              <a:rPr lang="en-US" altLang="zh-CN" sz="2400">
                <a:sym typeface="Symbol" panose="05050102010706020507" pitchFamily="18" charset="2"/>
              </a:rPr>
              <a:t> (E</a:t>
            </a:r>
            <a:r>
              <a:rPr lang="en-US" altLang="zh-CN" sz="2400" baseline="-25000">
                <a:sym typeface="Symbol" panose="05050102010706020507" pitchFamily="18" charset="2"/>
              </a:rPr>
              <a:t>2</a:t>
            </a:r>
            <a:r>
              <a:rPr lang="en-US" altLang="zh-CN" sz="2400">
                <a:sym typeface="Symbol" panose="05050102010706020507" pitchFamily="18" charset="2"/>
              </a:rPr>
              <a:t>.type == </a:t>
            </a:r>
            <a:r>
              <a:rPr lang="en-US" altLang="zh-CN" sz="2400" i="1">
                <a:sym typeface="Symbol" panose="05050102010706020507" pitchFamily="18" charset="2"/>
              </a:rPr>
              <a:t>real</a:t>
            </a:r>
            <a:r>
              <a:rPr lang="en-US" altLang="zh-CN" sz="2400">
                <a:sym typeface="Symbol" panose="05050102010706020507" pitchFamily="18" charset="2"/>
              </a:rPr>
              <a:t>) </a:t>
            </a:r>
            <a:r>
              <a:rPr lang="en-US" altLang="zh-CN" sz="2400" b="1">
                <a:sym typeface="Symbol" panose="05050102010706020507" pitchFamily="18" charset="2"/>
              </a:rPr>
              <a:t>then</a:t>
            </a:r>
            <a:r>
              <a:rPr lang="en-US" altLang="zh-CN" sz="2400">
                <a:sym typeface="Symbol" panose="05050102010706020507" pitchFamily="18" charset="2"/>
              </a:rPr>
              <a:t> </a:t>
            </a:r>
            <a:r>
              <a:rPr lang="en-US" altLang="zh-CN" sz="2400" i="1">
                <a:sym typeface="Symbol" panose="05050102010706020507" pitchFamily="18" charset="2"/>
              </a:rPr>
              <a:t>real</a:t>
            </a: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b="1">
                <a:sym typeface="Symbol" panose="05050102010706020507" pitchFamily="18" charset="2"/>
              </a:rPr>
              <a:t>else</a:t>
            </a:r>
            <a:r>
              <a:rPr lang="en-US" altLang="zh-CN" sz="2400">
                <a:sym typeface="Symbol" panose="05050102010706020507" pitchFamily="18" charset="2"/>
              </a:rPr>
              <a:t> </a:t>
            </a:r>
            <a:r>
              <a:rPr lang="en-US" altLang="zh-CN" sz="2400" i="1">
                <a:sym typeface="Symbol" panose="05050102010706020507" pitchFamily="18" charset="2"/>
              </a:rPr>
              <a:t>type_error</a:t>
            </a:r>
          </a:p>
          <a:p>
            <a:pPr eaLnBrk="1" hangingPunct="1">
              <a:lnSpc>
                <a:spcPct val="80000"/>
              </a:lnSpc>
              <a:spcBef>
                <a:spcPct val="10000"/>
              </a:spcBef>
              <a:buFont typeface="Wingdings" panose="05000000000000000000" pitchFamily="2" charset="2"/>
              <a:buNone/>
            </a:pPr>
            <a:r>
              <a:rPr lang="en-US" altLang="zh-CN" sz="2400" i="1">
                <a:sym typeface="Symbol" panose="05050102010706020507" pitchFamily="18" charset="2"/>
              </a:rPr>
              <a:t>				</a:t>
            </a:r>
            <a:r>
              <a:rPr lang="en-US" altLang="zh-CN" sz="2400">
                <a:sym typeface="Symbol" panose="05050102010706020507" pitchFamily="18" charset="2"/>
              </a:rPr>
              <a:t>}</a:t>
            </a:r>
            <a:endParaRPr lang="en-US" altLang="zh-CN"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803C334-F4F4-47A3-8EFB-6522AFED3EEF}"/>
              </a:ext>
            </a:extLst>
          </p:cNvPr>
          <p:cNvSpPr>
            <a:spLocks noGrp="1" noChangeArrowheads="1"/>
          </p:cNvSpPr>
          <p:nvPr>
            <p:ph type="title"/>
          </p:nvPr>
        </p:nvSpPr>
        <p:spPr/>
        <p:txBody>
          <a:bodyPr/>
          <a:lstStyle/>
          <a:p>
            <a:pPr eaLnBrk="1" hangingPunct="1"/>
            <a:r>
              <a:rPr lang="en-US" altLang="zh-CN"/>
              <a:t>lcc</a:t>
            </a:r>
            <a:r>
              <a:rPr lang="zh-CN" altLang="en-US"/>
              <a:t>的类型</a:t>
            </a:r>
          </a:p>
        </p:txBody>
      </p:sp>
      <p:sp>
        <p:nvSpPr>
          <p:cNvPr id="40963" name="Rectangle 3">
            <a:extLst>
              <a:ext uri="{FF2B5EF4-FFF2-40B4-BE49-F238E27FC236}">
                <a16:creationId xmlns:a16="http://schemas.microsoft.com/office/drawing/2014/main" id="{0B394523-5928-4C88-89FD-D342ACBE464E}"/>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typedef struct type *Type;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struct type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op;</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type;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align;</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int size;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union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Symbol sym;</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struct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unsigned oldstyle:1;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*proto;</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f;</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u;</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Xtype x;</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p:txBody>
      </p:sp>
      <p:sp>
        <p:nvSpPr>
          <p:cNvPr id="40964" name="Text Box 4">
            <a:extLst>
              <a:ext uri="{FF2B5EF4-FFF2-40B4-BE49-F238E27FC236}">
                <a16:creationId xmlns:a16="http://schemas.microsoft.com/office/drawing/2014/main" id="{17CB8920-CE5C-4548-AEA8-7D4F52476DAC}"/>
              </a:ext>
            </a:extLst>
          </p:cNvPr>
          <p:cNvSpPr txBox="1">
            <a:spLocks noChangeArrowheads="1"/>
          </p:cNvSpPr>
          <p:nvPr/>
        </p:nvSpPr>
        <p:spPr bwMode="auto">
          <a:xfrm>
            <a:off x="4284663" y="191611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类型构造符（基本类型）</a:t>
            </a:r>
          </a:p>
        </p:txBody>
      </p:sp>
      <p:sp>
        <p:nvSpPr>
          <p:cNvPr id="40965" name="Line 5">
            <a:extLst>
              <a:ext uri="{FF2B5EF4-FFF2-40B4-BE49-F238E27FC236}">
                <a16:creationId xmlns:a16="http://schemas.microsoft.com/office/drawing/2014/main" id="{6E8C8B9B-6247-49D0-91F0-7F3AEFC37086}"/>
              </a:ext>
            </a:extLst>
          </p:cNvPr>
          <p:cNvSpPr>
            <a:spLocks noChangeShapeType="1"/>
          </p:cNvSpPr>
          <p:nvPr/>
        </p:nvSpPr>
        <p:spPr bwMode="auto">
          <a:xfrm flipH="1" flipV="1">
            <a:off x="2484438" y="2133600"/>
            <a:ext cx="1871662" cy="71438"/>
          </a:xfrm>
          <a:prstGeom prst="line">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966" name="Text Box 6">
            <a:extLst>
              <a:ext uri="{FF2B5EF4-FFF2-40B4-BE49-F238E27FC236}">
                <a16:creationId xmlns:a16="http://schemas.microsoft.com/office/drawing/2014/main" id="{414FC3A9-4926-46B2-AB9D-C813E4BAB454}"/>
              </a:ext>
            </a:extLst>
          </p:cNvPr>
          <p:cNvSpPr txBox="1">
            <a:spLocks noChangeArrowheads="1"/>
          </p:cNvSpPr>
          <p:nvPr/>
        </p:nvSpPr>
        <p:spPr bwMode="auto">
          <a:xfrm>
            <a:off x="4643438" y="2636838"/>
            <a:ext cx="3889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子类型表达式（用链表保存类型表达式）</a:t>
            </a:r>
          </a:p>
        </p:txBody>
      </p:sp>
      <p:sp>
        <p:nvSpPr>
          <p:cNvPr id="40967" name="Line 7">
            <a:extLst>
              <a:ext uri="{FF2B5EF4-FFF2-40B4-BE49-F238E27FC236}">
                <a16:creationId xmlns:a16="http://schemas.microsoft.com/office/drawing/2014/main" id="{D3E25038-422E-40CD-95C1-2EAEE0E940C3}"/>
              </a:ext>
            </a:extLst>
          </p:cNvPr>
          <p:cNvSpPr>
            <a:spLocks noChangeShapeType="1"/>
          </p:cNvSpPr>
          <p:nvPr/>
        </p:nvSpPr>
        <p:spPr bwMode="auto">
          <a:xfrm flipH="1" flipV="1">
            <a:off x="2843213" y="2492375"/>
            <a:ext cx="1871662" cy="433388"/>
          </a:xfrm>
          <a:prstGeom prst="line">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8AFE353-4396-438C-888F-E7A4AE0F26A0}"/>
              </a:ext>
            </a:extLst>
          </p:cNvPr>
          <p:cNvSpPr>
            <a:spLocks noGrp="1" noChangeArrowheads="1"/>
          </p:cNvSpPr>
          <p:nvPr>
            <p:ph type="title"/>
          </p:nvPr>
        </p:nvSpPr>
        <p:spPr/>
        <p:txBody>
          <a:bodyPr/>
          <a:lstStyle/>
          <a:p>
            <a:pPr eaLnBrk="1" hangingPunct="1"/>
            <a:r>
              <a:rPr lang="zh-CN" altLang="en-US"/>
              <a:t>类型构造</a:t>
            </a:r>
          </a:p>
        </p:txBody>
      </p:sp>
      <p:sp>
        <p:nvSpPr>
          <p:cNvPr id="41987" name="Rectangle 3">
            <a:extLst>
              <a:ext uri="{FF2B5EF4-FFF2-40B4-BE49-F238E27FC236}">
                <a16:creationId xmlns:a16="http://schemas.microsoft.com/office/drawing/2014/main" id="{39EB18AB-C3F6-4DD1-8BA8-A7963E93870A}"/>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static Type type(int op, Type ty, int size, int align, void *sym) {</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unsigned h = (op^((unsigned long)ty&gt;&gt;3))</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&amp;(NELEMS(typetable)-1);</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struct entry *tn;</a:t>
            </a:r>
          </a:p>
          <a:p>
            <a:pPr eaLnBrk="1" hangingPunct="1">
              <a:lnSpc>
                <a:spcPct val="80000"/>
              </a:lnSpc>
              <a:buFont typeface="Wingdings" panose="05000000000000000000" pitchFamily="2" charset="2"/>
              <a:buNone/>
            </a:pP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(op != FUNCTION &amp;&amp; (op != ARRAY || size &gt; 0))</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for (tn = typetable[h]; tn; tn = tn-&gt;link)</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(tn-&gt;type.op    == op   &amp;&amp; tn-&gt;type.type  == ty</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&amp;&amp;  tn-&gt;type.size  == size &amp;&amp; tn-&gt;type.align == align</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&amp;&amp;  tn-&gt;type.u.sym == sym)</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return &amp;tn-&gt;type;</a:t>
            </a:r>
          </a:p>
        </p:txBody>
      </p:sp>
      <p:sp>
        <p:nvSpPr>
          <p:cNvPr id="41988" name="Text Box 4">
            <a:extLst>
              <a:ext uri="{FF2B5EF4-FFF2-40B4-BE49-F238E27FC236}">
                <a16:creationId xmlns:a16="http://schemas.microsoft.com/office/drawing/2014/main" id="{64719F4F-B5E4-431B-971F-77AAAB5A1FFB}"/>
              </a:ext>
            </a:extLst>
          </p:cNvPr>
          <p:cNvSpPr txBox="1">
            <a:spLocks noChangeArrowheads="1"/>
          </p:cNvSpPr>
          <p:nvPr/>
        </p:nvSpPr>
        <p:spPr bwMode="auto">
          <a:xfrm>
            <a:off x="250825" y="4724400"/>
            <a:ext cx="41767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函数类型和不完全数组类型无重复概念，总是创建新类型</a:t>
            </a:r>
          </a:p>
        </p:txBody>
      </p:sp>
      <p:sp>
        <p:nvSpPr>
          <p:cNvPr id="41989" name="Line 5">
            <a:extLst>
              <a:ext uri="{FF2B5EF4-FFF2-40B4-BE49-F238E27FC236}">
                <a16:creationId xmlns:a16="http://schemas.microsoft.com/office/drawing/2014/main" id="{C0C5ABAC-4A79-429B-A266-619D385C27CE}"/>
              </a:ext>
            </a:extLst>
          </p:cNvPr>
          <p:cNvSpPr>
            <a:spLocks noChangeShapeType="1"/>
          </p:cNvSpPr>
          <p:nvPr/>
        </p:nvSpPr>
        <p:spPr bwMode="auto">
          <a:xfrm flipV="1">
            <a:off x="1690688" y="2997200"/>
            <a:ext cx="360362" cy="1655763"/>
          </a:xfrm>
          <a:prstGeom prst="line">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990" name="Text Box 6">
            <a:extLst>
              <a:ext uri="{FF2B5EF4-FFF2-40B4-BE49-F238E27FC236}">
                <a16:creationId xmlns:a16="http://schemas.microsoft.com/office/drawing/2014/main" id="{1804AF6C-B857-467C-AF39-27AEB9B8BC8E}"/>
              </a:ext>
            </a:extLst>
          </p:cNvPr>
          <p:cNvSpPr txBox="1">
            <a:spLocks noChangeArrowheads="1"/>
          </p:cNvSpPr>
          <p:nvPr/>
        </p:nvSpPr>
        <p:spPr bwMode="auto">
          <a:xfrm>
            <a:off x="4067175" y="5661025"/>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重复类型检查</a:t>
            </a:r>
          </a:p>
        </p:txBody>
      </p:sp>
      <p:sp>
        <p:nvSpPr>
          <p:cNvPr id="41991" name="Line 7">
            <a:extLst>
              <a:ext uri="{FF2B5EF4-FFF2-40B4-BE49-F238E27FC236}">
                <a16:creationId xmlns:a16="http://schemas.microsoft.com/office/drawing/2014/main" id="{4FF8C7A4-0D15-43C2-99A9-A096CD2F9103}"/>
              </a:ext>
            </a:extLst>
          </p:cNvPr>
          <p:cNvSpPr>
            <a:spLocks noChangeShapeType="1"/>
          </p:cNvSpPr>
          <p:nvPr/>
        </p:nvSpPr>
        <p:spPr bwMode="auto">
          <a:xfrm flipH="1" flipV="1">
            <a:off x="5795963" y="4437063"/>
            <a:ext cx="0" cy="1225550"/>
          </a:xfrm>
          <a:prstGeom prst="line">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E6BE084-6B2E-4BB2-BFD2-49DF28BC2138}"/>
              </a:ext>
            </a:extLst>
          </p:cNvPr>
          <p:cNvSpPr>
            <a:spLocks noGrp="1" noChangeArrowheads="1"/>
          </p:cNvSpPr>
          <p:nvPr>
            <p:ph type="title"/>
          </p:nvPr>
        </p:nvSpPr>
        <p:spPr/>
        <p:txBody>
          <a:bodyPr/>
          <a:lstStyle/>
          <a:p>
            <a:pPr eaLnBrk="1" hangingPunct="1"/>
            <a:r>
              <a:rPr lang="zh-CN" altLang="en-US"/>
              <a:t>类型构造</a:t>
            </a:r>
          </a:p>
        </p:txBody>
      </p:sp>
      <p:sp>
        <p:nvSpPr>
          <p:cNvPr id="43011" name="Rectangle 3">
            <a:extLst>
              <a:ext uri="{FF2B5EF4-FFF2-40B4-BE49-F238E27FC236}">
                <a16:creationId xmlns:a16="http://schemas.microsoft.com/office/drawing/2014/main" id="{36EEEF64-9536-4FE9-873D-72AA88787598}"/>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NEW0(tn, PERM);</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tn-&gt;type.op = op;</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tn-&gt;type.type = ty;</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tn-&gt;type.size = size;</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tn-&gt;type.align = align;</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tn-&gt;type.u.sym = sym;</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tn-&gt;link = typetable[h];</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typetable[h] = tn;</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&amp;tn-&gt;type;</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01B9473-8AA4-4EC5-8372-DF93E8F9C4C5}"/>
              </a:ext>
            </a:extLst>
          </p:cNvPr>
          <p:cNvSpPr>
            <a:spLocks noGrp="1" noChangeArrowheads="1"/>
          </p:cNvSpPr>
          <p:nvPr>
            <p:ph type="title"/>
          </p:nvPr>
        </p:nvSpPr>
        <p:spPr/>
        <p:txBody>
          <a:bodyPr/>
          <a:lstStyle/>
          <a:p>
            <a:pPr eaLnBrk="1" hangingPunct="1"/>
            <a:r>
              <a:rPr lang="zh-CN" altLang="en-US"/>
              <a:t>指针</a:t>
            </a:r>
          </a:p>
        </p:txBody>
      </p:sp>
      <p:sp>
        <p:nvSpPr>
          <p:cNvPr id="44035" name="Rectangle 3">
            <a:extLst>
              <a:ext uri="{FF2B5EF4-FFF2-40B4-BE49-F238E27FC236}">
                <a16:creationId xmlns:a16="http://schemas.microsoft.com/office/drawing/2014/main" id="{FBA73C33-456D-487E-8FEA-89EEBE78CB59}"/>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ptr(Type ty) {</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type(POINTER, ty, IR-&gt;ptrmetric.size,</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IR-&gt;ptrmetric.align, pointersym);</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90000"/>
              </a:lnSpc>
              <a:buFont typeface="Wingdings" panose="05000000000000000000" pitchFamily="2" charset="2"/>
              <a:buNone/>
            </a:pPr>
            <a:endParaRPr lang="en-US" altLang="zh-CN" sz="2000">
              <a:solidFill>
                <a:srgbClr val="0000FF"/>
              </a:solidFill>
              <a:latin typeface="Tahoma" panose="020B0604030504040204" pitchFamily="34" charset="0"/>
            </a:endParaRP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deref(Type ty) {</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(isptr(ty))</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ty = ty-&gt;type;</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else</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error("type error: %s\n", "pointer expected");</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isenum(ty) ? unqual(ty)-&gt;type : ty;</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90000"/>
              </a:lnSpc>
              <a:buFont typeface="Wingdings" panose="05000000000000000000" pitchFamily="2" charset="2"/>
              <a:buNone/>
            </a:pPr>
            <a:endParaRPr lang="en-US" altLang="zh-CN" sz="2000">
              <a:solidFill>
                <a:srgbClr val="0000FF"/>
              </a:solidFill>
              <a:latin typeface="Tahoma" panose="020B0604030504040204" pitchFamily="34" charset="0"/>
            </a:endParaRPr>
          </a:p>
        </p:txBody>
      </p:sp>
      <p:sp>
        <p:nvSpPr>
          <p:cNvPr id="44036" name="Text Box 8">
            <a:extLst>
              <a:ext uri="{FF2B5EF4-FFF2-40B4-BE49-F238E27FC236}">
                <a16:creationId xmlns:a16="http://schemas.microsoft.com/office/drawing/2014/main" id="{3FE45790-AC6F-4476-9BC5-32C693C4A218}"/>
              </a:ext>
            </a:extLst>
          </p:cNvPr>
          <p:cNvSpPr txBox="1">
            <a:spLocks noChangeArrowheads="1"/>
          </p:cNvSpPr>
          <p:nvPr/>
        </p:nvSpPr>
        <p:spPr bwMode="auto">
          <a:xfrm>
            <a:off x="5219700" y="2708275"/>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脱掉指针</a:t>
            </a:r>
          </a:p>
        </p:txBody>
      </p:sp>
      <p:sp>
        <p:nvSpPr>
          <p:cNvPr id="44037" name="Line 9">
            <a:extLst>
              <a:ext uri="{FF2B5EF4-FFF2-40B4-BE49-F238E27FC236}">
                <a16:creationId xmlns:a16="http://schemas.microsoft.com/office/drawing/2014/main" id="{77FA2416-3B0F-45F9-85DB-5E8F60C1E71F}"/>
              </a:ext>
            </a:extLst>
          </p:cNvPr>
          <p:cNvSpPr>
            <a:spLocks noChangeShapeType="1"/>
          </p:cNvSpPr>
          <p:nvPr/>
        </p:nvSpPr>
        <p:spPr bwMode="auto">
          <a:xfrm flipH="1">
            <a:off x="3778250" y="3070225"/>
            <a:ext cx="1382713" cy="142875"/>
          </a:xfrm>
          <a:prstGeom prst="line">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33ECCAA-CDEC-4ACB-BB30-A1C9C38FD938}"/>
              </a:ext>
            </a:extLst>
          </p:cNvPr>
          <p:cNvSpPr>
            <a:spLocks noGrp="1" noChangeArrowheads="1"/>
          </p:cNvSpPr>
          <p:nvPr>
            <p:ph type="title"/>
          </p:nvPr>
        </p:nvSpPr>
        <p:spPr/>
        <p:txBody>
          <a:bodyPr/>
          <a:lstStyle/>
          <a:p>
            <a:pPr eaLnBrk="1" hangingPunct="1"/>
            <a:r>
              <a:rPr lang="zh-CN" altLang="en-US"/>
              <a:t>数组</a:t>
            </a:r>
          </a:p>
        </p:txBody>
      </p:sp>
      <p:sp>
        <p:nvSpPr>
          <p:cNvPr id="45059" name="Rectangle 3">
            <a:extLst>
              <a:ext uri="{FF2B5EF4-FFF2-40B4-BE49-F238E27FC236}">
                <a16:creationId xmlns:a16="http://schemas.microsoft.com/office/drawing/2014/main" id="{ABC38C6A-DF20-4A68-ADE0-47D09E326779}"/>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Type array(Type ty, int n, int a) {</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assert(ty);</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(isfunc(ty)) {</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error("illegal type `array of %t'\n", ty);</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return array(inttype, n, 0);</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(isarray(ty) &amp;&amp; ty-&gt;size == 0)</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error("missing array size\n");</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(ty-&gt;size == 0) {</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if (unqual(ty) == voidtype)</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error("illegal type `array of %t'\n", ty);</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else if (Aflag &gt;= 2)</a:t>
            </a:r>
          </a:p>
          <a:p>
            <a:pPr eaLnBrk="1" hangingPunct="1">
              <a:lnSpc>
                <a:spcPct val="90000"/>
              </a:lnSpc>
              <a:buFont typeface="Wingdings" panose="05000000000000000000" pitchFamily="2" charset="2"/>
              <a:buNone/>
            </a:pPr>
            <a:r>
              <a:rPr lang="en-US" altLang="zh-CN" sz="2000">
                <a:solidFill>
                  <a:srgbClr val="0000FF"/>
                </a:solidFill>
                <a:latin typeface="Tahoma" panose="020B0604030504040204" pitchFamily="34" charset="0"/>
              </a:rPr>
              <a:t>			warning("declaring type array of %t' is undefined\n", ty);</a:t>
            </a:r>
          </a:p>
        </p:txBody>
      </p:sp>
      <p:sp>
        <p:nvSpPr>
          <p:cNvPr id="45060" name="Text Box 4">
            <a:extLst>
              <a:ext uri="{FF2B5EF4-FFF2-40B4-BE49-F238E27FC236}">
                <a16:creationId xmlns:a16="http://schemas.microsoft.com/office/drawing/2014/main" id="{31BC087A-8D94-4324-A38F-987F27F67404}"/>
              </a:ext>
            </a:extLst>
          </p:cNvPr>
          <p:cNvSpPr txBox="1">
            <a:spLocks noChangeArrowheads="1"/>
          </p:cNvSpPr>
          <p:nvPr/>
        </p:nvSpPr>
        <p:spPr bwMode="auto">
          <a:xfrm>
            <a:off x="4284663" y="191611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不允许函数数组</a:t>
            </a:r>
          </a:p>
        </p:txBody>
      </p:sp>
      <p:sp>
        <p:nvSpPr>
          <p:cNvPr id="45061" name="Line 5">
            <a:extLst>
              <a:ext uri="{FF2B5EF4-FFF2-40B4-BE49-F238E27FC236}">
                <a16:creationId xmlns:a16="http://schemas.microsoft.com/office/drawing/2014/main" id="{089FB677-4F42-4B03-99B0-E3BCE6A2A31F}"/>
              </a:ext>
            </a:extLst>
          </p:cNvPr>
          <p:cNvSpPr>
            <a:spLocks noChangeShapeType="1"/>
          </p:cNvSpPr>
          <p:nvPr/>
        </p:nvSpPr>
        <p:spPr bwMode="auto">
          <a:xfrm flipH="1">
            <a:off x="3276600" y="2205038"/>
            <a:ext cx="1079500" cy="71437"/>
          </a:xfrm>
          <a:prstGeom prst="line">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062" name="Text Box 6">
            <a:extLst>
              <a:ext uri="{FF2B5EF4-FFF2-40B4-BE49-F238E27FC236}">
                <a16:creationId xmlns:a16="http://schemas.microsoft.com/office/drawing/2014/main" id="{5AA2AD12-95FB-46F8-A0CB-00C253C00C62}"/>
              </a:ext>
            </a:extLst>
          </p:cNvPr>
          <p:cNvSpPr txBox="1">
            <a:spLocks noChangeArrowheads="1"/>
          </p:cNvSpPr>
          <p:nvPr/>
        </p:nvSpPr>
        <p:spPr bwMode="auto">
          <a:xfrm>
            <a:off x="5254625" y="2708275"/>
            <a:ext cx="3889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rgbClr val="FF3300"/>
                </a:solidFill>
                <a:latin typeface="Tahoma" panose="020B0604030504040204" pitchFamily="34" charset="0"/>
              </a:rPr>
              <a:t>数组的数组，低维必须大小已知</a:t>
            </a:r>
          </a:p>
        </p:txBody>
      </p:sp>
      <p:sp>
        <p:nvSpPr>
          <p:cNvPr id="45063" name="Line 7">
            <a:extLst>
              <a:ext uri="{FF2B5EF4-FFF2-40B4-BE49-F238E27FC236}">
                <a16:creationId xmlns:a16="http://schemas.microsoft.com/office/drawing/2014/main" id="{EAE54494-B214-4CE0-88BD-5DF8BD27F790}"/>
              </a:ext>
            </a:extLst>
          </p:cNvPr>
          <p:cNvSpPr>
            <a:spLocks noChangeShapeType="1"/>
          </p:cNvSpPr>
          <p:nvPr/>
        </p:nvSpPr>
        <p:spPr bwMode="auto">
          <a:xfrm flipH="1">
            <a:off x="3635375" y="3141663"/>
            <a:ext cx="1800225" cy="287337"/>
          </a:xfrm>
          <a:prstGeom prst="line">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0134C86-54A4-4B47-955C-3CBD73CF0B88}"/>
              </a:ext>
            </a:extLst>
          </p:cNvPr>
          <p:cNvSpPr>
            <a:spLocks noGrp="1" noChangeArrowheads="1"/>
          </p:cNvSpPr>
          <p:nvPr>
            <p:ph type="title"/>
          </p:nvPr>
        </p:nvSpPr>
        <p:spPr/>
        <p:txBody>
          <a:bodyPr/>
          <a:lstStyle/>
          <a:p>
            <a:pPr eaLnBrk="1" hangingPunct="1"/>
            <a:r>
              <a:rPr lang="zh-CN" altLang="en-US"/>
              <a:t>数组</a:t>
            </a:r>
          </a:p>
        </p:txBody>
      </p:sp>
      <p:sp>
        <p:nvSpPr>
          <p:cNvPr id="46083" name="Rectangle 3">
            <a:extLst>
              <a:ext uri="{FF2B5EF4-FFF2-40B4-BE49-F238E27FC236}">
                <a16:creationId xmlns:a16="http://schemas.microsoft.com/office/drawing/2014/main" id="{957F49DD-33C8-41FF-A173-F643CC29E13F}"/>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a:solidFill>
                  <a:srgbClr val="0000FF"/>
                </a:solidFill>
                <a:latin typeface="Tahoma" panose="020B0604030504040204" pitchFamily="34" charset="0"/>
              </a:rPr>
              <a:t>	} else if (n &gt; INT_MAX/ty-&gt;size) {</a:t>
            </a: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error("size of `array of %t' exceeds %d bytes\n",</a:t>
            </a: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ty, INT_MAX);</a:t>
            </a: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n = 1;</a:t>
            </a: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a:t>
            </a: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return type(ARRAY, ty, n*ty-&gt;size,</a:t>
            </a: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		a ? a : ty-&gt;align, NULL);</a:t>
            </a:r>
          </a:p>
          <a:p>
            <a:pPr eaLnBrk="1" hangingPunct="1">
              <a:buFont typeface="Wingdings" panose="05000000000000000000" pitchFamily="2" charset="2"/>
              <a:buNone/>
            </a:pPr>
            <a:r>
              <a:rPr lang="en-US" altLang="zh-CN" sz="2000">
                <a:solidFill>
                  <a:srgbClr val="0000FF"/>
                </a:solidFill>
                <a:latin typeface="Tahoma" panose="020B0604030504040204" pitchFamily="34"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488D186-8259-4D77-A5E1-6C61E50F1C70}"/>
              </a:ext>
            </a:extLst>
          </p:cNvPr>
          <p:cNvSpPr>
            <a:spLocks noGrp="1" noChangeArrowheads="1"/>
          </p:cNvSpPr>
          <p:nvPr>
            <p:ph type="title"/>
          </p:nvPr>
        </p:nvSpPr>
        <p:spPr/>
        <p:txBody>
          <a:bodyPr/>
          <a:lstStyle/>
          <a:p>
            <a:pPr eaLnBrk="1" hangingPunct="1"/>
            <a:r>
              <a:rPr lang="zh-CN" altLang="en-US"/>
              <a:t>结构和联合</a:t>
            </a:r>
          </a:p>
        </p:txBody>
      </p:sp>
      <p:sp>
        <p:nvSpPr>
          <p:cNvPr id="47107" name="Rectangle 3">
            <a:extLst>
              <a:ext uri="{FF2B5EF4-FFF2-40B4-BE49-F238E27FC236}">
                <a16:creationId xmlns:a16="http://schemas.microsoft.com/office/drawing/2014/main" id="{62CFF3EB-B1E8-4104-AB9C-002E51B7BF46}"/>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Type newstruct(int op, char *tag) {</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Symbol p;</a:t>
            </a:r>
          </a:p>
          <a:p>
            <a:pPr eaLnBrk="1" hangingPunct="1">
              <a:lnSpc>
                <a:spcPct val="80000"/>
              </a:lnSpc>
              <a:buFont typeface="Wingdings" panose="05000000000000000000" pitchFamily="2" charset="2"/>
              <a:buNone/>
            </a:pPr>
            <a:endParaRPr lang="en-US" altLang="zh-CN" sz="18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assert(tag);</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(*tag == 0)</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tag = stringd(genlabel(1));</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else</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((p = lookup(tag, types)) != NULL &amp;&amp; (p-&gt;scope == level</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 p-&gt;scope == PARAM &amp;&amp; level == PARAM+1)) {</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if (p-&gt;type-&gt;op == op &amp;&amp; !p-&gt;defined)</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return p-&gt;type;</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error("redefinition of `%s' previously defined at %w\n",</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p-&gt;name, &amp;p-&gt;src);</a:t>
            </a:r>
          </a:p>
          <a:p>
            <a:pPr eaLnBrk="1" hangingPunct="1">
              <a:lnSpc>
                <a:spcPct val="80000"/>
              </a:lnSpc>
              <a:buFont typeface="Wingdings" panose="05000000000000000000" pitchFamily="2" charset="2"/>
              <a:buNone/>
            </a:pPr>
            <a:r>
              <a:rPr lang="en-US" altLang="zh-CN" sz="1800">
                <a:solidFill>
                  <a:srgbClr val="0000FF"/>
                </a:solidFill>
                <a:latin typeface="Tahoma" panose="020B0604030504040204" pitchFamily="34" charset="0"/>
              </a:rPr>
              <a:t>		}</a:t>
            </a:r>
          </a:p>
        </p:txBody>
      </p:sp>
      <p:sp>
        <p:nvSpPr>
          <p:cNvPr id="47108" name="Text Box 8">
            <a:extLst>
              <a:ext uri="{FF2B5EF4-FFF2-40B4-BE49-F238E27FC236}">
                <a16:creationId xmlns:a16="http://schemas.microsoft.com/office/drawing/2014/main" id="{F23D7858-6ABC-4722-B914-D55935406751}"/>
              </a:ext>
            </a:extLst>
          </p:cNvPr>
          <p:cNvSpPr txBox="1">
            <a:spLocks noChangeArrowheads="1"/>
          </p:cNvSpPr>
          <p:nvPr/>
        </p:nvSpPr>
        <p:spPr bwMode="auto">
          <a:xfrm>
            <a:off x="3635375" y="1916113"/>
            <a:ext cx="453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000">
                <a:solidFill>
                  <a:srgbClr val="FF3300"/>
                </a:solidFill>
                <a:latin typeface="Tahoma" panose="020B0604030504040204" pitchFamily="34" charset="0"/>
              </a:rPr>
              <a:t>创建一个结构类型，但只是一个空架子</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5CD1C02-2C6E-4C12-9F40-3970FEBF8CB3}"/>
              </a:ext>
            </a:extLst>
          </p:cNvPr>
          <p:cNvSpPr>
            <a:spLocks noGrp="1" noChangeArrowheads="1"/>
          </p:cNvSpPr>
          <p:nvPr>
            <p:ph type="title"/>
          </p:nvPr>
        </p:nvSpPr>
        <p:spPr/>
        <p:txBody>
          <a:bodyPr/>
          <a:lstStyle/>
          <a:p>
            <a:pPr eaLnBrk="1" hangingPunct="1"/>
            <a:r>
              <a:rPr lang="zh-CN" altLang="en-US"/>
              <a:t>结构和联合</a:t>
            </a:r>
          </a:p>
        </p:txBody>
      </p:sp>
      <p:sp>
        <p:nvSpPr>
          <p:cNvPr id="48131" name="Rectangle 3">
            <a:extLst>
              <a:ext uri="{FF2B5EF4-FFF2-40B4-BE49-F238E27FC236}">
                <a16:creationId xmlns:a16="http://schemas.microsoft.com/office/drawing/2014/main" id="{2BED5873-FFF6-4766-94BB-A2ABD3E00FA7}"/>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 = install(tag, &amp;types, level, PERM);</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p-&gt;type = type(op, NULL, 0, 0, p);</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(p-&gt;scope &gt; maxlevel)</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maxlevel = p-&gt;scope;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p-&gt;src = src;</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p-&gt;type;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A223FA2-9F20-483A-85CE-63B65E078E5E}"/>
              </a:ext>
            </a:extLst>
          </p:cNvPr>
          <p:cNvSpPr>
            <a:spLocks noGrp="1" noChangeArrowheads="1"/>
          </p:cNvSpPr>
          <p:nvPr>
            <p:ph type="title"/>
          </p:nvPr>
        </p:nvSpPr>
        <p:spPr/>
        <p:txBody>
          <a:bodyPr/>
          <a:lstStyle/>
          <a:p>
            <a:pPr eaLnBrk="1" hangingPunct="1"/>
            <a:r>
              <a:rPr lang="zh-CN" altLang="en-US"/>
              <a:t>结构和联合</a:t>
            </a:r>
          </a:p>
        </p:txBody>
      </p:sp>
      <p:sp>
        <p:nvSpPr>
          <p:cNvPr id="49155" name="Rectangle 3">
            <a:extLst>
              <a:ext uri="{FF2B5EF4-FFF2-40B4-BE49-F238E27FC236}">
                <a16:creationId xmlns:a16="http://schemas.microsoft.com/office/drawing/2014/main" id="{9CB966A5-7770-48E8-A386-E239C6B2DFB2}"/>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Field newfield(char *name, Type ty, Type fty)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Field p, *q = &amp;ty-&gt;u.sym-&gt;u.s.flist;</a:t>
            </a:r>
          </a:p>
          <a:p>
            <a:pPr eaLnBrk="1" hangingPunct="1">
              <a:lnSpc>
                <a:spcPct val="80000"/>
              </a:lnSpc>
              <a:buFont typeface="Wingdings" panose="05000000000000000000" pitchFamily="2" charset="2"/>
              <a:buNone/>
            </a:pP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(name == NULL)</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name = stringd(genlabel(1));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(p = *q; p; q = &amp;p-&gt;link, p = *q)</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(p-&gt;name == name)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error("duplicate field name `%s' in `%t'\n",</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name, ty);</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NEW0(p, PERM);</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*q = p;</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p-&gt;name = name;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p-&gt;type = fty;</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9A9D30A-5585-4785-8800-FBE58A3F43B5}"/>
              </a:ext>
            </a:extLst>
          </p:cNvPr>
          <p:cNvSpPr>
            <a:spLocks noGrp="1" noChangeArrowheads="1"/>
          </p:cNvSpPr>
          <p:nvPr>
            <p:ph type="title"/>
          </p:nvPr>
        </p:nvSpPr>
        <p:spPr/>
        <p:txBody>
          <a:bodyPr/>
          <a:lstStyle/>
          <a:p>
            <a:pPr eaLnBrk="1" hangingPunct="1"/>
            <a:r>
              <a:rPr lang="zh-CN" altLang="en-US"/>
              <a:t>结构和联合</a:t>
            </a:r>
          </a:p>
        </p:txBody>
      </p:sp>
      <p:sp>
        <p:nvSpPr>
          <p:cNvPr id="50179" name="Rectangle 3">
            <a:extLst>
              <a:ext uri="{FF2B5EF4-FFF2-40B4-BE49-F238E27FC236}">
                <a16:creationId xmlns:a16="http://schemas.microsoft.com/office/drawing/2014/main" id="{9580BBC8-6EDE-4723-9A2C-51306205A8C4}"/>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(xref) {						/* omit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(ty-&gt;u.sym-&gt;u.s.ftab == NULL)		/* omit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ty-&gt;u.sym-&gt;u.s.ftab = table(NULL, level);/* omit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install(name, &amp;ty-&gt;u.sym-&gt;u.s.ftab, 0, PERM)-&gt;src = src;/* omit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 omit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p;</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542B941-855D-4955-A7BF-B05131F0A648}"/>
              </a:ext>
            </a:extLst>
          </p:cNvPr>
          <p:cNvSpPr>
            <a:spLocks noGrp="1" noChangeArrowheads="1"/>
          </p:cNvSpPr>
          <p:nvPr>
            <p:ph type="title"/>
          </p:nvPr>
        </p:nvSpPr>
        <p:spPr/>
        <p:txBody>
          <a:bodyPr/>
          <a:lstStyle/>
          <a:p>
            <a:pPr eaLnBrk="1" hangingPunct="1"/>
            <a:r>
              <a:rPr lang="zh-CN" altLang="en-US"/>
              <a:t>结构和联合</a:t>
            </a:r>
          </a:p>
        </p:txBody>
      </p:sp>
      <p:sp>
        <p:nvSpPr>
          <p:cNvPr id="51203" name="Rectangle 3">
            <a:extLst>
              <a:ext uri="{FF2B5EF4-FFF2-40B4-BE49-F238E27FC236}">
                <a16:creationId xmlns:a16="http://schemas.microsoft.com/office/drawing/2014/main" id="{299B8187-F968-4EF6-9D55-F1B547C13BFB}"/>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static Type structdcl(int op)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 = newstruct(op, tag);</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fields(ty);</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static void fields(Type ty)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 = newfield(id, ty, fty);</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a:p>
            <a:pPr eaLnBrk="1" hangingPunct="1">
              <a:lnSpc>
                <a:spcPct val="80000"/>
              </a:lnSpc>
              <a:buFont typeface="Wingdings" panose="05000000000000000000" pitchFamily="2" charset="2"/>
              <a:buNone/>
            </a:pPr>
            <a:endParaRPr lang="en-US" altLang="zh-CN" sz="2000">
              <a:solidFill>
                <a:srgbClr val="0000FF"/>
              </a:solidFill>
              <a:latin typeface="Tahoma" panose="020B060403050404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47A272E-4B15-4004-A9A0-EC0BDBD86FB8}"/>
              </a:ext>
            </a:extLst>
          </p:cNvPr>
          <p:cNvSpPr>
            <a:spLocks noGrp="1" noChangeArrowheads="1"/>
          </p:cNvSpPr>
          <p:nvPr>
            <p:ph type="title"/>
          </p:nvPr>
        </p:nvSpPr>
        <p:spPr/>
        <p:txBody>
          <a:bodyPr/>
          <a:lstStyle/>
          <a:p>
            <a:pPr eaLnBrk="1" hangingPunct="1"/>
            <a:r>
              <a:rPr lang="zh-CN" altLang="en-US"/>
              <a:t>类型等价</a:t>
            </a:r>
          </a:p>
        </p:txBody>
      </p:sp>
      <p:sp>
        <p:nvSpPr>
          <p:cNvPr id="52227" name="Rectangle 3">
            <a:extLst>
              <a:ext uri="{FF2B5EF4-FFF2-40B4-BE49-F238E27FC236}">
                <a16:creationId xmlns:a16="http://schemas.microsoft.com/office/drawing/2014/main" id="{A6A26FDE-6DBE-4D71-A724-ECC48F1DDD97}"/>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int eqtype(Type ty1, Type ty2, int ret)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 == ty2)</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(ty1-&gt;op != ty2-&gt;op)</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switch (ty1-&gt;op)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ENUM: case UNION: case STRUCT: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UNSIGNED: case INT: case FLOAT: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POINTER:  return eqtype(ty1-&gt;type, ty2-&gt;type, 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VOLATILE: case CONST+VOLATILE: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CONST:    return eqtype(ty1-&gt;type, ty2-&gt;type, 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1F07C56-DB38-4002-BB1B-DEC6C1B0B1AF}"/>
              </a:ext>
            </a:extLst>
          </p:cNvPr>
          <p:cNvSpPr>
            <a:spLocks noGrp="1" noChangeArrowheads="1"/>
          </p:cNvSpPr>
          <p:nvPr>
            <p:ph type="title"/>
          </p:nvPr>
        </p:nvSpPr>
        <p:spPr/>
        <p:txBody>
          <a:bodyPr/>
          <a:lstStyle/>
          <a:p>
            <a:pPr eaLnBrk="1" hangingPunct="1"/>
            <a:r>
              <a:rPr lang="zh-CN" altLang="en-US"/>
              <a:t>类型等价</a:t>
            </a:r>
          </a:p>
        </p:txBody>
      </p:sp>
      <p:sp>
        <p:nvSpPr>
          <p:cNvPr id="53251" name="Rectangle 3">
            <a:extLst>
              <a:ext uri="{FF2B5EF4-FFF2-40B4-BE49-F238E27FC236}">
                <a16:creationId xmlns:a16="http://schemas.microsoft.com/office/drawing/2014/main" id="{474ED1A5-F403-44B1-AD6A-668AB7B5B978}"/>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ARRAY:    if (eqtype(ty1-&gt;type, ty2-&gt;type, 1))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(ty1-&gt;size == ty2-&gt;size)</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(ty1-&gt;size == 0 || ty2-&gt;size ==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ret;</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0BE66BB-BA9E-4419-AF32-6BFCF014DCB2}"/>
              </a:ext>
            </a:extLst>
          </p:cNvPr>
          <p:cNvSpPr>
            <a:spLocks noGrp="1" noChangeArrowheads="1"/>
          </p:cNvSpPr>
          <p:nvPr>
            <p:ph type="title"/>
          </p:nvPr>
        </p:nvSpPr>
        <p:spPr/>
        <p:txBody>
          <a:bodyPr/>
          <a:lstStyle/>
          <a:p>
            <a:pPr eaLnBrk="1" hangingPunct="1"/>
            <a:r>
              <a:rPr lang="zh-CN" altLang="en-US"/>
              <a:t>类型等价</a:t>
            </a:r>
          </a:p>
        </p:txBody>
      </p:sp>
      <p:sp>
        <p:nvSpPr>
          <p:cNvPr id="54275" name="Rectangle 3">
            <a:extLst>
              <a:ext uri="{FF2B5EF4-FFF2-40B4-BE49-F238E27FC236}">
                <a16:creationId xmlns:a16="http://schemas.microsoft.com/office/drawing/2014/main" id="{1FAD3639-71D5-40C0-86D4-03377457D9B6}"/>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case FUNCTION: if (eqtype(ty1-&gt;type, ty2-&gt;type, 1))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*p1 = ty1-&gt;u.f.proto, *p2 = ty2-&gt;u.f.proto;</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p2)</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&amp;&amp; p2)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 ; *p1 &amp;&amp; *p2; p1++, p2++)</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(eqtype(unqual(*p1), unqual(*p2), 1) ==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NULL &amp;&amp; *p2 == NULL)</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1CA1367-0841-4E06-8B5B-701E3315829E}"/>
              </a:ext>
            </a:extLst>
          </p:cNvPr>
          <p:cNvSpPr>
            <a:spLocks noGrp="1" noChangeArrowheads="1"/>
          </p:cNvSpPr>
          <p:nvPr>
            <p:ph type="title"/>
          </p:nvPr>
        </p:nvSpPr>
        <p:spPr/>
        <p:txBody>
          <a:bodyPr/>
          <a:lstStyle/>
          <a:p>
            <a:pPr eaLnBrk="1" hangingPunct="1"/>
            <a:r>
              <a:rPr lang="zh-CN" altLang="en-US"/>
              <a:t>类型等价</a:t>
            </a:r>
          </a:p>
        </p:txBody>
      </p:sp>
      <p:sp>
        <p:nvSpPr>
          <p:cNvPr id="55299" name="Rectangle 3">
            <a:extLst>
              <a:ext uri="{FF2B5EF4-FFF2-40B4-BE49-F238E27FC236}">
                <a16:creationId xmlns:a16="http://schemas.microsoft.com/office/drawing/2014/main" id="{C119813A-E4D9-4B71-B6DD-36518B67BFED}"/>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 else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(variadic(p1 ? ty1 : ty2))</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(p1 == NULL)</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p1 = p2;</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for ( ; *p1; p1++)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Type ty = unqual(*p1);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if (promote(ty) != (isenum(ty) ? ty-&gt;type : ty))</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1;</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return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assert(0); return 0;</a:t>
            </a: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D5657ED3-83EE-4657-ABF9-255D3B9E9715}"/>
              </a:ext>
            </a:extLst>
          </p:cNvPr>
          <p:cNvSpPr>
            <a:spLocks noGrp="1" noChangeArrowheads="1"/>
          </p:cNvSpPr>
          <p:nvPr>
            <p:ph type="title"/>
          </p:nvPr>
        </p:nvSpPr>
        <p:spPr/>
        <p:txBody>
          <a:bodyPr/>
          <a:lstStyle/>
          <a:p>
            <a:pPr eaLnBrk="1" hangingPunct="1"/>
            <a:r>
              <a:rPr lang="en-US" altLang="zh-CN"/>
              <a:t>TinyC</a:t>
            </a:r>
            <a:r>
              <a:rPr lang="zh-CN" altLang="en-US"/>
              <a:t>的类型检查</a:t>
            </a:r>
          </a:p>
        </p:txBody>
      </p:sp>
      <p:sp>
        <p:nvSpPr>
          <p:cNvPr id="56323" name="Rectangle 3">
            <a:extLst>
              <a:ext uri="{FF2B5EF4-FFF2-40B4-BE49-F238E27FC236}">
                <a16:creationId xmlns:a16="http://schemas.microsoft.com/office/drawing/2014/main" id="{D6EC402F-19EE-4A0B-B8D2-2422B74CA8EC}"/>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void typeCheck(TreeNode * syntaxTree)</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en-US" altLang="zh-CN" sz="2000">
                <a:solidFill>
                  <a:srgbClr val="0000FF"/>
                </a:solidFill>
                <a:latin typeface="Tahoma" panose="020B0604030504040204" pitchFamily="34" charset="0"/>
              </a:rPr>
              <a:t>	</a:t>
            </a:r>
            <a:r>
              <a:rPr lang="zh-CN" altLang="zh-CN" sz="2000">
                <a:solidFill>
                  <a:srgbClr val="0000FF"/>
                </a:solidFill>
                <a:latin typeface="Tahoma" panose="020B0604030504040204" pitchFamily="34" charset="0"/>
              </a:rPr>
              <a:t>traverse(syntaxTree,nullProc,checkNode);</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static void traverse( TreeNode * t, void (* preProc) (TreeNode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void (* postProc) (TreeNode *)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 != NULL)</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preProc(t);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int i;</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for (i=0; i &lt; MAXCHILDREN; i++)</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traverse(t-&gt;child[i],preProc,postProc);</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postProc(t);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traverse(t-&gt;sibling,preProc,postProc);</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7AD946F-AA34-4DA7-9EE4-743B19939661}"/>
              </a:ext>
            </a:extLst>
          </p:cNvPr>
          <p:cNvSpPr>
            <a:spLocks noGrp="1" noChangeArrowheads="1"/>
          </p:cNvSpPr>
          <p:nvPr>
            <p:ph type="title"/>
          </p:nvPr>
        </p:nvSpPr>
        <p:spPr/>
        <p:txBody>
          <a:bodyPr/>
          <a:lstStyle/>
          <a:p>
            <a:pPr eaLnBrk="1" hangingPunct="1"/>
            <a:r>
              <a:rPr lang="en-US" altLang="zh-CN"/>
              <a:t>TinyC</a:t>
            </a:r>
            <a:r>
              <a:rPr lang="zh-CN" altLang="en-US"/>
              <a:t>的类型检查</a:t>
            </a:r>
          </a:p>
        </p:txBody>
      </p:sp>
      <p:sp>
        <p:nvSpPr>
          <p:cNvPr id="57347" name="Rectangle 3">
            <a:extLst>
              <a:ext uri="{FF2B5EF4-FFF2-40B4-BE49-F238E27FC236}">
                <a16:creationId xmlns:a16="http://schemas.microsoft.com/office/drawing/2014/main" id="{6B3BC5AA-94CD-4113-AA6F-32AB57C64276}"/>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static void checkNode(TreeNode * 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(t-&gt;nodekind)</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ExpK: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(t-&gt;kind.exp)</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OpK: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(t-&gt;child[1]-&gt;type != 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typeError(t,"Op applied to non-integer");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((t-&gt;attr.op == EQ) || (t-&gt;attr.op == LT))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Boolean;</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else</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ConstK: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IdK: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t-&gt;type = 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8934C3F7-8090-460B-92D3-22EAAEC434BB}"/>
              </a:ext>
            </a:extLst>
          </p:cNvPr>
          <p:cNvSpPr>
            <a:spLocks noGrp="1" noChangeArrowheads="1"/>
          </p:cNvSpPr>
          <p:nvPr>
            <p:ph type="title"/>
          </p:nvPr>
        </p:nvSpPr>
        <p:spPr/>
        <p:txBody>
          <a:bodyPr/>
          <a:lstStyle/>
          <a:p>
            <a:pPr eaLnBrk="1" hangingPunct="1"/>
            <a:r>
              <a:rPr lang="en-US" altLang="zh-CN"/>
              <a:t>TinyC</a:t>
            </a:r>
            <a:r>
              <a:rPr lang="zh-CN" altLang="en-US"/>
              <a:t>的类型检查</a:t>
            </a:r>
          </a:p>
        </p:txBody>
      </p:sp>
      <p:sp>
        <p:nvSpPr>
          <p:cNvPr id="58371" name="Rectangle 3">
            <a:extLst>
              <a:ext uri="{FF2B5EF4-FFF2-40B4-BE49-F238E27FC236}">
                <a16:creationId xmlns:a16="http://schemas.microsoft.com/office/drawing/2014/main" id="{BE972EDB-A200-4DCB-B4D3-A5BFEC13D976}"/>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StmtK: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switch (t-&gt;kind.stmt)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 case IfK: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typeError(t-&gt;child[0],"if test is not Boolean");</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AssignK: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typeError(t-&gt;child[0],"assignment of non-integer value");</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F69D01A-6ACE-45BB-8869-D986E0BA2556}"/>
              </a:ext>
            </a:extLst>
          </p:cNvPr>
          <p:cNvSpPr>
            <a:spLocks noGrp="1" noChangeArrowheads="1"/>
          </p:cNvSpPr>
          <p:nvPr>
            <p:ph type="title"/>
          </p:nvPr>
        </p:nvSpPr>
        <p:spPr/>
        <p:txBody>
          <a:bodyPr/>
          <a:lstStyle/>
          <a:p>
            <a:pPr eaLnBrk="1" hangingPunct="1"/>
            <a:r>
              <a:rPr lang="en-US" altLang="zh-CN"/>
              <a:t>TinyC</a:t>
            </a:r>
            <a:r>
              <a:rPr lang="zh-CN" altLang="en-US"/>
              <a:t>的类型检查</a:t>
            </a:r>
          </a:p>
        </p:txBody>
      </p:sp>
      <p:sp>
        <p:nvSpPr>
          <p:cNvPr id="59395" name="Rectangle 3">
            <a:extLst>
              <a:ext uri="{FF2B5EF4-FFF2-40B4-BE49-F238E27FC236}">
                <a16:creationId xmlns:a16="http://schemas.microsoft.com/office/drawing/2014/main" id="{C87BD54E-BA37-45FC-8603-EAA01F1A0602}"/>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WriteK: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(t-&gt;child[0]-&gt;type != 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typeError(t-&gt;child[0],"write of non-integer value");</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case RepeatK: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if (t-&gt;child[1]-&gt;type == Integer)</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typeError(t-&gt;child[1],"repeat test is not Boolean");</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default:</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break;</a:t>
            </a:r>
          </a:p>
          <a:p>
            <a:pPr eaLnBrk="1" hangingPunct="1">
              <a:lnSpc>
                <a:spcPct val="80000"/>
              </a:lnSpc>
              <a:buFont typeface="Wingdings" panose="05000000000000000000" pitchFamily="2" charset="2"/>
              <a:buNone/>
            </a:pPr>
            <a:endParaRPr lang="zh-CN" altLang="zh-CN" sz="2000">
              <a:solidFill>
                <a:srgbClr val="0000FF"/>
              </a:solidFill>
              <a:latin typeface="Tahoma" panose="020B0604030504040204" pitchFamily="34" charset="0"/>
            </a:endParaRP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  }</a:t>
            </a:r>
          </a:p>
          <a:p>
            <a:pPr eaLnBrk="1" hangingPunct="1">
              <a:lnSpc>
                <a:spcPct val="80000"/>
              </a:lnSpc>
              <a:buFont typeface="Wingdings" panose="05000000000000000000" pitchFamily="2" charset="2"/>
              <a:buNone/>
            </a:pPr>
            <a:r>
              <a:rPr lang="zh-CN" altLang="zh-CN" sz="2000">
                <a:solidFill>
                  <a:srgbClr val="0000FF"/>
                </a:solidFill>
                <a:latin typeface="Tahoma" panose="020B0604030504040204" pitchFamily="34" charset="0"/>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92E9179-93E2-4474-9E20-139A5420814A}"/>
              </a:ext>
            </a:extLst>
          </p:cNvPr>
          <p:cNvSpPr>
            <a:spLocks noGrp="1" noChangeArrowheads="1"/>
          </p:cNvSpPr>
          <p:nvPr>
            <p:ph type="title"/>
          </p:nvPr>
        </p:nvSpPr>
        <p:spPr/>
        <p:txBody>
          <a:bodyPr/>
          <a:lstStyle/>
          <a:p>
            <a:pPr eaLnBrk="1" hangingPunct="1"/>
            <a:r>
              <a:rPr lang="en-US" altLang="zh-CN"/>
              <a:t>6.5 </a:t>
            </a:r>
            <a:r>
              <a:rPr lang="zh-CN" altLang="en-US"/>
              <a:t>函数和操作符重载</a:t>
            </a:r>
          </a:p>
        </p:txBody>
      </p:sp>
      <p:sp>
        <p:nvSpPr>
          <p:cNvPr id="60419" name="Rectangle 3">
            <a:extLst>
              <a:ext uri="{FF2B5EF4-FFF2-40B4-BE49-F238E27FC236}">
                <a16:creationId xmlns:a16="http://schemas.microsoft.com/office/drawing/2014/main" id="{540AD6CB-F321-4002-8D54-FF08C8B0D63E}"/>
              </a:ext>
            </a:extLst>
          </p:cNvPr>
          <p:cNvSpPr>
            <a:spLocks noGrp="1" noChangeArrowheads="1"/>
          </p:cNvSpPr>
          <p:nvPr>
            <p:ph type="body" idx="1"/>
          </p:nvPr>
        </p:nvSpPr>
        <p:spPr/>
        <p:txBody>
          <a:bodyPr/>
          <a:lstStyle/>
          <a:p>
            <a:pPr eaLnBrk="1" hangingPunct="1"/>
            <a:r>
              <a:rPr lang="zh-CN" altLang="en-US" sz="2800"/>
              <a:t>重载（</a:t>
            </a:r>
            <a:r>
              <a:rPr lang="en-US" altLang="zh-CN" sz="2800">
                <a:solidFill>
                  <a:schemeClr val="hlink"/>
                </a:solidFill>
              </a:rPr>
              <a:t>overloaded</a:t>
            </a:r>
            <a:r>
              <a:rPr lang="zh-CN" altLang="en-US" sz="2800"/>
              <a:t>）符号：根据上下文，具有不同的意义</a:t>
            </a:r>
          </a:p>
          <a:p>
            <a:pPr lvl="1" eaLnBrk="1" hangingPunct="1"/>
            <a:r>
              <a:rPr lang="en-US" altLang="zh-CN" sz="2400"/>
              <a:t>+</a:t>
            </a:r>
            <a:r>
              <a:rPr lang="zh-CN" altLang="en-US" sz="2400"/>
              <a:t>：整型加法，浮点型加法</a:t>
            </a:r>
          </a:p>
          <a:p>
            <a:pPr lvl="1" eaLnBrk="1" hangingPunct="1"/>
            <a:r>
              <a:rPr lang="en-US" altLang="zh-CN" sz="2400"/>
              <a:t>A(I)</a:t>
            </a:r>
            <a:r>
              <a:rPr lang="zh-CN" altLang="en-US" sz="2400"/>
              <a:t>：数组</a:t>
            </a:r>
            <a:r>
              <a:rPr lang="en-US" altLang="zh-CN" sz="2400"/>
              <a:t>A</a:t>
            </a:r>
            <a:r>
              <a:rPr lang="zh-CN" altLang="en-US" sz="2400"/>
              <a:t>的第</a:t>
            </a:r>
            <a:r>
              <a:rPr lang="en-US" altLang="zh-CN" sz="2400"/>
              <a:t>I</a:t>
            </a:r>
            <a:r>
              <a:rPr lang="zh-CN" altLang="en-US" sz="2400"/>
              <a:t>个元素，以参数</a:t>
            </a:r>
            <a:r>
              <a:rPr lang="en-US" altLang="zh-CN" sz="2400"/>
              <a:t>I</a:t>
            </a:r>
            <a:r>
              <a:rPr lang="zh-CN" altLang="en-US" sz="2400"/>
              <a:t>调用</a:t>
            </a:r>
            <a:r>
              <a:rPr lang="en-US" altLang="zh-CN" sz="2400"/>
              <a:t>A</a:t>
            </a:r>
            <a:r>
              <a:rPr lang="zh-CN" altLang="en-US" sz="2400"/>
              <a:t>，将</a:t>
            </a:r>
            <a:r>
              <a:rPr lang="en-US" altLang="zh-CN" sz="2400"/>
              <a:t>I</a:t>
            </a:r>
            <a:r>
              <a:rPr lang="zh-CN" altLang="en-US" sz="2400"/>
              <a:t>转换为类型</a:t>
            </a:r>
            <a:r>
              <a:rPr lang="en-US" altLang="zh-CN" sz="2400"/>
              <a:t>A</a:t>
            </a:r>
            <a:r>
              <a:rPr lang="zh-CN" altLang="en-US" sz="2400"/>
              <a:t>的显式类型转换</a:t>
            </a:r>
          </a:p>
          <a:p>
            <a:pPr eaLnBrk="1" hangingPunct="1"/>
            <a:r>
              <a:rPr lang="zh-CN" altLang="en-US" sz="2800"/>
              <a:t>重载的解析（</a:t>
            </a:r>
            <a:r>
              <a:rPr lang="en-US" altLang="zh-CN" sz="2800">
                <a:solidFill>
                  <a:schemeClr val="hlink"/>
                </a:solidFill>
              </a:rPr>
              <a:t>resolved</a:t>
            </a:r>
            <a:r>
              <a:rPr lang="zh-CN" altLang="en-US" sz="2800"/>
              <a:t>）：在某个特定上下文，确定符号的唯一意义</a:t>
            </a:r>
          </a:p>
          <a:p>
            <a:pPr lvl="1" eaLnBrk="1" hangingPunct="1"/>
            <a:r>
              <a:rPr lang="en-US" altLang="zh-CN" sz="2400"/>
              <a:t>1+2</a:t>
            </a:r>
            <a:r>
              <a:rPr lang="zh-CN" altLang="en-US" sz="2400"/>
              <a:t>：</a:t>
            </a:r>
            <a:r>
              <a:rPr lang="en-US" altLang="zh-CN" sz="2400"/>
              <a:t>+</a:t>
            </a:r>
            <a:r>
              <a:rPr lang="zh-CN" altLang="en-US" sz="2400"/>
              <a:t>为整型加法</a:t>
            </a:r>
          </a:p>
          <a:p>
            <a:pPr lvl="1" eaLnBrk="1" hangingPunct="1"/>
            <a:r>
              <a:rPr lang="zh-CN" altLang="en-US" sz="2400"/>
              <a:t>运算符识别，</a:t>
            </a:r>
            <a:r>
              <a:rPr lang="en-US" altLang="zh-CN" sz="2400"/>
              <a:t>operator identification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AD4F6D6D-7AD6-4C6C-B29B-F6182D022394}"/>
              </a:ext>
            </a:extLst>
          </p:cNvPr>
          <p:cNvSpPr>
            <a:spLocks noGrp="1" noChangeArrowheads="1"/>
          </p:cNvSpPr>
          <p:nvPr>
            <p:ph type="title"/>
          </p:nvPr>
        </p:nvSpPr>
        <p:spPr/>
        <p:txBody>
          <a:bodyPr/>
          <a:lstStyle/>
          <a:p>
            <a:pPr eaLnBrk="1" hangingPunct="1"/>
            <a:r>
              <a:rPr lang="en-US" altLang="zh-CN"/>
              <a:t>6.5.1  </a:t>
            </a:r>
            <a:r>
              <a:rPr lang="zh-CN" altLang="en-US"/>
              <a:t>子表达式可能类型集合</a:t>
            </a:r>
          </a:p>
        </p:txBody>
      </p:sp>
      <p:sp>
        <p:nvSpPr>
          <p:cNvPr id="61443" name="Rectangle 3">
            <a:extLst>
              <a:ext uri="{FF2B5EF4-FFF2-40B4-BE49-F238E27FC236}">
                <a16:creationId xmlns:a16="http://schemas.microsoft.com/office/drawing/2014/main" id="{71723D80-1716-402F-A78B-FB7FDDA2E764}"/>
              </a:ext>
            </a:extLst>
          </p:cNvPr>
          <p:cNvSpPr>
            <a:spLocks noGrp="1" noChangeArrowheads="1"/>
          </p:cNvSpPr>
          <p:nvPr>
            <p:ph type="body" idx="1"/>
          </p:nvPr>
        </p:nvSpPr>
        <p:spPr>
          <a:xfrm>
            <a:off x="1182688" y="1371600"/>
            <a:ext cx="7772400" cy="5486400"/>
          </a:xfrm>
        </p:spPr>
        <p:txBody>
          <a:bodyPr/>
          <a:lstStyle/>
          <a:p>
            <a:pPr eaLnBrk="1" hangingPunct="1"/>
            <a:r>
              <a:rPr lang="zh-CN" altLang="en-US" sz="3600"/>
              <a:t>例</a:t>
            </a:r>
            <a:r>
              <a:rPr lang="en-US" altLang="zh-CN" sz="3600"/>
              <a:t>6.6</a:t>
            </a:r>
          </a:p>
          <a:p>
            <a:pPr eaLnBrk="1" hangingPunct="1"/>
            <a:r>
              <a:rPr lang="en-US" altLang="zh-CN" sz="2800"/>
              <a:t>Ada</a:t>
            </a:r>
            <a:r>
              <a:rPr lang="zh-CN" altLang="en-US" sz="2800"/>
              <a:t>允许对乘法运算符“*”进行重载</a:t>
            </a:r>
          </a:p>
          <a:p>
            <a:pPr lvl="1" eaLnBrk="1" hangingPunct="1"/>
            <a:r>
              <a:rPr lang="en-US" altLang="zh-CN" sz="2400"/>
              <a:t>function “*” (i, j : integer) return complex;</a:t>
            </a:r>
          </a:p>
          <a:p>
            <a:pPr lvl="1" eaLnBrk="1" hangingPunct="1"/>
            <a:r>
              <a:rPr lang="en-US" altLang="zh-CN" sz="2400"/>
              <a:t>function “*” (x, y : complex) return complex;</a:t>
            </a:r>
          </a:p>
          <a:p>
            <a:pPr eaLnBrk="1" hangingPunct="1"/>
            <a:r>
              <a:rPr lang="en-US" altLang="zh-CN" sz="2800"/>
              <a:t>*</a:t>
            </a:r>
            <a:r>
              <a:rPr lang="zh-CN" altLang="en-US" sz="2800"/>
              <a:t>具有三种可能类型</a:t>
            </a:r>
          </a:p>
          <a:p>
            <a:pPr lvl="1" eaLnBrk="1" hangingPunct="1"/>
            <a:r>
              <a:rPr lang="en-US" altLang="zh-CN" sz="2400" i="1"/>
              <a:t>integer</a:t>
            </a:r>
            <a:r>
              <a:rPr lang="en-US" altLang="zh-CN" sz="2400"/>
              <a:t> × </a:t>
            </a:r>
            <a:r>
              <a:rPr lang="en-US" altLang="zh-CN" sz="2400" i="1"/>
              <a:t>integer</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integer</a:t>
            </a:r>
          </a:p>
          <a:p>
            <a:pPr lvl="1" eaLnBrk="1" hangingPunct="1"/>
            <a:r>
              <a:rPr lang="en-US" altLang="zh-CN" sz="2400" i="1"/>
              <a:t>integer</a:t>
            </a:r>
            <a:r>
              <a:rPr lang="en-US" altLang="zh-CN" sz="2400"/>
              <a:t> × </a:t>
            </a:r>
            <a:r>
              <a:rPr lang="en-US" altLang="zh-CN" sz="2400" i="1"/>
              <a:t>integer</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complex</a:t>
            </a:r>
          </a:p>
          <a:p>
            <a:pPr lvl="1" eaLnBrk="1" hangingPunct="1"/>
            <a:r>
              <a:rPr kumimoji="0" lang="en-US" altLang="zh-CN" sz="2400" i="1">
                <a:sym typeface="Symbol" panose="05050102010706020507" pitchFamily="18" charset="2"/>
              </a:rPr>
              <a:t>complex</a:t>
            </a:r>
            <a:r>
              <a:rPr lang="en-US" altLang="zh-CN" sz="2400"/>
              <a:t> × </a:t>
            </a:r>
            <a:r>
              <a:rPr kumimoji="0" lang="en-US" altLang="zh-CN" sz="2400" i="1">
                <a:sym typeface="Symbol" panose="05050102010706020507" pitchFamily="18" charset="2"/>
              </a:rPr>
              <a:t>complex</a:t>
            </a:r>
            <a:r>
              <a:rPr lang="en-US" altLang="zh-CN" sz="2400"/>
              <a:t> </a:t>
            </a:r>
            <a:r>
              <a:rPr kumimoji="0" lang="en-US" altLang="zh-CN" sz="2400">
                <a:sym typeface="Symbol" panose="05050102010706020507" pitchFamily="18" charset="2"/>
              </a:rPr>
              <a:t> </a:t>
            </a:r>
            <a:r>
              <a:rPr kumimoji="0" lang="en-US" altLang="zh-CN" sz="2400" i="1">
                <a:sym typeface="Symbol" panose="05050102010706020507" pitchFamily="18" charset="2"/>
              </a:rPr>
              <a:t>complex</a:t>
            </a:r>
          </a:p>
          <a:p>
            <a:pPr lvl="1" eaLnBrk="1" hangingPunct="1"/>
            <a:r>
              <a:rPr kumimoji="0" lang="en-US" altLang="zh-CN" sz="2400">
                <a:sym typeface="Symbol" panose="05050102010706020507" pitchFamily="18" charset="2"/>
              </a:rPr>
              <a:t>2*(3*5)</a:t>
            </a:r>
            <a:r>
              <a:rPr kumimoji="0" lang="en-US" altLang="zh-CN" sz="2400">
                <a:sym typeface="Wingdings" panose="05000000000000000000" pitchFamily="2" charset="2"/>
              </a:rPr>
              <a:t></a:t>
            </a:r>
            <a:r>
              <a:rPr kumimoji="0" lang="en-US" altLang="zh-CN" sz="2400">
                <a:sym typeface="Symbol" panose="05050102010706020507" pitchFamily="18" charset="2"/>
              </a:rPr>
              <a:t>3*5——</a:t>
            </a:r>
            <a:r>
              <a:rPr kumimoji="0" lang="zh-CN" altLang="en-US" sz="2400">
                <a:sym typeface="Symbol" panose="05050102010706020507" pitchFamily="18" charset="2"/>
              </a:rPr>
              <a:t>类型</a:t>
            </a:r>
            <a:r>
              <a:rPr kumimoji="0" lang="en-US" altLang="zh-CN" sz="2400">
                <a:sym typeface="Symbol" panose="05050102010706020507" pitchFamily="18" charset="2"/>
              </a:rPr>
              <a:t>1</a:t>
            </a:r>
          </a:p>
          <a:p>
            <a:pPr lvl="1" eaLnBrk="1" hangingPunct="1"/>
            <a:r>
              <a:rPr kumimoji="0" lang="en-US" altLang="zh-CN" sz="2400">
                <a:sym typeface="Symbol" panose="05050102010706020507" pitchFamily="18" charset="2"/>
              </a:rPr>
              <a:t>z*(3*5)</a:t>
            </a:r>
            <a:r>
              <a:rPr kumimoji="0" lang="zh-CN" altLang="en-US" sz="2400">
                <a:sym typeface="Symbol" panose="05050102010706020507" pitchFamily="18" charset="2"/>
              </a:rPr>
              <a:t>，</a:t>
            </a:r>
            <a:r>
              <a:rPr kumimoji="0" lang="en-US" altLang="zh-CN" sz="2400">
                <a:sym typeface="Symbol" panose="05050102010706020507" pitchFamily="18" charset="2"/>
              </a:rPr>
              <a:t>z</a:t>
            </a:r>
            <a:r>
              <a:rPr kumimoji="0" lang="zh-CN" altLang="en-US" sz="2400">
                <a:sym typeface="Symbol" panose="05050102010706020507" pitchFamily="18" charset="2"/>
              </a:rPr>
              <a:t>为复数类型</a:t>
            </a:r>
            <a:r>
              <a:rPr kumimoji="0" lang="zh-CN" altLang="en-US" sz="2400">
                <a:sym typeface="Wingdings" panose="05000000000000000000" pitchFamily="2" charset="2"/>
              </a:rPr>
              <a:t></a:t>
            </a:r>
            <a:r>
              <a:rPr kumimoji="0" lang="en-US" altLang="zh-CN" sz="2400">
                <a:sym typeface="Wingdings" panose="05000000000000000000" pitchFamily="2" charset="2"/>
              </a:rPr>
              <a:t>3*5——</a:t>
            </a:r>
            <a:r>
              <a:rPr kumimoji="0" lang="zh-CN" altLang="en-US" sz="2400">
                <a:sym typeface="Wingdings" panose="05000000000000000000" pitchFamily="2" charset="2"/>
              </a:rPr>
              <a:t>类型</a:t>
            </a:r>
            <a:r>
              <a:rPr kumimoji="0" lang="en-US" altLang="zh-CN" sz="2400">
                <a:sym typeface="Wingdings" panose="05000000000000000000" pitchFamily="2" charset="2"/>
              </a:rPr>
              <a:t>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341D967-65B8-4BCA-A16B-C4CAF03BC0B3}"/>
              </a:ext>
            </a:extLst>
          </p:cNvPr>
          <p:cNvSpPr>
            <a:spLocks noGrp="1" noChangeArrowheads="1"/>
          </p:cNvSpPr>
          <p:nvPr>
            <p:ph type="title"/>
          </p:nvPr>
        </p:nvSpPr>
        <p:spPr/>
        <p:txBody>
          <a:bodyPr/>
          <a:lstStyle/>
          <a:p>
            <a:pPr eaLnBrk="1" hangingPunct="1"/>
            <a:r>
              <a:rPr lang="zh-CN" altLang="en-US"/>
              <a:t>可能类型集合情况的处理</a:t>
            </a:r>
          </a:p>
        </p:txBody>
      </p:sp>
      <p:sp>
        <p:nvSpPr>
          <p:cNvPr id="62467" name="Rectangle 3">
            <a:extLst>
              <a:ext uri="{FF2B5EF4-FFF2-40B4-BE49-F238E27FC236}">
                <a16:creationId xmlns:a16="http://schemas.microsoft.com/office/drawing/2014/main" id="{CEE2B0AA-B2B3-4BE5-AEC7-139D7C1708C6}"/>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zh-CN">
                <a:sym typeface="Symbol" panose="05050102010706020507" pitchFamily="18" charset="2"/>
              </a:rPr>
              <a:t>E  </a:t>
            </a:r>
            <a:r>
              <a:rPr lang="en-US" altLang="zh-CN" b="1">
                <a:solidFill>
                  <a:schemeClr val="accent2"/>
                </a:solidFill>
                <a:sym typeface="Symbol" panose="05050102010706020507" pitchFamily="18" charset="2"/>
              </a:rPr>
              <a:t>id</a:t>
            </a:r>
            <a:r>
              <a:rPr lang="en-US" altLang="zh-CN">
                <a:solidFill>
                  <a:schemeClr val="accent2"/>
                </a:solidFill>
                <a:sym typeface="Symbol" panose="05050102010706020507" pitchFamily="18" charset="2"/>
              </a:rPr>
              <a:t> 		</a:t>
            </a:r>
            <a:r>
              <a:rPr lang="en-US" altLang="zh-CN">
                <a:sym typeface="Symbol" panose="05050102010706020507" pitchFamily="18" charset="2"/>
              </a:rPr>
              <a:t>E.</a:t>
            </a:r>
            <a:r>
              <a:rPr lang="en-US" altLang="zh-CN" i="1">
                <a:sym typeface="Symbol" panose="05050102010706020507" pitchFamily="18" charset="2"/>
              </a:rPr>
              <a:t>types</a:t>
            </a:r>
            <a:r>
              <a:rPr lang="en-US" altLang="zh-CN">
                <a:sym typeface="Symbol" panose="05050102010706020507" pitchFamily="18" charset="2"/>
              </a:rPr>
              <a:t> = </a:t>
            </a:r>
            <a:r>
              <a:rPr lang="en-US" altLang="zh-CN" i="1">
                <a:sym typeface="Symbol" panose="05050102010706020507" pitchFamily="18" charset="2"/>
              </a:rPr>
              <a:t>lookup</a:t>
            </a:r>
            <a:r>
              <a:rPr lang="en-US" altLang="zh-CN">
                <a:sym typeface="Symbol" panose="05050102010706020507" pitchFamily="18" charset="2"/>
              </a:rPr>
              <a:t>(</a:t>
            </a:r>
            <a:r>
              <a:rPr lang="en-US" altLang="zh-CN" b="1">
                <a:solidFill>
                  <a:schemeClr val="accent2"/>
                </a:solidFill>
                <a:sym typeface="Symbol" panose="05050102010706020507" pitchFamily="18" charset="2"/>
              </a:rPr>
              <a:t>id</a:t>
            </a:r>
            <a:r>
              <a:rPr lang="en-US" altLang="zh-CN">
                <a:sym typeface="Symbol" panose="05050102010706020507" pitchFamily="18" charset="2"/>
              </a:rPr>
              <a:t>.</a:t>
            </a:r>
            <a:r>
              <a:rPr lang="en-US" altLang="zh-CN" i="1">
                <a:sym typeface="Symbol" panose="05050102010706020507" pitchFamily="18" charset="2"/>
              </a:rPr>
              <a:t>entry</a:t>
            </a:r>
            <a:r>
              <a:rPr lang="en-US" altLang="zh-CN">
                <a:sym typeface="Symbol" panose="05050102010706020507" pitchFamily="18" charset="2"/>
              </a:rPr>
              <a:t>)</a:t>
            </a:r>
            <a:endParaRPr lang="en-US" altLang="zh-CN"/>
          </a:p>
          <a:p>
            <a:pPr eaLnBrk="1" hangingPunct="1">
              <a:buFont typeface="Wingdings" panose="05000000000000000000" pitchFamily="2" charset="2"/>
              <a:buNone/>
            </a:pPr>
            <a:r>
              <a:rPr lang="en-US" altLang="zh-CN">
                <a:sym typeface="Symbol" panose="05050102010706020507" pitchFamily="18" charset="2"/>
              </a:rPr>
              <a:t>E  E</a:t>
            </a:r>
            <a:r>
              <a:rPr lang="en-US" altLang="zh-CN" baseline="-25000">
                <a:sym typeface="Symbol" panose="05050102010706020507" pitchFamily="18" charset="2"/>
              </a:rPr>
              <a:t>1</a:t>
            </a:r>
            <a:r>
              <a:rPr lang="en-US" altLang="zh-CN">
                <a:solidFill>
                  <a:schemeClr val="accent2"/>
                </a:solidFill>
                <a:sym typeface="Symbol" panose="05050102010706020507" pitchFamily="18" charset="2"/>
              </a:rPr>
              <a:t>(</a:t>
            </a:r>
            <a:r>
              <a:rPr lang="en-US" altLang="zh-CN">
                <a:sym typeface="Symbol" panose="05050102010706020507" pitchFamily="18" charset="2"/>
              </a:rPr>
              <a:t>E</a:t>
            </a:r>
            <a:r>
              <a:rPr lang="en-US" altLang="zh-CN" baseline="-25000">
                <a:sym typeface="Symbol" panose="05050102010706020507" pitchFamily="18" charset="2"/>
              </a:rPr>
              <a:t>2</a:t>
            </a:r>
            <a:r>
              <a:rPr lang="en-US" altLang="zh-CN">
                <a:solidFill>
                  <a:schemeClr val="accent2"/>
                </a:solidFill>
                <a:sym typeface="Symbol" panose="05050102010706020507" pitchFamily="18" charset="2"/>
              </a:rPr>
              <a:t>) 	</a:t>
            </a:r>
            <a:r>
              <a:rPr lang="en-US" altLang="zh-CN">
                <a:sym typeface="Symbol" panose="05050102010706020507" pitchFamily="18" charset="2"/>
              </a:rPr>
              <a:t>E.</a:t>
            </a:r>
            <a:r>
              <a:rPr lang="en-US" altLang="zh-CN" i="1">
                <a:sym typeface="Symbol" panose="05050102010706020507" pitchFamily="18" charset="2"/>
              </a:rPr>
              <a:t>types</a:t>
            </a:r>
            <a:r>
              <a:rPr lang="en-US" altLang="zh-CN">
                <a:sym typeface="Symbol" panose="05050102010706020507" pitchFamily="18" charset="2"/>
              </a:rPr>
              <a:t> = { t | E</a:t>
            </a:r>
            <a:r>
              <a:rPr lang="en-US" altLang="zh-CN" baseline="-25000">
                <a:sym typeface="Symbol" panose="05050102010706020507" pitchFamily="18" charset="2"/>
              </a:rPr>
              <a:t>2</a:t>
            </a:r>
            <a:r>
              <a:rPr lang="en-US" altLang="zh-CN">
                <a:sym typeface="Symbol" panose="05050102010706020507" pitchFamily="18" charset="2"/>
              </a:rPr>
              <a:t>.</a:t>
            </a:r>
            <a:r>
              <a:rPr lang="en-US" altLang="zh-CN" i="1">
                <a:sym typeface="Symbol" panose="05050102010706020507" pitchFamily="18" charset="2"/>
              </a:rPr>
              <a:t>types</a:t>
            </a:r>
            <a:r>
              <a:rPr lang="zh-CN" altLang="en-US">
                <a:sym typeface="Symbol" panose="05050102010706020507" pitchFamily="18" charset="2"/>
              </a:rPr>
              <a:t>中</a:t>
            </a:r>
            <a:br>
              <a:rPr lang="zh-CN" altLang="en-US">
                <a:sym typeface="Symbol" panose="05050102010706020507" pitchFamily="18" charset="2"/>
              </a:rPr>
            </a:br>
            <a:r>
              <a:rPr lang="zh-CN" altLang="en-US">
                <a:sym typeface="Symbol" panose="05050102010706020507" pitchFamily="18" charset="2"/>
              </a:rPr>
              <a:t>			  存在</a:t>
            </a:r>
            <a:r>
              <a:rPr lang="en-US" altLang="zh-CN">
                <a:sym typeface="Symbol" panose="05050102010706020507" pitchFamily="18" charset="2"/>
              </a:rPr>
              <a:t>s</a:t>
            </a:r>
            <a:r>
              <a:rPr lang="zh-CN" altLang="en-US">
                <a:sym typeface="Symbol" panose="05050102010706020507" pitchFamily="18" charset="2"/>
              </a:rPr>
              <a:t>使得</a:t>
            </a:r>
            <a:r>
              <a:rPr lang="en-US" altLang="zh-CN">
                <a:sym typeface="Symbol" panose="05050102010706020507" pitchFamily="18" charset="2"/>
              </a:rPr>
              <a:t>s</a:t>
            </a:r>
            <a:r>
              <a:rPr lang="en-US" altLang="zh-CN" i="1">
                <a:sym typeface="Symbol" panose="05050102010706020507" pitchFamily="18" charset="2"/>
              </a:rPr>
              <a:t>t</a:t>
            </a:r>
            <a:r>
              <a:rPr lang="zh-CN" altLang="en-US">
                <a:sym typeface="Symbol" panose="05050102010706020507" pitchFamily="18" charset="2"/>
              </a:rPr>
              <a:t>属于</a:t>
            </a:r>
            <a:br>
              <a:rPr lang="zh-CN" altLang="en-US">
                <a:sym typeface="Symbol" panose="05050102010706020507" pitchFamily="18" charset="2"/>
              </a:rPr>
            </a:br>
            <a:r>
              <a:rPr lang="zh-CN" altLang="en-US">
                <a:sym typeface="Symbol" panose="05050102010706020507" pitchFamily="18" charset="2"/>
              </a:rPr>
              <a:t>			   </a:t>
            </a:r>
            <a:r>
              <a:rPr lang="en-US" altLang="zh-CN">
                <a:sym typeface="Symbol" panose="05050102010706020507" pitchFamily="18" charset="2"/>
              </a:rPr>
              <a:t>E</a:t>
            </a:r>
            <a:r>
              <a:rPr lang="en-US" altLang="zh-CN" baseline="-25000">
                <a:sym typeface="Symbol" panose="05050102010706020507" pitchFamily="18" charset="2"/>
              </a:rPr>
              <a:t>1</a:t>
            </a:r>
            <a:r>
              <a:rPr lang="en-US" altLang="zh-CN">
                <a:sym typeface="Symbol" panose="05050102010706020507" pitchFamily="18" charset="2"/>
              </a:rPr>
              <a:t>.</a:t>
            </a:r>
            <a:r>
              <a:rPr lang="en-US" altLang="zh-CN" i="1">
                <a:sym typeface="Symbol" panose="05050102010706020507" pitchFamily="18" charset="2"/>
              </a:rPr>
              <a:t>types</a:t>
            </a:r>
            <a:r>
              <a:rPr lang="en-US" altLang="zh-CN">
                <a:sym typeface="Symbol" panose="05050102010706020507" pitchFamily="18" charset="2"/>
              </a:rPr>
              <a:t> }</a:t>
            </a:r>
            <a:endParaRPr lang="en-US" altLang="zh-CN"/>
          </a:p>
          <a:p>
            <a:pPr eaLnBrk="1" hangingPunct="1"/>
            <a:r>
              <a:rPr lang="zh-CN" altLang="en-US"/>
              <a:t>单一类型运算</a:t>
            </a:r>
            <a:r>
              <a:rPr lang="zh-CN" altLang="en-US">
                <a:sym typeface="Wingdings" panose="05000000000000000000" pitchFamily="2" charset="2"/>
              </a:rPr>
              <a:t>类型集合运算</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2A9B4E9-64CA-4B42-BC37-E7EEBE809878}"/>
              </a:ext>
            </a:extLst>
          </p:cNvPr>
          <p:cNvSpPr>
            <a:spLocks noGrp="1" noChangeArrowheads="1"/>
          </p:cNvSpPr>
          <p:nvPr>
            <p:ph type="title"/>
          </p:nvPr>
        </p:nvSpPr>
        <p:spPr/>
        <p:txBody>
          <a:bodyPr/>
          <a:lstStyle/>
          <a:p>
            <a:pPr eaLnBrk="1" hangingPunct="1"/>
            <a:r>
              <a:rPr lang="zh-CN" altLang="en-US"/>
              <a:t>例</a:t>
            </a:r>
            <a:r>
              <a:rPr lang="en-US" altLang="zh-CN"/>
              <a:t>6.7</a:t>
            </a:r>
          </a:p>
        </p:txBody>
      </p:sp>
      <p:pic>
        <p:nvPicPr>
          <p:cNvPr id="63491" name="Picture 4" descr="overload">
            <a:extLst>
              <a:ext uri="{FF2B5EF4-FFF2-40B4-BE49-F238E27FC236}">
                <a16:creationId xmlns:a16="http://schemas.microsoft.com/office/drawing/2014/main" id="{164BE6F2-9E2F-45F7-8C22-63D91E842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4913" y="1446213"/>
            <a:ext cx="6732587"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994FF690-912A-4AF5-92C6-269CF726C24B}"/>
              </a:ext>
            </a:extLst>
          </p:cNvPr>
          <p:cNvSpPr>
            <a:spLocks noGrp="1" noChangeArrowheads="1"/>
          </p:cNvSpPr>
          <p:nvPr>
            <p:ph type="title"/>
          </p:nvPr>
        </p:nvSpPr>
        <p:spPr/>
        <p:txBody>
          <a:bodyPr/>
          <a:lstStyle/>
          <a:p>
            <a:pPr eaLnBrk="1" hangingPunct="1"/>
            <a:r>
              <a:rPr lang="en-US" altLang="zh-CN"/>
              <a:t>6.5.2  </a:t>
            </a:r>
            <a:r>
              <a:rPr lang="zh-CN" altLang="en-US"/>
              <a:t>确定唯一类型</a:t>
            </a:r>
          </a:p>
        </p:txBody>
      </p:sp>
      <p:sp>
        <p:nvSpPr>
          <p:cNvPr id="64515" name="Rectangle 3">
            <a:extLst>
              <a:ext uri="{FF2B5EF4-FFF2-40B4-BE49-F238E27FC236}">
                <a16:creationId xmlns:a16="http://schemas.microsoft.com/office/drawing/2014/main" id="{621CA688-712C-4D64-BE21-191277DD416D}"/>
              </a:ext>
            </a:extLst>
          </p:cNvPr>
          <p:cNvSpPr>
            <a:spLocks noGrp="1" noChangeArrowheads="1"/>
          </p:cNvSpPr>
          <p:nvPr>
            <p:ph type="body" idx="1"/>
          </p:nvPr>
        </p:nvSpPr>
        <p:spPr/>
        <p:txBody>
          <a:bodyPr/>
          <a:lstStyle/>
          <a:p>
            <a:pPr eaLnBrk="1" hangingPunct="1"/>
            <a:r>
              <a:rPr lang="zh-CN" altLang="en-US" sz="2800" dirty="0"/>
              <a:t>完整表达式须有唯一类型</a:t>
            </a:r>
            <a:r>
              <a:rPr lang="zh-CN" altLang="en-US" sz="2800" dirty="0">
                <a:sym typeface="Wingdings" panose="05000000000000000000" pitchFamily="2" charset="2"/>
              </a:rPr>
              <a:t>确定每个子表达式的唯一类型，或</a:t>
            </a:r>
            <a:r>
              <a:rPr lang="en-US" altLang="zh-CN" sz="2800" dirty="0" err="1">
                <a:sym typeface="Wingdings" panose="05000000000000000000" pitchFamily="2" charset="2"/>
              </a:rPr>
              <a:t>type_error</a:t>
            </a:r>
            <a:endParaRPr lang="en-US" altLang="zh-CN" sz="2800" dirty="0">
              <a:sym typeface="Wingdings" panose="05000000000000000000" pitchFamily="2" charset="2"/>
            </a:endParaRPr>
          </a:p>
          <a:p>
            <a:pPr eaLnBrk="1" hangingPunct="1"/>
            <a:r>
              <a:rPr lang="zh-CN" altLang="en-US" sz="2800" dirty="0">
                <a:sym typeface="Wingdings" panose="05000000000000000000" pitchFamily="2" charset="2"/>
              </a:rPr>
              <a:t>自顶向下（之前的类型集合计算自底向上）</a:t>
            </a:r>
          </a:p>
          <a:p>
            <a:pPr eaLnBrk="1" hangingPunct="1"/>
            <a:r>
              <a:rPr lang="en-US" altLang="zh-CN" sz="2800" dirty="0" err="1">
                <a:sym typeface="Wingdings" panose="05000000000000000000" pitchFamily="2" charset="2"/>
              </a:rPr>
              <a:t>E.types</a:t>
            </a:r>
            <a:r>
              <a:rPr lang="zh-CN" altLang="en-US" sz="2800" dirty="0">
                <a:sym typeface="Wingdings" panose="05000000000000000000" pitchFamily="2" charset="2"/>
              </a:rPr>
              <a:t>中每个类型</a:t>
            </a:r>
            <a:r>
              <a:rPr lang="en-US" altLang="zh-CN" sz="2800" dirty="0">
                <a:sym typeface="Wingdings" panose="05000000000000000000" pitchFamily="2" charset="2"/>
              </a:rPr>
              <a:t>t</a:t>
            </a:r>
            <a:r>
              <a:rPr lang="zh-CN" altLang="en-US" sz="2800" dirty="0">
                <a:sym typeface="Wingdings" panose="05000000000000000000" pitchFamily="2" charset="2"/>
              </a:rPr>
              <a:t>均为可行（</a:t>
            </a:r>
            <a:r>
              <a:rPr lang="en-US" altLang="zh-CN" sz="2800" dirty="0">
                <a:solidFill>
                  <a:schemeClr val="hlink"/>
                </a:solidFill>
                <a:sym typeface="Wingdings" panose="05000000000000000000" pitchFamily="2" charset="2"/>
              </a:rPr>
              <a:t>feasible</a:t>
            </a:r>
            <a:r>
              <a:rPr lang="zh-CN" altLang="en-US" sz="2800" dirty="0">
                <a:sym typeface="Wingdings" panose="05000000000000000000" pitchFamily="2" charset="2"/>
              </a:rPr>
              <a:t>）类型</a:t>
            </a:r>
            <a:br>
              <a:rPr lang="en-US" altLang="zh-CN" sz="2800" dirty="0">
                <a:sym typeface="Wingdings" panose="05000000000000000000" pitchFamily="2" charset="2"/>
              </a:rPr>
            </a:br>
            <a:r>
              <a:rPr lang="en-US" altLang="zh-CN" sz="2800" dirty="0">
                <a:sym typeface="Wingdings" panose="05000000000000000000" pitchFamily="2" charset="2"/>
              </a:rPr>
              <a:t>——</a:t>
            </a:r>
            <a:r>
              <a:rPr lang="zh-CN" altLang="en-US" sz="2800" dirty="0">
                <a:sym typeface="Wingdings" panose="05000000000000000000" pitchFamily="2" charset="2"/>
              </a:rPr>
              <a:t>确定</a:t>
            </a:r>
            <a:r>
              <a:rPr lang="en-US" altLang="zh-CN" sz="2800" dirty="0">
                <a:sym typeface="Wingdings" panose="05000000000000000000" pitchFamily="2" charset="2"/>
              </a:rPr>
              <a:t>E</a:t>
            </a:r>
            <a:r>
              <a:rPr lang="zh-CN" altLang="en-US" sz="2800" dirty="0">
                <a:sym typeface="Wingdings" panose="05000000000000000000" pitchFamily="2" charset="2"/>
              </a:rPr>
              <a:t>中重载标识符的类型，某种情况下，</a:t>
            </a:r>
            <a:r>
              <a:rPr lang="en-US" altLang="zh-CN" sz="2800" dirty="0">
                <a:sym typeface="Wingdings" panose="05000000000000000000" pitchFamily="2" charset="2"/>
              </a:rPr>
              <a:t>E</a:t>
            </a:r>
            <a:r>
              <a:rPr lang="zh-CN" altLang="en-US" sz="2800" dirty="0">
                <a:sym typeface="Wingdings" panose="05000000000000000000" pitchFamily="2" charset="2"/>
              </a:rPr>
              <a:t>的类型为</a:t>
            </a:r>
            <a:r>
              <a:rPr lang="en-US" altLang="zh-CN" sz="2800" dirty="0">
                <a:sym typeface="Wingdings" panose="05000000000000000000" pitchFamily="2" charset="2"/>
              </a:rPr>
              <a:t>t</a:t>
            </a:r>
          </a:p>
          <a:p>
            <a:pPr lvl="1" eaLnBrk="1" hangingPunct="1"/>
            <a:r>
              <a:rPr lang="zh-CN" altLang="en-US" sz="2400" dirty="0"/>
              <a:t>对标识符成立，</a:t>
            </a:r>
            <a:r>
              <a:rPr lang="en-US" altLang="zh-CN" sz="2400" dirty="0" err="1"/>
              <a:t>id.types</a:t>
            </a:r>
            <a:r>
              <a:rPr lang="zh-CN" altLang="en-US" sz="2400" dirty="0"/>
              <a:t>中类型均可行</a:t>
            </a:r>
          </a:p>
          <a:p>
            <a:pPr lvl="1" eaLnBrk="1" hangingPunct="1"/>
            <a:r>
              <a:rPr lang="zh-CN" altLang="en-US" sz="2400" dirty="0"/>
              <a:t>归纳法：</a:t>
            </a:r>
            <a:r>
              <a:rPr lang="en-US" altLang="zh-CN" sz="2400" dirty="0"/>
              <a:t>E</a:t>
            </a:r>
            <a:r>
              <a:rPr lang="zh-CN" altLang="en-US" sz="2400" dirty="0"/>
              <a:t>为</a:t>
            </a:r>
            <a:r>
              <a:rPr lang="en-US" altLang="zh-CN" sz="2400" dirty="0"/>
              <a:t>E</a:t>
            </a:r>
            <a:r>
              <a:rPr lang="en-US" altLang="zh-CN" sz="2400" baseline="-25000" dirty="0"/>
              <a:t>1</a:t>
            </a:r>
            <a:r>
              <a:rPr lang="en-US" altLang="zh-CN" sz="2400" dirty="0"/>
              <a:t>(E</a:t>
            </a:r>
            <a:r>
              <a:rPr lang="en-US" altLang="zh-CN" sz="2400" baseline="-25000" dirty="0"/>
              <a:t>2</a:t>
            </a:r>
            <a:r>
              <a:rPr lang="en-US" altLang="zh-CN" sz="2400" dirty="0"/>
              <a:t>)</a:t>
            </a:r>
            <a:r>
              <a:rPr lang="zh-CN" altLang="en-US" sz="2400" dirty="0"/>
              <a:t>，</a:t>
            </a:r>
            <a:r>
              <a:rPr lang="en-US" altLang="zh-CN" sz="2400" dirty="0"/>
              <a:t>s</a:t>
            </a:r>
            <a:r>
              <a:rPr lang="zh-CN" altLang="en-US" sz="2400" dirty="0"/>
              <a:t>为</a:t>
            </a:r>
            <a:r>
              <a:rPr lang="en-US" altLang="zh-CN" sz="2400" dirty="0"/>
              <a:t>E</a:t>
            </a:r>
            <a:r>
              <a:rPr lang="en-US" altLang="zh-CN" sz="2400" baseline="-25000" dirty="0"/>
              <a:t>2</a:t>
            </a:r>
            <a:r>
              <a:rPr lang="zh-CN" altLang="en-US" sz="2400" dirty="0"/>
              <a:t>可行类型，</a:t>
            </a:r>
            <a:r>
              <a:rPr lang="en-US" altLang="zh-CN" sz="2400" dirty="0" err="1">
                <a:sym typeface="Symbol" panose="05050102010706020507" pitchFamily="18" charset="2"/>
              </a:rPr>
              <a:t>s</a:t>
            </a:r>
            <a:r>
              <a:rPr lang="en-US" altLang="zh-CN" sz="2400" i="1" dirty="0" err="1">
                <a:sym typeface="Symbol" panose="05050102010706020507" pitchFamily="18" charset="2"/>
              </a:rPr>
              <a:t>t</a:t>
            </a:r>
            <a:r>
              <a:rPr lang="zh-CN" altLang="en-US" sz="2400" dirty="0">
                <a:sym typeface="Symbol" panose="05050102010706020507" pitchFamily="18" charset="2"/>
              </a:rPr>
              <a:t>为</a:t>
            </a:r>
            <a:r>
              <a:rPr lang="en-US" altLang="zh-CN" sz="2400" dirty="0">
                <a:sym typeface="Symbol" panose="05050102010706020507" pitchFamily="18" charset="2"/>
              </a:rPr>
              <a:t>E</a:t>
            </a:r>
            <a:r>
              <a:rPr lang="en-US" altLang="zh-CN" sz="2400" baseline="-25000" dirty="0">
                <a:sym typeface="Symbol" panose="05050102010706020507" pitchFamily="18" charset="2"/>
              </a:rPr>
              <a:t>1</a:t>
            </a:r>
            <a:r>
              <a:rPr lang="zh-CN" altLang="en-US" sz="2400" dirty="0">
                <a:sym typeface="Symbol" panose="05050102010706020507" pitchFamily="18" charset="2"/>
              </a:rPr>
              <a:t>可行类型，因此</a:t>
            </a:r>
            <a:r>
              <a:rPr lang="en-US" altLang="zh-CN" sz="2400" dirty="0">
                <a:sym typeface="Symbol" panose="05050102010706020507" pitchFamily="18" charset="2"/>
              </a:rPr>
              <a:t>t</a:t>
            </a:r>
            <a:r>
              <a:rPr lang="zh-CN" altLang="en-US" sz="2400" dirty="0">
                <a:sym typeface="Symbol" panose="05050102010706020507" pitchFamily="18" charset="2"/>
              </a:rPr>
              <a:t>为</a:t>
            </a:r>
            <a:r>
              <a:rPr lang="en-US" altLang="zh-CN" sz="2400" dirty="0">
                <a:sym typeface="Symbol" panose="05050102010706020507" pitchFamily="18" charset="2"/>
              </a:rPr>
              <a:t>E</a:t>
            </a:r>
            <a:r>
              <a:rPr lang="zh-CN" altLang="en-US" sz="2400" dirty="0">
                <a:sym typeface="Symbol" panose="05050102010706020507" pitchFamily="18" charset="2"/>
              </a:rPr>
              <a:t>可行类型</a:t>
            </a:r>
            <a:endParaRPr lang="zh-CN" altLang="en-US" sz="2400" i="1" dirty="0">
              <a:sym typeface="Symbol" panose="05050102010706020507" pitchFamily="18" charset="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8AB4579-374A-49F1-8B83-489D3E66BDEB}"/>
              </a:ext>
            </a:extLst>
          </p:cNvPr>
          <p:cNvSpPr>
            <a:spLocks noGrp="1" noChangeArrowheads="1"/>
          </p:cNvSpPr>
          <p:nvPr>
            <p:ph type="title"/>
          </p:nvPr>
        </p:nvSpPr>
        <p:spPr/>
        <p:txBody>
          <a:bodyPr/>
          <a:lstStyle/>
          <a:p>
            <a:pPr eaLnBrk="1" hangingPunct="1"/>
            <a:r>
              <a:rPr lang="zh-CN" altLang="en-US"/>
              <a:t>确定唯一类型的语义规则</a:t>
            </a:r>
          </a:p>
        </p:txBody>
      </p:sp>
      <p:sp>
        <p:nvSpPr>
          <p:cNvPr id="65539" name="Rectangle 3">
            <a:extLst>
              <a:ext uri="{FF2B5EF4-FFF2-40B4-BE49-F238E27FC236}">
                <a16:creationId xmlns:a16="http://schemas.microsoft.com/office/drawing/2014/main" id="{DB96820F-1EB1-4AA9-A130-7DCF535182BA}"/>
              </a:ext>
            </a:extLst>
          </p:cNvPr>
          <p:cNvSpPr>
            <a:spLocks noGrp="1" noChangeArrowheads="1"/>
          </p:cNvSpPr>
          <p:nvPr>
            <p:ph type="body" idx="1"/>
          </p:nvPr>
        </p:nvSpPr>
        <p:spPr>
          <a:xfrm>
            <a:off x="533400" y="1371600"/>
            <a:ext cx="8382000" cy="5486400"/>
          </a:xfrm>
        </p:spPr>
        <p:txBody>
          <a:bodyPr/>
          <a:lstStyle/>
          <a:p>
            <a:pPr eaLnBrk="1" hangingPunct="1">
              <a:spcBef>
                <a:spcPct val="10000"/>
              </a:spcBef>
              <a:buFont typeface="Wingdings" panose="05000000000000000000" pitchFamily="2" charset="2"/>
              <a:buNone/>
            </a:pPr>
            <a:r>
              <a:rPr lang="en-US" altLang="zh-CN" sz="2000" dirty="0">
                <a:sym typeface="Symbol" panose="05050102010706020507" pitchFamily="18" charset="2"/>
              </a:rPr>
              <a:t>E’  E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types</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i="1"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i="1" dirty="0">
                <a:sym typeface="Symbol" panose="05050102010706020507" pitchFamily="18" charset="2"/>
              </a:rPr>
              <a:t>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i="1" dirty="0">
                <a:sym typeface="Symbol" panose="05050102010706020507" pitchFamily="18" charset="2"/>
              </a:rPr>
              <a:t>==</a:t>
            </a:r>
            <a:r>
              <a:rPr lang="en-US" altLang="zh-CN" sz="2000" dirty="0">
                <a:sym typeface="Symbol" panose="05050102010706020507" pitchFamily="18" charset="2"/>
              </a:rPr>
              <a:t>{</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E  </a:t>
            </a:r>
            <a:r>
              <a:rPr lang="en-US" altLang="zh-CN" sz="2000" b="1" dirty="0">
                <a:solidFill>
                  <a:schemeClr val="accent2"/>
                </a:solidFill>
                <a:sym typeface="Symbol" panose="05050102010706020507" pitchFamily="18" charset="2"/>
              </a:rPr>
              <a:t>id</a:t>
            </a:r>
            <a:r>
              <a:rPr lang="en-US" altLang="zh-CN" sz="2000" dirty="0">
                <a:solidFill>
                  <a:schemeClr val="accent2"/>
                </a:solidFill>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a:t>
            </a:r>
            <a:r>
              <a:rPr lang="en-US" altLang="zh-CN" sz="2000" i="1" dirty="0">
                <a:sym typeface="Symbol" panose="05050102010706020507" pitchFamily="18" charset="2"/>
              </a:rPr>
              <a:t>lookup</a:t>
            </a:r>
            <a:r>
              <a:rPr lang="en-US" altLang="zh-CN" sz="2000" dirty="0">
                <a:sym typeface="Symbol" panose="05050102010706020507" pitchFamily="18" charset="2"/>
              </a:rPr>
              <a:t>(</a:t>
            </a:r>
            <a:r>
              <a:rPr lang="en-US" altLang="zh-CN" sz="2000" b="1" dirty="0" err="1">
                <a:solidFill>
                  <a:schemeClr val="accent2"/>
                </a:solidFill>
                <a:sym typeface="Symbol" panose="05050102010706020507" pitchFamily="18" charset="2"/>
              </a:rPr>
              <a:t>id</a:t>
            </a:r>
            <a:r>
              <a:rPr lang="en-US" altLang="zh-CN" sz="2000" dirty="0" err="1">
                <a:sym typeface="Symbol" panose="05050102010706020507" pitchFamily="18" charset="2"/>
              </a:rPr>
              <a:t>.</a:t>
            </a:r>
            <a:r>
              <a:rPr lang="en-US" altLang="zh-CN" sz="2000" i="1" dirty="0" err="1">
                <a:sym typeface="Symbol" panose="05050102010706020507" pitchFamily="18" charset="2"/>
              </a:rPr>
              <a:t>entry</a:t>
            </a:r>
            <a:r>
              <a:rPr lang="en-US" altLang="zh-CN" sz="2000" dirty="0">
                <a:sym typeface="Symbol" panose="05050102010706020507" pitchFamily="18" charset="2"/>
              </a:rPr>
              <a:t>)</a:t>
            </a: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a:t>
            </a:r>
            <a:r>
              <a:rPr lang="en-US" altLang="zh-CN" sz="2000" i="1" dirty="0">
                <a:sym typeface="Symbol" panose="05050102010706020507" pitchFamily="18" charset="2"/>
              </a:rPr>
              <a:t>gen</a:t>
            </a:r>
            <a:r>
              <a:rPr lang="en-US" altLang="zh-CN" sz="2000" dirty="0">
                <a:sym typeface="Symbol" panose="05050102010706020507" pitchFamily="18" charset="2"/>
              </a:rPr>
              <a:t>(</a:t>
            </a:r>
            <a:r>
              <a:rPr lang="en-US" altLang="zh-CN" sz="2000" b="1" dirty="0" err="1">
                <a:sym typeface="Symbol" panose="05050102010706020507" pitchFamily="18" charset="2"/>
              </a:rPr>
              <a:t>id</a:t>
            </a:r>
            <a:r>
              <a:rPr lang="en-US" altLang="zh-CN" sz="2000" dirty="0" err="1">
                <a:sym typeface="Symbol" panose="05050102010706020507" pitchFamily="18" charset="2"/>
              </a:rPr>
              <a:t>.lexeme</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dirty="0">
                <a:sym typeface="Symbol" panose="05050102010706020507" pitchFamily="18" charset="2"/>
              </a:rPr>
              <a:t>)</a:t>
            </a:r>
            <a:endParaRPr lang="en-US" altLang="zh-CN" sz="2000" dirty="0"/>
          </a:p>
          <a:p>
            <a:pPr eaLnBrk="1" hangingPunct="1">
              <a:spcBef>
                <a:spcPct val="10000"/>
              </a:spcBef>
              <a:buFont typeface="Wingdings" panose="05000000000000000000" pitchFamily="2" charset="2"/>
              <a:buNone/>
            </a:pPr>
            <a:r>
              <a:rPr lang="en-US" altLang="zh-CN" sz="2000" dirty="0">
                <a:sym typeface="Symbol" panose="05050102010706020507" pitchFamily="18" charset="2"/>
              </a:rPr>
              <a:t>E  E</a:t>
            </a:r>
            <a:r>
              <a:rPr lang="en-US" altLang="zh-CN" sz="2000" baseline="-25000" dirty="0">
                <a:sym typeface="Symbol" panose="05050102010706020507" pitchFamily="18" charset="2"/>
              </a:rPr>
              <a:t>1</a:t>
            </a:r>
            <a:r>
              <a:rPr lang="en-US" altLang="zh-CN" sz="2000" dirty="0">
                <a:solidFill>
                  <a:schemeClr val="accent2"/>
                </a:solidFill>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2</a:t>
            </a:r>
            <a:r>
              <a:rPr lang="en-US" altLang="zh-CN" sz="2000" dirty="0">
                <a:solidFill>
                  <a:schemeClr val="accent2"/>
                </a:solidFill>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types</a:t>
            </a:r>
            <a:r>
              <a:rPr lang="en-US" altLang="zh-CN" sz="2000" dirty="0">
                <a:sym typeface="Symbol" panose="05050102010706020507" pitchFamily="18" charset="2"/>
              </a:rPr>
              <a:t> = { s’ |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types</a:t>
            </a:r>
            <a:r>
              <a:rPr lang="zh-CN" altLang="en-US" sz="2000" dirty="0">
                <a:sym typeface="Symbol" panose="05050102010706020507" pitchFamily="18" charset="2"/>
              </a:rPr>
              <a:t>中存在</a:t>
            </a:r>
            <a:r>
              <a:rPr lang="en-US" altLang="zh-CN" sz="2000" i="1" dirty="0">
                <a:sym typeface="Symbol" panose="05050102010706020507" pitchFamily="18" charset="2"/>
              </a:rPr>
              <a:t>s</a:t>
            </a:r>
            <a:r>
              <a:rPr lang="zh-CN" altLang="en-US" sz="2000" dirty="0">
                <a:sym typeface="Symbol" panose="05050102010706020507" pitchFamily="18" charset="2"/>
              </a:rPr>
              <a:t>使得</a:t>
            </a:r>
            <a:r>
              <a:rPr lang="en-US" altLang="zh-CN" sz="2000" i="1" dirty="0" err="1">
                <a:sym typeface="Symbol" panose="05050102010706020507" pitchFamily="18" charset="2"/>
              </a:rPr>
              <a:t>s</a:t>
            </a:r>
            <a:r>
              <a:rPr lang="en-US" altLang="zh-CN" sz="2000" dirty="0" err="1">
                <a:sym typeface="Symbol" panose="05050102010706020507" pitchFamily="18" charset="2"/>
              </a:rPr>
              <a:t></a:t>
            </a:r>
            <a:r>
              <a:rPr lang="en-US" altLang="zh-CN" sz="2000" i="1" dirty="0" err="1">
                <a:sym typeface="Symbol" panose="05050102010706020507" pitchFamily="18" charset="2"/>
              </a:rPr>
              <a:t>s</a:t>
            </a:r>
            <a:r>
              <a:rPr lang="en-US" altLang="zh-CN" sz="2000" i="1" dirty="0">
                <a:sym typeface="Symbol" panose="05050102010706020507" pitchFamily="18" charset="2"/>
              </a:rPr>
              <a:t>’</a:t>
            </a: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zh-CN" altLang="en-US" sz="2000" dirty="0">
                <a:sym typeface="Symbol" panose="05050102010706020507" pitchFamily="18" charset="2"/>
              </a:rPr>
              <a:t>属于</a:t>
            </a:r>
            <a:r>
              <a:rPr lang="en-US" altLang="zh-CN" sz="2000" dirty="0">
                <a:sym typeface="Symbol" panose="05050102010706020507" pitchFamily="18" charset="2"/>
              </a:rPr>
              <a:t>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t>
            </a: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i="1" dirty="0">
                <a:sym typeface="Symbol" panose="05050102010706020507" pitchFamily="18" charset="2"/>
              </a:rPr>
              <a:t>t </a:t>
            </a: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i="1" dirty="0">
                <a:sym typeface="Symbol" panose="05050102010706020507" pitchFamily="18" charset="2"/>
              </a:rPr>
              <a:t>			S =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 </a:t>
            </a:r>
            <a:r>
              <a:rPr lang="en-US" altLang="zh-CN" sz="2000" i="1" dirty="0">
                <a:sym typeface="Symbol" panose="05050102010706020507" pitchFamily="18" charset="2"/>
              </a:rPr>
              <a:t>s</a:t>
            </a:r>
            <a:r>
              <a:rPr lang="en-US" altLang="zh-CN" sz="2000" dirty="0">
                <a:latin typeface="宋体" panose="02010600030101010101" pitchFamily="2" charset="-122"/>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and </a:t>
            </a:r>
            <a:r>
              <a:rPr lang="en-US" altLang="zh-CN" sz="2000" i="1" dirty="0">
                <a:sym typeface="Symbol" panose="05050102010706020507" pitchFamily="18" charset="2"/>
              </a:rPr>
              <a:t>s</a:t>
            </a:r>
            <a:r>
              <a:rPr lang="en-US" altLang="zh-CN" sz="2000" dirty="0">
                <a:sym typeface="Symbol" panose="05050102010706020507" pitchFamily="18" charset="2"/>
              </a:rPr>
              <a:t></a:t>
            </a:r>
            <a:r>
              <a:rPr lang="en-US" altLang="zh-CN" sz="2000" i="1" dirty="0">
                <a:sym typeface="Symbol" panose="05050102010706020507" pitchFamily="18" charset="2"/>
              </a:rPr>
              <a:t>t</a:t>
            </a:r>
            <a:r>
              <a:rPr lang="en-US" altLang="zh-CN" sz="2000" dirty="0">
                <a:latin typeface="宋体" panose="02010600030101010101" pitchFamily="2" charset="-122"/>
                <a:sym typeface="Symbol" panose="05050102010706020507" pitchFamily="18" charset="2"/>
              </a:rPr>
              <a:t>∈</a:t>
            </a:r>
            <a:r>
              <a:rPr lang="en-US" altLang="zh-CN" sz="2000" dirty="0">
                <a:sym typeface="Symbol" panose="05050102010706020507" pitchFamily="18" charset="2"/>
              </a:rPr>
              <a:t>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types</a:t>
            </a:r>
            <a:r>
              <a:rPr lang="en-US" altLang="zh-CN" sz="2000" dirty="0">
                <a:sym typeface="Symbol" panose="05050102010706020507" pitchFamily="18" charset="2"/>
              </a:rPr>
              <a:t> }</a:t>
            </a:r>
          </a:p>
          <a:p>
            <a:pPr eaLnBrk="1" hangingPunct="1">
              <a:spcBef>
                <a:spcPct val="10000"/>
              </a:spcBef>
              <a:buFont typeface="Wingdings" panose="05000000000000000000" pitchFamily="2" charset="2"/>
              <a:buNone/>
            </a:pPr>
            <a:r>
              <a:rPr lang="en-US" altLang="zh-CN" sz="2000" dirty="0">
                <a:sym typeface="Symbol" panose="05050102010706020507" pitchFamily="18" charset="2"/>
              </a:rPr>
              <a:t>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unique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i="1" dirty="0">
                <a:sym typeface="Symbol" panose="05050102010706020507" pitchFamily="18" charset="2"/>
              </a:rPr>
              <a:t>S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unique = </a:t>
            </a:r>
            <a:r>
              <a:rPr lang="en-US" altLang="zh-CN" sz="2000" b="1" dirty="0">
                <a:sym typeface="Symbol" panose="05050102010706020507" pitchFamily="18" charset="2"/>
              </a:rPr>
              <a:t>if</a:t>
            </a:r>
            <a:r>
              <a:rPr lang="en-US" altLang="zh-CN" sz="2000" dirty="0">
                <a:sym typeface="Symbol" panose="05050102010706020507" pitchFamily="18" charset="2"/>
              </a:rPr>
              <a:t> </a:t>
            </a:r>
            <a:r>
              <a:rPr lang="en-US" altLang="zh-CN" sz="2000" i="1" dirty="0">
                <a:sym typeface="Symbol" panose="05050102010706020507" pitchFamily="18" charset="2"/>
              </a:rPr>
              <a:t>S </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en-US" altLang="zh-CN" sz="2000" i="1" dirty="0">
                <a:sym typeface="Symbol" panose="05050102010706020507" pitchFamily="18" charset="2"/>
              </a:rPr>
              <a:t>s</a:t>
            </a:r>
            <a:r>
              <a:rPr lang="en-US" altLang="zh-CN" sz="2000" dirty="0">
                <a:sym typeface="Symbol" panose="05050102010706020507" pitchFamily="18" charset="2"/>
              </a:rPr>
              <a:t> </a:t>
            </a:r>
            <a:r>
              <a:rPr lang="en-US" altLang="zh-CN" sz="2000" i="1" dirty="0">
                <a:sym typeface="Symbol" panose="05050102010706020507" pitchFamily="18" charset="2"/>
              </a:rPr>
              <a:t>t</a:t>
            </a:r>
            <a:r>
              <a:rPr lang="en-US" altLang="zh-CN" sz="2000" dirty="0">
                <a:sym typeface="Symbol" panose="05050102010706020507" pitchFamily="18" charset="2"/>
              </a:rPr>
              <a:t> </a:t>
            </a:r>
            <a:r>
              <a:rPr lang="en-US" altLang="zh-CN" sz="2000" b="1" dirty="0">
                <a:sym typeface="Symbol" panose="05050102010706020507" pitchFamily="18" charset="2"/>
              </a:rPr>
              <a:t>else</a:t>
            </a:r>
            <a:r>
              <a:rPr lang="en-US" altLang="zh-CN" sz="2000" dirty="0">
                <a:sym typeface="Symbol" panose="05050102010706020507" pitchFamily="18" charset="2"/>
              </a:rPr>
              <a:t> </a:t>
            </a:r>
            <a:r>
              <a:rPr lang="en-US" altLang="zh-CN" sz="2000" i="1" dirty="0" err="1">
                <a:sym typeface="Symbol" panose="05050102010706020507" pitchFamily="18" charset="2"/>
              </a:rPr>
              <a:t>type_error</a:t>
            </a:r>
            <a:endParaRPr lang="en-US" altLang="zh-CN" sz="2000" i="1" dirty="0">
              <a:sym typeface="Symbol" panose="05050102010706020507" pitchFamily="18" charset="2"/>
            </a:endParaRPr>
          </a:p>
          <a:p>
            <a:pPr eaLnBrk="1" hangingPunct="1">
              <a:spcBef>
                <a:spcPct val="10000"/>
              </a:spcBef>
              <a:buFont typeface="Wingdings" panose="05000000000000000000" pitchFamily="2" charset="2"/>
              <a:buNone/>
            </a:pPr>
            <a:r>
              <a:rPr lang="en-US" altLang="zh-CN" sz="2000" dirty="0">
                <a:sym typeface="Symbol" panose="05050102010706020507" pitchFamily="18" charset="2"/>
              </a:rPr>
              <a:t>			</a:t>
            </a:r>
            <a:r>
              <a:rPr lang="en-US" altLang="zh-CN" sz="2000" dirty="0" err="1">
                <a:sym typeface="Symbol" panose="05050102010706020507" pitchFamily="18" charset="2"/>
              </a:rPr>
              <a:t>E.</a:t>
            </a:r>
            <a:r>
              <a:rPr lang="en-US" altLang="zh-CN" sz="2000" i="1" dirty="0" err="1">
                <a:sym typeface="Symbol" panose="05050102010706020507" pitchFamily="18" charset="2"/>
              </a:rPr>
              <a:t>code</a:t>
            </a:r>
            <a:r>
              <a:rPr lang="en-US" altLang="zh-CN" sz="2000" i="1" dirty="0">
                <a:sym typeface="Symbol" panose="05050102010706020507" pitchFamily="18" charset="2"/>
              </a:rPr>
              <a:t> </a:t>
            </a:r>
            <a:r>
              <a:rPr lang="en-US" altLang="zh-CN" sz="2000" dirty="0">
                <a:sym typeface="Symbol" panose="05050102010706020507" pitchFamily="18" charset="2"/>
              </a:rPr>
              <a:t>= E</a:t>
            </a:r>
            <a:r>
              <a:rPr lang="en-US" altLang="zh-CN" sz="2000" baseline="-25000" dirty="0">
                <a:sym typeface="Symbol" panose="05050102010706020507" pitchFamily="18" charset="2"/>
              </a:rPr>
              <a:t>1</a:t>
            </a:r>
            <a:r>
              <a:rPr lang="en-US" altLang="zh-CN" sz="2000" dirty="0">
                <a:sym typeface="Symbol" panose="05050102010706020507" pitchFamily="18" charset="2"/>
              </a:rPr>
              <a:t>.</a:t>
            </a:r>
            <a:r>
              <a:rPr lang="en-US" altLang="zh-CN" sz="2000" i="1" dirty="0">
                <a:sym typeface="Symbol" panose="05050102010706020507" pitchFamily="18" charset="2"/>
              </a:rPr>
              <a:t>code </a:t>
            </a:r>
            <a:r>
              <a:rPr lang="en-US" altLang="zh-CN" sz="2000" dirty="0">
                <a:sym typeface="Symbol" panose="05050102010706020507" pitchFamily="18" charset="2"/>
              </a:rPr>
              <a:t>|| E</a:t>
            </a:r>
            <a:r>
              <a:rPr lang="en-US" altLang="zh-CN" sz="2000" baseline="-25000" dirty="0">
                <a:sym typeface="Symbol" panose="05050102010706020507" pitchFamily="18" charset="2"/>
              </a:rPr>
              <a:t>2</a:t>
            </a:r>
            <a:r>
              <a:rPr lang="en-US" altLang="zh-CN" sz="2000" dirty="0">
                <a:sym typeface="Symbol" panose="05050102010706020507" pitchFamily="18" charset="2"/>
              </a:rPr>
              <a:t>.</a:t>
            </a:r>
            <a:r>
              <a:rPr lang="en-US" altLang="zh-CN" sz="2000" i="1" dirty="0">
                <a:sym typeface="Symbol" panose="05050102010706020507" pitchFamily="18" charset="2"/>
              </a:rPr>
              <a:t>code </a:t>
            </a:r>
            <a:r>
              <a:rPr lang="en-US" altLang="zh-CN" sz="2000" dirty="0">
                <a:sym typeface="Symbol" panose="05050102010706020507" pitchFamily="18" charset="2"/>
              </a:rPr>
              <a:t>|| </a:t>
            </a:r>
            <a:br>
              <a:rPr lang="en-US" altLang="zh-CN" sz="2000" dirty="0">
                <a:sym typeface="Symbol" panose="05050102010706020507" pitchFamily="18" charset="2"/>
              </a:rPr>
            </a:br>
            <a:r>
              <a:rPr lang="en-US" altLang="zh-CN" sz="2000" dirty="0">
                <a:sym typeface="Symbol" panose="05050102010706020507" pitchFamily="18" charset="2"/>
              </a:rPr>
              <a:t>					</a:t>
            </a:r>
            <a:r>
              <a:rPr lang="en-US" altLang="zh-CN" sz="2000" i="1" dirty="0">
                <a:sym typeface="Symbol" panose="05050102010706020507" pitchFamily="18" charset="2"/>
              </a:rPr>
              <a:t>gen</a:t>
            </a:r>
            <a:r>
              <a:rPr lang="en-US" altLang="zh-CN" sz="2000" dirty="0">
                <a:sym typeface="Symbol" panose="05050102010706020507" pitchFamily="18" charset="2"/>
              </a:rPr>
              <a:t>(‘</a:t>
            </a:r>
            <a:r>
              <a:rPr lang="en-US" altLang="zh-CN" sz="2000" b="1" dirty="0">
                <a:sym typeface="Symbol" panose="05050102010706020507" pitchFamily="18" charset="2"/>
              </a:rPr>
              <a:t>apply</a:t>
            </a:r>
            <a:r>
              <a:rPr lang="en-US" altLang="zh-CN" sz="2000" dirty="0">
                <a:sym typeface="Symbol" panose="05050102010706020507" pitchFamily="18" charset="2"/>
              </a:rPr>
              <a:t>’ ‘:’ </a:t>
            </a:r>
            <a:r>
              <a:rPr lang="en-US" altLang="zh-CN" sz="2000" dirty="0" err="1">
                <a:sym typeface="Symbol" panose="05050102010706020507" pitchFamily="18" charset="2"/>
              </a:rPr>
              <a:t>E.</a:t>
            </a:r>
            <a:r>
              <a:rPr lang="en-US" altLang="zh-CN" sz="2000" i="1" dirty="0" err="1">
                <a:sym typeface="Symbol" panose="05050102010706020507" pitchFamily="18" charset="2"/>
              </a:rPr>
              <a:t>unique</a:t>
            </a:r>
            <a:r>
              <a:rPr lang="en-US" altLang="zh-CN" sz="2000" dirty="0">
                <a:sym typeface="Symbol" panose="05050102010706020507" pitchFamily="18" charset="2"/>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F6E8F68-91EE-4E2C-9B43-62C10ED050EF}"/>
              </a:ext>
            </a:extLst>
          </p:cNvPr>
          <p:cNvSpPr>
            <a:spLocks noGrp="1" noChangeArrowheads="1"/>
          </p:cNvSpPr>
          <p:nvPr>
            <p:ph type="title"/>
          </p:nvPr>
        </p:nvSpPr>
        <p:spPr/>
        <p:txBody>
          <a:bodyPr/>
          <a:lstStyle/>
          <a:p>
            <a:pPr eaLnBrk="1" hangingPunct="1"/>
            <a:r>
              <a:rPr lang="en-US" altLang="zh-CN"/>
              <a:t>6.6  </a:t>
            </a:r>
            <a:r>
              <a:rPr lang="zh-CN" altLang="en-US"/>
              <a:t>多态（</a:t>
            </a:r>
            <a:r>
              <a:rPr lang="en-US" altLang="zh-CN">
                <a:solidFill>
                  <a:schemeClr val="hlink"/>
                </a:solidFill>
              </a:rPr>
              <a:t>polymorphic</a:t>
            </a:r>
            <a:r>
              <a:rPr lang="zh-CN" altLang="en-US"/>
              <a:t>）函数</a:t>
            </a:r>
          </a:p>
        </p:txBody>
      </p:sp>
      <p:sp>
        <p:nvSpPr>
          <p:cNvPr id="66563" name="Rectangle 3">
            <a:extLst>
              <a:ext uri="{FF2B5EF4-FFF2-40B4-BE49-F238E27FC236}">
                <a16:creationId xmlns:a16="http://schemas.microsoft.com/office/drawing/2014/main" id="{C0F5C494-D5E5-43FE-BE13-180A712859C7}"/>
              </a:ext>
            </a:extLst>
          </p:cNvPr>
          <p:cNvSpPr>
            <a:spLocks noGrp="1" noChangeArrowheads="1"/>
          </p:cNvSpPr>
          <p:nvPr>
            <p:ph type="body" idx="1"/>
          </p:nvPr>
        </p:nvSpPr>
        <p:spPr/>
        <p:txBody>
          <a:bodyPr/>
          <a:lstStyle/>
          <a:p>
            <a:pPr eaLnBrk="1" hangingPunct="1"/>
            <a:r>
              <a:rPr lang="zh-CN" altLang="en-US"/>
              <a:t>普通函数：参数类型固定</a:t>
            </a:r>
          </a:p>
          <a:p>
            <a:pPr eaLnBrk="1" hangingPunct="1"/>
            <a:r>
              <a:rPr lang="zh-CN" altLang="en-US"/>
              <a:t>多态函数：对不同调用，参数可为不同类型</a:t>
            </a:r>
          </a:p>
          <a:p>
            <a:pPr eaLnBrk="1" hangingPunct="1"/>
            <a:r>
              <a:rPr lang="zh-CN" altLang="en-US"/>
              <a:t>某些内置操作符</a:t>
            </a:r>
            <a:r>
              <a:rPr lang="en-US" altLang="zh-CN"/>
              <a:t>——</a:t>
            </a:r>
            <a:r>
              <a:rPr lang="zh-CN" altLang="en-US"/>
              <a:t>多态操作符</a:t>
            </a:r>
          </a:p>
          <a:p>
            <a:pPr lvl="1" eaLnBrk="1" hangingPunct="1"/>
            <a:r>
              <a:rPr lang="zh-CN" altLang="en-US"/>
              <a:t>数组索引符</a:t>
            </a:r>
            <a:r>
              <a:rPr lang="en-US" altLang="zh-CN"/>
              <a:t>[]</a:t>
            </a:r>
            <a:r>
              <a:rPr lang="zh-CN" altLang="en-US"/>
              <a:t>，函数调用符</a:t>
            </a:r>
            <a:r>
              <a:rPr lang="en-US" altLang="zh-CN"/>
              <a:t>()</a:t>
            </a:r>
            <a:r>
              <a:rPr lang="zh-CN" altLang="en-US"/>
              <a:t>，指针操作符</a:t>
            </a:r>
            <a:r>
              <a:rPr lang="en-US" altLang="zh-CN"/>
              <a:t>&amp;</a:t>
            </a:r>
          </a:p>
          <a:p>
            <a:pPr lvl="1" eaLnBrk="1" hangingPunct="1"/>
            <a:r>
              <a:rPr lang="en-US" altLang="zh-CN"/>
              <a:t>&amp;</a:t>
            </a:r>
            <a:r>
              <a:rPr lang="zh-CN" altLang="en-US"/>
              <a:t>：“若操作对象类型为</a:t>
            </a:r>
            <a:r>
              <a:rPr lang="en-US" altLang="zh-CN"/>
              <a:t>…</a:t>
            </a:r>
            <a:r>
              <a:rPr lang="zh-CN" altLang="en-US"/>
              <a:t>，则操作结果的类型为指向</a:t>
            </a:r>
            <a:r>
              <a:rPr lang="en-US" altLang="zh-CN"/>
              <a:t>…</a:t>
            </a:r>
            <a:r>
              <a:rPr lang="zh-CN" altLang="en-US"/>
              <a:t>的指针</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21FE869-E6AA-4AE5-89B9-634FDA2AF06A}"/>
              </a:ext>
            </a:extLst>
          </p:cNvPr>
          <p:cNvSpPr>
            <a:spLocks noGrp="1" noChangeArrowheads="1"/>
          </p:cNvSpPr>
          <p:nvPr>
            <p:ph type="title"/>
          </p:nvPr>
        </p:nvSpPr>
        <p:spPr/>
        <p:txBody>
          <a:bodyPr/>
          <a:lstStyle/>
          <a:p>
            <a:pPr eaLnBrk="1" hangingPunct="1"/>
            <a:r>
              <a:rPr lang="en-US" altLang="zh-CN"/>
              <a:t>6.6.1  </a:t>
            </a:r>
            <a:r>
              <a:rPr lang="zh-CN" altLang="en-US"/>
              <a:t>为什么使用多态函数？</a:t>
            </a:r>
          </a:p>
        </p:txBody>
      </p:sp>
      <p:sp>
        <p:nvSpPr>
          <p:cNvPr id="67587" name="Rectangle 3">
            <a:extLst>
              <a:ext uri="{FF2B5EF4-FFF2-40B4-BE49-F238E27FC236}">
                <a16:creationId xmlns:a16="http://schemas.microsoft.com/office/drawing/2014/main" id="{05395755-6436-4ECD-8B16-25DFC6BB99D2}"/>
              </a:ext>
            </a:extLst>
          </p:cNvPr>
          <p:cNvSpPr>
            <a:spLocks noGrp="1" noChangeArrowheads="1"/>
          </p:cNvSpPr>
          <p:nvPr>
            <p:ph type="body" idx="1"/>
          </p:nvPr>
        </p:nvSpPr>
        <p:spPr>
          <a:xfrm>
            <a:off x="1182688" y="1371600"/>
            <a:ext cx="7772400" cy="5334000"/>
          </a:xfrm>
        </p:spPr>
        <p:txBody>
          <a:bodyPr/>
          <a:lstStyle/>
          <a:p>
            <a:pPr eaLnBrk="1" hangingPunct="1"/>
            <a:r>
              <a:rPr lang="zh-CN" altLang="en-US"/>
              <a:t>实现算法</a:t>
            </a:r>
            <a:r>
              <a:rPr lang="zh-CN" altLang="en-US">
                <a:sym typeface="Wingdings" panose="05000000000000000000" pitchFamily="2" charset="2"/>
              </a:rPr>
              <a:t>处理数据结构，而不必管其内部元素的类型</a:t>
            </a:r>
          </a:p>
          <a:p>
            <a:pPr eaLnBrk="1" hangingPunct="1">
              <a:lnSpc>
                <a:spcPct val="80000"/>
              </a:lnSpc>
              <a:spcBef>
                <a:spcPct val="10000"/>
              </a:spcBef>
              <a:buFont typeface="Wingdings" panose="05000000000000000000" pitchFamily="2" charset="2"/>
              <a:buNone/>
            </a:pPr>
            <a:r>
              <a:rPr lang="en-US" altLang="zh-CN" sz="2000"/>
              <a:t>type link = ^cell;</a:t>
            </a:r>
          </a:p>
          <a:p>
            <a:pPr eaLnBrk="1" hangingPunct="1">
              <a:lnSpc>
                <a:spcPct val="80000"/>
              </a:lnSpc>
              <a:spcBef>
                <a:spcPct val="10000"/>
              </a:spcBef>
              <a:buFont typeface="Wingdings" panose="05000000000000000000" pitchFamily="2" charset="2"/>
              <a:buNone/>
            </a:pPr>
            <a:r>
              <a:rPr lang="en-US" altLang="zh-CN" sz="2000"/>
              <a:t>	    cell = record</a:t>
            </a:r>
          </a:p>
          <a:p>
            <a:pPr eaLnBrk="1" hangingPunct="1">
              <a:lnSpc>
                <a:spcPct val="80000"/>
              </a:lnSpc>
              <a:spcBef>
                <a:spcPct val="10000"/>
              </a:spcBef>
              <a:buFont typeface="Wingdings" panose="05000000000000000000" pitchFamily="2" charset="2"/>
              <a:buNone/>
            </a:pPr>
            <a:r>
              <a:rPr lang="en-US" altLang="zh-CN" sz="2000"/>
              <a:t>			info : integer;</a:t>
            </a:r>
          </a:p>
          <a:p>
            <a:pPr eaLnBrk="1" hangingPunct="1">
              <a:lnSpc>
                <a:spcPct val="80000"/>
              </a:lnSpc>
              <a:spcBef>
                <a:spcPct val="10000"/>
              </a:spcBef>
              <a:buFont typeface="Wingdings" panose="05000000000000000000" pitchFamily="2" charset="2"/>
              <a:buNone/>
            </a:pPr>
            <a:r>
              <a:rPr lang="en-US" altLang="zh-CN" sz="2000"/>
              <a:t>			next : link</a:t>
            </a:r>
          </a:p>
          <a:p>
            <a:pPr eaLnBrk="1" hangingPunct="1">
              <a:lnSpc>
                <a:spcPct val="80000"/>
              </a:lnSpc>
              <a:spcBef>
                <a:spcPct val="10000"/>
              </a:spcBef>
              <a:buFont typeface="Wingdings" panose="05000000000000000000" pitchFamily="2" charset="2"/>
              <a:buNone/>
            </a:pPr>
            <a:r>
              <a:rPr lang="en-US" altLang="zh-CN" sz="2000"/>
              <a:t>	    end;</a:t>
            </a:r>
          </a:p>
          <a:p>
            <a:pPr eaLnBrk="1" hangingPunct="1">
              <a:lnSpc>
                <a:spcPct val="80000"/>
              </a:lnSpc>
              <a:spcBef>
                <a:spcPct val="10000"/>
              </a:spcBef>
              <a:buFont typeface="Wingdings" panose="05000000000000000000" pitchFamily="2" charset="2"/>
              <a:buNone/>
            </a:pPr>
            <a:r>
              <a:rPr lang="en-US" altLang="zh-CN" sz="2000"/>
              <a:t>function length(lptr : link) : integer;</a:t>
            </a:r>
          </a:p>
          <a:p>
            <a:pPr eaLnBrk="1" hangingPunct="1">
              <a:lnSpc>
                <a:spcPct val="80000"/>
              </a:lnSpc>
              <a:spcBef>
                <a:spcPct val="10000"/>
              </a:spcBef>
              <a:buFont typeface="Wingdings" panose="05000000000000000000" pitchFamily="2" charset="2"/>
              <a:buNone/>
            </a:pPr>
            <a:r>
              <a:rPr lang="en-US" altLang="zh-CN" sz="2000"/>
              <a:t>var len : integer;</a:t>
            </a:r>
          </a:p>
          <a:p>
            <a:pPr eaLnBrk="1" hangingPunct="1">
              <a:lnSpc>
                <a:spcPct val="80000"/>
              </a:lnSpc>
              <a:spcBef>
                <a:spcPct val="10000"/>
              </a:spcBef>
              <a:buFont typeface="Wingdings" panose="05000000000000000000" pitchFamily="2" charset="2"/>
              <a:buNone/>
            </a:pPr>
            <a:r>
              <a:rPr lang="en-US" altLang="zh-CN" sz="2000"/>
              <a:t>begin</a:t>
            </a:r>
          </a:p>
          <a:p>
            <a:pPr eaLnBrk="1" hangingPunct="1">
              <a:lnSpc>
                <a:spcPct val="80000"/>
              </a:lnSpc>
              <a:spcBef>
                <a:spcPct val="10000"/>
              </a:spcBef>
              <a:buFont typeface="Wingdings" panose="05000000000000000000" pitchFamily="2" charset="2"/>
              <a:buNone/>
            </a:pPr>
            <a:r>
              <a:rPr lang="en-US" altLang="zh-CN" sz="2000"/>
              <a:t>	len := 0;</a:t>
            </a:r>
          </a:p>
          <a:p>
            <a:pPr eaLnBrk="1" hangingPunct="1">
              <a:lnSpc>
                <a:spcPct val="80000"/>
              </a:lnSpc>
              <a:spcBef>
                <a:spcPct val="10000"/>
              </a:spcBef>
              <a:buFont typeface="Wingdings" panose="05000000000000000000" pitchFamily="2" charset="2"/>
              <a:buNone/>
            </a:pPr>
            <a:r>
              <a:rPr lang="en-US" altLang="zh-CN" sz="2000"/>
              <a:t>	while lptr &lt;&gt; nil do begin</a:t>
            </a:r>
          </a:p>
          <a:p>
            <a:pPr eaLnBrk="1" hangingPunct="1">
              <a:lnSpc>
                <a:spcPct val="80000"/>
              </a:lnSpc>
              <a:spcBef>
                <a:spcPct val="10000"/>
              </a:spcBef>
              <a:buFont typeface="Wingdings" panose="05000000000000000000" pitchFamily="2" charset="2"/>
              <a:buNone/>
            </a:pPr>
            <a:r>
              <a:rPr lang="en-US" altLang="zh-CN" sz="2000"/>
              <a:t>		len := len + 1;</a:t>
            </a:r>
          </a:p>
          <a:p>
            <a:pPr eaLnBrk="1" hangingPunct="1">
              <a:lnSpc>
                <a:spcPct val="80000"/>
              </a:lnSpc>
              <a:spcBef>
                <a:spcPct val="10000"/>
              </a:spcBef>
              <a:buFont typeface="Wingdings" panose="05000000000000000000" pitchFamily="2" charset="2"/>
              <a:buNone/>
            </a:pPr>
            <a:r>
              <a:rPr lang="en-US" altLang="zh-CN" sz="2000"/>
              <a:t>		lptr := lptr^.next;</a:t>
            </a:r>
          </a:p>
          <a:p>
            <a:pPr eaLnBrk="1" hangingPunct="1">
              <a:lnSpc>
                <a:spcPct val="80000"/>
              </a:lnSpc>
              <a:spcBef>
                <a:spcPct val="10000"/>
              </a:spcBef>
              <a:buFont typeface="Wingdings" panose="05000000000000000000" pitchFamily="2" charset="2"/>
              <a:buNone/>
            </a:pPr>
            <a:r>
              <a:rPr lang="en-US" altLang="zh-CN" sz="2000"/>
              <a:t>	end;</a:t>
            </a:r>
          </a:p>
          <a:p>
            <a:pPr eaLnBrk="1" hangingPunct="1">
              <a:lnSpc>
                <a:spcPct val="80000"/>
              </a:lnSpc>
              <a:spcBef>
                <a:spcPct val="10000"/>
              </a:spcBef>
              <a:buFont typeface="Wingdings" panose="05000000000000000000" pitchFamily="2" charset="2"/>
              <a:buNone/>
            </a:pPr>
            <a:r>
              <a:rPr lang="en-US" altLang="zh-CN" sz="2000"/>
              <a:t>	length := len</a:t>
            </a:r>
          </a:p>
          <a:p>
            <a:pPr eaLnBrk="1" hangingPunct="1">
              <a:lnSpc>
                <a:spcPct val="80000"/>
              </a:lnSpc>
              <a:spcBef>
                <a:spcPct val="10000"/>
              </a:spcBef>
              <a:buFont typeface="Wingdings" panose="05000000000000000000" pitchFamily="2" charset="2"/>
              <a:buNone/>
            </a:pPr>
            <a:r>
              <a:rPr lang="en-US" altLang="zh-CN" sz="2000"/>
              <a:t>end;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1054DE30-5420-48B8-9B0F-E70EC31C69E4}"/>
              </a:ext>
            </a:extLst>
          </p:cNvPr>
          <p:cNvSpPr>
            <a:spLocks noGrp="1" noChangeArrowheads="1"/>
          </p:cNvSpPr>
          <p:nvPr>
            <p:ph type="title"/>
          </p:nvPr>
        </p:nvSpPr>
        <p:spPr/>
        <p:txBody>
          <a:bodyPr/>
          <a:lstStyle/>
          <a:p>
            <a:pPr eaLnBrk="1" hangingPunct="1"/>
            <a:r>
              <a:rPr lang="zh-CN" altLang="en-US"/>
              <a:t>求任何类型列表长度的</a:t>
            </a:r>
            <a:r>
              <a:rPr lang="en-US" altLang="zh-CN"/>
              <a:t>ML</a:t>
            </a:r>
            <a:r>
              <a:rPr lang="zh-CN" altLang="en-US"/>
              <a:t>程序</a:t>
            </a:r>
          </a:p>
        </p:txBody>
      </p:sp>
      <p:sp>
        <p:nvSpPr>
          <p:cNvPr id="68611" name="Rectangle 3">
            <a:extLst>
              <a:ext uri="{FF2B5EF4-FFF2-40B4-BE49-F238E27FC236}">
                <a16:creationId xmlns:a16="http://schemas.microsoft.com/office/drawing/2014/main" id="{3AF1A108-E2A0-4565-9338-DAD9A2E3B2EA}"/>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zh-CN"/>
              <a:t>fun length(lptr) =</a:t>
            </a:r>
          </a:p>
          <a:p>
            <a:pPr eaLnBrk="1" hangingPunct="1">
              <a:buFont typeface="Wingdings" panose="05000000000000000000" pitchFamily="2" charset="2"/>
              <a:buNone/>
            </a:pPr>
            <a:r>
              <a:rPr lang="en-US" altLang="zh-CN"/>
              <a:t>	if null(lptr) then 0</a:t>
            </a:r>
          </a:p>
          <a:p>
            <a:pPr eaLnBrk="1" hangingPunct="1">
              <a:buFont typeface="Wingdings" panose="05000000000000000000" pitchFamily="2" charset="2"/>
              <a:buNone/>
            </a:pPr>
            <a:r>
              <a:rPr lang="en-US" altLang="zh-CN"/>
              <a:t>	else length(tl(lptr)) + 1;</a:t>
            </a:r>
          </a:p>
          <a:p>
            <a:pPr eaLnBrk="1" hangingPunct="1"/>
            <a:r>
              <a:rPr lang="zh-CN" altLang="en-US"/>
              <a:t>可应用于任何类型的列表</a:t>
            </a:r>
          </a:p>
          <a:p>
            <a:pPr lvl="1" eaLnBrk="1" hangingPunct="1"/>
            <a:r>
              <a:rPr lang="en-US" altLang="zh-CN"/>
              <a:t>length([“sun”, “mon”, “tue”]);</a:t>
            </a:r>
          </a:p>
          <a:p>
            <a:pPr lvl="1" eaLnBrk="1" hangingPunct="1"/>
            <a:r>
              <a:rPr lang="en-US" altLang="zh-CN"/>
              <a:t>length([10, 9, 8]);</a:t>
            </a:r>
          </a:p>
        </p:txBody>
      </p:sp>
      <p:sp>
        <p:nvSpPr>
          <p:cNvPr id="68612" name="Text Box 4">
            <a:extLst>
              <a:ext uri="{FF2B5EF4-FFF2-40B4-BE49-F238E27FC236}">
                <a16:creationId xmlns:a16="http://schemas.microsoft.com/office/drawing/2014/main" id="{72AAA8D0-3836-4DCE-9AE0-9AF458B0C716}"/>
              </a:ext>
            </a:extLst>
          </p:cNvPr>
          <p:cNvSpPr txBox="1">
            <a:spLocks noChangeArrowheads="1"/>
          </p:cNvSpPr>
          <p:nvPr/>
        </p:nvSpPr>
        <p:spPr bwMode="ltGray">
          <a:xfrm>
            <a:off x="4724400" y="13716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递归函数</a:t>
            </a:r>
          </a:p>
        </p:txBody>
      </p:sp>
      <p:sp>
        <p:nvSpPr>
          <p:cNvPr id="68613" name="Freeform 5">
            <a:extLst>
              <a:ext uri="{FF2B5EF4-FFF2-40B4-BE49-F238E27FC236}">
                <a16:creationId xmlns:a16="http://schemas.microsoft.com/office/drawing/2014/main" id="{1C0A051F-D61E-437F-BCE4-F1E62BC3B7D4}"/>
              </a:ext>
            </a:extLst>
          </p:cNvPr>
          <p:cNvSpPr>
            <a:spLocks/>
          </p:cNvSpPr>
          <p:nvPr/>
        </p:nvSpPr>
        <p:spPr bwMode="ltGray">
          <a:xfrm>
            <a:off x="1524000" y="1127125"/>
            <a:ext cx="3470275" cy="473075"/>
          </a:xfrm>
          <a:custGeom>
            <a:avLst/>
            <a:gdLst>
              <a:gd name="T0" fmla="*/ 2147483646 w 2186"/>
              <a:gd name="T1" fmla="*/ 2147483646 h 298"/>
              <a:gd name="T2" fmla="*/ 2147483646 w 2186"/>
              <a:gd name="T3" fmla="*/ 2147483646 h 298"/>
              <a:gd name="T4" fmla="*/ 2147483646 w 2186"/>
              <a:gd name="T5" fmla="*/ 2147483646 h 298"/>
              <a:gd name="T6" fmla="*/ 0 w 2186"/>
              <a:gd name="T7" fmla="*/ 2147483646 h 298"/>
              <a:gd name="T8" fmla="*/ 0 60000 65536"/>
              <a:gd name="T9" fmla="*/ 0 60000 65536"/>
              <a:gd name="T10" fmla="*/ 0 60000 65536"/>
              <a:gd name="T11" fmla="*/ 0 60000 65536"/>
              <a:gd name="T12" fmla="*/ 0 w 2186"/>
              <a:gd name="T13" fmla="*/ 0 h 298"/>
              <a:gd name="T14" fmla="*/ 2186 w 2186"/>
              <a:gd name="T15" fmla="*/ 298 h 298"/>
            </a:gdLst>
            <a:ahLst/>
            <a:cxnLst>
              <a:cxn ang="T8">
                <a:pos x="T0" y="T1"/>
              </a:cxn>
              <a:cxn ang="T9">
                <a:pos x="T2" y="T3"/>
              </a:cxn>
              <a:cxn ang="T10">
                <a:pos x="T4" y="T5"/>
              </a:cxn>
              <a:cxn ang="T11">
                <a:pos x="T6" y="T7"/>
              </a:cxn>
            </a:cxnLst>
            <a:rect l="T12" t="T13" r="T14" b="T15"/>
            <a:pathLst>
              <a:path w="2186" h="298">
                <a:moveTo>
                  <a:pt x="2186" y="229"/>
                </a:moveTo>
                <a:cubicBezTo>
                  <a:pt x="2075" y="195"/>
                  <a:pt x="1784" y="52"/>
                  <a:pt x="1512" y="26"/>
                </a:cubicBezTo>
                <a:cubicBezTo>
                  <a:pt x="1240" y="0"/>
                  <a:pt x="807" y="25"/>
                  <a:pt x="555" y="70"/>
                </a:cubicBezTo>
                <a:cubicBezTo>
                  <a:pt x="303" y="115"/>
                  <a:pt x="116" y="250"/>
                  <a:pt x="0" y="298"/>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4" name="Text Box 6">
            <a:extLst>
              <a:ext uri="{FF2B5EF4-FFF2-40B4-BE49-F238E27FC236}">
                <a16:creationId xmlns:a16="http://schemas.microsoft.com/office/drawing/2014/main" id="{C2C958B3-0AE0-4AEC-9280-ECC2E6A407AC}"/>
              </a:ext>
            </a:extLst>
          </p:cNvPr>
          <p:cNvSpPr txBox="1">
            <a:spLocks noChangeArrowheads="1"/>
          </p:cNvSpPr>
          <p:nvPr/>
        </p:nvSpPr>
        <p:spPr bwMode="ltGray">
          <a:xfrm>
            <a:off x="5410200" y="19050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列表为空？</a:t>
            </a:r>
          </a:p>
        </p:txBody>
      </p:sp>
      <p:sp>
        <p:nvSpPr>
          <p:cNvPr id="68615" name="Freeform 7">
            <a:extLst>
              <a:ext uri="{FF2B5EF4-FFF2-40B4-BE49-F238E27FC236}">
                <a16:creationId xmlns:a16="http://schemas.microsoft.com/office/drawing/2014/main" id="{DF70C9A8-6AB6-45C1-9CD6-CFE79631256F}"/>
              </a:ext>
            </a:extLst>
          </p:cNvPr>
          <p:cNvSpPr>
            <a:spLocks/>
          </p:cNvSpPr>
          <p:nvPr/>
        </p:nvSpPr>
        <p:spPr bwMode="ltGray">
          <a:xfrm>
            <a:off x="2209800" y="1843088"/>
            <a:ext cx="3470275" cy="290512"/>
          </a:xfrm>
          <a:custGeom>
            <a:avLst/>
            <a:gdLst>
              <a:gd name="T0" fmla="*/ 2147483646 w 2186"/>
              <a:gd name="T1" fmla="*/ 2147483646 h 183"/>
              <a:gd name="T2" fmla="*/ 2147483646 w 2186"/>
              <a:gd name="T3" fmla="*/ 2147483646 h 183"/>
              <a:gd name="T4" fmla="*/ 2147483646 w 2186"/>
              <a:gd name="T5" fmla="*/ 2147483646 h 183"/>
              <a:gd name="T6" fmla="*/ 0 w 2186"/>
              <a:gd name="T7" fmla="*/ 2147483646 h 183"/>
              <a:gd name="T8" fmla="*/ 0 60000 65536"/>
              <a:gd name="T9" fmla="*/ 0 60000 65536"/>
              <a:gd name="T10" fmla="*/ 0 60000 65536"/>
              <a:gd name="T11" fmla="*/ 0 60000 65536"/>
              <a:gd name="T12" fmla="*/ 0 w 2186"/>
              <a:gd name="T13" fmla="*/ 0 h 183"/>
              <a:gd name="T14" fmla="*/ 2186 w 2186"/>
              <a:gd name="T15" fmla="*/ 183 h 183"/>
            </a:gdLst>
            <a:ahLst/>
            <a:cxnLst>
              <a:cxn ang="T8">
                <a:pos x="T0" y="T1"/>
              </a:cxn>
              <a:cxn ang="T9">
                <a:pos x="T2" y="T3"/>
              </a:cxn>
              <a:cxn ang="T10">
                <a:pos x="T4" y="T5"/>
              </a:cxn>
              <a:cxn ang="T11">
                <a:pos x="T6" y="T7"/>
              </a:cxn>
            </a:cxnLst>
            <a:rect l="T12" t="T13" r="T14" b="T15"/>
            <a:pathLst>
              <a:path w="2186" h="183">
                <a:moveTo>
                  <a:pt x="2186" y="114"/>
                </a:moveTo>
                <a:cubicBezTo>
                  <a:pt x="2074" y="97"/>
                  <a:pt x="1782" y="18"/>
                  <a:pt x="1515" y="9"/>
                </a:cubicBezTo>
                <a:cubicBezTo>
                  <a:pt x="1248" y="0"/>
                  <a:pt x="836" y="33"/>
                  <a:pt x="584" y="62"/>
                </a:cubicBezTo>
                <a:cubicBezTo>
                  <a:pt x="332" y="91"/>
                  <a:pt x="122" y="158"/>
                  <a:pt x="0" y="183"/>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6" name="Text Box 8">
            <a:extLst>
              <a:ext uri="{FF2B5EF4-FFF2-40B4-BE49-F238E27FC236}">
                <a16:creationId xmlns:a16="http://schemas.microsoft.com/office/drawing/2014/main" id="{D38B1D2D-532C-4E4D-B576-550837717109}"/>
              </a:ext>
            </a:extLst>
          </p:cNvPr>
          <p:cNvSpPr txBox="1">
            <a:spLocks noChangeArrowheads="1"/>
          </p:cNvSpPr>
          <p:nvPr/>
        </p:nvSpPr>
        <p:spPr bwMode="ltGray">
          <a:xfrm>
            <a:off x="6019800" y="25146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a:solidFill>
                  <a:srgbClr val="3333CC"/>
                </a:solidFill>
                <a:latin typeface="Tahoma" panose="020B0604030504040204" pitchFamily="34" charset="0"/>
                <a:ea typeface="黑体" panose="02010609060101010101" pitchFamily="49" charset="-122"/>
              </a:rPr>
              <a:t>列表剩余部分</a:t>
            </a:r>
          </a:p>
        </p:txBody>
      </p:sp>
      <p:sp>
        <p:nvSpPr>
          <p:cNvPr id="68617" name="Freeform 9">
            <a:extLst>
              <a:ext uri="{FF2B5EF4-FFF2-40B4-BE49-F238E27FC236}">
                <a16:creationId xmlns:a16="http://schemas.microsoft.com/office/drawing/2014/main" id="{F83549B1-413C-4884-804E-B8BED3C44B64}"/>
              </a:ext>
            </a:extLst>
          </p:cNvPr>
          <p:cNvSpPr>
            <a:spLocks/>
          </p:cNvSpPr>
          <p:nvPr/>
        </p:nvSpPr>
        <p:spPr bwMode="ltGray">
          <a:xfrm>
            <a:off x="3581400" y="2359025"/>
            <a:ext cx="2590800" cy="307975"/>
          </a:xfrm>
          <a:custGeom>
            <a:avLst/>
            <a:gdLst>
              <a:gd name="T0" fmla="*/ 2147483646 w 1632"/>
              <a:gd name="T1" fmla="*/ 2147483646 h 194"/>
              <a:gd name="T2" fmla="*/ 2147483646 w 1632"/>
              <a:gd name="T3" fmla="*/ 2147483646 h 194"/>
              <a:gd name="T4" fmla="*/ 2147483646 w 1632"/>
              <a:gd name="T5" fmla="*/ 2147483646 h 194"/>
              <a:gd name="T6" fmla="*/ 0 w 1632"/>
              <a:gd name="T7" fmla="*/ 2147483646 h 194"/>
              <a:gd name="T8" fmla="*/ 0 60000 65536"/>
              <a:gd name="T9" fmla="*/ 0 60000 65536"/>
              <a:gd name="T10" fmla="*/ 0 60000 65536"/>
              <a:gd name="T11" fmla="*/ 0 60000 65536"/>
              <a:gd name="T12" fmla="*/ 0 w 1632"/>
              <a:gd name="T13" fmla="*/ 0 h 194"/>
              <a:gd name="T14" fmla="*/ 1632 w 1632"/>
              <a:gd name="T15" fmla="*/ 194 h 194"/>
            </a:gdLst>
            <a:ahLst/>
            <a:cxnLst>
              <a:cxn ang="T8">
                <a:pos x="T0" y="T1"/>
              </a:cxn>
              <a:cxn ang="T9">
                <a:pos x="T2" y="T3"/>
              </a:cxn>
              <a:cxn ang="T10">
                <a:pos x="T4" y="T5"/>
              </a:cxn>
              <a:cxn ang="T11">
                <a:pos x="T6" y="T7"/>
              </a:cxn>
            </a:cxnLst>
            <a:rect l="T12" t="T13" r="T14" b="T15"/>
            <a:pathLst>
              <a:path w="1632" h="194">
                <a:moveTo>
                  <a:pt x="1632" y="125"/>
                </a:moveTo>
                <a:cubicBezTo>
                  <a:pt x="1542" y="106"/>
                  <a:pt x="1296" y="24"/>
                  <a:pt x="1094" y="12"/>
                </a:cubicBezTo>
                <a:cubicBezTo>
                  <a:pt x="892" y="0"/>
                  <a:pt x="602" y="26"/>
                  <a:pt x="420" y="56"/>
                </a:cubicBezTo>
                <a:cubicBezTo>
                  <a:pt x="238" y="86"/>
                  <a:pt x="88" y="165"/>
                  <a:pt x="0" y="194"/>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7112A02C-9A26-4BF0-B7F9-B7F324B44876}"/>
              </a:ext>
            </a:extLst>
          </p:cNvPr>
          <p:cNvSpPr>
            <a:spLocks noGrp="1" noChangeArrowheads="1"/>
          </p:cNvSpPr>
          <p:nvPr>
            <p:ph type="title"/>
          </p:nvPr>
        </p:nvSpPr>
        <p:spPr/>
        <p:txBody>
          <a:bodyPr/>
          <a:lstStyle/>
          <a:p>
            <a:pPr eaLnBrk="1" hangingPunct="1"/>
            <a:r>
              <a:rPr lang="en-US" altLang="zh-CN"/>
              <a:t>6.6.2  </a:t>
            </a:r>
            <a:r>
              <a:rPr lang="zh-CN" altLang="en-US"/>
              <a:t>类型变量</a:t>
            </a:r>
          </a:p>
        </p:txBody>
      </p:sp>
      <p:sp>
        <p:nvSpPr>
          <p:cNvPr id="69635" name="Rectangle 3">
            <a:extLst>
              <a:ext uri="{FF2B5EF4-FFF2-40B4-BE49-F238E27FC236}">
                <a16:creationId xmlns:a16="http://schemas.microsoft.com/office/drawing/2014/main" id="{32D92DA6-6C75-44C8-96D2-3408EE52D80A}"/>
              </a:ext>
            </a:extLst>
          </p:cNvPr>
          <p:cNvSpPr>
            <a:spLocks noGrp="1" noChangeArrowheads="1"/>
          </p:cNvSpPr>
          <p:nvPr>
            <p:ph type="body" idx="1"/>
          </p:nvPr>
        </p:nvSpPr>
        <p:spPr/>
        <p:txBody>
          <a:bodyPr/>
          <a:lstStyle/>
          <a:p>
            <a:pPr eaLnBrk="1" hangingPunct="1"/>
            <a:r>
              <a:rPr lang="en-US" altLang="zh-CN" sz="2800">
                <a:latin typeface="Symbol" panose="05050102010706020507" pitchFamily="18" charset="2"/>
              </a:rPr>
              <a:t>a, b</a:t>
            </a:r>
            <a:r>
              <a:rPr lang="en-US" altLang="zh-CN" sz="2800"/>
              <a:t>, …</a:t>
            </a:r>
            <a:r>
              <a:rPr lang="zh-CN" altLang="en-US" sz="2800"/>
              <a:t>，表示未知类型</a:t>
            </a:r>
          </a:p>
          <a:p>
            <a:pPr eaLnBrk="1" hangingPunct="1"/>
            <a:r>
              <a:rPr lang="zh-CN" altLang="en-US" sz="2800"/>
              <a:t>重要应用：不要求标识符先声明后使用的语言中，检查标识符使用的一致性</a:t>
            </a:r>
          </a:p>
          <a:p>
            <a:pPr eaLnBrk="1" hangingPunct="1"/>
            <a:r>
              <a:rPr lang="zh-CN" altLang="en-US" sz="2800"/>
              <a:t>类型变量表示未声明标识符的类型</a:t>
            </a:r>
          </a:p>
          <a:p>
            <a:pPr lvl="1" eaLnBrk="1" hangingPunct="1"/>
            <a:r>
              <a:rPr lang="zh-CN" altLang="en-US" sz="2400"/>
              <a:t>若类型变量发生变化，不一致！</a:t>
            </a:r>
          </a:p>
          <a:p>
            <a:pPr lvl="1" eaLnBrk="1" hangingPunct="1"/>
            <a:r>
              <a:rPr lang="zh-CN" altLang="en-US" sz="2400"/>
              <a:t>若一直未变化，一致！同时得到标识符类型</a:t>
            </a:r>
          </a:p>
          <a:p>
            <a:pPr eaLnBrk="1" hangingPunct="1"/>
            <a:r>
              <a:rPr lang="zh-CN" altLang="en-US" sz="2800"/>
              <a:t>类型推断，</a:t>
            </a:r>
            <a:r>
              <a:rPr lang="en-US" altLang="zh-CN" sz="2800">
                <a:solidFill>
                  <a:schemeClr val="hlink"/>
                </a:solidFill>
              </a:rPr>
              <a:t>type inference</a:t>
            </a:r>
          </a:p>
          <a:p>
            <a:pPr lvl="1" eaLnBrk="1" hangingPunct="1"/>
            <a:r>
              <a:rPr lang="zh-CN" altLang="en-US" sz="2400"/>
              <a:t>根据语言结构的使用方式判定其类型</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7C52CDF-1CE5-474D-8ED6-392C3400062D}"/>
              </a:ext>
            </a:extLst>
          </p:cNvPr>
          <p:cNvSpPr>
            <a:spLocks noGrp="1" noChangeArrowheads="1"/>
          </p:cNvSpPr>
          <p:nvPr>
            <p:ph type="title"/>
          </p:nvPr>
        </p:nvSpPr>
        <p:spPr/>
        <p:txBody>
          <a:bodyPr/>
          <a:lstStyle/>
          <a:p>
            <a:pPr eaLnBrk="1" hangingPunct="1"/>
            <a:r>
              <a:rPr lang="zh-CN" altLang="en-US"/>
              <a:t>例</a:t>
            </a:r>
            <a:r>
              <a:rPr lang="en-US" altLang="zh-CN"/>
              <a:t>6.8</a:t>
            </a:r>
          </a:p>
        </p:txBody>
      </p:sp>
      <p:sp>
        <p:nvSpPr>
          <p:cNvPr id="70659" name="Rectangle 3">
            <a:extLst>
              <a:ext uri="{FF2B5EF4-FFF2-40B4-BE49-F238E27FC236}">
                <a16:creationId xmlns:a16="http://schemas.microsoft.com/office/drawing/2014/main" id="{92E584F9-0BC8-4204-A10F-18B4EBA8CA66}"/>
              </a:ext>
            </a:extLst>
          </p:cNvPr>
          <p:cNvSpPr>
            <a:spLocks noGrp="1" noChangeArrowheads="1"/>
          </p:cNvSpPr>
          <p:nvPr>
            <p:ph type="body" idx="1"/>
          </p:nvPr>
        </p:nvSpPr>
        <p:spPr>
          <a:xfrm>
            <a:off x="1182688" y="1371600"/>
            <a:ext cx="7772400" cy="4953000"/>
          </a:xfrm>
        </p:spPr>
        <p:txBody>
          <a:bodyPr/>
          <a:lstStyle/>
          <a:p>
            <a:pPr eaLnBrk="1" hangingPunct="1">
              <a:lnSpc>
                <a:spcPct val="80000"/>
              </a:lnSpc>
              <a:spcBef>
                <a:spcPct val="10000"/>
              </a:spcBef>
              <a:buFont typeface="Wingdings" panose="05000000000000000000" pitchFamily="2" charset="2"/>
              <a:buNone/>
            </a:pPr>
            <a:r>
              <a:rPr lang="en-US" altLang="zh-CN" sz="2000"/>
              <a:t>type link = ^cell;</a:t>
            </a:r>
          </a:p>
          <a:p>
            <a:pPr eaLnBrk="1" hangingPunct="1">
              <a:lnSpc>
                <a:spcPct val="80000"/>
              </a:lnSpc>
              <a:spcBef>
                <a:spcPct val="10000"/>
              </a:spcBef>
              <a:buFont typeface="Wingdings" panose="05000000000000000000" pitchFamily="2" charset="2"/>
              <a:buNone/>
            </a:pPr>
            <a:r>
              <a:rPr lang="en-US" altLang="zh-CN" sz="2000"/>
              <a:t>procedure mlist(lptr : link; procedure p);</a:t>
            </a:r>
          </a:p>
          <a:p>
            <a:pPr eaLnBrk="1" hangingPunct="1">
              <a:lnSpc>
                <a:spcPct val="80000"/>
              </a:lnSpc>
              <a:spcBef>
                <a:spcPct val="10000"/>
              </a:spcBef>
              <a:buFont typeface="Wingdings" panose="05000000000000000000" pitchFamily="2" charset="2"/>
              <a:buNone/>
            </a:pPr>
            <a:r>
              <a:rPr lang="en-US" altLang="zh-CN" sz="2000"/>
              <a:t>begin</a:t>
            </a:r>
          </a:p>
          <a:p>
            <a:pPr eaLnBrk="1" hangingPunct="1">
              <a:lnSpc>
                <a:spcPct val="80000"/>
              </a:lnSpc>
              <a:spcBef>
                <a:spcPct val="10000"/>
              </a:spcBef>
              <a:buFont typeface="Wingdings" panose="05000000000000000000" pitchFamily="2" charset="2"/>
              <a:buNone/>
            </a:pPr>
            <a:r>
              <a:rPr lang="en-US" altLang="zh-CN" sz="2000"/>
              <a:t>	while lptr &lt;&gt; nil do begin</a:t>
            </a:r>
          </a:p>
          <a:p>
            <a:pPr eaLnBrk="1" hangingPunct="1">
              <a:lnSpc>
                <a:spcPct val="80000"/>
              </a:lnSpc>
              <a:spcBef>
                <a:spcPct val="10000"/>
              </a:spcBef>
              <a:buFont typeface="Wingdings" panose="05000000000000000000" pitchFamily="2" charset="2"/>
              <a:buNone/>
            </a:pPr>
            <a:r>
              <a:rPr lang="en-US" altLang="zh-CN" sz="2000"/>
              <a:t>		p(lptr);</a:t>
            </a:r>
          </a:p>
          <a:p>
            <a:pPr eaLnBrk="1" hangingPunct="1">
              <a:lnSpc>
                <a:spcPct val="80000"/>
              </a:lnSpc>
              <a:spcBef>
                <a:spcPct val="10000"/>
              </a:spcBef>
              <a:buFont typeface="Wingdings" panose="05000000000000000000" pitchFamily="2" charset="2"/>
              <a:buNone/>
            </a:pPr>
            <a:r>
              <a:rPr lang="en-US" altLang="zh-CN" sz="2000"/>
              <a:t>		lptr := lptr^.next</a:t>
            </a:r>
          </a:p>
          <a:p>
            <a:pPr eaLnBrk="1" hangingPunct="1">
              <a:lnSpc>
                <a:spcPct val="80000"/>
              </a:lnSpc>
              <a:spcBef>
                <a:spcPct val="10000"/>
              </a:spcBef>
              <a:buFont typeface="Wingdings" panose="05000000000000000000" pitchFamily="2" charset="2"/>
              <a:buNone/>
            </a:pPr>
            <a:r>
              <a:rPr lang="en-US" altLang="zh-CN" sz="2000"/>
              <a:t>	end</a:t>
            </a:r>
          </a:p>
          <a:p>
            <a:pPr eaLnBrk="1" hangingPunct="1">
              <a:lnSpc>
                <a:spcPct val="80000"/>
              </a:lnSpc>
              <a:spcBef>
                <a:spcPct val="10000"/>
              </a:spcBef>
              <a:buFont typeface="Wingdings" panose="05000000000000000000" pitchFamily="2" charset="2"/>
              <a:buNone/>
            </a:pPr>
            <a:r>
              <a:rPr lang="en-US" altLang="zh-CN" sz="2000"/>
              <a:t>end;</a:t>
            </a:r>
          </a:p>
          <a:p>
            <a:pPr eaLnBrk="1" hangingPunct="1"/>
            <a:r>
              <a:rPr lang="en-US" altLang="zh-CN" sz="2800"/>
              <a:t>p</a:t>
            </a:r>
            <a:r>
              <a:rPr lang="zh-CN" altLang="en-US" sz="2800"/>
              <a:t>：参数情况未知，不完整的过程类型</a:t>
            </a:r>
          </a:p>
          <a:p>
            <a:pPr eaLnBrk="1" hangingPunct="1"/>
            <a:r>
              <a:rPr lang="zh-CN" altLang="en-US" sz="2800"/>
              <a:t>由</a:t>
            </a:r>
            <a:r>
              <a:rPr lang="en-US" altLang="zh-CN" sz="2800"/>
              <a:t>p(lptr)</a:t>
            </a:r>
            <a:r>
              <a:rPr lang="en-US" altLang="zh-CN" sz="2800">
                <a:sym typeface="Wingdings" panose="05000000000000000000" pitchFamily="2" charset="2"/>
              </a:rPr>
              <a:t></a:t>
            </a:r>
          </a:p>
          <a:p>
            <a:pPr lvl="1" eaLnBrk="1" hangingPunct="1"/>
            <a:r>
              <a:rPr lang="en-US" altLang="zh-CN" sz="2400">
                <a:sym typeface="Wingdings" panose="05000000000000000000" pitchFamily="2" charset="2"/>
              </a:rPr>
              <a:t>p</a:t>
            </a:r>
            <a:r>
              <a:rPr lang="zh-CN" altLang="en-US" sz="2400">
                <a:sym typeface="Wingdings" panose="05000000000000000000" pitchFamily="2" charset="2"/>
              </a:rPr>
              <a:t>参数为</a:t>
            </a:r>
            <a:r>
              <a:rPr lang="en-US" altLang="zh-CN" sz="2400">
                <a:sym typeface="Wingdings" panose="05000000000000000000" pitchFamily="2" charset="2"/>
              </a:rPr>
              <a:t>link</a:t>
            </a:r>
            <a:r>
              <a:rPr lang="zh-CN" altLang="en-US" sz="2400">
                <a:sym typeface="Wingdings" panose="05000000000000000000" pitchFamily="2" charset="2"/>
              </a:rPr>
              <a:t>类型，</a:t>
            </a:r>
            <a:r>
              <a:rPr lang="en-US" altLang="zh-CN" sz="2400">
                <a:sym typeface="Wingdings" panose="05000000000000000000" pitchFamily="2" charset="2"/>
              </a:rPr>
              <a:t>p</a:t>
            </a:r>
            <a:r>
              <a:rPr lang="zh-CN" altLang="en-US" sz="2400">
                <a:sym typeface="Wingdings" panose="05000000000000000000" pitchFamily="2" charset="2"/>
              </a:rPr>
              <a:t>的类型为</a:t>
            </a:r>
            <a:r>
              <a:rPr lang="en-US" altLang="zh-CN" sz="2400">
                <a:sym typeface="Wingdings" panose="05000000000000000000" pitchFamily="2" charset="2"/>
              </a:rPr>
              <a:t>link</a:t>
            </a:r>
            <a:r>
              <a:rPr lang="en-US" altLang="zh-CN" sz="2400">
                <a:sym typeface="Symbol" panose="05050102010706020507" pitchFamily="18" charset="2"/>
              </a:rPr>
              <a:t>void</a:t>
            </a:r>
          </a:p>
          <a:p>
            <a:pPr lvl="1" eaLnBrk="1" hangingPunct="1"/>
            <a:r>
              <a:rPr lang="zh-CN" altLang="en-US" sz="2400">
                <a:sym typeface="Symbol" panose="05050102010706020507" pitchFamily="18" charset="2"/>
              </a:rPr>
              <a:t>其他使用方式均会导致</a:t>
            </a:r>
            <a:r>
              <a:rPr lang="en-US" altLang="zh-CN" sz="2400">
                <a:sym typeface="Symbol" panose="05050102010706020507" pitchFamily="18" charset="2"/>
              </a:rPr>
              <a:t>type_error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226EBBAA-0587-43E4-8FC0-601767CB91BC}"/>
              </a:ext>
            </a:extLst>
          </p:cNvPr>
          <p:cNvSpPr>
            <a:spLocks noGrp="1" noChangeArrowheads="1"/>
          </p:cNvSpPr>
          <p:nvPr>
            <p:ph type="title"/>
          </p:nvPr>
        </p:nvSpPr>
        <p:spPr/>
        <p:txBody>
          <a:bodyPr/>
          <a:lstStyle/>
          <a:p>
            <a:pPr eaLnBrk="1" hangingPunct="1"/>
            <a:r>
              <a:rPr lang="zh-CN" altLang="en-US"/>
              <a:t>例</a:t>
            </a:r>
            <a:r>
              <a:rPr lang="en-US" altLang="zh-CN"/>
              <a:t>6.9</a:t>
            </a:r>
          </a:p>
        </p:txBody>
      </p:sp>
      <p:sp>
        <p:nvSpPr>
          <p:cNvPr id="71683" name="Rectangle 3">
            <a:extLst>
              <a:ext uri="{FF2B5EF4-FFF2-40B4-BE49-F238E27FC236}">
                <a16:creationId xmlns:a16="http://schemas.microsoft.com/office/drawing/2014/main" id="{1A7915A8-E221-45CB-A949-0420F75F76EE}"/>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a:t>function deref(p);</a:t>
            </a:r>
          </a:p>
          <a:p>
            <a:pPr eaLnBrk="1" hangingPunct="1">
              <a:buFont typeface="Wingdings" panose="05000000000000000000" pitchFamily="2" charset="2"/>
              <a:buNone/>
            </a:pPr>
            <a:r>
              <a:rPr lang="en-US" altLang="zh-CN" sz="2400"/>
              <a:t>begin</a:t>
            </a:r>
          </a:p>
          <a:p>
            <a:pPr eaLnBrk="1" hangingPunct="1">
              <a:buFont typeface="Wingdings" panose="05000000000000000000" pitchFamily="2" charset="2"/>
              <a:buNone/>
            </a:pPr>
            <a:r>
              <a:rPr lang="en-US" altLang="zh-CN" sz="2400"/>
              <a:t>	return p^;</a:t>
            </a:r>
          </a:p>
          <a:p>
            <a:pPr eaLnBrk="1" hangingPunct="1">
              <a:buFont typeface="Wingdings" panose="05000000000000000000" pitchFamily="2" charset="2"/>
              <a:buNone/>
            </a:pPr>
            <a:r>
              <a:rPr lang="en-US" altLang="zh-CN" sz="2400"/>
              <a:t>end;</a:t>
            </a:r>
          </a:p>
          <a:p>
            <a:pPr eaLnBrk="1" hangingPunct="1"/>
            <a:r>
              <a:rPr lang="zh-CN" altLang="en-US"/>
              <a:t>扫描第一行，</a:t>
            </a:r>
            <a:r>
              <a:rPr lang="en-US" altLang="zh-CN"/>
              <a:t>p</a:t>
            </a:r>
            <a:r>
              <a:rPr lang="zh-CN" altLang="en-US"/>
              <a:t>的类型未知，用</a:t>
            </a:r>
            <a:r>
              <a:rPr lang="en-US" altLang="zh-CN">
                <a:latin typeface="Symbol" panose="05050102010706020507" pitchFamily="18" charset="2"/>
              </a:rPr>
              <a:t>b</a:t>
            </a:r>
            <a:r>
              <a:rPr lang="zh-CN" altLang="en-US"/>
              <a:t>表示</a:t>
            </a:r>
          </a:p>
          <a:p>
            <a:pPr eaLnBrk="1" hangingPunct="1"/>
            <a:r>
              <a:rPr lang="zh-CN" altLang="en-US"/>
              <a:t>第三行，</a:t>
            </a:r>
            <a:r>
              <a:rPr lang="en-US" altLang="zh-CN"/>
              <a:t>^</a:t>
            </a:r>
            <a:r>
              <a:rPr lang="zh-CN" altLang="en-US"/>
              <a:t>应作用于指针，因此</a:t>
            </a:r>
            <a:r>
              <a:rPr lang="en-US" altLang="zh-CN"/>
              <a:t>p</a:t>
            </a:r>
            <a:r>
              <a:rPr lang="zh-CN" altLang="en-US"/>
              <a:t>为某未知基本类型</a:t>
            </a:r>
            <a:r>
              <a:rPr lang="en-US" altLang="zh-CN">
                <a:latin typeface="Symbol" panose="05050102010706020507" pitchFamily="18" charset="2"/>
              </a:rPr>
              <a:t>a</a:t>
            </a:r>
            <a:r>
              <a:rPr lang="zh-CN" altLang="en-US"/>
              <a:t>的指针类型，</a:t>
            </a:r>
            <a:r>
              <a:rPr lang="en-US" altLang="zh-CN">
                <a:latin typeface="Symbol" panose="05050102010706020507" pitchFamily="18" charset="2"/>
              </a:rPr>
              <a:t>b</a:t>
            </a:r>
            <a:r>
              <a:rPr lang="en-US" altLang="zh-CN"/>
              <a:t>=pointer(</a:t>
            </a:r>
            <a:r>
              <a:rPr lang="en-US" altLang="zh-CN">
                <a:latin typeface="Symbol" panose="05050102010706020507" pitchFamily="18" charset="2"/>
              </a:rPr>
              <a:t>a</a:t>
            </a:r>
            <a:r>
              <a:rPr lang="en-US" altLang="zh-CN"/>
              <a:t>)</a:t>
            </a:r>
          </a:p>
          <a:p>
            <a:pPr eaLnBrk="1" hangingPunct="1"/>
            <a:r>
              <a:rPr lang="zh-CN" altLang="en-US"/>
              <a:t>因此函数</a:t>
            </a:r>
            <a:r>
              <a:rPr lang="en-US" altLang="zh-CN"/>
              <a:t>deref</a:t>
            </a:r>
            <a:r>
              <a:rPr lang="zh-CN" altLang="en-US"/>
              <a:t>类型为：</a:t>
            </a:r>
            <a:r>
              <a:rPr lang="en-US" altLang="zh-CN"/>
              <a:t>pointer(</a:t>
            </a:r>
            <a:r>
              <a:rPr lang="en-US" altLang="zh-CN">
                <a:latin typeface="Symbol" panose="05050102010706020507" pitchFamily="18" charset="2"/>
              </a:rPr>
              <a:t>a</a:t>
            </a:r>
            <a:r>
              <a:rPr lang="en-US" altLang="zh-CN"/>
              <a:t>)</a:t>
            </a:r>
            <a:r>
              <a:rPr lang="en-US" altLang="zh-CN">
                <a:sym typeface="Symbol" panose="05050102010706020507" pitchFamily="18" charset="2"/>
              </a:rPr>
              <a:t></a:t>
            </a:r>
            <a:r>
              <a:rPr lang="en-US" altLang="zh-CN">
                <a:latin typeface="Symbol" panose="05050102010706020507" pitchFamily="18" charset="2"/>
                <a:sym typeface="Symbol" panose="05050102010706020507" pitchFamily="18" charset="2"/>
              </a:rPr>
              <a:t>a</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6248D52-9D2C-4A99-8A8B-03307C4E0583}"/>
              </a:ext>
            </a:extLst>
          </p:cNvPr>
          <p:cNvSpPr>
            <a:spLocks noGrp="1" noChangeArrowheads="1"/>
          </p:cNvSpPr>
          <p:nvPr>
            <p:ph type="title"/>
          </p:nvPr>
        </p:nvSpPr>
        <p:spPr/>
        <p:txBody>
          <a:bodyPr/>
          <a:lstStyle/>
          <a:p>
            <a:pPr eaLnBrk="1" hangingPunct="1"/>
            <a:r>
              <a:rPr lang="en-US" altLang="zh-CN"/>
              <a:t>6.6.3  </a:t>
            </a:r>
            <a:r>
              <a:rPr lang="zh-CN" altLang="en-US"/>
              <a:t>包含多态函数的语言</a:t>
            </a:r>
          </a:p>
        </p:txBody>
      </p:sp>
      <p:sp>
        <p:nvSpPr>
          <p:cNvPr id="72707" name="Rectangle 3">
            <a:extLst>
              <a:ext uri="{FF2B5EF4-FFF2-40B4-BE49-F238E27FC236}">
                <a16:creationId xmlns:a16="http://schemas.microsoft.com/office/drawing/2014/main" id="{23A60137-DA79-4275-8DB9-1D13D13031F2}"/>
              </a:ext>
            </a:extLst>
          </p:cNvPr>
          <p:cNvSpPr>
            <a:spLocks noGrp="1" noChangeArrowheads="1"/>
          </p:cNvSpPr>
          <p:nvPr>
            <p:ph type="body" idx="1"/>
          </p:nvPr>
        </p:nvSpPr>
        <p:spPr/>
        <p:txBody>
          <a:bodyPr/>
          <a:lstStyle/>
          <a:p>
            <a:pPr eaLnBrk="1" hangingPunct="1"/>
            <a:r>
              <a:rPr lang="zh-CN" altLang="en-US"/>
              <a:t>用   表示“对所有类型”</a:t>
            </a:r>
          </a:p>
          <a:p>
            <a:pPr eaLnBrk="1" hangingPunct="1"/>
            <a:r>
              <a:rPr lang="en-US" altLang="zh-CN"/>
              <a:t>deref</a:t>
            </a:r>
            <a:r>
              <a:rPr lang="zh-CN" altLang="en-US"/>
              <a:t>类型的精确描述：</a:t>
            </a:r>
          </a:p>
          <a:p>
            <a:pPr eaLnBrk="1" hangingPunct="1"/>
            <a:r>
              <a:rPr lang="en-US" altLang="zh-CN"/>
              <a:t>length</a:t>
            </a:r>
            <a:r>
              <a:rPr lang="zh-CN" altLang="en-US"/>
              <a:t>：</a:t>
            </a:r>
          </a:p>
          <a:p>
            <a:pPr lvl="1" eaLnBrk="1" hangingPunct="1"/>
            <a:r>
              <a:rPr lang="en-US" altLang="zh-CN" i="1"/>
              <a:t>list</a:t>
            </a:r>
            <a:r>
              <a:rPr lang="en-US" altLang="zh-CN"/>
              <a:t>(</a:t>
            </a:r>
            <a:r>
              <a:rPr lang="en-US" altLang="zh-CN" i="1"/>
              <a:t>integer</a:t>
            </a:r>
            <a:r>
              <a:rPr lang="en-US" altLang="zh-CN"/>
              <a:t>)</a:t>
            </a:r>
            <a:r>
              <a:rPr lang="en-US" altLang="zh-CN">
                <a:sym typeface="Symbol" panose="05050102010706020507" pitchFamily="18" charset="2"/>
              </a:rPr>
              <a:t></a:t>
            </a:r>
            <a:r>
              <a:rPr lang="en-US" altLang="zh-CN" i="1">
                <a:sym typeface="Symbol" panose="05050102010706020507" pitchFamily="18" charset="2"/>
              </a:rPr>
              <a:t>integer</a:t>
            </a:r>
          </a:p>
          <a:p>
            <a:pPr lvl="1" eaLnBrk="1" hangingPunct="1"/>
            <a:r>
              <a:rPr lang="en-US" altLang="zh-CN" i="1">
                <a:sym typeface="Symbol" panose="05050102010706020507" pitchFamily="18" charset="2"/>
              </a:rPr>
              <a:t>list</a:t>
            </a:r>
            <a:r>
              <a:rPr lang="en-US" altLang="zh-CN">
                <a:sym typeface="Symbol" panose="05050102010706020507" pitchFamily="18" charset="2"/>
              </a:rPr>
              <a:t>(</a:t>
            </a:r>
            <a:r>
              <a:rPr lang="en-US" altLang="zh-CN" i="1">
                <a:sym typeface="Symbol" panose="05050102010706020507" pitchFamily="18" charset="2"/>
              </a:rPr>
              <a:t>list</a:t>
            </a:r>
            <a:r>
              <a:rPr lang="en-US" altLang="zh-CN">
                <a:sym typeface="Symbol" panose="05050102010706020507" pitchFamily="18" charset="2"/>
              </a:rPr>
              <a:t>(</a:t>
            </a:r>
            <a:r>
              <a:rPr lang="en-US" altLang="zh-CN" i="1">
                <a:sym typeface="Symbol" panose="05050102010706020507" pitchFamily="18" charset="2"/>
              </a:rPr>
              <a:t>char</a:t>
            </a:r>
            <a:r>
              <a:rPr lang="en-US" altLang="zh-CN">
                <a:sym typeface="Symbol" panose="05050102010706020507" pitchFamily="18" charset="2"/>
              </a:rPr>
              <a:t>))</a:t>
            </a:r>
            <a:r>
              <a:rPr lang="en-US" altLang="zh-CN" i="1">
                <a:sym typeface="Symbol" panose="05050102010706020507" pitchFamily="18" charset="2"/>
              </a:rPr>
              <a:t>integer</a:t>
            </a:r>
          </a:p>
          <a:p>
            <a:pPr eaLnBrk="1" hangingPunct="1"/>
            <a:r>
              <a:rPr lang="en-US" altLang="zh-CN">
                <a:sym typeface="Symbol" panose="05050102010706020507" pitchFamily="18" charset="2"/>
              </a:rPr>
              <a:t>     </a:t>
            </a:r>
            <a:r>
              <a:rPr lang="zh-CN" altLang="en-US">
                <a:sym typeface="Symbol" panose="05050102010706020507" pitchFamily="18" charset="2"/>
              </a:rPr>
              <a:t>：全称量词（</a:t>
            </a:r>
            <a:r>
              <a:rPr lang="en-US" altLang="zh-CN">
                <a:sym typeface="Symbol" panose="05050102010706020507" pitchFamily="18" charset="2"/>
              </a:rPr>
              <a:t>universal quantifier</a:t>
            </a:r>
            <a:r>
              <a:rPr lang="zh-CN" altLang="en-US">
                <a:sym typeface="Symbol" panose="05050102010706020507" pitchFamily="18" charset="2"/>
              </a:rPr>
              <a:t>）</a:t>
            </a:r>
            <a:r>
              <a:rPr lang="zh-CN" altLang="en-US">
                <a:sym typeface="Wingdings" panose="05000000000000000000" pitchFamily="2" charset="2"/>
              </a:rPr>
              <a:t></a:t>
            </a:r>
            <a:br>
              <a:rPr lang="zh-CN" altLang="en-US">
                <a:sym typeface="Wingdings" panose="05000000000000000000" pitchFamily="2" charset="2"/>
              </a:rPr>
            </a:br>
            <a:r>
              <a:rPr lang="zh-CN" altLang="en-US">
                <a:sym typeface="Wingdings" panose="05000000000000000000" pitchFamily="2" charset="2"/>
              </a:rPr>
              <a:t>它所施用的类型变量称为由它约束（</a:t>
            </a:r>
            <a:r>
              <a:rPr lang="en-US" altLang="zh-CN">
                <a:sym typeface="Wingdings" panose="05000000000000000000" pitchFamily="2" charset="2"/>
              </a:rPr>
              <a:t>bound</a:t>
            </a:r>
            <a:r>
              <a:rPr lang="zh-CN" altLang="en-US">
                <a:sym typeface="Wingdings" panose="05000000000000000000" pitchFamily="2" charset="2"/>
              </a:rPr>
              <a:t>）</a:t>
            </a:r>
          </a:p>
        </p:txBody>
      </p:sp>
      <p:graphicFrame>
        <p:nvGraphicFramePr>
          <p:cNvPr id="72708" name="Object 6">
            <a:extLst>
              <a:ext uri="{FF2B5EF4-FFF2-40B4-BE49-F238E27FC236}">
                <a16:creationId xmlns:a16="http://schemas.microsoft.com/office/drawing/2014/main" id="{D8080C75-9CC6-470B-A8CD-392813D6126E}"/>
              </a:ext>
            </a:extLst>
          </p:cNvPr>
          <p:cNvGraphicFramePr>
            <a:graphicFrameLocks noChangeAspect="1"/>
          </p:cNvGraphicFramePr>
          <p:nvPr/>
        </p:nvGraphicFramePr>
        <p:xfrm>
          <a:off x="5410200" y="2057400"/>
          <a:ext cx="3009900" cy="479425"/>
        </p:xfrm>
        <a:graphic>
          <a:graphicData uri="http://schemas.openxmlformats.org/presentationml/2006/ole">
            <mc:AlternateContent xmlns:mc="http://schemas.openxmlformats.org/markup-compatibility/2006">
              <mc:Choice xmlns:v="urn:schemas-microsoft-com:vml" Requires="v">
                <p:oleObj spid="_x0000_s72756" r:id="rId3" imgW="1295400" imgH="203200" progId="Equation.3">
                  <p:embed/>
                </p:oleObj>
              </mc:Choice>
              <mc:Fallback>
                <p:oleObj r:id="rId3" imgW="1295400" imgH="203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2057400"/>
                        <a:ext cx="3009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09" name="Object 8">
            <a:extLst>
              <a:ext uri="{FF2B5EF4-FFF2-40B4-BE49-F238E27FC236}">
                <a16:creationId xmlns:a16="http://schemas.microsoft.com/office/drawing/2014/main" id="{2328B905-0828-4EAE-BCB9-39B24CBD74B5}"/>
              </a:ext>
            </a:extLst>
          </p:cNvPr>
          <p:cNvGraphicFramePr>
            <a:graphicFrameLocks noChangeAspect="1"/>
          </p:cNvGraphicFramePr>
          <p:nvPr/>
        </p:nvGraphicFramePr>
        <p:xfrm>
          <a:off x="2913063" y="2667000"/>
          <a:ext cx="3128962" cy="479425"/>
        </p:xfrm>
        <a:graphic>
          <a:graphicData uri="http://schemas.openxmlformats.org/presentationml/2006/ole">
            <mc:AlternateContent xmlns:mc="http://schemas.openxmlformats.org/markup-compatibility/2006">
              <mc:Choice xmlns:v="urn:schemas-microsoft-com:vml" Requires="v">
                <p:oleObj spid="_x0000_s72757" name="Equation" r:id="rId5" imgW="1346200" imgH="203200" progId="Equation.3">
                  <p:embed/>
                </p:oleObj>
              </mc:Choice>
              <mc:Fallback>
                <p:oleObj name="Equation" r:id="rId5" imgW="1346200" imgH="203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063" y="2667000"/>
                        <a:ext cx="31289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0" name="Object 9">
            <a:extLst>
              <a:ext uri="{FF2B5EF4-FFF2-40B4-BE49-F238E27FC236}">
                <a16:creationId xmlns:a16="http://schemas.microsoft.com/office/drawing/2014/main" id="{A1C6368F-DF56-40AB-800C-850D45AE8703}"/>
              </a:ext>
            </a:extLst>
          </p:cNvPr>
          <p:cNvGraphicFramePr>
            <a:graphicFrameLocks noChangeAspect="1"/>
          </p:cNvGraphicFramePr>
          <p:nvPr/>
        </p:nvGraphicFramePr>
        <p:xfrm>
          <a:off x="1981200" y="1447800"/>
          <a:ext cx="354013" cy="388938"/>
        </p:xfrm>
        <a:graphic>
          <a:graphicData uri="http://schemas.openxmlformats.org/presentationml/2006/ole">
            <mc:AlternateContent xmlns:mc="http://schemas.openxmlformats.org/markup-compatibility/2006">
              <mc:Choice xmlns:v="urn:schemas-microsoft-com:vml" Requires="v">
                <p:oleObj spid="_x0000_s72758" name="Equation" r:id="rId7" imgW="152268" imgH="164957" progId="Equation.3">
                  <p:embed/>
                </p:oleObj>
              </mc:Choice>
              <mc:Fallback>
                <p:oleObj name="Equation" r:id="rId7" imgW="152268" imgH="164957"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14478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1" name="Object 10">
            <a:extLst>
              <a:ext uri="{FF2B5EF4-FFF2-40B4-BE49-F238E27FC236}">
                <a16:creationId xmlns:a16="http://schemas.microsoft.com/office/drawing/2014/main" id="{569CFB97-7092-4964-ACBD-51DC99EA5C27}"/>
              </a:ext>
            </a:extLst>
          </p:cNvPr>
          <p:cNvGraphicFramePr>
            <a:graphicFrameLocks noChangeAspect="1"/>
          </p:cNvGraphicFramePr>
          <p:nvPr/>
        </p:nvGraphicFramePr>
        <p:xfrm>
          <a:off x="1676400" y="4267200"/>
          <a:ext cx="354013" cy="388938"/>
        </p:xfrm>
        <a:graphic>
          <a:graphicData uri="http://schemas.openxmlformats.org/presentationml/2006/ole">
            <mc:AlternateContent xmlns:mc="http://schemas.openxmlformats.org/markup-compatibility/2006">
              <mc:Choice xmlns:v="urn:schemas-microsoft-com:vml" Requires="v">
                <p:oleObj spid="_x0000_s72759" name="Equation" r:id="rId9" imgW="152268" imgH="164957" progId="Equation.3">
                  <p:embed/>
                </p:oleObj>
              </mc:Choice>
              <mc:Fallback>
                <p:oleObj name="Equation" r:id="rId9" imgW="152268" imgH="164957"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2672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1BB585FB-A4CB-4CD7-8823-C384B368DB8A}"/>
              </a:ext>
            </a:extLst>
          </p:cNvPr>
          <p:cNvSpPr>
            <a:spLocks noGrp="1" noChangeArrowheads="1"/>
          </p:cNvSpPr>
          <p:nvPr>
            <p:ph type="title"/>
          </p:nvPr>
        </p:nvSpPr>
        <p:spPr/>
        <p:txBody>
          <a:bodyPr/>
          <a:lstStyle/>
          <a:p>
            <a:pPr eaLnBrk="1" hangingPunct="1"/>
            <a:r>
              <a:rPr lang="zh-CN" altLang="en-US"/>
              <a:t>文法定义</a:t>
            </a:r>
          </a:p>
        </p:txBody>
      </p:sp>
      <p:sp>
        <p:nvSpPr>
          <p:cNvPr id="73731" name="Rectangle 3">
            <a:extLst>
              <a:ext uri="{FF2B5EF4-FFF2-40B4-BE49-F238E27FC236}">
                <a16:creationId xmlns:a16="http://schemas.microsoft.com/office/drawing/2014/main" id="{270BB470-5A5A-4834-B161-778268894C86}"/>
              </a:ext>
            </a:extLst>
          </p:cNvPr>
          <p:cNvSpPr>
            <a:spLocks noGrp="1" noChangeArrowheads="1"/>
          </p:cNvSpPr>
          <p:nvPr>
            <p:ph type="body" idx="1"/>
          </p:nvPr>
        </p:nvSpPr>
        <p:spPr>
          <a:xfrm>
            <a:off x="1182688" y="1371600"/>
            <a:ext cx="7772400" cy="5486400"/>
          </a:xfrm>
        </p:spPr>
        <p:txBody>
          <a:bodyPr/>
          <a:lstStyle/>
          <a:p>
            <a:pPr eaLnBrk="1" hangingPunct="1">
              <a:lnSpc>
                <a:spcPct val="80000"/>
              </a:lnSpc>
              <a:spcBef>
                <a:spcPct val="10000"/>
              </a:spcBef>
              <a:buFont typeface="Wingdings" panose="05000000000000000000" pitchFamily="2" charset="2"/>
              <a:buNone/>
            </a:pPr>
            <a:r>
              <a:rPr lang="en-US" altLang="zh-CN" sz="2400"/>
              <a:t>P </a:t>
            </a:r>
            <a:r>
              <a:rPr lang="en-US" altLang="zh-CN" sz="2400">
                <a:sym typeface="Symbol" panose="05050102010706020507" pitchFamily="18" charset="2"/>
              </a:rPr>
              <a:t> D ; E</a:t>
            </a:r>
          </a:p>
          <a:p>
            <a:pPr eaLnBrk="1" hangingPunct="1">
              <a:lnSpc>
                <a:spcPct val="80000"/>
              </a:lnSpc>
              <a:spcBef>
                <a:spcPct val="10000"/>
              </a:spcBef>
              <a:buFont typeface="Wingdings" panose="05000000000000000000" pitchFamily="2" charset="2"/>
              <a:buNone/>
            </a:pPr>
            <a:r>
              <a:rPr lang="en-US" altLang="zh-CN" sz="2400"/>
              <a:t>D </a:t>
            </a:r>
            <a:r>
              <a:rPr lang="en-US" altLang="zh-CN" sz="2400">
                <a:sym typeface="Symbol" panose="05050102010706020507" pitchFamily="18" charset="2"/>
              </a:rPr>
              <a:t> D ; D | </a:t>
            </a:r>
            <a:r>
              <a:rPr lang="en-US" altLang="zh-CN" sz="2400" b="1">
                <a:sym typeface="Symbol" panose="05050102010706020507" pitchFamily="18" charset="2"/>
              </a:rPr>
              <a:t>id</a:t>
            </a:r>
            <a:r>
              <a:rPr lang="en-US" altLang="zh-CN" sz="2400">
                <a:sym typeface="Symbol" panose="05050102010706020507" pitchFamily="18" charset="2"/>
              </a:rPr>
              <a:t> : Q</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Q        </a:t>
            </a:r>
            <a:r>
              <a:rPr lang="en-US" altLang="zh-CN" sz="2400" b="1">
                <a:sym typeface="Symbol" panose="05050102010706020507" pitchFamily="18" charset="2"/>
              </a:rPr>
              <a:t>type_varible</a:t>
            </a:r>
            <a:r>
              <a:rPr lang="en-US" altLang="zh-CN" sz="2400">
                <a:sym typeface="Symbol" panose="05050102010706020507" pitchFamily="18" charset="2"/>
              </a:rPr>
              <a:t> . Q | T</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T  T ‘’ T</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T × T</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unary_constructor </a:t>
            </a:r>
            <a:r>
              <a:rPr lang="en-US" altLang="zh-CN" sz="2400">
                <a:sym typeface="Symbol" panose="05050102010706020507" pitchFamily="18" charset="2"/>
              </a:rPr>
              <a:t> ( 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basic_type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a:t>
            </a:r>
            <a:r>
              <a:rPr lang="en-US" altLang="zh-CN" sz="2400" b="1">
                <a:sym typeface="Symbol" panose="05050102010706020507" pitchFamily="18" charset="2"/>
              </a:rPr>
              <a:t>type_varible</a:t>
            </a:r>
            <a:endParaRPr lang="en-US" altLang="zh-CN" sz="2400">
              <a:sym typeface="Symbol" panose="05050102010706020507" pitchFamily="18" charset="2"/>
            </a:endParaRP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	   | ( T )</a:t>
            </a:r>
          </a:p>
          <a:p>
            <a:pPr eaLnBrk="1" hangingPunct="1">
              <a:lnSpc>
                <a:spcPct val="80000"/>
              </a:lnSpc>
              <a:spcBef>
                <a:spcPct val="10000"/>
              </a:spcBef>
              <a:buFont typeface="Wingdings" panose="05000000000000000000" pitchFamily="2" charset="2"/>
              <a:buNone/>
            </a:pPr>
            <a:r>
              <a:rPr lang="en-US" altLang="zh-CN" sz="2400">
                <a:sym typeface="Symbol" panose="05050102010706020507" pitchFamily="18" charset="2"/>
              </a:rPr>
              <a:t>E  E (E) | E , E | </a:t>
            </a:r>
            <a:r>
              <a:rPr lang="en-US" altLang="zh-CN" sz="2400" b="1">
                <a:sym typeface="Symbol" panose="05050102010706020507" pitchFamily="18" charset="2"/>
              </a:rPr>
              <a:t>id</a:t>
            </a:r>
          </a:p>
          <a:p>
            <a:pPr eaLnBrk="1" hangingPunct="1">
              <a:lnSpc>
                <a:spcPct val="80000"/>
              </a:lnSpc>
              <a:spcBef>
                <a:spcPct val="10000"/>
              </a:spcBef>
              <a:buFont typeface="Wingdings" panose="05000000000000000000" pitchFamily="2" charset="2"/>
              <a:buNone/>
            </a:pPr>
            <a:r>
              <a:rPr lang="zh-CN" altLang="en-US" sz="2400"/>
              <a:t>程序例：</a:t>
            </a:r>
          </a:p>
          <a:p>
            <a:pPr eaLnBrk="1" hangingPunct="1">
              <a:lnSpc>
                <a:spcPct val="80000"/>
              </a:lnSpc>
              <a:spcBef>
                <a:spcPct val="10000"/>
              </a:spcBef>
              <a:buFont typeface="Wingdings" panose="05000000000000000000" pitchFamily="2" charset="2"/>
              <a:buNone/>
            </a:pPr>
            <a:r>
              <a:rPr lang="en-US" altLang="zh-CN" sz="2400"/>
              <a:t>deref :</a:t>
            </a:r>
            <a:r>
              <a:rPr lang="en-US" altLang="zh-CN" sz="2400">
                <a:solidFill>
                  <a:srgbClr val="3333CC"/>
                </a:solidFill>
              </a:rPr>
              <a:t> </a:t>
            </a:r>
          </a:p>
          <a:p>
            <a:pPr eaLnBrk="1" hangingPunct="1">
              <a:lnSpc>
                <a:spcPct val="80000"/>
              </a:lnSpc>
              <a:spcBef>
                <a:spcPct val="10000"/>
              </a:spcBef>
              <a:buFont typeface="Wingdings" panose="05000000000000000000" pitchFamily="2" charset="2"/>
              <a:buNone/>
            </a:pPr>
            <a:r>
              <a:rPr lang="en-US" altLang="zh-CN" sz="2400"/>
              <a:t>      q : pointer(pointer(integer));</a:t>
            </a:r>
          </a:p>
          <a:p>
            <a:pPr eaLnBrk="1" hangingPunct="1">
              <a:lnSpc>
                <a:spcPct val="80000"/>
              </a:lnSpc>
              <a:spcBef>
                <a:spcPct val="10000"/>
              </a:spcBef>
              <a:buFont typeface="Wingdings" panose="05000000000000000000" pitchFamily="2" charset="2"/>
              <a:buNone/>
            </a:pPr>
            <a:r>
              <a:rPr lang="en-US" altLang="zh-CN" sz="2400"/>
              <a:t>deref(deref(q))</a:t>
            </a:r>
          </a:p>
        </p:txBody>
      </p:sp>
      <p:graphicFrame>
        <p:nvGraphicFramePr>
          <p:cNvPr id="73732" name="Object 5">
            <a:extLst>
              <a:ext uri="{FF2B5EF4-FFF2-40B4-BE49-F238E27FC236}">
                <a16:creationId xmlns:a16="http://schemas.microsoft.com/office/drawing/2014/main" id="{2B581684-7FC5-4760-9589-6EE68C7F5092}"/>
              </a:ext>
            </a:extLst>
          </p:cNvPr>
          <p:cNvGraphicFramePr>
            <a:graphicFrameLocks noChangeAspect="1"/>
          </p:cNvGraphicFramePr>
          <p:nvPr/>
        </p:nvGraphicFramePr>
        <p:xfrm>
          <a:off x="2057400" y="2057400"/>
          <a:ext cx="354013" cy="388938"/>
        </p:xfrm>
        <a:graphic>
          <a:graphicData uri="http://schemas.openxmlformats.org/presentationml/2006/ole">
            <mc:AlternateContent xmlns:mc="http://schemas.openxmlformats.org/markup-compatibility/2006">
              <mc:Choice xmlns:v="urn:schemas-microsoft-com:vml" Requires="v">
                <p:oleObj spid="_x0000_s73756" name="Equation" r:id="rId3" imgW="152268" imgH="164957" progId="Equation.3">
                  <p:embed/>
                </p:oleObj>
              </mc:Choice>
              <mc:Fallback>
                <p:oleObj name="Equation" r:id="rId3" imgW="152268" imgH="16495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0574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3" name="Object 6">
            <a:extLst>
              <a:ext uri="{FF2B5EF4-FFF2-40B4-BE49-F238E27FC236}">
                <a16:creationId xmlns:a16="http://schemas.microsoft.com/office/drawing/2014/main" id="{B0D20009-EBB3-416B-ADD3-DF152FF04433}"/>
              </a:ext>
            </a:extLst>
          </p:cNvPr>
          <p:cNvGraphicFramePr>
            <a:graphicFrameLocks noChangeAspect="1"/>
          </p:cNvGraphicFramePr>
          <p:nvPr/>
        </p:nvGraphicFramePr>
        <p:xfrm>
          <a:off x="2220913" y="4941888"/>
          <a:ext cx="3070225" cy="479425"/>
        </p:xfrm>
        <a:graphic>
          <a:graphicData uri="http://schemas.openxmlformats.org/presentationml/2006/ole">
            <mc:AlternateContent xmlns:mc="http://schemas.openxmlformats.org/markup-compatibility/2006">
              <mc:Choice xmlns:v="urn:schemas-microsoft-com:vml" Requires="v">
                <p:oleObj spid="_x0000_s73757" name="Equation" r:id="rId5" imgW="1320227" imgH="203112" progId="Equation.3">
                  <p:embed/>
                </p:oleObj>
              </mc:Choice>
              <mc:Fallback>
                <p:oleObj name="Equation" r:id="rId5" imgW="1320227" imgH="203112"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0913" y="4941888"/>
                        <a:ext cx="3070225" cy="479425"/>
                      </a:xfrm>
                      <a:prstGeom prst="rect">
                        <a:avLst/>
                      </a:prstGeom>
                      <a:noFill/>
                      <a:ln>
                        <a:noFill/>
                      </a:ln>
                      <a:extLst>
                        <a:ext uri="{909E8E84-426E-40DD-AFC4-6F175D3DCCD1}">
                          <a14:hiddenFill xmlns:a14="http://schemas.microsoft.com/office/drawing/2010/main">
                            <a:solidFill>
                              <a:srgbClr val="3333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C1AB4F4-AC96-49A7-86C6-83F50AAAF240}"/>
              </a:ext>
            </a:extLst>
          </p:cNvPr>
          <p:cNvSpPr>
            <a:spLocks noGrp="1" noChangeArrowheads="1"/>
          </p:cNvSpPr>
          <p:nvPr>
            <p:ph type="title"/>
          </p:nvPr>
        </p:nvSpPr>
        <p:spPr/>
        <p:txBody>
          <a:bodyPr/>
          <a:lstStyle/>
          <a:p>
            <a:pPr eaLnBrk="1" hangingPunct="1"/>
            <a:r>
              <a:rPr lang="zh-CN" altLang="en-US"/>
              <a:t>多态函数类型检查</a:t>
            </a:r>
          </a:p>
        </p:txBody>
      </p:sp>
      <p:sp>
        <p:nvSpPr>
          <p:cNvPr id="74755" name="Rectangle 3">
            <a:extLst>
              <a:ext uri="{FF2B5EF4-FFF2-40B4-BE49-F238E27FC236}">
                <a16:creationId xmlns:a16="http://schemas.microsoft.com/office/drawing/2014/main" id="{555EAC0B-D750-4D3F-A4D5-58F66BB42F66}"/>
              </a:ext>
            </a:extLst>
          </p:cNvPr>
          <p:cNvSpPr>
            <a:spLocks noGrp="1" noChangeArrowheads="1"/>
          </p:cNvSpPr>
          <p:nvPr>
            <p:ph type="body" idx="1"/>
          </p:nvPr>
        </p:nvSpPr>
        <p:spPr>
          <a:xfrm>
            <a:off x="1182688" y="3657600"/>
            <a:ext cx="7772400" cy="2438400"/>
          </a:xfrm>
        </p:spPr>
        <p:txBody>
          <a:bodyPr/>
          <a:lstStyle/>
          <a:p>
            <a:pPr eaLnBrk="1" hangingPunct="1"/>
            <a:r>
              <a:rPr lang="zh-CN" altLang="en-US"/>
              <a:t>每个结点两个标签：子表达式和类型表达式</a:t>
            </a:r>
          </a:p>
          <a:p>
            <a:pPr eaLnBrk="1" hangingPunct="1"/>
            <a:r>
              <a:rPr lang="zh-CN" altLang="en-US"/>
              <a:t>下标</a:t>
            </a:r>
            <a:r>
              <a:rPr lang="en-US" altLang="zh-CN"/>
              <a:t>o</a:t>
            </a:r>
            <a:r>
              <a:rPr lang="zh-CN" altLang="en-US"/>
              <a:t>：外层</a:t>
            </a:r>
            <a:r>
              <a:rPr lang="en-US" altLang="zh-CN"/>
              <a:t>deref</a:t>
            </a:r>
            <a:r>
              <a:rPr lang="zh-CN" altLang="en-US"/>
              <a:t>，</a:t>
            </a:r>
            <a:r>
              <a:rPr lang="en-US" altLang="zh-CN"/>
              <a:t>i</a:t>
            </a:r>
            <a:r>
              <a:rPr lang="zh-CN" altLang="en-US"/>
              <a:t>：内层</a:t>
            </a:r>
            <a:r>
              <a:rPr lang="en-US" altLang="zh-CN"/>
              <a:t>deref</a:t>
            </a:r>
          </a:p>
        </p:txBody>
      </p:sp>
      <p:pic>
        <p:nvPicPr>
          <p:cNvPr id="74756" name="Picture 4" descr="poly1">
            <a:extLst>
              <a:ext uri="{FF2B5EF4-FFF2-40B4-BE49-F238E27FC236}">
                <a16:creationId xmlns:a16="http://schemas.microsoft.com/office/drawing/2014/main" id="{60AC35B6-4DBE-4472-A982-30AFCE5DF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1295400"/>
            <a:ext cx="69596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215009C-CD27-4B3C-A6ED-B9E0E85AFC13}"/>
              </a:ext>
            </a:extLst>
          </p:cNvPr>
          <p:cNvSpPr>
            <a:spLocks noGrp="1" noChangeArrowheads="1"/>
          </p:cNvSpPr>
          <p:nvPr>
            <p:ph type="title"/>
          </p:nvPr>
        </p:nvSpPr>
        <p:spPr/>
        <p:txBody>
          <a:bodyPr/>
          <a:lstStyle/>
          <a:p>
            <a:pPr eaLnBrk="1" hangingPunct="1"/>
            <a:r>
              <a:rPr lang="zh-CN" altLang="en-US"/>
              <a:t>类型检查规则的特点</a:t>
            </a:r>
          </a:p>
        </p:txBody>
      </p:sp>
      <p:sp>
        <p:nvSpPr>
          <p:cNvPr id="75779" name="Rectangle 3">
            <a:extLst>
              <a:ext uri="{FF2B5EF4-FFF2-40B4-BE49-F238E27FC236}">
                <a16:creationId xmlns:a16="http://schemas.microsoft.com/office/drawing/2014/main" id="{5D12ACDE-A1EB-4ECD-8E45-71B75B1B8CFF}"/>
              </a:ext>
            </a:extLst>
          </p:cNvPr>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a:pPr>
            <a:r>
              <a:rPr lang="zh-CN" altLang="en-US"/>
              <a:t>不同位置出现的同一多态函数可具有不同类型的参数。</a:t>
            </a:r>
          </a:p>
          <a:p>
            <a:pPr marL="990600" lvl="1" indent="-533400" eaLnBrk="1" hangingPunct="1">
              <a:buFont typeface="Wingdings" panose="05000000000000000000" pitchFamily="2" charset="2"/>
              <a:buChar char="m"/>
            </a:pPr>
            <a:r>
              <a:rPr lang="en-US" altLang="zh-CN"/>
              <a:t>deref</a:t>
            </a:r>
            <a:r>
              <a:rPr lang="en-US" altLang="zh-CN" baseline="-25000"/>
              <a:t>o</a:t>
            </a:r>
            <a:r>
              <a:rPr lang="zh-CN" altLang="en-US"/>
              <a:t>参数为二重指针，而</a:t>
            </a:r>
            <a:r>
              <a:rPr lang="en-US" altLang="zh-CN"/>
              <a:t>deref</a:t>
            </a:r>
            <a:r>
              <a:rPr lang="en-US" altLang="zh-CN" baseline="-25000"/>
              <a:t>i</a:t>
            </a:r>
            <a:r>
              <a:rPr lang="zh-CN" altLang="en-US"/>
              <a:t>的参数为一重指针。</a:t>
            </a:r>
          </a:p>
          <a:p>
            <a:pPr marL="990600" lvl="1" indent="-533400" eaLnBrk="1" hangingPunct="1">
              <a:buFont typeface="Wingdings" panose="05000000000000000000" pitchFamily="2" charset="2"/>
              <a:buChar char="m"/>
            </a:pPr>
            <a:r>
              <a:rPr lang="zh-CN" altLang="en-US"/>
              <a:t>关键在于    的解释，对不同</a:t>
            </a:r>
            <a:r>
              <a:rPr lang="en-US" altLang="zh-CN"/>
              <a:t>deref</a:t>
            </a:r>
            <a:r>
              <a:rPr lang="zh-CN" altLang="en-US"/>
              <a:t>，约束的类型变量</a:t>
            </a:r>
            <a:r>
              <a:rPr lang="en-US" altLang="zh-CN">
                <a:latin typeface="Symbol" panose="05050102010706020507" pitchFamily="18" charset="2"/>
              </a:rPr>
              <a:t>a</a:t>
            </a:r>
            <a:r>
              <a:rPr lang="zh-CN" altLang="en-US"/>
              <a:t>所代表的意义是不同的。</a:t>
            </a:r>
          </a:p>
          <a:p>
            <a:pPr marL="990600" lvl="1" indent="-533400" eaLnBrk="1" hangingPunct="1">
              <a:buFont typeface="Wingdings" panose="05000000000000000000" pitchFamily="2" charset="2"/>
              <a:buChar char="m"/>
            </a:pPr>
            <a:r>
              <a:rPr lang="zh-CN" altLang="en-US"/>
              <a:t>对多态函数的每次出现，都赋予不同的</a:t>
            </a:r>
            <a:r>
              <a:rPr lang="zh-CN" altLang="en-US">
                <a:latin typeface="Symbol" panose="05050102010706020507" pitchFamily="18" charset="2"/>
              </a:rPr>
              <a:t>类型变量</a:t>
            </a:r>
            <a:r>
              <a:rPr lang="zh-CN" altLang="en-US"/>
              <a:t>，而不再使用   </a:t>
            </a:r>
            <a:r>
              <a:rPr lang="en-US" altLang="zh-CN"/>
              <a:t>——</a:t>
            </a:r>
            <a:r>
              <a:rPr lang="zh-CN" altLang="en-US"/>
              <a:t>上例中用</a:t>
            </a:r>
            <a:r>
              <a:rPr lang="en-US" altLang="zh-CN">
                <a:latin typeface="Symbol" panose="05050102010706020507" pitchFamily="18" charset="2"/>
              </a:rPr>
              <a:t>a</a:t>
            </a:r>
            <a:r>
              <a:rPr lang="en-US" altLang="zh-CN" baseline="-25000"/>
              <a:t>o</a:t>
            </a:r>
            <a:r>
              <a:rPr lang="zh-CN" altLang="en-US"/>
              <a:t>、</a:t>
            </a:r>
            <a:r>
              <a:rPr lang="en-US" altLang="zh-CN">
                <a:latin typeface="Symbol" panose="05050102010706020507" pitchFamily="18" charset="2"/>
              </a:rPr>
              <a:t>a</a:t>
            </a:r>
            <a:r>
              <a:rPr lang="en-US" altLang="zh-CN" baseline="-25000"/>
              <a:t>i</a:t>
            </a:r>
            <a:r>
              <a:rPr lang="zh-CN" altLang="en-US"/>
              <a:t>分别对应外层和内层</a:t>
            </a:r>
            <a:r>
              <a:rPr lang="en-US" altLang="zh-CN"/>
              <a:t>deref</a:t>
            </a:r>
          </a:p>
        </p:txBody>
      </p:sp>
      <p:graphicFrame>
        <p:nvGraphicFramePr>
          <p:cNvPr id="75780" name="Object 4">
            <a:extLst>
              <a:ext uri="{FF2B5EF4-FFF2-40B4-BE49-F238E27FC236}">
                <a16:creationId xmlns:a16="http://schemas.microsoft.com/office/drawing/2014/main" id="{4DFA2E14-E9BE-4A54-BFE4-917B5B89F83D}"/>
              </a:ext>
            </a:extLst>
          </p:cNvPr>
          <p:cNvGraphicFramePr>
            <a:graphicFrameLocks noChangeAspect="1"/>
          </p:cNvGraphicFramePr>
          <p:nvPr/>
        </p:nvGraphicFramePr>
        <p:xfrm>
          <a:off x="3733800" y="3429000"/>
          <a:ext cx="354013" cy="388938"/>
        </p:xfrm>
        <a:graphic>
          <a:graphicData uri="http://schemas.openxmlformats.org/presentationml/2006/ole">
            <mc:AlternateContent xmlns:mc="http://schemas.openxmlformats.org/markup-compatibility/2006">
              <mc:Choice xmlns:v="urn:schemas-microsoft-com:vml" Requires="v">
                <p:oleObj spid="_x0000_s75804" name="Equation" r:id="rId3" imgW="152268" imgH="164957" progId="Equation.3">
                  <p:embed/>
                </p:oleObj>
              </mc:Choice>
              <mc:Fallback>
                <p:oleObj name="Equation" r:id="rId3" imgW="152268" imgH="16495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34290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781" name="Object 5">
            <a:extLst>
              <a:ext uri="{FF2B5EF4-FFF2-40B4-BE49-F238E27FC236}">
                <a16:creationId xmlns:a16="http://schemas.microsoft.com/office/drawing/2014/main" id="{FA031B88-CDD3-4E08-B1CD-659CD83474E0}"/>
              </a:ext>
            </a:extLst>
          </p:cNvPr>
          <p:cNvGraphicFramePr>
            <a:graphicFrameLocks noChangeAspect="1"/>
          </p:cNvGraphicFramePr>
          <p:nvPr/>
        </p:nvGraphicFramePr>
        <p:xfrm>
          <a:off x="5410200" y="4800600"/>
          <a:ext cx="354013" cy="388938"/>
        </p:xfrm>
        <a:graphic>
          <a:graphicData uri="http://schemas.openxmlformats.org/presentationml/2006/ole">
            <mc:AlternateContent xmlns:mc="http://schemas.openxmlformats.org/markup-compatibility/2006">
              <mc:Choice xmlns:v="urn:schemas-microsoft-com:vml" Requires="v">
                <p:oleObj spid="_x0000_s75805" name="Equation" r:id="rId5" imgW="152268" imgH="164957" progId="Equation.3">
                  <p:embed/>
                </p:oleObj>
              </mc:Choice>
              <mc:Fallback>
                <p:oleObj name="Equation" r:id="rId5" imgW="152268" imgH="164957"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48006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6D8CE5C-7DC9-4D10-BF52-B7F9E0F34850}"/>
              </a:ext>
            </a:extLst>
          </p:cNvPr>
          <p:cNvSpPr>
            <a:spLocks noGrp="1" noChangeArrowheads="1"/>
          </p:cNvSpPr>
          <p:nvPr>
            <p:ph type="title"/>
          </p:nvPr>
        </p:nvSpPr>
        <p:spPr/>
        <p:txBody>
          <a:bodyPr/>
          <a:lstStyle/>
          <a:p>
            <a:pPr eaLnBrk="1" hangingPunct="1"/>
            <a:r>
              <a:rPr lang="zh-CN" altLang="en-US"/>
              <a:t>类型检查规则的特点（二）</a:t>
            </a:r>
          </a:p>
        </p:txBody>
      </p:sp>
      <p:sp>
        <p:nvSpPr>
          <p:cNvPr id="76803" name="Rectangle 3">
            <a:extLst>
              <a:ext uri="{FF2B5EF4-FFF2-40B4-BE49-F238E27FC236}">
                <a16:creationId xmlns:a16="http://schemas.microsoft.com/office/drawing/2014/main" id="{0B2982CD-110B-4E18-B29B-84E230392611}"/>
              </a:ext>
            </a:extLst>
          </p:cNvPr>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startAt="2"/>
            </a:pPr>
            <a:r>
              <a:rPr lang="zh-CN" altLang="en-US" dirty="0"/>
              <a:t>类型表达式中存在变量，因此要重新考虑类型等价的概念</a:t>
            </a:r>
          </a:p>
          <a:p>
            <a:pPr marL="990600" lvl="1" indent="-533400" eaLnBrk="1" hangingPunct="1">
              <a:buFont typeface="Wingdings" panose="05000000000000000000" pitchFamily="2" charset="2"/>
              <a:buChar char="m"/>
            </a:pPr>
            <a:r>
              <a:rPr lang="zh-CN" altLang="en-US" dirty="0"/>
              <a:t>类型为</a:t>
            </a:r>
            <a:r>
              <a:rPr lang="en-US" altLang="zh-CN" i="1" dirty="0" err="1">
                <a:sym typeface="Symbol" panose="05050102010706020507" pitchFamily="18" charset="2"/>
              </a:rPr>
              <a:t>s</a:t>
            </a:r>
            <a:r>
              <a:rPr lang="en-US" altLang="zh-CN" dirty="0" err="1">
                <a:sym typeface="Symbol" panose="05050102010706020507" pitchFamily="18" charset="2"/>
              </a:rPr>
              <a:t></a:t>
            </a:r>
            <a:r>
              <a:rPr lang="en-US" altLang="zh-CN" i="1" dirty="0" err="1">
                <a:sym typeface="Symbol" panose="05050102010706020507" pitchFamily="18" charset="2"/>
              </a:rPr>
              <a:t>s</a:t>
            </a:r>
            <a:r>
              <a:rPr lang="en-US" altLang="zh-CN" i="1" dirty="0">
                <a:sym typeface="Symbol" panose="05050102010706020507" pitchFamily="18" charset="2"/>
              </a:rPr>
              <a:t>’</a:t>
            </a:r>
            <a:r>
              <a:rPr lang="zh-CN" altLang="en-US" dirty="0">
                <a:sym typeface="Symbol" panose="05050102010706020507" pitchFamily="18" charset="2"/>
              </a:rPr>
              <a:t>的</a:t>
            </a:r>
            <a:r>
              <a:rPr lang="zh-CN" altLang="en-US" dirty="0"/>
              <a:t>函数</a:t>
            </a:r>
            <a:r>
              <a:rPr lang="en-US" altLang="zh-CN" dirty="0"/>
              <a:t>E</a:t>
            </a:r>
            <a:r>
              <a:rPr lang="en-US" altLang="zh-CN" baseline="-25000" dirty="0"/>
              <a:t>1</a:t>
            </a:r>
            <a:r>
              <a:rPr lang="zh-CN" altLang="en-US" dirty="0"/>
              <a:t>施用于类型为</a:t>
            </a:r>
            <a:r>
              <a:rPr lang="en-US" altLang="zh-CN" i="1" dirty="0"/>
              <a:t>t</a:t>
            </a:r>
            <a:r>
              <a:rPr lang="zh-CN" altLang="en-US" dirty="0"/>
              <a:t>的</a:t>
            </a:r>
            <a:r>
              <a:rPr lang="en-US" altLang="zh-CN" dirty="0"/>
              <a:t>E</a:t>
            </a:r>
            <a:r>
              <a:rPr lang="en-US" altLang="zh-CN" baseline="-25000" dirty="0"/>
              <a:t>2</a:t>
            </a:r>
            <a:r>
              <a:rPr lang="zh-CN" altLang="en-US" dirty="0"/>
              <a:t>，仅判定</a:t>
            </a:r>
            <a:r>
              <a:rPr lang="en-US" altLang="zh-CN" i="1" dirty="0"/>
              <a:t>s</a:t>
            </a:r>
            <a:r>
              <a:rPr lang="zh-CN" altLang="en-US" dirty="0"/>
              <a:t>和</a:t>
            </a:r>
            <a:r>
              <a:rPr lang="en-US" altLang="zh-CN" i="1" dirty="0"/>
              <a:t>t</a:t>
            </a:r>
            <a:r>
              <a:rPr lang="zh-CN" altLang="en-US" dirty="0"/>
              <a:t>是否等价是不够的，要对它们进行“合一”（</a:t>
            </a:r>
            <a:r>
              <a:rPr lang="en-US" altLang="zh-CN" dirty="0"/>
              <a:t>unify</a:t>
            </a:r>
            <a:r>
              <a:rPr lang="zh-CN" altLang="en-US" dirty="0"/>
              <a:t>）</a:t>
            </a:r>
          </a:p>
          <a:p>
            <a:pPr marL="990600" lvl="1" indent="-533400" eaLnBrk="1" hangingPunct="1">
              <a:buFont typeface="Wingdings" panose="05000000000000000000" pitchFamily="2" charset="2"/>
              <a:buChar char="m"/>
            </a:pPr>
            <a:r>
              <a:rPr lang="zh-CN" altLang="en-US" dirty="0"/>
              <a:t>适当替换类型变量，检查是否有可能达到结构等价</a:t>
            </a:r>
          </a:p>
          <a:p>
            <a:pPr marL="990600" lvl="1" indent="-533400" eaLnBrk="1" hangingPunct="1">
              <a:buFont typeface="Wingdings" panose="05000000000000000000" pitchFamily="2" charset="2"/>
              <a:buChar char="m"/>
            </a:pPr>
            <a:r>
              <a:rPr lang="zh-CN" altLang="en-US" dirty="0"/>
              <a:t>上例：将</a:t>
            </a:r>
            <a:r>
              <a:rPr lang="en-US" altLang="zh-CN" dirty="0">
                <a:latin typeface="Symbol" panose="05050102010706020507" pitchFamily="18" charset="2"/>
              </a:rPr>
              <a:t>a</a:t>
            </a:r>
            <a:r>
              <a:rPr lang="en-US" altLang="zh-CN" baseline="-25000" dirty="0"/>
              <a:t>i</a:t>
            </a:r>
            <a:r>
              <a:rPr lang="zh-CN" altLang="en-US" dirty="0"/>
              <a:t>替换为</a:t>
            </a:r>
            <a:r>
              <a:rPr lang="en-US" altLang="zh-CN" i="1" dirty="0"/>
              <a:t>pointer</a:t>
            </a:r>
            <a:r>
              <a:rPr lang="en-US" altLang="zh-CN" dirty="0"/>
              <a:t>(</a:t>
            </a:r>
            <a:r>
              <a:rPr lang="en-US" altLang="zh-CN" i="1" dirty="0"/>
              <a:t>integer</a:t>
            </a:r>
            <a:r>
              <a:rPr lang="en-US" altLang="zh-CN" dirty="0"/>
              <a:t>)</a:t>
            </a:r>
            <a:r>
              <a:rPr lang="zh-CN" altLang="en-US" dirty="0"/>
              <a:t>，则</a:t>
            </a:r>
            <a:br>
              <a:rPr lang="zh-CN" altLang="en-US" dirty="0"/>
            </a:br>
            <a:r>
              <a:rPr lang="en-US" altLang="zh-CN" i="1" dirty="0"/>
              <a:t>pointer</a:t>
            </a:r>
            <a:r>
              <a:rPr lang="en-US" altLang="zh-CN" dirty="0"/>
              <a:t>(</a:t>
            </a:r>
            <a:r>
              <a:rPr lang="en-US" altLang="zh-CN" dirty="0">
                <a:latin typeface="Symbol" panose="05050102010706020507" pitchFamily="18" charset="2"/>
              </a:rPr>
              <a:t>a</a:t>
            </a:r>
            <a:r>
              <a:rPr lang="en-US" altLang="zh-CN" baseline="-25000" dirty="0"/>
              <a:t>i</a:t>
            </a:r>
            <a:r>
              <a:rPr lang="en-US" altLang="zh-CN" dirty="0"/>
              <a:t>)</a:t>
            </a:r>
            <a:r>
              <a:rPr lang="zh-CN" altLang="en-US" dirty="0"/>
              <a:t>与</a:t>
            </a:r>
            <a:r>
              <a:rPr lang="en-US" altLang="zh-CN" i="1" dirty="0"/>
              <a:t>pointer</a:t>
            </a:r>
            <a:r>
              <a:rPr lang="en-US" altLang="zh-CN" dirty="0"/>
              <a:t>(</a:t>
            </a:r>
            <a:r>
              <a:rPr lang="en-US" altLang="zh-CN" i="1" dirty="0"/>
              <a:t>pointer</a:t>
            </a:r>
            <a:r>
              <a:rPr lang="en-US" altLang="zh-CN" dirty="0"/>
              <a:t>( </a:t>
            </a:r>
            <a:r>
              <a:rPr lang="en-US" altLang="zh-CN" i="1" dirty="0"/>
              <a:t>integer</a:t>
            </a:r>
            <a:r>
              <a:rPr lang="en-US" altLang="zh-CN" dirty="0"/>
              <a:t>))</a:t>
            </a:r>
            <a:r>
              <a:rPr lang="zh-CN" altLang="en-US" dirty="0"/>
              <a:t>等价</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61F30E5E-AA4E-4574-B116-C178B3529C39}"/>
              </a:ext>
            </a:extLst>
          </p:cNvPr>
          <p:cNvSpPr>
            <a:spLocks noGrp="1" noChangeArrowheads="1"/>
          </p:cNvSpPr>
          <p:nvPr>
            <p:ph type="title"/>
          </p:nvPr>
        </p:nvSpPr>
        <p:spPr/>
        <p:txBody>
          <a:bodyPr/>
          <a:lstStyle/>
          <a:p>
            <a:pPr eaLnBrk="1" hangingPunct="1"/>
            <a:r>
              <a:rPr lang="zh-CN" altLang="en-US"/>
              <a:t>类型检查规则的特点（三）</a:t>
            </a:r>
          </a:p>
        </p:txBody>
      </p:sp>
      <p:sp>
        <p:nvSpPr>
          <p:cNvPr id="77827" name="Rectangle 3">
            <a:extLst>
              <a:ext uri="{FF2B5EF4-FFF2-40B4-BE49-F238E27FC236}">
                <a16:creationId xmlns:a16="http://schemas.microsoft.com/office/drawing/2014/main" id="{0EFCBFCB-D7BB-4503-AE16-C7FEDFAF8CE7}"/>
              </a:ext>
            </a:extLst>
          </p:cNvPr>
          <p:cNvSpPr>
            <a:spLocks noGrp="1" noChangeArrowheads="1"/>
          </p:cNvSpPr>
          <p:nvPr>
            <p:ph type="body" idx="1"/>
          </p:nvPr>
        </p:nvSpPr>
        <p:spPr/>
        <p:txBody>
          <a:bodyPr/>
          <a:lstStyle/>
          <a:p>
            <a:pPr marL="609600" indent="-609600" eaLnBrk="1" hangingPunct="1">
              <a:buFont typeface="Wingdings" panose="05000000000000000000" pitchFamily="2" charset="2"/>
              <a:buAutoNum type="arabicPeriod" startAt="3"/>
            </a:pPr>
            <a:r>
              <a:rPr lang="zh-CN" altLang="en-US" dirty="0"/>
              <a:t>需要某种机制记录</a:t>
            </a:r>
            <a:r>
              <a:rPr lang="zh-CN" altLang="en-US" dirty="0">
                <a:sym typeface="Symbol" panose="05050102010706020507" pitchFamily="18" charset="2"/>
              </a:rPr>
              <a:t>合一</a:t>
            </a:r>
            <a:r>
              <a:rPr lang="zh-CN" altLang="en-US" dirty="0"/>
              <a:t>的影响</a:t>
            </a:r>
          </a:p>
          <a:p>
            <a:pPr marL="990600" lvl="1" indent="-533400" eaLnBrk="1" hangingPunct="1">
              <a:buFont typeface="Wingdings" panose="05000000000000000000" pitchFamily="2" charset="2"/>
              <a:buChar char="m"/>
            </a:pPr>
            <a:r>
              <a:rPr lang="zh-CN" altLang="en-US" dirty="0"/>
              <a:t>一个类型变量可出现在表达式的多个位置</a:t>
            </a:r>
          </a:p>
          <a:p>
            <a:pPr marL="990600" lvl="1" indent="-533400" eaLnBrk="1" hangingPunct="1">
              <a:buFont typeface="Wingdings" panose="05000000000000000000" pitchFamily="2" charset="2"/>
              <a:buChar char="m"/>
            </a:pPr>
            <a:r>
              <a:rPr lang="zh-CN" altLang="en-US" dirty="0"/>
              <a:t>若</a:t>
            </a:r>
            <a:r>
              <a:rPr lang="en-US" altLang="zh-CN" i="1" dirty="0">
                <a:sym typeface="Symbol" panose="05050102010706020507" pitchFamily="18" charset="2"/>
              </a:rPr>
              <a:t>s</a:t>
            </a:r>
            <a:r>
              <a:rPr lang="zh-CN" altLang="en-US" dirty="0">
                <a:sym typeface="Symbol" panose="05050102010706020507" pitchFamily="18" charset="2"/>
              </a:rPr>
              <a:t>和</a:t>
            </a:r>
            <a:r>
              <a:rPr lang="en-US" altLang="zh-CN" i="1" dirty="0">
                <a:sym typeface="Symbol" panose="05050102010706020507" pitchFamily="18" charset="2"/>
              </a:rPr>
              <a:t>s’</a:t>
            </a:r>
            <a:r>
              <a:rPr lang="zh-CN" altLang="en-US" dirty="0">
                <a:sym typeface="Symbol" panose="05050102010706020507" pitchFamily="18" charset="2"/>
              </a:rPr>
              <a:t>的合一使得变量</a:t>
            </a:r>
            <a:r>
              <a:rPr lang="en-US" altLang="zh-CN" dirty="0">
                <a:latin typeface="Symbol" panose="05050102010706020507" pitchFamily="18" charset="2"/>
                <a:sym typeface="Symbol" panose="05050102010706020507" pitchFamily="18" charset="2"/>
              </a:rPr>
              <a:t>a</a:t>
            </a:r>
            <a:r>
              <a:rPr lang="zh-CN" altLang="en-US" dirty="0">
                <a:sym typeface="Symbol" panose="05050102010706020507" pitchFamily="18" charset="2"/>
              </a:rPr>
              <a:t>表示类型</a:t>
            </a:r>
            <a:r>
              <a:rPr lang="en-US" altLang="zh-CN" i="1" dirty="0">
                <a:sym typeface="Symbol" panose="05050102010706020507" pitchFamily="18" charset="2"/>
              </a:rPr>
              <a:t>t</a:t>
            </a:r>
            <a:r>
              <a:rPr lang="zh-CN" altLang="en-US" dirty="0">
                <a:sym typeface="Symbol" panose="05050102010706020507" pitchFamily="18" charset="2"/>
              </a:rPr>
              <a:t>，则在整个类型表达式中，它都应表示</a:t>
            </a:r>
            <a:r>
              <a:rPr lang="en-US" altLang="zh-CN" dirty="0">
                <a:sym typeface="Symbol" panose="05050102010706020507" pitchFamily="18" charset="2"/>
              </a:rPr>
              <a:t>t</a:t>
            </a:r>
          </a:p>
          <a:p>
            <a:pPr marL="990600" lvl="1" indent="-533400" eaLnBrk="1" hangingPunct="1">
              <a:buFont typeface="Wingdings" panose="05000000000000000000" pitchFamily="2" charset="2"/>
              <a:buChar char="m"/>
            </a:pPr>
            <a:r>
              <a:rPr lang="zh-CN" altLang="en-US" dirty="0">
                <a:sym typeface="Symbol" panose="05050102010706020507" pitchFamily="18" charset="2"/>
              </a:rPr>
              <a:t>上例： </a:t>
            </a:r>
            <a:r>
              <a:rPr lang="en-US" altLang="zh-CN" dirty="0">
                <a:latin typeface="Symbol" panose="05050102010706020507" pitchFamily="18" charset="2"/>
              </a:rPr>
              <a:t>a</a:t>
            </a:r>
            <a:r>
              <a:rPr lang="en-US" altLang="zh-CN" baseline="-25000" dirty="0"/>
              <a:t>i</a:t>
            </a:r>
            <a:r>
              <a:rPr lang="zh-CN" altLang="en-US" dirty="0"/>
              <a:t>作用域为</a:t>
            </a:r>
            <a:r>
              <a:rPr lang="en-US" altLang="zh-CN" dirty="0" err="1"/>
              <a:t>deref</a:t>
            </a:r>
            <a:r>
              <a:rPr lang="en-US" altLang="zh-CN" baseline="-25000" dirty="0" err="1"/>
              <a:t>i</a:t>
            </a:r>
            <a:r>
              <a:rPr lang="en-US" altLang="zh-CN" dirty="0"/>
              <a:t>(q)</a:t>
            </a:r>
            <a:r>
              <a:rPr lang="zh-CN" altLang="en-US" dirty="0"/>
              <a:t>，因此可用来</a:t>
            </a:r>
            <a:r>
              <a:rPr lang="zh-CN" altLang="en-US" dirty="0">
                <a:sym typeface="Symbol" panose="05050102010706020507" pitchFamily="18" charset="2"/>
              </a:rPr>
              <a:t>合一</a:t>
            </a:r>
            <a:r>
              <a:rPr lang="en-US" altLang="zh-CN" dirty="0" err="1"/>
              <a:t>deref</a:t>
            </a:r>
            <a:r>
              <a:rPr lang="en-US" altLang="zh-CN" baseline="-25000" dirty="0" err="1"/>
              <a:t>i</a:t>
            </a:r>
            <a:r>
              <a:rPr lang="zh-CN" altLang="en-US" dirty="0"/>
              <a:t>和</a:t>
            </a:r>
            <a:r>
              <a:rPr lang="en-US" altLang="zh-CN" dirty="0"/>
              <a:t>q</a:t>
            </a:r>
          </a:p>
          <a:p>
            <a:pPr marL="990600" lvl="1" indent="-533400" eaLnBrk="1" hangingPunct="1">
              <a:buFont typeface="Wingdings" panose="05000000000000000000" pitchFamily="2" charset="2"/>
              <a:buChar char="m"/>
            </a:pPr>
            <a:r>
              <a:rPr lang="zh-CN" altLang="en-US" dirty="0"/>
              <a:t>而</a:t>
            </a:r>
            <a:r>
              <a:rPr lang="en-US" altLang="zh-CN" dirty="0" err="1">
                <a:latin typeface="Symbol" panose="05050102010706020507" pitchFamily="18" charset="2"/>
              </a:rPr>
              <a:t>a</a:t>
            </a:r>
            <a:r>
              <a:rPr lang="en-US" altLang="zh-CN" baseline="-25000" dirty="0" err="1"/>
              <a:t>o</a:t>
            </a:r>
            <a:r>
              <a:rPr lang="zh-CN" altLang="en-US" dirty="0"/>
              <a:t>为不同类型变量，因此表示不同类型不违反本规则</a:t>
            </a:r>
            <a:endParaRPr lang="zh-CN" altLang="en-US" baseline="-25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63B6D1CF-B049-46B3-BF85-AB61BF832500}"/>
              </a:ext>
            </a:extLst>
          </p:cNvPr>
          <p:cNvSpPr>
            <a:spLocks noGrp="1" noChangeArrowheads="1"/>
          </p:cNvSpPr>
          <p:nvPr>
            <p:ph type="title"/>
          </p:nvPr>
        </p:nvSpPr>
        <p:spPr/>
        <p:txBody>
          <a:bodyPr/>
          <a:lstStyle/>
          <a:p>
            <a:pPr eaLnBrk="1" hangingPunct="1"/>
            <a:r>
              <a:rPr lang="en-US" altLang="zh-CN"/>
              <a:t>6.6.4  </a:t>
            </a:r>
            <a:r>
              <a:rPr lang="zh-CN" altLang="en-US"/>
              <a:t>代换，实例和合一</a:t>
            </a:r>
          </a:p>
        </p:txBody>
      </p:sp>
      <p:sp>
        <p:nvSpPr>
          <p:cNvPr id="78851" name="Rectangle 3">
            <a:extLst>
              <a:ext uri="{FF2B5EF4-FFF2-40B4-BE49-F238E27FC236}">
                <a16:creationId xmlns:a16="http://schemas.microsoft.com/office/drawing/2014/main" id="{E1467C12-5843-4EE3-80B2-94C496831102}"/>
              </a:ext>
            </a:extLst>
          </p:cNvPr>
          <p:cNvSpPr>
            <a:spLocks noGrp="1" noChangeArrowheads="1"/>
          </p:cNvSpPr>
          <p:nvPr>
            <p:ph type="body" idx="1"/>
          </p:nvPr>
        </p:nvSpPr>
        <p:spPr>
          <a:xfrm>
            <a:off x="1182688" y="1371600"/>
            <a:ext cx="7772400" cy="5181600"/>
          </a:xfrm>
        </p:spPr>
        <p:txBody>
          <a:bodyPr/>
          <a:lstStyle/>
          <a:p>
            <a:pPr eaLnBrk="1" hangingPunct="1"/>
            <a:r>
              <a:rPr lang="zh-CN" altLang="en-US" sz="2800"/>
              <a:t>变量表示实际类型的形式化定义</a:t>
            </a:r>
          </a:p>
          <a:p>
            <a:pPr lvl="1" eaLnBrk="1" hangingPunct="1"/>
            <a:r>
              <a:rPr lang="zh-CN" altLang="en-US" sz="2400"/>
              <a:t>类型变量</a:t>
            </a:r>
            <a:r>
              <a:rPr lang="zh-CN" altLang="en-US" sz="2400">
                <a:sym typeface="Wingdings" panose="05000000000000000000" pitchFamily="2" charset="2"/>
              </a:rPr>
              <a:t>类型表达式的映射，称为替换，</a:t>
            </a:r>
            <a:r>
              <a:rPr lang="en-US" altLang="zh-CN" sz="2400">
                <a:sym typeface="Wingdings" panose="05000000000000000000" pitchFamily="2" charset="2"/>
              </a:rPr>
              <a:t>substitution</a:t>
            </a:r>
          </a:p>
          <a:p>
            <a:pPr eaLnBrk="1" hangingPunct="1">
              <a:spcBef>
                <a:spcPct val="10000"/>
              </a:spcBef>
              <a:buFont typeface="Wingdings" panose="05000000000000000000" pitchFamily="2" charset="2"/>
              <a:buNone/>
            </a:pPr>
            <a:r>
              <a:rPr lang="en-US" altLang="zh-CN" sz="2000"/>
              <a:t>subst(t : type_expression) : type_expression</a:t>
            </a:r>
          </a:p>
          <a:p>
            <a:pPr eaLnBrk="1" hangingPunct="1">
              <a:spcBef>
                <a:spcPct val="10000"/>
              </a:spcBef>
              <a:buFont typeface="Wingdings" panose="05000000000000000000" pitchFamily="2" charset="2"/>
              <a:buNone/>
            </a:pPr>
            <a:r>
              <a:rPr lang="en-US" altLang="zh-CN" sz="2000"/>
              <a:t>{		//</a:t>
            </a:r>
            <a:r>
              <a:rPr lang="zh-CN" altLang="en-US" sz="2000"/>
              <a:t>利用代换（映射）</a:t>
            </a:r>
            <a:r>
              <a:rPr lang="en-US" altLang="zh-CN" sz="2000"/>
              <a:t>S</a:t>
            </a:r>
            <a:r>
              <a:rPr lang="zh-CN" altLang="en-US" sz="2000"/>
              <a:t>将类型表达式</a:t>
            </a:r>
            <a:r>
              <a:rPr lang="en-US" altLang="zh-CN" sz="2000"/>
              <a:t>t</a:t>
            </a:r>
            <a:r>
              <a:rPr lang="zh-CN" altLang="en-US" sz="2000"/>
              <a:t>中变量代换</a:t>
            </a:r>
          </a:p>
          <a:p>
            <a:pPr eaLnBrk="1" hangingPunct="1">
              <a:spcBef>
                <a:spcPct val="10000"/>
              </a:spcBef>
              <a:buFont typeface="Wingdings" panose="05000000000000000000" pitchFamily="2" charset="2"/>
              <a:buNone/>
            </a:pPr>
            <a:r>
              <a:rPr lang="zh-CN" altLang="en-US" sz="2000"/>
              <a:t>	</a:t>
            </a:r>
            <a:r>
              <a:rPr lang="en-US" altLang="zh-CN" sz="2000"/>
              <a:t>if (t</a:t>
            </a:r>
            <a:r>
              <a:rPr lang="zh-CN" altLang="en-US" sz="2000"/>
              <a:t>为基本类型</a:t>
            </a:r>
            <a:r>
              <a:rPr lang="en-US" altLang="zh-CN" sz="2000"/>
              <a:t>) return t;</a:t>
            </a:r>
          </a:p>
          <a:p>
            <a:pPr eaLnBrk="1" hangingPunct="1">
              <a:spcBef>
                <a:spcPct val="10000"/>
              </a:spcBef>
              <a:buFont typeface="Wingdings" panose="05000000000000000000" pitchFamily="2" charset="2"/>
              <a:buNone/>
            </a:pPr>
            <a:r>
              <a:rPr lang="en-US" altLang="zh-CN" sz="2000"/>
              <a:t>	else if (t</a:t>
            </a:r>
            <a:r>
              <a:rPr lang="zh-CN" altLang="en-US" sz="2000"/>
              <a:t>为类型变量</a:t>
            </a:r>
            <a:r>
              <a:rPr lang="en-US" altLang="zh-CN" sz="2000"/>
              <a:t>) return S(t);</a:t>
            </a:r>
          </a:p>
          <a:p>
            <a:pPr eaLnBrk="1" hangingPunct="1">
              <a:spcBef>
                <a:spcPct val="10000"/>
              </a:spcBef>
              <a:buFont typeface="Wingdings" panose="05000000000000000000" pitchFamily="2" charset="2"/>
              <a:buNone/>
            </a:pPr>
            <a:r>
              <a:rPr lang="en-US" altLang="zh-CN" sz="2000"/>
              <a:t>	else if (t</a:t>
            </a:r>
            <a:r>
              <a:rPr lang="zh-CN" altLang="en-US" sz="2000"/>
              <a:t>为</a:t>
            </a:r>
            <a:r>
              <a:rPr lang="en-US" altLang="zh-CN" sz="2000" i="1">
                <a:sym typeface="Symbol" panose="05050102010706020507" pitchFamily="18" charset="2"/>
              </a:rPr>
              <a:t>t</a:t>
            </a:r>
            <a:r>
              <a:rPr lang="en-US" altLang="zh-CN" sz="2000" i="1" baseline="-25000">
                <a:sym typeface="Symbol" panose="05050102010706020507" pitchFamily="18" charset="2"/>
              </a:rPr>
              <a:t>1</a:t>
            </a:r>
            <a:r>
              <a:rPr lang="en-US" altLang="zh-CN" sz="2000">
                <a:sym typeface="Symbol" panose="05050102010706020507" pitchFamily="18" charset="2"/>
              </a:rPr>
              <a:t></a:t>
            </a:r>
            <a:r>
              <a:rPr lang="en-US" altLang="zh-CN" sz="2000" i="1">
                <a:sym typeface="Symbol" panose="05050102010706020507" pitchFamily="18" charset="2"/>
              </a:rPr>
              <a:t>t</a:t>
            </a:r>
            <a:r>
              <a:rPr lang="en-US" altLang="zh-CN" sz="2000" i="1" baseline="-25000">
                <a:sym typeface="Symbol" panose="05050102010706020507" pitchFamily="18" charset="2"/>
              </a:rPr>
              <a:t>2</a:t>
            </a:r>
            <a:r>
              <a:rPr lang="en-US" altLang="zh-CN" sz="2000">
                <a:sym typeface="Symbol" panose="05050102010706020507" pitchFamily="18" charset="2"/>
              </a:rPr>
              <a:t>) return subst(</a:t>
            </a:r>
            <a:r>
              <a:rPr lang="en-US" altLang="zh-CN" sz="2000" i="1">
                <a:sym typeface="Symbol" panose="05050102010706020507" pitchFamily="18" charset="2"/>
              </a:rPr>
              <a:t>t</a:t>
            </a:r>
            <a:r>
              <a:rPr lang="en-US" altLang="zh-CN" sz="2000" i="1" baseline="-25000">
                <a:sym typeface="Symbol" panose="05050102010706020507" pitchFamily="18" charset="2"/>
              </a:rPr>
              <a:t>1</a:t>
            </a:r>
            <a:r>
              <a:rPr lang="en-US" altLang="zh-CN" sz="2000">
                <a:sym typeface="Symbol" panose="05050102010706020507" pitchFamily="18" charset="2"/>
              </a:rPr>
              <a:t>)subst(</a:t>
            </a:r>
            <a:r>
              <a:rPr lang="en-US" altLang="zh-CN" sz="2000" i="1">
                <a:sym typeface="Symbol" panose="05050102010706020507" pitchFamily="18" charset="2"/>
              </a:rPr>
              <a:t>t</a:t>
            </a:r>
            <a:r>
              <a:rPr lang="en-US" altLang="zh-CN" sz="2000" i="1" baseline="-25000">
                <a:sym typeface="Symbol" panose="05050102010706020507" pitchFamily="18" charset="2"/>
              </a:rPr>
              <a:t>2</a:t>
            </a:r>
            <a:r>
              <a:rPr lang="en-US" altLang="zh-CN" sz="2000">
                <a:sym typeface="Symbol" panose="05050102010706020507" pitchFamily="18" charset="2"/>
              </a:rPr>
              <a:t>);</a:t>
            </a:r>
          </a:p>
          <a:p>
            <a:pPr eaLnBrk="1" hangingPunct="1">
              <a:spcBef>
                <a:spcPct val="10000"/>
              </a:spcBef>
              <a:buFont typeface="Wingdings" panose="05000000000000000000" pitchFamily="2" charset="2"/>
              <a:buNone/>
            </a:pPr>
            <a:r>
              <a:rPr lang="en-US" altLang="zh-CN" sz="2000">
                <a:sym typeface="Symbol" panose="05050102010706020507" pitchFamily="18" charset="2"/>
              </a:rPr>
              <a:t>}</a:t>
            </a:r>
            <a:endParaRPr lang="en-US" altLang="zh-CN" sz="2000"/>
          </a:p>
          <a:p>
            <a:pPr eaLnBrk="1" hangingPunct="1"/>
            <a:r>
              <a:rPr lang="en-US" altLang="zh-CN" sz="2800"/>
              <a:t>S(t)</a:t>
            </a:r>
            <a:r>
              <a:rPr lang="zh-CN" altLang="en-US" sz="2800"/>
              <a:t>表示代换</a:t>
            </a:r>
            <a:r>
              <a:rPr lang="en-US" altLang="zh-CN" sz="2800"/>
              <a:t>t</a:t>
            </a:r>
            <a:r>
              <a:rPr lang="zh-CN" altLang="en-US" sz="2800"/>
              <a:t>的类型表达式，称为</a:t>
            </a:r>
            <a:r>
              <a:rPr lang="en-US" altLang="zh-CN" sz="2800"/>
              <a:t>t</a:t>
            </a:r>
            <a:r>
              <a:rPr lang="zh-CN" altLang="en-US" sz="2800"/>
              <a:t>的实例，</a:t>
            </a:r>
            <a:r>
              <a:rPr lang="en-US" altLang="zh-CN" sz="2800">
                <a:solidFill>
                  <a:schemeClr val="hlink"/>
                </a:solidFill>
              </a:rPr>
              <a:t>instance</a:t>
            </a:r>
          </a:p>
          <a:p>
            <a:pPr eaLnBrk="1" hangingPunct="1"/>
            <a:r>
              <a:rPr lang="zh-CN" altLang="en-US" sz="2800"/>
              <a:t>若无法代换，</a:t>
            </a:r>
            <a:r>
              <a:rPr lang="en-US" altLang="zh-CN" sz="2800"/>
              <a:t>S(</a:t>
            </a:r>
            <a:r>
              <a:rPr lang="en-US" altLang="zh-CN" sz="2800">
                <a:latin typeface="Symbol" panose="05050102010706020507" pitchFamily="18" charset="2"/>
              </a:rPr>
              <a:t>a</a:t>
            </a:r>
            <a:r>
              <a:rPr lang="en-US" altLang="zh-CN" sz="2800"/>
              <a:t>)=</a:t>
            </a:r>
            <a:r>
              <a:rPr lang="en-US" altLang="zh-CN" sz="2800">
                <a:latin typeface="Symbol" panose="05050102010706020507" pitchFamily="18" charset="2"/>
              </a:rPr>
              <a:t>a</a:t>
            </a:r>
            <a:r>
              <a:rPr lang="zh-CN" altLang="en-US" sz="2800"/>
              <a:t>，恒等映射</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CB0220E1-4C24-4FED-AF5E-5FD7E5D4591C}"/>
              </a:ext>
            </a:extLst>
          </p:cNvPr>
          <p:cNvSpPr>
            <a:spLocks noGrp="1" noChangeArrowheads="1"/>
          </p:cNvSpPr>
          <p:nvPr>
            <p:ph type="title"/>
          </p:nvPr>
        </p:nvSpPr>
        <p:spPr/>
        <p:txBody>
          <a:bodyPr/>
          <a:lstStyle/>
          <a:p>
            <a:pPr eaLnBrk="1" hangingPunct="1"/>
            <a:r>
              <a:rPr lang="zh-CN" altLang="en-US"/>
              <a:t>例</a:t>
            </a:r>
            <a:r>
              <a:rPr lang="en-US" altLang="zh-CN"/>
              <a:t>6.10</a:t>
            </a:r>
          </a:p>
        </p:txBody>
      </p:sp>
      <p:sp>
        <p:nvSpPr>
          <p:cNvPr id="79875" name="Rectangle 3">
            <a:extLst>
              <a:ext uri="{FF2B5EF4-FFF2-40B4-BE49-F238E27FC236}">
                <a16:creationId xmlns:a16="http://schemas.microsoft.com/office/drawing/2014/main" id="{0CB7BB6A-CEF3-4FB4-ACC5-029434CCCB68}"/>
              </a:ext>
            </a:extLst>
          </p:cNvPr>
          <p:cNvSpPr>
            <a:spLocks noGrp="1" noChangeArrowheads="1"/>
          </p:cNvSpPr>
          <p:nvPr>
            <p:ph type="body" idx="1"/>
          </p:nvPr>
        </p:nvSpPr>
        <p:spPr>
          <a:xfrm>
            <a:off x="1182688" y="1371600"/>
            <a:ext cx="7772400" cy="5029200"/>
          </a:xfrm>
        </p:spPr>
        <p:txBody>
          <a:bodyPr/>
          <a:lstStyle/>
          <a:p>
            <a:pPr eaLnBrk="1" hangingPunct="1"/>
            <a:r>
              <a:rPr lang="en-US" altLang="zh-CN" sz="2800"/>
              <a:t>s&lt;t</a:t>
            </a:r>
            <a:r>
              <a:rPr lang="zh-CN" altLang="en-US" sz="2800"/>
              <a:t>表示</a:t>
            </a:r>
            <a:r>
              <a:rPr lang="en-US" altLang="zh-CN" sz="2800"/>
              <a:t>s</a:t>
            </a:r>
            <a:r>
              <a:rPr lang="zh-CN" altLang="en-US" sz="2800"/>
              <a:t>是</a:t>
            </a:r>
            <a:r>
              <a:rPr lang="en-US" altLang="zh-CN" sz="2800"/>
              <a:t>t</a:t>
            </a:r>
            <a:r>
              <a:rPr lang="zh-CN" altLang="en-US" sz="2800"/>
              <a:t>的一个实例</a:t>
            </a:r>
          </a:p>
          <a:p>
            <a:pPr lvl="1" eaLnBrk="1" hangingPunct="1"/>
            <a:r>
              <a:rPr lang="en-US" altLang="zh-CN" sz="2400" i="1"/>
              <a:t>pointer</a:t>
            </a:r>
            <a:r>
              <a:rPr lang="en-US" altLang="zh-CN" sz="2400"/>
              <a:t>(</a:t>
            </a:r>
            <a:r>
              <a:rPr lang="en-US" altLang="zh-CN" sz="2400" i="1"/>
              <a:t>integer</a:t>
            </a:r>
            <a:r>
              <a:rPr lang="en-US" altLang="zh-CN" sz="2400"/>
              <a:t>)</a:t>
            </a:r>
            <a:r>
              <a:rPr lang="en-US" altLang="zh-CN" sz="2400" i="1"/>
              <a:t> &lt; pointer</a:t>
            </a:r>
            <a:r>
              <a:rPr lang="en-US" altLang="zh-CN" sz="2400"/>
              <a:t>(</a:t>
            </a:r>
            <a:r>
              <a:rPr lang="en-US" altLang="zh-CN" sz="2400" i="1">
                <a:latin typeface="Symbol" panose="05050102010706020507" pitchFamily="18" charset="2"/>
              </a:rPr>
              <a:t>a</a:t>
            </a:r>
            <a:r>
              <a:rPr lang="en-US" altLang="zh-CN" sz="2400"/>
              <a:t>)</a:t>
            </a:r>
          </a:p>
          <a:p>
            <a:pPr lvl="1" eaLnBrk="1" hangingPunct="1"/>
            <a:r>
              <a:rPr lang="en-US" altLang="zh-CN" sz="2400" i="1"/>
              <a:t>pointer</a:t>
            </a:r>
            <a:r>
              <a:rPr lang="en-US" altLang="zh-CN" sz="2400"/>
              <a:t>(</a:t>
            </a:r>
            <a:r>
              <a:rPr lang="en-US" altLang="zh-CN" sz="2400" i="1"/>
              <a:t>real</a:t>
            </a:r>
            <a:r>
              <a:rPr lang="en-US" altLang="zh-CN" sz="2400"/>
              <a:t>) &lt; </a:t>
            </a:r>
            <a:r>
              <a:rPr lang="en-US" altLang="zh-CN" sz="2400" i="1"/>
              <a:t>pointer</a:t>
            </a:r>
            <a:r>
              <a:rPr lang="en-US" altLang="zh-CN" sz="2400"/>
              <a:t>(</a:t>
            </a:r>
            <a:r>
              <a:rPr lang="en-US" altLang="zh-CN" sz="2400" i="1">
                <a:latin typeface="Symbol" panose="05050102010706020507" pitchFamily="18" charset="2"/>
              </a:rPr>
              <a:t>a</a:t>
            </a:r>
            <a:r>
              <a:rPr lang="en-US" altLang="zh-CN" sz="2400"/>
              <a:t>)</a:t>
            </a:r>
          </a:p>
          <a:p>
            <a:pPr lvl="1" eaLnBrk="1" hangingPunct="1"/>
            <a:r>
              <a:rPr lang="en-US" altLang="zh-CN" sz="2400" i="1"/>
              <a:t>integer </a:t>
            </a:r>
            <a:r>
              <a:rPr lang="en-US" altLang="zh-CN" sz="2400">
                <a:sym typeface="Symbol" panose="05050102010706020507" pitchFamily="18" charset="2"/>
              </a:rPr>
              <a:t> </a:t>
            </a:r>
            <a:r>
              <a:rPr lang="en-US" altLang="zh-CN" sz="2400" i="1">
                <a:sym typeface="Symbol" panose="05050102010706020507" pitchFamily="18" charset="2"/>
              </a:rPr>
              <a:t>integer &lt; </a:t>
            </a:r>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a:t>
            </a:r>
            <a:r>
              <a:rPr lang="en-US" altLang="zh-CN" sz="2400">
                <a:sym typeface="Symbol" panose="05050102010706020507" pitchFamily="18" charset="2"/>
              </a:rPr>
              <a:t></a:t>
            </a:r>
            <a:r>
              <a:rPr lang="en-US" altLang="zh-CN" sz="2400" i="1">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p>
          <a:p>
            <a:pPr lvl="1" eaLnBrk="1" hangingPunct="1"/>
            <a:r>
              <a:rPr lang="en-US" altLang="zh-CN" sz="2400" i="1">
                <a:sym typeface="Symbol" panose="05050102010706020507" pitchFamily="18" charset="2"/>
              </a:rPr>
              <a:t>pointer</a:t>
            </a:r>
            <a:r>
              <a:rPr lang="en-US" altLang="zh-CN" sz="2400">
                <a:sym typeface="Symbol" panose="05050102010706020507" pitchFamily="18" charset="2"/>
              </a:rPr>
              <a:t>(</a:t>
            </a:r>
            <a:r>
              <a:rPr lang="en-US" altLang="zh-CN" sz="2400" i="1">
                <a:latin typeface="Symbol" panose="05050102010706020507" pitchFamily="18" charset="2"/>
                <a:sym typeface="Symbol" panose="05050102010706020507" pitchFamily="18" charset="2"/>
              </a:rPr>
              <a:t>a</a:t>
            </a:r>
            <a:r>
              <a:rPr lang="en-US" altLang="zh-CN" sz="2400">
                <a:sym typeface="Symbol" panose="05050102010706020507" pitchFamily="18" charset="2"/>
              </a:rPr>
              <a:t>) &lt; </a:t>
            </a:r>
            <a:r>
              <a:rPr lang="en-US" altLang="zh-CN" sz="2400" i="1">
                <a:latin typeface="Symbol" panose="05050102010706020507" pitchFamily="18" charset="2"/>
                <a:sym typeface="Symbol" panose="05050102010706020507" pitchFamily="18" charset="2"/>
              </a:rPr>
              <a:t>b</a:t>
            </a:r>
          </a:p>
          <a:p>
            <a:pPr lvl="1" eaLnBrk="1" hangingPunct="1"/>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&lt; </a:t>
            </a:r>
            <a:r>
              <a:rPr lang="en-US" altLang="zh-CN" sz="2400" i="1">
                <a:latin typeface="Symbol" panose="05050102010706020507" pitchFamily="18" charset="2"/>
                <a:sym typeface="Symbol" panose="05050102010706020507" pitchFamily="18" charset="2"/>
              </a:rPr>
              <a:t>b</a:t>
            </a:r>
          </a:p>
          <a:p>
            <a:pPr eaLnBrk="1" hangingPunct="1"/>
            <a:r>
              <a:rPr lang="zh-CN" altLang="en-US" sz="2800">
                <a:sym typeface="Symbol" panose="05050102010706020507" pitchFamily="18" charset="2"/>
              </a:rPr>
              <a:t>不是实例的情况</a:t>
            </a:r>
          </a:p>
          <a:p>
            <a:pPr lvl="1" eaLnBrk="1" hangingPunct="1"/>
            <a:r>
              <a:rPr lang="en-US" altLang="zh-CN" sz="2400" i="1">
                <a:sym typeface="Symbol" panose="05050102010706020507" pitchFamily="18" charset="2"/>
              </a:rPr>
              <a:t>integer			real</a:t>
            </a:r>
          </a:p>
          <a:p>
            <a:pPr lvl="1" eaLnBrk="1" hangingPunct="1"/>
            <a:r>
              <a:rPr lang="en-US" altLang="zh-CN" sz="2400" i="1"/>
              <a:t>integer </a:t>
            </a:r>
            <a:r>
              <a:rPr lang="en-US" altLang="zh-CN" sz="2400">
                <a:sym typeface="Symbol" panose="05050102010706020507" pitchFamily="18" charset="2"/>
              </a:rPr>
              <a:t> </a:t>
            </a:r>
            <a:r>
              <a:rPr lang="en-US" altLang="zh-CN" sz="2400" i="1">
                <a:sym typeface="Symbol" panose="05050102010706020507" pitchFamily="18" charset="2"/>
              </a:rPr>
              <a:t>real		</a:t>
            </a:r>
            <a:r>
              <a:rPr lang="en-US" altLang="zh-CN" sz="2400" i="1">
                <a:latin typeface="Symbol" panose="05050102010706020507" pitchFamily="18" charset="2"/>
              </a:rPr>
              <a:t>a</a:t>
            </a:r>
            <a:r>
              <a:rPr lang="en-US" altLang="zh-CN" sz="2400" i="1"/>
              <a:t>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p>
          <a:p>
            <a:pPr lvl="1" eaLnBrk="1" hangingPunct="1"/>
            <a:r>
              <a:rPr lang="en-US" altLang="zh-CN" sz="2400" i="1"/>
              <a:t>integer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r>
              <a:rPr lang="en-US" altLang="zh-CN" sz="2400" i="1">
                <a:sym typeface="Symbol" panose="05050102010706020507" pitchFamily="18" charset="2"/>
              </a:rPr>
              <a:t>		</a:t>
            </a:r>
            <a:r>
              <a:rPr lang="en-US" altLang="zh-CN" sz="2400" i="1">
                <a:latin typeface="Symbol" panose="05050102010706020507" pitchFamily="18" charset="2"/>
              </a:rPr>
              <a:t>a</a:t>
            </a:r>
            <a:r>
              <a:rPr lang="en-US" altLang="zh-CN" sz="2400" i="1"/>
              <a:t> </a:t>
            </a:r>
            <a:r>
              <a:rPr lang="en-US" altLang="zh-CN" sz="2400">
                <a:sym typeface="Symbol" panose="05050102010706020507" pitchFamily="18" charset="2"/>
              </a:rPr>
              <a:t> </a:t>
            </a:r>
            <a:r>
              <a:rPr lang="en-US" altLang="zh-CN" sz="2400" i="1">
                <a:latin typeface="Symbol" panose="05050102010706020507" pitchFamily="18" charset="2"/>
                <a:sym typeface="Symbol" panose="05050102010706020507" pitchFamily="18" charset="2"/>
              </a:rPr>
              <a:t>a</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033580D-406B-48A2-9432-1B46132C897E}"/>
              </a:ext>
            </a:extLst>
          </p:cNvPr>
          <p:cNvSpPr>
            <a:spLocks noGrp="1" noChangeArrowheads="1"/>
          </p:cNvSpPr>
          <p:nvPr>
            <p:ph type="title"/>
          </p:nvPr>
        </p:nvSpPr>
        <p:spPr/>
        <p:txBody>
          <a:bodyPr/>
          <a:lstStyle/>
          <a:p>
            <a:pPr eaLnBrk="1" hangingPunct="1"/>
            <a:r>
              <a:rPr lang="zh-CN" altLang="en-US"/>
              <a:t>合一方法</a:t>
            </a:r>
          </a:p>
        </p:txBody>
      </p:sp>
      <p:sp>
        <p:nvSpPr>
          <p:cNvPr id="80899" name="Rectangle 3">
            <a:extLst>
              <a:ext uri="{FF2B5EF4-FFF2-40B4-BE49-F238E27FC236}">
                <a16:creationId xmlns:a16="http://schemas.microsoft.com/office/drawing/2014/main" id="{6907FFCE-C6A0-4F7C-8FEC-509BAB70C76A}"/>
              </a:ext>
            </a:extLst>
          </p:cNvPr>
          <p:cNvSpPr>
            <a:spLocks noGrp="1" noChangeArrowheads="1"/>
          </p:cNvSpPr>
          <p:nvPr>
            <p:ph type="body" idx="1"/>
          </p:nvPr>
        </p:nvSpPr>
        <p:spPr>
          <a:xfrm>
            <a:off x="1182688" y="1371600"/>
            <a:ext cx="7772400" cy="5105400"/>
          </a:xfrm>
        </p:spPr>
        <p:txBody>
          <a:bodyPr/>
          <a:lstStyle/>
          <a:p>
            <a:pPr marL="609600" indent="-609600" eaLnBrk="1" hangingPunct="1"/>
            <a:r>
              <a:rPr lang="zh-CN" altLang="en-US" sz="2800"/>
              <a:t>类型表达式</a:t>
            </a:r>
            <a:r>
              <a:rPr lang="en-US" altLang="zh-CN" sz="2800"/>
              <a:t>t</a:t>
            </a:r>
            <a:r>
              <a:rPr lang="en-US" altLang="zh-CN" sz="2800" baseline="-25000"/>
              <a:t>1</a:t>
            </a:r>
            <a:r>
              <a:rPr lang="zh-CN" altLang="en-US" sz="2800"/>
              <a:t>和</a:t>
            </a:r>
            <a:r>
              <a:rPr lang="en-US" altLang="zh-CN" sz="2800"/>
              <a:t>t</a:t>
            </a:r>
            <a:r>
              <a:rPr lang="en-US" altLang="zh-CN" sz="2800" baseline="-25000"/>
              <a:t>2</a:t>
            </a:r>
            <a:r>
              <a:rPr lang="zh-CN" altLang="en-US" sz="2800"/>
              <a:t>能合一的条件</a:t>
            </a:r>
            <a:r>
              <a:rPr lang="zh-CN" altLang="en-US" sz="2800">
                <a:sym typeface="Wingdings" panose="05000000000000000000" pitchFamily="2" charset="2"/>
              </a:rPr>
              <a:t></a:t>
            </a:r>
            <a:br>
              <a:rPr lang="zh-CN" altLang="en-US" sz="2800">
                <a:sym typeface="Wingdings" panose="05000000000000000000" pitchFamily="2" charset="2"/>
              </a:rPr>
            </a:br>
            <a:r>
              <a:rPr lang="zh-CN" altLang="en-US" sz="2800">
                <a:sym typeface="Wingdings" panose="05000000000000000000" pitchFamily="2" charset="2"/>
              </a:rPr>
              <a:t>存在代换</a:t>
            </a:r>
            <a:r>
              <a:rPr lang="en-US" altLang="zh-CN" sz="2800">
                <a:sym typeface="Wingdings" panose="05000000000000000000" pitchFamily="2" charset="2"/>
              </a:rPr>
              <a:t>S</a:t>
            </a:r>
            <a:r>
              <a:rPr lang="zh-CN" altLang="en-US" sz="2800">
                <a:sym typeface="Wingdings" panose="05000000000000000000" pitchFamily="2" charset="2"/>
              </a:rPr>
              <a:t>，</a:t>
            </a:r>
            <a:r>
              <a:rPr lang="en-US" altLang="zh-CN" sz="2800">
                <a:sym typeface="Wingdings" panose="05000000000000000000" pitchFamily="2" charset="2"/>
              </a:rPr>
              <a:t>S(t</a:t>
            </a:r>
            <a:r>
              <a:rPr lang="en-US" altLang="zh-CN" sz="2800" baseline="-25000">
                <a:sym typeface="Wingdings" panose="05000000000000000000" pitchFamily="2" charset="2"/>
              </a:rPr>
              <a:t>1</a:t>
            </a:r>
            <a:r>
              <a:rPr lang="en-US" altLang="zh-CN" sz="2800">
                <a:sym typeface="Wingdings" panose="05000000000000000000" pitchFamily="2" charset="2"/>
              </a:rPr>
              <a:t>) = S(t</a:t>
            </a:r>
            <a:r>
              <a:rPr lang="en-US" altLang="zh-CN" sz="2800" baseline="-25000">
                <a:sym typeface="Wingdings" panose="05000000000000000000" pitchFamily="2" charset="2"/>
              </a:rPr>
              <a:t>2</a:t>
            </a:r>
            <a:r>
              <a:rPr lang="en-US" altLang="zh-CN" sz="2800">
                <a:sym typeface="Wingdings" panose="05000000000000000000" pitchFamily="2" charset="2"/>
              </a:rPr>
              <a:t>)</a:t>
            </a:r>
          </a:p>
          <a:p>
            <a:pPr marL="609600" indent="-609600" eaLnBrk="1" hangingPunct="1"/>
            <a:r>
              <a:rPr lang="zh-CN" altLang="en-US" sz="2800">
                <a:sym typeface="Wingdings" panose="05000000000000000000" pitchFamily="2" charset="2"/>
              </a:rPr>
              <a:t>最一般的合一代换，</a:t>
            </a:r>
            <a:r>
              <a:rPr lang="en-US" altLang="zh-CN" sz="2800">
                <a:solidFill>
                  <a:schemeClr val="hlink"/>
                </a:solidFill>
                <a:sym typeface="Wingdings" panose="05000000000000000000" pitchFamily="2" charset="2"/>
              </a:rPr>
              <a:t>most general unifier</a:t>
            </a:r>
            <a:r>
              <a:rPr lang="en-US" altLang="zh-CN" sz="2800">
                <a:sym typeface="Wingdings" panose="05000000000000000000" pitchFamily="2" charset="2"/>
              </a:rPr>
              <a:t>——</a:t>
            </a:r>
            <a:r>
              <a:rPr lang="zh-CN" altLang="en-US" sz="2800">
                <a:sym typeface="Wingdings" panose="05000000000000000000" pitchFamily="2" charset="2"/>
              </a:rPr>
              <a:t>最少变量约束的代换</a:t>
            </a:r>
          </a:p>
          <a:p>
            <a:pPr marL="990600" lvl="1" indent="-533400" eaLnBrk="1" hangingPunct="1"/>
            <a:r>
              <a:rPr lang="zh-CN" altLang="en-US" sz="2400"/>
              <a:t>类型表达式</a:t>
            </a:r>
            <a:r>
              <a:rPr lang="en-US" altLang="zh-CN" sz="2400"/>
              <a:t>t</a:t>
            </a:r>
            <a:r>
              <a:rPr lang="en-US" altLang="zh-CN" sz="2400" baseline="-25000"/>
              <a:t>1</a:t>
            </a:r>
            <a:r>
              <a:rPr lang="zh-CN" altLang="en-US" sz="2400"/>
              <a:t>和</a:t>
            </a:r>
            <a:r>
              <a:rPr lang="en-US" altLang="zh-CN" sz="2400"/>
              <a:t>t</a:t>
            </a:r>
            <a:r>
              <a:rPr lang="en-US" altLang="zh-CN" sz="2400" baseline="-25000"/>
              <a:t>2</a:t>
            </a:r>
            <a:r>
              <a:rPr lang="zh-CN" altLang="en-US" sz="2400"/>
              <a:t>的最一般的合一代换是一个代换</a:t>
            </a:r>
            <a:r>
              <a:rPr lang="en-US" altLang="zh-CN" sz="2400"/>
              <a:t>S</a:t>
            </a:r>
            <a:r>
              <a:rPr lang="zh-CN" altLang="en-US" sz="2400"/>
              <a:t>，它满足以下条件</a:t>
            </a:r>
          </a:p>
          <a:p>
            <a:pPr marL="990600" lvl="1" indent="-533400" eaLnBrk="1" hangingPunct="1">
              <a:buFont typeface="Wingdings" panose="05000000000000000000" pitchFamily="2" charset="2"/>
              <a:buAutoNum type="arabicPeriod"/>
            </a:pPr>
            <a:r>
              <a:rPr lang="en-US" altLang="zh-CN" sz="2400">
                <a:sym typeface="Wingdings" panose="05000000000000000000" pitchFamily="2" charset="2"/>
              </a:rPr>
              <a:t>S(t</a:t>
            </a:r>
            <a:r>
              <a:rPr lang="en-US" altLang="zh-CN" sz="2400" baseline="-25000">
                <a:sym typeface="Wingdings" panose="05000000000000000000" pitchFamily="2" charset="2"/>
              </a:rPr>
              <a:t>1</a:t>
            </a:r>
            <a:r>
              <a:rPr lang="en-US" altLang="zh-CN" sz="2400">
                <a:sym typeface="Wingdings" panose="05000000000000000000" pitchFamily="2" charset="2"/>
              </a:rPr>
              <a:t>) = S(t</a:t>
            </a:r>
            <a:r>
              <a:rPr lang="en-US" altLang="zh-CN" sz="2400" baseline="-25000">
                <a:sym typeface="Wingdings" panose="05000000000000000000" pitchFamily="2" charset="2"/>
              </a:rPr>
              <a:t>2</a:t>
            </a:r>
            <a:r>
              <a:rPr lang="en-US" altLang="zh-CN" sz="2400">
                <a:sym typeface="Wingdings" panose="05000000000000000000" pitchFamily="2" charset="2"/>
              </a:rPr>
              <a:t>)</a:t>
            </a:r>
          </a:p>
          <a:p>
            <a:pPr marL="990600" lvl="1" indent="-533400" eaLnBrk="1" hangingPunct="1">
              <a:buFont typeface="Wingdings" panose="05000000000000000000" pitchFamily="2" charset="2"/>
              <a:buAutoNum type="arabicPeriod"/>
            </a:pPr>
            <a:r>
              <a:rPr lang="zh-CN" altLang="en-US" sz="2400">
                <a:sym typeface="Wingdings" panose="05000000000000000000" pitchFamily="2" charset="2"/>
              </a:rPr>
              <a:t>对任何其他</a:t>
            </a:r>
            <a:r>
              <a:rPr lang="zh-CN" altLang="en-US" sz="2400"/>
              <a:t>代换</a:t>
            </a:r>
            <a:r>
              <a:rPr lang="en-US" altLang="zh-CN" sz="2400">
                <a:sym typeface="Wingdings" panose="05000000000000000000" pitchFamily="2" charset="2"/>
              </a:rPr>
              <a:t>S’</a:t>
            </a:r>
            <a:r>
              <a:rPr lang="zh-CN" altLang="en-US" sz="2400">
                <a:sym typeface="Wingdings" panose="05000000000000000000" pitchFamily="2" charset="2"/>
              </a:rPr>
              <a:t>，</a:t>
            </a:r>
            <a:r>
              <a:rPr lang="en-US" altLang="zh-CN" sz="2400">
                <a:sym typeface="Wingdings" panose="05000000000000000000" pitchFamily="2" charset="2"/>
              </a:rPr>
              <a:t>S’(t</a:t>
            </a:r>
            <a:r>
              <a:rPr lang="en-US" altLang="zh-CN" sz="2400" baseline="-25000">
                <a:sym typeface="Wingdings" panose="05000000000000000000" pitchFamily="2" charset="2"/>
              </a:rPr>
              <a:t>1</a:t>
            </a:r>
            <a:r>
              <a:rPr lang="en-US" altLang="zh-CN" sz="2400">
                <a:sym typeface="Wingdings" panose="05000000000000000000" pitchFamily="2" charset="2"/>
              </a:rPr>
              <a:t>) = S’(t</a:t>
            </a:r>
            <a:r>
              <a:rPr lang="en-US" altLang="zh-CN" sz="2400" baseline="-25000">
                <a:sym typeface="Wingdings" panose="05000000000000000000" pitchFamily="2" charset="2"/>
              </a:rPr>
              <a:t>2</a:t>
            </a:r>
            <a:r>
              <a:rPr lang="en-US" altLang="zh-CN" sz="2400">
                <a:sym typeface="Wingdings" panose="05000000000000000000" pitchFamily="2" charset="2"/>
              </a:rPr>
              <a:t>)</a:t>
            </a:r>
            <a:r>
              <a:rPr lang="zh-CN" altLang="en-US" sz="2400">
                <a:sym typeface="Wingdings" panose="05000000000000000000" pitchFamily="2" charset="2"/>
              </a:rPr>
              <a:t>，</a:t>
            </a:r>
            <a:r>
              <a:rPr lang="en-US" altLang="zh-CN" sz="2400">
                <a:sym typeface="Wingdings" panose="05000000000000000000" pitchFamily="2" charset="2"/>
              </a:rPr>
              <a:t>S’</a:t>
            </a:r>
            <a:r>
              <a:rPr lang="zh-CN" altLang="en-US" sz="2400">
                <a:sym typeface="Wingdings" panose="05000000000000000000" pitchFamily="2" charset="2"/>
              </a:rPr>
              <a:t>是</a:t>
            </a:r>
            <a:r>
              <a:rPr lang="en-US" altLang="zh-CN" sz="2400">
                <a:sym typeface="Wingdings" panose="05000000000000000000" pitchFamily="2" charset="2"/>
              </a:rPr>
              <a:t>S</a:t>
            </a:r>
            <a:r>
              <a:rPr lang="zh-CN" altLang="en-US" sz="2400">
                <a:sym typeface="Wingdings" panose="05000000000000000000" pitchFamily="2" charset="2"/>
              </a:rPr>
              <a:t>的一个实例，即，对任意</a:t>
            </a:r>
            <a:r>
              <a:rPr lang="en-US" altLang="zh-CN" sz="2400">
                <a:sym typeface="Wingdings" panose="05000000000000000000" pitchFamily="2" charset="2"/>
              </a:rPr>
              <a:t>t</a:t>
            </a:r>
            <a:r>
              <a:rPr lang="zh-CN" altLang="en-US" sz="2400">
                <a:sym typeface="Wingdings" panose="05000000000000000000" pitchFamily="2" charset="2"/>
              </a:rPr>
              <a:t>，</a:t>
            </a:r>
            <a:r>
              <a:rPr lang="en-US" altLang="zh-CN" sz="2400">
                <a:sym typeface="Wingdings" panose="05000000000000000000" pitchFamily="2" charset="2"/>
              </a:rPr>
              <a:t>S’(t)</a:t>
            </a:r>
            <a:r>
              <a:rPr lang="zh-CN" altLang="en-US" sz="2400">
                <a:sym typeface="Wingdings" panose="05000000000000000000" pitchFamily="2" charset="2"/>
              </a:rPr>
              <a:t>是</a:t>
            </a:r>
            <a:r>
              <a:rPr lang="en-US" altLang="zh-CN" sz="2400">
                <a:sym typeface="Wingdings" panose="05000000000000000000" pitchFamily="2" charset="2"/>
              </a:rPr>
              <a:t>S(t)</a:t>
            </a:r>
            <a:r>
              <a:rPr lang="zh-CN" altLang="en-US" sz="2400">
                <a:sym typeface="Wingdings" panose="05000000000000000000" pitchFamily="2" charset="2"/>
              </a:rPr>
              <a:t>的一个实例</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279F006-B228-47AD-9B65-CD7DA067AA10}"/>
              </a:ext>
            </a:extLst>
          </p:cNvPr>
          <p:cNvSpPr>
            <a:spLocks noGrp="1" noChangeArrowheads="1"/>
          </p:cNvSpPr>
          <p:nvPr>
            <p:ph type="title"/>
          </p:nvPr>
        </p:nvSpPr>
        <p:spPr/>
        <p:txBody>
          <a:bodyPr/>
          <a:lstStyle/>
          <a:p>
            <a:pPr eaLnBrk="1" hangingPunct="1"/>
            <a:r>
              <a:rPr lang="en-US" altLang="zh-CN"/>
              <a:t>6.6.5  </a:t>
            </a:r>
            <a:r>
              <a:rPr lang="zh-CN" altLang="en-US"/>
              <a:t>多态函数类型检查</a:t>
            </a:r>
          </a:p>
        </p:txBody>
      </p:sp>
      <p:sp>
        <p:nvSpPr>
          <p:cNvPr id="81923" name="Rectangle 3">
            <a:extLst>
              <a:ext uri="{FF2B5EF4-FFF2-40B4-BE49-F238E27FC236}">
                <a16:creationId xmlns:a16="http://schemas.microsoft.com/office/drawing/2014/main" id="{F99CB612-EEFD-48EE-B2E6-E45E88F2506A}"/>
              </a:ext>
            </a:extLst>
          </p:cNvPr>
          <p:cNvSpPr>
            <a:spLocks noGrp="1" noChangeArrowheads="1"/>
          </p:cNvSpPr>
          <p:nvPr>
            <p:ph type="body" idx="1"/>
          </p:nvPr>
        </p:nvSpPr>
        <p:spPr/>
        <p:txBody>
          <a:bodyPr/>
          <a:lstStyle/>
          <a:p>
            <a:pPr marL="609600" indent="-609600" eaLnBrk="1" hangingPunct="1"/>
            <a:r>
              <a:rPr lang="zh-CN" altLang="en-US"/>
              <a:t>检查规则由下列对类型图的操作构成</a:t>
            </a:r>
          </a:p>
          <a:p>
            <a:pPr marL="990600" lvl="1" indent="-533400" eaLnBrk="1" hangingPunct="1"/>
            <a:r>
              <a:rPr lang="en-US" altLang="zh-CN"/>
              <a:t>fresh(t)——</a:t>
            </a:r>
            <a:r>
              <a:rPr lang="zh-CN" altLang="en-US"/>
              <a:t>将类型表达式</a:t>
            </a:r>
            <a:r>
              <a:rPr lang="en-US" altLang="zh-CN"/>
              <a:t>t</a:t>
            </a:r>
            <a:r>
              <a:rPr lang="zh-CN" altLang="en-US"/>
              <a:t>中约束变量</a:t>
            </a:r>
            <a:r>
              <a:rPr lang="zh-CN" altLang="en-US">
                <a:sym typeface="Wingdings" panose="05000000000000000000" pitchFamily="2" charset="2"/>
              </a:rPr>
              <a:t>代换</a:t>
            </a:r>
            <a:r>
              <a:rPr lang="zh-CN" altLang="en-US"/>
              <a:t>为新变量，返回</a:t>
            </a:r>
            <a:r>
              <a:rPr lang="zh-CN" altLang="en-US">
                <a:sym typeface="Wingdings" panose="05000000000000000000" pitchFamily="2" charset="2"/>
              </a:rPr>
              <a:t>代换</a:t>
            </a:r>
            <a:r>
              <a:rPr lang="zh-CN" altLang="en-US"/>
              <a:t>后类型表达式结点指针</a:t>
            </a:r>
            <a:r>
              <a:rPr lang="zh-CN" altLang="en-US">
                <a:sym typeface="Wingdings" panose="05000000000000000000" pitchFamily="2" charset="2"/>
              </a:rPr>
              <a:t>消除</a:t>
            </a:r>
          </a:p>
          <a:p>
            <a:pPr marL="990600" lvl="1" indent="-533400" eaLnBrk="1" hangingPunct="1"/>
            <a:r>
              <a:rPr lang="en-US" altLang="zh-CN">
                <a:sym typeface="Wingdings" panose="05000000000000000000" pitchFamily="2" charset="2"/>
              </a:rPr>
              <a:t>unify(m, n)——</a:t>
            </a:r>
            <a:r>
              <a:rPr lang="zh-CN" altLang="en-US">
                <a:sym typeface="Wingdings" panose="05000000000000000000" pitchFamily="2" charset="2"/>
              </a:rPr>
              <a:t>将结点</a:t>
            </a:r>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表示的类型表达式合一，会修改、保存对应的代换。若失败，则整个类型检查过程失败</a:t>
            </a:r>
          </a:p>
          <a:p>
            <a:pPr marL="609600" indent="-609600" eaLnBrk="1" hangingPunct="1"/>
            <a:r>
              <a:rPr lang="zh-CN" altLang="en-US">
                <a:sym typeface="Wingdings" panose="05000000000000000000" pitchFamily="2" charset="2"/>
              </a:rPr>
              <a:t>图的创建仍可用</a:t>
            </a:r>
            <a:r>
              <a:rPr lang="en-US" altLang="zh-CN">
                <a:sym typeface="Wingdings" panose="05000000000000000000" pitchFamily="2" charset="2"/>
              </a:rPr>
              <a:t>mkleaf</a:t>
            </a:r>
            <a:r>
              <a:rPr lang="zh-CN" altLang="en-US">
                <a:sym typeface="Wingdings" panose="05000000000000000000" pitchFamily="2" charset="2"/>
              </a:rPr>
              <a:t>、</a:t>
            </a:r>
            <a:r>
              <a:rPr lang="en-US" altLang="zh-CN">
                <a:sym typeface="Wingdings" panose="05000000000000000000" pitchFamily="2" charset="2"/>
              </a:rPr>
              <a:t>mknode</a:t>
            </a:r>
            <a:r>
              <a:rPr lang="zh-CN" altLang="en-US">
                <a:sym typeface="Wingdings" panose="05000000000000000000" pitchFamily="2" charset="2"/>
              </a:rPr>
              <a:t>完成</a:t>
            </a:r>
          </a:p>
          <a:p>
            <a:pPr marL="609600" indent="-609600" eaLnBrk="1" hangingPunct="1"/>
            <a:r>
              <a:rPr lang="zh-CN" altLang="en-US">
                <a:sym typeface="Wingdings" panose="05000000000000000000" pitchFamily="2" charset="2"/>
              </a:rPr>
              <a:t>每个类型变量创建不同结点</a:t>
            </a:r>
          </a:p>
        </p:txBody>
      </p:sp>
      <p:graphicFrame>
        <p:nvGraphicFramePr>
          <p:cNvPr id="81924" name="Object 4">
            <a:extLst>
              <a:ext uri="{FF2B5EF4-FFF2-40B4-BE49-F238E27FC236}">
                <a16:creationId xmlns:a16="http://schemas.microsoft.com/office/drawing/2014/main" id="{F21EFAC1-B496-4F78-8E9E-8287FA9D9EDC}"/>
              </a:ext>
            </a:extLst>
          </p:cNvPr>
          <p:cNvGraphicFramePr>
            <a:graphicFrameLocks noChangeAspect="1"/>
          </p:cNvGraphicFramePr>
          <p:nvPr/>
        </p:nvGraphicFramePr>
        <p:xfrm>
          <a:off x="3733800" y="2895600"/>
          <a:ext cx="354013" cy="388938"/>
        </p:xfrm>
        <a:graphic>
          <a:graphicData uri="http://schemas.openxmlformats.org/presentationml/2006/ole">
            <mc:AlternateContent xmlns:mc="http://schemas.openxmlformats.org/markup-compatibility/2006">
              <mc:Choice xmlns:v="urn:schemas-microsoft-com:vml" Requires="v">
                <p:oleObj spid="_x0000_s81936" name="Equation" r:id="rId3" imgW="152268" imgH="164957" progId="Equation.3">
                  <p:embed/>
                </p:oleObj>
              </mc:Choice>
              <mc:Fallback>
                <p:oleObj name="Equation" r:id="rId3" imgW="152268" imgH="16495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28956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2B05BC5-8518-4F9A-8335-3B4EFE36B794}"/>
              </a:ext>
            </a:extLst>
          </p:cNvPr>
          <p:cNvSpPr>
            <a:spLocks noGrp="1" noChangeArrowheads="1"/>
          </p:cNvSpPr>
          <p:nvPr>
            <p:ph type="title"/>
          </p:nvPr>
        </p:nvSpPr>
        <p:spPr/>
        <p:txBody>
          <a:bodyPr/>
          <a:lstStyle/>
          <a:p>
            <a:pPr eaLnBrk="1" hangingPunct="1"/>
            <a:r>
              <a:rPr lang="en-US" altLang="zh-CN"/>
              <a:t>unify</a:t>
            </a:r>
            <a:r>
              <a:rPr lang="zh-CN" altLang="en-US"/>
              <a:t>操作</a:t>
            </a:r>
          </a:p>
        </p:txBody>
      </p:sp>
      <p:sp>
        <p:nvSpPr>
          <p:cNvPr id="82947" name="Rectangle 3">
            <a:extLst>
              <a:ext uri="{FF2B5EF4-FFF2-40B4-BE49-F238E27FC236}">
                <a16:creationId xmlns:a16="http://schemas.microsoft.com/office/drawing/2014/main" id="{B6683C69-C0BB-481D-B78E-C2331063C3FD}"/>
              </a:ext>
            </a:extLst>
          </p:cNvPr>
          <p:cNvSpPr>
            <a:spLocks noGrp="1" noChangeArrowheads="1"/>
          </p:cNvSpPr>
          <p:nvPr>
            <p:ph type="body" idx="1"/>
          </p:nvPr>
        </p:nvSpPr>
        <p:spPr/>
        <p:txBody>
          <a:bodyPr/>
          <a:lstStyle/>
          <a:p>
            <a:pPr eaLnBrk="1" hangingPunct="1"/>
            <a:r>
              <a:rPr lang="zh-CN" altLang="en-US"/>
              <a:t>合一、代换</a:t>
            </a:r>
            <a:r>
              <a:rPr lang="en-US" altLang="zh-CN"/>
              <a:t>——</a:t>
            </a:r>
            <a:r>
              <a:rPr lang="zh-CN" altLang="en-US"/>
              <a:t>基于图论的方法</a:t>
            </a:r>
          </a:p>
          <a:p>
            <a:pPr eaLnBrk="1" hangingPunct="1"/>
            <a:r>
              <a:rPr lang="en-US" altLang="zh-CN"/>
              <a:t>m</a:t>
            </a:r>
            <a:r>
              <a:rPr lang="zh-CN" altLang="en-US"/>
              <a:t>、</a:t>
            </a:r>
            <a:r>
              <a:rPr lang="en-US" altLang="zh-CN"/>
              <a:t>n</a:t>
            </a:r>
            <a:r>
              <a:rPr lang="zh-CN" altLang="en-US"/>
              <a:t>为类型图结点，分别表示表达式</a:t>
            </a:r>
            <a:r>
              <a:rPr lang="en-US" altLang="zh-CN"/>
              <a:t>e</a:t>
            </a:r>
            <a:r>
              <a:rPr lang="zh-CN" altLang="en-US"/>
              <a:t>、</a:t>
            </a:r>
            <a:r>
              <a:rPr lang="en-US" altLang="zh-CN"/>
              <a:t>f</a:t>
            </a:r>
            <a:r>
              <a:rPr lang="zh-CN" altLang="en-US"/>
              <a:t>，若</a:t>
            </a:r>
            <a:r>
              <a:rPr lang="en-US" altLang="zh-CN"/>
              <a:t>S(e)=S(f)</a:t>
            </a:r>
            <a:r>
              <a:rPr lang="zh-CN" altLang="en-US"/>
              <a:t>，称</a:t>
            </a:r>
            <a:r>
              <a:rPr lang="en-US" altLang="zh-CN"/>
              <a:t>m</a:t>
            </a:r>
            <a:r>
              <a:rPr lang="zh-CN" altLang="en-US"/>
              <a:t>、</a:t>
            </a:r>
            <a:r>
              <a:rPr lang="en-US" altLang="zh-CN"/>
              <a:t>n</a:t>
            </a:r>
            <a:r>
              <a:rPr lang="zh-CN" altLang="en-US"/>
              <a:t>在代换</a:t>
            </a:r>
            <a:r>
              <a:rPr lang="en-US" altLang="zh-CN"/>
              <a:t>S</a:t>
            </a:r>
            <a:r>
              <a:rPr lang="zh-CN" altLang="en-US"/>
              <a:t>下等价</a:t>
            </a:r>
          </a:p>
          <a:p>
            <a:pPr eaLnBrk="1" hangingPunct="1"/>
            <a:r>
              <a:rPr lang="zh-CN" altLang="en-US"/>
              <a:t>求最一般的合一代换</a:t>
            </a:r>
          </a:p>
          <a:p>
            <a:pPr lvl="1" eaLnBrk="1" hangingPunct="1"/>
            <a:r>
              <a:rPr lang="zh-CN" altLang="en-US"/>
              <a:t>转化为</a:t>
            </a:r>
            <a:r>
              <a:rPr lang="zh-CN" altLang="en-US">
                <a:sym typeface="Wingdings" panose="05000000000000000000" pitchFamily="2" charset="2"/>
              </a:rPr>
              <a:t></a:t>
            </a:r>
            <a:r>
              <a:rPr lang="zh-CN" altLang="en-US"/>
              <a:t>在</a:t>
            </a:r>
            <a:r>
              <a:rPr lang="en-US" altLang="zh-CN"/>
              <a:t>S</a:t>
            </a:r>
            <a:r>
              <a:rPr lang="zh-CN" altLang="en-US"/>
              <a:t>下必须等价的结点的集合划分问题</a:t>
            </a:r>
          </a:p>
          <a:p>
            <a:pPr lvl="1" eaLnBrk="1" hangingPunct="1"/>
            <a:r>
              <a:rPr lang="zh-CN" altLang="en-US"/>
              <a:t>类型表达式等价</a:t>
            </a:r>
            <a:r>
              <a:rPr lang="zh-CN" altLang="en-US">
                <a:sym typeface="Wingdings" panose="05000000000000000000" pitchFamily="2" charset="2"/>
              </a:rPr>
              <a:t>根必须等价</a:t>
            </a:r>
          </a:p>
          <a:p>
            <a:pPr lvl="1" eaLnBrk="1" hangingPunct="1"/>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等价表示相同操作且孩子结点等价</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393DBD70-12BC-4031-ABB3-FA644F0F0624}"/>
              </a:ext>
            </a:extLst>
          </p:cNvPr>
          <p:cNvSpPr>
            <a:spLocks noGrp="1" noChangeArrowheads="1"/>
          </p:cNvSpPr>
          <p:nvPr>
            <p:ph type="title"/>
          </p:nvPr>
        </p:nvSpPr>
        <p:spPr/>
        <p:txBody>
          <a:bodyPr/>
          <a:lstStyle/>
          <a:p>
            <a:pPr eaLnBrk="1" hangingPunct="1"/>
            <a:r>
              <a:rPr lang="zh-CN" altLang="en-US"/>
              <a:t>类型检查规则</a:t>
            </a:r>
          </a:p>
        </p:txBody>
      </p:sp>
      <p:sp>
        <p:nvSpPr>
          <p:cNvPr id="83971" name="Rectangle 3">
            <a:extLst>
              <a:ext uri="{FF2B5EF4-FFF2-40B4-BE49-F238E27FC236}">
                <a16:creationId xmlns:a16="http://schemas.microsoft.com/office/drawing/2014/main" id="{E3768588-EF2E-4DAA-9F3A-77FDA79DD715}"/>
              </a:ext>
            </a:extLst>
          </p:cNvPr>
          <p:cNvSpPr>
            <a:spLocks noGrp="1" noChangeArrowheads="1"/>
          </p:cNvSpPr>
          <p:nvPr>
            <p:ph type="body" idx="1"/>
          </p:nvPr>
        </p:nvSpPr>
        <p:spPr/>
        <p:txBody>
          <a:bodyPr/>
          <a:lstStyle/>
          <a:p>
            <a:pPr eaLnBrk="1" hangingPunct="1">
              <a:spcBef>
                <a:spcPct val="10000"/>
              </a:spcBef>
              <a:buFont typeface="Wingdings" panose="05000000000000000000" pitchFamily="2" charset="2"/>
              <a:buNone/>
            </a:pPr>
            <a:r>
              <a:rPr lang="en-US" altLang="zh-CN" sz="2800">
                <a:sym typeface="Symbol" panose="05050102010706020507" pitchFamily="18" charset="2"/>
              </a:rPr>
              <a:t>E  E</a:t>
            </a:r>
            <a:r>
              <a:rPr lang="en-US" altLang="zh-CN" sz="2800" baseline="-25000">
                <a:sym typeface="Symbol" panose="05050102010706020507" pitchFamily="18" charset="2"/>
              </a:rPr>
              <a:t>1</a:t>
            </a:r>
            <a:r>
              <a:rPr lang="en-US" altLang="zh-CN" sz="2800">
                <a:solidFill>
                  <a:schemeClr val="accent2"/>
                </a:solidFill>
                <a:sym typeface="Symbol" panose="05050102010706020507" pitchFamily="18" charset="2"/>
              </a:rPr>
              <a:t>(</a:t>
            </a:r>
            <a:r>
              <a:rPr lang="en-US" altLang="zh-CN" sz="2800">
                <a:sym typeface="Symbol" panose="05050102010706020507" pitchFamily="18" charset="2"/>
              </a:rPr>
              <a:t>E</a:t>
            </a:r>
            <a:r>
              <a:rPr lang="en-US" altLang="zh-CN" sz="2800" baseline="-25000">
                <a:sym typeface="Symbol" panose="05050102010706020507" pitchFamily="18" charset="2"/>
              </a:rPr>
              <a:t>2</a:t>
            </a:r>
            <a:r>
              <a:rPr lang="en-US" altLang="zh-CN" sz="2800">
                <a:solidFill>
                  <a:schemeClr val="accent2"/>
                </a:solidFill>
                <a:sym typeface="Symbol" panose="05050102010706020507" pitchFamily="18" charset="2"/>
              </a:rPr>
              <a:t>) 	</a:t>
            </a:r>
            <a:r>
              <a:rPr lang="en-US" altLang="zh-CN" sz="2800">
                <a:sym typeface="Symbol" panose="05050102010706020507" pitchFamily="18" charset="2"/>
              </a:rPr>
              <a:t> { p = mkleaf(newtypevar);</a:t>
            </a:r>
          </a:p>
          <a:p>
            <a:pPr eaLnBrk="1" hangingPunct="1">
              <a:spcBef>
                <a:spcPct val="10000"/>
              </a:spcBef>
              <a:buFont typeface="Wingdings" panose="05000000000000000000" pitchFamily="2" charset="2"/>
              <a:buNone/>
            </a:pPr>
            <a:r>
              <a:rPr lang="en-US" altLang="zh-CN" sz="2800">
                <a:sym typeface="Symbol" panose="05050102010706020507" pitchFamily="18" charset="2"/>
              </a:rPr>
              <a:t>			unify(E</a:t>
            </a:r>
            <a:r>
              <a:rPr lang="en-US" altLang="zh-CN" sz="2800" baseline="-25000">
                <a:sym typeface="Symbol" panose="05050102010706020507" pitchFamily="18" charset="2"/>
              </a:rPr>
              <a:t>1</a:t>
            </a:r>
            <a:r>
              <a:rPr lang="en-US" altLang="zh-CN" sz="2800">
                <a:sym typeface="Symbol" panose="05050102010706020507" pitchFamily="18" charset="2"/>
              </a:rPr>
              <a:t>.type, mknode(‘’, E</a:t>
            </a:r>
            <a:r>
              <a:rPr lang="en-US" altLang="zh-CN" sz="2800" baseline="-25000">
                <a:sym typeface="Symbol" panose="05050102010706020507" pitchFamily="18" charset="2"/>
              </a:rPr>
              <a:t>2</a:t>
            </a:r>
            <a:r>
              <a:rPr lang="en-US" altLang="zh-CN" sz="2800">
                <a:sym typeface="Symbol" panose="05050102010706020507" pitchFamily="18" charset="2"/>
              </a:rPr>
              <a:t>.type, p));</a:t>
            </a:r>
          </a:p>
          <a:p>
            <a:pPr eaLnBrk="1" hangingPunct="1">
              <a:spcBef>
                <a:spcPct val="10000"/>
              </a:spcBef>
              <a:buFont typeface="Wingdings" panose="05000000000000000000" pitchFamily="2" charset="2"/>
              <a:buNone/>
            </a:pPr>
            <a:r>
              <a:rPr lang="en-US" altLang="zh-CN" sz="2800">
                <a:sym typeface="Symbol" panose="05050102010706020507" pitchFamily="18" charset="2"/>
              </a:rPr>
              <a:t>			E.type = p; }</a:t>
            </a:r>
            <a:endParaRPr lang="en-US" altLang="zh-CN"/>
          </a:p>
          <a:p>
            <a:pPr eaLnBrk="1" hangingPunct="1">
              <a:spcBef>
                <a:spcPct val="10000"/>
              </a:spcBef>
              <a:buFont typeface="Wingdings" panose="05000000000000000000" pitchFamily="2" charset="2"/>
              <a:buNone/>
            </a:pPr>
            <a:r>
              <a:rPr lang="en-US" altLang="zh-CN" sz="2800">
                <a:sym typeface="Symbol" panose="05050102010706020507" pitchFamily="18" charset="2"/>
              </a:rPr>
              <a:t>E  E</a:t>
            </a:r>
            <a:r>
              <a:rPr lang="en-US" altLang="zh-CN" sz="2800" baseline="-25000">
                <a:sym typeface="Symbol" panose="05050102010706020507" pitchFamily="18" charset="2"/>
              </a:rPr>
              <a:t>1</a:t>
            </a:r>
            <a:r>
              <a:rPr lang="en-US" altLang="zh-CN" sz="2800">
                <a:sym typeface="Symbol" panose="05050102010706020507" pitchFamily="18" charset="2"/>
              </a:rPr>
              <a:t> , E</a:t>
            </a:r>
            <a:r>
              <a:rPr lang="en-US" altLang="zh-CN" sz="2800" baseline="-25000">
                <a:sym typeface="Symbol" panose="05050102010706020507" pitchFamily="18" charset="2"/>
              </a:rPr>
              <a:t>2</a:t>
            </a:r>
            <a:r>
              <a:rPr lang="en-US" altLang="zh-CN" sz="2800">
                <a:sym typeface="Symbol" panose="05050102010706020507" pitchFamily="18" charset="2"/>
              </a:rPr>
              <a:t>	</a:t>
            </a:r>
            <a:br>
              <a:rPr lang="en-US" altLang="zh-CN" sz="2800">
                <a:sym typeface="Symbol" panose="05050102010706020507" pitchFamily="18" charset="2"/>
              </a:rPr>
            </a:br>
            <a:r>
              <a:rPr lang="en-US" altLang="zh-CN" sz="2800">
                <a:sym typeface="Symbol" panose="05050102010706020507" pitchFamily="18" charset="2"/>
              </a:rPr>
              <a:t>	{ E.type = mknode(‘×’, E</a:t>
            </a:r>
            <a:r>
              <a:rPr lang="en-US" altLang="zh-CN" sz="2800" baseline="-25000">
                <a:sym typeface="Symbol" panose="05050102010706020507" pitchFamily="18" charset="2"/>
              </a:rPr>
              <a:t>1</a:t>
            </a:r>
            <a:r>
              <a:rPr lang="en-US" altLang="zh-CN" sz="2800">
                <a:sym typeface="Symbol" panose="05050102010706020507" pitchFamily="18" charset="2"/>
              </a:rPr>
              <a:t>.type, E</a:t>
            </a:r>
            <a:r>
              <a:rPr lang="en-US" altLang="zh-CN" sz="2800" baseline="-25000">
                <a:sym typeface="Symbol" panose="05050102010706020507" pitchFamily="18" charset="2"/>
              </a:rPr>
              <a:t>2</a:t>
            </a:r>
            <a:r>
              <a:rPr lang="en-US" altLang="zh-CN" sz="2800">
                <a:sym typeface="Symbol" panose="05050102010706020507" pitchFamily="18" charset="2"/>
              </a:rPr>
              <a:t>.type); }</a:t>
            </a:r>
            <a:endParaRPr lang="en-US" altLang="zh-CN" sz="2800" i="1">
              <a:sym typeface="Symbol" panose="05050102010706020507" pitchFamily="18" charset="2"/>
            </a:endParaRPr>
          </a:p>
          <a:p>
            <a:pPr eaLnBrk="1" hangingPunct="1">
              <a:spcBef>
                <a:spcPct val="10000"/>
              </a:spcBef>
              <a:buFont typeface="Wingdings" panose="05000000000000000000" pitchFamily="2" charset="2"/>
              <a:buNone/>
            </a:pPr>
            <a:r>
              <a:rPr lang="en-US" altLang="zh-CN" sz="2800">
                <a:sym typeface="Symbol" panose="05050102010706020507" pitchFamily="18" charset="2"/>
              </a:rPr>
              <a:t>E  </a:t>
            </a:r>
            <a:r>
              <a:rPr lang="en-US" altLang="zh-CN" sz="2800" b="1">
                <a:solidFill>
                  <a:schemeClr val="accent2"/>
                </a:solidFill>
                <a:sym typeface="Symbol" panose="05050102010706020507" pitchFamily="18" charset="2"/>
              </a:rPr>
              <a:t>id</a:t>
            </a:r>
            <a:r>
              <a:rPr lang="en-US" altLang="zh-CN" sz="2800">
                <a:solidFill>
                  <a:schemeClr val="accent2"/>
                </a:solidFill>
                <a:sym typeface="Symbol" panose="05050102010706020507" pitchFamily="18" charset="2"/>
              </a:rPr>
              <a:t> 	</a:t>
            </a:r>
            <a:r>
              <a:rPr lang="en-US" altLang="zh-CN" sz="2800">
                <a:sym typeface="Symbol" panose="05050102010706020507" pitchFamily="18" charset="2"/>
              </a:rPr>
              <a:t>{ E.type = fresh(</a:t>
            </a:r>
            <a:r>
              <a:rPr lang="en-US" altLang="zh-CN" sz="2800" b="1">
                <a:sym typeface="Symbol" panose="05050102010706020507" pitchFamily="18" charset="2"/>
              </a:rPr>
              <a:t>id</a:t>
            </a:r>
            <a:r>
              <a:rPr lang="en-US" altLang="zh-CN" sz="2800">
                <a:sym typeface="Symbol" panose="05050102010706020507" pitchFamily="18" charset="2"/>
              </a:rPr>
              <a:t>.type); }</a:t>
            </a:r>
            <a:endParaRPr lang="en-US" altLang="zh-CN" sz="2800"/>
          </a:p>
          <a:p>
            <a:pPr eaLnBrk="1" hangingPunct="1"/>
            <a:r>
              <a:rPr lang="en-US" altLang="zh-CN">
                <a:solidFill>
                  <a:srgbClr val="3333CC"/>
                </a:solidFill>
              </a:rPr>
              <a:t>E</a:t>
            </a:r>
            <a:r>
              <a:rPr lang="en-US" altLang="zh-CN" baseline="-25000">
                <a:solidFill>
                  <a:srgbClr val="3333CC"/>
                </a:solidFill>
              </a:rPr>
              <a:t>1</a:t>
            </a:r>
            <a:r>
              <a:rPr lang="en-US" altLang="zh-CN">
                <a:solidFill>
                  <a:srgbClr val="3333CC"/>
                </a:solidFill>
              </a:rPr>
              <a:t>.type=</a:t>
            </a:r>
            <a:r>
              <a:rPr lang="en-US" altLang="zh-CN">
                <a:solidFill>
                  <a:srgbClr val="3333CC"/>
                </a:solidFill>
                <a:latin typeface="Symbol" panose="05050102010706020507" pitchFamily="18" charset="2"/>
              </a:rPr>
              <a:t>a</a:t>
            </a:r>
            <a:r>
              <a:rPr lang="zh-CN" altLang="en-US">
                <a:solidFill>
                  <a:srgbClr val="3333CC"/>
                </a:solidFill>
              </a:rPr>
              <a:t>，</a:t>
            </a:r>
            <a:r>
              <a:rPr lang="en-US" altLang="zh-CN">
                <a:solidFill>
                  <a:srgbClr val="3333CC"/>
                </a:solidFill>
              </a:rPr>
              <a:t>E</a:t>
            </a:r>
            <a:r>
              <a:rPr lang="en-US" altLang="zh-CN" baseline="-25000">
                <a:solidFill>
                  <a:srgbClr val="3333CC"/>
                </a:solidFill>
              </a:rPr>
              <a:t>2</a:t>
            </a:r>
            <a:r>
              <a:rPr lang="en-US" altLang="zh-CN">
                <a:solidFill>
                  <a:srgbClr val="3333CC"/>
                </a:solidFill>
              </a:rPr>
              <a:t>.type=</a:t>
            </a:r>
            <a:r>
              <a:rPr lang="en-US" altLang="zh-CN">
                <a:solidFill>
                  <a:srgbClr val="3333CC"/>
                </a:solidFill>
                <a:latin typeface="Symbol" panose="05050102010706020507" pitchFamily="18" charset="2"/>
              </a:rPr>
              <a:t>b</a:t>
            </a:r>
            <a:r>
              <a:rPr lang="zh-CN" altLang="en-US">
                <a:solidFill>
                  <a:srgbClr val="3333CC"/>
                </a:solidFill>
              </a:rPr>
              <a:t>，都是类型变量</a:t>
            </a:r>
          </a:p>
          <a:p>
            <a:pPr eaLnBrk="1" hangingPunct="1"/>
            <a:r>
              <a:rPr lang="zh-CN" altLang="en-US">
                <a:solidFill>
                  <a:srgbClr val="3333CC"/>
                </a:solidFill>
              </a:rPr>
              <a:t>前者是函数，寻求两者等价，必有类型变量</a:t>
            </a:r>
            <a:r>
              <a:rPr lang="en-US" altLang="zh-CN">
                <a:solidFill>
                  <a:srgbClr val="3333CC"/>
                </a:solidFill>
                <a:latin typeface="Symbol" panose="05050102010706020507" pitchFamily="18" charset="2"/>
              </a:rPr>
              <a:t>g</a:t>
            </a:r>
            <a:r>
              <a:rPr lang="zh-CN" altLang="en-US">
                <a:solidFill>
                  <a:srgbClr val="3333CC"/>
                </a:solidFill>
              </a:rPr>
              <a:t>，使得</a:t>
            </a:r>
            <a:r>
              <a:rPr lang="en-US" altLang="zh-CN">
                <a:solidFill>
                  <a:srgbClr val="3333CC"/>
                </a:solidFill>
                <a:latin typeface="Symbol" panose="05050102010706020507" pitchFamily="18" charset="2"/>
              </a:rPr>
              <a:t>a=b</a:t>
            </a:r>
            <a:r>
              <a:rPr lang="en-US" altLang="zh-CN">
                <a:solidFill>
                  <a:srgbClr val="3333CC"/>
                </a:solidFill>
                <a:latin typeface="Symbol" panose="05050102010706020507" pitchFamily="18" charset="2"/>
                <a:sym typeface="Symbol" panose="05050102010706020507" pitchFamily="18" charset="2"/>
              </a:rPr>
              <a:t>g</a:t>
            </a:r>
            <a:endParaRPr lang="en-US" altLang="zh-CN">
              <a:solidFill>
                <a:srgbClr val="3333CC"/>
              </a:solidFill>
              <a:sym typeface="Symbol" panose="05050102010706020507" pitchFamily="18" charset="2"/>
            </a:endParaRPr>
          </a:p>
        </p:txBody>
      </p:sp>
      <p:sp>
        <p:nvSpPr>
          <p:cNvPr id="83972" name="Freeform 5">
            <a:extLst>
              <a:ext uri="{FF2B5EF4-FFF2-40B4-BE49-F238E27FC236}">
                <a16:creationId xmlns:a16="http://schemas.microsoft.com/office/drawing/2014/main" id="{16A328CD-EE20-446C-9E3A-8ED3D0B472B2}"/>
              </a:ext>
            </a:extLst>
          </p:cNvPr>
          <p:cNvSpPr>
            <a:spLocks/>
          </p:cNvSpPr>
          <p:nvPr/>
        </p:nvSpPr>
        <p:spPr bwMode="ltGray">
          <a:xfrm>
            <a:off x="871538" y="1600200"/>
            <a:ext cx="423862" cy="2362200"/>
          </a:xfrm>
          <a:custGeom>
            <a:avLst/>
            <a:gdLst>
              <a:gd name="T0" fmla="*/ 2147483646 w 267"/>
              <a:gd name="T1" fmla="*/ 2147483646 h 1488"/>
              <a:gd name="T2" fmla="*/ 0 w 267"/>
              <a:gd name="T3" fmla="*/ 2147483646 h 1488"/>
              <a:gd name="T4" fmla="*/ 2147483646 w 267"/>
              <a:gd name="T5" fmla="*/ 0 h 1488"/>
              <a:gd name="T6" fmla="*/ 0 60000 65536"/>
              <a:gd name="T7" fmla="*/ 0 60000 65536"/>
              <a:gd name="T8" fmla="*/ 0 60000 65536"/>
              <a:gd name="T9" fmla="*/ 0 w 267"/>
              <a:gd name="T10" fmla="*/ 0 h 1488"/>
              <a:gd name="T11" fmla="*/ 267 w 267"/>
              <a:gd name="T12" fmla="*/ 1488 h 1488"/>
            </a:gdLst>
            <a:ahLst/>
            <a:cxnLst>
              <a:cxn ang="T6">
                <a:pos x="T0" y="T1"/>
              </a:cxn>
              <a:cxn ang="T7">
                <a:pos x="T2" y="T3"/>
              </a:cxn>
              <a:cxn ang="T8">
                <a:pos x="T4" y="T5"/>
              </a:cxn>
            </a:cxnLst>
            <a:rect l="T9" t="T10" r="T11" b="T12"/>
            <a:pathLst>
              <a:path w="267" h="1488">
                <a:moveTo>
                  <a:pt x="267" y="1488"/>
                </a:moveTo>
                <a:cubicBezTo>
                  <a:pt x="223" y="1357"/>
                  <a:pt x="0" y="950"/>
                  <a:pt x="0" y="702"/>
                </a:cubicBezTo>
                <a:cubicBezTo>
                  <a:pt x="0" y="454"/>
                  <a:pt x="212" y="146"/>
                  <a:pt x="267" y="0"/>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973" name="Freeform 6">
            <a:extLst>
              <a:ext uri="{FF2B5EF4-FFF2-40B4-BE49-F238E27FC236}">
                <a16:creationId xmlns:a16="http://schemas.microsoft.com/office/drawing/2014/main" id="{FA69D6A3-7827-4CEF-94C9-20C65034AEBA}"/>
              </a:ext>
            </a:extLst>
          </p:cNvPr>
          <p:cNvSpPr>
            <a:spLocks/>
          </p:cNvSpPr>
          <p:nvPr/>
        </p:nvSpPr>
        <p:spPr bwMode="ltGray">
          <a:xfrm>
            <a:off x="5092700" y="2363788"/>
            <a:ext cx="4170363" cy="3517900"/>
          </a:xfrm>
          <a:custGeom>
            <a:avLst/>
            <a:gdLst>
              <a:gd name="T0" fmla="*/ 0 w 2627"/>
              <a:gd name="T1" fmla="*/ 2147483646 h 2216"/>
              <a:gd name="T2" fmla="*/ 2147483646 w 2627"/>
              <a:gd name="T3" fmla="*/ 2147483646 h 2216"/>
              <a:gd name="T4" fmla="*/ 2147483646 w 2627"/>
              <a:gd name="T5" fmla="*/ 0 h 2216"/>
              <a:gd name="T6" fmla="*/ 0 60000 65536"/>
              <a:gd name="T7" fmla="*/ 0 60000 65536"/>
              <a:gd name="T8" fmla="*/ 0 60000 65536"/>
              <a:gd name="T9" fmla="*/ 0 w 2627"/>
              <a:gd name="T10" fmla="*/ 0 h 2216"/>
              <a:gd name="T11" fmla="*/ 2627 w 2627"/>
              <a:gd name="T12" fmla="*/ 2216 h 2216"/>
            </a:gdLst>
            <a:ahLst/>
            <a:cxnLst>
              <a:cxn ang="T6">
                <a:pos x="T0" y="T1"/>
              </a:cxn>
              <a:cxn ang="T7">
                <a:pos x="T2" y="T3"/>
              </a:cxn>
              <a:cxn ang="T8">
                <a:pos x="T4" y="T5"/>
              </a:cxn>
            </a:cxnLst>
            <a:rect l="T9" t="T10" r="T11" b="T12"/>
            <a:pathLst>
              <a:path w="2627" h="2216">
                <a:moveTo>
                  <a:pt x="0" y="2029"/>
                </a:moveTo>
                <a:cubicBezTo>
                  <a:pt x="379" y="2004"/>
                  <a:pt x="1927" y="2216"/>
                  <a:pt x="2277" y="1878"/>
                </a:cubicBezTo>
                <a:cubicBezTo>
                  <a:pt x="2627" y="1540"/>
                  <a:pt x="2137" y="391"/>
                  <a:pt x="2100" y="0"/>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974" name="Freeform 8">
            <a:extLst>
              <a:ext uri="{FF2B5EF4-FFF2-40B4-BE49-F238E27FC236}">
                <a16:creationId xmlns:a16="http://schemas.microsoft.com/office/drawing/2014/main" id="{F5465D8C-281A-4D9E-97B0-607E2E2F5CA8}"/>
              </a:ext>
            </a:extLst>
          </p:cNvPr>
          <p:cNvSpPr>
            <a:spLocks/>
          </p:cNvSpPr>
          <p:nvPr/>
        </p:nvSpPr>
        <p:spPr bwMode="ltGray">
          <a:xfrm>
            <a:off x="6019800" y="1231900"/>
            <a:ext cx="3086100" cy="1739900"/>
          </a:xfrm>
          <a:custGeom>
            <a:avLst/>
            <a:gdLst>
              <a:gd name="T0" fmla="*/ 2147483646 w 1944"/>
              <a:gd name="T1" fmla="*/ 2147483646 h 1096"/>
              <a:gd name="T2" fmla="*/ 2147483646 w 1944"/>
              <a:gd name="T3" fmla="*/ 2147483646 h 1096"/>
              <a:gd name="T4" fmla="*/ 2147483646 w 1944"/>
              <a:gd name="T5" fmla="*/ 2147483646 h 1096"/>
              <a:gd name="T6" fmla="*/ 0 w 1944"/>
              <a:gd name="T7" fmla="*/ 2147483646 h 1096"/>
              <a:gd name="T8" fmla="*/ 0 60000 65536"/>
              <a:gd name="T9" fmla="*/ 0 60000 65536"/>
              <a:gd name="T10" fmla="*/ 0 60000 65536"/>
              <a:gd name="T11" fmla="*/ 0 60000 65536"/>
              <a:gd name="T12" fmla="*/ 0 w 1944"/>
              <a:gd name="T13" fmla="*/ 0 h 1096"/>
              <a:gd name="T14" fmla="*/ 1944 w 1944"/>
              <a:gd name="T15" fmla="*/ 1096 h 1096"/>
            </a:gdLst>
            <a:ahLst/>
            <a:cxnLst>
              <a:cxn ang="T8">
                <a:pos x="T0" y="T1"/>
              </a:cxn>
              <a:cxn ang="T9">
                <a:pos x="T2" y="T3"/>
              </a:cxn>
              <a:cxn ang="T10">
                <a:pos x="T4" y="T5"/>
              </a:cxn>
              <a:cxn ang="T11">
                <a:pos x="T6" y="T7"/>
              </a:cxn>
            </a:cxnLst>
            <a:rect l="T12" t="T13" r="T14" b="T15"/>
            <a:pathLst>
              <a:path w="1944" h="1096">
                <a:moveTo>
                  <a:pt x="1584" y="1096"/>
                </a:moveTo>
                <a:cubicBezTo>
                  <a:pt x="1764" y="872"/>
                  <a:pt x="1944" y="648"/>
                  <a:pt x="1872" y="472"/>
                </a:cubicBezTo>
                <a:cubicBezTo>
                  <a:pt x="1800" y="296"/>
                  <a:pt x="1464" y="80"/>
                  <a:pt x="1152" y="40"/>
                </a:cubicBezTo>
                <a:cubicBezTo>
                  <a:pt x="840" y="0"/>
                  <a:pt x="420" y="116"/>
                  <a:pt x="0" y="232"/>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C8A0D22F-5F57-47D7-B7CD-73A08A1C5457}"/>
              </a:ext>
            </a:extLst>
          </p:cNvPr>
          <p:cNvSpPr>
            <a:spLocks noGrp="1" noChangeArrowheads="1"/>
          </p:cNvSpPr>
          <p:nvPr>
            <p:ph type="title"/>
          </p:nvPr>
        </p:nvSpPr>
        <p:spPr/>
        <p:txBody>
          <a:bodyPr/>
          <a:lstStyle/>
          <a:p>
            <a:pPr eaLnBrk="1" hangingPunct="1"/>
            <a:r>
              <a:rPr lang="zh-CN" altLang="en-US"/>
              <a:t>例</a:t>
            </a:r>
          </a:p>
        </p:txBody>
      </p:sp>
      <p:sp>
        <p:nvSpPr>
          <p:cNvPr id="84995" name="Rectangle 3">
            <a:extLst>
              <a:ext uri="{FF2B5EF4-FFF2-40B4-BE49-F238E27FC236}">
                <a16:creationId xmlns:a16="http://schemas.microsoft.com/office/drawing/2014/main" id="{1FB774D3-A72A-407A-A74B-32FD553BBFFD}"/>
              </a:ext>
            </a:extLst>
          </p:cNvPr>
          <p:cNvSpPr>
            <a:spLocks noGrp="1" noChangeArrowheads="1"/>
          </p:cNvSpPr>
          <p:nvPr>
            <p:ph type="body" idx="1"/>
          </p:nvPr>
        </p:nvSpPr>
        <p:spPr/>
        <p:txBody>
          <a:bodyPr/>
          <a:lstStyle/>
          <a:p>
            <a:pPr eaLnBrk="1" hangingPunct="1">
              <a:buFont typeface="Wingdings" panose="05000000000000000000" pitchFamily="2" charset="2"/>
              <a:buNone/>
            </a:pPr>
            <a:r>
              <a:rPr lang="zh-CN" altLang="en-US"/>
              <a:t>表达式		类型			代换</a:t>
            </a:r>
          </a:p>
          <a:p>
            <a:pPr eaLnBrk="1" hangingPunct="1">
              <a:buFont typeface="Wingdings" panose="05000000000000000000" pitchFamily="2" charset="2"/>
              <a:buNone/>
            </a:pPr>
            <a:r>
              <a:rPr lang="en-US" altLang="zh-CN" sz="2400"/>
              <a:t>q			pointer(pointer(integer))</a:t>
            </a:r>
          </a:p>
          <a:p>
            <a:pPr eaLnBrk="1" hangingPunct="1">
              <a:buFont typeface="Wingdings" panose="05000000000000000000" pitchFamily="2" charset="2"/>
              <a:buNone/>
            </a:pPr>
            <a:r>
              <a:rPr lang="en-US" altLang="zh-CN" sz="2400"/>
              <a:t>deref</a:t>
            </a:r>
            <a:r>
              <a:rPr lang="en-US" altLang="zh-CN" sz="2400" baseline="-25000"/>
              <a:t>i</a:t>
            </a:r>
            <a:r>
              <a:rPr lang="en-US" altLang="zh-CN" sz="2400"/>
              <a:t>		pointer(</a:t>
            </a:r>
            <a:r>
              <a:rPr lang="en-US" altLang="zh-CN" sz="2400">
                <a:latin typeface="Symbol" panose="05050102010706020507" pitchFamily="18" charset="2"/>
              </a:rPr>
              <a:t>a</a:t>
            </a:r>
            <a:r>
              <a:rPr lang="en-US" altLang="zh-CN" sz="2400" baseline="-25000"/>
              <a:t>i</a:t>
            </a:r>
            <a:r>
              <a:rPr lang="en-US" altLang="zh-CN" sz="2400"/>
              <a:t>) </a:t>
            </a:r>
            <a:r>
              <a:rPr lang="en-US" altLang="zh-CN" sz="2400">
                <a:latin typeface="Symbol" panose="05050102010706020507" pitchFamily="18" charset="2"/>
                <a:sym typeface="Symbol" panose="05050102010706020507" pitchFamily="18" charset="2"/>
              </a:rPr>
              <a:t> a</a:t>
            </a:r>
            <a:r>
              <a:rPr lang="en-US" altLang="zh-CN" sz="2400" baseline="-25000">
                <a:sym typeface="Symbol" panose="05050102010706020507" pitchFamily="18" charset="2"/>
              </a:rPr>
              <a:t>i</a:t>
            </a:r>
            <a:endParaRPr lang="en-US" altLang="zh-CN" sz="2400">
              <a:sym typeface="Symbol" panose="05050102010706020507" pitchFamily="18" charset="2"/>
            </a:endParaRP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i</a:t>
            </a:r>
            <a:r>
              <a:rPr lang="en-US" altLang="zh-CN" sz="2400">
                <a:sym typeface="Symbol" panose="05050102010706020507" pitchFamily="18" charset="2"/>
              </a:rPr>
              <a:t>(q)	pointer(integer)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sym typeface="Symbol" panose="05050102010706020507" pitchFamily="18" charset="2"/>
              </a:rPr>
              <a:t>=pointer(integer)</a:t>
            </a: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o</a:t>
            </a:r>
            <a:r>
              <a:rPr lang="en-US" altLang="zh-CN" sz="2400">
                <a:sym typeface="Symbol" panose="05050102010706020507" pitchFamily="18" charset="2"/>
              </a:rPr>
              <a:t>		</a:t>
            </a:r>
            <a:r>
              <a:rPr lang="en-US" altLang="zh-CN" sz="2400"/>
              <a:t>pointer(</a:t>
            </a:r>
            <a:r>
              <a:rPr lang="en-US" altLang="zh-CN" sz="2400">
                <a:latin typeface="Symbol" panose="05050102010706020507" pitchFamily="18" charset="2"/>
              </a:rPr>
              <a:t>a</a:t>
            </a:r>
            <a:r>
              <a:rPr lang="en-US" altLang="zh-CN" sz="2400" baseline="-25000"/>
              <a:t>o</a:t>
            </a:r>
            <a:r>
              <a:rPr lang="en-US" altLang="zh-CN" sz="2400"/>
              <a:t>) </a:t>
            </a:r>
            <a:r>
              <a:rPr lang="en-US" altLang="zh-CN" sz="2400">
                <a:latin typeface="Symbol" panose="05050102010706020507" pitchFamily="18" charset="2"/>
                <a:sym typeface="Symbol" panose="05050102010706020507" pitchFamily="18" charset="2"/>
              </a:rPr>
              <a:t> a</a:t>
            </a:r>
            <a:r>
              <a:rPr lang="en-US" altLang="zh-CN" sz="2400" baseline="-25000">
                <a:sym typeface="Symbol" panose="05050102010706020507" pitchFamily="18" charset="2"/>
              </a:rPr>
              <a:t>o</a:t>
            </a:r>
          </a:p>
          <a:p>
            <a:pPr eaLnBrk="1" hangingPunct="1">
              <a:buFont typeface="Wingdings" panose="05000000000000000000" pitchFamily="2" charset="2"/>
              <a:buNone/>
            </a:pPr>
            <a:r>
              <a:rPr lang="en-US" altLang="zh-CN" sz="2400">
                <a:sym typeface="Symbol" panose="05050102010706020507" pitchFamily="18" charset="2"/>
              </a:rPr>
              <a:t>deref</a:t>
            </a:r>
            <a:r>
              <a:rPr lang="en-US" altLang="zh-CN" sz="2400" baseline="-25000">
                <a:sym typeface="Symbol" panose="05050102010706020507" pitchFamily="18" charset="2"/>
              </a:rPr>
              <a:t>o</a:t>
            </a:r>
            <a:r>
              <a:rPr lang="en-US" altLang="zh-CN" sz="2400">
                <a:sym typeface="Symbol" panose="05050102010706020507" pitchFamily="18" charset="2"/>
              </a:rPr>
              <a:t>(deref</a:t>
            </a:r>
            <a:r>
              <a:rPr lang="en-US" altLang="zh-CN" sz="2400" baseline="-25000">
                <a:sym typeface="Symbol" panose="05050102010706020507" pitchFamily="18" charset="2"/>
              </a:rPr>
              <a:t>i</a:t>
            </a:r>
            <a:r>
              <a:rPr lang="en-US" altLang="zh-CN" sz="2400">
                <a:sym typeface="Symbol" panose="05050102010706020507" pitchFamily="18" charset="2"/>
              </a:rPr>
              <a:t>(q))	integer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o</a:t>
            </a:r>
            <a:r>
              <a:rPr lang="en-US" altLang="zh-CN" sz="2400">
                <a:sym typeface="Symbol" panose="05050102010706020507" pitchFamily="18" charset="2"/>
              </a:rPr>
              <a:t>=integer</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B7107177-A415-42D4-85FF-9F2B3D26D2DB}"/>
              </a:ext>
            </a:extLst>
          </p:cNvPr>
          <p:cNvSpPr>
            <a:spLocks noGrp="1" noChangeArrowheads="1"/>
          </p:cNvSpPr>
          <p:nvPr>
            <p:ph type="title"/>
          </p:nvPr>
        </p:nvSpPr>
        <p:spPr/>
        <p:txBody>
          <a:bodyPr/>
          <a:lstStyle/>
          <a:p>
            <a:pPr eaLnBrk="1" hangingPunct="1"/>
            <a:r>
              <a:rPr lang="zh-CN" altLang="en-US"/>
              <a:t>例</a:t>
            </a:r>
            <a:r>
              <a:rPr lang="en-US" altLang="zh-CN"/>
              <a:t>6.11</a:t>
            </a:r>
          </a:p>
        </p:txBody>
      </p:sp>
      <p:pic>
        <p:nvPicPr>
          <p:cNvPr id="86019" name="Picture 4" descr="poly2">
            <a:extLst>
              <a:ext uri="{FF2B5EF4-FFF2-40B4-BE49-F238E27FC236}">
                <a16:creationId xmlns:a16="http://schemas.microsoft.com/office/drawing/2014/main" id="{6F74E01F-CD03-4658-895B-C9BB167C5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295400"/>
            <a:ext cx="2720975"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0" name="Picture 6" descr="poly3">
            <a:extLst>
              <a:ext uri="{FF2B5EF4-FFF2-40B4-BE49-F238E27FC236}">
                <a16:creationId xmlns:a16="http://schemas.microsoft.com/office/drawing/2014/main" id="{BE882597-5FCF-416E-BD15-F102B2B61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886200"/>
            <a:ext cx="7748588"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7EDBD27C-C7F2-4FDC-8A6E-7D2F647C2D18}"/>
              </a:ext>
            </a:extLst>
          </p:cNvPr>
          <p:cNvSpPr>
            <a:spLocks noGrp="1" noChangeArrowheads="1"/>
          </p:cNvSpPr>
          <p:nvPr>
            <p:ph type="title"/>
          </p:nvPr>
        </p:nvSpPr>
        <p:spPr/>
        <p:txBody>
          <a:bodyPr/>
          <a:lstStyle/>
          <a:p>
            <a:pPr eaLnBrk="1" hangingPunct="1"/>
            <a:r>
              <a:rPr lang="zh-CN" altLang="en-US"/>
              <a:t>例</a:t>
            </a:r>
            <a:r>
              <a:rPr lang="en-US" altLang="zh-CN"/>
              <a:t>6.11</a:t>
            </a:r>
            <a:r>
              <a:rPr lang="zh-CN" altLang="en-US"/>
              <a:t>（续）</a:t>
            </a:r>
          </a:p>
        </p:txBody>
      </p:sp>
      <p:sp>
        <p:nvSpPr>
          <p:cNvPr id="87043" name="Rectangle 3">
            <a:extLst>
              <a:ext uri="{FF2B5EF4-FFF2-40B4-BE49-F238E27FC236}">
                <a16:creationId xmlns:a16="http://schemas.microsoft.com/office/drawing/2014/main" id="{B3D6C838-CD5A-4BD3-AC86-364FB4C0C3A4}"/>
              </a:ext>
            </a:extLst>
          </p:cNvPr>
          <p:cNvSpPr>
            <a:spLocks noGrp="1" noChangeArrowheads="1"/>
          </p:cNvSpPr>
          <p:nvPr>
            <p:ph type="body" idx="1"/>
          </p:nvPr>
        </p:nvSpPr>
        <p:spPr>
          <a:xfrm>
            <a:off x="1182688" y="1371600"/>
            <a:ext cx="7772400" cy="762000"/>
          </a:xfrm>
        </p:spPr>
        <p:txBody>
          <a:bodyPr/>
          <a:lstStyle/>
          <a:p>
            <a:pPr eaLnBrk="1" hangingPunct="1"/>
            <a:r>
              <a:rPr lang="en-US" altLang="zh-CN"/>
              <a:t>deref</a:t>
            </a:r>
            <a:r>
              <a:rPr lang="en-US" altLang="zh-CN" baseline="-25000"/>
              <a:t>i</a:t>
            </a:r>
            <a:r>
              <a:rPr lang="zh-CN" altLang="en-US"/>
              <a:t>的合一过程</a:t>
            </a:r>
          </a:p>
        </p:txBody>
      </p:sp>
      <p:pic>
        <p:nvPicPr>
          <p:cNvPr id="87044" name="Picture 4" descr="poly4">
            <a:extLst>
              <a:ext uri="{FF2B5EF4-FFF2-40B4-BE49-F238E27FC236}">
                <a16:creationId xmlns:a16="http://schemas.microsoft.com/office/drawing/2014/main" id="{2EA2FD71-BA3E-416F-B6D2-7668536B09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514600"/>
            <a:ext cx="8816975" cy="297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B41E98A2-2963-427D-A42D-384E0244507D}"/>
              </a:ext>
            </a:extLst>
          </p:cNvPr>
          <p:cNvSpPr>
            <a:spLocks noGrp="1" noChangeArrowheads="1"/>
          </p:cNvSpPr>
          <p:nvPr>
            <p:ph type="title"/>
          </p:nvPr>
        </p:nvSpPr>
        <p:spPr/>
        <p:txBody>
          <a:bodyPr/>
          <a:lstStyle/>
          <a:p>
            <a:pPr eaLnBrk="1" hangingPunct="1"/>
            <a:r>
              <a:rPr lang="zh-CN" altLang="en-US"/>
              <a:t>例</a:t>
            </a:r>
            <a:r>
              <a:rPr lang="en-US" altLang="zh-CN"/>
              <a:t>6.12  ML</a:t>
            </a:r>
            <a:r>
              <a:rPr lang="zh-CN" altLang="en-US"/>
              <a:t>语言多态函数检查</a:t>
            </a:r>
          </a:p>
        </p:txBody>
      </p:sp>
      <p:sp>
        <p:nvSpPr>
          <p:cNvPr id="88067" name="Rectangle 3">
            <a:extLst>
              <a:ext uri="{FF2B5EF4-FFF2-40B4-BE49-F238E27FC236}">
                <a16:creationId xmlns:a16="http://schemas.microsoft.com/office/drawing/2014/main" id="{92451B2E-169F-495E-9D29-47E40A493354}"/>
              </a:ext>
            </a:extLst>
          </p:cNvPr>
          <p:cNvSpPr>
            <a:spLocks noGrp="1" noChangeArrowheads="1"/>
          </p:cNvSpPr>
          <p:nvPr>
            <p:ph type="body" idx="1"/>
          </p:nvPr>
        </p:nvSpPr>
        <p:spPr>
          <a:xfrm>
            <a:off x="1182688" y="1371600"/>
            <a:ext cx="7772400" cy="5257800"/>
          </a:xfrm>
        </p:spPr>
        <p:txBody>
          <a:bodyPr/>
          <a:lstStyle/>
          <a:p>
            <a:pPr eaLnBrk="1" hangingPunct="1">
              <a:buFont typeface="Wingdings" panose="05000000000000000000" pitchFamily="2" charset="2"/>
              <a:buNone/>
            </a:pPr>
            <a:r>
              <a:rPr lang="en-US" altLang="zh-CN" sz="2800" b="1"/>
              <a:t>fun</a:t>
            </a:r>
            <a:r>
              <a:rPr lang="en-US" altLang="zh-CN" sz="2800"/>
              <a:t> </a:t>
            </a:r>
            <a:r>
              <a:rPr lang="en-US" altLang="zh-CN" sz="2800" b="1"/>
              <a:t>id</a:t>
            </a:r>
            <a:r>
              <a:rPr lang="en-US" altLang="zh-CN" sz="2800" baseline="-25000"/>
              <a:t>0 </a:t>
            </a:r>
            <a:r>
              <a:rPr lang="en-US" altLang="zh-CN" sz="2800"/>
              <a:t>( </a:t>
            </a:r>
            <a:r>
              <a:rPr lang="en-US" altLang="zh-CN" sz="2800" b="1"/>
              <a:t>id</a:t>
            </a:r>
            <a:r>
              <a:rPr lang="en-US" altLang="zh-CN" sz="2800" baseline="-25000"/>
              <a:t>1</a:t>
            </a:r>
            <a:r>
              <a:rPr lang="en-US" altLang="zh-CN" sz="2800"/>
              <a:t>, …, </a:t>
            </a:r>
            <a:r>
              <a:rPr lang="en-US" altLang="zh-CN" sz="2800" b="1"/>
              <a:t>id</a:t>
            </a:r>
            <a:r>
              <a:rPr lang="en-US" altLang="zh-CN" sz="2800" baseline="-25000"/>
              <a:t>k </a:t>
            </a:r>
            <a:r>
              <a:rPr lang="en-US" altLang="zh-CN" sz="2800"/>
              <a:t>) = E;</a:t>
            </a:r>
          </a:p>
          <a:p>
            <a:pPr eaLnBrk="1" hangingPunct="1"/>
            <a:r>
              <a:rPr lang="en-US" altLang="zh-CN" b="1"/>
              <a:t>id</a:t>
            </a:r>
            <a:r>
              <a:rPr lang="en-US" altLang="zh-CN" baseline="-25000"/>
              <a:t>0</a:t>
            </a:r>
            <a:r>
              <a:rPr lang="zh-CN" altLang="en-US"/>
              <a:t>：函数名， </a:t>
            </a:r>
            <a:r>
              <a:rPr lang="en-US" altLang="zh-CN" b="1"/>
              <a:t>id</a:t>
            </a:r>
            <a:r>
              <a:rPr lang="en-US" altLang="zh-CN" baseline="-25000"/>
              <a:t>1</a:t>
            </a:r>
            <a:r>
              <a:rPr lang="en-US" altLang="zh-CN"/>
              <a:t>, …, </a:t>
            </a:r>
            <a:r>
              <a:rPr lang="en-US" altLang="zh-CN" b="1"/>
              <a:t>id</a:t>
            </a:r>
            <a:r>
              <a:rPr lang="en-US" altLang="zh-CN" baseline="-25000"/>
              <a:t>k</a:t>
            </a:r>
            <a:r>
              <a:rPr lang="zh-CN" altLang="en-US"/>
              <a:t>：参数，</a:t>
            </a:r>
            <a:r>
              <a:rPr lang="en-US" altLang="zh-CN"/>
              <a:t>E</a:t>
            </a:r>
            <a:r>
              <a:rPr lang="zh-CN" altLang="en-US"/>
              <a:t>遵从前面定义的用于多态函数类型检查的文法，其中的标识符只可能是函数名、参数或内置函数</a:t>
            </a:r>
          </a:p>
          <a:p>
            <a:pPr eaLnBrk="1" hangingPunct="1"/>
            <a:r>
              <a:rPr lang="zh-CN" altLang="en-US"/>
              <a:t>方法：例</a:t>
            </a:r>
            <a:r>
              <a:rPr lang="en-US" altLang="zh-CN"/>
              <a:t>6.9</a:t>
            </a:r>
            <a:r>
              <a:rPr lang="zh-CN" altLang="en-US"/>
              <a:t>方法的形式化</a:t>
            </a:r>
          </a:p>
          <a:p>
            <a:pPr lvl="1" eaLnBrk="1" hangingPunct="1"/>
            <a:r>
              <a:rPr lang="zh-CN" altLang="en-US"/>
              <a:t>为函数名和参数创建新类型变量</a:t>
            </a:r>
          </a:p>
          <a:p>
            <a:pPr lvl="1" eaLnBrk="1" hangingPunct="1"/>
            <a:r>
              <a:rPr lang="zh-CN" altLang="en-US"/>
              <a:t>多态函数的类型变量由    约束</a:t>
            </a:r>
          </a:p>
          <a:p>
            <a:pPr lvl="1" eaLnBrk="1" hangingPunct="1"/>
            <a:r>
              <a:rPr lang="zh-CN" altLang="en-US"/>
              <a:t>检查</a:t>
            </a:r>
            <a:r>
              <a:rPr lang="en-US" altLang="zh-CN" b="1"/>
              <a:t>id</a:t>
            </a:r>
            <a:r>
              <a:rPr lang="en-US" altLang="zh-CN" baseline="-25000"/>
              <a:t>0 </a:t>
            </a:r>
            <a:r>
              <a:rPr lang="en-US" altLang="zh-CN"/>
              <a:t>( </a:t>
            </a:r>
            <a:r>
              <a:rPr lang="en-US" altLang="zh-CN" b="1"/>
              <a:t>id</a:t>
            </a:r>
            <a:r>
              <a:rPr lang="en-US" altLang="zh-CN" baseline="-25000"/>
              <a:t>1</a:t>
            </a:r>
            <a:r>
              <a:rPr lang="en-US" altLang="zh-CN"/>
              <a:t>, …, </a:t>
            </a:r>
            <a:r>
              <a:rPr lang="en-US" altLang="zh-CN" b="1"/>
              <a:t>id</a:t>
            </a:r>
            <a:r>
              <a:rPr lang="en-US" altLang="zh-CN" baseline="-25000"/>
              <a:t>k </a:t>
            </a:r>
            <a:r>
              <a:rPr lang="en-US" altLang="zh-CN"/>
              <a:t>)</a:t>
            </a:r>
            <a:r>
              <a:rPr lang="zh-CN" altLang="en-US"/>
              <a:t>和</a:t>
            </a:r>
            <a:r>
              <a:rPr lang="en-US" altLang="zh-CN"/>
              <a:t>E</a:t>
            </a:r>
            <a:r>
              <a:rPr lang="zh-CN" altLang="en-US"/>
              <a:t>类型是否匹配</a:t>
            </a:r>
          </a:p>
          <a:p>
            <a:pPr lvl="1" eaLnBrk="1" hangingPunct="1"/>
            <a:r>
              <a:rPr lang="zh-CN" altLang="en-US"/>
              <a:t>若成功，则推断出函数类型</a:t>
            </a:r>
          </a:p>
        </p:txBody>
      </p:sp>
      <p:graphicFrame>
        <p:nvGraphicFramePr>
          <p:cNvPr id="88068" name="Object 5">
            <a:extLst>
              <a:ext uri="{FF2B5EF4-FFF2-40B4-BE49-F238E27FC236}">
                <a16:creationId xmlns:a16="http://schemas.microsoft.com/office/drawing/2014/main" id="{B369D8D1-76CF-4BF9-B04E-7B116681B2E1}"/>
              </a:ext>
            </a:extLst>
          </p:cNvPr>
          <p:cNvGraphicFramePr>
            <a:graphicFrameLocks noChangeAspect="1"/>
          </p:cNvGraphicFramePr>
          <p:nvPr/>
        </p:nvGraphicFramePr>
        <p:xfrm>
          <a:off x="5562600" y="5105400"/>
          <a:ext cx="354013" cy="388938"/>
        </p:xfrm>
        <a:graphic>
          <a:graphicData uri="http://schemas.openxmlformats.org/presentationml/2006/ole">
            <mc:AlternateContent xmlns:mc="http://schemas.openxmlformats.org/markup-compatibility/2006">
              <mc:Choice xmlns:v="urn:schemas-microsoft-com:vml" Requires="v">
                <p:oleObj spid="_x0000_s88080" name="Equation" r:id="rId3" imgW="152268" imgH="164957" progId="Equation.3">
                  <p:embed/>
                </p:oleObj>
              </mc:Choice>
              <mc:Fallback>
                <p:oleObj name="Equation" r:id="rId3" imgW="152268" imgH="16495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5105400"/>
                        <a:ext cx="3540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0ED28BB4-BF17-48C5-88BE-4078DE732B4A}"/>
              </a:ext>
            </a:extLst>
          </p:cNvPr>
          <p:cNvSpPr>
            <a:spLocks noGrp="1" noChangeArrowheads="1"/>
          </p:cNvSpPr>
          <p:nvPr>
            <p:ph type="title"/>
          </p:nvPr>
        </p:nvSpPr>
        <p:spPr/>
        <p:txBody>
          <a:bodyPr/>
          <a:lstStyle/>
          <a:p>
            <a:pPr eaLnBrk="1" hangingPunct="1"/>
            <a:r>
              <a:rPr lang="zh-CN" altLang="en-US"/>
              <a:t>例</a:t>
            </a:r>
            <a:r>
              <a:rPr lang="en-US" altLang="zh-CN"/>
              <a:t>6.12</a:t>
            </a:r>
            <a:r>
              <a:rPr lang="zh-CN" altLang="en-US"/>
              <a:t>（续）</a:t>
            </a:r>
          </a:p>
        </p:txBody>
      </p:sp>
      <p:sp>
        <p:nvSpPr>
          <p:cNvPr id="89091" name="Rectangle 3">
            <a:extLst>
              <a:ext uri="{FF2B5EF4-FFF2-40B4-BE49-F238E27FC236}">
                <a16:creationId xmlns:a16="http://schemas.microsoft.com/office/drawing/2014/main" id="{B7AD0640-2459-4F39-881B-323090C23FF6}"/>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800"/>
              <a:t>fun length(lptr) =</a:t>
            </a:r>
          </a:p>
          <a:p>
            <a:pPr eaLnBrk="1" hangingPunct="1">
              <a:lnSpc>
                <a:spcPct val="90000"/>
              </a:lnSpc>
              <a:buFont typeface="Wingdings" panose="05000000000000000000" pitchFamily="2" charset="2"/>
              <a:buNone/>
            </a:pPr>
            <a:r>
              <a:rPr lang="en-US" altLang="zh-CN" sz="2800"/>
              <a:t>	if null(lptr) then 0</a:t>
            </a:r>
          </a:p>
          <a:p>
            <a:pPr eaLnBrk="1" hangingPunct="1">
              <a:lnSpc>
                <a:spcPct val="90000"/>
              </a:lnSpc>
              <a:buFont typeface="Wingdings" panose="05000000000000000000" pitchFamily="2" charset="2"/>
              <a:buNone/>
            </a:pPr>
            <a:r>
              <a:rPr lang="en-US" altLang="zh-CN" sz="2800"/>
              <a:t>	else length(tl(lptr)) + 1</a:t>
            </a:r>
            <a:r>
              <a:rPr lang="en-US" altLang="zh-CN"/>
              <a:t>;</a:t>
            </a:r>
          </a:p>
          <a:p>
            <a:pPr eaLnBrk="1" hangingPunct="1"/>
            <a:r>
              <a:rPr lang="zh-CN" altLang="en-US"/>
              <a:t>类型变量：</a:t>
            </a:r>
            <a:r>
              <a:rPr lang="en-US" altLang="zh-CN"/>
              <a:t>length——</a:t>
            </a:r>
            <a:r>
              <a:rPr lang="en-US" altLang="zh-CN">
                <a:latin typeface="Symbol" panose="05050102010706020507" pitchFamily="18" charset="2"/>
              </a:rPr>
              <a:t>b</a:t>
            </a:r>
            <a:r>
              <a:rPr lang="zh-CN" altLang="en-US"/>
              <a:t>，</a:t>
            </a:r>
            <a:r>
              <a:rPr lang="en-US" altLang="zh-CN"/>
              <a:t>lptr——</a:t>
            </a:r>
            <a:r>
              <a:rPr lang="en-US" altLang="zh-CN">
                <a:latin typeface="Symbol" panose="05050102010706020507" pitchFamily="18" charset="2"/>
              </a:rPr>
              <a:t>g</a:t>
            </a:r>
          </a:p>
          <a:p>
            <a:pPr eaLnBrk="1" hangingPunct="1"/>
            <a:r>
              <a:rPr lang="zh-CN" altLang="en-US"/>
              <a:t>为匹配函数体：</a:t>
            </a:r>
            <a:r>
              <a:rPr lang="en-US" altLang="zh-CN">
                <a:latin typeface="Symbol" panose="05050102010706020507" pitchFamily="18" charset="2"/>
              </a:rPr>
              <a:t>b</a:t>
            </a:r>
            <a:r>
              <a:rPr lang="en-US" altLang="zh-CN"/>
              <a:t>=</a:t>
            </a:r>
          </a:p>
          <a:p>
            <a:pPr eaLnBrk="1" hangingPunct="1"/>
            <a:r>
              <a:rPr lang="zh-CN" altLang="en-US"/>
              <a:t>按多态函数类型检查语言重写程序</a:t>
            </a:r>
          </a:p>
          <a:p>
            <a:pPr eaLnBrk="1" hangingPunct="1">
              <a:buFont typeface="Wingdings" panose="05000000000000000000" pitchFamily="2" charset="2"/>
              <a:buNone/>
            </a:pPr>
            <a:r>
              <a:rPr lang="en-US" altLang="zh-CN" sz="2400"/>
              <a:t>length : </a:t>
            </a:r>
            <a:r>
              <a:rPr lang="en-US" altLang="zh-CN" sz="2400">
                <a:latin typeface="Symbol" panose="05050102010706020507" pitchFamily="18" charset="2"/>
              </a:rPr>
              <a:t>b</a:t>
            </a:r>
            <a:r>
              <a:rPr lang="en-US" altLang="zh-CN" sz="2400"/>
              <a:t>;</a:t>
            </a:r>
          </a:p>
          <a:p>
            <a:pPr eaLnBrk="1" hangingPunct="1">
              <a:buFont typeface="Wingdings" panose="05000000000000000000" pitchFamily="2" charset="2"/>
              <a:buNone/>
            </a:pPr>
            <a:r>
              <a:rPr lang="en-US" altLang="zh-CN" sz="2400"/>
              <a:t>lptr : </a:t>
            </a:r>
            <a:r>
              <a:rPr lang="en-US" altLang="zh-CN" sz="2400">
                <a:latin typeface="Symbol" panose="05050102010706020507" pitchFamily="18" charset="2"/>
              </a:rPr>
              <a:t>g</a:t>
            </a:r>
            <a:r>
              <a:rPr lang="en-US" altLang="zh-CN" sz="2400"/>
              <a:t>;</a:t>
            </a:r>
          </a:p>
          <a:p>
            <a:pPr eaLnBrk="1" hangingPunct="1">
              <a:buFont typeface="Wingdings" panose="05000000000000000000" pitchFamily="2" charset="2"/>
              <a:buNone/>
            </a:pPr>
            <a:r>
              <a:rPr lang="en-US" altLang="zh-CN" sz="2400"/>
              <a:t>if : </a:t>
            </a:r>
          </a:p>
        </p:txBody>
      </p:sp>
      <p:graphicFrame>
        <p:nvGraphicFramePr>
          <p:cNvPr id="89092" name="Object 4">
            <a:extLst>
              <a:ext uri="{FF2B5EF4-FFF2-40B4-BE49-F238E27FC236}">
                <a16:creationId xmlns:a16="http://schemas.microsoft.com/office/drawing/2014/main" id="{80EFEB42-2F96-49A5-B6A5-2A7CA7AB517E}"/>
              </a:ext>
            </a:extLst>
          </p:cNvPr>
          <p:cNvGraphicFramePr>
            <a:graphicFrameLocks noChangeAspect="1"/>
          </p:cNvGraphicFramePr>
          <p:nvPr/>
        </p:nvGraphicFramePr>
        <p:xfrm>
          <a:off x="4953000" y="3505200"/>
          <a:ext cx="3128963" cy="479425"/>
        </p:xfrm>
        <a:graphic>
          <a:graphicData uri="http://schemas.openxmlformats.org/presentationml/2006/ole">
            <mc:AlternateContent xmlns:mc="http://schemas.openxmlformats.org/markup-compatibility/2006">
              <mc:Choice xmlns:v="urn:schemas-microsoft-com:vml" Requires="v">
                <p:oleObj spid="_x0000_s89116" name="Equation" r:id="rId3" imgW="1346200" imgH="203200" progId="Equation.3">
                  <p:embed/>
                </p:oleObj>
              </mc:Choice>
              <mc:Fallback>
                <p:oleObj name="Equation" r:id="rId3" imgW="1346200" imgH="203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3505200"/>
                        <a:ext cx="31289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3" name="Object 5">
            <a:extLst>
              <a:ext uri="{FF2B5EF4-FFF2-40B4-BE49-F238E27FC236}">
                <a16:creationId xmlns:a16="http://schemas.microsoft.com/office/drawing/2014/main" id="{14207F1A-A744-4B05-8E82-C470AAE628AE}"/>
              </a:ext>
            </a:extLst>
          </p:cNvPr>
          <p:cNvGraphicFramePr>
            <a:graphicFrameLocks noChangeAspect="1"/>
          </p:cNvGraphicFramePr>
          <p:nvPr/>
        </p:nvGraphicFramePr>
        <p:xfrm>
          <a:off x="1563688" y="5500688"/>
          <a:ext cx="3351212" cy="404812"/>
        </p:xfrm>
        <a:graphic>
          <a:graphicData uri="http://schemas.openxmlformats.org/presentationml/2006/ole">
            <mc:AlternateContent xmlns:mc="http://schemas.openxmlformats.org/markup-compatibility/2006">
              <mc:Choice xmlns:v="urn:schemas-microsoft-com:vml" Requires="v">
                <p:oleObj spid="_x0000_s89117" name="Equation" r:id="rId5" imgW="1600200" imgH="190500" progId="Equation.3">
                  <p:embed/>
                </p:oleObj>
              </mc:Choice>
              <mc:Fallback>
                <p:oleObj name="Equation" r:id="rId5" imgW="1600200" imgH="190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3688" y="5500688"/>
                        <a:ext cx="335121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E217B7DC-F1BF-486C-AFC4-6A9B5488F63A}"/>
              </a:ext>
            </a:extLst>
          </p:cNvPr>
          <p:cNvSpPr>
            <a:spLocks noGrp="1" noChangeArrowheads="1"/>
          </p:cNvSpPr>
          <p:nvPr>
            <p:ph type="title"/>
          </p:nvPr>
        </p:nvSpPr>
        <p:spPr/>
        <p:txBody>
          <a:bodyPr/>
          <a:lstStyle/>
          <a:p>
            <a:pPr eaLnBrk="1" hangingPunct="1"/>
            <a:r>
              <a:rPr lang="zh-CN" altLang="en-US"/>
              <a:t>例</a:t>
            </a:r>
            <a:r>
              <a:rPr lang="en-US" altLang="zh-CN"/>
              <a:t>6.12</a:t>
            </a:r>
            <a:r>
              <a:rPr lang="zh-CN" altLang="en-US"/>
              <a:t>（续）</a:t>
            </a:r>
          </a:p>
        </p:txBody>
      </p:sp>
      <p:sp>
        <p:nvSpPr>
          <p:cNvPr id="90115" name="Rectangle 3">
            <a:extLst>
              <a:ext uri="{FF2B5EF4-FFF2-40B4-BE49-F238E27FC236}">
                <a16:creationId xmlns:a16="http://schemas.microsoft.com/office/drawing/2014/main" id="{633BF12E-033B-4F1A-A7A1-EF3F6CDDE03A}"/>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a:t>null : </a:t>
            </a:r>
          </a:p>
          <a:p>
            <a:pPr eaLnBrk="1" hangingPunct="1">
              <a:buFont typeface="Wingdings" panose="05000000000000000000" pitchFamily="2" charset="2"/>
              <a:buNone/>
            </a:pPr>
            <a:r>
              <a:rPr lang="en-US" altLang="zh-CN" sz="2400"/>
              <a:t>tl : </a:t>
            </a:r>
          </a:p>
          <a:p>
            <a:pPr eaLnBrk="1" hangingPunct="1">
              <a:buFont typeface="Wingdings" panose="05000000000000000000" pitchFamily="2" charset="2"/>
              <a:buNone/>
            </a:pPr>
            <a:r>
              <a:rPr lang="en-US" altLang="zh-CN" sz="2400"/>
              <a:t>0 : </a:t>
            </a:r>
            <a:r>
              <a:rPr lang="en-US" altLang="zh-CN" sz="2400" i="1"/>
              <a:t>integer</a:t>
            </a:r>
            <a:r>
              <a:rPr lang="en-US" altLang="zh-CN" sz="2400"/>
              <a:t>;</a:t>
            </a:r>
          </a:p>
          <a:p>
            <a:pPr eaLnBrk="1" hangingPunct="1">
              <a:buFont typeface="Wingdings" panose="05000000000000000000" pitchFamily="2" charset="2"/>
              <a:buNone/>
            </a:pPr>
            <a:r>
              <a:rPr lang="en-US" altLang="zh-CN" sz="2400"/>
              <a:t>1 : </a:t>
            </a:r>
            <a:r>
              <a:rPr lang="en-US" altLang="zh-CN" sz="2400" i="1"/>
              <a:t>integer</a:t>
            </a:r>
            <a:r>
              <a:rPr lang="en-US" altLang="zh-CN" sz="2400"/>
              <a:t>;</a:t>
            </a:r>
          </a:p>
          <a:p>
            <a:pPr eaLnBrk="1" hangingPunct="1">
              <a:buFont typeface="Wingdings" panose="05000000000000000000" pitchFamily="2" charset="2"/>
              <a:buNone/>
            </a:pPr>
            <a:r>
              <a:rPr lang="en-US" altLang="zh-CN" sz="2400"/>
              <a:t>+ :</a:t>
            </a:r>
          </a:p>
          <a:p>
            <a:pPr eaLnBrk="1" hangingPunct="1">
              <a:buFont typeface="Wingdings" panose="05000000000000000000" pitchFamily="2" charset="2"/>
              <a:buNone/>
            </a:pPr>
            <a:r>
              <a:rPr lang="en-US" altLang="zh-CN" sz="2400"/>
              <a:t>match :</a:t>
            </a:r>
          </a:p>
          <a:p>
            <a:pPr eaLnBrk="1" hangingPunct="1">
              <a:buFont typeface="Wingdings" panose="05000000000000000000" pitchFamily="2" charset="2"/>
              <a:buNone/>
            </a:pPr>
            <a:r>
              <a:rPr lang="en-US" altLang="zh-CN" sz="2400"/>
              <a:t>match (</a:t>
            </a:r>
          </a:p>
          <a:p>
            <a:pPr eaLnBrk="1" hangingPunct="1">
              <a:buFont typeface="Wingdings" panose="05000000000000000000" pitchFamily="2" charset="2"/>
              <a:buNone/>
            </a:pPr>
            <a:r>
              <a:rPr lang="en-US" altLang="zh-CN" sz="2400"/>
              <a:t>	length(lptr),</a:t>
            </a:r>
          </a:p>
          <a:p>
            <a:pPr eaLnBrk="1" hangingPunct="1">
              <a:buFont typeface="Wingdings" panose="05000000000000000000" pitchFamily="2" charset="2"/>
              <a:buNone/>
            </a:pPr>
            <a:r>
              <a:rPr lang="en-US" altLang="zh-CN" sz="2400"/>
              <a:t>	if ( null(lptr), 0, length(tl(lptr)) + 1)</a:t>
            </a:r>
          </a:p>
          <a:p>
            <a:pPr eaLnBrk="1" hangingPunct="1">
              <a:buFont typeface="Wingdings" panose="05000000000000000000" pitchFamily="2" charset="2"/>
              <a:buNone/>
            </a:pPr>
            <a:r>
              <a:rPr lang="en-US" altLang="zh-CN" sz="2400"/>
              <a:t>)  </a:t>
            </a:r>
          </a:p>
        </p:txBody>
      </p:sp>
      <p:graphicFrame>
        <p:nvGraphicFramePr>
          <p:cNvPr id="90116" name="Object 5">
            <a:extLst>
              <a:ext uri="{FF2B5EF4-FFF2-40B4-BE49-F238E27FC236}">
                <a16:creationId xmlns:a16="http://schemas.microsoft.com/office/drawing/2014/main" id="{35530E21-2316-4A60-AF66-1B3F955FC003}"/>
              </a:ext>
            </a:extLst>
          </p:cNvPr>
          <p:cNvGraphicFramePr>
            <a:graphicFrameLocks noChangeAspect="1"/>
          </p:cNvGraphicFramePr>
          <p:nvPr/>
        </p:nvGraphicFramePr>
        <p:xfrm>
          <a:off x="2084388" y="1408113"/>
          <a:ext cx="3217862" cy="458787"/>
        </p:xfrm>
        <a:graphic>
          <a:graphicData uri="http://schemas.openxmlformats.org/presentationml/2006/ole">
            <mc:AlternateContent xmlns:mc="http://schemas.openxmlformats.org/markup-compatibility/2006">
              <mc:Choice xmlns:v="urn:schemas-microsoft-com:vml" Requires="v">
                <p:oleObj spid="_x0000_s90168" name="Equation" r:id="rId3" imgW="1536033" imgH="215806" progId="Equation.3">
                  <p:embed/>
                </p:oleObj>
              </mc:Choice>
              <mc:Fallback>
                <p:oleObj name="Equation" r:id="rId3" imgW="1536033" imgH="215806"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388" y="1408113"/>
                        <a:ext cx="32178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7" name="Object 6">
            <a:extLst>
              <a:ext uri="{FF2B5EF4-FFF2-40B4-BE49-F238E27FC236}">
                <a16:creationId xmlns:a16="http://schemas.microsoft.com/office/drawing/2014/main" id="{536A1D01-3917-411E-8D4C-D881D255AEDB}"/>
              </a:ext>
            </a:extLst>
          </p:cNvPr>
          <p:cNvGraphicFramePr>
            <a:graphicFrameLocks noChangeAspect="1"/>
          </p:cNvGraphicFramePr>
          <p:nvPr/>
        </p:nvGraphicFramePr>
        <p:xfrm>
          <a:off x="1819275" y="1828800"/>
          <a:ext cx="2817813" cy="431800"/>
        </p:xfrm>
        <a:graphic>
          <a:graphicData uri="http://schemas.openxmlformats.org/presentationml/2006/ole">
            <mc:AlternateContent xmlns:mc="http://schemas.openxmlformats.org/markup-compatibility/2006">
              <mc:Choice xmlns:v="urn:schemas-microsoft-com:vml" Requires="v">
                <p:oleObj spid="_x0000_s90169" name="Equation" r:id="rId5" imgW="1346200" imgH="203200" progId="Equation.3">
                  <p:embed/>
                </p:oleObj>
              </mc:Choice>
              <mc:Fallback>
                <p:oleObj name="Equation" r:id="rId5" imgW="1346200" imgH="203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275" y="1828800"/>
                        <a:ext cx="2817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8" name="Object 7">
            <a:extLst>
              <a:ext uri="{FF2B5EF4-FFF2-40B4-BE49-F238E27FC236}">
                <a16:creationId xmlns:a16="http://schemas.microsoft.com/office/drawing/2014/main" id="{9AC88848-6F23-40BA-9416-DF7FDA691353}"/>
              </a:ext>
            </a:extLst>
          </p:cNvPr>
          <p:cNvGraphicFramePr>
            <a:graphicFrameLocks noChangeAspect="1"/>
          </p:cNvGraphicFramePr>
          <p:nvPr/>
        </p:nvGraphicFramePr>
        <p:xfrm>
          <a:off x="1676400" y="3200400"/>
          <a:ext cx="3614738" cy="404813"/>
        </p:xfrm>
        <a:graphic>
          <a:graphicData uri="http://schemas.openxmlformats.org/presentationml/2006/ole">
            <mc:AlternateContent xmlns:mc="http://schemas.openxmlformats.org/markup-compatibility/2006">
              <mc:Choice xmlns:v="urn:schemas-microsoft-com:vml" Requires="v">
                <p:oleObj spid="_x0000_s90170" name="Equation" r:id="rId7" imgW="1727200" imgH="190500" progId="Equation.3">
                  <p:embed/>
                </p:oleObj>
              </mc:Choice>
              <mc:Fallback>
                <p:oleObj name="Equation" r:id="rId7" imgW="1727200" imgH="1905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3200400"/>
                        <a:ext cx="36147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9" name="Object 8">
            <a:extLst>
              <a:ext uri="{FF2B5EF4-FFF2-40B4-BE49-F238E27FC236}">
                <a16:creationId xmlns:a16="http://schemas.microsoft.com/office/drawing/2014/main" id="{E678F711-9B22-4DB3-887D-5712FE5FE485}"/>
              </a:ext>
            </a:extLst>
          </p:cNvPr>
          <p:cNvGraphicFramePr>
            <a:graphicFrameLocks noChangeAspect="1"/>
          </p:cNvGraphicFramePr>
          <p:nvPr/>
        </p:nvGraphicFramePr>
        <p:xfrm>
          <a:off x="2235200" y="3581400"/>
          <a:ext cx="2260600" cy="458788"/>
        </p:xfrm>
        <a:graphic>
          <a:graphicData uri="http://schemas.openxmlformats.org/presentationml/2006/ole">
            <mc:AlternateContent xmlns:mc="http://schemas.openxmlformats.org/markup-compatibility/2006">
              <mc:Choice xmlns:v="urn:schemas-microsoft-com:vml" Requires="v">
                <p:oleObj spid="_x0000_s90171" name="Equation" r:id="rId9" imgW="1079032" imgH="215806" progId="Equation.3">
                  <p:embed/>
                </p:oleObj>
              </mc:Choice>
              <mc:Fallback>
                <p:oleObj name="Equation" r:id="rId9" imgW="1079032" imgH="215806"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35200" y="3581400"/>
                        <a:ext cx="22606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0" name="Text Box 9">
            <a:extLst>
              <a:ext uri="{FF2B5EF4-FFF2-40B4-BE49-F238E27FC236}">
                <a16:creationId xmlns:a16="http://schemas.microsoft.com/office/drawing/2014/main" id="{0606148A-86DF-4C4C-B66D-1188C9ED033A}"/>
              </a:ext>
            </a:extLst>
          </p:cNvPr>
          <p:cNvSpPr txBox="1">
            <a:spLocks noChangeArrowheads="1"/>
          </p:cNvSpPr>
          <p:nvPr/>
        </p:nvSpPr>
        <p:spPr bwMode="ltGray">
          <a:xfrm>
            <a:off x="5181600" y="3733800"/>
            <a:ext cx="2819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a:solidFill>
                  <a:srgbClr val="3333CC"/>
                </a:solidFill>
                <a:latin typeface="Tahoma" panose="020B0604030504040204" pitchFamily="34" charset="0"/>
              </a:rPr>
              <a:t>检查</a:t>
            </a:r>
            <a:r>
              <a:rPr lang="en-US" altLang="zh-CN" sz="2400" u="sng">
                <a:solidFill>
                  <a:srgbClr val="3333CC"/>
                </a:solidFill>
                <a:latin typeface="Tahoma" panose="020B0604030504040204" pitchFamily="34" charset="0"/>
              </a:rPr>
              <a:t>length(lptr)</a:t>
            </a:r>
            <a:r>
              <a:rPr lang="zh-CN" altLang="en-US" sz="2400">
                <a:solidFill>
                  <a:srgbClr val="3333CC"/>
                </a:solidFill>
                <a:latin typeface="Tahoma" panose="020B0604030504040204" pitchFamily="34" charset="0"/>
              </a:rPr>
              <a:t>与</a:t>
            </a:r>
            <a:r>
              <a:rPr lang="zh-CN" altLang="en-US" sz="2400" u="sng">
                <a:solidFill>
                  <a:srgbClr val="3333CC"/>
                </a:solidFill>
                <a:latin typeface="Tahoma" panose="020B0604030504040204" pitchFamily="34" charset="0"/>
              </a:rPr>
              <a:t>函数体</a:t>
            </a:r>
            <a:r>
              <a:rPr lang="zh-CN" altLang="en-US" sz="2400">
                <a:solidFill>
                  <a:srgbClr val="3333CC"/>
                </a:solidFill>
                <a:latin typeface="Tahoma" panose="020B0604030504040204" pitchFamily="34" charset="0"/>
              </a:rPr>
              <a:t>匹配</a:t>
            </a:r>
          </a:p>
        </p:txBody>
      </p:sp>
      <p:sp>
        <p:nvSpPr>
          <p:cNvPr id="90121" name="Freeform 10">
            <a:extLst>
              <a:ext uri="{FF2B5EF4-FFF2-40B4-BE49-F238E27FC236}">
                <a16:creationId xmlns:a16="http://schemas.microsoft.com/office/drawing/2014/main" id="{6EA25BD2-326C-4231-90A4-376C4592E6D0}"/>
              </a:ext>
            </a:extLst>
          </p:cNvPr>
          <p:cNvSpPr>
            <a:spLocks/>
          </p:cNvSpPr>
          <p:nvPr/>
        </p:nvSpPr>
        <p:spPr bwMode="ltGray">
          <a:xfrm>
            <a:off x="1981200" y="3886200"/>
            <a:ext cx="3505200" cy="304800"/>
          </a:xfrm>
          <a:custGeom>
            <a:avLst/>
            <a:gdLst>
              <a:gd name="T0" fmla="*/ 2147483646 w 2208"/>
              <a:gd name="T1" fmla="*/ 0 h 192"/>
              <a:gd name="T2" fmla="*/ 0 w 2208"/>
              <a:gd name="T3" fmla="*/ 2147483646 h 192"/>
              <a:gd name="T4" fmla="*/ 0 60000 65536"/>
              <a:gd name="T5" fmla="*/ 0 60000 65536"/>
              <a:gd name="T6" fmla="*/ 0 w 2208"/>
              <a:gd name="T7" fmla="*/ 0 h 192"/>
              <a:gd name="T8" fmla="*/ 2208 w 2208"/>
              <a:gd name="T9" fmla="*/ 192 h 192"/>
            </a:gdLst>
            <a:ahLst/>
            <a:cxnLst>
              <a:cxn ang="T4">
                <a:pos x="T0" y="T1"/>
              </a:cxn>
              <a:cxn ang="T5">
                <a:pos x="T2" y="T3"/>
              </a:cxn>
            </a:cxnLst>
            <a:rect l="T6" t="T7" r="T8" b="T9"/>
            <a:pathLst>
              <a:path w="2208" h="192">
                <a:moveTo>
                  <a:pt x="2208" y="0"/>
                </a:moveTo>
                <a:cubicBezTo>
                  <a:pt x="2208" y="0"/>
                  <a:pt x="1104" y="96"/>
                  <a:pt x="0" y="192"/>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22" name="Freeform 11">
            <a:extLst>
              <a:ext uri="{FF2B5EF4-FFF2-40B4-BE49-F238E27FC236}">
                <a16:creationId xmlns:a16="http://schemas.microsoft.com/office/drawing/2014/main" id="{2765FE77-6035-4F5F-9D8A-4B294F852B00}"/>
              </a:ext>
            </a:extLst>
          </p:cNvPr>
          <p:cNvSpPr>
            <a:spLocks/>
          </p:cNvSpPr>
          <p:nvPr/>
        </p:nvSpPr>
        <p:spPr bwMode="ltGray">
          <a:xfrm>
            <a:off x="2971800" y="4114800"/>
            <a:ext cx="3276600" cy="533400"/>
          </a:xfrm>
          <a:custGeom>
            <a:avLst/>
            <a:gdLst>
              <a:gd name="T0" fmla="*/ 2147483646 w 2064"/>
              <a:gd name="T1" fmla="*/ 0 h 336"/>
              <a:gd name="T2" fmla="*/ 0 w 2064"/>
              <a:gd name="T3" fmla="*/ 2147483646 h 336"/>
              <a:gd name="T4" fmla="*/ 0 60000 65536"/>
              <a:gd name="T5" fmla="*/ 0 60000 65536"/>
              <a:gd name="T6" fmla="*/ 0 w 2064"/>
              <a:gd name="T7" fmla="*/ 0 h 336"/>
              <a:gd name="T8" fmla="*/ 2064 w 2064"/>
              <a:gd name="T9" fmla="*/ 336 h 336"/>
            </a:gdLst>
            <a:ahLst/>
            <a:cxnLst>
              <a:cxn ang="T4">
                <a:pos x="T0" y="T1"/>
              </a:cxn>
              <a:cxn ang="T5">
                <a:pos x="T2" y="T3"/>
              </a:cxn>
            </a:cxnLst>
            <a:rect l="T6" t="T7" r="T8" b="T9"/>
            <a:pathLst>
              <a:path w="2064" h="336">
                <a:moveTo>
                  <a:pt x="2064" y="0"/>
                </a:moveTo>
                <a:cubicBezTo>
                  <a:pt x="2064" y="0"/>
                  <a:pt x="1032" y="168"/>
                  <a:pt x="0" y="336"/>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23" name="Line 13">
            <a:extLst>
              <a:ext uri="{FF2B5EF4-FFF2-40B4-BE49-F238E27FC236}">
                <a16:creationId xmlns:a16="http://schemas.microsoft.com/office/drawing/2014/main" id="{8D852EB6-D6B8-4CBF-929B-81E9F7CDE4C9}"/>
              </a:ext>
            </a:extLst>
          </p:cNvPr>
          <p:cNvSpPr>
            <a:spLocks noChangeShapeType="1"/>
          </p:cNvSpPr>
          <p:nvPr/>
        </p:nvSpPr>
        <p:spPr bwMode="ltGray">
          <a:xfrm flipH="1">
            <a:off x="3886200" y="4495800"/>
            <a:ext cx="2286000" cy="5334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60A2075-3F1C-4B14-AC98-98AE6F96929A}"/>
              </a:ext>
            </a:extLst>
          </p:cNvPr>
          <p:cNvSpPr>
            <a:spLocks noGrp="1" noChangeArrowheads="1"/>
          </p:cNvSpPr>
          <p:nvPr>
            <p:ph type="title"/>
          </p:nvPr>
        </p:nvSpPr>
        <p:spPr/>
        <p:txBody>
          <a:bodyPr/>
          <a:lstStyle/>
          <a:p>
            <a:pPr eaLnBrk="1" hangingPunct="1"/>
            <a:r>
              <a:rPr lang="zh-CN" altLang="en-US"/>
              <a:t>例</a:t>
            </a:r>
            <a:r>
              <a:rPr lang="en-US" altLang="zh-CN"/>
              <a:t>6.12</a:t>
            </a:r>
            <a:r>
              <a:rPr lang="zh-CN" altLang="en-US"/>
              <a:t>（续）</a:t>
            </a:r>
          </a:p>
        </p:txBody>
      </p:sp>
      <p:sp>
        <p:nvSpPr>
          <p:cNvPr id="91139" name="Rectangle 3">
            <a:extLst>
              <a:ext uri="{FF2B5EF4-FFF2-40B4-BE49-F238E27FC236}">
                <a16:creationId xmlns:a16="http://schemas.microsoft.com/office/drawing/2014/main" id="{2C92613D-B5F6-4BE5-B009-CEF774B50995}"/>
              </a:ext>
            </a:extLst>
          </p:cNvPr>
          <p:cNvSpPr>
            <a:spLocks noGrp="1" noChangeArrowheads="1"/>
          </p:cNvSpPr>
          <p:nvPr>
            <p:ph type="body" idx="1"/>
          </p:nvPr>
        </p:nvSpPr>
        <p:spPr>
          <a:xfrm>
            <a:off x="1066800" y="1371600"/>
            <a:ext cx="2590800" cy="4724400"/>
          </a:xfrm>
        </p:spPr>
        <p:txBody>
          <a:bodyPr/>
          <a:lstStyle/>
          <a:p>
            <a:pPr algn="r" eaLnBrk="1" hangingPunct="1">
              <a:spcBef>
                <a:spcPct val="10000"/>
              </a:spcBef>
              <a:buFont typeface="Wingdings" panose="05000000000000000000" pitchFamily="2" charset="2"/>
              <a:buNone/>
            </a:pPr>
            <a:r>
              <a:rPr lang="zh-CN" altLang="en-US" sz="2400"/>
              <a:t>表达式：</a:t>
            </a:r>
          </a:p>
          <a:p>
            <a:pPr algn="r" eaLnBrk="1" hangingPunct="1">
              <a:spcBef>
                <a:spcPct val="10000"/>
              </a:spcBef>
              <a:buFont typeface="Wingdings" panose="05000000000000000000" pitchFamily="2" charset="2"/>
              <a:buNone/>
            </a:pPr>
            <a:r>
              <a:rPr lang="en-US" altLang="zh-CN" sz="2400"/>
              <a:t>lptr :</a:t>
            </a:r>
          </a:p>
          <a:p>
            <a:pPr algn="r" eaLnBrk="1" hangingPunct="1">
              <a:spcBef>
                <a:spcPct val="10000"/>
              </a:spcBef>
              <a:buFont typeface="Wingdings" panose="05000000000000000000" pitchFamily="2" charset="2"/>
              <a:buNone/>
            </a:pPr>
            <a:r>
              <a:rPr lang="en-US" altLang="zh-CN" sz="2400"/>
              <a:t>length :</a:t>
            </a:r>
          </a:p>
          <a:p>
            <a:pPr algn="r" eaLnBrk="1" hangingPunct="1">
              <a:spcBef>
                <a:spcPct val="10000"/>
              </a:spcBef>
              <a:buFont typeface="Wingdings" panose="05000000000000000000" pitchFamily="2" charset="2"/>
              <a:buNone/>
            </a:pPr>
            <a:r>
              <a:rPr lang="en-US" altLang="zh-CN" sz="2400"/>
              <a:t>length(lptr) :</a:t>
            </a:r>
          </a:p>
          <a:p>
            <a:pPr algn="r" eaLnBrk="1" hangingPunct="1">
              <a:spcBef>
                <a:spcPct val="10000"/>
              </a:spcBef>
              <a:buFont typeface="Wingdings" panose="05000000000000000000" pitchFamily="2" charset="2"/>
              <a:buNone/>
            </a:pPr>
            <a:r>
              <a:rPr lang="en-US" altLang="zh-CN" sz="2400"/>
              <a:t>lptr :</a:t>
            </a:r>
          </a:p>
          <a:p>
            <a:pPr algn="r" eaLnBrk="1" hangingPunct="1">
              <a:spcBef>
                <a:spcPct val="10000"/>
              </a:spcBef>
              <a:buFont typeface="Wingdings" panose="05000000000000000000" pitchFamily="2" charset="2"/>
              <a:buNone/>
            </a:pPr>
            <a:r>
              <a:rPr lang="en-US" altLang="zh-CN" sz="2400"/>
              <a:t>null :</a:t>
            </a:r>
          </a:p>
          <a:p>
            <a:pPr algn="r" eaLnBrk="1" hangingPunct="1">
              <a:spcBef>
                <a:spcPct val="10000"/>
              </a:spcBef>
              <a:buFont typeface="Wingdings" panose="05000000000000000000" pitchFamily="2" charset="2"/>
              <a:buNone/>
            </a:pPr>
            <a:r>
              <a:rPr lang="en-US" altLang="zh-CN" sz="2400"/>
              <a:t>null(lptr) :</a:t>
            </a:r>
          </a:p>
          <a:p>
            <a:pPr algn="r" eaLnBrk="1" hangingPunct="1">
              <a:spcBef>
                <a:spcPct val="10000"/>
              </a:spcBef>
              <a:buFont typeface="Wingdings" panose="05000000000000000000" pitchFamily="2" charset="2"/>
              <a:buNone/>
            </a:pPr>
            <a:r>
              <a:rPr lang="en-US" altLang="zh-CN" sz="2400"/>
              <a:t>0 :</a:t>
            </a:r>
          </a:p>
          <a:p>
            <a:pPr algn="r" eaLnBrk="1" hangingPunct="1">
              <a:spcBef>
                <a:spcPct val="10000"/>
              </a:spcBef>
              <a:buFont typeface="Wingdings" panose="05000000000000000000" pitchFamily="2" charset="2"/>
              <a:buNone/>
            </a:pPr>
            <a:r>
              <a:rPr lang="en-US" altLang="zh-CN" sz="2400"/>
              <a:t>lptr :</a:t>
            </a:r>
          </a:p>
          <a:p>
            <a:pPr algn="r" eaLnBrk="1" hangingPunct="1">
              <a:spcBef>
                <a:spcPct val="10000"/>
              </a:spcBef>
              <a:buFont typeface="Wingdings" panose="05000000000000000000" pitchFamily="2" charset="2"/>
              <a:buNone/>
            </a:pPr>
            <a:r>
              <a:rPr lang="en-US" altLang="zh-CN" sz="2400"/>
              <a:t>tl :</a:t>
            </a:r>
          </a:p>
          <a:p>
            <a:pPr algn="r" eaLnBrk="1" hangingPunct="1">
              <a:spcBef>
                <a:spcPct val="10000"/>
              </a:spcBef>
              <a:buFont typeface="Wingdings" panose="05000000000000000000" pitchFamily="2" charset="2"/>
              <a:buNone/>
            </a:pPr>
            <a:r>
              <a:rPr lang="en-US" altLang="zh-CN" sz="2400"/>
              <a:t>tl(lptr) :</a:t>
            </a:r>
          </a:p>
        </p:txBody>
      </p:sp>
      <p:sp>
        <p:nvSpPr>
          <p:cNvPr id="91140" name="Rectangle 4">
            <a:extLst>
              <a:ext uri="{FF2B5EF4-FFF2-40B4-BE49-F238E27FC236}">
                <a16:creationId xmlns:a16="http://schemas.microsoft.com/office/drawing/2014/main" id="{95B07B4F-05C4-4229-893D-842B8BA7ADB3}"/>
              </a:ext>
            </a:extLst>
          </p:cNvPr>
          <p:cNvSpPr>
            <a:spLocks noChangeArrowheads="1"/>
          </p:cNvSpPr>
          <p:nvPr/>
        </p:nvSpPr>
        <p:spPr bwMode="auto">
          <a:xfrm>
            <a:off x="3886200" y="1371600"/>
            <a:ext cx="2819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类型</a:t>
            </a:r>
          </a:p>
          <a:p>
            <a:pPr eaLnBrk="1" hangingPunct="1">
              <a:spcBef>
                <a:spcPct val="10000"/>
              </a:spcBef>
              <a:buFont typeface="Wingdings" panose="05000000000000000000" pitchFamily="2" charset="2"/>
              <a:buNone/>
            </a:pPr>
            <a:r>
              <a:rPr lang="en-US" altLang="zh-CN" sz="2400">
                <a:latin typeface="Symbol" panose="05050102010706020507" pitchFamily="18" charset="2"/>
              </a:rPr>
              <a:t>g</a:t>
            </a:r>
          </a:p>
          <a:p>
            <a:pPr eaLnBrk="1" hangingPunct="1">
              <a:spcBef>
                <a:spcPct val="10000"/>
              </a:spcBef>
              <a:buFont typeface="Wingdings" panose="05000000000000000000" pitchFamily="2" charset="2"/>
              <a:buNone/>
            </a:pPr>
            <a:r>
              <a:rPr lang="en-US" altLang="zh-CN" sz="2400">
                <a:latin typeface="Symbol" panose="05050102010706020507" pitchFamily="18" charset="2"/>
              </a:rPr>
              <a:t>b</a:t>
            </a:r>
          </a:p>
          <a:p>
            <a:pPr eaLnBrk="1" hangingPunct="1">
              <a:spcBef>
                <a:spcPct val="10000"/>
              </a:spcBef>
              <a:buFont typeface="Wingdings" panose="05000000000000000000" pitchFamily="2" charset="2"/>
              <a:buNone/>
            </a:pPr>
            <a:r>
              <a:rPr lang="en-US" altLang="zh-CN" sz="2400">
                <a:latin typeface="Symbol" panose="05050102010706020507" pitchFamily="18" charset="2"/>
              </a:rPr>
              <a:t>d</a:t>
            </a:r>
          </a:p>
          <a:p>
            <a:pPr eaLnBrk="1" hangingPunct="1">
              <a:spcBef>
                <a:spcPct val="10000"/>
              </a:spcBef>
              <a:buFont typeface="Wingdings" panose="05000000000000000000" pitchFamily="2" charset="2"/>
              <a:buNone/>
            </a:pPr>
            <a:r>
              <a:rPr lang="en-US" altLang="zh-CN" sz="2400">
                <a:latin typeface="Symbol" panose="05050102010706020507" pitchFamily="18" charset="2"/>
              </a:rPr>
              <a:t>g</a:t>
            </a:r>
          </a:p>
          <a:p>
            <a:pPr eaLnBrk="1" hangingPunct="1">
              <a:spcBef>
                <a:spcPct val="10000"/>
              </a:spcBef>
              <a:buFont typeface="Wingdings" panose="05000000000000000000" pitchFamily="2" charset="2"/>
              <a:buNone/>
            </a:pPr>
            <a:r>
              <a:rPr lang="en-US" altLang="zh-CN" sz="2400"/>
              <a:t>list(</a:t>
            </a:r>
            <a:r>
              <a:rPr lang="en-US" altLang="zh-CN" sz="2400">
                <a:latin typeface="Symbol" panose="05050102010706020507" pitchFamily="18" charset="2"/>
              </a:rPr>
              <a:t>a</a:t>
            </a:r>
            <a:r>
              <a:rPr lang="en-US" altLang="zh-CN" sz="2400" baseline="-25000"/>
              <a:t>n</a:t>
            </a:r>
            <a:r>
              <a:rPr lang="en-US" altLang="zh-CN" sz="2400"/>
              <a:t>)</a:t>
            </a:r>
            <a:r>
              <a:rPr lang="en-US" altLang="zh-CN" sz="2400">
                <a:latin typeface="Symbol" panose="05050102010706020507" pitchFamily="18" charset="2"/>
                <a:sym typeface="Symbol" panose="05050102010706020507" pitchFamily="18" charset="2"/>
              </a:rPr>
              <a:t></a:t>
            </a:r>
            <a:r>
              <a:rPr lang="en-US" altLang="zh-CN" sz="2400">
                <a:sym typeface="Symbol" panose="05050102010706020507" pitchFamily="18" charset="2"/>
              </a:rPr>
              <a:t>boolean</a:t>
            </a:r>
          </a:p>
          <a:p>
            <a:pPr eaLnBrk="1" hangingPunct="1">
              <a:spcBef>
                <a:spcPct val="10000"/>
              </a:spcBef>
              <a:buFont typeface="Wingdings" panose="05000000000000000000" pitchFamily="2" charset="2"/>
              <a:buNone/>
            </a:pPr>
            <a:r>
              <a:rPr lang="en-US" altLang="zh-CN" sz="2400">
                <a:sym typeface="Symbol" panose="05050102010706020507" pitchFamily="18" charset="2"/>
              </a:rPr>
              <a:t>boolean</a:t>
            </a: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a:t>
            </a:r>
          </a:p>
          <a:p>
            <a:pPr eaLnBrk="1" hangingPunct="1">
              <a:spcBef>
                <a:spcPct val="10000"/>
              </a:spcBef>
              <a:buFont typeface="Wingdings" panose="05000000000000000000" pitchFamily="2" charset="2"/>
              <a:buNone/>
            </a:pP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p>
        </p:txBody>
      </p:sp>
      <p:sp>
        <p:nvSpPr>
          <p:cNvPr id="91141" name="Rectangle 5">
            <a:extLst>
              <a:ext uri="{FF2B5EF4-FFF2-40B4-BE49-F238E27FC236}">
                <a16:creationId xmlns:a16="http://schemas.microsoft.com/office/drawing/2014/main" id="{81998282-A2D8-4692-8E34-ECC27008F274}"/>
              </a:ext>
            </a:extLst>
          </p:cNvPr>
          <p:cNvSpPr>
            <a:spLocks noChangeArrowheads="1"/>
          </p:cNvSpPr>
          <p:nvPr/>
        </p:nvSpPr>
        <p:spPr bwMode="auto">
          <a:xfrm>
            <a:off x="6705600" y="1371600"/>
            <a:ext cx="2133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替换</a:t>
            </a:r>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b=g</a:t>
            </a:r>
            <a:r>
              <a:rPr lang="en-US" altLang="zh-CN" sz="2400">
                <a:latin typeface="Symbol" panose="05050102010706020507" pitchFamily="18" charset="2"/>
                <a:sym typeface="Symbol" panose="05050102010706020507" pitchFamily="18" charset="2"/>
              </a:rPr>
              <a:t>d</a:t>
            </a:r>
          </a:p>
          <a:p>
            <a:pPr eaLnBrk="1" hangingPunct="1">
              <a:spcBef>
                <a:spcPct val="10000"/>
              </a:spcBef>
              <a:buFont typeface="Wingdings" panose="05000000000000000000" pitchFamily="2" charset="2"/>
              <a:buNone/>
            </a:pP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endParaRPr lang="en-US" altLang="zh-CN" sz="2400">
              <a:latin typeface="Symbol" panose="05050102010706020507" pitchFamily="18" charset="2"/>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g=</a:t>
            </a:r>
            <a:r>
              <a:rPr lang="en-US" altLang="zh-CN" sz="2400">
                <a:sym typeface="Symbol" panose="05050102010706020507" pitchFamily="18" charset="2"/>
              </a:rPr>
              <a:t>list(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r>
              <a:rPr lang="en-US" altLang="zh-CN" sz="2400">
                <a:sym typeface="Symbol" panose="05050102010706020507" pitchFamily="18" charset="2"/>
              </a:rPr>
              <a:t>)</a:t>
            </a: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t</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n</a:t>
            </a:r>
            <a:endParaRPr lang="en-US" altLang="zh-CN" sz="2400">
              <a:latin typeface="Symbol" panose="05050102010706020507" pitchFamily="18" charset="2"/>
              <a:sym typeface="Symbol" panose="05050102010706020507" pitchFamily="18" charset="2"/>
            </a:endParaRPr>
          </a:p>
        </p:txBody>
      </p:sp>
      <p:sp>
        <p:nvSpPr>
          <p:cNvPr id="91142" name="Text Box 6">
            <a:extLst>
              <a:ext uri="{FF2B5EF4-FFF2-40B4-BE49-F238E27FC236}">
                <a16:creationId xmlns:a16="http://schemas.microsoft.com/office/drawing/2014/main" id="{45437479-DF2C-40B3-8D02-9D0F5A3E546C}"/>
              </a:ext>
            </a:extLst>
          </p:cNvPr>
          <p:cNvSpPr txBox="1">
            <a:spLocks noChangeArrowheads="1"/>
          </p:cNvSpPr>
          <p:nvPr/>
        </p:nvSpPr>
        <p:spPr bwMode="ltGray">
          <a:xfrm>
            <a:off x="0" y="1676400"/>
            <a:ext cx="2724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rPr>
              <a:t>length</a:t>
            </a:r>
            <a:r>
              <a:rPr lang="zh-CN" altLang="en-US" sz="2000" b="1">
                <a:solidFill>
                  <a:srgbClr val="3333CC"/>
                </a:solidFill>
                <a:latin typeface="Tahoma" panose="020B0604030504040204" pitchFamily="34" charset="0"/>
              </a:rPr>
              <a:t>参数为</a:t>
            </a:r>
            <a:r>
              <a:rPr lang="en-US" altLang="zh-CN" sz="2000" b="1">
                <a:solidFill>
                  <a:srgbClr val="3333CC"/>
                </a:solidFill>
                <a:latin typeface="Tahoma" panose="020B0604030504040204" pitchFamily="34" charset="0"/>
              </a:rPr>
              <a:t>lptr</a:t>
            </a:r>
            <a:r>
              <a:rPr lang="zh-CN" altLang="en-US" sz="2000" b="1">
                <a:solidFill>
                  <a:srgbClr val="3333CC"/>
                </a:solidFill>
                <a:latin typeface="Tahoma" panose="020B0604030504040204" pitchFamily="34" charset="0"/>
              </a:rPr>
              <a:t>－</a:t>
            </a:r>
            <a:r>
              <a:rPr lang="en-US" altLang="zh-CN" sz="2000" b="1">
                <a:solidFill>
                  <a:srgbClr val="3333CC"/>
                </a:solidFill>
                <a:latin typeface="Symbol" panose="05050102010706020507" pitchFamily="18" charset="2"/>
              </a:rPr>
              <a:t>g</a:t>
            </a:r>
            <a:br>
              <a:rPr lang="en-US" altLang="zh-CN" sz="2000" b="1">
                <a:solidFill>
                  <a:srgbClr val="3333CC"/>
                </a:solidFill>
                <a:latin typeface="Symbol" panose="05050102010706020507" pitchFamily="18" charset="2"/>
              </a:rPr>
            </a:br>
            <a:r>
              <a:rPr lang="zh-CN" altLang="en-US" sz="2000" b="1">
                <a:solidFill>
                  <a:srgbClr val="3333CC"/>
                </a:solidFill>
                <a:latin typeface="Tahoma" panose="020B0604030504040204" pitchFamily="34" charset="0"/>
              </a:rPr>
              <a:t>返回类型为</a:t>
            </a:r>
            <a:r>
              <a:rPr lang="en-US" altLang="zh-CN" sz="2000" b="1">
                <a:solidFill>
                  <a:srgbClr val="3333CC"/>
                </a:solidFill>
                <a:latin typeface="Symbol" panose="05050102010706020507" pitchFamily="18" charset="2"/>
              </a:rPr>
              <a:t>d</a:t>
            </a:r>
          </a:p>
        </p:txBody>
      </p:sp>
      <p:sp>
        <p:nvSpPr>
          <p:cNvPr id="91143" name="Freeform 7">
            <a:extLst>
              <a:ext uri="{FF2B5EF4-FFF2-40B4-BE49-F238E27FC236}">
                <a16:creationId xmlns:a16="http://schemas.microsoft.com/office/drawing/2014/main" id="{2A412F98-9B4A-4B6B-A1DD-B3857C85E8C3}"/>
              </a:ext>
            </a:extLst>
          </p:cNvPr>
          <p:cNvSpPr>
            <a:spLocks/>
          </p:cNvSpPr>
          <p:nvPr/>
        </p:nvSpPr>
        <p:spPr bwMode="ltGray">
          <a:xfrm>
            <a:off x="2138363" y="2193925"/>
            <a:ext cx="477837" cy="534988"/>
          </a:xfrm>
          <a:custGeom>
            <a:avLst/>
            <a:gdLst>
              <a:gd name="T0" fmla="*/ 0 w 301"/>
              <a:gd name="T1" fmla="*/ 0 h 337"/>
              <a:gd name="T2" fmla="*/ 2147483646 w 301"/>
              <a:gd name="T3" fmla="*/ 2147483646 h 337"/>
              <a:gd name="T4" fmla="*/ 0 60000 65536"/>
              <a:gd name="T5" fmla="*/ 0 60000 65536"/>
              <a:gd name="T6" fmla="*/ 0 w 301"/>
              <a:gd name="T7" fmla="*/ 0 h 337"/>
              <a:gd name="T8" fmla="*/ 301 w 301"/>
              <a:gd name="T9" fmla="*/ 337 h 337"/>
            </a:gdLst>
            <a:ahLst/>
            <a:cxnLst>
              <a:cxn ang="T4">
                <a:pos x="T0" y="T1"/>
              </a:cxn>
              <a:cxn ang="T5">
                <a:pos x="T2" y="T3"/>
              </a:cxn>
            </a:cxnLst>
            <a:rect l="T6" t="T7" r="T8" b="T9"/>
            <a:pathLst>
              <a:path w="301" h="337">
                <a:moveTo>
                  <a:pt x="0" y="0"/>
                </a:moveTo>
                <a:lnTo>
                  <a:pt x="301" y="337"/>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1144" name="Text Box 8">
            <a:extLst>
              <a:ext uri="{FF2B5EF4-FFF2-40B4-BE49-F238E27FC236}">
                <a16:creationId xmlns:a16="http://schemas.microsoft.com/office/drawing/2014/main" id="{27A11576-5CB6-4939-8230-9DC59C2A1485}"/>
              </a:ext>
            </a:extLst>
          </p:cNvPr>
          <p:cNvSpPr txBox="1">
            <a:spLocks noChangeArrowheads="1"/>
          </p:cNvSpPr>
          <p:nvPr/>
        </p:nvSpPr>
        <p:spPr bwMode="ltGray">
          <a:xfrm>
            <a:off x="0" y="3048000"/>
            <a:ext cx="19812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rPr>
              <a:t>null</a:t>
            </a:r>
            <a:r>
              <a:rPr lang="zh-CN" altLang="en-US" sz="2000" b="1">
                <a:solidFill>
                  <a:srgbClr val="3333CC"/>
                </a:solidFill>
                <a:latin typeface="Tahoma" panose="020B0604030504040204" pitchFamily="34" charset="0"/>
              </a:rPr>
              <a:t>参数类型为</a:t>
            </a:r>
            <a:r>
              <a:rPr lang="en-US" altLang="zh-CN" sz="2000" b="1">
                <a:solidFill>
                  <a:srgbClr val="3333CC"/>
                </a:solidFill>
                <a:latin typeface="Tahoma" panose="020B0604030504040204" pitchFamily="34" charset="0"/>
              </a:rPr>
              <a:t>list(</a:t>
            </a:r>
            <a:r>
              <a:rPr lang="en-US" altLang="zh-CN" sz="2000" b="1">
                <a:solidFill>
                  <a:srgbClr val="3333CC"/>
                </a:solidFill>
                <a:latin typeface="Symbol" panose="05050102010706020507" pitchFamily="18" charset="2"/>
              </a:rPr>
              <a:t>a</a:t>
            </a:r>
            <a:r>
              <a:rPr lang="en-US" altLang="zh-CN" sz="2000" b="1" baseline="-25000">
                <a:solidFill>
                  <a:srgbClr val="3333CC"/>
                </a:solidFill>
                <a:latin typeface="Tahoma" panose="020B0604030504040204" pitchFamily="34" charset="0"/>
              </a:rPr>
              <a:t>n</a:t>
            </a:r>
            <a:r>
              <a:rPr lang="en-US" altLang="zh-CN" sz="2000" b="1">
                <a:solidFill>
                  <a:srgbClr val="3333CC"/>
                </a:solidFill>
                <a:latin typeface="Tahoma" panose="020B0604030504040204" pitchFamily="34" charset="0"/>
              </a:rPr>
              <a:t>)</a:t>
            </a:r>
            <a:r>
              <a:rPr lang="en-US" altLang="zh-CN" sz="2000" b="1">
                <a:solidFill>
                  <a:srgbClr val="3333CC"/>
                </a:solidFill>
                <a:latin typeface="Tahoma" panose="020B0604030504040204" pitchFamily="34" charset="0"/>
                <a:sym typeface="Wingdings" panose="05000000000000000000" pitchFamily="2" charset="2"/>
              </a:rPr>
              <a:t></a:t>
            </a:r>
            <a:r>
              <a:rPr lang="en-US" altLang="zh-CN" sz="2000" b="1">
                <a:solidFill>
                  <a:srgbClr val="3333CC"/>
                </a:solidFill>
                <a:latin typeface="Tahoma" panose="020B0604030504040204" pitchFamily="34" charset="0"/>
              </a:rPr>
              <a:t>lptr</a:t>
            </a:r>
            <a:r>
              <a:rPr lang="zh-CN" altLang="en-US" sz="2000" b="1">
                <a:solidFill>
                  <a:srgbClr val="3333CC"/>
                </a:solidFill>
                <a:latin typeface="Tahoma" panose="020B0604030504040204" pitchFamily="34" charset="0"/>
              </a:rPr>
              <a:t>类型</a:t>
            </a:r>
            <a:r>
              <a:rPr lang="en-US" altLang="zh-CN" sz="2000" b="1">
                <a:solidFill>
                  <a:srgbClr val="3333CC"/>
                </a:solidFill>
                <a:latin typeface="Symbol" panose="05050102010706020507" pitchFamily="18" charset="2"/>
                <a:sym typeface="Symbol" panose="05050102010706020507" pitchFamily="18" charset="2"/>
              </a:rPr>
              <a:t>g</a:t>
            </a:r>
            <a:r>
              <a:rPr lang="en-US" altLang="zh-CN" sz="2000" b="1">
                <a:solidFill>
                  <a:srgbClr val="3333CC"/>
                </a:solidFill>
                <a:latin typeface="Tahoma" panose="020B0604030504040204" pitchFamily="34" charset="0"/>
                <a:sym typeface="Symbol" panose="05050102010706020507" pitchFamily="18" charset="2"/>
              </a:rPr>
              <a:t>=list(</a:t>
            </a:r>
            <a:r>
              <a:rPr lang="en-US" altLang="zh-CN" sz="2000" b="1">
                <a:solidFill>
                  <a:srgbClr val="3333CC"/>
                </a:solidFill>
                <a:latin typeface="Symbol" panose="05050102010706020507" pitchFamily="18" charset="2"/>
                <a:sym typeface="Symbol" panose="05050102010706020507" pitchFamily="18" charset="2"/>
              </a:rPr>
              <a:t>a</a:t>
            </a:r>
            <a:r>
              <a:rPr lang="en-US" altLang="zh-CN" sz="2000" b="1" baseline="-25000">
                <a:solidFill>
                  <a:srgbClr val="3333CC"/>
                </a:solidFill>
                <a:latin typeface="Tahoma" panose="020B0604030504040204" pitchFamily="34" charset="0"/>
                <a:sym typeface="Symbol" panose="05050102010706020507" pitchFamily="18" charset="2"/>
              </a:rPr>
              <a:t>n</a:t>
            </a:r>
            <a:r>
              <a:rPr lang="en-US" altLang="zh-CN" sz="2000" b="1">
                <a:solidFill>
                  <a:srgbClr val="3333CC"/>
                </a:solidFill>
                <a:latin typeface="Tahoma" panose="020B0604030504040204" pitchFamily="34" charset="0"/>
                <a:sym typeface="Symbol" panose="05050102010706020507" pitchFamily="18" charset="2"/>
              </a:rPr>
              <a:t>) length</a:t>
            </a:r>
            <a:r>
              <a:rPr lang="zh-CN" altLang="en-US" sz="2000" b="1">
                <a:solidFill>
                  <a:srgbClr val="3333CC"/>
                </a:solidFill>
                <a:latin typeface="Tahoma" panose="020B0604030504040204" pitchFamily="34" charset="0"/>
                <a:sym typeface="Symbol" panose="05050102010706020507" pitchFamily="18" charset="2"/>
              </a:rPr>
              <a:t>类型为</a:t>
            </a:r>
            <a:r>
              <a:rPr lang="en-US" altLang="zh-CN" sz="2000" b="1">
                <a:solidFill>
                  <a:srgbClr val="3333CC"/>
                </a:solidFill>
                <a:latin typeface="Tahoma" panose="020B0604030504040204" pitchFamily="34" charset="0"/>
                <a:sym typeface="Symbol" panose="05050102010706020507" pitchFamily="18" charset="2"/>
              </a:rPr>
              <a:t>list(</a:t>
            </a:r>
            <a:r>
              <a:rPr lang="en-US" altLang="zh-CN" sz="2000" b="1">
                <a:solidFill>
                  <a:srgbClr val="3333CC"/>
                </a:solidFill>
                <a:latin typeface="Symbol" panose="05050102010706020507" pitchFamily="18" charset="2"/>
                <a:sym typeface="Symbol" panose="05050102010706020507" pitchFamily="18" charset="2"/>
              </a:rPr>
              <a:t>a</a:t>
            </a:r>
            <a:r>
              <a:rPr lang="en-US" altLang="zh-CN" sz="2000" b="1" baseline="-25000">
                <a:solidFill>
                  <a:srgbClr val="3333CC"/>
                </a:solidFill>
                <a:latin typeface="Tahoma" panose="020B0604030504040204" pitchFamily="34" charset="0"/>
                <a:sym typeface="Symbol" panose="05050102010706020507" pitchFamily="18" charset="2"/>
              </a:rPr>
              <a:t>n</a:t>
            </a:r>
            <a:r>
              <a:rPr lang="en-US" altLang="zh-CN" sz="2000" b="1">
                <a:solidFill>
                  <a:srgbClr val="3333CC"/>
                </a:solidFill>
                <a:latin typeface="Tahoma" panose="020B0604030504040204" pitchFamily="34" charset="0"/>
                <a:sym typeface="Symbol" panose="05050102010706020507" pitchFamily="18" charset="2"/>
              </a:rPr>
              <a:t>)</a:t>
            </a:r>
            <a:r>
              <a:rPr lang="en-US" altLang="zh-CN" sz="2000" b="1">
                <a:solidFill>
                  <a:srgbClr val="3333CC"/>
                </a:solidFill>
                <a:latin typeface="Symbol" panose="05050102010706020507" pitchFamily="18" charset="2"/>
                <a:sym typeface="Symbol" panose="05050102010706020507" pitchFamily="18" charset="2"/>
              </a:rPr>
              <a:t>d</a:t>
            </a:r>
          </a:p>
        </p:txBody>
      </p:sp>
      <p:sp>
        <p:nvSpPr>
          <p:cNvPr id="91145" name="Freeform 9">
            <a:extLst>
              <a:ext uri="{FF2B5EF4-FFF2-40B4-BE49-F238E27FC236}">
                <a16:creationId xmlns:a16="http://schemas.microsoft.com/office/drawing/2014/main" id="{5CFBD7B6-F98C-4216-879C-21293A02A0F0}"/>
              </a:ext>
            </a:extLst>
          </p:cNvPr>
          <p:cNvSpPr>
            <a:spLocks/>
          </p:cNvSpPr>
          <p:nvPr/>
        </p:nvSpPr>
        <p:spPr bwMode="ltGray">
          <a:xfrm>
            <a:off x="1785938" y="3587750"/>
            <a:ext cx="830262" cy="284163"/>
          </a:xfrm>
          <a:custGeom>
            <a:avLst/>
            <a:gdLst>
              <a:gd name="T0" fmla="*/ 0 w 523"/>
              <a:gd name="T1" fmla="*/ 0 h 179"/>
              <a:gd name="T2" fmla="*/ 2147483646 w 523"/>
              <a:gd name="T3" fmla="*/ 2147483646 h 179"/>
              <a:gd name="T4" fmla="*/ 0 60000 65536"/>
              <a:gd name="T5" fmla="*/ 0 60000 65536"/>
              <a:gd name="T6" fmla="*/ 0 w 523"/>
              <a:gd name="T7" fmla="*/ 0 h 179"/>
              <a:gd name="T8" fmla="*/ 523 w 523"/>
              <a:gd name="T9" fmla="*/ 179 h 179"/>
            </a:gdLst>
            <a:ahLst/>
            <a:cxnLst>
              <a:cxn ang="T4">
                <a:pos x="T0" y="T1"/>
              </a:cxn>
              <a:cxn ang="T5">
                <a:pos x="T2" y="T3"/>
              </a:cxn>
            </a:cxnLst>
            <a:rect l="T6" t="T7" r="T8" b="T9"/>
            <a:pathLst>
              <a:path w="523" h="179">
                <a:moveTo>
                  <a:pt x="0" y="0"/>
                </a:moveTo>
                <a:lnTo>
                  <a:pt x="523" y="179"/>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FCD01915-1062-41B9-9366-FB2842FDCB76}"/>
              </a:ext>
            </a:extLst>
          </p:cNvPr>
          <p:cNvSpPr>
            <a:spLocks noGrp="1" noChangeArrowheads="1"/>
          </p:cNvSpPr>
          <p:nvPr>
            <p:ph type="title"/>
          </p:nvPr>
        </p:nvSpPr>
        <p:spPr/>
        <p:txBody>
          <a:bodyPr/>
          <a:lstStyle/>
          <a:p>
            <a:pPr eaLnBrk="1" hangingPunct="1"/>
            <a:r>
              <a:rPr lang="zh-CN" altLang="en-US"/>
              <a:t>例</a:t>
            </a:r>
            <a:r>
              <a:rPr lang="en-US" altLang="zh-CN"/>
              <a:t>6.12</a:t>
            </a:r>
            <a:r>
              <a:rPr lang="zh-CN" altLang="en-US"/>
              <a:t>（续）</a:t>
            </a:r>
          </a:p>
        </p:txBody>
      </p:sp>
      <p:sp>
        <p:nvSpPr>
          <p:cNvPr id="92163" name="Rectangle 3">
            <a:extLst>
              <a:ext uri="{FF2B5EF4-FFF2-40B4-BE49-F238E27FC236}">
                <a16:creationId xmlns:a16="http://schemas.microsoft.com/office/drawing/2014/main" id="{EAA570FE-2508-4FDA-BBDB-7DB918178CB1}"/>
              </a:ext>
            </a:extLst>
          </p:cNvPr>
          <p:cNvSpPr>
            <a:spLocks noGrp="1" noChangeArrowheads="1"/>
          </p:cNvSpPr>
          <p:nvPr>
            <p:ph type="body" idx="1"/>
          </p:nvPr>
        </p:nvSpPr>
        <p:spPr>
          <a:xfrm>
            <a:off x="457200" y="1371600"/>
            <a:ext cx="2590800" cy="4724400"/>
          </a:xfrm>
        </p:spPr>
        <p:txBody>
          <a:bodyPr/>
          <a:lstStyle/>
          <a:p>
            <a:pPr algn="r" eaLnBrk="1" hangingPunct="1">
              <a:spcBef>
                <a:spcPct val="10000"/>
              </a:spcBef>
              <a:buFont typeface="Wingdings" panose="05000000000000000000" pitchFamily="2" charset="2"/>
              <a:buNone/>
            </a:pPr>
            <a:r>
              <a:rPr lang="zh-CN" altLang="en-US" sz="2400"/>
              <a:t>表达式：</a:t>
            </a:r>
          </a:p>
          <a:p>
            <a:pPr algn="r" eaLnBrk="1" hangingPunct="1">
              <a:spcBef>
                <a:spcPct val="10000"/>
              </a:spcBef>
              <a:buFont typeface="Wingdings" panose="05000000000000000000" pitchFamily="2" charset="2"/>
              <a:buNone/>
            </a:pPr>
            <a:r>
              <a:rPr lang="en-US" altLang="zh-CN" sz="2400"/>
              <a:t>length :</a:t>
            </a:r>
          </a:p>
          <a:p>
            <a:pPr algn="r" eaLnBrk="1" hangingPunct="1">
              <a:spcBef>
                <a:spcPct val="10000"/>
              </a:spcBef>
              <a:buFont typeface="Wingdings" panose="05000000000000000000" pitchFamily="2" charset="2"/>
              <a:buNone/>
            </a:pPr>
            <a:r>
              <a:rPr lang="en-US" altLang="zh-CN" sz="2400"/>
              <a:t>length(tl(lptr)) :</a:t>
            </a:r>
          </a:p>
          <a:p>
            <a:pPr algn="r" eaLnBrk="1" hangingPunct="1">
              <a:spcBef>
                <a:spcPct val="10000"/>
              </a:spcBef>
              <a:buFont typeface="Wingdings" panose="05000000000000000000" pitchFamily="2" charset="2"/>
              <a:buNone/>
            </a:pPr>
            <a:r>
              <a:rPr lang="en-US" altLang="zh-CN" sz="2400"/>
              <a:t>1 :</a:t>
            </a:r>
          </a:p>
          <a:p>
            <a:pPr algn="r" eaLnBrk="1" hangingPunct="1">
              <a:spcBef>
                <a:spcPct val="10000"/>
              </a:spcBef>
              <a:buFont typeface="Wingdings" panose="05000000000000000000" pitchFamily="2" charset="2"/>
              <a:buNone/>
            </a:pPr>
            <a:r>
              <a:rPr lang="en-US" altLang="zh-CN" sz="2400"/>
              <a:t>+ :</a:t>
            </a:r>
          </a:p>
          <a:p>
            <a:pPr algn="r" eaLnBrk="1" hangingPunct="1">
              <a:spcBef>
                <a:spcPct val="10000"/>
              </a:spcBef>
              <a:buFont typeface="Wingdings" panose="05000000000000000000" pitchFamily="2" charset="2"/>
              <a:buNone/>
            </a:pPr>
            <a:r>
              <a:rPr lang="en-US" altLang="zh-CN" sz="2400"/>
              <a:t>length(tl(lptr)) + 1:</a:t>
            </a:r>
          </a:p>
          <a:p>
            <a:pPr algn="r" eaLnBrk="1" hangingPunct="1">
              <a:spcBef>
                <a:spcPct val="10000"/>
              </a:spcBef>
              <a:buFont typeface="Wingdings" panose="05000000000000000000" pitchFamily="2" charset="2"/>
              <a:buNone/>
            </a:pPr>
            <a:r>
              <a:rPr lang="en-US" altLang="zh-CN" sz="2400"/>
              <a:t>if :</a:t>
            </a:r>
          </a:p>
          <a:p>
            <a:pPr algn="r" eaLnBrk="1" hangingPunct="1">
              <a:spcBef>
                <a:spcPct val="10000"/>
              </a:spcBef>
              <a:buFont typeface="Wingdings" panose="05000000000000000000" pitchFamily="2" charset="2"/>
              <a:buNone/>
            </a:pPr>
            <a:r>
              <a:rPr lang="en-US" altLang="zh-CN" sz="2400"/>
              <a:t>if (…) :</a:t>
            </a:r>
          </a:p>
          <a:p>
            <a:pPr algn="r" eaLnBrk="1" hangingPunct="1">
              <a:spcBef>
                <a:spcPct val="10000"/>
              </a:spcBef>
              <a:buFont typeface="Wingdings" panose="05000000000000000000" pitchFamily="2" charset="2"/>
              <a:buNone/>
            </a:pPr>
            <a:r>
              <a:rPr lang="en-US" altLang="zh-CN" sz="2400"/>
              <a:t>match :</a:t>
            </a:r>
          </a:p>
          <a:p>
            <a:pPr algn="r" eaLnBrk="1" hangingPunct="1">
              <a:spcBef>
                <a:spcPct val="10000"/>
              </a:spcBef>
              <a:buFont typeface="Wingdings" panose="05000000000000000000" pitchFamily="2" charset="2"/>
              <a:buNone/>
            </a:pPr>
            <a:r>
              <a:rPr lang="en-US" altLang="zh-CN" sz="2400"/>
              <a:t>match(…) :</a:t>
            </a:r>
          </a:p>
        </p:txBody>
      </p:sp>
      <p:sp>
        <p:nvSpPr>
          <p:cNvPr id="92164" name="Rectangle 4">
            <a:extLst>
              <a:ext uri="{FF2B5EF4-FFF2-40B4-BE49-F238E27FC236}">
                <a16:creationId xmlns:a16="http://schemas.microsoft.com/office/drawing/2014/main" id="{F05BCC48-8417-454A-B06E-B8EF219D64C7}"/>
              </a:ext>
            </a:extLst>
          </p:cNvPr>
          <p:cNvSpPr>
            <a:spLocks noChangeArrowheads="1"/>
          </p:cNvSpPr>
          <p:nvPr/>
        </p:nvSpPr>
        <p:spPr bwMode="auto">
          <a:xfrm>
            <a:off x="3048000" y="1371600"/>
            <a:ext cx="365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类型</a:t>
            </a:r>
          </a:p>
          <a:p>
            <a:pPr eaLnBrk="1" hangingPunct="1">
              <a:spcBef>
                <a:spcPct val="10000"/>
              </a:spcBef>
              <a:buFont typeface="Wingdings" panose="05000000000000000000" pitchFamily="2" charset="2"/>
              <a:buNone/>
            </a:pPr>
            <a:r>
              <a:rPr lang="en-US" altLang="zh-CN" sz="2400"/>
              <a:t>list(</a:t>
            </a:r>
            <a:r>
              <a:rPr lang="en-US" altLang="zh-CN" sz="2400">
                <a:latin typeface="Symbol" panose="05050102010706020507" pitchFamily="18" charset="2"/>
              </a:rPr>
              <a:t>a</a:t>
            </a:r>
            <a:r>
              <a:rPr lang="en-US" altLang="zh-CN" sz="2400" baseline="-25000"/>
              <a:t>n</a:t>
            </a:r>
            <a:r>
              <a:rPr lang="en-US" altLang="zh-CN" sz="2400"/>
              <a:t>)</a:t>
            </a:r>
            <a:r>
              <a:rPr lang="en-US" altLang="zh-CN" sz="2400">
                <a:latin typeface="Symbol" panose="05050102010706020507" pitchFamily="18" charset="2"/>
                <a:sym typeface="Symbol" panose="05050102010706020507" pitchFamily="18" charset="2"/>
              </a:rPr>
              <a:t>d</a:t>
            </a: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d</a:t>
            </a: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p>
          <a:p>
            <a:pPr eaLnBrk="1" hangingPunct="1">
              <a:spcBef>
                <a:spcPct val="10000"/>
              </a:spcBef>
              <a:buFont typeface="Wingdings" panose="05000000000000000000" pitchFamily="2" charset="2"/>
              <a:buNone/>
            </a:pPr>
            <a:r>
              <a:rPr lang="en-US" altLang="zh-CN" sz="2400">
                <a:sym typeface="Symbol" panose="05050102010706020507" pitchFamily="18" charset="2"/>
              </a:rPr>
              <a:t>integer×integer </a:t>
            </a:r>
            <a:r>
              <a:rPr lang="en-US" altLang="zh-CN" sz="2400">
                <a:latin typeface="Symbol" panose="05050102010706020507" pitchFamily="18" charset="2"/>
                <a:sym typeface="Symbol" panose="05050102010706020507" pitchFamily="18" charset="2"/>
              </a:rPr>
              <a:t></a:t>
            </a:r>
            <a:r>
              <a:rPr lang="en-US" altLang="zh-CN" sz="2400">
                <a:sym typeface="Symbol" panose="05050102010706020507" pitchFamily="18" charset="2"/>
              </a:rPr>
              <a:t>integer</a:t>
            </a: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p>
          <a:p>
            <a:pPr eaLnBrk="1" hangingPunct="1">
              <a:spcBef>
                <a:spcPct val="10000"/>
              </a:spcBef>
              <a:buFont typeface="Wingdings" panose="05000000000000000000" pitchFamily="2" charset="2"/>
              <a:buNone/>
            </a:pPr>
            <a:r>
              <a:rPr lang="en-US" altLang="zh-CN" sz="2400">
                <a:sym typeface="Symbol" panose="05050102010706020507" pitchFamily="18" charset="2"/>
              </a:rPr>
              <a:t>boolean×</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i</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p>
          <a:p>
            <a:pPr eaLnBrk="1" hangingPunct="1">
              <a:spcBef>
                <a:spcPct val="10000"/>
              </a:spcBef>
              <a:buFont typeface="Wingdings" panose="05000000000000000000" pitchFamily="2" charset="2"/>
              <a:buNone/>
            </a:pP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a:t>
            </a:r>
            <a:r>
              <a:rPr lang="en-US" altLang="zh-CN" sz="2400">
                <a:sym typeface="Symbol" panose="05050102010706020507" pitchFamily="18" charset="2"/>
              </a:rPr>
              <a:t>×</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 </a:t>
            </a:r>
            <a:r>
              <a:rPr lang="en-US" altLang="zh-CN" sz="2400">
                <a:latin typeface="Symbol" panose="05050102010706020507" pitchFamily="18" charset="2"/>
                <a:sym typeface="Symbol" panose="05050102010706020507" pitchFamily="18" charset="2"/>
              </a:rPr>
              <a:t>a</a:t>
            </a:r>
            <a:r>
              <a:rPr lang="en-US" altLang="zh-CN" sz="2400" baseline="-25000">
                <a:sym typeface="Symbol" panose="05050102010706020507" pitchFamily="18" charset="2"/>
              </a:rPr>
              <a:t>m</a:t>
            </a:r>
            <a:endParaRPr lang="en-US" altLang="zh-CN" sz="2400">
              <a:sym typeface="Symbol" panose="05050102010706020507" pitchFamily="18" charset="2"/>
            </a:endParaRPr>
          </a:p>
          <a:p>
            <a:pPr eaLnBrk="1" hangingPunct="1">
              <a:spcBef>
                <a:spcPct val="10000"/>
              </a:spcBef>
              <a:buFont typeface="Wingdings" panose="05000000000000000000" pitchFamily="2" charset="2"/>
              <a:buNone/>
            </a:pPr>
            <a:r>
              <a:rPr lang="en-US" altLang="zh-CN" sz="2400">
                <a:sym typeface="Symbol" panose="05050102010706020507" pitchFamily="18" charset="2"/>
              </a:rPr>
              <a:t>integer</a:t>
            </a:r>
            <a:endParaRPr lang="en-US" altLang="zh-CN" sz="2400" baseline="-25000">
              <a:sym typeface="Symbol" panose="05050102010706020507" pitchFamily="18" charset="2"/>
            </a:endParaRPr>
          </a:p>
        </p:txBody>
      </p:sp>
      <p:sp>
        <p:nvSpPr>
          <p:cNvPr id="92165" name="Rectangle 5">
            <a:extLst>
              <a:ext uri="{FF2B5EF4-FFF2-40B4-BE49-F238E27FC236}">
                <a16:creationId xmlns:a16="http://schemas.microsoft.com/office/drawing/2014/main" id="{5843048B-7E14-4DD8-BC62-1A3BCAAE331C}"/>
              </a:ext>
            </a:extLst>
          </p:cNvPr>
          <p:cNvSpPr>
            <a:spLocks noChangeArrowheads="1"/>
          </p:cNvSpPr>
          <p:nvPr/>
        </p:nvSpPr>
        <p:spPr bwMode="auto">
          <a:xfrm>
            <a:off x="6705600" y="1371600"/>
            <a:ext cx="2133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 typeface="Wingdings" panose="05000000000000000000" pitchFamily="2" charset="2"/>
              <a:buNone/>
            </a:pPr>
            <a:r>
              <a:rPr lang="zh-CN" altLang="en-US" sz="2400"/>
              <a:t>替换</a:t>
            </a:r>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endParaRPr lang="zh-CN" altLang="en-US" sz="2400"/>
          </a:p>
          <a:p>
            <a:pPr eaLnBrk="1" hangingPunct="1">
              <a:spcBef>
                <a:spcPct val="10000"/>
              </a:spcBef>
              <a:buFont typeface="Wingdings" panose="05000000000000000000" pitchFamily="2" charset="2"/>
              <a:buNone/>
            </a:pPr>
            <a:r>
              <a:rPr lang="en-US" altLang="zh-CN" sz="2400">
                <a:latin typeface="Symbol" panose="05050102010706020507" pitchFamily="18" charset="2"/>
              </a:rPr>
              <a:t>d</a:t>
            </a:r>
            <a:r>
              <a:rPr lang="en-US" altLang="zh-CN" sz="2400"/>
              <a:t>=integer</a:t>
            </a:r>
          </a:p>
          <a:p>
            <a:pPr eaLnBrk="1" hangingPunct="1">
              <a:spcBef>
                <a:spcPct val="10000"/>
              </a:spcBef>
              <a:buFont typeface="Wingdings" panose="05000000000000000000" pitchFamily="2" charset="2"/>
              <a:buNone/>
            </a:pPr>
            <a:endParaRPr lang="en-US" altLang="zh-CN" sz="2400"/>
          </a:p>
          <a:p>
            <a:pPr eaLnBrk="1" hangingPunct="1">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i</a:t>
            </a:r>
            <a:r>
              <a:rPr lang="en-US" altLang="zh-CN" sz="2400"/>
              <a:t>=integer</a:t>
            </a:r>
          </a:p>
          <a:p>
            <a:pPr eaLnBrk="1" hangingPunct="1">
              <a:spcBef>
                <a:spcPct val="10000"/>
              </a:spcBef>
              <a:buFont typeface="Wingdings" panose="05000000000000000000" pitchFamily="2" charset="2"/>
              <a:buNone/>
            </a:pPr>
            <a:endParaRPr lang="en-US" altLang="zh-CN" sz="2400"/>
          </a:p>
          <a:p>
            <a:pPr eaLnBrk="1" hangingPunct="1">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m</a:t>
            </a:r>
            <a:r>
              <a:rPr lang="en-US" altLang="zh-CN" sz="2400"/>
              <a:t>=integer</a:t>
            </a:r>
          </a:p>
        </p:txBody>
      </p:sp>
      <p:sp>
        <p:nvSpPr>
          <p:cNvPr id="92166" name="Text Box 6">
            <a:extLst>
              <a:ext uri="{FF2B5EF4-FFF2-40B4-BE49-F238E27FC236}">
                <a16:creationId xmlns:a16="http://schemas.microsoft.com/office/drawing/2014/main" id="{5C3C43B3-5F3E-46C5-83BE-0A344EC192EE}"/>
              </a:ext>
            </a:extLst>
          </p:cNvPr>
          <p:cNvSpPr txBox="1">
            <a:spLocks noChangeArrowheads="1"/>
          </p:cNvSpPr>
          <p:nvPr/>
        </p:nvSpPr>
        <p:spPr bwMode="ltGray">
          <a:xfrm>
            <a:off x="152400" y="5318125"/>
            <a:ext cx="1676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Tahoma" panose="020B0604030504040204" pitchFamily="34" charset="0"/>
                <a:sym typeface="Symbol" panose="05050102010706020507" pitchFamily="18" charset="2"/>
              </a:rPr>
              <a:t>length</a:t>
            </a:r>
            <a:r>
              <a:rPr lang="zh-CN" altLang="en-US" sz="2000" b="1">
                <a:solidFill>
                  <a:srgbClr val="3333CC"/>
                </a:solidFill>
                <a:latin typeface="Tahoma" panose="020B0604030504040204" pitchFamily="34" charset="0"/>
                <a:sym typeface="Symbol" panose="05050102010706020507" pitchFamily="18" charset="2"/>
              </a:rPr>
              <a:t>的返回类型，因此</a:t>
            </a:r>
            <a:r>
              <a:rPr lang="en-US" altLang="zh-CN" sz="2000" b="1">
                <a:solidFill>
                  <a:srgbClr val="3333CC"/>
                </a:solidFill>
                <a:latin typeface="Symbol" panose="05050102010706020507" pitchFamily="18" charset="2"/>
              </a:rPr>
              <a:t>d</a:t>
            </a:r>
            <a:r>
              <a:rPr lang="en-US" altLang="zh-CN" sz="2000" b="1">
                <a:solidFill>
                  <a:srgbClr val="3333CC"/>
                </a:solidFill>
              </a:rPr>
              <a:t>=integer</a:t>
            </a:r>
          </a:p>
        </p:txBody>
      </p:sp>
      <p:sp>
        <p:nvSpPr>
          <p:cNvPr id="92167" name="Freeform 7">
            <a:extLst>
              <a:ext uri="{FF2B5EF4-FFF2-40B4-BE49-F238E27FC236}">
                <a16:creationId xmlns:a16="http://schemas.microsoft.com/office/drawing/2014/main" id="{4B13480B-16FB-4C6A-A667-E2428048F51B}"/>
              </a:ext>
            </a:extLst>
          </p:cNvPr>
          <p:cNvSpPr>
            <a:spLocks/>
          </p:cNvSpPr>
          <p:nvPr/>
        </p:nvSpPr>
        <p:spPr bwMode="ltGray">
          <a:xfrm>
            <a:off x="1168400" y="3798888"/>
            <a:ext cx="336550" cy="1589087"/>
          </a:xfrm>
          <a:custGeom>
            <a:avLst/>
            <a:gdLst>
              <a:gd name="T0" fmla="*/ 0 w 212"/>
              <a:gd name="T1" fmla="*/ 2147483646 h 1001"/>
              <a:gd name="T2" fmla="*/ 2147483646 w 212"/>
              <a:gd name="T3" fmla="*/ 0 h 1001"/>
              <a:gd name="T4" fmla="*/ 0 60000 65536"/>
              <a:gd name="T5" fmla="*/ 0 60000 65536"/>
              <a:gd name="T6" fmla="*/ 0 w 212"/>
              <a:gd name="T7" fmla="*/ 0 h 1001"/>
              <a:gd name="T8" fmla="*/ 212 w 212"/>
              <a:gd name="T9" fmla="*/ 1001 h 1001"/>
            </a:gdLst>
            <a:ahLst/>
            <a:cxnLst>
              <a:cxn ang="T4">
                <a:pos x="T0" y="T1"/>
              </a:cxn>
              <a:cxn ang="T5">
                <a:pos x="T2" y="T3"/>
              </a:cxn>
            </a:cxnLst>
            <a:rect l="T6" t="T7" r="T8" b="T9"/>
            <a:pathLst>
              <a:path w="212" h="1001">
                <a:moveTo>
                  <a:pt x="0" y="1001"/>
                </a:moveTo>
                <a:lnTo>
                  <a:pt x="212" y="0"/>
                </a:lnTo>
              </a:path>
            </a:pathLst>
          </a:custGeom>
          <a:noFill/>
          <a:ln w="254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68" name="Text Box 8">
            <a:extLst>
              <a:ext uri="{FF2B5EF4-FFF2-40B4-BE49-F238E27FC236}">
                <a16:creationId xmlns:a16="http://schemas.microsoft.com/office/drawing/2014/main" id="{BDE08AD2-BF73-43AB-B2EE-00608CBC0956}"/>
              </a:ext>
            </a:extLst>
          </p:cNvPr>
          <p:cNvSpPr txBox="1">
            <a:spLocks noChangeArrowheads="1"/>
          </p:cNvSpPr>
          <p:nvPr/>
        </p:nvSpPr>
        <p:spPr bwMode="ltGray">
          <a:xfrm>
            <a:off x="3505200" y="5486400"/>
            <a:ext cx="1981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rgbClr val="3333CC"/>
                </a:solidFill>
                <a:latin typeface="Symbol" panose="05050102010706020507" pitchFamily="18" charset="2"/>
              </a:rPr>
              <a:t>a</a:t>
            </a:r>
            <a:r>
              <a:rPr lang="en-US" altLang="zh-CN" sz="2000" b="1" baseline="-25000">
                <a:solidFill>
                  <a:srgbClr val="3333CC"/>
                </a:solidFill>
              </a:rPr>
              <a:t>n</a:t>
            </a:r>
            <a:r>
              <a:rPr lang="zh-CN" altLang="en-US" sz="2000" b="1">
                <a:solidFill>
                  <a:srgbClr val="3333CC"/>
                </a:solidFill>
              </a:rPr>
              <a:t>最终未被替代，</a:t>
            </a:r>
            <a:r>
              <a:rPr lang="en-US" altLang="zh-CN" sz="2000" b="1">
                <a:solidFill>
                  <a:srgbClr val="3333CC"/>
                </a:solidFill>
              </a:rPr>
              <a:t>length</a:t>
            </a:r>
            <a:r>
              <a:rPr lang="zh-CN" altLang="en-US" sz="2000" b="1">
                <a:solidFill>
                  <a:srgbClr val="3333CC"/>
                </a:solidFill>
              </a:rPr>
              <a:t>类型为</a:t>
            </a:r>
          </a:p>
        </p:txBody>
      </p:sp>
      <p:graphicFrame>
        <p:nvGraphicFramePr>
          <p:cNvPr id="92169" name="Object 9">
            <a:extLst>
              <a:ext uri="{FF2B5EF4-FFF2-40B4-BE49-F238E27FC236}">
                <a16:creationId xmlns:a16="http://schemas.microsoft.com/office/drawing/2014/main" id="{1910050A-3FDB-4344-A0C3-6203BB9C4B17}"/>
              </a:ext>
            </a:extLst>
          </p:cNvPr>
          <p:cNvGraphicFramePr>
            <a:graphicFrameLocks noChangeAspect="1"/>
          </p:cNvGraphicFramePr>
          <p:nvPr/>
        </p:nvGraphicFramePr>
        <p:xfrm>
          <a:off x="3395663" y="6096000"/>
          <a:ext cx="2670175" cy="417513"/>
        </p:xfrm>
        <a:graphic>
          <a:graphicData uri="http://schemas.openxmlformats.org/presentationml/2006/ole">
            <mc:AlternateContent xmlns:mc="http://schemas.openxmlformats.org/markup-compatibility/2006">
              <mc:Choice xmlns:v="urn:schemas-microsoft-com:vml" Requires="v">
                <p:oleObj spid="_x0000_s92181" name="Equation" r:id="rId3" imgW="1485900" imgH="228600" progId="Equation.3">
                  <p:embed/>
                </p:oleObj>
              </mc:Choice>
              <mc:Fallback>
                <p:oleObj name="Equation" r:id="rId3" imgW="1485900" imgH="2286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5663" y="6096000"/>
                        <a:ext cx="2670175"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6B6D659D-B482-4408-A34E-10C67D9D7A54}"/>
              </a:ext>
            </a:extLst>
          </p:cNvPr>
          <p:cNvSpPr>
            <a:spLocks noGrp="1" noChangeArrowheads="1"/>
          </p:cNvSpPr>
          <p:nvPr>
            <p:ph type="title"/>
          </p:nvPr>
        </p:nvSpPr>
        <p:spPr/>
        <p:txBody>
          <a:bodyPr/>
          <a:lstStyle/>
          <a:p>
            <a:pPr eaLnBrk="1" hangingPunct="1"/>
            <a:r>
              <a:rPr lang="en-US" altLang="zh-CN"/>
              <a:t>6.7  </a:t>
            </a:r>
            <a:r>
              <a:rPr lang="zh-CN" altLang="en-US"/>
              <a:t>合一算法</a:t>
            </a:r>
          </a:p>
        </p:txBody>
      </p:sp>
      <p:sp>
        <p:nvSpPr>
          <p:cNvPr id="93187" name="Rectangle 3">
            <a:extLst>
              <a:ext uri="{FF2B5EF4-FFF2-40B4-BE49-F238E27FC236}">
                <a16:creationId xmlns:a16="http://schemas.microsoft.com/office/drawing/2014/main" id="{D7804275-A4AC-4CC6-923B-AAAD4F67F16B}"/>
              </a:ext>
            </a:extLst>
          </p:cNvPr>
          <p:cNvSpPr>
            <a:spLocks noGrp="1" noChangeArrowheads="1"/>
          </p:cNvSpPr>
          <p:nvPr>
            <p:ph type="body" idx="1"/>
          </p:nvPr>
        </p:nvSpPr>
        <p:spPr/>
        <p:txBody>
          <a:bodyPr/>
          <a:lstStyle/>
          <a:p>
            <a:pPr eaLnBrk="1" hangingPunct="1"/>
            <a:r>
              <a:rPr lang="zh-CN" altLang="en-US"/>
              <a:t>合一：类型表达式</a:t>
            </a:r>
            <a:r>
              <a:rPr lang="en-US" altLang="zh-CN"/>
              <a:t>e</a:t>
            </a:r>
            <a:r>
              <a:rPr lang="zh-CN" altLang="en-US"/>
              <a:t>、</a:t>
            </a:r>
            <a:r>
              <a:rPr lang="en-US" altLang="zh-CN"/>
              <a:t>f</a:t>
            </a:r>
            <a:r>
              <a:rPr lang="zh-CN" altLang="en-US"/>
              <a:t>通过变量代换，是否可达到类型等价</a:t>
            </a:r>
          </a:p>
          <a:p>
            <a:pPr lvl="1" eaLnBrk="1" hangingPunct="1"/>
            <a:r>
              <a:rPr lang="zh-CN" altLang="en-US"/>
              <a:t>特殊情况：等价性检查，无变量</a:t>
            </a:r>
          </a:p>
          <a:p>
            <a:pPr lvl="1" eaLnBrk="1" hangingPunct="1"/>
            <a:r>
              <a:rPr lang="zh-CN" altLang="en-US"/>
              <a:t>本节算法适用类型图有回路情况</a:t>
            </a:r>
          </a:p>
          <a:p>
            <a:pPr lvl="1" eaLnBrk="1" hangingPunct="1"/>
            <a:r>
              <a:rPr lang="zh-CN" altLang="en-US"/>
              <a:t>算法寻找最一般的合一代换</a:t>
            </a:r>
            <a:r>
              <a:rPr lang="en-US" altLang="zh-CN"/>
              <a:t>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293229A5-2545-4F10-A71E-4DBF9E275F4A}"/>
              </a:ext>
            </a:extLst>
          </p:cNvPr>
          <p:cNvSpPr>
            <a:spLocks noGrp="1" noChangeArrowheads="1"/>
          </p:cNvSpPr>
          <p:nvPr>
            <p:ph type="title"/>
          </p:nvPr>
        </p:nvSpPr>
        <p:spPr/>
        <p:txBody>
          <a:bodyPr/>
          <a:lstStyle/>
          <a:p>
            <a:pPr eaLnBrk="1" hangingPunct="1"/>
            <a:r>
              <a:rPr lang="zh-CN" altLang="en-US"/>
              <a:t>例</a:t>
            </a:r>
            <a:r>
              <a:rPr lang="en-US" altLang="zh-CN"/>
              <a:t>6.13</a:t>
            </a:r>
          </a:p>
        </p:txBody>
      </p:sp>
      <p:sp>
        <p:nvSpPr>
          <p:cNvPr id="94211" name="Rectangle 3">
            <a:extLst>
              <a:ext uri="{FF2B5EF4-FFF2-40B4-BE49-F238E27FC236}">
                <a16:creationId xmlns:a16="http://schemas.microsoft.com/office/drawing/2014/main" id="{77D95350-A15A-443C-B0D7-FC4D0078C785}"/>
              </a:ext>
            </a:extLst>
          </p:cNvPr>
          <p:cNvSpPr>
            <a:spLocks noGrp="1" noChangeArrowheads="1"/>
          </p:cNvSpPr>
          <p:nvPr>
            <p:ph type="body" idx="1"/>
          </p:nvPr>
        </p:nvSpPr>
        <p:spPr/>
        <p:txBody>
          <a:bodyPr/>
          <a:lstStyle/>
          <a:p>
            <a:pPr eaLnBrk="1" hangingPunct="1"/>
            <a:r>
              <a:rPr lang="en-US" altLang="zh-CN"/>
              <a:t>e</a:t>
            </a:r>
            <a:r>
              <a:rPr lang="zh-CN" altLang="en-US"/>
              <a:t>、</a:t>
            </a:r>
            <a:r>
              <a:rPr lang="en-US" altLang="zh-CN"/>
              <a:t>f</a:t>
            </a:r>
            <a:r>
              <a:rPr lang="zh-CN" altLang="en-US"/>
              <a:t>：</a:t>
            </a:r>
          </a:p>
          <a:p>
            <a:pPr eaLnBrk="1" hangingPunct="1"/>
            <a:endParaRPr lang="zh-CN" altLang="en-US"/>
          </a:p>
          <a:p>
            <a:pPr eaLnBrk="1" hangingPunct="1"/>
            <a:r>
              <a:rPr lang="zh-CN" altLang="en-US"/>
              <a:t>两个合一代换</a:t>
            </a:r>
            <a:r>
              <a:rPr lang="en-US" altLang="zh-CN"/>
              <a:t>S, S’</a:t>
            </a:r>
            <a:r>
              <a:rPr lang="zh-CN" altLang="en-US"/>
              <a:t>：</a:t>
            </a:r>
          </a:p>
          <a:p>
            <a:pPr eaLnBrk="1" hangingPunct="1">
              <a:lnSpc>
                <a:spcPct val="80000"/>
              </a:lnSpc>
              <a:spcBef>
                <a:spcPct val="10000"/>
              </a:spcBef>
              <a:buFont typeface="Wingdings" panose="05000000000000000000" pitchFamily="2" charset="2"/>
              <a:buNone/>
            </a:pPr>
            <a:r>
              <a:rPr lang="en-US" altLang="zh-CN" sz="2400" u="sng"/>
              <a:t>x		S(x)		S’(x)</a:t>
            </a:r>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1		 </a:t>
            </a: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1</a:t>
            </a:r>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1</a:t>
            </a:r>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3		 </a:t>
            </a:r>
            <a:r>
              <a:rPr lang="en-US" altLang="zh-CN" sz="2400">
                <a:latin typeface="Symbol" panose="05050102010706020507" pitchFamily="18" charset="2"/>
              </a:rPr>
              <a:t>a</a:t>
            </a:r>
            <a:r>
              <a:rPr lang="en-US" altLang="zh-CN" sz="2400" baseline="-25000"/>
              <a:t>1</a:t>
            </a:r>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4		 </a:t>
            </a:r>
            <a:r>
              <a:rPr lang="en-US" altLang="zh-CN" sz="2400">
                <a:latin typeface="Symbol" panose="05050102010706020507" pitchFamily="18" charset="2"/>
              </a:rPr>
              <a:t>a</a:t>
            </a:r>
            <a:r>
              <a:rPr lang="en-US" altLang="zh-CN" sz="2400" baseline="-25000"/>
              <a:t>2		 </a:t>
            </a:r>
            <a:r>
              <a:rPr lang="en-US" altLang="zh-CN" sz="2400">
                <a:latin typeface="Symbol" panose="05050102010706020507" pitchFamily="18" charset="2"/>
              </a:rPr>
              <a:t>a</a:t>
            </a:r>
            <a:r>
              <a:rPr lang="en-US" altLang="zh-CN" sz="2400" baseline="-25000"/>
              <a:t>1</a:t>
            </a:r>
          </a:p>
          <a:p>
            <a:pPr eaLnBrk="1" hangingPunct="1">
              <a:lnSpc>
                <a:spcPct val="80000"/>
              </a:lnSpc>
              <a:spcBef>
                <a:spcPct val="10000"/>
              </a:spcBef>
              <a:buFont typeface="Wingdings" panose="05000000000000000000" pitchFamily="2" charset="2"/>
              <a:buNone/>
            </a:pPr>
            <a:r>
              <a:rPr lang="en-US" altLang="zh-CN" sz="2400">
                <a:latin typeface="Symbol" panose="05050102010706020507" pitchFamily="18" charset="2"/>
              </a:rPr>
              <a:t>a</a:t>
            </a:r>
            <a:r>
              <a:rPr lang="en-US" altLang="zh-CN" sz="2400" baseline="-25000"/>
              <a:t>5		</a:t>
            </a:r>
            <a:r>
              <a:rPr lang="en-US" altLang="zh-CN" sz="2400"/>
              <a:t>list(</a:t>
            </a:r>
            <a:r>
              <a:rPr lang="en-US" altLang="zh-CN" sz="2400">
                <a:latin typeface="Symbol" panose="05050102010706020507" pitchFamily="18" charset="2"/>
              </a:rPr>
              <a:t>a</a:t>
            </a:r>
            <a:r>
              <a:rPr lang="en-US" altLang="zh-CN" sz="2400" baseline="-25000"/>
              <a:t>2</a:t>
            </a:r>
            <a:r>
              <a:rPr lang="en-US" altLang="zh-CN" sz="2400"/>
              <a:t>)		 list(</a:t>
            </a:r>
            <a:r>
              <a:rPr lang="en-US" altLang="zh-CN" sz="2400">
                <a:latin typeface="Symbol" panose="05050102010706020507" pitchFamily="18" charset="2"/>
              </a:rPr>
              <a:t>a</a:t>
            </a:r>
            <a:r>
              <a:rPr lang="en-US" altLang="zh-CN" sz="2400" baseline="-25000"/>
              <a:t>1</a:t>
            </a:r>
            <a:r>
              <a:rPr lang="en-US" altLang="zh-CN" sz="2400"/>
              <a:t>)</a:t>
            </a:r>
          </a:p>
          <a:p>
            <a:pPr eaLnBrk="1" hangingPunct="1"/>
            <a:r>
              <a:rPr lang="zh-CN" altLang="en-US"/>
              <a:t>代换结果：</a:t>
            </a:r>
          </a:p>
        </p:txBody>
      </p:sp>
      <p:graphicFrame>
        <p:nvGraphicFramePr>
          <p:cNvPr id="94212" name="Object 4">
            <a:extLst>
              <a:ext uri="{FF2B5EF4-FFF2-40B4-BE49-F238E27FC236}">
                <a16:creationId xmlns:a16="http://schemas.microsoft.com/office/drawing/2014/main" id="{2D0982D6-77F7-4A09-B14E-E50DD12010A4}"/>
              </a:ext>
            </a:extLst>
          </p:cNvPr>
          <p:cNvGraphicFramePr>
            <a:graphicFrameLocks noChangeAspect="1"/>
          </p:cNvGraphicFramePr>
          <p:nvPr/>
        </p:nvGraphicFramePr>
        <p:xfrm>
          <a:off x="2667000" y="1447800"/>
          <a:ext cx="4724400" cy="1092200"/>
        </p:xfrm>
        <a:graphic>
          <a:graphicData uri="http://schemas.openxmlformats.org/presentationml/2006/ole">
            <mc:AlternateContent xmlns:mc="http://schemas.openxmlformats.org/markup-compatibility/2006">
              <mc:Choice xmlns:v="urn:schemas-microsoft-com:vml" Requires="v">
                <p:oleObj spid="_x0000_s94239" name="Equation" r:id="rId3" imgW="2006600" imgH="457200" progId="Equation.3">
                  <p:embed/>
                </p:oleObj>
              </mc:Choice>
              <mc:Fallback>
                <p:oleObj name="Equation" r:id="rId3" imgW="20066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447800"/>
                        <a:ext cx="47244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3" name="Object 5">
            <a:extLst>
              <a:ext uri="{FF2B5EF4-FFF2-40B4-BE49-F238E27FC236}">
                <a16:creationId xmlns:a16="http://schemas.microsoft.com/office/drawing/2014/main" id="{DAD88E4E-559F-4327-9E4C-E8F7AD48BA5C}"/>
              </a:ext>
            </a:extLst>
          </p:cNvPr>
          <p:cNvGraphicFramePr>
            <a:graphicFrameLocks noChangeAspect="1"/>
          </p:cNvGraphicFramePr>
          <p:nvPr/>
        </p:nvGraphicFramePr>
        <p:xfrm>
          <a:off x="1295400" y="5689600"/>
          <a:ext cx="6937375" cy="1092200"/>
        </p:xfrm>
        <a:graphic>
          <a:graphicData uri="http://schemas.openxmlformats.org/presentationml/2006/ole">
            <mc:AlternateContent xmlns:mc="http://schemas.openxmlformats.org/markup-compatibility/2006">
              <mc:Choice xmlns:v="urn:schemas-microsoft-com:vml" Requires="v">
                <p:oleObj spid="_x0000_s94240" name="Equation" r:id="rId5" imgW="2946400" imgH="457200" progId="Equation.3">
                  <p:embed/>
                </p:oleObj>
              </mc:Choice>
              <mc:Fallback>
                <p:oleObj name="Equation" r:id="rId5" imgW="294640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5689600"/>
                        <a:ext cx="693737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4" name="Text Box 6">
            <a:extLst>
              <a:ext uri="{FF2B5EF4-FFF2-40B4-BE49-F238E27FC236}">
                <a16:creationId xmlns:a16="http://schemas.microsoft.com/office/drawing/2014/main" id="{C2CFC9F5-957B-4377-8C4A-6AF38952B30B}"/>
              </a:ext>
            </a:extLst>
          </p:cNvPr>
          <p:cNvSpPr txBox="1">
            <a:spLocks noChangeArrowheads="1"/>
          </p:cNvSpPr>
          <p:nvPr/>
        </p:nvSpPr>
        <p:spPr bwMode="ltGray">
          <a:xfrm>
            <a:off x="5486400" y="2971800"/>
            <a:ext cx="27432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anose="02010600030101010101"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buSzTx/>
              <a:buFontTx/>
              <a:buNone/>
            </a:pPr>
            <a:r>
              <a:rPr lang="zh-CN" altLang="en-US" sz="2400" b="1">
                <a:solidFill>
                  <a:srgbClr val="3333CC"/>
                </a:solidFill>
              </a:rPr>
              <a:t>最一般的合一代换</a:t>
            </a:r>
          </a:p>
          <a:p>
            <a:pPr algn="ctr" eaLnBrk="1" hangingPunct="1">
              <a:buClrTx/>
              <a:buSzTx/>
              <a:buFontTx/>
              <a:buNone/>
            </a:pPr>
            <a:r>
              <a:rPr lang="en-US" altLang="zh-CN" sz="2400" b="1">
                <a:solidFill>
                  <a:srgbClr val="3333CC"/>
                </a:solidFill>
              </a:rPr>
              <a:t>S’(e)</a:t>
            </a:r>
            <a:r>
              <a:rPr lang="zh-CN" altLang="en-US" sz="2400" b="1">
                <a:solidFill>
                  <a:srgbClr val="3333CC"/>
                </a:solidFill>
              </a:rPr>
              <a:t>是</a:t>
            </a:r>
            <a:r>
              <a:rPr lang="en-US" altLang="zh-CN" sz="2400" b="1">
                <a:solidFill>
                  <a:srgbClr val="3333CC"/>
                </a:solidFill>
              </a:rPr>
              <a:t>S(e)</a:t>
            </a:r>
            <a:r>
              <a:rPr lang="zh-CN" altLang="en-US" sz="2400" b="1">
                <a:solidFill>
                  <a:srgbClr val="3333CC"/>
                </a:solidFill>
              </a:rPr>
              <a:t>的实例，反之不成立</a:t>
            </a:r>
          </a:p>
        </p:txBody>
      </p:sp>
      <p:sp>
        <p:nvSpPr>
          <p:cNvPr id="94215" name="Freeform 7">
            <a:extLst>
              <a:ext uri="{FF2B5EF4-FFF2-40B4-BE49-F238E27FC236}">
                <a16:creationId xmlns:a16="http://schemas.microsoft.com/office/drawing/2014/main" id="{3D72EAFE-807A-4DC9-ACA9-B95A28C4B142}"/>
              </a:ext>
            </a:extLst>
          </p:cNvPr>
          <p:cNvSpPr>
            <a:spLocks/>
          </p:cNvSpPr>
          <p:nvPr/>
        </p:nvSpPr>
        <p:spPr bwMode="ltGray">
          <a:xfrm>
            <a:off x="4267200" y="2451100"/>
            <a:ext cx="3429000" cy="596900"/>
          </a:xfrm>
          <a:custGeom>
            <a:avLst/>
            <a:gdLst>
              <a:gd name="T0" fmla="*/ 2147483646 w 2160"/>
              <a:gd name="T1" fmla="*/ 2147483646 h 376"/>
              <a:gd name="T2" fmla="*/ 2147483646 w 2160"/>
              <a:gd name="T3" fmla="*/ 2147483646 h 376"/>
              <a:gd name="T4" fmla="*/ 0 w 2160"/>
              <a:gd name="T5" fmla="*/ 2147483646 h 376"/>
              <a:gd name="T6" fmla="*/ 0 60000 65536"/>
              <a:gd name="T7" fmla="*/ 0 60000 65536"/>
              <a:gd name="T8" fmla="*/ 0 60000 65536"/>
              <a:gd name="T9" fmla="*/ 0 w 2160"/>
              <a:gd name="T10" fmla="*/ 0 h 376"/>
              <a:gd name="T11" fmla="*/ 2160 w 2160"/>
              <a:gd name="T12" fmla="*/ 376 h 376"/>
            </a:gdLst>
            <a:ahLst/>
            <a:cxnLst>
              <a:cxn ang="T6">
                <a:pos x="T0" y="T1"/>
              </a:cxn>
              <a:cxn ang="T7">
                <a:pos x="T2" y="T3"/>
              </a:cxn>
              <a:cxn ang="T8">
                <a:pos x="T4" y="T5"/>
              </a:cxn>
            </a:cxnLst>
            <a:rect l="T9" t="T10" r="T11" b="T12"/>
            <a:pathLst>
              <a:path w="2160" h="376">
                <a:moveTo>
                  <a:pt x="2160" y="376"/>
                </a:moveTo>
                <a:cubicBezTo>
                  <a:pt x="1932" y="228"/>
                  <a:pt x="1704" y="80"/>
                  <a:pt x="1344" y="40"/>
                </a:cubicBezTo>
                <a:cubicBezTo>
                  <a:pt x="984" y="0"/>
                  <a:pt x="492" y="68"/>
                  <a:pt x="0" y="136"/>
                </a:cubicBezTo>
              </a:path>
            </a:pathLst>
          </a:custGeom>
          <a:noFill/>
          <a:ln w="25400" cap="flat" cmpd="sng">
            <a:solidFill>
              <a:srgbClr val="FF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4216" name="Line 8">
            <a:extLst>
              <a:ext uri="{FF2B5EF4-FFF2-40B4-BE49-F238E27FC236}">
                <a16:creationId xmlns:a16="http://schemas.microsoft.com/office/drawing/2014/main" id="{3C67AACE-B2DE-4915-B4D8-650EA91E456C}"/>
              </a:ext>
            </a:extLst>
          </p:cNvPr>
          <p:cNvSpPr>
            <a:spLocks noChangeShapeType="1"/>
          </p:cNvSpPr>
          <p:nvPr/>
        </p:nvSpPr>
        <p:spPr bwMode="ltGray">
          <a:xfrm flipH="1">
            <a:off x="5257800" y="4038600"/>
            <a:ext cx="2362200" cy="17526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0E30F05B-EA71-4BB5-88EA-3183EAFC3577}"/>
              </a:ext>
            </a:extLst>
          </p:cNvPr>
          <p:cNvSpPr>
            <a:spLocks noGrp="1" noChangeArrowheads="1"/>
          </p:cNvSpPr>
          <p:nvPr>
            <p:ph type="title"/>
          </p:nvPr>
        </p:nvSpPr>
        <p:spPr/>
        <p:txBody>
          <a:bodyPr/>
          <a:lstStyle/>
          <a:p>
            <a:pPr eaLnBrk="1" hangingPunct="1"/>
            <a:r>
              <a:rPr lang="zh-CN" altLang="en-US"/>
              <a:t>算法思想</a:t>
            </a:r>
          </a:p>
        </p:txBody>
      </p:sp>
      <p:sp>
        <p:nvSpPr>
          <p:cNvPr id="95235" name="Rectangle 3">
            <a:extLst>
              <a:ext uri="{FF2B5EF4-FFF2-40B4-BE49-F238E27FC236}">
                <a16:creationId xmlns:a16="http://schemas.microsoft.com/office/drawing/2014/main" id="{19BBFE9F-5E42-4DDF-90E7-24B3B5762ED7}"/>
              </a:ext>
            </a:extLst>
          </p:cNvPr>
          <p:cNvSpPr>
            <a:spLocks noGrp="1" noChangeArrowheads="1"/>
          </p:cNvSpPr>
          <p:nvPr>
            <p:ph type="body" idx="1"/>
          </p:nvPr>
        </p:nvSpPr>
        <p:spPr/>
        <p:txBody>
          <a:bodyPr/>
          <a:lstStyle/>
          <a:p>
            <a:pPr eaLnBrk="1" hangingPunct="1"/>
            <a:r>
              <a:rPr lang="zh-CN" altLang="en-US"/>
              <a:t>用树表示表达式</a:t>
            </a:r>
            <a:r>
              <a:rPr lang="en-US" altLang="zh-CN"/>
              <a:t>——S(e)</a:t>
            </a:r>
            <a:r>
              <a:rPr lang="zh-CN" altLang="en-US"/>
              <a:t>的结点数目可能与</a:t>
            </a:r>
            <a:r>
              <a:rPr lang="en-US" altLang="zh-CN"/>
              <a:t>e</a:t>
            </a:r>
            <a:r>
              <a:rPr lang="zh-CN" altLang="en-US"/>
              <a:t>、</a:t>
            </a:r>
            <a:r>
              <a:rPr lang="en-US" altLang="zh-CN"/>
              <a:t>f</a:t>
            </a:r>
            <a:r>
              <a:rPr lang="zh-CN" altLang="en-US"/>
              <a:t>的结点数目呈指数关系</a:t>
            </a:r>
            <a:r>
              <a:rPr lang="zh-CN" altLang="en-US">
                <a:sym typeface="Wingdings" panose="05000000000000000000" pitchFamily="2" charset="2"/>
              </a:rPr>
              <a:t></a:t>
            </a:r>
            <a:r>
              <a:rPr lang="zh-CN" altLang="en-US"/>
              <a:t>图表示</a:t>
            </a:r>
          </a:p>
          <a:p>
            <a:pPr eaLnBrk="1" hangingPunct="1"/>
            <a:r>
              <a:rPr lang="zh-CN" altLang="en-US"/>
              <a:t>图论方法：在最一般的合一代换下必须等价的结点，进行集合划分</a:t>
            </a:r>
          </a:p>
        </p:txBody>
      </p:sp>
      <p:pic>
        <p:nvPicPr>
          <p:cNvPr id="95236" name="Picture 4" descr="unify">
            <a:extLst>
              <a:ext uri="{FF2B5EF4-FFF2-40B4-BE49-F238E27FC236}">
                <a16:creationId xmlns:a16="http://schemas.microsoft.com/office/drawing/2014/main" id="{A3B8A0F1-59B1-4434-808E-439CB3366F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657600"/>
            <a:ext cx="85502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C5A3D414-E99C-4A06-A575-5904F6A84177}"/>
              </a:ext>
            </a:extLst>
          </p:cNvPr>
          <p:cNvSpPr>
            <a:spLocks noGrp="1" noChangeArrowheads="1"/>
          </p:cNvSpPr>
          <p:nvPr>
            <p:ph type="title"/>
          </p:nvPr>
        </p:nvSpPr>
        <p:spPr/>
        <p:txBody>
          <a:bodyPr/>
          <a:lstStyle/>
          <a:p>
            <a:pPr eaLnBrk="1" hangingPunct="1"/>
            <a:r>
              <a:rPr lang="zh-CN" altLang="en-US"/>
              <a:t>算法</a:t>
            </a:r>
            <a:r>
              <a:rPr lang="en-US" altLang="zh-CN"/>
              <a:t>6.1  </a:t>
            </a:r>
            <a:r>
              <a:rPr lang="zh-CN" altLang="en-US"/>
              <a:t>合一算法</a:t>
            </a:r>
          </a:p>
        </p:txBody>
      </p:sp>
      <p:sp>
        <p:nvSpPr>
          <p:cNvPr id="96259" name="Rectangle 3">
            <a:extLst>
              <a:ext uri="{FF2B5EF4-FFF2-40B4-BE49-F238E27FC236}">
                <a16:creationId xmlns:a16="http://schemas.microsoft.com/office/drawing/2014/main" id="{63C1A198-1582-495C-B31A-8E81B8201F5A}"/>
              </a:ext>
            </a:extLst>
          </p:cNvPr>
          <p:cNvSpPr>
            <a:spLocks noGrp="1" noChangeArrowheads="1"/>
          </p:cNvSpPr>
          <p:nvPr>
            <p:ph type="body" idx="1"/>
          </p:nvPr>
        </p:nvSpPr>
        <p:spPr>
          <a:xfrm>
            <a:off x="1182688" y="1371600"/>
            <a:ext cx="7772400" cy="5486400"/>
          </a:xfrm>
        </p:spPr>
        <p:txBody>
          <a:bodyPr/>
          <a:lstStyle/>
          <a:p>
            <a:pPr marL="0" indent="0" eaLnBrk="1" hangingPunct="1">
              <a:buFont typeface="Wingdings" panose="05000000000000000000" pitchFamily="2" charset="2"/>
              <a:buNone/>
            </a:pPr>
            <a:r>
              <a:rPr lang="zh-CN" altLang="en-US" sz="2800"/>
              <a:t>输入：一个类型图和要进行合一的结点</a:t>
            </a:r>
            <a:r>
              <a:rPr lang="en-US" altLang="zh-CN" sz="2800"/>
              <a:t>m</a:t>
            </a:r>
            <a:r>
              <a:rPr lang="zh-CN" altLang="en-US" sz="2800"/>
              <a:t>、</a:t>
            </a:r>
            <a:r>
              <a:rPr lang="en-US" altLang="zh-CN" sz="2800"/>
              <a:t>n</a:t>
            </a:r>
          </a:p>
          <a:p>
            <a:pPr marL="0" indent="0" eaLnBrk="1" hangingPunct="1">
              <a:buFont typeface="Wingdings" panose="05000000000000000000" pitchFamily="2" charset="2"/>
              <a:buNone/>
            </a:pPr>
            <a:r>
              <a:rPr lang="zh-CN" altLang="en-US" sz="2800"/>
              <a:t>输出：若一致，返回</a:t>
            </a:r>
            <a:r>
              <a:rPr lang="en-US" altLang="zh-CN" sz="2800"/>
              <a:t>true</a:t>
            </a:r>
            <a:r>
              <a:rPr lang="zh-CN" altLang="en-US" sz="2800"/>
              <a:t>；否则，返回</a:t>
            </a:r>
            <a:r>
              <a:rPr lang="en-US" altLang="zh-CN" sz="2800"/>
              <a:t>false</a:t>
            </a:r>
            <a:r>
              <a:rPr lang="zh-CN" altLang="en-US" sz="2800"/>
              <a:t>。本算法的函数可修改为前面给出的多态函数类型检查规则所需的</a:t>
            </a:r>
            <a:r>
              <a:rPr lang="en-US" altLang="zh-CN" sz="2800"/>
              <a:t>unify</a:t>
            </a:r>
            <a:r>
              <a:rPr lang="zh-CN" altLang="en-US" sz="2800"/>
              <a:t>函数</a:t>
            </a:r>
          </a:p>
          <a:p>
            <a:pPr marL="0" indent="0" eaLnBrk="1" hangingPunct="1">
              <a:buFont typeface="Wingdings" panose="05000000000000000000" pitchFamily="2" charset="2"/>
              <a:buNone/>
            </a:pPr>
            <a:r>
              <a:rPr lang="zh-CN" altLang="en-US" sz="2800"/>
              <a:t>方法：</a:t>
            </a:r>
          </a:p>
          <a:p>
            <a:pPr marL="0" indent="0" eaLnBrk="1" hangingPunct="1">
              <a:buFont typeface="Wingdings" panose="05000000000000000000" pitchFamily="2" charset="2"/>
              <a:buNone/>
            </a:pPr>
            <a:endParaRPr lang="zh-CN" altLang="en-US" sz="2800"/>
          </a:p>
          <a:p>
            <a:pPr marL="0" indent="0" eaLnBrk="1" hangingPunct="1">
              <a:buFont typeface="Wingdings" panose="05000000000000000000" pitchFamily="2" charset="2"/>
              <a:buNone/>
            </a:pPr>
            <a:br>
              <a:rPr lang="zh-CN" altLang="en-US" sz="2400">
                <a:solidFill>
                  <a:srgbClr val="3333CC"/>
                </a:solidFill>
              </a:rPr>
            </a:br>
            <a:r>
              <a:rPr lang="zh-CN" altLang="en-US" sz="2400">
                <a:solidFill>
                  <a:srgbClr val="3333CC"/>
                </a:solidFill>
              </a:rPr>
              <a:t>结点用上图所示记录实现</a:t>
            </a:r>
          </a:p>
          <a:p>
            <a:pPr marL="0" indent="0" eaLnBrk="1" hangingPunct="1">
              <a:buFont typeface="Wingdings" panose="05000000000000000000" pitchFamily="2" charset="2"/>
              <a:buNone/>
            </a:pPr>
            <a:r>
              <a:rPr lang="en-US" altLang="zh-CN" sz="2400">
                <a:solidFill>
                  <a:srgbClr val="3333CC"/>
                </a:solidFill>
              </a:rPr>
              <a:t>set</a:t>
            </a:r>
            <a:r>
              <a:rPr lang="zh-CN" altLang="en-US" sz="2400">
                <a:solidFill>
                  <a:srgbClr val="3333CC"/>
                </a:solidFill>
              </a:rPr>
              <a:t>域维护等价结点集合</a:t>
            </a:r>
          </a:p>
          <a:p>
            <a:pPr marL="0" indent="0" eaLnBrk="1" hangingPunct="1">
              <a:buFont typeface="Wingdings" panose="05000000000000000000" pitchFamily="2" charset="2"/>
              <a:buNone/>
            </a:pPr>
            <a:r>
              <a:rPr lang="zh-CN" altLang="en-US" sz="2400">
                <a:solidFill>
                  <a:srgbClr val="3333CC"/>
                </a:solidFill>
              </a:rPr>
              <a:t>每个等价类选出一个代表结点</a:t>
            </a:r>
            <a:r>
              <a:rPr lang="en-US" altLang="zh-CN" sz="2400">
                <a:solidFill>
                  <a:srgbClr val="3333CC"/>
                </a:solidFill>
              </a:rPr>
              <a:t>——set</a:t>
            </a:r>
            <a:r>
              <a:rPr lang="zh-CN" altLang="en-US" sz="2400">
                <a:solidFill>
                  <a:srgbClr val="3333CC"/>
                </a:solidFill>
              </a:rPr>
              <a:t>域为空指针</a:t>
            </a:r>
          </a:p>
          <a:p>
            <a:pPr marL="0" indent="0" eaLnBrk="1" hangingPunct="1">
              <a:buFont typeface="Wingdings" panose="05000000000000000000" pitchFamily="2" charset="2"/>
              <a:buNone/>
            </a:pPr>
            <a:r>
              <a:rPr lang="zh-CN" altLang="en-US" sz="2400">
                <a:solidFill>
                  <a:srgbClr val="3333CC"/>
                </a:solidFill>
              </a:rPr>
              <a:t>等价类内其他结点指向代表结点</a:t>
            </a:r>
          </a:p>
          <a:p>
            <a:pPr marL="0" indent="0" eaLnBrk="1" hangingPunct="1">
              <a:buFont typeface="Wingdings" panose="05000000000000000000" pitchFamily="2" charset="2"/>
              <a:buNone/>
            </a:pPr>
            <a:r>
              <a:rPr lang="zh-CN" altLang="en-US" sz="2400">
                <a:solidFill>
                  <a:srgbClr val="3333CC"/>
                </a:solidFill>
              </a:rPr>
              <a:t>初始，每个结点形成一个等价类</a:t>
            </a:r>
          </a:p>
        </p:txBody>
      </p:sp>
      <p:pic>
        <p:nvPicPr>
          <p:cNvPr id="96260" name="Picture 6" descr="node">
            <a:extLst>
              <a:ext uri="{FF2B5EF4-FFF2-40B4-BE49-F238E27FC236}">
                <a16:creationId xmlns:a16="http://schemas.microsoft.com/office/drawing/2014/main" id="{DE24584F-5D26-401D-9E2C-3759553FFF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225800"/>
            <a:ext cx="5459413"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6FE7FF9-A329-46D7-8DBD-4699DA691C3B}"/>
              </a:ext>
            </a:extLst>
          </p:cNvPr>
          <p:cNvSpPr>
            <a:spLocks noGrp="1" noChangeArrowheads="1"/>
          </p:cNvSpPr>
          <p:nvPr>
            <p:ph type="title"/>
          </p:nvPr>
        </p:nvSpPr>
        <p:spPr/>
        <p:txBody>
          <a:bodyPr/>
          <a:lstStyle/>
          <a:p>
            <a:pPr eaLnBrk="1" hangingPunct="1"/>
            <a:r>
              <a:rPr lang="zh-CN" altLang="en-US"/>
              <a:t>算法</a:t>
            </a:r>
            <a:r>
              <a:rPr lang="en-US" altLang="zh-CN"/>
              <a:t>6.1</a:t>
            </a:r>
            <a:r>
              <a:rPr lang="zh-CN" altLang="en-US"/>
              <a:t>（续）</a:t>
            </a:r>
          </a:p>
        </p:txBody>
      </p:sp>
      <p:sp>
        <p:nvSpPr>
          <p:cNvPr id="97283" name="Rectangle 3">
            <a:extLst>
              <a:ext uri="{FF2B5EF4-FFF2-40B4-BE49-F238E27FC236}">
                <a16:creationId xmlns:a16="http://schemas.microsoft.com/office/drawing/2014/main" id="{94CA0607-D9B2-4A4E-91FC-7595008A50CE}"/>
              </a:ext>
            </a:extLst>
          </p:cNvPr>
          <p:cNvSpPr>
            <a:spLocks noGrp="1" noChangeArrowheads="1"/>
          </p:cNvSpPr>
          <p:nvPr>
            <p:ph type="body" idx="1"/>
          </p:nvPr>
        </p:nvSpPr>
        <p:spPr>
          <a:xfrm>
            <a:off x="1182688" y="1295400"/>
            <a:ext cx="7772400" cy="5562600"/>
          </a:xfrm>
        </p:spPr>
        <p:txBody>
          <a:bodyPr/>
          <a:lstStyle/>
          <a:p>
            <a:pPr marL="381000" indent="-381000" eaLnBrk="1" hangingPunct="1">
              <a:lnSpc>
                <a:spcPct val="90000"/>
              </a:lnSpc>
              <a:spcBef>
                <a:spcPct val="10000"/>
              </a:spcBef>
              <a:buFont typeface="Wingdings" panose="05000000000000000000" pitchFamily="2" charset="2"/>
              <a:buNone/>
            </a:pPr>
            <a:r>
              <a:rPr lang="en-US" altLang="zh-CN" sz="2400"/>
              <a:t>bool</a:t>
            </a:r>
            <a:r>
              <a:rPr lang="en-US" altLang="zh-CN" sz="2400" b="1"/>
              <a:t> </a:t>
            </a:r>
            <a:r>
              <a:rPr lang="en-US" altLang="zh-CN" sz="2400"/>
              <a:t>unify(node m, n)</a:t>
            </a:r>
          </a:p>
          <a:p>
            <a:pPr marL="381000" indent="-381000" eaLnBrk="1" hangingPunct="1">
              <a:lnSpc>
                <a:spcPct val="90000"/>
              </a:lnSpc>
              <a:spcBef>
                <a:spcPct val="10000"/>
              </a:spcBef>
              <a:buFont typeface="Wingdings" panose="05000000000000000000" pitchFamily="2" charset="2"/>
              <a:buNone/>
            </a:pPr>
            <a:r>
              <a:rPr lang="en-US" altLang="zh-CN" sz="2400"/>
              <a:t>{</a:t>
            </a:r>
          </a:p>
          <a:p>
            <a:pPr marL="381000" indent="-381000" eaLnBrk="1" hangingPunct="1">
              <a:lnSpc>
                <a:spcPct val="90000"/>
              </a:lnSpc>
              <a:spcBef>
                <a:spcPct val="10000"/>
              </a:spcBef>
              <a:buFont typeface="Wingdings" panose="05000000000000000000" pitchFamily="2" charset="2"/>
              <a:buNone/>
            </a:pPr>
            <a:r>
              <a:rPr lang="en-US" altLang="zh-CN" sz="2400"/>
              <a:t>	s = find(m);</a:t>
            </a:r>
          </a:p>
          <a:p>
            <a:pPr marL="381000" indent="-381000" eaLnBrk="1" hangingPunct="1">
              <a:lnSpc>
                <a:spcPct val="90000"/>
              </a:lnSpc>
              <a:spcBef>
                <a:spcPct val="10000"/>
              </a:spcBef>
              <a:buFont typeface="Wingdings" panose="05000000000000000000" pitchFamily="2" charset="2"/>
              <a:buNone/>
            </a:pPr>
            <a:r>
              <a:rPr lang="en-US" altLang="zh-CN" sz="2400"/>
              <a:t>	t = find(n);</a:t>
            </a:r>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if </a:t>
            </a:r>
            <a:r>
              <a:rPr lang="en-US" altLang="zh-CN" sz="2400"/>
              <a:t>(s == t) </a:t>
            </a:r>
            <a:r>
              <a:rPr lang="en-US" altLang="zh-CN" sz="2400" b="1"/>
              <a:t>return true</a:t>
            </a:r>
            <a:r>
              <a:rPr lang="en-US" altLang="zh-CN" sz="2400"/>
              <a:t>;</a:t>
            </a:r>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else if </a:t>
            </a:r>
            <a:r>
              <a:rPr lang="en-US" altLang="zh-CN" sz="2400"/>
              <a:t>(s</a:t>
            </a:r>
            <a:r>
              <a:rPr lang="zh-CN" altLang="en-US" sz="2400"/>
              <a:t>和</a:t>
            </a:r>
            <a:r>
              <a:rPr lang="en-US" altLang="zh-CN" sz="2400"/>
              <a:t>t</a:t>
            </a:r>
            <a:r>
              <a:rPr lang="zh-CN" altLang="en-US" sz="2400"/>
              <a:t>为相同基本类型结点</a:t>
            </a:r>
            <a:r>
              <a:rPr lang="en-US" altLang="zh-CN" sz="2400"/>
              <a:t>) </a:t>
            </a:r>
            <a:r>
              <a:rPr lang="en-US" altLang="zh-CN" sz="2400" b="1"/>
              <a:t>return true</a:t>
            </a:r>
            <a:r>
              <a:rPr lang="en-US" altLang="zh-CN" sz="2400"/>
              <a:t>;</a:t>
            </a:r>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else if </a:t>
            </a:r>
            <a:r>
              <a:rPr lang="en-US" altLang="zh-CN" sz="2400"/>
              <a:t>(s</a:t>
            </a:r>
            <a:r>
              <a:rPr lang="zh-CN" altLang="en-US" sz="2400"/>
              <a:t>为操作符结点，孩子结点为</a:t>
            </a:r>
            <a:r>
              <a:rPr lang="en-US" altLang="zh-CN" sz="2400"/>
              <a:t>s</a:t>
            </a:r>
            <a:r>
              <a:rPr lang="en-US" altLang="zh-CN" sz="2400" baseline="-25000"/>
              <a:t>1</a:t>
            </a:r>
            <a:r>
              <a:rPr lang="en-US" altLang="zh-CN" sz="2400"/>
              <a:t>, s</a:t>
            </a:r>
            <a:r>
              <a:rPr lang="en-US" altLang="zh-CN" sz="2400" baseline="-25000"/>
              <a:t>2</a:t>
            </a:r>
            <a:r>
              <a:rPr lang="en-US" altLang="zh-CN" sz="2400"/>
              <a:t> </a:t>
            </a:r>
            <a:r>
              <a:rPr lang="zh-CN" altLang="en-US" sz="2400"/>
              <a:t>且</a:t>
            </a:r>
            <a:br>
              <a:rPr lang="zh-CN" altLang="en-US" sz="2400"/>
            </a:br>
            <a:r>
              <a:rPr lang="zh-CN" altLang="en-US" sz="2400"/>
              <a:t>		</a:t>
            </a:r>
            <a:r>
              <a:rPr lang="en-US" altLang="zh-CN" sz="2400"/>
              <a:t>t</a:t>
            </a:r>
            <a:r>
              <a:rPr lang="zh-CN" altLang="en-US" sz="2400"/>
              <a:t>为操作符结点，孩子结点为</a:t>
            </a:r>
            <a:r>
              <a:rPr lang="en-US" altLang="zh-CN" sz="2400"/>
              <a:t>t</a:t>
            </a:r>
            <a:r>
              <a:rPr lang="en-US" altLang="zh-CN" sz="2400" baseline="-25000"/>
              <a:t>1</a:t>
            </a:r>
            <a:r>
              <a:rPr lang="en-US" altLang="zh-CN" sz="2400"/>
              <a:t>, t</a:t>
            </a:r>
            <a:r>
              <a:rPr lang="en-US" altLang="zh-CN" sz="2400" baseline="-25000"/>
              <a:t>2</a:t>
            </a:r>
            <a:r>
              <a:rPr lang="en-US" altLang="zh-CN" sz="2400"/>
              <a:t>) {</a:t>
            </a:r>
          </a:p>
          <a:p>
            <a:pPr marL="381000" indent="-381000" eaLnBrk="1" hangingPunct="1">
              <a:lnSpc>
                <a:spcPct val="90000"/>
              </a:lnSpc>
              <a:spcBef>
                <a:spcPct val="10000"/>
              </a:spcBef>
              <a:buFont typeface="Wingdings" panose="05000000000000000000" pitchFamily="2" charset="2"/>
              <a:buNone/>
            </a:pPr>
            <a:r>
              <a:rPr lang="en-US" altLang="zh-CN" sz="2400"/>
              <a:t>		union(s, t);</a:t>
            </a:r>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return</a:t>
            </a:r>
            <a:r>
              <a:rPr lang="en-US" altLang="zh-CN" sz="2400"/>
              <a:t> unify(s</a:t>
            </a:r>
            <a:r>
              <a:rPr lang="en-US" altLang="zh-CN" sz="2400" baseline="-25000"/>
              <a:t>1</a:t>
            </a:r>
            <a:r>
              <a:rPr lang="en-US" altLang="zh-CN" sz="2400"/>
              <a:t>, t</a:t>
            </a:r>
            <a:r>
              <a:rPr lang="en-US" altLang="zh-CN" sz="2400" baseline="-25000"/>
              <a:t>1</a:t>
            </a:r>
            <a:r>
              <a:rPr lang="en-US" altLang="zh-CN" sz="2400"/>
              <a:t>) </a:t>
            </a:r>
            <a:r>
              <a:rPr lang="en-US" altLang="zh-CN" sz="2400" b="1"/>
              <a:t>and</a:t>
            </a:r>
            <a:r>
              <a:rPr lang="en-US" altLang="zh-CN" sz="2400"/>
              <a:t> unify(s</a:t>
            </a:r>
            <a:r>
              <a:rPr lang="en-US" altLang="zh-CN" sz="2400" baseline="-25000"/>
              <a:t>2</a:t>
            </a:r>
            <a:r>
              <a:rPr lang="en-US" altLang="zh-CN" sz="2400"/>
              <a:t>, t</a:t>
            </a:r>
            <a:r>
              <a:rPr lang="en-US" altLang="zh-CN" sz="2400" baseline="-25000"/>
              <a:t>2</a:t>
            </a:r>
            <a:r>
              <a:rPr lang="en-US" altLang="zh-CN" sz="2400"/>
              <a:t>);</a:t>
            </a:r>
          </a:p>
          <a:p>
            <a:pPr marL="381000" indent="-381000" eaLnBrk="1" hangingPunct="1">
              <a:lnSpc>
                <a:spcPct val="90000"/>
              </a:lnSpc>
              <a:spcBef>
                <a:spcPct val="10000"/>
              </a:spcBef>
              <a:buFont typeface="Wingdings" panose="05000000000000000000" pitchFamily="2" charset="2"/>
              <a:buNone/>
            </a:pPr>
            <a:r>
              <a:rPr lang="en-US" altLang="zh-CN" sz="2400"/>
              <a:t>	} </a:t>
            </a:r>
            <a:r>
              <a:rPr lang="en-US" altLang="zh-CN" sz="2400" b="1"/>
              <a:t>else if </a:t>
            </a:r>
            <a:r>
              <a:rPr lang="en-US" altLang="zh-CN" sz="2400"/>
              <a:t>(s</a:t>
            </a:r>
            <a:r>
              <a:rPr lang="zh-CN" altLang="en-US" sz="2400"/>
              <a:t>或</a:t>
            </a:r>
            <a:r>
              <a:rPr lang="en-US" altLang="zh-CN" sz="2400"/>
              <a:t>t</a:t>
            </a:r>
            <a:r>
              <a:rPr lang="zh-CN" altLang="en-US" sz="2400"/>
              <a:t>表示类型变量</a:t>
            </a:r>
            <a:r>
              <a:rPr lang="en-US" altLang="zh-CN" sz="2400"/>
              <a:t>) {</a:t>
            </a:r>
          </a:p>
          <a:p>
            <a:pPr marL="381000" indent="-381000" eaLnBrk="1" hangingPunct="1">
              <a:lnSpc>
                <a:spcPct val="90000"/>
              </a:lnSpc>
              <a:spcBef>
                <a:spcPct val="10000"/>
              </a:spcBef>
              <a:buFont typeface="Wingdings" panose="05000000000000000000" pitchFamily="2" charset="2"/>
              <a:buNone/>
            </a:pPr>
            <a:r>
              <a:rPr lang="en-US" altLang="zh-CN" sz="2400"/>
              <a:t>		union(s, t);</a:t>
            </a:r>
          </a:p>
          <a:p>
            <a:pPr marL="381000" indent="-381000" eaLnBrk="1" hangingPunct="1">
              <a:lnSpc>
                <a:spcPct val="90000"/>
              </a:lnSpc>
              <a:spcBef>
                <a:spcPct val="10000"/>
              </a:spcBef>
              <a:buFont typeface="Wingdings" panose="05000000000000000000" pitchFamily="2" charset="2"/>
              <a:buNone/>
            </a:pPr>
            <a:r>
              <a:rPr lang="en-US" altLang="zh-CN" sz="2400"/>
              <a:t>		</a:t>
            </a:r>
            <a:r>
              <a:rPr lang="en-US" altLang="zh-CN" sz="2400" b="1"/>
              <a:t>return true</a:t>
            </a:r>
            <a:r>
              <a:rPr lang="en-US" altLang="zh-CN" sz="2400"/>
              <a:t>;</a:t>
            </a:r>
          </a:p>
          <a:p>
            <a:pPr marL="381000" indent="-381000" eaLnBrk="1" hangingPunct="1">
              <a:lnSpc>
                <a:spcPct val="90000"/>
              </a:lnSpc>
              <a:spcBef>
                <a:spcPct val="10000"/>
              </a:spcBef>
              <a:buFont typeface="Wingdings" panose="05000000000000000000" pitchFamily="2" charset="2"/>
              <a:buNone/>
            </a:pPr>
            <a:r>
              <a:rPr lang="en-US" altLang="zh-CN" sz="2400"/>
              <a:t>	} </a:t>
            </a:r>
            <a:r>
              <a:rPr lang="en-US" altLang="zh-CN" sz="2400" b="1"/>
              <a:t>else return false</a:t>
            </a:r>
            <a:r>
              <a:rPr lang="en-US" altLang="zh-CN" sz="2400"/>
              <a:t>;</a:t>
            </a:r>
          </a:p>
          <a:p>
            <a:pPr marL="381000" indent="-381000" eaLnBrk="1" hangingPunct="1">
              <a:lnSpc>
                <a:spcPct val="90000"/>
              </a:lnSpc>
              <a:spcBef>
                <a:spcPct val="10000"/>
              </a:spcBef>
              <a:buFont typeface="Wingdings" panose="05000000000000000000" pitchFamily="2" charset="2"/>
              <a:buNone/>
            </a:pPr>
            <a:r>
              <a:rPr lang="en-US" altLang="zh-CN" sz="2400"/>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FE1243D-1991-4945-BC1E-7673F59B2F46}"/>
              </a:ext>
            </a:extLst>
          </p:cNvPr>
          <p:cNvSpPr>
            <a:spLocks noGrp="1" noChangeArrowheads="1"/>
          </p:cNvSpPr>
          <p:nvPr>
            <p:ph type="title"/>
          </p:nvPr>
        </p:nvSpPr>
        <p:spPr/>
        <p:txBody>
          <a:bodyPr/>
          <a:lstStyle/>
          <a:p>
            <a:pPr eaLnBrk="1" hangingPunct="1"/>
            <a:r>
              <a:rPr lang="en-US" altLang="zh-CN"/>
              <a:t>find</a:t>
            </a:r>
            <a:r>
              <a:rPr lang="zh-CN" altLang="en-US"/>
              <a:t>和</a:t>
            </a:r>
            <a:r>
              <a:rPr lang="en-US" altLang="zh-CN"/>
              <a:t>union</a:t>
            </a:r>
            <a:r>
              <a:rPr lang="zh-CN" altLang="en-US"/>
              <a:t>操作</a:t>
            </a:r>
          </a:p>
        </p:txBody>
      </p:sp>
      <p:sp>
        <p:nvSpPr>
          <p:cNvPr id="98307" name="Rectangle 3">
            <a:extLst>
              <a:ext uri="{FF2B5EF4-FFF2-40B4-BE49-F238E27FC236}">
                <a16:creationId xmlns:a16="http://schemas.microsoft.com/office/drawing/2014/main" id="{7349B3C6-963E-480A-BF34-C89C27EA07C9}"/>
              </a:ext>
            </a:extLst>
          </p:cNvPr>
          <p:cNvSpPr>
            <a:spLocks noGrp="1" noChangeArrowheads="1"/>
          </p:cNvSpPr>
          <p:nvPr>
            <p:ph type="body" idx="1"/>
          </p:nvPr>
        </p:nvSpPr>
        <p:spPr>
          <a:xfrm>
            <a:off x="1182688" y="1371600"/>
            <a:ext cx="7772400" cy="5181600"/>
          </a:xfrm>
        </p:spPr>
        <p:txBody>
          <a:bodyPr/>
          <a:lstStyle/>
          <a:p>
            <a:pPr marL="609600" indent="-609600" eaLnBrk="1" hangingPunct="1">
              <a:lnSpc>
                <a:spcPct val="90000"/>
              </a:lnSpc>
              <a:buFont typeface="Wingdings" panose="05000000000000000000" pitchFamily="2" charset="2"/>
              <a:buAutoNum type="arabicPeriod"/>
            </a:pPr>
            <a:r>
              <a:rPr lang="en-US" altLang="zh-CN"/>
              <a:t>find(n)</a:t>
            </a:r>
          </a:p>
          <a:p>
            <a:pPr marL="990600" lvl="1" indent="-533400" eaLnBrk="1" hangingPunct="1">
              <a:lnSpc>
                <a:spcPct val="90000"/>
              </a:lnSpc>
            </a:pPr>
            <a:r>
              <a:rPr lang="zh-CN" altLang="en-US"/>
              <a:t>返回结点</a:t>
            </a:r>
            <a:r>
              <a:rPr lang="en-US" altLang="zh-CN"/>
              <a:t>n</a:t>
            </a:r>
            <a:r>
              <a:rPr lang="zh-CN" altLang="en-US"/>
              <a:t>等价类的代表结点</a:t>
            </a:r>
          </a:p>
          <a:p>
            <a:pPr marL="609600" indent="-609600" eaLnBrk="1" hangingPunct="1">
              <a:lnSpc>
                <a:spcPct val="90000"/>
              </a:lnSpc>
              <a:buFont typeface="Wingdings" panose="05000000000000000000" pitchFamily="2" charset="2"/>
              <a:buAutoNum type="arabicPeriod"/>
            </a:pPr>
            <a:r>
              <a:rPr lang="en-US" altLang="zh-CN"/>
              <a:t>union(m, n)</a:t>
            </a:r>
          </a:p>
          <a:p>
            <a:pPr marL="990600" lvl="1" indent="-533400" eaLnBrk="1" hangingPunct="1">
              <a:lnSpc>
                <a:spcPct val="90000"/>
              </a:lnSpc>
            </a:pPr>
            <a:r>
              <a:rPr lang="zh-CN" altLang="en-US"/>
              <a:t>将结点</a:t>
            </a:r>
            <a:r>
              <a:rPr lang="en-US" altLang="zh-CN"/>
              <a:t>m</a:t>
            </a:r>
            <a:r>
              <a:rPr lang="zh-CN" altLang="en-US"/>
              <a:t>、</a:t>
            </a:r>
            <a:r>
              <a:rPr lang="en-US" altLang="zh-CN"/>
              <a:t>n</a:t>
            </a:r>
            <a:r>
              <a:rPr lang="zh-CN" altLang="en-US"/>
              <a:t>所在等价类合并</a:t>
            </a:r>
          </a:p>
          <a:p>
            <a:pPr marL="990600" lvl="1" indent="-533400" eaLnBrk="1" hangingPunct="1">
              <a:lnSpc>
                <a:spcPct val="90000"/>
              </a:lnSpc>
            </a:pPr>
            <a:r>
              <a:rPr lang="zh-CN" altLang="en-US"/>
              <a:t>若两个等价类代表结点中某个不是变量结点，则将其作为合并等价类的代表结点。</a:t>
            </a:r>
          </a:p>
          <a:p>
            <a:pPr marL="990600" lvl="1" indent="-533400" eaLnBrk="1" hangingPunct="1">
              <a:lnSpc>
                <a:spcPct val="90000"/>
              </a:lnSpc>
            </a:pPr>
            <a:r>
              <a:rPr lang="zh-CN" altLang="en-US"/>
              <a:t>否则，其中任一个作为新代表结点。</a:t>
            </a:r>
          </a:p>
          <a:p>
            <a:pPr marL="990600" lvl="1" indent="-533400" eaLnBrk="1" hangingPunct="1">
              <a:lnSpc>
                <a:spcPct val="90000"/>
              </a:lnSpc>
            </a:pPr>
            <a:r>
              <a:rPr lang="zh-CN" altLang="en-US"/>
              <a:t>原因：若等价类包含类型构造符或基本类型，变量结点不能做为代表结点</a:t>
            </a:r>
          </a:p>
          <a:p>
            <a:pPr marL="990600" lvl="1" indent="-533400" eaLnBrk="1" hangingPunct="1">
              <a:lnSpc>
                <a:spcPct val="90000"/>
              </a:lnSpc>
            </a:pPr>
            <a:r>
              <a:rPr lang="zh-CN" altLang="en-US"/>
              <a:t>否则，（纯变量）表达式可通过变量达到合一</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F62A8FDC-5A11-4BC1-8132-AE4F0E51F8BB}"/>
              </a:ext>
            </a:extLst>
          </p:cNvPr>
          <p:cNvSpPr>
            <a:spLocks noGrp="1" noChangeArrowheads="1"/>
          </p:cNvSpPr>
          <p:nvPr>
            <p:ph type="title"/>
          </p:nvPr>
        </p:nvSpPr>
        <p:spPr/>
        <p:txBody>
          <a:bodyPr/>
          <a:lstStyle/>
          <a:p>
            <a:pPr eaLnBrk="1" hangingPunct="1"/>
            <a:r>
              <a:rPr lang="zh-CN" altLang="en-US"/>
              <a:t>算法（续）</a:t>
            </a:r>
          </a:p>
        </p:txBody>
      </p:sp>
      <p:sp>
        <p:nvSpPr>
          <p:cNvPr id="99331" name="Rectangle 3">
            <a:extLst>
              <a:ext uri="{FF2B5EF4-FFF2-40B4-BE49-F238E27FC236}">
                <a16:creationId xmlns:a16="http://schemas.microsoft.com/office/drawing/2014/main" id="{FB4C44AB-92E8-464E-8941-7380DF08182F}"/>
              </a:ext>
            </a:extLst>
          </p:cNvPr>
          <p:cNvSpPr>
            <a:spLocks noGrp="1" noChangeArrowheads="1"/>
          </p:cNvSpPr>
          <p:nvPr>
            <p:ph type="body" idx="1"/>
          </p:nvPr>
        </p:nvSpPr>
        <p:spPr>
          <a:xfrm>
            <a:off x="1182688" y="1371600"/>
            <a:ext cx="7772400" cy="5257800"/>
          </a:xfrm>
        </p:spPr>
        <p:txBody>
          <a:bodyPr/>
          <a:lstStyle/>
          <a:p>
            <a:pPr eaLnBrk="1" hangingPunct="1">
              <a:lnSpc>
                <a:spcPct val="90000"/>
              </a:lnSpc>
            </a:pPr>
            <a:r>
              <a:rPr lang="en-US" altLang="zh-CN"/>
              <a:t>union</a:t>
            </a:r>
            <a:r>
              <a:rPr lang="zh-CN" altLang="en-US"/>
              <a:t>的实现：将一个等价类代表结点的</a:t>
            </a:r>
            <a:r>
              <a:rPr lang="en-US" altLang="zh-CN"/>
              <a:t>set</a:t>
            </a:r>
            <a:r>
              <a:rPr lang="zh-CN" altLang="en-US"/>
              <a:t>指针指向另一个的代表结点</a:t>
            </a:r>
          </a:p>
          <a:p>
            <a:pPr eaLnBrk="1" hangingPunct="1">
              <a:lnSpc>
                <a:spcPct val="90000"/>
              </a:lnSpc>
            </a:pPr>
            <a:r>
              <a:rPr lang="en-US" altLang="zh-CN"/>
              <a:t>find</a:t>
            </a:r>
            <a:r>
              <a:rPr lang="zh-CN" altLang="en-US"/>
              <a:t>：沿</a:t>
            </a:r>
            <a:r>
              <a:rPr lang="en-US" altLang="zh-CN"/>
              <a:t>set</a:t>
            </a:r>
            <a:r>
              <a:rPr lang="zh-CN" altLang="en-US"/>
              <a:t>链遍历，直到空指针</a:t>
            </a:r>
          </a:p>
          <a:p>
            <a:pPr eaLnBrk="1" hangingPunct="1">
              <a:lnSpc>
                <a:spcPct val="90000"/>
              </a:lnSpc>
            </a:pPr>
            <a:r>
              <a:rPr lang="zh-CN" altLang="en-US"/>
              <a:t>算法</a:t>
            </a:r>
            <a:r>
              <a:rPr lang="en-US" altLang="zh-CN"/>
              <a:t>6.1</a:t>
            </a:r>
            <a:r>
              <a:rPr lang="zh-CN" altLang="en-US"/>
              <a:t>，使用</a:t>
            </a:r>
            <a:r>
              <a:rPr lang="en-US" altLang="zh-CN"/>
              <a:t>s=find(m)</a:t>
            </a:r>
            <a:r>
              <a:rPr lang="zh-CN" altLang="en-US"/>
              <a:t>和</a:t>
            </a:r>
            <a:r>
              <a:rPr lang="en-US" altLang="zh-CN"/>
              <a:t>t=find(n)</a:t>
            </a:r>
          </a:p>
          <a:p>
            <a:pPr lvl="1" eaLnBrk="1" hangingPunct="1">
              <a:lnSpc>
                <a:spcPct val="90000"/>
              </a:lnSpc>
            </a:pPr>
            <a:r>
              <a:rPr lang="en-US" altLang="zh-CN"/>
              <a:t>s</a:t>
            </a:r>
            <a:r>
              <a:rPr lang="zh-CN" altLang="en-US"/>
              <a:t>、</a:t>
            </a:r>
            <a:r>
              <a:rPr lang="en-US" altLang="zh-CN"/>
              <a:t>t</a:t>
            </a:r>
            <a:r>
              <a:rPr lang="zh-CN" altLang="en-US"/>
              <a:t>相等</a:t>
            </a:r>
            <a:r>
              <a:rPr lang="zh-CN" altLang="en-US">
                <a:sym typeface="Wingdings" panose="05000000000000000000" pitchFamily="2" charset="2"/>
              </a:rPr>
              <a:t></a:t>
            </a:r>
            <a:r>
              <a:rPr lang="en-US" altLang="zh-CN">
                <a:sym typeface="Wingdings" panose="05000000000000000000" pitchFamily="2" charset="2"/>
              </a:rPr>
              <a:t>m</a:t>
            </a:r>
            <a:r>
              <a:rPr lang="zh-CN" altLang="en-US">
                <a:sym typeface="Wingdings" panose="05000000000000000000" pitchFamily="2" charset="2"/>
              </a:rPr>
              <a:t>、</a:t>
            </a:r>
            <a:r>
              <a:rPr lang="en-US" altLang="zh-CN">
                <a:sym typeface="Wingdings" panose="05000000000000000000" pitchFamily="2" charset="2"/>
              </a:rPr>
              <a:t>n</a:t>
            </a:r>
            <a:r>
              <a:rPr lang="zh-CN" altLang="en-US">
                <a:sym typeface="Wingdings" panose="05000000000000000000" pitchFamily="2" charset="2"/>
              </a:rPr>
              <a:t>已在相同等价类中</a:t>
            </a: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为相同基本类型返回真</a:t>
            </a: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为相同类型操作符合并两个等价类，继续递归检查他们孩子结点等价性</a:t>
            </a:r>
          </a:p>
          <a:p>
            <a:pPr lvl="1" eaLnBrk="1" hangingPunct="1">
              <a:lnSpc>
                <a:spcPct val="90000"/>
              </a:lnSpc>
            </a:pPr>
            <a:r>
              <a:rPr lang="en-US" altLang="zh-CN">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zh-CN" altLang="en-US">
                <a:sym typeface="Wingdings" panose="05000000000000000000" pitchFamily="2" charset="2"/>
              </a:rPr>
              <a:t>其中一个为变量合并，类型操作符或基本类型成为代表结点变量不会与两个不同的表达式合一</a:t>
            </a:r>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7653C162-6E84-430D-8F0A-C064CC3175C4}"/>
              </a:ext>
            </a:extLst>
          </p:cNvPr>
          <p:cNvSpPr>
            <a:spLocks noGrp="1" noChangeArrowheads="1"/>
          </p:cNvSpPr>
          <p:nvPr>
            <p:ph type="title"/>
          </p:nvPr>
        </p:nvSpPr>
        <p:spPr/>
        <p:txBody>
          <a:bodyPr/>
          <a:lstStyle/>
          <a:p>
            <a:pPr eaLnBrk="1" hangingPunct="1"/>
            <a:r>
              <a:rPr lang="zh-CN" altLang="en-US"/>
              <a:t>例</a:t>
            </a:r>
            <a:r>
              <a:rPr lang="en-US" altLang="zh-CN"/>
              <a:t>6.14</a:t>
            </a:r>
          </a:p>
        </p:txBody>
      </p:sp>
      <p:sp>
        <p:nvSpPr>
          <p:cNvPr id="100355" name="Rectangle 3">
            <a:extLst>
              <a:ext uri="{FF2B5EF4-FFF2-40B4-BE49-F238E27FC236}">
                <a16:creationId xmlns:a16="http://schemas.microsoft.com/office/drawing/2014/main" id="{490AF40E-5DC6-457E-964A-1BA5BE582CD1}"/>
              </a:ext>
            </a:extLst>
          </p:cNvPr>
          <p:cNvSpPr>
            <a:spLocks noGrp="1" noChangeArrowheads="1"/>
          </p:cNvSpPr>
          <p:nvPr>
            <p:ph type="body" idx="1"/>
          </p:nvPr>
        </p:nvSpPr>
        <p:spPr/>
        <p:txBody>
          <a:bodyPr/>
          <a:lstStyle/>
          <a:p>
            <a:pPr eaLnBrk="1" hangingPunct="1"/>
            <a:r>
              <a:rPr lang="zh-CN" altLang="en-US" dirty="0"/>
              <a:t>考虑例</a:t>
            </a:r>
            <a:r>
              <a:rPr lang="en-US" altLang="zh-CN" dirty="0"/>
              <a:t>6.13</a:t>
            </a:r>
            <a:r>
              <a:rPr lang="zh-CN" altLang="en-US" dirty="0"/>
              <a:t>的表达式，初始</a:t>
            </a:r>
            <a:r>
              <a:rPr lang="en-US" altLang="zh-CN" dirty="0" err="1"/>
              <a:t>dag</a:t>
            </a:r>
            <a:r>
              <a:rPr lang="zh-CN" altLang="en-US" dirty="0"/>
              <a:t>为</a:t>
            </a:r>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zh-CN" altLang="en-US" dirty="0"/>
              <a:t>合一过程</a:t>
            </a:r>
          </a:p>
          <a:p>
            <a:pPr eaLnBrk="1" hangingPunct="1">
              <a:buFont typeface="Wingdings" panose="05000000000000000000" pitchFamily="2" charset="2"/>
              <a:buNone/>
            </a:pPr>
            <a:r>
              <a:rPr lang="en-US" altLang="zh-CN" sz="2400" dirty="0">
                <a:solidFill>
                  <a:srgbClr val="3333CC"/>
                </a:solidFill>
              </a:rPr>
              <a:t>unify(1, 9)</a:t>
            </a:r>
            <a:r>
              <a:rPr lang="zh-CN" altLang="en-US" sz="2400" dirty="0">
                <a:solidFill>
                  <a:srgbClr val="3333CC"/>
                </a:solidFill>
              </a:rPr>
              <a:t>：相同操作符，合并，</a:t>
            </a:r>
            <a:r>
              <a:rPr lang="en-US" altLang="zh-CN" sz="2400" dirty="0">
                <a:solidFill>
                  <a:srgbClr val="3333CC"/>
                </a:solidFill>
              </a:rPr>
              <a:t>unify(2, 10), unify(8, 14)</a:t>
            </a:r>
          </a:p>
          <a:p>
            <a:pPr eaLnBrk="1" hangingPunct="1">
              <a:buFont typeface="Wingdings" panose="05000000000000000000" pitchFamily="2" charset="2"/>
              <a:buNone/>
            </a:pPr>
            <a:r>
              <a:rPr lang="en-US" altLang="zh-CN" sz="2400" dirty="0">
                <a:solidFill>
                  <a:srgbClr val="3333CC"/>
                </a:solidFill>
              </a:rPr>
              <a:t>unify(2, 10)</a:t>
            </a:r>
            <a:r>
              <a:rPr lang="zh-CN" altLang="en-US" sz="2400" dirty="0">
                <a:solidFill>
                  <a:srgbClr val="3333CC"/>
                </a:solidFill>
              </a:rPr>
              <a:t>：相同操作符，合并，</a:t>
            </a:r>
            <a:r>
              <a:rPr lang="en-US" altLang="zh-CN" sz="2400" dirty="0">
                <a:solidFill>
                  <a:srgbClr val="3333CC"/>
                </a:solidFill>
              </a:rPr>
              <a:t>unify(3, 11), unify(6, 13)</a:t>
            </a:r>
          </a:p>
        </p:txBody>
      </p:sp>
      <p:pic>
        <p:nvPicPr>
          <p:cNvPr id="100356" name="Picture 4" descr="unify1">
            <a:extLst>
              <a:ext uri="{FF2B5EF4-FFF2-40B4-BE49-F238E27FC236}">
                <a16:creationId xmlns:a16="http://schemas.microsoft.com/office/drawing/2014/main" id="{9329970E-E35F-44DC-A6E2-179CA9F27E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125" y="1828800"/>
            <a:ext cx="815975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0E666C6-3A62-4786-9CAB-B7B81CD800AD}"/>
              </a:ext>
            </a:extLst>
          </p:cNvPr>
          <p:cNvSpPr>
            <a:spLocks noGrp="1" noChangeArrowheads="1"/>
          </p:cNvSpPr>
          <p:nvPr>
            <p:ph type="title"/>
          </p:nvPr>
        </p:nvSpPr>
        <p:spPr/>
        <p:txBody>
          <a:bodyPr/>
          <a:lstStyle/>
          <a:p>
            <a:pPr eaLnBrk="1" hangingPunct="1"/>
            <a:r>
              <a:rPr lang="zh-CN" altLang="en-US"/>
              <a:t>例</a:t>
            </a:r>
            <a:r>
              <a:rPr lang="en-US" altLang="zh-CN"/>
              <a:t>6.14</a:t>
            </a:r>
            <a:r>
              <a:rPr lang="zh-CN" altLang="en-US"/>
              <a:t>（续）</a:t>
            </a:r>
          </a:p>
        </p:txBody>
      </p:sp>
      <p:sp>
        <p:nvSpPr>
          <p:cNvPr id="101379" name="Rectangle 3">
            <a:extLst>
              <a:ext uri="{FF2B5EF4-FFF2-40B4-BE49-F238E27FC236}">
                <a16:creationId xmlns:a16="http://schemas.microsoft.com/office/drawing/2014/main" id="{2E2C8343-E3F6-4FDF-B9B7-64D2FE7FCDBC}"/>
              </a:ext>
            </a:extLst>
          </p:cNvPr>
          <p:cNvSpPr>
            <a:spLocks noGrp="1" noChangeArrowheads="1"/>
          </p:cNvSpPr>
          <p:nvPr>
            <p:ph type="body" idx="1"/>
          </p:nvPr>
        </p:nvSpPr>
        <p:spPr>
          <a:xfrm>
            <a:off x="1182688" y="3429000"/>
            <a:ext cx="7772400" cy="3200400"/>
          </a:xfrm>
        </p:spPr>
        <p:txBody>
          <a:bodyPr/>
          <a:lstStyle/>
          <a:p>
            <a:pPr marL="342900" marR="0" lvl="0" indent="-34290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Char char="m"/>
              <a:tabLst/>
              <a:defRPr/>
            </a:pPr>
            <a:r>
              <a:rPr kumimoji="1" lang="zh-CN" altLang="en-US" sz="3200" b="0" i="0" u="none" strike="noStrike" kern="0" cap="none" spc="0" normalizeH="0" baseline="0" noProof="0" dirty="0">
                <a:ln>
                  <a:noFill/>
                </a:ln>
                <a:solidFill>
                  <a:srgbClr val="000000"/>
                </a:solidFill>
                <a:effectLst/>
                <a:uLnTx/>
                <a:uFillTx/>
                <a:latin typeface="Times New Roman"/>
                <a:ea typeface="宋体"/>
                <a:cs typeface="+mn-cs"/>
              </a:rPr>
              <a:t>合一过程</a:t>
            </a:r>
          </a:p>
          <a:p>
            <a:pPr eaLnBrk="1" hangingPunct="1">
              <a:buFont typeface="Wingdings" panose="05000000000000000000" pitchFamily="2" charset="2"/>
              <a:buNone/>
            </a:pPr>
            <a:r>
              <a:rPr lang="en-US" altLang="zh-CN" sz="2400" dirty="0">
                <a:solidFill>
                  <a:srgbClr val="3333CC"/>
                </a:solidFill>
              </a:rPr>
              <a:t>unify(1, 9)</a:t>
            </a:r>
            <a:r>
              <a:rPr lang="zh-CN" altLang="en-US" sz="2400" dirty="0">
                <a:solidFill>
                  <a:srgbClr val="3333CC"/>
                </a:solidFill>
              </a:rPr>
              <a:t>：相同操作符，合并，</a:t>
            </a:r>
            <a:r>
              <a:rPr lang="en-US" altLang="zh-CN" sz="2400" dirty="0">
                <a:solidFill>
                  <a:srgbClr val="3333CC"/>
                </a:solidFill>
              </a:rPr>
              <a:t>unify(2, 10), unify(8, 14)</a:t>
            </a:r>
          </a:p>
          <a:p>
            <a:pPr eaLnBrk="1" hangingPunct="1">
              <a:buFont typeface="Wingdings" panose="05000000000000000000" pitchFamily="2" charset="2"/>
              <a:buNone/>
            </a:pPr>
            <a:r>
              <a:rPr lang="en-US" altLang="zh-CN" sz="2400" dirty="0">
                <a:solidFill>
                  <a:srgbClr val="3333CC"/>
                </a:solidFill>
              </a:rPr>
              <a:t>unify(2, 10)</a:t>
            </a:r>
            <a:r>
              <a:rPr lang="zh-CN" altLang="en-US" sz="2400" dirty="0">
                <a:solidFill>
                  <a:srgbClr val="3333CC"/>
                </a:solidFill>
              </a:rPr>
              <a:t>：相同操作符，合并，</a:t>
            </a:r>
            <a:r>
              <a:rPr lang="en-US" altLang="zh-CN" sz="2400" dirty="0">
                <a:solidFill>
                  <a:srgbClr val="3333CC"/>
                </a:solidFill>
              </a:rPr>
              <a:t>unify(3, 11), unify(6, 13)</a:t>
            </a:r>
          </a:p>
          <a:p>
            <a:pPr eaLnBrk="1" hangingPunct="1">
              <a:buFont typeface="Wingdings" panose="05000000000000000000" pitchFamily="2" charset="2"/>
              <a:buNone/>
            </a:pPr>
            <a:r>
              <a:rPr lang="en-US" altLang="zh-CN" sz="2400" dirty="0">
                <a:solidFill>
                  <a:srgbClr val="3333CC"/>
                </a:solidFill>
              </a:rPr>
              <a:t>unify(3, 11)</a:t>
            </a:r>
            <a:r>
              <a:rPr lang="zh-CN" altLang="en-US" sz="2400" dirty="0">
                <a:solidFill>
                  <a:srgbClr val="3333CC"/>
                </a:solidFill>
              </a:rPr>
              <a:t>：相同操作符，合并，</a:t>
            </a:r>
            <a:r>
              <a:rPr lang="en-US" altLang="zh-CN" sz="2400" dirty="0">
                <a:solidFill>
                  <a:srgbClr val="3333CC"/>
                </a:solidFill>
              </a:rPr>
              <a:t>unify(4, 7), unify(5, 12)</a:t>
            </a:r>
          </a:p>
          <a:p>
            <a:pPr eaLnBrk="1" hangingPunct="1">
              <a:buFont typeface="Wingdings" panose="05000000000000000000" pitchFamily="2" charset="2"/>
              <a:buNone/>
            </a:pPr>
            <a:r>
              <a:rPr lang="en-US" altLang="zh-CN" sz="2400" dirty="0">
                <a:solidFill>
                  <a:srgbClr val="3333CC"/>
                </a:solidFill>
              </a:rPr>
              <a:t>unify(4, 7)</a:t>
            </a:r>
            <a:r>
              <a:rPr lang="zh-CN" altLang="en-US" sz="2400" dirty="0">
                <a:solidFill>
                  <a:srgbClr val="3333CC"/>
                </a:solidFill>
              </a:rPr>
              <a:t>：两个变量，合并，</a:t>
            </a:r>
            <a:r>
              <a:rPr lang="en-US" altLang="zh-CN" sz="2400" dirty="0">
                <a:solidFill>
                  <a:srgbClr val="3333CC"/>
                </a:solidFill>
                <a:latin typeface="Symbol" panose="05050102010706020507" pitchFamily="18" charset="2"/>
              </a:rPr>
              <a:t>4</a:t>
            </a:r>
            <a:r>
              <a:rPr lang="zh-CN" altLang="en-US" sz="2400" dirty="0">
                <a:solidFill>
                  <a:srgbClr val="3333CC"/>
                </a:solidFill>
              </a:rPr>
              <a:t>作为代表结点，返回真</a:t>
            </a:r>
          </a:p>
          <a:p>
            <a:pPr eaLnBrk="1" hangingPunct="1">
              <a:buFont typeface="Wingdings" panose="05000000000000000000" pitchFamily="2" charset="2"/>
              <a:buNone/>
            </a:pPr>
            <a:r>
              <a:rPr lang="en-US" altLang="zh-CN" sz="2400" dirty="0">
                <a:solidFill>
                  <a:srgbClr val="3333CC"/>
                </a:solidFill>
              </a:rPr>
              <a:t>unify(5, 12)</a:t>
            </a:r>
            <a:r>
              <a:rPr lang="zh-CN" altLang="en-US" sz="2400" dirty="0">
                <a:solidFill>
                  <a:srgbClr val="3333CC"/>
                </a:solidFill>
              </a:rPr>
              <a:t>：两个变量，合并，</a:t>
            </a:r>
            <a:r>
              <a:rPr lang="en-US" altLang="zh-CN" sz="2400" dirty="0">
                <a:solidFill>
                  <a:srgbClr val="3333CC"/>
                </a:solidFill>
                <a:latin typeface="Symbol" panose="05050102010706020507" pitchFamily="18" charset="2"/>
              </a:rPr>
              <a:t>5</a:t>
            </a:r>
            <a:r>
              <a:rPr lang="zh-CN" altLang="en-US" sz="2400" dirty="0">
                <a:solidFill>
                  <a:srgbClr val="3333CC"/>
                </a:solidFill>
              </a:rPr>
              <a:t>作为代表结点，返回真</a:t>
            </a:r>
          </a:p>
          <a:p>
            <a:pPr eaLnBrk="1" hangingPunct="1">
              <a:buFont typeface="Wingdings" panose="05000000000000000000" pitchFamily="2" charset="2"/>
              <a:buNone/>
            </a:pPr>
            <a:r>
              <a:rPr lang="en-US" altLang="zh-CN" sz="2400" dirty="0">
                <a:solidFill>
                  <a:srgbClr val="3333CC"/>
                </a:solidFill>
              </a:rPr>
              <a:t>unify(3, 11)</a:t>
            </a:r>
            <a:r>
              <a:rPr lang="zh-CN" altLang="en-US" sz="2400" dirty="0">
                <a:solidFill>
                  <a:srgbClr val="3333CC"/>
                </a:solidFill>
              </a:rPr>
              <a:t>为真，</a:t>
            </a:r>
            <a:r>
              <a:rPr lang="en-US" altLang="zh-CN" sz="2400" dirty="0">
                <a:solidFill>
                  <a:srgbClr val="3333CC"/>
                </a:solidFill>
              </a:rPr>
              <a:t>3</a:t>
            </a:r>
            <a:r>
              <a:rPr lang="zh-CN" altLang="en-US" sz="2400" dirty="0">
                <a:solidFill>
                  <a:srgbClr val="3333CC"/>
                </a:solidFill>
              </a:rPr>
              <a:t>作为代表结点</a:t>
            </a:r>
          </a:p>
        </p:txBody>
      </p:sp>
      <p:pic>
        <p:nvPicPr>
          <p:cNvPr id="101380" name="Picture 5" descr="unify1">
            <a:extLst>
              <a:ext uri="{FF2B5EF4-FFF2-40B4-BE49-F238E27FC236}">
                <a16:creationId xmlns:a16="http://schemas.microsoft.com/office/drawing/2014/main" id="{FBA94B63-BDF4-46F6-8807-505828314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0938" y="1340768"/>
            <a:ext cx="7343775" cy="200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0EB7E65D-4BB6-48B4-9717-56CEB43A64F8}"/>
              </a:ext>
            </a:extLst>
          </p:cNvPr>
          <p:cNvSpPr>
            <a:spLocks noGrp="1" noChangeArrowheads="1"/>
          </p:cNvSpPr>
          <p:nvPr>
            <p:ph type="title"/>
          </p:nvPr>
        </p:nvSpPr>
        <p:spPr/>
        <p:txBody>
          <a:bodyPr/>
          <a:lstStyle/>
          <a:p>
            <a:pPr eaLnBrk="1" hangingPunct="1"/>
            <a:r>
              <a:rPr lang="zh-CN" altLang="en-US"/>
              <a:t>例</a:t>
            </a:r>
            <a:r>
              <a:rPr lang="en-US" altLang="zh-CN"/>
              <a:t>6.14</a:t>
            </a:r>
            <a:r>
              <a:rPr lang="zh-CN" altLang="en-US"/>
              <a:t>（续）</a:t>
            </a:r>
          </a:p>
        </p:txBody>
      </p:sp>
      <p:sp>
        <p:nvSpPr>
          <p:cNvPr id="102403" name="Rectangle 3">
            <a:extLst>
              <a:ext uri="{FF2B5EF4-FFF2-40B4-BE49-F238E27FC236}">
                <a16:creationId xmlns:a16="http://schemas.microsoft.com/office/drawing/2014/main" id="{F9042CF6-6469-4480-8045-13B965D8775C}"/>
              </a:ext>
            </a:extLst>
          </p:cNvPr>
          <p:cNvSpPr>
            <a:spLocks noGrp="1" noChangeArrowheads="1"/>
          </p:cNvSpPr>
          <p:nvPr>
            <p:ph type="body" idx="1"/>
          </p:nvPr>
        </p:nvSpPr>
        <p:spPr>
          <a:xfrm>
            <a:off x="1182688" y="3810000"/>
            <a:ext cx="7772400" cy="2819400"/>
          </a:xfrm>
        </p:spPr>
        <p:txBody>
          <a:bodyPr/>
          <a:lstStyle/>
          <a:p>
            <a:pPr eaLnBrk="1" hangingPunct="1">
              <a:buFont typeface="Wingdings" panose="05000000000000000000" pitchFamily="2" charset="2"/>
              <a:buNone/>
            </a:pPr>
            <a:r>
              <a:rPr lang="en-US" altLang="zh-CN" sz="2400">
                <a:solidFill>
                  <a:srgbClr val="3333CC"/>
                </a:solidFill>
              </a:rPr>
              <a:t>unify(6, 13)</a:t>
            </a:r>
            <a:r>
              <a:rPr lang="zh-CN" altLang="en-US" sz="2400">
                <a:solidFill>
                  <a:srgbClr val="3333CC"/>
                </a:solidFill>
              </a:rPr>
              <a:t>：相同操作符，合并，</a:t>
            </a:r>
            <a:r>
              <a:rPr lang="en-US" altLang="zh-CN" sz="2400">
                <a:solidFill>
                  <a:srgbClr val="3333CC"/>
                </a:solidFill>
              </a:rPr>
              <a:t>unify(4, 4)—</a:t>
            </a:r>
            <a:r>
              <a:rPr lang="zh-CN" altLang="en-US" sz="2400">
                <a:solidFill>
                  <a:srgbClr val="3333CC"/>
                </a:solidFill>
              </a:rPr>
              <a:t>真</a:t>
            </a:r>
            <a:r>
              <a:rPr lang="zh-CN" altLang="en-US" sz="2400">
                <a:solidFill>
                  <a:srgbClr val="3333CC"/>
                </a:solidFill>
                <a:sym typeface="Wingdings" panose="05000000000000000000" pitchFamily="2" charset="2"/>
              </a:rPr>
              <a:t></a:t>
            </a:r>
            <a:r>
              <a:rPr lang="en-US" altLang="zh-CN" sz="2400">
                <a:solidFill>
                  <a:srgbClr val="3333CC"/>
                </a:solidFill>
              </a:rPr>
              <a:t>unify(6,13)</a:t>
            </a:r>
            <a:r>
              <a:rPr lang="zh-CN" altLang="en-US" sz="2400">
                <a:solidFill>
                  <a:srgbClr val="3333CC"/>
                </a:solidFill>
              </a:rPr>
              <a:t>为真，</a:t>
            </a:r>
            <a:r>
              <a:rPr lang="en-US" altLang="zh-CN" sz="2400">
                <a:solidFill>
                  <a:srgbClr val="3333CC"/>
                </a:solidFill>
              </a:rPr>
              <a:t>6</a:t>
            </a:r>
            <a:r>
              <a:rPr lang="zh-CN" altLang="en-US" sz="2400">
                <a:solidFill>
                  <a:srgbClr val="3333CC"/>
                </a:solidFill>
              </a:rPr>
              <a:t>作为代表结点</a:t>
            </a:r>
            <a:br>
              <a:rPr lang="zh-CN" altLang="en-US" sz="2400">
                <a:solidFill>
                  <a:srgbClr val="3333CC"/>
                </a:solidFill>
              </a:rPr>
            </a:br>
            <a:r>
              <a:rPr lang="zh-CN" altLang="en-US" sz="2400">
                <a:solidFill>
                  <a:srgbClr val="3333CC"/>
                </a:solidFill>
                <a:sym typeface="Wingdings" panose="05000000000000000000" pitchFamily="2" charset="2"/>
              </a:rPr>
              <a:t></a:t>
            </a:r>
            <a:r>
              <a:rPr lang="en-US" altLang="zh-CN" sz="2400">
                <a:solidFill>
                  <a:srgbClr val="3333CC"/>
                </a:solidFill>
                <a:sym typeface="Wingdings" panose="05000000000000000000" pitchFamily="2" charset="2"/>
              </a:rPr>
              <a:t>unify(2, 10)</a:t>
            </a:r>
            <a:r>
              <a:rPr lang="zh-CN" altLang="en-US" sz="2400">
                <a:solidFill>
                  <a:srgbClr val="3333CC"/>
                </a:solidFill>
                <a:sym typeface="Wingdings" panose="05000000000000000000" pitchFamily="2" charset="2"/>
              </a:rPr>
              <a:t>为真，</a:t>
            </a:r>
            <a:r>
              <a:rPr lang="en-US" altLang="zh-CN" sz="2400">
                <a:solidFill>
                  <a:srgbClr val="3333CC"/>
                </a:solidFill>
                <a:sym typeface="Wingdings" panose="05000000000000000000" pitchFamily="2" charset="2"/>
              </a:rPr>
              <a:t>2</a:t>
            </a:r>
            <a:r>
              <a:rPr lang="zh-CN" altLang="en-US" sz="2400">
                <a:solidFill>
                  <a:srgbClr val="3333CC"/>
                </a:solidFill>
                <a:sym typeface="Wingdings" panose="05000000000000000000" pitchFamily="2" charset="2"/>
              </a:rPr>
              <a:t>作为代表结点</a:t>
            </a:r>
            <a:endParaRPr lang="zh-CN" altLang="en-US" sz="2400">
              <a:solidFill>
                <a:srgbClr val="3333CC"/>
              </a:solidFill>
            </a:endParaRPr>
          </a:p>
          <a:p>
            <a:pPr eaLnBrk="1" hangingPunct="1">
              <a:buFont typeface="Wingdings" panose="05000000000000000000" pitchFamily="2" charset="2"/>
              <a:buNone/>
            </a:pPr>
            <a:r>
              <a:rPr lang="en-US" altLang="zh-CN" sz="2400">
                <a:solidFill>
                  <a:srgbClr val="3333CC"/>
                </a:solidFill>
              </a:rPr>
              <a:t>unify(8, 14)</a:t>
            </a:r>
            <a:r>
              <a:rPr lang="zh-CN" altLang="en-US" sz="2400">
                <a:solidFill>
                  <a:srgbClr val="3333CC"/>
                </a:solidFill>
              </a:rPr>
              <a:t>：一个变量，合并，</a:t>
            </a:r>
            <a:r>
              <a:rPr lang="en-US" altLang="zh-CN" sz="2400">
                <a:solidFill>
                  <a:srgbClr val="3333CC"/>
                </a:solidFill>
              </a:rPr>
              <a:t>8</a:t>
            </a:r>
            <a:r>
              <a:rPr lang="zh-CN" altLang="en-US" sz="2400">
                <a:solidFill>
                  <a:srgbClr val="3333CC"/>
                </a:solidFill>
              </a:rPr>
              <a:t>作为代表结点，返回真</a:t>
            </a:r>
          </a:p>
          <a:p>
            <a:pPr eaLnBrk="1" hangingPunct="1">
              <a:buFont typeface="Wingdings" panose="05000000000000000000" pitchFamily="2" charset="2"/>
              <a:buNone/>
            </a:pPr>
            <a:r>
              <a:rPr lang="zh-CN" altLang="en-US" sz="2400">
                <a:solidFill>
                  <a:srgbClr val="3333CC"/>
                </a:solidFill>
                <a:sym typeface="Wingdings" panose="05000000000000000000" pitchFamily="2" charset="2"/>
              </a:rPr>
              <a:t></a:t>
            </a:r>
            <a:r>
              <a:rPr lang="en-US" altLang="zh-CN" sz="2400">
                <a:solidFill>
                  <a:srgbClr val="3333CC"/>
                </a:solidFill>
              </a:rPr>
              <a:t>unify(1, 9)</a:t>
            </a:r>
            <a:r>
              <a:rPr lang="zh-CN" altLang="en-US" sz="2400">
                <a:solidFill>
                  <a:srgbClr val="3333CC"/>
                </a:solidFill>
              </a:rPr>
              <a:t>为真，</a:t>
            </a:r>
            <a:r>
              <a:rPr lang="en-US" altLang="zh-CN" sz="2400">
                <a:solidFill>
                  <a:srgbClr val="3333CC"/>
                </a:solidFill>
              </a:rPr>
              <a:t>1</a:t>
            </a:r>
            <a:r>
              <a:rPr lang="zh-CN" altLang="en-US" sz="2400">
                <a:solidFill>
                  <a:srgbClr val="3333CC"/>
                </a:solidFill>
              </a:rPr>
              <a:t>作为代表结点</a:t>
            </a:r>
          </a:p>
        </p:txBody>
      </p:sp>
      <p:pic>
        <p:nvPicPr>
          <p:cNvPr id="102404" name="Picture 6" descr="unify2">
            <a:extLst>
              <a:ext uri="{FF2B5EF4-FFF2-40B4-BE49-F238E27FC236}">
                <a16:creationId xmlns:a16="http://schemas.microsoft.com/office/drawing/2014/main" id="{84880CC4-A90B-464C-A13F-A1AC53414D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81597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91A63BDE-10E0-42FB-8D69-F6AC953377E4}"/>
              </a:ext>
            </a:extLst>
          </p:cNvPr>
          <p:cNvSpPr>
            <a:spLocks noGrp="1" noChangeArrowheads="1"/>
          </p:cNvSpPr>
          <p:nvPr>
            <p:ph type="title"/>
          </p:nvPr>
        </p:nvSpPr>
        <p:spPr/>
        <p:txBody>
          <a:bodyPr/>
          <a:lstStyle/>
          <a:p>
            <a:pPr eaLnBrk="1" hangingPunct="1"/>
            <a:r>
              <a:rPr lang="zh-CN" altLang="en-US"/>
              <a:t>例</a:t>
            </a:r>
            <a:r>
              <a:rPr lang="en-US" altLang="zh-CN"/>
              <a:t>6.14</a:t>
            </a:r>
            <a:r>
              <a:rPr lang="zh-CN" altLang="en-US"/>
              <a:t>（续）</a:t>
            </a:r>
          </a:p>
        </p:txBody>
      </p:sp>
      <p:sp>
        <p:nvSpPr>
          <p:cNvPr id="103427" name="Rectangle 5">
            <a:extLst>
              <a:ext uri="{FF2B5EF4-FFF2-40B4-BE49-F238E27FC236}">
                <a16:creationId xmlns:a16="http://schemas.microsoft.com/office/drawing/2014/main" id="{484875A0-3972-4BCC-AD6F-2426042F60C1}"/>
              </a:ext>
            </a:extLst>
          </p:cNvPr>
          <p:cNvSpPr>
            <a:spLocks noGrp="1" noChangeArrowheads="1"/>
          </p:cNvSpPr>
          <p:nvPr>
            <p:ph type="body" idx="1"/>
          </p:nvPr>
        </p:nvSpPr>
        <p:spPr>
          <a:xfrm>
            <a:off x="1182688" y="1371600"/>
            <a:ext cx="7772400" cy="609600"/>
          </a:xfrm>
        </p:spPr>
        <p:txBody>
          <a:bodyPr/>
          <a:lstStyle/>
          <a:p>
            <a:pPr eaLnBrk="1" hangingPunct="1">
              <a:buFont typeface="Wingdings" panose="05000000000000000000" pitchFamily="2" charset="2"/>
              <a:buNone/>
            </a:pPr>
            <a:r>
              <a:rPr lang="zh-CN" altLang="en-US">
                <a:solidFill>
                  <a:srgbClr val="FF3300"/>
                </a:solidFill>
              </a:rPr>
              <a:t>最终结果</a:t>
            </a:r>
          </a:p>
        </p:txBody>
      </p:sp>
      <p:pic>
        <p:nvPicPr>
          <p:cNvPr id="103428" name="Picture 6" descr="unify">
            <a:extLst>
              <a:ext uri="{FF2B5EF4-FFF2-40B4-BE49-F238E27FC236}">
                <a16:creationId xmlns:a16="http://schemas.microsoft.com/office/drawing/2014/main" id="{94CECD35-6C99-46BA-8562-D80A312931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65400"/>
            <a:ext cx="85502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8C5B7BF5-8C2A-4779-9DD6-E3E6B1F722F2}"/>
              </a:ext>
            </a:extLst>
          </p:cNvPr>
          <p:cNvSpPr>
            <a:spLocks noGrp="1" noChangeArrowheads="1"/>
          </p:cNvSpPr>
          <p:nvPr>
            <p:ph type="title"/>
          </p:nvPr>
        </p:nvSpPr>
        <p:spPr/>
        <p:txBody>
          <a:bodyPr/>
          <a:lstStyle/>
          <a:p>
            <a:pPr eaLnBrk="1" hangingPunct="1"/>
            <a:r>
              <a:rPr lang="zh-CN" altLang="en-US"/>
              <a:t>构造合一代换</a:t>
            </a:r>
          </a:p>
        </p:txBody>
      </p:sp>
      <p:sp>
        <p:nvSpPr>
          <p:cNvPr id="104451" name="Rectangle 3">
            <a:extLst>
              <a:ext uri="{FF2B5EF4-FFF2-40B4-BE49-F238E27FC236}">
                <a16:creationId xmlns:a16="http://schemas.microsoft.com/office/drawing/2014/main" id="{76CEA53E-A4F0-476D-9700-4AE97396A697}"/>
              </a:ext>
            </a:extLst>
          </p:cNvPr>
          <p:cNvSpPr>
            <a:spLocks noGrp="1" noChangeArrowheads="1"/>
          </p:cNvSpPr>
          <p:nvPr>
            <p:ph type="body" idx="1"/>
          </p:nvPr>
        </p:nvSpPr>
        <p:spPr/>
        <p:txBody>
          <a:bodyPr/>
          <a:lstStyle/>
          <a:p>
            <a:pPr eaLnBrk="1" hangingPunct="1"/>
            <a:r>
              <a:rPr lang="zh-CN" altLang="en-US"/>
              <a:t>算法</a:t>
            </a:r>
            <a:r>
              <a:rPr lang="en-US" altLang="zh-CN"/>
              <a:t>6.1</a:t>
            </a:r>
            <a:r>
              <a:rPr lang="zh-CN" altLang="en-US"/>
              <a:t>最终得到的类型图中，每个结点</a:t>
            </a:r>
            <a:r>
              <a:rPr lang="en-US" altLang="zh-CN"/>
              <a:t>n</a:t>
            </a:r>
            <a:r>
              <a:rPr lang="zh-CN" altLang="en-US"/>
              <a:t>表示与</a:t>
            </a:r>
            <a:r>
              <a:rPr lang="en-US" altLang="zh-CN"/>
              <a:t>find(n)</a:t>
            </a:r>
            <a:r>
              <a:rPr lang="zh-CN" altLang="en-US"/>
              <a:t>相关联的类型表达式</a:t>
            </a:r>
          </a:p>
          <a:p>
            <a:pPr eaLnBrk="1" hangingPunct="1"/>
            <a:r>
              <a:rPr lang="zh-CN" altLang="en-US"/>
              <a:t>对每个变量</a:t>
            </a:r>
            <a:r>
              <a:rPr lang="en-US" altLang="zh-CN">
                <a:latin typeface="Symbol" panose="05050102010706020507" pitchFamily="18" charset="2"/>
              </a:rPr>
              <a:t>a</a:t>
            </a:r>
            <a:r>
              <a:rPr lang="zh-CN" altLang="en-US"/>
              <a:t>，</a:t>
            </a:r>
            <a:r>
              <a:rPr lang="en-US" altLang="zh-CN"/>
              <a:t>find(</a:t>
            </a:r>
            <a:r>
              <a:rPr lang="en-US" altLang="zh-CN">
                <a:latin typeface="Symbol" panose="05050102010706020507" pitchFamily="18" charset="2"/>
              </a:rPr>
              <a:t>a</a:t>
            </a:r>
            <a:r>
              <a:rPr lang="en-US" altLang="zh-CN"/>
              <a:t>)</a:t>
            </a:r>
            <a:r>
              <a:rPr lang="zh-CN" altLang="en-US"/>
              <a:t>表示</a:t>
            </a:r>
            <a:r>
              <a:rPr lang="en-US" altLang="zh-CN">
                <a:latin typeface="Symbol" panose="05050102010706020507" pitchFamily="18" charset="2"/>
              </a:rPr>
              <a:t>a</a:t>
            </a:r>
            <a:r>
              <a:rPr lang="zh-CN" altLang="en-US"/>
              <a:t>的等价类的代表结点</a:t>
            </a:r>
            <a:r>
              <a:rPr lang="en-US" altLang="zh-CN"/>
              <a:t>n</a:t>
            </a:r>
          </a:p>
          <a:p>
            <a:pPr eaLnBrk="1" hangingPunct="1"/>
            <a:r>
              <a:rPr lang="zh-CN" altLang="en-US"/>
              <a:t>因此，</a:t>
            </a:r>
            <a:r>
              <a:rPr lang="en-US" altLang="zh-CN"/>
              <a:t>n</a:t>
            </a:r>
            <a:r>
              <a:rPr lang="zh-CN" altLang="en-US"/>
              <a:t>表示的表达式实际上就是</a:t>
            </a:r>
            <a:r>
              <a:rPr lang="en-US" altLang="zh-CN"/>
              <a:t>S(</a:t>
            </a:r>
            <a:r>
              <a:rPr lang="en-US" altLang="zh-CN">
                <a:latin typeface="Symbol" panose="05050102010706020507" pitchFamily="18" charset="2"/>
              </a:rPr>
              <a:t>a</a:t>
            </a:r>
            <a:r>
              <a:rPr lang="en-US" altLang="zh-CN"/>
              <a:t>)</a:t>
            </a:r>
          </a:p>
          <a:p>
            <a:pPr eaLnBrk="1" hangingPunct="1"/>
            <a:r>
              <a:rPr lang="zh-CN" altLang="en-US"/>
              <a:t>如上例</a:t>
            </a:r>
          </a:p>
          <a:p>
            <a:pPr lvl="1" eaLnBrk="1" hangingPunct="1"/>
            <a:r>
              <a:rPr lang="en-US" altLang="zh-CN">
                <a:latin typeface="Symbol" panose="05050102010706020507" pitchFamily="18" charset="2"/>
              </a:rPr>
              <a:t>a</a:t>
            </a:r>
            <a:r>
              <a:rPr lang="en-US" altLang="zh-CN" baseline="-25000"/>
              <a:t>3</a:t>
            </a:r>
            <a:r>
              <a:rPr lang="zh-CN" altLang="en-US"/>
              <a:t>的代表结点为</a:t>
            </a:r>
            <a:r>
              <a:rPr lang="en-US" altLang="zh-CN"/>
              <a:t>4</a:t>
            </a:r>
            <a:r>
              <a:rPr lang="zh-CN" altLang="en-US"/>
              <a:t>，表示</a:t>
            </a:r>
            <a:r>
              <a:rPr lang="en-US" altLang="zh-CN">
                <a:latin typeface="Symbol" panose="05050102010706020507" pitchFamily="18" charset="2"/>
              </a:rPr>
              <a:t>a</a:t>
            </a:r>
            <a:r>
              <a:rPr lang="en-US" altLang="zh-CN" baseline="-25000"/>
              <a:t>1</a:t>
            </a:r>
            <a:endParaRPr lang="en-US" altLang="zh-CN"/>
          </a:p>
          <a:p>
            <a:pPr lvl="1" eaLnBrk="1" hangingPunct="1"/>
            <a:r>
              <a:rPr lang="en-US" altLang="zh-CN">
                <a:latin typeface="Symbol" panose="05050102010706020507" pitchFamily="18" charset="2"/>
              </a:rPr>
              <a:t>a</a:t>
            </a:r>
            <a:r>
              <a:rPr lang="en-US" altLang="zh-CN" baseline="-25000"/>
              <a:t>5</a:t>
            </a:r>
            <a:r>
              <a:rPr lang="zh-CN" altLang="en-US"/>
              <a:t>的代表结点为</a:t>
            </a:r>
            <a:r>
              <a:rPr lang="en-US" altLang="zh-CN"/>
              <a:t>8</a:t>
            </a:r>
            <a:r>
              <a:rPr lang="zh-CN" altLang="en-US"/>
              <a:t>，表示</a:t>
            </a:r>
            <a:r>
              <a:rPr lang="en-US" altLang="zh-CN"/>
              <a:t>list(</a:t>
            </a:r>
            <a:r>
              <a:rPr lang="en-US" altLang="zh-CN">
                <a:latin typeface="Symbol" panose="05050102010706020507" pitchFamily="18" charset="2"/>
              </a:rPr>
              <a:t>a</a:t>
            </a:r>
            <a:r>
              <a:rPr lang="en-US" altLang="zh-CN" baseline="-25000"/>
              <a:t>2</a:t>
            </a:r>
            <a:r>
              <a:rPr lang="en-US" altLang="zh-CN"/>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20FED26-4CCA-4231-8E98-A4FE185951E0}"/>
              </a:ext>
            </a:extLst>
          </p:cNvPr>
          <p:cNvSpPr>
            <a:spLocks noGrp="1" noChangeArrowheads="1"/>
          </p:cNvSpPr>
          <p:nvPr>
            <p:ph type="title"/>
          </p:nvPr>
        </p:nvSpPr>
        <p:spPr/>
        <p:txBody>
          <a:bodyPr/>
          <a:lstStyle/>
          <a:p>
            <a:pPr eaLnBrk="1" hangingPunct="1"/>
            <a:r>
              <a:rPr lang="zh-CN" altLang="en-US"/>
              <a:t>例</a:t>
            </a:r>
            <a:r>
              <a:rPr lang="en-US" altLang="zh-CN"/>
              <a:t>6.15</a:t>
            </a:r>
          </a:p>
        </p:txBody>
      </p:sp>
      <p:sp>
        <p:nvSpPr>
          <p:cNvPr id="105475" name="Rectangle 3">
            <a:extLst>
              <a:ext uri="{FF2B5EF4-FFF2-40B4-BE49-F238E27FC236}">
                <a16:creationId xmlns:a16="http://schemas.microsoft.com/office/drawing/2014/main" id="{ECCEA43E-F143-48C3-B2A7-80D6B97E4AEF}"/>
              </a:ext>
            </a:extLst>
          </p:cNvPr>
          <p:cNvSpPr>
            <a:spLocks noGrp="1" noChangeArrowheads="1"/>
          </p:cNvSpPr>
          <p:nvPr>
            <p:ph type="body" idx="1"/>
          </p:nvPr>
        </p:nvSpPr>
        <p:spPr/>
        <p:txBody>
          <a:bodyPr/>
          <a:lstStyle/>
          <a:p>
            <a:pPr eaLnBrk="1" hangingPunct="1">
              <a:lnSpc>
                <a:spcPct val="80000"/>
              </a:lnSpc>
              <a:spcBef>
                <a:spcPct val="10000"/>
              </a:spcBef>
              <a:buFont typeface="Wingdings" panose="05000000000000000000" pitchFamily="2" charset="2"/>
              <a:buNone/>
            </a:pPr>
            <a:r>
              <a:rPr lang="en-US" altLang="zh-CN"/>
              <a:t>e : real </a:t>
            </a:r>
            <a:r>
              <a:rPr lang="en-US" altLang="zh-CN">
                <a:latin typeface="Symbol" panose="05050102010706020507" pitchFamily="18" charset="2"/>
                <a:sym typeface="Symbol" panose="05050102010706020507" pitchFamily="18" charset="2"/>
              </a:rPr>
              <a:t> </a:t>
            </a:r>
            <a:r>
              <a:rPr lang="en-US" altLang="zh-CN">
                <a:sym typeface="Symbol" panose="05050102010706020507" pitchFamily="18" charset="2"/>
              </a:rPr>
              <a:t>e</a:t>
            </a:r>
          </a:p>
          <a:p>
            <a:pPr eaLnBrk="1" hangingPunct="1">
              <a:lnSpc>
                <a:spcPct val="80000"/>
              </a:lnSpc>
              <a:spcBef>
                <a:spcPct val="10000"/>
              </a:spcBef>
              <a:buFont typeface="Wingdings" panose="05000000000000000000" pitchFamily="2" charset="2"/>
              <a:buNone/>
            </a:pPr>
            <a:r>
              <a:rPr lang="en-US" altLang="zh-CN">
                <a:sym typeface="Symbol" panose="05050102010706020507" pitchFamily="18" charset="2"/>
              </a:rPr>
              <a:t>f : </a:t>
            </a:r>
            <a:r>
              <a:rPr lang="en-US" altLang="zh-CN"/>
              <a:t> real </a:t>
            </a:r>
            <a:r>
              <a:rPr lang="en-US" altLang="zh-CN">
                <a:latin typeface="Symbol" panose="05050102010706020507" pitchFamily="18" charset="2"/>
                <a:sym typeface="Symbol" panose="05050102010706020507" pitchFamily="18" charset="2"/>
              </a:rPr>
              <a:t> (</a:t>
            </a:r>
            <a:r>
              <a:rPr lang="en-US" altLang="zh-CN"/>
              <a:t>real </a:t>
            </a:r>
            <a:r>
              <a:rPr lang="en-US" altLang="zh-CN">
                <a:latin typeface="Symbol" panose="05050102010706020507" pitchFamily="18" charset="2"/>
                <a:sym typeface="Symbol" panose="05050102010706020507" pitchFamily="18" charset="2"/>
              </a:rPr>
              <a:t></a:t>
            </a:r>
            <a:r>
              <a:rPr lang="en-US" altLang="zh-CN">
                <a:sym typeface="Symbol" panose="05050102010706020507" pitchFamily="18" charset="2"/>
              </a:rPr>
              <a:t> f)</a:t>
            </a:r>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buFont typeface="Wingdings" panose="05000000000000000000" pitchFamily="2" charset="2"/>
              <a:buNone/>
            </a:pPr>
            <a:endParaRPr lang="en-US" altLang="zh-CN" sz="2400">
              <a:solidFill>
                <a:srgbClr val="3333CC"/>
              </a:solidFill>
            </a:endParaRPr>
          </a:p>
          <a:p>
            <a:pPr eaLnBrk="1" hangingPunct="1">
              <a:buFont typeface="Wingdings" panose="05000000000000000000" pitchFamily="2" charset="2"/>
              <a:buNone/>
            </a:pPr>
            <a:r>
              <a:rPr lang="en-US" altLang="zh-CN" sz="2400">
                <a:solidFill>
                  <a:srgbClr val="3333CC"/>
                </a:solidFill>
              </a:rPr>
              <a:t>unify(1, 3)</a:t>
            </a:r>
            <a:r>
              <a:rPr lang="zh-CN" altLang="en-US" sz="2400">
                <a:solidFill>
                  <a:srgbClr val="3333CC"/>
                </a:solidFill>
              </a:rPr>
              <a:t>：相同操作符，合并，</a:t>
            </a:r>
            <a:r>
              <a:rPr lang="en-US" altLang="zh-CN" sz="2400">
                <a:solidFill>
                  <a:srgbClr val="3333CC"/>
                </a:solidFill>
              </a:rPr>
              <a:t>unify(2, 4), unify(1, 5)</a:t>
            </a:r>
          </a:p>
          <a:p>
            <a:pPr eaLnBrk="1" hangingPunct="1">
              <a:buFont typeface="Wingdings" panose="05000000000000000000" pitchFamily="2" charset="2"/>
              <a:buNone/>
            </a:pPr>
            <a:r>
              <a:rPr lang="en-US" altLang="zh-CN" sz="2400">
                <a:solidFill>
                  <a:srgbClr val="3333CC"/>
                </a:solidFill>
              </a:rPr>
              <a:t>unify(2, 4)</a:t>
            </a:r>
            <a:r>
              <a:rPr lang="zh-CN" altLang="en-US" sz="2400">
                <a:solidFill>
                  <a:srgbClr val="3333CC"/>
                </a:solidFill>
              </a:rPr>
              <a:t>：相同基本类型，合并，返回真</a:t>
            </a:r>
          </a:p>
        </p:txBody>
      </p:sp>
      <p:pic>
        <p:nvPicPr>
          <p:cNvPr id="105476" name="Picture 4" descr="unify3">
            <a:extLst>
              <a:ext uri="{FF2B5EF4-FFF2-40B4-BE49-F238E27FC236}">
                <a16:creationId xmlns:a16="http://schemas.microsoft.com/office/drawing/2014/main" id="{88D1EE50-0F40-4085-82D2-D76F7B3F3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90800"/>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57A4A428-F5FF-4402-B61E-C639635C61C2}"/>
              </a:ext>
            </a:extLst>
          </p:cNvPr>
          <p:cNvSpPr>
            <a:spLocks noGrp="1" noChangeArrowheads="1"/>
          </p:cNvSpPr>
          <p:nvPr>
            <p:ph type="title"/>
          </p:nvPr>
        </p:nvSpPr>
        <p:spPr/>
        <p:txBody>
          <a:bodyPr/>
          <a:lstStyle/>
          <a:p>
            <a:pPr eaLnBrk="1" hangingPunct="1"/>
            <a:r>
              <a:rPr lang="zh-CN" altLang="en-US"/>
              <a:t>例</a:t>
            </a:r>
            <a:r>
              <a:rPr lang="en-US" altLang="zh-CN"/>
              <a:t>6.15</a:t>
            </a:r>
            <a:r>
              <a:rPr lang="zh-CN" altLang="en-US"/>
              <a:t>（续）</a:t>
            </a:r>
          </a:p>
        </p:txBody>
      </p:sp>
      <p:sp>
        <p:nvSpPr>
          <p:cNvPr id="106499" name="Rectangle 3">
            <a:extLst>
              <a:ext uri="{FF2B5EF4-FFF2-40B4-BE49-F238E27FC236}">
                <a16:creationId xmlns:a16="http://schemas.microsoft.com/office/drawing/2014/main" id="{EC2ACA24-7229-482D-A4DC-EC0A4C21B6F3}"/>
              </a:ext>
            </a:extLst>
          </p:cNvPr>
          <p:cNvSpPr>
            <a:spLocks noGrp="1" noChangeArrowheads="1"/>
          </p:cNvSpPr>
          <p:nvPr>
            <p:ph type="body" idx="1"/>
          </p:nvPr>
        </p:nvSpPr>
        <p:spPr>
          <a:xfrm>
            <a:off x="1182688" y="3581400"/>
            <a:ext cx="7772400" cy="1066800"/>
          </a:xfrm>
        </p:spPr>
        <p:txBody>
          <a:bodyPr/>
          <a:lstStyle/>
          <a:p>
            <a:pPr eaLnBrk="1" hangingPunct="1">
              <a:lnSpc>
                <a:spcPct val="80000"/>
              </a:lnSpc>
              <a:spcBef>
                <a:spcPct val="10000"/>
              </a:spcBef>
              <a:buFont typeface="Wingdings" panose="05000000000000000000" pitchFamily="2" charset="2"/>
              <a:buNone/>
            </a:pPr>
            <a:r>
              <a:rPr lang="en-US" altLang="zh-CN" sz="2400">
                <a:solidFill>
                  <a:srgbClr val="3333CC"/>
                </a:solidFill>
              </a:rPr>
              <a:t>unify(1, 5)</a:t>
            </a:r>
            <a:r>
              <a:rPr lang="zh-CN" altLang="en-US" sz="2400">
                <a:solidFill>
                  <a:srgbClr val="3333CC"/>
                </a:solidFill>
              </a:rPr>
              <a:t>：相同操作符，合并，</a:t>
            </a:r>
            <a:r>
              <a:rPr lang="en-US" altLang="zh-CN" sz="2400">
                <a:solidFill>
                  <a:srgbClr val="3333CC"/>
                </a:solidFill>
              </a:rPr>
              <a:t>unify(2, 6), unify(1, 1)</a:t>
            </a:r>
          </a:p>
          <a:p>
            <a:pPr eaLnBrk="1" hangingPunct="1">
              <a:lnSpc>
                <a:spcPct val="80000"/>
              </a:lnSpc>
              <a:spcBef>
                <a:spcPct val="10000"/>
              </a:spcBef>
              <a:buFont typeface="Wingdings" panose="05000000000000000000" pitchFamily="2" charset="2"/>
              <a:buNone/>
            </a:pPr>
            <a:r>
              <a:rPr lang="en-US" altLang="zh-CN" sz="2400">
                <a:solidFill>
                  <a:srgbClr val="3333CC"/>
                </a:solidFill>
              </a:rPr>
              <a:t>unify(2, 6)</a:t>
            </a:r>
            <a:r>
              <a:rPr lang="zh-CN" altLang="en-US" sz="2400">
                <a:solidFill>
                  <a:srgbClr val="3333CC"/>
                </a:solidFill>
              </a:rPr>
              <a:t>：相同基本类型，合并，返回真</a:t>
            </a:r>
          </a:p>
          <a:p>
            <a:pPr eaLnBrk="1" hangingPunct="1">
              <a:lnSpc>
                <a:spcPct val="80000"/>
              </a:lnSpc>
              <a:spcBef>
                <a:spcPct val="10000"/>
              </a:spcBef>
              <a:buFont typeface="Wingdings" panose="05000000000000000000" pitchFamily="2" charset="2"/>
              <a:buNone/>
            </a:pPr>
            <a:r>
              <a:rPr lang="zh-CN" altLang="en-US" sz="2400">
                <a:solidFill>
                  <a:srgbClr val="3333CC"/>
                </a:solidFill>
                <a:sym typeface="Wingdings" panose="05000000000000000000" pitchFamily="2" charset="2"/>
              </a:rPr>
              <a:t></a:t>
            </a:r>
            <a:r>
              <a:rPr lang="en-US" altLang="zh-CN" sz="2400">
                <a:solidFill>
                  <a:srgbClr val="3333CC"/>
                </a:solidFill>
                <a:sym typeface="Wingdings" panose="05000000000000000000" pitchFamily="2" charset="2"/>
              </a:rPr>
              <a:t>unify(1, 5)</a:t>
            </a:r>
            <a:r>
              <a:rPr lang="zh-CN" altLang="en-US" sz="2400">
                <a:solidFill>
                  <a:srgbClr val="3333CC"/>
                </a:solidFill>
                <a:sym typeface="Wingdings" panose="05000000000000000000" pitchFamily="2" charset="2"/>
              </a:rPr>
              <a:t>为真</a:t>
            </a:r>
            <a:r>
              <a:rPr lang="en-US" altLang="zh-CN" sz="2400">
                <a:solidFill>
                  <a:srgbClr val="3333CC"/>
                </a:solidFill>
                <a:sym typeface="Wingdings" panose="05000000000000000000" pitchFamily="2" charset="2"/>
              </a:rPr>
              <a:t>unify(1, 3)</a:t>
            </a:r>
            <a:r>
              <a:rPr lang="zh-CN" altLang="en-US" sz="2400">
                <a:solidFill>
                  <a:srgbClr val="3333CC"/>
                </a:solidFill>
                <a:sym typeface="Wingdings" panose="05000000000000000000" pitchFamily="2" charset="2"/>
              </a:rPr>
              <a:t>为真</a:t>
            </a:r>
            <a:endParaRPr lang="zh-CN" altLang="en-US" sz="2400">
              <a:solidFill>
                <a:srgbClr val="3333CC"/>
              </a:solidFill>
            </a:endParaRPr>
          </a:p>
        </p:txBody>
      </p:sp>
      <p:pic>
        <p:nvPicPr>
          <p:cNvPr id="106500" name="Picture 5" descr="unify4">
            <a:extLst>
              <a:ext uri="{FF2B5EF4-FFF2-40B4-BE49-F238E27FC236}">
                <a16:creationId xmlns:a16="http://schemas.microsoft.com/office/drawing/2014/main" id="{0D9A8DF0-C9B2-4073-A2D1-5F339C37C5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66825"/>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Picture 6" descr="unify5">
            <a:extLst>
              <a:ext uri="{FF2B5EF4-FFF2-40B4-BE49-F238E27FC236}">
                <a16:creationId xmlns:a16="http://schemas.microsoft.com/office/drawing/2014/main" id="{E1E4B548-4AC8-4A41-8ACE-D683A1DF7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572000"/>
            <a:ext cx="5226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3333CC"/>
      </a:accent2>
      <a:accent3>
        <a:srgbClr val="FFFFFF"/>
      </a:accent3>
      <a:accent4>
        <a:srgbClr val="000000"/>
      </a:accent4>
      <a:accent5>
        <a:srgbClr val="AAEFD1"/>
      </a:accent5>
      <a:accent6>
        <a:srgbClr val="2D2DB9"/>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13607</TotalTime>
  <Words>8590</Words>
  <Application>Microsoft Office PowerPoint</Application>
  <PresentationFormat>全屏显示(4:3)</PresentationFormat>
  <Paragraphs>940</Paragraphs>
  <Slides>101</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101</vt:i4>
      </vt:variant>
    </vt:vector>
  </HeadingPairs>
  <TitlesOfParts>
    <vt:vector size="109" baseType="lpstr">
      <vt:lpstr>宋体</vt:lpstr>
      <vt:lpstr>Symbol</vt:lpstr>
      <vt:lpstr>Tahoma</vt:lpstr>
      <vt:lpstr>Times New Roman</vt:lpstr>
      <vt:lpstr>Wingdings</vt:lpstr>
      <vt:lpstr>Blends</vt:lpstr>
      <vt:lpstr>Equation.3</vt:lpstr>
      <vt:lpstr>Equation</vt:lpstr>
      <vt:lpstr>第六章  类型检查</vt:lpstr>
      <vt:lpstr>内容</vt:lpstr>
      <vt:lpstr>静态检查（static checking）</vt:lpstr>
      <vt:lpstr>类型检查</vt:lpstr>
      <vt:lpstr>6.1  类型系统</vt:lpstr>
      <vt:lpstr>6.1.1  类型表达式</vt:lpstr>
      <vt:lpstr>类型表达式（续）</vt:lpstr>
      <vt:lpstr>类型表达式（续）</vt:lpstr>
      <vt:lpstr>类型表达式（续）</vt:lpstr>
      <vt:lpstr>图表示类型表达式</vt:lpstr>
      <vt:lpstr>6.1.2  类型系统</vt:lpstr>
      <vt:lpstr>6.1.2静态/动态检查</vt:lpstr>
      <vt:lpstr>6.1.4  错误恢复</vt:lpstr>
      <vt:lpstr>6.2  一个简单的类型检查器</vt:lpstr>
      <vt:lpstr>翻译模式</vt:lpstr>
      <vt:lpstr>6.2.2  表达式类型检查</vt:lpstr>
      <vt:lpstr>6.2.3  语句的类型检查</vt:lpstr>
      <vt:lpstr>6.2.4  函数的类型检查</vt:lpstr>
      <vt:lpstr>类型检查示例</vt:lpstr>
      <vt:lpstr>6.3  类型表达式的等价</vt:lpstr>
      <vt:lpstr>6.3.1  类型表达式的结构等价</vt:lpstr>
      <vt:lpstr>等价性检查算法</vt:lpstr>
      <vt:lpstr>例6.1：编码类型表达式</vt:lpstr>
      <vt:lpstr>例6.1（续）</vt:lpstr>
      <vt:lpstr>例6.1（续）</vt:lpstr>
      <vt:lpstr>例6.1（续）</vt:lpstr>
      <vt:lpstr>6.3.2  名字等价</vt:lpstr>
      <vt:lpstr>例6.2</vt:lpstr>
      <vt:lpstr>例6.3</vt:lpstr>
      <vt:lpstr>例6.3（续）</vt:lpstr>
      <vt:lpstr>6.3.3  回路问题</vt:lpstr>
      <vt:lpstr>回路问题（续）</vt:lpstr>
      <vt:lpstr>例6.4  C语言避免回路</vt:lpstr>
      <vt:lpstr>6.4  类型转换</vt:lpstr>
      <vt:lpstr>强制类型转换（coercion）</vt:lpstr>
      <vt:lpstr>例6.5</vt:lpstr>
      <vt:lpstr>lcc的类型</vt:lpstr>
      <vt:lpstr>类型构造</vt:lpstr>
      <vt:lpstr>类型构造</vt:lpstr>
      <vt:lpstr>指针</vt:lpstr>
      <vt:lpstr>数组</vt:lpstr>
      <vt:lpstr>数组</vt:lpstr>
      <vt:lpstr>结构和联合</vt:lpstr>
      <vt:lpstr>结构和联合</vt:lpstr>
      <vt:lpstr>结构和联合</vt:lpstr>
      <vt:lpstr>结构和联合</vt:lpstr>
      <vt:lpstr>结构和联合</vt:lpstr>
      <vt:lpstr>类型等价</vt:lpstr>
      <vt:lpstr>类型等价</vt:lpstr>
      <vt:lpstr>类型等价</vt:lpstr>
      <vt:lpstr>类型等价</vt:lpstr>
      <vt:lpstr>TinyC的类型检查</vt:lpstr>
      <vt:lpstr>TinyC的类型检查</vt:lpstr>
      <vt:lpstr>TinyC的类型检查</vt:lpstr>
      <vt:lpstr>TinyC的类型检查</vt:lpstr>
      <vt:lpstr>6.5 函数和操作符重载</vt:lpstr>
      <vt:lpstr>6.5.1  子表达式可能类型集合</vt:lpstr>
      <vt:lpstr>可能类型集合情况的处理</vt:lpstr>
      <vt:lpstr>例6.7</vt:lpstr>
      <vt:lpstr>6.5.2  确定唯一类型</vt:lpstr>
      <vt:lpstr>确定唯一类型的语义规则</vt:lpstr>
      <vt:lpstr>6.6  多态（polymorphic）函数</vt:lpstr>
      <vt:lpstr>6.6.1  为什么使用多态函数？</vt:lpstr>
      <vt:lpstr>求任何类型列表长度的ML程序</vt:lpstr>
      <vt:lpstr>6.6.2  类型变量</vt:lpstr>
      <vt:lpstr>例6.8</vt:lpstr>
      <vt:lpstr>例6.9</vt:lpstr>
      <vt:lpstr>6.6.3  包含多态函数的语言</vt:lpstr>
      <vt:lpstr>文法定义</vt:lpstr>
      <vt:lpstr>多态函数类型检查</vt:lpstr>
      <vt:lpstr>类型检查规则的特点</vt:lpstr>
      <vt:lpstr>类型检查规则的特点（二）</vt:lpstr>
      <vt:lpstr>类型检查规则的特点（三）</vt:lpstr>
      <vt:lpstr>6.6.4  代换，实例和合一</vt:lpstr>
      <vt:lpstr>例6.10</vt:lpstr>
      <vt:lpstr>合一方法</vt:lpstr>
      <vt:lpstr>6.6.5  多态函数类型检查</vt:lpstr>
      <vt:lpstr>unify操作</vt:lpstr>
      <vt:lpstr>类型检查规则</vt:lpstr>
      <vt:lpstr>例</vt:lpstr>
      <vt:lpstr>例6.11</vt:lpstr>
      <vt:lpstr>例6.11（续）</vt:lpstr>
      <vt:lpstr>例6.12  ML语言多态函数检查</vt:lpstr>
      <vt:lpstr>例6.12（续）</vt:lpstr>
      <vt:lpstr>例6.12（续）</vt:lpstr>
      <vt:lpstr>例6.12（续）</vt:lpstr>
      <vt:lpstr>例6.12（续）</vt:lpstr>
      <vt:lpstr>6.7  合一算法</vt:lpstr>
      <vt:lpstr>例6.13</vt:lpstr>
      <vt:lpstr>算法思想</vt:lpstr>
      <vt:lpstr>算法6.1  合一算法</vt:lpstr>
      <vt:lpstr>算法6.1（续）</vt:lpstr>
      <vt:lpstr>find和union操作</vt:lpstr>
      <vt:lpstr>算法（续）</vt:lpstr>
      <vt:lpstr>例6.14</vt:lpstr>
      <vt:lpstr>例6.14（续）</vt:lpstr>
      <vt:lpstr>例6.14（续）</vt:lpstr>
      <vt:lpstr>例6.14（续）</vt:lpstr>
      <vt:lpstr>构造合一代换</vt:lpstr>
      <vt:lpstr>例6.15</vt:lpstr>
      <vt:lpstr>例6.15（续）</vt:lpstr>
    </vt:vector>
  </TitlesOfParts>
  <Company>南开大学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介绍</dc:title>
  <dc:creator>王刚</dc:creator>
  <cp:lastModifiedBy>刚 王</cp:lastModifiedBy>
  <cp:revision>1453</cp:revision>
  <dcterms:created xsi:type="dcterms:W3CDTF">2003-06-05T11:51:39Z</dcterms:created>
  <dcterms:modified xsi:type="dcterms:W3CDTF">2025-11-20T00:55:25Z</dcterms:modified>
</cp:coreProperties>
</file>