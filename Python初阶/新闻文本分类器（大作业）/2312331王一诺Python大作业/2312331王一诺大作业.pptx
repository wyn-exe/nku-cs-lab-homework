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handoutMasterIdLst>
    <p:handoutMasterId r:id="rId24"/>
  </p:handoutMasterIdLst>
  <p:sldIdLst>
    <p:sldId id="256" r:id="rId3"/>
    <p:sldId id="257" r:id="rId4"/>
    <p:sldId id="258" r:id="rId5"/>
    <p:sldId id="259" r:id="rId6"/>
    <p:sldId id="271" r:id="rId7"/>
    <p:sldId id="261" r:id="rId8"/>
    <p:sldId id="262" r:id="rId9"/>
    <p:sldId id="264" r:id="rId10"/>
    <p:sldId id="265" r:id="rId11"/>
    <p:sldId id="282" r:id="rId12"/>
    <p:sldId id="283" r:id="rId13"/>
    <p:sldId id="284" r:id="rId14"/>
    <p:sldId id="285" r:id="rId15"/>
    <p:sldId id="286" r:id="rId16"/>
    <p:sldId id="267" r:id="rId17"/>
    <p:sldId id="268" r:id="rId18"/>
    <p:sldId id="287" r:id="rId19"/>
    <p:sldId id="269" r:id="rId20"/>
    <p:sldId id="288" r:id="rId21"/>
    <p:sldId id="270" r:id="rId22"/>
  </p:sldIdLst>
  <p:sldSz cx="18288000" cy="10287000"/>
  <p:notesSz cx="6858000" cy="9144000"/>
  <p:embeddedFontLst>
    <p:embeddedFont>
      <p:font typeface="字由点字倔强黑" panose="00020600040101010101" charset="-122"/>
      <p:regular r:id="rId28"/>
    </p:embeddedFont>
    <p:embeddedFont>
      <p:font typeface="金山云技术体" charset="-122"/>
      <p:regular r:id="rId29"/>
    </p:embeddedFont>
    <p:embeddedFont>
      <p:font typeface="WPS灵秀黑" charset="-122"/>
      <p:regular r:id="rId30"/>
    </p:embeddedFont>
    <p:embeddedFont>
      <p:font typeface="Calibri" panose="020F050202020403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36"/>
        <p:guide pos="283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tags" Target="../tags/tag2.xml"/><Relationship Id="rId7" Type="http://schemas.openxmlformats.org/officeDocument/2006/relationships/tags" Target="../tags/tag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 Id="rId35" Type="http://schemas.openxmlformats.org/officeDocument/2006/relationships/slideLayout" Target="../slideLayouts/slideLayout7.xml"/><Relationship Id="rId34" Type="http://schemas.openxmlformats.org/officeDocument/2006/relationships/tags" Target="../tags/tag28.xml"/><Relationship Id="rId33" Type="http://schemas.openxmlformats.org/officeDocument/2006/relationships/tags" Target="../tags/tag27.xml"/><Relationship Id="rId32" Type="http://schemas.openxmlformats.org/officeDocument/2006/relationships/tags" Target="../tags/tag26.xml"/><Relationship Id="rId31" Type="http://schemas.openxmlformats.org/officeDocument/2006/relationships/tags" Target="../tags/tag25.xml"/><Relationship Id="rId30" Type="http://schemas.openxmlformats.org/officeDocument/2006/relationships/tags" Target="../tags/tag24.xml"/><Relationship Id="rId3" Type="http://schemas.openxmlformats.org/officeDocument/2006/relationships/image" Target="../media/image3.png"/><Relationship Id="rId29" Type="http://schemas.openxmlformats.org/officeDocument/2006/relationships/tags" Target="../tags/tag23.xml"/><Relationship Id="rId28" Type="http://schemas.openxmlformats.org/officeDocument/2006/relationships/tags" Target="../tags/tag22.xml"/><Relationship Id="rId27" Type="http://schemas.openxmlformats.org/officeDocument/2006/relationships/tags" Target="../tags/tag21.xml"/><Relationship Id="rId26" Type="http://schemas.openxmlformats.org/officeDocument/2006/relationships/tags" Target="../tags/tag20.xml"/><Relationship Id="rId25" Type="http://schemas.openxmlformats.org/officeDocument/2006/relationships/tags" Target="../tags/tag19.xml"/><Relationship Id="rId24" Type="http://schemas.openxmlformats.org/officeDocument/2006/relationships/tags" Target="../tags/tag18.xml"/><Relationship Id="rId23" Type="http://schemas.openxmlformats.org/officeDocument/2006/relationships/tags" Target="../tags/tag17.xml"/><Relationship Id="rId22" Type="http://schemas.openxmlformats.org/officeDocument/2006/relationships/tags" Target="../tags/tag16.xml"/><Relationship Id="rId21" Type="http://schemas.openxmlformats.org/officeDocument/2006/relationships/tags" Target="../tags/tag15.xml"/><Relationship Id="rId20" Type="http://schemas.openxmlformats.org/officeDocument/2006/relationships/tags" Target="../tags/tag14.xml"/><Relationship Id="rId2" Type="http://schemas.openxmlformats.org/officeDocument/2006/relationships/image" Target="../media/image2.svg"/><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0.svg"/><Relationship Id="rId3" Type="http://schemas.openxmlformats.org/officeDocument/2006/relationships/image" Target="../media/image9.png"/><Relationship Id="rId27" Type="http://schemas.openxmlformats.org/officeDocument/2006/relationships/slideLayout" Target="../slideLayouts/slideLayout7.xml"/><Relationship Id="rId26" Type="http://schemas.openxmlformats.org/officeDocument/2006/relationships/tags" Target="../tags/tag48.xml"/><Relationship Id="rId25" Type="http://schemas.openxmlformats.org/officeDocument/2006/relationships/tags" Target="../tags/tag47.xml"/><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30.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0.svg"/><Relationship Id="rId16" Type="http://schemas.openxmlformats.org/officeDocument/2006/relationships/slideLayout" Target="../slideLayouts/slideLayout7.xml"/><Relationship Id="rId15" Type="http://schemas.openxmlformats.org/officeDocument/2006/relationships/image" Target="../media/image12.png"/><Relationship Id="rId14" Type="http://schemas.openxmlformats.org/officeDocument/2006/relationships/image" Target="../media/image11.png"/><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 Id="rId3" Type="http://schemas.openxmlformats.org/officeDocument/2006/relationships/image" Target="../media/image3.png"/><Relationship Id="rId20" Type="http://schemas.openxmlformats.org/officeDocument/2006/relationships/slideLayout" Target="../slideLayouts/slideLayout7.xml"/><Relationship Id="rId2" Type="http://schemas.openxmlformats.org/officeDocument/2006/relationships/image" Target="../media/image10.svg"/><Relationship Id="rId19" Type="http://schemas.openxmlformats.org/officeDocument/2006/relationships/image" Target="../media/image13.png"/><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7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75.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79.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83.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8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1" Type="http://schemas.openxmlformats.org/officeDocument/2006/relationships/slideLayout" Target="../slideLayouts/slideLayout7.xml"/><Relationship Id="rId10" Type="http://schemas.openxmlformats.org/officeDocument/2006/relationships/tags" Target="../tags/tag91.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4.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5" Type="http://schemas.openxmlformats.org/officeDocument/2006/relationships/slideLayout" Target="../slideLayouts/slideLayout7.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5" Type="http://schemas.openxmlformats.org/officeDocument/2006/relationships/slideLayout" Target="../slideLayouts/slideLayout7.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2.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10.svg"/><Relationship Id="rId10"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9.png"/><Relationship Id="rId6" Type="http://schemas.openxmlformats.org/officeDocument/2006/relationships/image" Target="../media/image10.svg"/><Relationship Id="rId5" Type="http://schemas.openxmlformats.org/officeDocument/2006/relationships/image" Target="../media/image14.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8.svg"/><Relationship Id="rId7" Type="http://schemas.openxmlformats.org/officeDocument/2006/relationships/image" Target="../media/image21.png"/><Relationship Id="rId6" Type="http://schemas.openxmlformats.org/officeDocument/2006/relationships/image" Target="../media/image6.svg"/><Relationship Id="rId5" Type="http://schemas.openxmlformats.org/officeDocument/2006/relationships/image" Target="../media/image20.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image" Target="../media/image10.svg"/><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7745252" y="484231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9730021" y="647409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1565391" y="6519718"/>
            <a:ext cx="3366158" cy="630807"/>
            <a:chOff x="0" y="0"/>
            <a:chExt cx="916223" cy="171697"/>
          </a:xfrm>
        </p:grpSpPr>
        <p:sp>
          <p:nvSpPr>
            <p:cNvPr id="5" name="Freeform 5"/>
            <p:cNvSpPr/>
            <p:nvPr/>
          </p:nvSpPr>
          <p:spPr>
            <a:xfrm>
              <a:off x="0" y="0"/>
              <a:ext cx="916223" cy="171697"/>
            </a:xfrm>
            <a:custGeom>
              <a:avLst/>
              <a:gdLst/>
              <a:ahLst/>
              <a:cxnLst/>
              <a:rect l="l" t="t" r="r" b="b"/>
              <a:pathLst>
                <a:path w="916223" h="171697">
                  <a:moveTo>
                    <a:pt x="85849" y="0"/>
                  </a:moveTo>
                  <a:lnTo>
                    <a:pt x="830375" y="0"/>
                  </a:lnTo>
                  <a:cubicBezTo>
                    <a:pt x="853143" y="0"/>
                    <a:pt x="874979" y="9045"/>
                    <a:pt x="891079" y="25144"/>
                  </a:cubicBezTo>
                  <a:cubicBezTo>
                    <a:pt x="907178" y="41244"/>
                    <a:pt x="916223" y="63080"/>
                    <a:pt x="916223" y="85849"/>
                  </a:cubicBezTo>
                  <a:lnTo>
                    <a:pt x="916223" y="85849"/>
                  </a:lnTo>
                  <a:cubicBezTo>
                    <a:pt x="916223" y="133261"/>
                    <a:pt x="877787" y="171697"/>
                    <a:pt x="830375" y="171697"/>
                  </a:cubicBezTo>
                  <a:lnTo>
                    <a:pt x="85849" y="171697"/>
                  </a:lnTo>
                  <a:cubicBezTo>
                    <a:pt x="38436" y="171697"/>
                    <a:pt x="0" y="133261"/>
                    <a:pt x="0" y="85849"/>
                  </a:cubicBezTo>
                  <a:lnTo>
                    <a:pt x="0" y="85849"/>
                  </a:lnTo>
                  <a:cubicBezTo>
                    <a:pt x="0" y="38436"/>
                    <a:pt x="38436" y="0"/>
                    <a:pt x="85849" y="0"/>
                  </a:cubicBezTo>
                  <a:close/>
                </a:path>
              </a:pathLst>
            </a:custGeom>
            <a:solidFill>
              <a:srgbClr val="5B7396"/>
            </a:solidFill>
          </p:spPr>
        </p:sp>
        <p:sp>
          <p:nvSpPr>
            <p:cNvPr id="6" name="TextBox 6"/>
            <p:cNvSpPr txBox="1"/>
            <p:nvPr/>
          </p:nvSpPr>
          <p:spPr>
            <a:xfrm>
              <a:off x="0" y="-57150"/>
              <a:ext cx="916223" cy="228847"/>
            </a:xfrm>
            <a:prstGeom prst="rect">
              <a:avLst/>
            </a:prstGeom>
          </p:spPr>
          <p:txBody>
            <a:bodyPr lIns="50800" tIns="50800" rIns="50800" bIns="50800" rtlCol="0" anchor="ctr"/>
            <a:lstStyle/>
            <a:p>
              <a:pPr algn="ctr">
                <a:lnSpc>
                  <a:spcPts val="3210"/>
                </a:lnSpc>
              </a:pPr>
            </a:p>
          </p:txBody>
        </p:sp>
      </p:grpSp>
      <p:sp>
        <p:nvSpPr>
          <p:cNvPr id="7" name="Freeform 7"/>
          <p:cNvSpPr/>
          <p:nvPr/>
        </p:nvSpPr>
        <p:spPr>
          <a:xfrm>
            <a:off x="1880431" y="6631268"/>
            <a:ext cx="382735" cy="407707"/>
          </a:xfrm>
          <a:custGeom>
            <a:avLst/>
            <a:gdLst/>
            <a:ahLst/>
            <a:cxnLst/>
            <a:rect l="l" t="t" r="r" b="b"/>
            <a:pathLst>
              <a:path w="382735" h="407707">
                <a:moveTo>
                  <a:pt x="0" y="0"/>
                </a:moveTo>
                <a:lnTo>
                  <a:pt x="382735" y="0"/>
                </a:lnTo>
                <a:lnTo>
                  <a:pt x="382735" y="407706"/>
                </a:lnTo>
                <a:lnTo>
                  <a:pt x="0" y="4077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5162608" y="6519718"/>
            <a:ext cx="3366158" cy="630807"/>
            <a:chOff x="0" y="0"/>
            <a:chExt cx="916223" cy="171697"/>
          </a:xfrm>
        </p:grpSpPr>
        <p:sp>
          <p:nvSpPr>
            <p:cNvPr id="9" name="Freeform 9"/>
            <p:cNvSpPr/>
            <p:nvPr/>
          </p:nvSpPr>
          <p:spPr>
            <a:xfrm>
              <a:off x="0" y="0"/>
              <a:ext cx="916223" cy="171697"/>
            </a:xfrm>
            <a:custGeom>
              <a:avLst/>
              <a:gdLst/>
              <a:ahLst/>
              <a:cxnLst/>
              <a:rect l="l" t="t" r="r" b="b"/>
              <a:pathLst>
                <a:path w="916223" h="171697">
                  <a:moveTo>
                    <a:pt x="85849" y="0"/>
                  </a:moveTo>
                  <a:lnTo>
                    <a:pt x="830375" y="0"/>
                  </a:lnTo>
                  <a:cubicBezTo>
                    <a:pt x="853143" y="0"/>
                    <a:pt x="874979" y="9045"/>
                    <a:pt x="891079" y="25144"/>
                  </a:cubicBezTo>
                  <a:cubicBezTo>
                    <a:pt x="907178" y="41244"/>
                    <a:pt x="916223" y="63080"/>
                    <a:pt x="916223" y="85849"/>
                  </a:cubicBezTo>
                  <a:lnTo>
                    <a:pt x="916223" y="85849"/>
                  </a:lnTo>
                  <a:cubicBezTo>
                    <a:pt x="916223" y="133261"/>
                    <a:pt x="877787" y="171697"/>
                    <a:pt x="830375" y="171697"/>
                  </a:cubicBezTo>
                  <a:lnTo>
                    <a:pt x="85849" y="171697"/>
                  </a:lnTo>
                  <a:cubicBezTo>
                    <a:pt x="38436" y="171697"/>
                    <a:pt x="0" y="133261"/>
                    <a:pt x="0" y="85849"/>
                  </a:cubicBezTo>
                  <a:lnTo>
                    <a:pt x="0" y="85849"/>
                  </a:lnTo>
                  <a:cubicBezTo>
                    <a:pt x="0" y="38436"/>
                    <a:pt x="38436" y="0"/>
                    <a:pt x="85849" y="0"/>
                  </a:cubicBezTo>
                  <a:close/>
                </a:path>
              </a:pathLst>
            </a:custGeom>
            <a:solidFill>
              <a:srgbClr val="000000">
                <a:alpha val="0"/>
              </a:srgbClr>
            </a:solidFill>
            <a:ln w="19050" cap="rnd">
              <a:solidFill>
                <a:srgbClr val="5B7396"/>
              </a:solidFill>
              <a:prstDash val="solid"/>
              <a:round/>
            </a:ln>
          </p:spPr>
        </p:sp>
        <p:sp>
          <p:nvSpPr>
            <p:cNvPr id="10" name="TextBox 10"/>
            <p:cNvSpPr txBox="1"/>
            <p:nvPr/>
          </p:nvSpPr>
          <p:spPr>
            <a:xfrm>
              <a:off x="0" y="-57150"/>
              <a:ext cx="916223" cy="228847"/>
            </a:xfrm>
            <a:prstGeom prst="rect">
              <a:avLst/>
            </a:prstGeom>
          </p:spPr>
          <p:txBody>
            <a:bodyPr lIns="50800" tIns="50800" rIns="50800" bIns="50800" rtlCol="0" anchor="ctr"/>
            <a:lstStyle/>
            <a:p>
              <a:pPr algn="ctr">
                <a:lnSpc>
                  <a:spcPts val="3210"/>
                </a:lnSpc>
              </a:pPr>
            </a:p>
          </p:txBody>
        </p:sp>
      </p:grpSp>
      <p:sp>
        <p:nvSpPr>
          <p:cNvPr id="11" name="Freeform 11"/>
          <p:cNvSpPr/>
          <p:nvPr/>
        </p:nvSpPr>
        <p:spPr>
          <a:xfrm>
            <a:off x="5477648" y="6631268"/>
            <a:ext cx="382735" cy="407707"/>
          </a:xfrm>
          <a:custGeom>
            <a:avLst/>
            <a:gdLst/>
            <a:ahLst/>
            <a:cxnLst/>
            <a:rect l="l" t="t" r="r" b="b"/>
            <a:pathLst>
              <a:path w="382735" h="407707">
                <a:moveTo>
                  <a:pt x="0" y="0"/>
                </a:moveTo>
                <a:lnTo>
                  <a:pt x="382735" y="0"/>
                </a:lnTo>
                <a:lnTo>
                  <a:pt x="382735" y="407706"/>
                </a:lnTo>
                <a:lnTo>
                  <a:pt x="0" y="407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565391" y="3671547"/>
            <a:ext cx="12257734" cy="1816735"/>
          </a:xfrm>
          <a:prstGeom prst="rect">
            <a:avLst/>
          </a:prstGeom>
        </p:spPr>
        <p:txBody>
          <a:bodyPr lIns="0" tIns="0" rIns="0" bIns="0" rtlCol="0" anchor="t">
            <a:spAutoFit/>
          </a:bodyPr>
          <a:lstStyle/>
          <a:p>
            <a:pPr algn="l">
              <a:lnSpc>
                <a:spcPts val="14170"/>
              </a:lnSpc>
            </a:pPr>
            <a:r>
              <a:rPr 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15</a:t>
            </a:r>
            <a:r>
              <a:rPr lang="zh-CN" alt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类中文新闻</a:t>
            </a:r>
            <a:r>
              <a:rPr lang="zh-CN" alt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分类</a:t>
            </a:r>
            <a:endParaRPr lang="zh-CN" alt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4" name="TextBox 14"/>
          <p:cNvSpPr txBox="1"/>
          <p:nvPr/>
        </p:nvSpPr>
        <p:spPr>
          <a:xfrm>
            <a:off x="1565275" y="1943100"/>
            <a:ext cx="8034020" cy="1948180"/>
          </a:xfrm>
          <a:prstGeom prst="rect">
            <a:avLst/>
          </a:prstGeom>
        </p:spPr>
        <p:txBody>
          <a:bodyPr wrap="square" lIns="0" tIns="0" rIns="0" bIns="0" rtlCol="0" anchor="t">
            <a:spAutoFit/>
          </a:bodyPr>
          <a:lstStyle/>
          <a:p>
            <a:pPr algn="l">
              <a:lnSpc>
                <a:spcPts val="15195"/>
              </a:lnSpc>
            </a:pPr>
            <a:r>
              <a:rPr lang="en-US" sz="10935">
                <a:solidFill>
                  <a:srgbClr val="5B7396"/>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PYTHON</a:t>
            </a:r>
            <a:endParaRPr lang="en-US" sz="10935">
              <a:solidFill>
                <a:srgbClr val="5B7396"/>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5" name="TextBox 15"/>
          <p:cNvSpPr txBox="1"/>
          <p:nvPr/>
        </p:nvSpPr>
        <p:spPr>
          <a:xfrm>
            <a:off x="1565391" y="8893599"/>
            <a:ext cx="4247486" cy="338455"/>
          </a:xfrm>
          <a:prstGeom prst="rect">
            <a:avLst/>
          </a:prstGeom>
        </p:spPr>
        <p:txBody>
          <a:bodyPr lIns="0" tIns="0" rIns="0" bIns="0" rtlCol="0" anchor="t">
            <a:spAutoFit/>
          </a:bodyPr>
          <a:lstStyle/>
          <a:p>
            <a:pPr algn="l">
              <a:lnSpc>
                <a:spcPts val="2640"/>
              </a:lnSpc>
            </a:pPr>
            <a:r>
              <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南开大学</a:t>
            </a:r>
            <a:r>
              <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计算机学院</a:t>
            </a:r>
            <a:endPar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6" name="TextBox 16"/>
          <p:cNvSpPr txBox="1"/>
          <p:nvPr/>
        </p:nvSpPr>
        <p:spPr>
          <a:xfrm>
            <a:off x="2373841" y="6609832"/>
            <a:ext cx="2409840" cy="398145"/>
          </a:xfrm>
          <a:prstGeom prst="rect">
            <a:avLst/>
          </a:prstGeom>
        </p:spPr>
        <p:txBody>
          <a:bodyPr lIns="0" tIns="0" rIns="0" bIns="0" rtlCol="0" anchor="t">
            <a:spAutoFit/>
          </a:bodyPr>
          <a:lstStyle/>
          <a:p>
            <a:pPr algn="l">
              <a:lnSpc>
                <a:spcPts val="3105"/>
              </a:lnSpc>
            </a:pPr>
            <a:r>
              <a:rPr 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学生：</a:t>
            </a:r>
            <a:r>
              <a:rPr lang="zh-CN" alt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王一诺</a:t>
            </a:r>
            <a:endParaRPr lang="zh-CN" alt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7" name="TextBox 17"/>
          <p:cNvSpPr txBox="1"/>
          <p:nvPr/>
        </p:nvSpPr>
        <p:spPr>
          <a:xfrm>
            <a:off x="5971059" y="6609832"/>
            <a:ext cx="2409840" cy="398145"/>
          </a:xfrm>
          <a:prstGeom prst="rect">
            <a:avLst/>
          </a:prstGeom>
        </p:spPr>
        <p:txBody>
          <a:bodyPr lIns="0" tIns="0" rIns="0" bIns="0" rtlCol="0" anchor="t">
            <a:spAutoFit/>
          </a:bodyPr>
          <a:lstStyle/>
          <a:p>
            <a:pPr algn="l">
              <a:lnSpc>
                <a:spcPts val="3105"/>
              </a:lnSpc>
            </a:pPr>
            <a:r>
              <a:rPr 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老师：</a:t>
            </a:r>
            <a:r>
              <a:rPr lang="zh-CN" alt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陈晨</a:t>
            </a:r>
            <a:endParaRPr lang="zh-CN" alt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8" name="Freeform 18"/>
          <p:cNvSpPr/>
          <p:nvPr/>
        </p:nvSpPr>
        <p:spPr>
          <a:xfrm>
            <a:off x="1183168" y="-4844097"/>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9">
              <a:alphaModFix amt="35000"/>
              <a:extLst>
                <a:ext uri="{96DAC541-7B7A-43D3-8B79-37D633B846F1}">
                  <asvg:svgBlip xmlns:asvg="http://schemas.microsoft.com/office/drawing/2016/SVG/main" r:embed="rId10"/>
                </a:ext>
              </a:extLst>
            </a:blip>
            <a:stretch>
              <a:fillRect/>
            </a:stretch>
          </a:blipFill>
        </p:spPr>
      </p:sp>
      <p:sp>
        <p:nvSpPr>
          <p:cNvPr id="19" name="Freeform 19"/>
          <p:cNvSpPr/>
          <p:nvPr/>
        </p:nvSpPr>
        <p:spPr>
          <a:xfrm flipH="1" flipV="1">
            <a:off x="-2985814" y="-889353"/>
            <a:ext cx="6234284" cy="2864817"/>
          </a:xfrm>
          <a:custGeom>
            <a:avLst/>
            <a:gdLst/>
            <a:ahLst/>
            <a:cxnLst/>
            <a:rect l="l" t="t" r="r" b="b"/>
            <a:pathLst>
              <a:path w="6234284" h="2864817">
                <a:moveTo>
                  <a:pt x="6234284" y="2864816"/>
                </a:moveTo>
                <a:lnTo>
                  <a:pt x="0" y="2864816"/>
                </a:lnTo>
                <a:lnTo>
                  <a:pt x="0" y="0"/>
                </a:lnTo>
                <a:lnTo>
                  <a:pt x="6234284" y="0"/>
                </a:lnTo>
                <a:lnTo>
                  <a:pt x="6234284" y="2864816"/>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0" name="Freeform 20"/>
          <p:cNvSpPr/>
          <p:nvPr/>
        </p:nvSpPr>
        <p:spPr>
          <a:xfrm rot="-158484">
            <a:off x="11596700" y="6508618"/>
            <a:ext cx="13022180" cy="5984032"/>
          </a:xfrm>
          <a:custGeom>
            <a:avLst/>
            <a:gdLst/>
            <a:ahLst/>
            <a:cxnLst/>
            <a:rect l="l" t="t" r="r" b="b"/>
            <a:pathLst>
              <a:path w="13022180" h="5984032">
                <a:moveTo>
                  <a:pt x="0" y="0"/>
                </a:moveTo>
                <a:lnTo>
                  <a:pt x="13022179" y="0"/>
                </a:lnTo>
                <a:lnTo>
                  <a:pt x="13022179" y="5984033"/>
                </a:lnTo>
                <a:lnTo>
                  <a:pt x="0" y="59840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TextBox 21"/>
          <p:cNvSpPr txBox="1"/>
          <p:nvPr/>
        </p:nvSpPr>
        <p:spPr>
          <a:xfrm>
            <a:off x="13428461" y="485905"/>
            <a:ext cx="4246406" cy="328930"/>
          </a:xfrm>
          <a:prstGeom prst="rect">
            <a:avLst/>
          </a:prstGeom>
        </p:spPr>
        <p:txBody>
          <a:bodyPr lIns="0" tIns="0" rIns="0" bIns="0" rtlCol="0" anchor="t">
            <a:spAutoFit/>
          </a:bodyPr>
          <a:lstStyle/>
          <a:p>
            <a:pPr algn="r">
              <a:lnSpc>
                <a:spcPts val="2565"/>
              </a:lnSpc>
            </a:pPr>
            <a:r>
              <a:rPr lang="en-US" sz="1700" spc="323">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报告&amp;答辩</a:t>
            </a:r>
            <a:endParaRPr lang="en-US" sz="1700" spc="323">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072056">
            <a:off x="-4765044" y="-772803"/>
            <a:ext cx="9530089" cy="4585031"/>
            <a:chOff x="0" y="0"/>
            <a:chExt cx="12706785" cy="6113375"/>
          </a:xfrm>
        </p:grpSpPr>
        <p:sp>
          <p:nvSpPr>
            <p:cNvPr id="3" name="Freeform 3"/>
            <p:cNvSpPr/>
            <p:nvPr/>
          </p:nvSpPr>
          <p:spPr>
            <a:xfrm rot="-158484">
              <a:off x="97120" y="220153"/>
              <a:ext cx="9656526" cy="4437427"/>
            </a:xfrm>
            <a:custGeom>
              <a:avLst/>
              <a:gdLst/>
              <a:ahLst/>
              <a:cxnLst/>
              <a:rect l="l" t="t" r="r" b="b"/>
              <a:pathLst>
                <a:path w="9656526" h="4437427">
                  <a:moveTo>
                    <a:pt x="0" y="0"/>
                  </a:moveTo>
                  <a:lnTo>
                    <a:pt x="9656526" y="0"/>
                  </a:lnTo>
                  <a:lnTo>
                    <a:pt x="9656526" y="4437427"/>
                  </a:lnTo>
                  <a:lnTo>
                    <a:pt x="0" y="443742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58484">
              <a:off x="1568914" y="1430194"/>
              <a:ext cx="9656526" cy="4437427"/>
            </a:xfrm>
            <a:custGeom>
              <a:avLst/>
              <a:gdLst/>
              <a:ahLst/>
              <a:cxnLst/>
              <a:rect l="l" t="t" r="r" b="b"/>
              <a:pathLst>
                <a:path w="9656526" h="4437427">
                  <a:moveTo>
                    <a:pt x="0" y="0"/>
                  </a:moveTo>
                  <a:lnTo>
                    <a:pt x="9656527" y="0"/>
                  </a:lnTo>
                  <a:lnTo>
                    <a:pt x="9656527" y="4437426"/>
                  </a:lnTo>
                  <a:lnTo>
                    <a:pt x="0" y="44374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158484">
              <a:off x="2953139" y="1455795"/>
              <a:ext cx="9656526" cy="4437427"/>
            </a:xfrm>
            <a:custGeom>
              <a:avLst/>
              <a:gdLst/>
              <a:ahLst/>
              <a:cxnLst/>
              <a:rect l="l" t="t" r="r" b="b"/>
              <a:pathLst>
                <a:path w="9656526" h="4437427">
                  <a:moveTo>
                    <a:pt x="0" y="0"/>
                  </a:moveTo>
                  <a:lnTo>
                    <a:pt x="9656527" y="0"/>
                  </a:lnTo>
                  <a:lnTo>
                    <a:pt x="9656527" y="4437427"/>
                  </a:lnTo>
                  <a:lnTo>
                    <a:pt x="0" y="44374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6" name="TextBox 6"/>
          <p:cNvSpPr txBox="1"/>
          <p:nvPr/>
        </p:nvSpPr>
        <p:spPr>
          <a:xfrm>
            <a:off x="7054736" y="1333500"/>
            <a:ext cx="4178528" cy="1943100"/>
          </a:xfrm>
          <a:prstGeom prst="rect">
            <a:avLst/>
          </a:prstGeom>
        </p:spPr>
        <p:txBody>
          <a:bodyPr lIns="0" tIns="0" rIns="0" bIns="0" rtlCol="0" anchor="t">
            <a:spAutoFit/>
          </a:bodyPr>
          <a:lstStyle/>
          <a:p>
            <a:pPr algn="ctr">
              <a:lnSpc>
                <a:spcPts val="15345"/>
              </a:lnSpc>
            </a:pPr>
            <a:r>
              <a:rPr lang="en-US" sz="12790">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目录</a:t>
            </a:r>
            <a:endParaRPr lang="en-US" sz="12790">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grpSp>
        <p:nvGrpSpPr>
          <p:cNvPr id="7" name="Group 7"/>
          <p:cNvGrpSpPr/>
          <p:nvPr>
            <p:custDataLst>
              <p:tags r:id="rId7"/>
            </p:custDataLst>
          </p:nvPr>
        </p:nvGrpSpPr>
        <p:grpSpPr>
          <a:xfrm rot="0">
            <a:off x="2996838" y="4610100"/>
            <a:ext cx="5623387" cy="1370682"/>
            <a:chOff x="0" y="0"/>
            <a:chExt cx="1481057" cy="361003"/>
          </a:xfrm>
        </p:grpSpPr>
        <p:sp>
          <p:nvSpPr>
            <p:cNvPr id="8" name="Freeform 8"/>
            <p:cNvSpPr/>
            <p:nvPr>
              <p:custDataLst>
                <p:tags r:id="rId8"/>
              </p:custDataLst>
            </p:nvPr>
          </p:nvSpPr>
          <p:spPr>
            <a:xfrm>
              <a:off x="0" y="0"/>
              <a:ext cx="1481056" cy="361003"/>
            </a:xfrm>
            <a:custGeom>
              <a:avLst/>
              <a:gdLst/>
              <a:ahLst/>
              <a:cxnLst/>
              <a:rect l="l" t="t" r="r" b="b"/>
              <a:pathLst>
                <a:path w="1481056" h="361003">
                  <a:moveTo>
                    <a:pt x="0" y="0"/>
                  </a:moveTo>
                  <a:lnTo>
                    <a:pt x="1481056" y="0"/>
                  </a:lnTo>
                  <a:lnTo>
                    <a:pt x="1481056" y="361003"/>
                  </a:lnTo>
                  <a:lnTo>
                    <a:pt x="0" y="361003"/>
                  </a:lnTo>
                  <a:close/>
                </a:path>
              </a:pathLst>
            </a:custGeom>
            <a:solidFill>
              <a:srgbClr val="CBDCDE">
                <a:alpha val="48627"/>
              </a:srgbClr>
            </a:solidFill>
            <a:ln cap="sq">
              <a:noFill/>
              <a:prstDash val="solid"/>
              <a:miter/>
            </a:ln>
          </p:spPr>
        </p:sp>
        <p:sp>
          <p:nvSpPr>
            <p:cNvPr id="9" name="TextBox 9"/>
            <p:cNvSpPr txBox="1"/>
            <p:nvPr/>
          </p:nvSpPr>
          <p:spPr>
            <a:xfrm>
              <a:off x="0" y="-57150"/>
              <a:ext cx="1481057" cy="418153"/>
            </a:xfrm>
            <a:prstGeom prst="rect">
              <a:avLst/>
            </a:prstGeom>
          </p:spPr>
          <p:txBody>
            <a:bodyPr lIns="50800" tIns="50800" rIns="50800" bIns="50800" rtlCol="0" anchor="ctr"/>
            <a:lstStyle/>
            <a:p>
              <a:pPr algn="ctr">
                <a:lnSpc>
                  <a:spcPts val="3105"/>
                </a:lnSpc>
              </a:pPr>
            </a:p>
          </p:txBody>
        </p:sp>
      </p:grpSp>
      <p:sp>
        <p:nvSpPr>
          <p:cNvPr id="10" name="TextBox 10"/>
          <p:cNvSpPr txBox="1"/>
          <p:nvPr>
            <p:custDataLst>
              <p:tags r:id="rId9"/>
            </p:custDataLst>
          </p:nvPr>
        </p:nvSpPr>
        <p:spPr>
          <a:xfrm>
            <a:off x="3744825" y="4790871"/>
            <a:ext cx="4882260" cy="676910"/>
          </a:xfrm>
          <a:prstGeom prst="rect">
            <a:avLst/>
          </a:prstGeom>
        </p:spPr>
        <p:txBody>
          <a:bodyPr lIns="0" tIns="0" rIns="0" bIns="0" rtlCol="0" anchor="t">
            <a:spAutoFit/>
          </a:bodyPr>
          <a:lstStyle/>
          <a:p>
            <a:pPr algn="l">
              <a:lnSpc>
                <a:spcPts val="5280"/>
              </a:lnSpc>
            </a:pPr>
            <a:r>
              <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文本预处理</a:t>
            </a:r>
            <a:endPar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1" name="TextBox 11"/>
          <p:cNvSpPr txBox="1"/>
          <p:nvPr>
            <p:custDataLst>
              <p:tags r:id="rId10"/>
            </p:custDataLst>
          </p:nvPr>
        </p:nvSpPr>
        <p:spPr>
          <a:xfrm>
            <a:off x="3744825" y="5504737"/>
            <a:ext cx="4779843" cy="215265"/>
          </a:xfrm>
          <a:prstGeom prst="rect">
            <a:avLst/>
          </a:prstGeom>
        </p:spPr>
        <p:txBody>
          <a:bodyPr lIns="0" tIns="0" rIns="0" bIns="0" rtlCol="0" anchor="t">
            <a:spAutoFit/>
          </a:bodyPr>
          <a:lstStyle/>
          <a:p>
            <a:pPr marL="0" lvl="0" indent="0" algn="l">
              <a:lnSpc>
                <a:spcPts val="1680"/>
              </a:lnSpc>
              <a:spcBef>
                <a:spcPct val="0"/>
              </a:spcBef>
            </a:pPr>
            <a:r>
              <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rPr>
              <a:t>text preprocessing</a:t>
            </a:r>
            <a:endPar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grpSp>
        <p:nvGrpSpPr>
          <p:cNvPr id="12" name="Group 12"/>
          <p:cNvGrpSpPr/>
          <p:nvPr>
            <p:custDataLst>
              <p:tags r:id="rId11"/>
            </p:custDataLst>
          </p:nvPr>
        </p:nvGrpSpPr>
        <p:grpSpPr>
          <a:xfrm rot="0">
            <a:off x="2568467" y="4867071"/>
            <a:ext cx="856741" cy="856741"/>
            <a:chOff x="0" y="0"/>
            <a:chExt cx="812800" cy="812800"/>
          </a:xfrm>
        </p:grpSpPr>
        <p:sp>
          <p:nvSpPr>
            <p:cNvPr id="13" name="Freeform 13"/>
            <p:cNvSpPr/>
            <p:nvPr>
              <p:custDataLst>
                <p:tags r:id="rId1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a:ln cap="sq">
              <a:noFill/>
              <a:prstDash val="solid"/>
              <a:miter/>
            </a:ln>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15" name="TextBox 15"/>
          <p:cNvSpPr txBox="1"/>
          <p:nvPr>
            <p:custDataLst>
              <p:tags r:id="rId13"/>
            </p:custDataLst>
          </p:nvPr>
        </p:nvSpPr>
        <p:spPr>
          <a:xfrm>
            <a:off x="2526264" y="4953205"/>
            <a:ext cx="941146" cy="689644"/>
          </a:xfrm>
          <a:prstGeom prst="rect">
            <a:avLst/>
          </a:prstGeom>
        </p:spPr>
        <p:txBody>
          <a:bodyPr lIns="0" tIns="0" rIns="0" bIns="0" rtlCol="0" anchor="t">
            <a:spAutoFit/>
          </a:bodyPr>
          <a:lstStyle/>
          <a:p>
            <a:pPr algn="ctr">
              <a:lnSpc>
                <a:spcPts val="4725"/>
              </a:lnSpc>
            </a:pPr>
            <a:r>
              <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16" name="Group 16"/>
          <p:cNvGrpSpPr/>
          <p:nvPr>
            <p:custDataLst>
              <p:tags r:id="rId14"/>
            </p:custDataLst>
          </p:nvPr>
        </p:nvGrpSpPr>
        <p:grpSpPr>
          <a:xfrm rot="0">
            <a:off x="10131488" y="4610100"/>
            <a:ext cx="5623387" cy="1370682"/>
            <a:chOff x="0" y="0"/>
            <a:chExt cx="1481057" cy="361003"/>
          </a:xfrm>
        </p:grpSpPr>
        <p:sp>
          <p:nvSpPr>
            <p:cNvPr id="17" name="Freeform 17"/>
            <p:cNvSpPr/>
            <p:nvPr>
              <p:custDataLst>
                <p:tags r:id="rId15"/>
              </p:custDataLst>
            </p:nvPr>
          </p:nvSpPr>
          <p:spPr>
            <a:xfrm>
              <a:off x="0" y="0"/>
              <a:ext cx="1481056" cy="361003"/>
            </a:xfrm>
            <a:custGeom>
              <a:avLst/>
              <a:gdLst/>
              <a:ahLst/>
              <a:cxnLst/>
              <a:rect l="l" t="t" r="r" b="b"/>
              <a:pathLst>
                <a:path w="1481056" h="361003">
                  <a:moveTo>
                    <a:pt x="0" y="0"/>
                  </a:moveTo>
                  <a:lnTo>
                    <a:pt x="1481056" y="0"/>
                  </a:lnTo>
                  <a:lnTo>
                    <a:pt x="1481056" y="361003"/>
                  </a:lnTo>
                  <a:lnTo>
                    <a:pt x="0" y="361003"/>
                  </a:lnTo>
                  <a:close/>
                </a:path>
              </a:pathLst>
            </a:custGeom>
            <a:solidFill>
              <a:srgbClr val="CBDCDE">
                <a:alpha val="48627"/>
              </a:srgbClr>
            </a:solidFill>
            <a:ln cap="sq">
              <a:noFill/>
              <a:prstDash val="solid"/>
              <a:miter/>
            </a:ln>
          </p:spPr>
        </p:sp>
        <p:sp>
          <p:nvSpPr>
            <p:cNvPr id="18" name="TextBox 18"/>
            <p:cNvSpPr txBox="1"/>
            <p:nvPr/>
          </p:nvSpPr>
          <p:spPr>
            <a:xfrm>
              <a:off x="0" y="-57150"/>
              <a:ext cx="1481057" cy="418153"/>
            </a:xfrm>
            <a:prstGeom prst="rect">
              <a:avLst/>
            </a:prstGeom>
          </p:spPr>
          <p:txBody>
            <a:bodyPr lIns="50800" tIns="50800" rIns="50800" bIns="50800" rtlCol="0" anchor="ctr"/>
            <a:lstStyle/>
            <a:p>
              <a:pPr algn="ctr">
                <a:lnSpc>
                  <a:spcPts val="3105"/>
                </a:lnSpc>
              </a:pPr>
            </a:p>
          </p:txBody>
        </p:sp>
      </p:grpSp>
      <p:sp>
        <p:nvSpPr>
          <p:cNvPr id="19" name="TextBox 19"/>
          <p:cNvSpPr txBox="1"/>
          <p:nvPr>
            <p:custDataLst>
              <p:tags r:id="rId16"/>
            </p:custDataLst>
          </p:nvPr>
        </p:nvSpPr>
        <p:spPr>
          <a:xfrm>
            <a:off x="10879475" y="4790871"/>
            <a:ext cx="4882260" cy="676910"/>
          </a:xfrm>
          <a:prstGeom prst="rect">
            <a:avLst/>
          </a:prstGeom>
        </p:spPr>
        <p:txBody>
          <a:bodyPr lIns="0" tIns="0" rIns="0" bIns="0" rtlCol="0" anchor="t">
            <a:spAutoFit/>
          </a:bodyPr>
          <a:lstStyle/>
          <a:p>
            <a:pPr algn="l">
              <a:lnSpc>
                <a:spcPts val="5280"/>
              </a:lnSpc>
            </a:pPr>
            <a:r>
              <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文本向量化</a:t>
            </a:r>
            <a:endPar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0" name="TextBox 20"/>
          <p:cNvSpPr txBox="1"/>
          <p:nvPr>
            <p:custDataLst>
              <p:tags r:id="rId17"/>
            </p:custDataLst>
          </p:nvPr>
        </p:nvSpPr>
        <p:spPr>
          <a:xfrm>
            <a:off x="10879475" y="5504737"/>
            <a:ext cx="4779843" cy="430530"/>
          </a:xfrm>
          <a:prstGeom prst="rect">
            <a:avLst/>
          </a:prstGeom>
        </p:spPr>
        <p:txBody>
          <a:bodyPr lIns="0" tIns="0" rIns="0" bIns="0" rtlCol="0" anchor="t">
            <a:spAutoFit/>
          </a:bodyPr>
          <a:lstStyle/>
          <a:p>
            <a:pPr marL="0" lvl="0" indent="0" algn="l">
              <a:lnSpc>
                <a:spcPts val="1680"/>
              </a:lnSpc>
              <a:spcBef>
                <a:spcPct val="0"/>
              </a:spcBef>
            </a:pPr>
            <a:r>
              <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rPr>
              <a:t>Text vectorization</a:t>
            </a:r>
            <a:endPar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a:p>
            <a:pPr marL="0" lvl="0" indent="0" algn="l">
              <a:lnSpc>
                <a:spcPts val="1680"/>
              </a:lnSpc>
              <a:spcBef>
                <a:spcPct val="0"/>
              </a:spcBef>
            </a:pPr>
            <a:endPar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grpSp>
        <p:nvGrpSpPr>
          <p:cNvPr id="21" name="Group 21"/>
          <p:cNvGrpSpPr/>
          <p:nvPr>
            <p:custDataLst>
              <p:tags r:id="rId18"/>
            </p:custDataLst>
          </p:nvPr>
        </p:nvGrpSpPr>
        <p:grpSpPr>
          <a:xfrm rot="0">
            <a:off x="9703118" y="4867071"/>
            <a:ext cx="856741" cy="856741"/>
            <a:chOff x="0" y="0"/>
            <a:chExt cx="812800" cy="812800"/>
          </a:xfrm>
        </p:grpSpPr>
        <p:sp>
          <p:nvSpPr>
            <p:cNvPr id="22" name="Freeform 22"/>
            <p:cNvSpPr/>
            <p:nvPr>
              <p:custDataLst>
                <p:tags r:id="rId19"/>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a:ln cap="sq">
              <a:noFill/>
              <a:prstDash val="solid"/>
              <a:miter/>
            </a:ln>
          </p:spPr>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24" name="TextBox 24"/>
          <p:cNvSpPr txBox="1"/>
          <p:nvPr>
            <p:custDataLst>
              <p:tags r:id="rId20"/>
            </p:custDataLst>
          </p:nvPr>
        </p:nvSpPr>
        <p:spPr>
          <a:xfrm>
            <a:off x="9660915" y="4953205"/>
            <a:ext cx="941146" cy="689644"/>
          </a:xfrm>
          <a:prstGeom prst="rect">
            <a:avLst/>
          </a:prstGeom>
        </p:spPr>
        <p:txBody>
          <a:bodyPr lIns="0" tIns="0" rIns="0" bIns="0" rtlCol="0" anchor="t">
            <a:spAutoFit/>
          </a:bodyPr>
          <a:lstStyle/>
          <a:p>
            <a:pPr algn="ctr">
              <a:lnSpc>
                <a:spcPts val="4725"/>
              </a:lnSpc>
            </a:pPr>
            <a:r>
              <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25" name="Group 25"/>
          <p:cNvGrpSpPr/>
          <p:nvPr>
            <p:custDataLst>
              <p:tags r:id="rId21"/>
            </p:custDataLst>
          </p:nvPr>
        </p:nvGrpSpPr>
        <p:grpSpPr>
          <a:xfrm rot="0">
            <a:off x="3039040" y="6674594"/>
            <a:ext cx="5623387" cy="1370682"/>
            <a:chOff x="0" y="0"/>
            <a:chExt cx="1481057" cy="361003"/>
          </a:xfrm>
        </p:grpSpPr>
        <p:sp>
          <p:nvSpPr>
            <p:cNvPr id="26" name="Freeform 26"/>
            <p:cNvSpPr/>
            <p:nvPr>
              <p:custDataLst>
                <p:tags r:id="rId22"/>
              </p:custDataLst>
            </p:nvPr>
          </p:nvSpPr>
          <p:spPr>
            <a:xfrm>
              <a:off x="0" y="0"/>
              <a:ext cx="1481056" cy="361003"/>
            </a:xfrm>
            <a:custGeom>
              <a:avLst/>
              <a:gdLst/>
              <a:ahLst/>
              <a:cxnLst/>
              <a:rect l="l" t="t" r="r" b="b"/>
              <a:pathLst>
                <a:path w="1481056" h="361003">
                  <a:moveTo>
                    <a:pt x="0" y="0"/>
                  </a:moveTo>
                  <a:lnTo>
                    <a:pt x="1481056" y="0"/>
                  </a:lnTo>
                  <a:lnTo>
                    <a:pt x="1481056" y="361003"/>
                  </a:lnTo>
                  <a:lnTo>
                    <a:pt x="0" y="361003"/>
                  </a:lnTo>
                  <a:close/>
                </a:path>
              </a:pathLst>
            </a:custGeom>
            <a:solidFill>
              <a:srgbClr val="CBDCDE">
                <a:alpha val="48627"/>
              </a:srgbClr>
            </a:solidFill>
            <a:ln cap="sq">
              <a:noFill/>
              <a:prstDash val="solid"/>
              <a:miter/>
            </a:ln>
          </p:spPr>
        </p:sp>
        <p:sp>
          <p:nvSpPr>
            <p:cNvPr id="27" name="TextBox 27"/>
            <p:cNvSpPr txBox="1"/>
            <p:nvPr/>
          </p:nvSpPr>
          <p:spPr>
            <a:xfrm>
              <a:off x="0" y="-57150"/>
              <a:ext cx="1481057" cy="418153"/>
            </a:xfrm>
            <a:prstGeom prst="rect">
              <a:avLst/>
            </a:prstGeom>
          </p:spPr>
          <p:txBody>
            <a:bodyPr lIns="50800" tIns="50800" rIns="50800" bIns="50800" rtlCol="0" anchor="ctr"/>
            <a:lstStyle/>
            <a:p>
              <a:pPr marL="0" lvl="0" indent="0" algn="ctr">
                <a:lnSpc>
                  <a:spcPts val="3105"/>
                </a:lnSpc>
                <a:spcBef>
                  <a:spcPct val="0"/>
                </a:spcBef>
              </a:pPr>
            </a:p>
          </p:txBody>
        </p:sp>
      </p:grpSp>
      <p:sp>
        <p:nvSpPr>
          <p:cNvPr id="28" name="TextBox 28"/>
          <p:cNvSpPr txBox="1"/>
          <p:nvPr>
            <p:custDataLst>
              <p:tags r:id="rId23"/>
            </p:custDataLst>
          </p:nvPr>
        </p:nvSpPr>
        <p:spPr>
          <a:xfrm>
            <a:off x="3787028" y="6855365"/>
            <a:ext cx="4882260" cy="676910"/>
          </a:xfrm>
          <a:prstGeom prst="rect">
            <a:avLst/>
          </a:prstGeom>
        </p:spPr>
        <p:txBody>
          <a:bodyPr lIns="0" tIns="0" rIns="0" bIns="0" rtlCol="0" anchor="t">
            <a:spAutoFit/>
          </a:bodyPr>
          <a:lstStyle/>
          <a:p>
            <a:pPr algn="l">
              <a:lnSpc>
                <a:spcPts val="5280"/>
              </a:lnSpc>
            </a:pPr>
            <a:r>
              <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神经网络</a:t>
            </a:r>
            <a:r>
              <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构建</a:t>
            </a:r>
            <a:endPar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9" name="TextBox 29"/>
          <p:cNvSpPr txBox="1"/>
          <p:nvPr>
            <p:custDataLst>
              <p:tags r:id="rId24"/>
            </p:custDataLst>
          </p:nvPr>
        </p:nvSpPr>
        <p:spPr>
          <a:xfrm>
            <a:off x="3787028" y="7569230"/>
            <a:ext cx="4779843" cy="215265"/>
          </a:xfrm>
          <a:prstGeom prst="rect">
            <a:avLst/>
          </a:prstGeom>
        </p:spPr>
        <p:txBody>
          <a:bodyPr lIns="0" tIns="0" rIns="0" bIns="0" rtlCol="0" anchor="t">
            <a:spAutoFit/>
          </a:bodyPr>
          <a:lstStyle/>
          <a:p>
            <a:pPr marL="0" lvl="0" indent="0" algn="l">
              <a:lnSpc>
                <a:spcPts val="1680"/>
              </a:lnSpc>
              <a:spcBef>
                <a:spcPct val="0"/>
              </a:spcBef>
            </a:pPr>
            <a:r>
              <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rPr>
              <a:t>Neural network construction</a:t>
            </a:r>
            <a:endPar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grpSp>
        <p:nvGrpSpPr>
          <p:cNvPr id="30" name="Group 30"/>
          <p:cNvGrpSpPr/>
          <p:nvPr>
            <p:custDataLst>
              <p:tags r:id="rId25"/>
            </p:custDataLst>
          </p:nvPr>
        </p:nvGrpSpPr>
        <p:grpSpPr>
          <a:xfrm rot="0">
            <a:off x="2610670" y="6931565"/>
            <a:ext cx="856741" cy="856741"/>
            <a:chOff x="0" y="0"/>
            <a:chExt cx="812800" cy="812800"/>
          </a:xfrm>
        </p:grpSpPr>
        <p:sp>
          <p:nvSpPr>
            <p:cNvPr id="31" name="Freeform 31"/>
            <p:cNvSpPr/>
            <p:nvPr>
              <p:custDataLst>
                <p:tags r:id="rId26"/>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a:ln cap="sq">
              <a:noFill/>
              <a:prstDash val="solid"/>
              <a:miter/>
            </a:ln>
          </p:spPr>
        </p:sp>
        <p:sp>
          <p:nvSpPr>
            <p:cNvPr id="32" name="TextBox 32"/>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33" name="TextBox 33"/>
          <p:cNvSpPr txBox="1"/>
          <p:nvPr>
            <p:custDataLst>
              <p:tags r:id="rId27"/>
            </p:custDataLst>
          </p:nvPr>
        </p:nvSpPr>
        <p:spPr>
          <a:xfrm>
            <a:off x="2568467" y="7017699"/>
            <a:ext cx="941146" cy="689644"/>
          </a:xfrm>
          <a:prstGeom prst="rect">
            <a:avLst/>
          </a:prstGeom>
        </p:spPr>
        <p:txBody>
          <a:bodyPr lIns="0" tIns="0" rIns="0" bIns="0" rtlCol="0" anchor="t">
            <a:spAutoFit/>
          </a:bodyPr>
          <a:lstStyle/>
          <a:p>
            <a:pPr algn="ctr">
              <a:lnSpc>
                <a:spcPts val="4725"/>
              </a:lnSpc>
            </a:pPr>
            <a:r>
              <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34" name="Group 34"/>
          <p:cNvGrpSpPr/>
          <p:nvPr>
            <p:custDataLst>
              <p:tags r:id="rId28"/>
            </p:custDataLst>
          </p:nvPr>
        </p:nvGrpSpPr>
        <p:grpSpPr>
          <a:xfrm rot="0">
            <a:off x="10131488" y="6674594"/>
            <a:ext cx="5623387" cy="1370682"/>
            <a:chOff x="0" y="0"/>
            <a:chExt cx="1481057" cy="361003"/>
          </a:xfrm>
        </p:grpSpPr>
        <p:sp>
          <p:nvSpPr>
            <p:cNvPr id="35" name="Freeform 35"/>
            <p:cNvSpPr/>
            <p:nvPr>
              <p:custDataLst>
                <p:tags r:id="rId29"/>
              </p:custDataLst>
            </p:nvPr>
          </p:nvSpPr>
          <p:spPr>
            <a:xfrm>
              <a:off x="0" y="0"/>
              <a:ext cx="1481056" cy="361003"/>
            </a:xfrm>
            <a:custGeom>
              <a:avLst/>
              <a:gdLst/>
              <a:ahLst/>
              <a:cxnLst/>
              <a:rect l="l" t="t" r="r" b="b"/>
              <a:pathLst>
                <a:path w="1481056" h="361003">
                  <a:moveTo>
                    <a:pt x="0" y="0"/>
                  </a:moveTo>
                  <a:lnTo>
                    <a:pt x="1481056" y="0"/>
                  </a:lnTo>
                  <a:lnTo>
                    <a:pt x="1481056" y="361003"/>
                  </a:lnTo>
                  <a:lnTo>
                    <a:pt x="0" y="361003"/>
                  </a:lnTo>
                  <a:close/>
                </a:path>
              </a:pathLst>
            </a:custGeom>
            <a:solidFill>
              <a:srgbClr val="CBDCDE">
                <a:alpha val="48627"/>
              </a:srgbClr>
            </a:solidFill>
            <a:ln cap="sq">
              <a:noFill/>
              <a:prstDash val="solid"/>
              <a:miter/>
            </a:ln>
          </p:spPr>
        </p:sp>
        <p:sp>
          <p:nvSpPr>
            <p:cNvPr id="36" name="TextBox 36"/>
            <p:cNvSpPr txBox="1"/>
            <p:nvPr/>
          </p:nvSpPr>
          <p:spPr>
            <a:xfrm>
              <a:off x="0" y="-57150"/>
              <a:ext cx="1481057" cy="418153"/>
            </a:xfrm>
            <a:prstGeom prst="rect">
              <a:avLst/>
            </a:prstGeom>
          </p:spPr>
          <p:txBody>
            <a:bodyPr lIns="50800" tIns="50800" rIns="50800" bIns="50800" rtlCol="0" anchor="ctr"/>
            <a:lstStyle/>
            <a:p>
              <a:pPr algn="ctr">
                <a:lnSpc>
                  <a:spcPts val="3105"/>
                </a:lnSpc>
              </a:pPr>
            </a:p>
          </p:txBody>
        </p:sp>
      </p:grpSp>
      <p:sp>
        <p:nvSpPr>
          <p:cNvPr id="37" name="TextBox 37"/>
          <p:cNvSpPr txBox="1"/>
          <p:nvPr>
            <p:custDataLst>
              <p:tags r:id="rId30"/>
            </p:custDataLst>
          </p:nvPr>
        </p:nvSpPr>
        <p:spPr>
          <a:xfrm>
            <a:off x="10879475" y="6855365"/>
            <a:ext cx="4882260" cy="676910"/>
          </a:xfrm>
          <a:prstGeom prst="rect">
            <a:avLst/>
          </a:prstGeom>
        </p:spPr>
        <p:txBody>
          <a:bodyPr lIns="0" tIns="0" rIns="0" bIns="0" rtlCol="0" anchor="t">
            <a:spAutoFit/>
          </a:bodyPr>
          <a:lstStyle/>
          <a:p>
            <a:pPr algn="l">
              <a:lnSpc>
                <a:spcPts val="5280"/>
              </a:lnSpc>
            </a:pPr>
            <a:r>
              <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训练和评估</a:t>
            </a:r>
            <a:endParaRPr lang="zh-CN" alt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8" name="TextBox 38"/>
          <p:cNvSpPr txBox="1"/>
          <p:nvPr>
            <p:custDataLst>
              <p:tags r:id="rId31"/>
            </p:custDataLst>
          </p:nvPr>
        </p:nvSpPr>
        <p:spPr>
          <a:xfrm>
            <a:off x="10879475" y="7569230"/>
            <a:ext cx="4779843" cy="215265"/>
          </a:xfrm>
          <a:prstGeom prst="rect">
            <a:avLst/>
          </a:prstGeom>
        </p:spPr>
        <p:txBody>
          <a:bodyPr lIns="0" tIns="0" rIns="0" bIns="0" rtlCol="0" anchor="t">
            <a:spAutoFit/>
          </a:bodyPr>
          <a:lstStyle/>
          <a:p>
            <a:pPr marL="0" lvl="0" indent="0" algn="l">
              <a:lnSpc>
                <a:spcPts val="1680"/>
              </a:lnSpc>
              <a:spcBef>
                <a:spcPct val="0"/>
              </a:spcBef>
            </a:pPr>
            <a:r>
              <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rPr>
              <a:t>Training and evaluation</a:t>
            </a:r>
            <a:endParaRPr lang="en-US" altLang="zh-CN" sz="1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grpSp>
        <p:nvGrpSpPr>
          <p:cNvPr id="39" name="Group 39"/>
          <p:cNvGrpSpPr/>
          <p:nvPr>
            <p:custDataLst>
              <p:tags r:id="rId32"/>
            </p:custDataLst>
          </p:nvPr>
        </p:nvGrpSpPr>
        <p:grpSpPr>
          <a:xfrm rot="0">
            <a:off x="9703118" y="6931565"/>
            <a:ext cx="856741" cy="856741"/>
            <a:chOff x="0" y="0"/>
            <a:chExt cx="812800" cy="812800"/>
          </a:xfrm>
        </p:grpSpPr>
        <p:sp>
          <p:nvSpPr>
            <p:cNvPr id="40" name="Freeform 40"/>
            <p:cNvSpPr/>
            <p:nvPr>
              <p:custDataLst>
                <p:tags r:id="rId33"/>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a:ln cap="sq">
              <a:noFill/>
              <a:prstDash val="solid"/>
              <a:miter/>
            </a:ln>
          </p:spPr>
        </p:sp>
        <p:sp>
          <p:nvSpPr>
            <p:cNvPr id="41" name="TextBox 41"/>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42" name="TextBox 42"/>
          <p:cNvSpPr txBox="1"/>
          <p:nvPr>
            <p:custDataLst>
              <p:tags r:id="rId34"/>
            </p:custDataLst>
          </p:nvPr>
        </p:nvSpPr>
        <p:spPr>
          <a:xfrm>
            <a:off x="9660915" y="7017699"/>
            <a:ext cx="941146" cy="689644"/>
          </a:xfrm>
          <a:prstGeom prst="rect">
            <a:avLst/>
          </a:prstGeom>
        </p:spPr>
        <p:txBody>
          <a:bodyPr lIns="0" tIns="0" rIns="0" bIns="0" rtlCol="0" anchor="t">
            <a:spAutoFit/>
          </a:bodyPr>
          <a:lstStyle/>
          <a:p>
            <a:pPr algn="ctr">
              <a:lnSpc>
                <a:spcPts val="4725"/>
              </a:lnSpc>
            </a:pPr>
            <a:r>
              <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04</a:t>
            </a:r>
            <a:endParaRPr lang="en-US" sz="394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43" name="Freeform 43"/>
          <p:cNvSpPr/>
          <p:nvPr/>
        </p:nvSpPr>
        <p:spPr>
          <a:xfrm rot="-158484">
            <a:off x="14155846" y="8689507"/>
            <a:ext cx="4443567" cy="2041935"/>
          </a:xfrm>
          <a:custGeom>
            <a:avLst/>
            <a:gdLst/>
            <a:ahLst/>
            <a:cxnLst/>
            <a:rect l="l" t="t" r="r" b="b"/>
            <a:pathLst>
              <a:path w="4443567" h="2041935">
                <a:moveTo>
                  <a:pt x="0" y="0"/>
                </a:moveTo>
                <a:lnTo>
                  <a:pt x="4443566" y="0"/>
                </a:lnTo>
                <a:lnTo>
                  <a:pt x="4443566" y="2041936"/>
                </a:lnTo>
                <a:lnTo>
                  <a:pt x="0" y="20419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4" name="Freeform 44"/>
          <p:cNvSpPr/>
          <p:nvPr/>
        </p:nvSpPr>
        <p:spPr>
          <a:xfrm rot="-158484">
            <a:off x="14833110" y="9246322"/>
            <a:ext cx="4443567" cy="2041935"/>
          </a:xfrm>
          <a:custGeom>
            <a:avLst/>
            <a:gdLst/>
            <a:ahLst/>
            <a:cxnLst/>
            <a:rect l="l" t="t" r="r" b="b"/>
            <a:pathLst>
              <a:path w="4443567" h="2041935">
                <a:moveTo>
                  <a:pt x="0" y="0"/>
                </a:moveTo>
                <a:lnTo>
                  <a:pt x="4443566" y="0"/>
                </a:lnTo>
                <a:lnTo>
                  <a:pt x="4443566" y="2041935"/>
                </a:lnTo>
                <a:lnTo>
                  <a:pt x="0" y="20419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5" name="Freeform 45"/>
          <p:cNvSpPr/>
          <p:nvPr/>
        </p:nvSpPr>
        <p:spPr>
          <a:xfrm rot="-158484">
            <a:off x="15470077" y="9258103"/>
            <a:ext cx="4443567" cy="2041935"/>
          </a:xfrm>
          <a:custGeom>
            <a:avLst/>
            <a:gdLst/>
            <a:ahLst/>
            <a:cxnLst/>
            <a:rect l="l" t="t" r="r" b="b"/>
            <a:pathLst>
              <a:path w="4443567" h="2041935">
                <a:moveTo>
                  <a:pt x="0" y="0"/>
                </a:moveTo>
                <a:lnTo>
                  <a:pt x="4443567" y="0"/>
                </a:lnTo>
                <a:lnTo>
                  <a:pt x="4443567" y="2041935"/>
                </a:lnTo>
                <a:lnTo>
                  <a:pt x="0" y="20419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11200883" y="477285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8834007" y="729498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4221" y="-2432130"/>
            <a:ext cx="13022180" cy="5984032"/>
          </a:xfrm>
          <a:custGeom>
            <a:avLst/>
            <a:gdLst/>
            <a:ahLst/>
            <a:cxnLst/>
            <a:rect l="l" t="t" r="r" b="b"/>
            <a:pathLst>
              <a:path w="13022180" h="5984032">
                <a:moveTo>
                  <a:pt x="0" y="0"/>
                </a:moveTo>
                <a:lnTo>
                  <a:pt x="13022180" y="0"/>
                </a:lnTo>
                <a:lnTo>
                  <a:pt x="13022180" y="5984033"/>
                </a:lnTo>
                <a:lnTo>
                  <a:pt x="0" y="59840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3957189" y="-1361733"/>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4129742" y="-1941097"/>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rot="450764">
            <a:off x="6139604" y="7473655"/>
            <a:ext cx="15581755" cy="7160224"/>
          </a:xfrm>
          <a:custGeom>
            <a:avLst/>
            <a:gdLst/>
            <a:ahLst/>
            <a:cxnLst/>
            <a:rect l="l" t="t" r="r" b="b"/>
            <a:pathLst>
              <a:path w="15581755" h="7160224">
                <a:moveTo>
                  <a:pt x="0" y="0"/>
                </a:moveTo>
                <a:lnTo>
                  <a:pt x="15581755" y="0"/>
                </a:lnTo>
                <a:lnTo>
                  <a:pt x="15581755" y="7160224"/>
                </a:lnTo>
                <a:lnTo>
                  <a:pt x="0" y="7160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7725513" y="3564357"/>
            <a:ext cx="2836973" cy="835731"/>
            <a:chOff x="0" y="0"/>
            <a:chExt cx="1379566" cy="406400"/>
          </a:xfrm>
        </p:grpSpPr>
        <p:sp>
          <p:nvSpPr>
            <p:cNvPr id="9" name="Freeform 9"/>
            <p:cNvSpPr/>
            <p:nvPr/>
          </p:nvSpPr>
          <p:spPr>
            <a:xfrm>
              <a:off x="0" y="0"/>
              <a:ext cx="1379566" cy="406400"/>
            </a:xfrm>
            <a:custGeom>
              <a:avLst/>
              <a:gdLst/>
              <a:ahLst/>
              <a:cxnLst/>
              <a:rect l="l" t="t" r="r" b="b"/>
              <a:pathLst>
                <a:path w="1379566" h="406400">
                  <a:moveTo>
                    <a:pt x="1176366" y="0"/>
                  </a:moveTo>
                  <a:cubicBezTo>
                    <a:pt x="1288590" y="0"/>
                    <a:pt x="1379566" y="90976"/>
                    <a:pt x="1379566" y="203200"/>
                  </a:cubicBezTo>
                  <a:cubicBezTo>
                    <a:pt x="1379566" y="315424"/>
                    <a:pt x="1288590" y="406400"/>
                    <a:pt x="1176366" y="406400"/>
                  </a:cubicBezTo>
                  <a:lnTo>
                    <a:pt x="203200" y="406400"/>
                  </a:lnTo>
                  <a:cubicBezTo>
                    <a:pt x="90976" y="406400"/>
                    <a:pt x="0" y="315424"/>
                    <a:pt x="0" y="203200"/>
                  </a:cubicBezTo>
                  <a:cubicBezTo>
                    <a:pt x="0" y="90976"/>
                    <a:pt x="90976" y="0"/>
                    <a:pt x="203200" y="0"/>
                  </a:cubicBezTo>
                  <a:close/>
                </a:path>
              </a:pathLst>
            </a:custGeom>
            <a:solidFill>
              <a:srgbClr val="5B7396"/>
            </a:solidFill>
          </p:spPr>
        </p:sp>
        <p:sp>
          <p:nvSpPr>
            <p:cNvPr id="10" name="TextBox 10"/>
            <p:cNvSpPr txBox="1"/>
            <p:nvPr/>
          </p:nvSpPr>
          <p:spPr>
            <a:xfrm>
              <a:off x="0" y="-57150"/>
              <a:ext cx="1379566" cy="463550"/>
            </a:xfrm>
            <a:prstGeom prst="rect">
              <a:avLst/>
            </a:prstGeom>
          </p:spPr>
          <p:txBody>
            <a:bodyPr lIns="50800" tIns="50800" rIns="50800" bIns="50800" rtlCol="0" anchor="ctr"/>
            <a:lstStyle/>
            <a:p>
              <a:pPr algn="ctr">
                <a:lnSpc>
                  <a:spcPts val="3105"/>
                </a:lnSpc>
              </a:pPr>
            </a:p>
          </p:txBody>
        </p:sp>
      </p:grpSp>
      <p:sp>
        <p:nvSpPr>
          <p:cNvPr id="11" name="TextBox 11"/>
          <p:cNvSpPr txBox="1"/>
          <p:nvPr/>
        </p:nvSpPr>
        <p:spPr>
          <a:xfrm>
            <a:off x="7930343" y="3646226"/>
            <a:ext cx="2427315" cy="558165"/>
          </a:xfrm>
          <a:prstGeom prst="rect">
            <a:avLst/>
          </a:prstGeom>
        </p:spPr>
        <p:txBody>
          <a:bodyPr lIns="0" tIns="0" rIns="0" bIns="0" rtlCol="0" anchor="t">
            <a:spAutoFit/>
          </a:bodyPr>
          <a:lstStyle/>
          <a:p>
            <a:pPr marL="0" lvl="0" indent="0" algn="ctr">
              <a:lnSpc>
                <a:spcPts val="4355"/>
              </a:lnSpc>
              <a:spcBef>
                <a:spcPct val="0"/>
              </a:spcBef>
            </a:pPr>
            <a:r>
              <a:rPr 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第一</a:t>
            </a:r>
            <a:r>
              <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步</a:t>
            </a:r>
            <a:endPar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2" name="TextBox 12"/>
          <p:cNvSpPr txBox="1"/>
          <p:nvPr/>
        </p:nvSpPr>
        <p:spPr>
          <a:xfrm>
            <a:off x="4526955" y="4687081"/>
            <a:ext cx="9234089" cy="1370330"/>
          </a:xfrm>
          <a:prstGeom prst="rect">
            <a:avLst/>
          </a:prstGeom>
        </p:spPr>
        <p:txBody>
          <a:bodyPr lIns="0" tIns="0" rIns="0" bIns="0" rtlCol="0" anchor="t">
            <a:spAutoFit/>
          </a:bodyPr>
          <a:lstStyle/>
          <a:p>
            <a:pPr marL="0" lvl="0" indent="0" algn="ctr">
              <a:lnSpc>
                <a:spcPts val="10690"/>
              </a:lnSpc>
              <a:spcBef>
                <a:spcPct val="0"/>
              </a:spcBef>
            </a:pPr>
            <a:r>
              <a:rPr lang="zh-CN" altLang="en-US" sz="8100">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文本</a:t>
            </a:r>
            <a:r>
              <a:rPr lang="zh-CN" altLang="en-US" sz="8100">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预处理</a:t>
            </a:r>
            <a:endParaRPr lang="zh-CN" altLang="en-US" sz="8100">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3" name="TextBox 13"/>
          <p:cNvSpPr txBox="1"/>
          <p:nvPr/>
        </p:nvSpPr>
        <p:spPr>
          <a:xfrm>
            <a:off x="5714900" y="6110083"/>
            <a:ext cx="6811210" cy="292100"/>
          </a:xfrm>
          <a:prstGeom prst="rect">
            <a:avLst/>
          </a:prstGeom>
        </p:spPr>
        <p:txBody>
          <a:bodyPr lIns="0" tIns="0" rIns="0" bIns="0" rtlCol="0" anchor="t">
            <a:spAutoFit/>
          </a:bodyPr>
          <a:lstStyle/>
          <a:p>
            <a:pPr marL="0" lvl="0" indent="0" algn="ctr">
              <a:lnSpc>
                <a:spcPts val="2280"/>
              </a:lnSpc>
              <a:spcBef>
                <a:spcPct val="0"/>
              </a:spcBef>
            </a:pPr>
            <a:r>
              <a:rPr lang="en-US" sz="1900">
                <a:solidFill>
                  <a:srgbClr val="5B7396"/>
                </a:solidFill>
                <a:latin typeface="Akzidenz-Grotesk" panose="02000503030000020003"/>
                <a:ea typeface="Akzidenz-Grotesk" panose="02000503030000020003"/>
                <a:cs typeface="Akzidenz-Grotesk" panose="02000503030000020003"/>
                <a:sym typeface="Akzidenz-Grotesk" panose="02000503030000020003"/>
              </a:rPr>
              <a:t>text preprocessing</a:t>
            </a:r>
            <a:endParaRPr lang="en-US" sz="19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9"/>
          <p:cNvGrpSpPr/>
          <p:nvPr>
            <p:custDataLst>
              <p:tags r:id="rId1"/>
            </p:custDataLst>
          </p:nvPr>
        </p:nvGrpSpPr>
        <p:grpSpPr>
          <a:xfrm rot="0">
            <a:off x="9455579" y="3525486"/>
            <a:ext cx="741679" cy="735562"/>
            <a:chOff x="0" y="0"/>
            <a:chExt cx="812800" cy="812800"/>
          </a:xfrm>
        </p:grpSpPr>
        <p:sp>
          <p:nvSpPr>
            <p:cNvPr id="29" name="Freeform 10"/>
            <p:cNvSpPr/>
            <p:nvPr>
              <p:custDataLst>
                <p:tags r:id="rId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p:spPr>
        </p:sp>
        <p:sp>
          <p:nvSpPr>
            <p:cNvPr id="30" name="TextBox 11"/>
            <p:cNvSpPr txBox="1"/>
            <p:nvPr/>
          </p:nvSpPr>
          <p:spPr>
            <a:xfrm>
              <a:off x="76200" y="19050"/>
              <a:ext cx="660400" cy="717550"/>
            </a:xfrm>
            <a:prstGeom prst="rect">
              <a:avLst/>
            </a:prstGeom>
          </p:spPr>
          <p:txBody>
            <a:bodyPr lIns="50800" tIns="50800" rIns="50800" bIns="50800" rtlCol="0" anchor="ctr"/>
            <a:p>
              <a:pPr algn="ctr">
                <a:lnSpc>
                  <a:spcPts val="3105"/>
                </a:lnSpc>
              </a:pPr>
            </a:p>
          </p:txBody>
        </p:sp>
      </p:grpSp>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Freeform 4"/>
          <p:cNvSpPr/>
          <p:nvPr/>
        </p:nvSpPr>
        <p:spPr>
          <a:xfrm flipH="1" flipV="1">
            <a:off x="-2300830" y="-80030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029260" y="63492"/>
            <a:ext cx="8374259" cy="815340"/>
          </a:xfrm>
          <a:prstGeom prst="rect">
            <a:avLst/>
          </a:prstGeom>
        </p:spPr>
        <p:txBody>
          <a:bodyPr lIns="0" tIns="0" rIns="0" bIns="0" rtlCol="0" anchor="t">
            <a:spAutoFit/>
          </a:bodyPr>
          <a:lstStyle/>
          <a:p>
            <a:pPr algn="ctr">
              <a:lnSpc>
                <a:spcPts val="6360"/>
              </a:lnSpc>
            </a:pPr>
            <a:r>
              <a:rPr lang="zh-CN" altLang="en-US" sz="5300">
                <a:solidFill>
                  <a:srgbClr val="100F0D"/>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文本预处理</a:t>
            </a:r>
            <a:endParaRPr lang="zh-CN" altLang="en-US" sz="5300">
              <a:solidFill>
                <a:srgbClr val="100F0D"/>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grpSp>
        <p:nvGrpSpPr>
          <p:cNvPr id="9" name="Group 9"/>
          <p:cNvGrpSpPr/>
          <p:nvPr>
            <p:custDataLst>
              <p:tags r:id="rId9"/>
            </p:custDataLst>
          </p:nvPr>
        </p:nvGrpSpPr>
        <p:grpSpPr>
          <a:xfrm rot="0">
            <a:off x="480489" y="1087721"/>
            <a:ext cx="741679" cy="735562"/>
            <a:chOff x="0" y="0"/>
            <a:chExt cx="812800" cy="812800"/>
          </a:xfrm>
        </p:grpSpPr>
        <p:sp>
          <p:nvSpPr>
            <p:cNvPr id="10" name="Freeform 10"/>
            <p:cNvSpPr/>
            <p:nvPr>
              <p:custDataLst>
                <p:tags r:id="rId10"/>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grpSp>
        <p:nvGrpSpPr>
          <p:cNvPr id="12" name="Group 12"/>
          <p:cNvGrpSpPr/>
          <p:nvPr>
            <p:custDataLst>
              <p:tags r:id="rId11"/>
            </p:custDataLst>
          </p:nvPr>
        </p:nvGrpSpPr>
        <p:grpSpPr>
          <a:xfrm rot="0">
            <a:off x="549171" y="3525642"/>
            <a:ext cx="756462" cy="749325"/>
            <a:chOff x="0" y="0"/>
            <a:chExt cx="812800" cy="812800"/>
          </a:xfrm>
        </p:grpSpPr>
        <p:sp>
          <p:nvSpPr>
            <p:cNvPr id="13" name="Freeform 13"/>
            <p:cNvSpPr/>
            <p:nvPr>
              <p:custDataLst>
                <p:tags r:id="rId1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15" name="TextBox 15"/>
          <p:cNvSpPr txBox="1"/>
          <p:nvPr>
            <p:custDataLst>
              <p:tags r:id="rId13"/>
            </p:custDataLst>
          </p:nvPr>
        </p:nvSpPr>
        <p:spPr>
          <a:xfrm>
            <a:off x="1235075" y="1409700"/>
            <a:ext cx="7529195" cy="2196465"/>
          </a:xfrm>
          <a:prstGeom prst="rect">
            <a:avLst/>
          </a:prstGeom>
        </p:spPr>
        <p:txBody>
          <a:bodyPr wrap="square" lIns="0" tIns="0" rIns="0" bIns="0" rtlCol="0" anchor="t">
            <a:sp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import pandas as pd</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import jieba</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import numpy as np</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import matplotlib.pyplot as plt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plt.rcParams['font.sans-serif'] = ['KaiTi']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默认字体楷体黑</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plt.rcParams['axes.unicode_minus'] = False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6" name="TextBox 16"/>
          <p:cNvSpPr txBox="1"/>
          <p:nvPr>
            <p:custDataLst>
              <p:tags r:id="rId14"/>
            </p:custDataLst>
          </p:nvPr>
        </p:nvSpPr>
        <p:spPr>
          <a:xfrm>
            <a:off x="1371601" y="878956"/>
            <a:ext cx="3593235" cy="560070"/>
          </a:xfrm>
          <a:prstGeom prst="rect">
            <a:avLst/>
          </a:prstGeom>
        </p:spPr>
        <p:txBody>
          <a:bodyPr lIns="0" tIns="0" rIns="0" bIns="0" rtlCol="0" anchor="t">
            <a:spAutoFit/>
          </a:bodyPr>
          <a:lstStyle/>
          <a:p>
            <a:pPr algn="l">
              <a:lnSpc>
                <a:spcPts val="4370"/>
              </a:lnSpc>
            </a:pP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先导入包</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7" name="TextBox 17"/>
          <p:cNvSpPr txBox="1"/>
          <p:nvPr>
            <p:custDataLst>
              <p:tags r:id="rId15"/>
            </p:custDataLst>
          </p:nvPr>
        </p:nvSpPr>
        <p:spPr>
          <a:xfrm>
            <a:off x="620395" y="4274820"/>
            <a:ext cx="8658860" cy="5125720"/>
          </a:xfrm>
          <a:prstGeom prst="rect">
            <a:avLst/>
          </a:prstGeom>
        </p:spPr>
        <p:txBody>
          <a:bodyPr wrap="square" lIns="0" tIns="0" rIns="0" bIns="0" rtlCol="0" anchor="t">
            <a:sp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load_data(file_path):</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with open(file_path, 'r', encoding='utf-8') as f:</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lines = f.readlines()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data = [line.strip().split('_separator_') for line in lines]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pd.DataFrame(data, columns=['id', 'content', 'keywords', 'category'])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load_data2(file_path):</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with open(file_path, 'r', encoding='utf-8') as f:</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lines = f.readlines()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data = [line.strip().split('_separator_') for line in lines]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pd.DataFrame(data, columns=['id', 'content', 'keywords'])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 = load_data('train.txt')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test_df = load_data2('test1.txt')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此时我们得到了训练集和测试集的</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DataFrame</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8" name="TextBox 18"/>
          <p:cNvSpPr txBox="1"/>
          <p:nvPr>
            <p:custDataLst>
              <p:tags r:id="rId16"/>
            </p:custDataLst>
          </p:nvPr>
        </p:nvSpPr>
        <p:spPr>
          <a:xfrm>
            <a:off x="1305560" y="3637915"/>
            <a:ext cx="4675505" cy="560070"/>
          </a:xfrm>
          <a:prstGeom prst="rect">
            <a:avLst/>
          </a:prstGeom>
        </p:spPr>
        <p:txBody>
          <a:bodyPr wrap="square" lIns="0" tIns="0" rIns="0" bIns="0" rtlCol="0" anchor="t">
            <a:spAutoFit/>
          </a:bodyPr>
          <a:lstStyle/>
          <a:p>
            <a:pPr algn="l">
              <a:lnSpc>
                <a:spcPts val="4370"/>
              </a:lnSpc>
            </a:pP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加载数据</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9" name="TextBox 19"/>
          <p:cNvSpPr txBox="1"/>
          <p:nvPr>
            <p:custDataLst>
              <p:tags r:id="rId17"/>
            </p:custDataLst>
          </p:nvPr>
        </p:nvSpPr>
        <p:spPr>
          <a:xfrm>
            <a:off x="381134" y="1104787"/>
            <a:ext cx="1030454" cy="615315"/>
          </a:xfrm>
          <a:prstGeom prst="rect">
            <a:avLst/>
          </a:prstGeom>
        </p:spPr>
        <p:txBody>
          <a:bodyPr lIns="0" tIns="0" rIns="0" bIns="0" rtlCol="0" anchor="t">
            <a:spAutoFit/>
          </a:bodyPr>
          <a:lstStyle/>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20" name="TextBox 20"/>
          <p:cNvSpPr txBox="1"/>
          <p:nvPr>
            <p:custDataLst>
              <p:tags r:id="rId18"/>
            </p:custDataLst>
          </p:nvPr>
        </p:nvSpPr>
        <p:spPr>
          <a:xfrm>
            <a:off x="444490" y="3543510"/>
            <a:ext cx="1030454" cy="615315"/>
          </a:xfrm>
          <a:prstGeom prst="rect">
            <a:avLst/>
          </a:prstGeom>
        </p:spPr>
        <p:txBody>
          <a:bodyPr lIns="0" tIns="0" rIns="0" bIns="0" rtlCol="0" anchor="t">
            <a:spAutoFit/>
          </a:bodyPr>
          <a:lstStyle/>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21" name="Group 9"/>
          <p:cNvGrpSpPr/>
          <p:nvPr>
            <p:custDataLst>
              <p:tags r:id="rId19"/>
            </p:custDataLst>
          </p:nvPr>
        </p:nvGrpSpPr>
        <p:grpSpPr>
          <a:xfrm rot="0">
            <a:off x="9531779" y="935321"/>
            <a:ext cx="741679" cy="735562"/>
            <a:chOff x="0" y="0"/>
            <a:chExt cx="812800" cy="812800"/>
          </a:xfrm>
        </p:grpSpPr>
        <p:sp>
          <p:nvSpPr>
            <p:cNvPr id="22" name="Freeform 10"/>
            <p:cNvSpPr/>
            <p:nvPr>
              <p:custDataLst>
                <p:tags r:id="rId20"/>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p:spPr>
        </p:sp>
        <p:sp>
          <p:nvSpPr>
            <p:cNvPr id="23" name="TextBox 11"/>
            <p:cNvSpPr txBox="1"/>
            <p:nvPr/>
          </p:nvSpPr>
          <p:spPr>
            <a:xfrm>
              <a:off x="76200" y="19050"/>
              <a:ext cx="660400" cy="717550"/>
            </a:xfrm>
            <a:prstGeom prst="rect">
              <a:avLst/>
            </a:prstGeom>
          </p:spPr>
          <p:txBody>
            <a:bodyPr lIns="50800" tIns="50800" rIns="50800" bIns="50800" rtlCol="0" anchor="ctr"/>
            <a:p>
              <a:pPr algn="ctr">
                <a:lnSpc>
                  <a:spcPts val="3105"/>
                </a:lnSpc>
              </a:pPr>
            </a:p>
          </p:txBody>
        </p:sp>
      </p:grpSp>
      <p:sp>
        <p:nvSpPr>
          <p:cNvPr id="24" name="TextBox 19"/>
          <p:cNvSpPr txBox="1"/>
          <p:nvPr>
            <p:custDataLst>
              <p:tags r:id="rId21"/>
            </p:custDataLst>
          </p:nvPr>
        </p:nvSpPr>
        <p:spPr>
          <a:xfrm>
            <a:off x="9372734" y="952387"/>
            <a:ext cx="1030454" cy="615315"/>
          </a:xfrm>
          <a:prstGeom prst="rect">
            <a:avLst/>
          </a:prstGeom>
        </p:spPr>
        <p:txBody>
          <a:bodyPr lIns="0" tIns="0" rIns="0" bIns="0" rtlCol="0" anchor="t">
            <a:spAutoFit/>
          </a:bodyPr>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25" name="TextBox 16"/>
          <p:cNvSpPr txBox="1"/>
          <p:nvPr>
            <p:custDataLst>
              <p:tags r:id="rId22"/>
            </p:custDataLst>
          </p:nvPr>
        </p:nvSpPr>
        <p:spPr>
          <a:xfrm>
            <a:off x="10363200" y="952500"/>
            <a:ext cx="4114165" cy="560070"/>
          </a:xfrm>
          <a:prstGeom prst="rect">
            <a:avLst/>
          </a:prstGeom>
        </p:spPr>
        <p:txBody>
          <a:bodyPr wrap="square" lIns="0" tIns="0" rIns="0" bIns="0" rtlCol="0" anchor="t">
            <a:spAutoFit/>
          </a:bodyPr>
          <a:p>
            <a:pPr algn="l">
              <a:lnSpc>
                <a:spcPts val="4370"/>
              </a:lnSpc>
            </a:pP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构建停用词表和分词函数</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6" name="TextBox 15"/>
          <p:cNvSpPr txBox="1"/>
          <p:nvPr>
            <p:custDataLst>
              <p:tags r:id="rId23"/>
            </p:custDataLst>
          </p:nvPr>
        </p:nvSpPr>
        <p:spPr>
          <a:xfrm>
            <a:off x="10134600" y="1485900"/>
            <a:ext cx="7837170" cy="2196465"/>
          </a:xfrm>
          <a:prstGeom prst="rect">
            <a:avLst/>
          </a:prstGeom>
        </p:spPr>
        <p:txBody>
          <a:bodyPr wrap="square" lIns="0" tIns="0" rIns="0" bIns="0" rtlCol="0" anchor="t">
            <a:spAutoFit/>
          </a:bodyPr>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stop_list  = pd.read_csv("</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百度停用词表</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.txt",index_col=False,quoting=3,  </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sep="\t",names=['stopword'], encoding='utf-8')</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#Jieba</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分词函数</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txt_cut(juzi):</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lis=[w for w in jieba.lcut(juzi) if w not in stop_list.values]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 ".join(lis)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27" name="TextBox 19"/>
          <p:cNvSpPr txBox="1"/>
          <p:nvPr>
            <p:custDataLst>
              <p:tags r:id="rId24"/>
            </p:custDataLst>
          </p:nvPr>
        </p:nvSpPr>
        <p:spPr>
          <a:xfrm>
            <a:off x="9332729" y="3606052"/>
            <a:ext cx="1030454" cy="615315"/>
          </a:xfrm>
          <a:prstGeom prst="rect">
            <a:avLst/>
          </a:prstGeom>
        </p:spPr>
        <p:txBody>
          <a:bodyPr lIns="0" tIns="0" rIns="0" bIns="0" rtlCol="0" anchor="t">
            <a:spAutoFit/>
          </a:bodyPr>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04</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31" name="TextBox 16"/>
          <p:cNvSpPr txBox="1"/>
          <p:nvPr>
            <p:custDataLst>
              <p:tags r:id="rId25"/>
            </p:custDataLst>
          </p:nvPr>
        </p:nvSpPr>
        <p:spPr>
          <a:xfrm>
            <a:off x="10287000" y="3632200"/>
            <a:ext cx="4114165" cy="560070"/>
          </a:xfrm>
          <a:prstGeom prst="rect">
            <a:avLst/>
          </a:prstGeom>
        </p:spPr>
        <p:txBody>
          <a:bodyPr wrap="square" lIns="0" tIns="0" rIns="0" bIns="0" rtlCol="0" anchor="t">
            <a:spAutoFit/>
          </a:bodyPr>
          <a:p>
            <a:pPr algn="l">
              <a:lnSpc>
                <a:spcPts val="4370"/>
              </a:lnSpc>
            </a:pP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分词并去</a:t>
            </a: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停用词</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2" name="TextBox 15"/>
          <p:cNvSpPr txBox="1"/>
          <p:nvPr>
            <p:custDataLst>
              <p:tags r:id="rId26"/>
            </p:custDataLst>
          </p:nvPr>
        </p:nvSpPr>
        <p:spPr>
          <a:xfrm>
            <a:off x="9753600" y="4309745"/>
            <a:ext cx="8335010" cy="3801745"/>
          </a:xfrm>
          <a:prstGeom prst="rect">
            <a:avLst/>
          </a:prstGeom>
        </p:spPr>
        <p:txBody>
          <a:bodyPr wrap="square" lIns="0" tIns="0" rIns="0" bIns="0" rtlCol="0" anchor="t">
            <a:noAutofit/>
          </a:bodyPr>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train_df['content'] = train_df['content'].astype('str').apply(txt_cut)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test_df['content'] = test_df['content'].astype('str').apply(txt_cut)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train_df['content'] = train_df['content']+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(train_df['keywords'].astype('str').apply(txt_cut))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test_df['content'] = test_df['content']+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(test_df['keywords'].astype('str').apply(txt_cut))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这里把关键词部分合并到了分词之后的</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['content']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列里，让文本特征更明显一点</a:t>
            </a:r>
            <a:b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b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因为有些数据没有给出关键词，所以把</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nan</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也放到了停用词表里，</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防止造成干扰</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00830" y="-80030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5029260" y="63492"/>
            <a:ext cx="8374259" cy="815340"/>
          </a:xfrm>
          <a:prstGeom prst="rect">
            <a:avLst/>
          </a:prstGeom>
        </p:spPr>
        <p:txBody>
          <a:bodyPr lIns="0" tIns="0" rIns="0" bIns="0" rtlCol="0" anchor="t">
            <a:spAutoFit/>
          </a:bodyPr>
          <a:lstStyle/>
          <a:p>
            <a:pPr algn="ctr">
              <a:lnSpc>
                <a:spcPts val="6360"/>
              </a:lnSpc>
            </a:pPr>
            <a:r>
              <a:rPr lang="zh-CN" altLang="en-US" sz="5300">
                <a:solidFill>
                  <a:srgbClr val="100F0D"/>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文本预处理</a:t>
            </a:r>
            <a:endParaRPr lang="zh-CN" altLang="en-US" sz="5300">
              <a:solidFill>
                <a:srgbClr val="100F0D"/>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grpSp>
        <p:nvGrpSpPr>
          <p:cNvPr id="12" name="Group 12"/>
          <p:cNvGrpSpPr/>
          <p:nvPr>
            <p:custDataLst>
              <p:tags r:id="rId7"/>
            </p:custDataLst>
          </p:nvPr>
        </p:nvGrpSpPr>
        <p:grpSpPr>
          <a:xfrm rot="0">
            <a:off x="1224176" y="2881117"/>
            <a:ext cx="756462" cy="749325"/>
            <a:chOff x="0" y="0"/>
            <a:chExt cx="812800" cy="812800"/>
          </a:xfrm>
        </p:grpSpPr>
        <p:sp>
          <p:nvSpPr>
            <p:cNvPr id="13" name="Freeform 13"/>
            <p:cNvSpPr/>
            <p:nvPr>
              <p:custDataLst>
                <p:tags r:id="rId8"/>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7396"/>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15" name="TextBox 15"/>
          <p:cNvSpPr txBox="1"/>
          <p:nvPr>
            <p:custDataLst>
              <p:tags r:id="rId9"/>
            </p:custDataLst>
          </p:nvPr>
        </p:nvSpPr>
        <p:spPr>
          <a:xfrm>
            <a:off x="2209800" y="1049655"/>
            <a:ext cx="7529195" cy="1830070"/>
          </a:xfrm>
          <a:prstGeom prst="rect">
            <a:avLst/>
          </a:prstGeom>
        </p:spPr>
        <p:txBody>
          <a:bodyPr wrap="square" lIns="0" tIns="0" rIns="0" bIns="0" rtlCol="0" anchor="t">
            <a:spAutoFit/>
          </a:bodyPr>
          <a:lstStyle/>
          <a:p>
            <a:pPr algn="just">
              <a:lnSpc>
                <a:spcPts val="2855"/>
              </a:lnSpc>
            </a:pP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此时，我们用可视化工具来看看处理后的</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里各数据的分布情况：</a:t>
            </a:r>
            <a:b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b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train_df['category'].value_counts().plot(kind='bar')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plt.show()</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结果如右上图所示，发现数据不均衡，其中第</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5</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和第</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14</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类数据极少，因此做一步过采样操作，能一定程度上提高</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训练效果</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7" name="TextBox 17"/>
          <p:cNvSpPr txBox="1"/>
          <p:nvPr>
            <p:custDataLst>
              <p:tags r:id="rId10"/>
            </p:custDataLst>
          </p:nvPr>
        </p:nvSpPr>
        <p:spPr>
          <a:xfrm>
            <a:off x="1909445" y="3467100"/>
            <a:ext cx="8658860" cy="5125720"/>
          </a:xfrm>
          <a:prstGeom prst="rect">
            <a:avLst/>
          </a:prstGeom>
        </p:spPr>
        <p:txBody>
          <a:bodyPr wrap="square" lIns="0" tIns="0" rIns="0" bIns="0" rtlCol="0" anchor="t">
            <a:sp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过采样</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oversample_category(df, category, num_samples):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获取样本</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category_df = df[df['category'] == category]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随机选择</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num_samples</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个样本</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selected_samples = category_df.sample(n=num_samples, replace=True)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返回过采样后的样本</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selected_samples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oversampled_category_df5 = oversample_category(train_df, '5', 8000)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oversampled_category_df14 = oversample_category(train_df, '14', 10000)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合并过采样后的样本并打乱</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 = pd.concat([train_df, oversampled_category_df5])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 = pd.concat([train_df, oversampled_category_df14])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train_df =train_df.sample(frac=1)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8" name="TextBox 18"/>
          <p:cNvSpPr txBox="1"/>
          <p:nvPr>
            <p:custDataLst>
              <p:tags r:id="rId11"/>
            </p:custDataLst>
          </p:nvPr>
        </p:nvSpPr>
        <p:spPr>
          <a:xfrm>
            <a:off x="2057400" y="2930525"/>
            <a:ext cx="4675505" cy="560070"/>
          </a:xfrm>
          <a:prstGeom prst="rect">
            <a:avLst/>
          </a:prstGeom>
        </p:spPr>
        <p:txBody>
          <a:bodyPr wrap="square" lIns="0" tIns="0" rIns="0" bIns="0" rtlCol="0" anchor="t">
            <a:spAutoFit/>
          </a:bodyPr>
          <a:lstStyle/>
          <a:p>
            <a:pPr algn="l">
              <a:lnSpc>
                <a:spcPts val="4370"/>
              </a:lnSpc>
            </a:pP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过采样</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0" name="TextBox 20"/>
          <p:cNvSpPr txBox="1"/>
          <p:nvPr>
            <p:custDataLst>
              <p:tags r:id="rId12"/>
            </p:custDataLst>
          </p:nvPr>
        </p:nvSpPr>
        <p:spPr>
          <a:xfrm>
            <a:off x="1066790" y="2915495"/>
            <a:ext cx="1030454" cy="615315"/>
          </a:xfrm>
          <a:prstGeom prst="rect">
            <a:avLst/>
          </a:prstGeom>
        </p:spPr>
        <p:txBody>
          <a:bodyPr lIns="0" tIns="0" rIns="0" bIns="0" rtlCol="0" anchor="t">
            <a:spAutoFit/>
          </a:bodyPr>
          <a:lstStyle/>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05</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24" name="TextBox 19"/>
          <p:cNvSpPr txBox="1"/>
          <p:nvPr>
            <p:custDataLst>
              <p:tags r:id="rId13"/>
            </p:custDataLst>
          </p:nvPr>
        </p:nvSpPr>
        <p:spPr>
          <a:xfrm>
            <a:off x="9372734" y="952387"/>
            <a:ext cx="1030454" cy="615315"/>
          </a:xfrm>
          <a:prstGeom prst="rect">
            <a:avLst/>
          </a:prstGeom>
        </p:spPr>
        <p:txBody>
          <a:bodyPr lIns="0" tIns="0" rIns="0" bIns="0" rtlCol="0" anchor="t">
            <a:spAutoFit/>
          </a:bodyPr>
          <a:p>
            <a:pPr algn="ctr">
              <a:lnSpc>
                <a:spcPts val="4800"/>
              </a:lnSpc>
            </a:pPr>
            <a:r>
              <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400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pic>
        <p:nvPicPr>
          <p:cNvPr id="33" name="图片 32" descr="Figure_1"/>
          <p:cNvPicPr>
            <a:picLocks noChangeAspect="1"/>
          </p:cNvPicPr>
          <p:nvPr/>
        </p:nvPicPr>
        <p:blipFill>
          <a:blip r:embed="rId14"/>
          <a:stretch>
            <a:fillRect/>
          </a:stretch>
        </p:blipFill>
        <p:spPr>
          <a:xfrm>
            <a:off x="11201400" y="38100"/>
            <a:ext cx="5852160" cy="4389120"/>
          </a:xfrm>
          <a:prstGeom prst="rect">
            <a:avLst/>
          </a:prstGeom>
        </p:spPr>
      </p:pic>
      <p:sp>
        <p:nvSpPr>
          <p:cNvPr id="34" name="文本框 33"/>
          <p:cNvSpPr txBox="1"/>
          <p:nvPr/>
        </p:nvSpPr>
        <p:spPr>
          <a:xfrm>
            <a:off x="11201400" y="4533900"/>
            <a:ext cx="6647815" cy="389890"/>
          </a:xfrm>
          <a:prstGeom prst="rect">
            <a:avLst/>
          </a:prstGeom>
          <a:noFill/>
        </p:spPr>
        <p:txBody>
          <a:bodyPr wrap="square" rtlCol="0">
            <a:noAutofit/>
          </a:bodyPr>
          <a:p>
            <a:r>
              <a:rPr lang="zh-CN" altLang="en-US"/>
              <a:t>过采样之后再看看数据</a:t>
            </a:r>
            <a:r>
              <a:rPr lang="zh-CN" altLang="en-US"/>
              <a:t>分布：</a:t>
            </a:r>
            <a:endParaRPr lang="zh-CN" altLang="en-US"/>
          </a:p>
        </p:txBody>
      </p:sp>
      <p:pic>
        <p:nvPicPr>
          <p:cNvPr id="35" name="图片 34" descr="Figure_2"/>
          <p:cNvPicPr>
            <a:picLocks noChangeAspect="1"/>
          </p:cNvPicPr>
          <p:nvPr/>
        </p:nvPicPr>
        <p:blipFill>
          <a:blip r:embed="rId15"/>
          <a:stretch>
            <a:fillRect/>
          </a:stretch>
        </p:blipFill>
        <p:spPr>
          <a:xfrm>
            <a:off x="11201400" y="4914900"/>
            <a:ext cx="5852160" cy="4389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11200883" y="477285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8834007" y="729498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4221" y="-2432130"/>
            <a:ext cx="13022180" cy="5984032"/>
          </a:xfrm>
          <a:custGeom>
            <a:avLst/>
            <a:gdLst/>
            <a:ahLst/>
            <a:cxnLst/>
            <a:rect l="l" t="t" r="r" b="b"/>
            <a:pathLst>
              <a:path w="13022180" h="5984032">
                <a:moveTo>
                  <a:pt x="0" y="0"/>
                </a:moveTo>
                <a:lnTo>
                  <a:pt x="13022180" y="0"/>
                </a:lnTo>
                <a:lnTo>
                  <a:pt x="13022180" y="5984033"/>
                </a:lnTo>
                <a:lnTo>
                  <a:pt x="0" y="59840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3957189" y="-1361733"/>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4129742" y="-1941097"/>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rot="450764">
            <a:off x="6139604" y="7473655"/>
            <a:ext cx="15581755" cy="7160224"/>
          </a:xfrm>
          <a:custGeom>
            <a:avLst/>
            <a:gdLst/>
            <a:ahLst/>
            <a:cxnLst/>
            <a:rect l="l" t="t" r="r" b="b"/>
            <a:pathLst>
              <a:path w="15581755" h="7160224">
                <a:moveTo>
                  <a:pt x="0" y="0"/>
                </a:moveTo>
                <a:lnTo>
                  <a:pt x="15581755" y="0"/>
                </a:lnTo>
                <a:lnTo>
                  <a:pt x="15581755" y="7160224"/>
                </a:lnTo>
                <a:lnTo>
                  <a:pt x="0" y="7160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7725513" y="3564357"/>
            <a:ext cx="2836973" cy="835731"/>
            <a:chOff x="0" y="0"/>
            <a:chExt cx="1379566" cy="406400"/>
          </a:xfrm>
        </p:grpSpPr>
        <p:sp>
          <p:nvSpPr>
            <p:cNvPr id="9" name="Freeform 9"/>
            <p:cNvSpPr/>
            <p:nvPr/>
          </p:nvSpPr>
          <p:spPr>
            <a:xfrm>
              <a:off x="0" y="0"/>
              <a:ext cx="1379566" cy="406400"/>
            </a:xfrm>
            <a:custGeom>
              <a:avLst/>
              <a:gdLst/>
              <a:ahLst/>
              <a:cxnLst/>
              <a:rect l="l" t="t" r="r" b="b"/>
              <a:pathLst>
                <a:path w="1379566" h="406400">
                  <a:moveTo>
                    <a:pt x="1176366" y="0"/>
                  </a:moveTo>
                  <a:cubicBezTo>
                    <a:pt x="1288590" y="0"/>
                    <a:pt x="1379566" y="90976"/>
                    <a:pt x="1379566" y="203200"/>
                  </a:cubicBezTo>
                  <a:cubicBezTo>
                    <a:pt x="1379566" y="315424"/>
                    <a:pt x="1288590" y="406400"/>
                    <a:pt x="1176366" y="406400"/>
                  </a:cubicBezTo>
                  <a:lnTo>
                    <a:pt x="203200" y="406400"/>
                  </a:lnTo>
                  <a:cubicBezTo>
                    <a:pt x="90976" y="406400"/>
                    <a:pt x="0" y="315424"/>
                    <a:pt x="0" y="203200"/>
                  </a:cubicBezTo>
                  <a:cubicBezTo>
                    <a:pt x="0" y="90976"/>
                    <a:pt x="90976" y="0"/>
                    <a:pt x="203200" y="0"/>
                  </a:cubicBezTo>
                  <a:close/>
                </a:path>
              </a:pathLst>
            </a:custGeom>
            <a:solidFill>
              <a:srgbClr val="5B7396"/>
            </a:solidFill>
          </p:spPr>
        </p:sp>
        <p:sp>
          <p:nvSpPr>
            <p:cNvPr id="10" name="TextBox 10"/>
            <p:cNvSpPr txBox="1"/>
            <p:nvPr/>
          </p:nvSpPr>
          <p:spPr>
            <a:xfrm>
              <a:off x="0" y="-57150"/>
              <a:ext cx="1379566" cy="463550"/>
            </a:xfrm>
            <a:prstGeom prst="rect">
              <a:avLst/>
            </a:prstGeom>
          </p:spPr>
          <p:txBody>
            <a:bodyPr lIns="50800" tIns="50800" rIns="50800" bIns="50800" rtlCol="0" anchor="ctr"/>
            <a:lstStyle/>
            <a:p>
              <a:pPr algn="ctr">
                <a:lnSpc>
                  <a:spcPts val="3105"/>
                </a:lnSpc>
              </a:pPr>
            </a:p>
          </p:txBody>
        </p:sp>
      </p:grpSp>
      <p:sp>
        <p:nvSpPr>
          <p:cNvPr id="11" name="TextBox 11"/>
          <p:cNvSpPr txBox="1"/>
          <p:nvPr/>
        </p:nvSpPr>
        <p:spPr>
          <a:xfrm>
            <a:off x="7930343" y="3646226"/>
            <a:ext cx="2427315" cy="558165"/>
          </a:xfrm>
          <a:prstGeom prst="rect">
            <a:avLst/>
          </a:prstGeom>
        </p:spPr>
        <p:txBody>
          <a:bodyPr lIns="0" tIns="0" rIns="0" bIns="0" rtlCol="0" anchor="t">
            <a:spAutoFit/>
          </a:bodyPr>
          <a:lstStyle/>
          <a:p>
            <a:pPr marL="0" lvl="0" indent="0" algn="ctr">
              <a:lnSpc>
                <a:spcPts val="4355"/>
              </a:lnSpc>
              <a:spcBef>
                <a:spcPct val="0"/>
              </a:spcBef>
            </a:pPr>
            <a:r>
              <a:rPr 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第二</a:t>
            </a:r>
            <a:r>
              <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步</a:t>
            </a:r>
            <a:endPar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2" name="TextBox 12"/>
          <p:cNvSpPr txBox="1"/>
          <p:nvPr/>
        </p:nvSpPr>
        <p:spPr>
          <a:xfrm>
            <a:off x="4572040" y="4614691"/>
            <a:ext cx="9234089" cy="1370330"/>
          </a:xfrm>
          <a:prstGeom prst="rect">
            <a:avLst/>
          </a:prstGeom>
        </p:spPr>
        <p:txBody>
          <a:bodyPr lIns="0" tIns="0" rIns="0" bIns="0" rtlCol="0" anchor="t">
            <a:spAutoFit/>
          </a:bodyPr>
          <a:lstStyle/>
          <a:p>
            <a:pPr marL="0" lvl="0" indent="0" algn="ctr">
              <a:lnSpc>
                <a:spcPts val="10690"/>
              </a:lnSpc>
              <a:spcBef>
                <a:spcPct val="0"/>
              </a:spcBef>
            </a:pPr>
            <a:r>
              <a:rPr lang="zh-CN" altLang="en-US" sz="8100">
                <a:solidFill>
                  <a:schemeClr val="tx1"/>
                </a:solidFill>
                <a:effectLst>
                  <a:outerShdw blurRad="38100" dist="19050" dir="2700000" algn="tl" rotWithShape="0">
                    <a:schemeClr val="dk1">
                      <a:alpha val="40000"/>
                    </a:schemeClr>
                  </a:outerShdw>
                </a:effectLst>
                <a:latin typeface="金山云技术体" charset="-122"/>
                <a:ea typeface="金山云技术体" charset="-122"/>
                <a:cs typeface="字由点字倔强黑" panose="00020600040101010101" charset="-122"/>
                <a:sym typeface="字由点字倔强黑" panose="00020600040101010101" charset="-122"/>
              </a:rPr>
              <a:t>文本</a:t>
            </a:r>
            <a:r>
              <a:rPr lang="zh-CN" altLang="en-US" sz="8000">
                <a:solidFill>
                  <a:schemeClr val="tx1"/>
                </a:solidFill>
                <a:effectLst>
                  <a:outerShdw blurRad="38100" dist="19050" dir="2700000" algn="tl" rotWithShape="0">
                    <a:schemeClr val="dk1">
                      <a:alpha val="40000"/>
                    </a:schemeClr>
                  </a:outerShdw>
                </a:effectLst>
                <a:latin typeface="金山云技术体" charset="-122"/>
                <a:ea typeface="金山云技术体" charset="-122"/>
                <a:cs typeface="字由点字倔强黑" panose="00020600040101010101" charset="-122"/>
                <a:sym typeface="字由点字倔强黑" panose="00020600040101010101" charset="-122"/>
              </a:rPr>
              <a:t>向量化</a:t>
            </a:r>
            <a:endParaRPr lang="zh-CN" altLang="en-US" sz="8000">
              <a:solidFill>
                <a:schemeClr val="tx1"/>
              </a:solidFill>
              <a:effectLst>
                <a:outerShdw blurRad="38100" dist="19050" dir="2700000" algn="tl" rotWithShape="0">
                  <a:schemeClr val="dk1">
                    <a:alpha val="40000"/>
                  </a:schemeClr>
                </a:outerShdw>
              </a:effectLst>
              <a:latin typeface="金山云技术体" charset="-122"/>
              <a:ea typeface="金山云技术体" charset="-122"/>
              <a:cs typeface="字由点字倔强黑" panose="00020600040101010101" charset="-122"/>
              <a:sym typeface="字由点字倔强黑" panose="00020600040101010101" charset="-122"/>
            </a:endParaRPr>
          </a:p>
        </p:txBody>
      </p:sp>
      <p:sp>
        <p:nvSpPr>
          <p:cNvPr id="13" name="TextBox 13"/>
          <p:cNvSpPr txBox="1"/>
          <p:nvPr/>
        </p:nvSpPr>
        <p:spPr>
          <a:xfrm>
            <a:off x="5738495" y="6090285"/>
            <a:ext cx="6811010" cy="290195"/>
          </a:xfrm>
          <a:prstGeom prst="rect">
            <a:avLst/>
          </a:prstGeom>
        </p:spPr>
        <p:txBody>
          <a:bodyPr lIns="0" tIns="0" rIns="0" bIns="0" rtlCol="0" anchor="t">
            <a:noAutofit/>
          </a:bodyPr>
          <a:lstStyle/>
          <a:p>
            <a:pPr marL="0" lvl="0" indent="0" algn="ctr">
              <a:lnSpc>
                <a:spcPts val="1680"/>
              </a:lnSpc>
              <a:spcBef>
                <a:spcPct val="0"/>
              </a:spcBef>
            </a:pPr>
            <a:r>
              <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rPr>
              <a:t>Text vectorization</a:t>
            </a:r>
            <a:endPar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0" y="38100"/>
            <a:ext cx="3697605" cy="815340"/>
          </a:xfrm>
          <a:prstGeom prst="rect">
            <a:avLst/>
          </a:prstGeom>
        </p:spPr>
        <p:txBody>
          <a:bodyPr wrap="square" lIns="0" tIns="0" rIns="0" bIns="0" rtlCol="0" anchor="t">
            <a:spAutoFit/>
          </a:bodyPr>
          <a:lstStyle/>
          <a:p>
            <a:pPr algn="l">
              <a:lnSpc>
                <a:spcPts val="6360"/>
              </a:lnSpc>
            </a:pPr>
            <a:r>
              <a:rPr lang="zh-CN" altLang="en-US" sz="5300" b="1">
                <a:solidFill>
                  <a:srgbClr val="100F0D"/>
                </a:solidFill>
                <a:latin typeface="WPS灵秀黑" charset="-122"/>
                <a:ea typeface="WPS灵秀黑" charset="-122"/>
                <a:cs typeface="字由点字倔强黑" panose="00020600040101010101" charset="-122"/>
                <a:sym typeface="字由点字倔强黑" panose="00020600040101010101" charset="-122"/>
              </a:rPr>
              <a:t>文本向量化</a:t>
            </a:r>
            <a:endParaRPr lang="zh-CN" altLang="en-US" sz="5300" b="1">
              <a:solidFill>
                <a:srgbClr val="100F0D"/>
              </a:solidFill>
              <a:latin typeface="WPS灵秀黑" charset="-122"/>
              <a:ea typeface="WPS灵秀黑" charset="-122"/>
              <a:cs typeface="字由点字倔强黑" panose="00020600040101010101" charset="-122"/>
              <a:sym typeface="字由点字倔强黑" panose="00020600040101010101" charset="-122"/>
            </a:endParaRPr>
          </a:p>
        </p:txBody>
      </p:sp>
      <p:grpSp>
        <p:nvGrpSpPr>
          <p:cNvPr id="9" name="Group 9"/>
          <p:cNvGrpSpPr/>
          <p:nvPr>
            <p:custDataLst>
              <p:tags r:id="rId7"/>
            </p:custDataLst>
          </p:nvPr>
        </p:nvGrpSpPr>
        <p:grpSpPr>
          <a:xfrm rot="0">
            <a:off x="1219200" y="467995"/>
            <a:ext cx="16548100" cy="2832735"/>
            <a:chOff x="0" y="-47684"/>
            <a:chExt cx="13417031" cy="1734592"/>
          </a:xfrm>
        </p:grpSpPr>
        <p:sp>
          <p:nvSpPr>
            <p:cNvPr id="10" name="Freeform 10"/>
            <p:cNvSpPr/>
            <p:nvPr>
              <p:custDataLst>
                <p:tags r:id="rId8"/>
              </p:custDataLst>
            </p:nvPr>
          </p:nvSpPr>
          <p:spPr>
            <a:xfrm>
              <a:off x="0" y="0"/>
              <a:ext cx="13417031" cy="1670035"/>
            </a:xfrm>
            <a:custGeom>
              <a:avLst/>
              <a:gdLst/>
              <a:ahLst/>
              <a:cxnLst/>
              <a:rect l="l" t="t" r="r" b="b"/>
              <a:pathLst>
                <a:path w="13417031" h="1809052">
                  <a:moveTo>
                    <a:pt x="54338" y="0"/>
                  </a:moveTo>
                  <a:lnTo>
                    <a:pt x="13362693" y="0"/>
                  </a:lnTo>
                  <a:cubicBezTo>
                    <a:pt x="13377104" y="0"/>
                    <a:pt x="13390925" y="5725"/>
                    <a:pt x="13401115" y="15915"/>
                  </a:cubicBezTo>
                  <a:cubicBezTo>
                    <a:pt x="13411305" y="26106"/>
                    <a:pt x="13417031" y="39927"/>
                    <a:pt x="13417031" y="54338"/>
                  </a:cubicBezTo>
                  <a:lnTo>
                    <a:pt x="13417031" y="1754714"/>
                  </a:lnTo>
                  <a:cubicBezTo>
                    <a:pt x="13417031" y="1784724"/>
                    <a:pt x="13392703" y="1809052"/>
                    <a:pt x="13362693" y="1809052"/>
                  </a:cubicBezTo>
                  <a:lnTo>
                    <a:pt x="54338" y="1809052"/>
                  </a:lnTo>
                  <a:cubicBezTo>
                    <a:pt x="39927" y="1809052"/>
                    <a:pt x="26106" y="1803327"/>
                    <a:pt x="15915" y="1793137"/>
                  </a:cubicBezTo>
                  <a:cubicBezTo>
                    <a:pt x="5725" y="1782946"/>
                    <a:pt x="0" y="1769125"/>
                    <a:pt x="0" y="1754714"/>
                  </a:cubicBezTo>
                  <a:lnTo>
                    <a:pt x="0" y="54338"/>
                  </a:lnTo>
                  <a:cubicBezTo>
                    <a:pt x="0" y="24328"/>
                    <a:pt x="24328" y="0"/>
                    <a:pt x="54338" y="0"/>
                  </a:cubicBezTo>
                  <a:close/>
                </a:path>
              </a:pathLst>
            </a:custGeom>
            <a:solidFill>
              <a:srgbClr val="CBDCDE">
                <a:alpha val="50980"/>
              </a:srgbClr>
            </a:solidFill>
            <a:ln cap="rnd">
              <a:noFill/>
              <a:prstDash val="solid"/>
              <a:round/>
            </a:ln>
          </p:spPr>
        </p:sp>
        <p:sp>
          <p:nvSpPr>
            <p:cNvPr id="11" name="TextBox 11"/>
            <p:cNvSpPr txBox="1"/>
            <p:nvPr/>
          </p:nvSpPr>
          <p:spPr>
            <a:xfrm>
              <a:off x="0" y="-47684"/>
              <a:ext cx="13417031" cy="1734592"/>
            </a:xfrm>
            <a:prstGeom prst="rect">
              <a:avLst/>
            </a:prstGeom>
          </p:spPr>
          <p:txBody>
            <a:bodyPr lIns="50800" tIns="50800" rIns="50800" bIns="50800" rtlCol="0" anchor="ctr"/>
            <a:lstStyle/>
            <a:p>
              <a:pPr marL="0" lvl="0" indent="0" algn="ctr">
                <a:lnSpc>
                  <a:spcPts val="2660"/>
                </a:lnSpc>
                <a:spcBef>
                  <a:spcPct val="0"/>
                </a:spcBef>
              </a:pPr>
            </a:p>
          </p:txBody>
        </p:sp>
      </p:grpSp>
      <p:sp>
        <p:nvSpPr>
          <p:cNvPr id="12" name="TextBox 12"/>
          <p:cNvSpPr txBox="1"/>
          <p:nvPr>
            <p:custDataLst>
              <p:tags r:id="rId9"/>
            </p:custDataLst>
          </p:nvPr>
        </p:nvSpPr>
        <p:spPr>
          <a:xfrm>
            <a:off x="1371884" y="697177"/>
            <a:ext cx="3042450" cy="560070"/>
          </a:xfrm>
          <a:prstGeom prst="rect">
            <a:avLst/>
          </a:prstGeom>
        </p:spPr>
        <p:txBody>
          <a:bodyPr lIns="0" tIns="0" rIns="0" bIns="0" rtlCol="0" anchor="t">
            <a:spAutoFit/>
          </a:bodyPr>
          <a:lstStyle/>
          <a:p>
            <a:pPr algn="l">
              <a:lnSpc>
                <a:spcPts val="4370"/>
              </a:lnSpc>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一</a:t>
            </a: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建立词索引字典</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3" name="TextBox 13"/>
          <p:cNvSpPr txBox="1"/>
          <p:nvPr>
            <p:custDataLst>
              <p:tags r:id="rId10"/>
            </p:custDataLst>
          </p:nvPr>
        </p:nvSpPr>
        <p:spPr>
          <a:xfrm>
            <a:off x="1371600" y="1131570"/>
            <a:ext cx="6753225" cy="2196465"/>
          </a:xfrm>
          <a:prstGeom prst="rect">
            <a:avLst/>
          </a:prstGeom>
        </p:spPr>
        <p:txBody>
          <a:bodyPr wrap="square" lIns="0" tIns="0" rIns="0" bIns="0" rtlCol="0" anchor="t">
            <a:sp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from os import listdir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from tensorflow import keras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from sklearn.model_selection import train_test_split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将文件分割成单字</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建立词索引字典</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tok = keras.preprocessing.text.Tokenizer(num_words=140000)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tok.fit_on_texts(train_df['content'].values)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4" name="Group 14"/>
          <p:cNvGrpSpPr/>
          <p:nvPr>
            <p:custDataLst>
              <p:tags r:id="rId11"/>
            </p:custDataLst>
          </p:nvPr>
        </p:nvGrpSpPr>
        <p:grpSpPr>
          <a:xfrm rot="0">
            <a:off x="1219200" y="3376930"/>
            <a:ext cx="16547465" cy="4110990"/>
            <a:chOff x="0" y="0"/>
            <a:chExt cx="13417031" cy="1809052"/>
          </a:xfrm>
        </p:grpSpPr>
        <p:sp>
          <p:nvSpPr>
            <p:cNvPr id="15" name="Freeform 15"/>
            <p:cNvSpPr/>
            <p:nvPr>
              <p:custDataLst>
                <p:tags r:id="rId12"/>
              </p:custDataLst>
            </p:nvPr>
          </p:nvSpPr>
          <p:spPr>
            <a:xfrm>
              <a:off x="0" y="0"/>
              <a:ext cx="13417031" cy="1809052"/>
            </a:xfrm>
            <a:custGeom>
              <a:avLst/>
              <a:gdLst/>
              <a:ahLst/>
              <a:cxnLst/>
              <a:rect l="l" t="t" r="r" b="b"/>
              <a:pathLst>
                <a:path w="13417031" h="1809052">
                  <a:moveTo>
                    <a:pt x="54338" y="0"/>
                  </a:moveTo>
                  <a:lnTo>
                    <a:pt x="13362693" y="0"/>
                  </a:lnTo>
                  <a:cubicBezTo>
                    <a:pt x="13377104" y="0"/>
                    <a:pt x="13390925" y="5725"/>
                    <a:pt x="13401115" y="15915"/>
                  </a:cubicBezTo>
                  <a:cubicBezTo>
                    <a:pt x="13411305" y="26106"/>
                    <a:pt x="13417031" y="39927"/>
                    <a:pt x="13417031" y="54338"/>
                  </a:cubicBezTo>
                  <a:lnTo>
                    <a:pt x="13417031" y="1754714"/>
                  </a:lnTo>
                  <a:cubicBezTo>
                    <a:pt x="13417031" y="1784724"/>
                    <a:pt x="13392703" y="1809052"/>
                    <a:pt x="13362693" y="1809052"/>
                  </a:cubicBezTo>
                  <a:lnTo>
                    <a:pt x="54338" y="1809052"/>
                  </a:lnTo>
                  <a:cubicBezTo>
                    <a:pt x="39927" y="1809052"/>
                    <a:pt x="26106" y="1803327"/>
                    <a:pt x="15915" y="1793137"/>
                  </a:cubicBezTo>
                  <a:cubicBezTo>
                    <a:pt x="5725" y="1782946"/>
                    <a:pt x="0" y="1769125"/>
                    <a:pt x="0" y="1754714"/>
                  </a:cubicBezTo>
                  <a:lnTo>
                    <a:pt x="0" y="54338"/>
                  </a:lnTo>
                  <a:cubicBezTo>
                    <a:pt x="0" y="24328"/>
                    <a:pt x="24328" y="0"/>
                    <a:pt x="54338" y="0"/>
                  </a:cubicBezTo>
                  <a:close/>
                </a:path>
              </a:pathLst>
            </a:custGeom>
            <a:solidFill>
              <a:srgbClr val="5B7396"/>
            </a:solidFill>
            <a:ln cap="rnd">
              <a:noFill/>
              <a:prstDash val="solid"/>
              <a:round/>
            </a:ln>
          </p:spPr>
        </p:sp>
        <p:sp>
          <p:nvSpPr>
            <p:cNvPr id="16" name="TextBox 16"/>
            <p:cNvSpPr txBox="1"/>
            <p:nvPr/>
          </p:nvSpPr>
          <p:spPr>
            <a:xfrm>
              <a:off x="0" y="-47625"/>
              <a:ext cx="13417031" cy="1856677"/>
            </a:xfrm>
            <a:prstGeom prst="rect">
              <a:avLst/>
            </a:prstGeom>
          </p:spPr>
          <p:txBody>
            <a:bodyPr lIns="50800" tIns="50800" rIns="50800" bIns="50800" rtlCol="0" anchor="ctr"/>
            <a:lstStyle/>
            <a:p>
              <a:pPr marL="0" lvl="0" indent="0" algn="ctr">
                <a:lnSpc>
                  <a:spcPts val="2660"/>
                </a:lnSpc>
                <a:spcBef>
                  <a:spcPct val="0"/>
                </a:spcBef>
              </a:pPr>
            </a:p>
          </p:txBody>
        </p:sp>
      </p:grpSp>
      <p:sp>
        <p:nvSpPr>
          <p:cNvPr id="17" name="TextBox 17"/>
          <p:cNvSpPr txBox="1"/>
          <p:nvPr>
            <p:custDataLst>
              <p:tags r:id="rId13"/>
            </p:custDataLst>
          </p:nvPr>
        </p:nvSpPr>
        <p:spPr>
          <a:xfrm>
            <a:off x="1372928" y="3543391"/>
            <a:ext cx="3042450" cy="560070"/>
          </a:xfrm>
          <a:prstGeom prst="rect">
            <a:avLst/>
          </a:prstGeom>
        </p:spPr>
        <p:txBody>
          <a:bodyPr lIns="0" tIns="0" rIns="0" bIns="0" rtlCol="0" anchor="t">
            <a:spAutoFit/>
          </a:bodyPr>
          <a:lstStyle/>
          <a:p>
            <a:pPr algn="l">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二</a:t>
            </a:r>
            <a:r>
              <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向量化</a:t>
            </a:r>
            <a:r>
              <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数据内容</a:t>
            </a:r>
            <a:endPar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8" name="TextBox 18"/>
          <p:cNvSpPr txBox="1"/>
          <p:nvPr>
            <p:custDataLst>
              <p:tags r:id="rId14"/>
            </p:custDataLst>
          </p:nvPr>
        </p:nvSpPr>
        <p:spPr>
          <a:xfrm>
            <a:off x="1371600" y="4039235"/>
            <a:ext cx="6601460" cy="3293110"/>
          </a:xfrm>
          <a:prstGeom prst="rect">
            <a:avLst/>
          </a:prstGeom>
        </p:spPr>
        <p:txBody>
          <a:bodyPr lIns="0" tIns="0" rIns="0" bIns="0" rtlCol="0" anchor="t">
            <a:noAutofit/>
          </a:bodyPr>
          <a:lstStyle/>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X= tok.texts_to_sequences(train_df['content'].values)</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zh-CN" altLang="en-US"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此时我们查看一下</a:t>
            </a: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X</a:t>
            </a:r>
            <a:r>
              <a:rPr lang="zh-CN" altLang="en-US"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的长度分布：</a:t>
            </a: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length=[]</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for i in X:</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length.append(len(i))</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v_c=pd.Series(length).value_counts()</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print(v_c[v_c&gt;150])</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v_c[v_c&gt;150].plot(kind='bar',figsize=(12,5))</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plt.show()</a:t>
            </a:r>
            <a:endParaRPr lang="en-US" altLang="zh-CN" sz="17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9" name="Group 19"/>
          <p:cNvGrpSpPr/>
          <p:nvPr>
            <p:custDataLst>
              <p:tags r:id="rId15"/>
            </p:custDataLst>
          </p:nvPr>
        </p:nvGrpSpPr>
        <p:grpSpPr>
          <a:xfrm rot="0">
            <a:off x="1220470" y="7606030"/>
            <a:ext cx="16623665" cy="2569845"/>
            <a:chOff x="0" y="-42078"/>
            <a:chExt cx="13478816" cy="1856677"/>
          </a:xfrm>
        </p:grpSpPr>
        <p:sp>
          <p:nvSpPr>
            <p:cNvPr id="20" name="Freeform 20"/>
            <p:cNvSpPr/>
            <p:nvPr>
              <p:custDataLst>
                <p:tags r:id="rId16"/>
              </p:custDataLst>
            </p:nvPr>
          </p:nvSpPr>
          <p:spPr>
            <a:xfrm>
              <a:off x="0" y="0"/>
              <a:ext cx="13417031" cy="1809052"/>
            </a:xfrm>
            <a:custGeom>
              <a:avLst/>
              <a:gdLst/>
              <a:ahLst/>
              <a:cxnLst/>
              <a:rect l="l" t="t" r="r" b="b"/>
              <a:pathLst>
                <a:path w="13417031" h="1809052">
                  <a:moveTo>
                    <a:pt x="54338" y="0"/>
                  </a:moveTo>
                  <a:lnTo>
                    <a:pt x="13362693" y="0"/>
                  </a:lnTo>
                  <a:cubicBezTo>
                    <a:pt x="13377104" y="0"/>
                    <a:pt x="13390925" y="5725"/>
                    <a:pt x="13401115" y="15915"/>
                  </a:cubicBezTo>
                  <a:cubicBezTo>
                    <a:pt x="13411305" y="26106"/>
                    <a:pt x="13417031" y="39927"/>
                    <a:pt x="13417031" y="54338"/>
                  </a:cubicBezTo>
                  <a:lnTo>
                    <a:pt x="13417031" y="1754714"/>
                  </a:lnTo>
                  <a:cubicBezTo>
                    <a:pt x="13417031" y="1784724"/>
                    <a:pt x="13392703" y="1809052"/>
                    <a:pt x="13362693" y="1809052"/>
                  </a:cubicBezTo>
                  <a:lnTo>
                    <a:pt x="54338" y="1809052"/>
                  </a:lnTo>
                  <a:cubicBezTo>
                    <a:pt x="39927" y="1809052"/>
                    <a:pt x="26106" y="1803327"/>
                    <a:pt x="15915" y="1793137"/>
                  </a:cubicBezTo>
                  <a:cubicBezTo>
                    <a:pt x="5725" y="1782946"/>
                    <a:pt x="0" y="1769125"/>
                    <a:pt x="0" y="1754714"/>
                  </a:cubicBezTo>
                  <a:lnTo>
                    <a:pt x="0" y="54338"/>
                  </a:lnTo>
                  <a:cubicBezTo>
                    <a:pt x="0" y="24328"/>
                    <a:pt x="24328" y="0"/>
                    <a:pt x="54338" y="0"/>
                  </a:cubicBezTo>
                  <a:close/>
                </a:path>
              </a:pathLst>
            </a:custGeom>
            <a:solidFill>
              <a:srgbClr val="CBDCDE">
                <a:alpha val="50980"/>
              </a:srgbClr>
            </a:solidFill>
            <a:ln cap="rnd">
              <a:noFill/>
              <a:prstDash val="solid"/>
              <a:round/>
            </a:ln>
          </p:spPr>
        </p:sp>
        <p:sp>
          <p:nvSpPr>
            <p:cNvPr id="21" name="TextBox 21"/>
            <p:cNvSpPr txBox="1"/>
            <p:nvPr/>
          </p:nvSpPr>
          <p:spPr>
            <a:xfrm>
              <a:off x="61785" y="-42078"/>
              <a:ext cx="13417031" cy="1856677"/>
            </a:xfrm>
            <a:prstGeom prst="rect">
              <a:avLst/>
            </a:prstGeom>
          </p:spPr>
          <p:txBody>
            <a:bodyPr lIns="50800" tIns="50800" rIns="50800" bIns="50800" rtlCol="0" anchor="ctr"/>
            <a:lstStyle/>
            <a:p>
              <a:pPr marL="0" lvl="0" indent="0" algn="ctr">
                <a:lnSpc>
                  <a:spcPts val="2660"/>
                </a:lnSpc>
                <a:spcBef>
                  <a:spcPct val="0"/>
                </a:spcBef>
              </a:pPr>
            </a:p>
          </p:txBody>
        </p:sp>
      </p:grpSp>
      <p:sp>
        <p:nvSpPr>
          <p:cNvPr id="22" name="TextBox 22"/>
          <p:cNvSpPr txBox="1"/>
          <p:nvPr>
            <p:custDataLst>
              <p:tags r:id="rId17"/>
            </p:custDataLst>
          </p:nvPr>
        </p:nvSpPr>
        <p:spPr>
          <a:xfrm>
            <a:off x="1373154" y="7734236"/>
            <a:ext cx="3042450" cy="560070"/>
          </a:xfrm>
          <a:prstGeom prst="rect">
            <a:avLst/>
          </a:prstGeom>
        </p:spPr>
        <p:txBody>
          <a:bodyPr lIns="0" tIns="0" rIns="0" bIns="0" rtlCol="0" anchor="t">
            <a:spAutoFit/>
          </a:bodyPr>
          <a:lstStyle/>
          <a:p>
            <a:pPr algn="l">
              <a:lnSpc>
                <a:spcPts val="4370"/>
              </a:lnSpc>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三</a:t>
            </a: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划分</a:t>
            </a:r>
            <a:r>
              <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验证集</a:t>
            </a:r>
            <a:endParaRPr lang="zh-CN" alt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3" name="TextBox 23"/>
          <p:cNvSpPr txBox="1"/>
          <p:nvPr>
            <p:custDataLst>
              <p:tags r:id="rId18"/>
            </p:custDataLst>
          </p:nvPr>
        </p:nvSpPr>
        <p:spPr>
          <a:xfrm>
            <a:off x="1676400" y="8294370"/>
            <a:ext cx="13272135" cy="1468755"/>
          </a:xfrm>
          <a:prstGeom prst="rect">
            <a:avLst/>
          </a:prstGeom>
        </p:spPr>
        <p:txBody>
          <a:bodyPr lIns="0" tIns="0" rIns="0" bIns="0" rtlCol="0" anchor="t">
            <a:no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X_train, X_test, Y_train, Y_test =  train_test_split(X, Y, test_size=0.2, stratify=Y, random_state=42)</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Y_test_original=Y_test.copy()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Y_train = keras.utils.to_categorical(Y_train)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Y_test = keras.utils.to_categorical(Y_test)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Y= keras.utils.to_categorical(Y)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24" name="文本框 23"/>
          <p:cNvSpPr txBox="1"/>
          <p:nvPr/>
        </p:nvSpPr>
        <p:spPr>
          <a:xfrm>
            <a:off x="8686800" y="1181100"/>
            <a:ext cx="7854315" cy="1476375"/>
          </a:xfrm>
          <a:prstGeom prst="rect">
            <a:avLst/>
          </a:prstGeom>
          <a:noFill/>
        </p:spPr>
        <p:txBody>
          <a:bodyPr wrap="square" rtlCol="0">
            <a:spAutoFit/>
          </a:bodyPr>
          <a:p>
            <a:r>
              <a:rPr lang="zh-CN" altLang="en-US"/>
              <a:t>此时我们打印一下词典的前十个词看看：</a:t>
            </a:r>
            <a:br>
              <a:rPr lang="zh-CN" altLang="en-US"/>
            </a:br>
            <a:r>
              <a:rPr lang="en-US" altLang="zh-CN"/>
              <a:t>print({k: tok.word_index[k] for k in list(tok.word_index)[:10]})</a:t>
            </a:r>
            <a:br>
              <a:rPr lang="en-US" altLang="zh-CN"/>
            </a:br>
            <a:r>
              <a:rPr lang="zh-CN" altLang="en-US"/>
              <a:t>输出结果：</a:t>
            </a:r>
            <a:endParaRPr lang="zh-CN" altLang="en-US"/>
          </a:p>
          <a:p>
            <a:r>
              <a:rPr lang="en-US" altLang="zh-CN"/>
              <a:t>{'</a:t>
            </a:r>
            <a:r>
              <a:rPr lang="zh-CN" altLang="en-US"/>
              <a:t>中国</a:t>
            </a:r>
            <a:r>
              <a:rPr lang="en-US" altLang="zh-CN"/>
              <a:t>': 1, '</a:t>
            </a:r>
            <a:r>
              <a:rPr lang="zh-CN" altLang="en-US"/>
              <a:t>美国</a:t>
            </a:r>
            <a:r>
              <a:rPr lang="en-US" altLang="zh-CN"/>
              <a:t>': 2, '</a:t>
            </a:r>
            <a:r>
              <a:rPr lang="zh-CN" altLang="en-US"/>
              <a:t>年</a:t>
            </a:r>
            <a:r>
              <a:rPr lang="en-US" altLang="zh-CN"/>
              <a:t>': 3, '</a:t>
            </a:r>
            <a:r>
              <a:rPr lang="zh-CN" altLang="en-US"/>
              <a:t>农村</a:t>
            </a:r>
            <a:r>
              <a:rPr lang="en-US" altLang="zh-CN"/>
              <a:t>': 4, '</a:t>
            </a:r>
            <a:r>
              <a:rPr lang="zh-CN" altLang="en-US"/>
              <a:t>新</a:t>
            </a:r>
            <a:r>
              <a:rPr lang="en-US" altLang="zh-CN"/>
              <a:t>': 5, '</a:t>
            </a:r>
            <a:r>
              <a:rPr lang="zh-CN" altLang="en-US"/>
              <a:t>中</a:t>
            </a:r>
            <a:r>
              <a:rPr lang="en-US" altLang="zh-CN"/>
              <a:t>': 6, '</a:t>
            </a:r>
            <a:r>
              <a:rPr lang="zh-CN" altLang="en-US"/>
              <a:t>上联</a:t>
            </a:r>
            <a:r>
              <a:rPr lang="en-US" altLang="zh-CN"/>
              <a:t>': 7, '</a:t>
            </a:r>
            <a:r>
              <a:rPr lang="zh-CN" altLang="en-US"/>
              <a:t>手机</a:t>
            </a:r>
            <a:r>
              <a:rPr lang="en-US" altLang="zh-CN"/>
              <a:t>': 8, '</a:t>
            </a:r>
            <a:r>
              <a:rPr lang="zh-CN" altLang="en-US"/>
              <a:t>游戏</a:t>
            </a:r>
            <a:r>
              <a:rPr lang="en-US" altLang="zh-CN"/>
              <a:t>': 9, '</a:t>
            </a:r>
            <a:r>
              <a:rPr lang="zh-CN" altLang="en-US"/>
              <a:t>下联</a:t>
            </a:r>
            <a:r>
              <a:rPr lang="en-US" altLang="zh-CN"/>
              <a:t>': 10}</a:t>
            </a:r>
            <a:endParaRPr lang="en-US" altLang="zh-CN"/>
          </a:p>
        </p:txBody>
      </p:sp>
      <p:sp>
        <p:nvSpPr>
          <p:cNvPr id="25" name="文本框 24"/>
          <p:cNvSpPr txBox="1"/>
          <p:nvPr/>
        </p:nvSpPr>
        <p:spPr>
          <a:xfrm>
            <a:off x="8229600" y="3467100"/>
            <a:ext cx="8652510" cy="368300"/>
          </a:xfrm>
          <a:prstGeom prst="rect">
            <a:avLst/>
          </a:prstGeom>
          <a:noFill/>
        </p:spPr>
        <p:txBody>
          <a:bodyPr wrap="square" rtlCol="0">
            <a:spAutoFit/>
          </a:bodyPr>
          <a:p>
            <a:r>
              <a:rPr lang="zh-CN" altLang="en-US">
                <a:solidFill>
                  <a:schemeClr val="bg1"/>
                </a:solidFill>
              </a:rPr>
              <a:t>结果如图所示：</a:t>
            </a:r>
            <a:endParaRPr lang="zh-CN" altLang="en-US">
              <a:solidFill>
                <a:schemeClr val="bg1"/>
              </a:solidFill>
            </a:endParaRPr>
          </a:p>
        </p:txBody>
      </p:sp>
      <p:sp>
        <p:nvSpPr>
          <p:cNvPr id="27" name="文本框 26"/>
          <p:cNvSpPr txBox="1"/>
          <p:nvPr/>
        </p:nvSpPr>
        <p:spPr>
          <a:xfrm>
            <a:off x="8077200" y="6515100"/>
            <a:ext cx="8652510" cy="922020"/>
          </a:xfrm>
          <a:prstGeom prst="rect">
            <a:avLst/>
          </a:prstGeom>
          <a:noFill/>
        </p:spPr>
        <p:txBody>
          <a:bodyPr wrap="square" rtlCol="0">
            <a:spAutoFit/>
          </a:bodyPr>
          <a:p>
            <a:r>
              <a:rPr lang="zh-CN" altLang="en-US">
                <a:solidFill>
                  <a:schemeClr val="bg1"/>
                </a:solidFill>
              </a:rPr>
              <a:t>观察发现大部分数据向量化后的长度在</a:t>
            </a:r>
            <a:r>
              <a:rPr lang="en-US" altLang="zh-CN">
                <a:solidFill>
                  <a:schemeClr val="bg1"/>
                </a:solidFill>
              </a:rPr>
              <a:t>2~25</a:t>
            </a:r>
            <a:r>
              <a:rPr lang="zh-CN" altLang="en-US">
                <a:solidFill>
                  <a:schemeClr val="bg1"/>
                </a:solidFill>
              </a:rPr>
              <a:t>之间，取</a:t>
            </a:r>
            <a:r>
              <a:rPr lang="en-US" altLang="zh-CN">
                <a:solidFill>
                  <a:schemeClr val="bg1"/>
                </a:solidFill>
              </a:rPr>
              <a:t>maxlen=40</a:t>
            </a:r>
            <a:endParaRPr lang="en-US" altLang="zh-CN">
              <a:solidFill>
                <a:schemeClr val="bg1"/>
              </a:solidFill>
            </a:endParaRPr>
          </a:p>
          <a:p>
            <a:r>
              <a:rPr lang="en-US" altLang="zh-CN">
                <a:solidFill>
                  <a:schemeClr val="bg1"/>
                </a:solidFill>
              </a:rPr>
              <a:t>X= keras.preprocessing.sequence.pad_sequences(X, maxlen=40)</a:t>
            </a:r>
            <a:endParaRPr lang="en-US" altLang="zh-CN">
              <a:solidFill>
                <a:schemeClr val="bg1"/>
              </a:solidFill>
            </a:endParaRPr>
          </a:p>
          <a:p>
            <a:r>
              <a:rPr lang="en-US" altLang="zh-CN">
                <a:solidFill>
                  <a:schemeClr val="bg1"/>
                </a:solidFill>
              </a:rPr>
              <a:t>Y=train_df['category'].values</a:t>
            </a:r>
            <a:endParaRPr lang="en-US" altLang="zh-CN">
              <a:solidFill>
                <a:schemeClr val="bg1"/>
              </a:solidFill>
            </a:endParaRPr>
          </a:p>
        </p:txBody>
      </p:sp>
      <p:pic>
        <p:nvPicPr>
          <p:cNvPr id="28" name="图片 27" descr="词典"/>
          <p:cNvPicPr>
            <a:picLocks noChangeAspect="1"/>
          </p:cNvPicPr>
          <p:nvPr/>
        </p:nvPicPr>
        <p:blipFill>
          <a:blip r:embed="rId19"/>
          <a:srcRect l="8779" t="11208" r="9641" b="5764"/>
          <a:stretch>
            <a:fillRect/>
          </a:stretch>
        </p:blipFill>
        <p:spPr>
          <a:xfrm>
            <a:off x="8305800" y="3848735"/>
            <a:ext cx="6296025" cy="2670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11200883" y="477285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8834007" y="729498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4221" y="-2432130"/>
            <a:ext cx="13022180" cy="5984032"/>
          </a:xfrm>
          <a:custGeom>
            <a:avLst/>
            <a:gdLst/>
            <a:ahLst/>
            <a:cxnLst/>
            <a:rect l="l" t="t" r="r" b="b"/>
            <a:pathLst>
              <a:path w="13022180" h="5984032">
                <a:moveTo>
                  <a:pt x="0" y="0"/>
                </a:moveTo>
                <a:lnTo>
                  <a:pt x="13022180" y="0"/>
                </a:lnTo>
                <a:lnTo>
                  <a:pt x="13022180" y="5984033"/>
                </a:lnTo>
                <a:lnTo>
                  <a:pt x="0" y="59840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3957189" y="-1361733"/>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4129742" y="-1941097"/>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rot="450764">
            <a:off x="6139604" y="7473655"/>
            <a:ext cx="15581755" cy="7160224"/>
          </a:xfrm>
          <a:custGeom>
            <a:avLst/>
            <a:gdLst/>
            <a:ahLst/>
            <a:cxnLst/>
            <a:rect l="l" t="t" r="r" b="b"/>
            <a:pathLst>
              <a:path w="15581755" h="7160224">
                <a:moveTo>
                  <a:pt x="0" y="0"/>
                </a:moveTo>
                <a:lnTo>
                  <a:pt x="15581755" y="0"/>
                </a:lnTo>
                <a:lnTo>
                  <a:pt x="15581755" y="7160224"/>
                </a:lnTo>
                <a:lnTo>
                  <a:pt x="0" y="7160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7725513" y="3564357"/>
            <a:ext cx="2836973" cy="835731"/>
            <a:chOff x="0" y="0"/>
            <a:chExt cx="1379566" cy="406400"/>
          </a:xfrm>
        </p:grpSpPr>
        <p:sp>
          <p:nvSpPr>
            <p:cNvPr id="9" name="Freeform 9"/>
            <p:cNvSpPr/>
            <p:nvPr/>
          </p:nvSpPr>
          <p:spPr>
            <a:xfrm>
              <a:off x="0" y="0"/>
              <a:ext cx="1379566" cy="406400"/>
            </a:xfrm>
            <a:custGeom>
              <a:avLst/>
              <a:gdLst/>
              <a:ahLst/>
              <a:cxnLst/>
              <a:rect l="l" t="t" r="r" b="b"/>
              <a:pathLst>
                <a:path w="1379566" h="406400">
                  <a:moveTo>
                    <a:pt x="1176366" y="0"/>
                  </a:moveTo>
                  <a:cubicBezTo>
                    <a:pt x="1288590" y="0"/>
                    <a:pt x="1379566" y="90976"/>
                    <a:pt x="1379566" y="203200"/>
                  </a:cubicBezTo>
                  <a:cubicBezTo>
                    <a:pt x="1379566" y="315424"/>
                    <a:pt x="1288590" y="406400"/>
                    <a:pt x="1176366" y="406400"/>
                  </a:cubicBezTo>
                  <a:lnTo>
                    <a:pt x="203200" y="406400"/>
                  </a:lnTo>
                  <a:cubicBezTo>
                    <a:pt x="90976" y="406400"/>
                    <a:pt x="0" y="315424"/>
                    <a:pt x="0" y="203200"/>
                  </a:cubicBezTo>
                  <a:cubicBezTo>
                    <a:pt x="0" y="90976"/>
                    <a:pt x="90976" y="0"/>
                    <a:pt x="203200" y="0"/>
                  </a:cubicBezTo>
                  <a:close/>
                </a:path>
              </a:pathLst>
            </a:custGeom>
            <a:solidFill>
              <a:srgbClr val="5B7396"/>
            </a:solidFill>
          </p:spPr>
        </p:sp>
        <p:sp>
          <p:nvSpPr>
            <p:cNvPr id="10" name="TextBox 10"/>
            <p:cNvSpPr txBox="1"/>
            <p:nvPr/>
          </p:nvSpPr>
          <p:spPr>
            <a:xfrm>
              <a:off x="0" y="-57150"/>
              <a:ext cx="1379566" cy="463550"/>
            </a:xfrm>
            <a:prstGeom prst="rect">
              <a:avLst/>
            </a:prstGeom>
          </p:spPr>
          <p:txBody>
            <a:bodyPr lIns="50800" tIns="50800" rIns="50800" bIns="50800" rtlCol="0" anchor="ctr"/>
            <a:lstStyle/>
            <a:p>
              <a:pPr algn="ctr">
                <a:lnSpc>
                  <a:spcPts val="3105"/>
                </a:lnSpc>
              </a:pPr>
            </a:p>
          </p:txBody>
        </p:sp>
      </p:grpSp>
      <p:sp>
        <p:nvSpPr>
          <p:cNvPr id="11" name="TextBox 11"/>
          <p:cNvSpPr txBox="1"/>
          <p:nvPr/>
        </p:nvSpPr>
        <p:spPr>
          <a:xfrm>
            <a:off x="7930343" y="3646226"/>
            <a:ext cx="2427315" cy="558165"/>
          </a:xfrm>
          <a:prstGeom prst="rect">
            <a:avLst/>
          </a:prstGeom>
        </p:spPr>
        <p:txBody>
          <a:bodyPr lIns="0" tIns="0" rIns="0" bIns="0" rtlCol="0" anchor="t">
            <a:spAutoFit/>
          </a:bodyPr>
          <a:lstStyle/>
          <a:p>
            <a:pPr marL="0" lvl="0" indent="0" algn="ctr">
              <a:lnSpc>
                <a:spcPts val="4355"/>
              </a:lnSpc>
              <a:spcBef>
                <a:spcPct val="0"/>
              </a:spcBef>
            </a:pPr>
            <a:r>
              <a:rPr 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第三</a:t>
            </a:r>
            <a:r>
              <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步</a:t>
            </a:r>
            <a:endPar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2" name="TextBox 12"/>
          <p:cNvSpPr txBox="1"/>
          <p:nvPr/>
        </p:nvSpPr>
        <p:spPr>
          <a:xfrm>
            <a:off x="4526955" y="4686446"/>
            <a:ext cx="9234089" cy="1370330"/>
          </a:xfrm>
          <a:prstGeom prst="rect">
            <a:avLst/>
          </a:prstGeom>
        </p:spPr>
        <p:txBody>
          <a:bodyPr lIns="0" tIns="0" rIns="0" bIns="0" rtlCol="0" anchor="t">
            <a:spAutoFit/>
          </a:bodyPr>
          <a:lstStyle/>
          <a:p>
            <a:pPr marL="0" lvl="0" indent="0" algn="ctr">
              <a:lnSpc>
                <a:spcPts val="10690"/>
              </a:lnSpc>
              <a:spcBef>
                <a:spcPct val="0"/>
              </a:spcBef>
            </a:pPr>
            <a:r>
              <a:rPr lang="zh-CN" altLang="en-US" sz="8100">
                <a:solidFill>
                  <a:srgbClr val="1E1E1E"/>
                </a:solidFill>
                <a:latin typeface="金山云技术体" charset="-122"/>
                <a:ea typeface="金山云技术体" charset="-122"/>
                <a:cs typeface="字由点字倔强黑" panose="00020600040101010101" charset="-122"/>
                <a:sym typeface="字由点字倔强黑" panose="00020600040101010101" charset="-122"/>
              </a:rPr>
              <a:t>神经网络构建</a:t>
            </a:r>
            <a:endParaRPr lang="zh-CN" altLang="en-US" sz="8100">
              <a:solidFill>
                <a:srgbClr val="1E1E1E"/>
              </a:solidFill>
              <a:latin typeface="金山云技术体" charset="-122"/>
              <a:ea typeface="金山云技术体" charset="-122"/>
              <a:cs typeface="字由点字倔强黑" panose="00020600040101010101" charset="-122"/>
              <a:sym typeface="字由点字倔强黑" panose="00020600040101010101" charset="-122"/>
            </a:endParaRPr>
          </a:p>
        </p:txBody>
      </p:sp>
      <p:sp>
        <p:nvSpPr>
          <p:cNvPr id="13" name="TextBox 13"/>
          <p:cNvSpPr txBox="1"/>
          <p:nvPr/>
        </p:nvSpPr>
        <p:spPr>
          <a:xfrm>
            <a:off x="5738395" y="6130403"/>
            <a:ext cx="6811210" cy="215265"/>
          </a:xfrm>
          <a:prstGeom prst="rect">
            <a:avLst/>
          </a:prstGeom>
        </p:spPr>
        <p:txBody>
          <a:bodyPr lIns="0" tIns="0" rIns="0" bIns="0" rtlCol="0" anchor="t">
            <a:spAutoFit/>
          </a:bodyPr>
          <a:lstStyle/>
          <a:p>
            <a:pPr marL="0" lvl="0" indent="0" algn="ctr">
              <a:lnSpc>
                <a:spcPts val="1680"/>
              </a:lnSpc>
              <a:spcBef>
                <a:spcPct val="0"/>
              </a:spcBef>
            </a:pPr>
            <a:r>
              <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rPr>
              <a:t>Neural network construction</a:t>
            </a:r>
            <a:endPar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228600" y="876300"/>
            <a:ext cx="10073005" cy="935926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import tensorflow as tf</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class TransformerEncoder(keras.layers.Layer):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__init__(self, embed_dim, dense_dim, num_heads, **kwargs):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super().__init__(**kwargs)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self.embed_dim = 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self.dense_dim = dense_dim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self.num_heads = num_heads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self.attention =keras.layers.MultiHeadAttention(num_heads=num_heads,key_dim=embed_dim)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self.dense_proj = keras.Sequential(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[keras.layers.Dense(dense_dim,activation="relu"),keras.layers.Dense(embed_dim),]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self.layernorm_1 = keras.layers.LayerNormalization()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self.layernorm_2 = keras.layers.LayerNormalization()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call(self, inputs, mask=None):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if mask is not None: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mask = mask[:, tf.newaxis,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attention_output = self.attention(inputs, inputs, attention_mask=mask)</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proj_input = self.layernorm_1(inputs + attention_output)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proj_output = self.dense_proj(proj_input)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self.layernorm_2(proj_input + proj_output)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get_config(self):</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config = super().get_config()</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config.update({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"embed_dim": self.embed_dim,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"num_heads": self.num_heads,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"dense_dim": self.dense_dim,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config</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2" name="Group 12"/>
          <p:cNvGrpSpPr/>
          <p:nvPr/>
        </p:nvGrpSpPr>
        <p:grpSpPr>
          <a:xfrm rot="0">
            <a:off x="3276600" y="198755"/>
            <a:ext cx="4559300" cy="674370"/>
            <a:chOff x="0" y="0"/>
            <a:chExt cx="609880" cy="129331"/>
          </a:xfrm>
        </p:grpSpPr>
        <p:sp>
          <p:nvSpPr>
            <p:cNvPr id="13" name="Freeform 13"/>
            <p:cNvSpPr/>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5B7396"/>
            </a:solidFill>
          </p:spPr>
        </p:sp>
        <p:sp>
          <p:nvSpPr>
            <p:cNvPr id="14" name="TextBox 14"/>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15" name="TextBox 15"/>
          <p:cNvSpPr txBox="1"/>
          <p:nvPr/>
        </p:nvSpPr>
        <p:spPr>
          <a:xfrm>
            <a:off x="3581400" y="198755"/>
            <a:ext cx="3741420" cy="560070"/>
          </a:xfrm>
          <a:prstGeom prst="rect">
            <a:avLst/>
          </a:prstGeom>
        </p:spPr>
        <p:txBody>
          <a:bodyPr wrap="square" lIns="0" tIns="0" rIns="0" bIns="0" rtlCol="0" anchor="t">
            <a:spAutoFit/>
          </a:bodyPr>
          <a:lstStyle/>
          <a:p>
            <a:pPr algn="ctr">
              <a:lnSpc>
                <a:spcPts val="4370"/>
              </a:lnSpc>
            </a:pPr>
            <a:r>
              <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准备</a:t>
            </a:r>
            <a:r>
              <a:rPr lang="en-US" altLang="zh-CN"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Transformer</a:t>
            </a:r>
            <a:r>
              <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模块</a:t>
            </a:r>
            <a:endPar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439400" y="647700"/>
            <a:ext cx="7747000"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TransformerEncoder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类是一个自定义的</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Keras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层，它的作用是实现对输入序列的多头自注意力编码</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，捕捉序列中不同标记之间的关系。</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__init__</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是类的构造函数，它接受嵌入维度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embed_dim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、密集层维</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dense_dim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和多头注意力的头数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num_heads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作为参数。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super().__init__(**kwargs)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调用父类的构造函数。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self.attention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创建一个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MultiHeadAttention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层，它是</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模型的核心组件，用于执行多头自注意力机制</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self.dense_proj</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创建一个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keras.Sequential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模型，它包含两个全连接层（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），第一个使用</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ReLU</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激活函数，第二个没有激活函数，用于执行前馈网络操作。随后创建两个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LayerNormalization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层，用于在自注意力和前馈网络之后对数据进行标准化。</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call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方法，这是自定义层在被调用时执行的操作。它接受输入</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inputs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和一个可选的掩码</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mask</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。接下来一个条件语句，如果提供了掩码，将其扩展一个维度，以便它可以用于多头注意力层。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attention_output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使用多头注意力层处理输入，并传入掩码（如果有的话）。</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proj_input= self.layernorm_1</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将原始输入和注意力输出相加，并通过第一个层标准化层。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proj_output = self.dense_proj</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将标准化后的输入传递到前馈网络。</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最后将前馈网络的输出与标准化后的输入相加，并通过第二个层标准化层，然后返回结果。</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get_config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方法用于序列化层的配置，以便在保存和加载模型时使用。</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至此，就搭建好了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TransformerEncoder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类，包含组件：</a:t>
            </a:r>
            <a:b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b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多个自注意力层（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Multi-Head Attention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模型的一个核心组件是自注意力机制，它允许模型在不同位置之间建立关联。多头注意力机制是将输入分割成多个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头</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，每个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头</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都有自己的权重矩阵，可以并行地计算自注意力，然后将结果拼接起来。</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前馈网络层。一个简单的全连接前馈网络，它在每个位置上独立地应用相同的网络。</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3.</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残差连接和层归一化。每个自注意力和前馈网络层后面都跟着一个残差连接，然后是层归一化。残差连接有助于避免深度网络中的梯度消失问题，而层归一化有助于稳定训练过程。</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76200" y="342900"/>
            <a:ext cx="10278745" cy="986345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class PositionalEmbedding(keras.layers.Layer):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__init__(self, sequence_length, input_dim, output_dim, **kwargs):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super().__init__(**kwargs)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self.token_embeddings=keras.layers.Embedding(input_dim=input_dim,output_dim=output_dim)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self.position_embeddings = keras.layers.Embedding(input_dim=sequence_length, output_dim=output_dim)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self.sequence_length = sequence_length</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self.input_dim = input_dim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self.output_dim = output_dim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call(self, 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length = tf.shape(inputs)[-1]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positions = tf.range(start=0, limit=length, delta=1)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embedded_tokens = self.token_embeddings(inputs)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embedded_positions = self.position_embeddings(positions)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embedded_tokens + embedded_positions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compute_mask(self, inputs, mask=None):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class MyLayer(keras.layers.Layer):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call(self, 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output = tf.math.not_equal(inputs, 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output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layer = MyLayer()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layer(inputs)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def get_config(self):</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config = super().get_config()</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config.update({"output_dim": self.output_dim,"sequence_length": self.sequence_length,</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"input_dim": self.input_dim,})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return config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2" name="Group 12"/>
          <p:cNvGrpSpPr/>
          <p:nvPr/>
        </p:nvGrpSpPr>
        <p:grpSpPr>
          <a:xfrm rot="0">
            <a:off x="3276600" y="-38100"/>
            <a:ext cx="4559300" cy="518160"/>
            <a:chOff x="0" y="0"/>
            <a:chExt cx="609880" cy="129331"/>
          </a:xfrm>
        </p:grpSpPr>
        <p:sp>
          <p:nvSpPr>
            <p:cNvPr id="13" name="Freeform 13"/>
            <p:cNvSpPr/>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5B7396"/>
            </a:solidFill>
          </p:spPr>
        </p:sp>
        <p:sp>
          <p:nvSpPr>
            <p:cNvPr id="14" name="TextBox 14"/>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15" name="TextBox 15"/>
          <p:cNvSpPr txBox="1"/>
          <p:nvPr/>
        </p:nvSpPr>
        <p:spPr>
          <a:xfrm>
            <a:off x="3581400" y="-110490"/>
            <a:ext cx="3741420" cy="560070"/>
          </a:xfrm>
          <a:prstGeom prst="rect">
            <a:avLst/>
          </a:prstGeom>
        </p:spPr>
        <p:txBody>
          <a:bodyPr wrap="square" lIns="0" tIns="0" rIns="0" bIns="0" rtlCol="0" anchor="t">
            <a:spAutoFit/>
          </a:bodyPr>
          <a:lstStyle/>
          <a:p>
            <a:pPr algn="ctr">
              <a:lnSpc>
                <a:spcPts val="4370"/>
              </a:lnSpc>
            </a:pPr>
            <a:r>
              <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准备</a:t>
            </a:r>
            <a:r>
              <a:rPr lang="en-US" altLang="zh-CN"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Transformer</a:t>
            </a:r>
            <a:r>
              <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位置编码</a:t>
            </a:r>
            <a:endPar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494010" y="647700"/>
            <a:ext cx="7472045"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PositionalEmbedding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类的作用是为输入序列中的每个标记（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token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）添加位置信息。</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__init__</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定义一个名为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PositionalEmbedding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的类，它继承自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keras.layers.Layer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self.token_embeddings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self.position_embeddings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，构造函数接受序列长度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sequence_length</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、输入维度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input_dim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和输出维度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output_dim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self.token_embeddings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self.position_embeddings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创建两个嵌入层，一个用于标记（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token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）嵌入，另一个用于位置嵌入。</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call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方法，它接受输入</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inputs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length = tf.shape(inputs)[-1]</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positions = tf.range(start=0, limit=length, delta=1)</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这两句获取输入序列的长度，并创建一个从</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0</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到序列长度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的序列作为位置索引。然后使用嵌入层获取标记和位置的嵌入向量。</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最后将标记嵌入和位置嵌入相加，返回最终的嵌入表示。</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compute_mask</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方法，它用于生成一个掩码，这个掩码可以用来指示哪些输入元素应该被考虑在后续层的计算中，哪些应该被忽略（例如，在处理序列数据时，通常需要忽略填充的元素）。在</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compute_mask</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方法内部定义一个名为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MyLayer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的内部类，它继承自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keras.layers.Layer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。这个内部类的</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call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方法用于生成掩码。它计算输入</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inputs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中非零元素的位置，并返回一个布尔数组，其中非零元素的位置为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True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，零元素的位置为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False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。然后调用内部类实例的</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call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方法，传入输入</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inputs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，生成掩码并返回。这个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compute_mask</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方法的作用是，对于输入序列中的每个元素，如果该元素不为零（通常意味着它不是填充值），则对应的掩码位置为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True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，否则为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False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。这样，在模型的注意力机制中，可以正确地忽略填充值。</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get_config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方法用于序列化层的配置，这样可以在保存和加载模型时保留层的配置信息。</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这样，就为</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提供了位置编码方法，确保模型能够理解序列中标记的位置信息。由于</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模型本身不包含任何递归或卷积结构，它无法直接捕捉序列中单词的位置信息。位置嵌入通过为每个位置分配一个唯一的向量来解决这个问题，这些向量被加到标记的嵌入表示上。</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0" y="342900"/>
            <a:ext cx="11080750" cy="986345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build_model(top_words=top_words,max_words=max_words,num_labels=num_labels,mode='LSTM',hidden_dim=[64]):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if mode=='RNN':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 mask_zero=True))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model.add(keras.layers.SimpleRNN(hidden_dim[0]))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mode=='MLP':</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model.add(keras.layers.Flatten())</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model.add(keras.layers.Dense(hidden_dim[0]))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mode=='LSTM':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model.add(keras.layers.LSTM(hidden_dim[0]))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2" name="Group 12"/>
          <p:cNvGrpSpPr/>
          <p:nvPr/>
        </p:nvGrpSpPr>
        <p:grpSpPr>
          <a:xfrm rot="0">
            <a:off x="3276600" y="-38100"/>
            <a:ext cx="4559300" cy="518160"/>
            <a:chOff x="0" y="0"/>
            <a:chExt cx="609880" cy="129331"/>
          </a:xfrm>
        </p:grpSpPr>
        <p:sp>
          <p:nvSpPr>
            <p:cNvPr id="13" name="Freeform 13"/>
            <p:cNvSpPr/>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5B7396"/>
            </a:solidFill>
          </p:spPr>
        </p:sp>
        <p:sp>
          <p:nvSpPr>
            <p:cNvPr id="14" name="TextBox 14"/>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15" name="TextBox 15"/>
          <p:cNvSpPr txBox="1"/>
          <p:nvPr/>
        </p:nvSpPr>
        <p:spPr>
          <a:xfrm>
            <a:off x="3581400" y="-110490"/>
            <a:ext cx="3741420" cy="560070"/>
          </a:xfrm>
          <a:prstGeom prst="rect">
            <a:avLst/>
          </a:prstGeom>
        </p:spPr>
        <p:txBody>
          <a:bodyPr wrap="square" lIns="0" tIns="0" rIns="0" bIns="0" rtlCol="0" anchor="t">
            <a:spAutoFit/>
          </a:bodyPr>
          <a:lstStyle/>
          <a:p>
            <a:pPr algn="ctr">
              <a:lnSpc>
                <a:spcPts val="4370"/>
              </a:lnSpc>
            </a:pPr>
            <a:r>
              <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构建可用模型</a:t>
            </a:r>
            <a:endParaRPr lang="zh-CN" altLang="en-US" sz="24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944225" y="647700"/>
            <a:ext cx="7235825"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定义了一个函数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build_model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，它根据传入的参数构建不同类型的神经网络模型，它接受以下参数：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top_words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（词汇表大小），</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max_words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（序列的最大长度），</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num_labels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（分类任务的类别数），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mode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（模型的类型），</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hidden_dim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（隐藏层的大小）。</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先把</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model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初始化为一个</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Keras</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Sequential</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模型，这是一种线性堆叠的层结构。然后根据</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mode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的不同添加不同层次：</a:t>
            </a:r>
            <a:b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b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1.RNN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SimpleRNN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）【将词汇转换为固定维度的向量】、</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层【用于减少过拟合。</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0.5</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，在训练过程中随机丢弃</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50%</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节点】、</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简单循环神经网络层（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SimpleRNN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）、第二层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RNN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通过循环单元来处理序列数据，在每一个时间步，</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RNN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接收当前输入和前一个时间步的隐藏状态，然后计算当前时间步的输出和新的隐藏状态。隐藏状态起到了记忆的作用。</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2.MLP</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（多层感知机）：嵌入层（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Flatten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MLP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是一种前馈神经网络，</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通过多层全连接层来提取特征，每层的神经元与下一层的神经元全连接。可以通过增加层数来提高模型的表达能力。</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3.LSTM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长短期记忆网络）：嵌入层（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层、长短期记忆网络层（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是</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RNN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的一个变种，</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通过门控机制（输入门、遗忘门、输出门）和一个细胞状态来避免梯度消失问题，能够学习长距离依赖。</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76200" y="106680"/>
            <a:ext cx="10786745" cy="1009967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elif mode=='GRU':</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model.add(keras.layers.GRU(hidden_dim[0]))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mode=='CNN':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一维卷积</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 mask_zero=True))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model.add(keras.layers.Conv1D(filters=32, kernel_size=3, padding="same",activation="relu"))</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model.add(keras.layers.MaxPooling1D(pool_size=2))</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model.add(keras.layers.Flatten())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model.add(keras.layers.Dense(hidden_dim[0], activation="relu"))</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mode=='CNN+LSTM':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model.add(keras.layers.Conv1D(filters=32, kernel_size=3, padding="same",activation="relu"))</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model.add(keras.layers.MaxPooling1D(pool_size=2))</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model.add(keras.layers.LSTM(hidden_dim[0]))</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944225" y="647700"/>
            <a:ext cx="7235825"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4.GRU</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层、门控循环单元层（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GRU</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GRU</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是</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的变体，结构更简单，</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只含有更新门和重置门，并且合并了细胞状态和隐藏状态，比</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LSTM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更简单且计算效率更高。</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5.CNN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层、一维卷积层（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Conv1D</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）【通过滑动窗口提取局部特征】、最大池化层（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MaxPooling1D</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）【降低特征维度，保留重要信息】、</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Flatten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通过使用一组可学习的卷积核在输入数据上滑动，以提取特征。通过池化层（</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最大池化）可以减少数据的维度，最后通过全连接层进行分类。</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6.CNN+LSTM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层、一维卷积层（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Conv1D</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）、最大池化层（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MaxPooling1D</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结合了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的局部特征提取能力和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的长距离依赖捕捉能力。</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CNN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用于从序列的每个时间步中提取特征，然后这些特征序列被输入到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LSTM </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中，以处理时间上的依赖关系。</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76200" y="106680"/>
            <a:ext cx="10786745" cy="1009967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elif mode=='BiLSTM':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keras.models.Sequential()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model.add(keras.layers.Embedding(top_words, input_length=max_words, output_dim=embed_dim))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model.add(keras.layers.Bidirectional(keras.layers.LSTM(64)))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model.add(keras.layers.Dense(hidden_dim[0], activation='relu'))</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model.add(keras.layers.Dropout(0.5))</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model.add(keras.layers.Dense(num_labels, activation='softmax'))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mode=='TextCNN':</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inputs = keras.layers.Input(name='inputs',shape=[max_words,], dtype='float64')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词嵌入</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layer = keras.layers.Embedding(top_words, input_length=max_words, output_dim=embed_dim)(inputs)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词窗大小分别为</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2,3,4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cnn1 = keras.layers.Conv1D(32, 2, padding='same', strides = 1, activation='relu')(layer)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cnn1 = keras.layers.MaxPooling1D(pool_size=2)(cnn1)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cnn2 = keras.layers.Conv1D(32, 3, padding='same', strides = 1, activation='relu')(layer)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cnn2 = keras.layers.MaxPooling1D(pool_size=2)(cnn2)</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cnn3 = keras.layers.Conv1D(32, 4, padding='same', strides = 1, activation='relu')(layer)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cnn3 = keras.layers.MaxPooling1D(pool_size=2)(cnn3)</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合并三个模型的输出向量</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cnn = keras.layers.Concatenate(axis=-1)([cnn1, cnn2, cnn3])</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keras.layers.Flatten()(cnn)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keras.layers.Dense(hidden_dim[0], activation='relu')(x)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output = keras.layers.Dense(num_labels, activation='softmax')(x)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keras.models.Model(inputs=inputs, outputs=output)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944225" y="647700"/>
            <a:ext cx="7235825"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7.BiLSTM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）、双向长短期记忆网络层（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Bidirectional 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层、密集层（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BiLSTM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通过两个方向上的</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LSTM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来同时捕捉前向和后向的序列信息，能够更好地捕捉序列数据的上下文信息。</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8.TextCNN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：多个卷积层和池化层的组合，然后是</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Flatten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Dense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层和输出层。</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TextCNN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使用不同尺寸的卷积核来捕捉不同尺度的特征。因为全连接层期望的输入是一维向量，所以用</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Flatten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将卷积池沼</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后输出的多维数据</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压平</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成一维的数据，不改变数据的批量大小。</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214630" y="106680"/>
            <a:ext cx="10153650" cy="10099675"/>
          </a:xfrm>
          <a:prstGeom prst="rect">
            <a:avLst/>
          </a:prstGeom>
        </p:spPr>
        <p:txBody>
          <a:bodyPr wrap="square" lIns="0" tIns="0" rIns="0" bIns="0" rtlCol="0" anchor="t">
            <a:noAutofit/>
          </a:bodyPr>
          <a:lstStyle/>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mode=='Transformer':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inputs = keras.layers.Input(name='inputs',shape=[max_words,], dtype='float64')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keras.layers.Embedding(top_words, input_length=max_words, output_dim=embed_dim, mask_zero=True)(inputs)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TransformerEncoder(embed_dim, 32, 4)(x)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keras.layers.GlobalMaxPooling1D()(x)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keras.layers.Dropout(0.5)(x)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outputs = keras.layers.Dense(num_labels, activation='softmax')(x)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keras.models.Model(inputs, outputs)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elif mode=='PositionalEmbedding+Transformer':</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inputs = keras.layers.Input(name='inputs',shape=[max_words,], dtype='float64')</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PositionalEmbedding(sequence_length=max_words, input_dim=top_words, output_dim=embed_dim)(inputs)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TransformerEncoder(embed_dim, 32, 4)(x)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keras.layers.GlobalMaxPooling1D()(x)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x = keras.layers.Dropout(0.5)(x)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outputs = keras.layers.Dense(num_labels, activation='softmax')(x)</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 = keras.models.Model(inputs, outputs)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model.compile(loss="categorical_crossentropy", optimizer="adam", metrics=["accuracy"])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return model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19" name="Group 19"/>
          <p:cNvGrpSpPr/>
          <p:nvPr>
            <p:custDataLst>
              <p:tags r:id="rId7"/>
            </p:custDataLst>
          </p:nvPr>
        </p:nvGrpSpPr>
        <p:grpSpPr>
          <a:xfrm rot="0">
            <a:off x="13276367" y="106553"/>
            <a:ext cx="2315637" cy="491053"/>
            <a:chOff x="0" y="0"/>
            <a:chExt cx="609880" cy="129331"/>
          </a:xfrm>
        </p:grpSpPr>
        <p:sp>
          <p:nvSpPr>
            <p:cNvPr id="20" name="Freeform 20"/>
            <p:cNvSpPr/>
            <p:nvPr>
              <p:custDataLst>
                <p:tags r:id="rId8"/>
              </p:custDataLst>
            </p:nvPr>
          </p:nvSpPr>
          <p:spPr>
            <a:xfrm>
              <a:off x="0" y="0"/>
              <a:ext cx="609880" cy="129331"/>
            </a:xfrm>
            <a:custGeom>
              <a:avLst/>
              <a:gdLst/>
              <a:ahLst/>
              <a:cxnLst/>
              <a:rect l="l" t="t" r="r" b="b"/>
              <a:pathLst>
                <a:path w="609880" h="129331">
                  <a:moveTo>
                    <a:pt x="64665" y="0"/>
                  </a:moveTo>
                  <a:lnTo>
                    <a:pt x="545214" y="0"/>
                  </a:lnTo>
                  <a:cubicBezTo>
                    <a:pt x="562365" y="0"/>
                    <a:pt x="578812" y="6813"/>
                    <a:pt x="590940" y="18940"/>
                  </a:cubicBezTo>
                  <a:cubicBezTo>
                    <a:pt x="603067" y="31067"/>
                    <a:pt x="609880" y="47515"/>
                    <a:pt x="609880" y="64665"/>
                  </a:cubicBezTo>
                  <a:lnTo>
                    <a:pt x="609880" y="64665"/>
                  </a:lnTo>
                  <a:cubicBezTo>
                    <a:pt x="609880" y="81816"/>
                    <a:pt x="603067" y="98264"/>
                    <a:pt x="590940" y="110391"/>
                  </a:cubicBezTo>
                  <a:cubicBezTo>
                    <a:pt x="578812" y="122518"/>
                    <a:pt x="562365" y="129331"/>
                    <a:pt x="545214" y="129331"/>
                  </a:cubicBezTo>
                  <a:lnTo>
                    <a:pt x="64665" y="129331"/>
                  </a:lnTo>
                  <a:cubicBezTo>
                    <a:pt x="47515" y="129331"/>
                    <a:pt x="31067" y="122518"/>
                    <a:pt x="18940" y="110391"/>
                  </a:cubicBezTo>
                  <a:cubicBezTo>
                    <a:pt x="6813" y="98264"/>
                    <a:pt x="0" y="81816"/>
                    <a:pt x="0" y="64665"/>
                  </a:cubicBezTo>
                  <a:lnTo>
                    <a:pt x="0" y="64665"/>
                  </a:lnTo>
                  <a:cubicBezTo>
                    <a:pt x="0" y="47515"/>
                    <a:pt x="6813" y="31067"/>
                    <a:pt x="18940" y="18940"/>
                  </a:cubicBezTo>
                  <a:cubicBezTo>
                    <a:pt x="31067" y="6813"/>
                    <a:pt x="47515" y="0"/>
                    <a:pt x="64665" y="0"/>
                  </a:cubicBezTo>
                  <a:close/>
                </a:path>
              </a:pathLst>
            </a:custGeom>
            <a:solidFill>
              <a:srgbClr val="CBDCDE"/>
            </a:solidFill>
          </p:spPr>
        </p:sp>
        <p:sp>
          <p:nvSpPr>
            <p:cNvPr id="21" name="TextBox 21"/>
            <p:cNvSpPr txBox="1"/>
            <p:nvPr/>
          </p:nvSpPr>
          <p:spPr>
            <a:xfrm>
              <a:off x="0" y="-38100"/>
              <a:ext cx="609880" cy="167431"/>
            </a:xfrm>
            <a:prstGeom prst="rect">
              <a:avLst/>
            </a:prstGeom>
          </p:spPr>
          <p:txBody>
            <a:bodyPr lIns="50800" tIns="50800" rIns="50800" bIns="50800" rtlCol="0" anchor="ctr"/>
            <a:lstStyle/>
            <a:p>
              <a:pPr algn="ctr">
                <a:lnSpc>
                  <a:spcPts val="2660"/>
                </a:lnSpc>
                <a:spcBef>
                  <a:spcPct val="0"/>
                </a:spcBef>
              </a:pPr>
            </a:p>
          </p:txBody>
        </p:sp>
      </p:grpSp>
      <p:sp>
        <p:nvSpPr>
          <p:cNvPr id="22" name="TextBox 22"/>
          <p:cNvSpPr txBox="1"/>
          <p:nvPr>
            <p:custDataLst>
              <p:tags r:id="rId9"/>
            </p:custDataLst>
          </p:nvPr>
        </p:nvSpPr>
        <p:spPr>
          <a:xfrm>
            <a:off x="13411259" y="38263"/>
            <a:ext cx="2045851"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分析</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custDataLst>
              <p:tags r:id="rId10"/>
            </p:custDataLst>
          </p:nvPr>
        </p:nvSpPr>
        <p:spPr>
          <a:xfrm>
            <a:off x="10350500" y="647700"/>
            <a:ext cx="7829550" cy="9218295"/>
          </a:xfrm>
          <a:prstGeom prst="rect">
            <a:avLst/>
          </a:prstGeom>
          <a:solidFill>
            <a:schemeClr val="accent1">
              <a:lumMod val="20000"/>
              <a:lumOff val="80000"/>
            </a:schemeClr>
          </a:solidFill>
        </p:spPr>
        <p:txBody>
          <a:bodyPr lIns="0" tIns="0" rIns="0" bIns="0" rtlCol="0" anchor="t">
            <a:noAutofit/>
          </a:bodyPr>
          <a:lstStyle/>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9.Transformer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：嵌入层、多头自注意力层（</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Multi-Head Attention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）、前馈神经网络（</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Feed Forward Neural Network</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）、层归一化（</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Layer Normalization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层的组合。</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模型的核心是自注意力机制，它允许模型在处理序列数据时同时考虑序列中的所有位置，而不是像</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RNN</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那样按顺序处理。多头自注意力机制可以让模型在不同的表示子空间中并行地学习信息。前馈神经网络在自注意力层之后对每个位置的特征进行进一步的非线性变换。层归一化和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用于正则化，防止过拟合。</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10.Transformer+PositionalEmbedding</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：嵌入层、位置嵌入层、多头自注意力层、前馈神经网络、层归一化和</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Dropout</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层的组合。</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原理</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与</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Transformer</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相同，但增加了位置嵌入层来为序列中的每个单词提供位置信息。位置编码与输入嵌入相加，使得模型能够理解序列中元素的相对位置。</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然后用</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compile</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方法，使用交叉熵损失函数、</a:t>
            </a:r>
            <a:r>
              <a:rPr lang="en-US" altLang="zh-CN"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Adam</a:t>
            </a: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优化器和准确度作为性能指标来编译模型。</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l">
              <a:lnSpc>
                <a:spcPts val="2855"/>
              </a:lnSpc>
              <a:spcBef>
                <a:spcPct val="0"/>
              </a:spcBef>
            </a:pPr>
            <a:r>
              <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最后返回构建好的模型。</a:t>
            </a:r>
            <a:endParaRPr lang="zh-CN" altLang="en-US" sz="1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11200883" y="477285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8834007" y="729498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4221" y="-2432130"/>
            <a:ext cx="13022180" cy="5984032"/>
          </a:xfrm>
          <a:custGeom>
            <a:avLst/>
            <a:gdLst/>
            <a:ahLst/>
            <a:cxnLst/>
            <a:rect l="l" t="t" r="r" b="b"/>
            <a:pathLst>
              <a:path w="13022180" h="5984032">
                <a:moveTo>
                  <a:pt x="0" y="0"/>
                </a:moveTo>
                <a:lnTo>
                  <a:pt x="13022180" y="0"/>
                </a:lnTo>
                <a:lnTo>
                  <a:pt x="13022180" y="5984033"/>
                </a:lnTo>
                <a:lnTo>
                  <a:pt x="0" y="59840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3957189" y="-1361733"/>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4129742" y="-1941097"/>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rot="450764">
            <a:off x="6139604" y="7473655"/>
            <a:ext cx="15581755" cy="7160224"/>
          </a:xfrm>
          <a:custGeom>
            <a:avLst/>
            <a:gdLst/>
            <a:ahLst/>
            <a:cxnLst/>
            <a:rect l="l" t="t" r="r" b="b"/>
            <a:pathLst>
              <a:path w="15581755" h="7160224">
                <a:moveTo>
                  <a:pt x="0" y="0"/>
                </a:moveTo>
                <a:lnTo>
                  <a:pt x="15581755" y="0"/>
                </a:lnTo>
                <a:lnTo>
                  <a:pt x="15581755" y="7160224"/>
                </a:lnTo>
                <a:lnTo>
                  <a:pt x="0" y="7160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7725513" y="3564357"/>
            <a:ext cx="2836973" cy="835731"/>
            <a:chOff x="0" y="0"/>
            <a:chExt cx="1379566" cy="406400"/>
          </a:xfrm>
        </p:grpSpPr>
        <p:sp>
          <p:nvSpPr>
            <p:cNvPr id="9" name="Freeform 9"/>
            <p:cNvSpPr/>
            <p:nvPr/>
          </p:nvSpPr>
          <p:spPr>
            <a:xfrm>
              <a:off x="0" y="0"/>
              <a:ext cx="1379566" cy="406400"/>
            </a:xfrm>
            <a:custGeom>
              <a:avLst/>
              <a:gdLst/>
              <a:ahLst/>
              <a:cxnLst/>
              <a:rect l="l" t="t" r="r" b="b"/>
              <a:pathLst>
                <a:path w="1379566" h="406400">
                  <a:moveTo>
                    <a:pt x="1176366" y="0"/>
                  </a:moveTo>
                  <a:cubicBezTo>
                    <a:pt x="1288590" y="0"/>
                    <a:pt x="1379566" y="90976"/>
                    <a:pt x="1379566" y="203200"/>
                  </a:cubicBezTo>
                  <a:cubicBezTo>
                    <a:pt x="1379566" y="315424"/>
                    <a:pt x="1288590" y="406400"/>
                    <a:pt x="1176366" y="406400"/>
                  </a:cubicBezTo>
                  <a:lnTo>
                    <a:pt x="203200" y="406400"/>
                  </a:lnTo>
                  <a:cubicBezTo>
                    <a:pt x="90976" y="406400"/>
                    <a:pt x="0" y="315424"/>
                    <a:pt x="0" y="203200"/>
                  </a:cubicBezTo>
                  <a:cubicBezTo>
                    <a:pt x="0" y="90976"/>
                    <a:pt x="90976" y="0"/>
                    <a:pt x="203200" y="0"/>
                  </a:cubicBezTo>
                  <a:close/>
                </a:path>
              </a:pathLst>
            </a:custGeom>
            <a:solidFill>
              <a:srgbClr val="5B7396"/>
            </a:solidFill>
          </p:spPr>
        </p:sp>
        <p:sp>
          <p:nvSpPr>
            <p:cNvPr id="10" name="TextBox 10"/>
            <p:cNvSpPr txBox="1"/>
            <p:nvPr/>
          </p:nvSpPr>
          <p:spPr>
            <a:xfrm>
              <a:off x="0" y="-57150"/>
              <a:ext cx="1379566" cy="463550"/>
            </a:xfrm>
            <a:prstGeom prst="rect">
              <a:avLst/>
            </a:prstGeom>
          </p:spPr>
          <p:txBody>
            <a:bodyPr lIns="50800" tIns="50800" rIns="50800" bIns="50800" rtlCol="0" anchor="ctr"/>
            <a:lstStyle/>
            <a:p>
              <a:pPr algn="ctr">
                <a:lnSpc>
                  <a:spcPts val="3105"/>
                </a:lnSpc>
              </a:pPr>
            </a:p>
          </p:txBody>
        </p:sp>
      </p:grpSp>
      <p:sp>
        <p:nvSpPr>
          <p:cNvPr id="11" name="TextBox 11"/>
          <p:cNvSpPr txBox="1"/>
          <p:nvPr/>
        </p:nvSpPr>
        <p:spPr>
          <a:xfrm>
            <a:off x="7930343" y="3646226"/>
            <a:ext cx="2427315" cy="558165"/>
          </a:xfrm>
          <a:prstGeom prst="rect">
            <a:avLst/>
          </a:prstGeom>
        </p:spPr>
        <p:txBody>
          <a:bodyPr lIns="0" tIns="0" rIns="0" bIns="0" rtlCol="0" anchor="t">
            <a:spAutoFit/>
          </a:bodyPr>
          <a:lstStyle/>
          <a:p>
            <a:pPr marL="0" lvl="0" indent="0" algn="ctr">
              <a:lnSpc>
                <a:spcPts val="4355"/>
              </a:lnSpc>
              <a:spcBef>
                <a:spcPct val="0"/>
              </a:spcBef>
            </a:pPr>
            <a:r>
              <a:rPr 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第四</a:t>
            </a:r>
            <a:r>
              <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步</a:t>
            </a:r>
            <a:endParaRPr lang="zh-CN" altLang="en-US" sz="33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2" name="TextBox 12"/>
          <p:cNvSpPr txBox="1"/>
          <p:nvPr/>
        </p:nvSpPr>
        <p:spPr>
          <a:xfrm>
            <a:off x="4526955" y="4687081"/>
            <a:ext cx="9234089" cy="1370330"/>
          </a:xfrm>
          <a:prstGeom prst="rect">
            <a:avLst/>
          </a:prstGeom>
        </p:spPr>
        <p:txBody>
          <a:bodyPr lIns="0" tIns="0" rIns="0" bIns="0" rtlCol="0" anchor="t">
            <a:spAutoFit/>
          </a:bodyPr>
          <a:lstStyle/>
          <a:p>
            <a:pPr marL="0" lvl="0" indent="0" algn="ctr">
              <a:lnSpc>
                <a:spcPts val="10690"/>
              </a:lnSpc>
              <a:spcBef>
                <a:spcPct val="0"/>
              </a:spcBef>
            </a:pPr>
            <a:r>
              <a:rPr lang="zh-CN" altLang="en-US" sz="8100">
                <a:solidFill>
                  <a:srgbClr val="1E1E1E"/>
                </a:solidFill>
                <a:latin typeface="金山云技术体" charset="-122"/>
                <a:ea typeface="金山云技术体" charset="-122"/>
                <a:cs typeface="字由点字倔强黑" panose="00020600040101010101" charset="-122"/>
                <a:sym typeface="字由点字倔强黑" panose="00020600040101010101" charset="-122"/>
              </a:rPr>
              <a:t>训练和评估</a:t>
            </a:r>
            <a:endParaRPr lang="zh-CN" altLang="en-US" sz="8100">
              <a:solidFill>
                <a:srgbClr val="1E1E1E"/>
              </a:solidFill>
              <a:latin typeface="金山云技术体" charset="-122"/>
              <a:ea typeface="金山云技术体" charset="-122"/>
              <a:cs typeface="字由点字倔强黑" panose="00020600040101010101" charset="-122"/>
              <a:sym typeface="字由点字倔强黑" panose="00020600040101010101" charset="-122"/>
            </a:endParaRPr>
          </a:p>
        </p:txBody>
      </p:sp>
      <p:sp>
        <p:nvSpPr>
          <p:cNvPr id="13" name="TextBox 13"/>
          <p:cNvSpPr txBox="1"/>
          <p:nvPr/>
        </p:nvSpPr>
        <p:spPr>
          <a:xfrm>
            <a:off x="5738395" y="6130403"/>
            <a:ext cx="6811210" cy="215265"/>
          </a:xfrm>
          <a:prstGeom prst="rect">
            <a:avLst/>
          </a:prstGeom>
        </p:spPr>
        <p:txBody>
          <a:bodyPr lIns="0" tIns="0" rIns="0" bIns="0" rtlCol="0" anchor="t">
            <a:spAutoFit/>
          </a:bodyPr>
          <a:lstStyle/>
          <a:p>
            <a:pPr marL="0" lvl="0" indent="0" algn="ctr">
              <a:lnSpc>
                <a:spcPts val="1680"/>
              </a:lnSpc>
              <a:spcBef>
                <a:spcPct val="0"/>
              </a:spcBef>
            </a:pPr>
            <a:r>
              <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rPr>
              <a:t>Training and evaluation</a:t>
            </a:r>
            <a:endParaRPr lang="en-US" altLang="zh-CN" sz="2400">
              <a:solidFill>
                <a:srgbClr val="5B7396"/>
              </a:solidFill>
              <a:latin typeface="Akzidenz-Grotesk" panose="02000503030000020003"/>
              <a:ea typeface="Akzidenz-Grotesk" panose="02000503030000020003"/>
              <a:cs typeface="Akzidenz-Grotesk" panose="02000503030000020003"/>
              <a:sym typeface="Akzidenz-Grotesk" panose="020005030300000200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custDataLst>
              <p:tags r:id="rId7"/>
            </p:custDataLst>
          </p:nvPr>
        </p:nvGrpSpPr>
        <p:grpSpPr>
          <a:xfrm rot="-10800000">
            <a:off x="381000" y="876300"/>
            <a:ext cx="10059670" cy="8576310"/>
            <a:chOff x="0" y="0"/>
            <a:chExt cx="1285346" cy="948276"/>
          </a:xfrm>
        </p:grpSpPr>
        <p:sp>
          <p:nvSpPr>
            <p:cNvPr id="10" name="Freeform 10"/>
            <p:cNvSpPr/>
            <p:nvPr>
              <p:custDataLst>
                <p:tags r:id="rId8"/>
              </p:custDataLst>
            </p:nvPr>
          </p:nvSpPr>
          <p:spPr>
            <a:xfrm>
              <a:off x="0" y="0"/>
              <a:ext cx="1285346" cy="948276"/>
            </a:xfrm>
            <a:custGeom>
              <a:avLst/>
              <a:gdLst/>
              <a:ahLst/>
              <a:cxnLst/>
              <a:rect l="l" t="t" r="r" b="b"/>
              <a:pathLst>
                <a:path w="1285346" h="948276">
                  <a:moveTo>
                    <a:pt x="26523" y="0"/>
                  </a:moveTo>
                  <a:lnTo>
                    <a:pt x="1258823" y="0"/>
                  </a:lnTo>
                  <a:cubicBezTo>
                    <a:pt x="1265857" y="0"/>
                    <a:pt x="1272603" y="2794"/>
                    <a:pt x="1277577" y="7768"/>
                  </a:cubicBezTo>
                  <a:cubicBezTo>
                    <a:pt x="1282552" y="12743"/>
                    <a:pt x="1285346" y="19489"/>
                    <a:pt x="1285346" y="26523"/>
                  </a:cubicBezTo>
                  <a:lnTo>
                    <a:pt x="1285346" y="921753"/>
                  </a:lnTo>
                  <a:cubicBezTo>
                    <a:pt x="1285346" y="928787"/>
                    <a:pt x="1282552" y="935534"/>
                    <a:pt x="1277577" y="940508"/>
                  </a:cubicBezTo>
                  <a:cubicBezTo>
                    <a:pt x="1272603" y="945482"/>
                    <a:pt x="1265857" y="948276"/>
                    <a:pt x="1258823" y="948276"/>
                  </a:cubicBezTo>
                  <a:lnTo>
                    <a:pt x="26523" y="948276"/>
                  </a:lnTo>
                  <a:cubicBezTo>
                    <a:pt x="19489" y="948276"/>
                    <a:pt x="12743" y="945482"/>
                    <a:pt x="7768" y="940508"/>
                  </a:cubicBezTo>
                  <a:cubicBezTo>
                    <a:pt x="2794" y="935534"/>
                    <a:pt x="0" y="928787"/>
                    <a:pt x="0" y="921753"/>
                  </a:cubicBezTo>
                  <a:lnTo>
                    <a:pt x="0" y="26523"/>
                  </a:lnTo>
                  <a:cubicBezTo>
                    <a:pt x="0" y="19489"/>
                    <a:pt x="2794" y="12743"/>
                    <a:pt x="7768" y="7768"/>
                  </a:cubicBezTo>
                  <a:cubicBezTo>
                    <a:pt x="12743" y="2794"/>
                    <a:pt x="19489" y="0"/>
                    <a:pt x="26523" y="0"/>
                  </a:cubicBezTo>
                  <a:close/>
                </a:path>
              </a:pathLst>
            </a:custGeom>
            <a:solidFill>
              <a:srgbClr val="CBDCDE">
                <a:alpha val="31765"/>
              </a:srgbClr>
            </a:solidFill>
            <a:ln cap="rnd">
              <a:noFill/>
              <a:prstDash val="solid"/>
              <a:round/>
            </a:ln>
          </p:spPr>
        </p:sp>
        <p:sp>
          <p:nvSpPr>
            <p:cNvPr id="11" name="TextBox 11"/>
            <p:cNvSpPr txBox="1"/>
            <p:nvPr/>
          </p:nvSpPr>
          <p:spPr>
            <a:xfrm>
              <a:off x="0" y="-28575"/>
              <a:ext cx="1285346" cy="976851"/>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2" name="Group 12"/>
          <p:cNvGrpSpPr/>
          <p:nvPr>
            <p:custDataLst>
              <p:tags r:id="rId9"/>
            </p:custDataLst>
          </p:nvPr>
        </p:nvGrpSpPr>
        <p:grpSpPr>
          <a:xfrm rot="-10800000">
            <a:off x="1767840" y="0"/>
            <a:ext cx="4663440" cy="805180"/>
            <a:chOff x="0" y="0"/>
            <a:chExt cx="1285346" cy="141899"/>
          </a:xfrm>
        </p:grpSpPr>
        <p:sp>
          <p:nvSpPr>
            <p:cNvPr id="13" name="Freeform 13"/>
            <p:cNvSpPr/>
            <p:nvPr>
              <p:custDataLst>
                <p:tags r:id="rId10"/>
              </p:custDataLst>
            </p:nvPr>
          </p:nvSpPr>
          <p:spPr>
            <a:xfrm>
              <a:off x="0" y="0"/>
              <a:ext cx="1285346" cy="141899"/>
            </a:xfrm>
            <a:custGeom>
              <a:avLst/>
              <a:gdLst/>
              <a:ahLst/>
              <a:cxnLst/>
              <a:rect l="l" t="t" r="r" b="b"/>
              <a:pathLst>
                <a:path w="1285346" h="141899">
                  <a:moveTo>
                    <a:pt x="16419" y="0"/>
                  </a:moveTo>
                  <a:lnTo>
                    <a:pt x="1268927" y="0"/>
                  </a:lnTo>
                  <a:cubicBezTo>
                    <a:pt x="1273281" y="0"/>
                    <a:pt x="1277458" y="1730"/>
                    <a:pt x="1280537" y="4809"/>
                  </a:cubicBezTo>
                  <a:cubicBezTo>
                    <a:pt x="1283616" y="7888"/>
                    <a:pt x="1285346" y="12065"/>
                    <a:pt x="1285346" y="16419"/>
                  </a:cubicBezTo>
                  <a:lnTo>
                    <a:pt x="1285346" y="125480"/>
                  </a:lnTo>
                  <a:cubicBezTo>
                    <a:pt x="1285346" y="129835"/>
                    <a:pt x="1283616" y="134011"/>
                    <a:pt x="1280537" y="137090"/>
                  </a:cubicBezTo>
                  <a:cubicBezTo>
                    <a:pt x="1277458" y="140169"/>
                    <a:pt x="1273281" y="141899"/>
                    <a:pt x="1268927" y="141899"/>
                  </a:cubicBezTo>
                  <a:lnTo>
                    <a:pt x="16419" y="141899"/>
                  </a:lnTo>
                  <a:cubicBezTo>
                    <a:pt x="12065" y="141899"/>
                    <a:pt x="7888" y="140169"/>
                    <a:pt x="4809" y="137090"/>
                  </a:cubicBezTo>
                  <a:cubicBezTo>
                    <a:pt x="1730" y="134011"/>
                    <a:pt x="0" y="129835"/>
                    <a:pt x="0" y="125480"/>
                  </a:cubicBezTo>
                  <a:lnTo>
                    <a:pt x="0" y="16419"/>
                  </a:lnTo>
                  <a:cubicBezTo>
                    <a:pt x="0" y="12065"/>
                    <a:pt x="1730" y="7888"/>
                    <a:pt x="4809" y="4809"/>
                  </a:cubicBezTo>
                  <a:cubicBezTo>
                    <a:pt x="7888" y="1730"/>
                    <a:pt x="12065" y="0"/>
                    <a:pt x="16419" y="0"/>
                  </a:cubicBezTo>
                  <a:close/>
                </a:path>
              </a:pathLst>
            </a:custGeom>
            <a:solidFill>
              <a:srgbClr val="CBDCDE"/>
            </a:solidFill>
          </p:spPr>
        </p:sp>
        <p:sp>
          <p:nvSpPr>
            <p:cNvPr id="14" name="TextBox 14"/>
            <p:cNvSpPr txBox="1"/>
            <p:nvPr/>
          </p:nvSpPr>
          <p:spPr>
            <a:xfrm>
              <a:off x="0" y="-57150"/>
              <a:ext cx="1285346" cy="199049"/>
            </a:xfrm>
            <a:prstGeom prst="rect">
              <a:avLst/>
            </a:prstGeom>
          </p:spPr>
          <p:txBody>
            <a:bodyPr lIns="50800" tIns="50800" rIns="50800" bIns="50800" rtlCol="0" anchor="ctr"/>
            <a:lstStyle/>
            <a:p>
              <a:pPr algn="ctr">
                <a:lnSpc>
                  <a:spcPts val="3105"/>
                </a:lnSpc>
              </a:pPr>
            </a:p>
          </p:txBody>
        </p:sp>
      </p:grpSp>
      <p:sp>
        <p:nvSpPr>
          <p:cNvPr id="24" name="TextBox 24"/>
          <p:cNvSpPr txBox="1"/>
          <p:nvPr>
            <p:custDataLst>
              <p:tags r:id="rId11"/>
            </p:custDataLst>
          </p:nvPr>
        </p:nvSpPr>
        <p:spPr>
          <a:xfrm>
            <a:off x="2057374" y="53998"/>
            <a:ext cx="3879298" cy="560070"/>
          </a:xfrm>
          <a:prstGeom prst="rect">
            <a:avLst/>
          </a:prstGeom>
        </p:spPr>
        <p:txBody>
          <a:bodyPr lIns="0" tIns="0" rIns="0" bIns="0" rtlCol="0" anchor="t">
            <a:spAutoFit/>
          </a:bodyPr>
          <a:lstStyle/>
          <a:p>
            <a:pPr algn="ctr">
              <a:lnSpc>
                <a:spcPts val="4370"/>
              </a:lnSpc>
            </a:pP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绘制训练效果图表</a:t>
            </a:r>
            <a:r>
              <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函数</a:t>
            </a:r>
            <a:endParaRPr lang="zh-CN" altLang="en-US" sz="28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5" name="TextBox 25"/>
          <p:cNvSpPr txBox="1"/>
          <p:nvPr>
            <p:custDataLst>
              <p:tags r:id="rId12"/>
            </p:custDataLst>
          </p:nvPr>
        </p:nvSpPr>
        <p:spPr>
          <a:xfrm>
            <a:off x="457200" y="952500"/>
            <a:ext cx="9991090" cy="8392795"/>
          </a:xfrm>
          <a:prstGeom prst="rect">
            <a:avLst/>
          </a:prstGeom>
        </p:spPr>
        <p:txBody>
          <a:bodyPr wrap="square" lIns="0" tIns="0" rIns="0" bIns="0" rtlCol="0" anchor="t">
            <a:no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定义损失和精度的图</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和混淆矩阵指标等等</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plot_loss(history):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显示训练和验证损失图表</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plt.subplots(1,2,figsize=(10,3))</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plt.subplot(121)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loss = history.history["loss"]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epochs = range(1, len(loss)+1)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val_loss = history.history["val_loss"]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绘制操作，此处省略</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plt.show()</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plot_confusion_matrix(model,X_test,Y_test_original):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预测概率</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prob=model.predict(X_test)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预测类别</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pred=np.argmax(prob,axis=1)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数据透视表，混淆矩阵</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pred=pd.Series(pred)</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Y_test_original=pd.Series(Y_test_original)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table = pd.crosstab(Y_test_original, pred, rownames=['Actual'], colnames=['Predicted'])</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#print(table)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sns.heatmap(table,cmap='Blues',fmt='.20g', annot=True)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plt.tight_layout()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plt.show()</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28" name="Group 9"/>
          <p:cNvGrpSpPr/>
          <p:nvPr>
            <p:custDataLst>
              <p:tags r:id="rId13"/>
            </p:custDataLst>
          </p:nvPr>
        </p:nvGrpSpPr>
        <p:grpSpPr>
          <a:xfrm rot="-10800000">
            <a:off x="10820400" y="876300"/>
            <a:ext cx="6577965" cy="8576310"/>
            <a:chOff x="0" y="0"/>
            <a:chExt cx="1285346" cy="948276"/>
          </a:xfrm>
        </p:grpSpPr>
        <p:sp>
          <p:nvSpPr>
            <p:cNvPr id="29" name="Freeform 10"/>
            <p:cNvSpPr/>
            <p:nvPr>
              <p:custDataLst>
                <p:tags r:id="rId14"/>
              </p:custDataLst>
            </p:nvPr>
          </p:nvSpPr>
          <p:spPr>
            <a:xfrm>
              <a:off x="0" y="0"/>
              <a:ext cx="1285346" cy="948276"/>
            </a:xfrm>
            <a:custGeom>
              <a:avLst/>
              <a:gdLst/>
              <a:ahLst/>
              <a:cxnLst/>
              <a:rect l="l" t="t" r="r" b="b"/>
              <a:pathLst>
                <a:path w="1285346" h="948276">
                  <a:moveTo>
                    <a:pt x="26523" y="0"/>
                  </a:moveTo>
                  <a:lnTo>
                    <a:pt x="1258823" y="0"/>
                  </a:lnTo>
                  <a:cubicBezTo>
                    <a:pt x="1265857" y="0"/>
                    <a:pt x="1272603" y="2794"/>
                    <a:pt x="1277577" y="7768"/>
                  </a:cubicBezTo>
                  <a:cubicBezTo>
                    <a:pt x="1282552" y="12743"/>
                    <a:pt x="1285346" y="19489"/>
                    <a:pt x="1285346" y="26523"/>
                  </a:cubicBezTo>
                  <a:lnTo>
                    <a:pt x="1285346" y="921753"/>
                  </a:lnTo>
                  <a:cubicBezTo>
                    <a:pt x="1285346" y="928787"/>
                    <a:pt x="1282552" y="935534"/>
                    <a:pt x="1277577" y="940508"/>
                  </a:cubicBezTo>
                  <a:cubicBezTo>
                    <a:pt x="1272603" y="945482"/>
                    <a:pt x="1265857" y="948276"/>
                    <a:pt x="1258823" y="948276"/>
                  </a:cubicBezTo>
                  <a:lnTo>
                    <a:pt x="26523" y="948276"/>
                  </a:lnTo>
                  <a:cubicBezTo>
                    <a:pt x="19489" y="948276"/>
                    <a:pt x="12743" y="945482"/>
                    <a:pt x="7768" y="940508"/>
                  </a:cubicBezTo>
                  <a:cubicBezTo>
                    <a:pt x="2794" y="935534"/>
                    <a:pt x="0" y="928787"/>
                    <a:pt x="0" y="921753"/>
                  </a:cubicBezTo>
                  <a:lnTo>
                    <a:pt x="0" y="26523"/>
                  </a:lnTo>
                  <a:cubicBezTo>
                    <a:pt x="0" y="19489"/>
                    <a:pt x="2794" y="12743"/>
                    <a:pt x="7768" y="7768"/>
                  </a:cubicBezTo>
                  <a:cubicBezTo>
                    <a:pt x="12743" y="2794"/>
                    <a:pt x="19489" y="0"/>
                    <a:pt x="26523" y="0"/>
                  </a:cubicBezTo>
                  <a:close/>
                </a:path>
              </a:pathLst>
            </a:custGeom>
            <a:solidFill>
              <a:srgbClr val="CBDCDE">
                <a:alpha val="31765"/>
              </a:srgbClr>
            </a:solidFill>
            <a:ln cap="rnd">
              <a:noFill/>
              <a:prstDash val="solid"/>
              <a:round/>
            </a:ln>
          </p:spPr>
        </p:sp>
        <p:sp>
          <p:nvSpPr>
            <p:cNvPr id="30" name="TextBox 11"/>
            <p:cNvSpPr txBox="1"/>
            <p:nvPr/>
          </p:nvSpPr>
          <p:spPr>
            <a:xfrm>
              <a:off x="0" y="-28575"/>
              <a:ext cx="1285346" cy="976851"/>
            </a:xfrm>
            <a:prstGeom prst="rect">
              <a:avLst/>
            </a:prstGeom>
          </p:spPr>
          <p:txBody>
            <a:bodyPr lIns="50800" tIns="50800" rIns="50800" bIns="50800" rtlCol="0" anchor="ctr"/>
            <a:p>
              <a:pPr marL="0" lvl="0" indent="0" algn="ctr">
                <a:lnSpc>
                  <a:spcPts val="2660"/>
                </a:lnSpc>
                <a:spcBef>
                  <a:spcPct val="0"/>
                </a:spcBef>
              </a:pPr>
            </a:p>
          </p:txBody>
        </p:sp>
      </p:grpSp>
      <p:sp>
        <p:nvSpPr>
          <p:cNvPr id="31" name="文本框 30"/>
          <p:cNvSpPr txBox="1"/>
          <p:nvPr/>
        </p:nvSpPr>
        <p:spPr>
          <a:xfrm>
            <a:off x="10984865" y="1104265"/>
            <a:ext cx="6160135" cy="6300470"/>
          </a:xfrm>
          <a:prstGeom prst="rect">
            <a:avLst/>
          </a:prstGeom>
          <a:noFill/>
        </p:spPr>
        <p:txBody>
          <a:bodyPr wrap="square" rtlCol="0">
            <a:noAutofit/>
          </a:bodyPr>
          <a:p>
            <a:pPr>
              <a:lnSpc>
                <a:spcPct val="120000"/>
              </a:lnSpc>
            </a:pPr>
            <a:r>
              <a:rPr lang="en-US" altLang="zh-CN">
                <a:cs typeface="+mn-lt"/>
              </a:rPr>
              <a:t>#</a:t>
            </a:r>
            <a:r>
              <a:rPr lang="zh-CN" altLang="en-US">
                <a:cs typeface="+mn-lt"/>
              </a:rPr>
              <a:t>计算混淆矩阵的各项指标</a:t>
            </a:r>
            <a:endParaRPr lang="zh-CN" altLang="en-US">
              <a:cs typeface="+mn-lt"/>
            </a:endParaRPr>
          </a:p>
          <a:p>
            <a:pPr>
              <a:lnSpc>
                <a:spcPct val="120000"/>
              </a:lnSpc>
            </a:pPr>
            <a:r>
              <a:rPr lang="en-US" altLang="zh-CN">
                <a:cs typeface="+mn-lt"/>
              </a:rPr>
              <a:t>    print(classification_report(Y_test_original, pred))</a:t>
            </a:r>
            <a:endParaRPr lang="en-US" altLang="zh-CN">
              <a:cs typeface="+mn-lt"/>
            </a:endParaRPr>
          </a:p>
          <a:p>
            <a:pPr>
              <a:lnSpc>
                <a:spcPct val="120000"/>
              </a:lnSpc>
            </a:pPr>
            <a:r>
              <a:rPr lang="en-US" altLang="zh-CN">
                <a:cs typeface="+mn-lt"/>
              </a:rPr>
              <a:t>    #</a:t>
            </a:r>
            <a:r>
              <a:rPr lang="zh-CN" altLang="en-US">
                <a:cs typeface="+mn-lt"/>
              </a:rPr>
              <a:t>科恩</a:t>
            </a:r>
            <a:r>
              <a:rPr lang="en-US" altLang="zh-CN">
                <a:cs typeface="+mn-lt"/>
              </a:rPr>
              <a:t>Kappa</a:t>
            </a:r>
            <a:r>
              <a:rPr lang="zh-CN" altLang="en-US">
                <a:cs typeface="+mn-lt"/>
              </a:rPr>
              <a:t>指标</a:t>
            </a:r>
            <a:endParaRPr lang="zh-CN" altLang="en-US">
              <a:cs typeface="+mn-lt"/>
            </a:endParaRPr>
          </a:p>
          <a:p>
            <a:pPr>
              <a:lnSpc>
                <a:spcPct val="120000"/>
              </a:lnSpc>
            </a:pPr>
            <a:r>
              <a:rPr lang="en-US" altLang="zh-CN">
                <a:cs typeface="+mn-lt"/>
              </a:rPr>
              <a:t>    print('</a:t>
            </a:r>
            <a:r>
              <a:rPr lang="zh-CN" altLang="en-US">
                <a:cs typeface="+mn-lt"/>
              </a:rPr>
              <a:t>科恩</a:t>
            </a:r>
            <a:r>
              <a:rPr lang="en-US" altLang="zh-CN">
                <a:cs typeface="+mn-lt"/>
              </a:rPr>
              <a:t>Kappa'+str(cohen_kappa_score(Y_test_original, pred)))</a:t>
            </a:r>
            <a:endParaRPr lang="en-US" altLang="zh-CN">
              <a:cs typeface="+mn-lt"/>
            </a:endParaRPr>
          </a:p>
          <a:p>
            <a:pPr>
              <a:lnSpc>
                <a:spcPct val="120000"/>
              </a:lnSpc>
            </a:pPr>
            <a:endParaRPr lang="en-US" altLang="zh-CN">
              <a:cs typeface="+mn-lt"/>
            </a:endParaRPr>
          </a:p>
          <a:p>
            <a:pPr>
              <a:lnSpc>
                <a:spcPct val="120000"/>
              </a:lnSpc>
            </a:pPr>
            <a:endParaRPr lang="en-US" altLang="zh-CN">
              <a:cs typeface="+mn-lt"/>
            </a:endParaRPr>
          </a:p>
          <a:p>
            <a:pPr>
              <a:lnSpc>
                <a:spcPct val="120000"/>
              </a:lnSpc>
            </a:pPr>
            <a:endParaRPr lang="en-US" altLang="zh-CN">
              <a:cs typeface="+mn-lt"/>
            </a:endParaRPr>
          </a:p>
          <a:p>
            <a:pPr>
              <a:lnSpc>
                <a:spcPct val="120000"/>
              </a:lnSpc>
            </a:pPr>
            <a:r>
              <a:rPr lang="en-US" altLang="zh-CN">
                <a:cs typeface="+mn-lt"/>
              </a:rPr>
              <a:t>def evaluation(y_test, y_predict):</a:t>
            </a:r>
            <a:endParaRPr lang="en-US" altLang="zh-CN">
              <a:cs typeface="+mn-lt"/>
            </a:endParaRPr>
          </a:p>
          <a:p>
            <a:pPr>
              <a:lnSpc>
                <a:spcPct val="120000"/>
              </a:lnSpc>
            </a:pPr>
            <a:r>
              <a:rPr lang="en-US" altLang="zh-CN">
                <a:cs typeface="+mn-lt"/>
              </a:rPr>
              <a:t>    accuracy=classification_report(y_test,</a:t>
            </a:r>
            <a:endParaRPr lang="en-US" altLang="zh-CN">
              <a:cs typeface="+mn-lt"/>
            </a:endParaRPr>
          </a:p>
          <a:p>
            <a:pPr>
              <a:lnSpc>
                <a:spcPct val="120000"/>
              </a:lnSpc>
            </a:pPr>
            <a:r>
              <a:rPr lang="en-US" altLang="zh-CN">
                <a:cs typeface="+mn-lt"/>
              </a:rPr>
              <a:t>                                             y_predict,output_dict=True)['accuracy']</a:t>
            </a:r>
            <a:endParaRPr lang="en-US" altLang="zh-CN">
              <a:cs typeface="+mn-lt"/>
            </a:endParaRPr>
          </a:p>
          <a:p>
            <a:pPr>
              <a:lnSpc>
                <a:spcPct val="120000"/>
              </a:lnSpc>
            </a:pPr>
            <a:r>
              <a:rPr lang="en-US" altLang="zh-CN">
                <a:cs typeface="+mn-lt"/>
              </a:rPr>
              <a:t>    s=classification_report(y_test,</a:t>
            </a:r>
            <a:endParaRPr lang="en-US" altLang="zh-CN">
              <a:cs typeface="+mn-lt"/>
            </a:endParaRPr>
          </a:p>
          <a:p>
            <a:pPr>
              <a:lnSpc>
                <a:spcPct val="120000"/>
              </a:lnSpc>
            </a:pPr>
            <a:r>
              <a:rPr lang="en-US" altLang="zh-CN">
                <a:cs typeface="+mn-lt"/>
              </a:rPr>
              <a:t>                                     </a:t>
            </a:r>
            <a:r>
              <a:rPr lang="en-US" altLang="zh-CN">
                <a:cs typeface="+mn-lt"/>
                <a:sym typeface="+mn-ea"/>
              </a:rPr>
              <a:t>y_predict,output_dict=True)['weighted avg'] </a:t>
            </a:r>
            <a:endParaRPr lang="en-US" altLang="zh-CN">
              <a:cs typeface="+mn-lt"/>
            </a:endParaRPr>
          </a:p>
          <a:p>
            <a:pPr>
              <a:lnSpc>
                <a:spcPct val="120000"/>
              </a:lnSpc>
            </a:pPr>
            <a:r>
              <a:rPr lang="en-US" altLang="zh-CN">
                <a:cs typeface="+mn-lt"/>
              </a:rPr>
              <a:t>    precision=s['precision']</a:t>
            </a:r>
            <a:endParaRPr lang="en-US" altLang="zh-CN">
              <a:cs typeface="+mn-lt"/>
            </a:endParaRPr>
          </a:p>
          <a:p>
            <a:pPr>
              <a:lnSpc>
                <a:spcPct val="120000"/>
              </a:lnSpc>
            </a:pPr>
            <a:r>
              <a:rPr lang="en-US" altLang="zh-CN">
                <a:cs typeface="+mn-lt"/>
              </a:rPr>
              <a:t>    recall=s['recall']</a:t>
            </a:r>
            <a:endParaRPr lang="en-US" altLang="zh-CN">
              <a:cs typeface="+mn-lt"/>
            </a:endParaRPr>
          </a:p>
          <a:p>
            <a:pPr>
              <a:lnSpc>
                <a:spcPct val="120000"/>
              </a:lnSpc>
            </a:pPr>
            <a:r>
              <a:rPr lang="en-US" altLang="zh-CN">
                <a:cs typeface="+mn-lt"/>
              </a:rPr>
              <a:t>    f1_score=s['f1-score']</a:t>
            </a:r>
            <a:endParaRPr lang="en-US" altLang="zh-CN">
              <a:cs typeface="+mn-lt"/>
            </a:endParaRPr>
          </a:p>
          <a:p>
            <a:pPr>
              <a:lnSpc>
                <a:spcPct val="120000"/>
              </a:lnSpc>
            </a:pPr>
            <a:r>
              <a:rPr lang="en-US" altLang="zh-CN">
                <a:cs typeface="+mn-lt"/>
              </a:rPr>
              <a:t>    return accuracy,precision,recall,f1_score </a:t>
            </a:r>
            <a:endParaRPr lang="en-US" altLang="zh-CN">
              <a:cs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5" name="Group 15"/>
          <p:cNvGrpSpPr/>
          <p:nvPr>
            <p:custDataLst>
              <p:tags r:id="rId7"/>
            </p:custDataLst>
          </p:nvPr>
        </p:nvGrpSpPr>
        <p:grpSpPr>
          <a:xfrm rot="-10800000">
            <a:off x="381000" y="800100"/>
            <a:ext cx="9683750" cy="8928100"/>
            <a:chOff x="0" y="0"/>
            <a:chExt cx="1285346" cy="948276"/>
          </a:xfrm>
        </p:grpSpPr>
        <p:sp>
          <p:nvSpPr>
            <p:cNvPr id="16" name="Freeform 16"/>
            <p:cNvSpPr/>
            <p:nvPr>
              <p:custDataLst>
                <p:tags r:id="rId8"/>
              </p:custDataLst>
            </p:nvPr>
          </p:nvSpPr>
          <p:spPr>
            <a:xfrm>
              <a:off x="0" y="0"/>
              <a:ext cx="1285346" cy="948276"/>
            </a:xfrm>
            <a:custGeom>
              <a:avLst/>
              <a:gdLst/>
              <a:ahLst/>
              <a:cxnLst/>
              <a:rect l="l" t="t" r="r" b="b"/>
              <a:pathLst>
                <a:path w="1285346" h="948276">
                  <a:moveTo>
                    <a:pt x="26523" y="0"/>
                  </a:moveTo>
                  <a:lnTo>
                    <a:pt x="1258823" y="0"/>
                  </a:lnTo>
                  <a:cubicBezTo>
                    <a:pt x="1265857" y="0"/>
                    <a:pt x="1272603" y="2794"/>
                    <a:pt x="1277577" y="7768"/>
                  </a:cubicBezTo>
                  <a:cubicBezTo>
                    <a:pt x="1282552" y="12743"/>
                    <a:pt x="1285346" y="19489"/>
                    <a:pt x="1285346" y="26523"/>
                  </a:cubicBezTo>
                  <a:lnTo>
                    <a:pt x="1285346" y="921753"/>
                  </a:lnTo>
                  <a:cubicBezTo>
                    <a:pt x="1285346" y="928787"/>
                    <a:pt x="1282552" y="935534"/>
                    <a:pt x="1277577" y="940508"/>
                  </a:cubicBezTo>
                  <a:cubicBezTo>
                    <a:pt x="1272603" y="945482"/>
                    <a:pt x="1265857" y="948276"/>
                    <a:pt x="1258823" y="948276"/>
                  </a:cubicBezTo>
                  <a:lnTo>
                    <a:pt x="26523" y="948276"/>
                  </a:lnTo>
                  <a:cubicBezTo>
                    <a:pt x="19489" y="948276"/>
                    <a:pt x="12743" y="945482"/>
                    <a:pt x="7768" y="940508"/>
                  </a:cubicBezTo>
                  <a:cubicBezTo>
                    <a:pt x="2794" y="935534"/>
                    <a:pt x="0" y="928787"/>
                    <a:pt x="0" y="921753"/>
                  </a:cubicBezTo>
                  <a:lnTo>
                    <a:pt x="0" y="26523"/>
                  </a:lnTo>
                  <a:cubicBezTo>
                    <a:pt x="0" y="19489"/>
                    <a:pt x="2794" y="12743"/>
                    <a:pt x="7768" y="7768"/>
                  </a:cubicBezTo>
                  <a:cubicBezTo>
                    <a:pt x="12743" y="2794"/>
                    <a:pt x="19489" y="0"/>
                    <a:pt x="26523" y="0"/>
                  </a:cubicBezTo>
                  <a:close/>
                </a:path>
              </a:pathLst>
            </a:custGeom>
            <a:solidFill>
              <a:srgbClr val="B3C2D8">
                <a:alpha val="31765"/>
              </a:srgbClr>
            </a:solidFill>
            <a:ln cap="rnd">
              <a:noFill/>
              <a:prstDash val="solid"/>
              <a:round/>
            </a:ln>
          </p:spPr>
        </p:sp>
        <p:sp>
          <p:nvSpPr>
            <p:cNvPr id="17" name="TextBox 17"/>
            <p:cNvSpPr txBox="1"/>
            <p:nvPr/>
          </p:nvSpPr>
          <p:spPr>
            <a:xfrm>
              <a:off x="0" y="-28575"/>
              <a:ext cx="1285346" cy="976851"/>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8" name="Group 18"/>
          <p:cNvGrpSpPr/>
          <p:nvPr>
            <p:custDataLst>
              <p:tags r:id="rId9"/>
            </p:custDataLst>
          </p:nvPr>
        </p:nvGrpSpPr>
        <p:grpSpPr>
          <a:xfrm rot="-10800000">
            <a:off x="457200" y="-38735"/>
            <a:ext cx="3308985" cy="805180"/>
            <a:chOff x="0" y="0"/>
            <a:chExt cx="1285346" cy="141899"/>
          </a:xfrm>
        </p:grpSpPr>
        <p:sp>
          <p:nvSpPr>
            <p:cNvPr id="19" name="Freeform 19"/>
            <p:cNvSpPr/>
            <p:nvPr>
              <p:custDataLst>
                <p:tags r:id="rId10"/>
              </p:custDataLst>
            </p:nvPr>
          </p:nvSpPr>
          <p:spPr>
            <a:xfrm>
              <a:off x="0" y="0"/>
              <a:ext cx="1285346" cy="141899"/>
            </a:xfrm>
            <a:custGeom>
              <a:avLst/>
              <a:gdLst/>
              <a:ahLst/>
              <a:cxnLst/>
              <a:rect l="l" t="t" r="r" b="b"/>
              <a:pathLst>
                <a:path w="1285346" h="141899">
                  <a:moveTo>
                    <a:pt x="16419" y="0"/>
                  </a:moveTo>
                  <a:lnTo>
                    <a:pt x="1268927" y="0"/>
                  </a:lnTo>
                  <a:cubicBezTo>
                    <a:pt x="1273281" y="0"/>
                    <a:pt x="1277458" y="1730"/>
                    <a:pt x="1280537" y="4809"/>
                  </a:cubicBezTo>
                  <a:cubicBezTo>
                    <a:pt x="1283616" y="7888"/>
                    <a:pt x="1285346" y="12065"/>
                    <a:pt x="1285346" y="16419"/>
                  </a:cubicBezTo>
                  <a:lnTo>
                    <a:pt x="1285346" y="125480"/>
                  </a:lnTo>
                  <a:cubicBezTo>
                    <a:pt x="1285346" y="129835"/>
                    <a:pt x="1283616" y="134011"/>
                    <a:pt x="1280537" y="137090"/>
                  </a:cubicBezTo>
                  <a:cubicBezTo>
                    <a:pt x="1277458" y="140169"/>
                    <a:pt x="1273281" y="141899"/>
                    <a:pt x="1268927" y="141899"/>
                  </a:cubicBezTo>
                  <a:lnTo>
                    <a:pt x="16419" y="141899"/>
                  </a:lnTo>
                  <a:cubicBezTo>
                    <a:pt x="12065" y="141899"/>
                    <a:pt x="7888" y="140169"/>
                    <a:pt x="4809" y="137090"/>
                  </a:cubicBezTo>
                  <a:cubicBezTo>
                    <a:pt x="1730" y="134011"/>
                    <a:pt x="0" y="129835"/>
                    <a:pt x="0" y="125480"/>
                  </a:cubicBezTo>
                  <a:lnTo>
                    <a:pt x="0" y="16419"/>
                  </a:lnTo>
                  <a:cubicBezTo>
                    <a:pt x="0" y="12065"/>
                    <a:pt x="1730" y="7888"/>
                    <a:pt x="4809" y="4809"/>
                  </a:cubicBezTo>
                  <a:cubicBezTo>
                    <a:pt x="7888" y="1730"/>
                    <a:pt x="12065" y="0"/>
                    <a:pt x="16419" y="0"/>
                  </a:cubicBezTo>
                  <a:close/>
                </a:path>
              </a:pathLst>
            </a:custGeom>
            <a:solidFill>
              <a:srgbClr val="5B7396"/>
            </a:solidFill>
            <a:ln cap="sq">
              <a:noFill/>
              <a:prstDash val="solid"/>
              <a:miter/>
            </a:ln>
          </p:spPr>
        </p:sp>
        <p:sp>
          <p:nvSpPr>
            <p:cNvPr id="20" name="TextBox 20"/>
            <p:cNvSpPr txBox="1"/>
            <p:nvPr/>
          </p:nvSpPr>
          <p:spPr>
            <a:xfrm>
              <a:off x="0" y="-57150"/>
              <a:ext cx="1285346" cy="199049"/>
            </a:xfrm>
            <a:prstGeom prst="rect">
              <a:avLst/>
            </a:prstGeom>
          </p:spPr>
          <p:txBody>
            <a:bodyPr lIns="50800" tIns="50800" rIns="50800" bIns="50800" rtlCol="0" anchor="ctr"/>
            <a:lstStyle/>
            <a:p>
              <a:pPr marL="0" lvl="0" indent="0" algn="ctr">
                <a:lnSpc>
                  <a:spcPts val="3105"/>
                </a:lnSpc>
                <a:spcBef>
                  <a:spcPct val="0"/>
                </a:spcBef>
              </a:pPr>
            </a:p>
          </p:txBody>
        </p:sp>
      </p:grpSp>
      <p:sp>
        <p:nvSpPr>
          <p:cNvPr id="26" name="TextBox 26"/>
          <p:cNvSpPr txBox="1"/>
          <p:nvPr>
            <p:custDataLst>
              <p:tags r:id="rId11"/>
            </p:custDataLst>
          </p:nvPr>
        </p:nvSpPr>
        <p:spPr>
          <a:xfrm>
            <a:off x="76143" y="38123"/>
            <a:ext cx="3879298" cy="560070"/>
          </a:xfrm>
          <a:prstGeom prst="rect">
            <a:avLst/>
          </a:prstGeom>
        </p:spPr>
        <p:txBody>
          <a:bodyPr lIns="0" tIns="0" rIns="0" bIns="0" rtlCol="0" anchor="t">
            <a:spAutoFit/>
          </a:bodyPr>
          <a:lstStyle/>
          <a:p>
            <a:pPr algn="ctr">
              <a:lnSpc>
                <a:spcPts val="4370"/>
              </a:lnSpc>
            </a:pPr>
            <a:r>
              <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训练函数</a:t>
            </a:r>
            <a:endPar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7" name="TextBox 27"/>
          <p:cNvSpPr txBox="1"/>
          <p:nvPr>
            <p:custDataLst>
              <p:tags r:id="rId12"/>
            </p:custDataLst>
          </p:nvPr>
        </p:nvSpPr>
        <p:spPr>
          <a:xfrm>
            <a:off x="685800" y="1104900"/>
            <a:ext cx="9190990" cy="8425180"/>
          </a:xfrm>
          <a:prstGeom prst="rect">
            <a:avLst/>
          </a:prstGeom>
        </p:spPr>
        <p:txBody>
          <a:bodyPr lIns="0" tIns="0" rIns="0" bIns="0" rtlCol="0" anchor="t">
            <a:noAutofit/>
          </a:bodyPr>
          <a:lstStyle/>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定义训练函数</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df_eval=pd.DataFrame(columns=['Accuracy','Precision','Recall','F1_score'])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def train_fuc(</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max_words=max_words,mode='BiLSTM',batch_size=64,epochs=10,hidden_dim=[64],show_loss=True,show_confusion_matrix=True):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构建模型</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model=build_model(max_words=max_words,mode=mode,hidden_dim=hidden_dim)</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print(model.summary())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es = keras.callbacks.EarlyStopping(patience=3)</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history=model.fit(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X_train, Y_train,batch_size=batch_size,epochs=epochs,validation_split=0.2, verbose=1,callbacks=[es])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print('-----------------——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训练完毕</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评估模型</a:t>
            </a:r>
            <a:endPar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loss, accuracy = model.evaluate(X_test, Y_test)  ;  print("</a:t>
            </a:r>
            <a:r>
              <a:rPr lang="zh-CN" alt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测试数据集的准确度</a:t>
            </a: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{:.4f}".format(accuracy))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prob=model.predict(X_test) ;  pred=np.argmax(prob,axis=1)</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score=list(evaluation(Y_test_original, pred))</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df_eval.loc[mode,:]=score</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if show_loss:</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plot_loss(history)</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if show_confusion_matrix:     </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plot_confusion_matrix(model=model,X_test=X_test,Y_test_original=Y_test_original)</a:t>
            </a:r>
            <a:endParaRPr lang="en-US" altLang="zh-CN"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8" name="Group 15"/>
          <p:cNvGrpSpPr/>
          <p:nvPr>
            <p:custDataLst>
              <p:tags r:id="rId13"/>
            </p:custDataLst>
          </p:nvPr>
        </p:nvGrpSpPr>
        <p:grpSpPr>
          <a:xfrm rot="-10800000">
            <a:off x="10439400" y="800100"/>
            <a:ext cx="7576820" cy="8928100"/>
            <a:chOff x="0" y="0"/>
            <a:chExt cx="1285346" cy="948276"/>
          </a:xfrm>
        </p:grpSpPr>
        <p:sp>
          <p:nvSpPr>
            <p:cNvPr id="21" name="Freeform 16"/>
            <p:cNvSpPr/>
            <p:nvPr>
              <p:custDataLst>
                <p:tags r:id="rId14"/>
              </p:custDataLst>
            </p:nvPr>
          </p:nvSpPr>
          <p:spPr>
            <a:xfrm>
              <a:off x="0" y="0"/>
              <a:ext cx="1285346" cy="948276"/>
            </a:xfrm>
            <a:custGeom>
              <a:avLst/>
              <a:gdLst/>
              <a:ahLst/>
              <a:cxnLst/>
              <a:rect l="l" t="t" r="r" b="b"/>
              <a:pathLst>
                <a:path w="1285346" h="948276">
                  <a:moveTo>
                    <a:pt x="26523" y="0"/>
                  </a:moveTo>
                  <a:lnTo>
                    <a:pt x="1258823" y="0"/>
                  </a:lnTo>
                  <a:cubicBezTo>
                    <a:pt x="1265857" y="0"/>
                    <a:pt x="1272603" y="2794"/>
                    <a:pt x="1277577" y="7768"/>
                  </a:cubicBezTo>
                  <a:cubicBezTo>
                    <a:pt x="1282552" y="12743"/>
                    <a:pt x="1285346" y="19489"/>
                    <a:pt x="1285346" y="26523"/>
                  </a:cubicBezTo>
                  <a:lnTo>
                    <a:pt x="1285346" y="921753"/>
                  </a:lnTo>
                  <a:cubicBezTo>
                    <a:pt x="1285346" y="928787"/>
                    <a:pt x="1282552" y="935534"/>
                    <a:pt x="1277577" y="940508"/>
                  </a:cubicBezTo>
                  <a:cubicBezTo>
                    <a:pt x="1272603" y="945482"/>
                    <a:pt x="1265857" y="948276"/>
                    <a:pt x="1258823" y="948276"/>
                  </a:cubicBezTo>
                  <a:lnTo>
                    <a:pt x="26523" y="948276"/>
                  </a:lnTo>
                  <a:cubicBezTo>
                    <a:pt x="19489" y="948276"/>
                    <a:pt x="12743" y="945482"/>
                    <a:pt x="7768" y="940508"/>
                  </a:cubicBezTo>
                  <a:cubicBezTo>
                    <a:pt x="2794" y="935534"/>
                    <a:pt x="0" y="928787"/>
                    <a:pt x="0" y="921753"/>
                  </a:cubicBezTo>
                  <a:lnTo>
                    <a:pt x="0" y="26523"/>
                  </a:lnTo>
                  <a:cubicBezTo>
                    <a:pt x="0" y="19489"/>
                    <a:pt x="2794" y="12743"/>
                    <a:pt x="7768" y="7768"/>
                  </a:cubicBezTo>
                  <a:cubicBezTo>
                    <a:pt x="12743" y="2794"/>
                    <a:pt x="19489" y="0"/>
                    <a:pt x="26523" y="0"/>
                  </a:cubicBezTo>
                  <a:close/>
                </a:path>
              </a:pathLst>
            </a:custGeom>
            <a:solidFill>
              <a:srgbClr val="B3C2D8">
                <a:alpha val="31765"/>
              </a:srgbClr>
            </a:solidFill>
            <a:ln cap="rnd">
              <a:noFill/>
              <a:prstDash val="solid"/>
              <a:round/>
            </a:ln>
          </p:spPr>
        </p:sp>
        <p:sp>
          <p:nvSpPr>
            <p:cNvPr id="22" name="TextBox 17"/>
            <p:cNvSpPr txBox="1"/>
            <p:nvPr/>
          </p:nvSpPr>
          <p:spPr>
            <a:xfrm>
              <a:off x="0" y="-28575"/>
              <a:ext cx="1285346" cy="976851"/>
            </a:xfrm>
            <a:prstGeom prst="rect">
              <a:avLst/>
            </a:prstGeom>
          </p:spPr>
          <p:txBody>
            <a:bodyPr lIns="50800" tIns="50800" rIns="50800" bIns="50800" rtlCol="0" anchor="ctr"/>
            <a:p>
              <a:pPr marL="0" lvl="0" indent="0" algn="ctr">
                <a:lnSpc>
                  <a:spcPts val="2660"/>
                </a:lnSpc>
                <a:spcBef>
                  <a:spcPct val="0"/>
                </a:spcBef>
              </a:pPr>
            </a:p>
          </p:txBody>
        </p:sp>
      </p:grpSp>
      <p:sp>
        <p:nvSpPr>
          <p:cNvPr id="23" name="文本框 22"/>
          <p:cNvSpPr txBox="1"/>
          <p:nvPr/>
        </p:nvSpPr>
        <p:spPr>
          <a:xfrm>
            <a:off x="10676255" y="1068070"/>
            <a:ext cx="7230745" cy="8678545"/>
          </a:xfrm>
          <a:prstGeom prst="rect">
            <a:avLst/>
          </a:prstGeom>
          <a:noFill/>
        </p:spPr>
        <p:txBody>
          <a:bodyPr wrap="square" rtlCol="0">
            <a:spAutoFit/>
          </a:bodyPr>
          <a:p>
            <a:r>
              <a:rPr lang="zh-CN" altLang="en-US"/>
              <a:t>创建一个空的</a:t>
            </a:r>
            <a:r>
              <a:rPr lang="en-US" altLang="zh-CN"/>
              <a:t> pandas DataFrame df_eval</a:t>
            </a:r>
            <a:r>
              <a:rPr lang="zh-CN" altLang="en-US"/>
              <a:t>，用于存储不同模型的评估指标，包括准确度（</a:t>
            </a:r>
            <a:r>
              <a:rPr lang="en-US" altLang="zh-CN"/>
              <a:t>Accuracy</a:t>
            </a:r>
            <a:r>
              <a:rPr lang="zh-CN" altLang="en-US"/>
              <a:t>）、精确度（</a:t>
            </a:r>
            <a:r>
              <a:rPr lang="en-US" altLang="zh-CN"/>
              <a:t>Precision</a:t>
            </a:r>
            <a:r>
              <a:rPr lang="zh-CN" altLang="en-US"/>
              <a:t>）、召回率（</a:t>
            </a:r>
            <a:r>
              <a:rPr lang="en-US" altLang="zh-CN"/>
              <a:t>Recall</a:t>
            </a:r>
            <a:r>
              <a:rPr lang="zh-CN" altLang="en-US"/>
              <a:t>）和</a:t>
            </a:r>
            <a:r>
              <a:rPr lang="en-US" altLang="zh-CN"/>
              <a:t>F1</a:t>
            </a:r>
            <a:r>
              <a:rPr lang="zh-CN" altLang="en-US"/>
              <a:t>分数（</a:t>
            </a:r>
            <a:r>
              <a:rPr lang="en-US" altLang="zh-CN"/>
              <a:t>F1_score</a:t>
            </a:r>
            <a:r>
              <a:rPr lang="zh-CN" altLang="en-US"/>
              <a:t>）。</a:t>
            </a:r>
            <a:endParaRPr lang="zh-CN" altLang="en-US"/>
          </a:p>
          <a:p>
            <a:r>
              <a:rPr lang="zh-CN" altLang="en-US"/>
              <a:t>定义一个</a:t>
            </a:r>
            <a:r>
              <a:rPr lang="en-US" altLang="zh-CN"/>
              <a:t> train_fuc </a:t>
            </a:r>
            <a:r>
              <a:rPr lang="zh-CN" altLang="en-US"/>
              <a:t>函数，它接受多个参数，包括最大词汇数</a:t>
            </a:r>
            <a:r>
              <a:rPr lang="en-US" altLang="zh-CN"/>
              <a:t> max_words</a:t>
            </a:r>
            <a:r>
              <a:rPr lang="zh-CN" altLang="en-US"/>
              <a:t>、模型类型</a:t>
            </a:r>
            <a:r>
              <a:rPr lang="en-US" altLang="zh-CN"/>
              <a:t> mode</a:t>
            </a:r>
            <a:r>
              <a:rPr lang="zh-CN" altLang="en-US"/>
              <a:t>、批量大小</a:t>
            </a:r>
            <a:r>
              <a:rPr lang="en-US" altLang="zh-CN"/>
              <a:t> batch_size</a:t>
            </a:r>
            <a:r>
              <a:rPr lang="zh-CN" altLang="en-US"/>
              <a:t>、训练轮数</a:t>
            </a:r>
            <a:r>
              <a:rPr lang="en-US" altLang="zh-CN"/>
              <a:t> epochs</a:t>
            </a:r>
            <a:r>
              <a:rPr lang="zh-CN" altLang="en-US"/>
              <a:t>、隐藏层维度</a:t>
            </a:r>
            <a:r>
              <a:rPr lang="en-US" altLang="zh-CN"/>
              <a:t> hidden_dim</a:t>
            </a:r>
            <a:r>
              <a:rPr lang="zh-CN" altLang="en-US"/>
              <a:t>、是否显示损失曲线</a:t>
            </a:r>
            <a:r>
              <a:rPr lang="en-US" altLang="zh-CN"/>
              <a:t> show_loss </a:t>
            </a:r>
            <a:r>
              <a:rPr lang="zh-CN" altLang="en-US"/>
              <a:t>和是否显示混淆矩阵</a:t>
            </a:r>
            <a:r>
              <a:rPr lang="en-US" altLang="zh-CN"/>
              <a:t> show_confusion_matrix</a:t>
            </a:r>
            <a:r>
              <a:rPr lang="zh-CN" altLang="en-US"/>
              <a:t>。</a:t>
            </a:r>
            <a:endParaRPr lang="zh-CN" altLang="en-US"/>
          </a:p>
          <a:p>
            <a:r>
              <a:rPr lang="zh-CN" altLang="en-US"/>
              <a:t>在这个函数里调用</a:t>
            </a:r>
            <a:r>
              <a:rPr lang="en-US" altLang="zh-CN"/>
              <a:t> build_model </a:t>
            </a:r>
            <a:r>
              <a:rPr lang="zh-CN" altLang="en-US"/>
              <a:t>函数创建模型实例。并用</a:t>
            </a:r>
            <a:r>
              <a:rPr lang="en-US" altLang="zh-CN"/>
              <a:t>keras.callbacks.EarlyStopping</a:t>
            </a:r>
            <a:r>
              <a:rPr lang="zh-CN" altLang="en-US"/>
              <a:t>创建早停函数，如果在验证集上的性能在连续</a:t>
            </a:r>
            <a:r>
              <a:rPr lang="en-US" altLang="zh-CN"/>
              <a:t>3</a:t>
            </a:r>
            <a:r>
              <a:rPr lang="zh-CN" altLang="en-US"/>
              <a:t>个</a:t>
            </a:r>
            <a:r>
              <a:rPr lang="en-US" altLang="zh-CN"/>
              <a:t>epoch</a:t>
            </a:r>
            <a:r>
              <a:rPr lang="zh-CN" altLang="en-US"/>
              <a:t>没有提升，则停止训练。</a:t>
            </a:r>
            <a:endParaRPr lang="zh-CN" altLang="en-US"/>
          </a:p>
          <a:p>
            <a:r>
              <a:rPr lang="zh-CN" altLang="en-US"/>
              <a:t>使用训练数据</a:t>
            </a:r>
            <a:r>
              <a:rPr lang="en-US" altLang="zh-CN"/>
              <a:t> X_train </a:t>
            </a:r>
            <a:r>
              <a:rPr lang="zh-CN" altLang="en-US"/>
              <a:t>和</a:t>
            </a:r>
            <a:r>
              <a:rPr lang="en-US" altLang="zh-CN"/>
              <a:t>Y_train </a:t>
            </a:r>
            <a:r>
              <a:rPr lang="zh-CN" altLang="en-US"/>
              <a:t>训练模型，并使用</a:t>
            </a:r>
            <a:r>
              <a:rPr lang="en-US" altLang="zh-CN"/>
              <a:t> EarlyStopping </a:t>
            </a:r>
            <a:r>
              <a:rPr lang="zh-CN" altLang="en-US"/>
              <a:t>回调。</a:t>
            </a:r>
            <a:endParaRPr lang="zh-CN" altLang="en-US"/>
          </a:p>
          <a:p>
            <a:r>
              <a:rPr lang="zh-CN" altLang="en-US"/>
              <a:t>每次训练后使用模型对验证集进行预测，得到每个类别的概率，</a:t>
            </a:r>
            <a:r>
              <a:rPr lang="zh-CN" altLang="en-US"/>
              <a:t>然后从概率矩阵中找到最大概率的索引，即预测的类别。</a:t>
            </a:r>
            <a:endParaRPr lang="zh-CN" altLang="en-US"/>
          </a:p>
          <a:p>
            <a:r>
              <a:rPr lang="zh-CN" altLang="en-US"/>
              <a:t>调用</a:t>
            </a:r>
            <a:r>
              <a:rPr lang="en-US" altLang="zh-CN"/>
              <a:t> evaluation </a:t>
            </a:r>
            <a:r>
              <a:rPr lang="zh-CN" altLang="en-US"/>
              <a:t>函数，传入真实</a:t>
            </a:r>
            <a:r>
              <a:rPr lang="en-US" altLang="zh-CN"/>
              <a:t> Y_test_original </a:t>
            </a:r>
            <a:r>
              <a:rPr lang="zh-CN" altLang="en-US"/>
              <a:t>和预测结果</a:t>
            </a:r>
            <a:r>
              <a:rPr lang="en-US" altLang="zh-CN"/>
              <a:t> pred</a:t>
            </a:r>
            <a:r>
              <a:rPr lang="zh-CN" altLang="en-US"/>
              <a:t>，并将结果转换为列表，计算出评估指标。</a:t>
            </a:r>
            <a:endParaRPr lang="zh-CN" altLang="en-US"/>
          </a:p>
          <a:p>
            <a:endParaRPr lang="zh-CN" altLang="en-US"/>
          </a:p>
          <a:p>
            <a:r>
              <a:rPr lang="zh-CN" altLang="en-US"/>
              <a:t>函数定义好后，初始化完参数就可以开始</a:t>
            </a:r>
            <a:r>
              <a:rPr lang="zh-CN" altLang="en-US"/>
              <a:t>训练啦：</a:t>
            </a:r>
            <a:endParaRPr lang="zh-CN" altLang="en-US"/>
          </a:p>
          <a:p>
            <a:r>
              <a:rPr lang="en-US" altLang="zh-CN"/>
              <a:t>top_words=140000</a:t>
            </a:r>
            <a:endParaRPr lang="en-US" altLang="zh-CN"/>
          </a:p>
          <a:p>
            <a:r>
              <a:rPr lang="en-US" altLang="zh-CN"/>
              <a:t>max_words=40</a:t>
            </a:r>
            <a:endParaRPr lang="en-US" altLang="zh-CN"/>
          </a:p>
          <a:p>
            <a:r>
              <a:rPr lang="en-US" altLang="zh-CN"/>
              <a:t>batch_size=32</a:t>
            </a:r>
            <a:endParaRPr lang="en-US" altLang="zh-CN"/>
          </a:p>
          <a:p>
            <a:r>
              <a:rPr lang="en-US" altLang="zh-CN"/>
              <a:t>epochs=8</a:t>
            </a:r>
            <a:endParaRPr lang="en-US" altLang="zh-CN"/>
          </a:p>
          <a:p>
            <a:r>
              <a:rPr lang="en-US" altLang="zh-CN"/>
              <a:t>hidden_dim=[128]</a:t>
            </a:r>
            <a:endParaRPr lang="en-US" altLang="zh-CN"/>
          </a:p>
          <a:p>
            <a:r>
              <a:rPr lang="en-US" altLang="zh-CN"/>
              <a:t>show_confusion_matrix=True</a:t>
            </a:r>
            <a:endParaRPr lang="en-US" altLang="zh-CN"/>
          </a:p>
          <a:p>
            <a:r>
              <a:rPr lang="en-US" altLang="zh-CN"/>
              <a:t>show_loss=True</a:t>
            </a:r>
            <a:endParaRPr lang="en-US" altLang="zh-CN"/>
          </a:p>
          <a:p>
            <a:endParaRPr lang="en-US" altLang="zh-CN"/>
          </a:p>
          <a:p>
            <a:r>
              <a:rPr lang="en-US" altLang="zh-CN"/>
              <a:t>train_fuc(mode='RNN',batch_size=batch_size,epochs=8)</a:t>
            </a:r>
            <a:endParaRPr lang="en-US" altLang="zh-CN"/>
          </a:p>
          <a:p>
            <a:r>
              <a:rPr lang="en-US" altLang="zh-CN"/>
              <a:t>train_fuc(mode='MLP',epochs=epochs)</a:t>
            </a:r>
            <a:endParaRPr lang="en-US" altLang="zh-CN"/>
          </a:p>
          <a:p>
            <a:r>
              <a:rPr lang="en-US" altLang="zh-CN"/>
              <a:t>train_fuc(mode='CNN',epochs=epochs)</a:t>
            </a:r>
            <a:endParaRPr lang="en-US" altLang="zh-CN"/>
          </a:p>
          <a:p>
            <a:r>
              <a:rPr lang="en-US" altLang="zh-CN"/>
              <a:t>train_fuc(mode='LSTM',epochs=epochs)</a:t>
            </a:r>
            <a:endParaRPr lang="en-US" altLang="zh-CN"/>
          </a:p>
          <a:p>
            <a:r>
              <a:rPr lang="en-US" altLang="zh-CN"/>
              <a:t>train_fuc(mode='GRU',epochs=epochs)</a:t>
            </a:r>
            <a:endParaRPr lang="en-US" altLang="zh-CN"/>
          </a:p>
          <a:p>
            <a:r>
              <a:rPr lang="en-US" altLang="zh-CN"/>
              <a:t>......</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5683" y="-1072367"/>
            <a:ext cx="6120512" cy="2812536"/>
          </a:xfrm>
          <a:custGeom>
            <a:avLst/>
            <a:gdLst/>
            <a:ahLst/>
            <a:cxnLst/>
            <a:rect l="l" t="t" r="r" b="b"/>
            <a:pathLst>
              <a:path w="6120512" h="2812536">
                <a:moveTo>
                  <a:pt x="0" y="0"/>
                </a:moveTo>
                <a:lnTo>
                  <a:pt x="6120512" y="0"/>
                </a:lnTo>
                <a:lnTo>
                  <a:pt x="6120512" y="2812536"/>
                </a:lnTo>
                <a:lnTo>
                  <a:pt x="0" y="281253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300374" y="-569273"/>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2381475" y="-841578"/>
            <a:ext cx="5116048" cy="2350958"/>
          </a:xfrm>
          <a:custGeom>
            <a:avLst/>
            <a:gdLst/>
            <a:ahLst/>
            <a:cxnLst/>
            <a:rect l="l" t="t" r="r" b="b"/>
            <a:pathLst>
              <a:path w="5116048" h="2350958">
                <a:moveTo>
                  <a:pt x="5116048" y="2350958"/>
                </a:moveTo>
                <a:lnTo>
                  <a:pt x="0" y="2350958"/>
                </a:lnTo>
                <a:lnTo>
                  <a:pt x="0" y="0"/>
                </a:lnTo>
                <a:lnTo>
                  <a:pt x="5116048" y="0"/>
                </a:lnTo>
                <a:lnTo>
                  <a:pt x="5116048" y="235095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58484">
            <a:off x="14160944" y="8243010"/>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58484">
            <a:off x="13092655" y="9381375"/>
            <a:ext cx="5877557" cy="2700891"/>
          </a:xfrm>
          <a:custGeom>
            <a:avLst/>
            <a:gdLst/>
            <a:ahLst/>
            <a:cxnLst/>
            <a:rect l="l" t="t" r="r" b="b"/>
            <a:pathLst>
              <a:path w="5877557" h="2700891">
                <a:moveTo>
                  <a:pt x="0" y="0"/>
                </a:moveTo>
                <a:lnTo>
                  <a:pt x="5877557" y="0"/>
                </a:lnTo>
                <a:lnTo>
                  <a:pt x="5877557" y="2700891"/>
                </a:lnTo>
                <a:lnTo>
                  <a:pt x="0" y="27008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450764">
            <a:off x="11876537" y="9462018"/>
            <a:ext cx="7032820" cy="3231765"/>
          </a:xfrm>
          <a:custGeom>
            <a:avLst/>
            <a:gdLst/>
            <a:ahLst/>
            <a:cxnLst/>
            <a:rect l="l" t="t" r="r" b="b"/>
            <a:pathLst>
              <a:path w="7032820" h="3231765">
                <a:moveTo>
                  <a:pt x="0" y="0"/>
                </a:moveTo>
                <a:lnTo>
                  <a:pt x="7032820" y="0"/>
                </a:lnTo>
                <a:lnTo>
                  <a:pt x="7032820" y="3231765"/>
                </a:lnTo>
                <a:lnTo>
                  <a:pt x="0" y="32317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228600" y="114300"/>
            <a:ext cx="4217670" cy="815340"/>
          </a:xfrm>
          <a:prstGeom prst="rect">
            <a:avLst/>
          </a:prstGeom>
        </p:spPr>
        <p:txBody>
          <a:bodyPr wrap="square" lIns="0" tIns="0" rIns="0" bIns="0" rtlCol="0" anchor="t">
            <a:spAutoFit/>
          </a:bodyPr>
          <a:lstStyle/>
          <a:p>
            <a:pPr algn="ctr">
              <a:lnSpc>
                <a:spcPts val="6360"/>
              </a:lnSpc>
            </a:pPr>
            <a:r>
              <a:rPr lang="zh-CN" altLang="en-US" sz="5300">
                <a:solidFill>
                  <a:srgbClr val="100F0D"/>
                </a:solidFill>
                <a:latin typeface="金山云技术体" charset="-122"/>
                <a:ea typeface="金山云技术体" charset="-122"/>
                <a:cs typeface="字由点字倔强黑" panose="00020600040101010101" charset="-122"/>
                <a:sym typeface="字由点字倔强黑" panose="00020600040101010101" charset="-122"/>
              </a:rPr>
              <a:t>训练结果</a:t>
            </a:r>
            <a:endParaRPr lang="zh-CN" altLang="en-US" sz="5300">
              <a:solidFill>
                <a:srgbClr val="100F0D"/>
              </a:solidFill>
              <a:latin typeface="金山云技术体" charset="-122"/>
              <a:ea typeface="金山云技术体" charset="-122"/>
              <a:cs typeface="字由点字倔强黑" panose="00020600040101010101" charset="-122"/>
              <a:sym typeface="字由点字倔强黑" panose="00020600040101010101" charset="-122"/>
            </a:endParaRPr>
          </a:p>
        </p:txBody>
      </p:sp>
      <p:grpSp>
        <p:nvGrpSpPr>
          <p:cNvPr id="9" name="Group 9"/>
          <p:cNvGrpSpPr/>
          <p:nvPr/>
        </p:nvGrpSpPr>
        <p:grpSpPr>
          <a:xfrm rot="0">
            <a:off x="280035" y="3772535"/>
            <a:ext cx="17250410" cy="6087110"/>
            <a:chOff x="0" y="-34896"/>
            <a:chExt cx="806117" cy="361830"/>
          </a:xfrm>
          <a:solidFill>
            <a:schemeClr val="accent5">
              <a:lumMod val="20000"/>
              <a:lumOff val="80000"/>
            </a:schemeClr>
          </a:solidFill>
        </p:grpSpPr>
        <p:sp>
          <p:nvSpPr>
            <p:cNvPr id="10" name="Freeform 10"/>
            <p:cNvSpPr/>
            <p:nvPr/>
          </p:nvSpPr>
          <p:spPr>
            <a:xfrm>
              <a:off x="0" y="0"/>
              <a:ext cx="806117" cy="326933"/>
            </a:xfrm>
            <a:custGeom>
              <a:avLst/>
              <a:gdLst/>
              <a:ahLst/>
              <a:cxnLst/>
              <a:rect l="l" t="t" r="r" b="b"/>
              <a:pathLst>
                <a:path w="806117" h="326933">
                  <a:moveTo>
                    <a:pt x="0" y="0"/>
                  </a:moveTo>
                  <a:lnTo>
                    <a:pt x="806117" y="0"/>
                  </a:lnTo>
                  <a:lnTo>
                    <a:pt x="806117" y="326933"/>
                  </a:lnTo>
                  <a:lnTo>
                    <a:pt x="0" y="326933"/>
                  </a:lnTo>
                  <a:close/>
                </a:path>
              </a:pathLst>
            </a:custGeom>
            <a:grpFill/>
            <a:ln cap="sq">
              <a:noFill/>
              <a:prstDash val="solid"/>
              <a:miter/>
            </a:ln>
          </p:spPr>
        </p:sp>
        <p:sp>
          <p:nvSpPr>
            <p:cNvPr id="11" name="TextBox 11"/>
            <p:cNvSpPr txBox="1"/>
            <p:nvPr/>
          </p:nvSpPr>
          <p:spPr>
            <a:xfrm>
              <a:off x="0" y="-34896"/>
              <a:ext cx="806117" cy="361830"/>
            </a:xfrm>
            <a:prstGeom prst="rect">
              <a:avLst/>
            </a:prstGeom>
            <a:grpFill/>
          </p:spPr>
          <p:txBody>
            <a:bodyPr lIns="50800" tIns="50800" rIns="50800" bIns="50800" rtlCol="0" anchor="ctr"/>
            <a:lstStyle/>
            <a:p>
              <a:pPr marL="0" lvl="0" indent="0" algn="ctr">
                <a:lnSpc>
                  <a:spcPts val="2660"/>
                </a:lnSpc>
                <a:spcBef>
                  <a:spcPct val="0"/>
                </a:spcBef>
              </a:pPr>
            </a:p>
          </p:txBody>
        </p:sp>
      </p:grpSp>
      <p:grpSp>
        <p:nvGrpSpPr>
          <p:cNvPr id="13" name="Group 13"/>
          <p:cNvGrpSpPr/>
          <p:nvPr/>
        </p:nvGrpSpPr>
        <p:grpSpPr>
          <a:xfrm rot="0">
            <a:off x="304800" y="3840480"/>
            <a:ext cx="5052695" cy="647700"/>
            <a:chOff x="0" y="0"/>
            <a:chExt cx="3839781" cy="170562"/>
          </a:xfrm>
        </p:grpSpPr>
        <p:sp>
          <p:nvSpPr>
            <p:cNvPr id="14" name="Freeform 14"/>
            <p:cNvSpPr/>
            <p:nvPr/>
          </p:nvSpPr>
          <p:spPr>
            <a:xfrm>
              <a:off x="0" y="0"/>
              <a:ext cx="3839781" cy="170562"/>
            </a:xfrm>
            <a:custGeom>
              <a:avLst/>
              <a:gdLst/>
              <a:ahLst/>
              <a:cxnLst/>
              <a:rect l="l" t="t" r="r" b="b"/>
              <a:pathLst>
                <a:path w="3839781" h="170562">
                  <a:moveTo>
                    <a:pt x="0" y="0"/>
                  </a:moveTo>
                  <a:lnTo>
                    <a:pt x="3839781" y="0"/>
                  </a:lnTo>
                  <a:lnTo>
                    <a:pt x="3839781" y="170562"/>
                  </a:lnTo>
                  <a:lnTo>
                    <a:pt x="0" y="170562"/>
                  </a:lnTo>
                  <a:close/>
                </a:path>
              </a:pathLst>
            </a:custGeom>
            <a:solidFill>
              <a:srgbClr val="5B7396"/>
            </a:solidFill>
          </p:spPr>
        </p:sp>
        <p:sp>
          <p:nvSpPr>
            <p:cNvPr id="15" name="TextBox 15"/>
            <p:cNvSpPr txBox="1"/>
            <p:nvPr/>
          </p:nvSpPr>
          <p:spPr>
            <a:xfrm>
              <a:off x="0" y="-38100"/>
              <a:ext cx="3839781" cy="208662"/>
            </a:xfrm>
            <a:prstGeom prst="rect">
              <a:avLst/>
            </a:prstGeom>
          </p:spPr>
          <p:txBody>
            <a:bodyPr lIns="50800" tIns="50800" rIns="50800" bIns="50800" rtlCol="0" anchor="ctr"/>
            <a:lstStyle/>
            <a:p>
              <a:pPr algn="ctr">
                <a:lnSpc>
                  <a:spcPts val="2660"/>
                </a:lnSpc>
                <a:spcBef>
                  <a:spcPct val="0"/>
                </a:spcBef>
              </a:pPr>
            </a:p>
          </p:txBody>
        </p:sp>
      </p:grpSp>
      <p:sp>
        <p:nvSpPr>
          <p:cNvPr id="16" name="TextBox 16"/>
          <p:cNvSpPr txBox="1"/>
          <p:nvPr/>
        </p:nvSpPr>
        <p:spPr>
          <a:xfrm>
            <a:off x="914400" y="3947160"/>
            <a:ext cx="3477895" cy="560070"/>
          </a:xfrm>
          <a:prstGeom prst="rect">
            <a:avLst/>
          </a:prstGeom>
        </p:spPr>
        <p:txBody>
          <a:bodyPr wrap="square" lIns="0" tIns="0" rIns="0" bIns="0" rtlCol="0" anchor="t">
            <a:spAutoFit/>
          </a:bodyPr>
          <a:lstStyle/>
          <a:p>
            <a:pPr algn="ctr">
              <a:lnSpc>
                <a:spcPts val="4370"/>
              </a:lnSpc>
            </a:pPr>
            <a:r>
              <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各模型训练效果</a:t>
            </a:r>
            <a:r>
              <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汇总</a:t>
            </a:r>
            <a:endParaRPr lang="zh-CN" alt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7" name="文本框 16"/>
          <p:cNvSpPr txBox="1"/>
          <p:nvPr/>
        </p:nvSpPr>
        <p:spPr>
          <a:xfrm>
            <a:off x="4495800" y="342900"/>
            <a:ext cx="9830435" cy="645160"/>
          </a:xfrm>
          <a:prstGeom prst="rect">
            <a:avLst/>
          </a:prstGeom>
          <a:noFill/>
        </p:spPr>
        <p:txBody>
          <a:bodyPr wrap="square" rtlCol="0">
            <a:spAutoFit/>
          </a:bodyPr>
          <a:p>
            <a:r>
              <a:rPr lang="zh-CN" altLang="en-US"/>
              <a:t>每个模型都会输出一个热力图和训练</a:t>
            </a:r>
            <a:r>
              <a:rPr lang="en-US" altLang="zh-CN"/>
              <a:t>loss</a:t>
            </a:r>
            <a:r>
              <a:rPr lang="zh-CN" altLang="en-US"/>
              <a:t>、</a:t>
            </a:r>
            <a:r>
              <a:rPr lang="en-US" altLang="zh-CN"/>
              <a:t>acc</a:t>
            </a:r>
            <a:r>
              <a:rPr lang="zh-CN" altLang="en-US"/>
              <a:t>变化曲线，以</a:t>
            </a:r>
            <a:r>
              <a:rPr lang="en-US" altLang="zh-CN"/>
              <a:t>rnn</a:t>
            </a:r>
            <a:r>
              <a:rPr lang="zh-CN" altLang="en-US"/>
              <a:t>为例，其余不再</a:t>
            </a:r>
            <a:r>
              <a:rPr lang="zh-CN" altLang="en-US"/>
              <a:t>展示：</a:t>
            </a:r>
            <a:br>
              <a:rPr lang="zh-CN" altLang="en-US"/>
            </a:br>
            <a:endParaRPr lang="zh-CN" altLang="en-US"/>
          </a:p>
        </p:txBody>
      </p:sp>
      <p:pic>
        <p:nvPicPr>
          <p:cNvPr id="18" name="图片 17" descr="2"/>
          <p:cNvPicPr>
            <a:picLocks noChangeAspect="1"/>
          </p:cNvPicPr>
          <p:nvPr/>
        </p:nvPicPr>
        <p:blipFill>
          <a:blip r:embed="rId7"/>
          <a:srcRect l="1302" t="2257" r="6250" b="2257"/>
          <a:stretch>
            <a:fillRect/>
          </a:stretch>
        </p:blipFill>
        <p:spPr>
          <a:xfrm>
            <a:off x="4114800" y="647700"/>
            <a:ext cx="4149725" cy="3214370"/>
          </a:xfrm>
          <a:prstGeom prst="rect">
            <a:avLst/>
          </a:prstGeom>
        </p:spPr>
      </p:pic>
      <p:pic>
        <p:nvPicPr>
          <p:cNvPr id="19" name="图片 18" descr="Figure_1"/>
          <p:cNvPicPr>
            <a:picLocks noChangeAspect="1"/>
          </p:cNvPicPr>
          <p:nvPr/>
        </p:nvPicPr>
        <p:blipFill>
          <a:blip r:embed="rId8"/>
          <a:stretch>
            <a:fillRect/>
          </a:stretch>
        </p:blipFill>
        <p:spPr>
          <a:xfrm>
            <a:off x="8839200" y="723900"/>
            <a:ext cx="9025255" cy="2743200"/>
          </a:xfrm>
          <a:prstGeom prst="rect">
            <a:avLst/>
          </a:prstGeom>
        </p:spPr>
      </p:pic>
      <p:graphicFrame>
        <p:nvGraphicFramePr>
          <p:cNvPr id="20" name="表格 19"/>
          <p:cNvGraphicFramePr/>
          <p:nvPr>
            <p:custDataLst>
              <p:tags r:id="rId9"/>
            </p:custDataLst>
          </p:nvPr>
        </p:nvGraphicFramePr>
        <p:xfrm>
          <a:off x="685800" y="4686300"/>
          <a:ext cx="15485745" cy="1905000"/>
        </p:xfrm>
        <a:graphic>
          <a:graphicData uri="http://schemas.openxmlformats.org/drawingml/2006/table">
            <a:tbl>
              <a:tblPr firstRow="1" bandRow="1">
                <a:tableStyleId>{5C22544A-7EE6-4342-B048-85BDC9FD1C3A}</a:tableStyleId>
              </a:tblPr>
              <a:tblGrid>
                <a:gridCol w="1407795"/>
                <a:gridCol w="1407795"/>
                <a:gridCol w="1407795"/>
                <a:gridCol w="1407795"/>
                <a:gridCol w="1407795"/>
                <a:gridCol w="1407795"/>
                <a:gridCol w="1407795"/>
                <a:gridCol w="1407795"/>
                <a:gridCol w="1407795"/>
                <a:gridCol w="1407795"/>
                <a:gridCol w="1407795"/>
              </a:tblGrid>
              <a:tr h="381000">
                <a:tc>
                  <a:txBody>
                    <a:bodyPr/>
                    <a:p>
                      <a:pPr>
                        <a:buNone/>
                      </a:pPr>
                      <a:endParaRPr lang="zh-CN" altLang="en-US"/>
                    </a:p>
                  </a:txBody>
                  <a:tcPr/>
                </a:tc>
                <a:tc>
                  <a:txBody>
                    <a:bodyPr/>
                    <a:p>
                      <a:pPr>
                        <a:buNone/>
                      </a:pPr>
                      <a:r>
                        <a:rPr lang="en-US" altLang="zh-CN"/>
                        <a:t>RNN</a:t>
                      </a:r>
                      <a:endParaRPr lang="en-US" altLang="zh-CN"/>
                    </a:p>
                  </a:txBody>
                  <a:tcPr/>
                </a:tc>
                <a:tc>
                  <a:txBody>
                    <a:bodyPr/>
                    <a:p>
                      <a:pPr>
                        <a:buNone/>
                      </a:pPr>
                      <a:r>
                        <a:rPr lang="en-US" altLang="zh-CN"/>
                        <a:t>MLP</a:t>
                      </a:r>
                      <a:endParaRPr lang="en-US" altLang="zh-CN"/>
                    </a:p>
                  </a:txBody>
                  <a:tcPr/>
                </a:tc>
                <a:tc>
                  <a:txBody>
                    <a:bodyPr/>
                    <a:p>
                      <a:pPr>
                        <a:buNone/>
                      </a:pPr>
                      <a:r>
                        <a:rPr lang="en-US" altLang="zh-CN"/>
                        <a:t>CNN</a:t>
                      </a:r>
                      <a:endParaRPr lang="en-US" altLang="zh-CN"/>
                    </a:p>
                  </a:txBody>
                  <a:tcPr/>
                </a:tc>
                <a:tc>
                  <a:txBody>
                    <a:bodyPr/>
                    <a:p>
                      <a:pPr>
                        <a:buNone/>
                      </a:pPr>
                      <a:r>
                        <a:rPr lang="en-US" altLang="zh-CN"/>
                        <a:t>LSTM</a:t>
                      </a:r>
                      <a:endParaRPr lang="en-US" altLang="zh-CN"/>
                    </a:p>
                  </a:txBody>
                  <a:tcPr/>
                </a:tc>
                <a:tc>
                  <a:txBody>
                    <a:bodyPr/>
                    <a:p>
                      <a:pPr>
                        <a:buNone/>
                      </a:pPr>
                      <a:r>
                        <a:rPr lang="en-US" altLang="zh-CN"/>
                        <a:t>GRU</a:t>
                      </a:r>
                      <a:endParaRPr lang="en-US" altLang="zh-CN"/>
                    </a:p>
                  </a:txBody>
                  <a:tcPr/>
                </a:tc>
                <a:tc>
                  <a:txBody>
                    <a:bodyPr/>
                    <a:p>
                      <a:pPr>
                        <a:buNone/>
                      </a:pPr>
                      <a:r>
                        <a:rPr lang="en-US" altLang="zh-CN"/>
                        <a:t>CNN+LSTM</a:t>
                      </a:r>
                      <a:endParaRPr lang="en-US" altLang="zh-CN"/>
                    </a:p>
                  </a:txBody>
                  <a:tcPr/>
                </a:tc>
                <a:tc>
                  <a:txBody>
                    <a:bodyPr/>
                    <a:p>
                      <a:pPr>
                        <a:buNone/>
                      </a:pPr>
                      <a:r>
                        <a:rPr lang="en-US" altLang="zh-CN"/>
                        <a:t>BiLSTM</a:t>
                      </a:r>
                      <a:endParaRPr lang="en-US" altLang="zh-CN"/>
                    </a:p>
                  </a:txBody>
                  <a:tcPr/>
                </a:tc>
                <a:tc>
                  <a:txBody>
                    <a:bodyPr/>
                    <a:p>
                      <a:pPr>
                        <a:buNone/>
                      </a:pPr>
                      <a:r>
                        <a:rPr lang="en-US" altLang="zh-CN"/>
                        <a:t>TextCNN</a:t>
                      </a:r>
                      <a:endParaRPr lang="en-US" altLang="zh-CN"/>
                    </a:p>
                  </a:txBody>
                  <a:tcPr/>
                </a:tc>
                <a:tc>
                  <a:txBody>
                    <a:bodyPr/>
                    <a:p>
                      <a:pPr>
                        <a:buNone/>
                      </a:pPr>
                      <a:r>
                        <a:rPr lang="en-US" altLang="zh-CN"/>
                        <a:t>Transformer</a:t>
                      </a:r>
                      <a:endParaRPr lang="en-US" altLang="zh-CN"/>
                    </a:p>
                  </a:txBody>
                  <a:tcPr/>
                </a:tc>
                <a:tc>
                  <a:txBody>
                    <a:bodyPr/>
                    <a:p>
                      <a:pPr>
                        <a:buNone/>
                      </a:pPr>
                      <a:r>
                        <a:rPr lang="en-US" altLang="zh-CN"/>
                        <a:t>PositionalEmbedding+Transformer</a:t>
                      </a:r>
                      <a:endParaRPr lang="en-US" altLang="zh-CN"/>
                    </a:p>
                  </a:txBody>
                  <a:tcPr/>
                </a:tc>
              </a:tr>
              <a:tr h="381000">
                <a:tc>
                  <a:txBody>
                    <a:bodyPr/>
                    <a:p>
                      <a:pPr>
                        <a:buNone/>
                      </a:pPr>
                      <a:r>
                        <a:rPr lang="en-US" altLang="zh-CN"/>
                        <a:t>accuracy </a:t>
                      </a:r>
                      <a:endParaRPr lang="en-US" altLang="zh-CN"/>
                    </a:p>
                  </a:txBody>
                  <a:tcPr/>
                </a:tc>
                <a:tc>
                  <a:txBody>
                    <a:bodyPr/>
                    <a:p>
                      <a:pPr>
                        <a:buNone/>
                      </a:pPr>
                      <a:r>
                        <a:rPr lang="en-US" altLang="zh-CN"/>
                        <a:t>0.8855</a:t>
                      </a:r>
                      <a:endParaRPr lang="en-US" altLang="zh-CN"/>
                    </a:p>
                  </a:txBody>
                  <a:tcPr/>
                </a:tc>
                <a:tc>
                  <a:txBody>
                    <a:bodyPr/>
                    <a:p>
                      <a:pPr>
                        <a:buNone/>
                      </a:pPr>
                      <a:r>
                        <a:rPr lang="en-US" altLang="zh-CN"/>
                        <a:t>0.8945</a:t>
                      </a:r>
                      <a:endParaRPr lang="en-US" altLang="zh-CN"/>
                    </a:p>
                  </a:txBody>
                  <a:tcPr/>
                </a:tc>
                <a:tc>
                  <a:txBody>
                    <a:bodyPr/>
                    <a:p>
                      <a:pPr>
                        <a:buNone/>
                      </a:pPr>
                      <a:r>
                        <a:rPr lang="en-US" altLang="zh-CN"/>
                        <a:t>0.8929</a:t>
                      </a:r>
                      <a:endParaRPr lang="en-US" altLang="zh-CN"/>
                    </a:p>
                  </a:txBody>
                  <a:tcPr/>
                </a:tc>
                <a:tc>
                  <a:txBody>
                    <a:bodyPr/>
                    <a:p>
                      <a:pPr>
                        <a:buNone/>
                      </a:pPr>
                      <a:r>
                        <a:rPr lang="en-US" altLang="zh-CN"/>
                        <a:t>0.8921</a:t>
                      </a:r>
                      <a:endParaRPr lang="en-US" altLang="zh-CN"/>
                    </a:p>
                  </a:txBody>
                  <a:tcPr/>
                </a:tc>
                <a:tc>
                  <a:txBody>
                    <a:bodyPr/>
                    <a:p>
                      <a:pPr>
                        <a:buNone/>
                      </a:pPr>
                      <a:r>
                        <a:rPr lang="en-US" altLang="zh-CN"/>
                        <a:t>0.8957</a:t>
                      </a:r>
                      <a:endParaRPr lang="en-US" altLang="zh-CN"/>
                    </a:p>
                  </a:txBody>
                  <a:tcPr/>
                </a:tc>
                <a:tc>
                  <a:txBody>
                    <a:bodyPr/>
                    <a:p>
                      <a:pPr>
                        <a:buNone/>
                      </a:pPr>
                      <a:r>
                        <a:rPr lang="en-US" altLang="zh-CN"/>
                        <a:t>0.8920</a:t>
                      </a:r>
                      <a:endParaRPr lang="en-US" altLang="zh-CN"/>
                    </a:p>
                  </a:txBody>
                  <a:tcPr/>
                </a:tc>
                <a:tc>
                  <a:txBody>
                    <a:bodyPr/>
                    <a:p>
                      <a:pPr>
                        <a:buNone/>
                      </a:pPr>
                      <a:r>
                        <a:rPr lang="en-US" altLang="zh-CN"/>
                        <a:t>0.8923</a:t>
                      </a:r>
                      <a:endParaRPr lang="en-US" altLang="zh-CN"/>
                    </a:p>
                  </a:txBody>
                  <a:tcPr/>
                </a:tc>
                <a:tc>
                  <a:txBody>
                    <a:bodyPr/>
                    <a:p>
                      <a:pPr>
                        <a:buNone/>
                      </a:pPr>
                      <a:r>
                        <a:rPr lang="en-US" altLang="zh-CN"/>
                        <a:t>0.8889</a:t>
                      </a:r>
                      <a:endParaRPr lang="en-US" altLang="zh-CN"/>
                    </a:p>
                  </a:txBody>
                  <a:tcPr/>
                </a:tc>
                <a:tc>
                  <a:txBody>
                    <a:bodyPr/>
                    <a:p>
                      <a:pPr>
                        <a:buNone/>
                      </a:pPr>
                      <a:r>
                        <a:rPr lang="en-US" altLang="zh-CN"/>
                        <a:t>0.8895</a:t>
                      </a:r>
                      <a:endParaRPr lang="en-US" altLang="zh-CN"/>
                    </a:p>
                  </a:txBody>
                  <a:tcPr/>
                </a:tc>
                <a:tc>
                  <a:txBody>
                    <a:bodyPr/>
                    <a:p>
                      <a:pPr>
                        <a:buNone/>
                      </a:pPr>
                      <a:r>
                        <a:rPr lang="en-US" altLang="zh-CN"/>
                        <a:t>0.8905</a:t>
                      </a:r>
                      <a:endParaRPr lang="en-US" altLang="zh-CN"/>
                    </a:p>
                  </a:txBody>
                  <a:tcPr/>
                </a:tc>
              </a:tr>
              <a:tr h="381000">
                <a:tc>
                  <a:txBody>
                    <a:bodyPr/>
                    <a:p>
                      <a:pPr>
                        <a:buNone/>
                      </a:pPr>
                      <a:r>
                        <a:rPr lang="en-US" altLang="zh-CN"/>
                        <a:t>recall</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0.90</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r>
              <a:tr h="381000">
                <a:tc>
                  <a:txBody>
                    <a:bodyPr/>
                    <a:p>
                      <a:pPr>
                        <a:buNone/>
                      </a:pPr>
                      <a:r>
                        <a:rPr lang="en-US" altLang="zh-CN"/>
                        <a:t>f1-score</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0.90</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c>
                  <a:txBody>
                    <a:bodyPr/>
                    <a:p>
                      <a:pPr>
                        <a:buNone/>
                      </a:pPr>
                      <a:r>
                        <a:rPr lang="en-US" altLang="zh-CN"/>
                        <a:t>0.89</a:t>
                      </a:r>
                      <a:endParaRPr lang="en-US" altLang="zh-CN"/>
                    </a:p>
                  </a:txBody>
                  <a:tcPr/>
                </a:tc>
              </a:tr>
              <a:tr h="381000">
                <a:tc>
                  <a:txBody>
                    <a:bodyPr/>
                    <a:p>
                      <a:pPr>
                        <a:buNone/>
                      </a:pPr>
                      <a:r>
                        <a:rPr lang="zh-CN" altLang="en-US"/>
                        <a:t>科恩</a:t>
                      </a:r>
                      <a:r>
                        <a:rPr lang="en-US" altLang="zh-CN"/>
                        <a:t>Kappa</a:t>
                      </a:r>
                      <a:endParaRPr lang="en-US" altLang="zh-CN"/>
                    </a:p>
                  </a:txBody>
                  <a:tcPr/>
                </a:tc>
                <a:tc>
                  <a:txBody>
                    <a:bodyPr/>
                    <a:p>
                      <a:pPr>
                        <a:buNone/>
                      </a:pPr>
                      <a:r>
                        <a:rPr lang="en-US" altLang="zh-CN"/>
                        <a:t>0.8768</a:t>
                      </a:r>
                      <a:endParaRPr lang="en-US" altLang="zh-CN"/>
                    </a:p>
                  </a:txBody>
                  <a:tcPr/>
                </a:tc>
                <a:tc>
                  <a:txBody>
                    <a:bodyPr/>
                    <a:p>
                      <a:pPr>
                        <a:buNone/>
                      </a:pPr>
                      <a:r>
                        <a:rPr lang="en-US" altLang="zh-CN"/>
                        <a:t>0.8865</a:t>
                      </a:r>
                      <a:endParaRPr lang="en-US" altLang="zh-CN"/>
                    </a:p>
                  </a:txBody>
                  <a:tcPr/>
                </a:tc>
                <a:tc>
                  <a:txBody>
                    <a:bodyPr/>
                    <a:p>
                      <a:pPr>
                        <a:buNone/>
                      </a:pPr>
                      <a:r>
                        <a:rPr lang="en-US" altLang="zh-CN"/>
                        <a:t>0.8848</a:t>
                      </a:r>
                      <a:endParaRPr lang="en-US" altLang="zh-CN"/>
                    </a:p>
                  </a:txBody>
                  <a:tcPr/>
                </a:tc>
                <a:tc>
                  <a:txBody>
                    <a:bodyPr/>
                    <a:p>
                      <a:pPr>
                        <a:buNone/>
                      </a:pPr>
                      <a:r>
                        <a:rPr lang="en-US" altLang="zh-CN"/>
                        <a:t>0.8840</a:t>
                      </a:r>
                      <a:endParaRPr lang="en-US" altLang="zh-CN"/>
                    </a:p>
                  </a:txBody>
                  <a:tcPr/>
                </a:tc>
                <a:tc>
                  <a:txBody>
                    <a:bodyPr/>
                    <a:p>
                      <a:pPr>
                        <a:buNone/>
                      </a:pPr>
                      <a:r>
                        <a:rPr lang="en-US" altLang="zh-CN"/>
                        <a:t>0.8878</a:t>
                      </a:r>
                      <a:endParaRPr lang="en-US" altLang="zh-CN"/>
                    </a:p>
                  </a:txBody>
                  <a:tcPr/>
                </a:tc>
                <a:tc>
                  <a:txBody>
                    <a:bodyPr/>
                    <a:p>
                      <a:pPr>
                        <a:buNone/>
                      </a:pPr>
                      <a:r>
                        <a:rPr lang="en-US" altLang="zh-CN"/>
                        <a:t>0.8838</a:t>
                      </a:r>
                      <a:endParaRPr lang="en-US" altLang="zh-CN"/>
                    </a:p>
                  </a:txBody>
                  <a:tcPr/>
                </a:tc>
                <a:tc>
                  <a:txBody>
                    <a:bodyPr/>
                    <a:p>
                      <a:pPr>
                        <a:buNone/>
                      </a:pPr>
                      <a:r>
                        <a:rPr lang="en-US" altLang="zh-CN"/>
                        <a:t>0.8841</a:t>
                      </a:r>
                      <a:endParaRPr lang="en-US" altLang="zh-CN"/>
                    </a:p>
                  </a:txBody>
                  <a:tcPr/>
                </a:tc>
                <a:tc>
                  <a:txBody>
                    <a:bodyPr/>
                    <a:p>
                      <a:pPr>
                        <a:buNone/>
                      </a:pPr>
                      <a:r>
                        <a:rPr lang="en-US" altLang="zh-CN"/>
                        <a:t>0.8805</a:t>
                      </a:r>
                      <a:endParaRPr lang="en-US" altLang="zh-CN"/>
                    </a:p>
                  </a:txBody>
                  <a:tcPr/>
                </a:tc>
                <a:tc>
                  <a:txBody>
                    <a:bodyPr/>
                    <a:p>
                      <a:pPr>
                        <a:buNone/>
                      </a:pPr>
                      <a:r>
                        <a:rPr lang="en-US" altLang="zh-CN"/>
                        <a:t>0.8812</a:t>
                      </a:r>
                      <a:endParaRPr lang="en-US" altLang="zh-CN"/>
                    </a:p>
                  </a:txBody>
                  <a:tcPr/>
                </a:tc>
                <a:tc>
                  <a:txBody>
                    <a:bodyPr/>
                    <a:p>
                      <a:pPr>
                        <a:buNone/>
                      </a:pPr>
                      <a:r>
                        <a:rPr lang="en-US" altLang="zh-CN"/>
                        <a:t>0.8822</a:t>
                      </a:r>
                      <a:endParaRPr lang="en-US" altLang="zh-CN"/>
                    </a:p>
                  </a:txBody>
                  <a:tcPr/>
                </a:tc>
              </a:tr>
            </a:tbl>
          </a:graphicData>
        </a:graphic>
      </p:graphicFrame>
      <p:sp>
        <p:nvSpPr>
          <p:cNvPr id="22" name="文本框 21"/>
          <p:cNvSpPr txBox="1"/>
          <p:nvPr/>
        </p:nvSpPr>
        <p:spPr>
          <a:xfrm>
            <a:off x="970280" y="7402195"/>
            <a:ext cx="13736320" cy="1476375"/>
          </a:xfrm>
          <a:prstGeom prst="rect">
            <a:avLst/>
          </a:prstGeom>
          <a:noFill/>
        </p:spPr>
        <p:txBody>
          <a:bodyPr wrap="square" rtlCol="0">
            <a:spAutoFit/>
          </a:bodyPr>
          <a:p>
            <a:r>
              <a:rPr lang="zh-CN" altLang="en-US"/>
              <a:t>可以看出这些模型的性能在这个</a:t>
            </a:r>
            <a:r>
              <a:rPr lang="en-US" altLang="zh-CN"/>
              <a:t>NLP</a:t>
            </a:r>
            <a:r>
              <a:rPr lang="zh-CN" altLang="en-US"/>
              <a:t>项目里并没有太大的差距，除了</a:t>
            </a:r>
            <a:r>
              <a:rPr lang="en-US" altLang="zh-CN"/>
              <a:t>RNN</a:t>
            </a:r>
            <a:r>
              <a:rPr lang="zh-CN" altLang="en-US"/>
              <a:t>相较其他的较低外，其余几个模型的</a:t>
            </a:r>
            <a:r>
              <a:rPr lang="en-US" altLang="zh-CN"/>
              <a:t>acc</a:t>
            </a:r>
            <a:r>
              <a:rPr lang="zh-CN" altLang="en-US"/>
              <a:t>、</a:t>
            </a:r>
            <a:r>
              <a:rPr lang="en-US" altLang="zh-CN"/>
              <a:t>recall</a:t>
            </a:r>
            <a:r>
              <a:rPr lang="zh-CN" altLang="en-US"/>
              <a:t>、</a:t>
            </a:r>
            <a:r>
              <a:rPr lang="en-US" altLang="zh-CN"/>
              <a:t>f1-score</a:t>
            </a:r>
            <a:r>
              <a:rPr lang="zh-CN" altLang="en-US"/>
              <a:t>、</a:t>
            </a:r>
            <a:r>
              <a:rPr lang="en-US" altLang="zh-CN"/>
              <a:t>Kappa</a:t>
            </a:r>
            <a:r>
              <a:rPr lang="zh-CN" altLang="en-US"/>
              <a:t>并无</a:t>
            </a:r>
            <a:r>
              <a:rPr lang="zh-CN" altLang="en-US"/>
              <a:t>明显差别</a:t>
            </a:r>
            <a:endParaRPr lang="zh-CN" altLang="en-US"/>
          </a:p>
          <a:p>
            <a:r>
              <a:rPr lang="zh-CN" altLang="en-US"/>
              <a:t>不过真要区分，按</a:t>
            </a:r>
            <a:r>
              <a:rPr lang="en-US" altLang="zh-CN"/>
              <a:t>acc</a:t>
            </a:r>
            <a:r>
              <a:rPr lang="zh-CN" altLang="en-US"/>
              <a:t>，</a:t>
            </a:r>
            <a:r>
              <a:rPr lang="en-US" altLang="zh-CN"/>
              <a:t>GRU</a:t>
            </a:r>
            <a:r>
              <a:rPr lang="zh-CN" altLang="en-US"/>
              <a:t>、</a:t>
            </a:r>
            <a:r>
              <a:rPr lang="en-US" altLang="zh-CN"/>
              <a:t>MLP</a:t>
            </a:r>
            <a:r>
              <a:rPr lang="zh-CN" altLang="en-US"/>
              <a:t>、</a:t>
            </a:r>
            <a:r>
              <a:rPr lang="en-US" altLang="zh-CN"/>
              <a:t>CNN</a:t>
            </a:r>
            <a:r>
              <a:rPr lang="zh-CN" altLang="en-US"/>
              <a:t>、</a:t>
            </a:r>
            <a:r>
              <a:rPr lang="en-US" altLang="zh-CN"/>
              <a:t>LSTM</a:t>
            </a:r>
            <a:r>
              <a:rPr lang="zh-CN" altLang="en-US"/>
              <a:t>都很好；按科恩，也是</a:t>
            </a:r>
            <a:r>
              <a:rPr lang="en-US" altLang="zh-CN"/>
              <a:t>GRU</a:t>
            </a:r>
            <a:r>
              <a:rPr lang="zh-CN" altLang="en-US"/>
              <a:t>、</a:t>
            </a:r>
            <a:r>
              <a:rPr lang="en-US" altLang="zh-CN"/>
              <a:t>MLP</a:t>
            </a:r>
            <a:r>
              <a:rPr lang="zh-CN" altLang="en-US"/>
              <a:t>最佳。</a:t>
            </a:r>
            <a:endParaRPr lang="zh-CN" altLang="en-US"/>
          </a:p>
          <a:p>
            <a:r>
              <a:rPr lang="zh-CN" altLang="en-US"/>
              <a:t>不过加了位置编码的</a:t>
            </a:r>
            <a:r>
              <a:rPr lang="en-US" altLang="zh-CN"/>
              <a:t>transformer</a:t>
            </a:r>
            <a:r>
              <a:rPr lang="zh-CN" altLang="en-US"/>
              <a:t>效果也</a:t>
            </a:r>
            <a:r>
              <a:rPr lang="zh-CN" altLang="en-US"/>
              <a:t>不差。</a:t>
            </a:r>
            <a:endParaRPr lang="zh-CN" altLang="en-US"/>
          </a:p>
          <a:p>
            <a:r>
              <a:rPr lang="zh-CN" altLang="en-US"/>
              <a:t>训练好的模型后面就可以对测试集进行预测并按照格式保存在</a:t>
            </a:r>
            <a:r>
              <a:rPr lang="en-US" altLang="zh-CN"/>
              <a:t>csv</a:t>
            </a:r>
            <a:r>
              <a:rPr lang="zh-CN" altLang="en-US"/>
              <a:t>里，</a:t>
            </a:r>
            <a:r>
              <a:rPr lang="zh-CN" altLang="en-US"/>
              <a:t>此处不再赘述。</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11200883" y="477285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8834007" y="729498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44221" y="-2432130"/>
            <a:ext cx="13022180" cy="5984032"/>
          </a:xfrm>
          <a:custGeom>
            <a:avLst/>
            <a:gdLst/>
            <a:ahLst/>
            <a:cxnLst/>
            <a:rect l="l" t="t" r="r" b="b"/>
            <a:pathLst>
              <a:path w="13022180" h="5984032">
                <a:moveTo>
                  <a:pt x="0" y="0"/>
                </a:moveTo>
                <a:lnTo>
                  <a:pt x="13022180" y="0"/>
                </a:lnTo>
                <a:lnTo>
                  <a:pt x="13022180" y="5984033"/>
                </a:lnTo>
                <a:lnTo>
                  <a:pt x="0" y="59840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3957189" y="-1361733"/>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4129742" y="-1941097"/>
            <a:ext cx="10885053" cy="5001966"/>
          </a:xfrm>
          <a:custGeom>
            <a:avLst/>
            <a:gdLst/>
            <a:ahLst/>
            <a:cxnLst/>
            <a:rect l="l" t="t" r="r" b="b"/>
            <a:pathLst>
              <a:path w="10885053" h="5001966">
                <a:moveTo>
                  <a:pt x="10885053" y="5001967"/>
                </a:moveTo>
                <a:lnTo>
                  <a:pt x="0" y="5001967"/>
                </a:lnTo>
                <a:lnTo>
                  <a:pt x="0" y="0"/>
                </a:lnTo>
                <a:lnTo>
                  <a:pt x="10885053" y="0"/>
                </a:lnTo>
                <a:lnTo>
                  <a:pt x="10885053" y="5001967"/>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rot="450764">
            <a:off x="6139604" y="7473655"/>
            <a:ext cx="15581755" cy="7160224"/>
          </a:xfrm>
          <a:custGeom>
            <a:avLst/>
            <a:gdLst/>
            <a:ahLst/>
            <a:cxnLst/>
            <a:rect l="l" t="t" r="r" b="b"/>
            <a:pathLst>
              <a:path w="15581755" h="7160224">
                <a:moveTo>
                  <a:pt x="0" y="0"/>
                </a:moveTo>
                <a:lnTo>
                  <a:pt x="15581755" y="0"/>
                </a:lnTo>
                <a:lnTo>
                  <a:pt x="15581755" y="7160224"/>
                </a:lnTo>
                <a:lnTo>
                  <a:pt x="0" y="7160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14" name="图片 13" descr="sum"/>
          <p:cNvPicPr>
            <a:picLocks noChangeAspect="1"/>
          </p:cNvPicPr>
          <p:nvPr/>
        </p:nvPicPr>
        <p:blipFill>
          <a:blip r:embed="rId7"/>
          <a:stretch>
            <a:fillRect/>
          </a:stretch>
        </p:blipFill>
        <p:spPr>
          <a:xfrm>
            <a:off x="685800" y="114300"/>
            <a:ext cx="17258665" cy="97326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8484">
            <a:off x="7745252" y="4842310"/>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58484">
            <a:off x="9730021" y="6474094"/>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1565391" y="6519718"/>
            <a:ext cx="3366158" cy="630807"/>
            <a:chOff x="0" y="0"/>
            <a:chExt cx="916223" cy="171697"/>
          </a:xfrm>
        </p:grpSpPr>
        <p:sp>
          <p:nvSpPr>
            <p:cNvPr id="5" name="Freeform 5"/>
            <p:cNvSpPr/>
            <p:nvPr/>
          </p:nvSpPr>
          <p:spPr>
            <a:xfrm>
              <a:off x="0" y="0"/>
              <a:ext cx="916223" cy="171697"/>
            </a:xfrm>
            <a:custGeom>
              <a:avLst/>
              <a:gdLst/>
              <a:ahLst/>
              <a:cxnLst/>
              <a:rect l="l" t="t" r="r" b="b"/>
              <a:pathLst>
                <a:path w="916223" h="171697">
                  <a:moveTo>
                    <a:pt x="85849" y="0"/>
                  </a:moveTo>
                  <a:lnTo>
                    <a:pt x="830375" y="0"/>
                  </a:lnTo>
                  <a:cubicBezTo>
                    <a:pt x="853143" y="0"/>
                    <a:pt x="874979" y="9045"/>
                    <a:pt x="891079" y="25144"/>
                  </a:cubicBezTo>
                  <a:cubicBezTo>
                    <a:pt x="907178" y="41244"/>
                    <a:pt x="916223" y="63080"/>
                    <a:pt x="916223" y="85849"/>
                  </a:cubicBezTo>
                  <a:lnTo>
                    <a:pt x="916223" y="85849"/>
                  </a:lnTo>
                  <a:cubicBezTo>
                    <a:pt x="916223" y="133261"/>
                    <a:pt x="877787" y="171697"/>
                    <a:pt x="830375" y="171697"/>
                  </a:cubicBezTo>
                  <a:lnTo>
                    <a:pt x="85849" y="171697"/>
                  </a:lnTo>
                  <a:cubicBezTo>
                    <a:pt x="38436" y="171697"/>
                    <a:pt x="0" y="133261"/>
                    <a:pt x="0" y="85849"/>
                  </a:cubicBezTo>
                  <a:lnTo>
                    <a:pt x="0" y="85849"/>
                  </a:lnTo>
                  <a:cubicBezTo>
                    <a:pt x="0" y="38436"/>
                    <a:pt x="38436" y="0"/>
                    <a:pt x="85849" y="0"/>
                  </a:cubicBezTo>
                  <a:close/>
                </a:path>
              </a:pathLst>
            </a:custGeom>
            <a:solidFill>
              <a:srgbClr val="5B7396"/>
            </a:solidFill>
          </p:spPr>
        </p:sp>
        <p:sp>
          <p:nvSpPr>
            <p:cNvPr id="6" name="TextBox 6"/>
            <p:cNvSpPr txBox="1"/>
            <p:nvPr/>
          </p:nvSpPr>
          <p:spPr>
            <a:xfrm>
              <a:off x="0" y="-57150"/>
              <a:ext cx="916223" cy="228847"/>
            </a:xfrm>
            <a:prstGeom prst="rect">
              <a:avLst/>
            </a:prstGeom>
          </p:spPr>
          <p:txBody>
            <a:bodyPr lIns="50800" tIns="50800" rIns="50800" bIns="50800" rtlCol="0" anchor="ctr"/>
            <a:lstStyle/>
            <a:p>
              <a:pPr algn="ctr">
                <a:lnSpc>
                  <a:spcPts val="3210"/>
                </a:lnSpc>
              </a:pPr>
            </a:p>
          </p:txBody>
        </p:sp>
      </p:grpSp>
      <p:sp>
        <p:nvSpPr>
          <p:cNvPr id="7" name="Freeform 7"/>
          <p:cNvSpPr/>
          <p:nvPr/>
        </p:nvSpPr>
        <p:spPr>
          <a:xfrm>
            <a:off x="1880431" y="6631268"/>
            <a:ext cx="382735" cy="407707"/>
          </a:xfrm>
          <a:custGeom>
            <a:avLst/>
            <a:gdLst/>
            <a:ahLst/>
            <a:cxnLst/>
            <a:rect l="l" t="t" r="r" b="b"/>
            <a:pathLst>
              <a:path w="382735" h="407707">
                <a:moveTo>
                  <a:pt x="0" y="0"/>
                </a:moveTo>
                <a:lnTo>
                  <a:pt x="382735" y="0"/>
                </a:lnTo>
                <a:lnTo>
                  <a:pt x="382735" y="407706"/>
                </a:lnTo>
                <a:lnTo>
                  <a:pt x="0" y="4077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5162608" y="6519718"/>
            <a:ext cx="3366158" cy="630807"/>
            <a:chOff x="0" y="0"/>
            <a:chExt cx="916223" cy="171697"/>
          </a:xfrm>
        </p:grpSpPr>
        <p:sp>
          <p:nvSpPr>
            <p:cNvPr id="9" name="Freeform 9"/>
            <p:cNvSpPr/>
            <p:nvPr/>
          </p:nvSpPr>
          <p:spPr>
            <a:xfrm>
              <a:off x="0" y="0"/>
              <a:ext cx="916223" cy="171697"/>
            </a:xfrm>
            <a:custGeom>
              <a:avLst/>
              <a:gdLst/>
              <a:ahLst/>
              <a:cxnLst/>
              <a:rect l="l" t="t" r="r" b="b"/>
              <a:pathLst>
                <a:path w="916223" h="171697">
                  <a:moveTo>
                    <a:pt x="85849" y="0"/>
                  </a:moveTo>
                  <a:lnTo>
                    <a:pt x="830375" y="0"/>
                  </a:lnTo>
                  <a:cubicBezTo>
                    <a:pt x="853143" y="0"/>
                    <a:pt x="874979" y="9045"/>
                    <a:pt x="891079" y="25144"/>
                  </a:cubicBezTo>
                  <a:cubicBezTo>
                    <a:pt x="907178" y="41244"/>
                    <a:pt x="916223" y="63080"/>
                    <a:pt x="916223" y="85849"/>
                  </a:cubicBezTo>
                  <a:lnTo>
                    <a:pt x="916223" y="85849"/>
                  </a:lnTo>
                  <a:cubicBezTo>
                    <a:pt x="916223" y="133261"/>
                    <a:pt x="877787" y="171697"/>
                    <a:pt x="830375" y="171697"/>
                  </a:cubicBezTo>
                  <a:lnTo>
                    <a:pt x="85849" y="171697"/>
                  </a:lnTo>
                  <a:cubicBezTo>
                    <a:pt x="38436" y="171697"/>
                    <a:pt x="0" y="133261"/>
                    <a:pt x="0" y="85849"/>
                  </a:cubicBezTo>
                  <a:lnTo>
                    <a:pt x="0" y="85849"/>
                  </a:lnTo>
                  <a:cubicBezTo>
                    <a:pt x="0" y="38436"/>
                    <a:pt x="38436" y="0"/>
                    <a:pt x="85849" y="0"/>
                  </a:cubicBezTo>
                  <a:close/>
                </a:path>
              </a:pathLst>
            </a:custGeom>
            <a:solidFill>
              <a:srgbClr val="000000">
                <a:alpha val="0"/>
              </a:srgbClr>
            </a:solidFill>
            <a:ln w="19050" cap="rnd">
              <a:solidFill>
                <a:srgbClr val="5B7396"/>
              </a:solidFill>
              <a:prstDash val="solid"/>
              <a:round/>
            </a:ln>
          </p:spPr>
        </p:sp>
        <p:sp>
          <p:nvSpPr>
            <p:cNvPr id="10" name="TextBox 10"/>
            <p:cNvSpPr txBox="1"/>
            <p:nvPr/>
          </p:nvSpPr>
          <p:spPr>
            <a:xfrm>
              <a:off x="0" y="-57150"/>
              <a:ext cx="916223" cy="228847"/>
            </a:xfrm>
            <a:prstGeom prst="rect">
              <a:avLst/>
            </a:prstGeom>
          </p:spPr>
          <p:txBody>
            <a:bodyPr lIns="50800" tIns="50800" rIns="50800" bIns="50800" rtlCol="0" anchor="ctr"/>
            <a:lstStyle/>
            <a:p>
              <a:pPr algn="ctr">
                <a:lnSpc>
                  <a:spcPts val="3210"/>
                </a:lnSpc>
              </a:pPr>
            </a:p>
          </p:txBody>
        </p:sp>
      </p:grpSp>
      <p:sp>
        <p:nvSpPr>
          <p:cNvPr id="11" name="Freeform 11"/>
          <p:cNvSpPr/>
          <p:nvPr/>
        </p:nvSpPr>
        <p:spPr>
          <a:xfrm>
            <a:off x="5477648" y="6631268"/>
            <a:ext cx="382735" cy="407707"/>
          </a:xfrm>
          <a:custGeom>
            <a:avLst/>
            <a:gdLst/>
            <a:ahLst/>
            <a:cxnLst/>
            <a:rect l="l" t="t" r="r" b="b"/>
            <a:pathLst>
              <a:path w="382735" h="407707">
                <a:moveTo>
                  <a:pt x="0" y="0"/>
                </a:moveTo>
                <a:lnTo>
                  <a:pt x="382735" y="0"/>
                </a:lnTo>
                <a:lnTo>
                  <a:pt x="382735" y="407706"/>
                </a:lnTo>
                <a:lnTo>
                  <a:pt x="0" y="407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565391" y="3681072"/>
            <a:ext cx="13986273" cy="1725674"/>
          </a:xfrm>
          <a:prstGeom prst="rect">
            <a:avLst/>
          </a:prstGeom>
        </p:spPr>
        <p:txBody>
          <a:bodyPr lIns="0" tIns="0" rIns="0" bIns="0" rtlCol="0" anchor="t">
            <a:spAutoFit/>
          </a:bodyPr>
          <a:lstStyle/>
          <a:p>
            <a:pPr algn="l">
              <a:lnSpc>
                <a:spcPts val="14170"/>
              </a:lnSpc>
            </a:pPr>
            <a:r>
              <a:rPr 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恳请各位老师批评指正</a:t>
            </a:r>
            <a:endParaRPr lang="en-US" sz="10195">
              <a:solidFill>
                <a:srgbClr val="1E1E1E"/>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3" name="TextBox 13"/>
          <p:cNvSpPr txBox="1"/>
          <p:nvPr/>
        </p:nvSpPr>
        <p:spPr>
          <a:xfrm>
            <a:off x="1565391" y="2147615"/>
            <a:ext cx="6423473" cy="1695381"/>
          </a:xfrm>
          <a:prstGeom prst="rect">
            <a:avLst/>
          </a:prstGeom>
        </p:spPr>
        <p:txBody>
          <a:bodyPr lIns="0" tIns="0" rIns="0" bIns="0" rtlCol="0" anchor="t">
            <a:spAutoFit/>
          </a:bodyPr>
          <a:lstStyle/>
          <a:p>
            <a:pPr algn="l">
              <a:lnSpc>
                <a:spcPts val="12530"/>
              </a:lnSpc>
            </a:pPr>
            <a:r>
              <a:rPr lang="en-US" sz="8295" b="1">
                <a:solidFill>
                  <a:srgbClr val="5B7396"/>
                </a:solidFill>
                <a:latin typeface="Akzidenz-Grotesk Medium" panose="02000603030000020004"/>
                <a:ea typeface="Akzidenz-Grotesk Medium" panose="02000603030000020004"/>
                <a:cs typeface="Akzidenz-Grotesk Medium" panose="02000603030000020004"/>
                <a:sym typeface="Akzidenz-Grotesk Medium" panose="02000603030000020004"/>
              </a:rPr>
              <a:t>Thank you</a:t>
            </a:r>
            <a:endParaRPr lang="en-US" sz="8295" b="1">
              <a:solidFill>
                <a:srgbClr val="5B7396"/>
              </a:solidFill>
              <a:latin typeface="Akzidenz-Grotesk Medium" panose="02000603030000020004"/>
              <a:ea typeface="Akzidenz-Grotesk Medium" panose="02000603030000020004"/>
              <a:cs typeface="Akzidenz-Grotesk Medium" panose="02000603030000020004"/>
              <a:sym typeface="Akzidenz-Grotesk Medium" panose="02000603030000020004"/>
            </a:endParaRPr>
          </a:p>
        </p:txBody>
      </p:sp>
      <p:sp>
        <p:nvSpPr>
          <p:cNvPr id="14" name="TextBox 14"/>
          <p:cNvSpPr txBox="1"/>
          <p:nvPr/>
        </p:nvSpPr>
        <p:spPr>
          <a:xfrm>
            <a:off x="1565391" y="8893599"/>
            <a:ext cx="4247486" cy="338455"/>
          </a:xfrm>
          <a:prstGeom prst="rect">
            <a:avLst/>
          </a:prstGeom>
        </p:spPr>
        <p:txBody>
          <a:bodyPr lIns="0" tIns="0" rIns="0" bIns="0" rtlCol="0" anchor="t">
            <a:spAutoFit/>
          </a:bodyPr>
          <a:lstStyle/>
          <a:p>
            <a:pPr algn="l">
              <a:lnSpc>
                <a:spcPts val="2640"/>
              </a:lnSpc>
            </a:pPr>
            <a:r>
              <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南开大学</a:t>
            </a:r>
            <a:r>
              <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计算机学院</a:t>
            </a:r>
            <a:endParaRPr lang="zh-CN" altLang="en-US" sz="2000" spc="196">
              <a:solidFill>
                <a:srgbClr val="5B7396"/>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5" name="TextBox 15"/>
          <p:cNvSpPr txBox="1"/>
          <p:nvPr/>
        </p:nvSpPr>
        <p:spPr>
          <a:xfrm>
            <a:off x="2373841" y="6609832"/>
            <a:ext cx="2409840" cy="398145"/>
          </a:xfrm>
          <a:prstGeom prst="rect">
            <a:avLst/>
          </a:prstGeom>
        </p:spPr>
        <p:txBody>
          <a:bodyPr lIns="0" tIns="0" rIns="0" bIns="0" rtlCol="0" anchor="t">
            <a:spAutoFit/>
          </a:bodyPr>
          <a:lstStyle/>
          <a:p>
            <a:pPr algn="l">
              <a:lnSpc>
                <a:spcPts val="3105"/>
              </a:lnSpc>
            </a:pPr>
            <a:r>
              <a:rPr 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学生：</a:t>
            </a:r>
            <a:r>
              <a:rPr lang="zh-CN" alt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王一诺</a:t>
            </a:r>
            <a:endParaRPr lang="zh-CN" alt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6" name="TextBox 16"/>
          <p:cNvSpPr txBox="1"/>
          <p:nvPr/>
        </p:nvSpPr>
        <p:spPr>
          <a:xfrm>
            <a:off x="5971059" y="6609832"/>
            <a:ext cx="2409840" cy="398145"/>
          </a:xfrm>
          <a:prstGeom prst="rect">
            <a:avLst/>
          </a:prstGeom>
        </p:spPr>
        <p:txBody>
          <a:bodyPr lIns="0" tIns="0" rIns="0" bIns="0" rtlCol="0" anchor="t">
            <a:spAutoFit/>
          </a:bodyPr>
          <a:lstStyle/>
          <a:p>
            <a:pPr algn="l">
              <a:lnSpc>
                <a:spcPts val="3105"/>
              </a:lnSpc>
            </a:pPr>
            <a:r>
              <a:rPr 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老师：</a:t>
            </a:r>
            <a:r>
              <a:rPr lang="zh-CN" alt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陈晨</a:t>
            </a:r>
            <a:endParaRPr lang="zh-CN" altLang="en-US" sz="2220">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17" name="Freeform 17"/>
          <p:cNvSpPr/>
          <p:nvPr/>
        </p:nvSpPr>
        <p:spPr>
          <a:xfrm>
            <a:off x="1183168" y="-4844097"/>
            <a:ext cx="13022180" cy="5984032"/>
          </a:xfrm>
          <a:custGeom>
            <a:avLst/>
            <a:gdLst/>
            <a:ahLst/>
            <a:cxnLst/>
            <a:rect l="l" t="t" r="r" b="b"/>
            <a:pathLst>
              <a:path w="13022180" h="5984032">
                <a:moveTo>
                  <a:pt x="0" y="0"/>
                </a:moveTo>
                <a:lnTo>
                  <a:pt x="13022180" y="0"/>
                </a:lnTo>
                <a:lnTo>
                  <a:pt x="13022180" y="5984032"/>
                </a:lnTo>
                <a:lnTo>
                  <a:pt x="0" y="5984032"/>
                </a:lnTo>
                <a:lnTo>
                  <a:pt x="0" y="0"/>
                </a:lnTo>
                <a:close/>
              </a:path>
            </a:pathLst>
          </a:custGeom>
          <a:blipFill>
            <a:blip r:embed="rId9">
              <a:alphaModFix amt="35000"/>
              <a:extLst>
                <a:ext uri="{96DAC541-7B7A-43D3-8B79-37D633B846F1}">
                  <asvg:svgBlip xmlns:asvg="http://schemas.microsoft.com/office/drawing/2016/SVG/main" r:embed="rId10"/>
                </a:ext>
              </a:extLst>
            </a:blip>
            <a:stretch>
              <a:fillRect/>
            </a:stretch>
          </a:blipFill>
          <a:ln cap="sq">
            <a:noFill/>
            <a:prstDash val="solid"/>
            <a:miter/>
          </a:ln>
        </p:spPr>
      </p:sp>
      <p:sp>
        <p:nvSpPr>
          <p:cNvPr id="18" name="Freeform 18"/>
          <p:cNvSpPr/>
          <p:nvPr/>
        </p:nvSpPr>
        <p:spPr>
          <a:xfrm flipH="1" flipV="1">
            <a:off x="-2985814" y="-889353"/>
            <a:ext cx="6234284" cy="2864817"/>
          </a:xfrm>
          <a:custGeom>
            <a:avLst/>
            <a:gdLst/>
            <a:ahLst/>
            <a:cxnLst/>
            <a:rect l="l" t="t" r="r" b="b"/>
            <a:pathLst>
              <a:path w="6234284" h="2864817">
                <a:moveTo>
                  <a:pt x="6234284" y="2864816"/>
                </a:moveTo>
                <a:lnTo>
                  <a:pt x="0" y="2864816"/>
                </a:lnTo>
                <a:lnTo>
                  <a:pt x="0" y="0"/>
                </a:lnTo>
                <a:lnTo>
                  <a:pt x="6234284" y="0"/>
                </a:lnTo>
                <a:lnTo>
                  <a:pt x="6234284" y="2864816"/>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 name="Freeform 19"/>
          <p:cNvSpPr/>
          <p:nvPr/>
        </p:nvSpPr>
        <p:spPr>
          <a:xfrm rot="-158484">
            <a:off x="11596700" y="6508618"/>
            <a:ext cx="13022180" cy="5984032"/>
          </a:xfrm>
          <a:custGeom>
            <a:avLst/>
            <a:gdLst/>
            <a:ahLst/>
            <a:cxnLst/>
            <a:rect l="l" t="t" r="r" b="b"/>
            <a:pathLst>
              <a:path w="13022180" h="5984032">
                <a:moveTo>
                  <a:pt x="0" y="0"/>
                </a:moveTo>
                <a:lnTo>
                  <a:pt x="13022179" y="0"/>
                </a:lnTo>
                <a:lnTo>
                  <a:pt x="13022179" y="5984033"/>
                </a:lnTo>
                <a:lnTo>
                  <a:pt x="0" y="59840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TextBox 20"/>
          <p:cNvSpPr txBox="1"/>
          <p:nvPr/>
        </p:nvSpPr>
        <p:spPr>
          <a:xfrm>
            <a:off x="13428461" y="485905"/>
            <a:ext cx="4246406" cy="328930"/>
          </a:xfrm>
          <a:prstGeom prst="rect">
            <a:avLst/>
          </a:prstGeom>
        </p:spPr>
        <p:txBody>
          <a:bodyPr lIns="0" tIns="0" rIns="0" bIns="0" rtlCol="0" anchor="t">
            <a:spAutoFit/>
          </a:bodyPr>
          <a:lstStyle/>
          <a:p>
            <a:pPr algn="r">
              <a:lnSpc>
                <a:spcPts val="2565"/>
              </a:lnSpc>
            </a:pPr>
            <a:r>
              <a:rPr lang="en-US" sz="1700" spc="323">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报告&amp;答辩</a:t>
            </a:r>
            <a:endParaRPr lang="en-US" sz="1700" spc="323">
              <a:solidFill>
                <a:srgbClr val="1E1E1E"/>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283.3925196850394,&quot;left&quot;:198.9184251968504,&quot;top&quot;:363,&quot;width&quot;:1042.1630708661419}"/>
</p:tagLst>
</file>

<file path=ppt/tags/tag2.xml><?xml version="1.0" encoding="utf-8"?>
<p:tagLst xmlns:p="http://schemas.openxmlformats.org/presentationml/2006/main">
  <p:tag name="KSO_WM_DIAGRAM_VIRTUALLY_FRAME" val="{&quot;height&quot;:283.3925196850394,&quot;left&quot;:198.9184251968504,&quot;top&quot;:363,&quot;width&quot;:1042.1630708661419}"/>
</p:tagLst>
</file>

<file path=ppt/tags/tag3.xml><?xml version="1.0" encoding="utf-8"?>
<p:tagLst xmlns:p="http://schemas.openxmlformats.org/presentationml/2006/main">
  <p:tag name="KSO_WM_DIAGRAM_VIRTUALLY_FRAME" val="{&quot;height&quot;:283.3925196850394,&quot;left&quot;:198.9184251968504,&quot;top&quot;:363,&quot;width&quot;:1042.1630708661419}"/>
</p:tagLst>
</file>

<file path=ppt/tags/tag4.xml><?xml version="1.0" encoding="utf-8"?>
<p:tagLst xmlns:p="http://schemas.openxmlformats.org/presentationml/2006/main">
  <p:tag name="KSO_WM_DIAGRAM_VIRTUALLY_FRAME" val="{&quot;height&quot;:283.3925196850394,&quot;left&quot;:198.9184251968504,&quot;top&quot;:363,&quot;width&quot;:1042.1630708661419}"/>
</p:tagLst>
</file>

<file path=ppt/tags/tag5.xml><?xml version="1.0" encoding="utf-8"?>
<p:tagLst xmlns:p="http://schemas.openxmlformats.org/presentationml/2006/main">
  <p:tag name="KSO_WM_DIAGRAM_VIRTUALLY_FRAME" val="{&quot;height&quot;:283.3925196850394,&quot;left&quot;:198.9184251968504,&quot;top&quot;:363,&quot;width&quot;:1042.1630708661419}"/>
</p:tagLst>
</file>

<file path=ppt/tags/tag6.xml><?xml version="1.0" encoding="utf-8"?>
<p:tagLst xmlns:p="http://schemas.openxmlformats.org/presentationml/2006/main">
  <p:tag name="KSO_WM_DIAGRAM_VIRTUALLY_FRAME" val="{&quot;height&quot;:283.3925196850394,&quot;left&quot;:198.9184251968504,&quot;top&quot;:363,&quot;width&quot;:1042.1630708661419}"/>
</p:tagLst>
</file>

<file path=ppt/tags/tag7.xml><?xml version="1.0" encoding="utf-8"?>
<p:tagLst xmlns:p="http://schemas.openxmlformats.org/presentationml/2006/main">
  <p:tag name="KSO_WM_DIAGRAM_VIRTUALLY_FRAME" val="{&quot;height&quot;:283.3925196850394,&quot;left&quot;:198.9184251968504,&quot;top&quot;:363,&quot;width&quot;:1042.1630708661419}"/>
</p:tagLst>
</file>

<file path=ppt/tags/tag8.xml><?xml version="1.0" encoding="utf-8"?>
<p:tagLst xmlns:p="http://schemas.openxmlformats.org/presentationml/2006/main">
  <p:tag name="KSO_WM_DIAGRAM_VIRTUALLY_FRAME" val="{&quot;height&quot;:283.3925196850394,&quot;left&quot;:198.9184251968504,&quot;top&quot;:363,&quot;width&quot;:1042.1630708661419}"/>
</p:tagLst>
</file>

<file path=ppt/tags/tag9.xml><?xml version="1.0" encoding="utf-8"?>
<p:tagLst xmlns:p="http://schemas.openxmlformats.org/presentationml/2006/main">
  <p:tag name="KSO_WM_DIAGRAM_VIRTUALLY_FRAME" val="{&quot;height&quot;:283.3925196850394,&quot;left&quot;:198.9184251968504,&quot;top&quot;:363,&quot;width&quot;:1042.1630708661419}"/>
</p:tagLst>
</file>

<file path=ppt/tags/tag10.xml><?xml version="1.0" encoding="utf-8"?>
<p:tagLst xmlns:p="http://schemas.openxmlformats.org/presentationml/2006/main">
  <p:tag name="KSO_WM_DIAGRAM_VIRTUALLY_FRAME" val="{&quot;height&quot;:283.3925196850394,&quot;left&quot;:198.9184251968504,&quot;top&quot;:363,&quot;width&quot;:1042.1630708661419}"/>
</p:tagLst>
</file>

<file path=ppt/tags/tag11.xml><?xml version="1.0" encoding="utf-8"?>
<p:tagLst xmlns:p="http://schemas.openxmlformats.org/presentationml/2006/main">
  <p:tag name="KSO_WM_DIAGRAM_VIRTUALLY_FRAME" val="{&quot;height&quot;:283.3925196850394,&quot;left&quot;:198.9184251968504,&quot;top&quot;:363,&quot;width&quot;:1042.1630708661419}"/>
</p:tagLst>
</file>

<file path=ppt/tags/tag12.xml><?xml version="1.0" encoding="utf-8"?>
<p:tagLst xmlns:p="http://schemas.openxmlformats.org/presentationml/2006/main">
  <p:tag name="KSO_WM_DIAGRAM_VIRTUALLY_FRAME" val="{&quot;height&quot;:283.3925196850394,&quot;left&quot;:198.9184251968504,&quot;top&quot;:363,&quot;width&quot;:1042.1630708661419}"/>
</p:tagLst>
</file>

<file path=ppt/tags/tag13.xml><?xml version="1.0" encoding="utf-8"?>
<p:tagLst xmlns:p="http://schemas.openxmlformats.org/presentationml/2006/main">
  <p:tag name="KSO_WM_DIAGRAM_VIRTUALLY_FRAME" val="{&quot;height&quot;:283.3925196850394,&quot;left&quot;:198.9184251968504,&quot;top&quot;:363,&quot;width&quot;:1042.1630708661419}"/>
</p:tagLst>
</file>

<file path=ppt/tags/tag14.xml><?xml version="1.0" encoding="utf-8"?>
<p:tagLst xmlns:p="http://schemas.openxmlformats.org/presentationml/2006/main">
  <p:tag name="KSO_WM_DIAGRAM_VIRTUALLY_FRAME" val="{&quot;height&quot;:283.3925196850394,&quot;left&quot;:198.9184251968504,&quot;top&quot;:363,&quot;width&quot;:1042.1630708661419}"/>
</p:tagLst>
</file>

<file path=ppt/tags/tag15.xml><?xml version="1.0" encoding="utf-8"?>
<p:tagLst xmlns:p="http://schemas.openxmlformats.org/presentationml/2006/main">
  <p:tag name="KSO_WM_DIAGRAM_VIRTUALLY_FRAME" val="{&quot;height&quot;:283.3925196850394,&quot;left&quot;:198.9184251968504,&quot;top&quot;:363,&quot;width&quot;:1042.1630708661419}"/>
</p:tagLst>
</file>

<file path=ppt/tags/tag16.xml><?xml version="1.0" encoding="utf-8"?>
<p:tagLst xmlns:p="http://schemas.openxmlformats.org/presentationml/2006/main">
  <p:tag name="KSO_WM_DIAGRAM_VIRTUALLY_FRAME" val="{&quot;height&quot;:283.3925196850394,&quot;left&quot;:198.9184251968504,&quot;top&quot;:363,&quot;width&quot;:1042.1630708661419}"/>
</p:tagLst>
</file>

<file path=ppt/tags/tag17.xml><?xml version="1.0" encoding="utf-8"?>
<p:tagLst xmlns:p="http://schemas.openxmlformats.org/presentationml/2006/main">
  <p:tag name="KSO_WM_DIAGRAM_VIRTUALLY_FRAME" val="{&quot;height&quot;:283.3925196850394,&quot;left&quot;:198.9184251968504,&quot;top&quot;:363,&quot;width&quot;:1042.1630708661419}"/>
</p:tagLst>
</file>

<file path=ppt/tags/tag18.xml><?xml version="1.0" encoding="utf-8"?>
<p:tagLst xmlns:p="http://schemas.openxmlformats.org/presentationml/2006/main">
  <p:tag name="KSO_WM_DIAGRAM_VIRTUALLY_FRAME" val="{&quot;height&quot;:283.3925196850394,&quot;left&quot;:198.9184251968504,&quot;top&quot;:363,&quot;width&quot;:1042.1630708661419}"/>
</p:tagLst>
</file>

<file path=ppt/tags/tag19.xml><?xml version="1.0" encoding="utf-8"?>
<p:tagLst xmlns:p="http://schemas.openxmlformats.org/presentationml/2006/main">
  <p:tag name="KSO_WM_DIAGRAM_VIRTUALLY_FRAME" val="{&quot;height&quot;:283.3925196850394,&quot;left&quot;:198.9184251968504,&quot;top&quot;:363,&quot;width&quot;:1042.1630708661419}"/>
</p:tagLst>
</file>

<file path=ppt/tags/tag20.xml><?xml version="1.0" encoding="utf-8"?>
<p:tagLst xmlns:p="http://schemas.openxmlformats.org/presentationml/2006/main">
  <p:tag name="KSO_WM_DIAGRAM_VIRTUALLY_FRAME" val="{&quot;height&quot;:283.3925196850394,&quot;left&quot;:198.9184251968504,&quot;top&quot;:363,&quot;width&quot;:1042.1630708661419}"/>
</p:tagLst>
</file>

<file path=ppt/tags/tag21.xml><?xml version="1.0" encoding="utf-8"?>
<p:tagLst xmlns:p="http://schemas.openxmlformats.org/presentationml/2006/main">
  <p:tag name="KSO_WM_DIAGRAM_VIRTUALLY_FRAME" val="{&quot;height&quot;:283.3925196850394,&quot;left&quot;:198.9184251968504,&quot;top&quot;:363,&quot;width&quot;:1042.1630708661419}"/>
</p:tagLst>
</file>

<file path=ppt/tags/tag22.xml><?xml version="1.0" encoding="utf-8"?>
<p:tagLst xmlns:p="http://schemas.openxmlformats.org/presentationml/2006/main">
  <p:tag name="KSO_WM_DIAGRAM_VIRTUALLY_FRAME" val="{&quot;height&quot;:283.3925196850394,&quot;left&quot;:198.9184251968504,&quot;top&quot;:363,&quot;width&quot;:1042.1630708661419}"/>
</p:tagLst>
</file>

<file path=ppt/tags/tag23.xml><?xml version="1.0" encoding="utf-8"?>
<p:tagLst xmlns:p="http://schemas.openxmlformats.org/presentationml/2006/main">
  <p:tag name="KSO_WM_DIAGRAM_VIRTUALLY_FRAME" val="{&quot;height&quot;:283.3925196850394,&quot;left&quot;:198.9184251968504,&quot;top&quot;:363,&quot;width&quot;:1042.1630708661419}"/>
</p:tagLst>
</file>

<file path=ppt/tags/tag24.xml><?xml version="1.0" encoding="utf-8"?>
<p:tagLst xmlns:p="http://schemas.openxmlformats.org/presentationml/2006/main">
  <p:tag name="KSO_WM_DIAGRAM_VIRTUALLY_FRAME" val="{&quot;height&quot;:283.3925196850394,&quot;left&quot;:198.9184251968504,&quot;top&quot;:363,&quot;width&quot;:1042.1630708661419}"/>
</p:tagLst>
</file>

<file path=ppt/tags/tag25.xml><?xml version="1.0" encoding="utf-8"?>
<p:tagLst xmlns:p="http://schemas.openxmlformats.org/presentationml/2006/main">
  <p:tag name="KSO_WM_DIAGRAM_VIRTUALLY_FRAME" val="{&quot;height&quot;:283.3925196850394,&quot;left&quot;:198.9184251968504,&quot;top&quot;:363,&quot;width&quot;:1042.1630708661419}"/>
</p:tagLst>
</file>

<file path=ppt/tags/tag26.xml><?xml version="1.0" encoding="utf-8"?>
<p:tagLst xmlns:p="http://schemas.openxmlformats.org/presentationml/2006/main">
  <p:tag name="KSO_WM_DIAGRAM_VIRTUALLY_FRAME" val="{&quot;height&quot;:283.3925196850394,&quot;left&quot;:198.9184251968504,&quot;top&quot;:363,&quot;width&quot;:1042.1630708661419}"/>
</p:tagLst>
</file>

<file path=ppt/tags/tag27.xml><?xml version="1.0" encoding="utf-8"?>
<p:tagLst xmlns:p="http://schemas.openxmlformats.org/presentationml/2006/main">
  <p:tag name="KSO_WM_DIAGRAM_VIRTUALLY_FRAME" val="{&quot;height&quot;:283.3925196850394,&quot;left&quot;:198.9184251968504,&quot;top&quot;:363,&quot;width&quot;:1042.1630708661419}"/>
</p:tagLst>
</file>

<file path=ppt/tags/tag28.xml><?xml version="1.0" encoding="utf-8"?>
<p:tagLst xmlns:p="http://schemas.openxmlformats.org/presentationml/2006/main">
  <p:tag name="KSO_WM_DIAGRAM_VIRTUALLY_FRAME" val="{&quot;height&quot;:283.3925196850394,&quot;left&quot;:198.9184251968504,&quot;top&quot;:363,&quot;width&quot;:1042.1630708661419}"/>
</p:tagLst>
</file>

<file path=ppt/tags/tag29.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0.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1.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2.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3.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4.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5.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6.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7.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8.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39.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0.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1.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2.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3.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4.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5.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6.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7.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8.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49.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0.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1.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2.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3.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4.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5.xml><?xml version="1.0" encoding="utf-8"?>
<p:tagLst xmlns:p="http://schemas.openxmlformats.org/presentationml/2006/main">
  <p:tag name="KSO_WM_DIAGRAM_VIRTUALLY_FRAME" val="{&quot;height&quot;:673.5556514691743,&quot;left&quot;:30.01055679486587,&quot;top&quot;:69.209151680432,&quot;width&quot;:648.3182621027719}"/>
</p:tagLst>
</file>

<file path=ppt/tags/tag56.xml><?xml version="1.0" encoding="utf-8"?>
<p:tagLst xmlns:p="http://schemas.openxmlformats.org/presentationml/2006/main">
  <p:tag name="KSO_WM_DIAGRAM_VIRTUALLY_FRAME" val="{&quot;height&quot;:789.7645920750003,&quot;left&quot;:96,&quot;top&quot;:38.999979878964226,&quot;width&quot;:1309.0500432100066}"/>
</p:tagLst>
</file>

<file path=ppt/tags/tag57.xml><?xml version="1.0" encoding="utf-8"?>
<p:tagLst xmlns:p="http://schemas.openxmlformats.org/presentationml/2006/main">
  <p:tag name="KSO_WM_DIAGRAM_VIRTUALLY_FRAME" val="{&quot;height&quot;:789.7645920750003,&quot;left&quot;:96,&quot;top&quot;:38.999979878964226,&quot;width&quot;:1309.0500432100066}"/>
</p:tagLst>
</file>

<file path=ppt/tags/tag58.xml><?xml version="1.0" encoding="utf-8"?>
<p:tagLst xmlns:p="http://schemas.openxmlformats.org/presentationml/2006/main">
  <p:tag name="KSO_WM_DIAGRAM_VIRTUALLY_FRAME" val="{&quot;height&quot;:789.7645920750003,&quot;left&quot;:96,&quot;top&quot;:38.999979878964226,&quot;width&quot;:1309.0500432100066}"/>
</p:tagLst>
</file>

<file path=ppt/tags/tag59.xml><?xml version="1.0" encoding="utf-8"?>
<p:tagLst xmlns:p="http://schemas.openxmlformats.org/presentationml/2006/main">
  <p:tag name="KSO_WM_DIAGRAM_VIRTUALLY_FRAME" val="{&quot;height&quot;:789.7645920750003,&quot;left&quot;:96,&quot;top&quot;:38.999979878964226,&quot;width&quot;:1309.0500432100066}"/>
</p:tagLst>
</file>

<file path=ppt/tags/tag60.xml><?xml version="1.0" encoding="utf-8"?>
<p:tagLst xmlns:p="http://schemas.openxmlformats.org/presentationml/2006/main">
  <p:tag name="KSO_WM_DIAGRAM_VIRTUALLY_FRAME" val="{&quot;height&quot;:789.7645920750003,&quot;left&quot;:96,&quot;top&quot;:38.999979878964226,&quot;width&quot;:1309.0500432100066}"/>
</p:tagLst>
</file>

<file path=ppt/tags/tag61.xml><?xml version="1.0" encoding="utf-8"?>
<p:tagLst xmlns:p="http://schemas.openxmlformats.org/presentationml/2006/main">
  <p:tag name="KSO_WM_DIAGRAM_VIRTUALLY_FRAME" val="{&quot;height&quot;:789.7645920750003,&quot;left&quot;:96,&quot;top&quot;:38.999979878964226,&quot;width&quot;:1309.0500432100066}"/>
</p:tagLst>
</file>

<file path=ppt/tags/tag62.xml><?xml version="1.0" encoding="utf-8"?>
<p:tagLst xmlns:p="http://schemas.openxmlformats.org/presentationml/2006/main">
  <p:tag name="KSO_WM_DIAGRAM_VIRTUALLY_FRAME" val="{&quot;height&quot;:789.7645920750003,&quot;left&quot;:96,&quot;top&quot;:38.999979878964226,&quot;width&quot;:1309.0500432100066}"/>
</p:tagLst>
</file>

<file path=ppt/tags/tag63.xml><?xml version="1.0" encoding="utf-8"?>
<p:tagLst xmlns:p="http://schemas.openxmlformats.org/presentationml/2006/main">
  <p:tag name="KSO_WM_DIAGRAM_VIRTUALLY_FRAME" val="{&quot;height&quot;:789.7645920750003,&quot;left&quot;:96,&quot;top&quot;:38.999979878964226,&quot;width&quot;:1309.0500432100066}"/>
</p:tagLst>
</file>

<file path=ppt/tags/tag64.xml><?xml version="1.0" encoding="utf-8"?>
<p:tagLst xmlns:p="http://schemas.openxmlformats.org/presentationml/2006/main">
  <p:tag name="KSO_WM_DIAGRAM_VIRTUALLY_FRAME" val="{&quot;height&quot;:789.7645920750003,&quot;left&quot;:96,&quot;top&quot;:38.999979878964226,&quot;width&quot;:1309.0500432100066}"/>
</p:tagLst>
</file>

<file path=ppt/tags/tag65.xml><?xml version="1.0" encoding="utf-8"?>
<p:tagLst xmlns:p="http://schemas.openxmlformats.org/presentationml/2006/main">
  <p:tag name="KSO_WM_DIAGRAM_VIRTUALLY_FRAME" val="{&quot;height&quot;:789.7645920750003,&quot;left&quot;:96,&quot;top&quot;:38.999979878964226,&quot;width&quot;:1309.0500432100066}"/>
</p:tagLst>
</file>

<file path=ppt/tags/tag66.xml><?xml version="1.0" encoding="utf-8"?>
<p:tagLst xmlns:p="http://schemas.openxmlformats.org/presentationml/2006/main">
  <p:tag name="KSO_WM_DIAGRAM_VIRTUALLY_FRAME" val="{&quot;height&quot;:789.7645920750003,&quot;left&quot;:96,&quot;top&quot;:38.999979878964226,&quot;width&quot;:1309.0500432100066}"/>
</p:tagLst>
</file>

<file path=ppt/tags/tag67.xml><?xml version="1.0" encoding="utf-8"?>
<p:tagLst xmlns:p="http://schemas.openxmlformats.org/presentationml/2006/main">
  <p:tag name="KSO_WM_DIAGRAM_VIRTUALLY_FRAME" val="{&quot;height&quot;:789.7645920750003,&quot;left&quot;:96,&quot;top&quot;:38.999979878964226,&quot;width&quot;:1309.0500432100066}"/>
</p:tagLst>
</file>

<file path=ppt/tags/tag68.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69.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0.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1.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2.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3.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4.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5.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6.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7.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8.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79.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0.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1.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2.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3.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4.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5.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6.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7.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8.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89.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90.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91.xml><?xml version="1.0" encoding="utf-8"?>
<p:tagLst xmlns:p="http://schemas.openxmlformats.org/presentationml/2006/main">
  <p:tag name="KSO_WM_DIAGRAM_VIRTUALLY_FRAME" val="{&quot;height&quot;:686.9355118110236,&quot;left&quot;:863.2074803149605,&quot;top&quot;:3.0128346456692725,&quot;width&quot;:563.833779527559}"/>
</p:tagLst>
</file>

<file path=ppt/tags/tag92.xml><?xml version="1.0" encoding="utf-8"?>
<p:tagLst xmlns:p="http://schemas.openxmlformats.org/presentationml/2006/main">
  <p:tag name="KSO_WM_DIAGRAM_VIRTUALLY_FRAME" val="{&quot;height&quot;:2083.074787298856,&quot;left&quot;:30,&quot;top&quot;:-0.0073599035920210555,&quot;width&quot;:1351.4}"/>
</p:tagLst>
</file>

<file path=ppt/tags/tag93.xml><?xml version="1.0" encoding="utf-8"?>
<p:tagLst xmlns:p="http://schemas.openxmlformats.org/presentationml/2006/main">
  <p:tag name="KSO_WM_DIAGRAM_VIRTUALLY_FRAME" val="{&quot;height&quot;:2083.074787298856,&quot;left&quot;:30,&quot;top&quot;:-0.0073599035920210555,&quot;width&quot;:1351.4}"/>
</p:tagLst>
</file>

<file path=ppt/tags/tag94.xml><?xml version="1.0" encoding="utf-8"?>
<p:tagLst xmlns:p="http://schemas.openxmlformats.org/presentationml/2006/main">
  <p:tag name="KSO_WM_DIAGRAM_VIRTUALLY_FRAME" val="{&quot;height&quot;:2083.074787298856,&quot;left&quot;:30,&quot;top&quot;:-0.0073599035920210555,&quot;width&quot;:1351.4}"/>
</p:tagLst>
</file>

<file path=ppt/tags/tag95.xml><?xml version="1.0" encoding="utf-8"?>
<p:tagLst xmlns:p="http://schemas.openxmlformats.org/presentationml/2006/main">
  <p:tag name="KSO_WM_DIAGRAM_VIRTUALLY_FRAME" val="{&quot;height&quot;:2083.074787298856,&quot;left&quot;:30,&quot;top&quot;:-0.0073599035920210555,&quot;width&quot;:1351.4}"/>
</p:tagLst>
</file>

<file path=ppt/tags/tag96.xml><?xml version="1.0" encoding="utf-8"?>
<p:tagLst xmlns:p="http://schemas.openxmlformats.org/presentationml/2006/main">
  <p:tag name="KSO_WM_DIAGRAM_VIRTUALLY_FRAME" val="{&quot;height&quot;:2083.074787298856,&quot;left&quot;:30,&quot;top&quot;:-0.0073599035920210555,&quot;width&quot;:1351.4}"/>
</p:tagLst>
</file>

<file path=ppt/tags/tag97.xml><?xml version="1.0" encoding="utf-8"?>
<p:tagLst xmlns:p="http://schemas.openxmlformats.org/presentationml/2006/main">
  <p:tag name="KSO_WM_DIAGRAM_VIRTUALLY_FRAME" val="{&quot;height&quot;:2083.074787298856,&quot;left&quot;:30,&quot;top&quot;:-0.0073599035920210555,&quot;width&quot;:1351.4}"/>
</p:tagLst>
</file>

<file path=ppt/tags/tag98.xml><?xml version="1.0" encoding="utf-8"?>
<p:tagLst xmlns:p="http://schemas.openxmlformats.org/presentationml/2006/main">
  <p:tag name="KSO_WM_DIAGRAM_VIRTUALLY_FRAME" val="{&quot;height&quot;:2083.074787298856,&quot;left&quot;:30,&quot;top&quot;:-0.0073599035920210555,&quot;width&quot;:1351.4}"/>
</p:tagLst>
</file>

<file path=ppt/tags/tag99.xml><?xml version="1.0" encoding="utf-8"?>
<p:tagLst xmlns:p="http://schemas.openxmlformats.org/presentationml/2006/main">
  <p:tag name="KSO_WM_DIAGRAM_VIRTUALLY_FRAME" val="{&quot;height&quot;:2083.074787298856,&quot;left&quot;:30,&quot;top&quot;:-0.0073599035920210555,&quot;width&quot;:1351.4}"/>
</p:tagLst>
</file>

<file path=ppt/tags/tag100.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1.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2.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3.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4.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5.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6.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7.xml><?xml version="1.0" encoding="utf-8"?>
<p:tagLst xmlns:p="http://schemas.openxmlformats.org/presentationml/2006/main">
  <p:tag name="KSO_WM_DIAGRAM_VIRTUALLY_FRAME" val="{&quot;height&quot;:2060.574787298856,&quot;left&quot;:48.01952755905522,&quot;top&quot;:22.49264009640798,&quot;width&quot;:1333.380472440945}"/>
</p:tagLst>
</file>

<file path=ppt/tags/tag108.xml><?xml version="1.0" encoding="utf-8"?>
<p:tagLst xmlns:p="http://schemas.openxmlformats.org/presentationml/2006/main">
  <p:tag name="TABLE_ENDDRAG_ORIGIN_RECT" val="1219*170"/>
  <p:tag name="TABLE_ENDDRAG_RECT" val="54*369*1219*1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19111</Words>
  <Application>WPS 演示</Application>
  <PresentationFormat>On-screen Show (4:3)</PresentationFormat>
  <Paragraphs>639</Paragraphs>
  <Slides>20</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20</vt:i4>
      </vt:variant>
    </vt:vector>
  </HeadingPairs>
  <TitlesOfParts>
    <vt:vector size="40" baseType="lpstr">
      <vt:lpstr>Arial</vt:lpstr>
      <vt:lpstr>宋体</vt:lpstr>
      <vt:lpstr>Wingdings</vt:lpstr>
      <vt:lpstr>字由点字倔强黑</vt:lpstr>
      <vt:lpstr>思源黑体 1</vt:lpstr>
      <vt:lpstr>黑体</vt:lpstr>
      <vt:lpstr>思源黑体 2 Bold</vt:lpstr>
      <vt:lpstr>Akzidenz-Grotesk</vt:lpstr>
      <vt:lpstr>Akzidenz-Grotesk Bold</vt:lpstr>
      <vt:lpstr>思源黑体 2</vt:lpstr>
      <vt:lpstr>金山云技术体</vt:lpstr>
      <vt:lpstr>WPS灵秀黑</vt:lpstr>
      <vt:lpstr>Calibri</vt:lpstr>
      <vt:lpstr>微软雅黑</vt:lpstr>
      <vt:lpstr>Arial Unicode MS</vt:lpstr>
      <vt:lpstr>Akzidenz-Grotesk Medium</vt:lpstr>
      <vt:lpstr>Segoe Print</vt:lpstr>
      <vt:lpstr>DejaVu Math TeX Gyre</vt:lpstr>
      <vt:lpstr>Yu Gothic UI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蓝绿色莫兰迪简约大学生毕业论文答辩学术汇报通用ppt演示文稿</dc:title>
  <dc:creator/>
  <cp:lastModifiedBy>谎</cp:lastModifiedBy>
  <cp:revision>28</cp:revision>
  <dcterms:created xsi:type="dcterms:W3CDTF">2006-08-16T00:00:00Z</dcterms:created>
  <dcterms:modified xsi:type="dcterms:W3CDTF">2024-12-20T09:20:12Z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2AACC64C7A7B4602B446B1B7C0043FAC_12</vt:lpwstr>
  </property>
  <property fmtid="{D5CDD505-2E9C-101B-9397-08002B2CF9AE}" pid="3" name="KSOProductBuildVer">
    <vt:lpwstr>2052-12.1.0.19302</vt:lpwstr>
  </property>
</Properties>
</file>