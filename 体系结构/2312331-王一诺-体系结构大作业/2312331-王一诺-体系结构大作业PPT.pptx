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5"/>
  </p:notesMasterIdLst>
  <p:sldIdLst>
    <p:sldId id="294" r:id="rId4"/>
    <p:sldId id="270" r:id="rId6"/>
    <p:sldId id="295" r:id="rId7"/>
    <p:sldId id="296" r:id="rId8"/>
    <p:sldId id="297" r:id="rId9"/>
    <p:sldId id="298" r:id="rId10"/>
    <p:sldId id="299" r:id="rId11"/>
    <p:sldId id="313" r:id="rId12"/>
    <p:sldId id="300" r:id="rId13"/>
    <p:sldId id="301" r:id="rId14"/>
    <p:sldId id="314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15" r:id="rId23"/>
  </p:sldIdLst>
  <p:sldSz cx="12192000" cy="6858000"/>
  <p:notesSz cx="6858000" cy="9144000"/>
  <p:embeddedFontLst>
    <p:embeddedFont>
      <p:font typeface="微软雅黑" panose="020B0503020204020204" pitchFamily="34" charset="-122"/>
      <p:regular r:id="rId28"/>
    </p:embeddedFont>
    <p:embeddedFont>
      <p:font typeface="金山云技术体" charset="-122"/>
      <p:regular r:id="rId29"/>
    </p:embeddedFont>
    <p:embeddedFont>
      <p:font typeface="黑体" panose="02010609060101010101" charset="-122"/>
      <p:regular r:id="rId30"/>
    </p:embeddedFont>
    <p:embeddedFont>
      <p:font typeface="WPS灵秀黑" charset="-122"/>
      <p:regular r:id="rId31"/>
    </p:embeddedFont>
    <p:embeddedFont>
      <p:font typeface="等线" panose="02010600030101010101" charset="-122"/>
      <p:regular r:id="rId32"/>
    </p:embeddedFont>
    <p:embeddedFont>
      <p:font typeface="等线 Light" panose="02010600030101010101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t 谭" initials="t谭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0069"/>
    <a:srgbClr val="BB1D75"/>
    <a:srgbClr val="E2007E"/>
    <a:srgbClr val="D8007D"/>
    <a:srgbClr val="575554"/>
    <a:srgbClr val="FBE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4" autoAdjust="0"/>
    <p:restoredTop sz="92245" autoAdjust="0"/>
  </p:normalViewPr>
  <p:slideViewPr>
    <p:cSldViewPr snapToGrid="0">
      <p:cViewPr varScale="1">
        <p:scale>
          <a:sx n="118" d="100"/>
          <a:sy n="118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DDADC-05F3-4845-986E-7B81F94D71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3885" y="957580"/>
            <a:ext cx="11109325" cy="1934845"/>
          </a:xfrm>
        </p:spPr>
        <p:txBody>
          <a:bodyPr anchor="ctr" anchorCtr="0">
            <a:noAutofit/>
          </a:bodyPr>
          <a:lstStyle/>
          <a:p>
            <a:pPr>
              <a:lnSpc>
                <a:spcPts val="5200"/>
              </a:lnSpc>
            </a:pPr>
            <a:r>
              <a:rPr lang="en-US" altLang="zh-CN" sz="4800" b="1" dirty="0">
                <a:solidFill>
                  <a:srgbClr val="FBE1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Multi-Dimensional Vector ISA Extension</a:t>
            </a:r>
            <a:br>
              <a:rPr lang="en-US" altLang="zh-CN" sz="4800" b="1" dirty="0">
                <a:solidFill>
                  <a:srgbClr val="FBE1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b="1" dirty="0">
                <a:solidFill>
                  <a:srgbClr val="FBE1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Mobile In-Cache Computing</a:t>
            </a:r>
            <a:endParaRPr lang="en-US" altLang="zh-CN" sz="4800" b="1" dirty="0">
              <a:solidFill>
                <a:srgbClr val="FBE1C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78971" y="5897880"/>
            <a:ext cx="4931229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endParaRPr lang="zh-CN" altLang="en-US" sz="1600" b="1" dirty="0">
              <a:solidFill>
                <a:srgbClr val="5755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87440" y="5958412"/>
            <a:ext cx="5525589" cy="454169"/>
          </a:xfrm>
          <a:prstGeom prst="roundRect">
            <a:avLst/>
          </a:prstGeom>
          <a:gradFill>
            <a:gsLst>
              <a:gs pos="0">
                <a:srgbClr val="E2007E"/>
              </a:gs>
              <a:gs pos="90000">
                <a:srgbClr val="8700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187438" y="5897880"/>
            <a:ext cx="5525592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王一诺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2312331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南开大学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525417" y="3181739"/>
            <a:ext cx="51411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578350" y="3378200"/>
            <a:ext cx="3035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 dirty="0">
                <a:solidFill>
                  <a:srgbClr val="FBE1C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HPCA 2025</a:t>
            </a:r>
            <a:endParaRPr lang="en-US" altLang="zh-CN" sz="3600" b="1" dirty="0">
              <a:solidFill>
                <a:srgbClr val="FBE1C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3885" y="4356100"/>
            <a:ext cx="10985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3200" b="1" kern="0" spc="1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面向移动端缓存内计算的多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维向量指令集扩展</a:t>
            </a:r>
            <a:endParaRPr lang="zh-CN" altLang="en-US" sz="3200" b="1" kern="0" spc="-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 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移动计算的永恒追求：兼得高性能与高能效</a:t>
            </a:r>
            <a:endParaRPr lang="zh-CN" altLang="en-US" sz="2800" b="1" kern="0" spc="1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905000"/>
            <a:ext cx="6951345" cy="473075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415" indent="-635" algn="l" rtl="0" eaLnBrk="0">
              <a:lnSpc>
                <a:spcPct val="146000"/>
              </a:lnSpc>
            </a:pP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数据并行内核在移动应用</a:t>
            </a:r>
            <a:r>
              <a:rPr sz="2400" b="1" kern="0" spc="7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中无处不在，从操作系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统(Android)、Web</a:t>
            </a:r>
            <a:r>
              <a:rPr sz="2400" b="1" kern="0" spc="-2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浏览器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(Chrome)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到实时通信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(</a:t>
            </a:r>
            <a:r>
              <a:rPr sz="24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WebRTC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)</a:t>
            </a:r>
            <a:r>
              <a:rPr sz="2400" b="1" kern="0" spc="-3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。我们需要加速，但移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动设备的功耗和面积预算极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其有限。</a:t>
            </a:r>
            <a:endParaRPr sz="2400"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algn="l" rtl="0" eaLnBrk="0">
              <a:lnSpc>
                <a:spcPct val="110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0" indent="-336550" algn="l" rtl="0" eaLnBrk="0">
              <a:lnSpc>
                <a:spcPct val="131000"/>
              </a:lnSpc>
              <a:spcBef>
                <a:spcPts val="845"/>
              </a:spcBef>
            </a:pPr>
            <a:r>
              <a:rPr kern="0" spc="11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*</a:t>
            </a:r>
            <a:r>
              <a:rPr kern="0" spc="-450" dirty="0">
                <a:solidFill>
                  <a:srgbClr val="2070C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移动应用(浏览器、操作系统、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实时通信等)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中充满了需要高性能和高能效的细粒度数据并</a:t>
            </a:r>
            <a:r>
              <a:rPr kern="0" spc="3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行任务。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2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30200" algn="l" rtl="0" eaLnBrk="0">
              <a:lnSpc>
                <a:spcPct val="122000"/>
              </a:lnSpc>
              <a:spcBef>
                <a:spcPts val="0"/>
              </a:spcBef>
            </a:pPr>
            <a:r>
              <a:rPr kern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*</a:t>
            </a:r>
            <a:r>
              <a:rPr kern="0" spc="-40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传统的解决方案难以满足这些日</a:t>
            </a: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益增长的需求，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移动处理器正面临性能和功耗的瓶颈。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/>
            <a:endParaRPr lang="zh-CN" alt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56170" y="2255520"/>
            <a:ext cx="4557395" cy="3954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14425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扩展困境：两条充满缺</a:t>
            </a:r>
            <a:r>
              <a:rPr sz="3200" b="1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陷的道路</a:t>
            </a:r>
            <a:endParaRPr lang="zh-CN" altLang="en-US" sz="3200" b="1" kern="0" spc="5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39090" y="1843405"/>
            <a:ext cx="5669915" cy="491617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217285" y="1843405"/>
            <a:ext cx="5757545" cy="491617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03655" y="2351405"/>
            <a:ext cx="3479800" cy="233045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107440" y="1843405"/>
            <a:ext cx="4208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路径一：扩展片上</a:t>
            </a:r>
            <a:r>
              <a:rPr lang="en-US" sz="2000" b="1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SIMD</a:t>
            </a:r>
            <a:r>
              <a:rPr lang="en-US" sz="2000" b="1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单元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991985" y="1843405"/>
            <a:ext cx="4208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路径二：卸载至GPU/DSP</a:t>
            </a:r>
            <a:endParaRPr lang="zh-CN" altLang="en-US"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690" y="2351405"/>
            <a:ext cx="5118100" cy="21272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39090" y="4681855"/>
            <a:ext cx="5669280" cy="2310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5875" algn="l" rtl="0" eaLnBrk="0">
              <a:lnSpc>
                <a:spcPct val="117000"/>
              </a:lnSpc>
            </a:pPr>
            <a:r>
              <a:rPr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方法：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</a:t>
            </a:r>
            <a:r>
              <a:rPr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核心内的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SIMD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单元宽</a:t>
            </a:r>
            <a:r>
              <a:rPr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度(例如，将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Arm</a:t>
            </a:r>
            <a:r>
              <a:rPr kern="0" spc="2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Neon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从128位扩展)。</a:t>
            </a:r>
            <a:endParaRPr kern="0" spc="14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5875" algn="l" rtl="0" eaLnBrk="0">
              <a:lnSpc>
                <a:spcPct val="117000"/>
              </a:lnSpc>
            </a:pPr>
            <a:r>
              <a:rPr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问题：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面积和功耗成本过高。所有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Arm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移动处理</a:t>
            </a: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器均受限于128</a:t>
            </a: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位向量单元。</a:t>
            </a:r>
            <a:endParaRPr kern="0" spc="-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5875" algn="l" rtl="0" eaLnBrk="0">
              <a:lnSpc>
                <a:spcPct val="117000"/>
              </a:lnSpc>
            </a:pPr>
            <a:r>
              <a:rPr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数据：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传统向量单元(如</a:t>
            </a:r>
            <a:r>
              <a:rPr kern="0" spc="-5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Neon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kern="0" spc="7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会给核心带来</a:t>
            </a:r>
            <a:r>
              <a:rPr b="1" kern="0" spc="40" dirty="0">
                <a:solidFill>
                  <a:srgbClr val="D08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16.3%</a:t>
            </a:r>
            <a:r>
              <a:rPr kern="0" spc="710" dirty="0">
                <a:solidFill>
                  <a:srgbClr val="D08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的面积开</a:t>
            </a:r>
            <a:r>
              <a:rPr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销。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7285" y="4778375"/>
            <a:ext cx="5622925" cy="14585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5875" algn="l" rtl="0" eaLnBrk="0">
              <a:lnSpc>
                <a:spcPct val="97000"/>
              </a:lnSpc>
            </a:pP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方法：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将任务交给专用的加速器。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875" algn="l" rtl="0" eaLnBrk="0">
              <a:lnSpc>
                <a:spcPct val="97000"/>
              </a:lnSpc>
              <a:spcBef>
                <a:spcPts val="1290"/>
              </a:spcBef>
            </a:pP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问题：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对于细粒度任务，数据传输和内核启动开销过大，效率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低下</a:t>
            </a:r>
            <a:r>
              <a:rPr sz="20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希望与瓶颈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4425" y="1259205"/>
            <a:ext cx="9963150" cy="56959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74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37000"/>
              </a:lnSpc>
            </a:pPr>
            <a:r>
              <a:rPr sz="3200" b="1" kern="0" spc="1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缓存内计算：巨大的潜力与致命的瓶颈</a:t>
            </a:r>
            <a:endParaRPr lang="zh-CN" altLang="en-US" sz="3200" b="1" kern="0" spc="11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39845" y="1965325"/>
            <a:ext cx="4698365" cy="489267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4835" y="2066925"/>
            <a:ext cx="3608705" cy="369189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3839845" y="5996305"/>
            <a:ext cx="4698365" cy="631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96000"/>
              </a:lnSpc>
              <a:spcBef>
                <a:spcPts val="0"/>
              </a:spcBef>
            </a:pPr>
            <a:r>
              <a:rPr sz="44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利用率仅为</a:t>
            </a:r>
            <a:r>
              <a:rPr sz="4400" kern="0" spc="-14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4400" b="1" kern="0" spc="90" dirty="0">
                <a:solidFill>
                  <a:srgbClr val="F0701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23%</a:t>
            </a:r>
            <a:endParaRPr sz="4400" b="1" kern="0" spc="90" dirty="0">
              <a:solidFill>
                <a:srgbClr val="F0701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339090" y="1965325"/>
            <a:ext cx="3423285" cy="4749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The</a:t>
            </a:r>
            <a:r>
              <a:rPr sz="3200" b="1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Promise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8735" algn="l" rtl="0" eaLnBrk="0">
              <a:lnSpc>
                <a:spcPct val="133000"/>
              </a:lnSpc>
              <a:spcBef>
                <a:spcPts val="730"/>
              </a:spcBef>
            </a:pP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b="1" kern="0" spc="-4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概念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：将二级缓存 (L2</a:t>
            </a:r>
            <a:r>
              <a:rPr lang="en-US" sz="20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sz="2000" kern="0" spc="7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的一部分转化为大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规模并行计算引擎。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1150" indent="-272415" algn="l" rtl="0" eaLnBrk="0">
              <a:lnSpc>
                <a:spcPct val="133000"/>
              </a:lnSpc>
              <a:spcBef>
                <a:spcPts val="725"/>
              </a:spcBef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b="1" kern="0" spc="-5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优势</a:t>
            </a: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：以极低的成本实现巨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大的计算吞吐量。</a:t>
            </a:r>
            <a:endParaRPr sz="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33000"/>
              </a:lnSpc>
            </a:pP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1150" indent="-272415" algn="l" rtl="0" eaLnBrk="0">
              <a:lnSpc>
                <a:spcPct val="133000"/>
              </a:lnSpc>
              <a:spcBef>
                <a:spcPts val="5"/>
              </a:spcBef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·示例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：256</a:t>
            </a:r>
            <a:r>
              <a:rPr sz="20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KB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L2</a:t>
            </a: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</a:t>
            </a:r>
            <a:endParaRPr sz="2000" kern="0" spc="-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1150" indent="-272415" algn="l" rtl="0" eaLnBrk="0">
              <a:lnSpc>
                <a:spcPct val="133000"/>
              </a:lnSpc>
              <a:spcBef>
                <a:spcPts val="5"/>
              </a:spcBef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r>
              <a:rPr lang="zh-CN" altLang="en-US" sz="20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等效为最多</a:t>
            </a:r>
            <a:r>
              <a:rPr lang="en-US" altLang="zh-CN" sz="20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8192 </a:t>
            </a:r>
            <a:r>
              <a:rPr lang="zh-CN" altLang="en-US" sz="20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路并行的逻辑向量执行通道</a:t>
            </a:r>
            <a:r>
              <a:rPr lang="zh-CN" sz="20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面积开销仅3.5%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 kern="0" spc="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8550275" y="1965325"/>
            <a:ext cx="3528695" cy="4914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2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The</a:t>
            </a:r>
            <a:r>
              <a:rPr sz="3200" b="1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32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Bottleneck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8135" indent="-260350" algn="l" rtl="0" eaLnBrk="0">
              <a:lnSpc>
                <a:spcPct val="140000"/>
              </a:lnSpc>
              <a:spcBef>
                <a:spcPts val="725"/>
              </a:spcBef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b="1" kern="0" spc="-5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核心矛盾</a:t>
            </a: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：现有的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长向量</a:t>
            </a:r>
            <a:r>
              <a:rPr sz="2000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指令集(如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RISC</a:t>
            </a:r>
            <a:r>
              <a:rPr sz="2000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sz="2000" kern="0" spc="3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RVV</a:t>
            </a:r>
            <a:r>
              <a:rPr sz="2000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仅支持一维内存访问。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8135" indent="-260350" algn="l" rtl="0" eaLnBrk="0">
              <a:lnSpc>
                <a:spcPct val="140000"/>
              </a:lnSpc>
              <a:spcBef>
                <a:spcPts val="725"/>
              </a:spcBef>
            </a:pPr>
            <a:r>
              <a:rPr lang="en-US" sz="20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残酷现实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：移动内</a:t>
            </a:r>
            <a:r>
              <a:rPr sz="20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核的特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性是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一维并行度有限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(平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均仅635个元素)。</a:t>
            </a:r>
            <a:endParaRPr sz="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40000"/>
              </a:lnSpc>
            </a:pPr>
            <a:endParaRPr sz="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6235" indent="-298450" algn="l" rtl="0" eaLnBrk="0">
              <a:lnSpc>
                <a:spcPct val="140000"/>
              </a:lnSpc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最终结果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强大的引擎因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“喂不饱”而大量闲置。</a:t>
            </a:r>
            <a:endParaRPr sz="2000" kern="0" spc="-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11176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MVE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3790" y="1172210"/>
            <a:ext cx="9963150" cy="5530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</a:t>
            </a:r>
            <a:r>
              <a:rPr sz="3200" b="1" kern="0" spc="-3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登场：解锁移动端的多维并行潜力</a:t>
            </a:r>
            <a:endParaRPr lang="zh-CN" altLang="en-US" sz="3200" b="1" kern="0" spc="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090" y="4853305"/>
            <a:ext cx="11515090" cy="184404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584960" y="1773555"/>
            <a:ext cx="9059545" cy="2132330"/>
            <a:chOff x="4010" y="3170"/>
            <a:chExt cx="19500" cy="5260"/>
          </a:xfrm>
        </p:grpSpPr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200" y="3170"/>
              <a:ext cx="7310" cy="5260"/>
            </a:xfrm>
            <a:prstGeom prst="rect">
              <a:avLst/>
            </a:prstGeom>
          </p:spPr>
        </p:pic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4010" y="3370"/>
              <a:ext cx="7300" cy="4950"/>
            </a:xfrm>
            <a:prstGeom prst="rect">
              <a:avLst/>
            </a:prstGeom>
          </p:spPr>
        </p:pic>
        <p:sp>
          <p:nvSpPr>
            <p:cNvPr id="62" name="textbox 62"/>
            <p:cNvSpPr/>
            <p:nvPr/>
          </p:nvSpPr>
          <p:spPr>
            <a:xfrm>
              <a:off x="11547" y="4814"/>
              <a:ext cx="4417" cy="20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1000"/>
                </a:lnSpc>
              </a:pPr>
              <a:r>
                <a:rPr sz="7200" b="1" kern="0" spc="-230" dirty="0">
                  <a:solidFill>
                    <a:srgbClr val="1070E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MVE</a:t>
              </a:r>
              <a:endParaRPr sz="7200" b="1" kern="0" spc="-230" dirty="0">
                <a:solidFill>
                  <a:srgbClr val="107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4" name="textbox 54"/>
          <p:cNvSpPr/>
          <p:nvPr/>
        </p:nvSpPr>
        <p:spPr>
          <a:xfrm>
            <a:off x="1113790" y="4087495"/>
            <a:ext cx="9963150" cy="665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0" algn="l" rtl="0" eaLnBrk="0">
              <a:lnSpc>
                <a:spcPct val="104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MVE(Multi-dimensional Vector ISA Extension)</a:t>
            </a:r>
            <a:r>
              <a:rPr sz="2000" kern="0" spc="-6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是一种全新的长向量指令集扩展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，旨在充分挖掘移动内核中固有的多维并行性，从而完全释放缓存内计算引擎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的强大能力。</a:t>
            </a:r>
            <a:endParaRPr sz="20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506095" y="4935220"/>
            <a:ext cx="5400040" cy="176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117000"/>
              </a:lnSpc>
            </a:pPr>
            <a:r>
              <a:rPr sz="24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sz="2400" kern="0" spc="-6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高利用率</a:t>
            </a:r>
            <a:endParaRPr sz="2400" b="1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" algn="l" rtl="0" eaLnBrk="0">
              <a:lnSpc>
                <a:spcPct val="117000"/>
              </a:lnSpc>
            </a:pPr>
            <a:r>
              <a:rPr lang="en-US" sz="20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开发一套紧凑的指令集，用极少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的指令表达复杂的向量计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算，让8192个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SIMD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通道不再“挨饿”。</a:t>
            </a:r>
            <a:endParaRPr sz="2000" kern="0" spc="-24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6264275" y="4852035"/>
            <a:ext cx="5589905" cy="186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117000"/>
              </a:lnSpc>
            </a:pPr>
            <a:r>
              <a:rPr sz="2500" b="1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2.编程友好</a:t>
            </a:r>
            <a:endParaRPr sz="2500" b="1" kern="0" spc="2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" algn="l" rtl="0" eaLnBrk="0">
              <a:lnSpc>
                <a:spcPct val="117000"/>
              </a:lnSpc>
            </a:pPr>
            <a:r>
              <a:rPr lang="en-US" sz="2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抽象底层缓存的几何结构和数据布局，让开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发者可以像使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用标准向量扩展一样进行编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程，无需关心物理细节。</a:t>
            </a:r>
            <a:endParaRPr sz="2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5645" y="1051560"/>
            <a:ext cx="10760075" cy="47879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76450" algn="l" rtl="0" eaLnBrk="0">
              <a:lnSpc>
                <a:spcPct val="96000"/>
              </a:lnSpc>
            </a:pPr>
            <a:endParaRPr lang="zh-CN" altLang="en-US" sz="2800" b="1" kern="0" spc="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2082800"/>
            <a:ext cx="5730875" cy="455295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11176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MVE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5985" y="963295"/>
            <a:ext cx="10583545" cy="567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核心思想：从一维线性向量到多维逻辑向量的飞跃</a:t>
            </a:r>
            <a:endParaRPr lang="zh-CN" altLang="en-US" sz="2800" b="1" kern="0" spc="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  <a:p>
            <a:pPr algn="ctr"/>
            <a:endParaRPr lang="zh-CN" altLang="en-US" sz="2800" b="1" kern="0" spc="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623060"/>
            <a:ext cx="1219073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将物理上扁平的8192通道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SIMD</a:t>
            </a:r>
            <a:r>
              <a:rPr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寄存器，在逻辑上抽象</a:t>
            </a: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为多达四个维度的向量寄存器(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</a:t>
            </a: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[w][z][y][x])。</a:t>
            </a:r>
            <a:endParaRPr lang="zh-CN" altLang="en-US" kern="0" spc="1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10935" y="2083435"/>
            <a:ext cx="5730875" cy="458660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34365" y="2083435"/>
            <a:ext cx="470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变革前(传统一维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ISA</a:t>
            </a:r>
            <a:r>
              <a:rPr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 如</a:t>
            </a:r>
            <a:r>
              <a:rPr kern="0" spc="-5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RVV</a:t>
            </a:r>
            <a:r>
              <a:rPr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10935" y="2082800"/>
            <a:ext cx="5731510" cy="36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53745" algn="l" rtl="0" eaLnBrk="0">
              <a:lnSpc>
                <a:spcPct val="97000"/>
              </a:lnSpc>
              <a:spcBef>
                <a:spcPts val="5"/>
              </a:spcBef>
            </a:pPr>
            <a:r>
              <a:rPr lang="en-US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</a:t>
            </a:r>
            <a:r>
              <a:rPr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变革后</a:t>
            </a:r>
            <a:r>
              <a:rPr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b="1" kern="0" spc="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004570" y="2451735"/>
            <a:ext cx="4164330" cy="2218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6000"/>
              </a:lnSpc>
            </a:pPr>
            <a:r>
              <a:rPr sz="1600" kern="0" spc="140" dirty="0">
                <a:solidFill>
                  <a:srgbClr val="705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//处理二继数据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06000"/>
              </a:lnSpc>
              <a:spcBef>
                <a:spcPts val="10"/>
              </a:spcBef>
            </a:pPr>
            <a:r>
              <a:rPr sz="1600" kern="0" spc="0" dirty="0">
                <a:solidFill>
                  <a:srgbClr val="905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sz="1600" kern="0" spc="500" dirty="0">
                <a:solidFill>
                  <a:srgbClr val="905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(i=0</a:t>
            </a:r>
            <a:r>
              <a:rPr lang="en-US"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r>
              <a:rPr lang="en-US"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i&lt;N</a:t>
            </a:r>
            <a:r>
              <a:rPr lang="en-US"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r>
              <a:rPr lang="en-US"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i+=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){</a:t>
            </a:r>
            <a:endParaRPr sz="1600" kern="0" spc="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indent="457200" algn="l" rtl="0" eaLnBrk="0">
              <a:lnSpc>
                <a:spcPct val="106000"/>
              </a:lnSpc>
              <a:spcBef>
                <a:spcPts val="10"/>
              </a:spcBef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vl  =</a:t>
            </a:r>
            <a:r>
              <a:rPr sz="16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70" dirty="0">
                <a:solidFill>
                  <a:srgbClr val="B07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vsetv</a:t>
            </a:r>
            <a:r>
              <a:rPr sz="1600" kern="0" spc="-80" dirty="0">
                <a:solidFill>
                  <a:srgbClr val="B07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l_e32m8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en-US"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en-US"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en-US"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38150" algn="l" rtl="0" eaLnBrk="0">
              <a:lnSpc>
                <a:spcPct val="106000"/>
              </a:lnSpc>
              <a:spcBef>
                <a:spcPts val="485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mask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lang="en-US"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1600" kern="0" spc="-4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600" kern="0" spc="-4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r>
              <a:rPr sz="16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1600" kern="0" spc="-40" dirty="0">
                <a:solidFill>
                  <a:srgbClr val="70502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sz="1600" kern="0" spc="300" dirty="0">
                <a:solidFill>
                  <a:srgbClr val="70502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40" dirty="0">
                <a:solidFill>
                  <a:srgbClr val="70502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 复杂的掩玛生成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indent="457200" algn="l" rtl="0" eaLnBrk="0">
              <a:lnSpc>
                <a:spcPct val="106000"/>
              </a:lnSpc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v_data =</a:t>
            </a: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20" dirty="0">
                <a:solidFill>
                  <a:srgbClr val="B0602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vload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(addr</a:t>
            </a:r>
            <a:r>
              <a:rPr lang="en-US"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en-US"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ask);</a:t>
            </a:r>
            <a:endParaRPr sz="16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700" indent="457200" algn="l" rtl="0" eaLnBrk="0">
              <a:lnSpc>
                <a:spcPct val="106000"/>
              </a:lnSpc>
            </a:pPr>
            <a:r>
              <a:rPr sz="1600" kern="0" spc="50" dirty="0">
                <a:solidFill>
                  <a:srgbClr val="7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//需要</a:t>
            </a:r>
            <a:r>
              <a:rPr lang="zh-CN" sz="1600" kern="0" spc="50" dirty="0">
                <a:solidFill>
                  <a:srgbClr val="7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额</a:t>
            </a:r>
            <a:r>
              <a:rPr sz="1600" kern="0" spc="50" dirty="0">
                <a:solidFill>
                  <a:srgbClr val="7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外的打包/解包和循环微套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06000"/>
              </a:lnSpc>
              <a:spcBef>
                <a:spcPts val="28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06000"/>
              </a:lnSpc>
              <a:spcBef>
                <a:spcPts val="0"/>
              </a:spcBef>
            </a:pPr>
            <a:r>
              <a:rPr sz="1600" kern="0" spc="180" dirty="0">
                <a:solidFill>
                  <a:srgbClr val="7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//复杂且冗长</a:t>
            </a:r>
            <a:endParaRPr sz="1600" kern="0" spc="180" dirty="0">
              <a:solidFill>
                <a:srgbClr val="70603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45" y="4669790"/>
            <a:ext cx="4747260" cy="74549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207645" y="5477510"/>
            <a:ext cx="5730240" cy="1193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2000"/>
              </a:lnSpc>
            </a:pPr>
            <a:r>
              <a:rPr b="1"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·</a:t>
            </a:r>
            <a:r>
              <a:rPr kern="0" spc="-7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</a:t>
            </a:r>
            <a:r>
              <a:rPr b="1"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将所有数据视为一个长的</a:t>
            </a:r>
            <a:r>
              <a:rPr b="1"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一维向量。</a:t>
            </a:r>
            <a:endParaRPr b="1"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marL="234315" indent="-221615" algn="l" rtl="0" eaLnBrk="0">
              <a:lnSpc>
                <a:spcPct val="102000"/>
              </a:lnSpc>
              <a:spcBef>
                <a:spcPts val="530"/>
              </a:spcBef>
            </a:pPr>
            <a:r>
              <a:rPr b="1"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·处理多维数据需要复杂的循环、掩码</a:t>
            </a:r>
            <a:r>
              <a:rPr b="1" kern="0" spc="-2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</a:t>
            </a:r>
            <a:r>
              <a:rPr b="1"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(mask)以及打包/</a:t>
            </a:r>
            <a:r>
              <a:rPr b="1" kern="0" spc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</a:t>
            </a:r>
            <a:r>
              <a:rPr b="1" kern="0" spc="1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解包指令。</a:t>
            </a:r>
            <a:endParaRPr b="1"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marL="12700" algn="l" rtl="0" eaLnBrk="0">
              <a:lnSpc>
                <a:spcPct val="102000"/>
              </a:lnSpc>
              <a:spcBef>
                <a:spcPts val="0"/>
              </a:spcBef>
            </a:pPr>
            <a:r>
              <a:rPr b="1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·</a:t>
            </a:r>
            <a:r>
              <a:rPr b="1" kern="0" spc="-7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</a:t>
            </a:r>
            <a:r>
              <a:rPr b="1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指令数量多，效率</a:t>
            </a:r>
            <a:r>
              <a:rPr b="1" kern="0" spc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低下。</a:t>
            </a:r>
            <a:endParaRPr b="1" kern="0" spc="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13" name="textbox 76"/>
          <p:cNvSpPr/>
          <p:nvPr/>
        </p:nvSpPr>
        <p:spPr>
          <a:xfrm>
            <a:off x="6710045" y="2451735"/>
            <a:ext cx="5022850" cy="602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r>
              <a:rPr sz="2000" kern="0" dirty="0">
                <a:solidFill>
                  <a:srgbClr val="3070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vload_2d   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(PRθ,addr,stride_x,stride_y);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</a:t>
            </a:r>
            <a:r>
              <a:rPr sz="2000" kern="0" spc="-10" dirty="0">
                <a:solidFill>
                  <a:srgbClr val="8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2000" kern="0" spc="370" dirty="0">
                <a:solidFill>
                  <a:srgbClr val="8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spc="-10" dirty="0">
                <a:solidFill>
                  <a:srgbClr val="806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单条指令描述二继加载</a:t>
            </a:r>
            <a:endParaRPr sz="2000" kern="0" spc="-10" dirty="0">
              <a:solidFill>
                <a:srgbClr val="80603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71485" y="2995295"/>
            <a:ext cx="2007870" cy="18859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210300" y="4881880"/>
            <a:ext cx="5730875" cy="184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2700" algn="l" rtl="0" eaLnBrk="0">
              <a:lnSpc>
                <a:spcPct val="114000"/>
              </a:lnSpc>
            </a:pPr>
            <a:r>
              <a:rPr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·</a:t>
            </a:r>
            <a:r>
              <a:rPr kern="0" spc="-7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通过指令配置维度数量和长度。</a:t>
            </a:r>
            <a:endParaRPr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marL="266700" indent="-254000" algn="l" rtl="0" eaLnBrk="0">
              <a:lnSpc>
                <a:spcPct val="114000"/>
              </a:lnSpc>
              <a:spcBef>
                <a:spcPts val="765"/>
              </a:spcBef>
              <a:tabLst>
                <a:tab pos="438150" algn="l"/>
              </a:tabLst>
            </a:pP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·单条指令即可描述复杂的多维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内存访问模式，如跨步访问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(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strided</a:t>
            </a:r>
            <a:r>
              <a:rPr lang="en-US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access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)、随机访问(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random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access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)</a:t>
            </a:r>
            <a:r>
              <a:rPr kern="0" spc="4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5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和数据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复制</a:t>
            </a:r>
            <a:r>
              <a:rPr kern="0" spc="-2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(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replication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)。</a:t>
            </a:r>
            <a:endParaRPr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marL="12700" algn="l" rtl="0" eaLnBrk="0">
              <a:lnSpc>
                <a:spcPct val="114000"/>
              </a:lnSpc>
              <a:spcBef>
                <a:spcPts val="580"/>
              </a:spcBef>
            </a:pP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·</a:t>
            </a:r>
            <a:r>
              <a:rPr kern="0" spc="-6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指令简洁、高效。</a:t>
            </a:r>
            <a:endParaRPr lang="zh-CN" altLang="en-US"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kern="0" spc="-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MVE实战：单条指令轻松驾驭复杂访存模式</a:t>
            </a:r>
            <a:endParaRPr lang="zh-CN" altLang="en-US" sz="2800" b="1" kern="0" spc="-1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2190750"/>
            <a:ext cx="11794490" cy="444500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11176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MVE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8145" y="1809750"/>
            <a:ext cx="9274810" cy="3803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2700" algn="l" rtl="0" eaLnBrk="0">
              <a:lnSpc>
                <a:spcPct val="94000"/>
              </a:lnSpc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示例一：带复制功能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的多维跨步访问 (Strided Access with Replication)</a:t>
            </a:r>
            <a:endParaRPr lang="zh-CN" altLang="en-US" sz="2000" kern="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68325" y="2910840"/>
            <a:ext cx="11055350" cy="2197100"/>
            <a:chOff x="4990" y="3270"/>
            <a:chExt cx="17410" cy="3460"/>
          </a:xfrm>
        </p:grpSpPr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7200" y="3270"/>
              <a:ext cx="5200" cy="3460"/>
            </a:xfrm>
            <a:prstGeom prst="rect">
              <a:avLst/>
            </a:prstGeom>
          </p:spPr>
        </p:pic>
        <p:pic>
          <p:nvPicPr>
            <p:cNvPr id="102" name="picture 1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4990" y="3470"/>
              <a:ext cx="4800" cy="3260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4244975" y="3204845"/>
            <a:ext cx="3536315" cy="1541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vsld(stride=0)</a:t>
            </a:r>
            <a:endParaRPr lang="en-US" altLang="zh-CN" sz="32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zh-CN"/>
          </a:p>
          <a:p>
            <a:endParaRPr lang="en-US" altLang="zh-CN"/>
          </a:p>
          <a:p>
            <a:pPr algn="ctr"/>
            <a:r>
              <a:rPr lang="en-US" altLang="zh-CN" sz="2000"/>
              <a:t>Inter  Regular</a:t>
            </a:r>
            <a:endParaRPr lang="en-US" altLang="zh-CN" sz="2000"/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44975" y="3946525"/>
            <a:ext cx="3504565" cy="2279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0210" y="2414270"/>
            <a:ext cx="6885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场景：图像/视频编码中的Intrapicture Pred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iction</a:t>
            </a:r>
            <a:r>
              <a:rPr sz="2000" kern="0" spc="-3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内核。</a:t>
            </a:r>
            <a:endParaRPr lang="zh-CN" altLang="en-US" sz="2000" kern="0" spc="-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9725" y="5457190"/>
            <a:ext cx="4267200" cy="116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2700" algn="l" rtl="0" eaLnBrk="0">
              <a:lnSpc>
                <a:spcPts val="2505"/>
              </a:lnSpc>
              <a:spcBef>
                <a:spcPts val="860"/>
              </a:spcBef>
            </a:pPr>
            <a:r>
              <a:rPr sz="3200" b="1" kern="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RVV</a:t>
            </a:r>
            <a:r>
              <a:rPr sz="3200" b="1" kern="0" spc="1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方式：</a:t>
            </a:r>
            <a:r>
              <a:rPr sz="3200" kern="0" spc="1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需要</a:t>
            </a:r>
            <a:r>
              <a:rPr sz="3200" b="1" kern="0" spc="10" baseline="-3000" dirty="0">
                <a:solidFill>
                  <a:srgbClr val="207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6</a:t>
            </a:r>
            <a:r>
              <a:rPr sz="3200" kern="0" spc="-370" dirty="0">
                <a:solidFill>
                  <a:srgbClr val="207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b="1" kern="0" spc="10" baseline="-3000" dirty="0">
                <a:solidFill>
                  <a:srgbClr val="207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条</a:t>
            </a:r>
            <a:r>
              <a:rPr sz="3200" b="1" kern="0" spc="1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跨</a:t>
            </a:r>
            <a:r>
              <a:rPr sz="3200" kern="0" spc="1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步加载指令和</a:t>
            </a:r>
            <a:r>
              <a:rPr sz="3200" kern="0" spc="10" baseline="-3000" dirty="0">
                <a:solidFill>
                  <a:srgbClr val="206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6</a:t>
            </a:r>
            <a:r>
              <a:rPr sz="3200" kern="0" spc="-280" dirty="0">
                <a:solidFill>
                  <a:srgbClr val="206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kern="0" spc="10" baseline="-3000" dirty="0">
                <a:solidFill>
                  <a:srgbClr val="206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条</a:t>
            </a:r>
            <a:r>
              <a:rPr sz="3200" kern="0" spc="1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掩码加载指令。</a:t>
            </a:r>
            <a:r>
              <a:rPr sz="3200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        </a:t>
            </a:r>
            <a:endParaRPr lang="en-US" sz="2800" b="1" kern="0" spc="10" baseline="1100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70445" y="5320665"/>
            <a:ext cx="4544695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200" b="1" kern="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</a:t>
            </a:r>
            <a:r>
              <a:rPr sz="3200" b="1" kern="0" spc="2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方式：</a:t>
            </a:r>
            <a:r>
              <a:rPr sz="3200" b="1" kern="0" spc="10" baseline="11000" dirty="0">
                <a:solidFill>
                  <a:srgbClr val="107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仅需1条</a:t>
            </a:r>
            <a:r>
              <a:rPr sz="3200" b="1" kern="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vsld</a:t>
            </a:r>
            <a:r>
              <a:rPr sz="3200" b="1" kern="0" spc="-5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指令，</a:t>
            </a:r>
            <a:r>
              <a:rPr lang="en-US"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                </a:t>
            </a:r>
            <a:r>
              <a:rPr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通过将</a:t>
            </a:r>
            <a:r>
              <a:rPr sz="3200" b="1" kern="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stride</a:t>
            </a:r>
            <a:r>
              <a:rPr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设置为0即可实现复制。</a:t>
            </a:r>
            <a:r>
              <a:rPr lang="en-US"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</a:t>
            </a:r>
            <a:r>
              <a:rPr lang="en-US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                               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kern="0" spc="-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MVE实战：单条指令轻松驾驭复杂访存模式</a:t>
            </a:r>
            <a:endParaRPr lang="zh-CN" altLang="en-US" sz="2800" b="1" kern="0" spc="-1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2190750"/>
            <a:ext cx="11633200" cy="444500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11176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MVE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8145" y="1809750"/>
            <a:ext cx="9274810" cy="374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6510" algn="l" rtl="0" eaLnBrk="0">
              <a:lnSpc>
                <a:spcPct val="92000"/>
              </a:lnSpc>
              <a:spcBef>
                <a:spcPts val="700"/>
              </a:spcBef>
            </a:pP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示例二：带跨步的随机访问</a:t>
            </a:r>
            <a:r>
              <a:rPr sz="2000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Random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Access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with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Striding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2000" kern="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8145" y="2320290"/>
            <a:ext cx="9564370" cy="505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场</a:t>
            </a:r>
            <a:r>
              <a:rPr sz="20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景</a:t>
            </a:r>
            <a:r>
              <a:rPr sz="20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libjpeg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库中的图像处理，图像的每一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行存在不连续的内存地址。</a:t>
            </a:r>
            <a:endParaRPr lang="zh-CN" altLang="en-US" sz="2000" kern="0" spc="14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90550" y="2807335"/>
            <a:ext cx="10575290" cy="2339975"/>
            <a:chOff x="3567" y="9790"/>
            <a:chExt cx="19123" cy="4259"/>
          </a:xfrm>
        </p:grpSpPr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4090" y="9910"/>
              <a:ext cx="5880" cy="3290"/>
            </a:xfrm>
            <a:prstGeom prst="rect">
              <a:avLst/>
            </a:prstGeom>
          </p:spPr>
        </p:pic>
        <p:pic>
          <p:nvPicPr>
            <p:cNvPr id="98" name="picture 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7710" y="9790"/>
              <a:ext cx="4980" cy="3440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3567" y="10057"/>
              <a:ext cx="19123" cy="3992"/>
              <a:chOff x="3567" y="10057"/>
              <a:chExt cx="19123" cy="3992"/>
            </a:xfrm>
          </p:grpSpPr>
          <p:sp>
            <p:nvSpPr>
              <p:cNvPr id="10" name="textbox 108"/>
              <p:cNvSpPr/>
              <p:nvPr/>
            </p:nvSpPr>
            <p:spPr>
              <a:xfrm>
                <a:off x="11846" y="10750"/>
                <a:ext cx="3483" cy="2024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3000"/>
                  </a:lnSpc>
                </a:pPr>
                <a:endParaRPr sz="1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425450" algn="l" rtl="0" eaLnBrk="0">
                  <a:lnSpc>
                    <a:spcPct val="81000"/>
                  </a:lnSpc>
                </a:pPr>
                <a:r>
                  <a:rPr sz="3600" b="1" kern="0" spc="-70" dirty="0"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vrld</a:t>
                </a:r>
                <a:endParaRPr sz="3600" dirty="0"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algn="l" rtl="0" eaLnBrk="0">
                  <a:lnSpc>
                    <a:spcPct val="111000"/>
                  </a:lnSpc>
                </a:pPr>
                <a:endParaRPr sz="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algn="l" rtl="0" eaLnBrk="0">
                  <a:lnSpc>
                    <a:spcPct val="111000"/>
                  </a:lnSpc>
                </a:pPr>
                <a:endParaRPr sz="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algn="l" rtl="0" eaLnBrk="0">
                  <a:lnSpc>
                    <a:spcPct val="111000"/>
                  </a:lnSpc>
                </a:pPr>
                <a:endParaRPr sz="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algn="l" rtl="0" eaLnBrk="0">
                  <a:lnSpc>
                    <a:spcPct val="7000"/>
                  </a:lnSpc>
                </a:pPr>
                <a:endParaRPr sz="1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 algn="ctr" rtl="0" eaLnBrk="0">
                  <a:lnSpc>
                    <a:spcPts val="2385"/>
                  </a:lnSpc>
                </a:pPr>
                <a:r>
                  <a:rPr sz="1700" kern="0" spc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Inter</a:t>
                </a:r>
                <a:r>
                  <a:rPr sz="1700" kern="0" spc="6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</a:t>
                </a:r>
                <a:r>
                  <a:rPr sz="1700" kern="0" spc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Regu</a:t>
                </a:r>
                <a:r>
                  <a:rPr sz="1700" kern="0" spc="-1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lar</a:t>
                </a:r>
                <a:endParaRPr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pic>
            <p:nvPicPr>
              <p:cNvPr id="11" name="picture 1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1600000">
                <a:off x="10922" y="11601"/>
                <a:ext cx="5971" cy="389"/>
              </a:xfrm>
              <a:prstGeom prst="rect">
                <a:avLst/>
              </a:prstGeom>
            </p:spPr>
          </p:pic>
          <p:sp>
            <p:nvSpPr>
              <p:cNvPr id="12" name="textbox 112"/>
              <p:cNvSpPr/>
              <p:nvPr/>
            </p:nvSpPr>
            <p:spPr>
              <a:xfrm rot="16200000">
                <a:off x="2356" y="11267"/>
                <a:ext cx="3091" cy="67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000"/>
                  </a:lnSpc>
                </a:pPr>
                <a:endParaRPr sz="1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r" rtl="0" eaLnBrk="0">
                  <a:lnSpc>
                    <a:spcPts val="2145"/>
                  </a:lnSpc>
                </a:pPr>
                <a:r>
                  <a:rPr sz="1600" kern="0" spc="-30" dirty="0">
                    <a:solidFill>
                      <a:srgbClr val="000000">
                        <a:alpha val="100000"/>
                      </a:srgb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Pointer array</a:t>
                </a:r>
                <a:endParaRPr sz="16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3" name="textbox 114"/>
              <p:cNvSpPr/>
              <p:nvPr/>
            </p:nvSpPr>
            <p:spPr>
              <a:xfrm>
                <a:off x="18654" y="13332"/>
                <a:ext cx="4036" cy="717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9000"/>
                  </a:lnSpc>
                </a:pPr>
                <a:endParaRPr sz="1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12700" algn="l" rtl="0" eaLnBrk="0">
                  <a:lnSpc>
                    <a:spcPct val="83000"/>
                  </a:lnSpc>
                </a:pPr>
                <a:r>
                  <a:rPr sz="1700" kern="0" spc="-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Logical</a:t>
                </a:r>
                <a:r>
                  <a:rPr sz="1700" kern="0" spc="11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sz="1700" kern="0" spc="-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Register</a:t>
                </a:r>
                <a:endParaRPr sz="17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textbox 116"/>
              <p:cNvSpPr/>
              <p:nvPr/>
            </p:nvSpPr>
            <p:spPr>
              <a:xfrm>
                <a:off x="6976" y="13292"/>
                <a:ext cx="2212" cy="757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9000"/>
                  </a:lnSpc>
                </a:pPr>
                <a:endParaRPr sz="1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12700" algn="l" rtl="0" eaLnBrk="0">
                  <a:lnSpc>
                    <a:spcPct val="83000"/>
                  </a:lnSpc>
                </a:pPr>
                <a:r>
                  <a:rPr sz="17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Memory</a:t>
                </a:r>
                <a:endParaRPr sz="17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5" name="文本框 14"/>
          <p:cNvSpPr txBox="1"/>
          <p:nvPr/>
        </p:nvSpPr>
        <p:spPr>
          <a:xfrm>
            <a:off x="398145" y="5307965"/>
            <a:ext cx="4378960" cy="116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2700" algn="l" rtl="0" eaLnBrk="0">
              <a:lnSpc>
                <a:spcPts val="2505"/>
              </a:lnSpc>
              <a:spcBef>
                <a:spcPts val="860"/>
              </a:spcBef>
            </a:pPr>
            <a:r>
              <a:rPr sz="3200" b="1" kern="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RVV</a:t>
            </a:r>
            <a:r>
              <a:rPr sz="3200" b="1" kern="0" spc="10" baseline="-3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方式：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需要多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条掩码化的随机内存访问指令和额外的标量指令来计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算掩码和偏移。</a:t>
            </a:r>
            <a:endParaRPr sz="3200" b="1"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marL="12700" algn="l" rtl="0" eaLnBrk="0">
              <a:lnSpc>
                <a:spcPts val="2505"/>
              </a:lnSpc>
              <a:spcBef>
                <a:spcPts val="860"/>
              </a:spcBef>
            </a:pPr>
            <a:r>
              <a:rPr sz="3200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        </a:t>
            </a:r>
            <a:endParaRPr lang="en-US" sz="2800" b="1" kern="0" spc="10" baseline="1100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95515" y="5203825"/>
            <a:ext cx="4544695" cy="1518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200" b="1" kern="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</a:t>
            </a:r>
            <a:r>
              <a:rPr lang="en-US" sz="3200" b="1" kern="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方式：</a:t>
            </a:r>
            <a:r>
              <a:rPr sz="2400" kern="0" spc="-10" dirty="0">
                <a:solidFill>
                  <a:srgbClr val="2070B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仅需1条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vrld指令，即可处理最高维度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的随机基地址和内层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的跨步模式。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sz="3200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</a:t>
            </a:r>
            <a:r>
              <a:rPr lang="en-US" b="1" kern="0" spc="10" baseline="1100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                                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98425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sz="40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lang="en-US" sz="40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1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架构</a:t>
            </a:r>
            <a:endParaRPr lang="zh-CN" altLang="en-US" sz="4000" b="1" kern="0" spc="1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</a:t>
            </a:r>
            <a:r>
              <a:rPr sz="28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</a:t>
            </a:r>
            <a:r>
              <a:rPr lang="en-US" sz="28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架构：与核心紧密集成，硬件开销极低</a:t>
            </a:r>
            <a:endParaRPr lang="zh-CN" altLang="en-US" sz="2800" b="1" kern="0" spc="1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793240"/>
            <a:ext cx="5643245" cy="494220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338455" y="2185035"/>
            <a:ext cx="5426710" cy="454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展示了为支持MVE</a:t>
            </a:r>
            <a:r>
              <a:rPr sz="1600" kern="0" spc="8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而对缓存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进行的修改。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780" algn="l" rtl="0" eaLnBrk="0">
              <a:lnSpc>
                <a:spcPct val="107000"/>
              </a:lnSpc>
              <a:spcBef>
                <a:spcPts val="880"/>
              </a:spcBef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关键新增组件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86715" indent="-279400" algn="l" rtl="0" eaLnBrk="0">
              <a:lnSpc>
                <a:spcPct val="107000"/>
              </a:lnSpc>
              <a:spcBef>
                <a:spcPts val="690"/>
              </a:spcBef>
            </a:pPr>
            <a:r>
              <a:rPr sz="1600" kern="0" spc="-20" dirty="0">
                <a:solidFill>
                  <a:srgbClr val="208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</a:t>
            </a:r>
            <a:r>
              <a:rPr sz="1600" kern="0" spc="-220" dirty="0">
                <a:solidFill>
                  <a:srgbClr val="208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MVE</a:t>
            </a:r>
            <a:r>
              <a:rPr sz="1600" kern="0" spc="7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控制器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(MVE</a:t>
            </a:r>
            <a:r>
              <a:rPr sz="1600" kern="0" spc="4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Controller):</a:t>
            </a:r>
            <a:r>
              <a:rPr sz="1600" kern="0" spc="6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从核心接收MVE</a:t>
            </a:r>
            <a:r>
              <a:rPr sz="1600" kern="0" spc="6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指令，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解码并分发给计算单元。管理控制寄存器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(CRs)   中的维度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</a:t>
            </a:r>
            <a:r>
              <a:rPr sz="16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置</a:t>
            </a:r>
            <a:r>
              <a:rPr sz="1600" kern="0" spc="-4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86715" indent="-279400" algn="l" rtl="0" eaLnBrk="0">
              <a:lnSpc>
                <a:spcPct val="107000"/>
              </a:lnSpc>
              <a:spcBef>
                <a:spcPts val="690"/>
              </a:spcBef>
              <a:tabLst>
                <a:tab pos="570865" algn="l"/>
              </a:tabLst>
            </a:pPr>
            <a:r>
              <a:rPr sz="1600" kern="0" spc="40" dirty="0">
                <a:solidFill>
                  <a:srgbClr val="206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地址解码器</a:t>
            </a:r>
            <a:r>
              <a:rPr sz="16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Address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Decoder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):位于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Store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Queue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(LSQ)</a:t>
            </a:r>
            <a:r>
              <a:rPr sz="1600" kern="0" spc="5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中，用于计算MVE</a:t>
            </a:r>
            <a:r>
              <a:rPr sz="16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访存指令的地址范围，以解决与</a:t>
            </a:r>
            <a:r>
              <a:rPr sz="1600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标量加载的内存依赖问题。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86715" indent="-279400" algn="l" rtl="0" eaLnBrk="0">
              <a:lnSpc>
                <a:spcPct val="107000"/>
              </a:lnSpc>
              <a:spcBef>
                <a:spcPts val="1075"/>
              </a:spcBef>
            </a:pPr>
            <a:r>
              <a:rPr sz="1600" kern="0" spc="0" dirty="0">
                <a:solidFill>
                  <a:srgbClr val="207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</a:t>
            </a:r>
            <a:r>
              <a:rPr sz="1600" kern="0" spc="-370" dirty="0">
                <a:solidFill>
                  <a:srgbClr val="207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转置内存单元</a:t>
            </a:r>
            <a:r>
              <a:rPr sz="16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(Tran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spose</a:t>
            </a:r>
            <a:r>
              <a:rPr sz="1600" kern="0" spc="3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</a:t>
            </a:r>
            <a:r>
              <a:rPr sz="1600" kern="0" spc="3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Unit,TMU):</a:t>
            </a:r>
            <a:r>
              <a:rPr sz="1600" kern="0" spc="-6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高效地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在内存的水平数据和SRAM  阵列的垂直数据之间进行转换。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780" algn="l" rtl="0" eaLnBrk="0">
              <a:lnSpc>
                <a:spcPct val="107000"/>
              </a:lnSpc>
              <a:spcBef>
                <a:spcPts val="880"/>
              </a:spcBef>
            </a:pP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设计要点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86715" indent="-279400" algn="l" rtl="0" eaLnBrk="0">
              <a:lnSpc>
                <a:spcPct val="107000"/>
              </a:lnSpc>
              <a:spcBef>
                <a:spcPts val="1080"/>
              </a:spcBef>
            </a:pPr>
            <a:r>
              <a:rPr sz="1600" kern="0" spc="-50" dirty="0">
                <a:solidFill>
                  <a:srgbClr val="206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MVE与</a:t>
            </a:r>
            <a:r>
              <a:rPr sz="1600" kern="0" spc="-5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CPU核心紧密集成，支持标量和向量指令的细粒度</a:t>
            </a:r>
            <a:r>
              <a:rPr sz="1600" kern="0" spc="2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交错执行。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86715" indent="-279400" algn="l" rtl="0" eaLnBrk="0">
              <a:lnSpc>
                <a:spcPct val="107000"/>
              </a:lnSpc>
              <a:spcBef>
                <a:spcPts val="0"/>
              </a:spcBef>
            </a:pPr>
            <a:r>
              <a:rPr sz="1600" kern="0" spc="-10" dirty="0">
                <a:solidFill>
                  <a:srgbClr val="306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</a:t>
            </a:r>
            <a:r>
              <a:rPr sz="1600" kern="0" spc="-180" dirty="0">
                <a:solidFill>
                  <a:srgbClr val="306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架构修改集中在L2</a:t>
            </a:r>
            <a:r>
              <a:rPr sz="16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缓存控制器，对CPU</a:t>
            </a:r>
            <a:r>
              <a:rPr sz="1600" kern="0" spc="6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核心流水线影响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</a:t>
            </a:r>
            <a:r>
              <a:rPr sz="1600" kern="0" spc="-4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16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0515" y="1792605"/>
            <a:ext cx="5903595" cy="773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核心架构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  <a:p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049010" y="2296795"/>
            <a:ext cx="5939790" cy="3630295"/>
            <a:chOff x="14330" y="4500"/>
            <a:chExt cx="12080" cy="8050"/>
          </a:xfrm>
        </p:grpSpPr>
        <p:grpSp>
          <p:nvGrpSpPr>
            <p:cNvPr id="9" name="group 2"/>
            <p:cNvGrpSpPr/>
            <p:nvPr/>
          </p:nvGrpSpPr>
          <p:grpSpPr>
            <a:xfrm rot="21600000">
              <a:off x="14330" y="4500"/>
              <a:ext cx="12080" cy="8050"/>
              <a:chOff x="0" y="0"/>
              <a:chExt cx="7670912" cy="5111763"/>
            </a:xfrm>
          </p:grpSpPr>
          <p:pic>
            <p:nvPicPr>
              <p:cNvPr id="10" name="picture 1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21600000">
                <a:off x="0" y="0"/>
                <a:ext cx="7670912" cy="5111763"/>
              </a:xfrm>
              <a:prstGeom prst="rect">
                <a:avLst/>
              </a:prstGeom>
            </p:spPr>
          </p:pic>
          <p:sp>
            <p:nvSpPr>
              <p:cNvPr id="11" name="textbox 124"/>
              <p:cNvSpPr/>
              <p:nvPr/>
            </p:nvSpPr>
            <p:spPr>
              <a:xfrm>
                <a:off x="425615" y="261981"/>
                <a:ext cx="7049301" cy="4293631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7000"/>
                  </a:lnSpc>
                </a:pPr>
                <a:r>
                  <a:rPr lang="en-US" sz="18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</a:t>
                </a:r>
                <a:r>
                  <a:rPr sz="18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CPU</a:t>
                </a:r>
                <a:r>
                  <a:rPr sz="1800" kern="0" spc="11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sz="18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Core</a:t>
                </a:r>
                <a:endParaRPr sz="18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90000"/>
                  </a:lnSpc>
                </a:pPr>
                <a:endParaRPr sz="8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12700" algn="l" rtl="0" eaLnBrk="0">
                  <a:lnSpc>
                    <a:spcPct val="83000"/>
                  </a:lnSpc>
                  <a:spcBef>
                    <a:spcPts val="550"/>
                  </a:spcBef>
                </a:pPr>
                <a:r>
                  <a:rPr sz="14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Load</a:t>
                </a:r>
                <a:r>
                  <a:rPr sz="1400" kern="0" spc="31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sz="14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Store</a:t>
                </a:r>
                <a:r>
                  <a:rPr sz="1400" kern="0" spc="25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sz="14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Queue</a:t>
                </a:r>
                <a:endPara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12700" algn="l" rtl="0" eaLnBrk="0">
                  <a:lnSpc>
                    <a:spcPct val="83000"/>
                  </a:lnSpc>
                  <a:spcBef>
                    <a:spcPts val="550"/>
                  </a:spcBef>
                </a:pPr>
                <a:r>
                  <a:rPr sz="14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4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</a:t>
                </a:r>
                <a:r>
                  <a:rPr sz="1400" kern="0" spc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(LSQ)</a:t>
                </a:r>
                <a:endParaRPr sz="14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12000"/>
                  </a:lnSpc>
                </a:pPr>
                <a:endParaRPr sz="10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12000"/>
                  </a:lnSpc>
                </a:pPr>
                <a:r>
                  <a:rPr lang="en-US" sz="1800" kern="0" spc="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</a:t>
                </a:r>
                <a:r>
                  <a:rPr sz="1800" kern="0" spc="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Address</a:t>
                </a:r>
                <a:endParaRPr sz="18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12000"/>
                  </a:lnSpc>
                </a:pPr>
                <a:r>
                  <a:rPr sz="1800" kern="0" spc="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800" kern="0" spc="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</a:t>
                </a:r>
                <a:r>
                  <a:rPr sz="1800" kern="0" spc="-1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Decoder</a:t>
                </a:r>
                <a:r>
                  <a:rPr sz="1800" kern="0" spc="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    </a:t>
                </a:r>
                <a:r>
                  <a:rPr sz="2800" kern="0" spc="-10" baseline="-700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MVE</a:t>
                </a:r>
                <a:endParaRPr sz="2800" kern="0" spc="-10" baseline="-7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12000"/>
                  </a:lnSpc>
                </a:pPr>
                <a:r>
                  <a:rPr sz="2800" kern="0" spc="-10" baseline="-700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2800" kern="0" spc="-10" baseline="-700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                    </a:t>
                </a:r>
                <a:r>
                  <a:rPr sz="1800" kern="0" spc="1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Controller</a:t>
                </a:r>
                <a:endParaRPr sz="1800" kern="0" spc="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92000"/>
                  </a:lnSpc>
                </a:pPr>
                <a:r>
                  <a:rPr sz="1800" kern="0" spc="1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800" kern="0" spc="1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                                               </a:t>
                </a:r>
                <a:r>
                  <a:rPr sz="1800" kern="0" spc="2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Transpose</a:t>
                </a:r>
                <a:endParaRPr sz="1800" kern="0" spc="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92000"/>
                  </a:lnSpc>
                </a:pPr>
                <a:r>
                  <a:rPr sz="1800" kern="0" spc="2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800" kern="0" spc="2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                                                </a:t>
                </a:r>
                <a:r>
                  <a:rPr sz="1800" kern="0" spc="-1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Memory</a:t>
                </a:r>
                <a:r>
                  <a:rPr sz="1800" kern="0" spc="15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endParaRPr sz="1800" kern="0" spc="15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92000"/>
                  </a:lnSpc>
                </a:pPr>
                <a:r>
                  <a:rPr sz="1800" kern="0" spc="15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en-US" sz="1800" kern="0" spc="15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</a:t>
                </a:r>
                <a:r>
                  <a:rPr kern="0" spc="-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+mn-ea"/>
                  </a:rPr>
                  <a:t>L1</a:t>
                </a:r>
                <a:r>
                  <a:rPr kern="0" spc="10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+mn-ea"/>
                  </a:rPr>
                  <a:t> </a:t>
                </a:r>
                <a:r>
                  <a:rPr kern="0" spc="-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+mn-ea"/>
                  </a:rPr>
                  <a:t>Cache</a:t>
                </a:r>
                <a:r>
                  <a:rPr lang="en-US" kern="0" spc="-2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+mn-ea"/>
                  </a:rPr>
                  <a:t>                                           </a:t>
                </a:r>
                <a:r>
                  <a:rPr lang="en-US" sz="1800" kern="0" spc="15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sz="1800" kern="0" spc="-1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Unit</a:t>
                </a:r>
                <a:endParaRPr sz="18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27000"/>
                  </a:lnSpc>
                </a:pPr>
                <a:endParaRPr sz="10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 eaLnBrk="0">
                  <a:lnSpc>
                    <a:spcPct val="140000"/>
                  </a:lnSpc>
                </a:pPr>
                <a:endParaRPr sz="200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1955800" algn="l" rtl="0" eaLnBrk="0">
                  <a:lnSpc>
                    <a:spcPct val="98000"/>
                  </a:lnSpc>
                  <a:spcBef>
                    <a:spcPts val="0"/>
                  </a:spcBef>
                </a:pPr>
                <a:r>
                  <a:rPr sz="1100" kern="0" spc="-10" dirty="0">
                    <a:solidFill>
                      <a:srgbClr val="000000">
                        <a:alpha val="100000"/>
                      </a:srgbClr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十</a:t>
                </a:r>
                <a:endParaRPr sz="11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  <p:sp>
          <p:nvSpPr>
            <p:cNvPr id="12" name="textbox 128"/>
            <p:cNvSpPr/>
            <p:nvPr/>
          </p:nvSpPr>
          <p:spPr>
            <a:xfrm>
              <a:off x="23017" y="6143"/>
              <a:ext cx="2802" cy="10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</a:pPr>
              <a:r>
                <a:rPr sz="18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存储</a:t>
              </a:r>
              <a:r>
                <a:rPr sz="18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a-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ways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0"/>
            <p:cNvSpPr/>
            <p:nvPr/>
          </p:nvSpPr>
          <p:spPr>
            <a:xfrm>
              <a:off x="23019" y="8524"/>
              <a:ext cx="2593" cy="8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</a:pPr>
              <a:r>
                <a:rPr sz="18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计算</a:t>
              </a:r>
              <a:r>
                <a:rPr sz="18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ways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32"/>
            <p:cNvSpPr/>
            <p:nvPr/>
          </p:nvSpPr>
          <p:spPr>
            <a:xfrm>
              <a:off x="22289" y="4913"/>
              <a:ext cx="3324" cy="7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3000"/>
                </a:lnSpc>
              </a:pPr>
              <a:r>
                <a:rPr lang="en-US"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</a:t>
              </a: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L2</a:t>
              </a:r>
              <a:r>
                <a:rPr lang="en-US"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Cache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36"/>
            <p:cNvSpPr/>
            <p:nvPr/>
          </p:nvSpPr>
          <p:spPr>
            <a:xfrm>
              <a:off x="24160" y="10531"/>
              <a:ext cx="1452" cy="1117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4000"/>
                </a:lnSpc>
              </a:pP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(TMU)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7010" y="-172720"/>
            <a:ext cx="4829810" cy="101092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sz="2000" b="1" kern="0" spc="1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成果展示：移动应用性能的巨大飞跃</a:t>
            </a:r>
            <a:endParaRPr lang="zh-CN" altLang="en-US" sz="2000" b="1" kern="0" spc="1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核心对比：</a:t>
            </a: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</a:t>
            </a:r>
            <a:r>
              <a:rPr sz="2000" b="1" kern="0" spc="4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vs</a:t>
            </a:r>
            <a:r>
              <a:rPr lang="en-US"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商业移动处理器</a:t>
            </a:r>
            <a:r>
              <a:rPr sz="2000" kern="0" spc="-8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SIMD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单元</a:t>
            </a:r>
            <a:r>
              <a:rPr sz="2000" kern="0" spc="-4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(</a:t>
            </a: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Arm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</a:t>
            </a: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Neon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)</a:t>
            </a:r>
            <a:endParaRPr lang="zh-CN" altLang="en-US" sz="2000" kern="0" spc="3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5" y="1985010"/>
            <a:ext cx="11661775" cy="4251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7010" y="-172720"/>
            <a:ext cx="4829810" cy="101092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sz="2000" b="1" kern="0" spc="1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成果展示：移动应用性能的巨大飞跃</a:t>
            </a:r>
            <a:endParaRPr lang="zh-CN" altLang="en-US" sz="2000" b="1" kern="0" spc="1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 </a:t>
            </a:r>
            <a:r>
              <a:rPr lang="zh-CN"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同平台对比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：</a:t>
            </a:r>
            <a:r>
              <a:rPr sz="20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 的价值在于指令集，而非硬件</a:t>
            </a:r>
            <a:endParaRPr lang="zh-CN" altLang="en-US" sz="2000" b="1" kern="0" spc="3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748155"/>
            <a:ext cx="1230122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实验设置：在完全相同的位串行缓存内计算硬件上，对比</a:t>
            </a:r>
            <a:r>
              <a:rPr kern="0" spc="-39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MVE指令集与传统一维长向量指令</a:t>
            </a:r>
            <a:r>
              <a:rPr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集</a:t>
            </a:r>
            <a:r>
              <a:rPr kern="0" spc="-2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(RISC-V RVV)</a:t>
            </a:r>
            <a:r>
              <a:rPr kern="0" spc="3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的表现。</a:t>
            </a:r>
            <a:endParaRPr dirty="0"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endParaRPr lang="zh-CN" altLang="en-US"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2175510"/>
            <a:ext cx="11301730" cy="3955415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120015" y="6266815"/>
            <a:ext cx="11946255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M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VE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的多维抽象能力，极大地减少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了为填充SIMD通道而产生的额外指令开销，这直接证明了其设计的优越性</a:t>
            </a:r>
            <a:endParaRPr sz="2000" kern="0" spc="-3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sz="32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 vs</a:t>
            </a:r>
            <a:r>
              <a:rPr lang="en-US" sz="32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32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移动GPU</a:t>
            </a:r>
            <a:endParaRPr lang="zh-CN" altLang="en-US" sz="3200" b="1" kern="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针对移动内核中常见的细粒度并行任务，</a:t>
            </a:r>
            <a:r>
              <a:rPr sz="2000" kern="0" spc="-71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</a:t>
            </a:r>
            <a:r>
              <a:rPr sz="2000" kern="0" spc="5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与</a:t>
            </a:r>
            <a:r>
              <a:rPr sz="2000" kern="0" spc="-6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Adreno</a:t>
            </a:r>
            <a:r>
              <a:rPr lang="en-US"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640</a:t>
            </a:r>
            <a:r>
              <a:rPr lang="en-US"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GP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U的性能和能效对比。</a:t>
            </a:r>
            <a:endParaRPr lang="zh-CN" altLang="en-US" sz="2000" kern="0" spc="-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760220"/>
            <a:ext cx="11391900" cy="4806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面积开销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210"/>
            <a:ext cx="8021320" cy="47879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kern="0" spc="1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 </a:t>
            </a:r>
            <a:r>
              <a:rPr sz="2400" b="1" kern="0" spc="1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面积开销对比(相对于</a:t>
            </a:r>
            <a:r>
              <a:rPr sz="2400" b="1" kern="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CPU</a:t>
            </a:r>
            <a:r>
              <a:rPr sz="2400" b="1" kern="0" spc="18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核心面积)</a:t>
            </a:r>
            <a:endParaRPr lang="zh-CN" altLang="en-US" sz="2400" b="1" kern="0" spc="18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8455" y="1756410"/>
            <a:ext cx="10991850" cy="357124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39360" y="1848485"/>
            <a:ext cx="1457960" cy="1453515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2940" y="1843405"/>
            <a:ext cx="1458595" cy="1458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640" y="2499360"/>
            <a:ext cx="339090" cy="339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145" y="1756410"/>
            <a:ext cx="3184525" cy="32670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85140" y="3429635"/>
            <a:ext cx="7296150" cy="482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CPU核心(1.07 </a:t>
            </a:r>
            <a:r>
              <a:rPr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mm²)      MVE:3.6%          Arm Neon(128-bit):</a:t>
            </a:r>
            <a:r>
              <a:rPr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16.3%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835" y="4162425"/>
            <a:ext cx="7121525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2550" algn="l" rtl="0" eaLnBrk="0">
              <a:lnSpc>
                <a:spcPct val="98000"/>
              </a:lnSpc>
              <a:spcBef>
                <a:spcPts val="880"/>
              </a:spcBef>
            </a:pPr>
            <a:r>
              <a:rPr b="1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成本收益分析</a:t>
            </a:r>
            <a:endParaRPr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5250" algn="l" rtl="0" eaLnBrk="0">
              <a:lnSpc>
                <a:spcPct val="92000"/>
              </a:lnSpc>
              <a:spcBef>
                <a:spcPts val="1160"/>
              </a:spcBef>
            </a:pP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kern="0" spc="7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以极小的硬件成本，提供了不成比例的巨大性能和能效</a:t>
            </a: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收益。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835" y="5619750"/>
            <a:ext cx="10707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 b="1" kern="0" spc="-13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MVE 是一种极具成本效益的性能扩展方案，非常适合对成本敏感的移动设备市</a:t>
            </a:r>
            <a:r>
              <a:rPr sz="2400" b="1" kern="0" spc="-14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金山云技术体" charset="-122"/>
                <a:sym typeface="+mn-ea"/>
              </a:rPr>
              <a:t>场。</a:t>
            </a:r>
            <a:endParaRPr lang="zh-CN" altLang="en-US" sz="2400" b="1" kern="0" spc="-14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金山云技术体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0" y="0"/>
            <a:ext cx="4895215" cy="75120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sz="32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总结：MVE</a:t>
            </a:r>
            <a:r>
              <a:rPr lang="en-US" sz="32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3200" b="1" kern="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的技术突破</a:t>
            </a:r>
            <a:endParaRPr lang="zh-CN" altLang="en-US" sz="3200" b="1" kern="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44820" y="1355090"/>
            <a:ext cx="1306830" cy="1320800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92885" y="1322070"/>
            <a:ext cx="1289685" cy="1352550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20885" y="1355090"/>
            <a:ext cx="1280795" cy="1319530"/>
          </a:xfrm>
          <a:prstGeom prst="rect">
            <a:avLst/>
          </a:prstGeom>
        </p:spPr>
      </p:pic>
      <p:sp>
        <p:nvSpPr>
          <p:cNvPr id="218" name="textbox 218"/>
          <p:cNvSpPr/>
          <p:nvPr/>
        </p:nvSpPr>
        <p:spPr>
          <a:xfrm>
            <a:off x="243205" y="2996565"/>
            <a:ext cx="3947795" cy="281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65150" algn="l" rtl="0" eaLnBrk="0">
              <a:lnSpc>
                <a:spcPct val="96000"/>
              </a:lnSpc>
            </a:pPr>
            <a:r>
              <a:rPr lang="en-US"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问题：错配的瓶颈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61365" algn="l" rtl="0" eaLnBrk="0">
              <a:lnSpc>
                <a:spcPct val="81000"/>
              </a:lnSpc>
              <a:spcBef>
                <a:spcPts val="610"/>
              </a:spcBef>
            </a:pPr>
            <a:r>
              <a:rPr lang="en-US" sz="2000" b="1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b="1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(The</a:t>
            </a:r>
            <a:r>
              <a:rPr sz="2000" b="1" kern="0" spc="2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Problem)</a:t>
            </a:r>
            <a:endParaRPr sz="2000" b="1" kern="0" spc="-1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61365" algn="l" rtl="0" eaLnBrk="0">
              <a:lnSpc>
                <a:spcPct val="81000"/>
              </a:lnSpc>
              <a:spcBef>
                <a:spcPts val="610"/>
              </a:spcBef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785"/>
              </a:spcBef>
            </a:pP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强大的缓存内计算引擎(&gt;8000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41000"/>
              </a:lnSpc>
              <a:spcBef>
                <a:spcPts val="5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通道)被屏弱的一维指令集</a:t>
            </a:r>
            <a:r>
              <a:rPr lang="zh-CN"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限制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,导致利用率仅为</a:t>
            </a:r>
            <a:r>
              <a:rPr sz="2000" kern="0" spc="10" dirty="0">
                <a:solidFill>
                  <a:srgbClr val="D0702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23%</a:t>
            </a:r>
            <a:r>
              <a:rPr sz="2000" kern="0" spc="240" dirty="0">
                <a:solidFill>
                  <a:srgbClr val="D0702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 kern="0" spc="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4489450" y="2996565"/>
            <a:ext cx="3728085" cy="3503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algn="l" rtl="0" eaLnBrk="0">
              <a:lnSpc>
                <a:spcPct val="95000"/>
              </a:lnSpc>
              <a:spcBef>
                <a:spcPts val="0"/>
              </a:spcBef>
            </a:pPr>
            <a:r>
              <a:rPr lang="en-US" sz="20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方案：多维的钥匙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315" algn="l" rtl="0" eaLnBrk="0">
              <a:lnSpc>
                <a:spcPct val="81000"/>
              </a:lnSpc>
              <a:spcBef>
                <a:spcPts val="640"/>
              </a:spcBef>
            </a:pPr>
            <a:r>
              <a:rPr lang="en-US"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(The Solution)</a:t>
            </a:r>
            <a:endParaRPr sz="2000" b="1" kern="0" spc="-1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315" algn="l" rtl="0" eaLnBrk="0">
              <a:lnSpc>
                <a:spcPct val="81000"/>
              </a:lnSpc>
              <a:spcBef>
                <a:spcPts val="640"/>
              </a:spcBef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785"/>
              </a:spcBef>
            </a:pP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MVE</a:t>
            </a:r>
            <a:r>
              <a:rPr sz="2000" kern="0" spc="3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提供了多维逻辑向量抽象，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39000"/>
              </a:lnSpc>
              <a:spcBef>
                <a:spcPts val="30"/>
              </a:spcBef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其指令集能高效地表达移动内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中固有”的多维并行性，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将利用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率提升至</a:t>
            </a:r>
            <a:r>
              <a:rPr sz="2000" kern="0" spc="1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60%</a:t>
            </a:r>
            <a:r>
              <a:rPr sz="2000" kern="0" spc="25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 kern="0" spc="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8429625" y="2996565"/>
            <a:ext cx="3721735" cy="3716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23850" algn="l" rtl="0" eaLnBrk="0">
              <a:lnSpc>
                <a:spcPct val="110000"/>
              </a:lnSpc>
            </a:pPr>
            <a:r>
              <a:rPr lang="en-US"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收益：压倒性的回报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3765" algn="l" rtl="0" eaLnBrk="0">
              <a:lnSpc>
                <a:spcPct val="110000"/>
              </a:lnSpc>
            </a:pP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(The</a:t>
            </a:r>
            <a:r>
              <a:rPr sz="2000" b="1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Benef</a:t>
            </a:r>
            <a:r>
              <a:rPr sz="2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it)</a:t>
            </a:r>
            <a:endParaRPr sz="2000" b="1" kern="0" spc="-1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3765" algn="l" rtl="0" eaLnBrk="0">
              <a:lnSpc>
                <a:spcPct val="100000"/>
              </a:lnSpc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6865" indent="-304165" algn="l" rtl="0" eaLnBrk="0">
              <a:lnSpc>
                <a:spcPct val="110000"/>
              </a:lnSpc>
              <a:spcBef>
                <a:spcPts val="78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kern="0" spc="-9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相比商业移动CPU,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  <a:r>
              <a:rPr sz="2000" b="1" kern="0" spc="0" dirty="0">
                <a:solidFill>
                  <a:srgbClr val="209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2.9           </a:t>
            </a:r>
            <a:r>
              <a:rPr sz="2000" kern="0" spc="-50" dirty="0">
                <a:solidFill>
                  <a:srgbClr val="30903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倍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性能提升和</a:t>
            </a:r>
            <a:r>
              <a:rPr sz="2000" kern="0" spc="-50" dirty="0">
                <a:solidFill>
                  <a:srgbClr val="30A04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sz="2000" kern="0" spc="-760" dirty="0">
                <a:solidFill>
                  <a:srgbClr val="30A04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-50" dirty="0">
                <a:solidFill>
                  <a:srgbClr val="30A04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.8</a:t>
            </a:r>
            <a:r>
              <a:rPr sz="2000" kern="0" spc="-60" dirty="0">
                <a:solidFill>
                  <a:srgbClr val="30A04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倍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能耗降低。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6865" indent="-304165" algn="l" rtl="0" eaLnBrk="0">
              <a:lnSpc>
                <a:spcPct val="110000"/>
              </a:lnSpc>
              <a:spcBef>
                <a:spcPts val="905"/>
              </a:spcBef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000" kern="0" spc="-10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所有这一切，仅需</a:t>
            </a:r>
            <a:r>
              <a:rPr sz="2000" b="1" kern="0" spc="10" dirty="0">
                <a:solidFill>
                  <a:srgbClr val="30904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3.6%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   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心面积开销，远低于传统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SIMD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单元和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22000"/>
              </a:lnSpc>
            </a:pPr>
            <a:endParaRPr sz="2000" kern="0" spc="-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sz="4000" b="1" kern="0" spc="7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展望</a:t>
            </a:r>
            <a:endParaRPr lang="zh-CN" altLang="en-US" sz="4000" b="1" kern="0" spc="7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210"/>
            <a:ext cx="7336155" cy="47879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102000"/>
              </a:lnSpc>
            </a:pPr>
            <a:endParaRPr dirty="0">
              <a:latin typeface="金山云技术体" charset="-122"/>
              <a:ea typeface="金山云技术体" charset="-122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400" b="1" kern="0" spc="7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宏观展望：重新定义移动端通用计算</a:t>
            </a:r>
            <a:r>
              <a:rPr sz="2400" b="1" kern="0" spc="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加速</a:t>
            </a:r>
            <a:endParaRPr sz="2400" dirty="0">
              <a:latin typeface="金山云技术体" charset="-122"/>
              <a:ea typeface="金山云技术体" charset="-122"/>
              <a:cs typeface="黑体" panose="02010609060101010101" charset="-122"/>
            </a:endParaRPr>
          </a:p>
          <a:p>
            <a:pPr algn="ctr"/>
            <a:endParaRPr lang="zh-CN" altLang="en-US" sz="2400" dirty="0">
              <a:latin typeface="金山云技术体" charset="-122"/>
              <a:ea typeface="金山云技术体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881505"/>
            <a:ext cx="7128510" cy="475424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algn="l" rtl="0" eaLnBrk="0">
              <a:lnSpc>
                <a:spcPct val="122000"/>
              </a:lnSpc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sz="2400" kern="0" spc="9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的深远影响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indent="-254000" algn="l" rtl="0" eaLnBrk="0">
              <a:lnSpc>
                <a:spcPct val="122000"/>
              </a:lnSpc>
              <a:spcBef>
                <a:spcPts val="1095"/>
              </a:spcBef>
            </a:pP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·MVE  不是一个用于特定领域的专用加速器，而是一种对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sz="2400" kern="0" spc="6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sz="2400" b="1" kern="0" spc="-6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通用性增强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indent="-254000" algn="l" rtl="0" eaLnBrk="0">
              <a:lnSpc>
                <a:spcPct val="122000"/>
              </a:lnSpc>
              <a:spcBef>
                <a:spcPts val="875"/>
              </a:spcBef>
            </a:pP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400" kern="0" spc="-5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它为下一代移动应用提供了一种全新的、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更高能效的性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能扩展路径，打破了传统</a:t>
            </a:r>
            <a:r>
              <a:rPr lang="en-US"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SIMD 扩展和GPU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卸载的困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境。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22000"/>
              </a:lnSpc>
              <a:spcBef>
                <a:spcPts val="1025"/>
              </a:spcBef>
            </a:pP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·通过将大规模并行计算能力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sz="24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核心紧密集成，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algn="l" rtl="0" eaLnBrk="0">
              <a:lnSpc>
                <a:spcPct val="122000"/>
              </a:lnSpc>
              <a:spcBef>
                <a:spcPts val="560"/>
              </a:spcBef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sz="2400" kern="0" spc="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有可能成为未来移动</a:t>
            </a:r>
            <a:r>
              <a:rPr lang="en-US" sz="24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SoC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设计的标准组成部分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06360" y="2058670"/>
            <a:ext cx="4258310" cy="37763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6510" algn="l" rtl="0" eaLnBrk="0">
              <a:lnSpc>
                <a:spcPct val="95000"/>
              </a:lnSpc>
              <a:spcBef>
                <a:spcPts val="730"/>
              </a:spcBef>
            </a:pP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未</a:t>
            </a:r>
            <a:r>
              <a:rPr sz="2400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</a:t>
            </a:r>
            <a:r>
              <a:rPr sz="2400" kern="0" spc="-3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</a:t>
            </a:r>
            <a:r>
              <a:rPr sz="24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indent="-254000" algn="l" rtl="0" eaLnBrk="0">
              <a:lnSpc>
                <a:spcPct val="107000"/>
              </a:lnSpc>
              <a:spcBef>
                <a:spcPts val="1390"/>
              </a:spcBef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400" kern="0" spc="-6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探索</a:t>
            </a:r>
            <a:r>
              <a:rPr lang="en-US"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在更多新兴移动应用场景(如端侧</a:t>
            </a:r>
            <a:r>
              <a:rPr sz="2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sz="2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AR/VR)</a:t>
            </a:r>
            <a:r>
              <a:rPr sz="2400" kern="0" spc="5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中的潜力。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1000"/>
              </a:lnSpc>
            </a:pP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indent="-254000" algn="l" rtl="0" eaLnBrk="0">
              <a:lnSpc>
                <a:spcPct val="111000"/>
              </a:lnSpc>
              <a:spcBef>
                <a:spcPts val="0"/>
              </a:spcBef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·研究更先进的编译器技术，以自动从现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有代码中提取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多维并行性。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核心贡献总结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044"/>
            <a:ext cx="9963150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本研究的主要创新点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包括</a:t>
            </a: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金山云技术体" charset="-122"/>
                <a:ea typeface="金山云技术体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800" kern="0" spc="-70" dirty="0">
              <a:solidFill>
                <a:srgbClr val="000000">
                  <a:alpha val="100000"/>
                </a:srgbClr>
              </a:solidFill>
              <a:latin typeface="金山云技术体" charset="-122"/>
              <a:ea typeface="金山云技术体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893570"/>
            <a:ext cx="11197590" cy="474218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04215" indent="-686435" algn="l" rtl="0" eaLnBrk="0">
              <a:lnSpc>
                <a:spcPct val="136000"/>
              </a:lnSpc>
              <a:spcBef>
                <a:spcPts val="905"/>
              </a:spcBef>
            </a:pPr>
            <a:r>
              <a:rPr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1.提出多维向量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ISA</a:t>
            </a:r>
            <a:r>
              <a:rPr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):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通过多维跨步/随机访存和维度级掩码，将缓存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内引擎</a:t>
            </a:r>
            <a:r>
              <a:rPr kern="0" spc="3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利用率从23%提升至</a:t>
            </a:r>
            <a:r>
              <a:rPr b="1" kern="0" spc="31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60%</a:t>
            </a:r>
            <a:r>
              <a:rPr kern="0" spc="130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3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,性能相对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RV</a:t>
            </a:r>
            <a:r>
              <a:rPr lang="en-US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kern="0" spc="3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提升</a:t>
            </a:r>
            <a:r>
              <a:rPr b="1" kern="0" spc="310" dirty="0">
                <a:solidFill>
                  <a:srgbClr val="207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ern="0" spc="-890" dirty="0">
                <a:solidFill>
                  <a:srgbClr val="207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spc="310" dirty="0">
                <a:solidFill>
                  <a:srgbClr val="2070B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.8倍。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04215" indent="-691515" algn="l" rtl="0" eaLnBrk="0">
              <a:lnSpc>
                <a:spcPct val="136000"/>
              </a:lnSpc>
              <a:spcBef>
                <a:spcPts val="1755"/>
              </a:spcBef>
            </a:pPr>
            <a:r>
              <a:rPr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设计并评</a:t>
            </a:r>
            <a:r>
              <a:rPr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估了配套的缓存架构：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分析了位串行、位并行、混合模式等多种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SRAM  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计算方案，并验证了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的普适性。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04215" indent="-686435" algn="l" rtl="0" eaLnBrk="0">
              <a:lnSpc>
                <a:spcPct val="136000"/>
              </a:lnSpc>
              <a:spcBef>
                <a:spcPts val="905"/>
              </a:spcBef>
            </a:pPr>
            <a:r>
              <a:rPr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3.在真实移动负载上进行端到端验证：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在12个</a:t>
            </a:r>
            <a:r>
              <a:rPr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真实移动库上，证明了相比商业移动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CPU</a:t>
            </a:r>
            <a:r>
              <a:rPr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 可实现</a:t>
            </a:r>
            <a:r>
              <a:rPr b="1" kern="0" spc="15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ern="0" spc="-84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spc="15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.9倍</a:t>
            </a:r>
            <a:r>
              <a:rPr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性能和</a:t>
            </a:r>
            <a:r>
              <a:rPr b="1" kern="0" spc="15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kern="0" spc="-88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spc="150" dirty="0">
                <a:solidFill>
                  <a:srgbClr val="2070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.8倍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能效提升。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04215" indent="-686435" algn="l" rtl="0" eaLnBrk="0">
              <a:lnSpc>
                <a:spcPct val="136000"/>
              </a:lnSpc>
              <a:spcBef>
                <a:spcPts val="1750"/>
              </a:spcBef>
            </a:pPr>
            <a:r>
              <a:rPr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4.与移动</a:t>
            </a:r>
            <a:r>
              <a:rPr lang="en-US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en-US"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进行对比分析：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揭示了对于细粒度并行任务，紧密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集成的长向量引擎在避</a:t>
            </a:r>
            <a:r>
              <a:rPr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免数据传输和内核启动开销方</a:t>
            </a: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面的巨大优势。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04215" indent="-686435" algn="l" rtl="0" eaLnBrk="0">
              <a:lnSpc>
                <a:spcPct val="136000"/>
              </a:lnSpc>
              <a:spcBef>
                <a:spcPts val="910"/>
              </a:spcBef>
            </a:pPr>
            <a:r>
              <a:rPr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5.分析并指出现有</a:t>
            </a:r>
            <a:r>
              <a:rPr lang="en-US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SIMT</a:t>
            </a:r>
            <a:r>
              <a:rPr lang="en-US"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模型的局限性：</a:t>
            </a:r>
            <a:r>
              <a:rPr kern="0" spc="-8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证明了对于移动内核，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MVE</a:t>
            </a:r>
            <a:r>
              <a:rPr lang="en-US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kern="0" spc="-5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SIMD</a:t>
            </a:r>
            <a:r>
              <a:rPr lang="en-US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模型比服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务器级</a:t>
            </a:r>
            <a:r>
              <a:rPr lang="en-US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SIMT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模型(如</a:t>
            </a:r>
            <a:r>
              <a:rPr kern="0" spc="-7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Duality</a:t>
            </a:r>
            <a:r>
              <a:rPr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Cache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因避免了高昂的寄存器溢出/填充而更高效。</a:t>
            </a:r>
            <a:endParaRPr lang="zh-CN" altLang="en-US" kern="0" spc="1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158240"/>
            <a:ext cx="5670550" cy="555244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</a:pPr>
            <a:r>
              <a:rPr lang="zh-CN" altLang="en-US" sz="28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优点</a:t>
            </a:r>
            <a:r>
              <a:rPr lang="en-US" altLang="zh-CN" sz="28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(Strengths)</a:t>
            </a:r>
            <a:r>
              <a:rPr lang="zh-CN" altLang="en-US" sz="28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：</a:t>
            </a:r>
            <a:endParaRPr lang="en-US" altLang="zh-CN" sz="2800" b="1">
              <a:solidFill>
                <a:schemeClr val="tx1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1.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清晰的问题阐述和动机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2.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提出创新的多维</a:t>
            </a: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 ISA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扩展机制，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且概念演示直观易懂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3.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与</a:t>
            </a: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 L2 cache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紧密集成，硬件改动小，面积仅</a:t>
            </a: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 3.6%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4.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方法论和评估的严谨性，评测覆盖广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5.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透明且详尽的可重现性支持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33160" y="1158240"/>
            <a:ext cx="5695315" cy="555244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60000"/>
              </a:lnSpc>
            </a:pPr>
            <a:r>
              <a:rPr lang="zh-CN" altLang="en-US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缺点</a:t>
            </a:r>
            <a:r>
              <a:rPr lang="en-US" altLang="zh-CN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 (Weaknesses)</a:t>
            </a:r>
            <a:r>
              <a:rPr lang="zh-CN" altLang="en-US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：</a:t>
            </a:r>
            <a:endParaRPr lang="en-US" altLang="zh-CN" sz="2800">
              <a:solidFill>
                <a:schemeClr val="tx1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1.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部分关键对比的可重现性受限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2. ISA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特性描述的集中度不足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3.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图表信息过于密集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4. </a:t>
            </a:r>
            <a:r>
              <a:rPr lang="zh-CN" altLang="en-US" sz="28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评估主要依赖仿真与建模，真实硬件实现缺失</a:t>
            </a:r>
            <a:endParaRPr lang="zh-CN" altLang="en-US" sz="28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7010" y="5340350"/>
            <a:ext cx="11669395" cy="132080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        </a:t>
            </a:r>
            <a:r>
              <a:rPr lang="zh-CN" altLang="en-US" sz="20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该论文在结构组织、问题阐述、方法论的严谨性以及结果的呈现和可重现性方面表现出色。作者清晰地界定了研究问题，并提供了丰富的背景知识和技术细节，尤其是其对</a:t>
            </a:r>
            <a:r>
              <a:rPr lang="en-US" altLang="zh-CN" sz="20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 ISA </a:t>
            </a:r>
            <a:r>
              <a:rPr lang="zh-CN" altLang="en-US" sz="20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设计的直观演示和对评估环节的彻底透明化；扣分主要是缺少真实验证，可行性</a:t>
            </a:r>
            <a:r>
              <a:rPr lang="zh-CN" altLang="en-US" sz="20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上对缓存结构有依赖。但整体贡献显著，</a:t>
            </a:r>
            <a:r>
              <a:rPr lang="zh-CN" altLang="en-US" sz="2000">
                <a:solidFill>
                  <a:schemeClr val="tx1"/>
                </a:solidFill>
                <a:latin typeface="WPS灵秀黑" charset="-122"/>
                <a:ea typeface="WPS灵秀黑" charset="-122"/>
                <a:cs typeface="WPS灵秀黑" charset="-122"/>
              </a:rPr>
              <a:t>是一篇高质量的学术论文。</a:t>
            </a:r>
            <a:endParaRPr lang="zh-CN" altLang="en-US" sz="2000">
              <a:solidFill>
                <a:schemeClr val="tx1"/>
              </a:solidFill>
              <a:latin typeface="WPS灵秀黑" charset="-122"/>
              <a:ea typeface="WPS灵秀黑" charset="-122"/>
              <a:cs typeface="WPS灵秀黑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330325" y="1199515"/>
          <a:ext cx="7669530" cy="3985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510"/>
                <a:gridCol w="1996440"/>
                <a:gridCol w="3116580"/>
              </a:tblGrid>
              <a:tr h="5099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维度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分数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说明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创新性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多维</a:t>
                      </a: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ISA + in‑cache 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940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技术深度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4.5/5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ISA/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编译器</a:t>
                      </a: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缓存协同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92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评估充分性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4/5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范围广但多为仿真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94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工程可行性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4/5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低面积但依赖</a:t>
                      </a: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cache 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934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综合评分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4/5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3885" y="2089150"/>
            <a:ext cx="11109325" cy="1586865"/>
          </a:xfrm>
        </p:spPr>
        <p:txBody>
          <a:bodyPr anchor="ctr" anchorCtr="0">
            <a:noAutofit/>
          </a:bodyPr>
          <a:lstStyle/>
          <a:p>
            <a:pPr>
              <a:lnSpc>
                <a:spcPts val="5200"/>
              </a:lnSpc>
            </a:pPr>
            <a:r>
              <a:rPr lang="en-US" altLang="zh-CN" sz="7200" b="1" dirty="0">
                <a:solidFill>
                  <a:srgbClr val="FBE1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altLang="zh-CN" sz="7200" b="1" dirty="0">
              <a:solidFill>
                <a:srgbClr val="FBE1C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78971" y="5897880"/>
            <a:ext cx="4931229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endParaRPr lang="zh-CN" altLang="en-US" sz="1600" b="1" dirty="0">
              <a:solidFill>
                <a:srgbClr val="5755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87440" y="5958412"/>
            <a:ext cx="5525589" cy="454169"/>
          </a:xfrm>
          <a:prstGeom prst="roundRect">
            <a:avLst/>
          </a:prstGeom>
          <a:gradFill>
            <a:gsLst>
              <a:gs pos="0">
                <a:srgbClr val="E2007E"/>
              </a:gs>
              <a:gs pos="90000">
                <a:srgbClr val="8700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187438" y="5897880"/>
            <a:ext cx="5525592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王一诺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2312331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南开大学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525417" y="3216029"/>
            <a:ext cx="51411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7.1,&quot;left&quot;:26.7,&quot;top&quot;:145.15,&quot;width&quot;:916.2}"/>
</p:tagLst>
</file>

<file path=ppt/tags/tag2.xml><?xml version="1.0" encoding="utf-8"?>
<p:tagLst xmlns:p="http://schemas.openxmlformats.org/presentationml/2006/main">
  <p:tag name="KSO_WM_DIAGRAM_VIRTUALLY_FRAME" val="{&quot;height&quot;:387.1,&quot;left&quot;:26.7,&quot;top&quot;:145.15,&quot;width&quot;:916.2}"/>
</p:tagLst>
</file>

<file path=ppt/tags/tag3.xml><?xml version="1.0" encoding="utf-8"?>
<p:tagLst xmlns:p="http://schemas.openxmlformats.org/presentationml/2006/main">
  <p:tag name="KSO_WM_DIAGRAM_VIRTUALLY_FRAME" val="{&quot;height&quot;:387.1,&quot;left&quot;:26.7,&quot;top&quot;:145.15,&quot;width&quot;:916.2}"/>
</p:tagLst>
</file>

<file path=ppt/tags/tag4.xml><?xml version="1.0" encoding="utf-8"?>
<p:tagLst xmlns:p="http://schemas.openxmlformats.org/presentationml/2006/main">
  <p:tag name="KSO_WM_DIAGRAM_VIRTUALLY_FRAME" val="{&quot;height&quot;:387.1,&quot;left&quot;:26.7,&quot;top&quot;:145.15,&quot;width&quot;:916.2}"/>
</p:tagLst>
</file>

<file path=ppt/tags/tag5.xml><?xml version="1.0" encoding="utf-8"?>
<p:tagLst xmlns:p="http://schemas.openxmlformats.org/presentationml/2006/main">
  <p:tag name="KSO_WM_DIAGRAM_VIRTUALLY_FRAME" val="{&quot;height&quot;:387.1,&quot;left&quot;:26.7,&quot;top&quot;:145.15,&quot;width&quot;:916.2}"/>
</p:tagLst>
</file>

<file path=ppt/tags/tag6.xml><?xml version="1.0" encoding="utf-8"?>
<p:tagLst xmlns:p="http://schemas.openxmlformats.org/presentationml/2006/main">
  <p:tag name="TABLE_ENDDRAG_ORIGIN_RECT" val="603*312"/>
  <p:tag name="TABLE_ENDDRAG_RECT" val="104*94*603*31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4763</Words>
  <Application>WPS 演示</Application>
  <PresentationFormat>宽屏</PresentationFormat>
  <Paragraphs>315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金山云技术体</vt:lpstr>
      <vt:lpstr>黑体</vt:lpstr>
      <vt:lpstr>Arial</vt:lpstr>
      <vt:lpstr>Times New Roman</vt:lpstr>
      <vt:lpstr>WPS灵秀黑</vt:lpstr>
      <vt:lpstr>等线</vt:lpstr>
      <vt:lpstr>Arial Unicode MS</vt:lpstr>
      <vt:lpstr>等线 Light</vt:lpstr>
      <vt:lpstr>Calibri</vt:lpstr>
      <vt:lpstr>Office 主题​​</vt:lpstr>
      <vt:lpstr>1_Office 主题​​</vt:lpstr>
      <vt:lpstr>Multi-Dimensional Vector ISA Extension for Mobile In-Cache Computing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基于动态权重选择的主题 与风格融合技术创新及产业化应用</dc:title>
  <dc:creator>gaoxiaozu</dc:creator>
  <cp:lastModifiedBy>谎</cp:lastModifiedBy>
  <cp:revision>77</cp:revision>
  <dcterms:created xsi:type="dcterms:W3CDTF">2025-05-28T08:19:00Z</dcterms:created>
  <dcterms:modified xsi:type="dcterms:W3CDTF">2025-12-18T13:52:52Z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32FABA8C2E5D4B0D9475C8A5FD355134_13</vt:lpwstr>
  </property>
</Properties>
</file>