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2">
  <p:sldMasterIdLst>
    <p:sldMasterId id="2147483649" r:id="rId1"/>
  </p:sldMasterIdLst>
  <p:notesMasterIdLst>
    <p:notesMasterId r:id="rId37"/>
  </p:notesMasterIdLst>
  <p:handoutMasterIdLst>
    <p:handoutMasterId r:id="rId38"/>
  </p:handoutMasterIdLst>
  <p:sldIdLst>
    <p:sldId id="256" r:id="rId2"/>
    <p:sldId id="472" r:id="rId3"/>
    <p:sldId id="473" r:id="rId4"/>
    <p:sldId id="474" r:id="rId5"/>
    <p:sldId id="475" r:id="rId6"/>
    <p:sldId id="476" r:id="rId7"/>
    <p:sldId id="477" r:id="rId8"/>
    <p:sldId id="478" r:id="rId9"/>
    <p:sldId id="479" r:id="rId10"/>
    <p:sldId id="388" r:id="rId11"/>
    <p:sldId id="389" r:id="rId12"/>
    <p:sldId id="390" r:id="rId13"/>
    <p:sldId id="446" r:id="rId14"/>
    <p:sldId id="447" r:id="rId15"/>
    <p:sldId id="391" r:id="rId16"/>
    <p:sldId id="456" r:id="rId17"/>
    <p:sldId id="457" r:id="rId18"/>
    <p:sldId id="458" r:id="rId19"/>
    <p:sldId id="459" r:id="rId20"/>
    <p:sldId id="460" r:id="rId21"/>
    <p:sldId id="461" r:id="rId22"/>
    <p:sldId id="462" r:id="rId23"/>
    <p:sldId id="463" r:id="rId24"/>
    <p:sldId id="464" r:id="rId25"/>
    <p:sldId id="465" r:id="rId26"/>
    <p:sldId id="466" r:id="rId27"/>
    <p:sldId id="467" r:id="rId28"/>
    <p:sldId id="468" r:id="rId29"/>
    <p:sldId id="469" r:id="rId30"/>
    <p:sldId id="470" r:id="rId31"/>
    <p:sldId id="471" r:id="rId32"/>
    <p:sldId id="480" r:id="rId33"/>
    <p:sldId id="481" r:id="rId34"/>
    <p:sldId id="482" r:id="rId35"/>
    <p:sldId id="483" r:id="rId36"/>
  </p:sldIdLst>
  <p:sldSz cx="9144000" cy="6858000" type="screen4x3"/>
  <p:notesSz cx="6997700" cy="93091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rgbClr val="FFFF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rgbClr val="FFFF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rgbClr val="FFFF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rgbClr val="FFFF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rgbClr val="FFFF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rgbClr val="FFFF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rgbClr val="FFFF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rgbClr val="FFFF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rgbClr val="FFFFFF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E72909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AD704"/>
    <a:srgbClr val="878787"/>
    <a:srgbClr val="89A5C7"/>
    <a:srgbClr val="9ED67D"/>
    <a:srgbClr val="99CCCC"/>
    <a:srgbClr val="F0F076"/>
    <a:srgbClr val="FCCEB1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99" autoAdjust="0"/>
    <p:restoredTop sz="83938" autoAdjust="0"/>
  </p:normalViewPr>
  <p:slideViewPr>
    <p:cSldViewPr>
      <p:cViewPr varScale="1">
        <p:scale>
          <a:sx n="108" d="100"/>
          <a:sy n="108" d="100"/>
        </p:scale>
        <p:origin x="129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612"/>
    </p:cViewPr>
  </p:sorterViewPr>
  <p:notesViewPr>
    <p:cSldViewPr>
      <p:cViewPr varScale="1">
        <p:scale>
          <a:sx n="55" d="100"/>
          <a:sy n="55" d="100"/>
        </p:scale>
        <p:origin x="-1806" y="-90"/>
      </p:cViewPr>
      <p:guideLst>
        <p:guide orient="horz" pos="2932"/>
        <p:guide pos="22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1.xml"/><Relationship Id="rId7" Type="http://schemas.openxmlformats.org/officeDocument/2006/relationships/slide" Target="slides/slide15.xml"/><Relationship Id="rId2" Type="http://schemas.openxmlformats.org/officeDocument/2006/relationships/slide" Target="slides/slide10.xml"/><Relationship Id="rId1" Type="http://schemas.openxmlformats.org/officeDocument/2006/relationships/slide" Target="slides/slide1.xml"/><Relationship Id="rId6" Type="http://schemas.openxmlformats.org/officeDocument/2006/relationships/slide" Target="slides/slide14.xml"/><Relationship Id="rId5" Type="http://schemas.openxmlformats.org/officeDocument/2006/relationships/slide" Target="slides/slide13.xml"/><Relationship Id="rId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 mingming" userId="7a846002af62c971" providerId="LiveId" clId="{1E4C63D6-E93A-4907-93AA-3E48E61EC214}"/>
    <pc:docChg chg="modSld">
      <pc:chgData name="ren mingming" userId="7a846002af62c971" providerId="LiveId" clId="{1E4C63D6-E93A-4907-93AA-3E48E61EC214}" dt="2023-09-12T00:11:40.134" v="110"/>
      <pc:docMkLst>
        <pc:docMk/>
      </pc:docMkLst>
      <pc:sldChg chg="modSp">
        <pc:chgData name="ren mingming" userId="7a846002af62c971" providerId="LiveId" clId="{1E4C63D6-E93A-4907-93AA-3E48E61EC214}" dt="2023-09-11T14:41:41.354" v="3" actId="20577"/>
        <pc:sldMkLst>
          <pc:docMk/>
          <pc:sldMk cId="0" sldId="391"/>
        </pc:sldMkLst>
        <pc:spChg chg="mod">
          <ac:chgData name="ren mingming" userId="7a846002af62c971" providerId="LiveId" clId="{1E4C63D6-E93A-4907-93AA-3E48E61EC214}" dt="2023-09-11T14:41:41.354" v="3" actId="20577"/>
          <ac:spMkLst>
            <pc:docMk/>
            <pc:sldMk cId="0" sldId="391"/>
            <ac:spMk id="13315" creationId="{00000000-0000-0000-0000-000000000000}"/>
          </ac:spMkLst>
        </pc:spChg>
      </pc:sldChg>
      <pc:sldChg chg="modSp mod">
        <pc:chgData name="ren mingming" userId="7a846002af62c971" providerId="LiveId" clId="{1E4C63D6-E93A-4907-93AA-3E48E61EC214}" dt="2023-09-11T14:50:05.936" v="6"/>
        <pc:sldMkLst>
          <pc:docMk/>
          <pc:sldMk cId="0" sldId="461"/>
        </pc:sldMkLst>
        <pc:spChg chg="mod">
          <ac:chgData name="ren mingming" userId="7a846002af62c971" providerId="LiveId" clId="{1E4C63D6-E93A-4907-93AA-3E48E61EC214}" dt="2023-09-11T14:50:05.936" v="6"/>
          <ac:spMkLst>
            <pc:docMk/>
            <pc:sldMk cId="0" sldId="461"/>
            <ac:spMk id="11269" creationId="{00000000-0000-0000-0000-000000000000}"/>
          </ac:spMkLst>
        </pc:spChg>
      </pc:sldChg>
      <pc:sldChg chg="modSp mod modAnim">
        <pc:chgData name="ren mingming" userId="7a846002af62c971" providerId="LiveId" clId="{1E4C63D6-E93A-4907-93AA-3E48E61EC214}" dt="2023-09-12T00:11:06.171" v="103"/>
        <pc:sldMkLst>
          <pc:docMk/>
          <pc:sldMk cId="0" sldId="469"/>
        </pc:sldMkLst>
        <pc:spChg chg="mod">
          <ac:chgData name="ren mingming" userId="7a846002af62c971" providerId="LiveId" clId="{1E4C63D6-E93A-4907-93AA-3E48E61EC214}" dt="2023-09-12T00:11:06.171" v="103"/>
          <ac:spMkLst>
            <pc:docMk/>
            <pc:sldMk cId="0" sldId="469"/>
            <ac:spMk id="55298" creationId="{00000000-0000-0000-0000-000000000000}"/>
          </ac:spMkLst>
        </pc:spChg>
        <pc:spChg chg="mod">
          <ac:chgData name="ren mingming" userId="7a846002af62c971" providerId="LiveId" clId="{1E4C63D6-E93A-4907-93AA-3E48E61EC214}" dt="2023-09-11T15:14:07.919" v="90" actId="20577"/>
          <ac:spMkLst>
            <pc:docMk/>
            <pc:sldMk cId="0" sldId="469"/>
            <ac:spMk id="55299" creationId="{00000000-0000-0000-0000-000000000000}"/>
          </ac:spMkLst>
        </pc:spChg>
      </pc:sldChg>
      <pc:sldChg chg="modSp mod">
        <pc:chgData name="ren mingming" userId="7a846002af62c971" providerId="LiveId" clId="{1E4C63D6-E93A-4907-93AA-3E48E61EC214}" dt="2023-09-12T00:11:25.182" v="109" actId="20577"/>
        <pc:sldMkLst>
          <pc:docMk/>
          <pc:sldMk cId="0" sldId="470"/>
        </pc:sldMkLst>
        <pc:spChg chg="mod">
          <ac:chgData name="ren mingming" userId="7a846002af62c971" providerId="LiveId" clId="{1E4C63D6-E93A-4907-93AA-3E48E61EC214}" dt="2023-09-12T00:11:25.182" v="109" actId="20577"/>
          <ac:spMkLst>
            <pc:docMk/>
            <pc:sldMk cId="0" sldId="470"/>
            <ac:spMk id="57346" creationId="{00000000-0000-0000-0000-000000000000}"/>
          </ac:spMkLst>
        </pc:spChg>
      </pc:sldChg>
      <pc:sldChg chg="modSp mod">
        <pc:chgData name="ren mingming" userId="7a846002af62c971" providerId="LiveId" clId="{1E4C63D6-E93A-4907-93AA-3E48E61EC214}" dt="2023-09-12T00:11:40.134" v="110"/>
        <pc:sldMkLst>
          <pc:docMk/>
          <pc:sldMk cId="0" sldId="471"/>
        </pc:sldMkLst>
        <pc:spChg chg="mod">
          <ac:chgData name="ren mingming" userId="7a846002af62c971" providerId="LiveId" clId="{1E4C63D6-E93A-4907-93AA-3E48E61EC214}" dt="2023-09-12T00:11:40.134" v="110"/>
          <ac:spMkLst>
            <pc:docMk/>
            <pc:sldMk cId="0" sldId="471"/>
            <ac:spMk id="59394" creationId="{00000000-0000-0000-0000-000000000000}"/>
          </ac:spMkLst>
        </pc:spChg>
      </pc:sldChg>
      <pc:sldChg chg="modSp mod">
        <pc:chgData name="ren mingming" userId="7a846002af62c971" providerId="LiveId" clId="{1E4C63D6-E93A-4907-93AA-3E48E61EC214}" dt="2023-09-11T23:49:38.372" v="99"/>
        <pc:sldMkLst>
          <pc:docMk/>
          <pc:sldMk cId="0" sldId="475"/>
        </pc:sldMkLst>
        <pc:spChg chg="mod">
          <ac:chgData name="ren mingming" userId="7a846002af62c971" providerId="LiveId" clId="{1E4C63D6-E93A-4907-93AA-3E48E61EC214}" dt="2023-09-11T23:49:38.372" v="99"/>
          <ac:spMkLst>
            <pc:docMk/>
            <pc:sldMk cId="0" sldId="475"/>
            <ac:spMk id="17412" creationId="{00000000-0000-0000-0000-000000000000}"/>
          </ac:spMkLst>
        </pc:spChg>
      </pc:sldChg>
    </pc:docChg>
  </pc:docChgLst>
  <pc:docChgLst>
    <pc:chgData name="mingming ren" userId="7a846002af62c971" providerId="LiveId" clId="{67609C1E-A5CF-4735-A8B1-585D011D5AA0}"/>
    <pc:docChg chg="undo custSel modSld">
      <pc:chgData name="mingming ren" userId="7a846002af62c971" providerId="LiveId" clId="{67609C1E-A5CF-4735-A8B1-585D011D5AA0}" dt="2024-09-23T08:09:19.085" v="56" actId="20577"/>
      <pc:docMkLst>
        <pc:docMk/>
      </pc:docMkLst>
      <pc:sldChg chg="modSp">
        <pc:chgData name="mingming ren" userId="7a846002af62c971" providerId="LiveId" clId="{67609C1E-A5CF-4735-A8B1-585D011D5AA0}" dt="2024-09-12T13:42:58.714" v="46" actId="20577"/>
        <pc:sldMkLst>
          <pc:docMk/>
          <pc:sldMk cId="0" sldId="446"/>
        </pc:sldMkLst>
        <pc:spChg chg="mod">
          <ac:chgData name="mingming ren" userId="7a846002af62c971" providerId="LiveId" clId="{67609C1E-A5CF-4735-A8B1-585D011D5AA0}" dt="2024-09-12T13:42:58.714" v="46" actId="20577"/>
          <ac:spMkLst>
            <pc:docMk/>
            <pc:sldMk cId="0" sldId="446"/>
            <ac:spMk id="12291" creationId="{00000000-0000-0000-0000-000000000000}"/>
          </ac:spMkLst>
        </pc:spChg>
      </pc:sldChg>
      <pc:sldChg chg="modSp mod">
        <pc:chgData name="mingming ren" userId="7a846002af62c971" providerId="LiveId" clId="{67609C1E-A5CF-4735-A8B1-585D011D5AA0}" dt="2024-09-23T08:09:19.085" v="56" actId="20577"/>
        <pc:sldMkLst>
          <pc:docMk/>
          <pc:sldMk cId="0" sldId="456"/>
        </pc:sldMkLst>
        <pc:spChg chg="mod">
          <ac:chgData name="mingming ren" userId="7a846002af62c971" providerId="LiveId" clId="{67609C1E-A5CF-4735-A8B1-585D011D5AA0}" dt="2024-09-23T08:09:19.085" v="56" actId="20577"/>
          <ac:spMkLst>
            <pc:docMk/>
            <pc:sldMk cId="0" sldId="456"/>
            <ac:spMk id="28676" creationId="{00000000-0000-0000-0000-000000000000}"/>
          </ac:spMkLst>
        </pc:spChg>
      </pc:sldChg>
      <pc:sldChg chg="modSp">
        <pc:chgData name="mingming ren" userId="7a846002af62c971" providerId="LiveId" clId="{67609C1E-A5CF-4735-A8B1-585D011D5AA0}" dt="2024-09-12T13:50:09.599" v="48"/>
        <pc:sldMkLst>
          <pc:docMk/>
          <pc:sldMk cId="0" sldId="457"/>
        </pc:sldMkLst>
        <pc:spChg chg="mod">
          <ac:chgData name="mingming ren" userId="7a846002af62c971" providerId="LiveId" clId="{67609C1E-A5CF-4735-A8B1-585D011D5AA0}" dt="2024-09-12T13:50:09.599" v="48"/>
          <ac:spMkLst>
            <pc:docMk/>
            <pc:sldMk cId="0" sldId="457"/>
            <ac:spMk id="30723" creationId="{00000000-0000-0000-0000-000000000000}"/>
          </ac:spMkLst>
        </pc:spChg>
      </pc:sldChg>
      <pc:sldChg chg="delSp modSp mod">
        <pc:chgData name="mingming ren" userId="7a846002af62c971" providerId="LiveId" clId="{67609C1E-A5CF-4735-A8B1-585D011D5AA0}" dt="2024-09-12T13:20:31.504" v="8" actId="478"/>
        <pc:sldMkLst>
          <pc:docMk/>
          <pc:sldMk cId="0" sldId="474"/>
        </pc:sldMkLst>
        <pc:spChg chg="del">
          <ac:chgData name="mingming ren" userId="7a846002af62c971" providerId="LiveId" clId="{67609C1E-A5CF-4735-A8B1-585D011D5AA0}" dt="2024-09-12T13:20:31.504" v="8" actId="478"/>
          <ac:spMkLst>
            <pc:docMk/>
            <pc:sldMk cId="0" sldId="474"/>
            <ac:spMk id="2" creationId="{00000000-0000-0000-0000-000000000000}"/>
          </ac:spMkLst>
        </pc:spChg>
        <pc:graphicFrameChg chg="modGraphic">
          <ac:chgData name="mingming ren" userId="7a846002af62c971" providerId="LiveId" clId="{67609C1E-A5CF-4735-A8B1-585D011D5AA0}" dt="2024-09-12T13:14:32.795" v="3" actId="20577"/>
          <ac:graphicFrameMkLst>
            <pc:docMk/>
            <pc:sldMk cId="0" sldId="474"/>
            <ac:graphicFrameMk id="164902" creationId="{00000000-0000-0000-0000-000000000000}"/>
          </ac:graphicFrameMkLst>
        </pc:graphicFrameChg>
        <pc:graphicFrameChg chg="modGraphic">
          <ac:chgData name="mingming ren" userId="7a846002af62c971" providerId="LiveId" clId="{67609C1E-A5CF-4735-A8B1-585D011D5AA0}" dt="2024-09-12T13:14:37.662" v="7" actId="20577"/>
          <ac:graphicFrameMkLst>
            <pc:docMk/>
            <pc:sldMk cId="0" sldId="474"/>
            <ac:graphicFrameMk id="164903" creationId="{00000000-0000-0000-0000-000000000000}"/>
          </ac:graphicFrameMkLst>
        </pc:graphicFrameChg>
      </pc:sldChg>
      <pc:sldChg chg="modSp">
        <pc:chgData name="mingming ren" userId="7a846002af62c971" providerId="LiveId" clId="{67609C1E-A5CF-4735-A8B1-585D011D5AA0}" dt="2024-09-12T13:28:12.912" v="28" actId="20577"/>
        <pc:sldMkLst>
          <pc:docMk/>
          <pc:sldMk cId="0" sldId="475"/>
        </pc:sldMkLst>
        <pc:spChg chg="mod">
          <ac:chgData name="mingming ren" userId="7a846002af62c971" providerId="LiveId" clId="{67609C1E-A5CF-4735-A8B1-585D011D5AA0}" dt="2024-09-12T13:28:12.912" v="28" actId="20577"/>
          <ac:spMkLst>
            <pc:docMk/>
            <pc:sldMk cId="0" sldId="475"/>
            <ac:spMk id="17412" creationId="{00000000-0000-0000-0000-000000000000}"/>
          </ac:spMkLst>
        </pc:spChg>
      </pc:sldChg>
    </pc:docChg>
  </pc:docChgLst>
  <pc:docChgLst>
    <pc:chgData name="ren mingming" userId="7a846002af62c971" providerId="LiveId" clId="{08D98123-5BAB-46EA-9A85-8FE02B905808}"/>
    <pc:docChg chg="modSld">
      <pc:chgData name="ren mingming" userId="7a846002af62c971" providerId="LiveId" clId="{08D98123-5BAB-46EA-9A85-8FE02B905808}" dt="2022-09-28T13:59:14.490" v="20" actId="20577"/>
      <pc:docMkLst>
        <pc:docMk/>
      </pc:docMkLst>
      <pc:sldChg chg="modSp mod">
        <pc:chgData name="ren mingming" userId="7a846002af62c971" providerId="LiveId" clId="{08D98123-5BAB-46EA-9A85-8FE02B905808}" dt="2022-09-28T13:59:14.490" v="20" actId="20577"/>
        <pc:sldMkLst>
          <pc:docMk/>
          <pc:sldMk cId="0" sldId="476"/>
        </pc:sldMkLst>
        <pc:spChg chg="mod">
          <ac:chgData name="ren mingming" userId="7a846002af62c971" providerId="LiveId" clId="{08D98123-5BAB-46EA-9A85-8FE02B905808}" dt="2022-09-28T13:59:14.490" v="20" actId="20577"/>
          <ac:spMkLst>
            <pc:docMk/>
            <pc:sldMk cId="0" sldId="476"/>
            <ac:spMk id="1843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2763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23" tIns="45862" rIns="91723" bIns="45862" numCol="1" anchor="t" anchorCtr="0" compatLnSpc="1">
            <a:prstTxWarp prst="textNoShape">
              <a:avLst/>
            </a:prstTxWarp>
          </a:bodyPr>
          <a:lstStyle>
            <a:lvl1pPr defTabSz="917575">
              <a:spcBef>
                <a:spcPct val="0"/>
              </a:spcBef>
              <a:buClrTx/>
              <a:buFontTx/>
              <a:buNone/>
              <a:defRPr kumimoji="0"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52762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23" tIns="45862" rIns="91723" bIns="45862" numCol="1" anchor="t" anchorCtr="0" compatLnSpc="1">
            <a:prstTxWarp prst="textNoShape">
              <a:avLst/>
            </a:prstTxWarp>
          </a:bodyPr>
          <a:lstStyle>
            <a:lvl1pPr algn="r" defTabSz="917575">
              <a:spcBef>
                <a:spcPct val="0"/>
              </a:spcBef>
              <a:buClrTx/>
              <a:buFontTx/>
              <a:buNone/>
              <a:defRPr kumimoji="0"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75713"/>
            <a:ext cx="3052763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23" tIns="45862" rIns="91723" bIns="45862" numCol="1" anchor="b" anchorCtr="0" compatLnSpc="1">
            <a:prstTxWarp prst="textNoShape">
              <a:avLst/>
            </a:prstTxWarp>
          </a:bodyPr>
          <a:lstStyle>
            <a:lvl1pPr defTabSz="917575">
              <a:spcBef>
                <a:spcPct val="0"/>
              </a:spcBef>
              <a:buClrTx/>
              <a:buFontTx/>
              <a:buNone/>
              <a:defRPr kumimoji="0"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75713"/>
            <a:ext cx="3052762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23" tIns="45862" rIns="91723" bIns="45862" numCol="1" anchor="b" anchorCtr="0" compatLnSpc="1">
            <a:prstTxWarp prst="textNoShape">
              <a:avLst/>
            </a:prstTxWarp>
          </a:bodyPr>
          <a:lstStyle>
            <a:lvl1pPr algn="r" defTabSz="917575">
              <a:spcBef>
                <a:spcPct val="0"/>
              </a:spcBef>
              <a:buClrTx/>
              <a:buFontTx/>
              <a:buNone/>
              <a:defRPr kumimoji="0" sz="12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CB6F004-EEFC-4E78-B489-2A68408AEE2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2763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23" tIns="45862" rIns="91723" bIns="45862" numCol="1" anchor="t" anchorCtr="0" compatLnSpc="1">
            <a:prstTxWarp prst="textNoShape">
              <a:avLst/>
            </a:prstTxWarp>
          </a:bodyPr>
          <a:lstStyle>
            <a:lvl1pPr defTabSz="917575">
              <a:spcBef>
                <a:spcPct val="0"/>
              </a:spcBef>
              <a:buClrTx/>
              <a:buFontTx/>
              <a:buNone/>
              <a:defRPr kumimoji="0"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379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52762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23" tIns="45862" rIns="91723" bIns="45862" numCol="1" anchor="t" anchorCtr="0" compatLnSpc="1">
            <a:prstTxWarp prst="textNoShape">
              <a:avLst/>
            </a:prstTxWarp>
          </a:bodyPr>
          <a:lstStyle>
            <a:lvl1pPr algn="r" defTabSz="917575">
              <a:spcBef>
                <a:spcPct val="0"/>
              </a:spcBef>
              <a:buClrTx/>
              <a:buFontTx/>
              <a:buNone/>
              <a:defRPr kumimoji="0"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4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27125" y="688975"/>
            <a:ext cx="4692650" cy="3519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5988" y="4437063"/>
            <a:ext cx="5114925" cy="420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23" tIns="45862" rIns="91723" bIns="458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379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75713"/>
            <a:ext cx="3052763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23" tIns="45862" rIns="91723" bIns="45862" numCol="1" anchor="b" anchorCtr="0" compatLnSpc="1">
            <a:prstTxWarp prst="textNoShape">
              <a:avLst/>
            </a:prstTxWarp>
          </a:bodyPr>
          <a:lstStyle>
            <a:lvl1pPr defTabSz="917575">
              <a:spcBef>
                <a:spcPct val="0"/>
              </a:spcBef>
              <a:buClrTx/>
              <a:buFontTx/>
              <a:buNone/>
              <a:defRPr kumimoji="0"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75713"/>
            <a:ext cx="3052762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23" tIns="45862" rIns="91723" bIns="45862" numCol="1" anchor="b" anchorCtr="0" compatLnSpc="1">
            <a:prstTxWarp prst="textNoShape">
              <a:avLst/>
            </a:prstTxWarp>
          </a:bodyPr>
          <a:lstStyle>
            <a:lvl1pPr algn="r" defTabSz="917575">
              <a:spcBef>
                <a:spcPct val="0"/>
              </a:spcBef>
              <a:buClrTx/>
              <a:buFontTx/>
              <a:buNone/>
              <a:defRPr kumimoji="0"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4C2076D-946F-4B66-9F3B-9D0C52BF8BE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23825" indent="-123825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579438" indent="-122238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035050" indent="-120650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490663" indent="-119063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946275" indent="-117475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575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17575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17575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17575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17575"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224BED3-DA7F-4D6B-A779-3C7A5BE717EA}" type="slidenum">
              <a:rPr kumimoji="0" lang="zh-CN" altLang="en-US" sz="1200" b="0" smtClean="0">
                <a:solidFill>
                  <a:schemeClr val="tx1"/>
                </a:solidFill>
              </a:rPr>
              <a:pPr/>
              <a:t>1</a:t>
            </a:fld>
            <a:endParaRPr kumimoji="0" lang="en-US" altLang="zh-CN" sz="1200" b="0">
              <a:solidFill>
                <a:schemeClr val="tx1"/>
              </a:solidFill>
            </a:endParaRPr>
          </a:p>
        </p:txBody>
      </p:sp>
      <p:sp>
        <p:nvSpPr>
          <p:cNvPr id="13315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Tx/>
              <a:buNone/>
            </a:pP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F458B9-89E4-4DE9-8EB0-A357FA7EFF5B}" type="slidenum">
              <a:rPr kumimoji="0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3CEDC7-5689-4E73-8F7B-21EA0E94771F}" type="slidenum">
              <a:rPr kumimoji="0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5F6F61-6B37-4F83-8374-CA425ED23155}" type="slidenum">
              <a:rPr kumimoji="0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DA4AD5C-2423-40E9-8392-8030A768EB7B}" type="slidenum">
              <a:rPr kumimoji="0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548B92-BBF8-434D-AAFD-54B974794CCB}" type="slidenum">
              <a:rPr kumimoji="0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A20B40-A54B-4045-8158-AF766F987F22}" type="slidenum">
              <a:rPr kumimoji="0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3894A1-9225-4E5E-9D32-7774710EEE99}" type="slidenum">
              <a:rPr kumimoji="0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7441DC-E100-4AA7-BB56-E049D806AF1A}" type="slidenum">
              <a:rPr kumimoji="0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CAD633-AC74-4565-B7DF-DFD74DCFED70}" type="slidenum">
              <a:rPr kumimoji="0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35C59E-022E-4370-AA81-D60C0E1154D9}" type="slidenum">
              <a:rPr kumimoji="0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E98FFD-08CB-45C5-AD95-4B9137F6B2DB}" type="slidenum">
              <a:rPr kumimoji="0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D58315-2D30-478A-A580-81332302EE9D}" type="slidenum">
              <a:rPr kumimoji="0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953996-CC45-4470-8F56-62C1605A46E1}" type="slidenum">
              <a:rPr kumimoji="0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33F988-A62C-471A-BB17-F2B536CF5AE4}" type="slidenum">
              <a:rPr kumimoji="0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187305-2C07-429E-B159-208A86921E52}" type="slidenum">
              <a:rPr kumimoji="0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7575">
              <a:spcBef>
                <a:spcPct val="30000"/>
              </a:spcBef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7575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688A72-6E41-4166-9673-D3B818A718F1}" type="slidenum">
              <a:rPr kumimoji="0"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kumimoji="0" lang="en-US" altLang="zh-CN">
              <a:latin typeface="Times New Roman" panose="02020603050405020304" pitchFamily="18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2"/>
          <p:cNvSpPr>
            <a:spLocks noChangeArrowheads="1"/>
          </p:cNvSpPr>
          <p:nvPr/>
        </p:nvSpPr>
        <p:spPr bwMode="gray">
          <a:xfrm>
            <a:off x="0" y="1333500"/>
            <a:ext cx="9144000" cy="22479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3"/>
          <p:cNvSpPr>
            <a:spLocks noChangeArrowheads="1"/>
          </p:cNvSpPr>
          <p:nvPr/>
        </p:nvSpPr>
        <p:spPr bwMode="ltGray">
          <a:xfrm>
            <a:off x="0" y="1400175"/>
            <a:ext cx="9144000" cy="2112963"/>
          </a:xfrm>
          <a:prstGeom prst="rect">
            <a:avLst/>
          </a:prstGeom>
          <a:solidFill>
            <a:srgbClr val="F0F07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grpSp>
        <p:nvGrpSpPr>
          <p:cNvPr id="6" name="Group 70"/>
          <p:cNvGrpSpPr>
            <a:grpSpLocks/>
          </p:cNvGrpSpPr>
          <p:nvPr/>
        </p:nvGrpSpPr>
        <p:grpSpPr bwMode="auto">
          <a:xfrm>
            <a:off x="1143000" y="4202113"/>
            <a:ext cx="533400" cy="338137"/>
            <a:chOff x="613" y="2617"/>
            <a:chExt cx="491" cy="311"/>
          </a:xfrm>
        </p:grpSpPr>
        <p:sp>
          <p:nvSpPr>
            <p:cNvPr id="7" name="Oval 54"/>
            <p:cNvSpPr>
              <a:spLocks noChangeArrowheads="1"/>
            </p:cNvSpPr>
            <p:nvPr/>
          </p:nvSpPr>
          <p:spPr bwMode="invGray">
            <a:xfrm>
              <a:off x="613" y="2617"/>
              <a:ext cx="95" cy="9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CCCC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8" name="Oval 55"/>
            <p:cNvSpPr>
              <a:spLocks noChangeArrowheads="1"/>
            </p:cNvSpPr>
            <p:nvPr/>
          </p:nvSpPr>
          <p:spPr bwMode="invGray">
            <a:xfrm>
              <a:off x="721" y="2722"/>
              <a:ext cx="95" cy="9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CCCC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9" name="Oval 56"/>
            <p:cNvSpPr>
              <a:spLocks noChangeArrowheads="1"/>
            </p:cNvSpPr>
            <p:nvPr/>
          </p:nvSpPr>
          <p:spPr bwMode="invGray">
            <a:xfrm>
              <a:off x="613" y="2833"/>
              <a:ext cx="95" cy="9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CCCC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10" name="Oval 67"/>
            <p:cNvSpPr>
              <a:spLocks noChangeArrowheads="1"/>
            </p:cNvSpPr>
            <p:nvPr/>
          </p:nvSpPr>
          <p:spPr bwMode="invGray">
            <a:xfrm>
              <a:off x="901" y="2617"/>
              <a:ext cx="95" cy="9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CCCC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11" name="Oval 68"/>
            <p:cNvSpPr>
              <a:spLocks noChangeArrowheads="1"/>
            </p:cNvSpPr>
            <p:nvPr/>
          </p:nvSpPr>
          <p:spPr bwMode="invGray">
            <a:xfrm>
              <a:off x="1009" y="2722"/>
              <a:ext cx="95" cy="9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CCCC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12" name="Oval 69"/>
            <p:cNvSpPr>
              <a:spLocks noChangeArrowheads="1"/>
            </p:cNvSpPr>
            <p:nvPr/>
          </p:nvSpPr>
          <p:spPr bwMode="invGray">
            <a:xfrm>
              <a:off x="901" y="2833"/>
              <a:ext cx="95" cy="9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CCCC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pic>
        <p:nvPicPr>
          <p:cNvPr id="13" name="Picture 72"/>
          <p:cNvPicPr>
            <a:picLocks noChangeAspect="1" noChangeArrowheads="1"/>
          </p:cNvPicPr>
          <p:nvPr/>
        </p:nvPicPr>
        <p:blipFill>
          <a:blip r:embed="rId2"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763" y="2057400"/>
            <a:ext cx="1416050" cy="8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2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1827213" y="3810000"/>
            <a:ext cx="7010400" cy="1143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1827213" y="4724400"/>
            <a:ext cx="6934200" cy="1752600"/>
          </a:xfrm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800"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44056391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87919921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9096119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371600"/>
            <a:ext cx="36576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343400" y="1371600"/>
            <a:ext cx="36576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3015948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524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F23C6D-32AA-46F9-AB1E-E5A5A59CBF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3376646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524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A9FB1-936C-49FB-8DB5-7212A426A11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2025472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524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E01CE2-AEFB-4FE3-BCBB-BB380678CE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9507833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524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D058B-2695-4223-9238-36B0400190E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2292479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524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A65744-B35E-4A6F-8021-8508A893A5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9606557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524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7DA18-499A-4EE8-8C2F-3B48BCBE75D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7819560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91350" y="0"/>
            <a:ext cx="215265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0"/>
            <a:ext cx="6305550" cy="54864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524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7A06B4-EBDD-4C83-80FE-6E8572A6AF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4626669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89A5C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sz="2800" b="1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371600"/>
            <a:ext cx="7467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		</a:t>
            </a:r>
          </a:p>
          <a:p>
            <a:pPr lvl="3"/>
            <a:r>
              <a:rPr lang="en-US" altLang="zh-CN"/>
              <a:t>Fourth level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8229600" cy="762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grpSp>
        <p:nvGrpSpPr>
          <p:cNvPr id="1029" name="Group 72"/>
          <p:cNvGrpSpPr>
            <a:grpSpLocks/>
          </p:cNvGrpSpPr>
          <p:nvPr/>
        </p:nvGrpSpPr>
        <p:grpSpPr bwMode="auto">
          <a:xfrm>
            <a:off x="304800" y="244475"/>
            <a:ext cx="457200" cy="288925"/>
            <a:chOff x="96" y="152"/>
            <a:chExt cx="491" cy="311"/>
          </a:xfrm>
        </p:grpSpPr>
        <p:sp>
          <p:nvSpPr>
            <p:cNvPr id="1033" name="Oval 73"/>
            <p:cNvSpPr>
              <a:spLocks noChangeArrowheads="1"/>
            </p:cNvSpPr>
            <p:nvPr/>
          </p:nvSpPr>
          <p:spPr bwMode="white">
            <a:xfrm>
              <a:off x="96" y="152"/>
              <a:ext cx="95" cy="9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CCCC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1034" name="Oval 74"/>
            <p:cNvSpPr>
              <a:spLocks noChangeArrowheads="1"/>
            </p:cNvSpPr>
            <p:nvPr/>
          </p:nvSpPr>
          <p:spPr bwMode="white">
            <a:xfrm>
              <a:off x="203" y="256"/>
              <a:ext cx="94" cy="9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CCCC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1035" name="Oval 75"/>
            <p:cNvSpPr>
              <a:spLocks noChangeArrowheads="1"/>
            </p:cNvSpPr>
            <p:nvPr/>
          </p:nvSpPr>
          <p:spPr bwMode="white">
            <a:xfrm>
              <a:off x="96" y="367"/>
              <a:ext cx="95" cy="9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CCCC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1036" name="Oval 76"/>
            <p:cNvSpPr>
              <a:spLocks noChangeArrowheads="1"/>
            </p:cNvSpPr>
            <p:nvPr/>
          </p:nvSpPr>
          <p:spPr bwMode="white">
            <a:xfrm>
              <a:off x="384" y="152"/>
              <a:ext cx="95" cy="9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CCCC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1037" name="Oval 77"/>
            <p:cNvSpPr>
              <a:spLocks noChangeArrowheads="1"/>
            </p:cNvSpPr>
            <p:nvPr/>
          </p:nvSpPr>
          <p:spPr bwMode="white">
            <a:xfrm>
              <a:off x="492" y="256"/>
              <a:ext cx="95" cy="9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CCCC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sp>
          <p:nvSpPr>
            <p:cNvPr id="1038" name="Oval 78"/>
            <p:cNvSpPr>
              <a:spLocks noChangeArrowheads="1"/>
            </p:cNvSpPr>
            <p:nvPr/>
          </p:nvSpPr>
          <p:spPr bwMode="white">
            <a:xfrm>
              <a:off x="384" y="367"/>
              <a:ext cx="95" cy="9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CCCC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0"/>
                </a:spcAft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800" b="1">
                  <a:solidFill>
                    <a:srgbClr val="FFFF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11" r:id="rId1"/>
    <p:sldLayoutId id="2147483708" r:id="rId2"/>
    <p:sldLayoutId id="2147483709" r:id="rId3"/>
    <p:sldLayoutId id="2147483710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9" grpId="0" build="p" autoUpdateAnimBg="0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059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059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059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205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FFFF"/>
          </a:solidFill>
          <a:latin typeface="隶书" panose="02010509060101010101" pitchFamily="49" charset="-122"/>
          <a:ea typeface="隶书" panose="020105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FFFF"/>
          </a:solidFill>
          <a:latin typeface="隶书" panose="02010509060101010101" pitchFamily="49" charset="-122"/>
          <a:ea typeface="隶书" panose="020105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FFFF"/>
          </a:solidFill>
          <a:latin typeface="隶书" panose="02010509060101010101" pitchFamily="49" charset="-122"/>
          <a:ea typeface="隶书" panose="020105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FFFF"/>
          </a:solidFill>
          <a:latin typeface="隶书" panose="02010509060101010101" pitchFamily="49" charset="-122"/>
          <a:ea typeface="隶书" panose="020105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FFFF"/>
          </a:solidFill>
          <a:latin typeface="隶书" panose="02010509060101010101" pitchFamily="49" charset="-122"/>
          <a:ea typeface="隶书" panose="020105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FFFF"/>
          </a:solidFill>
          <a:latin typeface="隶书" panose="02010509060101010101" pitchFamily="49" charset="-122"/>
          <a:ea typeface="隶书" panose="020105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FFFF"/>
          </a:solidFill>
          <a:latin typeface="隶书" panose="02010509060101010101" pitchFamily="49" charset="-122"/>
          <a:ea typeface="隶书" panose="020105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FFFF"/>
          </a:solidFill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0"/>
        </a:spcAft>
        <a:buClr>
          <a:srgbClr val="99CCCC"/>
        </a:buClr>
        <a:buFont typeface="Wingdings" panose="05000000000000000000" pitchFamily="2" charset="2"/>
        <a:buChar char="q"/>
        <a:defRPr kumimoji="1" sz="2400" b="1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45000"/>
        </a:spcBef>
        <a:spcAft>
          <a:spcPct val="0"/>
        </a:spcAft>
        <a:buClr>
          <a:srgbClr val="99CCCC"/>
        </a:buClr>
        <a:buChar char="–"/>
        <a:defRPr kumimoji="1" sz="2400" b="1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45000"/>
        </a:spcBef>
        <a:spcAft>
          <a:spcPct val="0"/>
        </a:spcAft>
        <a:buClr>
          <a:srgbClr val="99CCCC"/>
        </a:buClr>
        <a:buChar char="•"/>
        <a:defRPr kumimoji="1" sz="2400" b="1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45000"/>
        </a:spcBef>
        <a:spcAft>
          <a:spcPct val="0"/>
        </a:spcAft>
        <a:buClr>
          <a:srgbClr val="99CCCC"/>
        </a:buClr>
        <a:buChar char="–"/>
        <a:defRPr kumimoji="1" sz="2400" b="1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2B515"/>
        </a:buClr>
        <a:buChar char="»"/>
        <a:defRPr kumimoji="1" sz="2000" kern="1200">
          <a:solidFill>
            <a:srgbClr val="FFFFFF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1827213" y="3810000"/>
            <a:ext cx="7316787" cy="1490663"/>
          </a:xfrm>
        </p:spPr>
        <p:txBody>
          <a:bodyPr/>
          <a:lstStyle/>
          <a:p>
            <a:r>
              <a:rPr lang="zh-CN" altLang="en-US" sz="4800">
                <a:solidFill>
                  <a:srgbClr val="F0F076"/>
                </a:solidFill>
              </a:rPr>
              <a:t>真值函数、联结词功能完备集、命题逻辑推理理论</a:t>
            </a:r>
          </a:p>
        </p:txBody>
      </p:sp>
      <p:pic>
        <p:nvPicPr>
          <p:cNvPr id="12291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77" r="33333" b="38638"/>
          <a:stretch>
            <a:fillRect/>
          </a:stretch>
        </p:blipFill>
        <p:spPr bwMode="auto">
          <a:xfrm>
            <a:off x="0" y="1295400"/>
            <a:ext cx="9144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Text Box 13"/>
          <p:cNvSpPr txBox="1">
            <a:spLocks noChangeArrowheads="1"/>
          </p:cNvSpPr>
          <p:nvPr/>
        </p:nvSpPr>
        <p:spPr bwMode="auto">
          <a:xfrm>
            <a:off x="1676400" y="1676400"/>
            <a:ext cx="5715000" cy="143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45000"/>
              </a:spcBef>
              <a:buClr>
                <a:srgbClr val="99CCCC"/>
              </a:buClr>
              <a:buChar char="•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zh-CN" altLang="en-US" sz="88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离 散 数 学</a:t>
            </a:r>
            <a:endParaRPr kumimoji="0" lang="en-US" altLang="zh-CN" sz="880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2293" name="Picture 16" descr="R0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548640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Rectangle 21"/>
          <p:cNvSpPr>
            <a:spLocks noChangeArrowheads="1"/>
          </p:cNvSpPr>
          <p:nvPr/>
        </p:nvSpPr>
        <p:spPr bwMode="auto">
          <a:xfrm>
            <a:off x="1828800" y="5410200"/>
            <a:ext cx="6934200" cy="6858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45000"/>
              </a:spcBef>
              <a:buClr>
                <a:srgbClr val="99CCCC"/>
              </a:buClr>
              <a:buChar char="•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Tx/>
              <a:buNone/>
            </a:pPr>
            <a:r>
              <a:rPr lang="zh-CN" altLang="en-US" sz="3600">
                <a:latin typeface="Arial" panose="020B0604020202020204" pitchFamily="34" charset="0"/>
              </a:rPr>
              <a:t>计算机系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6988"/>
            <a:ext cx="8229600" cy="1066801"/>
          </a:xfrm>
        </p:spPr>
        <p:txBody>
          <a:bodyPr/>
          <a:lstStyle/>
          <a:p>
            <a:r>
              <a:rPr lang="zh-CN" altLang="en-US">
                <a:latin typeface="宋体" panose="02010600030101010101" pitchFamily="2" charset="-122"/>
              </a:rPr>
              <a:t>  真值函数</a:t>
            </a:r>
            <a:r>
              <a:rPr lang="zh-CN" altLang="en-US" sz="4000"/>
              <a:t> </a:t>
            </a:r>
          </a:p>
        </p:txBody>
      </p:sp>
      <p:sp>
        <p:nvSpPr>
          <p:cNvPr id="41990" name="Text Box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57200" y="1210866"/>
            <a:ext cx="8229600" cy="4784258"/>
          </a:xfrm>
          <a:prstGeom prst="rect">
            <a:avLst/>
          </a:prstGeom>
          <a:blipFill>
            <a:blip r:embed="rId2"/>
            <a:stretch>
              <a:fillRect l="-1481" t="-2679" r="-74" b="-2806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229600" cy="914400"/>
          </a:xfrm>
        </p:spPr>
        <p:txBody>
          <a:bodyPr/>
          <a:lstStyle/>
          <a:p>
            <a:r>
              <a:rPr lang="zh-CN" altLang="en-US">
                <a:latin typeface="宋体" panose="02010600030101010101" pitchFamily="2" charset="-122"/>
              </a:rPr>
              <a:t> 命题公式与真值函数</a:t>
            </a:r>
            <a:r>
              <a:rPr lang="zh-C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3013" name="Text Box 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13024" y="1268760"/>
            <a:ext cx="8153400" cy="4280916"/>
          </a:xfrm>
          <a:prstGeom prst="rect">
            <a:avLst/>
          </a:prstGeom>
          <a:blipFill>
            <a:blip r:embed="rId2"/>
            <a:stretch>
              <a:fillRect l="-1495" t="-1852" r="-1345" b="-1852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876300" y="222250"/>
            <a:ext cx="56403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3600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+mj-cs"/>
              </a:rPr>
              <a:t>2</a:t>
            </a:r>
            <a:r>
              <a:rPr lang="zh-CN" altLang="en-US" sz="3600" dirty="0">
                <a:solidFill>
                  <a:srgbClr val="FFFFFF"/>
                </a:solidFill>
                <a:latin typeface="宋体" panose="02010600030101010101" pitchFamily="2" charset="-122"/>
                <a:ea typeface="+mj-ea"/>
                <a:cs typeface="+mj-cs"/>
              </a:rPr>
              <a:t>元真值函数对应的真值表</a:t>
            </a:r>
          </a:p>
        </p:txBody>
      </p:sp>
      <p:graphicFrame>
        <p:nvGraphicFramePr>
          <p:cNvPr id="164902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815057"/>
              </p:ext>
            </p:extLst>
          </p:nvPr>
        </p:nvGraphicFramePr>
        <p:xfrm>
          <a:off x="533400" y="1219200"/>
          <a:ext cx="8077200" cy="2638453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1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  q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310">
                <a:tc>
                  <a:txBody>
                    <a:bodyPr/>
                    <a:lstStyle/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0  1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1  0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1  1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0       0       0       0       0       0       0       0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0       0       0       0       1       1       1       1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0       0       1       1       0       0       1       1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0       1       0       1       0       1       0       1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398" name="Rectangle 23"/>
          <p:cNvSpPr>
            <a:spLocks noChangeArrowheads="1"/>
          </p:cNvSpPr>
          <p:nvPr/>
        </p:nvSpPr>
        <p:spPr bwMode="auto">
          <a:xfrm>
            <a:off x="2792413" y="3303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45000"/>
              </a:spcBef>
              <a:buClr>
                <a:srgbClr val="99CCCC"/>
              </a:buClr>
              <a:buChar char="•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4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6399" name="Object 22"/>
          <p:cNvGraphicFramePr>
            <a:graphicFrameLocks noChangeAspect="1"/>
          </p:cNvGraphicFramePr>
          <p:nvPr/>
        </p:nvGraphicFramePr>
        <p:xfrm>
          <a:off x="1981200" y="1327150"/>
          <a:ext cx="61023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16300" imgH="241300" progId="Equation.3">
                  <p:embed/>
                </p:oleObj>
              </mc:Choice>
              <mc:Fallback>
                <p:oleObj name="Equation" r:id="rId2" imgW="3416300" imgH="241300" progId="Equation.3">
                  <p:embed/>
                  <p:pic>
                    <p:nvPicPr>
                      <p:cNvPr id="16399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327150"/>
                        <a:ext cx="61023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903" name="Group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80398"/>
              </p:ext>
            </p:extLst>
          </p:nvPr>
        </p:nvGraphicFramePr>
        <p:xfrm>
          <a:off x="533400" y="3810000"/>
          <a:ext cx="8077200" cy="2640013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  q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58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1       1       1       1       1       1       1       1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0       0       0       0       1       1       1       1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0       0       1       1       0       0       1       1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  0       1       0       1       0       1       0       1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411" name="Rectangle 37"/>
          <p:cNvSpPr>
            <a:spLocks noChangeArrowheads="1"/>
          </p:cNvSpPr>
          <p:nvPr/>
        </p:nvSpPr>
        <p:spPr bwMode="auto">
          <a:xfrm>
            <a:off x="2868613" y="3303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45000"/>
              </a:spcBef>
              <a:buClr>
                <a:srgbClr val="99CCCC"/>
              </a:buClr>
              <a:buChar char="•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4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6412" name="Object 36"/>
          <p:cNvGraphicFramePr>
            <a:graphicFrameLocks noChangeAspect="1"/>
          </p:cNvGraphicFramePr>
          <p:nvPr/>
        </p:nvGraphicFramePr>
        <p:xfrm>
          <a:off x="1970088" y="3917950"/>
          <a:ext cx="61182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16300" imgH="241300" progId="Equation.3">
                  <p:embed/>
                </p:oleObj>
              </mc:Choice>
              <mc:Fallback>
                <p:oleObj name="Equation" r:id="rId4" imgW="3416300" imgH="241300" progId="Equation.3">
                  <p:embed/>
                  <p:pic>
                    <p:nvPicPr>
                      <p:cNvPr id="16412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88" y="3917950"/>
                        <a:ext cx="61182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-171450"/>
            <a:ext cx="8229600" cy="1114425"/>
          </a:xfrm>
        </p:spPr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  联结词的全功能集</a:t>
            </a:r>
            <a:endParaRPr lang="en-US" altLang="zh-CN">
              <a:latin typeface="宋体" panose="02010600030101010101" pitchFamily="2" charset="-122"/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9425" y="942975"/>
            <a:ext cx="8229600" cy="5510213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3300"/>
                </a:solidFill>
                <a:latin typeface="宋体" panose="02010600030101010101" pitchFamily="2" charset="-122"/>
              </a:rPr>
              <a:t>定义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宋体" panose="02010600030101010101" pitchFamily="2" charset="-122"/>
              </a:rPr>
              <a:t>设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宋体" panose="02010600030101010101" pitchFamily="2" charset="-122"/>
              </a:rPr>
              <a:t>是一个联结词集合，如果任何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zh-CN" altLang="en-US" sz="2800" dirty="0">
                <a:latin typeface="宋体" panose="02010600030101010101" pitchFamily="2" charset="-122"/>
              </a:rPr>
              <a:t>元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真值函数都可以由仅含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宋体" panose="02010600030101010101" pitchFamily="2" charset="-122"/>
              </a:rPr>
              <a:t>中的联结词构成的公式表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示，则称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宋体" panose="02010600030101010101" pitchFamily="2" charset="-122"/>
              </a:rPr>
              <a:t>是</a:t>
            </a:r>
            <a:r>
              <a:rPr lang="zh-CN" altLang="en-US" sz="2800" dirty="0">
                <a:solidFill>
                  <a:srgbClr val="FF3300"/>
                </a:solidFill>
                <a:latin typeface="宋体" panose="02010600030101010101" pitchFamily="2" charset="-122"/>
              </a:rPr>
              <a:t>联结词全功能集</a:t>
            </a:r>
            <a:r>
              <a:rPr lang="en-US" altLang="zh-CN" sz="2800" dirty="0">
                <a:solidFill>
                  <a:srgbClr val="FF33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 dirty="0">
                <a:solidFill>
                  <a:srgbClr val="FF3300"/>
                </a:solidFill>
                <a:latin typeface="宋体" panose="02010600030101010101" pitchFamily="2" charset="-122"/>
              </a:rPr>
              <a:t>联结词功能完备集</a:t>
            </a:r>
            <a:r>
              <a:rPr lang="en-US" altLang="zh-CN" sz="2800" dirty="0">
                <a:solidFill>
                  <a:srgbClr val="FF3300"/>
                </a:solidFill>
                <a:latin typeface="宋体" panose="02010600030101010101" pitchFamily="2" charset="-122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800" dirty="0">
              <a:latin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说明：若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宋体" panose="02010600030101010101" pitchFamily="2" charset="-122"/>
              </a:rPr>
              <a:t>是联结词全功能集，则任何命题公式都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等值于某个仅用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宋体" panose="02010600030101010101" pitchFamily="2" charset="-122"/>
              </a:rPr>
              <a:t>中的联结词表示的公式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是两个联结词集合，且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800" dirty="0">
                <a:latin typeface="宋体" panose="02010600030101010101" pitchFamily="2" charset="-122"/>
              </a:rPr>
              <a:t>若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</a:rPr>
              <a:t>是全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功能集，则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也是全功能集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/>
              <a:t> </a:t>
            </a:r>
            <a:r>
              <a:rPr lang="zh-CN" altLang="en-US" sz="2800" dirty="0"/>
              <a:t>反之，</a:t>
            </a:r>
            <a:r>
              <a:rPr lang="zh-CN" altLang="en-US" sz="2800" dirty="0">
                <a:latin typeface="宋体" panose="02010600030101010101" pitchFamily="2" charset="-122"/>
              </a:rPr>
              <a:t>若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不是全功能集，则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</a:rPr>
              <a:t>也不是全功能集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800" dirty="0"/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34950"/>
            <a:ext cx="8229600" cy="1400175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联结词全功能集</a:t>
            </a:r>
            <a:r>
              <a:rPr lang="zh-C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实例</a:t>
            </a:r>
            <a:endParaRPr lang="en-US" altLang="zh-CN">
              <a:latin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08100"/>
            <a:ext cx="8229600" cy="41433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→}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都是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联结词全功能集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每一个真值函数都可以用一个主析取范式表示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是联结词全功能集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，故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是全功能集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，故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是全功能集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    p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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→}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也是全功能集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-100013"/>
            <a:ext cx="8229600" cy="1066801"/>
          </a:xfrm>
        </p:spPr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 其它联结词</a:t>
            </a:r>
            <a:r>
              <a:rPr lang="zh-CN" altLang="en-US" sz="4000"/>
              <a:t>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922338"/>
            <a:ext cx="8229600" cy="4143375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Times New Roman" panose="02020603050405020304" pitchFamily="18" charset="0"/>
              </a:rPr>
              <a:t>与非式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(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FF3300"/>
                </a:solidFill>
                <a:latin typeface="Times New Roman" panose="02020603050405020304" pitchFamily="18" charset="0"/>
              </a:rPr>
              <a:t>或非式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(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en-US" altLang="zh-CN" sz="2800"/>
              <a:t> 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∨有下述关系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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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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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38238"/>
            <a:ext cx="8229600" cy="435768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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}, {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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是联结词全功能集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可以证明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不是全功能集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}, {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也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不是全功能集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-26988"/>
            <a:ext cx="8229600" cy="1066801"/>
          </a:xfrm>
        </p:spPr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 其它联结词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zh-CN" altLang="en-US">
                <a:latin typeface="宋体" panose="02010600030101010101" pitchFamily="2" charset="-122"/>
              </a:rPr>
              <a:t>续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r>
              <a:rPr lang="zh-CN" altLang="en-US" sz="4000"/>
              <a:t> </a:t>
            </a: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6988"/>
            <a:ext cx="8229600" cy="1114426"/>
          </a:xfrm>
        </p:spPr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  例</a:t>
            </a:r>
            <a:endParaRPr lang="en-US" altLang="zh-CN">
              <a:latin typeface="宋体" panose="02010600030101010101" pitchFamily="2" charset="-122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58875"/>
            <a:ext cx="8229600" cy="435768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将公式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化成只含下列各联结词集中的联结</a:t>
            </a:r>
            <a:endParaRPr lang="en-US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词的等值的公式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  (1) {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，∨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(2) {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→}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(3) {↑}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(4) {↓}.</a:t>
            </a:r>
            <a:endParaRPr lang="zh-CN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(1)  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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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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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)))</a:t>
            </a:r>
            <a:endParaRPr lang="zh-CN" altLang="zh-C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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↑(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↑(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))↑(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↑(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↑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)).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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)↓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)↓</a:t>
            </a: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762000"/>
          </a:xfrm>
        </p:spPr>
        <p:txBody>
          <a:bodyPr/>
          <a:lstStyle/>
          <a:p>
            <a:r>
              <a:rPr lang="zh-CN" altLang="en-US"/>
              <a:t>逻辑蕴涵关系</a:t>
            </a:r>
            <a:endParaRPr lang="en-US" altLang="zh-CN"/>
          </a:p>
        </p:txBody>
      </p:sp>
      <p:sp>
        <p:nvSpPr>
          <p:cNvPr id="343046" name="Rectangle 6"/>
          <p:cNvSpPr>
            <a:spLocks noChangeArrowheads="1"/>
          </p:cNvSpPr>
          <p:nvPr/>
        </p:nvSpPr>
        <p:spPr bwMode="auto">
          <a:xfrm>
            <a:off x="533400" y="1371600"/>
            <a:ext cx="7848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45000"/>
              </a:spcBef>
              <a:buClr>
                <a:srgbClr val="99CCCC"/>
              </a:buClr>
              <a:buChar char="•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hlink"/>
                </a:solidFill>
              </a:rPr>
              <a:t>定义</a:t>
            </a:r>
            <a:r>
              <a:rPr lang="zh-CN" altLang="en-US" sz="2800"/>
              <a:t> </a:t>
            </a:r>
            <a:r>
              <a:rPr lang="zh-CN" altLang="zh-CN" sz="2800"/>
              <a:t>设</a:t>
            </a:r>
            <a:r>
              <a:rPr lang="en-US" altLang="zh-CN" sz="2800"/>
              <a:t>A</a:t>
            </a:r>
            <a:r>
              <a:rPr lang="zh-CN" altLang="zh-CN" sz="2800"/>
              <a:t>和</a:t>
            </a:r>
            <a:r>
              <a:rPr lang="en-US" altLang="zh-CN" sz="2800"/>
              <a:t>B</a:t>
            </a:r>
            <a:r>
              <a:rPr lang="zh-CN" altLang="zh-CN" sz="2800"/>
              <a:t>为两个命题公式，若</a:t>
            </a:r>
            <a:r>
              <a:rPr lang="en-US" altLang="zh-CN" sz="2800"/>
              <a:t>A</a:t>
            </a:r>
            <a:r>
              <a:rPr lang="zh-CN" altLang="zh-CN" sz="2800"/>
              <a:t>→</a:t>
            </a:r>
            <a:r>
              <a:rPr lang="en-US" altLang="zh-CN" sz="2800"/>
              <a:t>B</a:t>
            </a:r>
            <a:r>
              <a:rPr lang="zh-CN" altLang="zh-CN" sz="2800"/>
              <a:t>是一个重言式，则称</a:t>
            </a:r>
            <a:r>
              <a:rPr lang="en-US" altLang="zh-CN" sz="2800"/>
              <a:t>A</a:t>
            </a:r>
            <a:r>
              <a:rPr lang="zh-CN" altLang="en-US" sz="2800"/>
              <a:t>（逻辑）</a:t>
            </a:r>
            <a:r>
              <a:rPr lang="zh-CN" altLang="zh-CN" sz="2800"/>
              <a:t>蕴涵</a:t>
            </a:r>
            <a:r>
              <a:rPr lang="en-US" altLang="zh-CN" sz="2800"/>
              <a:t>B</a:t>
            </a:r>
            <a:r>
              <a:rPr lang="zh-CN" altLang="zh-CN" sz="2800"/>
              <a:t>，或称</a:t>
            </a:r>
            <a:r>
              <a:rPr lang="en-US" altLang="zh-CN" sz="2800"/>
              <a:t>A</a:t>
            </a:r>
            <a:r>
              <a:rPr lang="zh-CN" altLang="zh-CN" sz="2800"/>
              <a:t>永真蕴涵</a:t>
            </a:r>
            <a:r>
              <a:rPr lang="en-US" altLang="zh-CN" sz="2800"/>
              <a:t>B</a:t>
            </a:r>
            <a:r>
              <a:rPr lang="zh-CN" altLang="zh-CN" sz="2800"/>
              <a:t>，记作</a:t>
            </a:r>
            <a:r>
              <a:rPr lang="en-US" altLang="zh-CN" sz="2800"/>
              <a:t>A</a:t>
            </a:r>
            <a:r>
              <a:rPr lang="en-US" altLang="zh-CN" sz="2800">
                <a:sym typeface="Symbol" panose="05050102010706020507" pitchFamily="18" charset="2"/>
              </a:rPr>
              <a:t></a:t>
            </a:r>
            <a:r>
              <a:rPr lang="en-US" altLang="zh-CN" sz="2800"/>
              <a:t>B. </a:t>
            </a:r>
            <a:r>
              <a:rPr lang="zh-CN" altLang="zh-CN" sz="2800"/>
              <a:t>即：若</a:t>
            </a:r>
            <a:r>
              <a:rPr lang="en-US" altLang="zh-CN" sz="2800"/>
              <a:t>A</a:t>
            </a:r>
            <a:r>
              <a:rPr lang="zh-CN" altLang="zh-CN" sz="2800"/>
              <a:t>→</a:t>
            </a:r>
            <a:r>
              <a:rPr lang="en-US" altLang="zh-CN" sz="2800"/>
              <a:t>B</a:t>
            </a:r>
            <a:r>
              <a:rPr lang="en-US" altLang="zh-CN" sz="2800">
                <a:sym typeface="Symbol" panose="05050102010706020507" pitchFamily="18" charset="2"/>
              </a:rPr>
              <a:t>1</a:t>
            </a:r>
            <a:r>
              <a:rPr lang="zh-CN" altLang="zh-CN" sz="2800"/>
              <a:t>，则</a:t>
            </a:r>
            <a:r>
              <a:rPr lang="zh-CN" altLang="en-US" sz="2800"/>
              <a:t>称</a:t>
            </a:r>
            <a:r>
              <a:rPr lang="en-US" altLang="zh-CN" sz="2800"/>
              <a:t>A</a:t>
            </a:r>
            <a:r>
              <a:rPr lang="en-US" altLang="zh-CN" sz="2800">
                <a:sym typeface="Symbol" panose="05050102010706020507" pitchFamily="18" charset="2"/>
              </a:rPr>
              <a:t></a:t>
            </a:r>
            <a:r>
              <a:rPr lang="en-US" altLang="zh-CN" sz="2800"/>
              <a:t>B. </a:t>
            </a:r>
            <a:endParaRPr lang="zh-CN" altLang="en-US" sz="2800"/>
          </a:p>
        </p:txBody>
      </p:sp>
      <p:sp>
        <p:nvSpPr>
          <p:cNvPr id="343053" name="AutoShape 13"/>
          <p:cNvSpPr>
            <a:spLocks noChangeArrowheads="1"/>
          </p:cNvSpPr>
          <p:nvPr/>
        </p:nvSpPr>
        <p:spPr bwMode="auto">
          <a:xfrm>
            <a:off x="-14288" y="3429000"/>
            <a:ext cx="914401" cy="701675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9ED67D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45000"/>
              </a:spcBef>
              <a:buClr>
                <a:srgbClr val="99CCCC"/>
              </a:buClr>
              <a:buChar char="•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说明</a:t>
            </a:r>
          </a:p>
        </p:txBody>
      </p:sp>
      <p:sp>
        <p:nvSpPr>
          <p:cNvPr id="343054" name="Rectangle 14"/>
          <p:cNvSpPr>
            <a:spLocks noChangeArrowheads="1"/>
          </p:cNvSpPr>
          <p:nvPr/>
        </p:nvSpPr>
        <p:spPr bwMode="auto">
          <a:xfrm>
            <a:off x="1066800" y="3429000"/>
            <a:ext cx="7924800" cy="3200400"/>
          </a:xfrm>
          <a:prstGeom prst="rect">
            <a:avLst/>
          </a:prstGeom>
          <a:solidFill>
            <a:srgbClr val="FCCEB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45000"/>
              </a:spcBef>
              <a:buClr>
                <a:srgbClr val="99CCCC"/>
              </a:buClr>
              <a:buChar char="•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Clr>
                <a:schemeClr val="bg2"/>
              </a:buClr>
            </a:pP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定义中,</a:t>
            </a:r>
            <a:r>
              <a:rPr lang="en-US" altLang="zh-CN" sz="2800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A,B,</a:t>
            </a:r>
            <a:r>
              <a:rPr lang="en-US" altLang="zh-CN" sz="2800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  <a:sym typeface="Symbol" panose="05050102010706020507" pitchFamily="18" charset="2"/>
              </a:rPr>
              <a:t></a:t>
            </a: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  <a:sym typeface="Symbol" panose="05050102010706020507" pitchFamily="18" charset="2"/>
              </a:rPr>
              <a:t>都是</a:t>
            </a:r>
            <a:r>
              <a:rPr lang="zh-CN" altLang="en-US" sz="2800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元语言符号</a:t>
            </a:r>
            <a:r>
              <a:rPr lang="zh-CN" altLang="en-US">
                <a:solidFill>
                  <a:schemeClr val="bg2"/>
                </a:solidFill>
              </a:rPr>
              <a:t>。</a:t>
            </a:r>
          </a:p>
          <a:p>
            <a:r>
              <a:rPr lang="zh-CN" altLang="zh-CN" sz="2800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注意符号“→”和“</a:t>
            </a:r>
            <a:r>
              <a:rPr lang="en-US" altLang="zh-CN" sz="2800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  <a:sym typeface="Symbol" panose="05050102010706020507" pitchFamily="18" charset="2"/>
              </a:rPr>
              <a:t></a:t>
            </a:r>
            <a:r>
              <a:rPr lang="zh-CN" altLang="zh-CN" sz="2800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”之间的区别和联系</a:t>
            </a:r>
            <a:r>
              <a:rPr lang="en-US" altLang="zh-CN" sz="2800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. </a:t>
            </a:r>
            <a:endParaRPr lang="zh-CN" altLang="zh-CN" sz="2800">
              <a:solidFill>
                <a:schemeClr val="bg1"/>
              </a:solidFill>
              <a:latin typeface="宋体" panose="02010600030101010101" pitchFamily="2" charset="-122"/>
              <a:ea typeface="隶书" panose="02010509060101010101" pitchFamily="49" charset="-122"/>
            </a:endParaRPr>
          </a:p>
          <a:p>
            <a:r>
              <a:rPr lang="zh-CN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区别：“→”是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命题</a:t>
            </a:r>
            <a:r>
              <a:rPr lang="zh-CN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联结词，它作用于两个命题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A</a:t>
            </a:r>
            <a:r>
              <a:rPr lang="zh-CN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和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B</a:t>
            </a:r>
            <a:r>
              <a:rPr lang="zh-CN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上，并构造复合命题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A</a:t>
            </a:r>
            <a:r>
              <a:rPr lang="zh-CN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→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B</a:t>
            </a:r>
            <a:r>
              <a:rPr lang="zh-CN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；而“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  <a:sym typeface="Symbol" panose="05050102010706020507" pitchFamily="18" charset="2"/>
              </a:rPr>
              <a:t></a:t>
            </a:r>
            <a:r>
              <a:rPr lang="zh-CN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”表示两个公式间的蕴涵关系，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A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B</a:t>
            </a:r>
            <a:r>
              <a:rPr lang="zh-CN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表示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A</a:t>
            </a:r>
            <a:r>
              <a:rPr lang="zh-CN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蕴涵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B. </a:t>
            </a:r>
            <a:endParaRPr lang="zh-CN" altLang="zh-CN">
              <a:solidFill>
                <a:schemeClr val="bg1"/>
              </a:solidFill>
              <a:latin typeface="宋体" panose="02010600030101010101" pitchFamily="2" charset="-122"/>
              <a:ea typeface="隶书" panose="02010509060101010101" pitchFamily="49" charset="-122"/>
            </a:endParaRPr>
          </a:p>
          <a:p>
            <a:r>
              <a:rPr lang="zh-CN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联系：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A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  <a:sym typeface="Symbol" panose="05050102010706020507" pitchFamily="18" charset="2"/>
              </a:rPr>
              <a:t>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B</a:t>
            </a:r>
            <a:r>
              <a:rPr lang="zh-CN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成立的充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要</a:t>
            </a:r>
            <a:r>
              <a:rPr lang="zh-CN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条件是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A</a:t>
            </a:r>
            <a:r>
              <a:rPr lang="zh-CN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→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B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  <a:sym typeface="Symbol" panose="05050102010706020507" pitchFamily="18" charset="2"/>
              </a:rPr>
              <a:t>1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.</a:t>
            </a:r>
            <a:endParaRPr lang="zh-CN" altLang="en-US">
              <a:solidFill>
                <a:schemeClr val="bg1"/>
              </a:solidFill>
              <a:latin typeface="宋体" panose="02010600030101010101" pitchFamily="2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3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3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3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4305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43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43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43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43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46" grpId="0" build="p" autoUpdateAnimBg="0"/>
      <p:bldP spid="343053" grpId="0" animBg="1" autoUpdateAnimBg="0"/>
      <p:bldP spid="343054" grpId="0" build="p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762000"/>
          </a:xfrm>
        </p:spPr>
        <p:txBody>
          <a:bodyPr/>
          <a:lstStyle/>
          <a:p>
            <a:r>
              <a:rPr lang="zh-CN" altLang="en-US" sz="4000"/>
              <a:t>例题</a:t>
            </a:r>
            <a:endParaRPr lang="en-US" altLang="zh-CN" sz="400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7467600" cy="1143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chemeClr val="hlink"/>
                </a:solidFill>
              </a:rPr>
              <a:t>例 </a:t>
            </a:r>
            <a:r>
              <a:rPr lang="zh-CN" altLang="zh-CN" sz="2800" dirty="0"/>
              <a:t>证明</a:t>
            </a:r>
            <a:r>
              <a:rPr lang="en-US" altLang="zh-CN" sz="2800" dirty="0"/>
              <a:t>(P</a:t>
            </a:r>
            <a:r>
              <a:rPr lang="zh-CN" altLang="zh-CN" sz="2800" dirty="0"/>
              <a:t>∧</a:t>
            </a:r>
            <a:r>
              <a:rPr lang="en-US" altLang="zh-CN" sz="2800" dirty="0"/>
              <a:t>Q)</a:t>
            </a:r>
            <a:r>
              <a:rPr lang="en-US" altLang="zh-CN" sz="2800" dirty="0">
                <a:sym typeface="Symbol" panose="05050102010706020507" pitchFamily="18" charset="2"/>
              </a:rPr>
              <a:t></a:t>
            </a:r>
            <a:r>
              <a:rPr lang="en-US" altLang="zh-CN" sz="2800" dirty="0"/>
              <a:t>P. </a:t>
            </a:r>
            <a:endParaRPr lang="zh-CN" altLang="zh-CN" sz="2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2800" dirty="0"/>
              <a:t>证明</a:t>
            </a:r>
            <a:r>
              <a:rPr lang="en-US" altLang="zh-CN" sz="2800" dirty="0"/>
              <a:t>  </a:t>
            </a:r>
            <a:r>
              <a:rPr lang="zh-CN" altLang="zh-CN" dirty="0"/>
              <a:t>由于</a:t>
            </a:r>
            <a:endParaRPr lang="en-US" altLang="zh-CN" dirty="0"/>
          </a:p>
          <a:p>
            <a:pPr marL="400050" lvl="1" indent="0">
              <a:buFontTx/>
              <a:buNone/>
              <a:defRPr/>
            </a:pPr>
            <a:r>
              <a:rPr lang="en-US" altLang="zh-CN" dirty="0"/>
              <a:t>(P</a:t>
            </a:r>
            <a:r>
              <a:rPr lang="zh-CN" altLang="zh-CN" dirty="0"/>
              <a:t>∧</a:t>
            </a:r>
            <a:r>
              <a:rPr lang="en-US" altLang="zh-CN" dirty="0"/>
              <a:t>Q)</a:t>
            </a:r>
            <a:r>
              <a:rPr lang="zh-CN" altLang="zh-CN" dirty="0"/>
              <a:t>→</a:t>
            </a:r>
            <a:r>
              <a:rPr lang="en-US" altLang="zh-CN" dirty="0"/>
              <a:t>P</a:t>
            </a:r>
          </a:p>
          <a:p>
            <a:pPr marL="400050" lvl="1" indent="0">
              <a:buFontTx/>
              <a:buNone/>
              <a:defRPr/>
            </a:pPr>
            <a:r>
              <a:rPr lang="en-US" altLang="zh-CN" dirty="0">
                <a:sym typeface="Symbol" panose="05050102010706020507" pitchFamily="18" charset="2"/>
              </a:rPr>
              <a:t></a:t>
            </a:r>
            <a:r>
              <a:rPr lang="en-US" altLang="zh-CN" dirty="0"/>
              <a:t>(P</a:t>
            </a:r>
            <a:r>
              <a:rPr lang="zh-CN" altLang="zh-CN" dirty="0"/>
              <a:t>∧</a:t>
            </a:r>
            <a:r>
              <a:rPr lang="en-US" altLang="zh-CN" dirty="0"/>
              <a:t>Q)</a:t>
            </a:r>
            <a:r>
              <a:rPr lang="zh-CN" altLang="zh-CN" dirty="0"/>
              <a:t>∨</a:t>
            </a:r>
            <a:r>
              <a:rPr lang="en-US" altLang="zh-CN" dirty="0"/>
              <a:t>P</a:t>
            </a:r>
            <a:endParaRPr lang="zh-CN" altLang="zh-CN" dirty="0"/>
          </a:p>
          <a:p>
            <a:pPr marL="400050" lvl="1" indent="0">
              <a:buFontTx/>
              <a:buNone/>
              <a:defRPr/>
            </a:pPr>
            <a:r>
              <a:rPr lang="en-US" altLang="zh-CN" dirty="0">
                <a:sym typeface="Symbol" panose="05050102010706020507" pitchFamily="18" charset="2"/>
              </a:rPr>
              <a:t></a:t>
            </a:r>
            <a:r>
              <a:rPr lang="en-US" altLang="zh-CN" dirty="0"/>
              <a:t>P</a:t>
            </a:r>
            <a:r>
              <a:rPr lang="zh-CN" altLang="zh-CN" dirty="0"/>
              <a:t>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Q</a:t>
            </a:r>
            <a:r>
              <a:rPr lang="zh-CN" altLang="zh-CN" dirty="0"/>
              <a:t>∨</a:t>
            </a:r>
            <a:r>
              <a:rPr lang="en-US" altLang="zh-CN" dirty="0"/>
              <a:t>P</a:t>
            </a:r>
            <a:endParaRPr lang="zh-CN" altLang="zh-CN" dirty="0"/>
          </a:p>
          <a:p>
            <a:pPr marL="400050" lvl="1" indent="0">
              <a:buFontTx/>
              <a:buNone/>
              <a:defRPr/>
            </a:pPr>
            <a:r>
              <a:rPr lang="en-US" altLang="zh-CN" dirty="0">
                <a:sym typeface="Symbol" panose="05050102010706020507" pitchFamily="18" charset="2"/>
              </a:rPr>
              <a:t></a:t>
            </a:r>
            <a:r>
              <a:rPr lang="en-US" altLang="zh-CN" dirty="0"/>
              <a:t>P</a:t>
            </a:r>
            <a:r>
              <a:rPr lang="zh-CN" altLang="zh-CN" dirty="0"/>
              <a:t>∨</a:t>
            </a:r>
            <a:r>
              <a:rPr lang="en-US" altLang="zh-CN" dirty="0"/>
              <a:t>P</a:t>
            </a:r>
            <a:r>
              <a:rPr lang="zh-CN" altLang="zh-CN" dirty="0"/>
              <a:t>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Q</a:t>
            </a:r>
            <a:endParaRPr lang="zh-CN" altLang="zh-CN" dirty="0"/>
          </a:p>
          <a:p>
            <a:pPr marL="400050" lvl="1" indent="0">
              <a:buFontTx/>
              <a:buNone/>
              <a:defRPr/>
            </a:pPr>
            <a:r>
              <a:rPr lang="en-US" altLang="zh-CN" dirty="0">
                <a:sym typeface="Symbol" panose="05050102010706020507" pitchFamily="18" charset="2"/>
              </a:rPr>
              <a:t>1</a:t>
            </a:r>
            <a:r>
              <a:rPr lang="zh-CN" altLang="zh-CN" dirty="0"/>
              <a:t>∨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Q</a:t>
            </a:r>
            <a:endParaRPr lang="zh-CN" altLang="zh-CN" dirty="0"/>
          </a:p>
          <a:p>
            <a:pPr marL="400050" lvl="1" indent="0">
              <a:buFontTx/>
              <a:buNone/>
              <a:defRPr/>
            </a:pPr>
            <a:r>
              <a:rPr lang="en-US" altLang="zh-CN" dirty="0">
                <a:sym typeface="Symbol" panose="05050102010706020507" pitchFamily="18" charset="2"/>
              </a:rPr>
              <a:t>1</a:t>
            </a:r>
            <a:endParaRPr lang="zh-CN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dirty="0"/>
              <a:t>∴</a:t>
            </a:r>
            <a:r>
              <a:rPr lang="en-US" altLang="zh-CN" dirty="0"/>
              <a:t> (P</a:t>
            </a:r>
            <a:r>
              <a:rPr lang="zh-CN" altLang="zh-CN" dirty="0"/>
              <a:t>∧</a:t>
            </a:r>
            <a:r>
              <a:rPr lang="en-US" altLang="zh-CN" dirty="0"/>
              <a:t>Q)</a:t>
            </a:r>
            <a:r>
              <a:rPr lang="zh-CN" altLang="zh-CN" dirty="0"/>
              <a:t>→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1</a:t>
            </a:r>
            <a:r>
              <a:rPr lang="zh-CN" altLang="zh-CN" dirty="0"/>
              <a:t>，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dirty="0"/>
              <a:t>由蕴涵定义得出：</a:t>
            </a:r>
            <a:r>
              <a:rPr lang="en-US" altLang="zh-CN" dirty="0"/>
              <a:t>(P</a:t>
            </a:r>
            <a:r>
              <a:rPr lang="zh-CN" altLang="zh-CN" dirty="0"/>
              <a:t>∧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P.</a:t>
            </a:r>
            <a:endParaRPr lang="zh-CN" altLang="en-US" dirty="0"/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762000"/>
          </a:xfrm>
        </p:spPr>
        <p:txBody>
          <a:bodyPr/>
          <a:lstStyle/>
          <a:p>
            <a:r>
              <a:rPr lang="zh-CN" altLang="en-US" sz="4000"/>
              <a:t>蕴涵关系的性质</a:t>
            </a:r>
            <a:endParaRPr lang="en-US" altLang="zh-CN" sz="400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1295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2000" dirty="0"/>
              <a:t>（</a:t>
            </a:r>
            <a:r>
              <a:rPr lang="en-US" altLang="zh-CN" sz="2000" dirty="0"/>
              <a:t>1</a:t>
            </a:r>
            <a:r>
              <a:rPr lang="zh-CN" altLang="zh-CN" sz="2000" dirty="0"/>
              <a:t>）自反性：即对任意的公式</a:t>
            </a:r>
            <a:r>
              <a:rPr lang="en-US" altLang="zh-CN" sz="2000" dirty="0"/>
              <a:t>A</a:t>
            </a:r>
            <a:r>
              <a:rPr lang="zh-CN" altLang="zh-CN" sz="2000" dirty="0"/>
              <a:t>，有</a:t>
            </a:r>
            <a:r>
              <a:rPr lang="en-US" altLang="zh-CN" sz="2000" dirty="0"/>
              <a:t>A</a:t>
            </a:r>
            <a:r>
              <a:rPr lang="en-US" altLang="zh-CN" sz="2000" dirty="0">
                <a:sym typeface="Symbol" panose="05050102010706020507" pitchFamily="18" charset="2"/>
              </a:rPr>
              <a:t></a:t>
            </a:r>
            <a:r>
              <a:rPr lang="en-US" altLang="zh-CN" sz="2000" dirty="0"/>
              <a:t>A. </a:t>
            </a:r>
            <a:endParaRPr lang="zh-CN" altLang="zh-CN" sz="2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2000" dirty="0"/>
              <a:t>（</a:t>
            </a:r>
            <a:r>
              <a:rPr lang="en-US" altLang="zh-CN" sz="2000" dirty="0"/>
              <a:t>2</a:t>
            </a:r>
            <a:r>
              <a:rPr lang="zh-CN" altLang="zh-CN" sz="2000" dirty="0"/>
              <a:t>）反对称性：对任意的公式</a:t>
            </a:r>
            <a:r>
              <a:rPr lang="en-US" altLang="zh-CN" sz="2000" dirty="0"/>
              <a:t>A</a:t>
            </a:r>
            <a:r>
              <a:rPr lang="zh-CN" altLang="zh-CN" sz="2000" dirty="0"/>
              <a:t>和</a:t>
            </a:r>
            <a:r>
              <a:rPr lang="en-US" altLang="zh-CN" sz="2000" dirty="0"/>
              <a:t>B</a:t>
            </a:r>
            <a:r>
              <a:rPr lang="zh-CN" altLang="zh-CN" sz="2000" dirty="0"/>
              <a:t>，若</a:t>
            </a:r>
            <a:r>
              <a:rPr lang="en-US" altLang="zh-CN" sz="2000" dirty="0"/>
              <a:t>A</a:t>
            </a:r>
            <a:r>
              <a:rPr lang="en-US" altLang="zh-CN" sz="2000" dirty="0">
                <a:sym typeface="Symbol" panose="05050102010706020507" pitchFamily="18" charset="2"/>
              </a:rPr>
              <a:t></a:t>
            </a:r>
            <a:r>
              <a:rPr lang="en-US" altLang="zh-CN" sz="2000" dirty="0"/>
              <a:t>B</a:t>
            </a:r>
            <a:r>
              <a:rPr lang="zh-CN" altLang="zh-CN" sz="2000" dirty="0"/>
              <a:t>，且</a:t>
            </a:r>
            <a:r>
              <a:rPr lang="en-US" altLang="zh-CN" sz="2000" dirty="0"/>
              <a:t>B</a:t>
            </a:r>
            <a:r>
              <a:rPr lang="en-US" altLang="zh-CN" sz="2000" dirty="0">
                <a:sym typeface="Symbol" panose="05050102010706020507" pitchFamily="18" charset="2"/>
              </a:rPr>
              <a:t></a:t>
            </a:r>
            <a:r>
              <a:rPr lang="en-US" altLang="zh-CN" sz="2000" dirty="0"/>
              <a:t>A</a:t>
            </a:r>
            <a:r>
              <a:rPr lang="zh-CN" altLang="zh-CN" sz="2000" dirty="0"/>
              <a:t>，则有</a:t>
            </a:r>
            <a:r>
              <a:rPr lang="en-US" altLang="zh-CN" sz="2000" dirty="0"/>
              <a:t>A</a:t>
            </a:r>
            <a:r>
              <a:rPr lang="en-US" altLang="zh-CN" sz="2000" dirty="0">
                <a:sym typeface="Symbol" panose="05050102010706020507" pitchFamily="18" charset="2"/>
              </a:rPr>
              <a:t></a:t>
            </a:r>
            <a:r>
              <a:rPr lang="en-US" altLang="zh-CN" sz="2000" dirty="0"/>
              <a:t>B. </a:t>
            </a:r>
            <a:endParaRPr lang="zh-CN" altLang="zh-CN" sz="2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2000" dirty="0"/>
              <a:t>（</a:t>
            </a:r>
            <a:r>
              <a:rPr lang="en-US" altLang="zh-CN" sz="2000" dirty="0"/>
              <a:t>3</a:t>
            </a:r>
            <a:r>
              <a:rPr lang="zh-CN" altLang="zh-CN" sz="2000" dirty="0"/>
              <a:t>）传递性：对任意的公式</a:t>
            </a:r>
            <a:r>
              <a:rPr lang="en-US" altLang="zh-CN" sz="2000" dirty="0"/>
              <a:t>A</a:t>
            </a:r>
            <a:r>
              <a:rPr lang="zh-CN" altLang="zh-CN" sz="2000" dirty="0"/>
              <a:t>、</a:t>
            </a:r>
            <a:r>
              <a:rPr lang="en-US" altLang="zh-CN" sz="2000" dirty="0"/>
              <a:t>B</a:t>
            </a:r>
            <a:r>
              <a:rPr lang="zh-CN" altLang="zh-CN" sz="2000" dirty="0"/>
              <a:t>和</a:t>
            </a:r>
            <a:r>
              <a:rPr lang="en-US" altLang="zh-CN" sz="2000" dirty="0"/>
              <a:t>C</a:t>
            </a:r>
            <a:r>
              <a:rPr lang="zh-CN" altLang="zh-CN" sz="2000" dirty="0"/>
              <a:t>，若</a:t>
            </a:r>
            <a:r>
              <a:rPr lang="en-US" altLang="zh-CN" sz="2000" dirty="0"/>
              <a:t>A</a:t>
            </a:r>
            <a:r>
              <a:rPr lang="en-US" altLang="zh-CN" sz="2000" dirty="0">
                <a:sym typeface="Symbol" panose="05050102010706020507" pitchFamily="18" charset="2"/>
              </a:rPr>
              <a:t></a:t>
            </a:r>
            <a:r>
              <a:rPr lang="en-US" altLang="zh-CN" sz="2000" dirty="0"/>
              <a:t>B</a:t>
            </a:r>
            <a:r>
              <a:rPr lang="zh-CN" altLang="zh-CN" sz="2000" dirty="0"/>
              <a:t>，且</a:t>
            </a:r>
            <a:r>
              <a:rPr lang="en-US" altLang="zh-CN" sz="2000" dirty="0"/>
              <a:t>B</a:t>
            </a:r>
            <a:r>
              <a:rPr lang="en-US" altLang="zh-CN" sz="2000" dirty="0">
                <a:sym typeface="Symbol" panose="05050102010706020507" pitchFamily="18" charset="2"/>
              </a:rPr>
              <a:t></a:t>
            </a:r>
            <a:r>
              <a:rPr lang="en-US" altLang="zh-CN" sz="2000" dirty="0"/>
              <a:t>C</a:t>
            </a:r>
            <a:r>
              <a:rPr lang="zh-CN" altLang="zh-CN" sz="2000" dirty="0"/>
              <a:t>，则</a:t>
            </a:r>
            <a:r>
              <a:rPr lang="en-US" altLang="zh-CN" sz="2000" dirty="0"/>
              <a:t>A</a:t>
            </a:r>
            <a:r>
              <a:rPr lang="en-US" altLang="zh-CN" sz="2000" dirty="0">
                <a:sym typeface="Symbol" panose="05050102010706020507" pitchFamily="18" charset="2"/>
              </a:rPr>
              <a:t></a:t>
            </a:r>
            <a:r>
              <a:rPr lang="en-US" altLang="zh-CN" sz="2000" dirty="0"/>
              <a:t>C. </a:t>
            </a:r>
            <a:endParaRPr lang="zh-CN" altLang="zh-CN" sz="2000" dirty="0"/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580" name="Rectangle 3"/>
          <p:cNvSpPr txBox="1">
            <a:spLocks noChangeArrowheads="1"/>
          </p:cNvSpPr>
          <p:nvPr/>
        </p:nvSpPr>
        <p:spPr bwMode="auto">
          <a:xfrm>
            <a:off x="250825" y="2362200"/>
            <a:ext cx="7756525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0005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45000"/>
              </a:spcBef>
              <a:buClr>
                <a:srgbClr val="99CCCC"/>
              </a:buClr>
              <a:buChar char="•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hlink"/>
                </a:solidFill>
              </a:rPr>
              <a:t>例 </a:t>
            </a:r>
            <a:r>
              <a:rPr lang="zh-CN" altLang="zh-CN"/>
              <a:t>证明蕴涵关系的传递性</a:t>
            </a:r>
            <a:r>
              <a:rPr lang="en-US" altLang="zh-CN"/>
              <a:t>. </a:t>
            </a:r>
            <a:endParaRPr lang="zh-CN" altLang="zh-CN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/>
              <a:t>证明</a:t>
            </a:r>
            <a:r>
              <a:rPr lang="en-US" altLang="zh-CN"/>
              <a:t> </a:t>
            </a:r>
            <a:r>
              <a:rPr lang="zh-CN" altLang="zh-CN"/>
              <a:t>由已知</a:t>
            </a:r>
            <a:r>
              <a:rPr lang="en-US" altLang="zh-CN"/>
              <a:t>A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B</a:t>
            </a:r>
            <a:r>
              <a:rPr lang="zh-CN" altLang="zh-CN"/>
              <a:t>，且</a:t>
            </a:r>
            <a:r>
              <a:rPr lang="en-US" altLang="zh-CN"/>
              <a:t>B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C</a:t>
            </a:r>
            <a:r>
              <a:rPr lang="zh-CN" altLang="zh-CN"/>
              <a:t>，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/>
              <a:t>∴ </a:t>
            </a:r>
            <a:r>
              <a:rPr lang="en-US" altLang="zh-CN"/>
              <a:t>A</a:t>
            </a:r>
            <a:r>
              <a:rPr lang="zh-CN" altLang="zh-CN"/>
              <a:t>→</a:t>
            </a:r>
            <a:r>
              <a:rPr lang="en-US" altLang="zh-CN"/>
              <a:t>B</a:t>
            </a:r>
            <a:r>
              <a:rPr lang="en-US" altLang="zh-CN">
                <a:sym typeface="Symbol" panose="05050102010706020507" pitchFamily="18" charset="2"/>
              </a:rPr>
              <a:t>1</a:t>
            </a:r>
            <a:r>
              <a:rPr lang="zh-CN" altLang="zh-CN"/>
              <a:t>，</a:t>
            </a:r>
            <a:r>
              <a:rPr lang="en-US" altLang="zh-CN"/>
              <a:t>B</a:t>
            </a:r>
            <a:r>
              <a:rPr lang="zh-CN" altLang="zh-CN"/>
              <a:t>→</a:t>
            </a:r>
            <a:r>
              <a:rPr lang="en-US" altLang="zh-CN"/>
              <a:t>C</a:t>
            </a:r>
            <a:r>
              <a:rPr lang="en-US" altLang="zh-CN">
                <a:sym typeface="Symbol" panose="05050102010706020507" pitchFamily="18" charset="2"/>
              </a:rPr>
              <a:t>1</a:t>
            </a:r>
            <a:r>
              <a:rPr lang="zh-CN" altLang="zh-CN"/>
              <a:t>，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/>
              <a:t>又由于：</a:t>
            </a:r>
            <a:r>
              <a:rPr lang="en-US" altLang="zh-CN"/>
              <a:t>A</a:t>
            </a:r>
            <a:r>
              <a:rPr lang="zh-CN" altLang="zh-CN"/>
              <a:t>→</a:t>
            </a:r>
            <a:r>
              <a:rPr lang="en-US" altLang="zh-CN"/>
              <a:t>B</a:t>
            </a:r>
            <a:r>
              <a:rPr lang="en-US" altLang="zh-CN">
                <a:sym typeface="Symbol" panose="05050102010706020507" pitchFamily="18" charset="2"/>
              </a:rPr>
              <a:t></a:t>
            </a:r>
            <a:r>
              <a:rPr lang="en-US" altLang="zh-CN"/>
              <a:t>A</a:t>
            </a:r>
            <a:r>
              <a:rPr lang="zh-CN" altLang="zh-CN"/>
              <a:t>∨</a:t>
            </a:r>
            <a:r>
              <a:rPr lang="en-US" altLang="zh-CN"/>
              <a:t>B</a:t>
            </a:r>
            <a:r>
              <a:rPr lang="zh-CN" altLang="zh-CN"/>
              <a:t>，</a:t>
            </a:r>
            <a:r>
              <a:rPr lang="en-US" altLang="zh-CN"/>
              <a:t>B</a:t>
            </a:r>
            <a:r>
              <a:rPr lang="zh-CN" altLang="zh-CN"/>
              <a:t>→</a:t>
            </a:r>
            <a:r>
              <a:rPr lang="en-US" altLang="zh-CN"/>
              <a:t>C</a:t>
            </a:r>
            <a:r>
              <a:rPr lang="en-US" altLang="zh-CN">
                <a:sym typeface="Symbol" panose="05050102010706020507" pitchFamily="18" charset="2"/>
              </a:rPr>
              <a:t></a:t>
            </a:r>
            <a:r>
              <a:rPr lang="en-US" altLang="zh-CN"/>
              <a:t>B</a:t>
            </a:r>
            <a:r>
              <a:rPr lang="zh-CN" altLang="zh-CN"/>
              <a:t>∨</a:t>
            </a:r>
            <a:r>
              <a:rPr lang="en-US" altLang="zh-CN"/>
              <a:t>C</a:t>
            </a:r>
            <a:r>
              <a:rPr lang="zh-CN" altLang="zh-CN"/>
              <a:t>，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zh-CN" altLang="zh-CN"/>
              <a:t>∴ 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A</a:t>
            </a:r>
            <a:r>
              <a:rPr lang="zh-CN" altLang="zh-CN"/>
              <a:t>∨</a:t>
            </a:r>
            <a:r>
              <a:rPr lang="en-US" altLang="zh-CN"/>
              <a:t>B</a:t>
            </a:r>
            <a:r>
              <a:rPr lang="en-US" altLang="zh-CN">
                <a:sym typeface="Symbol" panose="05050102010706020507" pitchFamily="18" charset="2"/>
              </a:rPr>
              <a:t>1</a:t>
            </a:r>
            <a:r>
              <a:rPr lang="zh-CN" altLang="zh-CN"/>
              <a:t>，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B</a:t>
            </a:r>
            <a:r>
              <a:rPr lang="zh-CN" altLang="zh-CN"/>
              <a:t>∨</a:t>
            </a:r>
            <a:r>
              <a:rPr lang="en-US" altLang="zh-CN"/>
              <a:t>C</a:t>
            </a:r>
            <a:r>
              <a:rPr lang="en-US" altLang="zh-CN">
                <a:sym typeface="Symbol" panose="05050102010706020507" pitchFamily="18" charset="2"/>
              </a:rPr>
              <a:t>1</a:t>
            </a:r>
            <a:r>
              <a:rPr lang="zh-CN" altLang="zh-CN"/>
              <a:t>，</a:t>
            </a:r>
            <a:endParaRPr lang="en-US" altLang="zh-CN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/>
              <a:t>而 </a:t>
            </a:r>
            <a:r>
              <a:rPr lang="de-DE" altLang="zh-CN"/>
              <a:t>A</a:t>
            </a:r>
            <a:r>
              <a:rPr lang="zh-CN" altLang="zh-CN"/>
              <a:t>→</a:t>
            </a:r>
            <a:r>
              <a:rPr lang="de-DE" altLang="zh-CN"/>
              <a:t>C</a:t>
            </a:r>
            <a:r>
              <a:rPr lang="en-US" altLang="zh-CN">
                <a:sym typeface="Symbol" panose="05050102010706020507" pitchFamily="18" charset="2"/>
              </a:rPr>
              <a:t></a:t>
            </a:r>
            <a:r>
              <a:rPr lang="en-US" altLang="zh-CN"/>
              <a:t>A</a:t>
            </a:r>
            <a:r>
              <a:rPr lang="zh-CN" altLang="zh-CN"/>
              <a:t>∨</a:t>
            </a:r>
            <a:r>
              <a:rPr lang="en-US" altLang="zh-CN"/>
              <a:t>C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A</a:t>
            </a:r>
            <a:r>
              <a:rPr lang="zh-CN" altLang="zh-CN"/>
              <a:t>∨</a:t>
            </a:r>
            <a:r>
              <a:rPr lang="en-US" altLang="zh-CN"/>
              <a:t>C)</a:t>
            </a:r>
            <a:r>
              <a:rPr lang="zh-CN" altLang="zh-CN"/>
              <a:t>∨</a:t>
            </a: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B</a:t>
            </a:r>
            <a:r>
              <a:rPr lang="zh-CN" altLang="zh-CN"/>
              <a:t>∧</a:t>
            </a:r>
            <a:r>
              <a:rPr lang="en-US" altLang="zh-CN"/>
              <a:t>B)</a:t>
            </a:r>
            <a:endParaRPr lang="zh-CN" altLang="zh-CN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A</a:t>
            </a:r>
            <a:r>
              <a:rPr lang="zh-CN" altLang="zh-CN"/>
              <a:t>∨</a:t>
            </a:r>
            <a:r>
              <a:rPr lang="en-US" altLang="zh-CN"/>
              <a:t>C</a:t>
            </a:r>
            <a:r>
              <a:rPr lang="zh-CN" altLang="zh-CN"/>
              <a:t>∨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B)</a:t>
            </a:r>
            <a:r>
              <a:rPr lang="zh-CN" altLang="zh-CN"/>
              <a:t>∧</a:t>
            </a: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A</a:t>
            </a:r>
            <a:r>
              <a:rPr lang="zh-CN" altLang="zh-CN"/>
              <a:t>∨</a:t>
            </a:r>
            <a:r>
              <a:rPr lang="en-US" altLang="zh-CN"/>
              <a:t>C</a:t>
            </a:r>
            <a:r>
              <a:rPr lang="zh-CN" altLang="zh-CN"/>
              <a:t>∨</a:t>
            </a:r>
            <a:r>
              <a:rPr lang="en-US" altLang="zh-CN"/>
              <a:t>B)</a:t>
            </a:r>
            <a:endParaRPr lang="zh-CN" altLang="zh-CN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A</a:t>
            </a:r>
            <a:r>
              <a:rPr lang="zh-CN" altLang="zh-CN"/>
              <a:t>∨</a:t>
            </a: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B</a:t>
            </a:r>
            <a:r>
              <a:rPr lang="zh-CN" altLang="zh-CN"/>
              <a:t>∨</a:t>
            </a:r>
            <a:r>
              <a:rPr lang="en-US" altLang="zh-CN"/>
              <a:t>C))</a:t>
            </a:r>
            <a:r>
              <a:rPr lang="zh-CN" altLang="zh-CN"/>
              <a:t>∧</a:t>
            </a:r>
            <a:r>
              <a:rPr lang="en-US" altLang="zh-CN"/>
              <a:t>((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A</a:t>
            </a:r>
            <a:r>
              <a:rPr lang="zh-CN" altLang="zh-CN"/>
              <a:t>∨</a:t>
            </a:r>
            <a:r>
              <a:rPr lang="en-US" altLang="zh-CN"/>
              <a:t>B)</a:t>
            </a:r>
            <a:r>
              <a:rPr lang="zh-CN" altLang="zh-CN"/>
              <a:t>∨</a:t>
            </a:r>
            <a:r>
              <a:rPr lang="en-US" altLang="zh-CN"/>
              <a:t>C)</a:t>
            </a:r>
            <a:endParaRPr lang="zh-CN" altLang="zh-CN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A</a:t>
            </a:r>
            <a:r>
              <a:rPr lang="zh-CN" altLang="zh-CN"/>
              <a:t>∨</a:t>
            </a:r>
            <a:r>
              <a:rPr lang="en-US" altLang="zh-CN"/>
              <a:t>1)</a:t>
            </a:r>
            <a:r>
              <a:rPr lang="zh-CN" altLang="zh-CN"/>
              <a:t>∧</a:t>
            </a:r>
            <a:r>
              <a:rPr lang="en-US" altLang="zh-CN"/>
              <a:t>(1</a:t>
            </a:r>
            <a:r>
              <a:rPr lang="zh-CN" altLang="zh-CN"/>
              <a:t>∨</a:t>
            </a:r>
            <a:r>
              <a:rPr lang="en-US" altLang="zh-CN"/>
              <a:t>C)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de-DE" altLang="zh-CN">
                <a:sym typeface="Symbol" panose="05050102010706020507" pitchFamily="18" charset="2"/>
              </a:rPr>
              <a:t> 1</a:t>
            </a:r>
            <a:endParaRPr lang="zh-CN" altLang="zh-CN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/>
              <a:t>∴ </a:t>
            </a:r>
            <a:r>
              <a:rPr lang="de-DE" altLang="zh-CN"/>
              <a:t>A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de-DE" altLang="zh-CN"/>
              <a:t>C. </a:t>
            </a:r>
            <a:endParaRPr lang="zh-CN" altLang="zh-CN"/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762000"/>
          </a:xfrm>
        </p:spPr>
        <p:txBody>
          <a:bodyPr/>
          <a:lstStyle/>
          <a:p>
            <a:r>
              <a:rPr lang="zh-CN" altLang="en-US" sz="4000"/>
              <a:t>蕴涵关系的判断</a:t>
            </a:r>
            <a:endParaRPr lang="en-US" altLang="zh-CN" sz="400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26988" y="1066800"/>
            <a:ext cx="9144001" cy="553085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CAD704"/>
                </a:solidFill>
              </a:rPr>
              <a:t>前真导后真法</a:t>
            </a:r>
            <a:endParaRPr lang="en-US" altLang="zh-CN" dirty="0">
              <a:solidFill>
                <a:srgbClr val="CAD704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dirty="0"/>
              <a:t>分析：要证明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zh-CN" dirty="0"/>
              <a:t>，即证</a:t>
            </a:r>
            <a:r>
              <a:rPr lang="en-US" altLang="zh-CN" dirty="0"/>
              <a:t>A</a:t>
            </a:r>
            <a:r>
              <a:rPr lang="zh-CN" altLang="zh-CN" dirty="0"/>
              <a:t>→</a:t>
            </a:r>
            <a:r>
              <a:rPr lang="en-US" altLang="zh-CN" dirty="0"/>
              <a:t>C</a:t>
            </a:r>
            <a:r>
              <a:rPr lang="en-US" altLang="zh-CN" dirty="0">
                <a:sym typeface="Symbol" panose="05050102010706020507" pitchFamily="18" charset="2"/>
              </a:rPr>
              <a:t>1</a:t>
            </a:r>
            <a:r>
              <a:rPr lang="en-US" altLang="zh-CN" dirty="0"/>
              <a:t>. </a:t>
            </a:r>
            <a:endParaRPr lang="zh-CN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dirty="0"/>
              <a:t>根据联结词→的定义，对于</a:t>
            </a:r>
            <a:r>
              <a:rPr lang="en-US" altLang="zh-CN" dirty="0"/>
              <a:t>A</a:t>
            </a:r>
            <a:r>
              <a:rPr lang="zh-CN" altLang="zh-CN" dirty="0"/>
              <a:t>→</a:t>
            </a:r>
            <a:r>
              <a:rPr lang="en-US" altLang="zh-CN" dirty="0"/>
              <a:t>C</a:t>
            </a:r>
            <a:r>
              <a:rPr lang="zh-CN" altLang="zh-CN" dirty="0"/>
              <a:t>来说，当且仅当</a:t>
            </a:r>
            <a:r>
              <a:rPr lang="en-US" altLang="zh-CN" dirty="0"/>
              <a:t>A</a:t>
            </a:r>
            <a:r>
              <a:rPr lang="zh-CN" altLang="zh-CN" dirty="0"/>
              <a:t>取</a:t>
            </a:r>
            <a:r>
              <a:rPr lang="en-US" altLang="zh-CN" dirty="0"/>
              <a:t>1</a:t>
            </a:r>
            <a:r>
              <a:rPr lang="zh-CN" altLang="zh-CN" dirty="0"/>
              <a:t>，</a:t>
            </a:r>
            <a:r>
              <a:rPr lang="en-US" altLang="zh-CN" dirty="0"/>
              <a:t>C</a:t>
            </a:r>
            <a:r>
              <a:rPr lang="zh-CN" altLang="zh-CN" dirty="0"/>
              <a:t>取</a:t>
            </a:r>
            <a:r>
              <a:rPr lang="en-US" altLang="zh-CN" dirty="0"/>
              <a:t>0</a:t>
            </a:r>
            <a:r>
              <a:rPr lang="zh-CN" altLang="zh-CN" dirty="0"/>
              <a:t>时，</a:t>
            </a:r>
            <a:r>
              <a:rPr lang="en-US" altLang="zh-CN" dirty="0"/>
              <a:t>A</a:t>
            </a:r>
            <a:r>
              <a:rPr lang="zh-CN" altLang="zh-CN" dirty="0"/>
              <a:t>→</a:t>
            </a:r>
            <a:r>
              <a:rPr lang="en-US" altLang="zh-CN" dirty="0"/>
              <a:t>C</a:t>
            </a:r>
            <a:r>
              <a:rPr lang="zh-CN" altLang="zh-CN" dirty="0"/>
              <a:t>为</a:t>
            </a:r>
            <a:r>
              <a:rPr lang="en-US" altLang="zh-CN" dirty="0"/>
              <a:t>0</a:t>
            </a:r>
            <a:r>
              <a:rPr lang="zh-CN" altLang="zh-CN" dirty="0"/>
              <a:t>；否则</a:t>
            </a:r>
            <a:r>
              <a:rPr lang="en-US" altLang="zh-CN" dirty="0"/>
              <a:t>A</a:t>
            </a:r>
            <a:r>
              <a:rPr lang="zh-CN" altLang="zh-CN" dirty="0"/>
              <a:t>→</a:t>
            </a:r>
            <a:r>
              <a:rPr lang="en-US" altLang="zh-CN" dirty="0"/>
              <a:t>C</a:t>
            </a:r>
            <a:r>
              <a:rPr lang="zh-CN" altLang="zh-CN" dirty="0"/>
              <a:t>为</a:t>
            </a:r>
            <a:r>
              <a:rPr lang="en-US" altLang="zh-CN" dirty="0"/>
              <a:t>1. </a:t>
            </a:r>
            <a:endParaRPr lang="zh-CN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dirty="0"/>
              <a:t>因此，要证明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zh-CN" dirty="0"/>
              <a:t>，</a:t>
            </a:r>
            <a:r>
              <a:rPr lang="zh-CN" altLang="en-US" dirty="0"/>
              <a:t>即</a:t>
            </a:r>
            <a:r>
              <a:rPr lang="zh-CN" altLang="zh-CN" dirty="0"/>
              <a:t>证明</a:t>
            </a:r>
            <a:r>
              <a:rPr lang="en-US" altLang="zh-CN" dirty="0"/>
              <a:t>A</a:t>
            </a:r>
            <a:r>
              <a:rPr lang="zh-CN" altLang="zh-CN" dirty="0"/>
              <a:t>→</a:t>
            </a:r>
            <a:r>
              <a:rPr lang="en-US" altLang="zh-CN" dirty="0"/>
              <a:t>C</a:t>
            </a:r>
            <a:r>
              <a:rPr lang="zh-CN" altLang="zh-CN" dirty="0"/>
              <a:t>为</a:t>
            </a:r>
            <a:r>
              <a:rPr lang="zh-CN" altLang="en-US" dirty="0"/>
              <a:t>重言</a:t>
            </a:r>
            <a:r>
              <a:rPr lang="zh-CN" altLang="zh-CN" dirty="0"/>
              <a:t>式，只要假设前件</a:t>
            </a:r>
            <a:r>
              <a:rPr lang="en-US" altLang="zh-CN" dirty="0"/>
              <a:t>A</a:t>
            </a:r>
            <a:r>
              <a:rPr lang="zh-CN" altLang="zh-CN" dirty="0"/>
              <a:t>为</a:t>
            </a:r>
            <a:r>
              <a:rPr lang="en-US" altLang="zh-CN" dirty="0"/>
              <a:t>1</a:t>
            </a:r>
            <a:r>
              <a:rPr lang="zh-CN" altLang="zh-CN" dirty="0"/>
              <a:t>时，由此推导出后件</a:t>
            </a:r>
            <a:r>
              <a:rPr lang="en-US" altLang="zh-CN" dirty="0"/>
              <a:t>C</a:t>
            </a:r>
            <a:r>
              <a:rPr lang="zh-CN" altLang="zh-CN" dirty="0"/>
              <a:t>亦为</a:t>
            </a:r>
            <a:r>
              <a:rPr lang="en-US" altLang="zh-CN" dirty="0"/>
              <a:t>1</a:t>
            </a:r>
            <a:r>
              <a:rPr lang="zh-CN" altLang="zh-CN" dirty="0"/>
              <a:t>，则</a:t>
            </a:r>
            <a:r>
              <a:rPr lang="zh-CN" altLang="en-US" dirty="0"/>
              <a:t>得证</a:t>
            </a:r>
            <a:r>
              <a:rPr lang="en-US" altLang="zh-CN" dirty="0"/>
              <a:t>. </a:t>
            </a:r>
            <a:endParaRPr lang="zh-CN" altLang="zh-CN" sz="2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CAD704"/>
                </a:solidFill>
              </a:rPr>
              <a:t>后假导前假法</a:t>
            </a:r>
            <a:endParaRPr lang="en-US" altLang="zh-CN" dirty="0">
              <a:solidFill>
                <a:srgbClr val="CAD704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dirty="0"/>
              <a:t>即设</a:t>
            </a:r>
            <a:r>
              <a:rPr lang="en-US" altLang="zh-CN" dirty="0"/>
              <a:t>A</a:t>
            </a:r>
            <a:r>
              <a:rPr lang="zh-CN" altLang="zh-CN" dirty="0"/>
              <a:t>→</a:t>
            </a:r>
            <a:r>
              <a:rPr lang="en-US" altLang="zh-CN" dirty="0"/>
              <a:t>C</a:t>
            </a:r>
            <a:r>
              <a:rPr lang="zh-CN" altLang="zh-CN" dirty="0"/>
              <a:t>的后件为</a:t>
            </a:r>
            <a:r>
              <a:rPr lang="en-US" altLang="zh-CN" dirty="0"/>
              <a:t>0</a:t>
            </a:r>
            <a:r>
              <a:rPr lang="zh-CN" altLang="zh-CN" dirty="0"/>
              <a:t>，若能导出前件也为</a:t>
            </a:r>
            <a:r>
              <a:rPr lang="en-US" altLang="zh-CN" dirty="0"/>
              <a:t>0</a:t>
            </a:r>
            <a:r>
              <a:rPr lang="zh-CN" altLang="zh-CN" dirty="0"/>
              <a:t>，则</a:t>
            </a:r>
            <a:r>
              <a:rPr lang="en-US" altLang="zh-CN" dirty="0"/>
              <a:t>A</a:t>
            </a:r>
            <a:r>
              <a:rPr lang="zh-CN" altLang="zh-CN" dirty="0"/>
              <a:t>→</a:t>
            </a:r>
            <a:r>
              <a:rPr lang="en-US" altLang="zh-CN" dirty="0"/>
              <a:t>C</a:t>
            </a:r>
            <a:r>
              <a:rPr lang="zh-CN" altLang="zh-CN" dirty="0"/>
              <a:t>为重言式，即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C</a:t>
            </a:r>
            <a:r>
              <a:rPr lang="zh-CN" altLang="zh-CN" dirty="0"/>
              <a:t>成立</a:t>
            </a:r>
            <a:r>
              <a:rPr lang="en-US" altLang="zh-CN" dirty="0"/>
              <a:t>. </a:t>
            </a:r>
            <a:endParaRPr lang="zh-CN" altLang="zh-CN" dirty="0"/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762000"/>
          </a:xfrm>
        </p:spPr>
        <p:txBody>
          <a:bodyPr/>
          <a:lstStyle/>
          <a:p>
            <a:r>
              <a:rPr lang="zh-CN" altLang="en-US" sz="4000"/>
              <a:t>蕴涵关系的证明</a:t>
            </a:r>
            <a:endParaRPr lang="en-US" altLang="zh-CN" sz="4000"/>
          </a:p>
        </p:txBody>
      </p:sp>
      <p:sp>
        <p:nvSpPr>
          <p:cNvPr id="26627" name="Rectangle 3"/>
          <p:cNvSpPr txBox="1">
            <a:spLocks noChangeArrowheads="1"/>
          </p:cNvSpPr>
          <p:nvPr/>
        </p:nvSpPr>
        <p:spPr bwMode="auto">
          <a:xfrm>
            <a:off x="250825" y="908050"/>
            <a:ext cx="8642350" cy="5630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45000"/>
              </a:spcBef>
              <a:buClr>
                <a:srgbClr val="99CCCC"/>
              </a:buClr>
              <a:buChar char="•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chemeClr val="hlink"/>
                </a:solidFill>
              </a:rPr>
              <a:t>例 </a:t>
            </a:r>
            <a:r>
              <a:rPr lang="zh-CN" altLang="zh-CN"/>
              <a:t>证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Q</a:t>
            </a:r>
            <a:r>
              <a:rPr lang="zh-CN" altLang="zh-CN"/>
              <a:t>∧</a:t>
            </a:r>
            <a:r>
              <a:rPr lang="en-US" altLang="zh-CN"/>
              <a:t>(P</a:t>
            </a:r>
            <a:r>
              <a:rPr lang="zh-CN" altLang="zh-CN"/>
              <a:t>→</a:t>
            </a:r>
            <a:r>
              <a:rPr lang="en-US" altLang="zh-CN"/>
              <a:t>Q)</a:t>
            </a:r>
            <a:r>
              <a:rPr lang="en-US" altLang="zh-CN">
                <a:sym typeface="Symbol" panose="05050102010706020507" pitchFamily="18" charset="2"/>
              </a:rPr>
              <a:t></a:t>
            </a:r>
            <a:r>
              <a:rPr lang="en-US" altLang="zh-CN"/>
              <a:t>P</a:t>
            </a:r>
            <a:endParaRPr lang="zh-CN" altLang="zh-CN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CAD704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CAD704"/>
                </a:solidFill>
              </a:rPr>
              <a:t>证法</a:t>
            </a:r>
            <a:r>
              <a:rPr lang="en-US" altLang="zh-CN" sz="2000">
                <a:solidFill>
                  <a:srgbClr val="CAD704"/>
                </a:solidFill>
              </a:rPr>
              <a:t>1</a:t>
            </a:r>
            <a:r>
              <a:rPr lang="zh-CN" altLang="zh-CN" sz="2000">
                <a:solidFill>
                  <a:srgbClr val="CAD704"/>
                </a:solidFill>
              </a:rPr>
              <a:t>（前真导后真法）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000"/>
              <a:t>设</a:t>
            </a:r>
            <a:r>
              <a:rPr lang="en-US" altLang="zh-CN" sz="2000">
                <a:sym typeface="Symbol" panose="05050102010706020507" pitchFamily="18" charset="2"/>
              </a:rPr>
              <a:t></a:t>
            </a:r>
            <a:r>
              <a:rPr lang="en-US" altLang="zh-CN" sz="2000"/>
              <a:t>Q</a:t>
            </a:r>
            <a:r>
              <a:rPr lang="zh-CN" altLang="zh-CN" sz="2000"/>
              <a:t>∧</a:t>
            </a:r>
            <a:r>
              <a:rPr lang="en-US" altLang="zh-CN" sz="2000"/>
              <a:t>(P</a:t>
            </a:r>
            <a:r>
              <a:rPr lang="zh-CN" altLang="zh-CN" sz="2000"/>
              <a:t>→</a:t>
            </a:r>
            <a:r>
              <a:rPr lang="en-US" altLang="zh-CN" sz="2000"/>
              <a:t>Q)</a:t>
            </a:r>
            <a:r>
              <a:rPr lang="zh-CN" altLang="zh-CN" sz="2000"/>
              <a:t>为</a:t>
            </a:r>
            <a:r>
              <a:rPr lang="en-US" altLang="zh-CN" sz="2000"/>
              <a:t>T</a:t>
            </a:r>
            <a:r>
              <a:rPr lang="zh-CN" altLang="zh-CN" sz="2000"/>
              <a:t>，则由“∧”的定义得出以下结论：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sym typeface="Symbol" panose="05050102010706020507" pitchFamily="18" charset="2"/>
              </a:rPr>
              <a:t></a:t>
            </a:r>
            <a:r>
              <a:rPr lang="en-US" altLang="zh-CN" sz="2000"/>
              <a:t>Q</a:t>
            </a:r>
            <a:r>
              <a:rPr lang="zh-CN" altLang="zh-CN" sz="2000"/>
              <a:t>为</a:t>
            </a:r>
            <a:r>
              <a:rPr lang="en-US" altLang="zh-CN" sz="2000"/>
              <a:t>T</a:t>
            </a:r>
            <a:r>
              <a:rPr lang="zh-CN" altLang="zh-CN" sz="2000"/>
              <a:t>，</a:t>
            </a:r>
            <a:r>
              <a:rPr lang="en-US" altLang="zh-CN" sz="2000"/>
              <a:t>P</a:t>
            </a:r>
            <a:r>
              <a:rPr lang="zh-CN" altLang="zh-CN" sz="2000"/>
              <a:t>→</a:t>
            </a:r>
            <a:r>
              <a:rPr lang="en-US" altLang="zh-CN" sz="2000"/>
              <a:t>Q</a:t>
            </a:r>
            <a:r>
              <a:rPr lang="zh-CN" altLang="zh-CN" sz="2000"/>
              <a:t>为</a:t>
            </a:r>
            <a:r>
              <a:rPr lang="en-US" altLang="zh-CN" sz="2000"/>
              <a:t>T</a:t>
            </a:r>
            <a:r>
              <a:rPr lang="zh-CN" altLang="zh-CN" sz="2000"/>
              <a:t>，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000"/>
              <a:t>∴ </a:t>
            </a:r>
            <a:r>
              <a:rPr lang="en-US" altLang="zh-CN" sz="2000"/>
              <a:t>Q</a:t>
            </a:r>
            <a:r>
              <a:rPr lang="zh-CN" altLang="zh-CN" sz="2000"/>
              <a:t>为</a:t>
            </a:r>
            <a:r>
              <a:rPr lang="en-US" altLang="zh-CN" sz="2000"/>
              <a:t>F. </a:t>
            </a:r>
            <a:endParaRPr lang="zh-CN" altLang="zh-CN" sz="20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000"/>
              <a:t>∴ </a:t>
            </a:r>
            <a:r>
              <a:rPr lang="en-US" altLang="zh-CN" sz="2000"/>
              <a:t>P</a:t>
            </a:r>
            <a:r>
              <a:rPr lang="zh-CN" altLang="zh-CN" sz="2000"/>
              <a:t>为</a:t>
            </a:r>
            <a:r>
              <a:rPr lang="en-US" altLang="zh-CN" sz="2000"/>
              <a:t>F</a:t>
            </a:r>
            <a:r>
              <a:rPr lang="zh-CN" altLang="zh-CN" sz="2000"/>
              <a:t>，∴ </a:t>
            </a:r>
            <a:r>
              <a:rPr lang="en-US" altLang="zh-CN" sz="2000">
                <a:sym typeface="Symbol" panose="05050102010706020507" pitchFamily="18" charset="2"/>
              </a:rPr>
              <a:t></a:t>
            </a:r>
            <a:r>
              <a:rPr lang="en-US" altLang="zh-CN" sz="2000"/>
              <a:t>P</a:t>
            </a:r>
            <a:r>
              <a:rPr lang="zh-CN" altLang="zh-CN" sz="2000"/>
              <a:t>为</a:t>
            </a:r>
            <a:r>
              <a:rPr lang="en-US" altLang="zh-CN" sz="2000"/>
              <a:t>T. </a:t>
            </a:r>
            <a:r>
              <a:rPr lang="zh-CN" altLang="zh-CN" sz="2000"/>
              <a:t>（∵ </a:t>
            </a:r>
            <a:r>
              <a:rPr lang="en-US" altLang="zh-CN" sz="2000"/>
              <a:t>P</a:t>
            </a:r>
            <a:r>
              <a:rPr lang="zh-CN" altLang="zh-CN" sz="2000"/>
              <a:t>→</a:t>
            </a:r>
            <a:r>
              <a:rPr lang="en-US" altLang="zh-CN" sz="2000"/>
              <a:t>Q</a:t>
            </a:r>
            <a:r>
              <a:rPr lang="zh-CN" altLang="zh-CN" sz="2000"/>
              <a:t>为</a:t>
            </a:r>
            <a:r>
              <a:rPr lang="en-US" altLang="zh-CN" sz="2000"/>
              <a:t>T</a:t>
            </a:r>
            <a:r>
              <a:rPr lang="zh-CN" altLang="zh-CN" sz="2000"/>
              <a:t>，</a:t>
            </a:r>
            <a:r>
              <a:rPr lang="en-US" altLang="zh-CN" sz="2000"/>
              <a:t>Q</a:t>
            </a:r>
            <a:r>
              <a:rPr lang="zh-CN" altLang="zh-CN" sz="2000"/>
              <a:t>为</a:t>
            </a:r>
            <a:r>
              <a:rPr lang="en-US" altLang="zh-CN" sz="2000"/>
              <a:t>F</a:t>
            </a:r>
            <a:r>
              <a:rPr lang="zh-CN" altLang="zh-CN" sz="2000"/>
              <a:t>）</a:t>
            </a:r>
            <a:r>
              <a:rPr lang="en-US" altLang="zh-CN" sz="2000"/>
              <a:t>. </a:t>
            </a:r>
            <a:endParaRPr lang="zh-CN" altLang="zh-CN" sz="20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可</a:t>
            </a:r>
            <a:r>
              <a:rPr lang="zh-CN" altLang="zh-CN" sz="2000"/>
              <a:t>得出：</a:t>
            </a:r>
            <a:r>
              <a:rPr lang="en-US" altLang="zh-CN" sz="2000">
                <a:sym typeface="Symbol" panose="05050102010706020507" pitchFamily="18" charset="2"/>
              </a:rPr>
              <a:t></a:t>
            </a:r>
            <a:r>
              <a:rPr lang="en-US" altLang="zh-CN" sz="2000"/>
              <a:t>P</a:t>
            </a:r>
            <a:r>
              <a:rPr lang="zh-CN" altLang="zh-CN" sz="2000"/>
              <a:t>为</a:t>
            </a:r>
            <a:r>
              <a:rPr lang="en-US" altLang="zh-CN" sz="2000"/>
              <a:t>T. </a:t>
            </a:r>
            <a:endParaRPr lang="zh-CN" altLang="zh-CN" sz="20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000"/>
              <a:t>∴ </a:t>
            </a:r>
            <a:r>
              <a:rPr lang="en-US" altLang="zh-CN" sz="2000">
                <a:sym typeface="Symbol" panose="05050102010706020507" pitchFamily="18" charset="2"/>
              </a:rPr>
              <a:t></a:t>
            </a:r>
            <a:r>
              <a:rPr lang="en-US" altLang="zh-CN" sz="2000"/>
              <a:t>Q</a:t>
            </a:r>
            <a:r>
              <a:rPr lang="zh-CN" altLang="zh-CN" sz="2000"/>
              <a:t>∧</a:t>
            </a:r>
            <a:r>
              <a:rPr lang="en-US" altLang="zh-CN" sz="2000"/>
              <a:t>(P</a:t>
            </a:r>
            <a:r>
              <a:rPr lang="zh-CN" altLang="zh-CN" sz="2000"/>
              <a:t>→</a:t>
            </a:r>
            <a:r>
              <a:rPr lang="en-US" altLang="zh-CN" sz="2000"/>
              <a:t>Q)</a:t>
            </a:r>
            <a:r>
              <a:rPr lang="zh-CN" altLang="zh-CN" sz="2000"/>
              <a:t>→</a:t>
            </a:r>
            <a:r>
              <a:rPr lang="en-US" altLang="zh-CN" sz="2000">
                <a:sym typeface="Symbol" panose="05050102010706020507" pitchFamily="18" charset="2"/>
              </a:rPr>
              <a:t></a:t>
            </a:r>
            <a:r>
              <a:rPr lang="en-US" altLang="zh-CN" sz="2000"/>
              <a:t>P</a:t>
            </a:r>
            <a:r>
              <a:rPr lang="zh-CN" altLang="zh-CN" sz="2000"/>
              <a:t>为</a:t>
            </a:r>
            <a:r>
              <a:rPr lang="en-US" altLang="zh-CN" sz="2000"/>
              <a:t>T</a:t>
            </a:r>
            <a:endParaRPr lang="zh-CN" altLang="zh-CN" sz="20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000"/>
              <a:t>∴ </a:t>
            </a:r>
            <a:r>
              <a:rPr lang="en-US" altLang="zh-CN" sz="2000">
                <a:sym typeface="Symbol" panose="05050102010706020507" pitchFamily="18" charset="2"/>
              </a:rPr>
              <a:t></a:t>
            </a:r>
            <a:r>
              <a:rPr lang="en-US" altLang="zh-CN" sz="2000"/>
              <a:t>Q</a:t>
            </a:r>
            <a:r>
              <a:rPr lang="zh-CN" altLang="zh-CN" sz="2000"/>
              <a:t>∧</a:t>
            </a:r>
            <a:r>
              <a:rPr lang="en-US" altLang="zh-CN" sz="2000"/>
              <a:t>(P</a:t>
            </a:r>
            <a:r>
              <a:rPr lang="zh-CN" altLang="zh-CN" sz="2000"/>
              <a:t>→</a:t>
            </a:r>
            <a:r>
              <a:rPr lang="en-US" altLang="zh-CN" sz="2000"/>
              <a:t>Q)</a:t>
            </a:r>
            <a:r>
              <a:rPr lang="en-US" altLang="zh-CN" sz="2000">
                <a:sym typeface="Symbol" panose="05050102010706020507" pitchFamily="18" charset="2"/>
              </a:rPr>
              <a:t></a:t>
            </a:r>
            <a:r>
              <a:rPr lang="en-US" altLang="zh-CN" sz="2000"/>
              <a:t>P</a:t>
            </a:r>
            <a:endParaRPr lang="zh-CN" altLang="zh-CN" sz="20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CAD704"/>
              </a:solidFill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CAD704"/>
                </a:solidFill>
              </a:rPr>
              <a:t>证法</a:t>
            </a:r>
            <a:r>
              <a:rPr lang="en-US" altLang="zh-CN" sz="2000">
                <a:solidFill>
                  <a:srgbClr val="CAD704"/>
                </a:solidFill>
              </a:rPr>
              <a:t>2</a:t>
            </a:r>
            <a:r>
              <a:rPr lang="zh-CN" altLang="zh-CN" sz="2000">
                <a:solidFill>
                  <a:srgbClr val="CAD704"/>
                </a:solidFill>
              </a:rPr>
              <a:t>（后假导前假法）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000"/>
              <a:t>设</a:t>
            </a:r>
            <a:r>
              <a:rPr lang="en-US" altLang="zh-CN" sz="2000">
                <a:sym typeface="Symbol" panose="05050102010706020507" pitchFamily="18" charset="2"/>
              </a:rPr>
              <a:t></a:t>
            </a:r>
            <a:r>
              <a:rPr lang="en-US" altLang="zh-CN" sz="2000"/>
              <a:t>P</a:t>
            </a:r>
            <a:r>
              <a:rPr lang="zh-CN" altLang="zh-CN" sz="2000"/>
              <a:t>为</a:t>
            </a:r>
            <a:r>
              <a:rPr lang="en-US" altLang="zh-CN" sz="2000"/>
              <a:t>F</a:t>
            </a:r>
            <a:r>
              <a:rPr lang="zh-CN" altLang="zh-CN" sz="2000"/>
              <a:t>，∴ </a:t>
            </a:r>
            <a:r>
              <a:rPr lang="en-US" altLang="zh-CN" sz="2000"/>
              <a:t>P</a:t>
            </a:r>
            <a:r>
              <a:rPr lang="zh-CN" altLang="zh-CN" sz="2000"/>
              <a:t>为</a:t>
            </a:r>
            <a:r>
              <a:rPr lang="en-US" altLang="zh-CN" sz="2000"/>
              <a:t>T</a:t>
            </a:r>
            <a:r>
              <a:rPr lang="zh-CN" altLang="zh-CN" sz="2000"/>
              <a:t>，则在此条件下</a:t>
            </a:r>
            <a:r>
              <a:rPr lang="en-US" altLang="zh-CN" sz="2000"/>
              <a:t>Q</a:t>
            </a:r>
            <a:r>
              <a:rPr lang="zh-CN" altLang="zh-CN" sz="2000"/>
              <a:t>为两种情况：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000"/>
              <a:t>若</a:t>
            </a:r>
            <a:r>
              <a:rPr lang="en-US" altLang="zh-CN" sz="2000"/>
              <a:t>Q</a:t>
            </a:r>
            <a:r>
              <a:rPr lang="zh-CN" altLang="zh-CN" sz="2000"/>
              <a:t>为</a:t>
            </a:r>
            <a:r>
              <a:rPr lang="en-US" altLang="zh-CN" sz="2000"/>
              <a:t>T</a:t>
            </a:r>
            <a:r>
              <a:rPr lang="zh-CN" altLang="zh-CN" sz="2000"/>
              <a:t>，∴ </a:t>
            </a:r>
            <a:r>
              <a:rPr lang="en-US" altLang="zh-CN" sz="2000">
                <a:sym typeface="Symbol" panose="05050102010706020507" pitchFamily="18" charset="2"/>
              </a:rPr>
              <a:t></a:t>
            </a:r>
            <a:r>
              <a:rPr lang="en-US" altLang="zh-CN" sz="2000"/>
              <a:t>Q</a:t>
            </a:r>
            <a:r>
              <a:rPr lang="zh-CN" altLang="zh-CN" sz="2000"/>
              <a:t>为</a:t>
            </a:r>
            <a:r>
              <a:rPr lang="en-US" altLang="zh-CN" sz="2000"/>
              <a:t>F</a:t>
            </a:r>
            <a:r>
              <a:rPr lang="zh-CN" altLang="zh-CN" sz="2000"/>
              <a:t>，∴ </a:t>
            </a:r>
            <a:r>
              <a:rPr lang="en-US" altLang="zh-CN" sz="2000">
                <a:sym typeface="Symbol" panose="05050102010706020507" pitchFamily="18" charset="2"/>
              </a:rPr>
              <a:t></a:t>
            </a:r>
            <a:r>
              <a:rPr lang="en-US" altLang="zh-CN" sz="2000"/>
              <a:t>Q</a:t>
            </a:r>
            <a:r>
              <a:rPr lang="zh-CN" altLang="zh-CN" sz="2000"/>
              <a:t>∧</a:t>
            </a:r>
            <a:r>
              <a:rPr lang="en-US" altLang="zh-CN" sz="2000"/>
              <a:t>(P</a:t>
            </a:r>
            <a:r>
              <a:rPr lang="zh-CN" altLang="zh-CN" sz="2000"/>
              <a:t>→</a:t>
            </a:r>
            <a:r>
              <a:rPr lang="en-US" altLang="zh-CN" sz="2000"/>
              <a:t>Q)</a:t>
            </a:r>
            <a:r>
              <a:rPr lang="zh-CN" altLang="zh-CN" sz="2000"/>
              <a:t>为</a:t>
            </a:r>
            <a:r>
              <a:rPr lang="en-US" altLang="zh-CN" sz="2000"/>
              <a:t>F</a:t>
            </a:r>
            <a:r>
              <a:rPr lang="zh-CN" altLang="zh-CN" sz="2000"/>
              <a:t>；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000"/>
              <a:t>若</a:t>
            </a:r>
            <a:r>
              <a:rPr lang="en-US" altLang="zh-CN" sz="2000"/>
              <a:t>Q</a:t>
            </a:r>
            <a:r>
              <a:rPr lang="zh-CN" altLang="zh-CN" sz="2000"/>
              <a:t>为</a:t>
            </a:r>
            <a:r>
              <a:rPr lang="en-US" altLang="zh-CN" sz="2000"/>
              <a:t>F</a:t>
            </a:r>
            <a:r>
              <a:rPr lang="zh-CN" altLang="zh-CN" sz="2000"/>
              <a:t>，而此时</a:t>
            </a:r>
            <a:r>
              <a:rPr lang="en-US" altLang="zh-CN" sz="2000"/>
              <a:t>P</a:t>
            </a:r>
            <a:r>
              <a:rPr lang="zh-CN" altLang="zh-CN" sz="2000"/>
              <a:t>为</a:t>
            </a:r>
            <a:r>
              <a:rPr lang="en-US" altLang="zh-CN" sz="2000"/>
              <a:t>T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zh-CN" sz="2000"/>
              <a:t>∴ </a:t>
            </a:r>
            <a:r>
              <a:rPr lang="en-US" altLang="zh-CN" sz="2000"/>
              <a:t>(P</a:t>
            </a:r>
            <a:r>
              <a:rPr lang="zh-CN" altLang="zh-CN" sz="2000"/>
              <a:t>→</a:t>
            </a:r>
            <a:r>
              <a:rPr lang="en-US" altLang="zh-CN" sz="2000"/>
              <a:t>Q)</a:t>
            </a:r>
            <a:r>
              <a:rPr lang="zh-CN" altLang="zh-CN" sz="2000"/>
              <a:t>为</a:t>
            </a:r>
            <a:r>
              <a:rPr lang="en-US" altLang="zh-CN" sz="2000"/>
              <a:t>F</a:t>
            </a:r>
            <a:r>
              <a:rPr lang="zh-CN" altLang="zh-CN" sz="2000"/>
              <a:t>，∴ </a:t>
            </a:r>
            <a:r>
              <a:rPr lang="en-US" altLang="zh-CN" sz="2000">
                <a:sym typeface="Symbol" panose="05050102010706020507" pitchFamily="18" charset="2"/>
              </a:rPr>
              <a:t></a:t>
            </a:r>
            <a:r>
              <a:rPr lang="en-US" altLang="zh-CN" sz="2000"/>
              <a:t>Q</a:t>
            </a:r>
            <a:r>
              <a:rPr lang="zh-CN" altLang="zh-CN" sz="2000"/>
              <a:t>∧</a:t>
            </a:r>
            <a:r>
              <a:rPr lang="en-US" altLang="zh-CN" sz="2000"/>
              <a:t>(P</a:t>
            </a:r>
            <a:r>
              <a:rPr lang="zh-CN" altLang="zh-CN" sz="2000"/>
              <a:t>→</a:t>
            </a:r>
            <a:r>
              <a:rPr lang="en-US" altLang="zh-CN" sz="2000"/>
              <a:t>Q)</a:t>
            </a:r>
            <a:r>
              <a:rPr lang="zh-CN" altLang="zh-CN" sz="2000"/>
              <a:t>为</a:t>
            </a:r>
            <a:r>
              <a:rPr lang="en-US" altLang="zh-CN" sz="2000"/>
              <a:t>F</a:t>
            </a:r>
            <a:r>
              <a:rPr lang="zh-CN" altLang="zh-CN" sz="2000"/>
              <a:t>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2000"/>
              <a:t>∴ </a:t>
            </a:r>
            <a:r>
              <a:rPr lang="en-US" altLang="zh-CN" sz="2000">
                <a:sym typeface="Symbol" panose="05050102010706020507" pitchFamily="18" charset="2"/>
              </a:rPr>
              <a:t></a:t>
            </a:r>
            <a:r>
              <a:rPr lang="en-US" altLang="zh-CN" sz="2000"/>
              <a:t>Q</a:t>
            </a:r>
            <a:r>
              <a:rPr lang="zh-CN" altLang="zh-CN" sz="2000"/>
              <a:t>∧</a:t>
            </a:r>
            <a:r>
              <a:rPr lang="en-US" altLang="zh-CN" sz="2000"/>
              <a:t>(P</a:t>
            </a:r>
            <a:r>
              <a:rPr lang="zh-CN" altLang="zh-CN" sz="2000"/>
              <a:t>→</a:t>
            </a:r>
            <a:r>
              <a:rPr lang="en-US" altLang="zh-CN" sz="2000"/>
              <a:t>Q)</a:t>
            </a:r>
            <a:r>
              <a:rPr lang="en-US" altLang="zh-CN" sz="2000">
                <a:sym typeface="Symbol" panose="05050102010706020507" pitchFamily="18" charset="2"/>
              </a:rPr>
              <a:t></a:t>
            </a:r>
            <a:r>
              <a:rPr lang="en-US" altLang="zh-CN" sz="2000"/>
              <a:t>P</a:t>
            </a:r>
            <a:endParaRPr lang="zh-CN" altLang="zh-CN" sz="20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zh-CN"/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762000"/>
          </a:xfrm>
        </p:spPr>
        <p:txBody>
          <a:bodyPr/>
          <a:lstStyle/>
          <a:p>
            <a:r>
              <a:rPr lang="zh-CN" altLang="en-US"/>
              <a:t>基本蕴涵关系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052513"/>
            <a:ext cx="4560888" cy="55626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1800" dirty="0"/>
              <a:t>（</a:t>
            </a:r>
            <a:r>
              <a:rPr lang="en-US" altLang="zh-CN" sz="1800" dirty="0"/>
              <a:t>1</a:t>
            </a:r>
            <a:r>
              <a:rPr lang="zh-CN" altLang="zh-CN" sz="1800" dirty="0"/>
              <a:t>）</a:t>
            </a:r>
            <a:r>
              <a:rPr lang="en-US" altLang="zh-CN" sz="1800" dirty="0"/>
              <a:t>A</a:t>
            </a:r>
            <a:r>
              <a:rPr lang="zh-CN" altLang="zh-CN" sz="1800" dirty="0"/>
              <a:t>∧</a:t>
            </a:r>
            <a:r>
              <a:rPr lang="en-US" altLang="zh-CN" sz="1800" dirty="0"/>
              <a:t>B</a:t>
            </a:r>
            <a:r>
              <a:rPr lang="en-US" altLang="zh-CN" sz="1800" dirty="0">
                <a:sym typeface="Symbol" panose="05050102010706020507" pitchFamily="18" charset="2"/>
              </a:rPr>
              <a:t></a:t>
            </a:r>
            <a:r>
              <a:rPr lang="en-US" altLang="zh-CN" sz="1800" dirty="0"/>
              <a:t>A</a:t>
            </a:r>
            <a:endParaRPr lang="zh-CN" altLang="zh-CN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1800" dirty="0"/>
              <a:t>（</a:t>
            </a:r>
            <a:r>
              <a:rPr lang="en-US" altLang="zh-CN" sz="1800" dirty="0"/>
              <a:t>2</a:t>
            </a:r>
            <a:r>
              <a:rPr lang="zh-CN" altLang="zh-CN" sz="1800" dirty="0"/>
              <a:t>）</a:t>
            </a:r>
            <a:r>
              <a:rPr lang="en-US" altLang="zh-CN" sz="1800" dirty="0"/>
              <a:t>A</a:t>
            </a:r>
            <a:r>
              <a:rPr lang="zh-CN" altLang="zh-CN" sz="1800" dirty="0"/>
              <a:t>∧</a:t>
            </a:r>
            <a:r>
              <a:rPr lang="en-US" altLang="zh-CN" sz="1800" dirty="0"/>
              <a:t>B</a:t>
            </a:r>
            <a:r>
              <a:rPr lang="en-US" altLang="zh-CN" sz="1800" dirty="0">
                <a:sym typeface="Symbol" panose="05050102010706020507" pitchFamily="18" charset="2"/>
              </a:rPr>
              <a:t></a:t>
            </a:r>
            <a:r>
              <a:rPr lang="en-US" altLang="zh-CN" sz="1800" dirty="0"/>
              <a:t>B</a:t>
            </a:r>
            <a:endParaRPr lang="zh-CN" altLang="zh-CN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1800" dirty="0"/>
              <a:t>（</a:t>
            </a:r>
            <a:r>
              <a:rPr lang="es-ES" altLang="zh-CN" sz="1800" dirty="0"/>
              <a:t>3</a:t>
            </a:r>
            <a:r>
              <a:rPr lang="zh-CN" altLang="zh-CN" sz="1800" dirty="0"/>
              <a:t>）</a:t>
            </a:r>
            <a:r>
              <a:rPr lang="es-ES" altLang="zh-CN" sz="1800" dirty="0"/>
              <a:t>A</a:t>
            </a:r>
            <a:r>
              <a:rPr lang="en-US" altLang="zh-CN" sz="1800" dirty="0">
                <a:sym typeface="Symbol" panose="05050102010706020507" pitchFamily="18" charset="2"/>
              </a:rPr>
              <a:t></a:t>
            </a:r>
            <a:r>
              <a:rPr lang="es-ES" altLang="zh-CN" sz="1800" dirty="0"/>
              <a:t>A</a:t>
            </a:r>
            <a:r>
              <a:rPr lang="zh-CN" altLang="zh-CN" sz="1800" dirty="0"/>
              <a:t>∨</a:t>
            </a:r>
            <a:r>
              <a:rPr lang="es-ES" altLang="zh-CN" sz="1800" dirty="0"/>
              <a:t>B</a:t>
            </a:r>
            <a:endParaRPr lang="zh-CN" altLang="zh-CN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1800" dirty="0"/>
              <a:t>（</a:t>
            </a:r>
            <a:r>
              <a:rPr lang="es-ES" altLang="zh-CN" sz="1800" dirty="0"/>
              <a:t>4</a:t>
            </a:r>
            <a:r>
              <a:rPr lang="zh-CN" altLang="zh-CN" sz="1800" dirty="0"/>
              <a:t>）</a:t>
            </a:r>
            <a:r>
              <a:rPr lang="en-US" altLang="zh-CN" sz="1800" dirty="0">
                <a:sym typeface="Symbol" panose="05050102010706020507" pitchFamily="18" charset="2"/>
              </a:rPr>
              <a:t></a:t>
            </a:r>
            <a:r>
              <a:rPr lang="es-ES" altLang="zh-CN" sz="1800" dirty="0"/>
              <a:t>A</a:t>
            </a:r>
            <a:r>
              <a:rPr lang="en-US" altLang="zh-CN" sz="1800" dirty="0">
                <a:sym typeface="Symbol" panose="05050102010706020507" pitchFamily="18" charset="2"/>
              </a:rPr>
              <a:t></a:t>
            </a:r>
            <a:r>
              <a:rPr lang="es-ES" altLang="zh-CN" sz="1800" dirty="0"/>
              <a:t>A</a:t>
            </a:r>
            <a:r>
              <a:rPr lang="zh-CN" altLang="zh-CN" sz="1800" dirty="0"/>
              <a:t>→</a:t>
            </a:r>
            <a:r>
              <a:rPr lang="es-ES" altLang="zh-CN" sz="1800" dirty="0"/>
              <a:t>B</a:t>
            </a:r>
            <a:endParaRPr lang="zh-CN" altLang="zh-CN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1800" dirty="0"/>
              <a:t>（</a:t>
            </a:r>
            <a:r>
              <a:rPr lang="en-US" altLang="zh-CN" sz="1800" dirty="0"/>
              <a:t>5</a:t>
            </a:r>
            <a:r>
              <a:rPr lang="zh-CN" altLang="zh-CN" sz="1800" dirty="0"/>
              <a:t>）</a:t>
            </a:r>
            <a:r>
              <a:rPr lang="en-US" altLang="zh-CN" sz="1800" dirty="0"/>
              <a:t>B</a:t>
            </a:r>
            <a:r>
              <a:rPr lang="en-US" altLang="zh-CN" sz="1800" dirty="0">
                <a:sym typeface="Symbol" panose="05050102010706020507" pitchFamily="18" charset="2"/>
              </a:rPr>
              <a:t></a:t>
            </a:r>
            <a:r>
              <a:rPr lang="en-US" altLang="zh-CN" sz="1800" dirty="0"/>
              <a:t>A</a:t>
            </a:r>
            <a:r>
              <a:rPr lang="zh-CN" altLang="zh-CN" sz="1800" dirty="0"/>
              <a:t>→</a:t>
            </a:r>
            <a:r>
              <a:rPr lang="en-US" altLang="zh-CN" sz="1800" dirty="0"/>
              <a:t>B</a:t>
            </a:r>
            <a:endParaRPr lang="zh-CN" altLang="zh-CN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1800" dirty="0"/>
              <a:t>（</a:t>
            </a:r>
            <a:r>
              <a:rPr lang="en-US" altLang="zh-CN" sz="1800" dirty="0"/>
              <a:t>6</a:t>
            </a:r>
            <a:r>
              <a:rPr lang="zh-CN" altLang="zh-CN" sz="1800" dirty="0"/>
              <a:t>）</a:t>
            </a:r>
            <a:r>
              <a:rPr lang="en-US" altLang="zh-CN" sz="1800" dirty="0">
                <a:sym typeface="Symbol" panose="05050102010706020507" pitchFamily="18" charset="2"/>
              </a:rPr>
              <a:t></a:t>
            </a:r>
            <a:r>
              <a:rPr lang="en-US" altLang="zh-CN" sz="1800" dirty="0"/>
              <a:t>(A</a:t>
            </a:r>
            <a:r>
              <a:rPr lang="zh-CN" altLang="zh-CN" sz="1800" dirty="0"/>
              <a:t>→</a:t>
            </a:r>
            <a:r>
              <a:rPr lang="en-US" altLang="zh-CN" sz="1800" dirty="0"/>
              <a:t>B)</a:t>
            </a:r>
            <a:r>
              <a:rPr lang="en-US" altLang="zh-CN" sz="1800" dirty="0">
                <a:sym typeface="Symbol" panose="05050102010706020507" pitchFamily="18" charset="2"/>
              </a:rPr>
              <a:t></a:t>
            </a:r>
            <a:r>
              <a:rPr lang="en-US" altLang="zh-CN" sz="1800" dirty="0"/>
              <a:t>A</a:t>
            </a:r>
            <a:endParaRPr lang="zh-CN" altLang="zh-CN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1800" dirty="0"/>
              <a:t>（</a:t>
            </a:r>
            <a:r>
              <a:rPr lang="en-US" altLang="zh-CN" sz="1800" dirty="0"/>
              <a:t>7</a:t>
            </a:r>
            <a:r>
              <a:rPr lang="zh-CN" altLang="zh-CN" sz="1800" dirty="0"/>
              <a:t>）</a:t>
            </a:r>
            <a:r>
              <a:rPr lang="en-US" altLang="zh-CN" sz="1800" dirty="0">
                <a:sym typeface="Symbol" panose="05050102010706020507" pitchFamily="18" charset="2"/>
              </a:rPr>
              <a:t></a:t>
            </a:r>
            <a:r>
              <a:rPr lang="en-US" altLang="zh-CN" sz="1800" dirty="0"/>
              <a:t>(A</a:t>
            </a:r>
            <a:r>
              <a:rPr lang="zh-CN" altLang="zh-CN" sz="1800" dirty="0"/>
              <a:t>→</a:t>
            </a:r>
            <a:r>
              <a:rPr lang="en-US" altLang="zh-CN" sz="1800" dirty="0"/>
              <a:t>B)</a:t>
            </a:r>
            <a:r>
              <a:rPr lang="en-US" altLang="zh-CN" sz="1800" dirty="0">
                <a:sym typeface="Symbol" panose="05050102010706020507" pitchFamily="18" charset="2"/>
              </a:rPr>
              <a:t></a:t>
            </a:r>
            <a:r>
              <a:rPr lang="en-US" altLang="zh-CN" sz="1800" dirty="0"/>
              <a:t>¬B</a:t>
            </a:r>
            <a:endParaRPr lang="zh-CN" altLang="zh-CN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1800" dirty="0"/>
              <a:t>（</a:t>
            </a:r>
            <a:r>
              <a:rPr lang="en-US" altLang="zh-CN" sz="1800" dirty="0"/>
              <a:t>8</a:t>
            </a:r>
            <a:r>
              <a:rPr lang="zh-CN" altLang="zh-CN" sz="1800" dirty="0"/>
              <a:t>）</a:t>
            </a:r>
            <a:r>
              <a:rPr lang="en-US" altLang="zh-CN" sz="1800" dirty="0"/>
              <a:t>A</a:t>
            </a:r>
            <a:r>
              <a:rPr lang="zh-CN" altLang="zh-CN" sz="1800" dirty="0"/>
              <a:t>∧</a:t>
            </a:r>
            <a:r>
              <a:rPr lang="en-US" altLang="zh-CN" sz="1800" dirty="0"/>
              <a:t>(A</a:t>
            </a:r>
            <a:r>
              <a:rPr lang="zh-CN" altLang="zh-CN" sz="1800" dirty="0"/>
              <a:t>→</a:t>
            </a:r>
            <a:r>
              <a:rPr lang="en-US" altLang="zh-CN" sz="1800" dirty="0"/>
              <a:t>B)</a:t>
            </a:r>
            <a:r>
              <a:rPr lang="en-US" altLang="zh-CN" sz="1800" dirty="0">
                <a:sym typeface="Symbol" panose="05050102010706020507" pitchFamily="18" charset="2"/>
              </a:rPr>
              <a:t></a:t>
            </a:r>
            <a:r>
              <a:rPr lang="en-US" altLang="zh-CN" sz="1800" dirty="0"/>
              <a:t>B</a:t>
            </a:r>
            <a:endParaRPr lang="zh-CN" altLang="zh-CN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1800" dirty="0"/>
              <a:t>（</a:t>
            </a:r>
            <a:r>
              <a:rPr lang="en-US" altLang="zh-CN" sz="1800" dirty="0"/>
              <a:t>9</a:t>
            </a:r>
            <a:r>
              <a:rPr lang="zh-CN" altLang="zh-CN" sz="1800" dirty="0"/>
              <a:t>）</a:t>
            </a:r>
            <a:r>
              <a:rPr lang="en-US" altLang="zh-CN" sz="1800" dirty="0">
                <a:sym typeface="Symbol" panose="05050102010706020507" pitchFamily="18" charset="2"/>
              </a:rPr>
              <a:t></a:t>
            </a:r>
            <a:r>
              <a:rPr lang="en-US" altLang="zh-CN" sz="1800" dirty="0"/>
              <a:t>B</a:t>
            </a:r>
            <a:r>
              <a:rPr lang="zh-CN" altLang="zh-CN" sz="1800" dirty="0"/>
              <a:t>∧</a:t>
            </a:r>
            <a:r>
              <a:rPr lang="en-US" altLang="zh-CN" sz="1800" dirty="0"/>
              <a:t>(A</a:t>
            </a:r>
            <a:r>
              <a:rPr lang="zh-CN" altLang="zh-CN" sz="1800" dirty="0"/>
              <a:t>→</a:t>
            </a:r>
            <a:r>
              <a:rPr lang="en-US" altLang="zh-CN" sz="1800" dirty="0"/>
              <a:t>B)</a:t>
            </a:r>
            <a:r>
              <a:rPr lang="en-US" altLang="zh-CN" sz="1800" dirty="0">
                <a:sym typeface="Symbol" panose="05050102010706020507" pitchFamily="18" charset="2"/>
              </a:rPr>
              <a:t></a:t>
            </a:r>
            <a:r>
              <a:rPr lang="en-US" altLang="zh-CN" sz="1800" dirty="0"/>
              <a:t>A</a:t>
            </a:r>
            <a:endParaRPr lang="zh-CN" altLang="zh-CN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1800" dirty="0"/>
              <a:t>（</a:t>
            </a:r>
            <a:r>
              <a:rPr lang="en-US" altLang="zh-CN" sz="1800" dirty="0"/>
              <a:t>10</a:t>
            </a:r>
            <a:r>
              <a:rPr lang="zh-CN" altLang="zh-CN" sz="1800" dirty="0"/>
              <a:t>）</a:t>
            </a:r>
            <a:r>
              <a:rPr lang="en-US" altLang="zh-CN" sz="1800" dirty="0">
                <a:sym typeface="Symbol" panose="05050102010706020507" pitchFamily="18" charset="2"/>
              </a:rPr>
              <a:t></a:t>
            </a:r>
            <a:r>
              <a:rPr lang="en-US" altLang="zh-CN" sz="1800" dirty="0"/>
              <a:t>A</a:t>
            </a:r>
            <a:r>
              <a:rPr lang="zh-CN" altLang="zh-CN" sz="1800" dirty="0"/>
              <a:t>∧</a:t>
            </a:r>
            <a:r>
              <a:rPr lang="en-US" altLang="zh-CN" sz="1800" dirty="0"/>
              <a:t>(A</a:t>
            </a:r>
            <a:r>
              <a:rPr lang="zh-CN" altLang="zh-CN" sz="1800" dirty="0"/>
              <a:t>∨</a:t>
            </a:r>
            <a:r>
              <a:rPr lang="en-US" altLang="zh-CN" sz="1800" dirty="0"/>
              <a:t>B)</a:t>
            </a:r>
            <a:r>
              <a:rPr lang="en-US" altLang="zh-CN" sz="1800" dirty="0">
                <a:sym typeface="Symbol" panose="05050102010706020507" pitchFamily="18" charset="2"/>
              </a:rPr>
              <a:t></a:t>
            </a:r>
            <a:r>
              <a:rPr lang="en-US" altLang="zh-CN" sz="1800" dirty="0"/>
              <a:t>B</a:t>
            </a:r>
            <a:endParaRPr lang="zh-CN" altLang="zh-CN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1800" dirty="0"/>
              <a:t>（</a:t>
            </a:r>
            <a:r>
              <a:rPr lang="en-US" altLang="zh-CN" sz="1800" dirty="0"/>
              <a:t>11</a:t>
            </a:r>
            <a:r>
              <a:rPr lang="zh-CN" altLang="zh-CN" sz="1800" dirty="0"/>
              <a:t>）</a:t>
            </a:r>
            <a:r>
              <a:rPr lang="en-US" altLang="zh-CN" sz="1800" dirty="0"/>
              <a:t>(A</a:t>
            </a:r>
            <a:r>
              <a:rPr lang="zh-CN" altLang="zh-CN" sz="1800" dirty="0"/>
              <a:t>→</a:t>
            </a:r>
            <a:r>
              <a:rPr lang="en-US" altLang="zh-CN" sz="1800" dirty="0"/>
              <a:t>B)</a:t>
            </a:r>
            <a:r>
              <a:rPr lang="zh-CN" altLang="zh-CN" sz="1800" dirty="0"/>
              <a:t>∧</a:t>
            </a:r>
            <a:r>
              <a:rPr lang="en-US" altLang="zh-CN" sz="1800" dirty="0"/>
              <a:t>(B</a:t>
            </a:r>
            <a:r>
              <a:rPr lang="zh-CN" altLang="zh-CN" sz="1800" dirty="0"/>
              <a:t>→</a:t>
            </a:r>
            <a:r>
              <a:rPr lang="en-US" altLang="zh-CN" sz="1800" dirty="0"/>
              <a:t>C)</a:t>
            </a:r>
            <a:r>
              <a:rPr lang="en-US" altLang="zh-CN" sz="1800" dirty="0">
                <a:sym typeface="Symbol" panose="05050102010706020507" pitchFamily="18" charset="2"/>
              </a:rPr>
              <a:t></a:t>
            </a:r>
            <a:r>
              <a:rPr lang="en-US" altLang="zh-CN" sz="1800" dirty="0"/>
              <a:t>A</a:t>
            </a:r>
            <a:r>
              <a:rPr lang="zh-CN" altLang="zh-CN" sz="1800" dirty="0"/>
              <a:t>→</a:t>
            </a:r>
            <a:r>
              <a:rPr lang="en-US" altLang="zh-CN" sz="1800" dirty="0"/>
              <a:t>C</a:t>
            </a:r>
            <a:endParaRPr lang="zh-CN" altLang="zh-CN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1800" dirty="0"/>
              <a:t>（</a:t>
            </a:r>
            <a:r>
              <a:rPr lang="en-US" altLang="zh-CN" sz="1800" dirty="0"/>
              <a:t>12</a:t>
            </a:r>
            <a:r>
              <a:rPr lang="zh-CN" altLang="zh-CN" sz="1800" dirty="0"/>
              <a:t>）</a:t>
            </a:r>
            <a:r>
              <a:rPr lang="en-US" altLang="zh-CN" sz="1800" dirty="0"/>
              <a:t>(A</a:t>
            </a:r>
            <a:r>
              <a:rPr lang="zh-CN" altLang="zh-CN" sz="1800" dirty="0"/>
              <a:t>∨</a:t>
            </a:r>
            <a:r>
              <a:rPr lang="en-US" altLang="zh-CN" sz="1800" dirty="0"/>
              <a:t>B)</a:t>
            </a:r>
            <a:r>
              <a:rPr lang="zh-CN" altLang="zh-CN" sz="1800" dirty="0"/>
              <a:t>∧</a:t>
            </a:r>
            <a:r>
              <a:rPr lang="en-US" altLang="zh-CN" sz="1800" dirty="0"/>
              <a:t>(A</a:t>
            </a:r>
            <a:r>
              <a:rPr lang="zh-CN" altLang="zh-CN" sz="1800" dirty="0"/>
              <a:t>→</a:t>
            </a:r>
            <a:r>
              <a:rPr lang="en-US" altLang="zh-CN" sz="1800" dirty="0"/>
              <a:t>C)</a:t>
            </a:r>
            <a:r>
              <a:rPr lang="zh-CN" altLang="zh-CN" sz="1800" dirty="0"/>
              <a:t>∧</a:t>
            </a:r>
            <a:r>
              <a:rPr lang="en-US" altLang="zh-CN" sz="1800" dirty="0"/>
              <a:t>(B</a:t>
            </a:r>
            <a:r>
              <a:rPr lang="zh-CN" altLang="zh-CN" sz="1800" dirty="0"/>
              <a:t>→</a:t>
            </a:r>
            <a:r>
              <a:rPr lang="en-US" altLang="zh-CN" sz="1800" dirty="0"/>
              <a:t>C)</a:t>
            </a:r>
            <a:r>
              <a:rPr lang="en-US" altLang="zh-CN" sz="1800" dirty="0">
                <a:sym typeface="Symbol" panose="05050102010706020507" pitchFamily="18" charset="2"/>
              </a:rPr>
              <a:t></a:t>
            </a:r>
            <a:r>
              <a:rPr lang="en-US" altLang="zh-CN" sz="1800" dirty="0"/>
              <a:t>C</a:t>
            </a:r>
            <a:endParaRPr lang="zh-CN" altLang="zh-CN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1800" dirty="0"/>
              <a:t>（</a:t>
            </a:r>
            <a:r>
              <a:rPr lang="en-US" altLang="zh-CN" sz="1800" dirty="0"/>
              <a:t>13</a:t>
            </a:r>
            <a:r>
              <a:rPr lang="zh-CN" altLang="zh-CN" sz="1800" dirty="0"/>
              <a:t>）</a:t>
            </a:r>
            <a:r>
              <a:rPr lang="en-US" altLang="zh-CN" sz="1800" dirty="0"/>
              <a:t>(A</a:t>
            </a:r>
            <a:r>
              <a:rPr lang="zh-CN" altLang="zh-CN" sz="1800" dirty="0"/>
              <a:t>→</a:t>
            </a:r>
            <a:r>
              <a:rPr lang="en-US" altLang="zh-CN" sz="1800" dirty="0"/>
              <a:t>B)</a:t>
            </a:r>
            <a:r>
              <a:rPr lang="zh-CN" altLang="zh-CN" sz="1800" dirty="0"/>
              <a:t>∧</a:t>
            </a:r>
            <a:r>
              <a:rPr lang="en-US" altLang="zh-CN" sz="1800" dirty="0"/>
              <a:t>(D</a:t>
            </a:r>
            <a:r>
              <a:rPr lang="zh-CN" altLang="zh-CN" sz="1800" dirty="0"/>
              <a:t>→</a:t>
            </a:r>
            <a:r>
              <a:rPr lang="en-US" altLang="zh-CN" sz="1800" dirty="0"/>
              <a:t>C)</a:t>
            </a:r>
            <a:r>
              <a:rPr lang="en-US" altLang="zh-CN" sz="1800" dirty="0">
                <a:sym typeface="Symbol" panose="05050102010706020507" pitchFamily="18" charset="2"/>
              </a:rPr>
              <a:t></a:t>
            </a:r>
            <a:r>
              <a:rPr lang="en-US" altLang="zh-CN" sz="1800" dirty="0"/>
              <a:t>(A</a:t>
            </a:r>
            <a:r>
              <a:rPr lang="zh-CN" altLang="zh-CN" sz="1800" dirty="0"/>
              <a:t>∧</a:t>
            </a:r>
            <a:r>
              <a:rPr lang="en-US" altLang="zh-CN" sz="1800" dirty="0"/>
              <a:t>D)</a:t>
            </a:r>
            <a:r>
              <a:rPr lang="zh-CN" altLang="zh-CN" sz="1800" dirty="0"/>
              <a:t>→</a:t>
            </a:r>
            <a:r>
              <a:rPr lang="en-US" altLang="zh-CN" sz="1800" dirty="0"/>
              <a:t>(B</a:t>
            </a:r>
            <a:r>
              <a:rPr lang="zh-CN" altLang="zh-CN" sz="1800" dirty="0"/>
              <a:t>∧</a:t>
            </a:r>
            <a:r>
              <a:rPr lang="en-US" altLang="zh-CN" sz="1800" dirty="0"/>
              <a:t>C)</a:t>
            </a:r>
            <a:endParaRPr lang="zh-CN" altLang="zh-CN" sz="18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1800" dirty="0"/>
              <a:t>（</a:t>
            </a:r>
            <a:r>
              <a:rPr lang="en-US" altLang="zh-CN" sz="1800" dirty="0"/>
              <a:t>14</a:t>
            </a:r>
            <a:r>
              <a:rPr lang="zh-CN" altLang="zh-CN" sz="1800" dirty="0"/>
              <a:t>）</a:t>
            </a:r>
            <a:r>
              <a:rPr lang="en-US" altLang="zh-CN" sz="1800" dirty="0"/>
              <a:t>(A</a:t>
            </a:r>
            <a:r>
              <a:rPr lang="en-US" altLang="zh-CN" sz="1800" dirty="0">
                <a:sym typeface="Symbol" panose="05050102010706020507" pitchFamily="18" charset="2"/>
              </a:rPr>
              <a:t></a:t>
            </a:r>
            <a:r>
              <a:rPr lang="en-US" altLang="zh-CN" sz="1800" dirty="0"/>
              <a:t>B)</a:t>
            </a:r>
            <a:r>
              <a:rPr lang="zh-CN" altLang="zh-CN" sz="1800" dirty="0"/>
              <a:t>∧</a:t>
            </a:r>
            <a:r>
              <a:rPr lang="en-US" altLang="zh-CN" sz="1800" dirty="0"/>
              <a:t>(B</a:t>
            </a:r>
            <a:r>
              <a:rPr lang="en-US" altLang="zh-CN" sz="1800" dirty="0">
                <a:sym typeface="Symbol" panose="05050102010706020507" pitchFamily="18" charset="2"/>
              </a:rPr>
              <a:t></a:t>
            </a:r>
            <a:r>
              <a:rPr lang="en-US" altLang="zh-CN" sz="1800" dirty="0"/>
              <a:t>C)</a:t>
            </a:r>
            <a:r>
              <a:rPr lang="en-US" altLang="zh-CN" sz="1800" dirty="0">
                <a:sym typeface="Symbol" panose="05050102010706020507" pitchFamily="18" charset="2"/>
              </a:rPr>
              <a:t></a:t>
            </a:r>
            <a:r>
              <a:rPr lang="en-US" altLang="zh-CN" sz="1800" dirty="0"/>
              <a:t>A</a:t>
            </a:r>
            <a:r>
              <a:rPr lang="en-US" altLang="zh-CN" sz="1800" dirty="0">
                <a:sym typeface="Symbol" panose="05050102010706020507" pitchFamily="18" charset="2"/>
              </a:rPr>
              <a:t></a:t>
            </a:r>
            <a:r>
              <a:rPr lang="en-US" altLang="zh-CN" sz="1800" dirty="0"/>
              <a:t>C</a:t>
            </a:r>
            <a:endParaRPr lang="zh-CN" altLang="zh-CN" sz="1800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15888"/>
            <a:ext cx="8229600" cy="762000"/>
          </a:xfrm>
          <a:noFill/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  推理的形式结构 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243013"/>
            <a:ext cx="8229600" cy="4848225"/>
          </a:xfrm>
          <a:noFill/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定义 </a:t>
            </a:r>
            <a:r>
              <a:rPr lang="zh-CN" altLang="en-US" sz="2800" dirty="0">
                <a:latin typeface="Times New Roman" panose="02020603050405020304" pitchFamily="18" charset="0"/>
              </a:rPr>
              <a:t>若对于任意赋值，或者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为假，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或者当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 err="1">
                <a:latin typeface="Symbol" panose="05050102010706020507" pitchFamily="18" charset="2"/>
              </a:rPr>
              <a:t>Ù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 err="1">
                <a:latin typeface="Times New Roman" panose="02020603050405020304" pitchFamily="18" charset="0"/>
              </a:rPr>
              <a:t>k</a:t>
            </a:r>
            <a:r>
              <a:rPr lang="zh-CN" altLang="en-US" sz="2800" dirty="0">
                <a:latin typeface="Times New Roman" panose="02020603050405020304" pitchFamily="18" charset="0"/>
              </a:rPr>
              <a:t>为真时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</a:rPr>
              <a:t>也为真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</a:rPr>
              <a:t>则称由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,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, …, 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 err="1">
                <a:latin typeface="Times New Roman" panose="02020603050405020304" pitchFamily="18" charset="0"/>
              </a:rPr>
              <a:t>k</a:t>
            </a:r>
            <a:r>
              <a:rPr lang="zh-CN" altLang="en-US" sz="2800" dirty="0">
                <a:latin typeface="Times New Roman" panose="02020603050405020304" pitchFamily="18" charset="0"/>
              </a:rPr>
              <a:t>推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推理正确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</a:rPr>
              <a:t>否则</a:t>
            </a: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推理不正确（错误）</a:t>
            </a:r>
            <a:r>
              <a:rPr lang="en-US" altLang="zh-CN" sz="2800" dirty="0">
                <a:latin typeface="Times New Roman" panose="02020603050405020304" pitchFamily="18" charset="0"/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 i="1" dirty="0">
                <a:latin typeface="Times New Roman" panose="02020603050405020304" pitchFamily="18" charset="0"/>
              </a:rPr>
              <a:t>“A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, …, 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推</a:t>
            </a:r>
            <a:r>
              <a:rPr lang="en-US" altLang="zh-CN" sz="2800" i="1" dirty="0">
                <a:latin typeface="Times New Roman" panose="02020603050405020304" pitchFamily="18" charset="0"/>
              </a:rPr>
              <a:t>B” </a:t>
            </a:r>
            <a:r>
              <a:rPr lang="zh-CN" altLang="en-US" sz="2800" dirty="0">
                <a:latin typeface="Times New Roman" panose="02020603050405020304" pitchFamily="18" charset="0"/>
              </a:rPr>
              <a:t>的推理正确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           当且仅当  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 err="1">
                <a:latin typeface="Symbol" panose="05050102010706020507" pitchFamily="18" charset="2"/>
              </a:rPr>
              <a:t>Ù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dirty="0" err="1">
                <a:latin typeface="Symbol" panose="05050102010706020507" pitchFamily="18" charset="2"/>
              </a:rPr>
              <a:t>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</a:rPr>
              <a:t>为重言式</a:t>
            </a:r>
            <a:r>
              <a:rPr lang="en-US" altLang="zh-CN" sz="2800" dirty="0">
                <a:latin typeface="Times New Roman" panose="02020603050405020304" pitchFamily="18" charset="0"/>
              </a:rPr>
              <a:t>.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</a:rPr>
              <a:t>推理的形式结构</a:t>
            </a:r>
            <a:r>
              <a:rPr lang="en-US" altLang="zh-CN" sz="2800" dirty="0">
                <a:latin typeface="Times New Roman" panose="02020603050405020304" pitchFamily="18" charset="0"/>
              </a:rPr>
              <a:t>: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 err="1">
                <a:latin typeface="Symbol" panose="05050102010706020507" pitchFamily="18" charset="2"/>
              </a:rPr>
              <a:t>Ù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dirty="0" err="1">
                <a:latin typeface="Symbol" panose="05050102010706020507" pitchFamily="18" charset="2"/>
              </a:rPr>
              <a:t>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i="1" dirty="0">
                <a:latin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</a:rPr>
              <a:t>或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 前提：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, … , 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 err="1">
                <a:latin typeface="Times New Roman" panose="02020603050405020304" pitchFamily="18" charset="0"/>
              </a:rPr>
              <a:t>k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</a:t>
            </a:r>
            <a:r>
              <a:rPr lang="zh-CN" altLang="en-US" sz="2800" dirty="0">
                <a:latin typeface="Times New Roman" panose="02020603050405020304" pitchFamily="18" charset="0"/>
              </a:rPr>
              <a:t>结论： 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上述推理正确等价于：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 err="1">
                <a:latin typeface="Symbol" panose="05050102010706020507" pitchFamily="18" charset="2"/>
              </a:rPr>
              <a:t>Ù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dirty="0" err="1">
                <a:latin typeface="Symbol" panose="05050102010706020507" pitchFamily="18" charset="2"/>
              </a:rPr>
              <a:t>Þ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i="1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9050"/>
            <a:ext cx="8229600" cy="1114425"/>
          </a:xfrm>
          <a:noFill/>
        </p:spPr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  判断推理是否正确的方法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66813"/>
            <a:ext cx="8401050" cy="4595812"/>
          </a:xfrm>
          <a:noFill/>
        </p:spPr>
        <p:txBody>
          <a:bodyPr/>
          <a:lstStyle/>
          <a:p>
            <a:pPr algn="just" eaLnBrk="1" hangingPunct="1">
              <a:buClr>
                <a:srgbClr val="FF0066"/>
              </a:buClr>
              <a:buSzPct val="125000"/>
              <a:buFontTx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真值表法</a:t>
            </a:r>
          </a:p>
          <a:p>
            <a:pPr algn="just" eaLnBrk="1" hangingPunct="1">
              <a:buClr>
                <a:srgbClr val="FF0066"/>
              </a:buClr>
              <a:buSzPct val="125000"/>
              <a:buFontTx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等值演算法     判断推理是否正确</a:t>
            </a:r>
          </a:p>
          <a:p>
            <a:pPr algn="just" eaLnBrk="1" hangingPunct="1">
              <a:buClr>
                <a:srgbClr val="FF0066"/>
              </a:buClr>
              <a:buSzPct val="125000"/>
              <a:buFontTx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主析取范式法</a:t>
            </a:r>
          </a:p>
          <a:p>
            <a:pPr eaLnBrk="1" hangingPunct="1">
              <a:buClr>
                <a:srgbClr val="FF0066"/>
              </a:buClr>
              <a:buSzPct val="125000"/>
              <a:buFontTx/>
              <a:buChar char="•"/>
            </a:pPr>
            <a:r>
              <a:rPr lang="zh-CN" altLang="en-US" dirty="0">
                <a:latin typeface="宋体" panose="02010600030101010101" pitchFamily="2" charset="-122"/>
              </a:rPr>
              <a:t>构造证明法     构造证明推理正确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  说明：用前</a:t>
            </a:r>
            <a:r>
              <a:rPr lang="en-US" altLang="zh-CN" sz="2800" dirty="0">
                <a:latin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</a:rPr>
              <a:t>个方法时采用</a:t>
            </a:r>
            <a:r>
              <a:rPr lang="zh-CN" altLang="en-US" sz="2800" dirty="0">
                <a:latin typeface="Times New Roman" panose="02020603050405020304" pitchFamily="18" charset="0"/>
              </a:rPr>
              <a:t>形式结构  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“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Symbol" panose="05050102010706020507" pitchFamily="18" charset="2"/>
                <a:ea typeface="华文中宋" panose="02010600040101010101" pitchFamily="2" charset="-12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Symbol" panose="05050102010706020507" pitchFamily="18" charset="2"/>
                <a:ea typeface="华文中宋" panose="02010600040101010101" pitchFamily="2" charset="-12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 err="1">
                <a:latin typeface="Symbol" panose="05050102010706020507" pitchFamily="18" charset="2"/>
                <a:ea typeface="华文中宋" panose="02010600040101010101" pitchFamily="2" charset="-122"/>
              </a:rPr>
              <a:t>Ù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dirty="0" err="1">
                <a:latin typeface="Symbol" panose="05050102010706020507" pitchFamily="18" charset="2"/>
                <a:ea typeface="华文中宋" panose="02010600040101010101" pitchFamily="2" charset="-122"/>
              </a:rPr>
              <a:t>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B</a:t>
            </a:r>
            <a:r>
              <a:rPr lang="en-US" altLang="zh-CN" sz="2800" i="1" dirty="0">
                <a:latin typeface="Times New Roman" panose="02020603050405020304" pitchFamily="18" charset="0"/>
              </a:rPr>
              <a:t>” 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用构造证明时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zh-CN" altLang="en-US" sz="2800" dirty="0">
                <a:latin typeface="宋体" panose="02010600030101010101" pitchFamily="2" charset="-122"/>
              </a:rPr>
              <a:t>采用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      </a:t>
            </a:r>
            <a:r>
              <a:rPr lang="zh-CN" altLang="en-US" sz="2800" dirty="0">
                <a:latin typeface="Times New Roman" panose="02020603050405020304" pitchFamily="18" charset="0"/>
              </a:rPr>
              <a:t>“前提</a:t>
            </a:r>
            <a:r>
              <a:rPr lang="en-US" altLang="zh-CN" sz="2800" dirty="0">
                <a:latin typeface="Times New Roman" panose="02020603050405020304" pitchFamily="18" charset="0"/>
              </a:rPr>
              <a:t>: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, … ,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</a:rPr>
              <a:t>,  </a:t>
            </a:r>
            <a:r>
              <a:rPr lang="zh-CN" altLang="en-US" sz="2800" dirty="0">
                <a:latin typeface="Times New Roman" panose="02020603050405020304" pitchFamily="18" charset="0"/>
              </a:rPr>
              <a:t>结论</a:t>
            </a:r>
            <a:r>
              <a:rPr lang="en-US" altLang="zh-CN" sz="2800" dirty="0">
                <a:latin typeface="Times New Roman" panose="02020603050405020304" pitchFamily="18" charset="0"/>
              </a:rPr>
              <a:t>: </a:t>
            </a:r>
            <a:r>
              <a:rPr lang="en-US" altLang="zh-CN" sz="2800" i="1" dirty="0">
                <a:latin typeface="Times New Roman" panose="02020603050405020304" pitchFamily="18" charset="0"/>
              </a:rPr>
              <a:t>B”.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0724" name="AutoShape 4"/>
          <p:cNvSpPr>
            <a:spLocks/>
          </p:cNvSpPr>
          <p:nvPr/>
        </p:nvSpPr>
        <p:spPr bwMode="auto">
          <a:xfrm>
            <a:off x="3035300" y="1257300"/>
            <a:ext cx="88900" cy="1366838"/>
          </a:xfrm>
          <a:prstGeom prst="rightBrace">
            <a:avLst>
              <a:gd name="adj1" fmla="val 79865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45000"/>
              </a:spcBef>
              <a:buClr>
                <a:srgbClr val="99CCCC"/>
              </a:buClr>
              <a:buChar char="•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ClrTx/>
              <a:buFontTx/>
              <a:buNone/>
            </a:pPr>
            <a:endParaRPr lang="zh-CN" altLang="en-US" sz="28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-26988"/>
            <a:ext cx="8229600" cy="914401"/>
          </a:xfrm>
          <a:noFill/>
        </p:spPr>
        <p:txBody>
          <a:bodyPr/>
          <a:lstStyle/>
          <a:p>
            <a:pPr eaLnBrk="1" hangingPunct="1"/>
            <a:r>
              <a:rPr lang="zh-CN" altLang="en-US"/>
              <a:t>  实例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4063" y="1052513"/>
            <a:ext cx="7851775" cy="472757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例  判断下面推理是否正确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</a:rPr>
              <a:t>(1) </a:t>
            </a:r>
            <a:r>
              <a:rPr lang="zh-CN" altLang="en-US" sz="2800" dirty="0">
                <a:latin typeface="Times New Roman" panose="02020603050405020304" pitchFamily="18" charset="0"/>
              </a:rPr>
              <a:t>若今天是</a:t>
            </a: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号，则明天是</a:t>
            </a:r>
            <a:r>
              <a:rPr lang="en-US" altLang="zh-CN" sz="2800" dirty="0">
                <a:latin typeface="Times New Roman" panose="02020603050405020304" pitchFamily="18" charset="0"/>
              </a:rPr>
              <a:t>5</a:t>
            </a:r>
            <a:r>
              <a:rPr lang="zh-CN" altLang="en-US" sz="2800" dirty="0">
                <a:latin typeface="Times New Roman" panose="02020603050405020304" pitchFamily="18" charset="0"/>
              </a:rPr>
              <a:t>号</a:t>
            </a:r>
            <a:r>
              <a:rPr lang="en-US" altLang="zh-CN" sz="2800" dirty="0">
                <a:latin typeface="Times New Roman" panose="02020603050405020304" pitchFamily="18" charset="0"/>
              </a:rPr>
              <a:t>. </a:t>
            </a:r>
            <a:r>
              <a:rPr lang="zh-CN" altLang="en-US" sz="2800" dirty="0">
                <a:latin typeface="Times New Roman" panose="02020603050405020304" pitchFamily="18" charset="0"/>
              </a:rPr>
              <a:t>今天是</a:t>
            </a: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号</a:t>
            </a:r>
            <a:r>
              <a:rPr lang="en-US" altLang="zh-CN" sz="2800" dirty="0">
                <a:latin typeface="Times New Roman" panose="02020603050405020304" pitchFamily="18" charset="0"/>
              </a:rPr>
              <a:t>. </a:t>
            </a:r>
            <a:r>
              <a:rPr lang="zh-CN" altLang="en-US" sz="2800" dirty="0">
                <a:latin typeface="Times New Roman" panose="02020603050405020304" pitchFamily="18" charset="0"/>
              </a:rPr>
              <a:t>所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    以明天是</a:t>
            </a:r>
            <a:r>
              <a:rPr lang="en-US" altLang="zh-CN" sz="2800" dirty="0">
                <a:latin typeface="Times New Roman" panose="02020603050405020304" pitchFamily="18" charset="0"/>
              </a:rPr>
              <a:t>5</a:t>
            </a:r>
            <a:r>
              <a:rPr lang="zh-CN" altLang="en-US" sz="2800" dirty="0">
                <a:latin typeface="Times New Roman" panose="02020603050405020304" pitchFamily="18" charset="0"/>
              </a:rPr>
              <a:t>号</a:t>
            </a:r>
            <a:r>
              <a:rPr lang="en-US" altLang="zh-CN" sz="2800" dirty="0">
                <a:latin typeface="Times New Roman" panose="02020603050405020304" pitchFamily="18" charset="0"/>
              </a:rPr>
              <a:t>. 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</a:rPr>
              <a:t>解  设 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</a:rPr>
              <a:t>：今天是</a:t>
            </a: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号，</a:t>
            </a:r>
            <a:r>
              <a:rPr lang="en-US" altLang="zh-CN" sz="2800" i="1" dirty="0"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</a:rPr>
              <a:t>：明天是</a:t>
            </a:r>
            <a:r>
              <a:rPr lang="en-US" altLang="zh-CN" sz="2800" dirty="0">
                <a:latin typeface="Times New Roman" panose="02020603050405020304" pitchFamily="18" charset="0"/>
              </a:rPr>
              <a:t>5</a:t>
            </a:r>
            <a:r>
              <a:rPr lang="zh-CN" altLang="en-US" sz="2800" dirty="0">
                <a:latin typeface="Times New Roman" panose="02020603050405020304" pitchFamily="18" charset="0"/>
              </a:rPr>
              <a:t>号</a:t>
            </a:r>
            <a:r>
              <a:rPr lang="en-US" altLang="zh-CN" sz="2800" dirty="0">
                <a:latin typeface="Times New Roman" panose="02020603050405020304" pitchFamily="18" charset="0"/>
              </a:rPr>
              <a:t>.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推理的形式结构为</a:t>
            </a:r>
            <a:r>
              <a:rPr lang="en-US" altLang="zh-CN" sz="2800" dirty="0">
                <a:latin typeface="Times New Roman" panose="02020603050405020304" pitchFamily="18" charset="0"/>
              </a:rPr>
              <a:t>:   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 err="1">
                <a:latin typeface="Symbol" panose="05050102010706020507" pitchFamily="18" charset="2"/>
              </a:rPr>
              <a:t>Ù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证明（用等值演算法）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          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 err="1">
                <a:latin typeface="Symbol" panose="05050102010706020507" pitchFamily="18" charset="2"/>
              </a:rPr>
              <a:t>Ù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</a:t>
            </a:r>
            <a:r>
              <a:rPr lang="en-US" altLang="zh-CN" sz="2800" dirty="0">
                <a:latin typeface="Symbol" panose="05050102010706020507" pitchFamily="18" charset="2"/>
              </a:rPr>
              <a:t>Û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dirty="0">
                <a:latin typeface="Times New Roman" panose="02020603050405020304" pitchFamily="18" charset="0"/>
              </a:rPr>
              <a:t>((</a:t>
            </a:r>
            <a:r>
              <a:rPr lang="en-US" altLang="zh-CN" sz="2800" dirty="0" err="1">
                <a:latin typeface="Symbol" panose="05050102010706020507" pitchFamily="18" charset="2"/>
              </a:rPr>
              <a:t>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Ú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 err="1">
                <a:latin typeface="Symbol" panose="05050102010706020507" pitchFamily="18" charset="2"/>
              </a:rPr>
              <a:t>Ù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 err="1">
                <a:latin typeface="Symbol" panose="05050102010706020507" pitchFamily="18" charset="2"/>
              </a:rPr>
              <a:t>Ú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</a:t>
            </a:r>
            <a:r>
              <a:rPr lang="en-US" altLang="zh-CN" sz="2800" dirty="0">
                <a:latin typeface="Symbol" panose="05050102010706020507" pitchFamily="18" charset="2"/>
              </a:rPr>
              <a:t>Û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 err="1">
                <a:latin typeface="Symbol" panose="05050102010706020507" pitchFamily="18" charset="2"/>
              </a:rPr>
              <a:t>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ÚØ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800" dirty="0" err="1">
                <a:latin typeface="Symbol" panose="05050102010706020507" pitchFamily="18" charset="2"/>
              </a:rPr>
              <a:t>Ú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Symbol" panose="05050102010706020507" pitchFamily="18" charset="2"/>
              </a:rPr>
              <a:t>Û</a:t>
            </a:r>
            <a:r>
              <a:rPr lang="en-US" altLang="zh-CN" sz="2800" dirty="0">
                <a:latin typeface="Times New Roman" panose="02020603050405020304" pitchFamily="18" charset="0"/>
              </a:rPr>
              <a:t> 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得证推理正确 </a:t>
            </a: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762000"/>
          </a:xfrm>
          <a:noFill/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   实例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续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906463"/>
            <a:ext cx="8067675" cy="489902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(2) </a:t>
            </a:r>
            <a:r>
              <a:rPr lang="zh-CN" altLang="en-US" dirty="0">
                <a:latin typeface="Times New Roman" panose="02020603050405020304" pitchFamily="18" charset="0"/>
              </a:rPr>
              <a:t>若今天是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号，则明天是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号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明天是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号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所以今天是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号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解  设</a:t>
            </a:r>
            <a:r>
              <a:rPr lang="en-US" altLang="zh-CN" i="1" dirty="0">
                <a:latin typeface="Times New Roman" panose="02020603050405020304" pitchFamily="18" charset="0"/>
              </a:rPr>
              <a:t>p</a:t>
            </a:r>
            <a:r>
              <a:rPr lang="zh-CN" altLang="en-US" dirty="0">
                <a:latin typeface="Times New Roman" panose="02020603050405020304" pitchFamily="18" charset="0"/>
              </a:rPr>
              <a:t>：今天是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号，</a:t>
            </a:r>
            <a:r>
              <a:rPr lang="en-US" altLang="zh-CN" i="1" dirty="0">
                <a:latin typeface="Times New Roman" panose="02020603050405020304" pitchFamily="18" charset="0"/>
              </a:rPr>
              <a:t>q</a:t>
            </a:r>
            <a:r>
              <a:rPr lang="zh-CN" altLang="en-US" dirty="0">
                <a:latin typeface="Times New Roman" panose="02020603050405020304" pitchFamily="18" charset="0"/>
              </a:rPr>
              <a:t>：明天是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号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推理的形式结构为</a:t>
            </a:r>
            <a:r>
              <a:rPr lang="en-US" altLang="zh-CN" dirty="0">
                <a:latin typeface="Times New Roman" panose="02020603050405020304" pitchFamily="18" charset="0"/>
              </a:rPr>
              <a:t>:   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Symbol" panose="05050102010706020507" pitchFamily="18" charset="2"/>
              </a:rPr>
              <a:t>®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 err="1">
                <a:latin typeface="Symbol" panose="05050102010706020507" pitchFamily="18" charset="2"/>
              </a:rPr>
              <a:t>®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证明（用主析取范式法）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     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Symbol" panose="05050102010706020507" pitchFamily="18" charset="2"/>
              </a:rPr>
              <a:t>®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 err="1">
                <a:latin typeface="Symbol" panose="05050102010706020507" pitchFamily="18" charset="2"/>
              </a:rPr>
              <a:t>®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en-US" altLang="zh-CN" dirty="0">
                <a:latin typeface="Symbol" panose="05050102010706020507" pitchFamily="18" charset="2"/>
              </a:rPr>
              <a:t>Û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dirty="0" err="1">
                <a:latin typeface="Symbol" panose="05050102010706020507" pitchFamily="18" charset="2"/>
              </a:rPr>
              <a:t>Ø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Symbol" panose="05050102010706020507" pitchFamily="18" charset="2"/>
              </a:rPr>
              <a:t>Ú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 err="1">
                <a:latin typeface="Symbol" panose="05050102010706020507" pitchFamily="18" charset="2"/>
              </a:rPr>
              <a:t>®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en-US" altLang="zh-CN" dirty="0">
                <a:latin typeface="Symbol" panose="05050102010706020507" pitchFamily="18" charset="2"/>
              </a:rPr>
              <a:t>Û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Ø</a:t>
            </a:r>
            <a:r>
              <a:rPr lang="en-US" altLang="zh-CN" dirty="0">
                <a:latin typeface="Times New Roman" panose="02020603050405020304" pitchFamily="18" charset="0"/>
              </a:rPr>
              <a:t> ((</a:t>
            </a:r>
            <a:r>
              <a:rPr lang="en-US" altLang="zh-CN" dirty="0" err="1">
                <a:latin typeface="Symbol" panose="05050102010706020507" pitchFamily="18" charset="2"/>
              </a:rPr>
              <a:t>Ø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Symbol" panose="05050102010706020507" pitchFamily="18" charset="2"/>
              </a:rPr>
              <a:t>Ú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 err="1">
                <a:latin typeface="Symbol" panose="05050102010706020507" pitchFamily="18" charset="2"/>
              </a:rPr>
              <a:t>Ú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en-US" altLang="zh-CN" dirty="0">
                <a:latin typeface="Symbol" panose="05050102010706020507" pitchFamily="18" charset="2"/>
              </a:rPr>
              <a:t>Û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Symbol" panose="05050102010706020507" pitchFamily="18" charset="2"/>
              </a:rPr>
              <a:t>Ø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 err="1">
                <a:latin typeface="Symbol" panose="05050102010706020507" pitchFamily="18" charset="2"/>
              </a:rPr>
              <a:t>Ú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en-US" altLang="zh-CN" dirty="0">
                <a:latin typeface="Symbol" panose="05050102010706020507" pitchFamily="18" charset="2"/>
              </a:rPr>
              <a:t>Û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dirty="0" err="1">
                <a:latin typeface="Symbol" panose="05050102010706020507" pitchFamily="18" charset="2"/>
              </a:rPr>
              <a:t>Ø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Symbol" panose="05050102010706020507" pitchFamily="18" charset="2"/>
              </a:rPr>
              <a:t>ÙØ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Symbol" panose="05050102010706020507" pitchFamily="18" charset="2"/>
              </a:rPr>
              <a:t>Ú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Symbol" panose="05050102010706020507" pitchFamily="18" charset="2"/>
              </a:rPr>
              <a:t>ÙØ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Symbol" panose="05050102010706020507" pitchFamily="18" charset="2"/>
              </a:rPr>
              <a:t>Ú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Symbol" panose="05050102010706020507" pitchFamily="18" charset="2"/>
              </a:rPr>
              <a:t>ÙØ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Symbol" panose="05050102010706020507" pitchFamily="18" charset="2"/>
              </a:rPr>
              <a:t>Ú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p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q</a:t>
            </a:r>
            <a:r>
              <a:rPr lang="en-US" altLang="zh-CN" dirty="0">
                <a:latin typeface="Times New Roman" panose="02020603050405020304" pitchFamily="18" charset="0"/>
              </a:rPr>
              <a:t>)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en-US" altLang="zh-CN" dirty="0">
                <a:latin typeface="Symbol" panose="05050102010706020507" pitchFamily="18" charset="2"/>
              </a:rPr>
              <a:t>Û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-30000" dirty="0"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latin typeface="Symbol" panose="05050102010706020507" pitchFamily="18" charset="2"/>
              </a:rPr>
              <a:t>Ú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Symbol" panose="05050102010706020507" pitchFamily="18" charset="2"/>
              </a:rPr>
              <a:t>Ú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-30000" dirty="0">
                <a:latin typeface="Times New Roman" panose="02020603050405020304" pitchFamily="18" charset="0"/>
              </a:rPr>
              <a:t>3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zh-CN" altLang="en-US" dirty="0">
                <a:latin typeface="Times New Roman" panose="02020603050405020304" pitchFamily="18" charset="0"/>
              </a:rPr>
              <a:t>结果不含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dirty="0">
                <a:latin typeface="Times New Roman" panose="02020603050405020304" pitchFamily="18" charset="0"/>
              </a:rPr>
              <a:t>01</a:t>
            </a:r>
            <a:r>
              <a:rPr lang="zh-CN" altLang="en-US" dirty="0">
                <a:latin typeface="Times New Roman" panose="02020603050405020304" pitchFamily="18" charset="0"/>
              </a:rPr>
              <a:t>是成假赋值，所以推理不正确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6988"/>
            <a:ext cx="8229600" cy="1066801"/>
          </a:xfrm>
          <a:noFill/>
        </p:spPr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  推理定律</a:t>
            </a:r>
            <a:r>
              <a:rPr lang="en-US" altLang="zh-CN">
                <a:latin typeface="Times New Roman" panose="02020603050405020304" pitchFamily="18" charset="0"/>
              </a:rPr>
              <a:t>——</a:t>
            </a:r>
            <a:r>
              <a:rPr lang="zh-CN" altLang="en-US">
                <a:latin typeface="宋体" panose="02010600030101010101" pitchFamily="2" charset="-122"/>
              </a:rPr>
              <a:t>重言蕴涵式</a:t>
            </a:r>
            <a:r>
              <a:rPr lang="zh-CN" altLang="en-US" sz="400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4000"/>
              <a:t> 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073150"/>
            <a:ext cx="7851775" cy="475615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重要的推理定律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i="1" dirty="0">
                <a:latin typeface="Times New Roman" panose="02020603050405020304" pitchFamily="18" charset="0"/>
              </a:rPr>
              <a:t> 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Symbol" panose="05050102010706020507" pitchFamily="18" charset="2"/>
              </a:rPr>
              <a:t>Þ</a:t>
            </a:r>
            <a:r>
              <a:rPr lang="en-US" altLang="zh-CN" sz="2800" dirty="0">
                <a:latin typeface="Times New Roman" panose="02020603050405020304" pitchFamily="18" charset="0"/>
              </a:rPr>
              <a:t> 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Ú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)                            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附加律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) </a:t>
            </a:r>
            <a:r>
              <a:rPr lang="en-US" altLang="zh-CN" sz="2800" dirty="0">
                <a:latin typeface="Symbol" panose="05050102010706020507" pitchFamily="18" charset="2"/>
              </a:rPr>
              <a:t>Þ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        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化简律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Symbol" panose="05050102010706020507" pitchFamily="18" charset="2"/>
              </a:rPr>
              <a:t>Þ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  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假言推理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ÙØ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Symbol" panose="05050102010706020507" pitchFamily="18" charset="2"/>
              </a:rPr>
              <a:t>Þ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拒取式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Ú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ÙØ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Symbol" panose="05050102010706020507" pitchFamily="18" charset="2"/>
              </a:rPr>
              <a:t>Þ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析取三段论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</a:rPr>
              <a:t>) </a:t>
            </a:r>
            <a:r>
              <a:rPr lang="en-US" altLang="zh-CN" sz="2800" dirty="0">
                <a:latin typeface="Symbol" panose="05050102010706020507" pitchFamily="18" charset="2"/>
              </a:rPr>
              <a:t>Þ</a:t>
            </a:r>
            <a:r>
              <a:rPr lang="en-US" altLang="zh-CN" sz="2800" dirty="0">
                <a:latin typeface="Times New Roman" panose="02020603050405020304" pitchFamily="18" charset="0"/>
              </a:rPr>
              <a:t> 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</a:rPr>
              <a:t>)   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假言三段论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«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Symbol" panose="05050102010706020507" pitchFamily="18" charset="2"/>
              </a:rPr>
              <a:t>«</a:t>
            </a:r>
            <a:r>
              <a:rPr lang="en-US" altLang="zh-CN" sz="2800" i="1" dirty="0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</a:rPr>
              <a:t>) </a:t>
            </a:r>
            <a:r>
              <a:rPr lang="en-US" altLang="zh-CN" sz="2800" dirty="0">
                <a:latin typeface="Symbol" panose="05050102010706020507" pitchFamily="18" charset="2"/>
              </a:rPr>
              <a:t>Þ</a:t>
            </a:r>
            <a:r>
              <a:rPr lang="en-US" altLang="zh-CN" sz="2800" dirty="0">
                <a:latin typeface="Times New Roman" panose="02020603050405020304" pitchFamily="18" charset="0"/>
              </a:rPr>
              <a:t> 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«</a:t>
            </a:r>
            <a:r>
              <a:rPr lang="en-US" altLang="zh-CN" sz="2800" i="1" dirty="0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</a:rPr>
              <a:t>)  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等价三段论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Ú</a:t>
            </a:r>
            <a:r>
              <a:rPr lang="en-US" altLang="zh-CN" sz="2800" i="1" dirty="0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</a:rPr>
              <a:t>) </a:t>
            </a:r>
            <a:r>
              <a:rPr lang="en-US" altLang="zh-CN" sz="2800" dirty="0">
                <a:latin typeface="Symbol" panose="05050102010706020507" pitchFamily="18" charset="2"/>
              </a:rPr>
              <a:t>Þ</a:t>
            </a:r>
            <a:r>
              <a:rPr lang="en-US" altLang="zh-CN" sz="2800" dirty="0">
                <a:latin typeface="Times New Roman" panose="02020603050405020304" pitchFamily="18" charset="0"/>
              </a:rPr>
              <a:t> (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Symbol" panose="05050102010706020507" pitchFamily="18" charset="2"/>
              </a:rPr>
              <a:t>Ú</a:t>
            </a:r>
            <a:r>
              <a:rPr lang="en-US" altLang="zh-CN" sz="2800" i="1" dirty="0">
                <a:latin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</a:rPr>
              <a:t>)     </a:t>
            </a:r>
            <a:r>
              <a:rPr lang="zh-CN" altLang="en-US" sz="2800" dirty="0">
                <a:latin typeface="Times New Roman" panose="02020603050405020304" pitchFamily="18" charset="0"/>
              </a:rPr>
              <a:t>构造性二难 </a:t>
            </a: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762000"/>
          </a:xfrm>
          <a:noFill/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推理定律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续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44675"/>
            <a:ext cx="8005763" cy="1873250"/>
          </a:xfrm>
          <a:ln w="25400" cap="flat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) </a:t>
            </a:r>
            <a:r>
              <a:rPr lang="en-US" altLang="zh-CN" sz="2800" dirty="0">
                <a:latin typeface="Symbol" panose="05050102010706020507" pitchFamily="18" charset="2"/>
              </a:rPr>
              <a:t>Þ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     </a:t>
            </a:r>
            <a:r>
              <a:rPr lang="zh-CN" altLang="en-US" sz="2800" dirty="0">
                <a:latin typeface="Times New Roman" panose="02020603050405020304" pitchFamily="18" charset="0"/>
              </a:rPr>
              <a:t>构造性二难（特殊形式）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(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Symbol" panose="05050102010706020507" pitchFamily="18" charset="2"/>
              </a:rPr>
              <a:t>ÚØ</a:t>
            </a:r>
            <a:r>
              <a:rPr lang="en-US" altLang="zh-CN" sz="2800" i="1" dirty="0">
                <a:latin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</a:rPr>
              <a:t>) </a:t>
            </a:r>
            <a:r>
              <a:rPr lang="en-US" altLang="zh-CN" sz="2800" dirty="0">
                <a:latin typeface="Symbol" panose="05050102010706020507" pitchFamily="18" charset="2"/>
              </a:rPr>
              <a:t>Þ</a:t>
            </a:r>
            <a:r>
              <a:rPr lang="en-US" altLang="zh-CN" sz="2800" dirty="0">
                <a:latin typeface="Times New Roman" panose="02020603050405020304" pitchFamily="18" charset="0"/>
              </a:rPr>
              <a:t> (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Symbol" panose="05050102010706020507" pitchFamily="18" charset="2"/>
              </a:rPr>
              <a:t>ÚØ</a:t>
            </a:r>
            <a:r>
              <a:rPr lang="en-US" altLang="zh-CN" sz="2800" i="1" dirty="0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                    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破坏性二难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611188" y="4214813"/>
            <a:ext cx="7921625" cy="193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just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证明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——</a:t>
            </a:r>
            <a:r>
              <a:rPr lang="zh-CN" altLang="en-US" dirty="0">
                <a:latin typeface="+mn-ea"/>
                <a:ea typeface="+mn-ea"/>
              </a:rPr>
              <a:t>描述推理过程的命题公式序列，其中每个命题公式或者是已知的前提，或者是由前面的命题公式应用推理规则得到的结论</a:t>
            </a:r>
            <a:r>
              <a:rPr lang="en-US" dirty="0">
                <a:latin typeface="+mn-ea"/>
                <a:ea typeface="+mn-ea"/>
              </a:rPr>
              <a:t>.</a:t>
            </a:r>
            <a:endParaRPr lang="en-US" altLang="zh-CN" i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15888"/>
            <a:ext cx="8229600" cy="762000"/>
          </a:xfrm>
          <a:noFill/>
        </p:spPr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 推理规则</a:t>
            </a:r>
            <a:r>
              <a:rPr lang="zh-CN" altLang="en-US" sz="4000">
                <a:latin typeface="宋体" panose="02010600030101010101" pitchFamily="2" charset="-122"/>
              </a:rPr>
              <a:t> 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760413" y="1433513"/>
            <a:ext cx="3165475" cy="5159375"/>
            <a:chOff x="479" y="903"/>
            <a:chExt cx="1994" cy="3250"/>
          </a:xfrm>
          <a:solidFill>
            <a:schemeClr val="bg1"/>
          </a:solidFill>
        </p:grpSpPr>
        <p:sp>
          <p:nvSpPr>
            <p:cNvPr id="12298" name="Rectangle 4"/>
            <p:cNvSpPr>
              <a:spLocks noChangeArrowheads="1"/>
            </p:cNvSpPr>
            <p:nvPr/>
          </p:nvSpPr>
          <p:spPr bwMode="auto">
            <a:xfrm>
              <a:off x="479" y="903"/>
              <a:ext cx="1994" cy="3250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dirty="0"/>
                <a:t>(1) </a:t>
              </a:r>
              <a:r>
                <a:rPr lang="zh-CN" altLang="en-US" dirty="0"/>
                <a:t>前提引入规则</a:t>
              </a:r>
              <a:r>
                <a:rPr lang="en-US" altLang="zh-CN" dirty="0"/>
                <a:t>P</a:t>
              </a:r>
              <a:endParaRPr lang="zh-CN" altLang="en-US" dirty="0"/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dirty="0"/>
                <a:t>(2) </a:t>
              </a:r>
              <a:r>
                <a:rPr lang="zh-CN" altLang="en-US" dirty="0"/>
                <a:t>结论引入规则</a:t>
              </a:r>
              <a:r>
                <a:rPr lang="en-US" altLang="zh-CN" dirty="0"/>
                <a:t>T</a:t>
              </a:r>
              <a:endParaRPr lang="zh-CN" altLang="en-US" dirty="0"/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dirty="0"/>
                <a:t>(3) </a:t>
              </a:r>
              <a:r>
                <a:rPr lang="zh-CN" altLang="en-US" dirty="0"/>
                <a:t>置换规则</a:t>
              </a:r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dirty="0"/>
                <a:t>(4) </a:t>
              </a:r>
              <a:r>
                <a:rPr lang="zh-CN" altLang="en-US" dirty="0"/>
                <a:t>假言推理规则</a:t>
              </a:r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zh-CN" altLang="en-US" i="1" dirty="0"/>
                <a:t>            </a:t>
              </a:r>
              <a:r>
                <a:rPr lang="en-US" altLang="zh-CN" i="1" dirty="0"/>
                <a:t>A</a:t>
              </a:r>
              <a:r>
                <a:rPr lang="en-US" altLang="zh-CN" dirty="0">
                  <a:latin typeface="Symbol" pitchFamily="18" charset="2"/>
                </a:rPr>
                <a:t>®</a:t>
              </a:r>
              <a:r>
                <a:rPr lang="en-US" altLang="zh-CN" i="1" dirty="0"/>
                <a:t>B</a:t>
              </a:r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i="1" dirty="0"/>
                <a:t>            A</a:t>
              </a:r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i="1" dirty="0"/>
                <a:t>       </a:t>
              </a:r>
              <a:r>
                <a:rPr lang="en-US" altLang="zh-CN" dirty="0">
                  <a:latin typeface="Symbol" pitchFamily="18" charset="2"/>
                </a:rPr>
                <a:t>\</a:t>
              </a:r>
              <a:r>
                <a:rPr lang="en-US" altLang="zh-CN" i="1" dirty="0"/>
                <a:t> B</a:t>
              </a:r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dirty="0"/>
                <a:t>(5) </a:t>
              </a:r>
              <a:r>
                <a:rPr lang="zh-CN" altLang="en-US" dirty="0"/>
                <a:t>附加规则 </a:t>
              </a:r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zh-CN" altLang="en-US" dirty="0"/>
                <a:t>            </a:t>
              </a:r>
              <a:r>
                <a:rPr lang="en-US" altLang="zh-CN" i="1" dirty="0"/>
                <a:t>A</a:t>
              </a:r>
              <a:endParaRPr lang="en-US" altLang="zh-CN" dirty="0"/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dirty="0"/>
                <a:t>        </a:t>
              </a:r>
              <a:r>
                <a:rPr lang="en-US" altLang="zh-CN" dirty="0">
                  <a:latin typeface="Symbol" pitchFamily="18" charset="2"/>
                </a:rPr>
                <a:t>\</a:t>
              </a:r>
              <a:r>
                <a:rPr lang="en-US" altLang="zh-CN" i="1" dirty="0"/>
                <a:t>A</a:t>
              </a:r>
              <a:r>
                <a:rPr lang="en-US" altLang="zh-CN" dirty="0">
                  <a:latin typeface="Symbol" pitchFamily="18" charset="2"/>
                </a:rPr>
                <a:t>Ú</a:t>
              </a:r>
              <a:r>
                <a:rPr lang="en-US" altLang="zh-CN" i="1" dirty="0"/>
                <a:t>B</a:t>
              </a:r>
              <a:r>
                <a:rPr lang="en-US" altLang="zh-CN" dirty="0"/>
                <a:t> </a:t>
              </a:r>
              <a:r>
                <a:rPr lang="en-US" altLang="zh-CN" sz="1200" dirty="0"/>
                <a:t>                   </a:t>
              </a:r>
            </a:p>
          </p:txBody>
        </p:sp>
        <p:sp>
          <p:nvSpPr>
            <p:cNvPr id="12299" name="Line 5"/>
            <p:cNvSpPr>
              <a:spLocks noChangeShapeType="1"/>
            </p:cNvSpPr>
            <p:nvPr/>
          </p:nvSpPr>
          <p:spPr bwMode="auto">
            <a:xfrm>
              <a:off x="864" y="2880"/>
              <a:ext cx="1008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zh-CN" altLang="en-US"/>
            </a:p>
          </p:txBody>
        </p:sp>
        <p:sp>
          <p:nvSpPr>
            <p:cNvPr id="12300" name="Line 6"/>
            <p:cNvSpPr>
              <a:spLocks noChangeShapeType="1"/>
            </p:cNvSpPr>
            <p:nvPr/>
          </p:nvSpPr>
          <p:spPr bwMode="auto">
            <a:xfrm>
              <a:off x="912" y="3840"/>
              <a:ext cx="864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zh-CN" alt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418013" y="1423988"/>
            <a:ext cx="4422775" cy="5207000"/>
            <a:chOff x="2783" y="897"/>
            <a:chExt cx="2786" cy="3280"/>
          </a:xfrm>
          <a:solidFill>
            <a:schemeClr val="bg1"/>
          </a:solidFill>
        </p:grpSpPr>
        <p:sp>
          <p:nvSpPr>
            <p:cNvPr id="12294" name="Rectangle 8"/>
            <p:cNvSpPr>
              <a:spLocks noChangeArrowheads="1"/>
            </p:cNvSpPr>
            <p:nvPr/>
          </p:nvSpPr>
          <p:spPr bwMode="auto">
            <a:xfrm>
              <a:off x="2783" y="897"/>
              <a:ext cx="2786" cy="3280"/>
            </a:xfrm>
            <a:prstGeom prst="rect">
              <a:avLst/>
            </a:prstGeom>
            <a:grp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en-US" altLang="zh-CN"/>
                <a:t>(6) </a:t>
              </a:r>
              <a:r>
                <a:rPr lang="zh-CN" altLang="en-US"/>
                <a:t>化简规则 </a:t>
              </a:r>
            </a:p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zh-CN" altLang="en-US" i="1"/>
                <a:t>           </a:t>
              </a:r>
              <a:r>
                <a:rPr lang="en-US" altLang="zh-CN" i="1"/>
                <a:t>A</a:t>
              </a:r>
              <a:r>
                <a:rPr lang="en-US" altLang="zh-CN">
                  <a:latin typeface="Symbol" pitchFamily="18" charset="2"/>
                </a:rPr>
                <a:t>Ù</a:t>
              </a:r>
              <a:r>
                <a:rPr lang="en-US" altLang="zh-CN" i="1"/>
                <a:t>B</a:t>
              </a:r>
              <a:r>
                <a:rPr lang="en-US" altLang="zh-CN"/>
                <a:t> </a:t>
              </a:r>
            </a:p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en-US" altLang="zh-CN" i="1"/>
                <a:t>        </a:t>
              </a:r>
              <a:r>
                <a:rPr lang="en-US" altLang="zh-CN" i="1">
                  <a:latin typeface="Symbol" pitchFamily="18" charset="2"/>
                </a:rPr>
                <a:t>\</a:t>
              </a:r>
              <a:r>
                <a:rPr lang="en-US" altLang="zh-CN" i="1"/>
                <a:t>A </a:t>
              </a:r>
              <a:endParaRPr lang="en-US" altLang="zh-CN"/>
            </a:p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en-US" altLang="zh-CN"/>
                <a:t>(7) </a:t>
              </a:r>
              <a:r>
                <a:rPr lang="zh-CN" altLang="en-US"/>
                <a:t>拒取式规则 </a:t>
              </a:r>
            </a:p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zh-CN" altLang="en-US" i="1"/>
                <a:t>          </a:t>
              </a:r>
              <a:r>
                <a:rPr lang="en-US" altLang="zh-CN" i="1"/>
                <a:t>A</a:t>
              </a:r>
              <a:r>
                <a:rPr lang="en-US" altLang="zh-CN">
                  <a:latin typeface="Symbol" pitchFamily="18" charset="2"/>
                </a:rPr>
                <a:t>®</a:t>
              </a:r>
              <a:r>
                <a:rPr lang="en-US" altLang="zh-CN" i="1"/>
                <a:t>B</a:t>
              </a:r>
              <a:r>
                <a:rPr lang="en-US" altLang="zh-CN"/>
                <a:t> </a:t>
              </a:r>
            </a:p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en-US" altLang="zh-CN"/>
                <a:t>          </a:t>
              </a:r>
              <a:r>
                <a:rPr lang="en-US" altLang="zh-CN">
                  <a:latin typeface="Symbol" pitchFamily="18" charset="2"/>
                </a:rPr>
                <a:t>Ø</a:t>
              </a:r>
              <a:r>
                <a:rPr lang="en-US" altLang="zh-CN" i="1"/>
                <a:t>B</a:t>
              </a:r>
              <a:r>
                <a:rPr lang="en-US" altLang="zh-CN"/>
                <a:t> </a:t>
              </a:r>
            </a:p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en-US" altLang="zh-CN"/>
                <a:t>       </a:t>
              </a:r>
              <a:r>
                <a:rPr lang="en-US" altLang="zh-CN">
                  <a:latin typeface="Symbol" pitchFamily="18" charset="2"/>
                </a:rPr>
                <a:t>\Ø</a:t>
              </a:r>
              <a:r>
                <a:rPr lang="en-US" altLang="zh-CN" i="1"/>
                <a:t>A</a:t>
              </a:r>
            </a:p>
            <a:p>
              <a:pPr algn="just" eaLnBrk="1" hangingPunct="1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en-US" altLang="zh-CN"/>
                <a:t>(8) </a:t>
              </a:r>
              <a:r>
                <a:rPr lang="zh-CN" altLang="en-US"/>
                <a:t>假言三段论规则</a:t>
              </a:r>
            </a:p>
            <a:p>
              <a:pPr algn="just" eaLnBrk="1" hangingPunct="1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zh-CN" altLang="en-US"/>
                <a:t>           </a:t>
              </a:r>
              <a:r>
                <a:rPr lang="en-US" altLang="zh-CN" i="1"/>
                <a:t>A</a:t>
              </a:r>
              <a:r>
                <a:rPr lang="en-US" altLang="zh-CN">
                  <a:latin typeface="Symbol" pitchFamily="18" charset="2"/>
                </a:rPr>
                <a:t>®</a:t>
              </a:r>
              <a:r>
                <a:rPr lang="en-US" altLang="zh-CN" i="1"/>
                <a:t>B</a:t>
              </a:r>
              <a:endParaRPr lang="en-US" altLang="zh-CN"/>
            </a:p>
            <a:p>
              <a:pPr algn="just" eaLnBrk="1" hangingPunct="1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en-US" altLang="zh-CN"/>
                <a:t>           </a:t>
              </a:r>
              <a:r>
                <a:rPr lang="en-US" altLang="zh-CN" i="1"/>
                <a:t>B</a:t>
              </a:r>
              <a:r>
                <a:rPr lang="en-US" altLang="zh-CN">
                  <a:latin typeface="Symbol" pitchFamily="18" charset="2"/>
                </a:rPr>
                <a:t>®</a:t>
              </a:r>
              <a:r>
                <a:rPr lang="en-US" altLang="zh-CN" i="1"/>
                <a:t>C</a:t>
              </a:r>
              <a:r>
                <a:rPr lang="en-US" altLang="zh-CN" u="sng"/>
                <a:t> </a:t>
              </a:r>
              <a:endParaRPr lang="en-US" altLang="zh-CN"/>
            </a:p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defRPr/>
              </a:pPr>
              <a:r>
                <a:rPr lang="en-US" altLang="zh-CN"/>
                <a:t>       </a:t>
              </a:r>
              <a:r>
                <a:rPr lang="en-US" altLang="zh-CN">
                  <a:latin typeface="Symbol" pitchFamily="18" charset="2"/>
                </a:rPr>
                <a:t>\</a:t>
              </a:r>
              <a:r>
                <a:rPr lang="en-US" altLang="zh-CN" i="1"/>
                <a:t>A</a:t>
              </a:r>
              <a:r>
                <a:rPr lang="en-US" altLang="zh-CN">
                  <a:latin typeface="Symbol" pitchFamily="18" charset="2"/>
                </a:rPr>
                <a:t>®</a:t>
              </a:r>
              <a:r>
                <a:rPr lang="en-US" altLang="zh-CN" i="1"/>
                <a:t>C</a:t>
              </a:r>
              <a:r>
                <a:rPr lang="en-US" altLang="zh-CN"/>
                <a:t> </a:t>
              </a:r>
            </a:p>
          </p:txBody>
        </p:sp>
        <p:sp>
          <p:nvSpPr>
            <p:cNvPr id="12295" name="Line 9"/>
            <p:cNvSpPr>
              <a:spLocks noChangeShapeType="1"/>
            </p:cNvSpPr>
            <p:nvPr/>
          </p:nvSpPr>
          <p:spPr bwMode="auto">
            <a:xfrm>
              <a:off x="3168" y="1522"/>
              <a:ext cx="960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zh-CN" altLang="en-US"/>
            </a:p>
          </p:txBody>
        </p:sp>
        <p:sp>
          <p:nvSpPr>
            <p:cNvPr id="12296" name="Line 10"/>
            <p:cNvSpPr>
              <a:spLocks noChangeShapeType="1"/>
            </p:cNvSpPr>
            <p:nvPr/>
          </p:nvSpPr>
          <p:spPr bwMode="auto">
            <a:xfrm>
              <a:off x="3120" y="2722"/>
              <a:ext cx="1104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zh-CN" altLang="en-US"/>
            </a:p>
          </p:txBody>
        </p:sp>
        <p:sp>
          <p:nvSpPr>
            <p:cNvPr id="12297" name="Line 11"/>
            <p:cNvSpPr>
              <a:spLocks noChangeShapeType="1"/>
            </p:cNvSpPr>
            <p:nvPr/>
          </p:nvSpPr>
          <p:spPr bwMode="auto">
            <a:xfrm>
              <a:off x="3168" y="3874"/>
              <a:ext cx="1056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defRPr/>
              </a:pPr>
              <a:endParaRPr lang="zh-CN" altLang="en-US"/>
            </a:p>
          </p:txBody>
        </p:sp>
      </p:grp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88913"/>
            <a:ext cx="8229600" cy="685800"/>
          </a:xfrm>
          <a:noFill/>
        </p:spPr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  推理规则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zh-CN" altLang="en-US">
                <a:latin typeface="宋体" panose="02010600030101010101" pitchFamily="2" charset="-122"/>
              </a:rPr>
              <a:t>续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</a:p>
        </p:txBody>
      </p:sp>
      <p:grpSp>
        <p:nvGrpSpPr>
          <p:cNvPr id="43011" name="Group 7"/>
          <p:cNvGrpSpPr>
            <a:grpSpLocks/>
          </p:cNvGrpSpPr>
          <p:nvPr/>
        </p:nvGrpSpPr>
        <p:grpSpPr bwMode="auto">
          <a:xfrm>
            <a:off x="4714875" y="1374775"/>
            <a:ext cx="3743325" cy="5073650"/>
            <a:chOff x="2970" y="866"/>
            <a:chExt cx="2358" cy="3196"/>
          </a:xfrm>
        </p:grpSpPr>
        <p:sp>
          <p:nvSpPr>
            <p:cNvPr id="43016" name="Rectangle 4"/>
            <p:cNvSpPr>
              <a:spLocks noChangeArrowheads="1"/>
            </p:cNvSpPr>
            <p:nvPr/>
          </p:nvSpPr>
          <p:spPr bwMode="auto">
            <a:xfrm>
              <a:off x="2970" y="866"/>
              <a:ext cx="2358" cy="319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400" b="1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45000"/>
                </a:spcBef>
                <a:buClr>
                  <a:srgbClr val="99CCCC"/>
                </a:buClr>
                <a:buChar char="–"/>
                <a:defRPr kumimoji="1" sz="2400" b="1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45000"/>
                </a:spcBef>
                <a:buClr>
                  <a:srgbClr val="99CCCC"/>
                </a:buClr>
                <a:buChar char="•"/>
                <a:defRPr kumimoji="1" sz="2400" b="1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45000"/>
                </a:spcBef>
                <a:buClr>
                  <a:srgbClr val="99CCCC"/>
                </a:buClr>
                <a:buChar char="–"/>
                <a:defRPr kumimoji="1" sz="2400" b="1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C2B515"/>
                </a:buClr>
                <a:buChar char="»"/>
                <a:defRPr kumimoji="1" sz="200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2B515"/>
                </a:buClr>
                <a:buChar char="»"/>
                <a:defRPr kumimoji="1" sz="200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2B515"/>
                </a:buClr>
                <a:buChar char="»"/>
                <a:defRPr kumimoji="1" sz="200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2B515"/>
                </a:buClr>
                <a:buChar char="»"/>
                <a:defRPr kumimoji="1" sz="200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2B515"/>
                </a:buClr>
                <a:buChar char="»"/>
                <a:defRPr kumimoji="1" sz="200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just"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(11) 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破坏性二难推理规则               </a:t>
              </a:r>
            </a:p>
            <a:p>
              <a:pPr algn="just"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8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®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8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®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</a:t>
              </a:r>
              <a:r>
                <a:rPr lang="en-US" altLang="zh-CN" sz="28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Ø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8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ÚØ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  <a:p>
              <a:pPr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</a:t>
              </a:r>
              <a:r>
                <a:rPr lang="en-US" altLang="zh-CN" sz="28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\Ø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8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ÚØ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  <a:p>
              <a:pPr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(12) 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合取引入规则</a:t>
              </a:r>
            </a:p>
            <a:p>
              <a:pPr algn="just"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</a:t>
              </a:r>
              <a:r>
                <a:rPr lang="en-US" altLang="zh-CN" sz="28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\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8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Ù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43017" name="Line 5"/>
            <p:cNvSpPr>
              <a:spLocks noChangeShapeType="1"/>
            </p:cNvSpPr>
            <p:nvPr/>
          </p:nvSpPr>
          <p:spPr bwMode="auto">
            <a:xfrm>
              <a:off x="3360" y="2478"/>
              <a:ext cx="13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8" name="Line 6"/>
            <p:cNvSpPr>
              <a:spLocks noChangeShapeType="1"/>
            </p:cNvSpPr>
            <p:nvPr/>
          </p:nvSpPr>
          <p:spPr bwMode="auto">
            <a:xfrm>
              <a:off x="3312" y="3748"/>
              <a:ext cx="11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3012" name="Group 11"/>
          <p:cNvGrpSpPr>
            <a:grpSpLocks/>
          </p:cNvGrpSpPr>
          <p:nvPr/>
        </p:nvGrpSpPr>
        <p:grpSpPr bwMode="auto">
          <a:xfrm>
            <a:off x="684213" y="1398588"/>
            <a:ext cx="3432175" cy="5073650"/>
            <a:chOff x="431" y="881"/>
            <a:chExt cx="2162" cy="3196"/>
          </a:xfrm>
        </p:grpSpPr>
        <p:sp>
          <p:nvSpPr>
            <p:cNvPr id="43013" name="Rectangle 8"/>
            <p:cNvSpPr>
              <a:spLocks noChangeArrowheads="1"/>
            </p:cNvSpPr>
            <p:nvPr/>
          </p:nvSpPr>
          <p:spPr bwMode="auto">
            <a:xfrm>
              <a:off x="431" y="881"/>
              <a:ext cx="2162" cy="319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45000"/>
                </a:spcBef>
                <a:buClr>
                  <a:srgbClr val="99CCCC"/>
                </a:buClr>
                <a:buFont typeface="Wingdings" panose="05000000000000000000" pitchFamily="2" charset="2"/>
                <a:buChar char="q"/>
                <a:defRPr kumimoji="1" sz="2400" b="1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45000"/>
                </a:spcBef>
                <a:buClr>
                  <a:srgbClr val="99CCCC"/>
                </a:buClr>
                <a:buChar char="–"/>
                <a:defRPr kumimoji="1" sz="2400" b="1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45000"/>
                </a:spcBef>
                <a:buClr>
                  <a:srgbClr val="99CCCC"/>
                </a:buClr>
                <a:buChar char="•"/>
                <a:defRPr kumimoji="1" sz="2400" b="1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45000"/>
                </a:spcBef>
                <a:buClr>
                  <a:srgbClr val="99CCCC"/>
                </a:buClr>
                <a:buChar char="–"/>
                <a:defRPr kumimoji="1" sz="2400" b="1">
                  <a:solidFill>
                    <a:srgbClr val="FFFFFF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C2B515"/>
                </a:buClr>
                <a:buChar char="»"/>
                <a:defRPr kumimoji="1" sz="200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2B515"/>
                </a:buClr>
                <a:buChar char="»"/>
                <a:defRPr kumimoji="1" sz="200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2B515"/>
                </a:buClr>
                <a:buChar char="»"/>
                <a:defRPr kumimoji="1" sz="200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2B515"/>
                </a:buClr>
                <a:buChar char="»"/>
                <a:defRPr kumimoji="1" sz="200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2B515"/>
                </a:buClr>
                <a:buChar char="»"/>
                <a:defRPr kumimoji="1" sz="2000">
                  <a:solidFill>
                    <a:srgbClr val="FFFF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just"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(9) 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析取三段论规则</a:t>
              </a:r>
            </a:p>
            <a:p>
              <a:pPr algn="just"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8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Ú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</a:t>
              </a:r>
              <a:r>
                <a:rPr lang="en-US" altLang="zh-CN" sz="28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Ø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800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endPara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</a:t>
              </a:r>
              <a:r>
                <a:rPr lang="en-US" altLang="zh-CN" sz="28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\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(10)</a:t>
              </a: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构造性二难推理规则</a:t>
              </a:r>
            </a:p>
            <a:p>
              <a:pPr algn="just"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8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®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8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®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8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Ú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800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lang="en-US" altLang="zh-CN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just" eaLnBrk="1" hangingPunct="1">
                <a:spcBef>
                  <a:spcPct val="2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</a:t>
              </a:r>
              <a:r>
                <a:rPr lang="en-US" altLang="zh-CN" sz="28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\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r>
                <a:rPr lang="en-US" altLang="zh-CN" sz="2800">
                  <a:solidFill>
                    <a:schemeClr val="tx1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Ú</a:t>
              </a:r>
              <a:r>
                <a:rPr lang="en-US" altLang="zh-CN" sz="28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43014" name="Line 9"/>
            <p:cNvSpPr>
              <a:spLocks noChangeShapeType="1"/>
            </p:cNvSpPr>
            <p:nvPr/>
          </p:nvSpPr>
          <p:spPr bwMode="auto">
            <a:xfrm>
              <a:off x="1056" y="1872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15" name="Line 10"/>
            <p:cNvSpPr>
              <a:spLocks noChangeShapeType="1"/>
            </p:cNvSpPr>
            <p:nvPr/>
          </p:nvSpPr>
          <p:spPr bwMode="auto">
            <a:xfrm>
              <a:off x="1008" y="3744"/>
              <a:ext cx="10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6988"/>
            <a:ext cx="8229600" cy="1219201"/>
          </a:xfrm>
          <a:noFill/>
        </p:spPr>
        <p:txBody>
          <a:bodyPr/>
          <a:lstStyle/>
          <a:p>
            <a:pPr eaLnBrk="1" hangingPunct="1"/>
            <a:r>
              <a:rPr lang="zh-CN" altLang="en-US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>
                <a:latin typeface="宋体" panose="02010600030101010101" pitchFamily="2" charset="-122"/>
              </a:rPr>
              <a:t>直接证明法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287462"/>
            <a:ext cx="7707313" cy="502185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例 构造下面推理的证明：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若明天是星期一或星期三，我就有课</a:t>
            </a:r>
            <a:r>
              <a:rPr lang="en-US" altLang="zh-CN" sz="2800" dirty="0">
                <a:latin typeface="Times New Roman" panose="02020603050405020304" pitchFamily="18" charset="0"/>
              </a:rPr>
              <a:t>. </a:t>
            </a:r>
            <a:r>
              <a:rPr lang="zh-CN" altLang="en-US" sz="2800" dirty="0">
                <a:latin typeface="Times New Roman" panose="02020603050405020304" pitchFamily="18" charset="0"/>
              </a:rPr>
              <a:t>若有课，今天必备课</a:t>
            </a:r>
            <a:r>
              <a:rPr lang="en-US" altLang="zh-CN" sz="2800" dirty="0">
                <a:latin typeface="Times New Roman" panose="02020603050405020304" pitchFamily="18" charset="0"/>
              </a:rPr>
              <a:t>. </a:t>
            </a:r>
            <a:r>
              <a:rPr lang="zh-CN" altLang="en-US" sz="2800" dirty="0">
                <a:latin typeface="Times New Roman" panose="02020603050405020304" pitchFamily="18" charset="0"/>
              </a:rPr>
              <a:t>我今天没备课</a:t>
            </a:r>
            <a:r>
              <a:rPr lang="en-US" altLang="zh-CN" sz="2800" dirty="0">
                <a:latin typeface="Times New Roman" panose="02020603050405020304" pitchFamily="18" charset="0"/>
              </a:rPr>
              <a:t>. </a:t>
            </a:r>
            <a:r>
              <a:rPr lang="zh-CN" altLang="en-US" sz="2800" dirty="0">
                <a:latin typeface="Times New Roman" panose="02020603050405020304" pitchFamily="18" charset="0"/>
              </a:rPr>
              <a:t>所以，明天不是星期一和星期三</a:t>
            </a:r>
            <a:r>
              <a:rPr lang="en-US" altLang="zh-CN" sz="2800" dirty="0">
                <a:latin typeface="Times New Roman" panose="02020603050405020304" pitchFamily="18" charset="0"/>
              </a:rPr>
              <a:t>.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解  设 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</a:rPr>
              <a:t>：明天是星期一，</a:t>
            </a:r>
            <a:r>
              <a:rPr lang="en-US" altLang="zh-CN" sz="2800" i="1" dirty="0"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</a:rPr>
              <a:t>：明天是星期三，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       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</a:rPr>
              <a:t>：我有课，</a:t>
            </a:r>
            <a:r>
              <a:rPr lang="en-US" altLang="zh-CN" sz="2800" i="1" dirty="0">
                <a:latin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</a:rPr>
              <a:t>：我备课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推理的形式结构为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 前提：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Ú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</a:rPr>
              <a:t>,  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dirty="0" err="1">
                <a:latin typeface="Symbol" panose="05050102010706020507" pitchFamily="18" charset="2"/>
              </a:rPr>
              <a:t>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,  </a:t>
            </a:r>
            <a:r>
              <a:rPr lang="en-US" altLang="zh-CN" sz="2800" dirty="0" err="1">
                <a:latin typeface="Symbol" panose="05050102010706020507" pitchFamily="18" charset="2"/>
              </a:rPr>
              <a:t>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s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</a:t>
            </a:r>
            <a:r>
              <a:rPr lang="zh-CN" altLang="en-US" sz="2800" dirty="0">
                <a:latin typeface="Times New Roman" panose="02020603050405020304" pitchFamily="18" charset="0"/>
              </a:rPr>
              <a:t>结论：</a:t>
            </a:r>
            <a:r>
              <a:rPr lang="en-US" altLang="zh-CN" sz="2800" dirty="0" err="1">
                <a:latin typeface="Symbol" panose="05050102010706020507" pitchFamily="18" charset="2"/>
              </a:rPr>
              <a:t>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ÙØ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920750" y="-100013"/>
            <a:ext cx="8229600" cy="1295401"/>
          </a:xfrm>
          <a:noFill/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直接证明法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续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4063" y="1484313"/>
            <a:ext cx="7635875" cy="4680991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证明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① 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dirty="0" err="1">
                <a:latin typeface="Symbol" panose="05050102010706020507" pitchFamily="18" charset="2"/>
              </a:rPr>
              <a:t>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P</a:t>
            </a:r>
            <a:r>
              <a:rPr lang="zh-CN" altLang="en-US" sz="2800" dirty="0">
                <a:latin typeface="Times New Roman" panose="02020603050405020304" pitchFamily="18" charset="0"/>
              </a:rPr>
              <a:t>前提引入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② </a:t>
            </a:r>
            <a:r>
              <a:rPr lang="en-US" altLang="zh-CN" sz="2800" dirty="0" err="1">
                <a:latin typeface="Symbol" panose="05050102010706020507" pitchFamily="18" charset="2"/>
              </a:rPr>
              <a:t>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 P</a:t>
            </a:r>
            <a:r>
              <a:rPr lang="zh-CN" altLang="en-US" sz="2800" dirty="0">
                <a:latin typeface="Times New Roman" panose="02020603050405020304" pitchFamily="18" charset="0"/>
              </a:rPr>
              <a:t>前提引入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③ </a:t>
            </a:r>
            <a:r>
              <a:rPr lang="en-US" altLang="zh-CN" sz="2800" dirty="0" err="1">
                <a:latin typeface="Symbol" panose="05050102010706020507" pitchFamily="18" charset="2"/>
              </a:rPr>
              <a:t>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 T①②</a:t>
            </a:r>
            <a:r>
              <a:rPr lang="zh-CN" altLang="en-US" sz="2800" dirty="0">
                <a:latin typeface="Times New Roman" panose="02020603050405020304" pitchFamily="18" charset="0"/>
              </a:rPr>
              <a:t>拒取式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④ 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Ú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P</a:t>
            </a:r>
            <a:r>
              <a:rPr lang="zh-CN" altLang="en-US" sz="2800" dirty="0">
                <a:latin typeface="Times New Roman" panose="02020603050405020304" pitchFamily="18" charset="0"/>
              </a:rPr>
              <a:t>前提引入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⑤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Ú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)              T③④</a:t>
            </a:r>
            <a:r>
              <a:rPr lang="zh-CN" altLang="en-US" sz="2800" dirty="0">
                <a:latin typeface="Times New Roman" panose="02020603050405020304" pitchFamily="18" charset="0"/>
              </a:rPr>
              <a:t>拒取式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⑥ </a:t>
            </a:r>
            <a:r>
              <a:rPr lang="en-US" altLang="zh-CN" sz="2800" dirty="0" err="1">
                <a:latin typeface="Symbol" panose="05050102010706020507" pitchFamily="18" charset="2"/>
              </a:rPr>
              <a:t>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ÙØ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T⑤</a:t>
            </a:r>
            <a:r>
              <a:rPr lang="zh-CN" altLang="en-US" sz="2800" dirty="0">
                <a:latin typeface="Times New Roman" panose="02020603050405020304" pitchFamily="18" charset="0"/>
              </a:rPr>
              <a:t>置换 </a:t>
            </a:r>
          </a:p>
        </p:txBody>
      </p:sp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34925"/>
            <a:ext cx="8229600" cy="914400"/>
          </a:xfrm>
          <a:noFill/>
        </p:spPr>
        <p:txBody>
          <a:bodyPr/>
          <a:lstStyle/>
          <a:p>
            <a:pPr eaLnBrk="1" hangingPunct="1"/>
            <a:r>
              <a:rPr lang="zh-CN" altLang="en-US" sz="4000" dirty="0">
                <a:latin typeface="宋体" panose="02010600030101010101" pitchFamily="2" charset="-122"/>
              </a:rPr>
              <a:t> 附加前提证明法</a:t>
            </a:r>
            <a:r>
              <a:rPr lang="en-US" altLang="zh-CN" sz="4000" dirty="0">
                <a:latin typeface="宋体" panose="02010600030101010101" pitchFamily="2" charset="-122"/>
              </a:rPr>
              <a:t>(CP</a:t>
            </a:r>
            <a:r>
              <a:rPr lang="zh-CN" altLang="en-US" sz="4000" dirty="0">
                <a:latin typeface="宋体" panose="02010600030101010101" pitchFamily="2" charset="-122"/>
              </a:rPr>
              <a:t>规则） 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050925"/>
            <a:ext cx="7704137" cy="5229225"/>
          </a:xfrm>
          <a:noFill/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欲证明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前提：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k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</a:rPr>
              <a:t>结论：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Symbol" panose="05050102010706020507" pitchFamily="18" charset="2"/>
              </a:rPr>
              <a:t>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等价地证明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前提：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</a:rPr>
              <a:t>结论：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 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理由：      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Symbol" panose="05050102010706020507" pitchFamily="18" charset="2"/>
              </a:rPr>
              <a:t>®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Symbol" panose="05050102010706020507" pitchFamily="18" charset="2"/>
              </a:rPr>
              <a:t>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      </a:t>
            </a:r>
            <a:r>
              <a:rPr lang="en-US" altLang="zh-CN" dirty="0">
                <a:latin typeface="Symbol" panose="05050102010706020507" pitchFamily="18" charset="2"/>
              </a:rPr>
              <a:t>Û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Ø</a:t>
            </a:r>
            <a:r>
              <a:rPr lang="en-US" altLang="zh-CN" dirty="0"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Symbol" panose="05050102010706020507" pitchFamily="18" charset="2"/>
              </a:rPr>
              <a:t>Ú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dirty="0">
                <a:latin typeface="Symbol" panose="05050102010706020507" pitchFamily="18" charset="2"/>
              </a:rPr>
              <a:t>Ø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Symbol" panose="05050102010706020507" pitchFamily="18" charset="2"/>
              </a:rPr>
              <a:t>Ú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      </a:t>
            </a:r>
            <a:r>
              <a:rPr lang="en-US" altLang="zh-CN" dirty="0">
                <a:latin typeface="Symbol" panose="05050102010706020507" pitchFamily="18" charset="2"/>
              </a:rPr>
              <a:t>Û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Ø</a:t>
            </a:r>
            <a:r>
              <a:rPr lang="en-US" altLang="zh-CN" dirty="0">
                <a:latin typeface="Times New Roman" panose="02020603050405020304" pitchFamily="18" charset="0"/>
              </a:rPr>
              <a:t>(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Symbol" panose="05050102010706020507" pitchFamily="18" charset="2"/>
              </a:rPr>
              <a:t>Ú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      </a:t>
            </a:r>
            <a:r>
              <a:rPr lang="en-US" altLang="zh-CN" dirty="0">
                <a:latin typeface="Symbol" panose="05050102010706020507" pitchFamily="18" charset="2"/>
              </a:rPr>
              <a:t>Û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C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Symbol" panose="05050102010706020507" pitchFamily="18" charset="2"/>
              </a:rPr>
              <a:t>®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</a:p>
        </p:txBody>
      </p:sp>
    </p:spTree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-20638"/>
            <a:ext cx="8229600" cy="990601"/>
          </a:xfrm>
          <a:noFill/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附加前提证明法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续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6581775"/>
            <a:ext cx="7848600" cy="276225"/>
          </a:xfrm>
          <a:noFill/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1753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85234" y="1229380"/>
            <a:ext cx="7927975" cy="4838890"/>
          </a:xfrm>
          <a:prstGeom prst="rect">
            <a:avLst/>
          </a:prstGeom>
          <a:blipFill>
            <a:blip r:embed="rId3"/>
            <a:stretch>
              <a:fillRect l="-1537" t="-2648" b="-3783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-26988"/>
            <a:ext cx="8229600" cy="990601"/>
          </a:xfrm>
          <a:noFill/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    附加前提证明法 </a:t>
            </a:r>
            <a:r>
              <a:rPr lang="en-US" altLang="zh-CN">
                <a:latin typeface="Times New Roman" panose="02020603050405020304" pitchFamily="18" charset="0"/>
              </a:rPr>
              <a:t>(</a:t>
            </a:r>
            <a:r>
              <a:rPr lang="zh-CN" altLang="en-US">
                <a:latin typeface="Times New Roman" panose="02020603050405020304" pitchFamily="18" charset="0"/>
              </a:rPr>
              <a:t>续</a:t>
            </a:r>
            <a:r>
              <a:rPr lang="en-US" altLang="zh-CN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960922"/>
            <a:ext cx="7780338" cy="4346575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证明 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① </a:t>
            </a:r>
            <a:r>
              <a:rPr lang="en-US" altLang="zh-CN" sz="2800" i="1" dirty="0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  P(</a:t>
            </a:r>
            <a:r>
              <a:rPr lang="zh-CN" altLang="en-US" sz="2800" dirty="0">
                <a:latin typeface="Times New Roman" panose="02020603050405020304" pitchFamily="18" charset="0"/>
              </a:rPr>
              <a:t>附加前提引入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② 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P </a:t>
            </a:r>
            <a:r>
              <a:rPr lang="zh-CN" altLang="en-US" sz="2800" dirty="0">
                <a:latin typeface="Times New Roman" panose="02020603050405020304" pitchFamily="18" charset="0"/>
              </a:rPr>
              <a:t>前提引入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③ 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dirty="0" err="1">
                <a:latin typeface="Symbol" panose="05050102010706020507" pitchFamily="18" charset="2"/>
              </a:rPr>
              <a:t>®Ø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P</a:t>
            </a:r>
            <a:r>
              <a:rPr lang="zh-CN" altLang="en-US" sz="2800" dirty="0">
                <a:latin typeface="Times New Roman" panose="02020603050405020304" pitchFamily="18" charset="0"/>
              </a:rPr>
              <a:t>前提引入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④ 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®Ø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T②③</a:t>
            </a:r>
            <a:r>
              <a:rPr lang="zh-CN" altLang="en-US" sz="2800" dirty="0">
                <a:latin typeface="Times New Roman" panose="02020603050405020304" pitchFamily="18" charset="0"/>
              </a:rPr>
              <a:t>假言三段论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⑤ </a:t>
            </a:r>
            <a:r>
              <a:rPr lang="en-US" altLang="zh-CN" sz="2800" dirty="0" err="1">
                <a:latin typeface="Symbol" panose="05050102010706020507" pitchFamily="18" charset="2"/>
              </a:rPr>
              <a:t>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T①④</a:t>
            </a:r>
            <a:r>
              <a:rPr lang="zh-CN" altLang="en-US" sz="2800" dirty="0">
                <a:latin typeface="Times New Roman" panose="02020603050405020304" pitchFamily="18" charset="0"/>
              </a:rPr>
              <a:t>拒取式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⑥ 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Ú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P</a:t>
            </a:r>
            <a:r>
              <a:rPr lang="zh-CN" altLang="en-US" sz="2800" dirty="0">
                <a:latin typeface="Times New Roman" panose="02020603050405020304" pitchFamily="18" charset="0"/>
              </a:rPr>
              <a:t>前提引入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⑦ </a:t>
            </a:r>
            <a:r>
              <a:rPr lang="en-US" altLang="zh-CN" sz="2800" i="1" dirty="0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   T⑤⑥</a:t>
            </a:r>
            <a:r>
              <a:rPr lang="zh-CN" altLang="en-US" sz="2800" dirty="0">
                <a:latin typeface="Times New Roman" panose="02020603050405020304" pitchFamily="18" charset="0"/>
              </a:rPr>
              <a:t>析取三段论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3200" dirty="0">
                <a:latin typeface="Times New Roman" panose="02020603050405020304" pitchFamily="18" charset="0"/>
                <a:sym typeface="Wingdings" panose="05000000000000000000" pitchFamily="2" charset="2"/>
              </a:rPr>
              <a:t>  </a:t>
            </a:r>
            <a:r>
              <a:rPr lang="en-US" altLang="zh-CN" sz="2800" dirty="0">
                <a:latin typeface="Times New Roman" panose="02020603050405020304" pitchFamily="18" charset="0"/>
                <a:sym typeface="Wingdings" panose="05000000000000000000" pitchFamily="2" charset="2"/>
              </a:rPr>
              <a:t>s</a:t>
            </a:r>
            <a:r>
              <a:rPr lang="en-US" altLang="zh-CN" sz="2800" dirty="0">
                <a:latin typeface="Symbol" panose="05050102010706020507" pitchFamily="18" charset="2"/>
              </a:rPr>
              <a:t>® </a:t>
            </a:r>
            <a:r>
              <a:rPr lang="en-US" altLang="zh-CN" sz="2800" i="1" dirty="0">
                <a:latin typeface="Times New Roman" panose="02020603050405020304" pitchFamily="18" charset="0"/>
              </a:rPr>
              <a:t>q                  </a:t>
            </a:r>
            <a:r>
              <a:rPr lang="en-US" altLang="zh-CN" sz="2800" dirty="0">
                <a:latin typeface="Times New Roman" panose="02020603050405020304" pitchFamily="18" charset="0"/>
              </a:rPr>
              <a:t>CP</a:t>
            </a:r>
            <a:r>
              <a:rPr lang="zh-CN" altLang="en-US" sz="2800" dirty="0">
                <a:latin typeface="Times New Roman" panose="02020603050405020304" pitchFamily="18" charset="0"/>
              </a:rPr>
              <a:t> ① ⑦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请用直接证明法证明之 </a:t>
            </a:r>
          </a:p>
        </p:txBody>
      </p:sp>
    </p:spTree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-100013"/>
            <a:ext cx="8686800" cy="990601"/>
          </a:xfrm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反证法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归谬法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sz="40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981075"/>
            <a:ext cx="7921625" cy="4824413"/>
          </a:xfrm>
          <a:noFill/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欲证明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前提：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 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baseline="-30000" dirty="0">
                <a:latin typeface="Times New Roman" panose="02020603050405020304" pitchFamily="18" charset="0"/>
              </a:rPr>
              <a:t>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</a:rPr>
              <a:t>结论：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将</a:t>
            </a:r>
            <a:r>
              <a:rPr lang="en-US" altLang="zh-CN" dirty="0">
                <a:latin typeface="Symbol" panose="05050102010706020507" pitchFamily="18" charset="2"/>
              </a:rPr>
              <a:t>Ø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加入前提，若推出矛盾，则得证推理正确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理由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   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Symbol" panose="05050102010706020507" pitchFamily="18" charset="2"/>
              </a:rPr>
              <a:t>®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en-US" altLang="zh-CN" dirty="0">
                <a:latin typeface="Symbol" panose="05050102010706020507" pitchFamily="18" charset="2"/>
              </a:rPr>
              <a:t>Û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Ø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Symbol" panose="05050102010706020507" pitchFamily="18" charset="2"/>
              </a:rPr>
              <a:t>Ú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</a:t>
            </a:r>
            <a:r>
              <a:rPr lang="en-US" altLang="zh-CN" dirty="0">
                <a:latin typeface="Symbol" panose="05050102010706020507" pitchFamily="18" charset="2"/>
              </a:rPr>
              <a:t>Û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Symbol" panose="05050102010706020507" pitchFamily="18" charset="2"/>
              </a:rPr>
              <a:t>Ø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Symbol" panose="05050102010706020507" pitchFamily="18" charset="2"/>
              </a:rPr>
              <a:t>ÙØ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括号内部为矛盾式当且仅当 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Symbol" panose="05050102010706020507" pitchFamily="18" charset="2"/>
              </a:rPr>
              <a:t>®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为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重言式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Symbol" panose="05050102010706020507" pitchFamily="18" charset="2"/>
              </a:rPr>
              <a:t>ÙØ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为矛盾式 </a:t>
            </a:r>
            <a:r>
              <a:rPr lang="en-US" altLang="zh-CN" dirty="0" err="1">
                <a:latin typeface="Times New Roman" panose="02020603050405020304" pitchFamily="18" charset="0"/>
              </a:rPr>
              <a:t>iff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Symbol" panose="05050102010706020507" pitchFamily="18" charset="2"/>
              </a:rPr>
              <a:t>Ù</a:t>
            </a:r>
            <a:r>
              <a:rPr lang="en-US" altLang="zh-CN" dirty="0">
                <a:latin typeface="Times New Roman" panose="02020603050405020304" pitchFamily="18" charset="0"/>
              </a:rPr>
              <a:t>…</a:t>
            </a:r>
            <a:r>
              <a:rPr lang="en-US" altLang="zh-CN" dirty="0" err="1">
                <a:latin typeface="Symbol" panose="05050102010706020507" pitchFamily="18" charset="2"/>
              </a:rPr>
              <a:t>Ù</a:t>
            </a:r>
            <a:r>
              <a:rPr lang="en-US" altLang="zh-CN" i="1" dirty="0" err="1">
                <a:latin typeface="Times New Roman" panose="02020603050405020304" pitchFamily="18" charset="0"/>
              </a:rPr>
              <a:t>A</a:t>
            </a:r>
            <a:r>
              <a:rPr lang="en-US" altLang="zh-CN" i="1" baseline="-30000" dirty="0" err="1">
                <a:latin typeface="Times New Roman" panose="02020603050405020304" pitchFamily="18" charset="0"/>
              </a:rPr>
              <a:t>k</a:t>
            </a:r>
            <a:r>
              <a:rPr lang="en-US" altLang="zh-CN" dirty="0" err="1">
                <a:latin typeface="Symbol" panose="05050102010706020507" pitchFamily="18" charset="2"/>
              </a:rPr>
              <a:t>ÙØ</a:t>
            </a:r>
            <a:r>
              <a:rPr lang="en-US" altLang="zh-CN" i="1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Symbol" panose="05050102010706020507" pitchFamily="18" charset="2"/>
              </a:rPr>
              <a:t> Þ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Symbol" panose="05050102010706020507" pitchFamily="18" charset="2"/>
              </a:rPr>
              <a:t>ÙØ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71450"/>
            <a:ext cx="8229600" cy="1295400"/>
          </a:xfrm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   反证法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归谬法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123950"/>
            <a:ext cx="7707312" cy="4252913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例 构造下面推理的证明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 前提：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Ù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 err="1">
                <a:latin typeface="Symbol" panose="05050102010706020507" pitchFamily="18" charset="2"/>
              </a:rPr>
              <a:t>Ú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</a:rPr>
              <a:t>,  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dirty="0" err="1">
                <a:latin typeface="Symbol" panose="05050102010706020507" pitchFamily="18" charset="2"/>
              </a:rPr>
              <a:t>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,  </a:t>
            </a:r>
            <a:r>
              <a:rPr lang="en-US" altLang="zh-CN" sz="2800" dirty="0" err="1">
                <a:latin typeface="Symbol" panose="05050102010706020507" pitchFamily="18" charset="2"/>
              </a:rPr>
              <a:t>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,  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</a:t>
            </a:r>
            <a:r>
              <a:rPr lang="zh-CN" altLang="en-US" sz="2800" dirty="0">
                <a:latin typeface="Times New Roman" panose="02020603050405020304" pitchFamily="18" charset="0"/>
              </a:rPr>
              <a:t>结论：</a:t>
            </a:r>
            <a:r>
              <a:rPr lang="en-US" altLang="zh-CN" sz="2800" dirty="0" err="1">
                <a:latin typeface="Symbol" panose="05050102010706020507" pitchFamily="18" charset="2"/>
              </a:rPr>
              <a:t>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证明（用归缪法）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 ① </a:t>
            </a:r>
            <a:r>
              <a:rPr lang="en-US" altLang="zh-CN" sz="2800" i="1" dirty="0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  P</a:t>
            </a:r>
            <a:r>
              <a:rPr lang="zh-CN" altLang="en-US" sz="2800" dirty="0">
                <a:latin typeface="Times New Roman" panose="02020603050405020304" pitchFamily="18" charset="0"/>
              </a:rPr>
              <a:t>结论否定作为前提引入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 ② 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dirty="0" err="1">
                <a:latin typeface="Symbol" panose="05050102010706020507" pitchFamily="18" charset="2"/>
              </a:rPr>
              <a:t>®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P</a:t>
            </a:r>
            <a:r>
              <a:rPr lang="zh-CN" altLang="en-US" sz="2800" dirty="0">
                <a:latin typeface="Times New Roman" panose="02020603050405020304" pitchFamily="18" charset="0"/>
              </a:rPr>
              <a:t>前提引入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 ③ </a:t>
            </a:r>
            <a:r>
              <a:rPr lang="en-US" altLang="zh-CN" sz="2800" dirty="0" err="1">
                <a:latin typeface="Symbol" panose="05050102010706020507" pitchFamily="18" charset="2"/>
              </a:rPr>
              <a:t>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P</a:t>
            </a:r>
            <a:r>
              <a:rPr lang="zh-CN" altLang="en-US" sz="2800" dirty="0">
                <a:latin typeface="Times New Roman" panose="02020603050405020304" pitchFamily="18" charset="0"/>
              </a:rPr>
              <a:t>前提引入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   </a:t>
            </a:r>
            <a:r>
              <a:rPr lang="zh-CN" altLang="en-US" sz="2800" dirty="0">
                <a:latin typeface="Times New Roman" panose="02020603050405020304" pitchFamily="18" charset="0"/>
              </a:rPr>
              <a:t>④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 err="1">
                <a:latin typeface="Symbol" panose="05050102010706020507" pitchFamily="18" charset="2"/>
              </a:rPr>
              <a:t>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                        T</a:t>
            </a:r>
            <a:r>
              <a:rPr lang="en-US" altLang="zh-CN" sz="2800" dirty="0">
                <a:latin typeface="Times New Roman" panose="02020603050405020304" pitchFamily="18" charset="0"/>
              </a:rPr>
              <a:t>②③</a:t>
            </a:r>
            <a:r>
              <a:rPr lang="zh-CN" altLang="en-US" sz="2800" dirty="0">
                <a:latin typeface="Times New Roman" panose="02020603050405020304" pitchFamily="18" charset="0"/>
              </a:rPr>
              <a:t>拒取式</a:t>
            </a:r>
          </a:p>
        </p:txBody>
      </p:sp>
    </p:spTree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-100013"/>
            <a:ext cx="8229600" cy="1066801"/>
          </a:xfrm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反证法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归谬法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4063" y="1338262"/>
            <a:ext cx="7635875" cy="453901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⑤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Ù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 err="1">
                <a:latin typeface="Symbol" panose="05050102010706020507" pitchFamily="18" charset="2"/>
              </a:rPr>
              <a:t>Ú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P</a:t>
            </a:r>
            <a:r>
              <a:rPr lang="zh-CN" altLang="en-US" sz="2800" dirty="0">
                <a:latin typeface="Times New Roman" panose="02020603050405020304" pitchFamily="18" charset="0"/>
              </a:rPr>
              <a:t>前提引入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⑥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Ù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)                T④⑤</a:t>
            </a:r>
            <a:r>
              <a:rPr lang="zh-CN" altLang="en-US" sz="2800" dirty="0">
                <a:latin typeface="Times New Roman" panose="02020603050405020304" pitchFamily="18" charset="0"/>
              </a:rPr>
              <a:t>析取三段论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⑦ </a:t>
            </a:r>
            <a:r>
              <a:rPr lang="en-US" altLang="zh-CN" sz="2800" dirty="0" err="1">
                <a:latin typeface="Symbol" panose="05050102010706020507" pitchFamily="18" charset="2"/>
              </a:rPr>
              <a:t>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ÚØ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T⑥</a:t>
            </a:r>
            <a:r>
              <a:rPr lang="zh-CN" altLang="en-US" sz="2800" dirty="0">
                <a:latin typeface="Times New Roman" panose="02020603050405020304" pitchFamily="18" charset="0"/>
              </a:rPr>
              <a:t>置换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⑧ </a:t>
            </a:r>
            <a:r>
              <a:rPr lang="en-US" altLang="zh-CN" sz="2800" dirty="0" err="1">
                <a:latin typeface="Symbol" panose="05050102010706020507" pitchFamily="18" charset="2"/>
              </a:rPr>
              <a:t>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   T①⑦</a:t>
            </a:r>
            <a:r>
              <a:rPr lang="zh-CN" altLang="en-US" sz="2800" dirty="0">
                <a:latin typeface="Times New Roman" panose="02020603050405020304" pitchFamily="18" charset="0"/>
              </a:rPr>
              <a:t>析取三段论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⑨ 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      </a:t>
            </a:r>
            <a:r>
              <a:rPr lang="en-US" altLang="zh-CN" sz="2800" dirty="0" err="1">
                <a:latin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</a:rPr>
              <a:t>前提引入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  ⑩ </a:t>
            </a:r>
            <a:r>
              <a:rPr lang="en-US" altLang="zh-CN" sz="2800" dirty="0" err="1">
                <a:latin typeface="Symbol" panose="05050102010706020507" pitchFamily="18" charset="2"/>
              </a:rPr>
              <a:t>Ø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 err="1">
                <a:latin typeface="Symbol" panose="05050102010706020507" pitchFamily="18" charset="2"/>
              </a:rPr>
              <a:t>Ù</a:t>
            </a:r>
            <a:r>
              <a:rPr lang="en-US" altLang="zh-CN" sz="2800" i="1" dirty="0" err="1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T⑧⑨</a:t>
            </a:r>
            <a:r>
              <a:rPr lang="zh-CN" altLang="en-US" sz="2800" dirty="0">
                <a:latin typeface="Times New Roman" panose="02020603050405020304" pitchFamily="18" charset="0"/>
              </a:rPr>
              <a:t>合取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所以可知推理正确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请用直接证明法证明之 </a:t>
            </a:r>
          </a:p>
        </p:txBody>
      </p:sp>
    </p:spTree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55" y="1268760"/>
            <a:ext cx="9144000" cy="456729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260648"/>
            <a:ext cx="49720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781585"/>
      </p:ext>
    </p:extLst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8720"/>
            <a:ext cx="9144000" cy="36142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143"/>
            <a:ext cx="6852236" cy="35865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4" y="2276872"/>
            <a:ext cx="9055684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596930"/>
      </p:ext>
    </p:extLst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60648"/>
            <a:ext cx="5648325" cy="4000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921346"/>
            <a:ext cx="8296275" cy="3333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4261611"/>
            <a:ext cx="894397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93477"/>
      </p:ext>
    </p:extLst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60648"/>
            <a:ext cx="5000625" cy="3714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381126"/>
            <a:ext cx="9157737" cy="402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177112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2001 EDS Template v.1 with Sample Charts">
  <a:themeElements>
    <a:clrScheme name="2001 EDS Template v.1 with Sample Charts 8">
      <a:dk1>
        <a:srgbClr val="220011"/>
      </a:dk1>
      <a:lt1>
        <a:srgbClr val="FFFFFF"/>
      </a:lt1>
      <a:dk2>
        <a:srgbClr val="0F3A68"/>
      </a:dk2>
      <a:lt2>
        <a:srgbClr val="FFFFFF"/>
      </a:lt2>
      <a:accent1>
        <a:srgbClr val="CAD704"/>
      </a:accent1>
      <a:accent2>
        <a:srgbClr val="204658"/>
      </a:accent2>
      <a:accent3>
        <a:srgbClr val="AAAEB9"/>
      </a:accent3>
      <a:accent4>
        <a:srgbClr val="DADADA"/>
      </a:accent4>
      <a:accent5>
        <a:srgbClr val="E1E8AA"/>
      </a:accent5>
      <a:accent6>
        <a:srgbClr val="1C3F4F"/>
      </a:accent6>
      <a:hlink>
        <a:srgbClr val="FFC94C"/>
      </a:hlink>
      <a:folHlink>
        <a:srgbClr val="F07600"/>
      </a:folHlink>
    </a:clrScheme>
    <a:fontScheme name="2001 EDS Template v.1 with Sample Charts">
      <a:majorFont>
        <a:latin typeface="隶书"/>
        <a:ea typeface="隶书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9A5C7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45000"/>
          </a:spcBef>
          <a:spcAft>
            <a:spcPct val="0"/>
          </a:spcAft>
          <a:buClr>
            <a:srgbClr val="99CCCC"/>
          </a:buClr>
          <a:buSzTx/>
          <a:buFont typeface="Wingdings" panose="05000000000000000000" pitchFamily="2" charset="2"/>
          <a:buChar char="q"/>
          <a:tabLst/>
          <a:defRPr kumimoji="1" lang="en-US" altLang="zh-CN" sz="2800" b="1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9A5C7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45000"/>
          </a:spcBef>
          <a:spcAft>
            <a:spcPct val="0"/>
          </a:spcAft>
          <a:buClr>
            <a:srgbClr val="99CCCC"/>
          </a:buClr>
          <a:buSzTx/>
          <a:buFont typeface="Wingdings" panose="05000000000000000000" pitchFamily="2" charset="2"/>
          <a:buChar char="q"/>
          <a:tabLst/>
          <a:defRPr kumimoji="1" lang="en-US" altLang="zh-CN" sz="2800" b="1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001 EDS Template v.1 with Sample Charts 1">
        <a:dk1>
          <a:srgbClr val="220011"/>
        </a:dk1>
        <a:lt1>
          <a:srgbClr val="FFFFCC"/>
        </a:lt1>
        <a:dk2>
          <a:srgbClr val="660033"/>
        </a:dk2>
        <a:lt2>
          <a:srgbClr val="FFCC00"/>
        </a:lt2>
        <a:accent1>
          <a:srgbClr val="CC0099"/>
        </a:accent1>
        <a:accent2>
          <a:srgbClr val="56002B"/>
        </a:accent2>
        <a:accent3>
          <a:srgbClr val="B8AAAD"/>
        </a:accent3>
        <a:accent4>
          <a:srgbClr val="DADAAE"/>
        </a:accent4>
        <a:accent5>
          <a:srgbClr val="E2AACA"/>
        </a:accent5>
        <a:accent6>
          <a:srgbClr val="4D0026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1 EDS Template v.1 with Sample Charts 2">
        <a:dk1>
          <a:srgbClr val="000F1E"/>
        </a:dk1>
        <a:lt1>
          <a:srgbClr val="FFFFFF"/>
        </a:lt1>
        <a:dk2>
          <a:srgbClr val="003366"/>
        </a:dk2>
        <a:lt2>
          <a:srgbClr val="33CCCC"/>
        </a:lt2>
        <a:accent1>
          <a:srgbClr val="006699"/>
        </a:accent1>
        <a:accent2>
          <a:srgbClr val="003366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2D5C"/>
        </a:accent6>
        <a:hlink>
          <a:srgbClr val="0099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1 EDS Template v.1 with Sample Charts 3">
        <a:dk1>
          <a:srgbClr val="002F2E"/>
        </a:dk1>
        <a:lt1>
          <a:srgbClr val="FFFFFF"/>
        </a:lt1>
        <a:dk2>
          <a:srgbClr val="008080"/>
        </a:dk2>
        <a:lt2>
          <a:srgbClr val="66FFCC"/>
        </a:lt2>
        <a:accent1>
          <a:srgbClr val="0099CC"/>
        </a:accent1>
        <a:accent2>
          <a:srgbClr val="005250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4948"/>
        </a:accent6>
        <a:hlink>
          <a:srgbClr val="00CC99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1 EDS Template v.1 with Sample Charts 4">
        <a:dk1>
          <a:srgbClr val="000022"/>
        </a:dk1>
        <a:lt1>
          <a:srgbClr val="FFFFFF"/>
        </a:lt1>
        <a:dk2>
          <a:srgbClr val="000066"/>
        </a:dk2>
        <a:lt2>
          <a:srgbClr val="FFCC00"/>
        </a:lt2>
        <a:accent1>
          <a:srgbClr val="666699"/>
        </a:accent1>
        <a:accent2>
          <a:srgbClr val="000048"/>
        </a:accent2>
        <a:accent3>
          <a:srgbClr val="AAAAB8"/>
        </a:accent3>
        <a:accent4>
          <a:srgbClr val="DADADA"/>
        </a:accent4>
        <a:accent5>
          <a:srgbClr val="B8B8CA"/>
        </a:accent5>
        <a:accent6>
          <a:srgbClr val="000040"/>
        </a:accent6>
        <a:hlink>
          <a:srgbClr val="9999FF"/>
        </a:hlink>
        <a:folHlink>
          <a:srgbClr val="00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1 EDS Template v.1 with Sample Charts 5">
        <a:dk1>
          <a:srgbClr val="663300"/>
        </a:dk1>
        <a:lt1>
          <a:srgbClr val="FFFFFF"/>
        </a:lt1>
        <a:dk2>
          <a:srgbClr val="000000"/>
        </a:dk2>
        <a:lt2>
          <a:srgbClr val="FFFF99"/>
        </a:lt2>
        <a:accent1>
          <a:srgbClr val="FFCC66"/>
        </a:accent1>
        <a:accent2>
          <a:srgbClr val="FFFFCC"/>
        </a:accent2>
        <a:accent3>
          <a:srgbClr val="FFFFFF"/>
        </a:accent3>
        <a:accent4>
          <a:srgbClr val="562A00"/>
        </a:accent4>
        <a:accent5>
          <a:srgbClr val="FFE2B8"/>
        </a:accent5>
        <a:accent6>
          <a:srgbClr val="E7E7B9"/>
        </a:accent6>
        <a:hlink>
          <a:srgbClr val="FFCC00"/>
        </a:hlink>
        <a:folHlink>
          <a:srgbClr val="FF7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1 EDS Template v.1 with Sample Charts 6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4D4D4D"/>
        </a:hlink>
        <a:folHlink>
          <a:srgbClr val="8686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1 EDS Template v.1 with Sample Charts 7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1 EDS Template v.1 with Sample Charts 8">
        <a:dk1>
          <a:srgbClr val="220011"/>
        </a:dk1>
        <a:lt1>
          <a:srgbClr val="FFFFFF"/>
        </a:lt1>
        <a:dk2>
          <a:srgbClr val="0F3A68"/>
        </a:dk2>
        <a:lt2>
          <a:srgbClr val="FFFFFF"/>
        </a:lt2>
        <a:accent1>
          <a:srgbClr val="CAD704"/>
        </a:accent1>
        <a:accent2>
          <a:srgbClr val="204658"/>
        </a:accent2>
        <a:accent3>
          <a:srgbClr val="AAAEB9"/>
        </a:accent3>
        <a:accent4>
          <a:srgbClr val="DADADA"/>
        </a:accent4>
        <a:accent5>
          <a:srgbClr val="E1E8AA"/>
        </a:accent5>
        <a:accent6>
          <a:srgbClr val="1C3F4F"/>
        </a:accent6>
        <a:hlink>
          <a:srgbClr val="FFC94C"/>
        </a:hlink>
        <a:folHlink>
          <a:srgbClr val="F07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D:\Wnfppt\2001 EDS Template v.1 with Sample Charts.pot</Template>
  <TotalTime>8534</TotalTime>
  <Words>3092</Words>
  <Application>Microsoft Office PowerPoint</Application>
  <PresentationFormat>全屏显示(4:3)</PresentationFormat>
  <Paragraphs>332</Paragraphs>
  <Slides>35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黑体</vt:lpstr>
      <vt:lpstr>华文新魏</vt:lpstr>
      <vt:lpstr>华文中宋</vt:lpstr>
      <vt:lpstr>隶书</vt:lpstr>
      <vt:lpstr>宋体</vt:lpstr>
      <vt:lpstr>Arial</vt:lpstr>
      <vt:lpstr>Symbol</vt:lpstr>
      <vt:lpstr>Times New Roman</vt:lpstr>
      <vt:lpstr>Wingdings</vt:lpstr>
      <vt:lpstr>2001 EDS Template v.1 with Sample Charts</vt:lpstr>
      <vt:lpstr>Equation</vt:lpstr>
      <vt:lpstr>真值函数、联结词功能完备集、命题逻辑推理理论</vt:lpstr>
      <vt:lpstr>  真值函数 </vt:lpstr>
      <vt:lpstr> 命题公式与真值函数 </vt:lpstr>
      <vt:lpstr>PowerPoint 演示文稿</vt:lpstr>
      <vt:lpstr>  联结词的全功能集</vt:lpstr>
      <vt:lpstr>    联结词全功能集实例</vt:lpstr>
      <vt:lpstr> 其它联结词 </vt:lpstr>
      <vt:lpstr> 其它联结词(续) </vt:lpstr>
      <vt:lpstr>  例</vt:lpstr>
      <vt:lpstr>逻辑蕴涵关系</vt:lpstr>
      <vt:lpstr>例题</vt:lpstr>
      <vt:lpstr>蕴涵关系的性质</vt:lpstr>
      <vt:lpstr>蕴涵关系的判断</vt:lpstr>
      <vt:lpstr>蕴涵关系的证明</vt:lpstr>
      <vt:lpstr>基本蕴涵关系</vt:lpstr>
      <vt:lpstr>  推理的形式结构 </vt:lpstr>
      <vt:lpstr>  判断推理是否正确的方法</vt:lpstr>
      <vt:lpstr>  实例</vt:lpstr>
      <vt:lpstr>   实例 (续)</vt:lpstr>
      <vt:lpstr>  推理定律——重言蕴涵式  </vt:lpstr>
      <vt:lpstr>推理定律 (续)</vt:lpstr>
      <vt:lpstr> 推理规则 </vt:lpstr>
      <vt:lpstr>  推理规则(续)</vt:lpstr>
      <vt:lpstr>  直接证明法</vt:lpstr>
      <vt:lpstr>直接证明法 (续)</vt:lpstr>
      <vt:lpstr> 附加前提证明法(CP规则） </vt:lpstr>
      <vt:lpstr>附加前提证明法 (续)</vt:lpstr>
      <vt:lpstr>    附加前提证明法 (续)</vt:lpstr>
      <vt:lpstr>反证法(归谬法) </vt:lpstr>
      <vt:lpstr>   反证法(归谬法)</vt:lpstr>
      <vt:lpstr>反证法(归谬法)</vt:lpstr>
      <vt:lpstr>例</vt:lpstr>
      <vt:lpstr>例</vt:lpstr>
      <vt:lpstr>例</vt:lpstr>
      <vt:lpstr>例</vt:lpstr>
    </vt:vector>
  </TitlesOfParts>
  <Company>UGS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Presentation Tutorial</dc:title>
  <dc:creator>wangn</dc:creator>
  <cp:lastModifiedBy>mingming ren</cp:lastModifiedBy>
  <cp:revision>409</cp:revision>
  <cp:lastPrinted>2001-08-16T18:59:48Z</cp:lastPrinted>
  <dcterms:created xsi:type="dcterms:W3CDTF">2001-10-12T01:04:15Z</dcterms:created>
  <dcterms:modified xsi:type="dcterms:W3CDTF">2024-09-23T08:32:59Z</dcterms:modified>
</cp:coreProperties>
</file>