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8" r:id="rId4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D6201-F8A6-46A2-9067-C688FFF05C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30BBD-FDC4-48EB-8FF6-3FBD9BAC96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 noChangeArrowheads="1"/>
          </p:cNvSpPr>
          <p:nvPr/>
        </p:nvSpPr>
        <p:spPr>
          <a:xfrm>
            <a:off x="2411412" y="211138"/>
            <a:ext cx="7369175" cy="836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实验二</a:t>
            </a:r>
            <a:endParaRPr lang="zh-CN" altLang="en-US" dirty="0"/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461961" y="1364456"/>
            <a:ext cx="11268076" cy="44267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 dirty="0"/>
              <a:t>题目：</a:t>
            </a:r>
            <a:endParaRPr lang="en-US" altLang="zh-CN" sz="1800" b="1" dirty="0"/>
          </a:p>
          <a:p>
            <a:pPr algn="l">
              <a:buFontTx/>
              <a:buNone/>
            </a:pPr>
            <a:r>
              <a:rPr lang="zh-CN" altLang="en-US" sz="1800" dirty="0"/>
              <a:t>实现以下内容：</a:t>
            </a:r>
            <a:endParaRPr lang="en-US" altLang="zh-CN" sz="1800" dirty="0"/>
          </a:p>
          <a:p>
            <a:pPr marL="342900" indent="-342900" algn="l">
              <a:buAutoNum type="arabicPeriod"/>
            </a:pPr>
            <a:r>
              <a:rPr lang="zh-CN" altLang="en-US" sz="1800" dirty="0"/>
              <a:t>实现一个栈，包括出栈、入栈、获取栈顶元素、判断是否为空和统计栈中元素个数</a:t>
            </a:r>
            <a:r>
              <a:rPr lang="en-US" altLang="zh-CN" sz="1800" dirty="0"/>
              <a:t>5</a:t>
            </a:r>
            <a:r>
              <a:rPr lang="zh-CN" altLang="en-US" sz="1800" dirty="0"/>
              <a:t>个基本方法。</a:t>
            </a:r>
            <a:endParaRPr lang="zh-CN" altLang="en-US" sz="1800" dirty="0"/>
          </a:p>
          <a:p>
            <a:pPr marL="342900" indent="-342900" algn="l">
              <a:buAutoNum type="arabicPeriod"/>
            </a:pPr>
            <a:endParaRPr lang="en-US" altLang="zh-CN" sz="1800" dirty="0"/>
          </a:p>
          <a:p>
            <a:pPr marL="342900" indent="-342900" algn="l">
              <a:buAutoNum type="arabicPeriod"/>
            </a:pPr>
            <a:r>
              <a:rPr lang="zh-CN" altLang="en-US" sz="1800" dirty="0"/>
              <a:t>使用内容</a:t>
            </a:r>
            <a:r>
              <a:rPr lang="en-US" altLang="zh-CN" sz="1800" dirty="0"/>
              <a:t>1</a:t>
            </a:r>
            <a:r>
              <a:rPr lang="zh-CN" altLang="en-US" sz="1800" dirty="0"/>
              <a:t>中的栈进行表达式计算，表达式是一个可能包括“</a:t>
            </a:r>
            <a:r>
              <a:rPr lang="en-US" altLang="zh-CN" sz="1800" dirty="0"/>
              <a:t>+</a:t>
            </a:r>
            <a:r>
              <a:rPr lang="zh-CN" altLang="en-US" sz="1800" dirty="0"/>
              <a:t>”，“</a:t>
            </a:r>
            <a:r>
              <a:rPr lang="en-US" altLang="zh-CN" sz="1800" dirty="0"/>
              <a:t>-</a:t>
            </a:r>
            <a:r>
              <a:rPr lang="zh-CN" altLang="en-US" sz="1800" dirty="0"/>
              <a:t>”，“</a:t>
            </a:r>
            <a:r>
              <a:rPr lang="en-US" altLang="zh-CN" sz="1800" dirty="0"/>
              <a:t>*</a:t>
            </a:r>
            <a:r>
              <a:rPr lang="zh-CN" altLang="en-US" sz="1800" dirty="0"/>
              <a:t>”，“</a:t>
            </a:r>
            <a:r>
              <a:rPr lang="en-US" altLang="zh-CN" sz="1800" dirty="0"/>
              <a:t>/</a:t>
            </a:r>
            <a:r>
              <a:rPr lang="zh-CN" altLang="en-US" sz="1800" dirty="0"/>
              <a:t>”，“</a:t>
            </a:r>
            <a:r>
              <a:rPr lang="en-US" altLang="zh-CN" sz="1800" dirty="0"/>
              <a:t>(</a:t>
            </a:r>
            <a:r>
              <a:rPr lang="zh-CN" altLang="en-US" sz="1800" dirty="0"/>
              <a:t>”，“</a:t>
            </a:r>
            <a:r>
              <a:rPr lang="en-US" altLang="zh-CN" sz="1800" dirty="0"/>
              <a:t>)</a:t>
            </a:r>
            <a:r>
              <a:rPr lang="zh-CN" altLang="en-US" sz="1800" dirty="0"/>
              <a:t>”，数字以及未知数的字符串（未知数定义为</a:t>
            </a:r>
            <a:r>
              <a:rPr lang="en-US" altLang="zh-CN" sz="1800" dirty="0"/>
              <a:t>A~Z</a:t>
            </a:r>
            <a:r>
              <a:rPr lang="zh-CN" altLang="en-US" sz="1800" dirty="0"/>
              <a:t>，</a:t>
            </a:r>
            <a:r>
              <a:rPr lang="en-US" altLang="zh-CN" sz="1800" dirty="0"/>
              <a:t>a~z</a:t>
            </a:r>
            <a:r>
              <a:rPr lang="zh-CN" altLang="en-US" sz="1800" dirty="0"/>
              <a:t>）。</a:t>
            </a:r>
            <a:endParaRPr lang="en-US" altLang="zh-CN" sz="1800" dirty="0"/>
          </a:p>
          <a:p>
            <a:pPr lvl="1" algn="l"/>
            <a:r>
              <a:rPr lang="en-US" altLang="zh-CN" sz="1800" dirty="0"/>
              <a:t>2.1 </a:t>
            </a:r>
            <a:r>
              <a:rPr lang="zh-CN" altLang="en-US" sz="1800" dirty="0"/>
              <a:t>判断表达式是否合法。</a:t>
            </a:r>
            <a:endParaRPr lang="en-US" altLang="zh-CN" sz="1800" dirty="0"/>
          </a:p>
          <a:p>
            <a:pPr lvl="1" algn="l"/>
            <a:r>
              <a:rPr lang="en-US" altLang="zh-CN" sz="1800" dirty="0"/>
              <a:t>2.2 </a:t>
            </a:r>
            <a:r>
              <a:rPr lang="zh-CN" altLang="en-US" sz="1800" dirty="0"/>
              <a:t>表达式求值：计算表达式的运算结果，如果包含未知数，返回一个包含未知数的简化表达式。</a:t>
            </a:r>
            <a:endParaRPr lang="en-US" altLang="zh-CN" sz="1800" dirty="0"/>
          </a:p>
          <a:p>
            <a:pPr lvl="1" algn="l"/>
            <a:r>
              <a:rPr lang="en-US" altLang="zh-CN" sz="1800" dirty="0"/>
              <a:t>2.3 </a:t>
            </a:r>
            <a:r>
              <a:rPr lang="zh-CN" altLang="en-US" sz="1800" dirty="0"/>
              <a:t>表达式优化：减少不必要的计算步骤，例如将 </a:t>
            </a:r>
            <a:r>
              <a:rPr lang="en-US" altLang="zh-CN" sz="1800" dirty="0"/>
              <a:t>x+0 </a:t>
            </a:r>
            <a:r>
              <a:rPr lang="zh-CN" altLang="en-US" sz="1800" dirty="0"/>
              <a:t>简化为</a:t>
            </a:r>
            <a:r>
              <a:rPr lang="en-US" altLang="zh-CN" sz="1800" dirty="0"/>
              <a:t>x</a:t>
            </a:r>
            <a:r>
              <a:rPr lang="zh-CN" altLang="en-US" sz="1800" dirty="0"/>
              <a:t>，将 </a:t>
            </a:r>
            <a:r>
              <a:rPr lang="en-US" altLang="zh-CN" sz="1800" dirty="0"/>
              <a:t>y*0 </a:t>
            </a:r>
            <a:r>
              <a:rPr lang="zh-CN" altLang="en-US" sz="1800" dirty="0"/>
              <a:t>简化为</a:t>
            </a:r>
            <a:r>
              <a:rPr lang="en-US" altLang="zh-CN" sz="1800" dirty="0"/>
              <a:t>0</a:t>
            </a:r>
            <a:endParaRPr lang="en-US" altLang="zh-CN" sz="1800" dirty="0"/>
          </a:p>
          <a:p>
            <a:pPr algn="l"/>
            <a:r>
              <a:rPr lang="zh-CN" altLang="en-US" sz="1800" b="1" dirty="0"/>
              <a:t>要求：</a:t>
            </a:r>
            <a:endParaRPr lang="en-US" altLang="zh-CN" sz="1800" b="1" dirty="0"/>
          </a:p>
          <a:p>
            <a:pPr algn="l">
              <a:buFontTx/>
              <a:buNone/>
            </a:pPr>
            <a:r>
              <a:rPr lang="en-US" altLang="zh-CN" sz="1800" dirty="0"/>
              <a:t>1.</a:t>
            </a:r>
            <a:r>
              <a:rPr lang="zh-CN" altLang="en-US" sz="1800" dirty="0"/>
              <a:t>给出算法设计思想并用</a:t>
            </a:r>
            <a:r>
              <a:rPr lang="en-US" altLang="zh-CN" sz="1800" dirty="0"/>
              <a:t>C++</a:t>
            </a:r>
            <a:r>
              <a:rPr lang="zh-CN" altLang="en-US" sz="1800" dirty="0"/>
              <a:t>实现。</a:t>
            </a:r>
            <a:endParaRPr lang="en-US" altLang="zh-CN" sz="1800" dirty="0"/>
          </a:p>
          <a:p>
            <a:pPr algn="l">
              <a:buFontTx/>
              <a:buNone/>
            </a:pPr>
            <a:r>
              <a:rPr lang="en-US" altLang="zh-CN" sz="1800" dirty="0"/>
              <a:t>2.</a:t>
            </a:r>
            <a:r>
              <a:rPr lang="zh-CN" altLang="en-US" sz="1800" dirty="0"/>
              <a:t>分析算法的时间复杂度和空间复杂度。</a:t>
            </a:r>
            <a:endParaRPr lang="en-US" altLang="zh-CN" sz="1800" dirty="0"/>
          </a:p>
          <a:p>
            <a:pPr algn="l">
              <a:buFontTx/>
              <a:buNone/>
            </a:pPr>
            <a:r>
              <a:rPr lang="en-US" altLang="zh-CN" sz="1800" dirty="0"/>
              <a:t>3.</a:t>
            </a:r>
            <a:r>
              <a:rPr lang="zh-CN" altLang="en-US" sz="1800" dirty="0"/>
              <a:t>不能使用</a:t>
            </a:r>
            <a:r>
              <a:rPr lang="en-US" altLang="zh-CN" sz="1800" dirty="0"/>
              <a:t>STL</a:t>
            </a:r>
            <a:r>
              <a:rPr lang="zh-CN" altLang="en-US" sz="1800" dirty="0"/>
              <a:t>库，需手写实现所需的数据结构。</a:t>
            </a:r>
            <a:endParaRPr lang="en-US" altLang="zh-CN" sz="1800" dirty="0"/>
          </a:p>
        </p:txBody>
      </p:sp>
      <p:sp>
        <p:nvSpPr>
          <p:cNvPr id="8" name="灯片编号占位符 3"/>
          <p:cNvSpPr txBox="1"/>
          <p:nvPr/>
        </p:nvSpPr>
        <p:spPr>
          <a:xfrm>
            <a:off x="10828337" y="6345236"/>
            <a:ext cx="901700" cy="26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spcBef>
                <a:spcPct val="50000"/>
              </a:spcBef>
              <a:buClr>
                <a:schemeClr val="tx2"/>
              </a:buClr>
              <a:buChar char="•"/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3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2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5000"/>
              </a:spcBef>
              <a:buClr>
                <a:schemeClr val="tx2"/>
              </a:buClr>
              <a:buChar char="•"/>
              <a:defRPr sz="20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16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7F602C-C71F-4144-8BA9-97CFF29AFB3B}" type="slidenum">
              <a:rPr lang="en-US" altLang="en-US" sz="900" b="0" smtClean="0">
                <a:solidFill>
                  <a:srgbClr val="4B4B4B"/>
                </a:solidFill>
                <a:latin typeface="Arial" panose="020B0604020202090204" pitchFamily="34" charset="0"/>
                <a:ea typeface="宋体" pitchFamily="2" charset="-122"/>
              </a:rPr>
            </a:fld>
            <a:endParaRPr lang="en-US" altLang="en-US" sz="900" b="0" dirty="0">
              <a:solidFill>
                <a:srgbClr val="4B4B4B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1" y="6127750"/>
            <a:ext cx="72866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1214436" y="6307137"/>
            <a:ext cx="14414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计算机学院</a:t>
            </a:r>
            <a:endParaRPr lang="zh-CN" altLang="en-US" sz="160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 noChangeArrowheads="1"/>
          </p:cNvSpPr>
          <p:nvPr/>
        </p:nvSpPr>
        <p:spPr>
          <a:xfrm>
            <a:off x="2411412" y="211138"/>
            <a:ext cx="7369175" cy="836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实验二</a:t>
            </a:r>
            <a:endParaRPr lang="zh-CN" altLang="en-US"/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444181" y="1364456"/>
            <a:ext cx="11268076" cy="4570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 dirty="0"/>
              <a:t>输入样例</a:t>
            </a:r>
            <a:r>
              <a:rPr lang="en-US" altLang="zh-CN" sz="1800" b="1" dirty="0"/>
              <a:t>1</a:t>
            </a:r>
            <a:endParaRPr lang="en-US" altLang="zh-CN" sz="1800" b="1" dirty="0"/>
          </a:p>
          <a:p>
            <a:pPr algn="l"/>
            <a:r>
              <a:rPr lang="zh-CN" altLang="en-US" sz="1800" dirty="0"/>
              <a:t>输入：</a:t>
            </a:r>
            <a:endParaRPr lang="en-US" altLang="zh-CN" sz="1800" dirty="0"/>
          </a:p>
          <a:p>
            <a:pPr algn="l"/>
            <a:r>
              <a:rPr lang="es-ES" altLang="zh-CN" sz="1800" dirty="0"/>
              <a:t>(</a:t>
            </a:r>
            <a:r>
              <a:rPr lang="en-US" altLang="zh-CN" sz="1800" dirty="0"/>
              <a:t>(</a:t>
            </a:r>
            <a:r>
              <a:rPr lang="es-ES" altLang="zh-CN" sz="1800" dirty="0"/>
              <a:t>3 + 4 * (2 - 1)) / 5 + x + 0 * y)</a:t>
            </a:r>
            <a:endParaRPr lang="en-US" altLang="zh-CN" sz="1800" dirty="0"/>
          </a:p>
          <a:p>
            <a:pPr algn="l"/>
            <a:r>
              <a:rPr lang="zh-CN" altLang="en-US" sz="1800" dirty="0"/>
              <a:t>输出：</a:t>
            </a:r>
            <a:endParaRPr lang="en-US" altLang="zh-CN" sz="1800" dirty="0"/>
          </a:p>
          <a:p>
            <a:pPr algn="l"/>
            <a:r>
              <a:rPr lang="en-US" altLang="zh-CN" sz="1800" dirty="0"/>
              <a:t>True</a:t>
            </a:r>
            <a:endParaRPr lang="en-US" altLang="zh-CN" sz="1800" dirty="0"/>
          </a:p>
          <a:p>
            <a:pPr algn="l"/>
            <a:r>
              <a:rPr lang="en-US" altLang="zh-CN" sz="1800" dirty="0"/>
              <a:t>1.4+x+0*y</a:t>
            </a:r>
            <a:endParaRPr lang="en-US" altLang="zh-CN" sz="1800" dirty="0"/>
          </a:p>
          <a:p>
            <a:pPr algn="l"/>
            <a:r>
              <a:rPr lang="en-US" altLang="zh-CN" sz="1800" dirty="0"/>
              <a:t>1.4+x</a:t>
            </a:r>
            <a:endParaRPr lang="en-US" altLang="zh-CN" sz="1800" dirty="0"/>
          </a:p>
          <a:p>
            <a:pPr algn="l"/>
            <a:r>
              <a:rPr lang="zh-CN" altLang="en-US" sz="1800" b="1" dirty="0"/>
              <a:t>输入样例</a:t>
            </a:r>
            <a:r>
              <a:rPr lang="en-US" altLang="zh-CN" sz="1800" b="1" dirty="0"/>
              <a:t>2</a:t>
            </a:r>
            <a:endParaRPr lang="en-US" altLang="zh-CN" sz="1800" b="1" dirty="0"/>
          </a:p>
          <a:p>
            <a:pPr algn="l"/>
            <a:r>
              <a:rPr lang="zh-CN" altLang="en-US" sz="1800" dirty="0"/>
              <a:t>输入：</a:t>
            </a:r>
            <a:endParaRPr lang="en-US" altLang="zh-CN" sz="1800" dirty="0"/>
          </a:p>
          <a:p>
            <a:pPr algn="l"/>
            <a:r>
              <a:rPr lang="es-ES" altLang="zh-CN" sz="1800" dirty="0"/>
              <a:t>3 + 4 * (2 – 1)+</a:t>
            </a:r>
            <a:endParaRPr lang="en-US" altLang="zh-CN" sz="1800" dirty="0"/>
          </a:p>
          <a:p>
            <a:pPr algn="l"/>
            <a:r>
              <a:rPr lang="zh-CN" altLang="en-US" sz="1800" dirty="0"/>
              <a:t>输出：</a:t>
            </a:r>
            <a:endParaRPr lang="en-US" altLang="zh-CN" sz="1800" dirty="0"/>
          </a:p>
          <a:p>
            <a:pPr algn="l"/>
            <a:r>
              <a:rPr lang="en-US" altLang="zh-CN" sz="1800" dirty="0"/>
              <a:t>False</a:t>
            </a:r>
            <a:endParaRPr lang="en-US" altLang="zh-CN" sz="1800" dirty="0"/>
          </a:p>
          <a:p>
            <a:pPr algn="l"/>
            <a:endParaRPr lang="en-US" altLang="zh-CN" sz="1800" b="1" dirty="0"/>
          </a:p>
        </p:txBody>
      </p:sp>
      <p:sp>
        <p:nvSpPr>
          <p:cNvPr id="8" name="灯片编号占位符 3"/>
          <p:cNvSpPr txBox="1"/>
          <p:nvPr/>
        </p:nvSpPr>
        <p:spPr>
          <a:xfrm>
            <a:off x="10828337" y="6345236"/>
            <a:ext cx="901700" cy="26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spcBef>
                <a:spcPct val="50000"/>
              </a:spcBef>
              <a:buClr>
                <a:schemeClr val="tx2"/>
              </a:buClr>
              <a:buChar char="•"/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3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2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5000"/>
              </a:spcBef>
              <a:buClr>
                <a:schemeClr val="tx2"/>
              </a:buClr>
              <a:buChar char="•"/>
              <a:defRPr sz="20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16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7F602C-C71F-4144-8BA9-97CFF29AFB3B}" type="slidenum">
              <a:rPr lang="en-US" altLang="en-US" sz="900" b="0" smtClean="0">
                <a:solidFill>
                  <a:srgbClr val="4B4B4B"/>
                </a:solidFill>
                <a:latin typeface="Arial" panose="020B0604020202090204" pitchFamily="34" charset="0"/>
                <a:ea typeface="宋体" pitchFamily="2" charset="-122"/>
              </a:rPr>
            </a:fld>
            <a:endParaRPr lang="en-US" altLang="en-US" sz="900" b="0" dirty="0">
              <a:solidFill>
                <a:srgbClr val="4B4B4B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1" y="6127750"/>
            <a:ext cx="72866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1214436" y="6307137"/>
            <a:ext cx="14414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计算机学院</a:t>
            </a:r>
            <a:endParaRPr lang="zh-CN" altLang="en-US" sz="160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 noChangeArrowheads="1"/>
          </p:cNvSpPr>
          <p:nvPr/>
        </p:nvSpPr>
        <p:spPr>
          <a:xfrm>
            <a:off x="2411412" y="211138"/>
            <a:ext cx="7369175" cy="836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实验二</a:t>
            </a:r>
            <a:endParaRPr lang="zh-CN" altLang="en-US" dirty="0"/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444181" y="1364456"/>
            <a:ext cx="11268076" cy="4570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 dirty="0"/>
              <a:t>表达式不合法的定义，包括但不限于：</a:t>
            </a:r>
            <a:endParaRPr lang="en-US" altLang="zh-CN" sz="1800" b="1" dirty="0"/>
          </a:p>
          <a:p>
            <a:pPr marL="342900" indent="-342900" algn="l">
              <a:buAutoNum type="arabicPeriod"/>
            </a:pPr>
            <a:r>
              <a:rPr lang="zh-CN" altLang="en-US" sz="1800" dirty="0"/>
              <a:t>括号不匹配</a:t>
            </a:r>
            <a:r>
              <a:rPr lang="zh-CN" altLang="en-US" sz="1800" dirty="0"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ym typeface="Wingdings" panose="05000000000000000000" pitchFamily="2" charset="2"/>
              </a:rPr>
              <a:t>2*(3+4))</a:t>
            </a:r>
            <a:endParaRPr lang="en-US" altLang="zh-CN" sz="1800" dirty="0"/>
          </a:p>
          <a:p>
            <a:pPr marL="342900" indent="-342900" algn="l">
              <a:buAutoNum type="arabicPeriod"/>
            </a:pPr>
            <a:r>
              <a:rPr lang="zh-CN" altLang="en-US" sz="1800" dirty="0"/>
              <a:t>运算符错误：</a:t>
            </a:r>
            <a:r>
              <a:rPr lang="en-US" altLang="zh-CN" sz="1800" dirty="0"/>
              <a:t>3++</a:t>
            </a:r>
            <a:r>
              <a:rPr lang="zh-CN" altLang="en-US" sz="1800" dirty="0"/>
              <a:t>或</a:t>
            </a:r>
            <a:r>
              <a:rPr lang="en-US" altLang="zh-CN" sz="1800" dirty="0"/>
              <a:t>3@4</a:t>
            </a:r>
            <a:endParaRPr lang="en-US" altLang="zh-CN" sz="1800" dirty="0"/>
          </a:p>
          <a:p>
            <a:pPr marL="342900" indent="-342900" algn="l">
              <a:buAutoNum type="arabicPeriod"/>
            </a:pPr>
            <a:r>
              <a:rPr lang="zh-CN" altLang="en-US" sz="1800" dirty="0"/>
              <a:t>语法错误：</a:t>
            </a:r>
            <a:r>
              <a:rPr lang="en-US" altLang="zh-CN" sz="1800" dirty="0"/>
              <a:t>3+4a</a:t>
            </a:r>
            <a:r>
              <a:rPr lang="zh-CN" altLang="en-US" sz="1800" dirty="0"/>
              <a:t>或</a:t>
            </a:r>
            <a:r>
              <a:rPr lang="en-US" altLang="zh-CN" sz="1800" dirty="0"/>
              <a:t>3+4*</a:t>
            </a:r>
            <a:endParaRPr lang="en-US" altLang="zh-CN" sz="1800" dirty="0"/>
          </a:p>
        </p:txBody>
      </p:sp>
      <p:sp>
        <p:nvSpPr>
          <p:cNvPr id="8" name="灯片编号占位符 3"/>
          <p:cNvSpPr txBox="1"/>
          <p:nvPr/>
        </p:nvSpPr>
        <p:spPr>
          <a:xfrm>
            <a:off x="10828337" y="6345236"/>
            <a:ext cx="901700" cy="26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spcBef>
                <a:spcPct val="50000"/>
              </a:spcBef>
              <a:buClr>
                <a:schemeClr val="tx2"/>
              </a:buClr>
              <a:buChar char="•"/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3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2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5000"/>
              </a:spcBef>
              <a:buClr>
                <a:schemeClr val="tx2"/>
              </a:buClr>
              <a:buChar char="•"/>
              <a:defRPr sz="20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16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7F602C-C71F-4144-8BA9-97CFF29AFB3B}" type="slidenum">
              <a:rPr lang="en-US" altLang="en-US" sz="900" b="0" smtClean="0">
                <a:solidFill>
                  <a:srgbClr val="4B4B4B"/>
                </a:solidFill>
                <a:latin typeface="Arial" panose="020B0604020202090204" pitchFamily="34" charset="0"/>
                <a:ea typeface="宋体" pitchFamily="2" charset="-122"/>
              </a:rPr>
            </a:fld>
            <a:endParaRPr lang="en-US" altLang="en-US" sz="900" b="0" dirty="0">
              <a:solidFill>
                <a:srgbClr val="4B4B4B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1" y="6127750"/>
            <a:ext cx="72866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1214436" y="6307137"/>
            <a:ext cx="14414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计算机学院</a:t>
            </a:r>
            <a:endParaRPr lang="zh-CN" altLang="en-US" sz="160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 noChangeArrowheads="1"/>
          </p:cNvSpPr>
          <p:nvPr/>
        </p:nvSpPr>
        <p:spPr>
          <a:xfrm>
            <a:off x="2411412" y="211138"/>
            <a:ext cx="7369175" cy="8366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实验二</a:t>
            </a:r>
            <a:endParaRPr lang="zh-CN" altLang="en-US" dirty="0"/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3869684" y="1364457"/>
            <a:ext cx="3308669" cy="4502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b="1" dirty="0"/>
              <a:t>2.</a:t>
            </a:r>
            <a:r>
              <a:rPr lang="zh-CN" altLang="en-US" sz="1800" b="1" dirty="0"/>
              <a:t>与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的运算：</a:t>
            </a:r>
            <a:endParaRPr lang="zh-CN" altLang="en-US" sz="1800" b="1" dirty="0"/>
          </a:p>
          <a:p>
            <a:pPr algn="l"/>
            <a:r>
              <a:rPr lang="en-US" altLang="zh-CN" sz="1800" dirty="0"/>
              <a:t>x * 1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x</a:t>
            </a:r>
            <a:endParaRPr lang="en-US" altLang="zh-CN" sz="1800" dirty="0"/>
          </a:p>
          <a:p>
            <a:pPr algn="l"/>
            <a:r>
              <a:rPr lang="en-US" altLang="zh-CN" sz="1800" dirty="0"/>
              <a:t>x / 1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x</a:t>
            </a:r>
            <a:endParaRPr lang="en-US" altLang="zh-CN" sz="1800" dirty="0"/>
          </a:p>
          <a:p>
            <a:pPr algn="l"/>
            <a:r>
              <a:rPr lang="en-US" altLang="zh-CN" sz="1800" dirty="0"/>
              <a:t>1 * x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x</a:t>
            </a:r>
            <a:endParaRPr lang="en-US" altLang="zh-CN" sz="1800" dirty="0"/>
          </a:p>
          <a:p>
            <a:pPr algn="l"/>
            <a:r>
              <a:rPr lang="en-US" altLang="zh-CN" sz="1800" dirty="0"/>
              <a:t>1 / x </a:t>
            </a:r>
            <a:r>
              <a:rPr lang="zh-CN" altLang="en-US" sz="1800" dirty="0"/>
              <a:t>保持不变</a:t>
            </a:r>
            <a:endParaRPr lang="en-US" altLang="zh-CN" sz="1800" dirty="0"/>
          </a:p>
          <a:p>
            <a:pPr algn="l"/>
            <a:endParaRPr lang="zh-CN" altLang="en-US" sz="1800" dirty="0"/>
          </a:p>
          <a:p>
            <a:pPr algn="l"/>
            <a:endParaRPr lang="en-US" altLang="zh-CN" sz="1800" dirty="0"/>
          </a:p>
        </p:txBody>
      </p:sp>
      <p:sp>
        <p:nvSpPr>
          <p:cNvPr id="8" name="灯片编号占位符 3"/>
          <p:cNvSpPr txBox="1"/>
          <p:nvPr/>
        </p:nvSpPr>
        <p:spPr>
          <a:xfrm>
            <a:off x="10828337" y="6345236"/>
            <a:ext cx="901700" cy="26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spcBef>
                <a:spcPct val="50000"/>
              </a:spcBef>
              <a:buClr>
                <a:schemeClr val="tx2"/>
              </a:buClr>
              <a:buChar char="•"/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3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2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5000"/>
              </a:spcBef>
              <a:buClr>
                <a:schemeClr val="tx2"/>
              </a:buClr>
              <a:buChar char="•"/>
              <a:defRPr sz="20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90204" pitchFamily="34" charset="0"/>
              <a:buChar char="–"/>
              <a:defRPr sz="16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7F602C-C71F-4144-8BA9-97CFF29AFB3B}" type="slidenum">
              <a:rPr lang="en-US" altLang="en-US" sz="900" b="0" smtClean="0">
                <a:solidFill>
                  <a:srgbClr val="4B4B4B"/>
                </a:solidFill>
                <a:latin typeface="Arial" panose="020B0604020202090204" pitchFamily="34" charset="0"/>
                <a:ea typeface="宋体" pitchFamily="2" charset="-122"/>
              </a:rPr>
            </a:fld>
            <a:endParaRPr lang="en-US" altLang="en-US" sz="900" b="0" dirty="0">
              <a:solidFill>
                <a:srgbClr val="4B4B4B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1" y="6127750"/>
            <a:ext cx="728662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1214436" y="6307137"/>
            <a:ext cx="14414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>
                <a:latin typeface="宋体" pitchFamily="2" charset="-122"/>
              </a:rPr>
              <a:t>计算机学院</a:t>
            </a:r>
            <a:endParaRPr lang="zh-CN" altLang="en-US" sz="1600">
              <a:latin typeface="宋体" pitchFamily="2" charset="-122"/>
            </a:endParaRPr>
          </a:p>
        </p:txBody>
      </p:sp>
      <p:sp>
        <p:nvSpPr>
          <p:cNvPr id="4" name="内容占位符 2"/>
          <p:cNvSpPr txBox="1">
            <a:spLocks noChangeArrowheads="1"/>
          </p:cNvSpPr>
          <p:nvPr/>
        </p:nvSpPr>
        <p:spPr>
          <a:xfrm>
            <a:off x="7187880" y="1364457"/>
            <a:ext cx="5004120" cy="4502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b="1" dirty="0"/>
              <a:t>3.</a:t>
            </a:r>
            <a:r>
              <a:rPr lang="zh-CN" altLang="en-US" sz="1800" b="1" dirty="0"/>
              <a:t>负数和绝对值：</a:t>
            </a:r>
            <a:endParaRPr lang="zh-CN" altLang="en-US" sz="1800" b="1" dirty="0"/>
          </a:p>
          <a:p>
            <a:pPr algn="l"/>
            <a:r>
              <a:rPr lang="en-US" altLang="zh-CN" sz="1800" dirty="0"/>
              <a:t>x - x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0</a:t>
            </a:r>
            <a:endParaRPr lang="en-US" altLang="zh-CN" sz="1800" dirty="0"/>
          </a:p>
          <a:p>
            <a:pPr algn="l"/>
            <a:r>
              <a:rPr lang="en-US" altLang="zh-CN" sz="1800" dirty="0"/>
              <a:t>-(-x)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x</a:t>
            </a:r>
            <a:endParaRPr lang="en-US" altLang="zh-CN" sz="1800" dirty="0"/>
          </a:p>
          <a:p>
            <a:pPr algn="l"/>
            <a:r>
              <a:rPr lang="en-US" altLang="zh-CN" sz="1800" b="1" dirty="0"/>
              <a:t>4.</a:t>
            </a:r>
            <a:r>
              <a:rPr lang="zh-CN" altLang="en-US" sz="1800" b="1" dirty="0"/>
              <a:t>消除冗余括号：</a:t>
            </a:r>
            <a:endParaRPr lang="zh-CN" altLang="en-US" sz="1800" b="1" dirty="0"/>
          </a:p>
          <a:p>
            <a:pPr algn="l"/>
            <a:r>
              <a:rPr lang="en-US" altLang="zh-CN" sz="1800" dirty="0"/>
              <a:t>((a))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a</a:t>
            </a:r>
            <a:endParaRPr lang="en-US" altLang="zh-CN" sz="1800" dirty="0"/>
          </a:p>
          <a:p>
            <a:pPr algn="l"/>
            <a:r>
              <a:rPr lang="en-US" altLang="zh-CN" sz="1800" dirty="0"/>
              <a:t>(a + (b + c))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a + b + c</a:t>
            </a:r>
            <a:endParaRPr lang="en-US" altLang="zh-CN" sz="1800" dirty="0"/>
          </a:p>
          <a:p>
            <a:pPr algn="l"/>
            <a:endParaRPr lang="zh-CN" altLang="en-US" sz="1800" dirty="0"/>
          </a:p>
          <a:p>
            <a:pPr algn="l"/>
            <a:endParaRPr lang="en-US" altLang="zh-CN" sz="1800" dirty="0"/>
          </a:p>
        </p:txBody>
      </p:sp>
      <p:sp>
        <p:nvSpPr>
          <p:cNvPr id="13" name="内容占位符 2"/>
          <p:cNvSpPr txBox="1">
            <a:spLocks noChangeArrowheads="1"/>
          </p:cNvSpPr>
          <p:nvPr/>
        </p:nvSpPr>
        <p:spPr>
          <a:xfrm>
            <a:off x="374009" y="1364457"/>
            <a:ext cx="3308669" cy="4502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/>
              <a:t>表达式优化考虑的情况</a:t>
            </a:r>
            <a:endParaRPr lang="en-US" altLang="zh-CN" sz="1800" b="1" dirty="0"/>
          </a:p>
          <a:p>
            <a:pPr algn="l"/>
            <a:r>
              <a:rPr lang="en-US" altLang="zh-CN" sz="1800" b="1" dirty="0"/>
              <a:t>1.</a:t>
            </a:r>
            <a:r>
              <a:rPr lang="zh-CN" altLang="en-US" sz="1800" b="1" dirty="0"/>
              <a:t>与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的运算：</a:t>
            </a:r>
            <a:endParaRPr lang="zh-CN" altLang="en-US" sz="1800" b="1" dirty="0"/>
          </a:p>
          <a:p>
            <a:pPr algn="l"/>
            <a:r>
              <a:rPr lang="en-US" altLang="zh-CN" sz="1800" dirty="0"/>
              <a:t>x + 0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x</a:t>
            </a:r>
            <a:endParaRPr lang="en-US" altLang="zh-CN" sz="1800" dirty="0"/>
          </a:p>
          <a:p>
            <a:pPr algn="l"/>
            <a:r>
              <a:rPr lang="en-US" altLang="zh-CN" sz="1800" dirty="0"/>
              <a:t>x - 0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x</a:t>
            </a:r>
            <a:endParaRPr lang="en-US" altLang="zh-CN" sz="1800" dirty="0"/>
          </a:p>
          <a:p>
            <a:pPr algn="l"/>
            <a:r>
              <a:rPr lang="en-US" altLang="zh-CN" sz="1800" dirty="0"/>
              <a:t>0 * x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0</a:t>
            </a:r>
            <a:endParaRPr lang="en-US" altLang="zh-CN" sz="1800" dirty="0"/>
          </a:p>
          <a:p>
            <a:pPr algn="l"/>
            <a:r>
              <a:rPr lang="en-US" altLang="zh-CN" sz="1800" dirty="0"/>
              <a:t>0 / x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0</a:t>
            </a:r>
            <a:r>
              <a:rPr lang="zh-CN" altLang="en-US" sz="1800" dirty="0"/>
              <a:t>（假设 </a:t>
            </a:r>
            <a:r>
              <a:rPr lang="en-US" altLang="zh-CN" sz="1800" dirty="0"/>
              <a:t>x </a:t>
            </a:r>
            <a:r>
              <a:rPr lang="zh-CN" altLang="en-US" sz="1800" dirty="0"/>
              <a:t>不为</a:t>
            </a:r>
            <a:r>
              <a:rPr lang="en-US" altLang="zh-CN" sz="1800" dirty="0"/>
              <a:t>0</a:t>
            </a:r>
            <a:r>
              <a:rPr lang="zh-CN" altLang="en-US" sz="1800" dirty="0"/>
              <a:t>）</a:t>
            </a:r>
            <a:endParaRPr lang="zh-CN" altLang="en-US" sz="1800" dirty="0"/>
          </a:p>
          <a:p>
            <a:pPr algn="l"/>
            <a:r>
              <a:rPr lang="en-US" altLang="zh-CN" sz="1800" dirty="0"/>
              <a:t>x * 0 </a:t>
            </a:r>
            <a:r>
              <a:rPr lang="zh-CN" altLang="en-US" sz="1800" dirty="0"/>
              <a:t>简化为 </a:t>
            </a:r>
            <a:r>
              <a:rPr lang="en-US" altLang="zh-CN" sz="1800" dirty="0"/>
              <a:t>0</a:t>
            </a:r>
            <a:endParaRPr lang="en-US" altLang="zh-CN" sz="1800" dirty="0"/>
          </a:p>
          <a:p>
            <a:pPr algn="l"/>
            <a:r>
              <a:rPr lang="en-US" altLang="zh-CN" sz="1800" dirty="0"/>
              <a:t>x / 0 </a:t>
            </a:r>
            <a:r>
              <a:rPr lang="zh-CN" altLang="en-US" sz="1800" dirty="0"/>
              <a:t>非法运算，抛出错误提示</a:t>
            </a:r>
            <a:endParaRPr lang="zh-CN" altLang="en-US" sz="1800" b="1" dirty="0"/>
          </a:p>
          <a:p>
            <a:pPr algn="l"/>
            <a:endParaRPr lang="zh-CN" altLang="en-US" sz="1800" dirty="0"/>
          </a:p>
          <a:p>
            <a:pPr algn="l"/>
            <a:endParaRPr lang="zh-CN" altLang="en-US" sz="1800" dirty="0"/>
          </a:p>
          <a:p>
            <a:pPr algn="l"/>
            <a:endParaRPr lang="en-US" altLang="zh-CN" sz="1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hmOWJmOGI4NzRkMDY4OWFmZjc3YjFkZjRjN2ZiMW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WPS 演示</Application>
  <PresentationFormat>宽屏</PresentationFormat>
  <Paragraphs>85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黑体</vt:lpstr>
      <vt:lpstr>汉仪中黑KW</vt:lpstr>
      <vt:lpstr>汉仪书宋二KW</vt:lpstr>
      <vt:lpstr>等线 Light</vt:lpstr>
      <vt:lpstr>汉仪中等线KW</vt:lpstr>
      <vt:lpstr>等线</vt:lpstr>
      <vt:lpstr>微软雅黑</vt:lpstr>
      <vt:lpstr>汉仪旗黑</vt:lpstr>
      <vt:lpstr>宋体</vt:lpstr>
      <vt:lpstr>Arial Unicode MS</vt:lpstr>
      <vt:lpstr>Calibri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培挺 朱</dc:creator>
  <cp:lastModifiedBy>王玮</cp:lastModifiedBy>
  <cp:revision>112</cp:revision>
  <dcterms:created xsi:type="dcterms:W3CDTF">2024-10-16T02:31:01Z</dcterms:created>
  <dcterms:modified xsi:type="dcterms:W3CDTF">2024-10-16T02:31:01Z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4769F11872BDF90955210F67C2D0D37D_43</vt:lpwstr>
  </property>
  <property fmtid="{D5CDD505-2E9C-101B-9397-08002B2CF9AE}" pid="3" name="KSOProductBuildVer">
    <vt:lpwstr>2052-6.10.1.8873</vt:lpwstr>
  </property>
</Properties>
</file>