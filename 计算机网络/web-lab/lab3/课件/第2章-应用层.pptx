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3"/>
  </p:notesMasterIdLst>
  <p:sldIdLst>
    <p:sldId id="836" r:id="rId2"/>
    <p:sldId id="1250" r:id="rId3"/>
    <p:sldId id="1206" r:id="rId4"/>
    <p:sldId id="1612" r:id="rId5"/>
    <p:sldId id="1151" r:id="rId6"/>
    <p:sldId id="1156" r:id="rId7"/>
    <p:sldId id="1207" r:id="rId8"/>
    <p:sldId id="1071" r:id="rId9"/>
    <p:sldId id="1072" r:id="rId10"/>
    <p:sldId id="1076" r:id="rId11"/>
    <p:sldId id="1078" r:id="rId12"/>
    <p:sldId id="1077" r:id="rId13"/>
    <p:sldId id="843" r:id="rId14"/>
    <p:sldId id="1080" r:id="rId15"/>
    <p:sldId id="845" r:id="rId16"/>
    <p:sldId id="1079" r:id="rId17"/>
    <p:sldId id="1613" r:id="rId18"/>
    <p:sldId id="1157" r:id="rId19"/>
    <p:sldId id="589" r:id="rId20"/>
    <p:sldId id="1614" r:id="rId21"/>
    <p:sldId id="1615" r:id="rId22"/>
    <p:sldId id="1616" r:id="rId23"/>
    <p:sldId id="1618" r:id="rId24"/>
    <p:sldId id="1617" r:id="rId25"/>
    <p:sldId id="1620" r:id="rId26"/>
    <p:sldId id="1622" r:id="rId27"/>
    <p:sldId id="1621" r:id="rId28"/>
    <p:sldId id="1623" r:id="rId29"/>
    <p:sldId id="1624" r:id="rId30"/>
    <p:sldId id="1626" r:id="rId31"/>
    <p:sldId id="1625" r:id="rId32"/>
    <p:sldId id="1627" r:id="rId33"/>
    <p:sldId id="1628" r:id="rId34"/>
    <p:sldId id="1629" r:id="rId35"/>
    <p:sldId id="1630" r:id="rId36"/>
    <p:sldId id="1771" r:id="rId37"/>
    <p:sldId id="1631" r:id="rId38"/>
    <p:sldId id="1634" r:id="rId39"/>
    <p:sldId id="1635" r:id="rId40"/>
    <p:sldId id="1633" r:id="rId41"/>
    <p:sldId id="1632" r:id="rId42"/>
    <p:sldId id="1637" r:id="rId43"/>
    <p:sldId id="1638" r:id="rId44"/>
    <p:sldId id="1639" r:id="rId45"/>
    <p:sldId id="1640" r:id="rId46"/>
    <p:sldId id="1641" r:id="rId47"/>
    <p:sldId id="1642" r:id="rId48"/>
    <p:sldId id="1643" r:id="rId49"/>
    <p:sldId id="1644" r:id="rId50"/>
    <p:sldId id="1645" r:id="rId51"/>
    <p:sldId id="1647" r:id="rId52"/>
    <p:sldId id="1684" r:id="rId53"/>
    <p:sldId id="1648" r:id="rId54"/>
    <p:sldId id="1649" r:id="rId55"/>
    <p:sldId id="1650" r:id="rId56"/>
    <p:sldId id="1651" r:id="rId57"/>
    <p:sldId id="1652" r:id="rId58"/>
    <p:sldId id="1653" r:id="rId59"/>
    <p:sldId id="1654" r:id="rId60"/>
    <p:sldId id="1655" r:id="rId61"/>
    <p:sldId id="1686" r:id="rId62"/>
    <p:sldId id="1687" r:id="rId63"/>
    <p:sldId id="1688" r:id="rId64"/>
    <p:sldId id="1689" r:id="rId65"/>
    <p:sldId id="1701" r:id="rId66"/>
    <p:sldId id="1704" r:id="rId67"/>
    <p:sldId id="1703" r:id="rId68"/>
    <p:sldId id="1702" r:id="rId69"/>
    <p:sldId id="1705" r:id="rId70"/>
    <p:sldId id="1706" r:id="rId71"/>
    <p:sldId id="1707" r:id="rId72"/>
    <p:sldId id="1708" r:id="rId73"/>
    <p:sldId id="1709" r:id="rId74"/>
    <p:sldId id="1710" r:id="rId75"/>
    <p:sldId id="1711" r:id="rId76"/>
    <p:sldId id="1712" r:id="rId77"/>
    <p:sldId id="964" r:id="rId78"/>
    <p:sldId id="1766" r:id="rId79"/>
    <p:sldId id="1768" r:id="rId80"/>
    <p:sldId id="967" r:id="rId81"/>
    <p:sldId id="873" r:id="rId82"/>
    <p:sldId id="878" r:id="rId83"/>
    <p:sldId id="881" r:id="rId84"/>
    <p:sldId id="1585" r:id="rId85"/>
    <p:sldId id="1586" r:id="rId86"/>
    <p:sldId id="1587" r:id="rId87"/>
    <p:sldId id="1603" r:id="rId88"/>
    <p:sldId id="1605" r:id="rId89"/>
    <p:sldId id="1607" r:id="rId90"/>
    <p:sldId id="1592" r:id="rId91"/>
    <p:sldId id="1610" r:id="rId92"/>
    <p:sldId id="1611" r:id="rId93"/>
    <p:sldId id="1741" r:id="rId94"/>
    <p:sldId id="1742" r:id="rId95"/>
    <p:sldId id="1743" r:id="rId96"/>
    <p:sldId id="1744" r:id="rId97"/>
    <p:sldId id="1745" r:id="rId98"/>
    <p:sldId id="1746" r:id="rId99"/>
    <p:sldId id="1422" r:id="rId100"/>
    <p:sldId id="1747" r:id="rId101"/>
    <p:sldId id="1748" r:id="rId102"/>
    <p:sldId id="1749" r:id="rId103"/>
    <p:sldId id="1750" r:id="rId104"/>
    <p:sldId id="1751" r:id="rId105"/>
    <p:sldId id="1752" r:id="rId106"/>
    <p:sldId id="1753" r:id="rId107"/>
    <p:sldId id="1754" r:id="rId108"/>
    <p:sldId id="1755" r:id="rId109"/>
    <p:sldId id="1756" r:id="rId110"/>
    <p:sldId id="1757" r:id="rId111"/>
    <p:sldId id="1636" r:id="rId112"/>
    <p:sldId id="1758" r:id="rId113"/>
    <p:sldId id="1759" r:id="rId114"/>
    <p:sldId id="1760" r:id="rId115"/>
    <p:sldId id="1761" r:id="rId116"/>
    <p:sldId id="1762" r:id="rId117"/>
    <p:sldId id="1763" r:id="rId118"/>
    <p:sldId id="1764" r:id="rId119"/>
    <p:sldId id="1646" r:id="rId120"/>
    <p:sldId id="1765" r:id="rId121"/>
    <p:sldId id="1770" r:id="rId1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09B7"/>
    <a:srgbClr val="FF00FF"/>
    <a:srgbClr val="7E0C6E"/>
    <a:srgbClr val="FE4365"/>
    <a:srgbClr val="83AF9B"/>
    <a:srgbClr val="F9CDAD"/>
    <a:srgbClr val="C8C8A9"/>
    <a:srgbClr val="FD9D9A"/>
    <a:srgbClr val="DFD1E1"/>
    <a:srgbClr val="CBB5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59" autoAdjust="0"/>
    <p:restoredTop sz="88954" autoAdjust="0"/>
  </p:normalViewPr>
  <p:slideViewPr>
    <p:cSldViewPr snapToGrid="0">
      <p:cViewPr varScale="1">
        <p:scale>
          <a:sx n="81" d="100"/>
          <a:sy n="81" d="100"/>
        </p:scale>
        <p:origin x="12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06BB4-2C65-4E2B-839D-4CED5A4305D5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75FF09-559A-413E-B23E-0DFCD03CDBD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zw.cn/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aidu.com/link?url=agGvYIDMxdGjvGnDgBwrit0V_yyruQpVJs9S4ZvmGRpmbRMaf5uyUFgVwuG0fZ15WqJx0eHJ1u7NC9FV6VRCW_" TargetMode="External"/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aidu.com/link?url=agGvYIDMxdGjvGnDgBwrit0V_yyruQpVJs9S4ZvmGRpmbRMaf5uyUFgVwuG0fZ15WqJx0eHJ1u7NC9FV6VRCW_" TargetMode="External"/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0E898E-1401-4DDB-B865-CE6AAD04AEFC}" type="slidenum">
              <a:rPr lang="en-US" altLang="zh-CN" smtClean="0"/>
              <a:t>1</a:t>
            </a:fld>
            <a:endParaRPr lang="en-US" altLang="zh-CN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42D697-9AD4-4C24-ACAC-6A0F4A4BCD4E}" type="slidenum">
              <a:rPr lang="en-US" altLang="zh-CN" sz="1300" smtClean="0"/>
              <a:t>4</a:t>
            </a:fld>
            <a:endParaRPr lang="en-US" altLang="zh-CN" sz="13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>
              <a:lnSpc>
                <a:spcPct val="100000"/>
              </a:lnSpc>
              <a:buClrTx/>
              <a:buSzTx/>
            </a:pP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、互联网发展</a:t>
            </a:r>
          </a:p>
          <a:p>
            <a:pPr lvl="1" algn="just">
              <a:lnSpc>
                <a:spcPct val="100000"/>
              </a:lnSpc>
              <a:buClrTx/>
              <a:buSzTx/>
            </a:pPr>
            <a:r>
              <a:rPr lang="zh-CN" altLang="en-US" dirty="0">
                <a:sym typeface="+mn-ea"/>
              </a:rPr>
              <a:t>Hosts.txt文件变得</a:t>
            </a:r>
            <a:r>
              <a:rPr kumimoji="1" lang="en-US" altLang="zh-CN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sym typeface="+mn-ea"/>
              </a:rPr>
              <a:t>越来越大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sym typeface="+mn-ea"/>
            </a:endParaRPr>
          </a:p>
          <a:p>
            <a:pPr lvl="1" algn="just">
              <a:lnSpc>
                <a:spcPct val="100000"/>
              </a:lnSpc>
              <a:buClrTx/>
              <a:buSzTx/>
            </a:pPr>
            <a:r>
              <a:rPr lang="zh-CN" altLang="en-US" dirty="0">
                <a:sym typeface="+mn-ea"/>
              </a:rPr>
              <a:t>需要</a:t>
            </a:r>
            <a:r>
              <a:rPr kumimoji="1" lang="en-US" altLang="zh-CN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sym typeface="+mn-ea"/>
              </a:rPr>
              <a:t>集中管理</a:t>
            </a:r>
            <a:r>
              <a:rPr lang="zh-CN" altLang="en-US" dirty="0">
                <a:sym typeface="+mn-ea"/>
              </a:rPr>
              <a:t>来防止主机名冲突</a:t>
            </a:r>
          </a:p>
          <a:p>
            <a:pPr algn="just">
              <a:lnSpc>
                <a:spcPct val="100000"/>
              </a:lnSpc>
              <a:buClrTx/>
              <a:buSzTx/>
            </a:pP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、1987年发布了域名系统的RFC文档（RFC1034、RFC1035）</a:t>
            </a:r>
            <a:endParaRPr lang="zh-CN" altLang="en-US" dirty="0"/>
          </a:p>
          <a:p>
            <a:pPr lvl="1" algn="just">
              <a:lnSpc>
                <a:spcPct val="100000"/>
              </a:lnSpc>
              <a:buClrTx/>
              <a:buSzTx/>
            </a:pPr>
            <a:r>
              <a:rPr lang="zh-CN" altLang="en-US" dirty="0">
                <a:sym typeface="+mn-ea"/>
              </a:rPr>
              <a:t>采用了一种</a:t>
            </a:r>
            <a:r>
              <a:rPr kumimoji="1" lang="en-US" altLang="zh-CN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sym typeface="+mn-ea"/>
              </a:rPr>
              <a:t>层次的、基于域</a:t>
            </a:r>
            <a:r>
              <a:rPr lang="zh-CN" altLang="en-US" dirty="0">
                <a:sym typeface="+mn-ea"/>
              </a:rPr>
              <a:t>的命名模式，并使用</a:t>
            </a:r>
            <a:r>
              <a:rPr kumimoji="1" lang="en-US" altLang="zh-CN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sym typeface="+mn-ea"/>
              </a:rPr>
              <a:t>分布式数据库系统</a:t>
            </a:r>
            <a:r>
              <a:rPr lang="zh-CN" altLang="en-US" dirty="0">
                <a:sym typeface="+mn-ea"/>
              </a:rPr>
              <a:t>实现</a:t>
            </a:r>
          </a:p>
          <a:p>
            <a:pPr lvl="1" algn="just">
              <a:lnSpc>
                <a:spcPct val="100000"/>
              </a:lnSpc>
              <a:buClrTx/>
              <a:buSzTx/>
            </a:pPr>
            <a:r>
              <a:rPr lang="zh-CN" altLang="en-US" dirty="0">
                <a:sym typeface="+mn-ea"/>
              </a:rPr>
              <a:t>主要用途是将</a:t>
            </a:r>
            <a:r>
              <a:rPr kumimoji="1" lang="en-US" altLang="zh-CN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sym typeface="+mn-ea"/>
              </a:rPr>
              <a:t>主机名映射成IP地址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51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52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2200" dirty="0"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cs typeface="Times New Roman" panose="02020603050405020304" pitchFamily="18" charset="0"/>
              </a:rPr>
              <a:t>、可以支持大规模、快速扩展的名字集合，不需要中心站点的支持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800" dirty="0">
                <a:cs typeface="Times New Roman" panose="02020603050405020304" pitchFamily="18" charset="0"/>
              </a:rPr>
              <a:t>通过部分名字空间的授权实现非集中是管理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800" dirty="0">
                <a:cs typeface="Times New Roman" panose="02020603050405020304" pitchFamily="18" charset="0"/>
              </a:rPr>
              <a:t>名字到地址的映射可以通过分布方式实现</a:t>
            </a:r>
            <a:endParaRPr lang="zh-CN" altLang="en-US" dirty="0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53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54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Whois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查询：中国万网（</a:t>
            </a:r>
            <a:r>
              <a:rPr lang="en-US" altLang="zh-CN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3"/>
              </a:rPr>
              <a:t>www.zw.cn</a:t>
            </a:r>
            <a:r>
              <a:rPr lang="zh-CN" altLang="en-US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）、站长之家（</a:t>
            </a:r>
            <a:r>
              <a:rPr lang="en-US" altLang="zh-CN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whois.chinaz.com</a:t>
            </a:r>
            <a:r>
              <a:rPr lang="zh-CN" altLang="en-US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dirty="0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55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56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57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58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59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zh-CN" altLang="en-US" sz="1200" dirty="0"/>
              <a:t>反复解析：</a:t>
            </a:r>
            <a:endParaRPr lang="en-US" altLang="zh-CN" sz="1200" dirty="0"/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/>
              <a:t>contacted server replies with name of server to contact</a:t>
            </a: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/>
              <a:t>I don’t know this name, but ask this server</a:t>
            </a: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endParaRPr lang="en-US" altLang="zh-CN" sz="1200" dirty="0"/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zh-CN" altLang="en-US" sz="1200" dirty="0"/>
              <a:t>递归解析：</a:t>
            </a:r>
            <a:endParaRPr lang="en-US" altLang="zh-CN" sz="1200" dirty="0"/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puts burden of name resolution on contacted name server</a:t>
            </a: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heavy load?</a:t>
            </a:r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60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zh-CN" altLang="en-US" sz="1200" dirty="0"/>
              <a:t>反复解析：</a:t>
            </a:r>
            <a:endParaRPr lang="en-US" altLang="zh-CN" sz="1200" dirty="0"/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/>
              <a:t>contacted server replies with name of server to contact</a:t>
            </a: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/>
              <a:t>I don’t know this name, but ask this server</a:t>
            </a: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endParaRPr lang="en-US" altLang="zh-CN" sz="1200" dirty="0"/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zh-CN" altLang="en-US" sz="1200" dirty="0"/>
              <a:t>递归解析：</a:t>
            </a:r>
            <a:endParaRPr lang="en-US" altLang="zh-CN" sz="1200" dirty="0"/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puts burden of name resolution on contacted name server</a:t>
            </a: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heavy load?</a:t>
            </a:r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61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zh-CN" altLang="en-US" sz="1200" dirty="0"/>
              <a:t>反复解析：</a:t>
            </a:r>
            <a:endParaRPr lang="en-US" altLang="zh-CN" sz="1200" dirty="0"/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/>
              <a:t>contacted server replies with name of server to contact</a:t>
            </a: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/>
              <a:t>I don’t know this name, but ask this server</a:t>
            </a: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endParaRPr lang="en-US" altLang="zh-CN" sz="1200" dirty="0"/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zh-CN" altLang="en-US" sz="1200" dirty="0"/>
              <a:t>递归解析：</a:t>
            </a:r>
            <a:endParaRPr lang="en-US" altLang="zh-CN" sz="1200" dirty="0"/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puts burden of name resolution on contacted name server</a:t>
            </a: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heavy load?</a:t>
            </a:r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62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zh-CN" altLang="en-US" sz="1200" dirty="0"/>
              <a:t>反复解析：</a:t>
            </a:r>
            <a:endParaRPr lang="en-US" altLang="zh-CN" sz="1200" dirty="0"/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/>
              <a:t>contacted server replies with name of server to contact</a:t>
            </a: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/>
              <a:t>I don’t know this name, but ask this server</a:t>
            </a: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endParaRPr lang="en-US" altLang="zh-CN" sz="1200" dirty="0"/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zh-CN" altLang="en-US" sz="1200" dirty="0"/>
              <a:t>递归解析：</a:t>
            </a:r>
            <a:endParaRPr lang="en-US" altLang="zh-CN" sz="1200" dirty="0"/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puts burden of name resolution on contacted name server</a:t>
            </a: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heavy load?</a:t>
            </a:r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63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zh-CN" altLang="en-US" sz="1200" dirty="0">
                <a:ea typeface="宋体" panose="02010600030101010101" pitchFamily="2" charset="-122"/>
              </a:rPr>
              <a:t>实际的缓存有多级：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ea typeface="宋体" panose="02010600030101010101" pitchFamily="2" charset="-122"/>
              </a:rPr>
              <a:t>、本地服务器缓存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2</a:t>
            </a:r>
            <a:r>
              <a:rPr lang="zh-CN" altLang="en-US" sz="1200" dirty="0">
                <a:ea typeface="宋体" panose="02010600030101010101" pitchFamily="2" charset="-122"/>
              </a:rPr>
              <a:t>、主机操作系统缓存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3</a:t>
            </a:r>
            <a:r>
              <a:rPr lang="zh-CN" altLang="en-US" sz="1200" dirty="0">
                <a:ea typeface="宋体" panose="02010600030101010101" pitchFamily="2" charset="-122"/>
              </a:rPr>
              <a:t>、各应用缓存</a:t>
            </a:r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64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zh-CN" altLang="en-US" sz="1200" dirty="0">
                <a:ea typeface="宋体" panose="02010600030101010101" pitchFamily="2" charset="-122"/>
              </a:rPr>
              <a:t>实际的缓存有多级：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ea typeface="宋体" panose="02010600030101010101" pitchFamily="2" charset="-122"/>
              </a:rPr>
              <a:t>、本地服务器缓存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2</a:t>
            </a:r>
            <a:r>
              <a:rPr lang="zh-CN" altLang="en-US" sz="1200" dirty="0">
                <a:ea typeface="宋体" panose="02010600030101010101" pitchFamily="2" charset="-122"/>
              </a:rPr>
              <a:t>、主机操作系统缓存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3</a:t>
            </a:r>
            <a:r>
              <a:rPr lang="zh-CN" altLang="en-US" sz="1200" dirty="0">
                <a:ea typeface="宋体" panose="02010600030101010101" pitchFamily="2" charset="-122"/>
              </a:rPr>
              <a:t>、各应用缓存</a:t>
            </a:r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65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zh-CN" altLang="en-US" sz="1200" dirty="0">
                <a:ea typeface="宋体" panose="02010600030101010101" pitchFamily="2" charset="-122"/>
              </a:rPr>
              <a:t>实际的缓存有多级：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ea typeface="宋体" panose="02010600030101010101" pitchFamily="2" charset="-122"/>
              </a:rPr>
              <a:t>、本地服务器缓存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2</a:t>
            </a:r>
            <a:r>
              <a:rPr lang="zh-CN" altLang="en-US" sz="1200" dirty="0">
                <a:ea typeface="宋体" panose="02010600030101010101" pitchFamily="2" charset="-122"/>
              </a:rPr>
              <a:t>、主机操作系统缓存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3</a:t>
            </a:r>
            <a:r>
              <a:rPr lang="zh-CN" altLang="en-US" sz="1200" dirty="0">
                <a:ea typeface="宋体" panose="02010600030101010101" pitchFamily="2" charset="-122"/>
              </a:rPr>
              <a:t>、各应用缓存</a:t>
            </a:r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66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zh-CN" altLang="en-US" sz="1200" dirty="0">
                <a:ea typeface="宋体" panose="02010600030101010101" pitchFamily="2" charset="-122"/>
              </a:rPr>
              <a:t>实际的缓存有多级：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ea typeface="宋体" panose="02010600030101010101" pitchFamily="2" charset="-122"/>
              </a:rPr>
              <a:t>、本地服务器缓存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2</a:t>
            </a:r>
            <a:r>
              <a:rPr lang="zh-CN" altLang="en-US" sz="1200" dirty="0">
                <a:ea typeface="宋体" panose="02010600030101010101" pitchFamily="2" charset="-122"/>
              </a:rPr>
              <a:t>、主机操作系统缓存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3</a:t>
            </a:r>
            <a:r>
              <a:rPr lang="zh-CN" altLang="en-US" sz="1200" dirty="0">
                <a:ea typeface="宋体" panose="02010600030101010101" pitchFamily="2" charset="-122"/>
              </a:rPr>
              <a:t>、各应用缓存</a:t>
            </a:r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67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zh-CN" altLang="en-US" sz="1200" dirty="0">
                <a:ea typeface="宋体" panose="02010600030101010101" pitchFamily="2" charset="-122"/>
              </a:rPr>
              <a:t>实际的缓存有多级：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ea typeface="宋体" panose="02010600030101010101" pitchFamily="2" charset="-122"/>
              </a:rPr>
              <a:t>、本地服务器缓存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2</a:t>
            </a:r>
            <a:r>
              <a:rPr lang="zh-CN" altLang="en-US" sz="1200" dirty="0">
                <a:ea typeface="宋体" panose="02010600030101010101" pitchFamily="2" charset="-122"/>
              </a:rPr>
              <a:t>、主机操作系统缓存</a:t>
            </a:r>
            <a:endParaRPr lang="en-US" altLang="zh-CN" sz="1200" dirty="0">
              <a:ea typeface="宋体" panose="02010600030101010101" pitchFamily="2" charset="-122"/>
            </a:endParaRPr>
          </a:p>
          <a:p>
            <a:pPr>
              <a:buClr>
                <a:srgbClr val="0000FF"/>
              </a:buClr>
              <a:buSzPct val="90000"/>
              <a:buFont typeface="ZapfDingbats" pitchFamily="82" charset="2"/>
              <a:buNone/>
            </a:pPr>
            <a:r>
              <a:rPr lang="en-US" altLang="zh-CN" sz="1200" dirty="0">
                <a:ea typeface="宋体" panose="02010600030101010101" pitchFamily="2" charset="-122"/>
              </a:rPr>
              <a:t>3</a:t>
            </a:r>
            <a:r>
              <a:rPr lang="zh-CN" altLang="en-US" sz="1200" dirty="0">
                <a:ea typeface="宋体" panose="02010600030101010101" pitchFamily="2" charset="-122"/>
              </a:rPr>
              <a:t>、各应用缓存</a:t>
            </a:r>
            <a:endParaRPr lang="en-US" altLang="zh-CN" sz="1200" dirty="0">
              <a:ea typeface="宋体" panose="02010600030101010101" pitchFamily="2" charset="-122"/>
            </a:endParaRPr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68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69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70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71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72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73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74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75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78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67105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defTabSz="96710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2985D7-2DC4-4AE2-AF47-9810C47DCACC}" type="slidenum">
              <a:rPr lang="en-US" altLang="zh-CN" sz="1300">
                <a:latin typeface="Times New Roman" panose="02020603050405020304" pitchFamily="18" charset="0"/>
              </a:rPr>
              <a:t>79</a:t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4500B8-8090-4C06-95A9-8E40F373F9DA}" type="slidenum">
              <a:rPr lang="en-US" altLang="zh-CN" smtClean="0"/>
              <a:t>83</a:t>
            </a:fld>
            <a:endParaRPr lang="en-US" altLang="zh-CN"/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lvl="1" eaLnBrk="1" hangingPunct="1"/>
            <a:r>
              <a:rPr lang="en-US" altLang="zh-CN"/>
              <a:t>1. </a:t>
            </a:r>
            <a:r>
              <a:rPr lang="zh-CN" altLang="en-US"/>
              <a:t>主服务器进程：守侯在</a:t>
            </a:r>
            <a:r>
              <a:rPr lang="en-US" altLang="zh-CN"/>
              <a:t>21</a:t>
            </a:r>
            <a:r>
              <a:rPr lang="zh-CN" altLang="en-US"/>
              <a:t>口</a:t>
            </a:r>
          </a:p>
          <a:p>
            <a:pPr lvl="1" eaLnBrk="1" hangingPunct="1"/>
            <a:r>
              <a:rPr lang="en-US" altLang="zh-CN"/>
              <a:t>2. </a:t>
            </a:r>
            <a:r>
              <a:rPr lang="zh-CN" altLang="en-US"/>
              <a:t>客户控制进程：由用户激活，负责向主服务器进程发出连接请求（参数：服务器地址，本地用于控制连接和用于数据连接的</a:t>
            </a:r>
            <a:r>
              <a:rPr lang="en-US" altLang="zh-CN"/>
              <a:t>TCP</a:t>
            </a:r>
            <a:r>
              <a:rPr lang="zh-CN" altLang="en-US"/>
              <a:t>端口等）</a:t>
            </a:r>
          </a:p>
          <a:p>
            <a:pPr lvl="1" eaLnBrk="1" hangingPunct="1"/>
            <a:r>
              <a:rPr lang="en-US" altLang="zh-CN"/>
              <a:t>3. </a:t>
            </a:r>
            <a:r>
              <a:rPr lang="zh-CN" altLang="en-US"/>
              <a:t>服务器控制进程：主服务器进程在接收到客户控制进程而</a:t>
            </a:r>
            <a:r>
              <a:rPr lang="en-US" altLang="zh-CN"/>
              <a:t>fork</a:t>
            </a:r>
            <a:r>
              <a:rPr lang="zh-CN" altLang="en-US"/>
              <a:t>出的进程，用于与客户控制进程之间建立控制连接，便进入会话状态</a:t>
            </a:r>
          </a:p>
          <a:p>
            <a:pPr lvl="1" eaLnBrk="1" hangingPunct="1"/>
            <a:r>
              <a:rPr lang="en-US" altLang="zh-CN"/>
              <a:t>4. </a:t>
            </a:r>
            <a:r>
              <a:rPr lang="zh-CN" altLang="en-US"/>
              <a:t>服务器数据传输进程（</a:t>
            </a:r>
            <a:r>
              <a:rPr lang="en-US" altLang="zh-CN"/>
              <a:t>20</a:t>
            </a:r>
            <a:r>
              <a:rPr lang="zh-CN" altLang="en-US"/>
              <a:t>口）：当服务器控制进程接收到客户请求（控制命令）后</a:t>
            </a:r>
            <a:r>
              <a:rPr lang="en-US" altLang="zh-CN"/>
              <a:t>fork</a:t>
            </a:r>
            <a:r>
              <a:rPr lang="zh-CN" altLang="en-US"/>
              <a:t>出的进程，服务器控制进程向客户控制进程发出连接请求</a:t>
            </a:r>
          </a:p>
          <a:p>
            <a:pPr lvl="1" eaLnBrk="1" hangingPunct="1"/>
            <a:r>
              <a:rPr lang="en-US" altLang="zh-CN"/>
              <a:t>5. </a:t>
            </a:r>
            <a:r>
              <a:rPr lang="zh-CN" altLang="en-US"/>
              <a:t>客户数据传输进程：客户控制进程收到服务器控制进程发来的连接请求后</a:t>
            </a:r>
            <a:r>
              <a:rPr lang="en-US" altLang="zh-CN"/>
              <a:t>fork</a:t>
            </a:r>
            <a:r>
              <a:rPr lang="zh-CN" altLang="en-US"/>
              <a:t>出的进程，用于与服务器数据传输进程建立数据传输连接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42D697-9AD4-4C24-ACAC-6A0F4A4BCD4E}" type="slidenum">
              <a:rPr lang="en-US" altLang="zh-CN" sz="1300" smtClean="0"/>
              <a:t>84</a:t>
            </a:fld>
            <a:endParaRPr lang="en-US" altLang="zh-CN" sz="13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42D697-9AD4-4C24-ACAC-6A0F4A4BCD4E}" type="slidenum">
              <a:rPr lang="en-US" altLang="zh-CN" sz="1300" smtClean="0"/>
              <a:t>85</a:t>
            </a:fld>
            <a:endParaRPr lang="en-US" altLang="zh-CN" sz="13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、无状态协议：效率低、但简单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b="0" i="0" u="sng" dirty="0">
                <a:solidFill>
                  <a:srgbClr val="F73131"/>
                </a:solidFill>
                <a:effectLst/>
                <a:latin typeface="Arial" panose="020B0604020202020204" pitchFamily="34" charset="0"/>
                <a:hlinkClick r:id="rId3"/>
              </a:rPr>
              <a:t>RFC</a:t>
            </a:r>
            <a:r>
              <a:rPr lang="en-US" altLang="zh-CN" b="0" i="0" u="sng" dirty="0">
                <a:solidFill>
                  <a:srgbClr val="771CAA"/>
                </a:solidFill>
                <a:effectLst/>
                <a:latin typeface="Arial" panose="020B0604020202020204" pitchFamily="34" charset="0"/>
                <a:hlinkClick r:id="rId3"/>
              </a:rPr>
              <a:t> </a:t>
            </a:r>
            <a:r>
              <a:rPr lang="en-US" altLang="zh-CN" b="0" i="0" u="sng" dirty="0">
                <a:solidFill>
                  <a:srgbClr val="F73131"/>
                </a:solidFill>
                <a:effectLst/>
                <a:latin typeface="Arial" panose="020B0604020202020204" pitchFamily="34" charset="0"/>
                <a:hlinkClick r:id="rId3"/>
              </a:rPr>
              <a:t>8740</a:t>
            </a:r>
            <a:r>
              <a:rPr lang="en-US" altLang="zh-CN" b="0" i="0" u="sng" dirty="0">
                <a:solidFill>
                  <a:srgbClr val="771CAA"/>
                </a:solidFill>
                <a:effectLst/>
                <a:latin typeface="Arial" panose="020B0604020202020204" pitchFamily="34" charset="0"/>
                <a:hlinkClick r:id="rId3"/>
              </a:rPr>
              <a:t> - Using TLS 1.3 with HTTP/2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86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777841-C343-4617-B251-42B6A020A344}" type="slidenum">
              <a:rPr lang="en-US" altLang="zh-CN" smtClean="0"/>
              <a:t>88</a:t>
            </a:fld>
            <a:endParaRPr lang="en-US" altLang="zh-CN"/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sz="1400"/>
              <a:t>Persistent HTTP connections have a number of advantages:</a:t>
            </a:r>
          </a:p>
          <a:p>
            <a:pPr eaLnBrk="1" hangingPunct="1"/>
            <a:endParaRPr lang="en-US" altLang="zh-CN" sz="1400"/>
          </a:p>
          <a:p>
            <a:pPr eaLnBrk="1" hangingPunct="1"/>
            <a:r>
              <a:rPr lang="en-US" altLang="zh-CN" sz="1400"/>
              <a:t>     o  By opening and closing fewer TCP connections, CPU time is saved,</a:t>
            </a:r>
          </a:p>
          <a:p>
            <a:pPr eaLnBrk="1" hangingPunct="1"/>
            <a:r>
              <a:rPr lang="en-US" altLang="zh-CN" sz="1400"/>
              <a:t>        and memory used for TCP protocol control blocks is also saved.</a:t>
            </a:r>
          </a:p>
          <a:p>
            <a:pPr eaLnBrk="1" hangingPunct="1"/>
            <a:r>
              <a:rPr lang="en-US" altLang="zh-CN" sz="1400"/>
              <a:t>     o  HTTP requests and responses can be pipelined on a connection.</a:t>
            </a:r>
          </a:p>
          <a:p>
            <a:pPr eaLnBrk="1" hangingPunct="1"/>
            <a:r>
              <a:rPr lang="en-US" altLang="zh-CN" sz="1400"/>
              <a:t>        </a:t>
            </a:r>
            <a:r>
              <a:rPr lang="en-US" altLang="zh-CN" sz="1400" b="1"/>
              <a:t>Pipelining allows a client to make multiple requests without</a:t>
            </a:r>
          </a:p>
          <a:p>
            <a:pPr eaLnBrk="1" hangingPunct="1"/>
            <a:r>
              <a:rPr lang="en-US" altLang="zh-CN" sz="1400" b="1"/>
              <a:t>        waiting for each response, allowing a single TCP connection to be</a:t>
            </a:r>
          </a:p>
          <a:p>
            <a:pPr eaLnBrk="1" hangingPunct="1"/>
            <a:r>
              <a:rPr lang="en-US" altLang="zh-CN" sz="1400" b="1"/>
              <a:t>        used much more efficiently, with much lower elapsed time</a:t>
            </a:r>
            <a:r>
              <a:rPr lang="en-US" altLang="zh-CN" sz="1400"/>
              <a:t>.</a:t>
            </a:r>
          </a:p>
          <a:p>
            <a:pPr eaLnBrk="1" hangingPunct="1"/>
            <a:r>
              <a:rPr lang="en-US" altLang="zh-CN" sz="1400"/>
              <a:t>     o  Network congestion is reduced by reducing the number of packets</a:t>
            </a:r>
          </a:p>
          <a:p>
            <a:pPr eaLnBrk="1" hangingPunct="1"/>
            <a:r>
              <a:rPr lang="en-US" altLang="zh-CN" sz="1400"/>
              <a:t>        caused by TCP opens, and by allowing TCP sufficient time to</a:t>
            </a:r>
          </a:p>
          <a:p>
            <a:pPr eaLnBrk="1" hangingPunct="1"/>
            <a:r>
              <a:rPr lang="en-US" altLang="zh-CN" sz="1400"/>
              <a:t>        determine the congestion state of the network.</a:t>
            </a:r>
          </a:p>
          <a:p>
            <a:pPr eaLnBrk="1" hangingPunct="1"/>
            <a:r>
              <a:rPr lang="en-US" altLang="zh-CN" sz="1400"/>
              <a:t>     o  HTTP can evolve more gracefully; since errors can be reported</a:t>
            </a:r>
          </a:p>
          <a:p>
            <a:pPr eaLnBrk="1" hangingPunct="1"/>
            <a:r>
              <a:rPr lang="en-US" altLang="zh-CN" sz="1400"/>
              <a:t>        without the penalty of closing the TCP connection. Clients using</a:t>
            </a:r>
          </a:p>
          <a:p>
            <a:pPr eaLnBrk="1" hangingPunct="1"/>
            <a:r>
              <a:rPr lang="en-US" altLang="zh-CN" sz="1400"/>
              <a:t>        future versions of HTTP might optimistically try a new feature, but</a:t>
            </a:r>
          </a:p>
          <a:p>
            <a:pPr eaLnBrk="1" hangingPunct="1"/>
            <a:r>
              <a:rPr lang="en-US" altLang="zh-CN" sz="1400"/>
              <a:t>        if communicating with an older server, retry with old semantics</a:t>
            </a:r>
          </a:p>
          <a:p>
            <a:pPr eaLnBrk="1" hangingPunct="1"/>
            <a:r>
              <a:rPr lang="en-US" altLang="zh-CN" sz="1400"/>
              <a:t>        after an error is reported.</a:t>
            </a:r>
          </a:p>
          <a:p>
            <a:pPr eaLnBrk="1" hangingPunct="1"/>
            <a:endParaRPr lang="en-US" altLang="zh-CN" sz="1400"/>
          </a:p>
          <a:p>
            <a:pPr eaLnBrk="1" hangingPunct="1"/>
            <a:r>
              <a:rPr lang="en-US" altLang="zh-CN" sz="1400"/>
              <a:t>HTTP implementations SHOULD implement persistent connections.</a:t>
            </a:r>
          </a:p>
          <a:p>
            <a:pPr eaLnBrk="1" hangingPunct="1"/>
            <a:endParaRPr lang="en-US" altLang="zh-CN" sz="1400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Keep-Alive</a:t>
            </a:r>
            <a:r>
              <a:rPr lang="zh-CN" altLang="en-US" b="1" dirty="0"/>
              <a:t>模式</a:t>
            </a:r>
          </a:p>
          <a:p>
            <a:r>
              <a:rPr lang="zh-CN" altLang="en-US" dirty="0"/>
              <a:t>由上面的示例可以看到里面的请求头部和响应头部都有一个</a:t>
            </a:r>
            <a:r>
              <a:rPr lang="en-US" altLang="zh-CN" dirty="0"/>
              <a:t>key-</a:t>
            </a:r>
            <a:r>
              <a:rPr lang="en-US" altLang="zh-CN" dirty="0" err="1"/>
              <a:t>valueConnection</a:t>
            </a:r>
            <a:r>
              <a:rPr lang="en-US" altLang="zh-CN" dirty="0"/>
              <a:t>: Keep-Alive</a:t>
            </a:r>
            <a:r>
              <a:rPr lang="zh-CN" altLang="en-US" dirty="0"/>
              <a:t>，这个键值对的作用是让</a:t>
            </a:r>
            <a:r>
              <a:rPr lang="en-US" altLang="zh-CN" dirty="0"/>
              <a:t>HTTP</a:t>
            </a:r>
            <a:r>
              <a:rPr lang="zh-CN" altLang="en-US" dirty="0"/>
              <a:t>保持连接状态，因为</a:t>
            </a:r>
            <a:r>
              <a:rPr lang="en-US" altLang="zh-CN" dirty="0"/>
              <a:t>HTTP </a:t>
            </a:r>
            <a:r>
              <a:rPr lang="zh-CN" altLang="en-US" dirty="0"/>
              <a:t>协议采用“请求</a:t>
            </a:r>
            <a:r>
              <a:rPr lang="en-US" altLang="zh-CN" dirty="0"/>
              <a:t>-</a:t>
            </a:r>
            <a:r>
              <a:rPr lang="zh-CN" altLang="en-US" dirty="0"/>
              <a:t>应答”模式，当使用普通模式，即非 </a:t>
            </a:r>
            <a:r>
              <a:rPr lang="en-US" altLang="zh-CN" dirty="0"/>
              <a:t>Keep-Alive </a:t>
            </a:r>
            <a:r>
              <a:rPr lang="zh-CN" altLang="en-US" dirty="0"/>
              <a:t>模式时，每个请求</a:t>
            </a:r>
            <a:r>
              <a:rPr lang="en-US" altLang="zh-CN" dirty="0"/>
              <a:t>/</a:t>
            </a:r>
            <a:r>
              <a:rPr lang="zh-CN" altLang="en-US" dirty="0"/>
              <a:t>应答客户和服务器都要新建一个连接，完成之后立即断开连接（</a:t>
            </a:r>
            <a:r>
              <a:rPr lang="en-US" altLang="zh-CN" dirty="0"/>
              <a:t>HTTP </a:t>
            </a:r>
            <a:r>
              <a:rPr lang="zh-CN" altLang="en-US" dirty="0"/>
              <a:t>协议为无连接的协议）；当使用 </a:t>
            </a:r>
            <a:r>
              <a:rPr lang="en-US" altLang="zh-CN" dirty="0"/>
              <a:t>Keep-Alive </a:t>
            </a:r>
            <a:r>
              <a:rPr lang="zh-CN" altLang="en-US" dirty="0"/>
              <a:t>模式时，</a:t>
            </a:r>
            <a:r>
              <a:rPr lang="en-US" altLang="zh-CN" dirty="0"/>
              <a:t>Keep-Alive </a:t>
            </a:r>
            <a:r>
              <a:rPr lang="zh-CN" altLang="en-US" dirty="0"/>
              <a:t>功能使客户端到服务器端的连接持续有效。</a:t>
            </a:r>
          </a:p>
          <a:p>
            <a:r>
              <a:rPr lang="zh-CN" altLang="en-US" dirty="0"/>
              <a:t>在</a:t>
            </a:r>
            <a:r>
              <a:rPr lang="en-US" altLang="zh-CN" dirty="0"/>
              <a:t>HTTP 1.1</a:t>
            </a:r>
            <a:r>
              <a:rPr lang="zh-CN" altLang="en-US" dirty="0"/>
              <a:t>版本后，默认都开启</a:t>
            </a:r>
            <a:r>
              <a:rPr lang="en-US" altLang="zh-CN" dirty="0"/>
              <a:t>Keep-Alive</a:t>
            </a:r>
            <a:r>
              <a:rPr lang="zh-CN" altLang="en-US" dirty="0"/>
              <a:t>模式，只有加入加入 </a:t>
            </a:r>
            <a:r>
              <a:rPr lang="en-US" altLang="zh-CN" dirty="0"/>
              <a:t>Connection: close</a:t>
            </a:r>
            <a:r>
              <a:rPr lang="zh-CN" altLang="en-US" dirty="0"/>
              <a:t>才关闭连接，当然也可以设置</a:t>
            </a:r>
            <a:r>
              <a:rPr lang="en-US" altLang="zh-CN" dirty="0"/>
              <a:t>Keep-Alive</a:t>
            </a:r>
            <a:r>
              <a:rPr lang="zh-CN" altLang="en-US" dirty="0"/>
              <a:t>模式的属性，例如 </a:t>
            </a:r>
            <a:r>
              <a:rPr lang="en-US" altLang="zh-CN" dirty="0"/>
              <a:t>Keep-Alive: timeout=5, max=100</a:t>
            </a:r>
            <a:r>
              <a:rPr lang="zh-CN" altLang="en-US" dirty="0"/>
              <a:t>，表示这个</a:t>
            </a:r>
            <a:r>
              <a:rPr lang="en-US" altLang="zh-CN" dirty="0"/>
              <a:t>TCP</a:t>
            </a:r>
            <a:r>
              <a:rPr lang="zh-CN" altLang="en-US" dirty="0"/>
              <a:t>通道可以保持</a:t>
            </a:r>
            <a:r>
              <a:rPr lang="en-US" altLang="zh-CN" dirty="0"/>
              <a:t>5</a:t>
            </a:r>
            <a:r>
              <a:rPr lang="zh-CN" altLang="en-US" dirty="0"/>
              <a:t>秒，</a:t>
            </a:r>
            <a:r>
              <a:rPr lang="en-US" altLang="zh-CN" dirty="0"/>
              <a:t>max=100</a:t>
            </a:r>
            <a:r>
              <a:rPr lang="zh-CN" altLang="en-US" dirty="0"/>
              <a:t>，表示这个长连接最多接收</a:t>
            </a:r>
            <a:r>
              <a:rPr lang="en-US" altLang="zh-CN" dirty="0"/>
              <a:t>100</a:t>
            </a:r>
            <a:r>
              <a:rPr lang="zh-CN" altLang="en-US" dirty="0"/>
              <a:t>次请求就断开。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Connection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：请求：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close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（告诉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WEB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服务器或者代理服务器，在完成本次请求的响应后，断开连接，不要等待本次连接的后续请求了）。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keepalive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（告诉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WEB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服务器或者代理服务器，在完成本次请求的响应后，保持连接，等待本次连接的后续请求）。 响应：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close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（连接已经关闭）。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keepalive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（连接保持着，在等待本次连接的后续请求）。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Keep-Alive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：如果浏览器请求保持连接，则该头部表明希望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WEB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服务器保持连接多长时间（秒）。例如：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Keep-Alive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300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90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Keep-Alive</a:t>
            </a:r>
            <a:r>
              <a:rPr lang="zh-CN" altLang="en-US" b="1" dirty="0"/>
              <a:t>模式</a:t>
            </a:r>
          </a:p>
          <a:p>
            <a:r>
              <a:rPr lang="zh-CN" altLang="en-US" dirty="0"/>
              <a:t>由上面的示例可以看到里面的请求头部和响应头部都有一个</a:t>
            </a:r>
            <a:r>
              <a:rPr lang="en-US" altLang="zh-CN" dirty="0"/>
              <a:t>key-</a:t>
            </a:r>
            <a:r>
              <a:rPr lang="en-US" altLang="zh-CN" dirty="0" err="1"/>
              <a:t>valueConnection</a:t>
            </a:r>
            <a:r>
              <a:rPr lang="en-US" altLang="zh-CN" dirty="0"/>
              <a:t>: Keep-Alive</a:t>
            </a:r>
            <a:r>
              <a:rPr lang="zh-CN" altLang="en-US" dirty="0"/>
              <a:t>，这个键值对的作用是让</a:t>
            </a:r>
            <a:r>
              <a:rPr lang="en-US" altLang="zh-CN" dirty="0"/>
              <a:t>HTTP</a:t>
            </a:r>
            <a:r>
              <a:rPr lang="zh-CN" altLang="en-US" dirty="0"/>
              <a:t>保持连接状态，因为</a:t>
            </a:r>
            <a:r>
              <a:rPr lang="en-US" altLang="zh-CN" dirty="0"/>
              <a:t>HTTP </a:t>
            </a:r>
            <a:r>
              <a:rPr lang="zh-CN" altLang="en-US" dirty="0"/>
              <a:t>协议采用“请求</a:t>
            </a:r>
            <a:r>
              <a:rPr lang="en-US" altLang="zh-CN" dirty="0"/>
              <a:t>-</a:t>
            </a:r>
            <a:r>
              <a:rPr lang="zh-CN" altLang="en-US" dirty="0"/>
              <a:t>应答”模式，当使用普通模式，即非 </a:t>
            </a:r>
            <a:r>
              <a:rPr lang="en-US" altLang="zh-CN" dirty="0"/>
              <a:t>Keep-Alive </a:t>
            </a:r>
            <a:r>
              <a:rPr lang="zh-CN" altLang="en-US" dirty="0"/>
              <a:t>模式时，每个请求</a:t>
            </a:r>
            <a:r>
              <a:rPr lang="en-US" altLang="zh-CN" dirty="0"/>
              <a:t>/</a:t>
            </a:r>
            <a:r>
              <a:rPr lang="zh-CN" altLang="en-US" dirty="0"/>
              <a:t>应答客户和服务器都要新建一个连接，完成之后立即断开连接（</a:t>
            </a:r>
            <a:r>
              <a:rPr lang="en-US" altLang="zh-CN" dirty="0"/>
              <a:t>HTTP </a:t>
            </a:r>
            <a:r>
              <a:rPr lang="zh-CN" altLang="en-US" dirty="0"/>
              <a:t>协议为无连接的协议）；当使用 </a:t>
            </a:r>
            <a:r>
              <a:rPr lang="en-US" altLang="zh-CN" dirty="0"/>
              <a:t>Keep-Alive </a:t>
            </a:r>
            <a:r>
              <a:rPr lang="zh-CN" altLang="en-US" dirty="0"/>
              <a:t>模式时，</a:t>
            </a:r>
            <a:r>
              <a:rPr lang="en-US" altLang="zh-CN" dirty="0"/>
              <a:t>Keep-Alive </a:t>
            </a:r>
            <a:r>
              <a:rPr lang="zh-CN" altLang="en-US" dirty="0"/>
              <a:t>功能使客户端到服务器端的连接持续有效。</a:t>
            </a:r>
          </a:p>
          <a:p>
            <a:r>
              <a:rPr lang="zh-CN" altLang="en-US" dirty="0"/>
              <a:t>在</a:t>
            </a:r>
            <a:r>
              <a:rPr lang="en-US" altLang="zh-CN" dirty="0"/>
              <a:t>HTTP 1.1</a:t>
            </a:r>
            <a:r>
              <a:rPr lang="zh-CN" altLang="en-US" dirty="0"/>
              <a:t>版本后，默认都开启</a:t>
            </a:r>
            <a:r>
              <a:rPr lang="en-US" altLang="zh-CN" dirty="0"/>
              <a:t>Keep-Alive</a:t>
            </a:r>
            <a:r>
              <a:rPr lang="zh-CN" altLang="en-US" dirty="0"/>
              <a:t>模式，只有加入加入 </a:t>
            </a:r>
            <a:r>
              <a:rPr lang="en-US" altLang="zh-CN" dirty="0"/>
              <a:t>Connection: close</a:t>
            </a:r>
            <a:r>
              <a:rPr lang="zh-CN" altLang="en-US" dirty="0"/>
              <a:t>才关闭连接，当然也可以设置</a:t>
            </a:r>
            <a:r>
              <a:rPr lang="en-US" altLang="zh-CN" dirty="0"/>
              <a:t>Keep-Alive</a:t>
            </a:r>
            <a:r>
              <a:rPr lang="zh-CN" altLang="en-US" dirty="0"/>
              <a:t>模式的属性，例如 </a:t>
            </a:r>
            <a:r>
              <a:rPr lang="en-US" altLang="zh-CN" dirty="0"/>
              <a:t>Keep-Alive: timeout=5, max=100</a:t>
            </a:r>
            <a:r>
              <a:rPr lang="zh-CN" altLang="en-US" dirty="0"/>
              <a:t>，表示这个</a:t>
            </a:r>
            <a:r>
              <a:rPr lang="en-US" altLang="zh-CN" dirty="0"/>
              <a:t>TCP</a:t>
            </a:r>
            <a:r>
              <a:rPr lang="zh-CN" altLang="en-US" dirty="0"/>
              <a:t>通道可以保持</a:t>
            </a:r>
            <a:r>
              <a:rPr lang="en-US" altLang="zh-CN" dirty="0"/>
              <a:t>5</a:t>
            </a:r>
            <a:r>
              <a:rPr lang="zh-CN" altLang="en-US" dirty="0"/>
              <a:t>秒，</a:t>
            </a:r>
            <a:r>
              <a:rPr lang="en-US" altLang="zh-CN" dirty="0"/>
              <a:t>max=100</a:t>
            </a:r>
            <a:r>
              <a:rPr lang="zh-CN" altLang="en-US" dirty="0"/>
              <a:t>，表示这个长连接最多接收</a:t>
            </a:r>
            <a:r>
              <a:rPr lang="en-US" altLang="zh-CN" dirty="0"/>
              <a:t>100</a:t>
            </a:r>
            <a:r>
              <a:rPr lang="zh-CN" altLang="en-US" dirty="0"/>
              <a:t>次请求就断开。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91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93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75000"/>
              </a:lnSpc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1. what cookies can be used for:</a:t>
            </a:r>
          </a:p>
          <a:p>
            <a:pPr>
              <a:lnSpc>
                <a:spcPct val="75000"/>
              </a:lnSpc>
            </a:pPr>
            <a:r>
              <a:rPr lang="en-US" altLang="zh-CN" sz="1200" dirty="0">
                <a:ea typeface="MS PGothic" panose="020B0600070205080204" pitchFamily="34" charset="-128"/>
              </a:rPr>
              <a:t>authorization</a:t>
            </a:r>
          </a:p>
          <a:p>
            <a:pPr>
              <a:lnSpc>
                <a:spcPct val="75000"/>
              </a:lnSpc>
            </a:pPr>
            <a:r>
              <a:rPr lang="en-US" altLang="zh-CN" sz="1200" dirty="0">
                <a:ea typeface="MS PGothic" panose="020B0600070205080204" pitchFamily="34" charset="-128"/>
              </a:rPr>
              <a:t>shopping carts</a:t>
            </a:r>
          </a:p>
          <a:p>
            <a:pPr>
              <a:lnSpc>
                <a:spcPct val="75000"/>
              </a:lnSpc>
            </a:pPr>
            <a:r>
              <a:rPr lang="en-US" altLang="zh-CN" sz="1200" dirty="0">
                <a:ea typeface="MS PGothic" panose="020B0600070205080204" pitchFamily="34" charset="-128"/>
              </a:rPr>
              <a:t>recommendations</a:t>
            </a:r>
          </a:p>
          <a:p>
            <a:pPr>
              <a:lnSpc>
                <a:spcPct val="75000"/>
              </a:lnSpc>
            </a:pPr>
            <a:r>
              <a:rPr lang="en-US" altLang="zh-CN" sz="1200" dirty="0">
                <a:ea typeface="MS PGothic" panose="020B0600070205080204" pitchFamily="34" charset="-128"/>
              </a:rPr>
              <a:t>user session state (Web e-mail)</a:t>
            </a:r>
          </a:p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CN" sz="1200" i="1" dirty="0">
                <a:solidFill>
                  <a:srgbClr val="CC0000"/>
                </a:solidFill>
              </a:rPr>
              <a:t>2. cookies and privacy:</a:t>
            </a:r>
          </a:p>
          <a:p>
            <a:pPr>
              <a:lnSpc>
                <a:spcPct val="90000"/>
              </a:lnSpc>
            </a:pPr>
            <a:r>
              <a:rPr lang="en-US" altLang="zh-CN" sz="1200" dirty="0"/>
              <a:t>cookies permit sites to learn a lot about you</a:t>
            </a:r>
          </a:p>
          <a:p>
            <a:pPr>
              <a:lnSpc>
                <a:spcPct val="90000"/>
              </a:lnSpc>
            </a:pPr>
            <a:r>
              <a:rPr lang="en-US" altLang="zh-CN" sz="1200" dirty="0"/>
              <a:t>you may supply name and e-mail to sites</a:t>
            </a:r>
          </a:p>
          <a:p>
            <a:pPr>
              <a:lnSpc>
                <a:spcPct val="75000"/>
              </a:lnSpc>
            </a:pPr>
            <a:endParaRPr lang="en-US" altLang="zh-CN" sz="1200" dirty="0">
              <a:ea typeface="MS PGothic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95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1</a:t>
            </a:r>
            <a:r>
              <a:rPr lang="zh-CN" altLang="en-US" i="1" dirty="0">
                <a:solidFill>
                  <a:srgbClr val="CC0000"/>
                </a:solidFill>
                <a:ea typeface="MS PGothic" panose="020B0600070205080204" pitchFamily="34" charset="-128"/>
              </a:rPr>
              <a:t>、</a:t>
            </a: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why Web caching?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response time for client request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traffic on an institution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access link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Internet dense with caches: enables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dirty="0">
                <a:ea typeface="MS PGothic" panose="020B0600070205080204" pitchFamily="34" charset="-128"/>
              </a:rPr>
              <a:t>poor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content providers to effectively deliver content (so too does P2P file sharing)</a:t>
            </a:r>
            <a:endParaRPr lang="en-US" altLang="zh-CN" dirty="0">
              <a:ea typeface="MS PGothic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97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b="0" i="0" u="sng" dirty="0">
                <a:solidFill>
                  <a:srgbClr val="F73131"/>
                </a:solidFill>
                <a:effectLst/>
                <a:latin typeface="Arial" panose="020B0604020202020204" pitchFamily="34" charset="0"/>
                <a:hlinkClick r:id="rId3"/>
              </a:rPr>
              <a:t>RFC</a:t>
            </a:r>
            <a:r>
              <a:rPr lang="en-US" altLang="zh-CN" b="0" i="0" u="sng" dirty="0">
                <a:solidFill>
                  <a:srgbClr val="771CAA"/>
                </a:solidFill>
                <a:effectLst/>
                <a:latin typeface="Arial" panose="020B0604020202020204" pitchFamily="34" charset="0"/>
                <a:hlinkClick r:id="rId3"/>
              </a:rPr>
              <a:t> </a:t>
            </a:r>
            <a:r>
              <a:rPr lang="en-US" altLang="zh-CN" b="0" i="0" u="sng" dirty="0">
                <a:solidFill>
                  <a:srgbClr val="F73131"/>
                </a:solidFill>
                <a:effectLst/>
                <a:latin typeface="Arial" panose="020B0604020202020204" pitchFamily="34" charset="0"/>
                <a:hlinkClick r:id="rId3"/>
              </a:rPr>
              <a:t>8740</a:t>
            </a:r>
            <a:r>
              <a:rPr lang="en-US" altLang="zh-CN" b="0" i="0" u="sng" dirty="0">
                <a:solidFill>
                  <a:srgbClr val="771CAA"/>
                </a:solidFill>
                <a:effectLst/>
                <a:latin typeface="Arial" panose="020B0604020202020204" pitchFamily="34" charset="0"/>
                <a:hlinkClick r:id="rId3"/>
              </a:rPr>
              <a:t> - Using TLS 1.3 with HTTP/2</a:t>
            </a:r>
            <a:endParaRPr lang="en-US" altLang="zh-CN" b="0" i="0" u="sng" dirty="0">
              <a:solidFill>
                <a:srgbClr val="771CAA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安全传输层协议（</a:t>
            </a:r>
            <a:r>
              <a:rPr lang="en-US" altLang="zh-CN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TLS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）</a:t>
            </a:r>
            <a:r>
              <a:rPr lang="en-US" altLang="zh-CN" b="0" i="0" u="sng" dirty="0">
                <a:solidFill>
                  <a:srgbClr val="771CAA"/>
                </a:solidFill>
                <a:effectLst/>
                <a:latin typeface="Arial" panose="020B0604020202020204" pitchFamily="34" charset="0"/>
              </a:rPr>
              <a:t>1.2</a:t>
            </a:r>
            <a:r>
              <a:rPr lang="zh-CN" altLang="en-US" b="0" i="0" u="sng" dirty="0">
                <a:solidFill>
                  <a:srgbClr val="771CAA"/>
                </a:solidFill>
                <a:effectLst/>
                <a:latin typeface="Arial" panose="020B0604020202020204" pitchFamily="34" charset="0"/>
              </a:rPr>
              <a:t>、</a:t>
            </a:r>
            <a:r>
              <a:rPr lang="en-US" altLang="zh-CN" b="0" i="0" u="sng" dirty="0">
                <a:solidFill>
                  <a:srgbClr val="771CAA"/>
                </a:solidFill>
                <a:effectLst/>
                <a:latin typeface="Arial" panose="020B0604020202020204" pitchFamily="34" charset="0"/>
              </a:rPr>
              <a:t>1.3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i="1" dirty="0">
              <a:solidFill>
                <a:srgbClr val="CC0000"/>
              </a:solidFill>
              <a:ea typeface="MS PGothic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1</a:t>
            </a:r>
            <a:r>
              <a:rPr lang="zh-CN" altLang="en-US" i="1" dirty="0">
                <a:solidFill>
                  <a:srgbClr val="CC0000"/>
                </a:solidFill>
                <a:ea typeface="MS PGothic" panose="020B0600070205080204" pitchFamily="34" charset="-128"/>
              </a:rPr>
              <a:t>、</a:t>
            </a: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why Web caching?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response time for client request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traffic on an institution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access link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Internet dense with caches: enables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dirty="0">
                <a:ea typeface="MS PGothic" panose="020B0600070205080204" pitchFamily="34" charset="-128"/>
              </a:rPr>
              <a:t>poor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content providers to effectively deliver content (so too does P2P file sharing)</a:t>
            </a:r>
            <a:endParaRPr lang="en-US" altLang="zh-CN" dirty="0">
              <a:ea typeface="MS PGothic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98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1</a:t>
            </a:r>
            <a:r>
              <a:rPr lang="zh-CN" altLang="en-US" i="1" dirty="0">
                <a:solidFill>
                  <a:srgbClr val="CC0000"/>
                </a:solidFill>
                <a:ea typeface="MS PGothic" panose="020B0600070205080204" pitchFamily="34" charset="-128"/>
              </a:rPr>
              <a:t>、</a:t>
            </a: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why Web caching?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response time for client request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traffic on an institution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access link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Internet dense with caches: enables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dirty="0">
                <a:ea typeface="MS PGothic" panose="020B0600070205080204" pitchFamily="34" charset="-128"/>
              </a:rPr>
              <a:t>poor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content providers to effectively deliver content (so too does P2P file sharing)</a:t>
            </a:r>
            <a:endParaRPr lang="en-US" altLang="zh-CN" dirty="0">
              <a:ea typeface="MS PGothic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100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1</a:t>
            </a:r>
            <a:r>
              <a:rPr lang="zh-CN" altLang="en-US" i="1" dirty="0">
                <a:solidFill>
                  <a:srgbClr val="CC0000"/>
                </a:solidFill>
                <a:ea typeface="MS PGothic" panose="020B0600070205080204" pitchFamily="34" charset="-128"/>
              </a:rPr>
              <a:t>、</a:t>
            </a: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why Web caching?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response time for client request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traffic on an institution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access link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Internet dense with caches: enables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dirty="0">
                <a:ea typeface="MS PGothic" panose="020B0600070205080204" pitchFamily="34" charset="-128"/>
              </a:rPr>
              <a:t>poor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content providers to effectively deliver content (so too does P2P file sharing)</a:t>
            </a:r>
            <a:endParaRPr lang="en-US" altLang="zh-CN" dirty="0">
              <a:ea typeface="MS PGothic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101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1</a:t>
            </a:r>
            <a:r>
              <a:rPr lang="zh-CN" altLang="en-US" i="1" dirty="0">
                <a:solidFill>
                  <a:srgbClr val="CC0000"/>
                </a:solidFill>
                <a:ea typeface="MS PGothic" panose="020B0600070205080204" pitchFamily="34" charset="-128"/>
              </a:rPr>
              <a:t>、</a:t>
            </a: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why Web caching?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response time for client request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traffic on an institution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access link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Internet dense with caches: enables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dirty="0">
                <a:ea typeface="MS PGothic" panose="020B0600070205080204" pitchFamily="34" charset="-128"/>
              </a:rPr>
              <a:t>poor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content providers to effectively deliver content (so too does P2P file sharing)</a:t>
            </a:r>
            <a:endParaRPr lang="en-US" altLang="zh-CN" dirty="0">
              <a:ea typeface="MS PGothic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102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1</a:t>
            </a:r>
            <a:r>
              <a:rPr lang="zh-CN" altLang="en-US" i="1" dirty="0">
                <a:solidFill>
                  <a:srgbClr val="CC0000"/>
                </a:solidFill>
                <a:ea typeface="MS PGothic" panose="020B0600070205080204" pitchFamily="34" charset="-128"/>
              </a:rPr>
              <a:t>、</a:t>
            </a: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why Web caching?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response time for client request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traffic on an institution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access link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Internet dense with caches: enables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dirty="0">
                <a:ea typeface="MS PGothic" panose="020B0600070205080204" pitchFamily="34" charset="-128"/>
              </a:rPr>
              <a:t>poor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content providers to effectively deliver content (so too does P2P file sharing)</a:t>
            </a:r>
            <a:endParaRPr lang="en-US" altLang="zh-CN" dirty="0">
              <a:ea typeface="MS PGothic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103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层叠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样式表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英文全称：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Cascading Style Sheets)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是一种用来表现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HTML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（标准通用标记语言的一个应用）或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XML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（标准通用标记语言的一个子集）等文件样式的计算机语言。</a:t>
            </a:r>
            <a:r>
              <a:rPr lang="en-US" altLang="zh-CN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CSS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不仅可以静态地修饰网页，还可以配合各种脚本语言动态地对网页各元素进行格式化。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104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1</a:t>
            </a:r>
            <a:r>
              <a:rPr lang="zh-CN" altLang="en-US" i="1" dirty="0">
                <a:solidFill>
                  <a:srgbClr val="CC0000"/>
                </a:solidFill>
                <a:ea typeface="MS PGothic" panose="020B0600070205080204" pitchFamily="34" charset="-128"/>
              </a:rPr>
              <a:t>、</a:t>
            </a: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why Web caching?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response time for client request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traffic on an institution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access link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Internet dense with caches: enables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dirty="0">
                <a:ea typeface="MS PGothic" panose="020B0600070205080204" pitchFamily="34" charset="-128"/>
              </a:rPr>
              <a:t>poor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content providers to effectively deliver content (so too does P2P file sharing)</a:t>
            </a:r>
            <a:endParaRPr lang="en-US" altLang="zh-CN" dirty="0">
              <a:ea typeface="MS PGothic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105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1</a:t>
            </a:r>
            <a:r>
              <a:rPr lang="zh-CN" altLang="en-US" i="1" dirty="0">
                <a:solidFill>
                  <a:srgbClr val="CC0000"/>
                </a:solidFill>
                <a:ea typeface="MS PGothic" panose="020B0600070205080204" pitchFamily="34" charset="-128"/>
              </a:rPr>
              <a:t>、</a:t>
            </a: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why Web caching?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response time for client request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traffic on an institution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access link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Internet dense with caches: enables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dirty="0">
                <a:ea typeface="MS PGothic" panose="020B0600070205080204" pitchFamily="34" charset="-128"/>
              </a:rPr>
              <a:t>poor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content providers to effectively deliver content (so too does P2P file sharing)</a:t>
            </a:r>
            <a:endParaRPr lang="en-US" altLang="zh-CN" dirty="0">
              <a:ea typeface="MS PGothic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106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1</a:t>
            </a:r>
            <a:r>
              <a:rPr lang="zh-CN" altLang="en-US" i="1" dirty="0">
                <a:solidFill>
                  <a:srgbClr val="CC0000"/>
                </a:solidFill>
                <a:ea typeface="MS PGothic" panose="020B0600070205080204" pitchFamily="34" charset="-128"/>
              </a:rPr>
              <a:t>、</a:t>
            </a: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why Web caching?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response time for client request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traffic on an institution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access link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Internet dense with caches: enables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dirty="0">
                <a:ea typeface="MS PGothic" panose="020B0600070205080204" pitchFamily="34" charset="-128"/>
              </a:rPr>
              <a:t>poor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content providers to effectively deliver content (so too does P2P file sharing)</a:t>
            </a:r>
            <a:endParaRPr lang="en-US" altLang="zh-CN" dirty="0">
              <a:ea typeface="MS PGothic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107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1</a:t>
            </a:r>
            <a:r>
              <a:rPr lang="zh-CN" altLang="en-US" i="1" dirty="0">
                <a:solidFill>
                  <a:srgbClr val="CC0000"/>
                </a:solidFill>
                <a:ea typeface="MS PGothic" panose="020B0600070205080204" pitchFamily="34" charset="-128"/>
              </a:rPr>
              <a:t>、</a:t>
            </a: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why Web caching?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response time for client request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traffic on an institution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access link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Internet dense with caches: enables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dirty="0">
                <a:ea typeface="MS PGothic" panose="020B0600070205080204" pitchFamily="34" charset="-128"/>
              </a:rPr>
              <a:t>poor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content providers to effectively deliver content (so too does P2P file sharing)</a:t>
            </a:r>
            <a:endParaRPr lang="en-US" altLang="zh-CN" dirty="0">
              <a:ea typeface="MS PGothic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108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、网络性能优化永远在路上</a:t>
            </a:r>
            <a:endParaRPr lang="en-US" altLang="zh-CN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、根据论文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《WAITING TIMES IN QUALITY OF EXPERIENCE FOR WEB BASED SERVICES》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中提出的： 其指出基于人脑在等待不同时长的信息时，产生的不同意识行为，进而对信息获取产生的差别感官体验。</a:t>
            </a:r>
            <a:endParaRPr lang="en-US" altLang="zh-CN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、感知的持续时间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VS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客观持续时间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）根据研究发现：当人们获得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Voice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这类声音讯息时，好感度随时间流逝下降的最为迅速，仅需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分钟“评估意见等级”下降了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70%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，可见音像资源受缓冲时间的影响可见一斑</a:t>
            </a:r>
            <a:endParaRPr lang="en-US" altLang="zh-CN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✫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0.1 s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： 用户几乎感觉不到系统是否不连贯性。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✫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1.0 s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： 用户明显注意到时延的发生，但是在该时间内思维依然是连贯的。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✫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10 s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： 超过该时间的时延会使用户失去等待意愿。 控制时延无疑是现代信息科技的重要指标，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CDN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的意图就是尽可能的减少资源在转发、传输、链路抖动等情况下顺利保障信息的连贯性。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   通俗点说就是在网速一定的前提下，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CDN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就像网络中快递员小哥</a:t>
            </a:r>
            <a:endParaRPr lang="en-US" altLang="zh-CN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而且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CDN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这个快递员很是聪明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TA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不是在用蛮力瞎跑、乱撞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TA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还承建了很多家快递点，就近快递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缓存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TA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善于优化快递路径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调度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还会对包裹进行更合理的重新打包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协议优化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)</a:t>
            </a:r>
          </a:p>
          <a:p>
            <a:pPr algn="l"/>
            <a:endParaRPr lang="en-US" altLang="zh-CN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、无论用户在世界任何角落，只要连接网络，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CDN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服务就如同把源站搬到用户面前一样，整个世界，触手可及！</a:t>
            </a: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CDN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就是扮演者护航者和加速者的角色，更快准狠的触发信息和触达每一个用户，带来更为极致的使用体验。</a:t>
            </a:r>
          </a:p>
          <a:p>
            <a:pPr algn="l"/>
            <a:endParaRPr lang="zh-CN" altLang="en-US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109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、网络性能优化永远在路上</a:t>
            </a:r>
            <a:endParaRPr lang="en-US" altLang="zh-CN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、根据论文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《WAITING TIMES IN QUALITY OF EXPERIENCE FOR WEB BASED SERVICES》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中提出的： 其指出基于人脑在等待不同时长的信息时，产生的不同意识行为，进而对信息获取产生的差别感官体验。</a:t>
            </a:r>
            <a:endParaRPr lang="en-US" altLang="zh-CN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、感知的持续时间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VS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客观持续时间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）根据研究发现：当人们获得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Voice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这类声音讯息时，好感度随时间流逝下降的最为迅速，仅需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分钟“评估意见等级”下降了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70%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，可见音像资源受缓冲时间的影响可见一斑</a:t>
            </a:r>
            <a:endParaRPr lang="en-US" altLang="zh-CN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✫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0.1 s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： 用户几乎感觉不到系统是否不连贯性。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✫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1.0 s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： 用户明显注意到时延的发生，但是在该时间内思维依然是连贯的。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✫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10 s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： 超过该时间的时延会使用户失去等待意愿。 控制时延无疑是现代信息科技的重要指标，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CDN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的意图就是尽可能的减少资源在转发、传输、链路抖动等情况下顺利保障信息的连贯性。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   通俗点说就是在网速一定的前提下，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CDN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就像网络中快递员小哥</a:t>
            </a:r>
            <a:endParaRPr lang="en-US" altLang="zh-CN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而且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CDN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这个快递员很是聪明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TA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不是在用蛮力瞎跑、乱撞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TA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还承建了很多家快递点，就近快递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缓存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TA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善于优化快递路径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调度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还会对包裹进行更合理的重新打包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协议优化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)</a:t>
            </a:r>
          </a:p>
          <a:p>
            <a:pPr algn="l"/>
            <a:endParaRPr lang="en-US" altLang="zh-CN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、无论用户在世界任何角落，只要连接网络，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CDN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服务就如同把源站搬到用户面前一样，整个世界，触手可及！</a:t>
            </a: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CDN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就是扮演者护航者和加速者的角色，更快准狠的触发信息和触达每一个用户，带来更为极致的使用体验。</a:t>
            </a:r>
          </a:p>
          <a:p>
            <a:pPr algn="l"/>
            <a:endParaRPr lang="zh-CN" altLang="en-US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、根据论文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《WAITING TIMES IN QUALITY OF EXPERIENCE FOR WEB BASED SERVICES》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中提出的： 其指出基于人脑在等待不同时长的信息时，产生的不同意识行为，进而对信息获取产生的差别感官体验。</a:t>
            </a:r>
            <a:endParaRPr lang="en-US" altLang="zh-CN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、感知的持续时间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VS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客观持续时间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）根据研究发现：当人们获得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Voice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这类声音讯息时，好感度随时间流逝下降的最为迅速，仅需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分钟“评估意见等级”下降了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70%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，可见音像资源受缓冲时间的影响可见一斑</a:t>
            </a:r>
            <a:endParaRPr lang="en-US" altLang="zh-CN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✫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0.1 s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： 用户几乎感觉不到系统是否不连贯性。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✫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1.0 s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： 用户明显注意到时延的发生，但是在该时间内思维依然是连贯的。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✫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10 s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： 超过该时间的时延会使用户失去等待意愿。 控制时延无疑是现代信息科技的重要指标，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CDN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的意图就是尽可能的减少资源在转发、传输、链路抖动等情况下顺利保障信息的连贯性。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   通俗点说就是在网速一定的前提下，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CDN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就像网络中快递员小哥</a:t>
            </a:r>
            <a:endParaRPr lang="en-US" altLang="zh-CN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而且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CDN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这个快递员很是聪明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TA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不是在用蛮力瞎跑、乱撞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TA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还承建了很多家快递点，就近快递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缓存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TA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善于优化快递路径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调度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)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还会对包裹进行更合理的重新打包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协议优化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)</a:t>
            </a:r>
          </a:p>
          <a:p>
            <a:pPr algn="l"/>
            <a:endParaRPr lang="en-US" altLang="zh-CN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、无论用户在世界任何角落，只要连接网络，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CDN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服务就如同把源站搬到用户面前一样，整个世界，触手可及！</a:t>
            </a: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CDN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就是扮演者护航者和加速者的角色，更快准狠的触发信息和触达每一个用户，带来更为极致的使用体验。</a:t>
            </a:r>
          </a:p>
          <a:p>
            <a:pPr algn="l"/>
            <a:endParaRPr lang="zh-CN" altLang="en-US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b="0" i="0" dirty="0">
              <a:solidFill>
                <a:srgbClr val="4D4D4D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1</a:t>
            </a:r>
            <a:r>
              <a:rPr lang="zh-CN" altLang="en-US" i="1" dirty="0">
                <a:solidFill>
                  <a:srgbClr val="CC0000"/>
                </a:solidFill>
                <a:ea typeface="MS PGothic" panose="020B0600070205080204" pitchFamily="34" charset="-128"/>
              </a:rPr>
              <a:t>、</a:t>
            </a: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why Web caching?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response time for client request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traffic on an institution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access link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Internet dense with caches: enables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dirty="0">
                <a:ea typeface="MS PGothic" panose="020B0600070205080204" pitchFamily="34" charset="-128"/>
              </a:rPr>
              <a:t>poor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content providers to effectively deliver content (so too does P2P file sharing)</a:t>
            </a:r>
            <a:endParaRPr lang="en-US" altLang="zh-CN" dirty="0">
              <a:ea typeface="MS PGothic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、商业模式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）内容提供商租哪些</a:t>
            </a:r>
            <a:r>
              <a:rPr lang="en-US" altLang="zh-CN" dirty="0"/>
              <a:t>CDN</a:t>
            </a:r>
            <a:r>
              <a:rPr lang="zh-CN" altLang="en-US" dirty="0"/>
              <a:t>服务器，配置、价格？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）哪些内容放置到</a:t>
            </a:r>
            <a:r>
              <a:rPr lang="en-US" altLang="zh-CN" dirty="0"/>
              <a:t>CDN</a:t>
            </a:r>
            <a:r>
              <a:rPr lang="zh-CN" altLang="en-US" dirty="0"/>
              <a:t>服务器上？（热点内容）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）内容的替换原则，内容复制的时机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）收费原则（最终用户买单）（</a:t>
            </a:r>
            <a:r>
              <a:rPr lang="en-US" altLang="zh-CN" dirty="0"/>
              <a:t>CDN</a:t>
            </a:r>
            <a:r>
              <a:rPr lang="zh-CN" altLang="en-US" dirty="0"/>
              <a:t>加速：额外收费）（不交费：速度奇慢）（例如：百度云盘）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、商业模式（计费功能）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）内容提供商租哪些</a:t>
            </a:r>
            <a:r>
              <a:rPr lang="en-US" altLang="zh-CN" dirty="0"/>
              <a:t>CDN</a:t>
            </a:r>
            <a:r>
              <a:rPr lang="zh-CN" altLang="en-US" dirty="0"/>
              <a:t>服务器，配置、价格？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）哪些内容放置到</a:t>
            </a:r>
            <a:r>
              <a:rPr lang="en-US" altLang="zh-CN" dirty="0"/>
              <a:t>CDN</a:t>
            </a:r>
            <a:r>
              <a:rPr lang="zh-CN" altLang="en-US" dirty="0"/>
              <a:t>服务器上？（热点内容）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）内容的替换原则，内容复制的时机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）收费原则（最终用户买单）（</a:t>
            </a:r>
            <a:r>
              <a:rPr lang="en-US" altLang="zh-CN" dirty="0"/>
              <a:t>CDN</a:t>
            </a:r>
            <a:r>
              <a:rPr lang="zh-CN" altLang="en-US" dirty="0"/>
              <a:t>加速：额外收费）（不交费：速度奇慢）（例如：百度云盘）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、不同的提供商有不同的决策算法和模式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1</a:t>
            </a:r>
            <a:r>
              <a:rPr lang="zh-CN" altLang="en-US" i="1" dirty="0">
                <a:solidFill>
                  <a:srgbClr val="CC0000"/>
                </a:solidFill>
                <a:ea typeface="MS PGothic" panose="020B0600070205080204" pitchFamily="34" charset="-128"/>
              </a:rPr>
              <a:t>、</a:t>
            </a: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why Web caching?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response time for client request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traffic on an institution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access link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Internet dense with caches: enables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dirty="0">
                <a:ea typeface="MS PGothic" panose="020B0600070205080204" pitchFamily="34" charset="-128"/>
              </a:rPr>
              <a:t>poor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content providers to effectively deliver content (so too does P2P file sharing)</a:t>
            </a:r>
            <a:endParaRPr lang="en-US" altLang="zh-CN" dirty="0">
              <a:ea typeface="MS PGothic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1</a:t>
            </a:r>
            <a:r>
              <a:rPr lang="zh-CN" altLang="en-US" i="1" dirty="0">
                <a:solidFill>
                  <a:srgbClr val="CC0000"/>
                </a:solidFill>
                <a:ea typeface="MS PGothic" panose="020B0600070205080204" pitchFamily="34" charset="-128"/>
              </a:rPr>
              <a:t>、</a:t>
            </a: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why Web caching?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response time for client request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traffic on an institution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access link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Internet dense with caches: enables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dirty="0">
                <a:ea typeface="MS PGothic" panose="020B0600070205080204" pitchFamily="34" charset="-128"/>
              </a:rPr>
              <a:t>poor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content providers to effectively deliver content (so too does P2P file sharing)</a:t>
            </a:r>
            <a:endParaRPr lang="en-US" altLang="zh-CN" dirty="0">
              <a:ea typeface="MS PGothic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1</a:t>
            </a:r>
            <a:r>
              <a:rPr lang="zh-CN" altLang="en-US" i="1" dirty="0">
                <a:solidFill>
                  <a:srgbClr val="CC0000"/>
                </a:solidFill>
                <a:ea typeface="MS PGothic" panose="020B0600070205080204" pitchFamily="34" charset="-128"/>
              </a:rPr>
              <a:t>、</a:t>
            </a: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why Web caching?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response time for client request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traffic on an institution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access link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Internet dense with caches: enables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dirty="0">
                <a:ea typeface="MS PGothic" panose="020B0600070205080204" pitchFamily="34" charset="-128"/>
              </a:rPr>
              <a:t>poor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content providers to effectively deliver content (so too does P2P file sharing)</a:t>
            </a:r>
            <a:endParaRPr lang="en-US" altLang="zh-CN" dirty="0">
              <a:ea typeface="MS PGothic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Period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：代表一个时间序列的 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DASH 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码流，实际中有多个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Period，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比如视频播放间隙插播广告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1200" dirty="0">
                <a:solidFill>
                  <a:schemeClr val="tx1"/>
                </a:solidFill>
                <a:latin typeface="+mj-lt"/>
              </a:rPr>
              <a:t>Adaption Set</a:t>
            </a:r>
            <a:r>
              <a:rPr lang="zh-CN" altLang="en-US" sz="1200" dirty="0">
                <a:solidFill>
                  <a:schemeClr val="tx1"/>
                </a:solidFill>
                <a:latin typeface="+mj-lt"/>
              </a:rPr>
              <a:t>：代表了媒体的呈现形式， 比如视频、音频、字幕等，可同时显示在视频中</a:t>
            </a:r>
            <a:endParaRPr lang="en-US" altLang="zh-CN" sz="1200" dirty="0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1200" dirty="0">
                <a:solidFill>
                  <a:schemeClr val="tx1"/>
                </a:solidFill>
                <a:latin typeface="+mj-lt"/>
              </a:rPr>
              <a:t>Representation</a:t>
            </a:r>
            <a:r>
              <a:rPr lang="zh-CN" altLang="en-US" sz="1200" dirty="0">
                <a:solidFill>
                  <a:schemeClr val="tx1"/>
                </a:solidFill>
                <a:latin typeface="+mj-lt"/>
              </a:rPr>
              <a:t>：主要为视频</a:t>
            </a:r>
            <a:r>
              <a:rPr lang="en-US" altLang="zh-CN" sz="1200" dirty="0">
                <a:solidFill>
                  <a:schemeClr val="tx1"/>
                </a:solidFill>
                <a:latin typeface="+mj-lt"/>
              </a:rPr>
              <a:t>segment</a:t>
            </a:r>
            <a:r>
              <a:rPr lang="zh-CN" altLang="en-US" sz="1200" dirty="0">
                <a:solidFill>
                  <a:schemeClr val="tx1"/>
                </a:solidFill>
                <a:latin typeface="+mj-lt"/>
              </a:rPr>
              <a:t>的不同的码率、分辨率等信息，用于</a:t>
            </a:r>
            <a:r>
              <a:rPr lang="en-US" altLang="zh-CN" sz="1200" dirty="0">
                <a:solidFill>
                  <a:schemeClr val="tx1"/>
                </a:solidFill>
                <a:latin typeface="+mj-lt"/>
              </a:rPr>
              <a:t>ABR</a:t>
            </a:r>
            <a:r>
              <a:rPr lang="zh-CN" altLang="en-US" sz="1200" dirty="0">
                <a:solidFill>
                  <a:schemeClr val="tx1"/>
                </a:solidFill>
                <a:latin typeface="+mj-lt"/>
              </a:rPr>
              <a:t>自适应选择</a:t>
            </a:r>
            <a:endParaRPr lang="en-US" altLang="zh-CN" sz="1200" dirty="0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1200" dirty="0">
                <a:solidFill>
                  <a:schemeClr val="tx1"/>
                </a:solidFill>
                <a:latin typeface="+mj-lt"/>
              </a:rPr>
              <a:t>Segment</a:t>
            </a:r>
            <a:r>
              <a:rPr lang="zh-CN" altLang="en-US" sz="1200" dirty="0">
                <a:solidFill>
                  <a:schemeClr val="tx1"/>
                </a:solidFill>
                <a:latin typeface="+mj-lt"/>
              </a:rPr>
              <a:t>：对应具体的分块文件，时长一般为几秒，代表了端到端传输延时的下界，分块往往具有完全相同或近似相同的时长</a:t>
            </a:r>
            <a:endParaRPr lang="en-US" altLang="zh-CN" sz="1200" dirty="0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200" dirty="0">
                <a:solidFill>
                  <a:schemeClr val="tx1"/>
                </a:solidFill>
                <a:latin typeface="+mj-lt"/>
              </a:rPr>
              <a:t>视频</a:t>
            </a:r>
            <a:r>
              <a:rPr lang="en-US" altLang="zh-CN" sz="1200" dirty="0">
                <a:solidFill>
                  <a:schemeClr val="tx1"/>
                </a:solidFill>
                <a:latin typeface="+mj-lt"/>
              </a:rPr>
              <a:t>Segment</a:t>
            </a:r>
            <a:r>
              <a:rPr lang="zh-CN" altLang="en-US" sz="1200" dirty="0">
                <a:solidFill>
                  <a:schemeClr val="tx1"/>
                </a:solidFill>
                <a:latin typeface="+mj-lt"/>
              </a:rPr>
              <a:t>包括视频块解封装、编码等的信息</a:t>
            </a:r>
            <a:endParaRPr lang="en-US" altLang="zh-CN" sz="1200" dirty="0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zh-CN" sz="1200" dirty="0">
              <a:solidFill>
                <a:schemeClr val="tx1"/>
              </a:solidFill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MPD </a:t>
            </a:r>
            <a:b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</a:b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媒体文件的描述文件（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manifest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），作用类似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HLS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的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m3u8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文件。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MPD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文件以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XML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格式组织，其层次结构参图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1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Representation </a:t>
            </a:r>
            <a:b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</a:b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对应一个可选择的输出（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alternative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）。如，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480p video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，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720p video, 44100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采样 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audio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，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22050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采样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audio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，都使用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Representation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描述。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Segment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（分片） </a:t>
            </a:r>
            <a:b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</a:b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每个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Representation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会划分为多个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Segment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。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Segment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分为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4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类，其中，最重要的是：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Initialization Segment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（每个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Representation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都包含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1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个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Init Seg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），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Media Segment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（每个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Representation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的媒体内容包含若干</a:t>
            </a:r>
            <a:r>
              <a:rPr lang="en-US" altLang="zh-CN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Media Seg</a:t>
            </a:r>
            <a:r>
              <a:rPr lang="zh-CN" altLang="en-US" b="0" i="0" dirty="0">
                <a:solidFill>
                  <a:srgbClr val="4B4B4B"/>
                </a:solidFill>
                <a:effectLst/>
                <a:latin typeface="Verdana" panose="020B0604030504040204" pitchFamily="34" charset="0"/>
              </a:rPr>
              <a:t>）！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lang="zh-CN" altLang="en-US" sz="1200" dirty="0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lang="zh-CN" altLang="en-US" sz="1200" dirty="0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lang="zh-CN" altLang="en-US" sz="1200" dirty="0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lang="zh-CN" altLang="en-US" sz="1200" dirty="0">
              <a:solidFill>
                <a:schemeClr val="tx1"/>
              </a:solidFill>
              <a:latin typeface="+mj-lt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1</a:t>
            </a:r>
            <a:r>
              <a:rPr lang="zh-CN" altLang="en-US" i="1" dirty="0">
                <a:solidFill>
                  <a:srgbClr val="CC0000"/>
                </a:solidFill>
                <a:ea typeface="MS PGothic" panose="020B0600070205080204" pitchFamily="34" charset="-128"/>
              </a:rPr>
              <a:t>、</a:t>
            </a:r>
            <a:r>
              <a:rPr lang="en-US" altLang="zh-CN" i="1" dirty="0">
                <a:solidFill>
                  <a:srgbClr val="CC0000"/>
                </a:solidFill>
                <a:ea typeface="MS PGothic" panose="020B0600070205080204" pitchFamily="34" charset="-128"/>
              </a:rPr>
              <a:t>why Web caching?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response time for client request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reduce traffic on an institution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access link</a:t>
            </a:r>
          </a:p>
          <a:p>
            <a:r>
              <a:rPr lang="en-US" altLang="zh-CN" dirty="0">
                <a:ea typeface="MS PGothic" panose="020B0600070205080204" pitchFamily="34" charset="-128"/>
              </a:rPr>
              <a:t>Internet dense with caches: enables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dirty="0">
                <a:ea typeface="MS PGothic" panose="020B0600070205080204" pitchFamily="34" charset="-128"/>
              </a:rPr>
              <a:t>poor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content providers to effectively deliver content (so too does P2P file sharing)</a:t>
            </a:r>
            <a:endParaRPr lang="en-US" altLang="zh-CN" dirty="0">
              <a:ea typeface="MS PGothic" panose="020B0600070205080204" pitchFamily="34" charset="-128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i="1" dirty="0">
                <a:solidFill>
                  <a:srgbClr val="CC0000"/>
                </a:solidFill>
                <a:ea typeface="MS PGothic" panose="020B0600070205080204" pitchFamily="34" charset="-128"/>
              </a:rPr>
              <a:t>应用层协议极其丰富，这里只学习一些方法，我们自己如何学习其他协议？自己如何设计协议？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5FF09-559A-413E-B23E-0DFCD03CDBD8}" type="slidenum">
              <a:rPr lang="zh-CN" altLang="en-US" smtClean="0"/>
              <a:t>120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0E898E-1401-4DDB-B865-CE6AAD04AEFC}" type="slidenum">
              <a:rPr lang="en-US" altLang="zh-CN" smtClean="0"/>
              <a:t>121</a:t>
            </a:fld>
            <a:endParaRPr lang="en-US" altLang="zh-CN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144000" cy="578581"/>
          </a:xfrm>
          <a:prstGeom prst="rect">
            <a:avLst/>
          </a:prstGeom>
          <a:solidFill>
            <a:srgbClr val="7E0C6E"/>
          </a:solidFill>
          <a:ln>
            <a:solidFill>
              <a:srgbClr val="7F2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8481761" y="26197"/>
            <a:ext cx="548949" cy="520015"/>
            <a:chOff x="2603366" y="22110"/>
            <a:chExt cx="879202" cy="892290"/>
          </a:xfrm>
        </p:grpSpPr>
        <p:sp>
          <p:nvSpPr>
            <p:cNvPr id="9" name="椭圆 8"/>
            <p:cNvSpPr/>
            <p:nvPr/>
          </p:nvSpPr>
          <p:spPr>
            <a:xfrm>
              <a:off x="2603366" y="22110"/>
              <a:ext cx="879201" cy="89229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Picture 2" descr="https://gss0.bdstatic.com/94o3dSag_xI4khGkpoWK1HF6hhy/baike/c0%3Dbaike150%2C5%2C5%2C150%2C50/sign=c622cca4b5014a9095334eefc81e5277/562c11dfa9ec8a13bb1224f6fb03918fa0ecc098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 flipV="1">
              <a:off x="2603367" y="22110"/>
              <a:ext cx="879201" cy="892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文本框 10"/>
          <p:cNvSpPr txBox="1"/>
          <p:nvPr userDrawn="1"/>
        </p:nvSpPr>
        <p:spPr>
          <a:xfrm>
            <a:off x="471949" y="1368"/>
            <a:ext cx="7256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6604937"/>
            <a:ext cx="9144000" cy="253064"/>
          </a:xfrm>
          <a:prstGeom prst="rect">
            <a:avLst/>
          </a:prstGeom>
          <a:solidFill>
            <a:srgbClr val="7E0C6E"/>
          </a:solidFill>
          <a:ln>
            <a:solidFill>
              <a:srgbClr val="7F2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日期占位符 8"/>
          <p:cNvSpPr txBox="1"/>
          <p:nvPr userDrawn="1"/>
        </p:nvSpPr>
        <p:spPr>
          <a:xfrm>
            <a:off x="471949" y="6604936"/>
            <a:ext cx="2057400" cy="2409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0FA613-B9E4-4FBF-8914-673569737EED}" type="datetime1">
              <a:rPr lang="zh-CN" altLang="en-US" sz="1600" smtClean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2025/10/10</a:t>
            </a:fld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灯片编号占位符 10"/>
          <p:cNvSpPr txBox="1"/>
          <p:nvPr userDrawn="1"/>
        </p:nvSpPr>
        <p:spPr>
          <a:xfrm>
            <a:off x="7086600" y="6599473"/>
            <a:ext cx="2057400" cy="2585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5C4720-E5E3-47C1-B89A-421EF3B8B01B}" type="slidenum">
              <a:rPr lang="zh-CN" altLang="en-US" sz="1600" smtClean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Subtitle 2"/>
          <p:cNvSpPr txBox="1"/>
          <p:nvPr userDrawn="1"/>
        </p:nvSpPr>
        <p:spPr>
          <a:xfrm>
            <a:off x="2464025" y="6587335"/>
            <a:ext cx="4094570" cy="2585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计算机网络与信息安全研究室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1925" y="4110038"/>
            <a:ext cx="2057400" cy="6481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C354859-E1D3-43E9-846F-9A4943AFBB76}" type="datetime1">
              <a:rPr lang="zh-CN" altLang="en-US" smtClean="0"/>
              <a:t>2025/10/10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906E0-87FE-4883-82FA-BD095BE0BAD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609600"/>
            <a:ext cx="8569325" cy="803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628775"/>
            <a:ext cx="4208463" cy="44672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1628775"/>
            <a:ext cx="4208462" cy="44672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0F722-D8EF-4059-A29F-A8043117248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628775"/>
            <a:ext cx="4208463" cy="4467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1628775"/>
            <a:ext cx="4208462" cy="4467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F7E0A-5E79-486D-BEFA-661F9440F7F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AA85-7752-4E72-9050-47523BB43BAD}" type="datetime1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C4720-E5E3-47C1-B89A-421EF3B8B0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FAA85-7752-4E72-9050-47523BB43BAD}" type="datetime1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C4720-E5E3-47C1-B89A-421EF3B8B01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144000" cy="578581"/>
          </a:xfrm>
          <a:prstGeom prst="rect">
            <a:avLst/>
          </a:prstGeom>
          <a:solidFill>
            <a:srgbClr val="7E0C6E"/>
          </a:solidFill>
          <a:ln>
            <a:solidFill>
              <a:srgbClr val="7F2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8481761" y="26197"/>
            <a:ext cx="548949" cy="520015"/>
            <a:chOff x="2603366" y="22110"/>
            <a:chExt cx="879202" cy="892290"/>
          </a:xfrm>
        </p:grpSpPr>
        <p:sp>
          <p:nvSpPr>
            <p:cNvPr id="9" name="椭圆 8"/>
            <p:cNvSpPr/>
            <p:nvPr/>
          </p:nvSpPr>
          <p:spPr>
            <a:xfrm>
              <a:off x="2603366" y="22110"/>
              <a:ext cx="879201" cy="89229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Picture 2" descr="https://gss0.bdstatic.com/94o3dSag_xI4khGkpoWK1HF6hhy/baike/c0%3Dbaike150%2C5%2C5%2C150%2C50/sign=c622cca4b5014a9095334eefc81e5277/562c11dfa9ec8a13bb1224f6fb03918fa0ecc098.jp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 flipV="1">
              <a:off x="2603367" y="22110"/>
              <a:ext cx="879201" cy="8922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文本框 10"/>
          <p:cNvSpPr txBox="1"/>
          <p:nvPr userDrawn="1"/>
        </p:nvSpPr>
        <p:spPr>
          <a:xfrm>
            <a:off x="471949" y="1368"/>
            <a:ext cx="7256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6604937"/>
            <a:ext cx="9144000" cy="253064"/>
          </a:xfrm>
          <a:prstGeom prst="rect">
            <a:avLst/>
          </a:prstGeom>
          <a:solidFill>
            <a:srgbClr val="7E0C6E"/>
          </a:solidFill>
          <a:ln>
            <a:solidFill>
              <a:srgbClr val="7F2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日期占位符 8"/>
          <p:cNvSpPr txBox="1"/>
          <p:nvPr userDrawn="1"/>
        </p:nvSpPr>
        <p:spPr>
          <a:xfrm>
            <a:off x="471949" y="6604936"/>
            <a:ext cx="2057400" cy="2409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0FA613-B9E4-4FBF-8914-673569737EED}" type="datetime1">
              <a:rPr lang="zh-CN" altLang="en-US" sz="1600" smtClean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2025/10/10</a:t>
            </a:fld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灯片编号占位符 10"/>
          <p:cNvSpPr txBox="1"/>
          <p:nvPr userDrawn="1"/>
        </p:nvSpPr>
        <p:spPr>
          <a:xfrm>
            <a:off x="7086600" y="6599473"/>
            <a:ext cx="2057400" cy="2585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5C4720-E5E3-47C1-B89A-421EF3B8B01B}" type="slidenum">
              <a:rPr lang="zh-CN" altLang="en-US" sz="1600" smtClean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lang="zh-CN" alt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Subtitle 2"/>
          <p:cNvSpPr txBox="1"/>
          <p:nvPr userDrawn="1"/>
        </p:nvSpPr>
        <p:spPr>
          <a:xfrm>
            <a:off x="2464025" y="6587335"/>
            <a:ext cx="4094570" cy="2585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计算机网络与信息安全研究室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9.wmf"/><Relationship Id="rId3" Type="http://schemas.openxmlformats.org/officeDocument/2006/relationships/image" Target="../media/image4.wmf"/><Relationship Id="rId21" Type="http://schemas.openxmlformats.org/officeDocument/2006/relationships/oleObject" Target="../embeddings/oleObject13.bin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8.bin"/><Relationship Id="rId17" Type="http://schemas.openxmlformats.org/officeDocument/2006/relationships/oleObject" Target="../embeddings/oleObject11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7.bin"/><Relationship Id="rId5" Type="http://schemas.openxmlformats.org/officeDocument/2006/relationships/image" Target="../media/image5.wmf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5.bin"/><Relationship Id="rId10" Type="http://schemas.openxmlformats.org/officeDocument/2006/relationships/oleObject" Target="../embeddings/oleObject6.bin"/><Relationship Id="rId19" Type="http://schemas.openxmlformats.org/officeDocument/2006/relationships/oleObject" Target="../embeddings/oleObject12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5.bin"/><Relationship Id="rId14" Type="http://schemas.openxmlformats.org/officeDocument/2006/relationships/image" Target="../media/image7.wmf"/><Relationship Id="rId22" Type="http://schemas.openxmlformats.org/officeDocument/2006/relationships/oleObject" Target="../embeddings/oleObject1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15.wmf"/><Relationship Id="rId18" Type="http://schemas.openxmlformats.org/officeDocument/2006/relationships/oleObject" Target="../embeddings/oleObject24.bin"/><Relationship Id="rId3" Type="http://schemas.openxmlformats.org/officeDocument/2006/relationships/image" Target="../media/image12.png"/><Relationship Id="rId21" Type="http://schemas.openxmlformats.org/officeDocument/2006/relationships/oleObject" Target="../embeddings/oleObject27.bin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20.bin"/><Relationship Id="rId17" Type="http://schemas.openxmlformats.org/officeDocument/2006/relationships/oleObject" Target="../embeddings/oleObject23.bin"/><Relationship Id="rId2" Type="http://schemas.openxmlformats.org/officeDocument/2006/relationships/image" Target="../media/image11.wmf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6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10.wmf"/><Relationship Id="rId5" Type="http://schemas.openxmlformats.org/officeDocument/2006/relationships/image" Target="../media/image13.wmf"/><Relationship Id="rId15" Type="http://schemas.openxmlformats.org/officeDocument/2006/relationships/image" Target="../media/image4.wmf"/><Relationship Id="rId23" Type="http://schemas.openxmlformats.org/officeDocument/2006/relationships/image" Target="../media/image16.png"/><Relationship Id="rId10" Type="http://schemas.openxmlformats.org/officeDocument/2006/relationships/oleObject" Target="../embeddings/oleObject19.bin"/><Relationship Id="rId19" Type="http://schemas.openxmlformats.org/officeDocument/2006/relationships/oleObject" Target="../embeddings/oleObject25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21.bin"/><Relationship Id="rId22" Type="http://schemas.openxmlformats.org/officeDocument/2006/relationships/oleObject" Target="../embeddings/oleObject2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15.wmf"/><Relationship Id="rId18" Type="http://schemas.openxmlformats.org/officeDocument/2006/relationships/oleObject" Target="../embeddings/oleObject37.bin"/><Relationship Id="rId3" Type="http://schemas.openxmlformats.org/officeDocument/2006/relationships/image" Target="../media/image12.png"/><Relationship Id="rId21" Type="http://schemas.openxmlformats.org/officeDocument/2006/relationships/oleObject" Target="../embeddings/oleObject40.bin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33.bin"/><Relationship Id="rId17" Type="http://schemas.openxmlformats.org/officeDocument/2006/relationships/oleObject" Target="../embeddings/oleObject36.bin"/><Relationship Id="rId2" Type="http://schemas.openxmlformats.org/officeDocument/2006/relationships/image" Target="../media/image11.wmf"/><Relationship Id="rId16" Type="http://schemas.openxmlformats.org/officeDocument/2006/relationships/oleObject" Target="../embeddings/oleObject35.bin"/><Relationship Id="rId20" Type="http://schemas.openxmlformats.org/officeDocument/2006/relationships/oleObject" Target="../embeddings/oleObject39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10.wmf"/><Relationship Id="rId5" Type="http://schemas.openxmlformats.org/officeDocument/2006/relationships/image" Target="../media/image13.wmf"/><Relationship Id="rId15" Type="http://schemas.openxmlformats.org/officeDocument/2006/relationships/image" Target="../media/image4.wmf"/><Relationship Id="rId23" Type="http://schemas.openxmlformats.org/officeDocument/2006/relationships/image" Target="../media/image16.png"/><Relationship Id="rId10" Type="http://schemas.openxmlformats.org/officeDocument/2006/relationships/oleObject" Target="../embeddings/oleObject32.bin"/><Relationship Id="rId19" Type="http://schemas.openxmlformats.org/officeDocument/2006/relationships/oleObject" Target="../embeddings/oleObject38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34.bin"/><Relationship Id="rId22" Type="http://schemas.openxmlformats.org/officeDocument/2006/relationships/oleObject" Target="../embeddings/oleObject4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43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24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25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48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23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50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2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image" Target="../media/image4.wmf"/><Relationship Id="rId7" Type="http://schemas.openxmlformats.org/officeDocument/2006/relationships/oleObject" Target="../embeddings/oleObject55.bin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4.bin"/><Relationship Id="rId5" Type="http://schemas.openxmlformats.org/officeDocument/2006/relationships/oleObject" Target="../embeddings/oleObject53.bin"/><Relationship Id="rId4" Type="http://schemas.openxmlformats.org/officeDocument/2006/relationships/oleObject" Target="../embeddings/oleObject52.bin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31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32.emf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w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e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jpeg"/><Relationship Id="rId5" Type="http://schemas.openxmlformats.org/officeDocument/2006/relationships/image" Target="../media/image39.png"/><Relationship Id="rId4" Type="http://schemas.openxmlformats.org/officeDocument/2006/relationships/image" Target="../media/image23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1.emf"/><Relationship Id="rId4" Type="http://schemas.openxmlformats.org/officeDocument/2006/relationships/image" Target="../media/image23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3.png"/><Relationship Id="rId4" Type="http://schemas.openxmlformats.org/officeDocument/2006/relationships/image" Target="../media/image23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4" Type="http://schemas.openxmlformats.org/officeDocument/2006/relationships/image" Target="../media/image23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emf"/><Relationship Id="rId4" Type="http://schemas.openxmlformats.org/officeDocument/2006/relationships/image" Target="../media/image23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7.emf"/><Relationship Id="rId4" Type="http://schemas.openxmlformats.org/officeDocument/2006/relationships/image" Target="../media/image23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8.emf"/><Relationship Id="rId4" Type="http://schemas.openxmlformats.org/officeDocument/2006/relationships/image" Target="../media/image23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emf"/><Relationship Id="rId4" Type="http://schemas.openxmlformats.org/officeDocument/2006/relationships/image" Target="../media/image23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1.emf"/><Relationship Id="rId4" Type="http://schemas.openxmlformats.org/officeDocument/2006/relationships/image" Target="../media/image23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1.png"/><Relationship Id="rId4" Type="http://schemas.openxmlformats.org/officeDocument/2006/relationships/image" Target="../media/image23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标题 2"/>
          <p:cNvSpPr txBox="1"/>
          <p:nvPr/>
        </p:nvSpPr>
        <p:spPr>
          <a:xfrm>
            <a:off x="1222860" y="3966357"/>
            <a:ext cx="6709028" cy="10681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吴英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wuying@nankai.edu.cn </a:t>
            </a:r>
          </a:p>
          <a:p>
            <a:endParaRPr lang="en-US" altLang="zh-CN" dirty="0">
              <a:solidFill>
                <a:schemeClr val="accent5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标题 1"/>
          <p:cNvSpPr txBox="1"/>
          <p:nvPr/>
        </p:nvSpPr>
        <p:spPr>
          <a:xfrm rot="10800000" flipH="1" flipV="1">
            <a:off x="1056736" y="1579418"/>
            <a:ext cx="7030527" cy="18495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3800"/>
              </a:lnSpc>
              <a:spcBef>
                <a:spcPts val="600"/>
              </a:spcBef>
              <a:spcAft>
                <a:spcPts val="1200"/>
              </a:spcAft>
            </a:pPr>
            <a:r>
              <a:rPr lang="zh-CN" altLang="zh-CN" sz="6600" b="1" dirty="0">
                <a:latin typeface="楷体" panose="02010609060101010101" pitchFamily="49" charset="-122"/>
                <a:ea typeface="楷体" panose="02010609060101010101" pitchFamily="49" charset="-122"/>
              </a:rPr>
              <a:t>计算机网络</a:t>
            </a:r>
            <a:endParaRPr lang="en-US" altLang="zh-CN" sz="6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ts val="3900"/>
              </a:lnSpc>
              <a:spcBef>
                <a:spcPts val="600"/>
              </a:spcBef>
            </a:pPr>
            <a:r>
              <a:rPr lang="zh-CN" altLang="en-US" sz="3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3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章 应用层协议与网络编程</a:t>
            </a:r>
            <a:endParaRPr lang="en-US" altLang="zh-CN" sz="36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1309816" y="4410170"/>
            <a:ext cx="6432576" cy="1966385"/>
          </a:xfrm>
          <a:prstGeom prst="rect">
            <a:avLst/>
          </a:prstGeom>
          <a:solidFill>
            <a:srgbClr val="F2F8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76094" y="2446629"/>
            <a:ext cx="8024209" cy="16381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431346" y="32661"/>
            <a:ext cx="8197203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学习目标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60964" y="1031848"/>
            <a:ext cx="3494809" cy="106054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600"/>
              </a:lnSpc>
              <a:buSzPct val="100000"/>
              <a:defRPr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总体目标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：理解应用层协议与进程通信模型，掌握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编程方法，学习典型的应用层协议</a:t>
            </a:r>
            <a:endParaRPr lang="en-US" altLang="zh-C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3746" y="2554260"/>
            <a:ext cx="2340722" cy="139397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2600"/>
              </a:lnSpc>
              <a:buSzPct val="100000"/>
              <a:defRPr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理解</a:t>
            </a:r>
            <a:r>
              <a:rPr lang="zh-CN" altLang="zh-CN" dirty="0"/>
              <a:t>客户</a:t>
            </a:r>
            <a:r>
              <a:rPr lang="en-US" altLang="zh-CN" dirty="0"/>
              <a:t>/</a:t>
            </a:r>
            <a:r>
              <a:rPr lang="zh-CN" altLang="zh-CN" dirty="0"/>
              <a:t>服务器模型和对等计算模型</a:t>
            </a:r>
            <a:r>
              <a:rPr lang="zh-CN" altLang="en-US" dirty="0"/>
              <a:t>，</a:t>
            </a:r>
            <a:r>
              <a:rPr lang="zh-CN" altLang="zh-CN" dirty="0"/>
              <a:t>初步了解传输层服务及对应用层的支持</a:t>
            </a:r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3316907" y="2554259"/>
            <a:ext cx="2418394" cy="139397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2600"/>
              </a:lnSpc>
              <a:buSzPct val="100000"/>
              <a:defRPr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b="0" dirty="0"/>
              <a:t>掌握基于套接字的网络编程方法</a:t>
            </a:r>
            <a:r>
              <a:rPr lang="zh-CN" altLang="en-US" b="0" dirty="0"/>
              <a:t>，</a:t>
            </a:r>
            <a:r>
              <a:rPr lang="zh-CN" altLang="zh-CN" b="0" dirty="0"/>
              <a:t>理解数据报式套接字和流式套接字的功能</a:t>
            </a:r>
            <a:endParaRPr lang="en-US" altLang="zh-CN" b="0" dirty="0"/>
          </a:p>
        </p:txBody>
      </p:sp>
      <p:sp>
        <p:nvSpPr>
          <p:cNvPr id="8" name="文本框 7"/>
          <p:cNvSpPr txBox="1"/>
          <p:nvPr/>
        </p:nvSpPr>
        <p:spPr>
          <a:xfrm>
            <a:off x="5987740" y="2556652"/>
            <a:ext cx="2478409" cy="139397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6350"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2600"/>
              </a:lnSpc>
              <a:buSzPct val="100000"/>
              <a:defRPr b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掌握域名系统构成和解析过程，理解根域名服务器在国家网络基础设施中的重要作用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1490545" y="4534920"/>
            <a:ext cx="2943768" cy="1727396"/>
          </a:xfrm>
          <a:prstGeom prst="rect">
            <a:avLst/>
          </a:prstGeom>
          <a:solidFill>
            <a:srgbClr val="E8EEF8"/>
          </a:solidFill>
          <a:ln w="63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ts val="2600"/>
              </a:lnSpc>
              <a:buSzPct val="100000"/>
              <a:defRPr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掌握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服务的特点、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 1.0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1.1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的工作机制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及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所面临的性能问题，以及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HTTP/2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的优化机制和解决的关键问题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02627" y="4534920"/>
            <a:ext cx="2866096" cy="1727396"/>
          </a:xfrm>
          <a:prstGeom prst="rect">
            <a:avLst/>
          </a:prstGeom>
          <a:solidFill>
            <a:srgbClr val="E8EEF8"/>
          </a:solidFill>
          <a:ln w="6350"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ts val="2600"/>
              </a:lnSpc>
              <a:buSzPct val="100000"/>
              <a:defRPr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>
                <a:solidFill>
                  <a:schemeClr val="tx1"/>
                </a:solidFill>
              </a:rPr>
              <a:t>掌握内容分发网络所解决的问题和基本工作机制，理解两种基本的重定向方法</a:t>
            </a:r>
            <a:r>
              <a:rPr lang="zh-CN" altLang="en-US" dirty="0">
                <a:solidFill>
                  <a:schemeClr val="tx1"/>
                </a:solidFill>
              </a:rPr>
              <a:t>，了解</a:t>
            </a:r>
            <a:r>
              <a:rPr lang="zh-CN" altLang="zh-CN" dirty="0">
                <a:solidFill>
                  <a:schemeClr val="tx1"/>
                </a:solidFill>
              </a:rPr>
              <a:t>理解动态自适应流媒体协议的基本思想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431346" y="32661"/>
            <a:ext cx="7628133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内容提纲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37612" y="1170144"/>
            <a:ext cx="8068776" cy="4517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300"/>
              </a:lnSpc>
              <a:spcBef>
                <a:spcPts val="1200"/>
              </a:spcBef>
              <a:buClr>
                <a:schemeClr val="tx1"/>
              </a:buClr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2.1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应用协议与进程通信模型</a:t>
            </a:r>
          </a:p>
          <a:p>
            <a:pPr>
              <a:lnSpc>
                <a:spcPts val="3300"/>
              </a:lnSpc>
              <a:spcBef>
                <a:spcPts val="1200"/>
              </a:spcBef>
              <a:buClr>
                <a:schemeClr val="tx1"/>
              </a:buClr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2.2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传输层服务对应用的支持</a:t>
            </a:r>
          </a:p>
          <a:p>
            <a:pPr>
              <a:lnSpc>
                <a:spcPts val="3300"/>
              </a:lnSpc>
              <a:spcBef>
                <a:spcPts val="1200"/>
              </a:spcBef>
              <a:buClr>
                <a:schemeClr val="tx1"/>
              </a:buClr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2.3 Socket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3300"/>
              </a:lnSpc>
              <a:spcBef>
                <a:spcPts val="1200"/>
              </a:spcBef>
              <a:buClr>
                <a:schemeClr val="tx1"/>
              </a:buClr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2.4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域名系统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300"/>
              </a:lnSpc>
              <a:spcBef>
                <a:spcPts val="1200"/>
              </a:spcBef>
              <a:buClr>
                <a:schemeClr val="tx1"/>
              </a:buClr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2.5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传统的应用层服务与协议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3300"/>
              </a:lnSpc>
              <a:spcBef>
                <a:spcPts val="1200"/>
              </a:spcBef>
              <a:buClr>
                <a:schemeClr val="tx1"/>
              </a:buClr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2.6 Web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58140" indent="-358140">
              <a:lnSpc>
                <a:spcPts val="3300"/>
              </a:lnSpc>
              <a:spcBef>
                <a:spcPts val="1200"/>
              </a:spcBef>
              <a:buClr>
                <a:srgbClr val="C00000"/>
              </a:buClr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2.7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内容分发网络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CDN</a:t>
            </a:r>
          </a:p>
          <a:p>
            <a:pPr marL="358140" indent="-358140">
              <a:lnSpc>
                <a:spcPts val="3300"/>
              </a:lnSpc>
              <a:spcBef>
                <a:spcPts val="1200"/>
              </a:spcBef>
              <a:buClr>
                <a:srgbClr val="C00000"/>
              </a:buClr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2.8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动态自适应流媒体协议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77423" y="33555"/>
            <a:ext cx="4366266" cy="536895"/>
          </a:xfrm>
        </p:spPr>
        <p:txBody>
          <a:bodyPr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回顾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TCP/IP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体系结构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2" name="Rectangle 2"/>
          <p:cNvSpPr txBox="1">
            <a:spLocks noChangeArrowheads="1"/>
          </p:cNvSpPr>
          <p:nvPr/>
        </p:nvSpPr>
        <p:spPr>
          <a:xfrm>
            <a:off x="323850" y="609600"/>
            <a:ext cx="8210550" cy="803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TCP/IP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体系结构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Line 24"/>
          <p:cNvSpPr>
            <a:spLocks noChangeShapeType="1"/>
          </p:cNvSpPr>
          <p:nvPr/>
        </p:nvSpPr>
        <p:spPr bwMode="auto">
          <a:xfrm>
            <a:off x="2184400" y="2547938"/>
            <a:ext cx="47244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Line 26"/>
          <p:cNvSpPr>
            <a:spLocks noChangeShapeType="1"/>
          </p:cNvSpPr>
          <p:nvPr/>
        </p:nvSpPr>
        <p:spPr bwMode="auto">
          <a:xfrm>
            <a:off x="2184400" y="3614738"/>
            <a:ext cx="47244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Line 27"/>
          <p:cNvSpPr>
            <a:spLocks noChangeShapeType="1"/>
          </p:cNvSpPr>
          <p:nvPr/>
        </p:nvSpPr>
        <p:spPr bwMode="auto">
          <a:xfrm>
            <a:off x="2184400" y="4148138"/>
            <a:ext cx="3048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Line 28"/>
          <p:cNvSpPr>
            <a:spLocks noChangeShapeType="1"/>
          </p:cNvSpPr>
          <p:nvPr/>
        </p:nvSpPr>
        <p:spPr bwMode="auto">
          <a:xfrm>
            <a:off x="2184400" y="4681538"/>
            <a:ext cx="3048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Line 29"/>
          <p:cNvSpPr>
            <a:spLocks noChangeShapeType="1"/>
          </p:cNvSpPr>
          <p:nvPr/>
        </p:nvSpPr>
        <p:spPr bwMode="auto">
          <a:xfrm>
            <a:off x="2184400" y="5214938"/>
            <a:ext cx="3048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Line 30"/>
          <p:cNvSpPr>
            <a:spLocks noChangeShapeType="1"/>
          </p:cNvSpPr>
          <p:nvPr/>
        </p:nvSpPr>
        <p:spPr bwMode="auto">
          <a:xfrm>
            <a:off x="6604000" y="4148138"/>
            <a:ext cx="3048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31"/>
          <p:cNvSpPr>
            <a:spLocks noChangeShapeType="1"/>
          </p:cNvSpPr>
          <p:nvPr/>
        </p:nvSpPr>
        <p:spPr bwMode="auto">
          <a:xfrm>
            <a:off x="6604000" y="4681538"/>
            <a:ext cx="3048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Line 32"/>
          <p:cNvSpPr>
            <a:spLocks noChangeShapeType="1"/>
          </p:cNvSpPr>
          <p:nvPr/>
        </p:nvSpPr>
        <p:spPr bwMode="auto">
          <a:xfrm>
            <a:off x="6604000" y="5214938"/>
            <a:ext cx="3048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Line 33"/>
          <p:cNvSpPr>
            <a:spLocks noChangeShapeType="1"/>
          </p:cNvSpPr>
          <p:nvPr/>
        </p:nvSpPr>
        <p:spPr bwMode="auto">
          <a:xfrm>
            <a:off x="1379548" y="5830887"/>
            <a:ext cx="154462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34"/>
          <p:cNvSpPr>
            <a:spLocks noChangeShapeType="1"/>
          </p:cNvSpPr>
          <p:nvPr/>
        </p:nvSpPr>
        <p:spPr bwMode="auto">
          <a:xfrm flipV="1">
            <a:off x="3870324" y="5813426"/>
            <a:ext cx="1357311" cy="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35"/>
          <p:cNvSpPr>
            <a:spLocks noChangeShapeType="1"/>
          </p:cNvSpPr>
          <p:nvPr/>
        </p:nvSpPr>
        <p:spPr bwMode="auto">
          <a:xfrm>
            <a:off x="6169022" y="5813426"/>
            <a:ext cx="156684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36"/>
          <p:cNvSpPr>
            <a:spLocks noChangeShapeType="1"/>
          </p:cNvSpPr>
          <p:nvPr/>
        </p:nvSpPr>
        <p:spPr bwMode="auto">
          <a:xfrm flipV="1">
            <a:off x="1379548" y="5519738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37"/>
          <p:cNvSpPr>
            <a:spLocks noChangeShapeType="1"/>
          </p:cNvSpPr>
          <p:nvPr/>
        </p:nvSpPr>
        <p:spPr bwMode="auto">
          <a:xfrm flipV="1">
            <a:off x="2924175" y="5508626"/>
            <a:ext cx="0" cy="32861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Line 38"/>
          <p:cNvSpPr>
            <a:spLocks noChangeShapeType="1"/>
          </p:cNvSpPr>
          <p:nvPr/>
        </p:nvSpPr>
        <p:spPr bwMode="auto">
          <a:xfrm flipV="1">
            <a:off x="3870325" y="5519738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Line 39"/>
          <p:cNvSpPr>
            <a:spLocks noChangeShapeType="1"/>
          </p:cNvSpPr>
          <p:nvPr/>
        </p:nvSpPr>
        <p:spPr bwMode="auto">
          <a:xfrm flipV="1">
            <a:off x="5227638" y="5508626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Line 40"/>
          <p:cNvSpPr>
            <a:spLocks noChangeShapeType="1"/>
          </p:cNvSpPr>
          <p:nvPr/>
        </p:nvSpPr>
        <p:spPr bwMode="auto">
          <a:xfrm flipV="1">
            <a:off x="6169025" y="5508626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Text Box 42"/>
          <p:cNvSpPr txBox="1">
            <a:spLocks noChangeArrowheads="1"/>
          </p:cNvSpPr>
          <p:nvPr/>
        </p:nvSpPr>
        <p:spPr bwMode="auto">
          <a:xfrm>
            <a:off x="2901950" y="2868613"/>
            <a:ext cx="32624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i="1" dirty="0">
                <a:solidFill>
                  <a:srgbClr val="FF0000"/>
                </a:solidFill>
                <a:ea typeface="宋体" panose="02010600030101010101" pitchFamily="2" charset="-122"/>
              </a:rPr>
              <a:t>对等层通信，执行相关协议</a:t>
            </a:r>
            <a:endParaRPr kumimoji="0" lang="en-US" altLang="zh-CN" sz="2000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78" name="Text Box 46"/>
          <p:cNvSpPr txBox="1">
            <a:spLocks noChangeArrowheads="1"/>
          </p:cNvSpPr>
          <p:nvPr/>
        </p:nvSpPr>
        <p:spPr bwMode="auto">
          <a:xfrm>
            <a:off x="2924175" y="3524250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 dirty="0">
                <a:solidFill>
                  <a:srgbClr val="000099"/>
                </a:solidFill>
                <a:ea typeface="宋体" panose="02010600030101010101" pitchFamily="2" charset="-122"/>
              </a:rPr>
              <a:t>路由器</a:t>
            </a:r>
            <a:endParaRPr kumimoji="0" lang="en-US" altLang="zh-CN" sz="2000" dirty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79" name="Line 64"/>
          <p:cNvSpPr>
            <a:spLocks noChangeShapeType="1"/>
          </p:cNvSpPr>
          <p:nvPr/>
        </p:nvSpPr>
        <p:spPr bwMode="auto">
          <a:xfrm flipV="1">
            <a:off x="4197350" y="2563814"/>
            <a:ext cx="360362" cy="32226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65"/>
          <p:cNvSpPr>
            <a:spLocks noChangeShapeType="1"/>
          </p:cNvSpPr>
          <p:nvPr/>
        </p:nvSpPr>
        <p:spPr bwMode="auto">
          <a:xfrm>
            <a:off x="4197350" y="3206750"/>
            <a:ext cx="215900" cy="409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Rectangle 9"/>
          <p:cNvSpPr>
            <a:spLocks noChangeArrowheads="1"/>
          </p:cNvSpPr>
          <p:nvPr/>
        </p:nvSpPr>
        <p:spPr bwMode="auto">
          <a:xfrm>
            <a:off x="525472" y="1797050"/>
            <a:ext cx="1676400" cy="15890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dirty="0">
                <a:ea typeface="宋体" panose="02010600030101010101" pitchFamily="2" charset="-122"/>
              </a:rPr>
              <a:t>应用层</a:t>
            </a:r>
            <a:endParaRPr kumimoji="0"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82" name="Rectangle 11"/>
          <p:cNvSpPr>
            <a:spLocks noChangeArrowheads="1"/>
          </p:cNvSpPr>
          <p:nvPr/>
        </p:nvSpPr>
        <p:spPr bwMode="auto">
          <a:xfrm>
            <a:off x="525472" y="3386138"/>
            <a:ext cx="1676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dirty="0">
                <a:ea typeface="宋体" panose="02010600030101010101" pitchFamily="2" charset="-122"/>
              </a:rPr>
              <a:t>传输层</a:t>
            </a:r>
            <a:endParaRPr kumimoji="0"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83" name="Rectangle 12"/>
          <p:cNvSpPr>
            <a:spLocks noChangeArrowheads="1"/>
          </p:cNvSpPr>
          <p:nvPr/>
        </p:nvSpPr>
        <p:spPr bwMode="auto">
          <a:xfrm>
            <a:off x="525472" y="3919538"/>
            <a:ext cx="1676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网络层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84" name="Rectangle 13"/>
          <p:cNvSpPr>
            <a:spLocks noChangeArrowheads="1"/>
          </p:cNvSpPr>
          <p:nvPr/>
        </p:nvSpPr>
        <p:spPr bwMode="auto">
          <a:xfrm>
            <a:off x="525472" y="4452938"/>
            <a:ext cx="1676400" cy="1066800"/>
          </a:xfrm>
          <a:prstGeom prst="rect">
            <a:avLst/>
          </a:prstGeom>
          <a:solidFill>
            <a:srgbClr val="FD9D9A">
              <a:alpha val="39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接口层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85" name="Rectangle 9"/>
          <p:cNvSpPr>
            <a:spLocks noChangeArrowheads="1"/>
          </p:cNvSpPr>
          <p:nvPr/>
        </p:nvSpPr>
        <p:spPr bwMode="auto">
          <a:xfrm>
            <a:off x="6892916" y="1800225"/>
            <a:ext cx="1676400" cy="15890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dirty="0">
                <a:ea typeface="宋体" panose="02010600030101010101" pitchFamily="2" charset="-122"/>
              </a:rPr>
              <a:t>应用层</a:t>
            </a:r>
            <a:endParaRPr kumimoji="0"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86" name="Rectangle 11"/>
          <p:cNvSpPr>
            <a:spLocks noChangeArrowheads="1"/>
          </p:cNvSpPr>
          <p:nvPr/>
        </p:nvSpPr>
        <p:spPr bwMode="auto">
          <a:xfrm>
            <a:off x="6892916" y="3389313"/>
            <a:ext cx="1676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dirty="0">
                <a:ea typeface="宋体" panose="02010600030101010101" pitchFamily="2" charset="-122"/>
              </a:rPr>
              <a:t>传输层</a:t>
            </a:r>
            <a:endParaRPr kumimoji="0"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87" name="Rectangle 12"/>
          <p:cNvSpPr>
            <a:spLocks noChangeArrowheads="1"/>
          </p:cNvSpPr>
          <p:nvPr/>
        </p:nvSpPr>
        <p:spPr bwMode="auto">
          <a:xfrm>
            <a:off x="6892916" y="3922713"/>
            <a:ext cx="1676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网络层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88" name="Rectangle 13"/>
          <p:cNvSpPr>
            <a:spLocks noChangeArrowheads="1"/>
          </p:cNvSpPr>
          <p:nvPr/>
        </p:nvSpPr>
        <p:spPr bwMode="auto">
          <a:xfrm>
            <a:off x="6892916" y="4456113"/>
            <a:ext cx="1676400" cy="1066800"/>
          </a:xfrm>
          <a:prstGeom prst="rect">
            <a:avLst/>
          </a:prstGeom>
          <a:solidFill>
            <a:srgbClr val="F9CDAD">
              <a:alpha val="4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>
                <a:ea typeface="宋体" panose="02010600030101010101" pitchFamily="2" charset="-122"/>
              </a:rPr>
              <a:t>接口层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89" name="Line 40"/>
          <p:cNvSpPr>
            <a:spLocks noChangeShapeType="1"/>
          </p:cNvSpPr>
          <p:nvPr/>
        </p:nvSpPr>
        <p:spPr bwMode="auto">
          <a:xfrm flipV="1">
            <a:off x="7737475" y="5519738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7" name="组合 96"/>
          <p:cNvGrpSpPr/>
          <p:nvPr/>
        </p:nvGrpSpPr>
        <p:grpSpPr>
          <a:xfrm>
            <a:off x="4327651" y="4153695"/>
            <a:ext cx="433189" cy="1066800"/>
            <a:chOff x="4668856" y="4067970"/>
            <a:chExt cx="304800" cy="1066800"/>
          </a:xfrm>
        </p:grpSpPr>
        <p:sp>
          <p:nvSpPr>
            <p:cNvPr id="98" name="Line 30"/>
            <p:cNvSpPr>
              <a:spLocks noChangeShapeType="1"/>
            </p:cNvSpPr>
            <p:nvPr/>
          </p:nvSpPr>
          <p:spPr bwMode="auto">
            <a:xfrm>
              <a:off x="4668856" y="4067970"/>
              <a:ext cx="3048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31"/>
            <p:cNvSpPr>
              <a:spLocks noChangeShapeType="1"/>
            </p:cNvSpPr>
            <p:nvPr/>
          </p:nvSpPr>
          <p:spPr bwMode="auto">
            <a:xfrm>
              <a:off x="4668856" y="4601370"/>
              <a:ext cx="3048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32"/>
            <p:cNvSpPr>
              <a:spLocks noChangeShapeType="1"/>
            </p:cNvSpPr>
            <p:nvPr/>
          </p:nvSpPr>
          <p:spPr bwMode="auto">
            <a:xfrm>
              <a:off x="4668856" y="5134770"/>
              <a:ext cx="3048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8" name="Rectangle 12"/>
          <p:cNvSpPr>
            <a:spLocks noChangeArrowheads="1"/>
          </p:cNvSpPr>
          <p:nvPr/>
        </p:nvSpPr>
        <p:spPr bwMode="auto">
          <a:xfrm>
            <a:off x="2486109" y="3919538"/>
            <a:ext cx="1844633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网络层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109" name="Rectangle 13"/>
          <p:cNvSpPr>
            <a:spLocks noChangeArrowheads="1"/>
          </p:cNvSpPr>
          <p:nvPr/>
        </p:nvSpPr>
        <p:spPr bwMode="auto">
          <a:xfrm>
            <a:off x="2486110" y="4452938"/>
            <a:ext cx="928692" cy="1066800"/>
          </a:xfrm>
          <a:prstGeom prst="rect">
            <a:avLst/>
          </a:prstGeom>
          <a:solidFill>
            <a:srgbClr val="FD9D9A">
              <a:alpha val="39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>
                <a:ea typeface="宋体" panose="02010600030101010101" pitchFamily="2" charset="-122"/>
              </a:rPr>
              <a:t>接口层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112" name="Rectangle 13"/>
          <p:cNvSpPr>
            <a:spLocks noChangeArrowheads="1"/>
          </p:cNvSpPr>
          <p:nvPr/>
        </p:nvSpPr>
        <p:spPr bwMode="auto">
          <a:xfrm>
            <a:off x="3403667" y="4452938"/>
            <a:ext cx="928692" cy="1066800"/>
          </a:xfrm>
          <a:prstGeom prst="rect">
            <a:avLst/>
          </a:prstGeom>
          <a:solidFill>
            <a:srgbClr val="C8C8A9">
              <a:alpha val="4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接口层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113" name="Rectangle 12"/>
          <p:cNvSpPr>
            <a:spLocks noChangeArrowheads="1"/>
          </p:cNvSpPr>
          <p:nvPr/>
        </p:nvSpPr>
        <p:spPr bwMode="auto">
          <a:xfrm>
            <a:off x="4762458" y="3922714"/>
            <a:ext cx="1844633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网络层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114" name="Rectangle 13"/>
          <p:cNvSpPr>
            <a:spLocks noChangeArrowheads="1"/>
          </p:cNvSpPr>
          <p:nvPr/>
        </p:nvSpPr>
        <p:spPr bwMode="auto">
          <a:xfrm>
            <a:off x="4762459" y="4456114"/>
            <a:ext cx="928692" cy="1066800"/>
          </a:xfrm>
          <a:prstGeom prst="rect">
            <a:avLst/>
          </a:prstGeom>
          <a:solidFill>
            <a:srgbClr val="C8C8A9">
              <a:alpha val="4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>
                <a:ea typeface="宋体" panose="02010600030101010101" pitchFamily="2" charset="-122"/>
              </a:rPr>
              <a:t>接口层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115" name="Rectangle 13"/>
          <p:cNvSpPr>
            <a:spLocks noChangeArrowheads="1"/>
          </p:cNvSpPr>
          <p:nvPr/>
        </p:nvSpPr>
        <p:spPr bwMode="auto">
          <a:xfrm>
            <a:off x="5680016" y="4456114"/>
            <a:ext cx="928692" cy="1066800"/>
          </a:xfrm>
          <a:prstGeom prst="rect">
            <a:avLst/>
          </a:prstGeom>
          <a:solidFill>
            <a:srgbClr val="F9CDAD">
              <a:alpha val="4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接口层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116" name="Text Box 46"/>
          <p:cNvSpPr txBox="1">
            <a:spLocks noChangeArrowheads="1"/>
          </p:cNvSpPr>
          <p:nvPr/>
        </p:nvSpPr>
        <p:spPr bwMode="auto">
          <a:xfrm>
            <a:off x="5197390" y="3540068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 dirty="0">
                <a:solidFill>
                  <a:srgbClr val="000099"/>
                </a:solidFill>
                <a:ea typeface="宋体" panose="02010600030101010101" pitchFamily="2" charset="-122"/>
              </a:rPr>
              <a:t>路由器</a:t>
            </a:r>
            <a:endParaRPr kumimoji="0" lang="en-US" altLang="zh-CN" sz="2000" dirty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117" name="Text Box 42"/>
          <p:cNvSpPr txBox="1">
            <a:spLocks noChangeArrowheads="1"/>
          </p:cNvSpPr>
          <p:nvPr/>
        </p:nvSpPr>
        <p:spPr bwMode="auto">
          <a:xfrm>
            <a:off x="601437" y="1314370"/>
            <a:ext cx="15178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dirty="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主机</a:t>
            </a:r>
            <a:r>
              <a:rPr kumimoji="0" lang="en-US" altLang="zh-CN" sz="2000" dirty="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18" name="Text Box 42"/>
          <p:cNvSpPr txBox="1">
            <a:spLocks noChangeArrowheads="1"/>
          </p:cNvSpPr>
          <p:nvPr/>
        </p:nvSpPr>
        <p:spPr bwMode="auto">
          <a:xfrm>
            <a:off x="6952446" y="1323820"/>
            <a:ext cx="15178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dirty="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主机</a:t>
            </a:r>
            <a:r>
              <a:rPr kumimoji="0" lang="en-US" altLang="zh-CN" sz="2000" dirty="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20" name="矩形 119"/>
          <p:cNvSpPr/>
          <p:nvPr/>
        </p:nvSpPr>
        <p:spPr bwMode="auto">
          <a:xfrm>
            <a:off x="525471" y="1804967"/>
            <a:ext cx="1676401" cy="1574822"/>
          </a:xfrm>
          <a:prstGeom prst="rect">
            <a:avLst/>
          </a:prstGeom>
          <a:solidFill>
            <a:srgbClr val="83AF9B">
              <a:alpha val="50000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ctr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SzTx/>
              <a:buFont typeface="Symbol" panose="05050102010706020507" pitchFamily="18" charset="2"/>
              <a:buBlip>
                <a:blip r:embed="rId3"/>
              </a:buBlip>
            </a:pPr>
            <a:endParaRPr kumimoji="1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677342" y="3334553"/>
            <a:ext cx="222250" cy="94447"/>
          </a:xfrm>
          <a:prstGeom prst="rect">
            <a:avLst/>
          </a:prstGeom>
          <a:solidFill>
            <a:srgbClr val="FE436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ctr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SzTx/>
              <a:buFont typeface="Symbol" panose="05050102010706020507" pitchFamily="18" charset="2"/>
              <a:buBlip>
                <a:blip r:embed="rId3"/>
              </a:buBlip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422827" y="3334553"/>
            <a:ext cx="222250" cy="94447"/>
          </a:xfrm>
          <a:prstGeom prst="rect">
            <a:avLst/>
          </a:prstGeom>
          <a:solidFill>
            <a:srgbClr val="FE436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 algn="ctr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Blip>
                <a:blip r:embed="rId3"/>
              </a:buBlip>
            </a:pP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800671" y="3334554"/>
            <a:ext cx="222250" cy="101589"/>
          </a:xfrm>
          <a:prstGeom prst="rect">
            <a:avLst/>
          </a:prstGeom>
          <a:solidFill>
            <a:srgbClr val="FE436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 algn="ctr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Blip>
                <a:blip r:embed="rId3"/>
              </a:buBlip>
            </a:pP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052940" y="3334553"/>
            <a:ext cx="222250" cy="94447"/>
          </a:xfrm>
          <a:prstGeom prst="rect">
            <a:avLst/>
          </a:prstGeom>
          <a:solidFill>
            <a:srgbClr val="FE436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 algn="ctr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Blip>
                <a:blip r:embed="rId3"/>
              </a:buBlip>
            </a:pP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066875" y="3334553"/>
            <a:ext cx="222250" cy="109522"/>
          </a:xfrm>
          <a:prstGeom prst="rect">
            <a:avLst/>
          </a:prstGeom>
          <a:solidFill>
            <a:srgbClr val="FE436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 algn="ctr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Blip>
                <a:blip r:embed="rId3"/>
              </a:buBlip>
            </a:pP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812360" y="3331963"/>
            <a:ext cx="222250" cy="112109"/>
          </a:xfrm>
          <a:prstGeom prst="rect">
            <a:avLst/>
          </a:prstGeom>
          <a:solidFill>
            <a:srgbClr val="FE436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 algn="ctr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Blip>
                <a:blip r:embed="rId3"/>
              </a:buBlip>
            </a:pP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8190204" y="3331963"/>
            <a:ext cx="222250" cy="112109"/>
          </a:xfrm>
          <a:prstGeom prst="rect">
            <a:avLst/>
          </a:prstGeom>
          <a:solidFill>
            <a:srgbClr val="FE436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 algn="ctr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Blip>
                <a:blip r:embed="rId3"/>
              </a:buBlip>
            </a:pP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7442473" y="3331964"/>
            <a:ext cx="222250" cy="112109"/>
          </a:xfrm>
          <a:prstGeom prst="rect">
            <a:avLst/>
          </a:prstGeom>
          <a:solidFill>
            <a:srgbClr val="FE436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 algn="ctr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Blip>
                <a:blip r:embed="rId3"/>
              </a:buBlip>
            </a:pP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88658" y="6103938"/>
            <a:ext cx="387798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None/>
            </a:pPr>
            <a:r>
              <a:rPr lang="zh-CN" altLang="en-US" dirty="0">
                <a:ea typeface="宋体" panose="02010600030101010101" pitchFamily="2" charset="-122"/>
              </a:rPr>
              <a:t>接口层通常包括数据链路层和物理层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6" name="矩形 55"/>
          <p:cNvSpPr/>
          <p:nvPr/>
        </p:nvSpPr>
        <p:spPr bwMode="auto">
          <a:xfrm>
            <a:off x="6890326" y="1797049"/>
            <a:ext cx="1670995" cy="1590678"/>
          </a:xfrm>
          <a:prstGeom prst="rect">
            <a:avLst/>
          </a:prstGeom>
          <a:solidFill>
            <a:srgbClr val="83AF9B">
              <a:alpha val="50000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 algn="ctr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Blip>
                <a:blip r:embed="rId3"/>
              </a:buBlip>
            </a:pPr>
            <a:endParaRPr kumimoji="1"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cxnSp>
        <p:nvCxnSpPr>
          <p:cNvPr id="12" name="直接箭头连接符 11"/>
          <p:cNvCxnSpPr>
            <a:stCxn id="120" idx="3"/>
            <a:endCxn id="56" idx="1"/>
          </p:cNvCxnSpPr>
          <p:nvPr/>
        </p:nvCxnSpPr>
        <p:spPr>
          <a:xfrm>
            <a:off x="2201872" y="2592378"/>
            <a:ext cx="4688454" cy="1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5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20713"/>
            <a:ext cx="8588375" cy="792162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应用与应用层协议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799" y="1400175"/>
            <a:ext cx="4792585" cy="4925088"/>
          </a:xfrm>
        </p:spPr>
        <p:txBody>
          <a:bodyPr>
            <a:normAutofit fontScale="92500"/>
          </a:bodyPr>
          <a:lstStyle/>
          <a:p>
            <a:pPr>
              <a:lnSpc>
                <a:spcPts val="28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应用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可进行通信的、分布式进程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8650" lvl="1" indent="-361950">
              <a:lnSpc>
                <a:spcPts val="2800"/>
              </a:lnSpc>
              <a:spcBef>
                <a:spcPts val="600"/>
              </a:spcBef>
              <a:buClr>
                <a:srgbClr val="2A09B7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运行于主机的</a:t>
            </a: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用户空间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8650" lvl="1" indent="-361950">
              <a:lnSpc>
                <a:spcPts val="2800"/>
              </a:lnSpc>
              <a:spcBef>
                <a:spcPts val="600"/>
              </a:spcBef>
              <a:buClr>
                <a:srgbClr val="2A09B7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通过交换</a:t>
            </a: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消息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Message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）实现应用之间的交互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8650" lvl="1" indent="-361950">
              <a:lnSpc>
                <a:spcPts val="2800"/>
              </a:lnSpc>
              <a:spcBef>
                <a:spcPts val="600"/>
              </a:spcBef>
              <a:buClr>
                <a:srgbClr val="2A09B7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Email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spcBef>
                <a:spcPts val="2400"/>
              </a:spcBef>
              <a:buClr>
                <a:srgbClr val="C00000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应用层协议：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应用层实体之间的通信规范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8650" lvl="1" indent="-361950">
              <a:lnSpc>
                <a:spcPts val="2800"/>
              </a:lnSpc>
              <a:spcBef>
                <a:spcPts val="600"/>
              </a:spcBef>
              <a:buClr>
                <a:srgbClr val="2A09B7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定义应用</a:t>
            </a: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交换的消息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和收到消息后</a:t>
            </a: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采取的行动</a:t>
            </a:r>
            <a:endParaRPr lang="en-US" altLang="zh-CN" sz="20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28650" lvl="1" indent="-361950">
              <a:lnSpc>
                <a:spcPts val="2800"/>
              </a:lnSpc>
              <a:spcBef>
                <a:spcPts val="600"/>
              </a:spcBef>
              <a:buClr>
                <a:srgbClr val="2A09B7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使用下层协议（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UDP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）提供的通信服务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141" name="Group 4"/>
          <p:cNvGrpSpPr/>
          <p:nvPr/>
        </p:nvGrpSpPr>
        <p:grpSpPr bwMode="auto">
          <a:xfrm>
            <a:off x="5318046" y="1986705"/>
            <a:ext cx="3678238" cy="3670300"/>
            <a:chOff x="3092" y="1182"/>
            <a:chExt cx="2317" cy="2312"/>
          </a:xfrm>
        </p:grpSpPr>
        <p:sp>
          <p:nvSpPr>
            <p:cNvPr id="5169" name="Freeform 5"/>
            <p:cNvSpPr/>
            <p:nvPr/>
          </p:nvSpPr>
          <p:spPr bwMode="auto">
            <a:xfrm>
              <a:off x="4276" y="1272"/>
              <a:ext cx="1133" cy="1055"/>
            </a:xfrm>
            <a:custGeom>
              <a:avLst/>
              <a:gdLst>
                <a:gd name="T0" fmla="*/ 20 w 1292"/>
                <a:gd name="T1" fmla="*/ 3 h 1255"/>
                <a:gd name="T2" fmla="*/ 4 w 1292"/>
                <a:gd name="T3" fmla="*/ 6 h 1255"/>
                <a:gd name="T4" fmla="*/ 4 w 1292"/>
                <a:gd name="T5" fmla="*/ 20 h 1255"/>
                <a:gd name="T6" fmla="*/ 4 w 1292"/>
                <a:gd name="T7" fmla="*/ 30 h 1255"/>
                <a:gd name="T8" fmla="*/ 20 w 1292"/>
                <a:gd name="T9" fmla="*/ 32 h 1255"/>
                <a:gd name="T10" fmla="*/ 53 w 1292"/>
                <a:gd name="T11" fmla="*/ 42 h 1255"/>
                <a:gd name="T12" fmla="*/ 82 w 1292"/>
                <a:gd name="T13" fmla="*/ 46 h 1255"/>
                <a:gd name="T14" fmla="*/ 98 w 1292"/>
                <a:gd name="T15" fmla="*/ 38 h 1255"/>
                <a:gd name="T16" fmla="*/ 105 w 1292"/>
                <a:gd name="T17" fmla="*/ 17 h 1255"/>
                <a:gd name="T18" fmla="*/ 98 w 1292"/>
                <a:gd name="T19" fmla="*/ 8 h 1255"/>
                <a:gd name="T20" fmla="*/ 61 w 1292"/>
                <a:gd name="T21" fmla="*/ 4 h 1255"/>
                <a:gd name="T22" fmla="*/ 20 w 1292"/>
                <a:gd name="T23" fmla="*/ 3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CCFFFF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70" name="Freeform 6"/>
            <p:cNvSpPr/>
            <p:nvPr/>
          </p:nvSpPr>
          <p:spPr bwMode="auto">
            <a:xfrm>
              <a:off x="3092" y="1182"/>
              <a:ext cx="1176" cy="1001"/>
            </a:xfrm>
            <a:custGeom>
              <a:avLst/>
              <a:gdLst>
                <a:gd name="T0" fmla="*/ 47 w 1340"/>
                <a:gd name="T1" fmla="*/ 3 h 1191"/>
                <a:gd name="T2" fmla="*/ 7 w 1340"/>
                <a:gd name="T3" fmla="*/ 3 h 1191"/>
                <a:gd name="T4" fmla="*/ 5 w 1340"/>
                <a:gd name="T5" fmla="*/ 14 h 1191"/>
                <a:gd name="T6" fmla="*/ 4 w 1340"/>
                <a:gd name="T7" fmla="*/ 27 h 1191"/>
                <a:gd name="T8" fmla="*/ 10 w 1340"/>
                <a:gd name="T9" fmla="*/ 32 h 1191"/>
                <a:gd name="T10" fmla="*/ 46 w 1340"/>
                <a:gd name="T11" fmla="*/ 32 h 1191"/>
                <a:gd name="T12" fmla="*/ 54 w 1340"/>
                <a:gd name="T13" fmla="*/ 42 h 1191"/>
                <a:gd name="T14" fmla="*/ 104 w 1340"/>
                <a:gd name="T15" fmla="*/ 40 h 1191"/>
                <a:gd name="T16" fmla="*/ 107 w 1340"/>
                <a:gd name="T17" fmla="*/ 20 h 1191"/>
                <a:gd name="T18" fmla="*/ 100 w 1340"/>
                <a:gd name="T19" fmla="*/ 13 h 1191"/>
                <a:gd name="T20" fmla="*/ 64 w 1340"/>
                <a:gd name="T21" fmla="*/ 11 h 1191"/>
                <a:gd name="T22" fmla="*/ 47 w 1340"/>
                <a:gd name="T23" fmla="*/ 3 h 119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40"/>
                <a:gd name="T37" fmla="*/ 0 h 1191"/>
                <a:gd name="T38" fmla="*/ 1340 w 1340"/>
                <a:gd name="T39" fmla="*/ 1191 h 119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40" h="1191">
                  <a:moveTo>
                    <a:pt x="550" y="42"/>
                  </a:moveTo>
                  <a:cubicBezTo>
                    <a:pt x="437" y="4"/>
                    <a:pt x="164" y="0"/>
                    <a:pt x="82" y="60"/>
                  </a:cubicBezTo>
                  <a:cubicBezTo>
                    <a:pt x="0" y="120"/>
                    <a:pt x="67" y="292"/>
                    <a:pt x="58" y="402"/>
                  </a:cubicBezTo>
                  <a:cubicBezTo>
                    <a:pt x="49" y="512"/>
                    <a:pt x="19" y="642"/>
                    <a:pt x="28" y="720"/>
                  </a:cubicBezTo>
                  <a:cubicBezTo>
                    <a:pt x="37" y="798"/>
                    <a:pt x="27" y="844"/>
                    <a:pt x="112" y="870"/>
                  </a:cubicBezTo>
                  <a:cubicBezTo>
                    <a:pt x="197" y="896"/>
                    <a:pt x="450" y="833"/>
                    <a:pt x="538" y="876"/>
                  </a:cubicBezTo>
                  <a:cubicBezTo>
                    <a:pt x="626" y="919"/>
                    <a:pt x="524" y="1091"/>
                    <a:pt x="640" y="1128"/>
                  </a:cubicBezTo>
                  <a:cubicBezTo>
                    <a:pt x="756" y="1165"/>
                    <a:pt x="1128" y="1191"/>
                    <a:pt x="1234" y="1098"/>
                  </a:cubicBezTo>
                  <a:cubicBezTo>
                    <a:pt x="1340" y="1005"/>
                    <a:pt x="1281" y="696"/>
                    <a:pt x="1276" y="570"/>
                  </a:cubicBezTo>
                  <a:cubicBezTo>
                    <a:pt x="1271" y="444"/>
                    <a:pt x="1290" y="389"/>
                    <a:pt x="1204" y="342"/>
                  </a:cubicBezTo>
                  <a:cubicBezTo>
                    <a:pt x="1118" y="295"/>
                    <a:pt x="868" y="338"/>
                    <a:pt x="760" y="288"/>
                  </a:cubicBezTo>
                  <a:cubicBezTo>
                    <a:pt x="652" y="238"/>
                    <a:pt x="663" y="80"/>
                    <a:pt x="550" y="42"/>
                  </a:cubicBezTo>
                  <a:close/>
                </a:path>
              </a:pathLst>
            </a:custGeom>
            <a:solidFill>
              <a:srgbClr val="CCFFFF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71" name="Freeform 7"/>
            <p:cNvSpPr/>
            <p:nvPr/>
          </p:nvSpPr>
          <p:spPr bwMode="auto">
            <a:xfrm>
              <a:off x="3324" y="2096"/>
              <a:ext cx="1874" cy="1398"/>
            </a:xfrm>
            <a:custGeom>
              <a:avLst/>
              <a:gdLst>
                <a:gd name="T0" fmla="*/ 4 w 2135"/>
                <a:gd name="T1" fmla="*/ 24 h 1662"/>
                <a:gd name="T2" fmla="*/ 9 w 2135"/>
                <a:gd name="T3" fmla="*/ 3 h 1662"/>
                <a:gd name="T4" fmla="*/ 54 w 2135"/>
                <a:gd name="T5" fmla="*/ 7 h 1662"/>
                <a:gd name="T6" fmla="*/ 102 w 2135"/>
                <a:gd name="T7" fmla="*/ 3 h 1662"/>
                <a:gd name="T8" fmla="*/ 169 w 2135"/>
                <a:gd name="T9" fmla="*/ 15 h 1662"/>
                <a:gd name="T10" fmla="*/ 169 w 2135"/>
                <a:gd name="T11" fmla="*/ 43 h 1662"/>
                <a:gd name="T12" fmla="*/ 133 w 2135"/>
                <a:gd name="T13" fmla="*/ 60 h 1662"/>
                <a:gd name="T14" fmla="*/ 68 w 2135"/>
                <a:gd name="T15" fmla="*/ 57 h 1662"/>
                <a:gd name="T16" fmla="*/ 41 w 2135"/>
                <a:gd name="T17" fmla="*/ 47 h 1662"/>
                <a:gd name="T18" fmla="*/ 16 w 2135"/>
                <a:gd name="T19" fmla="*/ 40 h 1662"/>
                <a:gd name="T20" fmla="*/ 4 w 2135"/>
                <a:gd name="T21" fmla="*/ 24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CCFFFF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172" name="Group 8"/>
            <p:cNvGrpSpPr/>
            <p:nvPr/>
          </p:nvGrpSpPr>
          <p:grpSpPr bwMode="auto">
            <a:xfrm>
              <a:off x="3166" y="1267"/>
              <a:ext cx="462" cy="201"/>
              <a:chOff x="3552" y="246"/>
              <a:chExt cx="527" cy="248"/>
            </a:xfrm>
          </p:grpSpPr>
          <p:graphicFrame>
            <p:nvGraphicFramePr>
              <p:cNvPr id="5135" name="Object 9"/>
              <p:cNvGraphicFramePr>
                <a:graphicFrameLocks noChangeAspect="1"/>
              </p:cNvGraphicFramePr>
              <p:nvPr/>
            </p:nvGraphicFramePr>
            <p:xfrm>
              <a:off x="3552" y="246"/>
              <a:ext cx="29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2" imgW="1307465" imgH="1083945" progId="MS_ClipArt_Gallery.2">
                      <p:embed/>
                    </p:oleObj>
                  </mc:Choice>
                  <mc:Fallback>
                    <p:oleObj name="ClipArt" r:id="rId2" imgW="1307465" imgH="1083945" progId="MS_ClipArt_Gallery.2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246"/>
                            <a:ext cx="299" cy="2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6" name="Object 10"/>
              <p:cNvGraphicFramePr>
                <a:graphicFrameLocks noChangeAspect="1"/>
              </p:cNvGraphicFramePr>
              <p:nvPr/>
            </p:nvGraphicFramePr>
            <p:xfrm>
              <a:off x="3878" y="338"/>
              <a:ext cx="20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4" imgW="9515475" imgH="6705600" progId="MS_ClipArt_Gallery.2">
                      <p:embed/>
                    </p:oleObj>
                  </mc:Choice>
                  <mc:Fallback>
                    <p:oleObj name="ClipArt" r:id="rId4" imgW="9515475" imgH="6705600" progId="MS_ClipArt_Gallery.2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8" y="338"/>
                            <a:ext cx="201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373" name="Line 11"/>
              <p:cNvSpPr>
                <a:spLocks noChangeShapeType="1"/>
              </p:cNvSpPr>
              <p:nvPr/>
            </p:nvSpPr>
            <p:spPr bwMode="auto">
              <a:xfrm flipV="1">
                <a:off x="3844" y="434"/>
                <a:ext cx="82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73" name="Group 12"/>
            <p:cNvGrpSpPr/>
            <p:nvPr/>
          </p:nvGrpSpPr>
          <p:grpSpPr bwMode="auto">
            <a:xfrm>
              <a:off x="3166" y="1642"/>
              <a:ext cx="462" cy="201"/>
              <a:chOff x="3552" y="246"/>
              <a:chExt cx="527" cy="248"/>
            </a:xfrm>
          </p:grpSpPr>
          <p:graphicFrame>
            <p:nvGraphicFramePr>
              <p:cNvPr id="5133" name="Object 13"/>
              <p:cNvGraphicFramePr>
                <a:graphicFrameLocks noChangeAspect="1"/>
              </p:cNvGraphicFramePr>
              <p:nvPr/>
            </p:nvGraphicFramePr>
            <p:xfrm>
              <a:off x="3552" y="246"/>
              <a:ext cx="29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6" imgW="1307465" imgH="1083945" progId="MS_ClipArt_Gallery.2">
                      <p:embed/>
                    </p:oleObj>
                  </mc:Choice>
                  <mc:Fallback>
                    <p:oleObj name="ClipArt" r:id="rId6" imgW="1307465" imgH="1083945" progId="MS_ClipArt_Gallery.2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246"/>
                            <a:ext cx="299" cy="2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4" name="Object 14"/>
              <p:cNvGraphicFramePr>
                <a:graphicFrameLocks noChangeAspect="1"/>
              </p:cNvGraphicFramePr>
              <p:nvPr/>
            </p:nvGraphicFramePr>
            <p:xfrm>
              <a:off x="3878" y="338"/>
              <a:ext cx="201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7" imgW="681990" imgH="480695" progId="MS_ClipArt_Gallery.2">
                      <p:embed/>
                    </p:oleObj>
                  </mc:Choice>
                  <mc:Fallback>
                    <p:oleObj name="ClipArt" r:id="rId7" imgW="681990" imgH="480695" progId="MS_ClipArt_Gallery.2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8" y="338"/>
                            <a:ext cx="201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372" name="Line 15"/>
              <p:cNvSpPr>
                <a:spLocks noChangeShapeType="1"/>
              </p:cNvSpPr>
              <p:nvPr/>
            </p:nvSpPr>
            <p:spPr bwMode="auto">
              <a:xfrm flipV="1">
                <a:off x="3844" y="434"/>
                <a:ext cx="82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74" name="Group 16"/>
            <p:cNvGrpSpPr/>
            <p:nvPr/>
          </p:nvGrpSpPr>
          <p:grpSpPr bwMode="auto">
            <a:xfrm>
              <a:off x="3403" y="1508"/>
              <a:ext cx="44" cy="135"/>
              <a:chOff x="3842" y="406"/>
              <a:chExt cx="51" cy="167"/>
            </a:xfrm>
          </p:grpSpPr>
          <p:sp>
            <p:nvSpPr>
              <p:cNvPr id="5369" name="Oval 17"/>
              <p:cNvSpPr>
                <a:spLocks noChangeArrowheads="1"/>
              </p:cNvSpPr>
              <p:nvPr/>
            </p:nvSpPr>
            <p:spPr bwMode="auto">
              <a:xfrm>
                <a:off x="3842" y="40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70" name="Oval 18"/>
              <p:cNvSpPr>
                <a:spLocks noChangeArrowheads="1"/>
              </p:cNvSpPr>
              <p:nvPr/>
            </p:nvSpPr>
            <p:spPr bwMode="auto">
              <a:xfrm>
                <a:off x="3844" y="46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71" name="Oval 19"/>
              <p:cNvSpPr>
                <a:spLocks noChangeArrowheads="1"/>
              </p:cNvSpPr>
              <p:nvPr/>
            </p:nvSpPr>
            <p:spPr bwMode="auto">
              <a:xfrm>
                <a:off x="3846" y="52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75" name="Group 20"/>
            <p:cNvGrpSpPr/>
            <p:nvPr/>
          </p:nvGrpSpPr>
          <p:grpSpPr bwMode="auto">
            <a:xfrm>
              <a:off x="3699" y="1825"/>
              <a:ext cx="132" cy="249"/>
              <a:chOff x="4180" y="783"/>
              <a:chExt cx="150" cy="307"/>
            </a:xfrm>
          </p:grpSpPr>
          <p:sp>
            <p:nvSpPr>
              <p:cNvPr id="5361" name="AutoShape 21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62" name="Rectangle 22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63" name="Rectangle 23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64" name="AutoShape 24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65" name="Line 25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66" name="Line 26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67" name="Rectangle 27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68" name="Rectangle 28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76" name="Group 29"/>
            <p:cNvGrpSpPr/>
            <p:nvPr/>
          </p:nvGrpSpPr>
          <p:grpSpPr bwMode="auto">
            <a:xfrm rot="-5400000">
              <a:off x="3896" y="1874"/>
              <a:ext cx="51" cy="147"/>
              <a:chOff x="3842" y="406"/>
              <a:chExt cx="51" cy="167"/>
            </a:xfrm>
          </p:grpSpPr>
          <p:sp>
            <p:nvSpPr>
              <p:cNvPr id="5358" name="Oval 30"/>
              <p:cNvSpPr>
                <a:spLocks noChangeArrowheads="1"/>
              </p:cNvSpPr>
              <p:nvPr/>
            </p:nvSpPr>
            <p:spPr bwMode="auto">
              <a:xfrm>
                <a:off x="3842" y="40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59" name="Oval 31"/>
              <p:cNvSpPr>
                <a:spLocks noChangeArrowheads="1"/>
              </p:cNvSpPr>
              <p:nvPr/>
            </p:nvSpPr>
            <p:spPr bwMode="auto">
              <a:xfrm>
                <a:off x="3844" y="46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60" name="Oval 32"/>
              <p:cNvSpPr>
                <a:spLocks noChangeArrowheads="1"/>
              </p:cNvSpPr>
              <p:nvPr/>
            </p:nvSpPr>
            <p:spPr bwMode="auto">
              <a:xfrm>
                <a:off x="3846" y="52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177" name="Line 33"/>
            <p:cNvSpPr>
              <a:spLocks noChangeShapeType="1"/>
            </p:cNvSpPr>
            <p:nvPr/>
          </p:nvSpPr>
          <p:spPr bwMode="auto">
            <a:xfrm>
              <a:off x="3785" y="1767"/>
              <a:ext cx="31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78" name="Line 34"/>
            <p:cNvSpPr>
              <a:spLocks noChangeShapeType="1"/>
            </p:cNvSpPr>
            <p:nvPr/>
          </p:nvSpPr>
          <p:spPr bwMode="auto">
            <a:xfrm>
              <a:off x="3787" y="1765"/>
              <a:ext cx="1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79" name="Line 35"/>
            <p:cNvSpPr>
              <a:spLocks noChangeShapeType="1"/>
            </p:cNvSpPr>
            <p:nvPr/>
          </p:nvSpPr>
          <p:spPr bwMode="auto">
            <a:xfrm>
              <a:off x="4099" y="1764"/>
              <a:ext cx="1" cy="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0" name="Line 36"/>
            <p:cNvSpPr>
              <a:spLocks noChangeShapeType="1"/>
            </p:cNvSpPr>
            <p:nvPr/>
          </p:nvSpPr>
          <p:spPr bwMode="auto">
            <a:xfrm>
              <a:off x="3596" y="1427"/>
              <a:ext cx="182" cy="1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1" name="Line 37"/>
            <p:cNvSpPr>
              <a:spLocks noChangeShapeType="1"/>
            </p:cNvSpPr>
            <p:nvPr/>
          </p:nvSpPr>
          <p:spPr bwMode="auto">
            <a:xfrm flipV="1">
              <a:off x="3604" y="1607"/>
              <a:ext cx="174" cy="2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2" name="Line 38"/>
            <p:cNvSpPr>
              <a:spLocks noChangeShapeType="1"/>
            </p:cNvSpPr>
            <p:nvPr/>
          </p:nvSpPr>
          <p:spPr bwMode="auto">
            <a:xfrm flipV="1">
              <a:off x="3936" y="1661"/>
              <a:ext cx="1" cy="1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183" name="Group 39"/>
            <p:cNvGrpSpPr/>
            <p:nvPr/>
          </p:nvGrpSpPr>
          <p:grpSpPr bwMode="auto">
            <a:xfrm>
              <a:off x="4011" y="1811"/>
              <a:ext cx="132" cy="249"/>
              <a:chOff x="4180" y="783"/>
              <a:chExt cx="150" cy="307"/>
            </a:xfrm>
          </p:grpSpPr>
          <p:sp>
            <p:nvSpPr>
              <p:cNvPr id="5350" name="AutoShape 40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51" name="Rectangle 41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52" name="Rectangle 42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53" name="AutoShape 43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54" name="Line 44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55" name="Line 45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56" name="Rectangle 46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57" name="Rectangle 47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84" name="Group 48"/>
            <p:cNvGrpSpPr/>
            <p:nvPr/>
          </p:nvGrpSpPr>
          <p:grpSpPr bwMode="auto">
            <a:xfrm>
              <a:off x="3408" y="2201"/>
              <a:ext cx="302" cy="583"/>
              <a:chOff x="3314" y="1248"/>
              <a:chExt cx="344" cy="694"/>
            </a:xfrm>
          </p:grpSpPr>
          <p:graphicFrame>
            <p:nvGraphicFramePr>
              <p:cNvPr id="5131" name="Object 49"/>
              <p:cNvGraphicFramePr>
                <a:graphicFrameLocks noChangeAspect="1"/>
              </p:cNvGraphicFramePr>
              <p:nvPr/>
            </p:nvGraphicFramePr>
            <p:xfrm>
              <a:off x="3314" y="1248"/>
              <a:ext cx="29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9" imgW="1307465" imgH="1083945" progId="MS_ClipArt_Gallery.2">
                      <p:embed/>
                    </p:oleObj>
                  </mc:Choice>
                  <mc:Fallback>
                    <p:oleObj name="ClipArt" r:id="rId9" imgW="1307465" imgH="1083945" progId="MS_ClipArt_Gallery.2">
                      <p:embed/>
                      <p:pic>
                        <p:nvPicPr>
                          <p:cNvPr id="0" name="Object 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4" y="1248"/>
                            <a:ext cx="299" cy="2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343" name="Line 50"/>
              <p:cNvSpPr>
                <a:spLocks noChangeShapeType="1"/>
              </p:cNvSpPr>
              <p:nvPr/>
            </p:nvSpPr>
            <p:spPr bwMode="auto">
              <a:xfrm flipV="1">
                <a:off x="3606" y="1433"/>
                <a:ext cx="52" cy="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5132" name="Object 51"/>
              <p:cNvGraphicFramePr>
                <a:graphicFrameLocks noChangeAspect="1"/>
              </p:cNvGraphicFramePr>
              <p:nvPr/>
            </p:nvGraphicFramePr>
            <p:xfrm>
              <a:off x="3314" y="1694"/>
              <a:ext cx="299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10" imgW="1307465" imgH="1083945" progId="MS_ClipArt_Gallery.2">
                      <p:embed/>
                    </p:oleObj>
                  </mc:Choice>
                  <mc:Fallback>
                    <p:oleObj name="ClipArt" r:id="rId10" imgW="1307465" imgH="1083945" progId="MS_ClipArt_Gallery.2">
                      <p:embed/>
                      <p:pic>
                        <p:nvPicPr>
                          <p:cNvPr id="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4" y="1694"/>
                            <a:ext cx="299" cy="2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344" name="Line 52"/>
              <p:cNvSpPr>
                <a:spLocks noChangeShapeType="1"/>
              </p:cNvSpPr>
              <p:nvPr/>
            </p:nvSpPr>
            <p:spPr bwMode="auto">
              <a:xfrm flipV="1">
                <a:off x="3606" y="1882"/>
                <a:ext cx="52" cy="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345" name="Group 53"/>
              <p:cNvGrpSpPr/>
              <p:nvPr/>
            </p:nvGrpSpPr>
            <p:grpSpPr bwMode="auto">
              <a:xfrm>
                <a:off x="3404" y="1504"/>
                <a:ext cx="51" cy="167"/>
                <a:chOff x="3842" y="406"/>
                <a:chExt cx="51" cy="167"/>
              </a:xfrm>
            </p:grpSpPr>
            <p:sp>
              <p:nvSpPr>
                <p:cNvPr id="5347" name="Oval 54"/>
                <p:cNvSpPr>
                  <a:spLocks noChangeArrowheads="1"/>
                </p:cNvSpPr>
                <p:nvPr/>
              </p:nvSpPr>
              <p:spPr bwMode="auto">
                <a:xfrm>
                  <a:off x="3842" y="40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48" name="Oval 55"/>
                <p:cNvSpPr>
                  <a:spLocks noChangeArrowheads="1"/>
                </p:cNvSpPr>
                <p:nvPr/>
              </p:nvSpPr>
              <p:spPr bwMode="auto">
                <a:xfrm>
                  <a:off x="3844" y="46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49" name="Oval 56"/>
                <p:cNvSpPr>
                  <a:spLocks noChangeArrowheads="1"/>
                </p:cNvSpPr>
                <p:nvPr/>
              </p:nvSpPr>
              <p:spPr bwMode="auto">
                <a:xfrm>
                  <a:off x="3846" y="526"/>
                  <a:ext cx="47" cy="47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noFill/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346" name="Line 57"/>
              <p:cNvSpPr>
                <a:spLocks noChangeShapeType="1"/>
              </p:cNvSpPr>
              <p:nvPr/>
            </p:nvSpPr>
            <p:spPr bwMode="auto">
              <a:xfrm>
                <a:off x="3654" y="1431"/>
                <a:ext cx="0" cy="4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aphicFrame>
          <p:nvGraphicFramePr>
            <p:cNvPr id="5122" name="Object 58"/>
            <p:cNvGraphicFramePr>
              <a:graphicFrameLocks noChangeAspect="1"/>
            </p:cNvGraphicFramePr>
            <p:nvPr/>
          </p:nvGraphicFramePr>
          <p:xfrm>
            <a:off x="3955" y="2837"/>
            <a:ext cx="263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Art" r:id="rId11" imgW="1307465" imgH="1083945" progId="MS_ClipArt_Gallery.2">
                    <p:embed/>
                  </p:oleObj>
                </mc:Choice>
                <mc:Fallback>
                  <p:oleObj name="ClipArt" r:id="rId11" imgW="1307465" imgH="1083945" progId="MS_ClipArt_Gallery.2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5" y="2837"/>
                          <a:ext cx="263" cy="2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3" name="Object 59"/>
            <p:cNvGraphicFramePr>
              <a:graphicFrameLocks noChangeAspect="1"/>
            </p:cNvGraphicFramePr>
            <p:nvPr/>
          </p:nvGraphicFramePr>
          <p:xfrm>
            <a:off x="3568" y="2830"/>
            <a:ext cx="26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Art" r:id="rId12" imgW="1307465" imgH="1083945" progId="MS_ClipArt_Gallery.2">
                    <p:embed/>
                  </p:oleObj>
                </mc:Choice>
                <mc:Fallback>
                  <p:oleObj name="ClipArt" r:id="rId12" imgW="1307465" imgH="1083945" progId="MS_ClipArt_Gallery.2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8" y="2830"/>
                          <a:ext cx="262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85" name="Oval 60"/>
            <p:cNvSpPr>
              <a:spLocks noChangeArrowheads="1"/>
            </p:cNvSpPr>
            <p:nvPr/>
          </p:nvSpPr>
          <p:spPr bwMode="auto">
            <a:xfrm rot="-5400000">
              <a:off x="3831" y="2895"/>
              <a:ext cx="40" cy="41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6" name="Oval 61"/>
            <p:cNvSpPr>
              <a:spLocks noChangeArrowheads="1"/>
            </p:cNvSpPr>
            <p:nvPr/>
          </p:nvSpPr>
          <p:spPr bwMode="auto">
            <a:xfrm rot="-5400000">
              <a:off x="3884" y="2894"/>
              <a:ext cx="40" cy="42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7" name="Oval 62"/>
            <p:cNvSpPr>
              <a:spLocks noChangeArrowheads="1"/>
            </p:cNvSpPr>
            <p:nvPr/>
          </p:nvSpPr>
          <p:spPr bwMode="auto">
            <a:xfrm rot="-5400000">
              <a:off x="3933" y="2897"/>
              <a:ext cx="39" cy="41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8" name="Line 63"/>
            <p:cNvSpPr>
              <a:spLocks noChangeShapeType="1"/>
            </p:cNvSpPr>
            <p:nvPr/>
          </p:nvSpPr>
          <p:spPr bwMode="auto">
            <a:xfrm rot="-5400000">
              <a:off x="4097" y="2821"/>
              <a:ext cx="38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9" name="Line 64"/>
            <p:cNvSpPr>
              <a:spLocks noChangeShapeType="1"/>
            </p:cNvSpPr>
            <p:nvPr/>
          </p:nvSpPr>
          <p:spPr bwMode="auto">
            <a:xfrm rot="5400000" flipH="1">
              <a:off x="3702" y="2816"/>
              <a:ext cx="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90" name="Line 65"/>
            <p:cNvSpPr>
              <a:spLocks noChangeShapeType="1"/>
            </p:cNvSpPr>
            <p:nvPr/>
          </p:nvSpPr>
          <p:spPr bwMode="auto">
            <a:xfrm rot="16200000" flipV="1">
              <a:off x="3921" y="2602"/>
              <a:ext cx="0" cy="3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91" name="Line 66"/>
            <p:cNvSpPr>
              <a:spLocks noChangeShapeType="1"/>
            </p:cNvSpPr>
            <p:nvPr/>
          </p:nvSpPr>
          <p:spPr bwMode="auto">
            <a:xfrm flipV="1">
              <a:off x="3710" y="2564"/>
              <a:ext cx="59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92" name="Line 67"/>
            <p:cNvSpPr>
              <a:spLocks noChangeShapeType="1"/>
            </p:cNvSpPr>
            <p:nvPr/>
          </p:nvSpPr>
          <p:spPr bwMode="auto">
            <a:xfrm>
              <a:off x="4089" y="2593"/>
              <a:ext cx="191" cy="2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93" name="Line 68"/>
            <p:cNvSpPr>
              <a:spLocks noChangeShapeType="1"/>
            </p:cNvSpPr>
            <p:nvPr/>
          </p:nvSpPr>
          <p:spPr bwMode="auto">
            <a:xfrm flipH="1">
              <a:off x="4590" y="2591"/>
              <a:ext cx="176" cy="2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5124" name="Object 69"/>
            <p:cNvGraphicFramePr>
              <a:graphicFrameLocks noChangeAspect="1"/>
            </p:cNvGraphicFramePr>
            <p:nvPr/>
          </p:nvGraphicFramePr>
          <p:xfrm>
            <a:off x="4702" y="2309"/>
            <a:ext cx="12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Art" r:id="rId13" imgW="13820775" imgH="16992600" progId="MS_ClipArt_Gallery.2">
                    <p:embed/>
                  </p:oleObj>
                </mc:Choice>
                <mc:Fallback>
                  <p:oleObj name="ClipArt" r:id="rId13" imgW="13820775" imgH="16992600" progId="MS_ClipArt_Gallery.2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2" y="2309"/>
                          <a:ext cx="128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5" name="Object 70"/>
            <p:cNvGraphicFramePr>
              <a:graphicFrameLocks noChangeAspect="1"/>
            </p:cNvGraphicFramePr>
            <p:nvPr/>
          </p:nvGraphicFramePr>
          <p:xfrm>
            <a:off x="3860" y="2360"/>
            <a:ext cx="128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Art" r:id="rId15" imgW="982980" imgH="1208405" progId="MS_ClipArt_Gallery.2">
                    <p:embed/>
                  </p:oleObj>
                </mc:Choice>
                <mc:Fallback>
                  <p:oleObj name="ClipArt" r:id="rId15" imgW="982980" imgH="1208405" progId="MS_ClipArt_Gallery.2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0" y="2360"/>
                          <a:ext cx="128" cy="1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94" name="Freeform 71"/>
            <p:cNvSpPr/>
            <p:nvPr/>
          </p:nvSpPr>
          <p:spPr bwMode="auto">
            <a:xfrm>
              <a:off x="3911" y="2218"/>
              <a:ext cx="853" cy="192"/>
            </a:xfrm>
            <a:custGeom>
              <a:avLst/>
              <a:gdLst>
                <a:gd name="T0" fmla="*/ 0 w 972"/>
                <a:gd name="T1" fmla="*/ 8 h 228"/>
                <a:gd name="T2" fmla="*/ 36 w 972"/>
                <a:gd name="T3" fmla="*/ 3 h 228"/>
                <a:gd name="T4" fmla="*/ 81 w 972"/>
                <a:gd name="T5" fmla="*/ 7 h 228"/>
                <a:gd name="T6" fmla="*/ 0 60000 65536"/>
                <a:gd name="T7" fmla="*/ 0 60000 65536"/>
                <a:gd name="T8" fmla="*/ 0 60000 65536"/>
                <a:gd name="T9" fmla="*/ 0 w 972"/>
                <a:gd name="T10" fmla="*/ 0 h 228"/>
                <a:gd name="T11" fmla="*/ 972 w 972"/>
                <a:gd name="T12" fmla="*/ 228 h 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2" h="228">
                  <a:moveTo>
                    <a:pt x="0" y="228"/>
                  </a:moveTo>
                  <a:cubicBezTo>
                    <a:pt x="135" y="123"/>
                    <a:pt x="270" y="18"/>
                    <a:pt x="432" y="9"/>
                  </a:cubicBezTo>
                  <a:cubicBezTo>
                    <a:pt x="594" y="0"/>
                    <a:pt x="783" y="85"/>
                    <a:pt x="972" y="171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195" name="Group 72"/>
            <p:cNvGrpSpPr/>
            <p:nvPr/>
          </p:nvGrpSpPr>
          <p:grpSpPr bwMode="auto">
            <a:xfrm>
              <a:off x="4079" y="3114"/>
              <a:ext cx="256" cy="269"/>
              <a:chOff x="2870" y="1518"/>
              <a:chExt cx="292" cy="320"/>
            </a:xfrm>
          </p:grpSpPr>
          <p:graphicFrame>
            <p:nvGraphicFramePr>
              <p:cNvPr id="5129" name="Object 73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17" imgW="826770" imgH="840105" progId="MS_ClipArt_Gallery.2">
                      <p:embed/>
                    </p:oleObj>
                  </mc:Choice>
                  <mc:Fallback>
                    <p:oleObj name="ClipArt" r:id="rId17" imgW="826770" imgH="840105" progId="MS_ClipArt_Gallery.2">
                      <p:embed/>
                      <p:pic>
                        <p:nvPicPr>
                          <p:cNvPr id="0" name="Object 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0" name="Object 74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19" imgW="1268095" imgH="1199515" progId="MS_ClipArt_Gallery.2">
                      <p:embed/>
                    </p:oleObj>
                  </mc:Choice>
                  <mc:Fallback>
                    <p:oleObj name="ClipArt" r:id="rId19" imgW="1268095" imgH="1199515" progId="MS_ClipArt_Gallery.2">
                      <p:embed/>
                      <p:pic>
                        <p:nvPicPr>
                          <p:cNvPr id="0" name="Object 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" name="Group 75"/>
            <p:cNvGrpSpPr/>
            <p:nvPr/>
          </p:nvGrpSpPr>
          <p:grpSpPr bwMode="auto">
            <a:xfrm>
              <a:off x="4569" y="3134"/>
              <a:ext cx="256" cy="269"/>
              <a:chOff x="2870" y="1518"/>
              <a:chExt cx="292" cy="320"/>
            </a:xfrm>
          </p:grpSpPr>
          <p:graphicFrame>
            <p:nvGraphicFramePr>
              <p:cNvPr id="5127" name="Object 76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21" imgW="826770" imgH="840105" progId="MS_ClipArt_Gallery.2">
                      <p:embed/>
                    </p:oleObj>
                  </mc:Choice>
                  <mc:Fallback>
                    <p:oleObj name="ClipArt" r:id="rId21" imgW="826770" imgH="840105" progId="MS_ClipArt_Gallery.2">
                      <p:embed/>
                      <p:pic>
                        <p:nvPicPr>
                          <p:cNvPr id="0" name="Object 7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8" name="Object 77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22" imgW="1268095" imgH="1199515" progId="MS_ClipArt_Gallery.2">
                      <p:embed/>
                    </p:oleObj>
                  </mc:Choice>
                  <mc:Fallback>
                    <p:oleObj name="ClipArt" r:id="rId22" imgW="1268095" imgH="1199515" progId="MS_ClipArt_Gallery.2">
                      <p:embed/>
                      <p:pic>
                        <p:nvPicPr>
                          <p:cNvPr id="0" name="Object 7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197" name="Group 78"/>
            <p:cNvGrpSpPr/>
            <p:nvPr/>
          </p:nvGrpSpPr>
          <p:grpSpPr bwMode="auto">
            <a:xfrm>
              <a:off x="4308" y="2955"/>
              <a:ext cx="239" cy="237"/>
              <a:chOff x="4733" y="2082"/>
              <a:chExt cx="272" cy="282"/>
            </a:xfrm>
          </p:grpSpPr>
          <p:graphicFrame>
            <p:nvGraphicFramePr>
              <p:cNvPr id="5126" name="Object 79"/>
              <p:cNvGraphicFramePr>
                <a:graphicFrameLocks noChangeAspect="1"/>
              </p:cNvGraphicFramePr>
              <p:nvPr/>
            </p:nvGraphicFramePr>
            <p:xfrm>
              <a:off x="4733" y="2082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23" imgW="826770" imgH="840105" progId="MS_ClipArt_Gallery.2">
                      <p:embed/>
                    </p:oleObj>
                  </mc:Choice>
                  <mc:Fallback>
                    <p:oleObj name="ClipArt" r:id="rId23" imgW="826770" imgH="840105" progId="MS_ClipArt_Gallery.2">
                      <p:embed/>
                      <p:pic>
                        <p:nvPicPr>
                          <p:cNvPr id="0" name="Object 7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33" y="2082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342" name="Rectangle 80"/>
              <p:cNvSpPr>
                <a:spLocks noChangeArrowheads="1"/>
              </p:cNvSpPr>
              <p:nvPr/>
            </p:nvSpPr>
            <p:spPr bwMode="auto">
              <a:xfrm>
                <a:off x="4812" y="2181"/>
                <a:ext cx="192" cy="183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198" name="Line 81"/>
            <p:cNvSpPr>
              <a:spLocks noChangeShapeType="1"/>
            </p:cNvSpPr>
            <p:nvPr/>
          </p:nvSpPr>
          <p:spPr bwMode="auto">
            <a:xfrm>
              <a:off x="4501" y="2894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199" name="Group 82"/>
            <p:cNvGrpSpPr/>
            <p:nvPr/>
          </p:nvGrpSpPr>
          <p:grpSpPr bwMode="auto">
            <a:xfrm>
              <a:off x="4955" y="2531"/>
              <a:ext cx="131" cy="258"/>
              <a:chOff x="4180" y="783"/>
              <a:chExt cx="150" cy="307"/>
            </a:xfrm>
          </p:grpSpPr>
          <p:sp>
            <p:nvSpPr>
              <p:cNvPr id="5334" name="AutoShape 83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35" name="Rectangle 84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36" name="Rectangle 85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37" name="AutoShape 86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38" name="Line 87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39" name="Line 88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40" name="Rectangle 89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41" name="Rectangle 90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200" name="Group 91"/>
            <p:cNvGrpSpPr/>
            <p:nvPr/>
          </p:nvGrpSpPr>
          <p:grpSpPr bwMode="auto">
            <a:xfrm>
              <a:off x="4947" y="2811"/>
              <a:ext cx="131" cy="258"/>
              <a:chOff x="4180" y="783"/>
              <a:chExt cx="150" cy="307"/>
            </a:xfrm>
          </p:grpSpPr>
          <p:sp>
            <p:nvSpPr>
              <p:cNvPr id="5326" name="AutoShape 92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27" name="Rectangle 93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28" name="Rectangle 94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29" name="AutoShape 95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30" name="Line 96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31" name="Line 97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32" name="Rectangle 98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33" name="Rectangle 99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201" name="Line 100"/>
            <p:cNvSpPr>
              <a:spLocks noChangeShapeType="1"/>
            </p:cNvSpPr>
            <p:nvPr/>
          </p:nvSpPr>
          <p:spPr bwMode="auto">
            <a:xfrm rot="5400000" flipH="1">
              <a:off x="4711" y="2767"/>
              <a:ext cx="3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2" name="Line 101"/>
            <p:cNvSpPr>
              <a:spLocks noChangeShapeType="1"/>
            </p:cNvSpPr>
            <p:nvPr/>
          </p:nvSpPr>
          <p:spPr bwMode="auto">
            <a:xfrm rot="-5400000">
              <a:off x="4935" y="2925"/>
              <a:ext cx="0" cy="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3" name="Line 102"/>
            <p:cNvSpPr>
              <a:spLocks noChangeShapeType="1"/>
            </p:cNvSpPr>
            <p:nvPr/>
          </p:nvSpPr>
          <p:spPr bwMode="auto">
            <a:xfrm rot="-5400000">
              <a:off x="4928" y="2630"/>
              <a:ext cx="0" cy="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4" name="Line 103"/>
            <p:cNvSpPr>
              <a:spLocks noChangeShapeType="1"/>
            </p:cNvSpPr>
            <p:nvPr/>
          </p:nvSpPr>
          <p:spPr bwMode="auto">
            <a:xfrm flipV="1">
              <a:off x="4096" y="1459"/>
              <a:ext cx="289" cy="1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5" name="Line 104"/>
            <p:cNvSpPr>
              <a:spLocks noChangeShapeType="1"/>
            </p:cNvSpPr>
            <p:nvPr/>
          </p:nvSpPr>
          <p:spPr bwMode="auto">
            <a:xfrm>
              <a:off x="4685" y="1449"/>
              <a:ext cx="306" cy="1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6" name="Line 105"/>
            <p:cNvSpPr>
              <a:spLocks noChangeShapeType="1"/>
            </p:cNvSpPr>
            <p:nvPr/>
          </p:nvSpPr>
          <p:spPr bwMode="auto">
            <a:xfrm flipH="1">
              <a:off x="5012" y="1661"/>
              <a:ext cx="152" cy="4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7" name="Line 106"/>
            <p:cNvSpPr>
              <a:spLocks noChangeShapeType="1"/>
            </p:cNvSpPr>
            <p:nvPr/>
          </p:nvSpPr>
          <p:spPr bwMode="auto">
            <a:xfrm>
              <a:off x="4527" y="1520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8" name="Line 107"/>
            <p:cNvSpPr>
              <a:spLocks noChangeShapeType="1"/>
            </p:cNvSpPr>
            <p:nvPr/>
          </p:nvSpPr>
          <p:spPr bwMode="auto">
            <a:xfrm>
              <a:off x="4543" y="1928"/>
              <a:ext cx="337" cy="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9" name="Line 108"/>
            <p:cNvSpPr>
              <a:spLocks noChangeShapeType="1"/>
            </p:cNvSpPr>
            <p:nvPr/>
          </p:nvSpPr>
          <p:spPr bwMode="auto">
            <a:xfrm flipH="1">
              <a:off x="4833" y="2221"/>
              <a:ext cx="168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10" name="Line 109"/>
            <p:cNvSpPr>
              <a:spLocks noChangeShapeType="1"/>
            </p:cNvSpPr>
            <p:nvPr/>
          </p:nvSpPr>
          <p:spPr bwMode="auto">
            <a:xfrm flipH="1">
              <a:off x="4690" y="1641"/>
              <a:ext cx="353" cy="2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11" name="Line 110"/>
            <p:cNvSpPr>
              <a:spLocks noChangeShapeType="1"/>
            </p:cNvSpPr>
            <p:nvPr/>
          </p:nvSpPr>
          <p:spPr bwMode="auto">
            <a:xfrm flipH="1">
              <a:off x="4696" y="1288"/>
              <a:ext cx="221" cy="1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12" name="Line 111"/>
            <p:cNvSpPr>
              <a:spLocks noChangeShapeType="1"/>
            </p:cNvSpPr>
            <p:nvPr/>
          </p:nvSpPr>
          <p:spPr bwMode="auto">
            <a:xfrm flipH="1">
              <a:off x="5148" y="1399"/>
              <a:ext cx="127" cy="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213" name="Group 112"/>
            <p:cNvGrpSpPr/>
            <p:nvPr/>
          </p:nvGrpSpPr>
          <p:grpSpPr bwMode="auto">
            <a:xfrm>
              <a:off x="3769" y="1520"/>
              <a:ext cx="316" cy="147"/>
              <a:chOff x="3600" y="219"/>
              <a:chExt cx="360" cy="175"/>
            </a:xfrm>
          </p:grpSpPr>
          <p:sp>
            <p:nvSpPr>
              <p:cNvPr id="5313" name="Oval 113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14" name="Line 114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15" name="Line 115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16" name="Rectangle 116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  <a:miter lim="800000"/>
              </a:ln>
            </p:spPr>
            <p:txBody>
              <a:bodyPr wrap="none" anchor="ctr"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2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317" name="Oval 117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318" name="Group 118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5323" name="Line 11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24" name="Line 12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25" name="Line 12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5319" name="Group 122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5320" name="Line 12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21" name="Line 12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22" name="Line 12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5214" name="Group 126"/>
            <p:cNvGrpSpPr/>
            <p:nvPr/>
          </p:nvGrpSpPr>
          <p:grpSpPr bwMode="auto">
            <a:xfrm>
              <a:off x="4369" y="1376"/>
              <a:ext cx="316" cy="147"/>
              <a:chOff x="3600" y="219"/>
              <a:chExt cx="360" cy="175"/>
            </a:xfrm>
          </p:grpSpPr>
          <p:sp>
            <p:nvSpPr>
              <p:cNvPr id="5300" name="Oval 127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01" name="Line 128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02" name="Line 129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03" name="Rectangle 130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  <a:miter lim="800000"/>
              </a:ln>
            </p:spPr>
            <p:txBody>
              <a:bodyPr wrap="none" anchor="ctr"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2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304" name="Oval 131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305" name="Group 132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5310" name="Line 13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11" name="Line 13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12" name="Line 13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5306" name="Group 136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5307" name="Line 13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08" name="Line 13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09" name="Line 13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5215" name="Group 140"/>
            <p:cNvGrpSpPr/>
            <p:nvPr/>
          </p:nvGrpSpPr>
          <p:grpSpPr bwMode="auto">
            <a:xfrm>
              <a:off x="4380" y="1790"/>
              <a:ext cx="316" cy="147"/>
              <a:chOff x="3600" y="219"/>
              <a:chExt cx="360" cy="175"/>
            </a:xfrm>
          </p:grpSpPr>
          <p:sp>
            <p:nvSpPr>
              <p:cNvPr id="5287" name="Oval 141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88" name="Line 142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89" name="Line 143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90" name="Rectangle 144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  <a:miter lim="800000"/>
              </a:ln>
            </p:spPr>
            <p:txBody>
              <a:bodyPr wrap="none" anchor="ctr"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2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291" name="Oval 145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292" name="Group 146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5297" name="Line 14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98" name="Line 14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99" name="Line 14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5293" name="Group 150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5294" name="Line 15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95" name="Line 15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96" name="Line 15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5216" name="Group 154"/>
            <p:cNvGrpSpPr/>
            <p:nvPr/>
          </p:nvGrpSpPr>
          <p:grpSpPr bwMode="auto">
            <a:xfrm>
              <a:off x="4991" y="1507"/>
              <a:ext cx="315" cy="147"/>
              <a:chOff x="3600" y="219"/>
              <a:chExt cx="360" cy="175"/>
            </a:xfrm>
          </p:grpSpPr>
          <p:sp>
            <p:nvSpPr>
              <p:cNvPr id="5274" name="Oval 155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75" name="Line 156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76" name="Line 157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77" name="Rectangle 158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  <a:miter lim="800000"/>
              </a:ln>
            </p:spPr>
            <p:txBody>
              <a:bodyPr wrap="none" anchor="ctr"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2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278" name="Oval 159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279" name="Group 160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5284" name="Line 16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85" name="Line 16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86" name="Line 16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5280" name="Group 164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5281" name="Line 16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82" name="Line 16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83" name="Line 16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5217" name="Group 168"/>
            <p:cNvGrpSpPr/>
            <p:nvPr/>
          </p:nvGrpSpPr>
          <p:grpSpPr bwMode="auto">
            <a:xfrm>
              <a:off x="4869" y="2072"/>
              <a:ext cx="316" cy="147"/>
              <a:chOff x="3600" y="219"/>
              <a:chExt cx="360" cy="175"/>
            </a:xfrm>
          </p:grpSpPr>
          <p:sp>
            <p:nvSpPr>
              <p:cNvPr id="5261" name="Oval 16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62" name="Line 17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63" name="Line 17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64" name="Rectangle 17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  <a:miter lim="800000"/>
              </a:ln>
            </p:spPr>
            <p:txBody>
              <a:bodyPr wrap="none" anchor="ctr"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2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265" name="Oval 17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266" name="Group 174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5271" name="Line 17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72" name="Line 17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73" name="Line 17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5267" name="Group 178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5268" name="Line 17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69" name="Line 18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70" name="Line 18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5218" name="Group 182"/>
            <p:cNvGrpSpPr/>
            <p:nvPr/>
          </p:nvGrpSpPr>
          <p:grpSpPr bwMode="auto">
            <a:xfrm>
              <a:off x="4659" y="2440"/>
              <a:ext cx="316" cy="148"/>
              <a:chOff x="3600" y="219"/>
              <a:chExt cx="360" cy="175"/>
            </a:xfrm>
          </p:grpSpPr>
          <p:sp>
            <p:nvSpPr>
              <p:cNvPr id="5248" name="Oval 183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49" name="Line 184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50" name="Line 185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51" name="Rectangle 186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  <a:miter lim="800000"/>
              </a:ln>
            </p:spPr>
            <p:txBody>
              <a:bodyPr wrap="none" anchor="ctr"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2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252" name="Oval 187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253" name="Group 188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5258" name="Line 18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59" name="Line 19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60" name="Line 19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5254" name="Group 192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5255" name="Line 19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56" name="Line 19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57" name="Line 19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5219" name="Group 196"/>
            <p:cNvGrpSpPr/>
            <p:nvPr/>
          </p:nvGrpSpPr>
          <p:grpSpPr bwMode="auto">
            <a:xfrm>
              <a:off x="4275" y="2748"/>
              <a:ext cx="315" cy="147"/>
              <a:chOff x="3600" y="219"/>
              <a:chExt cx="360" cy="175"/>
            </a:xfrm>
          </p:grpSpPr>
          <p:sp>
            <p:nvSpPr>
              <p:cNvPr id="5235" name="Oval 197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36" name="Line 198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37" name="Line 199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38" name="Rectangle 200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  <a:miter lim="800000"/>
              </a:ln>
            </p:spPr>
            <p:txBody>
              <a:bodyPr wrap="none" anchor="ctr"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2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239" name="Oval 201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240" name="Group 202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5245" name="Line 20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46" name="Line 20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47" name="Line 20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5241" name="Group 206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5242" name="Line 20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43" name="Line 20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44" name="Line 20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5220" name="Group 210"/>
            <p:cNvGrpSpPr/>
            <p:nvPr/>
          </p:nvGrpSpPr>
          <p:grpSpPr bwMode="auto">
            <a:xfrm>
              <a:off x="3769" y="2511"/>
              <a:ext cx="316" cy="147"/>
              <a:chOff x="3600" y="219"/>
              <a:chExt cx="360" cy="175"/>
            </a:xfrm>
          </p:grpSpPr>
          <p:sp>
            <p:nvSpPr>
              <p:cNvPr id="5222" name="Oval 211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23" name="Line 212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24" name="Line 213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25" name="Rectangle 214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  <a:miter lim="800000"/>
              </a:ln>
            </p:spPr>
            <p:txBody>
              <a:bodyPr wrap="none" anchor="ctr"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2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226" name="Oval 215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227" name="Group 216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5232" name="Line 21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33" name="Line 21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34" name="Line 21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5228" name="Group 220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5229" name="Line 22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30" name="Line 22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31" name="Line 22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5221" name="Line 224"/>
            <p:cNvSpPr>
              <a:spLocks noChangeShapeType="1"/>
            </p:cNvSpPr>
            <p:nvPr/>
          </p:nvSpPr>
          <p:spPr bwMode="auto">
            <a:xfrm flipV="1">
              <a:off x="3930" y="2645"/>
              <a:ext cx="1" cy="1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196" name="Group 225"/>
          <p:cNvGrpSpPr/>
          <p:nvPr/>
        </p:nvGrpSpPr>
        <p:grpSpPr bwMode="auto">
          <a:xfrm>
            <a:off x="5149771" y="1610468"/>
            <a:ext cx="3738563" cy="3830637"/>
            <a:chOff x="2986" y="945"/>
            <a:chExt cx="2355" cy="2413"/>
          </a:xfrm>
        </p:grpSpPr>
        <p:grpSp>
          <p:nvGrpSpPr>
            <p:cNvPr id="5143" name="Group 226"/>
            <p:cNvGrpSpPr/>
            <p:nvPr/>
          </p:nvGrpSpPr>
          <p:grpSpPr bwMode="auto">
            <a:xfrm>
              <a:off x="2986" y="945"/>
              <a:ext cx="513" cy="541"/>
              <a:chOff x="2938" y="2925"/>
              <a:chExt cx="513" cy="541"/>
            </a:xfrm>
          </p:grpSpPr>
          <p:sp>
            <p:nvSpPr>
              <p:cNvPr id="5162" name="Rectangle 227"/>
              <p:cNvSpPr>
                <a:spLocks noChangeArrowheads="1"/>
              </p:cNvSpPr>
              <p:nvPr/>
            </p:nvSpPr>
            <p:spPr bwMode="auto">
              <a:xfrm>
                <a:off x="3000" y="2925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63" name="Rectangle 228"/>
              <p:cNvSpPr>
                <a:spLocks noChangeArrowheads="1"/>
              </p:cNvSpPr>
              <p:nvPr/>
            </p:nvSpPr>
            <p:spPr bwMode="auto">
              <a:xfrm>
                <a:off x="2979" y="2940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64" name="Rectangle 229"/>
              <p:cNvSpPr>
                <a:spLocks noChangeArrowheads="1"/>
              </p:cNvSpPr>
              <p:nvPr/>
            </p:nvSpPr>
            <p:spPr bwMode="auto">
              <a:xfrm>
                <a:off x="2982" y="2943"/>
                <a:ext cx="426" cy="126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65" name="Text Box 230"/>
              <p:cNvSpPr txBox="1">
                <a:spLocks noChangeArrowheads="1"/>
              </p:cNvSpPr>
              <p:nvPr/>
            </p:nvSpPr>
            <p:spPr bwMode="auto">
              <a:xfrm>
                <a:off x="2938" y="2928"/>
                <a:ext cx="513" cy="53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application</a:t>
                </a:r>
                <a:endParaRPr kumimoji="0" lang="en-US" altLang="zh-CN" sz="10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transport</a:t>
                </a:r>
              </a:p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network</a:t>
                </a:r>
              </a:p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data link</a:t>
                </a:r>
              </a:p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physical</a:t>
                </a:r>
                <a:endParaRPr kumimoji="0" lang="en-US" altLang="zh-CN" sz="2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166" name="Line 231"/>
              <p:cNvSpPr>
                <a:spLocks noChangeShapeType="1"/>
              </p:cNvSpPr>
              <p:nvPr/>
            </p:nvSpPr>
            <p:spPr bwMode="auto">
              <a:xfrm>
                <a:off x="2979" y="3156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67" name="Line 232"/>
              <p:cNvSpPr>
                <a:spLocks noChangeShapeType="1"/>
              </p:cNvSpPr>
              <p:nvPr/>
            </p:nvSpPr>
            <p:spPr bwMode="auto">
              <a:xfrm>
                <a:off x="2985" y="3243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68" name="Line 233"/>
              <p:cNvSpPr>
                <a:spLocks noChangeShapeType="1"/>
              </p:cNvSpPr>
              <p:nvPr/>
            </p:nvSpPr>
            <p:spPr bwMode="auto">
              <a:xfrm>
                <a:off x="2985" y="333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44" name="Group 234"/>
            <p:cNvGrpSpPr/>
            <p:nvPr/>
          </p:nvGrpSpPr>
          <p:grpSpPr bwMode="auto">
            <a:xfrm>
              <a:off x="4828" y="2751"/>
              <a:ext cx="513" cy="541"/>
              <a:chOff x="2938" y="2925"/>
              <a:chExt cx="513" cy="541"/>
            </a:xfrm>
          </p:grpSpPr>
          <p:sp>
            <p:nvSpPr>
              <p:cNvPr id="5155" name="Rectangle 235"/>
              <p:cNvSpPr>
                <a:spLocks noChangeArrowheads="1"/>
              </p:cNvSpPr>
              <p:nvPr/>
            </p:nvSpPr>
            <p:spPr bwMode="auto">
              <a:xfrm>
                <a:off x="3000" y="2925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56" name="Rectangle 236"/>
              <p:cNvSpPr>
                <a:spLocks noChangeArrowheads="1"/>
              </p:cNvSpPr>
              <p:nvPr/>
            </p:nvSpPr>
            <p:spPr bwMode="auto">
              <a:xfrm>
                <a:off x="2979" y="2940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57" name="Rectangle 237"/>
              <p:cNvSpPr>
                <a:spLocks noChangeArrowheads="1"/>
              </p:cNvSpPr>
              <p:nvPr/>
            </p:nvSpPr>
            <p:spPr bwMode="auto">
              <a:xfrm>
                <a:off x="2982" y="2943"/>
                <a:ext cx="426" cy="126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58" name="Text Box 238"/>
              <p:cNvSpPr txBox="1">
                <a:spLocks noChangeArrowheads="1"/>
              </p:cNvSpPr>
              <p:nvPr/>
            </p:nvSpPr>
            <p:spPr bwMode="auto">
              <a:xfrm>
                <a:off x="2938" y="2928"/>
                <a:ext cx="513" cy="53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application</a:t>
                </a:r>
                <a:endParaRPr kumimoji="0" lang="en-US" altLang="zh-CN" sz="10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transport</a:t>
                </a:r>
              </a:p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network</a:t>
                </a:r>
              </a:p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data link</a:t>
                </a:r>
              </a:p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physical</a:t>
                </a:r>
                <a:endParaRPr kumimoji="0" lang="en-US" altLang="zh-CN" sz="2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159" name="Line 239"/>
              <p:cNvSpPr>
                <a:spLocks noChangeShapeType="1"/>
              </p:cNvSpPr>
              <p:nvPr/>
            </p:nvSpPr>
            <p:spPr bwMode="auto">
              <a:xfrm>
                <a:off x="2979" y="3156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60" name="Line 240"/>
              <p:cNvSpPr>
                <a:spLocks noChangeShapeType="1"/>
              </p:cNvSpPr>
              <p:nvPr/>
            </p:nvSpPr>
            <p:spPr bwMode="auto">
              <a:xfrm>
                <a:off x="2985" y="3243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61" name="Line 241"/>
              <p:cNvSpPr>
                <a:spLocks noChangeShapeType="1"/>
              </p:cNvSpPr>
              <p:nvPr/>
            </p:nvSpPr>
            <p:spPr bwMode="auto">
              <a:xfrm>
                <a:off x="2985" y="333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145" name="Group 242"/>
            <p:cNvGrpSpPr/>
            <p:nvPr/>
          </p:nvGrpSpPr>
          <p:grpSpPr bwMode="auto">
            <a:xfrm>
              <a:off x="3352" y="2817"/>
              <a:ext cx="513" cy="541"/>
              <a:chOff x="2938" y="2925"/>
              <a:chExt cx="513" cy="541"/>
            </a:xfrm>
          </p:grpSpPr>
          <p:sp>
            <p:nvSpPr>
              <p:cNvPr id="5148" name="Rectangle 243"/>
              <p:cNvSpPr>
                <a:spLocks noChangeArrowheads="1"/>
              </p:cNvSpPr>
              <p:nvPr/>
            </p:nvSpPr>
            <p:spPr bwMode="auto">
              <a:xfrm>
                <a:off x="3000" y="2925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49" name="Rectangle 244"/>
              <p:cNvSpPr>
                <a:spLocks noChangeArrowheads="1"/>
              </p:cNvSpPr>
              <p:nvPr/>
            </p:nvSpPr>
            <p:spPr bwMode="auto">
              <a:xfrm>
                <a:off x="2979" y="2940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50" name="Rectangle 245"/>
              <p:cNvSpPr>
                <a:spLocks noChangeArrowheads="1"/>
              </p:cNvSpPr>
              <p:nvPr/>
            </p:nvSpPr>
            <p:spPr bwMode="auto">
              <a:xfrm>
                <a:off x="2982" y="2943"/>
                <a:ext cx="426" cy="126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51" name="Text Box 246"/>
              <p:cNvSpPr txBox="1">
                <a:spLocks noChangeArrowheads="1"/>
              </p:cNvSpPr>
              <p:nvPr/>
            </p:nvSpPr>
            <p:spPr bwMode="auto">
              <a:xfrm>
                <a:off x="2938" y="2928"/>
                <a:ext cx="513" cy="53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 dirty="0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application</a:t>
                </a:r>
                <a:endParaRPr kumimoji="0" lang="en-US" altLang="zh-CN" sz="1000" dirty="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transport</a:t>
                </a:r>
              </a:p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network</a:t>
                </a:r>
              </a:p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data link</a:t>
                </a:r>
              </a:p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000" dirty="0"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physical</a:t>
                </a:r>
                <a:endParaRPr kumimoji="0" lang="en-US" altLang="zh-CN" sz="2400" dirty="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152" name="Line 247"/>
              <p:cNvSpPr>
                <a:spLocks noChangeShapeType="1"/>
              </p:cNvSpPr>
              <p:nvPr/>
            </p:nvSpPr>
            <p:spPr bwMode="auto">
              <a:xfrm>
                <a:off x="2979" y="3156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53" name="Line 248"/>
              <p:cNvSpPr>
                <a:spLocks noChangeShapeType="1"/>
              </p:cNvSpPr>
              <p:nvPr/>
            </p:nvSpPr>
            <p:spPr bwMode="auto">
              <a:xfrm>
                <a:off x="2985" y="3243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54" name="Line 249"/>
              <p:cNvSpPr>
                <a:spLocks noChangeShapeType="1"/>
              </p:cNvSpPr>
              <p:nvPr/>
            </p:nvSpPr>
            <p:spPr bwMode="auto">
              <a:xfrm>
                <a:off x="2985" y="3330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146" name="Line 250"/>
            <p:cNvSpPr>
              <a:spLocks noChangeShapeType="1"/>
            </p:cNvSpPr>
            <p:nvPr/>
          </p:nvSpPr>
          <p:spPr bwMode="auto">
            <a:xfrm>
              <a:off x="3480" y="1020"/>
              <a:ext cx="1380" cy="179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47" name="Line 251"/>
            <p:cNvSpPr>
              <a:spLocks noChangeShapeType="1"/>
            </p:cNvSpPr>
            <p:nvPr/>
          </p:nvSpPr>
          <p:spPr bwMode="auto">
            <a:xfrm flipV="1">
              <a:off x="3846" y="2850"/>
              <a:ext cx="1002" cy="3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5" name="标题 1"/>
          <p:cNvSpPr txBox="1"/>
          <p:nvPr/>
        </p:nvSpPr>
        <p:spPr>
          <a:xfrm>
            <a:off x="661676" y="32661"/>
            <a:ext cx="7777474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应用协议与进程通信模型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609600"/>
            <a:ext cx="8424862" cy="803275"/>
          </a:xfrm>
        </p:spPr>
        <p:txBody>
          <a:bodyPr/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进程间通信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476824"/>
            <a:ext cx="3989388" cy="46482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buFont typeface="ZapfDingbats" pitchFamily="82" charset="2"/>
              <a:buNone/>
            </a:pPr>
            <a:r>
              <a:rPr lang="zh-CN" altLang="en-US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进程：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主机中运行的程序</a:t>
            </a:r>
            <a:endParaRPr lang="en-US" altLang="zh-CN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-266700">
              <a:lnSpc>
                <a:spcPct val="130000"/>
              </a:lnSpc>
              <a:spcBef>
                <a:spcPts val="1200"/>
              </a:spcBef>
              <a:buClr>
                <a:srgbClr val="2A09B7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在同一台主机中，两个进程之间按照</a:t>
            </a:r>
            <a:r>
              <a:rPr lang="zh-CN" altLang="en-US" sz="22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进程间通信方式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进行交互通信（在操作系统中定义）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-266700">
              <a:lnSpc>
                <a:spcPct val="130000"/>
              </a:lnSpc>
              <a:spcBef>
                <a:spcPts val="1200"/>
              </a:spcBef>
              <a:buClr>
                <a:srgbClr val="2A09B7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不同主机上的进程通信，需要通过</a:t>
            </a:r>
            <a:r>
              <a:rPr lang="zh-CN" altLang="en-US" sz="22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交换消息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完成</a:t>
            </a:r>
            <a:endParaRPr lang="en-US" altLang="zh-CN" sz="22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应用协议与进程通信模型</a:t>
            </a:r>
          </a:p>
        </p:txBody>
      </p:sp>
      <p:sp>
        <p:nvSpPr>
          <p:cNvPr id="10" name="Rectangle 607"/>
          <p:cNvSpPr>
            <a:spLocks noChangeArrowheads="1"/>
          </p:cNvSpPr>
          <p:nvPr/>
        </p:nvSpPr>
        <p:spPr bwMode="auto">
          <a:xfrm>
            <a:off x="4473057" y="1412875"/>
            <a:ext cx="4275655" cy="4712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C0000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客户</a:t>
            </a:r>
            <a:r>
              <a:rPr lang="en-US" altLang="zh-CN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服务器</a:t>
            </a:r>
            <a:r>
              <a:rPr lang="zh-CN" altLang="en-US" sz="26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6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C/S</a:t>
            </a:r>
            <a:r>
              <a:rPr lang="zh-CN" altLang="en-US" sz="26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</a:t>
            </a:r>
            <a:endParaRPr lang="en-US" altLang="zh-CN" sz="26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28650" lvl="1" indent="-271780" eaLnBrk="1" hangingPunct="1">
              <a:lnSpc>
                <a:spcPct val="130000"/>
              </a:lnSpc>
              <a:spcBef>
                <a:spcPts val="0"/>
              </a:spcBef>
              <a:buClr>
                <a:srgbClr val="2A09B7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客户向服务器发出服务请求，并接收服务器的响应；服务器等待客户的请求并为客户提供服务</a:t>
            </a:r>
            <a:endParaRPr lang="en-US" altLang="zh-CN" sz="2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8650" lvl="1" indent="-271780" eaLnBrk="1" hangingPunct="1">
              <a:lnSpc>
                <a:spcPct val="130000"/>
              </a:lnSpc>
              <a:spcBef>
                <a:spcPts val="0"/>
              </a:spcBef>
              <a:buClr>
                <a:srgbClr val="2A09B7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例如：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浏览器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/Web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服务器；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 E-mail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客户端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/E-mail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服务器</a:t>
            </a:r>
            <a:endParaRPr lang="en-US" altLang="zh-CN" sz="2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对等计算</a:t>
            </a:r>
            <a:r>
              <a:rPr lang="zh-CN" altLang="en-US" sz="26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6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P2P</a:t>
            </a:r>
            <a:r>
              <a:rPr lang="zh-CN" altLang="en-US" sz="26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模型</a:t>
            </a:r>
            <a:endParaRPr lang="en-US" altLang="zh-CN" sz="26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28650" lvl="1" indent="-271780">
              <a:lnSpc>
                <a:spcPct val="130000"/>
              </a:lnSpc>
              <a:spcBef>
                <a:spcPts val="0"/>
              </a:spcBef>
              <a:buClr>
                <a:srgbClr val="2A09B7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最小化（或根本不用）专用服务器</a:t>
            </a:r>
            <a:endParaRPr lang="en-US" altLang="zh-CN" sz="2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8650" lvl="1" indent="-271780">
              <a:lnSpc>
                <a:spcPct val="130000"/>
              </a:lnSpc>
              <a:spcBef>
                <a:spcPts val="0"/>
              </a:spcBef>
              <a:buClr>
                <a:srgbClr val="2A09B7"/>
              </a:buClr>
              <a:buSzPct val="75000"/>
              <a:buFont typeface="Wingdings" panose="05000000000000000000" pitchFamily="2" charset="2"/>
              <a:buChar char="v"/>
            </a:pP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例如：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Skype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BitTorrent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2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  <a:buClr>
                <a:srgbClr val="2A09B7"/>
              </a:buClr>
              <a:buSzPct val="75000"/>
              <a:buFont typeface="Wingdings" panose="05000000000000000000" pitchFamily="2" charset="2"/>
              <a:buChar char="v"/>
            </a:pPr>
            <a:endParaRPr lang="en-US" altLang="zh-CN" sz="20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angle 4"/>
          <p:cNvSpPr>
            <a:spLocks noGrp="1" noChangeArrowheads="1"/>
          </p:cNvSpPr>
          <p:nvPr>
            <p:ph type="title"/>
          </p:nvPr>
        </p:nvSpPr>
        <p:spPr>
          <a:xfrm>
            <a:off x="422738" y="692150"/>
            <a:ext cx="7883062" cy="67945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客户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服务器进程交互模型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9" name="Rectangle 460"/>
          <p:cNvSpPr txBox="1">
            <a:spLocks noChangeArrowheads="1"/>
          </p:cNvSpPr>
          <p:nvPr/>
        </p:nvSpPr>
        <p:spPr>
          <a:xfrm>
            <a:off x="4140200" y="1518099"/>
            <a:ext cx="4752975" cy="47906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ZapfDingbats" pitchFamily="82" charset="2"/>
              <a:buNone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服务器进程：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被动等待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长久在线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固定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利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用集群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云提供扩展性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800"/>
              </a:spcBef>
              <a:buNone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客户进程：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启动与服务器的通信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可能为间歇性连接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可能使用动态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不与其他客户进行直接通信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0" name="Freeform 462"/>
          <p:cNvSpPr/>
          <p:nvPr/>
        </p:nvSpPr>
        <p:spPr bwMode="auto">
          <a:xfrm>
            <a:off x="2317750" y="3540125"/>
            <a:ext cx="1314450" cy="674688"/>
          </a:xfrm>
          <a:custGeom>
            <a:avLst/>
            <a:gdLst>
              <a:gd name="T0" fmla="*/ 2147483647 w 828"/>
              <a:gd name="T1" fmla="*/ 2147483647 h 425"/>
              <a:gd name="T2" fmla="*/ 2147483647 w 828"/>
              <a:gd name="T3" fmla="*/ 2147483647 h 425"/>
              <a:gd name="T4" fmla="*/ 2147483647 w 828"/>
              <a:gd name="T5" fmla="*/ 2147483647 h 425"/>
              <a:gd name="T6" fmla="*/ 2147483647 w 828"/>
              <a:gd name="T7" fmla="*/ 2147483647 h 425"/>
              <a:gd name="T8" fmla="*/ 2147483647 w 828"/>
              <a:gd name="T9" fmla="*/ 2147483647 h 425"/>
              <a:gd name="T10" fmla="*/ 2147483647 w 828"/>
              <a:gd name="T11" fmla="*/ 2147483647 h 425"/>
              <a:gd name="T12" fmla="*/ 2147483647 w 828"/>
              <a:gd name="T13" fmla="*/ 2147483647 h 425"/>
              <a:gd name="T14" fmla="*/ 2147483647 w 828"/>
              <a:gd name="T15" fmla="*/ 2147483647 h 425"/>
              <a:gd name="T16" fmla="*/ 2147483647 w 828"/>
              <a:gd name="T17" fmla="*/ 2147483647 h 425"/>
              <a:gd name="T18" fmla="*/ 2147483647 w 828"/>
              <a:gd name="T19" fmla="*/ 2147483647 h 425"/>
              <a:gd name="T20" fmla="*/ 2147483647 w 828"/>
              <a:gd name="T21" fmla="*/ 2147483647 h 425"/>
              <a:gd name="T22" fmla="*/ 2147483647 w 828"/>
              <a:gd name="T23" fmla="*/ 2147483647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DDDDDD"/>
          </a:solidFill>
          <a:ln w="9525">
            <a:noFill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1" name="Freeform 463"/>
          <p:cNvSpPr/>
          <p:nvPr/>
        </p:nvSpPr>
        <p:spPr bwMode="auto">
          <a:xfrm>
            <a:off x="2336800" y="2014538"/>
            <a:ext cx="1730375" cy="1044575"/>
          </a:xfrm>
          <a:custGeom>
            <a:avLst/>
            <a:gdLst>
              <a:gd name="T0" fmla="*/ 2147483647 w 765"/>
              <a:gd name="T1" fmla="*/ 2147483647 h 459"/>
              <a:gd name="T2" fmla="*/ 2147483647 w 765"/>
              <a:gd name="T3" fmla="*/ 2147483647 h 459"/>
              <a:gd name="T4" fmla="*/ 2147483647 w 765"/>
              <a:gd name="T5" fmla="*/ 2147483647 h 459"/>
              <a:gd name="T6" fmla="*/ 2147483647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2147483647 h 459"/>
              <a:gd name="T22" fmla="*/ 2147483647 w 765"/>
              <a:gd name="T23" fmla="*/ 214748364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</a:gradFill>
          <a:ln w="9525">
            <a:noFill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2" name="Freeform 464"/>
          <p:cNvSpPr/>
          <p:nvPr/>
        </p:nvSpPr>
        <p:spPr bwMode="auto">
          <a:xfrm>
            <a:off x="596900" y="1722438"/>
            <a:ext cx="1644650" cy="1071562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DDDDDD"/>
          </a:solidFill>
          <a:ln w="9525">
            <a:noFill/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93" name="Group 465"/>
          <p:cNvGrpSpPr/>
          <p:nvPr/>
        </p:nvGrpSpPr>
        <p:grpSpPr bwMode="auto">
          <a:xfrm>
            <a:off x="684213" y="3057525"/>
            <a:ext cx="1458912" cy="933450"/>
            <a:chOff x="2889" y="1631"/>
            <a:chExt cx="980" cy="743"/>
          </a:xfrm>
        </p:grpSpPr>
        <p:sp>
          <p:nvSpPr>
            <p:cNvPr id="394" name="Rectangle 466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5" name="AutoShape 467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>
                <a:solidFill>
                  <a:srgbClr val="00CCFF"/>
                </a:solidFill>
              </a:endParaRPr>
            </a:p>
          </p:txBody>
        </p:sp>
      </p:grpSp>
      <p:grpSp>
        <p:nvGrpSpPr>
          <p:cNvPr id="396" name="Group 468"/>
          <p:cNvGrpSpPr/>
          <p:nvPr/>
        </p:nvGrpSpPr>
        <p:grpSpPr bwMode="auto">
          <a:xfrm>
            <a:off x="1385888" y="1914525"/>
            <a:ext cx="336550" cy="531813"/>
            <a:chOff x="3796" y="1043"/>
            <a:chExt cx="865" cy="1237"/>
          </a:xfrm>
        </p:grpSpPr>
        <p:sp>
          <p:nvSpPr>
            <p:cNvPr id="397" name="Line 469"/>
            <p:cNvSpPr>
              <a:spLocks noChangeShapeType="1"/>
            </p:cNvSpPr>
            <p:nvPr/>
          </p:nvSpPr>
          <p:spPr bwMode="auto">
            <a:xfrm flipH="1">
              <a:off x="3992" y="1481"/>
              <a:ext cx="235" cy="7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8" name="Line 470"/>
            <p:cNvSpPr>
              <a:spLocks noChangeShapeType="1"/>
            </p:cNvSpPr>
            <p:nvPr/>
          </p:nvSpPr>
          <p:spPr bwMode="auto">
            <a:xfrm>
              <a:off x="4227" y="1481"/>
              <a:ext cx="236" cy="72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9" name="Line 471"/>
            <p:cNvSpPr>
              <a:spLocks noChangeShapeType="1"/>
            </p:cNvSpPr>
            <p:nvPr/>
          </p:nvSpPr>
          <p:spPr bwMode="auto">
            <a:xfrm>
              <a:off x="3992" y="2201"/>
              <a:ext cx="235" cy="7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0" name="Line 472"/>
            <p:cNvSpPr>
              <a:spLocks noChangeShapeType="1"/>
            </p:cNvSpPr>
            <p:nvPr/>
          </p:nvSpPr>
          <p:spPr bwMode="auto">
            <a:xfrm flipH="1">
              <a:off x="4227" y="2201"/>
              <a:ext cx="236" cy="7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1" name="Line 473"/>
            <p:cNvSpPr>
              <a:spLocks noChangeShapeType="1"/>
            </p:cNvSpPr>
            <p:nvPr/>
          </p:nvSpPr>
          <p:spPr bwMode="auto">
            <a:xfrm>
              <a:off x="4227" y="1497"/>
              <a:ext cx="0" cy="78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2" name="Line 474"/>
            <p:cNvSpPr>
              <a:spLocks noChangeShapeType="1"/>
            </p:cNvSpPr>
            <p:nvPr/>
          </p:nvSpPr>
          <p:spPr bwMode="auto">
            <a:xfrm flipV="1">
              <a:off x="3992" y="2127"/>
              <a:ext cx="235" cy="7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3" name="Line 475"/>
            <p:cNvSpPr>
              <a:spLocks noChangeShapeType="1"/>
            </p:cNvSpPr>
            <p:nvPr/>
          </p:nvSpPr>
          <p:spPr bwMode="auto">
            <a:xfrm flipH="1" flipV="1">
              <a:off x="4227" y="2127"/>
              <a:ext cx="236" cy="7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4" name="Line 476"/>
            <p:cNvSpPr>
              <a:spLocks noChangeShapeType="1"/>
            </p:cNvSpPr>
            <p:nvPr/>
          </p:nvSpPr>
          <p:spPr bwMode="auto">
            <a:xfrm>
              <a:off x="4092" y="1890"/>
              <a:ext cx="135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5" name="Line 477"/>
            <p:cNvSpPr>
              <a:spLocks noChangeShapeType="1"/>
            </p:cNvSpPr>
            <p:nvPr/>
          </p:nvSpPr>
          <p:spPr bwMode="auto">
            <a:xfrm flipV="1">
              <a:off x="4227" y="1890"/>
              <a:ext cx="143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6" name="Line 478"/>
            <p:cNvSpPr>
              <a:spLocks noChangeShapeType="1"/>
            </p:cNvSpPr>
            <p:nvPr/>
          </p:nvSpPr>
          <p:spPr bwMode="auto">
            <a:xfrm>
              <a:off x="4047" y="1996"/>
              <a:ext cx="175" cy="8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7" name="Line 479"/>
            <p:cNvSpPr>
              <a:spLocks noChangeShapeType="1"/>
            </p:cNvSpPr>
            <p:nvPr/>
          </p:nvSpPr>
          <p:spPr bwMode="auto">
            <a:xfrm flipV="1">
              <a:off x="4227" y="2012"/>
              <a:ext cx="176" cy="7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8" name="Line 480"/>
            <p:cNvSpPr>
              <a:spLocks noChangeShapeType="1"/>
            </p:cNvSpPr>
            <p:nvPr/>
          </p:nvSpPr>
          <p:spPr bwMode="auto">
            <a:xfrm flipV="1">
              <a:off x="4227" y="1782"/>
              <a:ext cx="90" cy="2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9" name="Line 481"/>
            <p:cNvSpPr>
              <a:spLocks noChangeShapeType="1"/>
            </p:cNvSpPr>
            <p:nvPr/>
          </p:nvSpPr>
          <p:spPr bwMode="auto">
            <a:xfrm flipV="1">
              <a:off x="4227" y="1632"/>
              <a:ext cx="57" cy="2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0" name="Line 482"/>
            <p:cNvSpPr>
              <a:spLocks noChangeShapeType="1"/>
            </p:cNvSpPr>
            <p:nvPr/>
          </p:nvSpPr>
          <p:spPr bwMode="auto">
            <a:xfrm>
              <a:off x="4126" y="1772"/>
              <a:ext cx="109" cy="3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1" name="Line 483"/>
            <p:cNvSpPr>
              <a:spLocks noChangeShapeType="1"/>
            </p:cNvSpPr>
            <p:nvPr/>
          </p:nvSpPr>
          <p:spPr bwMode="auto">
            <a:xfrm>
              <a:off x="4175" y="1625"/>
              <a:ext cx="63" cy="3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412" name="Group 484"/>
            <p:cNvGrpSpPr/>
            <p:nvPr/>
          </p:nvGrpSpPr>
          <p:grpSpPr bwMode="auto">
            <a:xfrm>
              <a:off x="4269" y="1415"/>
              <a:ext cx="392" cy="137"/>
              <a:chOff x="4227" y="1360"/>
              <a:chExt cx="863" cy="270"/>
            </a:xfrm>
          </p:grpSpPr>
          <p:sp>
            <p:nvSpPr>
              <p:cNvPr id="423" name="Line 485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4" name="Line 486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5" name="Line 487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6" name="Line 488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413" name="Group 489"/>
            <p:cNvGrpSpPr/>
            <p:nvPr/>
          </p:nvGrpSpPr>
          <p:grpSpPr bwMode="auto">
            <a:xfrm rot="5700496">
              <a:off x="4053" y="1170"/>
              <a:ext cx="392" cy="137"/>
              <a:chOff x="4227" y="1360"/>
              <a:chExt cx="863" cy="270"/>
            </a:xfrm>
          </p:grpSpPr>
          <p:sp>
            <p:nvSpPr>
              <p:cNvPr id="419" name="Line 490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0" name="Line 491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1" name="Line 492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22" name="Line 493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414" name="Group 494"/>
            <p:cNvGrpSpPr/>
            <p:nvPr/>
          </p:nvGrpSpPr>
          <p:grpSpPr bwMode="auto">
            <a:xfrm rot="10800000">
              <a:off x="3796" y="1402"/>
              <a:ext cx="392" cy="137"/>
              <a:chOff x="4227" y="1360"/>
              <a:chExt cx="863" cy="270"/>
            </a:xfrm>
          </p:grpSpPr>
          <p:sp>
            <p:nvSpPr>
              <p:cNvPr id="415" name="Line 495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6" name="Line 496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7" name="Line 497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8" name="Line 498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427" name="Oval 499"/>
          <p:cNvSpPr>
            <a:spLocks noChangeArrowheads="1"/>
          </p:cNvSpPr>
          <p:nvPr/>
        </p:nvSpPr>
        <p:spPr bwMode="auto">
          <a:xfrm>
            <a:off x="2443163" y="3735388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8" name="Line 500"/>
          <p:cNvSpPr>
            <a:spLocks noChangeShapeType="1"/>
          </p:cNvSpPr>
          <p:nvPr/>
        </p:nvSpPr>
        <p:spPr bwMode="auto">
          <a:xfrm>
            <a:off x="2443163" y="372745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" name="Line 501"/>
          <p:cNvSpPr>
            <a:spLocks noChangeShapeType="1"/>
          </p:cNvSpPr>
          <p:nvPr/>
        </p:nvSpPr>
        <p:spPr bwMode="auto">
          <a:xfrm>
            <a:off x="2801938" y="372745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" name="Rectangle 502"/>
          <p:cNvSpPr>
            <a:spLocks noChangeArrowheads="1"/>
          </p:cNvSpPr>
          <p:nvPr/>
        </p:nvSpPr>
        <p:spPr bwMode="auto">
          <a:xfrm>
            <a:off x="2443163" y="3727450"/>
            <a:ext cx="355600" cy="58738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/>
          </a:p>
        </p:txBody>
      </p:sp>
      <p:sp>
        <p:nvSpPr>
          <p:cNvPr id="431" name="Oval 503"/>
          <p:cNvSpPr>
            <a:spLocks noChangeArrowheads="1"/>
          </p:cNvSpPr>
          <p:nvPr/>
        </p:nvSpPr>
        <p:spPr bwMode="auto">
          <a:xfrm>
            <a:off x="2439988" y="3659188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32" name="Group 504"/>
          <p:cNvGrpSpPr/>
          <p:nvPr/>
        </p:nvGrpSpPr>
        <p:grpSpPr bwMode="auto">
          <a:xfrm>
            <a:off x="2525713" y="3683000"/>
            <a:ext cx="179387" cy="65088"/>
            <a:chOff x="2848" y="848"/>
            <a:chExt cx="140" cy="98"/>
          </a:xfrm>
        </p:grpSpPr>
        <p:sp>
          <p:nvSpPr>
            <p:cNvPr id="433" name="Line 505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4" name="Line 506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5" name="Line 507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6" name="Group 508"/>
          <p:cNvGrpSpPr/>
          <p:nvPr/>
        </p:nvGrpSpPr>
        <p:grpSpPr bwMode="auto">
          <a:xfrm flipV="1">
            <a:off x="2525713" y="3683000"/>
            <a:ext cx="179387" cy="65088"/>
            <a:chOff x="2848" y="848"/>
            <a:chExt cx="140" cy="98"/>
          </a:xfrm>
        </p:grpSpPr>
        <p:sp>
          <p:nvSpPr>
            <p:cNvPr id="437" name="Line 509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8" name="Line 510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" name="Line 511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0" name="Oval 512"/>
          <p:cNvSpPr>
            <a:spLocks noChangeArrowheads="1"/>
          </p:cNvSpPr>
          <p:nvPr/>
        </p:nvSpPr>
        <p:spPr bwMode="auto">
          <a:xfrm>
            <a:off x="2798763" y="4014788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" name="Line 513"/>
          <p:cNvSpPr>
            <a:spLocks noChangeShapeType="1"/>
          </p:cNvSpPr>
          <p:nvPr/>
        </p:nvSpPr>
        <p:spPr bwMode="auto">
          <a:xfrm>
            <a:off x="2798763" y="400685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2" name="Line 514"/>
          <p:cNvSpPr>
            <a:spLocks noChangeShapeType="1"/>
          </p:cNvSpPr>
          <p:nvPr/>
        </p:nvSpPr>
        <p:spPr bwMode="auto">
          <a:xfrm>
            <a:off x="3157538" y="400685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3" name="Rectangle 515"/>
          <p:cNvSpPr>
            <a:spLocks noChangeArrowheads="1"/>
          </p:cNvSpPr>
          <p:nvPr/>
        </p:nvSpPr>
        <p:spPr bwMode="auto">
          <a:xfrm>
            <a:off x="2798763" y="4006850"/>
            <a:ext cx="355600" cy="58738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/>
          </a:p>
        </p:txBody>
      </p:sp>
      <p:sp>
        <p:nvSpPr>
          <p:cNvPr id="444" name="Oval 516"/>
          <p:cNvSpPr>
            <a:spLocks noChangeArrowheads="1"/>
          </p:cNvSpPr>
          <p:nvPr/>
        </p:nvSpPr>
        <p:spPr bwMode="auto">
          <a:xfrm>
            <a:off x="2795588" y="3938588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5" name="Group 517"/>
          <p:cNvGrpSpPr/>
          <p:nvPr/>
        </p:nvGrpSpPr>
        <p:grpSpPr bwMode="auto">
          <a:xfrm>
            <a:off x="2881313" y="3962400"/>
            <a:ext cx="179387" cy="65088"/>
            <a:chOff x="2848" y="848"/>
            <a:chExt cx="140" cy="98"/>
          </a:xfrm>
        </p:grpSpPr>
        <p:sp>
          <p:nvSpPr>
            <p:cNvPr id="446" name="Line 518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7" name="Line 519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8" name="Line 520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9" name="Group 521"/>
          <p:cNvGrpSpPr/>
          <p:nvPr/>
        </p:nvGrpSpPr>
        <p:grpSpPr bwMode="auto">
          <a:xfrm flipV="1">
            <a:off x="2881313" y="3962400"/>
            <a:ext cx="179387" cy="65088"/>
            <a:chOff x="2848" y="848"/>
            <a:chExt cx="140" cy="98"/>
          </a:xfrm>
        </p:grpSpPr>
        <p:sp>
          <p:nvSpPr>
            <p:cNvPr id="450" name="Line 522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" name="Line 523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" name="Line 524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3" name="Oval 525"/>
          <p:cNvSpPr>
            <a:spLocks noChangeArrowheads="1"/>
          </p:cNvSpPr>
          <p:nvPr/>
        </p:nvSpPr>
        <p:spPr bwMode="auto">
          <a:xfrm>
            <a:off x="3078163" y="3748088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" name="Line 526"/>
          <p:cNvSpPr>
            <a:spLocks noChangeShapeType="1"/>
          </p:cNvSpPr>
          <p:nvPr/>
        </p:nvSpPr>
        <p:spPr bwMode="auto">
          <a:xfrm>
            <a:off x="3078163" y="374015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" name="Line 527"/>
          <p:cNvSpPr>
            <a:spLocks noChangeShapeType="1"/>
          </p:cNvSpPr>
          <p:nvPr/>
        </p:nvSpPr>
        <p:spPr bwMode="auto">
          <a:xfrm>
            <a:off x="3436938" y="374015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6" name="Rectangle 528"/>
          <p:cNvSpPr>
            <a:spLocks noChangeArrowheads="1"/>
          </p:cNvSpPr>
          <p:nvPr/>
        </p:nvSpPr>
        <p:spPr bwMode="auto">
          <a:xfrm>
            <a:off x="3078163" y="3740150"/>
            <a:ext cx="355600" cy="58738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/>
          </a:p>
        </p:txBody>
      </p:sp>
      <p:sp>
        <p:nvSpPr>
          <p:cNvPr id="457" name="Oval 529"/>
          <p:cNvSpPr>
            <a:spLocks noChangeArrowheads="1"/>
          </p:cNvSpPr>
          <p:nvPr/>
        </p:nvSpPr>
        <p:spPr bwMode="auto">
          <a:xfrm>
            <a:off x="3074988" y="3671888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58" name="Group 530"/>
          <p:cNvGrpSpPr/>
          <p:nvPr/>
        </p:nvGrpSpPr>
        <p:grpSpPr bwMode="auto">
          <a:xfrm>
            <a:off x="3160713" y="3695700"/>
            <a:ext cx="179387" cy="65088"/>
            <a:chOff x="2848" y="848"/>
            <a:chExt cx="140" cy="98"/>
          </a:xfrm>
        </p:grpSpPr>
        <p:sp>
          <p:nvSpPr>
            <p:cNvPr id="459" name="Line 531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" name="Line 532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" name="Line 533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62" name="Group 534"/>
          <p:cNvGrpSpPr/>
          <p:nvPr/>
        </p:nvGrpSpPr>
        <p:grpSpPr bwMode="auto">
          <a:xfrm flipV="1">
            <a:off x="3160713" y="3695700"/>
            <a:ext cx="179387" cy="65088"/>
            <a:chOff x="2848" y="848"/>
            <a:chExt cx="140" cy="98"/>
          </a:xfrm>
        </p:grpSpPr>
        <p:sp>
          <p:nvSpPr>
            <p:cNvPr id="463" name="Line 535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4" name="Line 536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" name="Line 537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66" name="Oval 538"/>
          <p:cNvSpPr>
            <a:spLocks noChangeArrowheads="1"/>
          </p:cNvSpPr>
          <p:nvPr/>
        </p:nvSpPr>
        <p:spPr bwMode="auto">
          <a:xfrm>
            <a:off x="2543175" y="2586038"/>
            <a:ext cx="347663" cy="8890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7" name="Line 539"/>
          <p:cNvSpPr>
            <a:spLocks noChangeShapeType="1"/>
          </p:cNvSpPr>
          <p:nvPr/>
        </p:nvSpPr>
        <p:spPr bwMode="auto">
          <a:xfrm>
            <a:off x="2543175" y="2578100"/>
            <a:ext cx="0" cy="55563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8" name="Line 540"/>
          <p:cNvSpPr>
            <a:spLocks noChangeShapeType="1"/>
          </p:cNvSpPr>
          <p:nvPr/>
        </p:nvSpPr>
        <p:spPr bwMode="auto">
          <a:xfrm>
            <a:off x="2890838" y="2578100"/>
            <a:ext cx="0" cy="55563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9" name="Rectangle 541"/>
          <p:cNvSpPr>
            <a:spLocks noChangeArrowheads="1"/>
          </p:cNvSpPr>
          <p:nvPr/>
        </p:nvSpPr>
        <p:spPr bwMode="auto">
          <a:xfrm>
            <a:off x="2543175" y="2578100"/>
            <a:ext cx="344488" cy="53975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/>
          </a:p>
        </p:txBody>
      </p:sp>
      <p:sp>
        <p:nvSpPr>
          <p:cNvPr id="470" name="Oval 542"/>
          <p:cNvSpPr>
            <a:spLocks noChangeArrowheads="1"/>
          </p:cNvSpPr>
          <p:nvPr/>
        </p:nvSpPr>
        <p:spPr bwMode="auto">
          <a:xfrm>
            <a:off x="2540000" y="2514600"/>
            <a:ext cx="347663" cy="103188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71" name="Group 543"/>
          <p:cNvGrpSpPr/>
          <p:nvPr/>
        </p:nvGrpSpPr>
        <p:grpSpPr bwMode="auto">
          <a:xfrm>
            <a:off x="2624138" y="2536825"/>
            <a:ext cx="171450" cy="61913"/>
            <a:chOff x="2848" y="848"/>
            <a:chExt cx="140" cy="98"/>
          </a:xfrm>
        </p:grpSpPr>
        <p:sp>
          <p:nvSpPr>
            <p:cNvPr id="472" name="Line 544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3" name="Line 545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4" name="Line 546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5" name="Group 547"/>
          <p:cNvGrpSpPr/>
          <p:nvPr/>
        </p:nvGrpSpPr>
        <p:grpSpPr bwMode="auto">
          <a:xfrm flipV="1">
            <a:off x="2624138" y="2536825"/>
            <a:ext cx="171450" cy="60325"/>
            <a:chOff x="2848" y="848"/>
            <a:chExt cx="140" cy="98"/>
          </a:xfrm>
        </p:grpSpPr>
        <p:sp>
          <p:nvSpPr>
            <p:cNvPr id="476" name="Line 548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7" name="Line 549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8" name="Line 550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79" name="Oval 551"/>
          <p:cNvSpPr>
            <a:spLocks noChangeArrowheads="1"/>
          </p:cNvSpPr>
          <p:nvPr/>
        </p:nvSpPr>
        <p:spPr bwMode="auto">
          <a:xfrm>
            <a:off x="2541588" y="2846388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0" name="Line 552"/>
          <p:cNvSpPr>
            <a:spLocks noChangeShapeType="1"/>
          </p:cNvSpPr>
          <p:nvPr/>
        </p:nvSpPr>
        <p:spPr bwMode="auto">
          <a:xfrm>
            <a:off x="2541588" y="283845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" name="Line 553"/>
          <p:cNvSpPr>
            <a:spLocks noChangeShapeType="1"/>
          </p:cNvSpPr>
          <p:nvPr/>
        </p:nvSpPr>
        <p:spPr bwMode="auto">
          <a:xfrm>
            <a:off x="2900363" y="283845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2" name="Rectangle 554"/>
          <p:cNvSpPr>
            <a:spLocks noChangeArrowheads="1"/>
          </p:cNvSpPr>
          <p:nvPr/>
        </p:nvSpPr>
        <p:spPr bwMode="auto">
          <a:xfrm>
            <a:off x="2541588" y="2838450"/>
            <a:ext cx="355600" cy="58738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/>
          </a:p>
        </p:txBody>
      </p:sp>
      <p:sp>
        <p:nvSpPr>
          <p:cNvPr id="483" name="Oval 555"/>
          <p:cNvSpPr>
            <a:spLocks noChangeArrowheads="1"/>
          </p:cNvSpPr>
          <p:nvPr/>
        </p:nvSpPr>
        <p:spPr bwMode="auto">
          <a:xfrm>
            <a:off x="2538413" y="2770188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84" name="Group 556"/>
          <p:cNvGrpSpPr/>
          <p:nvPr/>
        </p:nvGrpSpPr>
        <p:grpSpPr bwMode="auto">
          <a:xfrm>
            <a:off x="2624138" y="2794000"/>
            <a:ext cx="179387" cy="65088"/>
            <a:chOff x="2848" y="848"/>
            <a:chExt cx="140" cy="98"/>
          </a:xfrm>
        </p:grpSpPr>
        <p:sp>
          <p:nvSpPr>
            <p:cNvPr id="485" name="Line 557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6" name="Line 558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7" name="Line 559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88" name="Group 560"/>
          <p:cNvGrpSpPr/>
          <p:nvPr/>
        </p:nvGrpSpPr>
        <p:grpSpPr bwMode="auto">
          <a:xfrm flipV="1">
            <a:off x="2624138" y="2794000"/>
            <a:ext cx="179387" cy="65088"/>
            <a:chOff x="2848" y="848"/>
            <a:chExt cx="140" cy="98"/>
          </a:xfrm>
        </p:grpSpPr>
        <p:sp>
          <p:nvSpPr>
            <p:cNvPr id="489" name="Line 561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" name="Line 562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" name="Line 563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92" name="Oval 564"/>
          <p:cNvSpPr>
            <a:spLocks noChangeArrowheads="1"/>
          </p:cNvSpPr>
          <p:nvPr/>
        </p:nvSpPr>
        <p:spPr bwMode="auto">
          <a:xfrm>
            <a:off x="3017838" y="2487613"/>
            <a:ext cx="330200" cy="857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3" name="Line 565"/>
          <p:cNvSpPr>
            <a:spLocks noChangeShapeType="1"/>
          </p:cNvSpPr>
          <p:nvPr/>
        </p:nvSpPr>
        <p:spPr bwMode="auto">
          <a:xfrm>
            <a:off x="3017838" y="2481263"/>
            <a:ext cx="0" cy="5238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4" name="Line 566"/>
          <p:cNvSpPr>
            <a:spLocks noChangeShapeType="1"/>
          </p:cNvSpPr>
          <p:nvPr/>
        </p:nvSpPr>
        <p:spPr bwMode="auto">
          <a:xfrm>
            <a:off x="3348038" y="2481263"/>
            <a:ext cx="0" cy="5238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5" name="Rectangle 567"/>
          <p:cNvSpPr>
            <a:spLocks noChangeArrowheads="1"/>
          </p:cNvSpPr>
          <p:nvPr/>
        </p:nvSpPr>
        <p:spPr bwMode="auto">
          <a:xfrm>
            <a:off x="3017838" y="2481263"/>
            <a:ext cx="327025" cy="52387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>
              <a:solidFill>
                <a:schemeClr val="bg2"/>
              </a:solidFill>
            </a:endParaRPr>
          </a:p>
        </p:txBody>
      </p:sp>
      <p:sp>
        <p:nvSpPr>
          <p:cNvPr id="496" name="Oval 568"/>
          <p:cNvSpPr>
            <a:spLocks noChangeArrowheads="1"/>
          </p:cNvSpPr>
          <p:nvPr/>
        </p:nvSpPr>
        <p:spPr bwMode="auto">
          <a:xfrm>
            <a:off x="3014663" y="2419350"/>
            <a:ext cx="330200" cy="100013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97" name="Group 569"/>
          <p:cNvGrpSpPr/>
          <p:nvPr/>
        </p:nvGrpSpPr>
        <p:grpSpPr bwMode="auto">
          <a:xfrm>
            <a:off x="3094038" y="2441575"/>
            <a:ext cx="163512" cy="57150"/>
            <a:chOff x="2848" y="848"/>
            <a:chExt cx="140" cy="98"/>
          </a:xfrm>
        </p:grpSpPr>
        <p:sp>
          <p:nvSpPr>
            <p:cNvPr id="498" name="Line 57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9" name="Line 57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0" name="Line 57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1" name="Group 573"/>
          <p:cNvGrpSpPr/>
          <p:nvPr/>
        </p:nvGrpSpPr>
        <p:grpSpPr bwMode="auto">
          <a:xfrm flipV="1">
            <a:off x="3094038" y="2439988"/>
            <a:ext cx="163512" cy="58737"/>
            <a:chOff x="2848" y="848"/>
            <a:chExt cx="140" cy="98"/>
          </a:xfrm>
        </p:grpSpPr>
        <p:sp>
          <p:nvSpPr>
            <p:cNvPr id="502" name="Line 574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" name="Line 575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4" name="Line 576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05" name="Oval 577"/>
          <p:cNvSpPr>
            <a:spLocks noChangeArrowheads="1"/>
          </p:cNvSpPr>
          <p:nvPr/>
        </p:nvSpPr>
        <p:spPr bwMode="auto">
          <a:xfrm>
            <a:off x="3103563" y="2846388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6" name="Line 578"/>
          <p:cNvSpPr>
            <a:spLocks noChangeShapeType="1"/>
          </p:cNvSpPr>
          <p:nvPr/>
        </p:nvSpPr>
        <p:spPr bwMode="auto">
          <a:xfrm>
            <a:off x="3103563" y="283845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7" name="Line 579"/>
          <p:cNvSpPr>
            <a:spLocks noChangeShapeType="1"/>
          </p:cNvSpPr>
          <p:nvPr/>
        </p:nvSpPr>
        <p:spPr bwMode="auto">
          <a:xfrm>
            <a:off x="3462338" y="283845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8" name="Rectangle 580"/>
          <p:cNvSpPr>
            <a:spLocks noChangeArrowheads="1"/>
          </p:cNvSpPr>
          <p:nvPr/>
        </p:nvSpPr>
        <p:spPr bwMode="auto">
          <a:xfrm>
            <a:off x="3103563" y="2838450"/>
            <a:ext cx="355600" cy="58738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/>
          </a:p>
        </p:txBody>
      </p:sp>
      <p:sp>
        <p:nvSpPr>
          <p:cNvPr id="509" name="Oval 581"/>
          <p:cNvSpPr>
            <a:spLocks noChangeArrowheads="1"/>
          </p:cNvSpPr>
          <p:nvPr/>
        </p:nvSpPr>
        <p:spPr bwMode="auto">
          <a:xfrm>
            <a:off x="3100388" y="2770188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10" name="Group 582"/>
          <p:cNvGrpSpPr/>
          <p:nvPr/>
        </p:nvGrpSpPr>
        <p:grpSpPr bwMode="auto">
          <a:xfrm>
            <a:off x="3186113" y="2794000"/>
            <a:ext cx="179387" cy="65088"/>
            <a:chOff x="2848" y="848"/>
            <a:chExt cx="140" cy="98"/>
          </a:xfrm>
        </p:grpSpPr>
        <p:sp>
          <p:nvSpPr>
            <p:cNvPr id="511" name="Line 583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" name="Line 584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" name="Line 585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4" name="Group 586"/>
          <p:cNvGrpSpPr/>
          <p:nvPr/>
        </p:nvGrpSpPr>
        <p:grpSpPr bwMode="auto">
          <a:xfrm flipV="1">
            <a:off x="3186113" y="2794000"/>
            <a:ext cx="179387" cy="65088"/>
            <a:chOff x="2848" y="848"/>
            <a:chExt cx="140" cy="98"/>
          </a:xfrm>
        </p:grpSpPr>
        <p:sp>
          <p:nvSpPr>
            <p:cNvPr id="515" name="Line 587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" name="Line 588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" name="Line 589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8" name="Oval 590"/>
          <p:cNvSpPr>
            <a:spLocks noChangeArrowheads="1"/>
          </p:cNvSpPr>
          <p:nvPr/>
        </p:nvSpPr>
        <p:spPr bwMode="auto">
          <a:xfrm>
            <a:off x="1693863" y="2581275"/>
            <a:ext cx="346075" cy="87313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9" name="Line 591"/>
          <p:cNvSpPr>
            <a:spLocks noChangeShapeType="1"/>
          </p:cNvSpPr>
          <p:nvPr/>
        </p:nvSpPr>
        <p:spPr bwMode="auto">
          <a:xfrm>
            <a:off x="1693863" y="2573338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0" name="Line 592"/>
          <p:cNvSpPr>
            <a:spLocks noChangeShapeType="1"/>
          </p:cNvSpPr>
          <p:nvPr/>
        </p:nvSpPr>
        <p:spPr bwMode="auto">
          <a:xfrm>
            <a:off x="2039938" y="2573338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1" name="Rectangle 593"/>
          <p:cNvSpPr>
            <a:spLocks noChangeArrowheads="1"/>
          </p:cNvSpPr>
          <p:nvPr/>
        </p:nvSpPr>
        <p:spPr bwMode="auto">
          <a:xfrm>
            <a:off x="1693863" y="2573338"/>
            <a:ext cx="342900" cy="53975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/>
          </a:p>
        </p:txBody>
      </p:sp>
      <p:sp>
        <p:nvSpPr>
          <p:cNvPr id="522" name="Oval 594"/>
          <p:cNvSpPr>
            <a:spLocks noChangeArrowheads="1"/>
          </p:cNvSpPr>
          <p:nvPr/>
        </p:nvSpPr>
        <p:spPr bwMode="auto">
          <a:xfrm>
            <a:off x="1690688" y="2509838"/>
            <a:ext cx="346075" cy="103187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23" name="Group 595"/>
          <p:cNvGrpSpPr/>
          <p:nvPr/>
        </p:nvGrpSpPr>
        <p:grpSpPr bwMode="auto">
          <a:xfrm>
            <a:off x="1774825" y="2532063"/>
            <a:ext cx="171450" cy="60325"/>
            <a:chOff x="2848" y="848"/>
            <a:chExt cx="140" cy="98"/>
          </a:xfrm>
        </p:grpSpPr>
        <p:sp>
          <p:nvSpPr>
            <p:cNvPr id="524" name="Line 596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5" name="Line 597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6" name="Line 598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27" name="Group 599"/>
          <p:cNvGrpSpPr/>
          <p:nvPr/>
        </p:nvGrpSpPr>
        <p:grpSpPr bwMode="auto">
          <a:xfrm flipV="1">
            <a:off x="1774825" y="2532063"/>
            <a:ext cx="171450" cy="58737"/>
            <a:chOff x="2848" y="848"/>
            <a:chExt cx="140" cy="98"/>
          </a:xfrm>
        </p:grpSpPr>
        <p:sp>
          <p:nvSpPr>
            <p:cNvPr id="528" name="Line 60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9" name="Line 60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0" name="Line 60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31" name="Oval 603"/>
          <p:cNvSpPr>
            <a:spLocks noChangeArrowheads="1"/>
          </p:cNvSpPr>
          <p:nvPr/>
        </p:nvSpPr>
        <p:spPr bwMode="auto">
          <a:xfrm>
            <a:off x="1387475" y="3730625"/>
            <a:ext cx="346075" cy="87313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" name="Line 604"/>
          <p:cNvSpPr>
            <a:spLocks noChangeShapeType="1"/>
          </p:cNvSpPr>
          <p:nvPr/>
        </p:nvSpPr>
        <p:spPr bwMode="auto">
          <a:xfrm>
            <a:off x="1387475" y="3722688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" name="Line 605"/>
          <p:cNvSpPr>
            <a:spLocks noChangeShapeType="1"/>
          </p:cNvSpPr>
          <p:nvPr/>
        </p:nvSpPr>
        <p:spPr bwMode="auto">
          <a:xfrm>
            <a:off x="1733550" y="3722688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" name="Rectangle 606"/>
          <p:cNvSpPr>
            <a:spLocks noChangeArrowheads="1"/>
          </p:cNvSpPr>
          <p:nvPr/>
        </p:nvSpPr>
        <p:spPr bwMode="auto">
          <a:xfrm>
            <a:off x="1387475" y="3722688"/>
            <a:ext cx="342900" cy="53975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/>
          </a:p>
        </p:txBody>
      </p:sp>
      <p:sp>
        <p:nvSpPr>
          <p:cNvPr id="535" name="Oval 607"/>
          <p:cNvSpPr>
            <a:spLocks noChangeArrowheads="1"/>
          </p:cNvSpPr>
          <p:nvPr/>
        </p:nvSpPr>
        <p:spPr bwMode="auto">
          <a:xfrm>
            <a:off x="1384300" y="3659188"/>
            <a:ext cx="346075" cy="103187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36" name="Group 608"/>
          <p:cNvGrpSpPr/>
          <p:nvPr/>
        </p:nvGrpSpPr>
        <p:grpSpPr bwMode="auto">
          <a:xfrm>
            <a:off x="1468438" y="3681413"/>
            <a:ext cx="171450" cy="60325"/>
            <a:chOff x="2848" y="848"/>
            <a:chExt cx="140" cy="98"/>
          </a:xfrm>
        </p:grpSpPr>
        <p:sp>
          <p:nvSpPr>
            <p:cNvPr id="537" name="Line 609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8" name="Line 610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9" name="Line 611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40" name="Group 612"/>
          <p:cNvGrpSpPr/>
          <p:nvPr/>
        </p:nvGrpSpPr>
        <p:grpSpPr bwMode="auto">
          <a:xfrm flipV="1">
            <a:off x="1468438" y="3681413"/>
            <a:ext cx="171450" cy="58737"/>
            <a:chOff x="2848" y="848"/>
            <a:chExt cx="140" cy="98"/>
          </a:xfrm>
        </p:grpSpPr>
        <p:sp>
          <p:nvSpPr>
            <p:cNvPr id="541" name="Line 613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" name="Line 614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3" name="Line 615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44" name="Line 616"/>
          <p:cNvSpPr>
            <a:spLocks noChangeShapeType="1"/>
          </p:cNvSpPr>
          <p:nvPr/>
        </p:nvSpPr>
        <p:spPr bwMode="auto">
          <a:xfrm flipV="1">
            <a:off x="2586038" y="4087813"/>
            <a:ext cx="227012" cy="43656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5" name="Line 617"/>
          <p:cNvSpPr>
            <a:spLocks noChangeShapeType="1"/>
          </p:cNvSpPr>
          <p:nvPr/>
        </p:nvSpPr>
        <p:spPr bwMode="auto">
          <a:xfrm>
            <a:off x="2709863" y="3825875"/>
            <a:ext cx="163512" cy="120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6" name="Line 618"/>
          <p:cNvSpPr>
            <a:spLocks noChangeShapeType="1"/>
          </p:cNvSpPr>
          <p:nvPr/>
        </p:nvSpPr>
        <p:spPr bwMode="auto">
          <a:xfrm>
            <a:off x="2806700" y="3746500"/>
            <a:ext cx="2794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7" name="Line 619"/>
          <p:cNvSpPr>
            <a:spLocks noChangeShapeType="1"/>
          </p:cNvSpPr>
          <p:nvPr/>
        </p:nvSpPr>
        <p:spPr bwMode="auto">
          <a:xfrm flipV="1">
            <a:off x="3043238" y="3832225"/>
            <a:ext cx="134937" cy="1047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8" name="Line 620"/>
          <p:cNvSpPr>
            <a:spLocks noChangeShapeType="1"/>
          </p:cNvSpPr>
          <p:nvPr/>
        </p:nvSpPr>
        <p:spPr bwMode="auto">
          <a:xfrm>
            <a:off x="1741488" y="3752850"/>
            <a:ext cx="6794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9" name="Line 621"/>
          <p:cNvSpPr>
            <a:spLocks noChangeShapeType="1"/>
          </p:cNvSpPr>
          <p:nvPr/>
        </p:nvSpPr>
        <p:spPr bwMode="auto">
          <a:xfrm>
            <a:off x="2036763" y="2600325"/>
            <a:ext cx="509587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0" name="Line 622"/>
          <p:cNvSpPr>
            <a:spLocks noChangeShapeType="1"/>
          </p:cNvSpPr>
          <p:nvPr/>
        </p:nvSpPr>
        <p:spPr bwMode="auto">
          <a:xfrm>
            <a:off x="1603375" y="2428875"/>
            <a:ext cx="152400" cy="82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1" name="Freeform 623"/>
          <p:cNvSpPr/>
          <p:nvPr/>
        </p:nvSpPr>
        <p:spPr bwMode="auto">
          <a:xfrm>
            <a:off x="923925" y="4435475"/>
            <a:ext cx="2979738" cy="1455738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DDDDDD"/>
          </a:solidFill>
          <a:ln w="9525">
            <a:noFill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2" name="Line 624"/>
          <p:cNvSpPr>
            <a:spLocks noChangeShapeType="1"/>
          </p:cNvSpPr>
          <p:nvPr/>
        </p:nvSpPr>
        <p:spPr bwMode="auto">
          <a:xfrm rot="16200000">
            <a:off x="3159125" y="5172076"/>
            <a:ext cx="523875" cy="1397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3" name="Line 625"/>
          <p:cNvSpPr>
            <a:spLocks noChangeShapeType="1"/>
          </p:cNvSpPr>
          <p:nvPr/>
        </p:nvSpPr>
        <p:spPr bwMode="auto">
          <a:xfrm rot="5400000" flipV="1">
            <a:off x="3305175" y="545306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4" name="Line 626"/>
          <p:cNvSpPr>
            <a:spLocks noChangeShapeType="1"/>
          </p:cNvSpPr>
          <p:nvPr/>
        </p:nvSpPr>
        <p:spPr bwMode="auto">
          <a:xfrm rot="16200000">
            <a:off x="3490913" y="5129213"/>
            <a:ext cx="0" cy="1143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55" name="Group 627"/>
          <p:cNvGrpSpPr/>
          <p:nvPr/>
        </p:nvGrpSpPr>
        <p:grpSpPr bwMode="auto">
          <a:xfrm>
            <a:off x="3070225" y="4838700"/>
            <a:ext cx="501650" cy="234950"/>
            <a:chOff x="4701" y="2996"/>
            <a:chExt cx="316" cy="148"/>
          </a:xfrm>
        </p:grpSpPr>
        <p:sp>
          <p:nvSpPr>
            <p:cNvPr id="556" name="Oval 628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7" name="Line 629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8" name="Line 630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9" name="Rectangle 631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/>
            </a:p>
          </p:txBody>
        </p:sp>
        <p:sp>
          <p:nvSpPr>
            <p:cNvPr id="560" name="Oval 632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61" name="Group 633"/>
            <p:cNvGrpSpPr/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566" name="Line 63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7" name="Line 63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8" name="Line 63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62" name="Group 637"/>
            <p:cNvGrpSpPr/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563" name="Line 638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4" name="Line 639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5" name="Line 640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69" name="Group 641"/>
          <p:cNvGrpSpPr/>
          <p:nvPr/>
        </p:nvGrpSpPr>
        <p:grpSpPr bwMode="auto">
          <a:xfrm>
            <a:off x="2254250" y="4562475"/>
            <a:ext cx="501650" cy="234950"/>
            <a:chOff x="3600" y="219"/>
            <a:chExt cx="360" cy="175"/>
          </a:xfrm>
        </p:grpSpPr>
        <p:sp>
          <p:nvSpPr>
            <p:cNvPr id="570" name="Oval 642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1" name="Line 643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2" name="Line 644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" name="Rectangle 645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/>
            </a:p>
          </p:txBody>
        </p:sp>
        <p:sp>
          <p:nvSpPr>
            <p:cNvPr id="574" name="Oval 646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75" name="Group 647"/>
            <p:cNvGrpSpPr/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580" name="Line 648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1" name="Line 649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2" name="Line 650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76" name="Group 651"/>
            <p:cNvGrpSpPr/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577" name="Line 65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8" name="Line 65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9" name="Line 65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83" name="Group 655"/>
          <p:cNvGrpSpPr/>
          <p:nvPr/>
        </p:nvGrpSpPr>
        <p:grpSpPr bwMode="auto">
          <a:xfrm>
            <a:off x="1589088" y="4867275"/>
            <a:ext cx="501650" cy="234950"/>
            <a:chOff x="3600" y="219"/>
            <a:chExt cx="360" cy="175"/>
          </a:xfrm>
        </p:grpSpPr>
        <p:sp>
          <p:nvSpPr>
            <p:cNvPr id="584" name="Oval 656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5" name="Line 657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6" name="Line 658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7" name="Rectangle 659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/>
            </a:p>
          </p:txBody>
        </p:sp>
        <p:sp>
          <p:nvSpPr>
            <p:cNvPr id="588" name="Oval 660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89" name="Group 661"/>
            <p:cNvGrpSpPr/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594" name="Line 66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5" name="Line 66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6" name="Line 66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90" name="Group 665"/>
            <p:cNvGrpSpPr/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591" name="Line 66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2" name="Line 66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3" name="Line 66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97" name="Line 669"/>
          <p:cNvSpPr>
            <a:spLocks noChangeShapeType="1"/>
          </p:cNvSpPr>
          <p:nvPr/>
        </p:nvSpPr>
        <p:spPr bwMode="auto">
          <a:xfrm>
            <a:off x="2703513" y="4773613"/>
            <a:ext cx="358775" cy="120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8" name="Line 670"/>
          <p:cNvSpPr>
            <a:spLocks noChangeShapeType="1"/>
          </p:cNvSpPr>
          <p:nvPr/>
        </p:nvSpPr>
        <p:spPr bwMode="auto">
          <a:xfrm flipV="1">
            <a:off x="2051050" y="4786313"/>
            <a:ext cx="277813" cy="1095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9" name="Line 671"/>
          <p:cNvSpPr>
            <a:spLocks noChangeShapeType="1"/>
          </p:cNvSpPr>
          <p:nvPr/>
        </p:nvSpPr>
        <p:spPr bwMode="auto">
          <a:xfrm flipV="1">
            <a:off x="2093913" y="4989513"/>
            <a:ext cx="9715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0" name="Line 672"/>
          <p:cNvSpPr>
            <a:spLocks noChangeShapeType="1"/>
          </p:cNvSpPr>
          <p:nvPr/>
        </p:nvSpPr>
        <p:spPr bwMode="auto">
          <a:xfrm flipH="1">
            <a:off x="1389063" y="4735513"/>
            <a:ext cx="254000" cy="4699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1" name="Line 673"/>
          <p:cNvSpPr>
            <a:spLocks noChangeShapeType="1"/>
          </p:cNvSpPr>
          <p:nvPr/>
        </p:nvSpPr>
        <p:spPr bwMode="auto">
          <a:xfrm>
            <a:off x="1414463" y="4786313"/>
            <a:ext cx="1968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2" name="Line 674"/>
          <p:cNvSpPr>
            <a:spLocks noChangeShapeType="1"/>
          </p:cNvSpPr>
          <p:nvPr/>
        </p:nvSpPr>
        <p:spPr bwMode="auto">
          <a:xfrm>
            <a:off x="1274763" y="5122863"/>
            <a:ext cx="153987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3" name="Line 675"/>
          <p:cNvSpPr>
            <a:spLocks noChangeShapeType="1"/>
          </p:cNvSpPr>
          <p:nvPr/>
        </p:nvSpPr>
        <p:spPr bwMode="auto">
          <a:xfrm>
            <a:off x="1527175" y="5202238"/>
            <a:ext cx="490538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4" name="Line 676"/>
          <p:cNvSpPr>
            <a:spLocks noChangeShapeType="1"/>
          </p:cNvSpPr>
          <p:nvPr/>
        </p:nvSpPr>
        <p:spPr bwMode="auto">
          <a:xfrm flipH="1">
            <a:off x="1766888" y="5110163"/>
            <a:ext cx="53975" cy="857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5" name="Line 677"/>
          <p:cNvSpPr>
            <a:spLocks noChangeShapeType="1"/>
          </p:cNvSpPr>
          <p:nvPr/>
        </p:nvSpPr>
        <p:spPr bwMode="auto">
          <a:xfrm>
            <a:off x="1579563" y="5199063"/>
            <a:ext cx="1587" cy="82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6" name="Line 678"/>
          <p:cNvSpPr>
            <a:spLocks noChangeShapeType="1"/>
          </p:cNvSpPr>
          <p:nvPr/>
        </p:nvSpPr>
        <p:spPr bwMode="auto">
          <a:xfrm flipH="1" flipV="1">
            <a:off x="1976438" y="5207000"/>
            <a:ext cx="0" cy="76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7" name="Line 679"/>
          <p:cNvSpPr>
            <a:spLocks noChangeShapeType="1"/>
          </p:cNvSpPr>
          <p:nvPr/>
        </p:nvSpPr>
        <p:spPr bwMode="auto">
          <a:xfrm>
            <a:off x="2057400" y="5065713"/>
            <a:ext cx="503238" cy="2698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8" name="Line 680"/>
          <p:cNvSpPr>
            <a:spLocks noChangeShapeType="1"/>
          </p:cNvSpPr>
          <p:nvPr/>
        </p:nvSpPr>
        <p:spPr bwMode="auto">
          <a:xfrm>
            <a:off x="1506538" y="5000625"/>
            <a:ext cx="80962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09" name="Group 681"/>
          <p:cNvGrpSpPr/>
          <p:nvPr/>
        </p:nvGrpSpPr>
        <p:grpSpPr bwMode="auto">
          <a:xfrm>
            <a:off x="692150" y="1760538"/>
            <a:ext cx="3021013" cy="3981450"/>
            <a:chOff x="-1203" y="1352"/>
            <a:chExt cx="1903" cy="2508"/>
          </a:xfrm>
        </p:grpSpPr>
        <p:grpSp>
          <p:nvGrpSpPr>
            <p:cNvPr id="610" name="Group 682"/>
            <p:cNvGrpSpPr/>
            <p:nvPr/>
          </p:nvGrpSpPr>
          <p:grpSpPr bwMode="auto">
            <a:xfrm>
              <a:off x="-1203" y="1647"/>
              <a:ext cx="436" cy="114"/>
              <a:chOff x="3072" y="739"/>
              <a:chExt cx="652" cy="146"/>
            </a:xfrm>
          </p:grpSpPr>
          <p:pic>
            <p:nvPicPr>
              <p:cNvPr id="647" name="Picture 683" descr="lgv_fqmg[1]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 flipH="1">
                <a:off x="3237" y="739"/>
                <a:ext cx="487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48" name="Line 684"/>
              <p:cNvSpPr>
                <a:spLocks noChangeShapeType="1"/>
              </p:cNvSpPr>
              <p:nvPr/>
            </p:nvSpPr>
            <p:spPr bwMode="auto">
              <a:xfrm flipH="1">
                <a:off x="3104" y="784"/>
                <a:ext cx="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9" name="Line 685"/>
              <p:cNvSpPr>
                <a:spLocks noChangeShapeType="1"/>
              </p:cNvSpPr>
              <p:nvPr/>
            </p:nvSpPr>
            <p:spPr bwMode="auto">
              <a:xfrm flipH="1">
                <a:off x="3072" y="76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pic>
          <p:nvPicPr>
            <p:cNvPr id="611" name="Picture 686" descr="imgyjavg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-1027" y="1466"/>
              <a:ext cx="232" cy="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612" name="Group 687"/>
            <p:cNvGrpSpPr/>
            <p:nvPr/>
          </p:nvGrpSpPr>
          <p:grpSpPr bwMode="auto">
            <a:xfrm>
              <a:off x="-546" y="1352"/>
              <a:ext cx="256" cy="269"/>
              <a:chOff x="2870" y="1518"/>
              <a:chExt cx="292" cy="320"/>
            </a:xfrm>
          </p:grpSpPr>
          <p:graphicFrame>
            <p:nvGraphicFramePr>
              <p:cNvPr id="645" name="Object 13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4" imgW="11601450" imgH="11791950" progId="MS_ClipArt_Gallery.2">
                      <p:embed/>
                    </p:oleObj>
                  </mc:Choice>
                  <mc:Fallback>
                    <p:oleObj name="Clip" r:id="rId4" imgW="11601450" imgH="11791950" progId="MS_ClipArt_Gallery.2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46" name="Object 14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6" imgW="17716500" imgH="16754475" progId="MS_ClipArt_Gallery.2">
                      <p:embed/>
                    </p:oleObj>
                  </mc:Choice>
                  <mc:Fallback>
                    <p:oleObj name="Clip" r:id="rId6" imgW="17716500" imgH="16754475" progId="MS_ClipArt_Gallery.2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13" name="Group 690"/>
            <p:cNvGrpSpPr/>
            <p:nvPr/>
          </p:nvGrpSpPr>
          <p:grpSpPr bwMode="auto">
            <a:xfrm>
              <a:off x="-1002" y="2262"/>
              <a:ext cx="209" cy="224"/>
              <a:chOff x="2870" y="1518"/>
              <a:chExt cx="292" cy="320"/>
            </a:xfrm>
          </p:grpSpPr>
          <p:graphicFrame>
            <p:nvGraphicFramePr>
              <p:cNvPr id="643" name="Object 11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8" imgW="826770" imgH="840105" progId="MS_ClipArt_Gallery.2">
                      <p:embed/>
                    </p:oleObj>
                  </mc:Choice>
                  <mc:Fallback>
                    <p:oleObj name="Clip" r:id="rId8" imgW="826770" imgH="840105" progId="MS_ClipArt_Gallery.2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44" name="Object 12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10" imgW="1268095" imgH="1199515" progId="MS_ClipArt_Gallery.2">
                      <p:embed/>
                    </p:oleObj>
                  </mc:Choice>
                  <mc:Fallback>
                    <p:oleObj name="Clip" r:id="rId10" imgW="1268095" imgH="1199515" progId="MS_ClipArt_Gallery.2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14" name="Object 2"/>
            <p:cNvGraphicFramePr>
              <a:graphicFrameLocks noChangeAspect="1"/>
            </p:cNvGraphicFramePr>
            <p:nvPr/>
          </p:nvGraphicFramePr>
          <p:xfrm>
            <a:off x="-732" y="2289"/>
            <a:ext cx="207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2" imgW="18192750" imgH="15087600" progId="MS_ClipArt_Gallery.2">
                    <p:embed/>
                  </p:oleObj>
                </mc:Choice>
                <mc:Fallback>
                  <p:oleObj name="Clip" r:id="rId12" imgW="18192750" imgH="15087600" progId="MS_ClipArt_Gallery.2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32" y="2289"/>
                          <a:ext cx="207" cy="1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5" name="Group 694"/>
            <p:cNvGrpSpPr/>
            <p:nvPr/>
          </p:nvGrpSpPr>
          <p:grpSpPr bwMode="auto">
            <a:xfrm>
              <a:off x="310" y="3575"/>
              <a:ext cx="125" cy="230"/>
              <a:chOff x="4180" y="783"/>
              <a:chExt cx="150" cy="307"/>
            </a:xfrm>
          </p:grpSpPr>
          <p:sp>
            <p:nvSpPr>
              <p:cNvPr id="635" name="AutoShape 695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6" name="Rectangle 696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7" name="Rectangle 697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8" name="AutoShape 698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9" name="Line 699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0" name="Line 700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1" name="Rectangle 701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2" name="Rectangle 702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616" name="Object 3"/>
            <p:cNvGraphicFramePr>
              <a:graphicFrameLocks noChangeAspect="1"/>
            </p:cNvGraphicFramePr>
            <p:nvPr/>
          </p:nvGraphicFramePr>
          <p:xfrm>
            <a:off x="-975" y="338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4" imgW="1307465" imgH="1083945" progId="MS_ClipArt_Gallery.2">
                    <p:embed/>
                  </p:oleObj>
                </mc:Choice>
                <mc:Fallback>
                  <p:oleObj name="Clip" r:id="rId14" imgW="1307465" imgH="1083945" progId="MS_ClipArt_Gallery.2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975" y="3384"/>
                          <a:ext cx="216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" name="Object 4"/>
            <p:cNvGraphicFramePr>
              <a:graphicFrameLocks noChangeAspect="1"/>
            </p:cNvGraphicFramePr>
            <p:nvPr/>
          </p:nvGraphicFramePr>
          <p:xfrm>
            <a:off x="-871" y="318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6" imgW="1307465" imgH="1083945" progId="MS_ClipArt_Gallery.2">
                    <p:embed/>
                  </p:oleObj>
                </mc:Choice>
                <mc:Fallback>
                  <p:oleObj name="Clip" r:id="rId16" imgW="1307465" imgH="1083945" progId="MS_ClipArt_Gallery.2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871" y="3184"/>
                          <a:ext cx="216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" name="Object 5"/>
            <p:cNvGraphicFramePr>
              <a:graphicFrameLocks noChangeAspect="1"/>
            </p:cNvGraphicFramePr>
            <p:nvPr/>
          </p:nvGraphicFramePr>
          <p:xfrm>
            <a:off x="-703" y="354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7" imgW="1307465" imgH="1083945" progId="MS_ClipArt_Gallery.2">
                    <p:embed/>
                  </p:oleObj>
                </mc:Choice>
                <mc:Fallback>
                  <p:oleObj name="Clip" r:id="rId17" imgW="1307465" imgH="1083945" progId="MS_ClipArt_Gallery.2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03" y="3544"/>
                          <a:ext cx="216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9" name="Object 6"/>
            <p:cNvGraphicFramePr>
              <a:graphicFrameLocks noChangeAspect="1"/>
            </p:cNvGraphicFramePr>
            <p:nvPr/>
          </p:nvGraphicFramePr>
          <p:xfrm>
            <a:off x="-489" y="3546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8" imgW="1307465" imgH="1083945" progId="MS_ClipArt_Gallery.2">
                    <p:embed/>
                  </p:oleObj>
                </mc:Choice>
                <mc:Fallback>
                  <p:oleObj name="Clip" r:id="rId18" imgW="1307465" imgH="1083945" progId="MS_ClipArt_Gallery.2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89" y="3546"/>
                          <a:ext cx="216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20" name="Group 707"/>
            <p:cNvGrpSpPr/>
            <p:nvPr/>
          </p:nvGrpSpPr>
          <p:grpSpPr bwMode="auto">
            <a:xfrm>
              <a:off x="83" y="3625"/>
              <a:ext cx="172" cy="215"/>
              <a:chOff x="2870" y="1518"/>
              <a:chExt cx="292" cy="320"/>
            </a:xfrm>
          </p:grpSpPr>
          <p:graphicFrame>
            <p:nvGraphicFramePr>
              <p:cNvPr id="633" name="Object 9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19" imgW="826770" imgH="840105" progId="MS_ClipArt_Gallery.2">
                      <p:embed/>
                    </p:oleObj>
                  </mc:Choice>
                  <mc:Fallback>
                    <p:oleObj name="Clip" r:id="rId19" imgW="826770" imgH="840105" progId="MS_ClipArt_Gallery.2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34" name="Object 10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20" imgW="1268095" imgH="1199515" progId="MS_ClipArt_Gallery.2">
                      <p:embed/>
                    </p:oleObj>
                  </mc:Choice>
                  <mc:Fallback>
                    <p:oleObj name="Clip" r:id="rId20" imgW="1268095" imgH="1199515" progId="MS_ClipArt_Gallery.2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21" name="Group 710"/>
            <p:cNvGrpSpPr/>
            <p:nvPr/>
          </p:nvGrpSpPr>
          <p:grpSpPr bwMode="auto">
            <a:xfrm>
              <a:off x="-201" y="3657"/>
              <a:ext cx="220" cy="203"/>
              <a:chOff x="2870" y="1518"/>
              <a:chExt cx="292" cy="320"/>
            </a:xfrm>
          </p:grpSpPr>
          <p:graphicFrame>
            <p:nvGraphicFramePr>
              <p:cNvPr id="631" name="Object 7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21" imgW="826770" imgH="840105" progId="MS_ClipArt_Gallery.2">
                      <p:embed/>
                    </p:oleObj>
                  </mc:Choice>
                  <mc:Fallback>
                    <p:oleObj name="Clip" r:id="rId21" imgW="826770" imgH="840105" progId="MS_ClipArt_Gallery.2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32" name="Object 8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22" imgW="1268095" imgH="1199515" progId="MS_ClipArt_Gallery.2">
                      <p:embed/>
                    </p:oleObj>
                  </mc:Choice>
                  <mc:Fallback>
                    <p:oleObj name="Clip" r:id="rId22" imgW="1268095" imgH="1199515" progId="MS_ClipArt_Gallery.2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22" name="Group 713"/>
            <p:cNvGrpSpPr/>
            <p:nvPr/>
          </p:nvGrpSpPr>
          <p:grpSpPr bwMode="auto">
            <a:xfrm>
              <a:off x="569" y="3419"/>
              <a:ext cx="131" cy="258"/>
              <a:chOff x="4180" y="783"/>
              <a:chExt cx="150" cy="307"/>
            </a:xfrm>
          </p:grpSpPr>
          <p:sp>
            <p:nvSpPr>
              <p:cNvPr id="623" name="AutoShape 714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" name="Rectangle 715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5" name="Rectangle 716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6" name="AutoShape 717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7" name="Line 718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8" name="Line 719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9" name="Rectangle 720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0" name="Rectangle 721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650" name="Line 722"/>
          <p:cNvSpPr>
            <a:spLocks noChangeShapeType="1"/>
          </p:cNvSpPr>
          <p:nvPr/>
        </p:nvSpPr>
        <p:spPr bwMode="auto">
          <a:xfrm flipH="1">
            <a:off x="1595438" y="3522663"/>
            <a:ext cx="3175" cy="14446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1" name="Line 723"/>
          <p:cNvSpPr>
            <a:spLocks noChangeShapeType="1"/>
          </p:cNvSpPr>
          <p:nvPr/>
        </p:nvSpPr>
        <p:spPr bwMode="auto">
          <a:xfrm flipV="1">
            <a:off x="2892425" y="2505075"/>
            <a:ext cx="123825" cy="8731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2" name="Line 724"/>
          <p:cNvSpPr>
            <a:spLocks noChangeShapeType="1"/>
          </p:cNvSpPr>
          <p:nvPr/>
        </p:nvSpPr>
        <p:spPr bwMode="auto">
          <a:xfrm>
            <a:off x="2719388" y="2678113"/>
            <a:ext cx="0" cy="82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3" name="Line 725"/>
          <p:cNvSpPr>
            <a:spLocks noChangeShapeType="1"/>
          </p:cNvSpPr>
          <p:nvPr/>
        </p:nvSpPr>
        <p:spPr bwMode="auto">
          <a:xfrm flipV="1">
            <a:off x="2903538" y="2574925"/>
            <a:ext cx="263525" cy="2889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4" name="Line 726"/>
          <p:cNvSpPr>
            <a:spLocks noChangeShapeType="1"/>
          </p:cNvSpPr>
          <p:nvPr/>
        </p:nvSpPr>
        <p:spPr bwMode="auto">
          <a:xfrm>
            <a:off x="3255963" y="2573338"/>
            <a:ext cx="0" cy="196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5" name="Line 727"/>
          <p:cNvSpPr>
            <a:spLocks noChangeShapeType="1"/>
          </p:cNvSpPr>
          <p:nvPr/>
        </p:nvSpPr>
        <p:spPr bwMode="auto">
          <a:xfrm>
            <a:off x="2909888" y="2879725"/>
            <a:ext cx="188912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6" name="Line 728"/>
          <p:cNvSpPr>
            <a:spLocks noChangeShapeType="1"/>
          </p:cNvSpPr>
          <p:nvPr/>
        </p:nvSpPr>
        <p:spPr bwMode="auto">
          <a:xfrm flipV="1">
            <a:off x="1204913" y="3746500"/>
            <a:ext cx="168275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7" name="Line 729"/>
          <p:cNvSpPr>
            <a:spLocks noChangeShapeType="1"/>
          </p:cNvSpPr>
          <p:nvPr/>
        </p:nvSpPr>
        <p:spPr bwMode="auto">
          <a:xfrm flipV="1">
            <a:off x="3324225" y="2273300"/>
            <a:ext cx="238125" cy="1682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8" name="Line 730"/>
          <p:cNvSpPr>
            <a:spLocks noChangeShapeType="1"/>
          </p:cNvSpPr>
          <p:nvPr/>
        </p:nvSpPr>
        <p:spPr bwMode="auto">
          <a:xfrm>
            <a:off x="3463925" y="2870200"/>
            <a:ext cx="1778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9" name="Line 731"/>
          <p:cNvSpPr>
            <a:spLocks noChangeShapeType="1"/>
          </p:cNvSpPr>
          <p:nvPr/>
        </p:nvSpPr>
        <p:spPr bwMode="auto">
          <a:xfrm flipH="1">
            <a:off x="2609850" y="2946400"/>
            <a:ext cx="98425" cy="704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0" name="Line 732"/>
          <p:cNvSpPr>
            <a:spLocks noChangeShapeType="1"/>
          </p:cNvSpPr>
          <p:nvPr/>
        </p:nvSpPr>
        <p:spPr bwMode="auto">
          <a:xfrm flipH="1">
            <a:off x="3200400" y="2946400"/>
            <a:ext cx="111125" cy="7270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61" name="Group 733"/>
          <p:cNvGrpSpPr/>
          <p:nvPr/>
        </p:nvGrpSpPr>
        <p:grpSpPr bwMode="auto">
          <a:xfrm>
            <a:off x="2252663" y="4564063"/>
            <a:ext cx="501650" cy="234950"/>
            <a:chOff x="4701" y="2996"/>
            <a:chExt cx="316" cy="148"/>
          </a:xfrm>
        </p:grpSpPr>
        <p:sp>
          <p:nvSpPr>
            <p:cNvPr id="662" name="Oval 734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3" name="Line 735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4" name="Line 736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" name="Rectangle 737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/>
            </a:p>
          </p:txBody>
        </p:sp>
        <p:sp>
          <p:nvSpPr>
            <p:cNvPr id="666" name="Oval 738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67" name="Group 739"/>
            <p:cNvGrpSpPr/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672" name="Line 74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3" name="Line 74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4" name="Line 74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68" name="Group 743"/>
            <p:cNvGrpSpPr/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669" name="Line 74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0" name="Line 74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1" name="Line 74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675" name="Group 747"/>
          <p:cNvGrpSpPr/>
          <p:nvPr/>
        </p:nvGrpSpPr>
        <p:grpSpPr bwMode="auto">
          <a:xfrm>
            <a:off x="1587500" y="4865688"/>
            <a:ext cx="501650" cy="234950"/>
            <a:chOff x="4701" y="2996"/>
            <a:chExt cx="316" cy="148"/>
          </a:xfrm>
        </p:grpSpPr>
        <p:sp>
          <p:nvSpPr>
            <p:cNvPr id="676" name="Oval 748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7" name="Line 749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8" name="Line 750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9" name="Rectangle 751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/>
            </a:p>
          </p:txBody>
        </p:sp>
        <p:sp>
          <p:nvSpPr>
            <p:cNvPr id="680" name="Oval 752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81" name="Group 753"/>
            <p:cNvGrpSpPr/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686" name="Line 75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7" name="Line 75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8" name="Line 75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82" name="Group 757"/>
            <p:cNvGrpSpPr/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683" name="Line 758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4" name="Line 759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5" name="Line 760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689" name="Group 761"/>
          <p:cNvGrpSpPr/>
          <p:nvPr/>
        </p:nvGrpSpPr>
        <p:grpSpPr bwMode="auto">
          <a:xfrm>
            <a:off x="2417763" y="5051425"/>
            <a:ext cx="290512" cy="404813"/>
            <a:chOff x="4290" y="3130"/>
            <a:chExt cx="183" cy="255"/>
          </a:xfrm>
        </p:grpSpPr>
        <p:pic>
          <p:nvPicPr>
            <p:cNvPr id="690" name="Picture 762" descr="31u_bnrz[1]"/>
            <p:cNvPicPr>
              <a:picLocks noChangeAspect="1" noChangeArrowheads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4343" y="3211"/>
              <a:ext cx="121" cy="174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  <a:headEnd/>
              <a:tailEnd/>
            </a:ln>
          </p:spPr>
        </p:pic>
        <p:sp>
          <p:nvSpPr>
            <p:cNvPr id="691" name="Freeform 763"/>
            <p:cNvSpPr/>
            <p:nvPr/>
          </p:nvSpPr>
          <p:spPr bwMode="auto">
            <a:xfrm>
              <a:off x="4339" y="3143"/>
              <a:ext cx="33" cy="39"/>
            </a:xfrm>
            <a:custGeom>
              <a:avLst/>
              <a:gdLst>
                <a:gd name="T0" fmla="*/ 0 w 199"/>
                <a:gd name="T1" fmla="*/ 0 h 232"/>
                <a:gd name="T2" fmla="*/ 0 w 199"/>
                <a:gd name="T3" fmla="*/ 0 h 232"/>
                <a:gd name="T4" fmla="*/ 0 w 199"/>
                <a:gd name="T5" fmla="*/ 0 h 232"/>
                <a:gd name="T6" fmla="*/ 0 w 199"/>
                <a:gd name="T7" fmla="*/ 0 h 232"/>
                <a:gd name="T8" fmla="*/ 0 w 199"/>
                <a:gd name="T9" fmla="*/ 0 h 232"/>
                <a:gd name="T10" fmla="*/ 0 w 199"/>
                <a:gd name="T11" fmla="*/ 0 h 232"/>
                <a:gd name="T12" fmla="*/ 0 w 199"/>
                <a:gd name="T13" fmla="*/ 0 h 232"/>
                <a:gd name="T14" fmla="*/ 0 w 199"/>
                <a:gd name="T15" fmla="*/ 0 h 232"/>
                <a:gd name="T16" fmla="*/ 0 w 199"/>
                <a:gd name="T17" fmla="*/ 0 h 232"/>
                <a:gd name="T18" fmla="*/ 0 w 199"/>
                <a:gd name="T19" fmla="*/ 0 h 232"/>
                <a:gd name="T20" fmla="*/ 0 w 199"/>
                <a:gd name="T21" fmla="*/ 0 h 232"/>
                <a:gd name="T22" fmla="*/ 0 w 199"/>
                <a:gd name="T23" fmla="*/ 0 h 232"/>
                <a:gd name="T24" fmla="*/ 0 w 199"/>
                <a:gd name="T25" fmla="*/ 0 h 232"/>
                <a:gd name="T26" fmla="*/ 0 w 199"/>
                <a:gd name="T27" fmla="*/ 0 h 232"/>
                <a:gd name="T28" fmla="*/ 0 w 199"/>
                <a:gd name="T29" fmla="*/ 0 h 232"/>
                <a:gd name="T30" fmla="*/ 0 w 199"/>
                <a:gd name="T31" fmla="*/ 0 h 232"/>
                <a:gd name="T32" fmla="*/ 0 w 199"/>
                <a:gd name="T33" fmla="*/ 0 h 232"/>
                <a:gd name="T34" fmla="*/ 0 w 199"/>
                <a:gd name="T35" fmla="*/ 0 h 232"/>
                <a:gd name="T36" fmla="*/ 0 w 199"/>
                <a:gd name="T37" fmla="*/ 0 h 232"/>
                <a:gd name="T38" fmla="*/ 0 w 199"/>
                <a:gd name="T39" fmla="*/ 0 h 232"/>
                <a:gd name="T40" fmla="*/ 0 w 199"/>
                <a:gd name="T41" fmla="*/ 0 h 232"/>
                <a:gd name="T42" fmla="*/ 0 w 199"/>
                <a:gd name="T43" fmla="*/ 0 h 232"/>
                <a:gd name="T44" fmla="*/ 0 w 199"/>
                <a:gd name="T45" fmla="*/ 0 h 232"/>
                <a:gd name="T46" fmla="*/ 0 w 199"/>
                <a:gd name="T47" fmla="*/ 0 h 232"/>
                <a:gd name="T48" fmla="*/ 0 w 199"/>
                <a:gd name="T49" fmla="*/ 0 h 232"/>
                <a:gd name="T50" fmla="*/ 0 w 199"/>
                <a:gd name="T51" fmla="*/ 0 h 232"/>
                <a:gd name="T52" fmla="*/ 0 w 199"/>
                <a:gd name="T53" fmla="*/ 0 h 232"/>
                <a:gd name="T54" fmla="*/ 0 w 199"/>
                <a:gd name="T55" fmla="*/ 0 h 232"/>
                <a:gd name="T56" fmla="*/ 0 w 199"/>
                <a:gd name="T57" fmla="*/ 0 h 232"/>
                <a:gd name="T58" fmla="*/ 0 w 199"/>
                <a:gd name="T59" fmla="*/ 0 h 232"/>
                <a:gd name="T60" fmla="*/ 0 w 199"/>
                <a:gd name="T61" fmla="*/ 0 h 232"/>
                <a:gd name="T62" fmla="*/ 0 w 199"/>
                <a:gd name="T63" fmla="*/ 0 h 232"/>
                <a:gd name="T64" fmla="*/ 0 w 199"/>
                <a:gd name="T65" fmla="*/ 0 h 232"/>
                <a:gd name="T66" fmla="*/ 0 w 199"/>
                <a:gd name="T67" fmla="*/ 0 h 232"/>
                <a:gd name="T68" fmla="*/ 0 w 199"/>
                <a:gd name="T69" fmla="*/ 0 h 232"/>
                <a:gd name="T70" fmla="*/ 0 w 199"/>
                <a:gd name="T71" fmla="*/ 0 h 232"/>
                <a:gd name="T72" fmla="*/ 0 w 199"/>
                <a:gd name="T73" fmla="*/ 0 h 232"/>
                <a:gd name="T74" fmla="*/ 0 w 199"/>
                <a:gd name="T75" fmla="*/ 0 h 232"/>
                <a:gd name="T76" fmla="*/ 0 w 199"/>
                <a:gd name="T77" fmla="*/ 0 h 232"/>
                <a:gd name="T78" fmla="*/ 0 w 199"/>
                <a:gd name="T79" fmla="*/ 0 h 232"/>
                <a:gd name="T80" fmla="*/ 0 w 199"/>
                <a:gd name="T81" fmla="*/ 0 h 232"/>
                <a:gd name="T82" fmla="*/ 0 w 199"/>
                <a:gd name="T83" fmla="*/ 0 h 232"/>
                <a:gd name="T84" fmla="*/ 0 w 199"/>
                <a:gd name="T85" fmla="*/ 0 h 232"/>
                <a:gd name="T86" fmla="*/ 0 w 199"/>
                <a:gd name="T87" fmla="*/ 0 h 232"/>
                <a:gd name="T88" fmla="*/ 0 w 199"/>
                <a:gd name="T89" fmla="*/ 0 h 232"/>
                <a:gd name="T90" fmla="*/ 0 w 199"/>
                <a:gd name="T91" fmla="*/ 0 h 232"/>
                <a:gd name="T92" fmla="*/ 0 w 199"/>
                <a:gd name="T93" fmla="*/ 0 h 232"/>
                <a:gd name="T94" fmla="*/ 0 w 199"/>
                <a:gd name="T95" fmla="*/ 0 h 232"/>
                <a:gd name="T96" fmla="*/ 0 w 199"/>
                <a:gd name="T97" fmla="*/ 0 h 23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99"/>
                <a:gd name="T148" fmla="*/ 0 h 232"/>
                <a:gd name="T149" fmla="*/ 199 w 199"/>
                <a:gd name="T150" fmla="*/ 232 h 23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2" name="Freeform 764"/>
            <p:cNvSpPr/>
            <p:nvPr/>
          </p:nvSpPr>
          <p:spPr bwMode="auto">
            <a:xfrm>
              <a:off x="4395" y="3142"/>
              <a:ext cx="22" cy="30"/>
            </a:xfrm>
            <a:custGeom>
              <a:avLst/>
              <a:gdLst>
                <a:gd name="T0" fmla="*/ 0 w 128"/>
                <a:gd name="T1" fmla="*/ 0 h 180"/>
                <a:gd name="T2" fmla="*/ 0 w 128"/>
                <a:gd name="T3" fmla="*/ 0 h 180"/>
                <a:gd name="T4" fmla="*/ 0 w 128"/>
                <a:gd name="T5" fmla="*/ 0 h 180"/>
                <a:gd name="T6" fmla="*/ 0 w 128"/>
                <a:gd name="T7" fmla="*/ 0 h 180"/>
                <a:gd name="T8" fmla="*/ 0 w 128"/>
                <a:gd name="T9" fmla="*/ 0 h 180"/>
                <a:gd name="T10" fmla="*/ 0 w 128"/>
                <a:gd name="T11" fmla="*/ 0 h 180"/>
                <a:gd name="T12" fmla="*/ 0 w 128"/>
                <a:gd name="T13" fmla="*/ 0 h 180"/>
                <a:gd name="T14" fmla="*/ 0 w 128"/>
                <a:gd name="T15" fmla="*/ 0 h 180"/>
                <a:gd name="T16" fmla="*/ 0 w 128"/>
                <a:gd name="T17" fmla="*/ 0 h 180"/>
                <a:gd name="T18" fmla="*/ 0 w 128"/>
                <a:gd name="T19" fmla="*/ 0 h 180"/>
                <a:gd name="T20" fmla="*/ 0 w 128"/>
                <a:gd name="T21" fmla="*/ 0 h 180"/>
                <a:gd name="T22" fmla="*/ 0 w 128"/>
                <a:gd name="T23" fmla="*/ 0 h 180"/>
                <a:gd name="T24" fmla="*/ 0 w 128"/>
                <a:gd name="T25" fmla="*/ 0 h 180"/>
                <a:gd name="T26" fmla="*/ 0 w 128"/>
                <a:gd name="T27" fmla="*/ 0 h 180"/>
                <a:gd name="T28" fmla="*/ 0 w 128"/>
                <a:gd name="T29" fmla="*/ 0 h 180"/>
                <a:gd name="T30" fmla="*/ 0 w 128"/>
                <a:gd name="T31" fmla="*/ 0 h 180"/>
                <a:gd name="T32" fmla="*/ 0 w 128"/>
                <a:gd name="T33" fmla="*/ 0 h 180"/>
                <a:gd name="T34" fmla="*/ 0 w 128"/>
                <a:gd name="T35" fmla="*/ 0 h 180"/>
                <a:gd name="T36" fmla="*/ 0 w 128"/>
                <a:gd name="T37" fmla="*/ 0 h 180"/>
                <a:gd name="T38" fmla="*/ 0 w 128"/>
                <a:gd name="T39" fmla="*/ 0 h 180"/>
                <a:gd name="T40" fmla="*/ 0 w 128"/>
                <a:gd name="T41" fmla="*/ 0 h 180"/>
                <a:gd name="T42" fmla="*/ 0 w 128"/>
                <a:gd name="T43" fmla="*/ 0 h 180"/>
                <a:gd name="T44" fmla="*/ 0 w 128"/>
                <a:gd name="T45" fmla="*/ 0 h 180"/>
                <a:gd name="T46" fmla="*/ 0 w 128"/>
                <a:gd name="T47" fmla="*/ 0 h 180"/>
                <a:gd name="T48" fmla="*/ 0 w 128"/>
                <a:gd name="T49" fmla="*/ 0 h 180"/>
                <a:gd name="T50" fmla="*/ 0 w 128"/>
                <a:gd name="T51" fmla="*/ 0 h 180"/>
                <a:gd name="T52" fmla="*/ 0 w 128"/>
                <a:gd name="T53" fmla="*/ 0 h 180"/>
                <a:gd name="T54" fmla="*/ 0 w 128"/>
                <a:gd name="T55" fmla="*/ 0 h 180"/>
                <a:gd name="T56" fmla="*/ 0 w 128"/>
                <a:gd name="T57" fmla="*/ 0 h 180"/>
                <a:gd name="T58" fmla="*/ 0 w 128"/>
                <a:gd name="T59" fmla="*/ 0 h 180"/>
                <a:gd name="T60" fmla="*/ 0 w 128"/>
                <a:gd name="T61" fmla="*/ 0 h 180"/>
                <a:gd name="T62" fmla="*/ 0 w 128"/>
                <a:gd name="T63" fmla="*/ 0 h 180"/>
                <a:gd name="T64" fmla="*/ 0 w 128"/>
                <a:gd name="T65" fmla="*/ 0 h 180"/>
                <a:gd name="T66" fmla="*/ 0 w 128"/>
                <a:gd name="T67" fmla="*/ 0 h 180"/>
                <a:gd name="T68" fmla="*/ 0 w 128"/>
                <a:gd name="T69" fmla="*/ 0 h 180"/>
                <a:gd name="T70" fmla="*/ 0 w 128"/>
                <a:gd name="T71" fmla="*/ 0 h 180"/>
                <a:gd name="T72" fmla="*/ 0 w 128"/>
                <a:gd name="T73" fmla="*/ 0 h 180"/>
                <a:gd name="T74" fmla="*/ 0 w 128"/>
                <a:gd name="T75" fmla="*/ 0 h 180"/>
                <a:gd name="T76" fmla="*/ 0 w 128"/>
                <a:gd name="T77" fmla="*/ 0 h 180"/>
                <a:gd name="T78" fmla="*/ 0 w 128"/>
                <a:gd name="T79" fmla="*/ 0 h 180"/>
                <a:gd name="T80" fmla="*/ 0 w 128"/>
                <a:gd name="T81" fmla="*/ 0 h 18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0"/>
                <a:gd name="T125" fmla="*/ 128 w 128"/>
                <a:gd name="T126" fmla="*/ 180 h 18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3" name="Freeform 765"/>
            <p:cNvSpPr/>
            <p:nvPr/>
          </p:nvSpPr>
          <p:spPr bwMode="auto">
            <a:xfrm>
              <a:off x="4318" y="3135"/>
              <a:ext cx="54" cy="63"/>
            </a:xfrm>
            <a:custGeom>
              <a:avLst/>
              <a:gdLst>
                <a:gd name="T0" fmla="*/ 0 w 322"/>
                <a:gd name="T1" fmla="*/ 0 h 378"/>
                <a:gd name="T2" fmla="*/ 0 w 322"/>
                <a:gd name="T3" fmla="*/ 0 h 378"/>
                <a:gd name="T4" fmla="*/ 0 w 322"/>
                <a:gd name="T5" fmla="*/ 0 h 378"/>
                <a:gd name="T6" fmla="*/ 0 w 322"/>
                <a:gd name="T7" fmla="*/ 0 h 378"/>
                <a:gd name="T8" fmla="*/ 0 w 322"/>
                <a:gd name="T9" fmla="*/ 0 h 378"/>
                <a:gd name="T10" fmla="*/ 0 w 322"/>
                <a:gd name="T11" fmla="*/ 0 h 378"/>
                <a:gd name="T12" fmla="*/ 0 w 322"/>
                <a:gd name="T13" fmla="*/ 0 h 378"/>
                <a:gd name="T14" fmla="*/ 0 w 322"/>
                <a:gd name="T15" fmla="*/ 0 h 378"/>
                <a:gd name="T16" fmla="*/ 0 w 322"/>
                <a:gd name="T17" fmla="*/ 0 h 378"/>
                <a:gd name="T18" fmla="*/ 0 w 322"/>
                <a:gd name="T19" fmla="*/ 0 h 378"/>
                <a:gd name="T20" fmla="*/ 0 w 322"/>
                <a:gd name="T21" fmla="*/ 0 h 378"/>
                <a:gd name="T22" fmla="*/ 0 w 322"/>
                <a:gd name="T23" fmla="*/ 0 h 378"/>
                <a:gd name="T24" fmla="*/ 0 w 322"/>
                <a:gd name="T25" fmla="*/ 0 h 378"/>
                <a:gd name="T26" fmla="*/ 0 w 322"/>
                <a:gd name="T27" fmla="*/ 0 h 378"/>
                <a:gd name="T28" fmla="*/ 0 w 322"/>
                <a:gd name="T29" fmla="*/ 0 h 378"/>
                <a:gd name="T30" fmla="*/ 0 w 322"/>
                <a:gd name="T31" fmla="*/ 0 h 378"/>
                <a:gd name="T32" fmla="*/ 0 w 322"/>
                <a:gd name="T33" fmla="*/ 0 h 378"/>
                <a:gd name="T34" fmla="*/ 0 w 322"/>
                <a:gd name="T35" fmla="*/ 0 h 378"/>
                <a:gd name="T36" fmla="*/ 0 w 322"/>
                <a:gd name="T37" fmla="*/ 0 h 378"/>
                <a:gd name="T38" fmla="*/ 0 w 322"/>
                <a:gd name="T39" fmla="*/ 0 h 378"/>
                <a:gd name="T40" fmla="*/ 0 w 322"/>
                <a:gd name="T41" fmla="*/ 0 h 378"/>
                <a:gd name="T42" fmla="*/ 0 w 322"/>
                <a:gd name="T43" fmla="*/ 0 h 378"/>
                <a:gd name="T44" fmla="*/ 0 w 322"/>
                <a:gd name="T45" fmla="*/ 0 h 378"/>
                <a:gd name="T46" fmla="*/ 0 w 322"/>
                <a:gd name="T47" fmla="*/ 0 h 378"/>
                <a:gd name="T48" fmla="*/ 0 w 322"/>
                <a:gd name="T49" fmla="*/ 0 h 378"/>
                <a:gd name="T50" fmla="*/ 0 w 322"/>
                <a:gd name="T51" fmla="*/ 0 h 378"/>
                <a:gd name="T52" fmla="*/ 0 w 322"/>
                <a:gd name="T53" fmla="*/ 0 h 378"/>
                <a:gd name="T54" fmla="*/ 0 w 322"/>
                <a:gd name="T55" fmla="*/ 0 h 378"/>
                <a:gd name="T56" fmla="*/ 0 w 322"/>
                <a:gd name="T57" fmla="*/ 0 h 378"/>
                <a:gd name="T58" fmla="*/ 0 w 322"/>
                <a:gd name="T59" fmla="*/ 0 h 378"/>
                <a:gd name="T60" fmla="*/ 0 w 322"/>
                <a:gd name="T61" fmla="*/ 0 h 378"/>
                <a:gd name="T62" fmla="*/ 0 w 322"/>
                <a:gd name="T63" fmla="*/ 0 h 378"/>
                <a:gd name="T64" fmla="*/ 0 w 322"/>
                <a:gd name="T65" fmla="*/ 0 h 378"/>
                <a:gd name="T66" fmla="*/ 0 w 322"/>
                <a:gd name="T67" fmla="*/ 0 h 378"/>
                <a:gd name="T68" fmla="*/ 0 w 322"/>
                <a:gd name="T69" fmla="*/ 0 h 378"/>
                <a:gd name="T70" fmla="*/ 0 w 322"/>
                <a:gd name="T71" fmla="*/ 0 h 378"/>
                <a:gd name="T72" fmla="*/ 0 w 322"/>
                <a:gd name="T73" fmla="*/ 0 h 378"/>
                <a:gd name="T74" fmla="*/ 0 w 322"/>
                <a:gd name="T75" fmla="*/ 0 h 378"/>
                <a:gd name="T76" fmla="*/ 0 w 322"/>
                <a:gd name="T77" fmla="*/ 0 h 378"/>
                <a:gd name="T78" fmla="*/ 0 w 322"/>
                <a:gd name="T79" fmla="*/ 0 h 378"/>
                <a:gd name="T80" fmla="*/ 0 w 322"/>
                <a:gd name="T81" fmla="*/ 0 h 378"/>
                <a:gd name="T82" fmla="*/ 0 w 322"/>
                <a:gd name="T83" fmla="*/ 0 h 378"/>
                <a:gd name="T84" fmla="*/ 0 w 322"/>
                <a:gd name="T85" fmla="*/ 0 h 378"/>
                <a:gd name="T86" fmla="*/ 0 w 322"/>
                <a:gd name="T87" fmla="*/ 0 h 37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2"/>
                <a:gd name="T133" fmla="*/ 0 h 378"/>
                <a:gd name="T134" fmla="*/ 322 w 322"/>
                <a:gd name="T135" fmla="*/ 378 h 37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4" name="Freeform 766"/>
            <p:cNvSpPr/>
            <p:nvPr/>
          </p:nvSpPr>
          <p:spPr bwMode="auto">
            <a:xfrm>
              <a:off x="4394" y="3133"/>
              <a:ext cx="47" cy="42"/>
            </a:xfrm>
            <a:custGeom>
              <a:avLst/>
              <a:gdLst>
                <a:gd name="T0" fmla="*/ 0 w 283"/>
                <a:gd name="T1" fmla="*/ 0 h 252"/>
                <a:gd name="T2" fmla="*/ 0 w 283"/>
                <a:gd name="T3" fmla="*/ 0 h 252"/>
                <a:gd name="T4" fmla="*/ 0 w 283"/>
                <a:gd name="T5" fmla="*/ 0 h 252"/>
                <a:gd name="T6" fmla="*/ 0 w 283"/>
                <a:gd name="T7" fmla="*/ 0 h 252"/>
                <a:gd name="T8" fmla="*/ 0 w 283"/>
                <a:gd name="T9" fmla="*/ 0 h 252"/>
                <a:gd name="T10" fmla="*/ 0 w 283"/>
                <a:gd name="T11" fmla="*/ 0 h 252"/>
                <a:gd name="T12" fmla="*/ 0 w 283"/>
                <a:gd name="T13" fmla="*/ 0 h 252"/>
                <a:gd name="T14" fmla="*/ 0 w 283"/>
                <a:gd name="T15" fmla="*/ 0 h 252"/>
                <a:gd name="T16" fmla="*/ 0 w 283"/>
                <a:gd name="T17" fmla="*/ 0 h 252"/>
                <a:gd name="T18" fmla="*/ 0 w 283"/>
                <a:gd name="T19" fmla="*/ 0 h 252"/>
                <a:gd name="T20" fmla="*/ 0 w 283"/>
                <a:gd name="T21" fmla="*/ 0 h 252"/>
                <a:gd name="T22" fmla="*/ 0 w 283"/>
                <a:gd name="T23" fmla="*/ 0 h 252"/>
                <a:gd name="T24" fmla="*/ 0 w 283"/>
                <a:gd name="T25" fmla="*/ 0 h 252"/>
                <a:gd name="T26" fmla="*/ 0 w 283"/>
                <a:gd name="T27" fmla="*/ 0 h 252"/>
                <a:gd name="T28" fmla="*/ 0 w 283"/>
                <a:gd name="T29" fmla="*/ 0 h 252"/>
                <a:gd name="T30" fmla="*/ 0 w 283"/>
                <a:gd name="T31" fmla="*/ 0 h 252"/>
                <a:gd name="T32" fmla="*/ 0 w 283"/>
                <a:gd name="T33" fmla="*/ 0 h 252"/>
                <a:gd name="T34" fmla="*/ 0 w 283"/>
                <a:gd name="T35" fmla="*/ 0 h 252"/>
                <a:gd name="T36" fmla="*/ 0 w 283"/>
                <a:gd name="T37" fmla="*/ 0 h 252"/>
                <a:gd name="T38" fmla="*/ 0 w 283"/>
                <a:gd name="T39" fmla="*/ 0 h 252"/>
                <a:gd name="T40" fmla="*/ 0 w 283"/>
                <a:gd name="T41" fmla="*/ 0 h 252"/>
                <a:gd name="T42" fmla="*/ 0 w 283"/>
                <a:gd name="T43" fmla="*/ 0 h 252"/>
                <a:gd name="T44" fmla="*/ 0 w 283"/>
                <a:gd name="T45" fmla="*/ 0 h 252"/>
                <a:gd name="T46" fmla="*/ 0 w 283"/>
                <a:gd name="T47" fmla="*/ 0 h 252"/>
                <a:gd name="T48" fmla="*/ 0 w 283"/>
                <a:gd name="T49" fmla="*/ 0 h 252"/>
                <a:gd name="T50" fmla="*/ 0 w 283"/>
                <a:gd name="T51" fmla="*/ 0 h 252"/>
                <a:gd name="T52" fmla="*/ 0 w 283"/>
                <a:gd name="T53" fmla="*/ 0 h 252"/>
                <a:gd name="T54" fmla="*/ 0 w 283"/>
                <a:gd name="T55" fmla="*/ 0 h 252"/>
                <a:gd name="T56" fmla="*/ 0 w 283"/>
                <a:gd name="T57" fmla="*/ 0 h 252"/>
                <a:gd name="T58" fmla="*/ 0 w 283"/>
                <a:gd name="T59" fmla="*/ 0 h 252"/>
                <a:gd name="T60" fmla="*/ 0 w 283"/>
                <a:gd name="T61" fmla="*/ 0 h 252"/>
                <a:gd name="T62" fmla="*/ 0 w 283"/>
                <a:gd name="T63" fmla="*/ 0 h 252"/>
                <a:gd name="T64" fmla="*/ 0 w 283"/>
                <a:gd name="T65" fmla="*/ 0 h 252"/>
                <a:gd name="T66" fmla="*/ 0 w 283"/>
                <a:gd name="T67" fmla="*/ 0 h 252"/>
                <a:gd name="T68" fmla="*/ 0 w 283"/>
                <a:gd name="T69" fmla="*/ 0 h 252"/>
                <a:gd name="T70" fmla="*/ 0 w 283"/>
                <a:gd name="T71" fmla="*/ 0 h 252"/>
                <a:gd name="T72" fmla="*/ 0 w 283"/>
                <a:gd name="T73" fmla="*/ 0 h 252"/>
                <a:gd name="T74" fmla="*/ 0 w 283"/>
                <a:gd name="T75" fmla="*/ 0 h 252"/>
                <a:gd name="T76" fmla="*/ 0 w 283"/>
                <a:gd name="T77" fmla="*/ 0 h 252"/>
                <a:gd name="T78" fmla="*/ 0 w 283"/>
                <a:gd name="T79" fmla="*/ 0 h 252"/>
                <a:gd name="T80" fmla="*/ 0 w 283"/>
                <a:gd name="T81" fmla="*/ 0 h 252"/>
                <a:gd name="T82" fmla="*/ 0 w 283"/>
                <a:gd name="T83" fmla="*/ 0 h 252"/>
                <a:gd name="T84" fmla="*/ 0 w 283"/>
                <a:gd name="T85" fmla="*/ 0 h 252"/>
                <a:gd name="T86" fmla="*/ 0 w 283"/>
                <a:gd name="T87" fmla="*/ 0 h 252"/>
                <a:gd name="T88" fmla="*/ 0 w 283"/>
                <a:gd name="T89" fmla="*/ 0 h 252"/>
                <a:gd name="T90" fmla="*/ 0 w 283"/>
                <a:gd name="T91" fmla="*/ 0 h 252"/>
                <a:gd name="T92" fmla="*/ 0 w 283"/>
                <a:gd name="T93" fmla="*/ 0 h 252"/>
                <a:gd name="T94" fmla="*/ 0 w 283"/>
                <a:gd name="T95" fmla="*/ 0 h 252"/>
                <a:gd name="T96" fmla="*/ 0 w 283"/>
                <a:gd name="T97" fmla="*/ 0 h 252"/>
                <a:gd name="T98" fmla="*/ 0 w 283"/>
                <a:gd name="T99" fmla="*/ 0 h 252"/>
                <a:gd name="T100" fmla="*/ 0 w 283"/>
                <a:gd name="T101" fmla="*/ 0 h 252"/>
                <a:gd name="T102" fmla="*/ 0 w 283"/>
                <a:gd name="T103" fmla="*/ 0 h 252"/>
                <a:gd name="T104" fmla="*/ 0 w 283"/>
                <a:gd name="T105" fmla="*/ 0 h 252"/>
                <a:gd name="T106" fmla="*/ 0 w 283"/>
                <a:gd name="T107" fmla="*/ 0 h 252"/>
                <a:gd name="T108" fmla="*/ 0 w 283"/>
                <a:gd name="T109" fmla="*/ 0 h 252"/>
                <a:gd name="T110" fmla="*/ 0 w 283"/>
                <a:gd name="T111" fmla="*/ 0 h 252"/>
                <a:gd name="T112" fmla="*/ 0 w 283"/>
                <a:gd name="T113" fmla="*/ 0 h 252"/>
                <a:gd name="T114" fmla="*/ 0 w 283"/>
                <a:gd name="T115" fmla="*/ 0 h 252"/>
                <a:gd name="T116" fmla="*/ 0 w 283"/>
                <a:gd name="T117" fmla="*/ 0 h 252"/>
                <a:gd name="T118" fmla="*/ 0 w 283"/>
                <a:gd name="T119" fmla="*/ 0 h 252"/>
                <a:gd name="T120" fmla="*/ 0 w 283"/>
                <a:gd name="T121" fmla="*/ 0 h 2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3"/>
                <a:gd name="T184" fmla="*/ 0 h 252"/>
                <a:gd name="T185" fmla="*/ 283 w 283"/>
                <a:gd name="T186" fmla="*/ 252 h 25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5" name="Freeform 767"/>
            <p:cNvSpPr/>
            <p:nvPr/>
          </p:nvSpPr>
          <p:spPr bwMode="auto">
            <a:xfrm>
              <a:off x="4298" y="3153"/>
              <a:ext cx="19" cy="39"/>
            </a:xfrm>
            <a:custGeom>
              <a:avLst/>
              <a:gdLst>
                <a:gd name="T0" fmla="*/ 0 w 114"/>
                <a:gd name="T1" fmla="*/ 0 h 238"/>
                <a:gd name="T2" fmla="*/ 0 w 114"/>
                <a:gd name="T3" fmla="*/ 0 h 238"/>
                <a:gd name="T4" fmla="*/ 0 w 114"/>
                <a:gd name="T5" fmla="*/ 0 h 238"/>
                <a:gd name="T6" fmla="*/ 0 w 114"/>
                <a:gd name="T7" fmla="*/ 0 h 238"/>
                <a:gd name="T8" fmla="*/ 0 w 114"/>
                <a:gd name="T9" fmla="*/ 0 h 238"/>
                <a:gd name="T10" fmla="*/ 0 w 114"/>
                <a:gd name="T11" fmla="*/ 0 h 238"/>
                <a:gd name="T12" fmla="*/ 0 w 114"/>
                <a:gd name="T13" fmla="*/ 0 h 238"/>
                <a:gd name="T14" fmla="*/ 0 w 114"/>
                <a:gd name="T15" fmla="*/ 0 h 238"/>
                <a:gd name="T16" fmla="*/ 0 w 114"/>
                <a:gd name="T17" fmla="*/ 0 h 238"/>
                <a:gd name="T18" fmla="*/ 0 w 114"/>
                <a:gd name="T19" fmla="*/ 0 h 238"/>
                <a:gd name="T20" fmla="*/ 0 w 114"/>
                <a:gd name="T21" fmla="*/ 0 h 238"/>
                <a:gd name="T22" fmla="*/ 0 w 114"/>
                <a:gd name="T23" fmla="*/ 0 h 238"/>
                <a:gd name="T24" fmla="*/ 0 w 114"/>
                <a:gd name="T25" fmla="*/ 0 h 238"/>
                <a:gd name="T26" fmla="*/ 0 w 114"/>
                <a:gd name="T27" fmla="*/ 0 h 238"/>
                <a:gd name="T28" fmla="*/ 0 w 114"/>
                <a:gd name="T29" fmla="*/ 0 h 238"/>
                <a:gd name="T30" fmla="*/ 0 w 114"/>
                <a:gd name="T31" fmla="*/ 0 h 238"/>
                <a:gd name="T32" fmla="*/ 0 w 114"/>
                <a:gd name="T33" fmla="*/ 0 h 238"/>
                <a:gd name="T34" fmla="*/ 0 w 114"/>
                <a:gd name="T35" fmla="*/ 0 h 238"/>
                <a:gd name="T36" fmla="*/ 0 w 114"/>
                <a:gd name="T37" fmla="*/ 0 h 238"/>
                <a:gd name="T38" fmla="*/ 0 w 114"/>
                <a:gd name="T39" fmla="*/ 0 h 238"/>
                <a:gd name="T40" fmla="*/ 0 w 114"/>
                <a:gd name="T41" fmla="*/ 0 h 238"/>
                <a:gd name="T42" fmla="*/ 0 w 114"/>
                <a:gd name="T43" fmla="*/ 0 h 238"/>
                <a:gd name="T44" fmla="*/ 0 w 114"/>
                <a:gd name="T45" fmla="*/ 0 h 238"/>
                <a:gd name="T46" fmla="*/ 0 w 114"/>
                <a:gd name="T47" fmla="*/ 0 h 238"/>
                <a:gd name="T48" fmla="*/ 0 w 114"/>
                <a:gd name="T49" fmla="*/ 0 h 238"/>
                <a:gd name="T50" fmla="*/ 0 w 114"/>
                <a:gd name="T51" fmla="*/ 0 h 238"/>
                <a:gd name="T52" fmla="*/ 0 w 114"/>
                <a:gd name="T53" fmla="*/ 0 h 238"/>
                <a:gd name="T54" fmla="*/ 0 w 114"/>
                <a:gd name="T55" fmla="*/ 0 h 238"/>
                <a:gd name="T56" fmla="*/ 0 w 114"/>
                <a:gd name="T57" fmla="*/ 0 h 238"/>
                <a:gd name="T58" fmla="*/ 0 w 114"/>
                <a:gd name="T59" fmla="*/ 0 h 238"/>
                <a:gd name="T60" fmla="*/ 0 w 114"/>
                <a:gd name="T61" fmla="*/ 0 h 238"/>
                <a:gd name="T62" fmla="*/ 0 w 114"/>
                <a:gd name="T63" fmla="*/ 0 h 238"/>
                <a:gd name="T64" fmla="*/ 0 w 114"/>
                <a:gd name="T65" fmla="*/ 0 h 238"/>
                <a:gd name="T66" fmla="*/ 0 w 114"/>
                <a:gd name="T67" fmla="*/ 0 h 238"/>
                <a:gd name="T68" fmla="*/ 0 w 114"/>
                <a:gd name="T69" fmla="*/ 0 h 238"/>
                <a:gd name="T70" fmla="*/ 0 w 114"/>
                <a:gd name="T71" fmla="*/ 0 h 238"/>
                <a:gd name="T72" fmla="*/ 0 w 114"/>
                <a:gd name="T73" fmla="*/ 0 h 238"/>
                <a:gd name="T74" fmla="*/ 0 w 114"/>
                <a:gd name="T75" fmla="*/ 0 h 238"/>
                <a:gd name="T76" fmla="*/ 0 w 114"/>
                <a:gd name="T77" fmla="*/ 0 h 238"/>
                <a:gd name="T78" fmla="*/ 0 w 114"/>
                <a:gd name="T79" fmla="*/ 0 h 238"/>
                <a:gd name="T80" fmla="*/ 0 w 114"/>
                <a:gd name="T81" fmla="*/ 0 h 2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4"/>
                <a:gd name="T124" fmla="*/ 0 h 238"/>
                <a:gd name="T125" fmla="*/ 114 w 114"/>
                <a:gd name="T126" fmla="*/ 238 h 2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" name="Freeform 768"/>
            <p:cNvSpPr/>
            <p:nvPr/>
          </p:nvSpPr>
          <p:spPr bwMode="auto">
            <a:xfrm>
              <a:off x="4432" y="3130"/>
              <a:ext cx="41" cy="52"/>
            </a:xfrm>
            <a:custGeom>
              <a:avLst/>
              <a:gdLst>
                <a:gd name="T0" fmla="*/ 0 w 246"/>
                <a:gd name="T1" fmla="*/ 0 h 310"/>
                <a:gd name="T2" fmla="*/ 0 w 246"/>
                <a:gd name="T3" fmla="*/ 0 h 310"/>
                <a:gd name="T4" fmla="*/ 0 w 246"/>
                <a:gd name="T5" fmla="*/ 0 h 310"/>
                <a:gd name="T6" fmla="*/ 0 w 246"/>
                <a:gd name="T7" fmla="*/ 0 h 310"/>
                <a:gd name="T8" fmla="*/ 0 w 246"/>
                <a:gd name="T9" fmla="*/ 0 h 310"/>
                <a:gd name="T10" fmla="*/ 0 w 246"/>
                <a:gd name="T11" fmla="*/ 0 h 310"/>
                <a:gd name="T12" fmla="*/ 0 w 246"/>
                <a:gd name="T13" fmla="*/ 0 h 310"/>
                <a:gd name="T14" fmla="*/ 0 w 246"/>
                <a:gd name="T15" fmla="*/ 0 h 310"/>
                <a:gd name="T16" fmla="*/ 0 w 246"/>
                <a:gd name="T17" fmla="*/ 0 h 310"/>
                <a:gd name="T18" fmla="*/ 0 w 246"/>
                <a:gd name="T19" fmla="*/ 0 h 310"/>
                <a:gd name="T20" fmla="*/ 0 w 246"/>
                <a:gd name="T21" fmla="*/ 0 h 310"/>
                <a:gd name="T22" fmla="*/ 0 w 246"/>
                <a:gd name="T23" fmla="*/ 0 h 310"/>
                <a:gd name="T24" fmla="*/ 0 w 246"/>
                <a:gd name="T25" fmla="*/ 0 h 310"/>
                <a:gd name="T26" fmla="*/ 0 w 246"/>
                <a:gd name="T27" fmla="*/ 0 h 310"/>
                <a:gd name="T28" fmla="*/ 0 w 246"/>
                <a:gd name="T29" fmla="*/ 0 h 310"/>
                <a:gd name="T30" fmla="*/ 0 w 246"/>
                <a:gd name="T31" fmla="*/ 0 h 310"/>
                <a:gd name="T32" fmla="*/ 0 w 246"/>
                <a:gd name="T33" fmla="*/ 0 h 310"/>
                <a:gd name="T34" fmla="*/ 0 w 246"/>
                <a:gd name="T35" fmla="*/ 0 h 310"/>
                <a:gd name="T36" fmla="*/ 0 w 246"/>
                <a:gd name="T37" fmla="*/ 0 h 310"/>
                <a:gd name="T38" fmla="*/ 0 w 246"/>
                <a:gd name="T39" fmla="*/ 0 h 310"/>
                <a:gd name="T40" fmla="*/ 0 w 246"/>
                <a:gd name="T41" fmla="*/ 0 h 310"/>
                <a:gd name="T42" fmla="*/ 0 w 246"/>
                <a:gd name="T43" fmla="*/ 0 h 310"/>
                <a:gd name="T44" fmla="*/ 0 w 246"/>
                <a:gd name="T45" fmla="*/ 0 h 310"/>
                <a:gd name="T46" fmla="*/ 0 w 246"/>
                <a:gd name="T47" fmla="*/ 0 h 310"/>
                <a:gd name="T48" fmla="*/ 0 w 246"/>
                <a:gd name="T49" fmla="*/ 0 h 310"/>
                <a:gd name="T50" fmla="*/ 0 w 246"/>
                <a:gd name="T51" fmla="*/ 0 h 310"/>
                <a:gd name="T52" fmla="*/ 0 w 246"/>
                <a:gd name="T53" fmla="*/ 0 h 310"/>
                <a:gd name="T54" fmla="*/ 0 w 246"/>
                <a:gd name="T55" fmla="*/ 0 h 310"/>
                <a:gd name="T56" fmla="*/ 0 w 246"/>
                <a:gd name="T57" fmla="*/ 0 h 310"/>
                <a:gd name="T58" fmla="*/ 0 w 246"/>
                <a:gd name="T59" fmla="*/ 0 h 310"/>
                <a:gd name="T60" fmla="*/ 0 w 246"/>
                <a:gd name="T61" fmla="*/ 0 h 310"/>
                <a:gd name="T62" fmla="*/ 0 w 246"/>
                <a:gd name="T63" fmla="*/ 0 h 310"/>
                <a:gd name="T64" fmla="*/ 0 w 246"/>
                <a:gd name="T65" fmla="*/ 0 h 310"/>
                <a:gd name="T66" fmla="*/ 0 w 246"/>
                <a:gd name="T67" fmla="*/ 0 h 310"/>
                <a:gd name="T68" fmla="*/ 0 w 246"/>
                <a:gd name="T69" fmla="*/ 0 h 310"/>
                <a:gd name="T70" fmla="*/ 0 w 246"/>
                <a:gd name="T71" fmla="*/ 0 h 310"/>
                <a:gd name="T72" fmla="*/ 0 w 246"/>
                <a:gd name="T73" fmla="*/ 0 h 310"/>
                <a:gd name="T74" fmla="*/ 0 w 246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6"/>
                <a:gd name="T115" fmla="*/ 0 h 310"/>
                <a:gd name="T116" fmla="*/ 246 w 246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" name="Freeform 769"/>
            <p:cNvSpPr/>
            <p:nvPr/>
          </p:nvSpPr>
          <p:spPr bwMode="auto">
            <a:xfrm>
              <a:off x="4387" y="3191"/>
              <a:ext cx="14" cy="31"/>
            </a:xfrm>
            <a:custGeom>
              <a:avLst/>
              <a:gdLst>
                <a:gd name="T0" fmla="*/ 0 w 83"/>
                <a:gd name="T1" fmla="*/ 0 h 187"/>
                <a:gd name="T2" fmla="*/ 0 w 83"/>
                <a:gd name="T3" fmla="*/ 0 h 187"/>
                <a:gd name="T4" fmla="*/ 0 w 83"/>
                <a:gd name="T5" fmla="*/ 0 h 187"/>
                <a:gd name="T6" fmla="*/ 0 w 83"/>
                <a:gd name="T7" fmla="*/ 0 h 187"/>
                <a:gd name="T8" fmla="*/ 0 w 83"/>
                <a:gd name="T9" fmla="*/ 0 h 187"/>
                <a:gd name="T10" fmla="*/ 0 w 83"/>
                <a:gd name="T11" fmla="*/ 0 h 187"/>
                <a:gd name="T12" fmla="*/ 0 w 83"/>
                <a:gd name="T13" fmla="*/ 0 h 187"/>
                <a:gd name="T14" fmla="*/ 0 w 83"/>
                <a:gd name="T15" fmla="*/ 0 h 187"/>
                <a:gd name="T16" fmla="*/ 0 w 83"/>
                <a:gd name="T17" fmla="*/ 0 h 187"/>
                <a:gd name="T18" fmla="*/ 0 w 83"/>
                <a:gd name="T19" fmla="*/ 0 h 187"/>
                <a:gd name="T20" fmla="*/ 0 w 83"/>
                <a:gd name="T21" fmla="*/ 0 h 187"/>
                <a:gd name="T22" fmla="*/ 0 w 83"/>
                <a:gd name="T23" fmla="*/ 0 h 187"/>
                <a:gd name="T24" fmla="*/ 0 w 83"/>
                <a:gd name="T25" fmla="*/ 0 h 187"/>
                <a:gd name="T26" fmla="*/ 0 w 83"/>
                <a:gd name="T27" fmla="*/ 0 h 187"/>
                <a:gd name="T28" fmla="*/ 0 w 83"/>
                <a:gd name="T29" fmla="*/ 0 h 187"/>
                <a:gd name="T30" fmla="*/ 0 w 83"/>
                <a:gd name="T31" fmla="*/ 0 h 187"/>
                <a:gd name="T32" fmla="*/ 0 w 83"/>
                <a:gd name="T33" fmla="*/ 0 h 187"/>
                <a:gd name="T34" fmla="*/ 0 w 83"/>
                <a:gd name="T35" fmla="*/ 0 h 187"/>
                <a:gd name="T36" fmla="*/ 0 w 83"/>
                <a:gd name="T37" fmla="*/ 0 h 187"/>
                <a:gd name="T38" fmla="*/ 0 w 83"/>
                <a:gd name="T39" fmla="*/ 0 h 187"/>
                <a:gd name="T40" fmla="*/ 0 w 83"/>
                <a:gd name="T41" fmla="*/ 0 h 187"/>
                <a:gd name="T42" fmla="*/ 0 w 83"/>
                <a:gd name="T43" fmla="*/ 0 h 187"/>
                <a:gd name="T44" fmla="*/ 0 w 83"/>
                <a:gd name="T45" fmla="*/ 0 h 187"/>
                <a:gd name="T46" fmla="*/ 0 w 83"/>
                <a:gd name="T47" fmla="*/ 0 h 187"/>
                <a:gd name="T48" fmla="*/ 0 w 83"/>
                <a:gd name="T49" fmla="*/ 0 h 1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3"/>
                <a:gd name="T76" fmla="*/ 0 h 187"/>
                <a:gd name="T77" fmla="*/ 83 w 83"/>
                <a:gd name="T78" fmla="*/ 187 h 18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8" name="Freeform 770"/>
            <p:cNvSpPr/>
            <p:nvPr/>
          </p:nvSpPr>
          <p:spPr bwMode="auto">
            <a:xfrm>
              <a:off x="4381" y="3174"/>
              <a:ext cx="7" cy="16"/>
            </a:xfrm>
            <a:custGeom>
              <a:avLst/>
              <a:gdLst>
                <a:gd name="T0" fmla="*/ 0 w 44"/>
                <a:gd name="T1" fmla="*/ 0 h 94"/>
                <a:gd name="T2" fmla="*/ 0 w 44"/>
                <a:gd name="T3" fmla="*/ 0 h 94"/>
                <a:gd name="T4" fmla="*/ 0 w 44"/>
                <a:gd name="T5" fmla="*/ 0 h 94"/>
                <a:gd name="T6" fmla="*/ 0 w 44"/>
                <a:gd name="T7" fmla="*/ 0 h 94"/>
                <a:gd name="T8" fmla="*/ 0 w 44"/>
                <a:gd name="T9" fmla="*/ 0 h 94"/>
                <a:gd name="T10" fmla="*/ 0 w 44"/>
                <a:gd name="T11" fmla="*/ 0 h 94"/>
                <a:gd name="T12" fmla="*/ 0 w 44"/>
                <a:gd name="T13" fmla="*/ 0 h 94"/>
                <a:gd name="T14" fmla="*/ 0 w 44"/>
                <a:gd name="T15" fmla="*/ 0 h 94"/>
                <a:gd name="T16" fmla="*/ 0 w 44"/>
                <a:gd name="T17" fmla="*/ 0 h 94"/>
                <a:gd name="T18" fmla="*/ 0 w 44"/>
                <a:gd name="T19" fmla="*/ 0 h 94"/>
                <a:gd name="T20" fmla="*/ 0 w 44"/>
                <a:gd name="T21" fmla="*/ 0 h 94"/>
                <a:gd name="T22" fmla="*/ 0 w 44"/>
                <a:gd name="T23" fmla="*/ 0 h 94"/>
                <a:gd name="T24" fmla="*/ 0 w 44"/>
                <a:gd name="T25" fmla="*/ 0 h 94"/>
                <a:gd name="T26" fmla="*/ 0 w 44"/>
                <a:gd name="T27" fmla="*/ 0 h 94"/>
                <a:gd name="T28" fmla="*/ 0 w 44"/>
                <a:gd name="T29" fmla="*/ 0 h 94"/>
                <a:gd name="T30" fmla="*/ 0 w 44"/>
                <a:gd name="T31" fmla="*/ 0 h 94"/>
                <a:gd name="T32" fmla="*/ 0 w 44"/>
                <a:gd name="T33" fmla="*/ 0 h 94"/>
                <a:gd name="T34" fmla="*/ 0 w 44"/>
                <a:gd name="T35" fmla="*/ 0 h 94"/>
                <a:gd name="T36" fmla="*/ 0 w 44"/>
                <a:gd name="T37" fmla="*/ 0 h 94"/>
                <a:gd name="T38" fmla="*/ 0 w 44"/>
                <a:gd name="T39" fmla="*/ 0 h 94"/>
                <a:gd name="T40" fmla="*/ 0 w 44"/>
                <a:gd name="T41" fmla="*/ 0 h 9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"/>
                <a:gd name="T64" fmla="*/ 0 h 94"/>
                <a:gd name="T65" fmla="*/ 44 w 44"/>
                <a:gd name="T66" fmla="*/ 94 h 9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9" name="Freeform 771"/>
            <p:cNvSpPr/>
            <p:nvPr/>
          </p:nvSpPr>
          <p:spPr bwMode="auto">
            <a:xfrm>
              <a:off x="4375" y="3163"/>
              <a:ext cx="6" cy="9"/>
            </a:xfrm>
            <a:custGeom>
              <a:avLst/>
              <a:gdLst>
                <a:gd name="T0" fmla="*/ 0 w 38"/>
                <a:gd name="T1" fmla="*/ 0 h 54"/>
                <a:gd name="T2" fmla="*/ 0 w 38"/>
                <a:gd name="T3" fmla="*/ 0 h 54"/>
                <a:gd name="T4" fmla="*/ 0 w 38"/>
                <a:gd name="T5" fmla="*/ 0 h 54"/>
                <a:gd name="T6" fmla="*/ 0 w 38"/>
                <a:gd name="T7" fmla="*/ 0 h 54"/>
                <a:gd name="T8" fmla="*/ 0 w 38"/>
                <a:gd name="T9" fmla="*/ 0 h 54"/>
                <a:gd name="T10" fmla="*/ 0 w 38"/>
                <a:gd name="T11" fmla="*/ 0 h 54"/>
                <a:gd name="T12" fmla="*/ 0 w 38"/>
                <a:gd name="T13" fmla="*/ 0 h 54"/>
                <a:gd name="T14" fmla="*/ 0 w 38"/>
                <a:gd name="T15" fmla="*/ 0 h 54"/>
                <a:gd name="T16" fmla="*/ 0 w 38"/>
                <a:gd name="T17" fmla="*/ 0 h 54"/>
                <a:gd name="T18" fmla="*/ 0 w 38"/>
                <a:gd name="T19" fmla="*/ 0 h 54"/>
                <a:gd name="T20" fmla="*/ 0 w 38"/>
                <a:gd name="T21" fmla="*/ 0 h 54"/>
                <a:gd name="T22" fmla="*/ 0 w 38"/>
                <a:gd name="T23" fmla="*/ 0 h 54"/>
                <a:gd name="T24" fmla="*/ 0 w 38"/>
                <a:gd name="T25" fmla="*/ 0 h 54"/>
                <a:gd name="T26" fmla="*/ 0 w 38"/>
                <a:gd name="T27" fmla="*/ 0 h 54"/>
                <a:gd name="T28" fmla="*/ 0 w 38"/>
                <a:gd name="T29" fmla="*/ 0 h 54"/>
                <a:gd name="T30" fmla="*/ 0 w 38"/>
                <a:gd name="T31" fmla="*/ 0 h 54"/>
                <a:gd name="T32" fmla="*/ 0 w 38"/>
                <a:gd name="T33" fmla="*/ 0 h 54"/>
                <a:gd name="T34" fmla="*/ 0 w 38"/>
                <a:gd name="T35" fmla="*/ 0 h 54"/>
                <a:gd name="T36" fmla="*/ 0 w 38"/>
                <a:gd name="T37" fmla="*/ 0 h 54"/>
                <a:gd name="T38" fmla="*/ 0 w 38"/>
                <a:gd name="T39" fmla="*/ 0 h 54"/>
                <a:gd name="T40" fmla="*/ 0 w 38"/>
                <a:gd name="T41" fmla="*/ 0 h 54"/>
                <a:gd name="T42" fmla="*/ 0 w 38"/>
                <a:gd name="T43" fmla="*/ 0 h 54"/>
                <a:gd name="T44" fmla="*/ 0 w 38"/>
                <a:gd name="T45" fmla="*/ 0 h 54"/>
                <a:gd name="T46" fmla="*/ 0 w 38"/>
                <a:gd name="T47" fmla="*/ 0 h 54"/>
                <a:gd name="T48" fmla="*/ 0 w 38"/>
                <a:gd name="T49" fmla="*/ 0 h 5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"/>
                <a:gd name="T76" fmla="*/ 0 h 54"/>
                <a:gd name="T77" fmla="*/ 38 w 38"/>
                <a:gd name="T78" fmla="*/ 54 h 5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0" name="Freeform 772"/>
            <p:cNvSpPr/>
            <p:nvPr/>
          </p:nvSpPr>
          <p:spPr bwMode="auto">
            <a:xfrm>
              <a:off x="4370" y="3155"/>
              <a:ext cx="8" cy="6"/>
            </a:xfrm>
            <a:custGeom>
              <a:avLst/>
              <a:gdLst>
                <a:gd name="T0" fmla="*/ 0 w 52"/>
                <a:gd name="T1" fmla="*/ 0 h 36"/>
                <a:gd name="T2" fmla="*/ 0 w 52"/>
                <a:gd name="T3" fmla="*/ 0 h 36"/>
                <a:gd name="T4" fmla="*/ 0 w 52"/>
                <a:gd name="T5" fmla="*/ 0 h 36"/>
                <a:gd name="T6" fmla="*/ 0 w 52"/>
                <a:gd name="T7" fmla="*/ 0 h 36"/>
                <a:gd name="T8" fmla="*/ 0 w 52"/>
                <a:gd name="T9" fmla="*/ 0 h 36"/>
                <a:gd name="T10" fmla="*/ 0 w 52"/>
                <a:gd name="T11" fmla="*/ 0 h 36"/>
                <a:gd name="T12" fmla="*/ 0 w 52"/>
                <a:gd name="T13" fmla="*/ 0 h 36"/>
                <a:gd name="T14" fmla="*/ 0 w 52"/>
                <a:gd name="T15" fmla="*/ 0 h 36"/>
                <a:gd name="T16" fmla="*/ 0 w 52"/>
                <a:gd name="T17" fmla="*/ 0 h 36"/>
                <a:gd name="T18" fmla="*/ 0 w 52"/>
                <a:gd name="T19" fmla="*/ 0 h 36"/>
                <a:gd name="T20" fmla="*/ 0 w 52"/>
                <a:gd name="T21" fmla="*/ 0 h 36"/>
                <a:gd name="T22" fmla="*/ 0 w 52"/>
                <a:gd name="T23" fmla="*/ 0 h 36"/>
                <a:gd name="T24" fmla="*/ 0 w 52"/>
                <a:gd name="T25" fmla="*/ 0 h 36"/>
                <a:gd name="T26" fmla="*/ 0 w 52"/>
                <a:gd name="T27" fmla="*/ 0 h 36"/>
                <a:gd name="T28" fmla="*/ 0 w 52"/>
                <a:gd name="T29" fmla="*/ 0 h 36"/>
                <a:gd name="T30" fmla="*/ 0 w 52"/>
                <a:gd name="T31" fmla="*/ 0 h 36"/>
                <a:gd name="T32" fmla="*/ 0 w 52"/>
                <a:gd name="T33" fmla="*/ 0 h 36"/>
                <a:gd name="T34" fmla="*/ 0 w 52"/>
                <a:gd name="T35" fmla="*/ 0 h 36"/>
                <a:gd name="T36" fmla="*/ 0 w 52"/>
                <a:gd name="T37" fmla="*/ 0 h 36"/>
                <a:gd name="T38" fmla="*/ 0 w 52"/>
                <a:gd name="T39" fmla="*/ 0 h 36"/>
                <a:gd name="T40" fmla="*/ 0 w 52"/>
                <a:gd name="T41" fmla="*/ 0 h 36"/>
                <a:gd name="T42" fmla="*/ 0 w 52"/>
                <a:gd name="T43" fmla="*/ 0 h 36"/>
                <a:gd name="T44" fmla="*/ 0 w 52"/>
                <a:gd name="T45" fmla="*/ 0 h 36"/>
                <a:gd name="T46" fmla="*/ 0 w 52"/>
                <a:gd name="T47" fmla="*/ 0 h 36"/>
                <a:gd name="T48" fmla="*/ 0 w 52"/>
                <a:gd name="T49" fmla="*/ 0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2"/>
                <a:gd name="T76" fmla="*/ 0 h 36"/>
                <a:gd name="T77" fmla="*/ 52 w 52"/>
                <a:gd name="T78" fmla="*/ 36 h 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1" name="Freeform 773"/>
            <p:cNvSpPr/>
            <p:nvPr/>
          </p:nvSpPr>
          <p:spPr bwMode="auto">
            <a:xfrm>
              <a:off x="4330" y="3145"/>
              <a:ext cx="33" cy="39"/>
            </a:xfrm>
            <a:custGeom>
              <a:avLst/>
              <a:gdLst>
                <a:gd name="T0" fmla="*/ 0 w 198"/>
                <a:gd name="T1" fmla="*/ 0 h 236"/>
                <a:gd name="T2" fmla="*/ 0 w 198"/>
                <a:gd name="T3" fmla="*/ 0 h 236"/>
                <a:gd name="T4" fmla="*/ 0 w 198"/>
                <a:gd name="T5" fmla="*/ 0 h 236"/>
                <a:gd name="T6" fmla="*/ 0 w 198"/>
                <a:gd name="T7" fmla="*/ 0 h 236"/>
                <a:gd name="T8" fmla="*/ 0 w 198"/>
                <a:gd name="T9" fmla="*/ 0 h 236"/>
                <a:gd name="T10" fmla="*/ 0 w 198"/>
                <a:gd name="T11" fmla="*/ 0 h 236"/>
                <a:gd name="T12" fmla="*/ 0 w 198"/>
                <a:gd name="T13" fmla="*/ 0 h 236"/>
                <a:gd name="T14" fmla="*/ 0 w 198"/>
                <a:gd name="T15" fmla="*/ 0 h 236"/>
                <a:gd name="T16" fmla="*/ 0 w 198"/>
                <a:gd name="T17" fmla="*/ 0 h 236"/>
                <a:gd name="T18" fmla="*/ 0 w 198"/>
                <a:gd name="T19" fmla="*/ 0 h 236"/>
                <a:gd name="T20" fmla="*/ 0 w 198"/>
                <a:gd name="T21" fmla="*/ 0 h 236"/>
                <a:gd name="T22" fmla="*/ 0 w 198"/>
                <a:gd name="T23" fmla="*/ 0 h 236"/>
                <a:gd name="T24" fmla="*/ 0 w 198"/>
                <a:gd name="T25" fmla="*/ 0 h 236"/>
                <a:gd name="T26" fmla="*/ 0 w 198"/>
                <a:gd name="T27" fmla="*/ 0 h 236"/>
                <a:gd name="T28" fmla="*/ 0 w 198"/>
                <a:gd name="T29" fmla="*/ 0 h 236"/>
                <a:gd name="T30" fmla="*/ 0 w 198"/>
                <a:gd name="T31" fmla="*/ 0 h 236"/>
                <a:gd name="T32" fmla="*/ 0 w 198"/>
                <a:gd name="T33" fmla="*/ 0 h 236"/>
                <a:gd name="T34" fmla="*/ 0 w 198"/>
                <a:gd name="T35" fmla="*/ 0 h 236"/>
                <a:gd name="T36" fmla="*/ 0 w 198"/>
                <a:gd name="T37" fmla="*/ 0 h 236"/>
                <a:gd name="T38" fmla="*/ 0 w 198"/>
                <a:gd name="T39" fmla="*/ 0 h 236"/>
                <a:gd name="T40" fmla="*/ 0 w 198"/>
                <a:gd name="T41" fmla="*/ 0 h 236"/>
                <a:gd name="T42" fmla="*/ 0 w 198"/>
                <a:gd name="T43" fmla="*/ 0 h 236"/>
                <a:gd name="T44" fmla="*/ 0 w 198"/>
                <a:gd name="T45" fmla="*/ 0 h 236"/>
                <a:gd name="T46" fmla="*/ 0 w 198"/>
                <a:gd name="T47" fmla="*/ 0 h 236"/>
                <a:gd name="T48" fmla="*/ 0 w 198"/>
                <a:gd name="T49" fmla="*/ 0 h 236"/>
                <a:gd name="T50" fmla="*/ 0 w 198"/>
                <a:gd name="T51" fmla="*/ 0 h 236"/>
                <a:gd name="T52" fmla="*/ 0 w 198"/>
                <a:gd name="T53" fmla="*/ 0 h 236"/>
                <a:gd name="T54" fmla="*/ 0 w 198"/>
                <a:gd name="T55" fmla="*/ 0 h 236"/>
                <a:gd name="T56" fmla="*/ 0 w 198"/>
                <a:gd name="T57" fmla="*/ 0 h 236"/>
                <a:gd name="T58" fmla="*/ 0 w 198"/>
                <a:gd name="T59" fmla="*/ 0 h 236"/>
                <a:gd name="T60" fmla="*/ 0 w 198"/>
                <a:gd name="T61" fmla="*/ 0 h 236"/>
                <a:gd name="T62" fmla="*/ 0 w 198"/>
                <a:gd name="T63" fmla="*/ 0 h 236"/>
                <a:gd name="T64" fmla="*/ 0 w 198"/>
                <a:gd name="T65" fmla="*/ 0 h 236"/>
                <a:gd name="T66" fmla="*/ 0 w 198"/>
                <a:gd name="T67" fmla="*/ 0 h 236"/>
                <a:gd name="T68" fmla="*/ 0 w 198"/>
                <a:gd name="T69" fmla="*/ 0 h 236"/>
                <a:gd name="T70" fmla="*/ 0 w 198"/>
                <a:gd name="T71" fmla="*/ 0 h 236"/>
                <a:gd name="T72" fmla="*/ 0 w 198"/>
                <a:gd name="T73" fmla="*/ 0 h 236"/>
                <a:gd name="T74" fmla="*/ 0 w 198"/>
                <a:gd name="T75" fmla="*/ 0 h 236"/>
                <a:gd name="T76" fmla="*/ 0 w 198"/>
                <a:gd name="T77" fmla="*/ 0 h 236"/>
                <a:gd name="T78" fmla="*/ 0 w 198"/>
                <a:gd name="T79" fmla="*/ 0 h 236"/>
                <a:gd name="T80" fmla="*/ 0 w 198"/>
                <a:gd name="T81" fmla="*/ 0 h 236"/>
                <a:gd name="T82" fmla="*/ 0 w 198"/>
                <a:gd name="T83" fmla="*/ 0 h 236"/>
                <a:gd name="T84" fmla="*/ 0 w 198"/>
                <a:gd name="T85" fmla="*/ 0 h 236"/>
                <a:gd name="T86" fmla="*/ 0 w 198"/>
                <a:gd name="T87" fmla="*/ 0 h 236"/>
                <a:gd name="T88" fmla="*/ 0 w 198"/>
                <a:gd name="T89" fmla="*/ 0 h 236"/>
                <a:gd name="T90" fmla="*/ 0 w 198"/>
                <a:gd name="T91" fmla="*/ 0 h 236"/>
                <a:gd name="T92" fmla="*/ 0 w 198"/>
                <a:gd name="T93" fmla="*/ 0 h 236"/>
                <a:gd name="T94" fmla="*/ 0 w 198"/>
                <a:gd name="T95" fmla="*/ 0 h 236"/>
                <a:gd name="T96" fmla="*/ 0 w 198"/>
                <a:gd name="T97" fmla="*/ 0 h 236"/>
                <a:gd name="T98" fmla="*/ 0 w 198"/>
                <a:gd name="T99" fmla="*/ 0 h 236"/>
                <a:gd name="T100" fmla="*/ 0 w 198"/>
                <a:gd name="T101" fmla="*/ 0 h 236"/>
                <a:gd name="T102" fmla="*/ 0 w 198"/>
                <a:gd name="T103" fmla="*/ 0 h 236"/>
                <a:gd name="T104" fmla="*/ 0 w 198"/>
                <a:gd name="T105" fmla="*/ 0 h 236"/>
                <a:gd name="T106" fmla="*/ 0 w 198"/>
                <a:gd name="T107" fmla="*/ 0 h 236"/>
                <a:gd name="T108" fmla="*/ 0 w 198"/>
                <a:gd name="T109" fmla="*/ 0 h 236"/>
                <a:gd name="T110" fmla="*/ 0 w 198"/>
                <a:gd name="T111" fmla="*/ 0 h 236"/>
                <a:gd name="T112" fmla="*/ 0 w 198"/>
                <a:gd name="T113" fmla="*/ 0 h 236"/>
                <a:gd name="T114" fmla="*/ 0 w 198"/>
                <a:gd name="T115" fmla="*/ 0 h 236"/>
                <a:gd name="T116" fmla="*/ 0 w 198"/>
                <a:gd name="T117" fmla="*/ 0 h 236"/>
                <a:gd name="T118" fmla="*/ 0 w 198"/>
                <a:gd name="T119" fmla="*/ 0 h 236"/>
                <a:gd name="T120" fmla="*/ 0 w 198"/>
                <a:gd name="T121" fmla="*/ 0 h 2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8"/>
                <a:gd name="T184" fmla="*/ 0 h 236"/>
                <a:gd name="T185" fmla="*/ 198 w 198"/>
                <a:gd name="T186" fmla="*/ 236 h 2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2" name="Freeform 774"/>
            <p:cNvSpPr/>
            <p:nvPr/>
          </p:nvSpPr>
          <p:spPr bwMode="auto">
            <a:xfrm>
              <a:off x="4386" y="3145"/>
              <a:ext cx="22" cy="30"/>
            </a:xfrm>
            <a:custGeom>
              <a:avLst/>
              <a:gdLst>
                <a:gd name="T0" fmla="*/ 0 w 128"/>
                <a:gd name="T1" fmla="*/ 0 h 183"/>
                <a:gd name="T2" fmla="*/ 0 w 128"/>
                <a:gd name="T3" fmla="*/ 0 h 183"/>
                <a:gd name="T4" fmla="*/ 0 w 128"/>
                <a:gd name="T5" fmla="*/ 0 h 183"/>
                <a:gd name="T6" fmla="*/ 0 w 128"/>
                <a:gd name="T7" fmla="*/ 0 h 183"/>
                <a:gd name="T8" fmla="*/ 0 w 128"/>
                <a:gd name="T9" fmla="*/ 0 h 183"/>
                <a:gd name="T10" fmla="*/ 0 w 128"/>
                <a:gd name="T11" fmla="*/ 0 h 183"/>
                <a:gd name="T12" fmla="*/ 0 w 128"/>
                <a:gd name="T13" fmla="*/ 0 h 183"/>
                <a:gd name="T14" fmla="*/ 0 w 128"/>
                <a:gd name="T15" fmla="*/ 0 h 183"/>
                <a:gd name="T16" fmla="*/ 0 w 128"/>
                <a:gd name="T17" fmla="*/ 0 h 183"/>
                <a:gd name="T18" fmla="*/ 0 w 128"/>
                <a:gd name="T19" fmla="*/ 0 h 183"/>
                <a:gd name="T20" fmla="*/ 0 w 128"/>
                <a:gd name="T21" fmla="*/ 0 h 183"/>
                <a:gd name="T22" fmla="*/ 0 w 128"/>
                <a:gd name="T23" fmla="*/ 0 h 183"/>
                <a:gd name="T24" fmla="*/ 0 w 128"/>
                <a:gd name="T25" fmla="*/ 0 h 183"/>
                <a:gd name="T26" fmla="*/ 0 w 128"/>
                <a:gd name="T27" fmla="*/ 0 h 183"/>
                <a:gd name="T28" fmla="*/ 0 w 128"/>
                <a:gd name="T29" fmla="*/ 0 h 183"/>
                <a:gd name="T30" fmla="*/ 0 w 128"/>
                <a:gd name="T31" fmla="*/ 0 h 183"/>
                <a:gd name="T32" fmla="*/ 0 w 128"/>
                <a:gd name="T33" fmla="*/ 0 h 183"/>
                <a:gd name="T34" fmla="*/ 0 w 128"/>
                <a:gd name="T35" fmla="*/ 0 h 183"/>
                <a:gd name="T36" fmla="*/ 0 w 128"/>
                <a:gd name="T37" fmla="*/ 0 h 183"/>
                <a:gd name="T38" fmla="*/ 0 w 128"/>
                <a:gd name="T39" fmla="*/ 0 h 183"/>
                <a:gd name="T40" fmla="*/ 0 w 128"/>
                <a:gd name="T41" fmla="*/ 0 h 183"/>
                <a:gd name="T42" fmla="*/ 0 w 128"/>
                <a:gd name="T43" fmla="*/ 0 h 183"/>
                <a:gd name="T44" fmla="*/ 0 w 128"/>
                <a:gd name="T45" fmla="*/ 0 h 183"/>
                <a:gd name="T46" fmla="*/ 0 w 128"/>
                <a:gd name="T47" fmla="*/ 0 h 183"/>
                <a:gd name="T48" fmla="*/ 0 w 128"/>
                <a:gd name="T49" fmla="*/ 0 h 183"/>
                <a:gd name="T50" fmla="*/ 0 w 128"/>
                <a:gd name="T51" fmla="*/ 0 h 183"/>
                <a:gd name="T52" fmla="*/ 0 w 128"/>
                <a:gd name="T53" fmla="*/ 0 h 183"/>
                <a:gd name="T54" fmla="*/ 0 w 128"/>
                <a:gd name="T55" fmla="*/ 0 h 183"/>
                <a:gd name="T56" fmla="*/ 0 w 128"/>
                <a:gd name="T57" fmla="*/ 0 h 183"/>
                <a:gd name="T58" fmla="*/ 0 w 128"/>
                <a:gd name="T59" fmla="*/ 0 h 183"/>
                <a:gd name="T60" fmla="*/ 0 w 128"/>
                <a:gd name="T61" fmla="*/ 0 h 183"/>
                <a:gd name="T62" fmla="*/ 0 w 128"/>
                <a:gd name="T63" fmla="*/ 0 h 183"/>
                <a:gd name="T64" fmla="*/ 0 w 128"/>
                <a:gd name="T65" fmla="*/ 0 h 183"/>
                <a:gd name="T66" fmla="*/ 0 w 128"/>
                <a:gd name="T67" fmla="*/ 0 h 183"/>
                <a:gd name="T68" fmla="*/ 0 w 128"/>
                <a:gd name="T69" fmla="*/ 0 h 183"/>
                <a:gd name="T70" fmla="*/ 0 w 128"/>
                <a:gd name="T71" fmla="*/ 0 h 183"/>
                <a:gd name="T72" fmla="*/ 0 w 128"/>
                <a:gd name="T73" fmla="*/ 0 h 183"/>
                <a:gd name="T74" fmla="*/ 0 w 128"/>
                <a:gd name="T75" fmla="*/ 0 h 183"/>
                <a:gd name="T76" fmla="*/ 0 w 128"/>
                <a:gd name="T77" fmla="*/ 0 h 183"/>
                <a:gd name="T78" fmla="*/ 0 w 128"/>
                <a:gd name="T79" fmla="*/ 0 h 183"/>
                <a:gd name="T80" fmla="*/ 0 w 128"/>
                <a:gd name="T81" fmla="*/ 0 h 18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3"/>
                <a:gd name="T125" fmla="*/ 128 w 128"/>
                <a:gd name="T126" fmla="*/ 183 h 18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3" name="Freeform 775"/>
            <p:cNvSpPr/>
            <p:nvPr/>
          </p:nvSpPr>
          <p:spPr bwMode="auto">
            <a:xfrm>
              <a:off x="4309" y="3138"/>
              <a:ext cx="53" cy="63"/>
            </a:xfrm>
            <a:custGeom>
              <a:avLst/>
              <a:gdLst>
                <a:gd name="T0" fmla="*/ 0 w 323"/>
                <a:gd name="T1" fmla="*/ 0 h 379"/>
                <a:gd name="T2" fmla="*/ 0 w 323"/>
                <a:gd name="T3" fmla="*/ 0 h 379"/>
                <a:gd name="T4" fmla="*/ 0 w 323"/>
                <a:gd name="T5" fmla="*/ 0 h 379"/>
                <a:gd name="T6" fmla="*/ 0 w 323"/>
                <a:gd name="T7" fmla="*/ 0 h 379"/>
                <a:gd name="T8" fmla="*/ 0 w 323"/>
                <a:gd name="T9" fmla="*/ 0 h 379"/>
                <a:gd name="T10" fmla="*/ 0 w 323"/>
                <a:gd name="T11" fmla="*/ 0 h 379"/>
                <a:gd name="T12" fmla="*/ 0 w 323"/>
                <a:gd name="T13" fmla="*/ 0 h 379"/>
                <a:gd name="T14" fmla="*/ 0 w 323"/>
                <a:gd name="T15" fmla="*/ 0 h 379"/>
                <a:gd name="T16" fmla="*/ 0 w 323"/>
                <a:gd name="T17" fmla="*/ 0 h 379"/>
                <a:gd name="T18" fmla="*/ 0 w 323"/>
                <a:gd name="T19" fmla="*/ 0 h 379"/>
                <a:gd name="T20" fmla="*/ 0 w 323"/>
                <a:gd name="T21" fmla="*/ 0 h 379"/>
                <a:gd name="T22" fmla="*/ 0 w 323"/>
                <a:gd name="T23" fmla="*/ 0 h 379"/>
                <a:gd name="T24" fmla="*/ 0 w 323"/>
                <a:gd name="T25" fmla="*/ 0 h 379"/>
                <a:gd name="T26" fmla="*/ 0 w 323"/>
                <a:gd name="T27" fmla="*/ 0 h 379"/>
                <a:gd name="T28" fmla="*/ 0 w 323"/>
                <a:gd name="T29" fmla="*/ 0 h 379"/>
                <a:gd name="T30" fmla="*/ 0 w 323"/>
                <a:gd name="T31" fmla="*/ 0 h 379"/>
                <a:gd name="T32" fmla="*/ 0 w 323"/>
                <a:gd name="T33" fmla="*/ 0 h 379"/>
                <a:gd name="T34" fmla="*/ 0 w 323"/>
                <a:gd name="T35" fmla="*/ 0 h 379"/>
                <a:gd name="T36" fmla="*/ 0 w 323"/>
                <a:gd name="T37" fmla="*/ 0 h 379"/>
                <a:gd name="T38" fmla="*/ 0 w 323"/>
                <a:gd name="T39" fmla="*/ 0 h 379"/>
                <a:gd name="T40" fmla="*/ 0 w 323"/>
                <a:gd name="T41" fmla="*/ 0 h 379"/>
                <a:gd name="T42" fmla="*/ 0 w 323"/>
                <a:gd name="T43" fmla="*/ 0 h 379"/>
                <a:gd name="T44" fmla="*/ 0 w 323"/>
                <a:gd name="T45" fmla="*/ 0 h 379"/>
                <a:gd name="T46" fmla="*/ 0 w 323"/>
                <a:gd name="T47" fmla="*/ 0 h 379"/>
                <a:gd name="T48" fmla="*/ 0 w 323"/>
                <a:gd name="T49" fmla="*/ 0 h 379"/>
                <a:gd name="T50" fmla="*/ 0 w 323"/>
                <a:gd name="T51" fmla="*/ 0 h 379"/>
                <a:gd name="T52" fmla="*/ 0 w 323"/>
                <a:gd name="T53" fmla="*/ 0 h 379"/>
                <a:gd name="T54" fmla="*/ 0 w 323"/>
                <a:gd name="T55" fmla="*/ 0 h 379"/>
                <a:gd name="T56" fmla="*/ 0 w 323"/>
                <a:gd name="T57" fmla="*/ 0 h 379"/>
                <a:gd name="T58" fmla="*/ 0 w 323"/>
                <a:gd name="T59" fmla="*/ 0 h 379"/>
                <a:gd name="T60" fmla="*/ 0 w 323"/>
                <a:gd name="T61" fmla="*/ 0 h 379"/>
                <a:gd name="T62" fmla="*/ 0 w 323"/>
                <a:gd name="T63" fmla="*/ 0 h 379"/>
                <a:gd name="T64" fmla="*/ 0 w 323"/>
                <a:gd name="T65" fmla="*/ 0 h 379"/>
                <a:gd name="T66" fmla="*/ 0 w 323"/>
                <a:gd name="T67" fmla="*/ 0 h 379"/>
                <a:gd name="T68" fmla="*/ 0 w 323"/>
                <a:gd name="T69" fmla="*/ 0 h 379"/>
                <a:gd name="T70" fmla="*/ 0 w 323"/>
                <a:gd name="T71" fmla="*/ 0 h 379"/>
                <a:gd name="T72" fmla="*/ 0 w 323"/>
                <a:gd name="T73" fmla="*/ 0 h 379"/>
                <a:gd name="T74" fmla="*/ 0 w 323"/>
                <a:gd name="T75" fmla="*/ 0 h 379"/>
                <a:gd name="T76" fmla="*/ 0 w 323"/>
                <a:gd name="T77" fmla="*/ 0 h 379"/>
                <a:gd name="T78" fmla="*/ 0 w 323"/>
                <a:gd name="T79" fmla="*/ 0 h 379"/>
                <a:gd name="T80" fmla="*/ 0 w 323"/>
                <a:gd name="T81" fmla="*/ 0 h 379"/>
                <a:gd name="T82" fmla="*/ 0 w 323"/>
                <a:gd name="T83" fmla="*/ 0 h 379"/>
                <a:gd name="T84" fmla="*/ 0 w 323"/>
                <a:gd name="T85" fmla="*/ 0 h 379"/>
                <a:gd name="T86" fmla="*/ 0 w 323"/>
                <a:gd name="T87" fmla="*/ 0 h 37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3"/>
                <a:gd name="T133" fmla="*/ 0 h 379"/>
                <a:gd name="T134" fmla="*/ 323 w 323"/>
                <a:gd name="T135" fmla="*/ 379 h 37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4" name="Freeform 776"/>
            <p:cNvSpPr/>
            <p:nvPr/>
          </p:nvSpPr>
          <p:spPr bwMode="auto">
            <a:xfrm>
              <a:off x="4384" y="3136"/>
              <a:ext cx="47" cy="42"/>
            </a:xfrm>
            <a:custGeom>
              <a:avLst/>
              <a:gdLst>
                <a:gd name="T0" fmla="*/ 0 w 282"/>
                <a:gd name="T1" fmla="*/ 0 h 253"/>
                <a:gd name="T2" fmla="*/ 0 w 282"/>
                <a:gd name="T3" fmla="*/ 0 h 253"/>
                <a:gd name="T4" fmla="*/ 0 w 282"/>
                <a:gd name="T5" fmla="*/ 0 h 253"/>
                <a:gd name="T6" fmla="*/ 0 w 282"/>
                <a:gd name="T7" fmla="*/ 0 h 253"/>
                <a:gd name="T8" fmla="*/ 0 w 282"/>
                <a:gd name="T9" fmla="*/ 0 h 253"/>
                <a:gd name="T10" fmla="*/ 0 w 282"/>
                <a:gd name="T11" fmla="*/ 0 h 253"/>
                <a:gd name="T12" fmla="*/ 0 w 282"/>
                <a:gd name="T13" fmla="*/ 0 h 253"/>
                <a:gd name="T14" fmla="*/ 0 w 282"/>
                <a:gd name="T15" fmla="*/ 0 h 253"/>
                <a:gd name="T16" fmla="*/ 0 w 282"/>
                <a:gd name="T17" fmla="*/ 0 h 253"/>
                <a:gd name="T18" fmla="*/ 0 w 282"/>
                <a:gd name="T19" fmla="*/ 0 h 253"/>
                <a:gd name="T20" fmla="*/ 0 w 282"/>
                <a:gd name="T21" fmla="*/ 0 h 253"/>
                <a:gd name="T22" fmla="*/ 0 w 282"/>
                <a:gd name="T23" fmla="*/ 0 h 253"/>
                <a:gd name="T24" fmla="*/ 0 w 282"/>
                <a:gd name="T25" fmla="*/ 0 h 253"/>
                <a:gd name="T26" fmla="*/ 0 w 282"/>
                <a:gd name="T27" fmla="*/ 0 h 253"/>
                <a:gd name="T28" fmla="*/ 0 w 282"/>
                <a:gd name="T29" fmla="*/ 0 h 253"/>
                <a:gd name="T30" fmla="*/ 0 w 282"/>
                <a:gd name="T31" fmla="*/ 0 h 253"/>
                <a:gd name="T32" fmla="*/ 0 w 282"/>
                <a:gd name="T33" fmla="*/ 0 h 253"/>
                <a:gd name="T34" fmla="*/ 0 w 282"/>
                <a:gd name="T35" fmla="*/ 0 h 253"/>
                <a:gd name="T36" fmla="*/ 0 w 282"/>
                <a:gd name="T37" fmla="*/ 0 h 253"/>
                <a:gd name="T38" fmla="*/ 0 w 282"/>
                <a:gd name="T39" fmla="*/ 0 h 253"/>
                <a:gd name="T40" fmla="*/ 0 w 282"/>
                <a:gd name="T41" fmla="*/ 0 h 253"/>
                <a:gd name="T42" fmla="*/ 0 w 282"/>
                <a:gd name="T43" fmla="*/ 0 h 253"/>
                <a:gd name="T44" fmla="*/ 0 w 282"/>
                <a:gd name="T45" fmla="*/ 0 h 253"/>
                <a:gd name="T46" fmla="*/ 0 w 282"/>
                <a:gd name="T47" fmla="*/ 0 h 253"/>
                <a:gd name="T48" fmla="*/ 0 w 282"/>
                <a:gd name="T49" fmla="*/ 0 h 253"/>
                <a:gd name="T50" fmla="*/ 0 w 282"/>
                <a:gd name="T51" fmla="*/ 0 h 253"/>
                <a:gd name="T52" fmla="*/ 0 w 282"/>
                <a:gd name="T53" fmla="*/ 0 h 253"/>
                <a:gd name="T54" fmla="*/ 0 w 282"/>
                <a:gd name="T55" fmla="*/ 0 h 253"/>
                <a:gd name="T56" fmla="*/ 0 w 282"/>
                <a:gd name="T57" fmla="*/ 0 h 253"/>
                <a:gd name="T58" fmla="*/ 0 w 282"/>
                <a:gd name="T59" fmla="*/ 0 h 253"/>
                <a:gd name="T60" fmla="*/ 0 w 282"/>
                <a:gd name="T61" fmla="*/ 0 h 253"/>
                <a:gd name="T62" fmla="*/ 0 w 282"/>
                <a:gd name="T63" fmla="*/ 0 h 253"/>
                <a:gd name="T64" fmla="*/ 0 w 282"/>
                <a:gd name="T65" fmla="*/ 0 h 253"/>
                <a:gd name="T66" fmla="*/ 0 w 282"/>
                <a:gd name="T67" fmla="*/ 0 h 253"/>
                <a:gd name="T68" fmla="*/ 0 w 282"/>
                <a:gd name="T69" fmla="*/ 0 h 253"/>
                <a:gd name="T70" fmla="*/ 0 w 282"/>
                <a:gd name="T71" fmla="*/ 0 h 253"/>
                <a:gd name="T72" fmla="*/ 0 w 282"/>
                <a:gd name="T73" fmla="*/ 0 h 253"/>
                <a:gd name="T74" fmla="*/ 0 w 282"/>
                <a:gd name="T75" fmla="*/ 0 h 253"/>
                <a:gd name="T76" fmla="*/ 0 w 282"/>
                <a:gd name="T77" fmla="*/ 0 h 253"/>
                <a:gd name="T78" fmla="*/ 0 w 282"/>
                <a:gd name="T79" fmla="*/ 0 h 253"/>
                <a:gd name="T80" fmla="*/ 0 w 282"/>
                <a:gd name="T81" fmla="*/ 0 h 253"/>
                <a:gd name="T82" fmla="*/ 0 w 282"/>
                <a:gd name="T83" fmla="*/ 0 h 253"/>
                <a:gd name="T84" fmla="*/ 0 w 282"/>
                <a:gd name="T85" fmla="*/ 0 h 253"/>
                <a:gd name="T86" fmla="*/ 0 w 282"/>
                <a:gd name="T87" fmla="*/ 0 h 253"/>
                <a:gd name="T88" fmla="*/ 0 w 282"/>
                <a:gd name="T89" fmla="*/ 0 h 253"/>
                <a:gd name="T90" fmla="*/ 0 w 282"/>
                <a:gd name="T91" fmla="*/ 0 h 253"/>
                <a:gd name="T92" fmla="*/ 0 w 282"/>
                <a:gd name="T93" fmla="*/ 0 h 253"/>
                <a:gd name="T94" fmla="*/ 0 w 282"/>
                <a:gd name="T95" fmla="*/ 0 h 253"/>
                <a:gd name="T96" fmla="*/ 0 w 282"/>
                <a:gd name="T97" fmla="*/ 0 h 253"/>
                <a:gd name="T98" fmla="*/ 0 w 282"/>
                <a:gd name="T99" fmla="*/ 0 h 253"/>
                <a:gd name="T100" fmla="*/ 0 w 282"/>
                <a:gd name="T101" fmla="*/ 0 h 253"/>
                <a:gd name="T102" fmla="*/ 0 w 282"/>
                <a:gd name="T103" fmla="*/ 0 h 253"/>
                <a:gd name="T104" fmla="*/ 0 w 282"/>
                <a:gd name="T105" fmla="*/ 0 h 253"/>
                <a:gd name="T106" fmla="*/ 0 w 282"/>
                <a:gd name="T107" fmla="*/ 0 h 253"/>
                <a:gd name="T108" fmla="*/ 0 w 282"/>
                <a:gd name="T109" fmla="*/ 0 h 253"/>
                <a:gd name="T110" fmla="*/ 0 w 282"/>
                <a:gd name="T111" fmla="*/ 0 h 253"/>
                <a:gd name="T112" fmla="*/ 0 w 282"/>
                <a:gd name="T113" fmla="*/ 0 h 253"/>
                <a:gd name="T114" fmla="*/ 0 w 282"/>
                <a:gd name="T115" fmla="*/ 0 h 253"/>
                <a:gd name="T116" fmla="*/ 0 w 282"/>
                <a:gd name="T117" fmla="*/ 0 h 253"/>
                <a:gd name="T118" fmla="*/ 0 w 282"/>
                <a:gd name="T119" fmla="*/ 0 h 253"/>
                <a:gd name="T120" fmla="*/ 0 w 282"/>
                <a:gd name="T121" fmla="*/ 0 h 2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2"/>
                <a:gd name="T184" fmla="*/ 0 h 253"/>
                <a:gd name="T185" fmla="*/ 282 w 282"/>
                <a:gd name="T186" fmla="*/ 253 h 25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5" name="Freeform 777"/>
            <p:cNvSpPr/>
            <p:nvPr/>
          </p:nvSpPr>
          <p:spPr bwMode="auto">
            <a:xfrm>
              <a:off x="4290" y="3159"/>
              <a:ext cx="19" cy="39"/>
            </a:xfrm>
            <a:custGeom>
              <a:avLst/>
              <a:gdLst>
                <a:gd name="T0" fmla="*/ 0 w 115"/>
                <a:gd name="T1" fmla="*/ 0 h 236"/>
                <a:gd name="T2" fmla="*/ 0 w 115"/>
                <a:gd name="T3" fmla="*/ 0 h 236"/>
                <a:gd name="T4" fmla="*/ 0 w 115"/>
                <a:gd name="T5" fmla="*/ 0 h 236"/>
                <a:gd name="T6" fmla="*/ 0 w 115"/>
                <a:gd name="T7" fmla="*/ 0 h 236"/>
                <a:gd name="T8" fmla="*/ 0 w 115"/>
                <a:gd name="T9" fmla="*/ 0 h 236"/>
                <a:gd name="T10" fmla="*/ 0 w 115"/>
                <a:gd name="T11" fmla="*/ 0 h 236"/>
                <a:gd name="T12" fmla="*/ 0 w 115"/>
                <a:gd name="T13" fmla="*/ 0 h 236"/>
                <a:gd name="T14" fmla="*/ 0 w 115"/>
                <a:gd name="T15" fmla="*/ 0 h 236"/>
                <a:gd name="T16" fmla="*/ 0 w 115"/>
                <a:gd name="T17" fmla="*/ 0 h 236"/>
                <a:gd name="T18" fmla="*/ 0 w 115"/>
                <a:gd name="T19" fmla="*/ 0 h 236"/>
                <a:gd name="T20" fmla="*/ 0 w 115"/>
                <a:gd name="T21" fmla="*/ 0 h 236"/>
                <a:gd name="T22" fmla="*/ 0 w 115"/>
                <a:gd name="T23" fmla="*/ 0 h 236"/>
                <a:gd name="T24" fmla="*/ 0 w 115"/>
                <a:gd name="T25" fmla="*/ 0 h 236"/>
                <a:gd name="T26" fmla="*/ 0 w 115"/>
                <a:gd name="T27" fmla="*/ 0 h 236"/>
                <a:gd name="T28" fmla="*/ 0 w 115"/>
                <a:gd name="T29" fmla="*/ 0 h 236"/>
                <a:gd name="T30" fmla="*/ 0 w 115"/>
                <a:gd name="T31" fmla="*/ 0 h 236"/>
                <a:gd name="T32" fmla="*/ 0 w 115"/>
                <a:gd name="T33" fmla="*/ 0 h 236"/>
                <a:gd name="T34" fmla="*/ 0 w 115"/>
                <a:gd name="T35" fmla="*/ 0 h 236"/>
                <a:gd name="T36" fmla="*/ 0 w 115"/>
                <a:gd name="T37" fmla="*/ 0 h 236"/>
                <a:gd name="T38" fmla="*/ 0 w 115"/>
                <a:gd name="T39" fmla="*/ 0 h 236"/>
                <a:gd name="T40" fmla="*/ 0 w 115"/>
                <a:gd name="T41" fmla="*/ 0 h 236"/>
                <a:gd name="T42" fmla="*/ 0 w 115"/>
                <a:gd name="T43" fmla="*/ 0 h 236"/>
                <a:gd name="T44" fmla="*/ 0 w 115"/>
                <a:gd name="T45" fmla="*/ 0 h 236"/>
                <a:gd name="T46" fmla="*/ 0 w 115"/>
                <a:gd name="T47" fmla="*/ 0 h 236"/>
                <a:gd name="T48" fmla="*/ 0 w 115"/>
                <a:gd name="T49" fmla="*/ 0 h 236"/>
                <a:gd name="T50" fmla="*/ 0 w 115"/>
                <a:gd name="T51" fmla="*/ 0 h 236"/>
                <a:gd name="T52" fmla="*/ 0 w 115"/>
                <a:gd name="T53" fmla="*/ 0 h 236"/>
                <a:gd name="T54" fmla="*/ 0 w 115"/>
                <a:gd name="T55" fmla="*/ 0 h 236"/>
                <a:gd name="T56" fmla="*/ 0 w 115"/>
                <a:gd name="T57" fmla="*/ 0 h 236"/>
                <a:gd name="T58" fmla="*/ 0 w 115"/>
                <a:gd name="T59" fmla="*/ 0 h 236"/>
                <a:gd name="T60" fmla="*/ 0 w 115"/>
                <a:gd name="T61" fmla="*/ 0 h 236"/>
                <a:gd name="T62" fmla="*/ 0 w 115"/>
                <a:gd name="T63" fmla="*/ 0 h 236"/>
                <a:gd name="T64" fmla="*/ 0 w 115"/>
                <a:gd name="T65" fmla="*/ 0 h 236"/>
                <a:gd name="T66" fmla="*/ 0 w 115"/>
                <a:gd name="T67" fmla="*/ 0 h 236"/>
                <a:gd name="T68" fmla="*/ 0 w 115"/>
                <a:gd name="T69" fmla="*/ 0 h 236"/>
                <a:gd name="T70" fmla="*/ 0 w 115"/>
                <a:gd name="T71" fmla="*/ 0 h 236"/>
                <a:gd name="T72" fmla="*/ 0 w 115"/>
                <a:gd name="T73" fmla="*/ 0 h 236"/>
                <a:gd name="T74" fmla="*/ 0 w 115"/>
                <a:gd name="T75" fmla="*/ 0 h 236"/>
                <a:gd name="T76" fmla="*/ 0 w 115"/>
                <a:gd name="T77" fmla="*/ 0 h 236"/>
                <a:gd name="T78" fmla="*/ 0 w 115"/>
                <a:gd name="T79" fmla="*/ 0 h 236"/>
                <a:gd name="T80" fmla="*/ 0 w 115"/>
                <a:gd name="T81" fmla="*/ 0 h 2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5"/>
                <a:gd name="T124" fmla="*/ 0 h 236"/>
                <a:gd name="T125" fmla="*/ 115 w 115"/>
                <a:gd name="T126" fmla="*/ 236 h 2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6" name="Freeform 778"/>
            <p:cNvSpPr/>
            <p:nvPr/>
          </p:nvSpPr>
          <p:spPr bwMode="auto">
            <a:xfrm>
              <a:off x="4423" y="3133"/>
              <a:ext cx="41" cy="52"/>
            </a:xfrm>
            <a:custGeom>
              <a:avLst/>
              <a:gdLst>
                <a:gd name="T0" fmla="*/ 0 w 245"/>
                <a:gd name="T1" fmla="*/ 0 h 310"/>
                <a:gd name="T2" fmla="*/ 0 w 245"/>
                <a:gd name="T3" fmla="*/ 0 h 310"/>
                <a:gd name="T4" fmla="*/ 0 w 245"/>
                <a:gd name="T5" fmla="*/ 0 h 310"/>
                <a:gd name="T6" fmla="*/ 0 w 245"/>
                <a:gd name="T7" fmla="*/ 0 h 310"/>
                <a:gd name="T8" fmla="*/ 0 w 245"/>
                <a:gd name="T9" fmla="*/ 0 h 310"/>
                <a:gd name="T10" fmla="*/ 0 w 245"/>
                <a:gd name="T11" fmla="*/ 0 h 310"/>
                <a:gd name="T12" fmla="*/ 0 w 245"/>
                <a:gd name="T13" fmla="*/ 0 h 310"/>
                <a:gd name="T14" fmla="*/ 0 w 245"/>
                <a:gd name="T15" fmla="*/ 0 h 310"/>
                <a:gd name="T16" fmla="*/ 0 w 245"/>
                <a:gd name="T17" fmla="*/ 0 h 310"/>
                <a:gd name="T18" fmla="*/ 0 w 245"/>
                <a:gd name="T19" fmla="*/ 0 h 310"/>
                <a:gd name="T20" fmla="*/ 0 w 245"/>
                <a:gd name="T21" fmla="*/ 0 h 310"/>
                <a:gd name="T22" fmla="*/ 0 w 245"/>
                <a:gd name="T23" fmla="*/ 0 h 310"/>
                <a:gd name="T24" fmla="*/ 0 w 245"/>
                <a:gd name="T25" fmla="*/ 0 h 310"/>
                <a:gd name="T26" fmla="*/ 0 w 245"/>
                <a:gd name="T27" fmla="*/ 0 h 310"/>
                <a:gd name="T28" fmla="*/ 0 w 245"/>
                <a:gd name="T29" fmla="*/ 0 h 310"/>
                <a:gd name="T30" fmla="*/ 0 w 245"/>
                <a:gd name="T31" fmla="*/ 0 h 310"/>
                <a:gd name="T32" fmla="*/ 0 w 245"/>
                <a:gd name="T33" fmla="*/ 0 h 310"/>
                <a:gd name="T34" fmla="*/ 0 w 245"/>
                <a:gd name="T35" fmla="*/ 0 h 310"/>
                <a:gd name="T36" fmla="*/ 0 w 245"/>
                <a:gd name="T37" fmla="*/ 0 h 310"/>
                <a:gd name="T38" fmla="*/ 0 w 245"/>
                <a:gd name="T39" fmla="*/ 0 h 310"/>
                <a:gd name="T40" fmla="*/ 0 w 245"/>
                <a:gd name="T41" fmla="*/ 0 h 310"/>
                <a:gd name="T42" fmla="*/ 0 w 245"/>
                <a:gd name="T43" fmla="*/ 0 h 310"/>
                <a:gd name="T44" fmla="*/ 0 w 245"/>
                <a:gd name="T45" fmla="*/ 0 h 310"/>
                <a:gd name="T46" fmla="*/ 0 w 245"/>
                <a:gd name="T47" fmla="*/ 0 h 310"/>
                <a:gd name="T48" fmla="*/ 0 w 245"/>
                <a:gd name="T49" fmla="*/ 0 h 310"/>
                <a:gd name="T50" fmla="*/ 0 w 245"/>
                <a:gd name="T51" fmla="*/ 0 h 310"/>
                <a:gd name="T52" fmla="*/ 0 w 245"/>
                <a:gd name="T53" fmla="*/ 0 h 310"/>
                <a:gd name="T54" fmla="*/ 0 w 245"/>
                <a:gd name="T55" fmla="*/ 0 h 310"/>
                <a:gd name="T56" fmla="*/ 0 w 245"/>
                <a:gd name="T57" fmla="*/ 0 h 310"/>
                <a:gd name="T58" fmla="*/ 0 w 245"/>
                <a:gd name="T59" fmla="*/ 0 h 310"/>
                <a:gd name="T60" fmla="*/ 0 w 245"/>
                <a:gd name="T61" fmla="*/ 0 h 310"/>
                <a:gd name="T62" fmla="*/ 0 w 245"/>
                <a:gd name="T63" fmla="*/ 0 h 310"/>
                <a:gd name="T64" fmla="*/ 0 w 245"/>
                <a:gd name="T65" fmla="*/ 0 h 310"/>
                <a:gd name="T66" fmla="*/ 0 w 245"/>
                <a:gd name="T67" fmla="*/ 0 h 310"/>
                <a:gd name="T68" fmla="*/ 0 w 245"/>
                <a:gd name="T69" fmla="*/ 0 h 310"/>
                <a:gd name="T70" fmla="*/ 0 w 245"/>
                <a:gd name="T71" fmla="*/ 0 h 310"/>
                <a:gd name="T72" fmla="*/ 0 w 245"/>
                <a:gd name="T73" fmla="*/ 0 h 310"/>
                <a:gd name="T74" fmla="*/ 0 w 245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5"/>
                <a:gd name="T115" fmla="*/ 0 h 310"/>
                <a:gd name="T116" fmla="*/ 245 w 245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" name="Freeform 779"/>
            <p:cNvSpPr/>
            <p:nvPr/>
          </p:nvSpPr>
          <p:spPr bwMode="auto">
            <a:xfrm>
              <a:off x="4338" y="3209"/>
              <a:ext cx="125" cy="175"/>
            </a:xfrm>
            <a:custGeom>
              <a:avLst/>
              <a:gdLst>
                <a:gd name="T0" fmla="*/ 0 w 125"/>
                <a:gd name="T1" fmla="*/ 175 h 175"/>
                <a:gd name="T2" fmla="*/ 0 w 125"/>
                <a:gd name="T3" fmla="*/ 144 h 175"/>
                <a:gd name="T4" fmla="*/ 11 w 125"/>
                <a:gd name="T5" fmla="*/ 144 h 175"/>
                <a:gd name="T6" fmla="*/ 11 w 125"/>
                <a:gd name="T7" fmla="*/ 118 h 175"/>
                <a:gd name="T8" fmla="*/ 23 w 125"/>
                <a:gd name="T9" fmla="*/ 114 h 175"/>
                <a:gd name="T10" fmla="*/ 20 w 125"/>
                <a:gd name="T11" fmla="*/ 88 h 175"/>
                <a:gd name="T12" fmla="*/ 30 w 125"/>
                <a:gd name="T13" fmla="*/ 84 h 175"/>
                <a:gd name="T14" fmla="*/ 30 w 125"/>
                <a:gd name="T15" fmla="*/ 58 h 175"/>
                <a:gd name="T16" fmla="*/ 39 w 125"/>
                <a:gd name="T17" fmla="*/ 54 h 175"/>
                <a:gd name="T18" fmla="*/ 39 w 125"/>
                <a:gd name="T19" fmla="*/ 28 h 175"/>
                <a:gd name="T20" fmla="*/ 48 w 125"/>
                <a:gd name="T21" fmla="*/ 28 h 175"/>
                <a:gd name="T22" fmla="*/ 56 w 125"/>
                <a:gd name="T23" fmla="*/ 0 h 175"/>
                <a:gd name="T24" fmla="*/ 80 w 125"/>
                <a:gd name="T25" fmla="*/ 0 h 175"/>
                <a:gd name="T26" fmla="*/ 81 w 125"/>
                <a:gd name="T27" fmla="*/ 25 h 175"/>
                <a:gd name="T28" fmla="*/ 92 w 125"/>
                <a:gd name="T29" fmla="*/ 24 h 175"/>
                <a:gd name="T30" fmla="*/ 93 w 125"/>
                <a:gd name="T31" fmla="*/ 49 h 175"/>
                <a:gd name="T32" fmla="*/ 102 w 125"/>
                <a:gd name="T33" fmla="*/ 54 h 175"/>
                <a:gd name="T34" fmla="*/ 99 w 125"/>
                <a:gd name="T35" fmla="*/ 81 h 175"/>
                <a:gd name="T36" fmla="*/ 114 w 125"/>
                <a:gd name="T37" fmla="*/ 82 h 175"/>
                <a:gd name="T38" fmla="*/ 107 w 125"/>
                <a:gd name="T39" fmla="*/ 81 h 175"/>
                <a:gd name="T40" fmla="*/ 108 w 125"/>
                <a:gd name="T41" fmla="*/ 114 h 175"/>
                <a:gd name="T42" fmla="*/ 117 w 125"/>
                <a:gd name="T43" fmla="*/ 117 h 175"/>
                <a:gd name="T44" fmla="*/ 122 w 125"/>
                <a:gd name="T45" fmla="*/ 142 h 175"/>
                <a:gd name="T46" fmla="*/ 125 w 125"/>
                <a:gd name="T47" fmla="*/ 175 h 175"/>
                <a:gd name="T48" fmla="*/ 0 w 125"/>
                <a:gd name="T49" fmla="*/ 175 h 17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5"/>
                <a:gd name="T76" fmla="*/ 0 h 175"/>
                <a:gd name="T77" fmla="*/ 125 w 125"/>
                <a:gd name="T78" fmla="*/ 175 h 17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5" h="175">
                  <a:moveTo>
                    <a:pt x="0" y="175"/>
                  </a:moveTo>
                  <a:lnTo>
                    <a:pt x="0" y="144"/>
                  </a:lnTo>
                  <a:lnTo>
                    <a:pt x="11" y="144"/>
                  </a:lnTo>
                  <a:lnTo>
                    <a:pt x="11" y="118"/>
                  </a:lnTo>
                  <a:lnTo>
                    <a:pt x="23" y="114"/>
                  </a:lnTo>
                  <a:lnTo>
                    <a:pt x="20" y="88"/>
                  </a:lnTo>
                  <a:lnTo>
                    <a:pt x="30" y="84"/>
                  </a:lnTo>
                  <a:lnTo>
                    <a:pt x="30" y="58"/>
                  </a:lnTo>
                  <a:lnTo>
                    <a:pt x="39" y="54"/>
                  </a:lnTo>
                  <a:lnTo>
                    <a:pt x="39" y="28"/>
                  </a:lnTo>
                  <a:lnTo>
                    <a:pt x="48" y="28"/>
                  </a:lnTo>
                  <a:lnTo>
                    <a:pt x="56" y="0"/>
                  </a:lnTo>
                  <a:lnTo>
                    <a:pt x="80" y="0"/>
                  </a:lnTo>
                  <a:lnTo>
                    <a:pt x="81" y="25"/>
                  </a:lnTo>
                  <a:lnTo>
                    <a:pt x="92" y="24"/>
                  </a:lnTo>
                  <a:lnTo>
                    <a:pt x="93" y="49"/>
                  </a:lnTo>
                  <a:lnTo>
                    <a:pt x="102" y="54"/>
                  </a:lnTo>
                  <a:lnTo>
                    <a:pt x="99" y="81"/>
                  </a:lnTo>
                  <a:lnTo>
                    <a:pt x="114" y="82"/>
                  </a:lnTo>
                  <a:lnTo>
                    <a:pt x="107" y="81"/>
                  </a:lnTo>
                  <a:lnTo>
                    <a:pt x="108" y="114"/>
                  </a:lnTo>
                  <a:lnTo>
                    <a:pt x="117" y="117"/>
                  </a:lnTo>
                  <a:lnTo>
                    <a:pt x="122" y="142"/>
                  </a:lnTo>
                  <a:lnTo>
                    <a:pt x="125" y="17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08" name="Group 780"/>
          <p:cNvGrpSpPr/>
          <p:nvPr/>
        </p:nvGrpSpPr>
        <p:grpSpPr bwMode="auto">
          <a:xfrm>
            <a:off x="974725" y="3513138"/>
            <a:ext cx="290513" cy="404812"/>
            <a:chOff x="4290" y="3130"/>
            <a:chExt cx="183" cy="255"/>
          </a:xfrm>
        </p:grpSpPr>
        <p:pic>
          <p:nvPicPr>
            <p:cNvPr id="709" name="Picture 781" descr="31u_bnrz[1]"/>
            <p:cNvPicPr>
              <a:picLocks noChangeAspect="1" noChangeArrowheads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4343" y="3211"/>
              <a:ext cx="121" cy="174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  <a:headEnd/>
              <a:tailEnd/>
            </a:ln>
          </p:spPr>
        </p:pic>
        <p:sp>
          <p:nvSpPr>
            <p:cNvPr id="710" name="Freeform 782"/>
            <p:cNvSpPr/>
            <p:nvPr/>
          </p:nvSpPr>
          <p:spPr bwMode="auto">
            <a:xfrm>
              <a:off x="4339" y="3143"/>
              <a:ext cx="33" cy="39"/>
            </a:xfrm>
            <a:custGeom>
              <a:avLst/>
              <a:gdLst>
                <a:gd name="T0" fmla="*/ 0 w 199"/>
                <a:gd name="T1" fmla="*/ 0 h 232"/>
                <a:gd name="T2" fmla="*/ 0 w 199"/>
                <a:gd name="T3" fmla="*/ 0 h 232"/>
                <a:gd name="T4" fmla="*/ 0 w 199"/>
                <a:gd name="T5" fmla="*/ 0 h 232"/>
                <a:gd name="T6" fmla="*/ 0 w 199"/>
                <a:gd name="T7" fmla="*/ 0 h 232"/>
                <a:gd name="T8" fmla="*/ 0 w 199"/>
                <a:gd name="T9" fmla="*/ 0 h 232"/>
                <a:gd name="T10" fmla="*/ 0 w 199"/>
                <a:gd name="T11" fmla="*/ 0 h 232"/>
                <a:gd name="T12" fmla="*/ 0 w 199"/>
                <a:gd name="T13" fmla="*/ 0 h 232"/>
                <a:gd name="T14" fmla="*/ 0 w 199"/>
                <a:gd name="T15" fmla="*/ 0 h 232"/>
                <a:gd name="T16" fmla="*/ 0 w 199"/>
                <a:gd name="T17" fmla="*/ 0 h 232"/>
                <a:gd name="T18" fmla="*/ 0 w 199"/>
                <a:gd name="T19" fmla="*/ 0 h 232"/>
                <a:gd name="T20" fmla="*/ 0 w 199"/>
                <a:gd name="T21" fmla="*/ 0 h 232"/>
                <a:gd name="T22" fmla="*/ 0 w 199"/>
                <a:gd name="T23" fmla="*/ 0 h 232"/>
                <a:gd name="T24" fmla="*/ 0 w 199"/>
                <a:gd name="T25" fmla="*/ 0 h 232"/>
                <a:gd name="T26" fmla="*/ 0 w 199"/>
                <a:gd name="T27" fmla="*/ 0 h 232"/>
                <a:gd name="T28" fmla="*/ 0 w 199"/>
                <a:gd name="T29" fmla="*/ 0 h 232"/>
                <a:gd name="T30" fmla="*/ 0 w 199"/>
                <a:gd name="T31" fmla="*/ 0 h 232"/>
                <a:gd name="T32" fmla="*/ 0 w 199"/>
                <a:gd name="T33" fmla="*/ 0 h 232"/>
                <a:gd name="T34" fmla="*/ 0 w 199"/>
                <a:gd name="T35" fmla="*/ 0 h 232"/>
                <a:gd name="T36" fmla="*/ 0 w 199"/>
                <a:gd name="T37" fmla="*/ 0 h 232"/>
                <a:gd name="T38" fmla="*/ 0 w 199"/>
                <a:gd name="T39" fmla="*/ 0 h 232"/>
                <a:gd name="T40" fmla="*/ 0 w 199"/>
                <a:gd name="T41" fmla="*/ 0 h 232"/>
                <a:gd name="T42" fmla="*/ 0 w 199"/>
                <a:gd name="T43" fmla="*/ 0 h 232"/>
                <a:gd name="T44" fmla="*/ 0 w 199"/>
                <a:gd name="T45" fmla="*/ 0 h 232"/>
                <a:gd name="T46" fmla="*/ 0 w 199"/>
                <a:gd name="T47" fmla="*/ 0 h 232"/>
                <a:gd name="T48" fmla="*/ 0 w 199"/>
                <a:gd name="T49" fmla="*/ 0 h 232"/>
                <a:gd name="T50" fmla="*/ 0 w 199"/>
                <a:gd name="T51" fmla="*/ 0 h 232"/>
                <a:gd name="T52" fmla="*/ 0 w 199"/>
                <a:gd name="T53" fmla="*/ 0 h 232"/>
                <a:gd name="T54" fmla="*/ 0 w 199"/>
                <a:gd name="T55" fmla="*/ 0 h 232"/>
                <a:gd name="T56" fmla="*/ 0 w 199"/>
                <a:gd name="T57" fmla="*/ 0 h 232"/>
                <a:gd name="T58" fmla="*/ 0 w 199"/>
                <a:gd name="T59" fmla="*/ 0 h 232"/>
                <a:gd name="T60" fmla="*/ 0 w 199"/>
                <a:gd name="T61" fmla="*/ 0 h 232"/>
                <a:gd name="T62" fmla="*/ 0 w 199"/>
                <a:gd name="T63" fmla="*/ 0 h 232"/>
                <a:gd name="T64" fmla="*/ 0 w 199"/>
                <a:gd name="T65" fmla="*/ 0 h 232"/>
                <a:gd name="T66" fmla="*/ 0 w 199"/>
                <a:gd name="T67" fmla="*/ 0 h 232"/>
                <a:gd name="T68" fmla="*/ 0 w 199"/>
                <a:gd name="T69" fmla="*/ 0 h 232"/>
                <a:gd name="T70" fmla="*/ 0 w 199"/>
                <a:gd name="T71" fmla="*/ 0 h 232"/>
                <a:gd name="T72" fmla="*/ 0 w 199"/>
                <a:gd name="T73" fmla="*/ 0 h 232"/>
                <a:gd name="T74" fmla="*/ 0 w 199"/>
                <a:gd name="T75" fmla="*/ 0 h 232"/>
                <a:gd name="T76" fmla="*/ 0 w 199"/>
                <a:gd name="T77" fmla="*/ 0 h 232"/>
                <a:gd name="T78" fmla="*/ 0 w 199"/>
                <a:gd name="T79" fmla="*/ 0 h 232"/>
                <a:gd name="T80" fmla="*/ 0 w 199"/>
                <a:gd name="T81" fmla="*/ 0 h 232"/>
                <a:gd name="T82" fmla="*/ 0 w 199"/>
                <a:gd name="T83" fmla="*/ 0 h 232"/>
                <a:gd name="T84" fmla="*/ 0 w 199"/>
                <a:gd name="T85" fmla="*/ 0 h 232"/>
                <a:gd name="T86" fmla="*/ 0 w 199"/>
                <a:gd name="T87" fmla="*/ 0 h 232"/>
                <a:gd name="T88" fmla="*/ 0 w 199"/>
                <a:gd name="T89" fmla="*/ 0 h 232"/>
                <a:gd name="T90" fmla="*/ 0 w 199"/>
                <a:gd name="T91" fmla="*/ 0 h 232"/>
                <a:gd name="T92" fmla="*/ 0 w 199"/>
                <a:gd name="T93" fmla="*/ 0 h 232"/>
                <a:gd name="T94" fmla="*/ 0 w 199"/>
                <a:gd name="T95" fmla="*/ 0 h 232"/>
                <a:gd name="T96" fmla="*/ 0 w 199"/>
                <a:gd name="T97" fmla="*/ 0 h 23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99"/>
                <a:gd name="T148" fmla="*/ 0 h 232"/>
                <a:gd name="T149" fmla="*/ 199 w 199"/>
                <a:gd name="T150" fmla="*/ 232 h 23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1" name="Freeform 783"/>
            <p:cNvSpPr/>
            <p:nvPr/>
          </p:nvSpPr>
          <p:spPr bwMode="auto">
            <a:xfrm>
              <a:off x="4395" y="3142"/>
              <a:ext cx="22" cy="30"/>
            </a:xfrm>
            <a:custGeom>
              <a:avLst/>
              <a:gdLst>
                <a:gd name="T0" fmla="*/ 0 w 128"/>
                <a:gd name="T1" fmla="*/ 0 h 180"/>
                <a:gd name="T2" fmla="*/ 0 w 128"/>
                <a:gd name="T3" fmla="*/ 0 h 180"/>
                <a:gd name="T4" fmla="*/ 0 w 128"/>
                <a:gd name="T5" fmla="*/ 0 h 180"/>
                <a:gd name="T6" fmla="*/ 0 w 128"/>
                <a:gd name="T7" fmla="*/ 0 h 180"/>
                <a:gd name="T8" fmla="*/ 0 w 128"/>
                <a:gd name="T9" fmla="*/ 0 h 180"/>
                <a:gd name="T10" fmla="*/ 0 w 128"/>
                <a:gd name="T11" fmla="*/ 0 h 180"/>
                <a:gd name="T12" fmla="*/ 0 w 128"/>
                <a:gd name="T13" fmla="*/ 0 h 180"/>
                <a:gd name="T14" fmla="*/ 0 w 128"/>
                <a:gd name="T15" fmla="*/ 0 h 180"/>
                <a:gd name="T16" fmla="*/ 0 w 128"/>
                <a:gd name="T17" fmla="*/ 0 h 180"/>
                <a:gd name="T18" fmla="*/ 0 w 128"/>
                <a:gd name="T19" fmla="*/ 0 h 180"/>
                <a:gd name="T20" fmla="*/ 0 w 128"/>
                <a:gd name="T21" fmla="*/ 0 h 180"/>
                <a:gd name="T22" fmla="*/ 0 w 128"/>
                <a:gd name="T23" fmla="*/ 0 h 180"/>
                <a:gd name="T24" fmla="*/ 0 w 128"/>
                <a:gd name="T25" fmla="*/ 0 h 180"/>
                <a:gd name="T26" fmla="*/ 0 w 128"/>
                <a:gd name="T27" fmla="*/ 0 h 180"/>
                <a:gd name="T28" fmla="*/ 0 w 128"/>
                <a:gd name="T29" fmla="*/ 0 h 180"/>
                <a:gd name="T30" fmla="*/ 0 w 128"/>
                <a:gd name="T31" fmla="*/ 0 h 180"/>
                <a:gd name="T32" fmla="*/ 0 w 128"/>
                <a:gd name="T33" fmla="*/ 0 h 180"/>
                <a:gd name="T34" fmla="*/ 0 w 128"/>
                <a:gd name="T35" fmla="*/ 0 h 180"/>
                <a:gd name="T36" fmla="*/ 0 w 128"/>
                <a:gd name="T37" fmla="*/ 0 h 180"/>
                <a:gd name="T38" fmla="*/ 0 w 128"/>
                <a:gd name="T39" fmla="*/ 0 h 180"/>
                <a:gd name="T40" fmla="*/ 0 w 128"/>
                <a:gd name="T41" fmla="*/ 0 h 180"/>
                <a:gd name="T42" fmla="*/ 0 w 128"/>
                <a:gd name="T43" fmla="*/ 0 h 180"/>
                <a:gd name="T44" fmla="*/ 0 w 128"/>
                <a:gd name="T45" fmla="*/ 0 h 180"/>
                <a:gd name="T46" fmla="*/ 0 w 128"/>
                <a:gd name="T47" fmla="*/ 0 h 180"/>
                <a:gd name="T48" fmla="*/ 0 w 128"/>
                <a:gd name="T49" fmla="*/ 0 h 180"/>
                <a:gd name="T50" fmla="*/ 0 w 128"/>
                <a:gd name="T51" fmla="*/ 0 h 180"/>
                <a:gd name="T52" fmla="*/ 0 w 128"/>
                <a:gd name="T53" fmla="*/ 0 h 180"/>
                <a:gd name="T54" fmla="*/ 0 w 128"/>
                <a:gd name="T55" fmla="*/ 0 h 180"/>
                <a:gd name="T56" fmla="*/ 0 w 128"/>
                <a:gd name="T57" fmla="*/ 0 h 180"/>
                <a:gd name="T58" fmla="*/ 0 w 128"/>
                <a:gd name="T59" fmla="*/ 0 h 180"/>
                <a:gd name="T60" fmla="*/ 0 w 128"/>
                <a:gd name="T61" fmla="*/ 0 h 180"/>
                <a:gd name="T62" fmla="*/ 0 w 128"/>
                <a:gd name="T63" fmla="*/ 0 h 180"/>
                <a:gd name="T64" fmla="*/ 0 w 128"/>
                <a:gd name="T65" fmla="*/ 0 h 180"/>
                <a:gd name="T66" fmla="*/ 0 w 128"/>
                <a:gd name="T67" fmla="*/ 0 h 180"/>
                <a:gd name="T68" fmla="*/ 0 w 128"/>
                <a:gd name="T69" fmla="*/ 0 h 180"/>
                <a:gd name="T70" fmla="*/ 0 w 128"/>
                <a:gd name="T71" fmla="*/ 0 h 180"/>
                <a:gd name="T72" fmla="*/ 0 w 128"/>
                <a:gd name="T73" fmla="*/ 0 h 180"/>
                <a:gd name="T74" fmla="*/ 0 w 128"/>
                <a:gd name="T75" fmla="*/ 0 h 180"/>
                <a:gd name="T76" fmla="*/ 0 w 128"/>
                <a:gd name="T77" fmla="*/ 0 h 180"/>
                <a:gd name="T78" fmla="*/ 0 w 128"/>
                <a:gd name="T79" fmla="*/ 0 h 180"/>
                <a:gd name="T80" fmla="*/ 0 w 128"/>
                <a:gd name="T81" fmla="*/ 0 h 18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0"/>
                <a:gd name="T125" fmla="*/ 128 w 128"/>
                <a:gd name="T126" fmla="*/ 180 h 18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2" name="Freeform 784"/>
            <p:cNvSpPr/>
            <p:nvPr/>
          </p:nvSpPr>
          <p:spPr bwMode="auto">
            <a:xfrm>
              <a:off x="4318" y="3135"/>
              <a:ext cx="54" cy="63"/>
            </a:xfrm>
            <a:custGeom>
              <a:avLst/>
              <a:gdLst>
                <a:gd name="T0" fmla="*/ 0 w 322"/>
                <a:gd name="T1" fmla="*/ 0 h 378"/>
                <a:gd name="T2" fmla="*/ 0 w 322"/>
                <a:gd name="T3" fmla="*/ 0 h 378"/>
                <a:gd name="T4" fmla="*/ 0 w 322"/>
                <a:gd name="T5" fmla="*/ 0 h 378"/>
                <a:gd name="T6" fmla="*/ 0 w 322"/>
                <a:gd name="T7" fmla="*/ 0 h 378"/>
                <a:gd name="T8" fmla="*/ 0 w 322"/>
                <a:gd name="T9" fmla="*/ 0 h 378"/>
                <a:gd name="T10" fmla="*/ 0 w 322"/>
                <a:gd name="T11" fmla="*/ 0 h 378"/>
                <a:gd name="T12" fmla="*/ 0 w 322"/>
                <a:gd name="T13" fmla="*/ 0 h 378"/>
                <a:gd name="T14" fmla="*/ 0 w 322"/>
                <a:gd name="T15" fmla="*/ 0 h 378"/>
                <a:gd name="T16" fmla="*/ 0 w 322"/>
                <a:gd name="T17" fmla="*/ 0 h 378"/>
                <a:gd name="T18" fmla="*/ 0 w 322"/>
                <a:gd name="T19" fmla="*/ 0 h 378"/>
                <a:gd name="T20" fmla="*/ 0 w 322"/>
                <a:gd name="T21" fmla="*/ 0 h 378"/>
                <a:gd name="T22" fmla="*/ 0 w 322"/>
                <a:gd name="T23" fmla="*/ 0 h 378"/>
                <a:gd name="T24" fmla="*/ 0 w 322"/>
                <a:gd name="T25" fmla="*/ 0 h 378"/>
                <a:gd name="T26" fmla="*/ 0 w 322"/>
                <a:gd name="T27" fmla="*/ 0 h 378"/>
                <a:gd name="T28" fmla="*/ 0 w 322"/>
                <a:gd name="T29" fmla="*/ 0 h 378"/>
                <a:gd name="T30" fmla="*/ 0 w 322"/>
                <a:gd name="T31" fmla="*/ 0 h 378"/>
                <a:gd name="T32" fmla="*/ 0 w 322"/>
                <a:gd name="T33" fmla="*/ 0 h 378"/>
                <a:gd name="T34" fmla="*/ 0 w 322"/>
                <a:gd name="T35" fmla="*/ 0 h 378"/>
                <a:gd name="T36" fmla="*/ 0 w 322"/>
                <a:gd name="T37" fmla="*/ 0 h 378"/>
                <a:gd name="T38" fmla="*/ 0 w 322"/>
                <a:gd name="T39" fmla="*/ 0 h 378"/>
                <a:gd name="T40" fmla="*/ 0 w 322"/>
                <a:gd name="T41" fmla="*/ 0 h 378"/>
                <a:gd name="T42" fmla="*/ 0 w 322"/>
                <a:gd name="T43" fmla="*/ 0 h 378"/>
                <a:gd name="T44" fmla="*/ 0 w 322"/>
                <a:gd name="T45" fmla="*/ 0 h 378"/>
                <a:gd name="T46" fmla="*/ 0 w 322"/>
                <a:gd name="T47" fmla="*/ 0 h 378"/>
                <a:gd name="T48" fmla="*/ 0 w 322"/>
                <a:gd name="T49" fmla="*/ 0 h 378"/>
                <a:gd name="T50" fmla="*/ 0 w 322"/>
                <a:gd name="T51" fmla="*/ 0 h 378"/>
                <a:gd name="T52" fmla="*/ 0 w 322"/>
                <a:gd name="T53" fmla="*/ 0 h 378"/>
                <a:gd name="T54" fmla="*/ 0 w 322"/>
                <a:gd name="T55" fmla="*/ 0 h 378"/>
                <a:gd name="T56" fmla="*/ 0 w 322"/>
                <a:gd name="T57" fmla="*/ 0 h 378"/>
                <a:gd name="T58" fmla="*/ 0 w 322"/>
                <a:gd name="T59" fmla="*/ 0 h 378"/>
                <a:gd name="T60" fmla="*/ 0 w 322"/>
                <a:gd name="T61" fmla="*/ 0 h 378"/>
                <a:gd name="T62" fmla="*/ 0 w 322"/>
                <a:gd name="T63" fmla="*/ 0 h 378"/>
                <a:gd name="T64" fmla="*/ 0 w 322"/>
                <a:gd name="T65" fmla="*/ 0 h 378"/>
                <a:gd name="T66" fmla="*/ 0 w 322"/>
                <a:gd name="T67" fmla="*/ 0 h 378"/>
                <a:gd name="T68" fmla="*/ 0 w 322"/>
                <a:gd name="T69" fmla="*/ 0 h 378"/>
                <a:gd name="T70" fmla="*/ 0 w 322"/>
                <a:gd name="T71" fmla="*/ 0 h 378"/>
                <a:gd name="T72" fmla="*/ 0 w 322"/>
                <a:gd name="T73" fmla="*/ 0 h 378"/>
                <a:gd name="T74" fmla="*/ 0 w 322"/>
                <a:gd name="T75" fmla="*/ 0 h 378"/>
                <a:gd name="T76" fmla="*/ 0 w 322"/>
                <a:gd name="T77" fmla="*/ 0 h 378"/>
                <a:gd name="T78" fmla="*/ 0 w 322"/>
                <a:gd name="T79" fmla="*/ 0 h 378"/>
                <a:gd name="T80" fmla="*/ 0 w 322"/>
                <a:gd name="T81" fmla="*/ 0 h 378"/>
                <a:gd name="T82" fmla="*/ 0 w 322"/>
                <a:gd name="T83" fmla="*/ 0 h 378"/>
                <a:gd name="T84" fmla="*/ 0 w 322"/>
                <a:gd name="T85" fmla="*/ 0 h 378"/>
                <a:gd name="T86" fmla="*/ 0 w 322"/>
                <a:gd name="T87" fmla="*/ 0 h 37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2"/>
                <a:gd name="T133" fmla="*/ 0 h 378"/>
                <a:gd name="T134" fmla="*/ 322 w 322"/>
                <a:gd name="T135" fmla="*/ 378 h 37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3" name="Freeform 785"/>
            <p:cNvSpPr/>
            <p:nvPr/>
          </p:nvSpPr>
          <p:spPr bwMode="auto">
            <a:xfrm>
              <a:off x="4394" y="3133"/>
              <a:ext cx="47" cy="42"/>
            </a:xfrm>
            <a:custGeom>
              <a:avLst/>
              <a:gdLst>
                <a:gd name="T0" fmla="*/ 0 w 283"/>
                <a:gd name="T1" fmla="*/ 0 h 252"/>
                <a:gd name="T2" fmla="*/ 0 w 283"/>
                <a:gd name="T3" fmla="*/ 0 h 252"/>
                <a:gd name="T4" fmla="*/ 0 w 283"/>
                <a:gd name="T5" fmla="*/ 0 h 252"/>
                <a:gd name="T6" fmla="*/ 0 w 283"/>
                <a:gd name="T7" fmla="*/ 0 h 252"/>
                <a:gd name="T8" fmla="*/ 0 w 283"/>
                <a:gd name="T9" fmla="*/ 0 h 252"/>
                <a:gd name="T10" fmla="*/ 0 w 283"/>
                <a:gd name="T11" fmla="*/ 0 h 252"/>
                <a:gd name="T12" fmla="*/ 0 w 283"/>
                <a:gd name="T13" fmla="*/ 0 h 252"/>
                <a:gd name="T14" fmla="*/ 0 w 283"/>
                <a:gd name="T15" fmla="*/ 0 h 252"/>
                <a:gd name="T16" fmla="*/ 0 w 283"/>
                <a:gd name="T17" fmla="*/ 0 h 252"/>
                <a:gd name="T18" fmla="*/ 0 w 283"/>
                <a:gd name="T19" fmla="*/ 0 h 252"/>
                <a:gd name="T20" fmla="*/ 0 w 283"/>
                <a:gd name="T21" fmla="*/ 0 h 252"/>
                <a:gd name="T22" fmla="*/ 0 w 283"/>
                <a:gd name="T23" fmla="*/ 0 h 252"/>
                <a:gd name="T24" fmla="*/ 0 w 283"/>
                <a:gd name="T25" fmla="*/ 0 h 252"/>
                <a:gd name="T26" fmla="*/ 0 w 283"/>
                <a:gd name="T27" fmla="*/ 0 h 252"/>
                <a:gd name="T28" fmla="*/ 0 w 283"/>
                <a:gd name="T29" fmla="*/ 0 h 252"/>
                <a:gd name="T30" fmla="*/ 0 w 283"/>
                <a:gd name="T31" fmla="*/ 0 h 252"/>
                <a:gd name="T32" fmla="*/ 0 w 283"/>
                <a:gd name="T33" fmla="*/ 0 h 252"/>
                <a:gd name="T34" fmla="*/ 0 w 283"/>
                <a:gd name="T35" fmla="*/ 0 h 252"/>
                <a:gd name="T36" fmla="*/ 0 w 283"/>
                <a:gd name="T37" fmla="*/ 0 h 252"/>
                <a:gd name="T38" fmla="*/ 0 w 283"/>
                <a:gd name="T39" fmla="*/ 0 h 252"/>
                <a:gd name="T40" fmla="*/ 0 w 283"/>
                <a:gd name="T41" fmla="*/ 0 h 252"/>
                <a:gd name="T42" fmla="*/ 0 w 283"/>
                <a:gd name="T43" fmla="*/ 0 h 252"/>
                <a:gd name="T44" fmla="*/ 0 w 283"/>
                <a:gd name="T45" fmla="*/ 0 h 252"/>
                <a:gd name="T46" fmla="*/ 0 w 283"/>
                <a:gd name="T47" fmla="*/ 0 h 252"/>
                <a:gd name="T48" fmla="*/ 0 w 283"/>
                <a:gd name="T49" fmla="*/ 0 h 252"/>
                <a:gd name="T50" fmla="*/ 0 w 283"/>
                <a:gd name="T51" fmla="*/ 0 h 252"/>
                <a:gd name="T52" fmla="*/ 0 w 283"/>
                <a:gd name="T53" fmla="*/ 0 h 252"/>
                <a:gd name="T54" fmla="*/ 0 w 283"/>
                <a:gd name="T55" fmla="*/ 0 h 252"/>
                <a:gd name="T56" fmla="*/ 0 w 283"/>
                <a:gd name="T57" fmla="*/ 0 h 252"/>
                <a:gd name="T58" fmla="*/ 0 w 283"/>
                <a:gd name="T59" fmla="*/ 0 h 252"/>
                <a:gd name="T60" fmla="*/ 0 w 283"/>
                <a:gd name="T61" fmla="*/ 0 h 252"/>
                <a:gd name="T62" fmla="*/ 0 w 283"/>
                <a:gd name="T63" fmla="*/ 0 h 252"/>
                <a:gd name="T64" fmla="*/ 0 w 283"/>
                <a:gd name="T65" fmla="*/ 0 h 252"/>
                <a:gd name="T66" fmla="*/ 0 w 283"/>
                <a:gd name="T67" fmla="*/ 0 h 252"/>
                <a:gd name="T68" fmla="*/ 0 w 283"/>
                <a:gd name="T69" fmla="*/ 0 h 252"/>
                <a:gd name="T70" fmla="*/ 0 w 283"/>
                <a:gd name="T71" fmla="*/ 0 h 252"/>
                <a:gd name="T72" fmla="*/ 0 w 283"/>
                <a:gd name="T73" fmla="*/ 0 h 252"/>
                <a:gd name="T74" fmla="*/ 0 w 283"/>
                <a:gd name="T75" fmla="*/ 0 h 252"/>
                <a:gd name="T76" fmla="*/ 0 w 283"/>
                <a:gd name="T77" fmla="*/ 0 h 252"/>
                <a:gd name="T78" fmla="*/ 0 w 283"/>
                <a:gd name="T79" fmla="*/ 0 h 252"/>
                <a:gd name="T80" fmla="*/ 0 w 283"/>
                <a:gd name="T81" fmla="*/ 0 h 252"/>
                <a:gd name="T82" fmla="*/ 0 w 283"/>
                <a:gd name="T83" fmla="*/ 0 h 252"/>
                <a:gd name="T84" fmla="*/ 0 w 283"/>
                <a:gd name="T85" fmla="*/ 0 h 252"/>
                <a:gd name="T86" fmla="*/ 0 w 283"/>
                <a:gd name="T87" fmla="*/ 0 h 252"/>
                <a:gd name="T88" fmla="*/ 0 w 283"/>
                <a:gd name="T89" fmla="*/ 0 h 252"/>
                <a:gd name="T90" fmla="*/ 0 w 283"/>
                <a:gd name="T91" fmla="*/ 0 h 252"/>
                <a:gd name="T92" fmla="*/ 0 w 283"/>
                <a:gd name="T93" fmla="*/ 0 h 252"/>
                <a:gd name="T94" fmla="*/ 0 w 283"/>
                <a:gd name="T95" fmla="*/ 0 h 252"/>
                <a:gd name="T96" fmla="*/ 0 w 283"/>
                <a:gd name="T97" fmla="*/ 0 h 252"/>
                <a:gd name="T98" fmla="*/ 0 w 283"/>
                <a:gd name="T99" fmla="*/ 0 h 252"/>
                <a:gd name="T100" fmla="*/ 0 w 283"/>
                <a:gd name="T101" fmla="*/ 0 h 252"/>
                <a:gd name="T102" fmla="*/ 0 w 283"/>
                <a:gd name="T103" fmla="*/ 0 h 252"/>
                <a:gd name="T104" fmla="*/ 0 w 283"/>
                <a:gd name="T105" fmla="*/ 0 h 252"/>
                <a:gd name="T106" fmla="*/ 0 w 283"/>
                <a:gd name="T107" fmla="*/ 0 h 252"/>
                <a:gd name="T108" fmla="*/ 0 w 283"/>
                <a:gd name="T109" fmla="*/ 0 h 252"/>
                <a:gd name="T110" fmla="*/ 0 w 283"/>
                <a:gd name="T111" fmla="*/ 0 h 252"/>
                <a:gd name="T112" fmla="*/ 0 w 283"/>
                <a:gd name="T113" fmla="*/ 0 h 252"/>
                <a:gd name="T114" fmla="*/ 0 w 283"/>
                <a:gd name="T115" fmla="*/ 0 h 252"/>
                <a:gd name="T116" fmla="*/ 0 w 283"/>
                <a:gd name="T117" fmla="*/ 0 h 252"/>
                <a:gd name="T118" fmla="*/ 0 w 283"/>
                <a:gd name="T119" fmla="*/ 0 h 252"/>
                <a:gd name="T120" fmla="*/ 0 w 283"/>
                <a:gd name="T121" fmla="*/ 0 h 2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3"/>
                <a:gd name="T184" fmla="*/ 0 h 252"/>
                <a:gd name="T185" fmla="*/ 283 w 283"/>
                <a:gd name="T186" fmla="*/ 252 h 25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4" name="Freeform 786"/>
            <p:cNvSpPr/>
            <p:nvPr/>
          </p:nvSpPr>
          <p:spPr bwMode="auto">
            <a:xfrm>
              <a:off x="4298" y="3153"/>
              <a:ext cx="19" cy="39"/>
            </a:xfrm>
            <a:custGeom>
              <a:avLst/>
              <a:gdLst>
                <a:gd name="T0" fmla="*/ 0 w 114"/>
                <a:gd name="T1" fmla="*/ 0 h 238"/>
                <a:gd name="T2" fmla="*/ 0 w 114"/>
                <a:gd name="T3" fmla="*/ 0 h 238"/>
                <a:gd name="T4" fmla="*/ 0 w 114"/>
                <a:gd name="T5" fmla="*/ 0 h 238"/>
                <a:gd name="T6" fmla="*/ 0 w 114"/>
                <a:gd name="T7" fmla="*/ 0 h 238"/>
                <a:gd name="T8" fmla="*/ 0 w 114"/>
                <a:gd name="T9" fmla="*/ 0 h 238"/>
                <a:gd name="T10" fmla="*/ 0 w 114"/>
                <a:gd name="T11" fmla="*/ 0 h 238"/>
                <a:gd name="T12" fmla="*/ 0 w 114"/>
                <a:gd name="T13" fmla="*/ 0 h 238"/>
                <a:gd name="T14" fmla="*/ 0 w 114"/>
                <a:gd name="T15" fmla="*/ 0 h 238"/>
                <a:gd name="T16" fmla="*/ 0 w 114"/>
                <a:gd name="T17" fmla="*/ 0 h 238"/>
                <a:gd name="T18" fmla="*/ 0 w 114"/>
                <a:gd name="T19" fmla="*/ 0 h 238"/>
                <a:gd name="T20" fmla="*/ 0 w 114"/>
                <a:gd name="T21" fmla="*/ 0 h 238"/>
                <a:gd name="T22" fmla="*/ 0 w 114"/>
                <a:gd name="T23" fmla="*/ 0 h 238"/>
                <a:gd name="T24" fmla="*/ 0 w 114"/>
                <a:gd name="T25" fmla="*/ 0 h 238"/>
                <a:gd name="T26" fmla="*/ 0 w 114"/>
                <a:gd name="T27" fmla="*/ 0 h 238"/>
                <a:gd name="T28" fmla="*/ 0 w 114"/>
                <a:gd name="T29" fmla="*/ 0 h 238"/>
                <a:gd name="T30" fmla="*/ 0 w 114"/>
                <a:gd name="T31" fmla="*/ 0 h 238"/>
                <a:gd name="T32" fmla="*/ 0 w 114"/>
                <a:gd name="T33" fmla="*/ 0 h 238"/>
                <a:gd name="T34" fmla="*/ 0 w 114"/>
                <a:gd name="T35" fmla="*/ 0 h 238"/>
                <a:gd name="T36" fmla="*/ 0 w 114"/>
                <a:gd name="T37" fmla="*/ 0 h 238"/>
                <a:gd name="T38" fmla="*/ 0 w 114"/>
                <a:gd name="T39" fmla="*/ 0 h 238"/>
                <a:gd name="T40" fmla="*/ 0 w 114"/>
                <a:gd name="T41" fmla="*/ 0 h 238"/>
                <a:gd name="T42" fmla="*/ 0 w 114"/>
                <a:gd name="T43" fmla="*/ 0 h 238"/>
                <a:gd name="T44" fmla="*/ 0 w 114"/>
                <a:gd name="T45" fmla="*/ 0 h 238"/>
                <a:gd name="T46" fmla="*/ 0 w 114"/>
                <a:gd name="T47" fmla="*/ 0 h 238"/>
                <a:gd name="T48" fmla="*/ 0 w 114"/>
                <a:gd name="T49" fmla="*/ 0 h 238"/>
                <a:gd name="T50" fmla="*/ 0 w 114"/>
                <a:gd name="T51" fmla="*/ 0 h 238"/>
                <a:gd name="T52" fmla="*/ 0 w 114"/>
                <a:gd name="T53" fmla="*/ 0 h 238"/>
                <a:gd name="T54" fmla="*/ 0 w 114"/>
                <a:gd name="T55" fmla="*/ 0 h 238"/>
                <a:gd name="T56" fmla="*/ 0 w 114"/>
                <a:gd name="T57" fmla="*/ 0 h 238"/>
                <a:gd name="T58" fmla="*/ 0 w 114"/>
                <a:gd name="T59" fmla="*/ 0 h 238"/>
                <a:gd name="T60" fmla="*/ 0 w 114"/>
                <a:gd name="T61" fmla="*/ 0 h 238"/>
                <a:gd name="T62" fmla="*/ 0 w 114"/>
                <a:gd name="T63" fmla="*/ 0 h 238"/>
                <a:gd name="T64" fmla="*/ 0 w 114"/>
                <a:gd name="T65" fmla="*/ 0 h 238"/>
                <a:gd name="T66" fmla="*/ 0 w 114"/>
                <a:gd name="T67" fmla="*/ 0 h 238"/>
                <a:gd name="T68" fmla="*/ 0 w 114"/>
                <a:gd name="T69" fmla="*/ 0 h 238"/>
                <a:gd name="T70" fmla="*/ 0 w 114"/>
                <a:gd name="T71" fmla="*/ 0 h 238"/>
                <a:gd name="T72" fmla="*/ 0 w 114"/>
                <a:gd name="T73" fmla="*/ 0 h 238"/>
                <a:gd name="T74" fmla="*/ 0 w 114"/>
                <a:gd name="T75" fmla="*/ 0 h 238"/>
                <a:gd name="T76" fmla="*/ 0 w 114"/>
                <a:gd name="T77" fmla="*/ 0 h 238"/>
                <a:gd name="T78" fmla="*/ 0 w 114"/>
                <a:gd name="T79" fmla="*/ 0 h 238"/>
                <a:gd name="T80" fmla="*/ 0 w 114"/>
                <a:gd name="T81" fmla="*/ 0 h 2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4"/>
                <a:gd name="T124" fmla="*/ 0 h 238"/>
                <a:gd name="T125" fmla="*/ 114 w 114"/>
                <a:gd name="T126" fmla="*/ 238 h 2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5" name="Freeform 787"/>
            <p:cNvSpPr/>
            <p:nvPr/>
          </p:nvSpPr>
          <p:spPr bwMode="auto">
            <a:xfrm>
              <a:off x="4432" y="3130"/>
              <a:ext cx="41" cy="52"/>
            </a:xfrm>
            <a:custGeom>
              <a:avLst/>
              <a:gdLst>
                <a:gd name="T0" fmla="*/ 0 w 246"/>
                <a:gd name="T1" fmla="*/ 0 h 310"/>
                <a:gd name="T2" fmla="*/ 0 w 246"/>
                <a:gd name="T3" fmla="*/ 0 h 310"/>
                <a:gd name="T4" fmla="*/ 0 w 246"/>
                <a:gd name="T5" fmla="*/ 0 h 310"/>
                <a:gd name="T6" fmla="*/ 0 w 246"/>
                <a:gd name="T7" fmla="*/ 0 h 310"/>
                <a:gd name="T8" fmla="*/ 0 w 246"/>
                <a:gd name="T9" fmla="*/ 0 h 310"/>
                <a:gd name="T10" fmla="*/ 0 w 246"/>
                <a:gd name="T11" fmla="*/ 0 h 310"/>
                <a:gd name="T12" fmla="*/ 0 w 246"/>
                <a:gd name="T13" fmla="*/ 0 h 310"/>
                <a:gd name="T14" fmla="*/ 0 w 246"/>
                <a:gd name="T15" fmla="*/ 0 h 310"/>
                <a:gd name="T16" fmla="*/ 0 w 246"/>
                <a:gd name="T17" fmla="*/ 0 h 310"/>
                <a:gd name="T18" fmla="*/ 0 w 246"/>
                <a:gd name="T19" fmla="*/ 0 h 310"/>
                <a:gd name="T20" fmla="*/ 0 w 246"/>
                <a:gd name="T21" fmla="*/ 0 h 310"/>
                <a:gd name="T22" fmla="*/ 0 w 246"/>
                <a:gd name="T23" fmla="*/ 0 h 310"/>
                <a:gd name="T24" fmla="*/ 0 w 246"/>
                <a:gd name="T25" fmla="*/ 0 h 310"/>
                <a:gd name="T26" fmla="*/ 0 w 246"/>
                <a:gd name="T27" fmla="*/ 0 h 310"/>
                <a:gd name="T28" fmla="*/ 0 w 246"/>
                <a:gd name="T29" fmla="*/ 0 h 310"/>
                <a:gd name="T30" fmla="*/ 0 w 246"/>
                <a:gd name="T31" fmla="*/ 0 h 310"/>
                <a:gd name="T32" fmla="*/ 0 w 246"/>
                <a:gd name="T33" fmla="*/ 0 h 310"/>
                <a:gd name="T34" fmla="*/ 0 w 246"/>
                <a:gd name="T35" fmla="*/ 0 h 310"/>
                <a:gd name="T36" fmla="*/ 0 w 246"/>
                <a:gd name="T37" fmla="*/ 0 h 310"/>
                <a:gd name="T38" fmla="*/ 0 w 246"/>
                <a:gd name="T39" fmla="*/ 0 h 310"/>
                <a:gd name="T40" fmla="*/ 0 w 246"/>
                <a:gd name="T41" fmla="*/ 0 h 310"/>
                <a:gd name="T42" fmla="*/ 0 w 246"/>
                <a:gd name="T43" fmla="*/ 0 h 310"/>
                <a:gd name="T44" fmla="*/ 0 w 246"/>
                <a:gd name="T45" fmla="*/ 0 h 310"/>
                <a:gd name="T46" fmla="*/ 0 w 246"/>
                <a:gd name="T47" fmla="*/ 0 h 310"/>
                <a:gd name="T48" fmla="*/ 0 w 246"/>
                <a:gd name="T49" fmla="*/ 0 h 310"/>
                <a:gd name="T50" fmla="*/ 0 w 246"/>
                <a:gd name="T51" fmla="*/ 0 h 310"/>
                <a:gd name="T52" fmla="*/ 0 w 246"/>
                <a:gd name="T53" fmla="*/ 0 h 310"/>
                <a:gd name="T54" fmla="*/ 0 w 246"/>
                <a:gd name="T55" fmla="*/ 0 h 310"/>
                <a:gd name="T56" fmla="*/ 0 w 246"/>
                <a:gd name="T57" fmla="*/ 0 h 310"/>
                <a:gd name="T58" fmla="*/ 0 w 246"/>
                <a:gd name="T59" fmla="*/ 0 h 310"/>
                <a:gd name="T60" fmla="*/ 0 w 246"/>
                <a:gd name="T61" fmla="*/ 0 h 310"/>
                <a:gd name="T62" fmla="*/ 0 w 246"/>
                <a:gd name="T63" fmla="*/ 0 h 310"/>
                <a:gd name="T64" fmla="*/ 0 w 246"/>
                <a:gd name="T65" fmla="*/ 0 h 310"/>
                <a:gd name="T66" fmla="*/ 0 w 246"/>
                <a:gd name="T67" fmla="*/ 0 h 310"/>
                <a:gd name="T68" fmla="*/ 0 w 246"/>
                <a:gd name="T69" fmla="*/ 0 h 310"/>
                <a:gd name="T70" fmla="*/ 0 w 246"/>
                <a:gd name="T71" fmla="*/ 0 h 310"/>
                <a:gd name="T72" fmla="*/ 0 w 246"/>
                <a:gd name="T73" fmla="*/ 0 h 310"/>
                <a:gd name="T74" fmla="*/ 0 w 246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6"/>
                <a:gd name="T115" fmla="*/ 0 h 310"/>
                <a:gd name="T116" fmla="*/ 246 w 246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" name="Freeform 788"/>
            <p:cNvSpPr/>
            <p:nvPr/>
          </p:nvSpPr>
          <p:spPr bwMode="auto">
            <a:xfrm>
              <a:off x="4387" y="3191"/>
              <a:ext cx="14" cy="31"/>
            </a:xfrm>
            <a:custGeom>
              <a:avLst/>
              <a:gdLst>
                <a:gd name="T0" fmla="*/ 0 w 83"/>
                <a:gd name="T1" fmla="*/ 0 h 187"/>
                <a:gd name="T2" fmla="*/ 0 w 83"/>
                <a:gd name="T3" fmla="*/ 0 h 187"/>
                <a:gd name="T4" fmla="*/ 0 w 83"/>
                <a:gd name="T5" fmla="*/ 0 h 187"/>
                <a:gd name="T6" fmla="*/ 0 w 83"/>
                <a:gd name="T7" fmla="*/ 0 h 187"/>
                <a:gd name="T8" fmla="*/ 0 w 83"/>
                <a:gd name="T9" fmla="*/ 0 h 187"/>
                <a:gd name="T10" fmla="*/ 0 w 83"/>
                <a:gd name="T11" fmla="*/ 0 h 187"/>
                <a:gd name="T12" fmla="*/ 0 w 83"/>
                <a:gd name="T13" fmla="*/ 0 h 187"/>
                <a:gd name="T14" fmla="*/ 0 w 83"/>
                <a:gd name="T15" fmla="*/ 0 h 187"/>
                <a:gd name="T16" fmla="*/ 0 w 83"/>
                <a:gd name="T17" fmla="*/ 0 h 187"/>
                <a:gd name="T18" fmla="*/ 0 w 83"/>
                <a:gd name="T19" fmla="*/ 0 h 187"/>
                <a:gd name="T20" fmla="*/ 0 w 83"/>
                <a:gd name="T21" fmla="*/ 0 h 187"/>
                <a:gd name="T22" fmla="*/ 0 w 83"/>
                <a:gd name="T23" fmla="*/ 0 h 187"/>
                <a:gd name="T24" fmla="*/ 0 w 83"/>
                <a:gd name="T25" fmla="*/ 0 h 187"/>
                <a:gd name="T26" fmla="*/ 0 w 83"/>
                <a:gd name="T27" fmla="*/ 0 h 187"/>
                <a:gd name="T28" fmla="*/ 0 w 83"/>
                <a:gd name="T29" fmla="*/ 0 h 187"/>
                <a:gd name="T30" fmla="*/ 0 w 83"/>
                <a:gd name="T31" fmla="*/ 0 h 187"/>
                <a:gd name="T32" fmla="*/ 0 w 83"/>
                <a:gd name="T33" fmla="*/ 0 h 187"/>
                <a:gd name="T34" fmla="*/ 0 w 83"/>
                <a:gd name="T35" fmla="*/ 0 h 187"/>
                <a:gd name="T36" fmla="*/ 0 w 83"/>
                <a:gd name="T37" fmla="*/ 0 h 187"/>
                <a:gd name="T38" fmla="*/ 0 w 83"/>
                <a:gd name="T39" fmla="*/ 0 h 187"/>
                <a:gd name="T40" fmla="*/ 0 w 83"/>
                <a:gd name="T41" fmla="*/ 0 h 187"/>
                <a:gd name="T42" fmla="*/ 0 w 83"/>
                <a:gd name="T43" fmla="*/ 0 h 187"/>
                <a:gd name="T44" fmla="*/ 0 w 83"/>
                <a:gd name="T45" fmla="*/ 0 h 187"/>
                <a:gd name="T46" fmla="*/ 0 w 83"/>
                <a:gd name="T47" fmla="*/ 0 h 187"/>
                <a:gd name="T48" fmla="*/ 0 w 83"/>
                <a:gd name="T49" fmla="*/ 0 h 1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3"/>
                <a:gd name="T76" fmla="*/ 0 h 187"/>
                <a:gd name="T77" fmla="*/ 83 w 83"/>
                <a:gd name="T78" fmla="*/ 187 h 18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" name="Freeform 789"/>
            <p:cNvSpPr/>
            <p:nvPr/>
          </p:nvSpPr>
          <p:spPr bwMode="auto">
            <a:xfrm>
              <a:off x="4381" y="3174"/>
              <a:ext cx="7" cy="16"/>
            </a:xfrm>
            <a:custGeom>
              <a:avLst/>
              <a:gdLst>
                <a:gd name="T0" fmla="*/ 0 w 44"/>
                <a:gd name="T1" fmla="*/ 0 h 94"/>
                <a:gd name="T2" fmla="*/ 0 w 44"/>
                <a:gd name="T3" fmla="*/ 0 h 94"/>
                <a:gd name="T4" fmla="*/ 0 w 44"/>
                <a:gd name="T5" fmla="*/ 0 h 94"/>
                <a:gd name="T6" fmla="*/ 0 w 44"/>
                <a:gd name="T7" fmla="*/ 0 h 94"/>
                <a:gd name="T8" fmla="*/ 0 w 44"/>
                <a:gd name="T9" fmla="*/ 0 h 94"/>
                <a:gd name="T10" fmla="*/ 0 w 44"/>
                <a:gd name="T11" fmla="*/ 0 h 94"/>
                <a:gd name="T12" fmla="*/ 0 w 44"/>
                <a:gd name="T13" fmla="*/ 0 h 94"/>
                <a:gd name="T14" fmla="*/ 0 w 44"/>
                <a:gd name="T15" fmla="*/ 0 h 94"/>
                <a:gd name="T16" fmla="*/ 0 w 44"/>
                <a:gd name="T17" fmla="*/ 0 h 94"/>
                <a:gd name="T18" fmla="*/ 0 w 44"/>
                <a:gd name="T19" fmla="*/ 0 h 94"/>
                <a:gd name="T20" fmla="*/ 0 w 44"/>
                <a:gd name="T21" fmla="*/ 0 h 94"/>
                <a:gd name="T22" fmla="*/ 0 w 44"/>
                <a:gd name="T23" fmla="*/ 0 h 94"/>
                <a:gd name="T24" fmla="*/ 0 w 44"/>
                <a:gd name="T25" fmla="*/ 0 h 94"/>
                <a:gd name="T26" fmla="*/ 0 w 44"/>
                <a:gd name="T27" fmla="*/ 0 h 94"/>
                <a:gd name="T28" fmla="*/ 0 w 44"/>
                <a:gd name="T29" fmla="*/ 0 h 94"/>
                <a:gd name="T30" fmla="*/ 0 w 44"/>
                <a:gd name="T31" fmla="*/ 0 h 94"/>
                <a:gd name="T32" fmla="*/ 0 w 44"/>
                <a:gd name="T33" fmla="*/ 0 h 94"/>
                <a:gd name="T34" fmla="*/ 0 w 44"/>
                <a:gd name="T35" fmla="*/ 0 h 94"/>
                <a:gd name="T36" fmla="*/ 0 w 44"/>
                <a:gd name="T37" fmla="*/ 0 h 94"/>
                <a:gd name="T38" fmla="*/ 0 w 44"/>
                <a:gd name="T39" fmla="*/ 0 h 94"/>
                <a:gd name="T40" fmla="*/ 0 w 44"/>
                <a:gd name="T41" fmla="*/ 0 h 9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"/>
                <a:gd name="T64" fmla="*/ 0 h 94"/>
                <a:gd name="T65" fmla="*/ 44 w 44"/>
                <a:gd name="T66" fmla="*/ 94 h 9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" name="Freeform 790"/>
            <p:cNvSpPr/>
            <p:nvPr/>
          </p:nvSpPr>
          <p:spPr bwMode="auto">
            <a:xfrm>
              <a:off x="4375" y="3163"/>
              <a:ext cx="6" cy="9"/>
            </a:xfrm>
            <a:custGeom>
              <a:avLst/>
              <a:gdLst>
                <a:gd name="T0" fmla="*/ 0 w 38"/>
                <a:gd name="T1" fmla="*/ 0 h 54"/>
                <a:gd name="T2" fmla="*/ 0 w 38"/>
                <a:gd name="T3" fmla="*/ 0 h 54"/>
                <a:gd name="T4" fmla="*/ 0 w 38"/>
                <a:gd name="T5" fmla="*/ 0 h 54"/>
                <a:gd name="T6" fmla="*/ 0 w 38"/>
                <a:gd name="T7" fmla="*/ 0 h 54"/>
                <a:gd name="T8" fmla="*/ 0 w 38"/>
                <a:gd name="T9" fmla="*/ 0 h 54"/>
                <a:gd name="T10" fmla="*/ 0 w 38"/>
                <a:gd name="T11" fmla="*/ 0 h 54"/>
                <a:gd name="T12" fmla="*/ 0 w 38"/>
                <a:gd name="T13" fmla="*/ 0 h 54"/>
                <a:gd name="T14" fmla="*/ 0 w 38"/>
                <a:gd name="T15" fmla="*/ 0 h 54"/>
                <a:gd name="T16" fmla="*/ 0 w 38"/>
                <a:gd name="T17" fmla="*/ 0 h 54"/>
                <a:gd name="T18" fmla="*/ 0 w 38"/>
                <a:gd name="T19" fmla="*/ 0 h 54"/>
                <a:gd name="T20" fmla="*/ 0 w 38"/>
                <a:gd name="T21" fmla="*/ 0 h 54"/>
                <a:gd name="T22" fmla="*/ 0 w 38"/>
                <a:gd name="T23" fmla="*/ 0 h 54"/>
                <a:gd name="T24" fmla="*/ 0 w 38"/>
                <a:gd name="T25" fmla="*/ 0 h 54"/>
                <a:gd name="T26" fmla="*/ 0 w 38"/>
                <a:gd name="T27" fmla="*/ 0 h 54"/>
                <a:gd name="T28" fmla="*/ 0 w 38"/>
                <a:gd name="T29" fmla="*/ 0 h 54"/>
                <a:gd name="T30" fmla="*/ 0 w 38"/>
                <a:gd name="T31" fmla="*/ 0 h 54"/>
                <a:gd name="T32" fmla="*/ 0 w 38"/>
                <a:gd name="T33" fmla="*/ 0 h 54"/>
                <a:gd name="T34" fmla="*/ 0 w 38"/>
                <a:gd name="T35" fmla="*/ 0 h 54"/>
                <a:gd name="T36" fmla="*/ 0 w 38"/>
                <a:gd name="T37" fmla="*/ 0 h 54"/>
                <a:gd name="T38" fmla="*/ 0 w 38"/>
                <a:gd name="T39" fmla="*/ 0 h 54"/>
                <a:gd name="T40" fmla="*/ 0 w 38"/>
                <a:gd name="T41" fmla="*/ 0 h 54"/>
                <a:gd name="T42" fmla="*/ 0 w 38"/>
                <a:gd name="T43" fmla="*/ 0 h 54"/>
                <a:gd name="T44" fmla="*/ 0 w 38"/>
                <a:gd name="T45" fmla="*/ 0 h 54"/>
                <a:gd name="T46" fmla="*/ 0 w 38"/>
                <a:gd name="T47" fmla="*/ 0 h 54"/>
                <a:gd name="T48" fmla="*/ 0 w 38"/>
                <a:gd name="T49" fmla="*/ 0 h 5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"/>
                <a:gd name="T76" fmla="*/ 0 h 54"/>
                <a:gd name="T77" fmla="*/ 38 w 38"/>
                <a:gd name="T78" fmla="*/ 54 h 5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" name="Freeform 791"/>
            <p:cNvSpPr/>
            <p:nvPr/>
          </p:nvSpPr>
          <p:spPr bwMode="auto">
            <a:xfrm>
              <a:off x="4370" y="3155"/>
              <a:ext cx="8" cy="6"/>
            </a:xfrm>
            <a:custGeom>
              <a:avLst/>
              <a:gdLst>
                <a:gd name="T0" fmla="*/ 0 w 52"/>
                <a:gd name="T1" fmla="*/ 0 h 36"/>
                <a:gd name="T2" fmla="*/ 0 w 52"/>
                <a:gd name="T3" fmla="*/ 0 h 36"/>
                <a:gd name="T4" fmla="*/ 0 w 52"/>
                <a:gd name="T5" fmla="*/ 0 h 36"/>
                <a:gd name="T6" fmla="*/ 0 w 52"/>
                <a:gd name="T7" fmla="*/ 0 h 36"/>
                <a:gd name="T8" fmla="*/ 0 w 52"/>
                <a:gd name="T9" fmla="*/ 0 h 36"/>
                <a:gd name="T10" fmla="*/ 0 w 52"/>
                <a:gd name="T11" fmla="*/ 0 h 36"/>
                <a:gd name="T12" fmla="*/ 0 w 52"/>
                <a:gd name="T13" fmla="*/ 0 h 36"/>
                <a:gd name="T14" fmla="*/ 0 w 52"/>
                <a:gd name="T15" fmla="*/ 0 h 36"/>
                <a:gd name="T16" fmla="*/ 0 w 52"/>
                <a:gd name="T17" fmla="*/ 0 h 36"/>
                <a:gd name="T18" fmla="*/ 0 w 52"/>
                <a:gd name="T19" fmla="*/ 0 h 36"/>
                <a:gd name="T20" fmla="*/ 0 w 52"/>
                <a:gd name="T21" fmla="*/ 0 h 36"/>
                <a:gd name="T22" fmla="*/ 0 w 52"/>
                <a:gd name="T23" fmla="*/ 0 h 36"/>
                <a:gd name="T24" fmla="*/ 0 w 52"/>
                <a:gd name="T25" fmla="*/ 0 h 36"/>
                <a:gd name="T26" fmla="*/ 0 w 52"/>
                <a:gd name="T27" fmla="*/ 0 h 36"/>
                <a:gd name="T28" fmla="*/ 0 w 52"/>
                <a:gd name="T29" fmla="*/ 0 h 36"/>
                <a:gd name="T30" fmla="*/ 0 w 52"/>
                <a:gd name="T31" fmla="*/ 0 h 36"/>
                <a:gd name="T32" fmla="*/ 0 w 52"/>
                <a:gd name="T33" fmla="*/ 0 h 36"/>
                <a:gd name="T34" fmla="*/ 0 w 52"/>
                <a:gd name="T35" fmla="*/ 0 h 36"/>
                <a:gd name="T36" fmla="*/ 0 w 52"/>
                <a:gd name="T37" fmla="*/ 0 h 36"/>
                <a:gd name="T38" fmla="*/ 0 w 52"/>
                <a:gd name="T39" fmla="*/ 0 h 36"/>
                <a:gd name="T40" fmla="*/ 0 w 52"/>
                <a:gd name="T41" fmla="*/ 0 h 36"/>
                <a:gd name="T42" fmla="*/ 0 w 52"/>
                <a:gd name="T43" fmla="*/ 0 h 36"/>
                <a:gd name="T44" fmla="*/ 0 w 52"/>
                <a:gd name="T45" fmla="*/ 0 h 36"/>
                <a:gd name="T46" fmla="*/ 0 w 52"/>
                <a:gd name="T47" fmla="*/ 0 h 36"/>
                <a:gd name="T48" fmla="*/ 0 w 52"/>
                <a:gd name="T49" fmla="*/ 0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2"/>
                <a:gd name="T76" fmla="*/ 0 h 36"/>
                <a:gd name="T77" fmla="*/ 52 w 52"/>
                <a:gd name="T78" fmla="*/ 36 h 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" name="Freeform 792"/>
            <p:cNvSpPr/>
            <p:nvPr/>
          </p:nvSpPr>
          <p:spPr bwMode="auto">
            <a:xfrm>
              <a:off x="4330" y="3145"/>
              <a:ext cx="33" cy="39"/>
            </a:xfrm>
            <a:custGeom>
              <a:avLst/>
              <a:gdLst>
                <a:gd name="T0" fmla="*/ 0 w 198"/>
                <a:gd name="T1" fmla="*/ 0 h 236"/>
                <a:gd name="T2" fmla="*/ 0 w 198"/>
                <a:gd name="T3" fmla="*/ 0 h 236"/>
                <a:gd name="T4" fmla="*/ 0 w 198"/>
                <a:gd name="T5" fmla="*/ 0 h 236"/>
                <a:gd name="T6" fmla="*/ 0 w 198"/>
                <a:gd name="T7" fmla="*/ 0 h 236"/>
                <a:gd name="T8" fmla="*/ 0 w 198"/>
                <a:gd name="T9" fmla="*/ 0 h 236"/>
                <a:gd name="T10" fmla="*/ 0 w 198"/>
                <a:gd name="T11" fmla="*/ 0 h 236"/>
                <a:gd name="T12" fmla="*/ 0 w 198"/>
                <a:gd name="T13" fmla="*/ 0 h 236"/>
                <a:gd name="T14" fmla="*/ 0 w 198"/>
                <a:gd name="T15" fmla="*/ 0 h 236"/>
                <a:gd name="T16" fmla="*/ 0 w 198"/>
                <a:gd name="T17" fmla="*/ 0 h 236"/>
                <a:gd name="T18" fmla="*/ 0 w 198"/>
                <a:gd name="T19" fmla="*/ 0 h 236"/>
                <a:gd name="T20" fmla="*/ 0 w 198"/>
                <a:gd name="T21" fmla="*/ 0 h 236"/>
                <a:gd name="T22" fmla="*/ 0 w 198"/>
                <a:gd name="T23" fmla="*/ 0 h 236"/>
                <a:gd name="T24" fmla="*/ 0 w 198"/>
                <a:gd name="T25" fmla="*/ 0 h 236"/>
                <a:gd name="T26" fmla="*/ 0 w 198"/>
                <a:gd name="T27" fmla="*/ 0 h 236"/>
                <a:gd name="T28" fmla="*/ 0 w 198"/>
                <a:gd name="T29" fmla="*/ 0 h 236"/>
                <a:gd name="T30" fmla="*/ 0 w 198"/>
                <a:gd name="T31" fmla="*/ 0 h 236"/>
                <a:gd name="T32" fmla="*/ 0 w 198"/>
                <a:gd name="T33" fmla="*/ 0 h 236"/>
                <a:gd name="T34" fmla="*/ 0 w 198"/>
                <a:gd name="T35" fmla="*/ 0 h 236"/>
                <a:gd name="T36" fmla="*/ 0 w 198"/>
                <a:gd name="T37" fmla="*/ 0 h 236"/>
                <a:gd name="T38" fmla="*/ 0 w 198"/>
                <a:gd name="T39" fmla="*/ 0 h 236"/>
                <a:gd name="T40" fmla="*/ 0 w 198"/>
                <a:gd name="T41" fmla="*/ 0 h 236"/>
                <a:gd name="T42" fmla="*/ 0 w 198"/>
                <a:gd name="T43" fmla="*/ 0 h 236"/>
                <a:gd name="T44" fmla="*/ 0 w 198"/>
                <a:gd name="T45" fmla="*/ 0 h 236"/>
                <a:gd name="T46" fmla="*/ 0 w 198"/>
                <a:gd name="T47" fmla="*/ 0 h 236"/>
                <a:gd name="T48" fmla="*/ 0 w 198"/>
                <a:gd name="T49" fmla="*/ 0 h 236"/>
                <a:gd name="T50" fmla="*/ 0 w 198"/>
                <a:gd name="T51" fmla="*/ 0 h 236"/>
                <a:gd name="T52" fmla="*/ 0 w 198"/>
                <a:gd name="T53" fmla="*/ 0 h 236"/>
                <a:gd name="T54" fmla="*/ 0 w 198"/>
                <a:gd name="T55" fmla="*/ 0 h 236"/>
                <a:gd name="T56" fmla="*/ 0 w 198"/>
                <a:gd name="T57" fmla="*/ 0 h 236"/>
                <a:gd name="T58" fmla="*/ 0 w 198"/>
                <a:gd name="T59" fmla="*/ 0 h 236"/>
                <a:gd name="T60" fmla="*/ 0 w 198"/>
                <a:gd name="T61" fmla="*/ 0 h 236"/>
                <a:gd name="T62" fmla="*/ 0 w 198"/>
                <a:gd name="T63" fmla="*/ 0 h 236"/>
                <a:gd name="T64" fmla="*/ 0 w 198"/>
                <a:gd name="T65" fmla="*/ 0 h 236"/>
                <a:gd name="T66" fmla="*/ 0 w 198"/>
                <a:gd name="T67" fmla="*/ 0 h 236"/>
                <a:gd name="T68" fmla="*/ 0 w 198"/>
                <a:gd name="T69" fmla="*/ 0 h 236"/>
                <a:gd name="T70" fmla="*/ 0 w 198"/>
                <a:gd name="T71" fmla="*/ 0 h 236"/>
                <a:gd name="T72" fmla="*/ 0 w 198"/>
                <a:gd name="T73" fmla="*/ 0 h 236"/>
                <a:gd name="T74" fmla="*/ 0 w 198"/>
                <a:gd name="T75" fmla="*/ 0 h 236"/>
                <a:gd name="T76" fmla="*/ 0 w 198"/>
                <a:gd name="T77" fmla="*/ 0 h 236"/>
                <a:gd name="T78" fmla="*/ 0 w 198"/>
                <a:gd name="T79" fmla="*/ 0 h 236"/>
                <a:gd name="T80" fmla="*/ 0 w 198"/>
                <a:gd name="T81" fmla="*/ 0 h 236"/>
                <a:gd name="T82" fmla="*/ 0 w 198"/>
                <a:gd name="T83" fmla="*/ 0 h 236"/>
                <a:gd name="T84" fmla="*/ 0 w 198"/>
                <a:gd name="T85" fmla="*/ 0 h 236"/>
                <a:gd name="T86" fmla="*/ 0 w 198"/>
                <a:gd name="T87" fmla="*/ 0 h 236"/>
                <a:gd name="T88" fmla="*/ 0 w 198"/>
                <a:gd name="T89" fmla="*/ 0 h 236"/>
                <a:gd name="T90" fmla="*/ 0 w 198"/>
                <a:gd name="T91" fmla="*/ 0 h 236"/>
                <a:gd name="T92" fmla="*/ 0 w 198"/>
                <a:gd name="T93" fmla="*/ 0 h 236"/>
                <a:gd name="T94" fmla="*/ 0 w 198"/>
                <a:gd name="T95" fmla="*/ 0 h 236"/>
                <a:gd name="T96" fmla="*/ 0 w 198"/>
                <a:gd name="T97" fmla="*/ 0 h 236"/>
                <a:gd name="T98" fmla="*/ 0 w 198"/>
                <a:gd name="T99" fmla="*/ 0 h 236"/>
                <a:gd name="T100" fmla="*/ 0 w 198"/>
                <a:gd name="T101" fmla="*/ 0 h 236"/>
                <a:gd name="T102" fmla="*/ 0 w 198"/>
                <a:gd name="T103" fmla="*/ 0 h 236"/>
                <a:gd name="T104" fmla="*/ 0 w 198"/>
                <a:gd name="T105" fmla="*/ 0 h 236"/>
                <a:gd name="T106" fmla="*/ 0 w 198"/>
                <a:gd name="T107" fmla="*/ 0 h 236"/>
                <a:gd name="T108" fmla="*/ 0 w 198"/>
                <a:gd name="T109" fmla="*/ 0 h 236"/>
                <a:gd name="T110" fmla="*/ 0 w 198"/>
                <a:gd name="T111" fmla="*/ 0 h 236"/>
                <a:gd name="T112" fmla="*/ 0 w 198"/>
                <a:gd name="T113" fmla="*/ 0 h 236"/>
                <a:gd name="T114" fmla="*/ 0 w 198"/>
                <a:gd name="T115" fmla="*/ 0 h 236"/>
                <a:gd name="T116" fmla="*/ 0 w 198"/>
                <a:gd name="T117" fmla="*/ 0 h 236"/>
                <a:gd name="T118" fmla="*/ 0 w 198"/>
                <a:gd name="T119" fmla="*/ 0 h 236"/>
                <a:gd name="T120" fmla="*/ 0 w 198"/>
                <a:gd name="T121" fmla="*/ 0 h 2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8"/>
                <a:gd name="T184" fmla="*/ 0 h 236"/>
                <a:gd name="T185" fmla="*/ 198 w 198"/>
                <a:gd name="T186" fmla="*/ 236 h 2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" name="Freeform 793"/>
            <p:cNvSpPr/>
            <p:nvPr/>
          </p:nvSpPr>
          <p:spPr bwMode="auto">
            <a:xfrm>
              <a:off x="4386" y="3145"/>
              <a:ext cx="22" cy="30"/>
            </a:xfrm>
            <a:custGeom>
              <a:avLst/>
              <a:gdLst>
                <a:gd name="T0" fmla="*/ 0 w 128"/>
                <a:gd name="T1" fmla="*/ 0 h 183"/>
                <a:gd name="T2" fmla="*/ 0 w 128"/>
                <a:gd name="T3" fmla="*/ 0 h 183"/>
                <a:gd name="T4" fmla="*/ 0 w 128"/>
                <a:gd name="T5" fmla="*/ 0 h 183"/>
                <a:gd name="T6" fmla="*/ 0 w 128"/>
                <a:gd name="T7" fmla="*/ 0 h 183"/>
                <a:gd name="T8" fmla="*/ 0 w 128"/>
                <a:gd name="T9" fmla="*/ 0 h 183"/>
                <a:gd name="T10" fmla="*/ 0 w 128"/>
                <a:gd name="T11" fmla="*/ 0 h 183"/>
                <a:gd name="T12" fmla="*/ 0 w 128"/>
                <a:gd name="T13" fmla="*/ 0 h 183"/>
                <a:gd name="T14" fmla="*/ 0 w 128"/>
                <a:gd name="T15" fmla="*/ 0 h 183"/>
                <a:gd name="T16" fmla="*/ 0 w 128"/>
                <a:gd name="T17" fmla="*/ 0 h 183"/>
                <a:gd name="T18" fmla="*/ 0 w 128"/>
                <a:gd name="T19" fmla="*/ 0 h 183"/>
                <a:gd name="T20" fmla="*/ 0 w 128"/>
                <a:gd name="T21" fmla="*/ 0 h 183"/>
                <a:gd name="T22" fmla="*/ 0 w 128"/>
                <a:gd name="T23" fmla="*/ 0 h 183"/>
                <a:gd name="T24" fmla="*/ 0 w 128"/>
                <a:gd name="T25" fmla="*/ 0 h 183"/>
                <a:gd name="T26" fmla="*/ 0 w 128"/>
                <a:gd name="T27" fmla="*/ 0 h 183"/>
                <a:gd name="T28" fmla="*/ 0 w 128"/>
                <a:gd name="T29" fmla="*/ 0 h 183"/>
                <a:gd name="T30" fmla="*/ 0 w 128"/>
                <a:gd name="T31" fmla="*/ 0 h 183"/>
                <a:gd name="T32" fmla="*/ 0 w 128"/>
                <a:gd name="T33" fmla="*/ 0 h 183"/>
                <a:gd name="T34" fmla="*/ 0 w 128"/>
                <a:gd name="T35" fmla="*/ 0 h 183"/>
                <a:gd name="T36" fmla="*/ 0 w 128"/>
                <a:gd name="T37" fmla="*/ 0 h 183"/>
                <a:gd name="T38" fmla="*/ 0 w 128"/>
                <a:gd name="T39" fmla="*/ 0 h 183"/>
                <a:gd name="T40" fmla="*/ 0 w 128"/>
                <a:gd name="T41" fmla="*/ 0 h 183"/>
                <a:gd name="T42" fmla="*/ 0 w 128"/>
                <a:gd name="T43" fmla="*/ 0 h 183"/>
                <a:gd name="T44" fmla="*/ 0 w 128"/>
                <a:gd name="T45" fmla="*/ 0 h 183"/>
                <a:gd name="T46" fmla="*/ 0 w 128"/>
                <a:gd name="T47" fmla="*/ 0 h 183"/>
                <a:gd name="T48" fmla="*/ 0 w 128"/>
                <a:gd name="T49" fmla="*/ 0 h 183"/>
                <a:gd name="T50" fmla="*/ 0 w 128"/>
                <a:gd name="T51" fmla="*/ 0 h 183"/>
                <a:gd name="T52" fmla="*/ 0 w 128"/>
                <a:gd name="T53" fmla="*/ 0 h 183"/>
                <a:gd name="T54" fmla="*/ 0 w 128"/>
                <a:gd name="T55" fmla="*/ 0 h 183"/>
                <a:gd name="T56" fmla="*/ 0 w 128"/>
                <a:gd name="T57" fmla="*/ 0 h 183"/>
                <a:gd name="T58" fmla="*/ 0 w 128"/>
                <a:gd name="T59" fmla="*/ 0 h 183"/>
                <a:gd name="T60" fmla="*/ 0 w 128"/>
                <a:gd name="T61" fmla="*/ 0 h 183"/>
                <a:gd name="T62" fmla="*/ 0 w 128"/>
                <a:gd name="T63" fmla="*/ 0 h 183"/>
                <a:gd name="T64" fmla="*/ 0 w 128"/>
                <a:gd name="T65" fmla="*/ 0 h 183"/>
                <a:gd name="T66" fmla="*/ 0 w 128"/>
                <a:gd name="T67" fmla="*/ 0 h 183"/>
                <a:gd name="T68" fmla="*/ 0 w 128"/>
                <a:gd name="T69" fmla="*/ 0 h 183"/>
                <a:gd name="T70" fmla="*/ 0 w 128"/>
                <a:gd name="T71" fmla="*/ 0 h 183"/>
                <a:gd name="T72" fmla="*/ 0 w 128"/>
                <a:gd name="T73" fmla="*/ 0 h 183"/>
                <a:gd name="T74" fmla="*/ 0 w 128"/>
                <a:gd name="T75" fmla="*/ 0 h 183"/>
                <a:gd name="T76" fmla="*/ 0 w 128"/>
                <a:gd name="T77" fmla="*/ 0 h 183"/>
                <a:gd name="T78" fmla="*/ 0 w 128"/>
                <a:gd name="T79" fmla="*/ 0 h 183"/>
                <a:gd name="T80" fmla="*/ 0 w 128"/>
                <a:gd name="T81" fmla="*/ 0 h 18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3"/>
                <a:gd name="T125" fmla="*/ 128 w 128"/>
                <a:gd name="T126" fmla="*/ 183 h 18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" name="Freeform 794"/>
            <p:cNvSpPr/>
            <p:nvPr/>
          </p:nvSpPr>
          <p:spPr bwMode="auto">
            <a:xfrm>
              <a:off x="4309" y="3138"/>
              <a:ext cx="53" cy="63"/>
            </a:xfrm>
            <a:custGeom>
              <a:avLst/>
              <a:gdLst>
                <a:gd name="T0" fmla="*/ 0 w 323"/>
                <a:gd name="T1" fmla="*/ 0 h 379"/>
                <a:gd name="T2" fmla="*/ 0 w 323"/>
                <a:gd name="T3" fmla="*/ 0 h 379"/>
                <a:gd name="T4" fmla="*/ 0 w 323"/>
                <a:gd name="T5" fmla="*/ 0 h 379"/>
                <a:gd name="T6" fmla="*/ 0 w 323"/>
                <a:gd name="T7" fmla="*/ 0 h 379"/>
                <a:gd name="T8" fmla="*/ 0 w 323"/>
                <a:gd name="T9" fmla="*/ 0 h 379"/>
                <a:gd name="T10" fmla="*/ 0 w 323"/>
                <a:gd name="T11" fmla="*/ 0 h 379"/>
                <a:gd name="T12" fmla="*/ 0 w 323"/>
                <a:gd name="T13" fmla="*/ 0 h 379"/>
                <a:gd name="T14" fmla="*/ 0 w 323"/>
                <a:gd name="T15" fmla="*/ 0 h 379"/>
                <a:gd name="T16" fmla="*/ 0 w 323"/>
                <a:gd name="T17" fmla="*/ 0 h 379"/>
                <a:gd name="T18" fmla="*/ 0 w 323"/>
                <a:gd name="T19" fmla="*/ 0 h 379"/>
                <a:gd name="T20" fmla="*/ 0 w 323"/>
                <a:gd name="T21" fmla="*/ 0 h 379"/>
                <a:gd name="T22" fmla="*/ 0 w 323"/>
                <a:gd name="T23" fmla="*/ 0 h 379"/>
                <a:gd name="T24" fmla="*/ 0 w 323"/>
                <a:gd name="T25" fmla="*/ 0 h 379"/>
                <a:gd name="T26" fmla="*/ 0 w 323"/>
                <a:gd name="T27" fmla="*/ 0 h 379"/>
                <a:gd name="T28" fmla="*/ 0 w 323"/>
                <a:gd name="T29" fmla="*/ 0 h 379"/>
                <a:gd name="T30" fmla="*/ 0 w 323"/>
                <a:gd name="T31" fmla="*/ 0 h 379"/>
                <a:gd name="T32" fmla="*/ 0 w 323"/>
                <a:gd name="T33" fmla="*/ 0 h 379"/>
                <a:gd name="T34" fmla="*/ 0 w 323"/>
                <a:gd name="T35" fmla="*/ 0 h 379"/>
                <a:gd name="T36" fmla="*/ 0 w 323"/>
                <a:gd name="T37" fmla="*/ 0 h 379"/>
                <a:gd name="T38" fmla="*/ 0 w 323"/>
                <a:gd name="T39" fmla="*/ 0 h 379"/>
                <a:gd name="T40" fmla="*/ 0 w 323"/>
                <a:gd name="T41" fmla="*/ 0 h 379"/>
                <a:gd name="T42" fmla="*/ 0 w 323"/>
                <a:gd name="T43" fmla="*/ 0 h 379"/>
                <a:gd name="T44" fmla="*/ 0 w 323"/>
                <a:gd name="T45" fmla="*/ 0 h 379"/>
                <a:gd name="T46" fmla="*/ 0 w 323"/>
                <a:gd name="T47" fmla="*/ 0 h 379"/>
                <a:gd name="T48" fmla="*/ 0 w 323"/>
                <a:gd name="T49" fmla="*/ 0 h 379"/>
                <a:gd name="T50" fmla="*/ 0 w 323"/>
                <a:gd name="T51" fmla="*/ 0 h 379"/>
                <a:gd name="T52" fmla="*/ 0 w 323"/>
                <a:gd name="T53" fmla="*/ 0 h 379"/>
                <a:gd name="T54" fmla="*/ 0 w 323"/>
                <a:gd name="T55" fmla="*/ 0 h 379"/>
                <a:gd name="T56" fmla="*/ 0 w 323"/>
                <a:gd name="T57" fmla="*/ 0 h 379"/>
                <a:gd name="T58" fmla="*/ 0 w 323"/>
                <a:gd name="T59" fmla="*/ 0 h 379"/>
                <a:gd name="T60" fmla="*/ 0 w 323"/>
                <a:gd name="T61" fmla="*/ 0 h 379"/>
                <a:gd name="T62" fmla="*/ 0 w 323"/>
                <a:gd name="T63" fmla="*/ 0 h 379"/>
                <a:gd name="T64" fmla="*/ 0 w 323"/>
                <a:gd name="T65" fmla="*/ 0 h 379"/>
                <a:gd name="T66" fmla="*/ 0 w 323"/>
                <a:gd name="T67" fmla="*/ 0 h 379"/>
                <a:gd name="T68" fmla="*/ 0 w 323"/>
                <a:gd name="T69" fmla="*/ 0 h 379"/>
                <a:gd name="T70" fmla="*/ 0 w 323"/>
                <a:gd name="T71" fmla="*/ 0 h 379"/>
                <a:gd name="T72" fmla="*/ 0 w 323"/>
                <a:gd name="T73" fmla="*/ 0 h 379"/>
                <a:gd name="T74" fmla="*/ 0 w 323"/>
                <a:gd name="T75" fmla="*/ 0 h 379"/>
                <a:gd name="T76" fmla="*/ 0 w 323"/>
                <a:gd name="T77" fmla="*/ 0 h 379"/>
                <a:gd name="T78" fmla="*/ 0 w 323"/>
                <a:gd name="T79" fmla="*/ 0 h 379"/>
                <a:gd name="T80" fmla="*/ 0 w 323"/>
                <a:gd name="T81" fmla="*/ 0 h 379"/>
                <a:gd name="T82" fmla="*/ 0 w 323"/>
                <a:gd name="T83" fmla="*/ 0 h 379"/>
                <a:gd name="T84" fmla="*/ 0 w 323"/>
                <a:gd name="T85" fmla="*/ 0 h 379"/>
                <a:gd name="T86" fmla="*/ 0 w 323"/>
                <a:gd name="T87" fmla="*/ 0 h 37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3"/>
                <a:gd name="T133" fmla="*/ 0 h 379"/>
                <a:gd name="T134" fmla="*/ 323 w 323"/>
                <a:gd name="T135" fmla="*/ 379 h 37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" name="Freeform 795"/>
            <p:cNvSpPr/>
            <p:nvPr/>
          </p:nvSpPr>
          <p:spPr bwMode="auto">
            <a:xfrm>
              <a:off x="4384" y="3136"/>
              <a:ext cx="47" cy="42"/>
            </a:xfrm>
            <a:custGeom>
              <a:avLst/>
              <a:gdLst>
                <a:gd name="T0" fmla="*/ 0 w 282"/>
                <a:gd name="T1" fmla="*/ 0 h 253"/>
                <a:gd name="T2" fmla="*/ 0 w 282"/>
                <a:gd name="T3" fmla="*/ 0 h 253"/>
                <a:gd name="T4" fmla="*/ 0 w 282"/>
                <a:gd name="T5" fmla="*/ 0 h 253"/>
                <a:gd name="T6" fmla="*/ 0 w 282"/>
                <a:gd name="T7" fmla="*/ 0 h 253"/>
                <a:gd name="T8" fmla="*/ 0 w 282"/>
                <a:gd name="T9" fmla="*/ 0 h 253"/>
                <a:gd name="T10" fmla="*/ 0 w 282"/>
                <a:gd name="T11" fmla="*/ 0 h 253"/>
                <a:gd name="T12" fmla="*/ 0 w 282"/>
                <a:gd name="T13" fmla="*/ 0 h 253"/>
                <a:gd name="T14" fmla="*/ 0 w 282"/>
                <a:gd name="T15" fmla="*/ 0 h 253"/>
                <a:gd name="T16" fmla="*/ 0 w 282"/>
                <a:gd name="T17" fmla="*/ 0 h 253"/>
                <a:gd name="T18" fmla="*/ 0 w 282"/>
                <a:gd name="T19" fmla="*/ 0 h 253"/>
                <a:gd name="T20" fmla="*/ 0 w 282"/>
                <a:gd name="T21" fmla="*/ 0 h 253"/>
                <a:gd name="T22" fmla="*/ 0 w 282"/>
                <a:gd name="T23" fmla="*/ 0 h 253"/>
                <a:gd name="T24" fmla="*/ 0 w 282"/>
                <a:gd name="T25" fmla="*/ 0 h 253"/>
                <a:gd name="T26" fmla="*/ 0 w 282"/>
                <a:gd name="T27" fmla="*/ 0 h 253"/>
                <a:gd name="T28" fmla="*/ 0 w 282"/>
                <a:gd name="T29" fmla="*/ 0 h 253"/>
                <a:gd name="T30" fmla="*/ 0 w 282"/>
                <a:gd name="T31" fmla="*/ 0 h 253"/>
                <a:gd name="T32" fmla="*/ 0 w 282"/>
                <a:gd name="T33" fmla="*/ 0 h 253"/>
                <a:gd name="T34" fmla="*/ 0 w 282"/>
                <a:gd name="T35" fmla="*/ 0 h 253"/>
                <a:gd name="T36" fmla="*/ 0 w 282"/>
                <a:gd name="T37" fmla="*/ 0 h 253"/>
                <a:gd name="T38" fmla="*/ 0 w 282"/>
                <a:gd name="T39" fmla="*/ 0 h 253"/>
                <a:gd name="T40" fmla="*/ 0 w 282"/>
                <a:gd name="T41" fmla="*/ 0 h 253"/>
                <a:gd name="T42" fmla="*/ 0 w 282"/>
                <a:gd name="T43" fmla="*/ 0 h 253"/>
                <a:gd name="T44" fmla="*/ 0 w 282"/>
                <a:gd name="T45" fmla="*/ 0 h 253"/>
                <a:gd name="T46" fmla="*/ 0 w 282"/>
                <a:gd name="T47" fmla="*/ 0 h 253"/>
                <a:gd name="T48" fmla="*/ 0 w 282"/>
                <a:gd name="T49" fmla="*/ 0 h 253"/>
                <a:gd name="T50" fmla="*/ 0 w 282"/>
                <a:gd name="T51" fmla="*/ 0 h 253"/>
                <a:gd name="T52" fmla="*/ 0 w 282"/>
                <a:gd name="T53" fmla="*/ 0 h 253"/>
                <a:gd name="T54" fmla="*/ 0 w 282"/>
                <a:gd name="T55" fmla="*/ 0 h 253"/>
                <a:gd name="T56" fmla="*/ 0 w 282"/>
                <a:gd name="T57" fmla="*/ 0 h 253"/>
                <a:gd name="T58" fmla="*/ 0 w 282"/>
                <a:gd name="T59" fmla="*/ 0 h 253"/>
                <a:gd name="T60" fmla="*/ 0 w 282"/>
                <a:gd name="T61" fmla="*/ 0 h 253"/>
                <a:gd name="T62" fmla="*/ 0 w 282"/>
                <a:gd name="T63" fmla="*/ 0 h 253"/>
                <a:gd name="T64" fmla="*/ 0 w 282"/>
                <a:gd name="T65" fmla="*/ 0 h 253"/>
                <a:gd name="T66" fmla="*/ 0 w 282"/>
                <a:gd name="T67" fmla="*/ 0 h 253"/>
                <a:gd name="T68" fmla="*/ 0 w 282"/>
                <a:gd name="T69" fmla="*/ 0 h 253"/>
                <a:gd name="T70" fmla="*/ 0 w 282"/>
                <a:gd name="T71" fmla="*/ 0 h 253"/>
                <a:gd name="T72" fmla="*/ 0 w 282"/>
                <a:gd name="T73" fmla="*/ 0 h 253"/>
                <a:gd name="T74" fmla="*/ 0 w 282"/>
                <a:gd name="T75" fmla="*/ 0 h 253"/>
                <a:gd name="T76" fmla="*/ 0 w 282"/>
                <a:gd name="T77" fmla="*/ 0 h 253"/>
                <a:gd name="T78" fmla="*/ 0 w 282"/>
                <a:gd name="T79" fmla="*/ 0 h 253"/>
                <a:gd name="T80" fmla="*/ 0 w 282"/>
                <a:gd name="T81" fmla="*/ 0 h 253"/>
                <a:gd name="T82" fmla="*/ 0 w 282"/>
                <a:gd name="T83" fmla="*/ 0 h 253"/>
                <a:gd name="T84" fmla="*/ 0 w 282"/>
                <a:gd name="T85" fmla="*/ 0 h 253"/>
                <a:gd name="T86" fmla="*/ 0 w 282"/>
                <a:gd name="T87" fmla="*/ 0 h 253"/>
                <a:gd name="T88" fmla="*/ 0 w 282"/>
                <a:gd name="T89" fmla="*/ 0 h 253"/>
                <a:gd name="T90" fmla="*/ 0 w 282"/>
                <a:gd name="T91" fmla="*/ 0 h 253"/>
                <a:gd name="T92" fmla="*/ 0 w 282"/>
                <a:gd name="T93" fmla="*/ 0 h 253"/>
                <a:gd name="T94" fmla="*/ 0 w 282"/>
                <a:gd name="T95" fmla="*/ 0 h 253"/>
                <a:gd name="T96" fmla="*/ 0 w 282"/>
                <a:gd name="T97" fmla="*/ 0 h 253"/>
                <a:gd name="T98" fmla="*/ 0 w 282"/>
                <a:gd name="T99" fmla="*/ 0 h 253"/>
                <a:gd name="T100" fmla="*/ 0 w 282"/>
                <a:gd name="T101" fmla="*/ 0 h 253"/>
                <a:gd name="T102" fmla="*/ 0 w 282"/>
                <a:gd name="T103" fmla="*/ 0 h 253"/>
                <a:gd name="T104" fmla="*/ 0 w 282"/>
                <a:gd name="T105" fmla="*/ 0 h 253"/>
                <a:gd name="T106" fmla="*/ 0 w 282"/>
                <a:gd name="T107" fmla="*/ 0 h 253"/>
                <a:gd name="T108" fmla="*/ 0 w 282"/>
                <a:gd name="T109" fmla="*/ 0 h 253"/>
                <a:gd name="T110" fmla="*/ 0 w 282"/>
                <a:gd name="T111" fmla="*/ 0 h 253"/>
                <a:gd name="T112" fmla="*/ 0 w 282"/>
                <a:gd name="T113" fmla="*/ 0 h 253"/>
                <a:gd name="T114" fmla="*/ 0 w 282"/>
                <a:gd name="T115" fmla="*/ 0 h 253"/>
                <a:gd name="T116" fmla="*/ 0 w 282"/>
                <a:gd name="T117" fmla="*/ 0 h 253"/>
                <a:gd name="T118" fmla="*/ 0 w 282"/>
                <a:gd name="T119" fmla="*/ 0 h 253"/>
                <a:gd name="T120" fmla="*/ 0 w 282"/>
                <a:gd name="T121" fmla="*/ 0 h 2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2"/>
                <a:gd name="T184" fmla="*/ 0 h 253"/>
                <a:gd name="T185" fmla="*/ 282 w 282"/>
                <a:gd name="T186" fmla="*/ 253 h 25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4" name="Freeform 796"/>
            <p:cNvSpPr/>
            <p:nvPr/>
          </p:nvSpPr>
          <p:spPr bwMode="auto">
            <a:xfrm>
              <a:off x="4290" y="3159"/>
              <a:ext cx="19" cy="39"/>
            </a:xfrm>
            <a:custGeom>
              <a:avLst/>
              <a:gdLst>
                <a:gd name="T0" fmla="*/ 0 w 115"/>
                <a:gd name="T1" fmla="*/ 0 h 236"/>
                <a:gd name="T2" fmla="*/ 0 w 115"/>
                <a:gd name="T3" fmla="*/ 0 h 236"/>
                <a:gd name="T4" fmla="*/ 0 w 115"/>
                <a:gd name="T5" fmla="*/ 0 h 236"/>
                <a:gd name="T6" fmla="*/ 0 w 115"/>
                <a:gd name="T7" fmla="*/ 0 h 236"/>
                <a:gd name="T8" fmla="*/ 0 w 115"/>
                <a:gd name="T9" fmla="*/ 0 h 236"/>
                <a:gd name="T10" fmla="*/ 0 w 115"/>
                <a:gd name="T11" fmla="*/ 0 h 236"/>
                <a:gd name="T12" fmla="*/ 0 w 115"/>
                <a:gd name="T13" fmla="*/ 0 h 236"/>
                <a:gd name="T14" fmla="*/ 0 w 115"/>
                <a:gd name="T15" fmla="*/ 0 h 236"/>
                <a:gd name="T16" fmla="*/ 0 w 115"/>
                <a:gd name="T17" fmla="*/ 0 h 236"/>
                <a:gd name="T18" fmla="*/ 0 w 115"/>
                <a:gd name="T19" fmla="*/ 0 h 236"/>
                <a:gd name="T20" fmla="*/ 0 w 115"/>
                <a:gd name="T21" fmla="*/ 0 h 236"/>
                <a:gd name="T22" fmla="*/ 0 w 115"/>
                <a:gd name="T23" fmla="*/ 0 h 236"/>
                <a:gd name="T24" fmla="*/ 0 w 115"/>
                <a:gd name="T25" fmla="*/ 0 h 236"/>
                <a:gd name="T26" fmla="*/ 0 w 115"/>
                <a:gd name="T27" fmla="*/ 0 h 236"/>
                <a:gd name="T28" fmla="*/ 0 w 115"/>
                <a:gd name="T29" fmla="*/ 0 h 236"/>
                <a:gd name="T30" fmla="*/ 0 w 115"/>
                <a:gd name="T31" fmla="*/ 0 h 236"/>
                <a:gd name="T32" fmla="*/ 0 w 115"/>
                <a:gd name="T33" fmla="*/ 0 h 236"/>
                <a:gd name="T34" fmla="*/ 0 w 115"/>
                <a:gd name="T35" fmla="*/ 0 h 236"/>
                <a:gd name="T36" fmla="*/ 0 w 115"/>
                <a:gd name="T37" fmla="*/ 0 h 236"/>
                <a:gd name="T38" fmla="*/ 0 w 115"/>
                <a:gd name="T39" fmla="*/ 0 h 236"/>
                <a:gd name="T40" fmla="*/ 0 w 115"/>
                <a:gd name="T41" fmla="*/ 0 h 236"/>
                <a:gd name="T42" fmla="*/ 0 w 115"/>
                <a:gd name="T43" fmla="*/ 0 h 236"/>
                <a:gd name="T44" fmla="*/ 0 w 115"/>
                <a:gd name="T45" fmla="*/ 0 h 236"/>
                <a:gd name="T46" fmla="*/ 0 w 115"/>
                <a:gd name="T47" fmla="*/ 0 h 236"/>
                <a:gd name="T48" fmla="*/ 0 w 115"/>
                <a:gd name="T49" fmla="*/ 0 h 236"/>
                <a:gd name="T50" fmla="*/ 0 w 115"/>
                <a:gd name="T51" fmla="*/ 0 h 236"/>
                <a:gd name="T52" fmla="*/ 0 w 115"/>
                <a:gd name="T53" fmla="*/ 0 h 236"/>
                <a:gd name="T54" fmla="*/ 0 w 115"/>
                <a:gd name="T55" fmla="*/ 0 h 236"/>
                <a:gd name="T56" fmla="*/ 0 w 115"/>
                <a:gd name="T57" fmla="*/ 0 h 236"/>
                <a:gd name="T58" fmla="*/ 0 w 115"/>
                <a:gd name="T59" fmla="*/ 0 h 236"/>
                <a:gd name="T60" fmla="*/ 0 w 115"/>
                <a:gd name="T61" fmla="*/ 0 h 236"/>
                <a:gd name="T62" fmla="*/ 0 w 115"/>
                <a:gd name="T63" fmla="*/ 0 h 236"/>
                <a:gd name="T64" fmla="*/ 0 w 115"/>
                <a:gd name="T65" fmla="*/ 0 h 236"/>
                <a:gd name="T66" fmla="*/ 0 w 115"/>
                <a:gd name="T67" fmla="*/ 0 h 236"/>
                <a:gd name="T68" fmla="*/ 0 w 115"/>
                <a:gd name="T69" fmla="*/ 0 h 236"/>
                <a:gd name="T70" fmla="*/ 0 w 115"/>
                <a:gd name="T71" fmla="*/ 0 h 236"/>
                <a:gd name="T72" fmla="*/ 0 w 115"/>
                <a:gd name="T73" fmla="*/ 0 h 236"/>
                <a:gd name="T74" fmla="*/ 0 w 115"/>
                <a:gd name="T75" fmla="*/ 0 h 236"/>
                <a:gd name="T76" fmla="*/ 0 w 115"/>
                <a:gd name="T77" fmla="*/ 0 h 236"/>
                <a:gd name="T78" fmla="*/ 0 w 115"/>
                <a:gd name="T79" fmla="*/ 0 h 236"/>
                <a:gd name="T80" fmla="*/ 0 w 115"/>
                <a:gd name="T81" fmla="*/ 0 h 2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5"/>
                <a:gd name="T124" fmla="*/ 0 h 236"/>
                <a:gd name="T125" fmla="*/ 115 w 115"/>
                <a:gd name="T126" fmla="*/ 236 h 2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" name="Freeform 797"/>
            <p:cNvSpPr/>
            <p:nvPr/>
          </p:nvSpPr>
          <p:spPr bwMode="auto">
            <a:xfrm>
              <a:off x="4423" y="3133"/>
              <a:ext cx="41" cy="52"/>
            </a:xfrm>
            <a:custGeom>
              <a:avLst/>
              <a:gdLst>
                <a:gd name="T0" fmla="*/ 0 w 245"/>
                <a:gd name="T1" fmla="*/ 0 h 310"/>
                <a:gd name="T2" fmla="*/ 0 w 245"/>
                <a:gd name="T3" fmla="*/ 0 h 310"/>
                <a:gd name="T4" fmla="*/ 0 w 245"/>
                <a:gd name="T5" fmla="*/ 0 h 310"/>
                <a:gd name="T6" fmla="*/ 0 w 245"/>
                <a:gd name="T7" fmla="*/ 0 h 310"/>
                <a:gd name="T8" fmla="*/ 0 w 245"/>
                <a:gd name="T9" fmla="*/ 0 h 310"/>
                <a:gd name="T10" fmla="*/ 0 w 245"/>
                <a:gd name="T11" fmla="*/ 0 h 310"/>
                <a:gd name="T12" fmla="*/ 0 w 245"/>
                <a:gd name="T13" fmla="*/ 0 h 310"/>
                <a:gd name="T14" fmla="*/ 0 w 245"/>
                <a:gd name="T15" fmla="*/ 0 h 310"/>
                <a:gd name="T16" fmla="*/ 0 w 245"/>
                <a:gd name="T17" fmla="*/ 0 h 310"/>
                <a:gd name="T18" fmla="*/ 0 w 245"/>
                <a:gd name="T19" fmla="*/ 0 h 310"/>
                <a:gd name="T20" fmla="*/ 0 w 245"/>
                <a:gd name="T21" fmla="*/ 0 h 310"/>
                <a:gd name="T22" fmla="*/ 0 w 245"/>
                <a:gd name="T23" fmla="*/ 0 h 310"/>
                <a:gd name="T24" fmla="*/ 0 w 245"/>
                <a:gd name="T25" fmla="*/ 0 h 310"/>
                <a:gd name="T26" fmla="*/ 0 w 245"/>
                <a:gd name="T27" fmla="*/ 0 h 310"/>
                <a:gd name="T28" fmla="*/ 0 w 245"/>
                <a:gd name="T29" fmla="*/ 0 h 310"/>
                <a:gd name="T30" fmla="*/ 0 w 245"/>
                <a:gd name="T31" fmla="*/ 0 h 310"/>
                <a:gd name="T32" fmla="*/ 0 w 245"/>
                <a:gd name="T33" fmla="*/ 0 h 310"/>
                <a:gd name="T34" fmla="*/ 0 w 245"/>
                <a:gd name="T35" fmla="*/ 0 h 310"/>
                <a:gd name="T36" fmla="*/ 0 w 245"/>
                <a:gd name="T37" fmla="*/ 0 h 310"/>
                <a:gd name="T38" fmla="*/ 0 w 245"/>
                <a:gd name="T39" fmla="*/ 0 h 310"/>
                <a:gd name="T40" fmla="*/ 0 w 245"/>
                <a:gd name="T41" fmla="*/ 0 h 310"/>
                <a:gd name="T42" fmla="*/ 0 w 245"/>
                <a:gd name="T43" fmla="*/ 0 h 310"/>
                <a:gd name="T44" fmla="*/ 0 w 245"/>
                <a:gd name="T45" fmla="*/ 0 h 310"/>
                <a:gd name="T46" fmla="*/ 0 w 245"/>
                <a:gd name="T47" fmla="*/ 0 h 310"/>
                <a:gd name="T48" fmla="*/ 0 w 245"/>
                <a:gd name="T49" fmla="*/ 0 h 310"/>
                <a:gd name="T50" fmla="*/ 0 w 245"/>
                <a:gd name="T51" fmla="*/ 0 h 310"/>
                <a:gd name="T52" fmla="*/ 0 w 245"/>
                <a:gd name="T53" fmla="*/ 0 h 310"/>
                <a:gd name="T54" fmla="*/ 0 w 245"/>
                <a:gd name="T55" fmla="*/ 0 h 310"/>
                <a:gd name="T56" fmla="*/ 0 w 245"/>
                <a:gd name="T57" fmla="*/ 0 h 310"/>
                <a:gd name="T58" fmla="*/ 0 w 245"/>
                <a:gd name="T59" fmla="*/ 0 h 310"/>
                <a:gd name="T60" fmla="*/ 0 w 245"/>
                <a:gd name="T61" fmla="*/ 0 h 310"/>
                <a:gd name="T62" fmla="*/ 0 w 245"/>
                <a:gd name="T63" fmla="*/ 0 h 310"/>
                <a:gd name="T64" fmla="*/ 0 w 245"/>
                <a:gd name="T65" fmla="*/ 0 h 310"/>
                <a:gd name="T66" fmla="*/ 0 w 245"/>
                <a:gd name="T67" fmla="*/ 0 h 310"/>
                <a:gd name="T68" fmla="*/ 0 w 245"/>
                <a:gd name="T69" fmla="*/ 0 h 310"/>
                <a:gd name="T70" fmla="*/ 0 w 245"/>
                <a:gd name="T71" fmla="*/ 0 h 310"/>
                <a:gd name="T72" fmla="*/ 0 w 245"/>
                <a:gd name="T73" fmla="*/ 0 h 310"/>
                <a:gd name="T74" fmla="*/ 0 w 245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5"/>
                <a:gd name="T115" fmla="*/ 0 h 310"/>
                <a:gd name="T116" fmla="*/ 245 w 245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" name="Freeform 798"/>
            <p:cNvSpPr/>
            <p:nvPr/>
          </p:nvSpPr>
          <p:spPr bwMode="auto">
            <a:xfrm>
              <a:off x="4338" y="3209"/>
              <a:ext cx="125" cy="175"/>
            </a:xfrm>
            <a:custGeom>
              <a:avLst/>
              <a:gdLst>
                <a:gd name="T0" fmla="*/ 0 w 125"/>
                <a:gd name="T1" fmla="*/ 175 h 175"/>
                <a:gd name="T2" fmla="*/ 0 w 125"/>
                <a:gd name="T3" fmla="*/ 144 h 175"/>
                <a:gd name="T4" fmla="*/ 11 w 125"/>
                <a:gd name="T5" fmla="*/ 144 h 175"/>
                <a:gd name="T6" fmla="*/ 11 w 125"/>
                <a:gd name="T7" fmla="*/ 118 h 175"/>
                <a:gd name="T8" fmla="*/ 23 w 125"/>
                <a:gd name="T9" fmla="*/ 114 h 175"/>
                <a:gd name="T10" fmla="*/ 20 w 125"/>
                <a:gd name="T11" fmla="*/ 88 h 175"/>
                <a:gd name="T12" fmla="*/ 30 w 125"/>
                <a:gd name="T13" fmla="*/ 84 h 175"/>
                <a:gd name="T14" fmla="*/ 30 w 125"/>
                <a:gd name="T15" fmla="*/ 58 h 175"/>
                <a:gd name="T16" fmla="*/ 39 w 125"/>
                <a:gd name="T17" fmla="*/ 54 h 175"/>
                <a:gd name="T18" fmla="*/ 39 w 125"/>
                <a:gd name="T19" fmla="*/ 28 h 175"/>
                <a:gd name="T20" fmla="*/ 48 w 125"/>
                <a:gd name="T21" fmla="*/ 28 h 175"/>
                <a:gd name="T22" fmla="*/ 56 w 125"/>
                <a:gd name="T23" fmla="*/ 0 h 175"/>
                <a:gd name="T24" fmla="*/ 80 w 125"/>
                <a:gd name="T25" fmla="*/ 0 h 175"/>
                <a:gd name="T26" fmla="*/ 81 w 125"/>
                <a:gd name="T27" fmla="*/ 25 h 175"/>
                <a:gd name="T28" fmla="*/ 92 w 125"/>
                <a:gd name="T29" fmla="*/ 24 h 175"/>
                <a:gd name="T30" fmla="*/ 93 w 125"/>
                <a:gd name="T31" fmla="*/ 49 h 175"/>
                <a:gd name="T32" fmla="*/ 102 w 125"/>
                <a:gd name="T33" fmla="*/ 54 h 175"/>
                <a:gd name="T34" fmla="*/ 99 w 125"/>
                <a:gd name="T35" fmla="*/ 81 h 175"/>
                <a:gd name="T36" fmla="*/ 114 w 125"/>
                <a:gd name="T37" fmla="*/ 82 h 175"/>
                <a:gd name="T38" fmla="*/ 107 w 125"/>
                <a:gd name="T39" fmla="*/ 81 h 175"/>
                <a:gd name="T40" fmla="*/ 108 w 125"/>
                <a:gd name="T41" fmla="*/ 114 h 175"/>
                <a:gd name="T42" fmla="*/ 117 w 125"/>
                <a:gd name="T43" fmla="*/ 117 h 175"/>
                <a:gd name="T44" fmla="*/ 122 w 125"/>
                <a:gd name="T45" fmla="*/ 142 h 175"/>
                <a:gd name="T46" fmla="*/ 125 w 125"/>
                <a:gd name="T47" fmla="*/ 175 h 175"/>
                <a:gd name="T48" fmla="*/ 0 w 125"/>
                <a:gd name="T49" fmla="*/ 175 h 17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5"/>
                <a:gd name="T76" fmla="*/ 0 h 175"/>
                <a:gd name="T77" fmla="*/ 125 w 125"/>
                <a:gd name="T78" fmla="*/ 175 h 17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5" h="175">
                  <a:moveTo>
                    <a:pt x="0" y="175"/>
                  </a:moveTo>
                  <a:lnTo>
                    <a:pt x="0" y="144"/>
                  </a:lnTo>
                  <a:lnTo>
                    <a:pt x="11" y="144"/>
                  </a:lnTo>
                  <a:lnTo>
                    <a:pt x="11" y="118"/>
                  </a:lnTo>
                  <a:lnTo>
                    <a:pt x="23" y="114"/>
                  </a:lnTo>
                  <a:lnTo>
                    <a:pt x="20" y="88"/>
                  </a:lnTo>
                  <a:lnTo>
                    <a:pt x="30" y="84"/>
                  </a:lnTo>
                  <a:lnTo>
                    <a:pt x="30" y="58"/>
                  </a:lnTo>
                  <a:lnTo>
                    <a:pt x="39" y="54"/>
                  </a:lnTo>
                  <a:lnTo>
                    <a:pt x="39" y="28"/>
                  </a:lnTo>
                  <a:lnTo>
                    <a:pt x="48" y="28"/>
                  </a:lnTo>
                  <a:lnTo>
                    <a:pt x="56" y="0"/>
                  </a:lnTo>
                  <a:lnTo>
                    <a:pt x="80" y="0"/>
                  </a:lnTo>
                  <a:lnTo>
                    <a:pt x="81" y="25"/>
                  </a:lnTo>
                  <a:lnTo>
                    <a:pt x="92" y="24"/>
                  </a:lnTo>
                  <a:lnTo>
                    <a:pt x="93" y="49"/>
                  </a:lnTo>
                  <a:lnTo>
                    <a:pt x="102" y="54"/>
                  </a:lnTo>
                  <a:lnTo>
                    <a:pt x="99" y="81"/>
                  </a:lnTo>
                  <a:lnTo>
                    <a:pt x="114" y="82"/>
                  </a:lnTo>
                  <a:lnTo>
                    <a:pt x="107" y="81"/>
                  </a:lnTo>
                  <a:lnTo>
                    <a:pt x="108" y="114"/>
                  </a:lnTo>
                  <a:lnTo>
                    <a:pt x="117" y="117"/>
                  </a:lnTo>
                  <a:lnTo>
                    <a:pt x="122" y="142"/>
                  </a:lnTo>
                  <a:lnTo>
                    <a:pt x="125" y="17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27" name="Group 799"/>
          <p:cNvGrpSpPr/>
          <p:nvPr/>
        </p:nvGrpSpPr>
        <p:grpSpPr bwMode="auto">
          <a:xfrm>
            <a:off x="179388" y="2157413"/>
            <a:ext cx="3316287" cy="3265487"/>
            <a:chOff x="2880" y="1307"/>
            <a:chExt cx="2089" cy="2057"/>
          </a:xfrm>
        </p:grpSpPr>
        <p:sp>
          <p:nvSpPr>
            <p:cNvPr id="728" name="Line 800"/>
            <p:cNvSpPr>
              <a:spLocks noChangeShapeType="1"/>
            </p:cNvSpPr>
            <p:nvPr/>
          </p:nvSpPr>
          <p:spPr bwMode="auto">
            <a:xfrm>
              <a:off x="4092" y="1307"/>
              <a:ext cx="877" cy="1762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" name="Line 801"/>
            <p:cNvSpPr>
              <a:spLocks noChangeShapeType="1"/>
            </p:cNvSpPr>
            <p:nvPr/>
          </p:nvSpPr>
          <p:spPr bwMode="auto">
            <a:xfrm>
              <a:off x="3466" y="2211"/>
              <a:ext cx="1487" cy="1014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" name="Line 802"/>
            <p:cNvSpPr>
              <a:spLocks noChangeShapeType="1"/>
            </p:cNvSpPr>
            <p:nvPr/>
          </p:nvSpPr>
          <p:spPr bwMode="auto">
            <a:xfrm>
              <a:off x="3657" y="3158"/>
              <a:ext cx="1014" cy="206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1" name="Text Box 803"/>
            <p:cNvSpPr txBox="1">
              <a:spLocks noChangeArrowheads="1"/>
            </p:cNvSpPr>
            <p:nvPr/>
          </p:nvSpPr>
          <p:spPr bwMode="auto">
            <a:xfrm>
              <a:off x="2880" y="2510"/>
              <a:ext cx="1073" cy="3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3300"/>
                  </a:solidFill>
                  <a:ea typeface="宋体" panose="02010600030101010101" pitchFamily="2" charset="-122"/>
                </a:rPr>
                <a:t>client/server</a:t>
              </a:r>
            </a:p>
          </p:txBody>
        </p:sp>
      </p:grpSp>
      <p:sp>
        <p:nvSpPr>
          <p:cNvPr id="73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应用协议与进程通信模型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纯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进程交互模型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12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29359" y="1509712"/>
            <a:ext cx="4240062" cy="4648200"/>
          </a:xfrm>
        </p:spPr>
        <p:txBody>
          <a:bodyPr>
            <a:normAutofit lnSpcReduction="10000"/>
          </a:bodyPr>
          <a:lstStyle/>
          <a:p>
            <a:pPr marL="357505" indent="-357505"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6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无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长久在线的服务器</a:t>
            </a:r>
            <a:endParaRPr lang="en-US" altLang="zh-CN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57505" indent="-357505"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任意终端系统之间都可能进行</a:t>
            </a:r>
            <a:r>
              <a:rPr lang="zh-CN" altLang="en-US" sz="26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直接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通信</a:t>
            </a:r>
            <a:endParaRPr lang="en-US" altLang="zh-CN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57505" indent="-357505"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端系统之间可能间歇地进行连接</a:t>
            </a:r>
            <a:endParaRPr lang="en-US" altLang="zh-CN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57505" indent="-357505"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端系统可能使用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动态的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地址</a:t>
            </a:r>
            <a:endParaRPr lang="en-US" altLang="zh-CN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57505" indent="-357505"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高可扩展性，但维护困难</a:t>
            </a:r>
            <a:endParaRPr lang="en-US" altLang="zh-CN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113" name="Freeform 691"/>
          <p:cNvSpPr/>
          <p:nvPr/>
        </p:nvSpPr>
        <p:spPr bwMode="auto">
          <a:xfrm>
            <a:off x="6999288" y="3457575"/>
            <a:ext cx="1314450" cy="674688"/>
          </a:xfrm>
          <a:custGeom>
            <a:avLst/>
            <a:gdLst>
              <a:gd name="T0" fmla="*/ 2147483647 w 828"/>
              <a:gd name="T1" fmla="*/ 2147483647 h 425"/>
              <a:gd name="T2" fmla="*/ 2147483647 w 828"/>
              <a:gd name="T3" fmla="*/ 2147483647 h 425"/>
              <a:gd name="T4" fmla="*/ 2147483647 w 828"/>
              <a:gd name="T5" fmla="*/ 2147483647 h 425"/>
              <a:gd name="T6" fmla="*/ 2147483647 w 828"/>
              <a:gd name="T7" fmla="*/ 2147483647 h 425"/>
              <a:gd name="T8" fmla="*/ 2147483647 w 828"/>
              <a:gd name="T9" fmla="*/ 2147483647 h 425"/>
              <a:gd name="T10" fmla="*/ 2147483647 w 828"/>
              <a:gd name="T11" fmla="*/ 2147483647 h 425"/>
              <a:gd name="T12" fmla="*/ 2147483647 w 828"/>
              <a:gd name="T13" fmla="*/ 2147483647 h 425"/>
              <a:gd name="T14" fmla="*/ 2147483647 w 828"/>
              <a:gd name="T15" fmla="*/ 2147483647 h 425"/>
              <a:gd name="T16" fmla="*/ 2147483647 w 828"/>
              <a:gd name="T17" fmla="*/ 2147483647 h 425"/>
              <a:gd name="T18" fmla="*/ 2147483647 w 828"/>
              <a:gd name="T19" fmla="*/ 2147483647 h 425"/>
              <a:gd name="T20" fmla="*/ 2147483647 w 828"/>
              <a:gd name="T21" fmla="*/ 2147483647 h 425"/>
              <a:gd name="T22" fmla="*/ 2147483647 w 828"/>
              <a:gd name="T23" fmla="*/ 2147483647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DDDDDD"/>
          </a:solidFill>
          <a:ln w="9525">
            <a:noFill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14" name="Freeform 692"/>
          <p:cNvSpPr/>
          <p:nvPr/>
        </p:nvSpPr>
        <p:spPr bwMode="auto">
          <a:xfrm>
            <a:off x="7018338" y="1931988"/>
            <a:ext cx="1730375" cy="1044575"/>
          </a:xfrm>
          <a:custGeom>
            <a:avLst/>
            <a:gdLst>
              <a:gd name="T0" fmla="*/ 2147483647 w 765"/>
              <a:gd name="T1" fmla="*/ 2147483647 h 459"/>
              <a:gd name="T2" fmla="*/ 2147483647 w 765"/>
              <a:gd name="T3" fmla="*/ 2147483647 h 459"/>
              <a:gd name="T4" fmla="*/ 2147483647 w 765"/>
              <a:gd name="T5" fmla="*/ 2147483647 h 459"/>
              <a:gd name="T6" fmla="*/ 2147483647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2147483647 h 459"/>
              <a:gd name="T22" fmla="*/ 2147483647 w 765"/>
              <a:gd name="T23" fmla="*/ 214748364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</a:gradFill>
          <a:ln w="9525">
            <a:noFill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15" name="Freeform 693"/>
          <p:cNvSpPr/>
          <p:nvPr/>
        </p:nvSpPr>
        <p:spPr bwMode="auto">
          <a:xfrm>
            <a:off x="5278438" y="1639888"/>
            <a:ext cx="1644650" cy="1071562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DDDDDD"/>
          </a:solidFill>
          <a:ln w="9525">
            <a:noFill/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116" name="Group 694"/>
          <p:cNvGrpSpPr/>
          <p:nvPr/>
        </p:nvGrpSpPr>
        <p:grpSpPr bwMode="auto">
          <a:xfrm>
            <a:off x="5365750" y="2974975"/>
            <a:ext cx="1458913" cy="933450"/>
            <a:chOff x="2889" y="1631"/>
            <a:chExt cx="980" cy="743"/>
          </a:xfrm>
        </p:grpSpPr>
        <p:sp>
          <p:nvSpPr>
            <p:cNvPr id="4441" name="Rectangle 695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42" name="AutoShape 696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>
                <a:solidFill>
                  <a:srgbClr val="00CCFF"/>
                </a:solidFill>
              </a:endParaRPr>
            </a:p>
          </p:txBody>
        </p:sp>
      </p:grpSp>
      <p:grpSp>
        <p:nvGrpSpPr>
          <p:cNvPr id="4117" name="Group 697"/>
          <p:cNvGrpSpPr/>
          <p:nvPr/>
        </p:nvGrpSpPr>
        <p:grpSpPr bwMode="auto">
          <a:xfrm>
            <a:off x="6067425" y="1831975"/>
            <a:ext cx="336550" cy="531813"/>
            <a:chOff x="3796" y="1043"/>
            <a:chExt cx="865" cy="1237"/>
          </a:xfrm>
        </p:grpSpPr>
        <p:sp>
          <p:nvSpPr>
            <p:cNvPr id="4411" name="Line 698"/>
            <p:cNvSpPr>
              <a:spLocks noChangeShapeType="1"/>
            </p:cNvSpPr>
            <p:nvPr/>
          </p:nvSpPr>
          <p:spPr bwMode="auto">
            <a:xfrm flipH="1">
              <a:off x="3992" y="1481"/>
              <a:ext cx="235" cy="7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12" name="Line 699"/>
            <p:cNvSpPr>
              <a:spLocks noChangeShapeType="1"/>
            </p:cNvSpPr>
            <p:nvPr/>
          </p:nvSpPr>
          <p:spPr bwMode="auto">
            <a:xfrm>
              <a:off x="4227" y="1481"/>
              <a:ext cx="236" cy="72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13" name="Line 700"/>
            <p:cNvSpPr>
              <a:spLocks noChangeShapeType="1"/>
            </p:cNvSpPr>
            <p:nvPr/>
          </p:nvSpPr>
          <p:spPr bwMode="auto">
            <a:xfrm>
              <a:off x="3992" y="2201"/>
              <a:ext cx="235" cy="7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14" name="Line 701"/>
            <p:cNvSpPr>
              <a:spLocks noChangeShapeType="1"/>
            </p:cNvSpPr>
            <p:nvPr/>
          </p:nvSpPr>
          <p:spPr bwMode="auto">
            <a:xfrm flipH="1">
              <a:off x="4227" y="2201"/>
              <a:ext cx="236" cy="7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15" name="Line 702"/>
            <p:cNvSpPr>
              <a:spLocks noChangeShapeType="1"/>
            </p:cNvSpPr>
            <p:nvPr/>
          </p:nvSpPr>
          <p:spPr bwMode="auto">
            <a:xfrm>
              <a:off x="4227" y="1497"/>
              <a:ext cx="0" cy="78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16" name="Line 703"/>
            <p:cNvSpPr>
              <a:spLocks noChangeShapeType="1"/>
            </p:cNvSpPr>
            <p:nvPr/>
          </p:nvSpPr>
          <p:spPr bwMode="auto">
            <a:xfrm flipV="1">
              <a:off x="3992" y="2127"/>
              <a:ext cx="235" cy="7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17" name="Line 704"/>
            <p:cNvSpPr>
              <a:spLocks noChangeShapeType="1"/>
            </p:cNvSpPr>
            <p:nvPr/>
          </p:nvSpPr>
          <p:spPr bwMode="auto">
            <a:xfrm flipH="1" flipV="1">
              <a:off x="4227" y="2127"/>
              <a:ext cx="236" cy="7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18" name="Line 705"/>
            <p:cNvSpPr>
              <a:spLocks noChangeShapeType="1"/>
            </p:cNvSpPr>
            <p:nvPr/>
          </p:nvSpPr>
          <p:spPr bwMode="auto">
            <a:xfrm>
              <a:off x="4092" y="1890"/>
              <a:ext cx="135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19" name="Line 706"/>
            <p:cNvSpPr>
              <a:spLocks noChangeShapeType="1"/>
            </p:cNvSpPr>
            <p:nvPr/>
          </p:nvSpPr>
          <p:spPr bwMode="auto">
            <a:xfrm flipV="1">
              <a:off x="4227" y="1890"/>
              <a:ext cx="143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20" name="Line 707"/>
            <p:cNvSpPr>
              <a:spLocks noChangeShapeType="1"/>
            </p:cNvSpPr>
            <p:nvPr/>
          </p:nvSpPr>
          <p:spPr bwMode="auto">
            <a:xfrm>
              <a:off x="4047" y="1996"/>
              <a:ext cx="175" cy="8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21" name="Line 708"/>
            <p:cNvSpPr>
              <a:spLocks noChangeShapeType="1"/>
            </p:cNvSpPr>
            <p:nvPr/>
          </p:nvSpPr>
          <p:spPr bwMode="auto">
            <a:xfrm flipV="1">
              <a:off x="4227" y="2012"/>
              <a:ext cx="176" cy="7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22" name="Line 709"/>
            <p:cNvSpPr>
              <a:spLocks noChangeShapeType="1"/>
            </p:cNvSpPr>
            <p:nvPr/>
          </p:nvSpPr>
          <p:spPr bwMode="auto">
            <a:xfrm flipV="1">
              <a:off x="4227" y="1782"/>
              <a:ext cx="90" cy="2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23" name="Line 710"/>
            <p:cNvSpPr>
              <a:spLocks noChangeShapeType="1"/>
            </p:cNvSpPr>
            <p:nvPr/>
          </p:nvSpPr>
          <p:spPr bwMode="auto">
            <a:xfrm flipV="1">
              <a:off x="4227" y="1632"/>
              <a:ext cx="57" cy="2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24" name="Line 711"/>
            <p:cNvSpPr>
              <a:spLocks noChangeShapeType="1"/>
            </p:cNvSpPr>
            <p:nvPr/>
          </p:nvSpPr>
          <p:spPr bwMode="auto">
            <a:xfrm>
              <a:off x="4126" y="1772"/>
              <a:ext cx="109" cy="3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25" name="Line 712"/>
            <p:cNvSpPr>
              <a:spLocks noChangeShapeType="1"/>
            </p:cNvSpPr>
            <p:nvPr/>
          </p:nvSpPr>
          <p:spPr bwMode="auto">
            <a:xfrm>
              <a:off x="4175" y="1625"/>
              <a:ext cx="63" cy="3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</a:ln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4426" name="Group 713"/>
            <p:cNvGrpSpPr/>
            <p:nvPr/>
          </p:nvGrpSpPr>
          <p:grpSpPr bwMode="auto">
            <a:xfrm>
              <a:off x="4269" y="1415"/>
              <a:ext cx="392" cy="137"/>
              <a:chOff x="4227" y="1360"/>
              <a:chExt cx="863" cy="270"/>
            </a:xfrm>
          </p:grpSpPr>
          <p:sp>
            <p:nvSpPr>
              <p:cNvPr id="4437" name="Line 714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38" name="Line 715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39" name="Line 716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40" name="Line 717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4427" name="Group 718"/>
            <p:cNvGrpSpPr/>
            <p:nvPr/>
          </p:nvGrpSpPr>
          <p:grpSpPr bwMode="auto">
            <a:xfrm rot="5700496">
              <a:off x="4053" y="1170"/>
              <a:ext cx="392" cy="137"/>
              <a:chOff x="4227" y="1360"/>
              <a:chExt cx="863" cy="270"/>
            </a:xfrm>
          </p:grpSpPr>
          <p:sp>
            <p:nvSpPr>
              <p:cNvPr id="4433" name="Line 719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34" name="Line 720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35" name="Line 721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36" name="Line 722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4428" name="Group 723"/>
            <p:cNvGrpSpPr/>
            <p:nvPr/>
          </p:nvGrpSpPr>
          <p:grpSpPr bwMode="auto">
            <a:xfrm rot="10800000">
              <a:off x="3796" y="1402"/>
              <a:ext cx="392" cy="137"/>
              <a:chOff x="4227" y="1360"/>
              <a:chExt cx="863" cy="270"/>
            </a:xfrm>
          </p:grpSpPr>
          <p:sp>
            <p:nvSpPr>
              <p:cNvPr id="4429" name="Line 724"/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30" name="Line 725"/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31" name="Line 726"/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432" name="Line 727"/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</a:ln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4118" name="Oval 728"/>
          <p:cNvSpPr>
            <a:spLocks noChangeArrowheads="1"/>
          </p:cNvSpPr>
          <p:nvPr/>
        </p:nvSpPr>
        <p:spPr bwMode="auto">
          <a:xfrm>
            <a:off x="7124700" y="3652838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19" name="Line 729"/>
          <p:cNvSpPr>
            <a:spLocks noChangeShapeType="1"/>
          </p:cNvSpPr>
          <p:nvPr/>
        </p:nvSpPr>
        <p:spPr bwMode="auto">
          <a:xfrm>
            <a:off x="7124700" y="364490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20" name="Line 730"/>
          <p:cNvSpPr>
            <a:spLocks noChangeShapeType="1"/>
          </p:cNvSpPr>
          <p:nvPr/>
        </p:nvSpPr>
        <p:spPr bwMode="auto">
          <a:xfrm>
            <a:off x="7483475" y="364490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21" name="Rectangle 731"/>
          <p:cNvSpPr>
            <a:spLocks noChangeArrowheads="1"/>
          </p:cNvSpPr>
          <p:nvPr/>
        </p:nvSpPr>
        <p:spPr bwMode="auto">
          <a:xfrm>
            <a:off x="7124700" y="3644900"/>
            <a:ext cx="355600" cy="58738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/>
          </a:p>
        </p:txBody>
      </p:sp>
      <p:sp>
        <p:nvSpPr>
          <p:cNvPr id="4122" name="Oval 732"/>
          <p:cNvSpPr>
            <a:spLocks noChangeArrowheads="1"/>
          </p:cNvSpPr>
          <p:nvPr/>
        </p:nvSpPr>
        <p:spPr bwMode="auto">
          <a:xfrm>
            <a:off x="7121525" y="3576638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23" name="Group 733"/>
          <p:cNvGrpSpPr/>
          <p:nvPr/>
        </p:nvGrpSpPr>
        <p:grpSpPr bwMode="auto">
          <a:xfrm>
            <a:off x="7207250" y="3600450"/>
            <a:ext cx="179388" cy="65088"/>
            <a:chOff x="2848" y="848"/>
            <a:chExt cx="140" cy="98"/>
          </a:xfrm>
        </p:grpSpPr>
        <p:sp>
          <p:nvSpPr>
            <p:cNvPr id="4408" name="Line 734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9" name="Line 735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" name="Line 736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24" name="Group 737"/>
          <p:cNvGrpSpPr/>
          <p:nvPr/>
        </p:nvGrpSpPr>
        <p:grpSpPr bwMode="auto">
          <a:xfrm flipV="1">
            <a:off x="7207250" y="3600450"/>
            <a:ext cx="179388" cy="65088"/>
            <a:chOff x="2848" y="848"/>
            <a:chExt cx="140" cy="98"/>
          </a:xfrm>
        </p:grpSpPr>
        <p:sp>
          <p:nvSpPr>
            <p:cNvPr id="4405" name="Line 738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6" name="Line 739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7" name="Line 740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25" name="Oval 741"/>
          <p:cNvSpPr>
            <a:spLocks noChangeArrowheads="1"/>
          </p:cNvSpPr>
          <p:nvPr/>
        </p:nvSpPr>
        <p:spPr bwMode="auto">
          <a:xfrm>
            <a:off x="7480300" y="3932238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26" name="Line 742"/>
          <p:cNvSpPr>
            <a:spLocks noChangeShapeType="1"/>
          </p:cNvSpPr>
          <p:nvPr/>
        </p:nvSpPr>
        <p:spPr bwMode="auto">
          <a:xfrm>
            <a:off x="7480300" y="392430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27" name="Line 743"/>
          <p:cNvSpPr>
            <a:spLocks noChangeShapeType="1"/>
          </p:cNvSpPr>
          <p:nvPr/>
        </p:nvSpPr>
        <p:spPr bwMode="auto">
          <a:xfrm>
            <a:off x="7839075" y="392430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28" name="Rectangle 744"/>
          <p:cNvSpPr>
            <a:spLocks noChangeArrowheads="1"/>
          </p:cNvSpPr>
          <p:nvPr/>
        </p:nvSpPr>
        <p:spPr bwMode="auto">
          <a:xfrm>
            <a:off x="7480300" y="3924300"/>
            <a:ext cx="355600" cy="58738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/>
          </a:p>
        </p:txBody>
      </p:sp>
      <p:sp>
        <p:nvSpPr>
          <p:cNvPr id="4129" name="Oval 745"/>
          <p:cNvSpPr>
            <a:spLocks noChangeArrowheads="1"/>
          </p:cNvSpPr>
          <p:nvPr/>
        </p:nvSpPr>
        <p:spPr bwMode="auto">
          <a:xfrm>
            <a:off x="7477125" y="3856038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30" name="Group 746"/>
          <p:cNvGrpSpPr/>
          <p:nvPr/>
        </p:nvGrpSpPr>
        <p:grpSpPr bwMode="auto">
          <a:xfrm>
            <a:off x="7562850" y="3879850"/>
            <a:ext cx="179388" cy="65088"/>
            <a:chOff x="2848" y="848"/>
            <a:chExt cx="140" cy="98"/>
          </a:xfrm>
        </p:grpSpPr>
        <p:sp>
          <p:nvSpPr>
            <p:cNvPr id="4402" name="Line 747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3" name="Line 748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4" name="Line 749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31" name="Group 750"/>
          <p:cNvGrpSpPr/>
          <p:nvPr/>
        </p:nvGrpSpPr>
        <p:grpSpPr bwMode="auto">
          <a:xfrm flipV="1">
            <a:off x="7562850" y="3879850"/>
            <a:ext cx="179388" cy="65088"/>
            <a:chOff x="2848" y="848"/>
            <a:chExt cx="140" cy="98"/>
          </a:xfrm>
        </p:grpSpPr>
        <p:sp>
          <p:nvSpPr>
            <p:cNvPr id="4399" name="Line 751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0" name="Line 752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1" name="Line 753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32" name="Oval 754"/>
          <p:cNvSpPr>
            <a:spLocks noChangeArrowheads="1"/>
          </p:cNvSpPr>
          <p:nvPr/>
        </p:nvSpPr>
        <p:spPr bwMode="auto">
          <a:xfrm>
            <a:off x="7759700" y="3665538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33" name="Line 755"/>
          <p:cNvSpPr>
            <a:spLocks noChangeShapeType="1"/>
          </p:cNvSpPr>
          <p:nvPr/>
        </p:nvSpPr>
        <p:spPr bwMode="auto">
          <a:xfrm>
            <a:off x="7759700" y="365760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34" name="Line 756"/>
          <p:cNvSpPr>
            <a:spLocks noChangeShapeType="1"/>
          </p:cNvSpPr>
          <p:nvPr/>
        </p:nvSpPr>
        <p:spPr bwMode="auto">
          <a:xfrm>
            <a:off x="8118475" y="365760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35" name="Rectangle 757"/>
          <p:cNvSpPr>
            <a:spLocks noChangeArrowheads="1"/>
          </p:cNvSpPr>
          <p:nvPr/>
        </p:nvSpPr>
        <p:spPr bwMode="auto">
          <a:xfrm>
            <a:off x="7759700" y="3657600"/>
            <a:ext cx="355600" cy="58738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/>
          </a:p>
        </p:txBody>
      </p:sp>
      <p:sp>
        <p:nvSpPr>
          <p:cNvPr id="4136" name="Oval 758"/>
          <p:cNvSpPr>
            <a:spLocks noChangeArrowheads="1"/>
          </p:cNvSpPr>
          <p:nvPr/>
        </p:nvSpPr>
        <p:spPr bwMode="auto">
          <a:xfrm>
            <a:off x="7756525" y="3589338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37" name="Group 759"/>
          <p:cNvGrpSpPr/>
          <p:nvPr/>
        </p:nvGrpSpPr>
        <p:grpSpPr bwMode="auto">
          <a:xfrm>
            <a:off x="7842250" y="3613150"/>
            <a:ext cx="179388" cy="65088"/>
            <a:chOff x="2848" y="848"/>
            <a:chExt cx="140" cy="98"/>
          </a:xfrm>
        </p:grpSpPr>
        <p:sp>
          <p:nvSpPr>
            <p:cNvPr id="4396" name="Line 76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7" name="Line 76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8" name="Line 76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38" name="Group 763"/>
          <p:cNvGrpSpPr/>
          <p:nvPr/>
        </p:nvGrpSpPr>
        <p:grpSpPr bwMode="auto">
          <a:xfrm flipV="1">
            <a:off x="7842250" y="3613150"/>
            <a:ext cx="179388" cy="65088"/>
            <a:chOff x="2848" y="848"/>
            <a:chExt cx="140" cy="98"/>
          </a:xfrm>
        </p:grpSpPr>
        <p:sp>
          <p:nvSpPr>
            <p:cNvPr id="4393" name="Line 764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4" name="Line 765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5" name="Line 766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39" name="Oval 767"/>
          <p:cNvSpPr>
            <a:spLocks noChangeArrowheads="1"/>
          </p:cNvSpPr>
          <p:nvPr/>
        </p:nvSpPr>
        <p:spPr bwMode="auto">
          <a:xfrm>
            <a:off x="7224713" y="2503488"/>
            <a:ext cx="347662" cy="8890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40" name="Line 768"/>
          <p:cNvSpPr>
            <a:spLocks noChangeShapeType="1"/>
          </p:cNvSpPr>
          <p:nvPr/>
        </p:nvSpPr>
        <p:spPr bwMode="auto">
          <a:xfrm>
            <a:off x="7224713" y="2495550"/>
            <a:ext cx="0" cy="55563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41" name="Line 769"/>
          <p:cNvSpPr>
            <a:spLocks noChangeShapeType="1"/>
          </p:cNvSpPr>
          <p:nvPr/>
        </p:nvSpPr>
        <p:spPr bwMode="auto">
          <a:xfrm>
            <a:off x="7572375" y="2495550"/>
            <a:ext cx="0" cy="55563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42" name="Rectangle 770"/>
          <p:cNvSpPr>
            <a:spLocks noChangeArrowheads="1"/>
          </p:cNvSpPr>
          <p:nvPr/>
        </p:nvSpPr>
        <p:spPr bwMode="auto">
          <a:xfrm>
            <a:off x="7224713" y="2495550"/>
            <a:ext cx="344487" cy="53975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/>
          </a:p>
        </p:txBody>
      </p:sp>
      <p:sp>
        <p:nvSpPr>
          <p:cNvPr id="4143" name="Oval 771"/>
          <p:cNvSpPr>
            <a:spLocks noChangeArrowheads="1"/>
          </p:cNvSpPr>
          <p:nvPr/>
        </p:nvSpPr>
        <p:spPr bwMode="auto">
          <a:xfrm>
            <a:off x="7221538" y="2432050"/>
            <a:ext cx="347662" cy="103188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44" name="Group 772"/>
          <p:cNvGrpSpPr/>
          <p:nvPr/>
        </p:nvGrpSpPr>
        <p:grpSpPr bwMode="auto">
          <a:xfrm>
            <a:off x="7305675" y="2454275"/>
            <a:ext cx="171450" cy="61913"/>
            <a:chOff x="2848" y="848"/>
            <a:chExt cx="140" cy="98"/>
          </a:xfrm>
        </p:grpSpPr>
        <p:sp>
          <p:nvSpPr>
            <p:cNvPr id="4390" name="Line 773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1" name="Line 774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2" name="Line 775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45" name="Group 776"/>
          <p:cNvGrpSpPr/>
          <p:nvPr/>
        </p:nvGrpSpPr>
        <p:grpSpPr bwMode="auto">
          <a:xfrm flipV="1">
            <a:off x="7305675" y="2454275"/>
            <a:ext cx="171450" cy="60325"/>
            <a:chOff x="2848" y="848"/>
            <a:chExt cx="140" cy="98"/>
          </a:xfrm>
        </p:grpSpPr>
        <p:sp>
          <p:nvSpPr>
            <p:cNvPr id="4387" name="Line 777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88" name="Line 778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89" name="Line 779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46" name="Oval 780"/>
          <p:cNvSpPr>
            <a:spLocks noChangeArrowheads="1"/>
          </p:cNvSpPr>
          <p:nvPr/>
        </p:nvSpPr>
        <p:spPr bwMode="auto">
          <a:xfrm>
            <a:off x="7223125" y="2763838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47" name="Line 781"/>
          <p:cNvSpPr>
            <a:spLocks noChangeShapeType="1"/>
          </p:cNvSpPr>
          <p:nvPr/>
        </p:nvSpPr>
        <p:spPr bwMode="auto">
          <a:xfrm>
            <a:off x="7223125" y="275590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48" name="Line 782"/>
          <p:cNvSpPr>
            <a:spLocks noChangeShapeType="1"/>
          </p:cNvSpPr>
          <p:nvPr/>
        </p:nvSpPr>
        <p:spPr bwMode="auto">
          <a:xfrm>
            <a:off x="7581900" y="275590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49" name="Rectangle 783"/>
          <p:cNvSpPr>
            <a:spLocks noChangeArrowheads="1"/>
          </p:cNvSpPr>
          <p:nvPr/>
        </p:nvSpPr>
        <p:spPr bwMode="auto">
          <a:xfrm>
            <a:off x="7223125" y="2755900"/>
            <a:ext cx="355600" cy="58738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/>
          </a:p>
        </p:txBody>
      </p:sp>
      <p:sp>
        <p:nvSpPr>
          <p:cNvPr id="4150" name="Oval 784"/>
          <p:cNvSpPr>
            <a:spLocks noChangeArrowheads="1"/>
          </p:cNvSpPr>
          <p:nvPr/>
        </p:nvSpPr>
        <p:spPr bwMode="auto">
          <a:xfrm>
            <a:off x="7219950" y="2687638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51" name="Group 785"/>
          <p:cNvGrpSpPr/>
          <p:nvPr/>
        </p:nvGrpSpPr>
        <p:grpSpPr bwMode="auto">
          <a:xfrm>
            <a:off x="7305675" y="2711450"/>
            <a:ext cx="179388" cy="65088"/>
            <a:chOff x="2848" y="848"/>
            <a:chExt cx="140" cy="98"/>
          </a:xfrm>
        </p:grpSpPr>
        <p:sp>
          <p:nvSpPr>
            <p:cNvPr id="4384" name="Line 786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85" name="Line 787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86" name="Line 788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52" name="Group 789"/>
          <p:cNvGrpSpPr/>
          <p:nvPr/>
        </p:nvGrpSpPr>
        <p:grpSpPr bwMode="auto">
          <a:xfrm flipV="1">
            <a:off x="7305675" y="2711450"/>
            <a:ext cx="179388" cy="65088"/>
            <a:chOff x="2848" y="848"/>
            <a:chExt cx="140" cy="98"/>
          </a:xfrm>
        </p:grpSpPr>
        <p:sp>
          <p:nvSpPr>
            <p:cNvPr id="4381" name="Line 790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82" name="Line 791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83" name="Line 792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53" name="Oval 793"/>
          <p:cNvSpPr>
            <a:spLocks noChangeArrowheads="1"/>
          </p:cNvSpPr>
          <p:nvPr/>
        </p:nvSpPr>
        <p:spPr bwMode="auto">
          <a:xfrm>
            <a:off x="7699375" y="2405063"/>
            <a:ext cx="330200" cy="857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54" name="Line 794"/>
          <p:cNvSpPr>
            <a:spLocks noChangeShapeType="1"/>
          </p:cNvSpPr>
          <p:nvPr/>
        </p:nvSpPr>
        <p:spPr bwMode="auto">
          <a:xfrm>
            <a:off x="7699375" y="2398713"/>
            <a:ext cx="0" cy="5238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55" name="Line 795"/>
          <p:cNvSpPr>
            <a:spLocks noChangeShapeType="1"/>
          </p:cNvSpPr>
          <p:nvPr/>
        </p:nvSpPr>
        <p:spPr bwMode="auto">
          <a:xfrm>
            <a:off x="8029575" y="2398713"/>
            <a:ext cx="0" cy="5238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56" name="Rectangle 796"/>
          <p:cNvSpPr>
            <a:spLocks noChangeArrowheads="1"/>
          </p:cNvSpPr>
          <p:nvPr/>
        </p:nvSpPr>
        <p:spPr bwMode="auto">
          <a:xfrm>
            <a:off x="7699375" y="2398713"/>
            <a:ext cx="327025" cy="52387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>
              <a:solidFill>
                <a:schemeClr val="bg2"/>
              </a:solidFill>
            </a:endParaRPr>
          </a:p>
        </p:txBody>
      </p:sp>
      <p:sp>
        <p:nvSpPr>
          <p:cNvPr id="4157" name="Oval 797"/>
          <p:cNvSpPr>
            <a:spLocks noChangeArrowheads="1"/>
          </p:cNvSpPr>
          <p:nvPr/>
        </p:nvSpPr>
        <p:spPr bwMode="auto">
          <a:xfrm>
            <a:off x="7696200" y="2336800"/>
            <a:ext cx="330200" cy="100013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58" name="Group 798"/>
          <p:cNvGrpSpPr/>
          <p:nvPr/>
        </p:nvGrpSpPr>
        <p:grpSpPr bwMode="auto">
          <a:xfrm>
            <a:off x="7775575" y="2359025"/>
            <a:ext cx="163513" cy="57150"/>
            <a:chOff x="2848" y="848"/>
            <a:chExt cx="140" cy="98"/>
          </a:xfrm>
        </p:grpSpPr>
        <p:sp>
          <p:nvSpPr>
            <p:cNvPr id="4378" name="Line 799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79" name="Line 800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80" name="Line 801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59" name="Group 802"/>
          <p:cNvGrpSpPr/>
          <p:nvPr/>
        </p:nvGrpSpPr>
        <p:grpSpPr bwMode="auto">
          <a:xfrm flipV="1">
            <a:off x="7775575" y="2357438"/>
            <a:ext cx="163513" cy="58737"/>
            <a:chOff x="2848" y="848"/>
            <a:chExt cx="140" cy="98"/>
          </a:xfrm>
        </p:grpSpPr>
        <p:sp>
          <p:nvSpPr>
            <p:cNvPr id="4375" name="Line 803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76" name="Line 804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77" name="Line 805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60" name="Oval 806"/>
          <p:cNvSpPr>
            <a:spLocks noChangeArrowheads="1"/>
          </p:cNvSpPr>
          <p:nvPr/>
        </p:nvSpPr>
        <p:spPr bwMode="auto">
          <a:xfrm>
            <a:off x="7785100" y="2763838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1" name="Line 807"/>
          <p:cNvSpPr>
            <a:spLocks noChangeShapeType="1"/>
          </p:cNvSpPr>
          <p:nvPr/>
        </p:nvSpPr>
        <p:spPr bwMode="auto">
          <a:xfrm>
            <a:off x="7785100" y="275590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2" name="Line 808"/>
          <p:cNvSpPr>
            <a:spLocks noChangeShapeType="1"/>
          </p:cNvSpPr>
          <p:nvPr/>
        </p:nvSpPr>
        <p:spPr bwMode="auto">
          <a:xfrm>
            <a:off x="8143875" y="2755900"/>
            <a:ext cx="0" cy="5873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3" name="Rectangle 809"/>
          <p:cNvSpPr>
            <a:spLocks noChangeArrowheads="1"/>
          </p:cNvSpPr>
          <p:nvPr/>
        </p:nvSpPr>
        <p:spPr bwMode="auto">
          <a:xfrm>
            <a:off x="7785100" y="2755900"/>
            <a:ext cx="355600" cy="58738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/>
          </a:p>
        </p:txBody>
      </p:sp>
      <p:sp>
        <p:nvSpPr>
          <p:cNvPr id="4164" name="Oval 810"/>
          <p:cNvSpPr>
            <a:spLocks noChangeArrowheads="1"/>
          </p:cNvSpPr>
          <p:nvPr/>
        </p:nvSpPr>
        <p:spPr bwMode="auto">
          <a:xfrm>
            <a:off x="7781925" y="2687638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65" name="Group 811"/>
          <p:cNvGrpSpPr/>
          <p:nvPr/>
        </p:nvGrpSpPr>
        <p:grpSpPr bwMode="auto">
          <a:xfrm>
            <a:off x="7867650" y="2711450"/>
            <a:ext cx="179388" cy="65088"/>
            <a:chOff x="2848" y="848"/>
            <a:chExt cx="140" cy="98"/>
          </a:xfrm>
        </p:grpSpPr>
        <p:sp>
          <p:nvSpPr>
            <p:cNvPr id="4372" name="Line 812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73" name="Line 813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74" name="Line 814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66" name="Group 815"/>
          <p:cNvGrpSpPr/>
          <p:nvPr/>
        </p:nvGrpSpPr>
        <p:grpSpPr bwMode="auto">
          <a:xfrm flipV="1">
            <a:off x="7867650" y="2711450"/>
            <a:ext cx="179388" cy="65088"/>
            <a:chOff x="2848" y="848"/>
            <a:chExt cx="140" cy="98"/>
          </a:xfrm>
        </p:grpSpPr>
        <p:sp>
          <p:nvSpPr>
            <p:cNvPr id="4369" name="Line 816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70" name="Line 817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71" name="Line 818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67" name="Oval 819"/>
          <p:cNvSpPr>
            <a:spLocks noChangeArrowheads="1"/>
          </p:cNvSpPr>
          <p:nvPr/>
        </p:nvSpPr>
        <p:spPr bwMode="auto">
          <a:xfrm>
            <a:off x="6375400" y="2498725"/>
            <a:ext cx="346075" cy="87313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8" name="Line 820"/>
          <p:cNvSpPr>
            <a:spLocks noChangeShapeType="1"/>
          </p:cNvSpPr>
          <p:nvPr/>
        </p:nvSpPr>
        <p:spPr bwMode="auto">
          <a:xfrm>
            <a:off x="6375400" y="2490788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9" name="Line 821"/>
          <p:cNvSpPr>
            <a:spLocks noChangeShapeType="1"/>
          </p:cNvSpPr>
          <p:nvPr/>
        </p:nvSpPr>
        <p:spPr bwMode="auto">
          <a:xfrm>
            <a:off x="6721475" y="2490788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0" name="Rectangle 822"/>
          <p:cNvSpPr>
            <a:spLocks noChangeArrowheads="1"/>
          </p:cNvSpPr>
          <p:nvPr/>
        </p:nvSpPr>
        <p:spPr bwMode="auto">
          <a:xfrm>
            <a:off x="6375400" y="2490788"/>
            <a:ext cx="342900" cy="53975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/>
          </a:p>
        </p:txBody>
      </p:sp>
      <p:sp>
        <p:nvSpPr>
          <p:cNvPr id="4171" name="Oval 823"/>
          <p:cNvSpPr>
            <a:spLocks noChangeArrowheads="1"/>
          </p:cNvSpPr>
          <p:nvPr/>
        </p:nvSpPr>
        <p:spPr bwMode="auto">
          <a:xfrm>
            <a:off x="6372225" y="2427288"/>
            <a:ext cx="346075" cy="103187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72" name="Group 824"/>
          <p:cNvGrpSpPr/>
          <p:nvPr/>
        </p:nvGrpSpPr>
        <p:grpSpPr bwMode="auto">
          <a:xfrm>
            <a:off x="6456363" y="2449513"/>
            <a:ext cx="171450" cy="60325"/>
            <a:chOff x="2848" y="848"/>
            <a:chExt cx="140" cy="98"/>
          </a:xfrm>
        </p:grpSpPr>
        <p:sp>
          <p:nvSpPr>
            <p:cNvPr id="4366" name="Line 825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67" name="Line 826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68" name="Line 827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73" name="Group 828"/>
          <p:cNvGrpSpPr/>
          <p:nvPr/>
        </p:nvGrpSpPr>
        <p:grpSpPr bwMode="auto">
          <a:xfrm flipV="1">
            <a:off x="6456363" y="2449513"/>
            <a:ext cx="171450" cy="58737"/>
            <a:chOff x="2848" y="848"/>
            <a:chExt cx="140" cy="98"/>
          </a:xfrm>
        </p:grpSpPr>
        <p:sp>
          <p:nvSpPr>
            <p:cNvPr id="4363" name="Line 829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64" name="Line 830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65" name="Line 831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74" name="Oval 832"/>
          <p:cNvSpPr>
            <a:spLocks noChangeArrowheads="1"/>
          </p:cNvSpPr>
          <p:nvPr/>
        </p:nvSpPr>
        <p:spPr bwMode="auto">
          <a:xfrm>
            <a:off x="6069013" y="3648075"/>
            <a:ext cx="346075" cy="87313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5" name="Line 833"/>
          <p:cNvSpPr>
            <a:spLocks noChangeShapeType="1"/>
          </p:cNvSpPr>
          <p:nvPr/>
        </p:nvSpPr>
        <p:spPr bwMode="auto">
          <a:xfrm>
            <a:off x="6069013" y="3640138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6" name="Line 834"/>
          <p:cNvSpPr>
            <a:spLocks noChangeShapeType="1"/>
          </p:cNvSpPr>
          <p:nvPr/>
        </p:nvSpPr>
        <p:spPr bwMode="auto">
          <a:xfrm>
            <a:off x="6415088" y="3640138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7" name="Rectangle 835"/>
          <p:cNvSpPr>
            <a:spLocks noChangeArrowheads="1"/>
          </p:cNvSpPr>
          <p:nvPr/>
        </p:nvSpPr>
        <p:spPr bwMode="auto">
          <a:xfrm>
            <a:off x="6069013" y="3640138"/>
            <a:ext cx="342900" cy="53975"/>
          </a:xfrm>
          <a:prstGeom prst="rect">
            <a:avLst/>
          </a:prstGeom>
          <a:solidFill>
            <a:srgbClr val="DDDDDD"/>
          </a:solidFill>
          <a:ln w="12700">
            <a:noFill/>
            <a:miter lim="800000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/>
          </a:p>
        </p:txBody>
      </p:sp>
      <p:sp>
        <p:nvSpPr>
          <p:cNvPr id="4178" name="Oval 836"/>
          <p:cNvSpPr>
            <a:spLocks noChangeArrowheads="1"/>
          </p:cNvSpPr>
          <p:nvPr/>
        </p:nvSpPr>
        <p:spPr bwMode="auto">
          <a:xfrm>
            <a:off x="6065838" y="3576638"/>
            <a:ext cx="346075" cy="103187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79" name="Group 837"/>
          <p:cNvGrpSpPr/>
          <p:nvPr/>
        </p:nvGrpSpPr>
        <p:grpSpPr bwMode="auto">
          <a:xfrm>
            <a:off x="6149975" y="3598863"/>
            <a:ext cx="171450" cy="60325"/>
            <a:chOff x="2848" y="848"/>
            <a:chExt cx="140" cy="98"/>
          </a:xfrm>
        </p:grpSpPr>
        <p:sp>
          <p:nvSpPr>
            <p:cNvPr id="4360" name="Line 838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61" name="Line 839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62" name="Line 840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80" name="Group 841"/>
          <p:cNvGrpSpPr/>
          <p:nvPr/>
        </p:nvGrpSpPr>
        <p:grpSpPr bwMode="auto">
          <a:xfrm flipV="1">
            <a:off x="6149975" y="3598863"/>
            <a:ext cx="171450" cy="58737"/>
            <a:chOff x="2848" y="848"/>
            <a:chExt cx="140" cy="98"/>
          </a:xfrm>
        </p:grpSpPr>
        <p:sp>
          <p:nvSpPr>
            <p:cNvPr id="4357" name="Line 842"/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58" name="Line 843"/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59" name="Line 844"/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81" name="Line 845"/>
          <p:cNvSpPr>
            <a:spLocks noChangeShapeType="1"/>
          </p:cNvSpPr>
          <p:nvPr/>
        </p:nvSpPr>
        <p:spPr bwMode="auto">
          <a:xfrm flipV="1">
            <a:off x="7267575" y="4005263"/>
            <a:ext cx="227013" cy="43656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82" name="Line 846"/>
          <p:cNvSpPr>
            <a:spLocks noChangeShapeType="1"/>
          </p:cNvSpPr>
          <p:nvPr/>
        </p:nvSpPr>
        <p:spPr bwMode="auto">
          <a:xfrm>
            <a:off x="7391400" y="3743325"/>
            <a:ext cx="163513" cy="120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83" name="Line 847"/>
          <p:cNvSpPr>
            <a:spLocks noChangeShapeType="1"/>
          </p:cNvSpPr>
          <p:nvPr/>
        </p:nvSpPr>
        <p:spPr bwMode="auto">
          <a:xfrm>
            <a:off x="7488238" y="3663950"/>
            <a:ext cx="2794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84" name="Line 848"/>
          <p:cNvSpPr>
            <a:spLocks noChangeShapeType="1"/>
          </p:cNvSpPr>
          <p:nvPr/>
        </p:nvSpPr>
        <p:spPr bwMode="auto">
          <a:xfrm flipV="1">
            <a:off x="7724775" y="3749675"/>
            <a:ext cx="134938" cy="1047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85" name="Line 849"/>
          <p:cNvSpPr>
            <a:spLocks noChangeShapeType="1"/>
          </p:cNvSpPr>
          <p:nvPr/>
        </p:nvSpPr>
        <p:spPr bwMode="auto">
          <a:xfrm>
            <a:off x="6423025" y="3670300"/>
            <a:ext cx="6794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86" name="Line 850"/>
          <p:cNvSpPr>
            <a:spLocks noChangeShapeType="1"/>
          </p:cNvSpPr>
          <p:nvPr/>
        </p:nvSpPr>
        <p:spPr bwMode="auto">
          <a:xfrm>
            <a:off x="6718300" y="2517775"/>
            <a:ext cx="509588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87" name="Line 851"/>
          <p:cNvSpPr>
            <a:spLocks noChangeShapeType="1"/>
          </p:cNvSpPr>
          <p:nvPr/>
        </p:nvSpPr>
        <p:spPr bwMode="auto">
          <a:xfrm>
            <a:off x="6284913" y="2346325"/>
            <a:ext cx="152400" cy="82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88" name="Freeform 852"/>
          <p:cNvSpPr/>
          <p:nvPr/>
        </p:nvSpPr>
        <p:spPr bwMode="auto">
          <a:xfrm>
            <a:off x="5605463" y="4352925"/>
            <a:ext cx="2979737" cy="1455738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DDDDDD"/>
          </a:solidFill>
          <a:ln w="9525">
            <a:noFill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89" name="Line 853"/>
          <p:cNvSpPr>
            <a:spLocks noChangeShapeType="1"/>
          </p:cNvSpPr>
          <p:nvPr/>
        </p:nvSpPr>
        <p:spPr bwMode="auto">
          <a:xfrm rot="-5400000">
            <a:off x="7840662" y="5089526"/>
            <a:ext cx="523875" cy="1397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0" name="Line 854"/>
          <p:cNvSpPr>
            <a:spLocks noChangeShapeType="1"/>
          </p:cNvSpPr>
          <p:nvPr/>
        </p:nvSpPr>
        <p:spPr bwMode="auto">
          <a:xfrm rot="5400000" flipV="1">
            <a:off x="7986713" y="5370513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1" name="Line 855"/>
          <p:cNvSpPr>
            <a:spLocks noChangeShapeType="1"/>
          </p:cNvSpPr>
          <p:nvPr/>
        </p:nvSpPr>
        <p:spPr bwMode="auto">
          <a:xfrm rot="-5400000">
            <a:off x="8172450" y="5046663"/>
            <a:ext cx="0" cy="1143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92" name="Group 856"/>
          <p:cNvGrpSpPr/>
          <p:nvPr/>
        </p:nvGrpSpPr>
        <p:grpSpPr bwMode="auto">
          <a:xfrm>
            <a:off x="7751763" y="4756150"/>
            <a:ext cx="501650" cy="234950"/>
            <a:chOff x="4701" y="2996"/>
            <a:chExt cx="316" cy="148"/>
          </a:xfrm>
        </p:grpSpPr>
        <p:sp>
          <p:nvSpPr>
            <p:cNvPr id="4344" name="Oval 857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45" name="Line 858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46" name="Line 859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47" name="Rectangle 860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/>
            </a:p>
          </p:txBody>
        </p:sp>
        <p:sp>
          <p:nvSpPr>
            <p:cNvPr id="4348" name="Oval 861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349" name="Group 862"/>
            <p:cNvGrpSpPr/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4354" name="Line 86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55" name="Line 86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56" name="Line 86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50" name="Group 866"/>
            <p:cNvGrpSpPr/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4351" name="Line 86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52" name="Line 86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53" name="Line 86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193" name="Group 870"/>
          <p:cNvGrpSpPr/>
          <p:nvPr/>
        </p:nvGrpSpPr>
        <p:grpSpPr bwMode="auto">
          <a:xfrm>
            <a:off x="6935788" y="4479925"/>
            <a:ext cx="501650" cy="234950"/>
            <a:chOff x="3600" y="219"/>
            <a:chExt cx="360" cy="175"/>
          </a:xfrm>
        </p:grpSpPr>
        <p:sp>
          <p:nvSpPr>
            <p:cNvPr id="4331" name="Oval 871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32" name="Line 872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33" name="Line 873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34" name="Rectangle 874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/>
            </a:p>
          </p:txBody>
        </p:sp>
        <p:sp>
          <p:nvSpPr>
            <p:cNvPr id="4335" name="Oval 875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336" name="Group 876"/>
            <p:cNvGrpSpPr/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4341" name="Line 87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42" name="Line 87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43" name="Line 87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37" name="Group 880"/>
            <p:cNvGrpSpPr/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4338" name="Line 88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39" name="Line 88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40" name="Line 88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194" name="Group 884"/>
          <p:cNvGrpSpPr/>
          <p:nvPr/>
        </p:nvGrpSpPr>
        <p:grpSpPr bwMode="auto">
          <a:xfrm>
            <a:off x="6270625" y="4784725"/>
            <a:ext cx="501650" cy="234950"/>
            <a:chOff x="3600" y="219"/>
            <a:chExt cx="360" cy="175"/>
          </a:xfrm>
        </p:grpSpPr>
        <p:sp>
          <p:nvSpPr>
            <p:cNvPr id="4318" name="Oval 88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9" name="Line 88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20" name="Line 88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21" name="Rectangle 888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/>
            </a:p>
          </p:txBody>
        </p:sp>
        <p:sp>
          <p:nvSpPr>
            <p:cNvPr id="4322" name="Oval 88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323" name="Group 890"/>
            <p:cNvGrpSpPr/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4328" name="Line 89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29" name="Line 89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30" name="Line 89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24" name="Group 894"/>
            <p:cNvGrpSpPr/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4325" name="Line 89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26" name="Line 89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27" name="Line 89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195" name="Line 898"/>
          <p:cNvSpPr>
            <a:spLocks noChangeShapeType="1"/>
          </p:cNvSpPr>
          <p:nvPr/>
        </p:nvSpPr>
        <p:spPr bwMode="auto">
          <a:xfrm>
            <a:off x="7385050" y="4691063"/>
            <a:ext cx="358775" cy="120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96" name="Line 899"/>
          <p:cNvSpPr>
            <a:spLocks noChangeShapeType="1"/>
          </p:cNvSpPr>
          <p:nvPr/>
        </p:nvSpPr>
        <p:spPr bwMode="auto">
          <a:xfrm flipV="1">
            <a:off x="6732588" y="4703763"/>
            <a:ext cx="277812" cy="1095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97" name="Line 900"/>
          <p:cNvSpPr>
            <a:spLocks noChangeShapeType="1"/>
          </p:cNvSpPr>
          <p:nvPr/>
        </p:nvSpPr>
        <p:spPr bwMode="auto">
          <a:xfrm flipV="1">
            <a:off x="6775450" y="4906963"/>
            <a:ext cx="9715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98" name="Line 901"/>
          <p:cNvSpPr>
            <a:spLocks noChangeShapeType="1"/>
          </p:cNvSpPr>
          <p:nvPr/>
        </p:nvSpPr>
        <p:spPr bwMode="auto">
          <a:xfrm flipH="1">
            <a:off x="6070600" y="4652963"/>
            <a:ext cx="254000" cy="4699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99" name="Line 902"/>
          <p:cNvSpPr>
            <a:spLocks noChangeShapeType="1"/>
          </p:cNvSpPr>
          <p:nvPr/>
        </p:nvSpPr>
        <p:spPr bwMode="auto">
          <a:xfrm>
            <a:off x="6096000" y="4703763"/>
            <a:ext cx="1968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0" name="Line 903"/>
          <p:cNvSpPr>
            <a:spLocks noChangeShapeType="1"/>
          </p:cNvSpPr>
          <p:nvPr/>
        </p:nvSpPr>
        <p:spPr bwMode="auto">
          <a:xfrm>
            <a:off x="5956300" y="5040313"/>
            <a:ext cx="153988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1" name="Line 904"/>
          <p:cNvSpPr>
            <a:spLocks noChangeShapeType="1"/>
          </p:cNvSpPr>
          <p:nvPr/>
        </p:nvSpPr>
        <p:spPr bwMode="auto">
          <a:xfrm>
            <a:off x="6208713" y="5119688"/>
            <a:ext cx="490537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2" name="Line 905"/>
          <p:cNvSpPr>
            <a:spLocks noChangeShapeType="1"/>
          </p:cNvSpPr>
          <p:nvPr/>
        </p:nvSpPr>
        <p:spPr bwMode="auto">
          <a:xfrm flipH="1">
            <a:off x="6448425" y="5027613"/>
            <a:ext cx="53975" cy="857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3" name="Line 906"/>
          <p:cNvSpPr>
            <a:spLocks noChangeShapeType="1"/>
          </p:cNvSpPr>
          <p:nvPr/>
        </p:nvSpPr>
        <p:spPr bwMode="auto">
          <a:xfrm>
            <a:off x="6261100" y="5116513"/>
            <a:ext cx="1588" cy="82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4" name="Line 907"/>
          <p:cNvSpPr>
            <a:spLocks noChangeShapeType="1"/>
          </p:cNvSpPr>
          <p:nvPr/>
        </p:nvSpPr>
        <p:spPr bwMode="auto">
          <a:xfrm flipH="1" flipV="1">
            <a:off x="6657975" y="5124450"/>
            <a:ext cx="0" cy="76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5" name="Line 908"/>
          <p:cNvSpPr>
            <a:spLocks noChangeShapeType="1"/>
          </p:cNvSpPr>
          <p:nvPr/>
        </p:nvSpPr>
        <p:spPr bwMode="auto">
          <a:xfrm>
            <a:off x="6738938" y="4983163"/>
            <a:ext cx="503237" cy="2698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6" name="Line 909"/>
          <p:cNvSpPr>
            <a:spLocks noChangeShapeType="1"/>
          </p:cNvSpPr>
          <p:nvPr/>
        </p:nvSpPr>
        <p:spPr bwMode="auto">
          <a:xfrm>
            <a:off x="6188075" y="4918075"/>
            <a:ext cx="80963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207" name="Group 910"/>
          <p:cNvGrpSpPr/>
          <p:nvPr/>
        </p:nvGrpSpPr>
        <p:grpSpPr bwMode="auto">
          <a:xfrm>
            <a:off x="5373688" y="1677988"/>
            <a:ext cx="3021012" cy="3981450"/>
            <a:chOff x="-1203" y="1352"/>
            <a:chExt cx="1903" cy="2508"/>
          </a:xfrm>
        </p:grpSpPr>
        <p:grpSp>
          <p:nvGrpSpPr>
            <p:cNvPr id="4291" name="Group 911"/>
            <p:cNvGrpSpPr/>
            <p:nvPr/>
          </p:nvGrpSpPr>
          <p:grpSpPr bwMode="auto">
            <a:xfrm>
              <a:off x="-1203" y="1647"/>
              <a:ext cx="436" cy="114"/>
              <a:chOff x="3072" y="739"/>
              <a:chExt cx="652" cy="146"/>
            </a:xfrm>
          </p:grpSpPr>
          <p:pic>
            <p:nvPicPr>
              <p:cNvPr id="4315" name="Picture 912" descr="lgv_fqmg[1]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 flipH="1">
                <a:off x="3237" y="739"/>
                <a:ext cx="487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316" name="Line 913"/>
              <p:cNvSpPr>
                <a:spLocks noChangeShapeType="1"/>
              </p:cNvSpPr>
              <p:nvPr/>
            </p:nvSpPr>
            <p:spPr bwMode="auto">
              <a:xfrm flipH="1">
                <a:off x="3104" y="784"/>
                <a:ext cx="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17" name="Line 914"/>
              <p:cNvSpPr>
                <a:spLocks noChangeShapeType="1"/>
              </p:cNvSpPr>
              <p:nvPr/>
            </p:nvSpPr>
            <p:spPr bwMode="auto">
              <a:xfrm flipH="1">
                <a:off x="3072" y="76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pic>
          <p:nvPicPr>
            <p:cNvPr id="4292" name="Picture 915" descr="imgyjavg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-1027" y="1466"/>
              <a:ext cx="232" cy="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293" name="Group 916"/>
            <p:cNvGrpSpPr/>
            <p:nvPr/>
          </p:nvGrpSpPr>
          <p:grpSpPr bwMode="auto">
            <a:xfrm>
              <a:off x="-546" y="1352"/>
              <a:ext cx="256" cy="269"/>
              <a:chOff x="2870" y="1518"/>
              <a:chExt cx="292" cy="320"/>
            </a:xfrm>
          </p:grpSpPr>
          <p:graphicFrame>
            <p:nvGraphicFramePr>
              <p:cNvPr id="4109" name="Object 13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4" imgW="11601450" imgH="11791950" progId="MS_ClipArt_Gallery.2">
                      <p:embed/>
                    </p:oleObj>
                  </mc:Choice>
                  <mc:Fallback>
                    <p:oleObj name="Clip" r:id="rId4" imgW="11601450" imgH="11791950" progId="MS_ClipArt_Gallery.2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10" name="Object 14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6" imgW="17716500" imgH="16754475" progId="MS_ClipArt_Gallery.2">
                      <p:embed/>
                    </p:oleObj>
                  </mc:Choice>
                  <mc:Fallback>
                    <p:oleObj name="Clip" r:id="rId6" imgW="17716500" imgH="16754475" progId="MS_ClipArt_Gallery.2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294" name="Group 919"/>
            <p:cNvGrpSpPr/>
            <p:nvPr/>
          </p:nvGrpSpPr>
          <p:grpSpPr bwMode="auto">
            <a:xfrm>
              <a:off x="-1002" y="2262"/>
              <a:ext cx="209" cy="224"/>
              <a:chOff x="2870" y="1518"/>
              <a:chExt cx="292" cy="320"/>
            </a:xfrm>
          </p:grpSpPr>
          <p:graphicFrame>
            <p:nvGraphicFramePr>
              <p:cNvPr id="4107" name="Object 11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8" imgW="826770" imgH="840105" progId="MS_ClipArt_Gallery.2">
                      <p:embed/>
                    </p:oleObj>
                  </mc:Choice>
                  <mc:Fallback>
                    <p:oleObj name="Clip" r:id="rId8" imgW="826770" imgH="840105" progId="MS_ClipArt_Gallery.2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8" name="Object 12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10" imgW="1268095" imgH="1199515" progId="MS_ClipArt_Gallery.2">
                      <p:embed/>
                    </p:oleObj>
                  </mc:Choice>
                  <mc:Fallback>
                    <p:oleObj name="Clip" r:id="rId10" imgW="1268095" imgH="1199515" progId="MS_ClipArt_Gallery.2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098" name="Object 2"/>
            <p:cNvGraphicFramePr>
              <a:graphicFrameLocks noChangeAspect="1"/>
            </p:cNvGraphicFramePr>
            <p:nvPr/>
          </p:nvGraphicFramePr>
          <p:xfrm>
            <a:off x="-732" y="2289"/>
            <a:ext cx="207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2" imgW="18192750" imgH="15087600" progId="MS_ClipArt_Gallery.2">
                    <p:embed/>
                  </p:oleObj>
                </mc:Choice>
                <mc:Fallback>
                  <p:oleObj name="Clip" r:id="rId12" imgW="18192750" imgH="15087600" progId="MS_ClipArt_Gallery.2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32" y="2289"/>
                          <a:ext cx="207" cy="1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295" name="Group 923"/>
            <p:cNvGrpSpPr/>
            <p:nvPr/>
          </p:nvGrpSpPr>
          <p:grpSpPr bwMode="auto">
            <a:xfrm>
              <a:off x="310" y="3575"/>
              <a:ext cx="125" cy="230"/>
              <a:chOff x="4180" y="783"/>
              <a:chExt cx="150" cy="307"/>
            </a:xfrm>
          </p:grpSpPr>
          <p:sp>
            <p:nvSpPr>
              <p:cNvPr id="4307" name="AutoShape 924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8" name="Rectangle 925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9" name="Rectangle 926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0" name="AutoShape 927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1" name="Line 928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2" name="Line 929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3" name="Rectangle 930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4" name="Rectangle 931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4099" name="Object 3"/>
            <p:cNvGraphicFramePr>
              <a:graphicFrameLocks noChangeAspect="1"/>
            </p:cNvGraphicFramePr>
            <p:nvPr/>
          </p:nvGraphicFramePr>
          <p:xfrm>
            <a:off x="-975" y="338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4" imgW="1307465" imgH="1083945" progId="MS_ClipArt_Gallery.2">
                    <p:embed/>
                  </p:oleObj>
                </mc:Choice>
                <mc:Fallback>
                  <p:oleObj name="Clip" r:id="rId14" imgW="1307465" imgH="1083945" progId="MS_ClipArt_Gallery.2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975" y="3384"/>
                          <a:ext cx="216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0" name="Object 4"/>
            <p:cNvGraphicFramePr>
              <a:graphicFrameLocks noChangeAspect="1"/>
            </p:cNvGraphicFramePr>
            <p:nvPr/>
          </p:nvGraphicFramePr>
          <p:xfrm>
            <a:off x="-871" y="318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6" imgW="1307465" imgH="1083945" progId="MS_ClipArt_Gallery.2">
                    <p:embed/>
                  </p:oleObj>
                </mc:Choice>
                <mc:Fallback>
                  <p:oleObj name="Clip" r:id="rId16" imgW="1307465" imgH="1083945" progId="MS_ClipArt_Gallery.2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871" y="3184"/>
                          <a:ext cx="216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1" name="Object 5"/>
            <p:cNvGraphicFramePr>
              <a:graphicFrameLocks noChangeAspect="1"/>
            </p:cNvGraphicFramePr>
            <p:nvPr/>
          </p:nvGraphicFramePr>
          <p:xfrm>
            <a:off x="-703" y="354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7" imgW="1307465" imgH="1083945" progId="MS_ClipArt_Gallery.2">
                    <p:embed/>
                  </p:oleObj>
                </mc:Choice>
                <mc:Fallback>
                  <p:oleObj name="Clip" r:id="rId17" imgW="1307465" imgH="1083945" progId="MS_ClipArt_Gallery.2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03" y="3544"/>
                          <a:ext cx="216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2" name="Object 6"/>
            <p:cNvGraphicFramePr>
              <a:graphicFrameLocks noChangeAspect="1"/>
            </p:cNvGraphicFramePr>
            <p:nvPr/>
          </p:nvGraphicFramePr>
          <p:xfrm>
            <a:off x="-489" y="3546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18" imgW="1307465" imgH="1083945" progId="MS_ClipArt_Gallery.2">
                    <p:embed/>
                  </p:oleObj>
                </mc:Choice>
                <mc:Fallback>
                  <p:oleObj name="Clip" r:id="rId18" imgW="1307465" imgH="1083945" progId="MS_ClipArt_Gallery.2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89" y="3546"/>
                          <a:ext cx="216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296" name="Group 936"/>
            <p:cNvGrpSpPr/>
            <p:nvPr/>
          </p:nvGrpSpPr>
          <p:grpSpPr bwMode="auto">
            <a:xfrm>
              <a:off x="83" y="3625"/>
              <a:ext cx="172" cy="215"/>
              <a:chOff x="2870" y="1518"/>
              <a:chExt cx="292" cy="320"/>
            </a:xfrm>
          </p:grpSpPr>
          <p:graphicFrame>
            <p:nvGraphicFramePr>
              <p:cNvPr id="4105" name="Object 9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19" imgW="826770" imgH="840105" progId="MS_ClipArt_Gallery.2">
                      <p:embed/>
                    </p:oleObj>
                  </mc:Choice>
                  <mc:Fallback>
                    <p:oleObj name="Clip" r:id="rId19" imgW="826770" imgH="840105" progId="MS_ClipArt_Gallery.2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6" name="Object 10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20" imgW="1268095" imgH="1199515" progId="MS_ClipArt_Gallery.2">
                      <p:embed/>
                    </p:oleObj>
                  </mc:Choice>
                  <mc:Fallback>
                    <p:oleObj name="Clip" r:id="rId20" imgW="1268095" imgH="1199515" progId="MS_ClipArt_Gallery.2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297" name="Group 939"/>
            <p:cNvGrpSpPr/>
            <p:nvPr/>
          </p:nvGrpSpPr>
          <p:grpSpPr bwMode="auto">
            <a:xfrm>
              <a:off x="-201" y="3657"/>
              <a:ext cx="220" cy="203"/>
              <a:chOff x="2870" y="1518"/>
              <a:chExt cx="292" cy="320"/>
            </a:xfrm>
          </p:grpSpPr>
          <p:graphicFrame>
            <p:nvGraphicFramePr>
              <p:cNvPr id="4103" name="Object 7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21" imgW="826770" imgH="840105" progId="MS_ClipArt_Gallery.2">
                      <p:embed/>
                    </p:oleObj>
                  </mc:Choice>
                  <mc:Fallback>
                    <p:oleObj name="Clip" r:id="rId21" imgW="826770" imgH="840105" progId="MS_ClipArt_Gallery.2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4" name="Object 8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" r:id="rId22" imgW="1268095" imgH="1199515" progId="MS_ClipArt_Gallery.2">
                      <p:embed/>
                    </p:oleObj>
                  </mc:Choice>
                  <mc:Fallback>
                    <p:oleObj name="Clip" r:id="rId22" imgW="1268095" imgH="1199515" progId="MS_ClipArt_Gallery.2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298" name="Group 942"/>
            <p:cNvGrpSpPr/>
            <p:nvPr/>
          </p:nvGrpSpPr>
          <p:grpSpPr bwMode="auto">
            <a:xfrm>
              <a:off x="569" y="3419"/>
              <a:ext cx="131" cy="258"/>
              <a:chOff x="4180" y="783"/>
              <a:chExt cx="150" cy="307"/>
            </a:xfrm>
          </p:grpSpPr>
          <p:sp>
            <p:nvSpPr>
              <p:cNvPr id="4299" name="AutoShape 943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0" name="Rectangle 944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1" name="Rectangle 945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2" name="AutoShape 946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" name="Line 947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4" name="Line 948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5" name="Rectangle 949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6" name="Rectangle 950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208" name="Line 951"/>
          <p:cNvSpPr>
            <a:spLocks noChangeShapeType="1"/>
          </p:cNvSpPr>
          <p:nvPr/>
        </p:nvSpPr>
        <p:spPr bwMode="auto">
          <a:xfrm flipH="1">
            <a:off x="6276975" y="3440113"/>
            <a:ext cx="3175" cy="14446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9" name="Line 952"/>
          <p:cNvSpPr>
            <a:spLocks noChangeShapeType="1"/>
          </p:cNvSpPr>
          <p:nvPr/>
        </p:nvSpPr>
        <p:spPr bwMode="auto">
          <a:xfrm flipV="1">
            <a:off x="7573963" y="2422525"/>
            <a:ext cx="123825" cy="8731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10" name="Line 953"/>
          <p:cNvSpPr>
            <a:spLocks noChangeShapeType="1"/>
          </p:cNvSpPr>
          <p:nvPr/>
        </p:nvSpPr>
        <p:spPr bwMode="auto">
          <a:xfrm>
            <a:off x="7400925" y="2595563"/>
            <a:ext cx="0" cy="82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11" name="Line 954"/>
          <p:cNvSpPr>
            <a:spLocks noChangeShapeType="1"/>
          </p:cNvSpPr>
          <p:nvPr/>
        </p:nvSpPr>
        <p:spPr bwMode="auto">
          <a:xfrm flipV="1">
            <a:off x="7585075" y="2492375"/>
            <a:ext cx="263525" cy="2889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12" name="Line 955"/>
          <p:cNvSpPr>
            <a:spLocks noChangeShapeType="1"/>
          </p:cNvSpPr>
          <p:nvPr/>
        </p:nvSpPr>
        <p:spPr bwMode="auto">
          <a:xfrm>
            <a:off x="7937500" y="2490788"/>
            <a:ext cx="0" cy="196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13" name="Line 956"/>
          <p:cNvSpPr>
            <a:spLocks noChangeShapeType="1"/>
          </p:cNvSpPr>
          <p:nvPr/>
        </p:nvSpPr>
        <p:spPr bwMode="auto">
          <a:xfrm>
            <a:off x="7591425" y="2797175"/>
            <a:ext cx="188913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14" name="Line 957"/>
          <p:cNvSpPr>
            <a:spLocks noChangeShapeType="1"/>
          </p:cNvSpPr>
          <p:nvPr/>
        </p:nvSpPr>
        <p:spPr bwMode="auto">
          <a:xfrm flipV="1">
            <a:off x="5886450" y="3663950"/>
            <a:ext cx="168275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15" name="Line 958"/>
          <p:cNvSpPr>
            <a:spLocks noChangeShapeType="1"/>
          </p:cNvSpPr>
          <p:nvPr/>
        </p:nvSpPr>
        <p:spPr bwMode="auto">
          <a:xfrm flipV="1">
            <a:off x="8005763" y="2190750"/>
            <a:ext cx="238125" cy="1682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16" name="Line 959"/>
          <p:cNvSpPr>
            <a:spLocks noChangeShapeType="1"/>
          </p:cNvSpPr>
          <p:nvPr/>
        </p:nvSpPr>
        <p:spPr bwMode="auto">
          <a:xfrm>
            <a:off x="8145463" y="2787650"/>
            <a:ext cx="1778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17" name="Line 960"/>
          <p:cNvSpPr>
            <a:spLocks noChangeShapeType="1"/>
          </p:cNvSpPr>
          <p:nvPr/>
        </p:nvSpPr>
        <p:spPr bwMode="auto">
          <a:xfrm flipH="1">
            <a:off x="7291388" y="2863850"/>
            <a:ext cx="98425" cy="704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18" name="Line 961"/>
          <p:cNvSpPr>
            <a:spLocks noChangeShapeType="1"/>
          </p:cNvSpPr>
          <p:nvPr/>
        </p:nvSpPr>
        <p:spPr bwMode="auto">
          <a:xfrm flipH="1">
            <a:off x="7881938" y="2863850"/>
            <a:ext cx="111125" cy="7270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219" name="Group 962"/>
          <p:cNvGrpSpPr/>
          <p:nvPr/>
        </p:nvGrpSpPr>
        <p:grpSpPr bwMode="auto">
          <a:xfrm>
            <a:off x="6934200" y="4481513"/>
            <a:ext cx="501650" cy="234950"/>
            <a:chOff x="4701" y="2996"/>
            <a:chExt cx="316" cy="148"/>
          </a:xfrm>
        </p:grpSpPr>
        <p:sp>
          <p:nvSpPr>
            <p:cNvPr id="4278" name="Oval 963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79" name="Line 964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0" name="Line 965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1" name="Rectangle 966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/>
            </a:p>
          </p:txBody>
        </p:sp>
        <p:sp>
          <p:nvSpPr>
            <p:cNvPr id="4282" name="Oval 967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283" name="Group 968"/>
            <p:cNvGrpSpPr/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4288" name="Line 9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9" name="Line 9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90" name="Line 9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84" name="Group 972"/>
            <p:cNvGrpSpPr/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4285" name="Line 9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6" name="Line 9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7" name="Line 9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220" name="Group 976"/>
          <p:cNvGrpSpPr/>
          <p:nvPr/>
        </p:nvGrpSpPr>
        <p:grpSpPr bwMode="auto">
          <a:xfrm>
            <a:off x="6269038" y="4783138"/>
            <a:ext cx="501650" cy="234950"/>
            <a:chOff x="4701" y="2996"/>
            <a:chExt cx="316" cy="148"/>
          </a:xfrm>
        </p:grpSpPr>
        <p:sp>
          <p:nvSpPr>
            <p:cNvPr id="4265" name="Oval 977"/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66" name="Line 978"/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67" name="Line 979"/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68" name="Rectangle 980"/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 w="12700">
              <a:noFill/>
              <a:miter lim="800000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/>
            </a:p>
          </p:txBody>
        </p:sp>
        <p:sp>
          <p:nvSpPr>
            <p:cNvPr id="4269" name="Oval 981"/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270" name="Group 982"/>
            <p:cNvGrpSpPr/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4275" name="Line 98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76" name="Line 98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77" name="Line 98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71" name="Group 986"/>
            <p:cNvGrpSpPr/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4272" name="Line 98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73" name="Line 98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74" name="Line 98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221" name="Group 990"/>
          <p:cNvGrpSpPr/>
          <p:nvPr/>
        </p:nvGrpSpPr>
        <p:grpSpPr bwMode="auto">
          <a:xfrm>
            <a:off x="7099300" y="4968875"/>
            <a:ext cx="290513" cy="404813"/>
            <a:chOff x="4290" y="3130"/>
            <a:chExt cx="183" cy="255"/>
          </a:xfrm>
        </p:grpSpPr>
        <p:pic>
          <p:nvPicPr>
            <p:cNvPr id="4247" name="Picture 991" descr="31u_bnrz[1]"/>
            <p:cNvPicPr>
              <a:picLocks noChangeAspect="1" noChangeArrowheads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4343" y="3211"/>
              <a:ext cx="121" cy="174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  <a:headEnd/>
              <a:tailEnd/>
            </a:ln>
          </p:spPr>
        </p:pic>
        <p:sp>
          <p:nvSpPr>
            <p:cNvPr id="4248" name="Freeform 992"/>
            <p:cNvSpPr/>
            <p:nvPr/>
          </p:nvSpPr>
          <p:spPr bwMode="auto">
            <a:xfrm>
              <a:off x="4339" y="3143"/>
              <a:ext cx="33" cy="39"/>
            </a:xfrm>
            <a:custGeom>
              <a:avLst/>
              <a:gdLst>
                <a:gd name="T0" fmla="*/ 0 w 199"/>
                <a:gd name="T1" fmla="*/ 0 h 232"/>
                <a:gd name="T2" fmla="*/ 0 w 199"/>
                <a:gd name="T3" fmla="*/ 0 h 232"/>
                <a:gd name="T4" fmla="*/ 0 w 199"/>
                <a:gd name="T5" fmla="*/ 0 h 232"/>
                <a:gd name="T6" fmla="*/ 0 w 199"/>
                <a:gd name="T7" fmla="*/ 0 h 232"/>
                <a:gd name="T8" fmla="*/ 0 w 199"/>
                <a:gd name="T9" fmla="*/ 0 h 232"/>
                <a:gd name="T10" fmla="*/ 0 w 199"/>
                <a:gd name="T11" fmla="*/ 0 h 232"/>
                <a:gd name="T12" fmla="*/ 0 w 199"/>
                <a:gd name="T13" fmla="*/ 0 h 232"/>
                <a:gd name="T14" fmla="*/ 0 w 199"/>
                <a:gd name="T15" fmla="*/ 0 h 232"/>
                <a:gd name="T16" fmla="*/ 0 w 199"/>
                <a:gd name="T17" fmla="*/ 0 h 232"/>
                <a:gd name="T18" fmla="*/ 0 w 199"/>
                <a:gd name="T19" fmla="*/ 0 h 232"/>
                <a:gd name="T20" fmla="*/ 0 w 199"/>
                <a:gd name="T21" fmla="*/ 0 h 232"/>
                <a:gd name="T22" fmla="*/ 0 w 199"/>
                <a:gd name="T23" fmla="*/ 0 h 232"/>
                <a:gd name="T24" fmla="*/ 0 w 199"/>
                <a:gd name="T25" fmla="*/ 0 h 232"/>
                <a:gd name="T26" fmla="*/ 0 w 199"/>
                <a:gd name="T27" fmla="*/ 0 h 232"/>
                <a:gd name="T28" fmla="*/ 0 w 199"/>
                <a:gd name="T29" fmla="*/ 0 h 232"/>
                <a:gd name="T30" fmla="*/ 0 w 199"/>
                <a:gd name="T31" fmla="*/ 0 h 232"/>
                <a:gd name="T32" fmla="*/ 0 w 199"/>
                <a:gd name="T33" fmla="*/ 0 h 232"/>
                <a:gd name="T34" fmla="*/ 0 w 199"/>
                <a:gd name="T35" fmla="*/ 0 h 232"/>
                <a:gd name="T36" fmla="*/ 0 w 199"/>
                <a:gd name="T37" fmla="*/ 0 h 232"/>
                <a:gd name="T38" fmla="*/ 0 w 199"/>
                <a:gd name="T39" fmla="*/ 0 h 232"/>
                <a:gd name="T40" fmla="*/ 0 w 199"/>
                <a:gd name="T41" fmla="*/ 0 h 232"/>
                <a:gd name="T42" fmla="*/ 0 w 199"/>
                <a:gd name="T43" fmla="*/ 0 h 232"/>
                <a:gd name="T44" fmla="*/ 0 w 199"/>
                <a:gd name="T45" fmla="*/ 0 h 232"/>
                <a:gd name="T46" fmla="*/ 0 w 199"/>
                <a:gd name="T47" fmla="*/ 0 h 232"/>
                <a:gd name="T48" fmla="*/ 0 w 199"/>
                <a:gd name="T49" fmla="*/ 0 h 232"/>
                <a:gd name="T50" fmla="*/ 0 w 199"/>
                <a:gd name="T51" fmla="*/ 0 h 232"/>
                <a:gd name="T52" fmla="*/ 0 w 199"/>
                <a:gd name="T53" fmla="*/ 0 h 232"/>
                <a:gd name="T54" fmla="*/ 0 w 199"/>
                <a:gd name="T55" fmla="*/ 0 h 232"/>
                <a:gd name="T56" fmla="*/ 0 w 199"/>
                <a:gd name="T57" fmla="*/ 0 h 232"/>
                <a:gd name="T58" fmla="*/ 0 w 199"/>
                <a:gd name="T59" fmla="*/ 0 h 232"/>
                <a:gd name="T60" fmla="*/ 0 w 199"/>
                <a:gd name="T61" fmla="*/ 0 h 232"/>
                <a:gd name="T62" fmla="*/ 0 w 199"/>
                <a:gd name="T63" fmla="*/ 0 h 232"/>
                <a:gd name="T64" fmla="*/ 0 w 199"/>
                <a:gd name="T65" fmla="*/ 0 h 232"/>
                <a:gd name="T66" fmla="*/ 0 w 199"/>
                <a:gd name="T67" fmla="*/ 0 h 232"/>
                <a:gd name="T68" fmla="*/ 0 w 199"/>
                <a:gd name="T69" fmla="*/ 0 h 232"/>
                <a:gd name="T70" fmla="*/ 0 w 199"/>
                <a:gd name="T71" fmla="*/ 0 h 232"/>
                <a:gd name="T72" fmla="*/ 0 w 199"/>
                <a:gd name="T73" fmla="*/ 0 h 232"/>
                <a:gd name="T74" fmla="*/ 0 w 199"/>
                <a:gd name="T75" fmla="*/ 0 h 232"/>
                <a:gd name="T76" fmla="*/ 0 w 199"/>
                <a:gd name="T77" fmla="*/ 0 h 232"/>
                <a:gd name="T78" fmla="*/ 0 w 199"/>
                <a:gd name="T79" fmla="*/ 0 h 232"/>
                <a:gd name="T80" fmla="*/ 0 w 199"/>
                <a:gd name="T81" fmla="*/ 0 h 232"/>
                <a:gd name="T82" fmla="*/ 0 w 199"/>
                <a:gd name="T83" fmla="*/ 0 h 232"/>
                <a:gd name="T84" fmla="*/ 0 w 199"/>
                <a:gd name="T85" fmla="*/ 0 h 232"/>
                <a:gd name="T86" fmla="*/ 0 w 199"/>
                <a:gd name="T87" fmla="*/ 0 h 232"/>
                <a:gd name="T88" fmla="*/ 0 w 199"/>
                <a:gd name="T89" fmla="*/ 0 h 232"/>
                <a:gd name="T90" fmla="*/ 0 w 199"/>
                <a:gd name="T91" fmla="*/ 0 h 232"/>
                <a:gd name="T92" fmla="*/ 0 w 199"/>
                <a:gd name="T93" fmla="*/ 0 h 232"/>
                <a:gd name="T94" fmla="*/ 0 w 199"/>
                <a:gd name="T95" fmla="*/ 0 h 232"/>
                <a:gd name="T96" fmla="*/ 0 w 199"/>
                <a:gd name="T97" fmla="*/ 0 h 23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99"/>
                <a:gd name="T148" fmla="*/ 0 h 232"/>
                <a:gd name="T149" fmla="*/ 199 w 199"/>
                <a:gd name="T150" fmla="*/ 232 h 23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9" name="Freeform 993"/>
            <p:cNvSpPr/>
            <p:nvPr/>
          </p:nvSpPr>
          <p:spPr bwMode="auto">
            <a:xfrm>
              <a:off x="4395" y="3142"/>
              <a:ext cx="22" cy="30"/>
            </a:xfrm>
            <a:custGeom>
              <a:avLst/>
              <a:gdLst>
                <a:gd name="T0" fmla="*/ 0 w 128"/>
                <a:gd name="T1" fmla="*/ 0 h 180"/>
                <a:gd name="T2" fmla="*/ 0 w 128"/>
                <a:gd name="T3" fmla="*/ 0 h 180"/>
                <a:gd name="T4" fmla="*/ 0 w 128"/>
                <a:gd name="T5" fmla="*/ 0 h 180"/>
                <a:gd name="T6" fmla="*/ 0 w 128"/>
                <a:gd name="T7" fmla="*/ 0 h 180"/>
                <a:gd name="T8" fmla="*/ 0 w 128"/>
                <a:gd name="T9" fmla="*/ 0 h 180"/>
                <a:gd name="T10" fmla="*/ 0 w 128"/>
                <a:gd name="T11" fmla="*/ 0 h 180"/>
                <a:gd name="T12" fmla="*/ 0 w 128"/>
                <a:gd name="T13" fmla="*/ 0 h 180"/>
                <a:gd name="T14" fmla="*/ 0 w 128"/>
                <a:gd name="T15" fmla="*/ 0 h 180"/>
                <a:gd name="T16" fmla="*/ 0 w 128"/>
                <a:gd name="T17" fmla="*/ 0 h 180"/>
                <a:gd name="T18" fmla="*/ 0 w 128"/>
                <a:gd name="T19" fmla="*/ 0 h 180"/>
                <a:gd name="T20" fmla="*/ 0 w 128"/>
                <a:gd name="T21" fmla="*/ 0 h 180"/>
                <a:gd name="T22" fmla="*/ 0 w 128"/>
                <a:gd name="T23" fmla="*/ 0 h 180"/>
                <a:gd name="T24" fmla="*/ 0 w 128"/>
                <a:gd name="T25" fmla="*/ 0 h 180"/>
                <a:gd name="T26" fmla="*/ 0 w 128"/>
                <a:gd name="T27" fmla="*/ 0 h 180"/>
                <a:gd name="T28" fmla="*/ 0 w 128"/>
                <a:gd name="T29" fmla="*/ 0 h 180"/>
                <a:gd name="T30" fmla="*/ 0 w 128"/>
                <a:gd name="T31" fmla="*/ 0 h 180"/>
                <a:gd name="T32" fmla="*/ 0 w 128"/>
                <a:gd name="T33" fmla="*/ 0 h 180"/>
                <a:gd name="T34" fmla="*/ 0 w 128"/>
                <a:gd name="T35" fmla="*/ 0 h 180"/>
                <a:gd name="T36" fmla="*/ 0 w 128"/>
                <a:gd name="T37" fmla="*/ 0 h 180"/>
                <a:gd name="T38" fmla="*/ 0 w 128"/>
                <a:gd name="T39" fmla="*/ 0 h 180"/>
                <a:gd name="T40" fmla="*/ 0 w 128"/>
                <a:gd name="T41" fmla="*/ 0 h 180"/>
                <a:gd name="T42" fmla="*/ 0 w 128"/>
                <a:gd name="T43" fmla="*/ 0 h 180"/>
                <a:gd name="T44" fmla="*/ 0 w 128"/>
                <a:gd name="T45" fmla="*/ 0 h 180"/>
                <a:gd name="T46" fmla="*/ 0 w 128"/>
                <a:gd name="T47" fmla="*/ 0 h 180"/>
                <a:gd name="T48" fmla="*/ 0 w 128"/>
                <a:gd name="T49" fmla="*/ 0 h 180"/>
                <a:gd name="T50" fmla="*/ 0 w 128"/>
                <a:gd name="T51" fmla="*/ 0 h 180"/>
                <a:gd name="T52" fmla="*/ 0 w 128"/>
                <a:gd name="T53" fmla="*/ 0 h 180"/>
                <a:gd name="T54" fmla="*/ 0 w 128"/>
                <a:gd name="T55" fmla="*/ 0 h 180"/>
                <a:gd name="T56" fmla="*/ 0 w 128"/>
                <a:gd name="T57" fmla="*/ 0 h 180"/>
                <a:gd name="T58" fmla="*/ 0 w 128"/>
                <a:gd name="T59" fmla="*/ 0 h 180"/>
                <a:gd name="T60" fmla="*/ 0 w 128"/>
                <a:gd name="T61" fmla="*/ 0 h 180"/>
                <a:gd name="T62" fmla="*/ 0 w 128"/>
                <a:gd name="T63" fmla="*/ 0 h 180"/>
                <a:gd name="T64" fmla="*/ 0 w 128"/>
                <a:gd name="T65" fmla="*/ 0 h 180"/>
                <a:gd name="T66" fmla="*/ 0 w 128"/>
                <a:gd name="T67" fmla="*/ 0 h 180"/>
                <a:gd name="T68" fmla="*/ 0 w 128"/>
                <a:gd name="T69" fmla="*/ 0 h 180"/>
                <a:gd name="T70" fmla="*/ 0 w 128"/>
                <a:gd name="T71" fmla="*/ 0 h 180"/>
                <a:gd name="T72" fmla="*/ 0 w 128"/>
                <a:gd name="T73" fmla="*/ 0 h 180"/>
                <a:gd name="T74" fmla="*/ 0 w 128"/>
                <a:gd name="T75" fmla="*/ 0 h 180"/>
                <a:gd name="T76" fmla="*/ 0 w 128"/>
                <a:gd name="T77" fmla="*/ 0 h 180"/>
                <a:gd name="T78" fmla="*/ 0 w 128"/>
                <a:gd name="T79" fmla="*/ 0 h 180"/>
                <a:gd name="T80" fmla="*/ 0 w 128"/>
                <a:gd name="T81" fmla="*/ 0 h 18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0"/>
                <a:gd name="T125" fmla="*/ 128 w 128"/>
                <a:gd name="T126" fmla="*/ 180 h 18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0" name="Freeform 994"/>
            <p:cNvSpPr/>
            <p:nvPr/>
          </p:nvSpPr>
          <p:spPr bwMode="auto">
            <a:xfrm>
              <a:off x="4318" y="3135"/>
              <a:ext cx="54" cy="63"/>
            </a:xfrm>
            <a:custGeom>
              <a:avLst/>
              <a:gdLst>
                <a:gd name="T0" fmla="*/ 0 w 322"/>
                <a:gd name="T1" fmla="*/ 0 h 378"/>
                <a:gd name="T2" fmla="*/ 0 w 322"/>
                <a:gd name="T3" fmla="*/ 0 h 378"/>
                <a:gd name="T4" fmla="*/ 0 w 322"/>
                <a:gd name="T5" fmla="*/ 0 h 378"/>
                <a:gd name="T6" fmla="*/ 0 w 322"/>
                <a:gd name="T7" fmla="*/ 0 h 378"/>
                <a:gd name="T8" fmla="*/ 0 w 322"/>
                <a:gd name="T9" fmla="*/ 0 h 378"/>
                <a:gd name="T10" fmla="*/ 0 w 322"/>
                <a:gd name="T11" fmla="*/ 0 h 378"/>
                <a:gd name="T12" fmla="*/ 0 w 322"/>
                <a:gd name="T13" fmla="*/ 0 h 378"/>
                <a:gd name="T14" fmla="*/ 0 w 322"/>
                <a:gd name="T15" fmla="*/ 0 h 378"/>
                <a:gd name="T16" fmla="*/ 0 w 322"/>
                <a:gd name="T17" fmla="*/ 0 h 378"/>
                <a:gd name="T18" fmla="*/ 0 w 322"/>
                <a:gd name="T19" fmla="*/ 0 h 378"/>
                <a:gd name="T20" fmla="*/ 0 w 322"/>
                <a:gd name="T21" fmla="*/ 0 h 378"/>
                <a:gd name="T22" fmla="*/ 0 w 322"/>
                <a:gd name="T23" fmla="*/ 0 h 378"/>
                <a:gd name="T24" fmla="*/ 0 w 322"/>
                <a:gd name="T25" fmla="*/ 0 h 378"/>
                <a:gd name="T26" fmla="*/ 0 w 322"/>
                <a:gd name="T27" fmla="*/ 0 h 378"/>
                <a:gd name="T28" fmla="*/ 0 w 322"/>
                <a:gd name="T29" fmla="*/ 0 h 378"/>
                <a:gd name="T30" fmla="*/ 0 w 322"/>
                <a:gd name="T31" fmla="*/ 0 h 378"/>
                <a:gd name="T32" fmla="*/ 0 w 322"/>
                <a:gd name="T33" fmla="*/ 0 h 378"/>
                <a:gd name="T34" fmla="*/ 0 w 322"/>
                <a:gd name="T35" fmla="*/ 0 h 378"/>
                <a:gd name="T36" fmla="*/ 0 w 322"/>
                <a:gd name="T37" fmla="*/ 0 h 378"/>
                <a:gd name="T38" fmla="*/ 0 w 322"/>
                <a:gd name="T39" fmla="*/ 0 h 378"/>
                <a:gd name="T40" fmla="*/ 0 w 322"/>
                <a:gd name="T41" fmla="*/ 0 h 378"/>
                <a:gd name="T42" fmla="*/ 0 w 322"/>
                <a:gd name="T43" fmla="*/ 0 h 378"/>
                <a:gd name="T44" fmla="*/ 0 w 322"/>
                <a:gd name="T45" fmla="*/ 0 h 378"/>
                <a:gd name="T46" fmla="*/ 0 w 322"/>
                <a:gd name="T47" fmla="*/ 0 h 378"/>
                <a:gd name="T48" fmla="*/ 0 w 322"/>
                <a:gd name="T49" fmla="*/ 0 h 378"/>
                <a:gd name="T50" fmla="*/ 0 w 322"/>
                <a:gd name="T51" fmla="*/ 0 h 378"/>
                <a:gd name="T52" fmla="*/ 0 w 322"/>
                <a:gd name="T53" fmla="*/ 0 h 378"/>
                <a:gd name="T54" fmla="*/ 0 w 322"/>
                <a:gd name="T55" fmla="*/ 0 h 378"/>
                <a:gd name="T56" fmla="*/ 0 w 322"/>
                <a:gd name="T57" fmla="*/ 0 h 378"/>
                <a:gd name="T58" fmla="*/ 0 w 322"/>
                <a:gd name="T59" fmla="*/ 0 h 378"/>
                <a:gd name="T60" fmla="*/ 0 w 322"/>
                <a:gd name="T61" fmla="*/ 0 h 378"/>
                <a:gd name="T62" fmla="*/ 0 w 322"/>
                <a:gd name="T63" fmla="*/ 0 h 378"/>
                <a:gd name="T64" fmla="*/ 0 w 322"/>
                <a:gd name="T65" fmla="*/ 0 h 378"/>
                <a:gd name="T66" fmla="*/ 0 w 322"/>
                <a:gd name="T67" fmla="*/ 0 h 378"/>
                <a:gd name="T68" fmla="*/ 0 w 322"/>
                <a:gd name="T69" fmla="*/ 0 h 378"/>
                <a:gd name="T70" fmla="*/ 0 w 322"/>
                <a:gd name="T71" fmla="*/ 0 h 378"/>
                <a:gd name="T72" fmla="*/ 0 w 322"/>
                <a:gd name="T73" fmla="*/ 0 h 378"/>
                <a:gd name="T74" fmla="*/ 0 w 322"/>
                <a:gd name="T75" fmla="*/ 0 h 378"/>
                <a:gd name="T76" fmla="*/ 0 w 322"/>
                <a:gd name="T77" fmla="*/ 0 h 378"/>
                <a:gd name="T78" fmla="*/ 0 w 322"/>
                <a:gd name="T79" fmla="*/ 0 h 378"/>
                <a:gd name="T80" fmla="*/ 0 w 322"/>
                <a:gd name="T81" fmla="*/ 0 h 378"/>
                <a:gd name="T82" fmla="*/ 0 w 322"/>
                <a:gd name="T83" fmla="*/ 0 h 378"/>
                <a:gd name="T84" fmla="*/ 0 w 322"/>
                <a:gd name="T85" fmla="*/ 0 h 378"/>
                <a:gd name="T86" fmla="*/ 0 w 322"/>
                <a:gd name="T87" fmla="*/ 0 h 37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2"/>
                <a:gd name="T133" fmla="*/ 0 h 378"/>
                <a:gd name="T134" fmla="*/ 322 w 322"/>
                <a:gd name="T135" fmla="*/ 378 h 37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1" name="Freeform 995"/>
            <p:cNvSpPr/>
            <p:nvPr/>
          </p:nvSpPr>
          <p:spPr bwMode="auto">
            <a:xfrm>
              <a:off x="4394" y="3133"/>
              <a:ext cx="47" cy="42"/>
            </a:xfrm>
            <a:custGeom>
              <a:avLst/>
              <a:gdLst>
                <a:gd name="T0" fmla="*/ 0 w 283"/>
                <a:gd name="T1" fmla="*/ 0 h 252"/>
                <a:gd name="T2" fmla="*/ 0 w 283"/>
                <a:gd name="T3" fmla="*/ 0 h 252"/>
                <a:gd name="T4" fmla="*/ 0 w 283"/>
                <a:gd name="T5" fmla="*/ 0 h 252"/>
                <a:gd name="T6" fmla="*/ 0 w 283"/>
                <a:gd name="T7" fmla="*/ 0 h 252"/>
                <a:gd name="T8" fmla="*/ 0 w 283"/>
                <a:gd name="T9" fmla="*/ 0 h 252"/>
                <a:gd name="T10" fmla="*/ 0 w 283"/>
                <a:gd name="T11" fmla="*/ 0 h 252"/>
                <a:gd name="T12" fmla="*/ 0 w 283"/>
                <a:gd name="T13" fmla="*/ 0 h 252"/>
                <a:gd name="T14" fmla="*/ 0 w 283"/>
                <a:gd name="T15" fmla="*/ 0 h 252"/>
                <a:gd name="T16" fmla="*/ 0 w 283"/>
                <a:gd name="T17" fmla="*/ 0 h 252"/>
                <a:gd name="T18" fmla="*/ 0 w 283"/>
                <a:gd name="T19" fmla="*/ 0 h 252"/>
                <a:gd name="T20" fmla="*/ 0 w 283"/>
                <a:gd name="T21" fmla="*/ 0 h 252"/>
                <a:gd name="T22" fmla="*/ 0 w 283"/>
                <a:gd name="T23" fmla="*/ 0 h 252"/>
                <a:gd name="T24" fmla="*/ 0 w 283"/>
                <a:gd name="T25" fmla="*/ 0 h 252"/>
                <a:gd name="T26" fmla="*/ 0 w 283"/>
                <a:gd name="T27" fmla="*/ 0 h 252"/>
                <a:gd name="T28" fmla="*/ 0 w 283"/>
                <a:gd name="T29" fmla="*/ 0 h 252"/>
                <a:gd name="T30" fmla="*/ 0 w 283"/>
                <a:gd name="T31" fmla="*/ 0 h 252"/>
                <a:gd name="T32" fmla="*/ 0 w 283"/>
                <a:gd name="T33" fmla="*/ 0 h 252"/>
                <a:gd name="T34" fmla="*/ 0 w 283"/>
                <a:gd name="T35" fmla="*/ 0 h 252"/>
                <a:gd name="T36" fmla="*/ 0 w 283"/>
                <a:gd name="T37" fmla="*/ 0 h 252"/>
                <a:gd name="T38" fmla="*/ 0 w 283"/>
                <a:gd name="T39" fmla="*/ 0 h 252"/>
                <a:gd name="T40" fmla="*/ 0 w 283"/>
                <a:gd name="T41" fmla="*/ 0 h 252"/>
                <a:gd name="T42" fmla="*/ 0 w 283"/>
                <a:gd name="T43" fmla="*/ 0 h 252"/>
                <a:gd name="T44" fmla="*/ 0 w 283"/>
                <a:gd name="T45" fmla="*/ 0 h 252"/>
                <a:gd name="T46" fmla="*/ 0 w 283"/>
                <a:gd name="T47" fmla="*/ 0 h 252"/>
                <a:gd name="T48" fmla="*/ 0 w 283"/>
                <a:gd name="T49" fmla="*/ 0 h 252"/>
                <a:gd name="T50" fmla="*/ 0 w 283"/>
                <a:gd name="T51" fmla="*/ 0 h 252"/>
                <a:gd name="T52" fmla="*/ 0 w 283"/>
                <a:gd name="T53" fmla="*/ 0 h 252"/>
                <a:gd name="T54" fmla="*/ 0 w 283"/>
                <a:gd name="T55" fmla="*/ 0 h 252"/>
                <a:gd name="T56" fmla="*/ 0 w 283"/>
                <a:gd name="T57" fmla="*/ 0 h 252"/>
                <a:gd name="T58" fmla="*/ 0 w 283"/>
                <a:gd name="T59" fmla="*/ 0 h 252"/>
                <a:gd name="T60" fmla="*/ 0 w 283"/>
                <a:gd name="T61" fmla="*/ 0 h 252"/>
                <a:gd name="T62" fmla="*/ 0 w 283"/>
                <a:gd name="T63" fmla="*/ 0 h 252"/>
                <a:gd name="T64" fmla="*/ 0 w 283"/>
                <a:gd name="T65" fmla="*/ 0 h 252"/>
                <a:gd name="T66" fmla="*/ 0 w 283"/>
                <a:gd name="T67" fmla="*/ 0 h 252"/>
                <a:gd name="T68" fmla="*/ 0 w 283"/>
                <a:gd name="T69" fmla="*/ 0 h 252"/>
                <a:gd name="T70" fmla="*/ 0 w 283"/>
                <a:gd name="T71" fmla="*/ 0 h 252"/>
                <a:gd name="T72" fmla="*/ 0 w 283"/>
                <a:gd name="T73" fmla="*/ 0 h 252"/>
                <a:gd name="T74" fmla="*/ 0 w 283"/>
                <a:gd name="T75" fmla="*/ 0 h 252"/>
                <a:gd name="T76" fmla="*/ 0 w 283"/>
                <a:gd name="T77" fmla="*/ 0 h 252"/>
                <a:gd name="T78" fmla="*/ 0 w 283"/>
                <a:gd name="T79" fmla="*/ 0 h 252"/>
                <a:gd name="T80" fmla="*/ 0 w 283"/>
                <a:gd name="T81" fmla="*/ 0 h 252"/>
                <a:gd name="T82" fmla="*/ 0 w 283"/>
                <a:gd name="T83" fmla="*/ 0 h 252"/>
                <a:gd name="T84" fmla="*/ 0 w 283"/>
                <a:gd name="T85" fmla="*/ 0 h 252"/>
                <a:gd name="T86" fmla="*/ 0 w 283"/>
                <a:gd name="T87" fmla="*/ 0 h 252"/>
                <a:gd name="T88" fmla="*/ 0 w 283"/>
                <a:gd name="T89" fmla="*/ 0 h 252"/>
                <a:gd name="T90" fmla="*/ 0 w 283"/>
                <a:gd name="T91" fmla="*/ 0 h 252"/>
                <a:gd name="T92" fmla="*/ 0 w 283"/>
                <a:gd name="T93" fmla="*/ 0 h 252"/>
                <a:gd name="T94" fmla="*/ 0 w 283"/>
                <a:gd name="T95" fmla="*/ 0 h 252"/>
                <a:gd name="T96" fmla="*/ 0 w 283"/>
                <a:gd name="T97" fmla="*/ 0 h 252"/>
                <a:gd name="T98" fmla="*/ 0 w 283"/>
                <a:gd name="T99" fmla="*/ 0 h 252"/>
                <a:gd name="T100" fmla="*/ 0 w 283"/>
                <a:gd name="T101" fmla="*/ 0 h 252"/>
                <a:gd name="T102" fmla="*/ 0 w 283"/>
                <a:gd name="T103" fmla="*/ 0 h 252"/>
                <a:gd name="T104" fmla="*/ 0 w 283"/>
                <a:gd name="T105" fmla="*/ 0 h 252"/>
                <a:gd name="T106" fmla="*/ 0 w 283"/>
                <a:gd name="T107" fmla="*/ 0 h 252"/>
                <a:gd name="T108" fmla="*/ 0 w 283"/>
                <a:gd name="T109" fmla="*/ 0 h 252"/>
                <a:gd name="T110" fmla="*/ 0 w 283"/>
                <a:gd name="T111" fmla="*/ 0 h 252"/>
                <a:gd name="T112" fmla="*/ 0 w 283"/>
                <a:gd name="T113" fmla="*/ 0 h 252"/>
                <a:gd name="T114" fmla="*/ 0 w 283"/>
                <a:gd name="T115" fmla="*/ 0 h 252"/>
                <a:gd name="T116" fmla="*/ 0 w 283"/>
                <a:gd name="T117" fmla="*/ 0 h 252"/>
                <a:gd name="T118" fmla="*/ 0 w 283"/>
                <a:gd name="T119" fmla="*/ 0 h 252"/>
                <a:gd name="T120" fmla="*/ 0 w 283"/>
                <a:gd name="T121" fmla="*/ 0 h 2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3"/>
                <a:gd name="T184" fmla="*/ 0 h 252"/>
                <a:gd name="T185" fmla="*/ 283 w 283"/>
                <a:gd name="T186" fmla="*/ 252 h 25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2" name="Freeform 996"/>
            <p:cNvSpPr/>
            <p:nvPr/>
          </p:nvSpPr>
          <p:spPr bwMode="auto">
            <a:xfrm>
              <a:off x="4298" y="3153"/>
              <a:ext cx="19" cy="39"/>
            </a:xfrm>
            <a:custGeom>
              <a:avLst/>
              <a:gdLst>
                <a:gd name="T0" fmla="*/ 0 w 114"/>
                <a:gd name="T1" fmla="*/ 0 h 238"/>
                <a:gd name="T2" fmla="*/ 0 w 114"/>
                <a:gd name="T3" fmla="*/ 0 h 238"/>
                <a:gd name="T4" fmla="*/ 0 w 114"/>
                <a:gd name="T5" fmla="*/ 0 h 238"/>
                <a:gd name="T6" fmla="*/ 0 w 114"/>
                <a:gd name="T7" fmla="*/ 0 h 238"/>
                <a:gd name="T8" fmla="*/ 0 w 114"/>
                <a:gd name="T9" fmla="*/ 0 h 238"/>
                <a:gd name="T10" fmla="*/ 0 w 114"/>
                <a:gd name="T11" fmla="*/ 0 h 238"/>
                <a:gd name="T12" fmla="*/ 0 w 114"/>
                <a:gd name="T13" fmla="*/ 0 h 238"/>
                <a:gd name="T14" fmla="*/ 0 w 114"/>
                <a:gd name="T15" fmla="*/ 0 h 238"/>
                <a:gd name="T16" fmla="*/ 0 w 114"/>
                <a:gd name="T17" fmla="*/ 0 h 238"/>
                <a:gd name="T18" fmla="*/ 0 w 114"/>
                <a:gd name="T19" fmla="*/ 0 h 238"/>
                <a:gd name="T20" fmla="*/ 0 w 114"/>
                <a:gd name="T21" fmla="*/ 0 h 238"/>
                <a:gd name="T22" fmla="*/ 0 w 114"/>
                <a:gd name="T23" fmla="*/ 0 h 238"/>
                <a:gd name="T24" fmla="*/ 0 w 114"/>
                <a:gd name="T25" fmla="*/ 0 h 238"/>
                <a:gd name="T26" fmla="*/ 0 w 114"/>
                <a:gd name="T27" fmla="*/ 0 h 238"/>
                <a:gd name="T28" fmla="*/ 0 w 114"/>
                <a:gd name="T29" fmla="*/ 0 h 238"/>
                <a:gd name="T30" fmla="*/ 0 w 114"/>
                <a:gd name="T31" fmla="*/ 0 h 238"/>
                <a:gd name="T32" fmla="*/ 0 w 114"/>
                <a:gd name="T33" fmla="*/ 0 h 238"/>
                <a:gd name="T34" fmla="*/ 0 w 114"/>
                <a:gd name="T35" fmla="*/ 0 h 238"/>
                <a:gd name="T36" fmla="*/ 0 w 114"/>
                <a:gd name="T37" fmla="*/ 0 h 238"/>
                <a:gd name="T38" fmla="*/ 0 w 114"/>
                <a:gd name="T39" fmla="*/ 0 h 238"/>
                <a:gd name="T40" fmla="*/ 0 w 114"/>
                <a:gd name="T41" fmla="*/ 0 h 238"/>
                <a:gd name="T42" fmla="*/ 0 w 114"/>
                <a:gd name="T43" fmla="*/ 0 h 238"/>
                <a:gd name="T44" fmla="*/ 0 w 114"/>
                <a:gd name="T45" fmla="*/ 0 h 238"/>
                <a:gd name="T46" fmla="*/ 0 w 114"/>
                <a:gd name="T47" fmla="*/ 0 h 238"/>
                <a:gd name="T48" fmla="*/ 0 w 114"/>
                <a:gd name="T49" fmla="*/ 0 h 238"/>
                <a:gd name="T50" fmla="*/ 0 w 114"/>
                <a:gd name="T51" fmla="*/ 0 h 238"/>
                <a:gd name="T52" fmla="*/ 0 w 114"/>
                <a:gd name="T53" fmla="*/ 0 h 238"/>
                <a:gd name="T54" fmla="*/ 0 w 114"/>
                <a:gd name="T55" fmla="*/ 0 h 238"/>
                <a:gd name="T56" fmla="*/ 0 w 114"/>
                <a:gd name="T57" fmla="*/ 0 h 238"/>
                <a:gd name="T58" fmla="*/ 0 w 114"/>
                <a:gd name="T59" fmla="*/ 0 h 238"/>
                <a:gd name="T60" fmla="*/ 0 w 114"/>
                <a:gd name="T61" fmla="*/ 0 h 238"/>
                <a:gd name="T62" fmla="*/ 0 w 114"/>
                <a:gd name="T63" fmla="*/ 0 h 238"/>
                <a:gd name="T64" fmla="*/ 0 w 114"/>
                <a:gd name="T65" fmla="*/ 0 h 238"/>
                <a:gd name="T66" fmla="*/ 0 w 114"/>
                <a:gd name="T67" fmla="*/ 0 h 238"/>
                <a:gd name="T68" fmla="*/ 0 w 114"/>
                <a:gd name="T69" fmla="*/ 0 h 238"/>
                <a:gd name="T70" fmla="*/ 0 w 114"/>
                <a:gd name="T71" fmla="*/ 0 h 238"/>
                <a:gd name="T72" fmla="*/ 0 w 114"/>
                <a:gd name="T73" fmla="*/ 0 h 238"/>
                <a:gd name="T74" fmla="*/ 0 w 114"/>
                <a:gd name="T75" fmla="*/ 0 h 238"/>
                <a:gd name="T76" fmla="*/ 0 w 114"/>
                <a:gd name="T77" fmla="*/ 0 h 238"/>
                <a:gd name="T78" fmla="*/ 0 w 114"/>
                <a:gd name="T79" fmla="*/ 0 h 238"/>
                <a:gd name="T80" fmla="*/ 0 w 114"/>
                <a:gd name="T81" fmla="*/ 0 h 2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4"/>
                <a:gd name="T124" fmla="*/ 0 h 238"/>
                <a:gd name="T125" fmla="*/ 114 w 114"/>
                <a:gd name="T126" fmla="*/ 238 h 2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3" name="Freeform 997"/>
            <p:cNvSpPr/>
            <p:nvPr/>
          </p:nvSpPr>
          <p:spPr bwMode="auto">
            <a:xfrm>
              <a:off x="4432" y="3130"/>
              <a:ext cx="41" cy="52"/>
            </a:xfrm>
            <a:custGeom>
              <a:avLst/>
              <a:gdLst>
                <a:gd name="T0" fmla="*/ 0 w 246"/>
                <a:gd name="T1" fmla="*/ 0 h 310"/>
                <a:gd name="T2" fmla="*/ 0 w 246"/>
                <a:gd name="T3" fmla="*/ 0 h 310"/>
                <a:gd name="T4" fmla="*/ 0 w 246"/>
                <a:gd name="T5" fmla="*/ 0 h 310"/>
                <a:gd name="T6" fmla="*/ 0 w 246"/>
                <a:gd name="T7" fmla="*/ 0 h 310"/>
                <a:gd name="T8" fmla="*/ 0 w 246"/>
                <a:gd name="T9" fmla="*/ 0 h 310"/>
                <a:gd name="T10" fmla="*/ 0 w 246"/>
                <a:gd name="T11" fmla="*/ 0 h 310"/>
                <a:gd name="T12" fmla="*/ 0 w 246"/>
                <a:gd name="T13" fmla="*/ 0 h 310"/>
                <a:gd name="T14" fmla="*/ 0 w 246"/>
                <a:gd name="T15" fmla="*/ 0 h 310"/>
                <a:gd name="T16" fmla="*/ 0 w 246"/>
                <a:gd name="T17" fmla="*/ 0 h 310"/>
                <a:gd name="T18" fmla="*/ 0 w 246"/>
                <a:gd name="T19" fmla="*/ 0 h 310"/>
                <a:gd name="T20" fmla="*/ 0 w 246"/>
                <a:gd name="T21" fmla="*/ 0 h 310"/>
                <a:gd name="T22" fmla="*/ 0 w 246"/>
                <a:gd name="T23" fmla="*/ 0 h 310"/>
                <a:gd name="T24" fmla="*/ 0 w 246"/>
                <a:gd name="T25" fmla="*/ 0 h 310"/>
                <a:gd name="T26" fmla="*/ 0 w 246"/>
                <a:gd name="T27" fmla="*/ 0 h 310"/>
                <a:gd name="T28" fmla="*/ 0 w 246"/>
                <a:gd name="T29" fmla="*/ 0 h 310"/>
                <a:gd name="T30" fmla="*/ 0 w 246"/>
                <a:gd name="T31" fmla="*/ 0 h 310"/>
                <a:gd name="T32" fmla="*/ 0 w 246"/>
                <a:gd name="T33" fmla="*/ 0 h 310"/>
                <a:gd name="T34" fmla="*/ 0 w 246"/>
                <a:gd name="T35" fmla="*/ 0 h 310"/>
                <a:gd name="T36" fmla="*/ 0 w 246"/>
                <a:gd name="T37" fmla="*/ 0 h 310"/>
                <a:gd name="T38" fmla="*/ 0 w 246"/>
                <a:gd name="T39" fmla="*/ 0 h 310"/>
                <a:gd name="T40" fmla="*/ 0 w 246"/>
                <a:gd name="T41" fmla="*/ 0 h 310"/>
                <a:gd name="T42" fmla="*/ 0 w 246"/>
                <a:gd name="T43" fmla="*/ 0 h 310"/>
                <a:gd name="T44" fmla="*/ 0 w 246"/>
                <a:gd name="T45" fmla="*/ 0 h 310"/>
                <a:gd name="T46" fmla="*/ 0 w 246"/>
                <a:gd name="T47" fmla="*/ 0 h 310"/>
                <a:gd name="T48" fmla="*/ 0 w 246"/>
                <a:gd name="T49" fmla="*/ 0 h 310"/>
                <a:gd name="T50" fmla="*/ 0 w 246"/>
                <a:gd name="T51" fmla="*/ 0 h 310"/>
                <a:gd name="T52" fmla="*/ 0 w 246"/>
                <a:gd name="T53" fmla="*/ 0 h 310"/>
                <a:gd name="T54" fmla="*/ 0 w 246"/>
                <a:gd name="T55" fmla="*/ 0 h 310"/>
                <a:gd name="T56" fmla="*/ 0 w 246"/>
                <a:gd name="T57" fmla="*/ 0 h 310"/>
                <a:gd name="T58" fmla="*/ 0 w 246"/>
                <a:gd name="T59" fmla="*/ 0 h 310"/>
                <a:gd name="T60" fmla="*/ 0 w 246"/>
                <a:gd name="T61" fmla="*/ 0 h 310"/>
                <a:gd name="T62" fmla="*/ 0 w 246"/>
                <a:gd name="T63" fmla="*/ 0 h 310"/>
                <a:gd name="T64" fmla="*/ 0 w 246"/>
                <a:gd name="T65" fmla="*/ 0 h 310"/>
                <a:gd name="T66" fmla="*/ 0 w 246"/>
                <a:gd name="T67" fmla="*/ 0 h 310"/>
                <a:gd name="T68" fmla="*/ 0 w 246"/>
                <a:gd name="T69" fmla="*/ 0 h 310"/>
                <a:gd name="T70" fmla="*/ 0 w 246"/>
                <a:gd name="T71" fmla="*/ 0 h 310"/>
                <a:gd name="T72" fmla="*/ 0 w 246"/>
                <a:gd name="T73" fmla="*/ 0 h 310"/>
                <a:gd name="T74" fmla="*/ 0 w 246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6"/>
                <a:gd name="T115" fmla="*/ 0 h 310"/>
                <a:gd name="T116" fmla="*/ 246 w 246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4" name="Freeform 998"/>
            <p:cNvSpPr/>
            <p:nvPr/>
          </p:nvSpPr>
          <p:spPr bwMode="auto">
            <a:xfrm>
              <a:off x="4387" y="3191"/>
              <a:ext cx="14" cy="31"/>
            </a:xfrm>
            <a:custGeom>
              <a:avLst/>
              <a:gdLst>
                <a:gd name="T0" fmla="*/ 0 w 83"/>
                <a:gd name="T1" fmla="*/ 0 h 187"/>
                <a:gd name="T2" fmla="*/ 0 w 83"/>
                <a:gd name="T3" fmla="*/ 0 h 187"/>
                <a:gd name="T4" fmla="*/ 0 w 83"/>
                <a:gd name="T5" fmla="*/ 0 h 187"/>
                <a:gd name="T6" fmla="*/ 0 w 83"/>
                <a:gd name="T7" fmla="*/ 0 h 187"/>
                <a:gd name="T8" fmla="*/ 0 w 83"/>
                <a:gd name="T9" fmla="*/ 0 h 187"/>
                <a:gd name="T10" fmla="*/ 0 w 83"/>
                <a:gd name="T11" fmla="*/ 0 h 187"/>
                <a:gd name="T12" fmla="*/ 0 w 83"/>
                <a:gd name="T13" fmla="*/ 0 h 187"/>
                <a:gd name="T14" fmla="*/ 0 w 83"/>
                <a:gd name="T15" fmla="*/ 0 h 187"/>
                <a:gd name="T16" fmla="*/ 0 w 83"/>
                <a:gd name="T17" fmla="*/ 0 h 187"/>
                <a:gd name="T18" fmla="*/ 0 w 83"/>
                <a:gd name="T19" fmla="*/ 0 h 187"/>
                <a:gd name="T20" fmla="*/ 0 w 83"/>
                <a:gd name="T21" fmla="*/ 0 h 187"/>
                <a:gd name="T22" fmla="*/ 0 w 83"/>
                <a:gd name="T23" fmla="*/ 0 h 187"/>
                <a:gd name="T24" fmla="*/ 0 w 83"/>
                <a:gd name="T25" fmla="*/ 0 h 187"/>
                <a:gd name="T26" fmla="*/ 0 w 83"/>
                <a:gd name="T27" fmla="*/ 0 h 187"/>
                <a:gd name="T28" fmla="*/ 0 w 83"/>
                <a:gd name="T29" fmla="*/ 0 h 187"/>
                <a:gd name="T30" fmla="*/ 0 w 83"/>
                <a:gd name="T31" fmla="*/ 0 h 187"/>
                <a:gd name="T32" fmla="*/ 0 w 83"/>
                <a:gd name="T33" fmla="*/ 0 h 187"/>
                <a:gd name="T34" fmla="*/ 0 w 83"/>
                <a:gd name="T35" fmla="*/ 0 h 187"/>
                <a:gd name="T36" fmla="*/ 0 w 83"/>
                <a:gd name="T37" fmla="*/ 0 h 187"/>
                <a:gd name="T38" fmla="*/ 0 w 83"/>
                <a:gd name="T39" fmla="*/ 0 h 187"/>
                <a:gd name="T40" fmla="*/ 0 w 83"/>
                <a:gd name="T41" fmla="*/ 0 h 187"/>
                <a:gd name="T42" fmla="*/ 0 w 83"/>
                <a:gd name="T43" fmla="*/ 0 h 187"/>
                <a:gd name="T44" fmla="*/ 0 w 83"/>
                <a:gd name="T45" fmla="*/ 0 h 187"/>
                <a:gd name="T46" fmla="*/ 0 w 83"/>
                <a:gd name="T47" fmla="*/ 0 h 187"/>
                <a:gd name="T48" fmla="*/ 0 w 83"/>
                <a:gd name="T49" fmla="*/ 0 h 1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3"/>
                <a:gd name="T76" fmla="*/ 0 h 187"/>
                <a:gd name="T77" fmla="*/ 83 w 83"/>
                <a:gd name="T78" fmla="*/ 187 h 18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5" name="Freeform 999"/>
            <p:cNvSpPr/>
            <p:nvPr/>
          </p:nvSpPr>
          <p:spPr bwMode="auto">
            <a:xfrm>
              <a:off x="4381" y="3174"/>
              <a:ext cx="7" cy="16"/>
            </a:xfrm>
            <a:custGeom>
              <a:avLst/>
              <a:gdLst>
                <a:gd name="T0" fmla="*/ 0 w 44"/>
                <a:gd name="T1" fmla="*/ 0 h 94"/>
                <a:gd name="T2" fmla="*/ 0 w 44"/>
                <a:gd name="T3" fmla="*/ 0 h 94"/>
                <a:gd name="T4" fmla="*/ 0 w 44"/>
                <a:gd name="T5" fmla="*/ 0 h 94"/>
                <a:gd name="T6" fmla="*/ 0 w 44"/>
                <a:gd name="T7" fmla="*/ 0 h 94"/>
                <a:gd name="T8" fmla="*/ 0 w 44"/>
                <a:gd name="T9" fmla="*/ 0 h 94"/>
                <a:gd name="T10" fmla="*/ 0 w 44"/>
                <a:gd name="T11" fmla="*/ 0 h 94"/>
                <a:gd name="T12" fmla="*/ 0 w 44"/>
                <a:gd name="T13" fmla="*/ 0 h 94"/>
                <a:gd name="T14" fmla="*/ 0 w 44"/>
                <a:gd name="T15" fmla="*/ 0 h 94"/>
                <a:gd name="T16" fmla="*/ 0 w 44"/>
                <a:gd name="T17" fmla="*/ 0 h 94"/>
                <a:gd name="T18" fmla="*/ 0 w 44"/>
                <a:gd name="T19" fmla="*/ 0 h 94"/>
                <a:gd name="T20" fmla="*/ 0 w 44"/>
                <a:gd name="T21" fmla="*/ 0 h 94"/>
                <a:gd name="T22" fmla="*/ 0 w 44"/>
                <a:gd name="T23" fmla="*/ 0 h 94"/>
                <a:gd name="T24" fmla="*/ 0 w 44"/>
                <a:gd name="T25" fmla="*/ 0 h 94"/>
                <a:gd name="T26" fmla="*/ 0 w 44"/>
                <a:gd name="T27" fmla="*/ 0 h 94"/>
                <a:gd name="T28" fmla="*/ 0 w 44"/>
                <a:gd name="T29" fmla="*/ 0 h 94"/>
                <a:gd name="T30" fmla="*/ 0 w 44"/>
                <a:gd name="T31" fmla="*/ 0 h 94"/>
                <a:gd name="T32" fmla="*/ 0 w 44"/>
                <a:gd name="T33" fmla="*/ 0 h 94"/>
                <a:gd name="T34" fmla="*/ 0 w 44"/>
                <a:gd name="T35" fmla="*/ 0 h 94"/>
                <a:gd name="T36" fmla="*/ 0 w 44"/>
                <a:gd name="T37" fmla="*/ 0 h 94"/>
                <a:gd name="T38" fmla="*/ 0 w 44"/>
                <a:gd name="T39" fmla="*/ 0 h 94"/>
                <a:gd name="T40" fmla="*/ 0 w 44"/>
                <a:gd name="T41" fmla="*/ 0 h 9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"/>
                <a:gd name="T64" fmla="*/ 0 h 94"/>
                <a:gd name="T65" fmla="*/ 44 w 44"/>
                <a:gd name="T66" fmla="*/ 94 h 9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6" name="Freeform 1000"/>
            <p:cNvSpPr/>
            <p:nvPr/>
          </p:nvSpPr>
          <p:spPr bwMode="auto">
            <a:xfrm>
              <a:off x="4375" y="3163"/>
              <a:ext cx="6" cy="9"/>
            </a:xfrm>
            <a:custGeom>
              <a:avLst/>
              <a:gdLst>
                <a:gd name="T0" fmla="*/ 0 w 38"/>
                <a:gd name="T1" fmla="*/ 0 h 54"/>
                <a:gd name="T2" fmla="*/ 0 w 38"/>
                <a:gd name="T3" fmla="*/ 0 h 54"/>
                <a:gd name="T4" fmla="*/ 0 w 38"/>
                <a:gd name="T5" fmla="*/ 0 h 54"/>
                <a:gd name="T6" fmla="*/ 0 w 38"/>
                <a:gd name="T7" fmla="*/ 0 h 54"/>
                <a:gd name="T8" fmla="*/ 0 w 38"/>
                <a:gd name="T9" fmla="*/ 0 h 54"/>
                <a:gd name="T10" fmla="*/ 0 w 38"/>
                <a:gd name="T11" fmla="*/ 0 h 54"/>
                <a:gd name="T12" fmla="*/ 0 w 38"/>
                <a:gd name="T13" fmla="*/ 0 h 54"/>
                <a:gd name="T14" fmla="*/ 0 w 38"/>
                <a:gd name="T15" fmla="*/ 0 h 54"/>
                <a:gd name="T16" fmla="*/ 0 w 38"/>
                <a:gd name="T17" fmla="*/ 0 h 54"/>
                <a:gd name="T18" fmla="*/ 0 w 38"/>
                <a:gd name="T19" fmla="*/ 0 h 54"/>
                <a:gd name="T20" fmla="*/ 0 w 38"/>
                <a:gd name="T21" fmla="*/ 0 h 54"/>
                <a:gd name="T22" fmla="*/ 0 w 38"/>
                <a:gd name="T23" fmla="*/ 0 h 54"/>
                <a:gd name="T24" fmla="*/ 0 w 38"/>
                <a:gd name="T25" fmla="*/ 0 h 54"/>
                <a:gd name="T26" fmla="*/ 0 w 38"/>
                <a:gd name="T27" fmla="*/ 0 h 54"/>
                <a:gd name="T28" fmla="*/ 0 w 38"/>
                <a:gd name="T29" fmla="*/ 0 h 54"/>
                <a:gd name="T30" fmla="*/ 0 w 38"/>
                <a:gd name="T31" fmla="*/ 0 h 54"/>
                <a:gd name="T32" fmla="*/ 0 w 38"/>
                <a:gd name="T33" fmla="*/ 0 h 54"/>
                <a:gd name="T34" fmla="*/ 0 w 38"/>
                <a:gd name="T35" fmla="*/ 0 h 54"/>
                <a:gd name="T36" fmla="*/ 0 w 38"/>
                <a:gd name="T37" fmla="*/ 0 h 54"/>
                <a:gd name="T38" fmla="*/ 0 w 38"/>
                <a:gd name="T39" fmla="*/ 0 h 54"/>
                <a:gd name="T40" fmla="*/ 0 w 38"/>
                <a:gd name="T41" fmla="*/ 0 h 54"/>
                <a:gd name="T42" fmla="*/ 0 w 38"/>
                <a:gd name="T43" fmla="*/ 0 h 54"/>
                <a:gd name="T44" fmla="*/ 0 w 38"/>
                <a:gd name="T45" fmla="*/ 0 h 54"/>
                <a:gd name="T46" fmla="*/ 0 w 38"/>
                <a:gd name="T47" fmla="*/ 0 h 54"/>
                <a:gd name="T48" fmla="*/ 0 w 38"/>
                <a:gd name="T49" fmla="*/ 0 h 5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"/>
                <a:gd name="T76" fmla="*/ 0 h 54"/>
                <a:gd name="T77" fmla="*/ 38 w 38"/>
                <a:gd name="T78" fmla="*/ 54 h 5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7" name="Freeform 1001"/>
            <p:cNvSpPr/>
            <p:nvPr/>
          </p:nvSpPr>
          <p:spPr bwMode="auto">
            <a:xfrm>
              <a:off x="4370" y="3155"/>
              <a:ext cx="8" cy="6"/>
            </a:xfrm>
            <a:custGeom>
              <a:avLst/>
              <a:gdLst>
                <a:gd name="T0" fmla="*/ 0 w 52"/>
                <a:gd name="T1" fmla="*/ 0 h 36"/>
                <a:gd name="T2" fmla="*/ 0 w 52"/>
                <a:gd name="T3" fmla="*/ 0 h 36"/>
                <a:gd name="T4" fmla="*/ 0 w 52"/>
                <a:gd name="T5" fmla="*/ 0 h 36"/>
                <a:gd name="T6" fmla="*/ 0 w 52"/>
                <a:gd name="T7" fmla="*/ 0 h 36"/>
                <a:gd name="T8" fmla="*/ 0 w 52"/>
                <a:gd name="T9" fmla="*/ 0 h 36"/>
                <a:gd name="T10" fmla="*/ 0 w 52"/>
                <a:gd name="T11" fmla="*/ 0 h 36"/>
                <a:gd name="T12" fmla="*/ 0 w 52"/>
                <a:gd name="T13" fmla="*/ 0 h 36"/>
                <a:gd name="T14" fmla="*/ 0 w 52"/>
                <a:gd name="T15" fmla="*/ 0 h 36"/>
                <a:gd name="T16" fmla="*/ 0 w 52"/>
                <a:gd name="T17" fmla="*/ 0 h 36"/>
                <a:gd name="T18" fmla="*/ 0 w 52"/>
                <a:gd name="T19" fmla="*/ 0 h 36"/>
                <a:gd name="T20" fmla="*/ 0 w 52"/>
                <a:gd name="T21" fmla="*/ 0 h 36"/>
                <a:gd name="T22" fmla="*/ 0 w 52"/>
                <a:gd name="T23" fmla="*/ 0 h 36"/>
                <a:gd name="T24" fmla="*/ 0 w 52"/>
                <a:gd name="T25" fmla="*/ 0 h 36"/>
                <a:gd name="T26" fmla="*/ 0 w 52"/>
                <a:gd name="T27" fmla="*/ 0 h 36"/>
                <a:gd name="T28" fmla="*/ 0 w 52"/>
                <a:gd name="T29" fmla="*/ 0 h 36"/>
                <a:gd name="T30" fmla="*/ 0 w 52"/>
                <a:gd name="T31" fmla="*/ 0 h 36"/>
                <a:gd name="T32" fmla="*/ 0 w 52"/>
                <a:gd name="T33" fmla="*/ 0 h 36"/>
                <a:gd name="T34" fmla="*/ 0 w 52"/>
                <a:gd name="T35" fmla="*/ 0 h 36"/>
                <a:gd name="T36" fmla="*/ 0 w 52"/>
                <a:gd name="T37" fmla="*/ 0 h 36"/>
                <a:gd name="T38" fmla="*/ 0 w 52"/>
                <a:gd name="T39" fmla="*/ 0 h 36"/>
                <a:gd name="T40" fmla="*/ 0 w 52"/>
                <a:gd name="T41" fmla="*/ 0 h 36"/>
                <a:gd name="T42" fmla="*/ 0 w 52"/>
                <a:gd name="T43" fmla="*/ 0 h 36"/>
                <a:gd name="T44" fmla="*/ 0 w 52"/>
                <a:gd name="T45" fmla="*/ 0 h 36"/>
                <a:gd name="T46" fmla="*/ 0 w 52"/>
                <a:gd name="T47" fmla="*/ 0 h 36"/>
                <a:gd name="T48" fmla="*/ 0 w 52"/>
                <a:gd name="T49" fmla="*/ 0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2"/>
                <a:gd name="T76" fmla="*/ 0 h 36"/>
                <a:gd name="T77" fmla="*/ 52 w 52"/>
                <a:gd name="T78" fmla="*/ 36 h 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8" name="Freeform 1002"/>
            <p:cNvSpPr/>
            <p:nvPr/>
          </p:nvSpPr>
          <p:spPr bwMode="auto">
            <a:xfrm>
              <a:off x="4330" y="3145"/>
              <a:ext cx="33" cy="39"/>
            </a:xfrm>
            <a:custGeom>
              <a:avLst/>
              <a:gdLst>
                <a:gd name="T0" fmla="*/ 0 w 198"/>
                <a:gd name="T1" fmla="*/ 0 h 236"/>
                <a:gd name="T2" fmla="*/ 0 w 198"/>
                <a:gd name="T3" fmla="*/ 0 h 236"/>
                <a:gd name="T4" fmla="*/ 0 w 198"/>
                <a:gd name="T5" fmla="*/ 0 h 236"/>
                <a:gd name="T6" fmla="*/ 0 w 198"/>
                <a:gd name="T7" fmla="*/ 0 h 236"/>
                <a:gd name="T8" fmla="*/ 0 w 198"/>
                <a:gd name="T9" fmla="*/ 0 h 236"/>
                <a:gd name="T10" fmla="*/ 0 w 198"/>
                <a:gd name="T11" fmla="*/ 0 h 236"/>
                <a:gd name="T12" fmla="*/ 0 w 198"/>
                <a:gd name="T13" fmla="*/ 0 h 236"/>
                <a:gd name="T14" fmla="*/ 0 w 198"/>
                <a:gd name="T15" fmla="*/ 0 h 236"/>
                <a:gd name="T16" fmla="*/ 0 w 198"/>
                <a:gd name="T17" fmla="*/ 0 h 236"/>
                <a:gd name="T18" fmla="*/ 0 w 198"/>
                <a:gd name="T19" fmla="*/ 0 h 236"/>
                <a:gd name="T20" fmla="*/ 0 w 198"/>
                <a:gd name="T21" fmla="*/ 0 h 236"/>
                <a:gd name="T22" fmla="*/ 0 w 198"/>
                <a:gd name="T23" fmla="*/ 0 h 236"/>
                <a:gd name="T24" fmla="*/ 0 w 198"/>
                <a:gd name="T25" fmla="*/ 0 h 236"/>
                <a:gd name="T26" fmla="*/ 0 w 198"/>
                <a:gd name="T27" fmla="*/ 0 h 236"/>
                <a:gd name="T28" fmla="*/ 0 w 198"/>
                <a:gd name="T29" fmla="*/ 0 h 236"/>
                <a:gd name="T30" fmla="*/ 0 w 198"/>
                <a:gd name="T31" fmla="*/ 0 h 236"/>
                <a:gd name="T32" fmla="*/ 0 w 198"/>
                <a:gd name="T33" fmla="*/ 0 h 236"/>
                <a:gd name="T34" fmla="*/ 0 w 198"/>
                <a:gd name="T35" fmla="*/ 0 h 236"/>
                <a:gd name="T36" fmla="*/ 0 w 198"/>
                <a:gd name="T37" fmla="*/ 0 h 236"/>
                <a:gd name="T38" fmla="*/ 0 w 198"/>
                <a:gd name="T39" fmla="*/ 0 h 236"/>
                <a:gd name="T40" fmla="*/ 0 w 198"/>
                <a:gd name="T41" fmla="*/ 0 h 236"/>
                <a:gd name="T42" fmla="*/ 0 w 198"/>
                <a:gd name="T43" fmla="*/ 0 h 236"/>
                <a:gd name="T44" fmla="*/ 0 w 198"/>
                <a:gd name="T45" fmla="*/ 0 h 236"/>
                <a:gd name="T46" fmla="*/ 0 w 198"/>
                <a:gd name="T47" fmla="*/ 0 h 236"/>
                <a:gd name="T48" fmla="*/ 0 w 198"/>
                <a:gd name="T49" fmla="*/ 0 h 236"/>
                <a:gd name="T50" fmla="*/ 0 w 198"/>
                <a:gd name="T51" fmla="*/ 0 h 236"/>
                <a:gd name="T52" fmla="*/ 0 w 198"/>
                <a:gd name="T53" fmla="*/ 0 h 236"/>
                <a:gd name="T54" fmla="*/ 0 w 198"/>
                <a:gd name="T55" fmla="*/ 0 h 236"/>
                <a:gd name="T56" fmla="*/ 0 w 198"/>
                <a:gd name="T57" fmla="*/ 0 h 236"/>
                <a:gd name="T58" fmla="*/ 0 w 198"/>
                <a:gd name="T59" fmla="*/ 0 h 236"/>
                <a:gd name="T60" fmla="*/ 0 w 198"/>
                <a:gd name="T61" fmla="*/ 0 h 236"/>
                <a:gd name="T62" fmla="*/ 0 w 198"/>
                <a:gd name="T63" fmla="*/ 0 h 236"/>
                <a:gd name="T64" fmla="*/ 0 w 198"/>
                <a:gd name="T65" fmla="*/ 0 h 236"/>
                <a:gd name="T66" fmla="*/ 0 w 198"/>
                <a:gd name="T67" fmla="*/ 0 h 236"/>
                <a:gd name="T68" fmla="*/ 0 w 198"/>
                <a:gd name="T69" fmla="*/ 0 h 236"/>
                <a:gd name="T70" fmla="*/ 0 w 198"/>
                <a:gd name="T71" fmla="*/ 0 h 236"/>
                <a:gd name="T72" fmla="*/ 0 w 198"/>
                <a:gd name="T73" fmla="*/ 0 h 236"/>
                <a:gd name="T74" fmla="*/ 0 w 198"/>
                <a:gd name="T75" fmla="*/ 0 h 236"/>
                <a:gd name="T76" fmla="*/ 0 w 198"/>
                <a:gd name="T77" fmla="*/ 0 h 236"/>
                <a:gd name="T78" fmla="*/ 0 w 198"/>
                <a:gd name="T79" fmla="*/ 0 h 236"/>
                <a:gd name="T80" fmla="*/ 0 w 198"/>
                <a:gd name="T81" fmla="*/ 0 h 236"/>
                <a:gd name="T82" fmla="*/ 0 w 198"/>
                <a:gd name="T83" fmla="*/ 0 h 236"/>
                <a:gd name="T84" fmla="*/ 0 w 198"/>
                <a:gd name="T85" fmla="*/ 0 h 236"/>
                <a:gd name="T86" fmla="*/ 0 w 198"/>
                <a:gd name="T87" fmla="*/ 0 h 236"/>
                <a:gd name="T88" fmla="*/ 0 w 198"/>
                <a:gd name="T89" fmla="*/ 0 h 236"/>
                <a:gd name="T90" fmla="*/ 0 w 198"/>
                <a:gd name="T91" fmla="*/ 0 h 236"/>
                <a:gd name="T92" fmla="*/ 0 w 198"/>
                <a:gd name="T93" fmla="*/ 0 h 236"/>
                <a:gd name="T94" fmla="*/ 0 w 198"/>
                <a:gd name="T95" fmla="*/ 0 h 236"/>
                <a:gd name="T96" fmla="*/ 0 w 198"/>
                <a:gd name="T97" fmla="*/ 0 h 236"/>
                <a:gd name="T98" fmla="*/ 0 w 198"/>
                <a:gd name="T99" fmla="*/ 0 h 236"/>
                <a:gd name="T100" fmla="*/ 0 w 198"/>
                <a:gd name="T101" fmla="*/ 0 h 236"/>
                <a:gd name="T102" fmla="*/ 0 w 198"/>
                <a:gd name="T103" fmla="*/ 0 h 236"/>
                <a:gd name="T104" fmla="*/ 0 w 198"/>
                <a:gd name="T105" fmla="*/ 0 h 236"/>
                <a:gd name="T106" fmla="*/ 0 w 198"/>
                <a:gd name="T107" fmla="*/ 0 h 236"/>
                <a:gd name="T108" fmla="*/ 0 w 198"/>
                <a:gd name="T109" fmla="*/ 0 h 236"/>
                <a:gd name="T110" fmla="*/ 0 w 198"/>
                <a:gd name="T111" fmla="*/ 0 h 236"/>
                <a:gd name="T112" fmla="*/ 0 w 198"/>
                <a:gd name="T113" fmla="*/ 0 h 236"/>
                <a:gd name="T114" fmla="*/ 0 w 198"/>
                <a:gd name="T115" fmla="*/ 0 h 236"/>
                <a:gd name="T116" fmla="*/ 0 w 198"/>
                <a:gd name="T117" fmla="*/ 0 h 236"/>
                <a:gd name="T118" fmla="*/ 0 w 198"/>
                <a:gd name="T119" fmla="*/ 0 h 236"/>
                <a:gd name="T120" fmla="*/ 0 w 198"/>
                <a:gd name="T121" fmla="*/ 0 h 2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8"/>
                <a:gd name="T184" fmla="*/ 0 h 236"/>
                <a:gd name="T185" fmla="*/ 198 w 198"/>
                <a:gd name="T186" fmla="*/ 236 h 2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9" name="Freeform 1003"/>
            <p:cNvSpPr/>
            <p:nvPr/>
          </p:nvSpPr>
          <p:spPr bwMode="auto">
            <a:xfrm>
              <a:off x="4386" y="3145"/>
              <a:ext cx="22" cy="30"/>
            </a:xfrm>
            <a:custGeom>
              <a:avLst/>
              <a:gdLst>
                <a:gd name="T0" fmla="*/ 0 w 128"/>
                <a:gd name="T1" fmla="*/ 0 h 183"/>
                <a:gd name="T2" fmla="*/ 0 w 128"/>
                <a:gd name="T3" fmla="*/ 0 h 183"/>
                <a:gd name="T4" fmla="*/ 0 w 128"/>
                <a:gd name="T5" fmla="*/ 0 h 183"/>
                <a:gd name="T6" fmla="*/ 0 w 128"/>
                <a:gd name="T7" fmla="*/ 0 h 183"/>
                <a:gd name="T8" fmla="*/ 0 w 128"/>
                <a:gd name="T9" fmla="*/ 0 h 183"/>
                <a:gd name="T10" fmla="*/ 0 w 128"/>
                <a:gd name="T11" fmla="*/ 0 h 183"/>
                <a:gd name="T12" fmla="*/ 0 w 128"/>
                <a:gd name="T13" fmla="*/ 0 h 183"/>
                <a:gd name="T14" fmla="*/ 0 w 128"/>
                <a:gd name="T15" fmla="*/ 0 h 183"/>
                <a:gd name="T16" fmla="*/ 0 w 128"/>
                <a:gd name="T17" fmla="*/ 0 h 183"/>
                <a:gd name="T18" fmla="*/ 0 w 128"/>
                <a:gd name="T19" fmla="*/ 0 h 183"/>
                <a:gd name="T20" fmla="*/ 0 w 128"/>
                <a:gd name="T21" fmla="*/ 0 h 183"/>
                <a:gd name="T22" fmla="*/ 0 w 128"/>
                <a:gd name="T23" fmla="*/ 0 h 183"/>
                <a:gd name="T24" fmla="*/ 0 w 128"/>
                <a:gd name="T25" fmla="*/ 0 h 183"/>
                <a:gd name="T26" fmla="*/ 0 w 128"/>
                <a:gd name="T27" fmla="*/ 0 h 183"/>
                <a:gd name="T28" fmla="*/ 0 w 128"/>
                <a:gd name="T29" fmla="*/ 0 h 183"/>
                <a:gd name="T30" fmla="*/ 0 w 128"/>
                <a:gd name="T31" fmla="*/ 0 h 183"/>
                <a:gd name="T32" fmla="*/ 0 w 128"/>
                <a:gd name="T33" fmla="*/ 0 h 183"/>
                <a:gd name="T34" fmla="*/ 0 w 128"/>
                <a:gd name="T35" fmla="*/ 0 h 183"/>
                <a:gd name="T36" fmla="*/ 0 w 128"/>
                <a:gd name="T37" fmla="*/ 0 h 183"/>
                <a:gd name="T38" fmla="*/ 0 w 128"/>
                <a:gd name="T39" fmla="*/ 0 h 183"/>
                <a:gd name="T40" fmla="*/ 0 w 128"/>
                <a:gd name="T41" fmla="*/ 0 h 183"/>
                <a:gd name="T42" fmla="*/ 0 w 128"/>
                <a:gd name="T43" fmla="*/ 0 h 183"/>
                <a:gd name="T44" fmla="*/ 0 w 128"/>
                <a:gd name="T45" fmla="*/ 0 h 183"/>
                <a:gd name="T46" fmla="*/ 0 w 128"/>
                <a:gd name="T47" fmla="*/ 0 h 183"/>
                <a:gd name="T48" fmla="*/ 0 w 128"/>
                <a:gd name="T49" fmla="*/ 0 h 183"/>
                <a:gd name="T50" fmla="*/ 0 w 128"/>
                <a:gd name="T51" fmla="*/ 0 h 183"/>
                <a:gd name="T52" fmla="*/ 0 w 128"/>
                <a:gd name="T53" fmla="*/ 0 h 183"/>
                <a:gd name="T54" fmla="*/ 0 w 128"/>
                <a:gd name="T55" fmla="*/ 0 h 183"/>
                <a:gd name="T56" fmla="*/ 0 w 128"/>
                <a:gd name="T57" fmla="*/ 0 h 183"/>
                <a:gd name="T58" fmla="*/ 0 w 128"/>
                <a:gd name="T59" fmla="*/ 0 h 183"/>
                <a:gd name="T60" fmla="*/ 0 w 128"/>
                <a:gd name="T61" fmla="*/ 0 h 183"/>
                <a:gd name="T62" fmla="*/ 0 w 128"/>
                <a:gd name="T63" fmla="*/ 0 h 183"/>
                <a:gd name="T64" fmla="*/ 0 w 128"/>
                <a:gd name="T65" fmla="*/ 0 h 183"/>
                <a:gd name="T66" fmla="*/ 0 w 128"/>
                <a:gd name="T67" fmla="*/ 0 h 183"/>
                <a:gd name="T68" fmla="*/ 0 w 128"/>
                <a:gd name="T69" fmla="*/ 0 h 183"/>
                <a:gd name="T70" fmla="*/ 0 w 128"/>
                <a:gd name="T71" fmla="*/ 0 h 183"/>
                <a:gd name="T72" fmla="*/ 0 w 128"/>
                <a:gd name="T73" fmla="*/ 0 h 183"/>
                <a:gd name="T74" fmla="*/ 0 w 128"/>
                <a:gd name="T75" fmla="*/ 0 h 183"/>
                <a:gd name="T76" fmla="*/ 0 w 128"/>
                <a:gd name="T77" fmla="*/ 0 h 183"/>
                <a:gd name="T78" fmla="*/ 0 w 128"/>
                <a:gd name="T79" fmla="*/ 0 h 183"/>
                <a:gd name="T80" fmla="*/ 0 w 128"/>
                <a:gd name="T81" fmla="*/ 0 h 18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3"/>
                <a:gd name="T125" fmla="*/ 128 w 128"/>
                <a:gd name="T126" fmla="*/ 183 h 18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0" name="Freeform 1004"/>
            <p:cNvSpPr/>
            <p:nvPr/>
          </p:nvSpPr>
          <p:spPr bwMode="auto">
            <a:xfrm>
              <a:off x="4309" y="3138"/>
              <a:ext cx="53" cy="63"/>
            </a:xfrm>
            <a:custGeom>
              <a:avLst/>
              <a:gdLst>
                <a:gd name="T0" fmla="*/ 0 w 323"/>
                <a:gd name="T1" fmla="*/ 0 h 379"/>
                <a:gd name="T2" fmla="*/ 0 w 323"/>
                <a:gd name="T3" fmla="*/ 0 h 379"/>
                <a:gd name="T4" fmla="*/ 0 w 323"/>
                <a:gd name="T5" fmla="*/ 0 h 379"/>
                <a:gd name="T6" fmla="*/ 0 w 323"/>
                <a:gd name="T7" fmla="*/ 0 h 379"/>
                <a:gd name="T8" fmla="*/ 0 w 323"/>
                <a:gd name="T9" fmla="*/ 0 h 379"/>
                <a:gd name="T10" fmla="*/ 0 w 323"/>
                <a:gd name="T11" fmla="*/ 0 h 379"/>
                <a:gd name="T12" fmla="*/ 0 w 323"/>
                <a:gd name="T13" fmla="*/ 0 h 379"/>
                <a:gd name="T14" fmla="*/ 0 w 323"/>
                <a:gd name="T15" fmla="*/ 0 h 379"/>
                <a:gd name="T16" fmla="*/ 0 w 323"/>
                <a:gd name="T17" fmla="*/ 0 h 379"/>
                <a:gd name="T18" fmla="*/ 0 w 323"/>
                <a:gd name="T19" fmla="*/ 0 h 379"/>
                <a:gd name="T20" fmla="*/ 0 w 323"/>
                <a:gd name="T21" fmla="*/ 0 h 379"/>
                <a:gd name="T22" fmla="*/ 0 w 323"/>
                <a:gd name="T23" fmla="*/ 0 h 379"/>
                <a:gd name="T24" fmla="*/ 0 w 323"/>
                <a:gd name="T25" fmla="*/ 0 h 379"/>
                <a:gd name="T26" fmla="*/ 0 w 323"/>
                <a:gd name="T27" fmla="*/ 0 h 379"/>
                <a:gd name="T28" fmla="*/ 0 w 323"/>
                <a:gd name="T29" fmla="*/ 0 h 379"/>
                <a:gd name="T30" fmla="*/ 0 w 323"/>
                <a:gd name="T31" fmla="*/ 0 h 379"/>
                <a:gd name="T32" fmla="*/ 0 w 323"/>
                <a:gd name="T33" fmla="*/ 0 h 379"/>
                <a:gd name="T34" fmla="*/ 0 w 323"/>
                <a:gd name="T35" fmla="*/ 0 h 379"/>
                <a:gd name="T36" fmla="*/ 0 w 323"/>
                <a:gd name="T37" fmla="*/ 0 h 379"/>
                <a:gd name="T38" fmla="*/ 0 w 323"/>
                <a:gd name="T39" fmla="*/ 0 h 379"/>
                <a:gd name="T40" fmla="*/ 0 w 323"/>
                <a:gd name="T41" fmla="*/ 0 h 379"/>
                <a:gd name="T42" fmla="*/ 0 w 323"/>
                <a:gd name="T43" fmla="*/ 0 h 379"/>
                <a:gd name="T44" fmla="*/ 0 w 323"/>
                <a:gd name="T45" fmla="*/ 0 h 379"/>
                <a:gd name="T46" fmla="*/ 0 w 323"/>
                <a:gd name="T47" fmla="*/ 0 h 379"/>
                <a:gd name="T48" fmla="*/ 0 w 323"/>
                <a:gd name="T49" fmla="*/ 0 h 379"/>
                <a:gd name="T50" fmla="*/ 0 w 323"/>
                <a:gd name="T51" fmla="*/ 0 h 379"/>
                <a:gd name="T52" fmla="*/ 0 w 323"/>
                <a:gd name="T53" fmla="*/ 0 h 379"/>
                <a:gd name="T54" fmla="*/ 0 w 323"/>
                <a:gd name="T55" fmla="*/ 0 h 379"/>
                <a:gd name="T56" fmla="*/ 0 w 323"/>
                <a:gd name="T57" fmla="*/ 0 h 379"/>
                <a:gd name="T58" fmla="*/ 0 w 323"/>
                <a:gd name="T59" fmla="*/ 0 h 379"/>
                <a:gd name="T60" fmla="*/ 0 w 323"/>
                <a:gd name="T61" fmla="*/ 0 h 379"/>
                <a:gd name="T62" fmla="*/ 0 w 323"/>
                <a:gd name="T63" fmla="*/ 0 h 379"/>
                <a:gd name="T64" fmla="*/ 0 w 323"/>
                <a:gd name="T65" fmla="*/ 0 h 379"/>
                <a:gd name="T66" fmla="*/ 0 w 323"/>
                <a:gd name="T67" fmla="*/ 0 h 379"/>
                <a:gd name="T68" fmla="*/ 0 w 323"/>
                <a:gd name="T69" fmla="*/ 0 h 379"/>
                <a:gd name="T70" fmla="*/ 0 w 323"/>
                <a:gd name="T71" fmla="*/ 0 h 379"/>
                <a:gd name="T72" fmla="*/ 0 w 323"/>
                <a:gd name="T73" fmla="*/ 0 h 379"/>
                <a:gd name="T74" fmla="*/ 0 w 323"/>
                <a:gd name="T75" fmla="*/ 0 h 379"/>
                <a:gd name="T76" fmla="*/ 0 w 323"/>
                <a:gd name="T77" fmla="*/ 0 h 379"/>
                <a:gd name="T78" fmla="*/ 0 w 323"/>
                <a:gd name="T79" fmla="*/ 0 h 379"/>
                <a:gd name="T80" fmla="*/ 0 w 323"/>
                <a:gd name="T81" fmla="*/ 0 h 379"/>
                <a:gd name="T82" fmla="*/ 0 w 323"/>
                <a:gd name="T83" fmla="*/ 0 h 379"/>
                <a:gd name="T84" fmla="*/ 0 w 323"/>
                <a:gd name="T85" fmla="*/ 0 h 379"/>
                <a:gd name="T86" fmla="*/ 0 w 323"/>
                <a:gd name="T87" fmla="*/ 0 h 37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3"/>
                <a:gd name="T133" fmla="*/ 0 h 379"/>
                <a:gd name="T134" fmla="*/ 323 w 323"/>
                <a:gd name="T135" fmla="*/ 379 h 37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1" name="Freeform 1005"/>
            <p:cNvSpPr/>
            <p:nvPr/>
          </p:nvSpPr>
          <p:spPr bwMode="auto">
            <a:xfrm>
              <a:off x="4384" y="3136"/>
              <a:ext cx="47" cy="42"/>
            </a:xfrm>
            <a:custGeom>
              <a:avLst/>
              <a:gdLst>
                <a:gd name="T0" fmla="*/ 0 w 282"/>
                <a:gd name="T1" fmla="*/ 0 h 253"/>
                <a:gd name="T2" fmla="*/ 0 w 282"/>
                <a:gd name="T3" fmla="*/ 0 h 253"/>
                <a:gd name="T4" fmla="*/ 0 w 282"/>
                <a:gd name="T5" fmla="*/ 0 h 253"/>
                <a:gd name="T6" fmla="*/ 0 w 282"/>
                <a:gd name="T7" fmla="*/ 0 h 253"/>
                <a:gd name="T8" fmla="*/ 0 w 282"/>
                <a:gd name="T9" fmla="*/ 0 h 253"/>
                <a:gd name="T10" fmla="*/ 0 w 282"/>
                <a:gd name="T11" fmla="*/ 0 h 253"/>
                <a:gd name="T12" fmla="*/ 0 w 282"/>
                <a:gd name="T13" fmla="*/ 0 h 253"/>
                <a:gd name="T14" fmla="*/ 0 w 282"/>
                <a:gd name="T15" fmla="*/ 0 h 253"/>
                <a:gd name="T16" fmla="*/ 0 w 282"/>
                <a:gd name="T17" fmla="*/ 0 h 253"/>
                <a:gd name="T18" fmla="*/ 0 w 282"/>
                <a:gd name="T19" fmla="*/ 0 h 253"/>
                <a:gd name="T20" fmla="*/ 0 w 282"/>
                <a:gd name="T21" fmla="*/ 0 h 253"/>
                <a:gd name="T22" fmla="*/ 0 w 282"/>
                <a:gd name="T23" fmla="*/ 0 h 253"/>
                <a:gd name="T24" fmla="*/ 0 w 282"/>
                <a:gd name="T25" fmla="*/ 0 h 253"/>
                <a:gd name="T26" fmla="*/ 0 w 282"/>
                <a:gd name="T27" fmla="*/ 0 h 253"/>
                <a:gd name="T28" fmla="*/ 0 w 282"/>
                <a:gd name="T29" fmla="*/ 0 h 253"/>
                <a:gd name="T30" fmla="*/ 0 w 282"/>
                <a:gd name="T31" fmla="*/ 0 h 253"/>
                <a:gd name="T32" fmla="*/ 0 w 282"/>
                <a:gd name="T33" fmla="*/ 0 h 253"/>
                <a:gd name="T34" fmla="*/ 0 w 282"/>
                <a:gd name="T35" fmla="*/ 0 h 253"/>
                <a:gd name="T36" fmla="*/ 0 w 282"/>
                <a:gd name="T37" fmla="*/ 0 h 253"/>
                <a:gd name="T38" fmla="*/ 0 w 282"/>
                <a:gd name="T39" fmla="*/ 0 h 253"/>
                <a:gd name="T40" fmla="*/ 0 w 282"/>
                <a:gd name="T41" fmla="*/ 0 h 253"/>
                <a:gd name="T42" fmla="*/ 0 w 282"/>
                <a:gd name="T43" fmla="*/ 0 h 253"/>
                <a:gd name="T44" fmla="*/ 0 w 282"/>
                <a:gd name="T45" fmla="*/ 0 h 253"/>
                <a:gd name="T46" fmla="*/ 0 w 282"/>
                <a:gd name="T47" fmla="*/ 0 h 253"/>
                <a:gd name="T48" fmla="*/ 0 w 282"/>
                <a:gd name="T49" fmla="*/ 0 h 253"/>
                <a:gd name="T50" fmla="*/ 0 w 282"/>
                <a:gd name="T51" fmla="*/ 0 h 253"/>
                <a:gd name="T52" fmla="*/ 0 w 282"/>
                <a:gd name="T53" fmla="*/ 0 h 253"/>
                <a:gd name="T54" fmla="*/ 0 w 282"/>
                <a:gd name="T55" fmla="*/ 0 h 253"/>
                <a:gd name="T56" fmla="*/ 0 w 282"/>
                <a:gd name="T57" fmla="*/ 0 h 253"/>
                <a:gd name="T58" fmla="*/ 0 w 282"/>
                <a:gd name="T59" fmla="*/ 0 h 253"/>
                <a:gd name="T60" fmla="*/ 0 w 282"/>
                <a:gd name="T61" fmla="*/ 0 h 253"/>
                <a:gd name="T62" fmla="*/ 0 w 282"/>
                <a:gd name="T63" fmla="*/ 0 h 253"/>
                <a:gd name="T64" fmla="*/ 0 w 282"/>
                <a:gd name="T65" fmla="*/ 0 h 253"/>
                <a:gd name="T66" fmla="*/ 0 w 282"/>
                <a:gd name="T67" fmla="*/ 0 h 253"/>
                <a:gd name="T68" fmla="*/ 0 w 282"/>
                <a:gd name="T69" fmla="*/ 0 h 253"/>
                <a:gd name="T70" fmla="*/ 0 w 282"/>
                <a:gd name="T71" fmla="*/ 0 h 253"/>
                <a:gd name="T72" fmla="*/ 0 w 282"/>
                <a:gd name="T73" fmla="*/ 0 h 253"/>
                <a:gd name="T74" fmla="*/ 0 w 282"/>
                <a:gd name="T75" fmla="*/ 0 h 253"/>
                <a:gd name="T76" fmla="*/ 0 w 282"/>
                <a:gd name="T77" fmla="*/ 0 h 253"/>
                <a:gd name="T78" fmla="*/ 0 w 282"/>
                <a:gd name="T79" fmla="*/ 0 h 253"/>
                <a:gd name="T80" fmla="*/ 0 w 282"/>
                <a:gd name="T81" fmla="*/ 0 h 253"/>
                <a:gd name="T82" fmla="*/ 0 w 282"/>
                <a:gd name="T83" fmla="*/ 0 h 253"/>
                <a:gd name="T84" fmla="*/ 0 w 282"/>
                <a:gd name="T85" fmla="*/ 0 h 253"/>
                <a:gd name="T86" fmla="*/ 0 w 282"/>
                <a:gd name="T87" fmla="*/ 0 h 253"/>
                <a:gd name="T88" fmla="*/ 0 w 282"/>
                <a:gd name="T89" fmla="*/ 0 h 253"/>
                <a:gd name="T90" fmla="*/ 0 w 282"/>
                <a:gd name="T91" fmla="*/ 0 h 253"/>
                <a:gd name="T92" fmla="*/ 0 w 282"/>
                <a:gd name="T93" fmla="*/ 0 h 253"/>
                <a:gd name="T94" fmla="*/ 0 w 282"/>
                <a:gd name="T95" fmla="*/ 0 h 253"/>
                <a:gd name="T96" fmla="*/ 0 w 282"/>
                <a:gd name="T97" fmla="*/ 0 h 253"/>
                <a:gd name="T98" fmla="*/ 0 w 282"/>
                <a:gd name="T99" fmla="*/ 0 h 253"/>
                <a:gd name="T100" fmla="*/ 0 w 282"/>
                <a:gd name="T101" fmla="*/ 0 h 253"/>
                <a:gd name="T102" fmla="*/ 0 w 282"/>
                <a:gd name="T103" fmla="*/ 0 h 253"/>
                <a:gd name="T104" fmla="*/ 0 w 282"/>
                <a:gd name="T105" fmla="*/ 0 h 253"/>
                <a:gd name="T106" fmla="*/ 0 w 282"/>
                <a:gd name="T107" fmla="*/ 0 h 253"/>
                <a:gd name="T108" fmla="*/ 0 w 282"/>
                <a:gd name="T109" fmla="*/ 0 h 253"/>
                <a:gd name="T110" fmla="*/ 0 w 282"/>
                <a:gd name="T111" fmla="*/ 0 h 253"/>
                <a:gd name="T112" fmla="*/ 0 w 282"/>
                <a:gd name="T113" fmla="*/ 0 h 253"/>
                <a:gd name="T114" fmla="*/ 0 w 282"/>
                <a:gd name="T115" fmla="*/ 0 h 253"/>
                <a:gd name="T116" fmla="*/ 0 w 282"/>
                <a:gd name="T117" fmla="*/ 0 h 253"/>
                <a:gd name="T118" fmla="*/ 0 w 282"/>
                <a:gd name="T119" fmla="*/ 0 h 253"/>
                <a:gd name="T120" fmla="*/ 0 w 282"/>
                <a:gd name="T121" fmla="*/ 0 h 2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2"/>
                <a:gd name="T184" fmla="*/ 0 h 253"/>
                <a:gd name="T185" fmla="*/ 282 w 282"/>
                <a:gd name="T186" fmla="*/ 253 h 25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2" name="Freeform 1006"/>
            <p:cNvSpPr/>
            <p:nvPr/>
          </p:nvSpPr>
          <p:spPr bwMode="auto">
            <a:xfrm>
              <a:off x="4290" y="3159"/>
              <a:ext cx="19" cy="39"/>
            </a:xfrm>
            <a:custGeom>
              <a:avLst/>
              <a:gdLst>
                <a:gd name="T0" fmla="*/ 0 w 115"/>
                <a:gd name="T1" fmla="*/ 0 h 236"/>
                <a:gd name="T2" fmla="*/ 0 w 115"/>
                <a:gd name="T3" fmla="*/ 0 h 236"/>
                <a:gd name="T4" fmla="*/ 0 w 115"/>
                <a:gd name="T5" fmla="*/ 0 h 236"/>
                <a:gd name="T6" fmla="*/ 0 w 115"/>
                <a:gd name="T7" fmla="*/ 0 h 236"/>
                <a:gd name="T8" fmla="*/ 0 w 115"/>
                <a:gd name="T9" fmla="*/ 0 h 236"/>
                <a:gd name="T10" fmla="*/ 0 w 115"/>
                <a:gd name="T11" fmla="*/ 0 h 236"/>
                <a:gd name="T12" fmla="*/ 0 w 115"/>
                <a:gd name="T13" fmla="*/ 0 h 236"/>
                <a:gd name="T14" fmla="*/ 0 w 115"/>
                <a:gd name="T15" fmla="*/ 0 h 236"/>
                <a:gd name="T16" fmla="*/ 0 w 115"/>
                <a:gd name="T17" fmla="*/ 0 h 236"/>
                <a:gd name="T18" fmla="*/ 0 w 115"/>
                <a:gd name="T19" fmla="*/ 0 h 236"/>
                <a:gd name="T20" fmla="*/ 0 w 115"/>
                <a:gd name="T21" fmla="*/ 0 h 236"/>
                <a:gd name="T22" fmla="*/ 0 w 115"/>
                <a:gd name="T23" fmla="*/ 0 h 236"/>
                <a:gd name="T24" fmla="*/ 0 w 115"/>
                <a:gd name="T25" fmla="*/ 0 h 236"/>
                <a:gd name="T26" fmla="*/ 0 w 115"/>
                <a:gd name="T27" fmla="*/ 0 h 236"/>
                <a:gd name="T28" fmla="*/ 0 w 115"/>
                <a:gd name="T29" fmla="*/ 0 h 236"/>
                <a:gd name="T30" fmla="*/ 0 w 115"/>
                <a:gd name="T31" fmla="*/ 0 h 236"/>
                <a:gd name="T32" fmla="*/ 0 w 115"/>
                <a:gd name="T33" fmla="*/ 0 h 236"/>
                <a:gd name="T34" fmla="*/ 0 w 115"/>
                <a:gd name="T35" fmla="*/ 0 h 236"/>
                <a:gd name="T36" fmla="*/ 0 w 115"/>
                <a:gd name="T37" fmla="*/ 0 h 236"/>
                <a:gd name="T38" fmla="*/ 0 w 115"/>
                <a:gd name="T39" fmla="*/ 0 h 236"/>
                <a:gd name="T40" fmla="*/ 0 w 115"/>
                <a:gd name="T41" fmla="*/ 0 h 236"/>
                <a:gd name="T42" fmla="*/ 0 w 115"/>
                <a:gd name="T43" fmla="*/ 0 h 236"/>
                <a:gd name="T44" fmla="*/ 0 w 115"/>
                <a:gd name="T45" fmla="*/ 0 h 236"/>
                <a:gd name="T46" fmla="*/ 0 w 115"/>
                <a:gd name="T47" fmla="*/ 0 h 236"/>
                <a:gd name="T48" fmla="*/ 0 w 115"/>
                <a:gd name="T49" fmla="*/ 0 h 236"/>
                <a:gd name="T50" fmla="*/ 0 w 115"/>
                <a:gd name="T51" fmla="*/ 0 h 236"/>
                <a:gd name="T52" fmla="*/ 0 w 115"/>
                <a:gd name="T53" fmla="*/ 0 h 236"/>
                <a:gd name="T54" fmla="*/ 0 w 115"/>
                <a:gd name="T55" fmla="*/ 0 h 236"/>
                <a:gd name="T56" fmla="*/ 0 w 115"/>
                <a:gd name="T57" fmla="*/ 0 h 236"/>
                <a:gd name="T58" fmla="*/ 0 w 115"/>
                <a:gd name="T59" fmla="*/ 0 h 236"/>
                <a:gd name="T60" fmla="*/ 0 w 115"/>
                <a:gd name="T61" fmla="*/ 0 h 236"/>
                <a:gd name="T62" fmla="*/ 0 w 115"/>
                <a:gd name="T63" fmla="*/ 0 h 236"/>
                <a:gd name="T64" fmla="*/ 0 w 115"/>
                <a:gd name="T65" fmla="*/ 0 h 236"/>
                <a:gd name="T66" fmla="*/ 0 w 115"/>
                <a:gd name="T67" fmla="*/ 0 h 236"/>
                <a:gd name="T68" fmla="*/ 0 w 115"/>
                <a:gd name="T69" fmla="*/ 0 h 236"/>
                <a:gd name="T70" fmla="*/ 0 w 115"/>
                <a:gd name="T71" fmla="*/ 0 h 236"/>
                <a:gd name="T72" fmla="*/ 0 w 115"/>
                <a:gd name="T73" fmla="*/ 0 h 236"/>
                <a:gd name="T74" fmla="*/ 0 w 115"/>
                <a:gd name="T75" fmla="*/ 0 h 236"/>
                <a:gd name="T76" fmla="*/ 0 w 115"/>
                <a:gd name="T77" fmla="*/ 0 h 236"/>
                <a:gd name="T78" fmla="*/ 0 w 115"/>
                <a:gd name="T79" fmla="*/ 0 h 236"/>
                <a:gd name="T80" fmla="*/ 0 w 115"/>
                <a:gd name="T81" fmla="*/ 0 h 2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5"/>
                <a:gd name="T124" fmla="*/ 0 h 236"/>
                <a:gd name="T125" fmla="*/ 115 w 115"/>
                <a:gd name="T126" fmla="*/ 236 h 2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3" name="Freeform 1007"/>
            <p:cNvSpPr/>
            <p:nvPr/>
          </p:nvSpPr>
          <p:spPr bwMode="auto">
            <a:xfrm>
              <a:off x="4423" y="3133"/>
              <a:ext cx="41" cy="52"/>
            </a:xfrm>
            <a:custGeom>
              <a:avLst/>
              <a:gdLst>
                <a:gd name="T0" fmla="*/ 0 w 245"/>
                <a:gd name="T1" fmla="*/ 0 h 310"/>
                <a:gd name="T2" fmla="*/ 0 w 245"/>
                <a:gd name="T3" fmla="*/ 0 h 310"/>
                <a:gd name="T4" fmla="*/ 0 w 245"/>
                <a:gd name="T5" fmla="*/ 0 h 310"/>
                <a:gd name="T6" fmla="*/ 0 w 245"/>
                <a:gd name="T7" fmla="*/ 0 h 310"/>
                <a:gd name="T8" fmla="*/ 0 w 245"/>
                <a:gd name="T9" fmla="*/ 0 h 310"/>
                <a:gd name="T10" fmla="*/ 0 w 245"/>
                <a:gd name="T11" fmla="*/ 0 h 310"/>
                <a:gd name="T12" fmla="*/ 0 w 245"/>
                <a:gd name="T13" fmla="*/ 0 h 310"/>
                <a:gd name="T14" fmla="*/ 0 w 245"/>
                <a:gd name="T15" fmla="*/ 0 h 310"/>
                <a:gd name="T16" fmla="*/ 0 w 245"/>
                <a:gd name="T17" fmla="*/ 0 h 310"/>
                <a:gd name="T18" fmla="*/ 0 w 245"/>
                <a:gd name="T19" fmla="*/ 0 h 310"/>
                <a:gd name="T20" fmla="*/ 0 w 245"/>
                <a:gd name="T21" fmla="*/ 0 h 310"/>
                <a:gd name="T22" fmla="*/ 0 w 245"/>
                <a:gd name="T23" fmla="*/ 0 h 310"/>
                <a:gd name="T24" fmla="*/ 0 w 245"/>
                <a:gd name="T25" fmla="*/ 0 h 310"/>
                <a:gd name="T26" fmla="*/ 0 w 245"/>
                <a:gd name="T27" fmla="*/ 0 h 310"/>
                <a:gd name="T28" fmla="*/ 0 w 245"/>
                <a:gd name="T29" fmla="*/ 0 h 310"/>
                <a:gd name="T30" fmla="*/ 0 w 245"/>
                <a:gd name="T31" fmla="*/ 0 h 310"/>
                <a:gd name="T32" fmla="*/ 0 w 245"/>
                <a:gd name="T33" fmla="*/ 0 h 310"/>
                <a:gd name="T34" fmla="*/ 0 w 245"/>
                <a:gd name="T35" fmla="*/ 0 h 310"/>
                <a:gd name="T36" fmla="*/ 0 w 245"/>
                <a:gd name="T37" fmla="*/ 0 h 310"/>
                <a:gd name="T38" fmla="*/ 0 w 245"/>
                <a:gd name="T39" fmla="*/ 0 h 310"/>
                <a:gd name="T40" fmla="*/ 0 w 245"/>
                <a:gd name="T41" fmla="*/ 0 h 310"/>
                <a:gd name="T42" fmla="*/ 0 w 245"/>
                <a:gd name="T43" fmla="*/ 0 h 310"/>
                <a:gd name="T44" fmla="*/ 0 w 245"/>
                <a:gd name="T45" fmla="*/ 0 h 310"/>
                <a:gd name="T46" fmla="*/ 0 w 245"/>
                <a:gd name="T47" fmla="*/ 0 h 310"/>
                <a:gd name="T48" fmla="*/ 0 w 245"/>
                <a:gd name="T49" fmla="*/ 0 h 310"/>
                <a:gd name="T50" fmla="*/ 0 w 245"/>
                <a:gd name="T51" fmla="*/ 0 h 310"/>
                <a:gd name="T52" fmla="*/ 0 w 245"/>
                <a:gd name="T53" fmla="*/ 0 h 310"/>
                <a:gd name="T54" fmla="*/ 0 w 245"/>
                <a:gd name="T55" fmla="*/ 0 h 310"/>
                <a:gd name="T56" fmla="*/ 0 w 245"/>
                <a:gd name="T57" fmla="*/ 0 h 310"/>
                <a:gd name="T58" fmla="*/ 0 w 245"/>
                <a:gd name="T59" fmla="*/ 0 h 310"/>
                <a:gd name="T60" fmla="*/ 0 w 245"/>
                <a:gd name="T61" fmla="*/ 0 h 310"/>
                <a:gd name="T62" fmla="*/ 0 w 245"/>
                <a:gd name="T63" fmla="*/ 0 h 310"/>
                <a:gd name="T64" fmla="*/ 0 w 245"/>
                <a:gd name="T65" fmla="*/ 0 h 310"/>
                <a:gd name="T66" fmla="*/ 0 w 245"/>
                <a:gd name="T67" fmla="*/ 0 h 310"/>
                <a:gd name="T68" fmla="*/ 0 w 245"/>
                <a:gd name="T69" fmla="*/ 0 h 310"/>
                <a:gd name="T70" fmla="*/ 0 w 245"/>
                <a:gd name="T71" fmla="*/ 0 h 310"/>
                <a:gd name="T72" fmla="*/ 0 w 245"/>
                <a:gd name="T73" fmla="*/ 0 h 310"/>
                <a:gd name="T74" fmla="*/ 0 w 245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5"/>
                <a:gd name="T115" fmla="*/ 0 h 310"/>
                <a:gd name="T116" fmla="*/ 245 w 245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4" name="Freeform 1008"/>
            <p:cNvSpPr/>
            <p:nvPr/>
          </p:nvSpPr>
          <p:spPr bwMode="auto">
            <a:xfrm>
              <a:off x="4338" y="3209"/>
              <a:ext cx="125" cy="175"/>
            </a:xfrm>
            <a:custGeom>
              <a:avLst/>
              <a:gdLst>
                <a:gd name="T0" fmla="*/ 0 w 125"/>
                <a:gd name="T1" fmla="*/ 175 h 175"/>
                <a:gd name="T2" fmla="*/ 0 w 125"/>
                <a:gd name="T3" fmla="*/ 144 h 175"/>
                <a:gd name="T4" fmla="*/ 11 w 125"/>
                <a:gd name="T5" fmla="*/ 144 h 175"/>
                <a:gd name="T6" fmla="*/ 11 w 125"/>
                <a:gd name="T7" fmla="*/ 118 h 175"/>
                <a:gd name="T8" fmla="*/ 23 w 125"/>
                <a:gd name="T9" fmla="*/ 114 h 175"/>
                <a:gd name="T10" fmla="*/ 20 w 125"/>
                <a:gd name="T11" fmla="*/ 88 h 175"/>
                <a:gd name="T12" fmla="*/ 30 w 125"/>
                <a:gd name="T13" fmla="*/ 84 h 175"/>
                <a:gd name="T14" fmla="*/ 30 w 125"/>
                <a:gd name="T15" fmla="*/ 58 h 175"/>
                <a:gd name="T16" fmla="*/ 39 w 125"/>
                <a:gd name="T17" fmla="*/ 54 h 175"/>
                <a:gd name="T18" fmla="*/ 39 w 125"/>
                <a:gd name="T19" fmla="*/ 28 h 175"/>
                <a:gd name="T20" fmla="*/ 48 w 125"/>
                <a:gd name="T21" fmla="*/ 28 h 175"/>
                <a:gd name="T22" fmla="*/ 56 w 125"/>
                <a:gd name="T23" fmla="*/ 0 h 175"/>
                <a:gd name="T24" fmla="*/ 80 w 125"/>
                <a:gd name="T25" fmla="*/ 0 h 175"/>
                <a:gd name="T26" fmla="*/ 81 w 125"/>
                <a:gd name="T27" fmla="*/ 25 h 175"/>
                <a:gd name="T28" fmla="*/ 92 w 125"/>
                <a:gd name="T29" fmla="*/ 24 h 175"/>
                <a:gd name="T30" fmla="*/ 93 w 125"/>
                <a:gd name="T31" fmla="*/ 49 h 175"/>
                <a:gd name="T32" fmla="*/ 102 w 125"/>
                <a:gd name="T33" fmla="*/ 54 h 175"/>
                <a:gd name="T34" fmla="*/ 99 w 125"/>
                <a:gd name="T35" fmla="*/ 81 h 175"/>
                <a:gd name="T36" fmla="*/ 114 w 125"/>
                <a:gd name="T37" fmla="*/ 82 h 175"/>
                <a:gd name="T38" fmla="*/ 107 w 125"/>
                <a:gd name="T39" fmla="*/ 81 h 175"/>
                <a:gd name="T40" fmla="*/ 108 w 125"/>
                <a:gd name="T41" fmla="*/ 114 h 175"/>
                <a:gd name="T42" fmla="*/ 117 w 125"/>
                <a:gd name="T43" fmla="*/ 117 h 175"/>
                <a:gd name="T44" fmla="*/ 122 w 125"/>
                <a:gd name="T45" fmla="*/ 142 h 175"/>
                <a:gd name="T46" fmla="*/ 125 w 125"/>
                <a:gd name="T47" fmla="*/ 175 h 175"/>
                <a:gd name="T48" fmla="*/ 0 w 125"/>
                <a:gd name="T49" fmla="*/ 175 h 17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5"/>
                <a:gd name="T76" fmla="*/ 0 h 175"/>
                <a:gd name="T77" fmla="*/ 125 w 125"/>
                <a:gd name="T78" fmla="*/ 175 h 17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5" h="175">
                  <a:moveTo>
                    <a:pt x="0" y="175"/>
                  </a:moveTo>
                  <a:lnTo>
                    <a:pt x="0" y="144"/>
                  </a:lnTo>
                  <a:lnTo>
                    <a:pt x="11" y="144"/>
                  </a:lnTo>
                  <a:lnTo>
                    <a:pt x="11" y="118"/>
                  </a:lnTo>
                  <a:lnTo>
                    <a:pt x="23" y="114"/>
                  </a:lnTo>
                  <a:lnTo>
                    <a:pt x="20" y="88"/>
                  </a:lnTo>
                  <a:lnTo>
                    <a:pt x="30" y="84"/>
                  </a:lnTo>
                  <a:lnTo>
                    <a:pt x="30" y="58"/>
                  </a:lnTo>
                  <a:lnTo>
                    <a:pt x="39" y="54"/>
                  </a:lnTo>
                  <a:lnTo>
                    <a:pt x="39" y="28"/>
                  </a:lnTo>
                  <a:lnTo>
                    <a:pt x="48" y="28"/>
                  </a:lnTo>
                  <a:lnTo>
                    <a:pt x="56" y="0"/>
                  </a:lnTo>
                  <a:lnTo>
                    <a:pt x="80" y="0"/>
                  </a:lnTo>
                  <a:lnTo>
                    <a:pt x="81" y="25"/>
                  </a:lnTo>
                  <a:lnTo>
                    <a:pt x="92" y="24"/>
                  </a:lnTo>
                  <a:lnTo>
                    <a:pt x="93" y="49"/>
                  </a:lnTo>
                  <a:lnTo>
                    <a:pt x="102" y="54"/>
                  </a:lnTo>
                  <a:lnTo>
                    <a:pt x="99" y="81"/>
                  </a:lnTo>
                  <a:lnTo>
                    <a:pt x="114" y="82"/>
                  </a:lnTo>
                  <a:lnTo>
                    <a:pt x="107" y="81"/>
                  </a:lnTo>
                  <a:lnTo>
                    <a:pt x="108" y="114"/>
                  </a:lnTo>
                  <a:lnTo>
                    <a:pt x="117" y="117"/>
                  </a:lnTo>
                  <a:lnTo>
                    <a:pt x="122" y="142"/>
                  </a:lnTo>
                  <a:lnTo>
                    <a:pt x="125" y="17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222" name="Group 1009"/>
          <p:cNvGrpSpPr/>
          <p:nvPr/>
        </p:nvGrpSpPr>
        <p:grpSpPr bwMode="auto">
          <a:xfrm>
            <a:off x="5656263" y="3430588"/>
            <a:ext cx="290512" cy="404812"/>
            <a:chOff x="4290" y="3130"/>
            <a:chExt cx="183" cy="255"/>
          </a:xfrm>
        </p:grpSpPr>
        <p:pic>
          <p:nvPicPr>
            <p:cNvPr id="4229" name="Picture 1010" descr="31u_bnrz[1]"/>
            <p:cNvPicPr>
              <a:picLocks noChangeAspect="1" noChangeArrowheads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4343" y="3211"/>
              <a:ext cx="121" cy="174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  <a:headEnd/>
              <a:tailEnd/>
            </a:ln>
          </p:spPr>
        </p:pic>
        <p:sp>
          <p:nvSpPr>
            <p:cNvPr id="4230" name="Freeform 1011"/>
            <p:cNvSpPr/>
            <p:nvPr/>
          </p:nvSpPr>
          <p:spPr bwMode="auto">
            <a:xfrm>
              <a:off x="4339" y="3143"/>
              <a:ext cx="33" cy="39"/>
            </a:xfrm>
            <a:custGeom>
              <a:avLst/>
              <a:gdLst>
                <a:gd name="T0" fmla="*/ 0 w 199"/>
                <a:gd name="T1" fmla="*/ 0 h 232"/>
                <a:gd name="T2" fmla="*/ 0 w 199"/>
                <a:gd name="T3" fmla="*/ 0 h 232"/>
                <a:gd name="T4" fmla="*/ 0 w 199"/>
                <a:gd name="T5" fmla="*/ 0 h 232"/>
                <a:gd name="T6" fmla="*/ 0 w 199"/>
                <a:gd name="T7" fmla="*/ 0 h 232"/>
                <a:gd name="T8" fmla="*/ 0 w 199"/>
                <a:gd name="T9" fmla="*/ 0 h 232"/>
                <a:gd name="T10" fmla="*/ 0 w 199"/>
                <a:gd name="T11" fmla="*/ 0 h 232"/>
                <a:gd name="T12" fmla="*/ 0 w 199"/>
                <a:gd name="T13" fmla="*/ 0 h 232"/>
                <a:gd name="T14" fmla="*/ 0 w 199"/>
                <a:gd name="T15" fmla="*/ 0 h 232"/>
                <a:gd name="T16" fmla="*/ 0 w 199"/>
                <a:gd name="T17" fmla="*/ 0 h 232"/>
                <a:gd name="T18" fmla="*/ 0 w 199"/>
                <a:gd name="T19" fmla="*/ 0 h 232"/>
                <a:gd name="T20" fmla="*/ 0 w 199"/>
                <a:gd name="T21" fmla="*/ 0 h 232"/>
                <a:gd name="T22" fmla="*/ 0 w 199"/>
                <a:gd name="T23" fmla="*/ 0 h 232"/>
                <a:gd name="T24" fmla="*/ 0 w 199"/>
                <a:gd name="T25" fmla="*/ 0 h 232"/>
                <a:gd name="T26" fmla="*/ 0 w 199"/>
                <a:gd name="T27" fmla="*/ 0 h 232"/>
                <a:gd name="T28" fmla="*/ 0 w 199"/>
                <a:gd name="T29" fmla="*/ 0 h 232"/>
                <a:gd name="T30" fmla="*/ 0 w 199"/>
                <a:gd name="T31" fmla="*/ 0 h 232"/>
                <a:gd name="T32" fmla="*/ 0 w 199"/>
                <a:gd name="T33" fmla="*/ 0 h 232"/>
                <a:gd name="T34" fmla="*/ 0 w 199"/>
                <a:gd name="T35" fmla="*/ 0 h 232"/>
                <a:gd name="T36" fmla="*/ 0 w 199"/>
                <a:gd name="T37" fmla="*/ 0 h 232"/>
                <a:gd name="T38" fmla="*/ 0 w 199"/>
                <a:gd name="T39" fmla="*/ 0 h 232"/>
                <a:gd name="T40" fmla="*/ 0 w 199"/>
                <a:gd name="T41" fmla="*/ 0 h 232"/>
                <a:gd name="T42" fmla="*/ 0 w 199"/>
                <a:gd name="T43" fmla="*/ 0 h 232"/>
                <a:gd name="T44" fmla="*/ 0 w 199"/>
                <a:gd name="T45" fmla="*/ 0 h 232"/>
                <a:gd name="T46" fmla="*/ 0 w 199"/>
                <a:gd name="T47" fmla="*/ 0 h 232"/>
                <a:gd name="T48" fmla="*/ 0 w 199"/>
                <a:gd name="T49" fmla="*/ 0 h 232"/>
                <a:gd name="T50" fmla="*/ 0 w 199"/>
                <a:gd name="T51" fmla="*/ 0 h 232"/>
                <a:gd name="T52" fmla="*/ 0 w 199"/>
                <a:gd name="T53" fmla="*/ 0 h 232"/>
                <a:gd name="T54" fmla="*/ 0 w 199"/>
                <a:gd name="T55" fmla="*/ 0 h 232"/>
                <a:gd name="T56" fmla="*/ 0 w 199"/>
                <a:gd name="T57" fmla="*/ 0 h 232"/>
                <a:gd name="T58" fmla="*/ 0 w 199"/>
                <a:gd name="T59" fmla="*/ 0 h 232"/>
                <a:gd name="T60" fmla="*/ 0 w 199"/>
                <a:gd name="T61" fmla="*/ 0 h 232"/>
                <a:gd name="T62" fmla="*/ 0 w 199"/>
                <a:gd name="T63" fmla="*/ 0 h 232"/>
                <a:gd name="T64" fmla="*/ 0 w 199"/>
                <a:gd name="T65" fmla="*/ 0 h 232"/>
                <a:gd name="T66" fmla="*/ 0 w 199"/>
                <a:gd name="T67" fmla="*/ 0 h 232"/>
                <a:gd name="T68" fmla="*/ 0 w 199"/>
                <a:gd name="T69" fmla="*/ 0 h 232"/>
                <a:gd name="T70" fmla="*/ 0 w 199"/>
                <a:gd name="T71" fmla="*/ 0 h 232"/>
                <a:gd name="T72" fmla="*/ 0 w 199"/>
                <a:gd name="T73" fmla="*/ 0 h 232"/>
                <a:gd name="T74" fmla="*/ 0 w 199"/>
                <a:gd name="T75" fmla="*/ 0 h 232"/>
                <a:gd name="T76" fmla="*/ 0 w 199"/>
                <a:gd name="T77" fmla="*/ 0 h 232"/>
                <a:gd name="T78" fmla="*/ 0 w 199"/>
                <a:gd name="T79" fmla="*/ 0 h 232"/>
                <a:gd name="T80" fmla="*/ 0 w 199"/>
                <a:gd name="T81" fmla="*/ 0 h 232"/>
                <a:gd name="T82" fmla="*/ 0 w 199"/>
                <a:gd name="T83" fmla="*/ 0 h 232"/>
                <a:gd name="T84" fmla="*/ 0 w 199"/>
                <a:gd name="T85" fmla="*/ 0 h 232"/>
                <a:gd name="T86" fmla="*/ 0 w 199"/>
                <a:gd name="T87" fmla="*/ 0 h 232"/>
                <a:gd name="T88" fmla="*/ 0 w 199"/>
                <a:gd name="T89" fmla="*/ 0 h 232"/>
                <a:gd name="T90" fmla="*/ 0 w 199"/>
                <a:gd name="T91" fmla="*/ 0 h 232"/>
                <a:gd name="T92" fmla="*/ 0 w 199"/>
                <a:gd name="T93" fmla="*/ 0 h 232"/>
                <a:gd name="T94" fmla="*/ 0 w 199"/>
                <a:gd name="T95" fmla="*/ 0 h 232"/>
                <a:gd name="T96" fmla="*/ 0 w 199"/>
                <a:gd name="T97" fmla="*/ 0 h 23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99"/>
                <a:gd name="T148" fmla="*/ 0 h 232"/>
                <a:gd name="T149" fmla="*/ 199 w 199"/>
                <a:gd name="T150" fmla="*/ 232 h 23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1" name="Freeform 1012"/>
            <p:cNvSpPr/>
            <p:nvPr/>
          </p:nvSpPr>
          <p:spPr bwMode="auto">
            <a:xfrm>
              <a:off x="4395" y="3142"/>
              <a:ext cx="22" cy="30"/>
            </a:xfrm>
            <a:custGeom>
              <a:avLst/>
              <a:gdLst>
                <a:gd name="T0" fmla="*/ 0 w 128"/>
                <a:gd name="T1" fmla="*/ 0 h 180"/>
                <a:gd name="T2" fmla="*/ 0 w 128"/>
                <a:gd name="T3" fmla="*/ 0 h 180"/>
                <a:gd name="T4" fmla="*/ 0 w 128"/>
                <a:gd name="T5" fmla="*/ 0 h 180"/>
                <a:gd name="T6" fmla="*/ 0 w 128"/>
                <a:gd name="T7" fmla="*/ 0 h 180"/>
                <a:gd name="T8" fmla="*/ 0 w 128"/>
                <a:gd name="T9" fmla="*/ 0 h 180"/>
                <a:gd name="T10" fmla="*/ 0 w 128"/>
                <a:gd name="T11" fmla="*/ 0 h 180"/>
                <a:gd name="T12" fmla="*/ 0 w 128"/>
                <a:gd name="T13" fmla="*/ 0 h 180"/>
                <a:gd name="T14" fmla="*/ 0 w 128"/>
                <a:gd name="T15" fmla="*/ 0 h 180"/>
                <a:gd name="T16" fmla="*/ 0 w 128"/>
                <a:gd name="T17" fmla="*/ 0 h 180"/>
                <a:gd name="T18" fmla="*/ 0 w 128"/>
                <a:gd name="T19" fmla="*/ 0 h 180"/>
                <a:gd name="T20" fmla="*/ 0 w 128"/>
                <a:gd name="T21" fmla="*/ 0 h 180"/>
                <a:gd name="T22" fmla="*/ 0 w 128"/>
                <a:gd name="T23" fmla="*/ 0 h 180"/>
                <a:gd name="T24" fmla="*/ 0 w 128"/>
                <a:gd name="T25" fmla="*/ 0 h 180"/>
                <a:gd name="T26" fmla="*/ 0 w 128"/>
                <a:gd name="T27" fmla="*/ 0 h 180"/>
                <a:gd name="T28" fmla="*/ 0 w 128"/>
                <a:gd name="T29" fmla="*/ 0 h 180"/>
                <a:gd name="T30" fmla="*/ 0 w 128"/>
                <a:gd name="T31" fmla="*/ 0 h 180"/>
                <a:gd name="T32" fmla="*/ 0 w 128"/>
                <a:gd name="T33" fmla="*/ 0 h 180"/>
                <a:gd name="T34" fmla="*/ 0 w 128"/>
                <a:gd name="T35" fmla="*/ 0 h 180"/>
                <a:gd name="T36" fmla="*/ 0 w 128"/>
                <a:gd name="T37" fmla="*/ 0 h 180"/>
                <a:gd name="T38" fmla="*/ 0 w 128"/>
                <a:gd name="T39" fmla="*/ 0 h 180"/>
                <a:gd name="T40" fmla="*/ 0 w 128"/>
                <a:gd name="T41" fmla="*/ 0 h 180"/>
                <a:gd name="T42" fmla="*/ 0 w 128"/>
                <a:gd name="T43" fmla="*/ 0 h 180"/>
                <a:gd name="T44" fmla="*/ 0 w 128"/>
                <a:gd name="T45" fmla="*/ 0 h 180"/>
                <a:gd name="T46" fmla="*/ 0 w 128"/>
                <a:gd name="T47" fmla="*/ 0 h 180"/>
                <a:gd name="T48" fmla="*/ 0 w 128"/>
                <a:gd name="T49" fmla="*/ 0 h 180"/>
                <a:gd name="T50" fmla="*/ 0 w 128"/>
                <a:gd name="T51" fmla="*/ 0 h 180"/>
                <a:gd name="T52" fmla="*/ 0 w 128"/>
                <a:gd name="T53" fmla="*/ 0 h 180"/>
                <a:gd name="T54" fmla="*/ 0 w 128"/>
                <a:gd name="T55" fmla="*/ 0 h 180"/>
                <a:gd name="T56" fmla="*/ 0 w 128"/>
                <a:gd name="T57" fmla="*/ 0 h 180"/>
                <a:gd name="T58" fmla="*/ 0 w 128"/>
                <a:gd name="T59" fmla="*/ 0 h 180"/>
                <a:gd name="T60" fmla="*/ 0 w 128"/>
                <a:gd name="T61" fmla="*/ 0 h 180"/>
                <a:gd name="T62" fmla="*/ 0 w 128"/>
                <a:gd name="T63" fmla="*/ 0 h 180"/>
                <a:gd name="T64" fmla="*/ 0 w 128"/>
                <a:gd name="T65" fmla="*/ 0 h 180"/>
                <a:gd name="T66" fmla="*/ 0 w 128"/>
                <a:gd name="T67" fmla="*/ 0 h 180"/>
                <a:gd name="T68" fmla="*/ 0 w 128"/>
                <a:gd name="T69" fmla="*/ 0 h 180"/>
                <a:gd name="T70" fmla="*/ 0 w 128"/>
                <a:gd name="T71" fmla="*/ 0 h 180"/>
                <a:gd name="T72" fmla="*/ 0 w 128"/>
                <a:gd name="T73" fmla="*/ 0 h 180"/>
                <a:gd name="T74" fmla="*/ 0 w 128"/>
                <a:gd name="T75" fmla="*/ 0 h 180"/>
                <a:gd name="T76" fmla="*/ 0 w 128"/>
                <a:gd name="T77" fmla="*/ 0 h 180"/>
                <a:gd name="T78" fmla="*/ 0 w 128"/>
                <a:gd name="T79" fmla="*/ 0 h 180"/>
                <a:gd name="T80" fmla="*/ 0 w 128"/>
                <a:gd name="T81" fmla="*/ 0 h 18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0"/>
                <a:gd name="T125" fmla="*/ 128 w 128"/>
                <a:gd name="T126" fmla="*/ 180 h 18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2" name="Freeform 1013"/>
            <p:cNvSpPr/>
            <p:nvPr/>
          </p:nvSpPr>
          <p:spPr bwMode="auto">
            <a:xfrm>
              <a:off x="4318" y="3135"/>
              <a:ext cx="54" cy="63"/>
            </a:xfrm>
            <a:custGeom>
              <a:avLst/>
              <a:gdLst>
                <a:gd name="T0" fmla="*/ 0 w 322"/>
                <a:gd name="T1" fmla="*/ 0 h 378"/>
                <a:gd name="T2" fmla="*/ 0 w 322"/>
                <a:gd name="T3" fmla="*/ 0 h 378"/>
                <a:gd name="T4" fmla="*/ 0 w 322"/>
                <a:gd name="T5" fmla="*/ 0 h 378"/>
                <a:gd name="T6" fmla="*/ 0 w 322"/>
                <a:gd name="T7" fmla="*/ 0 h 378"/>
                <a:gd name="T8" fmla="*/ 0 w 322"/>
                <a:gd name="T9" fmla="*/ 0 h 378"/>
                <a:gd name="T10" fmla="*/ 0 w 322"/>
                <a:gd name="T11" fmla="*/ 0 h 378"/>
                <a:gd name="T12" fmla="*/ 0 w 322"/>
                <a:gd name="T13" fmla="*/ 0 h 378"/>
                <a:gd name="T14" fmla="*/ 0 w 322"/>
                <a:gd name="T15" fmla="*/ 0 h 378"/>
                <a:gd name="T16" fmla="*/ 0 w 322"/>
                <a:gd name="T17" fmla="*/ 0 h 378"/>
                <a:gd name="T18" fmla="*/ 0 w 322"/>
                <a:gd name="T19" fmla="*/ 0 h 378"/>
                <a:gd name="T20" fmla="*/ 0 w 322"/>
                <a:gd name="T21" fmla="*/ 0 h 378"/>
                <a:gd name="T22" fmla="*/ 0 w 322"/>
                <a:gd name="T23" fmla="*/ 0 h 378"/>
                <a:gd name="T24" fmla="*/ 0 w 322"/>
                <a:gd name="T25" fmla="*/ 0 h 378"/>
                <a:gd name="T26" fmla="*/ 0 w 322"/>
                <a:gd name="T27" fmla="*/ 0 h 378"/>
                <a:gd name="T28" fmla="*/ 0 w 322"/>
                <a:gd name="T29" fmla="*/ 0 h 378"/>
                <a:gd name="T30" fmla="*/ 0 w 322"/>
                <a:gd name="T31" fmla="*/ 0 h 378"/>
                <a:gd name="T32" fmla="*/ 0 w 322"/>
                <a:gd name="T33" fmla="*/ 0 h 378"/>
                <a:gd name="T34" fmla="*/ 0 w 322"/>
                <a:gd name="T35" fmla="*/ 0 h 378"/>
                <a:gd name="T36" fmla="*/ 0 w 322"/>
                <a:gd name="T37" fmla="*/ 0 h 378"/>
                <a:gd name="T38" fmla="*/ 0 w 322"/>
                <a:gd name="T39" fmla="*/ 0 h 378"/>
                <a:gd name="T40" fmla="*/ 0 w 322"/>
                <a:gd name="T41" fmla="*/ 0 h 378"/>
                <a:gd name="T42" fmla="*/ 0 w 322"/>
                <a:gd name="T43" fmla="*/ 0 h 378"/>
                <a:gd name="T44" fmla="*/ 0 w 322"/>
                <a:gd name="T45" fmla="*/ 0 h 378"/>
                <a:gd name="T46" fmla="*/ 0 w 322"/>
                <a:gd name="T47" fmla="*/ 0 h 378"/>
                <a:gd name="T48" fmla="*/ 0 w 322"/>
                <a:gd name="T49" fmla="*/ 0 h 378"/>
                <a:gd name="T50" fmla="*/ 0 w 322"/>
                <a:gd name="T51" fmla="*/ 0 h 378"/>
                <a:gd name="T52" fmla="*/ 0 w 322"/>
                <a:gd name="T53" fmla="*/ 0 h 378"/>
                <a:gd name="T54" fmla="*/ 0 w 322"/>
                <a:gd name="T55" fmla="*/ 0 h 378"/>
                <a:gd name="T56" fmla="*/ 0 w 322"/>
                <a:gd name="T57" fmla="*/ 0 h 378"/>
                <a:gd name="T58" fmla="*/ 0 w 322"/>
                <a:gd name="T59" fmla="*/ 0 h 378"/>
                <a:gd name="T60" fmla="*/ 0 w 322"/>
                <a:gd name="T61" fmla="*/ 0 h 378"/>
                <a:gd name="T62" fmla="*/ 0 w 322"/>
                <a:gd name="T63" fmla="*/ 0 h 378"/>
                <a:gd name="T64" fmla="*/ 0 w 322"/>
                <a:gd name="T65" fmla="*/ 0 h 378"/>
                <a:gd name="T66" fmla="*/ 0 w 322"/>
                <a:gd name="T67" fmla="*/ 0 h 378"/>
                <a:gd name="T68" fmla="*/ 0 w 322"/>
                <a:gd name="T69" fmla="*/ 0 h 378"/>
                <a:gd name="T70" fmla="*/ 0 w 322"/>
                <a:gd name="T71" fmla="*/ 0 h 378"/>
                <a:gd name="T72" fmla="*/ 0 w 322"/>
                <a:gd name="T73" fmla="*/ 0 h 378"/>
                <a:gd name="T74" fmla="*/ 0 w 322"/>
                <a:gd name="T75" fmla="*/ 0 h 378"/>
                <a:gd name="T76" fmla="*/ 0 w 322"/>
                <a:gd name="T77" fmla="*/ 0 h 378"/>
                <a:gd name="T78" fmla="*/ 0 w 322"/>
                <a:gd name="T79" fmla="*/ 0 h 378"/>
                <a:gd name="T80" fmla="*/ 0 w 322"/>
                <a:gd name="T81" fmla="*/ 0 h 378"/>
                <a:gd name="T82" fmla="*/ 0 w 322"/>
                <a:gd name="T83" fmla="*/ 0 h 378"/>
                <a:gd name="T84" fmla="*/ 0 w 322"/>
                <a:gd name="T85" fmla="*/ 0 h 378"/>
                <a:gd name="T86" fmla="*/ 0 w 322"/>
                <a:gd name="T87" fmla="*/ 0 h 37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2"/>
                <a:gd name="T133" fmla="*/ 0 h 378"/>
                <a:gd name="T134" fmla="*/ 322 w 322"/>
                <a:gd name="T135" fmla="*/ 378 h 37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3" name="Freeform 1014"/>
            <p:cNvSpPr/>
            <p:nvPr/>
          </p:nvSpPr>
          <p:spPr bwMode="auto">
            <a:xfrm>
              <a:off x="4394" y="3133"/>
              <a:ext cx="47" cy="42"/>
            </a:xfrm>
            <a:custGeom>
              <a:avLst/>
              <a:gdLst>
                <a:gd name="T0" fmla="*/ 0 w 283"/>
                <a:gd name="T1" fmla="*/ 0 h 252"/>
                <a:gd name="T2" fmla="*/ 0 w 283"/>
                <a:gd name="T3" fmla="*/ 0 h 252"/>
                <a:gd name="T4" fmla="*/ 0 w 283"/>
                <a:gd name="T5" fmla="*/ 0 h 252"/>
                <a:gd name="T6" fmla="*/ 0 w 283"/>
                <a:gd name="T7" fmla="*/ 0 h 252"/>
                <a:gd name="T8" fmla="*/ 0 w 283"/>
                <a:gd name="T9" fmla="*/ 0 h 252"/>
                <a:gd name="T10" fmla="*/ 0 w 283"/>
                <a:gd name="T11" fmla="*/ 0 h 252"/>
                <a:gd name="T12" fmla="*/ 0 w 283"/>
                <a:gd name="T13" fmla="*/ 0 h 252"/>
                <a:gd name="T14" fmla="*/ 0 w 283"/>
                <a:gd name="T15" fmla="*/ 0 h 252"/>
                <a:gd name="T16" fmla="*/ 0 w 283"/>
                <a:gd name="T17" fmla="*/ 0 h 252"/>
                <a:gd name="T18" fmla="*/ 0 w 283"/>
                <a:gd name="T19" fmla="*/ 0 h 252"/>
                <a:gd name="T20" fmla="*/ 0 w 283"/>
                <a:gd name="T21" fmla="*/ 0 h 252"/>
                <a:gd name="T22" fmla="*/ 0 w 283"/>
                <a:gd name="T23" fmla="*/ 0 h 252"/>
                <a:gd name="T24" fmla="*/ 0 w 283"/>
                <a:gd name="T25" fmla="*/ 0 h 252"/>
                <a:gd name="T26" fmla="*/ 0 w 283"/>
                <a:gd name="T27" fmla="*/ 0 h 252"/>
                <a:gd name="T28" fmla="*/ 0 w 283"/>
                <a:gd name="T29" fmla="*/ 0 h 252"/>
                <a:gd name="T30" fmla="*/ 0 w 283"/>
                <a:gd name="T31" fmla="*/ 0 h 252"/>
                <a:gd name="T32" fmla="*/ 0 w 283"/>
                <a:gd name="T33" fmla="*/ 0 h 252"/>
                <a:gd name="T34" fmla="*/ 0 w 283"/>
                <a:gd name="T35" fmla="*/ 0 h 252"/>
                <a:gd name="T36" fmla="*/ 0 w 283"/>
                <a:gd name="T37" fmla="*/ 0 h 252"/>
                <a:gd name="T38" fmla="*/ 0 w 283"/>
                <a:gd name="T39" fmla="*/ 0 h 252"/>
                <a:gd name="T40" fmla="*/ 0 w 283"/>
                <a:gd name="T41" fmla="*/ 0 h 252"/>
                <a:gd name="T42" fmla="*/ 0 w 283"/>
                <a:gd name="T43" fmla="*/ 0 h 252"/>
                <a:gd name="T44" fmla="*/ 0 w 283"/>
                <a:gd name="T45" fmla="*/ 0 h 252"/>
                <a:gd name="T46" fmla="*/ 0 w 283"/>
                <a:gd name="T47" fmla="*/ 0 h 252"/>
                <a:gd name="T48" fmla="*/ 0 w 283"/>
                <a:gd name="T49" fmla="*/ 0 h 252"/>
                <a:gd name="T50" fmla="*/ 0 w 283"/>
                <a:gd name="T51" fmla="*/ 0 h 252"/>
                <a:gd name="T52" fmla="*/ 0 w 283"/>
                <a:gd name="T53" fmla="*/ 0 h 252"/>
                <a:gd name="T54" fmla="*/ 0 w 283"/>
                <a:gd name="T55" fmla="*/ 0 h 252"/>
                <a:gd name="T56" fmla="*/ 0 w 283"/>
                <a:gd name="T57" fmla="*/ 0 h 252"/>
                <a:gd name="T58" fmla="*/ 0 w 283"/>
                <a:gd name="T59" fmla="*/ 0 h 252"/>
                <a:gd name="T60" fmla="*/ 0 w 283"/>
                <a:gd name="T61" fmla="*/ 0 h 252"/>
                <a:gd name="T62" fmla="*/ 0 w 283"/>
                <a:gd name="T63" fmla="*/ 0 h 252"/>
                <a:gd name="T64" fmla="*/ 0 w 283"/>
                <a:gd name="T65" fmla="*/ 0 h 252"/>
                <a:gd name="T66" fmla="*/ 0 w 283"/>
                <a:gd name="T67" fmla="*/ 0 h 252"/>
                <a:gd name="T68" fmla="*/ 0 w 283"/>
                <a:gd name="T69" fmla="*/ 0 h 252"/>
                <a:gd name="T70" fmla="*/ 0 w 283"/>
                <a:gd name="T71" fmla="*/ 0 h 252"/>
                <a:gd name="T72" fmla="*/ 0 w 283"/>
                <a:gd name="T73" fmla="*/ 0 h 252"/>
                <a:gd name="T74" fmla="*/ 0 w 283"/>
                <a:gd name="T75" fmla="*/ 0 h 252"/>
                <a:gd name="T76" fmla="*/ 0 w 283"/>
                <a:gd name="T77" fmla="*/ 0 h 252"/>
                <a:gd name="T78" fmla="*/ 0 w 283"/>
                <a:gd name="T79" fmla="*/ 0 h 252"/>
                <a:gd name="T80" fmla="*/ 0 w 283"/>
                <a:gd name="T81" fmla="*/ 0 h 252"/>
                <a:gd name="T82" fmla="*/ 0 w 283"/>
                <a:gd name="T83" fmla="*/ 0 h 252"/>
                <a:gd name="T84" fmla="*/ 0 w 283"/>
                <a:gd name="T85" fmla="*/ 0 h 252"/>
                <a:gd name="T86" fmla="*/ 0 w 283"/>
                <a:gd name="T87" fmla="*/ 0 h 252"/>
                <a:gd name="T88" fmla="*/ 0 w 283"/>
                <a:gd name="T89" fmla="*/ 0 h 252"/>
                <a:gd name="T90" fmla="*/ 0 w 283"/>
                <a:gd name="T91" fmla="*/ 0 h 252"/>
                <a:gd name="T92" fmla="*/ 0 w 283"/>
                <a:gd name="T93" fmla="*/ 0 h 252"/>
                <a:gd name="T94" fmla="*/ 0 w 283"/>
                <a:gd name="T95" fmla="*/ 0 h 252"/>
                <a:gd name="T96" fmla="*/ 0 w 283"/>
                <a:gd name="T97" fmla="*/ 0 h 252"/>
                <a:gd name="T98" fmla="*/ 0 w 283"/>
                <a:gd name="T99" fmla="*/ 0 h 252"/>
                <a:gd name="T100" fmla="*/ 0 w 283"/>
                <a:gd name="T101" fmla="*/ 0 h 252"/>
                <a:gd name="T102" fmla="*/ 0 w 283"/>
                <a:gd name="T103" fmla="*/ 0 h 252"/>
                <a:gd name="T104" fmla="*/ 0 w 283"/>
                <a:gd name="T105" fmla="*/ 0 h 252"/>
                <a:gd name="T106" fmla="*/ 0 w 283"/>
                <a:gd name="T107" fmla="*/ 0 h 252"/>
                <a:gd name="T108" fmla="*/ 0 w 283"/>
                <a:gd name="T109" fmla="*/ 0 h 252"/>
                <a:gd name="T110" fmla="*/ 0 w 283"/>
                <a:gd name="T111" fmla="*/ 0 h 252"/>
                <a:gd name="T112" fmla="*/ 0 w 283"/>
                <a:gd name="T113" fmla="*/ 0 h 252"/>
                <a:gd name="T114" fmla="*/ 0 w 283"/>
                <a:gd name="T115" fmla="*/ 0 h 252"/>
                <a:gd name="T116" fmla="*/ 0 w 283"/>
                <a:gd name="T117" fmla="*/ 0 h 252"/>
                <a:gd name="T118" fmla="*/ 0 w 283"/>
                <a:gd name="T119" fmla="*/ 0 h 252"/>
                <a:gd name="T120" fmla="*/ 0 w 283"/>
                <a:gd name="T121" fmla="*/ 0 h 2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3"/>
                <a:gd name="T184" fmla="*/ 0 h 252"/>
                <a:gd name="T185" fmla="*/ 283 w 283"/>
                <a:gd name="T186" fmla="*/ 252 h 25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4" name="Freeform 1015"/>
            <p:cNvSpPr/>
            <p:nvPr/>
          </p:nvSpPr>
          <p:spPr bwMode="auto">
            <a:xfrm>
              <a:off x="4298" y="3153"/>
              <a:ext cx="19" cy="39"/>
            </a:xfrm>
            <a:custGeom>
              <a:avLst/>
              <a:gdLst>
                <a:gd name="T0" fmla="*/ 0 w 114"/>
                <a:gd name="T1" fmla="*/ 0 h 238"/>
                <a:gd name="T2" fmla="*/ 0 w 114"/>
                <a:gd name="T3" fmla="*/ 0 h 238"/>
                <a:gd name="T4" fmla="*/ 0 w 114"/>
                <a:gd name="T5" fmla="*/ 0 h 238"/>
                <a:gd name="T6" fmla="*/ 0 w 114"/>
                <a:gd name="T7" fmla="*/ 0 h 238"/>
                <a:gd name="T8" fmla="*/ 0 w 114"/>
                <a:gd name="T9" fmla="*/ 0 h 238"/>
                <a:gd name="T10" fmla="*/ 0 w 114"/>
                <a:gd name="T11" fmla="*/ 0 h 238"/>
                <a:gd name="T12" fmla="*/ 0 w 114"/>
                <a:gd name="T13" fmla="*/ 0 h 238"/>
                <a:gd name="T14" fmla="*/ 0 w 114"/>
                <a:gd name="T15" fmla="*/ 0 h 238"/>
                <a:gd name="T16" fmla="*/ 0 w 114"/>
                <a:gd name="T17" fmla="*/ 0 h 238"/>
                <a:gd name="T18" fmla="*/ 0 w 114"/>
                <a:gd name="T19" fmla="*/ 0 h 238"/>
                <a:gd name="T20" fmla="*/ 0 w 114"/>
                <a:gd name="T21" fmla="*/ 0 h 238"/>
                <a:gd name="T22" fmla="*/ 0 w 114"/>
                <a:gd name="T23" fmla="*/ 0 h 238"/>
                <a:gd name="T24" fmla="*/ 0 w 114"/>
                <a:gd name="T25" fmla="*/ 0 h 238"/>
                <a:gd name="T26" fmla="*/ 0 w 114"/>
                <a:gd name="T27" fmla="*/ 0 h 238"/>
                <a:gd name="T28" fmla="*/ 0 w 114"/>
                <a:gd name="T29" fmla="*/ 0 h 238"/>
                <a:gd name="T30" fmla="*/ 0 w 114"/>
                <a:gd name="T31" fmla="*/ 0 h 238"/>
                <a:gd name="T32" fmla="*/ 0 w 114"/>
                <a:gd name="T33" fmla="*/ 0 h 238"/>
                <a:gd name="T34" fmla="*/ 0 w 114"/>
                <a:gd name="T35" fmla="*/ 0 h 238"/>
                <a:gd name="T36" fmla="*/ 0 w 114"/>
                <a:gd name="T37" fmla="*/ 0 h 238"/>
                <a:gd name="T38" fmla="*/ 0 w 114"/>
                <a:gd name="T39" fmla="*/ 0 h 238"/>
                <a:gd name="T40" fmla="*/ 0 w 114"/>
                <a:gd name="T41" fmla="*/ 0 h 238"/>
                <a:gd name="T42" fmla="*/ 0 w 114"/>
                <a:gd name="T43" fmla="*/ 0 h 238"/>
                <a:gd name="T44" fmla="*/ 0 w 114"/>
                <a:gd name="T45" fmla="*/ 0 h 238"/>
                <a:gd name="T46" fmla="*/ 0 w 114"/>
                <a:gd name="T47" fmla="*/ 0 h 238"/>
                <a:gd name="T48" fmla="*/ 0 w 114"/>
                <a:gd name="T49" fmla="*/ 0 h 238"/>
                <a:gd name="T50" fmla="*/ 0 w 114"/>
                <a:gd name="T51" fmla="*/ 0 h 238"/>
                <a:gd name="T52" fmla="*/ 0 w 114"/>
                <a:gd name="T53" fmla="*/ 0 h 238"/>
                <a:gd name="T54" fmla="*/ 0 w 114"/>
                <a:gd name="T55" fmla="*/ 0 h 238"/>
                <a:gd name="T56" fmla="*/ 0 w 114"/>
                <a:gd name="T57" fmla="*/ 0 h 238"/>
                <a:gd name="T58" fmla="*/ 0 w 114"/>
                <a:gd name="T59" fmla="*/ 0 h 238"/>
                <a:gd name="T60" fmla="*/ 0 w 114"/>
                <a:gd name="T61" fmla="*/ 0 h 238"/>
                <a:gd name="T62" fmla="*/ 0 w 114"/>
                <a:gd name="T63" fmla="*/ 0 h 238"/>
                <a:gd name="T64" fmla="*/ 0 w 114"/>
                <a:gd name="T65" fmla="*/ 0 h 238"/>
                <a:gd name="T66" fmla="*/ 0 w 114"/>
                <a:gd name="T67" fmla="*/ 0 h 238"/>
                <a:gd name="T68" fmla="*/ 0 w 114"/>
                <a:gd name="T69" fmla="*/ 0 h 238"/>
                <a:gd name="T70" fmla="*/ 0 w 114"/>
                <a:gd name="T71" fmla="*/ 0 h 238"/>
                <a:gd name="T72" fmla="*/ 0 w 114"/>
                <a:gd name="T73" fmla="*/ 0 h 238"/>
                <a:gd name="T74" fmla="*/ 0 w 114"/>
                <a:gd name="T75" fmla="*/ 0 h 238"/>
                <a:gd name="T76" fmla="*/ 0 w 114"/>
                <a:gd name="T77" fmla="*/ 0 h 238"/>
                <a:gd name="T78" fmla="*/ 0 w 114"/>
                <a:gd name="T79" fmla="*/ 0 h 238"/>
                <a:gd name="T80" fmla="*/ 0 w 114"/>
                <a:gd name="T81" fmla="*/ 0 h 2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4"/>
                <a:gd name="T124" fmla="*/ 0 h 238"/>
                <a:gd name="T125" fmla="*/ 114 w 114"/>
                <a:gd name="T126" fmla="*/ 238 h 2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5" name="Freeform 1016"/>
            <p:cNvSpPr/>
            <p:nvPr/>
          </p:nvSpPr>
          <p:spPr bwMode="auto">
            <a:xfrm>
              <a:off x="4432" y="3130"/>
              <a:ext cx="41" cy="52"/>
            </a:xfrm>
            <a:custGeom>
              <a:avLst/>
              <a:gdLst>
                <a:gd name="T0" fmla="*/ 0 w 246"/>
                <a:gd name="T1" fmla="*/ 0 h 310"/>
                <a:gd name="T2" fmla="*/ 0 w 246"/>
                <a:gd name="T3" fmla="*/ 0 h 310"/>
                <a:gd name="T4" fmla="*/ 0 w 246"/>
                <a:gd name="T5" fmla="*/ 0 h 310"/>
                <a:gd name="T6" fmla="*/ 0 w 246"/>
                <a:gd name="T7" fmla="*/ 0 h 310"/>
                <a:gd name="T8" fmla="*/ 0 w 246"/>
                <a:gd name="T9" fmla="*/ 0 h 310"/>
                <a:gd name="T10" fmla="*/ 0 w 246"/>
                <a:gd name="T11" fmla="*/ 0 h 310"/>
                <a:gd name="T12" fmla="*/ 0 w 246"/>
                <a:gd name="T13" fmla="*/ 0 h 310"/>
                <a:gd name="T14" fmla="*/ 0 w 246"/>
                <a:gd name="T15" fmla="*/ 0 h 310"/>
                <a:gd name="T16" fmla="*/ 0 w 246"/>
                <a:gd name="T17" fmla="*/ 0 h 310"/>
                <a:gd name="T18" fmla="*/ 0 w 246"/>
                <a:gd name="T19" fmla="*/ 0 h 310"/>
                <a:gd name="T20" fmla="*/ 0 w 246"/>
                <a:gd name="T21" fmla="*/ 0 h 310"/>
                <a:gd name="T22" fmla="*/ 0 w 246"/>
                <a:gd name="T23" fmla="*/ 0 h 310"/>
                <a:gd name="T24" fmla="*/ 0 w 246"/>
                <a:gd name="T25" fmla="*/ 0 h 310"/>
                <a:gd name="T26" fmla="*/ 0 w 246"/>
                <a:gd name="T27" fmla="*/ 0 h 310"/>
                <a:gd name="T28" fmla="*/ 0 w 246"/>
                <a:gd name="T29" fmla="*/ 0 h 310"/>
                <a:gd name="T30" fmla="*/ 0 w 246"/>
                <a:gd name="T31" fmla="*/ 0 h 310"/>
                <a:gd name="T32" fmla="*/ 0 w 246"/>
                <a:gd name="T33" fmla="*/ 0 h 310"/>
                <a:gd name="T34" fmla="*/ 0 w 246"/>
                <a:gd name="T35" fmla="*/ 0 h 310"/>
                <a:gd name="T36" fmla="*/ 0 w 246"/>
                <a:gd name="T37" fmla="*/ 0 h 310"/>
                <a:gd name="T38" fmla="*/ 0 w 246"/>
                <a:gd name="T39" fmla="*/ 0 h 310"/>
                <a:gd name="T40" fmla="*/ 0 w 246"/>
                <a:gd name="T41" fmla="*/ 0 h 310"/>
                <a:gd name="T42" fmla="*/ 0 w 246"/>
                <a:gd name="T43" fmla="*/ 0 h 310"/>
                <a:gd name="T44" fmla="*/ 0 w 246"/>
                <a:gd name="T45" fmla="*/ 0 h 310"/>
                <a:gd name="T46" fmla="*/ 0 w 246"/>
                <a:gd name="T47" fmla="*/ 0 h 310"/>
                <a:gd name="T48" fmla="*/ 0 w 246"/>
                <a:gd name="T49" fmla="*/ 0 h 310"/>
                <a:gd name="T50" fmla="*/ 0 w 246"/>
                <a:gd name="T51" fmla="*/ 0 h 310"/>
                <a:gd name="T52" fmla="*/ 0 w 246"/>
                <a:gd name="T53" fmla="*/ 0 h 310"/>
                <a:gd name="T54" fmla="*/ 0 w 246"/>
                <a:gd name="T55" fmla="*/ 0 h 310"/>
                <a:gd name="T56" fmla="*/ 0 w 246"/>
                <a:gd name="T57" fmla="*/ 0 h 310"/>
                <a:gd name="T58" fmla="*/ 0 w 246"/>
                <a:gd name="T59" fmla="*/ 0 h 310"/>
                <a:gd name="T60" fmla="*/ 0 w 246"/>
                <a:gd name="T61" fmla="*/ 0 h 310"/>
                <a:gd name="T62" fmla="*/ 0 w 246"/>
                <a:gd name="T63" fmla="*/ 0 h 310"/>
                <a:gd name="T64" fmla="*/ 0 w 246"/>
                <a:gd name="T65" fmla="*/ 0 h 310"/>
                <a:gd name="T66" fmla="*/ 0 w 246"/>
                <a:gd name="T67" fmla="*/ 0 h 310"/>
                <a:gd name="T68" fmla="*/ 0 w 246"/>
                <a:gd name="T69" fmla="*/ 0 h 310"/>
                <a:gd name="T70" fmla="*/ 0 w 246"/>
                <a:gd name="T71" fmla="*/ 0 h 310"/>
                <a:gd name="T72" fmla="*/ 0 w 246"/>
                <a:gd name="T73" fmla="*/ 0 h 310"/>
                <a:gd name="T74" fmla="*/ 0 w 246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6"/>
                <a:gd name="T115" fmla="*/ 0 h 310"/>
                <a:gd name="T116" fmla="*/ 246 w 246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6" name="Freeform 1017"/>
            <p:cNvSpPr/>
            <p:nvPr/>
          </p:nvSpPr>
          <p:spPr bwMode="auto">
            <a:xfrm>
              <a:off x="4387" y="3191"/>
              <a:ext cx="14" cy="31"/>
            </a:xfrm>
            <a:custGeom>
              <a:avLst/>
              <a:gdLst>
                <a:gd name="T0" fmla="*/ 0 w 83"/>
                <a:gd name="T1" fmla="*/ 0 h 187"/>
                <a:gd name="T2" fmla="*/ 0 w 83"/>
                <a:gd name="T3" fmla="*/ 0 h 187"/>
                <a:gd name="T4" fmla="*/ 0 w 83"/>
                <a:gd name="T5" fmla="*/ 0 h 187"/>
                <a:gd name="T6" fmla="*/ 0 w 83"/>
                <a:gd name="T7" fmla="*/ 0 h 187"/>
                <a:gd name="T8" fmla="*/ 0 w 83"/>
                <a:gd name="T9" fmla="*/ 0 h 187"/>
                <a:gd name="T10" fmla="*/ 0 w 83"/>
                <a:gd name="T11" fmla="*/ 0 h 187"/>
                <a:gd name="T12" fmla="*/ 0 w 83"/>
                <a:gd name="T13" fmla="*/ 0 h 187"/>
                <a:gd name="T14" fmla="*/ 0 w 83"/>
                <a:gd name="T15" fmla="*/ 0 h 187"/>
                <a:gd name="T16" fmla="*/ 0 w 83"/>
                <a:gd name="T17" fmla="*/ 0 h 187"/>
                <a:gd name="T18" fmla="*/ 0 w 83"/>
                <a:gd name="T19" fmla="*/ 0 h 187"/>
                <a:gd name="T20" fmla="*/ 0 w 83"/>
                <a:gd name="T21" fmla="*/ 0 h 187"/>
                <a:gd name="T22" fmla="*/ 0 w 83"/>
                <a:gd name="T23" fmla="*/ 0 h 187"/>
                <a:gd name="T24" fmla="*/ 0 w 83"/>
                <a:gd name="T25" fmla="*/ 0 h 187"/>
                <a:gd name="T26" fmla="*/ 0 w 83"/>
                <a:gd name="T27" fmla="*/ 0 h 187"/>
                <a:gd name="T28" fmla="*/ 0 w 83"/>
                <a:gd name="T29" fmla="*/ 0 h 187"/>
                <a:gd name="T30" fmla="*/ 0 w 83"/>
                <a:gd name="T31" fmla="*/ 0 h 187"/>
                <a:gd name="T32" fmla="*/ 0 w 83"/>
                <a:gd name="T33" fmla="*/ 0 h 187"/>
                <a:gd name="T34" fmla="*/ 0 w 83"/>
                <a:gd name="T35" fmla="*/ 0 h 187"/>
                <a:gd name="T36" fmla="*/ 0 w 83"/>
                <a:gd name="T37" fmla="*/ 0 h 187"/>
                <a:gd name="T38" fmla="*/ 0 w 83"/>
                <a:gd name="T39" fmla="*/ 0 h 187"/>
                <a:gd name="T40" fmla="*/ 0 w 83"/>
                <a:gd name="T41" fmla="*/ 0 h 187"/>
                <a:gd name="T42" fmla="*/ 0 w 83"/>
                <a:gd name="T43" fmla="*/ 0 h 187"/>
                <a:gd name="T44" fmla="*/ 0 w 83"/>
                <a:gd name="T45" fmla="*/ 0 h 187"/>
                <a:gd name="T46" fmla="*/ 0 w 83"/>
                <a:gd name="T47" fmla="*/ 0 h 187"/>
                <a:gd name="T48" fmla="*/ 0 w 83"/>
                <a:gd name="T49" fmla="*/ 0 h 1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3"/>
                <a:gd name="T76" fmla="*/ 0 h 187"/>
                <a:gd name="T77" fmla="*/ 83 w 83"/>
                <a:gd name="T78" fmla="*/ 187 h 18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7" name="Freeform 1018"/>
            <p:cNvSpPr/>
            <p:nvPr/>
          </p:nvSpPr>
          <p:spPr bwMode="auto">
            <a:xfrm>
              <a:off x="4381" y="3174"/>
              <a:ext cx="7" cy="16"/>
            </a:xfrm>
            <a:custGeom>
              <a:avLst/>
              <a:gdLst>
                <a:gd name="T0" fmla="*/ 0 w 44"/>
                <a:gd name="T1" fmla="*/ 0 h 94"/>
                <a:gd name="T2" fmla="*/ 0 w 44"/>
                <a:gd name="T3" fmla="*/ 0 h 94"/>
                <a:gd name="T4" fmla="*/ 0 w 44"/>
                <a:gd name="T5" fmla="*/ 0 h 94"/>
                <a:gd name="T6" fmla="*/ 0 w 44"/>
                <a:gd name="T7" fmla="*/ 0 h 94"/>
                <a:gd name="T8" fmla="*/ 0 w 44"/>
                <a:gd name="T9" fmla="*/ 0 h 94"/>
                <a:gd name="T10" fmla="*/ 0 w 44"/>
                <a:gd name="T11" fmla="*/ 0 h 94"/>
                <a:gd name="T12" fmla="*/ 0 w 44"/>
                <a:gd name="T13" fmla="*/ 0 h 94"/>
                <a:gd name="T14" fmla="*/ 0 w 44"/>
                <a:gd name="T15" fmla="*/ 0 h 94"/>
                <a:gd name="T16" fmla="*/ 0 w 44"/>
                <a:gd name="T17" fmla="*/ 0 h 94"/>
                <a:gd name="T18" fmla="*/ 0 w 44"/>
                <a:gd name="T19" fmla="*/ 0 h 94"/>
                <a:gd name="T20" fmla="*/ 0 w 44"/>
                <a:gd name="T21" fmla="*/ 0 h 94"/>
                <a:gd name="T22" fmla="*/ 0 w 44"/>
                <a:gd name="T23" fmla="*/ 0 h 94"/>
                <a:gd name="T24" fmla="*/ 0 w 44"/>
                <a:gd name="T25" fmla="*/ 0 h 94"/>
                <a:gd name="T26" fmla="*/ 0 w 44"/>
                <a:gd name="T27" fmla="*/ 0 h 94"/>
                <a:gd name="T28" fmla="*/ 0 w 44"/>
                <a:gd name="T29" fmla="*/ 0 h 94"/>
                <a:gd name="T30" fmla="*/ 0 w 44"/>
                <a:gd name="T31" fmla="*/ 0 h 94"/>
                <a:gd name="T32" fmla="*/ 0 w 44"/>
                <a:gd name="T33" fmla="*/ 0 h 94"/>
                <a:gd name="T34" fmla="*/ 0 w 44"/>
                <a:gd name="T35" fmla="*/ 0 h 94"/>
                <a:gd name="T36" fmla="*/ 0 w 44"/>
                <a:gd name="T37" fmla="*/ 0 h 94"/>
                <a:gd name="T38" fmla="*/ 0 w 44"/>
                <a:gd name="T39" fmla="*/ 0 h 94"/>
                <a:gd name="T40" fmla="*/ 0 w 44"/>
                <a:gd name="T41" fmla="*/ 0 h 9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"/>
                <a:gd name="T64" fmla="*/ 0 h 94"/>
                <a:gd name="T65" fmla="*/ 44 w 44"/>
                <a:gd name="T66" fmla="*/ 94 h 9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8" name="Freeform 1019"/>
            <p:cNvSpPr/>
            <p:nvPr/>
          </p:nvSpPr>
          <p:spPr bwMode="auto">
            <a:xfrm>
              <a:off x="4375" y="3163"/>
              <a:ext cx="6" cy="9"/>
            </a:xfrm>
            <a:custGeom>
              <a:avLst/>
              <a:gdLst>
                <a:gd name="T0" fmla="*/ 0 w 38"/>
                <a:gd name="T1" fmla="*/ 0 h 54"/>
                <a:gd name="T2" fmla="*/ 0 w 38"/>
                <a:gd name="T3" fmla="*/ 0 h 54"/>
                <a:gd name="T4" fmla="*/ 0 w 38"/>
                <a:gd name="T5" fmla="*/ 0 h 54"/>
                <a:gd name="T6" fmla="*/ 0 w 38"/>
                <a:gd name="T7" fmla="*/ 0 h 54"/>
                <a:gd name="T8" fmla="*/ 0 w 38"/>
                <a:gd name="T9" fmla="*/ 0 h 54"/>
                <a:gd name="T10" fmla="*/ 0 w 38"/>
                <a:gd name="T11" fmla="*/ 0 h 54"/>
                <a:gd name="T12" fmla="*/ 0 w 38"/>
                <a:gd name="T13" fmla="*/ 0 h 54"/>
                <a:gd name="T14" fmla="*/ 0 w 38"/>
                <a:gd name="T15" fmla="*/ 0 h 54"/>
                <a:gd name="T16" fmla="*/ 0 w 38"/>
                <a:gd name="T17" fmla="*/ 0 h 54"/>
                <a:gd name="T18" fmla="*/ 0 w 38"/>
                <a:gd name="T19" fmla="*/ 0 h 54"/>
                <a:gd name="T20" fmla="*/ 0 w 38"/>
                <a:gd name="T21" fmla="*/ 0 h 54"/>
                <a:gd name="T22" fmla="*/ 0 w 38"/>
                <a:gd name="T23" fmla="*/ 0 h 54"/>
                <a:gd name="T24" fmla="*/ 0 w 38"/>
                <a:gd name="T25" fmla="*/ 0 h 54"/>
                <a:gd name="T26" fmla="*/ 0 w 38"/>
                <a:gd name="T27" fmla="*/ 0 h 54"/>
                <a:gd name="T28" fmla="*/ 0 w 38"/>
                <a:gd name="T29" fmla="*/ 0 h 54"/>
                <a:gd name="T30" fmla="*/ 0 w 38"/>
                <a:gd name="T31" fmla="*/ 0 h 54"/>
                <a:gd name="T32" fmla="*/ 0 w 38"/>
                <a:gd name="T33" fmla="*/ 0 h 54"/>
                <a:gd name="T34" fmla="*/ 0 w 38"/>
                <a:gd name="T35" fmla="*/ 0 h 54"/>
                <a:gd name="T36" fmla="*/ 0 w 38"/>
                <a:gd name="T37" fmla="*/ 0 h 54"/>
                <a:gd name="T38" fmla="*/ 0 w 38"/>
                <a:gd name="T39" fmla="*/ 0 h 54"/>
                <a:gd name="T40" fmla="*/ 0 w 38"/>
                <a:gd name="T41" fmla="*/ 0 h 54"/>
                <a:gd name="T42" fmla="*/ 0 w 38"/>
                <a:gd name="T43" fmla="*/ 0 h 54"/>
                <a:gd name="T44" fmla="*/ 0 w 38"/>
                <a:gd name="T45" fmla="*/ 0 h 54"/>
                <a:gd name="T46" fmla="*/ 0 w 38"/>
                <a:gd name="T47" fmla="*/ 0 h 54"/>
                <a:gd name="T48" fmla="*/ 0 w 38"/>
                <a:gd name="T49" fmla="*/ 0 h 5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"/>
                <a:gd name="T76" fmla="*/ 0 h 54"/>
                <a:gd name="T77" fmla="*/ 38 w 38"/>
                <a:gd name="T78" fmla="*/ 54 h 5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9" name="Freeform 1020"/>
            <p:cNvSpPr/>
            <p:nvPr/>
          </p:nvSpPr>
          <p:spPr bwMode="auto">
            <a:xfrm>
              <a:off x="4370" y="3155"/>
              <a:ext cx="8" cy="6"/>
            </a:xfrm>
            <a:custGeom>
              <a:avLst/>
              <a:gdLst>
                <a:gd name="T0" fmla="*/ 0 w 52"/>
                <a:gd name="T1" fmla="*/ 0 h 36"/>
                <a:gd name="T2" fmla="*/ 0 w 52"/>
                <a:gd name="T3" fmla="*/ 0 h 36"/>
                <a:gd name="T4" fmla="*/ 0 w 52"/>
                <a:gd name="T5" fmla="*/ 0 h 36"/>
                <a:gd name="T6" fmla="*/ 0 w 52"/>
                <a:gd name="T7" fmla="*/ 0 h 36"/>
                <a:gd name="T8" fmla="*/ 0 w 52"/>
                <a:gd name="T9" fmla="*/ 0 h 36"/>
                <a:gd name="T10" fmla="*/ 0 w 52"/>
                <a:gd name="T11" fmla="*/ 0 h 36"/>
                <a:gd name="T12" fmla="*/ 0 w 52"/>
                <a:gd name="T13" fmla="*/ 0 h 36"/>
                <a:gd name="T14" fmla="*/ 0 w 52"/>
                <a:gd name="T15" fmla="*/ 0 h 36"/>
                <a:gd name="T16" fmla="*/ 0 w 52"/>
                <a:gd name="T17" fmla="*/ 0 h 36"/>
                <a:gd name="T18" fmla="*/ 0 w 52"/>
                <a:gd name="T19" fmla="*/ 0 h 36"/>
                <a:gd name="T20" fmla="*/ 0 w 52"/>
                <a:gd name="T21" fmla="*/ 0 h 36"/>
                <a:gd name="T22" fmla="*/ 0 w 52"/>
                <a:gd name="T23" fmla="*/ 0 h 36"/>
                <a:gd name="T24" fmla="*/ 0 w 52"/>
                <a:gd name="T25" fmla="*/ 0 h 36"/>
                <a:gd name="T26" fmla="*/ 0 w 52"/>
                <a:gd name="T27" fmla="*/ 0 h 36"/>
                <a:gd name="T28" fmla="*/ 0 w 52"/>
                <a:gd name="T29" fmla="*/ 0 h 36"/>
                <a:gd name="T30" fmla="*/ 0 w 52"/>
                <a:gd name="T31" fmla="*/ 0 h 36"/>
                <a:gd name="T32" fmla="*/ 0 w 52"/>
                <a:gd name="T33" fmla="*/ 0 h 36"/>
                <a:gd name="T34" fmla="*/ 0 w 52"/>
                <a:gd name="T35" fmla="*/ 0 h 36"/>
                <a:gd name="T36" fmla="*/ 0 w 52"/>
                <a:gd name="T37" fmla="*/ 0 h 36"/>
                <a:gd name="T38" fmla="*/ 0 w 52"/>
                <a:gd name="T39" fmla="*/ 0 h 36"/>
                <a:gd name="T40" fmla="*/ 0 w 52"/>
                <a:gd name="T41" fmla="*/ 0 h 36"/>
                <a:gd name="T42" fmla="*/ 0 w 52"/>
                <a:gd name="T43" fmla="*/ 0 h 36"/>
                <a:gd name="T44" fmla="*/ 0 w 52"/>
                <a:gd name="T45" fmla="*/ 0 h 36"/>
                <a:gd name="T46" fmla="*/ 0 w 52"/>
                <a:gd name="T47" fmla="*/ 0 h 36"/>
                <a:gd name="T48" fmla="*/ 0 w 52"/>
                <a:gd name="T49" fmla="*/ 0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2"/>
                <a:gd name="T76" fmla="*/ 0 h 36"/>
                <a:gd name="T77" fmla="*/ 52 w 52"/>
                <a:gd name="T78" fmla="*/ 36 h 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0" name="Freeform 1021"/>
            <p:cNvSpPr/>
            <p:nvPr/>
          </p:nvSpPr>
          <p:spPr bwMode="auto">
            <a:xfrm>
              <a:off x="4330" y="3145"/>
              <a:ext cx="33" cy="39"/>
            </a:xfrm>
            <a:custGeom>
              <a:avLst/>
              <a:gdLst>
                <a:gd name="T0" fmla="*/ 0 w 198"/>
                <a:gd name="T1" fmla="*/ 0 h 236"/>
                <a:gd name="T2" fmla="*/ 0 w 198"/>
                <a:gd name="T3" fmla="*/ 0 h 236"/>
                <a:gd name="T4" fmla="*/ 0 w 198"/>
                <a:gd name="T5" fmla="*/ 0 h 236"/>
                <a:gd name="T6" fmla="*/ 0 w 198"/>
                <a:gd name="T7" fmla="*/ 0 h 236"/>
                <a:gd name="T8" fmla="*/ 0 w 198"/>
                <a:gd name="T9" fmla="*/ 0 h 236"/>
                <a:gd name="T10" fmla="*/ 0 w 198"/>
                <a:gd name="T11" fmla="*/ 0 h 236"/>
                <a:gd name="T12" fmla="*/ 0 w 198"/>
                <a:gd name="T13" fmla="*/ 0 h 236"/>
                <a:gd name="T14" fmla="*/ 0 w 198"/>
                <a:gd name="T15" fmla="*/ 0 h 236"/>
                <a:gd name="T16" fmla="*/ 0 w 198"/>
                <a:gd name="T17" fmla="*/ 0 h 236"/>
                <a:gd name="T18" fmla="*/ 0 w 198"/>
                <a:gd name="T19" fmla="*/ 0 h 236"/>
                <a:gd name="T20" fmla="*/ 0 w 198"/>
                <a:gd name="T21" fmla="*/ 0 h 236"/>
                <a:gd name="T22" fmla="*/ 0 w 198"/>
                <a:gd name="T23" fmla="*/ 0 h 236"/>
                <a:gd name="T24" fmla="*/ 0 w 198"/>
                <a:gd name="T25" fmla="*/ 0 h 236"/>
                <a:gd name="T26" fmla="*/ 0 w 198"/>
                <a:gd name="T27" fmla="*/ 0 h 236"/>
                <a:gd name="T28" fmla="*/ 0 w 198"/>
                <a:gd name="T29" fmla="*/ 0 h 236"/>
                <a:gd name="T30" fmla="*/ 0 w 198"/>
                <a:gd name="T31" fmla="*/ 0 h 236"/>
                <a:gd name="T32" fmla="*/ 0 w 198"/>
                <a:gd name="T33" fmla="*/ 0 h 236"/>
                <a:gd name="T34" fmla="*/ 0 w 198"/>
                <a:gd name="T35" fmla="*/ 0 h 236"/>
                <a:gd name="T36" fmla="*/ 0 w 198"/>
                <a:gd name="T37" fmla="*/ 0 h 236"/>
                <a:gd name="T38" fmla="*/ 0 w 198"/>
                <a:gd name="T39" fmla="*/ 0 h 236"/>
                <a:gd name="T40" fmla="*/ 0 w 198"/>
                <a:gd name="T41" fmla="*/ 0 h 236"/>
                <a:gd name="T42" fmla="*/ 0 w 198"/>
                <a:gd name="T43" fmla="*/ 0 h 236"/>
                <a:gd name="T44" fmla="*/ 0 w 198"/>
                <a:gd name="T45" fmla="*/ 0 h 236"/>
                <a:gd name="T46" fmla="*/ 0 w 198"/>
                <a:gd name="T47" fmla="*/ 0 h 236"/>
                <a:gd name="T48" fmla="*/ 0 w 198"/>
                <a:gd name="T49" fmla="*/ 0 h 236"/>
                <a:gd name="T50" fmla="*/ 0 w 198"/>
                <a:gd name="T51" fmla="*/ 0 h 236"/>
                <a:gd name="T52" fmla="*/ 0 w 198"/>
                <a:gd name="T53" fmla="*/ 0 h 236"/>
                <a:gd name="T54" fmla="*/ 0 w 198"/>
                <a:gd name="T55" fmla="*/ 0 h 236"/>
                <a:gd name="T56" fmla="*/ 0 w 198"/>
                <a:gd name="T57" fmla="*/ 0 h 236"/>
                <a:gd name="T58" fmla="*/ 0 w 198"/>
                <a:gd name="T59" fmla="*/ 0 h 236"/>
                <a:gd name="T60" fmla="*/ 0 w 198"/>
                <a:gd name="T61" fmla="*/ 0 h 236"/>
                <a:gd name="T62" fmla="*/ 0 w 198"/>
                <a:gd name="T63" fmla="*/ 0 h 236"/>
                <a:gd name="T64" fmla="*/ 0 w 198"/>
                <a:gd name="T65" fmla="*/ 0 h 236"/>
                <a:gd name="T66" fmla="*/ 0 w 198"/>
                <a:gd name="T67" fmla="*/ 0 h 236"/>
                <a:gd name="T68" fmla="*/ 0 w 198"/>
                <a:gd name="T69" fmla="*/ 0 h 236"/>
                <a:gd name="T70" fmla="*/ 0 w 198"/>
                <a:gd name="T71" fmla="*/ 0 h 236"/>
                <a:gd name="T72" fmla="*/ 0 w 198"/>
                <a:gd name="T73" fmla="*/ 0 h 236"/>
                <a:gd name="T74" fmla="*/ 0 w 198"/>
                <a:gd name="T75" fmla="*/ 0 h 236"/>
                <a:gd name="T76" fmla="*/ 0 w 198"/>
                <a:gd name="T77" fmla="*/ 0 h 236"/>
                <a:gd name="T78" fmla="*/ 0 w 198"/>
                <a:gd name="T79" fmla="*/ 0 h 236"/>
                <a:gd name="T80" fmla="*/ 0 w 198"/>
                <a:gd name="T81" fmla="*/ 0 h 236"/>
                <a:gd name="T82" fmla="*/ 0 w 198"/>
                <a:gd name="T83" fmla="*/ 0 h 236"/>
                <a:gd name="T84" fmla="*/ 0 w 198"/>
                <a:gd name="T85" fmla="*/ 0 h 236"/>
                <a:gd name="T86" fmla="*/ 0 w 198"/>
                <a:gd name="T87" fmla="*/ 0 h 236"/>
                <a:gd name="T88" fmla="*/ 0 w 198"/>
                <a:gd name="T89" fmla="*/ 0 h 236"/>
                <a:gd name="T90" fmla="*/ 0 w 198"/>
                <a:gd name="T91" fmla="*/ 0 h 236"/>
                <a:gd name="T92" fmla="*/ 0 w 198"/>
                <a:gd name="T93" fmla="*/ 0 h 236"/>
                <a:gd name="T94" fmla="*/ 0 w 198"/>
                <a:gd name="T95" fmla="*/ 0 h 236"/>
                <a:gd name="T96" fmla="*/ 0 w 198"/>
                <a:gd name="T97" fmla="*/ 0 h 236"/>
                <a:gd name="T98" fmla="*/ 0 w 198"/>
                <a:gd name="T99" fmla="*/ 0 h 236"/>
                <a:gd name="T100" fmla="*/ 0 w 198"/>
                <a:gd name="T101" fmla="*/ 0 h 236"/>
                <a:gd name="T102" fmla="*/ 0 w 198"/>
                <a:gd name="T103" fmla="*/ 0 h 236"/>
                <a:gd name="T104" fmla="*/ 0 w 198"/>
                <a:gd name="T105" fmla="*/ 0 h 236"/>
                <a:gd name="T106" fmla="*/ 0 w 198"/>
                <a:gd name="T107" fmla="*/ 0 h 236"/>
                <a:gd name="T108" fmla="*/ 0 w 198"/>
                <a:gd name="T109" fmla="*/ 0 h 236"/>
                <a:gd name="T110" fmla="*/ 0 w 198"/>
                <a:gd name="T111" fmla="*/ 0 h 236"/>
                <a:gd name="T112" fmla="*/ 0 w 198"/>
                <a:gd name="T113" fmla="*/ 0 h 236"/>
                <a:gd name="T114" fmla="*/ 0 w 198"/>
                <a:gd name="T115" fmla="*/ 0 h 236"/>
                <a:gd name="T116" fmla="*/ 0 w 198"/>
                <a:gd name="T117" fmla="*/ 0 h 236"/>
                <a:gd name="T118" fmla="*/ 0 w 198"/>
                <a:gd name="T119" fmla="*/ 0 h 236"/>
                <a:gd name="T120" fmla="*/ 0 w 198"/>
                <a:gd name="T121" fmla="*/ 0 h 2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8"/>
                <a:gd name="T184" fmla="*/ 0 h 236"/>
                <a:gd name="T185" fmla="*/ 198 w 198"/>
                <a:gd name="T186" fmla="*/ 236 h 2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1" name="Freeform 1022"/>
            <p:cNvSpPr/>
            <p:nvPr/>
          </p:nvSpPr>
          <p:spPr bwMode="auto">
            <a:xfrm>
              <a:off x="4386" y="3145"/>
              <a:ext cx="22" cy="30"/>
            </a:xfrm>
            <a:custGeom>
              <a:avLst/>
              <a:gdLst>
                <a:gd name="T0" fmla="*/ 0 w 128"/>
                <a:gd name="T1" fmla="*/ 0 h 183"/>
                <a:gd name="T2" fmla="*/ 0 w 128"/>
                <a:gd name="T3" fmla="*/ 0 h 183"/>
                <a:gd name="T4" fmla="*/ 0 w 128"/>
                <a:gd name="T5" fmla="*/ 0 h 183"/>
                <a:gd name="T6" fmla="*/ 0 w 128"/>
                <a:gd name="T7" fmla="*/ 0 h 183"/>
                <a:gd name="T8" fmla="*/ 0 w 128"/>
                <a:gd name="T9" fmla="*/ 0 h 183"/>
                <a:gd name="T10" fmla="*/ 0 w 128"/>
                <a:gd name="T11" fmla="*/ 0 h 183"/>
                <a:gd name="T12" fmla="*/ 0 w 128"/>
                <a:gd name="T13" fmla="*/ 0 h 183"/>
                <a:gd name="T14" fmla="*/ 0 w 128"/>
                <a:gd name="T15" fmla="*/ 0 h 183"/>
                <a:gd name="T16" fmla="*/ 0 w 128"/>
                <a:gd name="T17" fmla="*/ 0 h 183"/>
                <a:gd name="T18" fmla="*/ 0 w 128"/>
                <a:gd name="T19" fmla="*/ 0 h 183"/>
                <a:gd name="T20" fmla="*/ 0 w 128"/>
                <a:gd name="T21" fmla="*/ 0 h 183"/>
                <a:gd name="T22" fmla="*/ 0 w 128"/>
                <a:gd name="T23" fmla="*/ 0 h 183"/>
                <a:gd name="T24" fmla="*/ 0 w 128"/>
                <a:gd name="T25" fmla="*/ 0 h 183"/>
                <a:gd name="T26" fmla="*/ 0 w 128"/>
                <a:gd name="T27" fmla="*/ 0 h 183"/>
                <a:gd name="T28" fmla="*/ 0 w 128"/>
                <a:gd name="T29" fmla="*/ 0 h 183"/>
                <a:gd name="T30" fmla="*/ 0 w 128"/>
                <a:gd name="T31" fmla="*/ 0 h 183"/>
                <a:gd name="T32" fmla="*/ 0 w 128"/>
                <a:gd name="T33" fmla="*/ 0 h 183"/>
                <a:gd name="T34" fmla="*/ 0 w 128"/>
                <a:gd name="T35" fmla="*/ 0 h 183"/>
                <a:gd name="T36" fmla="*/ 0 w 128"/>
                <a:gd name="T37" fmla="*/ 0 h 183"/>
                <a:gd name="T38" fmla="*/ 0 w 128"/>
                <a:gd name="T39" fmla="*/ 0 h 183"/>
                <a:gd name="T40" fmla="*/ 0 w 128"/>
                <a:gd name="T41" fmla="*/ 0 h 183"/>
                <a:gd name="T42" fmla="*/ 0 w 128"/>
                <a:gd name="T43" fmla="*/ 0 h 183"/>
                <a:gd name="T44" fmla="*/ 0 w 128"/>
                <a:gd name="T45" fmla="*/ 0 h 183"/>
                <a:gd name="T46" fmla="*/ 0 w 128"/>
                <a:gd name="T47" fmla="*/ 0 h 183"/>
                <a:gd name="T48" fmla="*/ 0 w 128"/>
                <a:gd name="T49" fmla="*/ 0 h 183"/>
                <a:gd name="T50" fmla="*/ 0 w 128"/>
                <a:gd name="T51" fmla="*/ 0 h 183"/>
                <a:gd name="T52" fmla="*/ 0 w 128"/>
                <a:gd name="T53" fmla="*/ 0 h 183"/>
                <a:gd name="T54" fmla="*/ 0 w 128"/>
                <a:gd name="T55" fmla="*/ 0 h 183"/>
                <a:gd name="T56" fmla="*/ 0 w 128"/>
                <a:gd name="T57" fmla="*/ 0 h 183"/>
                <a:gd name="T58" fmla="*/ 0 w 128"/>
                <a:gd name="T59" fmla="*/ 0 h 183"/>
                <a:gd name="T60" fmla="*/ 0 w 128"/>
                <a:gd name="T61" fmla="*/ 0 h 183"/>
                <a:gd name="T62" fmla="*/ 0 w 128"/>
                <a:gd name="T63" fmla="*/ 0 h 183"/>
                <a:gd name="T64" fmla="*/ 0 w 128"/>
                <a:gd name="T65" fmla="*/ 0 h 183"/>
                <a:gd name="T66" fmla="*/ 0 w 128"/>
                <a:gd name="T67" fmla="*/ 0 h 183"/>
                <a:gd name="T68" fmla="*/ 0 w 128"/>
                <a:gd name="T69" fmla="*/ 0 h 183"/>
                <a:gd name="T70" fmla="*/ 0 w 128"/>
                <a:gd name="T71" fmla="*/ 0 h 183"/>
                <a:gd name="T72" fmla="*/ 0 w 128"/>
                <a:gd name="T73" fmla="*/ 0 h 183"/>
                <a:gd name="T74" fmla="*/ 0 w 128"/>
                <a:gd name="T75" fmla="*/ 0 h 183"/>
                <a:gd name="T76" fmla="*/ 0 w 128"/>
                <a:gd name="T77" fmla="*/ 0 h 183"/>
                <a:gd name="T78" fmla="*/ 0 w 128"/>
                <a:gd name="T79" fmla="*/ 0 h 183"/>
                <a:gd name="T80" fmla="*/ 0 w 128"/>
                <a:gd name="T81" fmla="*/ 0 h 18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3"/>
                <a:gd name="T125" fmla="*/ 128 w 128"/>
                <a:gd name="T126" fmla="*/ 183 h 18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2" name="Freeform 1023"/>
            <p:cNvSpPr/>
            <p:nvPr/>
          </p:nvSpPr>
          <p:spPr bwMode="auto">
            <a:xfrm>
              <a:off x="4309" y="3138"/>
              <a:ext cx="53" cy="63"/>
            </a:xfrm>
            <a:custGeom>
              <a:avLst/>
              <a:gdLst>
                <a:gd name="T0" fmla="*/ 0 w 323"/>
                <a:gd name="T1" fmla="*/ 0 h 379"/>
                <a:gd name="T2" fmla="*/ 0 w 323"/>
                <a:gd name="T3" fmla="*/ 0 h 379"/>
                <a:gd name="T4" fmla="*/ 0 w 323"/>
                <a:gd name="T5" fmla="*/ 0 h 379"/>
                <a:gd name="T6" fmla="*/ 0 w 323"/>
                <a:gd name="T7" fmla="*/ 0 h 379"/>
                <a:gd name="T8" fmla="*/ 0 w 323"/>
                <a:gd name="T9" fmla="*/ 0 h 379"/>
                <a:gd name="T10" fmla="*/ 0 w 323"/>
                <a:gd name="T11" fmla="*/ 0 h 379"/>
                <a:gd name="T12" fmla="*/ 0 w 323"/>
                <a:gd name="T13" fmla="*/ 0 h 379"/>
                <a:gd name="T14" fmla="*/ 0 w 323"/>
                <a:gd name="T15" fmla="*/ 0 h 379"/>
                <a:gd name="T16" fmla="*/ 0 w 323"/>
                <a:gd name="T17" fmla="*/ 0 h 379"/>
                <a:gd name="T18" fmla="*/ 0 w 323"/>
                <a:gd name="T19" fmla="*/ 0 h 379"/>
                <a:gd name="T20" fmla="*/ 0 w 323"/>
                <a:gd name="T21" fmla="*/ 0 h 379"/>
                <a:gd name="T22" fmla="*/ 0 w 323"/>
                <a:gd name="T23" fmla="*/ 0 h 379"/>
                <a:gd name="T24" fmla="*/ 0 w 323"/>
                <a:gd name="T25" fmla="*/ 0 h 379"/>
                <a:gd name="T26" fmla="*/ 0 w 323"/>
                <a:gd name="T27" fmla="*/ 0 h 379"/>
                <a:gd name="T28" fmla="*/ 0 w 323"/>
                <a:gd name="T29" fmla="*/ 0 h 379"/>
                <a:gd name="T30" fmla="*/ 0 w 323"/>
                <a:gd name="T31" fmla="*/ 0 h 379"/>
                <a:gd name="T32" fmla="*/ 0 w 323"/>
                <a:gd name="T33" fmla="*/ 0 h 379"/>
                <a:gd name="T34" fmla="*/ 0 w 323"/>
                <a:gd name="T35" fmla="*/ 0 h 379"/>
                <a:gd name="T36" fmla="*/ 0 w 323"/>
                <a:gd name="T37" fmla="*/ 0 h 379"/>
                <a:gd name="T38" fmla="*/ 0 w 323"/>
                <a:gd name="T39" fmla="*/ 0 h 379"/>
                <a:gd name="T40" fmla="*/ 0 w 323"/>
                <a:gd name="T41" fmla="*/ 0 h 379"/>
                <a:gd name="T42" fmla="*/ 0 w 323"/>
                <a:gd name="T43" fmla="*/ 0 h 379"/>
                <a:gd name="T44" fmla="*/ 0 w 323"/>
                <a:gd name="T45" fmla="*/ 0 h 379"/>
                <a:gd name="T46" fmla="*/ 0 w 323"/>
                <a:gd name="T47" fmla="*/ 0 h 379"/>
                <a:gd name="T48" fmla="*/ 0 w 323"/>
                <a:gd name="T49" fmla="*/ 0 h 379"/>
                <a:gd name="T50" fmla="*/ 0 w 323"/>
                <a:gd name="T51" fmla="*/ 0 h 379"/>
                <a:gd name="T52" fmla="*/ 0 w 323"/>
                <a:gd name="T53" fmla="*/ 0 h 379"/>
                <a:gd name="T54" fmla="*/ 0 w 323"/>
                <a:gd name="T55" fmla="*/ 0 h 379"/>
                <a:gd name="T56" fmla="*/ 0 w 323"/>
                <a:gd name="T57" fmla="*/ 0 h 379"/>
                <a:gd name="T58" fmla="*/ 0 w 323"/>
                <a:gd name="T59" fmla="*/ 0 h 379"/>
                <a:gd name="T60" fmla="*/ 0 w 323"/>
                <a:gd name="T61" fmla="*/ 0 h 379"/>
                <a:gd name="T62" fmla="*/ 0 w 323"/>
                <a:gd name="T63" fmla="*/ 0 h 379"/>
                <a:gd name="T64" fmla="*/ 0 w 323"/>
                <a:gd name="T65" fmla="*/ 0 h 379"/>
                <a:gd name="T66" fmla="*/ 0 w 323"/>
                <a:gd name="T67" fmla="*/ 0 h 379"/>
                <a:gd name="T68" fmla="*/ 0 w 323"/>
                <a:gd name="T69" fmla="*/ 0 h 379"/>
                <a:gd name="T70" fmla="*/ 0 w 323"/>
                <a:gd name="T71" fmla="*/ 0 h 379"/>
                <a:gd name="T72" fmla="*/ 0 w 323"/>
                <a:gd name="T73" fmla="*/ 0 h 379"/>
                <a:gd name="T74" fmla="*/ 0 w 323"/>
                <a:gd name="T75" fmla="*/ 0 h 379"/>
                <a:gd name="T76" fmla="*/ 0 w 323"/>
                <a:gd name="T77" fmla="*/ 0 h 379"/>
                <a:gd name="T78" fmla="*/ 0 w 323"/>
                <a:gd name="T79" fmla="*/ 0 h 379"/>
                <a:gd name="T80" fmla="*/ 0 w 323"/>
                <a:gd name="T81" fmla="*/ 0 h 379"/>
                <a:gd name="T82" fmla="*/ 0 w 323"/>
                <a:gd name="T83" fmla="*/ 0 h 379"/>
                <a:gd name="T84" fmla="*/ 0 w 323"/>
                <a:gd name="T85" fmla="*/ 0 h 379"/>
                <a:gd name="T86" fmla="*/ 0 w 323"/>
                <a:gd name="T87" fmla="*/ 0 h 37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3"/>
                <a:gd name="T133" fmla="*/ 0 h 379"/>
                <a:gd name="T134" fmla="*/ 323 w 323"/>
                <a:gd name="T135" fmla="*/ 379 h 37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3" name="Freeform 1024"/>
            <p:cNvSpPr/>
            <p:nvPr/>
          </p:nvSpPr>
          <p:spPr bwMode="auto">
            <a:xfrm>
              <a:off x="4384" y="3136"/>
              <a:ext cx="47" cy="42"/>
            </a:xfrm>
            <a:custGeom>
              <a:avLst/>
              <a:gdLst>
                <a:gd name="T0" fmla="*/ 0 w 282"/>
                <a:gd name="T1" fmla="*/ 0 h 253"/>
                <a:gd name="T2" fmla="*/ 0 w 282"/>
                <a:gd name="T3" fmla="*/ 0 h 253"/>
                <a:gd name="T4" fmla="*/ 0 w 282"/>
                <a:gd name="T5" fmla="*/ 0 h 253"/>
                <a:gd name="T6" fmla="*/ 0 w 282"/>
                <a:gd name="T7" fmla="*/ 0 h 253"/>
                <a:gd name="T8" fmla="*/ 0 w 282"/>
                <a:gd name="T9" fmla="*/ 0 h 253"/>
                <a:gd name="T10" fmla="*/ 0 w 282"/>
                <a:gd name="T11" fmla="*/ 0 h 253"/>
                <a:gd name="T12" fmla="*/ 0 w 282"/>
                <a:gd name="T13" fmla="*/ 0 h 253"/>
                <a:gd name="T14" fmla="*/ 0 w 282"/>
                <a:gd name="T15" fmla="*/ 0 h 253"/>
                <a:gd name="T16" fmla="*/ 0 w 282"/>
                <a:gd name="T17" fmla="*/ 0 h 253"/>
                <a:gd name="T18" fmla="*/ 0 w 282"/>
                <a:gd name="T19" fmla="*/ 0 h 253"/>
                <a:gd name="T20" fmla="*/ 0 w 282"/>
                <a:gd name="T21" fmla="*/ 0 h 253"/>
                <a:gd name="T22" fmla="*/ 0 w 282"/>
                <a:gd name="T23" fmla="*/ 0 h 253"/>
                <a:gd name="T24" fmla="*/ 0 w 282"/>
                <a:gd name="T25" fmla="*/ 0 h 253"/>
                <a:gd name="T26" fmla="*/ 0 w 282"/>
                <a:gd name="T27" fmla="*/ 0 h 253"/>
                <a:gd name="T28" fmla="*/ 0 w 282"/>
                <a:gd name="T29" fmla="*/ 0 h 253"/>
                <a:gd name="T30" fmla="*/ 0 w 282"/>
                <a:gd name="T31" fmla="*/ 0 h 253"/>
                <a:gd name="T32" fmla="*/ 0 w 282"/>
                <a:gd name="T33" fmla="*/ 0 h 253"/>
                <a:gd name="T34" fmla="*/ 0 w 282"/>
                <a:gd name="T35" fmla="*/ 0 h 253"/>
                <a:gd name="T36" fmla="*/ 0 w 282"/>
                <a:gd name="T37" fmla="*/ 0 h 253"/>
                <a:gd name="T38" fmla="*/ 0 w 282"/>
                <a:gd name="T39" fmla="*/ 0 h 253"/>
                <a:gd name="T40" fmla="*/ 0 w 282"/>
                <a:gd name="T41" fmla="*/ 0 h 253"/>
                <a:gd name="T42" fmla="*/ 0 w 282"/>
                <a:gd name="T43" fmla="*/ 0 h 253"/>
                <a:gd name="T44" fmla="*/ 0 w 282"/>
                <a:gd name="T45" fmla="*/ 0 h 253"/>
                <a:gd name="T46" fmla="*/ 0 w 282"/>
                <a:gd name="T47" fmla="*/ 0 h 253"/>
                <a:gd name="T48" fmla="*/ 0 w 282"/>
                <a:gd name="T49" fmla="*/ 0 h 253"/>
                <a:gd name="T50" fmla="*/ 0 w 282"/>
                <a:gd name="T51" fmla="*/ 0 h 253"/>
                <a:gd name="T52" fmla="*/ 0 w 282"/>
                <a:gd name="T53" fmla="*/ 0 h 253"/>
                <a:gd name="T54" fmla="*/ 0 w 282"/>
                <a:gd name="T55" fmla="*/ 0 h 253"/>
                <a:gd name="T56" fmla="*/ 0 w 282"/>
                <a:gd name="T57" fmla="*/ 0 h 253"/>
                <a:gd name="T58" fmla="*/ 0 w 282"/>
                <a:gd name="T59" fmla="*/ 0 h 253"/>
                <a:gd name="T60" fmla="*/ 0 w 282"/>
                <a:gd name="T61" fmla="*/ 0 h 253"/>
                <a:gd name="T62" fmla="*/ 0 w 282"/>
                <a:gd name="T63" fmla="*/ 0 h 253"/>
                <a:gd name="T64" fmla="*/ 0 w 282"/>
                <a:gd name="T65" fmla="*/ 0 h 253"/>
                <a:gd name="T66" fmla="*/ 0 w 282"/>
                <a:gd name="T67" fmla="*/ 0 h 253"/>
                <a:gd name="T68" fmla="*/ 0 w 282"/>
                <a:gd name="T69" fmla="*/ 0 h 253"/>
                <a:gd name="T70" fmla="*/ 0 w 282"/>
                <a:gd name="T71" fmla="*/ 0 h 253"/>
                <a:gd name="T72" fmla="*/ 0 w 282"/>
                <a:gd name="T73" fmla="*/ 0 h 253"/>
                <a:gd name="T74" fmla="*/ 0 w 282"/>
                <a:gd name="T75" fmla="*/ 0 h 253"/>
                <a:gd name="T76" fmla="*/ 0 w 282"/>
                <a:gd name="T77" fmla="*/ 0 h 253"/>
                <a:gd name="T78" fmla="*/ 0 w 282"/>
                <a:gd name="T79" fmla="*/ 0 h 253"/>
                <a:gd name="T80" fmla="*/ 0 w 282"/>
                <a:gd name="T81" fmla="*/ 0 h 253"/>
                <a:gd name="T82" fmla="*/ 0 w 282"/>
                <a:gd name="T83" fmla="*/ 0 h 253"/>
                <a:gd name="T84" fmla="*/ 0 w 282"/>
                <a:gd name="T85" fmla="*/ 0 h 253"/>
                <a:gd name="T86" fmla="*/ 0 w 282"/>
                <a:gd name="T87" fmla="*/ 0 h 253"/>
                <a:gd name="T88" fmla="*/ 0 w 282"/>
                <a:gd name="T89" fmla="*/ 0 h 253"/>
                <a:gd name="T90" fmla="*/ 0 w 282"/>
                <a:gd name="T91" fmla="*/ 0 h 253"/>
                <a:gd name="T92" fmla="*/ 0 w 282"/>
                <a:gd name="T93" fmla="*/ 0 h 253"/>
                <a:gd name="T94" fmla="*/ 0 w 282"/>
                <a:gd name="T95" fmla="*/ 0 h 253"/>
                <a:gd name="T96" fmla="*/ 0 w 282"/>
                <a:gd name="T97" fmla="*/ 0 h 253"/>
                <a:gd name="T98" fmla="*/ 0 w 282"/>
                <a:gd name="T99" fmla="*/ 0 h 253"/>
                <a:gd name="T100" fmla="*/ 0 w 282"/>
                <a:gd name="T101" fmla="*/ 0 h 253"/>
                <a:gd name="T102" fmla="*/ 0 w 282"/>
                <a:gd name="T103" fmla="*/ 0 h 253"/>
                <a:gd name="T104" fmla="*/ 0 w 282"/>
                <a:gd name="T105" fmla="*/ 0 h 253"/>
                <a:gd name="T106" fmla="*/ 0 w 282"/>
                <a:gd name="T107" fmla="*/ 0 h 253"/>
                <a:gd name="T108" fmla="*/ 0 w 282"/>
                <a:gd name="T109" fmla="*/ 0 h 253"/>
                <a:gd name="T110" fmla="*/ 0 w 282"/>
                <a:gd name="T111" fmla="*/ 0 h 253"/>
                <a:gd name="T112" fmla="*/ 0 w 282"/>
                <a:gd name="T113" fmla="*/ 0 h 253"/>
                <a:gd name="T114" fmla="*/ 0 w 282"/>
                <a:gd name="T115" fmla="*/ 0 h 253"/>
                <a:gd name="T116" fmla="*/ 0 w 282"/>
                <a:gd name="T117" fmla="*/ 0 h 253"/>
                <a:gd name="T118" fmla="*/ 0 w 282"/>
                <a:gd name="T119" fmla="*/ 0 h 253"/>
                <a:gd name="T120" fmla="*/ 0 w 282"/>
                <a:gd name="T121" fmla="*/ 0 h 2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2"/>
                <a:gd name="T184" fmla="*/ 0 h 253"/>
                <a:gd name="T185" fmla="*/ 282 w 282"/>
                <a:gd name="T186" fmla="*/ 253 h 25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4" name="Freeform 1025"/>
            <p:cNvSpPr/>
            <p:nvPr/>
          </p:nvSpPr>
          <p:spPr bwMode="auto">
            <a:xfrm>
              <a:off x="4290" y="3159"/>
              <a:ext cx="19" cy="39"/>
            </a:xfrm>
            <a:custGeom>
              <a:avLst/>
              <a:gdLst>
                <a:gd name="T0" fmla="*/ 0 w 115"/>
                <a:gd name="T1" fmla="*/ 0 h 236"/>
                <a:gd name="T2" fmla="*/ 0 w 115"/>
                <a:gd name="T3" fmla="*/ 0 h 236"/>
                <a:gd name="T4" fmla="*/ 0 w 115"/>
                <a:gd name="T5" fmla="*/ 0 h 236"/>
                <a:gd name="T6" fmla="*/ 0 w 115"/>
                <a:gd name="T7" fmla="*/ 0 h 236"/>
                <a:gd name="T8" fmla="*/ 0 w 115"/>
                <a:gd name="T9" fmla="*/ 0 h 236"/>
                <a:gd name="T10" fmla="*/ 0 w 115"/>
                <a:gd name="T11" fmla="*/ 0 h 236"/>
                <a:gd name="T12" fmla="*/ 0 w 115"/>
                <a:gd name="T13" fmla="*/ 0 h 236"/>
                <a:gd name="T14" fmla="*/ 0 w 115"/>
                <a:gd name="T15" fmla="*/ 0 h 236"/>
                <a:gd name="T16" fmla="*/ 0 w 115"/>
                <a:gd name="T17" fmla="*/ 0 h 236"/>
                <a:gd name="T18" fmla="*/ 0 w 115"/>
                <a:gd name="T19" fmla="*/ 0 h 236"/>
                <a:gd name="T20" fmla="*/ 0 w 115"/>
                <a:gd name="T21" fmla="*/ 0 h 236"/>
                <a:gd name="T22" fmla="*/ 0 w 115"/>
                <a:gd name="T23" fmla="*/ 0 h 236"/>
                <a:gd name="T24" fmla="*/ 0 w 115"/>
                <a:gd name="T25" fmla="*/ 0 h 236"/>
                <a:gd name="T26" fmla="*/ 0 w 115"/>
                <a:gd name="T27" fmla="*/ 0 h 236"/>
                <a:gd name="T28" fmla="*/ 0 w 115"/>
                <a:gd name="T29" fmla="*/ 0 h 236"/>
                <a:gd name="T30" fmla="*/ 0 w 115"/>
                <a:gd name="T31" fmla="*/ 0 h 236"/>
                <a:gd name="T32" fmla="*/ 0 w 115"/>
                <a:gd name="T33" fmla="*/ 0 h 236"/>
                <a:gd name="T34" fmla="*/ 0 w 115"/>
                <a:gd name="T35" fmla="*/ 0 h 236"/>
                <a:gd name="T36" fmla="*/ 0 w 115"/>
                <a:gd name="T37" fmla="*/ 0 h 236"/>
                <a:gd name="T38" fmla="*/ 0 w 115"/>
                <a:gd name="T39" fmla="*/ 0 h 236"/>
                <a:gd name="T40" fmla="*/ 0 w 115"/>
                <a:gd name="T41" fmla="*/ 0 h 236"/>
                <a:gd name="T42" fmla="*/ 0 w 115"/>
                <a:gd name="T43" fmla="*/ 0 h 236"/>
                <a:gd name="T44" fmla="*/ 0 w 115"/>
                <a:gd name="T45" fmla="*/ 0 h 236"/>
                <a:gd name="T46" fmla="*/ 0 w 115"/>
                <a:gd name="T47" fmla="*/ 0 h 236"/>
                <a:gd name="T48" fmla="*/ 0 w 115"/>
                <a:gd name="T49" fmla="*/ 0 h 236"/>
                <a:gd name="T50" fmla="*/ 0 w 115"/>
                <a:gd name="T51" fmla="*/ 0 h 236"/>
                <a:gd name="T52" fmla="*/ 0 w 115"/>
                <a:gd name="T53" fmla="*/ 0 h 236"/>
                <a:gd name="T54" fmla="*/ 0 w 115"/>
                <a:gd name="T55" fmla="*/ 0 h 236"/>
                <a:gd name="T56" fmla="*/ 0 w 115"/>
                <a:gd name="T57" fmla="*/ 0 h 236"/>
                <a:gd name="T58" fmla="*/ 0 w 115"/>
                <a:gd name="T59" fmla="*/ 0 h 236"/>
                <a:gd name="T60" fmla="*/ 0 w 115"/>
                <a:gd name="T61" fmla="*/ 0 h 236"/>
                <a:gd name="T62" fmla="*/ 0 w 115"/>
                <a:gd name="T63" fmla="*/ 0 h 236"/>
                <a:gd name="T64" fmla="*/ 0 w 115"/>
                <a:gd name="T65" fmla="*/ 0 h 236"/>
                <a:gd name="T66" fmla="*/ 0 w 115"/>
                <a:gd name="T67" fmla="*/ 0 h 236"/>
                <a:gd name="T68" fmla="*/ 0 w 115"/>
                <a:gd name="T69" fmla="*/ 0 h 236"/>
                <a:gd name="T70" fmla="*/ 0 w 115"/>
                <a:gd name="T71" fmla="*/ 0 h 236"/>
                <a:gd name="T72" fmla="*/ 0 w 115"/>
                <a:gd name="T73" fmla="*/ 0 h 236"/>
                <a:gd name="T74" fmla="*/ 0 w 115"/>
                <a:gd name="T75" fmla="*/ 0 h 236"/>
                <a:gd name="T76" fmla="*/ 0 w 115"/>
                <a:gd name="T77" fmla="*/ 0 h 236"/>
                <a:gd name="T78" fmla="*/ 0 w 115"/>
                <a:gd name="T79" fmla="*/ 0 h 236"/>
                <a:gd name="T80" fmla="*/ 0 w 115"/>
                <a:gd name="T81" fmla="*/ 0 h 2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5"/>
                <a:gd name="T124" fmla="*/ 0 h 236"/>
                <a:gd name="T125" fmla="*/ 115 w 115"/>
                <a:gd name="T126" fmla="*/ 236 h 2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5" name="Freeform 1026"/>
            <p:cNvSpPr/>
            <p:nvPr/>
          </p:nvSpPr>
          <p:spPr bwMode="auto">
            <a:xfrm>
              <a:off x="4423" y="3133"/>
              <a:ext cx="41" cy="52"/>
            </a:xfrm>
            <a:custGeom>
              <a:avLst/>
              <a:gdLst>
                <a:gd name="T0" fmla="*/ 0 w 245"/>
                <a:gd name="T1" fmla="*/ 0 h 310"/>
                <a:gd name="T2" fmla="*/ 0 w 245"/>
                <a:gd name="T3" fmla="*/ 0 h 310"/>
                <a:gd name="T4" fmla="*/ 0 w 245"/>
                <a:gd name="T5" fmla="*/ 0 h 310"/>
                <a:gd name="T6" fmla="*/ 0 w 245"/>
                <a:gd name="T7" fmla="*/ 0 h 310"/>
                <a:gd name="T8" fmla="*/ 0 w 245"/>
                <a:gd name="T9" fmla="*/ 0 h 310"/>
                <a:gd name="T10" fmla="*/ 0 w 245"/>
                <a:gd name="T11" fmla="*/ 0 h 310"/>
                <a:gd name="T12" fmla="*/ 0 w 245"/>
                <a:gd name="T13" fmla="*/ 0 h 310"/>
                <a:gd name="T14" fmla="*/ 0 w 245"/>
                <a:gd name="T15" fmla="*/ 0 h 310"/>
                <a:gd name="T16" fmla="*/ 0 w 245"/>
                <a:gd name="T17" fmla="*/ 0 h 310"/>
                <a:gd name="T18" fmla="*/ 0 w 245"/>
                <a:gd name="T19" fmla="*/ 0 h 310"/>
                <a:gd name="T20" fmla="*/ 0 w 245"/>
                <a:gd name="T21" fmla="*/ 0 h 310"/>
                <a:gd name="T22" fmla="*/ 0 w 245"/>
                <a:gd name="T23" fmla="*/ 0 h 310"/>
                <a:gd name="T24" fmla="*/ 0 w 245"/>
                <a:gd name="T25" fmla="*/ 0 h 310"/>
                <a:gd name="T26" fmla="*/ 0 w 245"/>
                <a:gd name="T27" fmla="*/ 0 h 310"/>
                <a:gd name="T28" fmla="*/ 0 w 245"/>
                <a:gd name="T29" fmla="*/ 0 h 310"/>
                <a:gd name="T30" fmla="*/ 0 w 245"/>
                <a:gd name="T31" fmla="*/ 0 h 310"/>
                <a:gd name="T32" fmla="*/ 0 w 245"/>
                <a:gd name="T33" fmla="*/ 0 h 310"/>
                <a:gd name="T34" fmla="*/ 0 w 245"/>
                <a:gd name="T35" fmla="*/ 0 h 310"/>
                <a:gd name="T36" fmla="*/ 0 w 245"/>
                <a:gd name="T37" fmla="*/ 0 h 310"/>
                <a:gd name="T38" fmla="*/ 0 w 245"/>
                <a:gd name="T39" fmla="*/ 0 h 310"/>
                <a:gd name="T40" fmla="*/ 0 w 245"/>
                <a:gd name="T41" fmla="*/ 0 h 310"/>
                <a:gd name="T42" fmla="*/ 0 w 245"/>
                <a:gd name="T43" fmla="*/ 0 h 310"/>
                <a:gd name="T44" fmla="*/ 0 w 245"/>
                <a:gd name="T45" fmla="*/ 0 h 310"/>
                <a:gd name="T46" fmla="*/ 0 w 245"/>
                <a:gd name="T47" fmla="*/ 0 h 310"/>
                <a:gd name="T48" fmla="*/ 0 w 245"/>
                <a:gd name="T49" fmla="*/ 0 h 310"/>
                <a:gd name="T50" fmla="*/ 0 w 245"/>
                <a:gd name="T51" fmla="*/ 0 h 310"/>
                <a:gd name="T52" fmla="*/ 0 w 245"/>
                <a:gd name="T53" fmla="*/ 0 h 310"/>
                <a:gd name="T54" fmla="*/ 0 w 245"/>
                <a:gd name="T55" fmla="*/ 0 h 310"/>
                <a:gd name="T56" fmla="*/ 0 w 245"/>
                <a:gd name="T57" fmla="*/ 0 h 310"/>
                <a:gd name="T58" fmla="*/ 0 w 245"/>
                <a:gd name="T59" fmla="*/ 0 h 310"/>
                <a:gd name="T60" fmla="*/ 0 w 245"/>
                <a:gd name="T61" fmla="*/ 0 h 310"/>
                <a:gd name="T62" fmla="*/ 0 w 245"/>
                <a:gd name="T63" fmla="*/ 0 h 310"/>
                <a:gd name="T64" fmla="*/ 0 w 245"/>
                <a:gd name="T65" fmla="*/ 0 h 310"/>
                <a:gd name="T66" fmla="*/ 0 w 245"/>
                <a:gd name="T67" fmla="*/ 0 h 310"/>
                <a:gd name="T68" fmla="*/ 0 w 245"/>
                <a:gd name="T69" fmla="*/ 0 h 310"/>
                <a:gd name="T70" fmla="*/ 0 w 245"/>
                <a:gd name="T71" fmla="*/ 0 h 310"/>
                <a:gd name="T72" fmla="*/ 0 w 245"/>
                <a:gd name="T73" fmla="*/ 0 h 310"/>
                <a:gd name="T74" fmla="*/ 0 w 245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5"/>
                <a:gd name="T115" fmla="*/ 0 h 310"/>
                <a:gd name="T116" fmla="*/ 245 w 245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6" name="Freeform 1027"/>
            <p:cNvSpPr/>
            <p:nvPr/>
          </p:nvSpPr>
          <p:spPr bwMode="auto">
            <a:xfrm>
              <a:off x="4338" y="3209"/>
              <a:ext cx="125" cy="175"/>
            </a:xfrm>
            <a:custGeom>
              <a:avLst/>
              <a:gdLst>
                <a:gd name="T0" fmla="*/ 0 w 125"/>
                <a:gd name="T1" fmla="*/ 175 h 175"/>
                <a:gd name="T2" fmla="*/ 0 w 125"/>
                <a:gd name="T3" fmla="*/ 144 h 175"/>
                <a:gd name="T4" fmla="*/ 11 w 125"/>
                <a:gd name="T5" fmla="*/ 144 h 175"/>
                <a:gd name="T6" fmla="*/ 11 w 125"/>
                <a:gd name="T7" fmla="*/ 118 h 175"/>
                <a:gd name="T8" fmla="*/ 23 w 125"/>
                <a:gd name="T9" fmla="*/ 114 h 175"/>
                <a:gd name="T10" fmla="*/ 20 w 125"/>
                <a:gd name="T11" fmla="*/ 88 h 175"/>
                <a:gd name="T12" fmla="*/ 30 w 125"/>
                <a:gd name="T13" fmla="*/ 84 h 175"/>
                <a:gd name="T14" fmla="*/ 30 w 125"/>
                <a:gd name="T15" fmla="*/ 58 h 175"/>
                <a:gd name="T16" fmla="*/ 39 w 125"/>
                <a:gd name="T17" fmla="*/ 54 h 175"/>
                <a:gd name="T18" fmla="*/ 39 w 125"/>
                <a:gd name="T19" fmla="*/ 28 h 175"/>
                <a:gd name="T20" fmla="*/ 48 w 125"/>
                <a:gd name="T21" fmla="*/ 28 h 175"/>
                <a:gd name="T22" fmla="*/ 56 w 125"/>
                <a:gd name="T23" fmla="*/ 0 h 175"/>
                <a:gd name="T24" fmla="*/ 80 w 125"/>
                <a:gd name="T25" fmla="*/ 0 h 175"/>
                <a:gd name="T26" fmla="*/ 81 w 125"/>
                <a:gd name="T27" fmla="*/ 25 h 175"/>
                <a:gd name="T28" fmla="*/ 92 w 125"/>
                <a:gd name="T29" fmla="*/ 24 h 175"/>
                <a:gd name="T30" fmla="*/ 93 w 125"/>
                <a:gd name="T31" fmla="*/ 49 h 175"/>
                <a:gd name="T32" fmla="*/ 102 w 125"/>
                <a:gd name="T33" fmla="*/ 54 h 175"/>
                <a:gd name="T34" fmla="*/ 99 w 125"/>
                <a:gd name="T35" fmla="*/ 81 h 175"/>
                <a:gd name="T36" fmla="*/ 114 w 125"/>
                <a:gd name="T37" fmla="*/ 82 h 175"/>
                <a:gd name="T38" fmla="*/ 107 w 125"/>
                <a:gd name="T39" fmla="*/ 81 h 175"/>
                <a:gd name="T40" fmla="*/ 108 w 125"/>
                <a:gd name="T41" fmla="*/ 114 h 175"/>
                <a:gd name="T42" fmla="*/ 117 w 125"/>
                <a:gd name="T43" fmla="*/ 117 h 175"/>
                <a:gd name="T44" fmla="*/ 122 w 125"/>
                <a:gd name="T45" fmla="*/ 142 h 175"/>
                <a:gd name="T46" fmla="*/ 125 w 125"/>
                <a:gd name="T47" fmla="*/ 175 h 175"/>
                <a:gd name="T48" fmla="*/ 0 w 125"/>
                <a:gd name="T49" fmla="*/ 175 h 17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5"/>
                <a:gd name="T76" fmla="*/ 0 h 175"/>
                <a:gd name="T77" fmla="*/ 125 w 125"/>
                <a:gd name="T78" fmla="*/ 175 h 17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5" h="175">
                  <a:moveTo>
                    <a:pt x="0" y="175"/>
                  </a:moveTo>
                  <a:lnTo>
                    <a:pt x="0" y="144"/>
                  </a:lnTo>
                  <a:lnTo>
                    <a:pt x="11" y="144"/>
                  </a:lnTo>
                  <a:lnTo>
                    <a:pt x="11" y="118"/>
                  </a:lnTo>
                  <a:lnTo>
                    <a:pt x="23" y="114"/>
                  </a:lnTo>
                  <a:lnTo>
                    <a:pt x="20" y="88"/>
                  </a:lnTo>
                  <a:lnTo>
                    <a:pt x="30" y="84"/>
                  </a:lnTo>
                  <a:lnTo>
                    <a:pt x="30" y="58"/>
                  </a:lnTo>
                  <a:lnTo>
                    <a:pt x="39" y="54"/>
                  </a:lnTo>
                  <a:lnTo>
                    <a:pt x="39" y="28"/>
                  </a:lnTo>
                  <a:lnTo>
                    <a:pt x="48" y="28"/>
                  </a:lnTo>
                  <a:lnTo>
                    <a:pt x="56" y="0"/>
                  </a:lnTo>
                  <a:lnTo>
                    <a:pt x="80" y="0"/>
                  </a:lnTo>
                  <a:lnTo>
                    <a:pt x="81" y="25"/>
                  </a:lnTo>
                  <a:lnTo>
                    <a:pt x="92" y="24"/>
                  </a:lnTo>
                  <a:lnTo>
                    <a:pt x="93" y="49"/>
                  </a:lnTo>
                  <a:lnTo>
                    <a:pt x="102" y="54"/>
                  </a:lnTo>
                  <a:lnTo>
                    <a:pt x="99" y="81"/>
                  </a:lnTo>
                  <a:lnTo>
                    <a:pt x="114" y="82"/>
                  </a:lnTo>
                  <a:lnTo>
                    <a:pt x="107" y="81"/>
                  </a:lnTo>
                  <a:lnTo>
                    <a:pt x="108" y="114"/>
                  </a:lnTo>
                  <a:lnTo>
                    <a:pt x="117" y="117"/>
                  </a:lnTo>
                  <a:lnTo>
                    <a:pt x="122" y="142"/>
                  </a:lnTo>
                  <a:lnTo>
                    <a:pt x="125" y="17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bg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0" name="Group 1033"/>
          <p:cNvGrpSpPr/>
          <p:nvPr/>
        </p:nvGrpSpPr>
        <p:grpSpPr bwMode="auto">
          <a:xfrm>
            <a:off x="4451350" y="2076450"/>
            <a:ext cx="3057524" cy="3355975"/>
            <a:chOff x="2622" y="1308"/>
            <a:chExt cx="1926" cy="2114"/>
          </a:xfrm>
        </p:grpSpPr>
        <p:sp>
          <p:nvSpPr>
            <p:cNvPr id="4225" name="Line 1034"/>
            <p:cNvSpPr>
              <a:spLocks noChangeShapeType="1"/>
            </p:cNvSpPr>
            <p:nvPr/>
          </p:nvSpPr>
          <p:spPr bwMode="auto">
            <a:xfrm flipH="1">
              <a:off x="3800" y="1315"/>
              <a:ext cx="188" cy="671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6" name="Line 1035"/>
            <p:cNvSpPr>
              <a:spLocks noChangeShapeType="1"/>
            </p:cNvSpPr>
            <p:nvPr/>
          </p:nvSpPr>
          <p:spPr bwMode="auto">
            <a:xfrm flipH="1">
              <a:off x="3501" y="1308"/>
              <a:ext cx="15" cy="1831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7" name="Line 1036"/>
            <p:cNvSpPr>
              <a:spLocks noChangeShapeType="1"/>
            </p:cNvSpPr>
            <p:nvPr/>
          </p:nvSpPr>
          <p:spPr bwMode="auto">
            <a:xfrm>
              <a:off x="3740" y="2940"/>
              <a:ext cx="808" cy="482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8" name="Text Box 1037"/>
            <p:cNvSpPr txBox="1">
              <a:spLocks noChangeArrowheads="1"/>
            </p:cNvSpPr>
            <p:nvPr/>
          </p:nvSpPr>
          <p:spPr bwMode="auto">
            <a:xfrm>
              <a:off x="2622" y="1588"/>
              <a:ext cx="844" cy="33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FF3300"/>
                  </a:solidFill>
                  <a:ea typeface="宋体" panose="02010600030101010101" pitchFamily="2" charset="-122"/>
                </a:rPr>
                <a:t>peer-peer</a:t>
              </a:r>
            </a:p>
          </p:txBody>
        </p:sp>
      </p:grpSp>
      <p:sp>
        <p:nvSpPr>
          <p:cNvPr id="693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应用协议与进程通信模型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服务器与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的混合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09505"/>
            <a:ext cx="8496300" cy="508123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Font typeface="ZapfDingbats" pitchFamily="82" charset="2"/>
              <a:buNone/>
            </a:pP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Skype</a:t>
            </a:r>
          </a:p>
          <a:p>
            <a:pPr lvl="1" indent="-4191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模式的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-4191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中心服务器：远程客户的地址发现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lvl="1" indent="-4191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端连接：直连（不通过服务器）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1800"/>
              </a:spcBef>
              <a:buFont typeface="ZapfDingbats" pitchFamily="82" charset="2"/>
              <a:buNone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即时消息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indent="-4191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P2P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模式的用户间消息发送与聊天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-4191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中心服务器：用户呈现探测与位置发现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86155" lvl="2" indent="-269875">
              <a:lnSpc>
                <a:spcPct val="100000"/>
              </a:lnSpc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当用户在线时，向中心服务器注册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986155" lvl="2" indent="-269875">
              <a:lnSpc>
                <a:spcPct val="100000"/>
              </a:lnSpc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用户利用中心服务器搜索对方的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应用协议与进程通信模型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711060"/>
            <a:ext cx="8424862" cy="747711"/>
          </a:xfrm>
        </p:spPr>
        <p:txBody>
          <a:bodyPr/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进程的地址标识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95288" y="1757548"/>
            <a:ext cx="8280400" cy="3752706"/>
          </a:xfrm>
        </p:spPr>
        <p:txBody>
          <a:bodyPr/>
          <a:lstStyle/>
          <a:p>
            <a:pPr marL="357505" indent="-357505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为了发送和接收消息，进程必须具有一个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标识符</a:t>
            </a:r>
            <a:endParaRPr lang="en-US" altLang="zh-CN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7505" indent="-357505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主机拥有一个唯一的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IPv4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地址（或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128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IPv6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57505" indent="-357505">
              <a:lnSpc>
                <a:spcPct val="150000"/>
              </a:lnSpc>
              <a:buClr>
                <a:srgbClr val="C00000"/>
              </a:buClr>
              <a:buSzPct val="90000"/>
              <a:buFont typeface="Wingdings" panose="05000000000000000000" pitchFamily="2" charset="2"/>
              <a:buChar char="n"/>
            </a:pP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Q: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利用主机的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地址表示主机中的进程是否可以？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A: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不可以。一个主机中可能同时运行多个进程。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应用协议与进程通信模型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669240"/>
            <a:ext cx="8424862" cy="731838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进程的地址标识（续）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757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412875"/>
            <a:ext cx="8377237" cy="5051425"/>
          </a:xfrm>
          <a:noFill/>
        </p:spPr>
        <p:txBody>
          <a:bodyPr/>
          <a:lstStyle/>
          <a:p>
            <a:pPr marL="266700" indent="-266700">
              <a:lnSpc>
                <a:spcPct val="130000"/>
              </a:lnSpc>
              <a:buClr>
                <a:srgbClr val="C00000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进程标识符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包括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地址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端口号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66700" indent="-266700">
              <a:lnSpc>
                <a:spcPct val="130000"/>
              </a:lnSpc>
              <a:buClr>
                <a:srgbClr val="C00000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端口号举例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marL="723900" lvl="2" indent="-266700">
              <a:lnSpc>
                <a:spcPct val="13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服务器进程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80</a:t>
            </a:r>
          </a:p>
          <a:p>
            <a:pPr marL="723900" lvl="2" indent="-266700">
              <a:lnSpc>
                <a:spcPct val="13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Email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SMTP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）服务器进程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25</a:t>
            </a:r>
          </a:p>
          <a:p>
            <a:pPr marL="266700" indent="-266700">
              <a:lnSpc>
                <a:spcPct val="130000"/>
              </a:lnSpc>
              <a:buClr>
                <a:srgbClr val="C00000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为了向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www.nankai.edu.cn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服务器发送消息，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服务器需要使用的进程标识符为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222.30.45.190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（主机的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端口号：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</a:p>
        </p:txBody>
      </p:sp>
      <p:sp>
        <p:nvSpPr>
          <p:cNvPr id="9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应用协议与进程通信模型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609600"/>
            <a:ext cx="8424862" cy="947738"/>
          </a:xfrm>
        </p:spPr>
        <p:txBody>
          <a:bodyPr/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应用层协议定义的内容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6482" y="1480568"/>
            <a:ext cx="4141237" cy="47291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Clr>
                <a:srgbClr val="C00000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消息的类型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20000"/>
              </a:lnSpc>
              <a:buClr>
                <a:srgbClr val="2A09B7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request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、响应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response </a:t>
            </a:r>
          </a:p>
          <a:p>
            <a:pPr>
              <a:lnSpc>
                <a:spcPct val="120000"/>
              </a:lnSpc>
              <a:buClr>
                <a:srgbClr val="C00000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消息的语法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Clr>
                <a:srgbClr val="2A09B7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消息包含哪些字段、字段之间如何分割等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Clr>
                <a:srgbClr val="C00000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消息的语义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Clr>
                <a:srgbClr val="2A09B7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字段中信息代表的具体含义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Clr>
                <a:srgbClr val="C00000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消息的处理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Clr>
                <a:srgbClr val="2A09B7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进程何时发送消息、收到消息后的动作等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18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773968" y="1484760"/>
            <a:ext cx="3810000" cy="464820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600"/>
              </a:spcBef>
              <a:buFont typeface="ZapfDingbats" pitchFamily="82" charset="2"/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公共协议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Clr>
                <a:srgbClr val="2A09B7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RFC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中定义的协议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Clr>
                <a:srgbClr val="2A09B7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可相互兼容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Clr>
                <a:srgbClr val="2A09B7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SMTP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专有协议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Clr>
                <a:srgbClr val="2A09B7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公司或组织专有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Clr>
                <a:srgbClr val="2A09B7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Skype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QQ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2.1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应用协议与进程通信模型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>
          <a:xfrm>
            <a:off x="421419" y="692150"/>
            <a:ext cx="8417781" cy="67945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应用需要怎么的传输层服务？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20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2396" y="1638795"/>
            <a:ext cx="8294526" cy="4444358"/>
          </a:xfrm>
        </p:spPr>
        <p:txBody>
          <a:bodyPr>
            <a:normAutofit/>
          </a:bodyPr>
          <a:lstStyle/>
          <a:p>
            <a:pPr marL="342900" indent="-342900" eaLnBrk="0" hangingPunct="0">
              <a:lnSpc>
                <a:spcPct val="13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 Unicode MS" pitchFamily="34" charset="-122"/>
              </a:rPr>
              <a:t>数据丢失率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Arial Unicode MS" pitchFamily="34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音视频等应用可以容忍一定的数据丢失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文件传输、远程登录等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应用要求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100%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的数据可靠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eaLnBrk="0" hangingPunct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 Unicode MS" pitchFamily="34" charset="-122"/>
              </a:rPr>
              <a:t>时延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Arial Unicode MS" pitchFamily="34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网络电话、交互游戏等应用对时延有一定的要求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eaLnBrk="0" hangingPunct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 Unicode MS" pitchFamily="34" charset="-122"/>
              </a:rPr>
              <a:t>带宽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Arial Unicode MS" pitchFamily="34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多媒体等应用需要一定的带宽保证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有些应用则是弹性的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2.2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传输层服务对应用层的支持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>
          <a:xfrm>
            <a:off x="393590" y="692150"/>
            <a:ext cx="8178910" cy="649288"/>
          </a:xfrm>
        </p:spPr>
        <p:txBody>
          <a:bodyPr/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常用应用对传输层的要求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229" name="Text Box 3"/>
          <p:cNvSpPr txBox="1">
            <a:spLocks noChangeArrowheads="1"/>
          </p:cNvSpPr>
          <p:nvPr/>
        </p:nvSpPr>
        <p:spPr bwMode="auto">
          <a:xfrm>
            <a:off x="664498" y="1764524"/>
            <a:ext cx="1723613" cy="3477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应用</a:t>
            </a:r>
            <a:endParaRPr lang="en-US" altLang="zh-CN" sz="20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r"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文件传输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电子邮件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文档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实时音视频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可缓存音视频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交互游戏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即时消息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230" name="Text Box 4"/>
          <p:cNvSpPr txBox="1">
            <a:spLocks noChangeArrowheads="1"/>
          </p:cNvSpPr>
          <p:nvPr/>
        </p:nvSpPr>
        <p:spPr bwMode="auto">
          <a:xfrm>
            <a:off x="2781759" y="1761931"/>
            <a:ext cx="1217000" cy="359829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r">
              <a:lnSpc>
                <a:spcPct val="101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数据丢失</a:t>
            </a:r>
            <a:endParaRPr lang="en-US" altLang="zh-CN"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否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否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可容忍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可容忍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可容忍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可容忍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否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2231" name="Text Box 5"/>
          <p:cNvSpPr txBox="1">
            <a:spLocks noChangeArrowheads="1"/>
          </p:cNvSpPr>
          <p:nvPr/>
        </p:nvSpPr>
        <p:spPr bwMode="auto">
          <a:xfrm>
            <a:off x="4427379" y="1788337"/>
            <a:ext cx="2574925" cy="35912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1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带宽</a:t>
            </a:r>
            <a:endParaRPr lang="en-US" altLang="zh-CN"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弹性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弹性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弹性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音频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5kbps-1Mbps</a:t>
            </a: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视频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:10kbps-5Mbps</a:t>
            </a: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同上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高于几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kbps</a:t>
            </a: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弹性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232" name="Text Box 6"/>
          <p:cNvSpPr txBox="1">
            <a:spLocks noChangeArrowheads="1"/>
          </p:cNvSpPr>
          <p:nvPr/>
        </p:nvSpPr>
        <p:spPr bwMode="auto">
          <a:xfrm>
            <a:off x="7075620" y="1762355"/>
            <a:ext cx="1225015" cy="348351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1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时延</a:t>
            </a:r>
            <a:endParaRPr lang="en-US" altLang="zh-CN"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否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否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否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01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是或否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33" name="Line 7"/>
          <p:cNvSpPr>
            <a:spLocks noChangeShapeType="1"/>
          </p:cNvSpPr>
          <p:nvPr/>
        </p:nvSpPr>
        <p:spPr bwMode="auto">
          <a:xfrm flipV="1">
            <a:off x="736600" y="2133600"/>
            <a:ext cx="7562850" cy="95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4" name="Line 8"/>
          <p:cNvSpPr>
            <a:spLocks noChangeShapeType="1"/>
          </p:cNvSpPr>
          <p:nvPr/>
        </p:nvSpPr>
        <p:spPr bwMode="auto">
          <a:xfrm flipV="1">
            <a:off x="688975" y="2547938"/>
            <a:ext cx="7629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5" name="Line 9"/>
          <p:cNvSpPr>
            <a:spLocks noChangeShapeType="1"/>
          </p:cNvSpPr>
          <p:nvPr/>
        </p:nvSpPr>
        <p:spPr bwMode="auto">
          <a:xfrm flipV="1">
            <a:off x="698500" y="2908300"/>
            <a:ext cx="7629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6" name="Line 10"/>
          <p:cNvSpPr>
            <a:spLocks noChangeShapeType="1"/>
          </p:cNvSpPr>
          <p:nvPr/>
        </p:nvSpPr>
        <p:spPr bwMode="auto">
          <a:xfrm flipV="1">
            <a:off x="708025" y="3253203"/>
            <a:ext cx="7629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7" name="Line 11"/>
          <p:cNvSpPr>
            <a:spLocks noChangeShapeType="1"/>
          </p:cNvSpPr>
          <p:nvPr/>
        </p:nvSpPr>
        <p:spPr bwMode="auto">
          <a:xfrm flipV="1">
            <a:off x="727075" y="4053295"/>
            <a:ext cx="7629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8" name="Line 12"/>
          <p:cNvSpPr>
            <a:spLocks noChangeShapeType="1"/>
          </p:cNvSpPr>
          <p:nvPr/>
        </p:nvSpPr>
        <p:spPr bwMode="auto">
          <a:xfrm flipV="1">
            <a:off x="679450" y="4453345"/>
            <a:ext cx="7629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39" name="Line 13"/>
          <p:cNvSpPr>
            <a:spLocks noChangeShapeType="1"/>
          </p:cNvSpPr>
          <p:nvPr/>
        </p:nvSpPr>
        <p:spPr bwMode="auto">
          <a:xfrm flipV="1">
            <a:off x="679450" y="4853395"/>
            <a:ext cx="7629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40" name="Line 14"/>
          <p:cNvSpPr>
            <a:spLocks noChangeShapeType="1"/>
          </p:cNvSpPr>
          <p:nvPr/>
        </p:nvSpPr>
        <p:spPr bwMode="auto">
          <a:xfrm flipV="1">
            <a:off x="641350" y="5239158"/>
            <a:ext cx="7629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2.2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传输层服务对应用层的支持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7471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互联网传输层提供的服务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2728" y="1557337"/>
            <a:ext cx="4270348" cy="4395787"/>
          </a:xfrm>
        </p:spPr>
        <p:txBody>
          <a:bodyPr/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TCP</a:t>
            </a:r>
            <a:r>
              <a:rPr lang="zh-CN" alt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</a:t>
            </a:r>
            <a:r>
              <a:rPr lang="en-US" altLang="zh-CN" sz="2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面向连接：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客户与服务器之间需要建立连接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可靠传输：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可保证传递数据无差错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流量控制：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发送数据不会超过接收端的容纳容量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拥塞控制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提供拥塞解决方案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不能提供：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时延和带宽保证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25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024148" y="1631156"/>
            <a:ext cx="3667125" cy="4248150"/>
          </a:xfrm>
        </p:spPr>
        <p:txBody>
          <a:bodyPr/>
          <a:lstStyle/>
          <a:p>
            <a:pPr>
              <a:buNone/>
            </a:pPr>
            <a:r>
              <a:rPr lang="en-US" altLang="zh-CN" sz="2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UDP</a:t>
            </a:r>
            <a:r>
              <a:rPr lang="zh-CN" alt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</a:t>
            </a:r>
            <a:r>
              <a:rPr lang="en-US" altLang="zh-CN" sz="2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不可靠：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不可靠的数据投递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不能提供：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连接建立、可靠性、流量控制、拥塞控制、时延和带宽保证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zh-CN" sz="2000" u="sng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Q: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为什么需要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UDP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？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2.2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传输层服务对应用层的支持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314325" y="836613"/>
            <a:ext cx="8612188" cy="576262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互联网应用：常用应用使用的传输层服务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4276" name="Text Box 3"/>
          <p:cNvSpPr txBox="1">
            <a:spLocks noChangeArrowheads="1"/>
          </p:cNvSpPr>
          <p:nvPr/>
        </p:nvSpPr>
        <p:spPr bwMode="auto">
          <a:xfrm>
            <a:off x="701633" y="2177856"/>
            <a:ext cx="1446759" cy="26776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应用</a:t>
            </a:r>
            <a:endParaRPr lang="en-US" altLang="zh-CN" sz="20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r"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电子邮件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spcBef>
                <a:spcPts val="60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r"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文件传输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流媒体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网络电话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spcBef>
                <a:spcPts val="600"/>
              </a:spcBef>
              <a:buClrTx/>
              <a:buFontTx/>
              <a:buNone/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277" name="Text Box 4"/>
          <p:cNvSpPr txBox="1">
            <a:spLocks noChangeArrowheads="1"/>
          </p:cNvSpPr>
          <p:nvPr/>
        </p:nvSpPr>
        <p:spPr bwMode="auto">
          <a:xfrm>
            <a:off x="2806489" y="2147409"/>
            <a:ext cx="2142061" cy="26314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应用层协议</a:t>
            </a:r>
            <a:endParaRPr lang="en-US" altLang="zh-CN" sz="20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SMTP [RFC 2821]</a:t>
            </a:r>
          </a:p>
          <a:p>
            <a:pPr>
              <a:spcBef>
                <a:spcPts val="60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 [RFC 2616]</a:t>
            </a:r>
          </a:p>
          <a:p>
            <a:pPr>
              <a:spcBef>
                <a:spcPts val="60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FTP [RFC 959]</a:t>
            </a:r>
          </a:p>
          <a:p>
            <a:pPr>
              <a:spcBef>
                <a:spcPts val="60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RTP</a:t>
            </a:r>
            <a:b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RTP [RFC 1889]</a:t>
            </a:r>
          </a:p>
          <a:p>
            <a:pPr>
              <a:spcBef>
                <a:spcPts val="60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、专有协议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278" name="Text Box 5"/>
          <p:cNvSpPr txBox="1">
            <a:spLocks noChangeArrowheads="1"/>
          </p:cNvSpPr>
          <p:nvPr/>
        </p:nvSpPr>
        <p:spPr bwMode="auto">
          <a:xfrm>
            <a:off x="5765015" y="2144907"/>
            <a:ext cx="2624138" cy="2323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传输层协议</a:t>
            </a:r>
            <a:endParaRPr lang="en-US" altLang="zh-CN" sz="20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</a:p>
          <a:p>
            <a:pPr>
              <a:spcBef>
                <a:spcPts val="60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</a:p>
          <a:p>
            <a:pPr>
              <a:spcBef>
                <a:spcPts val="60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</a:p>
          <a:p>
            <a:pPr>
              <a:spcBef>
                <a:spcPts val="600"/>
              </a:spcBef>
              <a:buClrTx/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 or UDP</a:t>
            </a:r>
          </a:p>
          <a:p>
            <a:pPr>
              <a:spcBef>
                <a:spcPts val="600"/>
              </a:spcBef>
              <a:buClrTx/>
              <a:buFontTx/>
              <a:buNone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典型为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UDP</a:t>
            </a:r>
          </a:p>
        </p:txBody>
      </p:sp>
      <p:sp>
        <p:nvSpPr>
          <p:cNvPr id="54279" name="Line 7"/>
          <p:cNvSpPr>
            <a:spLocks noChangeShapeType="1"/>
          </p:cNvSpPr>
          <p:nvPr/>
        </p:nvSpPr>
        <p:spPr bwMode="auto">
          <a:xfrm>
            <a:off x="693695" y="2574925"/>
            <a:ext cx="7334250" cy="95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</p:spPr>
        <p:txBody>
          <a:bodyPr wrap="none" anchor="ctr"/>
          <a:lstStyle/>
          <a:p>
            <a:pPr>
              <a:spcBef>
                <a:spcPts val="600"/>
              </a:spcBef>
            </a:pPr>
            <a:endParaRPr lang="zh-CN" altLang="en-US"/>
          </a:p>
        </p:txBody>
      </p:sp>
      <p:sp>
        <p:nvSpPr>
          <p:cNvPr id="54280" name="Line 8"/>
          <p:cNvSpPr>
            <a:spLocks noChangeShapeType="1"/>
          </p:cNvSpPr>
          <p:nvPr/>
        </p:nvSpPr>
        <p:spPr bwMode="auto">
          <a:xfrm flipV="1">
            <a:off x="696870" y="2922588"/>
            <a:ext cx="7324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wrap="none" anchor="ctr"/>
          <a:lstStyle/>
          <a:p>
            <a:pPr>
              <a:spcBef>
                <a:spcPts val="600"/>
              </a:spcBef>
            </a:pPr>
            <a:endParaRPr lang="zh-CN" altLang="en-US"/>
          </a:p>
        </p:txBody>
      </p:sp>
      <p:sp>
        <p:nvSpPr>
          <p:cNvPr id="54281" name="Line 9"/>
          <p:cNvSpPr>
            <a:spLocks noChangeShapeType="1"/>
          </p:cNvSpPr>
          <p:nvPr/>
        </p:nvSpPr>
        <p:spPr bwMode="auto">
          <a:xfrm>
            <a:off x="701633" y="3276222"/>
            <a:ext cx="7326312" cy="3054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wrap="none" anchor="ctr"/>
          <a:lstStyle/>
          <a:p>
            <a:pPr>
              <a:spcBef>
                <a:spcPts val="600"/>
              </a:spcBef>
            </a:pPr>
            <a:endParaRPr lang="zh-CN" altLang="en-US"/>
          </a:p>
        </p:txBody>
      </p:sp>
      <p:sp>
        <p:nvSpPr>
          <p:cNvPr id="54282" name="Line 10"/>
          <p:cNvSpPr>
            <a:spLocks noChangeShapeType="1"/>
          </p:cNvSpPr>
          <p:nvPr/>
        </p:nvSpPr>
        <p:spPr bwMode="auto">
          <a:xfrm>
            <a:off x="701633" y="3660774"/>
            <a:ext cx="7334250" cy="952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wrap="none" anchor="ctr"/>
          <a:lstStyle/>
          <a:p>
            <a:pPr>
              <a:spcBef>
                <a:spcPts val="600"/>
              </a:spcBef>
            </a:pPr>
            <a:endParaRPr lang="zh-CN" altLang="en-US"/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>
            <a:off x="693695" y="4044948"/>
            <a:ext cx="7351713" cy="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wrap="none" anchor="ctr"/>
          <a:lstStyle/>
          <a:p>
            <a:pPr>
              <a:spcBef>
                <a:spcPts val="600"/>
              </a:spcBef>
            </a:pPr>
            <a:endParaRPr lang="zh-CN" altLang="en-US"/>
          </a:p>
        </p:txBody>
      </p:sp>
      <p:sp>
        <p:nvSpPr>
          <p:cNvPr id="54284" name="Line 12"/>
          <p:cNvSpPr>
            <a:spLocks noChangeShapeType="1"/>
          </p:cNvSpPr>
          <p:nvPr/>
        </p:nvSpPr>
        <p:spPr bwMode="auto">
          <a:xfrm>
            <a:off x="693695" y="4746624"/>
            <a:ext cx="7351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 wrap="none" anchor="ctr"/>
          <a:lstStyle/>
          <a:p>
            <a:pPr>
              <a:spcBef>
                <a:spcPts val="600"/>
              </a:spcBef>
            </a:pPr>
            <a:endParaRPr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2.2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传输层服务对应用层的支持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578498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9005" y="1662545"/>
            <a:ext cx="8197796" cy="4420502"/>
          </a:xfrm>
        </p:spPr>
        <p:txBody>
          <a:bodyPr>
            <a:normAutofit/>
          </a:bodyPr>
          <a:lstStyle/>
          <a:p>
            <a:pPr>
              <a:lnSpc>
                <a:spcPct val="19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TCP/IP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协议通常在操作系统的</a:t>
            </a:r>
            <a:r>
              <a:rPr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内核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中实现</a:t>
            </a:r>
          </a:p>
          <a:p>
            <a:pPr>
              <a:lnSpc>
                <a:spcPct val="190000"/>
              </a:lnSpc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编程界面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：由操作系统提供的功能调用，可以使应用程序方便地使用内核的功能</a:t>
            </a:r>
          </a:p>
          <a:p>
            <a:pPr>
              <a:lnSpc>
                <a:spcPct val="190000"/>
              </a:lnSpc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socket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（套接字）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：支持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TCP/IP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的操作系统为网络程序开发提供的</a:t>
            </a:r>
            <a:r>
              <a:rPr lang="zh-CN" altLang="en-US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典型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网络编程界面</a:t>
            </a:r>
          </a:p>
        </p:txBody>
      </p:sp>
      <p:sp>
        <p:nvSpPr>
          <p:cNvPr id="2" name="矩形 1"/>
          <p:cNvSpPr/>
          <p:nvPr/>
        </p:nvSpPr>
        <p:spPr>
          <a:xfrm>
            <a:off x="457199" y="774953"/>
            <a:ext cx="27240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+mj-cs"/>
              </a:rPr>
              <a:t>网络编程界面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8474" y="1333610"/>
            <a:ext cx="4386948" cy="4309600"/>
          </a:xfrm>
        </p:spPr>
        <p:txBody>
          <a:bodyPr>
            <a:normAutofit fontScale="92500" lnSpcReduction="10000"/>
          </a:bodyPr>
          <a:lstStyle/>
          <a:p>
            <a:pPr marL="266700" indent="-266700">
              <a:lnSpc>
                <a:spcPct val="120000"/>
              </a:lnSpc>
              <a:buClr>
                <a:srgbClr val="C00000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进程通过</a:t>
            </a:r>
            <a:r>
              <a:rPr lang="zh-CN" altLang="en-US" sz="26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套接字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发送消息和接收消息</a:t>
            </a:r>
            <a:endParaRPr lang="en-US" altLang="zh-CN" sz="26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-266700">
              <a:lnSpc>
                <a:spcPct val="120000"/>
              </a:lnSpc>
              <a:buClr>
                <a:srgbClr val="C00000"/>
              </a:buClr>
              <a:buSzPct val="85000"/>
              <a:buFont typeface="Wingdings" panose="05000000000000000000" pitchFamily="2" charset="2"/>
              <a:buChar char="n"/>
            </a:pP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套接字可以看成一道“</a:t>
            </a:r>
            <a:r>
              <a:rPr lang="zh-CN" altLang="en-US" sz="26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门</a:t>
            </a:r>
            <a:r>
              <a:rPr lang="zh-CN" altLang="en-US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endParaRPr lang="en-US" altLang="zh-CN" sz="2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8650" lvl="1" indent="-271780">
              <a:lnSpc>
                <a:spcPct val="120000"/>
              </a:lnSpc>
              <a:buClr>
                <a:srgbClr val="2A09B7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发送进程把消息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从“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门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”推出去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8650" lvl="1" indent="-271780">
              <a:lnSpc>
                <a:spcPct val="120000"/>
              </a:lnSpc>
              <a:buClr>
                <a:srgbClr val="2A09B7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发送进程推出去的消息利用下层的通信设施传递到接收进程所在的“门”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628650" lvl="1" indent="-271780">
              <a:lnSpc>
                <a:spcPct val="120000"/>
              </a:lnSpc>
              <a:buClr>
                <a:srgbClr val="2A09B7"/>
              </a:buClr>
              <a:buSzPct val="85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接收进程再从“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门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”把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消息拉进去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50" name="Freeform 7"/>
          <p:cNvSpPr/>
          <p:nvPr/>
        </p:nvSpPr>
        <p:spPr bwMode="auto">
          <a:xfrm>
            <a:off x="6038244" y="3692525"/>
            <a:ext cx="1808163" cy="1031875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151" name="Group 37"/>
          <p:cNvGrpSpPr/>
          <p:nvPr/>
        </p:nvGrpSpPr>
        <p:grpSpPr bwMode="auto">
          <a:xfrm>
            <a:off x="4855658" y="1687513"/>
            <a:ext cx="1062038" cy="3341688"/>
            <a:chOff x="2933" y="739"/>
            <a:chExt cx="669" cy="2105"/>
          </a:xfrm>
        </p:grpSpPr>
        <p:sp>
          <p:nvSpPr>
            <p:cNvPr id="6172" name="Text Box 14"/>
            <p:cNvSpPr txBox="1">
              <a:spLocks noChangeArrowheads="1"/>
            </p:cNvSpPr>
            <p:nvPr/>
          </p:nvSpPr>
          <p:spPr bwMode="auto">
            <a:xfrm>
              <a:off x="3361" y="2600"/>
              <a:ext cx="116" cy="2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endParaRPr lang="zh-CN" altLang="zh-CN" sz="1600"/>
            </a:p>
          </p:txBody>
        </p:sp>
        <p:graphicFrame>
          <p:nvGraphicFramePr>
            <p:cNvPr id="6147" name="Object 3"/>
            <p:cNvGraphicFramePr>
              <a:graphicFrameLocks noChangeAspect="1"/>
            </p:cNvGraphicFramePr>
            <p:nvPr/>
          </p:nvGraphicFramePr>
          <p:xfrm>
            <a:off x="3039" y="996"/>
            <a:ext cx="405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2" imgW="1307465" imgH="1083945" progId="MS_ClipArt_Gallery.2">
                    <p:embed/>
                  </p:oleObj>
                </mc:Choice>
                <mc:Fallback>
                  <p:oleObj name="Clip" r:id="rId2" imgW="1307465" imgH="1083945" progId="MS_ClipArt_Gallery.2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9" y="996"/>
                          <a:ext cx="405" cy="3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73" name="Group 10"/>
            <p:cNvGrpSpPr/>
            <p:nvPr/>
          </p:nvGrpSpPr>
          <p:grpSpPr bwMode="auto">
            <a:xfrm>
              <a:off x="2933" y="1323"/>
              <a:ext cx="669" cy="353"/>
              <a:chOff x="3046" y="1508"/>
              <a:chExt cx="669" cy="353"/>
            </a:xfrm>
          </p:grpSpPr>
          <p:sp>
            <p:nvSpPr>
              <p:cNvPr id="6181" name="Oval 8"/>
              <p:cNvSpPr>
                <a:spLocks noChangeArrowheads="1"/>
              </p:cNvSpPr>
              <p:nvPr/>
            </p:nvSpPr>
            <p:spPr bwMode="auto">
              <a:xfrm>
                <a:off x="3046" y="1508"/>
                <a:ext cx="669" cy="35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  <p:sp>
            <p:nvSpPr>
              <p:cNvPr id="6182" name="Text Box 9"/>
              <p:cNvSpPr txBox="1">
                <a:spLocks noChangeArrowheads="1"/>
              </p:cNvSpPr>
              <p:nvPr/>
            </p:nvSpPr>
            <p:spPr bwMode="auto">
              <a:xfrm>
                <a:off x="3119" y="1578"/>
                <a:ext cx="505" cy="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ea typeface="宋体" panose="02010600030101010101" pitchFamily="2" charset="-122"/>
                  </a:rPr>
                  <a:t>process</a:t>
                </a:r>
              </a:p>
            </p:txBody>
          </p:sp>
        </p:grpSp>
        <p:grpSp>
          <p:nvGrpSpPr>
            <p:cNvPr id="6174" name="Group 17"/>
            <p:cNvGrpSpPr/>
            <p:nvPr/>
          </p:nvGrpSpPr>
          <p:grpSpPr bwMode="auto">
            <a:xfrm>
              <a:off x="2949" y="1845"/>
              <a:ext cx="610" cy="656"/>
              <a:chOff x="3072" y="3300"/>
              <a:chExt cx="610" cy="656"/>
            </a:xfrm>
          </p:grpSpPr>
          <p:sp>
            <p:nvSpPr>
              <p:cNvPr id="6179" name="Rectangle 15"/>
              <p:cNvSpPr>
                <a:spLocks noChangeArrowheads="1"/>
              </p:cNvSpPr>
              <p:nvPr/>
            </p:nvSpPr>
            <p:spPr bwMode="auto">
              <a:xfrm>
                <a:off x="3084" y="3300"/>
                <a:ext cx="593" cy="6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  <p:sp>
            <p:nvSpPr>
              <p:cNvPr id="6180" name="Text Box 16"/>
              <p:cNvSpPr txBox="1">
                <a:spLocks noChangeArrowheads="1"/>
              </p:cNvSpPr>
              <p:nvPr/>
            </p:nvSpPr>
            <p:spPr bwMode="auto">
              <a:xfrm>
                <a:off x="3072" y="3339"/>
                <a:ext cx="610" cy="61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ea typeface="宋体" panose="02010600030101010101" pitchFamily="2" charset="-122"/>
                  </a:rPr>
                  <a:t>TCP with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ea typeface="宋体" panose="02010600030101010101" pitchFamily="2" charset="-122"/>
                  </a:rPr>
                  <a:t>buffers,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ea typeface="宋体" panose="02010600030101010101" pitchFamily="2" charset="-122"/>
                  </a:rPr>
                  <a:t>variables</a:t>
                </a:r>
              </a:p>
            </p:txBody>
          </p:sp>
        </p:grpSp>
        <p:sp>
          <p:nvSpPr>
            <p:cNvPr id="6175" name="Rectangle 18"/>
            <p:cNvSpPr>
              <a:spLocks noChangeArrowheads="1"/>
            </p:cNvSpPr>
            <p:nvPr/>
          </p:nvSpPr>
          <p:spPr bwMode="auto">
            <a:xfrm>
              <a:off x="3054" y="1654"/>
              <a:ext cx="415" cy="20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socket</a:t>
              </a:r>
            </a:p>
          </p:txBody>
        </p:sp>
        <p:sp>
          <p:nvSpPr>
            <p:cNvPr id="6176" name="Line 33"/>
            <p:cNvSpPr>
              <a:spLocks noChangeShapeType="1"/>
            </p:cNvSpPr>
            <p:nvPr/>
          </p:nvSpPr>
          <p:spPr bwMode="auto">
            <a:xfrm flipV="1">
              <a:off x="3261" y="1561"/>
              <a:ext cx="0" cy="1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7" name="Line 35"/>
            <p:cNvSpPr>
              <a:spLocks noChangeShapeType="1"/>
            </p:cNvSpPr>
            <p:nvPr/>
          </p:nvSpPr>
          <p:spPr bwMode="auto">
            <a:xfrm>
              <a:off x="3269" y="1823"/>
              <a:ext cx="0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8" name="Text Box 36"/>
            <p:cNvSpPr txBox="1">
              <a:spLocks noChangeArrowheads="1"/>
            </p:cNvSpPr>
            <p:nvPr/>
          </p:nvSpPr>
          <p:spPr bwMode="auto">
            <a:xfrm>
              <a:off x="3095" y="739"/>
              <a:ext cx="34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ea typeface="宋体" panose="02010600030101010101" pitchFamily="2" charset="-122"/>
                </a:rPr>
                <a:t>host</a:t>
              </a:r>
            </a:p>
          </p:txBody>
        </p:sp>
      </p:grpSp>
      <p:grpSp>
        <p:nvGrpSpPr>
          <p:cNvPr id="6152" name="Group 38"/>
          <p:cNvGrpSpPr/>
          <p:nvPr/>
        </p:nvGrpSpPr>
        <p:grpSpPr bwMode="auto">
          <a:xfrm>
            <a:off x="7957532" y="1646238"/>
            <a:ext cx="1062037" cy="3362325"/>
            <a:chOff x="2933" y="726"/>
            <a:chExt cx="669" cy="2118"/>
          </a:xfrm>
        </p:grpSpPr>
        <p:sp>
          <p:nvSpPr>
            <p:cNvPr id="6161" name="Text Box 39"/>
            <p:cNvSpPr txBox="1">
              <a:spLocks noChangeArrowheads="1"/>
            </p:cNvSpPr>
            <p:nvPr/>
          </p:nvSpPr>
          <p:spPr bwMode="auto">
            <a:xfrm>
              <a:off x="3361" y="2600"/>
              <a:ext cx="116" cy="24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buClrTx/>
                <a:buFontTx/>
                <a:buNone/>
              </a:pPr>
              <a:endParaRPr lang="zh-CN" altLang="zh-CN" sz="1600"/>
            </a:p>
          </p:txBody>
        </p:sp>
        <p:graphicFrame>
          <p:nvGraphicFramePr>
            <p:cNvPr id="6146" name="Object 2"/>
            <p:cNvGraphicFramePr>
              <a:graphicFrameLocks noChangeAspect="1"/>
            </p:cNvGraphicFramePr>
            <p:nvPr/>
          </p:nvGraphicFramePr>
          <p:xfrm>
            <a:off x="3039" y="996"/>
            <a:ext cx="405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1307465" imgH="1083945" progId="MS_ClipArt_Gallery.2">
                    <p:embed/>
                  </p:oleObj>
                </mc:Choice>
                <mc:Fallback>
                  <p:oleObj name="Clip" r:id="rId4" imgW="1307465" imgH="1083945" progId="MS_ClipArt_Gallery.2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9" y="996"/>
                          <a:ext cx="405" cy="3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62" name="Group 41"/>
            <p:cNvGrpSpPr/>
            <p:nvPr/>
          </p:nvGrpSpPr>
          <p:grpSpPr bwMode="auto">
            <a:xfrm>
              <a:off x="2933" y="1323"/>
              <a:ext cx="669" cy="353"/>
              <a:chOff x="3046" y="1508"/>
              <a:chExt cx="669" cy="353"/>
            </a:xfrm>
          </p:grpSpPr>
          <p:sp>
            <p:nvSpPr>
              <p:cNvPr id="6170" name="Oval 42"/>
              <p:cNvSpPr>
                <a:spLocks noChangeArrowheads="1"/>
              </p:cNvSpPr>
              <p:nvPr/>
            </p:nvSpPr>
            <p:spPr bwMode="auto">
              <a:xfrm>
                <a:off x="3046" y="1508"/>
                <a:ext cx="669" cy="353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  <p:sp>
            <p:nvSpPr>
              <p:cNvPr id="6171" name="Text Box 43"/>
              <p:cNvSpPr txBox="1">
                <a:spLocks noChangeArrowheads="1"/>
              </p:cNvSpPr>
              <p:nvPr/>
            </p:nvSpPr>
            <p:spPr bwMode="auto">
              <a:xfrm>
                <a:off x="3119" y="1578"/>
                <a:ext cx="505" cy="24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>
                    <a:ea typeface="宋体" panose="02010600030101010101" pitchFamily="2" charset="-122"/>
                  </a:rPr>
                  <a:t>process</a:t>
                </a:r>
              </a:p>
            </p:txBody>
          </p:sp>
        </p:grpSp>
        <p:grpSp>
          <p:nvGrpSpPr>
            <p:cNvPr id="6163" name="Group 44"/>
            <p:cNvGrpSpPr/>
            <p:nvPr/>
          </p:nvGrpSpPr>
          <p:grpSpPr bwMode="auto">
            <a:xfrm>
              <a:off x="2949" y="1845"/>
              <a:ext cx="610" cy="656"/>
              <a:chOff x="3072" y="3300"/>
              <a:chExt cx="610" cy="656"/>
            </a:xfrm>
          </p:grpSpPr>
          <p:sp>
            <p:nvSpPr>
              <p:cNvPr id="6168" name="Rectangle 45"/>
              <p:cNvSpPr>
                <a:spLocks noChangeArrowheads="1"/>
              </p:cNvSpPr>
              <p:nvPr/>
            </p:nvSpPr>
            <p:spPr bwMode="auto">
              <a:xfrm>
                <a:off x="3084" y="3300"/>
                <a:ext cx="593" cy="6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  <p:sp>
            <p:nvSpPr>
              <p:cNvPr id="6169" name="Text Box 46"/>
              <p:cNvSpPr txBox="1">
                <a:spLocks noChangeArrowheads="1"/>
              </p:cNvSpPr>
              <p:nvPr/>
            </p:nvSpPr>
            <p:spPr bwMode="auto">
              <a:xfrm>
                <a:off x="3072" y="3339"/>
                <a:ext cx="610" cy="61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ea typeface="宋体" panose="02010600030101010101" pitchFamily="2" charset="-122"/>
                  </a:rPr>
                  <a:t>TCP with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ea typeface="宋体" panose="02010600030101010101" pitchFamily="2" charset="-122"/>
                  </a:rPr>
                  <a:t>buffers,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600" dirty="0">
                    <a:ea typeface="宋体" panose="02010600030101010101" pitchFamily="2" charset="-122"/>
                  </a:rPr>
                  <a:t>variables</a:t>
                </a:r>
              </a:p>
            </p:txBody>
          </p:sp>
        </p:grpSp>
        <p:sp>
          <p:nvSpPr>
            <p:cNvPr id="6164" name="Rectangle 47"/>
            <p:cNvSpPr>
              <a:spLocks noChangeArrowheads="1"/>
            </p:cNvSpPr>
            <p:nvPr/>
          </p:nvSpPr>
          <p:spPr bwMode="auto">
            <a:xfrm>
              <a:off x="3054" y="1654"/>
              <a:ext cx="415" cy="20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>
                  <a:ea typeface="宋体" panose="02010600030101010101" pitchFamily="2" charset="-122"/>
                </a:rPr>
                <a:t>socket</a:t>
              </a:r>
            </a:p>
          </p:txBody>
        </p:sp>
        <p:sp>
          <p:nvSpPr>
            <p:cNvPr id="6165" name="Line 48"/>
            <p:cNvSpPr>
              <a:spLocks noChangeShapeType="1"/>
            </p:cNvSpPr>
            <p:nvPr/>
          </p:nvSpPr>
          <p:spPr bwMode="auto">
            <a:xfrm flipV="1">
              <a:off x="3261" y="1561"/>
              <a:ext cx="0" cy="1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6" name="Line 49"/>
            <p:cNvSpPr>
              <a:spLocks noChangeShapeType="1"/>
            </p:cNvSpPr>
            <p:nvPr/>
          </p:nvSpPr>
          <p:spPr bwMode="auto">
            <a:xfrm>
              <a:off x="3269" y="1823"/>
              <a:ext cx="0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7" name="Text Box 50"/>
            <p:cNvSpPr txBox="1">
              <a:spLocks noChangeArrowheads="1"/>
            </p:cNvSpPr>
            <p:nvPr/>
          </p:nvSpPr>
          <p:spPr bwMode="auto">
            <a:xfrm>
              <a:off x="3074" y="726"/>
              <a:ext cx="345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dirty="0">
                  <a:ea typeface="宋体" panose="02010600030101010101" pitchFamily="2" charset="-122"/>
                </a:rPr>
                <a:t>host</a:t>
              </a:r>
            </a:p>
          </p:txBody>
        </p:sp>
      </p:grpSp>
      <p:sp>
        <p:nvSpPr>
          <p:cNvPr id="6153" name="Text Box 51"/>
          <p:cNvSpPr txBox="1">
            <a:spLocks noChangeArrowheads="1"/>
          </p:cNvSpPr>
          <p:nvPr/>
        </p:nvSpPr>
        <p:spPr bwMode="auto">
          <a:xfrm>
            <a:off x="6555871" y="3824288"/>
            <a:ext cx="825500" cy="3889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>
                <a:ea typeface="宋体" panose="02010600030101010101" pitchFamily="2" charset="-122"/>
              </a:rPr>
              <a:t>Internet</a:t>
            </a:r>
          </a:p>
        </p:txBody>
      </p:sp>
      <p:sp>
        <p:nvSpPr>
          <p:cNvPr id="6154" name="Line 52"/>
          <p:cNvSpPr>
            <a:spLocks noChangeShapeType="1"/>
          </p:cNvSpPr>
          <p:nvPr/>
        </p:nvSpPr>
        <p:spPr bwMode="auto">
          <a:xfrm>
            <a:off x="5849432" y="4213225"/>
            <a:ext cx="2158899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5" name="Text Box 53"/>
          <p:cNvSpPr txBox="1">
            <a:spLocks noChangeArrowheads="1"/>
          </p:cNvSpPr>
          <p:nvPr/>
        </p:nvSpPr>
        <p:spPr bwMode="auto">
          <a:xfrm>
            <a:off x="5570639" y="4667250"/>
            <a:ext cx="1033681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</a:rPr>
              <a:t>controlled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FF0000"/>
                </a:solidFill>
                <a:ea typeface="宋体" panose="02010600030101010101" pitchFamily="2" charset="-122"/>
              </a:rPr>
              <a:t>by OS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1600" dirty="0">
              <a:ea typeface="宋体" panose="02010600030101010101" pitchFamily="2" charset="-122"/>
            </a:endParaRPr>
          </a:p>
        </p:txBody>
      </p:sp>
      <p:sp>
        <p:nvSpPr>
          <p:cNvPr id="6156" name="Line 55"/>
          <p:cNvSpPr>
            <a:spLocks noChangeShapeType="1"/>
          </p:cNvSpPr>
          <p:nvPr/>
        </p:nvSpPr>
        <p:spPr bwMode="auto">
          <a:xfrm flipH="1" flipV="1">
            <a:off x="5633533" y="4445000"/>
            <a:ext cx="244475" cy="3175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7" name="Text Box 56"/>
          <p:cNvSpPr txBox="1">
            <a:spLocks noChangeArrowheads="1"/>
          </p:cNvSpPr>
          <p:nvPr/>
        </p:nvSpPr>
        <p:spPr bwMode="auto">
          <a:xfrm>
            <a:off x="6063746" y="2306638"/>
            <a:ext cx="1344612" cy="682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ea typeface="宋体" panose="02010600030101010101" pitchFamily="2" charset="-122"/>
              </a:rPr>
              <a:t>controlled by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600">
                <a:solidFill>
                  <a:srgbClr val="FF0000"/>
                </a:solidFill>
                <a:ea typeface="宋体" panose="02010600030101010101" pitchFamily="2" charset="-122"/>
              </a:rPr>
              <a:t>app developer</a:t>
            </a:r>
            <a:endParaRPr lang="en-US" altLang="zh-CN" sz="1600">
              <a:ea typeface="宋体" panose="02010600030101010101" pitchFamily="2" charset="-122"/>
            </a:endParaRPr>
          </a:p>
        </p:txBody>
      </p:sp>
      <p:sp>
        <p:nvSpPr>
          <p:cNvPr id="6158" name="Line 58"/>
          <p:cNvSpPr>
            <a:spLocks noChangeShapeType="1"/>
          </p:cNvSpPr>
          <p:nvPr/>
        </p:nvSpPr>
        <p:spPr bwMode="auto">
          <a:xfrm flipH="1">
            <a:off x="5841496" y="2589213"/>
            <a:ext cx="219075" cy="1333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9" name="Rectangle 3"/>
          <p:cNvSpPr txBox="1">
            <a:spLocks noChangeArrowheads="1"/>
          </p:cNvSpPr>
          <p:nvPr/>
        </p:nvSpPr>
        <p:spPr bwMode="auto">
          <a:xfrm>
            <a:off x="316411" y="5643210"/>
            <a:ext cx="8507692" cy="750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algn="l" eaLnBrk="0" hangingPunct="0">
              <a:lnSpc>
                <a:spcPct val="100000"/>
              </a:lnSpc>
              <a:spcBef>
                <a:spcPts val="600"/>
              </a:spcBef>
              <a:buClrTx/>
              <a:buFont typeface="Symbol" panose="05050102010706020507" pitchFamily="18" charset="2"/>
              <a:buBlip>
                <a:blip r:embed="rId5"/>
              </a:buBlip>
            </a:pP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API</a:t>
            </a:r>
            <a:r>
              <a:rPr lang="zh-CN" alt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选择使用的传输层协议；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(2)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对套接字的一些参数进行修改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</a:t>
            </a:r>
          </a:p>
        </p:txBody>
      </p:sp>
      <p:sp>
        <p:nvSpPr>
          <p:cNvPr id="39" name="Rectangle 2"/>
          <p:cNvSpPr>
            <a:spLocks noGrp="1" noChangeArrowheads="1"/>
          </p:cNvSpPr>
          <p:nvPr>
            <p:ph type="title"/>
          </p:nvPr>
        </p:nvSpPr>
        <p:spPr>
          <a:xfrm>
            <a:off x="316411" y="681135"/>
            <a:ext cx="7598833" cy="596354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套接字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sockets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6796" y="1602979"/>
            <a:ext cx="8266922" cy="397403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数据报套接字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datagram sockets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）：使用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UDP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协议，支持主机之间面向非连接、不可靠的数据传输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流式套接字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stream sockets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）：使用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协议，支持主机之间面向连接的、顺序的、可靠的、全双工字节流传输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操作系统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Windows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iOS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Android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编程语言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VB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16411" y="681135"/>
            <a:ext cx="7598833" cy="596354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套接字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sockets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8412" y="1052512"/>
            <a:ext cx="4440237" cy="4900613"/>
          </a:xfrm>
        </p:spPr>
        <p:txBody>
          <a:bodyPr/>
          <a:lstStyle/>
          <a:p>
            <a:pPr>
              <a:lnSpc>
                <a:spcPct val="120000"/>
              </a:lnSpc>
              <a:buNone/>
            </a:pPr>
            <a:r>
              <a:rPr lang="en-US" altLang="zh-CN" sz="2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TCP</a:t>
            </a:r>
            <a:r>
              <a:rPr lang="zh-CN" alt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</a:t>
            </a:r>
            <a:r>
              <a:rPr lang="en-US" altLang="zh-CN" sz="2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面向连接：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客户与服务器之间需要建立连接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可靠传输：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可保证传递数据无差错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流量控制：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发送数据不会超过接收端的容纳容量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拥塞控制</a:t>
            </a:r>
            <a:r>
              <a:rPr lang="en-US" altLang="zh-CN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提供拥塞解决方案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不能提供：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时延和带宽保证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25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050035" y="1138335"/>
            <a:ext cx="3667125" cy="4667153"/>
          </a:xfrm>
        </p:spPr>
        <p:txBody>
          <a:bodyPr/>
          <a:lstStyle/>
          <a:p>
            <a:pPr>
              <a:buNone/>
            </a:pPr>
            <a:r>
              <a:rPr lang="en-US" altLang="zh-CN" sz="2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UDP</a:t>
            </a:r>
            <a:r>
              <a:rPr lang="zh-CN" altLang="en-US" sz="2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</a:t>
            </a:r>
            <a:r>
              <a:rPr lang="en-US" altLang="zh-CN" sz="2400" b="1" u="sng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不可靠：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不可靠的数据投递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不能提供：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连接建立、可靠性、流量控制、拥塞控制、时延和带宽保证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120000"/>
              </a:lnSpc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回顾：传输层提供的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TCP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UDP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提前了解：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TCP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UDP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的区别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1079455" y="2104456"/>
            <a:ext cx="2537654" cy="3200400"/>
            <a:chOff x="1153904" y="4466548"/>
            <a:chExt cx="3383538" cy="4267200"/>
          </a:xfrm>
        </p:grpSpPr>
        <p:pic>
          <p:nvPicPr>
            <p:cNvPr id="51" name="图片 5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5673" y="5151292"/>
              <a:ext cx="844950" cy="543200"/>
            </a:xfrm>
            <a:prstGeom prst="rect">
              <a:avLst/>
            </a:prstGeom>
          </p:spPr>
        </p:pic>
        <p:sp>
          <p:nvSpPr>
            <p:cNvPr id="52" name="矩形 51"/>
            <p:cNvSpPr/>
            <p:nvPr/>
          </p:nvSpPr>
          <p:spPr>
            <a:xfrm>
              <a:off x="1153904" y="4466548"/>
              <a:ext cx="3383538" cy="4267200"/>
            </a:xfrm>
            <a:prstGeom prst="rect">
              <a:avLst/>
            </a:prstGeom>
            <a:solidFill>
              <a:srgbClr val="A2C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1872772" y="4570011"/>
              <a:ext cx="1967110" cy="5285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收货人  张三</a:t>
              </a:r>
            </a:p>
          </p:txBody>
        </p:sp>
        <p:sp>
          <p:nvSpPr>
            <p:cNvPr id="54" name="矩形 53"/>
            <p:cNvSpPr/>
            <p:nvPr/>
          </p:nvSpPr>
          <p:spPr>
            <a:xfrm>
              <a:off x="1309028" y="5733295"/>
              <a:ext cx="2123680" cy="5285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李四发来的货</a:t>
              </a:r>
            </a:p>
          </p:txBody>
        </p:sp>
        <p:sp>
          <p:nvSpPr>
            <p:cNvPr id="55" name="矩形 54"/>
            <p:cNvSpPr/>
            <p:nvPr/>
          </p:nvSpPr>
          <p:spPr>
            <a:xfrm>
              <a:off x="3666556" y="5626188"/>
              <a:ext cx="566468" cy="264210"/>
            </a:xfrm>
            <a:prstGeom prst="rect">
              <a:avLst/>
            </a:prstGeom>
            <a:solidFill>
              <a:srgbClr val="020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3666556" y="5952303"/>
              <a:ext cx="566468" cy="264210"/>
            </a:xfrm>
            <a:prstGeom prst="rect">
              <a:avLst/>
            </a:prstGeom>
            <a:solidFill>
              <a:srgbClr val="020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3666556" y="6278417"/>
              <a:ext cx="566468" cy="264210"/>
            </a:xfrm>
            <a:prstGeom prst="rect">
              <a:avLst/>
            </a:prstGeom>
            <a:solidFill>
              <a:srgbClr val="020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1295075" y="7431456"/>
              <a:ext cx="2123680" cy="5285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王五发来的货</a:t>
              </a:r>
            </a:p>
          </p:txBody>
        </p:sp>
        <p:sp>
          <p:nvSpPr>
            <p:cNvPr id="59" name="矩形 58"/>
            <p:cNvSpPr/>
            <p:nvPr/>
          </p:nvSpPr>
          <p:spPr>
            <a:xfrm>
              <a:off x="3652602" y="7324349"/>
              <a:ext cx="566468" cy="2642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3652602" y="7650464"/>
              <a:ext cx="566468" cy="2642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3652602" y="7976578"/>
              <a:ext cx="566468" cy="2642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692024" y="2104457"/>
            <a:ext cx="2537654" cy="1557059"/>
            <a:chOff x="5250609" y="4466548"/>
            <a:chExt cx="3383538" cy="2076079"/>
          </a:xfrm>
        </p:grpSpPr>
        <p:sp>
          <p:nvSpPr>
            <p:cNvPr id="63" name="矩形 62"/>
            <p:cNvSpPr/>
            <p:nvPr/>
          </p:nvSpPr>
          <p:spPr>
            <a:xfrm>
              <a:off x="5250609" y="4466548"/>
              <a:ext cx="3383538" cy="207607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5974445" y="4570009"/>
              <a:ext cx="1967110" cy="5285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发货人  李四</a:t>
              </a:r>
            </a:p>
          </p:txBody>
        </p:sp>
        <p:sp>
          <p:nvSpPr>
            <p:cNvPr id="65" name="矩形 64"/>
            <p:cNvSpPr/>
            <p:nvPr/>
          </p:nvSpPr>
          <p:spPr>
            <a:xfrm>
              <a:off x="5494168" y="5442720"/>
              <a:ext cx="566468" cy="264210"/>
            </a:xfrm>
            <a:prstGeom prst="rect">
              <a:avLst/>
            </a:prstGeom>
            <a:solidFill>
              <a:srgbClr val="020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5494168" y="5768835"/>
              <a:ext cx="566468" cy="264210"/>
            </a:xfrm>
            <a:prstGeom prst="rect">
              <a:avLst/>
            </a:prstGeom>
            <a:solidFill>
              <a:srgbClr val="020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5494168" y="6094949"/>
              <a:ext cx="566468" cy="264210"/>
            </a:xfrm>
            <a:prstGeom prst="rect">
              <a:avLst/>
            </a:prstGeom>
            <a:solidFill>
              <a:srgbClr val="020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5494168" y="5115474"/>
              <a:ext cx="566468" cy="264210"/>
            </a:xfrm>
            <a:prstGeom prst="rect">
              <a:avLst/>
            </a:prstGeom>
            <a:solidFill>
              <a:srgbClr val="020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6367146" y="5435952"/>
              <a:ext cx="2123680" cy="5285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发给张三的货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5666465" y="3751461"/>
            <a:ext cx="2537654" cy="1557059"/>
            <a:chOff x="5250609" y="4466548"/>
            <a:chExt cx="3383538" cy="2076079"/>
          </a:xfrm>
        </p:grpSpPr>
        <p:sp>
          <p:nvSpPr>
            <p:cNvPr id="71" name="矩形 70"/>
            <p:cNvSpPr/>
            <p:nvPr/>
          </p:nvSpPr>
          <p:spPr>
            <a:xfrm>
              <a:off x="5250609" y="4466548"/>
              <a:ext cx="3383538" cy="207607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5974445" y="4570009"/>
              <a:ext cx="1967110" cy="5285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发货人  王五</a:t>
              </a:r>
            </a:p>
          </p:txBody>
        </p:sp>
        <p:sp>
          <p:nvSpPr>
            <p:cNvPr id="73" name="矩形 72"/>
            <p:cNvSpPr/>
            <p:nvPr/>
          </p:nvSpPr>
          <p:spPr>
            <a:xfrm>
              <a:off x="5494168" y="5442720"/>
              <a:ext cx="566468" cy="2642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5494168" y="5768835"/>
              <a:ext cx="566468" cy="2642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5494168" y="6094949"/>
              <a:ext cx="566468" cy="2642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5494168" y="5115474"/>
              <a:ext cx="566468" cy="2642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6367146" y="5435952"/>
              <a:ext cx="2123680" cy="5285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发给张三的货</a:t>
              </a:r>
            </a:p>
          </p:txBody>
        </p:sp>
      </p:grpSp>
      <p:sp>
        <p:nvSpPr>
          <p:cNvPr id="78" name="矩形: 圆角 77"/>
          <p:cNvSpPr/>
          <p:nvPr/>
        </p:nvSpPr>
        <p:spPr>
          <a:xfrm>
            <a:off x="522631" y="1125282"/>
            <a:ext cx="613391" cy="56850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矩形: 圆角 78"/>
          <p:cNvSpPr/>
          <p:nvPr/>
        </p:nvSpPr>
        <p:spPr>
          <a:xfrm>
            <a:off x="674192" y="1238636"/>
            <a:ext cx="3193845" cy="47479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621701" y="1527557"/>
            <a:ext cx="301658" cy="279584"/>
          </a:xfrm>
          <a:prstGeom prst="roundRect">
            <a:avLst/>
          </a:prstGeom>
          <a:solidFill>
            <a:srgbClr val="BBD5ED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1015420" y="1279822"/>
            <a:ext cx="2463380" cy="415498"/>
            <a:chOff x="993102" y="463907"/>
            <a:chExt cx="3284505" cy="553997"/>
          </a:xfrm>
        </p:grpSpPr>
        <p:sp>
          <p:nvSpPr>
            <p:cNvPr id="82" name="矩形 81"/>
            <p:cNvSpPr/>
            <p:nvPr/>
          </p:nvSpPr>
          <p:spPr>
            <a:xfrm>
              <a:off x="1517879" y="463907"/>
              <a:ext cx="2759728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1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TCP</a:t>
              </a:r>
              <a:r>
                <a:rPr lang="zh-CN" altLang="en-US" sz="21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传输示意图</a:t>
              </a:r>
            </a:p>
          </p:txBody>
        </p:sp>
        <p:pic>
          <p:nvPicPr>
            <p:cNvPr id="83" name="图片 8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102" y="494565"/>
              <a:ext cx="461740" cy="461740"/>
            </a:xfrm>
            <a:prstGeom prst="rect">
              <a:avLst/>
            </a:prstGeom>
          </p:spPr>
        </p:pic>
      </p:grpSp>
      <p:pic>
        <p:nvPicPr>
          <p:cNvPr id="84" name="图片 8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72238" y="2135309"/>
            <a:ext cx="633713" cy="407400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61106" y="4728206"/>
            <a:ext cx="633713" cy="407400"/>
          </a:xfrm>
          <a:prstGeom prst="rect">
            <a:avLst/>
          </a:prstGeom>
        </p:spPr>
      </p:pic>
      <p:sp>
        <p:nvSpPr>
          <p:cNvPr id="89" name="矩形 88"/>
          <p:cNvSpPr/>
          <p:nvPr/>
        </p:nvSpPr>
        <p:spPr>
          <a:xfrm>
            <a:off x="3625724" y="3457580"/>
            <a:ext cx="424851" cy="198158"/>
          </a:xfrm>
          <a:prstGeom prst="rect">
            <a:avLst/>
          </a:prstGeom>
          <a:solidFill>
            <a:srgbClr val="020B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3652818" y="4443899"/>
            <a:ext cx="424851" cy="1981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箭头: 左 1"/>
          <p:cNvSpPr/>
          <p:nvPr/>
        </p:nvSpPr>
        <p:spPr>
          <a:xfrm>
            <a:off x="3761890" y="3168559"/>
            <a:ext cx="1777432" cy="181585"/>
          </a:xfrm>
          <a:prstGeom prst="leftArrow">
            <a:avLst/>
          </a:prstGeom>
          <a:solidFill>
            <a:srgbClr val="A2C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箭头: 左 43"/>
          <p:cNvSpPr/>
          <p:nvPr/>
        </p:nvSpPr>
        <p:spPr>
          <a:xfrm>
            <a:off x="3779055" y="4196070"/>
            <a:ext cx="1777432" cy="181585"/>
          </a:xfrm>
          <a:prstGeom prst="leftArrow">
            <a:avLst/>
          </a:prstGeom>
          <a:solidFill>
            <a:srgbClr val="A2C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2.22222E-6 L -0.18038 0.17754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67" y="8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11111E-6 L -0.07239 -0.11042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85" y="-5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48148E-6 L -0.18212 -0.13495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15" y="-6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0.00278 L -0.07586 -0.0664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0" y="-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89" grpId="1" animBg="1"/>
      <p:bldP spid="90" grpId="0" animBg="1"/>
      <p:bldP spid="90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提前了解：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TCP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UDP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提供服务的区别</a:t>
            </a:r>
          </a:p>
        </p:txBody>
      </p:sp>
      <p:sp>
        <p:nvSpPr>
          <p:cNvPr id="78" name="矩形: 圆角 77"/>
          <p:cNvSpPr/>
          <p:nvPr/>
        </p:nvSpPr>
        <p:spPr>
          <a:xfrm>
            <a:off x="522631" y="1125282"/>
            <a:ext cx="613391" cy="56850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矩形: 圆角 78"/>
          <p:cNvSpPr/>
          <p:nvPr/>
        </p:nvSpPr>
        <p:spPr>
          <a:xfrm>
            <a:off x="674192" y="1238636"/>
            <a:ext cx="3193845" cy="47479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621701" y="1527557"/>
            <a:ext cx="301658" cy="279584"/>
          </a:xfrm>
          <a:prstGeom prst="roundRect">
            <a:avLst/>
          </a:prstGeom>
          <a:solidFill>
            <a:srgbClr val="BBD5ED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1015420" y="1279822"/>
            <a:ext cx="2477808" cy="415498"/>
            <a:chOff x="993102" y="463907"/>
            <a:chExt cx="3303742" cy="553997"/>
          </a:xfrm>
        </p:grpSpPr>
        <p:sp>
          <p:nvSpPr>
            <p:cNvPr id="82" name="矩形 81"/>
            <p:cNvSpPr/>
            <p:nvPr/>
          </p:nvSpPr>
          <p:spPr>
            <a:xfrm>
              <a:off x="1517879" y="463907"/>
              <a:ext cx="2778965" cy="553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1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UDP</a:t>
              </a:r>
              <a:r>
                <a:rPr lang="zh-CN" altLang="en-US" sz="21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传输示意图</a:t>
              </a:r>
            </a:p>
          </p:txBody>
        </p:sp>
        <p:pic>
          <p:nvPicPr>
            <p:cNvPr id="83" name="图片 8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102" y="494565"/>
              <a:ext cx="461740" cy="461740"/>
            </a:xfrm>
            <a:prstGeom prst="rect">
              <a:avLst/>
            </a:prstGeom>
          </p:spPr>
        </p:pic>
      </p:grpSp>
      <p:grpSp>
        <p:nvGrpSpPr>
          <p:cNvPr id="43" name="组合 42"/>
          <p:cNvGrpSpPr/>
          <p:nvPr/>
        </p:nvGrpSpPr>
        <p:grpSpPr>
          <a:xfrm>
            <a:off x="896497" y="2253748"/>
            <a:ext cx="2537654" cy="3200400"/>
            <a:chOff x="1083361" y="1563419"/>
            <a:chExt cx="3383538" cy="4267200"/>
          </a:xfrm>
        </p:grpSpPr>
        <p:sp>
          <p:nvSpPr>
            <p:cNvPr id="44" name="矩形 43"/>
            <p:cNvSpPr/>
            <p:nvPr/>
          </p:nvSpPr>
          <p:spPr>
            <a:xfrm>
              <a:off x="1083361" y="1563419"/>
              <a:ext cx="3383538" cy="4267200"/>
            </a:xfrm>
            <a:prstGeom prst="rect">
              <a:avLst/>
            </a:prstGeom>
            <a:solidFill>
              <a:srgbClr val="A2C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1797349" y="1666882"/>
              <a:ext cx="1967110" cy="5285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收货人  张三</a:t>
              </a:r>
            </a:p>
          </p:txBody>
        </p:sp>
        <p:sp>
          <p:nvSpPr>
            <p:cNvPr id="46" name="矩形 45"/>
            <p:cNvSpPr/>
            <p:nvPr/>
          </p:nvSpPr>
          <p:spPr>
            <a:xfrm>
              <a:off x="1135128" y="4770983"/>
              <a:ext cx="2123680" cy="5285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李四发来的货</a:t>
              </a:r>
            </a:p>
          </p:txBody>
        </p:sp>
        <p:sp>
          <p:nvSpPr>
            <p:cNvPr id="47" name="矩形 46"/>
            <p:cNvSpPr/>
            <p:nvPr/>
          </p:nvSpPr>
          <p:spPr>
            <a:xfrm>
              <a:off x="3581608" y="2856409"/>
              <a:ext cx="566468" cy="264210"/>
            </a:xfrm>
            <a:prstGeom prst="rect">
              <a:avLst/>
            </a:prstGeom>
            <a:solidFill>
              <a:srgbClr val="020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3581608" y="3487324"/>
              <a:ext cx="566468" cy="264210"/>
            </a:xfrm>
            <a:prstGeom prst="rect">
              <a:avLst/>
            </a:prstGeom>
            <a:solidFill>
              <a:srgbClr val="020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3577179" y="4949062"/>
              <a:ext cx="566468" cy="264210"/>
            </a:xfrm>
            <a:prstGeom prst="rect">
              <a:avLst/>
            </a:prstGeom>
            <a:solidFill>
              <a:srgbClr val="020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矩形 84"/>
            <p:cNvSpPr/>
            <p:nvPr/>
          </p:nvSpPr>
          <p:spPr>
            <a:xfrm>
              <a:off x="1135128" y="5213926"/>
              <a:ext cx="2123680" cy="5285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王五发来的货</a:t>
              </a:r>
            </a:p>
          </p:txBody>
        </p:sp>
        <p:sp>
          <p:nvSpPr>
            <p:cNvPr id="91" name="矩形 90"/>
            <p:cNvSpPr/>
            <p:nvPr/>
          </p:nvSpPr>
          <p:spPr>
            <a:xfrm>
              <a:off x="3577179" y="5382305"/>
              <a:ext cx="566468" cy="2642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3581608" y="4134076"/>
              <a:ext cx="566468" cy="2642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3581608" y="3813299"/>
              <a:ext cx="566468" cy="2642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3581608" y="3186186"/>
              <a:ext cx="566468" cy="2642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5576843" y="2253749"/>
            <a:ext cx="2537654" cy="1557059"/>
            <a:chOff x="5250609" y="4466548"/>
            <a:chExt cx="3383538" cy="2076079"/>
          </a:xfrm>
        </p:grpSpPr>
        <p:sp>
          <p:nvSpPr>
            <p:cNvPr id="96" name="矩形 95"/>
            <p:cNvSpPr/>
            <p:nvPr/>
          </p:nvSpPr>
          <p:spPr>
            <a:xfrm>
              <a:off x="5250609" y="4466548"/>
              <a:ext cx="3383538" cy="207607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5974445" y="4570009"/>
              <a:ext cx="1967110" cy="5285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发货人  李四</a:t>
              </a:r>
            </a:p>
          </p:txBody>
        </p:sp>
        <p:sp>
          <p:nvSpPr>
            <p:cNvPr id="98" name="矩形 97"/>
            <p:cNvSpPr/>
            <p:nvPr/>
          </p:nvSpPr>
          <p:spPr>
            <a:xfrm>
              <a:off x="5494168" y="5442720"/>
              <a:ext cx="566468" cy="264210"/>
            </a:xfrm>
            <a:prstGeom prst="rect">
              <a:avLst/>
            </a:prstGeom>
            <a:solidFill>
              <a:srgbClr val="020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5494168" y="5768835"/>
              <a:ext cx="566468" cy="264210"/>
            </a:xfrm>
            <a:prstGeom prst="rect">
              <a:avLst/>
            </a:prstGeom>
            <a:solidFill>
              <a:srgbClr val="020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5494168" y="6094949"/>
              <a:ext cx="566468" cy="264210"/>
            </a:xfrm>
            <a:prstGeom prst="rect">
              <a:avLst/>
            </a:prstGeom>
            <a:solidFill>
              <a:srgbClr val="020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5494168" y="5115474"/>
              <a:ext cx="566468" cy="264210"/>
            </a:xfrm>
            <a:prstGeom prst="rect">
              <a:avLst/>
            </a:prstGeom>
            <a:solidFill>
              <a:srgbClr val="020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6367146" y="5435952"/>
              <a:ext cx="2123680" cy="5285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发给张三的货</a:t>
              </a: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5551285" y="3900753"/>
            <a:ext cx="2537654" cy="1557059"/>
            <a:chOff x="5250609" y="4466548"/>
            <a:chExt cx="3383538" cy="2076079"/>
          </a:xfrm>
        </p:grpSpPr>
        <p:sp>
          <p:nvSpPr>
            <p:cNvPr id="104" name="矩形 103"/>
            <p:cNvSpPr/>
            <p:nvPr/>
          </p:nvSpPr>
          <p:spPr>
            <a:xfrm>
              <a:off x="5250609" y="4466548"/>
              <a:ext cx="3383538" cy="207607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5974445" y="4570009"/>
              <a:ext cx="1967110" cy="5285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发货人  王五</a:t>
              </a:r>
            </a:p>
          </p:txBody>
        </p:sp>
        <p:sp>
          <p:nvSpPr>
            <p:cNvPr id="106" name="矩形 105"/>
            <p:cNvSpPr/>
            <p:nvPr/>
          </p:nvSpPr>
          <p:spPr>
            <a:xfrm>
              <a:off x="5494168" y="5442720"/>
              <a:ext cx="566468" cy="2642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5494168" y="5768835"/>
              <a:ext cx="566468" cy="2642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矩形 107"/>
            <p:cNvSpPr/>
            <p:nvPr/>
          </p:nvSpPr>
          <p:spPr>
            <a:xfrm>
              <a:off x="5494168" y="6094949"/>
              <a:ext cx="566468" cy="2642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5494168" y="5115474"/>
              <a:ext cx="566468" cy="26421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6367146" y="5435952"/>
              <a:ext cx="2123680" cy="5285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发给张三的货</a:t>
              </a:r>
            </a:p>
          </p:txBody>
        </p:sp>
      </p:grpSp>
      <p:pic>
        <p:nvPicPr>
          <p:cNvPr id="111" name="图片 110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56898" y="2297412"/>
            <a:ext cx="633713" cy="407400"/>
          </a:xfrm>
          <a:prstGeom prst="rect">
            <a:avLst/>
          </a:prstGeom>
        </p:spPr>
      </p:pic>
      <p:pic>
        <p:nvPicPr>
          <p:cNvPr id="112" name="图片 11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53673" y="4901689"/>
            <a:ext cx="633713" cy="407400"/>
          </a:xfrm>
          <a:prstGeom prst="rect">
            <a:avLst/>
          </a:prstGeom>
        </p:spPr>
      </p:pic>
      <p:sp>
        <p:nvSpPr>
          <p:cNvPr id="113" name="矩形 112"/>
          <p:cNvSpPr/>
          <p:nvPr/>
        </p:nvSpPr>
        <p:spPr>
          <a:xfrm>
            <a:off x="3525485" y="3691480"/>
            <a:ext cx="424851" cy="198158"/>
          </a:xfrm>
          <a:prstGeom prst="rect">
            <a:avLst/>
          </a:prstGeom>
          <a:solidFill>
            <a:srgbClr val="020B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3525485" y="3705536"/>
            <a:ext cx="424851" cy="1981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箭头: 左 49"/>
          <p:cNvSpPr/>
          <p:nvPr/>
        </p:nvSpPr>
        <p:spPr>
          <a:xfrm rot="20051615">
            <a:off x="3688804" y="3154063"/>
            <a:ext cx="1777432" cy="181585"/>
          </a:xfrm>
          <a:prstGeom prst="leftArrow">
            <a:avLst/>
          </a:prstGeom>
          <a:solidFill>
            <a:srgbClr val="A2C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箭头: 左 50"/>
          <p:cNvSpPr/>
          <p:nvPr/>
        </p:nvSpPr>
        <p:spPr>
          <a:xfrm rot="1297827">
            <a:off x="3688027" y="4248186"/>
            <a:ext cx="1777432" cy="181585"/>
          </a:xfrm>
          <a:prstGeom prst="leftArrow">
            <a:avLst/>
          </a:prstGeom>
          <a:solidFill>
            <a:srgbClr val="A2C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3.33333E-6 L -0.17882 0.1164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41" y="5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0.00162 L -0.08212 -0.10533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7" y="-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4.44444E-6 L -0.17865 -0.13287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58" y="-5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-0.0125 L -0.08212 -0.14352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0" y="-6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3" grpId="1" animBg="1"/>
      <p:bldP spid="114" grpId="0" animBg="1"/>
      <p:bldP spid="114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UDP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服务的应用程序编写步骤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30425" y="115699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199" y="1591064"/>
            <a:ext cx="6040115" cy="41099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TCP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服务的应用程序编写步骤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30425" y="115699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43866" y="767653"/>
          <a:ext cx="7569709" cy="5673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869430" imgH="5163185" progId="Visio.Drawing.15">
                  <p:embed/>
                </p:oleObj>
              </mc:Choice>
              <mc:Fallback>
                <p:oleObj name="Visio" r:id="rId2" imgW="6869430" imgH="516318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866" y="767653"/>
                        <a:ext cx="7569709" cy="56730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681135"/>
            <a:ext cx="7558056" cy="596354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WSAStartup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9999" y="3182062"/>
            <a:ext cx="8437875" cy="3200400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功能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：初始化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 DLL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，协商使用的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版本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altLang="zh-CN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WSADATA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wVersion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：推荐调用者使用的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版本号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120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wHighVersion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：系统实现的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最高版本号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如果调用成功，不再使用时需要调用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WSACleanup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释放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 DLL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资源</a:t>
            </a: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C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中常用的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36796" y="1278628"/>
            <a:ext cx="8266922" cy="179675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zh-CN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int WSAAPI </a:t>
            </a:r>
            <a:r>
              <a:rPr lang="en-US" altLang="zh-CN" sz="2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WSAStartup</a:t>
            </a:r>
            <a:r>
              <a:rPr lang="en-US" altLang="zh-CN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(			</a:t>
            </a:r>
            <a:r>
              <a:rPr lang="en-US" altLang="zh-CN" sz="2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成功返回</a:t>
            </a:r>
            <a:r>
              <a:rPr lang="en-US" altLang="zh-CN" sz="2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0</a:t>
            </a:r>
            <a:r>
              <a:rPr lang="zh-CN" altLang="en-US" sz="2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，否则为错误代码</a:t>
            </a:r>
            <a:endParaRPr lang="en-US" altLang="zh-CN" sz="2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zh-CN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  WORD </a:t>
            </a:r>
            <a:r>
              <a:rPr lang="en-US" altLang="zh-CN" sz="2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wVersionRequested</a:t>
            </a:r>
            <a:r>
              <a:rPr lang="en-US" altLang="zh-CN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		</a:t>
            </a:r>
            <a:r>
              <a:rPr lang="en-US" altLang="zh-CN" sz="2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调用者希望使用的最高版本</a:t>
            </a:r>
            <a:endParaRPr lang="en-US" altLang="zh-CN" sz="2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zh-CN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  LPWSADATA </a:t>
            </a:r>
            <a:r>
              <a:rPr lang="en-US" altLang="zh-CN" sz="2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lpWSAData</a:t>
            </a:r>
            <a:r>
              <a:rPr lang="en-US" altLang="zh-CN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			</a:t>
            </a:r>
            <a:r>
              <a:rPr lang="en-US" altLang="zh-CN" sz="2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//</a:t>
            </a:r>
            <a:r>
              <a:rPr lang="zh-CN" altLang="en-US" sz="2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可用</a:t>
            </a:r>
            <a:r>
              <a:rPr lang="en-US" altLang="zh-CN" sz="2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</a:t>
            </a:r>
            <a:r>
              <a:rPr lang="zh-CN" altLang="en-US" sz="24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的详细信息</a:t>
            </a:r>
            <a:endParaRPr lang="en-US" altLang="zh-CN" sz="2400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zh-CN" sz="2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  );</a:t>
            </a:r>
            <a:endParaRPr lang="zh-CN" altLang="en-US" sz="2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71474" y="681135"/>
            <a:ext cx="7543769" cy="596354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WSAStartup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C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中常用的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70" y="1244212"/>
            <a:ext cx="7264260" cy="529654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61950" y="681135"/>
            <a:ext cx="7553294" cy="596354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WSACleanup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878" y="3237722"/>
            <a:ext cx="8266922" cy="32004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功能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：结束使用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，释放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 DLL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资源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调用失败后可利用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WSAGetLastError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获取详细错误信息</a:t>
            </a: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C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中常用的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19878" y="1697366"/>
            <a:ext cx="8266922" cy="1228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int WSAAPI 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WSAStartup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			</a:t>
            </a:r>
            <a:r>
              <a:rPr lang="en-US" altLang="zh-CN" sz="18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//</a:t>
            </a:r>
            <a:r>
              <a:rPr lang="zh-CN" altLang="en-US" sz="18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成功返回</a:t>
            </a:r>
            <a:r>
              <a:rPr lang="en-US" altLang="zh-CN" sz="18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0</a:t>
            </a:r>
          </a:p>
          <a:p>
            <a:pPr marL="0" indent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  <a:endParaRPr lang="zh-CN" altLang="en-US" sz="18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878" y="681135"/>
            <a:ext cx="7495366" cy="596354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socket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878" y="2388637"/>
            <a:ext cx="8266922" cy="4049485"/>
          </a:xfrm>
        </p:spPr>
        <p:txBody>
          <a:bodyPr>
            <a:normAutofit fontScale="92500"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功能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：创建一个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，并绑定到一个特定的传输层服务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参数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af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：地址类型。</a:t>
            </a:r>
            <a:r>
              <a:rPr lang="da-DK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AF_INET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da-DK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AF_INET6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type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：服务类型。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SOCK_STREAM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SOCK_DGRAM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Protocol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：协议。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IPPROTO_TCP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IPPROTO_UDP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IPPROTO_ICMP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等。如为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，则由系统自动选择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返回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正确：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描述符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错误：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INVALID_SOCKET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。可通过</a:t>
            </a: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WSAGetLastError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获取错误详情</a:t>
            </a: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C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中常用的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183364" y="659240"/>
            <a:ext cx="5019869" cy="1796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 WSAAPI socket(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int 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af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	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int type,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int protocol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  <a:endParaRPr lang="zh-CN" altLang="en-US" sz="18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878" y="681135"/>
            <a:ext cx="7495366" cy="596354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bind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878" y="2388637"/>
            <a:ext cx="8266922" cy="404948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功能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：将一个本地地址绑定到指定的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参数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描述符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addr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：地址。包括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地址和端口号。如为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INADDR_ANY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in6addr_any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，则由系统自动分配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namelen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：地址长度。通常为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sockaddr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结构的长度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返回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正确：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错误：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SOCKET_ERROR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。可通过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WSAGetLastError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获取错误详情</a:t>
            </a: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C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中常用的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183364" y="659240"/>
            <a:ext cx="5019869" cy="1796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int bind(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SOCKET         	s,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const 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sockaddr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	*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int            	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namelen</a:t>
            </a:r>
            <a:endParaRPr lang="en-US" altLang="zh-CN" sz="18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  <a:endParaRPr lang="zh-CN" altLang="en-US" sz="18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878" y="681135"/>
            <a:ext cx="7495366" cy="596354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listen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878" y="2455998"/>
            <a:ext cx="8266922" cy="398212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功能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：使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进入监听状态，监听远程连接是否到来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参数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描述符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backlog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：连接等待队列的最大长度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返回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正确：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错误：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SOCKET_ERROR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。可通过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WSAGetLastError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获取错误详情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：流方式，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Server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端</a:t>
            </a: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C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中常用的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183364" y="659240"/>
            <a:ext cx="5019869" cy="1796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sv-SE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int WSAAPI listen(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sv-SE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SOCKET 	s,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sv-SE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int   	backlog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sv-SE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  <a:endParaRPr lang="zh-CN" altLang="en-US" sz="18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81135"/>
            <a:ext cx="7534244" cy="596354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connect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878" y="2455998"/>
            <a:ext cx="8266922" cy="398212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功能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：向一个特定的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发出建连请求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参数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描述符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addr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：地址。包括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地址和端口号 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namelen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：地址长度。通常为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sockaddr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结构的长度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返回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正确：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错误：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SOCKET_ERROR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。可通过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WSAGetLastError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获取错误详情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：流方式、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Client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端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C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中常用的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183364" y="659240"/>
            <a:ext cx="5019869" cy="17967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int WSAAPI connect(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SOCKET         	s,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const 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sockaddr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	*name,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int            	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namelen</a:t>
            </a:r>
            <a:endParaRPr lang="en-US" altLang="zh-CN" sz="18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  <a:endParaRPr lang="zh-CN" altLang="en-US" sz="18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878" y="681135"/>
            <a:ext cx="7495366" cy="596354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accept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878" y="2425959"/>
            <a:ext cx="8266922" cy="40121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功能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：接受一个特定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请求等待队列中的连接请求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参数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描述符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addr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：返回远程端地址 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namelen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：返回地址长度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返回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正确：返回新连接的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描述符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错误：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INVALID_SOCKET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。可通过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WSAGetLastError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获取错误详情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：流方式、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Server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端。通常运行后进入阻塞状态，直到连接请求到来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C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中常用的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239347" y="602444"/>
            <a:ext cx="5019869" cy="1758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 WSAAPI accept(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SOCKET  	 	s,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</a:t>
            </a:r>
            <a:r>
              <a:rPr lang="en-US" altLang="zh-CN" sz="16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sockaddr</a:t>
            </a: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	*</a:t>
            </a:r>
            <a:r>
              <a:rPr lang="en-US" altLang="zh-CN" sz="16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</a:t>
            </a: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int      	*</a:t>
            </a:r>
            <a:r>
              <a:rPr lang="en-US" altLang="zh-CN" sz="16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addrlen</a:t>
            </a:r>
            <a:endParaRPr lang="en-US" altLang="zh-CN" sz="16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  <a:endParaRPr lang="zh-CN" altLang="en-US" sz="8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5762" y="681135"/>
            <a:ext cx="7529481" cy="596354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sendto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877" y="2425959"/>
            <a:ext cx="8556171" cy="4012163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功能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：向特定的目的地发送数据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参数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描述符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buf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：发送数据缓存区 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：发送缓冲区的长度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flags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：对调用的处理方式，如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OOB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：目标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的地址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tolen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：目标地址的长度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返回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正确：返回实际发送的字节数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错误：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SOCKET_ERROR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。可通过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WSAGetLastError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获取错误详情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：数据报方式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C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中常用的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239347" y="602444"/>
            <a:ext cx="5019869" cy="19261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int WSAAPI </a:t>
            </a:r>
            <a:r>
              <a:rPr lang="en-US" altLang="zh-CN" sz="1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sendto</a:t>
            </a: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SOCKET         	s,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const char     	*</a:t>
            </a:r>
            <a:r>
              <a:rPr lang="en-US" altLang="zh-CN" sz="1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buf</a:t>
            </a: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int            	</a:t>
            </a:r>
            <a:r>
              <a:rPr lang="en-US" altLang="zh-CN" sz="1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len</a:t>
            </a: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int            	flags,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const </a:t>
            </a:r>
            <a:r>
              <a:rPr lang="en-US" altLang="zh-CN" sz="1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sockaddr</a:t>
            </a: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	*to,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int            	</a:t>
            </a:r>
            <a:r>
              <a:rPr lang="en-US" altLang="zh-CN" sz="1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tolen</a:t>
            </a: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);</a:t>
            </a:r>
            <a:endParaRPr lang="zh-CN" altLang="en-US" sz="7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876" y="681135"/>
            <a:ext cx="7495367" cy="596354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recvfrom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877" y="2425959"/>
            <a:ext cx="8556171" cy="4012163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功能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：从特定的目的地接收数据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参数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描述符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buf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：接收数据的缓存区 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：接收缓冲区的长度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flags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：对调用的处理方式，如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OOB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from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：源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的地址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fromlen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：源地址的长度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返回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正确：接收到的字节数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错误：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SOCKET_ERROR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。可通过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WSAGetLastError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获取错误详情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：数据报方式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C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中常用的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239347" y="602444"/>
            <a:ext cx="5019869" cy="19261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int WSAAPI </a:t>
            </a:r>
            <a:r>
              <a:rPr lang="en-US" altLang="zh-CN" sz="1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recvfrom</a:t>
            </a: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SOCKET   	s,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char     	*</a:t>
            </a:r>
            <a:r>
              <a:rPr lang="en-US" altLang="zh-CN" sz="1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buf</a:t>
            </a: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int      	</a:t>
            </a:r>
            <a:r>
              <a:rPr lang="en-US" altLang="zh-CN" sz="1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len</a:t>
            </a: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	int      	flags,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</a:t>
            </a:r>
            <a:r>
              <a:rPr lang="en-US" altLang="zh-CN" sz="1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sockaddr</a:t>
            </a: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	*from,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int      	*</a:t>
            </a:r>
            <a:r>
              <a:rPr lang="en-US" altLang="zh-CN" sz="1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fromlen</a:t>
            </a:r>
            <a:r>
              <a:rPr lang="en-US" altLang="zh-CN" sz="1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);</a:t>
            </a:r>
            <a:endParaRPr lang="zh-CN" altLang="en-US" sz="7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876" y="681135"/>
            <a:ext cx="7495367" cy="596354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send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877" y="2664080"/>
            <a:ext cx="8556171" cy="3774042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功能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：向远程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发送数据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参数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描述符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buf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：发送数据缓存区 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：发送缓冲区的长度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flags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：对调用的处理方式，如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OOB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返回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正确：返回实际发送的字节数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错误：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SOCKET_ERROR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。可通过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WSAGetLastError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获取错误详情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：流方式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C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中常用的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239347" y="602444"/>
            <a:ext cx="5019869" cy="1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int WSAAPI send(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SOCKET     s,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const char *</a:t>
            </a:r>
            <a:r>
              <a:rPr lang="en-US" altLang="zh-CN" sz="16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buf</a:t>
            </a: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int        </a:t>
            </a:r>
            <a:r>
              <a:rPr lang="en-US" altLang="zh-CN" sz="16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len</a:t>
            </a: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int        flags );</a:t>
            </a:r>
            <a:endParaRPr lang="zh-CN" altLang="en-US" sz="8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876" y="681135"/>
            <a:ext cx="7495367" cy="596354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recv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877" y="2664080"/>
            <a:ext cx="8556171" cy="3774042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功能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：从特定的目的地接收数据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参数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描述符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buf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：接收数据缓存区 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：接收缓冲区的长度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flags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：对调用的处理方式，如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OOB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返回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正确：返回实际接收的字节数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错误：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SOCKET_ERROR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。可通过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WSAGetLastError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获取错误详情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：流方式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C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中常用的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239347" y="602444"/>
            <a:ext cx="5019869" cy="1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int WSAAPI </a:t>
            </a:r>
            <a:r>
              <a:rPr lang="en-US" altLang="zh-CN" sz="16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recv</a:t>
            </a: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SOCKET     s,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const char *</a:t>
            </a:r>
            <a:r>
              <a:rPr lang="en-US" altLang="zh-CN" sz="16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buf</a:t>
            </a: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int        </a:t>
            </a:r>
            <a:r>
              <a:rPr lang="en-US" altLang="zh-CN" sz="16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len</a:t>
            </a: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int        flags );</a:t>
            </a:r>
            <a:endParaRPr lang="zh-CN" altLang="en-US" sz="8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876" y="681135"/>
            <a:ext cx="7495367" cy="596354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closesocket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877" y="2425959"/>
            <a:ext cx="8556171" cy="4012163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功能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：关闭一个存在的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参数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描述符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返回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正确：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错误：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SOCKET_ERROR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。可通过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WSAGetLastError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获取错误详情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C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中常用的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032449" y="846657"/>
            <a:ext cx="5019869" cy="1278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int WSAAPI 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closesocket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SOCKET 	s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  <a:endParaRPr lang="zh-CN" altLang="en-US" sz="9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90524" y="681135"/>
            <a:ext cx="7524719" cy="596354"/>
          </a:xfrm>
        </p:spPr>
        <p:txBody>
          <a:bodyPr>
            <a:normAutofit/>
          </a:bodyPr>
          <a:lstStyle/>
          <a:p>
            <a:r>
              <a:rPr lang="en-US" altLang="zh-CN" sz="3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SOCKADDR </a:t>
            </a:r>
            <a:r>
              <a:rPr lang="zh-CN" altLang="en-US" sz="3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结构</a:t>
            </a: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编程中应注意的问题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3458969" y="1063683"/>
            <a:ext cx="5423774" cy="1735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typedef struct 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sockaddr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u_short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sa_family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char    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sa_data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[14];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} SOCKADDR, *PSOCKADDR, *LPSOCKADDR;</a:t>
            </a:r>
            <a:endParaRPr lang="zh-CN" altLang="en-US" sz="9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74972" y="3175519"/>
            <a:ext cx="7524719" cy="596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SOCKADDR_IN </a:t>
            </a:r>
            <a:r>
              <a:rPr lang="zh-CN" altLang="en-US" sz="3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结构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458969" y="3691807"/>
            <a:ext cx="5423774" cy="2485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typedef struct 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sockaddr_in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short          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sin_family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u_short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      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sin_port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struct 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in_addr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sin_addr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char           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sin_zero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[8];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} SOCKADDR_IN, *PSOCKADDR_IN, *LPSOCKADDR_IN;</a:t>
            </a:r>
            <a:endParaRPr lang="zh-CN" altLang="en-US" sz="9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19112" y="681135"/>
            <a:ext cx="7396131" cy="596354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in_addr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结构</a:t>
            </a: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编程中应注意的问题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3458969" y="1063682"/>
            <a:ext cx="5423774" cy="5495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struct 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in_addr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union 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  		</a:t>
            </a:r>
            <a:r>
              <a:rPr lang="en-US" altLang="zh-CN" sz="1800" dirty="0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struct 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    		</a:t>
            </a:r>
            <a:r>
              <a:rPr lang="en-US" altLang="zh-CN" sz="1800" dirty="0" err="1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u_char</a:t>
            </a:r>
            <a:r>
              <a:rPr lang="en-US" altLang="zh-CN" sz="1800" dirty="0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s_b1;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    		</a:t>
            </a:r>
            <a:r>
              <a:rPr lang="en-US" altLang="zh-CN" sz="1800" dirty="0" err="1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u_char</a:t>
            </a:r>
            <a:r>
              <a:rPr lang="en-US" altLang="zh-CN" sz="1800" dirty="0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s_b2;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    		</a:t>
            </a:r>
            <a:r>
              <a:rPr lang="en-US" altLang="zh-CN" sz="1800" dirty="0" err="1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u_char</a:t>
            </a:r>
            <a:r>
              <a:rPr lang="en-US" altLang="zh-CN" sz="1800" dirty="0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s_b3;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    		</a:t>
            </a:r>
            <a:r>
              <a:rPr lang="en-US" altLang="zh-CN" sz="1800" dirty="0" err="1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u_char</a:t>
            </a:r>
            <a:r>
              <a:rPr lang="en-US" altLang="zh-CN" sz="1800" dirty="0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s_b4;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  	} </a:t>
            </a:r>
            <a:r>
              <a:rPr lang="en-US" altLang="zh-CN" sz="1800" dirty="0" err="1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S_un_b</a:t>
            </a:r>
            <a:r>
              <a:rPr lang="en-US" altLang="zh-CN" sz="1800" dirty="0">
                <a:solidFill>
                  <a:srgbClr val="7E0C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  	</a:t>
            </a:r>
            <a:r>
              <a:rPr lang="en-US" altLang="zh-CN" sz="18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struct 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    		</a:t>
            </a:r>
            <a:r>
              <a:rPr lang="en-US" altLang="zh-CN" sz="1800" dirty="0" err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u_short</a:t>
            </a:r>
            <a:r>
              <a:rPr lang="en-US" altLang="zh-CN" sz="18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s_w1;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    		</a:t>
            </a:r>
            <a:r>
              <a:rPr lang="en-US" altLang="zh-CN" sz="1800" dirty="0" err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u_short</a:t>
            </a:r>
            <a:r>
              <a:rPr lang="en-US" altLang="zh-CN" sz="18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s_w2;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  	} </a:t>
            </a:r>
            <a:r>
              <a:rPr lang="en-US" altLang="zh-CN" sz="1800" dirty="0" err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S_un_w</a:t>
            </a:r>
            <a:r>
              <a:rPr lang="en-US" altLang="zh-CN" sz="1800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  	</a:t>
            </a:r>
            <a:r>
              <a:rPr lang="en-US" altLang="zh-CN" sz="1800" dirty="0" err="1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u_long</a:t>
            </a:r>
            <a:r>
              <a:rPr lang="en-US" altLang="zh-CN" sz="1800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</a:t>
            </a:r>
            <a:r>
              <a:rPr lang="en-US" altLang="zh-CN" sz="1800" dirty="0" err="1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S_addr</a:t>
            </a:r>
            <a:r>
              <a:rPr lang="en-US" altLang="zh-CN" sz="1800" dirty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} </a:t>
            </a:r>
            <a:r>
              <a:rPr lang="en-US" altLang="zh-CN" sz="18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S_un</a:t>
            </a: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};</a:t>
            </a:r>
            <a:endParaRPr lang="zh-CN" altLang="en-US" sz="9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876" y="681135"/>
            <a:ext cx="7495367" cy="596354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Big-Endian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Little-Endian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877" y="1412973"/>
            <a:ext cx="8556171" cy="5025149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：计算机中，如何存储整数？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Little-Endian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：低位字节排放在内存的低地址端，高位字节排放在内存的高地址端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Big-Endian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：高位字节排放在内存的低地址端，低位字节排放在内存的高地址端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例如：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0x12 34 56 78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在内存中的存放形式为：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内存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低地址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-----------&gt; </a:t>
            </a:r>
            <a:r>
              <a:rPr lang="zh-CN" altLang="en-US" sz="20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高地址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Big-Endian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0x12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| 0x34 | 0x56 | </a:t>
            </a:r>
            <a:r>
              <a:rPr lang="en-US" altLang="zh-CN" sz="20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0x78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Little-Endian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0x78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| 0x56 | 0x34 | </a:t>
            </a:r>
            <a:r>
              <a:rPr lang="en-US" altLang="zh-CN" sz="2000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0x12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编程中应注意的问题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4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84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84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84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876" y="681135"/>
            <a:ext cx="7495367" cy="596354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Big-Endian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Little-Endian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877" y="1353333"/>
            <a:ext cx="8556171" cy="5025149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常见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CPU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的字节序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Big-Endian : PowerPC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IBM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Sun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Little-Endian : 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x86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ARM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既可工作在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Big-Endian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，也可工作在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Little-endian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网络使用的字节序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：网络通信协议都使用</a:t>
            </a:r>
            <a:r>
              <a:rPr lang="en-US" altLang="zh-CN" sz="2400" b="1" i="1" dirty="0">
                <a:solidFill>
                  <a:srgbClr val="2A09B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Big-Endian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编码序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主机序与网络序的转换</a:t>
            </a:r>
            <a:endParaRPr lang="en-US" altLang="zh-CN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htons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host to net -- short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htonl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host to net -- long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ntohs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net to host -- short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ntohl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net to host -- long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编程中应注意的问题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19876" y="681135"/>
            <a:ext cx="7495367" cy="596354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CreateThread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877" y="2425959"/>
            <a:ext cx="8556171" cy="420810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功能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：创建线程</a:t>
            </a:r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参数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lpThreadAttributes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：返回句柄能否被继承。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为不能继承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dwStackSize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：堆栈的初始大小。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为缺省大小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lpStartAddress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：新线程的开始执行地址。自己线程函数的开始地址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lpParameter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：传递给线程的参数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dwCreationFlags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：控制线程的标志。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为立即执行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lpThreadId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：指向进程标识符的指针。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为不返回该指针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返回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正确：新创建线程的句柄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40000"/>
              </a:lnSpc>
              <a:spcBef>
                <a:spcPts val="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错误：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。可通过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GetLastError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获取错误详情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40000"/>
              </a:lnSpc>
              <a:spcBef>
                <a:spcPts val="0"/>
              </a:spcBef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编程中应注意的问题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004457" y="681134"/>
            <a:ext cx="5719666" cy="2547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HANDLE </a:t>
            </a:r>
            <a:r>
              <a:rPr lang="en-US" altLang="zh-CN" sz="16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CreateThread</a:t>
            </a: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LPSECURITY_ATTRIBUTES   </a:t>
            </a:r>
            <a:r>
              <a:rPr lang="en-US" altLang="zh-CN" sz="16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lpThreadAttributes</a:t>
            </a: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SIZE_T                  </a:t>
            </a:r>
            <a:r>
              <a:rPr lang="en-US" altLang="zh-CN" sz="16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dwStackSize</a:t>
            </a: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LPTHREAD_START_ROUTINE  </a:t>
            </a:r>
            <a:r>
              <a:rPr lang="en-US" altLang="zh-CN" sz="16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lpStartAddress</a:t>
            </a: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__</a:t>
            </a:r>
            <a:r>
              <a:rPr lang="en-US" altLang="zh-CN" sz="16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drv_aliasesMem</a:t>
            </a: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LPVOID </a:t>
            </a:r>
            <a:r>
              <a:rPr lang="en-US" altLang="zh-CN" sz="16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lpParameter</a:t>
            </a: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DWORD                   </a:t>
            </a:r>
            <a:r>
              <a:rPr lang="en-US" altLang="zh-CN" sz="16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dwCreationFlags</a:t>
            </a: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 	LPDWORD                 </a:t>
            </a:r>
            <a:r>
              <a:rPr lang="en-US" altLang="zh-CN" sz="16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lpThreadId</a:t>
            </a:r>
            <a:r>
              <a:rPr lang="en-US" altLang="zh-CN" sz="16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);</a:t>
            </a:r>
            <a:endParaRPr lang="zh-CN" altLang="en-US" sz="8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举例（数据报客户端）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17773" y="773791"/>
            <a:ext cx="8858312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void main()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WSAStartup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wVersionRequested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&amp;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wsaData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2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 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sockClient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= 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(AF_INET, SOCK_DGRAM, 0);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2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SOCKADDR_IN 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addrSrv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;				 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</a:t>
            </a:r>
            <a:endParaRPr lang="en-US" altLang="zh-CN" sz="2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sendto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sockClient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sendBuf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sendlen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0, (SOCKADDR *)&amp;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addrSrv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len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    </a:t>
            </a:r>
            <a:endParaRPr lang="zh-CN" altLang="en-US" sz="2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recvfrom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sockClient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recvBuf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50, 0, (SOCKADDR *)&amp;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addrSrv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&amp;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len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		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closesocket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sockClient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WSACleanup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}</a:t>
            </a:r>
            <a:endParaRPr lang="zh-CN" altLang="en-US" sz="1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举例（数据报服务端）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41627" y="769085"/>
            <a:ext cx="8583713" cy="5840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void main()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9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WSAStartup</a:t>
            </a: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19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wVersionRequested</a:t>
            </a: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&amp;</a:t>
            </a:r>
            <a:r>
              <a:rPr lang="en-US" altLang="zh-CN" sz="19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wsaData</a:t>
            </a: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19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 </a:t>
            </a:r>
            <a:r>
              <a:rPr lang="en-US" altLang="zh-CN" sz="19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sockSrv</a:t>
            </a: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= </a:t>
            </a:r>
            <a:r>
              <a:rPr lang="en-US" altLang="zh-CN" sz="19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</a:t>
            </a: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(AF_INET, SOCK_DGRAM, 0);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19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SOCKADDR_IN </a:t>
            </a:r>
            <a:r>
              <a:rPr lang="en-US" altLang="zh-CN" sz="19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addrSrv</a:t>
            </a: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9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bind</a:t>
            </a: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19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sockSrv</a:t>
            </a: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(SOCKADDR*)&amp;</a:t>
            </a:r>
            <a:r>
              <a:rPr lang="en-US" altLang="zh-CN" sz="19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addrSrv</a:t>
            </a: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19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sizeof</a:t>
            </a: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(SOCKADDR));</a:t>
            </a:r>
            <a:endParaRPr lang="zh-CN" altLang="en-US" sz="19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19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SOCKADDR_IN </a:t>
            </a:r>
            <a:r>
              <a:rPr lang="en-US" altLang="zh-CN" sz="19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addrClient</a:t>
            </a: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;</a:t>
            </a:r>
            <a:endParaRPr lang="zh-CN" altLang="en-US" sz="19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9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loop 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9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	</a:t>
            </a:r>
            <a:r>
              <a:rPr lang="en-US" altLang="zh-CN" sz="19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recvfrom</a:t>
            </a:r>
            <a:r>
              <a:rPr lang="en-US" altLang="zh-CN" sz="19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1900" dirty="0" err="1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sockSrv</a:t>
            </a:r>
            <a:r>
              <a:rPr lang="en-US" altLang="zh-CN" sz="19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1900" dirty="0" err="1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recvBuf</a:t>
            </a:r>
            <a:r>
              <a:rPr lang="en-US" altLang="zh-CN" sz="19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50, 0,(SOCKADDR *)&amp;</a:t>
            </a:r>
            <a:r>
              <a:rPr lang="en-US" altLang="zh-CN" sz="1900" dirty="0" err="1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addrClient</a:t>
            </a:r>
            <a:r>
              <a:rPr lang="en-US" altLang="zh-CN" sz="19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,&amp;</a:t>
            </a:r>
            <a:r>
              <a:rPr lang="en-US" altLang="zh-CN" sz="1900" dirty="0" err="1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len</a:t>
            </a:r>
            <a:r>
              <a:rPr lang="en-US" altLang="zh-CN" sz="19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9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	</a:t>
            </a:r>
            <a:r>
              <a:rPr lang="en-US" altLang="zh-CN" sz="19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sendto</a:t>
            </a:r>
            <a:r>
              <a:rPr lang="en-US" altLang="zh-CN" sz="19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1900" dirty="0" err="1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sockSrv</a:t>
            </a:r>
            <a:r>
              <a:rPr lang="en-US" altLang="zh-CN" sz="19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1900" dirty="0" err="1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sendBuf</a:t>
            </a:r>
            <a:r>
              <a:rPr lang="en-US" altLang="zh-CN" sz="19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1900" dirty="0" err="1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sendlen</a:t>
            </a:r>
            <a:r>
              <a:rPr lang="en-US" altLang="zh-CN" sz="19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0,(SOCKADDR *) &amp;</a:t>
            </a:r>
            <a:r>
              <a:rPr lang="en-US" altLang="zh-CN" sz="1900" dirty="0" err="1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addrClient,len</a:t>
            </a:r>
            <a:r>
              <a:rPr lang="en-US" altLang="zh-CN" sz="19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9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}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1900" dirty="0">
              <a:solidFill>
                <a:srgbClr val="2A09B7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9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closesocket</a:t>
            </a: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19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sockSrv</a:t>
            </a: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9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WSACleanup</a:t>
            </a: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9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}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9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举例（流式客户端）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48969" y="753913"/>
            <a:ext cx="8567810" cy="56706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void main()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WSAStartup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wVersionRequested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&amp;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wsaData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2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 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sockClient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= 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(AF_INET, SOCK_STREAM, 0);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2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SOCKADDR_IN 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addrSrv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; 		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connect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sockClient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(SOCKADDR*)&amp;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addrSrv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sizeof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(SOCKADDR));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2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recv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sockClient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recvBuf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50, 0);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send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sockClient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sendBuf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sendlen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0);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2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closesocket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sockClient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WSACleanup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}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1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举例（流式服务端）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96677" y="769816"/>
            <a:ext cx="8480346" cy="5943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void main()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64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WSAStartup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wVersionRequested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&amp;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wsaData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6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 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sockSrv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= </a:t>
            </a:r>
            <a:r>
              <a:rPr lang="en-US" altLang="zh-CN" sz="6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(AF_INET, SOCK_STREAM, 0);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6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6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bind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sockSrv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(SOCKADDR*)&amp;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addrSrv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sizeof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(SOCKADDR));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6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SOCKADDR_IN 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addrSrv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6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listen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sockSrv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5);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6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while (1){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	SOCKET 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sockConn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= </a:t>
            </a:r>
            <a:r>
              <a:rPr lang="en-US" altLang="zh-CN" sz="6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accept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sockSrv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(SOCKADDR*)&amp;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addrClient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&amp;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len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	</a:t>
            </a:r>
            <a:r>
              <a:rPr lang="en-US" altLang="zh-CN" sz="6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send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sockConn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sendBuf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strlen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0);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	</a:t>
            </a:r>
            <a:r>
              <a:rPr lang="en-US" altLang="zh-CN" sz="64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recv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sockConn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recvBuf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50, 0);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	</a:t>
            </a:r>
            <a:r>
              <a:rPr lang="en-US" altLang="zh-CN" sz="64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closesocket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sockConn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}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altLang="zh-CN" sz="6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64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closesocket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64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sockSrv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64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WSACleanup</a:t>
            </a: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();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64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}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zh-CN" altLang="en-US" sz="1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  <p:sp>
        <p:nvSpPr>
          <p:cNvPr id="4" name="爆炸形: 14 pt  3">
            <a:extLst>
              <a:ext uri="{FF2B5EF4-FFF2-40B4-BE49-F238E27FC236}">
                <a16:creationId xmlns:a16="http://schemas.microsoft.com/office/drawing/2014/main" id="{CD817049-48ED-42DC-BCFC-D14D833D5EDA}"/>
              </a:ext>
            </a:extLst>
          </p:cNvPr>
          <p:cNvSpPr/>
          <p:nvPr/>
        </p:nvSpPr>
        <p:spPr>
          <a:xfrm>
            <a:off x="7355141" y="5478517"/>
            <a:ext cx="1440160" cy="93610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2-1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举例（多线程流式服务端）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16555" y="601309"/>
            <a:ext cx="8524078" cy="6224029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void main()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{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WSAStartup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wVersionRequested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&amp;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wsaData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 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sockSrv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= </a:t>
            </a:r>
            <a:r>
              <a:rPr lang="en-US" altLang="zh-CN" sz="33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socket(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AF_INET, SOCK_STREAM, 0);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bind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sockSrv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(SOCKADDR*)&amp;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addrSrv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sizeof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(SOCKADDR));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listen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sockSrv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5);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while (1) {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	SOCKET 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sockConn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= </a:t>
            </a:r>
            <a:r>
              <a:rPr lang="en-US" altLang="zh-CN" sz="33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accept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sockSrv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(SOCKADDR*)&amp;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addrClient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&amp;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len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	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hThread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= </a:t>
            </a:r>
            <a:r>
              <a:rPr lang="en-US" altLang="zh-CN" sz="33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CreateThread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(NULL, NULL, 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handlerRequest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LPVOID(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sockConn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), 0, &amp;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dwThreadId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	</a:t>
            </a:r>
            <a:r>
              <a:rPr lang="en-US" altLang="zh-CN" sz="33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CloseHandle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hThread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	}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closesocket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sockSrv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WSACleanup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}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33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DWORD WINAPI 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handlerRequest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(LPVOID 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lparam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{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 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ClientSocket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 = (SOCKET)(LPVOID)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lparam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send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ClientSocket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sendBuf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strlen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0);</a:t>
            </a:r>
            <a:endParaRPr lang="zh-CN" altLang="en-US" sz="33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recv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ClientSocket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recvBuf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, 50, 0);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b="1" dirty="0" err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closesocket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33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ClientSocket</a:t>
            </a: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);</a:t>
            </a:r>
            <a:endParaRPr lang="zh-CN" altLang="en-US" sz="33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return 0;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3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}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3306" y="950026"/>
            <a:ext cx="8639497" cy="565726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3200" b="1" kern="1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socketserver</a:t>
            </a:r>
            <a:r>
              <a:rPr lang="zh-CN" altLang="zh-CN" sz="3200" b="1" kern="1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模块</a:t>
            </a:r>
            <a:r>
              <a:rPr lang="zh-CN" altLang="en-US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网络服务器编程</a:t>
            </a:r>
            <a:r>
              <a:rPr lang="zh-CN" altLang="en-US" sz="3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架构</a:t>
            </a:r>
            <a:endParaRPr lang="en-US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TCPServer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针对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TCP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服务器编程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UDPServer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类：针对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UDP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服务器编程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spcBef>
                <a:spcPts val="1800"/>
              </a:spcBef>
            </a:pPr>
            <a:r>
              <a:rPr lang="en-US" altLang="zh-CN" sz="3200" b="1" kern="10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TCPServer</a:t>
            </a:r>
            <a:r>
              <a:rPr lang="zh-CN" altLang="en-US" sz="3200" b="1" kern="1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类与</a:t>
            </a:r>
            <a:r>
              <a:rPr lang="en-US" altLang="zh-CN" sz="3200" b="1" kern="10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UDPServer</a:t>
            </a:r>
            <a:r>
              <a:rPr lang="zh-CN" altLang="en-US" sz="3200" b="1" kern="1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类的使用</a:t>
            </a:r>
            <a:endParaRPr lang="en-US" altLang="zh-CN" sz="3200" b="1" kern="1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编写请求处理类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创建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TCPServer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UDPServer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对象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利用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TCPServer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类或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UDPServer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类的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server_forever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方法进行多次循环处理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endParaRPr lang="zh-CN" altLang="en-US" sz="4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Python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的封装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2.3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 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– Python Socket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编程举例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85688" y="700701"/>
            <a:ext cx="8532309" cy="582732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1	class </a:t>
            </a:r>
            <a:r>
              <a:rPr lang="en-US" altLang="zh-CN" sz="2000" b="1" dirty="0" err="1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MyTCPHandler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socketserver.BaseRequestHandler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2	#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重写基类中的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handle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函数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3	def handle(self):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4		#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收发数据使用的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存储在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self.request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中       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5		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self.sock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=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self.request</a:t>
            </a:r>
            <a:endParaRPr lang="en-US" altLang="zh-CN" sz="2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6		……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7		#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接收数据。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8		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self.recv_data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=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self.sock.recv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(1024)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9		……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10		#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发送数据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11		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self.sock.sendall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self.send_data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AutoNum type="arabicPlain" startAt="12"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……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AutoNum type="arabicPlain" startAt="12"/>
            </a:pPr>
            <a:endParaRPr lang="en-US" altLang="zh-CN" sz="2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Microsoft Sans Serif" panose="020B0604020202020204" pitchFamily="34" charset="0"/>
              </a:rPr>
              <a:t>主程序</a:t>
            </a:r>
            <a:endParaRPr lang="en-US" altLang="zh-CN"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1	# 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创建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TCP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服务器，为该服务器绑定的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IP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地址为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host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，端口号为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port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2	with 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socketserver.TCPServer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((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host,int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(port)), </a:t>
            </a:r>
            <a:r>
              <a:rPr lang="en-US" altLang="zh-CN" sz="2100" b="1" dirty="0" err="1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MyTCPHandler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) as server: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3		# </a:t>
            </a:r>
            <a:r>
              <a:rPr lang="zh-CN" altLang="en-US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循环进行收发处理，并在不用时自动关闭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4		</a:t>
            </a:r>
            <a:r>
              <a:rPr lang="en-US" altLang="zh-CN" sz="2000" dirty="0" err="1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server.serve_forever</a:t>
            </a:r>
            <a:r>
              <a:rPr lang="en-US" altLang="zh-CN" sz="20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Sans Serif" panose="020B0604020202020204" pitchFamily="34" charset="0"/>
              </a:rPr>
              <a:t>()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10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Microsoft Sans Serif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763000" cy="738146"/>
          </a:xfrm>
        </p:spPr>
        <p:txBody>
          <a:bodyPr/>
          <a:lstStyle/>
          <a:p>
            <a:pPr>
              <a:defRPr/>
            </a:pPr>
            <a:r>
              <a:rPr lang="en-US" altLang="zh-CN" sz="3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Wireshark</a:t>
            </a:r>
          </a:p>
        </p:txBody>
      </p:sp>
      <p:sp>
        <p:nvSpPr>
          <p:cNvPr id="1187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8417" y="1429343"/>
            <a:ext cx="8633792" cy="5050972"/>
          </a:xfrm>
        </p:spPr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spcBef>
                <a:spcPts val="600"/>
              </a:spcBef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spcBef>
                <a:spcPts val="600"/>
              </a:spcBef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spcBef>
                <a:spcPts val="600"/>
              </a:spcBef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spcBef>
                <a:spcPts val="600"/>
              </a:spcBef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spcBef>
                <a:spcPts val="600"/>
              </a:spcBef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spcBef>
                <a:spcPts val="600"/>
              </a:spcBef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spcBef>
                <a:spcPts val="600"/>
              </a:spcBef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spcBef>
                <a:spcPts val="600"/>
              </a:spcBef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spcBef>
                <a:spcPts val="600"/>
              </a:spcBef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40000"/>
              </a:lnSpc>
              <a:spcBef>
                <a:spcPts val="600"/>
              </a:spcBef>
              <a:buNone/>
            </a:pP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捕获数据包、设置显示过滤规则、设置捕获范围、查看统计信息</a:t>
            </a:r>
            <a:endParaRPr lang="en-US" altLang="zh-CN" sz="20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实用：网络数据包捕获与分析</a:t>
            </a:r>
          </a:p>
        </p:txBody>
      </p:sp>
      <p:pic>
        <p:nvPicPr>
          <p:cNvPr id="7" name="图片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57" y="1319915"/>
            <a:ext cx="7930286" cy="4603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域名系统概述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392445"/>
            <a:ext cx="8401050" cy="5042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200" dirty="0">
                <a:cs typeface="Times New Roman" panose="02020603050405020304" pitchFamily="18" charset="0"/>
              </a:rPr>
              <a:t>互联网中使用</a:t>
            </a:r>
            <a:r>
              <a:rPr lang="en-US" altLang="zh-CN" sz="2200" dirty="0">
                <a:cs typeface="Times New Roman" panose="02020603050405020304" pitchFamily="18" charset="0"/>
              </a:rPr>
              <a:t>IP</a:t>
            </a:r>
            <a:r>
              <a:rPr lang="zh-CN" altLang="en-US" sz="2200" dirty="0">
                <a:cs typeface="Times New Roman" panose="02020603050405020304" pitchFamily="18" charset="0"/>
              </a:rPr>
              <a:t>地址寻址主机（例如：</a:t>
            </a:r>
            <a:r>
              <a:rPr lang="en-US" altLang="zh-CN" sz="2200" dirty="0">
                <a:cs typeface="Times New Roman" panose="02020603050405020304" pitchFamily="18" charset="0"/>
              </a:rPr>
              <a:t>IP</a:t>
            </a:r>
            <a:r>
              <a:rPr lang="zh-CN" altLang="en-US" sz="2200" dirty="0">
                <a:cs typeface="Times New Roman" panose="02020603050405020304" pitchFamily="18" charset="0"/>
              </a:rPr>
              <a:t>数据包转发）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358140" indent="-358140">
              <a:lnSpc>
                <a:spcPts val="3200"/>
              </a:lnSpc>
              <a:spcBef>
                <a:spcPts val="1200"/>
              </a:spcBef>
              <a:buClr>
                <a:srgbClr val="C00000"/>
              </a:buClr>
            </a:pPr>
            <a:r>
              <a:rPr lang="zh-CN" altLang="en-US" sz="2200" dirty="0">
                <a:cs typeface="Times New Roman" panose="02020603050405020304" pitchFamily="18" charset="0"/>
              </a:rPr>
              <a:t>为了方便记忆，每台提供服务的主机通常会有一个或多个名字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628650" lvl="1" indent="-27178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800" dirty="0"/>
              <a:t>例如：访问学院网站，输入名字</a:t>
            </a:r>
            <a:r>
              <a:rPr lang="en-US" altLang="zh-CN" sz="1800" dirty="0">
                <a:cs typeface="Times New Roman" panose="02020603050405020304" pitchFamily="18" charset="0"/>
              </a:rPr>
              <a:t>cc.nankai.edu.cn</a:t>
            </a:r>
          </a:p>
          <a:p>
            <a:pPr marL="960120" lvl="2" indent="-27178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600" dirty="0">
                <a:solidFill>
                  <a:srgbClr val="00B0F0"/>
                </a:solidFill>
                <a:cs typeface="Times New Roman" panose="02020603050405020304" pitchFamily="18" charset="0"/>
              </a:rPr>
              <a:t>对应的</a:t>
            </a:r>
            <a:r>
              <a:rPr lang="en-US" altLang="zh-CN" sz="1600" dirty="0">
                <a:solidFill>
                  <a:srgbClr val="00B0F0"/>
                </a:solidFill>
                <a:cs typeface="Times New Roman" panose="02020603050405020304" pitchFamily="18" charset="0"/>
              </a:rPr>
              <a:t>IPv4</a:t>
            </a:r>
            <a:r>
              <a:rPr lang="zh-CN" altLang="en-US" sz="1600" dirty="0">
                <a:solidFill>
                  <a:srgbClr val="00B0F0"/>
                </a:solidFill>
                <a:cs typeface="Times New Roman" panose="02020603050405020304" pitchFamily="18" charset="0"/>
              </a:rPr>
              <a:t>地址：</a:t>
            </a:r>
            <a:r>
              <a:rPr lang="en-US" altLang="zh-CN" sz="1600" dirty="0">
                <a:solidFill>
                  <a:srgbClr val="00B0F0"/>
                </a:solidFill>
                <a:cs typeface="Times New Roman" panose="02020603050405020304" pitchFamily="18" charset="0"/>
              </a:rPr>
              <a:t>222.30.45.190</a:t>
            </a:r>
          </a:p>
          <a:p>
            <a:pPr marL="960120" lvl="2" indent="-27178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600" dirty="0">
                <a:solidFill>
                  <a:srgbClr val="00B0F0"/>
                </a:solidFill>
                <a:cs typeface="Times New Roman" panose="02020603050405020304" pitchFamily="18" charset="0"/>
              </a:rPr>
              <a:t>对应的</a:t>
            </a:r>
            <a:r>
              <a:rPr lang="en-US" altLang="zh-CN" sz="1600" dirty="0">
                <a:solidFill>
                  <a:srgbClr val="00B0F0"/>
                </a:solidFill>
                <a:cs typeface="Times New Roman" panose="02020603050405020304" pitchFamily="18" charset="0"/>
              </a:rPr>
              <a:t>IPv6</a:t>
            </a:r>
            <a:r>
              <a:rPr lang="zh-CN" altLang="en-US" sz="1600" dirty="0">
                <a:solidFill>
                  <a:srgbClr val="00B0F0"/>
                </a:solidFill>
                <a:cs typeface="Times New Roman" panose="02020603050405020304" pitchFamily="18" charset="0"/>
              </a:rPr>
              <a:t>地址：</a:t>
            </a:r>
            <a:r>
              <a:rPr lang="en-US" altLang="zh-CN" sz="1600" dirty="0">
                <a:solidFill>
                  <a:srgbClr val="00B0F0"/>
                </a:solidFill>
                <a:cs typeface="Times New Roman" panose="02020603050405020304" pitchFamily="18" charset="0"/>
              </a:rPr>
              <a:t>2001:250:401:d450::190</a:t>
            </a:r>
          </a:p>
          <a:p>
            <a:pPr marL="358140" indent="-358140">
              <a:lnSpc>
                <a:spcPts val="3200"/>
              </a:lnSpc>
              <a:spcBef>
                <a:spcPts val="1200"/>
              </a:spcBef>
              <a:buClr>
                <a:srgbClr val="C00000"/>
              </a:buClr>
            </a:pPr>
            <a:r>
              <a:rPr lang="zh-CN" altLang="en-US" sz="2400" dirty="0">
                <a:cs typeface="Times New Roman" panose="02020603050405020304" pitchFamily="18" charset="0"/>
              </a:rPr>
              <a:t>如何将名字映射到地址？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628650" lvl="1" indent="-27178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800" dirty="0">
                <a:cs typeface="Times New Roman" panose="02020603050405020304" pitchFamily="18" charset="0"/>
              </a:rPr>
              <a:t>早期的集中式管理和发布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960120" lvl="2" indent="-27178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600" dirty="0"/>
              <a:t>本地存储</a:t>
            </a:r>
            <a:r>
              <a:rPr lang="en-US" altLang="zh-CN" sz="1600" dirty="0"/>
              <a:t>Hosts</a:t>
            </a:r>
            <a:r>
              <a:rPr lang="zh-CN" altLang="en-US" sz="1600" dirty="0"/>
              <a:t>文件，实现名字到地址的静态映射</a:t>
            </a:r>
            <a:endParaRPr lang="en-US" altLang="zh-CN" sz="1600" dirty="0"/>
          </a:p>
          <a:p>
            <a:pPr marL="960120" lvl="2" indent="-27178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600" dirty="0"/>
              <a:t>可以通过</a:t>
            </a:r>
            <a:r>
              <a:rPr lang="en-US" altLang="zh-CN" sz="1600" dirty="0"/>
              <a:t>FTP</a:t>
            </a:r>
            <a:r>
              <a:rPr lang="zh-CN" altLang="en-US" sz="1600" dirty="0"/>
              <a:t>服务为连入</a:t>
            </a:r>
            <a:r>
              <a:rPr lang="en-US" altLang="zh-CN" sz="1600" dirty="0"/>
              <a:t>Internet</a:t>
            </a:r>
            <a:r>
              <a:rPr lang="zh-CN" altLang="en-US" sz="1600" dirty="0"/>
              <a:t>的主机提供域名的发布和下载</a:t>
            </a:r>
            <a:endParaRPr lang="en-US" altLang="zh-CN" sz="1600" dirty="0"/>
          </a:p>
          <a:p>
            <a:pPr marL="628650" lvl="1" indent="-27178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存在的问题？</a:t>
            </a:r>
            <a:endParaRPr lang="en-US" altLang="zh-CN" sz="1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70251" y="2986710"/>
            <a:ext cx="380652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查询命令：</a:t>
            </a:r>
            <a:r>
              <a:rPr lang="en-US" altLang="zh-CN" dirty="0" err="1"/>
              <a:t>nslookup</a:t>
            </a:r>
            <a:r>
              <a:rPr lang="en-US" altLang="zh-CN" dirty="0"/>
              <a:t> cc.nankai.edu.cn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域名系统概述（续）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363870"/>
            <a:ext cx="8410714" cy="4824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7505" indent="-357505">
              <a:lnSpc>
                <a:spcPts val="3800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2400" dirty="0">
                <a:cs typeface="Times New Roman" panose="02020603050405020304" pitchFamily="18" charset="0"/>
              </a:rPr>
              <a:t>DNS</a:t>
            </a:r>
            <a:r>
              <a:rPr lang="zh-CN" altLang="en-US" sz="2400" dirty="0"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sz="2400" dirty="0">
                <a:cs typeface="Times New Roman" panose="02020603050405020304" pitchFamily="18" charset="0"/>
              </a:rPr>
              <a:t>omain</a:t>
            </a:r>
            <a:r>
              <a:rPr lang="en-US" altLang="zh-CN" sz="2400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cs typeface="Times New Roman" panose="02020603050405020304" pitchFamily="18" charset="0"/>
              </a:rPr>
              <a:t>ame</a:t>
            </a:r>
            <a:r>
              <a:rPr lang="en-US" altLang="zh-CN" sz="2400" dirty="0">
                <a:solidFill>
                  <a:schemeClr val="tx2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cs typeface="Times New Roman" panose="02020603050405020304" pitchFamily="18" charset="0"/>
              </a:rPr>
              <a:t>ystem</a:t>
            </a:r>
            <a:r>
              <a:rPr lang="zh-CN" altLang="en-US" sz="2400" dirty="0">
                <a:solidFill>
                  <a:schemeClr val="tx2"/>
                </a:solidFill>
                <a:cs typeface="Times New Roman" panose="02020603050405020304" pitchFamily="18" charset="0"/>
              </a:rPr>
              <a:t>）</a:t>
            </a:r>
            <a:endParaRPr lang="en-US" altLang="zh-CN" sz="2400" dirty="0">
              <a:solidFill>
                <a:schemeClr val="tx2"/>
              </a:solidFill>
              <a:cs typeface="Times New Roman" panose="02020603050405020304" pitchFamily="18" charset="0"/>
            </a:endParaRPr>
          </a:p>
          <a:p>
            <a:pPr marL="803275" lvl="1" indent="-357505">
              <a:lnSpc>
                <a:spcPts val="35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000" dirty="0">
                <a:cs typeface="Times New Roman" panose="02020603050405020304" pitchFamily="18" charset="0"/>
              </a:rPr>
              <a:t>自动实现名字到地址映射的系统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357505" indent="-357505">
              <a:lnSpc>
                <a:spcPts val="3800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24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4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基本思想</a:t>
            </a:r>
            <a:r>
              <a:rPr lang="zh-CN" altLang="en-US" sz="2400" dirty="0">
                <a:cs typeface="Times New Roman" panose="02020603050405020304" pitchFamily="18" charset="0"/>
              </a:rPr>
              <a:t>：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803275" lvl="1" indent="-357505">
              <a:lnSpc>
                <a:spcPts val="35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000" dirty="0">
                <a:cs typeface="Times New Roman" panose="02020603050405020304" pitchFamily="18" charset="0"/>
              </a:rPr>
              <a:t>名字和地址映射关系分布式存放，形成具有层次结构的分布式数据库系统（分布式管理）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803275" lvl="1" indent="-357505">
              <a:lnSpc>
                <a:spcPts val="35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000" dirty="0">
                <a:cs typeface="Times New Roman" panose="02020603050405020304" pitchFamily="18" charset="0"/>
              </a:rPr>
              <a:t>通过查询分布式数据库，获得名字到地址的映射，或相反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357505" indent="-357505">
              <a:lnSpc>
                <a:spcPts val="38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400" dirty="0">
                <a:cs typeface="Times New Roman" panose="02020603050405020304" pitchFamily="18" charset="0"/>
              </a:rPr>
              <a:t>关键：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803275" lvl="1" indent="-357505">
              <a:lnSpc>
                <a:spcPts val="35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如何组织分布式数据库？</a:t>
            </a:r>
            <a:endParaRPr lang="en-US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marL="803275" lvl="1" indent="-357505">
              <a:lnSpc>
                <a:spcPts val="35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如何在分布式数据库中查找？</a:t>
            </a:r>
            <a:endParaRPr lang="en-US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80975" y="1400175"/>
          <a:ext cx="9086850" cy="425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955030" imgH="2793365" progId="Visio.Drawing.11">
                  <p:embed/>
                </p:oleObj>
              </mc:Choice>
              <mc:Fallback>
                <p:oleObj name="Visio" r:id="rId3" imgW="5955030" imgH="279336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" y="1400175"/>
                        <a:ext cx="9086850" cy="425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域名体系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7" name="Oval 9"/>
          <p:cNvSpPr>
            <a:spLocks noChangeArrowheads="1"/>
          </p:cNvSpPr>
          <p:nvPr/>
        </p:nvSpPr>
        <p:spPr bwMode="auto">
          <a:xfrm>
            <a:off x="247650" y="2765435"/>
            <a:ext cx="5761038" cy="504825"/>
          </a:xfrm>
          <a:prstGeom prst="ellipse">
            <a:avLst/>
          </a:prstGeom>
          <a:noFill/>
          <a:ln w="19050">
            <a:solidFill>
              <a:srgbClr val="006666"/>
            </a:solidFill>
            <a:prstDash val="dash"/>
            <a:round/>
          </a:ln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6156325" y="2740035"/>
            <a:ext cx="2376488" cy="504825"/>
          </a:xfrm>
          <a:prstGeom prst="ellipse">
            <a:avLst/>
          </a:prstGeom>
          <a:noFill/>
          <a:ln w="19050">
            <a:solidFill>
              <a:srgbClr val="006666"/>
            </a:solidFill>
            <a:prstDash val="dash"/>
            <a:round/>
          </a:ln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12"/>
          <p:cNvSpPr>
            <a:spLocks noChangeArrowheads="1"/>
          </p:cNvSpPr>
          <p:nvPr/>
        </p:nvSpPr>
        <p:spPr bwMode="auto">
          <a:xfrm>
            <a:off x="1428750" y="1506332"/>
            <a:ext cx="1243012" cy="662202"/>
          </a:xfrm>
          <a:prstGeom prst="wedgeRoundRectCallout">
            <a:avLst>
              <a:gd name="adj1" fmla="val 84018"/>
              <a:gd name="adj2" fmla="val 145690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kumimoji="0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按组织类别命名</a:t>
            </a:r>
            <a:endParaRPr kumimoji="0" lang="en-US" altLang="zh-CN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AutoShape 13"/>
          <p:cNvSpPr>
            <a:spLocks noChangeArrowheads="1"/>
          </p:cNvSpPr>
          <p:nvPr/>
        </p:nvSpPr>
        <p:spPr bwMode="auto">
          <a:xfrm>
            <a:off x="7164388" y="1550608"/>
            <a:ext cx="1189037" cy="617927"/>
          </a:xfrm>
          <a:prstGeom prst="wedgeRoundRectCallout">
            <a:avLst>
              <a:gd name="adj1" fmla="val -46231"/>
              <a:gd name="adj2" fmla="val 153742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按国家或区域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Freeform 6"/>
          <p:cNvSpPr/>
          <p:nvPr/>
        </p:nvSpPr>
        <p:spPr bwMode="auto">
          <a:xfrm>
            <a:off x="5591176" y="3121036"/>
            <a:ext cx="927100" cy="1905000"/>
          </a:xfrm>
          <a:custGeom>
            <a:avLst/>
            <a:gdLst>
              <a:gd name="T0" fmla="*/ 2147483647 w 584"/>
              <a:gd name="T1" fmla="*/ 2147483647 h 1200"/>
              <a:gd name="T2" fmla="*/ 2147483647 w 584"/>
              <a:gd name="T3" fmla="*/ 2147483647 h 1200"/>
              <a:gd name="T4" fmla="*/ 2147483647 w 584"/>
              <a:gd name="T5" fmla="*/ 2147483647 h 1200"/>
              <a:gd name="T6" fmla="*/ 2147483647 w 584"/>
              <a:gd name="T7" fmla="*/ 0 h 1200"/>
              <a:gd name="T8" fmla="*/ 0 60000 65536"/>
              <a:gd name="T9" fmla="*/ 0 60000 65536"/>
              <a:gd name="T10" fmla="*/ 0 60000 65536"/>
              <a:gd name="T11" fmla="*/ 0 60000 65536"/>
              <a:gd name="T12" fmla="*/ 0 w 584"/>
              <a:gd name="T13" fmla="*/ 0 h 1200"/>
              <a:gd name="T14" fmla="*/ 584 w 584"/>
              <a:gd name="T15" fmla="*/ 1200 h 12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4" h="1200">
                <a:moveTo>
                  <a:pt x="344" y="1200"/>
                </a:moveTo>
                <a:cubicBezTo>
                  <a:pt x="180" y="1124"/>
                  <a:pt x="16" y="1048"/>
                  <a:pt x="8" y="960"/>
                </a:cubicBezTo>
                <a:cubicBezTo>
                  <a:pt x="0" y="872"/>
                  <a:pt x="200" y="832"/>
                  <a:pt x="296" y="672"/>
                </a:cubicBezTo>
                <a:cubicBezTo>
                  <a:pt x="392" y="512"/>
                  <a:pt x="536" y="112"/>
                  <a:pt x="584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4033837" y="1709731"/>
            <a:ext cx="733425" cy="3286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88142" y="5725700"/>
            <a:ext cx="8024813" cy="732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6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266700" indent="-266700">
              <a:lnSpc>
                <a:spcPts val="2600"/>
              </a:lnSpc>
              <a:spcBef>
                <a:spcPts val="0"/>
              </a:spcBef>
              <a:buClr>
                <a:srgbClr val="C00000"/>
              </a:buClr>
            </a:pPr>
            <a:r>
              <a:rPr lang="zh-CN" altLang="en-US" sz="2000" b="1" dirty="0">
                <a:cs typeface="Times New Roman" panose="02020603050405020304" pitchFamily="18" charset="0"/>
              </a:rPr>
              <a:t>层级命名、逐级授权、多级管理</a:t>
            </a:r>
            <a:endParaRPr lang="en-US" altLang="zh-CN" sz="2000" b="1" dirty="0">
              <a:cs typeface="Times New Roman" panose="02020603050405020304" pitchFamily="18" charset="0"/>
            </a:endParaRPr>
          </a:p>
          <a:p>
            <a:pPr marL="538480" lvl="1" indent="-271780">
              <a:lnSpc>
                <a:spcPts val="2600"/>
              </a:lnSpc>
              <a:spcBef>
                <a:spcPts val="0"/>
              </a:spcBef>
              <a:buClr>
                <a:srgbClr val="C00000"/>
              </a:buClr>
            </a:pPr>
            <a:r>
              <a:rPr lang="zh-CN" altLang="en-US" sz="1800" dirty="0">
                <a:cs typeface="Times New Roman" panose="02020603050405020304" pitchFamily="18" charset="0"/>
              </a:rPr>
              <a:t>例如：</a:t>
            </a:r>
            <a:r>
              <a:rPr lang="en-US" altLang="zh-CN" sz="1800" dirty="0">
                <a:cs typeface="Times New Roman" panose="02020603050405020304" pitchFamily="18" charset="0"/>
              </a:rPr>
              <a:t>cc.nankai.edu.cn</a:t>
            </a:r>
          </a:p>
        </p:txBody>
      </p:sp>
      <p:sp>
        <p:nvSpPr>
          <p:cNvPr id="19" name="AutoShape 12"/>
          <p:cNvSpPr>
            <a:spLocks noChangeArrowheads="1"/>
          </p:cNvSpPr>
          <p:nvPr/>
        </p:nvSpPr>
        <p:spPr bwMode="auto">
          <a:xfrm>
            <a:off x="180975" y="3471662"/>
            <a:ext cx="1247775" cy="362143"/>
          </a:xfrm>
          <a:prstGeom prst="wedgeRoundRectCallout">
            <a:avLst>
              <a:gd name="adj1" fmla="val 121675"/>
              <a:gd name="adj2" fmla="val -181726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kumimoji="0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顶级域名</a:t>
            </a:r>
            <a:endParaRPr kumimoji="0" lang="en-US" altLang="zh-CN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" name="AutoShape 12"/>
          <p:cNvSpPr>
            <a:spLocks noChangeArrowheads="1"/>
          </p:cNvSpPr>
          <p:nvPr/>
        </p:nvSpPr>
        <p:spPr bwMode="auto">
          <a:xfrm>
            <a:off x="3052761" y="4271647"/>
            <a:ext cx="1247775" cy="362143"/>
          </a:xfrm>
          <a:prstGeom prst="wedgeRoundRectCallout">
            <a:avLst>
              <a:gd name="adj1" fmla="val 72439"/>
              <a:gd name="adj2" fmla="val -133068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kumimoji="0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二级域名</a:t>
            </a:r>
            <a:endParaRPr kumimoji="0" lang="en-US" altLang="zh-CN" dirty="0"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982528" y="5899994"/>
            <a:ext cx="404336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rgbClr val="CC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域名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已成为互联网的重要基础资源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257923" y="621527"/>
            <a:ext cx="4793132" cy="8617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rgbClr val="C00000"/>
              </a:buClr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优点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可以支持大规模、快速扩展，不需要中心节点支持；通过部分名字空间的授权实现非集中式管理；名字到地址的映射可以通过分布方式实现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3" grpId="0" animBg="1"/>
      <p:bldP spid="4" grpId="0"/>
      <p:bldP spid="19" grpId="0" animBg="1"/>
      <p:bldP spid="20" grpId="0" animBg="1"/>
      <p:bldP spid="22" grpId="0" animBg="1"/>
      <p:bldP spid="1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域名体系（续）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440070"/>
            <a:ext cx="8401050" cy="1278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0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200" dirty="0">
                <a:cs typeface="Times New Roman" panose="02020603050405020304" pitchFamily="18" charset="0"/>
              </a:rPr>
              <a:t>顶级域名：由</a:t>
            </a:r>
            <a:r>
              <a:rPr lang="zh-CN" altLang="en-US" sz="2200" b="0" i="0" dirty="0">
                <a:solidFill>
                  <a:srgbClr val="333333"/>
                </a:solidFill>
                <a:effectLst/>
                <a:cs typeface="Times New Roman" panose="02020603050405020304" pitchFamily="18" charset="0"/>
              </a:rPr>
              <a:t>互联网名称与数字地址分配机构</a:t>
            </a:r>
            <a:r>
              <a:rPr lang="en-US" altLang="zh-CN" sz="2200" b="0" i="0" dirty="0">
                <a:solidFill>
                  <a:srgbClr val="333333"/>
                </a:solidFill>
                <a:effectLst/>
                <a:cs typeface="Times New Roman" panose="02020603050405020304" pitchFamily="18" charset="0"/>
              </a:rPr>
              <a:t>(ICANN)</a:t>
            </a:r>
            <a:r>
              <a:rPr lang="zh-CN" altLang="en-US" sz="2200" b="0" i="0" dirty="0">
                <a:solidFill>
                  <a:srgbClr val="333333"/>
                </a:solidFill>
                <a:effectLst/>
                <a:cs typeface="Times New Roman" panose="02020603050405020304" pitchFamily="18" charset="0"/>
              </a:rPr>
              <a:t>负责管理</a:t>
            </a:r>
            <a:endParaRPr lang="en-US" altLang="zh-CN" sz="2200" b="0" i="0" dirty="0">
              <a:solidFill>
                <a:srgbClr val="333333"/>
              </a:solidFill>
              <a:effectLst/>
              <a:cs typeface="Times New Roman" panose="02020603050405020304" pitchFamily="18" charset="0"/>
            </a:endParaRPr>
          </a:p>
          <a:p>
            <a:pPr marL="803910" lvl="1" indent="-358140">
              <a:lnSpc>
                <a:spcPts val="3000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1800" b="0" i="0" dirty="0">
                <a:solidFill>
                  <a:srgbClr val="333333"/>
                </a:solidFill>
                <a:effectLst/>
                <a:cs typeface="Times New Roman" panose="02020603050405020304" pitchFamily="18" charset="0"/>
              </a:rPr>
              <a:t>ICANN 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cs typeface="Times New Roman" panose="02020603050405020304" pitchFamily="18" charset="0"/>
              </a:rPr>
              <a:t>与域名注册商签订合同， 准许其受理顶级域名</a:t>
            </a:r>
            <a:r>
              <a:rPr lang="en-US" altLang="zh-CN" sz="1800" b="0" i="0" dirty="0">
                <a:solidFill>
                  <a:srgbClr val="333333"/>
                </a:solidFill>
                <a:effectLst/>
                <a:cs typeface="Times New Roman" panose="02020603050405020304" pitchFamily="18" charset="0"/>
              </a:rPr>
              <a:t>.com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cs typeface="Times New Roman" panose="02020603050405020304" pitchFamily="18" charset="0"/>
              </a:rPr>
              <a:t>、</a:t>
            </a:r>
            <a:r>
              <a:rPr lang="en-US" altLang="zh-CN" sz="1800" b="0" i="0" dirty="0" err="1">
                <a:solidFill>
                  <a:srgbClr val="333333"/>
                </a:solidFill>
                <a:effectLst/>
                <a:cs typeface="Times New Roman" panose="02020603050405020304" pitchFamily="18" charset="0"/>
              </a:rPr>
              <a:t>.net</a:t>
            </a:r>
            <a:r>
              <a:rPr lang="zh-CN" altLang="en-US" sz="1800" dirty="0">
                <a:solidFill>
                  <a:srgbClr val="333333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1800" b="0" i="0" dirty="0">
                <a:solidFill>
                  <a:srgbClr val="333333"/>
                </a:solidFill>
                <a:effectLst/>
                <a:cs typeface="Times New Roman" panose="02020603050405020304" pitchFamily="18" charset="0"/>
              </a:rPr>
              <a:t>.org 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cs typeface="Times New Roman" panose="02020603050405020304" pitchFamily="18" charset="0"/>
              </a:rPr>
              <a:t>下的域名注册</a:t>
            </a:r>
            <a:endParaRPr lang="en-US" altLang="zh-CN" sz="1800" b="0" i="0" dirty="0">
              <a:solidFill>
                <a:srgbClr val="333333"/>
              </a:solidFill>
              <a:effectLst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562226" y="2829879"/>
          <a:ext cx="3876674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顶级域名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分配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com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商业组织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edu</a:t>
                      </a: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教育机构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gov</a:t>
                      </a: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政府机构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mil</a:t>
                      </a: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军队机构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net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主要的网络支持中心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org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其他组织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</a:t>
                      </a:r>
                      <a:endParaRPr lang="zh-CN" altLang="en-US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国际组织</a:t>
                      </a:r>
                      <a:endParaRPr lang="en-US" altLang="zh-CN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国家地区代码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国家或地区</a:t>
                      </a:r>
                      <a:endParaRPr lang="en-US" altLang="zh-CN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域名体系（续）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272608"/>
            <a:ext cx="8401050" cy="462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200" dirty="0">
                <a:solidFill>
                  <a:srgbClr val="333333"/>
                </a:solidFill>
                <a:cs typeface="Times New Roman" panose="02020603050405020304" pitchFamily="18" charset="0"/>
              </a:rPr>
              <a:t>中国互联网络信息中心（</a:t>
            </a:r>
            <a:r>
              <a:rPr lang="en-US" altLang="zh-CN" sz="2200" dirty="0">
                <a:solidFill>
                  <a:srgbClr val="333333"/>
                </a:solidFill>
                <a:cs typeface="Times New Roman" panose="02020603050405020304" pitchFamily="18" charset="0"/>
              </a:rPr>
              <a:t>CNNIC</a:t>
            </a:r>
            <a:r>
              <a:rPr lang="zh-CN" altLang="en-US" sz="2200" dirty="0">
                <a:solidFill>
                  <a:srgbClr val="333333"/>
                </a:solidFill>
                <a:cs typeface="Times New Roman" panose="02020603050405020304" pitchFamily="18" charset="0"/>
              </a:rPr>
              <a:t>）管理</a:t>
            </a:r>
            <a:r>
              <a:rPr lang="en-US" altLang="zh-CN" sz="2200" dirty="0">
                <a:solidFill>
                  <a:srgbClr val="C00000"/>
                </a:solidFill>
                <a:cs typeface="Times New Roman" panose="02020603050405020304" pitchFamily="18" charset="0"/>
              </a:rPr>
              <a:t>.</a:t>
            </a:r>
            <a:r>
              <a:rPr lang="en-US" altLang="zh-CN" sz="2200" dirty="0" err="1">
                <a:solidFill>
                  <a:srgbClr val="C00000"/>
                </a:solidFill>
                <a:cs typeface="Times New Roman" panose="02020603050405020304" pitchFamily="18" charset="0"/>
              </a:rPr>
              <a:t>cn</a:t>
            </a:r>
            <a:r>
              <a:rPr lang="zh-CN" altLang="en-US" sz="2200" dirty="0">
                <a:solidFill>
                  <a:srgbClr val="333333"/>
                </a:solidFill>
                <a:cs typeface="Times New Roman" panose="02020603050405020304" pitchFamily="18" charset="0"/>
              </a:rPr>
              <a:t>域名</a:t>
            </a:r>
            <a:endParaRPr lang="en-US" altLang="zh-CN" sz="2200" dirty="0">
              <a:solidFill>
                <a:srgbClr val="333333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935726" y="1784766"/>
          <a:ext cx="7262882" cy="4211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4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579"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划分模式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我国二级域名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分配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284">
                <a:tc rowSpan="6"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类别域名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科研机构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2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com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工、商、金融等企业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2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edu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教育机构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2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gov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政府部门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2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互联网络、接入网络信息中心和运行中心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2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org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各种非盈利性的组织 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284">
                <a:tc rowSpan="5"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行政区域域名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bj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北京市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2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上海市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2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tj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天津市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28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cq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重庆市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30480" marB="30480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457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T="0" marB="3048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86247" y="6111841"/>
            <a:ext cx="8654995" cy="3925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0" lvl="1" algn="ctr">
              <a:lnSpc>
                <a:spcPts val="2600"/>
              </a:lnSpc>
              <a:buClr>
                <a:srgbClr val="C00000"/>
              </a:buClr>
            </a:pPr>
            <a:r>
              <a:rPr lang="en-US" altLang="zh-CN" sz="1600" b="1" i="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Whois</a:t>
            </a:r>
            <a:r>
              <a:rPr lang="zh-CN" altLang="en-US" sz="16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查询服务（</a:t>
            </a:r>
            <a:r>
              <a:rPr lang="en-US" altLang="zh-CN" sz="16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 43</a:t>
            </a:r>
            <a:r>
              <a:rPr lang="zh-CN" altLang="en-US" sz="16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端口）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：中国万网（</a:t>
            </a:r>
            <a:r>
              <a:rPr lang="en-US" altLang="zh-CN" sz="16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www.zw.cn</a:t>
            </a:r>
            <a:r>
              <a:rPr lang="zh-CN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）、站长之家（</a:t>
            </a:r>
            <a:r>
              <a:rPr lang="en-US" altLang="zh-CN" sz="16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whois.chinaz.com</a:t>
            </a:r>
            <a:r>
              <a:rPr lang="zh-CN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）等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域名解析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359108"/>
            <a:ext cx="8415268" cy="512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域名解析</a:t>
            </a:r>
            <a:r>
              <a:rPr lang="zh-CN" altLang="en-US" sz="2200" dirty="0">
                <a:cs typeface="Times New Roman" panose="02020603050405020304" pitchFamily="18" charset="0"/>
              </a:rPr>
              <a:t>：名字到地址映射（通过名字查地址）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628650" lvl="1" indent="-271780">
              <a:lnSpc>
                <a:spcPts val="3000"/>
              </a:lnSpc>
              <a:spcBef>
                <a:spcPts val="600"/>
              </a:spcBef>
              <a:buClr>
                <a:srgbClr val="C00000"/>
              </a:buClr>
              <a:tabLst>
                <a:tab pos="628650" algn="l"/>
              </a:tabLst>
            </a:pPr>
            <a:r>
              <a:rPr lang="zh-CN" altLang="en-US" sz="1800" dirty="0">
                <a:cs typeface="Times New Roman" panose="02020603050405020304" pitchFamily="18" charset="0"/>
              </a:rPr>
              <a:t>分布式：层级的服务器组织，协同实现解析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628650" lvl="1" indent="-271780">
              <a:lnSpc>
                <a:spcPts val="3000"/>
              </a:lnSpc>
              <a:spcBef>
                <a:spcPts val="600"/>
              </a:spcBef>
              <a:buClr>
                <a:srgbClr val="C00000"/>
              </a:buClr>
              <a:tabLst>
                <a:tab pos="628650" algn="l"/>
              </a:tabLst>
            </a:pPr>
            <a:r>
              <a:rPr lang="zh-CN" altLang="en-US" sz="1800" dirty="0">
                <a:cs typeface="Times New Roman" panose="02020603050405020304" pitchFamily="18" charset="0"/>
              </a:rPr>
              <a:t>有效性：大多数解析可以在本地完成，一部分会产生互联网流量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628650" lvl="1" indent="-271780">
              <a:lnSpc>
                <a:spcPts val="3000"/>
              </a:lnSpc>
              <a:spcBef>
                <a:spcPts val="600"/>
              </a:spcBef>
              <a:buClr>
                <a:srgbClr val="C00000"/>
              </a:buClr>
              <a:tabLst>
                <a:tab pos="628650" algn="l"/>
              </a:tabLst>
            </a:pPr>
            <a:r>
              <a:rPr lang="zh-CN" altLang="en-US" sz="1800" dirty="0">
                <a:cs typeface="Times New Roman" panose="02020603050405020304" pitchFamily="18" charset="0"/>
              </a:rPr>
              <a:t>可靠性：通过冗余设置，避免单点失效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358140" indent="-358140">
              <a:lnSpc>
                <a:spcPts val="3200"/>
              </a:lnSpc>
              <a:spcBef>
                <a:spcPts val="1200"/>
              </a:spcBef>
              <a:buClr>
                <a:srgbClr val="C00000"/>
              </a:buClr>
            </a:pPr>
            <a:r>
              <a:rPr lang="zh-CN" altLang="en-US" sz="2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客户</a:t>
            </a:r>
            <a:r>
              <a:rPr lang="en-US" altLang="zh-CN" sz="2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服务器模式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628650" lvl="1" indent="-271780">
              <a:lnSpc>
                <a:spcPts val="3000"/>
              </a:lnSpc>
              <a:spcBef>
                <a:spcPts val="600"/>
              </a:spcBef>
              <a:buClr>
                <a:srgbClr val="C00000"/>
              </a:buClr>
              <a:tabLst>
                <a:tab pos="628650" algn="l"/>
              </a:tabLst>
            </a:pPr>
            <a:r>
              <a:rPr lang="zh-CN" altLang="en-US" sz="1800" dirty="0">
                <a:cs typeface="Times New Roman" panose="02020603050405020304" pitchFamily="18" charset="0"/>
              </a:rPr>
              <a:t>域名服务器：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960120" lvl="2" indent="-271780">
              <a:lnSpc>
                <a:spcPts val="2600"/>
              </a:lnSpc>
              <a:spcBef>
                <a:spcPts val="600"/>
              </a:spcBef>
              <a:buClr>
                <a:srgbClr val="C00000"/>
              </a:buClr>
              <a:tabLst>
                <a:tab pos="628650" algn="l"/>
              </a:tabLst>
            </a:pPr>
            <a:r>
              <a:rPr lang="zh-CN" altLang="en-US" sz="1600" dirty="0">
                <a:cs typeface="Times New Roman" panose="02020603050405020304" pitchFamily="18" charset="0"/>
              </a:rPr>
              <a:t>保存名字到地址映射关系（数据库）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pPr marL="960120" lvl="2" indent="-271780">
              <a:lnSpc>
                <a:spcPts val="2600"/>
              </a:lnSpc>
              <a:spcBef>
                <a:spcPts val="600"/>
              </a:spcBef>
              <a:buClr>
                <a:srgbClr val="C00000"/>
              </a:buClr>
              <a:tabLst>
                <a:tab pos="628650" algn="l"/>
              </a:tabLst>
            </a:pPr>
            <a:r>
              <a:rPr lang="zh-CN" altLang="en-US" sz="1600" dirty="0">
                <a:cs typeface="Times New Roman" panose="02020603050405020304" pitchFamily="18" charset="0"/>
              </a:rPr>
              <a:t>接收客户端请求，并给出响应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marL="628650" lvl="1" indent="-271780">
              <a:lnSpc>
                <a:spcPts val="3000"/>
              </a:lnSpc>
              <a:spcBef>
                <a:spcPts val="600"/>
              </a:spcBef>
              <a:buClr>
                <a:srgbClr val="C00000"/>
              </a:buClr>
              <a:tabLst>
                <a:tab pos="628650" algn="l"/>
              </a:tabLst>
            </a:pPr>
            <a:r>
              <a:rPr lang="zh-CN" altLang="en-US" sz="1800" dirty="0">
                <a:cs typeface="Times New Roman" panose="02020603050405020304" pitchFamily="18" charset="0"/>
              </a:rPr>
              <a:t>域名解析器（客户端）：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960120" lvl="2" indent="-271780">
              <a:lnSpc>
                <a:spcPts val="2600"/>
              </a:lnSpc>
              <a:spcBef>
                <a:spcPts val="600"/>
              </a:spcBef>
              <a:buClr>
                <a:srgbClr val="C00000"/>
              </a:buClr>
              <a:tabLst>
                <a:tab pos="628650" algn="l"/>
              </a:tabLst>
            </a:pPr>
            <a:r>
              <a:rPr lang="zh-CN" altLang="en-US" sz="1600" dirty="0">
                <a:cs typeface="Times New Roman" panose="02020603050405020304" pitchFamily="18" charset="0"/>
              </a:rPr>
              <a:t>请求域名解析的客户进程</a:t>
            </a:r>
            <a:endParaRPr lang="en-US" altLang="zh-CN" sz="1600" dirty="0">
              <a:cs typeface="Times New Roman" panose="02020603050405020304" pitchFamily="18" charset="0"/>
            </a:endParaRPr>
          </a:p>
          <a:p>
            <a:pPr marL="960120" lvl="2" indent="-271780">
              <a:lnSpc>
                <a:spcPts val="2600"/>
              </a:lnSpc>
              <a:spcBef>
                <a:spcPts val="600"/>
              </a:spcBef>
              <a:buClr>
                <a:srgbClr val="C00000"/>
              </a:buClr>
              <a:tabLst>
                <a:tab pos="628650" algn="l"/>
              </a:tabLst>
            </a:pPr>
            <a:r>
              <a:rPr lang="zh-CN" altLang="en-US" sz="1600" dirty="0">
                <a:cs typeface="Times New Roman" panose="02020603050405020304" pitchFamily="18" charset="0"/>
              </a:rPr>
              <a:t>向域名服务器发起解析请求，并等待服务器的响应</a:t>
            </a:r>
            <a:endParaRPr lang="en-US" altLang="zh-CN" sz="16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028"/>
          <p:cNvGraphicFramePr>
            <a:graphicFrameLocks noChangeAspect="1"/>
          </p:cNvGraphicFramePr>
          <p:nvPr/>
        </p:nvGraphicFramePr>
        <p:xfrm>
          <a:off x="222319" y="657224"/>
          <a:ext cx="8555038" cy="4877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372860" imgH="3635375" progId="Visio.Drawing.11">
                  <p:embed/>
                </p:oleObj>
              </mc:Choice>
              <mc:Fallback>
                <p:oleObj name="Visio" r:id="rId3" imgW="6372860" imgH="3635375" progId="Visio.Drawing.11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319" y="657224"/>
                        <a:ext cx="8555038" cy="4877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服务器组织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2089" y="5410959"/>
            <a:ext cx="8415268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6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spcBef>
                <a:spcPts val="1200"/>
              </a:spcBef>
              <a:buFont typeface="Symbol" panose="05050102010706020507" pitchFamily="18" charset="2"/>
              <a:buBlip>
                <a:blip r:embed="rId5"/>
              </a:buBlip>
            </a:pPr>
            <a:r>
              <a:rPr kumimoji="0" lang="zh-CN" altLang="en-US" sz="1800" dirty="0">
                <a:latin typeface="Arial" panose="020B0604020202020204" pitchFamily="34" charset="0"/>
              </a:rPr>
              <a:t>每台域名服务器包含一个或多个区域的信息</a:t>
            </a:r>
            <a:endParaRPr kumimoji="0" lang="en-US" altLang="zh-CN" sz="1800" dirty="0">
              <a:latin typeface="Arial" panose="020B0604020202020204" pitchFamily="34" charset="0"/>
            </a:endParaRPr>
          </a:p>
          <a:p>
            <a:pPr marL="342900" indent="-342900" algn="l">
              <a:lnSpc>
                <a:spcPct val="100000"/>
              </a:lnSpc>
              <a:spcBef>
                <a:spcPts val="1200"/>
              </a:spcBef>
              <a:buFont typeface="Symbol" panose="05050102010706020507" pitchFamily="18" charset="2"/>
              <a:buBlip>
                <a:blip r:embed="rId5"/>
              </a:buBlip>
            </a:pPr>
            <a:r>
              <a:rPr kumimoji="0" lang="zh-CN" altLang="en-US" sz="1800" dirty="0">
                <a:latin typeface="Arial" panose="020B0604020202020204" pitchFamily="34" charset="0"/>
              </a:rPr>
              <a:t>父节点服务器已知子节点服务器的地址</a:t>
            </a:r>
            <a:endParaRPr kumimoji="0" lang="en-US" altLang="zh-CN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服务器组织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359108"/>
            <a:ext cx="8415268" cy="134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根域名服务器：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628650" lvl="1" indent="-271780">
              <a:lnSpc>
                <a:spcPts val="3000"/>
              </a:lnSpc>
              <a:spcBef>
                <a:spcPts val="600"/>
              </a:spcBef>
              <a:buClr>
                <a:srgbClr val="C00000"/>
              </a:buClr>
              <a:tabLst>
                <a:tab pos="628650" algn="l"/>
              </a:tabLst>
            </a:pPr>
            <a:r>
              <a:rPr kumimoji="0" lang="zh-CN" altLang="en-US" sz="1800" dirty="0">
                <a:cs typeface="Times New Roman" panose="02020603050405020304" pitchFamily="18" charset="0"/>
              </a:rPr>
              <a:t>全球</a:t>
            </a:r>
            <a:r>
              <a:rPr kumimoji="0" lang="en-US" altLang="zh-CN" sz="1800" dirty="0">
                <a:cs typeface="Times New Roman" panose="02020603050405020304" pitchFamily="18" charset="0"/>
              </a:rPr>
              <a:t>13</a:t>
            </a:r>
            <a:r>
              <a:rPr kumimoji="0" lang="zh-CN" altLang="en-US" sz="1800" dirty="0">
                <a:cs typeface="Times New Roman" panose="02020603050405020304" pitchFamily="18" charset="0"/>
              </a:rPr>
              <a:t>个逻辑根域名服务器（</a:t>
            </a:r>
            <a:r>
              <a:rPr kumimoji="0" lang="en-US" altLang="zh-CN" sz="1800" dirty="0" err="1">
                <a:cs typeface="Times New Roman" panose="02020603050405020304" pitchFamily="18" charset="0"/>
              </a:rPr>
              <a:t>a~m</a:t>
            </a:r>
            <a:r>
              <a:rPr kumimoji="0" lang="zh-CN" altLang="en-US" sz="1800" dirty="0">
                <a:cs typeface="Times New Roman" panose="02020603050405020304" pitchFamily="18" charset="0"/>
              </a:rPr>
              <a:t>），每个根服务器都有多个镜像，实际的服务器数量目前达</a:t>
            </a:r>
            <a:r>
              <a:rPr lang="en-US" altLang="zh-CN" sz="1800" dirty="0">
                <a:cs typeface="Times New Roman" panose="02020603050405020304" pitchFamily="18" charset="0"/>
              </a:rPr>
              <a:t>1326</a:t>
            </a:r>
            <a:r>
              <a:rPr kumimoji="0" lang="zh-CN" altLang="en-US" sz="1800" dirty="0">
                <a:cs typeface="Times New Roman" panose="02020603050405020304" pitchFamily="18" charset="0"/>
              </a:rPr>
              <a:t>个（中国：大陆</a:t>
            </a:r>
            <a:r>
              <a:rPr kumimoji="0" lang="en-US" altLang="zh-CN" sz="1800" dirty="0">
                <a:cs typeface="Times New Roman" panose="02020603050405020304" pitchFamily="18" charset="0"/>
              </a:rPr>
              <a:t>13</a:t>
            </a:r>
            <a:r>
              <a:rPr kumimoji="0" lang="zh-CN" altLang="en-US" sz="1800" dirty="0">
                <a:cs typeface="Times New Roman" panose="02020603050405020304" pitchFamily="18" charset="0"/>
              </a:rPr>
              <a:t>个，台湾</a:t>
            </a:r>
            <a:r>
              <a:rPr kumimoji="0" lang="en-US" altLang="zh-CN" sz="1800" dirty="0">
                <a:cs typeface="Times New Roman" panose="02020603050405020304" pitchFamily="18" charset="0"/>
              </a:rPr>
              <a:t>6</a:t>
            </a:r>
            <a:r>
              <a:rPr kumimoji="0" lang="zh-CN" altLang="en-US" sz="1800" dirty="0">
                <a:cs typeface="Times New Roman" panose="02020603050405020304" pitchFamily="18" charset="0"/>
              </a:rPr>
              <a:t>个，香港</a:t>
            </a:r>
            <a:r>
              <a:rPr kumimoji="0" lang="en-US" altLang="zh-CN" sz="1800" dirty="0">
                <a:cs typeface="Times New Roman" panose="02020603050405020304" pitchFamily="18" charset="0"/>
              </a:rPr>
              <a:t>9</a:t>
            </a:r>
            <a:r>
              <a:rPr kumimoji="0" lang="zh-CN" altLang="en-US" sz="1800" dirty="0">
                <a:cs typeface="Times New Roman" panose="02020603050405020304" pitchFamily="18" charset="0"/>
              </a:rPr>
              <a:t>个）</a:t>
            </a:r>
            <a:endParaRPr kumimoji="0" lang="en-US" altLang="zh-CN" sz="1800" dirty="0">
              <a:cs typeface="Times New Roman" panose="02020603050405020304" pitchFamily="18" charset="0"/>
            </a:endParaRPr>
          </a:p>
        </p:txBody>
      </p:sp>
      <p:sp>
        <p:nvSpPr>
          <p:cNvPr id="8" name="AutoShape 22"/>
          <p:cNvSpPr>
            <a:spLocks noChangeAspect="1" noChangeArrowheads="1"/>
          </p:cNvSpPr>
          <p:nvPr/>
        </p:nvSpPr>
        <p:spPr bwMode="auto">
          <a:xfrm>
            <a:off x="1290645" y="2962275"/>
            <a:ext cx="5784850" cy="297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CN" altLang="zh-CN" sz="1200">
              <a:latin typeface="Comic Sans MS" panose="030F0702030302020204" pitchFamily="66" charset="0"/>
            </a:endParaRPr>
          </a:p>
        </p:txBody>
      </p:sp>
      <p:pic>
        <p:nvPicPr>
          <p:cNvPr id="9" name="Picture 23" descr="world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445" y="3759200"/>
            <a:ext cx="4319587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25"/>
          <p:cNvSpPr txBox="1">
            <a:spLocks noChangeArrowheads="1"/>
          </p:cNvSpPr>
          <p:nvPr/>
        </p:nvSpPr>
        <p:spPr bwMode="auto">
          <a:xfrm>
            <a:off x="447613" y="4656931"/>
            <a:ext cx="2338457" cy="613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. Verisign, Los Angeles CA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. USC-ISI Marina del Rey, CA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</a:rPr>
              <a:t>l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. ICANN Los Angeles, CA</a:t>
            </a:r>
          </a:p>
        </p:txBody>
      </p:sp>
      <p:sp>
        <p:nvSpPr>
          <p:cNvPr id="11" name="Freeform 26"/>
          <p:cNvSpPr/>
          <p:nvPr/>
        </p:nvSpPr>
        <p:spPr bwMode="auto">
          <a:xfrm>
            <a:off x="2566995" y="4494213"/>
            <a:ext cx="531812" cy="341312"/>
          </a:xfrm>
          <a:custGeom>
            <a:avLst/>
            <a:gdLst>
              <a:gd name="T0" fmla="*/ 0 w 582"/>
              <a:gd name="T1" fmla="*/ 2147483646 h 426"/>
              <a:gd name="T2" fmla="*/ 2147483646 w 582"/>
              <a:gd name="T3" fmla="*/ 0 h 426"/>
              <a:gd name="T4" fmla="*/ 0 60000 65536"/>
              <a:gd name="T5" fmla="*/ 0 60000 65536"/>
              <a:gd name="T6" fmla="*/ 0 w 582"/>
              <a:gd name="T7" fmla="*/ 0 h 426"/>
              <a:gd name="T8" fmla="*/ 582 w 582"/>
              <a:gd name="T9" fmla="*/ 426 h 4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82" h="426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200"/>
          </a:p>
        </p:txBody>
      </p:sp>
      <p:sp>
        <p:nvSpPr>
          <p:cNvPr id="12" name="Text Box 27"/>
          <p:cNvSpPr txBox="1">
            <a:spLocks noChangeArrowheads="1"/>
          </p:cNvSpPr>
          <p:nvPr/>
        </p:nvSpPr>
        <p:spPr bwMode="auto">
          <a:xfrm>
            <a:off x="645326" y="3860006"/>
            <a:ext cx="1667669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</a:rPr>
              <a:t>e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. NASA Mt View, CA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</a:rPr>
              <a:t>f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. Internet Software C.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   Palo Alto, CA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3" name="Freeform 28"/>
          <p:cNvSpPr/>
          <p:nvPr/>
        </p:nvSpPr>
        <p:spPr bwMode="auto">
          <a:xfrm flipV="1">
            <a:off x="2233620" y="4249738"/>
            <a:ext cx="817562" cy="184150"/>
          </a:xfrm>
          <a:custGeom>
            <a:avLst/>
            <a:gdLst>
              <a:gd name="T0" fmla="*/ 0 w 582"/>
              <a:gd name="T1" fmla="*/ 2147483646 h 426"/>
              <a:gd name="T2" fmla="*/ 2147483646 w 582"/>
              <a:gd name="T3" fmla="*/ 0 h 426"/>
              <a:gd name="T4" fmla="*/ 0 60000 65536"/>
              <a:gd name="T5" fmla="*/ 0 60000 65536"/>
              <a:gd name="T6" fmla="*/ 0 w 582"/>
              <a:gd name="T7" fmla="*/ 0 h 426"/>
              <a:gd name="T8" fmla="*/ 582 w 582"/>
              <a:gd name="T9" fmla="*/ 426 h 4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82" h="426">
                <a:moveTo>
                  <a:pt x="0" y="426"/>
                </a:moveTo>
                <a:lnTo>
                  <a:pt x="582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200"/>
          </a:p>
        </p:txBody>
      </p:sp>
      <p:sp>
        <p:nvSpPr>
          <p:cNvPr id="14" name="Text Box 29"/>
          <p:cNvSpPr txBox="1">
            <a:spLocks noChangeArrowheads="1"/>
          </p:cNvSpPr>
          <p:nvPr/>
        </p:nvSpPr>
        <p:spPr bwMode="auto">
          <a:xfrm>
            <a:off x="5176845" y="3354388"/>
            <a:ext cx="2208212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</a:rPr>
              <a:t>i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</a:rPr>
              <a:t>. </a:t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</a:rPr>
              <a:t>Netnod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, Stockholm</a:t>
            </a:r>
          </a:p>
        </p:txBody>
      </p:sp>
      <p:sp>
        <p:nvSpPr>
          <p:cNvPr id="15" name="Freeform 30"/>
          <p:cNvSpPr/>
          <p:nvPr/>
        </p:nvSpPr>
        <p:spPr bwMode="auto">
          <a:xfrm>
            <a:off x="4741870" y="3449638"/>
            <a:ext cx="446087" cy="654050"/>
          </a:xfrm>
          <a:custGeom>
            <a:avLst/>
            <a:gdLst>
              <a:gd name="T0" fmla="*/ 2147483646 w 666"/>
              <a:gd name="T1" fmla="*/ 0 h 1005"/>
              <a:gd name="T2" fmla="*/ 0 w 666"/>
              <a:gd name="T3" fmla="*/ 2147483646 h 1005"/>
              <a:gd name="T4" fmla="*/ 0 60000 65536"/>
              <a:gd name="T5" fmla="*/ 0 60000 65536"/>
              <a:gd name="T6" fmla="*/ 0 w 666"/>
              <a:gd name="T7" fmla="*/ 0 h 1005"/>
              <a:gd name="T8" fmla="*/ 666 w 666"/>
              <a:gd name="T9" fmla="*/ 1005 h 100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66" h="1005">
                <a:moveTo>
                  <a:pt x="666" y="0"/>
                </a:moveTo>
                <a:lnTo>
                  <a:pt x="0" y="100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200"/>
          </a:p>
        </p:txBody>
      </p:sp>
      <p:sp>
        <p:nvSpPr>
          <p:cNvPr id="16" name="Text Box 31"/>
          <p:cNvSpPr txBox="1">
            <a:spLocks noChangeArrowheads="1"/>
          </p:cNvSpPr>
          <p:nvPr/>
        </p:nvSpPr>
        <p:spPr bwMode="auto">
          <a:xfrm>
            <a:off x="5143507" y="3065463"/>
            <a:ext cx="25193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</a:rPr>
              <a:t>k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. RIPE London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7" name="Freeform 32"/>
          <p:cNvSpPr/>
          <p:nvPr/>
        </p:nvSpPr>
        <p:spPr bwMode="auto">
          <a:xfrm>
            <a:off x="4560895" y="3243263"/>
            <a:ext cx="615950" cy="946150"/>
          </a:xfrm>
          <a:custGeom>
            <a:avLst/>
            <a:gdLst>
              <a:gd name="T0" fmla="*/ 2147483646 w 922"/>
              <a:gd name="T1" fmla="*/ 0 h 1448"/>
              <a:gd name="T2" fmla="*/ 0 w 922"/>
              <a:gd name="T3" fmla="*/ 2147483646 h 1448"/>
              <a:gd name="T4" fmla="*/ 0 60000 65536"/>
              <a:gd name="T5" fmla="*/ 0 60000 65536"/>
              <a:gd name="T6" fmla="*/ 0 w 922"/>
              <a:gd name="T7" fmla="*/ 0 h 1448"/>
              <a:gd name="T8" fmla="*/ 922 w 922"/>
              <a:gd name="T9" fmla="*/ 1448 h 14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22" h="1448">
                <a:moveTo>
                  <a:pt x="922" y="0"/>
                </a:moveTo>
                <a:lnTo>
                  <a:pt x="0" y="1448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200"/>
          </a:p>
        </p:txBody>
      </p:sp>
      <p:sp>
        <p:nvSpPr>
          <p:cNvPr id="18" name="Text Box 33"/>
          <p:cNvSpPr txBox="1">
            <a:spLocks noChangeArrowheads="1"/>
          </p:cNvSpPr>
          <p:nvPr/>
        </p:nvSpPr>
        <p:spPr bwMode="auto">
          <a:xfrm>
            <a:off x="6721482" y="3684588"/>
            <a:ext cx="1766888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</a:rPr>
              <a:t>m. 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WIDE Tokyo</a:t>
            </a:r>
          </a:p>
        </p:txBody>
      </p:sp>
      <p:sp>
        <p:nvSpPr>
          <p:cNvPr id="19" name="Freeform 34"/>
          <p:cNvSpPr/>
          <p:nvPr/>
        </p:nvSpPr>
        <p:spPr bwMode="auto">
          <a:xfrm>
            <a:off x="6384932" y="3979863"/>
            <a:ext cx="400050" cy="431800"/>
          </a:xfrm>
          <a:custGeom>
            <a:avLst/>
            <a:gdLst>
              <a:gd name="T0" fmla="*/ 2147483646 w 252"/>
              <a:gd name="T1" fmla="*/ 0 h 462"/>
              <a:gd name="T2" fmla="*/ 0 w 252"/>
              <a:gd name="T3" fmla="*/ 2147483646 h 462"/>
              <a:gd name="T4" fmla="*/ 0 60000 65536"/>
              <a:gd name="T5" fmla="*/ 0 60000 65536"/>
              <a:gd name="T6" fmla="*/ 0 w 252"/>
              <a:gd name="T7" fmla="*/ 0 h 462"/>
              <a:gd name="T8" fmla="*/ 252 w 252"/>
              <a:gd name="T9" fmla="*/ 462 h 46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2" h="462">
                <a:moveTo>
                  <a:pt x="252" y="0"/>
                </a:moveTo>
                <a:lnTo>
                  <a:pt x="0" y="462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200"/>
          </a:p>
        </p:txBody>
      </p:sp>
      <p:sp>
        <p:nvSpPr>
          <p:cNvPr id="20" name="Text Box 35"/>
          <p:cNvSpPr txBox="1">
            <a:spLocks noChangeArrowheads="1"/>
          </p:cNvSpPr>
          <p:nvPr/>
        </p:nvSpPr>
        <p:spPr bwMode="auto">
          <a:xfrm>
            <a:off x="2478093" y="2908300"/>
            <a:ext cx="2598738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</a:rPr>
              <a:t>c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. Cogent, Herndon, VA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</a:rPr>
              <a:t>d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. U Maryland College Park, MD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</a:rPr>
              <a:t>h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. ARL Aberdeen, MD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</a:rPr>
              <a:t>j. 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Verisign, Dulles VA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cxnSp>
        <p:nvCxnSpPr>
          <p:cNvPr id="21" name="Straight Arrow Connector 2"/>
          <p:cNvCxnSpPr>
            <a:cxnSpLocks noChangeShapeType="1"/>
          </p:cNvCxnSpPr>
          <p:nvPr/>
        </p:nvCxnSpPr>
        <p:spPr bwMode="auto">
          <a:xfrm flipH="1">
            <a:off x="3687770" y="3659188"/>
            <a:ext cx="7937" cy="6905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ext Box 35"/>
          <p:cNvSpPr txBox="1">
            <a:spLocks noChangeArrowheads="1"/>
          </p:cNvSpPr>
          <p:nvPr/>
        </p:nvSpPr>
        <p:spPr bwMode="auto">
          <a:xfrm>
            <a:off x="2212968" y="5270500"/>
            <a:ext cx="1954220" cy="223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323" tIns="35662" rIns="71323" bIns="35662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</a:rPr>
              <a:t>g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</a:rPr>
              <a:t>. US DoD Columbus, OH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cxnSp>
        <p:nvCxnSpPr>
          <p:cNvPr id="23" name="Straight Arrow Connector 24"/>
          <p:cNvCxnSpPr>
            <a:cxnSpLocks noChangeShapeType="1"/>
            <a:stCxn id="22" idx="0"/>
          </p:cNvCxnSpPr>
          <p:nvPr/>
        </p:nvCxnSpPr>
        <p:spPr bwMode="auto">
          <a:xfrm flipV="1">
            <a:off x="3190078" y="4319516"/>
            <a:ext cx="419755" cy="950984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文本框 24"/>
          <p:cNvSpPr txBox="1"/>
          <p:nvPr/>
        </p:nvSpPr>
        <p:spPr>
          <a:xfrm>
            <a:off x="583407" y="6002893"/>
            <a:ext cx="3583781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kumimoji="0"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根服务器</a:t>
            </a:r>
            <a:r>
              <a:rPr kumimoji="0" lang="zh-CN" altLang="en-US" sz="1800" i="1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kumimoji="0" lang="en-US" altLang="zh-CN" sz="1800" i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letter</a:t>
            </a:r>
            <a:r>
              <a:rPr kumimoji="0" lang="en-US" altLang="zh-CN" sz="1800" i="1" dirty="0">
                <a:latin typeface="Arial" panose="020B0604020202020204" pitchFamily="34" charset="0"/>
                <a:ea typeface="宋体" panose="02010600030101010101" pitchFamily="2" charset="-122"/>
              </a:rPr>
              <a:t>.root-servers.net</a:t>
            </a:r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5019674" y="5973247"/>
            <a:ext cx="2605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https://root-servers.org/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776664" y="634156"/>
            <a:ext cx="5305418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根域名服务器对互联网发展至关重要，除</a:t>
            </a:r>
            <a:r>
              <a:rPr kumimoji="0"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IPv4</a:t>
            </a:r>
            <a:r>
              <a:rPr kumimoji="0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时代的</a:t>
            </a:r>
            <a:r>
              <a:rPr kumimoji="0"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r>
              <a:rPr kumimoji="0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个根服务器，目前在</a:t>
            </a:r>
            <a:r>
              <a:rPr kumimoji="0"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kumimoji="0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个国家设立</a:t>
            </a:r>
            <a:r>
              <a:rPr kumimoji="0"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r>
              <a:rPr kumimoji="0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台</a:t>
            </a:r>
            <a:r>
              <a:rPr kumimoji="0"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IPv6</a:t>
            </a:r>
            <a:r>
              <a:rPr kumimoji="0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根服务器，</a:t>
            </a:r>
            <a:r>
              <a:rPr kumimoji="0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我国部署</a:t>
            </a:r>
            <a:r>
              <a:rPr kumimoji="0"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台</a:t>
            </a:r>
            <a:r>
              <a:rPr kumimoji="0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，打破我国无根服务器的困境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服务器组织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387683"/>
            <a:ext cx="8320157" cy="4888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顶级域名服务器</a:t>
            </a:r>
            <a:r>
              <a:rPr lang="zh-CN" altLang="en-US" sz="2000" dirty="0"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cs typeface="Times New Roman" panose="02020603050405020304" pitchFamily="18" charset="0"/>
              </a:rPr>
              <a:t>Top-Level Domain,</a:t>
            </a:r>
            <a:r>
              <a:rPr lang="zh-CN" altLang="en-US" sz="2000" dirty="0"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cs typeface="Times New Roman" panose="02020603050405020304" pitchFamily="18" charset="0"/>
              </a:rPr>
              <a:t>TLD</a:t>
            </a:r>
            <a:r>
              <a:rPr lang="zh-CN" altLang="en-US" sz="2000" dirty="0">
                <a:cs typeface="Times New Roman" panose="02020603050405020304" pitchFamily="18" charset="0"/>
              </a:rPr>
              <a:t>）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628650" lvl="1" indent="-27178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  <a:tabLst>
                <a:tab pos="628650" algn="l"/>
              </a:tabLst>
            </a:pPr>
            <a:r>
              <a:rPr kumimoji="0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负责顶级域名的解析</a:t>
            </a:r>
            <a:endParaRPr kumimoji="0"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ts val="3200"/>
              </a:lnSpc>
              <a:spcBef>
                <a:spcPts val="12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授权域名服务器</a:t>
            </a:r>
            <a:endParaRPr lang="en-US" altLang="zh-CN" sz="22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28650" lvl="1" indent="-271780">
              <a:lnSpc>
                <a:spcPts val="3200"/>
              </a:lnSpc>
              <a:spcBef>
                <a:spcPts val="600"/>
              </a:spcBef>
            </a:pPr>
            <a:r>
              <a:rPr lang="zh-CN" altLang="en-US" sz="2000" dirty="0">
                <a:latin typeface="Arial" panose="020B0604020202020204" pitchFamily="34" charset="0"/>
              </a:rPr>
              <a:t>对于名字与地址映射，保留其初始数据来源的服务器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628650" lvl="1" indent="-271780">
              <a:lnSpc>
                <a:spcPts val="3200"/>
              </a:lnSpc>
              <a:spcBef>
                <a:spcPts val="600"/>
              </a:spcBef>
            </a:pPr>
            <a:r>
              <a:rPr lang="zh-CN" altLang="en-US" sz="2000" dirty="0">
                <a:latin typeface="Arial" panose="020B0604020202020204" pitchFamily="34" charset="0"/>
              </a:rPr>
              <a:t>主要区分名字与地址映射是原始的还是被缓存的（非授权）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lnSpc>
                <a:spcPts val="3200"/>
              </a:lnSpc>
              <a:spcBef>
                <a:spcPts val="12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本地域名服务器</a:t>
            </a:r>
            <a:r>
              <a:rPr lang="zh-CN" altLang="en-US" sz="2000" dirty="0">
                <a:cs typeface="Times New Roman" panose="02020603050405020304" pitchFamily="18" charset="0"/>
              </a:rPr>
              <a:t>（或称默认域名服务器）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625475" lvl="1" indent="-268605">
              <a:lnSpc>
                <a:spcPts val="3200"/>
              </a:lnSpc>
              <a:spcBef>
                <a:spcPts val="600"/>
              </a:spcBef>
              <a:tabLst>
                <a:tab pos="625475" algn="l"/>
              </a:tabLst>
            </a:pPr>
            <a:r>
              <a:rPr lang="zh-CN" altLang="en-US" sz="2000" dirty="0">
                <a:cs typeface="Times New Roman" panose="02020603050405020304" pitchFamily="18" charset="0"/>
              </a:rPr>
              <a:t>每个</a:t>
            </a:r>
            <a:r>
              <a:rPr lang="en-US" altLang="zh-CN" sz="2000" dirty="0">
                <a:cs typeface="Times New Roman" panose="02020603050405020304" pitchFamily="18" charset="0"/>
              </a:rPr>
              <a:t>ISP</a:t>
            </a:r>
            <a:r>
              <a:rPr lang="zh-CN" altLang="en-US" sz="2000" dirty="0">
                <a:cs typeface="Times New Roman" panose="02020603050405020304" pitchFamily="18" charset="0"/>
              </a:rPr>
              <a:t>通常部署有域名服务器，其用户可将该服务器设置成本地域名服务器（或默认域名服务器）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625475" lvl="1" indent="-268605">
              <a:lnSpc>
                <a:spcPts val="3200"/>
              </a:lnSpc>
              <a:spcBef>
                <a:spcPts val="600"/>
              </a:spcBef>
              <a:tabLst>
                <a:tab pos="625475" algn="l"/>
              </a:tabLst>
            </a:pPr>
            <a:r>
              <a:rPr lang="zh-CN" altLang="en-US" sz="2000" dirty="0">
                <a:cs typeface="Times New Roman" panose="02020603050405020304" pitchFamily="18" charset="0"/>
              </a:rPr>
              <a:t>当进行域名解析时，查询请求首先发送到本地域名服务器（即查询的起点）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域名解析示例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359108"/>
            <a:ext cx="3737681" cy="3272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200" dirty="0">
                <a:cs typeface="Times New Roman" panose="02020603050405020304" pitchFamily="18" charset="0"/>
              </a:rPr>
              <a:t>例如：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803910" lvl="1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1800" dirty="0">
                <a:cs typeface="Times New Roman" panose="02020603050405020304" pitchFamily="18" charset="0"/>
              </a:rPr>
              <a:t>tsinghua.edu.cn</a:t>
            </a:r>
            <a:r>
              <a:rPr lang="zh-CN" altLang="en-US" sz="1800" dirty="0">
                <a:cs typeface="Times New Roman" panose="02020603050405020304" pitchFamily="18" charset="0"/>
              </a:rPr>
              <a:t>域中的主机要解析</a:t>
            </a:r>
            <a:r>
              <a:rPr lang="en-US" altLang="zh-CN" sz="1800" dirty="0">
                <a:cs typeface="Times New Roman" panose="02020603050405020304" pitchFamily="18" charset="0"/>
              </a:rPr>
              <a:t>www.nankai.edu.cn</a:t>
            </a:r>
            <a:r>
              <a:rPr lang="zh-CN" altLang="en-US" sz="1800" dirty="0">
                <a:cs typeface="Times New Roman" panose="02020603050405020304" pitchFamily="18" charset="0"/>
              </a:rPr>
              <a:t>对应的</a:t>
            </a:r>
            <a:r>
              <a:rPr lang="en-US" altLang="zh-CN" sz="1800" dirty="0">
                <a:cs typeface="Times New Roman" panose="02020603050405020304" pitchFamily="18" charset="0"/>
              </a:rPr>
              <a:t>IP</a:t>
            </a:r>
            <a:r>
              <a:rPr lang="zh-CN" altLang="en-US" sz="1800" dirty="0">
                <a:cs typeface="Times New Roman" panose="02020603050405020304" pitchFamily="18" charset="0"/>
              </a:rPr>
              <a:t>地址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200" dirty="0">
                <a:cs typeface="Times New Roman" panose="02020603050405020304" pitchFamily="18" charset="0"/>
              </a:rPr>
              <a:t>解析过程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803910" lvl="1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800" b="1" dirty="0">
                <a:solidFill>
                  <a:srgbClr val="C00000"/>
                </a:solidFill>
                <a:cs typeface="Times New Roman" panose="02020603050405020304" pitchFamily="18" charset="0"/>
              </a:rPr>
              <a:t>反复解析</a:t>
            </a:r>
            <a:endParaRPr lang="en-US" altLang="zh-CN" sz="1800" b="1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pPr marL="803910" lvl="1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800" dirty="0">
                <a:cs typeface="Times New Roman" panose="02020603050405020304" pitchFamily="18" charset="0"/>
              </a:rPr>
              <a:t>递归解析</a:t>
            </a:r>
            <a:endParaRPr lang="en-US" altLang="zh-CN" sz="1800" dirty="0"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4838229" y="4809359"/>
          <a:ext cx="83343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8192750" imgH="15087600" progId="MS_ClipArt_Gallery.2">
                  <p:embed/>
                </p:oleObj>
              </mc:Choice>
              <mc:Fallback>
                <p:oleObj name="Clip" r:id="rId5" imgW="18192750" imgH="15087600" progId="MS_ClipArt_Gallery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229" y="4809359"/>
                        <a:ext cx="833437" cy="63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820250" y="5520559"/>
            <a:ext cx="1107996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请求主机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420966" y="6161909"/>
            <a:ext cx="2173993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www.nankai.edu.cn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6962304" y="5609459"/>
          <a:ext cx="83343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7" imgW="1307465" imgH="1083945" progId="MS_ClipArt_Gallery.2">
                  <p:embed/>
                </p:oleObj>
              </mc:Choice>
              <mc:Fallback>
                <p:oleObj name="Clip" r:id="rId7" imgW="1307465" imgH="1083945" progId="MS_ClipArt_Gallery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2304" y="5609459"/>
                        <a:ext cx="833437" cy="63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8"/>
          <p:cNvGrpSpPr/>
          <p:nvPr/>
        </p:nvGrpSpPr>
        <p:grpSpPr bwMode="auto">
          <a:xfrm>
            <a:off x="5085879" y="2734496"/>
            <a:ext cx="369887" cy="657225"/>
            <a:chOff x="4180" y="783"/>
            <a:chExt cx="150" cy="307"/>
          </a:xfrm>
        </p:grpSpPr>
        <p:sp>
          <p:nvSpPr>
            <p:cNvPr id="11" name="AutoShape 9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AutoShape 12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5639916" y="920024"/>
            <a:ext cx="162579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根域名服务器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 flipH="1" flipV="1">
            <a:off x="5173191" y="3421884"/>
            <a:ext cx="0" cy="13144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 flipV="1">
            <a:off x="5338112" y="1829257"/>
            <a:ext cx="800612" cy="84690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 flipV="1">
            <a:off x="5533214" y="2993054"/>
            <a:ext cx="1485900" cy="95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 flipH="1" flipV="1">
            <a:off x="5535141" y="3112941"/>
            <a:ext cx="14192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 flipH="1">
            <a:off x="5458941" y="1955034"/>
            <a:ext cx="733425" cy="762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5287491" y="3450459"/>
            <a:ext cx="9525" cy="13239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3281040" y="3229482"/>
            <a:ext cx="1800227" cy="646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tsinghua.edu.cn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本地域名服务器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4855695" y="4001371"/>
            <a:ext cx="3111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5444462" y="1944409"/>
            <a:ext cx="3111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Text Box 29"/>
          <p:cNvSpPr txBox="1">
            <a:spLocks noChangeArrowheads="1"/>
          </p:cNvSpPr>
          <p:nvPr/>
        </p:nvSpPr>
        <p:spPr bwMode="auto">
          <a:xfrm>
            <a:off x="5797305" y="2267249"/>
            <a:ext cx="3111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6151053" y="2651419"/>
            <a:ext cx="3111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6171729" y="3078984"/>
            <a:ext cx="31115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Text Box 32"/>
          <p:cNvSpPr txBox="1">
            <a:spLocks noChangeArrowheads="1"/>
          </p:cNvSpPr>
          <p:nvPr/>
        </p:nvSpPr>
        <p:spPr bwMode="auto">
          <a:xfrm>
            <a:off x="6229672" y="3620555"/>
            <a:ext cx="3111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5" name="Group 33"/>
          <p:cNvGrpSpPr/>
          <p:nvPr/>
        </p:nvGrpSpPr>
        <p:grpSpPr bwMode="auto">
          <a:xfrm>
            <a:off x="6200304" y="1315271"/>
            <a:ext cx="369887" cy="657225"/>
            <a:chOff x="4180" y="783"/>
            <a:chExt cx="150" cy="307"/>
          </a:xfrm>
        </p:grpSpPr>
        <p:sp>
          <p:nvSpPr>
            <p:cNvPr id="36" name="AutoShape 34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AutoShape 37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Rectangle 40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Rectangle 41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Group 42"/>
          <p:cNvGrpSpPr/>
          <p:nvPr/>
        </p:nvGrpSpPr>
        <p:grpSpPr bwMode="auto">
          <a:xfrm>
            <a:off x="7028979" y="2744021"/>
            <a:ext cx="369887" cy="657225"/>
            <a:chOff x="4180" y="783"/>
            <a:chExt cx="150" cy="307"/>
          </a:xfrm>
        </p:grpSpPr>
        <p:sp>
          <p:nvSpPr>
            <p:cNvPr id="45" name="AutoShape 43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Rectangle 44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Rectangle 45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AutoShape 46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Line 47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Line 48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49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50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Group 51"/>
          <p:cNvGrpSpPr/>
          <p:nvPr/>
        </p:nvGrpSpPr>
        <p:grpSpPr bwMode="auto">
          <a:xfrm>
            <a:off x="7009929" y="4363271"/>
            <a:ext cx="369887" cy="657225"/>
            <a:chOff x="4180" y="783"/>
            <a:chExt cx="150" cy="307"/>
          </a:xfrm>
        </p:grpSpPr>
        <p:sp>
          <p:nvSpPr>
            <p:cNvPr id="54" name="AutoShape 52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AutoShape 55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Line 56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Line 57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Rectangle 58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Rectangle 59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2" name="Text Box 60"/>
          <p:cNvSpPr txBox="1">
            <a:spLocks noChangeArrowheads="1"/>
          </p:cNvSpPr>
          <p:nvPr/>
        </p:nvSpPr>
        <p:spPr bwMode="auto">
          <a:xfrm>
            <a:off x="7332286" y="4314743"/>
            <a:ext cx="1811714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nankai.edu.cn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授权域名服务器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" name="Text Box 61"/>
          <p:cNvSpPr txBox="1">
            <a:spLocks noChangeArrowheads="1"/>
          </p:cNvSpPr>
          <p:nvPr/>
        </p:nvSpPr>
        <p:spPr bwMode="auto">
          <a:xfrm>
            <a:off x="5942952" y="4016244"/>
            <a:ext cx="31115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" name="Text Box 62"/>
          <p:cNvSpPr txBox="1">
            <a:spLocks noChangeArrowheads="1"/>
          </p:cNvSpPr>
          <p:nvPr/>
        </p:nvSpPr>
        <p:spPr bwMode="auto">
          <a:xfrm>
            <a:off x="5312321" y="3993094"/>
            <a:ext cx="3111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5" name="Line 63"/>
          <p:cNvSpPr>
            <a:spLocks noChangeShapeType="1"/>
          </p:cNvSpPr>
          <p:nvPr/>
        </p:nvSpPr>
        <p:spPr bwMode="auto">
          <a:xfrm>
            <a:off x="5496687" y="3287582"/>
            <a:ext cx="1493838" cy="13144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6" name="Line 64"/>
          <p:cNvSpPr>
            <a:spLocks noChangeShapeType="1"/>
          </p:cNvSpPr>
          <p:nvPr/>
        </p:nvSpPr>
        <p:spPr bwMode="auto">
          <a:xfrm flipH="1" flipV="1">
            <a:off x="5420678" y="3381833"/>
            <a:ext cx="1493837" cy="13017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" name="Text Box 65"/>
          <p:cNvSpPr txBox="1">
            <a:spLocks noChangeArrowheads="1"/>
          </p:cNvSpPr>
          <p:nvPr/>
        </p:nvSpPr>
        <p:spPr bwMode="auto">
          <a:xfrm>
            <a:off x="6400329" y="2358259"/>
            <a:ext cx="201136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TLD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域名服务器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9" grpId="0"/>
      <p:bldP spid="30" grpId="0"/>
      <p:bldP spid="31" grpId="0"/>
      <p:bldP spid="32" grpId="0"/>
      <p:bldP spid="33" grpId="0"/>
      <p:bldP spid="34" grpId="0"/>
      <p:bldP spid="63" grpId="0"/>
      <p:bldP spid="64" grpId="0"/>
      <p:bldP spid="65" grpId="0" animBg="1"/>
      <p:bldP spid="6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域名解析示例（续）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359108"/>
            <a:ext cx="3737681" cy="3272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200" dirty="0">
                <a:cs typeface="Times New Roman" panose="02020603050405020304" pitchFamily="18" charset="0"/>
              </a:rPr>
              <a:t>例如：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803910" lvl="1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1800" dirty="0">
                <a:cs typeface="Times New Roman" panose="02020603050405020304" pitchFamily="18" charset="0"/>
              </a:rPr>
              <a:t>tsinghua.edu.cn</a:t>
            </a:r>
            <a:r>
              <a:rPr lang="zh-CN" altLang="en-US" sz="1800" dirty="0">
                <a:cs typeface="Times New Roman" panose="02020603050405020304" pitchFamily="18" charset="0"/>
              </a:rPr>
              <a:t>域中的主机要解析</a:t>
            </a:r>
            <a:r>
              <a:rPr lang="en-US" altLang="zh-CN" sz="1800" dirty="0">
                <a:cs typeface="Times New Roman" panose="02020603050405020304" pitchFamily="18" charset="0"/>
              </a:rPr>
              <a:t>www.nankai.edu.cn</a:t>
            </a:r>
            <a:r>
              <a:rPr lang="zh-CN" altLang="en-US" sz="1800" dirty="0">
                <a:cs typeface="Times New Roman" panose="02020603050405020304" pitchFamily="18" charset="0"/>
              </a:rPr>
              <a:t>对应的</a:t>
            </a:r>
            <a:r>
              <a:rPr lang="en-US" altLang="zh-CN" sz="1800" dirty="0">
                <a:cs typeface="Times New Roman" panose="02020603050405020304" pitchFamily="18" charset="0"/>
              </a:rPr>
              <a:t>IP</a:t>
            </a:r>
            <a:r>
              <a:rPr lang="zh-CN" altLang="en-US" sz="1800" dirty="0">
                <a:cs typeface="Times New Roman" panose="02020603050405020304" pitchFamily="18" charset="0"/>
              </a:rPr>
              <a:t>地址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200" dirty="0">
                <a:cs typeface="Times New Roman" panose="02020603050405020304" pitchFamily="18" charset="0"/>
              </a:rPr>
              <a:t>解析过程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803910" lvl="1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800" dirty="0">
                <a:cs typeface="Times New Roman" panose="02020603050405020304" pitchFamily="18" charset="0"/>
              </a:rPr>
              <a:t>反复解析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803910" lvl="1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800" b="1" dirty="0">
                <a:solidFill>
                  <a:srgbClr val="C00000"/>
                </a:solidFill>
                <a:cs typeface="Times New Roman" panose="02020603050405020304" pitchFamily="18" charset="0"/>
              </a:rPr>
              <a:t>递归解析</a:t>
            </a:r>
            <a:endParaRPr lang="en-US" altLang="zh-CN" sz="1800" b="1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4838229" y="4809359"/>
          <a:ext cx="83343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18192750" imgH="15087600" progId="MS_ClipArt_Gallery.2">
                  <p:embed/>
                </p:oleObj>
              </mc:Choice>
              <mc:Fallback>
                <p:oleObj name="Clip" r:id="rId5" imgW="18192750" imgH="15087600" progId="MS_ClipArt_Gallery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229" y="4809359"/>
                        <a:ext cx="833437" cy="63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820250" y="5520559"/>
            <a:ext cx="1107996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请求主机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420966" y="6161909"/>
            <a:ext cx="2173993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www.nankai.edu.cn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6962304" y="5609459"/>
          <a:ext cx="83343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7" imgW="1307465" imgH="1083945" progId="MS_ClipArt_Gallery.2">
                  <p:embed/>
                </p:oleObj>
              </mc:Choice>
              <mc:Fallback>
                <p:oleObj name="Clip" r:id="rId7" imgW="1307465" imgH="1083945" progId="MS_ClipArt_Gallery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2304" y="5609459"/>
                        <a:ext cx="833437" cy="638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8"/>
          <p:cNvGrpSpPr/>
          <p:nvPr/>
        </p:nvGrpSpPr>
        <p:grpSpPr bwMode="auto">
          <a:xfrm>
            <a:off x="5085879" y="2734496"/>
            <a:ext cx="369887" cy="657225"/>
            <a:chOff x="4180" y="783"/>
            <a:chExt cx="150" cy="307"/>
          </a:xfrm>
        </p:grpSpPr>
        <p:sp>
          <p:nvSpPr>
            <p:cNvPr id="11" name="AutoShape 9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AutoShape 12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5639916" y="920024"/>
            <a:ext cx="1625791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根域名服务器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 flipH="1" flipV="1">
            <a:off x="5173191" y="3421884"/>
            <a:ext cx="0" cy="13144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>
            <a:off x="5287491" y="3450459"/>
            <a:ext cx="9525" cy="13239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3281040" y="3229482"/>
            <a:ext cx="1800227" cy="646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tsinghua.edu.cn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本地域名服务器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4855695" y="4001371"/>
            <a:ext cx="3111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5" name="Group 33"/>
          <p:cNvGrpSpPr/>
          <p:nvPr/>
        </p:nvGrpSpPr>
        <p:grpSpPr bwMode="auto">
          <a:xfrm>
            <a:off x="6200304" y="1315271"/>
            <a:ext cx="369887" cy="657225"/>
            <a:chOff x="4180" y="783"/>
            <a:chExt cx="150" cy="307"/>
          </a:xfrm>
        </p:grpSpPr>
        <p:sp>
          <p:nvSpPr>
            <p:cNvPr id="36" name="AutoShape 34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AutoShape 37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Rectangle 40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Rectangle 41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Group 42"/>
          <p:cNvGrpSpPr/>
          <p:nvPr/>
        </p:nvGrpSpPr>
        <p:grpSpPr bwMode="auto">
          <a:xfrm>
            <a:off x="7028979" y="2744021"/>
            <a:ext cx="369887" cy="657225"/>
            <a:chOff x="4180" y="783"/>
            <a:chExt cx="150" cy="307"/>
          </a:xfrm>
        </p:grpSpPr>
        <p:sp>
          <p:nvSpPr>
            <p:cNvPr id="45" name="AutoShape 43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Rectangle 44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Rectangle 45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AutoShape 46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Line 47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Line 48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49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50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Group 51"/>
          <p:cNvGrpSpPr/>
          <p:nvPr/>
        </p:nvGrpSpPr>
        <p:grpSpPr bwMode="auto">
          <a:xfrm>
            <a:off x="7009929" y="4363271"/>
            <a:ext cx="369887" cy="657225"/>
            <a:chOff x="4180" y="783"/>
            <a:chExt cx="150" cy="307"/>
          </a:xfrm>
        </p:grpSpPr>
        <p:sp>
          <p:nvSpPr>
            <p:cNvPr id="54" name="AutoShape 52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AutoShape 55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Line 56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Line 57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Rectangle 58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Rectangle 59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2" name="Text Box 60"/>
          <p:cNvSpPr txBox="1">
            <a:spLocks noChangeArrowheads="1"/>
          </p:cNvSpPr>
          <p:nvPr/>
        </p:nvSpPr>
        <p:spPr bwMode="auto">
          <a:xfrm>
            <a:off x="7332286" y="4314743"/>
            <a:ext cx="1811714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nankai.edu.cn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授权域名服务器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" name="Text Box 62"/>
          <p:cNvSpPr txBox="1">
            <a:spLocks noChangeArrowheads="1"/>
          </p:cNvSpPr>
          <p:nvPr/>
        </p:nvSpPr>
        <p:spPr bwMode="auto">
          <a:xfrm>
            <a:off x="5312321" y="3993094"/>
            <a:ext cx="3111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" name="Text Box 65"/>
          <p:cNvSpPr txBox="1">
            <a:spLocks noChangeArrowheads="1"/>
          </p:cNvSpPr>
          <p:nvPr/>
        </p:nvSpPr>
        <p:spPr bwMode="auto">
          <a:xfrm>
            <a:off x="7367486" y="2882211"/>
            <a:ext cx="201136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TLD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域名服务器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" name="Text Box 24"/>
          <p:cNvSpPr txBox="1">
            <a:spLocks noChangeArrowheads="1"/>
          </p:cNvSpPr>
          <p:nvPr/>
        </p:nvSpPr>
        <p:spPr bwMode="auto">
          <a:xfrm>
            <a:off x="7322857" y="3752877"/>
            <a:ext cx="3111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" name="Text Box 25"/>
          <p:cNvSpPr txBox="1">
            <a:spLocks noChangeArrowheads="1"/>
          </p:cNvSpPr>
          <p:nvPr/>
        </p:nvSpPr>
        <p:spPr bwMode="auto">
          <a:xfrm>
            <a:off x="6840827" y="3768439"/>
            <a:ext cx="3111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" name="Text Box 26"/>
          <p:cNvSpPr txBox="1">
            <a:spLocks noChangeArrowheads="1"/>
          </p:cNvSpPr>
          <p:nvPr/>
        </p:nvSpPr>
        <p:spPr bwMode="auto">
          <a:xfrm>
            <a:off x="6501957" y="2311122"/>
            <a:ext cx="3111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4" name="Line 57"/>
          <p:cNvSpPr>
            <a:spLocks noChangeShapeType="1"/>
          </p:cNvSpPr>
          <p:nvPr/>
        </p:nvSpPr>
        <p:spPr bwMode="auto">
          <a:xfrm>
            <a:off x="6582522" y="1882601"/>
            <a:ext cx="555202" cy="83443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Line 60"/>
          <p:cNvSpPr>
            <a:spLocks noChangeShapeType="1"/>
          </p:cNvSpPr>
          <p:nvPr/>
        </p:nvSpPr>
        <p:spPr bwMode="auto">
          <a:xfrm>
            <a:off x="7294281" y="3485019"/>
            <a:ext cx="0" cy="829724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Line 61"/>
          <p:cNvSpPr>
            <a:spLocks noChangeShapeType="1"/>
          </p:cNvSpPr>
          <p:nvPr/>
        </p:nvSpPr>
        <p:spPr bwMode="auto">
          <a:xfrm flipH="1" flipV="1">
            <a:off x="7170457" y="3448077"/>
            <a:ext cx="0" cy="914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Line 62"/>
          <p:cNvSpPr>
            <a:spLocks noChangeShapeType="1"/>
          </p:cNvSpPr>
          <p:nvPr/>
        </p:nvSpPr>
        <p:spPr bwMode="auto">
          <a:xfrm flipH="1" flipV="1">
            <a:off x="6483772" y="1939339"/>
            <a:ext cx="558214" cy="8670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Box 63"/>
          <p:cNvSpPr txBox="1">
            <a:spLocks noChangeArrowheads="1"/>
          </p:cNvSpPr>
          <p:nvPr/>
        </p:nvSpPr>
        <p:spPr bwMode="auto">
          <a:xfrm>
            <a:off x="6879876" y="2011797"/>
            <a:ext cx="257847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0" name="Line 19"/>
          <p:cNvSpPr>
            <a:spLocks noChangeShapeType="1"/>
          </p:cNvSpPr>
          <p:nvPr/>
        </p:nvSpPr>
        <p:spPr bwMode="auto">
          <a:xfrm flipV="1">
            <a:off x="5338112" y="1829257"/>
            <a:ext cx="800612" cy="84690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" name="Line 22"/>
          <p:cNvSpPr>
            <a:spLocks noChangeShapeType="1"/>
          </p:cNvSpPr>
          <p:nvPr/>
        </p:nvSpPr>
        <p:spPr bwMode="auto">
          <a:xfrm flipH="1">
            <a:off x="5458941" y="1955034"/>
            <a:ext cx="733425" cy="762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2" name="Text Box 28"/>
          <p:cNvSpPr txBox="1">
            <a:spLocks noChangeArrowheads="1"/>
          </p:cNvSpPr>
          <p:nvPr/>
        </p:nvSpPr>
        <p:spPr bwMode="auto">
          <a:xfrm>
            <a:off x="5444462" y="1944409"/>
            <a:ext cx="3111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3" name="Text Box 29"/>
          <p:cNvSpPr txBox="1">
            <a:spLocks noChangeArrowheads="1"/>
          </p:cNvSpPr>
          <p:nvPr/>
        </p:nvSpPr>
        <p:spPr bwMode="auto">
          <a:xfrm>
            <a:off x="5797305" y="2267249"/>
            <a:ext cx="300082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2065" y="5016647"/>
            <a:ext cx="2182368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两者的优缺点？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  <p:bldP spid="29" grpId="0"/>
      <p:bldP spid="64" grpId="0"/>
      <p:bldP spid="70" grpId="0"/>
      <p:bldP spid="71" grpId="0"/>
      <p:bldP spid="72" grpId="0"/>
      <p:bldP spid="74" grpId="0" animBg="1"/>
      <p:bldP spid="75" grpId="0" animBg="1"/>
      <p:bldP spid="76" grpId="0" animBg="1"/>
      <p:bldP spid="77" grpId="0" animBg="1"/>
      <p:bldP spid="78" grpId="0"/>
      <p:bldP spid="80" grpId="0" animBg="1"/>
      <p:bldP spid="81" grpId="0" animBg="1"/>
      <p:bldP spid="82" grpId="0"/>
      <p:bldP spid="8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域名服务器缓存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420068"/>
            <a:ext cx="8265293" cy="459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60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目的：降低非本地名字查询开销及查询延时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719455" lvl="1" indent="-365125">
              <a:lnSpc>
                <a:spcPts val="35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通常地址与名字的绑定变化不频繁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  <a:spcBef>
                <a:spcPts val="120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服务器缓存名字与地址映射关系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717550" lvl="1" indent="-358775">
              <a:lnSpc>
                <a:spcPts val="35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服务器学习到某个名字和地址的映射关系时，便进行缓存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717550" lvl="1" indent="-358775">
              <a:lnSpc>
                <a:spcPts val="35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记录名字和地址的映射从何处获取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717550" lvl="1" indent="-358775">
              <a:lnSpc>
                <a:spcPts val="35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基于授权服务器中的</a:t>
            </a:r>
            <a:r>
              <a:rPr lang="en-US" altLang="zh-CN" sz="2000" dirty="0">
                <a:cs typeface="Times New Roman" panose="02020603050405020304" pitchFamily="18" charset="0"/>
              </a:rPr>
              <a:t>TTL</a:t>
            </a:r>
            <a:r>
              <a:rPr lang="zh-CN" altLang="en-US" sz="2000" dirty="0">
                <a:cs typeface="Times New Roman" panose="02020603050405020304" pitchFamily="18" charset="0"/>
              </a:rPr>
              <a:t>值设置超时时间，缓存映射关系经过一定时间将超时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717550" lvl="1" indent="-358775">
              <a:lnSpc>
                <a:spcPts val="3500"/>
              </a:lnSpc>
              <a:spcBef>
                <a:spcPts val="600"/>
              </a:spcBef>
            </a:pPr>
            <a:r>
              <a:rPr lang="en-US" altLang="zh-CN" sz="2000" dirty="0">
                <a:cs typeface="Times New Roman" panose="02020603050405020304" pitchFamily="18" charset="0"/>
              </a:rPr>
              <a:t>TLD</a:t>
            </a:r>
            <a:r>
              <a:rPr lang="zh-CN" altLang="en-US" sz="2000" dirty="0">
                <a:cs typeface="Times New Roman" panose="02020603050405020304" pitchFamily="18" charset="0"/>
              </a:rPr>
              <a:t>服务器通常会被本地域名服务器缓存，可以有效减少根域名服务器的访问频度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域名服务器缓存（续）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481028"/>
            <a:ext cx="8265293" cy="4551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120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服务器使用缓存的映射关系响应客户端的请求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719455" lvl="1" indent="-365125">
              <a:lnSpc>
                <a:spcPts val="3500"/>
              </a:lnSpc>
              <a:spcBef>
                <a:spcPts val="12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标记为非授权（</a:t>
            </a:r>
            <a:r>
              <a:rPr lang="en-US" altLang="zh-CN" sz="2000" i="1" dirty="0" err="1">
                <a:solidFill>
                  <a:srgbClr val="000099"/>
                </a:solidFill>
                <a:latin typeface="Arial" panose="020B0604020202020204" pitchFamily="34" charset="0"/>
              </a:rPr>
              <a:t>nonauthoritative</a:t>
            </a:r>
            <a:r>
              <a:rPr lang="zh-CN" altLang="en-US" sz="2000" dirty="0">
                <a:solidFill>
                  <a:srgbClr val="000099"/>
                </a:solidFill>
                <a:latin typeface="Arial" panose="020B0604020202020204" pitchFamily="34" charset="0"/>
              </a:rPr>
              <a:t>）</a:t>
            </a:r>
            <a:r>
              <a:rPr lang="zh-CN" altLang="en-US" sz="2000" dirty="0">
                <a:cs typeface="Times New Roman" panose="02020603050405020304" pitchFamily="18" charset="0"/>
              </a:rPr>
              <a:t>映射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719455" lvl="1" indent="-365125">
              <a:lnSpc>
                <a:spcPts val="3500"/>
              </a:lnSpc>
              <a:spcBef>
                <a:spcPts val="12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给出获取映射的服务器的域名和</a:t>
            </a:r>
            <a:r>
              <a:rPr lang="en-US" altLang="zh-CN" sz="2000" dirty="0">
                <a:cs typeface="Times New Roman" panose="02020603050405020304" pitchFamily="18" charset="0"/>
              </a:rPr>
              <a:t>IP</a:t>
            </a:r>
            <a:r>
              <a:rPr lang="zh-CN" altLang="en-US" sz="2000" dirty="0">
                <a:cs typeface="Times New Roman" panose="02020603050405020304" pitchFamily="18" charset="0"/>
              </a:rPr>
              <a:t>地址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  <a:spcBef>
                <a:spcPts val="120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客户机接收服务器响应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717550" lvl="1" indent="-358775">
              <a:lnSpc>
                <a:spcPts val="3500"/>
              </a:lnSpc>
              <a:spcBef>
                <a:spcPts val="12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映射有可能过时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717550" lvl="1" indent="-358775">
              <a:lnSpc>
                <a:spcPts val="3500"/>
              </a:lnSpc>
              <a:spcBef>
                <a:spcPts val="12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如果注重效率，客户端接受非授权响应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717550" lvl="1" indent="-358775">
              <a:lnSpc>
                <a:spcPts val="3500"/>
              </a:lnSpc>
              <a:spcBef>
                <a:spcPts val="12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如果注重准确性，客户机可以再联系授权服务器，验证映射是否仍有效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主机缓存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481028"/>
            <a:ext cx="8265293" cy="475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120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基本方法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719455" lvl="1" indent="-365125">
              <a:lnSpc>
                <a:spcPts val="3000"/>
              </a:lnSpc>
              <a:spcBef>
                <a:spcPts val="12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在启动时从本地域名服务器下载名字</a:t>
            </a:r>
            <a:r>
              <a:rPr lang="en-US" altLang="zh-CN" sz="2000" dirty="0">
                <a:cs typeface="Times New Roman" panose="02020603050405020304" pitchFamily="18" charset="0"/>
              </a:rPr>
              <a:t>-</a:t>
            </a:r>
            <a:r>
              <a:rPr lang="zh-CN" altLang="en-US" sz="2000" dirty="0">
                <a:cs typeface="Times New Roman" panose="02020603050405020304" pitchFamily="18" charset="0"/>
              </a:rPr>
              <a:t>地址映射数据库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719455" lvl="1" indent="-365125">
              <a:lnSpc>
                <a:spcPts val="3000"/>
              </a:lnSpc>
              <a:spcBef>
                <a:spcPts val="12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定期获取新的映射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719455" lvl="1" indent="-365125">
              <a:lnSpc>
                <a:spcPts val="3000"/>
              </a:lnSpc>
              <a:spcBef>
                <a:spcPts val="12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缓存最近用过的名字和地址映射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120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优点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719455" lvl="1" indent="-365125">
              <a:lnSpc>
                <a:spcPts val="3000"/>
              </a:lnSpc>
              <a:spcBef>
                <a:spcPts val="12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无需访问域名服务器，名字解析速度快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719455" lvl="1" indent="-365125">
              <a:lnSpc>
                <a:spcPts val="3000"/>
              </a:lnSpc>
              <a:spcBef>
                <a:spcPts val="12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本地服务器的故障不影响名字解析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719455" lvl="1" indent="-365125">
              <a:lnSpc>
                <a:spcPts val="3000"/>
              </a:lnSpc>
              <a:spcBef>
                <a:spcPts val="12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减低服务器的负载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1200"/>
              </a:spcBef>
            </a:pPr>
            <a:r>
              <a:rPr lang="zh-CN" altLang="en-US" sz="2400" b="1" dirty="0">
                <a:solidFill>
                  <a:srgbClr val="C00000"/>
                </a:solidFill>
                <a:cs typeface="Times New Roman" panose="02020603050405020304" pitchFamily="18" charset="0"/>
              </a:rPr>
              <a:t>缺点？</a:t>
            </a:r>
            <a:endParaRPr lang="en-US" altLang="zh-CN" sz="2000" b="1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资源记录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646381"/>
            <a:ext cx="8410714" cy="3945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3600"/>
              </a:lnSpc>
              <a:spcBef>
                <a:spcPts val="600"/>
              </a:spcBef>
            </a:pPr>
            <a:r>
              <a:rPr lang="en-US" altLang="zh-CN" sz="2400" dirty="0">
                <a:cs typeface="Times New Roman" panose="02020603050405020304" pitchFamily="18" charset="0"/>
              </a:rPr>
              <a:t>DNS</a:t>
            </a:r>
            <a:r>
              <a:rPr lang="zh-CN" altLang="en-US" sz="2400" dirty="0">
                <a:cs typeface="Times New Roman" panose="02020603050405020304" pitchFamily="18" charset="0"/>
              </a:rPr>
              <a:t>使用区域数据库存储名字与地址映射关系，区域数据库由资源记录（</a:t>
            </a:r>
            <a:r>
              <a:rPr lang="en-US" altLang="zh-CN" sz="2400" dirty="0">
                <a:solidFill>
                  <a:srgbClr val="000099"/>
                </a:solidFill>
                <a:cs typeface="Times New Roman" panose="02020603050405020304" pitchFamily="18" charset="0"/>
              </a:rPr>
              <a:t>Resource Records</a:t>
            </a:r>
            <a:r>
              <a:rPr lang="zh-CN" altLang="en-US" sz="2400" dirty="0">
                <a:solidFill>
                  <a:srgbClr val="000099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000099"/>
                </a:solidFill>
                <a:cs typeface="Times New Roman" panose="02020603050405020304" pitchFamily="18" charset="0"/>
              </a:rPr>
              <a:t>RR</a:t>
            </a:r>
            <a:r>
              <a:rPr lang="zh-CN" altLang="en-US" sz="2400" dirty="0">
                <a:cs typeface="Times New Roman" panose="02020603050405020304" pitchFamily="18" charset="0"/>
              </a:rPr>
              <a:t>）组成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120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资源记录结构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719455" lvl="1" indent="-365125">
              <a:lnSpc>
                <a:spcPts val="32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名字（</a:t>
            </a:r>
            <a:r>
              <a:rPr lang="en-US" altLang="zh-CN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name</a:t>
            </a:r>
            <a:r>
              <a:rPr lang="zh-CN" altLang="en-US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）</a:t>
            </a:r>
            <a:endParaRPr lang="en-US" altLang="zh-CN" sz="2000" b="1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pPr marL="719455" lvl="1" indent="-365125">
              <a:lnSpc>
                <a:spcPts val="3200"/>
              </a:lnSpc>
              <a:spcBef>
                <a:spcPts val="600"/>
              </a:spcBef>
            </a:pPr>
            <a:r>
              <a:rPr lang="en-US" altLang="zh-CN" sz="2000" dirty="0">
                <a:cs typeface="Times New Roman" panose="02020603050405020304" pitchFamily="18" charset="0"/>
              </a:rPr>
              <a:t>TTL</a:t>
            </a:r>
            <a:r>
              <a:rPr lang="zh-CN" altLang="en-US" sz="2000" dirty="0"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cs typeface="Times New Roman" panose="02020603050405020304" pitchFamily="18" charset="0"/>
              </a:rPr>
              <a:t>Time To Live</a:t>
            </a:r>
            <a:r>
              <a:rPr lang="zh-CN" altLang="en-US" sz="2000" dirty="0">
                <a:cs typeface="Times New Roman" panose="02020603050405020304" pitchFamily="18" charset="0"/>
              </a:rPr>
              <a:t>）：有效时间，通常为</a:t>
            </a:r>
            <a:r>
              <a:rPr lang="en-US" altLang="zh-CN" sz="2000" dirty="0">
                <a:cs typeface="Times New Roman" panose="02020603050405020304" pitchFamily="18" charset="0"/>
              </a:rPr>
              <a:t>86400</a:t>
            </a:r>
            <a:r>
              <a:rPr lang="zh-CN" altLang="en-US" sz="2000" dirty="0">
                <a:cs typeface="Times New Roman" panose="02020603050405020304" pitchFamily="18" charset="0"/>
              </a:rPr>
              <a:t>秒（</a:t>
            </a:r>
            <a:r>
              <a:rPr lang="en-US" altLang="zh-CN" sz="2000" dirty="0">
                <a:cs typeface="Times New Roman" panose="02020603050405020304" pitchFamily="18" charset="0"/>
              </a:rPr>
              <a:t>24</a:t>
            </a:r>
            <a:r>
              <a:rPr lang="zh-CN" altLang="en-US" sz="2000" dirty="0">
                <a:cs typeface="Times New Roman" panose="02020603050405020304" pitchFamily="18" charset="0"/>
              </a:rPr>
              <a:t>小时）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719455" lvl="1" indent="-365125">
              <a:lnSpc>
                <a:spcPts val="32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类型（</a:t>
            </a:r>
            <a:r>
              <a:rPr lang="en-US" altLang="zh-CN" sz="2000" dirty="0">
                <a:cs typeface="Times New Roman" panose="02020603050405020304" pitchFamily="18" charset="0"/>
              </a:rPr>
              <a:t>Type</a:t>
            </a:r>
            <a:r>
              <a:rPr lang="zh-CN" altLang="en-US" sz="2000" dirty="0">
                <a:cs typeface="Times New Roman" panose="02020603050405020304" pitchFamily="18" charset="0"/>
              </a:rPr>
              <a:t>）：</a:t>
            </a:r>
            <a:r>
              <a:rPr lang="en-US" altLang="zh-CN" sz="2000" dirty="0">
                <a:cs typeface="Times New Roman" panose="02020603050405020304" pitchFamily="18" charset="0"/>
              </a:rPr>
              <a:t>SOA</a:t>
            </a:r>
            <a:r>
              <a:rPr lang="zh-CN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cs typeface="Times New Roman" panose="02020603050405020304" pitchFamily="18" charset="0"/>
              </a:rPr>
              <a:t>NS</a:t>
            </a:r>
            <a:r>
              <a:rPr lang="zh-CN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cs typeface="Times New Roman" panose="02020603050405020304" pitchFamily="18" charset="0"/>
              </a:rPr>
              <a:t>AAAA</a:t>
            </a:r>
            <a:r>
              <a:rPr lang="zh-CN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cs typeface="Times New Roman" panose="02020603050405020304" pitchFamily="18" charset="0"/>
              </a:rPr>
              <a:t>PTR</a:t>
            </a:r>
            <a:r>
              <a:rPr lang="zh-CN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cs typeface="Times New Roman" panose="02020603050405020304" pitchFamily="18" charset="0"/>
              </a:rPr>
              <a:t>CNAME</a:t>
            </a:r>
            <a:r>
              <a:rPr lang="zh-CN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cs typeface="Times New Roman" panose="02020603050405020304" pitchFamily="18" charset="0"/>
              </a:rPr>
              <a:t>MX</a:t>
            </a:r>
          </a:p>
          <a:p>
            <a:pPr marL="719455" lvl="1" indent="-365125">
              <a:lnSpc>
                <a:spcPts val="32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类（</a:t>
            </a:r>
            <a:r>
              <a:rPr lang="en-US" altLang="zh-CN" sz="2000" dirty="0">
                <a:cs typeface="Times New Roman" panose="02020603050405020304" pitchFamily="18" charset="0"/>
              </a:rPr>
              <a:t>Class</a:t>
            </a:r>
            <a:r>
              <a:rPr lang="zh-CN" altLang="en-US" sz="2000" dirty="0">
                <a:cs typeface="Times New Roman" panose="02020603050405020304" pitchFamily="18" charset="0"/>
              </a:rPr>
              <a:t>）：例如，</a:t>
            </a:r>
            <a:r>
              <a:rPr lang="en-US" altLang="zh-CN" sz="2000" dirty="0">
                <a:cs typeface="Times New Roman" panose="02020603050405020304" pitchFamily="18" charset="0"/>
              </a:rPr>
              <a:t>IN</a:t>
            </a:r>
            <a:r>
              <a:rPr lang="zh-CN" altLang="en-US" sz="2000" dirty="0">
                <a:cs typeface="Times New Roman" panose="02020603050405020304" pitchFamily="18" charset="0"/>
              </a:rPr>
              <a:t>类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719455" lvl="1" indent="-365125">
              <a:lnSpc>
                <a:spcPts val="32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值（</a:t>
            </a:r>
            <a:r>
              <a:rPr lang="en-US" altLang="zh-CN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Value</a:t>
            </a:r>
            <a:r>
              <a:rPr lang="zh-CN" altLang="en-US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）</a:t>
            </a:r>
            <a:endParaRPr lang="en-US" altLang="zh-CN" sz="2000" b="1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资源记录（续）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440070"/>
            <a:ext cx="8410714" cy="4592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120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资源记录类型（常用）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  <a:spcBef>
                <a:spcPts val="1200"/>
              </a:spcBef>
            </a:pPr>
            <a:r>
              <a:rPr lang="en-US" altLang="zh-CN" sz="2000" dirty="0">
                <a:cs typeface="Times New Roman" panose="02020603050405020304" pitchFamily="18" charset="0"/>
              </a:rPr>
              <a:t>SOA</a:t>
            </a:r>
            <a:r>
              <a:rPr lang="zh-CN" altLang="en-US" sz="2000" dirty="0">
                <a:cs typeface="Times New Roman" panose="02020603050405020304" pitchFamily="18" charset="0"/>
              </a:rPr>
              <a:t>：区域数据库的开始，描述负责区域的域名服务器、版本信息，以及从属域名服务器备份时的一些参数等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  <a:spcBef>
                <a:spcPts val="1200"/>
              </a:spcBef>
            </a:pPr>
            <a:r>
              <a:rPr lang="en-US" altLang="zh-CN" sz="2000" dirty="0">
                <a:cs typeface="Times New Roman" panose="02020603050405020304" pitchFamily="18" charset="0"/>
              </a:rPr>
              <a:t>NS</a:t>
            </a:r>
            <a:r>
              <a:rPr lang="zh-CN" altLang="en-US" sz="2000" dirty="0">
                <a:cs typeface="Times New Roman" panose="02020603050405020304" pitchFamily="18" charset="0"/>
              </a:rPr>
              <a:t>：指定</a:t>
            </a:r>
            <a:r>
              <a:rPr lang="en-US" altLang="zh-CN" sz="2000" dirty="0">
                <a:cs typeface="Times New Roman" panose="02020603050405020304" pitchFamily="18" charset="0"/>
              </a:rPr>
              <a:t>DNS</a:t>
            </a:r>
            <a:r>
              <a:rPr lang="zh-CN" altLang="en-US" sz="2000" dirty="0">
                <a:cs typeface="Times New Roman" panose="02020603050405020304" pitchFamily="18" charset="0"/>
              </a:rPr>
              <a:t>服务器主机名（不使用</a:t>
            </a:r>
            <a:r>
              <a:rPr lang="en-US" altLang="zh-CN" sz="2000" dirty="0">
                <a:cs typeface="Times New Roman" panose="02020603050405020304" pitchFamily="18" charset="0"/>
              </a:rPr>
              <a:t>IP</a:t>
            </a:r>
            <a:r>
              <a:rPr lang="zh-CN" altLang="en-US" sz="2000" dirty="0">
                <a:cs typeface="Times New Roman" panose="02020603050405020304" pitchFamily="18" charset="0"/>
              </a:rPr>
              <a:t>地址）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  <a:spcBef>
                <a:spcPts val="1200"/>
              </a:spcBef>
            </a:pPr>
            <a:r>
              <a:rPr lang="en-US" altLang="zh-CN" sz="2000" dirty="0">
                <a:cs typeface="Times New Roman" panose="02020603050405020304" pitchFamily="18" charset="0"/>
              </a:rPr>
              <a:t>A</a:t>
            </a:r>
            <a:r>
              <a:rPr lang="zh-CN" altLang="en-US" sz="2000" dirty="0">
                <a:cs typeface="Times New Roman" panose="02020603050405020304" pitchFamily="18" charset="0"/>
              </a:rPr>
              <a:t>：将名称对应到</a:t>
            </a:r>
            <a:r>
              <a:rPr lang="en-US" altLang="zh-CN" sz="2000" dirty="0">
                <a:cs typeface="Times New Roman" panose="02020603050405020304" pitchFamily="18" charset="0"/>
              </a:rPr>
              <a:t>IPv4</a:t>
            </a:r>
            <a:r>
              <a:rPr lang="zh-CN" altLang="en-US" sz="2000" dirty="0"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cs typeface="Times New Roman" panose="02020603050405020304" pitchFamily="18" charset="0"/>
              </a:rPr>
              <a:t>32</a:t>
            </a:r>
            <a:r>
              <a:rPr lang="zh-CN" altLang="en-US" sz="2000" dirty="0">
                <a:cs typeface="Times New Roman" panose="02020603050405020304" pitchFamily="18" charset="0"/>
              </a:rPr>
              <a:t>位地址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  <a:spcBef>
                <a:spcPts val="1200"/>
              </a:spcBef>
            </a:pPr>
            <a:r>
              <a:rPr lang="en-US" altLang="zh-CN" sz="2000" dirty="0">
                <a:cs typeface="Times New Roman" panose="02020603050405020304" pitchFamily="18" charset="0"/>
              </a:rPr>
              <a:t>AAAA</a:t>
            </a:r>
            <a:r>
              <a:rPr lang="zh-CN" altLang="en-US" sz="2000" dirty="0">
                <a:cs typeface="Times New Roman" panose="02020603050405020304" pitchFamily="18" charset="0"/>
              </a:rPr>
              <a:t>：将名称对应到</a:t>
            </a:r>
            <a:r>
              <a:rPr lang="en-US" altLang="zh-CN" sz="2000" dirty="0">
                <a:cs typeface="Times New Roman" panose="02020603050405020304" pitchFamily="18" charset="0"/>
              </a:rPr>
              <a:t>IPv6</a:t>
            </a:r>
            <a:r>
              <a:rPr lang="zh-CN" altLang="en-US" sz="2000" dirty="0"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cs typeface="Times New Roman" panose="02020603050405020304" pitchFamily="18" charset="0"/>
              </a:rPr>
              <a:t>128</a:t>
            </a:r>
            <a:r>
              <a:rPr lang="zh-CN" altLang="en-US" sz="2000" dirty="0">
                <a:cs typeface="Times New Roman" panose="02020603050405020304" pitchFamily="18" charset="0"/>
              </a:rPr>
              <a:t>位地址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  <a:spcBef>
                <a:spcPts val="1200"/>
              </a:spcBef>
            </a:pPr>
            <a:r>
              <a:rPr lang="en-US" altLang="zh-CN" sz="2000" dirty="0">
                <a:cs typeface="Times New Roman" panose="02020603050405020304" pitchFamily="18" charset="0"/>
              </a:rPr>
              <a:t>PTR</a:t>
            </a:r>
            <a:r>
              <a:rPr lang="zh-CN" altLang="en-US" sz="2000" dirty="0">
                <a:cs typeface="Times New Roman" panose="02020603050405020304" pitchFamily="18" charset="0"/>
              </a:rPr>
              <a:t>：将</a:t>
            </a:r>
            <a:r>
              <a:rPr lang="en-US" altLang="zh-CN" sz="2000" dirty="0">
                <a:cs typeface="Times New Roman" panose="02020603050405020304" pitchFamily="18" charset="0"/>
              </a:rPr>
              <a:t>IP </a:t>
            </a:r>
            <a:r>
              <a:rPr lang="zh-CN" altLang="en-US" sz="2000" dirty="0">
                <a:cs typeface="Times New Roman" panose="02020603050405020304" pitchFamily="18" charset="0"/>
              </a:rPr>
              <a:t>对应的名字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  <a:spcBef>
                <a:spcPts val="1200"/>
              </a:spcBef>
            </a:pPr>
            <a:r>
              <a:rPr lang="en-US" altLang="zh-CN" sz="2000" dirty="0">
                <a:cs typeface="Times New Roman" panose="02020603050405020304" pitchFamily="18" charset="0"/>
              </a:rPr>
              <a:t>CNAME</a:t>
            </a:r>
            <a:r>
              <a:rPr lang="zh-CN" altLang="en-US" sz="2000" dirty="0">
                <a:cs typeface="Times New Roman" panose="02020603050405020304" pitchFamily="18" charset="0"/>
              </a:rPr>
              <a:t>：别名，同一主机可以有多个名字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  <a:spcBef>
                <a:spcPts val="1200"/>
              </a:spcBef>
            </a:pPr>
            <a:r>
              <a:rPr lang="en-US" altLang="zh-CN" sz="2000" dirty="0">
                <a:cs typeface="Times New Roman" panose="02020603050405020304" pitchFamily="18" charset="0"/>
              </a:rPr>
              <a:t>MX</a:t>
            </a:r>
            <a:r>
              <a:rPr lang="zh-CN" altLang="en-US" sz="2000" dirty="0">
                <a:cs typeface="Times New Roman" panose="02020603050405020304" pitchFamily="18" charset="0"/>
              </a:rPr>
              <a:t>：给出服务特定域的邮件服务器的主机名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资源记录：示例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35201" y="1504018"/>
            <a:ext cx="8070112" cy="4548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SzPct val="150000"/>
              <a:buFont typeface="Symbol" panose="05050102010706020507" pitchFamily="18" charset="2"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cs.vu.nl. 		86400  	IN  SOA	     star boss (serial, refresh, retry, expire, </a:t>
            </a:r>
            <a:r>
              <a:rPr kumimoji="1"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ttl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50000"/>
              <a:buFont typeface="Symbol" panose="05050102010706020507" pitchFamily="18" charset="2"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cs.vu.nl.  	                86400  	IN  TXT	     “A University”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50000"/>
              <a:buFont typeface="Symbol" panose="05050102010706020507" pitchFamily="18" charset="2"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cs.vu.nl.   	86400  	IN  MX	     1 zephyer.cs.vu.nl.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50000"/>
              <a:buFont typeface="Symbol" panose="05050102010706020507" pitchFamily="18" charset="2"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cs.vu.nl.   	86400  	IN  MX	      2 top.cs.vu.nl.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50000"/>
              <a:buFont typeface="Symbol" panose="05050102010706020507" pitchFamily="18" charset="2"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flits.cs.vu.nl.	86400  	IN  HINFO    Sun Unix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50000"/>
              <a:buFont typeface="Symbol" panose="05050102010706020507" pitchFamily="18" charset="2"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flits.cs.vu.nl.     	86400  	IN  A             130.37.16.112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50000"/>
              <a:buFont typeface="Symbol" panose="05050102010706020507" pitchFamily="18" charset="2"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flits.cs.vu.nl.     	86400  	IN  MX          1 flits.cs.vu.nl.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50000"/>
              <a:buFont typeface="Symbol" panose="05050102010706020507" pitchFamily="18" charset="2"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flits.cs.vu.nl.     	86400  	IN  MX          2 zephyer.cs.vu.nl.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50000"/>
              <a:buFont typeface="Symbol" panose="05050102010706020507" pitchFamily="18" charset="2"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flits.cs.vu.nl.     	86400  	IN  MX           3 top.cs.vu.nl.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50000"/>
              <a:buFont typeface="Symbol" panose="05050102010706020507" pitchFamily="18" charset="2"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www.cs.vu.nl.   	86400  	IN  CNAME   top.cs.vu.nl.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50000"/>
              <a:buFont typeface="Symbol" panose="05050102010706020507" pitchFamily="18" charset="2"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ftp.cs.vu.nl.       	86400  	IN  CNAME    zephyer.cs.vu.nl.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50000"/>
              <a:buFont typeface="Symbol" panose="05050102010706020507" pitchFamily="18" charset="2"/>
              <a:buNone/>
            </a:pPr>
            <a:r>
              <a:rPr kumimoji="1"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zephyer</a:t>
            </a: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	86400  	IN  A               130.37.56.201</a:t>
            </a:r>
          </a:p>
          <a:p>
            <a:pPr>
              <a:lnSpc>
                <a:spcPct val="100000"/>
              </a:lnSpc>
              <a:spcBef>
                <a:spcPts val="600"/>
              </a:spcBef>
              <a:buSzPct val="150000"/>
              <a:buFont typeface="Symbol" panose="05050102010706020507" pitchFamily="18" charset="2"/>
              <a:buNone/>
            </a:pPr>
            <a:r>
              <a:rPr kumimoji="1"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		IN  HINFO      Sun Unix</a:t>
            </a:r>
          </a:p>
        </p:txBody>
      </p:sp>
      <p:sp>
        <p:nvSpPr>
          <p:cNvPr id="8" name="Oval 4"/>
          <p:cNvSpPr>
            <a:spLocks noChangeArrowheads="1"/>
          </p:cNvSpPr>
          <p:nvPr/>
        </p:nvSpPr>
        <p:spPr bwMode="auto">
          <a:xfrm>
            <a:off x="1683563" y="3014920"/>
            <a:ext cx="215900" cy="2159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报文格式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481028"/>
            <a:ext cx="8265293" cy="449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3000"/>
              </a:lnSpc>
              <a:spcBef>
                <a:spcPts val="1200"/>
              </a:spcBef>
            </a:pPr>
            <a:r>
              <a:rPr lang="en-US" altLang="zh-CN" sz="2400" dirty="0">
                <a:cs typeface="Times New Roman" panose="02020603050405020304" pitchFamily="18" charset="0"/>
              </a:rPr>
              <a:t>DNS</a:t>
            </a:r>
            <a:r>
              <a:rPr lang="zh-CN" altLang="en-US" sz="2400" dirty="0">
                <a:cs typeface="Times New Roman" panose="02020603050405020304" pitchFamily="18" charset="0"/>
              </a:rPr>
              <a:t>包括</a:t>
            </a:r>
            <a:r>
              <a:rPr lang="en-US" altLang="zh-CN" sz="24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query</a:t>
            </a:r>
            <a:r>
              <a:rPr lang="zh-CN" altLang="en-US" sz="2400" dirty="0">
                <a:cs typeface="Times New Roman" panose="02020603050405020304" pitchFamily="18" charset="0"/>
              </a:rPr>
              <a:t>和</a:t>
            </a:r>
            <a:r>
              <a:rPr lang="en-US" altLang="zh-CN" sz="24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reply</a:t>
            </a:r>
            <a:r>
              <a:rPr lang="zh-CN" altLang="en-US" sz="2400" dirty="0">
                <a:cs typeface="Times New Roman" panose="02020603050405020304" pitchFamily="18" charset="0"/>
              </a:rPr>
              <a:t>两种报文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pic>
        <p:nvPicPr>
          <p:cNvPr id="3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89675" y="2058508"/>
            <a:ext cx="6761163" cy="393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报文格式（续）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440070"/>
            <a:ext cx="8401050" cy="443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0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200" dirty="0">
                <a:cs typeface="Times New Roman" panose="02020603050405020304" pitchFamily="18" charset="0"/>
              </a:rPr>
              <a:t>参数域的定义</a:t>
            </a:r>
            <a:endParaRPr lang="en-US" altLang="zh-CN" sz="2200" dirty="0"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753612" y="1504018"/>
          <a:ext cx="5098532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6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参数域中的位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含义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报文类型：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0-query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1-reply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1-4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查询类型：</a:t>
                      </a:r>
                      <a:endParaRPr lang="en-US" altLang="zh-C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标准查询 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反向查询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授权响应，则置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报文被截断，则置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期望递归，则置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支持递归，则置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9-11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保留</a:t>
                      </a:r>
                      <a:endParaRPr lang="en-US" altLang="zh-C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12-15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应答类型：</a:t>
                      </a:r>
                      <a:endParaRPr lang="en-US" altLang="zh-C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无错误</a:t>
                      </a:r>
                      <a:endParaRPr lang="en-US" altLang="zh-C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查询中格式错</a:t>
                      </a:r>
                      <a:endParaRPr lang="en-US" altLang="zh-C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服务器失效</a:t>
                      </a:r>
                      <a:endParaRPr lang="en-US" altLang="zh-C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名字不存在</a:t>
                      </a:r>
                      <a:endParaRPr lang="en-US" altLang="zh-C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报文格式（续）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641950"/>
            <a:ext cx="8401050" cy="2908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000099"/>
                </a:solidFill>
                <a:cs typeface="Times New Roman" panose="02020603050405020304" pitchFamily="18" charset="0"/>
              </a:rPr>
              <a:t>Question: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cs typeface="Times New Roman" panose="02020603050405020304" pitchFamily="18" charset="0"/>
              </a:rPr>
              <a:t>携带查询的名字和其他参数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000099"/>
                </a:solidFill>
                <a:cs typeface="Times New Roman" panose="02020603050405020304" pitchFamily="18" charset="0"/>
              </a:rPr>
              <a:t>Answer: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cs typeface="Times New Roman" panose="02020603050405020304" pitchFamily="18" charset="0"/>
              </a:rPr>
              <a:t>携带直接响应查询的资源记录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000099"/>
                </a:solidFill>
                <a:cs typeface="Times New Roman" panose="02020603050405020304" pitchFamily="18" charset="0"/>
              </a:rPr>
              <a:t>Authority: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cs typeface="Times New Roman" panose="02020603050405020304" pitchFamily="18" charset="0"/>
              </a:rPr>
              <a:t>携带描述其他域名服务器的资源记录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lvl="1">
              <a:lnSpc>
                <a:spcPts val="3500"/>
              </a:lnSpc>
              <a:spcBef>
                <a:spcPts val="12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在应答中可以选择携带授权数据的</a:t>
            </a:r>
            <a:r>
              <a:rPr lang="en-US" altLang="zh-CN" sz="2000" dirty="0">
                <a:cs typeface="Times New Roman" panose="02020603050405020304" pitchFamily="18" charset="0"/>
              </a:rPr>
              <a:t>SOA</a:t>
            </a:r>
            <a:r>
              <a:rPr lang="zh-CN" altLang="en-US" sz="2000" dirty="0">
                <a:cs typeface="Times New Roman" panose="02020603050405020304" pitchFamily="18" charset="0"/>
              </a:rPr>
              <a:t>资源记录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000099"/>
                </a:solidFill>
                <a:cs typeface="Times New Roman" panose="02020603050405020304" pitchFamily="18" charset="0"/>
              </a:rPr>
              <a:t>Additional:</a:t>
            </a:r>
            <a:r>
              <a:rPr lang="zh-CN" altLang="en-US" sz="2400" dirty="0">
                <a:cs typeface="Times New Roman" panose="02020603050405020304" pitchFamily="18" charset="0"/>
              </a:rPr>
              <a:t>携带附加的资源记录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DNS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报文格式（续）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1676" y="1610228"/>
            <a:ext cx="6732365" cy="1242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1676" y="3256165"/>
            <a:ext cx="6770482" cy="258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7541693" y="1917634"/>
            <a:ext cx="1314860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ctr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Question</a:t>
            </a:r>
          </a:p>
          <a:p>
            <a:pPr marL="342900" indent="-342900" algn="ctr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7541693" y="3828356"/>
            <a:ext cx="1411288" cy="13234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buFont typeface="Symbol" panose="05050102010706020507" pitchFamily="18" charset="2"/>
              <a:buNone/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Answer</a:t>
            </a:r>
          </a:p>
          <a:p>
            <a:pPr algn="ctr">
              <a:buFont typeface="Symbol" panose="05050102010706020507" pitchFamily="18" charset="2"/>
              <a:buNone/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Authority </a:t>
            </a:r>
          </a:p>
          <a:p>
            <a:pPr algn="ctr">
              <a:buFont typeface="Symbol" panose="05050102010706020507" pitchFamily="18" charset="2"/>
              <a:buNone/>
            </a:pP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Additional</a:t>
            </a:r>
          </a:p>
          <a:p>
            <a:pPr algn="ctr"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域名格式压缩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504018"/>
            <a:ext cx="8401050" cy="4090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60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报文中域名格式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854075" lvl="1" indent="-396875">
              <a:lnSpc>
                <a:spcPts val="35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每个段第一个字节指定长度 </a:t>
            </a:r>
            <a:r>
              <a:rPr lang="en-US" altLang="zh-CN" sz="2000" dirty="0">
                <a:solidFill>
                  <a:srgbClr val="000099"/>
                </a:solidFill>
                <a:cs typeface="Times New Roman" panose="02020603050405020304" pitchFamily="18" charset="0"/>
              </a:rPr>
              <a:t>(00xxxxxx=n)</a:t>
            </a:r>
            <a:r>
              <a:rPr lang="zh-CN" altLang="en-US" sz="2000" dirty="0">
                <a:solidFill>
                  <a:srgbClr val="000099"/>
                </a:solidFill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cs typeface="Times New Roman" panose="02020603050405020304" pitchFamily="18" charset="0"/>
              </a:rPr>
              <a:t>后跟</a:t>
            </a:r>
            <a:r>
              <a:rPr lang="en-US" altLang="zh-CN" sz="2000" dirty="0"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cs typeface="Times New Roman" panose="02020603050405020304" pitchFamily="18" charset="0"/>
              </a:rPr>
              <a:t>个字节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854075" lvl="1" indent="-396875">
              <a:lnSpc>
                <a:spcPts val="35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长度为</a:t>
            </a:r>
            <a:r>
              <a:rPr lang="en-US" altLang="zh-CN" sz="2000" dirty="0"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cs typeface="Times New Roman" panose="02020603050405020304" pitchFamily="18" charset="0"/>
              </a:rPr>
              <a:t>的段，表明域名结束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854075" lvl="1" indent="-396875">
              <a:lnSpc>
                <a:spcPts val="35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例如：</a:t>
            </a:r>
            <a:r>
              <a:rPr lang="en-US" altLang="zh-CN" sz="2000" dirty="0">
                <a:cs typeface="Times New Roman" panose="02020603050405020304" pitchFamily="18" charset="0"/>
              </a:rPr>
              <a:t>www.nankai.edu.cn</a:t>
            </a:r>
            <a:r>
              <a:rPr lang="zh-CN" altLang="en-US" sz="2000" dirty="0"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cs typeface="Times New Roman" panose="02020603050405020304" pitchFamily="18" charset="0"/>
              </a:rPr>
              <a:t>nankai.edu.cn</a:t>
            </a:r>
          </a:p>
          <a:p>
            <a:pPr>
              <a:lnSpc>
                <a:spcPts val="3500"/>
              </a:lnSpc>
              <a:spcBef>
                <a:spcPts val="60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压缩格式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854075" lvl="1" indent="-396875">
              <a:lnSpc>
                <a:spcPts val="35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域名的后缀部分经常重复，可以进行适当压缩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854075" lvl="1" indent="-396875">
              <a:lnSpc>
                <a:spcPts val="35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指针：如果前两位为</a:t>
            </a:r>
            <a:r>
              <a:rPr lang="en-US" altLang="zh-CN" sz="2000" dirty="0">
                <a:cs typeface="Times New Roman" panose="02020603050405020304" pitchFamily="18" charset="0"/>
              </a:rPr>
              <a:t>11</a:t>
            </a:r>
            <a:r>
              <a:rPr lang="zh-CN" altLang="en-US" sz="2000" dirty="0">
                <a:cs typeface="Times New Roman" panose="02020603050405020304" pitchFamily="18" charset="0"/>
              </a:rPr>
              <a:t>，则段前两个字节的后</a:t>
            </a:r>
            <a:r>
              <a:rPr lang="en-US" altLang="zh-CN" sz="2000" dirty="0">
                <a:cs typeface="Times New Roman" panose="02020603050405020304" pitchFamily="18" charset="0"/>
              </a:rPr>
              <a:t>14</a:t>
            </a:r>
            <a:r>
              <a:rPr lang="zh-CN" altLang="en-US" sz="2000" dirty="0">
                <a:cs typeface="Times New Roman" panose="02020603050405020304" pitchFamily="18" charset="0"/>
              </a:rPr>
              <a:t>位为指针 </a:t>
            </a:r>
            <a:r>
              <a:rPr lang="en-US" altLang="zh-CN" sz="2000" dirty="0">
                <a:solidFill>
                  <a:srgbClr val="000099"/>
                </a:solidFill>
                <a:cs typeface="Times New Roman" panose="02020603050405020304" pitchFamily="18" charset="0"/>
              </a:rPr>
              <a:t>(11xxxxxxxxxxxxxx)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域名格式压缩：示例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618199"/>
            <a:ext cx="8401050" cy="944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60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例如：需要查询名字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F.ISI.ARPA</a:t>
            </a:r>
            <a:r>
              <a:rPr lang="en-US" altLang="zh-CN" sz="2400" dirty="0">
                <a:latin typeface="Arial" panose="020B0604020202020204" pitchFamily="34" charset="0"/>
              </a:rPr>
              <a:t>, </a:t>
            </a:r>
            <a:r>
              <a:rPr lang="en-US" altLang="zh-CN" sz="2400" dirty="0">
                <a:solidFill>
                  <a:srgbClr val="00B0F0"/>
                </a:solidFill>
                <a:latin typeface="Arial" panose="020B0604020202020204" pitchFamily="34" charset="0"/>
              </a:rPr>
              <a:t>FOO.F.ISI.ARPA, </a:t>
            </a:r>
            <a:r>
              <a:rPr lang="en-US" altLang="zh-CN" sz="2400" dirty="0">
                <a:solidFill>
                  <a:srgbClr val="7030A0"/>
                </a:solidFill>
                <a:latin typeface="Arial" panose="020B0604020202020204" pitchFamily="34" charset="0"/>
              </a:rPr>
              <a:t>ARPA</a:t>
            </a:r>
            <a:r>
              <a:rPr lang="en-US" altLang="zh-CN" sz="2400" dirty="0">
                <a:latin typeface="Arial" panose="020B0604020202020204" pitchFamily="34" charset="0"/>
              </a:rPr>
              <a:t>, </a:t>
            </a:r>
            <a:r>
              <a:rPr lang="zh-CN" altLang="en-US" sz="2400" dirty="0">
                <a:latin typeface="Arial" panose="020B0604020202020204" pitchFamily="34" charset="0"/>
              </a:rPr>
              <a:t>和根，忽略其他域，这些名字可以表示为：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135432" y="3423275"/>
            <a:ext cx="1584325" cy="37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595682" y="3423275"/>
            <a:ext cx="5397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719757" y="3423275"/>
            <a:ext cx="1584325" cy="37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135432" y="3797925"/>
            <a:ext cx="1584325" cy="37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595682" y="3783638"/>
            <a:ext cx="53975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2719757" y="3797925"/>
            <a:ext cx="1584325" cy="37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135432" y="4172575"/>
            <a:ext cx="1584325" cy="37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8" name="Text Box 12"/>
          <p:cNvSpPr txBox="1">
            <a:spLocks noChangeArrowheads="1"/>
          </p:cNvSpPr>
          <p:nvPr/>
        </p:nvSpPr>
        <p:spPr bwMode="auto">
          <a:xfrm>
            <a:off x="595682" y="4129713"/>
            <a:ext cx="53975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2719757" y="4172575"/>
            <a:ext cx="1584325" cy="37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1135432" y="4547225"/>
            <a:ext cx="1584325" cy="37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4" name="Text Box 15"/>
          <p:cNvSpPr txBox="1">
            <a:spLocks noChangeArrowheads="1"/>
          </p:cNvSpPr>
          <p:nvPr/>
        </p:nvSpPr>
        <p:spPr bwMode="auto">
          <a:xfrm>
            <a:off x="587744" y="4547225"/>
            <a:ext cx="5397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2719757" y="4547225"/>
            <a:ext cx="1576387" cy="37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8" name="Text Box 17"/>
          <p:cNvSpPr txBox="1">
            <a:spLocks noChangeArrowheads="1"/>
          </p:cNvSpPr>
          <p:nvPr/>
        </p:nvSpPr>
        <p:spPr bwMode="auto">
          <a:xfrm>
            <a:off x="1135432" y="4921875"/>
            <a:ext cx="1584325" cy="3762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30" name="Text Box 18"/>
          <p:cNvSpPr txBox="1">
            <a:spLocks noChangeArrowheads="1"/>
          </p:cNvSpPr>
          <p:nvPr/>
        </p:nvSpPr>
        <p:spPr bwMode="auto">
          <a:xfrm>
            <a:off x="587744" y="4921875"/>
            <a:ext cx="5397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</p:txBody>
      </p:sp>
      <p:sp>
        <p:nvSpPr>
          <p:cNvPr id="129024" name="Text Box 19"/>
          <p:cNvSpPr txBox="1">
            <a:spLocks noChangeArrowheads="1"/>
          </p:cNvSpPr>
          <p:nvPr/>
        </p:nvSpPr>
        <p:spPr bwMode="auto">
          <a:xfrm>
            <a:off x="2719757" y="4921875"/>
            <a:ext cx="1576387" cy="3762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29025" name="Text Box 20"/>
          <p:cNvSpPr txBox="1">
            <a:spLocks noChangeArrowheads="1"/>
          </p:cNvSpPr>
          <p:nvPr/>
        </p:nvSpPr>
        <p:spPr bwMode="auto">
          <a:xfrm>
            <a:off x="1135432" y="5296525"/>
            <a:ext cx="1584325" cy="3762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29027" name="Text Box 21"/>
          <p:cNvSpPr txBox="1">
            <a:spLocks noChangeArrowheads="1"/>
          </p:cNvSpPr>
          <p:nvPr/>
        </p:nvSpPr>
        <p:spPr bwMode="auto">
          <a:xfrm>
            <a:off x="587744" y="5267950"/>
            <a:ext cx="5397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129028" name="Text Box 22"/>
          <p:cNvSpPr txBox="1">
            <a:spLocks noChangeArrowheads="1"/>
          </p:cNvSpPr>
          <p:nvPr/>
        </p:nvSpPr>
        <p:spPr bwMode="auto">
          <a:xfrm>
            <a:off x="2719757" y="5296525"/>
            <a:ext cx="1576387" cy="3762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9029" name="Text Box 23"/>
          <p:cNvSpPr txBox="1">
            <a:spLocks noChangeArrowheads="1"/>
          </p:cNvSpPr>
          <p:nvPr/>
        </p:nvSpPr>
        <p:spPr bwMode="auto">
          <a:xfrm>
            <a:off x="5383582" y="3426450"/>
            <a:ext cx="1584325" cy="37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9030" name="Text Box 24"/>
          <p:cNvSpPr txBox="1">
            <a:spLocks noChangeArrowheads="1"/>
          </p:cNvSpPr>
          <p:nvPr/>
        </p:nvSpPr>
        <p:spPr bwMode="auto">
          <a:xfrm>
            <a:off x="4843832" y="3426450"/>
            <a:ext cx="5397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sp>
        <p:nvSpPr>
          <p:cNvPr id="129031" name="Text Box 25"/>
          <p:cNvSpPr txBox="1">
            <a:spLocks noChangeArrowheads="1"/>
          </p:cNvSpPr>
          <p:nvPr/>
        </p:nvSpPr>
        <p:spPr bwMode="auto">
          <a:xfrm>
            <a:off x="6967907" y="3426450"/>
            <a:ext cx="1584325" cy="37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29032" name="Text Box 26"/>
          <p:cNvSpPr txBox="1">
            <a:spLocks noChangeArrowheads="1"/>
          </p:cNvSpPr>
          <p:nvPr/>
        </p:nvSpPr>
        <p:spPr bwMode="auto">
          <a:xfrm>
            <a:off x="5383582" y="3801100"/>
            <a:ext cx="1584325" cy="37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129033" name="Text Box 27"/>
          <p:cNvSpPr txBox="1">
            <a:spLocks noChangeArrowheads="1"/>
          </p:cNvSpPr>
          <p:nvPr/>
        </p:nvSpPr>
        <p:spPr bwMode="auto">
          <a:xfrm>
            <a:off x="4843832" y="3786813"/>
            <a:ext cx="53975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</a:p>
        </p:txBody>
      </p:sp>
      <p:sp>
        <p:nvSpPr>
          <p:cNvPr id="129034" name="Text Box 28"/>
          <p:cNvSpPr txBox="1">
            <a:spLocks noChangeArrowheads="1"/>
          </p:cNvSpPr>
          <p:nvPr/>
        </p:nvSpPr>
        <p:spPr bwMode="auto">
          <a:xfrm>
            <a:off x="6967907" y="3801100"/>
            <a:ext cx="1584325" cy="37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129035" name="Text Box 29"/>
          <p:cNvSpPr txBox="1">
            <a:spLocks noChangeArrowheads="1"/>
          </p:cNvSpPr>
          <p:nvPr/>
        </p:nvSpPr>
        <p:spPr bwMode="auto">
          <a:xfrm>
            <a:off x="5383582" y="4175750"/>
            <a:ext cx="504825" cy="37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29036" name="Text Box 30"/>
          <p:cNvSpPr txBox="1">
            <a:spLocks noChangeArrowheads="1"/>
          </p:cNvSpPr>
          <p:nvPr/>
        </p:nvSpPr>
        <p:spPr bwMode="auto">
          <a:xfrm>
            <a:off x="4843832" y="4132888"/>
            <a:ext cx="53975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</a:p>
        </p:txBody>
      </p:sp>
      <p:sp>
        <p:nvSpPr>
          <p:cNvPr id="129037" name="Text Box 31"/>
          <p:cNvSpPr txBox="1">
            <a:spLocks noChangeArrowheads="1"/>
          </p:cNvSpPr>
          <p:nvPr/>
        </p:nvSpPr>
        <p:spPr bwMode="auto">
          <a:xfrm>
            <a:off x="5888407" y="4175750"/>
            <a:ext cx="2663825" cy="37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29038" name="Text Box 33"/>
          <p:cNvSpPr txBox="1">
            <a:spLocks noChangeArrowheads="1"/>
          </p:cNvSpPr>
          <p:nvPr/>
        </p:nvSpPr>
        <p:spPr bwMode="auto">
          <a:xfrm>
            <a:off x="4835894" y="4748838"/>
            <a:ext cx="53975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</a:p>
        </p:txBody>
      </p:sp>
      <p:sp>
        <p:nvSpPr>
          <p:cNvPr id="129039" name="Text Box 38"/>
          <p:cNvSpPr txBox="1">
            <a:spLocks noChangeArrowheads="1"/>
          </p:cNvSpPr>
          <p:nvPr/>
        </p:nvSpPr>
        <p:spPr bwMode="auto">
          <a:xfrm>
            <a:off x="5375644" y="5269538"/>
            <a:ext cx="1584325" cy="3762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9040" name="Text Box 39"/>
          <p:cNvSpPr txBox="1">
            <a:spLocks noChangeArrowheads="1"/>
          </p:cNvSpPr>
          <p:nvPr/>
        </p:nvSpPr>
        <p:spPr bwMode="auto">
          <a:xfrm>
            <a:off x="4835894" y="5226675"/>
            <a:ext cx="539750" cy="366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92</a:t>
            </a:r>
          </a:p>
        </p:txBody>
      </p:sp>
      <p:sp>
        <p:nvSpPr>
          <p:cNvPr id="129041" name="Text Box 40"/>
          <p:cNvSpPr txBox="1">
            <a:spLocks noChangeArrowheads="1"/>
          </p:cNvSpPr>
          <p:nvPr/>
        </p:nvSpPr>
        <p:spPr bwMode="auto">
          <a:xfrm>
            <a:off x="6959969" y="5269538"/>
            <a:ext cx="1584325" cy="3762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endParaRPr lang="zh-CN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042" name="Text Box 41"/>
          <p:cNvSpPr txBox="1">
            <a:spLocks noChangeArrowheads="1"/>
          </p:cNvSpPr>
          <p:nvPr/>
        </p:nvSpPr>
        <p:spPr bwMode="auto">
          <a:xfrm>
            <a:off x="5383582" y="4721850"/>
            <a:ext cx="504825" cy="37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29043" name="Text Box 42"/>
          <p:cNvSpPr txBox="1">
            <a:spLocks noChangeArrowheads="1"/>
          </p:cNvSpPr>
          <p:nvPr/>
        </p:nvSpPr>
        <p:spPr bwMode="auto">
          <a:xfrm>
            <a:off x="5888407" y="4721850"/>
            <a:ext cx="2663825" cy="37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sp>
        <p:nvSpPr>
          <p:cNvPr id="129045" name="对话气泡: 矩形 129044"/>
          <p:cNvSpPr/>
          <p:nvPr/>
        </p:nvSpPr>
        <p:spPr>
          <a:xfrm>
            <a:off x="154172" y="2835205"/>
            <a:ext cx="850605" cy="457754"/>
          </a:xfrm>
          <a:prstGeom prst="wedgeRectCallout">
            <a:avLst>
              <a:gd name="adj1" fmla="val 22971"/>
              <a:gd name="adj2" fmla="val 10431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9046" name="文本框 129045"/>
          <p:cNvSpPr txBox="1"/>
          <p:nvPr/>
        </p:nvSpPr>
        <p:spPr>
          <a:xfrm>
            <a:off x="116958" y="2857896"/>
            <a:ext cx="909083" cy="376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偏移量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报文格式：示例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440070"/>
            <a:ext cx="8401050" cy="4837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60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例如：一个邮件的客户端想向</a:t>
            </a:r>
            <a:r>
              <a:rPr lang="en-US" altLang="zh-CN" sz="2400" dirty="0">
                <a:latin typeface="Arial" panose="020B0604020202020204" pitchFamily="34" charset="0"/>
              </a:rPr>
              <a:t>Mockapetris@ISI.EDU</a:t>
            </a:r>
            <a:r>
              <a:rPr lang="zh-CN" altLang="en-US" sz="2400" dirty="0">
                <a:cs typeface="Times New Roman" panose="02020603050405020304" pitchFamily="18" charset="0"/>
              </a:rPr>
              <a:t>发送邮件，需要对域名</a:t>
            </a:r>
            <a:r>
              <a:rPr lang="en-US" altLang="zh-CN" sz="2400" dirty="0">
                <a:latin typeface="Arial" panose="020B0604020202020204" pitchFamily="34" charset="0"/>
              </a:rPr>
              <a:t>ISI.EDU</a:t>
            </a:r>
            <a:r>
              <a:rPr lang="zh-CN" altLang="en-US" sz="2400" dirty="0">
                <a:latin typeface="Arial" panose="020B0604020202020204" pitchFamily="34" charset="0"/>
              </a:rPr>
              <a:t>进行</a:t>
            </a:r>
            <a:r>
              <a:rPr lang="zh-CN" altLang="en-US" sz="2400" dirty="0">
                <a:cs typeface="Times New Roman" panose="02020603050405020304" pitchFamily="18" charset="0"/>
              </a:rPr>
              <a:t>解析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0099"/>
                </a:solidFill>
                <a:cs typeface="Times New Roman" panose="02020603050405020304" pitchFamily="18" charset="0"/>
              </a:rPr>
              <a:t>Query:</a:t>
            </a:r>
            <a:r>
              <a:rPr lang="en-US" altLang="zh-CN" sz="2000" dirty="0"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99"/>
                </a:solidFill>
                <a:cs typeface="Times New Roman" panose="02020603050405020304" pitchFamily="18" charset="0"/>
              </a:rPr>
              <a:t>question section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       QNAME=ISI.EDU, QTYPE=MX, QCLASS=IN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0099"/>
                </a:solidFill>
                <a:cs typeface="Times New Roman" panose="02020603050405020304" pitchFamily="18" charset="0"/>
              </a:rPr>
              <a:t>Reply: answer section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       ISI.EDU.   MX 10 VENERA.ISI.EDU.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                         MX 10 VAXA.ISI.EDU.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0099"/>
                </a:solidFill>
                <a:cs typeface="Times New Roman" panose="02020603050405020304" pitchFamily="18" charset="0"/>
              </a:rPr>
              <a:t>Reply: additional section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       VAXA.ISI.EDU.        A 10.2.0.27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                                          A 128.9.0.33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       VENERA.ISI.EDU.   A 10.1.0.52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                                           A 128.9.0.32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报文格式：示例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域名系统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66643" y="1440070"/>
            <a:ext cx="8401050" cy="4698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60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例如：一个查询 </a:t>
            </a:r>
            <a:r>
              <a:rPr lang="en-US" altLang="zh-CN" sz="2400" dirty="0">
                <a:cs typeface="Times New Roman" panose="02020603050405020304" pitchFamily="18" charset="0"/>
              </a:rPr>
              <a:t>(QNAME=BRL.MIL, QTYPE=A)</a:t>
            </a:r>
            <a:r>
              <a:rPr lang="zh-CN" altLang="en-US" sz="2400" dirty="0">
                <a:cs typeface="Times New Roman" panose="02020603050405020304" pitchFamily="18" charset="0"/>
              </a:rPr>
              <a:t>发送到</a:t>
            </a:r>
            <a:r>
              <a:rPr lang="en-US" altLang="zh-CN" sz="2400" dirty="0">
                <a:cs typeface="Times New Roman" panose="02020603050405020304" pitchFamily="18" charset="0"/>
              </a:rPr>
              <a:t>C.ISI.EDU</a:t>
            </a:r>
            <a:r>
              <a:rPr lang="zh-CN" altLang="en-US" sz="2400" dirty="0">
                <a:cs typeface="Times New Roman" panose="02020603050405020304" pitchFamily="18" charset="0"/>
              </a:rPr>
              <a:t>，则应答可能为：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0099"/>
                </a:solidFill>
                <a:cs typeface="Times New Roman" panose="02020603050405020304" pitchFamily="18" charset="0"/>
              </a:rPr>
              <a:t> answer section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         &lt;empty&gt;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0099"/>
                </a:solidFill>
                <a:cs typeface="Times New Roman" panose="02020603050405020304" pitchFamily="18" charset="0"/>
              </a:rPr>
              <a:t> authority section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         MIL.     86400   IN   NS   SRI-NIC.ARPA. 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                      86400   IN   NS   A.ISI.EDU.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0099"/>
                </a:solidFill>
                <a:cs typeface="Times New Roman" panose="02020603050405020304" pitchFamily="18" charset="0"/>
              </a:rPr>
              <a:t> additional section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       </a:t>
            </a:r>
            <a:r>
              <a:rPr lang="en-US" altLang="zh-CN" sz="2000" dirty="0">
                <a:cs typeface="Times New Roman" panose="02020603050405020304" pitchFamily="18" charset="0"/>
              </a:rPr>
              <a:t>A.ISI.EDU.            A        26.3.0.103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        SRI-NIC.ARPA.     A        26.0.0.73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                                        A       10.0.0.51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 bwMode="auto">
          <a:xfrm>
            <a:off x="6877050" y="1889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kumimoji="1"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¾"/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¾"/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¾"/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¾"/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defRPr/>
            </a:pPr>
            <a:fld id="{8DC642FC-417A-404D-B5BA-30A602EC159A}" type="slidenum">
              <a:rPr lang="en-US" altLang="zh-CN" smtClean="0"/>
              <a:t>76</a:t>
            </a:fld>
            <a:endParaRPr lang="en-US" altLang="zh-CN"/>
          </a:p>
        </p:txBody>
      </p:sp>
      <p:sp>
        <p:nvSpPr>
          <p:cNvPr id="147460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746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0318750" cy="741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/>
          <p:cNvSpPr txBox="1"/>
          <p:nvPr/>
        </p:nvSpPr>
        <p:spPr>
          <a:xfrm>
            <a:off x="2999361" y="5814867"/>
            <a:ext cx="37269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DNS安全问题及解决策略？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286750" cy="87471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电子邮件系统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4574471" cy="507936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FontTx/>
              <a:buNone/>
            </a:pPr>
            <a:r>
              <a:rPr lang="zh-CN" altLang="en-US" sz="2000" b="1" u="sng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用户代理</a:t>
            </a:r>
            <a:r>
              <a:rPr lang="en-US" altLang="zh-CN" sz="2000" b="1" u="sng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(</a:t>
            </a:r>
            <a:r>
              <a:rPr lang="zh-CN" altLang="en-US" sz="2000" b="1" u="sng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r>
              <a:rPr lang="en-US" altLang="zh-CN" sz="2000" b="1" u="sng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编辑和发送邮件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接收、读取和管理邮件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000" dirty="0">
                <a:solidFill>
                  <a:srgbClr val="00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无统一标准</a:t>
            </a:r>
            <a:endParaRPr lang="en-US" altLang="zh-CN" sz="2000" dirty="0">
              <a:solidFill>
                <a:srgbClr val="0000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None/>
            </a:pPr>
            <a:r>
              <a:rPr lang="zh-CN" altLang="en-US" sz="2000" b="1" u="sng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邮件服务器</a:t>
            </a:r>
            <a:endParaRPr lang="en-US" altLang="zh-CN" sz="2000" b="1" u="sng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邮箱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保存用户收到的消息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消息输出队列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消息的发送队列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SMTP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协议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邮件服务器之间传递邮</a:t>
            </a:r>
            <a:r>
              <a:rPr lang="zh-CN" altLang="en-US" sz="2000" dirty="0">
                <a:latin typeface="Arial" panose="020B0604020202020204" pitchFamily="34" charset="0"/>
              </a:rPr>
              <a:t>件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使用的协议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16280" lvl="1" indent="-25908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smtp</a:t>
            </a:r>
            <a:r>
              <a:rPr lang="zh-CN" altLang="en-US" sz="2000" dirty="0">
                <a:solidFill>
                  <a:srgbClr val="00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客户</a:t>
            </a:r>
            <a:r>
              <a:rPr lang="en-US" altLang="zh-CN" sz="2000" dirty="0">
                <a:solidFill>
                  <a:srgbClr val="00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发送邮件端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16280" lvl="1" indent="-25908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smtp</a:t>
            </a:r>
            <a:r>
              <a:rPr lang="zh-CN" altLang="en-US" sz="2000" dirty="0">
                <a:solidFill>
                  <a:srgbClr val="00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服务器</a:t>
            </a:r>
            <a:r>
              <a:rPr lang="en-US" altLang="zh-CN" sz="2000" dirty="0">
                <a:solidFill>
                  <a:srgbClr val="00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接收邮件端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2.5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电子邮件服务与协议</a:t>
            </a:r>
          </a:p>
        </p:txBody>
      </p:sp>
      <p:grpSp>
        <p:nvGrpSpPr>
          <p:cNvPr id="125" name="Group 18"/>
          <p:cNvGrpSpPr/>
          <p:nvPr/>
        </p:nvGrpSpPr>
        <p:grpSpPr bwMode="auto">
          <a:xfrm>
            <a:off x="4861007" y="1070846"/>
            <a:ext cx="4021138" cy="4830762"/>
            <a:chOff x="2701" y="920"/>
            <a:chExt cx="2533" cy="3043"/>
          </a:xfrm>
        </p:grpSpPr>
        <p:sp>
          <p:nvSpPr>
            <p:cNvPr id="127" name="Line 19"/>
            <p:cNvSpPr>
              <a:spLocks noChangeShapeType="1"/>
            </p:cNvSpPr>
            <p:nvPr/>
          </p:nvSpPr>
          <p:spPr bwMode="auto">
            <a:xfrm>
              <a:off x="3498" y="1662"/>
              <a:ext cx="708" cy="49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8" name="Group 20"/>
            <p:cNvGrpSpPr/>
            <p:nvPr/>
          </p:nvGrpSpPr>
          <p:grpSpPr bwMode="auto">
            <a:xfrm>
              <a:off x="4375" y="1616"/>
              <a:ext cx="224" cy="588"/>
              <a:chOff x="4180" y="783"/>
              <a:chExt cx="150" cy="307"/>
            </a:xfrm>
          </p:grpSpPr>
          <p:sp>
            <p:nvSpPr>
              <p:cNvPr id="238" name="AutoShape 21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9" name="Rectangle 22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0" name="Rectangle 23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1" name="AutoShape 24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2" name="Line 25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3" name="Line 26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4" name="Rectangle 27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5" name="Rectangle 28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9" name="Group 29"/>
            <p:cNvGrpSpPr/>
            <p:nvPr/>
          </p:nvGrpSpPr>
          <p:grpSpPr bwMode="auto">
            <a:xfrm>
              <a:off x="4222" y="1901"/>
              <a:ext cx="518" cy="661"/>
              <a:chOff x="4288" y="2627"/>
              <a:chExt cx="518" cy="661"/>
            </a:xfrm>
          </p:grpSpPr>
          <p:sp>
            <p:nvSpPr>
              <p:cNvPr id="223" name="Rectangle 30"/>
              <p:cNvSpPr>
                <a:spLocks noChangeArrowheads="1"/>
              </p:cNvSpPr>
              <p:nvPr/>
            </p:nvSpPr>
            <p:spPr bwMode="auto"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4" name="Text Box 31"/>
              <p:cNvSpPr txBox="1">
                <a:spLocks noChangeArrowheads="1"/>
              </p:cNvSpPr>
              <p:nvPr/>
            </p:nvSpPr>
            <p:spPr bwMode="auto">
              <a:xfrm>
                <a:off x="4288" y="2627"/>
                <a:ext cx="433" cy="36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mail</a:t>
                </a:r>
              </a:p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16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server</a:t>
                </a:r>
                <a:endParaRPr kumimoji="0"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5" name="Rectangle 32"/>
              <p:cNvSpPr>
                <a:spLocks noChangeArrowheads="1"/>
              </p:cNvSpPr>
              <p:nvPr/>
            </p:nvSpPr>
            <p:spPr bwMode="auto"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6" name="Line 33"/>
              <p:cNvSpPr>
                <a:spLocks noChangeShapeType="1"/>
              </p:cNvSpPr>
              <p:nvPr/>
            </p:nvSpPr>
            <p:spPr bwMode="auto">
              <a:xfrm>
                <a:off x="4369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7" name="Line 34"/>
              <p:cNvSpPr>
                <a:spLocks noChangeShapeType="1"/>
              </p:cNvSpPr>
              <p:nvPr/>
            </p:nvSpPr>
            <p:spPr bwMode="auto">
              <a:xfrm>
                <a:off x="4478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8" name="Line 35"/>
              <p:cNvSpPr>
                <a:spLocks noChangeShapeType="1"/>
              </p:cNvSpPr>
              <p:nvPr/>
            </p:nvSpPr>
            <p:spPr bwMode="auto">
              <a:xfrm>
                <a:off x="4533" y="3035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9" name="Line 36"/>
              <p:cNvSpPr>
                <a:spLocks noChangeShapeType="1"/>
              </p:cNvSpPr>
              <p:nvPr/>
            </p:nvSpPr>
            <p:spPr bwMode="auto">
              <a:xfrm>
                <a:off x="4590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0" name="Line 37"/>
              <p:cNvSpPr>
                <a:spLocks noChangeShapeType="1"/>
              </p:cNvSpPr>
              <p:nvPr/>
            </p:nvSpPr>
            <p:spPr bwMode="auto">
              <a:xfrm>
                <a:off x="4651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1" name="Line 38"/>
              <p:cNvSpPr>
                <a:spLocks noChangeShapeType="1"/>
              </p:cNvSpPr>
              <p:nvPr/>
            </p:nvSpPr>
            <p:spPr bwMode="auto">
              <a:xfrm>
                <a:off x="4707" y="303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2" name="Line 39"/>
              <p:cNvSpPr>
                <a:spLocks noChangeShapeType="1"/>
              </p:cNvSpPr>
              <p:nvPr/>
            </p:nvSpPr>
            <p:spPr bwMode="auto">
              <a:xfrm>
                <a:off x="4422" y="3034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3" name="Rectangle 40"/>
              <p:cNvSpPr>
                <a:spLocks noChangeArrowheads="1"/>
              </p:cNvSpPr>
              <p:nvPr/>
            </p:nvSpPr>
            <p:spPr bwMode="auto"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4" name="Rectangle 41"/>
              <p:cNvSpPr>
                <a:spLocks noChangeArrowheads="1"/>
              </p:cNvSpPr>
              <p:nvPr/>
            </p:nvSpPr>
            <p:spPr bwMode="auto"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" name="Rectangle 42"/>
              <p:cNvSpPr>
                <a:spLocks noChangeArrowheads="1"/>
              </p:cNvSpPr>
              <p:nvPr/>
            </p:nvSpPr>
            <p:spPr bwMode="auto"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6" name="Rectangle 43"/>
              <p:cNvSpPr>
                <a:spLocks noChangeArrowheads="1"/>
              </p:cNvSpPr>
              <p:nvPr/>
            </p:nvSpPr>
            <p:spPr bwMode="auto"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7" name="Rectangle 44"/>
              <p:cNvSpPr>
                <a:spLocks noChangeArrowheads="1"/>
              </p:cNvSpPr>
              <p:nvPr/>
            </p:nvSpPr>
            <p:spPr bwMode="auto"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0" name="Group 45"/>
            <p:cNvGrpSpPr/>
            <p:nvPr/>
          </p:nvGrpSpPr>
          <p:grpSpPr bwMode="auto">
            <a:xfrm>
              <a:off x="4679" y="1358"/>
              <a:ext cx="411" cy="445"/>
              <a:chOff x="4337" y="290"/>
              <a:chExt cx="411" cy="445"/>
            </a:xfrm>
          </p:grpSpPr>
          <p:graphicFrame>
            <p:nvGraphicFramePr>
              <p:cNvPr id="219" name="Object 46"/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2" imgW="1307465" imgH="1083945" progId="MS_ClipArt_Gallery.2">
                      <p:embed/>
                    </p:oleObj>
                  </mc:Choice>
                  <mc:Fallback>
                    <p:oleObj name="ClipArt" r:id="rId2" imgW="1307465" imgH="1083945" progId="MS_ClipArt_Gallery.2">
                      <p:embed/>
                      <p:pic>
                        <p:nvPicPr>
                          <p:cNvPr id="0" name="Object 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20" name="Group 47"/>
              <p:cNvGrpSpPr/>
              <p:nvPr/>
            </p:nvGrpSpPr>
            <p:grpSpPr bwMode="auto">
              <a:xfrm>
                <a:off x="4337" y="367"/>
                <a:ext cx="411" cy="368"/>
                <a:chOff x="4189" y="817"/>
                <a:chExt cx="479" cy="368"/>
              </a:xfrm>
            </p:grpSpPr>
            <p:sp>
              <p:nvSpPr>
                <p:cNvPr id="221" name="Rectangle 48"/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2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463" cy="3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user</a:t>
                  </a:r>
                </a:p>
                <a:p>
                  <a:pPr eaLnBrk="0" hangingPunct="0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agent</a:t>
                  </a:r>
                  <a:endParaRPr kumimoji="0"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31" name="Group 50"/>
            <p:cNvGrpSpPr/>
            <p:nvPr/>
          </p:nvGrpSpPr>
          <p:grpSpPr bwMode="auto">
            <a:xfrm>
              <a:off x="4823" y="1994"/>
              <a:ext cx="411" cy="445"/>
              <a:chOff x="4337" y="290"/>
              <a:chExt cx="411" cy="445"/>
            </a:xfrm>
          </p:grpSpPr>
          <p:graphicFrame>
            <p:nvGraphicFramePr>
              <p:cNvPr id="215" name="Object 51"/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4" imgW="1307465" imgH="1083945" progId="MS_ClipArt_Gallery.2">
                      <p:embed/>
                    </p:oleObj>
                  </mc:Choice>
                  <mc:Fallback>
                    <p:oleObj name="ClipArt" r:id="rId4" imgW="1307465" imgH="1083945" progId="MS_ClipArt_Gallery.2">
                      <p:embed/>
                      <p:pic>
                        <p:nvPicPr>
                          <p:cNvPr id="0" name="Object 5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16" name="Group 52"/>
              <p:cNvGrpSpPr/>
              <p:nvPr/>
            </p:nvGrpSpPr>
            <p:grpSpPr bwMode="auto">
              <a:xfrm>
                <a:off x="4337" y="367"/>
                <a:ext cx="411" cy="368"/>
                <a:chOff x="4189" y="817"/>
                <a:chExt cx="479" cy="368"/>
              </a:xfrm>
            </p:grpSpPr>
            <p:sp>
              <p:nvSpPr>
                <p:cNvPr id="217" name="Rectangle 53"/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8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463" cy="3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user</a:t>
                  </a:r>
                </a:p>
                <a:p>
                  <a:pPr eaLnBrk="0" hangingPunct="0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agent</a:t>
                  </a:r>
                  <a:endParaRPr kumimoji="0"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32" name="Group 55"/>
            <p:cNvGrpSpPr/>
            <p:nvPr/>
          </p:nvGrpSpPr>
          <p:grpSpPr bwMode="auto">
            <a:xfrm>
              <a:off x="4679" y="2654"/>
              <a:ext cx="411" cy="445"/>
              <a:chOff x="4337" y="290"/>
              <a:chExt cx="411" cy="445"/>
            </a:xfrm>
          </p:grpSpPr>
          <p:graphicFrame>
            <p:nvGraphicFramePr>
              <p:cNvPr id="211" name="Object 56"/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5" imgW="1307465" imgH="1083945" progId="MS_ClipArt_Gallery.2">
                      <p:embed/>
                    </p:oleObj>
                  </mc:Choice>
                  <mc:Fallback>
                    <p:oleObj name="ClipArt" r:id="rId5" imgW="1307465" imgH="1083945" progId="MS_ClipArt_Gallery.2">
                      <p:embed/>
                      <p:pic>
                        <p:nvPicPr>
                          <p:cNvPr id="0" name="Object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12" name="Group 57"/>
              <p:cNvGrpSpPr/>
              <p:nvPr/>
            </p:nvGrpSpPr>
            <p:grpSpPr bwMode="auto">
              <a:xfrm>
                <a:off x="4337" y="367"/>
                <a:ext cx="411" cy="368"/>
                <a:chOff x="4189" y="817"/>
                <a:chExt cx="479" cy="368"/>
              </a:xfrm>
            </p:grpSpPr>
            <p:sp>
              <p:nvSpPr>
                <p:cNvPr id="213" name="Rectangle 58"/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4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463" cy="3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user</a:t>
                  </a:r>
                </a:p>
                <a:p>
                  <a:pPr eaLnBrk="0" hangingPunct="0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agent</a:t>
                  </a:r>
                  <a:endParaRPr kumimoji="0" lang="en-US" altLang="zh-CN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33" name="Group 60"/>
            <p:cNvGrpSpPr/>
            <p:nvPr/>
          </p:nvGrpSpPr>
          <p:grpSpPr bwMode="auto">
            <a:xfrm>
              <a:off x="2962" y="2504"/>
              <a:ext cx="518" cy="946"/>
              <a:chOff x="3484" y="2522"/>
              <a:chExt cx="518" cy="946"/>
            </a:xfrm>
          </p:grpSpPr>
          <p:grpSp>
            <p:nvGrpSpPr>
              <p:cNvPr id="186" name="Group 61"/>
              <p:cNvGrpSpPr/>
              <p:nvPr/>
            </p:nvGrpSpPr>
            <p:grpSpPr bwMode="auto">
              <a:xfrm>
                <a:off x="3631" y="2522"/>
                <a:ext cx="224" cy="588"/>
                <a:chOff x="4180" y="783"/>
                <a:chExt cx="150" cy="307"/>
              </a:xfrm>
            </p:grpSpPr>
            <p:sp>
              <p:nvSpPr>
                <p:cNvPr id="203" name="AutoShape 62"/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4" name="Rectangle 63"/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5" name="Rectangle 64"/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6" name="AutoShape 65"/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7" name="Line 66"/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8" name="Line 67"/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9" name="Rectangle 68"/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0" name="Rectangle 69"/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87" name="Group 70"/>
              <p:cNvGrpSpPr/>
              <p:nvPr/>
            </p:nvGrpSpPr>
            <p:grpSpPr bwMode="auto">
              <a:xfrm>
                <a:off x="3484" y="2807"/>
                <a:ext cx="518" cy="661"/>
                <a:chOff x="4288" y="2627"/>
                <a:chExt cx="518" cy="661"/>
              </a:xfrm>
            </p:grpSpPr>
            <p:sp>
              <p:nvSpPr>
                <p:cNvPr id="188" name="Rectangle 71"/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9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4288" y="2627"/>
                  <a:ext cx="433" cy="3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mail</a:t>
                  </a:r>
                </a:p>
                <a:p>
                  <a:pPr eaLnBrk="0" hangingPunct="0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server</a:t>
                  </a:r>
                  <a:endParaRPr kumimoji="0" lang="en-US" altLang="zh-CN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0" name="Rectangle 73"/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1" name="Line 74"/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2" name="Line 75"/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3" name="Line 76"/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4" name="Line 77"/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5" name="Line 78"/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6" name="Line 79"/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7" name="Line 80"/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8" name="Rectangle 81"/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Rectangle 82"/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0" name="Rectangle 83"/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1" name="Rectangle 84"/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2" name="Rectangle 85"/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34" name="Group 86"/>
            <p:cNvGrpSpPr/>
            <p:nvPr/>
          </p:nvGrpSpPr>
          <p:grpSpPr bwMode="auto">
            <a:xfrm>
              <a:off x="3563" y="3200"/>
              <a:ext cx="411" cy="445"/>
              <a:chOff x="4337" y="290"/>
              <a:chExt cx="411" cy="445"/>
            </a:xfrm>
          </p:grpSpPr>
          <p:graphicFrame>
            <p:nvGraphicFramePr>
              <p:cNvPr id="182" name="Object 87"/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6" imgW="1307465" imgH="1083945" progId="MS_ClipArt_Gallery.2">
                      <p:embed/>
                    </p:oleObj>
                  </mc:Choice>
                  <mc:Fallback>
                    <p:oleObj name="ClipArt" r:id="rId6" imgW="1307465" imgH="1083945" progId="MS_ClipArt_Gallery.2">
                      <p:embed/>
                      <p:pic>
                        <p:nvPicPr>
                          <p:cNvPr id="0" name="Object 8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83" name="Group 88"/>
              <p:cNvGrpSpPr/>
              <p:nvPr/>
            </p:nvGrpSpPr>
            <p:grpSpPr bwMode="auto">
              <a:xfrm>
                <a:off x="4337" y="367"/>
                <a:ext cx="411" cy="368"/>
                <a:chOff x="4189" y="817"/>
                <a:chExt cx="479" cy="368"/>
              </a:xfrm>
            </p:grpSpPr>
            <p:sp>
              <p:nvSpPr>
                <p:cNvPr id="184" name="Rectangle 89"/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5" name="Text Box 90"/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463" cy="3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user</a:t>
                  </a:r>
                </a:p>
                <a:p>
                  <a:pPr eaLnBrk="0" hangingPunct="0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agent</a:t>
                  </a:r>
                  <a:endParaRPr kumimoji="0" lang="en-US" altLang="zh-CN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35" name="Group 91"/>
            <p:cNvGrpSpPr/>
            <p:nvPr/>
          </p:nvGrpSpPr>
          <p:grpSpPr bwMode="auto">
            <a:xfrm>
              <a:off x="3035" y="3518"/>
              <a:ext cx="411" cy="445"/>
              <a:chOff x="4337" y="290"/>
              <a:chExt cx="411" cy="445"/>
            </a:xfrm>
          </p:grpSpPr>
          <p:graphicFrame>
            <p:nvGraphicFramePr>
              <p:cNvPr id="178" name="Object 92"/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7" imgW="1307465" imgH="1083945" progId="MS_ClipArt_Gallery.2">
                      <p:embed/>
                    </p:oleObj>
                  </mc:Choice>
                  <mc:Fallback>
                    <p:oleObj name="ClipArt" r:id="rId7" imgW="1307465" imgH="1083945" progId="MS_ClipArt_Gallery.2">
                      <p:embed/>
                      <p:pic>
                        <p:nvPicPr>
                          <p:cNvPr id="0" name="Object 9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79" name="Group 93"/>
              <p:cNvGrpSpPr/>
              <p:nvPr/>
            </p:nvGrpSpPr>
            <p:grpSpPr bwMode="auto">
              <a:xfrm>
                <a:off x="4337" y="367"/>
                <a:ext cx="411" cy="368"/>
                <a:chOff x="4189" y="817"/>
                <a:chExt cx="479" cy="368"/>
              </a:xfrm>
            </p:grpSpPr>
            <p:sp>
              <p:nvSpPr>
                <p:cNvPr id="180" name="Rectangle 94"/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1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463" cy="3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user</a:t>
                  </a:r>
                </a:p>
                <a:p>
                  <a:pPr eaLnBrk="0" hangingPunct="0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agent</a:t>
                  </a:r>
                  <a:endParaRPr kumimoji="0" lang="en-US" altLang="zh-CN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36" name="Group 96"/>
            <p:cNvGrpSpPr/>
            <p:nvPr/>
          </p:nvGrpSpPr>
          <p:grpSpPr bwMode="auto">
            <a:xfrm>
              <a:off x="2962" y="1082"/>
              <a:ext cx="518" cy="946"/>
              <a:chOff x="3484" y="2522"/>
              <a:chExt cx="518" cy="946"/>
            </a:xfrm>
          </p:grpSpPr>
          <p:grpSp>
            <p:nvGrpSpPr>
              <p:cNvPr id="153" name="Group 97"/>
              <p:cNvGrpSpPr/>
              <p:nvPr/>
            </p:nvGrpSpPr>
            <p:grpSpPr bwMode="auto">
              <a:xfrm>
                <a:off x="3631" y="2522"/>
                <a:ext cx="224" cy="588"/>
                <a:chOff x="4180" y="783"/>
                <a:chExt cx="150" cy="307"/>
              </a:xfrm>
            </p:grpSpPr>
            <p:sp>
              <p:nvSpPr>
                <p:cNvPr id="170" name="AutoShape 98"/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1" name="Rectangle 99"/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2" name="Rectangle 100"/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3" name="AutoShape 101"/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4" name="Line 102"/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5" name="Line 103"/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6" name="Rectangle 104"/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7" name="Rectangle 105"/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4" name="Group 106"/>
              <p:cNvGrpSpPr/>
              <p:nvPr/>
            </p:nvGrpSpPr>
            <p:grpSpPr bwMode="auto">
              <a:xfrm>
                <a:off x="3484" y="2807"/>
                <a:ext cx="518" cy="661"/>
                <a:chOff x="4288" y="2627"/>
                <a:chExt cx="518" cy="661"/>
              </a:xfrm>
            </p:grpSpPr>
            <p:sp>
              <p:nvSpPr>
                <p:cNvPr id="155" name="Rectangle 107"/>
                <p:cNvSpPr>
                  <a:spLocks noChangeArrowheads="1"/>
                </p:cNvSpPr>
                <p:nvPr/>
              </p:nvSpPr>
              <p:spPr bwMode="auto">
                <a:xfrm>
                  <a:off x="4296" y="2652"/>
                  <a:ext cx="510" cy="636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4288" y="2627"/>
                  <a:ext cx="433" cy="3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mail</a:t>
                  </a:r>
                </a:p>
                <a:p>
                  <a:pPr eaLnBrk="0" hangingPunct="0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server</a:t>
                  </a:r>
                  <a:endParaRPr kumimoji="0" lang="en-US" altLang="zh-CN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" name="Rectangle 109"/>
                <p:cNvSpPr>
                  <a:spLocks noChangeArrowheads="1"/>
                </p:cNvSpPr>
                <p:nvPr/>
              </p:nvSpPr>
              <p:spPr bwMode="auto">
                <a:xfrm>
                  <a:off x="4320" y="3006"/>
                  <a:ext cx="450" cy="120"/>
                </a:xfrm>
                <a:prstGeom prst="rect">
                  <a:avLst/>
                </a:prstGeom>
                <a:solidFill>
                  <a:srgbClr val="00FF00"/>
                </a:solidFill>
                <a:ln w="1905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8" name="Line 110"/>
                <p:cNvSpPr>
                  <a:spLocks noChangeShapeType="1"/>
                </p:cNvSpPr>
                <p:nvPr/>
              </p:nvSpPr>
              <p:spPr bwMode="auto">
                <a:xfrm>
                  <a:off x="4369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" name="Line 111"/>
                <p:cNvSpPr>
                  <a:spLocks noChangeShapeType="1"/>
                </p:cNvSpPr>
                <p:nvPr/>
              </p:nvSpPr>
              <p:spPr bwMode="auto">
                <a:xfrm>
                  <a:off x="4478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0" name="Line 112"/>
                <p:cNvSpPr>
                  <a:spLocks noChangeShapeType="1"/>
                </p:cNvSpPr>
                <p:nvPr/>
              </p:nvSpPr>
              <p:spPr bwMode="auto">
                <a:xfrm>
                  <a:off x="4533" y="3035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1" name="Line 113"/>
                <p:cNvSpPr>
                  <a:spLocks noChangeShapeType="1"/>
                </p:cNvSpPr>
                <p:nvPr/>
              </p:nvSpPr>
              <p:spPr bwMode="auto">
                <a:xfrm>
                  <a:off x="4590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2" name="Line 114"/>
                <p:cNvSpPr>
                  <a:spLocks noChangeShapeType="1"/>
                </p:cNvSpPr>
                <p:nvPr/>
              </p:nvSpPr>
              <p:spPr bwMode="auto">
                <a:xfrm>
                  <a:off x="4651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" name="Line 115"/>
                <p:cNvSpPr>
                  <a:spLocks noChangeShapeType="1"/>
                </p:cNvSpPr>
                <p:nvPr/>
              </p:nvSpPr>
              <p:spPr bwMode="auto">
                <a:xfrm>
                  <a:off x="4707" y="3033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" name="Line 116"/>
                <p:cNvSpPr>
                  <a:spLocks noChangeShapeType="1"/>
                </p:cNvSpPr>
                <p:nvPr/>
              </p:nvSpPr>
              <p:spPr bwMode="auto">
                <a:xfrm>
                  <a:off x="4422" y="3034"/>
                  <a:ext cx="0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5" name="Rectangle 117"/>
                <p:cNvSpPr>
                  <a:spLocks noChangeArrowheads="1"/>
                </p:cNvSpPr>
                <p:nvPr/>
              </p:nvSpPr>
              <p:spPr bwMode="auto">
                <a:xfrm>
                  <a:off x="4328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6" name="Rectangle 118"/>
                <p:cNvSpPr>
                  <a:spLocks noChangeArrowheads="1"/>
                </p:cNvSpPr>
                <p:nvPr/>
              </p:nvSpPr>
              <p:spPr bwMode="auto">
                <a:xfrm>
                  <a:off x="4414" y="3173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7" name="Rectangle 119"/>
                <p:cNvSpPr>
                  <a:spLocks noChangeArrowheads="1"/>
                </p:cNvSpPr>
                <p:nvPr/>
              </p:nvSpPr>
              <p:spPr bwMode="auto">
                <a:xfrm>
                  <a:off x="4500" y="3172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8" name="Rectangle 120"/>
                <p:cNvSpPr>
                  <a:spLocks noChangeArrowheads="1"/>
                </p:cNvSpPr>
                <p:nvPr/>
              </p:nvSpPr>
              <p:spPr bwMode="auto">
                <a:xfrm>
                  <a:off x="4597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9" name="Rectangle 121"/>
                <p:cNvSpPr>
                  <a:spLocks noChangeArrowheads="1"/>
                </p:cNvSpPr>
                <p:nvPr/>
              </p:nvSpPr>
              <p:spPr bwMode="auto">
                <a:xfrm>
                  <a:off x="4693" y="3170"/>
                  <a:ext cx="64" cy="9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37" name="Group 122"/>
            <p:cNvGrpSpPr/>
            <p:nvPr/>
          </p:nvGrpSpPr>
          <p:grpSpPr bwMode="auto">
            <a:xfrm>
              <a:off x="3431" y="920"/>
              <a:ext cx="411" cy="445"/>
              <a:chOff x="4337" y="290"/>
              <a:chExt cx="411" cy="445"/>
            </a:xfrm>
          </p:grpSpPr>
          <p:graphicFrame>
            <p:nvGraphicFramePr>
              <p:cNvPr id="149" name="Object 123"/>
              <p:cNvGraphicFramePr>
                <a:graphicFrameLocks noChangeAspect="1"/>
              </p:cNvGraphicFramePr>
              <p:nvPr/>
            </p:nvGraphicFramePr>
            <p:xfrm>
              <a:off x="4338" y="290"/>
              <a:ext cx="392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lipArt" r:id="rId8" imgW="1307465" imgH="1083945" progId="MS_ClipArt_Gallery.2">
                      <p:embed/>
                    </p:oleObj>
                  </mc:Choice>
                  <mc:Fallback>
                    <p:oleObj name="ClipArt" r:id="rId8" imgW="1307465" imgH="1083945" progId="MS_ClipArt_Gallery.2">
                      <p:embed/>
                      <p:pic>
                        <p:nvPicPr>
                          <p:cNvPr id="0" name="Object 1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8" y="290"/>
                            <a:ext cx="392" cy="31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50" name="Group 124"/>
              <p:cNvGrpSpPr/>
              <p:nvPr/>
            </p:nvGrpSpPr>
            <p:grpSpPr bwMode="auto">
              <a:xfrm>
                <a:off x="4337" y="367"/>
                <a:ext cx="411" cy="368"/>
                <a:chOff x="4189" y="817"/>
                <a:chExt cx="479" cy="368"/>
              </a:xfrm>
            </p:grpSpPr>
            <p:sp>
              <p:nvSpPr>
                <p:cNvPr id="151" name="Rectangle 125"/>
                <p:cNvSpPr>
                  <a:spLocks noChangeArrowheads="1"/>
                </p:cNvSpPr>
                <p:nvPr/>
              </p:nvSpPr>
              <p:spPr bwMode="auto">
                <a:xfrm>
                  <a:off x="4224" y="846"/>
                  <a:ext cx="444" cy="330"/>
                </a:xfrm>
                <a:prstGeom prst="rect">
                  <a:avLst/>
                </a:prstGeom>
                <a:solidFill>
                  <a:schemeClr val="hlink"/>
                </a:solidFill>
                <a:ln w="19050">
                  <a:solidFill>
                    <a:schemeClr val="tx1"/>
                  </a:solidFill>
                  <a:miter lim="800000"/>
                </a:ln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4189" y="817"/>
                  <a:ext cx="463" cy="3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user</a:t>
                  </a:r>
                </a:p>
                <a:p>
                  <a:pPr eaLnBrk="0" hangingPunct="0">
                    <a:lnSpc>
                      <a:spcPct val="1000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zh-CN" sz="16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agent</a:t>
                  </a:r>
                  <a:endParaRPr kumimoji="0"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38" name="Line 127"/>
            <p:cNvSpPr>
              <a:spLocks noChangeShapeType="1"/>
            </p:cNvSpPr>
            <p:nvPr/>
          </p:nvSpPr>
          <p:spPr bwMode="auto">
            <a:xfrm flipV="1">
              <a:off x="3498" y="2370"/>
              <a:ext cx="708" cy="6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Line 128"/>
            <p:cNvSpPr>
              <a:spLocks noChangeShapeType="1"/>
            </p:cNvSpPr>
            <p:nvPr/>
          </p:nvSpPr>
          <p:spPr bwMode="auto">
            <a:xfrm flipH="1" flipV="1">
              <a:off x="3030" y="2040"/>
              <a:ext cx="0" cy="78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40" name="Group 129"/>
            <p:cNvGrpSpPr/>
            <p:nvPr/>
          </p:nvGrpSpPr>
          <p:grpSpPr bwMode="auto">
            <a:xfrm>
              <a:off x="3559" y="2555"/>
              <a:ext cx="623" cy="291"/>
              <a:chOff x="3745" y="2537"/>
              <a:chExt cx="623" cy="291"/>
            </a:xfrm>
          </p:grpSpPr>
          <p:sp>
            <p:nvSpPr>
              <p:cNvPr id="147" name="Rectangle 130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" name="Text Box 131"/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23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SMTP</a:t>
                </a:r>
              </a:p>
            </p:txBody>
          </p:sp>
        </p:grpSp>
        <p:grpSp>
          <p:nvGrpSpPr>
            <p:cNvPr id="141" name="Group 132"/>
            <p:cNvGrpSpPr/>
            <p:nvPr/>
          </p:nvGrpSpPr>
          <p:grpSpPr bwMode="auto">
            <a:xfrm>
              <a:off x="3535" y="1763"/>
              <a:ext cx="623" cy="291"/>
              <a:chOff x="3745" y="2537"/>
              <a:chExt cx="623" cy="291"/>
            </a:xfrm>
          </p:grpSpPr>
          <p:sp>
            <p:nvSpPr>
              <p:cNvPr id="145" name="Rectangle 133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" name="Text Box 134"/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23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SMTP</a:t>
                </a:r>
              </a:p>
            </p:txBody>
          </p:sp>
        </p:grpSp>
        <p:grpSp>
          <p:nvGrpSpPr>
            <p:cNvPr id="142" name="Group 135"/>
            <p:cNvGrpSpPr/>
            <p:nvPr/>
          </p:nvGrpSpPr>
          <p:grpSpPr bwMode="auto">
            <a:xfrm>
              <a:off x="2701" y="2213"/>
              <a:ext cx="623" cy="291"/>
              <a:chOff x="3745" y="2537"/>
              <a:chExt cx="623" cy="291"/>
            </a:xfrm>
          </p:grpSpPr>
          <p:sp>
            <p:nvSpPr>
              <p:cNvPr id="143" name="Rectangle 136"/>
              <p:cNvSpPr>
                <a:spLocks noChangeArrowheads="1"/>
              </p:cNvSpPr>
              <p:nvPr/>
            </p:nvSpPr>
            <p:spPr bwMode="auto"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" name="Text Box 137"/>
              <p:cNvSpPr txBox="1">
                <a:spLocks noChangeArrowheads="1"/>
              </p:cNvSpPr>
              <p:nvPr/>
            </p:nvSpPr>
            <p:spPr bwMode="auto">
              <a:xfrm>
                <a:off x="3745" y="2537"/>
                <a:ext cx="623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zh-CN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SMTP</a:t>
                </a:r>
              </a:p>
            </p:txBody>
          </p:sp>
        </p:grpSp>
      </p:grpSp>
      <p:grpSp>
        <p:nvGrpSpPr>
          <p:cNvPr id="246" name="Group 5"/>
          <p:cNvGrpSpPr/>
          <p:nvPr/>
        </p:nvGrpSpPr>
        <p:grpSpPr bwMode="auto">
          <a:xfrm>
            <a:off x="7126370" y="5562645"/>
            <a:ext cx="1736725" cy="785813"/>
            <a:chOff x="4458" y="3335"/>
            <a:chExt cx="1094" cy="495"/>
          </a:xfrm>
        </p:grpSpPr>
        <p:sp>
          <p:nvSpPr>
            <p:cNvPr id="247" name="Text Box 6"/>
            <p:cNvSpPr txBox="1">
              <a:spLocks noChangeArrowheads="1"/>
            </p:cNvSpPr>
            <p:nvPr/>
          </p:nvSpPr>
          <p:spPr bwMode="auto">
            <a:xfrm>
              <a:off x="4666" y="3617"/>
              <a:ext cx="63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600" dirty="0">
                  <a:latin typeface="Comic Sans MS" panose="030F0702030302020204" pitchFamily="66" charset="0"/>
                  <a:ea typeface="宋体" panose="02010600030101010101" pitchFamily="2" charset="-122"/>
                </a:rPr>
                <a:t>用户邮箱</a:t>
              </a:r>
              <a:endParaRPr kumimoji="0" lang="en-US" altLang="zh-CN" sz="2400" dirty="0">
                <a:ea typeface="宋体" panose="02010600030101010101" pitchFamily="2" charset="-122"/>
              </a:endParaRPr>
            </a:p>
          </p:txBody>
        </p:sp>
        <p:grpSp>
          <p:nvGrpSpPr>
            <p:cNvPr id="248" name="Group 7"/>
            <p:cNvGrpSpPr/>
            <p:nvPr/>
          </p:nvGrpSpPr>
          <p:grpSpPr bwMode="auto"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251" name="Rectangle 8"/>
              <p:cNvSpPr>
                <a:spLocks noChangeArrowheads="1"/>
              </p:cNvSpPr>
              <p:nvPr/>
            </p:nvSpPr>
            <p:spPr bwMode="auto"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2" name="Line 9"/>
              <p:cNvSpPr>
                <a:spLocks noChangeShapeType="1"/>
              </p:cNvSpPr>
              <p:nvPr/>
            </p:nvSpPr>
            <p:spPr bwMode="auto">
              <a:xfrm>
                <a:off x="4363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3" name="Line 10"/>
              <p:cNvSpPr>
                <a:spLocks noChangeShapeType="1"/>
              </p:cNvSpPr>
              <p:nvPr/>
            </p:nvSpPr>
            <p:spPr bwMode="auto">
              <a:xfrm flipH="1">
                <a:off x="4472" y="3471"/>
                <a:ext cx="6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4" name="Line 11"/>
              <p:cNvSpPr>
                <a:spLocks noChangeShapeType="1"/>
              </p:cNvSpPr>
              <p:nvPr/>
            </p:nvSpPr>
            <p:spPr bwMode="auto">
              <a:xfrm>
                <a:off x="4527" y="3473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5" name="Line 12"/>
              <p:cNvSpPr>
                <a:spLocks noChangeShapeType="1"/>
              </p:cNvSpPr>
              <p:nvPr/>
            </p:nvSpPr>
            <p:spPr bwMode="auto">
              <a:xfrm>
                <a:off x="4584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" name="Line 13"/>
              <p:cNvSpPr>
                <a:spLocks noChangeShapeType="1"/>
              </p:cNvSpPr>
              <p:nvPr/>
            </p:nvSpPr>
            <p:spPr bwMode="auto">
              <a:xfrm>
                <a:off x="4645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7" name="Line 14"/>
              <p:cNvSpPr>
                <a:spLocks noChangeShapeType="1"/>
              </p:cNvSpPr>
              <p:nvPr/>
            </p:nvSpPr>
            <p:spPr bwMode="auto">
              <a:xfrm>
                <a:off x="4701" y="3471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8" name="Line 15"/>
              <p:cNvSpPr>
                <a:spLocks noChangeShapeType="1"/>
              </p:cNvSpPr>
              <p:nvPr/>
            </p:nvSpPr>
            <p:spPr bwMode="auto">
              <a:xfrm>
                <a:off x="4416" y="3472"/>
                <a:ext cx="0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49" name="Rectangle 16"/>
            <p:cNvSpPr>
              <a:spLocks noChangeArrowheads="1"/>
            </p:cNvSpPr>
            <p:nvPr/>
          </p:nvSpPr>
          <p:spPr bwMode="auto">
            <a:xfrm>
              <a:off x="4472" y="3683"/>
              <a:ext cx="64" cy="9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0" name="Text Box 17"/>
            <p:cNvSpPr txBox="1">
              <a:spLocks noChangeArrowheads="1"/>
            </p:cNvSpPr>
            <p:nvPr/>
          </p:nvSpPr>
          <p:spPr bwMode="auto">
            <a:xfrm>
              <a:off x="4919" y="3335"/>
              <a:ext cx="633" cy="21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dirty="0">
                  <a:latin typeface="Comic Sans MS" panose="030F0702030302020204" pitchFamily="66" charset="0"/>
                  <a:ea typeface="宋体" panose="02010600030101010101" pitchFamily="2" charset="-122"/>
                </a:rPr>
                <a:t>输出队列</a:t>
              </a:r>
              <a:endParaRPr kumimoji="0" lang="en-US" altLang="zh-CN" sz="1600" dirty="0">
                <a:latin typeface="Comic Sans MS" panose="030F0702030302020204" pitchFamily="66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客户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服务器模型（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SMTP/POP/IMAP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2.5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电子邮件服务与协议</a:t>
            </a: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27830" y="1540413"/>
          <a:ext cx="9236820" cy="440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813550" imgH="3248660" progId="Visio.Drawing.11">
                  <p:embed/>
                </p:oleObj>
              </mc:Choice>
              <mc:Fallback>
                <p:oleObj name="Visio" r:id="rId3" imgW="6813550" imgH="324866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0" y="1540413"/>
                        <a:ext cx="9236820" cy="440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69460" y="3629127"/>
            <a:ext cx="2592388" cy="64770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926265" y="3641055"/>
            <a:ext cx="2592388" cy="64770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3461848" y="1878908"/>
            <a:ext cx="2464417" cy="3500438"/>
          </a:xfrm>
          <a:prstGeom prst="rect">
            <a:avLst/>
          </a:prstGeom>
          <a:noFill/>
          <a:ln w="12700" cap="flat" cmpd="sng" algn="ctr">
            <a:solidFill>
              <a:schemeClr val="accent5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342900" indent="-342900">
              <a:buFont typeface="Symbol" panose="05050102010706020507" pitchFamily="18" charset="2"/>
              <a:buBlip>
                <a:blip r:embed="rId5"/>
              </a:buBlip>
              <a:defRPr/>
            </a:pPr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3461848" y="3633103"/>
            <a:ext cx="2464417" cy="64770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643" y="609599"/>
            <a:ext cx="8410714" cy="830471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客户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服务器模型（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SMTP/HTTP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2.5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电子邮件服务与协议</a:t>
            </a: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27830" y="1540413"/>
          <a:ext cx="9236820" cy="440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813550" imgH="3248660" progId="Visio.Drawing.11">
                  <p:embed/>
                </p:oleObj>
              </mc:Choice>
              <mc:Fallback>
                <p:oleObj name="Visio" r:id="rId3" imgW="6813550" imgH="324866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0" y="1540413"/>
                        <a:ext cx="9236820" cy="440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69460" y="3629127"/>
            <a:ext cx="2592388" cy="64770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926265" y="3641055"/>
            <a:ext cx="2592388" cy="64770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 bwMode="auto">
          <a:xfrm>
            <a:off x="3461848" y="1878908"/>
            <a:ext cx="2464417" cy="3500438"/>
          </a:xfrm>
          <a:prstGeom prst="rect">
            <a:avLst/>
          </a:prstGeom>
          <a:noFill/>
          <a:ln w="12700" cap="flat" cmpd="sng" algn="ctr">
            <a:solidFill>
              <a:schemeClr val="accent5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342900" indent="-342900">
              <a:buFont typeface="Symbol" panose="05050102010706020507" pitchFamily="18" charset="2"/>
              <a:buBlip>
                <a:blip r:embed="rId5"/>
              </a:buBlip>
              <a:defRPr/>
            </a:pPr>
            <a:endParaRPr lang="zh-CN" alt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3461848" y="3633103"/>
            <a:ext cx="2464417" cy="64770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dash"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763000" cy="874713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SMTP: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简单邮件传输协议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77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3050" y="1548261"/>
            <a:ext cx="8395663" cy="4760463"/>
          </a:xfrm>
        </p:spPr>
        <p:txBody>
          <a:bodyPr>
            <a:normAutofit/>
          </a:bodyPr>
          <a:lstStyle/>
          <a:p>
            <a:pPr marL="360680" indent="-360680">
              <a:lnSpc>
                <a:spcPct val="120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可靠地从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SMTP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客户向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SMTP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服务器传递邮件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60680" indent="-360680">
              <a:lnSpc>
                <a:spcPct val="120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SMTP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个阶段：连接建立、邮件传送、连接关闭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60680" indent="-360680">
              <a:lnSpc>
                <a:spcPct val="120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响应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16280" lvl="1" indent="-25908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ASCII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字符串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16280" lvl="1" indent="-25908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响应：状态码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短语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60680" indent="-360680">
              <a:lnSpc>
                <a:spcPct val="120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消息为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ASCII</a:t>
            </a:r>
          </a:p>
          <a:p>
            <a:pPr marL="360680" indent="-360680">
              <a:lnSpc>
                <a:spcPct val="120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RFC 821: SMTP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2.4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电子邮件服务与协议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71854" y="609600"/>
            <a:ext cx="8548296" cy="8526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FTP: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文件传输协议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(RFC 959) 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3786188"/>
            <a:ext cx="8424862" cy="23796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TCP/IP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的文件传输系统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服务器模型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client: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初始化传输（无论上传还是下载）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server: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远端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客户使用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协议连接远端服务器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170" name="Object 45"/>
          <p:cNvGraphicFramePr>
            <a:graphicFrameLocks noChangeAspect="1"/>
          </p:cNvGraphicFramePr>
          <p:nvPr/>
        </p:nvGraphicFramePr>
        <p:xfrm>
          <a:off x="2760663" y="1689100"/>
          <a:ext cx="989012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Art" r:id="rId2" imgW="1307465" imgH="1083945" progId="MS_ClipArt_Gallery.2">
                  <p:embed/>
                </p:oleObj>
              </mc:Choice>
              <mc:Fallback>
                <p:oleObj name="ClipArt" r:id="rId2" imgW="1307465" imgH="1083945" progId="MS_ClipArt_Gallery.2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663" y="1689100"/>
                        <a:ext cx="989012" cy="795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5" name="Group 46"/>
          <p:cNvGrpSpPr/>
          <p:nvPr/>
        </p:nvGrpSpPr>
        <p:grpSpPr bwMode="auto">
          <a:xfrm>
            <a:off x="6211888" y="1527175"/>
            <a:ext cx="438150" cy="1190625"/>
            <a:chOff x="4180" y="783"/>
            <a:chExt cx="150" cy="307"/>
          </a:xfrm>
        </p:grpSpPr>
        <p:sp>
          <p:nvSpPr>
            <p:cNvPr id="7207" name="AutoShape 47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08" name="Rectangle 48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09" name="Rectangle 49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10" name="AutoShape 50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11" name="Line 51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12" name="Line 52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13" name="Rectangle 53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14" name="Rectangle 54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176" name="Line 55"/>
          <p:cNvSpPr>
            <a:spLocks noChangeShapeType="1"/>
          </p:cNvSpPr>
          <p:nvPr/>
        </p:nvSpPr>
        <p:spPr bwMode="auto">
          <a:xfrm>
            <a:off x="3800475" y="2305050"/>
            <a:ext cx="2719388" cy="12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7" name="Text Box 56"/>
          <p:cNvSpPr txBox="1">
            <a:spLocks noChangeArrowheads="1"/>
          </p:cNvSpPr>
          <p:nvPr/>
        </p:nvSpPr>
        <p:spPr bwMode="auto">
          <a:xfrm>
            <a:off x="4364655" y="1989138"/>
            <a:ext cx="1367555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file transfer</a:t>
            </a:r>
            <a:endParaRPr kumimoji="0" lang="en-US" altLang="zh-CN"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7178" name="Group 57"/>
          <p:cNvGrpSpPr/>
          <p:nvPr/>
        </p:nvGrpSpPr>
        <p:grpSpPr bwMode="auto">
          <a:xfrm>
            <a:off x="6021388" y="1981200"/>
            <a:ext cx="868362" cy="1057275"/>
            <a:chOff x="3930" y="1386"/>
            <a:chExt cx="444" cy="522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7205" name="Rectangle 58"/>
            <p:cNvSpPr>
              <a:spLocks noChangeArrowheads="1"/>
            </p:cNvSpPr>
            <p:nvPr/>
          </p:nvSpPr>
          <p:spPr bwMode="auto">
            <a:xfrm>
              <a:off x="3930" y="1386"/>
              <a:ext cx="444" cy="522"/>
            </a:xfrm>
            <a:prstGeom prst="rect">
              <a:avLst/>
            </a:prstGeom>
            <a:grpFill/>
            <a:ln w="1905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06" name="Text Box 59"/>
            <p:cNvSpPr txBox="1">
              <a:spLocks noChangeArrowheads="1"/>
            </p:cNvSpPr>
            <p:nvPr/>
          </p:nvSpPr>
          <p:spPr bwMode="auto">
            <a:xfrm>
              <a:off x="3945" y="1463"/>
              <a:ext cx="386" cy="289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FTP</a:t>
              </a: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server</a:t>
              </a:r>
              <a:endParaRPr kumimoji="0"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179" name="Group 60"/>
          <p:cNvGrpSpPr/>
          <p:nvPr/>
        </p:nvGrpSpPr>
        <p:grpSpPr bwMode="auto">
          <a:xfrm>
            <a:off x="2145683" y="1971675"/>
            <a:ext cx="2086591" cy="1069975"/>
            <a:chOff x="1704" y="1326"/>
            <a:chExt cx="1068" cy="528"/>
          </a:xfrm>
        </p:grpSpPr>
        <p:sp>
          <p:nvSpPr>
            <p:cNvPr id="7201" name="Rectangle 61"/>
            <p:cNvSpPr>
              <a:spLocks noChangeArrowheads="1"/>
            </p:cNvSpPr>
            <p:nvPr/>
          </p:nvSpPr>
          <p:spPr bwMode="auto">
            <a:xfrm>
              <a:off x="2328" y="1326"/>
              <a:ext cx="444" cy="52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02" name="Rectangle 62"/>
            <p:cNvSpPr>
              <a:spLocks noChangeArrowheads="1"/>
            </p:cNvSpPr>
            <p:nvPr/>
          </p:nvSpPr>
          <p:spPr bwMode="auto">
            <a:xfrm>
              <a:off x="1704" y="1332"/>
              <a:ext cx="606" cy="52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03" name="Text Box 63"/>
            <p:cNvSpPr txBox="1">
              <a:spLocks noChangeArrowheads="1"/>
            </p:cNvSpPr>
            <p:nvPr/>
          </p:nvSpPr>
          <p:spPr bwMode="auto">
            <a:xfrm>
              <a:off x="1723" y="1343"/>
              <a:ext cx="660" cy="40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FTP</a:t>
              </a: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user</a:t>
              </a: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 dirty="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interface</a:t>
              </a:r>
              <a:endParaRPr kumimoji="0" lang="en-US" altLang="zh-CN" sz="24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204" name="Text Box 64"/>
            <p:cNvSpPr txBox="1">
              <a:spLocks noChangeArrowheads="1"/>
            </p:cNvSpPr>
            <p:nvPr/>
          </p:nvSpPr>
          <p:spPr bwMode="auto">
            <a:xfrm>
              <a:off x="2365" y="1403"/>
              <a:ext cx="339" cy="2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FTP</a:t>
              </a:r>
            </a:p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client</a:t>
              </a:r>
              <a:endParaRPr kumimoji="0"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180" name="Group 65"/>
          <p:cNvGrpSpPr/>
          <p:nvPr/>
        </p:nvGrpSpPr>
        <p:grpSpPr bwMode="auto">
          <a:xfrm>
            <a:off x="2667000" y="2871788"/>
            <a:ext cx="2062163" cy="773112"/>
            <a:chOff x="1812" y="1776"/>
            <a:chExt cx="1055" cy="382"/>
          </a:xfrm>
        </p:grpSpPr>
        <p:grpSp>
          <p:nvGrpSpPr>
            <p:cNvPr id="7193" name="Group 66"/>
            <p:cNvGrpSpPr/>
            <p:nvPr/>
          </p:nvGrpSpPr>
          <p:grpSpPr bwMode="auto">
            <a:xfrm>
              <a:off x="1903" y="1845"/>
              <a:ext cx="316" cy="313"/>
              <a:chOff x="4939" y="1431"/>
              <a:chExt cx="316" cy="313"/>
            </a:xfrm>
          </p:grpSpPr>
          <p:sp>
            <p:nvSpPr>
              <p:cNvPr id="7196" name="Oval 67"/>
              <p:cNvSpPr>
                <a:spLocks noChangeArrowheads="1"/>
              </p:cNvSpPr>
              <p:nvPr/>
            </p:nvSpPr>
            <p:spPr bwMode="auto">
              <a:xfrm>
                <a:off x="4941" y="1663"/>
                <a:ext cx="310" cy="81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197" name="Rectangle 68"/>
              <p:cNvSpPr>
                <a:spLocks noChangeArrowheads="1"/>
              </p:cNvSpPr>
              <p:nvPr/>
            </p:nvSpPr>
            <p:spPr bwMode="auto">
              <a:xfrm>
                <a:off x="4942" y="1490"/>
                <a:ext cx="313" cy="214"/>
              </a:xfrm>
              <a:prstGeom prst="rect">
                <a:avLst/>
              </a:prstGeom>
              <a:solidFill>
                <a:srgbClr val="FFFF00"/>
              </a:solidFill>
              <a:ln w="12700">
                <a:noFill/>
                <a:miter lim="800000"/>
              </a:ln>
            </p:spPr>
            <p:txBody>
              <a:bodyPr wrap="none" anchor="ctr"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zh-CN" sz="24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198" name="Oval 69"/>
              <p:cNvSpPr>
                <a:spLocks noChangeArrowheads="1"/>
              </p:cNvSpPr>
              <p:nvPr/>
            </p:nvSpPr>
            <p:spPr bwMode="auto">
              <a:xfrm>
                <a:off x="4939" y="1431"/>
                <a:ext cx="313" cy="95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199" name="Line 70"/>
              <p:cNvSpPr>
                <a:spLocks noChangeShapeType="1"/>
              </p:cNvSpPr>
              <p:nvPr/>
            </p:nvSpPr>
            <p:spPr bwMode="auto">
              <a:xfrm>
                <a:off x="5251" y="1479"/>
                <a:ext cx="1" cy="22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00" name="Line 71"/>
              <p:cNvSpPr>
                <a:spLocks noChangeShapeType="1"/>
              </p:cNvSpPr>
              <p:nvPr/>
            </p:nvSpPr>
            <p:spPr bwMode="auto">
              <a:xfrm flipH="1">
                <a:off x="4939" y="1483"/>
                <a:ext cx="1" cy="22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194" name="Text Box 72"/>
            <p:cNvSpPr txBox="1">
              <a:spLocks noChangeArrowheads="1"/>
            </p:cNvSpPr>
            <p:nvPr/>
          </p:nvSpPr>
          <p:spPr bwMode="auto">
            <a:xfrm>
              <a:off x="2189" y="1859"/>
              <a:ext cx="678" cy="2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l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local file</a:t>
              </a:r>
            </a:p>
            <a:p>
              <a:pPr algn="l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600"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system</a:t>
              </a:r>
              <a:endParaRPr kumimoji="0"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195" name="Line 73"/>
            <p:cNvSpPr>
              <a:spLocks noChangeShapeType="1"/>
            </p:cNvSpPr>
            <p:nvPr/>
          </p:nvSpPr>
          <p:spPr bwMode="auto">
            <a:xfrm>
              <a:off x="1812" y="1776"/>
              <a:ext cx="204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181" name="Line 74"/>
          <p:cNvSpPr>
            <a:spLocks noChangeShapeType="1"/>
          </p:cNvSpPr>
          <p:nvPr/>
        </p:nvSpPr>
        <p:spPr bwMode="auto">
          <a:xfrm flipH="1">
            <a:off x="3314700" y="2874194"/>
            <a:ext cx="272366" cy="5111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182" name="Group 75"/>
          <p:cNvGrpSpPr/>
          <p:nvPr/>
        </p:nvGrpSpPr>
        <p:grpSpPr bwMode="auto">
          <a:xfrm>
            <a:off x="6107113" y="2938463"/>
            <a:ext cx="617537" cy="633412"/>
            <a:chOff x="4939" y="1431"/>
            <a:chExt cx="316" cy="313"/>
          </a:xfrm>
        </p:grpSpPr>
        <p:sp>
          <p:nvSpPr>
            <p:cNvPr id="7188" name="Oval 76"/>
            <p:cNvSpPr>
              <a:spLocks noChangeArrowheads="1"/>
            </p:cNvSpPr>
            <p:nvPr/>
          </p:nvSpPr>
          <p:spPr bwMode="auto">
            <a:xfrm>
              <a:off x="4941" y="1663"/>
              <a:ext cx="310" cy="81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89" name="Rectangle 77"/>
            <p:cNvSpPr>
              <a:spLocks noChangeArrowheads="1"/>
            </p:cNvSpPr>
            <p:nvPr/>
          </p:nvSpPr>
          <p:spPr bwMode="auto">
            <a:xfrm>
              <a:off x="4942" y="1490"/>
              <a:ext cx="313" cy="214"/>
            </a:xfrm>
            <a:prstGeom prst="rect">
              <a:avLst/>
            </a:prstGeom>
            <a:solidFill>
              <a:srgbClr val="FFFF00"/>
            </a:solidFill>
            <a:ln w="12700">
              <a:noFill/>
              <a:miter lim="800000"/>
            </a:ln>
          </p:spPr>
          <p:txBody>
            <a:bodyPr wrap="none" anchor="ctr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kumimoji="0" lang="zh-CN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190" name="Oval 78"/>
            <p:cNvSpPr>
              <a:spLocks noChangeArrowheads="1"/>
            </p:cNvSpPr>
            <p:nvPr/>
          </p:nvSpPr>
          <p:spPr bwMode="auto">
            <a:xfrm>
              <a:off x="4939" y="1431"/>
              <a:ext cx="313" cy="95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91" name="Line 79"/>
            <p:cNvSpPr>
              <a:spLocks noChangeShapeType="1"/>
            </p:cNvSpPr>
            <p:nvPr/>
          </p:nvSpPr>
          <p:spPr bwMode="auto">
            <a:xfrm>
              <a:off x="5251" y="1479"/>
              <a:ext cx="1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92" name="Line 80"/>
            <p:cNvSpPr>
              <a:spLocks noChangeShapeType="1"/>
            </p:cNvSpPr>
            <p:nvPr/>
          </p:nvSpPr>
          <p:spPr bwMode="auto">
            <a:xfrm flipH="1">
              <a:off x="4939" y="1483"/>
              <a:ext cx="1" cy="2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183" name="Text Box 81"/>
          <p:cNvSpPr txBox="1">
            <a:spLocks noChangeArrowheads="1"/>
          </p:cNvSpPr>
          <p:nvPr/>
        </p:nvSpPr>
        <p:spPr bwMode="auto">
          <a:xfrm>
            <a:off x="6665913" y="2992438"/>
            <a:ext cx="1793875" cy="581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remote file</a:t>
            </a:r>
          </a:p>
          <a:p>
            <a:pPr algn="l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system</a:t>
            </a:r>
            <a:endParaRPr kumimoji="0" lang="en-US" altLang="zh-CN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184" name="Line 82"/>
          <p:cNvSpPr>
            <a:spLocks noChangeShapeType="1"/>
          </p:cNvSpPr>
          <p:nvPr/>
        </p:nvSpPr>
        <p:spPr bwMode="auto">
          <a:xfrm>
            <a:off x="6362700" y="2809875"/>
            <a:ext cx="1588" cy="5476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85" name="Picture 83" descr="Alic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38213" y="2024063"/>
            <a:ext cx="717550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86" name="Text Box 84"/>
          <p:cNvSpPr txBox="1">
            <a:spLocks noChangeArrowheads="1"/>
          </p:cNvSpPr>
          <p:nvPr/>
        </p:nvSpPr>
        <p:spPr bwMode="auto">
          <a:xfrm>
            <a:off x="827088" y="2776538"/>
            <a:ext cx="1195387" cy="581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user 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at host</a:t>
            </a:r>
            <a:endParaRPr kumimoji="0" lang="en-US" altLang="zh-CN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187" name="Line 85"/>
          <p:cNvSpPr>
            <a:spLocks noChangeShapeType="1"/>
          </p:cNvSpPr>
          <p:nvPr/>
        </p:nvSpPr>
        <p:spPr bwMode="auto">
          <a:xfrm>
            <a:off x="1476375" y="2419350"/>
            <a:ext cx="715963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2.5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文件传输服务与协议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7762" y="668790"/>
            <a:ext cx="7770341" cy="3815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1"/>
            <a:ext cx="8286750" cy="839304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FTP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进程模型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2.5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文件传输服务与协议</a:t>
            </a:r>
          </a:p>
        </p:txBody>
      </p:sp>
      <p:sp>
        <p:nvSpPr>
          <p:cNvPr id="2" name="矩形 1"/>
          <p:cNvSpPr/>
          <p:nvPr/>
        </p:nvSpPr>
        <p:spPr>
          <a:xfrm>
            <a:off x="289502" y="4451410"/>
            <a:ext cx="4695568" cy="2061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控制连接</a:t>
            </a:r>
            <a:endParaRPr lang="en-US" altLang="zh-CN" sz="22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9375" indent="-17653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带外控制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9375" indent="-17653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端口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9375" indent="-17653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客户和服务器之间维护的一个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FTP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会话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9375" indent="-17653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用于客户和服务器之间交换命令和响应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79375" indent="-17653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在整个会话期间保持活跃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45543" y="4399089"/>
            <a:ext cx="4598457" cy="2165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Clr>
                <a:srgbClr val="C00000"/>
              </a:buClr>
            </a:pPr>
            <a:r>
              <a:rPr lang="zh-CN" altLang="en-US" sz="2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数据传输连接</a:t>
            </a:r>
            <a:endParaRPr lang="en-US" altLang="zh-CN" sz="22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端口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用于传输数据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客户在一个会话上向服务器传输多个请求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每个文件请求都会建立一个数据连接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数据传输结束后，释放数据连接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286750" cy="742890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FTP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进程模型（续）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194" name="Object 3"/>
          <p:cNvGraphicFramePr>
            <a:graphicFrameLocks noChangeAspect="1"/>
          </p:cNvGraphicFramePr>
          <p:nvPr/>
        </p:nvGraphicFramePr>
        <p:xfrm>
          <a:off x="1220304" y="1491686"/>
          <a:ext cx="6563139" cy="3423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3272075" imgH="22583775" progId="Visio.Drawing.6">
                  <p:embed/>
                </p:oleObj>
              </mc:Choice>
              <mc:Fallback>
                <p:oleObj name="VISIO" r:id="rId3" imgW="43272075" imgH="22583775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304" y="1491686"/>
                        <a:ext cx="6563139" cy="3423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Arc 7"/>
          <p:cNvSpPr/>
          <p:nvPr/>
        </p:nvSpPr>
        <p:spPr bwMode="auto">
          <a:xfrm flipH="1">
            <a:off x="2298216" y="1367862"/>
            <a:ext cx="4651625" cy="422352"/>
          </a:xfrm>
          <a:custGeom>
            <a:avLst/>
            <a:gdLst>
              <a:gd name="T0" fmla="*/ 2147483647 w 43200"/>
              <a:gd name="T1" fmla="*/ 2147483647 h 22860"/>
              <a:gd name="T2" fmla="*/ 2147483647 w 43200"/>
              <a:gd name="T3" fmla="*/ 2147483647 h 22860"/>
              <a:gd name="T4" fmla="*/ 2147483647 w 43200"/>
              <a:gd name="T5" fmla="*/ 2147483647 h 22860"/>
              <a:gd name="T6" fmla="*/ 0 60000 65536"/>
              <a:gd name="T7" fmla="*/ 0 60000 65536"/>
              <a:gd name="T8" fmla="*/ 0 60000 65536"/>
              <a:gd name="T9" fmla="*/ 0 w 43200"/>
              <a:gd name="T10" fmla="*/ 0 h 22860"/>
              <a:gd name="T11" fmla="*/ 43200 w 43200"/>
              <a:gd name="T12" fmla="*/ 22860 h 228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860" fill="none" extrusionOk="0">
                <a:moveTo>
                  <a:pt x="36" y="22860"/>
                </a:moveTo>
                <a:cubicBezTo>
                  <a:pt x="12" y="22440"/>
                  <a:pt x="0" y="2202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22860" stroke="0" extrusionOk="0">
                <a:moveTo>
                  <a:pt x="36" y="22860"/>
                </a:moveTo>
                <a:cubicBezTo>
                  <a:pt x="12" y="22440"/>
                  <a:pt x="0" y="2202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lg" len="med"/>
          </a:ln>
        </p:spPr>
        <p:txBody>
          <a:bodyPr wrap="none" anchor="ctr"/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9" name="Text Box 9"/>
          <p:cNvSpPr txBox="1">
            <a:spLocks noChangeArrowheads="1"/>
          </p:cNvSpPr>
          <p:nvPr/>
        </p:nvSpPr>
        <p:spPr bwMode="auto">
          <a:xfrm>
            <a:off x="4323148" y="1276325"/>
            <a:ext cx="248852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200" name="Text Box 10"/>
          <p:cNvSpPr txBox="1">
            <a:spLocks noChangeArrowheads="1"/>
          </p:cNvSpPr>
          <p:nvPr/>
        </p:nvSpPr>
        <p:spPr bwMode="auto">
          <a:xfrm>
            <a:off x="3462131" y="2504822"/>
            <a:ext cx="248852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201" name="Text Box 11"/>
          <p:cNvSpPr txBox="1">
            <a:spLocks noChangeArrowheads="1"/>
          </p:cNvSpPr>
          <p:nvPr/>
        </p:nvSpPr>
        <p:spPr bwMode="auto">
          <a:xfrm>
            <a:off x="2103093" y="2999207"/>
            <a:ext cx="248852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202" name="Text Box 12"/>
          <p:cNvSpPr txBox="1">
            <a:spLocks noChangeArrowheads="1"/>
          </p:cNvSpPr>
          <p:nvPr/>
        </p:nvSpPr>
        <p:spPr bwMode="auto">
          <a:xfrm>
            <a:off x="4818842" y="2999207"/>
            <a:ext cx="248852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8203" name="Text Box 13"/>
          <p:cNvSpPr txBox="1">
            <a:spLocks noChangeArrowheads="1"/>
          </p:cNvSpPr>
          <p:nvPr/>
        </p:nvSpPr>
        <p:spPr bwMode="auto">
          <a:xfrm>
            <a:off x="5858774" y="2296479"/>
            <a:ext cx="248852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zh-CN" sz="20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204" name="Text Box 14"/>
          <p:cNvSpPr txBox="1">
            <a:spLocks noChangeArrowheads="1"/>
          </p:cNvSpPr>
          <p:nvPr/>
        </p:nvSpPr>
        <p:spPr bwMode="auto">
          <a:xfrm>
            <a:off x="3493053" y="4186369"/>
            <a:ext cx="248852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zh-CN" sz="200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3" name="矩形 12"/>
          <p:cNvSpPr/>
          <p:nvPr/>
        </p:nvSpPr>
        <p:spPr>
          <a:xfrm>
            <a:off x="1456000" y="4956695"/>
            <a:ext cx="4651626" cy="15483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80975" lvl="1" indent="-1809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rial" panose="020B0604020202020204" pitchFamily="34" charset="0"/>
              </a:rPr>
              <a:t>Master server process: 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</a:rPr>
              <a:t>daemon</a:t>
            </a:r>
            <a:r>
              <a:rPr lang="en-US" altLang="zh-CN" sz="1600" dirty="0">
                <a:latin typeface="Arial" panose="020B0604020202020204" pitchFamily="34" charset="0"/>
              </a:rPr>
              <a:t> at port 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</a:rPr>
              <a:t>21</a:t>
            </a:r>
          </a:p>
          <a:p>
            <a:pPr marL="180975" lvl="1" indent="-1809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rial" panose="020B0604020202020204" pitchFamily="34" charset="0"/>
              </a:rPr>
              <a:t>Client control process: random port</a:t>
            </a:r>
          </a:p>
          <a:p>
            <a:pPr marL="180975" lvl="1" indent="-1809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rial" panose="020B0604020202020204" pitchFamily="34" charset="0"/>
              </a:rPr>
              <a:t>Server control process: port 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</a:rPr>
              <a:t>21</a:t>
            </a:r>
          </a:p>
          <a:p>
            <a:pPr marL="180975" lvl="1" indent="-1809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rial" panose="020B0604020202020204" pitchFamily="34" charset="0"/>
              </a:rPr>
              <a:t>Server data transfer process: port 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</a:rPr>
              <a:t>20</a:t>
            </a:r>
          </a:p>
          <a:p>
            <a:pPr marL="180975" lvl="1" indent="-18097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rial" panose="020B0604020202020204" pitchFamily="34" charset="0"/>
              </a:rPr>
              <a:t>Client data transfer process: random port</a:t>
            </a:r>
            <a:endParaRPr lang="zh-CN" altLang="en-US" sz="1600" dirty="0"/>
          </a:p>
        </p:txBody>
      </p:sp>
      <p:sp>
        <p:nvSpPr>
          <p:cNvPr id="1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2.5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文件传输服务与协议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2"/>
          <p:cNvSpPr txBox="1">
            <a:spLocks noChangeArrowheads="1"/>
          </p:cNvSpPr>
          <p:nvPr/>
        </p:nvSpPr>
        <p:spPr>
          <a:xfrm>
            <a:off x="323850" y="609600"/>
            <a:ext cx="8210550" cy="803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Web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客户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服务器模型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" name="Line 24"/>
          <p:cNvSpPr>
            <a:spLocks noChangeShapeType="1"/>
          </p:cNvSpPr>
          <p:nvPr/>
        </p:nvSpPr>
        <p:spPr bwMode="auto">
          <a:xfrm>
            <a:off x="2184400" y="2695715"/>
            <a:ext cx="4724400" cy="0"/>
          </a:xfrm>
          <a:prstGeom prst="line">
            <a:avLst/>
          </a:prstGeom>
          <a:noFill/>
          <a:ln w="19050">
            <a:solidFill>
              <a:srgbClr val="00B0F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Line 26"/>
          <p:cNvSpPr>
            <a:spLocks noChangeShapeType="1"/>
          </p:cNvSpPr>
          <p:nvPr/>
        </p:nvSpPr>
        <p:spPr bwMode="auto">
          <a:xfrm>
            <a:off x="2184400" y="3725570"/>
            <a:ext cx="47244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Line 27"/>
          <p:cNvSpPr>
            <a:spLocks noChangeShapeType="1"/>
          </p:cNvSpPr>
          <p:nvPr/>
        </p:nvSpPr>
        <p:spPr bwMode="auto">
          <a:xfrm>
            <a:off x="2184400" y="4258970"/>
            <a:ext cx="3048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Line 28"/>
          <p:cNvSpPr>
            <a:spLocks noChangeShapeType="1"/>
          </p:cNvSpPr>
          <p:nvPr/>
        </p:nvSpPr>
        <p:spPr bwMode="auto">
          <a:xfrm>
            <a:off x="2184400" y="4792370"/>
            <a:ext cx="3048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Line 29"/>
          <p:cNvSpPr>
            <a:spLocks noChangeShapeType="1"/>
          </p:cNvSpPr>
          <p:nvPr/>
        </p:nvSpPr>
        <p:spPr bwMode="auto">
          <a:xfrm>
            <a:off x="2184400" y="5325770"/>
            <a:ext cx="3048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Line 30"/>
          <p:cNvSpPr>
            <a:spLocks noChangeShapeType="1"/>
          </p:cNvSpPr>
          <p:nvPr/>
        </p:nvSpPr>
        <p:spPr bwMode="auto">
          <a:xfrm>
            <a:off x="6604000" y="4258970"/>
            <a:ext cx="3048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31"/>
          <p:cNvSpPr>
            <a:spLocks noChangeShapeType="1"/>
          </p:cNvSpPr>
          <p:nvPr/>
        </p:nvSpPr>
        <p:spPr bwMode="auto">
          <a:xfrm>
            <a:off x="6604000" y="4792370"/>
            <a:ext cx="3048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Line 32"/>
          <p:cNvSpPr>
            <a:spLocks noChangeShapeType="1"/>
          </p:cNvSpPr>
          <p:nvPr/>
        </p:nvSpPr>
        <p:spPr bwMode="auto">
          <a:xfrm>
            <a:off x="6604000" y="5325770"/>
            <a:ext cx="304800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Line 33"/>
          <p:cNvSpPr>
            <a:spLocks noChangeShapeType="1"/>
          </p:cNvSpPr>
          <p:nvPr/>
        </p:nvSpPr>
        <p:spPr bwMode="auto">
          <a:xfrm>
            <a:off x="1379548" y="5941719"/>
            <a:ext cx="154462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34"/>
          <p:cNvSpPr>
            <a:spLocks noChangeShapeType="1"/>
          </p:cNvSpPr>
          <p:nvPr/>
        </p:nvSpPr>
        <p:spPr bwMode="auto">
          <a:xfrm flipV="1">
            <a:off x="3870324" y="5924258"/>
            <a:ext cx="1357311" cy="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35"/>
          <p:cNvSpPr>
            <a:spLocks noChangeShapeType="1"/>
          </p:cNvSpPr>
          <p:nvPr/>
        </p:nvSpPr>
        <p:spPr bwMode="auto">
          <a:xfrm>
            <a:off x="6169022" y="5924258"/>
            <a:ext cx="156684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36"/>
          <p:cNvSpPr>
            <a:spLocks noChangeShapeType="1"/>
          </p:cNvSpPr>
          <p:nvPr/>
        </p:nvSpPr>
        <p:spPr bwMode="auto">
          <a:xfrm flipV="1">
            <a:off x="1379548" y="563057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37"/>
          <p:cNvSpPr>
            <a:spLocks noChangeShapeType="1"/>
          </p:cNvSpPr>
          <p:nvPr/>
        </p:nvSpPr>
        <p:spPr bwMode="auto">
          <a:xfrm flipV="1">
            <a:off x="2924175" y="5619458"/>
            <a:ext cx="0" cy="32861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Line 38"/>
          <p:cNvSpPr>
            <a:spLocks noChangeShapeType="1"/>
          </p:cNvSpPr>
          <p:nvPr/>
        </p:nvSpPr>
        <p:spPr bwMode="auto">
          <a:xfrm flipV="1">
            <a:off x="3870325" y="563057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Line 39"/>
          <p:cNvSpPr>
            <a:spLocks noChangeShapeType="1"/>
          </p:cNvSpPr>
          <p:nvPr/>
        </p:nvSpPr>
        <p:spPr bwMode="auto">
          <a:xfrm flipV="1">
            <a:off x="5227638" y="5619458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Line 40"/>
          <p:cNvSpPr>
            <a:spLocks noChangeShapeType="1"/>
          </p:cNvSpPr>
          <p:nvPr/>
        </p:nvSpPr>
        <p:spPr bwMode="auto">
          <a:xfrm flipV="1">
            <a:off x="6169025" y="5619458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Text Box 42"/>
          <p:cNvSpPr txBox="1">
            <a:spLocks noChangeArrowheads="1"/>
          </p:cNvSpPr>
          <p:nvPr/>
        </p:nvSpPr>
        <p:spPr bwMode="auto">
          <a:xfrm>
            <a:off x="3847340" y="2482574"/>
            <a:ext cx="1350050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rPr>
              <a:t>HTTP</a:t>
            </a:r>
            <a:r>
              <a:rPr kumimoji="0" lang="zh-CN" altLang="en-US" sz="2000" i="1" dirty="0">
                <a:solidFill>
                  <a:srgbClr val="FF0000"/>
                </a:solidFill>
                <a:ea typeface="宋体" panose="02010600030101010101" pitchFamily="2" charset="-122"/>
              </a:rPr>
              <a:t>协议</a:t>
            </a:r>
            <a:endParaRPr kumimoji="0" lang="en-US" altLang="zh-CN" sz="2000" i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78" name="Text Box 46"/>
          <p:cNvSpPr txBox="1">
            <a:spLocks noChangeArrowheads="1"/>
          </p:cNvSpPr>
          <p:nvPr/>
        </p:nvSpPr>
        <p:spPr bwMode="auto">
          <a:xfrm>
            <a:off x="2924175" y="3635082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 dirty="0">
                <a:solidFill>
                  <a:srgbClr val="000099"/>
                </a:solidFill>
                <a:ea typeface="宋体" panose="02010600030101010101" pitchFamily="2" charset="-122"/>
              </a:rPr>
              <a:t>路由器</a:t>
            </a:r>
            <a:endParaRPr kumimoji="0" lang="en-US" altLang="zh-CN" sz="2000" dirty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81" name="Rectangle 9"/>
          <p:cNvSpPr>
            <a:spLocks noChangeArrowheads="1"/>
          </p:cNvSpPr>
          <p:nvPr/>
        </p:nvSpPr>
        <p:spPr bwMode="auto">
          <a:xfrm>
            <a:off x="525472" y="1907882"/>
            <a:ext cx="1676400" cy="15890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dirty="0">
                <a:ea typeface="宋体" panose="02010600030101010101" pitchFamily="2" charset="-122"/>
              </a:rPr>
              <a:t>HTTP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客户端</a:t>
            </a:r>
            <a:endParaRPr kumimoji="0"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82" name="Rectangle 11"/>
          <p:cNvSpPr>
            <a:spLocks noChangeArrowheads="1"/>
          </p:cNvSpPr>
          <p:nvPr/>
        </p:nvSpPr>
        <p:spPr bwMode="auto">
          <a:xfrm>
            <a:off x="525472" y="3496970"/>
            <a:ext cx="1676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dirty="0">
                <a:ea typeface="宋体" panose="02010600030101010101" pitchFamily="2" charset="-122"/>
              </a:rPr>
              <a:t>TCP</a:t>
            </a:r>
          </a:p>
        </p:txBody>
      </p:sp>
      <p:sp>
        <p:nvSpPr>
          <p:cNvPr id="83" name="Rectangle 12"/>
          <p:cNvSpPr>
            <a:spLocks noChangeArrowheads="1"/>
          </p:cNvSpPr>
          <p:nvPr/>
        </p:nvSpPr>
        <p:spPr bwMode="auto">
          <a:xfrm>
            <a:off x="525472" y="4030370"/>
            <a:ext cx="1676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网络层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84" name="Rectangle 13"/>
          <p:cNvSpPr>
            <a:spLocks noChangeArrowheads="1"/>
          </p:cNvSpPr>
          <p:nvPr/>
        </p:nvSpPr>
        <p:spPr bwMode="auto">
          <a:xfrm>
            <a:off x="525472" y="4563770"/>
            <a:ext cx="1676400" cy="1066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接口层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85" name="Rectangle 9"/>
          <p:cNvSpPr>
            <a:spLocks noChangeArrowheads="1"/>
          </p:cNvSpPr>
          <p:nvPr/>
        </p:nvSpPr>
        <p:spPr bwMode="auto">
          <a:xfrm>
            <a:off x="6892916" y="1911057"/>
            <a:ext cx="1676400" cy="15890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dirty="0">
                <a:ea typeface="宋体" panose="02010600030101010101" pitchFamily="2" charset="-122"/>
              </a:rPr>
              <a:t>HTTP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dirty="0">
                <a:ea typeface="宋体" panose="02010600030101010101" pitchFamily="2" charset="-122"/>
              </a:rPr>
              <a:t>服务器</a:t>
            </a:r>
            <a:endParaRPr kumimoji="0"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86" name="Rectangle 11"/>
          <p:cNvSpPr>
            <a:spLocks noChangeArrowheads="1"/>
          </p:cNvSpPr>
          <p:nvPr/>
        </p:nvSpPr>
        <p:spPr bwMode="auto">
          <a:xfrm>
            <a:off x="6892916" y="3500145"/>
            <a:ext cx="1676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dirty="0">
                <a:ea typeface="宋体" panose="02010600030101010101" pitchFamily="2" charset="-122"/>
              </a:rPr>
              <a:t>TCP</a:t>
            </a:r>
          </a:p>
        </p:txBody>
      </p:sp>
      <p:sp>
        <p:nvSpPr>
          <p:cNvPr id="87" name="Rectangle 12"/>
          <p:cNvSpPr>
            <a:spLocks noChangeArrowheads="1"/>
          </p:cNvSpPr>
          <p:nvPr/>
        </p:nvSpPr>
        <p:spPr bwMode="auto">
          <a:xfrm>
            <a:off x="6892916" y="4033545"/>
            <a:ext cx="1676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网络层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88" name="Rectangle 13"/>
          <p:cNvSpPr>
            <a:spLocks noChangeArrowheads="1"/>
          </p:cNvSpPr>
          <p:nvPr/>
        </p:nvSpPr>
        <p:spPr bwMode="auto">
          <a:xfrm>
            <a:off x="6892916" y="4566945"/>
            <a:ext cx="1676400" cy="1066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接口层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89" name="Line 40"/>
          <p:cNvSpPr>
            <a:spLocks noChangeShapeType="1"/>
          </p:cNvSpPr>
          <p:nvPr/>
        </p:nvSpPr>
        <p:spPr bwMode="auto">
          <a:xfrm flipV="1">
            <a:off x="7737475" y="563057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7" name="组合 96"/>
          <p:cNvGrpSpPr/>
          <p:nvPr/>
        </p:nvGrpSpPr>
        <p:grpSpPr>
          <a:xfrm>
            <a:off x="4327651" y="4264527"/>
            <a:ext cx="433189" cy="1066800"/>
            <a:chOff x="4668856" y="4067970"/>
            <a:chExt cx="304800" cy="1066800"/>
          </a:xfrm>
        </p:grpSpPr>
        <p:sp>
          <p:nvSpPr>
            <p:cNvPr id="98" name="Line 30"/>
            <p:cNvSpPr>
              <a:spLocks noChangeShapeType="1"/>
            </p:cNvSpPr>
            <p:nvPr/>
          </p:nvSpPr>
          <p:spPr bwMode="auto">
            <a:xfrm>
              <a:off x="4668856" y="4067970"/>
              <a:ext cx="3048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31"/>
            <p:cNvSpPr>
              <a:spLocks noChangeShapeType="1"/>
            </p:cNvSpPr>
            <p:nvPr/>
          </p:nvSpPr>
          <p:spPr bwMode="auto">
            <a:xfrm>
              <a:off x="4668856" y="4601370"/>
              <a:ext cx="3048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32"/>
            <p:cNvSpPr>
              <a:spLocks noChangeShapeType="1"/>
            </p:cNvSpPr>
            <p:nvPr/>
          </p:nvSpPr>
          <p:spPr bwMode="auto">
            <a:xfrm>
              <a:off x="4668856" y="5134770"/>
              <a:ext cx="30480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8" name="Rectangle 12"/>
          <p:cNvSpPr>
            <a:spLocks noChangeArrowheads="1"/>
          </p:cNvSpPr>
          <p:nvPr/>
        </p:nvSpPr>
        <p:spPr bwMode="auto">
          <a:xfrm>
            <a:off x="2486109" y="4030370"/>
            <a:ext cx="1844633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网络层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109" name="Rectangle 13"/>
          <p:cNvSpPr>
            <a:spLocks noChangeArrowheads="1"/>
          </p:cNvSpPr>
          <p:nvPr/>
        </p:nvSpPr>
        <p:spPr bwMode="auto">
          <a:xfrm>
            <a:off x="2486110" y="4563770"/>
            <a:ext cx="928692" cy="1066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接口层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112" name="Rectangle 13"/>
          <p:cNvSpPr>
            <a:spLocks noChangeArrowheads="1"/>
          </p:cNvSpPr>
          <p:nvPr/>
        </p:nvSpPr>
        <p:spPr bwMode="auto">
          <a:xfrm>
            <a:off x="3403667" y="4563770"/>
            <a:ext cx="928692" cy="1066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接口层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113" name="Rectangle 12"/>
          <p:cNvSpPr>
            <a:spLocks noChangeArrowheads="1"/>
          </p:cNvSpPr>
          <p:nvPr/>
        </p:nvSpPr>
        <p:spPr bwMode="auto">
          <a:xfrm>
            <a:off x="4762458" y="4033546"/>
            <a:ext cx="1844633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网络层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114" name="Rectangle 13"/>
          <p:cNvSpPr>
            <a:spLocks noChangeArrowheads="1"/>
          </p:cNvSpPr>
          <p:nvPr/>
        </p:nvSpPr>
        <p:spPr bwMode="auto">
          <a:xfrm>
            <a:off x="4762459" y="4566946"/>
            <a:ext cx="928692" cy="1066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接口层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115" name="Rectangle 13"/>
          <p:cNvSpPr>
            <a:spLocks noChangeArrowheads="1"/>
          </p:cNvSpPr>
          <p:nvPr/>
        </p:nvSpPr>
        <p:spPr bwMode="auto">
          <a:xfrm>
            <a:off x="5680016" y="4566946"/>
            <a:ext cx="928692" cy="1066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接口层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116" name="Text Box 46"/>
          <p:cNvSpPr txBox="1">
            <a:spLocks noChangeArrowheads="1"/>
          </p:cNvSpPr>
          <p:nvPr/>
        </p:nvSpPr>
        <p:spPr bwMode="auto">
          <a:xfrm>
            <a:off x="5197390" y="3650900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000" dirty="0">
                <a:solidFill>
                  <a:srgbClr val="000099"/>
                </a:solidFill>
                <a:ea typeface="宋体" panose="02010600030101010101" pitchFamily="2" charset="-122"/>
              </a:rPr>
              <a:t>路由器</a:t>
            </a:r>
            <a:endParaRPr kumimoji="0" lang="en-US" altLang="zh-CN" sz="2000" dirty="0">
              <a:solidFill>
                <a:srgbClr val="000099"/>
              </a:solidFill>
              <a:ea typeface="宋体" panose="02010600030101010101" pitchFamily="2" charset="-122"/>
            </a:endParaRPr>
          </a:p>
        </p:txBody>
      </p:sp>
      <p:sp>
        <p:nvSpPr>
          <p:cNvPr id="117" name="Text Box 42"/>
          <p:cNvSpPr txBox="1">
            <a:spLocks noChangeArrowheads="1"/>
          </p:cNvSpPr>
          <p:nvPr/>
        </p:nvSpPr>
        <p:spPr bwMode="auto">
          <a:xfrm>
            <a:off x="601437" y="1425202"/>
            <a:ext cx="15178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dirty="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主机</a:t>
            </a:r>
            <a:r>
              <a:rPr kumimoji="0" lang="en-US" altLang="zh-CN" sz="2000" dirty="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18" name="Text Box 42"/>
          <p:cNvSpPr txBox="1">
            <a:spLocks noChangeArrowheads="1"/>
          </p:cNvSpPr>
          <p:nvPr/>
        </p:nvSpPr>
        <p:spPr bwMode="auto">
          <a:xfrm>
            <a:off x="6952446" y="1434652"/>
            <a:ext cx="15178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Gulim" pitchFamily="34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dirty="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主机</a:t>
            </a:r>
            <a:r>
              <a:rPr kumimoji="0" lang="en-US" altLang="zh-CN" sz="2000" dirty="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20" name="矩形 119"/>
          <p:cNvSpPr/>
          <p:nvPr/>
        </p:nvSpPr>
        <p:spPr bwMode="auto">
          <a:xfrm>
            <a:off x="496766" y="3506494"/>
            <a:ext cx="8094958" cy="2151035"/>
          </a:xfrm>
          <a:prstGeom prst="rect">
            <a:avLst/>
          </a:prstGeom>
          <a:solidFill>
            <a:schemeClr val="accent1">
              <a:lumMod val="60000"/>
              <a:lumOff val="40000"/>
              <a:alpha val="32000"/>
            </a:schemeClr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ctr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SzTx/>
              <a:buFont typeface="Symbol" panose="05050102010706020507" pitchFamily="18" charset="2"/>
              <a:buBlip>
                <a:blip r:embed="rId3"/>
              </a:buBlip>
            </a:pPr>
            <a:endParaRPr kumimoji="1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677342" y="3443005"/>
            <a:ext cx="222250" cy="11429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ctr" defTabSz="914400" rtl="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SzTx/>
              <a:buFont typeface="Symbol" panose="05050102010706020507" pitchFamily="18" charset="2"/>
              <a:buBlip>
                <a:blip r:embed="rId3"/>
              </a:buBlip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422827" y="3440816"/>
            <a:ext cx="222250" cy="11429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 algn="ctr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Blip>
                <a:blip r:embed="rId3"/>
              </a:buBlip>
            </a:pP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800671" y="3438243"/>
            <a:ext cx="222250" cy="11429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 algn="ctr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Blip>
                <a:blip r:embed="rId3"/>
              </a:buBlip>
            </a:pP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052940" y="3438243"/>
            <a:ext cx="222250" cy="11429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 algn="ctr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Blip>
                <a:blip r:embed="rId3"/>
              </a:buBlip>
            </a:pP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066875" y="3441027"/>
            <a:ext cx="222250" cy="11429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 algn="ctr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Blip>
                <a:blip r:embed="rId3"/>
              </a:buBlip>
            </a:pP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812360" y="3438838"/>
            <a:ext cx="222250" cy="11429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 algn="ctr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Blip>
                <a:blip r:embed="rId3"/>
              </a:buBlip>
            </a:pP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8190204" y="3436265"/>
            <a:ext cx="222250" cy="11429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 algn="ctr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Blip>
                <a:blip r:embed="rId3"/>
              </a:buBlip>
            </a:pP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7442473" y="3436265"/>
            <a:ext cx="222250" cy="11429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indent="-342900" algn="ctr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Blip>
                <a:blip r:embed="rId3"/>
              </a:buBlip>
            </a:pP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2"/>
          <p:cNvSpPr txBox="1">
            <a:spLocks noChangeArrowheads="1"/>
          </p:cNvSpPr>
          <p:nvPr/>
        </p:nvSpPr>
        <p:spPr>
          <a:xfrm>
            <a:off x="323850" y="609600"/>
            <a:ext cx="8210550" cy="803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Web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客户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服务器模型（续）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09112" y="1308263"/>
            <a:ext cx="7998114" cy="2045554"/>
            <a:chOff x="323850" y="1455028"/>
            <a:chExt cx="8534400" cy="2114267"/>
          </a:xfrm>
        </p:grpSpPr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7759168" y="2142058"/>
              <a:ext cx="1014399" cy="9836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spcBef>
                  <a:spcPct val="20000"/>
                </a:spcBef>
                <a:buFont typeface="Times New Roman" panose="02020603050405020304" pitchFamily="18" charset="0"/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spcBef>
                  <a:spcPct val="20000"/>
                </a:spcBef>
                <a:buFont typeface="Times New Roman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en-US" altLang="zh-CN" sz="2000" dirty="0">
                <a:ea typeface="宋体" panose="02010600030101010101" pitchFamily="2" charset="-122"/>
              </a:endParaRPr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7691924" y="2204767"/>
              <a:ext cx="1014399" cy="9836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spcBef>
                  <a:spcPct val="20000"/>
                </a:spcBef>
                <a:buFont typeface="Times New Roman" panose="02020603050405020304" pitchFamily="18" charset="0"/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spcBef>
                  <a:spcPct val="20000"/>
                </a:spcBef>
                <a:buFont typeface="Times New Roman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en-US" altLang="zh-CN" sz="2000" dirty="0">
                <a:ea typeface="宋体" panose="02010600030101010101" pitchFamily="2" charset="-122"/>
              </a:endParaRPr>
            </a:p>
          </p:txBody>
        </p:sp>
        <p:sp>
          <p:nvSpPr>
            <p:cNvPr id="53" name="Line 24"/>
            <p:cNvSpPr>
              <a:spLocks noChangeShapeType="1"/>
            </p:cNvSpPr>
            <p:nvPr/>
          </p:nvSpPr>
          <p:spPr bwMode="auto">
            <a:xfrm>
              <a:off x="3309268" y="2627539"/>
              <a:ext cx="2416112" cy="0"/>
            </a:xfrm>
            <a:prstGeom prst="line">
              <a:avLst/>
            </a:prstGeom>
            <a:noFill/>
            <a:ln w="19050">
              <a:solidFill>
                <a:srgbClr val="00B0F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 Box 42"/>
            <p:cNvSpPr txBox="1">
              <a:spLocks noChangeArrowheads="1"/>
            </p:cNvSpPr>
            <p:nvPr/>
          </p:nvSpPr>
          <p:spPr bwMode="auto">
            <a:xfrm>
              <a:off x="3794060" y="2273895"/>
              <a:ext cx="1326004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>
                <a:spcBef>
                  <a:spcPct val="0"/>
                </a:spcBef>
                <a:buFontTx/>
                <a:buNone/>
                <a:defRPr kumimoji="0" sz="2000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sz="2800"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spcBef>
                  <a:spcPct val="20000"/>
                </a:spcBef>
                <a:buFont typeface="Times New Roman" panose="02020603050405020304" pitchFamily="18" charset="0"/>
                <a:buChar char="–"/>
                <a:defRPr sz="2400"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spcBef>
                  <a:spcPct val="20000"/>
                </a:spcBef>
                <a:buFont typeface="Times New Roman" panose="02020603050405020304" pitchFamily="18" charset="0"/>
                <a:buChar char="•"/>
                <a:defRPr sz="2000"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r>
                <a:rPr lang="en-US" altLang="zh-CN" dirty="0"/>
                <a:t>HTTP</a:t>
              </a:r>
              <a:r>
                <a:rPr lang="zh-CN" altLang="en-US" dirty="0"/>
                <a:t>请求</a:t>
              </a:r>
              <a:endParaRPr lang="en-US" altLang="zh-CN" dirty="0"/>
            </a:p>
          </p:txBody>
        </p:sp>
        <p:sp>
          <p:nvSpPr>
            <p:cNvPr id="81" name="Rectangle 9"/>
            <p:cNvSpPr>
              <a:spLocks noChangeArrowheads="1"/>
            </p:cNvSpPr>
            <p:nvPr/>
          </p:nvSpPr>
          <p:spPr bwMode="auto">
            <a:xfrm>
              <a:off x="1889456" y="2063209"/>
              <a:ext cx="1419812" cy="14050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spcBef>
                  <a:spcPct val="20000"/>
                </a:spcBef>
                <a:buFont typeface="Times New Roman" panose="02020603050405020304" pitchFamily="18" charset="0"/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spcBef>
                  <a:spcPct val="20000"/>
                </a:spcBef>
                <a:buFont typeface="Times New Roman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000" dirty="0">
                  <a:ea typeface="宋体" panose="02010600030101010101" pitchFamily="2" charset="-122"/>
                </a:rPr>
                <a:t>HTTP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ea typeface="宋体" panose="02010600030101010101" pitchFamily="2" charset="-122"/>
                </a:rPr>
                <a:t>客户端</a:t>
              </a:r>
              <a:endParaRPr kumimoji="0" lang="en-US" altLang="zh-CN" sz="2000" dirty="0">
                <a:ea typeface="宋体" panose="02010600030101010101" pitchFamily="2" charset="-122"/>
              </a:endParaRPr>
            </a:p>
          </p:txBody>
        </p:sp>
        <p:sp>
          <p:nvSpPr>
            <p:cNvPr id="85" name="Rectangle 9"/>
            <p:cNvSpPr>
              <a:spLocks noChangeArrowheads="1"/>
            </p:cNvSpPr>
            <p:nvPr/>
          </p:nvSpPr>
          <p:spPr bwMode="auto">
            <a:xfrm>
              <a:off x="5729710" y="2063210"/>
              <a:ext cx="1419812" cy="14050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spcBef>
                  <a:spcPct val="20000"/>
                </a:spcBef>
                <a:buFont typeface="Times New Roman" panose="02020603050405020304" pitchFamily="18" charset="0"/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spcBef>
                  <a:spcPct val="20000"/>
                </a:spcBef>
                <a:buFont typeface="Times New Roman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000" dirty="0">
                  <a:ea typeface="宋体" panose="02010600030101010101" pitchFamily="2" charset="-122"/>
                </a:rPr>
                <a:t>HTTP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000" dirty="0">
                  <a:ea typeface="宋体" panose="02010600030101010101" pitchFamily="2" charset="-122"/>
                </a:rPr>
                <a:t>服务器</a:t>
              </a:r>
              <a:endParaRPr kumimoji="0" lang="en-US" altLang="zh-CN" sz="2000" dirty="0">
                <a:ea typeface="宋体" panose="02010600030101010101" pitchFamily="2" charset="-122"/>
              </a:endParaRPr>
            </a:p>
          </p:txBody>
        </p:sp>
        <p:sp>
          <p:nvSpPr>
            <p:cNvPr id="2" name="Line 24"/>
            <p:cNvSpPr>
              <a:spLocks noChangeShapeType="1"/>
            </p:cNvSpPr>
            <p:nvPr/>
          </p:nvSpPr>
          <p:spPr bwMode="auto">
            <a:xfrm flipH="1" flipV="1">
              <a:off x="3309268" y="2886512"/>
              <a:ext cx="2416112" cy="0"/>
            </a:xfrm>
            <a:prstGeom prst="line">
              <a:avLst/>
            </a:prstGeom>
            <a:noFill/>
            <a:ln w="19050">
              <a:solidFill>
                <a:srgbClr val="00B0F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Box 42"/>
            <p:cNvSpPr txBox="1">
              <a:spLocks noChangeArrowheads="1"/>
            </p:cNvSpPr>
            <p:nvPr/>
          </p:nvSpPr>
          <p:spPr bwMode="auto">
            <a:xfrm>
              <a:off x="3769996" y="2853333"/>
              <a:ext cx="1326004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spcBef>
                  <a:spcPct val="20000"/>
                </a:spcBef>
                <a:buFont typeface="Times New Roman" panose="02020603050405020304" pitchFamily="18" charset="0"/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spcBef>
                  <a:spcPct val="20000"/>
                </a:spcBef>
                <a:buFont typeface="Times New Roman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000" i="1" dirty="0">
                  <a:solidFill>
                    <a:srgbClr val="FF0000"/>
                  </a:solidFill>
                  <a:ea typeface="宋体" panose="02010600030101010101" pitchFamily="2" charset="-122"/>
                </a:rPr>
                <a:t>HTTP</a:t>
              </a:r>
              <a:r>
                <a:rPr kumimoji="0" lang="zh-CN" altLang="en-US" sz="2000" i="1" dirty="0">
                  <a:solidFill>
                    <a:srgbClr val="FF0000"/>
                  </a:solidFill>
                  <a:ea typeface="宋体" panose="02010600030101010101" pitchFamily="2" charset="-122"/>
                </a:rPr>
                <a:t>响应</a:t>
              </a:r>
              <a:endParaRPr kumimoji="0" lang="en-US" altLang="zh-CN" sz="2000" i="1" dirty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408533" y="2273895"/>
              <a:ext cx="1014399" cy="9836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spcBef>
                  <a:spcPct val="20000"/>
                </a:spcBef>
                <a:buFont typeface="Times New Roman" panose="02020603050405020304" pitchFamily="18" charset="0"/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spcBef>
                  <a:spcPct val="20000"/>
                </a:spcBef>
                <a:buFont typeface="Times New Roman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000" dirty="0">
                  <a:ea typeface="宋体" panose="02010600030101010101" pitchFamily="2" charset="-122"/>
                </a:rPr>
                <a:t>HTML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ea typeface="宋体" panose="02010600030101010101" pitchFamily="2" charset="-122"/>
                </a:rPr>
                <a:t>解释器</a:t>
              </a:r>
              <a:endParaRPr kumimoji="0" lang="en-US" altLang="zh-CN" sz="2000" dirty="0">
                <a:ea typeface="宋体" panose="02010600030101010101" pitchFamily="2" charset="-122"/>
              </a:endParaRPr>
            </a:p>
          </p:txBody>
        </p:sp>
        <p:sp>
          <p:nvSpPr>
            <p:cNvPr id="13" name="箭头: 左右 12"/>
            <p:cNvSpPr/>
            <p:nvPr/>
          </p:nvSpPr>
          <p:spPr>
            <a:xfrm>
              <a:off x="1425574" y="2678132"/>
              <a:ext cx="449966" cy="175201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7620150" y="2283131"/>
              <a:ext cx="1014399" cy="9836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spcBef>
                  <a:spcPct val="20000"/>
                </a:spcBef>
                <a:buFont typeface="Times New Roman" panose="02020603050405020304" pitchFamily="18" charset="0"/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spcBef>
                  <a:spcPct val="20000"/>
                </a:spcBef>
                <a:buFont typeface="Times New Roman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000" dirty="0">
                  <a:ea typeface="宋体" panose="02010600030101010101" pitchFamily="2" charset="-122"/>
                </a:rPr>
                <a:t>HTML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ea typeface="宋体" panose="02010600030101010101" pitchFamily="2" charset="-122"/>
                </a:rPr>
                <a:t>文档</a:t>
              </a:r>
              <a:endParaRPr kumimoji="0" lang="en-US" altLang="zh-CN" sz="2000" dirty="0">
                <a:ea typeface="宋体" panose="02010600030101010101" pitchFamily="2" charset="-122"/>
              </a:endParaRPr>
            </a:p>
          </p:txBody>
        </p:sp>
        <p:sp>
          <p:nvSpPr>
            <p:cNvPr id="15" name="箭头: 左右 14"/>
            <p:cNvSpPr/>
            <p:nvPr/>
          </p:nvSpPr>
          <p:spPr>
            <a:xfrm>
              <a:off x="7149522" y="2678132"/>
              <a:ext cx="449966" cy="175201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323850" y="1976584"/>
              <a:ext cx="3057239" cy="1588655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ext Box 42"/>
            <p:cNvSpPr txBox="1">
              <a:spLocks noChangeArrowheads="1"/>
            </p:cNvSpPr>
            <p:nvPr/>
          </p:nvSpPr>
          <p:spPr bwMode="auto">
            <a:xfrm>
              <a:off x="999178" y="1455028"/>
              <a:ext cx="15178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spcBef>
                  <a:spcPct val="20000"/>
                </a:spcBef>
                <a:buFont typeface="Times New Roman" panose="02020603050405020304" pitchFamily="18" charset="0"/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spcBef>
                  <a:spcPct val="20000"/>
                </a:spcBef>
                <a:buFont typeface="Times New Roman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000" dirty="0">
                  <a:solidFill>
                    <a:schemeClr val="accent1">
                      <a:lumMod val="75000"/>
                    </a:schemeClr>
                  </a:solidFill>
                  <a:ea typeface="宋体" panose="02010600030101010101" pitchFamily="2" charset="-122"/>
                </a:rPr>
                <a:t>浏览器</a:t>
              </a:r>
              <a:endParaRPr kumimoji="0" lang="en-US" altLang="zh-CN" sz="2000" dirty="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0" name="Text Box 42"/>
            <p:cNvSpPr txBox="1">
              <a:spLocks noChangeArrowheads="1"/>
            </p:cNvSpPr>
            <p:nvPr/>
          </p:nvSpPr>
          <p:spPr bwMode="auto">
            <a:xfrm>
              <a:off x="6494729" y="1473124"/>
              <a:ext cx="15178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2pPr>
              <a:lvl3pPr marL="1143000" indent="-228600">
                <a:spcBef>
                  <a:spcPct val="20000"/>
                </a:spcBef>
                <a:buFont typeface="Times New Roman" panose="02020603050405020304" pitchFamily="18" charset="0"/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3pPr>
              <a:lvl4pPr marL="1600200" indent="-228600">
                <a:spcBef>
                  <a:spcPct val="20000"/>
                </a:spcBef>
                <a:buFont typeface="Times New Roman" panose="02020603050405020304" pitchFamily="18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Gulim" pitchFamily="34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000" dirty="0">
                  <a:solidFill>
                    <a:schemeClr val="accent1">
                      <a:lumMod val="75000"/>
                    </a:schemeClr>
                  </a:solidFill>
                  <a:ea typeface="宋体" panose="02010600030101010101" pitchFamily="2" charset="-122"/>
                </a:rPr>
                <a:t>Web</a:t>
              </a:r>
              <a:r>
                <a:rPr lang="zh-CN" altLang="en-US" sz="2000" dirty="0">
                  <a:solidFill>
                    <a:schemeClr val="accent1">
                      <a:lumMod val="75000"/>
                    </a:schemeClr>
                  </a:solidFill>
                  <a:ea typeface="宋体" panose="02010600030101010101" pitchFamily="2" charset="-122"/>
                </a:rPr>
                <a:t>服务器</a:t>
              </a:r>
              <a:endParaRPr kumimoji="0" lang="en-US" altLang="zh-CN" sz="2000" dirty="0">
                <a:solidFill>
                  <a:schemeClr val="accent1">
                    <a:lumMod val="75000"/>
                  </a:schemeClr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5649084" y="1980640"/>
              <a:ext cx="3209166" cy="1588655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323850" y="3535532"/>
            <a:ext cx="8515350" cy="2855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>
              <a:spcBef>
                <a:spcPct val="20000"/>
              </a:spcBef>
              <a:buBlip>
                <a:blip r:embed="rId3"/>
              </a:buBlip>
              <a:tabLst>
                <a:tab pos="715645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11530" indent="-266700">
              <a:spcBef>
                <a:spcPct val="20000"/>
              </a:spcBef>
              <a:buBlip>
                <a:blip r:embed="rId5"/>
              </a:buBlip>
              <a:tabLst>
                <a:tab pos="71564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9pPr>
          </a:lstStyle>
          <a:p>
            <a:pPr marL="268605" indent="-268605">
              <a:lnSpc>
                <a:spcPts val="2600"/>
              </a:lnSpc>
              <a:spcBef>
                <a:spcPts val="600"/>
              </a:spcBef>
            </a:pPr>
            <a:r>
              <a:rPr lang="zh-CN" altLang="en-US" sz="2200" dirty="0">
                <a:cs typeface="Times New Roman" panose="02020603050405020304" pitchFamily="18" charset="0"/>
                <a:sym typeface="Symbol" panose="05050102010706020507" pitchFamily="18" charset="2"/>
              </a:rPr>
              <a:t>服务器</a:t>
            </a:r>
            <a:endParaRPr kumimoji="0" lang="en-US" altLang="zh-CN" sz="2200" dirty="0">
              <a:cs typeface="Times New Roman" panose="02020603050405020304" pitchFamily="18" charset="0"/>
            </a:endParaRPr>
          </a:p>
          <a:p>
            <a:pPr marL="628650" lvl="1" indent="-268605">
              <a:lnSpc>
                <a:spcPts val="2600"/>
              </a:lnSpc>
              <a:spcBef>
                <a:spcPts val="600"/>
              </a:spcBef>
              <a:buFont typeface="Symbol" panose="05050102010706020507" pitchFamily="18" charset="2"/>
              <a:buBlip>
                <a:blip r:embed="rId5"/>
              </a:buBlip>
            </a:pPr>
            <a:r>
              <a:rPr kumimoji="0" lang="en-US" altLang="zh-CN" sz="1800" dirty="0">
                <a:cs typeface="Times New Roman" panose="02020603050405020304" pitchFamily="18" charset="0"/>
              </a:rPr>
              <a:t>Web</a:t>
            </a:r>
            <a:r>
              <a:rPr kumimoji="0" lang="zh-CN" altLang="en-US" sz="1800" dirty="0">
                <a:cs typeface="Times New Roman" panose="02020603050405020304" pitchFamily="18" charset="0"/>
              </a:rPr>
              <a:t>页面（</a:t>
            </a:r>
            <a:r>
              <a:rPr kumimoji="0" lang="en-US" altLang="zh-CN" sz="1800" dirty="0">
                <a:cs typeface="Times New Roman" panose="02020603050405020304" pitchFamily="18" charset="0"/>
              </a:rPr>
              <a:t>HTML</a:t>
            </a:r>
            <a:r>
              <a:rPr kumimoji="0" lang="zh-CN" altLang="en-US" sz="1800" dirty="0">
                <a:cs typeface="Times New Roman" panose="02020603050405020304" pitchFamily="18" charset="0"/>
              </a:rPr>
              <a:t>文档）：包含到多种对象的链接</a:t>
            </a:r>
            <a:endParaRPr kumimoji="0" lang="en-US" altLang="zh-CN" sz="1800" dirty="0">
              <a:cs typeface="Times New Roman" panose="02020603050405020304" pitchFamily="18" charset="0"/>
            </a:endParaRPr>
          </a:p>
          <a:p>
            <a:pPr marL="628650" lvl="1" indent="-268605">
              <a:lnSpc>
                <a:spcPts val="2600"/>
              </a:lnSpc>
              <a:spcBef>
                <a:spcPts val="600"/>
              </a:spcBef>
              <a:buFont typeface="Symbol" panose="05050102010706020507" pitchFamily="18" charset="2"/>
              <a:buBlip>
                <a:blip r:embed="rId5"/>
              </a:buBlip>
            </a:pPr>
            <a:r>
              <a:rPr lang="zh-CN" altLang="en-US" sz="1800" dirty="0">
                <a:cs typeface="Times New Roman" panose="02020603050405020304" pitchFamily="18" charset="0"/>
              </a:rPr>
              <a:t>对象：可以是</a:t>
            </a:r>
            <a:r>
              <a:rPr lang="en-US" altLang="zh-CN" sz="2000" dirty="0">
                <a:latin typeface="Gill Sans MT" panose="020B0502020104020203" pitchFamily="34" charset="0"/>
                <a:ea typeface="MS PGothic" panose="020B0600070205080204" pitchFamily="34" charset="-128"/>
              </a:rPr>
              <a:t> </a:t>
            </a:r>
            <a:r>
              <a:rPr lang="en-US" altLang="zh-CN" sz="1800" dirty="0">
                <a:cs typeface="Times New Roman" panose="02020603050405020304" pitchFamily="18" charset="0"/>
              </a:rPr>
              <a:t>HTML</a:t>
            </a:r>
            <a:r>
              <a:rPr lang="zh-CN" altLang="en-US" sz="1800" dirty="0">
                <a:cs typeface="Times New Roman" panose="02020603050405020304" pitchFamily="18" charset="0"/>
              </a:rPr>
              <a:t>文档、</a:t>
            </a:r>
            <a:r>
              <a:rPr lang="en-US" altLang="zh-CN" sz="1800" dirty="0"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cs typeface="Times New Roman" panose="02020603050405020304" pitchFamily="18" charset="0"/>
              </a:rPr>
              <a:t>图像文件、视频文件、声音文件、脚本文件等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628650" lvl="1" indent="-268605">
              <a:lnSpc>
                <a:spcPts val="2600"/>
              </a:lnSpc>
              <a:spcBef>
                <a:spcPts val="600"/>
              </a:spcBef>
              <a:buFont typeface="Symbol" panose="05050102010706020507" pitchFamily="18" charset="2"/>
              <a:buBlip>
                <a:blip r:embed="rId5"/>
              </a:buBlip>
            </a:pPr>
            <a:r>
              <a:rPr kumimoji="0" lang="zh-CN" altLang="en-US" sz="1800" dirty="0">
                <a:cs typeface="Times New Roman" panose="02020603050405020304" pitchFamily="18" charset="0"/>
              </a:rPr>
              <a:t>对象用</a:t>
            </a:r>
            <a:r>
              <a:rPr kumimoji="0" lang="en-US" altLang="zh-CN" sz="1800" dirty="0">
                <a:cs typeface="Times New Roman" panose="02020603050405020304" pitchFamily="18" charset="0"/>
              </a:rPr>
              <a:t>URL</a:t>
            </a:r>
            <a:r>
              <a:rPr kumimoji="0" lang="zh-CN" altLang="en-US" sz="1800" dirty="0">
                <a:cs typeface="Times New Roman" panose="02020603050405020304" pitchFamily="18" charset="0"/>
              </a:rPr>
              <a:t>（统一资源定位符）</a:t>
            </a:r>
            <a:r>
              <a:rPr lang="zh-CN" altLang="en-US" sz="1800" dirty="0">
                <a:cs typeface="Times New Roman" panose="02020603050405020304" pitchFamily="18" charset="0"/>
              </a:rPr>
              <a:t>编址</a:t>
            </a:r>
            <a:r>
              <a:rPr kumimoji="0" lang="zh-CN" altLang="en-US" sz="1800" dirty="0">
                <a:cs typeface="Times New Roman" panose="02020603050405020304" pitchFamily="18" charset="0"/>
              </a:rPr>
              <a:t>：</a:t>
            </a:r>
            <a:r>
              <a:rPr kumimoji="0" lang="zh-CN" altLang="en-US" sz="1800" b="1" dirty="0">
                <a:solidFill>
                  <a:srgbClr val="C00000"/>
                </a:solidFill>
                <a:cs typeface="Times New Roman" panose="02020603050405020304" pitchFamily="18" charset="0"/>
              </a:rPr>
              <a:t>协议类型</a:t>
            </a:r>
            <a:r>
              <a:rPr kumimoji="0" lang="en-US" altLang="zh-CN" sz="1800" b="1" dirty="0">
                <a:solidFill>
                  <a:srgbClr val="C00000"/>
                </a:solidFill>
                <a:cs typeface="Times New Roman" panose="02020603050405020304" pitchFamily="18" charset="0"/>
              </a:rPr>
              <a:t>://</a:t>
            </a:r>
            <a:r>
              <a:rPr kumimoji="0" lang="zh-CN" altLang="en-US" sz="1800" b="1" dirty="0">
                <a:solidFill>
                  <a:srgbClr val="C00000"/>
                </a:solidFill>
                <a:cs typeface="Times New Roman" panose="02020603050405020304" pitchFamily="18" charset="0"/>
              </a:rPr>
              <a:t>主机名</a:t>
            </a:r>
            <a:r>
              <a:rPr kumimoji="0" lang="en-US" altLang="zh-CN" sz="1800" b="1" dirty="0">
                <a:solidFill>
                  <a:srgbClr val="C00000"/>
                </a:solidFill>
                <a:cs typeface="Times New Roman" panose="02020603050405020304" pitchFamily="18" charset="0"/>
              </a:rPr>
              <a:t>//</a:t>
            </a:r>
            <a:r>
              <a:rPr kumimoji="0" lang="zh-CN" altLang="en-US" sz="1800" b="1" dirty="0">
                <a:solidFill>
                  <a:srgbClr val="C00000"/>
                </a:solidFill>
                <a:cs typeface="Times New Roman" panose="02020603050405020304" pitchFamily="18" charset="0"/>
              </a:rPr>
              <a:t>路径和文件名</a:t>
            </a:r>
            <a:endParaRPr kumimoji="0" lang="en-US" altLang="zh-CN" sz="1800" b="1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pPr marL="268605" indent="-268605">
              <a:lnSpc>
                <a:spcPts val="2600"/>
              </a:lnSpc>
              <a:spcBef>
                <a:spcPts val="600"/>
              </a:spcBef>
            </a:pPr>
            <a:r>
              <a:rPr lang="zh-CN" altLang="en-US" sz="2200" dirty="0">
                <a:cs typeface="Times New Roman" panose="02020603050405020304" pitchFamily="18" charset="0"/>
                <a:sym typeface="Symbol" panose="05050102010706020507" pitchFamily="18" charset="2"/>
              </a:rPr>
              <a:t>客户端</a:t>
            </a:r>
            <a:endParaRPr kumimoji="0" lang="en-US" altLang="zh-CN" sz="2200" dirty="0">
              <a:cs typeface="Times New Roman" panose="02020603050405020304" pitchFamily="18" charset="0"/>
            </a:endParaRPr>
          </a:p>
          <a:p>
            <a:pPr marL="628650" lvl="1" indent="-268605">
              <a:lnSpc>
                <a:spcPts val="2600"/>
              </a:lnSpc>
              <a:spcBef>
                <a:spcPts val="600"/>
              </a:spcBef>
              <a:buFont typeface="Symbol" panose="05050102010706020507" pitchFamily="18" charset="2"/>
              <a:buBlip>
                <a:blip r:embed="rId5"/>
              </a:buBlip>
            </a:pPr>
            <a:r>
              <a:rPr kumimoji="0" lang="zh-CN" altLang="en-US" sz="1800" dirty="0">
                <a:cs typeface="Times New Roman" panose="02020603050405020304" pitchFamily="18" charset="0"/>
              </a:rPr>
              <a:t>发出请求、接收响应、解释</a:t>
            </a:r>
            <a:r>
              <a:rPr kumimoji="0" lang="en-US" altLang="zh-CN" sz="1800" dirty="0">
                <a:cs typeface="Times New Roman" panose="02020603050405020304" pitchFamily="18" charset="0"/>
              </a:rPr>
              <a:t>HTML</a:t>
            </a:r>
            <a:r>
              <a:rPr kumimoji="0" lang="zh-CN" altLang="en-US" sz="1800" dirty="0">
                <a:cs typeface="Times New Roman" panose="02020603050405020304" pitchFamily="18" charset="0"/>
              </a:rPr>
              <a:t>文档并显示</a:t>
            </a:r>
            <a:r>
              <a:rPr lang="zh-CN" altLang="en-US" sz="1800" dirty="0">
                <a:cs typeface="Times New Roman" panose="02020603050405020304" pitchFamily="18" charset="0"/>
              </a:rPr>
              <a:t>；</a:t>
            </a:r>
            <a:endParaRPr kumimoji="0" lang="en-US" altLang="zh-CN" sz="1800" dirty="0">
              <a:cs typeface="Times New Roman" panose="02020603050405020304" pitchFamily="18" charset="0"/>
            </a:endParaRPr>
          </a:p>
          <a:p>
            <a:pPr marL="628650" lvl="1" indent="-268605">
              <a:lnSpc>
                <a:spcPts val="2600"/>
              </a:lnSpc>
              <a:spcBef>
                <a:spcPts val="600"/>
              </a:spcBef>
              <a:buFont typeface="Symbol" panose="05050102010706020507" pitchFamily="18" charset="2"/>
              <a:buBlip>
                <a:blip r:embed="rId5"/>
              </a:buBlip>
            </a:pPr>
            <a:r>
              <a:rPr kumimoji="0" lang="zh-CN" altLang="en-US" sz="1800" dirty="0">
                <a:cs typeface="Times New Roman" panose="02020603050405020304" pitchFamily="18" charset="0"/>
              </a:rPr>
              <a:t>有些对象需要浏览器安装插件</a:t>
            </a:r>
            <a:endParaRPr kumimoji="0" lang="en-US" altLang="zh-CN" sz="1800" dirty="0"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Copyright © Xu Jingdong, All right reserved</a:t>
            </a:r>
            <a:endParaRPr lang="ko-KR" altLang="en-US"/>
          </a:p>
        </p:txBody>
      </p:sp>
      <p:sp>
        <p:nvSpPr>
          <p:cNvPr id="140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439150" cy="802943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81000" y="1337946"/>
            <a:ext cx="8263963" cy="5192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>
              <a:spcBef>
                <a:spcPct val="20000"/>
              </a:spcBef>
              <a:buBlip>
                <a:blip r:embed="rId3"/>
              </a:buBlip>
              <a:tabLst>
                <a:tab pos="715645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11530" indent="-266700">
              <a:spcBef>
                <a:spcPct val="20000"/>
              </a:spcBef>
              <a:buBlip>
                <a:blip r:embed="rId4"/>
              </a:buBlip>
              <a:tabLst>
                <a:tab pos="71564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9pPr>
          </a:lstStyle>
          <a:p>
            <a:pPr marL="268605" indent="-268605">
              <a:lnSpc>
                <a:spcPts val="3500"/>
              </a:lnSpc>
              <a:spcBef>
                <a:spcPts val="600"/>
              </a:spcBef>
            </a:pPr>
            <a:r>
              <a:rPr lang="en-US" altLang="zh-CN" sz="2400" dirty="0">
                <a:cs typeface="Times New Roman" panose="02020603050405020304" pitchFamily="18" charset="0"/>
                <a:sym typeface="Symbol" panose="05050102010706020507" pitchFamily="18" charset="2"/>
              </a:rPr>
              <a:t>HTTP</a:t>
            </a:r>
            <a:r>
              <a:rPr lang="zh-CN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cs typeface="Times New Roman" panose="02020603050405020304" pitchFamily="18" charset="0"/>
              </a:rPr>
              <a:t>HyperText</a:t>
            </a:r>
            <a:r>
              <a:rPr lang="en-US" altLang="zh-CN" sz="2400" dirty="0">
                <a:cs typeface="Times New Roman" panose="02020603050405020304" pitchFamily="18" charset="0"/>
              </a:rPr>
              <a:t> Transfer Protocol</a:t>
            </a:r>
            <a:r>
              <a:rPr lang="zh-CN" altLang="en-US" sz="2400" dirty="0">
                <a:cs typeface="Times New Roman" panose="02020603050405020304" pitchFamily="18" charset="0"/>
              </a:rPr>
              <a:t>）</a:t>
            </a:r>
            <a:endParaRPr kumimoji="0" lang="en-US" altLang="zh-CN" sz="2400" dirty="0">
              <a:cs typeface="Times New Roman" panose="02020603050405020304" pitchFamily="18" charset="0"/>
            </a:endParaRPr>
          </a:p>
          <a:p>
            <a:pPr marL="628650" lvl="1" indent="-268605">
              <a:lnSpc>
                <a:spcPts val="3500"/>
              </a:lnSpc>
              <a:spcBef>
                <a:spcPts val="600"/>
              </a:spcBef>
              <a:buFont typeface="Symbol" panose="05050102010706020507" pitchFamily="18" charset="2"/>
              <a:buBlip>
                <a:blip r:embed="rId4"/>
              </a:buBlip>
            </a:pPr>
            <a:r>
              <a:rPr kumimoji="0" lang="zh-CN" altLang="en-US" sz="2000" dirty="0">
                <a:cs typeface="Times New Roman" panose="02020603050405020304" pitchFamily="18" charset="0"/>
              </a:rPr>
              <a:t>传输层通常使用</a:t>
            </a:r>
            <a:r>
              <a:rPr kumimoji="0" lang="en-US" altLang="zh-CN" sz="2000" dirty="0">
                <a:cs typeface="Times New Roman" panose="02020603050405020304" pitchFamily="18" charset="0"/>
              </a:rPr>
              <a:t>TCP</a:t>
            </a:r>
            <a:r>
              <a:rPr kumimoji="0" lang="zh-CN" altLang="en-US" sz="2000" dirty="0">
                <a:cs typeface="Times New Roman" panose="02020603050405020304" pitchFamily="18" charset="0"/>
              </a:rPr>
              <a:t>协议，缺省使用</a:t>
            </a:r>
            <a:r>
              <a:rPr kumimoji="0" lang="en-US" altLang="zh-CN" sz="2000" dirty="0">
                <a:cs typeface="Times New Roman" panose="02020603050405020304" pitchFamily="18" charset="0"/>
              </a:rPr>
              <a:t>TCP</a:t>
            </a:r>
            <a:r>
              <a:rPr kumimoji="0" lang="zh-CN" altLang="en-US" sz="2000" dirty="0">
                <a:cs typeface="Times New Roman" panose="02020603050405020304" pitchFamily="18" charset="0"/>
              </a:rPr>
              <a:t>的</a:t>
            </a:r>
            <a:r>
              <a:rPr kumimoji="0" lang="en-US" altLang="zh-CN" sz="2000" dirty="0">
                <a:cs typeface="Times New Roman" panose="02020603050405020304" pitchFamily="18" charset="0"/>
              </a:rPr>
              <a:t>80</a:t>
            </a:r>
            <a:r>
              <a:rPr kumimoji="0" lang="zh-CN" altLang="en-US" sz="2000" dirty="0">
                <a:cs typeface="Times New Roman" panose="02020603050405020304" pitchFamily="18" charset="0"/>
              </a:rPr>
              <a:t>端口</a:t>
            </a:r>
            <a:endParaRPr kumimoji="0" lang="en-US" altLang="zh-CN" sz="2000" dirty="0">
              <a:cs typeface="Times New Roman" panose="02020603050405020304" pitchFamily="18" charset="0"/>
            </a:endParaRPr>
          </a:p>
          <a:p>
            <a:pPr marL="628650" lvl="1" indent="-268605">
              <a:lnSpc>
                <a:spcPts val="3500"/>
              </a:lnSpc>
              <a:spcBef>
                <a:spcPts val="600"/>
              </a:spcBef>
              <a:buFont typeface="Symbol" panose="05050102010706020507" pitchFamily="18" charset="2"/>
              <a:buBlip>
                <a:blip r:embed="rId4"/>
              </a:buBlip>
            </a:pPr>
            <a:r>
              <a:rPr kumimoji="0" lang="en-US" altLang="zh-CN" sz="2000" dirty="0">
                <a:cs typeface="Times New Roman" panose="02020603050405020304" pitchFamily="18" charset="0"/>
              </a:rPr>
              <a:t>HTTP</a:t>
            </a:r>
            <a:r>
              <a:rPr kumimoji="0" lang="zh-CN" altLang="en-US" sz="2000" dirty="0">
                <a:cs typeface="Times New Roman" panose="02020603050405020304" pitchFamily="18" charset="0"/>
              </a:rPr>
              <a:t>为无状态协议，服务器端不保留</a:t>
            </a:r>
            <a:r>
              <a:rPr lang="zh-CN" altLang="en-US" sz="2000" dirty="0">
                <a:cs typeface="Times New Roman" panose="02020603050405020304" pitchFamily="18" charset="0"/>
              </a:rPr>
              <a:t>之前请求的</a:t>
            </a:r>
            <a:r>
              <a:rPr kumimoji="0" lang="zh-CN" altLang="en-US" sz="2000" dirty="0">
                <a:cs typeface="Times New Roman" panose="02020603050405020304" pitchFamily="18" charset="0"/>
              </a:rPr>
              <a:t>状态信息</a:t>
            </a:r>
            <a:endParaRPr kumimoji="0" lang="en-US" altLang="zh-CN" sz="2000" dirty="0">
              <a:cs typeface="Times New Roman" panose="02020603050405020304" pitchFamily="18" charset="0"/>
            </a:endParaRPr>
          </a:p>
          <a:p>
            <a:pPr marL="977900" lvl="2" indent="-285750">
              <a:lnSpc>
                <a:spcPts val="3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700" dirty="0"/>
              <a:t>无状态协议：效率低、但简单</a:t>
            </a:r>
            <a:endParaRPr lang="en-US" altLang="zh-CN" sz="1700" dirty="0"/>
          </a:p>
          <a:p>
            <a:pPr marL="977900" lvl="2" indent="-285750">
              <a:lnSpc>
                <a:spcPts val="3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700" dirty="0">
                <a:cs typeface="Times New Roman" panose="02020603050405020304" pitchFamily="18" charset="0"/>
              </a:rPr>
              <a:t>有状态协议：维护状态相对复杂，需要维护历史信息，在客户端或服务器出现故障时，需要保持状态的一致性等</a:t>
            </a:r>
          </a:p>
          <a:p>
            <a:pPr marL="628650" lvl="1" indent="-268605">
              <a:lnSpc>
                <a:spcPts val="32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000099"/>
                </a:solidFill>
                <a:cs typeface="Times New Roman" panose="02020603050405020304" pitchFamily="18" charset="0"/>
              </a:rPr>
              <a:t>HTTP</a:t>
            </a:r>
            <a:r>
              <a:rPr lang="zh-CN" altLang="en-US" sz="2000" dirty="0">
                <a:solidFill>
                  <a:srgbClr val="000099"/>
                </a:solidFill>
                <a:cs typeface="Times New Roman" panose="02020603050405020304" pitchFamily="18" charset="0"/>
              </a:rPr>
              <a:t>标准</a:t>
            </a:r>
            <a:r>
              <a:rPr lang="en-US" altLang="zh-CN" sz="2000" dirty="0">
                <a:solidFill>
                  <a:srgbClr val="000099"/>
                </a:solidFill>
                <a:cs typeface="Times New Roman" panose="02020603050405020304" pitchFamily="18" charset="0"/>
              </a:rPr>
              <a:t> </a:t>
            </a:r>
          </a:p>
          <a:p>
            <a:pPr marL="977900" lvl="2" indent="-285750">
              <a:lnSpc>
                <a:spcPts val="3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1800" dirty="0">
                <a:solidFill>
                  <a:srgbClr val="000099"/>
                </a:solidFill>
                <a:cs typeface="Times New Roman" panose="02020603050405020304" pitchFamily="18" charset="0"/>
              </a:rPr>
              <a:t>HTTP/1.0</a:t>
            </a:r>
            <a:r>
              <a:rPr lang="en-US" altLang="zh-CN" sz="1800" dirty="0">
                <a:cs typeface="Times New Roman" panose="02020603050405020304" pitchFamily="18" charset="0"/>
              </a:rPr>
              <a:t>: RFC 1945</a:t>
            </a:r>
            <a:r>
              <a:rPr lang="zh-CN" altLang="en-US" sz="1800" dirty="0"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cs typeface="Times New Roman" panose="02020603050405020304" pitchFamily="18" charset="0"/>
              </a:rPr>
              <a:t>1996</a:t>
            </a:r>
            <a:r>
              <a:rPr lang="zh-CN" altLang="en-US" sz="1800" dirty="0">
                <a:cs typeface="Times New Roman" panose="02020603050405020304" pitchFamily="18" charset="0"/>
              </a:rPr>
              <a:t>年）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977900" lvl="2" indent="-285750">
              <a:lnSpc>
                <a:spcPts val="3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1800" dirty="0">
                <a:solidFill>
                  <a:srgbClr val="000099"/>
                </a:solidFill>
                <a:cs typeface="Times New Roman" panose="02020603050405020304" pitchFamily="18" charset="0"/>
              </a:rPr>
              <a:t>HTTP/1.1</a:t>
            </a:r>
            <a:r>
              <a:rPr lang="en-US" altLang="zh-CN" sz="1800" dirty="0">
                <a:cs typeface="Times New Roman" panose="02020603050405020304" pitchFamily="18" charset="0"/>
              </a:rPr>
              <a:t>: RFC 2616</a:t>
            </a:r>
            <a:r>
              <a:rPr lang="zh-CN" altLang="en-US" sz="1800" dirty="0"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cs typeface="Times New Roman" panose="02020603050405020304" pitchFamily="18" charset="0"/>
              </a:rPr>
              <a:t>1999</a:t>
            </a:r>
            <a:r>
              <a:rPr lang="zh-CN" altLang="en-US" sz="1800" dirty="0">
                <a:cs typeface="Times New Roman" panose="02020603050405020304" pitchFamily="18" charset="0"/>
              </a:rPr>
              <a:t>年）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977900" lvl="2" indent="-285750">
              <a:lnSpc>
                <a:spcPts val="3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1800" dirty="0">
                <a:solidFill>
                  <a:srgbClr val="000099"/>
                </a:solidFill>
                <a:cs typeface="Times New Roman" panose="02020603050405020304" pitchFamily="18" charset="0"/>
              </a:rPr>
              <a:t>HTTP/2</a:t>
            </a:r>
            <a:r>
              <a:rPr lang="en-US" altLang="zh-CN" sz="1800" dirty="0">
                <a:cs typeface="Times New Roman" panose="02020603050405020304" pitchFamily="18" charset="0"/>
              </a:rPr>
              <a:t>: RFC 7540</a:t>
            </a:r>
            <a:r>
              <a:rPr lang="zh-CN" altLang="en-US" sz="1800" dirty="0"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cs typeface="Times New Roman" panose="02020603050405020304" pitchFamily="18" charset="0"/>
              </a:rPr>
              <a:t>2015</a:t>
            </a:r>
            <a:r>
              <a:rPr lang="zh-CN" altLang="en-US" sz="1800" dirty="0">
                <a:cs typeface="Times New Roman" panose="02020603050405020304" pitchFamily="18" charset="0"/>
              </a:rPr>
              <a:t>年）、</a:t>
            </a:r>
            <a:r>
              <a:rPr lang="en-US" altLang="zh-CN" sz="1800" dirty="0">
                <a:cs typeface="Times New Roman" panose="02020603050405020304" pitchFamily="18" charset="0"/>
              </a:rPr>
              <a:t>RFC 8740</a:t>
            </a:r>
            <a:r>
              <a:rPr lang="zh-CN" altLang="en-US" sz="1800" dirty="0"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cs typeface="Times New Roman" panose="02020603050405020304" pitchFamily="18" charset="0"/>
              </a:rPr>
              <a:t>2020</a:t>
            </a:r>
            <a:r>
              <a:rPr lang="zh-CN" altLang="en-US" sz="1800" dirty="0">
                <a:cs typeface="Times New Roman" panose="02020603050405020304" pitchFamily="18" charset="0"/>
              </a:rPr>
              <a:t>年）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977900" lvl="2" indent="-285750">
              <a:lnSpc>
                <a:spcPts val="3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1800" dirty="0">
                <a:solidFill>
                  <a:srgbClr val="000099"/>
                </a:solidFill>
                <a:cs typeface="Times New Roman" panose="02020603050405020304" pitchFamily="18" charset="0"/>
              </a:rPr>
              <a:t>HTTP/3</a:t>
            </a:r>
            <a:r>
              <a:rPr lang="en-US" altLang="zh-CN" sz="1800" dirty="0">
                <a:cs typeface="Times New Roman" panose="02020603050405020304" pitchFamily="18" charset="0"/>
              </a:rPr>
              <a:t>: RFC 9114 </a:t>
            </a:r>
            <a:r>
              <a:rPr lang="zh-CN" altLang="en-US" sz="1800" dirty="0">
                <a:cs typeface="Times New Roman" panose="02020603050405020304" pitchFamily="18" charset="0"/>
              </a:rPr>
              <a:t>（</a:t>
            </a:r>
            <a:r>
              <a:rPr lang="en-US" altLang="zh-CN" sz="1800" dirty="0">
                <a:cs typeface="Times New Roman" panose="02020603050405020304" pitchFamily="18" charset="0"/>
              </a:rPr>
              <a:t>2022</a:t>
            </a:r>
            <a:r>
              <a:rPr lang="zh-CN" altLang="en-US" sz="1800" dirty="0">
                <a:cs typeface="Times New Roman" panose="02020603050405020304" pitchFamily="18" charset="0"/>
              </a:rPr>
              <a:t>年）</a:t>
            </a:r>
            <a:endParaRPr lang="en-US" altLang="zh-CN" sz="18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2" name="Line 2"/>
          <p:cNvSpPr>
            <a:spLocks noChangeShapeType="1"/>
          </p:cNvSpPr>
          <p:nvPr/>
        </p:nvSpPr>
        <p:spPr bwMode="auto">
          <a:xfrm flipH="1">
            <a:off x="5652655" y="1040606"/>
            <a:ext cx="5781" cy="5149056"/>
          </a:xfrm>
          <a:prstGeom prst="line">
            <a:avLst/>
          </a:prstGeom>
          <a:noFill/>
          <a:ln w="3175">
            <a:solidFill>
              <a:srgbClr val="C0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3" name="Rectangle 3"/>
          <p:cNvSpPr>
            <a:spLocks noChangeArrowheads="1"/>
          </p:cNvSpPr>
          <p:nvPr/>
        </p:nvSpPr>
        <p:spPr bwMode="auto">
          <a:xfrm>
            <a:off x="238125" y="5373688"/>
            <a:ext cx="657225" cy="2952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4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668338"/>
            <a:ext cx="8469313" cy="744537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HTTP/1.0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示例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983" name="Text Box 13"/>
          <p:cNvSpPr txBox="1">
            <a:spLocks noChangeArrowheads="1"/>
          </p:cNvSpPr>
          <p:nvPr/>
        </p:nvSpPr>
        <p:spPr bwMode="auto">
          <a:xfrm>
            <a:off x="5409173" y="4626408"/>
            <a:ext cx="492443" cy="2769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时间</a:t>
            </a:r>
            <a:endParaRPr kumimoji="0" lang="en-US" altLang="zh-CN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23851" y="1535562"/>
            <a:ext cx="5134708" cy="201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>
              <a:spcBef>
                <a:spcPct val="20000"/>
              </a:spcBef>
              <a:buBlip>
                <a:blip r:embed="rId2"/>
              </a:buBlip>
              <a:tabLst>
                <a:tab pos="715645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11530" indent="-266700">
              <a:spcBef>
                <a:spcPct val="20000"/>
              </a:spcBef>
              <a:buBlip>
                <a:blip r:embed="rId3"/>
              </a:buBlip>
              <a:tabLst>
                <a:tab pos="71564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9pPr>
          </a:lstStyle>
          <a:p>
            <a:pPr marL="268605" indent="-268605">
              <a:lnSpc>
                <a:spcPts val="3500"/>
              </a:lnSpc>
              <a:spcBef>
                <a:spcPts val="60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假设用户输入</a:t>
            </a:r>
            <a:r>
              <a:rPr lang="en-US" altLang="zh-CN" sz="2400" dirty="0">
                <a:cs typeface="Times New Roman" panose="02020603050405020304" pitchFamily="18" charset="0"/>
              </a:rPr>
              <a:t>URL</a:t>
            </a:r>
          </a:p>
          <a:p>
            <a:pPr marL="628650" lvl="1" indent="-268605">
              <a:lnSpc>
                <a:spcPts val="3000"/>
              </a:lnSpc>
              <a:spcBef>
                <a:spcPts val="600"/>
              </a:spcBef>
            </a:pPr>
            <a:r>
              <a:rPr lang="en-US" altLang="zh-CN" sz="2000" dirty="0">
                <a:cs typeface="Times New Roman" panose="02020603050405020304" pitchFamily="18" charset="0"/>
              </a:rPr>
              <a:t>http://www.nankai.edu.cn/computer/</a:t>
            </a:r>
          </a:p>
          <a:p>
            <a:pPr marL="360045" lvl="1" indent="0">
              <a:lnSpc>
                <a:spcPts val="3000"/>
              </a:lnSpc>
              <a:spcBef>
                <a:spcPts val="600"/>
              </a:spcBef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    index.html</a:t>
            </a:r>
          </a:p>
          <a:p>
            <a:pPr marL="628650" lvl="1" indent="-268605">
              <a:lnSpc>
                <a:spcPts val="3500"/>
              </a:lnSpc>
              <a:spcBef>
                <a:spcPts val="12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页面包含</a:t>
            </a:r>
            <a:r>
              <a:rPr lang="en-US" altLang="zh-CN" sz="2000" dirty="0">
                <a:cs typeface="Times New Roman" panose="02020603050405020304" pitchFamily="18" charset="0"/>
              </a:rPr>
              <a:t>10</a:t>
            </a:r>
            <a:r>
              <a:rPr lang="zh-CN" altLang="en-US" sz="2000" dirty="0">
                <a:cs typeface="Times New Roman" panose="02020603050405020304" pitchFamily="18" charset="0"/>
              </a:rPr>
              <a:t>幅</a:t>
            </a:r>
            <a:r>
              <a:rPr lang="en-US" altLang="zh-CN" sz="2000" dirty="0">
                <a:cs typeface="Times New Roman" panose="02020603050405020304" pitchFamily="18" charset="0"/>
              </a:rPr>
              <a:t>jpg</a:t>
            </a:r>
            <a:r>
              <a:rPr lang="zh-CN" altLang="en-US" sz="2000" dirty="0">
                <a:cs typeface="Times New Roman" panose="02020603050405020304" pitchFamily="18" charset="0"/>
              </a:rPr>
              <a:t>图像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041" y="764589"/>
            <a:ext cx="2503353" cy="606075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92150"/>
            <a:ext cx="8569325" cy="7207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非持久连接和持久连接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4" name="Text Box 3"/>
          <p:cNvSpPr txBox="1">
            <a:spLocks noGrp="1" noChangeArrowheads="1"/>
          </p:cNvSpPr>
          <p:nvPr>
            <p:ph sz="half" idx="1"/>
          </p:nvPr>
        </p:nvSpPr>
        <p:spPr bwMode="auto">
          <a:xfrm>
            <a:off x="436996" y="1559374"/>
            <a:ext cx="4029076" cy="4354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>
              <a:spcBef>
                <a:spcPct val="20000"/>
              </a:spcBef>
              <a:buBlip>
                <a:blip r:embed="rId3"/>
              </a:buBlip>
              <a:tabLst>
                <a:tab pos="715645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11530" indent="-266700">
              <a:spcBef>
                <a:spcPct val="20000"/>
              </a:spcBef>
              <a:buBlip>
                <a:blip r:embed="rId4"/>
              </a:buBlip>
              <a:tabLst>
                <a:tab pos="71564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9pPr>
          </a:lstStyle>
          <a:p>
            <a:pPr marL="0" indent="0">
              <a:lnSpc>
                <a:spcPts val="3300"/>
              </a:lnSpc>
              <a:spcBef>
                <a:spcPts val="600"/>
              </a:spcBef>
              <a:buNone/>
            </a:pPr>
            <a:r>
              <a:rPr lang="zh-CN" altLang="en-US" sz="2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非持久连接</a:t>
            </a:r>
            <a:endParaRPr lang="en-US" altLang="zh-CN" sz="22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68605" indent="-268605">
              <a:lnSpc>
                <a:spcPts val="3300"/>
              </a:lnSpc>
              <a:spcBef>
                <a:spcPts val="600"/>
              </a:spcBef>
            </a:pPr>
            <a:r>
              <a:rPr lang="en-US" altLang="zh-CN" sz="2200" dirty="0">
                <a:cs typeface="Times New Roman" panose="02020603050405020304" pitchFamily="18" charset="0"/>
              </a:rPr>
              <a:t>HTTP/1.0</a:t>
            </a:r>
            <a:r>
              <a:rPr lang="zh-CN" altLang="en-US" sz="2200" dirty="0">
                <a:cs typeface="Times New Roman" panose="02020603050405020304" pitchFamily="18" charset="0"/>
              </a:rPr>
              <a:t>缺省为非持久连接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535305" lvl="1">
              <a:lnSpc>
                <a:spcPts val="3300"/>
              </a:lnSpc>
              <a:spcBef>
                <a:spcPts val="600"/>
              </a:spcBef>
            </a:pPr>
            <a:r>
              <a:rPr lang="zh-CN" altLang="en-US" sz="1800" dirty="0">
                <a:cs typeface="Times New Roman" panose="02020603050405020304" pitchFamily="18" charset="0"/>
              </a:rPr>
              <a:t>服务器接收请求、给出响应、关闭</a:t>
            </a:r>
            <a:r>
              <a:rPr lang="en-US" altLang="zh-CN" sz="1800" dirty="0">
                <a:cs typeface="Times New Roman" panose="02020603050405020304" pitchFamily="18" charset="0"/>
              </a:rPr>
              <a:t>TCP</a:t>
            </a:r>
            <a:r>
              <a:rPr lang="zh-CN" altLang="en-US" sz="1800" dirty="0">
                <a:cs typeface="Times New Roman" panose="02020603050405020304" pitchFamily="18" charset="0"/>
              </a:rPr>
              <a:t>连接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268605" indent="-268605">
              <a:lnSpc>
                <a:spcPts val="3300"/>
              </a:lnSpc>
              <a:spcBef>
                <a:spcPts val="600"/>
              </a:spcBef>
            </a:pPr>
            <a:r>
              <a:rPr lang="zh-CN" altLang="en-US" sz="2200" dirty="0">
                <a:cs typeface="Times New Roman" panose="02020603050405020304" pitchFamily="18" charset="0"/>
              </a:rPr>
              <a:t>获取每个对象需要两阶段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535305" lvl="1">
              <a:lnSpc>
                <a:spcPts val="33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建立</a:t>
            </a:r>
            <a:r>
              <a:rPr lang="en-US" altLang="zh-CN" sz="2000" dirty="0">
                <a:cs typeface="Times New Roman" panose="02020603050405020304" pitchFamily="18" charset="0"/>
              </a:rPr>
              <a:t>TCP</a:t>
            </a:r>
            <a:r>
              <a:rPr lang="zh-CN" altLang="en-US" sz="2000" dirty="0">
                <a:cs typeface="Times New Roman" panose="02020603050405020304" pitchFamily="18" charset="0"/>
              </a:rPr>
              <a:t>连接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535305" lvl="1">
              <a:lnSpc>
                <a:spcPts val="33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对象请求和传输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268605" indent="-268605">
              <a:lnSpc>
                <a:spcPts val="3300"/>
              </a:lnSpc>
              <a:spcBef>
                <a:spcPts val="600"/>
              </a:spcBef>
            </a:pPr>
            <a:r>
              <a:rPr lang="zh-CN" altLang="en-US" sz="2200" dirty="0">
                <a:cs typeface="Times New Roman" panose="02020603050405020304" pitchFamily="18" charset="0"/>
              </a:rPr>
              <a:t>每次连接需要经历</a:t>
            </a:r>
            <a:r>
              <a:rPr lang="en-US" altLang="zh-CN" sz="2200" dirty="0">
                <a:cs typeface="Times New Roman" panose="02020603050405020304" pitchFamily="18" charset="0"/>
              </a:rPr>
              <a:t>TCP</a:t>
            </a:r>
            <a:r>
              <a:rPr lang="zh-CN" altLang="en-US" sz="2200" dirty="0">
                <a:cs typeface="Times New Roman" panose="02020603050405020304" pitchFamily="18" charset="0"/>
              </a:rPr>
              <a:t>慢启动阶段</a:t>
            </a:r>
            <a:endParaRPr lang="en-US" altLang="zh-CN" sz="2200" dirty="0">
              <a:cs typeface="Times New Roman" panose="02020603050405020304" pitchFamily="18" charset="0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4570257" y="1428719"/>
            <a:ext cx="4029076" cy="4737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0" indent="0">
              <a:lnSpc>
                <a:spcPts val="33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zh-CN" altLang="en-US" sz="2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持久连接</a:t>
            </a:r>
            <a:endParaRPr lang="en-US" altLang="zh-CN" sz="22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68605" indent="-268605">
              <a:lnSpc>
                <a:spcPts val="3300"/>
              </a:lnSpc>
              <a:spcBef>
                <a:spcPts val="600"/>
              </a:spcBef>
            </a:pPr>
            <a:r>
              <a:rPr lang="en-US" altLang="zh-CN" sz="2200" dirty="0">
                <a:cs typeface="Times New Roman" panose="02020603050405020304" pitchFamily="18" charset="0"/>
              </a:rPr>
              <a:t>HTTP/1.1</a:t>
            </a:r>
            <a:r>
              <a:rPr lang="zh-CN" altLang="en-US" sz="2200" dirty="0">
                <a:cs typeface="Times New Roman" panose="02020603050405020304" pitchFamily="18" charset="0"/>
              </a:rPr>
              <a:t>缺省为持久连接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535305" lvl="1">
              <a:lnSpc>
                <a:spcPts val="3300"/>
              </a:lnSpc>
              <a:spcBef>
                <a:spcPts val="600"/>
              </a:spcBef>
            </a:pPr>
            <a:r>
              <a:rPr lang="zh-CN" altLang="en-US" sz="1800" dirty="0">
                <a:cs typeface="Times New Roman" panose="02020603050405020304" pitchFamily="18" charset="0"/>
              </a:rPr>
              <a:t>在相同的</a:t>
            </a:r>
            <a:r>
              <a:rPr lang="en-US" altLang="zh-CN" sz="1800" dirty="0">
                <a:cs typeface="Times New Roman" panose="02020603050405020304" pitchFamily="18" charset="0"/>
              </a:rPr>
              <a:t>TCP</a:t>
            </a:r>
            <a:r>
              <a:rPr lang="zh-CN" altLang="en-US" sz="1800" dirty="0">
                <a:cs typeface="Times New Roman" panose="02020603050405020304" pitchFamily="18" charset="0"/>
              </a:rPr>
              <a:t>连接上，服务器接收请求、给出响应；再接收请求、给出响应；响应后保持连接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268605" indent="-268605">
              <a:lnSpc>
                <a:spcPts val="3300"/>
              </a:lnSpc>
              <a:spcBef>
                <a:spcPts val="600"/>
              </a:spcBef>
            </a:pPr>
            <a:r>
              <a:rPr lang="en-US" altLang="zh-CN" sz="2200" dirty="0">
                <a:cs typeface="Times New Roman" panose="02020603050405020304" pitchFamily="18" charset="0"/>
              </a:rPr>
              <a:t>HTTP/1.1</a:t>
            </a:r>
            <a:r>
              <a:rPr lang="zh-CN" altLang="en-US" sz="2200" dirty="0">
                <a:cs typeface="Times New Roman" panose="02020603050405020304" pitchFamily="18" charset="0"/>
              </a:rPr>
              <a:t>支持流水线机制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535305" lvl="1">
              <a:lnSpc>
                <a:spcPts val="33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需要按序响应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268605" indent="-268605">
              <a:lnSpc>
                <a:spcPts val="3300"/>
              </a:lnSpc>
              <a:spcBef>
                <a:spcPts val="600"/>
              </a:spcBef>
            </a:pPr>
            <a:r>
              <a:rPr lang="zh-CN" altLang="en-US" sz="2200" dirty="0">
                <a:cs typeface="Times New Roman" panose="02020603050405020304" pitchFamily="18" charset="0"/>
              </a:rPr>
              <a:t>经历较少的慢启动过程，减少往返时间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535305" lvl="1">
              <a:lnSpc>
                <a:spcPts val="33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降低响应时间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0257" y="764622"/>
            <a:ext cx="428306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思考：持久连接中的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TCP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连接何时关闭？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2" name="Line 2"/>
          <p:cNvSpPr>
            <a:spLocks noChangeShapeType="1"/>
          </p:cNvSpPr>
          <p:nvPr/>
        </p:nvSpPr>
        <p:spPr bwMode="auto">
          <a:xfrm flipH="1">
            <a:off x="1154548" y="1366978"/>
            <a:ext cx="9237" cy="4895277"/>
          </a:xfrm>
          <a:prstGeom prst="line">
            <a:avLst/>
          </a:prstGeom>
          <a:noFill/>
          <a:ln w="3175">
            <a:solidFill>
              <a:srgbClr val="C0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4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668338"/>
            <a:ext cx="8469313" cy="36613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HTTP/1.0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HTTP/1.1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比较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3983" name="Text Box 13"/>
          <p:cNvSpPr txBox="1">
            <a:spLocks noChangeArrowheads="1"/>
          </p:cNvSpPr>
          <p:nvPr/>
        </p:nvSpPr>
        <p:spPr bwMode="auto">
          <a:xfrm>
            <a:off x="917563" y="4442666"/>
            <a:ext cx="492443" cy="2769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时间</a:t>
            </a:r>
            <a:endParaRPr kumimoji="0" lang="en-US" altLang="zh-CN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31" y="1129452"/>
            <a:ext cx="6820130" cy="5523345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763000" cy="64810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报文类型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10" name="Text Box 3"/>
          <p:cNvSpPr txBox="1">
            <a:spLocks noGrp="1" noChangeArrowheads="1"/>
          </p:cNvSpPr>
          <p:nvPr>
            <p:ph sz="half" idx="1"/>
          </p:nvPr>
        </p:nvSpPr>
        <p:spPr bwMode="auto">
          <a:xfrm>
            <a:off x="381000" y="1321658"/>
            <a:ext cx="8199004" cy="85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>
              <a:spcBef>
                <a:spcPct val="20000"/>
              </a:spcBef>
              <a:buBlip>
                <a:blip r:embed="rId3"/>
              </a:buBlip>
              <a:tabLst>
                <a:tab pos="715645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11530" indent="-266700">
              <a:spcBef>
                <a:spcPct val="20000"/>
              </a:spcBef>
              <a:buBlip>
                <a:blip r:embed="rId4"/>
              </a:buBlip>
              <a:tabLst>
                <a:tab pos="71564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9pPr>
          </a:lstStyle>
          <a:p>
            <a:pPr marL="268605" indent="-268605"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cs typeface="Times New Roman" panose="02020603050405020304" pitchFamily="18" charset="0"/>
              </a:rPr>
              <a:t>HTTP</a:t>
            </a:r>
            <a:r>
              <a:rPr lang="zh-CN" altLang="en-US" sz="2000" dirty="0">
                <a:cs typeface="Times New Roman" panose="02020603050405020304" pitchFamily="18" charset="0"/>
              </a:rPr>
              <a:t>两种报文：请求</a:t>
            </a:r>
            <a:r>
              <a:rPr lang="en-US" altLang="zh-CN" sz="2000" dirty="0">
                <a:cs typeface="Times New Roman" panose="02020603050405020304" pitchFamily="18" charset="0"/>
              </a:rPr>
              <a:t>(request)</a:t>
            </a:r>
            <a:r>
              <a:rPr lang="zh-CN" altLang="en-US" sz="2000" dirty="0">
                <a:cs typeface="Times New Roman" panose="02020603050405020304" pitchFamily="18" charset="0"/>
              </a:rPr>
              <a:t>、响应</a:t>
            </a:r>
            <a:r>
              <a:rPr lang="en-US" altLang="zh-CN" sz="2000" dirty="0">
                <a:cs typeface="Times New Roman" panose="02020603050405020304" pitchFamily="18" charset="0"/>
              </a:rPr>
              <a:t>(response</a:t>
            </a:r>
            <a:r>
              <a:rPr lang="zh-CN" altLang="en-US" sz="2000" dirty="0">
                <a:cs typeface="Times New Roman" panose="02020603050405020304" pitchFamily="18" charset="0"/>
              </a:rPr>
              <a:t>）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268605" indent="-268605"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cs typeface="Times New Roman" panose="02020603050405020304" pitchFamily="18" charset="0"/>
              </a:rPr>
              <a:t>HTTP</a:t>
            </a:r>
            <a:r>
              <a:rPr lang="zh-CN" altLang="en-US" sz="2000" dirty="0">
                <a:cs typeface="Times New Roman" panose="02020603050405020304" pitchFamily="18" charset="0"/>
              </a:rPr>
              <a:t>请求报文：采用</a:t>
            </a:r>
            <a:r>
              <a:rPr lang="en-US" altLang="zh-CN" sz="2000" dirty="0">
                <a:cs typeface="Times New Roman" panose="02020603050405020304" pitchFamily="18" charset="0"/>
              </a:rPr>
              <a:t>ASCII</a:t>
            </a:r>
            <a:r>
              <a:rPr lang="zh-CN" altLang="en-US" sz="2000" dirty="0">
                <a:cs typeface="Times New Roman" panose="02020603050405020304" pitchFamily="18" charset="0"/>
              </a:rPr>
              <a:t>，数据部分采用</a:t>
            </a:r>
            <a:r>
              <a:rPr lang="en-US" altLang="zh-CN" sz="2000" dirty="0">
                <a:cs typeface="Times New Roman" panose="02020603050405020304" pitchFamily="18" charset="0"/>
              </a:rPr>
              <a:t>MIME</a:t>
            </a:r>
            <a:r>
              <a:rPr lang="zh-CN" altLang="en-US" sz="2000" dirty="0">
                <a:cs typeface="Times New Roman" panose="02020603050405020304" pitchFamily="18" charset="0"/>
              </a:rPr>
              <a:t>格式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053366" y="2864788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请求行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2007472" y="3064051"/>
            <a:ext cx="579611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Freeform 7"/>
          <p:cNvSpPr/>
          <p:nvPr/>
        </p:nvSpPr>
        <p:spPr bwMode="auto">
          <a:xfrm>
            <a:off x="2767013" y="3216143"/>
            <a:ext cx="149225" cy="1957387"/>
          </a:xfrm>
          <a:custGeom>
            <a:avLst/>
            <a:gdLst>
              <a:gd name="T0" fmla="*/ 2147483647 w 150"/>
              <a:gd name="T1" fmla="*/ 2147483647 h 924"/>
              <a:gd name="T2" fmla="*/ 0 w 150"/>
              <a:gd name="T3" fmla="*/ 0 h 924"/>
              <a:gd name="T4" fmla="*/ 0 w 150"/>
              <a:gd name="T5" fmla="*/ 2147483647 h 924"/>
              <a:gd name="T6" fmla="*/ 2147483647 w 150"/>
              <a:gd name="T7" fmla="*/ 2147483647 h 924"/>
              <a:gd name="T8" fmla="*/ 0 60000 65536"/>
              <a:gd name="T9" fmla="*/ 0 60000 65536"/>
              <a:gd name="T10" fmla="*/ 0 60000 65536"/>
              <a:gd name="T11" fmla="*/ 0 60000 65536"/>
              <a:gd name="T12" fmla="*/ 0 w 150"/>
              <a:gd name="T13" fmla="*/ 0 h 924"/>
              <a:gd name="T14" fmla="*/ 150 w 150"/>
              <a:gd name="T15" fmla="*/ 924 h 9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0" h="924">
                <a:moveTo>
                  <a:pt x="122" y="6"/>
                </a:moveTo>
                <a:lnTo>
                  <a:pt x="0" y="0"/>
                </a:lnTo>
                <a:lnTo>
                  <a:pt x="0" y="924"/>
                </a:lnTo>
                <a:lnTo>
                  <a:pt x="150" y="918"/>
                </a:lnTo>
              </a:path>
            </a:pathLst>
          </a:custGeom>
          <a:noFill/>
          <a:ln w="19050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267176" y="3807410"/>
            <a:ext cx="25442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请求头</a:t>
            </a:r>
            <a:endParaRPr lang="en-US" altLang="zh-CN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（每行包含“键</a:t>
            </a:r>
            <a:r>
              <a:rPr lang="en-US" altLang="zh-CN" sz="16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6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值”对）</a:t>
            </a:r>
            <a:endParaRPr lang="en-US" altLang="zh-CN" sz="1600" dirty="0">
              <a:solidFill>
                <a:srgbClr val="2A09B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Line 10"/>
          <p:cNvSpPr>
            <a:spLocks noChangeShapeType="1"/>
          </p:cNvSpPr>
          <p:nvPr/>
        </p:nvSpPr>
        <p:spPr bwMode="auto">
          <a:xfrm>
            <a:off x="2300288" y="5300530"/>
            <a:ext cx="511175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533524" y="4726017"/>
            <a:ext cx="1993787" cy="77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ts val="28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独立的回车换行指明请求头</a:t>
            </a:r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16"/>
          <p:cNvSpPr txBox="1">
            <a:spLocks noChangeArrowheads="1"/>
          </p:cNvSpPr>
          <p:nvPr/>
        </p:nvSpPr>
        <p:spPr bwMode="auto">
          <a:xfrm>
            <a:off x="2800350" y="2914518"/>
            <a:ext cx="6140450" cy="258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b="1" dirty="0">
                <a:solidFill>
                  <a:srgbClr val="C00000"/>
                </a:solidFill>
                <a:latin typeface="Courier New" panose="02070309020205020404" pitchFamily="49" charset="0"/>
              </a:rPr>
              <a:t>GET</a:t>
            </a:r>
            <a:r>
              <a:rPr lang="en-US" altLang="zh-CN" sz="1800" dirty="0">
                <a:latin typeface="Courier New" panose="02070309020205020404" pitchFamily="49" charset="0"/>
              </a:rPr>
              <a:t> /index.html HTTP/1.1\r\n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Host: www-net.cs.umass.edu\r\n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User-Agent: Firefox/3.6.10\r\n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Accept: text/</a:t>
            </a:r>
            <a:r>
              <a:rPr lang="en-US" altLang="zh-CN" sz="1800" dirty="0" err="1">
                <a:latin typeface="Courier New" panose="02070309020205020404" pitchFamily="49" charset="0"/>
              </a:rPr>
              <a:t>html,application</a:t>
            </a:r>
            <a:r>
              <a:rPr lang="en-US" altLang="zh-CN" sz="1800" dirty="0">
                <a:latin typeface="Courier New" panose="02070309020205020404" pitchFamily="49" charset="0"/>
              </a:rPr>
              <a:t>/</a:t>
            </a:r>
            <a:r>
              <a:rPr lang="en-US" altLang="zh-CN" sz="1800" dirty="0" err="1">
                <a:latin typeface="Courier New" panose="02070309020205020404" pitchFamily="49" charset="0"/>
              </a:rPr>
              <a:t>xhtml+xml</a:t>
            </a:r>
            <a:r>
              <a:rPr lang="en-US" altLang="zh-CN" sz="1800" dirty="0">
                <a:latin typeface="Courier New" panose="02070309020205020404" pitchFamily="49" charset="0"/>
              </a:rPr>
              <a:t>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Accept-Language: </a:t>
            </a:r>
            <a:r>
              <a:rPr lang="en-US" altLang="zh-CN" sz="1800" dirty="0" err="1">
                <a:latin typeface="Courier New" panose="02070309020205020404" pitchFamily="49" charset="0"/>
              </a:rPr>
              <a:t>en-us,en;q</a:t>
            </a:r>
            <a:r>
              <a:rPr lang="en-US" altLang="zh-CN" sz="1800" dirty="0">
                <a:latin typeface="Courier New" panose="02070309020205020404" pitchFamily="49" charset="0"/>
              </a:rPr>
              <a:t>=0.5\r\n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Accept-Encoding: </a:t>
            </a:r>
            <a:r>
              <a:rPr lang="en-US" altLang="zh-CN" sz="1800" dirty="0" err="1">
                <a:latin typeface="Courier New" panose="02070309020205020404" pitchFamily="49" charset="0"/>
              </a:rPr>
              <a:t>gzip,deflate</a:t>
            </a:r>
            <a:r>
              <a:rPr lang="en-US" altLang="zh-CN" sz="1800" dirty="0">
                <a:latin typeface="Courier New" panose="02070309020205020404" pitchFamily="49" charset="0"/>
              </a:rPr>
              <a:t>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Accept-Charset: ISO-8859-1,utf-8;q=0.7\r\n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Keep-Alive: 115\r\n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Connection: keep-alive\r\n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\r\n</a:t>
            </a:r>
          </a:p>
        </p:txBody>
      </p:sp>
      <p:sp>
        <p:nvSpPr>
          <p:cNvPr id="24" name="Line 17"/>
          <p:cNvSpPr>
            <a:spLocks noChangeShapeType="1"/>
          </p:cNvSpPr>
          <p:nvPr/>
        </p:nvSpPr>
        <p:spPr bwMode="auto">
          <a:xfrm flipH="1">
            <a:off x="6324600" y="2431918"/>
            <a:ext cx="166688" cy="51435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6442780" y="2166389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sz="16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回车字符</a:t>
            </a:r>
            <a:endParaRPr lang="en-US" altLang="zh-CN" sz="1600" dirty="0">
              <a:solidFill>
                <a:srgbClr val="2A09B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Text Box 19"/>
          <p:cNvSpPr txBox="1">
            <a:spLocks noChangeArrowheads="1"/>
          </p:cNvSpPr>
          <p:nvPr/>
        </p:nvSpPr>
        <p:spPr bwMode="auto">
          <a:xfrm>
            <a:off x="6623599" y="2441443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sz="16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换行字符</a:t>
            </a:r>
            <a:endParaRPr lang="en-US" altLang="zh-CN" sz="1600" dirty="0">
              <a:solidFill>
                <a:srgbClr val="2A09B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 flipH="1">
            <a:off x="6605588" y="2741480"/>
            <a:ext cx="80962" cy="252413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114264" y="6105597"/>
            <a:ext cx="6843840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HTTP/1.1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请求方法：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GET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POST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HEAD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PUT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DELETE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468822" y="2370773"/>
            <a:ext cx="1380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请求方法</a:t>
            </a:r>
            <a:endParaRPr lang="en-US" altLang="zh-CN" sz="2400" dirty="0">
              <a:solidFill>
                <a:srgbClr val="0000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 flipV="1">
            <a:off x="2033983" y="4037610"/>
            <a:ext cx="5531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Line 17"/>
          <p:cNvSpPr>
            <a:spLocks noChangeShapeType="1"/>
          </p:cNvSpPr>
          <p:nvPr/>
        </p:nvSpPr>
        <p:spPr bwMode="auto">
          <a:xfrm flipH="1">
            <a:off x="3075924" y="2713295"/>
            <a:ext cx="117785" cy="252414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845738" y="2352074"/>
            <a:ext cx="1380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</a:t>
            </a:r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endParaRPr lang="en-US" altLang="zh-CN" sz="2400" dirty="0">
              <a:solidFill>
                <a:srgbClr val="0000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Line 17"/>
          <p:cNvSpPr>
            <a:spLocks noChangeShapeType="1"/>
          </p:cNvSpPr>
          <p:nvPr/>
        </p:nvSpPr>
        <p:spPr bwMode="auto">
          <a:xfrm flipH="1">
            <a:off x="4452840" y="2694596"/>
            <a:ext cx="117785" cy="252414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007303" y="2343963"/>
            <a:ext cx="1380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版本</a:t>
            </a:r>
            <a:endParaRPr lang="en-US" altLang="zh-CN" sz="2400" dirty="0">
              <a:solidFill>
                <a:srgbClr val="0000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Line 17"/>
          <p:cNvSpPr>
            <a:spLocks noChangeShapeType="1"/>
          </p:cNvSpPr>
          <p:nvPr/>
        </p:nvSpPr>
        <p:spPr bwMode="auto">
          <a:xfrm flipH="1">
            <a:off x="5614405" y="2686485"/>
            <a:ext cx="117785" cy="252414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4928" name="文本框 1404927"/>
          <p:cNvSpPr txBox="1"/>
          <p:nvPr/>
        </p:nvSpPr>
        <p:spPr>
          <a:xfrm>
            <a:off x="2587083" y="5576309"/>
            <a:ext cx="3978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【POST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PUT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方法包含请求体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】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04929" name="Text Box 8"/>
          <p:cNvSpPr txBox="1">
            <a:spLocks noChangeArrowheads="1"/>
          </p:cNvSpPr>
          <p:nvPr/>
        </p:nvSpPr>
        <p:spPr bwMode="auto">
          <a:xfrm>
            <a:off x="1053365" y="5529542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请求体</a:t>
            </a:r>
            <a:endParaRPr lang="en-US" altLang="zh-CN" sz="2400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04931" name="Line 6"/>
          <p:cNvSpPr>
            <a:spLocks noChangeShapeType="1"/>
          </p:cNvSpPr>
          <p:nvPr/>
        </p:nvSpPr>
        <p:spPr bwMode="auto">
          <a:xfrm>
            <a:off x="1995055" y="5771409"/>
            <a:ext cx="511175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763000" cy="64810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报文类型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10" name="Text Box 3"/>
          <p:cNvSpPr txBox="1">
            <a:spLocks noGrp="1" noChangeArrowheads="1"/>
          </p:cNvSpPr>
          <p:nvPr>
            <p:ph sz="half" idx="1"/>
          </p:nvPr>
        </p:nvSpPr>
        <p:spPr bwMode="auto">
          <a:xfrm>
            <a:off x="381000" y="1321658"/>
            <a:ext cx="8199004" cy="47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>
              <a:spcBef>
                <a:spcPct val="20000"/>
              </a:spcBef>
              <a:buBlip>
                <a:blip r:embed="rId3"/>
              </a:buBlip>
              <a:tabLst>
                <a:tab pos="715645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11530" indent="-266700">
              <a:spcBef>
                <a:spcPct val="20000"/>
              </a:spcBef>
              <a:buBlip>
                <a:blip r:embed="rId4"/>
              </a:buBlip>
              <a:tabLst>
                <a:tab pos="71564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9pPr>
          </a:lstStyle>
          <a:p>
            <a:pPr marL="268605" indent="-268605">
              <a:lnSpc>
                <a:spcPts val="3300"/>
              </a:lnSpc>
              <a:spcBef>
                <a:spcPts val="600"/>
              </a:spcBef>
            </a:pPr>
            <a:r>
              <a:rPr lang="en-US" altLang="zh-CN" sz="2200" dirty="0">
                <a:cs typeface="Times New Roman" panose="02020603050405020304" pitchFamily="18" charset="0"/>
              </a:rPr>
              <a:t>HTTP</a:t>
            </a:r>
            <a:r>
              <a:rPr lang="zh-CN" altLang="en-US" sz="2200" dirty="0">
                <a:cs typeface="Times New Roman" panose="02020603050405020304" pitchFamily="18" charset="0"/>
              </a:rPr>
              <a:t>响应报文：数据部分采用</a:t>
            </a:r>
            <a:r>
              <a:rPr lang="en-US" altLang="zh-CN" sz="2200" dirty="0">
                <a:cs typeface="Times New Roman" panose="02020603050405020304" pitchFamily="18" charset="0"/>
              </a:rPr>
              <a:t>MIME</a:t>
            </a:r>
            <a:r>
              <a:rPr lang="zh-CN" altLang="en-US" sz="2200" dirty="0">
                <a:cs typeface="Times New Roman" panose="02020603050405020304" pitchFamily="18" charset="0"/>
              </a:rPr>
              <a:t>格式</a:t>
            </a:r>
            <a:endParaRPr lang="en-US" altLang="zh-CN" sz="2200" dirty="0">
              <a:cs typeface="Times New Roman" panose="02020603050405020304" pitchFamily="18" charset="0"/>
            </a:endParaRPr>
          </a:p>
        </p:txBody>
      </p:sp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539416" y="1896862"/>
            <a:ext cx="25597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2A09B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响应行</a:t>
            </a:r>
            <a:r>
              <a:rPr lang="en-US" altLang="zh-CN" dirty="0">
                <a:solidFill>
                  <a:srgbClr val="2A09B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2A09B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状态码和解释</a:t>
            </a:r>
            <a:r>
              <a:rPr lang="en-US" altLang="zh-CN" dirty="0">
                <a:solidFill>
                  <a:srgbClr val="2A09B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2400" dirty="0">
              <a:solidFill>
                <a:srgbClr val="2A09B7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>
            <a:off x="1555750" y="2296973"/>
            <a:ext cx="225425" cy="33577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Freeform 7"/>
          <p:cNvSpPr/>
          <p:nvPr/>
        </p:nvSpPr>
        <p:spPr bwMode="auto">
          <a:xfrm>
            <a:off x="1555751" y="2841516"/>
            <a:ext cx="185736" cy="2410774"/>
          </a:xfrm>
          <a:custGeom>
            <a:avLst/>
            <a:gdLst>
              <a:gd name="T0" fmla="*/ 2147483647 w 162"/>
              <a:gd name="T1" fmla="*/ 2147483647 h 1428"/>
              <a:gd name="T2" fmla="*/ 0 w 162"/>
              <a:gd name="T3" fmla="*/ 0 h 1428"/>
              <a:gd name="T4" fmla="*/ 0 w 162"/>
              <a:gd name="T5" fmla="*/ 2147483647 h 1428"/>
              <a:gd name="T6" fmla="*/ 2147483647 w 162"/>
              <a:gd name="T7" fmla="*/ 2147483647 h 1428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1428"/>
              <a:gd name="T14" fmla="*/ 162 w 162"/>
              <a:gd name="T15" fmla="*/ 1428 h 14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1428">
                <a:moveTo>
                  <a:pt x="132" y="9"/>
                </a:moveTo>
                <a:lnTo>
                  <a:pt x="0" y="0"/>
                </a:lnTo>
                <a:lnTo>
                  <a:pt x="0" y="1428"/>
                </a:lnTo>
                <a:lnTo>
                  <a:pt x="162" y="1425"/>
                </a:lnTo>
              </a:path>
            </a:pathLst>
          </a:custGeom>
          <a:noFill/>
          <a:ln w="1905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592120" y="3769061"/>
            <a:ext cx="954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2A09B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响应头</a:t>
            </a:r>
            <a:endParaRPr lang="en-US" altLang="zh-CN" dirty="0">
              <a:solidFill>
                <a:srgbClr val="2A09B7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 flipV="1">
            <a:off x="1504950" y="5432487"/>
            <a:ext cx="314326" cy="2671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04963" y="5641260"/>
            <a:ext cx="199997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2A09B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响应体，例如请</a:t>
            </a:r>
            <a:endParaRPr lang="en-US" altLang="zh-CN" dirty="0">
              <a:solidFill>
                <a:srgbClr val="2A09B7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2A09B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求的</a:t>
            </a:r>
            <a:r>
              <a:rPr lang="en-US" altLang="zh-CN" dirty="0">
                <a:solidFill>
                  <a:srgbClr val="2A09B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HTML</a:t>
            </a:r>
            <a:r>
              <a:rPr lang="zh-CN" altLang="en-US" dirty="0">
                <a:solidFill>
                  <a:srgbClr val="2A09B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文档</a:t>
            </a:r>
            <a:endParaRPr lang="en-US" altLang="zh-CN" dirty="0">
              <a:solidFill>
                <a:srgbClr val="2A09B7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1741487" y="2505744"/>
            <a:ext cx="6764337" cy="3090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HTTP/1.1 200 OK\r\n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Date: Sun, 26 Sep 2010 20:09:20 GMT\r\n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Server: Apache/2.0.52 (CentOS)\r\n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Last-Modified: Tue, 30 Oct 2007 17:00:02 GMT\r\n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 err="1">
                <a:latin typeface="Courier New" panose="02070309020205020404" pitchFamily="49" charset="0"/>
              </a:rPr>
              <a:t>ETag</a:t>
            </a:r>
            <a:r>
              <a:rPr lang="en-US" altLang="zh-CN" sz="1800" dirty="0">
                <a:latin typeface="Courier New" panose="02070309020205020404" pitchFamily="49" charset="0"/>
              </a:rPr>
              <a:t>: "17dc6-a5c-bf716880"\r\n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Accept-Ranges: bytes\r\n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Content-Length: 2652\r\n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Keep-Alive: timeout=10, max=100\r\n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Connection: Keep-Alive\r\n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Content-Type: text/html; charset=ISO-8859-1\r\n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1800" dirty="0">
                <a:latin typeface="Courier New" panose="02070309020205020404" pitchFamily="49" charset="0"/>
              </a:rPr>
              <a:t>\r\n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it-IT" altLang="zh-CN" sz="1800" dirty="0">
                <a:latin typeface="Courier New" panose="02070309020205020404" pitchFamily="49" charset="0"/>
              </a:rPr>
              <a:t>data data data data data ... </a:t>
            </a:r>
            <a:endParaRPr lang="en-US" altLang="zh-CN" sz="1800" dirty="0">
              <a:latin typeface="Courier New" panose="02070309020205020404" pitchFamily="49" charset="0"/>
            </a:endParaRPr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 flipH="1">
            <a:off x="6772798" y="2287447"/>
            <a:ext cx="166688" cy="51435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4928" name="Text Box 18"/>
          <p:cNvSpPr txBox="1">
            <a:spLocks noChangeArrowheads="1"/>
          </p:cNvSpPr>
          <p:nvPr/>
        </p:nvSpPr>
        <p:spPr bwMode="auto">
          <a:xfrm>
            <a:off x="6890978" y="2021918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sz="16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回车字符</a:t>
            </a:r>
            <a:endParaRPr lang="en-US" altLang="zh-CN" sz="1600" dirty="0">
              <a:solidFill>
                <a:srgbClr val="2A09B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04929" name="Text Box 19"/>
          <p:cNvSpPr txBox="1">
            <a:spLocks noChangeArrowheads="1"/>
          </p:cNvSpPr>
          <p:nvPr/>
        </p:nvSpPr>
        <p:spPr bwMode="auto">
          <a:xfrm>
            <a:off x="7071797" y="2296972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sz="1600" dirty="0">
                <a:solidFill>
                  <a:srgbClr val="2A09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换行字符</a:t>
            </a:r>
            <a:endParaRPr lang="en-US" altLang="zh-CN" sz="1600" dirty="0">
              <a:solidFill>
                <a:srgbClr val="2A09B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04931" name="Line 20"/>
          <p:cNvSpPr>
            <a:spLocks noChangeShapeType="1"/>
          </p:cNvSpPr>
          <p:nvPr/>
        </p:nvSpPr>
        <p:spPr bwMode="auto">
          <a:xfrm flipH="1">
            <a:off x="7053786" y="2597009"/>
            <a:ext cx="80962" cy="252413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9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763000" cy="64810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报文类型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10" name="Text Box 3"/>
          <p:cNvSpPr txBox="1">
            <a:spLocks noGrp="1" noChangeArrowheads="1"/>
          </p:cNvSpPr>
          <p:nvPr>
            <p:ph sz="half" idx="1"/>
          </p:nvPr>
        </p:nvSpPr>
        <p:spPr bwMode="auto">
          <a:xfrm>
            <a:off x="381000" y="1321658"/>
            <a:ext cx="8199004" cy="478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>
              <a:spcBef>
                <a:spcPct val="20000"/>
              </a:spcBef>
              <a:buBlip>
                <a:blip r:embed="rId2"/>
              </a:buBlip>
              <a:tabLst>
                <a:tab pos="715645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11530" indent="-266700">
              <a:spcBef>
                <a:spcPct val="20000"/>
              </a:spcBef>
              <a:buBlip>
                <a:blip r:embed="rId3"/>
              </a:buBlip>
              <a:tabLst>
                <a:tab pos="71564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15645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</a:defRPr>
            </a:lvl9pPr>
          </a:lstStyle>
          <a:p>
            <a:pPr marL="268605" indent="-268605">
              <a:lnSpc>
                <a:spcPts val="3300"/>
              </a:lnSpc>
              <a:spcBef>
                <a:spcPts val="600"/>
              </a:spcBef>
            </a:pPr>
            <a:r>
              <a:rPr lang="zh-CN" altLang="en-US" sz="2400" dirty="0">
                <a:cs typeface="Times New Roman" panose="02020603050405020304" pitchFamily="18" charset="0"/>
              </a:rPr>
              <a:t>典型的状态码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661676" y="1890930"/>
            <a:ext cx="7918328" cy="4219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CC000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200 OK</a:t>
            </a:r>
            <a:endParaRPr lang="en-US" altLang="zh-CN" sz="2200" dirty="0">
              <a:solidFill>
                <a:srgbClr val="CC0000"/>
              </a:solidFill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lvl="1">
              <a:lnSpc>
                <a:spcPts val="26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请求成功，被请求的对象包含在该响应的数据部分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CC000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301 Moved Permanently</a:t>
            </a:r>
            <a:endParaRPr lang="en-US" altLang="zh-CN" sz="2200" dirty="0">
              <a:solidFill>
                <a:srgbClr val="CC0000"/>
              </a:solidFill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lvl="1">
              <a:lnSpc>
                <a:spcPts val="2600"/>
              </a:lnSpc>
              <a:spcBef>
                <a:spcPts val="6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请求的对象被移走，新的位置在响应中通过</a:t>
            </a:r>
            <a:r>
              <a:rPr lang="en-US" altLang="zh-CN" sz="2000" b="1" i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Location: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给出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CC000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400 Bad Request</a:t>
            </a:r>
            <a:endParaRPr lang="en-US" altLang="zh-CN" sz="2200" dirty="0">
              <a:solidFill>
                <a:srgbClr val="CC0000"/>
              </a:solidFill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lvl="1">
              <a:lnSpc>
                <a:spcPts val="2600"/>
              </a:lnSpc>
              <a:spcBef>
                <a:spcPts val="600"/>
              </a:spcBef>
            </a:pPr>
            <a:r>
              <a:rPr lang="zh-CN" altLang="en-US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服务器不能解释请求报文</a:t>
            </a:r>
            <a:endParaRPr lang="en-US" altLang="zh-CN" sz="2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2A09B7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404 Not Found</a:t>
            </a:r>
            <a:endParaRPr lang="en-US" altLang="zh-CN" sz="2200" dirty="0">
              <a:solidFill>
                <a:srgbClr val="2A09B7"/>
              </a:solidFill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  <a:p>
            <a:pPr lvl="1">
              <a:lnSpc>
                <a:spcPts val="2600"/>
              </a:lnSpc>
              <a:spcBef>
                <a:spcPts val="600"/>
              </a:spcBef>
            </a:pPr>
            <a:r>
              <a:rPr lang="zh-CN" altLang="en-US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服务器中找不到请求的文档</a:t>
            </a:r>
            <a:endParaRPr lang="en-US" altLang="zh-CN" sz="2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solidFill>
                  <a:srgbClr val="CC0000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505 HTTP Version Not Supported</a:t>
            </a:r>
          </a:p>
          <a:p>
            <a:pPr lvl="1">
              <a:lnSpc>
                <a:spcPts val="2600"/>
              </a:lnSpc>
              <a:spcBef>
                <a:spcPts val="600"/>
              </a:spcBef>
            </a:pPr>
            <a:r>
              <a:rPr lang="zh-CN" altLang="en-US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服务器不支持相应的</a:t>
            </a:r>
            <a:r>
              <a:rPr lang="en-US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版本</a:t>
            </a:r>
            <a:endParaRPr lang="en-US" altLang="zh-CN" sz="2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 bwMode="auto">
          <a:xfrm>
            <a:off x="6877050" y="188913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algn="r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kumimoji="1"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¾"/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ctr" rtl="0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¾"/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ctr" rtl="0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¾"/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ctr" rtl="0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¾"/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umimoji="1" sz="2800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>
              <a:defRPr/>
            </a:pPr>
            <a:fld id="{8DC642FC-417A-404D-B5BA-30A602EC159A}" type="slidenum">
              <a:rPr lang="en-US" altLang="zh-CN" smtClean="0"/>
              <a:t>93</a:t>
            </a:fld>
            <a:endParaRPr lang="en-US" altLang="zh-CN"/>
          </a:p>
        </p:txBody>
      </p:sp>
      <p:sp>
        <p:nvSpPr>
          <p:cNvPr id="113668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366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341" y="13904"/>
            <a:ext cx="9082088" cy="6595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用户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服务器交互：认证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454" name="Line 4"/>
          <p:cNvSpPr>
            <a:spLocks noChangeShapeType="1"/>
          </p:cNvSpPr>
          <p:nvPr/>
        </p:nvSpPr>
        <p:spPr bwMode="auto">
          <a:xfrm>
            <a:off x="5146154" y="1990725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455" name="Text Box 5"/>
          <p:cNvSpPr txBox="1">
            <a:spLocks noChangeArrowheads="1"/>
          </p:cNvSpPr>
          <p:nvPr/>
        </p:nvSpPr>
        <p:spPr bwMode="auto">
          <a:xfrm>
            <a:off x="4968701" y="1454987"/>
            <a:ext cx="954107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客户端</a:t>
            </a:r>
            <a:endParaRPr kumimoji="0"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456" name="Text Box 6"/>
          <p:cNvSpPr txBox="1">
            <a:spLocks noChangeArrowheads="1"/>
          </p:cNvSpPr>
          <p:nvPr/>
        </p:nvSpPr>
        <p:spPr bwMode="auto">
          <a:xfrm>
            <a:off x="7652013" y="1433902"/>
            <a:ext cx="954107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2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服务器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457" name="Rectangle 7"/>
          <p:cNvSpPr>
            <a:spLocks noChangeArrowheads="1"/>
          </p:cNvSpPr>
          <p:nvPr/>
        </p:nvSpPr>
        <p:spPr bwMode="auto">
          <a:xfrm>
            <a:off x="5384279" y="1990725"/>
            <a:ext cx="2686050" cy="3143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458" name="Text Box 8"/>
          <p:cNvSpPr txBox="1">
            <a:spLocks noChangeArrowheads="1"/>
          </p:cNvSpPr>
          <p:nvPr/>
        </p:nvSpPr>
        <p:spPr bwMode="auto">
          <a:xfrm>
            <a:off x="5390629" y="1974850"/>
            <a:ext cx="2681288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常规</a:t>
            </a:r>
            <a:r>
              <a:rPr kumimoji="0"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kumimoji="0"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</a:t>
            </a:r>
            <a:endParaRPr kumimoji="0"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459" name="Line 9"/>
          <p:cNvSpPr>
            <a:spLocks noChangeShapeType="1"/>
          </p:cNvSpPr>
          <p:nvPr/>
        </p:nvSpPr>
        <p:spPr bwMode="auto">
          <a:xfrm flipH="1">
            <a:off x="5174729" y="2522534"/>
            <a:ext cx="3246424" cy="29686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460" name="Rectangle 10"/>
          <p:cNvSpPr>
            <a:spLocks noChangeArrowheads="1"/>
          </p:cNvSpPr>
          <p:nvPr/>
        </p:nvSpPr>
        <p:spPr bwMode="auto">
          <a:xfrm>
            <a:off x="5508104" y="2411413"/>
            <a:ext cx="2505075" cy="5572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461" name="Text Box 11"/>
          <p:cNvSpPr txBox="1">
            <a:spLocks noChangeArrowheads="1"/>
          </p:cNvSpPr>
          <p:nvPr/>
        </p:nvSpPr>
        <p:spPr bwMode="auto">
          <a:xfrm>
            <a:off x="5384279" y="2374900"/>
            <a:ext cx="2687638" cy="6463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401: authorization req.</a:t>
            </a:r>
          </a:p>
          <a:p>
            <a:pPr algn="ctr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WWW authenticate:</a:t>
            </a:r>
            <a:endParaRPr kumimoji="0"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462" name="Line 12"/>
          <p:cNvSpPr>
            <a:spLocks noChangeShapeType="1"/>
          </p:cNvSpPr>
          <p:nvPr/>
        </p:nvSpPr>
        <p:spPr bwMode="auto">
          <a:xfrm>
            <a:off x="5155679" y="3581400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4463" name="Group 13"/>
          <p:cNvGrpSpPr/>
          <p:nvPr/>
        </p:nvGrpSpPr>
        <p:grpSpPr bwMode="auto">
          <a:xfrm>
            <a:off x="5344592" y="3384553"/>
            <a:ext cx="2755900" cy="646113"/>
            <a:chOff x="3124" y="2762"/>
            <a:chExt cx="1689" cy="407"/>
          </a:xfrm>
        </p:grpSpPr>
        <p:sp>
          <p:nvSpPr>
            <p:cNvPr id="104480" name="Rectangle 14"/>
            <p:cNvSpPr>
              <a:spLocks noChangeArrowheads="1"/>
            </p:cNvSpPr>
            <p:nvPr/>
          </p:nvSpPr>
          <p:spPr bwMode="auto">
            <a:xfrm>
              <a:off x="3186" y="2791"/>
              <a:ext cx="1578" cy="3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481" name="Text Box 15"/>
            <p:cNvSpPr txBox="1">
              <a:spLocks noChangeArrowheads="1"/>
            </p:cNvSpPr>
            <p:nvPr/>
          </p:nvSpPr>
          <p:spPr bwMode="auto">
            <a:xfrm>
              <a:off x="3124" y="2762"/>
              <a:ext cx="1689" cy="4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常规</a:t>
              </a:r>
              <a:r>
                <a:rPr kumimoji="0"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HTTP</a:t>
              </a:r>
              <a:r>
                <a:rPr kumimoji="0"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请求，包含</a:t>
              </a:r>
              <a:endPara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Authorization: &lt;cred&gt;</a:t>
              </a:r>
            </a:p>
          </p:txBody>
        </p:sp>
      </p:grpSp>
      <p:sp>
        <p:nvSpPr>
          <p:cNvPr id="104464" name="Line 16"/>
          <p:cNvSpPr>
            <a:spLocks noChangeShapeType="1"/>
          </p:cNvSpPr>
          <p:nvPr/>
        </p:nvSpPr>
        <p:spPr bwMode="auto">
          <a:xfrm flipH="1">
            <a:off x="5146153" y="4152899"/>
            <a:ext cx="3286109" cy="295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4465" name="Group 17"/>
          <p:cNvGrpSpPr/>
          <p:nvPr/>
        </p:nvGrpSpPr>
        <p:grpSpPr bwMode="auto">
          <a:xfrm>
            <a:off x="5344593" y="4098925"/>
            <a:ext cx="2755900" cy="369888"/>
            <a:chOff x="3268" y="2846"/>
            <a:chExt cx="1743" cy="233"/>
          </a:xfrm>
        </p:grpSpPr>
        <p:sp>
          <p:nvSpPr>
            <p:cNvPr id="104478" name="Rectangle 18"/>
            <p:cNvSpPr>
              <a:spLocks noChangeArrowheads="1"/>
            </p:cNvSpPr>
            <p:nvPr/>
          </p:nvSpPr>
          <p:spPr bwMode="auto">
            <a:xfrm>
              <a:off x="3282" y="2856"/>
              <a:ext cx="1692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479" name="Text Box 19"/>
            <p:cNvSpPr txBox="1">
              <a:spLocks noChangeArrowheads="1"/>
            </p:cNvSpPr>
            <p:nvPr/>
          </p:nvSpPr>
          <p:spPr bwMode="auto">
            <a:xfrm>
              <a:off x="3268" y="2846"/>
              <a:ext cx="1743" cy="2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常规</a:t>
              </a:r>
              <a:r>
                <a:rPr kumimoji="0"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HTTP</a:t>
              </a:r>
              <a:r>
                <a:rPr kumimoji="0"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请求响应</a:t>
              </a:r>
              <a:endPara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04466" name="Line 20"/>
          <p:cNvSpPr>
            <a:spLocks noChangeShapeType="1"/>
          </p:cNvSpPr>
          <p:nvPr/>
        </p:nvSpPr>
        <p:spPr bwMode="auto">
          <a:xfrm>
            <a:off x="5127104" y="5067300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4467" name="Group 21"/>
          <p:cNvGrpSpPr/>
          <p:nvPr/>
        </p:nvGrpSpPr>
        <p:grpSpPr bwMode="auto">
          <a:xfrm>
            <a:off x="5344591" y="4889503"/>
            <a:ext cx="2755893" cy="646113"/>
            <a:chOff x="3124" y="2762"/>
            <a:chExt cx="1689" cy="407"/>
          </a:xfrm>
        </p:grpSpPr>
        <p:sp>
          <p:nvSpPr>
            <p:cNvPr id="104476" name="Rectangle 22"/>
            <p:cNvSpPr>
              <a:spLocks noChangeArrowheads="1"/>
            </p:cNvSpPr>
            <p:nvPr/>
          </p:nvSpPr>
          <p:spPr bwMode="auto">
            <a:xfrm>
              <a:off x="3186" y="2791"/>
              <a:ext cx="1578" cy="3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477" name="Text Box 23"/>
            <p:cNvSpPr txBox="1">
              <a:spLocks noChangeArrowheads="1"/>
            </p:cNvSpPr>
            <p:nvPr/>
          </p:nvSpPr>
          <p:spPr bwMode="auto">
            <a:xfrm>
              <a:off x="3124" y="2762"/>
              <a:ext cx="1689" cy="4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常规</a:t>
              </a:r>
              <a:r>
                <a:rPr kumimoji="0"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HTTP</a:t>
              </a:r>
              <a:r>
                <a:rPr kumimoji="0"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请求，包含</a:t>
              </a:r>
              <a:endPara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Authorization: &lt;cred&gt;</a:t>
              </a:r>
              <a:endParaRPr kumimoji="0"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04468" name="Line 24"/>
          <p:cNvSpPr>
            <a:spLocks noChangeShapeType="1"/>
          </p:cNvSpPr>
          <p:nvPr/>
        </p:nvSpPr>
        <p:spPr bwMode="auto">
          <a:xfrm flipH="1">
            <a:off x="5155679" y="5657850"/>
            <a:ext cx="3265488" cy="28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4469" name="Group 25"/>
          <p:cNvGrpSpPr/>
          <p:nvPr/>
        </p:nvGrpSpPr>
        <p:grpSpPr bwMode="auto">
          <a:xfrm>
            <a:off x="5344592" y="5594350"/>
            <a:ext cx="2755901" cy="369888"/>
            <a:chOff x="3251" y="2846"/>
            <a:chExt cx="1736" cy="233"/>
          </a:xfrm>
        </p:grpSpPr>
        <p:sp>
          <p:nvSpPr>
            <p:cNvPr id="104474" name="Rectangle 26"/>
            <p:cNvSpPr>
              <a:spLocks noChangeArrowheads="1"/>
            </p:cNvSpPr>
            <p:nvPr/>
          </p:nvSpPr>
          <p:spPr bwMode="auto">
            <a:xfrm>
              <a:off x="3282" y="2856"/>
              <a:ext cx="1692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475" name="Text Box 27"/>
            <p:cNvSpPr txBox="1">
              <a:spLocks noChangeArrowheads="1"/>
            </p:cNvSpPr>
            <p:nvPr/>
          </p:nvSpPr>
          <p:spPr bwMode="auto">
            <a:xfrm>
              <a:off x="3251" y="2846"/>
              <a:ext cx="1736" cy="2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常规</a:t>
              </a:r>
              <a:r>
                <a:rPr kumimoji="0"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HTTP</a:t>
              </a:r>
              <a:r>
                <a:rPr kumimoji="0"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请求响应</a:t>
              </a:r>
              <a:endPara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04470" name="Line 28"/>
          <p:cNvSpPr>
            <a:spLocks noChangeShapeType="1"/>
          </p:cNvSpPr>
          <p:nvPr/>
        </p:nvSpPr>
        <p:spPr bwMode="auto">
          <a:xfrm>
            <a:off x="8813279" y="1916113"/>
            <a:ext cx="0" cy="41433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4471" name="Group 29"/>
          <p:cNvGrpSpPr/>
          <p:nvPr/>
        </p:nvGrpSpPr>
        <p:grpSpPr bwMode="auto">
          <a:xfrm>
            <a:off x="8484673" y="5394325"/>
            <a:ext cx="696913" cy="400050"/>
            <a:chOff x="5001" y="3499"/>
            <a:chExt cx="439" cy="252"/>
          </a:xfrm>
        </p:grpSpPr>
        <p:sp>
          <p:nvSpPr>
            <p:cNvPr id="104472" name="Rectangle 30"/>
            <p:cNvSpPr>
              <a:spLocks noChangeArrowheads="1"/>
            </p:cNvSpPr>
            <p:nvPr/>
          </p:nvSpPr>
          <p:spPr bwMode="auto">
            <a:xfrm>
              <a:off x="5040" y="3564"/>
              <a:ext cx="360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473" name="Text Box 31"/>
            <p:cNvSpPr txBox="1">
              <a:spLocks noChangeArrowheads="1"/>
            </p:cNvSpPr>
            <p:nvPr/>
          </p:nvSpPr>
          <p:spPr bwMode="auto">
            <a:xfrm>
              <a:off x="5001" y="3499"/>
              <a:ext cx="439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时间</a:t>
              </a:r>
              <a:endPara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49683" y="1563425"/>
            <a:ext cx="4396421" cy="373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2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268605" indent="-268605">
              <a:lnSpc>
                <a:spcPts val="3300"/>
              </a:lnSpc>
              <a:spcBef>
                <a:spcPts val="600"/>
              </a:spcBef>
            </a:pPr>
            <a:r>
              <a:rPr lang="zh-CN" altLang="en-US" sz="2200" dirty="0">
                <a:cs typeface="Times New Roman" panose="02020603050405020304" pitchFamily="18" charset="0"/>
              </a:rPr>
              <a:t>认证：控制对服务器内容的访问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535305" lvl="1">
              <a:lnSpc>
                <a:spcPts val="3300"/>
              </a:lnSpc>
              <a:spcBef>
                <a:spcPts val="600"/>
              </a:spcBef>
            </a:pPr>
            <a:r>
              <a:rPr lang="zh-CN" altLang="en-US" sz="1800" dirty="0">
                <a:cs typeface="Times New Roman" panose="02020603050405020304" pitchFamily="18" charset="0"/>
              </a:rPr>
              <a:t>认证方法：通常使用“名字</a:t>
            </a:r>
            <a:r>
              <a:rPr lang="en-US" altLang="zh-CN" sz="1800" dirty="0">
                <a:cs typeface="Times New Roman" panose="02020603050405020304" pitchFamily="18" charset="0"/>
              </a:rPr>
              <a:t>-</a:t>
            </a:r>
            <a:r>
              <a:rPr lang="zh-CN" altLang="en-US" sz="1800" dirty="0">
                <a:cs typeface="Times New Roman" panose="02020603050405020304" pitchFamily="18" charset="0"/>
              </a:rPr>
              <a:t>口令”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535305" lvl="1">
              <a:lnSpc>
                <a:spcPts val="3300"/>
              </a:lnSpc>
              <a:spcBef>
                <a:spcPts val="600"/>
              </a:spcBef>
            </a:pPr>
            <a:r>
              <a:rPr lang="zh-CN" altLang="en-US" sz="1800" dirty="0">
                <a:cs typeface="Times New Roman" panose="02020603050405020304" pitchFamily="18" charset="0"/>
              </a:rPr>
              <a:t>无状态：客户端需要在每个请求中携带认证信息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535305" lvl="1">
              <a:lnSpc>
                <a:spcPts val="3300"/>
              </a:lnSpc>
              <a:spcBef>
                <a:spcPts val="600"/>
              </a:spcBef>
            </a:pPr>
            <a:r>
              <a:rPr lang="zh-CN" altLang="en-US" sz="1800" dirty="0">
                <a:cs typeface="Times New Roman" panose="02020603050405020304" pitchFamily="18" charset="0"/>
              </a:rPr>
              <a:t>每个请求头中包含</a:t>
            </a:r>
            <a:r>
              <a:rPr lang="en-US" altLang="zh-CN" sz="2000" b="1" i="1" dirty="0">
                <a:solidFill>
                  <a:srgbClr val="00B050"/>
                </a:solidFill>
                <a:cs typeface="Times New Roman" panose="02020603050405020304" pitchFamily="18" charset="0"/>
              </a:rPr>
              <a:t>authorization:</a:t>
            </a:r>
            <a:r>
              <a:rPr lang="zh-CN" altLang="en-US" sz="2000" b="1" i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535305" lvl="1">
              <a:lnSpc>
                <a:spcPts val="3300"/>
              </a:lnSpc>
              <a:spcBef>
                <a:spcPts val="600"/>
              </a:spcBef>
            </a:pPr>
            <a:r>
              <a:rPr lang="zh-CN" altLang="en-US" sz="1800" dirty="0">
                <a:cs typeface="Times New Roman" panose="02020603050405020304" pitchFamily="18" charset="0"/>
              </a:rPr>
              <a:t>如果请求头中无</a:t>
            </a:r>
            <a:r>
              <a:rPr lang="en-US" altLang="zh-CN" sz="2000" b="1" i="1" dirty="0">
                <a:solidFill>
                  <a:srgbClr val="00B050"/>
                </a:solidFill>
                <a:cs typeface="Times New Roman" panose="02020603050405020304" pitchFamily="18" charset="0"/>
              </a:rPr>
              <a:t>authorization:</a:t>
            </a:r>
            <a:r>
              <a:rPr lang="zh-CN" altLang="en-US" sz="2000" b="1" i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cs typeface="Times New Roman" panose="02020603050405020304" pitchFamily="18" charset="0"/>
              </a:rPr>
              <a:t>，则服务器拒绝访问，并在响应头中包含</a:t>
            </a:r>
            <a:r>
              <a:rPr lang="en-US" altLang="zh-CN" sz="2000" b="1" i="1" dirty="0">
                <a:solidFill>
                  <a:srgbClr val="00B050"/>
                </a:solidFill>
                <a:cs typeface="Times New Roman" panose="02020603050405020304" pitchFamily="18" charset="0"/>
              </a:rPr>
              <a:t>WWW authenticate</a:t>
            </a:r>
            <a:r>
              <a:rPr lang="zh-CN" altLang="en-US" sz="2000" b="1" i="1" dirty="0">
                <a:solidFill>
                  <a:srgbClr val="00B050"/>
                </a:solidFill>
                <a:cs typeface="Times New Roman" panose="02020603050405020304" pitchFamily="18" charset="0"/>
              </a:rPr>
              <a:t>：</a:t>
            </a:r>
            <a:endParaRPr lang="en-US" altLang="zh-CN" sz="18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用户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服务器状态：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Cookies</a:t>
            </a: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47856" y="1460414"/>
            <a:ext cx="4387122" cy="4975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zh-CN" altLang="en-US" sz="2200" dirty="0">
                <a:cs typeface="Times New Roman" panose="02020603050405020304" pitchFamily="18" charset="0"/>
              </a:rPr>
              <a:t>服务器使用</a:t>
            </a:r>
            <a:r>
              <a:rPr lang="en-US" altLang="zh-CN" sz="2200" dirty="0">
                <a:cs typeface="Times New Roman" panose="02020603050405020304" pitchFamily="18" charset="0"/>
              </a:rPr>
              <a:t>cookies</a:t>
            </a:r>
            <a:r>
              <a:rPr lang="zh-CN" altLang="en-US" sz="2200" dirty="0">
                <a:cs typeface="Times New Roman" panose="02020603050405020304" pitchFamily="18" charset="0"/>
              </a:rPr>
              <a:t>保持状态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627380" lvl="1" indent="-271780"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cs typeface="Times New Roman" panose="02020603050405020304" pitchFamily="18" charset="0"/>
              </a:rPr>
              <a:t>HTTP</a:t>
            </a:r>
            <a:r>
              <a:rPr lang="zh-CN" altLang="en-US" sz="2000" dirty="0">
                <a:cs typeface="Times New Roman" panose="02020603050405020304" pitchFamily="18" charset="0"/>
              </a:rPr>
              <a:t>响应头中使用</a:t>
            </a:r>
            <a:r>
              <a:rPr lang="en-US" altLang="zh-CN" sz="2000" b="1" i="1" dirty="0">
                <a:solidFill>
                  <a:srgbClr val="00B050"/>
                </a:solidFill>
                <a:cs typeface="Times New Roman" panose="02020603050405020304" pitchFamily="18" charset="0"/>
              </a:rPr>
              <a:t>set-cookie</a:t>
            </a:r>
            <a:r>
              <a:rPr lang="zh-CN" altLang="en-US" sz="2000" b="1" i="1" dirty="0">
                <a:solidFill>
                  <a:srgbClr val="00B050"/>
                </a:solidFill>
                <a:cs typeface="Times New Roman" panose="02020603050405020304" pitchFamily="18" charset="0"/>
              </a:rPr>
              <a:t>：</a:t>
            </a:r>
            <a:endParaRPr lang="en-US" altLang="zh-CN" sz="2000" b="1" i="1" dirty="0">
              <a:solidFill>
                <a:srgbClr val="00B050"/>
              </a:solidFill>
              <a:cs typeface="Times New Roman" panose="02020603050405020304" pitchFamily="18" charset="0"/>
            </a:endParaRPr>
          </a:p>
          <a:p>
            <a:pPr marL="958850" lvl="2" indent="-271780">
              <a:lnSpc>
                <a:spcPts val="28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2A09B7"/>
                </a:solidFill>
                <a:cs typeface="Times New Roman" panose="02020603050405020304" pitchFamily="18" charset="0"/>
              </a:rPr>
              <a:t>选择的</a:t>
            </a:r>
            <a:r>
              <a:rPr lang="en-US" altLang="zh-CN" sz="1600" dirty="0">
                <a:solidFill>
                  <a:srgbClr val="2A09B7"/>
                </a:solidFill>
                <a:cs typeface="Times New Roman" panose="02020603050405020304" pitchFamily="18" charset="0"/>
              </a:rPr>
              <a:t>c</a:t>
            </a:r>
            <a:r>
              <a:rPr lang="en-US" altLang="zh-CN" sz="1600" dirty="0">
                <a:cs typeface="Times New Roman" panose="02020603050405020304" pitchFamily="18" charset="0"/>
              </a:rPr>
              <a:t>ookie</a:t>
            </a:r>
            <a:r>
              <a:rPr lang="zh-CN" altLang="en-US" sz="1600" dirty="0">
                <a:cs typeface="Times New Roman" panose="02020603050405020304" pitchFamily="18" charset="0"/>
              </a:rPr>
              <a:t>号</a:t>
            </a:r>
            <a:r>
              <a:rPr lang="zh-CN" altLang="en-US" sz="1600" dirty="0">
                <a:solidFill>
                  <a:srgbClr val="2A09B7"/>
                </a:solidFill>
                <a:cs typeface="Times New Roman" panose="02020603050405020304" pitchFamily="18" charset="0"/>
              </a:rPr>
              <a:t>具有唯一性</a:t>
            </a:r>
            <a:endParaRPr lang="en-US" altLang="zh-CN" sz="1600" dirty="0">
              <a:solidFill>
                <a:srgbClr val="2A09B7"/>
              </a:solidFill>
              <a:cs typeface="Times New Roman" panose="02020603050405020304" pitchFamily="18" charset="0"/>
            </a:endParaRPr>
          </a:p>
          <a:p>
            <a:pPr marL="627380" lvl="1" indent="-271780"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后继的</a:t>
            </a:r>
            <a:r>
              <a:rPr lang="en-US" altLang="zh-CN" sz="2000" dirty="0">
                <a:cs typeface="Times New Roman" panose="02020603050405020304" pitchFamily="18" charset="0"/>
              </a:rPr>
              <a:t>HTTP</a:t>
            </a:r>
            <a:r>
              <a:rPr lang="zh-CN" altLang="en-US" sz="2000" dirty="0">
                <a:cs typeface="Times New Roman" panose="02020603050405020304" pitchFamily="18" charset="0"/>
              </a:rPr>
              <a:t>请求中使用</a:t>
            </a:r>
            <a:r>
              <a:rPr lang="en-US" altLang="zh-CN" sz="2000" b="1" i="1" dirty="0">
                <a:solidFill>
                  <a:srgbClr val="00B050"/>
                </a:solidFill>
                <a:cs typeface="Times New Roman" panose="02020603050405020304" pitchFamily="18" charset="0"/>
              </a:rPr>
              <a:t>cookie</a:t>
            </a:r>
            <a:r>
              <a:rPr lang="zh-CN" altLang="en-US" sz="2000" b="1" i="1" dirty="0">
                <a:solidFill>
                  <a:srgbClr val="00B050"/>
                </a:solidFill>
                <a:cs typeface="Times New Roman" panose="02020603050405020304" pitchFamily="18" charset="0"/>
              </a:rPr>
              <a:t>：</a:t>
            </a:r>
            <a:endParaRPr lang="en-US" altLang="zh-CN" sz="2000" b="1" i="1" dirty="0">
              <a:solidFill>
                <a:srgbClr val="00B050"/>
              </a:solidFill>
              <a:cs typeface="Times New Roman" panose="02020603050405020304" pitchFamily="18" charset="0"/>
            </a:endParaRPr>
          </a:p>
          <a:p>
            <a:pPr marL="627380" lvl="1" indent="-271780">
              <a:lnSpc>
                <a:spcPts val="28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Cookie</a:t>
            </a:r>
            <a:r>
              <a:rPr lang="zh-CN" altLang="en-US" sz="2000" b="1" dirty="0">
                <a:solidFill>
                  <a:srgbClr val="C00000"/>
                </a:solidFill>
                <a:cs typeface="Times New Roman" panose="02020603050405020304" pitchFamily="18" charset="0"/>
              </a:rPr>
              <a:t>文件</a:t>
            </a:r>
            <a:r>
              <a:rPr lang="zh-CN" altLang="en-US" sz="2000" dirty="0">
                <a:cs typeface="Times New Roman" panose="02020603050405020304" pitchFamily="18" charset="0"/>
              </a:rPr>
              <a:t>保存在用户的主机中，由用户主机中的浏览器管理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627380" lvl="1" indent="-271780"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cs typeface="Times New Roman" panose="02020603050405020304" pitchFamily="18" charset="0"/>
              </a:rPr>
              <a:t>Web</a:t>
            </a:r>
            <a:r>
              <a:rPr lang="zh-CN" altLang="en-US" sz="2000" dirty="0">
                <a:cs typeface="Times New Roman" panose="02020603050405020304" pitchFamily="18" charset="0"/>
              </a:rPr>
              <a:t>服务器建立后端数据库，记录用户信息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627380" lvl="1" indent="-271780"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cs typeface="Times New Roman" panose="02020603050405020304" pitchFamily="18" charset="0"/>
              </a:rPr>
              <a:t>例如：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958850" lvl="2" indent="-271780">
              <a:lnSpc>
                <a:spcPts val="2600"/>
              </a:lnSpc>
              <a:spcBef>
                <a:spcPts val="600"/>
              </a:spcBef>
            </a:pPr>
            <a:r>
              <a:rPr lang="zh-CN" altLang="zh-CN" sz="1600" b="1" dirty="0">
                <a:solidFill>
                  <a:srgbClr val="C00000"/>
                </a:solidFill>
                <a:cs typeface="Times New Roman" panose="02020603050405020304" pitchFamily="18" charset="0"/>
              </a:rPr>
              <a:t>Set-Cookie</a:t>
            </a:r>
            <a:r>
              <a:rPr lang="zh-CN" altLang="zh-CN" sz="1600" dirty="0">
                <a:solidFill>
                  <a:srgbClr val="000000"/>
                </a:solidFill>
                <a:cs typeface="Times New Roman" panose="02020603050405020304" pitchFamily="18" charset="0"/>
              </a:rPr>
              <a:t>: SID=31d4d96e407aad42; Path=/; Domain=example.com</a:t>
            </a:r>
            <a:endParaRPr lang="en-US" altLang="zh-CN" sz="16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958850" lvl="2" indent="-271780">
              <a:lnSpc>
                <a:spcPts val="2600"/>
              </a:lnSpc>
              <a:spcBef>
                <a:spcPts val="600"/>
              </a:spcBef>
            </a:pPr>
            <a:r>
              <a:rPr lang="zh-CN" altLang="zh-CN" sz="1600" b="1" dirty="0">
                <a:solidFill>
                  <a:srgbClr val="C00000"/>
                </a:solidFill>
                <a:cs typeface="Times New Roman" panose="02020603050405020304" pitchFamily="18" charset="0"/>
              </a:rPr>
              <a:t>Cookie</a:t>
            </a:r>
            <a:r>
              <a:rPr lang="zh-CN" altLang="zh-CN" sz="1600" dirty="0">
                <a:solidFill>
                  <a:srgbClr val="000000"/>
                </a:solidFill>
                <a:cs typeface="Times New Roman" panose="02020603050405020304" pitchFamily="18" charset="0"/>
              </a:rPr>
              <a:t>: </a:t>
            </a:r>
            <a:r>
              <a:rPr lang="en-US" altLang="zh-CN" sz="16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cs typeface="Times New Roman" panose="02020603050405020304" pitchFamily="18" charset="0"/>
              </a:rPr>
              <a:t>SID=31d4d96e407aad4</a:t>
            </a:r>
            <a:r>
              <a:rPr lang="en-US" altLang="zh-CN" sz="16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1" name="Line 4"/>
          <p:cNvSpPr>
            <a:spLocks noChangeShapeType="1"/>
          </p:cNvSpPr>
          <p:nvPr/>
        </p:nvSpPr>
        <p:spPr bwMode="auto">
          <a:xfrm>
            <a:off x="5146154" y="1990725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2" name="Text Box 5"/>
          <p:cNvSpPr txBox="1">
            <a:spLocks noChangeArrowheads="1"/>
          </p:cNvSpPr>
          <p:nvPr/>
        </p:nvSpPr>
        <p:spPr bwMode="auto">
          <a:xfrm>
            <a:off x="4968701" y="1460414"/>
            <a:ext cx="954107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客户端</a:t>
            </a:r>
            <a:endParaRPr kumimoji="0"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7652013" y="1433902"/>
            <a:ext cx="954107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2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服务器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7"/>
          <p:cNvSpPr>
            <a:spLocks noChangeArrowheads="1"/>
          </p:cNvSpPr>
          <p:nvPr/>
        </p:nvSpPr>
        <p:spPr bwMode="auto">
          <a:xfrm>
            <a:off x="5384279" y="1990725"/>
            <a:ext cx="2686050" cy="3143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5" name="Text Box 8"/>
          <p:cNvSpPr txBox="1">
            <a:spLocks noChangeArrowheads="1"/>
          </p:cNvSpPr>
          <p:nvPr/>
        </p:nvSpPr>
        <p:spPr bwMode="auto">
          <a:xfrm>
            <a:off x="5390629" y="1974850"/>
            <a:ext cx="2681288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ctr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常规</a:t>
            </a:r>
            <a:r>
              <a:rPr kumimoji="0"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kumimoji="0"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</a:t>
            </a:r>
            <a:endParaRPr kumimoji="0"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6" name="Line 9"/>
          <p:cNvSpPr>
            <a:spLocks noChangeShapeType="1"/>
          </p:cNvSpPr>
          <p:nvPr/>
        </p:nvSpPr>
        <p:spPr bwMode="auto">
          <a:xfrm flipH="1">
            <a:off x="5174729" y="2522534"/>
            <a:ext cx="3246424" cy="29686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" name="Rectangle 10"/>
          <p:cNvSpPr>
            <a:spLocks noChangeArrowheads="1"/>
          </p:cNvSpPr>
          <p:nvPr/>
        </p:nvSpPr>
        <p:spPr bwMode="auto">
          <a:xfrm>
            <a:off x="5508104" y="2411413"/>
            <a:ext cx="2505075" cy="5572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8" name="Text Box 11"/>
          <p:cNvSpPr txBox="1">
            <a:spLocks noChangeArrowheads="1"/>
          </p:cNvSpPr>
          <p:nvPr/>
        </p:nvSpPr>
        <p:spPr bwMode="auto">
          <a:xfrm>
            <a:off x="5384279" y="2374900"/>
            <a:ext cx="2687638" cy="6463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0"/>
              </a:spcBef>
            </a:pPr>
            <a:r>
              <a:rPr kumimoji="0"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常规</a:t>
            </a:r>
            <a:r>
              <a:rPr kumimoji="0"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kumimoji="0"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请求响应</a:t>
            </a:r>
            <a:endParaRPr kumimoji="0"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eaLnBrk="0" hangingPunct="0">
              <a:spcBef>
                <a:spcPct val="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Set-cookie: #</a:t>
            </a:r>
          </a:p>
        </p:txBody>
      </p:sp>
      <p:sp>
        <p:nvSpPr>
          <p:cNvPr id="69" name="Line 12"/>
          <p:cNvSpPr>
            <a:spLocks noChangeShapeType="1"/>
          </p:cNvSpPr>
          <p:nvPr/>
        </p:nvSpPr>
        <p:spPr bwMode="auto">
          <a:xfrm>
            <a:off x="5155679" y="3581400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0" name="Group 13"/>
          <p:cNvGrpSpPr/>
          <p:nvPr/>
        </p:nvGrpSpPr>
        <p:grpSpPr bwMode="auto">
          <a:xfrm>
            <a:off x="5344592" y="3384553"/>
            <a:ext cx="2755900" cy="646113"/>
            <a:chOff x="3124" y="2762"/>
            <a:chExt cx="1689" cy="407"/>
          </a:xfrm>
        </p:grpSpPr>
        <p:sp>
          <p:nvSpPr>
            <p:cNvPr id="71" name="Rectangle 14"/>
            <p:cNvSpPr>
              <a:spLocks noChangeArrowheads="1"/>
            </p:cNvSpPr>
            <p:nvPr/>
          </p:nvSpPr>
          <p:spPr bwMode="auto">
            <a:xfrm>
              <a:off x="3186" y="2791"/>
              <a:ext cx="1578" cy="3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Text Box 15"/>
            <p:cNvSpPr txBox="1">
              <a:spLocks noChangeArrowheads="1"/>
            </p:cNvSpPr>
            <p:nvPr/>
          </p:nvSpPr>
          <p:spPr bwMode="auto">
            <a:xfrm>
              <a:off x="3124" y="2762"/>
              <a:ext cx="1689" cy="4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常规</a:t>
              </a:r>
              <a:r>
                <a:rPr kumimoji="0"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HTTP</a:t>
              </a:r>
              <a:r>
                <a:rPr kumimoji="0"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请求，包含</a:t>
              </a:r>
              <a:endPara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Cookie: #</a:t>
              </a:r>
            </a:p>
          </p:txBody>
        </p:sp>
      </p:grpSp>
      <p:sp>
        <p:nvSpPr>
          <p:cNvPr id="73" name="Line 16"/>
          <p:cNvSpPr>
            <a:spLocks noChangeShapeType="1"/>
          </p:cNvSpPr>
          <p:nvPr/>
        </p:nvSpPr>
        <p:spPr bwMode="auto">
          <a:xfrm flipH="1">
            <a:off x="5146153" y="4152899"/>
            <a:ext cx="3286109" cy="295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4" name="Group 17"/>
          <p:cNvGrpSpPr/>
          <p:nvPr/>
        </p:nvGrpSpPr>
        <p:grpSpPr bwMode="auto">
          <a:xfrm>
            <a:off x="5344593" y="4098925"/>
            <a:ext cx="2755900" cy="369888"/>
            <a:chOff x="3268" y="2846"/>
            <a:chExt cx="1743" cy="233"/>
          </a:xfrm>
        </p:grpSpPr>
        <p:sp>
          <p:nvSpPr>
            <p:cNvPr id="75" name="Rectangle 18"/>
            <p:cNvSpPr>
              <a:spLocks noChangeArrowheads="1"/>
            </p:cNvSpPr>
            <p:nvPr/>
          </p:nvSpPr>
          <p:spPr bwMode="auto">
            <a:xfrm>
              <a:off x="3282" y="2856"/>
              <a:ext cx="1692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Text Box 19"/>
            <p:cNvSpPr txBox="1">
              <a:spLocks noChangeArrowheads="1"/>
            </p:cNvSpPr>
            <p:nvPr/>
          </p:nvSpPr>
          <p:spPr bwMode="auto">
            <a:xfrm>
              <a:off x="3268" y="2846"/>
              <a:ext cx="1743" cy="2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常规</a:t>
              </a:r>
              <a:r>
                <a:rPr kumimoji="0"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HTTP</a:t>
              </a:r>
              <a:r>
                <a:rPr kumimoji="0"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请求响应</a:t>
              </a:r>
              <a:endPara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7" name="Line 20"/>
          <p:cNvSpPr>
            <a:spLocks noChangeShapeType="1"/>
          </p:cNvSpPr>
          <p:nvPr/>
        </p:nvSpPr>
        <p:spPr bwMode="auto">
          <a:xfrm>
            <a:off x="5127104" y="5067300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8" name="Group 21"/>
          <p:cNvGrpSpPr/>
          <p:nvPr/>
        </p:nvGrpSpPr>
        <p:grpSpPr bwMode="auto">
          <a:xfrm>
            <a:off x="5344591" y="4889503"/>
            <a:ext cx="2755893" cy="646113"/>
            <a:chOff x="3124" y="2762"/>
            <a:chExt cx="1689" cy="407"/>
          </a:xfrm>
        </p:grpSpPr>
        <p:sp>
          <p:nvSpPr>
            <p:cNvPr id="79" name="Rectangle 22"/>
            <p:cNvSpPr>
              <a:spLocks noChangeArrowheads="1"/>
            </p:cNvSpPr>
            <p:nvPr/>
          </p:nvSpPr>
          <p:spPr bwMode="auto">
            <a:xfrm>
              <a:off x="3186" y="2791"/>
              <a:ext cx="1578" cy="3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Text Box 23"/>
            <p:cNvSpPr txBox="1">
              <a:spLocks noChangeArrowheads="1"/>
            </p:cNvSpPr>
            <p:nvPr/>
          </p:nvSpPr>
          <p:spPr bwMode="auto">
            <a:xfrm>
              <a:off x="3124" y="2762"/>
              <a:ext cx="1689" cy="4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常规</a:t>
              </a:r>
              <a:r>
                <a:rPr kumimoji="0"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HTTP</a:t>
              </a:r>
              <a:r>
                <a:rPr kumimoji="0"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请求，包含</a:t>
              </a:r>
              <a:endPara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 eaLnBrk="0" hangingPunct="0">
                <a:spcBef>
                  <a:spcPct val="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Cookie: #</a:t>
              </a:r>
            </a:p>
          </p:txBody>
        </p:sp>
      </p:grpSp>
      <p:sp>
        <p:nvSpPr>
          <p:cNvPr id="81" name="Line 24"/>
          <p:cNvSpPr>
            <a:spLocks noChangeShapeType="1"/>
          </p:cNvSpPr>
          <p:nvPr/>
        </p:nvSpPr>
        <p:spPr bwMode="auto">
          <a:xfrm flipH="1">
            <a:off x="5155679" y="5657850"/>
            <a:ext cx="3265488" cy="28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2" name="Group 25"/>
          <p:cNvGrpSpPr/>
          <p:nvPr/>
        </p:nvGrpSpPr>
        <p:grpSpPr bwMode="auto">
          <a:xfrm>
            <a:off x="5344592" y="5594350"/>
            <a:ext cx="2755901" cy="369888"/>
            <a:chOff x="3251" y="2846"/>
            <a:chExt cx="1736" cy="233"/>
          </a:xfrm>
        </p:grpSpPr>
        <p:sp>
          <p:nvSpPr>
            <p:cNvPr id="83" name="Rectangle 26"/>
            <p:cNvSpPr>
              <a:spLocks noChangeArrowheads="1"/>
            </p:cNvSpPr>
            <p:nvPr/>
          </p:nvSpPr>
          <p:spPr bwMode="auto">
            <a:xfrm>
              <a:off x="3282" y="2856"/>
              <a:ext cx="1692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Text Box 27"/>
            <p:cNvSpPr txBox="1">
              <a:spLocks noChangeArrowheads="1"/>
            </p:cNvSpPr>
            <p:nvPr/>
          </p:nvSpPr>
          <p:spPr bwMode="auto">
            <a:xfrm>
              <a:off x="3251" y="2846"/>
              <a:ext cx="1736" cy="23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常规</a:t>
              </a:r>
              <a:r>
                <a:rPr kumimoji="0"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HTTP</a:t>
              </a:r>
              <a:r>
                <a:rPr kumimoji="0"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请求响应</a:t>
              </a:r>
              <a:endPara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5" name="Line 28"/>
          <p:cNvSpPr>
            <a:spLocks noChangeShapeType="1"/>
          </p:cNvSpPr>
          <p:nvPr/>
        </p:nvSpPr>
        <p:spPr bwMode="auto">
          <a:xfrm>
            <a:off x="8813279" y="1916113"/>
            <a:ext cx="0" cy="41433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6" name="Group 29"/>
          <p:cNvGrpSpPr/>
          <p:nvPr/>
        </p:nvGrpSpPr>
        <p:grpSpPr bwMode="auto">
          <a:xfrm>
            <a:off x="8484673" y="5394325"/>
            <a:ext cx="696913" cy="400050"/>
            <a:chOff x="5001" y="3499"/>
            <a:chExt cx="439" cy="252"/>
          </a:xfrm>
        </p:grpSpPr>
        <p:sp>
          <p:nvSpPr>
            <p:cNvPr id="87" name="Rectangle 30"/>
            <p:cNvSpPr>
              <a:spLocks noChangeArrowheads="1"/>
            </p:cNvSpPr>
            <p:nvPr/>
          </p:nvSpPr>
          <p:spPr bwMode="auto">
            <a:xfrm>
              <a:off x="5040" y="3564"/>
              <a:ext cx="360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8" name="Text Box 31"/>
            <p:cNvSpPr txBox="1">
              <a:spLocks noChangeArrowheads="1"/>
            </p:cNvSpPr>
            <p:nvPr/>
          </p:nvSpPr>
          <p:spPr bwMode="auto">
            <a:xfrm>
              <a:off x="5001" y="3499"/>
              <a:ext cx="439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kumimoji="0"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时间</a:t>
              </a:r>
              <a:endParaRPr kumimoji="0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386513" y="4468813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……</a:t>
            </a:r>
            <a:endParaRPr lang="zh-CN" altLang="en-US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Web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缓存机制：客户端缓存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55794" y="1626646"/>
            <a:ext cx="4387122" cy="4455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2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3200"/>
              </a:lnSpc>
              <a:spcBef>
                <a:spcPts val="6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目标</a:t>
            </a:r>
            <a:r>
              <a:rPr lang="zh-CN" altLang="en-US" sz="2200" dirty="0">
                <a:cs typeface="Times New Roman" panose="02020603050405020304" pitchFamily="18" charset="0"/>
              </a:rPr>
              <a:t>：如果被请求的对象在客户端缓存有最近版本，则不需要发送该对象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>
              <a:lnSpc>
                <a:spcPts val="3200"/>
              </a:lnSpc>
              <a:spcBef>
                <a:spcPts val="6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客户端</a:t>
            </a:r>
            <a:r>
              <a:rPr lang="zh-CN" altLang="en-US" sz="2200" dirty="0">
                <a:cs typeface="Times New Roman" panose="02020603050405020304" pitchFamily="18" charset="0"/>
              </a:rPr>
              <a:t>：在发送的</a:t>
            </a:r>
            <a:r>
              <a:rPr lang="en-US" altLang="zh-CN" sz="2200" dirty="0">
                <a:cs typeface="Times New Roman" panose="02020603050405020304" pitchFamily="18" charset="0"/>
              </a:rPr>
              <a:t>HTTP</a:t>
            </a:r>
            <a:r>
              <a:rPr lang="zh-CN" altLang="en-US" sz="2200" dirty="0">
                <a:cs typeface="Times New Roman" panose="02020603050405020304" pitchFamily="18" charset="0"/>
              </a:rPr>
              <a:t>请求中指定缓存的时间，请求头包含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544830" lvl="1" indent="0">
              <a:lnSpc>
                <a:spcPts val="3200"/>
              </a:lnSpc>
              <a:spcBef>
                <a:spcPts val="6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If-modified-since: &lt;date&gt;</a:t>
            </a:r>
          </a:p>
          <a:p>
            <a:pPr>
              <a:lnSpc>
                <a:spcPts val="3200"/>
              </a:lnSpc>
              <a:spcBef>
                <a:spcPts val="6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服务器</a:t>
            </a:r>
            <a:r>
              <a:rPr lang="zh-CN" altLang="en-US" sz="2200" dirty="0">
                <a:cs typeface="Times New Roman" panose="02020603050405020304" pitchFamily="18" charset="0"/>
              </a:rPr>
              <a:t>：如果缓存的对象是最新的，在响应时无需包含该对象，响应头包含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lvl="1">
              <a:lnSpc>
                <a:spcPts val="3200"/>
              </a:lnSpc>
              <a:spcBef>
                <a:spcPts val="600"/>
              </a:spcBef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HTTP/1.1 304 Not Modified</a:t>
            </a:r>
            <a:endParaRPr lang="en-US" altLang="zh-CN" sz="20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62" name="Text Box 5"/>
          <p:cNvSpPr txBox="1">
            <a:spLocks noChangeArrowheads="1"/>
          </p:cNvSpPr>
          <p:nvPr/>
        </p:nvSpPr>
        <p:spPr bwMode="auto">
          <a:xfrm>
            <a:off x="4818509" y="1349072"/>
            <a:ext cx="954107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客户端</a:t>
            </a:r>
            <a:endParaRPr kumimoji="0"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7485509" y="1337829"/>
            <a:ext cx="954107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 sz="2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服务器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Line 4"/>
          <p:cNvSpPr>
            <a:spLocks noChangeShapeType="1"/>
          </p:cNvSpPr>
          <p:nvPr/>
        </p:nvSpPr>
        <p:spPr bwMode="auto">
          <a:xfrm>
            <a:off x="4989176" y="1928408"/>
            <a:ext cx="3330912" cy="44907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Text Box 7"/>
          <p:cNvSpPr txBox="1">
            <a:spLocks noChangeArrowheads="1"/>
          </p:cNvSpPr>
          <p:nvPr/>
        </p:nvSpPr>
        <p:spPr bwMode="auto">
          <a:xfrm>
            <a:off x="5295563" y="1812521"/>
            <a:ext cx="2681288" cy="61555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kumimoji="0"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</a:t>
            </a:r>
            <a:endParaRPr kumimoji="0"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If-modified-since: &lt;date&gt;</a:t>
            </a:r>
            <a:endParaRPr kumimoji="0"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Line 8"/>
          <p:cNvSpPr>
            <a:spLocks noChangeShapeType="1"/>
          </p:cNvSpPr>
          <p:nvPr/>
        </p:nvSpPr>
        <p:spPr bwMode="auto">
          <a:xfrm flipH="1">
            <a:off x="4989175" y="2968219"/>
            <a:ext cx="3371850" cy="40798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" name="Text Box 11"/>
          <p:cNvSpPr txBox="1">
            <a:spLocks noChangeArrowheads="1"/>
          </p:cNvSpPr>
          <p:nvPr/>
        </p:nvSpPr>
        <p:spPr bwMode="auto">
          <a:xfrm>
            <a:off x="5276513" y="2912656"/>
            <a:ext cx="2643188" cy="6159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kumimoji="0"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响应 </a:t>
            </a:r>
            <a:endParaRPr kumimoji="0"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HTTP/1.1 304 Not Modified</a:t>
            </a:r>
            <a:endParaRPr kumimoji="0"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" name="Text Box 12"/>
          <p:cNvSpPr txBox="1">
            <a:spLocks noChangeArrowheads="1"/>
          </p:cNvSpPr>
          <p:nvPr/>
        </p:nvSpPr>
        <p:spPr bwMode="auto">
          <a:xfrm>
            <a:off x="8266837" y="2255684"/>
            <a:ext cx="877163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solidFill>
                  <a:srgbClr val="2A09B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对象</a:t>
            </a:r>
            <a:endParaRPr kumimoji="0" lang="en-US" altLang="zh-CN" dirty="0">
              <a:solidFill>
                <a:srgbClr val="2A09B7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CN" altLang="en-US" dirty="0">
                <a:solidFill>
                  <a:srgbClr val="2A09B7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未修改</a:t>
            </a:r>
            <a:endParaRPr kumimoji="0" lang="en-US" altLang="zh-CN" dirty="0">
              <a:solidFill>
                <a:srgbClr val="2A09B7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6" name="Line 13"/>
          <p:cNvSpPr>
            <a:spLocks noChangeShapeType="1"/>
          </p:cNvSpPr>
          <p:nvPr/>
        </p:nvSpPr>
        <p:spPr bwMode="auto">
          <a:xfrm>
            <a:off x="4898683" y="3985808"/>
            <a:ext cx="390525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" name="Line 14"/>
          <p:cNvSpPr>
            <a:spLocks noChangeShapeType="1"/>
          </p:cNvSpPr>
          <p:nvPr/>
        </p:nvSpPr>
        <p:spPr bwMode="auto">
          <a:xfrm>
            <a:off x="5025679" y="4265210"/>
            <a:ext cx="3335348" cy="3968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" name="Text Box 15"/>
          <p:cNvSpPr txBox="1">
            <a:spLocks noChangeArrowheads="1"/>
          </p:cNvSpPr>
          <p:nvPr/>
        </p:nvSpPr>
        <p:spPr bwMode="auto">
          <a:xfrm>
            <a:off x="5300326" y="4165196"/>
            <a:ext cx="2681287" cy="6771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kumimoji="0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</a:t>
            </a:r>
            <a:endParaRPr kumimoji="0"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If-modified-since: &lt;date&gt;</a:t>
            </a:r>
            <a:endParaRPr kumimoji="0"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9" name="Line 16"/>
          <p:cNvSpPr>
            <a:spLocks noChangeShapeType="1"/>
          </p:cNvSpPr>
          <p:nvPr/>
        </p:nvSpPr>
        <p:spPr bwMode="auto">
          <a:xfrm flipH="1">
            <a:off x="4989174" y="5271682"/>
            <a:ext cx="3390901" cy="43744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" name="Text Box 17"/>
          <p:cNvSpPr txBox="1">
            <a:spLocks noChangeArrowheads="1"/>
          </p:cNvSpPr>
          <p:nvPr/>
        </p:nvSpPr>
        <p:spPr bwMode="auto">
          <a:xfrm>
            <a:off x="5319376" y="5216121"/>
            <a:ext cx="2643187" cy="9255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kumimoji="0"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响应 </a:t>
            </a:r>
            <a:endParaRPr kumimoji="0"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HTTP/1.1 200 OK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&lt;data&gt;</a:t>
            </a:r>
          </a:p>
        </p:txBody>
      </p:sp>
      <p:sp>
        <p:nvSpPr>
          <p:cNvPr id="101" name="Text Box 18"/>
          <p:cNvSpPr txBox="1">
            <a:spLocks noChangeArrowheads="1"/>
          </p:cNvSpPr>
          <p:nvPr/>
        </p:nvSpPr>
        <p:spPr bwMode="auto">
          <a:xfrm>
            <a:off x="8264376" y="4625352"/>
            <a:ext cx="877163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>
            <a:defPPr>
              <a:defRPr lang="zh-CN"/>
            </a:defPPr>
            <a:lvl1pPr algn="ctr" eaLnBrk="0" hangingPunct="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0">
                <a:solidFill>
                  <a:srgbClr val="2A09B7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对象</a:t>
            </a:r>
            <a:endParaRPr lang="en-US" altLang="zh-CN" dirty="0"/>
          </a:p>
          <a:p>
            <a:r>
              <a:rPr lang="zh-CN" altLang="en-US" dirty="0"/>
              <a:t>已修改</a:t>
            </a:r>
            <a:endParaRPr lang="en-US" altLang="zh-CN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Web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缓存机制：代理服务器缓存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85514" y="1563792"/>
            <a:ext cx="4181208" cy="457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3300"/>
              </a:lnSpc>
              <a:spcBef>
                <a:spcPts val="600"/>
              </a:spcBef>
            </a:pPr>
            <a:r>
              <a:rPr lang="zh-CN" altLang="en-US" sz="22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目标</a:t>
            </a:r>
            <a:r>
              <a:rPr lang="zh-CN" altLang="en-US" sz="2200" dirty="0">
                <a:cs typeface="Times New Roman" panose="02020603050405020304" pitchFamily="18" charset="0"/>
              </a:rPr>
              <a:t>：由代理服务器进行缓存，尽量减少原始服务器参与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>
              <a:lnSpc>
                <a:spcPts val="3300"/>
              </a:lnSpc>
              <a:spcBef>
                <a:spcPts val="600"/>
              </a:spcBef>
            </a:pPr>
            <a:r>
              <a:rPr lang="zh-CN" altLang="en-US" sz="2200" dirty="0">
                <a:cs typeface="Times New Roman" panose="02020603050405020304" pitchFamily="18" charset="0"/>
              </a:rPr>
              <a:t>用户设置浏览器：通过代理服务器进行</a:t>
            </a:r>
            <a:r>
              <a:rPr lang="en-US" altLang="zh-CN" sz="2200" dirty="0">
                <a:cs typeface="Times New Roman" panose="02020603050405020304" pitchFamily="18" charset="0"/>
              </a:rPr>
              <a:t>Web</a:t>
            </a:r>
            <a:r>
              <a:rPr lang="zh-CN" altLang="en-US" sz="2200" dirty="0">
                <a:cs typeface="Times New Roman" panose="02020603050405020304" pitchFamily="18" charset="0"/>
              </a:rPr>
              <a:t>访问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>
              <a:lnSpc>
                <a:spcPts val="3300"/>
              </a:lnSpc>
              <a:spcBef>
                <a:spcPts val="600"/>
              </a:spcBef>
            </a:pPr>
            <a:r>
              <a:rPr lang="zh-CN" altLang="en-US" sz="2200" dirty="0">
                <a:cs typeface="Times New Roman" panose="02020603050405020304" pitchFamily="18" charset="0"/>
              </a:rPr>
              <a:t>浏览器将所有的</a:t>
            </a:r>
            <a:r>
              <a:rPr lang="en-US" altLang="zh-CN" sz="2200" dirty="0">
                <a:cs typeface="Times New Roman" panose="02020603050405020304" pitchFamily="18" charset="0"/>
              </a:rPr>
              <a:t>HTTP</a:t>
            </a:r>
            <a:r>
              <a:rPr lang="zh-CN" altLang="en-US" sz="2200" dirty="0">
                <a:cs typeface="Times New Roman" panose="02020603050405020304" pitchFamily="18" charset="0"/>
              </a:rPr>
              <a:t>请求发送到代理服务器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685800" lvl="1" indent="-328930">
              <a:lnSpc>
                <a:spcPts val="3300"/>
              </a:lnSpc>
              <a:spcBef>
                <a:spcPts val="600"/>
              </a:spcBef>
            </a:pPr>
            <a:r>
              <a:rPr lang="zh-CN" altLang="en-US" sz="1800" dirty="0">
                <a:cs typeface="Times New Roman" panose="02020603050405020304" pitchFamily="18" charset="0"/>
              </a:rPr>
              <a:t>如果缓存中有被请求的对象，则直接返回对象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marL="685800" lvl="1" indent="-328930">
              <a:lnSpc>
                <a:spcPts val="3300"/>
              </a:lnSpc>
              <a:spcBef>
                <a:spcPts val="600"/>
              </a:spcBef>
            </a:pPr>
            <a:r>
              <a:rPr lang="zh-CN" altLang="en-US" sz="1800" dirty="0">
                <a:cs typeface="Times New Roman" panose="02020603050405020304" pitchFamily="18" charset="0"/>
              </a:rPr>
              <a:t>否则，代理服务器向原始服务器请求对象，再将对象返回客户端</a:t>
            </a:r>
            <a:endParaRPr lang="en-US" altLang="zh-CN" sz="1800" dirty="0">
              <a:cs typeface="Times New Roman" panose="02020603050405020304" pitchFamily="18" charset="0"/>
            </a:endParaRPr>
          </a:p>
        </p:txBody>
      </p:sp>
      <p:grpSp>
        <p:nvGrpSpPr>
          <p:cNvPr id="18" name="Group 171"/>
          <p:cNvGrpSpPr/>
          <p:nvPr/>
        </p:nvGrpSpPr>
        <p:grpSpPr bwMode="auto">
          <a:xfrm>
            <a:off x="4807555" y="2367270"/>
            <a:ext cx="600151" cy="690934"/>
            <a:chOff x="-44" y="1473"/>
            <a:chExt cx="981" cy="1105"/>
          </a:xfrm>
        </p:grpSpPr>
        <p:pic>
          <p:nvPicPr>
            <p:cNvPr id="19" name="Picture 172" descr="desktop_computer_stylized_medium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Freeform 173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102"/>
          <p:cNvGrpSpPr/>
          <p:nvPr/>
        </p:nvGrpSpPr>
        <p:grpSpPr bwMode="auto">
          <a:xfrm>
            <a:off x="4864381" y="4062283"/>
            <a:ext cx="600152" cy="690934"/>
            <a:chOff x="-44" y="1473"/>
            <a:chExt cx="981" cy="1105"/>
          </a:xfrm>
        </p:grpSpPr>
        <p:pic>
          <p:nvPicPr>
            <p:cNvPr id="22" name="Picture 103" descr="desktop_computer_stylized_medium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Freeform 104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Group 138"/>
          <p:cNvGrpSpPr/>
          <p:nvPr/>
        </p:nvGrpSpPr>
        <p:grpSpPr bwMode="auto">
          <a:xfrm>
            <a:off x="6731366" y="3056767"/>
            <a:ext cx="349280" cy="647840"/>
            <a:chOff x="4140" y="429"/>
            <a:chExt cx="1425" cy="2396"/>
          </a:xfrm>
        </p:grpSpPr>
        <p:sp>
          <p:nvSpPr>
            <p:cNvPr id="25" name="Freeform 139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140"/>
            <p:cNvSpPr>
              <a:spLocks noChangeArrowheads="1"/>
            </p:cNvSpPr>
            <p:nvPr/>
          </p:nvSpPr>
          <p:spPr bwMode="auto">
            <a:xfrm>
              <a:off x="4208" y="429"/>
              <a:ext cx="1046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Freeform 141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Freeform 142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143"/>
            <p:cNvSpPr>
              <a:spLocks noChangeArrowheads="1"/>
            </p:cNvSpPr>
            <p:nvPr/>
          </p:nvSpPr>
          <p:spPr bwMode="auto">
            <a:xfrm>
              <a:off x="4214" y="695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0" name="Group 144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" name="AutoShape 145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AutoShape 146"/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7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1" name="Rectangle 147"/>
            <p:cNvSpPr>
              <a:spLocks noChangeArrowheads="1"/>
            </p:cNvSpPr>
            <p:nvPr/>
          </p:nvSpPr>
          <p:spPr bwMode="auto">
            <a:xfrm>
              <a:off x="4225" y="1019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2" name="Group 148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" name="AutoShape 149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7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AutoShape 150"/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2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5" name="Rectangle 151"/>
            <p:cNvSpPr>
              <a:spLocks noChangeArrowheads="1"/>
            </p:cNvSpPr>
            <p:nvPr/>
          </p:nvSpPr>
          <p:spPr bwMode="auto">
            <a:xfrm>
              <a:off x="4219" y="1359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152"/>
            <p:cNvSpPr>
              <a:spLocks noChangeArrowheads="1"/>
            </p:cNvSpPr>
            <p:nvPr/>
          </p:nvSpPr>
          <p:spPr bwMode="auto">
            <a:xfrm>
              <a:off x="4230" y="1656"/>
              <a:ext cx="594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7" name="Group 153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" name="AutoShape 154"/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6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AutoShape 155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0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8" name="Freeform 156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9" name="Group 157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" name="AutoShape 158"/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AutoShape 159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0" name="Rectangle 160"/>
            <p:cNvSpPr>
              <a:spLocks noChangeArrowheads="1"/>
            </p:cNvSpPr>
            <p:nvPr/>
          </p:nvSpPr>
          <p:spPr bwMode="auto">
            <a:xfrm>
              <a:off x="5248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Freeform 161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Freeform 162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Oval 163"/>
            <p:cNvSpPr>
              <a:spLocks noChangeArrowheads="1"/>
            </p:cNvSpPr>
            <p:nvPr/>
          </p:nvSpPr>
          <p:spPr bwMode="auto">
            <a:xfrm>
              <a:off x="5520" y="2612"/>
              <a:ext cx="45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Freeform 164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AutoShape 165"/>
            <p:cNvSpPr>
              <a:spLocks noChangeArrowheads="1"/>
            </p:cNvSpPr>
            <p:nvPr/>
          </p:nvSpPr>
          <p:spPr bwMode="auto">
            <a:xfrm>
              <a:off x="4140" y="2676"/>
              <a:ext cx="1199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AutoShape 166"/>
            <p:cNvSpPr>
              <a:spLocks noChangeArrowheads="1"/>
            </p:cNvSpPr>
            <p:nvPr/>
          </p:nvSpPr>
          <p:spPr bwMode="auto">
            <a:xfrm>
              <a:off x="4208" y="2713"/>
              <a:ext cx="1069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Oval 167"/>
            <p:cNvSpPr>
              <a:spLocks noChangeArrowheads="1"/>
            </p:cNvSpPr>
            <p:nvPr/>
          </p:nvSpPr>
          <p:spPr bwMode="auto">
            <a:xfrm>
              <a:off x="4310" y="2384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8" name="Oval 168"/>
            <p:cNvSpPr>
              <a:spLocks noChangeArrowheads="1"/>
            </p:cNvSpPr>
            <p:nvPr/>
          </p:nvSpPr>
          <p:spPr bwMode="auto">
            <a:xfrm>
              <a:off x="4485" y="2384"/>
              <a:ext cx="158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Oval 169"/>
            <p:cNvSpPr>
              <a:spLocks noChangeArrowheads="1"/>
            </p:cNvSpPr>
            <p:nvPr/>
          </p:nvSpPr>
          <p:spPr bwMode="auto">
            <a:xfrm>
              <a:off x="4660" y="2379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170"/>
            <p:cNvSpPr>
              <a:spLocks noChangeArrowheads="1"/>
            </p:cNvSpPr>
            <p:nvPr/>
          </p:nvSpPr>
          <p:spPr bwMode="auto">
            <a:xfrm>
              <a:off x="5062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Group 105"/>
          <p:cNvGrpSpPr/>
          <p:nvPr/>
        </p:nvGrpSpPr>
        <p:grpSpPr bwMode="auto">
          <a:xfrm>
            <a:off x="8432026" y="2495115"/>
            <a:ext cx="378387" cy="647839"/>
            <a:chOff x="4140" y="429"/>
            <a:chExt cx="1425" cy="2396"/>
          </a:xfrm>
        </p:grpSpPr>
        <p:sp>
          <p:nvSpPr>
            <p:cNvPr id="60" name="Freeform 106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Rectangle 107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Freeform 108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Freeform 109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Rectangle 110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67" name="Group 111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03" name="AutoShape 112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AutoShape 113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8" name="Rectangle 114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69" name="Group 115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116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" name="AutoShape 117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0" name="Rectangle 118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1" name="Rectangle 119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2" name="Group 120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8" name="AutoShape 121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" name="AutoShape 122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3" name="Freeform 123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4" name="Group 124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6" name="AutoShape 125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AutoShape 126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5" name="Rectangle 127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Freeform 128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Freeform 129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Oval 130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Freeform 131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AutoShape 132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" name="AutoShape 133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2" name="Oval 134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3" name="Oval 135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4" name="Oval 136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5" name="Rectangle 137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05" name="Text Box 6"/>
          <p:cNvSpPr txBox="1">
            <a:spLocks noChangeArrowheads="1"/>
          </p:cNvSpPr>
          <p:nvPr/>
        </p:nvSpPr>
        <p:spPr bwMode="auto">
          <a:xfrm>
            <a:off x="4687413" y="2981271"/>
            <a:ext cx="80021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客户端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" name="Text Box 8"/>
          <p:cNvSpPr txBox="1">
            <a:spLocks noChangeArrowheads="1"/>
          </p:cNvSpPr>
          <p:nvPr/>
        </p:nvSpPr>
        <p:spPr bwMode="auto">
          <a:xfrm>
            <a:off x="6514469" y="2382526"/>
            <a:ext cx="80021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代理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7" name="Text Box 21"/>
          <p:cNvSpPr txBox="1">
            <a:spLocks noChangeArrowheads="1"/>
          </p:cNvSpPr>
          <p:nvPr/>
        </p:nvSpPr>
        <p:spPr bwMode="auto">
          <a:xfrm>
            <a:off x="4735804" y="4729819"/>
            <a:ext cx="8002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客户端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8" name="Group 53"/>
          <p:cNvGrpSpPr/>
          <p:nvPr/>
        </p:nvGrpSpPr>
        <p:grpSpPr bwMode="auto">
          <a:xfrm>
            <a:off x="5420179" y="3634220"/>
            <a:ext cx="1250200" cy="688061"/>
            <a:chOff x="2979" y="2580"/>
            <a:chExt cx="902" cy="479"/>
          </a:xfrm>
        </p:grpSpPr>
        <p:sp>
          <p:nvSpPr>
            <p:cNvPr id="109" name="Line 19"/>
            <p:cNvSpPr>
              <a:spLocks noChangeShapeType="1"/>
            </p:cNvSpPr>
            <p:nvPr/>
          </p:nvSpPr>
          <p:spPr bwMode="auto">
            <a:xfrm flipV="1">
              <a:off x="2998" y="2580"/>
              <a:ext cx="883" cy="47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0" name="Text Box 23"/>
            <p:cNvSpPr txBox="1">
              <a:spLocks noChangeArrowheads="1"/>
            </p:cNvSpPr>
            <p:nvPr/>
          </p:nvSpPr>
          <p:spPr bwMode="auto">
            <a:xfrm rot="19907361">
              <a:off x="2979" y="2614"/>
              <a:ext cx="79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HTTP</a:t>
              </a:r>
              <a:r>
                <a:rPr lang="zh-CN" altLang="en-US" sz="16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请求</a:t>
              </a:r>
              <a:endPara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1" name="Group 54"/>
          <p:cNvGrpSpPr/>
          <p:nvPr/>
        </p:nvGrpSpPr>
        <p:grpSpPr bwMode="auto">
          <a:xfrm>
            <a:off x="5490871" y="3713226"/>
            <a:ext cx="1261289" cy="711043"/>
            <a:chOff x="3030" y="2635"/>
            <a:chExt cx="910" cy="495"/>
          </a:xfrm>
        </p:grpSpPr>
        <p:sp>
          <p:nvSpPr>
            <p:cNvPr id="112" name="Line 20"/>
            <p:cNvSpPr>
              <a:spLocks noChangeShapeType="1"/>
            </p:cNvSpPr>
            <p:nvPr/>
          </p:nvSpPr>
          <p:spPr bwMode="auto">
            <a:xfrm flipH="1">
              <a:off x="3030" y="2635"/>
              <a:ext cx="884" cy="49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3" name="Text Box 25"/>
            <p:cNvSpPr txBox="1">
              <a:spLocks noChangeArrowheads="1"/>
            </p:cNvSpPr>
            <p:nvPr/>
          </p:nvSpPr>
          <p:spPr bwMode="auto">
            <a:xfrm rot="19862217">
              <a:off x="3110" y="2860"/>
              <a:ext cx="830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HTTP</a:t>
              </a:r>
              <a:r>
                <a:rPr lang="zh-CN" altLang="en-US" sz="16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响应</a:t>
              </a:r>
              <a:endPara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4" name="Group 49"/>
          <p:cNvGrpSpPr/>
          <p:nvPr/>
        </p:nvGrpSpPr>
        <p:grpSpPr bwMode="auto">
          <a:xfrm>
            <a:off x="5452059" y="2719203"/>
            <a:ext cx="2838592" cy="696679"/>
            <a:chOff x="3002" y="1954"/>
            <a:chExt cx="2048" cy="485"/>
          </a:xfrm>
        </p:grpSpPr>
        <p:sp>
          <p:nvSpPr>
            <p:cNvPr id="115" name="Freeform 18"/>
            <p:cNvSpPr/>
            <p:nvPr/>
          </p:nvSpPr>
          <p:spPr bwMode="auto">
            <a:xfrm>
              <a:off x="3002" y="1979"/>
              <a:ext cx="2048" cy="460"/>
            </a:xfrm>
            <a:custGeom>
              <a:avLst/>
              <a:gdLst>
                <a:gd name="T0" fmla="*/ 0 w 2048"/>
                <a:gd name="T1" fmla="*/ 2 h 460"/>
                <a:gd name="T2" fmla="*/ 1011 w 2048"/>
                <a:gd name="T3" fmla="*/ 460 h 460"/>
                <a:gd name="T4" fmla="*/ 2048 w 2048"/>
                <a:gd name="T5" fmla="*/ 0 h 460"/>
                <a:gd name="T6" fmla="*/ 0 60000 65536"/>
                <a:gd name="T7" fmla="*/ 0 60000 65536"/>
                <a:gd name="T8" fmla="*/ 0 60000 65536"/>
                <a:gd name="T9" fmla="*/ 0 w 2048"/>
                <a:gd name="T10" fmla="*/ 0 h 460"/>
                <a:gd name="T11" fmla="*/ 2048 w 2048"/>
                <a:gd name="T12" fmla="*/ 460 h 4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8" h="460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" name="Text Box 22"/>
            <p:cNvSpPr txBox="1">
              <a:spLocks noChangeArrowheads="1"/>
            </p:cNvSpPr>
            <p:nvPr/>
          </p:nvSpPr>
          <p:spPr bwMode="auto">
            <a:xfrm rot="1422049">
              <a:off x="3121" y="1981"/>
              <a:ext cx="79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HTTP</a:t>
              </a:r>
              <a:r>
                <a:rPr lang="zh-CN" altLang="en-US" sz="16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请求</a:t>
              </a:r>
              <a:endPara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7" name="Text Box 45"/>
            <p:cNvSpPr txBox="1">
              <a:spLocks noChangeArrowheads="1"/>
            </p:cNvSpPr>
            <p:nvPr/>
          </p:nvSpPr>
          <p:spPr bwMode="auto">
            <a:xfrm rot="20180032">
              <a:off x="4160" y="1954"/>
              <a:ext cx="79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HTTP</a:t>
              </a:r>
              <a:r>
                <a:rPr lang="zh-CN" altLang="en-US" sz="16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请求</a:t>
              </a:r>
              <a:endPara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18" name="Text Box 47"/>
          <p:cNvSpPr txBox="1">
            <a:spLocks noChangeArrowheads="1"/>
          </p:cNvSpPr>
          <p:nvPr/>
        </p:nvSpPr>
        <p:spPr bwMode="auto">
          <a:xfrm>
            <a:off x="8164813" y="4861889"/>
            <a:ext cx="80021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原始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9" name="Text Box 48"/>
          <p:cNvSpPr txBox="1">
            <a:spLocks noChangeArrowheads="1"/>
          </p:cNvSpPr>
          <p:nvPr/>
        </p:nvSpPr>
        <p:spPr bwMode="auto">
          <a:xfrm>
            <a:off x="8219056" y="3134173"/>
            <a:ext cx="80021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原始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0" name="Rectangle 55"/>
          <p:cNvSpPr>
            <a:spLocks noChangeArrowheads="1"/>
          </p:cNvSpPr>
          <p:nvPr/>
        </p:nvSpPr>
        <p:spPr bwMode="auto">
          <a:xfrm>
            <a:off x="7356465" y="3864053"/>
            <a:ext cx="354824" cy="35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1" name="Picture 5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5978" y="2309812"/>
            <a:ext cx="460162" cy="392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2" name="Group 60"/>
          <p:cNvGrpSpPr/>
          <p:nvPr/>
        </p:nvGrpSpPr>
        <p:grpSpPr bwMode="auto">
          <a:xfrm>
            <a:off x="4777062" y="2345724"/>
            <a:ext cx="3588435" cy="1641864"/>
            <a:chOff x="2515" y="1687"/>
            <a:chExt cx="2589" cy="1143"/>
          </a:xfrm>
        </p:grpSpPr>
        <p:sp>
          <p:nvSpPr>
            <p:cNvPr id="123" name="Freeform 44"/>
            <p:cNvSpPr/>
            <p:nvPr/>
          </p:nvSpPr>
          <p:spPr bwMode="auto">
            <a:xfrm>
              <a:off x="2985" y="2026"/>
              <a:ext cx="2119" cy="476"/>
            </a:xfrm>
            <a:custGeom>
              <a:avLst/>
              <a:gdLst>
                <a:gd name="T0" fmla="*/ 2119 w 2119"/>
                <a:gd name="T1" fmla="*/ 0 h 476"/>
                <a:gd name="T2" fmla="*/ 1020 w 2119"/>
                <a:gd name="T3" fmla="*/ 476 h 476"/>
                <a:gd name="T4" fmla="*/ 0 w 2119"/>
                <a:gd name="T5" fmla="*/ 8 h 476"/>
                <a:gd name="T6" fmla="*/ 0 60000 65536"/>
                <a:gd name="T7" fmla="*/ 0 60000 65536"/>
                <a:gd name="T8" fmla="*/ 0 60000 65536"/>
                <a:gd name="T9" fmla="*/ 0 w 2119"/>
                <a:gd name="T10" fmla="*/ 0 h 476"/>
                <a:gd name="T11" fmla="*/ 2119 w 2119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9" h="476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4" name="Text Box 24"/>
            <p:cNvSpPr txBox="1">
              <a:spLocks noChangeArrowheads="1"/>
            </p:cNvSpPr>
            <p:nvPr/>
          </p:nvSpPr>
          <p:spPr bwMode="auto">
            <a:xfrm rot="1411598">
              <a:off x="3003" y="2228"/>
              <a:ext cx="79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HTTP</a:t>
              </a:r>
              <a:r>
                <a:rPr lang="zh-CN" altLang="en-US" sz="16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响应</a:t>
              </a:r>
              <a:endPara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5" name="Text Box 46"/>
            <p:cNvSpPr txBox="1">
              <a:spLocks noChangeArrowheads="1"/>
            </p:cNvSpPr>
            <p:nvPr/>
          </p:nvSpPr>
          <p:spPr bwMode="auto">
            <a:xfrm rot="20184211">
              <a:off x="4263" y="2213"/>
              <a:ext cx="798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HTTP</a:t>
              </a:r>
              <a:r>
                <a:rPr lang="zh-CN" altLang="en-US" sz="160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响应</a:t>
              </a:r>
              <a:endPara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26" name="Picture 57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7" name="Picture 59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28" name="Picture 6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8643" y="4102504"/>
            <a:ext cx="460162" cy="392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9" name="Group 69"/>
          <p:cNvGrpSpPr/>
          <p:nvPr/>
        </p:nvGrpSpPr>
        <p:grpSpPr bwMode="auto">
          <a:xfrm>
            <a:off x="8373812" y="4238967"/>
            <a:ext cx="378387" cy="647839"/>
            <a:chOff x="4140" y="429"/>
            <a:chExt cx="1425" cy="2396"/>
          </a:xfrm>
        </p:grpSpPr>
        <p:sp>
          <p:nvSpPr>
            <p:cNvPr id="130" name="Freeform 70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1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2" name="Freeform 72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3" name="Freeform 73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4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35" name="Group 75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60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6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37" name="Group 79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58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8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9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0" name="Group 84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56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1" name="Freeform 87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2" name="Group 88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54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3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4" name="Freeform 92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5" name="Freeform 93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6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7" name="Freeform 95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8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9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0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1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2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326697" y="6021095"/>
            <a:ext cx="3065171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降低时延、减少网络流量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发展现状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1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23850" y="1392769"/>
            <a:ext cx="3916774" cy="3368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2600"/>
              </a:lnSpc>
              <a:spcBef>
                <a:spcPts val="600"/>
              </a:spcBef>
            </a:pPr>
            <a:r>
              <a:rPr lang="en-US" altLang="zh-CN" sz="2000" dirty="0"/>
              <a:t>HTTP/1.0</a:t>
            </a:r>
            <a:r>
              <a:rPr lang="zh-CN" altLang="en-US" sz="2000" dirty="0"/>
              <a:t>（</a:t>
            </a:r>
            <a:r>
              <a:rPr lang="en-US" altLang="zh-CN" sz="2000" dirty="0"/>
              <a:t>1996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685800" lvl="1" indent="-328930">
              <a:lnSpc>
                <a:spcPts val="2600"/>
              </a:lnSpc>
              <a:spcBef>
                <a:spcPts val="0"/>
              </a:spcBef>
            </a:pPr>
            <a:r>
              <a:rPr lang="zh-CN" altLang="en-US" sz="1800" dirty="0"/>
              <a:t>无状态，非持久连接</a:t>
            </a:r>
            <a:endParaRPr lang="en-US" altLang="zh-CN" sz="1800" dirty="0"/>
          </a:p>
          <a:p>
            <a:pPr>
              <a:lnSpc>
                <a:spcPts val="2600"/>
              </a:lnSpc>
              <a:spcBef>
                <a:spcPts val="600"/>
              </a:spcBef>
            </a:pPr>
            <a:r>
              <a:rPr lang="en-US" altLang="zh-CN" sz="2000" dirty="0"/>
              <a:t>HTTP/1.1</a:t>
            </a:r>
            <a:r>
              <a:rPr lang="zh-CN" altLang="en-US" sz="2000" dirty="0"/>
              <a:t>（</a:t>
            </a:r>
            <a:r>
              <a:rPr lang="en-US" altLang="zh-CN" sz="2000" dirty="0"/>
              <a:t>1999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685800" lvl="1" indent="-328930">
              <a:lnSpc>
                <a:spcPts val="2600"/>
              </a:lnSpc>
              <a:spcBef>
                <a:spcPts val="0"/>
              </a:spcBef>
            </a:pPr>
            <a:r>
              <a:rPr lang="zh-CN" altLang="en-US" sz="1800" dirty="0"/>
              <a:t>支持长连接和流水线机制</a:t>
            </a:r>
            <a:endParaRPr lang="en-US" altLang="zh-CN" sz="1800" dirty="0"/>
          </a:p>
          <a:p>
            <a:pPr marL="685800" lvl="1" indent="-328930">
              <a:lnSpc>
                <a:spcPts val="2600"/>
              </a:lnSpc>
              <a:spcBef>
                <a:spcPts val="600"/>
              </a:spcBef>
            </a:pPr>
            <a:r>
              <a:rPr lang="zh-CN" altLang="en-US" sz="1800" dirty="0"/>
              <a:t>缓存策略优化、部分资源请求及断点续传</a:t>
            </a:r>
            <a:endParaRPr lang="en-US" altLang="zh-CN" sz="1800" dirty="0"/>
          </a:p>
          <a:p>
            <a:pPr>
              <a:lnSpc>
                <a:spcPts val="2600"/>
              </a:lnSpc>
              <a:spcBef>
                <a:spcPts val="600"/>
              </a:spcBef>
            </a:pPr>
            <a:r>
              <a:rPr lang="en-US" altLang="zh-CN" sz="2000" dirty="0"/>
              <a:t>HTTPS</a:t>
            </a:r>
            <a:r>
              <a:rPr lang="zh-CN" altLang="en-US" sz="2000" dirty="0"/>
              <a:t>：</a:t>
            </a:r>
            <a:r>
              <a:rPr lang="en-US" altLang="zh-CN" sz="2000" dirty="0"/>
              <a:t>HTTP+TLS</a:t>
            </a:r>
            <a:r>
              <a:rPr lang="zh-CN" altLang="en-US" sz="2000" dirty="0"/>
              <a:t>（</a:t>
            </a:r>
            <a:r>
              <a:rPr lang="en-US" altLang="zh-CN" sz="2000" dirty="0"/>
              <a:t>2008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685800" lvl="1" indent="-328930">
              <a:lnSpc>
                <a:spcPts val="2600"/>
              </a:lnSpc>
              <a:spcBef>
                <a:spcPts val="0"/>
              </a:spcBef>
            </a:pPr>
            <a:r>
              <a:rPr lang="zh-CN" altLang="en-US" sz="1800" dirty="0"/>
              <a:t>增加</a:t>
            </a:r>
            <a:r>
              <a:rPr lang="en-US" altLang="zh-CN" sz="1800" dirty="0"/>
              <a:t>SSL/TLS</a:t>
            </a:r>
            <a:r>
              <a:rPr lang="zh-CN" altLang="en-US" sz="1800" dirty="0"/>
              <a:t>（</a:t>
            </a:r>
            <a:r>
              <a:rPr lang="en-US" altLang="zh-CN" sz="1800" dirty="0"/>
              <a:t>TLS 1.2</a:t>
            </a:r>
            <a:r>
              <a:rPr lang="zh-CN" altLang="en-US" sz="1800" dirty="0"/>
              <a:t>）层，在</a:t>
            </a:r>
            <a:r>
              <a:rPr lang="en-US" altLang="zh-CN" sz="1800" dirty="0"/>
              <a:t>TCP</a:t>
            </a:r>
            <a:r>
              <a:rPr lang="zh-CN" altLang="en-US" sz="1800" dirty="0"/>
              <a:t>之上提供安全机制</a:t>
            </a:r>
            <a:endParaRPr lang="en-US" altLang="zh-CN" sz="1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227" y="4403930"/>
            <a:ext cx="6041102" cy="2115561"/>
          </a:xfrm>
          <a:prstGeom prst="rect">
            <a:avLst/>
          </a:prstGeom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365212" y="1306754"/>
            <a:ext cx="4454938" cy="2368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2600"/>
              </a:lnSpc>
              <a:spcBef>
                <a:spcPts val="600"/>
              </a:spcBef>
            </a:pPr>
            <a:r>
              <a:rPr lang="en-US" altLang="zh-CN" sz="2000" dirty="0"/>
              <a:t>HTTP/2.0</a:t>
            </a:r>
            <a:r>
              <a:rPr lang="zh-CN" altLang="en-US" sz="2000" dirty="0"/>
              <a:t>（</a:t>
            </a:r>
            <a:r>
              <a:rPr lang="en-US" altLang="zh-CN" sz="2000" dirty="0"/>
              <a:t>2015</a:t>
            </a:r>
            <a:r>
              <a:rPr lang="zh-CN" altLang="en-US" sz="2000" dirty="0"/>
              <a:t>、</a:t>
            </a:r>
            <a:r>
              <a:rPr lang="en-US" altLang="zh-CN" sz="2000" dirty="0"/>
              <a:t>2020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685800" lvl="1" indent="-328930">
              <a:lnSpc>
                <a:spcPts val="2600"/>
              </a:lnSpc>
              <a:spcBef>
                <a:spcPts val="600"/>
              </a:spcBef>
            </a:pPr>
            <a:r>
              <a:rPr lang="zh-CN" altLang="en-US" sz="1800" dirty="0"/>
              <a:t>目标：提高带宽利用率、降低延迟</a:t>
            </a:r>
            <a:endParaRPr lang="en-US" altLang="zh-CN" sz="1800" dirty="0"/>
          </a:p>
          <a:p>
            <a:pPr marL="685800" lvl="1" indent="-328930">
              <a:lnSpc>
                <a:spcPts val="2600"/>
              </a:lnSpc>
              <a:spcBef>
                <a:spcPts val="600"/>
              </a:spcBef>
            </a:pPr>
            <a:r>
              <a:rPr lang="zh-CN" altLang="en-US" sz="1800" dirty="0"/>
              <a:t>增加二进制格式、</a:t>
            </a:r>
            <a:r>
              <a:rPr lang="en-US" altLang="zh-CN" sz="1800" dirty="0"/>
              <a:t>TCP</a:t>
            </a:r>
            <a:r>
              <a:rPr lang="zh-CN" altLang="en-US" sz="1800" dirty="0"/>
              <a:t>多路复用、头压缩、服务端推送等功能</a:t>
            </a:r>
            <a:endParaRPr lang="en-US" altLang="zh-CN" sz="1800" dirty="0"/>
          </a:p>
          <a:p>
            <a:pPr>
              <a:lnSpc>
                <a:spcPts val="2600"/>
              </a:lnSpc>
              <a:spcBef>
                <a:spcPts val="600"/>
              </a:spcBef>
            </a:pPr>
            <a:r>
              <a:rPr lang="en-US" altLang="zh-CN" sz="2000" dirty="0"/>
              <a:t>HTTP/3.0</a:t>
            </a:r>
            <a:r>
              <a:rPr lang="zh-CN" altLang="en-US" sz="2000" dirty="0"/>
              <a:t>（</a:t>
            </a:r>
            <a:r>
              <a:rPr lang="en-US" altLang="zh-CN" sz="2000" dirty="0"/>
              <a:t>2022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685800" lvl="1" indent="-328930">
              <a:lnSpc>
                <a:spcPts val="2600"/>
              </a:lnSpc>
              <a:spcBef>
                <a:spcPts val="600"/>
              </a:spcBef>
            </a:pPr>
            <a:r>
              <a:rPr lang="zh-CN" altLang="en-US" sz="1800" dirty="0"/>
              <a:t>运行在</a:t>
            </a:r>
            <a:r>
              <a:rPr lang="en-US" altLang="zh-CN" sz="1800" dirty="0"/>
              <a:t>QUIC+UDP</a:t>
            </a:r>
            <a:r>
              <a:rPr lang="zh-CN" altLang="en-US" sz="1800" dirty="0"/>
              <a:t>之上</a:t>
            </a:r>
            <a:endParaRPr lang="en-US" altLang="zh-CN" sz="1800" dirty="0"/>
          </a:p>
        </p:txBody>
      </p:sp>
      <p:sp>
        <p:nvSpPr>
          <p:cNvPr id="6" name="矩形 5"/>
          <p:cNvSpPr/>
          <p:nvPr/>
        </p:nvSpPr>
        <p:spPr>
          <a:xfrm>
            <a:off x="2763779" y="4816774"/>
            <a:ext cx="1481138" cy="11763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307390" y="4388150"/>
            <a:ext cx="1481138" cy="160496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灯片编号占位符 3"/>
          <p:cNvSpPr>
            <a:spLocks noGrp="1"/>
          </p:cNvSpPr>
          <p:nvPr>
            <p:ph type="sldNum" sz="quarter" idx="11"/>
          </p:nvPr>
        </p:nvSpPr>
        <p:spPr bwMode="auto">
          <a:xfrm>
            <a:off x="7023100" y="6575425"/>
            <a:ext cx="2133600" cy="295275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5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D2C3C505-07AB-4A2E-B60F-B252952BC195}" type="slidenum">
              <a:rPr lang="zh-CN" altLang="en-US" smtClean="0"/>
              <a:t>99</a:t>
            </a:fld>
            <a:endParaRPr lang="en-US" altLang="zh-CN" sz="1200" dirty="0">
              <a:latin typeface="Tahoma" panose="020B060403050404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64946" y="6092071"/>
            <a:ext cx="3118882" cy="334292"/>
          </a:xfrm>
          <a:prstGeom prst="rect">
            <a:avLst/>
          </a:prstGeom>
          <a:solidFill>
            <a:srgbClr val="E1E7FF"/>
          </a:solidFill>
          <a:ln w="6350">
            <a:solidFill>
              <a:srgbClr val="FF0000"/>
            </a:solidFill>
            <a:miter lim="800000"/>
          </a:ln>
        </p:spPr>
        <p:txBody>
          <a:bodyPr wrap="none" lIns="91408" tIns="45704" rIns="91408" bIns="45704">
            <a:spAutoFit/>
          </a:bodyPr>
          <a:lstStyle/>
          <a:p>
            <a:pPr algn="ctr">
              <a:lnSpc>
                <a:spcPts val="1995"/>
              </a:lnSpc>
            </a:pPr>
            <a:r>
              <a:rPr lang="zh-CN" altLang="en-US" sz="1595" dirty="0">
                <a:ea typeface="宋体" panose="02010600030101010101" pitchFamily="2" charset="-122"/>
                <a:cs typeface="Times New Roman" panose="02020603050405020304" pitchFamily="18" charset="0"/>
              </a:rPr>
              <a:t>例：页面</a:t>
            </a:r>
            <a:r>
              <a:rPr lang="en-US" altLang="zh-CN" sz="1595" dirty="0">
                <a:ea typeface="宋体" panose="02010600030101010101" pitchFamily="2" charset="-122"/>
                <a:cs typeface="Times New Roman" panose="02020603050405020304" pitchFamily="18" charset="0"/>
              </a:rPr>
              <a:t>index.html</a:t>
            </a:r>
            <a:r>
              <a:rPr lang="zh-CN" altLang="en-US" sz="1595" dirty="0">
                <a:ea typeface="宋体" panose="02010600030101010101" pitchFamily="2" charset="-122"/>
                <a:cs typeface="Times New Roman" panose="02020603050405020304" pitchFamily="18" charset="0"/>
              </a:rPr>
              <a:t>包含</a:t>
            </a:r>
            <a:r>
              <a:rPr lang="en-US" altLang="zh-CN" sz="1595" dirty="0"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1595" dirty="0">
                <a:ea typeface="宋体" panose="02010600030101010101" pitchFamily="2" charset="-122"/>
                <a:cs typeface="Times New Roman" panose="02020603050405020304" pitchFamily="18" charset="0"/>
              </a:rPr>
              <a:t>幅图像</a:t>
            </a:r>
            <a:endParaRPr lang="en-US" altLang="zh-CN" sz="1595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97" y="694929"/>
            <a:ext cx="8640319" cy="5248081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 1.1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存在的问题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74238" y="1412875"/>
            <a:ext cx="8104600" cy="2042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2995"/>
              </a:lnSpc>
              <a:spcBef>
                <a:spcPts val="0"/>
              </a:spcBef>
              <a:buClr>
                <a:srgbClr val="C00000"/>
              </a:buClr>
            </a:pPr>
            <a:r>
              <a:rPr lang="en-US" altLang="zh-CN" sz="2200" dirty="0"/>
              <a:t>HTTP 1.1</a:t>
            </a:r>
            <a:r>
              <a:rPr lang="zh-CN" altLang="en-US" sz="2200" dirty="0"/>
              <a:t>的问题</a:t>
            </a:r>
            <a:endParaRPr lang="en-US" altLang="zh-CN" sz="2200" dirty="0"/>
          </a:p>
          <a:p>
            <a:pPr marL="628650" lvl="1" indent="-271780">
              <a:lnSpc>
                <a:spcPts val="2995"/>
              </a:lnSpc>
              <a:spcBef>
                <a:spcPts val="600"/>
              </a:spcBef>
            </a:pPr>
            <a:r>
              <a:rPr lang="zh-CN" altLang="en-US" sz="1995" dirty="0"/>
              <a:t>队头阻塞问题</a:t>
            </a:r>
            <a:endParaRPr lang="en-US" altLang="zh-CN" sz="1995" dirty="0"/>
          </a:p>
          <a:p>
            <a:pPr marL="986155" lvl="2" indent="-266700">
              <a:lnSpc>
                <a:spcPts val="2995"/>
              </a:lnSpc>
              <a:spcBef>
                <a:spcPts val="0"/>
              </a:spcBef>
            </a:pPr>
            <a:r>
              <a:rPr lang="zh-CN" altLang="zh-CN" sz="1595" dirty="0"/>
              <a:t>基于文本协议的问答有序模式</a:t>
            </a:r>
            <a:r>
              <a:rPr lang="zh-CN" altLang="en-US" sz="1595" dirty="0"/>
              <a:t>，先请求的必须先响应</a:t>
            </a:r>
            <a:endParaRPr lang="en-US" altLang="zh-CN" sz="1595" dirty="0"/>
          </a:p>
          <a:p>
            <a:pPr marL="628650" lvl="1" indent="-271780">
              <a:lnSpc>
                <a:spcPts val="2995"/>
              </a:lnSpc>
              <a:spcBef>
                <a:spcPts val="0"/>
              </a:spcBef>
            </a:pPr>
            <a:r>
              <a:rPr lang="zh-CN" altLang="en-US" sz="1995" dirty="0"/>
              <a:t>传输效率问题</a:t>
            </a:r>
            <a:endParaRPr lang="en-US" altLang="zh-CN" sz="1995" dirty="0"/>
          </a:p>
          <a:p>
            <a:pPr marL="986155" lvl="2" indent="-266700">
              <a:lnSpc>
                <a:spcPts val="2995"/>
              </a:lnSpc>
              <a:spcBef>
                <a:spcPts val="0"/>
              </a:spcBef>
            </a:pPr>
            <a:r>
              <a:rPr lang="zh-CN" altLang="en-US" sz="1595" dirty="0"/>
              <a:t>文本格式、冗长重复的头部等</a:t>
            </a:r>
            <a:endParaRPr lang="en-US" altLang="zh-CN" sz="1595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516" y="3091356"/>
            <a:ext cx="4397384" cy="2871233"/>
          </a:xfrm>
          <a:prstGeom prst="rect">
            <a:avLst/>
          </a:prstGeom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74238" y="3514725"/>
            <a:ext cx="4181208" cy="265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2995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2200" dirty="0"/>
              <a:t>HTTP 1.1</a:t>
            </a:r>
            <a:r>
              <a:rPr lang="zh-CN" altLang="en-US" sz="2200" dirty="0"/>
              <a:t>队头阻塞的解决策略</a:t>
            </a:r>
            <a:endParaRPr lang="en-US" altLang="zh-CN" sz="2200" dirty="0"/>
          </a:p>
          <a:p>
            <a:pPr marL="628650" lvl="1" indent="-271780">
              <a:lnSpc>
                <a:spcPts val="2995"/>
              </a:lnSpc>
              <a:spcBef>
                <a:spcPts val="600"/>
              </a:spcBef>
            </a:pPr>
            <a:r>
              <a:rPr lang="zh-CN" altLang="en-US" sz="1995" dirty="0"/>
              <a:t>浏览器建立多个</a:t>
            </a:r>
            <a:r>
              <a:rPr lang="en-US" altLang="zh-CN" sz="1995" dirty="0"/>
              <a:t>TCP</a:t>
            </a:r>
            <a:r>
              <a:rPr lang="zh-CN" altLang="en-US" sz="1995" dirty="0"/>
              <a:t>连接</a:t>
            </a:r>
            <a:endParaRPr lang="en-US" altLang="zh-CN" sz="1995" dirty="0"/>
          </a:p>
          <a:p>
            <a:pPr marL="986155" lvl="2" indent="-266700">
              <a:lnSpc>
                <a:spcPts val="2995"/>
              </a:lnSpc>
              <a:spcBef>
                <a:spcPts val="600"/>
              </a:spcBef>
            </a:pPr>
            <a:r>
              <a:rPr lang="zh-CN" altLang="en-US" sz="1595" dirty="0"/>
              <a:t>一般最多可以建立</a:t>
            </a:r>
            <a:r>
              <a:rPr lang="en-US" altLang="zh-CN" sz="1595" dirty="0"/>
              <a:t>6</a:t>
            </a:r>
            <a:r>
              <a:rPr lang="zh-CN" altLang="en-US" sz="1595" dirty="0"/>
              <a:t>个</a:t>
            </a:r>
            <a:r>
              <a:rPr lang="en-US" altLang="zh-CN" sz="1595" dirty="0"/>
              <a:t>TCP</a:t>
            </a:r>
            <a:r>
              <a:rPr lang="zh-CN" altLang="en-US" sz="1595" dirty="0"/>
              <a:t>连接</a:t>
            </a:r>
            <a:endParaRPr lang="en-US" altLang="zh-CN" sz="1595" dirty="0"/>
          </a:p>
          <a:p>
            <a:pPr marL="986155" lvl="2" indent="-266700">
              <a:lnSpc>
                <a:spcPts val="2995"/>
              </a:lnSpc>
              <a:spcBef>
                <a:spcPts val="600"/>
              </a:spcBef>
            </a:pPr>
            <a:r>
              <a:rPr lang="zh-CN" altLang="en-US" sz="1595" dirty="0"/>
              <a:t>通过不同</a:t>
            </a:r>
            <a:r>
              <a:rPr lang="en-US" altLang="zh-CN" sz="1595" dirty="0"/>
              <a:t>TCP</a:t>
            </a:r>
            <a:r>
              <a:rPr lang="zh-CN" altLang="en-US" sz="1595" dirty="0"/>
              <a:t>连接传送的请求没有响应顺序的要求</a:t>
            </a:r>
            <a:endParaRPr lang="en-US" altLang="zh-CN" sz="1595" dirty="0"/>
          </a:p>
          <a:p>
            <a:pPr marL="986155" lvl="2" indent="-266700">
              <a:lnSpc>
                <a:spcPts val="2995"/>
              </a:lnSpc>
              <a:spcBef>
                <a:spcPts val="600"/>
              </a:spcBef>
            </a:pPr>
            <a:r>
              <a:rPr lang="zh-CN" altLang="en-US" sz="1595" b="1" dirty="0">
                <a:solidFill>
                  <a:srgbClr val="C00000"/>
                </a:solidFill>
              </a:rPr>
              <a:t>耗费较多的计算和存储资源</a:t>
            </a:r>
            <a:endParaRPr lang="en-US" altLang="zh-CN" sz="1595" b="1" dirty="0">
              <a:solidFill>
                <a:srgbClr val="C00000"/>
              </a:solidFill>
            </a:endParaRPr>
          </a:p>
        </p:txBody>
      </p:sp>
      <p:sp>
        <p:nvSpPr>
          <p:cNvPr id="7" name="爆炸形: 14 pt  6">
            <a:extLst>
              <a:ext uri="{FF2B5EF4-FFF2-40B4-BE49-F238E27FC236}">
                <a16:creationId xmlns:a16="http://schemas.microsoft.com/office/drawing/2014/main" id="{994A8960-F2F3-4F37-9E2D-8031372A7962}"/>
              </a:ext>
            </a:extLst>
          </p:cNvPr>
          <p:cNvSpPr/>
          <p:nvPr/>
        </p:nvSpPr>
        <p:spPr>
          <a:xfrm>
            <a:off x="7430378" y="752138"/>
            <a:ext cx="1440160" cy="93610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2-2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 2.0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协议基本原理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23850" y="1312857"/>
            <a:ext cx="3816762" cy="3232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200" dirty="0"/>
              <a:t>二进制分帧传输</a:t>
            </a:r>
            <a:endParaRPr lang="en-US" altLang="zh-CN" sz="2200" dirty="0"/>
          </a:p>
          <a:p>
            <a:pPr marL="628650" lvl="1" indent="-271780">
              <a:lnSpc>
                <a:spcPts val="3200"/>
              </a:lnSpc>
              <a:spcBef>
                <a:spcPts val="600"/>
              </a:spcBef>
            </a:pPr>
            <a:r>
              <a:rPr lang="zh-CN" altLang="en-US" sz="1995" dirty="0"/>
              <a:t>不改变</a:t>
            </a:r>
            <a:r>
              <a:rPr lang="en-US" altLang="zh-CN" sz="1995" dirty="0"/>
              <a:t>HTTP</a:t>
            </a:r>
            <a:r>
              <a:rPr lang="zh-CN" altLang="en-US" sz="1995" dirty="0"/>
              <a:t>原有的语义</a:t>
            </a:r>
            <a:endParaRPr lang="en-US" altLang="zh-CN" sz="1995" dirty="0"/>
          </a:p>
          <a:p>
            <a:pPr marL="628650" lvl="1" indent="-271780">
              <a:lnSpc>
                <a:spcPts val="3200"/>
              </a:lnSpc>
              <a:spcBef>
                <a:spcPts val="600"/>
              </a:spcBef>
            </a:pPr>
            <a:r>
              <a:rPr lang="zh-CN" altLang="en-US" sz="1995" dirty="0"/>
              <a:t>将</a:t>
            </a:r>
            <a:r>
              <a:rPr lang="en-US" altLang="zh-CN" sz="1995" dirty="0"/>
              <a:t>HTTP</a:t>
            </a:r>
            <a:r>
              <a:rPr lang="zh-CN" altLang="en-US" sz="1995" dirty="0"/>
              <a:t>请求和响应分割成帧，采用二进制编码</a:t>
            </a:r>
            <a:endParaRPr lang="en-US" altLang="zh-CN" sz="1995" dirty="0"/>
          </a:p>
          <a:p>
            <a:pPr marL="628650" lvl="1" indent="-271780">
              <a:lnSpc>
                <a:spcPts val="3200"/>
              </a:lnSpc>
              <a:spcBef>
                <a:spcPts val="600"/>
              </a:spcBef>
            </a:pPr>
            <a:r>
              <a:rPr lang="zh-CN" altLang="en-US" sz="1995" dirty="0"/>
              <a:t>帧为最小传输单位</a:t>
            </a:r>
            <a:endParaRPr lang="en-US" altLang="zh-CN" sz="1995" dirty="0"/>
          </a:p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200" dirty="0"/>
              <a:t>最常用的 </a:t>
            </a:r>
            <a:r>
              <a:rPr lang="en-US" altLang="zh-CN" sz="2200" dirty="0"/>
              <a:t>HTTP </a:t>
            </a:r>
            <a:r>
              <a:rPr lang="zh-CN" altLang="en-US" sz="2200" dirty="0"/>
              <a:t>请求 </a:t>
            </a:r>
            <a:r>
              <a:rPr lang="en-US" altLang="zh-CN" sz="2200" dirty="0"/>
              <a:t>/ </a:t>
            </a:r>
            <a:r>
              <a:rPr lang="zh-CN" altLang="en-US" sz="2200" dirty="0"/>
              <a:t>响应的帧形式</a:t>
            </a:r>
            <a:endParaRPr lang="en-US" altLang="zh-CN" sz="2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682" y="1930676"/>
            <a:ext cx="4633896" cy="22057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041" y="4654193"/>
            <a:ext cx="7494605" cy="1677114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 2.0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协议基本原理（续）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23850" y="1476824"/>
            <a:ext cx="8420100" cy="4950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266700" indent="-266700">
              <a:lnSpc>
                <a:spcPts val="3100"/>
              </a:lnSpc>
              <a:spcBef>
                <a:spcPts val="600"/>
              </a:spcBef>
            </a:pPr>
            <a:r>
              <a:rPr lang="en-US" altLang="zh-CN" sz="2200" dirty="0"/>
              <a:t>TCP</a:t>
            </a:r>
            <a:r>
              <a:rPr lang="zh-CN" altLang="en-US" sz="2200" dirty="0"/>
              <a:t>连接复用：提高连接利用率，解决</a:t>
            </a:r>
            <a:r>
              <a:rPr lang="en-US" altLang="zh-CN" sz="2200" dirty="0"/>
              <a:t>HTTP</a:t>
            </a:r>
            <a:r>
              <a:rPr lang="zh-CN" altLang="en-US" sz="2200" dirty="0"/>
              <a:t>的队头阻塞问题</a:t>
            </a:r>
            <a:endParaRPr lang="en-US" altLang="zh-CN" sz="2200" dirty="0"/>
          </a:p>
          <a:p>
            <a:pPr marL="628650" lvl="1" indent="-271780">
              <a:lnSpc>
                <a:spcPts val="3100"/>
              </a:lnSpc>
              <a:spcBef>
                <a:spcPts val="600"/>
              </a:spcBef>
            </a:pPr>
            <a:r>
              <a:rPr lang="zh-CN" altLang="en-US" sz="2000" dirty="0"/>
              <a:t>消息</a:t>
            </a:r>
            <a:r>
              <a:rPr lang="en-US" altLang="zh-CN" sz="2000" dirty="0"/>
              <a:t>(Message)</a:t>
            </a:r>
            <a:r>
              <a:rPr lang="zh-CN" altLang="en-US" sz="2000" dirty="0"/>
              <a:t>：</a:t>
            </a:r>
            <a:r>
              <a:rPr lang="en-US" altLang="zh-CN" sz="2000" dirty="0"/>
              <a:t>HTTP</a:t>
            </a:r>
            <a:r>
              <a:rPr lang="zh-CN" altLang="en-US" sz="2000" dirty="0"/>
              <a:t>一次请求或响应，包含一个或多个帧</a:t>
            </a:r>
            <a:endParaRPr lang="en-US" altLang="zh-CN" sz="2000" dirty="0"/>
          </a:p>
          <a:p>
            <a:pPr marL="628650" lvl="1" indent="-271780">
              <a:lnSpc>
                <a:spcPts val="3100"/>
              </a:lnSpc>
              <a:spcBef>
                <a:spcPts val="600"/>
              </a:spcBef>
            </a:pPr>
            <a:r>
              <a:rPr lang="zh-CN" altLang="en-US" sz="2000" dirty="0"/>
              <a:t>流</a:t>
            </a:r>
            <a:r>
              <a:rPr lang="en-US" altLang="zh-CN" sz="2000" dirty="0"/>
              <a:t>(Stream)</a:t>
            </a:r>
            <a:r>
              <a:rPr lang="zh-CN" altLang="en-US" sz="2000" dirty="0"/>
              <a:t>：简单看成一次请求和应答，包含多个帧</a:t>
            </a:r>
            <a:endParaRPr lang="en-US" altLang="zh-CN" sz="2000" dirty="0"/>
          </a:p>
          <a:p>
            <a:pPr marL="628650" lvl="1" indent="-271780">
              <a:lnSpc>
                <a:spcPts val="3100"/>
              </a:lnSpc>
              <a:spcBef>
                <a:spcPts val="600"/>
              </a:spcBef>
            </a:pPr>
            <a:r>
              <a:rPr lang="zh-CN" altLang="en-US" sz="2000" dirty="0"/>
              <a:t>每个</a:t>
            </a:r>
            <a:r>
              <a:rPr lang="en-US" altLang="zh-CN" sz="2000" dirty="0"/>
              <a:t>TCP</a:t>
            </a:r>
            <a:r>
              <a:rPr lang="zh-CN" altLang="en-US" sz="2000" dirty="0"/>
              <a:t>连接中可以承载多个流，不同流的帧可以交替穿插传输</a:t>
            </a:r>
            <a:endParaRPr lang="en-US" altLang="zh-CN" sz="2000" dirty="0"/>
          </a:p>
          <a:p>
            <a:pPr marL="628650" lvl="1" indent="-271780">
              <a:lnSpc>
                <a:spcPts val="3100"/>
              </a:lnSpc>
              <a:spcBef>
                <a:spcPts val="600"/>
              </a:spcBef>
            </a:pPr>
            <a:r>
              <a:rPr lang="zh-CN" altLang="en-US" sz="2000" dirty="0"/>
              <a:t>流的创建与标识</a:t>
            </a:r>
            <a:endParaRPr lang="en-US" altLang="zh-CN" sz="2000" dirty="0"/>
          </a:p>
          <a:p>
            <a:pPr marL="986155" lvl="2" indent="-266700">
              <a:lnSpc>
                <a:spcPts val="3100"/>
              </a:lnSpc>
              <a:spcBef>
                <a:spcPts val="600"/>
              </a:spcBef>
            </a:pPr>
            <a:r>
              <a:rPr lang="en-US" altLang="zh-CN" sz="1595" dirty="0"/>
              <a:t>Stream ID</a:t>
            </a:r>
            <a:r>
              <a:rPr lang="zh-CN" altLang="en-US" sz="1595" dirty="0"/>
              <a:t>：标识一个流。客户端创建的流，</a:t>
            </a:r>
            <a:r>
              <a:rPr lang="en-US" altLang="zh-CN" sz="1595" dirty="0"/>
              <a:t>ID</a:t>
            </a:r>
            <a:r>
              <a:rPr lang="zh-CN" altLang="en-US" sz="1595" dirty="0"/>
              <a:t>为奇数；服务器创建的流，</a:t>
            </a:r>
            <a:r>
              <a:rPr lang="en-US" altLang="zh-CN" sz="1595" dirty="0"/>
              <a:t>ID</a:t>
            </a:r>
            <a:r>
              <a:rPr lang="zh-CN" altLang="en-US" sz="1595" dirty="0"/>
              <a:t>为偶数；</a:t>
            </a:r>
            <a:r>
              <a:rPr lang="en-US" altLang="zh-CN" sz="1595" dirty="0"/>
              <a:t>0x00</a:t>
            </a:r>
            <a:r>
              <a:rPr lang="zh-CN" altLang="en-US" sz="1595" dirty="0"/>
              <a:t>和</a:t>
            </a:r>
            <a:r>
              <a:rPr lang="en-US" altLang="zh-CN" sz="1595" dirty="0"/>
              <a:t>0x01</a:t>
            </a:r>
            <a:r>
              <a:rPr lang="zh-CN" altLang="en-US" sz="1595" dirty="0"/>
              <a:t>用于特定场景；</a:t>
            </a:r>
            <a:r>
              <a:rPr lang="en-US" altLang="zh-CN" sz="1595" dirty="0"/>
              <a:t>Stream ID </a:t>
            </a:r>
            <a:r>
              <a:rPr lang="zh-CN" altLang="en-US" sz="1595" dirty="0"/>
              <a:t>不能重复使用，如果一条连接上</a:t>
            </a:r>
            <a:r>
              <a:rPr lang="en-US" altLang="zh-CN" sz="1595" dirty="0"/>
              <a:t>ID</a:t>
            </a:r>
            <a:r>
              <a:rPr lang="zh-CN" altLang="en-US" sz="1595" dirty="0"/>
              <a:t>分配完，将新建一条连接。接收端通过</a:t>
            </a:r>
            <a:r>
              <a:rPr lang="en-US" altLang="zh-CN" sz="1595" dirty="0"/>
              <a:t>Stream ID</a:t>
            </a:r>
            <a:r>
              <a:rPr lang="zh-CN" altLang="en-US" sz="1595" dirty="0"/>
              <a:t>进行消息的组装。</a:t>
            </a:r>
            <a:endParaRPr lang="en-US" altLang="zh-CN" sz="1595" dirty="0"/>
          </a:p>
          <a:p>
            <a:pPr marL="986155" lvl="2" indent="-266700">
              <a:lnSpc>
                <a:spcPts val="3100"/>
              </a:lnSpc>
              <a:spcBef>
                <a:spcPts val="600"/>
              </a:spcBef>
            </a:pPr>
            <a:r>
              <a:rPr lang="zh-CN" altLang="en-US" sz="1595" dirty="0"/>
              <a:t>流创建：发送和接收到</a:t>
            </a:r>
            <a:r>
              <a:rPr lang="en-US" altLang="zh-CN" sz="1595" dirty="0"/>
              <a:t>HEADERS</a:t>
            </a:r>
            <a:r>
              <a:rPr lang="zh-CN" altLang="en-US" sz="1595" dirty="0"/>
              <a:t>帧（包含新</a:t>
            </a:r>
            <a:r>
              <a:rPr lang="en-US" altLang="zh-CN" sz="1595" dirty="0"/>
              <a:t>Stream ID</a:t>
            </a:r>
            <a:r>
              <a:rPr lang="zh-CN" altLang="en-US" sz="1595" dirty="0"/>
              <a:t>）时创建</a:t>
            </a:r>
            <a:endParaRPr lang="en-US" altLang="zh-CN" sz="1595" dirty="0"/>
          </a:p>
          <a:p>
            <a:pPr marL="986155" lvl="2" indent="-266700">
              <a:lnSpc>
                <a:spcPts val="3100"/>
              </a:lnSpc>
              <a:spcBef>
                <a:spcPts val="600"/>
              </a:spcBef>
            </a:pPr>
            <a:r>
              <a:rPr lang="zh-CN" altLang="en-US" sz="1595" dirty="0"/>
              <a:t>流优先级：可以依据重要性为流设置不同的优先级（</a:t>
            </a:r>
            <a:r>
              <a:rPr lang="en-US" altLang="zh-CN" sz="1595" dirty="0"/>
              <a:t>1~256</a:t>
            </a:r>
            <a:r>
              <a:rPr lang="zh-CN" altLang="en-US" sz="1595" dirty="0"/>
              <a:t>），在</a:t>
            </a:r>
            <a:r>
              <a:rPr lang="en-US" altLang="zh-CN" sz="1595" dirty="0"/>
              <a:t>HEADERS</a:t>
            </a:r>
            <a:r>
              <a:rPr lang="zh-CN" altLang="en-US" sz="1595" dirty="0"/>
              <a:t>帧中承载</a:t>
            </a:r>
            <a:endParaRPr lang="en-US" altLang="zh-CN" sz="1595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 2.0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协议基本原理（续）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23850" y="1476824"/>
            <a:ext cx="8420100" cy="453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266700" indent="-266700">
              <a:lnSpc>
                <a:spcPts val="3100"/>
              </a:lnSpc>
              <a:spcBef>
                <a:spcPts val="600"/>
              </a:spcBef>
            </a:pPr>
            <a:r>
              <a:rPr lang="en-US" altLang="zh-CN" sz="2200" dirty="0"/>
              <a:t>TCP</a:t>
            </a:r>
            <a:r>
              <a:rPr lang="zh-CN" altLang="en-US" sz="2200" dirty="0"/>
              <a:t>连接复用（示例）</a:t>
            </a:r>
            <a:endParaRPr lang="en-US" altLang="zh-CN" sz="2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671" y="2230036"/>
            <a:ext cx="8337279" cy="3508377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 2.0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协议基本原理（续）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23850" y="1547787"/>
            <a:ext cx="5915025" cy="4433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7505" indent="-357505">
              <a:lnSpc>
                <a:spcPts val="3000"/>
              </a:lnSpc>
              <a:spcBef>
                <a:spcPts val="600"/>
              </a:spcBef>
            </a:pPr>
            <a:r>
              <a:rPr lang="zh-CN" altLang="en-US" sz="2000" dirty="0"/>
              <a:t>服务器推送：提高响应速度</a:t>
            </a:r>
            <a:endParaRPr lang="en-US" altLang="zh-CN" sz="2000" dirty="0"/>
          </a:p>
          <a:p>
            <a:pPr lvl="1" indent="-363855">
              <a:lnSpc>
                <a:spcPts val="3000"/>
              </a:lnSpc>
              <a:spcBef>
                <a:spcPts val="600"/>
              </a:spcBef>
            </a:pPr>
            <a:r>
              <a:rPr lang="zh-CN" altLang="en-US" sz="1800" dirty="0">
                <a:latin typeface="Arial" panose="020B0604020202020204" pitchFamily="34" charset="0"/>
              </a:rPr>
              <a:t>服务器在请求之前先推送响应信息到客户端，推送的响应信息可以在客户端被缓存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>
              <a:lnSpc>
                <a:spcPts val="3000"/>
              </a:lnSpc>
              <a:spcBef>
                <a:spcPts val="1200"/>
              </a:spcBef>
            </a:pPr>
            <a:r>
              <a:rPr lang="en-US" altLang="zh-CN" sz="2000" kern="0" dirty="0"/>
              <a:t>HTTP</a:t>
            </a:r>
            <a:r>
              <a:rPr lang="zh-CN" altLang="en-US" sz="2000" kern="0" dirty="0"/>
              <a:t>头压缩（</a:t>
            </a:r>
            <a:r>
              <a:rPr lang="en-US" altLang="zh-CN" sz="2000" kern="0" dirty="0"/>
              <a:t>HPACK</a:t>
            </a:r>
            <a:r>
              <a:rPr lang="zh-CN" altLang="en-US" sz="2000" kern="0" dirty="0"/>
              <a:t>）</a:t>
            </a:r>
          </a:p>
          <a:p>
            <a:pPr lvl="1" indent="-363855">
              <a:lnSpc>
                <a:spcPts val="3000"/>
              </a:lnSpc>
              <a:spcBef>
                <a:spcPts val="600"/>
              </a:spcBef>
            </a:pPr>
            <a:r>
              <a:rPr lang="zh-CN" altLang="en-US" sz="1800" dirty="0"/>
              <a:t>请求头由大量的键值组成，多个请求的键值重复程度很高</a:t>
            </a:r>
            <a:endParaRPr lang="en-US" altLang="zh-CN" sz="1800" dirty="0"/>
          </a:p>
          <a:p>
            <a:pPr lvl="1" indent="-363855">
              <a:lnSpc>
                <a:spcPts val="3000"/>
              </a:lnSpc>
              <a:spcBef>
                <a:spcPts val="600"/>
              </a:spcBef>
            </a:pPr>
            <a:r>
              <a:rPr lang="zh-CN" altLang="en-US" sz="1800" dirty="0"/>
              <a:t>静态表：定义通用</a:t>
            </a:r>
            <a:r>
              <a:rPr lang="en-US" altLang="zh-CN" sz="1800" dirty="0"/>
              <a:t>HTTP</a:t>
            </a:r>
            <a:r>
              <a:rPr lang="zh-CN" altLang="en-US" sz="1800" dirty="0"/>
              <a:t>头域，常用键值无需重复传送，直接引用内部字典的整数索引</a:t>
            </a:r>
            <a:endParaRPr lang="en-US" altLang="zh-CN" sz="1800" dirty="0"/>
          </a:p>
          <a:p>
            <a:pPr lvl="1" indent="-363855">
              <a:lnSpc>
                <a:spcPts val="3000"/>
              </a:lnSpc>
              <a:spcBef>
                <a:spcPts val="600"/>
              </a:spcBef>
            </a:pPr>
            <a:r>
              <a:rPr lang="zh-CN" altLang="en-US" sz="1800" dirty="0"/>
              <a:t>动态表： 两边交互发现新的头域，添加到动态表</a:t>
            </a:r>
            <a:endParaRPr lang="en-US" altLang="zh-CN" sz="1800" dirty="0"/>
          </a:p>
          <a:p>
            <a:pPr lvl="1" indent="-363855">
              <a:lnSpc>
                <a:spcPts val="3000"/>
              </a:lnSpc>
              <a:spcBef>
                <a:spcPts val="600"/>
              </a:spcBef>
            </a:pPr>
            <a:r>
              <a:rPr lang="zh-CN" altLang="en-US" sz="1800" dirty="0"/>
              <a:t>自定义键值：采用</a:t>
            </a:r>
            <a:r>
              <a:rPr lang="en-US" altLang="zh-CN" sz="1800" dirty="0"/>
              <a:t>Huffman</a:t>
            </a:r>
            <a:r>
              <a:rPr lang="zh-CN" altLang="en-US" sz="1800" dirty="0"/>
              <a:t>编码</a:t>
            </a:r>
            <a:endParaRPr lang="en-US" altLang="zh-CN" sz="1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5043" y="1942787"/>
            <a:ext cx="2708984" cy="3306763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 2.0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协议基本原理（续）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23850" y="1476824"/>
            <a:ext cx="5915025" cy="43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7505" indent="-357505">
              <a:lnSpc>
                <a:spcPts val="3000"/>
              </a:lnSpc>
              <a:spcBef>
                <a:spcPts val="600"/>
              </a:spcBef>
            </a:pPr>
            <a:r>
              <a:rPr lang="en-US" altLang="zh-CN" sz="2000" dirty="0"/>
              <a:t>HTTP</a:t>
            </a:r>
            <a:r>
              <a:rPr lang="zh-CN" altLang="en-US" sz="2000" dirty="0"/>
              <a:t>头压缩示例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50" y="2291977"/>
            <a:ext cx="8472211" cy="2798765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 2.0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协议基本原理（续）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23850" y="1346198"/>
            <a:ext cx="5915025" cy="437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7505" indent="-357505">
              <a:lnSpc>
                <a:spcPts val="3000"/>
              </a:lnSpc>
              <a:spcBef>
                <a:spcPts val="600"/>
              </a:spcBef>
            </a:pPr>
            <a:r>
              <a:rPr lang="en-US" altLang="zh-CN" sz="2000" dirty="0"/>
              <a:t>HTTP</a:t>
            </a:r>
            <a:r>
              <a:rPr lang="zh-CN" altLang="en-US" sz="2000" dirty="0"/>
              <a:t>连接流程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557" y="1724025"/>
            <a:ext cx="7384886" cy="4665359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 2.0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协议基本原理（续）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775" y="1250951"/>
            <a:ext cx="6704964" cy="4851472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 2.0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协议基本原理（续）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2.6 Web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服务与</a:t>
            </a: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HTTP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23850" y="1460506"/>
            <a:ext cx="8310563" cy="3948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95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2395" dirty="0"/>
              <a:t>HTTP 2.0</a:t>
            </a:r>
            <a:r>
              <a:rPr lang="zh-CN" altLang="en-US" sz="2395" dirty="0"/>
              <a:t>协议解决的问题</a:t>
            </a:r>
            <a:endParaRPr lang="en-US" altLang="zh-CN" sz="2395" dirty="0"/>
          </a:p>
          <a:p>
            <a:pPr lvl="1">
              <a:lnSpc>
                <a:spcPts val="3295"/>
              </a:lnSpc>
            </a:pPr>
            <a:r>
              <a:rPr lang="zh-CN" altLang="en-US" sz="1800" dirty="0"/>
              <a:t>通过引入流机制，解决</a:t>
            </a:r>
            <a:r>
              <a:rPr lang="en-US" altLang="zh-CN" sz="1800" dirty="0"/>
              <a:t>HTTP</a:t>
            </a:r>
            <a:r>
              <a:rPr lang="zh-CN" altLang="en-US" sz="1800" dirty="0"/>
              <a:t>队头阻塞问题，提高传输效率</a:t>
            </a:r>
            <a:endParaRPr lang="en-US" altLang="zh-CN" sz="1800" dirty="0"/>
          </a:p>
          <a:p>
            <a:pPr lvl="1">
              <a:lnSpc>
                <a:spcPts val="3295"/>
              </a:lnSpc>
            </a:pPr>
            <a:r>
              <a:rPr lang="zh-CN" altLang="en-US" sz="1800" dirty="0"/>
              <a:t>通过二进制编码、头压缩机制提高网络带宽利用率</a:t>
            </a:r>
            <a:endParaRPr lang="en-US" altLang="zh-CN" sz="1800" dirty="0"/>
          </a:p>
          <a:p>
            <a:pPr lvl="1">
              <a:lnSpc>
                <a:spcPts val="3295"/>
              </a:lnSpc>
            </a:pPr>
            <a:r>
              <a:rPr lang="zh-CN" altLang="en-US" sz="1800" dirty="0"/>
              <a:t>通过服务器推送，加快页面响应速度</a:t>
            </a:r>
            <a:r>
              <a:rPr lang="en-US" altLang="zh-CN" sz="1800" dirty="0"/>
              <a:t> </a:t>
            </a:r>
          </a:p>
          <a:p>
            <a:pPr marL="358140" indent="-358140">
              <a:lnSpc>
                <a:spcPts val="2995"/>
              </a:lnSpc>
              <a:spcBef>
                <a:spcPts val="1795"/>
              </a:spcBef>
            </a:pPr>
            <a:r>
              <a:rPr lang="en-US" altLang="zh-CN" sz="2395" dirty="0"/>
              <a:t>HTTP 2.0</a:t>
            </a:r>
            <a:r>
              <a:rPr lang="zh-CN" altLang="en-US" sz="2395" dirty="0"/>
              <a:t>协议没有解决的问题</a:t>
            </a:r>
            <a:endParaRPr lang="en-US" altLang="zh-CN" sz="2395" dirty="0"/>
          </a:p>
          <a:p>
            <a:pPr lvl="1">
              <a:lnSpc>
                <a:spcPts val="3295"/>
              </a:lnSpc>
            </a:pPr>
            <a:r>
              <a:rPr lang="en-US" altLang="zh-CN" sz="1800" dirty="0"/>
              <a:t>TCP+TLS</a:t>
            </a:r>
            <a:r>
              <a:rPr lang="zh-CN" altLang="en-US" sz="1800" dirty="0"/>
              <a:t>的多次交互，造成启动延迟问题</a:t>
            </a:r>
            <a:endParaRPr lang="en-US" altLang="zh-CN" sz="1800" dirty="0"/>
          </a:p>
          <a:p>
            <a:pPr lvl="1">
              <a:lnSpc>
                <a:spcPts val="3295"/>
              </a:lnSpc>
            </a:pPr>
            <a:r>
              <a:rPr lang="zh-CN" altLang="en-US" sz="1800" dirty="0"/>
              <a:t>移动主机和多宿主机的连接迁移问题</a:t>
            </a:r>
            <a:endParaRPr lang="en-US" altLang="zh-CN" sz="1800" dirty="0"/>
          </a:p>
          <a:p>
            <a:pPr lvl="1">
              <a:lnSpc>
                <a:spcPts val="3295"/>
              </a:lnSpc>
            </a:pPr>
            <a:r>
              <a:rPr lang="en-US" altLang="zh-CN" sz="1800" dirty="0"/>
              <a:t>TCP</a:t>
            </a:r>
            <a:r>
              <a:rPr lang="zh-CN" altLang="en-US" sz="1800" dirty="0"/>
              <a:t>队头阻塞问题</a:t>
            </a:r>
            <a:endParaRPr lang="en-US" altLang="zh-CN" sz="1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5313" y="4809492"/>
            <a:ext cx="4516871" cy="158178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805733" y="4772026"/>
            <a:ext cx="1133475" cy="124301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互联网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IP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流量发展趋势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2.7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内容分发网络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647701" y="5010589"/>
            <a:ext cx="7784599" cy="468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00"/>
              </a:lnSpc>
              <a:spcBef>
                <a:spcPts val="1200"/>
              </a:spcBef>
              <a:buClr>
                <a:srgbClr val="C00000"/>
              </a:buClr>
            </a:pPr>
            <a:r>
              <a:rPr lang="en-US" altLang="zh-CN" sz="2000" dirty="0"/>
              <a:t>IP Video</a:t>
            </a:r>
            <a:r>
              <a:rPr lang="zh-CN" altLang="en-US" sz="2000" dirty="0"/>
              <a:t>流量到</a:t>
            </a:r>
            <a:r>
              <a:rPr lang="en-US" altLang="zh-CN" sz="2000" dirty="0"/>
              <a:t>2022</a:t>
            </a:r>
            <a:r>
              <a:rPr lang="zh-CN" altLang="en-US" sz="2000" dirty="0"/>
              <a:t>年占</a:t>
            </a:r>
            <a:r>
              <a:rPr lang="en-US" altLang="zh-CN" sz="2000" dirty="0"/>
              <a:t>82%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17" y="1892951"/>
            <a:ext cx="8478838" cy="25629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60764" y="1389922"/>
            <a:ext cx="2867071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8140" indent="-358140" algn="ctr">
              <a:lnSpc>
                <a:spcPts val="3200"/>
              </a:lnSpc>
              <a:spcBef>
                <a:spcPts val="1200"/>
              </a:spcBef>
              <a:buClr>
                <a:srgbClr val="C00000"/>
              </a:buClr>
            </a:pP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全球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流量（按应用分类）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80167" y="5710603"/>
            <a:ext cx="84282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参考：</a:t>
            </a:r>
            <a:r>
              <a:rPr lang="en-US" altLang="zh-CN" sz="15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Cisco Visual Networking Index: Forecast and Trends, 2017–2022 (white paper), Cisco, Feb. 2019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51296" y="6139056"/>
            <a:ext cx="7582611" cy="3231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关注文章</a:t>
            </a:r>
            <a:r>
              <a:rPr lang="en-US" altLang="zh-CN" sz="15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Waiting Times In Quality Of Experience For Web Based Services</a:t>
            </a:r>
            <a:r>
              <a:rPr lang="zh-CN" altLang="en-US" sz="15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sz="15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QoE</a:t>
            </a:r>
            <a:r>
              <a:rPr lang="zh-CN" altLang="en-US" sz="15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的观点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内容分发网络概述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2.7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内容分发网络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22107" y="1626425"/>
            <a:ext cx="8496299" cy="440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00"/>
              </a:lnSpc>
              <a:spcBef>
                <a:spcPts val="1200"/>
              </a:spcBef>
              <a:buClr>
                <a:srgbClr val="C00000"/>
              </a:buClr>
            </a:pPr>
            <a:r>
              <a:rPr lang="zh-CN" altLang="en-US" sz="2400" dirty="0"/>
              <a:t>基本思想源于</a:t>
            </a:r>
            <a:r>
              <a:rPr lang="en-US" altLang="zh-CN" sz="2400" dirty="0"/>
              <a:t>MIT</a:t>
            </a:r>
            <a:r>
              <a:rPr lang="zh-CN" altLang="en-US" sz="2400" dirty="0"/>
              <a:t>对</a:t>
            </a:r>
            <a:r>
              <a:rPr lang="en-US" altLang="zh-CN" sz="2400" dirty="0"/>
              <a:t>Web</a:t>
            </a:r>
            <a:r>
              <a:rPr lang="zh-CN" altLang="en-US" sz="2400" dirty="0"/>
              <a:t>服务瞬间拥塞问题的解决（</a:t>
            </a:r>
            <a:r>
              <a:rPr lang="en-US" altLang="zh-CN" sz="2400" dirty="0"/>
              <a:t>1998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803910" lvl="1" indent="-358140">
              <a:lnSpc>
                <a:spcPts val="3200"/>
              </a:lnSpc>
              <a:spcBef>
                <a:spcPts val="1200"/>
              </a:spcBef>
              <a:buClr>
                <a:srgbClr val="C00000"/>
              </a:buClr>
            </a:pPr>
            <a:r>
              <a:rPr lang="zh-CN" altLang="en-US" sz="2000" dirty="0"/>
              <a:t>一种</a:t>
            </a:r>
            <a:r>
              <a:rPr lang="en-US" altLang="zh-CN" sz="2000" dirty="0"/>
              <a:t>Web</a:t>
            </a:r>
            <a:r>
              <a:rPr lang="zh-CN" altLang="en-US" sz="2000" dirty="0"/>
              <a:t>缓存系统，靠近网络边缘（用户）提供内容服务</a:t>
            </a:r>
            <a:endParaRPr lang="en-US" altLang="zh-CN" sz="2000" dirty="0"/>
          </a:p>
          <a:p>
            <a:pPr marL="803910" lvl="1" indent="-358140">
              <a:lnSpc>
                <a:spcPts val="3200"/>
              </a:lnSpc>
              <a:spcBef>
                <a:spcPts val="1200"/>
              </a:spcBef>
              <a:buClr>
                <a:srgbClr val="C00000"/>
              </a:buClr>
            </a:pPr>
            <a:r>
              <a:rPr lang="zh-CN" altLang="en-US" sz="2000" dirty="0"/>
              <a:t>目前提供更丰富的服务，包括静态内容、流媒体、用户上传视频等</a:t>
            </a:r>
            <a:endParaRPr lang="en-US" altLang="zh-CN" sz="2000" dirty="0"/>
          </a:p>
          <a:p>
            <a:pPr marL="358140" indent="-358140">
              <a:lnSpc>
                <a:spcPts val="3200"/>
              </a:lnSpc>
              <a:spcBef>
                <a:spcPts val="1200"/>
              </a:spcBef>
              <a:buClr>
                <a:srgbClr val="C00000"/>
              </a:buClr>
            </a:pPr>
            <a:r>
              <a:rPr lang="zh-CN" altLang="en-US" sz="2400" dirty="0"/>
              <a:t>主要优点</a:t>
            </a:r>
            <a:endParaRPr lang="en-US" altLang="zh-CN" sz="2400" dirty="0"/>
          </a:p>
          <a:p>
            <a:pPr marL="805180" lvl="1" indent="-354330">
              <a:lnSpc>
                <a:spcPts val="3200"/>
              </a:lnSpc>
              <a:spcBef>
                <a:spcPts val="1200"/>
              </a:spcBef>
            </a:pPr>
            <a:r>
              <a:rPr lang="zh-CN" altLang="en-US" sz="2000" dirty="0"/>
              <a:t>降低响应时延，避免网络拥塞</a:t>
            </a:r>
            <a:endParaRPr lang="en-US" altLang="zh-CN" sz="2000" dirty="0"/>
          </a:p>
          <a:p>
            <a:pPr marL="805180" lvl="1" indent="-354330">
              <a:lnSpc>
                <a:spcPts val="3200"/>
              </a:lnSpc>
              <a:spcBef>
                <a:spcPts val="1200"/>
              </a:spcBef>
            </a:pPr>
            <a:r>
              <a:rPr lang="zh-CN" altLang="en-US" sz="2000" dirty="0"/>
              <a:t>避免原始服务器过载及防止</a:t>
            </a:r>
            <a:r>
              <a:rPr lang="en-US" altLang="zh-CN" sz="2000" dirty="0"/>
              <a:t>DDoS</a:t>
            </a:r>
            <a:r>
              <a:rPr lang="zh-CN" altLang="en-US" sz="2000" dirty="0"/>
              <a:t>攻击</a:t>
            </a:r>
            <a:endParaRPr lang="en-US" altLang="zh-CN" sz="2000" dirty="0"/>
          </a:p>
          <a:p>
            <a:pPr marL="805180" lvl="1" indent="-354330">
              <a:lnSpc>
                <a:spcPts val="3200"/>
              </a:lnSpc>
              <a:spcBef>
                <a:spcPts val="1200"/>
              </a:spcBef>
            </a:pPr>
            <a:r>
              <a:rPr lang="zh-CN" altLang="en-US" sz="2000" dirty="0"/>
              <a:t>分布式架构，具有良好的可扩展性</a:t>
            </a:r>
            <a:endParaRPr lang="en-US" altLang="zh-CN" sz="2000" dirty="0"/>
          </a:p>
          <a:p>
            <a:pPr marL="805180" lvl="1" indent="-354330">
              <a:lnSpc>
                <a:spcPts val="3200"/>
              </a:lnSpc>
              <a:spcBef>
                <a:spcPts val="1200"/>
              </a:spcBef>
            </a:pPr>
            <a:r>
              <a:rPr lang="zh-CN" altLang="en-US" sz="2000" dirty="0"/>
              <a:t>对用户透明，无需用户感知</a:t>
            </a:r>
            <a:endParaRPr lang="en-US" altLang="zh-CN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4708478" y="706374"/>
            <a:ext cx="4111672" cy="421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358140" indent="-358140" algn="ctr">
              <a:lnSpc>
                <a:spcPts val="2800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CDN (Content Distribution Network)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内容分发网络概述（续）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2.7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内容分发网络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88961" y="1392237"/>
            <a:ext cx="8195480" cy="3470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28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关键问题</a:t>
            </a:r>
            <a:endParaRPr lang="en-US" altLang="zh-CN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6280" lvl="1" indent="-358775"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CDN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服务器如何布局</a:t>
            </a:r>
            <a:endParaRPr lang="en-US" altLang="zh-CN" sz="2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16280" lvl="1" indent="-358775"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在哪里缓存、缓存哪些内容</a:t>
            </a:r>
            <a:endParaRPr lang="en-US" altLang="zh-CN" sz="20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16280" lvl="1" indent="-358775">
              <a:lnSpc>
                <a:spcPts val="28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如何进行重定向，将请求调度到较近或负载较轻的</a:t>
            </a:r>
            <a:r>
              <a:rPr lang="en-US" altLang="zh-CN" sz="2000" b="1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CDN</a:t>
            </a:r>
            <a:r>
              <a:rPr lang="zh-CN" altLang="en-US" sz="2000" b="1" dirty="0">
                <a:solidFill>
                  <a:srgbClr val="00B0F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服务器</a:t>
            </a:r>
            <a:endParaRPr lang="en-US" altLang="zh-CN" sz="2000" b="1" dirty="0">
              <a:solidFill>
                <a:srgbClr val="00B0F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61950" indent="-361950">
              <a:lnSpc>
                <a:spcPts val="2800"/>
              </a:lnSpc>
              <a:spcBef>
                <a:spcPts val="600"/>
              </a:spcBef>
            </a:pPr>
            <a:r>
              <a:rPr lang="en-US" altLang="zh-CN" sz="24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CDN</a:t>
            </a:r>
            <a:r>
              <a:rPr lang="zh-CN" altLang="en-US" sz="2400" b="1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服务提供</a:t>
            </a:r>
            <a:endParaRPr lang="en-US" altLang="zh-CN" sz="2400" b="1" dirty="0">
              <a:solidFill>
                <a:srgbClr val="C0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28650" lvl="1" indent="-271780">
              <a:lnSpc>
                <a:spcPts val="2800"/>
              </a:lnSpc>
              <a:spcBef>
                <a:spcPts val="600"/>
              </a:spcBef>
            </a:pPr>
            <a:r>
              <a:rPr lang="en-US" altLang="zh-CN" sz="2000" dirty="0"/>
              <a:t>CDN</a:t>
            </a:r>
            <a:r>
              <a:rPr lang="zh-CN" altLang="en-US" sz="2000" dirty="0"/>
              <a:t>服务提供商：</a:t>
            </a:r>
            <a:r>
              <a:rPr lang="en-US" altLang="zh-CN" sz="2000" dirty="0"/>
              <a:t>Akamai</a:t>
            </a:r>
            <a:r>
              <a:rPr lang="zh-CN" altLang="en-US" sz="2000" dirty="0"/>
              <a:t>、蓝讯、世纪互联、网宿等</a:t>
            </a:r>
            <a:endParaRPr lang="en-US" altLang="zh-CN" sz="2000" dirty="0"/>
          </a:p>
          <a:p>
            <a:pPr marL="628650" lvl="1" indent="-271780"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/>
              <a:t>互联网内容提供商（</a:t>
            </a:r>
            <a:r>
              <a:rPr lang="en-US" altLang="zh-CN" sz="2000" dirty="0"/>
              <a:t>ICP</a:t>
            </a:r>
            <a:r>
              <a:rPr lang="zh-CN" altLang="en-US" sz="2000" dirty="0"/>
              <a:t>）：腾讯、百度等</a:t>
            </a:r>
            <a:endParaRPr lang="en-US" altLang="zh-CN" sz="2000" dirty="0"/>
          </a:p>
          <a:p>
            <a:pPr marL="628650" lvl="1" indent="-271780">
              <a:lnSpc>
                <a:spcPts val="2800"/>
              </a:lnSpc>
              <a:spcBef>
                <a:spcPts val="600"/>
              </a:spcBef>
            </a:pPr>
            <a:r>
              <a:rPr lang="zh-CN" altLang="en-US" sz="2000" dirty="0"/>
              <a:t>互联网服务提供商（</a:t>
            </a:r>
            <a:r>
              <a:rPr lang="en-US" altLang="zh-CN" sz="2000" dirty="0"/>
              <a:t>ISP</a:t>
            </a:r>
            <a:r>
              <a:rPr lang="zh-CN" altLang="en-US" sz="2000" dirty="0"/>
              <a:t>）：移动、联通、电信等</a:t>
            </a:r>
            <a:endParaRPr lang="en-US" altLang="zh-CN" sz="2000" dirty="0"/>
          </a:p>
        </p:txBody>
      </p:sp>
      <p:sp>
        <p:nvSpPr>
          <p:cNvPr id="2" name="矩形 1"/>
          <p:cNvSpPr/>
          <p:nvPr/>
        </p:nvSpPr>
        <p:spPr>
          <a:xfrm>
            <a:off x="496958" y="5062833"/>
            <a:ext cx="8236225" cy="12496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腾讯云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CDN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2100+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节点覆盖国内移动、联通、电信及十几家中小型运营商，以及全球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50+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国家地区，全网带宽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120Tbps+</a:t>
            </a:r>
            <a:endParaRPr lang="en-US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Akamai: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240,000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部署在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&gt; 120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个国家内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(2015)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CDN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基本原理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2.7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内容分发网络</a:t>
            </a:r>
          </a:p>
        </p:txBody>
      </p:sp>
      <p:grpSp>
        <p:nvGrpSpPr>
          <p:cNvPr id="285" name="组合 284"/>
          <p:cNvGrpSpPr/>
          <p:nvPr/>
        </p:nvGrpSpPr>
        <p:grpSpPr>
          <a:xfrm>
            <a:off x="1324887" y="2296546"/>
            <a:ext cx="6053574" cy="3429157"/>
            <a:chOff x="926191" y="1741839"/>
            <a:chExt cx="6053574" cy="3429157"/>
          </a:xfrm>
        </p:grpSpPr>
        <p:grpSp>
          <p:nvGrpSpPr>
            <p:cNvPr id="8" name="Group 102"/>
            <p:cNvGrpSpPr/>
            <p:nvPr/>
          </p:nvGrpSpPr>
          <p:grpSpPr bwMode="auto">
            <a:xfrm>
              <a:off x="2550390" y="4183749"/>
              <a:ext cx="600152" cy="690934"/>
              <a:chOff x="-44" y="1473"/>
              <a:chExt cx="981" cy="1105"/>
            </a:xfrm>
          </p:grpSpPr>
          <p:pic>
            <p:nvPicPr>
              <p:cNvPr id="9" name="Picture 10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" name="Freeform 104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32377 w 356"/>
                  <a:gd name="T3" fmla="*/ 2307 h 368"/>
                  <a:gd name="T4" fmla="*/ 38409 w 356"/>
                  <a:gd name="T5" fmla="*/ 48069 h 368"/>
                  <a:gd name="T6" fmla="*/ 8465 w 356"/>
                  <a:gd name="T7" fmla="*/ 601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solid"/>
                    <a:rou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1" name="Text Box 21"/>
            <p:cNvSpPr txBox="1">
              <a:spLocks noChangeArrowheads="1"/>
            </p:cNvSpPr>
            <p:nvPr/>
          </p:nvSpPr>
          <p:spPr bwMode="auto">
            <a:xfrm>
              <a:off x="2509656" y="4832442"/>
              <a:ext cx="80022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客户端</a:t>
              </a:r>
              <a:endPara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2" name="Text Box 47"/>
            <p:cNvSpPr txBox="1">
              <a:spLocks noChangeArrowheads="1"/>
            </p:cNvSpPr>
            <p:nvPr/>
          </p:nvSpPr>
          <p:spPr bwMode="auto">
            <a:xfrm>
              <a:off x="5662788" y="4813946"/>
              <a:ext cx="131697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原始服务器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03" name="Group 69"/>
            <p:cNvGrpSpPr/>
            <p:nvPr/>
          </p:nvGrpSpPr>
          <p:grpSpPr bwMode="auto">
            <a:xfrm>
              <a:off x="6138495" y="4152000"/>
              <a:ext cx="378387" cy="647839"/>
              <a:chOff x="4140" y="429"/>
              <a:chExt cx="1425" cy="2396"/>
            </a:xfrm>
          </p:grpSpPr>
          <p:sp>
            <p:nvSpPr>
              <p:cNvPr id="104" name="Freeform 70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0 w 354"/>
                  <a:gd name="T3" fmla="*/ 19 h 2742"/>
                  <a:gd name="T4" fmla="*/ 10 w 354"/>
                  <a:gd name="T5" fmla="*/ 143 h 2742"/>
                  <a:gd name="T6" fmla="*/ 0 w 354"/>
                  <a:gd name="T7" fmla="*/ 14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5" name="Rectangle 71"/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" name="Freeform 72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6 w 211"/>
                  <a:gd name="T3" fmla="*/ 13 h 2537"/>
                  <a:gd name="T4" fmla="*/ 2 w 211"/>
                  <a:gd name="T5" fmla="*/ 13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7" name="Freeform 73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8 h 226"/>
                  <a:gd name="T4" fmla="*/ 9 w 328"/>
                  <a:gd name="T5" fmla="*/ 13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Rectangle 74"/>
              <p:cNvSpPr>
                <a:spLocks noChangeArrowheads="1"/>
              </p:cNvSpPr>
              <p:nvPr/>
            </p:nvSpPr>
            <p:spPr bwMode="auto">
              <a:xfrm>
                <a:off x="4213" y="695"/>
                <a:ext cx="595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09" name="Group 75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34" name="AutoShape 76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3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" name="AutoShape 77"/>
                <p:cNvSpPr>
                  <a:spLocks noChangeArrowheads="1"/>
                </p:cNvSpPr>
                <p:nvPr/>
              </p:nvSpPr>
              <p:spPr bwMode="auto">
                <a:xfrm>
                  <a:off x="629" y="2583"/>
                  <a:ext cx="690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10" name="Rectangle 78"/>
              <p:cNvSpPr>
                <a:spLocks noChangeArrowheads="1"/>
              </p:cNvSpPr>
              <p:nvPr/>
            </p:nvSpPr>
            <p:spPr bwMode="auto">
              <a:xfrm>
                <a:off x="4224" y="1019"/>
                <a:ext cx="595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1" name="Group 79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32" name="AutoShape 80"/>
                <p:cNvSpPr>
                  <a:spLocks noChangeArrowheads="1"/>
                </p:cNvSpPr>
                <p:nvPr/>
              </p:nvSpPr>
              <p:spPr bwMode="auto">
                <a:xfrm>
                  <a:off x="612" y="2566"/>
                  <a:ext cx="730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" name="AutoShape 81"/>
                <p:cNvSpPr>
                  <a:spLocks noChangeArrowheads="1"/>
                </p:cNvSpPr>
                <p:nvPr/>
              </p:nvSpPr>
              <p:spPr bwMode="auto">
                <a:xfrm>
                  <a:off x="625" y="2583"/>
                  <a:ext cx="697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12" name="Rectangle 82"/>
              <p:cNvSpPr>
                <a:spLocks noChangeArrowheads="1"/>
              </p:cNvSpPr>
              <p:nvPr/>
            </p:nvSpPr>
            <p:spPr bwMode="auto">
              <a:xfrm>
                <a:off x="4218" y="1359"/>
                <a:ext cx="595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Rectangle 83"/>
              <p:cNvSpPr>
                <a:spLocks noChangeArrowheads="1"/>
              </p:cNvSpPr>
              <p:nvPr/>
            </p:nvSpPr>
            <p:spPr bwMode="auto">
              <a:xfrm>
                <a:off x="4229" y="1656"/>
                <a:ext cx="595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4" name="Group 84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0" name="AutoShape 85"/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2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" name="AutoShape 86"/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83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15" name="Freeform 87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7 h 226"/>
                  <a:gd name="T4" fmla="*/ 9 w 328"/>
                  <a:gd name="T5" fmla="*/ 12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16" name="Group 88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28" name="AutoShape 89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9" name="AutoShape 90"/>
                <p:cNvSpPr>
                  <a:spLocks noChangeArrowheads="1"/>
                </p:cNvSpPr>
                <p:nvPr/>
              </p:nvSpPr>
              <p:spPr bwMode="auto">
                <a:xfrm>
                  <a:off x="629" y="2584"/>
                  <a:ext cx="689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17" name="Rectangle 91"/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8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Freeform 92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 w 296"/>
                  <a:gd name="T3" fmla="*/ 7 h 256"/>
                  <a:gd name="T4" fmla="*/ 9 w 296"/>
                  <a:gd name="T5" fmla="*/ 13 h 256"/>
                  <a:gd name="T6" fmla="*/ 0 w 296"/>
                  <a:gd name="T7" fmla="*/ 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Freeform 93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9 w 304"/>
                  <a:gd name="T3" fmla="*/ 9 h 288"/>
                  <a:gd name="T4" fmla="*/ 8 w 304"/>
                  <a:gd name="T5" fmla="*/ 16 h 288"/>
                  <a:gd name="T6" fmla="*/ 2 w 304"/>
                  <a:gd name="T7" fmla="*/ 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0" name="Oval 94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1" name="Freeform 95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7 h 240"/>
                  <a:gd name="T2" fmla="*/ 2 w 306"/>
                  <a:gd name="T3" fmla="*/ 13 h 240"/>
                  <a:gd name="T4" fmla="*/ 9 w 306"/>
                  <a:gd name="T5" fmla="*/ 7 h 240"/>
                  <a:gd name="T6" fmla="*/ 9 w 306"/>
                  <a:gd name="T7" fmla="*/ 0 h 240"/>
                  <a:gd name="T8" fmla="*/ 0 w 306"/>
                  <a:gd name="T9" fmla="*/ 7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2" name="AutoShape 96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201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" name="AutoShape 97"/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4" name="Oval 98"/>
              <p:cNvSpPr>
                <a:spLocks noChangeArrowheads="1"/>
              </p:cNvSpPr>
              <p:nvPr/>
            </p:nvSpPr>
            <p:spPr bwMode="auto">
              <a:xfrm>
                <a:off x="4307" y="2384"/>
                <a:ext cx="157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Oval 99"/>
              <p:cNvSpPr>
                <a:spLocks noChangeArrowheads="1"/>
              </p:cNvSpPr>
              <p:nvPr/>
            </p:nvSpPr>
            <p:spPr bwMode="auto">
              <a:xfrm>
                <a:off x="4485" y="2384"/>
                <a:ext cx="162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" name="Oval 100"/>
              <p:cNvSpPr>
                <a:spLocks noChangeArrowheads="1"/>
              </p:cNvSpPr>
              <p:nvPr/>
            </p:nvSpPr>
            <p:spPr bwMode="auto">
              <a:xfrm>
                <a:off x="4662" y="2379"/>
                <a:ext cx="157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" name="Rectangle 101"/>
              <p:cNvSpPr>
                <a:spLocks noChangeArrowheads="1"/>
              </p:cNvSpPr>
              <p:nvPr/>
            </p:nvSpPr>
            <p:spPr bwMode="auto">
              <a:xfrm>
                <a:off x="5064" y="1837"/>
                <a:ext cx="84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6" name="Group 69"/>
            <p:cNvGrpSpPr/>
            <p:nvPr/>
          </p:nvGrpSpPr>
          <p:grpSpPr bwMode="auto">
            <a:xfrm>
              <a:off x="3883852" y="1741839"/>
              <a:ext cx="378387" cy="647839"/>
              <a:chOff x="4140" y="429"/>
              <a:chExt cx="1425" cy="2396"/>
            </a:xfrm>
          </p:grpSpPr>
          <p:sp>
            <p:nvSpPr>
              <p:cNvPr id="137" name="Freeform 70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0 w 354"/>
                  <a:gd name="T3" fmla="*/ 19 h 2742"/>
                  <a:gd name="T4" fmla="*/ 10 w 354"/>
                  <a:gd name="T5" fmla="*/ 143 h 2742"/>
                  <a:gd name="T6" fmla="*/ 0 w 354"/>
                  <a:gd name="T7" fmla="*/ 14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Rectangle 71"/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Freeform 72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6 w 211"/>
                  <a:gd name="T3" fmla="*/ 13 h 2537"/>
                  <a:gd name="T4" fmla="*/ 2 w 211"/>
                  <a:gd name="T5" fmla="*/ 13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" name="Freeform 73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8 h 226"/>
                  <a:gd name="T4" fmla="*/ 9 w 328"/>
                  <a:gd name="T5" fmla="*/ 13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" name="Rectangle 74"/>
              <p:cNvSpPr>
                <a:spLocks noChangeArrowheads="1"/>
              </p:cNvSpPr>
              <p:nvPr/>
            </p:nvSpPr>
            <p:spPr bwMode="auto">
              <a:xfrm>
                <a:off x="4213" y="695"/>
                <a:ext cx="595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2" name="Group 75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67" name="AutoShape 76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3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8" name="AutoShape 77"/>
                <p:cNvSpPr>
                  <a:spLocks noChangeArrowheads="1"/>
                </p:cNvSpPr>
                <p:nvPr/>
              </p:nvSpPr>
              <p:spPr bwMode="auto">
                <a:xfrm>
                  <a:off x="629" y="2583"/>
                  <a:ext cx="690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3" name="Rectangle 78"/>
              <p:cNvSpPr>
                <a:spLocks noChangeArrowheads="1"/>
              </p:cNvSpPr>
              <p:nvPr/>
            </p:nvSpPr>
            <p:spPr bwMode="auto">
              <a:xfrm>
                <a:off x="4224" y="1019"/>
                <a:ext cx="595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4" name="Group 79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65" name="AutoShape 80"/>
                <p:cNvSpPr>
                  <a:spLocks noChangeArrowheads="1"/>
                </p:cNvSpPr>
                <p:nvPr/>
              </p:nvSpPr>
              <p:spPr bwMode="auto">
                <a:xfrm>
                  <a:off x="612" y="2566"/>
                  <a:ext cx="730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6" name="AutoShape 81"/>
                <p:cNvSpPr>
                  <a:spLocks noChangeArrowheads="1"/>
                </p:cNvSpPr>
                <p:nvPr/>
              </p:nvSpPr>
              <p:spPr bwMode="auto">
                <a:xfrm>
                  <a:off x="625" y="2583"/>
                  <a:ext cx="697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5" name="Rectangle 82"/>
              <p:cNvSpPr>
                <a:spLocks noChangeArrowheads="1"/>
              </p:cNvSpPr>
              <p:nvPr/>
            </p:nvSpPr>
            <p:spPr bwMode="auto">
              <a:xfrm>
                <a:off x="4218" y="1359"/>
                <a:ext cx="595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" name="Rectangle 83"/>
              <p:cNvSpPr>
                <a:spLocks noChangeArrowheads="1"/>
              </p:cNvSpPr>
              <p:nvPr/>
            </p:nvSpPr>
            <p:spPr bwMode="auto">
              <a:xfrm>
                <a:off x="4229" y="1656"/>
                <a:ext cx="595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7" name="Group 84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63" name="AutoShape 85"/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2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" name="AutoShape 86"/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83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8" name="Freeform 87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7 h 226"/>
                  <a:gd name="T4" fmla="*/ 9 w 328"/>
                  <a:gd name="T5" fmla="*/ 12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49" name="Group 88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61" name="AutoShape 89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2" name="AutoShape 90"/>
                <p:cNvSpPr>
                  <a:spLocks noChangeArrowheads="1"/>
                </p:cNvSpPr>
                <p:nvPr/>
              </p:nvSpPr>
              <p:spPr bwMode="auto">
                <a:xfrm>
                  <a:off x="629" y="2584"/>
                  <a:ext cx="689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0" name="Rectangle 91"/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8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" name="Freeform 92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 w 296"/>
                  <a:gd name="T3" fmla="*/ 7 h 256"/>
                  <a:gd name="T4" fmla="*/ 9 w 296"/>
                  <a:gd name="T5" fmla="*/ 13 h 256"/>
                  <a:gd name="T6" fmla="*/ 0 w 296"/>
                  <a:gd name="T7" fmla="*/ 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" name="Freeform 93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9 w 304"/>
                  <a:gd name="T3" fmla="*/ 9 h 288"/>
                  <a:gd name="T4" fmla="*/ 8 w 304"/>
                  <a:gd name="T5" fmla="*/ 16 h 288"/>
                  <a:gd name="T6" fmla="*/ 2 w 304"/>
                  <a:gd name="T7" fmla="*/ 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Oval 94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" name="Freeform 95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7 h 240"/>
                  <a:gd name="T2" fmla="*/ 2 w 306"/>
                  <a:gd name="T3" fmla="*/ 13 h 240"/>
                  <a:gd name="T4" fmla="*/ 9 w 306"/>
                  <a:gd name="T5" fmla="*/ 7 h 240"/>
                  <a:gd name="T6" fmla="*/ 9 w 306"/>
                  <a:gd name="T7" fmla="*/ 0 h 240"/>
                  <a:gd name="T8" fmla="*/ 0 w 306"/>
                  <a:gd name="T9" fmla="*/ 7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" name="AutoShape 96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201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6" name="AutoShape 97"/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" name="Oval 98"/>
              <p:cNvSpPr>
                <a:spLocks noChangeArrowheads="1"/>
              </p:cNvSpPr>
              <p:nvPr/>
            </p:nvSpPr>
            <p:spPr bwMode="auto">
              <a:xfrm>
                <a:off x="4307" y="2384"/>
                <a:ext cx="157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" name="Oval 99"/>
              <p:cNvSpPr>
                <a:spLocks noChangeArrowheads="1"/>
              </p:cNvSpPr>
              <p:nvPr/>
            </p:nvSpPr>
            <p:spPr bwMode="auto">
              <a:xfrm>
                <a:off x="4485" y="2384"/>
                <a:ext cx="162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" name="Oval 100"/>
              <p:cNvSpPr>
                <a:spLocks noChangeArrowheads="1"/>
              </p:cNvSpPr>
              <p:nvPr/>
            </p:nvSpPr>
            <p:spPr bwMode="auto">
              <a:xfrm>
                <a:off x="4662" y="2379"/>
                <a:ext cx="157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" name="Rectangle 101"/>
              <p:cNvSpPr>
                <a:spLocks noChangeArrowheads="1"/>
              </p:cNvSpPr>
              <p:nvPr/>
            </p:nvSpPr>
            <p:spPr bwMode="auto">
              <a:xfrm>
                <a:off x="5064" y="1837"/>
                <a:ext cx="84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9" name="Group 69"/>
            <p:cNvGrpSpPr/>
            <p:nvPr/>
          </p:nvGrpSpPr>
          <p:grpSpPr bwMode="auto">
            <a:xfrm>
              <a:off x="1716222" y="1742702"/>
              <a:ext cx="378387" cy="647839"/>
              <a:chOff x="4140" y="429"/>
              <a:chExt cx="1425" cy="2396"/>
            </a:xfrm>
          </p:grpSpPr>
          <p:sp>
            <p:nvSpPr>
              <p:cNvPr id="170" name="Freeform 70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0 w 354"/>
                  <a:gd name="T3" fmla="*/ 19 h 2742"/>
                  <a:gd name="T4" fmla="*/ 10 w 354"/>
                  <a:gd name="T5" fmla="*/ 143 h 2742"/>
                  <a:gd name="T6" fmla="*/ 0 w 354"/>
                  <a:gd name="T7" fmla="*/ 14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1" name="Rectangle 71"/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2" name="Freeform 72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6 w 211"/>
                  <a:gd name="T3" fmla="*/ 13 h 2537"/>
                  <a:gd name="T4" fmla="*/ 2 w 211"/>
                  <a:gd name="T5" fmla="*/ 13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3" name="Freeform 73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8 h 226"/>
                  <a:gd name="T4" fmla="*/ 9 w 328"/>
                  <a:gd name="T5" fmla="*/ 13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" name="Rectangle 74"/>
              <p:cNvSpPr>
                <a:spLocks noChangeArrowheads="1"/>
              </p:cNvSpPr>
              <p:nvPr/>
            </p:nvSpPr>
            <p:spPr bwMode="auto">
              <a:xfrm>
                <a:off x="4213" y="695"/>
                <a:ext cx="595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5" name="Group 75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00" name="AutoShape 76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3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1" name="AutoShape 77"/>
                <p:cNvSpPr>
                  <a:spLocks noChangeArrowheads="1"/>
                </p:cNvSpPr>
                <p:nvPr/>
              </p:nvSpPr>
              <p:spPr bwMode="auto">
                <a:xfrm>
                  <a:off x="629" y="2583"/>
                  <a:ext cx="690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76" name="Rectangle 78"/>
              <p:cNvSpPr>
                <a:spLocks noChangeArrowheads="1"/>
              </p:cNvSpPr>
              <p:nvPr/>
            </p:nvSpPr>
            <p:spPr bwMode="auto">
              <a:xfrm>
                <a:off x="4224" y="1019"/>
                <a:ext cx="595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7" name="Group 79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98" name="AutoShape 80"/>
                <p:cNvSpPr>
                  <a:spLocks noChangeArrowheads="1"/>
                </p:cNvSpPr>
                <p:nvPr/>
              </p:nvSpPr>
              <p:spPr bwMode="auto">
                <a:xfrm>
                  <a:off x="612" y="2566"/>
                  <a:ext cx="730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AutoShape 81"/>
                <p:cNvSpPr>
                  <a:spLocks noChangeArrowheads="1"/>
                </p:cNvSpPr>
                <p:nvPr/>
              </p:nvSpPr>
              <p:spPr bwMode="auto">
                <a:xfrm>
                  <a:off x="625" y="2583"/>
                  <a:ext cx="697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78" name="Rectangle 82"/>
              <p:cNvSpPr>
                <a:spLocks noChangeArrowheads="1"/>
              </p:cNvSpPr>
              <p:nvPr/>
            </p:nvSpPr>
            <p:spPr bwMode="auto">
              <a:xfrm>
                <a:off x="4218" y="1359"/>
                <a:ext cx="595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9" name="Rectangle 83"/>
              <p:cNvSpPr>
                <a:spLocks noChangeArrowheads="1"/>
              </p:cNvSpPr>
              <p:nvPr/>
            </p:nvSpPr>
            <p:spPr bwMode="auto">
              <a:xfrm>
                <a:off x="4229" y="1656"/>
                <a:ext cx="595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0" name="Group 84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96" name="AutoShape 85"/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2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7" name="AutoShape 86"/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83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81" name="Freeform 87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7 h 226"/>
                  <a:gd name="T4" fmla="*/ 9 w 328"/>
                  <a:gd name="T5" fmla="*/ 12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2" name="Group 88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4" name="AutoShape 89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5" name="AutoShape 90"/>
                <p:cNvSpPr>
                  <a:spLocks noChangeArrowheads="1"/>
                </p:cNvSpPr>
                <p:nvPr/>
              </p:nvSpPr>
              <p:spPr bwMode="auto">
                <a:xfrm>
                  <a:off x="629" y="2584"/>
                  <a:ext cx="689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83" name="Rectangle 91"/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8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4" name="Freeform 92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 w 296"/>
                  <a:gd name="T3" fmla="*/ 7 h 256"/>
                  <a:gd name="T4" fmla="*/ 9 w 296"/>
                  <a:gd name="T5" fmla="*/ 13 h 256"/>
                  <a:gd name="T6" fmla="*/ 0 w 296"/>
                  <a:gd name="T7" fmla="*/ 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5" name="Freeform 93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9 w 304"/>
                  <a:gd name="T3" fmla="*/ 9 h 288"/>
                  <a:gd name="T4" fmla="*/ 8 w 304"/>
                  <a:gd name="T5" fmla="*/ 16 h 288"/>
                  <a:gd name="T6" fmla="*/ 2 w 304"/>
                  <a:gd name="T7" fmla="*/ 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6" name="Oval 94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7" name="Freeform 95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7 h 240"/>
                  <a:gd name="T2" fmla="*/ 2 w 306"/>
                  <a:gd name="T3" fmla="*/ 13 h 240"/>
                  <a:gd name="T4" fmla="*/ 9 w 306"/>
                  <a:gd name="T5" fmla="*/ 7 h 240"/>
                  <a:gd name="T6" fmla="*/ 9 w 306"/>
                  <a:gd name="T7" fmla="*/ 0 h 240"/>
                  <a:gd name="T8" fmla="*/ 0 w 306"/>
                  <a:gd name="T9" fmla="*/ 7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8" name="AutoShape 96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201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9" name="AutoShape 97"/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0" name="Oval 98"/>
              <p:cNvSpPr>
                <a:spLocks noChangeArrowheads="1"/>
              </p:cNvSpPr>
              <p:nvPr/>
            </p:nvSpPr>
            <p:spPr bwMode="auto">
              <a:xfrm>
                <a:off x="4307" y="2384"/>
                <a:ext cx="157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1" name="Oval 99"/>
              <p:cNvSpPr>
                <a:spLocks noChangeArrowheads="1"/>
              </p:cNvSpPr>
              <p:nvPr/>
            </p:nvSpPr>
            <p:spPr bwMode="auto">
              <a:xfrm>
                <a:off x="4485" y="2384"/>
                <a:ext cx="162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2" name="Oval 100"/>
              <p:cNvSpPr>
                <a:spLocks noChangeArrowheads="1"/>
              </p:cNvSpPr>
              <p:nvPr/>
            </p:nvSpPr>
            <p:spPr bwMode="auto">
              <a:xfrm>
                <a:off x="4662" y="2379"/>
                <a:ext cx="157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3" name="Rectangle 101"/>
              <p:cNvSpPr>
                <a:spLocks noChangeArrowheads="1"/>
              </p:cNvSpPr>
              <p:nvPr/>
            </p:nvSpPr>
            <p:spPr bwMode="auto">
              <a:xfrm>
                <a:off x="5064" y="1837"/>
                <a:ext cx="84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2" name="Group 69"/>
            <p:cNvGrpSpPr/>
            <p:nvPr/>
          </p:nvGrpSpPr>
          <p:grpSpPr bwMode="auto">
            <a:xfrm>
              <a:off x="2773649" y="2718487"/>
              <a:ext cx="378387" cy="647839"/>
              <a:chOff x="4140" y="429"/>
              <a:chExt cx="1425" cy="2396"/>
            </a:xfrm>
          </p:grpSpPr>
          <p:sp>
            <p:nvSpPr>
              <p:cNvPr id="203" name="Freeform 70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0 w 354"/>
                  <a:gd name="T3" fmla="*/ 19 h 2742"/>
                  <a:gd name="T4" fmla="*/ 10 w 354"/>
                  <a:gd name="T5" fmla="*/ 143 h 2742"/>
                  <a:gd name="T6" fmla="*/ 0 w 354"/>
                  <a:gd name="T7" fmla="*/ 14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4" name="Rectangle 71"/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4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5" name="Freeform 72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6 w 211"/>
                  <a:gd name="T3" fmla="*/ 13 h 2537"/>
                  <a:gd name="T4" fmla="*/ 2 w 211"/>
                  <a:gd name="T5" fmla="*/ 13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6" name="Freeform 73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8 h 226"/>
                  <a:gd name="T4" fmla="*/ 9 w 328"/>
                  <a:gd name="T5" fmla="*/ 13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7" name="Rectangle 74"/>
              <p:cNvSpPr>
                <a:spLocks noChangeArrowheads="1"/>
              </p:cNvSpPr>
              <p:nvPr/>
            </p:nvSpPr>
            <p:spPr bwMode="auto">
              <a:xfrm>
                <a:off x="4213" y="695"/>
                <a:ext cx="595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08" name="Group 75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33" name="AutoShape 76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3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4" name="AutoShape 77"/>
                <p:cNvSpPr>
                  <a:spLocks noChangeArrowheads="1"/>
                </p:cNvSpPr>
                <p:nvPr/>
              </p:nvSpPr>
              <p:spPr bwMode="auto">
                <a:xfrm>
                  <a:off x="629" y="2583"/>
                  <a:ext cx="690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09" name="Rectangle 78"/>
              <p:cNvSpPr>
                <a:spLocks noChangeArrowheads="1"/>
              </p:cNvSpPr>
              <p:nvPr/>
            </p:nvSpPr>
            <p:spPr bwMode="auto">
              <a:xfrm>
                <a:off x="4224" y="1019"/>
                <a:ext cx="595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10" name="Group 79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31" name="AutoShape 80"/>
                <p:cNvSpPr>
                  <a:spLocks noChangeArrowheads="1"/>
                </p:cNvSpPr>
                <p:nvPr/>
              </p:nvSpPr>
              <p:spPr bwMode="auto">
                <a:xfrm>
                  <a:off x="612" y="2566"/>
                  <a:ext cx="730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2" name="AutoShape 81"/>
                <p:cNvSpPr>
                  <a:spLocks noChangeArrowheads="1"/>
                </p:cNvSpPr>
                <p:nvPr/>
              </p:nvSpPr>
              <p:spPr bwMode="auto">
                <a:xfrm>
                  <a:off x="625" y="2583"/>
                  <a:ext cx="697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11" name="Rectangle 82"/>
              <p:cNvSpPr>
                <a:spLocks noChangeArrowheads="1"/>
              </p:cNvSpPr>
              <p:nvPr/>
            </p:nvSpPr>
            <p:spPr bwMode="auto">
              <a:xfrm>
                <a:off x="4218" y="1359"/>
                <a:ext cx="595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2" name="Rectangle 83"/>
              <p:cNvSpPr>
                <a:spLocks noChangeArrowheads="1"/>
              </p:cNvSpPr>
              <p:nvPr/>
            </p:nvSpPr>
            <p:spPr bwMode="auto">
              <a:xfrm>
                <a:off x="4229" y="1656"/>
                <a:ext cx="595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13" name="Group 84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29" name="AutoShape 85"/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2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0" name="AutoShape 86"/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83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14" name="Freeform 87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9 w 328"/>
                  <a:gd name="T3" fmla="*/ 7 h 226"/>
                  <a:gd name="T4" fmla="*/ 9 w 328"/>
                  <a:gd name="T5" fmla="*/ 12 h 226"/>
                  <a:gd name="T6" fmla="*/ 0 w 328"/>
                  <a:gd name="T7" fmla="*/ 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15" name="Group 88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27" name="AutoShape 89"/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8" name="AutoShape 90"/>
                <p:cNvSpPr>
                  <a:spLocks noChangeArrowheads="1"/>
                </p:cNvSpPr>
                <p:nvPr/>
              </p:nvSpPr>
              <p:spPr bwMode="auto">
                <a:xfrm>
                  <a:off x="629" y="2584"/>
                  <a:ext cx="689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CN" altLang="zh-CN" sz="200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16" name="Rectangle 91"/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8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7" name="Freeform 92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9 w 296"/>
                  <a:gd name="T3" fmla="*/ 7 h 256"/>
                  <a:gd name="T4" fmla="*/ 9 w 296"/>
                  <a:gd name="T5" fmla="*/ 13 h 256"/>
                  <a:gd name="T6" fmla="*/ 0 w 296"/>
                  <a:gd name="T7" fmla="*/ 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8" name="Freeform 93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9 w 304"/>
                  <a:gd name="T3" fmla="*/ 9 h 288"/>
                  <a:gd name="T4" fmla="*/ 8 w 304"/>
                  <a:gd name="T5" fmla="*/ 16 h 288"/>
                  <a:gd name="T6" fmla="*/ 2 w 304"/>
                  <a:gd name="T7" fmla="*/ 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9" name="Oval 94"/>
              <p:cNvSpPr>
                <a:spLocks noChangeArrowheads="1"/>
              </p:cNvSpPr>
              <p:nvPr/>
            </p:nvSpPr>
            <p:spPr bwMode="auto"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0" name="Freeform 95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7 h 240"/>
                  <a:gd name="T2" fmla="*/ 2 w 306"/>
                  <a:gd name="T3" fmla="*/ 13 h 240"/>
                  <a:gd name="T4" fmla="*/ 9 w 306"/>
                  <a:gd name="T5" fmla="*/ 7 h 240"/>
                  <a:gd name="T6" fmla="*/ 9 w 306"/>
                  <a:gd name="T7" fmla="*/ 0 h 240"/>
                  <a:gd name="T8" fmla="*/ 0 w 306"/>
                  <a:gd name="T9" fmla="*/ 7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1" name="AutoShape 96"/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201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2" name="AutoShape 97"/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3" name="Oval 98"/>
              <p:cNvSpPr>
                <a:spLocks noChangeArrowheads="1"/>
              </p:cNvSpPr>
              <p:nvPr/>
            </p:nvSpPr>
            <p:spPr bwMode="auto">
              <a:xfrm>
                <a:off x="4307" y="2384"/>
                <a:ext cx="157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4" name="Oval 99"/>
              <p:cNvSpPr>
                <a:spLocks noChangeArrowheads="1"/>
              </p:cNvSpPr>
              <p:nvPr/>
            </p:nvSpPr>
            <p:spPr bwMode="auto">
              <a:xfrm>
                <a:off x="4485" y="2384"/>
                <a:ext cx="162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5" name="Oval 100"/>
              <p:cNvSpPr>
                <a:spLocks noChangeArrowheads="1"/>
              </p:cNvSpPr>
              <p:nvPr/>
            </p:nvSpPr>
            <p:spPr bwMode="auto">
              <a:xfrm>
                <a:off x="4662" y="2379"/>
                <a:ext cx="157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6" name="Rectangle 101"/>
              <p:cNvSpPr>
                <a:spLocks noChangeArrowheads="1"/>
              </p:cNvSpPr>
              <p:nvPr/>
            </p:nvSpPr>
            <p:spPr bwMode="auto">
              <a:xfrm>
                <a:off x="5064" y="1837"/>
                <a:ext cx="84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" name="Text Box 47"/>
            <p:cNvSpPr txBox="1">
              <a:spLocks noChangeArrowheads="1"/>
            </p:cNvSpPr>
            <p:nvPr/>
          </p:nvSpPr>
          <p:spPr bwMode="auto">
            <a:xfrm>
              <a:off x="1779618" y="2893837"/>
              <a:ext cx="101308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本地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DNS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" name="Text Box 47"/>
            <p:cNvSpPr txBox="1">
              <a:spLocks noChangeArrowheads="1"/>
            </p:cNvSpPr>
            <p:nvPr/>
          </p:nvSpPr>
          <p:spPr bwMode="auto">
            <a:xfrm>
              <a:off x="926191" y="1897904"/>
              <a:ext cx="83857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根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DNS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Text Box 47"/>
            <p:cNvSpPr txBox="1">
              <a:spLocks noChangeArrowheads="1"/>
            </p:cNvSpPr>
            <p:nvPr/>
          </p:nvSpPr>
          <p:spPr bwMode="auto">
            <a:xfrm>
              <a:off x="4194592" y="1904323"/>
              <a:ext cx="101308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授权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DNS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41" name="直接箭头连接符 240"/>
            <p:cNvCxnSpPr/>
            <p:nvPr/>
          </p:nvCxnSpPr>
          <p:spPr>
            <a:xfrm>
              <a:off x="3019003" y="3412863"/>
              <a:ext cx="0" cy="739137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箭头连接符 249"/>
            <p:cNvCxnSpPr/>
            <p:nvPr/>
          </p:nvCxnSpPr>
          <p:spPr>
            <a:xfrm>
              <a:off x="2911378" y="3409256"/>
              <a:ext cx="0" cy="739137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文本框 247"/>
            <p:cNvSpPr txBox="1"/>
            <p:nvPr/>
          </p:nvSpPr>
          <p:spPr>
            <a:xfrm>
              <a:off x="2577232" y="3642430"/>
              <a:ext cx="3737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9" name="文本框 248"/>
            <p:cNvSpPr txBox="1"/>
            <p:nvPr/>
          </p:nvSpPr>
          <p:spPr>
            <a:xfrm>
              <a:off x="3007207" y="3642430"/>
              <a:ext cx="3737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(6)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4" name="直接箭头连接符 253"/>
            <p:cNvCxnSpPr/>
            <p:nvPr/>
          </p:nvCxnSpPr>
          <p:spPr>
            <a:xfrm flipH="1" flipV="1">
              <a:off x="2153072" y="2171661"/>
              <a:ext cx="577295" cy="50108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箭头连接符 257"/>
            <p:cNvCxnSpPr/>
            <p:nvPr/>
          </p:nvCxnSpPr>
          <p:spPr>
            <a:xfrm flipH="1" flipV="1">
              <a:off x="2242338" y="2086164"/>
              <a:ext cx="577295" cy="50108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箭头连接符 258"/>
            <p:cNvCxnSpPr/>
            <p:nvPr/>
          </p:nvCxnSpPr>
          <p:spPr>
            <a:xfrm flipV="1">
              <a:off x="3147256" y="2106085"/>
              <a:ext cx="639676" cy="468684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箭头连接符 262"/>
            <p:cNvCxnSpPr/>
            <p:nvPr/>
          </p:nvCxnSpPr>
          <p:spPr>
            <a:xfrm flipH="1">
              <a:off x="3215934" y="2216873"/>
              <a:ext cx="617999" cy="46547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文本框 267"/>
            <p:cNvSpPr txBox="1"/>
            <p:nvPr/>
          </p:nvSpPr>
          <p:spPr>
            <a:xfrm>
              <a:off x="2153072" y="2376765"/>
              <a:ext cx="3737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9" name="文本框 268"/>
            <p:cNvSpPr txBox="1"/>
            <p:nvPr/>
          </p:nvSpPr>
          <p:spPr>
            <a:xfrm>
              <a:off x="2451897" y="2078535"/>
              <a:ext cx="3737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1" name="文本框 270"/>
            <p:cNvSpPr txBox="1"/>
            <p:nvPr/>
          </p:nvSpPr>
          <p:spPr>
            <a:xfrm>
              <a:off x="3194104" y="2078373"/>
              <a:ext cx="3737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(4)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3" name="文本框 272"/>
            <p:cNvSpPr txBox="1"/>
            <p:nvPr/>
          </p:nvSpPr>
          <p:spPr>
            <a:xfrm>
              <a:off x="3461011" y="2400782"/>
              <a:ext cx="3737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(5)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78" name="直接箭头连接符 277"/>
            <p:cNvCxnSpPr/>
            <p:nvPr/>
          </p:nvCxnSpPr>
          <p:spPr>
            <a:xfrm flipH="1">
              <a:off x="3289084" y="4431565"/>
              <a:ext cx="2647940" cy="9391"/>
            </a:xfrm>
            <a:prstGeom prst="straightConnector1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箭头连接符 283"/>
            <p:cNvCxnSpPr/>
            <p:nvPr/>
          </p:nvCxnSpPr>
          <p:spPr>
            <a:xfrm flipH="1">
              <a:off x="3289084" y="4554067"/>
              <a:ext cx="2647940" cy="8874"/>
            </a:xfrm>
            <a:prstGeom prst="straightConnector1">
              <a:avLst/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" name="Text Box 3"/>
          <p:cNvSpPr txBox="1">
            <a:spLocks noChangeArrowheads="1"/>
          </p:cNvSpPr>
          <p:nvPr/>
        </p:nvSpPr>
        <p:spPr bwMode="auto">
          <a:xfrm>
            <a:off x="323850" y="1392237"/>
            <a:ext cx="8310563" cy="47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95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200" dirty="0"/>
              <a:t>传统</a:t>
            </a:r>
            <a:r>
              <a:rPr lang="en-US" altLang="zh-CN" sz="2200" dirty="0"/>
              <a:t>Web</a:t>
            </a:r>
            <a:r>
              <a:rPr lang="zh-CN" altLang="en-US" sz="2200" dirty="0"/>
              <a:t>服务访问</a:t>
            </a:r>
            <a:endParaRPr lang="en-US" altLang="zh-CN" sz="2200" dirty="0"/>
          </a:p>
        </p:txBody>
      </p:sp>
      <p:sp>
        <p:nvSpPr>
          <p:cNvPr id="287" name="文本框 286"/>
          <p:cNvSpPr txBox="1"/>
          <p:nvPr/>
        </p:nvSpPr>
        <p:spPr>
          <a:xfrm>
            <a:off x="1850468" y="5768087"/>
            <a:ext cx="287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URL</a:t>
            </a:r>
            <a:r>
              <a:rPr lang="zh-CN" altLang="en-US" dirty="0"/>
              <a:t>：</a:t>
            </a:r>
            <a:r>
              <a:rPr lang="en-US" altLang="zh-CN" dirty="0"/>
              <a:t>www.example.com</a:t>
            </a:r>
            <a:endParaRPr lang="zh-CN" altLang="en-US" dirty="0"/>
          </a:p>
        </p:txBody>
      </p:sp>
      <p:sp>
        <p:nvSpPr>
          <p:cNvPr id="104448" name="文本框 104447"/>
          <p:cNvSpPr txBox="1"/>
          <p:nvPr/>
        </p:nvSpPr>
        <p:spPr>
          <a:xfrm>
            <a:off x="4815803" y="4672512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449" name="文本框 104448"/>
          <p:cNvSpPr txBox="1"/>
          <p:nvPr/>
        </p:nvSpPr>
        <p:spPr>
          <a:xfrm>
            <a:off x="4815803" y="5134120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CDN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基本原理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2.7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内容分发网络</a:t>
            </a:r>
          </a:p>
        </p:txBody>
      </p:sp>
      <p:grpSp>
        <p:nvGrpSpPr>
          <p:cNvPr id="8" name="Group 102"/>
          <p:cNvGrpSpPr/>
          <p:nvPr/>
        </p:nvGrpSpPr>
        <p:grpSpPr bwMode="auto">
          <a:xfrm>
            <a:off x="3015746" y="4762271"/>
            <a:ext cx="600152" cy="690934"/>
            <a:chOff x="-44" y="1473"/>
            <a:chExt cx="981" cy="1105"/>
          </a:xfrm>
        </p:grpSpPr>
        <p:pic>
          <p:nvPicPr>
            <p:cNvPr id="9" name="Picture 103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Freeform 104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Text Box 21"/>
          <p:cNvSpPr txBox="1">
            <a:spLocks noChangeArrowheads="1"/>
          </p:cNvSpPr>
          <p:nvPr/>
        </p:nvSpPr>
        <p:spPr bwMode="auto">
          <a:xfrm>
            <a:off x="2975012" y="5410964"/>
            <a:ext cx="8002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客户端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Text Box 47"/>
          <p:cNvSpPr txBox="1">
            <a:spLocks noChangeArrowheads="1"/>
          </p:cNvSpPr>
          <p:nvPr/>
        </p:nvSpPr>
        <p:spPr bwMode="auto">
          <a:xfrm>
            <a:off x="5437470" y="3016797"/>
            <a:ext cx="13169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原始服务器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36" name="Group 69"/>
          <p:cNvGrpSpPr/>
          <p:nvPr/>
        </p:nvGrpSpPr>
        <p:grpSpPr bwMode="auto">
          <a:xfrm>
            <a:off x="4349208" y="2320361"/>
            <a:ext cx="378387" cy="647839"/>
            <a:chOff x="4140" y="429"/>
            <a:chExt cx="1425" cy="2396"/>
          </a:xfrm>
        </p:grpSpPr>
        <p:sp>
          <p:nvSpPr>
            <p:cNvPr id="137" name="Freeform 70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8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9" name="Freeform 72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0" name="Freeform 73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1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2" name="Group 75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67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3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4" name="Group 79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65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5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6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7" name="Group 84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63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8" name="Freeform 87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9" name="Group 88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61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2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0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1" name="Freeform 92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2" name="Freeform 93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4" name="Freeform 95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5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6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7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8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9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0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9" name="Group 69"/>
          <p:cNvGrpSpPr/>
          <p:nvPr/>
        </p:nvGrpSpPr>
        <p:grpSpPr bwMode="auto">
          <a:xfrm>
            <a:off x="2181578" y="2321224"/>
            <a:ext cx="378387" cy="647839"/>
            <a:chOff x="4140" y="429"/>
            <a:chExt cx="1425" cy="2396"/>
          </a:xfrm>
        </p:grpSpPr>
        <p:sp>
          <p:nvSpPr>
            <p:cNvPr id="170" name="Freeform 70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1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2" name="Freeform 72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3" name="Freeform 73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4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75" name="Group 75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00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1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76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77" name="Group 79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8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9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78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9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80" name="Group 84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6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7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1" name="Freeform 87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82" name="Group 88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4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5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3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" name="Freeform 92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" name="Freeform 93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6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7" name="Freeform 95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8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9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0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1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2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3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2" name="Group 69"/>
          <p:cNvGrpSpPr/>
          <p:nvPr/>
        </p:nvGrpSpPr>
        <p:grpSpPr bwMode="auto">
          <a:xfrm>
            <a:off x="3239005" y="3297009"/>
            <a:ext cx="378387" cy="647839"/>
            <a:chOff x="4140" y="429"/>
            <a:chExt cx="1425" cy="2396"/>
          </a:xfrm>
        </p:grpSpPr>
        <p:sp>
          <p:nvSpPr>
            <p:cNvPr id="203" name="Freeform 70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4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5" name="Freeform 72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6" name="Freeform 73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7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08" name="Group 75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3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4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9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10" name="Group 79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1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2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1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2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13" name="Group 84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9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0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4" name="Freeform 87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15" name="Group 88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7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8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6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7" name="Freeform 92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8" name="Freeform 93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9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0" name="Freeform 95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1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2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3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4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6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 Box 47"/>
          <p:cNvSpPr txBox="1">
            <a:spLocks noChangeArrowheads="1"/>
          </p:cNvSpPr>
          <p:nvPr/>
        </p:nvSpPr>
        <p:spPr bwMode="auto">
          <a:xfrm>
            <a:off x="2244974" y="3472359"/>
            <a:ext cx="101308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DNS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1391547" y="2476426"/>
            <a:ext cx="8385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DNS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7"/>
          <p:cNvSpPr txBox="1">
            <a:spLocks noChangeArrowheads="1"/>
          </p:cNvSpPr>
          <p:nvPr/>
        </p:nvSpPr>
        <p:spPr bwMode="auto">
          <a:xfrm>
            <a:off x="4659948" y="2482845"/>
            <a:ext cx="101308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授权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DNS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41" name="直接箭头连接符 240"/>
          <p:cNvCxnSpPr/>
          <p:nvPr/>
        </p:nvCxnSpPr>
        <p:spPr>
          <a:xfrm>
            <a:off x="3484359" y="3991385"/>
            <a:ext cx="0" cy="73913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箭头连接符 249"/>
          <p:cNvCxnSpPr/>
          <p:nvPr/>
        </p:nvCxnSpPr>
        <p:spPr>
          <a:xfrm>
            <a:off x="3376734" y="3987778"/>
            <a:ext cx="0" cy="739137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文本框 247"/>
          <p:cNvSpPr txBox="1"/>
          <p:nvPr/>
        </p:nvSpPr>
        <p:spPr>
          <a:xfrm>
            <a:off x="3042588" y="4220952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3472563" y="4220952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4" name="直接箭头连接符 253"/>
          <p:cNvCxnSpPr/>
          <p:nvPr/>
        </p:nvCxnSpPr>
        <p:spPr>
          <a:xfrm flipH="1" flipV="1">
            <a:off x="2618428" y="2750183"/>
            <a:ext cx="577295" cy="50108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箭头连接符 257"/>
          <p:cNvCxnSpPr/>
          <p:nvPr/>
        </p:nvCxnSpPr>
        <p:spPr>
          <a:xfrm flipH="1" flipV="1">
            <a:off x="2707694" y="2664686"/>
            <a:ext cx="577295" cy="501080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箭头连接符 258"/>
          <p:cNvCxnSpPr/>
          <p:nvPr/>
        </p:nvCxnSpPr>
        <p:spPr>
          <a:xfrm flipV="1">
            <a:off x="3612612" y="2684607"/>
            <a:ext cx="639676" cy="46868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箭头连接符 262"/>
          <p:cNvCxnSpPr/>
          <p:nvPr/>
        </p:nvCxnSpPr>
        <p:spPr>
          <a:xfrm flipH="1">
            <a:off x="3681290" y="2795395"/>
            <a:ext cx="617999" cy="46547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文本框 267"/>
          <p:cNvSpPr txBox="1"/>
          <p:nvPr/>
        </p:nvSpPr>
        <p:spPr>
          <a:xfrm>
            <a:off x="2618428" y="2955287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2917253" y="2657057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3659460" y="2656895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3926367" y="2979304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8" name="直接箭头连接符 277"/>
          <p:cNvCxnSpPr/>
          <p:nvPr/>
        </p:nvCxnSpPr>
        <p:spPr>
          <a:xfrm flipH="1">
            <a:off x="3754440" y="5003019"/>
            <a:ext cx="1456268" cy="16459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接箭头连接符 283"/>
          <p:cNvCxnSpPr/>
          <p:nvPr/>
        </p:nvCxnSpPr>
        <p:spPr>
          <a:xfrm flipH="1">
            <a:off x="3754441" y="5126112"/>
            <a:ext cx="1428069" cy="15351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 Box 3"/>
          <p:cNvSpPr txBox="1">
            <a:spLocks noChangeArrowheads="1"/>
          </p:cNvSpPr>
          <p:nvPr/>
        </p:nvSpPr>
        <p:spPr bwMode="auto">
          <a:xfrm>
            <a:off x="323850" y="1462747"/>
            <a:ext cx="8310563" cy="47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95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2200" dirty="0"/>
              <a:t>CDN</a:t>
            </a:r>
            <a:r>
              <a:rPr lang="zh-CN" altLang="en-US" sz="2200" dirty="0"/>
              <a:t>实现机制（</a:t>
            </a:r>
            <a:r>
              <a:rPr lang="en-US" altLang="zh-CN" sz="2200" dirty="0"/>
              <a:t>1</a:t>
            </a:r>
            <a:r>
              <a:rPr lang="zh-CN" altLang="en-US" sz="2200" dirty="0"/>
              <a:t>）</a:t>
            </a:r>
            <a:endParaRPr lang="en-US" altLang="zh-CN" sz="2200" dirty="0"/>
          </a:p>
        </p:txBody>
      </p:sp>
      <p:sp>
        <p:nvSpPr>
          <p:cNvPr id="287" name="文本框 286"/>
          <p:cNvSpPr txBox="1"/>
          <p:nvPr/>
        </p:nvSpPr>
        <p:spPr>
          <a:xfrm>
            <a:off x="1805269" y="5776515"/>
            <a:ext cx="287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URL</a:t>
            </a:r>
            <a:r>
              <a:rPr lang="zh-CN" altLang="en-US" dirty="0"/>
              <a:t>：</a:t>
            </a:r>
            <a:r>
              <a:rPr lang="en-US" altLang="zh-CN" dirty="0"/>
              <a:t>www.example.com</a:t>
            </a:r>
            <a:endParaRPr lang="zh-CN" altLang="en-US" dirty="0"/>
          </a:p>
        </p:txBody>
      </p:sp>
      <p:sp>
        <p:nvSpPr>
          <p:cNvPr id="104448" name="文本框 104447"/>
          <p:cNvSpPr txBox="1"/>
          <p:nvPr/>
        </p:nvSpPr>
        <p:spPr>
          <a:xfrm>
            <a:off x="4318126" y="4709018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449" name="文本框 104448"/>
          <p:cNvSpPr txBox="1"/>
          <p:nvPr/>
        </p:nvSpPr>
        <p:spPr>
          <a:xfrm>
            <a:off x="4284981" y="5115068"/>
            <a:ext cx="496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5" name="Group 69"/>
          <p:cNvGrpSpPr/>
          <p:nvPr/>
        </p:nvGrpSpPr>
        <p:grpSpPr bwMode="auto">
          <a:xfrm>
            <a:off x="5627312" y="4579078"/>
            <a:ext cx="299462" cy="557213"/>
            <a:chOff x="4140" y="429"/>
            <a:chExt cx="1425" cy="2396"/>
          </a:xfrm>
        </p:grpSpPr>
        <p:sp>
          <p:nvSpPr>
            <p:cNvPr id="236" name="Freeform 70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7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8" name="Freeform 72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9" name="Freeform 73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0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42" name="Group 75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9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0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3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44" name="Group 79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76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7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5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47" name="Group 84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74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5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1" name="Freeform 87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52" name="Group 88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70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2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3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5" name="Freeform 92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6" name="Freeform 93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7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0" name="Freeform 95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1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2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4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5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6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7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1" name="Group 69"/>
          <p:cNvGrpSpPr/>
          <p:nvPr/>
        </p:nvGrpSpPr>
        <p:grpSpPr bwMode="auto">
          <a:xfrm>
            <a:off x="6241834" y="4583971"/>
            <a:ext cx="299462" cy="557213"/>
            <a:chOff x="4140" y="429"/>
            <a:chExt cx="1425" cy="2396"/>
          </a:xfrm>
        </p:grpSpPr>
        <p:sp>
          <p:nvSpPr>
            <p:cNvPr id="282" name="Freeform 70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3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" name="Freeform 72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" name="Freeform 73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91" name="Group 75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16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7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2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93" name="Group 79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14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4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5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96" name="Group 84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2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3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7" name="Freeform 87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98" name="Group 88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0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1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9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0" name="Freeform 92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1" name="Freeform 93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2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3" name="Freeform 95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4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5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6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7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8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9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8" name="Group 69"/>
          <p:cNvGrpSpPr/>
          <p:nvPr/>
        </p:nvGrpSpPr>
        <p:grpSpPr bwMode="auto">
          <a:xfrm>
            <a:off x="5955579" y="5300751"/>
            <a:ext cx="299462" cy="557213"/>
            <a:chOff x="4140" y="429"/>
            <a:chExt cx="1425" cy="2396"/>
          </a:xfrm>
        </p:grpSpPr>
        <p:sp>
          <p:nvSpPr>
            <p:cNvPr id="319" name="Freeform 70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0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1" name="Freeform 72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2" name="Freeform 73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3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24" name="Group 75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49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0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25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26" name="Group 79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7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27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8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29" name="Group 84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5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6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0" name="Freeform 87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31" name="Group 88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3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4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2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3" name="Freeform 92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4" name="Freeform 93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5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6" name="Freeform 95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7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9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0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1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2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 Box 47"/>
          <p:cNvSpPr txBox="1">
            <a:spLocks noChangeArrowheads="1"/>
          </p:cNvSpPr>
          <p:nvPr/>
        </p:nvSpPr>
        <p:spPr bwMode="auto">
          <a:xfrm>
            <a:off x="5411245" y="5858343"/>
            <a:ext cx="13169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52" name="Group 69"/>
          <p:cNvGrpSpPr/>
          <p:nvPr/>
        </p:nvGrpSpPr>
        <p:grpSpPr bwMode="auto">
          <a:xfrm>
            <a:off x="5890372" y="3378142"/>
            <a:ext cx="378387" cy="647839"/>
            <a:chOff x="4140" y="429"/>
            <a:chExt cx="1425" cy="2396"/>
          </a:xfrm>
        </p:grpSpPr>
        <p:sp>
          <p:nvSpPr>
            <p:cNvPr id="353" name="Freeform 70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4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5" name="Freeform 72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6" name="Freeform 73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7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58" name="Group 75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83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59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60" name="Group 79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81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2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61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2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63" name="Group 84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9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0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64" name="Freeform 87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65" name="Group 88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7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8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66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7" name="Freeform 92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" name="Freeform 93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9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0" name="Freeform 95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1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2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3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4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5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6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5300787" y="4460202"/>
            <a:ext cx="1500336" cy="1812013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6" name="直接箭头连接符 385"/>
          <p:cNvCxnSpPr>
            <a:stCxn id="14" idx="0"/>
            <a:endCxn id="372" idx="2"/>
          </p:cNvCxnSpPr>
          <p:nvPr/>
        </p:nvCxnSpPr>
        <p:spPr>
          <a:xfrm flipH="1" flipV="1">
            <a:off x="6050489" y="4017329"/>
            <a:ext cx="466" cy="442873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直接箭头连接符 393"/>
          <p:cNvCxnSpPr>
            <a:stCxn id="372" idx="1"/>
          </p:cNvCxnSpPr>
          <p:nvPr/>
        </p:nvCxnSpPr>
        <p:spPr>
          <a:xfrm flipH="1">
            <a:off x="5779626" y="4006514"/>
            <a:ext cx="128802" cy="422903"/>
          </a:xfrm>
          <a:prstGeom prst="straightConnector1">
            <a:avLst/>
          </a:prstGeom>
          <a:ln w="9525">
            <a:solidFill>
              <a:srgbClr val="00B0F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直接箭头连接符 394"/>
          <p:cNvCxnSpPr>
            <a:stCxn id="372" idx="2"/>
            <a:endCxn id="320" idx="0"/>
          </p:cNvCxnSpPr>
          <p:nvPr/>
        </p:nvCxnSpPr>
        <p:spPr>
          <a:xfrm>
            <a:off x="6050489" y="4017329"/>
            <a:ext cx="29078" cy="1283422"/>
          </a:xfrm>
          <a:prstGeom prst="straightConnector1">
            <a:avLst/>
          </a:prstGeom>
          <a:ln w="9525">
            <a:solidFill>
              <a:srgbClr val="00B0F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直接箭头连接符 395"/>
          <p:cNvCxnSpPr>
            <a:stCxn id="372" idx="3"/>
            <a:endCxn id="283" idx="0"/>
          </p:cNvCxnSpPr>
          <p:nvPr/>
        </p:nvCxnSpPr>
        <p:spPr>
          <a:xfrm>
            <a:off x="6192550" y="4006514"/>
            <a:ext cx="173272" cy="577457"/>
          </a:xfrm>
          <a:prstGeom prst="straightConnector1">
            <a:avLst/>
          </a:prstGeom>
          <a:ln w="9525">
            <a:solidFill>
              <a:srgbClr val="00B0F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47"/>
          <p:cNvSpPr txBox="1">
            <a:spLocks noChangeArrowheads="1"/>
          </p:cNvSpPr>
          <p:nvPr/>
        </p:nvSpPr>
        <p:spPr bwMode="auto">
          <a:xfrm>
            <a:off x="5996792" y="4081675"/>
            <a:ext cx="13169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内容复制缓存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890732" y="757903"/>
            <a:ext cx="5195789" cy="1125340"/>
          </a:xfrm>
          <a:prstGeom prst="rect">
            <a:avLst/>
          </a:prstGeom>
          <a:solidFill>
            <a:srgbClr val="E1E7FF"/>
          </a:solidFill>
          <a:ln w="6350">
            <a:solidFill>
              <a:srgbClr val="FF0000"/>
            </a:solidFill>
            <a:miter lim="800000"/>
          </a:ln>
        </p:spPr>
        <p:txBody>
          <a:bodyPr wrap="square" lIns="91408" tIns="45704" rIns="91408" bIns="45704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重定向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2800"/>
              </a:lnSpc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原始服务器决策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2800"/>
              </a:lnSpc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响应：状态码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30X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Location: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指明新的位置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51" name="直接箭头连接符 350"/>
          <p:cNvCxnSpPr/>
          <p:nvPr/>
        </p:nvCxnSpPr>
        <p:spPr>
          <a:xfrm flipH="1">
            <a:off x="3723075" y="3560923"/>
            <a:ext cx="2116066" cy="1215513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直接箭头连接符 384"/>
          <p:cNvCxnSpPr/>
          <p:nvPr/>
        </p:nvCxnSpPr>
        <p:spPr>
          <a:xfrm flipH="1">
            <a:off x="3757473" y="3697153"/>
            <a:ext cx="2077155" cy="1203393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文本框 386"/>
          <p:cNvSpPr txBox="1"/>
          <p:nvPr/>
        </p:nvSpPr>
        <p:spPr>
          <a:xfrm>
            <a:off x="4444840" y="3920289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8" name="文本框 387"/>
          <p:cNvSpPr txBox="1"/>
          <p:nvPr/>
        </p:nvSpPr>
        <p:spPr>
          <a:xfrm>
            <a:off x="4605714" y="4309901"/>
            <a:ext cx="496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CDN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基本原理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2.7 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内容分发网络</a:t>
            </a:r>
          </a:p>
        </p:txBody>
      </p:sp>
      <p:grpSp>
        <p:nvGrpSpPr>
          <p:cNvPr id="8" name="Group 102"/>
          <p:cNvGrpSpPr/>
          <p:nvPr/>
        </p:nvGrpSpPr>
        <p:grpSpPr bwMode="auto">
          <a:xfrm>
            <a:off x="2468049" y="4738456"/>
            <a:ext cx="600152" cy="690934"/>
            <a:chOff x="-44" y="1473"/>
            <a:chExt cx="981" cy="1105"/>
          </a:xfrm>
        </p:grpSpPr>
        <p:pic>
          <p:nvPicPr>
            <p:cNvPr id="9" name="Picture 103" descr="desktop_computer_stylized_mediu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Freeform 104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</a:extLst>
          </p:spPr>
          <p:txBody>
            <a:bodyPr wrap="none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Text Box 21"/>
          <p:cNvSpPr txBox="1">
            <a:spLocks noChangeArrowheads="1"/>
          </p:cNvSpPr>
          <p:nvPr/>
        </p:nvSpPr>
        <p:spPr bwMode="auto">
          <a:xfrm>
            <a:off x="2427315" y="5387149"/>
            <a:ext cx="8002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客户端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Text Box 47"/>
          <p:cNvSpPr txBox="1">
            <a:spLocks noChangeArrowheads="1"/>
          </p:cNvSpPr>
          <p:nvPr/>
        </p:nvSpPr>
        <p:spPr bwMode="auto">
          <a:xfrm>
            <a:off x="7092879" y="5241842"/>
            <a:ext cx="13169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原始服务器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3" name="Group 69"/>
          <p:cNvGrpSpPr/>
          <p:nvPr/>
        </p:nvGrpSpPr>
        <p:grpSpPr bwMode="auto">
          <a:xfrm>
            <a:off x="7568586" y="4579896"/>
            <a:ext cx="378387" cy="647839"/>
            <a:chOff x="4140" y="429"/>
            <a:chExt cx="1425" cy="2396"/>
          </a:xfrm>
        </p:grpSpPr>
        <p:sp>
          <p:nvSpPr>
            <p:cNvPr id="104" name="Freeform 70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5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6" name="Freeform 72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7" name="Freeform 73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08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09" name="Group 75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4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0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11" name="Group 79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2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2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3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14" name="Group 84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0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5" name="Freeform 87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16" name="Group 88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8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9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7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8" name="Freeform 92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9" name="Freeform 93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0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1" name="Freeform 95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2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3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4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5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6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7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6" name="Group 69"/>
          <p:cNvGrpSpPr/>
          <p:nvPr/>
        </p:nvGrpSpPr>
        <p:grpSpPr bwMode="auto">
          <a:xfrm>
            <a:off x="3801511" y="2296546"/>
            <a:ext cx="378387" cy="647839"/>
            <a:chOff x="4140" y="429"/>
            <a:chExt cx="1425" cy="2396"/>
          </a:xfrm>
        </p:grpSpPr>
        <p:sp>
          <p:nvSpPr>
            <p:cNvPr id="137" name="Freeform 70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8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9" name="Freeform 72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0" name="Freeform 73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1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2" name="Group 75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67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3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4" name="Group 79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65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5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46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7" name="Group 84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63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8" name="Freeform 87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9" name="Group 88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61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2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0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1" name="Freeform 92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2" name="Freeform 93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3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4" name="Freeform 95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5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6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7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8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9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0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9" name="Group 69"/>
          <p:cNvGrpSpPr/>
          <p:nvPr/>
        </p:nvGrpSpPr>
        <p:grpSpPr bwMode="auto">
          <a:xfrm>
            <a:off x="1633881" y="2297409"/>
            <a:ext cx="378387" cy="647839"/>
            <a:chOff x="4140" y="429"/>
            <a:chExt cx="1425" cy="2396"/>
          </a:xfrm>
        </p:grpSpPr>
        <p:sp>
          <p:nvSpPr>
            <p:cNvPr id="170" name="Freeform 70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1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2" name="Freeform 72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3" name="Freeform 73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4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75" name="Group 75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00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1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76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77" name="Group 79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8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9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78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9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80" name="Group 84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6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7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1" name="Freeform 87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82" name="Group 88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4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5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3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" name="Freeform 92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" name="Freeform 93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6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7" name="Freeform 95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8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9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0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1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2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3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2" name="Group 69"/>
          <p:cNvGrpSpPr/>
          <p:nvPr/>
        </p:nvGrpSpPr>
        <p:grpSpPr bwMode="auto">
          <a:xfrm>
            <a:off x="2691308" y="3273194"/>
            <a:ext cx="378387" cy="647839"/>
            <a:chOff x="4140" y="429"/>
            <a:chExt cx="1425" cy="2396"/>
          </a:xfrm>
        </p:grpSpPr>
        <p:sp>
          <p:nvSpPr>
            <p:cNvPr id="203" name="Freeform 70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4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5" name="Freeform 72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6" name="Freeform 73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7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08" name="Group 75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3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4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9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10" name="Group 79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1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2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1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2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13" name="Group 84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9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0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4" name="Freeform 87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15" name="Group 88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7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8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6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7" name="Freeform 92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8" name="Freeform 93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9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0" name="Freeform 95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1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2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3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4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6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 Box 47"/>
          <p:cNvSpPr txBox="1">
            <a:spLocks noChangeArrowheads="1"/>
          </p:cNvSpPr>
          <p:nvPr/>
        </p:nvSpPr>
        <p:spPr bwMode="auto">
          <a:xfrm>
            <a:off x="1697277" y="3448544"/>
            <a:ext cx="101308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DNS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47"/>
          <p:cNvSpPr txBox="1">
            <a:spLocks noChangeArrowheads="1"/>
          </p:cNvSpPr>
          <p:nvPr/>
        </p:nvSpPr>
        <p:spPr bwMode="auto">
          <a:xfrm>
            <a:off x="843850" y="2452611"/>
            <a:ext cx="8385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DNS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7"/>
          <p:cNvSpPr txBox="1">
            <a:spLocks noChangeArrowheads="1"/>
          </p:cNvSpPr>
          <p:nvPr/>
        </p:nvSpPr>
        <p:spPr bwMode="auto">
          <a:xfrm>
            <a:off x="4112251" y="2459030"/>
            <a:ext cx="101308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授权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DNS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41" name="直接箭头连接符 240"/>
          <p:cNvCxnSpPr/>
          <p:nvPr/>
        </p:nvCxnSpPr>
        <p:spPr>
          <a:xfrm>
            <a:off x="2936662" y="3967570"/>
            <a:ext cx="0" cy="73913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箭头连接符 249"/>
          <p:cNvCxnSpPr/>
          <p:nvPr/>
        </p:nvCxnSpPr>
        <p:spPr>
          <a:xfrm>
            <a:off x="2829037" y="3963963"/>
            <a:ext cx="0" cy="739137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文本框 247"/>
          <p:cNvSpPr txBox="1"/>
          <p:nvPr/>
        </p:nvSpPr>
        <p:spPr>
          <a:xfrm>
            <a:off x="2494891" y="4197137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2924866" y="4197137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4" name="直接箭头连接符 253"/>
          <p:cNvCxnSpPr/>
          <p:nvPr/>
        </p:nvCxnSpPr>
        <p:spPr>
          <a:xfrm flipH="1" flipV="1">
            <a:off x="2070731" y="2726368"/>
            <a:ext cx="577295" cy="50108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箭头连接符 257"/>
          <p:cNvCxnSpPr/>
          <p:nvPr/>
        </p:nvCxnSpPr>
        <p:spPr>
          <a:xfrm flipH="1" flipV="1">
            <a:off x="2159997" y="2640871"/>
            <a:ext cx="577295" cy="501080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箭头连接符 258"/>
          <p:cNvCxnSpPr/>
          <p:nvPr/>
        </p:nvCxnSpPr>
        <p:spPr>
          <a:xfrm flipV="1">
            <a:off x="3064915" y="2660792"/>
            <a:ext cx="639676" cy="46868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箭头连接符 262"/>
          <p:cNvCxnSpPr/>
          <p:nvPr/>
        </p:nvCxnSpPr>
        <p:spPr>
          <a:xfrm flipH="1">
            <a:off x="3133593" y="2771580"/>
            <a:ext cx="617999" cy="46547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文本框 267"/>
          <p:cNvSpPr txBox="1"/>
          <p:nvPr/>
        </p:nvSpPr>
        <p:spPr>
          <a:xfrm>
            <a:off x="2070731" y="2931472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2369556" y="2633242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3111763" y="2633080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3378670" y="2955489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8" name="直接箭头连接符 277"/>
          <p:cNvCxnSpPr/>
          <p:nvPr/>
        </p:nvCxnSpPr>
        <p:spPr>
          <a:xfrm flipH="1">
            <a:off x="3206743" y="4979204"/>
            <a:ext cx="1456268" cy="16459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接箭头连接符 283"/>
          <p:cNvCxnSpPr/>
          <p:nvPr/>
        </p:nvCxnSpPr>
        <p:spPr>
          <a:xfrm flipH="1">
            <a:off x="3206744" y="5102297"/>
            <a:ext cx="1428069" cy="15351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 Box 3"/>
          <p:cNvSpPr txBox="1">
            <a:spLocks noChangeArrowheads="1"/>
          </p:cNvSpPr>
          <p:nvPr/>
        </p:nvSpPr>
        <p:spPr bwMode="auto">
          <a:xfrm>
            <a:off x="323850" y="1426808"/>
            <a:ext cx="8310563" cy="47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95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2200" dirty="0"/>
              <a:t>CDN</a:t>
            </a:r>
            <a:r>
              <a:rPr lang="zh-CN" altLang="en-US" sz="2200" dirty="0"/>
              <a:t>实现机制（</a:t>
            </a:r>
            <a:r>
              <a:rPr lang="en-US" altLang="zh-CN" sz="2200" dirty="0"/>
              <a:t>2</a:t>
            </a:r>
            <a:r>
              <a:rPr lang="zh-CN" altLang="en-US" sz="2200" dirty="0"/>
              <a:t>）</a:t>
            </a:r>
            <a:endParaRPr lang="en-US" altLang="zh-CN" sz="2200" dirty="0"/>
          </a:p>
        </p:txBody>
      </p:sp>
      <p:sp>
        <p:nvSpPr>
          <p:cNvPr id="287" name="文本框 286"/>
          <p:cNvSpPr txBox="1"/>
          <p:nvPr/>
        </p:nvSpPr>
        <p:spPr>
          <a:xfrm>
            <a:off x="1257572" y="5752700"/>
            <a:ext cx="287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URL</a:t>
            </a:r>
            <a:r>
              <a:rPr lang="zh-CN" altLang="en-US" dirty="0"/>
              <a:t>：</a:t>
            </a:r>
            <a:r>
              <a:rPr lang="en-US" altLang="zh-CN" dirty="0"/>
              <a:t>www.example.com</a:t>
            </a:r>
            <a:endParaRPr lang="zh-CN" altLang="en-US" dirty="0"/>
          </a:p>
        </p:txBody>
      </p:sp>
      <p:sp>
        <p:nvSpPr>
          <p:cNvPr id="104448" name="文本框 104447"/>
          <p:cNvSpPr txBox="1"/>
          <p:nvPr/>
        </p:nvSpPr>
        <p:spPr>
          <a:xfrm>
            <a:off x="3784399" y="4672512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(9)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449" name="文本框 104448"/>
          <p:cNvSpPr txBox="1"/>
          <p:nvPr/>
        </p:nvSpPr>
        <p:spPr>
          <a:xfrm>
            <a:off x="3737284" y="5134120"/>
            <a:ext cx="496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35" name="Group 69"/>
          <p:cNvGrpSpPr/>
          <p:nvPr/>
        </p:nvGrpSpPr>
        <p:grpSpPr bwMode="auto">
          <a:xfrm>
            <a:off x="5084882" y="4326988"/>
            <a:ext cx="299462" cy="557213"/>
            <a:chOff x="4140" y="429"/>
            <a:chExt cx="1425" cy="2396"/>
          </a:xfrm>
        </p:grpSpPr>
        <p:sp>
          <p:nvSpPr>
            <p:cNvPr id="236" name="Freeform 70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7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8" name="Freeform 72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9" name="Freeform 73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0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42" name="Group 75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79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0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3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44" name="Group 79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76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7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5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47" name="Group 84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74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5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1" name="Freeform 87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52" name="Group 88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70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2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3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5" name="Freeform 92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6" name="Freeform 93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7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0" name="Freeform 95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1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2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4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5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6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7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1" name="Group 69"/>
          <p:cNvGrpSpPr/>
          <p:nvPr/>
        </p:nvGrpSpPr>
        <p:grpSpPr bwMode="auto">
          <a:xfrm>
            <a:off x="5699404" y="4331881"/>
            <a:ext cx="299462" cy="557213"/>
            <a:chOff x="4140" y="429"/>
            <a:chExt cx="1425" cy="2396"/>
          </a:xfrm>
        </p:grpSpPr>
        <p:sp>
          <p:nvSpPr>
            <p:cNvPr id="282" name="Freeform 70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3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8" name="Freeform 72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9" name="Freeform 73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0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91" name="Group 75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16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7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2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93" name="Group 79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14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4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5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96" name="Group 84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2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3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7" name="Freeform 87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98" name="Group 88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0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1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9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0" name="Freeform 92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1" name="Freeform 93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2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3" name="Freeform 95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4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5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6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7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8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9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8" name="Group 69"/>
          <p:cNvGrpSpPr/>
          <p:nvPr/>
        </p:nvGrpSpPr>
        <p:grpSpPr bwMode="auto">
          <a:xfrm>
            <a:off x="5413149" y="5048661"/>
            <a:ext cx="299462" cy="557213"/>
            <a:chOff x="4140" y="429"/>
            <a:chExt cx="1425" cy="2396"/>
          </a:xfrm>
        </p:grpSpPr>
        <p:sp>
          <p:nvSpPr>
            <p:cNvPr id="319" name="Freeform 70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0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1" name="Freeform 72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2" name="Freeform 73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3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24" name="Group 75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49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0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25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26" name="Group 79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7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8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27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8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29" name="Group 84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5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6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0" name="Freeform 87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31" name="Group 88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3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4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2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3" name="Freeform 92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4" name="Freeform 93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5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6" name="Freeform 95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7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8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9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0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1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2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 Box 47"/>
          <p:cNvSpPr txBox="1">
            <a:spLocks noChangeArrowheads="1"/>
          </p:cNvSpPr>
          <p:nvPr/>
        </p:nvSpPr>
        <p:spPr bwMode="auto">
          <a:xfrm>
            <a:off x="4868815" y="5606253"/>
            <a:ext cx="13169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CDN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52" name="Group 69"/>
          <p:cNvGrpSpPr/>
          <p:nvPr/>
        </p:nvGrpSpPr>
        <p:grpSpPr bwMode="auto">
          <a:xfrm>
            <a:off x="5347961" y="3259815"/>
            <a:ext cx="378387" cy="647839"/>
            <a:chOff x="4140" y="429"/>
            <a:chExt cx="1425" cy="2396"/>
          </a:xfrm>
        </p:grpSpPr>
        <p:sp>
          <p:nvSpPr>
            <p:cNvPr id="353" name="Freeform 70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0 w 354"/>
                <a:gd name="T3" fmla="*/ 19 h 2742"/>
                <a:gd name="T4" fmla="*/ 10 w 354"/>
                <a:gd name="T5" fmla="*/ 143 h 2742"/>
                <a:gd name="T6" fmla="*/ 0 w 354"/>
                <a:gd name="T7" fmla="*/ 14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4" name="Rectangle 71"/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5" name="Freeform 72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6 w 211"/>
                <a:gd name="T3" fmla="*/ 13 h 2537"/>
                <a:gd name="T4" fmla="*/ 2 w 211"/>
                <a:gd name="T5" fmla="*/ 13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6" name="Freeform 73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8 h 226"/>
                <a:gd name="T4" fmla="*/ 9 w 328"/>
                <a:gd name="T5" fmla="*/ 13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7" name="Rectangle 74"/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58" name="Group 75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83" name="AutoShape 76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AutoShape 77"/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59" name="Rectangle 78"/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60" name="Group 79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81" name="AutoShape 80"/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2" name="AutoShape 81"/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61" name="Rectangle 82"/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2" name="Rectangle 83"/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63" name="Group 84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9" name="AutoShape 85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0" name="AutoShape 86"/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64" name="Freeform 87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9 w 328"/>
                <a:gd name="T3" fmla="*/ 7 h 226"/>
                <a:gd name="T4" fmla="*/ 9 w 328"/>
                <a:gd name="T5" fmla="*/ 12 h 226"/>
                <a:gd name="T6" fmla="*/ 0 w 328"/>
                <a:gd name="T7" fmla="*/ 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65" name="Group 88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7" name="AutoShape 89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8" name="AutoShape 90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200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66" name="Rectangle 91"/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7" name="Freeform 92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 w 296"/>
                <a:gd name="T3" fmla="*/ 7 h 256"/>
                <a:gd name="T4" fmla="*/ 9 w 296"/>
                <a:gd name="T5" fmla="*/ 13 h 256"/>
                <a:gd name="T6" fmla="*/ 0 w 296"/>
                <a:gd name="T7" fmla="*/ 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8" name="Freeform 93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9 w 304"/>
                <a:gd name="T3" fmla="*/ 9 h 288"/>
                <a:gd name="T4" fmla="*/ 8 w 304"/>
                <a:gd name="T5" fmla="*/ 16 h 288"/>
                <a:gd name="T6" fmla="*/ 2 w 304"/>
                <a:gd name="T7" fmla="*/ 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9" name="Oval 94"/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0" name="Freeform 95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7 h 240"/>
                <a:gd name="T2" fmla="*/ 2 w 306"/>
                <a:gd name="T3" fmla="*/ 13 h 240"/>
                <a:gd name="T4" fmla="*/ 9 w 306"/>
                <a:gd name="T5" fmla="*/ 7 h 240"/>
                <a:gd name="T6" fmla="*/ 9 w 306"/>
                <a:gd name="T7" fmla="*/ 0 h 240"/>
                <a:gd name="T8" fmla="*/ 0 w 306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1" name="AutoShape 96"/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2" name="AutoShape 97"/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3" name="Oval 98"/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4" name="Oval 99"/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5" name="Oval 100"/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6" name="Rectangle 101"/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Text Box 47"/>
          <p:cNvSpPr txBox="1">
            <a:spLocks noChangeArrowheads="1"/>
          </p:cNvSpPr>
          <p:nvPr/>
        </p:nvSpPr>
        <p:spPr bwMode="auto">
          <a:xfrm>
            <a:off x="4708818" y="2904098"/>
            <a:ext cx="168460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负载均衡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DNS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683950" y="2882738"/>
            <a:ext cx="1709474" cy="3137387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6" name="直接箭头连接符 385"/>
          <p:cNvCxnSpPr/>
          <p:nvPr/>
        </p:nvCxnSpPr>
        <p:spPr>
          <a:xfrm flipH="1">
            <a:off x="6456383" y="5017806"/>
            <a:ext cx="1008672" cy="0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直接箭头连接符 389"/>
          <p:cNvCxnSpPr/>
          <p:nvPr/>
        </p:nvCxnSpPr>
        <p:spPr>
          <a:xfrm flipH="1" flipV="1">
            <a:off x="3219787" y="3556518"/>
            <a:ext cx="1991311" cy="1050"/>
          </a:xfrm>
          <a:prstGeom prst="straightConnector1">
            <a:avLst/>
          </a:prstGeom>
          <a:ln w="1905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直接箭头连接符 390"/>
          <p:cNvCxnSpPr/>
          <p:nvPr/>
        </p:nvCxnSpPr>
        <p:spPr>
          <a:xfrm flipH="1">
            <a:off x="3219789" y="3678504"/>
            <a:ext cx="1971638" cy="0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文本框 391"/>
          <p:cNvSpPr txBox="1"/>
          <p:nvPr/>
        </p:nvSpPr>
        <p:spPr>
          <a:xfrm>
            <a:off x="3797443" y="3259211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3" name="文本框 392"/>
          <p:cNvSpPr txBox="1"/>
          <p:nvPr/>
        </p:nvSpPr>
        <p:spPr>
          <a:xfrm>
            <a:off x="3788336" y="3656458"/>
            <a:ext cx="3737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4" name="直接箭头连接符 393"/>
          <p:cNvCxnSpPr>
            <a:stCxn id="372" idx="1"/>
          </p:cNvCxnSpPr>
          <p:nvPr/>
        </p:nvCxnSpPr>
        <p:spPr>
          <a:xfrm flipH="1">
            <a:off x="5237215" y="3888187"/>
            <a:ext cx="128802" cy="422903"/>
          </a:xfrm>
          <a:prstGeom prst="straightConnector1">
            <a:avLst/>
          </a:prstGeom>
          <a:ln w="9525">
            <a:solidFill>
              <a:srgbClr val="00B0F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直接箭头连接符 394"/>
          <p:cNvCxnSpPr>
            <a:stCxn id="372" idx="2"/>
            <a:endCxn id="320" idx="0"/>
          </p:cNvCxnSpPr>
          <p:nvPr/>
        </p:nvCxnSpPr>
        <p:spPr>
          <a:xfrm>
            <a:off x="5508078" y="3899002"/>
            <a:ext cx="29059" cy="1149659"/>
          </a:xfrm>
          <a:prstGeom prst="straightConnector1">
            <a:avLst/>
          </a:prstGeom>
          <a:ln w="9525">
            <a:solidFill>
              <a:srgbClr val="00B0F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直接箭头连接符 395"/>
          <p:cNvCxnSpPr>
            <a:stCxn id="372" idx="3"/>
            <a:endCxn id="283" idx="0"/>
          </p:cNvCxnSpPr>
          <p:nvPr/>
        </p:nvCxnSpPr>
        <p:spPr>
          <a:xfrm>
            <a:off x="5650139" y="3888187"/>
            <a:ext cx="173253" cy="443694"/>
          </a:xfrm>
          <a:prstGeom prst="straightConnector1">
            <a:avLst/>
          </a:prstGeom>
          <a:ln w="9525">
            <a:solidFill>
              <a:srgbClr val="00B0F0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Box 47"/>
          <p:cNvSpPr txBox="1">
            <a:spLocks noChangeArrowheads="1"/>
          </p:cNvSpPr>
          <p:nvPr/>
        </p:nvSpPr>
        <p:spPr bwMode="auto">
          <a:xfrm>
            <a:off x="6313393" y="4630595"/>
            <a:ext cx="131697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内容复制缓存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167418" y="662645"/>
            <a:ext cx="4896586" cy="1481592"/>
          </a:xfrm>
          <a:prstGeom prst="rect">
            <a:avLst/>
          </a:prstGeom>
          <a:solidFill>
            <a:srgbClr val="E1E7FF"/>
          </a:solidFill>
          <a:ln w="6350">
            <a:solidFill>
              <a:srgbClr val="FF0000"/>
            </a:solidFill>
            <a:miter lim="800000"/>
          </a:ln>
        </p:spPr>
        <p:txBody>
          <a:bodyPr wrap="square" lIns="91408" tIns="45704" rIns="91408" bIns="45704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DNS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辅助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800"/>
              </a:lnSpc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15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负载均衡</a:t>
            </a:r>
            <a:r>
              <a:rPr lang="en-US" altLang="zh-CN" sz="15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DNS</a:t>
            </a:r>
            <a:r>
              <a:rPr lang="zh-CN" altLang="en-US" sz="15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负责决策</a:t>
            </a:r>
            <a:r>
              <a:rPr lang="en-US" altLang="zh-CN" sz="15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CDN</a:t>
            </a:r>
            <a:r>
              <a:rPr lang="zh-CN" altLang="en-US" sz="15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服务器选择</a:t>
            </a:r>
            <a:endParaRPr lang="en-US" altLang="zh-CN" sz="15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800"/>
              </a:lnSpc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15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负载均衡</a:t>
            </a:r>
            <a:r>
              <a:rPr lang="en-US" altLang="zh-CN" sz="15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DNS</a:t>
            </a:r>
            <a:r>
              <a:rPr lang="zh-CN" altLang="en-US" sz="15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需要收集</a:t>
            </a:r>
            <a:r>
              <a:rPr lang="en-US" altLang="zh-CN" sz="15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CDN</a:t>
            </a:r>
            <a:r>
              <a:rPr lang="zh-CN" altLang="en-US" sz="15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服务器的位置和负载情况</a:t>
            </a:r>
            <a:endParaRPr lang="en-US" altLang="zh-CN" sz="15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ts val="2800"/>
              </a:lnSpc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sz="15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如果找不到被请求的对象，需要从原始服务器获取</a:t>
            </a:r>
            <a:endParaRPr lang="en-US" altLang="zh-CN" sz="15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49040" y="6192891"/>
            <a:ext cx="6894424" cy="3648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FF0000"/>
            </a:solidFill>
            <a:miter lim="800000"/>
          </a:ln>
        </p:spPr>
        <p:txBody>
          <a:bodyPr wrap="square" lIns="91408" tIns="45704" rIns="91408" bIns="45704">
            <a:spAutoFit/>
          </a:bodyPr>
          <a:lstStyle/>
          <a:p>
            <a:pPr algn="ctr">
              <a:lnSpc>
                <a:spcPts val="23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扩展：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服务器的层次化组织→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移动边缘缓存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移动边缘计算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DASH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概述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2.8 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动态自适应流媒体协议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23850" y="1643078"/>
            <a:ext cx="8401050" cy="4349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2395" dirty="0"/>
              <a:t>DASH (Dynamic Adaptive Streaming </a:t>
            </a:r>
            <a:r>
              <a:rPr lang="en-US" altLang="zh-CN" sz="2395" dirty="0">
                <a:solidFill>
                  <a:srgbClr val="C00000"/>
                </a:solidFill>
              </a:rPr>
              <a:t>over HTTP</a:t>
            </a:r>
            <a:r>
              <a:rPr lang="en-US" altLang="zh-CN" sz="2395" dirty="0"/>
              <a:t>)</a:t>
            </a:r>
          </a:p>
          <a:p>
            <a:pPr marL="628650" lvl="1" indent="-27178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1995" dirty="0"/>
              <a:t>MPEG</a:t>
            </a:r>
            <a:r>
              <a:rPr lang="zh-CN" altLang="en-US" sz="1995" dirty="0"/>
              <a:t>组织制定的标准（标准号</a:t>
            </a:r>
            <a:r>
              <a:rPr lang="en-US" altLang="zh-CN" sz="1995" dirty="0"/>
              <a:t>ISO/IEC 23009-1</a:t>
            </a:r>
            <a:r>
              <a:rPr lang="zh-CN" altLang="en-US" sz="1995" dirty="0"/>
              <a:t>）</a:t>
            </a:r>
            <a:endParaRPr lang="en-US" altLang="zh-CN" sz="1995" dirty="0"/>
          </a:p>
          <a:p>
            <a:pPr marL="958850" lvl="2" indent="-243205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595" dirty="0"/>
              <a:t>也称</a:t>
            </a:r>
            <a:r>
              <a:rPr lang="en-US" altLang="zh-CN" sz="1595" dirty="0"/>
              <a:t>MPEG-DASH </a:t>
            </a:r>
          </a:p>
          <a:p>
            <a:pPr marL="628650" lvl="1" indent="-27178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000" dirty="0"/>
              <a:t>基于</a:t>
            </a:r>
            <a:r>
              <a:rPr lang="en-US" altLang="zh-CN" sz="2000" dirty="0"/>
              <a:t>HTTP</a:t>
            </a:r>
            <a:r>
              <a:rPr lang="zh-CN" altLang="en-US" sz="2000" dirty="0"/>
              <a:t>的流媒体传输协议</a:t>
            </a:r>
            <a:endParaRPr lang="en-US" altLang="zh-CN" sz="2000" dirty="0"/>
          </a:p>
          <a:p>
            <a:pPr marL="958850" lvl="2" indent="-243205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595" dirty="0"/>
              <a:t>基于</a:t>
            </a:r>
            <a:r>
              <a:rPr lang="en-US" altLang="zh-CN" sz="1595" dirty="0"/>
              <a:t>HTTP</a:t>
            </a:r>
            <a:r>
              <a:rPr lang="zh-CN" altLang="en-US" sz="1595" dirty="0"/>
              <a:t>渐进式下载（</a:t>
            </a:r>
            <a:r>
              <a:rPr lang="zh-CN" altLang="en-US" sz="1595" b="1" dirty="0">
                <a:solidFill>
                  <a:srgbClr val="C00000"/>
                </a:solidFill>
              </a:rPr>
              <a:t>类流媒体</a:t>
            </a:r>
            <a:r>
              <a:rPr lang="zh-CN" altLang="en-US" sz="1595" dirty="0"/>
              <a:t>）</a:t>
            </a:r>
          </a:p>
          <a:p>
            <a:pPr marL="628650" lvl="1" indent="-27178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995" dirty="0"/>
              <a:t>类似协议：</a:t>
            </a:r>
            <a:endParaRPr lang="en-US" altLang="zh-CN" sz="1995" dirty="0"/>
          </a:p>
          <a:p>
            <a:pPr marL="986155" lvl="2" indent="-269875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1800" dirty="0"/>
              <a:t>HTTP Live Streaming</a:t>
            </a:r>
            <a:r>
              <a:rPr lang="zh-CN" altLang="en-US" sz="1800" dirty="0"/>
              <a:t>（</a:t>
            </a:r>
            <a:r>
              <a:rPr lang="en-US" altLang="zh-CN" sz="1800" dirty="0"/>
              <a:t>HLS</a:t>
            </a:r>
            <a:r>
              <a:rPr lang="zh-CN" altLang="en-US" sz="1800" dirty="0"/>
              <a:t>），苹果公司</a:t>
            </a:r>
            <a:endParaRPr lang="en-US" altLang="zh-CN" sz="1800" dirty="0"/>
          </a:p>
          <a:p>
            <a:pPr marL="986155" lvl="2" indent="-269875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1800" dirty="0"/>
              <a:t>HTTP Dynamic Streaming</a:t>
            </a:r>
            <a:r>
              <a:rPr lang="zh-CN" altLang="en-US" sz="1800" dirty="0"/>
              <a:t>（</a:t>
            </a:r>
            <a:r>
              <a:rPr lang="en-US" altLang="zh-CN" sz="1800" dirty="0"/>
              <a:t>HDS</a:t>
            </a:r>
            <a:r>
              <a:rPr lang="zh-CN" altLang="en-US" sz="1800" dirty="0"/>
              <a:t>），</a:t>
            </a:r>
            <a:r>
              <a:rPr lang="en-US" altLang="zh-CN" sz="1800" dirty="0"/>
              <a:t>Adobe</a:t>
            </a:r>
            <a:r>
              <a:rPr lang="zh-CN" altLang="en-US" sz="1800" dirty="0"/>
              <a:t>公司</a:t>
            </a:r>
            <a:endParaRPr lang="en-US" altLang="zh-CN" sz="1800" dirty="0"/>
          </a:p>
          <a:p>
            <a:pPr marL="986155" lvl="2" indent="-269875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1800" dirty="0"/>
              <a:t>Microsoft Smooth Streaming </a:t>
            </a:r>
            <a:r>
              <a:rPr lang="zh-CN" altLang="en-US" sz="1800" dirty="0"/>
              <a:t>（</a:t>
            </a:r>
            <a:r>
              <a:rPr lang="en-US" altLang="zh-CN" sz="1800" dirty="0"/>
              <a:t>MSS</a:t>
            </a:r>
            <a:r>
              <a:rPr lang="zh-CN" altLang="en-US" sz="1800" dirty="0"/>
              <a:t>）</a:t>
            </a:r>
            <a:r>
              <a:rPr lang="en-US" altLang="zh-CN" sz="1800" dirty="0"/>
              <a:t> </a:t>
            </a:r>
            <a:r>
              <a:rPr lang="zh-CN" altLang="en-US" sz="1800" dirty="0"/>
              <a:t>，微软公司</a:t>
            </a:r>
            <a:endParaRPr lang="en-US" altLang="zh-CN" sz="18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DASH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概述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2.8 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动态自适应流媒体协议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23850" y="1642790"/>
            <a:ext cx="8401050" cy="2983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00"/>
              </a:lnSpc>
              <a:spcBef>
                <a:spcPts val="1200"/>
              </a:spcBef>
              <a:buClr>
                <a:srgbClr val="C00000"/>
              </a:buClr>
            </a:pPr>
            <a:r>
              <a:rPr lang="zh-CN" altLang="en-US" sz="2395" dirty="0"/>
              <a:t>基本思想：</a:t>
            </a:r>
            <a:endParaRPr lang="en-US" altLang="zh-CN" sz="2395" dirty="0"/>
          </a:p>
          <a:p>
            <a:pPr marL="628650" lvl="1" indent="-271780">
              <a:lnSpc>
                <a:spcPts val="3600"/>
              </a:lnSpc>
              <a:spcBef>
                <a:spcPts val="600"/>
              </a:spcBef>
            </a:pPr>
            <a:r>
              <a:rPr lang="zh-CN" altLang="en-US" sz="1995" dirty="0"/>
              <a:t>完整视频被拆分为固定时长 </a:t>
            </a:r>
            <a:r>
              <a:rPr lang="en-US" altLang="zh-CN" sz="1995" dirty="0"/>
              <a:t>(2s-10s)</a:t>
            </a:r>
            <a:r>
              <a:rPr lang="zh-CN" altLang="en-US" sz="1995" dirty="0"/>
              <a:t>、不同码率的视频片段</a:t>
            </a:r>
            <a:r>
              <a:rPr lang="en-US" altLang="zh-CN" sz="1995" dirty="0"/>
              <a:t>(segment)</a:t>
            </a:r>
          </a:p>
          <a:p>
            <a:pPr marL="628650" lvl="1" indent="-271780">
              <a:lnSpc>
                <a:spcPts val="3600"/>
              </a:lnSpc>
              <a:spcBef>
                <a:spcPts val="600"/>
              </a:spcBef>
            </a:pPr>
            <a:r>
              <a:rPr lang="zh-CN" altLang="en-US" sz="1995" dirty="0"/>
              <a:t>视频片段与媒体表示描述 </a:t>
            </a:r>
            <a:r>
              <a:rPr lang="en-US" altLang="zh-CN" sz="1995" dirty="0"/>
              <a:t>(Media  Presentation Description, MPD)</a:t>
            </a:r>
            <a:r>
              <a:rPr lang="zh-CN" altLang="en-US" sz="1995" dirty="0"/>
              <a:t> 文件共同存放于</a:t>
            </a:r>
            <a:r>
              <a:rPr lang="en-US" altLang="zh-CN" sz="1995" dirty="0"/>
              <a:t>DASH</a:t>
            </a:r>
            <a:r>
              <a:rPr lang="zh-CN" altLang="en-US" sz="1995" dirty="0"/>
              <a:t>服务器</a:t>
            </a:r>
            <a:endParaRPr lang="en-US" altLang="zh-CN" sz="1995" dirty="0"/>
          </a:p>
          <a:p>
            <a:pPr marL="628650" lvl="1" indent="-271780">
              <a:lnSpc>
                <a:spcPts val="3600"/>
              </a:lnSpc>
              <a:spcBef>
                <a:spcPts val="600"/>
              </a:spcBef>
            </a:pPr>
            <a:r>
              <a:rPr lang="zh-CN" altLang="en-US" sz="1995" dirty="0"/>
              <a:t>客户端根据自身设备性能、当前网络条件、客户端缓冲大小等自适应选择一种视频码率进行下载</a:t>
            </a:r>
            <a:endParaRPr lang="en-US" altLang="zh-CN" sz="1995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DASH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基本原理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2.8 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动态自适应流媒体协议</a:t>
            </a:r>
          </a:p>
        </p:txBody>
      </p:sp>
      <p:grpSp>
        <p:nvGrpSpPr>
          <p:cNvPr id="89" name="组合 88"/>
          <p:cNvGrpSpPr/>
          <p:nvPr/>
        </p:nvGrpSpPr>
        <p:grpSpPr>
          <a:xfrm>
            <a:off x="1073818" y="1732693"/>
            <a:ext cx="6992877" cy="3489275"/>
            <a:chOff x="1000126" y="2038351"/>
            <a:chExt cx="6992877" cy="3489275"/>
          </a:xfrm>
        </p:grpSpPr>
        <p:sp>
          <p:nvSpPr>
            <p:cNvPr id="5" name="矩形 4"/>
            <p:cNvSpPr/>
            <p:nvPr/>
          </p:nvSpPr>
          <p:spPr>
            <a:xfrm>
              <a:off x="1000126" y="2038351"/>
              <a:ext cx="2524125" cy="3095625"/>
            </a:xfrm>
            <a:prstGeom prst="rect">
              <a:avLst/>
            </a:prstGeom>
            <a:noFill/>
            <a:ln w="9525"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67731" y="2063948"/>
              <a:ext cx="476790" cy="624618"/>
            </a:xfrm>
            <a:prstGeom prst="rect">
              <a:avLst/>
            </a:prstGeom>
          </p:spPr>
        </p:pic>
        <p:grpSp>
          <p:nvGrpSpPr>
            <p:cNvPr id="16" name="组合 15"/>
            <p:cNvGrpSpPr/>
            <p:nvPr/>
          </p:nvGrpSpPr>
          <p:grpSpPr>
            <a:xfrm>
              <a:off x="1507342" y="3533775"/>
              <a:ext cx="1816894" cy="1257300"/>
              <a:chOff x="1135856" y="4000500"/>
              <a:chExt cx="1816894" cy="1257300"/>
            </a:xfrm>
          </p:grpSpPr>
          <p:cxnSp>
            <p:nvCxnSpPr>
              <p:cNvPr id="12" name="直接箭头连接符 11"/>
              <p:cNvCxnSpPr/>
              <p:nvPr/>
            </p:nvCxnSpPr>
            <p:spPr>
              <a:xfrm>
                <a:off x="1135856" y="5257800"/>
                <a:ext cx="1816894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/>
              <p:cNvCxnSpPr/>
              <p:nvPr/>
            </p:nvCxnSpPr>
            <p:spPr>
              <a:xfrm flipV="1">
                <a:off x="1135856" y="4000500"/>
                <a:ext cx="0" cy="125730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组合 19"/>
            <p:cNvGrpSpPr/>
            <p:nvPr/>
          </p:nvGrpSpPr>
          <p:grpSpPr>
            <a:xfrm>
              <a:off x="1627037" y="3698874"/>
              <a:ext cx="206493" cy="1001714"/>
              <a:chOff x="4014788" y="4152900"/>
              <a:chExt cx="197644" cy="833438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4014788" y="4838700"/>
                <a:ext cx="197644" cy="14763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4014788" y="4557713"/>
                <a:ext cx="197644" cy="21907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4014788" y="4152900"/>
                <a:ext cx="197644" cy="34290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1953224" y="3698874"/>
              <a:ext cx="206493" cy="1001714"/>
              <a:chOff x="4014788" y="4152900"/>
              <a:chExt cx="197644" cy="833438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4014788" y="4838700"/>
                <a:ext cx="197644" cy="14763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4014788" y="4557713"/>
                <a:ext cx="197644" cy="21907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4014788" y="4152900"/>
                <a:ext cx="197644" cy="34290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2278014" y="3698874"/>
              <a:ext cx="206493" cy="1001714"/>
              <a:chOff x="4014788" y="4152900"/>
              <a:chExt cx="197644" cy="833438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4014788" y="4838700"/>
                <a:ext cx="197644" cy="14763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4014788" y="4557713"/>
                <a:ext cx="197644" cy="21907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4014788" y="4152900"/>
                <a:ext cx="197644" cy="34290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2615466" y="3698874"/>
              <a:ext cx="206493" cy="1001714"/>
              <a:chOff x="4014788" y="4152900"/>
              <a:chExt cx="197644" cy="833438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4014788" y="4838700"/>
                <a:ext cx="197644" cy="14763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4014788" y="4557713"/>
                <a:ext cx="197644" cy="21907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4014788" y="4152900"/>
                <a:ext cx="197644" cy="34290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2952918" y="3698874"/>
              <a:ext cx="206493" cy="1001714"/>
              <a:chOff x="4014788" y="4152900"/>
              <a:chExt cx="197644" cy="833438"/>
            </a:xfrm>
          </p:grpSpPr>
          <p:sp>
            <p:nvSpPr>
              <p:cNvPr id="42" name="矩形 41"/>
              <p:cNvSpPr/>
              <p:nvPr/>
            </p:nvSpPr>
            <p:spPr>
              <a:xfrm>
                <a:off x="4014788" y="4838700"/>
                <a:ext cx="197644" cy="14763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4014788" y="4557713"/>
                <a:ext cx="197644" cy="21907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4014788" y="4152900"/>
                <a:ext cx="197644" cy="34290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1047762" y="3533775"/>
              <a:ext cx="51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质量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867287" y="4755684"/>
              <a:ext cx="51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时间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194186" y="4448175"/>
              <a:ext cx="3703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低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203348" y="3771433"/>
              <a:ext cx="3703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高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196622" y="4153120"/>
              <a:ext cx="3703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中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507964" y="5189072"/>
              <a:ext cx="14590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HTTP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服务器</a:t>
              </a:r>
            </a:p>
          </p:txBody>
        </p:sp>
        <p:sp>
          <p:nvSpPr>
            <p:cNvPr id="54" name="矩形 53"/>
            <p:cNvSpPr/>
            <p:nvPr/>
          </p:nvSpPr>
          <p:spPr>
            <a:xfrm>
              <a:off x="5468878" y="2038351"/>
              <a:ext cx="2524125" cy="3095625"/>
            </a:xfrm>
            <a:prstGeom prst="rect">
              <a:avLst/>
            </a:prstGeom>
            <a:noFill/>
            <a:ln w="9525"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" name="直接箭头连接符 56"/>
            <p:cNvCxnSpPr/>
            <p:nvPr/>
          </p:nvCxnSpPr>
          <p:spPr>
            <a:xfrm>
              <a:off x="5980849" y="4791075"/>
              <a:ext cx="1816894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/>
            <p:cNvCxnSpPr/>
            <p:nvPr/>
          </p:nvCxnSpPr>
          <p:spPr>
            <a:xfrm flipV="1">
              <a:off x="5980849" y="3533775"/>
              <a:ext cx="0" cy="125730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矩形 59"/>
            <p:cNvSpPr/>
            <p:nvPr/>
          </p:nvSpPr>
          <p:spPr>
            <a:xfrm>
              <a:off x="6100544" y="4523141"/>
              <a:ext cx="206493" cy="1774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6100544" y="4185421"/>
              <a:ext cx="206493" cy="26330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/>
            <p:cNvSpPr/>
            <p:nvPr/>
          </p:nvSpPr>
          <p:spPr>
            <a:xfrm>
              <a:off x="6100544" y="3698874"/>
              <a:ext cx="206493" cy="41213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6426731" y="4523141"/>
              <a:ext cx="206493" cy="1774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6426731" y="4185421"/>
              <a:ext cx="206493" cy="26330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/>
            <p:cNvSpPr/>
            <p:nvPr/>
          </p:nvSpPr>
          <p:spPr>
            <a:xfrm>
              <a:off x="6426731" y="3698874"/>
              <a:ext cx="206493" cy="41213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/>
            <p:cNvSpPr/>
            <p:nvPr/>
          </p:nvSpPr>
          <p:spPr>
            <a:xfrm>
              <a:off x="6751521" y="4523141"/>
              <a:ext cx="206493" cy="1774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6751521" y="4185421"/>
              <a:ext cx="206493" cy="26330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6751521" y="3698874"/>
              <a:ext cx="206493" cy="4121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/>
            <p:cNvSpPr/>
            <p:nvPr/>
          </p:nvSpPr>
          <p:spPr>
            <a:xfrm>
              <a:off x="7088973" y="4523141"/>
              <a:ext cx="206493" cy="1774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7088973" y="4185421"/>
              <a:ext cx="206493" cy="26330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7088973" y="3698874"/>
              <a:ext cx="206493" cy="41213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矩形 75"/>
            <p:cNvSpPr/>
            <p:nvPr/>
          </p:nvSpPr>
          <p:spPr>
            <a:xfrm>
              <a:off x="7426425" y="4523141"/>
              <a:ext cx="206493" cy="1774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7426425" y="4185421"/>
              <a:ext cx="206493" cy="26330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7426425" y="3698874"/>
              <a:ext cx="206493" cy="4121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5521269" y="3533775"/>
              <a:ext cx="51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质量</a:t>
              </a: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7221729" y="4755684"/>
              <a:ext cx="51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时间</a:t>
              </a: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5667693" y="4448175"/>
              <a:ext cx="3703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低</a:t>
              </a: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5676855" y="3771433"/>
              <a:ext cx="3703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高</a:t>
              </a: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5670129" y="4153120"/>
              <a:ext cx="3703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中</a:t>
              </a: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5981479" y="5189072"/>
              <a:ext cx="15323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客户端</a:t>
              </a: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5768884" y="2833169"/>
              <a:ext cx="7593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HTTP</a:t>
              </a:r>
            </a:p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客户端</a:t>
              </a:r>
            </a:p>
          </p:txBody>
        </p:sp>
        <p:sp>
          <p:nvSpPr>
            <p:cNvPr id="104448" name="文本框 104447"/>
            <p:cNvSpPr txBox="1"/>
            <p:nvPr/>
          </p:nvSpPr>
          <p:spPr>
            <a:xfrm>
              <a:off x="6919362" y="2829542"/>
              <a:ext cx="7593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媒体播放器</a:t>
              </a:r>
            </a:p>
          </p:txBody>
        </p:sp>
        <p:sp>
          <p:nvSpPr>
            <p:cNvPr id="104449" name="文本框 104448"/>
            <p:cNvSpPr txBox="1"/>
            <p:nvPr/>
          </p:nvSpPr>
          <p:spPr>
            <a:xfrm>
              <a:off x="6344123" y="2181309"/>
              <a:ext cx="759316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DASH</a:t>
              </a:r>
            </a:p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流控制</a:t>
              </a:r>
            </a:p>
          </p:txBody>
        </p:sp>
        <p:cxnSp>
          <p:nvCxnSpPr>
            <p:cNvPr id="92" name="直接箭头连接符 91"/>
            <p:cNvCxnSpPr/>
            <p:nvPr/>
          </p:nvCxnSpPr>
          <p:spPr>
            <a:xfrm>
              <a:off x="3524251" y="3129551"/>
              <a:ext cx="1945817" cy="0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453" name="文本框 104452"/>
            <p:cNvSpPr txBox="1"/>
            <p:nvPr/>
          </p:nvSpPr>
          <p:spPr>
            <a:xfrm>
              <a:off x="3903910" y="2475498"/>
              <a:ext cx="11709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媒体表示描述文件</a:t>
              </a:r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MPD</a:t>
              </a:r>
              <a:endPara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98" name="直接箭头连接符 97"/>
            <p:cNvCxnSpPr>
              <a:stCxn id="51" idx="3"/>
              <a:endCxn id="104448" idx="1"/>
            </p:cNvCxnSpPr>
            <p:nvPr/>
          </p:nvCxnSpPr>
          <p:spPr>
            <a:xfrm flipV="1">
              <a:off x="6528200" y="3060375"/>
              <a:ext cx="391162" cy="362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60" name="连接符: 肘形 104459"/>
            <p:cNvCxnSpPr>
              <a:stCxn id="104449" idx="1"/>
              <a:endCxn id="51" idx="0"/>
            </p:cNvCxnSpPr>
            <p:nvPr/>
          </p:nvCxnSpPr>
          <p:spPr>
            <a:xfrm rot="10800000" flipV="1">
              <a:off x="6148543" y="2412141"/>
              <a:ext cx="195581" cy="421027"/>
            </a:xfrm>
            <a:prstGeom prst="bentConnector2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连接符: 肘形 110"/>
            <p:cNvCxnSpPr>
              <a:stCxn id="104449" idx="3"/>
              <a:endCxn id="104448" idx="0"/>
            </p:cNvCxnSpPr>
            <p:nvPr/>
          </p:nvCxnSpPr>
          <p:spPr>
            <a:xfrm>
              <a:off x="7103439" y="2412142"/>
              <a:ext cx="195581" cy="417400"/>
            </a:xfrm>
            <a:prstGeom prst="bentConnector2">
              <a:avLst/>
            </a:prstGeom>
            <a:ln w="952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4468" name="图片 10446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29292" y="2071026"/>
              <a:ext cx="476790" cy="624618"/>
            </a:xfrm>
            <a:prstGeom prst="rect">
              <a:avLst/>
            </a:prstGeom>
          </p:spPr>
        </p:pic>
        <p:pic>
          <p:nvPicPr>
            <p:cNvPr id="104469" name="图片 10446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10799" y="2049035"/>
              <a:ext cx="476790" cy="624618"/>
            </a:xfrm>
            <a:prstGeom prst="rect">
              <a:avLst/>
            </a:prstGeom>
          </p:spPr>
        </p:pic>
        <p:cxnSp>
          <p:nvCxnSpPr>
            <p:cNvPr id="119" name="直接箭头连接符 118"/>
            <p:cNvCxnSpPr/>
            <p:nvPr/>
          </p:nvCxnSpPr>
          <p:spPr>
            <a:xfrm>
              <a:off x="3524251" y="2922250"/>
              <a:ext cx="1945817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471" name="文本框 104470"/>
            <p:cNvSpPr txBox="1"/>
            <p:nvPr/>
          </p:nvSpPr>
          <p:spPr>
            <a:xfrm>
              <a:off x="4088858" y="3129551"/>
              <a:ext cx="83514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媒体文件</a:t>
              </a:r>
            </a:p>
          </p:txBody>
        </p:sp>
        <p:sp>
          <p:nvSpPr>
            <p:cNvPr id="104472" name="矩形 104471"/>
            <p:cNvSpPr/>
            <p:nvPr/>
          </p:nvSpPr>
          <p:spPr>
            <a:xfrm>
              <a:off x="3910985" y="4792094"/>
              <a:ext cx="164901" cy="3182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473" name="矩形 104472"/>
            <p:cNvSpPr/>
            <p:nvPr/>
          </p:nvSpPr>
          <p:spPr>
            <a:xfrm>
              <a:off x="4138731" y="4640388"/>
              <a:ext cx="164901" cy="47231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474" name="矩形 104473"/>
            <p:cNvSpPr/>
            <p:nvPr/>
          </p:nvSpPr>
          <p:spPr>
            <a:xfrm>
              <a:off x="4367430" y="4371983"/>
              <a:ext cx="164901" cy="73927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475" name="矩形 104474"/>
            <p:cNvSpPr/>
            <p:nvPr/>
          </p:nvSpPr>
          <p:spPr>
            <a:xfrm>
              <a:off x="4598120" y="4639573"/>
              <a:ext cx="164901" cy="47231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476" name="矩形 104475"/>
            <p:cNvSpPr/>
            <p:nvPr/>
          </p:nvSpPr>
          <p:spPr>
            <a:xfrm>
              <a:off x="4828842" y="4370779"/>
              <a:ext cx="164901" cy="73927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2" name="组合 121"/>
            <p:cNvGrpSpPr/>
            <p:nvPr/>
          </p:nvGrpSpPr>
          <p:grpSpPr>
            <a:xfrm>
              <a:off x="3911209" y="4109437"/>
              <a:ext cx="1294477" cy="1004854"/>
              <a:chOff x="1135856" y="4000500"/>
              <a:chExt cx="1816894" cy="1257300"/>
            </a:xfrm>
          </p:grpSpPr>
          <p:cxnSp>
            <p:nvCxnSpPr>
              <p:cNvPr id="123" name="直接箭头连接符 122"/>
              <p:cNvCxnSpPr/>
              <p:nvPr/>
            </p:nvCxnSpPr>
            <p:spPr>
              <a:xfrm>
                <a:off x="1135856" y="5257800"/>
                <a:ext cx="1816894" cy="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箭头连接符 123"/>
              <p:cNvCxnSpPr/>
              <p:nvPr/>
            </p:nvCxnSpPr>
            <p:spPr>
              <a:xfrm flipV="1">
                <a:off x="1135856" y="4000500"/>
                <a:ext cx="0" cy="1257300"/>
              </a:xfrm>
              <a:prstGeom prst="straightConnector1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4478" name="文本框 104477"/>
            <p:cNvSpPr txBox="1"/>
            <p:nvPr/>
          </p:nvSpPr>
          <p:spPr>
            <a:xfrm>
              <a:off x="3467498" y="4150433"/>
              <a:ext cx="51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带宽</a:t>
              </a:r>
            </a:p>
          </p:txBody>
        </p:sp>
        <p:sp>
          <p:nvSpPr>
            <p:cNvPr id="104479" name="文本框 104478"/>
            <p:cNvSpPr txBox="1"/>
            <p:nvPr/>
          </p:nvSpPr>
          <p:spPr>
            <a:xfrm>
              <a:off x="4721360" y="5080194"/>
              <a:ext cx="5167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时间</a:t>
              </a:r>
            </a:p>
          </p:txBody>
        </p:sp>
      </p:grpSp>
      <p:sp>
        <p:nvSpPr>
          <p:cNvPr id="87" name="Text Box 3"/>
          <p:cNvSpPr txBox="1">
            <a:spLocks noChangeArrowheads="1"/>
          </p:cNvSpPr>
          <p:nvPr/>
        </p:nvSpPr>
        <p:spPr bwMode="auto">
          <a:xfrm>
            <a:off x="583334" y="5468115"/>
            <a:ext cx="8058146" cy="85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266700" indent="-26670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800" b="0" i="0" dirty="0">
                <a:effectLst/>
                <a:cs typeface="Times New Roman" panose="02020603050405020304" pitchFamily="18" charset="0"/>
              </a:rPr>
              <a:t>例如：</a:t>
            </a:r>
            <a:r>
              <a:rPr lang="en-US" altLang="zh-CN" sz="1800" b="0" i="0" dirty="0">
                <a:effectLst/>
                <a:cs typeface="Times New Roman" panose="02020603050405020304" pitchFamily="18" charset="0"/>
              </a:rPr>
              <a:t>HTTP</a:t>
            </a:r>
            <a:r>
              <a:rPr lang="zh-CN" altLang="en-US" sz="1800" b="0" i="0" dirty="0">
                <a:effectLst/>
                <a:cs typeface="Times New Roman" panose="02020603050405020304" pitchFamily="18" charset="0"/>
              </a:rPr>
              <a:t>服务器中保存有高中低三种质量的视频片段，</a:t>
            </a:r>
            <a:r>
              <a:rPr lang="en-US" altLang="zh-CN" sz="1800" b="0" i="0" dirty="0">
                <a:effectLst/>
                <a:cs typeface="Times New Roman" panose="02020603050405020304" pitchFamily="18" charset="0"/>
              </a:rPr>
              <a:t>DASH</a:t>
            </a:r>
            <a:r>
              <a:rPr lang="zh-CN" altLang="en-US" sz="1800" b="0" i="0" dirty="0">
                <a:effectLst/>
                <a:cs typeface="Times New Roman" panose="02020603050405020304" pitchFamily="18" charset="0"/>
              </a:rPr>
              <a:t>客户端评估网络状况，通常在保证</a:t>
            </a:r>
            <a:r>
              <a:rPr lang="zh-CN" altLang="en-US" sz="1800" b="1" i="0" dirty="0">
                <a:solidFill>
                  <a:srgbClr val="FF0000"/>
                </a:solidFill>
                <a:effectLst/>
                <a:cs typeface="Times New Roman" panose="02020603050405020304" pitchFamily="18" charset="0"/>
              </a:rPr>
              <a:t>视频流畅</a:t>
            </a:r>
            <a:r>
              <a:rPr lang="zh-CN" altLang="en-US" sz="1800" b="0" i="0" dirty="0">
                <a:effectLst/>
                <a:cs typeface="Times New Roman" panose="02020603050405020304" pitchFamily="18" charset="0"/>
              </a:rPr>
              <a:t>的前提下，</a:t>
            </a:r>
            <a:r>
              <a:rPr lang="zh-CN" altLang="en-US" sz="1800" dirty="0">
                <a:cs typeface="Times New Roman" panose="02020603050405020304" pitchFamily="18" charset="0"/>
              </a:rPr>
              <a:t>获取最高质量的</a:t>
            </a:r>
            <a:r>
              <a:rPr lang="zh-CN" altLang="en-US" sz="1800" b="0" i="0" dirty="0">
                <a:effectLst/>
                <a:cs typeface="Times New Roman" panose="02020603050405020304" pitchFamily="18" charset="0"/>
              </a:rPr>
              <a:t>视频片段</a:t>
            </a:r>
            <a:endParaRPr lang="zh-CN" altLang="en-US" sz="1800" dirty="0"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1347" y="2488488"/>
            <a:ext cx="75931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</a:t>
            </a:r>
          </a:p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09571" y="3033290"/>
            <a:ext cx="1200153" cy="27483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体表示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DASH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基本原理（续）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2.8 </a:t>
            </a: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动态自适应流媒体协议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23850" y="1537832"/>
            <a:ext cx="8401050" cy="944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2395" dirty="0"/>
              <a:t>MPD </a:t>
            </a:r>
            <a:r>
              <a:rPr lang="zh-CN" altLang="en-US" sz="2395" dirty="0"/>
              <a:t>(Media Presentation Description) 文件</a:t>
            </a:r>
            <a:endParaRPr lang="en-US" altLang="zh-CN" sz="2395" dirty="0"/>
          </a:p>
          <a:p>
            <a:pPr marL="803910" lvl="1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1995" dirty="0"/>
              <a:t>一种 XML 文件，描述了</a:t>
            </a:r>
            <a:r>
              <a:rPr lang="en-US" altLang="zh-CN" sz="1995" dirty="0"/>
              <a:t>DASH</a:t>
            </a:r>
            <a:r>
              <a:rPr lang="zh-CN" altLang="en-US" sz="1995" dirty="0"/>
              <a:t>流媒体中视频</a:t>
            </a:r>
            <a:r>
              <a:rPr lang="en-US" altLang="zh-CN" sz="1995" dirty="0"/>
              <a:t>/</a:t>
            </a:r>
            <a:r>
              <a:rPr lang="zh-CN" altLang="en-US" sz="1995" dirty="0"/>
              <a:t>音频文件信息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02787" y="3026498"/>
            <a:ext cx="99692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MPD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0650" y="3342329"/>
            <a:ext cx="108293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Period,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id=0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start=0s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28800" y="3362060"/>
            <a:ext cx="1565275" cy="17479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体表示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28800" y="3359654"/>
            <a:ext cx="15652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Period, id=1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start=50s 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910564" y="3894289"/>
            <a:ext cx="141160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Adaptation Set 0</a:t>
            </a:r>
          </a:p>
          <a:p>
            <a:pPr algn="ctr"/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（视频）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910565" y="4504072"/>
            <a:ext cx="141160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Adaptation Set 1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（音频）</a:t>
            </a:r>
          </a:p>
        </p:txBody>
      </p:sp>
      <p:cxnSp>
        <p:nvCxnSpPr>
          <p:cNvPr id="22" name="直接连接符 21"/>
          <p:cNvCxnSpPr/>
          <p:nvPr/>
        </p:nvCxnSpPr>
        <p:spPr>
          <a:xfrm flipH="1" flipV="1">
            <a:off x="5127734" y="4214544"/>
            <a:ext cx="305144" cy="752747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1537865" y="3359654"/>
            <a:ext cx="299157" cy="607346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5422970" y="3132362"/>
            <a:ext cx="1528228" cy="1834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体表示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452690" y="3207682"/>
            <a:ext cx="1477256" cy="6771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Representation 1</a:t>
            </a:r>
          </a:p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速率：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1Mbps</a:t>
            </a:r>
          </a:p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分辨率：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640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480</a:t>
            </a:r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516043" y="3927631"/>
            <a:ext cx="135199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Segment Info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Duration=2s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Template: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./3/$number$,mp4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195344" y="3352218"/>
            <a:ext cx="1639095" cy="22374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体表示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83391" y="3707017"/>
            <a:ext cx="1471231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初始段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http://www.a.com/3/0.mp4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283391" y="4522804"/>
            <a:ext cx="1471231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媒体段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start=0s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http://www.a.com /3/1.mp4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631564" y="5215983"/>
            <a:ext cx="86473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207965" y="3383019"/>
            <a:ext cx="161218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Segment Info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5081264" y="3120824"/>
            <a:ext cx="366776" cy="613941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3351292" y="2971395"/>
            <a:ext cx="276666" cy="932464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 flipV="1">
            <a:off x="3322170" y="4428058"/>
            <a:ext cx="315048" cy="1005014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 flipV="1">
            <a:off x="1537866" y="4486747"/>
            <a:ext cx="289534" cy="623257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68328" y="3952549"/>
            <a:ext cx="108551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Period,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id=1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start=50s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70541" y="4562769"/>
            <a:ext cx="108551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Period,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id=2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start=100s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68216" y="5171462"/>
            <a:ext cx="108551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Period,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id=3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start=150s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638619" y="2956744"/>
            <a:ext cx="1565275" cy="24851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体表示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638619" y="2954339"/>
            <a:ext cx="1565275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Adaptation Set 0</a:t>
            </a:r>
          </a:p>
          <a:p>
            <a:pPr algn="ctr"/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baseURL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</a:p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http://www.a.com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720383" y="3708064"/>
            <a:ext cx="1411606" cy="4924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Representation 1</a:t>
            </a:r>
          </a:p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速率：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1Mbps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3720383" y="4286639"/>
            <a:ext cx="1411606" cy="4924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Representation 2</a:t>
            </a:r>
          </a:p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速率：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2Mbps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720383" y="4865940"/>
            <a:ext cx="1411606" cy="4924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Representation 3</a:t>
            </a:r>
          </a:p>
          <a:p>
            <a:pPr algn="ctr"/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速率：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3Mbps</a:t>
            </a:r>
          </a:p>
        </p:txBody>
      </p:sp>
      <p:cxnSp>
        <p:nvCxnSpPr>
          <p:cNvPr id="56" name="直接连接符 55"/>
          <p:cNvCxnSpPr/>
          <p:nvPr/>
        </p:nvCxnSpPr>
        <p:spPr>
          <a:xfrm flipH="1" flipV="1">
            <a:off x="6871526" y="4865780"/>
            <a:ext cx="298748" cy="723865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6844622" y="3359654"/>
            <a:ext cx="358952" cy="567978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09600"/>
            <a:ext cx="8496300" cy="80327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DASH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基本原理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en-US" altLang="zh-CN" sz="29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2.8 </a:t>
            </a:r>
            <a:r>
              <a:rPr lang="zh-CN" altLang="en-US" sz="29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动态自适应流媒体协议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323850" y="1360494"/>
            <a:ext cx="8401050" cy="46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 marL="358140" indent="-358140">
              <a:lnSpc>
                <a:spcPts val="32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395" dirty="0"/>
              <a:t>自适应码率（</a:t>
            </a:r>
            <a:r>
              <a:rPr lang="en-US" altLang="zh-CN" sz="2395" dirty="0"/>
              <a:t>Adaptive bitrate</a:t>
            </a:r>
            <a:r>
              <a:rPr lang="zh-CN" altLang="en-US" sz="2395" dirty="0"/>
              <a:t>，</a:t>
            </a:r>
            <a:r>
              <a:rPr lang="en-US" altLang="zh-CN" sz="2395" dirty="0"/>
              <a:t>ABR</a:t>
            </a:r>
            <a:r>
              <a:rPr lang="zh-CN" altLang="en-US" sz="2395" dirty="0"/>
              <a:t>）规则</a:t>
            </a:r>
            <a:endParaRPr lang="en-US" altLang="zh-CN" sz="2395" dirty="0"/>
          </a:p>
        </p:txBody>
      </p:sp>
      <p:sp>
        <p:nvSpPr>
          <p:cNvPr id="6" name="文本框 5"/>
          <p:cNvSpPr txBox="1"/>
          <p:nvPr/>
        </p:nvSpPr>
        <p:spPr>
          <a:xfrm>
            <a:off x="5617469" y="742913"/>
            <a:ext cx="336586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l" latinLnBrk="1"/>
            <a:r>
              <a:rPr lang="zh-CN" altLang="en-US" i="0" dirty="0">
                <a:solidFill>
                  <a:srgbClr val="222226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典型的</a:t>
            </a:r>
            <a:r>
              <a:rPr lang="en-US" altLang="zh-CN" i="0" dirty="0">
                <a:solidFill>
                  <a:srgbClr val="222226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DASH</a:t>
            </a:r>
            <a:r>
              <a:rPr lang="zh-CN" altLang="en-US" i="0" dirty="0">
                <a:solidFill>
                  <a:srgbClr val="222226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开源播放器</a:t>
            </a:r>
            <a:r>
              <a:rPr lang="en-US" altLang="zh-CN" i="0" dirty="0">
                <a:solidFill>
                  <a:srgbClr val="222226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dash.js</a:t>
            </a:r>
          </a:p>
        </p:txBody>
      </p:sp>
      <p:sp>
        <p:nvSpPr>
          <p:cNvPr id="3" name="左大括号 2"/>
          <p:cNvSpPr/>
          <p:nvPr/>
        </p:nvSpPr>
        <p:spPr>
          <a:xfrm>
            <a:off x="1924004" y="3295194"/>
            <a:ext cx="331427" cy="1487116"/>
          </a:xfrm>
          <a:prstGeom prst="leftBrace">
            <a:avLst>
              <a:gd name="adj1" fmla="val 8333"/>
              <a:gd name="adj2" fmla="val 5079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21089" y="4561330"/>
            <a:ext cx="3936471" cy="4413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放弃请求规则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(Abandon Requests Rule)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05439" y="3595637"/>
            <a:ext cx="1218565" cy="920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ABR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规则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891586" y="2761561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基于吞吐量的算法</a:t>
            </a:r>
          </a:p>
        </p:txBody>
      </p:sp>
      <p:sp>
        <p:nvSpPr>
          <p:cNvPr id="24" name="矩形 23"/>
          <p:cNvSpPr/>
          <p:nvPr/>
        </p:nvSpPr>
        <p:spPr>
          <a:xfrm>
            <a:off x="4915900" y="3410971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基于缓冲的算法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左大括号 27"/>
          <p:cNvSpPr/>
          <p:nvPr/>
        </p:nvSpPr>
        <p:spPr>
          <a:xfrm>
            <a:off x="4643855" y="2949975"/>
            <a:ext cx="331427" cy="650733"/>
          </a:xfrm>
          <a:prstGeom prst="leftBrace">
            <a:avLst>
              <a:gd name="adj1" fmla="val 8333"/>
              <a:gd name="adj2" fmla="val 5079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255431" y="5190639"/>
            <a:ext cx="551266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 algn="just"/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在下载视频块的过程中，如果算法检测到下载该视频块的过程出现过卡顿，则终止当前请求，转而重新下载相应的低码率视频块</a:t>
            </a:r>
          </a:p>
        </p:txBody>
      </p:sp>
      <p:sp>
        <p:nvSpPr>
          <p:cNvPr id="12" name="矩形 11"/>
          <p:cNvSpPr/>
          <p:nvPr/>
        </p:nvSpPr>
        <p:spPr>
          <a:xfrm>
            <a:off x="2221089" y="3074849"/>
            <a:ext cx="2463981" cy="4406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个主要码率切换规则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4722148" y="2155536"/>
            <a:ext cx="3305891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例如：使用滑动窗口平均估计未来吞吐量，选择不高于估计值的最大码率视频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4766394" y="3850126"/>
            <a:ext cx="3261645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例如：使用缓冲区满的级别来决定下一个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segment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的请求码率</a:t>
            </a:r>
          </a:p>
        </p:txBody>
      </p:sp>
      <p:sp>
        <p:nvSpPr>
          <p:cNvPr id="2" name="矩形 1"/>
          <p:cNvSpPr/>
          <p:nvPr/>
        </p:nvSpPr>
        <p:spPr>
          <a:xfrm>
            <a:off x="2504189" y="6065994"/>
            <a:ext cx="4040372" cy="364811"/>
          </a:xfrm>
          <a:prstGeom prst="rect">
            <a:avLst/>
          </a:prstGeom>
          <a:solidFill>
            <a:srgbClr val="F0EBDA"/>
          </a:solidFill>
          <a:ln w="6350">
            <a:solidFill>
              <a:srgbClr val="FFFF00"/>
            </a:solidFill>
            <a:miter lim="800000"/>
          </a:ln>
        </p:spPr>
        <p:txBody>
          <a:bodyPr wrap="square" lIns="91408" tIns="45704" rIns="91408" bIns="45704">
            <a:spAutoFit/>
          </a:bodyPr>
          <a:lstStyle/>
          <a:p>
            <a:pPr algn="ctr">
              <a:lnSpc>
                <a:spcPts val="23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扩展：考虑多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DASH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服务器同时传输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1"/>
          <p:cNvSpPr txBox="1"/>
          <p:nvPr/>
        </p:nvSpPr>
        <p:spPr>
          <a:xfrm>
            <a:off x="661676" y="32661"/>
            <a:ext cx="7817162" cy="51299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985520" algn="l"/>
              </a:tabLst>
            </a:pPr>
            <a:r>
              <a:rPr lang="zh-CN" alt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  结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482803" y="1080275"/>
            <a:ext cx="8203997" cy="4815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>
            <a:spAutoFit/>
          </a:bodyPr>
          <a:lstStyle>
            <a:lvl1pPr marL="365125" indent="-365125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3"/>
              </a:buBlip>
              <a:tabLst>
                <a:tab pos="715645" algn="l"/>
              </a:tabLst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811530" indent="-2667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Blip>
                <a:blip r:embed="rId4"/>
              </a:buBlip>
              <a:tabLst>
                <a:tab pos="715645" algn="l"/>
              </a:tabLs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–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715645" algn="l"/>
              </a:tabLst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34" charset="-127"/>
                <a:cs typeface="+mn-cs"/>
              </a:defRPr>
            </a:lvl9pPr>
          </a:lstStyle>
          <a:p>
            <a:pPr>
              <a:lnSpc>
                <a:spcPts val="3600"/>
              </a:lnSpc>
              <a:spcBef>
                <a:spcPts val="600"/>
              </a:spcBef>
              <a:buClr>
                <a:schemeClr val="tx1"/>
              </a:buClr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应用协议与进程通信模型</a:t>
            </a:r>
          </a:p>
          <a:p>
            <a:pPr>
              <a:lnSpc>
                <a:spcPts val="3600"/>
              </a:lnSpc>
              <a:spcBef>
                <a:spcPts val="600"/>
              </a:spcBef>
              <a:buClr>
                <a:schemeClr val="tx1"/>
              </a:buClr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传输层服务对应用的支持</a:t>
            </a:r>
          </a:p>
          <a:p>
            <a:pPr>
              <a:lnSpc>
                <a:spcPts val="3600"/>
              </a:lnSpc>
              <a:spcBef>
                <a:spcPts val="600"/>
              </a:spcBef>
              <a:buClr>
                <a:schemeClr val="tx1"/>
              </a:buClr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Socket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3600"/>
              </a:lnSpc>
              <a:spcBef>
                <a:spcPts val="600"/>
              </a:spcBef>
              <a:buClr>
                <a:schemeClr val="tx1"/>
              </a:buClr>
            </a:pPr>
            <a:r>
              <a:rPr lang="zh-CN" altLang="en-US" sz="2400" dirty="0"/>
              <a:t>域名系统</a:t>
            </a:r>
            <a:r>
              <a:rPr lang="en-US" altLang="zh-CN" sz="2400" dirty="0"/>
              <a:t>DNS</a:t>
            </a:r>
          </a:p>
          <a:p>
            <a:pPr>
              <a:lnSpc>
                <a:spcPts val="3600"/>
              </a:lnSpc>
              <a:spcBef>
                <a:spcPts val="600"/>
              </a:spcBef>
              <a:buClr>
                <a:schemeClr val="tx1"/>
              </a:buClr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电子邮件服务与协议</a:t>
            </a:r>
            <a:endParaRPr lang="en-US" altLang="zh-CN" sz="2400" dirty="0"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ts val="3600"/>
              </a:lnSpc>
              <a:spcBef>
                <a:spcPts val="600"/>
              </a:spcBef>
              <a:buClr>
                <a:schemeClr val="tx1"/>
              </a:buClr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文件传输服务与协议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58140" indent="-358140">
              <a:lnSpc>
                <a:spcPts val="3600"/>
              </a:lnSpc>
              <a:spcBef>
                <a:spcPts val="600"/>
              </a:spcBef>
              <a:buClr>
                <a:srgbClr val="C00000"/>
              </a:buClr>
            </a:pPr>
            <a:r>
              <a:rPr lang="en-US" altLang="zh-CN" sz="2395" dirty="0"/>
              <a:t>Web</a:t>
            </a:r>
            <a:r>
              <a:rPr lang="zh-CN" altLang="en-US" sz="2395" dirty="0"/>
              <a:t>服务与</a:t>
            </a:r>
            <a:r>
              <a:rPr lang="en-US" altLang="zh-CN" sz="2395" dirty="0"/>
              <a:t>HTTP</a:t>
            </a:r>
            <a:r>
              <a:rPr lang="zh-CN" altLang="en-US" sz="2395" dirty="0"/>
              <a:t>协议</a:t>
            </a:r>
            <a:endParaRPr lang="en-US" altLang="zh-CN" sz="2395" dirty="0"/>
          </a:p>
          <a:p>
            <a:pPr marL="358140" indent="-358140">
              <a:lnSpc>
                <a:spcPts val="36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395" dirty="0"/>
              <a:t>内容分发网络</a:t>
            </a:r>
            <a:r>
              <a:rPr lang="en-US" altLang="zh-CN" sz="2395" dirty="0"/>
              <a:t>CDN</a:t>
            </a:r>
          </a:p>
          <a:p>
            <a:pPr marL="358140" indent="-358140">
              <a:lnSpc>
                <a:spcPts val="3600"/>
              </a:lnSpc>
              <a:spcBef>
                <a:spcPts val="600"/>
              </a:spcBef>
              <a:buClr>
                <a:srgbClr val="C00000"/>
              </a:buClr>
            </a:pPr>
            <a:r>
              <a:rPr lang="zh-CN" altLang="en-US" sz="2395" dirty="0"/>
              <a:t>动态自适应流媒体协议</a:t>
            </a:r>
            <a:r>
              <a:rPr lang="en-US" altLang="zh-CN" sz="2395" dirty="0"/>
              <a:t>DASH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标题 2"/>
          <p:cNvSpPr txBox="1"/>
          <p:nvPr/>
        </p:nvSpPr>
        <p:spPr>
          <a:xfrm>
            <a:off x="1222860" y="3954483"/>
            <a:ext cx="6709028" cy="10800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吴英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wuying@nankai.edu.cn </a:t>
            </a:r>
          </a:p>
          <a:p>
            <a:endParaRPr lang="en-US" altLang="zh-CN" dirty="0">
              <a:solidFill>
                <a:schemeClr val="accent5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标题 1"/>
          <p:cNvSpPr txBox="1"/>
          <p:nvPr/>
        </p:nvSpPr>
        <p:spPr>
          <a:xfrm rot="10800000" flipH="1" flipV="1">
            <a:off x="1056736" y="1317523"/>
            <a:ext cx="7030527" cy="22909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38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CN" sz="66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Thank You!</a:t>
            </a:r>
            <a:endParaRPr lang="en-US" altLang="zh-CN" sz="4800" b="1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13457</Words>
  <Application>Microsoft Office PowerPoint</Application>
  <PresentationFormat>全屏显示(4:3)</PresentationFormat>
  <Paragraphs>1955</Paragraphs>
  <Slides>121</Slides>
  <Notes>66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121</vt:i4>
      </vt:variant>
    </vt:vector>
  </HeadingPairs>
  <TitlesOfParts>
    <vt:vector size="144" baseType="lpstr">
      <vt:lpstr>ZapfDingbats</vt:lpstr>
      <vt:lpstr>等线</vt:lpstr>
      <vt:lpstr>等线 Light</vt:lpstr>
      <vt:lpstr>黑体</vt:lpstr>
      <vt:lpstr>楷体</vt:lpstr>
      <vt:lpstr>宋体</vt:lpstr>
      <vt:lpstr>微软雅黑</vt:lpstr>
      <vt:lpstr>Arial</vt:lpstr>
      <vt:lpstr>Calibri</vt:lpstr>
      <vt:lpstr>Calibri Light</vt:lpstr>
      <vt:lpstr>Comic Sans MS</vt:lpstr>
      <vt:lpstr>Courier New</vt:lpstr>
      <vt:lpstr>Gill Sans MT</vt:lpstr>
      <vt:lpstr>Symbol</vt:lpstr>
      <vt:lpstr>Tahoma</vt:lpstr>
      <vt:lpstr>Times New Roman</vt:lpstr>
      <vt:lpstr>Verdana</vt:lpstr>
      <vt:lpstr>Wingdings</vt:lpstr>
      <vt:lpstr>Office 主题​​</vt:lpstr>
      <vt:lpstr>ClipArt</vt:lpstr>
      <vt:lpstr>Clip</vt:lpstr>
      <vt:lpstr>Visio</vt:lpstr>
      <vt:lpstr>VISIO</vt:lpstr>
      <vt:lpstr>PowerPoint 演示文稿</vt:lpstr>
      <vt:lpstr>PowerPoint 演示文稿</vt:lpstr>
      <vt:lpstr>PowerPoint 演示文稿</vt:lpstr>
      <vt:lpstr>回顾: TCP/IP体系结构</vt:lpstr>
      <vt:lpstr>应用与应用层协议</vt:lpstr>
      <vt:lpstr>进程间通信</vt:lpstr>
      <vt:lpstr>客户/服务器进程交互模型</vt:lpstr>
      <vt:lpstr>纯P2P进程交互模型</vt:lpstr>
      <vt:lpstr>客户/服务器与P2P的混合</vt:lpstr>
      <vt:lpstr>进程的地址标识</vt:lpstr>
      <vt:lpstr>进程的地址标识（续）</vt:lpstr>
      <vt:lpstr>应用层协议定义的内容</vt:lpstr>
      <vt:lpstr>应用需要怎么的传输层服务？</vt:lpstr>
      <vt:lpstr>常用应用对传输层的要求</vt:lpstr>
      <vt:lpstr>互联网传输层提供的服务</vt:lpstr>
      <vt:lpstr>互联网应用：常用应用使用的传输层服务</vt:lpstr>
      <vt:lpstr>2.3 Socket编程</vt:lpstr>
      <vt:lpstr>套接字sockets</vt:lpstr>
      <vt:lpstr>套接字sockets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WSAStartup</vt:lpstr>
      <vt:lpstr>WSAStartup</vt:lpstr>
      <vt:lpstr>WSACleanup</vt:lpstr>
      <vt:lpstr>socket</vt:lpstr>
      <vt:lpstr>bind</vt:lpstr>
      <vt:lpstr>listen</vt:lpstr>
      <vt:lpstr>connect</vt:lpstr>
      <vt:lpstr>accept</vt:lpstr>
      <vt:lpstr>sendto</vt:lpstr>
      <vt:lpstr>recvfrom</vt:lpstr>
      <vt:lpstr>send</vt:lpstr>
      <vt:lpstr>recv</vt:lpstr>
      <vt:lpstr>closesocket</vt:lpstr>
      <vt:lpstr>SOCKADDR 结构</vt:lpstr>
      <vt:lpstr>in_addr 结构</vt:lpstr>
      <vt:lpstr>Big-Endian和Little-Endian</vt:lpstr>
      <vt:lpstr>Big-Endian和Little-Endian</vt:lpstr>
      <vt:lpstr>CreateThread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Wireshark</vt:lpstr>
      <vt:lpstr>域名系统概述</vt:lpstr>
      <vt:lpstr>域名系统概述（续）</vt:lpstr>
      <vt:lpstr>DNS域名体系</vt:lpstr>
      <vt:lpstr>DNS域名体系（续）</vt:lpstr>
      <vt:lpstr>DNS域名体系（续）</vt:lpstr>
      <vt:lpstr>DNS域名解析</vt:lpstr>
      <vt:lpstr>DNS服务器组织</vt:lpstr>
      <vt:lpstr>DNS服务器组织</vt:lpstr>
      <vt:lpstr>DNS服务器组织</vt:lpstr>
      <vt:lpstr>DNS域名解析示例</vt:lpstr>
      <vt:lpstr>DNS域名解析示例（续）</vt:lpstr>
      <vt:lpstr>DNS域名服务器缓存</vt:lpstr>
      <vt:lpstr>DNS域名服务器缓存（续）</vt:lpstr>
      <vt:lpstr>主机缓存</vt:lpstr>
      <vt:lpstr>DNS资源记录</vt:lpstr>
      <vt:lpstr>DNS资源记录（续）</vt:lpstr>
      <vt:lpstr>DNS资源记录：示例</vt:lpstr>
      <vt:lpstr>DNS报文格式</vt:lpstr>
      <vt:lpstr>DNS报文格式（续）</vt:lpstr>
      <vt:lpstr>DNS报文格式（续）</vt:lpstr>
      <vt:lpstr>DNS报文格式（续）</vt:lpstr>
      <vt:lpstr>域名格式压缩</vt:lpstr>
      <vt:lpstr>域名格式压缩：示例</vt:lpstr>
      <vt:lpstr>报文格式：示例</vt:lpstr>
      <vt:lpstr>报文格式：示例</vt:lpstr>
      <vt:lpstr>PowerPoint 演示文稿</vt:lpstr>
      <vt:lpstr>电子邮件系统</vt:lpstr>
      <vt:lpstr>客户/服务器模型（SMTP/POP/IMAP）</vt:lpstr>
      <vt:lpstr>客户/服务器模型（SMTP/HTTP）</vt:lpstr>
      <vt:lpstr>SMTP: 简单邮件传输协议</vt:lpstr>
      <vt:lpstr>FTP: 文件传输协议 (RFC 959) </vt:lpstr>
      <vt:lpstr>FTP进程模型</vt:lpstr>
      <vt:lpstr>FTP进程模型（续）</vt:lpstr>
      <vt:lpstr>PowerPoint 演示文稿</vt:lpstr>
      <vt:lpstr>PowerPoint 演示文稿</vt:lpstr>
      <vt:lpstr>HTTP协议</vt:lpstr>
      <vt:lpstr>HTTP/1.0示例</vt:lpstr>
      <vt:lpstr>非持久连接和持久连接</vt:lpstr>
      <vt:lpstr>HTTP/1.0与HTTP/1.1比较</vt:lpstr>
      <vt:lpstr>HTTP报文类型</vt:lpstr>
      <vt:lpstr>HTTP报文类型</vt:lpstr>
      <vt:lpstr>HTTP报文类型</vt:lpstr>
      <vt:lpstr>PowerPoint 演示文稿</vt:lpstr>
      <vt:lpstr>用户-服务器交互：认证</vt:lpstr>
      <vt:lpstr>用户-服务器状态：Cookies</vt:lpstr>
      <vt:lpstr>Web缓存机制：客户端缓存</vt:lpstr>
      <vt:lpstr>Web缓存机制：代理服务器缓存</vt:lpstr>
      <vt:lpstr>HTTP发展现状</vt:lpstr>
      <vt:lpstr>PowerPoint 演示文稿</vt:lpstr>
      <vt:lpstr>HTTP 1.1存在的问题</vt:lpstr>
      <vt:lpstr>HTTP 2.0协议基本原理</vt:lpstr>
      <vt:lpstr>HTTP 2.0协议基本原理（续）</vt:lpstr>
      <vt:lpstr>HTTP 2.0协议基本原理（续）</vt:lpstr>
      <vt:lpstr>HTTP 2.0协议基本原理（续）</vt:lpstr>
      <vt:lpstr>HTTP 2.0协议基本原理（续）</vt:lpstr>
      <vt:lpstr>HTTP 2.0协议基本原理（续）</vt:lpstr>
      <vt:lpstr>HTTP 2.0协议基本原理（续）</vt:lpstr>
      <vt:lpstr>HTTP 2.0协议基本原理（续）</vt:lpstr>
      <vt:lpstr>互联网IP流量发展趋势</vt:lpstr>
      <vt:lpstr>内容分发网络概述</vt:lpstr>
      <vt:lpstr>内容分发网络概述（续）</vt:lpstr>
      <vt:lpstr>CDN基本原理</vt:lpstr>
      <vt:lpstr>CDN基本原理</vt:lpstr>
      <vt:lpstr>CDN基本原理</vt:lpstr>
      <vt:lpstr>DASH概述</vt:lpstr>
      <vt:lpstr>DASH概述</vt:lpstr>
      <vt:lpstr>DASH基本原理</vt:lpstr>
      <vt:lpstr>DASH基本原理（续）</vt:lpstr>
      <vt:lpstr>DASH基本原理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</dc:creator>
  <cp:lastModifiedBy>吴英</cp:lastModifiedBy>
  <cp:revision>718</cp:revision>
  <dcterms:created xsi:type="dcterms:W3CDTF">2019-06-10T02:39:00Z</dcterms:created>
  <dcterms:modified xsi:type="dcterms:W3CDTF">2025-10-10T07:19:19Z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D82801A47B4C4E81AD7207F82CE8D39D_12</vt:lpwstr>
  </property>
  <property fmtid="{D5CDD505-2E9C-101B-9397-08002B2CF9AE}" pid="3" name="KSOProductBuildVer">
    <vt:lpwstr>2052-12.1.0.22529</vt:lpwstr>
  </property>
</Properties>
</file>