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6" r:id="rId2"/>
    <p:sldId id="1250" r:id="rId3"/>
    <p:sldId id="959" r:id="rId4"/>
    <p:sldId id="284" r:id="rId5"/>
    <p:sldId id="1200" r:id="rId6"/>
    <p:sldId id="1201" r:id="rId7"/>
    <p:sldId id="1203" r:id="rId8"/>
    <p:sldId id="287" r:id="rId9"/>
    <p:sldId id="286" r:id="rId10"/>
    <p:sldId id="289" r:id="rId11"/>
    <p:sldId id="1102" r:id="rId12"/>
    <p:sldId id="288" r:id="rId13"/>
    <p:sldId id="1101" r:id="rId14"/>
    <p:sldId id="290" r:id="rId15"/>
    <p:sldId id="1100" r:id="rId16"/>
    <p:sldId id="1772" r:id="rId17"/>
    <p:sldId id="292" r:id="rId18"/>
    <p:sldId id="293" r:id="rId19"/>
    <p:sldId id="294" r:id="rId20"/>
    <p:sldId id="296" r:id="rId21"/>
    <p:sldId id="1094" r:id="rId22"/>
    <p:sldId id="1098" r:id="rId23"/>
    <p:sldId id="958" r:id="rId24"/>
    <p:sldId id="1096" r:id="rId25"/>
    <p:sldId id="1093" r:id="rId26"/>
    <p:sldId id="324" r:id="rId27"/>
    <p:sldId id="1148" r:id="rId28"/>
    <p:sldId id="1149" r:id="rId29"/>
    <p:sldId id="1157" r:id="rId30"/>
    <p:sldId id="1151" r:id="rId31"/>
    <p:sldId id="1158" r:id="rId32"/>
    <p:sldId id="1159" r:id="rId33"/>
    <p:sldId id="1161" r:id="rId34"/>
    <p:sldId id="1163" r:id="rId35"/>
    <p:sldId id="1165" r:id="rId36"/>
    <p:sldId id="1122" r:id="rId37"/>
    <p:sldId id="1167" r:id="rId38"/>
    <p:sldId id="1168" r:id="rId39"/>
    <p:sldId id="1171" r:id="rId40"/>
    <p:sldId id="1173" r:id="rId41"/>
    <p:sldId id="1172" r:id="rId42"/>
    <p:sldId id="1129" r:id="rId43"/>
    <p:sldId id="1175" r:id="rId44"/>
    <p:sldId id="1174" r:id="rId45"/>
    <p:sldId id="1176" r:id="rId46"/>
    <p:sldId id="1246" r:id="rId47"/>
    <p:sldId id="1247" r:id="rId48"/>
    <p:sldId id="1248" r:id="rId49"/>
    <p:sldId id="1205" r:id="rId50"/>
    <p:sldId id="1178" r:id="rId51"/>
    <p:sldId id="1179" r:id="rId52"/>
    <p:sldId id="1180" r:id="rId53"/>
    <p:sldId id="1181" r:id="rId54"/>
    <p:sldId id="1184" r:id="rId55"/>
    <p:sldId id="1182" r:id="rId56"/>
    <p:sldId id="1183" r:id="rId57"/>
    <p:sldId id="1137" r:id="rId58"/>
    <p:sldId id="1177" r:id="rId59"/>
    <p:sldId id="1136" r:id="rId60"/>
    <p:sldId id="1134" r:id="rId61"/>
    <p:sldId id="355" r:id="rId62"/>
    <p:sldId id="1185" r:id="rId63"/>
    <p:sldId id="1073" r:id="rId64"/>
    <p:sldId id="1074" r:id="rId65"/>
    <p:sldId id="1186" r:id="rId66"/>
    <p:sldId id="1187" r:id="rId67"/>
    <p:sldId id="1189" r:id="rId68"/>
    <p:sldId id="1190" r:id="rId69"/>
    <p:sldId id="1191" r:id="rId70"/>
    <p:sldId id="1193" r:id="rId71"/>
    <p:sldId id="1194" r:id="rId72"/>
    <p:sldId id="1195" r:id="rId73"/>
    <p:sldId id="1196" r:id="rId74"/>
    <p:sldId id="1144" r:id="rId75"/>
    <p:sldId id="1765" r:id="rId76"/>
    <p:sldId id="1770" r:id="rId77"/>
  </p:sldIdLst>
  <p:sldSz cx="9144000" cy="6858000" type="screen4x3"/>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EF8"/>
    <a:srgbClr val="F2F8EE"/>
    <a:srgbClr val="CCECFF"/>
    <a:srgbClr val="2A09B7"/>
    <a:srgbClr val="B10FB1"/>
    <a:srgbClr val="7E0C6E"/>
    <a:srgbClr val="DFD1E1"/>
    <a:srgbClr val="CBB5CF"/>
    <a:srgbClr val="49702E"/>
    <a:srgbClr val="7F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59" autoAdjust="0"/>
    <p:restoredTop sz="91458" autoAdjust="0"/>
  </p:normalViewPr>
  <p:slideViewPr>
    <p:cSldViewPr snapToGrid="0">
      <p:cViewPr varScale="1">
        <p:scale>
          <a:sx n="83" d="100"/>
          <a:sy n="83" d="100"/>
        </p:scale>
        <p:origin x="120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zh-CN" altLang="en-US"/>
          </a:p>
        </p:txBody>
      </p:sp>
      <p:sp>
        <p:nvSpPr>
          <p:cNvPr id="3" name="日期占位符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F2106BB4-2C65-4E2B-839D-4CED5A4305D5}" type="datetimeFigureOut">
              <a:rPr lang="zh-CN" altLang="en-US" smtClean="0"/>
              <a:t>2025/9/16</a:t>
            </a:fld>
            <a:endParaRPr lang="zh-CN" altLang="en-US"/>
          </a:p>
        </p:txBody>
      </p:sp>
      <p:sp>
        <p:nvSpPr>
          <p:cNvPr id="4" name="幻灯片图像占位符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9075" tIns="49538" rIns="99075" bIns="49538"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1075FF09-559A-413E-B23E-0DFCD03CDBD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sym typeface="Wingdings" panose="05000000000000000000" pitchFamily="2" charset="2"/>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sym typeface="Wingdings" panose="05000000000000000000" pitchFamily="2" charset="2"/>
            </a:endParaRPr>
          </a:p>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sym typeface="Wingdings" panose="05000000000000000000" pitchFamily="2" charset="2"/>
            </a:endParaRPr>
          </a:p>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90600" rtl="0" eaLnBrk="1" fontAlgn="auto" latinLnBrk="0" hangingPunct="1">
              <a:lnSpc>
                <a:spcPct val="100000"/>
              </a:lnSpc>
              <a:spcBef>
                <a:spcPts val="0"/>
              </a:spcBef>
              <a:spcAft>
                <a:spcPts val="0"/>
              </a:spcAft>
              <a:buClrTx/>
              <a:buSzTx/>
              <a:buFontTx/>
              <a:buNone/>
              <a:defRPr/>
            </a:pPr>
            <a:r>
              <a:rPr lang="zh-CN" altLang="en-US" sz="1200" b="1" dirty="0"/>
              <a:t>温顿·瑟夫</a:t>
            </a:r>
            <a:endParaRPr lang="en-US" altLang="zh-CN" sz="1200" b="1" dirty="0"/>
          </a:p>
          <a:p>
            <a:pPr defTabSz="990600">
              <a:defRPr/>
            </a:pPr>
            <a:r>
              <a:rPr lang="zh-CN" altLang="en-US" sz="1200" b="0" i="0" kern="1200" dirty="0">
                <a:solidFill>
                  <a:schemeClr val="tx1"/>
                </a:solidFill>
                <a:effectLst/>
                <a:latin typeface="+mn-lt"/>
                <a:ea typeface="+mn-ea"/>
                <a:cs typeface="+mn-cs"/>
              </a:rPr>
              <a:t>现为</a:t>
            </a:r>
            <a:r>
              <a:rPr lang="en-US" altLang="zh-CN" sz="1200" b="0" i="0" kern="1200" dirty="0">
                <a:solidFill>
                  <a:schemeClr val="tx1"/>
                </a:solidFill>
                <a:effectLst/>
                <a:latin typeface="+mn-lt"/>
                <a:ea typeface="+mn-ea"/>
                <a:cs typeface="+mn-cs"/>
              </a:rPr>
              <a:t>Google</a:t>
            </a:r>
            <a:r>
              <a:rPr lang="zh-CN" altLang="en-US" sz="1200" b="0" i="0" kern="1200" dirty="0">
                <a:solidFill>
                  <a:schemeClr val="tx1"/>
                </a:solidFill>
                <a:effectLst/>
                <a:latin typeface="+mn-lt"/>
                <a:ea typeface="+mn-ea"/>
                <a:cs typeface="+mn-cs"/>
              </a:rPr>
              <a:t>副总裁兼首席互联网顾问，</a:t>
            </a:r>
            <a:r>
              <a:rPr lang="en-US" altLang="zh-CN" sz="1200" b="0" i="0" kern="1200" dirty="0">
                <a:solidFill>
                  <a:schemeClr val="tx1"/>
                </a:solidFill>
                <a:effectLst/>
                <a:latin typeface="+mn-lt"/>
                <a:ea typeface="+mn-ea"/>
                <a:cs typeface="+mn-cs"/>
              </a:rPr>
              <a:t>2004</a:t>
            </a:r>
            <a:r>
              <a:rPr lang="zh-CN" altLang="en-US" sz="1200" b="0" i="0" kern="1200" dirty="0">
                <a:solidFill>
                  <a:schemeClr val="tx1"/>
                </a:solidFill>
                <a:effectLst/>
                <a:latin typeface="+mn-lt"/>
                <a:ea typeface="+mn-ea"/>
                <a:cs typeface="+mn-cs"/>
              </a:rPr>
              <a:t>年图灵奖获得者。</a:t>
            </a: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r>
              <a:rPr lang="zh-CN" altLang="en-US" sz="1300" dirty="0">
                <a:sym typeface="Wingdings" panose="05000000000000000000" pitchFamily="2" charset="2"/>
              </a:rPr>
              <a:t>互联网采取的是近似层次结构，并不是自治域的网状结构</a:t>
            </a:r>
            <a:endParaRPr lang="en-US" altLang="zh-CN" sz="1300" dirty="0">
              <a:sym typeface="Wingdings" panose="05000000000000000000" pitchFamily="2" charset="2"/>
            </a:endParaRPr>
          </a:p>
          <a:p>
            <a:pPr defTabSz="990600">
              <a:defRPr/>
            </a:pPr>
            <a:endParaRPr lang="en-US" altLang="zh-CN" sz="1300" dirty="0">
              <a:sym typeface="Wingdings" panose="05000000000000000000" pitchFamily="2" charset="2"/>
            </a:endParaRPr>
          </a:p>
          <a:p>
            <a:pPr defTabSz="990600">
              <a:defRPr/>
            </a:pPr>
            <a:r>
              <a:rPr lang="zh-CN" altLang="en-US" sz="1300" dirty="0">
                <a:sym typeface="Wingdings" panose="05000000000000000000" pitchFamily="2" charset="2"/>
              </a:rPr>
              <a:t>注：互联网的自治域采用层次结构（主干自治域、区域主干、机构网络等）</a:t>
            </a: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75FF09-559A-413E-B23E-0DFCD03CDBD8}"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b="1" dirty="0">
              <a:sym typeface="Wingdings" panose="05000000000000000000" pitchFamily="2" charset="2"/>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27</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28</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29</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30</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31</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32</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33</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50000"/>
              </a:spcBef>
              <a:buClr>
                <a:schemeClr val="tx1"/>
              </a:buClr>
              <a:buFont typeface="Symbol" panose="05050102010706020507" pitchFamily="18" charset="2"/>
              <a:buNone/>
            </a:pP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34</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50000"/>
              </a:spcBef>
              <a:buClr>
                <a:schemeClr val="tx1"/>
              </a:buClr>
              <a:buFont typeface="Symbol" panose="05050102010706020507" pitchFamily="18" charset="2"/>
              <a:buNone/>
            </a:pP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35</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ts val="3200"/>
              </a:lnSpc>
              <a:spcBef>
                <a:spcPts val="600"/>
              </a:spcBef>
              <a:buClr>
                <a:srgbClr val="000099"/>
              </a:buClr>
              <a:buSzPct val="75000"/>
              <a:buFont typeface="Wingdings" panose="05000000000000000000" pitchFamily="2" charset="2"/>
              <a:buNone/>
              <a:defRPr/>
            </a:pPr>
            <a:endParaRPr kumimoji="0" lang="en-US" altLang="zh-CN" sz="1100" dirty="0">
              <a:latin typeface="+mn-lt"/>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D7BBF54-56B2-420F-89DC-98E7FB908AEC}" type="slidenum">
              <a:rPr lang="en-US" altLang="zh-CN" sz="1400"/>
              <a:t>36</a:t>
            </a:fld>
            <a:endParaRPr lang="en-US" altLang="zh-CN" sz="1400"/>
          </a:p>
        </p:txBody>
      </p:sp>
      <p:sp>
        <p:nvSpPr>
          <p:cNvPr id="53251" name="Rectangle 2"/>
          <p:cNvSpPr>
            <a:spLocks noGrp="1" noRot="1" noChangeAspect="1" noChangeArrowheads="1" noTextEdit="1"/>
          </p:cNvSpPr>
          <p:nvPr>
            <p:ph type="sldImg"/>
          </p:nvPr>
        </p:nvSpPr>
        <p:spPr>
          <a:xfrm>
            <a:off x="814388" y="860425"/>
            <a:ext cx="5724525" cy="4294188"/>
          </a:xfrm>
        </p:spPr>
      </p:sp>
      <p:sp>
        <p:nvSpPr>
          <p:cNvPr id="53252" name="Rectangle 3"/>
          <p:cNvSpPr>
            <a:spLocks noGrp="1" noChangeArrowheads="1"/>
          </p:cNvSpPr>
          <p:nvPr>
            <p:ph type="body" idx="1"/>
          </p:nvPr>
        </p:nvSpPr>
        <p:spPr>
          <a:xfrm>
            <a:off x="978454" y="5440692"/>
            <a:ext cx="5397115" cy="5154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716" tIns="52859" rIns="105716" bIns="52859"/>
          <a:lstStyle/>
          <a:p>
            <a:pPr eaLnBrk="1" hangingPunct="1"/>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D7BBF54-56B2-420F-89DC-98E7FB908AEC}" type="slidenum">
              <a:rPr lang="en-US" altLang="zh-CN" sz="1400"/>
              <a:t>37</a:t>
            </a:fld>
            <a:endParaRPr lang="en-US" altLang="zh-CN" sz="1400"/>
          </a:p>
        </p:txBody>
      </p:sp>
      <p:sp>
        <p:nvSpPr>
          <p:cNvPr id="53251" name="Rectangle 2"/>
          <p:cNvSpPr>
            <a:spLocks noGrp="1" noRot="1" noChangeAspect="1" noChangeArrowheads="1" noTextEdit="1"/>
          </p:cNvSpPr>
          <p:nvPr>
            <p:ph type="sldImg"/>
          </p:nvPr>
        </p:nvSpPr>
        <p:spPr>
          <a:xfrm>
            <a:off x="814388" y="860425"/>
            <a:ext cx="5724525" cy="4294188"/>
          </a:xfrm>
        </p:spPr>
      </p:sp>
      <p:sp>
        <p:nvSpPr>
          <p:cNvPr id="53252" name="Rectangle 3"/>
          <p:cNvSpPr>
            <a:spLocks noGrp="1" noChangeArrowheads="1"/>
          </p:cNvSpPr>
          <p:nvPr>
            <p:ph type="body" idx="1"/>
          </p:nvPr>
        </p:nvSpPr>
        <p:spPr>
          <a:xfrm>
            <a:off x="978454" y="5440692"/>
            <a:ext cx="5397115" cy="5154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716" tIns="52859" rIns="105716" bIns="52859"/>
          <a:lstStyle/>
          <a:p>
            <a:pPr eaLnBrk="1" hangingPunct="1"/>
            <a:endParaRPr lang="en-US"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D7BBF54-56B2-420F-89DC-98E7FB908AEC}" type="slidenum">
              <a:rPr lang="en-US" altLang="zh-CN" sz="1400"/>
              <a:t>38</a:t>
            </a:fld>
            <a:endParaRPr lang="en-US" altLang="zh-CN" sz="1400"/>
          </a:p>
        </p:txBody>
      </p:sp>
      <p:sp>
        <p:nvSpPr>
          <p:cNvPr id="53251" name="Rectangle 2"/>
          <p:cNvSpPr>
            <a:spLocks noGrp="1" noRot="1" noChangeAspect="1" noChangeArrowheads="1" noTextEdit="1"/>
          </p:cNvSpPr>
          <p:nvPr>
            <p:ph type="sldImg"/>
          </p:nvPr>
        </p:nvSpPr>
        <p:spPr>
          <a:xfrm>
            <a:off x="814388" y="860425"/>
            <a:ext cx="5724525" cy="4294188"/>
          </a:xfrm>
        </p:spPr>
      </p:sp>
      <p:sp>
        <p:nvSpPr>
          <p:cNvPr id="53252" name="Rectangle 3"/>
          <p:cNvSpPr>
            <a:spLocks noGrp="1" noChangeArrowheads="1"/>
          </p:cNvSpPr>
          <p:nvPr>
            <p:ph type="body" idx="1"/>
          </p:nvPr>
        </p:nvSpPr>
        <p:spPr>
          <a:xfrm>
            <a:off x="978454" y="5440692"/>
            <a:ext cx="5397115" cy="5154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716" tIns="52859" rIns="105716" bIns="52859"/>
          <a:lstStyle/>
          <a:p>
            <a:pPr eaLnBrk="1" hangingPunct="1"/>
            <a:endParaRPr lang="en-US"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D7BBF54-56B2-420F-89DC-98E7FB908AEC}" type="slidenum">
              <a:rPr lang="en-US" altLang="zh-CN" sz="1400"/>
              <a:t>39</a:t>
            </a:fld>
            <a:endParaRPr lang="en-US" altLang="zh-CN" sz="1400"/>
          </a:p>
        </p:txBody>
      </p:sp>
      <p:sp>
        <p:nvSpPr>
          <p:cNvPr id="53251" name="Rectangle 2"/>
          <p:cNvSpPr>
            <a:spLocks noGrp="1" noRot="1" noChangeAspect="1" noChangeArrowheads="1" noTextEdit="1"/>
          </p:cNvSpPr>
          <p:nvPr>
            <p:ph type="sldImg"/>
          </p:nvPr>
        </p:nvSpPr>
        <p:spPr>
          <a:xfrm>
            <a:off x="814388" y="860425"/>
            <a:ext cx="5724525" cy="4294188"/>
          </a:xfrm>
        </p:spPr>
      </p:sp>
      <p:sp>
        <p:nvSpPr>
          <p:cNvPr id="53252" name="Rectangle 3"/>
          <p:cNvSpPr>
            <a:spLocks noGrp="1" noChangeArrowheads="1"/>
          </p:cNvSpPr>
          <p:nvPr>
            <p:ph type="body" idx="1"/>
          </p:nvPr>
        </p:nvSpPr>
        <p:spPr>
          <a:xfrm>
            <a:off x="978454" y="5440692"/>
            <a:ext cx="5397115" cy="5154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716" tIns="52859" rIns="105716" bIns="52859"/>
          <a:lstStyle/>
          <a:p>
            <a:pPr eaLnBrk="1" hangingPunct="1"/>
            <a:endParaRPr lang="en-US"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D7BBF54-56B2-420F-89DC-98E7FB908AEC}" type="slidenum">
              <a:rPr lang="en-US" altLang="zh-CN" sz="1400"/>
              <a:t>40</a:t>
            </a:fld>
            <a:endParaRPr lang="en-US" altLang="zh-CN" sz="1400"/>
          </a:p>
        </p:txBody>
      </p:sp>
      <p:sp>
        <p:nvSpPr>
          <p:cNvPr id="53251" name="Rectangle 2"/>
          <p:cNvSpPr>
            <a:spLocks noGrp="1" noRot="1" noChangeAspect="1" noChangeArrowheads="1" noTextEdit="1"/>
          </p:cNvSpPr>
          <p:nvPr>
            <p:ph type="sldImg"/>
          </p:nvPr>
        </p:nvSpPr>
        <p:spPr>
          <a:xfrm>
            <a:off x="814388" y="860425"/>
            <a:ext cx="5724525" cy="4294188"/>
          </a:xfrm>
        </p:spPr>
      </p:sp>
      <p:sp>
        <p:nvSpPr>
          <p:cNvPr id="53252" name="Rectangle 3"/>
          <p:cNvSpPr>
            <a:spLocks noGrp="1" noChangeArrowheads="1"/>
          </p:cNvSpPr>
          <p:nvPr>
            <p:ph type="body" idx="1"/>
          </p:nvPr>
        </p:nvSpPr>
        <p:spPr>
          <a:xfrm>
            <a:off x="978454" y="5440692"/>
            <a:ext cx="5397115" cy="5154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716" tIns="52859" rIns="105716" bIns="52859"/>
          <a:lstStyle/>
          <a:p>
            <a:pPr eaLnBrk="1" hangingPunct="1"/>
            <a:endParaRPr lang="en-US"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D7BBF54-56B2-420F-89DC-98E7FB908AEC}" type="slidenum">
              <a:rPr lang="en-US" altLang="zh-CN" sz="1400"/>
              <a:t>41</a:t>
            </a:fld>
            <a:endParaRPr lang="en-US" altLang="zh-CN" sz="1400"/>
          </a:p>
        </p:txBody>
      </p:sp>
      <p:sp>
        <p:nvSpPr>
          <p:cNvPr id="53251" name="Rectangle 2"/>
          <p:cNvSpPr>
            <a:spLocks noGrp="1" noRot="1" noChangeAspect="1" noChangeArrowheads="1" noTextEdit="1"/>
          </p:cNvSpPr>
          <p:nvPr>
            <p:ph type="sldImg"/>
          </p:nvPr>
        </p:nvSpPr>
        <p:spPr>
          <a:xfrm>
            <a:off x="814388" y="860425"/>
            <a:ext cx="5724525" cy="4294188"/>
          </a:xfrm>
        </p:spPr>
      </p:sp>
      <p:sp>
        <p:nvSpPr>
          <p:cNvPr id="53252" name="Rectangle 3"/>
          <p:cNvSpPr>
            <a:spLocks noGrp="1" noChangeArrowheads="1"/>
          </p:cNvSpPr>
          <p:nvPr>
            <p:ph type="body" idx="1"/>
          </p:nvPr>
        </p:nvSpPr>
        <p:spPr>
          <a:xfrm>
            <a:off x="978454" y="5440692"/>
            <a:ext cx="5397115" cy="5154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716" tIns="52859" rIns="105716" bIns="52859"/>
          <a:lstStyle/>
          <a:p>
            <a:pPr eaLnBrk="1" hangingPunct="1"/>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42</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43</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44</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45</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46</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47</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98048BD-77A2-4D86-B59D-1AD3347151B3}" type="slidenum">
              <a:rPr lang="en-US" altLang="zh-CN" sz="1400"/>
              <a:t>48</a:t>
            </a:fld>
            <a:endParaRPr lang="en-US" altLang="zh-CN" sz="1400"/>
          </a:p>
        </p:txBody>
      </p:sp>
      <p:sp>
        <p:nvSpPr>
          <p:cNvPr id="67587" name="Rectangle 2"/>
          <p:cNvSpPr>
            <a:spLocks noGrp="1" noRot="1" noChangeAspect="1" noChangeArrowheads="1" noTextEdit="1"/>
          </p:cNvSpPr>
          <p:nvPr>
            <p:ph type="sldImg"/>
          </p:nvPr>
        </p:nvSpPr>
        <p:spPr>
          <a:xfrm>
            <a:off x="814388" y="860425"/>
            <a:ext cx="5724525" cy="4294188"/>
          </a:xfrm>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t>49</a:t>
            </a:fld>
            <a:endParaRPr lang="en-US" altLang="zh-CN" sz="1400"/>
          </a:p>
        </p:txBody>
      </p:sp>
      <p:sp>
        <p:nvSpPr>
          <p:cNvPr id="20483" name="Rectangle 2"/>
          <p:cNvSpPr>
            <a:spLocks noGrp="1" noRot="1" noChangeAspect="1" noChangeArrowheads="1" noTextEdit="1"/>
          </p:cNvSpPr>
          <p:nvPr>
            <p:ph type="sldImg"/>
          </p:nvPr>
        </p:nvSpPr>
        <p:spPr>
          <a:xfrm>
            <a:off x="814388" y="860425"/>
            <a:ext cx="5724525"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50</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51</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52</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53</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54</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55</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5DEB79-526D-499F-AD4B-DD37D6E2E1BE}" type="slidenum">
              <a:rPr lang="zh-CN" altLang="en-US" sz="1400"/>
              <a:t>56</a:t>
            </a:fld>
            <a:endParaRPr lang="en-US" altLang="zh-CN" sz="1400"/>
          </a:p>
        </p:txBody>
      </p:sp>
      <p:sp>
        <p:nvSpPr>
          <p:cNvPr id="24579" name="Rectangle 2"/>
          <p:cNvSpPr>
            <a:spLocks noGrp="1" noRot="1" noChangeAspect="1" noChangeArrowheads="1" noTextEdit="1"/>
          </p:cNvSpPr>
          <p:nvPr>
            <p:ph type="sldImg"/>
          </p:nvPr>
        </p:nvSpPr>
        <p:spPr>
          <a:xfrm>
            <a:off x="814388" y="860425"/>
            <a:ext cx="5724525" cy="42941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D9D5F2B8-F734-4D55-AAB5-B6CA21C4FEC5}" type="slidenum">
              <a:rPr lang="en-US" altLang="zh-CN" sz="1400"/>
              <a:t>57</a:t>
            </a:fld>
            <a:endParaRPr lang="en-US" altLang="zh-CN" sz="1400"/>
          </a:p>
        </p:txBody>
      </p:sp>
      <p:sp>
        <p:nvSpPr>
          <p:cNvPr id="83971" name="Rectangle 2"/>
          <p:cNvSpPr>
            <a:spLocks noGrp="1" noRot="1" noChangeAspect="1" noChangeArrowheads="1" noTextEdit="1"/>
          </p:cNvSpPr>
          <p:nvPr>
            <p:ph type="sldImg"/>
          </p:nvPr>
        </p:nvSpPr>
        <p:spPr>
          <a:xfrm>
            <a:off x="814388" y="860425"/>
            <a:ext cx="5724525" cy="4294188"/>
          </a:xfrm>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D9D5F2B8-F734-4D55-AAB5-B6CA21C4FEC5}" type="slidenum">
              <a:rPr lang="en-US" altLang="zh-CN" sz="1400"/>
              <a:t>58</a:t>
            </a:fld>
            <a:endParaRPr lang="en-US" altLang="zh-CN" sz="1400"/>
          </a:p>
        </p:txBody>
      </p:sp>
      <p:sp>
        <p:nvSpPr>
          <p:cNvPr id="83971" name="Rectangle 2"/>
          <p:cNvSpPr>
            <a:spLocks noGrp="1" noRot="1" noChangeAspect="1" noChangeArrowheads="1" noTextEdit="1"/>
          </p:cNvSpPr>
          <p:nvPr>
            <p:ph type="sldImg"/>
          </p:nvPr>
        </p:nvSpPr>
        <p:spPr>
          <a:xfrm>
            <a:off x="814388" y="860425"/>
            <a:ext cx="5724525" cy="4294188"/>
          </a:xfrm>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6C800EE-D351-4516-8F9D-AE3D75109719}" type="slidenum">
              <a:rPr lang="en-US" altLang="zh-CN" sz="1400"/>
              <a:t>59</a:t>
            </a:fld>
            <a:endParaRPr lang="en-US" altLang="zh-CN" sz="1400"/>
          </a:p>
        </p:txBody>
      </p:sp>
      <p:sp>
        <p:nvSpPr>
          <p:cNvPr id="81923" name="Rectangle 2"/>
          <p:cNvSpPr>
            <a:spLocks noGrp="1" noRot="1" noChangeAspect="1" noChangeArrowheads="1" noTextEdit="1"/>
          </p:cNvSpPr>
          <p:nvPr>
            <p:ph type="sldImg"/>
          </p:nvPr>
        </p:nvSpPr>
        <p:spPr>
          <a:xfrm>
            <a:off x="814388" y="860425"/>
            <a:ext cx="5724525" cy="4294188"/>
          </a:xfrm>
        </p:spPr>
      </p:sp>
      <p:sp>
        <p:nvSpPr>
          <p:cNvPr id="819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461EB10-7FBD-40B6-A01D-835AD9C4FBCB}" type="slidenum">
              <a:rPr lang="en-US" altLang="zh-CN" sz="1400"/>
              <a:t>60</a:t>
            </a:fld>
            <a:endParaRPr lang="en-US" altLang="zh-CN" sz="1400"/>
          </a:p>
        </p:txBody>
      </p:sp>
      <p:sp>
        <p:nvSpPr>
          <p:cNvPr id="77827" name="Rectangle 2"/>
          <p:cNvSpPr>
            <a:spLocks noGrp="1" noRot="1" noChangeAspect="1" noChangeArrowheads="1" noTextEdit="1"/>
          </p:cNvSpPr>
          <p:nvPr>
            <p:ph type="sldImg"/>
          </p:nvPr>
        </p:nvSpPr>
        <p:spPr>
          <a:xfrm>
            <a:off x="814388" y="860425"/>
            <a:ext cx="5724525" cy="4294188"/>
          </a:xfrm>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400">
                <a:solidFill>
                  <a:schemeClr val="tx1"/>
                </a:solidFill>
                <a:latin typeface="Arial" panose="020B0604020202020204" pitchFamily="34" charset="0"/>
                <a:ea typeface="MS PGothic" panose="020B0600070205080204" pitchFamily="34" charset="-128"/>
              </a:defRPr>
            </a:lvl1pPr>
            <a:lvl2pPr marL="742950" indent="-285750" defTabSz="967105">
              <a:defRPr sz="2400">
                <a:solidFill>
                  <a:schemeClr val="tx1"/>
                </a:solidFill>
                <a:latin typeface="Arial" panose="020B0604020202020204" pitchFamily="34" charset="0"/>
                <a:ea typeface="MS PGothic" panose="020B0600070205080204" pitchFamily="34" charset="-128"/>
              </a:defRPr>
            </a:lvl2pPr>
            <a:lvl3pPr marL="1143000" indent="-228600" defTabSz="967105">
              <a:defRPr sz="2400">
                <a:solidFill>
                  <a:schemeClr val="tx1"/>
                </a:solidFill>
                <a:latin typeface="Arial" panose="020B0604020202020204" pitchFamily="34" charset="0"/>
                <a:ea typeface="MS PGothic" panose="020B0600070205080204" pitchFamily="34" charset="-128"/>
              </a:defRPr>
            </a:lvl3pPr>
            <a:lvl4pPr marL="1600200" indent="-228600" defTabSz="967105">
              <a:defRPr sz="2400">
                <a:solidFill>
                  <a:schemeClr val="tx1"/>
                </a:solidFill>
                <a:latin typeface="Arial" panose="020B0604020202020204" pitchFamily="34" charset="0"/>
                <a:ea typeface="MS PGothic" panose="020B0600070205080204" pitchFamily="34" charset="-128"/>
              </a:defRPr>
            </a:lvl4pPr>
            <a:lvl5pPr marL="2057400" indent="-228600" defTabSz="967105">
              <a:defRPr sz="2400">
                <a:solidFill>
                  <a:schemeClr val="tx1"/>
                </a:solidFill>
                <a:latin typeface="Arial" panose="020B0604020202020204" pitchFamily="34" charset="0"/>
                <a:ea typeface="MS PGothic" panose="020B0600070205080204" pitchFamily="34" charset="-128"/>
              </a:defRPr>
            </a:lvl5pPr>
            <a:lvl6pPr marL="2514600" indent="-228600" defTabSz="967105"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67105"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67105"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67105"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70B93D1-02FE-4AFA-A49A-F5BCDC8AF730}" type="slidenum">
              <a:rPr lang="en-US" altLang="zh-CN" sz="1300">
                <a:latin typeface="Times New Roman" panose="02020603050405020304" pitchFamily="18" charset="0"/>
              </a:rPr>
              <a:t>61</a:t>
            </a:fld>
            <a:endParaRPr lang="en-US" altLang="zh-CN" sz="1300">
              <a:latin typeface="Times New Roman" panose="02020603050405020304" pitchFamily="18" charset="0"/>
            </a:endParaRPr>
          </a:p>
        </p:txBody>
      </p:sp>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ea typeface="MS PGothic" panose="020B0600070205080204" pitchFamily="34" charset="-128"/>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461EB10-7FBD-40B6-A01D-835AD9C4FBCB}" type="slidenum">
              <a:rPr lang="en-US" altLang="zh-CN" sz="1400"/>
              <a:t>62</a:t>
            </a:fld>
            <a:endParaRPr lang="en-US" altLang="zh-CN" sz="1400"/>
          </a:p>
        </p:txBody>
      </p:sp>
      <p:sp>
        <p:nvSpPr>
          <p:cNvPr id="77827" name="Rectangle 2"/>
          <p:cNvSpPr>
            <a:spLocks noGrp="1" noRot="1" noChangeAspect="1" noChangeArrowheads="1" noTextEdit="1"/>
          </p:cNvSpPr>
          <p:nvPr>
            <p:ph type="sldImg"/>
          </p:nvPr>
        </p:nvSpPr>
        <p:spPr>
          <a:xfrm>
            <a:off x="814388" y="860425"/>
            <a:ext cx="5724525" cy="4294188"/>
          </a:xfrm>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14022A5C-8B74-4E25-AFA2-CC485882F0EE}" type="slidenum">
              <a:rPr lang="en-US" altLang="zh-CN" sz="1400"/>
              <a:t>63</a:t>
            </a:fld>
            <a:endParaRPr lang="en-US" altLang="zh-CN" sz="1400"/>
          </a:p>
        </p:txBody>
      </p:sp>
      <p:sp>
        <p:nvSpPr>
          <p:cNvPr id="98307" name="Rectangle 2"/>
          <p:cNvSpPr>
            <a:spLocks noGrp="1" noRot="1" noChangeAspect="1" noChangeArrowheads="1" noTextEdit="1"/>
          </p:cNvSpPr>
          <p:nvPr>
            <p:ph type="sldImg"/>
          </p:nvPr>
        </p:nvSpPr>
        <p:spPr>
          <a:xfrm>
            <a:off x="814388" y="860425"/>
            <a:ext cx="5724525" cy="4294188"/>
          </a:xfrm>
        </p:spPr>
      </p:sp>
      <p:sp>
        <p:nvSpPr>
          <p:cNvPr id="983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64</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65</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66</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67</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68</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69</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70</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71</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72</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432BB122-068C-48E9-AAC6-65DA376C4DA3}" type="slidenum">
              <a:rPr lang="en-US" altLang="zh-CN" sz="1400"/>
              <a:t>73</a:t>
            </a:fld>
            <a:endParaRPr lang="en-US" altLang="zh-CN" sz="1400"/>
          </a:p>
        </p:txBody>
      </p:sp>
      <p:sp>
        <p:nvSpPr>
          <p:cNvPr id="100355" name="Rectangle 2"/>
          <p:cNvSpPr>
            <a:spLocks noGrp="1" noRot="1" noChangeAspect="1" noChangeArrowheads="1" noTextEdit="1"/>
          </p:cNvSpPr>
          <p:nvPr>
            <p:ph type="sldImg"/>
          </p:nvPr>
        </p:nvSpPr>
        <p:spPr>
          <a:xfrm>
            <a:off x="814388" y="860425"/>
            <a:ext cx="5724525" cy="4294188"/>
          </a:xfrm>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Wingdings" panose="05000000000000000000" pitchFamily="2" charset="2"/>
              <a:buNone/>
            </a:pPr>
            <a:r>
              <a:rPr lang="zh-CN" altLang="en-US" i="1" dirty="0">
                <a:solidFill>
                  <a:srgbClr val="CC0000"/>
                </a:solidFill>
                <a:ea typeface="MS PGothic" panose="020B0600070205080204" pitchFamily="34" charset="-128"/>
              </a:rPr>
              <a:t>应用层协议极其丰富，这里只学习一些方法，我们自己如何学习其他协议？自己如何设计协议？</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5C0E898E-1401-4DDB-B865-CE6AAD04AEFC}" type="slidenum">
              <a:rPr lang="en-US" altLang="zh-CN" smtClean="0"/>
              <a:t>76</a:t>
            </a:fld>
            <a:endParaRPr lang="en-US" altLang="zh-CN"/>
          </a:p>
        </p:txBody>
      </p:sp>
      <p:sp>
        <p:nvSpPr>
          <p:cNvPr id="189443" name="Rectangle 2"/>
          <p:cNvSpPr>
            <a:spLocks noGrp="1" noRot="1" noChangeAspect="1" noChangeArrowheads="1" noTextEdit="1"/>
          </p:cNvSpPr>
          <p:nvPr>
            <p:ph type="sldImg"/>
          </p:nvPr>
        </p:nvSpPr>
        <p:spPr>
          <a:xfrm>
            <a:off x="992188" y="768350"/>
            <a:ext cx="5114925" cy="3836988"/>
          </a:xfrm>
        </p:spPr>
      </p:sp>
      <p:sp>
        <p:nvSpPr>
          <p:cNvPr id="189444"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7" name="矩形 6"/>
          <p:cNvSpPr/>
          <p:nvPr userDrawn="1"/>
        </p:nvSpPr>
        <p:spPr>
          <a:xfrm>
            <a:off x="0" y="0"/>
            <a:ext cx="9144000" cy="578581"/>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8481761" y="26197"/>
            <a:ext cx="548949" cy="520015"/>
            <a:chOff x="2603366" y="22110"/>
            <a:chExt cx="879202" cy="892290"/>
          </a:xfrm>
        </p:grpSpPr>
        <p:sp>
          <p:nvSpPr>
            <p:cNvPr id="9" name="椭圆 8"/>
            <p:cNvSpPr/>
            <p:nvPr/>
          </p:nvSpPr>
          <p:spPr>
            <a:xfrm>
              <a:off x="2603366" y="22110"/>
              <a:ext cx="879201" cy="89229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https://gss0.bdstatic.com/94o3dSag_xI4khGkpoWK1HF6hhy/baike/c0%3Dbaike150%2C5%2C5%2C150%2C50/sign=c622cca4b5014a9095334eefc81e5277/562c11dfa9ec8a13bb1224f6fb03918fa0ecc09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flipV="1">
              <a:off x="2603367" y="22110"/>
              <a:ext cx="879201" cy="89229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userDrawn="1"/>
        </p:nvSpPr>
        <p:spPr>
          <a:xfrm>
            <a:off x="471949" y="1368"/>
            <a:ext cx="7256206" cy="646331"/>
          </a:xfrm>
          <a:prstGeom prst="rect">
            <a:avLst/>
          </a:prstGeom>
          <a:noFill/>
        </p:spPr>
        <p:txBody>
          <a:bodyPr wrap="square" rtlCol="0">
            <a:spAutoFit/>
          </a:bodyPr>
          <a:lstStyle/>
          <a:p>
            <a:endParaRPr lang="zh-CN" altLang="en-US" sz="3600" b="1" dirty="0">
              <a:solidFill>
                <a:schemeClr val="bg1"/>
              </a:solidFill>
            </a:endParaRPr>
          </a:p>
        </p:txBody>
      </p:sp>
      <p:sp>
        <p:nvSpPr>
          <p:cNvPr id="12" name="矩形 11"/>
          <p:cNvSpPr/>
          <p:nvPr userDrawn="1"/>
        </p:nvSpPr>
        <p:spPr>
          <a:xfrm>
            <a:off x="0" y="6604937"/>
            <a:ext cx="9144000" cy="253064"/>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日期占位符 8"/>
          <p:cNvSpPr txBox="1"/>
          <p:nvPr userDrawn="1"/>
        </p:nvSpPr>
        <p:spPr>
          <a:xfrm>
            <a:off x="471949" y="6604936"/>
            <a:ext cx="2057400" cy="240926"/>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灯片编号占位符 10"/>
          <p:cNvSpPr txBox="1"/>
          <p:nvPr userDrawn="1"/>
        </p:nvSpPr>
        <p:spPr>
          <a:xfrm>
            <a:off x="7086600" y="6599473"/>
            <a:ext cx="2057400" cy="25852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C4720-E5E3-47C1-B89A-421EF3B8B01B}" type="slidenum">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Subtitle 2"/>
          <p:cNvSpPr txBox="1"/>
          <p:nvPr userDrawn="1"/>
        </p:nvSpPr>
        <p:spPr>
          <a:xfrm>
            <a:off x="2464025" y="6587335"/>
            <a:ext cx="4094570" cy="2585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计算机网络与信息安全研究室</a:t>
            </a:r>
            <a:endParaRPr 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161925" y="4110038"/>
            <a:ext cx="2057400" cy="648109"/>
          </a:xfrm>
        </p:spPr>
        <p:txBody>
          <a:bodyPr/>
          <a:lstStyle>
            <a:lvl1pPr>
              <a:defRPr>
                <a:solidFill>
                  <a:schemeClr val="bg1"/>
                </a:solidFill>
              </a:defRPr>
            </a:lvl1pPr>
          </a:lstStyle>
          <a:p>
            <a:r>
              <a:rPr lang="en-US" altLang="zh-CN"/>
              <a:t>2019-9</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2"/>
          <p:cNvSpPr>
            <a:spLocks noGrp="1" noChangeArrowheads="1"/>
          </p:cNvSpPr>
          <p:nvPr>
            <p:ph type="sldNum" sz="quarter" idx="10"/>
          </p:nvPr>
        </p:nvSpPr>
        <p:spPr/>
        <p:txBody>
          <a:bodyPr/>
          <a:lstStyle>
            <a:lvl1pPr>
              <a:defRPr/>
            </a:lvl1pPr>
          </a:lstStyle>
          <a:p>
            <a:pPr>
              <a:defRPr/>
            </a:pPr>
            <a:fld id="{9647BEC4-D745-4FF9-A540-36485FCF2A2D}"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2"/>
          <p:cNvSpPr>
            <a:spLocks noGrp="1" noChangeArrowheads="1"/>
          </p:cNvSpPr>
          <p:nvPr>
            <p:ph type="sldNum" sz="quarter" idx="10"/>
          </p:nvPr>
        </p:nvSpPr>
        <p:spPr/>
        <p:txBody>
          <a:bodyPr/>
          <a:lstStyle>
            <a:lvl1pPr>
              <a:defRPr/>
            </a:lvl1pPr>
          </a:lstStyle>
          <a:p>
            <a:pPr>
              <a:defRPr/>
            </a:pPr>
            <a:fld id="{BD9906E0-87FE-4883-82FA-BD095BE0BADD}"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609600"/>
            <a:ext cx="8569325" cy="803275"/>
          </a:xfrm>
        </p:spPr>
        <p:txBody>
          <a:bodyPr/>
          <a:lstStyle/>
          <a:p>
            <a:r>
              <a:rPr lang="zh-CN" altLang="en-US"/>
              <a:t>单击此处编辑母版标题样式</a:t>
            </a:r>
          </a:p>
        </p:txBody>
      </p:sp>
      <p:sp>
        <p:nvSpPr>
          <p:cNvPr id="3" name="文本占位符 2"/>
          <p:cNvSpPr>
            <a:spLocks noGrp="1"/>
          </p:cNvSpPr>
          <p:nvPr>
            <p:ph type="body" sz="half" idx="1"/>
          </p:nvPr>
        </p:nvSpPr>
        <p:spPr>
          <a:xfrm>
            <a:off x="323850" y="1628775"/>
            <a:ext cx="4208463" cy="4467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4713" y="1628775"/>
            <a:ext cx="4208462" cy="4467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2"/>
          <p:cNvSpPr>
            <a:spLocks noGrp="1" noChangeArrowheads="1"/>
          </p:cNvSpPr>
          <p:nvPr>
            <p:ph type="sldNum" sz="quarter" idx="10"/>
          </p:nvPr>
        </p:nvSpPr>
        <p:spPr/>
        <p:txBody>
          <a:bodyPr/>
          <a:lstStyle>
            <a:lvl1pPr>
              <a:defRPr/>
            </a:lvl1pPr>
          </a:lstStyle>
          <a:p>
            <a:pPr>
              <a:defRPr/>
            </a:pPr>
            <a:fld id="{75E0F722-D8EF-4059-A29F-A80431172481}"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1628775"/>
            <a:ext cx="4208463" cy="4467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4713" y="1628775"/>
            <a:ext cx="4208462" cy="4467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2"/>
          <p:cNvSpPr>
            <a:spLocks noGrp="1" noChangeArrowheads="1"/>
          </p:cNvSpPr>
          <p:nvPr>
            <p:ph type="sldNum" sz="quarter" idx="10"/>
          </p:nvPr>
        </p:nvSpPr>
        <p:spPr/>
        <p:txBody>
          <a:bodyPr/>
          <a:lstStyle>
            <a:lvl1pPr>
              <a:defRPr/>
            </a:lvl1pPr>
          </a:lstStyle>
          <a:p>
            <a:pPr>
              <a:defRPr/>
            </a:pPr>
            <a:fld id="{4E1F7E0A-5E79-486D-BEFA-661F9440F7F0}"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2019-9</a:t>
            </a:r>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5C4720-E5E3-47C1-B89A-421EF3B8B01B}" type="slidenum">
              <a:rPr lang="zh-CN" altLang="en-US" smtClean="0"/>
              <a:t>‹#›</a:t>
            </a:fld>
            <a:endParaRPr lang="zh-CN" altLang="en-US"/>
          </a:p>
        </p:txBody>
      </p:sp>
      <p:sp>
        <p:nvSpPr>
          <p:cNvPr id="7" name="矩形 6"/>
          <p:cNvSpPr/>
          <p:nvPr userDrawn="1"/>
        </p:nvSpPr>
        <p:spPr>
          <a:xfrm>
            <a:off x="0" y="0"/>
            <a:ext cx="9144000" cy="578581"/>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8481761" y="26197"/>
            <a:ext cx="548949" cy="520015"/>
            <a:chOff x="2603366" y="22110"/>
            <a:chExt cx="879202" cy="892290"/>
          </a:xfrm>
        </p:grpSpPr>
        <p:sp>
          <p:nvSpPr>
            <p:cNvPr id="9" name="椭圆 8"/>
            <p:cNvSpPr/>
            <p:nvPr/>
          </p:nvSpPr>
          <p:spPr>
            <a:xfrm>
              <a:off x="2603366" y="22110"/>
              <a:ext cx="879201" cy="89229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https://gss0.bdstatic.com/94o3dSag_xI4khGkpoWK1HF6hhy/baike/c0%3Dbaike150%2C5%2C5%2C150%2C50/sign=c622cca4b5014a9095334eefc81e5277/562c11dfa9ec8a13bb1224f6fb03918fa0ecc098.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0800000" flipH="1" flipV="1">
              <a:off x="2603367" y="22110"/>
              <a:ext cx="879201" cy="89229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userDrawn="1"/>
        </p:nvSpPr>
        <p:spPr>
          <a:xfrm>
            <a:off x="471949" y="1368"/>
            <a:ext cx="7256206" cy="646331"/>
          </a:xfrm>
          <a:prstGeom prst="rect">
            <a:avLst/>
          </a:prstGeom>
          <a:noFill/>
        </p:spPr>
        <p:txBody>
          <a:bodyPr wrap="square" rtlCol="0">
            <a:spAutoFit/>
          </a:bodyPr>
          <a:lstStyle/>
          <a:p>
            <a:endParaRPr lang="zh-CN" altLang="en-US" sz="3600" b="1" dirty="0">
              <a:solidFill>
                <a:schemeClr val="bg1"/>
              </a:solidFill>
            </a:endParaRPr>
          </a:p>
        </p:txBody>
      </p:sp>
      <p:sp>
        <p:nvSpPr>
          <p:cNvPr id="12" name="矩形 11"/>
          <p:cNvSpPr/>
          <p:nvPr userDrawn="1"/>
        </p:nvSpPr>
        <p:spPr>
          <a:xfrm>
            <a:off x="0" y="6604937"/>
            <a:ext cx="9144000" cy="253064"/>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日期占位符 8"/>
          <p:cNvSpPr txBox="1"/>
          <p:nvPr userDrawn="1"/>
        </p:nvSpPr>
        <p:spPr>
          <a:xfrm>
            <a:off x="471949" y="6604936"/>
            <a:ext cx="2057400" cy="240926"/>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灯片编号占位符 10"/>
          <p:cNvSpPr txBox="1"/>
          <p:nvPr userDrawn="1"/>
        </p:nvSpPr>
        <p:spPr>
          <a:xfrm>
            <a:off x="7086600" y="6599473"/>
            <a:ext cx="2057400" cy="25852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C4720-E5E3-47C1-B89A-421EF3B8B01B}" type="slidenum">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Subtitle 2"/>
          <p:cNvSpPr txBox="1"/>
          <p:nvPr userDrawn="1"/>
        </p:nvSpPr>
        <p:spPr>
          <a:xfrm>
            <a:off x="2464025" y="6587335"/>
            <a:ext cx="4094570" cy="2585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计算机网络与信息安全研究室</a:t>
            </a:r>
            <a:endParaRPr 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GI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7.GIF"/></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emf"/><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7.wmf"/><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36.wmf"/><Relationship Id="rId5" Type="http://schemas.openxmlformats.org/officeDocument/2006/relationships/image" Target="../media/image35.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5.png"/><Relationship Id="rId9" Type="http://schemas.openxmlformats.org/officeDocument/2006/relationships/image" Target="../media/image42.png"/><Relationship Id="rId14" Type="http://schemas.openxmlformats.org/officeDocument/2006/relationships/image" Target="../media/image47.png"/></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5.png"/><Relationship Id="rId9" Type="http://schemas.openxmlformats.org/officeDocument/2006/relationships/image" Target="../media/image42.png"/><Relationship Id="rId1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51.wmf"/><Relationship Id="rId5" Type="http://schemas.openxmlformats.org/officeDocument/2006/relationships/image" Target="../media/image6.png"/><Relationship Id="rId4" Type="http://schemas.openxmlformats.org/officeDocument/2006/relationships/image" Target="../media/image50.wmf"/></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6.png"/><Relationship Id="rId7"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52.wmf"/><Relationship Id="rId5" Type="http://schemas.openxmlformats.org/officeDocument/2006/relationships/oleObject" Target="../embeddings/oleObject1.bin"/><Relationship Id="rId10" Type="http://schemas.openxmlformats.org/officeDocument/2006/relationships/oleObject" Target="../embeddings/oleObject5.bin"/><Relationship Id="rId4" Type="http://schemas.openxmlformats.org/officeDocument/2006/relationships/image" Target="../media/image35.png"/><Relationship Id="rId9"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0.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1.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60.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49.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8" Type="http://schemas.openxmlformats.org/officeDocument/2006/relationships/image" Target="../media/image69.jpeg"/><Relationship Id="rId13" Type="http://schemas.openxmlformats.org/officeDocument/2006/relationships/image" Target="../media/image74.jpe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jpe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72.jpeg"/><Relationship Id="rId5" Type="http://schemas.openxmlformats.org/officeDocument/2006/relationships/image" Target="../media/image66.png"/><Relationship Id="rId10" Type="http://schemas.openxmlformats.org/officeDocument/2006/relationships/image" Target="../media/image71.jpeg"/><Relationship Id="rId4" Type="http://schemas.openxmlformats.org/officeDocument/2006/relationships/image" Target="../media/image65.jpeg"/><Relationship Id="rId9" Type="http://schemas.openxmlformats.org/officeDocument/2006/relationships/image" Target="../media/image70.jpeg"/><Relationship Id="rId14" Type="http://schemas.openxmlformats.org/officeDocument/2006/relationships/image" Target="../media/image75.jpeg"/></Relationships>
</file>

<file path=ppt/slides/_rels/slide50.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6.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notesSlide" Target="../notesSlides/notesSlide50.xml"/><Relationship Id="rId16" Type="http://schemas.openxmlformats.org/officeDocument/2006/relationships/image" Target="../media/image87.png"/><Relationship Id="rId20"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38.png"/><Relationship Id="rId15" Type="http://schemas.openxmlformats.org/officeDocument/2006/relationships/image" Target="../media/image86.png"/><Relationship Id="rId23" Type="http://schemas.openxmlformats.org/officeDocument/2006/relationships/image" Target="../media/image94.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6.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96.wmf"/><Relationship Id="rId4" Type="http://schemas.openxmlformats.org/officeDocument/2006/relationships/oleObject" Target="../embeddings/oleObject6.bin"/></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38.png"/><Relationship Id="rId7" Type="http://schemas.openxmlformats.org/officeDocument/2006/relationships/image" Target="../media/image103.pn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106.png"/><Relationship Id="rId5" Type="http://schemas.openxmlformats.org/officeDocument/2006/relationships/image" Target="../media/image101.png"/><Relationship Id="rId10" Type="http://schemas.openxmlformats.org/officeDocument/2006/relationships/image" Target="../media/image105.png"/><Relationship Id="rId4" Type="http://schemas.openxmlformats.org/officeDocument/2006/relationships/image" Target="../media/image100.png"/><Relationship Id="rId9" Type="http://schemas.openxmlformats.org/officeDocument/2006/relationships/image" Target="../media/image49.png"/></Relationships>
</file>

<file path=ppt/slides/_rels/slide56.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38.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6.png"/><Relationship Id="rId10" Type="http://schemas.openxmlformats.org/officeDocument/2006/relationships/image" Target="../media/image112.png"/><Relationship Id="rId4" Type="http://schemas.openxmlformats.org/officeDocument/2006/relationships/image" Target="../media/image100.png"/><Relationship Id="rId9" Type="http://schemas.openxmlformats.org/officeDocument/2006/relationships/image" Target="../media/image111.png"/><Relationship Id="rId1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17.png"/><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5.xml"/><Relationship Id="rId5" Type="http://schemas.openxmlformats.org/officeDocument/2006/relationships/image" Target="../media/image118.wmf"/><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6.xml"/><Relationship Id="rId6" Type="http://schemas.openxmlformats.org/officeDocument/2006/relationships/image" Target="../media/image119.png"/><Relationship Id="rId5" Type="http://schemas.openxmlformats.org/officeDocument/2006/relationships/image" Target="../media/image35.png"/><Relationship Id="rId4" Type="http://schemas.openxmlformats.org/officeDocument/2006/relationships/image" Target="../media/image76.png"/></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1.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119.png"/><Relationship Id="rId4" Type="http://schemas.openxmlformats.org/officeDocument/2006/relationships/image" Target="../media/image76.pn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119.png"/><Relationship Id="rId5" Type="http://schemas.openxmlformats.org/officeDocument/2006/relationships/image" Target="../media/image35.png"/><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rot="10800000" flipH="1" flipV="1">
            <a:off x="1056736" y="1377387"/>
            <a:ext cx="7030527" cy="1707266"/>
          </a:xfrm>
        </p:spPr>
        <p:txBody>
          <a:bodyPr>
            <a:noAutofit/>
          </a:bodyPr>
          <a:lstStyle/>
          <a:p>
            <a:pPr>
              <a:lnSpc>
                <a:spcPts val="5760"/>
              </a:lnSpc>
              <a:spcBef>
                <a:spcPts val="600"/>
              </a:spcBef>
            </a:pPr>
            <a:r>
              <a:rPr lang="zh-CN" altLang="zh-CN" sz="6600" b="1" dirty="0">
                <a:latin typeface="楷体" panose="02010609060101010101" pitchFamily="49" charset="-122"/>
                <a:ea typeface="楷体" panose="02010609060101010101" pitchFamily="49" charset="-122"/>
              </a:rPr>
              <a:t>计算机网络</a:t>
            </a:r>
            <a:br>
              <a:rPr lang="en-US" altLang="zh-CN" sz="4800" b="1" dirty="0">
                <a:latin typeface="楷体" panose="02010609060101010101" pitchFamily="49" charset="-122"/>
                <a:ea typeface="楷体" panose="02010609060101010101" pitchFamily="49" charset="-122"/>
              </a:rPr>
            </a:br>
            <a:r>
              <a:rPr lang="zh-CN" altLang="en-US" sz="3600" b="1" dirty="0">
                <a:solidFill>
                  <a:srgbClr val="C00000"/>
                </a:solidFill>
                <a:latin typeface="楷体" panose="02010609060101010101" pitchFamily="49" charset="-122"/>
                <a:ea typeface="楷体" panose="02010609060101010101" pitchFamily="49" charset="-122"/>
              </a:rPr>
              <a:t>第</a:t>
            </a:r>
            <a:r>
              <a:rPr lang="en-US" altLang="zh-CN" sz="36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3600" b="1" dirty="0">
                <a:solidFill>
                  <a:srgbClr val="C00000"/>
                </a:solidFill>
                <a:latin typeface="楷体" panose="02010609060101010101" pitchFamily="49" charset="-122"/>
                <a:ea typeface="楷体" panose="02010609060101010101" pitchFamily="49" charset="-122"/>
              </a:rPr>
              <a:t>章 概论</a:t>
            </a:r>
          </a:p>
        </p:txBody>
      </p:sp>
      <p:sp>
        <p:nvSpPr>
          <p:cNvPr id="6" name="副标题 2"/>
          <p:cNvSpPr txBox="1"/>
          <p:nvPr/>
        </p:nvSpPr>
        <p:spPr>
          <a:xfrm>
            <a:off x="1222860" y="3981691"/>
            <a:ext cx="6709028" cy="10528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chemeClr val="accent5">
                    <a:lumMod val="75000"/>
                  </a:schemeClr>
                </a:solidFill>
                <a:latin typeface="楷体" panose="02010609060101010101" pitchFamily="49" charset="-122"/>
                <a:ea typeface="楷体" panose="02010609060101010101" pitchFamily="49" charset="-122"/>
              </a:rPr>
              <a:t>吴英</a:t>
            </a:r>
            <a:endParaRPr lang="en-US" altLang="zh-CN" sz="2800" dirty="0">
              <a:solidFill>
                <a:schemeClr val="accent5">
                  <a:lumMod val="75000"/>
                </a:schemeClr>
              </a:solidFill>
              <a:latin typeface="楷体" panose="02010609060101010101" pitchFamily="49" charset="-122"/>
              <a:ea typeface="楷体" panose="02010609060101010101" pitchFamily="49" charset="-122"/>
            </a:endParaRPr>
          </a:p>
          <a:p>
            <a:r>
              <a:rPr lang="en-US" altLang="zh-CN" sz="2800" dirty="0">
                <a:solidFill>
                  <a:schemeClr val="accent5">
                    <a:lumMod val="75000"/>
                  </a:schemeClr>
                </a:solidFill>
                <a:latin typeface="Times New Roman" panose="02020603050405020304" pitchFamily="18" charset="0"/>
                <a:ea typeface="楷体" panose="02010609060101010101" pitchFamily="49" charset="-122"/>
                <a:cs typeface="Times New Roman" panose="02020603050405020304" pitchFamily="18" charset="0"/>
              </a:rPr>
              <a:t>wuying@nankai.edu.cn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31346" y="32661"/>
            <a:ext cx="8197203"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b="1" dirty="0">
                <a:solidFill>
                  <a:schemeClr val="bg1"/>
                </a:solidFill>
                <a:latin typeface="黑体" panose="02010609060101010101" pitchFamily="49" charset="-122"/>
                <a:ea typeface="黑体" panose="02010609060101010101" pitchFamily="49" charset="-122"/>
              </a:rPr>
              <a:t>学习目标</a:t>
            </a:r>
          </a:p>
        </p:txBody>
      </p:sp>
      <p:sp>
        <p:nvSpPr>
          <p:cNvPr id="3" name="文本框 2"/>
          <p:cNvSpPr txBox="1"/>
          <p:nvPr/>
        </p:nvSpPr>
        <p:spPr>
          <a:xfrm>
            <a:off x="3190103" y="1031848"/>
            <a:ext cx="2813810" cy="1060547"/>
          </a:xfrm>
          <a:prstGeom prst="rect">
            <a:avLst/>
          </a:prstGeom>
          <a:solidFill>
            <a:schemeClr val="accent5">
              <a:lumMod val="20000"/>
              <a:lumOff val="80000"/>
            </a:schemeClr>
          </a:solidFill>
          <a:ln>
            <a:solidFill>
              <a:schemeClr val="accent1"/>
            </a:solidFill>
          </a:ln>
        </p:spPr>
        <p:txBody>
          <a:bodyPr wrap="square" rtlCol="0">
            <a:spAutoFit/>
          </a:bodyPr>
          <a:lstStyle/>
          <a:p>
            <a:pPr algn="ctr">
              <a:lnSpc>
                <a:spcPts val="2600"/>
              </a:lnSpc>
              <a:buSzPct val="100000"/>
              <a:defRPr/>
            </a:pP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总体目标</a:t>
            </a:r>
            <a:r>
              <a:rPr lang="zh-CN" altLang="en-US" dirty="0">
                <a:solidFill>
                  <a:schemeClr val="accent1">
                    <a:lumMod val="50000"/>
                  </a:schemeClr>
                </a:solidFill>
                <a:latin typeface="Times New Roman" panose="02020603050405020304" pitchFamily="18" charset="0"/>
                <a:ea typeface="宋体" panose="02010600030101010101" pitchFamily="2" charset="-122"/>
                <a:cs typeface="Times New Roman" panose="02020603050405020304" pitchFamily="18" charset="0"/>
              </a:rPr>
              <a:t>：从俯视和平视角度理解计算机网络，对计算机网络形成一个</a:t>
            </a:r>
            <a:r>
              <a:rPr lang="zh-CN" altLang="en-US"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总貌</a:t>
            </a:r>
            <a:endParaRPr lang="en-US" altLang="zh-CN"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23746" y="2631937"/>
            <a:ext cx="2340722" cy="1393971"/>
          </a:xfrm>
          <a:prstGeom prst="rect">
            <a:avLst/>
          </a:prstGeom>
          <a:solidFill>
            <a:schemeClr val="accent3">
              <a:lumMod val="40000"/>
              <a:lumOff val="60000"/>
            </a:schemeClr>
          </a:solidFill>
          <a:ln w="6350">
            <a:solidFill>
              <a:schemeClr val="accent1"/>
            </a:solidFill>
          </a:ln>
        </p:spPr>
        <p:txBody>
          <a:bodyPr wrap="square" rtlCol="0">
            <a:spAutoFit/>
          </a:bodyPr>
          <a:lstStyle>
            <a:defPPr>
              <a:defRPr lang="zh-CN"/>
            </a:defPPr>
            <a:lvl1pPr algn="ctr">
              <a:lnSpc>
                <a:spcPts val="2600"/>
              </a:lnSpc>
              <a:buSzPct val="100000"/>
              <a:defRPr b="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理解计算机网络的基本构成和相关概念，以及计算机网络的</a:t>
            </a:r>
            <a:r>
              <a:rPr lang="zh-CN" altLang="en-US"/>
              <a:t>可扩展性</a:t>
            </a:r>
            <a:endParaRPr lang="en-US" altLang="zh-CN" dirty="0"/>
          </a:p>
        </p:txBody>
      </p:sp>
      <p:sp>
        <p:nvSpPr>
          <p:cNvPr id="7" name="文本框 6"/>
          <p:cNvSpPr txBox="1"/>
          <p:nvPr/>
        </p:nvSpPr>
        <p:spPr>
          <a:xfrm>
            <a:off x="3385755" y="2634330"/>
            <a:ext cx="2418394" cy="1393971"/>
          </a:xfrm>
          <a:prstGeom prst="rect">
            <a:avLst/>
          </a:prstGeom>
          <a:solidFill>
            <a:schemeClr val="accent3">
              <a:lumMod val="40000"/>
              <a:lumOff val="60000"/>
            </a:schemeClr>
          </a:solidFill>
          <a:ln w="6350">
            <a:solidFill>
              <a:schemeClr val="accent1"/>
            </a:solidFill>
          </a:ln>
        </p:spPr>
        <p:txBody>
          <a:bodyPr wrap="square" rtlCol="0">
            <a:spAutoFit/>
          </a:bodyPr>
          <a:lstStyle>
            <a:defPPr>
              <a:defRPr lang="zh-CN"/>
            </a:defPPr>
            <a:lvl1pPr algn="ctr">
              <a:lnSpc>
                <a:spcPts val="2600"/>
              </a:lnSpc>
              <a:buSzPct val="100000"/>
              <a:defRPr b="1">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b="0" dirty="0"/>
              <a:t>了解互联网发展过程中几个重要事件所解决的关键问题及产生的影响</a:t>
            </a:r>
            <a:endParaRPr lang="en-US" altLang="zh-CN" b="0" dirty="0"/>
          </a:p>
        </p:txBody>
      </p:sp>
      <p:sp>
        <p:nvSpPr>
          <p:cNvPr id="8" name="文本框 7"/>
          <p:cNvSpPr txBox="1"/>
          <p:nvPr/>
        </p:nvSpPr>
        <p:spPr>
          <a:xfrm>
            <a:off x="6153668" y="2634329"/>
            <a:ext cx="2312481" cy="1393971"/>
          </a:xfrm>
          <a:prstGeom prst="rect">
            <a:avLst/>
          </a:prstGeom>
          <a:solidFill>
            <a:schemeClr val="accent3">
              <a:lumMod val="40000"/>
              <a:lumOff val="60000"/>
            </a:schemeClr>
          </a:solidFill>
          <a:ln w="6350">
            <a:solidFill>
              <a:schemeClr val="accent1"/>
            </a:solidFill>
          </a:ln>
        </p:spPr>
        <p:txBody>
          <a:bodyPr wrap="square" rtlCol="0">
            <a:spAutoFit/>
          </a:bodyPr>
          <a:lstStyle>
            <a:defPPr>
              <a:defRPr lang="zh-CN"/>
            </a:defPPr>
            <a:lvl1pPr algn="ctr">
              <a:lnSpc>
                <a:spcPts val="2600"/>
              </a:lnSpc>
              <a:buSzPct val="100000"/>
              <a:defRPr b="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理解网络技术在社会经济发展中的重要地位，以及我国的网络</a:t>
            </a:r>
            <a:r>
              <a:rPr lang="zh-CN" altLang="en-US"/>
              <a:t>强国战略</a:t>
            </a:r>
            <a:endParaRPr lang="en-US" altLang="zh-CN" dirty="0"/>
          </a:p>
        </p:txBody>
      </p:sp>
      <p:sp>
        <p:nvSpPr>
          <p:cNvPr id="9" name="文本框 8"/>
          <p:cNvSpPr txBox="1"/>
          <p:nvPr/>
        </p:nvSpPr>
        <p:spPr>
          <a:xfrm>
            <a:off x="1490545" y="4570230"/>
            <a:ext cx="2943768" cy="1393971"/>
          </a:xfrm>
          <a:prstGeom prst="rect">
            <a:avLst/>
          </a:prstGeom>
          <a:solidFill>
            <a:srgbClr val="E8EEF8"/>
          </a:solidFill>
          <a:ln w="6350">
            <a:solidFill>
              <a:schemeClr val="accent1"/>
            </a:solidFill>
          </a:ln>
        </p:spPr>
        <p:txBody>
          <a:bodyPr wrap="square" rtlCol="0">
            <a:spAutoFit/>
          </a:bodyPr>
          <a:lstStyle/>
          <a:p>
            <a:pPr algn="ctr">
              <a:lnSpc>
                <a:spcPts val="2600"/>
              </a:lnSpc>
              <a:buSzPct val="100000"/>
              <a:defRPr/>
            </a:pP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从俯视角度理解互联网组织模式，掌握互联网核心部分的重要概念、技术，包括报文交换、端到端时延等</a:t>
            </a:r>
            <a:endPar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p:cNvSpPr txBox="1"/>
          <p:nvPr/>
        </p:nvSpPr>
        <p:spPr>
          <a:xfrm>
            <a:off x="4702627" y="4570230"/>
            <a:ext cx="2866096" cy="1393971"/>
          </a:xfrm>
          <a:prstGeom prst="rect">
            <a:avLst/>
          </a:prstGeom>
          <a:solidFill>
            <a:srgbClr val="E8EEF8"/>
          </a:solidFill>
          <a:ln w="6350">
            <a:solidFill>
              <a:schemeClr val="accent1"/>
            </a:solidFill>
          </a:ln>
        </p:spPr>
        <p:txBody>
          <a:bodyPr wrap="square" rtlCol="0">
            <a:spAutoFit/>
          </a:bodyPr>
          <a:lstStyle>
            <a:defPPr>
              <a:defRPr lang="zh-CN"/>
            </a:defPPr>
            <a:lvl1pPr algn="ctr">
              <a:lnSpc>
                <a:spcPts val="2600"/>
              </a:lnSpc>
              <a:buSzPct val="100000"/>
              <a:defRPr>
                <a:solidFill>
                  <a:srgbClr val="C00000"/>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从平视</a:t>
            </a:r>
            <a:r>
              <a:rPr lang="zh-CN" altLang="en-US"/>
              <a:t>角度理解</a:t>
            </a:r>
            <a:r>
              <a:rPr lang="en-US" altLang="zh-CN" dirty="0"/>
              <a:t>TCP/IP</a:t>
            </a:r>
            <a:r>
              <a:rPr lang="zh-CN" altLang="en-US" dirty="0"/>
              <a:t>体系结构及分层原则，初步了解数据单元的封装与</a:t>
            </a:r>
            <a:r>
              <a:rPr lang="zh-CN" altLang="en-US"/>
              <a:t>传递过程</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31346" y="32661"/>
            <a:ext cx="7628133"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b="1" dirty="0">
                <a:solidFill>
                  <a:schemeClr val="bg1"/>
                </a:solidFill>
                <a:latin typeface="黑体" panose="02010609060101010101" pitchFamily="49" charset="-122"/>
                <a:ea typeface="黑体" panose="02010609060101010101" pitchFamily="49" charset="-122"/>
              </a:rPr>
              <a:t>内容提纲</a:t>
            </a:r>
          </a:p>
        </p:txBody>
      </p:sp>
      <p:sp>
        <p:nvSpPr>
          <p:cNvPr id="2" name="文本框 1"/>
          <p:cNvSpPr txBox="1"/>
          <p:nvPr/>
        </p:nvSpPr>
        <p:spPr>
          <a:xfrm>
            <a:off x="491662" y="1014417"/>
            <a:ext cx="8068776" cy="3288336"/>
          </a:xfrm>
          <a:prstGeom prst="rect">
            <a:avLst/>
          </a:prstGeom>
          <a:noFill/>
        </p:spPr>
        <p:txBody>
          <a:bodyPr wrap="square" rtlCol="0">
            <a:spAutoFit/>
          </a:bodyPr>
          <a:lstStyle/>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1.2 Internet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发展历程</a:t>
            </a: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1.3 Internet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的核心与边缘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1.4 TCP/IP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网络体系结构</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1.5 Web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服务器访问示例</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53894" cy="461665"/>
          </a:xfrm>
          <a:prstGeom prst="rect">
            <a:avLst/>
          </a:prstGeom>
          <a:noFill/>
        </p:spPr>
        <p:txBody>
          <a:bodyPr wrap="square" rtlCol="0">
            <a:spAutoFit/>
          </a:bodyPr>
          <a:lstStyle/>
          <a:p>
            <a:pPr algn="ct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极简网络</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双机通信：从计算机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发送“</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OK</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”到计算机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B</a:t>
            </a:r>
          </a:p>
        </p:txBody>
      </p:sp>
      <p:sp>
        <p:nvSpPr>
          <p:cNvPr id="9" name="标题 1"/>
          <p:cNvSpPr txBox="1"/>
          <p:nvPr/>
        </p:nvSpPr>
        <p:spPr>
          <a:xfrm>
            <a:off x="574372" y="32661"/>
            <a:ext cx="790335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pic>
        <p:nvPicPr>
          <p:cNvPr id="11" name="Picture 249"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555" y="1672371"/>
            <a:ext cx="785794" cy="78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AutoShape 261"/>
          <p:cNvCxnSpPr>
            <a:cxnSpLocks noChangeShapeType="1"/>
            <a:stCxn id="8" idx="1"/>
            <a:endCxn id="11" idx="3"/>
          </p:cNvCxnSpPr>
          <p:nvPr/>
        </p:nvCxnSpPr>
        <p:spPr bwMode="auto">
          <a:xfrm flipH="1">
            <a:off x="3375349" y="2065268"/>
            <a:ext cx="3536334" cy="0"/>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 name="Picture 249"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1683" y="1672371"/>
            <a:ext cx="785794" cy="78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118555" y="1770151"/>
            <a:ext cx="457200" cy="461665"/>
          </a:xfrm>
          <a:prstGeom prst="rect">
            <a:avLst/>
          </a:prstGeom>
          <a:noFill/>
        </p:spPr>
        <p:txBody>
          <a:bodyPr wrap="square" rtlCol="0">
            <a:spAutoFit/>
          </a:bodyPr>
          <a:lstStyle/>
          <a:p>
            <a:pPr algn="ctr"/>
            <a:r>
              <a:rPr lang="en-US" altLang="zh-CN" sz="2400" b="1" dirty="0">
                <a:solidFill>
                  <a:srgbClr val="C00000"/>
                </a:solidFill>
              </a:rPr>
              <a:t>A</a:t>
            </a:r>
            <a:endParaRPr lang="zh-CN" altLang="en-US" sz="2400" b="1" dirty="0">
              <a:solidFill>
                <a:srgbClr val="C00000"/>
              </a:solidFill>
            </a:endParaRPr>
          </a:p>
        </p:txBody>
      </p:sp>
      <p:sp>
        <p:nvSpPr>
          <p:cNvPr id="4" name="文本框 3"/>
          <p:cNvSpPr txBox="1"/>
          <p:nvPr/>
        </p:nvSpPr>
        <p:spPr>
          <a:xfrm>
            <a:off x="7711273" y="1716818"/>
            <a:ext cx="457200" cy="461665"/>
          </a:xfrm>
          <a:prstGeom prst="rect">
            <a:avLst/>
          </a:prstGeom>
          <a:noFill/>
        </p:spPr>
        <p:txBody>
          <a:bodyPr wrap="square" rtlCol="0">
            <a:spAutoFit/>
          </a:bodyPr>
          <a:lstStyle/>
          <a:p>
            <a:pPr algn="ctr"/>
            <a:r>
              <a:rPr lang="en-US" altLang="zh-CN" sz="2400" b="1" dirty="0">
                <a:solidFill>
                  <a:srgbClr val="C00000"/>
                </a:solidFill>
              </a:rPr>
              <a:t>B</a:t>
            </a:r>
            <a:endParaRPr lang="zh-CN" altLang="en-US" sz="2400" b="1" dirty="0">
              <a:solidFill>
                <a:srgbClr val="C00000"/>
              </a:solidFill>
            </a:endParaRPr>
          </a:p>
        </p:txBody>
      </p:sp>
      <p:sp>
        <p:nvSpPr>
          <p:cNvPr id="2" name="矩形 1"/>
          <p:cNvSpPr/>
          <p:nvPr/>
        </p:nvSpPr>
        <p:spPr>
          <a:xfrm>
            <a:off x="249909" y="3898390"/>
            <a:ext cx="2215671" cy="369332"/>
          </a:xfrm>
          <a:prstGeom prst="rect">
            <a:avLst/>
          </a:prstGeom>
        </p:spPr>
        <p:txBody>
          <a:bodyPr wrap="none">
            <a:spAutoFit/>
          </a:bodyPr>
          <a:lstStyle/>
          <a:p>
            <a:r>
              <a:rPr lang="zh-CN" altLang="en-US" dirty="0"/>
              <a:t>0100 1111 0100 1011</a:t>
            </a:r>
          </a:p>
        </p:txBody>
      </p:sp>
      <p:sp>
        <p:nvSpPr>
          <p:cNvPr id="6" name="矩形 5"/>
          <p:cNvSpPr/>
          <p:nvPr/>
        </p:nvSpPr>
        <p:spPr>
          <a:xfrm>
            <a:off x="1147190" y="3154279"/>
            <a:ext cx="518091"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OK</a:t>
            </a:r>
            <a:endParaRPr lang="zh-CN" altLang="en-US" dirty="0"/>
          </a:p>
        </p:txBody>
      </p:sp>
      <p:pic>
        <p:nvPicPr>
          <p:cNvPr id="10" name="图片 9"/>
          <p:cNvPicPr>
            <a:picLocks noChangeAspect="1"/>
          </p:cNvPicPr>
          <p:nvPr/>
        </p:nvPicPr>
        <p:blipFill>
          <a:blip r:embed="rId4"/>
          <a:stretch>
            <a:fillRect/>
          </a:stretch>
        </p:blipFill>
        <p:spPr>
          <a:xfrm>
            <a:off x="961896" y="4664350"/>
            <a:ext cx="981075" cy="514350"/>
          </a:xfrm>
          <a:prstGeom prst="rect">
            <a:avLst/>
          </a:prstGeom>
        </p:spPr>
      </p:pic>
      <p:sp>
        <p:nvSpPr>
          <p:cNvPr id="14" name="箭头: 下 13"/>
          <p:cNvSpPr/>
          <p:nvPr/>
        </p:nvSpPr>
        <p:spPr>
          <a:xfrm>
            <a:off x="1350819" y="3484418"/>
            <a:ext cx="101136" cy="41397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p:cNvSpPr/>
          <p:nvPr/>
        </p:nvSpPr>
        <p:spPr>
          <a:xfrm>
            <a:off x="1357744" y="4250378"/>
            <a:ext cx="101136" cy="41397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2580672" y="2761273"/>
            <a:ext cx="5125687" cy="3483662"/>
            <a:chOff x="2580672" y="2761273"/>
            <a:chExt cx="5125687" cy="3483662"/>
          </a:xfrm>
        </p:grpSpPr>
        <p:pic>
          <p:nvPicPr>
            <p:cNvPr id="13" name="图片 12"/>
            <p:cNvPicPr>
              <a:picLocks noChangeAspect="1"/>
            </p:cNvPicPr>
            <p:nvPr/>
          </p:nvPicPr>
          <p:blipFill>
            <a:blip r:embed="rId5"/>
            <a:stretch>
              <a:fillRect/>
            </a:stretch>
          </p:blipFill>
          <p:spPr>
            <a:xfrm>
              <a:off x="2580672" y="2761273"/>
              <a:ext cx="5125687" cy="3062927"/>
            </a:xfrm>
            <a:prstGeom prst="rect">
              <a:avLst/>
            </a:prstGeom>
          </p:spPr>
        </p:pic>
        <p:pic>
          <p:nvPicPr>
            <p:cNvPr id="18"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04194" y="5476136"/>
              <a:ext cx="1342310" cy="76879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64773" y="5396609"/>
              <a:ext cx="1342310" cy="768799"/>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1"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4" grpId="1"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79251" y="728719"/>
            <a:ext cx="3939460" cy="1567096"/>
          </a:xfrm>
          <a:prstGeom prst="rect">
            <a:avLst/>
          </a:prstGeom>
          <a:noFill/>
        </p:spPr>
        <p:txBody>
          <a:bodyPr wrap="square" rtlCol="0">
            <a:spAutoFit/>
          </a:bodyPr>
          <a:lstStyle/>
          <a:p>
            <a:pPr indent="-342900">
              <a:lnSpc>
                <a:spcPts val="3600"/>
              </a:lnSpc>
              <a:spcBef>
                <a:spcPts val="600"/>
              </a:spcBef>
              <a:buSzPct val="100000"/>
              <a:buBlip>
                <a:blip r:embed="rId3"/>
              </a:buBlip>
              <a:defRPr/>
            </a:pPr>
            <a:r>
              <a:rPr lang="en-US" altLang="zh-CN" sz="2400" dirty="0">
                <a:solidFill>
                  <a:srgbClr val="C00000"/>
                </a:solidFill>
                <a:ea typeface="宋体" panose="02010600030101010101" pitchFamily="2" charset="-122"/>
                <a:cs typeface="Times New Roman" panose="02020603050405020304" pitchFamily="18" charset="0"/>
              </a:rPr>
              <a:t> </a:t>
            </a:r>
            <a:r>
              <a:rPr lang="zh-CN" altLang="en-US" sz="2400" dirty="0">
                <a:solidFill>
                  <a:srgbClr val="C00000"/>
                </a:solidFill>
                <a:ea typeface="宋体" panose="02010600030101010101" pitchFamily="2" charset="-122"/>
                <a:cs typeface="Times New Roman" panose="02020603050405020304" pitchFamily="18" charset="0"/>
              </a:rPr>
              <a:t>几个基本概念</a:t>
            </a:r>
            <a:endParaRPr lang="en-US" altLang="zh-CN" sz="2400" dirty="0">
              <a:solidFill>
                <a:srgbClr val="C00000"/>
              </a:solidFill>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信息（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Information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36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图像、视频、音频、文字</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pic>
        <p:nvPicPr>
          <p:cNvPr id="5" name="图片 4" descr="#"/>
          <p:cNvPicPr/>
          <p:nvPr/>
        </p:nvPicPr>
        <p:blipFill>
          <a:blip r:embed="rId5" cstate="print">
            <a:biLevel thresh="50000"/>
            <a:extLst>
              <a:ext uri="{28A0092B-C50C-407E-A947-70E740481C1C}">
                <a14:useLocalDpi xmlns:a14="http://schemas.microsoft.com/office/drawing/2010/main" val="0"/>
              </a:ext>
            </a:extLst>
          </a:blip>
          <a:srcRect/>
          <a:stretch>
            <a:fillRect/>
          </a:stretch>
        </p:blipFill>
        <p:spPr bwMode="auto">
          <a:xfrm>
            <a:off x="4449497" y="4119316"/>
            <a:ext cx="4432571" cy="1466975"/>
          </a:xfrm>
          <a:prstGeom prst="rect">
            <a:avLst/>
          </a:prstGeom>
          <a:noFill/>
          <a:ln>
            <a:solidFill>
              <a:schemeClr val="bg1">
                <a:lumMod val="85000"/>
              </a:schemeClr>
            </a:solidFill>
          </a:ln>
        </p:spPr>
      </p:pic>
      <p:pic>
        <p:nvPicPr>
          <p:cNvPr id="6" name="图片 5" descr="#"/>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4449497" y="2478584"/>
            <a:ext cx="4432571" cy="1466976"/>
          </a:xfrm>
          <a:prstGeom prst="rect">
            <a:avLst/>
          </a:prstGeom>
          <a:noFill/>
          <a:ln>
            <a:noFill/>
          </a:ln>
        </p:spPr>
      </p:pic>
      <p:pic>
        <p:nvPicPr>
          <p:cNvPr id="8" name="图片 7" desc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49497" y="837852"/>
            <a:ext cx="4432571" cy="1466976"/>
          </a:xfrm>
          <a:prstGeom prst="rect">
            <a:avLst/>
          </a:prstGeom>
          <a:noFill/>
          <a:ln>
            <a:noFill/>
          </a:ln>
        </p:spPr>
      </p:pic>
      <p:grpSp>
        <p:nvGrpSpPr>
          <p:cNvPr id="10" name="组合 9"/>
          <p:cNvGrpSpPr/>
          <p:nvPr/>
        </p:nvGrpSpPr>
        <p:grpSpPr>
          <a:xfrm>
            <a:off x="4125889" y="5929226"/>
            <a:ext cx="4802058" cy="400110"/>
            <a:chOff x="774397" y="5955178"/>
            <a:chExt cx="4802058" cy="400110"/>
          </a:xfrm>
        </p:grpSpPr>
        <p:sp>
          <p:nvSpPr>
            <p:cNvPr id="2" name="文本框 1"/>
            <p:cNvSpPr txBox="1"/>
            <p:nvPr/>
          </p:nvSpPr>
          <p:spPr>
            <a:xfrm>
              <a:off x="774397" y="5955178"/>
              <a:ext cx="4802058" cy="400110"/>
            </a:xfrm>
            <a:prstGeom prst="rect">
              <a:avLst/>
            </a:prstGeom>
            <a:solidFill>
              <a:schemeClr val="accent6">
                <a:lumMod val="20000"/>
                <a:lumOff val="80000"/>
              </a:schemeClr>
            </a:solidFill>
          </p:spPr>
          <p:txBody>
            <a:bodyPr wrap="square" rtlCol="0">
              <a:spAutoFit/>
            </a:bodyPr>
            <a:lstStyle/>
            <a:p>
              <a:r>
                <a:rPr lang="zh-CN" altLang="en-US" sz="2000" dirty="0">
                  <a:solidFill>
                    <a:srgbClr val="C00000"/>
                  </a:solidFill>
                </a:rPr>
                <a:t>信息      数据：编码</a:t>
              </a:r>
              <a:r>
                <a:rPr lang="en-US" altLang="zh-CN" sz="2000" dirty="0">
                  <a:solidFill>
                    <a:srgbClr val="C00000"/>
                  </a:solidFill>
                </a:rPr>
                <a:t>/</a:t>
              </a:r>
              <a:r>
                <a:rPr lang="zh-CN" altLang="en-US" sz="2000" dirty="0">
                  <a:solidFill>
                    <a:srgbClr val="C00000"/>
                  </a:solidFill>
                </a:rPr>
                <a:t>解码算法设计与优化</a:t>
              </a:r>
            </a:p>
          </p:txBody>
        </p:sp>
        <p:sp>
          <p:nvSpPr>
            <p:cNvPr id="9" name="箭头: 左右 8"/>
            <p:cNvSpPr/>
            <p:nvPr/>
          </p:nvSpPr>
          <p:spPr>
            <a:xfrm>
              <a:off x="1381991" y="6110485"/>
              <a:ext cx="318654" cy="11366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279251" y="3412321"/>
            <a:ext cx="3939460" cy="2182649"/>
          </a:xfrm>
          <a:prstGeom prst="rect">
            <a:avLst/>
          </a:prstGeom>
          <a:noFill/>
        </p:spPr>
        <p:txBody>
          <a:bodyPr wrap="square" rtlCol="0">
            <a:spAutoFit/>
          </a:bodyPr>
          <a:lstStyle/>
          <a:p>
            <a:pPr marL="625475" lvl="1" indent="-266700">
              <a:lnSpc>
                <a:spcPts val="3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信号（</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Signal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28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电信号、光信号、声信号</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28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模拟信号（连续）与数字信号（离散）</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28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信号编码与调制</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279251" y="2291827"/>
            <a:ext cx="4572000" cy="1033616"/>
          </a:xfrm>
          <a:prstGeom prst="rect">
            <a:avLst/>
          </a:prstGeom>
        </p:spPr>
        <p:txBody>
          <a:bodyPr>
            <a:spAutoFit/>
          </a:bodyPr>
          <a:lstStyle/>
          <a:p>
            <a:pPr marL="625475" lvl="1" indent="-266700">
              <a:lnSpc>
                <a:spcPts val="3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36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二进制数据</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75785" y="725263"/>
            <a:ext cx="5868706" cy="2362185"/>
          </a:xfrm>
          <a:prstGeom prst="rect">
            <a:avLst/>
          </a:prstGeom>
          <a:noFill/>
        </p:spPr>
        <p:txBody>
          <a:bodyPr wrap="square" rtlCol="0">
            <a:spAutoFit/>
          </a:bodyPr>
          <a:lstStyle/>
          <a:p>
            <a:pPr indent="-342900">
              <a:lnSpc>
                <a:spcPts val="3600"/>
              </a:lnSpc>
              <a:spcBef>
                <a:spcPts val="600"/>
              </a:spcBef>
              <a:buSzPct val="100000"/>
              <a:buBlip>
                <a:blip r:embed="rId3"/>
              </a:buBlip>
              <a:defRPr/>
            </a:pPr>
            <a:r>
              <a:rPr lang="zh-CN" altLang="en-US" sz="2400" dirty="0">
                <a:solidFill>
                  <a:srgbClr val="C00000"/>
                </a:solidFill>
                <a:ea typeface="宋体" panose="02010600030101010101" pitchFamily="2" charset="-122"/>
                <a:cs typeface="Times New Roman" panose="02020603050405020304" pitchFamily="18" charset="0"/>
              </a:rPr>
              <a:t>几个基本概念（续）</a:t>
            </a:r>
            <a:endParaRPr lang="en-US" altLang="zh-CN" sz="2400" dirty="0">
              <a:solidFill>
                <a:srgbClr val="C00000"/>
              </a:solidFill>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信道：有线与无线</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28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信号频率与信道</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带宽</a:t>
            </a:r>
          </a:p>
          <a:p>
            <a:pPr marL="984250" lvl="2" indent="-358775">
              <a:lnSpc>
                <a:spcPts val="28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信噪比（信号平均功率和噪声平均功率之比）</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358775">
              <a:lnSpc>
                <a:spcPts val="2800"/>
              </a:lnSpc>
              <a:spcBef>
                <a:spcPts val="600"/>
              </a:spcBef>
              <a:buFont typeface="Wingdings" panose="05000000000000000000" pitchFamily="2" charset="2"/>
              <a:buChar char="Ø"/>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信道容量（传输速率）：香农定理</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0641" y="732192"/>
            <a:ext cx="2915237" cy="1650134"/>
          </a:xfrm>
          <a:prstGeom prst="rect">
            <a:avLst/>
          </a:prstGeom>
        </p:spPr>
      </p:pic>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40641" y="2442492"/>
            <a:ext cx="2915237" cy="1650134"/>
          </a:xfrm>
          <a:prstGeom prst="rect">
            <a:avLst/>
          </a:prstGeom>
        </p:spPr>
      </p:pic>
      <p:pic>
        <p:nvPicPr>
          <p:cNvPr id="10"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40641" y="4152792"/>
            <a:ext cx="2915237" cy="1650134"/>
          </a:xfrm>
          <a:prstGeom prst="rect">
            <a:avLst/>
          </a:prstGeom>
        </p:spPr>
      </p:pic>
      <p:sp>
        <p:nvSpPr>
          <p:cNvPr id="11" name="文本框 10"/>
          <p:cNvSpPr txBox="1"/>
          <p:nvPr/>
        </p:nvSpPr>
        <p:spPr>
          <a:xfrm>
            <a:off x="649157" y="3323414"/>
            <a:ext cx="5070763" cy="2003112"/>
          </a:xfrm>
          <a:prstGeom prst="rect">
            <a:avLst/>
          </a:prstGeom>
          <a:noFill/>
          <a:ln>
            <a:solidFill>
              <a:srgbClr val="C00000"/>
            </a:solidFill>
          </a:ln>
        </p:spPr>
        <p:txBody>
          <a:bodyPr wrap="square" rtlCol="0">
            <a:spAutoFit/>
          </a:bodyPr>
          <a:lstStyle/>
          <a:p>
            <a:pPr>
              <a:lnSpc>
                <a:spcPts val="2800"/>
              </a:lnSpc>
              <a:spcBef>
                <a:spcPts val="600"/>
              </a:spcBef>
            </a:pPr>
            <a:r>
              <a:rPr lang="zh-CN" altLang="en-US"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香农定理</a:t>
            </a:r>
            <a:r>
              <a:rPr lang="zh-CN" altLang="en-US" dirty="0">
                <a:latin typeface="Times New Roman" panose="02020603050405020304" pitchFamily="18" charset="0"/>
                <a:ea typeface="宋体" panose="02010600030101010101" pitchFamily="2" charset="-122"/>
                <a:cs typeface="Times New Roman" panose="02020603050405020304" pitchFamily="18" charset="0"/>
              </a:rPr>
              <a:t>：带宽受限且有高斯白噪声干扰的信道的</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极限</a:t>
            </a:r>
            <a:r>
              <a:rPr lang="zh-CN" altLang="en-US" dirty="0">
                <a:latin typeface="Times New Roman" panose="02020603050405020304" pitchFamily="18" charset="0"/>
                <a:ea typeface="宋体" panose="02010600030101010101" pitchFamily="2" charset="-122"/>
                <a:cs typeface="Times New Roman" panose="02020603050405020304" pitchFamily="18" charset="0"/>
              </a:rPr>
              <a:t>、无差错的信息传输速率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可表达为：</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lnSpc>
                <a:spcPts val="2800"/>
              </a:lnSpc>
              <a:spcBef>
                <a:spcPts val="600"/>
              </a:spcBef>
              <a:buClr>
                <a:srgbClr val="0070C0"/>
              </a:buClr>
            </a:pPr>
            <a:r>
              <a:rPr lang="en-US" altLang="zh-CN" b="1" i="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b="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b="1" i="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W</a:t>
            </a:r>
            <a:r>
              <a:rPr lang="en-US" altLang="zh-CN" b="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 log</a:t>
            </a:r>
            <a:r>
              <a:rPr lang="en-US" altLang="zh-CN" b="1" baseline="-25000"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b="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b="1" i="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b="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i="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    (bit/s) </a:t>
            </a:r>
          </a:p>
          <a:p>
            <a:pPr eaLnBrk="0" hangingPunct="0">
              <a:lnSpc>
                <a:spcPts val="2800"/>
              </a:lnSpc>
              <a:spcBef>
                <a:spcPts val="600"/>
              </a:spcBef>
              <a:buClr>
                <a:srgbClr val="0070C0"/>
              </a:buCl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W</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为信道的带宽；</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为信道内所传信号的平均功率；</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为信道内部的高斯噪声功率。 </a:t>
            </a:r>
          </a:p>
        </p:txBody>
      </p:sp>
      <p:sp>
        <p:nvSpPr>
          <p:cNvPr id="12" name="矩形 11"/>
          <p:cNvSpPr/>
          <p:nvPr/>
        </p:nvSpPr>
        <p:spPr>
          <a:xfrm>
            <a:off x="755073" y="5957793"/>
            <a:ext cx="3262432" cy="400110"/>
          </a:xfrm>
          <a:prstGeom prst="rect">
            <a:avLst/>
          </a:prstGeom>
          <a:solidFill>
            <a:schemeClr val="accent6">
              <a:lumMod val="20000"/>
              <a:lumOff val="80000"/>
            </a:schemeClr>
          </a:solidFill>
        </p:spPr>
        <p:txBody>
          <a:bodyPr wrap="square" rtlCol="0">
            <a:spAutoFit/>
          </a:bodyPr>
          <a:lstStyle/>
          <a:p>
            <a:r>
              <a:rPr lang="zh-CN" altLang="en-US" sz="2000" dirty="0">
                <a:solidFill>
                  <a:srgbClr val="C00000"/>
                </a:solidFill>
              </a:rPr>
              <a:t>关键：信号编码与调制技术</a:t>
            </a:r>
            <a:endParaRPr lang="en-US" altLang="zh-CN" sz="2000" dirty="0">
              <a:solidFill>
                <a:srgbClr val="C00000"/>
              </a:solidFill>
            </a:endParaRPr>
          </a:p>
        </p:txBody>
      </p:sp>
      <p:sp>
        <p:nvSpPr>
          <p:cNvPr id="9" name="矩形 8"/>
          <p:cNvSpPr/>
          <p:nvPr/>
        </p:nvSpPr>
        <p:spPr>
          <a:xfrm>
            <a:off x="6651035" y="5996384"/>
            <a:ext cx="1694447" cy="400110"/>
          </a:xfrm>
          <a:prstGeom prst="rect">
            <a:avLst/>
          </a:prstGeom>
          <a:solidFill>
            <a:schemeClr val="accent5">
              <a:lumMod val="20000"/>
              <a:lumOff val="80000"/>
            </a:schemeClr>
          </a:solidFill>
        </p:spPr>
        <p:txBody>
          <a:bodyPr wrap="square" rtlCol="0">
            <a:spAutoFit/>
          </a:bodyPr>
          <a:lstStyle/>
          <a:p>
            <a:r>
              <a:rPr lang="zh-CN" altLang="en-US" sz="2000" dirty="0">
                <a:solidFill>
                  <a:srgbClr val="C00000"/>
                </a:solidFill>
              </a:rPr>
              <a:t>带宽 </a:t>
            </a:r>
            <a:r>
              <a:rPr lang="en-US" altLang="zh-CN" sz="2000" dirty="0">
                <a:solidFill>
                  <a:srgbClr val="C00000"/>
                </a:solidFill>
              </a:rPr>
              <a:t>= </a:t>
            </a:r>
            <a:r>
              <a:rPr lang="zh-CN" altLang="en-US" sz="2000" dirty="0">
                <a:solidFill>
                  <a:srgbClr val="C00000"/>
                </a:solidFill>
              </a:rPr>
              <a:t>速率？</a:t>
            </a:r>
            <a:endParaRPr lang="en-US" altLang="zh-CN" sz="2000" dirty="0">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75785" y="716861"/>
            <a:ext cx="5868706" cy="3730317"/>
          </a:xfrm>
          <a:prstGeom prst="rect">
            <a:avLst/>
          </a:prstGeom>
          <a:noFill/>
        </p:spPr>
        <p:txBody>
          <a:bodyPr wrap="square" rtlCol="0">
            <a:spAutoFit/>
          </a:bodyPr>
          <a:lstStyle/>
          <a:p>
            <a:pPr indent="-342900">
              <a:lnSpc>
                <a:spcPts val="3600"/>
              </a:lnSpc>
              <a:spcBef>
                <a:spcPts val="600"/>
              </a:spcBef>
              <a:buSzPct val="100000"/>
              <a:buBlip>
                <a:blip r:embed="rId3"/>
              </a:buBlip>
              <a:defRPr/>
            </a:pPr>
            <a:r>
              <a:rPr lang="zh-CN" altLang="en-US" sz="2400" dirty="0">
                <a:solidFill>
                  <a:srgbClr val="C00000"/>
                </a:solidFill>
                <a:ea typeface="宋体" panose="02010600030101010101" pitchFamily="2" charset="-122"/>
                <a:cs typeface="Times New Roman" panose="02020603050405020304" pitchFamily="18" charset="0"/>
              </a:rPr>
              <a:t>几个基本概念（续）</a:t>
            </a:r>
            <a:endParaRPr lang="en-US" altLang="zh-CN" sz="2400" dirty="0">
              <a:solidFill>
                <a:srgbClr val="C00000"/>
              </a:solidFill>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串行传输与并行传输</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zh-CN" altLang="en-US" sz="2000" dirty="0">
                <a:ea typeface="宋体" panose="02010600030101010101" pitchFamily="2" charset="-122"/>
                <a:cs typeface="Times New Roman" panose="02020603050405020304" pitchFamily="18" charset="0"/>
              </a:rPr>
              <a:t>误码率、差错检测与纠正</a:t>
            </a:r>
            <a:endParaRPr lang="en-US" altLang="zh-CN" sz="2000" dirty="0">
              <a:ea typeface="宋体" panose="02010600030101010101" pitchFamily="2" charset="-122"/>
              <a:cs typeface="Times New Roman" panose="02020603050405020304" pitchFamily="18" charset="0"/>
            </a:endParaRPr>
          </a:p>
          <a:p>
            <a:pPr marL="1158875" lvl="2" indent="-342900">
              <a:lnSpc>
                <a:spcPts val="3600"/>
              </a:lnSpc>
              <a:spcBef>
                <a:spcPts val="600"/>
              </a:spcBef>
              <a:buFont typeface="Wingdings" panose="05000000000000000000" pitchFamily="2" charset="2"/>
              <a:buChar char="Ø"/>
              <a:defRPr/>
            </a:pPr>
            <a:r>
              <a:rPr lang="zh-CN" altLang="en-US" sz="2000" dirty="0">
                <a:ea typeface="宋体" panose="02010600030101010101" pitchFamily="2" charset="-122"/>
                <a:cs typeface="Times New Roman" panose="02020603050405020304" pitchFamily="18" charset="0"/>
              </a:rPr>
              <a:t>例如：</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CRC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校验码、海明码等</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zh-CN" altLang="en-US" sz="2000" dirty="0">
                <a:ea typeface="宋体" panose="02010600030101010101" pitchFamily="2" charset="-122"/>
                <a:cs typeface="Times New Roman" panose="02020603050405020304" pitchFamily="18" charset="0"/>
              </a:rPr>
              <a:t>网络协议与协议标准</a:t>
            </a:r>
            <a:endParaRPr lang="en-US" altLang="zh-CN" sz="2000" dirty="0">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zh-CN" altLang="en-US" sz="2000" dirty="0">
                <a:ea typeface="宋体" panose="02010600030101010101" pitchFamily="2" charset="-122"/>
                <a:cs typeface="Times New Roman" panose="02020603050405020304" pitchFamily="18" charset="0"/>
              </a:rPr>
              <a:t>协议数据单元</a:t>
            </a:r>
            <a:endParaRPr lang="en-US" altLang="zh-CN" sz="2000" dirty="0">
              <a:ea typeface="宋体" panose="02010600030101010101" pitchFamily="2" charset="-122"/>
              <a:cs typeface="Times New Roman" panose="02020603050405020304" pitchFamily="18" charset="0"/>
            </a:endParaRPr>
          </a:p>
          <a:p>
            <a:pPr marL="625475" lvl="1" indent="-266700">
              <a:lnSpc>
                <a:spcPts val="36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4"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pic>
        <p:nvPicPr>
          <p:cNvPr id="9" name="图片 8"/>
          <p:cNvPicPr>
            <a:picLocks noChangeAspect="1"/>
          </p:cNvPicPr>
          <p:nvPr/>
        </p:nvPicPr>
        <p:blipFill rotWithShape="1">
          <a:blip r:embed="rId5">
            <a:duotone>
              <a:schemeClr val="accent5">
                <a:shade val="45000"/>
                <a:satMod val="135000"/>
              </a:schemeClr>
              <a:prstClr val="white"/>
            </a:duotone>
          </a:blip>
          <a:srcRect r="48403"/>
          <a:stretch>
            <a:fillRect/>
          </a:stretch>
        </p:blipFill>
        <p:spPr>
          <a:xfrm>
            <a:off x="5411724" y="988671"/>
            <a:ext cx="3300984" cy="2732692"/>
          </a:xfrm>
          <a:prstGeom prst="rect">
            <a:avLst/>
          </a:prstGeom>
        </p:spPr>
      </p:pic>
      <p:pic>
        <p:nvPicPr>
          <p:cNvPr id="12" name="图片 11"/>
          <p:cNvPicPr>
            <a:picLocks noChangeAspect="1"/>
          </p:cNvPicPr>
          <p:nvPr/>
        </p:nvPicPr>
        <p:blipFill rotWithShape="1">
          <a:blip r:embed="rId5">
            <a:duotone>
              <a:schemeClr val="accent5">
                <a:shade val="45000"/>
                <a:satMod val="135000"/>
              </a:schemeClr>
              <a:prstClr val="white"/>
            </a:duotone>
          </a:blip>
          <a:srcRect l="57781"/>
          <a:stretch>
            <a:fillRect/>
          </a:stretch>
        </p:blipFill>
        <p:spPr>
          <a:xfrm>
            <a:off x="5411724" y="3892573"/>
            <a:ext cx="3145536" cy="2555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14730" cy="461665"/>
          </a:xfrm>
          <a:prstGeom prst="rect">
            <a:avLst/>
          </a:prstGeom>
          <a:noFill/>
        </p:spPr>
        <p:txBody>
          <a:bodyPr wrap="square" rtlCol="0">
            <a:spAutoFit/>
          </a:bodyPr>
          <a:lstStyle/>
          <a:p>
            <a:pPr algn="ct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多机通信：实现多台计算机之间的连接</a:t>
            </a:r>
          </a:p>
        </p:txBody>
      </p:sp>
      <p:sp>
        <p:nvSpPr>
          <p:cNvPr id="9"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pic>
        <p:nvPicPr>
          <p:cNvPr id="2" name="图片 1"/>
          <p:cNvPicPr>
            <a:picLocks noChangeAspect="1"/>
          </p:cNvPicPr>
          <p:nvPr/>
        </p:nvPicPr>
        <p:blipFill>
          <a:blip r:embed="rId3"/>
          <a:stretch>
            <a:fillRect/>
          </a:stretch>
        </p:blipFill>
        <p:spPr>
          <a:xfrm>
            <a:off x="700412" y="2099054"/>
            <a:ext cx="3407907" cy="2766860"/>
          </a:xfrm>
          <a:prstGeom prst="rect">
            <a:avLst/>
          </a:prstGeom>
        </p:spPr>
      </p:pic>
      <p:pic>
        <p:nvPicPr>
          <p:cNvPr id="3" name="图片 2"/>
          <p:cNvPicPr>
            <a:picLocks noChangeAspect="1"/>
          </p:cNvPicPr>
          <p:nvPr/>
        </p:nvPicPr>
        <p:blipFill>
          <a:blip r:embed="rId4"/>
          <a:stretch>
            <a:fillRect/>
          </a:stretch>
        </p:blipFill>
        <p:spPr>
          <a:xfrm>
            <a:off x="4634235" y="1671120"/>
            <a:ext cx="3998135" cy="4044173"/>
          </a:xfrm>
          <a:prstGeom prst="rect">
            <a:avLst/>
          </a:prstGeom>
        </p:spPr>
      </p:pic>
      <p:sp>
        <p:nvSpPr>
          <p:cNvPr id="4" name="矩形 3"/>
          <p:cNvSpPr/>
          <p:nvPr/>
        </p:nvSpPr>
        <p:spPr>
          <a:xfrm>
            <a:off x="2292772" y="5926278"/>
            <a:ext cx="4535240" cy="400110"/>
          </a:xfrm>
          <a:prstGeom prst="rect">
            <a:avLst/>
          </a:prstGeom>
          <a:ln>
            <a:solidFill>
              <a:srgbClr val="C00000"/>
            </a:solidFill>
          </a:ln>
        </p:spPr>
        <p:txBody>
          <a:bodyPr wrap="square">
            <a:spAutoFit/>
          </a:bodyPr>
          <a:lstStyle/>
          <a:p>
            <a:pPr algn="ctr"/>
            <a:r>
              <a:rPr lang="en-US" altLang="zh-CN" sz="2000" dirty="0">
                <a:latin typeface="Arial" panose="020B0604020202020204" pitchFamily="34" charset="0"/>
                <a:cs typeface="Arial" panose="020B0604020202020204" pitchFamily="34" charset="0"/>
              </a:rPr>
              <a:t>n</a:t>
            </a:r>
            <a:r>
              <a:rPr lang="zh-CN" altLang="en-US" sz="2000" dirty="0">
                <a:latin typeface="Arial" panose="020B0604020202020204" pitchFamily="34" charset="0"/>
                <a:cs typeface="Arial" panose="020B0604020202020204" pitchFamily="34" charset="0"/>
              </a:rPr>
              <a:t>台计算机之间需要</a:t>
            </a:r>
            <a:r>
              <a:rPr lang="en-US" altLang="zh-CN" sz="2000" dirty="0">
                <a:latin typeface="Arial" panose="020B0604020202020204" pitchFamily="34" charset="0"/>
                <a:cs typeface="Arial" panose="020B0604020202020204" pitchFamily="34" charset="0"/>
              </a:rPr>
              <a:t>n(n-1)/2</a:t>
            </a:r>
            <a:r>
              <a:rPr lang="zh-CN" altLang="en-US" sz="2000" dirty="0">
                <a:latin typeface="Arial" panose="020B0604020202020204" pitchFamily="34" charset="0"/>
                <a:cs typeface="Arial" panose="020B0604020202020204" pitchFamily="34" charset="0"/>
              </a:rPr>
              <a:t>条边连接</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53894" cy="461665"/>
          </a:xfrm>
          <a:prstGeom prst="rect">
            <a:avLst/>
          </a:prstGeom>
          <a:noFill/>
        </p:spPr>
        <p:txBody>
          <a:bodyPr wrap="square" rtlCol="0">
            <a:spAutoFit/>
          </a:bodyPr>
          <a:lstStyle/>
          <a:p>
            <a:pPr algn="ct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实现多台计算机之间连接的一般方法</a:t>
            </a:r>
          </a:p>
        </p:txBody>
      </p:sp>
      <p:pic>
        <p:nvPicPr>
          <p:cNvPr id="4" name="图片 3"/>
          <p:cNvPicPr>
            <a:picLocks noChangeAspect="1"/>
          </p:cNvPicPr>
          <p:nvPr/>
        </p:nvPicPr>
        <p:blipFill>
          <a:blip r:embed="rId3"/>
          <a:stretch>
            <a:fillRect/>
          </a:stretch>
        </p:blipFill>
        <p:spPr>
          <a:xfrm>
            <a:off x="978695" y="1668897"/>
            <a:ext cx="2951020" cy="1002599"/>
          </a:xfrm>
          <a:prstGeom prst="rect">
            <a:avLst/>
          </a:prstGeom>
        </p:spPr>
      </p:pic>
      <p:sp>
        <p:nvSpPr>
          <p:cNvPr id="6" name="文本框 5"/>
          <p:cNvSpPr txBox="1"/>
          <p:nvPr/>
        </p:nvSpPr>
        <p:spPr>
          <a:xfrm>
            <a:off x="1709403" y="5838002"/>
            <a:ext cx="1562100" cy="400110"/>
          </a:xfrm>
          <a:prstGeom prst="rect">
            <a:avLst/>
          </a:prstGeom>
          <a:solidFill>
            <a:schemeClr val="bg1"/>
          </a:solidFill>
          <a:ln>
            <a:solidFill>
              <a:srgbClr val="C00000"/>
            </a:solidFill>
          </a:ln>
        </p:spPr>
        <p:txBody>
          <a:bodyPr wrap="square" rtlCol="0">
            <a:spAutoFit/>
          </a:bodyPr>
          <a:lstStyle/>
          <a:p>
            <a:pPr algn="ctr"/>
            <a:r>
              <a:rPr lang="zh-CN" altLang="en-US" sz="2000" dirty="0"/>
              <a:t>共享式连接</a:t>
            </a:r>
          </a:p>
        </p:txBody>
      </p:sp>
      <p:sp>
        <p:nvSpPr>
          <p:cNvPr id="14" name="文本框 13"/>
          <p:cNvSpPr txBox="1"/>
          <p:nvPr/>
        </p:nvSpPr>
        <p:spPr>
          <a:xfrm>
            <a:off x="5965370" y="5816570"/>
            <a:ext cx="1562100" cy="400110"/>
          </a:xfrm>
          <a:prstGeom prst="rect">
            <a:avLst/>
          </a:prstGeom>
          <a:solidFill>
            <a:schemeClr val="bg1"/>
          </a:solidFill>
          <a:ln>
            <a:solidFill>
              <a:srgbClr val="C00000"/>
            </a:solidFill>
          </a:ln>
        </p:spPr>
        <p:txBody>
          <a:bodyPr wrap="square" rtlCol="0">
            <a:spAutoFit/>
          </a:bodyPr>
          <a:lstStyle>
            <a:defPPr>
              <a:defRPr lang="zh-CN"/>
            </a:defPPr>
            <a:lvl1pPr algn="ctr">
              <a:defRPr sz="2000"/>
            </a:lvl1pPr>
          </a:lstStyle>
          <a:p>
            <a:r>
              <a:rPr lang="zh-CN" altLang="en-US" dirty="0"/>
              <a:t>交换式连接</a:t>
            </a:r>
          </a:p>
        </p:txBody>
      </p:sp>
      <p:pic>
        <p:nvPicPr>
          <p:cNvPr id="10" name="图片 9"/>
          <p:cNvPicPr>
            <a:picLocks noChangeAspect="1"/>
          </p:cNvPicPr>
          <p:nvPr/>
        </p:nvPicPr>
        <p:blipFill>
          <a:blip r:embed="rId4"/>
          <a:stretch>
            <a:fillRect/>
          </a:stretch>
        </p:blipFill>
        <p:spPr>
          <a:xfrm>
            <a:off x="4691757" y="1551132"/>
            <a:ext cx="3984158" cy="4030035"/>
          </a:xfrm>
          <a:prstGeom prst="rect">
            <a:avLst/>
          </a:prstGeom>
        </p:spPr>
      </p:pic>
      <p:pic>
        <p:nvPicPr>
          <p:cNvPr id="2" name="图片 1"/>
          <p:cNvPicPr>
            <a:picLocks noChangeAspect="1"/>
          </p:cNvPicPr>
          <p:nvPr/>
        </p:nvPicPr>
        <p:blipFill>
          <a:blip r:embed="rId5"/>
          <a:stretch>
            <a:fillRect/>
          </a:stretch>
        </p:blipFill>
        <p:spPr>
          <a:xfrm>
            <a:off x="978694" y="3028889"/>
            <a:ext cx="2951020" cy="2717540"/>
          </a:xfrm>
          <a:prstGeom prst="rect">
            <a:avLst/>
          </a:prstGeom>
        </p:spPr>
      </p:pic>
      <p:sp>
        <p:nvSpPr>
          <p:cNvPr id="12" name="标题 1"/>
          <p:cNvSpPr txBox="1"/>
          <p:nvPr/>
        </p:nvSpPr>
        <p:spPr>
          <a:xfrm>
            <a:off x="592282" y="32661"/>
            <a:ext cx="787625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类比电话交换机</a:t>
            </a:r>
          </a:p>
        </p:txBody>
      </p:sp>
      <p:pic>
        <p:nvPicPr>
          <p:cNvPr id="2" name="图片 1"/>
          <p:cNvPicPr>
            <a:picLocks noChangeAspect="1"/>
          </p:cNvPicPr>
          <p:nvPr/>
        </p:nvPicPr>
        <p:blipFill>
          <a:blip r:embed="rId3"/>
          <a:stretch>
            <a:fillRect/>
          </a:stretch>
        </p:blipFill>
        <p:spPr>
          <a:xfrm>
            <a:off x="474353" y="1554690"/>
            <a:ext cx="3984255" cy="4030035"/>
          </a:xfrm>
          <a:prstGeom prst="rect">
            <a:avLst/>
          </a:prstGeom>
        </p:spPr>
      </p:pic>
      <p:pic>
        <p:nvPicPr>
          <p:cNvPr id="11" name="图片 10"/>
          <p:cNvPicPr>
            <a:picLocks noChangeAspect="1"/>
          </p:cNvPicPr>
          <p:nvPr/>
        </p:nvPicPr>
        <p:blipFill>
          <a:blip r:embed="rId4"/>
          <a:stretch>
            <a:fillRect/>
          </a:stretch>
        </p:blipFill>
        <p:spPr>
          <a:xfrm>
            <a:off x="4707580" y="1564505"/>
            <a:ext cx="3984158" cy="4030035"/>
          </a:xfrm>
          <a:prstGeom prst="rect">
            <a:avLst/>
          </a:prstGeom>
        </p:spPr>
      </p:pic>
      <p:sp>
        <p:nvSpPr>
          <p:cNvPr id="3" name="文本框 2"/>
          <p:cNvSpPr txBox="1"/>
          <p:nvPr/>
        </p:nvSpPr>
        <p:spPr>
          <a:xfrm>
            <a:off x="1910057" y="4044534"/>
            <a:ext cx="1414462" cy="369332"/>
          </a:xfrm>
          <a:prstGeom prst="rect">
            <a:avLst/>
          </a:prstGeom>
          <a:noFill/>
        </p:spPr>
        <p:txBody>
          <a:bodyPr wrap="square" rtlCol="0">
            <a:spAutoFit/>
          </a:bodyPr>
          <a:lstStyle/>
          <a:p>
            <a:pPr algn="ctr"/>
            <a:r>
              <a:rPr lang="zh-CN" altLang="en-US" dirty="0"/>
              <a:t>电话交换机</a:t>
            </a:r>
          </a:p>
        </p:txBody>
      </p:sp>
      <p:sp>
        <p:nvSpPr>
          <p:cNvPr id="8" name="文本框 7"/>
          <p:cNvSpPr txBox="1"/>
          <p:nvPr/>
        </p:nvSpPr>
        <p:spPr>
          <a:xfrm>
            <a:off x="1693576" y="5841056"/>
            <a:ext cx="1545807" cy="400110"/>
          </a:xfrm>
          <a:prstGeom prst="rect">
            <a:avLst/>
          </a:prstGeom>
          <a:noFill/>
          <a:ln>
            <a:solidFill>
              <a:srgbClr val="C00000"/>
            </a:solidFill>
          </a:ln>
        </p:spPr>
        <p:txBody>
          <a:bodyPr wrap="square" rtlCol="0">
            <a:spAutoFit/>
          </a:bodyPr>
          <a:lstStyle/>
          <a:p>
            <a:pPr algn="ctr"/>
            <a:r>
              <a:rPr lang="zh-CN" altLang="en-US" sz="2000" dirty="0"/>
              <a:t>电路交换</a:t>
            </a:r>
          </a:p>
        </p:txBody>
      </p:sp>
      <p:sp>
        <p:nvSpPr>
          <p:cNvPr id="10" name="文本框 9"/>
          <p:cNvSpPr txBox="1"/>
          <p:nvPr/>
        </p:nvSpPr>
        <p:spPr>
          <a:xfrm>
            <a:off x="6016671" y="5841056"/>
            <a:ext cx="1420839" cy="400110"/>
          </a:xfrm>
          <a:prstGeom prst="rect">
            <a:avLst/>
          </a:prstGeom>
          <a:noFill/>
          <a:ln>
            <a:solidFill>
              <a:srgbClr val="C00000"/>
            </a:solidFill>
          </a:ln>
        </p:spPr>
        <p:txBody>
          <a:bodyPr wrap="square" rtlCol="0">
            <a:spAutoFit/>
          </a:bodyPr>
          <a:lstStyle/>
          <a:p>
            <a:pPr algn="ctr"/>
            <a:r>
              <a:rPr lang="zh-CN" altLang="en-US" sz="2000" b="1" dirty="0">
                <a:solidFill>
                  <a:srgbClr val="C00000"/>
                </a:solidFill>
              </a:rPr>
              <a:t>分组交换</a:t>
            </a:r>
          </a:p>
        </p:txBody>
      </p:sp>
      <p:sp>
        <p:nvSpPr>
          <p:cNvPr id="9"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20462" cy="461665"/>
          </a:xfrm>
          <a:prstGeom prst="rect">
            <a:avLst/>
          </a:prstGeom>
          <a:noFill/>
        </p:spPr>
        <p:txBody>
          <a:bodyPr wrap="square" rtlCol="0">
            <a:spAutoFit/>
          </a:bodyPr>
          <a:lstStyle/>
          <a:p>
            <a:pPr algn="ct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扩展网络规模：网桥扩展</a:t>
            </a:r>
          </a:p>
        </p:txBody>
      </p:sp>
      <p:pic>
        <p:nvPicPr>
          <p:cNvPr id="2" name="图片 1"/>
          <p:cNvPicPr>
            <a:picLocks noChangeAspect="1"/>
          </p:cNvPicPr>
          <p:nvPr/>
        </p:nvPicPr>
        <p:blipFill>
          <a:blip r:embed="rId3"/>
          <a:stretch>
            <a:fillRect/>
          </a:stretch>
        </p:blipFill>
        <p:spPr>
          <a:xfrm>
            <a:off x="952055" y="2375554"/>
            <a:ext cx="3084563" cy="2908509"/>
          </a:xfrm>
          <a:prstGeom prst="rect">
            <a:avLst/>
          </a:prstGeom>
        </p:spPr>
      </p:pic>
      <p:pic>
        <p:nvPicPr>
          <p:cNvPr id="4" name="图片 3"/>
          <p:cNvPicPr>
            <a:picLocks noChangeAspect="1"/>
          </p:cNvPicPr>
          <p:nvPr/>
        </p:nvPicPr>
        <p:blipFill>
          <a:blip r:embed="rId4"/>
          <a:stretch>
            <a:fillRect/>
          </a:stretch>
        </p:blipFill>
        <p:spPr>
          <a:xfrm>
            <a:off x="4935534" y="1598762"/>
            <a:ext cx="3111821" cy="4595659"/>
          </a:xfrm>
          <a:prstGeom prst="rect">
            <a:avLst/>
          </a:prstGeom>
        </p:spPr>
      </p:pic>
      <p:sp>
        <p:nvSpPr>
          <p:cNvPr id="8"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53894" cy="461665"/>
          </a:xfrm>
          <a:prstGeom prst="rect">
            <a:avLst/>
          </a:prstGeom>
          <a:noFill/>
        </p:spPr>
        <p:txBody>
          <a:bodyPr wrap="square" rtlCol="0">
            <a:spAutoFit/>
          </a:bodyPr>
          <a:lstStyle/>
          <a:p>
            <a:pPr algn="ctr"/>
            <a:r>
              <a:rPr lang="zh-CN" altLang="en-US" sz="2400" b="1" dirty="0"/>
              <a:t>扩展网络规模：多交换机扩展</a:t>
            </a:r>
          </a:p>
        </p:txBody>
      </p:sp>
      <p:pic>
        <p:nvPicPr>
          <p:cNvPr id="3" name="图片 2"/>
          <p:cNvPicPr>
            <a:picLocks noChangeAspect="1"/>
          </p:cNvPicPr>
          <p:nvPr/>
        </p:nvPicPr>
        <p:blipFill>
          <a:blip r:embed="rId3"/>
          <a:stretch>
            <a:fillRect/>
          </a:stretch>
        </p:blipFill>
        <p:spPr>
          <a:xfrm>
            <a:off x="3887249" y="1598762"/>
            <a:ext cx="4882914" cy="4278086"/>
          </a:xfrm>
          <a:prstGeom prst="rect">
            <a:avLst/>
          </a:prstGeom>
        </p:spPr>
      </p:pic>
      <p:pic>
        <p:nvPicPr>
          <p:cNvPr id="8" name="图片 7"/>
          <p:cNvPicPr>
            <a:picLocks noChangeAspect="1"/>
          </p:cNvPicPr>
          <p:nvPr/>
        </p:nvPicPr>
        <p:blipFill>
          <a:blip r:embed="rId4"/>
          <a:stretch>
            <a:fillRect/>
          </a:stretch>
        </p:blipFill>
        <p:spPr>
          <a:xfrm>
            <a:off x="577567" y="2446005"/>
            <a:ext cx="2712103" cy="2743332"/>
          </a:xfrm>
          <a:prstGeom prst="rect">
            <a:avLst/>
          </a:prstGeom>
        </p:spPr>
      </p:pic>
      <p:sp>
        <p:nvSpPr>
          <p:cNvPr id="4" name="箭头: 右 3"/>
          <p:cNvSpPr/>
          <p:nvPr/>
        </p:nvSpPr>
        <p:spPr>
          <a:xfrm>
            <a:off x="3340529" y="3643124"/>
            <a:ext cx="546720" cy="2692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60714" y="5876848"/>
            <a:ext cx="1545807" cy="400110"/>
          </a:xfrm>
          <a:prstGeom prst="rect">
            <a:avLst/>
          </a:prstGeom>
          <a:noFill/>
          <a:ln>
            <a:solidFill>
              <a:srgbClr val="C00000"/>
            </a:solidFill>
          </a:ln>
        </p:spPr>
        <p:txBody>
          <a:bodyPr wrap="square" rtlCol="0">
            <a:spAutoFit/>
          </a:bodyPr>
          <a:lstStyle/>
          <a:p>
            <a:pPr algn="ctr"/>
            <a:r>
              <a:rPr lang="zh-CN" altLang="en-US" sz="2000" dirty="0"/>
              <a:t>单交换机</a:t>
            </a:r>
          </a:p>
        </p:txBody>
      </p:sp>
      <p:sp>
        <p:nvSpPr>
          <p:cNvPr id="11" name="文本框 10"/>
          <p:cNvSpPr txBox="1"/>
          <p:nvPr/>
        </p:nvSpPr>
        <p:spPr>
          <a:xfrm>
            <a:off x="5489188" y="5876848"/>
            <a:ext cx="1545807" cy="400110"/>
          </a:xfrm>
          <a:prstGeom prst="rect">
            <a:avLst/>
          </a:prstGeom>
          <a:noFill/>
          <a:ln>
            <a:solidFill>
              <a:srgbClr val="C00000"/>
            </a:solidFill>
          </a:ln>
        </p:spPr>
        <p:txBody>
          <a:bodyPr wrap="square" rtlCol="0">
            <a:spAutoFit/>
          </a:bodyPr>
          <a:lstStyle/>
          <a:p>
            <a:pPr algn="ctr"/>
            <a:r>
              <a:rPr lang="zh-CN" altLang="en-US" sz="2000" dirty="0"/>
              <a:t>多交换机</a:t>
            </a:r>
          </a:p>
        </p:txBody>
      </p:sp>
      <p:sp>
        <p:nvSpPr>
          <p:cNvPr id="12"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dirty="0"/>
              <a:t>类比电话网络</a:t>
            </a:r>
          </a:p>
        </p:txBody>
      </p:sp>
      <p:pic>
        <p:nvPicPr>
          <p:cNvPr id="4" name="图片 3"/>
          <p:cNvPicPr>
            <a:picLocks noChangeAspect="1"/>
          </p:cNvPicPr>
          <p:nvPr/>
        </p:nvPicPr>
        <p:blipFill>
          <a:blip r:embed="rId3"/>
          <a:stretch>
            <a:fillRect/>
          </a:stretch>
        </p:blipFill>
        <p:spPr>
          <a:xfrm>
            <a:off x="742548" y="1975075"/>
            <a:ext cx="3714420" cy="3234439"/>
          </a:xfrm>
          <a:prstGeom prst="rect">
            <a:avLst/>
          </a:prstGeom>
        </p:spPr>
      </p:pic>
      <p:sp>
        <p:nvSpPr>
          <p:cNvPr id="5" name="文本框 4"/>
          <p:cNvSpPr txBox="1"/>
          <p:nvPr/>
        </p:nvSpPr>
        <p:spPr>
          <a:xfrm>
            <a:off x="689451" y="5814643"/>
            <a:ext cx="3820613" cy="400110"/>
          </a:xfrm>
          <a:prstGeom prst="rect">
            <a:avLst/>
          </a:prstGeom>
          <a:noFill/>
          <a:ln>
            <a:solidFill>
              <a:srgbClr val="C00000"/>
            </a:solidFill>
          </a:ln>
        </p:spPr>
        <p:txBody>
          <a:bodyPr wrap="square" rtlCol="0">
            <a:spAutoFit/>
          </a:bodyPr>
          <a:lstStyle/>
          <a:p>
            <a:pPr algn="ctr"/>
            <a:r>
              <a:rPr lang="zh-CN" altLang="en-US" sz="2000" dirty="0">
                <a:solidFill>
                  <a:srgbClr val="2A09B7"/>
                </a:solidFill>
              </a:rPr>
              <a:t>电路交换、时分与频分多路复用</a:t>
            </a:r>
          </a:p>
        </p:txBody>
      </p:sp>
      <p:pic>
        <p:nvPicPr>
          <p:cNvPr id="6" name="图片 5"/>
          <p:cNvPicPr>
            <a:picLocks noChangeAspect="1"/>
          </p:cNvPicPr>
          <p:nvPr/>
        </p:nvPicPr>
        <p:blipFill>
          <a:blip r:embed="rId4"/>
          <a:stretch>
            <a:fillRect/>
          </a:stretch>
        </p:blipFill>
        <p:spPr>
          <a:xfrm>
            <a:off x="4841900" y="1838466"/>
            <a:ext cx="3927196" cy="3440750"/>
          </a:xfrm>
          <a:prstGeom prst="rect">
            <a:avLst/>
          </a:prstGeom>
        </p:spPr>
      </p:pic>
      <p:sp>
        <p:nvSpPr>
          <p:cNvPr id="8" name="文本框 7"/>
          <p:cNvSpPr txBox="1"/>
          <p:nvPr/>
        </p:nvSpPr>
        <p:spPr>
          <a:xfrm>
            <a:off x="5353965" y="5795414"/>
            <a:ext cx="3058515" cy="400110"/>
          </a:xfrm>
          <a:prstGeom prst="rect">
            <a:avLst/>
          </a:prstGeom>
          <a:noFill/>
          <a:ln w="28575">
            <a:solidFill>
              <a:srgbClr val="0070C0"/>
            </a:solidFill>
          </a:ln>
        </p:spPr>
        <p:txBody>
          <a:bodyPr wrap="square" rtlCol="0">
            <a:spAutoFit/>
          </a:bodyPr>
          <a:lstStyle/>
          <a:p>
            <a:pPr algn="ctr"/>
            <a:r>
              <a:rPr lang="zh-CN" altLang="en-US" sz="2000" b="1" dirty="0">
                <a:solidFill>
                  <a:srgbClr val="C00000"/>
                </a:solidFill>
              </a:rPr>
              <a:t>分组交换、统计多路复用</a:t>
            </a:r>
          </a:p>
        </p:txBody>
      </p:sp>
      <p:sp>
        <p:nvSpPr>
          <p:cNvPr id="9"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478899" cy="461665"/>
          </a:xfrm>
          <a:prstGeom prst="rect">
            <a:avLst/>
          </a:prstGeom>
          <a:noFill/>
        </p:spPr>
        <p:txBody>
          <a:bodyPr wrap="square" rtlCol="0">
            <a:spAutoFit/>
          </a:bodyPr>
          <a:lstStyle/>
          <a:p>
            <a:pPr algn="ctr"/>
            <a:r>
              <a:rPr lang="zh-CN" altLang="en-US" sz="2400" b="1" dirty="0"/>
              <a:t>连接多种类型的网络：网络互联</a:t>
            </a:r>
          </a:p>
        </p:txBody>
      </p:sp>
      <p:sp>
        <p:nvSpPr>
          <p:cNvPr id="6" name="文本框 5"/>
          <p:cNvSpPr txBox="1"/>
          <p:nvPr/>
        </p:nvSpPr>
        <p:spPr>
          <a:xfrm>
            <a:off x="2579842" y="3709910"/>
            <a:ext cx="963386" cy="584775"/>
          </a:xfrm>
          <a:prstGeom prst="rect">
            <a:avLst/>
          </a:prstGeom>
          <a:noFill/>
        </p:spPr>
        <p:txBody>
          <a:bodyPr wrap="square" rtlCol="0">
            <a:spAutoFit/>
          </a:bodyPr>
          <a:lstStyle/>
          <a:p>
            <a:pPr algn="ctr"/>
            <a:r>
              <a:rPr lang="zh-CN" altLang="en-US" sz="1600" dirty="0"/>
              <a:t>路由器</a:t>
            </a:r>
            <a:endParaRPr lang="en-US" altLang="zh-CN" sz="1600" dirty="0"/>
          </a:p>
          <a:p>
            <a:pPr algn="ctr"/>
            <a:r>
              <a:rPr lang="zh-CN" altLang="en-US" sz="1600" dirty="0"/>
              <a:t>网关</a:t>
            </a:r>
          </a:p>
        </p:txBody>
      </p:sp>
      <p:pic>
        <p:nvPicPr>
          <p:cNvPr id="3" name="图片 2"/>
          <p:cNvPicPr>
            <a:picLocks noChangeAspect="1"/>
          </p:cNvPicPr>
          <p:nvPr/>
        </p:nvPicPr>
        <p:blipFill>
          <a:blip r:embed="rId3"/>
          <a:stretch>
            <a:fillRect/>
          </a:stretch>
        </p:blipFill>
        <p:spPr>
          <a:xfrm>
            <a:off x="448253" y="1385958"/>
            <a:ext cx="8272441" cy="4456332"/>
          </a:xfrm>
          <a:prstGeom prst="rect">
            <a:avLst/>
          </a:prstGeom>
        </p:spPr>
      </p:pic>
      <p:sp>
        <p:nvSpPr>
          <p:cNvPr id="10" name="文本框 9"/>
          <p:cNvSpPr txBox="1"/>
          <p:nvPr/>
        </p:nvSpPr>
        <p:spPr>
          <a:xfrm>
            <a:off x="2969079" y="6109874"/>
            <a:ext cx="3058515" cy="400110"/>
          </a:xfrm>
          <a:prstGeom prst="rect">
            <a:avLst/>
          </a:prstGeom>
          <a:noFill/>
          <a:ln w="28575">
            <a:solidFill>
              <a:srgbClr val="0070C0"/>
            </a:solidFill>
          </a:ln>
        </p:spPr>
        <p:txBody>
          <a:bodyPr wrap="square" rtlCol="0">
            <a:spAutoFit/>
          </a:bodyPr>
          <a:lstStyle>
            <a:defPPr>
              <a:defRPr lang="zh-CN"/>
            </a:defPPr>
            <a:lvl1pPr algn="ctr">
              <a:defRPr sz="2000" b="1">
                <a:solidFill>
                  <a:srgbClr val="C00000"/>
                </a:solidFill>
              </a:defRPr>
            </a:lvl1pPr>
          </a:lstStyle>
          <a:p>
            <a:r>
              <a:rPr lang="zh-CN" altLang="en-US" dirty="0"/>
              <a:t>分组交换、统计多路复用</a:t>
            </a:r>
          </a:p>
        </p:txBody>
      </p:sp>
      <p:sp>
        <p:nvSpPr>
          <p:cNvPr id="2" name="文本框 1"/>
          <p:cNvSpPr txBox="1"/>
          <p:nvPr/>
        </p:nvSpPr>
        <p:spPr>
          <a:xfrm>
            <a:off x="738967" y="2078495"/>
            <a:ext cx="457200" cy="461665"/>
          </a:xfrm>
          <a:prstGeom prst="rect">
            <a:avLst/>
          </a:prstGeom>
          <a:noFill/>
        </p:spPr>
        <p:txBody>
          <a:bodyPr wrap="square" rtlCol="0">
            <a:spAutoFit/>
          </a:bodyPr>
          <a:lstStyle/>
          <a:p>
            <a:pPr algn="ctr"/>
            <a:r>
              <a:rPr lang="en-US" altLang="zh-CN" sz="2400" b="1" dirty="0">
                <a:solidFill>
                  <a:srgbClr val="C00000"/>
                </a:solidFill>
              </a:rPr>
              <a:t>A</a:t>
            </a:r>
            <a:endParaRPr lang="zh-CN" altLang="en-US" sz="2400" b="1" dirty="0">
              <a:solidFill>
                <a:srgbClr val="C00000"/>
              </a:solidFill>
            </a:endParaRPr>
          </a:p>
        </p:txBody>
      </p:sp>
      <p:sp>
        <p:nvSpPr>
          <p:cNvPr id="4" name="文本框 3"/>
          <p:cNvSpPr txBox="1"/>
          <p:nvPr/>
        </p:nvSpPr>
        <p:spPr>
          <a:xfrm>
            <a:off x="8011338" y="5694376"/>
            <a:ext cx="457200" cy="461665"/>
          </a:xfrm>
          <a:prstGeom prst="rect">
            <a:avLst/>
          </a:prstGeom>
          <a:noFill/>
        </p:spPr>
        <p:txBody>
          <a:bodyPr wrap="square" rtlCol="0">
            <a:spAutoFit/>
          </a:bodyPr>
          <a:lstStyle/>
          <a:p>
            <a:pPr algn="ctr"/>
            <a:r>
              <a:rPr lang="en-US" altLang="zh-CN" sz="2400" b="1" dirty="0">
                <a:solidFill>
                  <a:srgbClr val="00B0F0"/>
                </a:solidFill>
              </a:rPr>
              <a:t>B</a:t>
            </a:r>
            <a:endParaRPr lang="zh-CN" altLang="en-US" sz="2400" b="1" dirty="0">
              <a:solidFill>
                <a:srgbClr val="00B0F0"/>
              </a:solidFill>
            </a:endParaRPr>
          </a:p>
        </p:txBody>
      </p:sp>
      <p:sp>
        <p:nvSpPr>
          <p:cNvPr id="9"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841374"/>
            <a:ext cx="8553894" cy="461665"/>
          </a:xfrm>
          <a:prstGeom prst="rect">
            <a:avLst/>
          </a:prstGeom>
          <a:noFill/>
        </p:spPr>
        <p:txBody>
          <a:bodyPr wrap="square" rtlCol="0">
            <a:spAutoFit/>
          </a:bodyPr>
          <a:lstStyle/>
          <a:p>
            <a:pPr algn="ctr"/>
            <a:r>
              <a:rPr lang="zh-CN" altLang="en-US" sz="2400" b="1" dirty="0"/>
              <a:t>多种网络连接抽象</a:t>
            </a:r>
          </a:p>
        </p:txBody>
      </p:sp>
      <p:pic>
        <p:nvPicPr>
          <p:cNvPr id="6" name="图片 5"/>
          <p:cNvPicPr>
            <a:picLocks noChangeAspect="1"/>
          </p:cNvPicPr>
          <p:nvPr/>
        </p:nvPicPr>
        <p:blipFill>
          <a:blip r:embed="rId3"/>
          <a:stretch>
            <a:fillRect/>
          </a:stretch>
        </p:blipFill>
        <p:spPr>
          <a:xfrm>
            <a:off x="1178351" y="1598762"/>
            <a:ext cx="6814653" cy="4106068"/>
          </a:xfrm>
          <a:prstGeom prst="rect">
            <a:avLst/>
          </a:prstGeom>
        </p:spPr>
      </p:pic>
      <p:sp>
        <p:nvSpPr>
          <p:cNvPr id="8" name="标题 1"/>
          <p:cNvSpPr txBox="1"/>
          <p:nvPr/>
        </p:nvSpPr>
        <p:spPr>
          <a:xfrm>
            <a:off x="588819" y="32661"/>
            <a:ext cx="7879720"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1.1 </a:t>
            </a:r>
            <a:r>
              <a:rPr lang="zh-CN" altLang="en-US" sz="3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计算机网络构成及基本概念</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743400"/>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ARPANET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初始结构（使用分组交换技术）</a:t>
            </a:r>
          </a:p>
        </p:txBody>
      </p:sp>
      <p:sp>
        <p:nvSpPr>
          <p:cNvPr id="9"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sp>
        <p:nvSpPr>
          <p:cNvPr id="8" name="文本框 7"/>
          <p:cNvSpPr txBox="1"/>
          <p:nvPr/>
        </p:nvSpPr>
        <p:spPr>
          <a:xfrm>
            <a:off x="502449" y="6137060"/>
            <a:ext cx="4027715" cy="400110"/>
          </a:xfrm>
          <a:prstGeom prst="rect">
            <a:avLst/>
          </a:prstGeom>
          <a:noFill/>
          <a:ln>
            <a:solidFill>
              <a:srgbClr val="C00000"/>
            </a:solidFill>
          </a:ln>
        </p:spPr>
        <p:txBody>
          <a:bodyPr wrap="square" rtlCol="0">
            <a:spAutoFit/>
          </a:bodyPr>
          <a:lstStyle/>
          <a:p>
            <a:pPr algn="ctr"/>
            <a:r>
              <a:rPr lang="en-US" altLang="zh-CN" sz="2000" dirty="0"/>
              <a:t>IMP</a:t>
            </a:r>
            <a:r>
              <a:rPr lang="zh-CN" altLang="en-US" sz="2000" dirty="0"/>
              <a:t>：</a:t>
            </a:r>
            <a:r>
              <a:rPr lang="en-US" altLang="zh-CN" sz="2000" dirty="0"/>
              <a:t>Interface Message Processor</a:t>
            </a:r>
            <a:endParaRPr lang="zh-CN" altLang="en-US" sz="2000" dirty="0"/>
          </a:p>
        </p:txBody>
      </p:sp>
      <p:pic>
        <p:nvPicPr>
          <p:cNvPr id="3" name="图片 2"/>
          <p:cNvPicPr>
            <a:picLocks noChangeAspect="1"/>
          </p:cNvPicPr>
          <p:nvPr/>
        </p:nvPicPr>
        <p:blipFill>
          <a:blip r:embed="rId3"/>
          <a:stretch>
            <a:fillRect/>
          </a:stretch>
        </p:blipFill>
        <p:spPr>
          <a:xfrm>
            <a:off x="1231952" y="1282452"/>
            <a:ext cx="6596423" cy="4777221"/>
          </a:xfrm>
          <a:prstGeom prst="rect">
            <a:avLst/>
          </a:prstGeom>
        </p:spPr>
      </p:pic>
      <p:sp>
        <p:nvSpPr>
          <p:cNvPr id="10" name="文本框 9"/>
          <p:cNvSpPr txBox="1"/>
          <p:nvPr/>
        </p:nvSpPr>
        <p:spPr>
          <a:xfrm>
            <a:off x="4723957" y="6137060"/>
            <a:ext cx="3756656" cy="400110"/>
          </a:xfrm>
          <a:prstGeom prst="rect">
            <a:avLst/>
          </a:prstGeom>
          <a:noFill/>
          <a:ln>
            <a:solidFill>
              <a:srgbClr val="C00000"/>
            </a:solidFill>
          </a:ln>
        </p:spPr>
        <p:txBody>
          <a:bodyPr wrap="square" rtlCol="0">
            <a:spAutoFit/>
          </a:bodyPr>
          <a:lstStyle/>
          <a:p>
            <a:pPr algn="ctr"/>
            <a:r>
              <a:rPr lang="en-US" altLang="zh-CN" sz="2000" dirty="0"/>
              <a:t>NCP</a:t>
            </a:r>
            <a:r>
              <a:rPr lang="zh-CN" altLang="en-US" sz="2000" dirty="0"/>
              <a:t>：</a:t>
            </a:r>
            <a:r>
              <a:rPr lang="en-US" altLang="zh-CN" sz="2000" dirty="0"/>
              <a:t>Network Control Protocol</a:t>
            </a:r>
            <a:endParaRPr lang="zh-CN" altLang="en-US" sz="2000" dirty="0"/>
          </a:p>
        </p:txBody>
      </p:sp>
      <p:sp>
        <p:nvSpPr>
          <p:cNvPr id="2" name="矩形 1"/>
          <p:cNvSpPr/>
          <p:nvPr/>
        </p:nvSpPr>
        <p:spPr>
          <a:xfrm>
            <a:off x="1099594" y="1205065"/>
            <a:ext cx="1914735" cy="2425954"/>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743400"/>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ARPANET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规模扩大</a:t>
            </a:r>
          </a:p>
        </p:txBody>
      </p:sp>
      <p:sp>
        <p:nvSpPr>
          <p:cNvPr id="9"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pic>
        <p:nvPicPr>
          <p:cNvPr id="11"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524" y="1621670"/>
            <a:ext cx="4652963"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04096" y="1439413"/>
            <a:ext cx="3552825"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415524" y="1526709"/>
            <a:ext cx="2223504" cy="1502432"/>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6" y="743400"/>
            <a:ext cx="8658093" cy="1938992"/>
          </a:xfrm>
          <a:prstGeom prst="rect">
            <a:avLst/>
          </a:prstGeom>
          <a:noFill/>
        </p:spPr>
        <p:txBody>
          <a:bodyPr wrap="square" rtlCol="0">
            <a:spAutoFit/>
          </a:bodyPr>
          <a:lstStyle/>
          <a:p>
            <a:pPr marL="342900" indent="-342900">
              <a:lnSpc>
                <a:spcPts val="3600"/>
              </a:lnSpc>
              <a:buClr>
                <a:srgbClr val="C00000"/>
              </a:buClr>
              <a:buFont typeface="Wingdings" panose="05000000000000000000" pitchFamily="2" charset="2"/>
              <a:buChar char="n"/>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TCP/IP</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协议设计与应用，实现异构网络互联</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3" indent="-342900">
              <a:lnSpc>
                <a:spcPts val="3600"/>
              </a:lnSpc>
              <a:buClr>
                <a:srgbClr val="002060"/>
              </a:buClr>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协议基于开放式的网络体系结构，其</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开放性、兼容性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对于国际互联网的顺利发展具有重要意义，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TCP/IP</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开放性理念</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成为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Internet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成功的决定性因素</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799643" y="2705941"/>
            <a:ext cx="5316017" cy="3592829"/>
          </a:xfrm>
          <a:prstGeom prst="rect">
            <a:avLst/>
          </a:prstGeom>
        </p:spPr>
      </p:pic>
      <p:sp>
        <p:nvSpPr>
          <p:cNvPr id="8" name="TextBox 5"/>
          <p:cNvSpPr txBox="1">
            <a:spLocks noChangeArrowheads="1"/>
          </p:cNvSpPr>
          <p:nvPr/>
        </p:nvSpPr>
        <p:spPr bwMode="auto">
          <a:xfrm>
            <a:off x="6711950" y="3790583"/>
            <a:ext cx="23497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a:solidFill>
                  <a:schemeClr val="tx1"/>
                </a:solidFill>
                <a:latin typeface="Times New Roman" panose="02020603050405020304" pitchFamily="18" charset="0"/>
                <a:ea typeface="宋体" panose="02010600030101010101" pitchFamily="2" charset="-122"/>
              </a:defRPr>
            </a:lvl1pPr>
            <a:lvl2pPr marL="742950" indent="-285750" eaLnBrk="0" hangingPunct="0">
              <a:defRPr sz="500">
                <a:solidFill>
                  <a:schemeClr val="tx1"/>
                </a:solidFill>
                <a:latin typeface="Times New Roman" panose="02020603050405020304" pitchFamily="18" charset="0"/>
                <a:ea typeface="宋体" panose="02010600030101010101" pitchFamily="2" charset="-122"/>
              </a:defRPr>
            </a:lvl2pPr>
            <a:lvl3pPr marL="1143000" indent="-228600" eaLnBrk="0" hangingPunct="0">
              <a:defRPr sz="500">
                <a:solidFill>
                  <a:schemeClr val="tx1"/>
                </a:solidFill>
                <a:latin typeface="Times New Roman" panose="02020603050405020304" pitchFamily="18" charset="0"/>
                <a:ea typeface="宋体" panose="02010600030101010101" pitchFamily="2" charset="-122"/>
              </a:defRPr>
            </a:lvl3pPr>
            <a:lvl4pPr marL="1600200" indent="-228600" eaLnBrk="0" hangingPunct="0">
              <a:defRPr sz="500">
                <a:solidFill>
                  <a:schemeClr val="tx1"/>
                </a:solidFill>
                <a:latin typeface="Times New Roman" panose="02020603050405020304" pitchFamily="18" charset="0"/>
                <a:ea typeface="宋体" panose="02010600030101010101" pitchFamily="2" charset="-122"/>
              </a:defRPr>
            </a:lvl4pPr>
            <a:lvl5pPr marL="2057400" indent="-228600" eaLnBrk="0" hangingPunct="0">
              <a:defRPr sz="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9pPr>
          </a:lstStyle>
          <a:p>
            <a:pPr algn="ctr"/>
            <a:r>
              <a:rPr lang="en-US" altLang="zh-CN" sz="1800" b="1" dirty="0"/>
              <a:t>Vinton G. Cerf</a:t>
            </a:r>
          </a:p>
          <a:p>
            <a:pPr algn="ctr"/>
            <a:r>
              <a:rPr lang="zh-CN" altLang="en-US" sz="1800" b="1" dirty="0"/>
              <a:t>温顿·瑟夫</a:t>
            </a:r>
            <a:endParaRPr lang="en-US" altLang="zh-CN" sz="1800" b="1" dirty="0"/>
          </a:p>
        </p:txBody>
      </p:sp>
      <p:sp>
        <p:nvSpPr>
          <p:cNvPr id="10" name="TextBox 5"/>
          <p:cNvSpPr txBox="1">
            <a:spLocks noChangeArrowheads="1"/>
          </p:cNvSpPr>
          <p:nvPr/>
        </p:nvSpPr>
        <p:spPr bwMode="auto">
          <a:xfrm>
            <a:off x="6844792" y="5975605"/>
            <a:ext cx="21211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a:solidFill>
                  <a:schemeClr val="tx1"/>
                </a:solidFill>
                <a:latin typeface="Times New Roman" panose="02020603050405020304" pitchFamily="18" charset="0"/>
                <a:ea typeface="宋体" panose="02010600030101010101" pitchFamily="2" charset="-122"/>
              </a:defRPr>
            </a:lvl1pPr>
            <a:lvl2pPr marL="742950" indent="-285750" eaLnBrk="0" hangingPunct="0">
              <a:defRPr sz="500">
                <a:solidFill>
                  <a:schemeClr val="tx1"/>
                </a:solidFill>
                <a:latin typeface="Times New Roman" panose="02020603050405020304" pitchFamily="18" charset="0"/>
                <a:ea typeface="宋体" panose="02010600030101010101" pitchFamily="2" charset="-122"/>
              </a:defRPr>
            </a:lvl2pPr>
            <a:lvl3pPr marL="1143000" indent="-228600" eaLnBrk="0" hangingPunct="0">
              <a:defRPr sz="500">
                <a:solidFill>
                  <a:schemeClr val="tx1"/>
                </a:solidFill>
                <a:latin typeface="Times New Roman" panose="02020603050405020304" pitchFamily="18" charset="0"/>
                <a:ea typeface="宋体" panose="02010600030101010101" pitchFamily="2" charset="-122"/>
              </a:defRPr>
            </a:lvl3pPr>
            <a:lvl4pPr marL="1600200" indent="-228600" eaLnBrk="0" hangingPunct="0">
              <a:defRPr sz="500">
                <a:solidFill>
                  <a:schemeClr val="tx1"/>
                </a:solidFill>
                <a:latin typeface="Times New Roman" panose="02020603050405020304" pitchFamily="18" charset="0"/>
                <a:ea typeface="宋体" panose="02010600030101010101" pitchFamily="2" charset="-122"/>
              </a:defRPr>
            </a:lvl4pPr>
            <a:lvl5pPr marL="2057400" indent="-228600" eaLnBrk="0" hangingPunct="0">
              <a:defRPr sz="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500">
                <a:solidFill>
                  <a:schemeClr val="tx1"/>
                </a:solidFill>
                <a:latin typeface="Times New Roman" panose="02020603050405020304" pitchFamily="18" charset="0"/>
                <a:ea typeface="宋体" panose="02010600030101010101" pitchFamily="2" charset="-122"/>
              </a:defRPr>
            </a:lvl9pPr>
          </a:lstStyle>
          <a:p>
            <a:pPr algn="ctr"/>
            <a:r>
              <a:rPr lang="en-US" altLang="zh-CN" sz="1800" b="1" dirty="0"/>
              <a:t>Robert</a:t>
            </a:r>
            <a:r>
              <a:rPr lang="en-US" altLang="zh-CN" sz="1800" b="1"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dirty="0"/>
              <a:t>E. Kahn</a:t>
            </a:r>
          </a:p>
          <a:p>
            <a:pPr algn="ctr"/>
            <a:r>
              <a:rPr lang="zh-CN" altLang="en-US" sz="1800" b="1" dirty="0"/>
              <a:t>罗伯特·卡恩</a:t>
            </a:r>
            <a:endParaRPr lang="en-US" altLang="zh-CN" sz="1800" b="1" dirty="0"/>
          </a:p>
        </p:txBody>
      </p:sp>
      <p:sp>
        <p:nvSpPr>
          <p:cNvPr id="1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pic>
        <p:nvPicPr>
          <p:cNvPr id="14" name="图片 13"/>
          <p:cNvPicPr>
            <a:picLocks noChangeAspect="1"/>
          </p:cNvPicPr>
          <p:nvPr/>
        </p:nvPicPr>
        <p:blipFill>
          <a:blip r:embed="rId4"/>
          <a:stretch>
            <a:fillRect/>
          </a:stretch>
        </p:blipFill>
        <p:spPr>
          <a:xfrm>
            <a:off x="7286244" y="4442080"/>
            <a:ext cx="1238250" cy="1533525"/>
          </a:xfrm>
          <a:prstGeom prst="rect">
            <a:avLst/>
          </a:prstGeom>
        </p:spPr>
      </p:pic>
      <p:pic>
        <p:nvPicPr>
          <p:cNvPr id="16" name="图片 15"/>
          <p:cNvPicPr>
            <a:picLocks noChangeAspect="1"/>
          </p:cNvPicPr>
          <p:nvPr/>
        </p:nvPicPr>
        <p:blipFill>
          <a:blip r:embed="rId5"/>
          <a:stretch>
            <a:fillRect/>
          </a:stretch>
        </p:blipFill>
        <p:spPr>
          <a:xfrm>
            <a:off x="7286244" y="2262224"/>
            <a:ext cx="1238250" cy="15335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743400"/>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互联网管理</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自治系统（</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AS</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Autonomous System</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文本框 3"/>
          <p:cNvSpPr txBox="1"/>
          <p:nvPr/>
        </p:nvSpPr>
        <p:spPr>
          <a:xfrm>
            <a:off x="2710548" y="6100332"/>
            <a:ext cx="3738851" cy="400110"/>
          </a:xfrm>
          <a:prstGeom prst="rect">
            <a:avLst/>
          </a:prstGeom>
          <a:noFill/>
          <a:ln>
            <a:solidFill>
              <a:srgbClr val="C00000"/>
            </a:solidFill>
          </a:ln>
        </p:spPr>
        <p:txBody>
          <a:bodyPr wrap="square" rtlCol="0">
            <a:spAutoFit/>
          </a:bodyPr>
          <a:lstStyle/>
          <a:p>
            <a:pPr algn="ctr"/>
            <a:r>
              <a:rPr lang="zh-CN" altLang="en-US" sz="2000" dirty="0"/>
              <a:t>每个自治域分配一个自治域号</a:t>
            </a:r>
          </a:p>
        </p:txBody>
      </p:sp>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pic>
        <p:nvPicPr>
          <p:cNvPr id="2" name="图片 1"/>
          <p:cNvPicPr>
            <a:picLocks noChangeAspect="1"/>
          </p:cNvPicPr>
          <p:nvPr/>
        </p:nvPicPr>
        <p:blipFill>
          <a:blip r:embed="rId3"/>
          <a:stretch>
            <a:fillRect/>
          </a:stretch>
        </p:blipFill>
        <p:spPr>
          <a:xfrm>
            <a:off x="987164" y="1275146"/>
            <a:ext cx="7086960" cy="47551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743400"/>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自治系统号码（示例）</a:t>
            </a:r>
          </a:p>
        </p:txBody>
      </p:sp>
      <p:pic>
        <p:nvPicPr>
          <p:cNvPr id="4"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027" y="1359061"/>
            <a:ext cx="8553894" cy="462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73099" y="6114600"/>
            <a:ext cx="2358600" cy="400110"/>
          </a:xfrm>
          <a:prstGeom prst="rect">
            <a:avLst/>
          </a:prstGeom>
          <a:noFill/>
          <a:ln>
            <a:solidFill>
              <a:srgbClr val="C00000"/>
            </a:solidFill>
          </a:ln>
        </p:spPr>
        <p:txBody>
          <a:bodyPr wrap="square" rtlCol="0">
            <a:spAutoFit/>
          </a:bodyPr>
          <a:lstStyle/>
          <a:p>
            <a:pPr algn="ctr"/>
            <a:r>
              <a:rPr lang="en-US" altLang="zh-CN" sz="2000" dirty="0"/>
              <a:t>http://bgp.he.net</a:t>
            </a:r>
            <a:endParaRPr lang="zh-CN" altLang="en-US" sz="2000" dirty="0"/>
          </a:p>
        </p:txBody>
      </p:sp>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743400"/>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网络服务提供商（</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ISP</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）及层次化结构</a:t>
            </a:r>
          </a:p>
        </p:txBody>
      </p:sp>
      <p:sp>
        <p:nvSpPr>
          <p:cNvPr id="105" name="Text Box 1524"/>
          <p:cNvSpPr txBox="1">
            <a:spLocks noChangeArrowheads="1"/>
          </p:cNvSpPr>
          <p:nvPr/>
        </p:nvSpPr>
        <p:spPr bwMode="auto">
          <a:xfrm>
            <a:off x="695276" y="6087685"/>
            <a:ext cx="2854220" cy="369332"/>
          </a:xfrm>
          <a:prstGeom prst="rect">
            <a:avLst/>
          </a:prstGeom>
          <a:noFill/>
          <a:ln w="9525">
            <a:solidFill>
              <a:srgbClr val="C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b="1" dirty="0">
                <a:solidFill>
                  <a:srgbClr val="7030A0"/>
                </a:solidFill>
                <a:latin typeface="微软雅黑" panose="020B0503020204020204" pitchFamily="34" charset="-122"/>
                <a:ea typeface="微软雅黑" panose="020B0503020204020204" pitchFamily="34" charset="-122"/>
              </a:rPr>
              <a:t>IXP</a:t>
            </a:r>
            <a:r>
              <a:rPr lang="zh-CN" altLang="en-US" b="1" dirty="0">
                <a:solidFill>
                  <a:srgbClr val="7030A0"/>
                </a:solidFill>
                <a:latin typeface="微软雅黑" panose="020B0503020204020204" pitchFamily="34" charset="-122"/>
                <a:ea typeface="微软雅黑" panose="020B0503020204020204" pitchFamily="34" charset="-122"/>
              </a:rPr>
              <a:t>或</a:t>
            </a:r>
            <a:r>
              <a:rPr lang="en-US" altLang="zh-CN" b="1" dirty="0">
                <a:solidFill>
                  <a:srgbClr val="7030A0"/>
                </a:solidFill>
                <a:latin typeface="微软雅黑" panose="020B0503020204020204" pitchFamily="34" charset="-122"/>
                <a:ea typeface="微软雅黑" panose="020B0503020204020204" pitchFamily="34" charset="-122"/>
              </a:rPr>
              <a:t>IX</a:t>
            </a:r>
            <a:r>
              <a:rPr lang="zh-CN" altLang="en-US" b="1" dirty="0">
                <a:solidFill>
                  <a:srgbClr val="7030A0"/>
                </a:solidFill>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互联网交换点</a:t>
            </a:r>
            <a:r>
              <a:rPr lang="en-US" altLang="zh-CN" dirty="0">
                <a:latin typeface="微软雅黑" panose="020B0503020204020204" pitchFamily="34" charset="-122"/>
                <a:ea typeface="微软雅黑" panose="020B0503020204020204" pitchFamily="34" charset="-122"/>
              </a:rPr>
              <a:t> </a:t>
            </a:r>
            <a:endParaRPr kumimoji="1" lang="en-US" altLang="zh-CN" dirty="0">
              <a:latin typeface="微软雅黑" panose="020B0503020204020204" pitchFamily="34" charset="-122"/>
              <a:ea typeface="微软雅黑" panose="020B0503020204020204" pitchFamily="34" charset="-122"/>
            </a:endParaRPr>
          </a:p>
        </p:txBody>
      </p:sp>
      <p:sp>
        <p:nvSpPr>
          <p:cNvPr id="10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grpSp>
        <p:nvGrpSpPr>
          <p:cNvPr id="2" name="组合 1"/>
          <p:cNvGrpSpPr/>
          <p:nvPr/>
        </p:nvGrpSpPr>
        <p:grpSpPr>
          <a:xfrm>
            <a:off x="2342449" y="1593332"/>
            <a:ext cx="6703464" cy="3561970"/>
            <a:chOff x="235813" y="1421102"/>
            <a:chExt cx="8741565" cy="4401359"/>
          </a:xfrm>
        </p:grpSpPr>
        <p:sp>
          <p:nvSpPr>
            <p:cNvPr id="104" name="Oval 242"/>
            <p:cNvSpPr>
              <a:spLocks noChangeArrowheads="1"/>
            </p:cNvSpPr>
            <p:nvPr/>
          </p:nvSpPr>
          <p:spPr bwMode="auto">
            <a:xfrm>
              <a:off x="5408580" y="5199628"/>
              <a:ext cx="760772" cy="539790"/>
            </a:xfrm>
            <a:prstGeom prst="ellipse">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1100"/>
            </a:p>
          </p:txBody>
        </p:sp>
        <p:grpSp>
          <p:nvGrpSpPr>
            <p:cNvPr id="4" name="组合 3"/>
            <p:cNvGrpSpPr/>
            <p:nvPr/>
          </p:nvGrpSpPr>
          <p:grpSpPr>
            <a:xfrm>
              <a:off x="235813" y="1421102"/>
              <a:ext cx="8741565" cy="4401359"/>
              <a:chOff x="1210362" y="1920367"/>
              <a:chExt cx="6584990" cy="2860675"/>
            </a:xfrm>
          </p:grpSpPr>
          <p:cxnSp>
            <p:nvCxnSpPr>
              <p:cNvPr id="5" name="AutoShape 252"/>
              <p:cNvCxnSpPr>
                <a:cxnSpLocks noChangeShapeType="1"/>
                <a:stCxn id="76" idx="7"/>
                <a:endCxn id="74" idx="2"/>
              </p:cNvCxnSpPr>
              <p:nvPr/>
            </p:nvCxnSpPr>
            <p:spPr bwMode="auto">
              <a:xfrm flipV="1">
                <a:off x="3062289" y="2096581"/>
                <a:ext cx="1171575" cy="2127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AutoShape 253"/>
              <p:cNvCxnSpPr>
                <a:cxnSpLocks noChangeShapeType="1"/>
                <a:endCxn id="78" idx="1"/>
              </p:cNvCxnSpPr>
              <p:nvPr/>
            </p:nvCxnSpPr>
            <p:spPr bwMode="auto">
              <a:xfrm>
                <a:off x="5030788" y="2096581"/>
                <a:ext cx="844550" cy="2127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254"/>
              <p:cNvCxnSpPr>
                <a:cxnSpLocks noChangeShapeType="1"/>
                <a:stCxn id="76" idx="6"/>
              </p:cNvCxnSpPr>
              <p:nvPr/>
            </p:nvCxnSpPr>
            <p:spPr bwMode="auto">
              <a:xfrm>
                <a:off x="3178176" y="2434717"/>
                <a:ext cx="2593975" cy="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255"/>
              <p:cNvCxnSpPr>
                <a:cxnSpLocks noChangeShapeType="1"/>
                <a:endCxn id="65" idx="7"/>
              </p:cNvCxnSpPr>
              <p:nvPr/>
            </p:nvCxnSpPr>
            <p:spPr bwMode="auto">
              <a:xfrm flipH="1">
                <a:off x="2103438" y="2553781"/>
                <a:ext cx="685800" cy="331787"/>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256"/>
              <p:cNvCxnSpPr>
                <a:cxnSpLocks noChangeShapeType="1"/>
                <a:endCxn id="67" idx="1"/>
              </p:cNvCxnSpPr>
              <p:nvPr/>
            </p:nvCxnSpPr>
            <p:spPr bwMode="auto">
              <a:xfrm>
                <a:off x="2789238" y="2553781"/>
                <a:ext cx="544512" cy="331787"/>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257"/>
              <p:cNvCxnSpPr>
                <a:cxnSpLocks noChangeShapeType="1"/>
                <a:endCxn id="69" idx="7"/>
              </p:cNvCxnSpPr>
              <p:nvPr/>
            </p:nvCxnSpPr>
            <p:spPr bwMode="auto">
              <a:xfrm flipH="1">
                <a:off x="5656263" y="2553781"/>
                <a:ext cx="512762" cy="331787"/>
              </a:xfrm>
              <a:prstGeom prst="straightConnector1">
                <a:avLst/>
              </a:prstGeom>
              <a:noFill/>
              <a:ln w="19050">
                <a:solidFill>
                  <a:srgbClr val="85D1F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258"/>
              <p:cNvCxnSpPr>
                <a:cxnSpLocks noChangeShapeType="1"/>
                <a:endCxn id="71" idx="1"/>
              </p:cNvCxnSpPr>
              <p:nvPr/>
            </p:nvCxnSpPr>
            <p:spPr bwMode="auto">
              <a:xfrm>
                <a:off x="6165851" y="2553781"/>
                <a:ext cx="492125" cy="331787"/>
              </a:xfrm>
              <a:prstGeom prst="straightConnector1">
                <a:avLst/>
              </a:prstGeom>
              <a:noFill/>
              <a:ln w="19050">
                <a:solidFill>
                  <a:srgbClr val="85D1F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259"/>
              <p:cNvCxnSpPr>
                <a:cxnSpLocks noChangeShapeType="1"/>
              </p:cNvCxnSpPr>
              <p:nvPr/>
            </p:nvCxnSpPr>
            <p:spPr bwMode="auto">
              <a:xfrm flipH="1">
                <a:off x="1531938" y="3130043"/>
                <a:ext cx="298450" cy="5175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260"/>
              <p:cNvCxnSpPr>
                <a:cxnSpLocks noChangeShapeType="1"/>
                <a:endCxn id="33" idx="0"/>
              </p:cNvCxnSpPr>
              <p:nvPr/>
            </p:nvCxnSpPr>
            <p:spPr bwMode="auto">
              <a:xfrm>
                <a:off x="3174681" y="3960793"/>
                <a:ext cx="308768" cy="546102"/>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261"/>
              <p:cNvCxnSpPr>
                <a:cxnSpLocks noChangeShapeType="1"/>
              </p:cNvCxnSpPr>
              <p:nvPr/>
            </p:nvCxnSpPr>
            <p:spPr bwMode="auto">
              <a:xfrm flipH="1">
                <a:off x="3182938" y="3130043"/>
                <a:ext cx="438150"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262"/>
              <p:cNvCxnSpPr>
                <a:cxnSpLocks noChangeShapeType="1"/>
                <a:endCxn id="55" idx="0"/>
              </p:cNvCxnSpPr>
              <p:nvPr/>
            </p:nvCxnSpPr>
            <p:spPr bwMode="auto">
              <a:xfrm flipH="1">
                <a:off x="4932364" y="3130043"/>
                <a:ext cx="377825"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263"/>
              <p:cNvCxnSpPr>
                <a:cxnSpLocks noChangeShapeType="1"/>
              </p:cNvCxnSpPr>
              <p:nvPr/>
            </p:nvCxnSpPr>
            <p:spPr bwMode="auto">
              <a:xfrm flipH="1">
                <a:off x="6554788" y="3130043"/>
                <a:ext cx="366712"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264"/>
              <p:cNvCxnSpPr>
                <a:cxnSpLocks noChangeShapeType="1"/>
                <a:endCxn id="57" idx="0"/>
              </p:cNvCxnSpPr>
              <p:nvPr/>
            </p:nvCxnSpPr>
            <p:spPr bwMode="auto">
              <a:xfrm>
                <a:off x="5310189" y="3130043"/>
                <a:ext cx="465137"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65"/>
              <p:cNvCxnSpPr>
                <a:cxnSpLocks noChangeShapeType="1"/>
              </p:cNvCxnSpPr>
              <p:nvPr/>
            </p:nvCxnSpPr>
            <p:spPr bwMode="auto">
              <a:xfrm>
                <a:off x="3638551" y="3130042"/>
                <a:ext cx="346075" cy="49530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66"/>
              <p:cNvCxnSpPr>
                <a:cxnSpLocks noChangeShapeType="1"/>
              </p:cNvCxnSpPr>
              <p:nvPr/>
            </p:nvCxnSpPr>
            <p:spPr bwMode="auto">
              <a:xfrm>
                <a:off x="6904039" y="3130042"/>
                <a:ext cx="433387" cy="49530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67"/>
              <p:cNvCxnSpPr>
                <a:cxnSpLocks noChangeShapeType="1"/>
                <a:endCxn id="35" idx="0"/>
              </p:cNvCxnSpPr>
              <p:nvPr/>
            </p:nvCxnSpPr>
            <p:spPr bwMode="auto">
              <a:xfrm flipH="1">
                <a:off x="2736995" y="3944155"/>
                <a:ext cx="423068" cy="5683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68"/>
              <p:cNvCxnSpPr>
                <a:cxnSpLocks noChangeShapeType="1"/>
              </p:cNvCxnSpPr>
              <p:nvPr/>
            </p:nvCxnSpPr>
            <p:spPr bwMode="auto">
              <a:xfrm flipH="1">
                <a:off x="5565776" y="3973006"/>
                <a:ext cx="119063"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269"/>
              <p:cNvCxnSpPr>
                <a:cxnSpLocks noChangeShapeType="1"/>
              </p:cNvCxnSpPr>
              <p:nvPr/>
            </p:nvCxnSpPr>
            <p:spPr bwMode="auto">
              <a:xfrm>
                <a:off x="4900614" y="3925381"/>
                <a:ext cx="9525" cy="363537"/>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270"/>
              <p:cNvCxnSpPr>
                <a:cxnSpLocks noChangeShapeType="1"/>
              </p:cNvCxnSpPr>
              <p:nvPr/>
            </p:nvCxnSpPr>
            <p:spPr bwMode="auto">
              <a:xfrm>
                <a:off x="4900614" y="3925380"/>
                <a:ext cx="547687" cy="45085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83"/>
              <p:cNvCxnSpPr>
                <a:cxnSpLocks noChangeShapeType="1"/>
              </p:cNvCxnSpPr>
              <p:nvPr/>
            </p:nvCxnSpPr>
            <p:spPr bwMode="auto">
              <a:xfrm>
                <a:off x="5915025" y="3947606"/>
                <a:ext cx="101600"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84"/>
              <p:cNvCxnSpPr>
                <a:cxnSpLocks noChangeShapeType="1"/>
              </p:cNvCxnSpPr>
              <p:nvPr/>
            </p:nvCxnSpPr>
            <p:spPr bwMode="auto">
              <a:xfrm flipH="1">
                <a:off x="6324601" y="3973006"/>
                <a:ext cx="119063"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85"/>
              <p:cNvCxnSpPr>
                <a:cxnSpLocks noChangeShapeType="1"/>
              </p:cNvCxnSpPr>
              <p:nvPr/>
            </p:nvCxnSpPr>
            <p:spPr bwMode="auto">
              <a:xfrm>
                <a:off x="6673850" y="3947606"/>
                <a:ext cx="101600"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287"/>
              <p:cNvCxnSpPr>
                <a:cxnSpLocks noChangeShapeType="1"/>
                <a:stCxn id="63" idx="6"/>
                <a:endCxn id="50" idx="1"/>
              </p:cNvCxnSpPr>
              <p:nvPr/>
            </p:nvCxnSpPr>
            <p:spPr bwMode="auto">
              <a:xfrm>
                <a:off x="1795463" y="3805525"/>
                <a:ext cx="233696" cy="11326"/>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289"/>
              <p:cNvCxnSpPr>
                <a:cxnSpLocks noChangeShapeType="1"/>
              </p:cNvCxnSpPr>
              <p:nvPr/>
            </p:nvCxnSpPr>
            <p:spPr bwMode="auto">
              <a:xfrm>
                <a:off x="7378700" y="3947606"/>
                <a:ext cx="101600"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Line 271"/>
              <p:cNvSpPr>
                <a:spLocks noChangeShapeType="1"/>
              </p:cNvSpPr>
              <p:nvPr/>
            </p:nvSpPr>
            <p:spPr bwMode="auto">
              <a:xfrm>
                <a:off x="5684839" y="3017330"/>
                <a:ext cx="973137"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grpSp>
            <p:nvGrpSpPr>
              <p:cNvPr id="32" name="Group 213"/>
              <p:cNvGrpSpPr/>
              <p:nvPr/>
            </p:nvGrpSpPr>
            <p:grpSpPr bwMode="auto">
              <a:xfrm>
                <a:off x="3160713" y="4431792"/>
                <a:ext cx="628650" cy="349250"/>
                <a:chOff x="2569" y="3268"/>
                <a:chExt cx="542" cy="300"/>
              </a:xfrm>
            </p:grpSpPr>
            <p:sp>
              <p:nvSpPr>
                <p:cNvPr id="92" name="Oval 1429"/>
                <p:cNvSpPr>
                  <a:spLocks noChangeArrowheads="1"/>
                </p:cNvSpPr>
                <p:nvPr/>
              </p:nvSpPr>
              <p:spPr bwMode="auto">
                <a:xfrm>
                  <a:off x="2695" y="3268"/>
                  <a:ext cx="235" cy="81"/>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3" name="Oval 1430"/>
                <p:cNvSpPr>
                  <a:spLocks noChangeArrowheads="1"/>
                </p:cNvSpPr>
                <p:nvPr/>
              </p:nvSpPr>
              <p:spPr bwMode="auto">
                <a:xfrm rot="900000">
                  <a:off x="2893" y="3296"/>
                  <a:ext cx="159" cy="66"/>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4" name="Oval 1431"/>
                <p:cNvSpPr>
                  <a:spLocks noChangeArrowheads="1"/>
                </p:cNvSpPr>
                <p:nvPr/>
              </p:nvSpPr>
              <p:spPr bwMode="auto">
                <a:xfrm rot="1500000">
                  <a:off x="2973" y="3363"/>
                  <a:ext cx="138" cy="77"/>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5" name="Oval 1432"/>
                <p:cNvSpPr>
                  <a:spLocks noChangeArrowheads="1"/>
                </p:cNvSpPr>
                <p:nvPr/>
              </p:nvSpPr>
              <p:spPr bwMode="auto">
                <a:xfrm rot="-1560000">
                  <a:off x="2928" y="3439"/>
                  <a:ext cx="168" cy="95"/>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6" name="Oval 1433"/>
                <p:cNvSpPr>
                  <a:spLocks noChangeArrowheads="1"/>
                </p:cNvSpPr>
                <p:nvPr/>
              </p:nvSpPr>
              <p:spPr bwMode="auto">
                <a:xfrm>
                  <a:off x="2723" y="3448"/>
                  <a:ext cx="271" cy="120"/>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7" name="Oval 1434"/>
                <p:cNvSpPr>
                  <a:spLocks noChangeArrowheads="1"/>
                </p:cNvSpPr>
                <p:nvPr/>
              </p:nvSpPr>
              <p:spPr bwMode="auto">
                <a:xfrm rot="1080000">
                  <a:off x="2612" y="3448"/>
                  <a:ext cx="152"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8" name="Oval 1435"/>
                <p:cNvSpPr>
                  <a:spLocks noChangeArrowheads="1"/>
                </p:cNvSpPr>
                <p:nvPr/>
              </p:nvSpPr>
              <p:spPr bwMode="auto">
                <a:xfrm>
                  <a:off x="2569" y="3386"/>
                  <a:ext cx="125" cy="79"/>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99" name="Oval 1436"/>
                <p:cNvSpPr>
                  <a:spLocks noChangeArrowheads="1"/>
                </p:cNvSpPr>
                <p:nvPr/>
              </p:nvSpPr>
              <p:spPr bwMode="auto">
                <a:xfrm rot="-1860000">
                  <a:off x="2589" y="3325"/>
                  <a:ext cx="170"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100" name="Freeform 1437"/>
                <p:cNvSpPr/>
                <p:nvPr/>
              </p:nvSpPr>
              <p:spPr bwMode="auto">
                <a:xfrm>
                  <a:off x="2628" y="3320"/>
                  <a:ext cx="425" cy="204"/>
                </a:xfrm>
                <a:custGeom>
                  <a:avLst/>
                  <a:gdLst>
                    <a:gd name="T0" fmla="*/ 62 w 738"/>
                    <a:gd name="T1" fmla="*/ 41 h 407"/>
                    <a:gd name="T2" fmla="*/ 84 w 738"/>
                    <a:gd name="T3" fmla="*/ 39 h 407"/>
                    <a:gd name="T4" fmla="*/ 105 w 738"/>
                    <a:gd name="T5" fmla="*/ 36 h 407"/>
                    <a:gd name="T6" fmla="*/ 124 w 738"/>
                    <a:gd name="T7" fmla="*/ 34 h 407"/>
                    <a:gd name="T8" fmla="*/ 136 w 738"/>
                    <a:gd name="T9" fmla="*/ 23 h 407"/>
                    <a:gd name="T10" fmla="*/ 117 w 738"/>
                    <a:gd name="T11" fmla="*/ 21 h 407"/>
                    <a:gd name="T12" fmla="*/ 99 w 738"/>
                    <a:gd name="T13" fmla="*/ 23 h 407"/>
                    <a:gd name="T14" fmla="*/ 90 w 738"/>
                    <a:gd name="T15" fmla="*/ 23 h 407"/>
                    <a:gd name="T16" fmla="*/ 108 w 738"/>
                    <a:gd name="T17" fmla="*/ 13 h 407"/>
                    <a:gd name="T18" fmla="*/ 130 w 738"/>
                    <a:gd name="T19" fmla="*/ 8 h 407"/>
                    <a:gd name="T20" fmla="*/ 149 w 738"/>
                    <a:gd name="T21" fmla="*/ 5 h 407"/>
                    <a:gd name="T22" fmla="*/ 167 w 738"/>
                    <a:gd name="T23" fmla="*/ 3 h 407"/>
                    <a:gd name="T24" fmla="*/ 186 w 738"/>
                    <a:gd name="T25" fmla="*/ 0 h 407"/>
                    <a:gd name="T26" fmla="*/ 204 w 738"/>
                    <a:gd name="T27" fmla="*/ 0 h 407"/>
                    <a:gd name="T28" fmla="*/ 223 w 738"/>
                    <a:gd name="T29" fmla="*/ 0 h 407"/>
                    <a:gd name="T30" fmla="*/ 267 w 738"/>
                    <a:gd name="T31" fmla="*/ 0 h 407"/>
                    <a:gd name="T32" fmla="*/ 291 w 738"/>
                    <a:gd name="T33" fmla="*/ 0 h 407"/>
                    <a:gd name="T34" fmla="*/ 313 w 738"/>
                    <a:gd name="T35" fmla="*/ 8 h 407"/>
                    <a:gd name="T36" fmla="*/ 328 w 738"/>
                    <a:gd name="T37" fmla="*/ 18 h 407"/>
                    <a:gd name="T38" fmla="*/ 347 w 738"/>
                    <a:gd name="T39" fmla="*/ 26 h 407"/>
                    <a:gd name="T40" fmla="*/ 366 w 738"/>
                    <a:gd name="T41" fmla="*/ 29 h 407"/>
                    <a:gd name="T42" fmla="*/ 384 w 738"/>
                    <a:gd name="T43" fmla="*/ 39 h 407"/>
                    <a:gd name="T44" fmla="*/ 400 w 738"/>
                    <a:gd name="T45" fmla="*/ 49 h 407"/>
                    <a:gd name="T46" fmla="*/ 412 w 738"/>
                    <a:gd name="T47" fmla="*/ 64 h 407"/>
                    <a:gd name="T48" fmla="*/ 415 w 738"/>
                    <a:gd name="T49" fmla="*/ 82 h 407"/>
                    <a:gd name="T50" fmla="*/ 418 w 738"/>
                    <a:gd name="T51" fmla="*/ 98 h 407"/>
                    <a:gd name="T52" fmla="*/ 418 w 738"/>
                    <a:gd name="T53" fmla="*/ 113 h 407"/>
                    <a:gd name="T54" fmla="*/ 418 w 738"/>
                    <a:gd name="T55" fmla="*/ 129 h 407"/>
                    <a:gd name="T56" fmla="*/ 424 w 738"/>
                    <a:gd name="T57" fmla="*/ 144 h 407"/>
                    <a:gd name="T58" fmla="*/ 424 w 738"/>
                    <a:gd name="T59" fmla="*/ 160 h 407"/>
                    <a:gd name="T60" fmla="*/ 412 w 738"/>
                    <a:gd name="T61" fmla="*/ 175 h 407"/>
                    <a:gd name="T62" fmla="*/ 390 w 738"/>
                    <a:gd name="T63" fmla="*/ 183 h 407"/>
                    <a:gd name="T64" fmla="*/ 372 w 738"/>
                    <a:gd name="T65" fmla="*/ 190 h 407"/>
                    <a:gd name="T66" fmla="*/ 353 w 738"/>
                    <a:gd name="T67" fmla="*/ 198 h 407"/>
                    <a:gd name="T68" fmla="*/ 335 w 738"/>
                    <a:gd name="T69" fmla="*/ 201 h 407"/>
                    <a:gd name="T70" fmla="*/ 310 w 738"/>
                    <a:gd name="T71" fmla="*/ 203 h 407"/>
                    <a:gd name="T72" fmla="*/ 288 w 738"/>
                    <a:gd name="T73" fmla="*/ 203 h 407"/>
                    <a:gd name="T74" fmla="*/ 270 w 738"/>
                    <a:gd name="T75" fmla="*/ 203 h 407"/>
                    <a:gd name="T76" fmla="*/ 251 w 738"/>
                    <a:gd name="T77" fmla="*/ 203 h 407"/>
                    <a:gd name="T78" fmla="*/ 232 w 738"/>
                    <a:gd name="T79" fmla="*/ 203 h 407"/>
                    <a:gd name="T80" fmla="*/ 214 w 738"/>
                    <a:gd name="T81" fmla="*/ 203 h 407"/>
                    <a:gd name="T82" fmla="*/ 195 w 738"/>
                    <a:gd name="T83" fmla="*/ 203 h 407"/>
                    <a:gd name="T84" fmla="*/ 177 w 738"/>
                    <a:gd name="T85" fmla="*/ 203 h 407"/>
                    <a:gd name="T86" fmla="*/ 155 w 738"/>
                    <a:gd name="T87" fmla="*/ 203 h 407"/>
                    <a:gd name="T88" fmla="*/ 136 w 738"/>
                    <a:gd name="T89" fmla="*/ 203 h 407"/>
                    <a:gd name="T90" fmla="*/ 117 w 738"/>
                    <a:gd name="T91" fmla="*/ 203 h 407"/>
                    <a:gd name="T92" fmla="*/ 99 w 738"/>
                    <a:gd name="T93" fmla="*/ 196 h 407"/>
                    <a:gd name="T94" fmla="*/ 81 w 738"/>
                    <a:gd name="T95" fmla="*/ 190 h 407"/>
                    <a:gd name="T96" fmla="*/ 62 w 738"/>
                    <a:gd name="T97" fmla="*/ 183 h 407"/>
                    <a:gd name="T98" fmla="*/ 47 w 738"/>
                    <a:gd name="T99" fmla="*/ 170 h 407"/>
                    <a:gd name="T100" fmla="*/ 34 w 738"/>
                    <a:gd name="T101" fmla="*/ 160 h 407"/>
                    <a:gd name="T102" fmla="*/ 22 w 738"/>
                    <a:gd name="T103" fmla="*/ 144 h 407"/>
                    <a:gd name="T104" fmla="*/ 9 w 738"/>
                    <a:gd name="T105" fmla="*/ 126 h 407"/>
                    <a:gd name="T106" fmla="*/ 0 w 738"/>
                    <a:gd name="T107" fmla="*/ 108 h 407"/>
                    <a:gd name="T108" fmla="*/ 0 w 738"/>
                    <a:gd name="T109" fmla="*/ 93 h 407"/>
                    <a:gd name="T110" fmla="*/ 3 w 738"/>
                    <a:gd name="T111" fmla="*/ 75 h 407"/>
                    <a:gd name="T112" fmla="*/ 16 w 738"/>
                    <a:gd name="T113" fmla="*/ 62 h 407"/>
                    <a:gd name="T114" fmla="*/ 31 w 738"/>
                    <a:gd name="T115" fmla="*/ 54 h 407"/>
                    <a:gd name="T116" fmla="*/ 50 w 738"/>
                    <a:gd name="T117" fmla="*/ 49 h 407"/>
                    <a:gd name="T118" fmla="*/ 65 w 738"/>
                    <a:gd name="T119" fmla="*/ 41 h 407"/>
                    <a:gd name="T120" fmla="*/ 74 w 738"/>
                    <a:gd name="T121" fmla="*/ 49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100"/>
                </a:p>
              </p:txBody>
            </p:sp>
            <p:sp>
              <p:nvSpPr>
                <p:cNvPr id="101" name="Freeform 1438"/>
                <p:cNvSpPr/>
                <p:nvPr/>
              </p:nvSpPr>
              <p:spPr bwMode="auto">
                <a:xfrm>
                  <a:off x="2710" y="3305"/>
                  <a:ext cx="67" cy="59"/>
                </a:xfrm>
                <a:custGeom>
                  <a:avLst/>
                  <a:gdLst>
                    <a:gd name="T0" fmla="*/ 3 w 117"/>
                    <a:gd name="T1" fmla="*/ 33 h 118"/>
                    <a:gd name="T2" fmla="*/ 0 w 117"/>
                    <a:gd name="T3" fmla="*/ 26 h 118"/>
                    <a:gd name="T4" fmla="*/ 0 w 117"/>
                    <a:gd name="T5" fmla="*/ 18 h 118"/>
                    <a:gd name="T6" fmla="*/ 9 w 117"/>
                    <a:gd name="T7" fmla="*/ 13 h 118"/>
                    <a:gd name="T8" fmla="*/ 18 w 117"/>
                    <a:gd name="T9" fmla="*/ 8 h 118"/>
                    <a:gd name="T10" fmla="*/ 27 w 117"/>
                    <a:gd name="T11" fmla="*/ 0 h 118"/>
                    <a:gd name="T12" fmla="*/ 36 w 117"/>
                    <a:gd name="T13" fmla="*/ 0 h 118"/>
                    <a:gd name="T14" fmla="*/ 45 w 117"/>
                    <a:gd name="T15" fmla="*/ 0 h 118"/>
                    <a:gd name="T16" fmla="*/ 48 w 117"/>
                    <a:gd name="T17" fmla="*/ 8 h 118"/>
                    <a:gd name="T18" fmla="*/ 54 w 117"/>
                    <a:gd name="T19" fmla="*/ 16 h 118"/>
                    <a:gd name="T20" fmla="*/ 60 w 117"/>
                    <a:gd name="T21" fmla="*/ 23 h 118"/>
                    <a:gd name="T22" fmla="*/ 64 w 117"/>
                    <a:gd name="T23" fmla="*/ 31 h 118"/>
                    <a:gd name="T24" fmla="*/ 66 w 117"/>
                    <a:gd name="T25" fmla="*/ 38 h 118"/>
                    <a:gd name="T26" fmla="*/ 66 w 117"/>
                    <a:gd name="T27" fmla="*/ 46 h 118"/>
                    <a:gd name="T28" fmla="*/ 66 w 117"/>
                    <a:gd name="T29" fmla="*/ 54 h 118"/>
                    <a:gd name="T30" fmla="*/ 57 w 117"/>
                    <a:gd name="T31" fmla="*/ 59 h 118"/>
                    <a:gd name="T32" fmla="*/ 48 w 117"/>
                    <a:gd name="T33" fmla="*/ 59 h 118"/>
                    <a:gd name="T34" fmla="*/ 40 w 117"/>
                    <a:gd name="T35" fmla="*/ 59 h 118"/>
                    <a:gd name="T36" fmla="*/ 30 w 117"/>
                    <a:gd name="T37" fmla="*/ 59 h 118"/>
                    <a:gd name="T38" fmla="*/ 21 w 117"/>
                    <a:gd name="T39" fmla="*/ 56 h 118"/>
                    <a:gd name="T40" fmla="*/ 12 w 117"/>
                    <a:gd name="T41" fmla="*/ 51 h 118"/>
                    <a:gd name="T42" fmla="*/ 6 w 117"/>
                    <a:gd name="T43" fmla="*/ 43 h 118"/>
                    <a:gd name="T44" fmla="*/ 3 w 117"/>
                    <a:gd name="T45" fmla="*/ 36 h 118"/>
                    <a:gd name="T46" fmla="*/ 3 w 117"/>
                    <a:gd name="T47" fmla="*/ 3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100"/>
                </a:p>
              </p:txBody>
            </p:sp>
            <p:sp>
              <p:nvSpPr>
                <p:cNvPr id="102" name="Freeform 1439"/>
                <p:cNvSpPr/>
                <p:nvPr/>
              </p:nvSpPr>
              <p:spPr bwMode="auto">
                <a:xfrm>
                  <a:off x="2869" y="3290"/>
                  <a:ext cx="47" cy="43"/>
                </a:xfrm>
                <a:custGeom>
                  <a:avLst/>
                  <a:gdLst>
                    <a:gd name="T0" fmla="*/ 0 w 82"/>
                    <a:gd name="T1" fmla="*/ 0 h 87"/>
                    <a:gd name="T2" fmla="*/ 9 w 82"/>
                    <a:gd name="T3" fmla="*/ 5 h 87"/>
                    <a:gd name="T4" fmla="*/ 18 w 82"/>
                    <a:gd name="T5" fmla="*/ 10 h 87"/>
                    <a:gd name="T6" fmla="*/ 28 w 82"/>
                    <a:gd name="T7" fmla="*/ 10 h 87"/>
                    <a:gd name="T8" fmla="*/ 37 w 82"/>
                    <a:gd name="T9" fmla="*/ 15 h 87"/>
                    <a:gd name="T10" fmla="*/ 44 w 82"/>
                    <a:gd name="T11" fmla="*/ 23 h 87"/>
                    <a:gd name="T12" fmla="*/ 46 w 82"/>
                    <a:gd name="T13" fmla="*/ 30 h 87"/>
                    <a:gd name="T14" fmla="*/ 46 w 82"/>
                    <a:gd name="T15" fmla="*/ 38 h 87"/>
                    <a:gd name="T16" fmla="*/ 37 w 82"/>
                    <a:gd name="T17" fmla="*/ 43 h 87"/>
                    <a:gd name="T18" fmla="*/ 28 w 82"/>
                    <a:gd name="T19" fmla="*/ 43 h 87"/>
                    <a:gd name="T20" fmla="*/ 15 w 82"/>
                    <a:gd name="T21" fmla="*/ 40 h 87"/>
                    <a:gd name="T22" fmla="*/ 6 w 82"/>
                    <a:gd name="T23" fmla="*/ 35 h 87"/>
                    <a:gd name="T24" fmla="*/ 3 w 82"/>
                    <a:gd name="T25" fmla="*/ 28 h 87"/>
                    <a:gd name="T26" fmla="*/ 0 w 82"/>
                    <a:gd name="T27" fmla="*/ 20 h 87"/>
                    <a:gd name="T28" fmla="*/ 0 w 82"/>
                    <a:gd name="T29" fmla="*/ 12 h 87"/>
                    <a:gd name="T30" fmla="*/ 6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100"/>
                </a:p>
              </p:txBody>
            </p:sp>
          </p:grpSp>
          <p:sp>
            <p:nvSpPr>
              <p:cNvPr id="33" name="Text Box 1524"/>
              <p:cNvSpPr txBox="1">
                <a:spLocks noChangeArrowheads="1"/>
              </p:cNvSpPr>
              <p:nvPr/>
            </p:nvSpPr>
            <p:spPr bwMode="auto">
              <a:xfrm>
                <a:off x="3168329" y="4506895"/>
                <a:ext cx="63023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校园网</a:t>
                </a:r>
              </a:p>
            </p:txBody>
          </p:sp>
          <p:grpSp>
            <p:nvGrpSpPr>
              <p:cNvPr id="34" name="Group 228"/>
              <p:cNvGrpSpPr/>
              <p:nvPr/>
            </p:nvGrpSpPr>
            <p:grpSpPr bwMode="auto">
              <a:xfrm>
                <a:off x="2427289" y="4431792"/>
                <a:ext cx="630237" cy="349250"/>
                <a:chOff x="2569" y="3268"/>
                <a:chExt cx="542" cy="300"/>
              </a:xfrm>
            </p:grpSpPr>
            <p:sp>
              <p:nvSpPr>
                <p:cNvPr id="81" name="Oval 1429"/>
                <p:cNvSpPr>
                  <a:spLocks noChangeArrowheads="1"/>
                </p:cNvSpPr>
                <p:nvPr/>
              </p:nvSpPr>
              <p:spPr bwMode="auto">
                <a:xfrm>
                  <a:off x="2695" y="3268"/>
                  <a:ext cx="235" cy="81"/>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2" name="Oval 1430"/>
                <p:cNvSpPr>
                  <a:spLocks noChangeArrowheads="1"/>
                </p:cNvSpPr>
                <p:nvPr/>
              </p:nvSpPr>
              <p:spPr bwMode="auto">
                <a:xfrm rot="900000">
                  <a:off x="2893" y="3296"/>
                  <a:ext cx="159" cy="66"/>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3" name="Oval 1431"/>
                <p:cNvSpPr>
                  <a:spLocks noChangeArrowheads="1"/>
                </p:cNvSpPr>
                <p:nvPr/>
              </p:nvSpPr>
              <p:spPr bwMode="auto">
                <a:xfrm rot="1500000">
                  <a:off x="2973" y="3363"/>
                  <a:ext cx="138" cy="77"/>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4" name="Oval 1432"/>
                <p:cNvSpPr>
                  <a:spLocks noChangeArrowheads="1"/>
                </p:cNvSpPr>
                <p:nvPr/>
              </p:nvSpPr>
              <p:spPr bwMode="auto">
                <a:xfrm rot="-1560000">
                  <a:off x="2928" y="3439"/>
                  <a:ext cx="168" cy="95"/>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5" name="Oval 1433"/>
                <p:cNvSpPr>
                  <a:spLocks noChangeArrowheads="1"/>
                </p:cNvSpPr>
                <p:nvPr/>
              </p:nvSpPr>
              <p:spPr bwMode="auto">
                <a:xfrm>
                  <a:off x="2723" y="3448"/>
                  <a:ext cx="271" cy="120"/>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6" name="Oval 1434"/>
                <p:cNvSpPr>
                  <a:spLocks noChangeArrowheads="1"/>
                </p:cNvSpPr>
                <p:nvPr/>
              </p:nvSpPr>
              <p:spPr bwMode="auto">
                <a:xfrm rot="1080000">
                  <a:off x="2612" y="3448"/>
                  <a:ext cx="152"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7" name="Oval 1435"/>
                <p:cNvSpPr>
                  <a:spLocks noChangeArrowheads="1"/>
                </p:cNvSpPr>
                <p:nvPr/>
              </p:nvSpPr>
              <p:spPr bwMode="auto">
                <a:xfrm>
                  <a:off x="2569" y="3386"/>
                  <a:ext cx="125" cy="79"/>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8" name="Oval 1436"/>
                <p:cNvSpPr>
                  <a:spLocks noChangeArrowheads="1"/>
                </p:cNvSpPr>
                <p:nvPr/>
              </p:nvSpPr>
              <p:spPr bwMode="auto">
                <a:xfrm rot="-1860000">
                  <a:off x="2589" y="3325"/>
                  <a:ext cx="170"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100"/>
                </a:p>
              </p:txBody>
            </p:sp>
            <p:sp>
              <p:nvSpPr>
                <p:cNvPr id="89" name="Freeform 1437"/>
                <p:cNvSpPr/>
                <p:nvPr/>
              </p:nvSpPr>
              <p:spPr bwMode="auto">
                <a:xfrm>
                  <a:off x="2628" y="3320"/>
                  <a:ext cx="425" cy="204"/>
                </a:xfrm>
                <a:custGeom>
                  <a:avLst/>
                  <a:gdLst>
                    <a:gd name="T0" fmla="*/ 62 w 738"/>
                    <a:gd name="T1" fmla="*/ 41 h 407"/>
                    <a:gd name="T2" fmla="*/ 84 w 738"/>
                    <a:gd name="T3" fmla="*/ 39 h 407"/>
                    <a:gd name="T4" fmla="*/ 105 w 738"/>
                    <a:gd name="T5" fmla="*/ 36 h 407"/>
                    <a:gd name="T6" fmla="*/ 124 w 738"/>
                    <a:gd name="T7" fmla="*/ 34 h 407"/>
                    <a:gd name="T8" fmla="*/ 136 w 738"/>
                    <a:gd name="T9" fmla="*/ 23 h 407"/>
                    <a:gd name="T10" fmla="*/ 117 w 738"/>
                    <a:gd name="T11" fmla="*/ 21 h 407"/>
                    <a:gd name="T12" fmla="*/ 99 w 738"/>
                    <a:gd name="T13" fmla="*/ 23 h 407"/>
                    <a:gd name="T14" fmla="*/ 90 w 738"/>
                    <a:gd name="T15" fmla="*/ 23 h 407"/>
                    <a:gd name="T16" fmla="*/ 108 w 738"/>
                    <a:gd name="T17" fmla="*/ 13 h 407"/>
                    <a:gd name="T18" fmla="*/ 130 w 738"/>
                    <a:gd name="T19" fmla="*/ 8 h 407"/>
                    <a:gd name="T20" fmla="*/ 149 w 738"/>
                    <a:gd name="T21" fmla="*/ 5 h 407"/>
                    <a:gd name="T22" fmla="*/ 167 w 738"/>
                    <a:gd name="T23" fmla="*/ 3 h 407"/>
                    <a:gd name="T24" fmla="*/ 186 w 738"/>
                    <a:gd name="T25" fmla="*/ 0 h 407"/>
                    <a:gd name="T26" fmla="*/ 204 w 738"/>
                    <a:gd name="T27" fmla="*/ 0 h 407"/>
                    <a:gd name="T28" fmla="*/ 223 w 738"/>
                    <a:gd name="T29" fmla="*/ 0 h 407"/>
                    <a:gd name="T30" fmla="*/ 267 w 738"/>
                    <a:gd name="T31" fmla="*/ 0 h 407"/>
                    <a:gd name="T32" fmla="*/ 291 w 738"/>
                    <a:gd name="T33" fmla="*/ 0 h 407"/>
                    <a:gd name="T34" fmla="*/ 313 w 738"/>
                    <a:gd name="T35" fmla="*/ 8 h 407"/>
                    <a:gd name="T36" fmla="*/ 328 w 738"/>
                    <a:gd name="T37" fmla="*/ 18 h 407"/>
                    <a:gd name="T38" fmla="*/ 347 w 738"/>
                    <a:gd name="T39" fmla="*/ 26 h 407"/>
                    <a:gd name="T40" fmla="*/ 366 w 738"/>
                    <a:gd name="T41" fmla="*/ 29 h 407"/>
                    <a:gd name="T42" fmla="*/ 384 w 738"/>
                    <a:gd name="T43" fmla="*/ 39 h 407"/>
                    <a:gd name="T44" fmla="*/ 400 w 738"/>
                    <a:gd name="T45" fmla="*/ 49 h 407"/>
                    <a:gd name="T46" fmla="*/ 412 w 738"/>
                    <a:gd name="T47" fmla="*/ 64 h 407"/>
                    <a:gd name="T48" fmla="*/ 415 w 738"/>
                    <a:gd name="T49" fmla="*/ 82 h 407"/>
                    <a:gd name="T50" fmla="*/ 418 w 738"/>
                    <a:gd name="T51" fmla="*/ 98 h 407"/>
                    <a:gd name="T52" fmla="*/ 418 w 738"/>
                    <a:gd name="T53" fmla="*/ 113 h 407"/>
                    <a:gd name="T54" fmla="*/ 418 w 738"/>
                    <a:gd name="T55" fmla="*/ 129 h 407"/>
                    <a:gd name="T56" fmla="*/ 424 w 738"/>
                    <a:gd name="T57" fmla="*/ 144 h 407"/>
                    <a:gd name="T58" fmla="*/ 424 w 738"/>
                    <a:gd name="T59" fmla="*/ 160 h 407"/>
                    <a:gd name="T60" fmla="*/ 412 w 738"/>
                    <a:gd name="T61" fmla="*/ 175 h 407"/>
                    <a:gd name="T62" fmla="*/ 390 w 738"/>
                    <a:gd name="T63" fmla="*/ 183 h 407"/>
                    <a:gd name="T64" fmla="*/ 372 w 738"/>
                    <a:gd name="T65" fmla="*/ 190 h 407"/>
                    <a:gd name="T66" fmla="*/ 353 w 738"/>
                    <a:gd name="T67" fmla="*/ 198 h 407"/>
                    <a:gd name="T68" fmla="*/ 335 w 738"/>
                    <a:gd name="T69" fmla="*/ 201 h 407"/>
                    <a:gd name="T70" fmla="*/ 310 w 738"/>
                    <a:gd name="T71" fmla="*/ 203 h 407"/>
                    <a:gd name="T72" fmla="*/ 288 w 738"/>
                    <a:gd name="T73" fmla="*/ 203 h 407"/>
                    <a:gd name="T74" fmla="*/ 270 w 738"/>
                    <a:gd name="T75" fmla="*/ 203 h 407"/>
                    <a:gd name="T76" fmla="*/ 251 w 738"/>
                    <a:gd name="T77" fmla="*/ 203 h 407"/>
                    <a:gd name="T78" fmla="*/ 232 w 738"/>
                    <a:gd name="T79" fmla="*/ 203 h 407"/>
                    <a:gd name="T80" fmla="*/ 214 w 738"/>
                    <a:gd name="T81" fmla="*/ 203 h 407"/>
                    <a:gd name="T82" fmla="*/ 195 w 738"/>
                    <a:gd name="T83" fmla="*/ 203 h 407"/>
                    <a:gd name="T84" fmla="*/ 177 w 738"/>
                    <a:gd name="T85" fmla="*/ 203 h 407"/>
                    <a:gd name="T86" fmla="*/ 155 w 738"/>
                    <a:gd name="T87" fmla="*/ 203 h 407"/>
                    <a:gd name="T88" fmla="*/ 136 w 738"/>
                    <a:gd name="T89" fmla="*/ 203 h 407"/>
                    <a:gd name="T90" fmla="*/ 117 w 738"/>
                    <a:gd name="T91" fmla="*/ 203 h 407"/>
                    <a:gd name="T92" fmla="*/ 99 w 738"/>
                    <a:gd name="T93" fmla="*/ 196 h 407"/>
                    <a:gd name="T94" fmla="*/ 81 w 738"/>
                    <a:gd name="T95" fmla="*/ 190 h 407"/>
                    <a:gd name="T96" fmla="*/ 62 w 738"/>
                    <a:gd name="T97" fmla="*/ 183 h 407"/>
                    <a:gd name="T98" fmla="*/ 47 w 738"/>
                    <a:gd name="T99" fmla="*/ 170 h 407"/>
                    <a:gd name="T100" fmla="*/ 34 w 738"/>
                    <a:gd name="T101" fmla="*/ 160 h 407"/>
                    <a:gd name="T102" fmla="*/ 22 w 738"/>
                    <a:gd name="T103" fmla="*/ 144 h 407"/>
                    <a:gd name="T104" fmla="*/ 9 w 738"/>
                    <a:gd name="T105" fmla="*/ 126 h 407"/>
                    <a:gd name="T106" fmla="*/ 0 w 738"/>
                    <a:gd name="T107" fmla="*/ 108 h 407"/>
                    <a:gd name="T108" fmla="*/ 0 w 738"/>
                    <a:gd name="T109" fmla="*/ 93 h 407"/>
                    <a:gd name="T110" fmla="*/ 3 w 738"/>
                    <a:gd name="T111" fmla="*/ 75 h 407"/>
                    <a:gd name="T112" fmla="*/ 16 w 738"/>
                    <a:gd name="T113" fmla="*/ 62 h 407"/>
                    <a:gd name="T114" fmla="*/ 31 w 738"/>
                    <a:gd name="T115" fmla="*/ 54 h 407"/>
                    <a:gd name="T116" fmla="*/ 50 w 738"/>
                    <a:gd name="T117" fmla="*/ 49 h 407"/>
                    <a:gd name="T118" fmla="*/ 65 w 738"/>
                    <a:gd name="T119" fmla="*/ 41 h 407"/>
                    <a:gd name="T120" fmla="*/ 74 w 738"/>
                    <a:gd name="T121" fmla="*/ 49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100"/>
                </a:p>
              </p:txBody>
            </p:sp>
            <p:sp>
              <p:nvSpPr>
                <p:cNvPr id="90" name="Freeform 1438"/>
                <p:cNvSpPr/>
                <p:nvPr/>
              </p:nvSpPr>
              <p:spPr bwMode="auto">
                <a:xfrm>
                  <a:off x="2710" y="3305"/>
                  <a:ext cx="67" cy="59"/>
                </a:xfrm>
                <a:custGeom>
                  <a:avLst/>
                  <a:gdLst>
                    <a:gd name="T0" fmla="*/ 3 w 117"/>
                    <a:gd name="T1" fmla="*/ 33 h 118"/>
                    <a:gd name="T2" fmla="*/ 0 w 117"/>
                    <a:gd name="T3" fmla="*/ 26 h 118"/>
                    <a:gd name="T4" fmla="*/ 0 w 117"/>
                    <a:gd name="T5" fmla="*/ 18 h 118"/>
                    <a:gd name="T6" fmla="*/ 9 w 117"/>
                    <a:gd name="T7" fmla="*/ 13 h 118"/>
                    <a:gd name="T8" fmla="*/ 18 w 117"/>
                    <a:gd name="T9" fmla="*/ 8 h 118"/>
                    <a:gd name="T10" fmla="*/ 27 w 117"/>
                    <a:gd name="T11" fmla="*/ 0 h 118"/>
                    <a:gd name="T12" fmla="*/ 36 w 117"/>
                    <a:gd name="T13" fmla="*/ 0 h 118"/>
                    <a:gd name="T14" fmla="*/ 45 w 117"/>
                    <a:gd name="T15" fmla="*/ 0 h 118"/>
                    <a:gd name="T16" fmla="*/ 48 w 117"/>
                    <a:gd name="T17" fmla="*/ 8 h 118"/>
                    <a:gd name="T18" fmla="*/ 54 w 117"/>
                    <a:gd name="T19" fmla="*/ 16 h 118"/>
                    <a:gd name="T20" fmla="*/ 60 w 117"/>
                    <a:gd name="T21" fmla="*/ 23 h 118"/>
                    <a:gd name="T22" fmla="*/ 64 w 117"/>
                    <a:gd name="T23" fmla="*/ 31 h 118"/>
                    <a:gd name="T24" fmla="*/ 66 w 117"/>
                    <a:gd name="T25" fmla="*/ 38 h 118"/>
                    <a:gd name="T26" fmla="*/ 66 w 117"/>
                    <a:gd name="T27" fmla="*/ 46 h 118"/>
                    <a:gd name="T28" fmla="*/ 66 w 117"/>
                    <a:gd name="T29" fmla="*/ 54 h 118"/>
                    <a:gd name="T30" fmla="*/ 57 w 117"/>
                    <a:gd name="T31" fmla="*/ 59 h 118"/>
                    <a:gd name="T32" fmla="*/ 48 w 117"/>
                    <a:gd name="T33" fmla="*/ 59 h 118"/>
                    <a:gd name="T34" fmla="*/ 40 w 117"/>
                    <a:gd name="T35" fmla="*/ 59 h 118"/>
                    <a:gd name="T36" fmla="*/ 30 w 117"/>
                    <a:gd name="T37" fmla="*/ 59 h 118"/>
                    <a:gd name="T38" fmla="*/ 21 w 117"/>
                    <a:gd name="T39" fmla="*/ 56 h 118"/>
                    <a:gd name="T40" fmla="*/ 12 w 117"/>
                    <a:gd name="T41" fmla="*/ 51 h 118"/>
                    <a:gd name="T42" fmla="*/ 6 w 117"/>
                    <a:gd name="T43" fmla="*/ 43 h 118"/>
                    <a:gd name="T44" fmla="*/ 3 w 117"/>
                    <a:gd name="T45" fmla="*/ 36 h 118"/>
                    <a:gd name="T46" fmla="*/ 3 w 117"/>
                    <a:gd name="T47" fmla="*/ 3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100"/>
                </a:p>
              </p:txBody>
            </p:sp>
            <p:sp>
              <p:nvSpPr>
                <p:cNvPr id="91" name="Freeform 1439"/>
                <p:cNvSpPr/>
                <p:nvPr/>
              </p:nvSpPr>
              <p:spPr bwMode="auto">
                <a:xfrm>
                  <a:off x="2869" y="3290"/>
                  <a:ext cx="47" cy="43"/>
                </a:xfrm>
                <a:custGeom>
                  <a:avLst/>
                  <a:gdLst>
                    <a:gd name="T0" fmla="*/ 0 w 82"/>
                    <a:gd name="T1" fmla="*/ 0 h 87"/>
                    <a:gd name="T2" fmla="*/ 9 w 82"/>
                    <a:gd name="T3" fmla="*/ 5 h 87"/>
                    <a:gd name="T4" fmla="*/ 18 w 82"/>
                    <a:gd name="T5" fmla="*/ 10 h 87"/>
                    <a:gd name="T6" fmla="*/ 28 w 82"/>
                    <a:gd name="T7" fmla="*/ 10 h 87"/>
                    <a:gd name="T8" fmla="*/ 37 w 82"/>
                    <a:gd name="T9" fmla="*/ 15 h 87"/>
                    <a:gd name="T10" fmla="*/ 44 w 82"/>
                    <a:gd name="T11" fmla="*/ 23 h 87"/>
                    <a:gd name="T12" fmla="*/ 46 w 82"/>
                    <a:gd name="T13" fmla="*/ 30 h 87"/>
                    <a:gd name="T14" fmla="*/ 46 w 82"/>
                    <a:gd name="T15" fmla="*/ 38 h 87"/>
                    <a:gd name="T16" fmla="*/ 37 w 82"/>
                    <a:gd name="T17" fmla="*/ 43 h 87"/>
                    <a:gd name="T18" fmla="*/ 28 w 82"/>
                    <a:gd name="T19" fmla="*/ 43 h 87"/>
                    <a:gd name="T20" fmla="*/ 15 w 82"/>
                    <a:gd name="T21" fmla="*/ 40 h 87"/>
                    <a:gd name="T22" fmla="*/ 6 w 82"/>
                    <a:gd name="T23" fmla="*/ 35 h 87"/>
                    <a:gd name="T24" fmla="*/ 3 w 82"/>
                    <a:gd name="T25" fmla="*/ 28 h 87"/>
                    <a:gd name="T26" fmla="*/ 0 w 82"/>
                    <a:gd name="T27" fmla="*/ 20 h 87"/>
                    <a:gd name="T28" fmla="*/ 0 w 82"/>
                    <a:gd name="T29" fmla="*/ 12 h 87"/>
                    <a:gd name="T30" fmla="*/ 6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100"/>
                </a:p>
              </p:txBody>
            </p:sp>
          </p:grpSp>
          <p:sp>
            <p:nvSpPr>
              <p:cNvPr id="35" name="Text Box 1524"/>
              <p:cNvSpPr txBox="1">
                <a:spLocks noChangeArrowheads="1"/>
              </p:cNvSpPr>
              <p:nvPr/>
            </p:nvSpPr>
            <p:spPr bwMode="auto">
              <a:xfrm>
                <a:off x="2434576" y="4512480"/>
                <a:ext cx="604837"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校园网</a:t>
                </a:r>
              </a:p>
            </p:txBody>
          </p:sp>
          <p:sp>
            <p:nvSpPr>
              <p:cNvPr id="36" name="Oval 242"/>
              <p:cNvSpPr>
                <a:spLocks noChangeArrowheads="1"/>
              </p:cNvSpPr>
              <p:nvPr/>
            </p:nvSpPr>
            <p:spPr bwMode="auto">
              <a:xfrm>
                <a:off x="4008439" y="4393692"/>
                <a:ext cx="573087" cy="350838"/>
              </a:xfrm>
              <a:prstGeom prst="ellipse">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1100"/>
              </a:p>
            </p:txBody>
          </p:sp>
          <p:sp>
            <p:nvSpPr>
              <p:cNvPr id="37" name="Text Box 1524"/>
              <p:cNvSpPr txBox="1">
                <a:spLocks noChangeArrowheads="1"/>
              </p:cNvSpPr>
              <p:nvPr/>
            </p:nvSpPr>
            <p:spPr bwMode="auto">
              <a:xfrm>
                <a:off x="4068053" y="4470487"/>
                <a:ext cx="458545" cy="21010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zh-CN" altLang="en-US" sz="1100" dirty="0">
                    <a:solidFill>
                      <a:schemeClr val="bg1"/>
                    </a:solidFill>
                    <a:latin typeface="微软雅黑" panose="020B0503020204020204" pitchFamily="34" charset="-122"/>
                    <a:ea typeface="微软雅黑" panose="020B0503020204020204" pitchFamily="34" charset="-122"/>
                  </a:rPr>
                  <a:t>公司</a:t>
                </a:r>
                <a:endParaRPr kumimoji="1" lang="en-US" altLang="zh-CN" sz="1100" dirty="0">
                  <a:solidFill>
                    <a:schemeClr val="bg1"/>
                  </a:solidFill>
                  <a:latin typeface="微软雅黑" panose="020B0503020204020204" pitchFamily="34" charset="-122"/>
                  <a:ea typeface="微软雅黑" panose="020B0503020204020204" pitchFamily="34" charset="-122"/>
                </a:endParaRPr>
              </a:p>
            </p:txBody>
          </p:sp>
          <p:sp>
            <p:nvSpPr>
              <p:cNvPr id="42" name="Oval 273"/>
              <p:cNvSpPr>
                <a:spLocks noChangeArrowheads="1"/>
              </p:cNvSpPr>
              <p:nvPr/>
            </p:nvSpPr>
            <p:spPr bwMode="auto">
              <a:xfrm>
                <a:off x="5976939" y="2896681"/>
                <a:ext cx="369887" cy="225425"/>
              </a:xfrm>
              <a:prstGeom prst="ellipse">
                <a:avLst/>
              </a:prstGeom>
              <a:solidFill>
                <a:srgbClr val="FFC000"/>
              </a:solidFill>
              <a:ln w="9525">
                <a:solidFill>
                  <a:srgbClr val="368AD6"/>
                </a:solidFill>
                <a:round/>
              </a:ln>
              <a:effectLst/>
            </p:spPr>
            <p:txBody>
              <a:bodyPr wrap="none" anchor="ctr"/>
              <a:lstStyle/>
              <a:p>
                <a:endParaRPr lang="zh-CN" altLang="en-US" sz="1100"/>
              </a:p>
            </p:txBody>
          </p:sp>
          <p:sp>
            <p:nvSpPr>
              <p:cNvPr id="43" name="Text Box 1524"/>
              <p:cNvSpPr txBox="1">
                <a:spLocks noChangeArrowheads="1"/>
              </p:cNvSpPr>
              <p:nvPr/>
            </p:nvSpPr>
            <p:spPr bwMode="auto">
              <a:xfrm>
                <a:off x="5971253" y="2880806"/>
                <a:ext cx="397133"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100" dirty="0">
                    <a:latin typeface="微软雅黑" panose="020B0503020204020204" pitchFamily="34" charset="-122"/>
                    <a:ea typeface="微软雅黑" panose="020B0503020204020204" pitchFamily="34" charset="-122"/>
                  </a:rPr>
                  <a:t>IXP</a:t>
                </a:r>
              </a:p>
            </p:txBody>
          </p:sp>
          <p:sp>
            <p:nvSpPr>
              <p:cNvPr id="44" name="Line 278"/>
              <p:cNvSpPr>
                <a:spLocks noChangeShapeType="1"/>
              </p:cNvSpPr>
              <p:nvPr/>
            </p:nvSpPr>
            <p:spPr bwMode="auto">
              <a:xfrm>
                <a:off x="2503488" y="3026855"/>
                <a:ext cx="531812"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45" name="Line 279"/>
              <p:cNvSpPr>
                <a:spLocks noChangeShapeType="1"/>
              </p:cNvSpPr>
              <p:nvPr/>
            </p:nvSpPr>
            <p:spPr bwMode="auto">
              <a:xfrm>
                <a:off x="4271963" y="3026855"/>
                <a:ext cx="514350"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49" name="Oval 186"/>
              <p:cNvSpPr>
                <a:spLocks noChangeArrowheads="1"/>
              </p:cNvSpPr>
              <p:nvPr/>
            </p:nvSpPr>
            <p:spPr bwMode="auto">
              <a:xfrm>
                <a:off x="2085975" y="3647935"/>
                <a:ext cx="573088"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50" name="Text Box 1524"/>
              <p:cNvSpPr txBox="1">
                <a:spLocks noChangeArrowheads="1"/>
              </p:cNvSpPr>
              <p:nvPr/>
            </p:nvSpPr>
            <p:spPr bwMode="auto">
              <a:xfrm>
                <a:off x="2029160" y="3711800"/>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51" name="Oval 191"/>
              <p:cNvSpPr>
                <a:spLocks noChangeArrowheads="1"/>
              </p:cNvSpPr>
              <p:nvPr/>
            </p:nvSpPr>
            <p:spPr bwMode="auto">
              <a:xfrm>
                <a:off x="2906714" y="3630106"/>
                <a:ext cx="574675"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52" name="Text Box 1524"/>
              <p:cNvSpPr txBox="1">
                <a:spLocks noChangeArrowheads="1"/>
              </p:cNvSpPr>
              <p:nvPr/>
            </p:nvSpPr>
            <p:spPr bwMode="auto">
              <a:xfrm>
                <a:off x="2861864" y="370341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53" name="Oval 194"/>
              <p:cNvSpPr>
                <a:spLocks noChangeArrowheads="1"/>
              </p:cNvSpPr>
              <p:nvPr/>
            </p:nvSpPr>
            <p:spPr bwMode="auto">
              <a:xfrm>
                <a:off x="3749676" y="3630106"/>
                <a:ext cx="574675"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54" name="Text Box 1524"/>
              <p:cNvSpPr txBox="1">
                <a:spLocks noChangeArrowheads="1"/>
              </p:cNvSpPr>
              <p:nvPr/>
            </p:nvSpPr>
            <p:spPr bwMode="auto">
              <a:xfrm>
                <a:off x="3693750" y="370341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55" name="Oval 197"/>
              <p:cNvSpPr>
                <a:spLocks noChangeArrowheads="1"/>
              </p:cNvSpPr>
              <p:nvPr/>
            </p:nvSpPr>
            <p:spPr bwMode="auto">
              <a:xfrm>
                <a:off x="4645025" y="3630106"/>
                <a:ext cx="573088"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56" name="Text Box 1524"/>
              <p:cNvSpPr txBox="1">
                <a:spLocks noChangeArrowheads="1"/>
              </p:cNvSpPr>
              <p:nvPr/>
            </p:nvSpPr>
            <p:spPr bwMode="auto">
              <a:xfrm>
                <a:off x="4557254" y="3710634"/>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57" name="Oval 200"/>
              <p:cNvSpPr>
                <a:spLocks noChangeArrowheads="1"/>
              </p:cNvSpPr>
              <p:nvPr/>
            </p:nvSpPr>
            <p:spPr bwMode="auto">
              <a:xfrm>
                <a:off x="5487989" y="3630106"/>
                <a:ext cx="573087"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58" name="Text Box 1524"/>
              <p:cNvSpPr txBox="1">
                <a:spLocks noChangeArrowheads="1"/>
              </p:cNvSpPr>
              <p:nvPr/>
            </p:nvSpPr>
            <p:spPr bwMode="auto">
              <a:xfrm>
                <a:off x="5446416" y="3710634"/>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59" name="Oval 203"/>
              <p:cNvSpPr>
                <a:spLocks noChangeArrowheads="1"/>
              </p:cNvSpPr>
              <p:nvPr/>
            </p:nvSpPr>
            <p:spPr bwMode="auto">
              <a:xfrm>
                <a:off x="6265864" y="3630106"/>
                <a:ext cx="573087"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60" name="Text Box 1524"/>
              <p:cNvSpPr txBox="1">
                <a:spLocks noChangeArrowheads="1"/>
              </p:cNvSpPr>
              <p:nvPr/>
            </p:nvSpPr>
            <p:spPr bwMode="auto">
              <a:xfrm>
                <a:off x="6208344" y="3717050"/>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61" name="Oval 206"/>
              <p:cNvSpPr>
                <a:spLocks noChangeArrowheads="1"/>
              </p:cNvSpPr>
              <p:nvPr/>
            </p:nvSpPr>
            <p:spPr bwMode="auto">
              <a:xfrm>
                <a:off x="7129464" y="3630106"/>
                <a:ext cx="573087" cy="350837"/>
              </a:xfrm>
              <a:prstGeom prst="ellipse">
                <a:avLst/>
              </a:prstGeom>
              <a:solidFill>
                <a:schemeClr val="bg1">
                  <a:lumMod val="75000"/>
                </a:schemeClr>
              </a:solidFill>
              <a:ln>
                <a:noFill/>
              </a:ln>
              <a:effectLst/>
            </p:spPr>
            <p:txBody>
              <a:bodyPr wrap="none" anchor="ctr"/>
              <a:lstStyle/>
              <a:p>
                <a:endParaRPr lang="zh-CN" altLang="en-US" sz="1100"/>
              </a:p>
            </p:txBody>
          </p:sp>
          <p:sp>
            <p:nvSpPr>
              <p:cNvPr id="62" name="Text Box 1524"/>
              <p:cNvSpPr txBox="1">
                <a:spLocks noChangeArrowheads="1"/>
              </p:cNvSpPr>
              <p:nvPr/>
            </p:nvSpPr>
            <p:spPr bwMode="auto">
              <a:xfrm>
                <a:off x="7089584" y="3691323"/>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本地 </a:t>
                </a:r>
                <a:r>
                  <a:rPr kumimoji="1" lang="en-US" altLang="zh-CN" sz="1100" dirty="0">
                    <a:latin typeface="微软雅黑" panose="020B0503020204020204" pitchFamily="34" charset="-122"/>
                    <a:ea typeface="微软雅黑" panose="020B0503020204020204" pitchFamily="34" charset="-122"/>
                  </a:rPr>
                  <a:t>ISP</a:t>
                </a:r>
              </a:p>
            </p:txBody>
          </p:sp>
          <p:sp>
            <p:nvSpPr>
              <p:cNvPr id="63" name="Oval 209"/>
              <p:cNvSpPr>
                <a:spLocks noChangeArrowheads="1"/>
              </p:cNvSpPr>
              <p:nvPr/>
            </p:nvSpPr>
            <p:spPr bwMode="auto">
              <a:xfrm>
                <a:off x="1222375" y="3630106"/>
                <a:ext cx="573088" cy="350837"/>
              </a:xfrm>
              <a:prstGeom prst="ellipse">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1100"/>
              </a:p>
            </p:txBody>
          </p:sp>
          <p:sp>
            <p:nvSpPr>
              <p:cNvPr id="64" name="Text Box 1524"/>
              <p:cNvSpPr txBox="1">
                <a:spLocks noChangeArrowheads="1"/>
              </p:cNvSpPr>
              <p:nvPr/>
            </p:nvSpPr>
            <p:spPr bwMode="auto">
              <a:xfrm>
                <a:off x="1210362" y="3680905"/>
                <a:ext cx="597117"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a:solidFill>
                      <a:schemeClr val="bg1"/>
                    </a:solidFill>
                    <a:latin typeface="微软雅黑" panose="020B0503020204020204" pitchFamily="34" charset="-122"/>
                    <a:ea typeface="微软雅黑" panose="020B0503020204020204" pitchFamily="34" charset="-122"/>
                  </a:rPr>
                  <a:t>大公司</a:t>
                </a:r>
                <a:endParaRPr kumimoji="1" lang="en-US" altLang="zh-CN" sz="1100">
                  <a:solidFill>
                    <a:schemeClr val="bg1"/>
                  </a:solidFill>
                  <a:latin typeface="微软雅黑" panose="020B0503020204020204" pitchFamily="34" charset="-122"/>
                  <a:ea typeface="微软雅黑" panose="020B0503020204020204" pitchFamily="34" charset="-122"/>
                </a:endParaRPr>
              </a:p>
            </p:txBody>
          </p:sp>
          <p:sp>
            <p:nvSpPr>
              <p:cNvPr id="65" name="Oval 170"/>
              <p:cNvSpPr>
                <a:spLocks noChangeArrowheads="1"/>
              </p:cNvSpPr>
              <p:nvPr/>
            </p:nvSpPr>
            <p:spPr bwMode="auto">
              <a:xfrm>
                <a:off x="1423989"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66" name="Text Box 1524"/>
              <p:cNvSpPr txBox="1">
                <a:spLocks noChangeArrowheads="1"/>
              </p:cNvSpPr>
              <p:nvPr/>
            </p:nvSpPr>
            <p:spPr bwMode="auto">
              <a:xfrm>
                <a:off x="1456073" y="289191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地区 </a:t>
                </a:r>
                <a:r>
                  <a:rPr kumimoji="1" lang="en-US" altLang="zh-CN" sz="1100" dirty="0">
                    <a:latin typeface="微软雅黑" panose="020B0503020204020204" pitchFamily="34" charset="-122"/>
                    <a:ea typeface="微软雅黑" panose="020B0503020204020204" pitchFamily="34" charset="-122"/>
                  </a:rPr>
                  <a:t>ISP</a:t>
                </a:r>
              </a:p>
            </p:txBody>
          </p:sp>
          <p:sp>
            <p:nvSpPr>
              <p:cNvPr id="67" name="Oval 177"/>
              <p:cNvSpPr>
                <a:spLocks noChangeArrowheads="1"/>
              </p:cNvSpPr>
              <p:nvPr/>
            </p:nvSpPr>
            <p:spPr bwMode="auto">
              <a:xfrm>
                <a:off x="3217864"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68" name="Text Box 1524"/>
              <p:cNvSpPr txBox="1">
                <a:spLocks noChangeArrowheads="1"/>
              </p:cNvSpPr>
              <p:nvPr/>
            </p:nvSpPr>
            <p:spPr bwMode="auto">
              <a:xfrm>
                <a:off x="3271379" y="289191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地区 </a:t>
                </a:r>
                <a:r>
                  <a:rPr kumimoji="1" lang="en-US" altLang="zh-CN" sz="1100" dirty="0">
                    <a:latin typeface="微软雅黑" panose="020B0503020204020204" pitchFamily="34" charset="-122"/>
                    <a:ea typeface="微软雅黑" panose="020B0503020204020204" pitchFamily="34" charset="-122"/>
                  </a:rPr>
                  <a:t>ISP</a:t>
                </a:r>
              </a:p>
            </p:txBody>
          </p:sp>
          <p:sp>
            <p:nvSpPr>
              <p:cNvPr id="69" name="Oval 180"/>
              <p:cNvSpPr>
                <a:spLocks noChangeArrowheads="1"/>
              </p:cNvSpPr>
              <p:nvPr/>
            </p:nvSpPr>
            <p:spPr bwMode="auto">
              <a:xfrm>
                <a:off x="4976814"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70" name="Text Box 1524"/>
              <p:cNvSpPr txBox="1">
                <a:spLocks noChangeArrowheads="1"/>
              </p:cNvSpPr>
              <p:nvPr/>
            </p:nvSpPr>
            <p:spPr bwMode="auto">
              <a:xfrm>
                <a:off x="4937460" y="289191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地区 </a:t>
                </a:r>
                <a:r>
                  <a:rPr kumimoji="1" lang="en-US" altLang="zh-CN" sz="1100" dirty="0">
                    <a:latin typeface="微软雅黑" panose="020B0503020204020204" pitchFamily="34" charset="-122"/>
                    <a:ea typeface="微软雅黑" panose="020B0503020204020204" pitchFamily="34" charset="-122"/>
                  </a:rPr>
                  <a:t>ISP</a:t>
                </a:r>
              </a:p>
            </p:txBody>
          </p:sp>
          <p:sp>
            <p:nvSpPr>
              <p:cNvPr id="71" name="Oval 183"/>
              <p:cNvSpPr>
                <a:spLocks noChangeArrowheads="1"/>
              </p:cNvSpPr>
              <p:nvPr/>
            </p:nvSpPr>
            <p:spPr bwMode="auto">
              <a:xfrm>
                <a:off x="6540501" y="2834767"/>
                <a:ext cx="796925"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72" name="Text Box 1524"/>
              <p:cNvSpPr txBox="1">
                <a:spLocks noChangeArrowheads="1"/>
              </p:cNvSpPr>
              <p:nvPr/>
            </p:nvSpPr>
            <p:spPr bwMode="auto">
              <a:xfrm>
                <a:off x="6697998" y="289191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地区 </a:t>
                </a:r>
                <a:r>
                  <a:rPr kumimoji="1" lang="en-US" altLang="zh-CN" sz="1100" dirty="0">
                    <a:latin typeface="微软雅黑" panose="020B0503020204020204" pitchFamily="34" charset="-122"/>
                    <a:ea typeface="微软雅黑" panose="020B0503020204020204" pitchFamily="34" charset="-122"/>
                  </a:rPr>
                  <a:t>ISP</a:t>
                </a:r>
              </a:p>
            </p:txBody>
          </p:sp>
          <p:sp>
            <p:nvSpPr>
              <p:cNvPr id="73" name="Line 276"/>
              <p:cNvSpPr>
                <a:spLocks noChangeShapeType="1"/>
              </p:cNvSpPr>
              <p:nvPr/>
            </p:nvSpPr>
            <p:spPr bwMode="auto">
              <a:xfrm>
                <a:off x="5640389" y="3203067"/>
                <a:ext cx="1093787" cy="0"/>
              </a:xfrm>
              <a:prstGeom prst="line">
                <a:avLst/>
              </a:prstGeom>
              <a:noFill/>
              <a:ln w="38100">
                <a:solidFill>
                  <a:srgbClr val="C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74" name="Oval 158"/>
              <p:cNvSpPr>
                <a:spLocks noChangeArrowheads="1"/>
              </p:cNvSpPr>
              <p:nvPr/>
            </p:nvSpPr>
            <p:spPr bwMode="auto">
              <a:xfrm>
                <a:off x="4233864" y="1920367"/>
                <a:ext cx="796925" cy="350838"/>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75" name="Text Box 1524"/>
              <p:cNvSpPr txBox="1">
                <a:spLocks noChangeArrowheads="1"/>
              </p:cNvSpPr>
              <p:nvPr/>
            </p:nvSpPr>
            <p:spPr bwMode="auto">
              <a:xfrm>
                <a:off x="4225130" y="1964817"/>
                <a:ext cx="817570"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100" dirty="0">
                    <a:latin typeface="微软雅黑" panose="020B0503020204020204" pitchFamily="34" charset="-122"/>
                    <a:ea typeface="微软雅黑" panose="020B0503020204020204" pitchFamily="34" charset="-122"/>
                  </a:rPr>
                  <a:t>Tier-1</a:t>
                </a:r>
                <a:r>
                  <a:rPr kumimoji="1" lang="zh-CN" altLang="en-US" sz="1100" dirty="0">
                    <a:latin typeface="微软雅黑" panose="020B0503020204020204" pitchFamily="34" charset="-122"/>
                    <a:ea typeface="微软雅黑" panose="020B0503020204020204" pitchFamily="34" charset="-122"/>
                  </a:rPr>
                  <a:t> </a:t>
                </a:r>
                <a:r>
                  <a:rPr kumimoji="1" lang="en-US" altLang="zh-CN" sz="1100" dirty="0">
                    <a:latin typeface="微软雅黑" panose="020B0503020204020204" pitchFamily="34" charset="-122"/>
                    <a:ea typeface="微软雅黑" panose="020B0503020204020204" pitchFamily="34" charset="-122"/>
                  </a:rPr>
                  <a:t>ISP</a:t>
                </a:r>
              </a:p>
            </p:txBody>
          </p:sp>
          <p:sp>
            <p:nvSpPr>
              <p:cNvPr id="76" name="Oval 167"/>
              <p:cNvSpPr>
                <a:spLocks noChangeArrowheads="1"/>
              </p:cNvSpPr>
              <p:nvPr/>
            </p:nvSpPr>
            <p:spPr bwMode="auto">
              <a:xfrm>
                <a:off x="2382839" y="2258506"/>
                <a:ext cx="795337" cy="350837"/>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77" name="Text Box 1524"/>
              <p:cNvSpPr txBox="1">
                <a:spLocks noChangeArrowheads="1"/>
              </p:cNvSpPr>
              <p:nvPr/>
            </p:nvSpPr>
            <p:spPr bwMode="auto">
              <a:xfrm>
                <a:off x="2429210" y="230136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主干 </a:t>
                </a:r>
                <a:r>
                  <a:rPr kumimoji="1" lang="en-US" altLang="zh-CN" sz="1100" dirty="0">
                    <a:latin typeface="微软雅黑" panose="020B0503020204020204" pitchFamily="34" charset="-122"/>
                    <a:ea typeface="微软雅黑" panose="020B0503020204020204" pitchFamily="34" charset="-122"/>
                  </a:rPr>
                  <a:t>ISP</a:t>
                </a:r>
              </a:p>
            </p:txBody>
          </p:sp>
          <p:sp>
            <p:nvSpPr>
              <p:cNvPr id="78" name="Oval 173"/>
              <p:cNvSpPr>
                <a:spLocks noChangeArrowheads="1"/>
              </p:cNvSpPr>
              <p:nvPr/>
            </p:nvSpPr>
            <p:spPr bwMode="auto">
              <a:xfrm>
                <a:off x="5759450" y="2258506"/>
                <a:ext cx="795338" cy="350837"/>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79" name="Text Box 1524"/>
              <p:cNvSpPr txBox="1">
                <a:spLocks noChangeArrowheads="1"/>
              </p:cNvSpPr>
              <p:nvPr/>
            </p:nvSpPr>
            <p:spPr bwMode="auto">
              <a:xfrm>
                <a:off x="5805823" y="2301367"/>
                <a:ext cx="705768" cy="2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zh-CN" altLang="en-US" sz="1100" dirty="0">
                    <a:latin typeface="微软雅黑" panose="020B0503020204020204" pitchFamily="34" charset="-122"/>
                    <a:ea typeface="微软雅黑" panose="020B0503020204020204" pitchFamily="34" charset="-122"/>
                  </a:rPr>
                  <a:t>主干 </a:t>
                </a:r>
                <a:r>
                  <a:rPr kumimoji="1" lang="en-US" altLang="zh-CN" sz="1100" dirty="0">
                    <a:latin typeface="微软雅黑" panose="020B0503020204020204" pitchFamily="34" charset="-122"/>
                    <a:ea typeface="微软雅黑" panose="020B0503020204020204" pitchFamily="34" charset="-122"/>
                  </a:rPr>
                  <a:t>ISP</a:t>
                </a:r>
              </a:p>
            </p:txBody>
          </p:sp>
        </p:grpSp>
        <p:sp>
          <p:nvSpPr>
            <p:cNvPr id="103" name="Text Box 1524"/>
            <p:cNvSpPr txBox="1">
              <a:spLocks noChangeArrowheads="1"/>
            </p:cNvSpPr>
            <p:nvPr/>
          </p:nvSpPr>
          <p:spPr bwMode="auto">
            <a:xfrm>
              <a:off x="5472466" y="5319311"/>
              <a:ext cx="608718" cy="323259"/>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zh-CN" altLang="en-US" sz="1100" dirty="0">
                  <a:solidFill>
                    <a:schemeClr val="bg1"/>
                  </a:solidFill>
                  <a:latin typeface="微软雅黑" panose="020B0503020204020204" pitchFamily="34" charset="-122"/>
                  <a:ea typeface="微软雅黑" panose="020B0503020204020204" pitchFamily="34" charset="-122"/>
                </a:rPr>
                <a:t>公司</a:t>
              </a:r>
              <a:endParaRPr kumimoji="1" lang="en-US" altLang="zh-CN" sz="1100" dirty="0">
                <a:solidFill>
                  <a:schemeClr val="bg1"/>
                </a:solidFill>
                <a:latin typeface="微软雅黑" panose="020B0503020204020204" pitchFamily="34" charset="-122"/>
                <a:ea typeface="微软雅黑" panose="020B0503020204020204" pitchFamily="34" charset="-122"/>
              </a:endParaRPr>
            </a:p>
          </p:txBody>
        </p:sp>
        <p:cxnSp>
          <p:nvCxnSpPr>
            <p:cNvPr id="107" name="AutoShape 261"/>
            <p:cNvCxnSpPr>
              <a:cxnSpLocks noChangeShapeType="1"/>
              <a:stCxn id="65" idx="5"/>
              <a:endCxn id="49" idx="0"/>
            </p:cNvCxnSpPr>
            <p:nvPr/>
          </p:nvCxnSpPr>
          <p:spPr bwMode="auto">
            <a:xfrm>
              <a:off x="1420591" y="3288714"/>
              <a:ext cx="357984" cy="790378"/>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AutoShape 254"/>
            <p:cNvCxnSpPr>
              <a:cxnSpLocks noChangeShapeType="1"/>
              <a:stCxn id="56" idx="3"/>
              <a:endCxn id="58" idx="1"/>
            </p:cNvCxnSpPr>
            <p:nvPr/>
          </p:nvCxnSpPr>
          <p:spPr bwMode="auto">
            <a:xfrm>
              <a:off x="5615714" y="4337189"/>
              <a:ext cx="243455" cy="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287"/>
            <p:cNvCxnSpPr>
              <a:cxnSpLocks noChangeShapeType="1"/>
              <a:stCxn id="55" idx="3"/>
              <a:endCxn id="36" idx="0"/>
            </p:cNvCxnSpPr>
            <p:nvPr/>
          </p:nvCxnSpPr>
          <p:spPr bwMode="auto">
            <a:xfrm flipH="1">
              <a:off x="4330642" y="4512400"/>
              <a:ext cx="576094" cy="71409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0" name="内容占位符 45"/>
          <p:cNvSpPr txBox="1"/>
          <p:nvPr/>
        </p:nvSpPr>
        <p:spPr>
          <a:xfrm>
            <a:off x="17140" y="1527607"/>
            <a:ext cx="3621685" cy="435908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1600" dirty="0"/>
              <a:t>Tier-1</a:t>
            </a:r>
            <a:r>
              <a:rPr lang="zh-CN" altLang="en-US" sz="1600" dirty="0"/>
              <a:t> </a:t>
            </a:r>
            <a:r>
              <a:rPr lang="en-US" altLang="zh-CN" sz="1600" dirty="0"/>
              <a:t>ISP</a:t>
            </a:r>
          </a:p>
          <a:p>
            <a:pPr lvl="1" algn="l"/>
            <a:r>
              <a:rPr lang="zh-CN" altLang="en-US" sz="1600" dirty="0"/>
              <a:t>全球最高级别</a:t>
            </a:r>
            <a:r>
              <a:rPr lang="en-US" altLang="zh-CN" sz="1600" dirty="0"/>
              <a:t>ISP</a:t>
            </a:r>
            <a:r>
              <a:rPr lang="zh-CN" altLang="en-US" sz="1600" dirty="0"/>
              <a:t>，互不结算</a:t>
            </a:r>
            <a:endParaRPr lang="en-US" altLang="zh-CN" sz="1600" dirty="0"/>
          </a:p>
          <a:p>
            <a:pPr lvl="1" algn="l"/>
            <a:r>
              <a:rPr lang="zh-CN" altLang="en-US" sz="1600" dirty="0"/>
              <a:t>中国电信</a:t>
            </a:r>
            <a:endParaRPr lang="en-US" altLang="zh-CN" sz="1600" dirty="0"/>
          </a:p>
          <a:p>
            <a:pPr lvl="1" algn="l"/>
            <a:r>
              <a:rPr lang="zh-CN" altLang="en-US" sz="1600" dirty="0"/>
              <a:t>中国联通</a:t>
            </a:r>
            <a:endParaRPr lang="en-US" altLang="zh-CN" sz="1600" dirty="0"/>
          </a:p>
          <a:p>
            <a:pPr lvl="1" algn="l"/>
            <a:r>
              <a:rPr lang="zh-CN" altLang="en-US" sz="1600" dirty="0"/>
              <a:t>中国移动</a:t>
            </a:r>
            <a:endParaRPr lang="en-US" altLang="zh-CN" sz="1600" dirty="0"/>
          </a:p>
          <a:p>
            <a:pPr lvl="1" algn="l"/>
            <a:r>
              <a:rPr lang="zh-CN" altLang="en-US" sz="1600" dirty="0"/>
              <a:t>美国</a:t>
            </a:r>
            <a:r>
              <a:rPr lang="en-US" altLang="zh-CN" sz="1600" dirty="0"/>
              <a:t>AT&amp;T</a:t>
            </a:r>
          </a:p>
          <a:p>
            <a:pPr lvl="1" algn="l"/>
            <a:r>
              <a:rPr lang="zh-CN" altLang="en-US" sz="1600" dirty="0"/>
              <a:t>美国</a:t>
            </a:r>
            <a:r>
              <a:rPr lang="en-US" altLang="zh-CN" sz="1600" dirty="0"/>
              <a:t>Verizon</a:t>
            </a:r>
          </a:p>
          <a:p>
            <a:pPr lvl="1" algn="l"/>
            <a:r>
              <a:rPr lang="zh-CN" altLang="en-US" sz="1600" dirty="0"/>
              <a:t>美国</a:t>
            </a:r>
            <a:r>
              <a:rPr lang="en-US" altLang="zh-CN" sz="1600" dirty="0"/>
              <a:t>Sprint</a:t>
            </a:r>
          </a:p>
          <a:p>
            <a:pPr lvl="1" algn="l"/>
            <a:r>
              <a:rPr lang="zh-CN" altLang="en-US" sz="1600" dirty="0"/>
              <a:t>日本</a:t>
            </a:r>
            <a:r>
              <a:rPr lang="en-US" altLang="zh-CN" sz="1600" dirty="0"/>
              <a:t>NTT</a:t>
            </a:r>
          </a:p>
          <a:p>
            <a:pPr lvl="1" algn="l"/>
            <a:r>
              <a:rPr lang="zh-CN" altLang="en-US" sz="1600" dirty="0"/>
              <a:t>日本</a:t>
            </a:r>
            <a:r>
              <a:rPr lang="en-US" altLang="zh-CN" sz="1600" dirty="0"/>
              <a:t>KDDI</a:t>
            </a:r>
          </a:p>
          <a:p>
            <a:pPr lvl="1" algn="l"/>
            <a:r>
              <a:rPr lang="zh-CN" altLang="en-US" sz="1600" dirty="0"/>
              <a:t>新加坡</a:t>
            </a:r>
            <a:r>
              <a:rPr lang="en-US" altLang="zh-CN" sz="1600" dirty="0"/>
              <a:t>SingTel</a:t>
            </a:r>
          </a:p>
          <a:p>
            <a:pPr lvl="1" algn="l"/>
            <a:r>
              <a:rPr lang="zh-CN" altLang="en-US" sz="1600" dirty="0"/>
              <a:t>英国</a:t>
            </a:r>
            <a:r>
              <a:rPr lang="en-US" altLang="zh-CN" sz="1600" dirty="0"/>
              <a:t>British Telecom</a:t>
            </a:r>
          </a:p>
          <a:p>
            <a:pPr lvl="1" algn="l"/>
            <a:r>
              <a:rPr lang="zh-CN" altLang="en-US" sz="1600" dirty="0"/>
              <a:t>德国</a:t>
            </a:r>
            <a:r>
              <a:rPr lang="en-US" altLang="zh-CN" sz="1600" dirty="0"/>
              <a:t>Deutsche Telekom</a:t>
            </a:r>
          </a:p>
          <a:p>
            <a:pPr algn="l"/>
            <a:r>
              <a:rPr lang="en-US" altLang="zh-CN" sz="1600" dirty="0"/>
              <a:t>Tier-2 ISP</a:t>
            </a:r>
          </a:p>
          <a:p>
            <a:pPr lvl="1" algn="l"/>
            <a:r>
              <a:rPr lang="zh-CN" altLang="en-US" sz="1600" dirty="0"/>
              <a:t>教育网</a:t>
            </a:r>
            <a:endParaRPr lang="en-US" altLang="zh-CN" sz="1600" dirty="0"/>
          </a:p>
          <a:p>
            <a:pPr lvl="1" algn="l"/>
            <a:r>
              <a:rPr lang="zh-CN" altLang="en-US" sz="1600" dirty="0"/>
              <a:t>通常需要向更高级别</a:t>
            </a:r>
            <a:r>
              <a:rPr lang="en-US" altLang="zh-CN" sz="1600" dirty="0"/>
              <a:t>ISP</a:t>
            </a:r>
            <a:r>
              <a:rPr lang="zh-CN" altLang="en-US" sz="1600" dirty="0"/>
              <a:t>交流量费</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8"/>
          <p:cNvSpPr>
            <a:spLocks noChangeArrowheads="1"/>
          </p:cNvSpPr>
          <p:nvPr/>
        </p:nvSpPr>
        <p:spPr bwMode="auto">
          <a:xfrm>
            <a:off x="906607" y="6143658"/>
            <a:ext cx="74066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600" b="1" dirty="0">
                <a:solidFill>
                  <a:srgbClr val="0000FF"/>
                </a:solidFill>
                <a:latin typeface="微软雅黑" panose="020B0503020204020204" pitchFamily="34" charset="-122"/>
                <a:ea typeface="微软雅黑" panose="020B0503020204020204" pitchFamily="34" charset="-122"/>
              </a:rPr>
              <a:t>到 </a:t>
            </a:r>
            <a:r>
              <a:rPr lang="en-US" altLang="zh-CN" sz="1600" b="1" dirty="0">
                <a:solidFill>
                  <a:srgbClr val="0000FF"/>
                </a:solidFill>
                <a:latin typeface="微软雅黑" panose="020B0503020204020204" pitchFamily="34" charset="-122"/>
                <a:ea typeface="微软雅黑" panose="020B0503020204020204" pitchFamily="34" charset="-122"/>
              </a:rPr>
              <a:t>2016 </a:t>
            </a:r>
            <a:r>
              <a:rPr lang="zh-CN" altLang="zh-CN" sz="1600" b="1" dirty="0">
                <a:solidFill>
                  <a:srgbClr val="0000FF"/>
                </a:solidFill>
                <a:latin typeface="微软雅黑" panose="020B0503020204020204" pitchFamily="34" charset="-122"/>
                <a:ea typeface="微软雅黑" panose="020B0503020204020204" pitchFamily="34" charset="-122"/>
              </a:rPr>
              <a:t>年</a:t>
            </a:r>
            <a:r>
              <a:rPr lang="en-US" altLang="zh-CN" sz="1600" b="1" dirty="0">
                <a:solidFill>
                  <a:srgbClr val="0000FF"/>
                </a:solidFill>
                <a:latin typeface="微软雅黑" panose="020B0503020204020204" pitchFamily="34" charset="-122"/>
                <a:ea typeface="微软雅黑" panose="020B0503020204020204" pitchFamily="34" charset="-122"/>
              </a:rPr>
              <a:t> 3 </a:t>
            </a:r>
            <a:r>
              <a:rPr lang="zh-CN" altLang="zh-CN" sz="1600" b="1" dirty="0">
                <a:solidFill>
                  <a:srgbClr val="0000FF"/>
                </a:solidFill>
                <a:latin typeface="微软雅黑" panose="020B0503020204020204" pitchFamily="34" charset="-122"/>
                <a:ea typeface="微软雅黑" panose="020B0503020204020204" pitchFamily="34" charset="-122"/>
              </a:rPr>
              <a:t>月，全球已经有</a:t>
            </a:r>
            <a:r>
              <a:rPr lang="en-US" altLang="zh-CN" sz="1600" b="1" dirty="0">
                <a:solidFill>
                  <a:srgbClr val="0000FF"/>
                </a:solidFill>
                <a:latin typeface="微软雅黑" panose="020B0503020204020204" pitchFamily="34" charset="-122"/>
                <a:ea typeface="微软雅黑" panose="020B0503020204020204" pitchFamily="34" charset="-122"/>
              </a:rPr>
              <a:t> 226 </a:t>
            </a:r>
            <a:r>
              <a:rPr lang="zh-CN" altLang="zh-CN" sz="1600" b="1" dirty="0">
                <a:solidFill>
                  <a:srgbClr val="0000FF"/>
                </a:solidFill>
                <a:latin typeface="微软雅黑" panose="020B0503020204020204" pitchFamily="34" charset="-122"/>
                <a:ea typeface="微软雅黑" panose="020B0503020204020204" pitchFamily="34" charset="-122"/>
              </a:rPr>
              <a:t>个</a:t>
            </a:r>
            <a:r>
              <a:rPr lang="en-US" altLang="zh-CN" sz="1600" b="1" dirty="0">
                <a:solidFill>
                  <a:srgbClr val="0000FF"/>
                </a:solidFill>
                <a:latin typeface="微软雅黑" panose="020B0503020204020204" pitchFamily="34" charset="-122"/>
                <a:ea typeface="微软雅黑" panose="020B0503020204020204" pitchFamily="34" charset="-122"/>
              </a:rPr>
              <a:t> IXP</a:t>
            </a:r>
            <a:r>
              <a:rPr lang="zh-CN" altLang="zh-CN" sz="1600" b="1" dirty="0">
                <a:solidFill>
                  <a:srgbClr val="0000FF"/>
                </a:solidFill>
                <a:latin typeface="微软雅黑" panose="020B0503020204020204" pitchFamily="34" charset="-122"/>
                <a:ea typeface="微软雅黑" panose="020B0503020204020204" pitchFamily="34" charset="-122"/>
              </a:rPr>
              <a:t>，分布在</a:t>
            </a:r>
            <a:r>
              <a:rPr lang="en-US" altLang="zh-CN" sz="1600" b="1" dirty="0">
                <a:solidFill>
                  <a:srgbClr val="0000FF"/>
                </a:solidFill>
                <a:latin typeface="微软雅黑" panose="020B0503020204020204" pitchFamily="34" charset="-122"/>
                <a:ea typeface="微软雅黑" panose="020B0503020204020204" pitchFamily="34" charset="-122"/>
              </a:rPr>
              <a:t> 172 </a:t>
            </a:r>
            <a:r>
              <a:rPr lang="zh-CN" altLang="zh-CN" sz="1600" b="1" dirty="0">
                <a:solidFill>
                  <a:srgbClr val="0000FF"/>
                </a:solidFill>
                <a:latin typeface="微软雅黑" panose="020B0503020204020204" pitchFamily="34" charset="-122"/>
                <a:ea typeface="微软雅黑" panose="020B0503020204020204" pitchFamily="34" charset="-122"/>
              </a:rPr>
              <a:t>个国家和地区</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37892" name="矩形 1"/>
          <p:cNvSpPr>
            <a:spLocks noChangeArrowheads="1"/>
          </p:cNvSpPr>
          <p:nvPr/>
        </p:nvSpPr>
        <p:spPr bwMode="auto">
          <a:xfrm>
            <a:off x="1717325" y="796720"/>
            <a:ext cx="55504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zh-CN" sz="2000" b="1" dirty="0">
                <a:solidFill>
                  <a:srgbClr val="7030A0"/>
                </a:solidFill>
                <a:latin typeface="微软雅黑" panose="020B0503020204020204" pitchFamily="34" charset="-122"/>
                <a:ea typeface="微软雅黑" panose="020B0503020204020204" pitchFamily="34" charset="-122"/>
              </a:rPr>
              <a:t>互联网交换点</a:t>
            </a:r>
            <a:r>
              <a:rPr lang="en-US" altLang="zh-CN" sz="2000" b="1" dirty="0">
                <a:solidFill>
                  <a:srgbClr val="7030A0"/>
                </a:solidFill>
                <a:latin typeface="微软雅黑" panose="020B0503020204020204" pitchFamily="34" charset="-122"/>
                <a:ea typeface="微软雅黑" panose="020B0503020204020204" pitchFamily="34" charset="-122"/>
              </a:rPr>
              <a:t> IXP </a:t>
            </a:r>
            <a:r>
              <a:rPr lang="zh-CN" altLang="zh-CN" sz="2000" b="1" dirty="0">
                <a:solidFill>
                  <a:srgbClr val="7030A0"/>
                </a:solidFill>
                <a:latin typeface="微软雅黑" panose="020B0503020204020204" pitchFamily="34" charset="-122"/>
                <a:ea typeface="微软雅黑" panose="020B0503020204020204" pitchFamily="34" charset="-122"/>
              </a:rPr>
              <a:t>在全球的分布图（</a:t>
            </a:r>
            <a:r>
              <a:rPr lang="en-US" altLang="zh-CN" sz="2000" b="1" dirty="0">
                <a:solidFill>
                  <a:srgbClr val="7030A0"/>
                </a:solidFill>
                <a:latin typeface="微软雅黑" panose="020B0503020204020204" pitchFamily="34" charset="-122"/>
                <a:ea typeface="微软雅黑" panose="020B0503020204020204" pitchFamily="34" charset="-122"/>
              </a:rPr>
              <a:t>2016</a:t>
            </a:r>
            <a:r>
              <a:rPr lang="zh-CN" altLang="zh-CN" sz="2000" b="1" dirty="0">
                <a:solidFill>
                  <a:srgbClr val="7030A0"/>
                </a:solidFill>
                <a:latin typeface="微软雅黑" panose="020B0503020204020204" pitchFamily="34" charset="-122"/>
                <a:ea typeface="微软雅黑" panose="020B0503020204020204" pitchFamily="34" charset="-122"/>
              </a:rPr>
              <a:t>年）</a:t>
            </a:r>
            <a:endParaRPr lang="zh-CN" altLang="en-US" sz="2000" b="1" dirty="0">
              <a:solidFill>
                <a:srgbClr val="7030A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pic>
        <p:nvPicPr>
          <p:cNvPr id="2" name="图片 6"/>
          <p:cNvPicPr>
            <a:picLocks noChangeAspect="1" noChangeArrowheads="1"/>
          </p:cNvPicPr>
          <p:nvPr/>
        </p:nvPicPr>
        <p:blipFill>
          <a:blip r:embed="rId3">
            <a:extLst>
              <a:ext uri="{28A0092B-C50C-407E-A947-70E740481C1C}">
                <a14:useLocalDpi xmlns:a14="http://schemas.microsoft.com/office/drawing/2010/main" val="0"/>
              </a:ext>
            </a:extLst>
          </a:blip>
          <a:srcRect l="23662" t="16238" r="32539" b="43779"/>
          <a:stretch>
            <a:fillRect/>
          </a:stretch>
        </p:blipFill>
        <p:spPr bwMode="auto">
          <a:xfrm>
            <a:off x="774292" y="1255673"/>
            <a:ext cx="7671271" cy="4691982"/>
          </a:xfrm>
          <a:prstGeom prst="rect">
            <a:avLst/>
          </a:prstGeom>
          <a:solidFill>
            <a:srgbClr val="C5E5F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92326" y="2042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6"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7926" y="28805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6726" y="28805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7926" y="3871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9"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6726" y="3871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40" name="Picture 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92326" y="45569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41" name="Line 9"/>
          <p:cNvSpPr>
            <a:spLocks noChangeShapeType="1"/>
          </p:cNvSpPr>
          <p:nvPr/>
        </p:nvSpPr>
        <p:spPr bwMode="auto">
          <a:xfrm flipH="1">
            <a:off x="3130326" y="2194719"/>
            <a:ext cx="76200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2" name="Line 10"/>
          <p:cNvSpPr>
            <a:spLocks noChangeShapeType="1"/>
          </p:cNvSpPr>
          <p:nvPr/>
        </p:nvSpPr>
        <p:spPr bwMode="auto">
          <a:xfrm>
            <a:off x="4197126" y="2194719"/>
            <a:ext cx="685800" cy="6858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3" name="Line 11"/>
          <p:cNvSpPr>
            <a:spLocks noChangeShapeType="1"/>
          </p:cNvSpPr>
          <p:nvPr/>
        </p:nvSpPr>
        <p:spPr bwMode="auto">
          <a:xfrm>
            <a:off x="3130326" y="3109119"/>
            <a:ext cx="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4" name="Line 12"/>
          <p:cNvSpPr>
            <a:spLocks noChangeShapeType="1"/>
          </p:cNvSpPr>
          <p:nvPr/>
        </p:nvSpPr>
        <p:spPr bwMode="auto">
          <a:xfrm>
            <a:off x="4959126" y="3109119"/>
            <a:ext cx="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5" name="Line 13"/>
          <p:cNvSpPr>
            <a:spLocks noChangeShapeType="1"/>
          </p:cNvSpPr>
          <p:nvPr/>
        </p:nvSpPr>
        <p:spPr bwMode="auto">
          <a:xfrm>
            <a:off x="3206526" y="4099719"/>
            <a:ext cx="685800" cy="5334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6" name="Line 14"/>
          <p:cNvSpPr>
            <a:spLocks noChangeShapeType="1"/>
          </p:cNvSpPr>
          <p:nvPr/>
        </p:nvSpPr>
        <p:spPr bwMode="auto">
          <a:xfrm flipV="1">
            <a:off x="4273326" y="4023519"/>
            <a:ext cx="609600" cy="6096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7" name="Line 15"/>
          <p:cNvSpPr>
            <a:spLocks noChangeShapeType="1"/>
          </p:cNvSpPr>
          <p:nvPr/>
        </p:nvSpPr>
        <p:spPr bwMode="auto">
          <a:xfrm>
            <a:off x="3358926" y="3032919"/>
            <a:ext cx="144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8" name="Line 16"/>
          <p:cNvSpPr>
            <a:spLocks noChangeShapeType="1"/>
          </p:cNvSpPr>
          <p:nvPr/>
        </p:nvSpPr>
        <p:spPr bwMode="auto">
          <a:xfrm>
            <a:off x="3282726" y="3109119"/>
            <a:ext cx="762000" cy="14478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9" name="Line 17"/>
          <p:cNvSpPr>
            <a:spLocks noChangeShapeType="1"/>
          </p:cNvSpPr>
          <p:nvPr/>
        </p:nvSpPr>
        <p:spPr bwMode="auto">
          <a:xfrm flipV="1">
            <a:off x="3282726" y="2194719"/>
            <a:ext cx="762000" cy="17526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0" name="Line 18"/>
          <p:cNvSpPr>
            <a:spLocks noChangeShapeType="1"/>
          </p:cNvSpPr>
          <p:nvPr/>
        </p:nvSpPr>
        <p:spPr bwMode="auto">
          <a:xfrm flipV="1">
            <a:off x="3282726" y="3109119"/>
            <a:ext cx="1600200" cy="9144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1" name="Line 19"/>
          <p:cNvSpPr>
            <a:spLocks noChangeShapeType="1"/>
          </p:cNvSpPr>
          <p:nvPr/>
        </p:nvSpPr>
        <p:spPr bwMode="auto">
          <a:xfrm>
            <a:off x="4120926" y="2270919"/>
            <a:ext cx="762000" cy="16002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2" name="Line 20"/>
          <p:cNvSpPr>
            <a:spLocks noChangeShapeType="1"/>
          </p:cNvSpPr>
          <p:nvPr/>
        </p:nvSpPr>
        <p:spPr bwMode="auto">
          <a:xfrm>
            <a:off x="4044726" y="2270919"/>
            <a:ext cx="0" cy="2286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3" name="Line 21"/>
          <p:cNvSpPr>
            <a:spLocks noChangeShapeType="1"/>
          </p:cNvSpPr>
          <p:nvPr/>
        </p:nvSpPr>
        <p:spPr bwMode="auto">
          <a:xfrm>
            <a:off x="3282726" y="3032919"/>
            <a:ext cx="1676400" cy="9144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4" name="Line 22"/>
          <p:cNvSpPr>
            <a:spLocks noChangeShapeType="1"/>
          </p:cNvSpPr>
          <p:nvPr/>
        </p:nvSpPr>
        <p:spPr bwMode="auto">
          <a:xfrm>
            <a:off x="3358926" y="4023519"/>
            <a:ext cx="15240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5" name="Line 23"/>
          <p:cNvSpPr>
            <a:spLocks noChangeShapeType="1"/>
          </p:cNvSpPr>
          <p:nvPr/>
        </p:nvSpPr>
        <p:spPr bwMode="auto">
          <a:xfrm flipH="1">
            <a:off x="3511326" y="4709319"/>
            <a:ext cx="457200" cy="7620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6" name="Line 24"/>
          <p:cNvSpPr>
            <a:spLocks noChangeShapeType="1"/>
          </p:cNvSpPr>
          <p:nvPr/>
        </p:nvSpPr>
        <p:spPr bwMode="auto">
          <a:xfrm>
            <a:off x="4044726" y="4785519"/>
            <a:ext cx="0" cy="609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7" name="Line 25"/>
          <p:cNvSpPr>
            <a:spLocks noChangeShapeType="1"/>
          </p:cNvSpPr>
          <p:nvPr/>
        </p:nvSpPr>
        <p:spPr bwMode="auto">
          <a:xfrm>
            <a:off x="4120926" y="4709319"/>
            <a:ext cx="381000" cy="685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8" name="Line 26"/>
          <p:cNvSpPr>
            <a:spLocks noChangeShapeType="1"/>
          </p:cNvSpPr>
          <p:nvPr/>
        </p:nvSpPr>
        <p:spPr bwMode="auto">
          <a:xfrm flipV="1">
            <a:off x="5187726" y="3642519"/>
            <a:ext cx="762000" cy="304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9" name="Line 27"/>
          <p:cNvSpPr>
            <a:spLocks noChangeShapeType="1"/>
          </p:cNvSpPr>
          <p:nvPr/>
        </p:nvSpPr>
        <p:spPr bwMode="auto">
          <a:xfrm>
            <a:off x="5187726" y="3985419"/>
            <a:ext cx="762000" cy="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0" name="Line 28"/>
          <p:cNvSpPr>
            <a:spLocks noChangeShapeType="1"/>
          </p:cNvSpPr>
          <p:nvPr/>
        </p:nvSpPr>
        <p:spPr bwMode="auto">
          <a:xfrm>
            <a:off x="5111526" y="4023519"/>
            <a:ext cx="9144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1" name="Line 29"/>
          <p:cNvSpPr>
            <a:spLocks noChangeShapeType="1"/>
          </p:cNvSpPr>
          <p:nvPr/>
        </p:nvSpPr>
        <p:spPr bwMode="auto">
          <a:xfrm flipV="1">
            <a:off x="5187726" y="2499519"/>
            <a:ext cx="762000" cy="3810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2" name="Line 30"/>
          <p:cNvSpPr>
            <a:spLocks noChangeShapeType="1"/>
          </p:cNvSpPr>
          <p:nvPr/>
        </p:nvSpPr>
        <p:spPr bwMode="auto">
          <a:xfrm flipV="1">
            <a:off x="5187726" y="2880519"/>
            <a:ext cx="914400" cy="381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3" name="Line 31"/>
          <p:cNvSpPr>
            <a:spLocks noChangeShapeType="1"/>
          </p:cNvSpPr>
          <p:nvPr/>
        </p:nvSpPr>
        <p:spPr bwMode="auto">
          <a:xfrm>
            <a:off x="5111526" y="2956719"/>
            <a:ext cx="9144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4" name="Line 32"/>
          <p:cNvSpPr>
            <a:spLocks noChangeShapeType="1"/>
          </p:cNvSpPr>
          <p:nvPr/>
        </p:nvSpPr>
        <p:spPr bwMode="auto">
          <a:xfrm flipV="1">
            <a:off x="2139726" y="4023519"/>
            <a:ext cx="838200" cy="3810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5" name="Line 33"/>
          <p:cNvSpPr>
            <a:spLocks noChangeShapeType="1"/>
          </p:cNvSpPr>
          <p:nvPr/>
        </p:nvSpPr>
        <p:spPr bwMode="auto">
          <a:xfrm>
            <a:off x="2139726" y="4023519"/>
            <a:ext cx="838200" cy="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6" name="Line 34"/>
          <p:cNvSpPr>
            <a:spLocks noChangeShapeType="1"/>
          </p:cNvSpPr>
          <p:nvPr/>
        </p:nvSpPr>
        <p:spPr bwMode="auto">
          <a:xfrm>
            <a:off x="2063526" y="3718719"/>
            <a:ext cx="9906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7" name="Line 35"/>
          <p:cNvSpPr>
            <a:spLocks noChangeShapeType="1"/>
          </p:cNvSpPr>
          <p:nvPr/>
        </p:nvSpPr>
        <p:spPr bwMode="auto">
          <a:xfrm flipV="1">
            <a:off x="2063526" y="3032919"/>
            <a:ext cx="9144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8" name="Line 36"/>
          <p:cNvSpPr>
            <a:spLocks noChangeShapeType="1"/>
          </p:cNvSpPr>
          <p:nvPr/>
        </p:nvSpPr>
        <p:spPr bwMode="auto">
          <a:xfrm>
            <a:off x="2139726" y="2956719"/>
            <a:ext cx="914400" cy="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9" name="Line 37"/>
          <p:cNvSpPr>
            <a:spLocks noChangeShapeType="1"/>
          </p:cNvSpPr>
          <p:nvPr/>
        </p:nvSpPr>
        <p:spPr bwMode="auto">
          <a:xfrm>
            <a:off x="2063526" y="2575719"/>
            <a:ext cx="990600" cy="304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0" name="Line 38"/>
          <p:cNvSpPr>
            <a:spLocks noChangeShapeType="1"/>
          </p:cNvSpPr>
          <p:nvPr/>
        </p:nvSpPr>
        <p:spPr bwMode="auto">
          <a:xfrm>
            <a:off x="3511326" y="1432719"/>
            <a:ext cx="457200" cy="685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1" name="Line 39"/>
          <p:cNvSpPr>
            <a:spLocks noChangeShapeType="1"/>
          </p:cNvSpPr>
          <p:nvPr/>
        </p:nvSpPr>
        <p:spPr bwMode="auto">
          <a:xfrm>
            <a:off x="4044726" y="1432719"/>
            <a:ext cx="0" cy="609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2" name="Line 40"/>
          <p:cNvSpPr>
            <a:spLocks noChangeShapeType="1"/>
          </p:cNvSpPr>
          <p:nvPr/>
        </p:nvSpPr>
        <p:spPr bwMode="auto">
          <a:xfrm flipV="1">
            <a:off x="4197126" y="1432719"/>
            <a:ext cx="381000" cy="609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3" name="Text Box 41"/>
          <p:cNvSpPr txBox="1">
            <a:spLocks noChangeArrowheads="1"/>
          </p:cNvSpPr>
          <p:nvPr/>
        </p:nvSpPr>
        <p:spPr bwMode="auto">
          <a:xfrm>
            <a:off x="3358926" y="3137694"/>
            <a:ext cx="1430338" cy="581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1600" dirty="0">
                <a:latin typeface="Calibri" panose="020F0502020204030204" charset="0"/>
                <a:ea typeface="楷体_GB2312" pitchFamily="49" charset="-122"/>
              </a:rPr>
              <a:t>IBGP</a:t>
            </a:r>
            <a:r>
              <a:rPr lang="zh-CN" altLang="en-US" sz="1600" dirty="0">
                <a:latin typeface="Calibri" panose="020F0502020204030204" charset="0"/>
                <a:ea typeface="楷体_GB2312" pitchFamily="49" charset="-122"/>
              </a:rPr>
              <a:t>全连接</a:t>
            </a:r>
          </a:p>
          <a:p>
            <a:pPr eaLnBrk="1" hangingPunct="1">
              <a:lnSpc>
                <a:spcPct val="120000"/>
              </a:lnSpc>
              <a:spcBef>
                <a:spcPct val="10000"/>
              </a:spcBef>
              <a:buClr>
                <a:schemeClr val="tx1"/>
              </a:buClr>
              <a:buFont typeface="Symbol" panose="05050102010706020507" pitchFamily="18" charset="2"/>
              <a:buNone/>
            </a:pPr>
            <a:r>
              <a:rPr lang="zh-CN" altLang="en-US" sz="1600" dirty="0">
                <a:latin typeface="Calibri" panose="020F0502020204030204" charset="0"/>
                <a:ea typeface="楷体_GB2312" pitchFamily="49" charset="-122"/>
              </a:rPr>
              <a:t>八大地区中心</a:t>
            </a:r>
          </a:p>
        </p:txBody>
      </p:sp>
      <p:pic>
        <p:nvPicPr>
          <p:cNvPr id="18474" name="Picture 4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9726" y="2347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5" name="Picture 48"/>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9726" y="2804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6" name="Picture 4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25926" y="3109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7" name="Picture 50"/>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9726" y="3490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8" name="Picture 5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9726" y="3871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9" name="Picture 52"/>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9726" y="41759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0" name="Picture 53"/>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82726" y="5395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1" name="Picture 5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2326" y="5395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2" name="Picture 5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25726" y="5395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3" name="Picture 5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58926" y="1280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4" name="Picture 5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2326" y="1280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5" name="Picture 58"/>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25726" y="1280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6" name="Picture 5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8726" y="2423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7" name="Picture 60"/>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8726" y="28805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8" name="Picture 6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8726" y="3185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9" name="Picture 62"/>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8726" y="3566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0" name="Picture 63"/>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8726" y="39473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1" name="Picture 6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8726" y="425211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92" name="Line 65"/>
          <p:cNvSpPr>
            <a:spLocks noChangeShapeType="1"/>
          </p:cNvSpPr>
          <p:nvPr/>
        </p:nvSpPr>
        <p:spPr bwMode="auto">
          <a:xfrm flipV="1">
            <a:off x="6406926" y="3490119"/>
            <a:ext cx="1066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93" name="Line 66"/>
          <p:cNvSpPr>
            <a:spLocks noChangeShapeType="1"/>
          </p:cNvSpPr>
          <p:nvPr/>
        </p:nvSpPr>
        <p:spPr bwMode="auto">
          <a:xfrm>
            <a:off x="6406926" y="3947319"/>
            <a:ext cx="1143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94" name="Line 67"/>
          <p:cNvSpPr>
            <a:spLocks noChangeShapeType="1"/>
          </p:cNvSpPr>
          <p:nvPr/>
        </p:nvSpPr>
        <p:spPr bwMode="auto">
          <a:xfrm>
            <a:off x="6406926" y="4023519"/>
            <a:ext cx="990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95" name="Text Box 68"/>
          <p:cNvSpPr txBox="1">
            <a:spLocks noChangeArrowheads="1"/>
          </p:cNvSpPr>
          <p:nvPr/>
        </p:nvSpPr>
        <p:spPr bwMode="auto">
          <a:xfrm>
            <a:off x="7762754" y="4169569"/>
            <a:ext cx="10033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600" dirty="0">
                <a:latin typeface="Calibri" panose="020F0502020204030204" charset="0"/>
                <a:ea typeface="楷体_GB2312" pitchFamily="49" charset="-122"/>
              </a:rPr>
              <a:t>接入学校</a:t>
            </a:r>
          </a:p>
        </p:txBody>
      </p:sp>
      <p:pic>
        <p:nvPicPr>
          <p:cNvPr id="18496" name="Picture 6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73726" y="333771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7" name="Picture 7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49926" y="387111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8" name="Picture 7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73726" y="425211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99" name="Line 72"/>
          <p:cNvSpPr>
            <a:spLocks noChangeShapeType="1"/>
          </p:cNvSpPr>
          <p:nvPr/>
        </p:nvSpPr>
        <p:spPr bwMode="auto">
          <a:xfrm flipH="1" flipV="1">
            <a:off x="996726" y="2575719"/>
            <a:ext cx="838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00" name="Line 73"/>
          <p:cNvSpPr>
            <a:spLocks noChangeShapeType="1"/>
          </p:cNvSpPr>
          <p:nvPr/>
        </p:nvSpPr>
        <p:spPr bwMode="auto">
          <a:xfrm flipH="1">
            <a:off x="844326" y="2956719"/>
            <a:ext cx="914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01" name="Line 74"/>
          <p:cNvSpPr>
            <a:spLocks noChangeShapeType="1"/>
          </p:cNvSpPr>
          <p:nvPr/>
        </p:nvSpPr>
        <p:spPr bwMode="auto">
          <a:xfrm flipH="1">
            <a:off x="1072926" y="3032919"/>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8502" name="Picture 7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1926" y="242331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3" name="Picture 7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5726" y="288051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4" name="Picture 7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126" y="326151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05" name="Line 78"/>
          <p:cNvSpPr>
            <a:spLocks noChangeShapeType="1"/>
          </p:cNvSpPr>
          <p:nvPr/>
        </p:nvSpPr>
        <p:spPr bwMode="auto">
          <a:xfrm flipH="1" flipV="1">
            <a:off x="996726" y="3712369"/>
            <a:ext cx="838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06" name="Line 79"/>
          <p:cNvSpPr>
            <a:spLocks noChangeShapeType="1"/>
          </p:cNvSpPr>
          <p:nvPr/>
        </p:nvSpPr>
        <p:spPr bwMode="auto">
          <a:xfrm flipH="1">
            <a:off x="844326" y="4093369"/>
            <a:ext cx="914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07" name="Line 80"/>
          <p:cNvSpPr>
            <a:spLocks noChangeShapeType="1"/>
          </p:cNvSpPr>
          <p:nvPr/>
        </p:nvSpPr>
        <p:spPr bwMode="auto">
          <a:xfrm flipH="1">
            <a:off x="1072926" y="4169569"/>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8508" name="Picture 8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1926" y="355996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9" name="Picture 8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5726" y="401716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10" name="Picture 8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126" y="439816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1" name="Line 84"/>
          <p:cNvSpPr>
            <a:spLocks noChangeShapeType="1"/>
          </p:cNvSpPr>
          <p:nvPr/>
        </p:nvSpPr>
        <p:spPr bwMode="auto">
          <a:xfrm flipV="1">
            <a:off x="6330726" y="2416969"/>
            <a:ext cx="1066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12" name="Line 85"/>
          <p:cNvSpPr>
            <a:spLocks noChangeShapeType="1"/>
          </p:cNvSpPr>
          <p:nvPr/>
        </p:nvSpPr>
        <p:spPr bwMode="auto">
          <a:xfrm>
            <a:off x="6330726" y="2874169"/>
            <a:ext cx="1143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8513" name="Picture 8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97526" y="226456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14" name="Picture 8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73726" y="279796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5" name="Text Box 88"/>
          <p:cNvSpPr txBox="1">
            <a:spLocks noChangeArrowheads="1"/>
          </p:cNvSpPr>
          <p:nvPr/>
        </p:nvSpPr>
        <p:spPr bwMode="auto">
          <a:xfrm>
            <a:off x="4287614" y="4614069"/>
            <a:ext cx="819150"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600">
                <a:latin typeface="Calibri" panose="020F0502020204030204" charset="0"/>
                <a:ea typeface="楷体_GB2312" pitchFamily="49" charset="-122"/>
              </a:rPr>
              <a:t>地区中心</a:t>
            </a:r>
          </a:p>
        </p:txBody>
      </p:sp>
      <p:sp>
        <p:nvSpPr>
          <p:cNvPr id="29781" name="Text Box 93"/>
          <p:cNvSpPr txBox="1">
            <a:spLocks noChangeArrowheads="1"/>
          </p:cNvSpPr>
          <p:nvPr/>
        </p:nvSpPr>
        <p:spPr bwMode="auto">
          <a:xfrm>
            <a:off x="285750" y="642938"/>
            <a:ext cx="3062288" cy="1169551"/>
          </a:xfrm>
          <a:prstGeom prst="rect">
            <a:avLst/>
          </a:prstGeom>
          <a:noFill/>
          <a:ln>
            <a:noFill/>
          </a:ln>
        </p:spPr>
        <p:txBody>
          <a:bodyPr>
            <a:spAutoFit/>
          </a:bodyPr>
          <a:lstStyle>
            <a:lvl1pPr eaLnBrk="0" hangingPunct="0">
              <a:defRPr kumimoji="1">
                <a:solidFill>
                  <a:schemeClr val="tx1"/>
                </a:solidFill>
                <a:latin typeface="Comic Sans MS" panose="030F0702030302020204" pitchFamily="66" charset="0"/>
                <a:ea typeface="楷体_GB2312" pitchFamily="49" charset="-122"/>
              </a:defRPr>
            </a:lvl1pPr>
            <a:lvl2pPr marL="742950" indent="-285750" eaLnBrk="0" hangingPunct="0">
              <a:defRPr kumimoji="1">
                <a:solidFill>
                  <a:schemeClr val="tx1"/>
                </a:solidFill>
                <a:latin typeface="Comic Sans MS" panose="030F0702030302020204" pitchFamily="66" charset="0"/>
                <a:ea typeface="楷体_GB2312" pitchFamily="49" charset="-122"/>
              </a:defRPr>
            </a:lvl2pPr>
            <a:lvl3pPr marL="1143000" indent="-228600" eaLnBrk="0" hangingPunct="0">
              <a:defRPr kumimoji="1">
                <a:solidFill>
                  <a:schemeClr val="tx1"/>
                </a:solidFill>
                <a:latin typeface="Comic Sans MS" panose="030F0702030302020204" pitchFamily="66" charset="0"/>
                <a:ea typeface="楷体_GB2312" pitchFamily="49" charset="-122"/>
              </a:defRPr>
            </a:lvl3pPr>
            <a:lvl4pPr marL="1600200" indent="-228600" eaLnBrk="0" hangingPunct="0">
              <a:defRPr kumimoji="1">
                <a:solidFill>
                  <a:schemeClr val="tx1"/>
                </a:solidFill>
                <a:latin typeface="Comic Sans MS" panose="030F0702030302020204" pitchFamily="66" charset="0"/>
                <a:ea typeface="楷体_GB2312" pitchFamily="49" charset="-122"/>
              </a:defRPr>
            </a:lvl4pPr>
            <a:lvl5pPr marL="2057400" indent="-228600" eaLnBrk="0" hangingPunct="0">
              <a:defRPr kumimoji="1">
                <a:solidFill>
                  <a:schemeClr val="tx1"/>
                </a:solidFill>
                <a:latin typeface="Comic Sans MS" panose="030F0702030302020204" pitchFamily="66" charset="0"/>
                <a:ea typeface="楷体_GB2312" pitchFamily="49" charset="-122"/>
              </a:defRPr>
            </a:lvl5pPr>
            <a:lvl6pPr marL="25146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6pPr>
            <a:lvl7pPr marL="29718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7pPr>
            <a:lvl8pPr marL="34290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8pPr>
            <a:lvl9pPr marL="38862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9pPr>
          </a:lstStyle>
          <a:p>
            <a:pPr eaLnBrk="1" hangingPunct="1">
              <a:lnSpc>
                <a:spcPct val="120000"/>
              </a:lnSpc>
              <a:spcBef>
                <a:spcPct val="10000"/>
              </a:spcBef>
              <a:buClr>
                <a:schemeClr val="tx1"/>
              </a:buClr>
              <a:buFont typeface="Symbol" panose="05050102010706020507" pitchFamily="18" charset="2"/>
              <a:buNone/>
              <a:defRPr/>
            </a:pPr>
            <a:r>
              <a:rPr kumimoji="0" lang="en-US" altLang="en-US" sz="2800" dirty="0">
                <a:solidFill>
                  <a:srgbClr val="000099"/>
                </a:solidFill>
                <a:effectLst>
                  <a:outerShdw blurRad="38100" dist="38100" dir="2700000" algn="tl">
                    <a:srgbClr val="C0C0C0"/>
                  </a:outerShdw>
                </a:effectLst>
                <a:latin typeface="Times New Roman" panose="02020603050405020304" pitchFamily="18" charset="0"/>
                <a:ea typeface="隶书" panose="02010509060101010101" pitchFamily="49" charset="-122"/>
              </a:rPr>
              <a:t>CERNET</a:t>
            </a:r>
            <a:r>
              <a:rPr kumimoji="0" lang="zh-CN" altLang="en-US" sz="2800" dirty="0">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结构</a:t>
            </a:r>
            <a:endParaRPr kumimoji="0" lang="en-US" altLang="en-US" sz="3200" dirty="0">
              <a:solidFill>
                <a:schemeClr val="tx2"/>
              </a:solidFill>
              <a:latin typeface="宋体" panose="02010600030101010101" pitchFamily="2" charset="-122"/>
              <a:ea typeface="宋体" panose="02010600030101010101" pitchFamily="2" charset="-122"/>
            </a:endParaRPr>
          </a:p>
          <a:p>
            <a:pPr eaLnBrk="1" hangingPunct="1">
              <a:lnSpc>
                <a:spcPct val="120000"/>
              </a:lnSpc>
              <a:spcBef>
                <a:spcPct val="10000"/>
              </a:spcBef>
              <a:buClr>
                <a:schemeClr val="tx1"/>
              </a:buClr>
              <a:buFont typeface="Symbol" panose="05050102010706020507" pitchFamily="18" charset="2"/>
              <a:buNone/>
              <a:defRPr/>
            </a:pPr>
            <a:r>
              <a:rPr lang="en-US" altLang="zh-CN" sz="2800" dirty="0">
                <a:latin typeface="Calibri" panose="020F0502020204030204" charset="0"/>
              </a:rPr>
              <a:t>AS: 4538</a:t>
            </a:r>
          </a:p>
        </p:txBody>
      </p:sp>
      <p:pic>
        <p:nvPicPr>
          <p:cNvPr id="18517" name="Picture 9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726" y="59563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8" name="Text Box 95"/>
          <p:cNvSpPr txBox="1">
            <a:spLocks noChangeArrowheads="1"/>
          </p:cNvSpPr>
          <p:nvPr/>
        </p:nvSpPr>
        <p:spPr bwMode="auto">
          <a:xfrm>
            <a:off x="1606326" y="5937250"/>
            <a:ext cx="1671638" cy="271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600">
                <a:latin typeface="Calibri" panose="020F0502020204030204" charset="0"/>
                <a:ea typeface="楷体_GB2312" pitchFamily="49" charset="-122"/>
              </a:rPr>
              <a:t>地区级</a:t>
            </a:r>
            <a:endParaRPr lang="en-US" altLang="zh-CN" sz="1600">
              <a:latin typeface="Calibri" panose="020F0502020204030204" charset="0"/>
              <a:ea typeface="楷体_GB2312" pitchFamily="49" charset="-122"/>
            </a:endParaRPr>
          </a:p>
        </p:txBody>
      </p:sp>
      <p:pic>
        <p:nvPicPr>
          <p:cNvPr id="18519" name="Picture 9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73114" y="59864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0" name="Text Box 97"/>
          <p:cNvSpPr txBox="1">
            <a:spLocks noChangeArrowheads="1"/>
          </p:cNvSpPr>
          <p:nvPr/>
        </p:nvSpPr>
        <p:spPr bwMode="auto">
          <a:xfrm>
            <a:off x="3144614" y="5929312"/>
            <a:ext cx="1384300" cy="2714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600">
                <a:latin typeface="Calibri" panose="020F0502020204030204" charset="0"/>
                <a:ea typeface="楷体_GB2312" pitchFamily="49" charset="-122"/>
              </a:rPr>
              <a:t>省级</a:t>
            </a:r>
            <a:endParaRPr lang="en-US" altLang="zh-CN" sz="1600">
              <a:latin typeface="Calibri" panose="020F0502020204030204" charset="0"/>
              <a:ea typeface="楷体_GB2312" pitchFamily="49" charset="-122"/>
            </a:endParaRPr>
          </a:p>
        </p:txBody>
      </p:sp>
      <p:pic>
        <p:nvPicPr>
          <p:cNvPr id="18521" name="Picture 9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01864" y="5965825"/>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2" name="Text Box 99"/>
          <p:cNvSpPr txBox="1">
            <a:spLocks noChangeArrowheads="1"/>
          </p:cNvSpPr>
          <p:nvPr/>
        </p:nvSpPr>
        <p:spPr bwMode="auto">
          <a:xfrm>
            <a:off x="4498751" y="5915025"/>
            <a:ext cx="1789113"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600">
                <a:latin typeface="Calibri" panose="020F0502020204030204" charset="0"/>
                <a:ea typeface="楷体_GB2312" pitchFamily="49" charset="-122"/>
              </a:rPr>
              <a:t>接入用户</a:t>
            </a:r>
            <a:r>
              <a:rPr lang="en-US" altLang="zh-CN" sz="1600">
                <a:latin typeface="Calibri" panose="020F0502020204030204" charset="0"/>
                <a:ea typeface="楷体_GB2312" pitchFamily="49" charset="-122"/>
              </a:rPr>
              <a:t>/</a:t>
            </a:r>
            <a:r>
              <a:rPr lang="zh-CN" altLang="en-US" sz="1600">
                <a:latin typeface="Calibri" panose="020F0502020204030204" charset="0"/>
                <a:ea typeface="楷体_GB2312" pitchFamily="49" charset="-122"/>
              </a:rPr>
              <a:t>互联单位</a:t>
            </a:r>
          </a:p>
        </p:txBody>
      </p:sp>
      <p:sp>
        <p:nvSpPr>
          <p:cNvPr id="18523" name="Oval 100"/>
          <p:cNvSpPr>
            <a:spLocks noChangeArrowheads="1"/>
          </p:cNvSpPr>
          <p:nvPr/>
        </p:nvSpPr>
        <p:spPr bwMode="auto">
          <a:xfrm>
            <a:off x="2749326" y="2042319"/>
            <a:ext cx="2514600" cy="2895600"/>
          </a:xfrm>
          <a:prstGeom prst="ellipse">
            <a:avLst/>
          </a:prstGeom>
          <a:noFill/>
          <a:ln w="9525">
            <a:solidFill>
              <a:srgbClr val="FF0000"/>
            </a:solidFill>
            <a:prstDash val="lg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alibri" panose="020F0502020204030204" charset="0"/>
              <a:ea typeface="楷体_GB2312" pitchFamily="49" charset="-122"/>
            </a:endParaRPr>
          </a:p>
        </p:txBody>
      </p:sp>
      <p:sp>
        <p:nvSpPr>
          <p:cNvPr id="18524" name="Oval 101"/>
          <p:cNvSpPr>
            <a:spLocks noChangeArrowheads="1"/>
          </p:cNvSpPr>
          <p:nvPr/>
        </p:nvSpPr>
        <p:spPr bwMode="auto">
          <a:xfrm>
            <a:off x="1834926" y="1280319"/>
            <a:ext cx="4495800" cy="4343400"/>
          </a:xfrm>
          <a:prstGeom prst="ellipse">
            <a:avLst/>
          </a:prstGeom>
          <a:noFill/>
          <a:ln w="9525">
            <a:solidFill>
              <a:srgbClr val="0000FF"/>
            </a:solidFill>
            <a:prstDash val="lg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alibri" panose="020F0502020204030204" charset="0"/>
              <a:ea typeface="楷体_GB2312" pitchFamily="49" charset="-122"/>
            </a:endParaRPr>
          </a:p>
        </p:txBody>
      </p:sp>
      <p:sp>
        <p:nvSpPr>
          <p:cNvPr id="18525" name="Text Box 102"/>
          <p:cNvSpPr txBox="1">
            <a:spLocks noChangeArrowheads="1"/>
          </p:cNvSpPr>
          <p:nvPr/>
        </p:nvSpPr>
        <p:spPr bwMode="auto">
          <a:xfrm>
            <a:off x="2485801" y="1794669"/>
            <a:ext cx="68262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2000">
                <a:latin typeface="Calibri" panose="020F0502020204030204" charset="0"/>
                <a:ea typeface="楷体_GB2312" pitchFamily="49" charset="-122"/>
              </a:rPr>
              <a:t>IBGP</a:t>
            </a:r>
          </a:p>
        </p:txBody>
      </p:sp>
      <p:sp>
        <p:nvSpPr>
          <p:cNvPr id="18526" name="Line 103"/>
          <p:cNvSpPr>
            <a:spLocks noChangeShapeType="1"/>
          </p:cNvSpPr>
          <p:nvPr/>
        </p:nvSpPr>
        <p:spPr bwMode="auto">
          <a:xfrm flipV="1">
            <a:off x="6302151" y="1745456"/>
            <a:ext cx="936625" cy="647700"/>
          </a:xfrm>
          <a:prstGeom prst="line">
            <a:avLst/>
          </a:prstGeom>
          <a:noFill/>
          <a:ln w="9525">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27" name="Text Box 104"/>
          <p:cNvSpPr txBox="1">
            <a:spLocks noChangeArrowheads="1"/>
          </p:cNvSpPr>
          <p:nvPr/>
        </p:nvSpPr>
        <p:spPr bwMode="auto">
          <a:xfrm>
            <a:off x="6230714" y="1672431"/>
            <a:ext cx="81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2000">
                <a:latin typeface="Calibri" panose="020F0502020204030204" charset="0"/>
                <a:ea typeface="楷体_GB2312" pitchFamily="49" charset="-122"/>
              </a:rPr>
              <a:t>eBGP</a:t>
            </a:r>
          </a:p>
        </p:txBody>
      </p:sp>
      <p:pic>
        <p:nvPicPr>
          <p:cNvPr id="18528" name="Picture 10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238776" y="1529556"/>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9" name="Text Box 106"/>
          <p:cNvSpPr txBox="1">
            <a:spLocks noChangeArrowheads="1"/>
          </p:cNvSpPr>
          <p:nvPr/>
        </p:nvSpPr>
        <p:spPr bwMode="auto">
          <a:xfrm>
            <a:off x="7518177" y="1432719"/>
            <a:ext cx="99695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600">
                <a:latin typeface="Calibri" panose="020F0502020204030204" charset="0"/>
                <a:ea typeface="楷体_GB2312" pitchFamily="49" charset="-122"/>
              </a:rPr>
              <a:t>互联单位</a:t>
            </a:r>
          </a:p>
        </p:txBody>
      </p:sp>
      <p:sp>
        <p:nvSpPr>
          <p:cNvPr id="98"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95053" y="965790"/>
            <a:ext cx="8553894" cy="5247590"/>
          </a:xfrm>
          <a:prstGeom prst="rect">
            <a:avLst/>
          </a:prstGeom>
          <a:noFill/>
        </p:spPr>
        <p:txBody>
          <a:bodyPr wrap="square" rtlCol="0">
            <a:spAutoFit/>
          </a:bodyPr>
          <a:lstStyle/>
          <a:p>
            <a:pPr indent="-342900">
              <a:lnSpc>
                <a:spcPts val="3600"/>
              </a:lnSpc>
              <a:spcBef>
                <a:spcPts val="600"/>
              </a:spcBef>
              <a:buSzPct val="100000"/>
              <a:buBlip>
                <a:blip r:embed="rId3"/>
              </a:buBlip>
              <a:defRP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万维网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WWW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的问世：重要的里程碑</a:t>
            </a:r>
          </a:p>
          <a:p>
            <a:pPr marL="719455" lvl="1" indent="-262255">
              <a:lnSpc>
                <a:spcPts val="36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20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世纪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90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年代，欧洲原子核研究组织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CERN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开发的</a:t>
            </a:r>
            <a:r>
              <a:rPr lang="zh-CN" altLang="en-US" sz="2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万维网 </a:t>
            </a:r>
            <a:r>
              <a:rPr lang="en-US" altLang="zh-CN" sz="2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WWW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World Wide Web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）广泛用于互联网，方便广大非网络专业人员使用网络，成为互联网呈指数级增长的主要驱动力</a:t>
            </a:r>
            <a:endParaRPr lang="en-US" altLang="zh-CN" sz="2000" dirty="0">
              <a:ea typeface="宋体" panose="02010600030101010101" pitchFamily="2" charset="-122"/>
              <a:cs typeface="Times New Roman" panose="02020603050405020304" pitchFamily="18" charset="0"/>
            </a:endParaRPr>
          </a:p>
          <a:p>
            <a:pPr>
              <a:lnSpc>
                <a:spcPts val="3600"/>
              </a:lnSpc>
              <a:spcBef>
                <a:spcPts val="600"/>
              </a:spcBef>
              <a:buBlip>
                <a:blip r:embed="rId3"/>
              </a:buBlip>
              <a:defRPr/>
            </a:pPr>
            <a:r>
              <a:rPr lang="en-US" altLang="zh-CN" sz="2400" dirty="0">
                <a:solidFill>
                  <a:srgbClr val="FF0000"/>
                </a:solidFill>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IPv6</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Internet 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：解决</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IPv4</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地址问题</a:t>
            </a:r>
          </a:p>
          <a:p>
            <a:pPr lvl="1">
              <a:lnSpc>
                <a:spcPts val="3600"/>
              </a:lnSpc>
              <a:spcBef>
                <a:spcPts val="600"/>
              </a:spcBef>
              <a:buBlip>
                <a:blip r:embed="rId4"/>
              </a:buBlip>
              <a:defRPr/>
            </a:pPr>
            <a:r>
              <a:rPr lang="en-US" altLang="zh-CN" sz="2000" dirty="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IPv4: 32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位地址</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6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IPv6: 128</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位地址，更合理的地址层次化结构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600"/>
              </a:spcBef>
              <a:buBlip>
                <a:blip r:embed="rId3"/>
              </a:buBlip>
              <a:defRPr/>
            </a:pPr>
            <a:r>
              <a:rPr lang="en-US" altLang="zh-CN" sz="2400" dirty="0">
                <a:solidFill>
                  <a:srgbClr val="FF0000"/>
                </a:solidFill>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无线接入（</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Wi-Fi 6/4G/5G</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），移动互联网及物联网的发展</a:t>
            </a:r>
          </a:p>
          <a:p>
            <a:pPr lvl="1">
              <a:lnSpc>
                <a:spcPts val="3600"/>
              </a:lnSpc>
              <a:spcBef>
                <a:spcPts val="600"/>
              </a:spcBef>
              <a:buBlip>
                <a:blip r:embed="rId4"/>
              </a:buBlip>
              <a:defRPr/>
            </a:pPr>
            <a:r>
              <a:rPr lang="en-US" altLang="zh-CN" sz="2000" dirty="0">
                <a:ea typeface="宋体" panose="02010600030101010101" pitchFamily="2" charset="-122"/>
                <a:cs typeface="Times New Roman" panose="02020603050405020304" pitchFamily="18" charset="0"/>
              </a:rPr>
              <a:t> </a:t>
            </a:r>
            <a:r>
              <a:rPr lang="zh-CN" altLang="en-US" sz="2000" dirty="0">
                <a:ea typeface="宋体" panose="02010600030101010101" pitchFamily="2" charset="-122"/>
                <a:cs typeface="Times New Roman" panose="02020603050405020304" pitchFamily="18" charset="0"/>
              </a:rPr>
              <a:t>接入设备数量迅速增加</a:t>
            </a:r>
            <a:endParaRPr lang="en-US" altLang="zh-CN" sz="2000" dirty="0">
              <a:ea typeface="宋体" panose="02010600030101010101" pitchFamily="2" charset="-122"/>
              <a:cs typeface="Times New Roman" panose="02020603050405020304" pitchFamily="18" charset="0"/>
            </a:endParaRPr>
          </a:p>
          <a:p>
            <a:pPr lvl="1">
              <a:lnSpc>
                <a:spcPts val="3600"/>
              </a:lnSpc>
              <a:spcBef>
                <a:spcPts val="600"/>
              </a:spcBef>
              <a:buBlip>
                <a:blip r:embed="rId4"/>
              </a:buBlip>
              <a:defRPr/>
            </a:pPr>
            <a:r>
              <a:rPr lang="zh-CN" altLang="en-US" sz="2000" dirty="0">
                <a:ea typeface="宋体" panose="02010600030101010101" pitchFamily="2" charset="-122"/>
                <a:cs typeface="Times New Roman" panose="02020603050405020304" pitchFamily="18" charset="0"/>
              </a:rPr>
              <a:t> 移动应用非常丰富</a:t>
            </a:r>
            <a:endParaRPr lang="en-US" altLang="zh-CN" sz="2000" dirty="0">
              <a:ea typeface="宋体" panose="02010600030101010101" pitchFamily="2" charset="-122"/>
              <a:cs typeface="Times New Roman" panose="02020603050405020304" pitchFamily="18" charset="0"/>
            </a:endParaRPr>
          </a:p>
        </p:txBody>
      </p:sp>
      <p:sp>
        <p:nvSpPr>
          <p:cNvPr id="4"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027" y="743400"/>
            <a:ext cx="8484357" cy="523220"/>
          </a:xfrm>
          <a:prstGeom prst="rect">
            <a:avLst/>
          </a:prstGeom>
          <a:noFill/>
        </p:spPr>
        <p:txBody>
          <a:bodyPr wrap="square" rtlCol="0">
            <a:spAutoFit/>
          </a:bodyPr>
          <a:lstStyle/>
          <a:p>
            <a:pPr algn="ctr">
              <a:buClr>
                <a:srgbClr val="C00000"/>
              </a:buCl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Internet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发展总结</a:t>
            </a:r>
          </a:p>
        </p:txBody>
      </p:sp>
      <p:grpSp>
        <p:nvGrpSpPr>
          <p:cNvPr id="8" name="组合 7"/>
          <p:cNvGrpSpPr/>
          <p:nvPr/>
        </p:nvGrpSpPr>
        <p:grpSpPr>
          <a:xfrm>
            <a:off x="4315968" y="1678523"/>
            <a:ext cx="4645152" cy="2947221"/>
            <a:chOff x="2157045" y="2105388"/>
            <a:chExt cx="4583724" cy="2675888"/>
          </a:xfrm>
        </p:grpSpPr>
        <p:sp>
          <p:nvSpPr>
            <p:cNvPr id="6" name="矩形 5"/>
            <p:cNvSpPr/>
            <p:nvPr/>
          </p:nvSpPr>
          <p:spPr>
            <a:xfrm>
              <a:off x="3331011" y="2105388"/>
              <a:ext cx="2272619" cy="69990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右弧形箭头 2"/>
            <p:cNvSpPr/>
            <p:nvPr/>
          </p:nvSpPr>
          <p:spPr>
            <a:xfrm>
              <a:off x="5675625" y="2408449"/>
              <a:ext cx="1065144" cy="2284484"/>
            </a:xfrm>
            <a:prstGeom prst="curvedLeftArrow">
              <a:avLst>
                <a:gd name="adj1" fmla="val 25000"/>
                <a:gd name="adj2" fmla="val 55318"/>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5" name="文本框 4"/>
            <p:cNvSpPr txBox="1"/>
            <p:nvPr/>
          </p:nvSpPr>
          <p:spPr>
            <a:xfrm>
              <a:off x="3401348" y="2255286"/>
              <a:ext cx="2112199" cy="461665"/>
            </a:xfrm>
            <a:prstGeom prst="rect">
              <a:avLst/>
            </a:prstGeom>
            <a:solidFill>
              <a:schemeClr val="accent2">
                <a:lumMod val="40000"/>
                <a:lumOff val="60000"/>
              </a:schemeClr>
            </a:solidFill>
          </p:spPr>
          <p:txBody>
            <a:bodyPr wrap="square" rtlCol="0">
              <a:spAutoFit/>
            </a:bodyPr>
            <a:lstStyle/>
            <a:p>
              <a:pPr algn="ctr"/>
              <a:r>
                <a:rPr lang="zh-CN" altLang="en-US" sz="2400" dirty="0"/>
                <a:t>解决瓶颈问题</a:t>
              </a:r>
            </a:p>
          </p:txBody>
        </p:sp>
        <p:sp>
          <p:nvSpPr>
            <p:cNvPr id="10" name="矩形 9"/>
            <p:cNvSpPr/>
            <p:nvPr/>
          </p:nvSpPr>
          <p:spPr>
            <a:xfrm>
              <a:off x="3332668" y="4081370"/>
              <a:ext cx="2272619" cy="69990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文本框 10"/>
            <p:cNvSpPr txBox="1"/>
            <p:nvPr/>
          </p:nvSpPr>
          <p:spPr>
            <a:xfrm>
              <a:off x="3403005" y="4231268"/>
              <a:ext cx="2112199" cy="461665"/>
            </a:xfrm>
            <a:prstGeom prst="rect">
              <a:avLst/>
            </a:prstGeom>
            <a:solidFill>
              <a:schemeClr val="accent2">
                <a:lumMod val="40000"/>
                <a:lumOff val="60000"/>
              </a:schemeClr>
            </a:solidFill>
          </p:spPr>
          <p:txBody>
            <a:bodyPr wrap="square" rtlCol="0">
              <a:spAutoFit/>
            </a:bodyPr>
            <a:lstStyle/>
            <a:p>
              <a:pPr algn="ctr"/>
              <a:r>
                <a:rPr lang="zh-CN" altLang="en-US" sz="2400" dirty="0"/>
                <a:t>发展网络应用</a:t>
              </a:r>
            </a:p>
          </p:txBody>
        </p:sp>
        <p:sp>
          <p:nvSpPr>
            <p:cNvPr id="12" name="右弧形箭头 11"/>
            <p:cNvSpPr/>
            <p:nvPr/>
          </p:nvSpPr>
          <p:spPr>
            <a:xfrm rot="10800000">
              <a:off x="2157045" y="2278732"/>
              <a:ext cx="1103623" cy="2281544"/>
            </a:xfrm>
            <a:prstGeom prst="curvedLeftArrow">
              <a:avLst>
                <a:gd name="adj1" fmla="val 25000"/>
                <a:gd name="adj2" fmla="val 46695"/>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grpSp>
      <p:sp>
        <p:nvSpPr>
          <p:cNvPr id="2" name="矩形 1"/>
          <p:cNvSpPr/>
          <p:nvPr/>
        </p:nvSpPr>
        <p:spPr>
          <a:xfrm>
            <a:off x="303027" y="1931982"/>
            <a:ext cx="3747765" cy="2308324"/>
          </a:xfrm>
          <a:prstGeom prst="rect">
            <a:avLst/>
          </a:prstGeom>
          <a:ln>
            <a:solidFill>
              <a:srgbClr val="C00000"/>
            </a:solidFill>
          </a:ln>
        </p:spPr>
        <p:txBody>
          <a:bodyPr wrap="square">
            <a:spAutoFit/>
          </a:bodyPr>
          <a:lstStyle/>
          <a:p>
            <a:pPr marL="342900" indent="-342900" algn="just">
              <a:lnSpc>
                <a:spcPct val="150000"/>
              </a:lnSpc>
              <a:buClr>
                <a:srgbClr val="C00000"/>
              </a:buClr>
              <a:buFont typeface="Wingdings" panose="05000000000000000000" pitchFamily="2" charset="2"/>
              <a:buChar char="n"/>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Internet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三个重要理念</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gn="just">
              <a:lnSpc>
                <a:spcPct val="150000"/>
              </a:lnSpc>
              <a:buClr>
                <a:srgbClr val="002060"/>
              </a:buClr>
              <a:buFont typeface="Wingdings" panose="05000000000000000000" pitchFamily="2" charset="2"/>
              <a:buChar char="Ø"/>
            </a:pPr>
            <a:r>
              <a:rPr lang="zh-CN" altLang="en-US" sz="2400" dirty="0">
                <a:ea typeface="宋体" panose="02010600030101010101" pitchFamily="2" charset="-122"/>
              </a:rPr>
              <a:t>互联网的开放理念</a:t>
            </a:r>
            <a:endParaRPr lang="en-US" altLang="zh-CN" sz="2400" dirty="0">
              <a:ea typeface="宋体" panose="02010600030101010101" pitchFamily="2" charset="-122"/>
            </a:endParaRPr>
          </a:p>
          <a:p>
            <a:pPr marL="800100" lvl="1" indent="-342900" algn="just">
              <a:lnSpc>
                <a:spcPct val="150000"/>
              </a:lnSpc>
              <a:buClr>
                <a:srgbClr val="002060"/>
              </a:buClr>
              <a:buFont typeface="Wingdings" panose="05000000000000000000" pitchFamily="2" charset="2"/>
              <a:buChar char="Ø"/>
            </a:pPr>
            <a:r>
              <a:rPr lang="zh-CN" altLang="en-US" sz="2400" dirty="0">
                <a:ea typeface="宋体" panose="02010600030101010101" pitchFamily="2" charset="-122"/>
              </a:rPr>
              <a:t>互联网的自组织理念</a:t>
            </a:r>
            <a:endParaRPr lang="en-US" altLang="zh-CN" sz="2400" dirty="0">
              <a:ea typeface="宋体" panose="02010600030101010101" pitchFamily="2" charset="-122"/>
            </a:endParaRPr>
          </a:p>
          <a:p>
            <a:pPr marL="800100" lvl="1" indent="-342900" algn="just">
              <a:lnSpc>
                <a:spcPct val="150000"/>
              </a:lnSpc>
              <a:buClr>
                <a:srgbClr val="002060"/>
              </a:buClr>
              <a:buFont typeface="Wingdings" panose="05000000000000000000" pitchFamily="2" charset="2"/>
              <a:buChar char="Ø"/>
            </a:pPr>
            <a:r>
              <a:rPr lang="zh-CN" altLang="en-US" sz="2400" dirty="0">
                <a:latin typeface="Times New Roman" panose="02020603050405020304" pitchFamily="18" charset="0"/>
                <a:ea typeface="宋体" panose="02010600030101010101" pitchFamily="2" charset="-122"/>
              </a:rPr>
              <a:t>互联网的分享理念</a:t>
            </a:r>
            <a:endParaRPr lang="en-US" altLang="zh-CN" sz="2400" dirty="0">
              <a:latin typeface="Times New Roman" panose="02020603050405020304" pitchFamily="18" charset="0"/>
              <a:ea typeface="宋体" panose="02010600030101010101" pitchFamily="2" charset="-122"/>
            </a:endParaRPr>
          </a:p>
        </p:txBody>
      </p:sp>
      <p:sp>
        <p:nvSpPr>
          <p:cNvPr id="13"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sp>
        <p:nvSpPr>
          <p:cNvPr id="4" name="文本框 3"/>
          <p:cNvSpPr txBox="1"/>
          <p:nvPr/>
        </p:nvSpPr>
        <p:spPr>
          <a:xfrm>
            <a:off x="616581" y="4856824"/>
            <a:ext cx="3120656" cy="461665"/>
          </a:xfrm>
          <a:prstGeom prst="rect">
            <a:avLst/>
          </a:prstGeom>
          <a:solidFill>
            <a:schemeClr val="accent6">
              <a:lumMod val="20000"/>
              <a:lumOff val="80000"/>
            </a:schemeClr>
          </a:solidFill>
          <a:ln>
            <a:solidFill>
              <a:srgbClr val="00B0F0"/>
            </a:solidFill>
          </a:ln>
        </p:spPr>
        <p:txBody>
          <a:bodyPr wrap="square" rtlCol="0">
            <a:spAutoFit/>
          </a:bodyPr>
          <a:lstStyle/>
          <a:p>
            <a:pPr algn="ctr"/>
            <a:r>
              <a:rPr lang="zh-CN" altLang="en-US" sz="2400" dirty="0">
                <a:solidFill>
                  <a:srgbClr val="C00000"/>
                </a:solidFill>
              </a:rPr>
              <a:t>互联网存在的问题？</a:t>
            </a:r>
          </a:p>
        </p:txBody>
      </p:sp>
      <p:sp>
        <p:nvSpPr>
          <p:cNvPr id="9" name="矩形 8"/>
          <p:cNvSpPr/>
          <p:nvPr/>
        </p:nvSpPr>
        <p:spPr>
          <a:xfrm>
            <a:off x="228600" y="5782602"/>
            <a:ext cx="8659091" cy="734240"/>
          </a:xfrm>
          <a:prstGeom prst="rect">
            <a:avLst/>
          </a:prstGeom>
        </p:spPr>
        <p:txBody>
          <a:bodyPr wrap="square">
            <a:spAutoFit/>
          </a:bodyPr>
          <a:lstStyle/>
          <a:p>
            <a:pPr>
              <a:lnSpc>
                <a:spcPts val="2600"/>
              </a:lnSpc>
              <a:spcBef>
                <a:spcPts val="1200"/>
              </a:spcBef>
              <a:buClr>
                <a:schemeClr val="tx1"/>
              </a:buClr>
            </a:pPr>
            <a:r>
              <a:rPr lang="zh-CN" altLang="en-US" sz="2000" dirty="0">
                <a:latin typeface="Arial" panose="020B0604020202020204" pitchFamily="34" charset="0"/>
                <a:cs typeface="Arial" panose="020B0604020202020204" pitchFamily="34" charset="0"/>
              </a:rPr>
              <a:t>推荐文章：</a:t>
            </a:r>
            <a:r>
              <a:rPr lang="en-US" altLang="zh-CN" sz="2000" dirty="0">
                <a:latin typeface="Arial" panose="020B0604020202020204" pitchFamily="34" charset="0"/>
                <a:cs typeface="Arial" panose="020B0604020202020204" pitchFamily="34" charset="0"/>
              </a:rPr>
              <a:t>M. Handley, “</a:t>
            </a:r>
            <a:r>
              <a:rPr lang="en-US" altLang="zh-CN" sz="2000" dirty="0">
                <a:solidFill>
                  <a:srgbClr val="C00000"/>
                </a:solidFill>
                <a:latin typeface="Arial" panose="020B0604020202020204" pitchFamily="34" charset="0"/>
                <a:cs typeface="Arial" panose="020B0604020202020204" pitchFamily="34" charset="0"/>
              </a:rPr>
              <a:t>Why the Internet Only Just Works</a:t>
            </a:r>
            <a:r>
              <a:rPr lang="en-US" altLang="zh-CN" sz="2000" dirty="0">
                <a:latin typeface="Arial" panose="020B0604020202020204" pitchFamily="34" charset="0"/>
                <a:cs typeface="Arial" panose="020B0604020202020204" pitchFamily="34" charset="0"/>
              </a:rPr>
              <a:t>,” BT Technology Journal, 24(3):119-129, 2006</a:t>
            </a:r>
          </a:p>
        </p:txBody>
      </p:sp>
      <p:sp>
        <p:nvSpPr>
          <p:cNvPr id="14" name="矩形 13"/>
          <p:cNvSpPr/>
          <p:nvPr/>
        </p:nvSpPr>
        <p:spPr>
          <a:xfrm>
            <a:off x="4639606" y="3003132"/>
            <a:ext cx="3781805" cy="400110"/>
          </a:xfrm>
          <a:prstGeom prst="rect">
            <a:avLst/>
          </a:prstGeom>
        </p:spPr>
        <p:txBody>
          <a:bodyPr wrap="none">
            <a:spAutoFit/>
          </a:bodyPr>
          <a:lstStyle/>
          <a:p>
            <a:pPr lvl="1"/>
            <a:r>
              <a:rPr lang="zh-CN" altLang="en-US" sz="2000" b="1" dirty="0">
                <a:solidFill>
                  <a:srgbClr val="C00000"/>
                </a:solidFill>
              </a:rPr>
              <a:t>在不断试错中快速成长壮大 </a:t>
            </a:r>
            <a:endParaRPr lang="en-US" altLang="zh-CN" sz="2000" b="1" dirty="0">
              <a:solidFill>
                <a:srgbClr val="C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6"/>
          <p:cNvSpPr>
            <a:spLocks noChangeArrowheads="1"/>
          </p:cNvSpPr>
          <p:nvPr/>
        </p:nvSpPr>
        <p:spPr bwMode="auto">
          <a:xfrm>
            <a:off x="2631404" y="2402759"/>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1.2.3  </a:t>
            </a:r>
            <a:r>
              <a:rPr lang="zh-CN" altLang="zh-CN" sz="2400" b="1" dirty="0">
                <a:solidFill>
                  <a:schemeClr val="bg1"/>
                </a:solidFill>
                <a:latin typeface="微软雅黑" panose="020B0503020204020204" pitchFamily="34" charset="-122"/>
                <a:ea typeface="微软雅黑" panose="020B0503020204020204" pitchFamily="34" charset="-122"/>
              </a:rPr>
              <a:t>互联网的标准化工作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1988" name="Rectangle 8"/>
          <p:cNvSpPr>
            <a:spLocks noChangeArrowheads="1"/>
          </p:cNvSpPr>
          <p:nvPr/>
        </p:nvSpPr>
        <p:spPr bwMode="auto">
          <a:xfrm>
            <a:off x="523456" y="1340374"/>
            <a:ext cx="3131066" cy="1361911"/>
          </a:xfrm>
          <a:prstGeom prst="rect">
            <a:avLst/>
          </a:prstGeom>
          <a:noFill/>
          <a:ln w="9525">
            <a:solidFill>
              <a:srgbClr val="C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300"/>
              </a:lnSpc>
            </a:pPr>
            <a:r>
              <a:rPr lang="zh-CN" altLang="zh-CN" sz="2000" dirty="0">
                <a:ea typeface="微软雅黑" panose="020B0503020204020204" pitchFamily="34" charset="-122"/>
              </a:rPr>
              <a:t>互联网标准化工作对互联网的发展起到非常重要的作用</a:t>
            </a:r>
            <a:endParaRPr lang="zh-CN" altLang="en-US" sz="2000" dirty="0">
              <a:ea typeface="微软雅黑" panose="020B0503020204020204" pitchFamily="34" charset="-122"/>
            </a:endParaRPr>
          </a:p>
        </p:txBody>
      </p:sp>
      <p:sp>
        <p:nvSpPr>
          <p:cNvPr id="43" name="Rectangle 5"/>
          <p:cNvSpPr>
            <a:spLocks noChangeArrowheads="1"/>
          </p:cNvSpPr>
          <p:nvPr/>
        </p:nvSpPr>
        <p:spPr bwMode="auto">
          <a:xfrm>
            <a:off x="4003925" y="1707851"/>
            <a:ext cx="1868827" cy="314595"/>
          </a:xfrm>
          <a:prstGeom prst="rect">
            <a:avLst/>
          </a:prstGeom>
          <a:solidFill>
            <a:schemeClr val="accent4">
              <a:lumMod val="50000"/>
            </a:schemeClr>
          </a:solidFill>
          <a:ln w="3175">
            <a:solidFill>
              <a:srgbClr val="000066"/>
            </a:solidFill>
            <a:miter lim="800000"/>
          </a:ln>
          <a:effectLst/>
        </p:spPr>
        <p:txBody>
          <a:bodyPr wrap="none" anchor="ctr"/>
          <a:lstStyle/>
          <a:p>
            <a:pPr algn="ctr" eaLnBrk="0" hangingPunct="0">
              <a:defRPr/>
            </a:pPr>
            <a:r>
              <a:rPr kumimoji="1" lang="zh-CN" altLang="en-US" sz="1400" b="1" dirty="0">
                <a:solidFill>
                  <a:schemeClr val="bg1"/>
                </a:solidFill>
                <a:latin typeface="微软雅黑" panose="020B0503020204020204" pitchFamily="34" charset="-122"/>
                <a:ea typeface="微软雅黑" panose="020B0503020204020204" pitchFamily="34" charset="-122"/>
              </a:rPr>
              <a:t>互联网协会 </a:t>
            </a:r>
            <a:r>
              <a:rPr kumimoji="1" lang="en-US" altLang="zh-CN" sz="1400" b="1" dirty="0">
                <a:solidFill>
                  <a:schemeClr val="bg1"/>
                </a:solidFill>
                <a:latin typeface="微软雅黑" panose="020B0503020204020204" pitchFamily="34" charset="-122"/>
                <a:ea typeface="微软雅黑" panose="020B0503020204020204" pitchFamily="34" charset="-122"/>
              </a:rPr>
              <a:t>ISOC</a:t>
            </a:r>
          </a:p>
        </p:txBody>
      </p:sp>
      <p:sp>
        <p:nvSpPr>
          <p:cNvPr id="39" name="标题 1"/>
          <p:cNvSpPr txBox="1"/>
          <p:nvPr/>
        </p:nvSpPr>
        <p:spPr>
          <a:xfrm>
            <a:off x="431346" y="32661"/>
            <a:ext cx="7628133"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576071" y="5159764"/>
            <a:ext cx="6345724" cy="961097"/>
          </a:xfrm>
          <a:prstGeom prst="rect">
            <a:avLst/>
          </a:prstGeom>
        </p:spPr>
        <p:txBody>
          <a:bodyPr wrap="square">
            <a:spAutoFit/>
          </a:bodyPr>
          <a:lstStyle/>
          <a:p>
            <a:pPr marL="342900" indent="-342900">
              <a:lnSpc>
                <a:spcPts val="3600"/>
              </a:lnSpc>
              <a:buClr>
                <a:srgbClr val="C00000"/>
              </a:buClr>
              <a:buFont typeface="Wingdings" panose="05000000000000000000" pitchFamily="2" charset="2"/>
              <a:buChar char="ü"/>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所有互联网标准都以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RFC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的形式在互联网上发表</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ts val="3600"/>
              </a:lnSpc>
              <a:buClr>
                <a:srgbClr val="C00000"/>
              </a:buClr>
              <a:buFont typeface="Wingdings" panose="05000000000000000000" pitchFamily="2" charset="2"/>
              <a:buChar char="ü"/>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标准需要经过二个阶段：建议标准，互联网标准</a:t>
            </a:r>
          </a:p>
        </p:txBody>
      </p:sp>
      <p:sp>
        <p:nvSpPr>
          <p:cNvPr id="40" name="文本框 39"/>
          <p:cNvSpPr txBox="1"/>
          <p:nvPr/>
        </p:nvSpPr>
        <p:spPr>
          <a:xfrm>
            <a:off x="303027" y="743400"/>
            <a:ext cx="8553894"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互联网标准化工作</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1.2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发展历程</a:t>
            </a:r>
          </a:p>
        </p:txBody>
      </p:sp>
      <p:grpSp>
        <p:nvGrpSpPr>
          <p:cNvPr id="42" name="组合 37"/>
          <p:cNvGrpSpPr/>
          <p:nvPr/>
        </p:nvGrpSpPr>
        <p:grpSpPr bwMode="auto">
          <a:xfrm>
            <a:off x="1634099" y="2022329"/>
            <a:ext cx="7006863" cy="2636838"/>
            <a:chOff x="480396" y="2063500"/>
            <a:chExt cx="8309090" cy="3127375"/>
          </a:xfrm>
        </p:grpSpPr>
        <p:sp>
          <p:nvSpPr>
            <p:cNvPr id="44" name="AutoShape 44"/>
            <p:cNvSpPr>
              <a:spLocks noChangeArrowheads="1"/>
            </p:cNvSpPr>
            <p:nvPr/>
          </p:nvSpPr>
          <p:spPr bwMode="auto">
            <a:xfrm>
              <a:off x="4631281" y="3139825"/>
              <a:ext cx="4158205" cy="2051050"/>
            </a:xfrm>
            <a:prstGeom prst="roundRect">
              <a:avLst>
                <a:gd name="adj" fmla="val 16667"/>
              </a:avLst>
            </a:prstGeom>
            <a:solidFill>
              <a:schemeClr val="accent5">
                <a:lumMod val="60000"/>
                <a:lumOff val="40000"/>
              </a:schemeClr>
            </a:solidFill>
            <a:ln>
              <a:noFill/>
            </a:ln>
            <a:effectLst/>
            <a:scene3d>
              <a:camera prst="orthographicFront">
                <a:rot lat="0" lon="0" rev="0"/>
              </a:camera>
              <a:lightRig rig="glow" dir="t">
                <a:rot lat="0" lon="0" rev="14100000"/>
              </a:lightRig>
            </a:scene3d>
            <a:sp3d prstMaterial="softEdge"/>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45" name="AutoShape 43"/>
            <p:cNvSpPr>
              <a:spLocks noChangeArrowheads="1"/>
            </p:cNvSpPr>
            <p:nvPr/>
          </p:nvSpPr>
          <p:spPr bwMode="auto">
            <a:xfrm>
              <a:off x="480396" y="3139825"/>
              <a:ext cx="3798648" cy="2051050"/>
            </a:xfrm>
            <a:prstGeom prst="roundRect">
              <a:avLst>
                <a:gd name="adj" fmla="val 16667"/>
              </a:avLst>
            </a:prstGeom>
            <a:solidFill>
              <a:schemeClr val="accent5">
                <a:lumMod val="60000"/>
                <a:lumOff val="40000"/>
              </a:schemeClr>
            </a:solidFill>
            <a:ln>
              <a:noFill/>
            </a:ln>
            <a:effectLst>
              <a:outerShdw dist="35921" dir="2700000" algn="ctr" rotWithShape="0">
                <a:schemeClr val="bg2"/>
              </a:outerShdw>
            </a:effectLst>
            <a:scene3d>
              <a:camera prst="orthographicFront">
                <a:rot lat="0" lon="0" rev="0"/>
              </a:camera>
              <a:lightRig rig="glow" dir="t">
                <a:rot lat="0" lon="0" rev="14100000"/>
              </a:lightRig>
            </a:scene3d>
            <a:sp3d prstMaterial="softEdge"/>
            <a:extLst>
              <a:ext uri="{91240B29-F687-4F45-9708-019B960494DF}">
                <a14:hiddenLine xmlns:a14="http://schemas.microsoft.com/office/drawing/2010/main" w="9525">
                  <a:solidFill>
                    <a:schemeClr val="tx1"/>
                  </a:solidFill>
                  <a:round/>
                </a14:hiddenLine>
              </a:ext>
            </a:extLst>
          </p:spPr>
          <p:txBody>
            <a:bodyPr wrap="none" anchor="ctr"/>
            <a:lstStyle/>
            <a:p>
              <a:pPr>
                <a:defRPr/>
              </a:pPr>
              <a:endParaRPr lang="zh-CN" altLang="en-US"/>
            </a:p>
          </p:txBody>
        </p:sp>
        <p:sp>
          <p:nvSpPr>
            <p:cNvPr id="46" name="Line 6"/>
            <p:cNvSpPr>
              <a:spLocks noChangeShapeType="1"/>
            </p:cNvSpPr>
            <p:nvPr/>
          </p:nvSpPr>
          <p:spPr bwMode="auto">
            <a:xfrm>
              <a:off x="2605088" y="4176462"/>
              <a:ext cx="504825" cy="434975"/>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8"/>
            <p:cNvSpPr>
              <a:spLocks noChangeShapeType="1"/>
            </p:cNvSpPr>
            <p:nvPr/>
          </p:nvSpPr>
          <p:spPr bwMode="auto">
            <a:xfrm flipH="1">
              <a:off x="1725613" y="4176462"/>
              <a:ext cx="503238" cy="434975"/>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18"/>
            <p:cNvSpPr>
              <a:spLocks noChangeShapeType="1"/>
            </p:cNvSpPr>
            <p:nvPr/>
          </p:nvSpPr>
          <p:spPr bwMode="auto">
            <a:xfrm flipV="1">
              <a:off x="5961063" y="4154237"/>
              <a:ext cx="120650" cy="163513"/>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19"/>
            <p:cNvSpPr>
              <a:spLocks noChangeShapeType="1"/>
            </p:cNvSpPr>
            <p:nvPr/>
          </p:nvSpPr>
          <p:spPr bwMode="auto">
            <a:xfrm>
              <a:off x="7081838" y="4152650"/>
              <a:ext cx="195263" cy="127000"/>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24"/>
            <p:cNvSpPr>
              <a:spLocks noChangeShapeType="1"/>
            </p:cNvSpPr>
            <p:nvPr/>
          </p:nvSpPr>
          <p:spPr bwMode="auto">
            <a:xfrm flipH="1">
              <a:off x="5514975" y="4527300"/>
              <a:ext cx="250825" cy="123825"/>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25"/>
            <p:cNvSpPr>
              <a:spLocks noChangeShapeType="1"/>
            </p:cNvSpPr>
            <p:nvPr/>
          </p:nvSpPr>
          <p:spPr bwMode="auto">
            <a:xfrm>
              <a:off x="5956300" y="4527300"/>
              <a:ext cx="377825" cy="123825"/>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26"/>
            <p:cNvSpPr>
              <a:spLocks noChangeShapeType="1"/>
            </p:cNvSpPr>
            <p:nvPr/>
          </p:nvSpPr>
          <p:spPr bwMode="auto">
            <a:xfrm flipH="1">
              <a:off x="6837363" y="4527300"/>
              <a:ext cx="315913" cy="123825"/>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 name="Line 27"/>
            <p:cNvSpPr>
              <a:spLocks noChangeShapeType="1"/>
            </p:cNvSpPr>
            <p:nvPr/>
          </p:nvSpPr>
          <p:spPr bwMode="auto">
            <a:xfrm>
              <a:off x="7340600" y="4527300"/>
              <a:ext cx="315913" cy="123825"/>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 name="Freeform 4"/>
            <p:cNvSpPr/>
            <p:nvPr/>
          </p:nvSpPr>
          <p:spPr bwMode="auto">
            <a:xfrm>
              <a:off x="3344863" y="2530225"/>
              <a:ext cx="2074863" cy="185738"/>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5" name="Text Box 12"/>
            <p:cNvSpPr txBox="1">
              <a:spLocks noChangeArrowheads="1"/>
            </p:cNvSpPr>
            <p:nvPr/>
          </p:nvSpPr>
          <p:spPr bwMode="auto">
            <a:xfrm>
              <a:off x="1256246" y="3330325"/>
              <a:ext cx="2090481" cy="364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0" hangingPunct="0"/>
              <a:r>
                <a:rPr kumimoji="1" lang="zh-CN" altLang="en-US" sz="1400" b="1">
                  <a:solidFill>
                    <a:schemeClr val="bg1"/>
                  </a:solidFill>
                  <a:latin typeface="微软雅黑" panose="020B0503020204020204" pitchFamily="34" charset="-122"/>
                  <a:ea typeface="微软雅黑" panose="020B0503020204020204" pitchFamily="34" charset="-122"/>
                </a:rPr>
                <a:t>互联网研究部 </a:t>
              </a:r>
              <a:r>
                <a:rPr kumimoji="1" lang="en-US" altLang="zh-CN" sz="1400" b="1">
                  <a:solidFill>
                    <a:schemeClr val="bg1"/>
                  </a:solidFill>
                  <a:latin typeface="微软雅黑" panose="020B0503020204020204" pitchFamily="34" charset="-122"/>
                  <a:ea typeface="微软雅黑" panose="020B0503020204020204" pitchFamily="34" charset="-122"/>
                </a:rPr>
                <a:t>IRTF </a:t>
              </a:r>
            </a:p>
          </p:txBody>
        </p:sp>
        <p:sp>
          <p:nvSpPr>
            <p:cNvPr id="56" name="Text Box 13"/>
            <p:cNvSpPr txBox="1">
              <a:spLocks noChangeArrowheads="1"/>
            </p:cNvSpPr>
            <p:nvPr/>
          </p:nvSpPr>
          <p:spPr bwMode="auto">
            <a:xfrm>
              <a:off x="5626100" y="3273175"/>
              <a:ext cx="2105025" cy="364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0" hangingPunct="0"/>
              <a:r>
                <a:rPr kumimoji="1" lang="zh-CN" altLang="en-US" sz="1400" b="1">
                  <a:solidFill>
                    <a:schemeClr val="bg1"/>
                  </a:solidFill>
                  <a:latin typeface="微软雅黑" panose="020B0503020204020204" pitchFamily="34" charset="-122"/>
                  <a:ea typeface="微软雅黑" panose="020B0503020204020204" pitchFamily="34" charset="-122"/>
                </a:rPr>
                <a:t>互联网工程部 </a:t>
              </a:r>
              <a:r>
                <a:rPr kumimoji="1" lang="en-US" altLang="zh-CN" sz="1400" b="1">
                  <a:solidFill>
                    <a:schemeClr val="bg1"/>
                  </a:solidFill>
                  <a:latin typeface="微软雅黑" panose="020B0503020204020204" pitchFamily="34" charset="-122"/>
                  <a:ea typeface="微软雅黑" panose="020B0503020204020204" pitchFamily="34" charset="-122"/>
                </a:rPr>
                <a:t>IETF </a:t>
              </a:r>
            </a:p>
          </p:txBody>
        </p:sp>
        <p:sp>
          <p:nvSpPr>
            <p:cNvPr id="57" name="Text Box 17"/>
            <p:cNvSpPr txBox="1">
              <a:spLocks noChangeArrowheads="1"/>
            </p:cNvSpPr>
            <p:nvPr/>
          </p:nvSpPr>
          <p:spPr bwMode="auto">
            <a:xfrm>
              <a:off x="6373813" y="4174875"/>
              <a:ext cx="462304" cy="40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0" hangingPunct="0"/>
              <a:r>
                <a:rPr kumimoji="1" lang="en-US" altLang="zh-CN" sz="1600" b="1">
                  <a:solidFill>
                    <a:schemeClr val="bg1"/>
                  </a:solidFill>
                  <a:latin typeface="Arial" panose="020B0604020202020204" pitchFamily="34" charset="0"/>
                  <a:ea typeface="黑体" panose="02010609060101010101" pitchFamily="49" charset="-122"/>
                </a:rPr>
                <a:t>…</a:t>
              </a:r>
            </a:p>
          </p:txBody>
        </p:sp>
        <p:sp>
          <p:nvSpPr>
            <p:cNvPr id="58" name="Rectangle 20"/>
            <p:cNvSpPr>
              <a:spLocks noChangeArrowheads="1"/>
            </p:cNvSpPr>
            <p:nvPr/>
          </p:nvSpPr>
          <p:spPr bwMode="auto">
            <a:xfrm>
              <a:off x="1536700" y="4611437"/>
              <a:ext cx="376238" cy="309563"/>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anose="020B0503020204020204" pitchFamily="34" charset="-122"/>
                  <a:ea typeface="微软雅黑" panose="020B0503020204020204" pitchFamily="34" charset="-122"/>
                </a:rPr>
                <a:t>RG</a:t>
              </a:r>
            </a:p>
          </p:txBody>
        </p:sp>
        <p:sp>
          <p:nvSpPr>
            <p:cNvPr id="59" name="Rectangle 21"/>
            <p:cNvSpPr>
              <a:spLocks noChangeArrowheads="1"/>
            </p:cNvSpPr>
            <p:nvPr/>
          </p:nvSpPr>
          <p:spPr bwMode="auto">
            <a:xfrm>
              <a:off x="7585075" y="4643187"/>
              <a:ext cx="439738" cy="31273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anose="020B0503020204020204" pitchFamily="34" charset="-122"/>
                  <a:ea typeface="微软雅黑" panose="020B0503020204020204" pitchFamily="34" charset="-122"/>
                </a:rPr>
                <a:t>WG</a:t>
              </a:r>
            </a:p>
          </p:txBody>
        </p:sp>
        <p:sp>
          <p:nvSpPr>
            <p:cNvPr id="60" name="Text Box 22"/>
            <p:cNvSpPr txBox="1">
              <a:spLocks noChangeArrowheads="1"/>
            </p:cNvSpPr>
            <p:nvPr/>
          </p:nvSpPr>
          <p:spPr bwMode="auto">
            <a:xfrm>
              <a:off x="5761038" y="4560636"/>
              <a:ext cx="462304" cy="40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0" hangingPunct="0"/>
              <a:r>
                <a:rPr kumimoji="1" lang="en-US" altLang="zh-CN" sz="1600" b="1">
                  <a:solidFill>
                    <a:schemeClr val="bg1"/>
                  </a:solidFill>
                  <a:latin typeface="Arial" panose="020B0604020202020204" pitchFamily="34" charset="0"/>
                  <a:ea typeface="黑体" panose="02010609060101010101" pitchFamily="49" charset="-122"/>
                </a:rPr>
                <a:t>…</a:t>
              </a:r>
            </a:p>
          </p:txBody>
        </p:sp>
        <p:sp>
          <p:nvSpPr>
            <p:cNvPr id="61" name="Text Box 23"/>
            <p:cNvSpPr txBox="1">
              <a:spLocks noChangeArrowheads="1"/>
            </p:cNvSpPr>
            <p:nvPr/>
          </p:nvSpPr>
          <p:spPr bwMode="auto">
            <a:xfrm>
              <a:off x="7194549" y="4560636"/>
              <a:ext cx="462304" cy="40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0" hangingPunct="0"/>
              <a:r>
                <a:rPr kumimoji="1" lang="en-US" altLang="zh-CN" sz="1600" b="1">
                  <a:solidFill>
                    <a:schemeClr val="bg1"/>
                  </a:solidFill>
                  <a:latin typeface="Arial" panose="020B0604020202020204" pitchFamily="34" charset="0"/>
                  <a:ea typeface="黑体" panose="02010609060101010101" pitchFamily="49" charset="-122"/>
                </a:rPr>
                <a:t>…</a:t>
              </a:r>
            </a:p>
          </p:txBody>
        </p:sp>
        <p:sp>
          <p:nvSpPr>
            <p:cNvPr id="62" name="Rectangle 28"/>
            <p:cNvSpPr>
              <a:spLocks noChangeArrowheads="1"/>
            </p:cNvSpPr>
            <p:nvPr/>
          </p:nvSpPr>
          <p:spPr bwMode="auto">
            <a:xfrm>
              <a:off x="2921000" y="4611437"/>
              <a:ext cx="377825" cy="309563"/>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dirty="0">
                  <a:latin typeface="微软雅黑" panose="020B0503020204020204" pitchFamily="34" charset="-122"/>
                  <a:ea typeface="微软雅黑" panose="020B0503020204020204" pitchFamily="34" charset="-122"/>
                </a:rPr>
                <a:t>RG</a:t>
              </a:r>
            </a:p>
          </p:txBody>
        </p:sp>
        <p:sp>
          <p:nvSpPr>
            <p:cNvPr id="63" name="Text Box 29"/>
            <p:cNvSpPr txBox="1">
              <a:spLocks noChangeArrowheads="1"/>
            </p:cNvSpPr>
            <p:nvPr/>
          </p:nvSpPr>
          <p:spPr bwMode="auto">
            <a:xfrm>
              <a:off x="2178050" y="4582861"/>
              <a:ext cx="462304" cy="40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0" hangingPunct="0"/>
              <a:r>
                <a:rPr kumimoji="1" lang="en-US" altLang="zh-CN" sz="1600" b="1">
                  <a:solidFill>
                    <a:schemeClr val="bg1"/>
                  </a:solidFill>
                  <a:latin typeface="Arial" panose="020B0604020202020204" pitchFamily="34" charset="0"/>
                  <a:ea typeface="黑体" panose="02010609060101010101" pitchFamily="49" charset="-122"/>
                </a:rPr>
                <a:t>…</a:t>
              </a:r>
            </a:p>
          </p:txBody>
        </p:sp>
        <p:sp>
          <p:nvSpPr>
            <p:cNvPr id="64" name="Rectangle 30"/>
            <p:cNvSpPr>
              <a:spLocks noChangeArrowheads="1"/>
            </p:cNvSpPr>
            <p:nvPr/>
          </p:nvSpPr>
          <p:spPr bwMode="auto">
            <a:xfrm>
              <a:off x="5710238" y="4279650"/>
              <a:ext cx="474663" cy="29368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anose="020B0503020204020204" pitchFamily="34" charset="-122"/>
                  <a:ea typeface="微软雅黑" panose="020B0503020204020204" pitchFamily="34" charset="-122"/>
                </a:rPr>
                <a:t>领域</a:t>
              </a:r>
            </a:p>
          </p:txBody>
        </p:sp>
        <p:sp>
          <p:nvSpPr>
            <p:cNvPr id="65" name="Rectangle 31"/>
            <p:cNvSpPr>
              <a:spLocks noChangeArrowheads="1"/>
            </p:cNvSpPr>
            <p:nvPr/>
          </p:nvSpPr>
          <p:spPr bwMode="auto">
            <a:xfrm>
              <a:off x="7138988" y="4279650"/>
              <a:ext cx="474663" cy="29368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anose="020B0503020204020204" pitchFamily="34" charset="-122"/>
                  <a:ea typeface="微软雅黑" panose="020B0503020204020204" pitchFamily="34" charset="-122"/>
                </a:rPr>
                <a:t>领域</a:t>
              </a:r>
            </a:p>
          </p:txBody>
        </p:sp>
        <p:sp>
          <p:nvSpPr>
            <p:cNvPr id="66" name="Rectangle 33"/>
            <p:cNvSpPr>
              <a:spLocks noChangeArrowheads="1"/>
            </p:cNvSpPr>
            <p:nvPr/>
          </p:nvSpPr>
          <p:spPr bwMode="auto">
            <a:xfrm>
              <a:off x="6700838" y="4643187"/>
              <a:ext cx="439738" cy="31273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anose="020B0503020204020204" pitchFamily="34" charset="-122"/>
                  <a:ea typeface="微软雅黑" panose="020B0503020204020204" pitchFamily="34" charset="-122"/>
                </a:rPr>
                <a:t>WG</a:t>
              </a:r>
            </a:p>
          </p:txBody>
        </p:sp>
        <p:sp>
          <p:nvSpPr>
            <p:cNvPr id="67" name="Rectangle 34"/>
            <p:cNvSpPr>
              <a:spLocks noChangeArrowheads="1"/>
            </p:cNvSpPr>
            <p:nvPr/>
          </p:nvSpPr>
          <p:spPr bwMode="auto">
            <a:xfrm>
              <a:off x="6110288" y="4643187"/>
              <a:ext cx="439738" cy="31273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anose="020B0503020204020204" pitchFamily="34" charset="-122"/>
                  <a:ea typeface="微软雅黑" panose="020B0503020204020204" pitchFamily="34" charset="-122"/>
                </a:rPr>
                <a:t>WG</a:t>
              </a:r>
            </a:p>
          </p:txBody>
        </p:sp>
        <p:sp>
          <p:nvSpPr>
            <p:cNvPr id="68" name="Rectangle 35"/>
            <p:cNvSpPr>
              <a:spLocks noChangeArrowheads="1"/>
            </p:cNvSpPr>
            <p:nvPr/>
          </p:nvSpPr>
          <p:spPr bwMode="auto">
            <a:xfrm>
              <a:off x="5311775" y="4643187"/>
              <a:ext cx="441325" cy="31273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anose="020B0503020204020204" pitchFamily="34" charset="-122"/>
                  <a:ea typeface="微软雅黑" panose="020B0503020204020204" pitchFamily="34" charset="-122"/>
                </a:rPr>
                <a:t>WG</a:t>
              </a:r>
            </a:p>
          </p:txBody>
        </p:sp>
        <p:cxnSp>
          <p:nvCxnSpPr>
            <p:cNvPr id="69" name="AutoShape 45"/>
            <p:cNvCxnSpPr>
              <a:cxnSpLocks noChangeShapeType="1"/>
            </p:cNvCxnSpPr>
            <p:nvPr/>
          </p:nvCxnSpPr>
          <p:spPr bwMode="auto">
            <a:xfrm>
              <a:off x="4375150" y="2930275"/>
              <a:ext cx="1335088" cy="803275"/>
            </a:xfrm>
            <a:prstGeom prst="straightConnector1">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AutoShape 46"/>
            <p:cNvCxnSpPr>
              <a:cxnSpLocks noChangeShapeType="1"/>
            </p:cNvCxnSpPr>
            <p:nvPr/>
          </p:nvCxnSpPr>
          <p:spPr bwMode="auto">
            <a:xfrm flipH="1">
              <a:off x="5279219" y="2063500"/>
              <a:ext cx="210902" cy="296862"/>
            </a:xfrm>
            <a:prstGeom prst="straightConnector1">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AutoShape 47"/>
            <p:cNvCxnSpPr>
              <a:cxnSpLocks noChangeShapeType="1"/>
            </p:cNvCxnSpPr>
            <p:nvPr/>
          </p:nvCxnSpPr>
          <p:spPr bwMode="auto">
            <a:xfrm flipH="1">
              <a:off x="3344863" y="2930275"/>
              <a:ext cx="1030289" cy="803275"/>
            </a:xfrm>
            <a:prstGeom prst="straightConnector1">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AutoShape 48"/>
            <p:cNvCxnSpPr>
              <a:cxnSpLocks noChangeShapeType="1"/>
            </p:cNvCxnSpPr>
            <p:nvPr/>
          </p:nvCxnSpPr>
          <p:spPr bwMode="auto">
            <a:xfrm>
              <a:off x="3315507" y="2063500"/>
              <a:ext cx="155576" cy="296863"/>
            </a:xfrm>
            <a:prstGeom prst="straightConnector1">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Rectangle 32"/>
            <p:cNvSpPr>
              <a:spLocks noChangeArrowheads="1"/>
            </p:cNvSpPr>
            <p:nvPr/>
          </p:nvSpPr>
          <p:spPr bwMode="auto">
            <a:xfrm>
              <a:off x="3454401" y="2360362"/>
              <a:ext cx="1841499" cy="569914"/>
            </a:xfrm>
            <a:prstGeom prst="rect">
              <a:avLst/>
            </a:prstGeom>
            <a:solidFill>
              <a:schemeClr val="accent2">
                <a:lumMod val="40000"/>
                <a:lumOff val="60000"/>
              </a:schemeClr>
            </a:solidFill>
            <a:ln w="3175">
              <a:solidFill>
                <a:srgbClr val="000066"/>
              </a:solidFill>
              <a:miter lim="800000"/>
            </a:ln>
            <a:effectLst/>
            <a:scene3d>
              <a:camera prst="orthographicFront">
                <a:rot lat="0" lon="0" rev="0"/>
              </a:camera>
              <a:lightRig rig="glow" dir="t">
                <a:rot lat="0" lon="0" rev="14100000"/>
              </a:lightRig>
            </a:scene3d>
            <a:sp3d prstMaterial="softEdge"/>
          </p:spPr>
          <p:txBody>
            <a:bodyPr wrap="none" anchor="ctr"/>
            <a:lstStyle/>
            <a:p>
              <a:pPr algn="ctr" eaLnBrk="0" hangingPunct="0">
                <a:defRPr/>
              </a:pPr>
              <a:r>
                <a:rPr kumimoji="1" lang="zh-CN" altLang="en-US" sz="1400" b="1" dirty="0">
                  <a:solidFill>
                    <a:srgbClr val="0000FF"/>
                  </a:solidFill>
                  <a:latin typeface="微软雅黑" panose="020B0503020204020204" pitchFamily="34" charset="-122"/>
                  <a:ea typeface="微软雅黑" panose="020B0503020204020204" pitchFamily="34" charset="-122"/>
                </a:rPr>
                <a:t>互联网体系结构</a:t>
              </a:r>
            </a:p>
            <a:p>
              <a:pPr algn="ctr" eaLnBrk="0" hangingPunct="0">
                <a:defRPr/>
              </a:pPr>
              <a:r>
                <a:rPr kumimoji="1" lang="zh-CN" altLang="en-US" sz="1400" b="1" dirty="0">
                  <a:solidFill>
                    <a:srgbClr val="0000FF"/>
                  </a:solidFill>
                  <a:latin typeface="微软雅黑" panose="020B0503020204020204" pitchFamily="34" charset="-122"/>
                  <a:ea typeface="微软雅黑" panose="020B0503020204020204" pitchFamily="34" charset="-122"/>
                </a:rPr>
                <a:t>研究委员会 </a:t>
              </a:r>
              <a:r>
                <a:rPr kumimoji="1" lang="en-US" altLang="zh-CN" sz="1400" b="1" dirty="0">
                  <a:solidFill>
                    <a:srgbClr val="0000FF"/>
                  </a:solidFill>
                  <a:latin typeface="微软雅黑" panose="020B0503020204020204" pitchFamily="34" charset="-122"/>
                  <a:ea typeface="微软雅黑" panose="020B0503020204020204" pitchFamily="34" charset="-122"/>
                </a:rPr>
                <a:t>IAB </a:t>
              </a:r>
            </a:p>
          </p:txBody>
        </p:sp>
        <p:sp>
          <p:nvSpPr>
            <p:cNvPr id="74" name="Rectangle 10"/>
            <p:cNvSpPr>
              <a:spLocks noChangeArrowheads="1"/>
            </p:cNvSpPr>
            <p:nvPr/>
          </p:nvSpPr>
          <p:spPr bwMode="auto">
            <a:xfrm>
              <a:off x="1352550" y="3733550"/>
              <a:ext cx="2065338" cy="49688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solidFill>
                    <a:srgbClr val="0000FF"/>
                  </a:solidFill>
                  <a:latin typeface="微软雅黑" panose="020B0503020204020204" pitchFamily="34" charset="-122"/>
                  <a:ea typeface="微软雅黑" panose="020B0503020204020204" pitchFamily="34" charset="-122"/>
                </a:rPr>
                <a:t>互联网研究指导小组</a:t>
              </a:r>
            </a:p>
            <a:p>
              <a:pPr algn="ctr" eaLnBrk="0" hangingPunct="0"/>
              <a:r>
                <a:rPr kumimoji="1" lang="en-US" altLang="zh-CN" sz="1200" b="1">
                  <a:solidFill>
                    <a:srgbClr val="0000FF"/>
                  </a:solidFill>
                  <a:latin typeface="微软雅黑" panose="020B0503020204020204" pitchFamily="34" charset="-122"/>
                  <a:ea typeface="微软雅黑" panose="020B0503020204020204" pitchFamily="34" charset="-122"/>
                </a:rPr>
                <a:t>IRSG </a:t>
              </a:r>
            </a:p>
          </p:txBody>
        </p:sp>
        <p:sp>
          <p:nvSpPr>
            <p:cNvPr id="75" name="Rectangle 16"/>
            <p:cNvSpPr>
              <a:spLocks noChangeArrowheads="1"/>
            </p:cNvSpPr>
            <p:nvPr/>
          </p:nvSpPr>
          <p:spPr bwMode="auto">
            <a:xfrm>
              <a:off x="5607050" y="3657350"/>
              <a:ext cx="2182813" cy="496888"/>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互联网工程指导小组</a:t>
              </a:r>
            </a:p>
            <a:p>
              <a:pPr algn="ctr" eaLnBrk="0" hangingPunct="0"/>
              <a:r>
                <a:rPr kumimoji="1" lang="en-US" altLang="zh-CN" sz="1200" b="1" dirty="0">
                  <a:solidFill>
                    <a:srgbClr val="0000FF"/>
                  </a:solidFill>
                  <a:latin typeface="微软雅黑" panose="020B0503020204020204" pitchFamily="34" charset="-122"/>
                  <a:ea typeface="微软雅黑" panose="020B0503020204020204" pitchFamily="34" charset="-122"/>
                </a:rPr>
                <a:t>IESG </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8"/>
            <a:ext cx="8206327" cy="945213"/>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网络核心：互联大量的异构网络</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9" name="Rectangle 3"/>
          <p:cNvSpPr>
            <a:spLocks noGrp="1" noChangeArrowheads="1"/>
          </p:cNvSpPr>
          <p:nvPr>
            <p:ph type="body" sz="half" idx="1"/>
          </p:nvPr>
        </p:nvSpPr>
        <p:spPr>
          <a:xfrm>
            <a:off x="426679" y="1579662"/>
            <a:ext cx="4692066" cy="4850927"/>
          </a:xfrm>
        </p:spPr>
        <p:txBody>
          <a:bodyPr>
            <a:noAutofit/>
          </a:bodyPr>
          <a:lstStyle/>
          <a:p>
            <a:pPr marL="342900" indent="-342900">
              <a:lnSpc>
                <a:spcPts val="3600"/>
              </a:lnSpc>
              <a:spcBef>
                <a:spcPts val="600"/>
              </a:spcBef>
              <a:buClr>
                <a:schemeClr val="accent2"/>
              </a:buClr>
              <a:buSzPct val="100000"/>
              <a:buBlip>
                <a:blip r:embed="rId3"/>
              </a:buBlip>
              <a:defRPr/>
            </a:pPr>
            <a:r>
              <a:rPr lang="zh-CN" altLang="en-US" sz="2400" dirty="0">
                <a:ea typeface="宋体" panose="02010600030101010101" pitchFamily="2" charset="-122"/>
                <a:cs typeface="Times New Roman" panose="02020603050405020304" pitchFamily="18" charset="0"/>
              </a:rPr>
              <a:t>核心设备：路由器</a:t>
            </a:r>
            <a:endParaRPr lang="en-US" altLang="zh-CN" sz="2400" dirty="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dirty="0">
                <a:ea typeface="宋体" panose="02010600030101010101" pitchFamily="2" charset="-122"/>
                <a:cs typeface="Times New Roman" panose="02020603050405020304" pitchFamily="18" charset="0"/>
              </a:rPr>
              <a:t>由相互连接的路由器构成的网状网（</a:t>
            </a:r>
            <a:r>
              <a:rPr lang="en-US" altLang="zh-CN" sz="2000" dirty="0">
                <a:ea typeface="宋体" panose="02010600030101010101" pitchFamily="2" charset="-122"/>
                <a:cs typeface="Times New Roman" panose="02020603050405020304" pitchFamily="18" charset="0"/>
              </a:rPr>
              <a:t>Mesh</a:t>
            </a:r>
            <a:r>
              <a:rPr lang="zh-CN" altLang="en-US" sz="2000" dirty="0">
                <a:ea typeface="宋体" panose="02010600030101010101" pitchFamily="2" charset="-122"/>
                <a:cs typeface="Times New Roman" panose="02020603050405020304" pitchFamily="18" charset="0"/>
              </a:rPr>
              <a:t>）</a:t>
            </a:r>
            <a:endParaRPr lang="en-US" altLang="zh-CN" sz="2000" dirty="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路由器之间通过</a:t>
            </a:r>
            <a:r>
              <a:rPr lang="zh-CN" altLang="en-US" sz="2000" b="1" kern="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物理网络</a:t>
            </a: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相互连接，如以太网、光纤主干网等</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600"/>
              </a:lnSpc>
              <a:spcBef>
                <a:spcPts val="600"/>
              </a:spcBef>
              <a:buClr>
                <a:schemeClr val="accent2"/>
              </a:buClr>
              <a:buSzPct val="100000"/>
              <a:buBlip>
                <a:blip r:embed="rId3"/>
              </a:buBlip>
              <a:defRPr/>
            </a:pPr>
            <a:r>
              <a:rPr lang="zh-CN" altLang="en-US" sz="2400" dirty="0">
                <a:ea typeface="宋体" panose="02010600030101010101" pitchFamily="2" charset="-122"/>
                <a:cs typeface="Times New Roman" panose="02020603050405020304" pitchFamily="18" charset="0"/>
              </a:rPr>
              <a:t>路由器的主要功能</a:t>
            </a:r>
            <a:endParaRPr lang="en-US" altLang="zh-CN" sz="2400" dirty="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执行路由协议和算法，寻找到目的地的最佳路径</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根据目的地址进行报文分组转发</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88" name="Rectangle 872"/>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800">
              <a:ea typeface="宋体" panose="02010600030101010101" pitchFamily="2"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1445" name="组合 1444"/>
          <p:cNvGrpSpPr/>
          <p:nvPr/>
        </p:nvGrpSpPr>
        <p:grpSpPr>
          <a:xfrm>
            <a:off x="5441298" y="1543081"/>
            <a:ext cx="3411537" cy="4500563"/>
            <a:chOff x="5202238" y="1590675"/>
            <a:chExt cx="3411537" cy="4500563"/>
          </a:xfrm>
        </p:grpSpPr>
        <p:sp>
          <p:nvSpPr>
            <p:cNvPr id="1446" name="Freeform 637"/>
            <p:cNvSpPr/>
            <p:nvPr/>
          </p:nvSpPr>
          <p:spPr bwMode="auto">
            <a:xfrm>
              <a:off x="5202238" y="1712913"/>
              <a:ext cx="1736725"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47" name="Group 638"/>
            <p:cNvGrpSpPr/>
            <p:nvPr/>
          </p:nvGrpSpPr>
          <p:grpSpPr bwMode="auto">
            <a:xfrm>
              <a:off x="5370513" y="3048000"/>
              <a:ext cx="1458912" cy="933450"/>
              <a:chOff x="2889" y="1631"/>
              <a:chExt cx="980" cy="743"/>
            </a:xfrm>
          </p:grpSpPr>
          <p:sp>
            <p:nvSpPr>
              <p:cNvPr id="1947" name="Rectangle 639"/>
              <p:cNvSpPr>
                <a:spLocks noChangeArrowheads="1"/>
              </p:cNvSpPr>
              <p:nvPr/>
            </p:nvSpPr>
            <p:spPr bwMode="auto">
              <a:xfrm>
                <a:off x="3046" y="1841"/>
                <a:ext cx="663" cy="53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948" name="AutoShape 640"/>
              <p:cNvSpPr>
                <a:spLocks noChangeArrowheads="1"/>
              </p:cNvSpPr>
              <p:nvPr/>
            </p:nvSpPr>
            <p:spPr bwMode="auto">
              <a:xfrm>
                <a:off x="2889" y="1631"/>
                <a:ext cx="980" cy="25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00CCFF"/>
                  </a:solidFill>
                </a:endParaRPr>
              </a:p>
            </p:txBody>
          </p:sp>
        </p:grpSp>
        <p:sp>
          <p:nvSpPr>
            <p:cNvPr id="1448" name="Freeform 641"/>
            <p:cNvSpPr/>
            <p:nvPr/>
          </p:nvSpPr>
          <p:spPr bwMode="auto">
            <a:xfrm>
              <a:off x="5364163" y="4425950"/>
              <a:ext cx="3225800"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49" name="Line 642"/>
            <p:cNvSpPr>
              <a:spLocks noChangeShapeType="1"/>
            </p:cNvSpPr>
            <p:nvPr/>
          </p:nvSpPr>
          <p:spPr bwMode="auto">
            <a:xfrm rot="16200000">
              <a:off x="7845425" y="5162551"/>
              <a:ext cx="523875" cy="13970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0" name="Line 643"/>
            <p:cNvSpPr>
              <a:spLocks noChangeShapeType="1"/>
            </p:cNvSpPr>
            <p:nvPr/>
          </p:nvSpPr>
          <p:spPr bwMode="auto">
            <a:xfrm rot="5400000" flipV="1">
              <a:off x="7991475" y="5443538"/>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1" name="Line 644"/>
            <p:cNvSpPr>
              <a:spLocks noChangeShapeType="1"/>
            </p:cNvSpPr>
            <p:nvPr/>
          </p:nvSpPr>
          <p:spPr bwMode="auto">
            <a:xfrm rot="16200000">
              <a:off x="8177213" y="5119688"/>
              <a:ext cx="0" cy="11430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2" name="Line 646"/>
            <p:cNvSpPr>
              <a:spLocks noChangeShapeType="1"/>
            </p:cNvSpPr>
            <p:nvPr/>
          </p:nvSpPr>
          <p:spPr bwMode="auto">
            <a:xfrm>
              <a:off x="6100763" y="4776788"/>
              <a:ext cx="212725" cy="9842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3" name="Line 647"/>
            <p:cNvSpPr>
              <a:spLocks noChangeShapeType="1"/>
            </p:cNvSpPr>
            <p:nvPr/>
          </p:nvSpPr>
          <p:spPr bwMode="auto">
            <a:xfrm flipV="1">
              <a:off x="5842000" y="5040313"/>
              <a:ext cx="390525" cy="7302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4" name="Line 650"/>
            <p:cNvSpPr>
              <a:spLocks noChangeShapeType="1"/>
            </p:cNvSpPr>
            <p:nvPr/>
          </p:nvSpPr>
          <p:spPr bwMode="auto">
            <a:xfrm flipH="1">
              <a:off x="6267450" y="5087938"/>
              <a:ext cx="103188" cy="18415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5" name="Line 651"/>
            <p:cNvSpPr>
              <a:spLocks noChangeShapeType="1"/>
            </p:cNvSpPr>
            <p:nvPr/>
          </p:nvSpPr>
          <p:spPr bwMode="auto">
            <a:xfrm flipH="1" flipV="1">
              <a:off x="6548438" y="5100638"/>
              <a:ext cx="114300" cy="17303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6" name="Line 652"/>
            <p:cNvSpPr>
              <a:spLocks noChangeShapeType="1"/>
            </p:cNvSpPr>
            <p:nvPr/>
          </p:nvSpPr>
          <p:spPr bwMode="auto">
            <a:xfrm>
              <a:off x="6743700" y="5056188"/>
              <a:ext cx="503238" cy="26987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7" name="Line 654"/>
            <p:cNvSpPr>
              <a:spLocks noChangeShapeType="1"/>
            </p:cNvSpPr>
            <p:nvPr/>
          </p:nvSpPr>
          <p:spPr bwMode="auto">
            <a:xfrm>
              <a:off x="6046788" y="3582988"/>
              <a:ext cx="234950" cy="74612"/>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8" name="Line 655"/>
            <p:cNvSpPr>
              <a:spLocks noChangeShapeType="1"/>
            </p:cNvSpPr>
            <p:nvPr/>
          </p:nvSpPr>
          <p:spPr bwMode="auto">
            <a:xfrm flipV="1">
              <a:off x="5891213" y="3736975"/>
              <a:ext cx="168275" cy="317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59" name="Group 656"/>
            <p:cNvGrpSpPr/>
            <p:nvPr/>
          </p:nvGrpSpPr>
          <p:grpSpPr bwMode="auto">
            <a:xfrm>
              <a:off x="5611813" y="3503613"/>
              <a:ext cx="506412" cy="352425"/>
              <a:chOff x="2967" y="478"/>
              <a:chExt cx="788" cy="625"/>
            </a:xfrm>
          </p:grpSpPr>
          <p:pic>
            <p:nvPicPr>
              <p:cNvPr id="1945" name="Picture 657"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 name="Picture 658" descr="antenna_radiation_stylize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60" name="Freeform 659"/>
            <p:cNvSpPr/>
            <p:nvPr/>
          </p:nvSpPr>
          <p:spPr bwMode="auto">
            <a:xfrm>
              <a:off x="6919913" y="3476625"/>
              <a:ext cx="1470025" cy="765175"/>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1" name="Freeform 660"/>
            <p:cNvSpPr/>
            <p:nvPr/>
          </p:nvSpPr>
          <p:spPr bwMode="auto">
            <a:xfrm>
              <a:off x="6883400" y="2128838"/>
              <a:ext cx="1730375"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2" name="Line 661"/>
            <p:cNvSpPr>
              <a:spLocks noChangeShapeType="1"/>
            </p:cNvSpPr>
            <p:nvPr/>
          </p:nvSpPr>
          <p:spPr bwMode="auto">
            <a:xfrm>
              <a:off x="7396163" y="3816350"/>
              <a:ext cx="163512" cy="1206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3" name="Line 662"/>
            <p:cNvSpPr>
              <a:spLocks noChangeShapeType="1"/>
            </p:cNvSpPr>
            <p:nvPr/>
          </p:nvSpPr>
          <p:spPr bwMode="auto">
            <a:xfrm>
              <a:off x="7493000" y="3736975"/>
              <a:ext cx="2794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4" name="Line 663"/>
            <p:cNvSpPr>
              <a:spLocks noChangeShapeType="1"/>
            </p:cNvSpPr>
            <p:nvPr/>
          </p:nvSpPr>
          <p:spPr bwMode="auto">
            <a:xfrm flipV="1">
              <a:off x="7729538" y="3822700"/>
              <a:ext cx="134937" cy="1047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5" name="Line 664"/>
            <p:cNvSpPr>
              <a:spLocks noChangeShapeType="1"/>
            </p:cNvSpPr>
            <p:nvPr/>
          </p:nvSpPr>
          <p:spPr bwMode="auto">
            <a:xfrm>
              <a:off x="6723063" y="2590800"/>
              <a:ext cx="509587" cy="31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6" name="Line 665"/>
            <p:cNvSpPr>
              <a:spLocks noChangeShapeType="1"/>
            </p:cNvSpPr>
            <p:nvPr/>
          </p:nvSpPr>
          <p:spPr bwMode="auto">
            <a:xfrm>
              <a:off x="7358063" y="4700588"/>
              <a:ext cx="390525" cy="1841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7" name="Line 666"/>
            <p:cNvSpPr>
              <a:spLocks noChangeShapeType="1"/>
            </p:cNvSpPr>
            <p:nvPr/>
          </p:nvSpPr>
          <p:spPr bwMode="auto">
            <a:xfrm flipV="1">
              <a:off x="6737350" y="4687888"/>
              <a:ext cx="322263" cy="19843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8" name="Line 667"/>
            <p:cNvSpPr>
              <a:spLocks noChangeShapeType="1"/>
            </p:cNvSpPr>
            <p:nvPr/>
          </p:nvSpPr>
          <p:spPr bwMode="auto">
            <a:xfrm flipV="1">
              <a:off x="6780213" y="4979988"/>
              <a:ext cx="97155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9" name="Line 668"/>
            <p:cNvSpPr>
              <a:spLocks noChangeShapeType="1"/>
            </p:cNvSpPr>
            <p:nvPr/>
          </p:nvSpPr>
          <p:spPr bwMode="auto">
            <a:xfrm flipV="1">
              <a:off x="7577138" y="2495550"/>
              <a:ext cx="123825" cy="87313"/>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0" name="Line 669"/>
            <p:cNvSpPr>
              <a:spLocks noChangeShapeType="1"/>
            </p:cNvSpPr>
            <p:nvPr/>
          </p:nvSpPr>
          <p:spPr bwMode="auto">
            <a:xfrm>
              <a:off x="7405688" y="2668588"/>
              <a:ext cx="0" cy="825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1" name="Line 670"/>
            <p:cNvSpPr>
              <a:spLocks noChangeShapeType="1"/>
            </p:cNvSpPr>
            <p:nvPr/>
          </p:nvSpPr>
          <p:spPr bwMode="auto">
            <a:xfrm flipV="1">
              <a:off x="7580313" y="2562225"/>
              <a:ext cx="263525" cy="28892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2" name="Line 671"/>
            <p:cNvSpPr>
              <a:spLocks noChangeShapeType="1"/>
            </p:cNvSpPr>
            <p:nvPr/>
          </p:nvSpPr>
          <p:spPr bwMode="auto">
            <a:xfrm>
              <a:off x="7942263" y="2563813"/>
              <a:ext cx="0" cy="1968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 name="Line 672"/>
            <p:cNvSpPr>
              <a:spLocks noChangeShapeType="1"/>
            </p:cNvSpPr>
            <p:nvPr/>
          </p:nvSpPr>
          <p:spPr bwMode="auto">
            <a:xfrm>
              <a:off x="7596188" y="2870200"/>
              <a:ext cx="188912"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 name="Line 673"/>
            <p:cNvSpPr>
              <a:spLocks noChangeShapeType="1"/>
            </p:cNvSpPr>
            <p:nvPr/>
          </p:nvSpPr>
          <p:spPr bwMode="auto">
            <a:xfrm>
              <a:off x="8150225" y="2860675"/>
              <a:ext cx="1778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 name="Line 674"/>
            <p:cNvSpPr>
              <a:spLocks noChangeShapeType="1"/>
            </p:cNvSpPr>
            <p:nvPr/>
          </p:nvSpPr>
          <p:spPr bwMode="auto">
            <a:xfrm flipH="1">
              <a:off x="7299325" y="2936875"/>
              <a:ext cx="98425" cy="7048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6" name="Line 675"/>
            <p:cNvSpPr>
              <a:spLocks noChangeShapeType="1"/>
            </p:cNvSpPr>
            <p:nvPr/>
          </p:nvSpPr>
          <p:spPr bwMode="auto">
            <a:xfrm flipH="1">
              <a:off x="7888288" y="2936875"/>
              <a:ext cx="111125" cy="7270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7" name="Line 676"/>
            <p:cNvSpPr>
              <a:spLocks noChangeShapeType="1"/>
            </p:cNvSpPr>
            <p:nvPr/>
          </p:nvSpPr>
          <p:spPr bwMode="auto">
            <a:xfrm flipV="1">
              <a:off x="7272338" y="4078288"/>
              <a:ext cx="227012" cy="43656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8" name="Line 677"/>
            <p:cNvSpPr>
              <a:spLocks noChangeShapeType="1"/>
            </p:cNvSpPr>
            <p:nvPr/>
          </p:nvSpPr>
          <p:spPr bwMode="auto">
            <a:xfrm>
              <a:off x="8345488" y="2859088"/>
              <a:ext cx="177800" cy="0"/>
            </a:xfrm>
            <a:prstGeom prst="line">
              <a:avLst/>
            </a:prstGeom>
            <a:noFill/>
            <a:ln w="9525">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1479" name="Group 678"/>
            <p:cNvGrpSpPr/>
            <p:nvPr/>
          </p:nvGrpSpPr>
          <p:grpSpPr bwMode="auto">
            <a:xfrm>
              <a:off x="6053138" y="1846263"/>
              <a:ext cx="468312" cy="620712"/>
              <a:chOff x="1653" y="3023"/>
              <a:chExt cx="622" cy="911"/>
            </a:xfrm>
          </p:grpSpPr>
          <p:sp>
            <p:nvSpPr>
              <p:cNvPr id="1928" name="Line 270"/>
              <p:cNvSpPr>
                <a:spLocks noChangeShapeType="1"/>
              </p:cNvSpPr>
              <p:nvPr/>
            </p:nvSpPr>
            <p:spPr bwMode="auto">
              <a:xfrm flipH="1">
                <a:off x="1766" y="3287"/>
                <a:ext cx="188" cy="586"/>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29" name="Line 271"/>
              <p:cNvSpPr>
                <a:spLocks noChangeShapeType="1"/>
              </p:cNvSpPr>
              <p:nvPr/>
            </p:nvSpPr>
            <p:spPr bwMode="auto">
              <a:xfrm>
                <a:off x="1954" y="3287"/>
                <a:ext cx="188" cy="583"/>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0" name="Line 272"/>
              <p:cNvSpPr>
                <a:spLocks noChangeShapeType="1"/>
              </p:cNvSpPr>
              <p:nvPr/>
            </p:nvSpPr>
            <p:spPr bwMode="auto">
              <a:xfrm>
                <a:off x="1766" y="3870"/>
                <a:ext cx="188" cy="6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1" name="Line 273"/>
              <p:cNvSpPr>
                <a:spLocks noChangeShapeType="1"/>
              </p:cNvSpPr>
              <p:nvPr/>
            </p:nvSpPr>
            <p:spPr bwMode="auto">
              <a:xfrm flipH="1">
                <a:off x="1954" y="3870"/>
                <a:ext cx="188" cy="6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2" name="Line 274"/>
              <p:cNvSpPr>
                <a:spLocks noChangeShapeType="1"/>
              </p:cNvSpPr>
              <p:nvPr/>
            </p:nvSpPr>
            <p:spPr bwMode="auto">
              <a:xfrm>
                <a:off x="1954" y="3300"/>
                <a:ext cx="0" cy="63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3" name="Line 275"/>
              <p:cNvSpPr>
                <a:spLocks noChangeShapeType="1"/>
              </p:cNvSpPr>
              <p:nvPr/>
            </p:nvSpPr>
            <p:spPr bwMode="auto">
              <a:xfrm flipV="1">
                <a:off x="1766" y="3810"/>
                <a:ext cx="188" cy="63"/>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4" name="Line 276"/>
              <p:cNvSpPr>
                <a:spLocks noChangeShapeType="1"/>
              </p:cNvSpPr>
              <p:nvPr/>
            </p:nvSpPr>
            <p:spPr bwMode="auto">
              <a:xfrm flipH="1" flipV="1">
                <a:off x="1954" y="3810"/>
                <a:ext cx="188" cy="60"/>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5" name="Line 277"/>
              <p:cNvSpPr>
                <a:spLocks noChangeShapeType="1"/>
              </p:cNvSpPr>
              <p:nvPr/>
            </p:nvSpPr>
            <p:spPr bwMode="auto">
              <a:xfrm>
                <a:off x="1846" y="3618"/>
                <a:ext cx="108" cy="48"/>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6" name="Line 278"/>
              <p:cNvSpPr>
                <a:spLocks noChangeShapeType="1"/>
              </p:cNvSpPr>
              <p:nvPr/>
            </p:nvSpPr>
            <p:spPr bwMode="auto">
              <a:xfrm flipV="1">
                <a:off x="1954" y="3618"/>
                <a:ext cx="114" cy="48"/>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7" name="Line 279"/>
              <p:cNvSpPr>
                <a:spLocks noChangeShapeType="1"/>
              </p:cNvSpPr>
              <p:nvPr/>
            </p:nvSpPr>
            <p:spPr bwMode="auto">
              <a:xfrm>
                <a:off x="1810" y="3704"/>
                <a:ext cx="139" cy="65"/>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8" name="Line 280"/>
              <p:cNvSpPr>
                <a:spLocks noChangeShapeType="1"/>
              </p:cNvSpPr>
              <p:nvPr/>
            </p:nvSpPr>
            <p:spPr bwMode="auto">
              <a:xfrm flipV="1">
                <a:off x="1954" y="3717"/>
                <a:ext cx="140" cy="57"/>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9" name="Line 281"/>
              <p:cNvSpPr>
                <a:spLocks noChangeShapeType="1"/>
              </p:cNvSpPr>
              <p:nvPr/>
            </p:nvSpPr>
            <p:spPr bwMode="auto">
              <a:xfrm flipV="1">
                <a:off x="1954" y="3530"/>
                <a:ext cx="72" cy="2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0" name="Line 282"/>
              <p:cNvSpPr>
                <a:spLocks noChangeShapeType="1"/>
              </p:cNvSpPr>
              <p:nvPr/>
            </p:nvSpPr>
            <p:spPr bwMode="auto">
              <a:xfrm flipV="1">
                <a:off x="1954" y="3409"/>
                <a:ext cx="45" cy="18"/>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1" name="Line 283"/>
              <p:cNvSpPr>
                <a:spLocks noChangeShapeType="1"/>
              </p:cNvSpPr>
              <p:nvPr/>
            </p:nvSpPr>
            <p:spPr bwMode="auto">
              <a:xfrm>
                <a:off x="1873" y="3522"/>
                <a:ext cx="87" cy="32"/>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2" name="Line 284"/>
              <p:cNvSpPr>
                <a:spLocks noChangeShapeType="1"/>
              </p:cNvSpPr>
              <p:nvPr/>
            </p:nvSpPr>
            <p:spPr bwMode="auto">
              <a:xfrm>
                <a:off x="1912" y="3404"/>
                <a:ext cx="50" cy="31"/>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3" name="Oval 694"/>
              <p:cNvSpPr>
                <a:spLocks noChangeArrowheads="1"/>
              </p:cNvSpPr>
              <p:nvPr/>
            </p:nvSpPr>
            <p:spPr bwMode="auto">
              <a:xfrm>
                <a:off x="1921" y="3233"/>
                <a:ext cx="63" cy="68"/>
              </a:xfrm>
              <a:prstGeom prst="ellipse">
                <a:avLst/>
              </a:prstGeom>
              <a:solidFill>
                <a:srgbClr val="808080"/>
              </a:solidFill>
              <a:ln w="9525">
                <a:solidFill>
                  <a:srgbClr val="80808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pic>
            <p:nvPicPr>
              <p:cNvPr id="1944" name="Picture 695" descr="cell_tower_radiation_gray"/>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53" y="3023"/>
                <a:ext cx="622"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80" name="Group 706"/>
            <p:cNvGrpSpPr/>
            <p:nvPr/>
          </p:nvGrpSpPr>
          <p:grpSpPr bwMode="auto">
            <a:xfrm>
              <a:off x="7202488" y="2493963"/>
              <a:ext cx="390525" cy="174625"/>
              <a:chOff x="4334" y="1470"/>
              <a:chExt cx="246" cy="107"/>
            </a:xfrm>
          </p:grpSpPr>
          <p:sp>
            <p:nvSpPr>
              <p:cNvPr id="192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92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92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923" name="Group 710"/>
              <p:cNvGrpSpPr/>
              <p:nvPr/>
            </p:nvGrpSpPr>
            <p:grpSpPr bwMode="auto">
              <a:xfrm>
                <a:off x="4383" y="1488"/>
                <a:ext cx="138" cy="33"/>
                <a:chOff x="2468" y="1332"/>
                <a:chExt cx="310" cy="60"/>
              </a:xfrm>
            </p:grpSpPr>
            <p:sp>
              <p:nvSpPr>
                <p:cNvPr id="1926" name="Freeform 71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27" name="Freeform 71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24" name="Line 713"/>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25" name="Line 714"/>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1" name="Group 715"/>
            <p:cNvGrpSpPr/>
            <p:nvPr/>
          </p:nvGrpSpPr>
          <p:grpSpPr bwMode="auto">
            <a:xfrm>
              <a:off x="7213600" y="2757488"/>
              <a:ext cx="390525" cy="174625"/>
              <a:chOff x="4334" y="1470"/>
              <a:chExt cx="246" cy="107"/>
            </a:xfrm>
          </p:grpSpPr>
          <p:sp>
            <p:nvSpPr>
              <p:cNvPr id="1912"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913"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914"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915" name="Group 719"/>
              <p:cNvGrpSpPr/>
              <p:nvPr/>
            </p:nvGrpSpPr>
            <p:grpSpPr bwMode="auto">
              <a:xfrm>
                <a:off x="4383" y="1488"/>
                <a:ext cx="138" cy="33"/>
                <a:chOff x="2468" y="1332"/>
                <a:chExt cx="310" cy="60"/>
              </a:xfrm>
            </p:grpSpPr>
            <p:sp>
              <p:nvSpPr>
                <p:cNvPr id="1918" name="Freeform 72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19" name="Freeform 72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16" name="Line 722"/>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17" name="Line 723"/>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 name="Group 724"/>
            <p:cNvGrpSpPr/>
            <p:nvPr/>
          </p:nvGrpSpPr>
          <p:grpSpPr bwMode="auto">
            <a:xfrm>
              <a:off x="7762875" y="2759075"/>
              <a:ext cx="390525" cy="174625"/>
              <a:chOff x="4334" y="1470"/>
              <a:chExt cx="246" cy="107"/>
            </a:xfrm>
          </p:grpSpPr>
          <p:sp>
            <p:nvSpPr>
              <p:cNvPr id="190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90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90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907" name="Group 728"/>
              <p:cNvGrpSpPr/>
              <p:nvPr/>
            </p:nvGrpSpPr>
            <p:grpSpPr bwMode="auto">
              <a:xfrm>
                <a:off x="4383" y="1488"/>
                <a:ext cx="138" cy="33"/>
                <a:chOff x="2468" y="1332"/>
                <a:chExt cx="310" cy="60"/>
              </a:xfrm>
            </p:grpSpPr>
            <p:sp>
              <p:nvSpPr>
                <p:cNvPr id="1910" name="Freeform 729"/>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11" name="Freeform 730"/>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08" name="Line 731"/>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9" name="Line 732"/>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 name="Group 733"/>
            <p:cNvGrpSpPr/>
            <p:nvPr/>
          </p:nvGrpSpPr>
          <p:grpSpPr bwMode="auto">
            <a:xfrm>
              <a:off x="7689850" y="2393950"/>
              <a:ext cx="390525" cy="174625"/>
              <a:chOff x="4334" y="1470"/>
              <a:chExt cx="246" cy="107"/>
            </a:xfrm>
          </p:grpSpPr>
          <p:sp>
            <p:nvSpPr>
              <p:cNvPr id="1896"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897"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898"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899" name="Group 737"/>
              <p:cNvGrpSpPr/>
              <p:nvPr/>
            </p:nvGrpSpPr>
            <p:grpSpPr bwMode="auto">
              <a:xfrm>
                <a:off x="4383" y="1488"/>
                <a:ext cx="138" cy="33"/>
                <a:chOff x="2468" y="1332"/>
                <a:chExt cx="310" cy="60"/>
              </a:xfrm>
            </p:grpSpPr>
            <p:sp>
              <p:nvSpPr>
                <p:cNvPr id="1902" name="Freeform 73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03" name="Freeform 73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00" name="Line 740"/>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1" name="Line 741"/>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4" name="Line 751"/>
            <p:cNvSpPr>
              <a:spLocks noChangeShapeType="1"/>
            </p:cNvSpPr>
            <p:nvPr/>
          </p:nvSpPr>
          <p:spPr bwMode="auto">
            <a:xfrm>
              <a:off x="6427788" y="3743325"/>
              <a:ext cx="67945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85" name="Group 797"/>
            <p:cNvGrpSpPr/>
            <p:nvPr/>
          </p:nvGrpSpPr>
          <p:grpSpPr bwMode="auto">
            <a:xfrm>
              <a:off x="7161213" y="5005388"/>
              <a:ext cx="446087" cy="422275"/>
              <a:chOff x="5072" y="3611"/>
              <a:chExt cx="459" cy="380"/>
            </a:xfrm>
          </p:grpSpPr>
          <p:grpSp>
            <p:nvGrpSpPr>
              <p:cNvPr id="1882" name="Group 798"/>
              <p:cNvGrpSpPr/>
              <p:nvPr/>
            </p:nvGrpSpPr>
            <p:grpSpPr bwMode="auto">
              <a:xfrm>
                <a:off x="5144" y="3611"/>
                <a:ext cx="387" cy="99"/>
                <a:chOff x="5030" y="2639"/>
                <a:chExt cx="387" cy="99"/>
              </a:xfrm>
            </p:grpSpPr>
            <p:sp>
              <p:nvSpPr>
                <p:cNvPr id="1884" name="Freeform 799"/>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5" name="Freeform 800"/>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6" name="Freeform 801"/>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7" name="Freeform 802"/>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8" name="Freeform 803"/>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9" name="Freeform 804"/>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90" name="Freeform 805"/>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zh-CN" altLang="en-US"/>
                </a:p>
              </p:txBody>
            </p:sp>
            <p:sp>
              <p:nvSpPr>
                <p:cNvPr id="1891" name="Freeform 806"/>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zh-CN" altLang="en-US"/>
                </a:p>
              </p:txBody>
            </p:sp>
            <p:sp>
              <p:nvSpPr>
                <p:cNvPr id="1892" name="Freeform 807"/>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zh-CN" altLang="en-US"/>
                </a:p>
              </p:txBody>
            </p:sp>
            <p:sp>
              <p:nvSpPr>
                <p:cNvPr id="1893" name="Freeform 808"/>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zh-CN" altLang="en-US"/>
                </a:p>
              </p:txBody>
            </p:sp>
            <p:sp>
              <p:nvSpPr>
                <p:cNvPr id="1894" name="Freeform 809"/>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zh-CN" altLang="en-US"/>
                </a:p>
              </p:txBody>
            </p:sp>
            <p:sp>
              <p:nvSpPr>
                <p:cNvPr id="1895" name="Freeform 810"/>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zh-CN" altLang="en-US"/>
                </a:p>
              </p:txBody>
            </p:sp>
          </p:grpSp>
          <p:pic>
            <p:nvPicPr>
              <p:cNvPr id="1883" name="Picture 811" descr="access_point_stylized_gray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86" name="Group 812"/>
            <p:cNvGrpSpPr/>
            <p:nvPr/>
          </p:nvGrpSpPr>
          <p:grpSpPr bwMode="auto">
            <a:xfrm>
              <a:off x="5638800" y="3509963"/>
              <a:ext cx="398463" cy="358775"/>
              <a:chOff x="5072" y="3611"/>
              <a:chExt cx="459" cy="380"/>
            </a:xfrm>
          </p:grpSpPr>
          <p:grpSp>
            <p:nvGrpSpPr>
              <p:cNvPr id="1868" name="Group 813"/>
              <p:cNvGrpSpPr/>
              <p:nvPr/>
            </p:nvGrpSpPr>
            <p:grpSpPr bwMode="auto">
              <a:xfrm>
                <a:off x="5144" y="3611"/>
                <a:ext cx="387" cy="99"/>
                <a:chOff x="5030" y="2639"/>
                <a:chExt cx="387" cy="99"/>
              </a:xfrm>
            </p:grpSpPr>
            <p:sp>
              <p:nvSpPr>
                <p:cNvPr id="1870" name="Freeform 814"/>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1" name="Freeform 815"/>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2" name="Freeform 816"/>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3" name="Freeform 817"/>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4" name="Freeform 818"/>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5" name="Freeform 819"/>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6" name="Freeform 820"/>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zh-CN" altLang="en-US"/>
                </a:p>
              </p:txBody>
            </p:sp>
            <p:sp>
              <p:nvSpPr>
                <p:cNvPr id="1877" name="Freeform 821"/>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zh-CN" altLang="en-US"/>
                </a:p>
              </p:txBody>
            </p:sp>
            <p:sp>
              <p:nvSpPr>
                <p:cNvPr id="1878" name="Freeform 822"/>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zh-CN" altLang="en-US"/>
                </a:p>
              </p:txBody>
            </p:sp>
            <p:sp>
              <p:nvSpPr>
                <p:cNvPr id="1879" name="Freeform 823"/>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zh-CN" altLang="en-US"/>
                </a:p>
              </p:txBody>
            </p:sp>
            <p:sp>
              <p:nvSpPr>
                <p:cNvPr id="1880" name="Freeform 824"/>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zh-CN" altLang="en-US"/>
                </a:p>
              </p:txBody>
            </p:sp>
            <p:sp>
              <p:nvSpPr>
                <p:cNvPr id="1881" name="Freeform 825"/>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zh-CN" altLang="en-US"/>
                </a:p>
              </p:txBody>
            </p:sp>
          </p:grpSp>
          <p:pic>
            <p:nvPicPr>
              <p:cNvPr id="1869" name="Picture 826" descr="access_point_stylized_gray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87" name="Line 827"/>
            <p:cNvSpPr>
              <a:spLocks noChangeShapeType="1"/>
            </p:cNvSpPr>
            <p:nvPr/>
          </p:nvSpPr>
          <p:spPr bwMode="auto">
            <a:xfrm rot="5400000" flipV="1">
              <a:off x="7991475" y="5440363"/>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8" name="Group 828"/>
            <p:cNvGrpSpPr/>
            <p:nvPr/>
          </p:nvGrpSpPr>
          <p:grpSpPr bwMode="auto">
            <a:xfrm>
              <a:off x="5254625" y="2038350"/>
              <a:ext cx="504825" cy="401638"/>
              <a:chOff x="2896" y="396"/>
              <a:chExt cx="1848" cy="1887"/>
            </a:xfrm>
          </p:grpSpPr>
          <p:pic>
            <p:nvPicPr>
              <p:cNvPr id="1845" name="Picture 829"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6" name="Freeform 830"/>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847" name="Picture 831"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8" name="Freeform 832"/>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9" name="Freeform 833"/>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0" name="Freeform 834"/>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1" name="Freeform 835"/>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2" name="Freeform 836"/>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3" name="Freeform 837"/>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4" name="Freeform 838"/>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5" name="Freeform 839"/>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6" name="Freeform 840"/>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7" name="Freeform 841"/>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8" name="Freeform 842"/>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9" name="Freeform 843"/>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0" name="Freeform 844"/>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1" name="Freeform 845"/>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862" name="Freeform 846"/>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3" name="Freeform 847"/>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4" name="Freeform 848"/>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5" name="Freeform 849"/>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6" name="Freeform 850"/>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867" name="Picture 851"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89" name="Group 852"/>
            <p:cNvGrpSpPr/>
            <p:nvPr/>
          </p:nvGrpSpPr>
          <p:grpSpPr bwMode="auto">
            <a:xfrm>
              <a:off x="5537200" y="3054350"/>
              <a:ext cx="504825" cy="401638"/>
              <a:chOff x="2896" y="396"/>
              <a:chExt cx="1848" cy="1887"/>
            </a:xfrm>
          </p:grpSpPr>
          <p:pic>
            <p:nvPicPr>
              <p:cNvPr id="1822" name="Picture 853"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 name="Freeform 854"/>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824" name="Picture 855"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5" name="Freeform 856"/>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6" name="Freeform 857"/>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7" name="Freeform 858"/>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8" name="Freeform 859"/>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9" name="Freeform 860"/>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0" name="Freeform 861"/>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1" name="Freeform 862"/>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2" name="Freeform 863"/>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3" name="Freeform 864"/>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4" name="Freeform 865"/>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5" name="Freeform 866"/>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6" name="Freeform 867"/>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7" name="Freeform 868"/>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8" name="Freeform 869"/>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839" name="Freeform 870"/>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0" name="Freeform 871"/>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1" name="Freeform 872"/>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2" name="Freeform 873"/>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3" name="Freeform 874"/>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844" name="Picture 875"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0" name="Group 876"/>
            <p:cNvGrpSpPr/>
            <p:nvPr/>
          </p:nvGrpSpPr>
          <p:grpSpPr bwMode="auto">
            <a:xfrm>
              <a:off x="6959600" y="5495925"/>
              <a:ext cx="504825" cy="401638"/>
              <a:chOff x="2896" y="396"/>
              <a:chExt cx="1848" cy="1887"/>
            </a:xfrm>
          </p:grpSpPr>
          <p:pic>
            <p:nvPicPr>
              <p:cNvPr id="1799" name="Picture 877"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0" name="Freeform 878"/>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801" name="Picture 879"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 name="Freeform 880"/>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3" name="Freeform 881"/>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4" name="Freeform 882"/>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5" name="Freeform 883"/>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6" name="Freeform 884"/>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7" name="Freeform 885"/>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8" name="Freeform 886"/>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9" name="Freeform 887"/>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0" name="Freeform 888"/>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1" name="Freeform 889"/>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2" name="Freeform 890"/>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3" name="Freeform 891"/>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4" name="Freeform 892"/>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5" name="Freeform 893"/>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816" name="Freeform 894"/>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7" name="Freeform 895"/>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8" name="Freeform 896"/>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9" name="Freeform 897"/>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0" name="Freeform 898"/>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821" name="Picture 899"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1" name="Group 900"/>
            <p:cNvGrpSpPr/>
            <p:nvPr/>
          </p:nvGrpSpPr>
          <p:grpSpPr bwMode="auto">
            <a:xfrm>
              <a:off x="7378700" y="5524500"/>
              <a:ext cx="504825" cy="401638"/>
              <a:chOff x="2896" y="396"/>
              <a:chExt cx="1848" cy="1887"/>
            </a:xfrm>
          </p:grpSpPr>
          <p:pic>
            <p:nvPicPr>
              <p:cNvPr id="1776" name="Picture 901"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7" name="Freeform 902"/>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778" name="Picture 903"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9" name="Freeform 904"/>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0" name="Freeform 905"/>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1" name="Freeform 906"/>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2" name="Freeform 907"/>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3" name="Freeform 908"/>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4" name="Freeform 909"/>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5" name="Freeform 910"/>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6" name="Freeform 911"/>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7" name="Freeform 912"/>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8" name="Freeform 913"/>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9" name="Freeform 914"/>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0" name="Freeform 915"/>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1" name="Freeform 916"/>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2" name="Freeform 917"/>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793" name="Freeform 918"/>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4" name="Freeform 919"/>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5" name="Freeform 920"/>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6" name="Freeform 921"/>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7" name="Freeform 922"/>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798" name="Picture 923"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2" name="Group 924"/>
            <p:cNvGrpSpPr/>
            <p:nvPr/>
          </p:nvGrpSpPr>
          <p:grpSpPr bwMode="auto">
            <a:xfrm>
              <a:off x="5349875" y="1590675"/>
              <a:ext cx="617538" cy="387350"/>
              <a:chOff x="2920" y="972"/>
              <a:chExt cx="389" cy="244"/>
            </a:xfrm>
          </p:grpSpPr>
          <p:grpSp>
            <p:nvGrpSpPr>
              <p:cNvPr id="1764" name="Group 925"/>
              <p:cNvGrpSpPr/>
              <p:nvPr/>
            </p:nvGrpSpPr>
            <p:grpSpPr bwMode="auto">
              <a:xfrm>
                <a:off x="3085" y="1027"/>
                <a:ext cx="102" cy="189"/>
                <a:chOff x="3436" y="1504"/>
                <a:chExt cx="393" cy="942"/>
              </a:xfrm>
            </p:grpSpPr>
            <p:pic>
              <p:nvPicPr>
                <p:cNvPr id="1766" name="Picture 926" descr="iphone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6" y="1504"/>
                  <a:ext cx="393" cy="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7" name="Freeform 927"/>
                <p:cNvSpPr/>
                <p:nvPr/>
              </p:nvSpPr>
              <p:spPr bwMode="auto">
                <a:xfrm>
                  <a:off x="3484" y="1523"/>
                  <a:ext cx="339" cy="906"/>
                </a:xfrm>
                <a:custGeom>
                  <a:avLst/>
                  <a:gdLst>
                    <a:gd name="T0" fmla="*/ 6 w 339"/>
                    <a:gd name="T1" fmla="*/ 31 h 906"/>
                    <a:gd name="T2" fmla="*/ 38 w 339"/>
                    <a:gd name="T3" fmla="*/ 0 h 906"/>
                    <a:gd name="T4" fmla="*/ 323 w 339"/>
                    <a:gd name="T5" fmla="*/ 45 h 906"/>
                    <a:gd name="T6" fmla="*/ 338 w 339"/>
                    <a:gd name="T7" fmla="*/ 85 h 906"/>
                    <a:gd name="T8" fmla="*/ 339 w 339"/>
                    <a:gd name="T9" fmla="*/ 813 h 906"/>
                    <a:gd name="T10" fmla="*/ 312 w 339"/>
                    <a:gd name="T11" fmla="*/ 865 h 906"/>
                    <a:gd name="T12" fmla="*/ 29 w 339"/>
                    <a:gd name="T13" fmla="*/ 906 h 906"/>
                    <a:gd name="T14" fmla="*/ 0 w 339"/>
                    <a:gd name="T15" fmla="*/ 876 h 906"/>
                    <a:gd name="T16" fmla="*/ 6 w 339"/>
                    <a:gd name="T17" fmla="*/ 31 h 9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9"/>
                    <a:gd name="T28" fmla="*/ 0 h 906"/>
                    <a:gd name="T29" fmla="*/ 339 w 339"/>
                    <a:gd name="T30" fmla="*/ 906 h 9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9" h="906">
                      <a:moveTo>
                        <a:pt x="6" y="31"/>
                      </a:moveTo>
                      <a:lnTo>
                        <a:pt x="38" y="0"/>
                      </a:lnTo>
                      <a:lnTo>
                        <a:pt x="323" y="45"/>
                      </a:lnTo>
                      <a:lnTo>
                        <a:pt x="338" y="85"/>
                      </a:lnTo>
                      <a:lnTo>
                        <a:pt x="339" y="813"/>
                      </a:lnTo>
                      <a:lnTo>
                        <a:pt x="312" y="865"/>
                      </a:lnTo>
                      <a:lnTo>
                        <a:pt x="29" y="906"/>
                      </a:lnTo>
                      <a:lnTo>
                        <a:pt x="0" y="876"/>
                      </a:lnTo>
                      <a:lnTo>
                        <a:pt x="6" y="31"/>
                      </a:lnTo>
                      <a:close/>
                    </a:path>
                  </a:pathLst>
                </a:custGeom>
                <a:gradFill rotWithShape="1">
                  <a:gsLst>
                    <a:gs pos="0">
                      <a:srgbClr val="DDDDDD">
                        <a:alpha val="82001"/>
                      </a:srgbClr>
                    </a:gs>
                    <a:gs pos="100000">
                      <a:srgbClr val="666666">
                        <a:alpha val="82001"/>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68" name="Group 928"/>
                <p:cNvGrpSpPr/>
                <p:nvPr/>
              </p:nvGrpSpPr>
              <p:grpSpPr bwMode="auto">
                <a:xfrm>
                  <a:off x="3511" y="1689"/>
                  <a:ext cx="289" cy="576"/>
                  <a:chOff x="3511" y="1689"/>
                  <a:chExt cx="289" cy="576"/>
                </a:xfrm>
              </p:grpSpPr>
              <p:sp>
                <p:nvSpPr>
                  <p:cNvPr id="1769" name="Freeform 929"/>
                  <p:cNvSpPr/>
                  <p:nvPr/>
                </p:nvSpPr>
                <p:spPr bwMode="auto">
                  <a:xfrm>
                    <a:off x="3519" y="2175"/>
                    <a:ext cx="66" cy="90"/>
                  </a:xfrm>
                  <a:custGeom>
                    <a:avLst/>
                    <a:gdLst>
                      <a:gd name="T0" fmla="*/ 0 w 66"/>
                      <a:gd name="T1" fmla="*/ 5 h 90"/>
                      <a:gd name="T2" fmla="*/ 66 w 66"/>
                      <a:gd name="T3" fmla="*/ 0 h 90"/>
                      <a:gd name="T4" fmla="*/ 65 w 66"/>
                      <a:gd name="T5" fmla="*/ 80 h 90"/>
                      <a:gd name="T6" fmla="*/ 2 w 66"/>
                      <a:gd name="T7" fmla="*/ 90 h 90"/>
                      <a:gd name="T8" fmla="*/ 0 w 66"/>
                      <a:gd name="T9" fmla="*/ 5 h 90"/>
                      <a:gd name="T10" fmla="*/ 0 60000 65536"/>
                      <a:gd name="T11" fmla="*/ 0 60000 65536"/>
                      <a:gd name="T12" fmla="*/ 0 60000 65536"/>
                      <a:gd name="T13" fmla="*/ 0 60000 65536"/>
                      <a:gd name="T14" fmla="*/ 0 60000 65536"/>
                      <a:gd name="T15" fmla="*/ 0 w 66"/>
                      <a:gd name="T16" fmla="*/ 0 h 90"/>
                      <a:gd name="T17" fmla="*/ 66 w 66"/>
                      <a:gd name="T18" fmla="*/ 90 h 90"/>
                    </a:gdLst>
                    <a:ahLst/>
                    <a:cxnLst>
                      <a:cxn ang="T10">
                        <a:pos x="T0" y="T1"/>
                      </a:cxn>
                      <a:cxn ang="T11">
                        <a:pos x="T2" y="T3"/>
                      </a:cxn>
                      <a:cxn ang="T12">
                        <a:pos x="T4" y="T5"/>
                      </a:cxn>
                      <a:cxn ang="T13">
                        <a:pos x="T6" y="T7"/>
                      </a:cxn>
                      <a:cxn ang="T14">
                        <a:pos x="T8" y="T9"/>
                      </a:cxn>
                    </a:cxnLst>
                    <a:rect l="T15" t="T16" r="T17" b="T18"/>
                    <a:pathLst>
                      <a:path w="66" h="90">
                        <a:moveTo>
                          <a:pt x="0" y="5"/>
                        </a:moveTo>
                        <a:lnTo>
                          <a:pt x="66" y="0"/>
                        </a:lnTo>
                        <a:lnTo>
                          <a:pt x="65" y="80"/>
                        </a:lnTo>
                        <a:lnTo>
                          <a:pt x="2" y="90"/>
                        </a:lnTo>
                        <a:lnTo>
                          <a:pt x="0" y="5"/>
                        </a:lnTo>
                        <a:close/>
                      </a:path>
                    </a:pathLst>
                  </a:custGeom>
                  <a:solidFill>
                    <a:srgbClr val="B2B2B2"/>
                  </a:solidFill>
                  <a:ln w="9525">
                    <a:solidFill>
                      <a:schemeClr val="bg2"/>
                    </a:solidFill>
                    <a:round/>
                  </a:ln>
                </p:spPr>
                <p:txBody>
                  <a:bodyPr/>
                  <a:lstStyle/>
                  <a:p>
                    <a:endParaRPr lang="zh-CN" altLang="en-US"/>
                  </a:p>
                </p:txBody>
              </p:sp>
              <p:sp>
                <p:nvSpPr>
                  <p:cNvPr id="1770" name="Freeform 930"/>
                  <p:cNvSpPr/>
                  <p:nvPr/>
                </p:nvSpPr>
                <p:spPr bwMode="auto">
                  <a:xfrm>
                    <a:off x="3593" y="2166"/>
                    <a:ext cx="69" cy="89"/>
                  </a:xfrm>
                  <a:custGeom>
                    <a:avLst/>
                    <a:gdLst>
                      <a:gd name="T0" fmla="*/ 3 w 69"/>
                      <a:gd name="T1" fmla="*/ 8 h 89"/>
                      <a:gd name="T2" fmla="*/ 66 w 69"/>
                      <a:gd name="T3" fmla="*/ 0 h 89"/>
                      <a:gd name="T4" fmla="*/ 69 w 69"/>
                      <a:gd name="T5" fmla="*/ 80 h 89"/>
                      <a:gd name="T6" fmla="*/ 0 w 69"/>
                      <a:gd name="T7" fmla="*/ 89 h 89"/>
                      <a:gd name="T8" fmla="*/ 3 w 69"/>
                      <a:gd name="T9" fmla="*/ 8 h 89"/>
                      <a:gd name="T10" fmla="*/ 0 60000 65536"/>
                      <a:gd name="T11" fmla="*/ 0 60000 65536"/>
                      <a:gd name="T12" fmla="*/ 0 60000 65536"/>
                      <a:gd name="T13" fmla="*/ 0 60000 65536"/>
                      <a:gd name="T14" fmla="*/ 0 60000 65536"/>
                      <a:gd name="T15" fmla="*/ 0 w 69"/>
                      <a:gd name="T16" fmla="*/ 0 h 89"/>
                      <a:gd name="T17" fmla="*/ 69 w 69"/>
                      <a:gd name="T18" fmla="*/ 89 h 89"/>
                    </a:gdLst>
                    <a:ahLst/>
                    <a:cxnLst>
                      <a:cxn ang="T10">
                        <a:pos x="T0" y="T1"/>
                      </a:cxn>
                      <a:cxn ang="T11">
                        <a:pos x="T2" y="T3"/>
                      </a:cxn>
                      <a:cxn ang="T12">
                        <a:pos x="T4" y="T5"/>
                      </a:cxn>
                      <a:cxn ang="T13">
                        <a:pos x="T6" y="T7"/>
                      </a:cxn>
                      <a:cxn ang="T14">
                        <a:pos x="T8" y="T9"/>
                      </a:cxn>
                    </a:cxnLst>
                    <a:rect l="T15" t="T16" r="T17" b="T18"/>
                    <a:pathLst>
                      <a:path w="69" h="89">
                        <a:moveTo>
                          <a:pt x="3" y="8"/>
                        </a:moveTo>
                        <a:lnTo>
                          <a:pt x="66" y="0"/>
                        </a:lnTo>
                        <a:lnTo>
                          <a:pt x="69" y="80"/>
                        </a:lnTo>
                        <a:lnTo>
                          <a:pt x="0" y="89"/>
                        </a:lnTo>
                        <a:lnTo>
                          <a:pt x="3" y="8"/>
                        </a:lnTo>
                        <a:close/>
                      </a:path>
                    </a:pathLst>
                  </a:custGeom>
                  <a:solidFill>
                    <a:srgbClr val="B2B2B2"/>
                  </a:solidFill>
                  <a:ln w="9525">
                    <a:solidFill>
                      <a:schemeClr val="bg2"/>
                    </a:solidFill>
                    <a:round/>
                  </a:ln>
                </p:spPr>
                <p:txBody>
                  <a:bodyPr/>
                  <a:lstStyle/>
                  <a:p>
                    <a:endParaRPr lang="zh-CN" altLang="en-US"/>
                  </a:p>
                </p:txBody>
              </p:sp>
              <p:sp>
                <p:nvSpPr>
                  <p:cNvPr id="1771" name="Freeform 931"/>
                  <p:cNvSpPr/>
                  <p:nvPr/>
                </p:nvSpPr>
                <p:spPr bwMode="auto">
                  <a:xfrm>
                    <a:off x="3665" y="2162"/>
                    <a:ext cx="62" cy="82"/>
                  </a:xfrm>
                  <a:custGeom>
                    <a:avLst/>
                    <a:gdLst>
                      <a:gd name="T0" fmla="*/ 0 w 62"/>
                      <a:gd name="T1" fmla="*/ 6 h 82"/>
                      <a:gd name="T2" fmla="*/ 61 w 62"/>
                      <a:gd name="T3" fmla="*/ 0 h 82"/>
                      <a:gd name="T4" fmla="*/ 62 w 62"/>
                      <a:gd name="T5" fmla="*/ 75 h 82"/>
                      <a:gd name="T6" fmla="*/ 3 w 62"/>
                      <a:gd name="T7" fmla="*/ 82 h 82"/>
                      <a:gd name="T8" fmla="*/ 0 w 62"/>
                      <a:gd name="T9" fmla="*/ 6 h 82"/>
                      <a:gd name="T10" fmla="*/ 0 60000 65536"/>
                      <a:gd name="T11" fmla="*/ 0 60000 65536"/>
                      <a:gd name="T12" fmla="*/ 0 60000 65536"/>
                      <a:gd name="T13" fmla="*/ 0 60000 65536"/>
                      <a:gd name="T14" fmla="*/ 0 60000 65536"/>
                      <a:gd name="T15" fmla="*/ 0 w 62"/>
                      <a:gd name="T16" fmla="*/ 0 h 82"/>
                      <a:gd name="T17" fmla="*/ 62 w 62"/>
                      <a:gd name="T18" fmla="*/ 82 h 82"/>
                    </a:gdLst>
                    <a:ahLst/>
                    <a:cxnLst>
                      <a:cxn ang="T10">
                        <a:pos x="T0" y="T1"/>
                      </a:cxn>
                      <a:cxn ang="T11">
                        <a:pos x="T2" y="T3"/>
                      </a:cxn>
                      <a:cxn ang="T12">
                        <a:pos x="T4" y="T5"/>
                      </a:cxn>
                      <a:cxn ang="T13">
                        <a:pos x="T6" y="T7"/>
                      </a:cxn>
                      <a:cxn ang="T14">
                        <a:pos x="T8" y="T9"/>
                      </a:cxn>
                    </a:cxnLst>
                    <a:rect l="T15" t="T16" r="T17" b="T18"/>
                    <a:pathLst>
                      <a:path w="62" h="82">
                        <a:moveTo>
                          <a:pt x="0" y="6"/>
                        </a:moveTo>
                        <a:lnTo>
                          <a:pt x="61" y="0"/>
                        </a:lnTo>
                        <a:lnTo>
                          <a:pt x="62" y="75"/>
                        </a:lnTo>
                        <a:lnTo>
                          <a:pt x="3" y="82"/>
                        </a:lnTo>
                        <a:lnTo>
                          <a:pt x="0" y="6"/>
                        </a:lnTo>
                        <a:close/>
                      </a:path>
                    </a:pathLst>
                  </a:custGeom>
                  <a:solidFill>
                    <a:srgbClr val="B2B2B2"/>
                  </a:solidFill>
                  <a:ln w="9525">
                    <a:solidFill>
                      <a:schemeClr val="bg2"/>
                    </a:solidFill>
                    <a:round/>
                  </a:ln>
                </p:spPr>
                <p:txBody>
                  <a:bodyPr/>
                  <a:lstStyle/>
                  <a:p>
                    <a:endParaRPr lang="zh-CN" altLang="en-US"/>
                  </a:p>
                </p:txBody>
              </p:sp>
              <p:sp>
                <p:nvSpPr>
                  <p:cNvPr id="1772" name="Freeform 932"/>
                  <p:cNvSpPr/>
                  <p:nvPr/>
                </p:nvSpPr>
                <p:spPr bwMode="auto">
                  <a:xfrm>
                    <a:off x="3734" y="2154"/>
                    <a:ext cx="66" cy="84"/>
                  </a:xfrm>
                  <a:custGeom>
                    <a:avLst/>
                    <a:gdLst>
                      <a:gd name="T0" fmla="*/ 1 w 66"/>
                      <a:gd name="T1" fmla="*/ 6 h 84"/>
                      <a:gd name="T2" fmla="*/ 66 w 66"/>
                      <a:gd name="T3" fmla="*/ 0 h 84"/>
                      <a:gd name="T4" fmla="*/ 63 w 66"/>
                      <a:gd name="T5" fmla="*/ 77 h 84"/>
                      <a:gd name="T6" fmla="*/ 0 w 66"/>
                      <a:gd name="T7" fmla="*/ 84 h 84"/>
                      <a:gd name="T8" fmla="*/ 1 w 66"/>
                      <a:gd name="T9" fmla="*/ 6 h 84"/>
                      <a:gd name="T10" fmla="*/ 0 60000 65536"/>
                      <a:gd name="T11" fmla="*/ 0 60000 65536"/>
                      <a:gd name="T12" fmla="*/ 0 60000 65536"/>
                      <a:gd name="T13" fmla="*/ 0 60000 65536"/>
                      <a:gd name="T14" fmla="*/ 0 60000 65536"/>
                      <a:gd name="T15" fmla="*/ 0 w 66"/>
                      <a:gd name="T16" fmla="*/ 0 h 84"/>
                      <a:gd name="T17" fmla="*/ 66 w 66"/>
                      <a:gd name="T18" fmla="*/ 84 h 84"/>
                    </a:gdLst>
                    <a:ahLst/>
                    <a:cxnLst>
                      <a:cxn ang="T10">
                        <a:pos x="T0" y="T1"/>
                      </a:cxn>
                      <a:cxn ang="T11">
                        <a:pos x="T2" y="T3"/>
                      </a:cxn>
                      <a:cxn ang="T12">
                        <a:pos x="T4" y="T5"/>
                      </a:cxn>
                      <a:cxn ang="T13">
                        <a:pos x="T6" y="T7"/>
                      </a:cxn>
                      <a:cxn ang="T14">
                        <a:pos x="T8" y="T9"/>
                      </a:cxn>
                    </a:cxnLst>
                    <a:rect l="T15" t="T16" r="T17" b="T18"/>
                    <a:pathLst>
                      <a:path w="66" h="84">
                        <a:moveTo>
                          <a:pt x="1" y="6"/>
                        </a:moveTo>
                        <a:lnTo>
                          <a:pt x="66" y="0"/>
                        </a:lnTo>
                        <a:lnTo>
                          <a:pt x="63" y="77"/>
                        </a:lnTo>
                        <a:lnTo>
                          <a:pt x="0" y="84"/>
                        </a:lnTo>
                        <a:lnTo>
                          <a:pt x="1" y="6"/>
                        </a:lnTo>
                        <a:close/>
                      </a:path>
                    </a:pathLst>
                  </a:custGeom>
                  <a:solidFill>
                    <a:srgbClr val="B2B2B2"/>
                  </a:solidFill>
                  <a:ln w="9525">
                    <a:solidFill>
                      <a:schemeClr val="bg2"/>
                    </a:solidFill>
                    <a:round/>
                  </a:ln>
                </p:spPr>
                <p:txBody>
                  <a:bodyPr/>
                  <a:lstStyle/>
                  <a:p>
                    <a:endParaRPr lang="zh-CN" altLang="en-US"/>
                  </a:p>
                </p:txBody>
              </p:sp>
              <p:sp>
                <p:nvSpPr>
                  <p:cNvPr id="1773" name="Rectangle 933"/>
                  <p:cNvSpPr>
                    <a:spLocks noChangeArrowheads="1"/>
                  </p:cNvSpPr>
                  <p:nvPr/>
                </p:nvSpPr>
                <p:spPr bwMode="auto">
                  <a:xfrm>
                    <a:off x="3513" y="1688"/>
                    <a:ext cx="54" cy="40"/>
                  </a:xfrm>
                  <a:prstGeom prst="rect">
                    <a:avLst/>
                  </a:prstGeom>
                  <a:solidFill>
                    <a:schemeClr val="bg2"/>
                  </a:solidFill>
                  <a:ln w="9525">
                    <a:solidFill>
                      <a:schemeClr val="bg2"/>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74" name="Rectangle 934"/>
                  <p:cNvSpPr>
                    <a:spLocks noChangeArrowheads="1"/>
                  </p:cNvSpPr>
                  <p:nvPr/>
                </p:nvSpPr>
                <p:spPr bwMode="auto">
                  <a:xfrm>
                    <a:off x="3501" y="1738"/>
                    <a:ext cx="92" cy="50"/>
                  </a:xfrm>
                  <a:prstGeom prst="rect">
                    <a:avLst/>
                  </a:prstGeom>
                  <a:solidFill>
                    <a:schemeClr val="bg2"/>
                  </a:solidFill>
                  <a:ln w="9525">
                    <a:solidFill>
                      <a:schemeClr val="bg2"/>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75" name="Freeform 935"/>
                  <p:cNvSpPr/>
                  <p:nvPr/>
                </p:nvSpPr>
                <p:spPr bwMode="auto">
                  <a:xfrm>
                    <a:off x="3515" y="1794"/>
                    <a:ext cx="261" cy="204"/>
                  </a:xfrm>
                  <a:custGeom>
                    <a:avLst/>
                    <a:gdLst>
                      <a:gd name="T0" fmla="*/ 0 w 261"/>
                      <a:gd name="T1" fmla="*/ 0 h 204"/>
                      <a:gd name="T2" fmla="*/ 0 w 261"/>
                      <a:gd name="T3" fmla="*/ 204 h 204"/>
                      <a:gd name="T4" fmla="*/ 259 w 261"/>
                      <a:gd name="T5" fmla="*/ 201 h 204"/>
                      <a:gd name="T6" fmla="*/ 261 w 261"/>
                      <a:gd name="T7" fmla="*/ 12 h 204"/>
                      <a:gd name="T8" fmla="*/ 0 w 261"/>
                      <a:gd name="T9" fmla="*/ 0 h 204"/>
                      <a:gd name="T10" fmla="*/ 0 60000 65536"/>
                      <a:gd name="T11" fmla="*/ 0 60000 65536"/>
                      <a:gd name="T12" fmla="*/ 0 60000 65536"/>
                      <a:gd name="T13" fmla="*/ 0 60000 65536"/>
                      <a:gd name="T14" fmla="*/ 0 60000 65536"/>
                      <a:gd name="T15" fmla="*/ 0 w 261"/>
                      <a:gd name="T16" fmla="*/ 0 h 204"/>
                      <a:gd name="T17" fmla="*/ 261 w 261"/>
                      <a:gd name="T18" fmla="*/ 204 h 204"/>
                    </a:gdLst>
                    <a:ahLst/>
                    <a:cxnLst>
                      <a:cxn ang="T10">
                        <a:pos x="T0" y="T1"/>
                      </a:cxn>
                      <a:cxn ang="T11">
                        <a:pos x="T2" y="T3"/>
                      </a:cxn>
                      <a:cxn ang="T12">
                        <a:pos x="T4" y="T5"/>
                      </a:cxn>
                      <a:cxn ang="T13">
                        <a:pos x="T6" y="T7"/>
                      </a:cxn>
                      <a:cxn ang="T14">
                        <a:pos x="T8" y="T9"/>
                      </a:cxn>
                    </a:cxnLst>
                    <a:rect l="T15" t="T16" r="T17" b="T18"/>
                    <a:pathLst>
                      <a:path w="261" h="204">
                        <a:moveTo>
                          <a:pt x="0" y="0"/>
                        </a:moveTo>
                        <a:lnTo>
                          <a:pt x="0" y="204"/>
                        </a:lnTo>
                        <a:lnTo>
                          <a:pt x="259" y="201"/>
                        </a:lnTo>
                        <a:lnTo>
                          <a:pt x="261" y="12"/>
                        </a:lnTo>
                        <a:lnTo>
                          <a:pt x="0" y="0"/>
                        </a:lnTo>
                        <a:close/>
                      </a:path>
                    </a:pathLst>
                  </a:custGeom>
                  <a:solidFill>
                    <a:srgbClr val="DDDDDD"/>
                  </a:solidFill>
                  <a:ln w="9525">
                    <a:solidFill>
                      <a:schemeClr val="bg2"/>
                    </a:solidFill>
                    <a:round/>
                  </a:ln>
                </p:spPr>
                <p:txBody>
                  <a:bodyPr/>
                  <a:lstStyle/>
                  <a:p>
                    <a:endParaRPr lang="zh-CN" altLang="en-US"/>
                  </a:p>
                </p:txBody>
              </p:sp>
            </p:grpSp>
          </p:grpSp>
          <p:pic>
            <p:nvPicPr>
              <p:cNvPr id="1765" name="Picture 936" descr="grayed_radiation"/>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0" y="972"/>
                <a:ext cx="38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93" name="Picture 937" descr="car_grayed"/>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46838" y="1670050"/>
              <a:ext cx="754062"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94" name="Group 938"/>
            <p:cNvGrpSpPr/>
            <p:nvPr/>
          </p:nvGrpSpPr>
          <p:grpSpPr bwMode="auto">
            <a:xfrm>
              <a:off x="5662613" y="4538663"/>
              <a:ext cx="463550" cy="398462"/>
              <a:chOff x="3987" y="-51"/>
              <a:chExt cx="1252" cy="983"/>
            </a:xfrm>
          </p:grpSpPr>
          <p:pic>
            <p:nvPicPr>
              <p:cNvPr id="1762" name="Picture 939"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3" name="Freeform 940"/>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5" name="Group 941"/>
            <p:cNvGrpSpPr/>
            <p:nvPr/>
          </p:nvGrpSpPr>
          <p:grpSpPr bwMode="auto">
            <a:xfrm>
              <a:off x="5500688" y="4938713"/>
              <a:ext cx="463550" cy="398462"/>
              <a:chOff x="3987" y="-51"/>
              <a:chExt cx="1252" cy="983"/>
            </a:xfrm>
          </p:grpSpPr>
          <p:pic>
            <p:nvPicPr>
              <p:cNvPr id="1760" name="Picture 942"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 name="Freeform 943"/>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6" name="Group 944"/>
            <p:cNvGrpSpPr/>
            <p:nvPr/>
          </p:nvGrpSpPr>
          <p:grpSpPr bwMode="auto">
            <a:xfrm>
              <a:off x="5957888" y="5186363"/>
              <a:ext cx="463550" cy="398462"/>
              <a:chOff x="3987" y="-51"/>
              <a:chExt cx="1252" cy="983"/>
            </a:xfrm>
          </p:grpSpPr>
          <p:pic>
            <p:nvPicPr>
              <p:cNvPr id="1758" name="Picture 945"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9" name="Freeform 946"/>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7" name="Group 947"/>
            <p:cNvGrpSpPr/>
            <p:nvPr/>
          </p:nvGrpSpPr>
          <p:grpSpPr bwMode="auto">
            <a:xfrm>
              <a:off x="6396038" y="5224463"/>
              <a:ext cx="463550" cy="398462"/>
              <a:chOff x="3987" y="-51"/>
              <a:chExt cx="1252" cy="983"/>
            </a:xfrm>
          </p:grpSpPr>
          <p:pic>
            <p:nvPicPr>
              <p:cNvPr id="1756" name="Picture 948"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7" name="Freeform 949"/>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8" name="Group 950"/>
            <p:cNvGrpSpPr/>
            <p:nvPr/>
          </p:nvGrpSpPr>
          <p:grpSpPr bwMode="auto">
            <a:xfrm>
              <a:off x="8186738" y="5014913"/>
              <a:ext cx="249237" cy="555625"/>
              <a:chOff x="1115" y="2770"/>
              <a:chExt cx="589" cy="1034"/>
            </a:xfrm>
          </p:grpSpPr>
          <p:sp>
            <p:nvSpPr>
              <p:cNvPr id="1724" name="Freeform 951"/>
              <p:cNvSpPr/>
              <p:nvPr/>
            </p:nvSpPr>
            <p:spPr bwMode="auto">
              <a:xfrm>
                <a:off x="1581" y="2772"/>
                <a:ext cx="117" cy="986"/>
              </a:xfrm>
              <a:custGeom>
                <a:avLst/>
                <a:gdLst>
                  <a:gd name="T0" fmla="*/ 0 w 354"/>
                  <a:gd name="T1" fmla="*/ 0 h 2742"/>
                  <a:gd name="T2" fmla="*/ 0 w 354"/>
                  <a:gd name="T3" fmla="*/ 0 h 2742"/>
                  <a:gd name="T4" fmla="*/ 0 w 354"/>
                  <a:gd name="T5" fmla="*/ 0 h 2742"/>
                  <a:gd name="T6" fmla="*/ 0 w 354"/>
                  <a:gd name="T7" fmla="*/ 0 h 2742"/>
                  <a:gd name="T8" fmla="*/ 0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25" name="Rectangle 952"/>
              <p:cNvSpPr>
                <a:spLocks noChangeArrowheads="1"/>
              </p:cNvSpPr>
              <p:nvPr/>
            </p:nvSpPr>
            <p:spPr bwMode="auto">
              <a:xfrm>
                <a:off x="1141" y="2770"/>
                <a:ext cx="435" cy="987"/>
              </a:xfrm>
              <a:prstGeom prst="rect">
                <a:avLst/>
              </a:prstGeom>
              <a:gradFill rotWithShape="1">
                <a:gsLst>
                  <a:gs pos="0">
                    <a:srgbClr val="808080"/>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6" name="Freeform 953"/>
              <p:cNvSpPr/>
              <p:nvPr/>
            </p:nvSpPr>
            <p:spPr bwMode="auto">
              <a:xfrm>
                <a:off x="1603" y="2831"/>
                <a:ext cx="70" cy="913"/>
              </a:xfrm>
              <a:custGeom>
                <a:avLst/>
                <a:gdLst>
                  <a:gd name="T0" fmla="*/ 0 w 211"/>
                  <a:gd name="T1" fmla="*/ 0 h 2537"/>
                  <a:gd name="T2" fmla="*/ 0 w 211"/>
                  <a:gd name="T3" fmla="*/ 0 h 2537"/>
                  <a:gd name="T4" fmla="*/ 0 w 211"/>
                  <a:gd name="T5" fmla="*/ 0 h 2537"/>
                  <a:gd name="T6" fmla="*/ 0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27" name="Freeform 954"/>
              <p:cNvSpPr/>
              <p:nvPr/>
            </p:nvSpPr>
            <p:spPr bwMode="auto">
              <a:xfrm>
                <a:off x="1588" y="3293"/>
                <a:ext cx="109"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28" name="Rectangle 955"/>
              <p:cNvSpPr>
                <a:spLocks noChangeArrowheads="1"/>
              </p:cNvSpPr>
              <p:nvPr/>
            </p:nvSpPr>
            <p:spPr bwMode="auto">
              <a:xfrm>
                <a:off x="1145" y="2885"/>
                <a:ext cx="248" cy="18"/>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29" name="Group 956"/>
              <p:cNvGrpSpPr/>
              <p:nvPr/>
            </p:nvGrpSpPr>
            <p:grpSpPr bwMode="auto">
              <a:xfrm>
                <a:off x="1367" y="2873"/>
                <a:ext cx="240" cy="63"/>
                <a:chOff x="614" y="2568"/>
                <a:chExt cx="725" cy="139"/>
              </a:xfrm>
            </p:grpSpPr>
            <p:sp>
              <p:nvSpPr>
                <p:cNvPr id="1754" name="AutoShape 957"/>
                <p:cNvSpPr>
                  <a:spLocks noChangeArrowheads="1"/>
                </p:cNvSpPr>
                <p:nvPr/>
              </p:nvSpPr>
              <p:spPr bwMode="auto">
                <a:xfrm>
                  <a:off x="612" y="2569"/>
                  <a:ext cx="725" cy="13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55" name="AutoShape 958"/>
                <p:cNvSpPr>
                  <a:spLocks noChangeArrowheads="1"/>
                </p:cNvSpPr>
                <p:nvPr/>
              </p:nvSpPr>
              <p:spPr bwMode="auto">
                <a:xfrm>
                  <a:off x="623" y="2582"/>
                  <a:ext cx="691" cy="104"/>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0" name="Rectangle 959"/>
              <p:cNvSpPr>
                <a:spLocks noChangeArrowheads="1"/>
              </p:cNvSpPr>
              <p:nvPr/>
            </p:nvSpPr>
            <p:spPr bwMode="auto">
              <a:xfrm>
                <a:off x="1149" y="3024"/>
                <a:ext cx="248" cy="21"/>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31" name="Group 960"/>
              <p:cNvGrpSpPr/>
              <p:nvPr/>
            </p:nvGrpSpPr>
            <p:grpSpPr bwMode="auto">
              <a:xfrm>
                <a:off x="1366" y="3014"/>
                <a:ext cx="240" cy="58"/>
                <a:chOff x="614" y="2568"/>
                <a:chExt cx="725" cy="139"/>
              </a:xfrm>
            </p:grpSpPr>
            <p:sp>
              <p:nvSpPr>
                <p:cNvPr id="1752" name="AutoShape 961"/>
                <p:cNvSpPr>
                  <a:spLocks noChangeArrowheads="1"/>
                </p:cNvSpPr>
                <p:nvPr/>
              </p:nvSpPr>
              <p:spPr bwMode="auto">
                <a:xfrm>
                  <a:off x="615" y="2571"/>
                  <a:ext cx="725" cy="135"/>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53" name="AutoShape 962"/>
                <p:cNvSpPr>
                  <a:spLocks noChangeArrowheads="1"/>
                </p:cNvSpPr>
                <p:nvPr/>
              </p:nvSpPr>
              <p:spPr bwMode="auto">
                <a:xfrm>
                  <a:off x="626" y="2585"/>
                  <a:ext cx="691" cy="106"/>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2" name="Rectangle 963"/>
              <p:cNvSpPr>
                <a:spLocks noChangeArrowheads="1"/>
              </p:cNvSpPr>
              <p:nvPr/>
            </p:nvSpPr>
            <p:spPr bwMode="auto">
              <a:xfrm>
                <a:off x="1149" y="3172"/>
                <a:ext cx="244" cy="21"/>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33" name="Rectangle 964"/>
              <p:cNvSpPr>
                <a:spLocks noChangeArrowheads="1"/>
              </p:cNvSpPr>
              <p:nvPr/>
            </p:nvSpPr>
            <p:spPr bwMode="auto">
              <a:xfrm>
                <a:off x="1153" y="3299"/>
                <a:ext cx="244" cy="21"/>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34" name="Group 965"/>
              <p:cNvGrpSpPr/>
              <p:nvPr/>
            </p:nvGrpSpPr>
            <p:grpSpPr bwMode="auto">
              <a:xfrm>
                <a:off x="1361" y="3287"/>
                <a:ext cx="240" cy="65"/>
                <a:chOff x="614" y="2568"/>
                <a:chExt cx="725" cy="139"/>
              </a:xfrm>
            </p:grpSpPr>
            <p:sp>
              <p:nvSpPr>
                <p:cNvPr id="1750" name="AutoShape 966"/>
                <p:cNvSpPr>
                  <a:spLocks noChangeArrowheads="1"/>
                </p:cNvSpPr>
                <p:nvPr/>
              </p:nvSpPr>
              <p:spPr bwMode="auto">
                <a:xfrm>
                  <a:off x="619" y="2568"/>
                  <a:ext cx="725" cy="139"/>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51" name="AutoShape 967"/>
                <p:cNvSpPr>
                  <a:spLocks noChangeArrowheads="1"/>
                </p:cNvSpPr>
                <p:nvPr/>
              </p:nvSpPr>
              <p:spPr bwMode="auto">
                <a:xfrm>
                  <a:off x="630" y="2587"/>
                  <a:ext cx="691" cy="101"/>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5" name="Freeform 968"/>
              <p:cNvSpPr/>
              <p:nvPr/>
            </p:nvSpPr>
            <p:spPr bwMode="auto">
              <a:xfrm>
                <a:off x="1590" y="3169"/>
                <a:ext cx="108"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36" name="Group 969"/>
              <p:cNvGrpSpPr/>
              <p:nvPr/>
            </p:nvGrpSpPr>
            <p:grpSpPr bwMode="auto">
              <a:xfrm>
                <a:off x="1363" y="3158"/>
                <a:ext cx="240" cy="60"/>
                <a:chOff x="614" y="2568"/>
                <a:chExt cx="725" cy="139"/>
              </a:xfrm>
            </p:grpSpPr>
            <p:sp>
              <p:nvSpPr>
                <p:cNvPr id="1748" name="AutoShape 970"/>
                <p:cNvSpPr>
                  <a:spLocks noChangeArrowheads="1"/>
                </p:cNvSpPr>
                <p:nvPr/>
              </p:nvSpPr>
              <p:spPr bwMode="auto">
                <a:xfrm>
                  <a:off x="613" y="2566"/>
                  <a:ext cx="725" cy="144"/>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9" name="AutoShape 971"/>
                <p:cNvSpPr>
                  <a:spLocks noChangeArrowheads="1"/>
                </p:cNvSpPr>
                <p:nvPr/>
              </p:nvSpPr>
              <p:spPr bwMode="auto">
                <a:xfrm>
                  <a:off x="624" y="2579"/>
                  <a:ext cx="691" cy="110"/>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7" name="Rectangle 972"/>
              <p:cNvSpPr>
                <a:spLocks noChangeArrowheads="1"/>
              </p:cNvSpPr>
              <p:nvPr/>
            </p:nvSpPr>
            <p:spPr bwMode="auto">
              <a:xfrm>
                <a:off x="1573" y="2770"/>
                <a:ext cx="30" cy="9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38" name="Freeform 973"/>
              <p:cNvSpPr/>
              <p:nvPr/>
            </p:nvSpPr>
            <p:spPr bwMode="auto">
              <a:xfrm>
                <a:off x="1599" y="3019"/>
                <a:ext cx="98" cy="92"/>
              </a:xfrm>
              <a:custGeom>
                <a:avLst/>
                <a:gdLst>
                  <a:gd name="T0" fmla="*/ 0 w 296"/>
                  <a:gd name="T1" fmla="*/ 0 h 256"/>
                  <a:gd name="T2" fmla="*/ 0 w 296"/>
                  <a:gd name="T3" fmla="*/ 0 h 256"/>
                  <a:gd name="T4" fmla="*/ 0 w 296"/>
                  <a:gd name="T5" fmla="*/ 0 h 256"/>
                  <a:gd name="T6" fmla="*/ 0 w 296"/>
                  <a:gd name="T7" fmla="*/ 0 h 256"/>
                  <a:gd name="T8" fmla="*/ 0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39" name="Freeform 974"/>
              <p:cNvSpPr/>
              <p:nvPr/>
            </p:nvSpPr>
            <p:spPr bwMode="auto">
              <a:xfrm>
                <a:off x="1601" y="2878"/>
                <a:ext cx="101" cy="104"/>
              </a:xfrm>
              <a:custGeom>
                <a:avLst/>
                <a:gdLst>
                  <a:gd name="T0" fmla="*/ 0 w 304"/>
                  <a:gd name="T1" fmla="*/ 0 h 288"/>
                  <a:gd name="T2" fmla="*/ 0 w 304"/>
                  <a:gd name="T3" fmla="*/ 0 h 288"/>
                  <a:gd name="T4" fmla="*/ 0 w 304"/>
                  <a:gd name="T5" fmla="*/ 0 h 288"/>
                  <a:gd name="T6" fmla="*/ 0 w 304"/>
                  <a:gd name="T7" fmla="*/ 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40" name="Oval 975"/>
              <p:cNvSpPr>
                <a:spLocks noChangeArrowheads="1"/>
              </p:cNvSpPr>
              <p:nvPr/>
            </p:nvSpPr>
            <p:spPr bwMode="auto">
              <a:xfrm>
                <a:off x="1685" y="3712"/>
                <a:ext cx="19" cy="41"/>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1" name="Freeform 976"/>
              <p:cNvSpPr/>
              <p:nvPr/>
            </p:nvSpPr>
            <p:spPr bwMode="auto">
              <a:xfrm>
                <a:off x="1595" y="3713"/>
                <a:ext cx="102" cy="86"/>
              </a:xfrm>
              <a:custGeom>
                <a:avLst/>
                <a:gdLst>
                  <a:gd name="T0" fmla="*/ 0 w 306"/>
                  <a:gd name="T1" fmla="*/ 0 h 240"/>
                  <a:gd name="T2" fmla="*/ 0 w 306"/>
                  <a:gd name="T3" fmla="*/ 0 h 240"/>
                  <a:gd name="T4" fmla="*/ 0 w 306"/>
                  <a:gd name="T5" fmla="*/ 0 h 240"/>
                  <a:gd name="T6" fmla="*/ 0 w 306"/>
                  <a:gd name="T7" fmla="*/ 0 h 240"/>
                  <a:gd name="T8" fmla="*/ 0 w 306"/>
                  <a:gd name="T9" fmla="*/ 0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ln>
            </p:spPr>
            <p:txBody>
              <a:bodyPr/>
              <a:lstStyle/>
              <a:p>
                <a:endParaRPr lang="zh-CN" altLang="en-US"/>
              </a:p>
            </p:txBody>
          </p:sp>
          <p:sp>
            <p:nvSpPr>
              <p:cNvPr id="1742" name="AutoShape 977"/>
              <p:cNvSpPr>
                <a:spLocks noChangeArrowheads="1"/>
              </p:cNvSpPr>
              <p:nvPr/>
            </p:nvSpPr>
            <p:spPr bwMode="auto">
              <a:xfrm>
                <a:off x="1115" y="3742"/>
                <a:ext cx="495" cy="62"/>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3" name="AutoShape 978"/>
              <p:cNvSpPr>
                <a:spLocks noChangeArrowheads="1"/>
              </p:cNvSpPr>
              <p:nvPr/>
            </p:nvSpPr>
            <p:spPr bwMode="auto">
              <a:xfrm>
                <a:off x="1141" y="3754"/>
                <a:ext cx="443" cy="35"/>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4" name="Oval 979"/>
              <p:cNvSpPr>
                <a:spLocks noChangeArrowheads="1"/>
              </p:cNvSpPr>
              <p:nvPr/>
            </p:nvSpPr>
            <p:spPr bwMode="auto">
              <a:xfrm>
                <a:off x="1183" y="3612"/>
                <a:ext cx="68" cy="62"/>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5" name="Oval 980"/>
              <p:cNvSpPr>
                <a:spLocks noChangeArrowheads="1"/>
              </p:cNvSpPr>
              <p:nvPr/>
            </p:nvSpPr>
            <p:spPr bwMode="auto">
              <a:xfrm>
                <a:off x="1258" y="3615"/>
                <a:ext cx="68" cy="59"/>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endParaRPr>
              </a:p>
            </p:txBody>
          </p:sp>
          <p:sp>
            <p:nvSpPr>
              <p:cNvPr id="1746" name="Oval 981"/>
              <p:cNvSpPr>
                <a:spLocks noChangeArrowheads="1"/>
              </p:cNvSpPr>
              <p:nvPr/>
            </p:nvSpPr>
            <p:spPr bwMode="auto">
              <a:xfrm>
                <a:off x="1333" y="3612"/>
                <a:ext cx="64" cy="62"/>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7" name="Rectangle 982"/>
              <p:cNvSpPr>
                <a:spLocks noChangeArrowheads="1"/>
              </p:cNvSpPr>
              <p:nvPr/>
            </p:nvSpPr>
            <p:spPr bwMode="auto">
              <a:xfrm>
                <a:off x="1498" y="3376"/>
                <a:ext cx="34" cy="328"/>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1499" name="Group 983"/>
            <p:cNvGrpSpPr/>
            <p:nvPr/>
          </p:nvGrpSpPr>
          <p:grpSpPr bwMode="auto">
            <a:xfrm>
              <a:off x="7900988" y="5224463"/>
              <a:ext cx="230187" cy="498475"/>
              <a:chOff x="1115" y="2770"/>
              <a:chExt cx="589" cy="1034"/>
            </a:xfrm>
          </p:grpSpPr>
          <p:sp>
            <p:nvSpPr>
              <p:cNvPr id="1692" name="Freeform 984"/>
              <p:cNvSpPr/>
              <p:nvPr/>
            </p:nvSpPr>
            <p:spPr bwMode="auto">
              <a:xfrm>
                <a:off x="1581" y="2772"/>
                <a:ext cx="117" cy="986"/>
              </a:xfrm>
              <a:custGeom>
                <a:avLst/>
                <a:gdLst>
                  <a:gd name="T0" fmla="*/ 0 w 354"/>
                  <a:gd name="T1" fmla="*/ 0 h 2742"/>
                  <a:gd name="T2" fmla="*/ 0 w 354"/>
                  <a:gd name="T3" fmla="*/ 0 h 2742"/>
                  <a:gd name="T4" fmla="*/ 0 w 354"/>
                  <a:gd name="T5" fmla="*/ 0 h 2742"/>
                  <a:gd name="T6" fmla="*/ 0 w 354"/>
                  <a:gd name="T7" fmla="*/ 0 h 2742"/>
                  <a:gd name="T8" fmla="*/ 0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93" name="Rectangle 985"/>
              <p:cNvSpPr>
                <a:spLocks noChangeArrowheads="1"/>
              </p:cNvSpPr>
              <p:nvPr/>
            </p:nvSpPr>
            <p:spPr bwMode="auto">
              <a:xfrm>
                <a:off x="1143" y="2770"/>
                <a:ext cx="431" cy="985"/>
              </a:xfrm>
              <a:prstGeom prst="rect">
                <a:avLst/>
              </a:prstGeom>
              <a:gradFill rotWithShape="1">
                <a:gsLst>
                  <a:gs pos="0">
                    <a:srgbClr val="808080"/>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694" name="Freeform 986"/>
              <p:cNvSpPr/>
              <p:nvPr/>
            </p:nvSpPr>
            <p:spPr bwMode="auto">
              <a:xfrm>
                <a:off x="1603" y="2831"/>
                <a:ext cx="70" cy="913"/>
              </a:xfrm>
              <a:custGeom>
                <a:avLst/>
                <a:gdLst>
                  <a:gd name="T0" fmla="*/ 0 w 211"/>
                  <a:gd name="T1" fmla="*/ 0 h 2537"/>
                  <a:gd name="T2" fmla="*/ 0 w 211"/>
                  <a:gd name="T3" fmla="*/ 0 h 2537"/>
                  <a:gd name="T4" fmla="*/ 0 w 211"/>
                  <a:gd name="T5" fmla="*/ 0 h 2537"/>
                  <a:gd name="T6" fmla="*/ 0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95" name="Freeform 987"/>
              <p:cNvSpPr/>
              <p:nvPr/>
            </p:nvSpPr>
            <p:spPr bwMode="auto">
              <a:xfrm>
                <a:off x="1588" y="3293"/>
                <a:ext cx="109"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96" name="Rectangle 988"/>
              <p:cNvSpPr>
                <a:spLocks noChangeArrowheads="1"/>
              </p:cNvSpPr>
              <p:nvPr/>
            </p:nvSpPr>
            <p:spPr bwMode="auto">
              <a:xfrm>
                <a:off x="1143" y="2885"/>
                <a:ext cx="248" cy="20"/>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697" name="Group 989"/>
              <p:cNvGrpSpPr/>
              <p:nvPr/>
            </p:nvGrpSpPr>
            <p:grpSpPr bwMode="auto">
              <a:xfrm>
                <a:off x="1367" y="2873"/>
                <a:ext cx="240" cy="63"/>
                <a:chOff x="614" y="2568"/>
                <a:chExt cx="725" cy="139"/>
              </a:xfrm>
            </p:grpSpPr>
            <p:sp>
              <p:nvSpPr>
                <p:cNvPr id="1722" name="AutoShape 990"/>
                <p:cNvSpPr>
                  <a:spLocks noChangeArrowheads="1"/>
                </p:cNvSpPr>
                <p:nvPr/>
              </p:nvSpPr>
              <p:spPr bwMode="auto">
                <a:xfrm>
                  <a:off x="614" y="2566"/>
                  <a:ext cx="724" cy="138"/>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3" name="AutoShape 991"/>
                <p:cNvSpPr>
                  <a:spLocks noChangeArrowheads="1"/>
                </p:cNvSpPr>
                <p:nvPr/>
              </p:nvSpPr>
              <p:spPr bwMode="auto">
                <a:xfrm>
                  <a:off x="626" y="2581"/>
                  <a:ext cx="699" cy="109"/>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698" name="Rectangle 992"/>
              <p:cNvSpPr>
                <a:spLocks noChangeArrowheads="1"/>
              </p:cNvSpPr>
              <p:nvPr/>
            </p:nvSpPr>
            <p:spPr bwMode="auto">
              <a:xfrm>
                <a:off x="1152" y="3024"/>
                <a:ext cx="244" cy="23"/>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699" name="Group 993"/>
              <p:cNvGrpSpPr/>
              <p:nvPr/>
            </p:nvGrpSpPr>
            <p:grpSpPr bwMode="auto">
              <a:xfrm>
                <a:off x="1366" y="3014"/>
                <a:ext cx="240" cy="58"/>
                <a:chOff x="614" y="2568"/>
                <a:chExt cx="725" cy="139"/>
              </a:xfrm>
            </p:grpSpPr>
            <p:sp>
              <p:nvSpPr>
                <p:cNvPr id="1720" name="AutoShape 994"/>
                <p:cNvSpPr>
                  <a:spLocks noChangeArrowheads="1"/>
                </p:cNvSpPr>
                <p:nvPr/>
              </p:nvSpPr>
              <p:spPr bwMode="auto">
                <a:xfrm>
                  <a:off x="617" y="2567"/>
                  <a:ext cx="724" cy="142"/>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1" name="AutoShape 995"/>
                <p:cNvSpPr>
                  <a:spLocks noChangeArrowheads="1"/>
                </p:cNvSpPr>
                <p:nvPr/>
              </p:nvSpPr>
              <p:spPr bwMode="auto">
                <a:xfrm>
                  <a:off x="629" y="2583"/>
                  <a:ext cx="699" cy="110"/>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00" name="Rectangle 996"/>
              <p:cNvSpPr>
                <a:spLocks noChangeArrowheads="1"/>
              </p:cNvSpPr>
              <p:nvPr/>
            </p:nvSpPr>
            <p:spPr bwMode="auto">
              <a:xfrm>
                <a:off x="1147" y="3172"/>
                <a:ext cx="244" cy="20"/>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1" name="Rectangle 997"/>
              <p:cNvSpPr>
                <a:spLocks noChangeArrowheads="1"/>
              </p:cNvSpPr>
              <p:nvPr/>
            </p:nvSpPr>
            <p:spPr bwMode="auto">
              <a:xfrm>
                <a:off x="1152" y="3300"/>
                <a:ext cx="248" cy="20"/>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02" name="Group 998"/>
              <p:cNvGrpSpPr/>
              <p:nvPr/>
            </p:nvGrpSpPr>
            <p:grpSpPr bwMode="auto">
              <a:xfrm>
                <a:off x="1361" y="3287"/>
                <a:ext cx="240" cy="65"/>
                <a:chOff x="614" y="2568"/>
                <a:chExt cx="725" cy="139"/>
              </a:xfrm>
            </p:grpSpPr>
            <p:sp>
              <p:nvSpPr>
                <p:cNvPr id="1718" name="AutoShape 999"/>
                <p:cNvSpPr>
                  <a:spLocks noChangeArrowheads="1"/>
                </p:cNvSpPr>
                <p:nvPr/>
              </p:nvSpPr>
              <p:spPr bwMode="auto">
                <a:xfrm>
                  <a:off x="619" y="2568"/>
                  <a:ext cx="724" cy="141"/>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9" name="AutoShape 1000"/>
                <p:cNvSpPr>
                  <a:spLocks noChangeArrowheads="1"/>
                </p:cNvSpPr>
                <p:nvPr/>
              </p:nvSpPr>
              <p:spPr bwMode="auto">
                <a:xfrm>
                  <a:off x="632" y="2582"/>
                  <a:ext cx="699" cy="113"/>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03" name="Freeform 1001"/>
              <p:cNvSpPr/>
              <p:nvPr/>
            </p:nvSpPr>
            <p:spPr bwMode="auto">
              <a:xfrm>
                <a:off x="1590" y="3169"/>
                <a:ext cx="108"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04" name="Group 1002"/>
              <p:cNvGrpSpPr/>
              <p:nvPr/>
            </p:nvGrpSpPr>
            <p:grpSpPr bwMode="auto">
              <a:xfrm>
                <a:off x="1363" y="3158"/>
                <a:ext cx="240" cy="60"/>
                <a:chOff x="614" y="2568"/>
                <a:chExt cx="725" cy="139"/>
              </a:xfrm>
            </p:grpSpPr>
            <p:sp>
              <p:nvSpPr>
                <p:cNvPr id="1716" name="AutoShape 1003"/>
                <p:cNvSpPr>
                  <a:spLocks noChangeArrowheads="1"/>
                </p:cNvSpPr>
                <p:nvPr/>
              </p:nvSpPr>
              <p:spPr bwMode="auto">
                <a:xfrm>
                  <a:off x="613" y="2569"/>
                  <a:ext cx="724" cy="13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7" name="AutoShape 1004"/>
                <p:cNvSpPr>
                  <a:spLocks noChangeArrowheads="1"/>
                </p:cNvSpPr>
                <p:nvPr/>
              </p:nvSpPr>
              <p:spPr bwMode="auto">
                <a:xfrm>
                  <a:off x="626" y="2585"/>
                  <a:ext cx="699" cy="10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05" name="Rectangle 1005"/>
              <p:cNvSpPr>
                <a:spLocks noChangeArrowheads="1"/>
              </p:cNvSpPr>
              <p:nvPr/>
            </p:nvSpPr>
            <p:spPr bwMode="auto">
              <a:xfrm>
                <a:off x="1574" y="2770"/>
                <a:ext cx="28" cy="9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6" name="Freeform 1006"/>
              <p:cNvSpPr/>
              <p:nvPr/>
            </p:nvSpPr>
            <p:spPr bwMode="auto">
              <a:xfrm>
                <a:off x="1599" y="3019"/>
                <a:ext cx="98" cy="92"/>
              </a:xfrm>
              <a:custGeom>
                <a:avLst/>
                <a:gdLst>
                  <a:gd name="T0" fmla="*/ 0 w 296"/>
                  <a:gd name="T1" fmla="*/ 0 h 256"/>
                  <a:gd name="T2" fmla="*/ 0 w 296"/>
                  <a:gd name="T3" fmla="*/ 0 h 256"/>
                  <a:gd name="T4" fmla="*/ 0 w 296"/>
                  <a:gd name="T5" fmla="*/ 0 h 256"/>
                  <a:gd name="T6" fmla="*/ 0 w 296"/>
                  <a:gd name="T7" fmla="*/ 0 h 256"/>
                  <a:gd name="T8" fmla="*/ 0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07" name="Freeform 1007"/>
              <p:cNvSpPr/>
              <p:nvPr/>
            </p:nvSpPr>
            <p:spPr bwMode="auto">
              <a:xfrm>
                <a:off x="1601" y="2878"/>
                <a:ext cx="101" cy="104"/>
              </a:xfrm>
              <a:custGeom>
                <a:avLst/>
                <a:gdLst>
                  <a:gd name="T0" fmla="*/ 0 w 304"/>
                  <a:gd name="T1" fmla="*/ 0 h 288"/>
                  <a:gd name="T2" fmla="*/ 0 w 304"/>
                  <a:gd name="T3" fmla="*/ 0 h 288"/>
                  <a:gd name="T4" fmla="*/ 0 w 304"/>
                  <a:gd name="T5" fmla="*/ 0 h 288"/>
                  <a:gd name="T6" fmla="*/ 0 w 304"/>
                  <a:gd name="T7" fmla="*/ 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08" name="Oval 1008"/>
              <p:cNvSpPr>
                <a:spLocks noChangeArrowheads="1"/>
              </p:cNvSpPr>
              <p:nvPr/>
            </p:nvSpPr>
            <p:spPr bwMode="auto">
              <a:xfrm>
                <a:off x="1684" y="3712"/>
                <a:ext cx="20" cy="43"/>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9" name="Freeform 1009"/>
              <p:cNvSpPr/>
              <p:nvPr/>
            </p:nvSpPr>
            <p:spPr bwMode="auto">
              <a:xfrm>
                <a:off x="1595" y="3713"/>
                <a:ext cx="102" cy="86"/>
              </a:xfrm>
              <a:custGeom>
                <a:avLst/>
                <a:gdLst>
                  <a:gd name="T0" fmla="*/ 0 w 306"/>
                  <a:gd name="T1" fmla="*/ 0 h 240"/>
                  <a:gd name="T2" fmla="*/ 0 w 306"/>
                  <a:gd name="T3" fmla="*/ 0 h 240"/>
                  <a:gd name="T4" fmla="*/ 0 w 306"/>
                  <a:gd name="T5" fmla="*/ 0 h 240"/>
                  <a:gd name="T6" fmla="*/ 0 w 306"/>
                  <a:gd name="T7" fmla="*/ 0 h 240"/>
                  <a:gd name="T8" fmla="*/ 0 w 306"/>
                  <a:gd name="T9" fmla="*/ 0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ln>
            </p:spPr>
            <p:txBody>
              <a:bodyPr/>
              <a:lstStyle/>
              <a:p>
                <a:endParaRPr lang="zh-CN" altLang="en-US"/>
              </a:p>
            </p:txBody>
          </p:sp>
          <p:sp>
            <p:nvSpPr>
              <p:cNvPr id="1710" name="AutoShape 1010"/>
              <p:cNvSpPr>
                <a:spLocks noChangeArrowheads="1"/>
              </p:cNvSpPr>
              <p:nvPr/>
            </p:nvSpPr>
            <p:spPr bwMode="auto">
              <a:xfrm>
                <a:off x="1115" y="3741"/>
                <a:ext cx="496" cy="63"/>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1" name="AutoShape 1011"/>
              <p:cNvSpPr>
                <a:spLocks noChangeArrowheads="1"/>
              </p:cNvSpPr>
              <p:nvPr/>
            </p:nvSpPr>
            <p:spPr bwMode="auto">
              <a:xfrm>
                <a:off x="1143" y="3755"/>
                <a:ext cx="443" cy="36"/>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2" name="Oval 1012"/>
              <p:cNvSpPr>
                <a:spLocks noChangeArrowheads="1"/>
              </p:cNvSpPr>
              <p:nvPr/>
            </p:nvSpPr>
            <p:spPr bwMode="auto">
              <a:xfrm>
                <a:off x="1184" y="3613"/>
                <a:ext cx="65" cy="63"/>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3" name="Oval 1013"/>
              <p:cNvSpPr>
                <a:spLocks noChangeArrowheads="1"/>
              </p:cNvSpPr>
              <p:nvPr/>
            </p:nvSpPr>
            <p:spPr bwMode="auto">
              <a:xfrm>
                <a:off x="1257" y="3613"/>
                <a:ext cx="65" cy="63"/>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endParaRPr>
              </a:p>
            </p:txBody>
          </p:sp>
          <p:sp>
            <p:nvSpPr>
              <p:cNvPr id="1714" name="Oval 1014"/>
              <p:cNvSpPr>
                <a:spLocks noChangeArrowheads="1"/>
              </p:cNvSpPr>
              <p:nvPr/>
            </p:nvSpPr>
            <p:spPr bwMode="auto">
              <a:xfrm>
                <a:off x="1330" y="3613"/>
                <a:ext cx="65" cy="59"/>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5" name="Rectangle 1015"/>
              <p:cNvSpPr>
                <a:spLocks noChangeArrowheads="1"/>
              </p:cNvSpPr>
              <p:nvPr/>
            </p:nvSpPr>
            <p:spPr bwMode="auto">
              <a:xfrm>
                <a:off x="1497" y="3376"/>
                <a:ext cx="32" cy="329"/>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1500" name="Group 1070"/>
            <p:cNvGrpSpPr/>
            <p:nvPr/>
          </p:nvGrpSpPr>
          <p:grpSpPr bwMode="auto">
            <a:xfrm>
              <a:off x="7202488" y="2486025"/>
              <a:ext cx="392112" cy="180975"/>
              <a:chOff x="4655" y="2464"/>
              <a:chExt cx="319" cy="132"/>
            </a:xfrm>
          </p:grpSpPr>
          <p:grpSp>
            <p:nvGrpSpPr>
              <p:cNvPr id="1675" name="Group 1071"/>
              <p:cNvGrpSpPr/>
              <p:nvPr/>
            </p:nvGrpSpPr>
            <p:grpSpPr bwMode="auto">
              <a:xfrm>
                <a:off x="4660" y="2464"/>
                <a:ext cx="310" cy="130"/>
                <a:chOff x="4334" y="1470"/>
                <a:chExt cx="246" cy="107"/>
              </a:xfrm>
            </p:grpSpPr>
            <p:sp>
              <p:nvSpPr>
                <p:cNvPr id="168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8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8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87" name="Group 1075"/>
                <p:cNvGrpSpPr/>
                <p:nvPr/>
              </p:nvGrpSpPr>
              <p:grpSpPr bwMode="auto">
                <a:xfrm>
                  <a:off x="4383" y="1488"/>
                  <a:ext cx="138" cy="33"/>
                  <a:chOff x="2468" y="1332"/>
                  <a:chExt cx="310" cy="60"/>
                </a:xfrm>
              </p:grpSpPr>
              <p:sp>
                <p:nvSpPr>
                  <p:cNvPr id="1690" name="Freeform 107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91" name="Freeform 107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88" name="Line 1078"/>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89" name="Line 1079"/>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76"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77"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78"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79" name="Group 1083"/>
              <p:cNvGrpSpPr/>
              <p:nvPr/>
            </p:nvGrpSpPr>
            <p:grpSpPr bwMode="auto">
              <a:xfrm>
                <a:off x="4719" y="2486"/>
                <a:ext cx="179" cy="41"/>
                <a:chOff x="2468" y="1332"/>
                <a:chExt cx="310" cy="60"/>
              </a:xfrm>
            </p:grpSpPr>
            <p:sp>
              <p:nvSpPr>
                <p:cNvPr id="1682" name="Freeform 108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3" name="Freeform 108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80" name="Line 1086"/>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81" name="Line 1087"/>
              <p:cNvSpPr>
                <a:spLocks noChangeShapeType="1"/>
              </p:cNvSpPr>
              <p:nvPr/>
            </p:nvSpPr>
            <p:spPr bwMode="auto">
              <a:xfrm>
                <a:off x="4971"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1" name="Group 1088"/>
            <p:cNvGrpSpPr/>
            <p:nvPr/>
          </p:nvGrpSpPr>
          <p:grpSpPr bwMode="auto">
            <a:xfrm>
              <a:off x="7205663" y="2752725"/>
              <a:ext cx="407987" cy="180975"/>
              <a:chOff x="4655" y="2464"/>
              <a:chExt cx="319" cy="132"/>
            </a:xfrm>
          </p:grpSpPr>
          <p:grpSp>
            <p:nvGrpSpPr>
              <p:cNvPr id="1658" name="Group 1089"/>
              <p:cNvGrpSpPr/>
              <p:nvPr/>
            </p:nvGrpSpPr>
            <p:grpSpPr bwMode="auto">
              <a:xfrm>
                <a:off x="4660" y="2464"/>
                <a:ext cx="310" cy="130"/>
                <a:chOff x="4334" y="1470"/>
                <a:chExt cx="246" cy="107"/>
              </a:xfrm>
            </p:grpSpPr>
            <p:sp>
              <p:nvSpPr>
                <p:cNvPr id="166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6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6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70" name="Group 1093"/>
                <p:cNvGrpSpPr/>
                <p:nvPr/>
              </p:nvGrpSpPr>
              <p:grpSpPr bwMode="auto">
                <a:xfrm>
                  <a:off x="4383" y="1488"/>
                  <a:ext cx="138" cy="33"/>
                  <a:chOff x="2468" y="1332"/>
                  <a:chExt cx="310" cy="60"/>
                </a:xfrm>
              </p:grpSpPr>
              <p:sp>
                <p:nvSpPr>
                  <p:cNvPr id="1673" name="Freeform 109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74" name="Freeform 109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71" name="Line 1096"/>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72" name="Line 1097"/>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59"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60"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61"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62" name="Group 1101"/>
              <p:cNvGrpSpPr/>
              <p:nvPr/>
            </p:nvGrpSpPr>
            <p:grpSpPr bwMode="auto">
              <a:xfrm>
                <a:off x="4719" y="2486"/>
                <a:ext cx="179" cy="41"/>
                <a:chOff x="2468" y="1332"/>
                <a:chExt cx="310" cy="60"/>
              </a:xfrm>
            </p:grpSpPr>
            <p:sp>
              <p:nvSpPr>
                <p:cNvPr id="1665" name="Freeform 110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66" name="Freeform 110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63" name="Line 1104"/>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64" name="Line 1105"/>
              <p:cNvSpPr>
                <a:spLocks noChangeShapeType="1"/>
              </p:cNvSpPr>
              <p:nvPr/>
            </p:nvSpPr>
            <p:spPr bwMode="auto">
              <a:xfrm>
                <a:off x="4972"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2" name="Group 1106"/>
            <p:cNvGrpSpPr/>
            <p:nvPr/>
          </p:nvGrpSpPr>
          <p:grpSpPr bwMode="auto">
            <a:xfrm>
              <a:off x="7758113" y="2749550"/>
              <a:ext cx="407987" cy="180975"/>
              <a:chOff x="4655" y="2464"/>
              <a:chExt cx="319" cy="132"/>
            </a:xfrm>
          </p:grpSpPr>
          <p:grpSp>
            <p:nvGrpSpPr>
              <p:cNvPr id="1641" name="Group 1107"/>
              <p:cNvGrpSpPr/>
              <p:nvPr/>
            </p:nvGrpSpPr>
            <p:grpSpPr bwMode="auto">
              <a:xfrm>
                <a:off x="4660" y="2464"/>
                <a:ext cx="310" cy="130"/>
                <a:chOff x="4334" y="1470"/>
                <a:chExt cx="246" cy="107"/>
              </a:xfrm>
            </p:grpSpPr>
            <p:sp>
              <p:nvSpPr>
                <p:cNvPr id="165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5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5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53" name="Group 1111"/>
                <p:cNvGrpSpPr/>
                <p:nvPr/>
              </p:nvGrpSpPr>
              <p:grpSpPr bwMode="auto">
                <a:xfrm>
                  <a:off x="4383" y="1488"/>
                  <a:ext cx="138" cy="33"/>
                  <a:chOff x="2468" y="1332"/>
                  <a:chExt cx="310" cy="60"/>
                </a:xfrm>
              </p:grpSpPr>
              <p:sp>
                <p:nvSpPr>
                  <p:cNvPr id="1656" name="Freeform 111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57" name="Freeform 111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54" name="Line 1114"/>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5" name="Line 1115"/>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42"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43"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44"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45" name="Group 1119"/>
              <p:cNvGrpSpPr/>
              <p:nvPr/>
            </p:nvGrpSpPr>
            <p:grpSpPr bwMode="auto">
              <a:xfrm>
                <a:off x="4719" y="2486"/>
                <a:ext cx="179" cy="41"/>
                <a:chOff x="2468" y="1332"/>
                <a:chExt cx="310" cy="60"/>
              </a:xfrm>
            </p:grpSpPr>
            <p:sp>
              <p:nvSpPr>
                <p:cNvPr id="1648" name="Freeform 112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9" name="Freeform 112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46" name="Line 1122"/>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7" name="Line 1123"/>
              <p:cNvSpPr>
                <a:spLocks noChangeShapeType="1"/>
              </p:cNvSpPr>
              <p:nvPr/>
            </p:nvSpPr>
            <p:spPr bwMode="auto">
              <a:xfrm>
                <a:off x="4972"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3" name="Group 1124"/>
            <p:cNvGrpSpPr/>
            <p:nvPr/>
          </p:nvGrpSpPr>
          <p:grpSpPr bwMode="auto">
            <a:xfrm>
              <a:off x="7688263" y="2390775"/>
              <a:ext cx="392112" cy="180975"/>
              <a:chOff x="4655" y="2464"/>
              <a:chExt cx="319" cy="132"/>
            </a:xfrm>
          </p:grpSpPr>
          <p:grpSp>
            <p:nvGrpSpPr>
              <p:cNvPr id="1624" name="Group 1125"/>
              <p:cNvGrpSpPr/>
              <p:nvPr/>
            </p:nvGrpSpPr>
            <p:grpSpPr bwMode="auto">
              <a:xfrm>
                <a:off x="4660" y="2464"/>
                <a:ext cx="310" cy="130"/>
                <a:chOff x="4334" y="1470"/>
                <a:chExt cx="246" cy="107"/>
              </a:xfrm>
            </p:grpSpPr>
            <p:sp>
              <p:nvSpPr>
                <p:cNvPr id="163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3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3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36" name="Group 1129"/>
                <p:cNvGrpSpPr/>
                <p:nvPr/>
              </p:nvGrpSpPr>
              <p:grpSpPr bwMode="auto">
                <a:xfrm>
                  <a:off x="4383" y="1488"/>
                  <a:ext cx="138" cy="33"/>
                  <a:chOff x="2468" y="1332"/>
                  <a:chExt cx="310" cy="60"/>
                </a:xfrm>
              </p:grpSpPr>
              <p:sp>
                <p:nvSpPr>
                  <p:cNvPr id="1639" name="Freeform 113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40" name="Freeform 113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37" name="Line 1132"/>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8" name="Line 1133"/>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25"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26"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27"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28" name="Group 1137"/>
              <p:cNvGrpSpPr/>
              <p:nvPr/>
            </p:nvGrpSpPr>
            <p:grpSpPr bwMode="auto">
              <a:xfrm>
                <a:off x="4719" y="2486"/>
                <a:ext cx="179" cy="41"/>
                <a:chOff x="2468" y="1332"/>
                <a:chExt cx="310" cy="60"/>
              </a:xfrm>
            </p:grpSpPr>
            <p:sp>
              <p:nvSpPr>
                <p:cNvPr id="1631" name="Freeform 113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32" name="Freeform 113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29" name="Line 1140"/>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0" name="Line 1141"/>
              <p:cNvSpPr>
                <a:spLocks noChangeShapeType="1"/>
              </p:cNvSpPr>
              <p:nvPr/>
            </p:nvSpPr>
            <p:spPr bwMode="auto">
              <a:xfrm>
                <a:off x="4971"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4" name="Group 5"/>
            <p:cNvGrpSpPr/>
            <p:nvPr/>
          </p:nvGrpSpPr>
          <p:grpSpPr bwMode="auto">
            <a:xfrm>
              <a:off x="7683500" y="2387600"/>
              <a:ext cx="409575" cy="222250"/>
              <a:chOff x="2213011" y="6015083"/>
              <a:chExt cx="745177" cy="407107"/>
            </a:xfrm>
          </p:grpSpPr>
          <p:sp>
            <p:nvSpPr>
              <p:cNvPr id="1615" name="Oval 528"/>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16" name="Rectangle 529"/>
              <p:cNvSpPr/>
              <p:nvPr/>
            </p:nvSpPr>
            <p:spPr bwMode="auto">
              <a:xfrm>
                <a:off x="2213011" y="6163387"/>
                <a:ext cx="745177" cy="110500"/>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7" name="Oval 530"/>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18" name="Freeform 531"/>
              <p:cNvSpPr/>
              <p:nvPr/>
            </p:nvSpPr>
            <p:spPr bwMode="auto">
              <a:xfrm>
                <a:off x="2403638" y="6102320"/>
                <a:ext cx="361036" cy="15121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9" name="Freeform 532"/>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20" name="Freeform 533"/>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21" name="Freeform 534"/>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622" name="Straight Connector 535"/>
              <p:cNvCxnSpPr>
                <a:cxnSpLocks noChangeShapeType="1"/>
                <a:endCxn id="1617"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623" name="Straight Connector 536"/>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5" name="Group 542"/>
            <p:cNvGrpSpPr/>
            <p:nvPr/>
          </p:nvGrpSpPr>
          <p:grpSpPr bwMode="auto">
            <a:xfrm>
              <a:off x="7751763" y="2738438"/>
              <a:ext cx="411162" cy="220662"/>
              <a:chOff x="2213011" y="6015083"/>
              <a:chExt cx="745177" cy="407107"/>
            </a:xfrm>
          </p:grpSpPr>
          <p:sp>
            <p:nvSpPr>
              <p:cNvPr id="1606" name="Oval 54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07" name="Rectangle 544"/>
              <p:cNvSpPr/>
              <p:nvPr/>
            </p:nvSpPr>
            <p:spPr bwMode="auto">
              <a:xfrm>
                <a:off x="2213011" y="6164453"/>
                <a:ext cx="745177" cy="108368"/>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08" name="Oval 54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09" name="Freeform 546"/>
              <p:cNvSpPr/>
              <p:nvPr/>
            </p:nvSpPr>
            <p:spPr bwMode="auto">
              <a:xfrm>
                <a:off x="2402902" y="6102948"/>
                <a:ext cx="362519" cy="1493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0" name="Freeform 54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11" name="Freeform 54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12" name="Freeform 54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613" name="Straight Connector 550"/>
              <p:cNvCxnSpPr>
                <a:cxnSpLocks noChangeShapeType="1"/>
                <a:endCxn id="1608"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614" name="Straight Connector 55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6" name="Group 552"/>
            <p:cNvGrpSpPr/>
            <p:nvPr/>
          </p:nvGrpSpPr>
          <p:grpSpPr bwMode="auto">
            <a:xfrm>
              <a:off x="7200900" y="2743200"/>
              <a:ext cx="411163" cy="220663"/>
              <a:chOff x="2213011" y="6015083"/>
              <a:chExt cx="745177" cy="407107"/>
            </a:xfrm>
          </p:grpSpPr>
          <p:sp>
            <p:nvSpPr>
              <p:cNvPr id="1597" name="Oval 55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98" name="Rectangle 55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9" name="Oval 55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00" name="Freeform 556"/>
              <p:cNvSpPr/>
              <p:nvPr/>
            </p:nvSpPr>
            <p:spPr bwMode="auto">
              <a:xfrm>
                <a:off x="2402901" y="6102948"/>
                <a:ext cx="362518"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01" name="Freeform 55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02" name="Freeform 55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03" name="Freeform 55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604" name="Straight Connector 560"/>
              <p:cNvCxnSpPr>
                <a:cxnSpLocks noChangeShapeType="1"/>
                <a:endCxn id="1599"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605" name="Straight Connector 56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7" name="Group 562"/>
            <p:cNvGrpSpPr/>
            <p:nvPr/>
          </p:nvGrpSpPr>
          <p:grpSpPr bwMode="auto">
            <a:xfrm>
              <a:off x="7188200" y="2473325"/>
              <a:ext cx="409575" cy="220663"/>
              <a:chOff x="2213011" y="6015083"/>
              <a:chExt cx="745177" cy="407107"/>
            </a:xfrm>
          </p:grpSpPr>
          <p:sp>
            <p:nvSpPr>
              <p:cNvPr id="1588" name="Oval 56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89" name="Rectangle 56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0" name="Oval 56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91" name="Freeform 566"/>
              <p:cNvSpPr/>
              <p:nvPr/>
            </p:nvSpPr>
            <p:spPr bwMode="auto">
              <a:xfrm>
                <a:off x="2403638" y="6102948"/>
                <a:ext cx="361036"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2" name="Freeform 56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93" name="Freeform 56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94" name="Freeform 56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95" name="Straight Connector 570"/>
              <p:cNvCxnSpPr>
                <a:cxnSpLocks noChangeShapeType="1"/>
                <a:endCxn id="1590"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96" name="Straight Connector 57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8" name="Group 572"/>
            <p:cNvGrpSpPr/>
            <p:nvPr/>
          </p:nvGrpSpPr>
          <p:grpSpPr bwMode="auto">
            <a:xfrm>
              <a:off x="7085013" y="3622675"/>
              <a:ext cx="411162" cy="220663"/>
              <a:chOff x="2213011" y="6015083"/>
              <a:chExt cx="745177" cy="407107"/>
            </a:xfrm>
          </p:grpSpPr>
          <p:sp>
            <p:nvSpPr>
              <p:cNvPr id="1579"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80"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81"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82"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83"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84"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85"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86" name="Straight Connector 580"/>
              <p:cNvCxnSpPr>
                <a:cxnSpLocks noChangeShapeType="1"/>
                <a:endCxn id="1581"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87"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9" name="Group 582"/>
            <p:cNvGrpSpPr/>
            <p:nvPr/>
          </p:nvGrpSpPr>
          <p:grpSpPr bwMode="auto">
            <a:xfrm>
              <a:off x="7753350" y="3636963"/>
              <a:ext cx="411163" cy="220662"/>
              <a:chOff x="2213011" y="6015083"/>
              <a:chExt cx="745177" cy="407107"/>
            </a:xfrm>
          </p:grpSpPr>
          <p:sp>
            <p:nvSpPr>
              <p:cNvPr id="1570" name="Oval 58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71" name="Rectangle 584"/>
              <p:cNvSpPr/>
              <p:nvPr/>
            </p:nvSpPr>
            <p:spPr bwMode="auto">
              <a:xfrm>
                <a:off x="2213011" y="6164453"/>
                <a:ext cx="745177" cy="108368"/>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72" name="Oval 58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73" name="Freeform 586"/>
              <p:cNvSpPr/>
              <p:nvPr/>
            </p:nvSpPr>
            <p:spPr bwMode="auto">
              <a:xfrm>
                <a:off x="2402901" y="6102948"/>
                <a:ext cx="362518" cy="1493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74" name="Freeform 58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75" name="Freeform 58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76" name="Freeform 58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77" name="Straight Connector 590"/>
              <p:cNvCxnSpPr>
                <a:cxnSpLocks noChangeShapeType="1"/>
                <a:endCxn id="1572"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78" name="Straight Connector 59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0" name="Group 592"/>
            <p:cNvGrpSpPr/>
            <p:nvPr/>
          </p:nvGrpSpPr>
          <p:grpSpPr bwMode="auto">
            <a:xfrm>
              <a:off x="7454900" y="3903663"/>
              <a:ext cx="411163" cy="222250"/>
              <a:chOff x="2213011" y="6015083"/>
              <a:chExt cx="745177" cy="407107"/>
            </a:xfrm>
          </p:grpSpPr>
          <p:sp>
            <p:nvSpPr>
              <p:cNvPr id="1561" name="Oval 59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62" name="Rectangle 594"/>
              <p:cNvSpPr/>
              <p:nvPr/>
            </p:nvSpPr>
            <p:spPr bwMode="auto">
              <a:xfrm>
                <a:off x="2213011" y="6163385"/>
                <a:ext cx="745177" cy="110500"/>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63" name="Oval 59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64" name="Freeform 596"/>
              <p:cNvSpPr/>
              <p:nvPr/>
            </p:nvSpPr>
            <p:spPr bwMode="auto">
              <a:xfrm>
                <a:off x="2402901" y="6102320"/>
                <a:ext cx="362518" cy="15121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65" name="Freeform 59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66" name="Freeform 59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67" name="Freeform 59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68" name="Straight Connector 600"/>
              <p:cNvCxnSpPr>
                <a:cxnSpLocks noChangeShapeType="1"/>
                <a:endCxn id="1563"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69" name="Straight Connector 60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1" name="Group 562"/>
            <p:cNvGrpSpPr/>
            <p:nvPr/>
          </p:nvGrpSpPr>
          <p:grpSpPr bwMode="auto">
            <a:xfrm>
              <a:off x="6330949" y="2450551"/>
              <a:ext cx="409575" cy="220663"/>
              <a:chOff x="2213011" y="6015083"/>
              <a:chExt cx="745177" cy="407107"/>
            </a:xfrm>
          </p:grpSpPr>
          <p:sp>
            <p:nvSpPr>
              <p:cNvPr id="1552" name="Oval 56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53" name="Rectangle 56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54" name="Oval 56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55" name="Freeform 566"/>
              <p:cNvSpPr/>
              <p:nvPr/>
            </p:nvSpPr>
            <p:spPr bwMode="auto">
              <a:xfrm>
                <a:off x="2403638" y="6102948"/>
                <a:ext cx="361036"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56" name="Freeform 56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57" name="Freeform 56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58" name="Freeform 56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59" name="Straight Connector 570"/>
              <p:cNvCxnSpPr>
                <a:cxnSpLocks noChangeShapeType="1"/>
                <a:endCxn id="1554"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60" name="Straight Connector 57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2" name="Group 572"/>
            <p:cNvGrpSpPr/>
            <p:nvPr/>
          </p:nvGrpSpPr>
          <p:grpSpPr bwMode="auto">
            <a:xfrm>
              <a:off x="6046873" y="3655218"/>
              <a:ext cx="411162" cy="220663"/>
              <a:chOff x="2213011" y="6015083"/>
              <a:chExt cx="745177" cy="407107"/>
            </a:xfrm>
          </p:grpSpPr>
          <p:sp>
            <p:nvSpPr>
              <p:cNvPr id="1543"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44"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45"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46"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47"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48"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49"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50" name="Straight Connector 580"/>
              <p:cNvCxnSpPr>
                <a:cxnSpLocks noChangeShapeType="1"/>
                <a:endCxn id="1545"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51"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3" name="Group 572"/>
            <p:cNvGrpSpPr/>
            <p:nvPr/>
          </p:nvGrpSpPr>
          <p:grpSpPr bwMode="auto">
            <a:xfrm>
              <a:off x="7713489" y="4861116"/>
              <a:ext cx="411162" cy="220663"/>
              <a:chOff x="2213011" y="6015083"/>
              <a:chExt cx="745177" cy="407107"/>
            </a:xfrm>
          </p:grpSpPr>
          <p:sp>
            <p:nvSpPr>
              <p:cNvPr id="1534"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35"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36"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37"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38"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39"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40"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41" name="Straight Connector 580"/>
              <p:cNvCxnSpPr>
                <a:cxnSpLocks noChangeShapeType="1"/>
                <a:endCxn id="1536"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42"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4" name="Group 572"/>
            <p:cNvGrpSpPr/>
            <p:nvPr/>
          </p:nvGrpSpPr>
          <p:grpSpPr bwMode="auto">
            <a:xfrm>
              <a:off x="6394390" y="4836908"/>
              <a:ext cx="411162" cy="220663"/>
              <a:chOff x="2213011" y="6015083"/>
              <a:chExt cx="745177" cy="407107"/>
            </a:xfrm>
          </p:grpSpPr>
          <p:sp>
            <p:nvSpPr>
              <p:cNvPr id="1525"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26"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27"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28"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29"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30"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31"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32" name="Straight Connector 580"/>
              <p:cNvCxnSpPr>
                <a:cxnSpLocks noChangeShapeType="1"/>
                <a:endCxn id="1527"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33"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5" name="Group 572"/>
            <p:cNvGrpSpPr/>
            <p:nvPr/>
          </p:nvGrpSpPr>
          <p:grpSpPr bwMode="auto">
            <a:xfrm>
              <a:off x="7015084" y="4489450"/>
              <a:ext cx="411162" cy="220663"/>
              <a:chOff x="2213011" y="6015083"/>
              <a:chExt cx="745177" cy="407107"/>
            </a:xfrm>
          </p:grpSpPr>
          <p:sp>
            <p:nvSpPr>
              <p:cNvPr id="1516"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17"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18"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19"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20"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21"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22"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23" name="Straight Connector 580"/>
              <p:cNvCxnSpPr>
                <a:cxnSpLocks noChangeShapeType="1"/>
                <a:endCxn id="1518"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24"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65363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9" name="Rectangle 3"/>
          <p:cNvSpPr>
            <a:spLocks noGrp="1" noChangeArrowheads="1"/>
          </p:cNvSpPr>
          <p:nvPr>
            <p:ph type="body" sz="half" idx="1"/>
          </p:nvPr>
        </p:nvSpPr>
        <p:spPr>
          <a:xfrm>
            <a:off x="426679" y="1369494"/>
            <a:ext cx="4339736" cy="5061096"/>
          </a:xfrm>
        </p:spPr>
        <p:txBody>
          <a:bodyPr>
            <a:noAutofit/>
          </a:bodyPr>
          <a:lstStyle/>
          <a:p>
            <a:pPr marL="342900" indent="-342900">
              <a:lnSpc>
                <a:spcPts val="3600"/>
              </a:lnSpc>
              <a:spcBef>
                <a:spcPts val="600"/>
              </a:spcBef>
              <a:buClr>
                <a:schemeClr val="accent2"/>
              </a:buClr>
              <a:buSzPct val="100000"/>
              <a:buBlip>
                <a:blip r:embed="rId3"/>
              </a:buBlip>
              <a:defRPr/>
            </a:pPr>
            <a:r>
              <a:rPr lang="zh-CN" altLang="en-US" sz="2400" dirty="0">
                <a:ea typeface="宋体" panose="02010600030101010101" pitchFamily="2" charset="-122"/>
                <a:cs typeface="Times New Roman" panose="02020603050405020304" pitchFamily="18" charset="0"/>
              </a:rPr>
              <a:t>报文分组转发</a:t>
            </a:r>
            <a:endParaRPr lang="en-US" altLang="zh-CN" sz="2400" dirty="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将来自一个物理网络的</a:t>
            </a: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报文分组</a:t>
            </a: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转发到下一个物理网络（或来自于一个路由器的分组转发到下一个路由器）</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600"/>
              </a:lnSpc>
              <a:spcBef>
                <a:spcPts val="600"/>
              </a:spcBef>
              <a:buClr>
                <a:schemeClr val="accent2"/>
              </a:buClr>
              <a:buSzPct val="100000"/>
              <a:buBlip>
                <a:blip r:embed="rId3"/>
              </a:buBlip>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存储</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转发式交换</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路由器对到达的报文分组进行缓存，只有整个分组完全到达且下一个物理网络链路空闲，才能够被转发出去</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88" name="Rectangle 872"/>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800">
              <a:ea typeface="宋体" panose="02010600030101010101" pitchFamily="2"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1445" name="组合 1444"/>
          <p:cNvGrpSpPr/>
          <p:nvPr/>
        </p:nvGrpSpPr>
        <p:grpSpPr>
          <a:xfrm>
            <a:off x="5160403" y="1369494"/>
            <a:ext cx="3411537" cy="4500563"/>
            <a:chOff x="5202238" y="1590675"/>
            <a:chExt cx="3411537" cy="4500563"/>
          </a:xfrm>
        </p:grpSpPr>
        <p:sp>
          <p:nvSpPr>
            <p:cNvPr id="1446" name="Freeform 637"/>
            <p:cNvSpPr/>
            <p:nvPr/>
          </p:nvSpPr>
          <p:spPr bwMode="auto">
            <a:xfrm>
              <a:off x="5202238" y="1712913"/>
              <a:ext cx="1736725"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47" name="Group 638"/>
            <p:cNvGrpSpPr/>
            <p:nvPr/>
          </p:nvGrpSpPr>
          <p:grpSpPr bwMode="auto">
            <a:xfrm>
              <a:off x="5370513" y="3048000"/>
              <a:ext cx="1458912" cy="933450"/>
              <a:chOff x="2889" y="1631"/>
              <a:chExt cx="980" cy="743"/>
            </a:xfrm>
          </p:grpSpPr>
          <p:sp>
            <p:nvSpPr>
              <p:cNvPr id="1947" name="Rectangle 639"/>
              <p:cNvSpPr>
                <a:spLocks noChangeArrowheads="1"/>
              </p:cNvSpPr>
              <p:nvPr/>
            </p:nvSpPr>
            <p:spPr bwMode="auto">
              <a:xfrm>
                <a:off x="3046" y="1841"/>
                <a:ext cx="663" cy="53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948" name="AutoShape 640"/>
              <p:cNvSpPr>
                <a:spLocks noChangeArrowheads="1"/>
              </p:cNvSpPr>
              <p:nvPr/>
            </p:nvSpPr>
            <p:spPr bwMode="auto">
              <a:xfrm>
                <a:off x="2889" y="1631"/>
                <a:ext cx="980" cy="25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00CCFF"/>
                  </a:solidFill>
                </a:endParaRPr>
              </a:p>
            </p:txBody>
          </p:sp>
        </p:grpSp>
        <p:sp>
          <p:nvSpPr>
            <p:cNvPr id="1448" name="Freeform 641"/>
            <p:cNvSpPr/>
            <p:nvPr/>
          </p:nvSpPr>
          <p:spPr bwMode="auto">
            <a:xfrm>
              <a:off x="5364163" y="4425950"/>
              <a:ext cx="3225800"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49" name="Line 642"/>
            <p:cNvSpPr>
              <a:spLocks noChangeShapeType="1"/>
            </p:cNvSpPr>
            <p:nvPr/>
          </p:nvSpPr>
          <p:spPr bwMode="auto">
            <a:xfrm rot="16200000">
              <a:off x="7845425" y="5162551"/>
              <a:ext cx="523875" cy="13970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0" name="Line 643"/>
            <p:cNvSpPr>
              <a:spLocks noChangeShapeType="1"/>
            </p:cNvSpPr>
            <p:nvPr/>
          </p:nvSpPr>
          <p:spPr bwMode="auto">
            <a:xfrm rot="5400000" flipV="1">
              <a:off x="7991475" y="5443538"/>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1" name="Line 644"/>
            <p:cNvSpPr>
              <a:spLocks noChangeShapeType="1"/>
            </p:cNvSpPr>
            <p:nvPr/>
          </p:nvSpPr>
          <p:spPr bwMode="auto">
            <a:xfrm rot="16200000">
              <a:off x="8177213" y="5119688"/>
              <a:ext cx="0" cy="11430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2" name="Line 646"/>
            <p:cNvSpPr>
              <a:spLocks noChangeShapeType="1"/>
            </p:cNvSpPr>
            <p:nvPr/>
          </p:nvSpPr>
          <p:spPr bwMode="auto">
            <a:xfrm>
              <a:off x="6100763" y="4776788"/>
              <a:ext cx="212725" cy="9842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3" name="Line 647"/>
            <p:cNvSpPr>
              <a:spLocks noChangeShapeType="1"/>
            </p:cNvSpPr>
            <p:nvPr/>
          </p:nvSpPr>
          <p:spPr bwMode="auto">
            <a:xfrm flipV="1">
              <a:off x="5842000" y="5040313"/>
              <a:ext cx="390525" cy="7302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4" name="Line 650"/>
            <p:cNvSpPr>
              <a:spLocks noChangeShapeType="1"/>
            </p:cNvSpPr>
            <p:nvPr/>
          </p:nvSpPr>
          <p:spPr bwMode="auto">
            <a:xfrm flipH="1">
              <a:off x="6267450" y="5087938"/>
              <a:ext cx="103188" cy="18415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5" name="Line 651"/>
            <p:cNvSpPr>
              <a:spLocks noChangeShapeType="1"/>
            </p:cNvSpPr>
            <p:nvPr/>
          </p:nvSpPr>
          <p:spPr bwMode="auto">
            <a:xfrm flipH="1" flipV="1">
              <a:off x="6548438" y="5100638"/>
              <a:ext cx="114300" cy="17303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6" name="Line 652"/>
            <p:cNvSpPr>
              <a:spLocks noChangeShapeType="1"/>
            </p:cNvSpPr>
            <p:nvPr/>
          </p:nvSpPr>
          <p:spPr bwMode="auto">
            <a:xfrm>
              <a:off x="6743700" y="5056188"/>
              <a:ext cx="503238" cy="26987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7" name="Line 654"/>
            <p:cNvSpPr>
              <a:spLocks noChangeShapeType="1"/>
            </p:cNvSpPr>
            <p:nvPr/>
          </p:nvSpPr>
          <p:spPr bwMode="auto">
            <a:xfrm>
              <a:off x="6046788" y="3582988"/>
              <a:ext cx="234950" cy="74612"/>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8" name="Line 655"/>
            <p:cNvSpPr>
              <a:spLocks noChangeShapeType="1"/>
            </p:cNvSpPr>
            <p:nvPr/>
          </p:nvSpPr>
          <p:spPr bwMode="auto">
            <a:xfrm flipV="1">
              <a:off x="5891213" y="3736975"/>
              <a:ext cx="168275" cy="317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59" name="Group 656"/>
            <p:cNvGrpSpPr/>
            <p:nvPr/>
          </p:nvGrpSpPr>
          <p:grpSpPr bwMode="auto">
            <a:xfrm>
              <a:off x="5611813" y="3503613"/>
              <a:ext cx="506412" cy="352425"/>
              <a:chOff x="2967" y="478"/>
              <a:chExt cx="788" cy="625"/>
            </a:xfrm>
          </p:grpSpPr>
          <p:pic>
            <p:nvPicPr>
              <p:cNvPr id="1945" name="Picture 657"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 name="Picture 658" descr="antenna_radiation_stylize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60" name="Freeform 659"/>
            <p:cNvSpPr/>
            <p:nvPr/>
          </p:nvSpPr>
          <p:spPr bwMode="auto">
            <a:xfrm>
              <a:off x="6919913" y="3476625"/>
              <a:ext cx="1470025" cy="765175"/>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1" name="Freeform 660"/>
            <p:cNvSpPr/>
            <p:nvPr/>
          </p:nvSpPr>
          <p:spPr bwMode="auto">
            <a:xfrm>
              <a:off x="6883400" y="2128838"/>
              <a:ext cx="1730375"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2" name="Line 661"/>
            <p:cNvSpPr>
              <a:spLocks noChangeShapeType="1"/>
            </p:cNvSpPr>
            <p:nvPr/>
          </p:nvSpPr>
          <p:spPr bwMode="auto">
            <a:xfrm>
              <a:off x="7396163" y="3816350"/>
              <a:ext cx="163512" cy="1206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3" name="Line 662"/>
            <p:cNvSpPr>
              <a:spLocks noChangeShapeType="1"/>
            </p:cNvSpPr>
            <p:nvPr/>
          </p:nvSpPr>
          <p:spPr bwMode="auto">
            <a:xfrm>
              <a:off x="7493000" y="3736975"/>
              <a:ext cx="2794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4" name="Line 663"/>
            <p:cNvSpPr>
              <a:spLocks noChangeShapeType="1"/>
            </p:cNvSpPr>
            <p:nvPr/>
          </p:nvSpPr>
          <p:spPr bwMode="auto">
            <a:xfrm flipV="1">
              <a:off x="7729538" y="3822700"/>
              <a:ext cx="134937" cy="1047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5" name="Line 664"/>
            <p:cNvSpPr>
              <a:spLocks noChangeShapeType="1"/>
            </p:cNvSpPr>
            <p:nvPr/>
          </p:nvSpPr>
          <p:spPr bwMode="auto">
            <a:xfrm>
              <a:off x="6723063" y="2590800"/>
              <a:ext cx="509587" cy="31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6" name="Line 665"/>
            <p:cNvSpPr>
              <a:spLocks noChangeShapeType="1"/>
            </p:cNvSpPr>
            <p:nvPr/>
          </p:nvSpPr>
          <p:spPr bwMode="auto">
            <a:xfrm>
              <a:off x="7358063" y="4700588"/>
              <a:ext cx="390525" cy="1841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7" name="Line 666"/>
            <p:cNvSpPr>
              <a:spLocks noChangeShapeType="1"/>
            </p:cNvSpPr>
            <p:nvPr/>
          </p:nvSpPr>
          <p:spPr bwMode="auto">
            <a:xfrm flipV="1">
              <a:off x="6737350" y="4687888"/>
              <a:ext cx="322263" cy="19843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8" name="Line 667"/>
            <p:cNvSpPr>
              <a:spLocks noChangeShapeType="1"/>
            </p:cNvSpPr>
            <p:nvPr/>
          </p:nvSpPr>
          <p:spPr bwMode="auto">
            <a:xfrm flipV="1">
              <a:off x="6780213" y="4979988"/>
              <a:ext cx="97155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9" name="Line 668"/>
            <p:cNvSpPr>
              <a:spLocks noChangeShapeType="1"/>
            </p:cNvSpPr>
            <p:nvPr/>
          </p:nvSpPr>
          <p:spPr bwMode="auto">
            <a:xfrm flipV="1">
              <a:off x="7577138" y="2495550"/>
              <a:ext cx="123825" cy="87313"/>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0" name="Line 669"/>
            <p:cNvSpPr>
              <a:spLocks noChangeShapeType="1"/>
            </p:cNvSpPr>
            <p:nvPr/>
          </p:nvSpPr>
          <p:spPr bwMode="auto">
            <a:xfrm>
              <a:off x="7405688" y="2668588"/>
              <a:ext cx="0" cy="825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1" name="Line 670"/>
            <p:cNvSpPr>
              <a:spLocks noChangeShapeType="1"/>
            </p:cNvSpPr>
            <p:nvPr/>
          </p:nvSpPr>
          <p:spPr bwMode="auto">
            <a:xfrm flipV="1">
              <a:off x="7580313" y="2562225"/>
              <a:ext cx="263525" cy="28892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2" name="Line 671"/>
            <p:cNvSpPr>
              <a:spLocks noChangeShapeType="1"/>
            </p:cNvSpPr>
            <p:nvPr/>
          </p:nvSpPr>
          <p:spPr bwMode="auto">
            <a:xfrm>
              <a:off x="7942263" y="2563813"/>
              <a:ext cx="0" cy="1968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 name="Line 672"/>
            <p:cNvSpPr>
              <a:spLocks noChangeShapeType="1"/>
            </p:cNvSpPr>
            <p:nvPr/>
          </p:nvSpPr>
          <p:spPr bwMode="auto">
            <a:xfrm>
              <a:off x="7596188" y="2870200"/>
              <a:ext cx="188912"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 name="Line 673"/>
            <p:cNvSpPr>
              <a:spLocks noChangeShapeType="1"/>
            </p:cNvSpPr>
            <p:nvPr/>
          </p:nvSpPr>
          <p:spPr bwMode="auto">
            <a:xfrm>
              <a:off x="8150225" y="2860675"/>
              <a:ext cx="1778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 name="Line 674"/>
            <p:cNvSpPr>
              <a:spLocks noChangeShapeType="1"/>
            </p:cNvSpPr>
            <p:nvPr/>
          </p:nvSpPr>
          <p:spPr bwMode="auto">
            <a:xfrm flipH="1">
              <a:off x="7299325" y="2936875"/>
              <a:ext cx="98425" cy="7048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6" name="Line 675"/>
            <p:cNvSpPr>
              <a:spLocks noChangeShapeType="1"/>
            </p:cNvSpPr>
            <p:nvPr/>
          </p:nvSpPr>
          <p:spPr bwMode="auto">
            <a:xfrm flipH="1">
              <a:off x="7888288" y="2936875"/>
              <a:ext cx="111125" cy="7270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7" name="Line 676"/>
            <p:cNvSpPr>
              <a:spLocks noChangeShapeType="1"/>
            </p:cNvSpPr>
            <p:nvPr/>
          </p:nvSpPr>
          <p:spPr bwMode="auto">
            <a:xfrm flipV="1">
              <a:off x="7272338" y="4078288"/>
              <a:ext cx="227012" cy="43656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8" name="Line 677"/>
            <p:cNvSpPr>
              <a:spLocks noChangeShapeType="1"/>
            </p:cNvSpPr>
            <p:nvPr/>
          </p:nvSpPr>
          <p:spPr bwMode="auto">
            <a:xfrm>
              <a:off x="8345488" y="2859088"/>
              <a:ext cx="177800" cy="0"/>
            </a:xfrm>
            <a:prstGeom prst="line">
              <a:avLst/>
            </a:prstGeom>
            <a:noFill/>
            <a:ln w="9525">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1479" name="Group 678"/>
            <p:cNvGrpSpPr/>
            <p:nvPr/>
          </p:nvGrpSpPr>
          <p:grpSpPr bwMode="auto">
            <a:xfrm>
              <a:off x="6053138" y="1846263"/>
              <a:ext cx="468312" cy="620712"/>
              <a:chOff x="1653" y="3023"/>
              <a:chExt cx="622" cy="911"/>
            </a:xfrm>
          </p:grpSpPr>
          <p:sp>
            <p:nvSpPr>
              <p:cNvPr id="1928" name="Line 270"/>
              <p:cNvSpPr>
                <a:spLocks noChangeShapeType="1"/>
              </p:cNvSpPr>
              <p:nvPr/>
            </p:nvSpPr>
            <p:spPr bwMode="auto">
              <a:xfrm flipH="1">
                <a:off x="1766" y="3287"/>
                <a:ext cx="188" cy="586"/>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29" name="Line 271"/>
              <p:cNvSpPr>
                <a:spLocks noChangeShapeType="1"/>
              </p:cNvSpPr>
              <p:nvPr/>
            </p:nvSpPr>
            <p:spPr bwMode="auto">
              <a:xfrm>
                <a:off x="1954" y="3287"/>
                <a:ext cx="188" cy="583"/>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0" name="Line 272"/>
              <p:cNvSpPr>
                <a:spLocks noChangeShapeType="1"/>
              </p:cNvSpPr>
              <p:nvPr/>
            </p:nvSpPr>
            <p:spPr bwMode="auto">
              <a:xfrm>
                <a:off x="1766" y="3870"/>
                <a:ext cx="188" cy="6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1" name="Line 273"/>
              <p:cNvSpPr>
                <a:spLocks noChangeShapeType="1"/>
              </p:cNvSpPr>
              <p:nvPr/>
            </p:nvSpPr>
            <p:spPr bwMode="auto">
              <a:xfrm flipH="1">
                <a:off x="1954" y="3870"/>
                <a:ext cx="188" cy="6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2" name="Line 274"/>
              <p:cNvSpPr>
                <a:spLocks noChangeShapeType="1"/>
              </p:cNvSpPr>
              <p:nvPr/>
            </p:nvSpPr>
            <p:spPr bwMode="auto">
              <a:xfrm>
                <a:off x="1954" y="3300"/>
                <a:ext cx="0" cy="63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3" name="Line 275"/>
              <p:cNvSpPr>
                <a:spLocks noChangeShapeType="1"/>
              </p:cNvSpPr>
              <p:nvPr/>
            </p:nvSpPr>
            <p:spPr bwMode="auto">
              <a:xfrm flipV="1">
                <a:off x="1766" y="3810"/>
                <a:ext cx="188" cy="63"/>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4" name="Line 276"/>
              <p:cNvSpPr>
                <a:spLocks noChangeShapeType="1"/>
              </p:cNvSpPr>
              <p:nvPr/>
            </p:nvSpPr>
            <p:spPr bwMode="auto">
              <a:xfrm flipH="1" flipV="1">
                <a:off x="1954" y="3810"/>
                <a:ext cx="188" cy="60"/>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5" name="Line 277"/>
              <p:cNvSpPr>
                <a:spLocks noChangeShapeType="1"/>
              </p:cNvSpPr>
              <p:nvPr/>
            </p:nvSpPr>
            <p:spPr bwMode="auto">
              <a:xfrm>
                <a:off x="1846" y="3618"/>
                <a:ext cx="108" cy="48"/>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6" name="Line 278"/>
              <p:cNvSpPr>
                <a:spLocks noChangeShapeType="1"/>
              </p:cNvSpPr>
              <p:nvPr/>
            </p:nvSpPr>
            <p:spPr bwMode="auto">
              <a:xfrm flipV="1">
                <a:off x="1954" y="3618"/>
                <a:ext cx="114" cy="48"/>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7" name="Line 279"/>
              <p:cNvSpPr>
                <a:spLocks noChangeShapeType="1"/>
              </p:cNvSpPr>
              <p:nvPr/>
            </p:nvSpPr>
            <p:spPr bwMode="auto">
              <a:xfrm>
                <a:off x="1810" y="3704"/>
                <a:ext cx="139" cy="65"/>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8" name="Line 280"/>
              <p:cNvSpPr>
                <a:spLocks noChangeShapeType="1"/>
              </p:cNvSpPr>
              <p:nvPr/>
            </p:nvSpPr>
            <p:spPr bwMode="auto">
              <a:xfrm flipV="1">
                <a:off x="1954" y="3717"/>
                <a:ext cx="140" cy="57"/>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39" name="Line 281"/>
              <p:cNvSpPr>
                <a:spLocks noChangeShapeType="1"/>
              </p:cNvSpPr>
              <p:nvPr/>
            </p:nvSpPr>
            <p:spPr bwMode="auto">
              <a:xfrm flipV="1">
                <a:off x="1954" y="3530"/>
                <a:ext cx="72" cy="24"/>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0" name="Line 282"/>
              <p:cNvSpPr>
                <a:spLocks noChangeShapeType="1"/>
              </p:cNvSpPr>
              <p:nvPr/>
            </p:nvSpPr>
            <p:spPr bwMode="auto">
              <a:xfrm flipV="1">
                <a:off x="1954" y="3409"/>
                <a:ext cx="45" cy="18"/>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1" name="Line 283"/>
              <p:cNvSpPr>
                <a:spLocks noChangeShapeType="1"/>
              </p:cNvSpPr>
              <p:nvPr/>
            </p:nvSpPr>
            <p:spPr bwMode="auto">
              <a:xfrm>
                <a:off x="1873" y="3522"/>
                <a:ext cx="87" cy="32"/>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2" name="Line 284"/>
              <p:cNvSpPr>
                <a:spLocks noChangeShapeType="1"/>
              </p:cNvSpPr>
              <p:nvPr/>
            </p:nvSpPr>
            <p:spPr bwMode="auto">
              <a:xfrm>
                <a:off x="1912" y="3404"/>
                <a:ext cx="50" cy="31"/>
              </a:xfrm>
              <a:prstGeom prst="line">
                <a:avLst/>
              </a:prstGeom>
              <a:noFill/>
              <a:ln w="19050">
                <a:solidFill>
                  <a:srgbClr val="80808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3" name="Oval 694"/>
              <p:cNvSpPr>
                <a:spLocks noChangeArrowheads="1"/>
              </p:cNvSpPr>
              <p:nvPr/>
            </p:nvSpPr>
            <p:spPr bwMode="auto">
              <a:xfrm>
                <a:off x="1921" y="3233"/>
                <a:ext cx="63" cy="68"/>
              </a:xfrm>
              <a:prstGeom prst="ellipse">
                <a:avLst/>
              </a:prstGeom>
              <a:solidFill>
                <a:srgbClr val="808080"/>
              </a:solidFill>
              <a:ln w="9525">
                <a:solidFill>
                  <a:srgbClr val="80808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pic>
            <p:nvPicPr>
              <p:cNvPr id="1944" name="Picture 695" descr="cell_tower_radiation_gray"/>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53" y="3023"/>
                <a:ext cx="622"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80" name="Group 706"/>
            <p:cNvGrpSpPr/>
            <p:nvPr/>
          </p:nvGrpSpPr>
          <p:grpSpPr bwMode="auto">
            <a:xfrm>
              <a:off x="7202488" y="2493963"/>
              <a:ext cx="390525" cy="174625"/>
              <a:chOff x="4334" y="1470"/>
              <a:chExt cx="246" cy="107"/>
            </a:xfrm>
          </p:grpSpPr>
          <p:sp>
            <p:nvSpPr>
              <p:cNvPr id="192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92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92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923" name="Group 710"/>
              <p:cNvGrpSpPr/>
              <p:nvPr/>
            </p:nvGrpSpPr>
            <p:grpSpPr bwMode="auto">
              <a:xfrm>
                <a:off x="4383" y="1488"/>
                <a:ext cx="138" cy="33"/>
                <a:chOff x="2468" y="1332"/>
                <a:chExt cx="310" cy="60"/>
              </a:xfrm>
            </p:grpSpPr>
            <p:sp>
              <p:nvSpPr>
                <p:cNvPr id="1926" name="Freeform 71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27" name="Freeform 71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24" name="Line 713"/>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25" name="Line 714"/>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1" name="Group 715"/>
            <p:cNvGrpSpPr/>
            <p:nvPr/>
          </p:nvGrpSpPr>
          <p:grpSpPr bwMode="auto">
            <a:xfrm>
              <a:off x="7213600" y="2757488"/>
              <a:ext cx="390525" cy="174625"/>
              <a:chOff x="4334" y="1470"/>
              <a:chExt cx="246" cy="107"/>
            </a:xfrm>
          </p:grpSpPr>
          <p:sp>
            <p:nvSpPr>
              <p:cNvPr id="1912"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913"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914"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915" name="Group 719"/>
              <p:cNvGrpSpPr/>
              <p:nvPr/>
            </p:nvGrpSpPr>
            <p:grpSpPr bwMode="auto">
              <a:xfrm>
                <a:off x="4383" y="1488"/>
                <a:ext cx="138" cy="33"/>
                <a:chOff x="2468" y="1332"/>
                <a:chExt cx="310" cy="60"/>
              </a:xfrm>
            </p:grpSpPr>
            <p:sp>
              <p:nvSpPr>
                <p:cNvPr id="1918" name="Freeform 72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19" name="Freeform 72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16" name="Line 722"/>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17" name="Line 723"/>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 name="Group 724"/>
            <p:cNvGrpSpPr/>
            <p:nvPr/>
          </p:nvGrpSpPr>
          <p:grpSpPr bwMode="auto">
            <a:xfrm>
              <a:off x="7762875" y="2759075"/>
              <a:ext cx="390525" cy="174625"/>
              <a:chOff x="4334" y="1470"/>
              <a:chExt cx="246" cy="107"/>
            </a:xfrm>
          </p:grpSpPr>
          <p:sp>
            <p:nvSpPr>
              <p:cNvPr id="190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90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90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907" name="Group 728"/>
              <p:cNvGrpSpPr/>
              <p:nvPr/>
            </p:nvGrpSpPr>
            <p:grpSpPr bwMode="auto">
              <a:xfrm>
                <a:off x="4383" y="1488"/>
                <a:ext cx="138" cy="33"/>
                <a:chOff x="2468" y="1332"/>
                <a:chExt cx="310" cy="60"/>
              </a:xfrm>
            </p:grpSpPr>
            <p:sp>
              <p:nvSpPr>
                <p:cNvPr id="1910" name="Freeform 729"/>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11" name="Freeform 730"/>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08" name="Line 731"/>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9" name="Line 732"/>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 name="Group 733"/>
            <p:cNvGrpSpPr/>
            <p:nvPr/>
          </p:nvGrpSpPr>
          <p:grpSpPr bwMode="auto">
            <a:xfrm>
              <a:off x="7689850" y="2393950"/>
              <a:ext cx="390525" cy="174625"/>
              <a:chOff x="4334" y="1470"/>
              <a:chExt cx="246" cy="107"/>
            </a:xfrm>
          </p:grpSpPr>
          <p:sp>
            <p:nvSpPr>
              <p:cNvPr id="1896"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897"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898"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899" name="Group 737"/>
              <p:cNvGrpSpPr/>
              <p:nvPr/>
            </p:nvGrpSpPr>
            <p:grpSpPr bwMode="auto">
              <a:xfrm>
                <a:off x="4383" y="1488"/>
                <a:ext cx="138" cy="33"/>
                <a:chOff x="2468" y="1332"/>
                <a:chExt cx="310" cy="60"/>
              </a:xfrm>
            </p:grpSpPr>
            <p:sp>
              <p:nvSpPr>
                <p:cNvPr id="1902" name="Freeform 73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903" name="Freeform 73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900" name="Line 740"/>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1" name="Line 741"/>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4" name="Line 751"/>
            <p:cNvSpPr>
              <a:spLocks noChangeShapeType="1"/>
            </p:cNvSpPr>
            <p:nvPr/>
          </p:nvSpPr>
          <p:spPr bwMode="auto">
            <a:xfrm>
              <a:off x="6427788" y="3743325"/>
              <a:ext cx="67945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85" name="Group 797"/>
            <p:cNvGrpSpPr/>
            <p:nvPr/>
          </p:nvGrpSpPr>
          <p:grpSpPr bwMode="auto">
            <a:xfrm>
              <a:off x="7161213" y="5005388"/>
              <a:ext cx="446087" cy="422275"/>
              <a:chOff x="5072" y="3611"/>
              <a:chExt cx="459" cy="380"/>
            </a:xfrm>
          </p:grpSpPr>
          <p:grpSp>
            <p:nvGrpSpPr>
              <p:cNvPr id="1882" name="Group 798"/>
              <p:cNvGrpSpPr/>
              <p:nvPr/>
            </p:nvGrpSpPr>
            <p:grpSpPr bwMode="auto">
              <a:xfrm>
                <a:off x="5144" y="3611"/>
                <a:ext cx="387" cy="99"/>
                <a:chOff x="5030" y="2639"/>
                <a:chExt cx="387" cy="99"/>
              </a:xfrm>
            </p:grpSpPr>
            <p:sp>
              <p:nvSpPr>
                <p:cNvPr id="1884" name="Freeform 799"/>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5" name="Freeform 800"/>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6" name="Freeform 801"/>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7" name="Freeform 802"/>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8" name="Freeform 803"/>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89" name="Freeform 804"/>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90" name="Freeform 805"/>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zh-CN" altLang="en-US"/>
                </a:p>
              </p:txBody>
            </p:sp>
            <p:sp>
              <p:nvSpPr>
                <p:cNvPr id="1891" name="Freeform 806"/>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zh-CN" altLang="en-US"/>
                </a:p>
              </p:txBody>
            </p:sp>
            <p:sp>
              <p:nvSpPr>
                <p:cNvPr id="1892" name="Freeform 807"/>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zh-CN" altLang="en-US"/>
                </a:p>
              </p:txBody>
            </p:sp>
            <p:sp>
              <p:nvSpPr>
                <p:cNvPr id="1893" name="Freeform 808"/>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zh-CN" altLang="en-US"/>
                </a:p>
              </p:txBody>
            </p:sp>
            <p:sp>
              <p:nvSpPr>
                <p:cNvPr id="1894" name="Freeform 809"/>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zh-CN" altLang="en-US"/>
                </a:p>
              </p:txBody>
            </p:sp>
            <p:sp>
              <p:nvSpPr>
                <p:cNvPr id="1895" name="Freeform 810"/>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zh-CN" altLang="en-US"/>
                </a:p>
              </p:txBody>
            </p:sp>
          </p:grpSp>
          <p:pic>
            <p:nvPicPr>
              <p:cNvPr id="1883" name="Picture 811" descr="access_point_stylized_gray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86" name="Group 812"/>
            <p:cNvGrpSpPr/>
            <p:nvPr/>
          </p:nvGrpSpPr>
          <p:grpSpPr bwMode="auto">
            <a:xfrm>
              <a:off x="5638800" y="3509963"/>
              <a:ext cx="398463" cy="358775"/>
              <a:chOff x="5072" y="3611"/>
              <a:chExt cx="459" cy="380"/>
            </a:xfrm>
          </p:grpSpPr>
          <p:grpSp>
            <p:nvGrpSpPr>
              <p:cNvPr id="1868" name="Group 813"/>
              <p:cNvGrpSpPr/>
              <p:nvPr/>
            </p:nvGrpSpPr>
            <p:grpSpPr bwMode="auto">
              <a:xfrm>
                <a:off x="5144" y="3611"/>
                <a:ext cx="387" cy="99"/>
                <a:chOff x="5030" y="2639"/>
                <a:chExt cx="387" cy="99"/>
              </a:xfrm>
            </p:grpSpPr>
            <p:sp>
              <p:nvSpPr>
                <p:cNvPr id="1870" name="Freeform 814"/>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1" name="Freeform 815"/>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2" name="Freeform 816"/>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3" name="Freeform 817"/>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4" name="Freeform 818"/>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5" name="Freeform 819"/>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76" name="Freeform 820"/>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zh-CN" altLang="en-US"/>
                </a:p>
              </p:txBody>
            </p:sp>
            <p:sp>
              <p:nvSpPr>
                <p:cNvPr id="1877" name="Freeform 821"/>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zh-CN" altLang="en-US"/>
                </a:p>
              </p:txBody>
            </p:sp>
            <p:sp>
              <p:nvSpPr>
                <p:cNvPr id="1878" name="Freeform 822"/>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zh-CN" altLang="en-US"/>
                </a:p>
              </p:txBody>
            </p:sp>
            <p:sp>
              <p:nvSpPr>
                <p:cNvPr id="1879" name="Freeform 823"/>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zh-CN" altLang="en-US"/>
                </a:p>
              </p:txBody>
            </p:sp>
            <p:sp>
              <p:nvSpPr>
                <p:cNvPr id="1880" name="Freeform 824"/>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zh-CN" altLang="en-US"/>
                </a:p>
              </p:txBody>
            </p:sp>
            <p:sp>
              <p:nvSpPr>
                <p:cNvPr id="1881" name="Freeform 825"/>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zh-CN" altLang="en-US"/>
                </a:p>
              </p:txBody>
            </p:sp>
          </p:grpSp>
          <p:pic>
            <p:nvPicPr>
              <p:cNvPr id="1869" name="Picture 826" descr="access_point_stylized_gray_sma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87" name="Line 827"/>
            <p:cNvSpPr>
              <a:spLocks noChangeShapeType="1"/>
            </p:cNvSpPr>
            <p:nvPr/>
          </p:nvSpPr>
          <p:spPr bwMode="auto">
            <a:xfrm rot="5400000" flipV="1">
              <a:off x="7991475" y="5440363"/>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8" name="Group 828"/>
            <p:cNvGrpSpPr/>
            <p:nvPr/>
          </p:nvGrpSpPr>
          <p:grpSpPr bwMode="auto">
            <a:xfrm>
              <a:off x="5254625" y="2038350"/>
              <a:ext cx="504825" cy="401638"/>
              <a:chOff x="2896" y="396"/>
              <a:chExt cx="1848" cy="1887"/>
            </a:xfrm>
          </p:grpSpPr>
          <p:pic>
            <p:nvPicPr>
              <p:cNvPr id="1845" name="Picture 829"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6" name="Freeform 830"/>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847" name="Picture 831"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8" name="Freeform 832"/>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9" name="Freeform 833"/>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0" name="Freeform 834"/>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1" name="Freeform 835"/>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2" name="Freeform 836"/>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3" name="Freeform 837"/>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4" name="Freeform 838"/>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5" name="Freeform 839"/>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6" name="Freeform 840"/>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7" name="Freeform 841"/>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8" name="Freeform 842"/>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59" name="Freeform 843"/>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0" name="Freeform 844"/>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1" name="Freeform 845"/>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862" name="Freeform 846"/>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3" name="Freeform 847"/>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4" name="Freeform 848"/>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5" name="Freeform 849"/>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66" name="Freeform 850"/>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867" name="Picture 851"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89" name="Group 852"/>
            <p:cNvGrpSpPr/>
            <p:nvPr/>
          </p:nvGrpSpPr>
          <p:grpSpPr bwMode="auto">
            <a:xfrm>
              <a:off x="5537200" y="3054350"/>
              <a:ext cx="504825" cy="401638"/>
              <a:chOff x="2896" y="396"/>
              <a:chExt cx="1848" cy="1887"/>
            </a:xfrm>
          </p:grpSpPr>
          <p:pic>
            <p:nvPicPr>
              <p:cNvPr id="1822" name="Picture 853"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 name="Freeform 854"/>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824" name="Picture 855"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5" name="Freeform 856"/>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6" name="Freeform 857"/>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7" name="Freeform 858"/>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8" name="Freeform 859"/>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9" name="Freeform 860"/>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0" name="Freeform 861"/>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1" name="Freeform 862"/>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2" name="Freeform 863"/>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3" name="Freeform 864"/>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4" name="Freeform 865"/>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5" name="Freeform 866"/>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6" name="Freeform 867"/>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7" name="Freeform 868"/>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38" name="Freeform 869"/>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839" name="Freeform 870"/>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0" name="Freeform 871"/>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1" name="Freeform 872"/>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2" name="Freeform 873"/>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43" name="Freeform 874"/>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844" name="Picture 875"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0" name="Group 876"/>
            <p:cNvGrpSpPr/>
            <p:nvPr/>
          </p:nvGrpSpPr>
          <p:grpSpPr bwMode="auto">
            <a:xfrm>
              <a:off x="6959600" y="5495925"/>
              <a:ext cx="504825" cy="401638"/>
              <a:chOff x="2896" y="396"/>
              <a:chExt cx="1848" cy="1887"/>
            </a:xfrm>
          </p:grpSpPr>
          <p:pic>
            <p:nvPicPr>
              <p:cNvPr id="1799" name="Picture 877"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0" name="Freeform 878"/>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801" name="Picture 879"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 name="Freeform 880"/>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3" name="Freeform 881"/>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4" name="Freeform 882"/>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5" name="Freeform 883"/>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6" name="Freeform 884"/>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7" name="Freeform 885"/>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8" name="Freeform 886"/>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09" name="Freeform 887"/>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0" name="Freeform 888"/>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1" name="Freeform 889"/>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2" name="Freeform 890"/>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3" name="Freeform 891"/>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4" name="Freeform 892"/>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5" name="Freeform 893"/>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816" name="Freeform 894"/>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7" name="Freeform 895"/>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8" name="Freeform 896"/>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9" name="Freeform 897"/>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20" name="Freeform 898"/>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821" name="Picture 899"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1" name="Group 900"/>
            <p:cNvGrpSpPr/>
            <p:nvPr/>
          </p:nvGrpSpPr>
          <p:grpSpPr bwMode="auto">
            <a:xfrm>
              <a:off x="7378700" y="5524500"/>
              <a:ext cx="504825" cy="401638"/>
              <a:chOff x="2896" y="396"/>
              <a:chExt cx="1848" cy="1887"/>
            </a:xfrm>
          </p:grpSpPr>
          <p:pic>
            <p:nvPicPr>
              <p:cNvPr id="1776" name="Picture 901"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7" name="Freeform 902"/>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778" name="Picture 903" descr="scree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9" name="Freeform 904"/>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0" name="Freeform 905"/>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1" name="Freeform 906"/>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2" name="Freeform 907"/>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3" name="Freeform 908"/>
              <p:cNvSpPr/>
              <p:nvPr/>
            </p:nvSpPr>
            <p:spPr bwMode="auto">
              <a:xfrm>
                <a:off x="4452" y="954"/>
                <a:ext cx="292" cy="855"/>
              </a:xfrm>
              <a:custGeom>
                <a:avLst/>
                <a:gdLst>
                  <a:gd name="T0" fmla="*/ 0 w 637"/>
                  <a:gd name="T1" fmla="*/ 0 h 1659"/>
                  <a:gd name="T2" fmla="*/ 0 w 637"/>
                  <a:gd name="T3" fmla="*/ 0 h 1659"/>
                  <a:gd name="T4" fmla="*/ 0 w 637"/>
                  <a:gd name="T5" fmla="*/ 1 h 1659"/>
                  <a:gd name="T6" fmla="*/ 0 w 637"/>
                  <a:gd name="T7" fmla="*/ 1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4" name="Freeform 909"/>
              <p:cNvSpPr/>
              <p:nvPr/>
            </p:nvSpPr>
            <p:spPr bwMode="auto">
              <a:xfrm>
                <a:off x="3459" y="1553"/>
                <a:ext cx="1016" cy="284"/>
              </a:xfrm>
              <a:custGeom>
                <a:avLst/>
                <a:gdLst>
                  <a:gd name="T0" fmla="*/ 0 w 2216"/>
                  <a:gd name="T1" fmla="*/ 0 h 550"/>
                  <a:gd name="T2" fmla="*/ 0 w 2216"/>
                  <a:gd name="T3" fmla="*/ 1 h 550"/>
                  <a:gd name="T4" fmla="*/ 0 w 2216"/>
                  <a:gd name="T5" fmla="*/ 1 h 550"/>
                  <a:gd name="T6" fmla="*/ 0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5" name="Freeform 910"/>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6" name="Freeform 911"/>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7" name="Freeform 912"/>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8" name="Freeform 913"/>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89" name="Freeform 914"/>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0" name="Freeform 915"/>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1" name="Freeform 916"/>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2" name="Freeform 917"/>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ln>
            </p:spPr>
            <p:txBody>
              <a:bodyPr/>
              <a:lstStyle/>
              <a:p>
                <a:endParaRPr lang="zh-CN" altLang="en-US"/>
              </a:p>
            </p:txBody>
          </p:sp>
          <p:sp>
            <p:nvSpPr>
              <p:cNvPr id="1793" name="Freeform 918"/>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4" name="Freeform 919"/>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5" name="Freeform 920"/>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6" name="Freeform 921"/>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97" name="Freeform 922"/>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ln>
            </p:spPr>
            <p:txBody>
              <a:bodyPr/>
              <a:lstStyle/>
              <a:p>
                <a:endParaRPr lang="zh-CN" altLang="en-US"/>
              </a:p>
            </p:txBody>
          </p:sp>
          <p:pic>
            <p:nvPicPr>
              <p:cNvPr id="1798" name="Picture 923"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2" name="Group 924"/>
            <p:cNvGrpSpPr/>
            <p:nvPr/>
          </p:nvGrpSpPr>
          <p:grpSpPr bwMode="auto">
            <a:xfrm>
              <a:off x="5349875" y="1590675"/>
              <a:ext cx="617538" cy="387350"/>
              <a:chOff x="2920" y="972"/>
              <a:chExt cx="389" cy="244"/>
            </a:xfrm>
          </p:grpSpPr>
          <p:grpSp>
            <p:nvGrpSpPr>
              <p:cNvPr id="1764" name="Group 925"/>
              <p:cNvGrpSpPr/>
              <p:nvPr/>
            </p:nvGrpSpPr>
            <p:grpSpPr bwMode="auto">
              <a:xfrm>
                <a:off x="3085" y="1027"/>
                <a:ext cx="102" cy="189"/>
                <a:chOff x="3436" y="1504"/>
                <a:chExt cx="393" cy="942"/>
              </a:xfrm>
            </p:grpSpPr>
            <p:pic>
              <p:nvPicPr>
                <p:cNvPr id="1766" name="Picture 926" descr="iphone_stylized_smal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6" y="1504"/>
                  <a:ext cx="393" cy="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7" name="Freeform 927"/>
                <p:cNvSpPr/>
                <p:nvPr/>
              </p:nvSpPr>
              <p:spPr bwMode="auto">
                <a:xfrm>
                  <a:off x="3484" y="1523"/>
                  <a:ext cx="339" cy="906"/>
                </a:xfrm>
                <a:custGeom>
                  <a:avLst/>
                  <a:gdLst>
                    <a:gd name="T0" fmla="*/ 6 w 339"/>
                    <a:gd name="T1" fmla="*/ 31 h 906"/>
                    <a:gd name="T2" fmla="*/ 38 w 339"/>
                    <a:gd name="T3" fmla="*/ 0 h 906"/>
                    <a:gd name="T4" fmla="*/ 323 w 339"/>
                    <a:gd name="T5" fmla="*/ 45 h 906"/>
                    <a:gd name="T6" fmla="*/ 338 w 339"/>
                    <a:gd name="T7" fmla="*/ 85 h 906"/>
                    <a:gd name="T8" fmla="*/ 339 w 339"/>
                    <a:gd name="T9" fmla="*/ 813 h 906"/>
                    <a:gd name="T10" fmla="*/ 312 w 339"/>
                    <a:gd name="T11" fmla="*/ 865 h 906"/>
                    <a:gd name="T12" fmla="*/ 29 w 339"/>
                    <a:gd name="T13" fmla="*/ 906 h 906"/>
                    <a:gd name="T14" fmla="*/ 0 w 339"/>
                    <a:gd name="T15" fmla="*/ 876 h 906"/>
                    <a:gd name="T16" fmla="*/ 6 w 339"/>
                    <a:gd name="T17" fmla="*/ 31 h 9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9"/>
                    <a:gd name="T28" fmla="*/ 0 h 906"/>
                    <a:gd name="T29" fmla="*/ 339 w 339"/>
                    <a:gd name="T30" fmla="*/ 906 h 9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9" h="906">
                      <a:moveTo>
                        <a:pt x="6" y="31"/>
                      </a:moveTo>
                      <a:lnTo>
                        <a:pt x="38" y="0"/>
                      </a:lnTo>
                      <a:lnTo>
                        <a:pt x="323" y="45"/>
                      </a:lnTo>
                      <a:lnTo>
                        <a:pt x="338" y="85"/>
                      </a:lnTo>
                      <a:lnTo>
                        <a:pt x="339" y="813"/>
                      </a:lnTo>
                      <a:lnTo>
                        <a:pt x="312" y="865"/>
                      </a:lnTo>
                      <a:lnTo>
                        <a:pt x="29" y="906"/>
                      </a:lnTo>
                      <a:lnTo>
                        <a:pt x="0" y="876"/>
                      </a:lnTo>
                      <a:lnTo>
                        <a:pt x="6" y="31"/>
                      </a:lnTo>
                      <a:close/>
                    </a:path>
                  </a:pathLst>
                </a:custGeom>
                <a:gradFill rotWithShape="1">
                  <a:gsLst>
                    <a:gs pos="0">
                      <a:srgbClr val="DDDDDD">
                        <a:alpha val="82001"/>
                      </a:srgbClr>
                    </a:gs>
                    <a:gs pos="100000">
                      <a:srgbClr val="666666">
                        <a:alpha val="82001"/>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68" name="Group 928"/>
                <p:cNvGrpSpPr/>
                <p:nvPr/>
              </p:nvGrpSpPr>
              <p:grpSpPr bwMode="auto">
                <a:xfrm>
                  <a:off x="3511" y="1689"/>
                  <a:ext cx="289" cy="576"/>
                  <a:chOff x="3511" y="1689"/>
                  <a:chExt cx="289" cy="576"/>
                </a:xfrm>
              </p:grpSpPr>
              <p:sp>
                <p:nvSpPr>
                  <p:cNvPr id="1769" name="Freeform 929"/>
                  <p:cNvSpPr/>
                  <p:nvPr/>
                </p:nvSpPr>
                <p:spPr bwMode="auto">
                  <a:xfrm>
                    <a:off x="3519" y="2175"/>
                    <a:ext cx="66" cy="90"/>
                  </a:xfrm>
                  <a:custGeom>
                    <a:avLst/>
                    <a:gdLst>
                      <a:gd name="T0" fmla="*/ 0 w 66"/>
                      <a:gd name="T1" fmla="*/ 5 h 90"/>
                      <a:gd name="T2" fmla="*/ 66 w 66"/>
                      <a:gd name="T3" fmla="*/ 0 h 90"/>
                      <a:gd name="T4" fmla="*/ 65 w 66"/>
                      <a:gd name="T5" fmla="*/ 80 h 90"/>
                      <a:gd name="T6" fmla="*/ 2 w 66"/>
                      <a:gd name="T7" fmla="*/ 90 h 90"/>
                      <a:gd name="T8" fmla="*/ 0 w 66"/>
                      <a:gd name="T9" fmla="*/ 5 h 90"/>
                      <a:gd name="T10" fmla="*/ 0 60000 65536"/>
                      <a:gd name="T11" fmla="*/ 0 60000 65536"/>
                      <a:gd name="T12" fmla="*/ 0 60000 65536"/>
                      <a:gd name="T13" fmla="*/ 0 60000 65536"/>
                      <a:gd name="T14" fmla="*/ 0 60000 65536"/>
                      <a:gd name="T15" fmla="*/ 0 w 66"/>
                      <a:gd name="T16" fmla="*/ 0 h 90"/>
                      <a:gd name="T17" fmla="*/ 66 w 66"/>
                      <a:gd name="T18" fmla="*/ 90 h 90"/>
                    </a:gdLst>
                    <a:ahLst/>
                    <a:cxnLst>
                      <a:cxn ang="T10">
                        <a:pos x="T0" y="T1"/>
                      </a:cxn>
                      <a:cxn ang="T11">
                        <a:pos x="T2" y="T3"/>
                      </a:cxn>
                      <a:cxn ang="T12">
                        <a:pos x="T4" y="T5"/>
                      </a:cxn>
                      <a:cxn ang="T13">
                        <a:pos x="T6" y="T7"/>
                      </a:cxn>
                      <a:cxn ang="T14">
                        <a:pos x="T8" y="T9"/>
                      </a:cxn>
                    </a:cxnLst>
                    <a:rect l="T15" t="T16" r="T17" b="T18"/>
                    <a:pathLst>
                      <a:path w="66" h="90">
                        <a:moveTo>
                          <a:pt x="0" y="5"/>
                        </a:moveTo>
                        <a:lnTo>
                          <a:pt x="66" y="0"/>
                        </a:lnTo>
                        <a:lnTo>
                          <a:pt x="65" y="80"/>
                        </a:lnTo>
                        <a:lnTo>
                          <a:pt x="2" y="90"/>
                        </a:lnTo>
                        <a:lnTo>
                          <a:pt x="0" y="5"/>
                        </a:lnTo>
                        <a:close/>
                      </a:path>
                    </a:pathLst>
                  </a:custGeom>
                  <a:solidFill>
                    <a:srgbClr val="B2B2B2"/>
                  </a:solidFill>
                  <a:ln w="9525">
                    <a:solidFill>
                      <a:schemeClr val="bg2"/>
                    </a:solidFill>
                    <a:round/>
                  </a:ln>
                </p:spPr>
                <p:txBody>
                  <a:bodyPr/>
                  <a:lstStyle/>
                  <a:p>
                    <a:endParaRPr lang="zh-CN" altLang="en-US"/>
                  </a:p>
                </p:txBody>
              </p:sp>
              <p:sp>
                <p:nvSpPr>
                  <p:cNvPr id="1770" name="Freeform 930"/>
                  <p:cNvSpPr/>
                  <p:nvPr/>
                </p:nvSpPr>
                <p:spPr bwMode="auto">
                  <a:xfrm>
                    <a:off x="3593" y="2166"/>
                    <a:ext cx="69" cy="89"/>
                  </a:xfrm>
                  <a:custGeom>
                    <a:avLst/>
                    <a:gdLst>
                      <a:gd name="T0" fmla="*/ 3 w 69"/>
                      <a:gd name="T1" fmla="*/ 8 h 89"/>
                      <a:gd name="T2" fmla="*/ 66 w 69"/>
                      <a:gd name="T3" fmla="*/ 0 h 89"/>
                      <a:gd name="T4" fmla="*/ 69 w 69"/>
                      <a:gd name="T5" fmla="*/ 80 h 89"/>
                      <a:gd name="T6" fmla="*/ 0 w 69"/>
                      <a:gd name="T7" fmla="*/ 89 h 89"/>
                      <a:gd name="T8" fmla="*/ 3 w 69"/>
                      <a:gd name="T9" fmla="*/ 8 h 89"/>
                      <a:gd name="T10" fmla="*/ 0 60000 65536"/>
                      <a:gd name="T11" fmla="*/ 0 60000 65536"/>
                      <a:gd name="T12" fmla="*/ 0 60000 65536"/>
                      <a:gd name="T13" fmla="*/ 0 60000 65536"/>
                      <a:gd name="T14" fmla="*/ 0 60000 65536"/>
                      <a:gd name="T15" fmla="*/ 0 w 69"/>
                      <a:gd name="T16" fmla="*/ 0 h 89"/>
                      <a:gd name="T17" fmla="*/ 69 w 69"/>
                      <a:gd name="T18" fmla="*/ 89 h 89"/>
                    </a:gdLst>
                    <a:ahLst/>
                    <a:cxnLst>
                      <a:cxn ang="T10">
                        <a:pos x="T0" y="T1"/>
                      </a:cxn>
                      <a:cxn ang="T11">
                        <a:pos x="T2" y="T3"/>
                      </a:cxn>
                      <a:cxn ang="T12">
                        <a:pos x="T4" y="T5"/>
                      </a:cxn>
                      <a:cxn ang="T13">
                        <a:pos x="T6" y="T7"/>
                      </a:cxn>
                      <a:cxn ang="T14">
                        <a:pos x="T8" y="T9"/>
                      </a:cxn>
                    </a:cxnLst>
                    <a:rect l="T15" t="T16" r="T17" b="T18"/>
                    <a:pathLst>
                      <a:path w="69" h="89">
                        <a:moveTo>
                          <a:pt x="3" y="8"/>
                        </a:moveTo>
                        <a:lnTo>
                          <a:pt x="66" y="0"/>
                        </a:lnTo>
                        <a:lnTo>
                          <a:pt x="69" y="80"/>
                        </a:lnTo>
                        <a:lnTo>
                          <a:pt x="0" y="89"/>
                        </a:lnTo>
                        <a:lnTo>
                          <a:pt x="3" y="8"/>
                        </a:lnTo>
                        <a:close/>
                      </a:path>
                    </a:pathLst>
                  </a:custGeom>
                  <a:solidFill>
                    <a:srgbClr val="B2B2B2"/>
                  </a:solidFill>
                  <a:ln w="9525">
                    <a:solidFill>
                      <a:schemeClr val="bg2"/>
                    </a:solidFill>
                    <a:round/>
                  </a:ln>
                </p:spPr>
                <p:txBody>
                  <a:bodyPr/>
                  <a:lstStyle/>
                  <a:p>
                    <a:endParaRPr lang="zh-CN" altLang="en-US"/>
                  </a:p>
                </p:txBody>
              </p:sp>
              <p:sp>
                <p:nvSpPr>
                  <p:cNvPr id="1771" name="Freeform 931"/>
                  <p:cNvSpPr/>
                  <p:nvPr/>
                </p:nvSpPr>
                <p:spPr bwMode="auto">
                  <a:xfrm>
                    <a:off x="3665" y="2162"/>
                    <a:ext cx="62" cy="82"/>
                  </a:xfrm>
                  <a:custGeom>
                    <a:avLst/>
                    <a:gdLst>
                      <a:gd name="T0" fmla="*/ 0 w 62"/>
                      <a:gd name="T1" fmla="*/ 6 h 82"/>
                      <a:gd name="T2" fmla="*/ 61 w 62"/>
                      <a:gd name="T3" fmla="*/ 0 h 82"/>
                      <a:gd name="T4" fmla="*/ 62 w 62"/>
                      <a:gd name="T5" fmla="*/ 75 h 82"/>
                      <a:gd name="T6" fmla="*/ 3 w 62"/>
                      <a:gd name="T7" fmla="*/ 82 h 82"/>
                      <a:gd name="T8" fmla="*/ 0 w 62"/>
                      <a:gd name="T9" fmla="*/ 6 h 82"/>
                      <a:gd name="T10" fmla="*/ 0 60000 65536"/>
                      <a:gd name="T11" fmla="*/ 0 60000 65536"/>
                      <a:gd name="T12" fmla="*/ 0 60000 65536"/>
                      <a:gd name="T13" fmla="*/ 0 60000 65536"/>
                      <a:gd name="T14" fmla="*/ 0 60000 65536"/>
                      <a:gd name="T15" fmla="*/ 0 w 62"/>
                      <a:gd name="T16" fmla="*/ 0 h 82"/>
                      <a:gd name="T17" fmla="*/ 62 w 62"/>
                      <a:gd name="T18" fmla="*/ 82 h 82"/>
                    </a:gdLst>
                    <a:ahLst/>
                    <a:cxnLst>
                      <a:cxn ang="T10">
                        <a:pos x="T0" y="T1"/>
                      </a:cxn>
                      <a:cxn ang="T11">
                        <a:pos x="T2" y="T3"/>
                      </a:cxn>
                      <a:cxn ang="T12">
                        <a:pos x="T4" y="T5"/>
                      </a:cxn>
                      <a:cxn ang="T13">
                        <a:pos x="T6" y="T7"/>
                      </a:cxn>
                      <a:cxn ang="T14">
                        <a:pos x="T8" y="T9"/>
                      </a:cxn>
                    </a:cxnLst>
                    <a:rect l="T15" t="T16" r="T17" b="T18"/>
                    <a:pathLst>
                      <a:path w="62" h="82">
                        <a:moveTo>
                          <a:pt x="0" y="6"/>
                        </a:moveTo>
                        <a:lnTo>
                          <a:pt x="61" y="0"/>
                        </a:lnTo>
                        <a:lnTo>
                          <a:pt x="62" y="75"/>
                        </a:lnTo>
                        <a:lnTo>
                          <a:pt x="3" y="82"/>
                        </a:lnTo>
                        <a:lnTo>
                          <a:pt x="0" y="6"/>
                        </a:lnTo>
                        <a:close/>
                      </a:path>
                    </a:pathLst>
                  </a:custGeom>
                  <a:solidFill>
                    <a:srgbClr val="B2B2B2"/>
                  </a:solidFill>
                  <a:ln w="9525">
                    <a:solidFill>
                      <a:schemeClr val="bg2"/>
                    </a:solidFill>
                    <a:round/>
                  </a:ln>
                </p:spPr>
                <p:txBody>
                  <a:bodyPr/>
                  <a:lstStyle/>
                  <a:p>
                    <a:endParaRPr lang="zh-CN" altLang="en-US"/>
                  </a:p>
                </p:txBody>
              </p:sp>
              <p:sp>
                <p:nvSpPr>
                  <p:cNvPr id="1772" name="Freeform 932"/>
                  <p:cNvSpPr/>
                  <p:nvPr/>
                </p:nvSpPr>
                <p:spPr bwMode="auto">
                  <a:xfrm>
                    <a:off x="3734" y="2154"/>
                    <a:ext cx="66" cy="84"/>
                  </a:xfrm>
                  <a:custGeom>
                    <a:avLst/>
                    <a:gdLst>
                      <a:gd name="T0" fmla="*/ 1 w 66"/>
                      <a:gd name="T1" fmla="*/ 6 h 84"/>
                      <a:gd name="T2" fmla="*/ 66 w 66"/>
                      <a:gd name="T3" fmla="*/ 0 h 84"/>
                      <a:gd name="T4" fmla="*/ 63 w 66"/>
                      <a:gd name="T5" fmla="*/ 77 h 84"/>
                      <a:gd name="T6" fmla="*/ 0 w 66"/>
                      <a:gd name="T7" fmla="*/ 84 h 84"/>
                      <a:gd name="T8" fmla="*/ 1 w 66"/>
                      <a:gd name="T9" fmla="*/ 6 h 84"/>
                      <a:gd name="T10" fmla="*/ 0 60000 65536"/>
                      <a:gd name="T11" fmla="*/ 0 60000 65536"/>
                      <a:gd name="T12" fmla="*/ 0 60000 65536"/>
                      <a:gd name="T13" fmla="*/ 0 60000 65536"/>
                      <a:gd name="T14" fmla="*/ 0 60000 65536"/>
                      <a:gd name="T15" fmla="*/ 0 w 66"/>
                      <a:gd name="T16" fmla="*/ 0 h 84"/>
                      <a:gd name="T17" fmla="*/ 66 w 66"/>
                      <a:gd name="T18" fmla="*/ 84 h 84"/>
                    </a:gdLst>
                    <a:ahLst/>
                    <a:cxnLst>
                      <a:cxn ang="T10">
                        <a:pos x="T0" y="T1"/>
                      </a:cxn>
                      <a:cxn ang="T11">
                        <a:pos x="T2" y="T3"/>
                      </a:cxn>
                      <a:cxn ang="T12">
                        <a:pos x="T4" y="T5"/>
                      </a:cxn>
                      <a:cxn ang="T13">
                        <a:pos x="T6" y="T7"/>
                      </a:cxn>
                      <a:cxn ang="T14">
                        <a:pos x="T8" y="T9"/>
                      </a:cxn>
                    </a:cxnLst>
                    <a:rect l="T15" t="T16" r="T17" b="T18"/>
                    <a:pathLst>
                      <a:path w="66" h="84">
                        <a:moveTo>
                          <a:pt x="1" y="6"/>
                        </a:moveTo>
                        <a:lnTo>
                          <a:pt x="66" y="0"/>
                        </a:lnTo>
                        <a:lnTo>
                          <a:pt x="63" y="77"/>
                        </a:lnTo>
                        <a:lnTo>
                          <a:pt x="0" y="84"/>
                        </a:lnTo>
                        <a:lnTo>
                          <a:pt x="1" y="6"/>
                        </a:lnTo>
                        <a:close/>
                      </a:path>
                    </a:pathLst>
                  </a:custGeom>
                  <a:solidFill>
                    <a:srgbClr val="B2B2B2"/>
                  </a:solidFill>
                  <a:ln w="9525">
                    <a:solidFill>
                      <a:schemeClr val="bg2"/>
                    </a:solidFill>
                    <a:round/>
                  </a:ln>
                </p:spPr>
                <p:txBody>
                  <a:bodyPr/>
                  <a:lstStyle/>
                  <a:p>
                    <a:endParaRPr lang="zh-CN" altLang="en-US"/>
                  </a:p>
                </p:txBody>
              </p:sp>
              <p:sp>
                <p:nvSpPr>
                  <p:cNvPr id="1773" name="Rectangle 933"/>
                  <p:cNvSpPr>
                    <a:spLocks noChangeArrowheads="1"/>
                  </p:cNvSpPr>
                  <p:nvPr/>
                </p:nvSpPr>
                <p:spPr bwMode="auto">
                  <a:xfrm>
                    <a:off x="3513" y="1688"/>
                    <a:ext cx="54" cy="40"/>
                  </a:xfrm>
                  <a:prstGeom prst="rect">
                    <a:avLst/>
                  </a:prstGeom>
                  <a:solidFill>
                    <a:schemeClr val="bg2"/>
                  </a:solidFill>
                  <a:ln w="9525">
                    <a:solidFill>
                      <a:schemeClr val="bg2"/>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74" name="Rectangle 934"/>
                  <p:cNvSpPr>
                    <a:spLocks noChangeArrowheads="1"/>
                  </p:cNvSpPr>
                  <p:nvPr/>
                </p:nvSpPr>
                <p:spPr bwMode="auto">
                  <a:xfrm>
                    <a:off x="3501" y="1738"/>
                    <a:ext cx="92" cy="50"/>
                  </a:xfrm>
                  <a:prstGeom prst="rect">
                    <a:avLst/>
                  </a:prstGeom>
                  <a:solidFill>
                    <a:schemeClr val="bg2"/>
                  </a:solidFill>
                  <a:ln w="9525">
                    <a:solidFill>
                      <a:schemeClr val="bg2"/>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75" name="Freeform 935"/>
                  <p:cNvSpPr/>
                  <p:nvPr/>
                </p:nvSpPr>
                <p:spPr bwMode="auto">
                  <a:xfrm>
                    <a:off x="3515" y="1794"/>
                    <a:ext cx="261" cy="204"/>
                  </a:xfrm>
                  <a:custGeom>
                    <a:avLst/>
                    <a:gdLst>
                      <a:gd name="T0" fmla="*/ 0 w 261"/>
                      <a:gd name="T1" fmla="*/ 0 h 204"/>
                      <a:gd name="T2" fmla="*/ 0 w 261"/>
                      <a:gd name="T3" fmla="*/ 204 h 204"/>
                      <a:gd name="T4" fmla="*/ 259 w 261"/>
                      <a:gd name="T5" fmla="*/ 201 h 204"/>
                      <a:gd name="T6" fmla="*/ 261 w 261"/>
                      <a:gd name="T7" fmla="*/ 12 h 204"/>
                      <a:gd name="T8" fmla="*/ 0 w 261"/>
                      <a:gd name="T9" fmla="*/ 0 h 204"/>
                      <a:gd name="T10" fmla="*/ 0 60000 65536"/>
                      <a:gd name="T11" fmla="*/ 0 60000 65536"/>
                      <a:gd name="T12" fmla="*/ 0 60000 65536"/>
                      <a:gd name="T13" fmla="*/ 0 60000 65536"/>
                      <a:gd name="T14" fmla="*/ 0 60000 65536"/>
                      <a:gd name="T15" fmla="*/ 0 w 261"/>
                      <a:gd name="T16" fmla="*/ 0 h 204"/>
                      <a:gd name="T17" fmla="*/ 261 w 261"/>
                      <a:gd name="T18" fmla="*/ 204 h 204"/>
                    </a:gdLst>
                    <a:ahLst/>
                    <a:cxnLst>
                      <a:cxn ang="T10">
                        <a:pos x="T0" y="T1"/>
                      </a:cxn>
                      <a:cxn ang="T11">
                        <a:pos x="T2" y="T3"/>
                      </a:cxn>
                      <a:cxn ang="T12">
                        <a:pos x="T4" y="T5"/>
                      </a:cxn>
                      <a:cxn ang="T13">
                        <a:pos x="T6" y="T7"/>
                      </a:cxn>
                      <a:cxn ang="T14">
                        <a:pos x="T8" y="T9"/>
                      </a:cxn>
                    </a:cxnLst>
                    <a:rect l="T15" t="T16" r="T17" b="T18"/>
                    <a:pathLst>
                      <a:path w="261" h="204">
                        <a:moveTo>
                          <a:pt x="0" y="0"/>
                        </a:moveTo>
                        <a:lnTo>
                          <a:pt x="0" y="204"/>
                        </a:lnTo>
                        <a:lnTo>
                          <a:pt x="259" y="201"/>
                        </a:lnTo>
                        <a:lnTo>
                          <a:pt x="261" y="12"/>
                        </a:lnTo>
                        <a:lnTo>
                          <a:pt x="0" y="0"/>
                        </a:lnTo>
                        <a:close/>
                      </a:path>
                    </a:pathLst>
                  </a:custGeom>
                  <a:solidFill>
                    <a:srgbClr val="DDDDDD"/>
                  </a:solidFill>
                  <a:ln w="9525">
                    <a:solidFill>
                      <a:schemeClr val="bg2"/>
                    </a:solidFill>
                    <a:round/>
                  </a:ln>
                </p:spPr>
                <p:txBody>
                  <a:bodyPr/>
                  <a:lstStyle/>
                  <a:p>
                    <a:endParaRPr lang="zh-CN" altLang="en-US"/>
                  </a:p>
                </p:txBody>
              </p:sp>
            </p:grpSp>
          </p:grpSp>
          <p:pic>
            <p:nvPicPr>
              <p:cNvPr id="1765" name="Picture 936" descr="grayed_radiation"/>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0" y="972"/>
                <a:ext cx="38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93" name="Picture 937" descr="car_grayed"/>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46838" y="1670050"/>
              <a:ext cx="754062"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94" name="Group 938"/>
            <p:cNvGrpSpPr/>
            <p:nvPr/>
          </p:nvGrpSpPr>
          <p:grpSpPr bwMode="auto">
            <a:xfrm>
              <a:off x="5662613" y="4538663"/>
              <a:ext cx="463550" cy="398462"/>
              <a:chOff x="3987" y="-51"/>
              <a:chExt cx="1252" cy="983"/>
            </a:xfrm>
          </p:grpSpPr>
          <p:pic>
            <p:nvPicPr>
              <p:cNvPr id="1762" name="Picture 939"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3" name="Freeform 940"/>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5" name="Group 941"/>
            <p:cNvGrpSpPr/>
            <p:nvPr/>
          </p:nvGrpSpPr>
          <p:grpSpPr bwMode="auto">
            <a:xfrm>
              <a:off x="5500688" y="4938713"/>
              <a:ext cx="463550" cy="398462"/>
              <a:chOff x="3987" y="-51"/>
              <a:chExt cx="1252" cy="983"/>
            </a:xfrm>
          </p:grpSpPr>
          <p:pic>
            <p:nvPicPr>
              <p:cNvPr id="1760" name="Picture 942"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 name="Freeform 943"/>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6" name="Group 944"/>
            <p:cNvGrpSpPr/>
            <p:nvPr/>
          </p:nvGrpSpPr>
          <p:grpSpPr bwMode="auto">
            <a:xfrm>
              <a:off x="5957888" y="5186363"/>
              <a:ext cx="463550" cy="398462"/>
              <a:chOff x="3987" y="-51"/>
              <a:chExt cx="1252" cy="983"/>
            </a:xfrm>
          </p:grpSpPr>
          <p:pic>
            <p:nvPicPr>
              <p:cNvPr id="1758" name="Picture 945"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9" name="Freeform 946"/>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7" name="Group 947"/>
            <p:cNvGrpSpPr/>
            <p:nvPr/>
          </p:nvGrpSpPr>
          <p:grpSpPr bwMode="auto">
            <a:xfrm>
              <a:off x="6396038" y="5224463"/>
              <a:ext cx="463550" cy="398462"/>
              <a:chOff x="3987" y="-51"/>
              <a:chExt cx="1252" cy="983"/>
            </a:xfrm>
          </p:grpSpPr>
          <p:pic>
            <p:nvPicPr>
              <p:cNvPr id="1756" name="Picture 948" descr="desktop_computer_stylized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7" name="Freeform 949"/>
              <p:cNvSpPr/>
              <p:nvPr/>
            </p:nvSpPr>
            <p:spPr bwMode="auto">
              <a:xfrm>
                <a:off x="4507" y="37"/>
                <a:ext cx="640" cy="459"/>
              </a:xfrm>
              <a:custGeom>
                <a:avLst/>
                <a:gdLst>
                  <a:gd name="T0" fmla="*/ 28 w 714"/>
                  <a:gd name="T1" fmla="*/ 1 h 714"/>
                  <a:gd name="T2" fmla="*/ 154 w 714"/>
                  <a:gd name="T3" fmla="*/ 0 h 714"/>
                  <a:gd name="T4" fmla="*/ 122 w 714"/>
                  <a:gd name="T5" fmla="*/ 2 h 714"/>
                  <a:gd name="T6" fmla="*/ 0 w 714"/>
                  <a:gd name="T7" fmla="*/ 1 h 714"/>
                  <a:gd name="T8" fmla="*/ 28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98" name="Group 950"/>
            <p:cNvGrpSpPr/>
            <p:nvPr/>
          </p:nvGrpSpPr>
          <p:grpSpPr bwMode="auto">
            <a:xfrm>
              <a:off x="8186738" y="5014913"/>
              <a:ext cx="249237" cy="555625"/>
              <a:chOff x="1115" y="2770"/>
              <a:chExt cx="589" cy="1034"/>
            </a:xfrm>
          </p:grpSpPr>
          <p:sp>
            <p:nvSpPr>
              <p:cNvPr id="1724" name="Freeform 951"/>
              <p:cNvSpPr/>
              <p:nvPr/>
            </p:nvSpPr>
            <p:spPr bwMode="auto">
              <a:xfrm>
                <a:off x="1581" y="2772"/>
                <a:ext cx="117" cy="986"/>
              </a:xfrm>
              <a:custGeom>
                <a:avLst/>
                <a:gdLst>
                  <a:gd name="T0" fmla="*/ 0 w 354"/>
                  <a:gd name="T1" fmla="*/ 0 h 2742"/>
                  <a:gd name="T2" fmla="*/ 0 w 354"/>
                  <a:gd name="T3" fmla="*/ 0 h 2742"/>
                  <a:gd name="T4" fmla="*/ 0 w 354"/>
                  <a:gd name="T5" fmla="*/ 0 h 2742"/>
                  <a:gd name="T6" fmla="*/ 0 w 354"/>
                  <a:gd name="T7" fmla="*/ 0 h 2742"/>
                  <a:gd name="T8" fmla="*/ 0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25" name="Rectangle 952"/>
              <p:cNvSpPr>
                <a:spLocks noChangeArrowheads="1"/>
              </p:cNvSpPr>
              <p:nvPr/>
            </p:nvSpPr>
            <p:spPr bwMode="auto">
              <a:xfrm>
                <a:off x="1141" y="2770"/>
                <a:ext cx="435" cy="987"/>
              </a:xfrm>
              <a:prstGeom prst="rect">
                <a:avLst/>
              </a:prstGeom>
              <a:gradFill rotWithShape="1">
                <a:gsLst>
                  <a:gs pos="0">
                    <a:srgbClr val="808080"/>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6" name="Freeform 953"/>
              <p:cNvSpPr/>
              <p:nvPr/>
            </p:nvSpPr>
            <p:spPr bwMode="auto">
              <a:xfrm>
                <a:off x="1603" y="2831"/>
                <a:ext cx="70" cy="913"/>
              </a:xfrm>
              <a:custGeom>
                <a:avLst/>
                <a:gdLst>
                  <a:gd name="T0" fmla="*/ 0 w 211"/>
                  <a:gd name="T1" fmla="*/ 0 h 2537"/>
                  <a:gd name="T2" fmla="*/ 0 w 211"/>
                  <a:gd name="T3" fmla="*/ 0 h 2537"/>
                  <a:gd name="T4" fmla="*/ 0 w 211"/>
                  <a:gd name="T5" fmla="*/ 0 h 2537"/>
                  <a:gd name="T6" fmla="*/ 0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27" name="Freeform 954"/>
              <p:cNvSpPr/>
              <p:nvPr/>
            </p:nvSpPr>
            <p:spPr bwMode="auto">
              <a:xfrm>
                <a:off x="1588" y="3293"/>
                <a:ext cx="109"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28" name="Rectangle 955"/>
              <p:cNvSpPr>
                <a:spLocks noChangeArrowheads="1"/>
              </p:cNvSpPr>
              <p:nvPr/>
            </p:nvSpPr>
            <p:spPr bwMode="auto">
              <a:xfrm>
                <a:off x="1145" y="2885"/>
                <a:ext cx="248" cy="18"/>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29" name="Group 956"/>
              <p:cNvGrpSpPr/>
              <p:nvPr/>
            </p:nvGrpSpPr>
            <p:grpSpPr bwMode="auto">
              <a:xfrm>
                <a:off x="1367" y="2873"/>
                <a:ext cx="240" cy="63"/>
                <a:chOff x="614" y="2568"/>
                <a:chExt cx="725" cy="139"/>
              </a:xfrm>
            </p:grpSpPr>
            <p:sp>
              <p:nvSpPr>
                <p:cNvPr id="1754" name="AutoShape 957"/>
                <p:cNvSpPr>
                  <a:spLocks noChangeArrowheads="1"/>
                </p:cNvSpPr>
                <p:nvPr/>
              </p:nvSpPr>
              <p:spPr bwMode="auto">
                <a:xfrm>
                  <a:off x="612" y="2569"/>
                  <a:ext cx="725" cy="13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55" name="AutoShape 958"/>
                <p:cNvSpPr>
                  <a:spLocks noChangeArrowheads="1"/>
                </p:cNvSpPr>
                <p:nvPr/>
              </p:nvSpPr>
              <p:spPr bwMode="auto">
                <a:xfrm>
                  <a:off x="623" y="2582"/>
                  <a:ext cx="691" cy="104"/>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0" name="Rectangle 959"/>
              <p:cNvSpPr>
                <a:spLocks noChangeArrowheads="1"/>
              </p:cNvSpPr>
              <p:nvPr/>
            </p:nvSpPr>
            <p:spPr bwMode="auto">
              <a:xfrm>
                <a:off x="1149" y="3024"/>
                <a:ext cx="248" cy="21"/>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31" name="Group 960"/>
              <p:cNvGrpSpPr/>
              <p:nvPr/>
            </p:nvGrpSpPr>
            <p:grpSpPr bwMode="auto">
              <a:xfrm>
                <a:off x="1366" y="3014"/>
                <a:ext cx="240" cy="58"/>
                <a:chOff x="614" y="2568"/>
                <a:chExt cx="725" cy="139"/>
              </a:xfrm>
            </p:grpSpPr>
            <p:sp>
              <p:nvSpPr>
                <p:cNvPr id="1752" name="AutoShape 961"/>
                <p:cNvSpPr>
                  <a:spLocks noChangeArrowheads="1"/>
                </p:cNvSpPr>
                <p:nvPr/>
              </p:nvSpPr>
              <p:spPr bwMode="auto">
                <a:xfrm>
                  <a:off x="615" y="2571"/>
                  <a:ext cx="725" cy="135"/>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53" name="AutoShape 962"/>
                <p:cNvSpPr>
                  <a:spLocks noChangeArrowheads="1"/>
                </p:cNvSpPr>
                <p:nvPr/>
              </p:nvSpPr>
              <p:spPr bwMode="auto">
                <a:xfrm>
                  <a:off x="626" y="2585"/>
                  <a:ext cx="691" cy="106"/>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2" name="Rectangle 963"/>
              <p:cNvSpPr>
                <a:spLocks noChangeArrowheads="1"/>
              </p:cNvSpPr>
              <p:nvPr/>
            </p:nvSpPr>
            <p:spPr bwMode="auto">
              <a:xfrm>
                <a:off x="1149" y="3172"/>
                <a:ext cx="244" cy="21"/>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33" name="Rectangle 964"/>
              <p:cNvSpPr>
                <a:spLocks noChangeArrowheads="1"/>
              </p:cNvSpPr>
              <p:nvPr/>
            </p:nvSpPr>
            <p:spPr bwMode="auto">
              <a:xfrm>
                <a:off x="1153" y="3299"/>
                <a:ext cx="244" cy="21"/>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34" name="Group 965"/>
              <p:cNvGrpSpPr/>
              <p:nvPr/>
            </p:nvGrpSpPr>
            <p:grpSpPr bwMode="auto">
              <a:xfrm>
                <a:off x="1361" y="3287"/>
                <a:ext cx="240" cy="65"/>
                <a:chOff x="614" y="2568"/>
                <a:chExt cx="725" cy="139"/>
              </a:xfrm>
            </p:grpSpPr>
            <p:sp>
              <p:nvSpPr>
                <p:cNvPr id="1750" name="AutoShape 966"/>
                <p:cNvSpPr>
                  <a:spLocks noChangeArrowheads="1"/>
                </p:cNvSpPr>
                <p:nvPr/>
              </p:nvSpPr>
              <p:spPr bwMode="auto">
                <a:xfrm>
                  <a:off x="619" y="2568"/>
                  <a:ext cx="725" cy="139"/>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51" name="AutoShape 967"/>
                <p:cNvSpPr>
                  <a:spLocks noChangeArrowheads="1"/>
                </p:cNvSpPr>
                <p:nvPr/>
              </p:nvSpPr>
              <p:spPr bwMode="auto">
                <a:xfrm>
                  <a:off x="630" y="2587"/>
                  <a:ext cx="691" cy="101"/>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5" name="Freeform 968"/>
              <p:cNvSpPr/>
              <p:nvPr/>
            </p:nvSpPr>
            <p:spPr bwMode="auto">
              <a:xfrm>
                <a:off x="1590" y="3169"/>
                <a:ext cx="108"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36" name="Group 969"/>
              <p:cNvGrpSpPr/>
              <p:nvPr/>
            </p:nvGrpSpPr>
            <p:grpSpPr bwMode="auto">
              <a:xfrm>
                <a:off x="1363" y="3158"/>
                <a:ext cx="240" cy="60"/>
                <a:chOff x="614" y="2568"/>
                <a:chExt cx="725" cy="139"/>
              </a:xfrm>
            </p:grpSpPr>
            <p:sp>
              <p:nvSpPr>
                <p:cNvPr id="1748" name="AutoShape 970"/>
                <p:cNvSpPr>
                  <a:spLocks noChangeArrowheads="1"/>
                </p:cNvSpPr>
                <p:nvPr/>
              </p:nvSpPr>
              <p:spPr bwMode="auto">
                <a:xfrm>
                  <a:off x="613" y="2566"/>
                  <a:ext cx="725" cy="144"/>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9" name="AutoShape 971"/>
                <p:cNvSpPr>
                  <a:spLocks noChangeArrowheads="1"/>
                </p:cNvSpPr>
                <p:nvPr/>
              </p:nvSpPr>
              <p:spPr bwMode="auto">
                <a:xfrm>
                  <a:off x="624" y="2579"/>
                  <a:ext cx="691" cy="110"/>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37" name="Rectangle 972"/>
              <p:cNvSpPr>
                <a:spLocks noChangeArrowheads="1"/>
              </p:cNvSpPr>
              <p:nvPr/>
            </p:nvSpPr>
            <p:spPr bwMode="auto">
              <a:xfrm>
                <a:off x="1573" y="2770"/>
                <a:ext cx="30" cy="9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38" name="Freeform 973"/>
              <p:cNvSpPr/>
              <p:nvPr/>
            </p:nvSpPr>
            <p:spPr bwMode="auto">
              <a:xfrm>
                <a:off x="1599" y="3019"/>
                <a:ext cx="98" cy="92"/>
              </a:xfrm>
              <a:custGeom>
                <a:avLst/>
                <a:gdLst>
                  <a:gd name="T0" fmla="*/ 0 w 296"/>
                  <a:gd name="T1" fmla="*/ 0 h 256"/>
                  <a:gd name="T2" fmla="*/ 0 w 296"/>
                  <a:gd name="T3" fmla="*/ 0 h 256"/>
                  <a:gd name="T4" fmla="*/ 0 w 296"/>
                  <a:gd name="T5" fmla="*/ 0 h 256"/>
                  <a:gd name="T6" fmla="*/ 0 w 296"/>
                  <a:gd name="T7" fmla="*/ 0 h 256"/>
                  <a:gd name="T8" fmla="*/ 0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39" name="Freeform 974"/>
              <p:cNvSpPr/>
              <p:nvPr/>
            </p:nvSpPr>
            <p:spPr bwMode="auto">
              <a:xfrm>
                <a:off x="1601" y="2878"/>
                <a:ext cx="101" cy="104"/>
              </a:xfrm>
              <a:custGeom>
                <a:avLst/>
                <a:gdLst>
                  <a:gd name="T0" fmla="*/ 0 w 304"/>
                  <a:gd name="T1" fmla="*/ 0 h 288"/>
                  <a:gd name="T2" fmla="*/ 0 w 304"/>
                  <a:gd name="T3" fmla="*/ 0 h 288"/>
                  <a:gd name="T4" fmla="*/ 0 w 304"/>
                  <a:gd name="T5" fmla="*/ 0 h 288"/>
                  <a:gd name="T6" fmla="*/ 0 w 304"/>
                  <a:gd name="T7" fmla="*/ 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40" name="Oval 975"/>
              <p:cNvSpPr>
                <a:spLocks noChangeArrowheads="1"/>
              </p:cNvSpPr>
              <p:nvPr/>
            </p:nvSpPr>
            <p:spPr bwMode="auto">
              <a:xfrm>
                <a:off x="1685" y="3712"/>
                <a:ext cx="19" cy="41"/>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1" name="Freeform 976"/>
              <p:cNvSpPr/>
              <p:nvPr/>
            </p:nvSpPr>
            <p:spPr bwMode="auto">
              <a:xfrm>
                <a:off x="1595" y="3713"/>
                <a:ext cx="102" cy="86"/>
              </a:xfrm>
              <a:custGeom>
                <a:avLst/>
                <a:gdLst>
                  <a:gd name="T0" fmla="*/ 0 w 306"/>
                  <a:gd name="T1" fmla="*/ 0 h 240"/>
                  <a:gd name="T2" fmla="*/ 0 w 306"/>
                  <a:gd name="T3" fmla="*/ 0 h 240"/>
                  <a:gd name="T4" fmla="*/ 0 w 306"/>
                  <a:gd name="T5" fmla="*/ 0 h 240"/>
                  <a:gd name="T6" fmla="*/ 0 w 306"/>
                  <a:gd name="T7" fmla="*/ 0 h 240"/>
                  <a:gd name="T8" fmla="*/ 0 w 306"/>
                  <a:gd name="T9" fmla="*/ 0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ln>
            </p:spPr>
            <p:txBody>
              <a:bodyPr/>
              <a:lstStyle/>
              <a:p>
                <a:endParaRPr lang="zh-CN" altLang="en-US"/>
              </a:p>
            </p:txBody>
          </p:sp>
          <p:sp>
            <p:nvSpPr>
              <p:cNvPr id="1742" name="AutoShape 977"/>
              <p:cNvSpPr>
                <a:spLocks noChangeArrowheads="1"/>
              </p:cNvSpPr>
              <p:nvPr/>
            </p:nvSpPr>
            <p:spPr bwMode="auto">
              <a:xfrm>
                <a:off x="1115" y="3742"/>
                <a:ext cx="495" cy="62"/>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3" name="AutoShape 978"/>
              <p:cNvSpPr>
                <a:spLocks noChangeArrowheads="1"/>
              </p:cNvSpPr>
              <p:nvPr/>
            </p:nvSpPr>
            <p:spPr bwMode="auto">
              <a:xfrm>
                <a:off x="1141" y="3754"/>
                <a:ext cx="443" cy="35"/>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4" name="Oval 979"/>
              <p:cNvSpPr>
                <a:spLocks noChangeArrowheads="1"/>
              </p:cNvSpPr>
              <p:nvPr/>
            </p:nvSpPr>
            <p:spPr bwMode="auto">
              <a:xfrm>
                <a:off x="1183" y="3612"/>
                <a:ext cx="68" cy="62"/>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5" name="Oval 980"/>
              <p:cNvSpPr>
                <a:spLocks noChangeArrowheads="1"/>
              </p:cNvSpPr>
              <p:nvPr/>
            </p:nvSpPr>
            <p:spPr bwMode="auto">
              <a:xfrm>
                <a:off x="1258" y="3615"/>
                <a:ext cx="68" cy="59"/>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endParaRPr>
              </a:p>
            </p:txBody>
          </p:sp>
          <p:sp>
            <p:nvSpPr>
              <p:cNvPr id="1746" name="Oval 981"/>
              <p:cNvSpPr>
                <a:spLocks noChangeArrowheads="1"/>
              </p:cNvSpPr>
              <p:nvPr/>
            </p:nvSpPr>
            <p:spPr bwMode="auto">
              <a:xfrm>
                <a:off x="1333" y="3612"/>
                <a:ext cx="64" cy="62"/>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47" name="Rectangle 982"/>
              <p:cNvSpPr>
                <a:spLocks noChangeArrowheads="1"/>
              </p:cNvSpPr>
              <p:nvPr/>
            </p:nvSpPr>
            <p:spPr bwMode="auto">
              <a:xfrm>
                <a:off x="1498" y="3376"/>
                <a:ext cx="34" cy="328"/>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1499" name="Group 983"/>
            <p:cNvGrpSpPr/>
            <p:nvPr/>
          </p:nvGrpSpPr>
          <p:grpSpPr bwMode="auto">
            <a:xfrm>
              <a:off x="7900988" y="5224463"/>
              <a:ext cx="230187" cy="498475"/>
              <a:chOff x="1115" y="2770"/>
              <a:chExt cx="589" cy="1034"/>
            </a:xfrm>
          </p:grpSpPr>
          <p:sp>
            <p:nvSpPr>
              <p:cNvPr id="1692" name="Freeform 984"/>
              <p:cNvSpPr/>
              <p:nvPr/>
            </p:nvSpPr>
            <p:spPr bwMode="auto">
              <a:xfrm>
                <a:off x="1581" y="2772"/>
                <a:ext cx="117" cy="986"/>
              </a:xfrm>
              <a:custGeom>
                <a:avLst/>
                <a:gdLst>
                  <a:gd name="T0" fmla="*/ 0 w 354"/>
                  <a:gd name="T1" fmla="*/ 0 h 2742"/>
                  <a:gd name="T2" fmla="*/ 0 w 354"/>
                  <a:gd name="T3" fmla="*/ 0 h 2742"/>
                  <a:gd name="T4" fmla="*/ 0 w 354"/>
                  <a:gd name="T5" fmla="*/ 0 h 2742"/>
                  <a:gd name="T6" fmla="*/ 0 w 354"/>
                  <a:gd name="T7" fmla="*/ 0 h 2742"/>
                  <a:gd name="T8" fmla="*/ 0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93" name="Rectangle 985"/>
              <p:cNvSpPr>
                <a:spLocks noChangeArrowheads="1"/>
              </p:cNvSpPr>
              <p:nvPr/>
            </p:nvSpPr>
            <p:spPr bwMode="auto">
              <a:xfrm>
                <a:off x="1143" y="2770"/>
                <a:ext cx="431" cy="985"/>
              </a:xfrm>
              <a:prstGeom prst="rect">
                <a:avLst/>
              </a:prstGeom>
              <a:gradFill rotWithShape="1">
                <a:gsLst>
                  <a:gs pos="0">
                    <a:srgbClr val="808080"/>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694" name="Freeform 986"/>
              <p:cNvSpPr/>
              <p:nvPr/>
            </p:nvSpPr>
            <p:spPr bwMode="auto">
              <a:xfrm>
                <a:off x="1603" y="2831"/>
                <a:ext cx="70" cy="913"/>
              </a:xfrm>
              <a:custGeom>
                <a:avLst/>
                <a:gdLst>
                  <a:gd name="T0" fmla="*/ 0 w 211"/>
                  <a:gd name="T1" fmla="*/ 0 h 2537"/>
                  <a:gd name="T2" fmla="*/ 0 w 211"/>
                  <a:gd name="T3" fmla="*/ 0 h 2537"/>
                  <a:gd name="T4" fmla="*/ 0 w 211"/>
                  <a:gd name="T5" fmla="*/ 0 h 2537"/>
                  <a:gd name="T6" fmla="*/ 0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95" name="Freeform 987"/>
              <p:cNvSpPr/>
              <p:nvPr/>
            </p:nvSpPr>
            <p:spPr bwMode="auto">
              <a:xfrm>
                <a:off x="1588" y="3293"/>
                <a:ext cx="109"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96" name="Rectangle 988"/>
              <p:cNvSpPr>
                <a:spLocks noChangeArrowheads="1"/>
              </p:cNvSpPr>
              <p:nvPr/>
            </p:nvSpPr>
            <p:spPr bwMode="auto">
              <a:xfrm>
                <a:off x="1143" y="2885"/>
                <a:ext cx="248" cy="20"/>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697" name="Group 989"/>
              <p:cNvGrpSpPr/>
              <p:nvPr/>
            </p:nvGrpSpPr>
            <p:grpSpPr bwMode="auto">
              <a:xfrm>
                <a:off x="1367" y="2873"/>
                <a:ext cx="240" cy="63"/>
                <a:chOff x="614" y="2568"/>
                <a:chExt cx="725" cy="139"/>
              </a:xfrm>
            </p:grpSpPr>
            <p:sp>
              <p:nvSpPr>
                <p:cNvPr id="1722" name="AutoShape 990"/>
                <p:cNvSpPr>
                  <a:spLocks noChangeArrowheads="1"/>
                </p:cNvSpPr>
                <p:nvPr/>
              </p:nvSpPr>
              <p:spPr bwMode="auto">
                <a:xfrm>
                  <a:off x="614" y="2566"/>
                  <a:ext cx="724" cy="138"/>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3" name="AutoShape 991"/>
                <p:cNvSpPr>
                  <a:spLocks noChangeArrowheads="1"/>
                </p:cNvSpPr>
                <p:nvPr/>
              </p:nvSpPr>
              <p:spPr bwMode="auto">
                <a:xfrm>
                  <a:off x="626" y="2581"/>
                  <a:ext cx="699" cy="109"/>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698" name="Rectangle 992"/>
              <p:cNvSpPr>
                <a:spLocks noChangeArrowheads="1"/>
              </p:cNvSpPr>
              <p:nvPr/>
            </p:nvSpPr>
            <p:spPr bwMode="auto">
              <a:xfrm>
                <a:off x="1152" y="3024"/>
                <a:ext cx="244" cy="23"/>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699" name="Group 993"/>
              <p:cNvGrpSpPr/>
              <p:nvPr/>
            </p:nvGrpSpPr>
            <p:grpSpPr bwMode="auto">
              <a:xfrm>
                <a:off x="1366" y="3014"/>
                <a:ext cx="240" cy="58"/>
                <a:chOff x="614" y="2568"/>
                <a:chExt cx="725" cy="139"/>
              </a:xfrm>
            </p:grpSpPr>
            <p:sp>
              <p:nvSpPr>
                <p:cNvPr id="1720" name="AutoShape 994"/>
                <p:cNvSpPr>
                  <a:spLocks noChangeArrowheads="1"/>
                </p:cNvSpPr>
                <p:nvPr/>
              </p:nvSpPr>
              <p:spPr bwMode="auto">
                <a:xfrm>
                  <a:off x="617" y="2567"/>
                  <a:ext cx="724" cy="142"/>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1" name="AutoShape 995"/>
                <p:cNvSpPr>
                  <a:spLocks noChangeArrowheads="1"/>
                </p:cNvSpPr>
                <p:nvPr/>
              </p:nvSpPr>
              <p:spPr bwMode="auto">
                <a:xfrm>
                  <a:off x="629" y="2583"/>
                  <a:ext cx="699" cy="110"/>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00" name="Rectangle 996"/>
              <p:cNvSpPr>
                <a:spLocks noChangeArrowheads="1"/>
              </p:cNvSpPr>
              <p:nvPr/>
            </p:nvSpPr>
            <p:spPr bwMode="auto">
              <a:xfrm>
                <a:off x="1147" y="3172"/>
                <a:ext cx="244" cy="20"/>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1" name="Rectangle 997"/>
              <p:cNvSpPr>
                <a:spLocks noChangeArrowheads="1"/>
              </p:cNvSpPr>
              <p:nvPr/>
            </p:nvSpPr>
            <p:spPr bwMode="auto">
              <a:xfrm>
                <a:off x="1152" y="3300"/>
                <a:ext cx="248" cy="20"/>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02" name="Group 998"/>
              <p:cNvGrpSpPr/>
              <p:nvPr/>
            </p:nvGrpSpPr>
            <p:grpSpPr bwMode="auto">
              <a:xfrm>
                <a:off x="1361" y="3287"/>
                <a:ext cx="240" cy="65"/>
                <a:chOff x="614" y="2568"/>
                <a:chExt cx="725" cy="139"/>
              </a:xfrm>
            </p:grpSpPr>
            <p:sp>
              <p:nvSpPr>
                <p:cNvPr id="1718" name="AutoShape 999"/>
                <p:cNvSpPr>
                  <a:spLocks noChangeArrowheads="1"/>
                </p:cNvSpPr>
                <p:nvPr/>
              </p:nvSpPr>
              <p:spPr bwMode="auto">
                <a:xfrm>
                  <a:off x="619" y="2568"/>
                  <a:ext cx="724" cy="141"/>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9" name="AutoShape 1000"/>
                <p:cNvSpPr>
                  <a:spLocks noChangeArrowheads="1"/>
                </p:cNvSpPr>
                <p:nvPr/>
              </p:nvSpPr>
              <p:spPr bwMode="auto">
                <a:xfrm>
                  <a:off x="632" y="2582"/>
                  <a:ext cx="699" cy="113"/>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03" name="Freeform 1001"/>
              <p:cNvSpPr/>
              <p:nvPr/>
            </p:nvSpPr>
            <p:spPr bwMode="auto">
              <a:xfrm>
                <a:off x="1590" y="3169"/>
                <a:ext cx="108"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04" name="Group 1002"/>
              <p:cNvGrpSpPr/>
              <p:nvPr/>
            </p:nvGrpSpPr>
            <p:grpSpPr bwMode="auto">
              <a:xfrm>
                <a:off x="1363" y="3158"/>
                <a:ext cx="240" cy="60"/>
                <a:chOff x="614" y="2568"/>
                <a:chExt cx="725" cy="139"/>
              </a:xfrm>
            </p:grpSpPr>
            <p:sp>
              <p:nvSpPr>
                <p:cNvPr id="1716" name="AutoShape 1003"/>
                <p:cNvSpPr>
                  <a:spLocks noChangeArrowheads="1"/>
                </p:cNvSpPr>
                <p:nvPr/>
              </p:nvSpPr>
              <p:spPr bwMode="auto">
                <a:xfrm>
                  <a:off x="613" y="2569"/>
                  <a:ext cx="724" cy="13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7" name="AutoShape 1004"/>
                <p:cNvSpPr>
                  <a:spLocks noChangeArrowheads="1"/>
                </p:cNvSpPr>
                <p:nvPr/>
              </p:nvSpPr>
              <p:spPr bwMode="auto">
                <a:xfrm>
                  <a:off x="626" y="2585"/>
                  <a:ext cx="699" cy="10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705" name="Rectangle 1005"/>
              <p:cNvSpPr>
                <a:spLocks noChangeArrowheads="1"/>
              </p:cNvSpPr>
              <p:nvPr/>
            </p:nvSpPr>
            <p:spPr bwMode="auto">
              <a:xfrm>
                <a:off x="1574" y="2770"/>
                <a:ext cx="28" cy="9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6" name="Freeform 1006"/>
              <p:cNvSpPr/>
              <p:nvPr/>
            </p:nvSpPr>
            <p:spPr bwMode="auto">
              <a:xfrm>
                <a:off x="1599" y="3019"/>
                <a:ext cx="98" cy="92"/>
              </a:xfrm>
              <a:custGeom>
                <a:avLst/>
                <a:gdLst>
                  <a:gd name="T0" fmla="*/ 0 w 296"/>
                  <a:gd name="T1" fmla="*/ 0 h 256"/>
                  <a:gd name="T2" fmla="*/ 0 w 296"/>
                  <a:gd name="T3" fmla="*/ 0 h 256"/>
                  <a:gd name="T4" fmla="*/ 0 w 296"/>
                  <a:gd name="T5" fmla="*/ 0 h 256"/>
                  <a:gd name="T6" fmla="*/ 0 w 296"/>
                  <a:gd name="T7" fmla="*/ 0 h 256"/>
                  <a:gd name="T8" fmla="*/ 0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07" name="Freeform 1007"/>
              <p:cNvSpPr/>
              <p:nvPr/>
            </p:nvSpPr>
            <p:spPr bwMode="auto">
              <a:xfrm>
                <a:off x="1601" y="2878"/>
                <a:ext cx="101" cy="104"/>
              </a:xfrm>
              <a:custGeom>
                <a:avLst/>
                <a:gdLst>
                  <a:gd name="T0" fmla="*/ 0 w 304"/>
                  <a:gd name="T1" fmla="*/ 0 h 288"/>
                  <a:gd name="T2" fmla="*/ 0 w 304"/>
                  <a:gd name="T3" fmla="*/ 0 h 288"/>
                  <a:gd name="T4" fmla="*/ 0 w 304"/>
                  <a:gd name="T5" fmla="*/ 0 h 288"/>
                  <a:gd name="T6" fmla="*/ 0 w 304"/>
                  <a:gd name="T7" fmla="*/ 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08" name="Oval 1008"/>
              <p:cNvSpPr>
                <a:spLocks noChangeArrowheads="1"/>
              </p:cNvSpPr>
              <p:nvPr/>
            </p:nvSpPr>
            <p:spPr bwMode="auto">
              <a:xfrm>
                <a:off x="1684" y="3712"/>
                <a:ext cx="20" cy="43"/>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9" name="Freeform 1009"/>
              <p:cNvSpPr/>
              <p:nvPr/>
            </p:nvSpPr>
            <p:spPr bwMode="auto">
              <a:xfrm>
                <a:off x="1595" y="3713"/>
                <a:ext cx="102" cy="86"/>
              </a:xfrm>
              <a:custGeom>
                <a:avLst/>
                <a:gdLst>
                  <a:gd name="T0" fmla="*/ 0 w 306"/>
                  <a:gd name="T1" fmla="*/ 0 h 240"/>
                  <a:gd name="T2" fmla="*/ 0 w 306"/>
                  <a:gd name="T3" fmla="*/ 0 h 240"/>
                  <a:gd name="T4" fmla="*/ 0 w 306"/>
                  <a:gd name="T5" fmla="*/ 0 h 240"/>
                  <a:gd name="T6" fmla="*/ 0 w 306"/>
                  <a:gd name="T7" fmla="*/ 0 h 240"/>
                  <a:gd name="T8" fmla="*/ 0 w 306"/>
                  <a:gd name="T9" fmla="*/ 0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ln>
            </p:spPr>
            <p:txBody>
              <a:bodyPr/>
              <a:lstStyle/>
              <a:p>
                <a:endParaRPr lang="zh-CN" altLang="en-US"/>
              </a:p>
            </p:txBody>
          </p:sp>
          <p:sp>
            <p:nvSpPr>
              <p:cNvPr id="1710" name="AutoShape 1010"/>
              <p:cNvSpPr>
                <a:spLocks noChangeArrowheads="1"/>
              </p:cNvSpPr>
              <p:nvPr/>
            </p:nvSpPr>
            <p:spPr bwMode="auto">
              <a:xfrm>
                <a:off x="1115" y="3741"/>
                <a:ext cx="496" cy="63"/>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1" name="AutoShape 1011"/>
              <p:cNvSpPr>
                <a:spLocks noChangeArrowheads="1"/>
              </p:cNvSpPr>
              <p:nvPr/>
            </p:nvSpPr>
            <p:spPr bwMode="auto">
              <a:xfrm>
                <a:off x="1143" y="3755"/>
                <a:ext cx="443" cy="36"/>
              </a:xfrm>
              <a:prstGeom prst="roundRect">
                <a:avLst>
                  <a:gd name="adj" fmla="val 50000"/>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2" name="Oval 1012"/>
              <p:cNvSpPr>
                <a:spLocks noChangeArrowheads="1"/>
              </p:cNvSpPr>
              <p:nvPr/>
            </p:nvSpPr>
            <p:spPr bwMode="auto">
              <a:xfrm>
                <a:off x="1184" y="3613"/>
                <a:ext cx="65" cy="63"/>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3" name="Oval 1013"/>
              <p:cNvSpPr>
                <a:spLocks noChangeArrowheads="1"/>
              </p:cNvSpPr>
              <p:nvPr/>
            </p:nvSpPr>
            <p:spPr bwMode="auto">
              <a:xfrm>
                <a:off x="1257" y="3613"/>
                <a:ext cx="65" cy="63"/>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endParaRPr>
              </a:p>
            </p:txBody>
          </p:sp>
          <p:sp>
            <p:nvSpPr>
              <p:cNvPr id="1714" name="Oval 1014"/>
              <p:cNvSpPr>
                <a:spLocks noChangeArrowheads="1"/>
              </p:cNvSpPr>
              <p:nvPr/>
            </p:nvSpPr>
            <p:spPr bwMode="auto">
              <a:xfrm>
                <a:off x="1330" y="3613"/>
                <a:ext cx="65" cy="59"/>
              </a:xfrm>
              <a:prstGeom prst="ellipse">
                <a:avLst/>
              </a:prstGeom>
              <a:solidFill>
                <a:srgbClr val="DDDDDD"/>
              </a:solidFill>
              <a:ln w="9525">
                <a:solidFill>
                  <a:schemeClr val="tx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5" name="Rectangle 1015"/>
              <p:cNvSpPr>
                <a:spLocks noChangeArrowheads="1"/>
              </p:cNvSpPr>
              <p:nvPr/>
            </p:nvSpPr>
            <p:spPr bwMode="auto">
              <a:xfrm>
                <a:off x="1497" y="3376"/>
                <a:ext cx="32" cy="329"/>
              </a:xfrm>
              <a:prstGeom prst="rect">
                <a:avLst/>
              </a:prstGeom>
              <a:solidFill>
                <a:schemeClr val="bg2"/>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1500" name="Group 1070"/>
            <p:cNvGrpSpPr/>
            <p:nvPr/>
          </p:nvGrpSpPr>
          <p:grpSpPr bwMode="auto">
            <a:xfrm>
              <a:off x="7202488" y="2486025"/>
              <a:ext cx="392112" cy="180975"/>
              <a:chOff x="4655" y="2464"/>
              <a:chExt cx="319" cy="132"/>
            </a:xfrm>
          </p:grpSpPr>
          <p:grpSp>
            <p:nvGrpSpPr>
              <p:cNvPr id="1675" name="Group 1071"/>
              <p:cNvGrpSpPr/>
              <p:nvPr/>
            </p:nvGrpSpPr>
            <p:grpSpPr bwMode="auto">
              <a:xfrm>
                <a:off x="4660" y="2464"/>
                <a:ext cx="310" cy="130"/>
                <a:chOff x="4334" y="1470"/>
                <a:chExt cx="246" cy="107"/>
              </a:xfrm>
            </p:grpSpPr>
            <p:sp>
              <p:nvSpPr>
                <p:cNvPr id="168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8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8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87" name="Group 1075"/>
                <p:cNvGrpSpPr/>
                <p:nvPr/>
              </p:nvGrpSpPr>
              <p:grpSpPr bwMode="auto">
                <a:xfrm>
                  <a:off x="4383" y="1488"/>
                  <a:ext cx="138" cy="33"/>
                  <a:chOff x="2468" y="1332"/>
                  <a:chExt cx="310" cy="60"/>
                </a:xfrm>
              </p:grpSpPr>
              <p:sp>
                <p:nvSpPr>
                  <p:cNvPr id="1690" name="Freeform 107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91" name="Freeform 107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88" name="Line 1078"/>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89" name="Line 1079"/>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76"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77"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78"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79" name="Group 1083"/>
              <p:cNvGrpSpPr/>
              <p:nvPr/>
            </p:nvGrpSpPr>
            <p:grpSpPr bwMode="auto">
              <a:xfrm>
                <a:off x="4719" y="2486"/>
                <a:ext cx="179" cy="41"/>
                <a:chOff x="2468" y="1332"/>
                <a:chExt cx="310" cy="60"/>
              </a:xfrm>
            </p:grpSpPr>
            <p:sp>
              <p:nvSpPr>
                <p:cNvPr id="1682" name="Freeform 108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3" name="Freeform 108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80" name="Line 1086"/>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81" name="Line 1087"/>
              <p:cNvSpPr>
                <a:spLocks noChangeShapeType="1"/>
              </p:cNvSpPr>
              <p:nvPr/>
            </p:nvSpPr>
            <p:spPr bwMode="auto">
              <a:xfrm>
                <a:off x="4971"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1" name="Group 1088"/>
            <p:cNvGrpSpPr/>
            <p:nvPr/>
          </p:nvGrpSpPr>
          <p:grpSpPr bwMode="auto">
            <a:xfrm>
              <a:off x="7205663" y="2752725"/>
              <a:ext cx="407987" cy="180975"/>
              <a:chOff x="4655" y="2464"/>
              <a:chExt cx="319" cy="132"/>
            </a:xfrm>
          </p:grpSpPr>
          <p:grpSp>
            <p:nvGrpSpPr>
              <p:cNvPr id="1658" name="Group 1089"/>
              <p:cNvGrpSpPr/>
              <p:nvPr/>
            </p:nvGrpSpPr>
            <p:grpSpPr bwMode="auto">
              <a:xfrm>
                <a:off x="4660" y="2464"/>
                <a:ext cx="310" cy="130"/>
                <a:chOff x="4334" y="1470"/>
                <a:chExt cx="246" cy="107"/>
              </a:xfrm>
            </p:grpSpPr>
            <p:sp>
              <p:nvSpPr>
                <p:cNvPr id="166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6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6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70" name="Group 1093"/>
                <p:cNvGrpSpPr/>
                <p:nvPr/>
              </p:nvGrpSpPr>
              <p:grpSpPr bwMode="auto">
                <a:xfrm>
                  <a:off x="4383" y="1488"/>
                  <a:ext cx="138" cy="33"/>
                  <a:chOff x="2468" y="1332"/>
                  <a:chExt cx="310" cy="60"/>
                </a:xfrm>
              </p:grpSpPr>
              <p:sp>
                <p:nvSpPr>
                  <p:cNvPr id="1673" name="Freeform 109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74" name="Freeform 109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71" name="Line 1096"/>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72" name="Line 1097"/>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59"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60"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61"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62" name="Group 1101"/>
              <p:cNvGrpSpPr/>
              <p:nvPr/>
            </p:nvGrpSpPr>
            <p:grpSpPr bwMode="auto">
              <a:xfrm>
                <a:off x="4719" y="2486"/>
                <a:ext cx="179" cy="41"/>
                <a:chOff x="2468" y="1332"/>
                <a:chExt cx="310" cy="60"/>
              </a:xfrm>
            </p:grpSpPr>
            <p:sp>
              <p:nvSpPr>
                <p:cNvPr id="1665" name="Freeform 110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66" name="Freeform 110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63" name="Line 1104"/>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64" name="Line 1105"/>
              <p:cNvSpPr>
                <a:spLocks noChangeShapeType="1"/>
              </p:cNvSpPr>
              <p:nvPr/>
            </p:nvSpPr>
            <p:spPr bwMode="auto">
              <a:xfrm>
                <a:off x="4972"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2" name="Group 1106"/>
            <p:cNvGrpSpPr/>
            <p:nvPr/>
          </p:nvGrpSpPr>
          <p:grpSpPr bwMode="auto">
            <a:xfrm>
              <a:off x="7758113" y="2749550"/>
              <a:ext cx="407987" cy="180975"/>
              <a:chOff x="4655" y="2464"/>
              <a:chExt cx="319" cy="132"/>
            </a:xfrm>
          </p:grpSpPr>
          <p:grpSp>
            <p:nvGrpSpPr>
              <p:cNvPr id="1641" name="Group 1107"/>
              <p:cNvGrpSpPr/>
              <p:nvPr/>
            </p:nvGrpSpPr>
            <p:grpSpPr bwMode="auto">
              <a:xfrm>
                <a:off x="4660" y="2464"/>
                <a:ext cx="310" cy="130"/>
                <a:chOff x="4334" y="1470"/>
                <a:chExt cx="246" cy="107"/>
              </a:xfrm>
            </p:grpSpPr>
            <p:sp>
              <p:nvSpPr>
                <p:cNvPr id="165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5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5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53" name="Group 1111"/>
                <p:cNvGrpSpPr/>
                <p:nvPr/>
              </p:nvGrpSpPr>
              <p:grpSpPr bwMode="auto">
                <a:xfrm>
                  <a:off x="4383" y="1488"/>
                  <a:ext cx="138" cy="33"/>
                  <a:chOff x="2468" y="1332"/>
                  <a:chExt cx="310" cy="60"/>
                </a:xfrm>
              </p:grpSpPr>
              <p:sp>
                <p:nvSpPr>
                  <p:cNvPr id="1656" name="Freeform 111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57" name="Freeform 111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54" name="Line 1114"/>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5" name="Line 1115"/>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42"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43"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44"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45" name="Group 1119"/>
              <p:cNvGrpSpPr/>
              <p:nvPr/>
            </p:nvGrpSpPr>
            <p:grpSpPr bwMode="auto">
              <a:xfrm>
                <a:off x="4719" y="2486"/>
                <a:ext cx="179" cy="41"/>
                <a:chOff x="2468" y="1332"/>
                <a:chExt cx="310" cy="60"/>
              </a:xfrm>
            </p:grpSpPr>
            <p:sp>
              <p:nvSpPr>
                <p:cNvPr id="1648" name="Freeform 112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9" name="Freeform 112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46" name="Line 1122"/>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7" name="Line 1123"/>
              <p:cNvSpPr>
                <a:spLocks noChangeShapeType="1"/>
              </p:cNvSpPr>
              <p:nvPr/>
            </p:nvSpPr>
            <p:spPr bwMode="auto">
              <a:xfrm>
                <a:off x="4972"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3" name="Group 1124"/>
            <p:cNvGrpSpPr/>
            <p:nvPr/>
          </p:nvGrpSpPr>
          <p:grpSpPr bwMode="auto">
            <a:xfrm>
              <a:off x="7688263" y="2390775"/>
              <a:ext cx="392112" cy="180975"/>
              <a:chOff x="4655" y="2464"/>
              <a:chExt cx="319" cy="132"/>
            </a:xfrm>
          </p:grpSpPr>
          <p:grpSp>
            <p:nvGrpSpPr>
              <p:cNvPr id="1624" name="Group 1125"/>
              <p:cNvGrpSpPr/>
              <p:nvPr/>
            </p:nvGrpSpPr>
            <p:grpSpPr bwMode="auto">
              <a:xfrm>
                <a:off x="4660" y="2464"/>
                <a:ext cx="310" cy="130"/>
                <a:chOff x="4334" y="1470"/>
                <a:chExt cx="246" cy="107"/>
              </a:xfrm>
            </p:grpSpPr>
            <p:sp>
              <p:nvSpPr>
                <p:cNvPr id="163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3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3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36" name="Group 1129"/>
                <p:cNvGrpSpPr/>
                <p:nvPr/>
              </p:nvGrpSpPr>
              <p:grpSpPr bwMode="auto">
                <a:xfrm>
                  <a:off x="4383" y="1488"/>
                  <a:ext cx="138" cy="33"/>
                  <a:chOff x="2468" y="1332"/>
                  <a:chExt cx="310" cy="60"/>
                </a:xfrm>
              </p:grpSpPr>
              <p:sp>
                <p:nvSpPr>
                  <p:cNvPr id="1639" name="Freeform 113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640" name="Freeform 113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637" name="Line 1132"/>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8" name="Line 1133"/>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25"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626"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627"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628" name="Group 1137"/>
              <p:cNvGrpSpPr/>
              <p:nvPr/>
            </p:nvGrpSpPr>
            <p:grpSpPr bwMode="auto">
              <a:xfrm>
                <a:off x="4719" y="2486"/>
                <a:ext cx="179" cy="41"/>
                <a:chOff x="2468" y="1332"/>
                <a:chExt cx="310" cy="60"/>
              </a:xfrm>
            </p:grpSpPr>
            <p:sp>
              <p:nvSpPr>
                <p:cNvPr id="1631" name="Freeform 113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32" name="Freeform 113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29" name="Line 1140"/>
              <p:cNvSpPr>
                <a:spLocks noChangeShapeType="1"/>
              </p:cNvSpPr>
              <p:nvPr/>
            </p:nvSpPr>
            <p:spPr bwMode="auto">
              <a:xfrm>
                <a:off x="4656" y="2506"/>
                <a:ext cx="0" cy="5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0" name="Line 1141"/>
              <p:cNvSpPr>
                <a:spLocks noChangeShapeType="1"/>
              </p:cNvSpPr>
              <p:nvPr/>
            </p:nvSpPr>
            <p:spPr bwMode="auto">
              <a:xfrm>
                <a:off x="4971" y="2507"/>
                <a:ext cx="0" cy="5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4" name="Group 5"/>
            <p:cNvGrpSpPr/>
            <p:nvPr/>
          </p:nvGrpSpPr>
          <p:grpSpPr bwMode="auto">
            <a:xfrm>
              <a:off x="7683500" y="2387600"/>
              <a:ext cx="409575" cy="222250"/>
              <a:chOff x="2213011" y="6015083"/>
              <a:chExt cx="745177" cy="407107"/>
            </a:xfrm>
          </p:grpSpPr>
          <p:sp>
            <p:nvSpPr>
              <p:cNvPr id="1615" name="Oval 528"/>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16" name="Rectangle 529"/>
              <p:cNvSpPr/>
              <p:nvPr/>
            </p:nvSpPr>
            <p:spPr bwMode="auto">
              <a:xfrm>
                <a:off x="2213011" y="6163387"/>
                <a:ext cx="745177" cy="110500"/>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7" name="Oval 530"/>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18" name="Freeform 531"/>
              <p:cNvSpPr/>
              <p:nvPr/>
            </p:nvSpPr>
            <p:spPr bwMode="auto">
              <a:xfrm>
                <a:off x="2403638" y="6102320"/>
                <a:ext cx="361036" cy="15121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9" name="Freeform 532"/>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20" name="Freeform 533"/>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21" name="Freeform 534"/>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622" name="Straight Connector 535"/>
              <p:cNvCxnSpPr>
                <a:cxnSpLocks noChangeShapeType="1"/>
                <a:endCxn id="1617"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623" name="Straight Connector 536"/>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5" name="Group 542"/>
            <p:cNvGrpSpPr/>
            <p:nvPr/>
          </p:nvGrpSpPr>
          <p:grpSpPr bwMode="auto">
            <a:xfrm>
              <a:off x="7751763" y="2738438"/>
              <a:ext cx="411162" cy="220662"/>
              <a:chOff x="2213011" y="6015083"/>
              <a:chExt cx="745177" cy="407107"/>
            </a:xfrm>
          </p:grpSpPr>
          <p:sp>
            <p:nvSpPr>
              <p:cNvPr id="1606" name="Oval 54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07" name="Rectangle 544"/>
              <p:cNvSpPr/>
              <p:nvPr/>
            </p:nvSpPr>
            <p:spPr bwMode="auto">
              <a:xfrm>
                <a:off x="2213011" y="6164453"/>
                <a:ext cx="745177" cy="108368"/>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08" name="Oval 54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09" name="Freeform 546"/>
              <p:cNvSpPr/>
              <p:nvPr/>
            </p:nvSpPr>
            <p:spPr bwMode="auto">
              <a:xfrm>
                <a:off x="2402902" y="6102948"/>
                <a:ext cx="362519" cy="1493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0" name="Freeform 54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11" name="Freeform 54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12" name="Freeform 54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613" name="Straight Connector 550"/>
              <p:cNvCxnSpPr>
                <a:cxnSpLocks noChangeShapeType="1"/>
                <a:endCxn id="1608"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614" name="Straight Connector 55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6" name="Group 552"/>
            <p:cNvGrpSpPr/>
            <p:nvPr/>
          </p:nvGrpSpPr>
          <p:grpSpPr bwMode="auto">
            <a:xfrm>
              <a:off x="7200900" y="2743200"/>
              <a:ext cx="411163" cy="220663"/>
              <a:chOff x="2213011" y="6015083"/>
              <a:chExt cx="745177" cy="407107"/>
            </a:xfrm>
          </p:grpSpPr>
          <p:sp>
            <p:nvSpPr>
              <p:cNvPr id="1597" name="Oval 55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98" name="Rectangle 55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9" name="Oval 55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600" name="Freeform 556"/>
              <p:cNvSpPr/>
              <p:nvPr/>
            </p:nvSpPr>
            <p:spPr bwMode="auto">
              <a:xfrm>
                <a:off x="2402901" y="6102948"/>
                <a:ext cx="362518"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01" name="Freeform 55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02" name="Freeform 55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603" name="Freeform 55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604" name="Straight Connector 560"/>
              <p:cNvCxnSpPr>
                <a:cxnSpLocks noChangeShapeType="1"/>
                <a:endCxn id="1599"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605" name="Straight Connector 56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7" name="Group 562"/>
            <p:cNvGrpSpPr/>
            <p:nvPr/>
          </p:nvGrpSpPr>
          <p:grpSpPr bwMode="auto">
            <a:xfrm>
              <a:off x="7188200" y="2473325"/>
              <a:ext cx="409575" cy="220663"/>
              <a:chOff x="2213011" y="6015083"/>
              <a:chExt cx="745177" cy="407107"/>
            </a:xfrm>
          </p:grpSpPr>
          <p:sp>
            <p:nvSpPr>
              <p:cNvPr id="1588" name="Oval 56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89" name="Rectangle 56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0" name="Oval 56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91" name="Freeform 566"/>
              <p:cNvSpPr/>
              <p:nvPr/>
            </p:nvSpPr>
            <p:spPr bwMode="auto">
              <a:xfrm>
                <a:off x="2403638" y="6102948"/>
                <a:ext cx="361036"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2" name="Freeform 56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93" name="Freeform 56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94" name="Freeform 56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95" name="Straight Connector 570"/>
              <p:cNvCxnSpPr>
                <a:cxnSpLocks noChangeShapeType="1"/>
                <a:endCxn id="1590"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96" name="Straight Connector 57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8" name="Group 572"/>
            <p:cNvGrpSpPr/>
            <p:nvPr/>
          </p:nvGrpSpPr>
          <p:grpSpPr bwMode="auto">
            <a:xfrm>
              <a:off x="7085013" y="3622675"/>
              <a:ext cx="411162" cy="220663"/>
              <a:chOff x="2213011" y="6015083"/>
              <a:chExt cx="745177" cy="407107"/>
            </a:xfrm>
          </p:grpSpPr>
          <p:sp>
            <p:nvSpPr>
              <p:cNvPr id="1579"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80"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81"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82"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83"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84"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85"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86" name="Straight Connector 580"/>
              <p:cNvCxnSpPr>
                <a:cxnSpLocks noChangeShapeType="1"/>
                <a:endCxn id="1581"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87"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09" name="Group 582"/>
            <p:cNvGrpSpPr/>
            <p:nvPr/>
          </p:nvGrpSpPr>
          <p:grpSpPr bwMode="auto">
            <a:xfrm>
              <a:off x="7753350" y="3636963"/>
              <a:ext cx="411163" cy="220662"/>
              <a:chOff x="2213011" y="6015083"/>
              <a:chExt cx="745177" cy="407107"/>
            </a:xfrm>
          </p:grpSpPr>
          <p:sp>
            <p:nvSpPr>
              <p:cNvPr id="1570" name="Oval 58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71" name="Rectangle 584"/>
              <p:cNvSpPr/>
              <p:nvPr/>
            </p:nvSpPr>
            <p:spPr bwMode="auto">
              <a:xfrm>
                <a:off x="2213011" y="6164453"/>
                <a:ext cx="745177" cy="108368"/>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72" name="Oval 58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73" name="Freeform 586"/>
              <p:cNvSpPr/>
              <p:nvPr/>
            </p:nvSpPr>
            <p:spPr bwMode="auto">
              <a:xfrm>
                <a:off x="2402901" y="6102948"/>
                <a:ext cx="362518" cy="1493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74" name="Freeform 58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75" name="Freeform 58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76" name="Freeform 58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77" name="Straight Connector 590"/>
              <p:cNvCxnSpPr>
                <a:cxnSpLocks noChangeShapeType="1"/>
                <a:endCxn id="1572"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78" name="Straight Connector 59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0" name="Group 592"/>
            <p:cNvGrpSpPr/>
            <p:nvPr/>
          </p:nvGrpSpPr>
          <p:grpSpPr bwMode="auto">
            <a:xfrm>
              <a:off x="7454900" y="3903663"/>
              <a:ext cx="411163" cy="222250"/>
              <a:chOff x="2213011" y="6015083"/>
              <a:chExt cx="745177" cy="407107"/>
            </a:xfrm>
          </p:grpSpPr>
          <p:sp>
            <p:nvSpPr>
              <p:cNvPr id="1561" name="Oval 59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62" name="Rectangle 594"/>
              <p:cNvSpPr/>
              <p:nvPr/>
            </p:nvSpPr>
            <p:spPr bwMode="auto">
              <a:xfrm>
                <a:off x="2213011" y="6163385"/>
                <a:ext cx="745177" cy="110500"/>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63" name="Oval 59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64" name="Freeform 596"/>
              <p:cNvSpPr/>
              <p:nvPr/>
            </p:nvSpPr>
            <p:spPr bwMode="auto">
              <a:xfrm>
                <a:off x="2402901" y="6102320"/>
                <a:ext cx="362518" cy="15121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65" name="Freeform 59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66" name="Freeform 59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67" name="Freeform 59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68" name="Straight Connector 600"/>
              <p:cNvCxnSpPr>
                <a:cxnSpLocks noChangeShapeType="1"/>
                <a:endCxn id="1563"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69" name="Straight Connector 60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1" name="Group 562"/>
            <p:cNvGrpSpPr/>
            <p:nvPr/>
          </p:nvGrpSpPr>
          <p:grpSpPr bwMode="auto">
            <a:xfrm>
              <a:off x="6330949" y="2450551"/>
              <a:ext cx="409575" cy="220663"/>
              <a:chOff x="2213011" y="6015083"/>
              <a:chExt cx="745177" cy="407107"/>
            </a:xfrm>
          </p:grpSpPr>
          <p:sp>
            <p:nvSpPr>
              <p:cNvPr id="1552" name="Oval 56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53" name="Rectangle 56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54" name="Oval 56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55" name="Freeform 566"/>
              <p:cNvSpPr/>
              <p:nvPr/>
            </p:nvSpPr>
            <p:spPr bwMode="auto">
              <a:xfrm>
                <a:off x="2403638" y="6102948"/>
                <a:ext cx="361036"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56" name="Freeform 56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57" name="Freeform 56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58" name="Freeform 56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59" name="Straight Connector 570"/>
              <p:cNvCxnSpPr>
                <a:cxnSpLocks noChangeShapeType="1"/>
                <a:endCxn id="1554"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60" name="Straight Connector 57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2" name="Group 572"/>
            <p:cNvGrpSpPr/>
            <p:nvPr/>
          </p:nvGrpSpPr>
          <p:grpSpPr bwMode="auto">
            <a:xfrm>
              <a:off x="6046873" y="3655218"/>
              <a:ext cx="411162" cy="220663"/>
              <a:chOff x="2213011" y="6015083"/>
              <a:chExt cx="745177" cy="407107"/>
            </a:xfrm>
          </p:grpSpPr>
          <p:sp>
            <p:nvSpPr>
              <p:cNvPr id="1543"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44"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45"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46"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47"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48"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49"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50" name="Straight Connector 580"/>
              <p:cNvCxnSpPr>
                <a:cxnSpLocks noChangeShapeType="1"/>
                <a:endCxn id="1545"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51"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3" name="Group 572"/>
            <p:cNvGrpSpPr/>
            <p:nvPr/>
          </p:nvGrpSpPr>
          <p:grpSpPr bwMode="auto">
            <a:xfrm>
              <a:off x="7713489" y="4861116"/>
              <a:ext cx="411162" cy="220663"/>
              <a:chOff x="2213011" y="6015083"/>
              <a:chExt cx="745177" cy="407107"/>
            </a:xfrm>
          </p:grpSpPr>
          <p:sp>
            <p:nvSpPr>
              <p:cNvPr id="1534"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35"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36"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37"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38"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39"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40"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41" name="Straight Connector 580"/>
              <p:cNvCxnSpPr>
                <a:cxnSpLocks noChangeShapeType="1"/>
                <a:endCxn id="1536"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42"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4" name="Group 572"/>
            <p:cNvGrpSpPr/>
            <p:nvPr/>
          </p:nvGrpSpPr>
          <p:grpSpPr bwMode="auto">
            <a:xfrm>
              <a:off x="6394390" y="4836908"/>
              <a:ext cx="411162" cy="220663"/>
              <a:chOff x="2213011" y="6015083"/>
              <a:chExt cx="745177" cy="407107"/>
            </a:xfrm>
          </p:grpSpPr>
          <p:sp>
            <p:nvSpPr>
              <p:cNvPr id="1525"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26"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27"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28"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29"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30"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31"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32" name="Straight Connector 580"/>
              <p:cNvCxnSpPr>
                <a:cxnSpLocks noChangeShapeType="1"/>
                <a:endCxn id="1527"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33"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515" name="Group 572"/>
            <p:cNvGrpSpPr/>
            <p:nvPr/>
          </p:nvGrpSpPr>
          <p:grpSpPr bwMode="auto">
            <a:xfrm>
              <a:off x="7015084" y="4489450"/>
              <a:ext cx="411162" cy="220663"/>
              <a:chOff x="2213011" y="6015083"/>
              <a:chExt cx="745177" cy="407107"/>
            </a:xfrm>
          </p:grpSpPr>
          <p:sp>
            <p:nvSpPr>
              <p:cNvPr id="1516" name="Oval 573"/>
              <p:cNvSpPr>
                <a:spLocks noChangeArrowheads="1"/>
              </p:cNvSpPr>
              <p:nvPr/>
            </p:nvSpPr>
            <p:spPr bwMode="auto">
              <a:xfrm flipV="1">
                <a:off x="2215105" y="6122471"/>
                <a:ext cx="743083" cy="299719"/>
              </a:xfrm>
              <a:prstGeom prst="ellipse">
                <a:avLst/>
              </a:prstGeom>
              <a:gradFill rotWithShape="1">
                <a:gsLst>
                  <a:gs pos="0">
                    <a:srgbClr val="990716"/>
                  </a:gs>
                  <a:gs pos="53000">
                    <a:srgbClr val="FF4949"/>
                  </a:gs>
                  <a:gs pos="100000">
                    <a:srgbClr val="990716"/>
                  </a:gs>
                </a:gsLst>
                <a:lin ang="0" scaled="1"/>
              </a:gra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17" name="Rectangle 574"/>
              <p:cNvSpPr/>
              <p:nvPr/>
            </p:nvSpPr>
            <p:spPr bwMode="auto">
              <a:xfrm>
                <a:off x="2213011" y="6164454"/>
                <a:ext cx="745177" cy="108365"/>
              </a:xfrm>
              <a:prstGeom prst="rect">
                <a:avLst/>
              </a:prstGeom>
              <a:gradFill>
                <a:gsLst>
                  <a:gs pos="0">
                    <a:srgbClr val="990716"/>
                  </a:gs>
                  <a:gs pos="53000">
                    <a:srgbClr val="FF4949"/>
                  </a:gs>
                  <a:gs pos="100000">
                    <a:srgbClr val="990716"/>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18" name="Oval 575"/>
              <p:cNvSpPr>
                <a:spLocks noChangeArrowheads="1"/>
              </p:cNvSpPr>
              <p:nvPr/>
            </p:nvSpPr>
            <p:spPr bwMode="auto">
              <a:xfrm flipV="1">
                <a:off x="2213011" y="6015083"/>
                <a:ext cx="743082" cy="299719"/>
              </a:xfrm>
              <a:prstGeom prst="ellipse">
                <a:avLst/>
              </a:prstGeom>
              <a:solidFill>
                <a:srgbClr val="BFBFBF"/>
              </a:solidFill>
              <a:ln w="6350">
                <a:solidFill>
                  <a:srgbClr val="990716"/>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519" name="Freeform 576"/>
              <p:cNvSpPr/>
              <p:nvPr/>
            </p:nvSpPr>
            <p:spPr bwMode="auto">
              <a:xfrm>
                <a:off x="2402902" y="6102948"/>
                <a:ext cx="362519" cy="14937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FF494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20" name="Freeform 577"/>
              <p:cNvSpPr/>
              <p:nvPr/>
            </p:nvSpPr>
            <p:spPr bwMode="auto">
              <a:xfrm>
                <a:off x="2365814" y="6064747"/>
                <a:ext cx="437478" cy="104347"/>
              </a:xfrm>
              <a:custGeom>
                <a:avLst/>
                <a:gdLst>
                  <a:gd name="T0" fmla="*/ 0 w 3723451"/>
                  <a:gd name="T1" fmla="*/ 25528 h 932950"/>
                  <a:gd name="T2" fmla="*/ 76977 w 3723451"/>
                  <a:gd name="T3" fmla="*/ 301 h 932950"/>
                  <a:gd name="T4" fmla="*/ 218040 w 3723451"/>
                  <a:gd name="T5" fmla="*/ 58223 h 932950"/>
                  <a:gd name="T6" fmla="*/ 352616 w 3723451"/>
                  <a:gd name="T7" fmla="*/ 0 h 932950"/>
                  <a:gd name="T8" fmla="*/ 437478 w 3723451"/>
                  <a:gd name="T9" fmla="*/ 23169 h 932950"/>
                  <a:gd name="T10" fmla="*/ 374341 w 3723451"/>
                  <a:gd name="T11" fmla="*/ 51659 h 932950"/>
                  <a:gd name="T12" fmla="*/ 354013 w 3723451"/>
                  <a:gd name="T13" fmla="*/ 43978 h 932950"/>
                  <a:gd name="T14" fmla="*/ 220519 w 3723451"/>
                  <a:gd name="T15" fmla="*/ 104347 h 932950"/>
                  <a:gd name="T16" fmla="*/ 83609 w 3723451"/>
                  <a:gd name="T17" fmla="*/ 46199 h 932950"/>
                  <a:gd name="T18" fmla="*/ 61474 w 3723451"/>
                  <a:gd name="T19" fmla="*/ 52474 h 932950"/>
                  <a:gd name="T20" fmla="*/ 0 w 3723451"/>
                  <a:gd name="T21" fmla="*/ 25528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21" name="Freeform 578"/>
              <p:cNvSpPr/>
              <p:nvPr/>
            </p:nvSpPr>
            <p:spPr bwMode="auto">
              <a:xfrm>
                <a:off x="2652582" y="6153553"/>
                <a:ext cx="161175" cy="91026"/>
              </a:xfrm>
              <a:custGeom>
                <a:avLst/>
                <a:gdLst>
                  <a:gd name="T0" fmla="*/ 0 w 1366596"/>
                  <a:gd name="T1" fmla="*/ 0 h 809868"/>
                  <a:gd name="T2" fmla="*/ 161175 w 1366596"/>
                  <a:gd name="T3" fmla="*/ 70338 h 809868"/>
                  <a:gd name="T4" fmla="*/ 102023 w 1366596"/>
                  <a:gd name="T5" fmla="*/ 91026 h 809868"/>
                  <a:gd name="T6" fmla="*/ 543 w 1366596"/>
                  <a:gd name="T7" fmla="*/ 480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22" name="Freeform 579"/>
              <p:cNvSpPr/>
              <p:nvPr/>
            </p:nvSpPr>
            <p:spPr bwMode="auto">
              <a:xfrm>
                <a:off x="2357441" y="6155774"/>
                <a:ext cx="159082" cy="91025"/>
              </a:xfrm>
              <a:custGeom>
                <a:avLst/>
                <a:gdLst>
                  <a:gd name="T0" fmla="*/ 156910 w 1348191"/>
                  <a:gd name="T1" fmla="*/ 0 h 791462"/>
                  <a:gd name="T2" fmla="*/ 159082 w 1348191"/>
                  <a:gd name="T3" fmla="*/ 43925 h 791462"/>
                  <a:gd name="T4" fmla="*/ 57552 w 1348191"/>
                  <a:gd name="T5" fmla="*/ 91025 h 791462"/>
                  <a:gd name="T6" fmla="*/ 0 w 1348191"/>
                  <a:gd name="T7" fmla="*/ 70386 h 791462"/>
                  <a:gd name="T8" fmla="*/ 15691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990716"/>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23" name="Straight Connector 580"/>
              <p:cNvCxnSpPr>
                <a:cxnSpLocks noChangeShapeType="1"/>
                <a:endCxn id="1518" idx="2"/>
              </p:cNvCxnSpPr>
              <p:nvPr/>
            </p:nvCxnSpPr>
            <p:spPr bwMode="auto">
              <a:xfrm flipH="1" flipV="1">
                <a:off x="2213011" y="6166052"/>
                <a:ext cx="2093"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24" name="Straight Connector 581"/>
              <p:cNvCxnSpPr>
                <a:cxnSpLocks noChangeShapeType="1"/>
              </p:cNvCxnSpPr>
              <p:nvPr/>
            </p:nvCxnSpPr>
            <p:spPr bwMode="auto">
              <a:xfrm flipH="1" flipV="1">
                <a:off x="2956094" y="6160214"/>
                <a:ext cx="2094" cy="115447"/>
              </a:xfrm>
              <a:prstGeom prst="line">
                <a:avLst/>
              </a:prstGeom>
              <a:noFill/>
              <a:ln w="6350">
                <a:solidFill>
                  <a:srgbClr val="990716"/>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65363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网络核心：简单的路由器模型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088" name="Rectangle 872"/>
          <p:cNvSpPr>
            <a:spLocks noChangeArrowheads="1"/>
          </p:cNvSpPr>
          <p:nvPr/>
        </p:nvSpPr>
        <p:spPr bwMode="auto">
          <a:xfrm>
            <a:off x="426095" y="1096127"/>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800">
              <a:ea typeface="宋体" panose="02010600030101010101" pitchFamily="2"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14" name="Oval 37"/>
          <p:cNvSpPr>
            <a:spLocks noChangeArrowheads="1"/>
          </p:cNvSpPr>
          <p:nvPr/>
        </p:nvSpPr>
        <p:spPr bwMode="auto">
          <a:xfrm>
            <a:off x="936625" y="2943039"/>
            <a:ext cx="985838" cy="914400"/>
          </a:xfrm>
          <a:prstGeom prst="ellipse">
            <a:avLst/>
          </a:prstGeom>
          <a:solidFill>
            <a:schemeClr val="bg1"/>
          </a:solidFill>
          <a:ln w="9525">
            <a:solidFill>
              <a:schemeClr val="tx1"/>
            </a:solidFill>
            <a:round/>
          </a:ln>
        </p:spPr>
        <p:txBody>
          <a:bodyPr wrap="none" anchor="ctr"/>
          <a:lstStyle/>
          <a:p>
            <a:pPr algn="ctr">
              <a:defRPr/>
            </a:pPr>
            <a:r>
              <a:rPr kumimoji="0" lang="en-US" altLang="zh-CN" sz="2400">
                <a:latin typeface="+mn-lt"/>
                <a:ea typeface="宋体" panose="02010600030101010101" pitchFamily="2" charset="-122"/>
              </a:rPr>
              <a:t>R1</a:t>
            </a:r>
          </a:p>
        </p:txBody>
      </p:sp>
      <p:sp>
        <p:nvSpPr>
          <p:cNvPr id="1015" name="Line 38"/>
          <p:cNvSpPr>
            <a:spLocks noChangeShapeType="1"/>
          </p:cNvSpPr>
          <p:nvPr/>
        </p:nvSpPr>
        <p:spPr bwMode="auto">
          <a:xfrm>
            <a:off x="327025" y="3400239"/>
            <a:ext cx="609600" cy="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16" name="Line 39"/>
          <p:cNvSpPr>
            <a:spLocks noChangeShapeType="1"/>
          </p:cNvSpPr>
          <p:nvPr/>
        </p:nvSpPr>
        <p:spPr bwMode="auto">
          <a:xfrm>
            <a:off x="1389063" y="3857439"/>
            <a:ext cx="0" cy="45720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17" name="Line 40"/>
          <p:cNvSpPr>
            <a:spLocks noChangeShapeType="1"/>
          </p:cNvSpPr>
          <p:nvPr/>
        </p:nvSpPr>
        <p:spPr bwMode="auto">
          <a:xfrm>
            <a:off x="1927225" y="3400239"/>
            <a:ext cx="609600" cy="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18" name="Line 41"/>
          <p:cNvSpPr>
            <a:spLocks noChangeShapeType="1"/>
          </p:cNvSpPr>
          <p:nvPr/>
        </p:nvSpPr>
        <p:spPr bwMode="auto">
          <a:xfrm>
            <a:off x="1389063" y="2409639"/>
            <a:ext cx="0" cy="53340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19" name="AutoShape 42"/>
          <p:cNvSpPr>
            <a:spLocks noChangeArrowheads="1"/>
          </p:cNvSpPr>
          <p:nvPr/>
        </p:nvSpPr>
        <p:spPr bwMode="auto">
          <a:xfrm>
            <a:off x="4256088" y="1495239"/>
            <a:ext cx="3124200" cy="4114800"/>
          </a:xfrm>
          <a:prstGeom prst="roundRect">
            <a:avLst>
              <a:gd name="adj" fmla="val 16667"/>
            </a:avLst>
          </a:prstGeom>
          <a:solidFill>
            <a:schemeClr val="bg2"/>
          </a:solidFill>
          <a:ln w="9525">
            <a:solidFill>
              <a:schemeClr val="bg2"/>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20" name="Text Box 43"/>
          <p:cNvSpPr txBox="1">
            <a:spLocks noChangeArrowheads="1"/>
          </p:cNvSpPr>
          <p:nvPr/>
        </p:nvSpPr>
        <p:spPr bwMode="auto">
          <a:xfrm>
            <a:off x="250825" y="3459999"/>
            <a:ext cx="675185" cy="307777"/>
          </a:xfrm>
          <a:prstGeom prst="rect">
            <a:avLst/>
          </a:prstGeom>
          <a:noFill/>
          <a:ln w="9525">
            <a:noFill/>
            <a:miter lim="800000"/>
          </a:ln>
        </p:spPr>
        <p:txBody>
          <a:bodyPr wrap="none">
            <a:spAutoFit/>
          </a:bodyPr>
          <a:lstStyle/>
          <a:p>
            <a:pPr>
              <a:defRPr/>
            </a:pPr>
            <a:r>
              <a:rPr kumimoji="0" lang="zh-CN" altLang="en-US" sz="1400" dirty="0">
                <a:latin typeface="+mn-lt"/>
                <a:ea typeface="宋体" panose="02010600030101010101" pitchFamily="2" charset="-122"/>
              </a:rPr>
              <a:t>链路</a:t>
            </a:r>
            <a:r>
              <a:rPr kumimoji="0" lang="en-US" altLang="zh-CN" sz="1400" dirty="0">
                <a:latin typeface="+mn-lt"/>
                <a:ea typeface="宋体" panose="02010600030101010101" pitchFamily="2" charset="-122"/>
              </a:rPr>
              <a:t> 1</a:t>
            </a:r>
          </a:p>
        </p:txBody>
      </p:sp>
      <p:sp>
        <p:nvSpPr>
          <p:cNvPr id="1021" name="Text Box 44"/>
          <p:cNvSpPr txBox="1">
            <a:spLocks noChangeArrowheads="1"/>
          </p:cNvSpPr>
          <p:nvPr/>
        </p:nvSpPr>
        <p:spPr bwMode="auto">
          <a:xfrm>
            <a:off x="1389063" y="2485839"/>
            <a:ext cx="681037" cy="304800"/>
          </a:xfrm>
          <a:prstGeom prst="rect">
            <a:avLst/>
          </a:prstGeom>
          <a:noFill/>
          <a:ln w="9525">
            <a:noFill/>
            <a:miter lim="800000"/>
          </a:ln>
        </p:spPr>
        <p:txBody>
          <a:bodyPr wrap="none">
            <a:spAutoFit/>
          </a:bodyPr>
          <a:lstStyle/>
          <a:p>
            <a:pPr>
              <a:defRPr/>
            </a:pPr>
            <a:r>
              <a:rPr kumimoji="0" lang="zh-CN" altLang="en-US" sz="1400" dirty="0">
                <a:latin typeface="+mn-lt"/>
                <a:ea typeface="宋体" panose="02010600030101010101" pitchFamily="2" charset="-122"/>
              </a:rPr>
              <a:t>链路</a:t>
            </a:r>
            <a:r>
              <a:rPr kumimoji="0" lang="en-US" altLang="zh-CN" sz="1400" dirty="0">
                <a:latin typeface="+mn-lt"/>
                <a:ea typeface="宋体" panose="02010600030101010101" pitchFamily="2" charset="-122"/>
              </a:rPr>
              <a:t> 2</a:t>
            </a:r>
          </a:p>
        </p:txBody>
      </p:sp>
      <p:sp>
        <p:nvSpPr>
          <p:cNvPr id="1022" name="Text Box 45"/>
          <p:cNvSpPr txBox="1">
            <a:spLocks noChangeArrowheads="1"/>
          </p:cNvSpPr>
          <p:nvPr/>
        </p:nvSpPr>
        <p:spPr bwMode="auto">
          <a:xfrm>
            <a:off x="1927225" y="3454445"/>
            <a:ext cx="681038" cy="304800"/>
          </a:xfrm>
          <a:prstGeom prst="rect">
            <a:avLst/>
          </a:prstGeom>
          <a:noFill/>
          <a:ln w="9525">
            <a:noFill/>
            <a:miter lim="800000"/>
          </a:ln>
        </p:spPr>
        <p:txBody>
          <a:bodyPr wrap="none">
            <a:spAutoFit/>
          </a:bodyPr>
          <a:lstStyle/>
          <a:p>
            <a:pPr>
              <a:defRPr/>
            </a:pPr>
            <a:r>
              <a:rPr kumimoji="0" lang="zh-CN" altLang="en-US" sz="1400" dirty="0">
                <a:latin typeface="+mn-lt"/>
                <a:ea typeface="宋体" panose="02010600030101010101" pitchFamily="2" charset="-122"/>
              </a:rPr>
              <a:t>链路</a:t>
            </a:r>
            <a:r>
              <a:rPr kumimoji="0" lang="en-US" altLang="zh-CN" sz="1400" dirty="0">
                <a:latin typeface="+mn-lt"/>
                <a:ea typeface="宋体" panose="02010600030101010101" pitchFamily="2" charset="-122"/>
              </a:rPr>
              <a:t> 3</a:t>
            </a:r>
          </a:p>
        </p:txBody>
      </p:sp>
      <p:sp>
        <p:nvSpPr>
          <p:cNvPr id="1023" name="Text Box 46"/>
          <p:cNvSpPr txBox="1">
            <a:spLocks noChangeArrowheads="1"/>
          </p:cNvSpPr>
          <p:nvPr/>
        </p:nvSpPr>
        <p:spPr bwMode="auto">
          <a:xfrm>
            <a:off x="1389063" y="3933639"/>
            <a:ext cx="681037" cy="304800"/>
          </a:xfrm>
          <a:prstGeom prst="rect">
            <a:avLst/>
          </a:prstGeom>
          <a:noFill/>
          <a:ln w="9525">
            <a:noFill/>
            <a:miter lim="800000"/>
          </a:ln>
        </p:spPr>
        <p:txBody>
          <a:bodyPr wrap="none">
            <a:spAutoFit/>
          </a:bodyPr>
          <a:lstStyle/>
          <a:p>
            <a:pPr>
              <a:defRPr/>
            </a:pPr>
            <a:r>
              <a:rPr kumimoji="0" lang="zh-CN" altLang="en-US" sz="1400" dirty="0">
                <a:latin typeface="+mn-lt"/>
                <a:ea typeface="宋体" panose="02010600030101010101" pitchFamily="2" charset="-122"/>
              </a:rPr>
              <a:t>链路</a:t>
            </a:r>
            <a:r>
              <a:rPr kumimoji="0" lang="en-US" altLang="zh-CN" sz="1400" dirty="0">
                <a:latin typeface="+mn-lt"/>
                <a:ea typeface="宋体" panose="02010600030101010101" pitchFamily="2" charset="-122"/>
              </a:rPr>
              <a:t> 4</a:t>
            </a:r>
          </a:p>
        </p:txBody>
      </p:sp>
      <p:grpSp>
        <p:nvGrpSpPr>
          <p:cNvPr id="1024" name="Group 47"/>
          <p:cNvGrpSpPr/>
          <p:nvPr/>
        </p:nvGrpSpPr>
        <p:grpSpPr bwMode="auto">
          <a:xfrm>
            <a:off x="2884488" y="2181039"/>
            <a:ext cx="1524000" cy="2667000"/>
            <a:chOff x="1824" y="1632"/>
            <a:chExt cx="1200" cy="1680"/>
          </a:xfrm>
        </p:grpSpPr>
        <p:sp>
          <p:nvSpPr>
            <p:cNvPr id="1025" name="Line 48"/>
            <p:cNvSpPr>
              <a:spLocks noChangeShapeType="1"/>
            </p:cNvSpPr>
            <p:nvPr/>
          </p:nvSpPr>
          <p:spPr bwMode="auto">
            <a:xfrm>
              <a:off x="1824" y="163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26" name="Line 49"/>
            <p:cNvSpPr>
              <a:spLocks noChangeShapeType="1"/>
            </p:cNvSpPr>
            <p:nvPr/>
          </p:nvSpPr>
          <p:spPr bwMode="auto">
            <a:xfrm>
              <a:off x="1824" y="2208"/>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27" name="Line 50"/>
            <p:cNvSpPr>
              <a:spLocks noChangeShapeType="1"/>
            </p:cNvSpPr>
            <p:nvPr/>
          </p:nvSpPr>
          <p:spPr bwMode="auto">
            <a:xfrm>
              <a:off x="1824" y="2736"/>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28" name="Line 51"/>
            <p:cNvSpPr>
              <a:spLocks noChangeShapeType="1"/>
            </p:cNvSpPr>
            <p:nvPr/>
          </p:nvSpPr>
          <p:spPr bwMode="auto">
            <a:xfrm>
              <a:off x="1824" y="331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29" name="Group 52"/>
          <p:cNvGrpSpPr/>
          <p:nvPr/>
        </p:nvGrpSpPr>
        <p:grpSpPr bwMode="auto">
          <a:xfrm>
            <a:off x="6923088" y="2181039"/>
            <a:ext cx="1524000" cy="2667000"/>
            <a:chOff x="1824" y="1632"/>
            <a:chExt cx="1200" cy="1680"/>
          </a:xfrm>
        </p:grpSpPr>
        <p:sp>
          <p:nvSpPr>
            <p:cNvPr id="1030" name="Line 53"/>
            <p:cNvSpPr>
              <a:spLocks noChangeShapeType="1"/>
            </p:cNvSpPr>
            <p:nvPr/>
          </p:nvSpPr>
          <p:spPr bwMode="auto">
            <a:xfrm>
              <a:off x="1824" y="163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31" name="Line 54"/>
            <p:cNvSpPr>
              <a:spLocks noChangeShapeType="1"/>
            </p:cNvSpPr>
            <p:nvPr/>
          </p:nvSpPr>
          <p:spPr bwMode="auto">
            <a:xfrm>
              <a:off x="1824" y="2208"/>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32" name="Line 55"/>
            <p:cNvSpPr>
              <a:spLocks noChangeShapeType="1"/>
            </p:cNvSpPr>
            <p:nvPr/>
          </p:nvSpPr>
          <p:spPr bwMode="auto">
            <a:xfrm>
              <a:off x="1824" y="2736"/>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33" name="Line 56"/>
            <p:cNvSpPr>
              <a:spLocks noChangeShapeType="1"/>
            </p:cNvSpPr>
            <p:nvPr/>
          </p:nvSpPr>
          <p:spPr bwMode="auto">
            <a:xfrm>
              <a:off x="1824" y="331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
        <p:nvSpPr>
          <p:cNvPr id="1034" name="Text Box 57"/>
          <p:cNvSpPr txBox="1">
            <a:spLocks noChangeArrowheads="1"/>
          </p:cNvSpPr>
          <p:nvPr/>
        </p:nvSpPr>
        <p:spPr bwMode="auto">
          <a:xfrm>
            <a:off x="2960688" y="1876239"/>
            <a:ext cx="1079142" cy="307777"/>
          </a:xfrm>
          <a:prstGeom prst="rect">
            <a:avLst/>
          </a:prstGeom>
          <a:noFill/>
          <a:ln w="9525">
            <a:noFill/>
            <a:miter lim="800000"/>
          </a:ln>
        </p:spPr>
        <p:txBody>
          <a:bodyPr wrap="none">
            <a:spAutoFit/>
          </a:bodyPr>
          <a:lstStyle/>
          <a:p>
            <a:pPr>
              <a:defRPr/>
            </a:pPr>
            <a:r>
              <a:rPr kumimoji="0" lang="zh-CN" altLang="en-US" sz="1400" dirty="0">
                <a:latin typeface="+mn-lt"/>
                <a:ea typeface="宋体" panose="02010600030101010101" pitchFamily="2" charset="-122"/>
              </a:rPr>
              <a:t>链路</a:t>
            </a:r>
            <a:r>
              <a:rPr kumimoji="0" lang="en-US" altLang="zh-CN" sz="1400" dirty="0">
                <a:latin typeface="+mn-lt"/>
                <a:ea typeface="宋体" panose="02010600030101010101" pitchFamily="2" charset="-122"/>
              </a:rPr>
              <a:t>1, </a:t>
            </a:r>
            <a:r>
              <a:rPr kumimoji="0" lang="zh-CN" altLang="en-US" sz="1400" dirty="0">
                <a:latin typeface="+mn-lt"/>
                <a:ea typeface="宋体" panose="02010600030101010101" pitchFamily="2" charset="-122"/>
              </a:rPr>
              <a:t>输入</a:t>
            </a:r>
            <a:endParaRPr kumimoji="0" lang="en-US" altLang="zh-CN" sz="1400" dirty="0">
              <a:latin typeface="+mn-lt"/>
              <a:ea typeface="宋体" panose="02010600030101010101" pitchFamily="2" charset="-122"/>
            </a:endParaRPr>
          </a:p>
        </p:txBody>
      </p:sp>
      <p:sp>
        <p:nvSpPr>
          <p:cNvPr id="1036" name="Text Box 59"/>
          <p:cNvSpPr txBox="1">
            <a:spLocks noChangeArrowheads="1"/>
          </p:cNvSpPr>
          <p:nvPr/>
        </p:nvSpPr>
        <p:spPr bwMode="auto">
          <a:xfrm>
            <a:off x="2960688" y="2790639"/>
            <a:ext cx="1079142" cy="307777"/>
          </a:xfrm>
          <a:prstGeom prst="rect">
            <a:avLst/>
          </a:prstGeom>
          <a:noFill/>
          <a:ln w="9525">
            <a:noFill/>
            <a:miter lim="800000"/>
          </a:ln>
        </p:spPr>
        <p:txBody>
          <a:bodyPr wrap="none">
            <a:spAutoFit/>
          </a:bodyPr>
          <a:lstStyle/>
          <a:p>
            <a:pPr>
              <a:defRPr/>
            </a:pPr>
            <a:r>
              <a:rPr lang="zh-CN" altLang="en-US" sz="1400" dirty="0">
                <a:ea typeface="宋体" panose="02010600030101010101" pitchFamily="2" charset="-122"/>
              </a:rPr>
              <a:t>链路</a:t>
            </a:r>
            <a:r>
              <a:rPr kumimoji="0" lang="en-US" altLang="zh-CN" sz="1400" dirty="0">
                <a:latin typeface="+mn-lt"/>
                <a:ea typeface="宋体" panose="02010600030101010101" pitchFamily="2" charset="-122"/>
              </a:rPr>
              <a:t>2, </a:t>
            </a:r>
            <a:r>
              <a:rPr lang="zh-CN" altLang="en-US" sz="1400" dirty="0">
                <a:ea typeface="宋体" panose="02010600030101010101" pitchFamily="2" charset="-122"/>
              </a:rPr>
              <a:t>输入</a:t>
            </a:r>
            <a:endParaRPr kumimoji="0" lang="en-US" altLang="zh-CN" sz="1400" dirty="0">
              <a:latin typeface="+mn-lt"/>
              <a:ea typeface="宋体" panose="02010600030101010101" pitchFamily="2" charset="-122"/>
            </a:endParaRPr>
          </a:p>
        </p:txBody>
      </p:sp>
      <p:sp>
        <p:nvSpPr>
          <p:cNvPr id="1038" name="Text Box 61"/>
          <p:cNvSpPr txBox="1">
            <a:spLocks noChangeArrowheads="1"/>
          </p:cNvSpPr>
          <p:nvPr/>
        </p:nvSpPr>
        <p:spPr bwMode="auto">
          <a:xfrm>
            <a:off x="2960688" y="3628839"/>
            <a:ext cx="1079142" cy="307777"/>
          </a:xfrm>
          <a:prstGeom prst="rect">
            <a:avLst/>
          </a:prstGeom>
          <a:noFill/>
          <a:ln w="9525">
            <a:noFill/>
            <a:miter lim="800000"/>
          </a:ln>
        </p:spPr>
        <p:txBody>
          <a:bodyPr wrap="none">
            <a:spAutoFit/>
          </a:bodyPr>
          <a:lstStyle/>
          <a:p>
            <a:pPr>
              <a:defRPr/>
            </a:pPr>
            <a:r>
              <a:rPr lang="zh-CN" altLang="en-US" sz="1400" dirty="0">
                <a:ea typeface="宋体" panose="02010600030101010101" pitchFamily="2" charset="-122"/>
              </a:rPr>
              <a:t>链路</a:t>
            </a:r>
            <a:r>
              <a:rPr kumimoji="0" lang="en-US" altLang="zh-CN" sz="1400" dirty="0">
                <a:latin typeface="+mn-lt"/>
                <a:ea typeface="宋体" panose="02010600030101010101" pitchFamily="2" charset="-122"/>
              </a:rPr>
              <a:t>3, </a:t>
            </a:r>
            <a:r>
              <a:rPr lang="zh-CN" altLang="en-US" sz="1400" dirty="0">
                <a:ea typeface="宋体" panose="02010600030101010101" pitchFamily="2" charset="-122"/>
              </a:rPr>
              <a:t>输入</a:t>
            </a:r>
            <a:endParaRPr kumimoji="0" lang="en-US" altLang="zh-CN" sz="1400" dirty="0">
              <a:latin typeface="+mn-lt"/>
              <a:ea typeface="宋体" panose="02010600030101010101" pitchFamily="2" charset="-122"/>
            </a:endParaRPr>
          </a:p>
        </p:txBody>
      </p:sp>
      <p:sp>
        <p:nvSpPr>
          <p:cNvPr id="1040" name="Text Box 63"/>
          <p:cNvSpPr txBox="1">
            <a:spLocks noChangeArrowheads="1"/>
          </p:cNvSpPr>
          <p:nvPr/>
        </p:nvSpPr>
        <p:spPr bwMode="auto">
          <a:xfrm>
            <a:off x="2960688" y="4543239"/>
            <a:ext cx="1079142" cy="307777"/>
          </a:xfrm>
          <a:prstGeom prst="rect">
            <a:avLst/>
          </a:prstGeom>
          <a:noFill/>
          <a:ln w="9525">
            <a:noFill/>
            <a:miter lim="800000"/>
          </a:ln>
        </p:spPr>
        <p:txBody>
          <a:bodyPr wrap="none">
            <a:spAutoFit/>
          </a:bodyPr>
          <a:lstStyle/>
          <a:p>
            <a:pPr>
              <a:defRPr/>
            </a:pPr>
            <a:r>
              <a:rPr lang="zh-CN" altLang="en-US" sz="1400" dirty="0">
                <a:ea typeface="宋体" panose="02010600030101010101" pitchFamily="2" charset="-122"/>
              </a:rPr>
              <a:t>链路</a:t>
            </a:r>
            <a:r>
              <a:rPr kumimoji="0" lang="en-US" altLang="zh-CN" sz="1400" dirty="0">
                <a:latin typeface="+mn-lt"/>
                <a:ea typeface="宋体" panose="02010600030101010101" pitchFamily="2" charset="-122"/>
              </a:rPr>
              <a:t>4, </a:t>
            </a:r>
            <a:r>
              <a:rPr lang="zh-CN" altLang="en-US" sz="1400" dirty="0">
                <a:ea typeface="宋体" panose="02010600030101010101" pitchFamily="2" charset="-122"/>
              </a:rPr>
              <a:t>输入</a:t>
            </a:r>
            <a:endParaRPr kumimoji="0" lang="en-US" altLang="zh-CN" sz="1400" dirty="0">
              <a:latin typeface="+mn-lt"/>
              <a:ea typeface="宋体" panose="02010600030101010101" pitchFamily="2" charset="-122"/>
            </a:endParaRPr>
          </a:p>
        </p:txBody>
      </p:sp>
      <p:grpSp>
        <p:nvGrpSpPr>
          <p:cNvPr id="1042" name="Group 65"/>
          <p:cNvGrpSpPr/>
          <p:nvPr/>
        </p:nvGrpSpPr>
        <p:grpSpPr bwMode="auto">
          <a:xfrm>
            <a:off x="6237288" y="1952439"/>
            <a:ext cx="914400" cy="533400"/>
            <a:chOff x="3696" y="1056"/>
            <a:chExt cx="576" cy="336"/>
          </a:xfrm>
          <a:solidFill>
            <a:schemeClr val="accent2">
              <a:lumMod val="60000"/>
              <a:lumOff val="40000"/>
            </a:schemeClr>
          </a:solidFill>
        </p:grpSpPr>
        <p:sp>
          <p:nvSpPr>
            <p:cNvPr id="1043" name="Freeform 66"/>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44" name="Line 67"/>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45" name="Group 68"/>
          <p:cNvGrpSpPr/>
          <p:nvPr/>
        </p:nvGrpSpPr>
        <p:grpSpPr bwMode="auto">
          <a:xfrm>
            <a:off x="6237288" y="2790639"/>
            <a:ext cx="914400" cy="533400"/>
            <a:chOff x="3696" y="1056"/>
            <a:chExt cx="576" cy="336"/>
          </a:xfrm>
          <a:solidFill>
            <a:schemeClr val="accent2">
              <a:lumMod val="60000"/>
              <a:lumOff val="40000"/>
            </a:schemeClr>
          </a:solidFill>
        </p:grpSpPr>
        <p:sp>
          <p:nvSpPr>
            <p:cNvPr id="1046" name="Freeform 69"/>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47" name="Line 70"/>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48" name="Group 71"/>
          <p:cNvGrpSpPr/>
          <p:nvPr/>
        </p:nvGrpSpPr>
        <p:grpSpPr bwMode="auto">
          <a:xfrm>
            <a:off x="6237288" y="3628839"/>
            <a:ext cx="914400" cy="533400"/>
            <a:chOff x="3696" y="1056"/>
            <a:chExt cx="576" cy="336"/>
          </a:xfrm>
          <a:solidFill>
            <a:schemeClr val="accent2">
              <a:lumMod val="60000"/>
              <a:lumOff val="40000"/>
            </a:schemeClr>
          </a:solidFill>
        </p:grpSpPr>
        <p:sp>
          <p:nvSpPr>
            <p:cNvPr id="1049" name="Freeform 72"/>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50" name="Line 73"/>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51" name="Group 74"/>
          <p:cNvGrpSpPr/>
          <p:nvPr/>
        </p:nvGrpSpPr>
        <p:grpSpPr bwMode="auto">
          <a:xfrm>
            <a:off x="6237288" y="4543239"/>
            <a:ext cx="914400" cy="533400"/>
            <a:chOff x="3696" y="1056"/>
            <a:chExt cx="576" cy="336"/>
          </a:xfrm>
          <a:solidFill>
            <a:schemeClr val="accent2">
              <a:lumMod val="60000"/>
              <a:lumOff val="40000"/>
            </a:schemeClr>
          </a:solidFill>
        </p:grpSpPr>
        <p:sp>
          <p:nvSpPr>
            <p:cNvPr id="1052" name="Freeform 75"/>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53" name="Line 76"/>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54" name="Group 77"/>
          <p:cNvGrpSpPr/>
          <p:nvPr/>
        </p:nvGrpSpPr>
        <p:grpSpPr bwMode="auto">
          <a:xfrm>
            <a:off x="5170488" y="2181039"/>
            <a:ext cx="1066800" cy="2667000"/>
            <a:chOff x="2736" y="1584"/>
            <a:chExt cx="1008" cy="1680"/>
          </a:xfrm>
        </p:grpSpPr>
        <p:grpSp>
          <p:nvGrpSpPr>
            <p:cNvPr id="1055" name="Group 78"/>
            <p:cNvGrpSpPr/>
            <p:nvPr/>
          </p:nvGrpSpPr>
          <p:grpSpPr bwMode="auto">
            <a:xfrm>
              <a:off x="2736" y="1584"/>
              <a:ext cx="1008" cy="1680"/>
              <a:chOff x="2736" y="1584"/>
              <a:chExt cx="1008" cy="1680"/>
            </a:xfrm>
          </p:grpSpPr>
          <p:sp>
            <p:nvSpPr>
              <p:cNvPr id="1071" name="Line 79"/>
              <p:cNvSpPr>
                <a:spLocks noChangeShapeType="1"/>
              </p:cNvSpPr>
              <p:nvPr/>
            </p:nvSpPr>
            <p:spPr bwMode="auto">
              <a:xfrm>
                <a:off x="2736" y="1584"/>
                <a:ext cx="1008" cy="0"/>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72" name="Line 80"/>
              <p:cNvSpPr>
                <a:spLocks noChangeShapeType="1"/>
              </p:cNvSpPr>
              <p:nvPr/>
            </p:nvSpPr>
            <p:spPr bwMode="auto">
              <a:xfrm flipV="1">
                <a:off x="2736" y="1584"/>
                <a:ext cx="1008" cy="57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73" name="Line 81"/>
              <p:cNvSpPr>
                <a:spLocks noChangeShapeType="1"/>
              </p:cNvSpPr>
              <p:nvPr/>
            </p:nvSpPr>
            <p:spPr bwMode="auto">
              <a:xfrm flipV="1">
                <a:off x="2736" y="1632"/>
                <a:ext cx="1008" cy="105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74" name="Line 82"/>
              <p:cNvSpPr>
                <a:spLocks noChangeShapeType="1"/>
              </p:cNvSpPr>
              <p:nvPr/>
            </p:nvSpPr>
            <p:spPr bwMode="auto">
              <a:xfrm flipV="1">
                <a:off x="2736" y="1680"/>
                <a:ext cx="1008" cy="1584"/>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56" name="Group 83"/>
            <p:cNvGrpSpPr/>
            <p:nvPr/>
          </p:nvGrpSpPr>
          <p:grpSpPr bwMode="auto">
            <a:xfrm flipV="1">
              <a:off x="2736" y="1584"/>
              <a:ext cx="1008" cy="1680"/>
              <a:chOff x="2736" y="1584"/>
              <a:chExt cx="1008" cy="1680"/>
            </a:xfrm>
          </p:grpSpPr>
          <p:sp>
            <p:nvSpPr>
              <p:cNvPr id="1067" name="Line 84"/>
              <p:cNvSpPr>
                <a:spLocks noChangeShapeType="1"/>
              </p:cNvSpPr>
              <p:nvPr/>
            </p:nvSpPr>
            <p:spPr bwMode="auto">
              <a:xfrm>
                <a:off x="2736" y="1584"/>
                <a:ext cx="1008" cy="0"/>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8" name="Line 85"/>
              <p:cNvSpPr>
                <a:spLocks noChangeShapeType="1"/>
              </p:cNvSpPr>
              <p:nvPr/>
            </p:nvSpPr>
            <p:spPr bwMode="auto">
              <a:xfrm flipV="1">
                <a:off x="2736" y="1584"/>
                <a:ext cx="1008" cy="57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9" name="Line 86"/>
              <p:cNvSpPr>
                <a:spLocks noChangeShapeType="1"/>
              </p:cNvSpPr>
              <p:nvPr/>
            </p:nvSpPr>
            <p:spPr bwMode="auto">
              <a:xfrm flipV="1">
                <a:off x="2736" y="1632"/>
                <a:ext cx="1008" cy="105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70" name="Line 87"/>
              <p:cNvSpPr>
                <a:spLocks noChangeShapeType="1"/>
              </p:cNvSpPr>
              <p:nvPr/>
            </p:nvSpPr>
            <p:spPr bwMode="auto">
              <a:xfrm flipV="1">
                <a:off x="2736" y="1680"/>
                <a:ext cx="1008" cy="1584"/>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57" name="Group 88"/>
            <p:cNvGrpSpPr/>
            <p:nvPr/>
          </p:nvGrpSpPr>
          <p:grpSpPr bwMode="auto">
            <a:xfrm>
              <a:off x="2736" y="1584"/>
              <a:ext cx="1008" cy="1680"/>
              <a:chOff x="2736" y="1584"/>
              <a:chExt cx="1008" cy="1680"/>
            </a:xfrm>
          </p:grpSpPr>
          <p:sp>
            <p:nvSpPr>
              <p:cNvPr id="1063" name="Line 89"/>
              <p:cNvSpPr>
                <a:spLocks noChangeShapeType="1"/>
              </p:cNvSpPr>
              <p:nvPr/>
            </p:nvSpPr>
            <p:spPr bwMode="auto">
              <a:xfrm>
                <a:off x="2736" y="1584"/>
                <a:ext cx="1008" cy="480"/>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4" name="Line 90"/>
              <p:cNvSpPr>
                <a:spLocks noChangeShapeType="1"/>
              </p:cNvSpPr>
              <p:nvPr/>
            </p:nvSpPr>
            <p:spPr bwMode="auto">
              <a:xfrm flipV="1">
                <a:off x="2736" y="2112"/>
                <a:ext cx="1008" cy="4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5" name="Line 91"/>
              <p:cNvSpPr>
                <a:spLocks noChangeShapeType="1"/>
              </p:cNvSpPr>
              <p:nvPr/>
            </p:nvSpPr>
            <p:spPr bwMode="auto">
              <a:xfrm flipV="1">
                <a:off x="2736" y="2160"/>
                <a:ext cx="1008" cy="52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6" name="Line 92"/>
              <p:cNvSpPr>
                <a:spLocks noChangeShapeType="1"/>
              </p:cNvSpPr>
              <p:nvPr/>
            </p:nvSpPr>
            <p:spPr bwMode="auto">
              <a:xfrm flipV="1">
                <a:off x="2736" y="2256"/>
                <a:ext cx="1008" cy="100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058" name="Group 93"/>
            <p:cNvGrpSpPr/>
            <p:nvPr/>
          </p:nvGrpSpPr>
          <p:grpSpPr bwMode="auto">
            <a:xfrm flipV="1">
              <a:off x="2736" y="1584"/>
              <a:ext cx="1008" cy="1680"/>
              <a:chOff x="2736" y="1584"/>
              <a:chExt cx="1008" cy="1680"/>
            </a:xfrm>
          </p:grpSpPr>
          <p:sp>
            <p:nvSpPr>
              <p:cNvPr id="1059" name="Line 94"/>
              <p:cNvSpPr>
                <a:spLocks noChangeShapeType="1"/>
              </p:cNvSpPr>
              <p:nvPr/>
            </p:nvSpPr>
            <p:spPr bwMode="auto">
              <a:xfrm>
                <a:off x="2736" y="1584"/>
                <a:ext cx="1008" cy="480"/>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0" name="Line 95"/>
              <p:cNvSpPr>
                <a:spLocks noChangeShapeType="1"/>
              </p:cNvSpPr>
              <p:nvPr/>
            </p:nvSpPr>
            <p:spPr bwMode="auto">
              <a:xfrm flipV="1">
                <a:off x="2736" y="2112"/>
                <a:ext cx="1008" cy="4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1" name="Line 96"/>
              <p:cNvSpPr>
                <a:spLocks noChangeShapeType="1"/>
              </p:cNvSpPr>
              <p:nvPr/>
            </p:nvSpPr>
            <p:spPr bwMode="auto">
              <a:xfrm flipV="1">
                <a:off x="2736" y="2160"/>
                <a:ext cx="1008" cy="52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2" name="Line 97"/>
              <p:cNvSpPr>
                <a:spLocks noChangeShapeType="1"/>
              </p:cNvSpPr>
              <p:nvPr/>
            </p:nvSpPr>
            <p:spPr bwMode="auto">
              <a:xfrm flipV="1">
                <a:off x="2736" y="2256"/>
                <a:ext cx="1008" cy="100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sp>
        <p:nvSpPr>
          <p:cNvPr id="1075" name="Rectangle 98"/>
          <p:cNvSpPr>
            <a:spLocks noChangeArrowheads="1"/>
          </p:cNvSpPr>
          <p:nvPr/>
        </p:nvSpPr>
        <p:spPr bwMode="auto">
          <a:xfrm>
            <a:off x="4408488" y="1952439"/>
            <a:ext cx="762000" cy="533400"/>
          </a:xfrm>
          <a:prstGeom prst="rect">
            <a:avLst/>
          </a:prstGeom>
          <a:solidFill>
            <a:schemeClr val="bg1"/>
          </a:solidFill>
          <a:ln w="9525">
            <a:solidFill>
              <a:schemeClr val="tx1"/>
            </a:solidFill>
            <a:miter lim="800000"/>
          </a:ln>
        </p:spPr>
        <p:txBody>
          <a:bodyPr wrap="none" anchor="ctr"/>
          <a:lstStyle/>
          <a:p>
            <a:pPr algn="ctr">
              <a:defRPr/>
            </a:pPr>
            <a:r>
              <a:rPr kumimoji="0" lang="zh-CN" altLang="en-US" sz="1400" dirty="0">
                <a:latin typeface="+mn-lt"/>
                <a:ea typeface="宋体" panose="02010600030101010101" pitchFamily="2" charset="-122"/>
              </a:rPr>
              <a:t>出口</a:t>
            </a:r>
            <a:endParaRPr kumimoji="0" lang="en-US" altLang="zh-CN" sz="1400" dirty="0">
              <a:latin typeface="+mn-lt"/>
              <a:ea typeface="宋体" panose="02010600030101010101" pitchFamily="2" charset="-122"/>
            </a:endParaRPr>
          </a:p>
          <a:p>
            <a:pPr algn="ctr">
              <a:defRPr/>
            </a:pPr>
            <a:r>
              <a:rPr kumimoji="0" lang="zh-CN" altLang="en-US" sz="1400" dirty="0">
                <a:latin typeface="+mn-lt"/>
                <a:ea typeface="宋体" panose="02010600030101010101" pitchFamily="2" charset="-122"/>
              </a:rPr>
              <a:t>选择</a:t>
            </a:r>
            <a:endParaRPr kumimoji="0" lang="en-US" altLang="zh-CN" sz="1400" dirty="0">
              <a:latin typeface="+mn-lt"/>
              <a:ea typeface="宋体" panose="02010600030101010101" pitchFamily="2" charset="-122"/>
            </a:endParaRPr>
          </a:p>
        </p:txBody>
      </p:sp>
      <p:sp>
        <p:nvSpPr>
          <p:cNvPr id="1076" name="Rectangle 99"/>
          <p:cNvSpPr>
            <a:spLocks noChangeArrowheads="1"/>
          </p:cNvSpPr>
          <p:nvPr/>
        </p:nvSpPr>
        <p:spPr bwMode="auto">
          <a:xfrm>
            <a:off x="4408488" y="2790639"/>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400" dirty="0">
                <a:ea typeface="宋体" panose="02010600030101010101" pitchFamily="2" charset="-122"/>
              </a:rPr>
              <a:t>出口</a:t>
            </a:r>
            <a:endParaRPr lang="en-US" altLang="zh-CN" sz="1400" dirty="0">
              <a:ea typeface="宋体" panose="02010600030101010101" pitchFamily="2" charset="-122"/>
            </a:endParaRPr>
          </a:p>
          <a:p>
            <a:pPr algn="ctr">
              <a:defRPr/>
            </a:pPr>
            <a:r>
              <a:rPr lang="zh-CN" altLang="en-US" sz="1400" dirty="0">
                <a:ea typeface="宋体" panose="02010600030101010101" pitchFamily="2" charset="-122"/>
              </a:rPr>
              <a:t>选择</a:t>
            </a:r>
            <a:endParaRPr lang="en-US" altLang="zh-CN" sz="1400" dirty="0">
              <a:ea typeface="宋体" panose="02010600030101010101" pitchFamily="2" charset="-122"/>
            </a:endParaRPr>
          </a:p>
        </p:txBody>
      </p:sp>
      <p:sp>
        <p:nvSpPr>
          <p:cNvPr id="1077" name="Rectangle 100"/>
          <p:cNvSpPr>
            <a:spLocks noChangeArrowheads="1"/>
          </p:cNvSpPr>
          <p:nvPr/>
        </p:nvSpPr>
        <p:spPr bwMode="auto">
          <a:xfrm>
            <a:off x="4408488" y="3628839"/>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400" dirty="0">
                <a:ea typeface="宋体" panose="02010600030101010101" pitchFamily="2" charset="-122"/>
              </a:rPr>
              <a:t>出口</a:t>
            </a:r>
            <a:endParaRPr lang="en-US" altLang="zh-CN" sz="1400" dirty="0">
              <a:ea typeface="宋体" panose="02010600030101010101" pitchFamily="2" charset="-122"/>
            </a:endParaRPr>
          </a:p>
          <a:p>
            <a:pPr algn="ctr">
              <a:defRPr/>
            </a:pPr>
            <a:r>
              <a:rPr lang="zh-CN" altLang="en-US" sz="1400" dirty="0">
                <a:ea typeface="宋体" panose="02010600030101010101" pitchFamily="2" charset="-122"/>
              </a:rPr>
              <a:t>选择</a:t>
            </a:r>
            <a:endParaRPr lang="en-US" altLang="zh-CN" sz="1400" dirty="0">
              <a:ea typeface="宋体" panose="02010600030101010101" pitchFamily="2" charset="-122"/>
            </a:endParaRPr>
          </a:p>
        </p:txBody>
      </p:sp>
      <p:sp>
        <p:nvSpPr>
          <p:cNvPr id="1078" name="Rectangle 101"/>
          <p:cNvSpPr>
            <a:spLocks noChangeArrowheads="1"/>
          </p:cNvSpPr>
          <p:nvPr/>
        </p:nvSpPr>
        <p:spPr bwMode="auto">
          <a:xfrm>
            <a:off x="4408488" y="4543239"/>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400" dirty="0">
                <a:ea typeface="宋体" panose="02010600030101010101" pitchFamily="2" charset="-122"/>
              </a:rPr>
              <a:t>出口</a:t>
            </a:r>
            <a:endParaRPr lang="en-US" altLang="zh-CN" sz="1400" dirty="0">
              <a:ea typeface="宋体" panose="02010600030101010101" pitchFamily="2" charset="-122"/>
            </a:endParaRPr>
          </a:p>
          <a:p>
            <a:pPr algn="ctr">
              <a:defRPr/>
            </a:pPr>
            <a:r>
              <a:rPr lang="zh-CN" altLang="en-US" sz="1400" dirty="0">
                <a:ea typeface="宋体" panose="02010600030101010101" pitchFamily="2" charset="-122"/>
              </a:rPr>
              <a:t>选择</a:t>
            </a:r>
            <a:endParaRPr lang="en-US" altLang="zh-CN" sz="1400" dirty="0">
              <a:ea typeface="宋体" panose="02010600030101010101" pitchFamily="2" charset="-122"/>
            </a:endParaRPr>
          </a:p>
        </p:txBody>
      </p:sp>
      <p:grpSp>
        <p:nvGrpSpPr>
          <p:cNvPr id="1079" name="Group 102"/>
          <p:cNvGrpSpPr/>
          <p:nvPr/>
        </p:nvGrpSpPr>
        <p:grpSpPr bwMode="auto">
          <a:xfrm>
            <a:off x="627063" y="3247839"/>
            <a:ext cx="1219200" cy="304800"/>
            <a:chOff x="672" y="1152"/>
            <a:chExt cx="768" cy="192"/>
          </a:xfrm>
          <a:solidFill>
            <a:schemeClr val="accent6">
              <a:lumMod val="60000"/>
              <a:lumOff val="40000"/>
            </a:schemeClr>
          </a:solidFill>
        </p:grpSpPr>
        <p:sp>
          <p:nvSpPr>
            <p:cNvPr id="1080" name="Rectangle 103"/>
            <p:cNvSpPr>
              <a:spLocks noChangeArrowheads="1"/>
            </p:cNvSpPr>
            <p:nvPr/>
          </p:nvSpPr>
          <p:spPr bwMode="auto">
            <a:xfrm>
              <a:off x="855" y="1152"/>
              <a:ext cx="345" cy="192"/>
            </a:xfrm>
            <a:prstGeom prst="rect">
              <a:avLst/>
            </a:prstGeom>
            <a:grp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1081" name="Group 104"/>
            <p:cNvGrpSpPr/>
            <p:nvPr/>
          </p:nvGrpSpPr>
          <p:grpSpPr bwMode="auto">
            <a:xfrm>
              <a:off x="672" y="1200"/>
              <a:ext cx="122" cy="96"/>
              <a:chOff x="576" y="1200"/>
              <a:chExt cx="96" cy="48"/>
            </a:xfrm>
            <a:grpFill/>
          </p:grpSpPr>
          <p:sp>
            <p:nvSpPr>
              <p:cNvPr id="1083" name="Line 105"/>
              <p:cNvSpPr>
                <a:spLocks noChangeShapeType="1"/>
              </p:cNvSpPr>
              <p:nvPr/>
            </p:nvSpPr>
            <p:spPr bwMode="auto">
              <a:xfrm>
                <a:off x="672" y="1200"/>
                <a:ext cx="0" cy="48"/>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84" name="Line 106"/>
              <p:cNvSpPr>
                <a:spLocks noChangeShapeType="1"/>
              </p:cNvSpPr>
              <p:nvPr/>
            </p:nvSpPr>
            <p:spPr bwMode="auto">
              <a:xfrm>
                <a:off x="624" y="1200"/>
                <a:ext cx="0" cy="48"/>
              </a:xfrm>
              <a:prstGeom prst="line">
                <a:avLst/>
              </a:prstGeom>
              <a:grp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85" name="Line 107"/>
              <p:cNvSpPr>
                <a:spLocks noChangeShapeType="1"/>
              </p:cNvSpPr>
              <p:nvPr/>
            </p:nvSpPr>
            <p:spPr bwMode="auto">
              <a:xfrm>
                <a:off x="576" y="1200"/>
                <a:ext cx="0" cy="48"/>
              </a:xfrm>
              <a:prstGeom prst="line">
                <a:avLst/>
              </a:prstGeom>
              <a:grpFill/>
              <a:ln w="9525">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
          <p:nvSpPr>
            <p:cNvPr id="1082" name="Rectangle 108"/>
            <p:cNvSpPr>
              <a:spLocks noChangeArrowheads="1"/>
            </p:cNvSpPr>
            <p:nvPr/>
          </p:nvSpPr>
          <p:spPr bwMode="auto">
            <a:xfrm>
              <a:off x="1200" y="1152"/>
              <a:ext cx="240" cy="192"/>
            </a:xfrm>
            <a:prstGeom prst="rect">
              <a:avLst/>
            </a:prstGeom>
            <a:grpFill/>
            <a:ln w="9525">
              <a:solidFill>
                <a:schemeClr val="tx1"/>
              </a:solidFill>
              <a:miter lim="800000"/>
            </a:ln>
          </p:spPr>
          <p:txBody>
            <a:bodyPr wrap="none" anchor="ctr"/>
            <a:lstStyle/>
            <a:p>
              <a:pPr algn="ctr">
                <a:defRPr/>
              </a:pPr>
              <a:r>
                <a:rPr kumimoji="0" lang="en-US" altLang="zh-CN" sz="1600">
                  <a:latin typeface="+mn-lt"/>
                  <a:ea typeface="宋体" panose="02010600030101010101" pitchFamily="2" charset="-122"/>
                </a:rPr>
                <a:t>“4”</a:t>
              </a:r>
            </a:p>
          </p:txBody>
        </p:sp>
      </p:grpSp>
      <p:grpSp>
        <p:nvGrpSpPr>
          <p:cNvPr id="1086" name="Group 109"/>
          <p:cNvGrpSpPr/>
          <p:nvPr/>
        </p:nvGrpSpPr>
        <p:grpSpPr bwMode="auto">
          <a:xfrm>
            <a:off x="1693863" y="1952439"/>
            <a:ext cx="1219200" cy="304800"/>
            <a:chOff x="672" y="1152"/>
            <a:chExt cx="768" cy="192"/>
          </a:xfrm>
          <a:solidFill>
            <a:schemeClr val="accent6">
              <a:lumMod val="60000"/>
              <a:lumOff val="40000"/>
            </a:schemeClr>
          </a:solidFill>
        </p:grpSpPr>
        <p:sp>
          <p:nvSpPr>
            <p:cNvPr id="1087" name="Rectangle 110"/>
            <p:cNvSpPr>
              <a:spLocks noChangeArrowheads="1"/>
            </p:cNvSpPr>
            <p:nvPr/>
          </p:nvSpPr>
          <p:spPr bwMode="auto">
            <a:xfrm>
              <a:off x="855" y="1152"/>
              <a:ext cx="345" cy="192"/>
            </a:xfrm>
            <a:prstGeom prst="rect">
              <a:avLst/>
            </a:prstGeom>
            <a:grp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1088" name="Group 111"/>
            <p:cNvGrpSpPr/>
            <p:nvPr/>
          </p:nvGrpSpPr>
          <p:grpSpPr bwMode="auto">
            <a:xfrm>
              <a:off x="672" y="1200"/>
              <a:ext cx="122" cy="96"/>
              <a:chOff x="576" y="1200"/>
              <a:chExt cx="96" cy="48"/>
            </a:xfrm>
            <a:grpFill/>
          </p:grpSpPr>
          <p:sp>
            <p:nvSpPr>
              <p:cNvPr id="1090" name="Line 112"/>
              <p:cNvSpPr>
                <a:spLocks noChangeShapeType="1"/>
              </p:cNvSpPr>
              <p:nvPr/>
            </p:nvSpPr>
            <p:spPr bwMode="auto">
              <a:xfrm>
                <a:off x="672" y="1200"/>
                <a:ext cx="0" cy="48"/>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91" name="Line 113"/>
              <p:cNvSpPr>
                <a:spLocks noChangeShapeType="1"/>
              </p:cNvSpPr>
              <p:nvPr/>
            </p:nvSpPr>
            <p:spPr bwMode="auto">
              <a:xfrm>
                <a:off x="624" y="1200"/>
                <a:ext cx="0" cy="48"/>
              </a:xfrm>
              <a:prstGeom prst="line">
                <a:avLst/>
              </a:prstGeom>
              <a:grp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92" name="Line 114"/>
              <p:cNvSpPr>
                <a:spLocks noChangeShapeType="1"/>
              </p:cNvSpPr>
              <p:nvPr/>
            </p:nvSpPr>
            <p:spPr bwMode="auto">
              <a:xfrm>
                <a:off x="576" y="1200"/>
                <a:ext cx="0" cy="48"/>
              </a:xfrm>
              <a:prstGeom prst="line">
                <a:avLst/>
              </a:prstGeom>
              <a:grpFill/>
              <a:ln w="9525">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
          <p:nvSpPr>
            <p:cNvPr id="1089" name="Rectangle 115"/>
            <p:cNvSpPr>
              <a:spLocks noChangeArrowheads="1"/>
            </p:cNvSpPr>
            <p:nvPr/>
          </p:nvSpPr>
          <p:spPr bwMode="auto">
            <a:xfrm>
              <a:off x="1200" y="1152"/>
              <a:ext cx="240" cy="192"/>
            </a:xfrm>
            <a:prstGeom prst="rect">
              <a:avLst/>
            </a:prstGeom>
            <a:grpFill/>
            <a:ln w="9525">
              <a:solidFill>
                <a:schemeClr val="tx1"/>
              </a:solidFill>
              <a:miter lim="800000"/>
            </a:ln>
          </p:spPr>
          <p:txBody>
            <a:bodyPr wrap="none" anchor="ctr"/>
            <a:lstStyle/>
            <a:p>
              <a:pPr algn="ctr">
                <a:defRPr/>
              </a:pPr>
              <a:r>
                <a:rPr kumimoji="0" lang="en-US" altLang="zh-CN" sz="1600">
                  <a:latin typeface="+mn-lt"/>
                  <a:ea typeface="宋体" panose="02010600030101010101" pitchFamily="2" charset="-122"/>
                </a:rPr>
                <a:t>“4”</a:t>
              </a:r>
            </a:p>
          </p:txBody>
        </p:sp>
      </p:grpSp>
      <p:sp>
        <p:nvSpPr>
          <p:cNvPr id="4" name="Text Box 57"/>
          <p:cNvSpPr txBox="1">
            <a:spLocks noChangeArrowheads="1"/>
          </p:cNvSpPr>
          <p:nvPr/>
        </p:nvSpPr>
        <p:spPr bwMode="auto">
          <a:xfrm>
            <a:off x="7344441" y="1867277"/>
            <a:ext cx="1079142" cy="307777"/>
          </a:xfrm>
          <a:prstGeom prst="rect">
            <a:avLst/>
          </a:prstGeom>
          <a:noFill/>
          <a:ln w="9525">
            <a:noFill/>
            <a:miter lim="800000"/>
          </a:ln>
        </p:spPr>
        <p:txBody>
          <a:bodyPr wrap="none">
            <a:spAutoFit/>
          </a:bodyPr>
          <a:lstStyle/>
          <a:p>
            <a:pPr>
              <a:defRPr/>
            </a:pPr>
            <a:r>
              <a:rPr kumimoji="0" lang="zh-CN" altLang="en-US" sz="1400" dirty="0">
                <a:latin typeface="+mn-lt"/>
                <a:ea typeface="宋体" panose="02010600030101010101" pitchFamily="2" charset="-122"/>
              </a:rPr>
              <a:t>链路</a:t>
            </a:r>
            <a:r>
              <a:rPr kumimoji="0" lang="en-US" altLang="zh-CN" sz="1400" dirty="0">
                <a:latin typeface="+mn-lt"/>
                <a:ea typeface="宋体" panose="02010600030101010101" pitchFamily="2" charset="-122"/>
              </a:rPr>
              <a:t>1, </a:t>
            </a:r>
            <a:r>
              <a:rPr kumimoji="0" lang="zh-CN" altLang="en-US" sz="1400" dirty="0">
                <a:latin typeface="+mn-lt"/>
                <a:ea typeface="宋体" panose="02010600030101010101" pitchFamily="2" charset="-122"/>
              </a:rPr>
              <a:t>输出</a:t>
            </a:r>
            <a:endParaRPr kumimoji="0" lang="en-US" altLang="zh-CN" sz="1400" dirty="0">
              <a:latin typeface="+mn-lt"/>
              <a:ea typeface="宋体" panose="02010600030101010101" pitchFamily="2" charset="-122"/>
            </a:endParaRPr>
          </a:p>
        </p:txBody>
      </p:sp>
      <p:sp>
        <p:nvSpPr>
          <p:cNvPr id="5" name="Text Box 59"/>
          <p:cNvSpPr txBox="1">
            <a:spLocks noChangeArrowheads="1"/>
          </p:cNvSpPr>
          <p:nvPr/>
        </p:nvSpPr>
        <p:spPr bwMode="auto">
          <a:xfrm>
            <a:off x="7344441" y="2781677"/>
            <a:ext cx="1079142" cy="307777"/>
          </a:xfrm>
          <a:prstGeom prst="rect">
            <a:avLst/>
          </a:prstGeom>
          <a:noFill/>
          <a:ln w="9525">
            <a:noFill/>
            <a:miter lim="800000"/>
          </a:ln>
        </p:spPr>
        <p:txBody>
          <a:bodyPr wrap="none">
            <a:spAutoFit/>
          </a:bodyPr>
          <a:lstStyle/>
          <a:p>
            <a:pPr>
              <a:defRPr/>
            </a:pPr>
            <a:r>
              <a:rPr lang="zh-CN" altLang="en-US" sz="1400" dirty="0">
                <a:ea typeface="宋体" panose="02010600030101010101" pitchFamily="2" charset="-122"/>
              </a:rPr>
              <a:t>链路</a:t>
            </a:r>
            <a:r>
              <a:rPr kumimoji="0" lang="en-US" altLang="zh-CN" sz="1400" dirty="0">
                <a:latin typeface="+mn-lt"/>
                <a:ea typeface="宋体" panose="02010600030101010101" pitchFamily="2" charset="-122"/>
              </a:rPr>
              <a:t>2, </a:t>
            </a:r>
            <a:r>
              <a:rPr lang="zh-CN" altLang="en-US" sz="1400" dirty="0">
                <a:ea typeface="宋体" panose="02010600030101010101" pitchFamily="2" charset="-122"/>
              </a:rPr>
              <a:t>输出</a:t>
            </a:r>
            <a:endParaRPr kumimoji="0" lang="en-US" altLang="zh-CN" sz="1400" dirty="0">
              <a:latin typeface="+mn-lt"/>
              <a:ea typeface="宋体" panose="02010600030101010101" pitchFamily="2" charset="-122"/>
            </a:endParaRPr>
          </a:p>
        </p:txBody>
      </p:sp>
      <p:sp>
        <p:nvSpPr>
          <p:cNvPr id="6" name="Text Box 61"/>
          <p:cNvSpPr txBox="1">
            <a:spLocks noChangeArrowheads="1"/>
          </p:cNvSpPr>
          <p:nvPr/>
        </p:nvSpPr>
        <p:spPr bwMode="auto">
          <a:xfrm>
            <a:off x="7344441" y="3619877"/>
            <a:ext cx="1079142" cy="307777"/>
          </a:xfrm>
          <a:prstGeom prst="rect">
            <a:avLst/>
          </a:prstGeom>
          <a:noFill/>
          <a:ln w="9525">
            <a:noFill/>
            <a:miter lim="800000"/>
          </a:ln>
        </p:spPr>
        <p:txBody>
          <a:bodyPr wrap="none">
            <a:spAutoFit/>
          </a:bodyPr>
          <a:lstStyle/>
          <a:p>
            <a:pPr>
              <a:defRPr/>
            </a:pPr>
            <a:r>
              <a:rPr lang="zh-CN" altLang="en-US" sz="1400" dirty="0">
                <a:ea typeface="宋体" panose="02010600030101010101" pitchFamily="2" charset="-122"/>
              </a:rPr>
              <a:t>链路</a:t>
            </a:r>
            <a:r>
              <a:rPr kumimoji="0" lang="en-US" altLang="zh-CN" sz="1400" dirty="0">
                <a:latin typeface="+mn-lt"/>
                <a:ea typeface="宋体" panose="02010600030101010101" pitchFamily="2" charset="-122"/>
              </a:rPr>
              <a:t>3, </a:t>
            </a:r>
            <a:r>
              <a:rPr lang="zh-CN" altLang="en-US" sz="1400" dirty="0">
                <a:ea typeface="宋体" panose="02010600030101010101" pitchFamily="2" charset="-122"/>
              </a:rPr>
              <a:t>输出</a:t>
            </a:r>
            <a:endParaRPr kumimoji="0" lang="en-US" altLang="zh-CN" sz="1400" dirty="0">
              <a:latin typeface="+mn-lt"/>
              <a:ea typeface="宋体" panose="02010600030101010101" pitchFamily="2" charset="-122"/>
            </a:endParaRPr>
          </a:p>
        </p:txBody>
      </p:sp>
      <p:sp>
        <p:nvSpPr>
          <p:cNvPr id="7" name="Text Box 63"/>
          <p:cNvSpPr txBox="1">
            <a:spLocks noChangeArrowheads="1"/>
          </p:cNvSpPr>
          <p:nvPr/>
        </p:nvSpPr>
        <p:spPr bwMode="auto">
          <a:xfrm>
            <a:off x="7344441" y="4534277"/>
            <a:ext cx="1079142" cy="307777"/>
          </a:xfrm>
          <a:prstGeom prst="rect">
            <a:avLst/>
          </a:prstGeom>
          <a:noFill/>
          <a:ln w="9525">
            <a:noFill/>
            <a:miter lim="800000"/>
          </a:ln>
        </p:spPr>
        <p:txBody>
          <a:bodyPr wrap="none">
            <a:spAutoFit/>
          </a:bodyPr>
          <a:lstStyle/>
          <a:p>
            <a:pPr>
              <a:defRPr/>
            </a:pPr>
            <a:r>
              <a:rPr lang="zh-CN" altLang="en-US" sz="1400" dirty="0">
                <a:ea typeface="宋体" panose="02010600030101010101" pitchFamily="2" charset="-122"/>
              </a:rPr>
              <a:t>链路</a:t>
            </a:r>
            <a:r>
              <a:rPr kumimoji="0" lang="en-US" altLang="zh-CN" sz="1400" dirty="0">
                <a:latin typeface="+mn-lt"/>
                <a:ea typeface="宋体" panose="02010600030101010101" pitchFamily="2" charset="-122"/>
              </a:rPr>
              <a:t>4, </a:t>
            </a:r>
            <a:r>
              <a:rPr lang="zh-CN" altLang="en-US" sz="1400" dirty="0">
                <a:ea typeface="宋体" panose="02010600030101010101" pitchFamily="2" charset="-122"/>
              </a:rPr>
              <a:t>输出</a:t>
            </a:r>
            <a:endParaRPr kumimoji="0" lang="en-US" altLang="zh-CN" sz="1400" dirty="0">
              <a:latin typeface="+mn-lt"/>
              <a:ea typeface="宋体" panose="02010600030101010101" pitchFamily="2" charset="-122"/>
            </a:endParaRPr>
          </a:p>
        </p:txBody>
      </p:sp>
      <p:sp>
        <p:nvSpPr>
          <p:cNvPr id="2" name="矩形 1"/>
          <p:cNvSpPr/>
          <p:nvPr/>
        </p:nvSpPr>
        <p:spPr>
          <a:xfrm>
            <a:off x="371090" y="5818507"/>
            <a:ext cx="8401820" cy="676852"/>
          </a:xfrm>
          <a:prstGeom prst="rect">
            <a:avLst/>
          </a:prstGeom>
          <a:solidFill>
            <a:schemeClr val="accent6">
              <a:lumMod val="20000"/>
              <a:lumOff val="80000"/>
            </a:schemeClr>
          </a:solidFill>
        </p:spPr>
        <p:txBody>
          <a:bodyPr wrap="square">
            <a:spAutoFit/>
          </a:bodyPr>
          <a:lstStyle/>
          <a:p>
            <a:pPr lvl="0">
              <a:lnSpc>
                <a:spcPct val="110000"/>
              </a:lnSpc>
            </a:pPr>
            <a:r>
              <a:rPr kumimoji="1"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分组转发率（PPS，</a:t>
            </a:r>
            <a:r>
              <a:rPr kumimoji="1" lang="en-US" altLang="zh-CN"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acket Per Second）：路由器或交换机等网络设备以分组为单位的转发速率（分组</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79"/>
                                        </p:tgtEl>
                                        <p:attrNameLst>
                                          <p:attrName>style.visibility</p:attrName>
                                        </p:attrNameLst>
                                      </p:cBhvr>
                                      <p:to>
                                        <p:strVal val="visible"/>
                                      </p:to>
                                    </p:set>
                                    <p:anim calcmode="lin" valueType="num">
                                      <p:cBhvr additive="base">
                                        <p:cTn id="7" dur="500" fill="hold"/>
                                        <p:tgtEl>
                                          <p:spTgt spid="1079"/>
                                        </p:tgtEl>
                                        <p:attrNameLst>
                                          <p:attrName>ppt_x</p:attrName>
                                        </p:attrNameLst>
                                      </p:cBhvr>
                                      <p:tavLst>
                                        <p:tav tm="0">
                                          <p:val>
                                            <p:strVal val="0-#ppt_w/2"/>
                                          </p:val>
                                        </p:tav>
                                        <p:tav tm="100000">
                                          <p:val>
                                            <p:strVal val="#ppt_x"/>
                                          </p:val>
                                        </p:tav>
                                      </p:tavLst>
                                    </p:anim>
                                    <p:anim calcmode="lin" valueType="num">
                                      <p:cBhvr additive="base">
                                        <p:cTn id="8" dur="500" fill="hold"/>
                                        <p:tgtEl>
                                          <p:spTgt spid="10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nodeType="clickEffect">
                                  <p:stCondLst>
                                    <p:cond delay="0"/>
                                  </p:stCondLst>
                                  <p:childTnLst>
                                    <p:animRot by="5400000">
                                      <p:cBhvr>
                                        <p:cTn id="12" dur="500" fill="hold"/>
                                        <p:tgtEl>
                                          <p:spTgt spid="1079"/>
                                        </p:tgtEl>
                                        <p:attrNameLst>
                                          <p:attrName>r</p:attrName>
                                        </p:attrNameLst>
                                      </p:cBhvr>
                                    </p:animRot>
                                  </p:childTnLst>
                                </p:cTn>
                              </p:par>
                            </p:childTnLst>
                          </p:cTn>
                        </p:par>
                        <p:par>
                          <p:cTn id="13" fill="hold">
                            <p:stCondLst>
                              <p:cond delay="500"/>
                            </p:stCondLst>
                            <p:childTnLst>
                              <p:par>
                                <p:cTn id="14" presetID="42" presetClass="path" presetSubtype="0" accel="50000" decel="50000" fill="hold" nodeType="afterEffect">
                                  <p:stCondLst>
                                    <p:cond delay="0"/>
                                  </p:stCondLst>
                                  <p:childTnLst>
                                    <p:animMotion origin="layout" path="M -3.33333E-6 -4.44444E-6 L -3.33333E-6 0.2 " pathEditMode="relative" rAng="0" ptsTypes="AA">
                                      <p:cBhvr>
                                        <p:cTn id="15" dur="1000" fill="hold"/>
                                        <p:tgtEl>
                                          <p:spTgt spid="1079"/>
                                        </p:tgtEl>
                                        <p:attrNameLst>
                                          <p:attrName>ppt_x</p:attrName>
                                          <p:attrName>ppt_y</p:attrName>
                                        </p:attrNameLst>
                                      </p:cBhvr>
                                      <p:rCtr x="0" y="10000"/>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86"/>
                                        </p:tgtEl>
                                        <p:attrNameLst>
                                          <p:attrName>style.visibility</p:attrName>
                                        </p:attrNameLst>
                                      </p:cBhvr>
                                      <p:to>
                                        <p:strVal val="visible"/>
                                      </p:to>
                                    </p:set>
                                  </p:childTnLst>
                                </p:cTn>
                              </p:par>
                            </p:childTnLst>
                          </p:cTn>
                        </p:par>
                        <p:par>
                          <p:cTn id="20" fill="hold">
                            <p:stCondLst>
                              <p:cond delay="0"/>
                            </p:stCondLst>
                            <p:childTnLst>
                              <p:par>
                                <p:cTn id="21" presetID="0" presetClass="path" presetSubtype="0" accel="50000" decel="50000" fill="hold" nodeType="afterEffect">
                                  <p:stCondLst>
                                    <p:cond delay="0"/>
                                  </p:stCondLst>
                                  <p:childTnLst>
                                    <p:animMotion origin="layout" path="M 0.01997 0.01112 L 0.31164 0.01112 " pathEditMode="relative" rAng="0" ptsTypes="AA">
                                      <p:cBhvr>
                                        <p:cTn id="22" dur="2000" fill="hold"/>
                                        <p:tgtEl>
                                          <p:spTgt spid="1086"/>
                                        </p:tgtEl>
                                        <p:attrNameLst>
                                          <p:attrName>ppt_x</p:attrName>
                                          <p:attrName>ppt_y</p:attrName>
                                        </p:attrNameLst>
                                      </p:cBhvr>
                                      <p:rCtr x="14583" y="0"/>
                                    </p:animMotion>
                                  </p:childTnLst>
                                </p:cTn>
                              </p:par>
                            </p:childTnLst>
                          </p:cTn>
                        </p:par>
                      </p:childTnLst>
                    </p:cTn>
                  </p:par>
                  <p:par>
                    <p:cTn id="23" fill="hold">
                      <p:stCondLst>
                        <p:cond delay="indefinite"/>
                      </p:stCondLst>
                      <p:childTnLst>
                        <p:par>
                          <p:cTn id="24" fill="hold">
                            <p:stCondLst>
                              <p:cond delay="0"/>
                            </p:stCondLst>
                            <p:childTnLst>
                              <p:par>
                                <p:cTn id="25" presetID="8" presetClass="emph" presetSubtype="0" fill="hold" nodeType="clickEffect">
                                  <p:stCondLst>
                                    <p:cond delay="0"/>
                                  </p:stCondLst>
                                  <p:childTnLst>
                                    <p:animRot by="4500000">
                                      <p:cBhvr>
                                        <p:cTn id="26" dur="500" fill="hold"/>
                                        <p:tgtEl>
                                          <p:spTgt spid="1086"/>
                                        </p:tgtEl>
                                        <p:attrNameLst>
                                          <p:attrName>r</p:attrName>
                                        </p:attrNameLst>
                                      </p:cBhvr>
                                    </p:animRot>
                                  </p:childTnLst>
                                </p:cTn>
                              </p:par>
                            </p:childTnLst>
                          </p:cTn>
                        </p:par>
                        <p:par>
                          <p:cTn id="27" fill="hold">
                            <p:stCondLst>
                              <p:cond delay="500"/>
                            </p:stCondLst>
                            <p:childTnLst>
                              <p:par>
                                <p:cTn id="28" presetID="0" presetClass="path" presetSubtype="0" accel="50000" decel="50000" fill="hold" nodeType="afterEffect">
                                  <p:stCondLst>
                                    <p:cond delay="0"/>
                                  </p:stCondLst>
                                  <p:childTnLst>
                                    <p:animMotion origin="layout" path="M 0.31163 0.01111 L 0.4283 0.4 " pathEditMode="relative" ptsTypes="AA">
                                      <p:cBhvr>
                                        <p:cTn id="29" dur="1000" fill="hold"/>
                                        <p:tgtEl>
                                          <p:spTgt spid="1086"/>
                                        </p:tgtEl>
                                        <p:attrNameLst>
                                          <p:attrName>ppt_x</p:attrName>
                                          <p:attrName>ppt_y</p:attrName>
                                        </p:attrNameLst>
                                      </p:cBhvr>
                                    </p:animMotion>
                                  </p:childTnLst>
                                </p:cTn>
                              </p:par>
                            </p:childTnLst>
                          </p:cTn>
                        </p:par>
                        <p:par>
                          <p:cTn id="30" fill="hold">
                            <p:stCondLst>
                              <p:cond delay="1500"/>
                            </p:stCondLst>
                            <p:childTnLst>
                              <p:par>
                                <p:cTn id="31" presetID="8" presetClass="emph" presetSubtype="0" fill="hold" nodeType="afterEffect">
                                  <p:stCondLst>
                                    <p:cond delay="0"/>
                                  </p:stCondLst>
                                  <p:childTnLst>
                                    <p:animRot by="-4500000">
                                      <p:cBhvr>
                                        <p:cTn id="32" dur="500" fill="hold"/>
                                        <p:tgtEl>
                                          <p:spTgt spid="1086"/>
                                        </p:tgtEl>
                                        <p:attrNameLst>
                                          <p:attrName>r</p:attrName>
                                        </p:attrNameLst>
                                      </p:cBhvr>
                                    </p:animRot>
                                  </p:childTnLst>
                                </p:cTn>
                              </p:par>
                            </p:childTnLst>
                          </p:cTn>
                        </p:par>
                      </p:childTnLst>
                    </p:cTn>
                  </p:par>
                  <p:par>
                    <p:cTn id="33" fill="hold">
                      <p:stCondLst>
                        <p:cond delay="indefinite"/>
                      </p:stCondLst>
                      <p:childTnLst>
                        <p:par>
                          <p:cTn id="34" fill="hold">
                            <p:stCondLst>
                              <p:cond delay="0"/>
                            </p:stCondLst>
                            <p:childTnLst>
                              <p:par>
                                <p:cTn id="35" presetID="63" presetClass="path" presetSubtype="0" accel="50000" decel="50000" fill="hold" nodeType="clickEffect">
                                  <p:stCondLst>
                                    <p:cond delay="0"/>
                                  </p:stCondLst>
                                  <p:childTnLst>
                                    <p:animMotion origin="layout" path="M 0.4283 0.4 L 0.6783 0.4 " pathEditMode="relative" rAng="0" ptsTypes="AA">
                                      <p:cBhvr>
                                        <p:cTn id="36" dur="1000" fill="hold"/>
                                        <p:tgtEl>
                                          <p:spTgt spid="1086"/>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876322"/>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网络核心：比较电路交换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9" name="Rectangle 3"/>
          <p:cNvSpPr>
            <a:spLocks noGrp="1" noChangeArrowheads="1"/>
          </p:cNvSpPr>
          <p:nvPr>
            <p:ph type="body" sz="half" idx="1"/>
          </p:nvPr>
        </p:nvSpPr>
        <p:spPr>
          <a:xfrm>
            <a:off x="426679" y="1664169"/>
            <a:ext cx="4020647" cy="4766420"/>
          </a:xfrm>
        </p:spPr>
        <p:txBody>
          <a:bodyPr>
            <a:noAutofit/>
          </a:bodyPr>
          <a:lstStyle/>
          <a:p>
            <a:pPr marL="342900" indent="-342900">
              <a:lnSpc>
                <a:spcPts val="3600"/>
              </a:lnSpc>
              <a:spcBef>
                <a:spcPts val="600"/>
              </a:spcBef>
              <a:buClr>
                <a:schemeClr val="accent2"/>
              </a:buClr>
              <a:buSzPct val="100000"/>
              <a:buBlip>
                <a:blip r:embed="rId3"/>
              </a:buBlip>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先呼叫建立连接，实现端到端的资源预留</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预留的资源包括：链路带宽资源、交换机的交换能力</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具有和专用链路类似的性能</a:t>
            </a:r>
            <a:endParaRPr lang="en-US" altLang="zh-CN" sz="2200" dirty="0">
              <a:cs typeface="Times New Roman" panose="02020603050405020304" pitchFamily="18" charset="0"/>
            </a:endParaRPr>
          </a:p>
          <a:p>
            <a:pPr marL="742950" lvl="1" indent="-285750">
              <a:lnSpc>
                <a:spcPts val="3600"/>
              </a:lnSpc>
              <a:spcBef>
                <a:spcPts val="600"/>
              </a:spcBef>
              <a:buBlip>
                <a:blip r:embed="rId4"/>
              </a:buBlip>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资源专用，即使空闲也不与其他连接共享</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88" name="Rectangle 872"/>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800">
              <a:ea typeface="宋体" panose="02010600030101010101" pitchFamily="2"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1014" name="组合 1013"/>
          <p:cNvGrpSpPr/>
          <p:nvPr/>
        </p:nvGrpSpPr>
        <p:grpSpPr>
          <a:xfrm>
            <a:off x="4474961" y="1753565"/>
            <a:ext cx="4394200" cy="3735388"/>
            <a:chOff x="4749800" y="1371600"/>
            <a:chExt cx="4394200" cy="3735388"/>
          </a:xfrm>
        </p:grpSpPr>
        <p:cxnSp>
          <p:nvCxnSpPr>
            <p:cNvPr id="1015" name="Straight Connector 379"/>
            <p:cNvCxnSpPr/>
            <p:nvPr/>
          </p:nvCxnSpPr>
          <p:spPr bwMode="auto">
            <a:xfrm rot="16200000" flipH="1">
              <a:off x="5373687" y="2093913"/>
              <a:ext cx="557213" cy="26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6" name="Straight Connector 380"/>
            <p:cNvCxnSpPr/>
            <p:nvPr/>
          </p:nvCxnSpPr>
          <p:spPr bwMode="auto">
            <a:xfrm rot="5400000">
              <a:off x="5768182" y="1988344"/>
              <a:ext cx="444500" cy="350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7" name="Straight Connector 381"/>
            <p:cNvCxnSpPr/>
            <p:nvPr/>
          </p:nvCxnSpPr>
          <p:spPr bwMode="auto">
            <a:xfrm>
              <a:off x="5043488" y="2374900"/>
              <a:ext cx="46831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018" name="Group 347"/>
            <p:cNvGrpSpPr/>
            <p:nvPr/>
          </p:nvGrpSpPr>
          <p:grpSpPr bwMode="auto">
            <a:xfrm>
              <a:off x="5443538" y="2192338"/>
              <a:ext cx="815975" cy="449262"/>
              <a:chOff x="1871277" y="1576300"/>
              <a:chExt cx="1128371" cy="437861"/>
            </a:xfrm>
          </p:grpSpPr>
          <p:sp>
            <p:nvSpPr>
              <p:cNvPr id="1099" name="Oval 12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100" name="Rectangle 12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101" name="Oval 13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102" name="Freeform 131"/>
              <p:cNvSpPr/>
              <p:nvPr/>
            </p:nvSpPr>
            <p:spPr bwMode="auto">
              <a:xfrm>
                <a:off x="2158857"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103" name="Freeform 13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104" name="Freeform 13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105" name="Freeform 13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106" name="Straight Connector 135"/>
              <p:cNvCxnSpPr>
                <a:cxnSpLocks noChangeShapeType="1"/>
                <a:endCxn id="1101"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07" name="Straight Connector 13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19" name="Group 347"/>
            <p:cNvGrpSpPr/>
            <p:nvPr/>
          </p:nvGrpSpPr>
          <p:grpSpPr bwMode="auto">
            <a:xfrm>
              <a:off x="7618413" y="2201863"/>
              <a:ext cx="815975" cy="449262"/>
              <a:chOff x="1871277" y="1576300"/>
              <a:chExt cx="1128371" cy="437861"/>
            </a:xfrm>
          </p:grpSpPr>
          <p:sp>
            <p:nvSpPr>
              <p:cNvPr id="1090" name="Oval 11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91" name="Rectangle 11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92" name="Oval 12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93" name="Freeform 121"/>
              <p:cNvSpPr/>
              <p:nvPr/>
            </p:nvSpPr>
            <p:spPr bwMode="auto">
              <a:xfrm>
                <a:off x="2158857"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94" name="Freeform 12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95" name="Freeform 12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96" name="Freeform 12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097" name="Straight Connector 125"/>
              <p:cNvCxnSpPr>
                <a:cxnSpLocks noChangeShapeType="1"/>
                <a:endCxn id="1092"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8" name="Straight Connector 12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cxnSp>
          <p:nvCxnSpPr>
            <p:cNvPr id="1020" name="Straight Connector 387"/>
            <p:cNvCxnSpPr/>
            <p:nvPr/>
          </p:nvCxnSpPr>
          <p:spPr bwMode="auto">
            <a:xfrm rot="16200000" flipV="1">
              <a:off x="7853363" y="4473575"/>
              <a:ext cx="557212" cy="147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1" name="Straight Connector 388"/>
            <p:cNvCxnSpPr/>
            <p:nvPr/>
          </p:nvCxnSpPr>
          <p:spPr bwMode="auto">
            <a:xfrm rot="5400000" flipH="1" flipV="1">
              <a:off x="7604126" y="4460875"/>
              <a:ext cx="501650" cy="117475"/>
            </a:xfrm>
            <a:prstGeom prst="line">
              <a:avLst/>
            </a:prstGeom>
          </p:spPr>
          <p:style>
            <a:lnRef idx="1">
              <a:schemeClr val="accent1"/>
            </a:lnRef>
            <a:fillRef idx="0">
              <a:schemeClr val="accent1"/>
            </a:fillRef>
            <a:effectRef idx="0">
              <a:schemeClr val="accent1"/>
            </a:effectRef>
            <a:fontRef idx="minor">
              <a:schemeClr val="tx1"/>
            </a:fontRef>
          </p:style>
        </p:cxnSp>
        <p:grpSp>
          <p:nvGrpSpPr>
            <p:cNvPr id="1022" name="Group 347"/>
            <p:cNvGrpSpPr/>
            <p:nvPr/>
          </p:nvGrpSpPr>
          <p:grpSpPr bwMode="auto">
            <a:xfrm>
              <a:off x="7667625" y="3878263"/>
              <a:ext cx="815975" cy="449262"/>
              <a:chOff x="1871277" y="1576300"/>
              <a:chExt cx="1128371" cy="437861"/>
            </a:xfrm>
          </p:grpSpPr>
          <p:sp>
            <p:nvSpPr>
              <p:cNvPr id="1081" name="Oval 10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82" name="Rectangle 10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83" name="Oval 11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84" name="Freeform 111"/>
              <p:cNvSpPr/>
              <p:nvPr/>
            </p:nvSpPr>
            <p:spPr bwMode="auto">
              <a:xfrm>
                <a:off x="2158859"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85" name="Freeform 11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86" name="Freeform 11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87" name="Freeform 11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088" name="Straight Connector 115"/>
              <p:cNvCxnSpPr>
                <a:cxnSpLocks noChangeShapeType="1"/>
                <a:endCxn id="1083"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89" name="Straight Connector 11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23" name="Group 100"/>
            <p:cNvGrpSpPr/>
            <p:nvPr/>
          </p:nvGrpSpPr>
          <p:grpSpPr bwMode="auto">
            <a:xfrm>
              <a:off x="4749800" y="1371600"/>
              <a:ext cx="631825" cy="503238"/>
              <a:chOff x="-44" y="1473"/>
              <a:chExt cx="981" cy="1105"/>
            </a:xfrm>
          </p:grpSpPr>
          <p:pic>
            <p:nvPicPr>
              <p:cNvPr id="1079" name="Picture 101"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0" name="Freeform 102"/>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1024" name="Group 100"/>
            <p:cNvGrpSpPr/>
            <p:nvPr/>
          </p:nvGrpSpPr>
          <p:grpSpPr bwMode="auto">
            <a:xfrm>
              <a:off x="8499475" y="4603750"/>
              <a:ext cx="631825" cy="503238"/>
              <a:chOff x="-44" y="1473"/>
              <a:chExt cx="981" cy="1105"/>
            </a:xfrm>
          </p:grpSpPr>
          <p:pic>
            <p:nvPicPr>
              <p:cNvPr id="1077" name="Picture 101"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8" name="Freeform 102"/>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sp>
          <p:nvSpPr>
            <p:cNvPr id="1025" name="Rectangle 364"/>
            <p:cNvSpPr/>
            <p:nvPr/>
          </p:nvSpPr>
          <p:spPr bwMode="auto">
            <a:xfrm>
              <a:off x="6273800" y="2319338"/>
              <a:ext cx="1346200" cy="555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26" name="Rectangle 365"/>
            <p:cNvSpPr/>
            <p:nvPr/>
          </p:nvSpPr>
          <p:spPr bwMode="auto">
            <a:xfrm>
              <a:off x="6273800" y="2374900"/>
              <a:ext cx="1346200" cy="5556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27" name="Rectangle 366"/>
            <p:cNvSpPr/>
            <p:nvPr/>
          </p:nvSpPr>
          <p:spPr bwMode="auto">
            <a:xfrm>
              <a:off x="6273800" y="2430463"/>
              <a:ext cx="1346200" cy="555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28" name="Rectangle 367"/>
            <p:cNvSpPr/>
            <p:nvPr/>
          </p:nvSpPr>
          <p:spPr bwMode="auto">
            <a:xfrm>
              <a:off x="6273800" y="2486025"/>
              <a:ext cx="1346200" cy="555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nvGrpSpPr>
            <p:cNvPr id="1029" name="Group 142"/>
            <p:cNvGrpSpPr/>
            <p:nvPr/>
          </p:nvGrpSpPr>
          <p:grpSpPr bwMode="auto">
            <a:xfrm>
              <a:off x="5570538" y="3878263"/>
              <a:ext cx="760412" cy="390525"/>
              <a:chOff x="2356" y="1300"/>
              <a:chExt cx="555" cy="194"/>
            </a:xfrm>
          </p:grpSpPr>
          <p:sp>
            <p:nvSpPr>
              <p:cNvPr id="1069"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070"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071"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072" name="Group 146"/>
              <p:cNvGrpSpPr/>
              <p:nvPr/>
            </p:nvGrpSpPr>
            <p:grpSpPr bwMode="auto">
              <a:xfrm>
                <a:off x="2468" y="1332"/>
                <a:ext cx="310" cy="60"/>
                <a:chOff x="2468" y="1332"/>
                <a:chExt cx="310" cy="60"/>
              </a:xfrm>
            </p:grpSpPr>
            <p:sp>
              <p:nvSpPr>
                <p:cNvPr id="1075" name="Freeform 147"/>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6" name="Freeform 148"/>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73" name="Line 149"/>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4" name="Line 150"/>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030" name="Group 75"/>
            <p:cNvGrpSpPr/>
            <p:nvPr/>
          </p:nvGrpSpPr>
          <p:grpSpPr bwMode="auto">
            <a:xfrm rot="5400000">
              <a:off x="5280818" y="3120232"/>
              <a:ext cx="1281113" cy="234950"/>
              <a:chOff x="4876800" y="1143000"/>
              <a:chExt cx="1752600" cy="304800"/>
            </a:xfrm>
          </p:grpSpPr>
          <p:sp>
            <p:nvSpPr>
              <p:cNvPr id="1065" name="Rectangle 401"/>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66" name="Rectangle 402"/>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67" name="Rectangle 403"/>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68" name="Rectangle 404"/>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grpSp>
          <p:nvGrpSpPr>
            <p:cNvPr id="1031" name="Group 80"/>
            <p:cNvGrpSpPr/>
            <p:nvPr/>
          </p:nvGrpSpPr>
          <p:grpSpPr bwMode="auto">
            <a:xfrm>
              <a:off x="6350000" y="3990975"/>
              <a:ext cx="1328738" cy="222250"/>
              <a:chOff x="4876800" y="1143000"/>
              <a:chExt cx="1752600" cy="304800"/>
            </a:xfrm>
          </p:grpSpPr>
          <p:sp>
            <p:nvSpPr>
              <p:cNvPr id="1061" name="Rectangle 397"/>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62" name="Rectangle 398"/>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63" name="Rectangle 399"/>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64" name="Rectangle 400"/>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sp>
          <p:nvSpPr>
            <p:cNvPr id="1032" name="Rectangle 373"/>
            <p:cNvSpPr/>
            <p:nvPr/>
          </p:nvSpPr>
          <p:spPr bwMode="auto">
            <a:xfrm rot="5400000">
              <a:off x="7478712" y="3208338"/>
              <a:ext cx="1281113" cy="587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33" name="Rectangle 374"/>
            <p:cNvSpPr/>
            <p:nvPr/>
          </p:nvSpPr>
          <p:spPr bwMode="auto">
            <a:xfrm rot="5400000">
              <a:off x="7419975" y="3208338"/>
              <a:ext cx="1281113" cy="587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34" name="Rectangle 375"/>
            <p:cNvSpPr/>
            <p:nvPr/>
          </p:nvSpPr>
          <p:spPr bwMode="auto">
            <a:xfrm rot="5400000">
              <a:off x="7361237" y="3208338"/>
              <a:ext cx="1281113" cy="587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35" name="Rectangle 376"/>
            <p:cNvSpPr/>
            <p:nvPr/>
          </p:nvSpPr>
          <p:spPr bwMode="auto">
            <a:xfrm rot="5400000">
              <a:off x="7302500" y="3208338"/>
              <a:ext cx="1281113" cy="587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36" name="Rectangle 377"/>
            <p:cNvSpPr/>
            <p:nvPr/>
          </p:nvSpPr>
          <p:spPr bwMode="auto">
            <a:xfrm rot="3198033">
              <a:off x="5179219" y="1955006"/>
              <a:ext cx="654050" cy="5873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37" name="Rectangle 378"/>
            <p:cNvSpPr/>
            <p:nvPr/>
          </p:nvSpPr>
          <p:spPr bwMode="auto">
            <a:xfrm rot="3198033">
              <a:off x="8226425" y="4462463"/>
              <a:ext cx="652463" cy="587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cxnSp>
          <p:nvCxnSpPr>
            <p:cNvPr id="1038" name="Straight Connector 382"/>
            <p:cNvCxnSpPr>
              <a:endCxn id="1073" idx="0"/>
            </p:cNvCxnSpPr>
            <p:nvPr/>
          </p:nvCxnSpPr>
          <p:spPr bwMode="auto">
            <a:xfrm>
              <a:off x="5043488" y="3990975"/>
              <a:ext cx="528637" cy="11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9" name="Straight Connector 383"/>
            <p:cNvCxnSpPr>
              <a:endCxn id="1071" idx="1"/>
            </p:cNvCxnSpPr>
            <p:nvPr/>
          </p:nvCxnSpPr>
          <p:spPr bwMode="auto">
            <a:xfrm>
              <a:off x="5218113" y="3600450"/>
              <a:ext cx="461962" cy="3159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0" name="Straight Connector 384"/>
            <p:cNvCxnSpPr>
              <a:endCxn id="1069" idx="3"/>
            </p:cNvCxnSpPr>
            <p:nvPr/>
          </p:nvCxnSpPr>
          <p:spPr bwMode="auto">
            <a:xfrm flipV="1">
              <a:off x="5159375" y="4237038"/>
              <a:ext cx="522288" cy="311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1" name="Straight Connector 385"/>
            <p:cNvCxnSpPr/>
            <p:nvPr/>
          </p:nvCxnSpPr>
          <p:spPr bwMode="auto">
            <a:xfrm rot="5400000" flipH="1" flipV="1">
              <a:off x="5495132" y="4461669"/>
              <a:ext cx="501650" cy="1158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2" name="Straight Connector 386"/>
            <p:cNvCxnSpPr/>
            <p:nvPr/>
          </p:nvCxnSpPr>
          <p:spPr bwMode="auto">
            <a:xfrm rot="10800000">
              <a:off x="8440738" y="4102100"/>
              <a:ext cx="7032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3" name="Straight Connector 389"/>
            <p:cNvCxnSpPr/>
            <p:nvPr/>
          </p:nvCxnSpPr>
          <p:spPr bwMode="auto">
            <a:xfrm rot="16200000" flipH="1">
              <a:off x="7707313" y="1914525"/>
              <a:ext cx="557212" cy="26988"/>
            </a:xfrm>
            <a:prstGeom prst="line">
              <a:avLst/>
            </a:prstGeom>
          </p:spPr>
          <p:style>
            <a:lnRef idx="1">
              <a:schemeClr val="accent1"/>
            </a:lnRef>
            <a:fillRef idx="0">
              <a:schemeClr val="accent1"/>
            </a:fillRef>
            <a:effectRef idx="0">
              <a:schemeClr val="accent1"/>
            </a:effectRef>
            <a:fontRef idx="minor">
              <a:schemeClr val="tx1"/>
            </a:fontRef>
          </p:style>
        </p:cxnSp>
        <p:grpSp>
          <p:nvGrpSpPr>
            <p:cNvPr id="1044" name="Group 100"/>
            <p:cNvGrpSpPr/>
            <p:nvPr/>
          </p:nvGrpSpPr>
          <p:grpSpPr bwMode="auto">
            <a:xfrm>
              <a:off x="7972425" y="1371600"/>
              <a:ext cx="630238" cy="503238"/>
              <a:chOff x="-44" y="1473"/>
              <a:chExt cx="981" cy="1105"/>
            </a:xfrm>
          </p:grpSpPr>
          <p:pic>
            <p:nvPicPr>
              <p:cNvPr id="1059" name="Picture 101"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0" name="Freeform 102"/>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cxnSp>
          <p:nvCxnSpPr>
            <p:cNvPr id="1045" name="Straight Connector 391"/>
            <p:cNvCxnSpPr/>
            <p:nvPr/>
          </p:nvCxnSpPr>
          <p:spPr bwMode="auto">
            <a:xfrm rot="5400000">
              <a:off x="8161338" y="1751013"/>
              <a:ext cx="500062" cy="411162"/>
            </a:xfrm>
            <a:prstGeom prst="line">
              <a:avLst/>
            </a:prstGeom>
          </p:spPr>
          <p:style>
            <a:lnRef idx="1">
              <a:schemeClr val="accent1"/>
            </a:lnRef>
            <a:fillRef idx="0">
              <a:schemeClr val="accent1"/>
            </a:fillRef>
            <a:effectRef idx="0">
              <a:schemeClr val="accent1"/>
            </a:effectRef>
            <a:fontRef idx="minor">
              <a:schemeClr val="tx1"/>
            </a:fontRef>
          </p:style>
        </p:cxnSp>
        <p:sp>
          <p:nvSpPr>
            <p:cNvPr id="1046" name="Rectangle 392"/>
            <p:cNvSpPr/>
            <p:nvPr/>
          </p:nvSpPr>
          <p:spPr bwMode="auto">
            <a:xfrm rot="1015003">
              <a:off x="5665788" y="2289175"/>
              <a:ext cx="601662" cy="5873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47" name="Rectangle 393"/>
            <p:cNvSpPr/>
            <p:nvPr/>
          </p:nvSpPr>
          <p:spPr bwMode="auto">
            <a:xfrm rot="2465437" flipV="1">
              <a:off x="7880350" y="4048125"/>
              <a:ext cx="522288" cy="571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048" name="Rectangle 394"/>
            <p:cNvSpPr/>
            <p:nvPr/>
          </p:nvSpPr>
          <p:spPr bwMode="auto">
            <a:xfrm rot="2177866" flipV="1">
              <a:off x="7605713" y="2474913"/>
              <a:ext cx="382587" cy="69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nvGrpSpPr>
            <p:cNvPr id="1049" name="Group 347"/>
            <p:cNvGrpSpPr/>
            <p:nvPr/>
          </p:nvGrpSpPr>
          <p:grpSpPr bwMode="auto">
            <a:xfrm>
              <a:off x="5529263" y="3871913"/>
              <a:ext cx="815975" cy="449262"/>
              <a:chOff x="1871277" y="1576300"/>
              <a:chExt cx="1128371" cy="437861"/>
            </a:xfrm>
          </p:grpSpPr>
          <p:sp>
            <p:nvSpPr>
              <p:cNvPr id="1050" name="Oval 8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51" name="Rectangle 8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52" name="Oval 9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53" name="Freeform 91"/>
              <p:cNvSpPr/>
              <p:nvPr/>
            </p:nvSpPr>
            <p:spPr bwMode="auto">
              <a:xfrm>
                <a:off x="2158857"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54" name="Freeform 9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55" name="Freeform 9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56" name="Freeform 9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057" name="Straight Connector 95"/>
              <p:cNvCxnSpPr>
                <a:cxnSpLocks noChangeShapeType="1"/>
                <a:endCxn id="1052"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58" name="Straight Connector 9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8"/>
            <a:ext cx="8206327" cy="803283"/>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网络核心：比较电路交换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101" name="Group 108"/>
          <p:cNvGrpSpPr/>
          <p:nvPr/>
        </p:nvGrpSpPr>
        <p:grpSpPr bwMode="auto">
          <a:xfrm>
            <a:off x="713067" y="1712809"/>
            <a:ext cx="7431088" cy="4478443"/>
            <a:chOff x="240" y="950"/>
            <a:chExt cx="4849" cy="3173"/>
          </a:xfrm>
        </p:grpSpPr>
        <p:grpSp>
          <p:nvGrpSpPr>
            <p:cNvPr id="102" name="Group 7"/>
            <p:cNvGrpSpPr/>
            <p:nvPr/>
          </p:nvGrpSpPr>
          <p:grpSpPr bwMode="auto">
            <a:xfrm>
              <a:off x="270" y="950"/>
              <a:ext cx="4538" cy="1580"/>
              <a:chOff x="310" y="958"/>
              <a:chExt cx="4538" cy="1580"/>
            </a:xfrm>
          </p:grpSpPr>
          <p:sp>
            <p:nvSpPr>
              <p:cNvPr id="196" name="Text Box 8"/>
              <p:cNvSpPr txBox="1">
                <a:spLocks noChangeArrowheads="1"/>
              </p:cNvSpPr>
              <p:nvPr/>
            </p:nvSpPr>
            <p:spPr bwMode="auto">
              <a:xfrm>
                <a:off x="310" y="958"/>
                <a:ext cx="23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dirty="0">
                    <a:latin typeface="Arial" panose="020B0604020202020204" pitchFamily="34" charset="0"/>
                    <a:ea typeface="宋体" panose="02010600030101010101" pitchFamily="2" charset="-122"/>
                  </a:rPr>
                  <a:t>FDM</a:t>
                </a:r>
                <a:r>
                  <a:rPr kumimoji="0" lang="zh-CN" altLang="en-US" sz="2400" dirty="0">
                    <a:latin typeface="Arial" panose="020B0604020202020204" pitchFamily="34" charset="0"/>
                    <a:ea typeface="宋体" panose="02010600030101010101" pitchFamily="2" charset="-122"/>
                  </a:rPr>
                  <a:t>（频分多路复用）</a:t>
                </a:r>
                <a:endParaRPr kumimoji="0" lang="fr-FR" altLang="zh-CN" sz="2400" dirty="0">
                  <a:latin typeface="Arial" panose="020B0604020202020204" pitchFamily="34" charset="0"/>
                  <a:ea typeface="宋体" panose="02010600030101010101" pitchFamily="2" charset="-122"/>
                </a:endParaRPr>
              </a:p>
            </p:txBody>
          </p:sp>
          <p:grpSp>
            <p:nvGrpSpPr>
              <p:cNvPr id="197" name="Group 9"/>
              <p:cNvGrpSpPr/>
              <p:nvPr/>
            </p:nvGrpSpPr>
            <p:grpSpPr bwMode="auto">
              <a:xfrm>
                <a:off x="1222" y="1392"/>
                <a:ext cx="3626" cy="1146"/>
                <a:chOff x="1222" y="1392"/>
                <a:chExt cx="3626" cy="1146"/>
              </a:xfrm>
            </p:grpSpPr>
            <p:sp>
              <p:nvSpPr>
                <p:cNvPr id="198" name="Line 10"/>
                <p:cNvSpPr>
                  <a:spLocks noChangeShapeType="1"/>
                </p:cNvSpPr>
                <p:nvPr/>
              </p:nvSpPr>
              <p:spPr bwMode="auto">
                <a:xfrm flipV="1">
                  <a:off x="1728" y="1392"/>
                  <a:ext cx="0" cy="81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 name="Text Box 11"/>
                <p:cNvSpPr txBox="1">
                  <a:spLocks noChangeArrowheads="1"/>
                </p:cNvSpPr>
                <p:nvPr/>
              </p:nvSpPr>
              <p:spPr bwMode="auto">
                <a:xfrm>
                  <a:off x="1222" y="1425"/>
                  <a:ext cx="45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zh-CN" altLang="en-US" sz="2000" dirty="0">
                      <a:latin typeface="Arial" panose="020B0604020202020204" pitchFamily="34" charset="0"/>
                      <a:ea typeface="宋体" panose="02010600030101010101" pitchFamily="2" charset="-122"/>
                    </a:rPr>
                    <a:t>频率</a:t>
                  </a:r>
                  <a:endParaRPr kumimoji="0" lang="fr-FR" altLang="zh-CN" sz="2000" dirty="0">
                    <a:latin typeface="Arial" panose="020B0604020202020204" pitchFamily="34" charset="0"/>
                    <a:ea typeface="宋体" panose="02010600030101010101" pitchFamily="2" charset="-122"/>
                  </a:endParaRPr>
                </a:p>
              </p:txBody>
            </p:sp>
            <p:sp>
              <p:nvSpPr>
                <p:cNvPr id="200" name="Line 12"/>
                <p:cNvSpPr>
                  <a:spLocks noChangeShapeType="1"/>
                </p:cNvSpPr>
                <p:nvPr/>
              </p:nvSpPr>
              <p:spPr bwMode="auto">
                <a:xfrm>
                  <a:off x="1728" y="2208"/>
                  <a:ext cx="312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1" name="Text Box 13"/>
                <p:cNvSpPr txBox="1">
                  <a:spLocks noChangeArrowheads="1"/>
                </p:cNvSpPr>
                <p:nvPr/>
              </p:nvSpPr>
              <p:spPr bwMode="auto">
                <a:xfrm>
                  <a:off x="3048" y="2255"/>
                  <a:ext cx="45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zh-CN" altLang="en-US" sz="2000" dirty="0">
                      <a:latin typeface="Arial" panose="020B0604020202020204" pitchFamily="34" charset="0"/>
                      <a:ea typeface="宋体" panose="02010600030101010101" pitchFamily="2" charset="-122"/>
                    </a:rPr>
                    <a:t>时间</a:t>
                  </a:r>
                  <a:endParaRPr kumimoji="0" lang="fr-FR" altLang="zh-CN" sz="2000" dirty="0">
                    <a:latin typeface="Arial" panose="020B0604020202020204" pitchFamily="34" charset="0"/>
                    <a:ea typeface="宋体" panose="02010600030101010101" pitchFamily="2" charset="-122"/>
                  </a:endParaRPr>
                </a:p>
              </p:txBody>
            </p:sp>
            <p:sp>
              <p:nvSpPr>
                <p:cNvPr id="202" name="Rectangle 14"/>
                <p:cNvSpPr>
                  <a:spLocks noChangeArrowheads="1"/>
                </p:cNvSpPr>
                <p:nvPr/>
              </p:nvSpPr>
              <p:spPr bwMode="auto">
                <a:xfrm>
                  <a:off x="1776" y="1584"/>
                  <a:ext cx="2880" cy="576"/>
                </a:xfrm>
                <a:prstGeom prst="rect">
                  <a:avLst/>
                </a:prstGeom>
                <a:solidFill>
                  <a:schemeClr val="accent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sp>
          <p:nvSpPr>
            <p:cNvPr id="103" name="Rectangle 15"/>
            <p:cNvSpPr>
              <a:spLocks noChangeArrowheads="1"/>
            </p:cNvSpPr>
            <p:nvPr/>
          </p:nvSpPr>
          <p:spPr bwMode="auto">
            <a:xfrm>
              <a:off x="1728" y="1584"/>
              <a:ext cx="2880" cy="144"/>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04" name="Rectangle 16"/>
            <p:cNvSpPr>
              <a:spLocks noChangeArrowheads="1"/>
            </p:cNvSpPr>
            <p:nvPr/>
          </p:nvSpPr>
          <p:spPr bwMode="auto">
            <a:xfrm>
              <a:off x="1728" y="1728"/>
              <a:ext cx="2880" cy="144"/>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05" name="Rectangle 17"/>
            <p:cNvSpPr>
              <a:spLocks noChangeArrowheads="1"/>
            </p:cNvSpPr>
            <p:nvPr/>
          </p:nvSpPr>
          <p:spPr bwMode="auto">
            <a:xfrm>
              <a:off x="1728" y="1872"/>
              <a:ext cx="2880" cy="144"/>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06" name="Rectangle 18"/>
            <p:cNvSpPr>
              <a:spLocks noChangeArrowheads="1"/>
            </p:cNvSpPr>
            <p:nvPr/>
          </p:nvSpPr>
          <p:spPr bwMode="auto">
            <a:xfrm>
              <a:off x="1728" y="2016"/>
              <a:ext cx="2880" cy="144"/>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nvGrpSpPr>
            <p:cNvPr id="107" name="Group 19"/>
            <p:cNvGrpSpPr/>
            <p:nvPr/>
          </p:nvGrpSpPr>
          <p:grpSpPr bwMode="auto">
            <a:xfrm>
              <a:off x="240" y="2543"/>
              <a:ext cx="4560" cy="1580"/>
              <a:chOff x="288" y="2543"/>
              <a:chExt cx="4560" cy="1580"/>
            </a:xfrm>
          </p:grpSpPr>
          <p:sp>
            <p:nvSpPr>
              <p:cNvPr id="190" name="Text Box 20"/>
              <p:cNvSpPr txBox="1">
                <a:spLocks noChangeArrowheads="1"/>
              </p:cNvSpPr>
              <p:nvPr/>
            </p:nvSpPr>
            <p:spPr bwMode="auto">
              <a:xfrm>
                <a:off x="288" y="2543"/>
                <a:ext cx="2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dirty="0">
                    <a:latin typeface="Arial" panose="020B0604020202020204" pitchFamily="34" charset="0"/>
                    <a:ea typeface="宋体" panose="02010600030101010101" pitchFamily="2" charset="-122"/>
                  </a:rPr>
                  <a:t>TDM</a:t>
                </a:r>
                <a:r>
                  <a:rPr kumimoji="0" lang="zh-CN" altLang="en-US" sz="2400" dirty="0">
                    <a:latin typeface="Arial" panose="020B0604020202020204" pitchFamily="34" charset="0"/>
                    <a:ea typeface="宋体" panose="02010600030101010101" pitchFamily="2" charset="-122"/>
                  </a:rPr>
                  <a:t>（时分多路复用）</a:t>
                </a:r>
                <a:endParaRPr kumimoji="0" lang="fr-FR" altLang="zh-CN" sz="2400" dirty="0">
                  <a:latin typeface="Arial" panose="020B0604020202020204" pitchFamily="34" charset="0"/>
                  <a:ea typeface="宋体" panose="02010600030101010101" pitchFamily="2" charset="-122"/>
                </a:endParaRPr>
              </a:p>
            </p:txBody>
          </p:sp>
          <p:sp>
            <p:nvSpPr>
              <p:cNvPr id="191" name="Line 21"/>
              <p:cNvSpPr>
                <a:spLocks noChangeShapeType="1"/>
              </p:cNvSpPr>
              <p:nvPr/>
            </p:nvSpPr>
            <p:spPr bwMode="auto">
              <a:xfrm flipV="1">
                <a:off x="1728" y="2977"/>
                <a:ext cx="0" cy="81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 name="Line 23"/>
              <p:cNvSpPr>
                <a:spLocks noChangeShapeType="1"/>
              </p:cNvSpPr>
              <p:nvPr/>
            </p:nvSpPr>
            <p:spPr bwMode="auto">
              <a:xfrm>
                <a:off x="1728" y="3793"/>
                <a:ext cx="312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 name="Text Box 24"/>
              <p:cNvSpPr txBox="1">
                <a:spLocks noChangeArrowheads="1"/>
              </p:cNvSpPr>
              <p:nvPr/>
            </p:nvSpPr>
            <p:spPr bwMode="auto">
              <a:xfrm>
                <a:off x="3048" y="3840"/>
                <a:ext cx="45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zh-CN" altLang="en-US" sz="2000" dirty="0">
                    <a:latin typeface="Arial" panose="020B0604020202020204" pitchFamily="34" charset="0"/>
                    <a:ea typeface="宋体" panose="02010600030101010101" pitchFamily="2" charset="-122"/>
                  </a:rPr>
                  <a:t>时间</a:t>
                </a:r>
                <a:endParaRPr kumimoji="0" lang="fr-FR" altLang="zh-CN" sz="2000" dirty="0">
                  <a:latin typeface="Arial" panose="020B0604020202020204" pitchFamily="34" charset="0"/>
                  <a:ea typeface="宋体" panose="02010600030101010101" pitchFamily="2" charset="-122"/>
                </a:endParaRPr>
              </a:p>
            </p:txBody>
          </p:sp>
          <p:sp>
            <p:nvSpPr>
              <p:cNvPr id="195" name="Rectangle 25"/>
              <p:cNvSpPr>
                <a:spLocks noChangeArrowheads="1"/>
              </p:cNvSpPr>
              <p:nvPr/>
            </p:nvSpPr>
            <p:spPr bwMode="auto">
              <a:xfrm>
                <a:off x="1776" y="3168"/>
                <a:ext cx="2880" cy="576"/>
              </a:xfrm>
              <a:prstGeom prst="rect">
                <a:avLst/>
              </a:prstGeom>
              <a:solidFill>
                <a:schemeClr val="accent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nvGrpSpPr>
            <p:cNvPr id="108" name="Group 26"/>
            <p:cNvGrpSpPr/>
            <p:nvPr/>
          </p:nvGrpSpPr>
          <p:grpSpPr bwMode="auto">
            <a:xfrm>
              <a:off x="1728" y="3168"/>
              <a:ext cx="2448" cy="576"/>
              <a:chOff x="1776" y="3168"/>
              <a:chExt cx="2448" cy="576"/>
            </a:xfrm>
          </p:grpSpPr>
          <p:sp>
            <p:nvSpPr>
              <p:cNvPr id="185" name="Rectangle 27"/>
              <p:cNvSpPr>
                <a:spLocks noChangeArrowheads="1"/>
              </p:cNvSpPr>
              <p:nvPr/>
            </p:nvSpPr>
            <p:spPr bwMode="auto">
              <a:xfrm>
                <a:off x="1776"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6" name="Rectangle 28"/>
              <p:cNvSpPr>
                <a:spLocks noChangeArrowheads="1"/>
              </p:cNvSpPr>
              <p:nvPr/>
            </p:nvSpPr>
            <p:spPr bwMode="auto">
              <a:xfrm>
                <a:off x="2352"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7" name="Rectangle 29"/>
              <p:cNvSpPr>
                <a:spLocks noChangeArrowheads="1"/>
              </p:cNvSpPr>
              <p:nvPr/>
            </p:nvSpPr>
            <p:spPr bwMode="auto">
              <a:xfrm>
                <a:off x="2928"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8" name="Rectangle 30"/>
              <p:cNvSpPr>
                <a:spLocks noChangeArrowheads="1"/>
              </p:cNvSpPr>
              <p:nvPr/>
            </p:nvSpPr>
            <p:spPr bwMode="auto">
              <a:xfrm>
                <a:off x="3504"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9" name="Rectangle 31"/>
              <p:cNvSpPr>
                <a:spLocks noChangeArrowheads="1"/>
              </p:cNvSpPr>
              <p:nvPr/>
            </p:nvSpPr>
            <p:spPr bwMode="auto">
              <a:xfrm>
                <a:off x="4080"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nvGrpSpPr>
            <p:cNvPr id="109" name="Group 32"/>
            <p:cNvGrpSpPr/>
            <p:nvPr/>
          </p:nvGrpSpPr>
          <p:grpSpPr bwMode="auto">
            <a:xfrm>
              <a:off x="1872" y="3168"/>
              <a:ext cx="2448" cy="576"/>
              <a:chOff x="1920" y="3168"/>
              <a:chExt cx="2448" cy="576"/>
            </a:xfrm>
          </p:grpSpPr>
          <p:sp>
            <p:nvSpPr>
              <p:cNvPr id="180" name="Rectangle 33"/>
              <p:cNvSpPr>
                <a:spLocks noChangeArrowheads="1"/>
              </p:cNvSpPr>
              <p:nvPr/>
            </p:nvSpPr>
            <p:spPr bwMode="auto">
              <a:xfrm>
                <a:off x="1920"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1" name="Rectangle 34"/>
              <p:cNvSpPr>
                <a:spLocks noChangeArrowheads="1"/>
              </p:cNvSpPr>
              <p:nvPr/>
            </p:nvSpPr>
            <p:spPr bwMode="auto">
              <a:xfrm>
                <a:off x="2496"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2" name="Rectangle 35"/>
              <p:cNvSpPr>
                <a:spLocks noChangeArrowheads="1"/>
              </p:cNvSpPr>
              <p:nvPr/>
            </p:nvSpPr>
            <p:spPr bwMode="auto">
              <a:xfrm>
                <a:off x="3072"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3" name="Rectangle 36"/>
              <p:cNvSpPr>
                <a:spLocks noChangeArrowheads="1"/>
              </p:cNvSpPr>
              <p:nvPr/>
            </p:nvSpPr>
            <p:spPr bwMode="auto">
              <a:xfrm>
                <a:off x="3648"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84" name="Rectangle 37"/>
              <p:cNvSpPr>
                <a:spLocks noChangeArrowheads="1"/>
              </p:cNvSpPr>
              <p:nvPr/>
            </p:nvSpPr>
            <p:spPr bwMode="auto">
              <a:xfrm>
                <a:off x="4224"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nvGrpSpPr>
            <p:cNvPr id="110" name="Group 38"/>
            <p:cNvGrpSpPr/>
            <p:nvPr/>
          </p:nvGrpSpPr>
          <p:grpSpPr bwMode="auto">
            <a:xfrm>
              <a:off x="2016" y="3168"/>
              <a:ext cx="2448" cy="576"/>
              <a:chOff x="2064" y="3168"/>
              <a:chExt cx="2448" cy="576"/>
            </a:xfrm>
          </p:grpSpPr>
          <p:sp>
            <p:nvSpPr>
              <p:cNvPr id="175" name="Rectangle 39"/>
              <p:cNvSpPr>
                <a:spLocks noChangeArrowheads="1"/>
              </p:cNvSpPr>
              <p:nvPr/>
            </p:nvSpPr>
            <p:spPr bwMode="auto">
              <a:xfrm>
                <a:off x="2064"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6" name="Rectangle 40"/>
              <p:cNvSpPr>
                <a:spLocks noChangeArrowheads="1"/>
              </p:cNvSpPr>
              <p:nvPr/>
            </p:nvSpPr>
            <p:spPr bwMode="auto">
              <a:xfrm>
                <a:off x="2640"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7" name="Rectangle 41"/>
              <p:cNvSpPr>
                <a:spLocks noChangeArrowheads="1"/>
              </p:cNvSpPr>
              <p:nvPr/>
            </p:nvSpPr>
            <p:spPr bwMode="auto">
              <a:xfrm>
                <a:off x="3216"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8" name="Rectangle 42"/>
              <p:cNvSpPr>
                <a:spLocks noChangeArrowheads="1"/>
              </p:cNvSpPr>
              <p:nvPr/>
            </p:nvSpPr>
            <p:spPr bwMode="auto">
              <a:xfrm>
                <a:off x="3792"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9" name="Rectangle 43"/>
              <p:cNvSpPr>
                <a:spLocks noChangeArrowheads="1"/>
              </p:cNvSpPr>
              <p:nvPr/>
            </p:nvSpPr>
            <p:spPr bwMode="auto">
              <a:xfrm>
                <a:off x="4368"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nvGrpSpPr>
            <p:cNvPr id="111" name="Group 44"/>
            <p:cNvGrpSpPr/>
            <p:nvPr/>
          </p:nvGrpSpPr>
          <p:grpSpPr bwMode="auto">
            <a:xfrm>
              <a:off x="2160" y="3168"/>
              <a:ext cx="2448" cy="576"/>
              <a:chOff x="2208" y="3168"/>
              <a:chExt cx="2448" cy="576"/>
            </a:xfrm>
          </p:grpSpPr>
          <p:sp>
            <p:nvSpPr>
              <p:cNvPr id="170" name="Rectangle 45"/>
              <p:cNvSpPr>
                <a:spLocks noChangeArrowheads="1"/>
              </p:cNvSpPr>
              <p:nvPr/>
            </p:nvSpPr>
            <p:spPr bwMode="auto">
              <a:xfrm>
                <a:off x="2208"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1" name="Rectangle 46"/>
              <p:cNvSpPr>
                <a:spLocks noChangeArrowheads="1"/>
              </p:cNvSpPr>
              <p:nvPr/>
            </p:nvSpPr>
            <p:spPr bwMode="auto">
              <a:xfrm>
                <a:off x="2784"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2" name="Rectangle 47"/>
              <p:cNvSpPr>
                <a:spLocks noChangeArrowheads="1"/>
              </p:cNvSpPr>
              <p:nvPr/>
            </p:nvSpPr>
            <p:spPr bwMode="auto">
              <a:xfrm>
                <a:off x="3360"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3" name="Rectangle 48"/>
              <p:cNvSpPr>
                <a:spLocks noChangeArrowheads="1"/>
              </p:cNvSpPr>
              <p:nvPr/>
            </p:nvSpPr>
            <p:spPr bwMode="auto">
              <a:xfrm>
                <a:off x="3936"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74" name="Rectangle 49"/>
              <p:cNvSpPr>
                <a:spLocks noChangeArrowheads="1"/>
              </p:cNvSpPr>
              <p:nvPr/>
            </p:nvSpPr>
            <p:spPr bwMode="auto">
              <a:xfrm>
                <a:off x="4512"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nvGrpSpPr>
            <p:cNvPr id="112" name="Group 50"/>
            <p:cNvGrpSpPr/>
            <p:nvPr/>
          </p:nvGrpSpPr>
          <p:grpSpPr bwMode="auto">
            <a:xfrm>
              <a:off x="1728" y="1728"/>
              <a:ext cx="2880" cy="288"/>
              <a:chOff x="1776" y="1728"/>
              <a:chExt cx="2880" cy="288"/>
            </a:xfrm>
          </p:grpSpPr>
          <p:sp>
            <p:nvSpPr>
              <p:cNvPr id="167" name="Line 51"/>
              <p:cNvSpPr>
                <a:spLocks noChangeShapeType="1"/>
              </p:cNvSpPr>
              <p:nvPr/>
            </p:nvSpPr>
            <p:spPr bwMode="auto">
              <a:xfrm flipV="1">
                <a:off x="1776" y="1728"/>
                <a:ext cx="28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8" name="Line 52"/>
              <p:cNvSpPr>
                <a:spLocks noChangeShapeType="1"/>
              </p:cNvSpPr>
              <p:nvPr/>
            </p:nvSpPr>
            <p:spPr bwMode="auto">
              <a:xfrm flipV="1">
                <a:off x="1776" y="1872"/>
                <a:ext cx="28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9" name="Line 53"/>
              <p:cNvSpPr>
                <a:spLocks noChangeShapeType="1"/>
              </p:cNvSpPr>
              <p:nvPr/>
            </p:nvSpPr>
            <p:spPr bwMode="auto">
              <a:xfrm flipV="1">
                <a:off x="1776" y="2016"/>
                <a:ext cx="28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3" name="Group 54"/>
            <p:cNvGrpSpPr/>
            <p:nvPr/>
          </p:nvGrpSpPr>
          <p:grpSpPr bwMode="auto">
            <a:xfrm>
              <a:off x="1872" y="3168"/>
              <a:ext cx="2592" cy="576"/>
              <a:chOff x="1920" y="3168"/>
              <a:chExt cx="2592" cy="576"/>
            </a:xfrm>
          </p:grpSpPr>
          <p:sp>
            <p:nvSpPr>
              <p:cNvPr id="148" name="Line 55"/>
              <p:cNvSpPr>
                <a:spLocks noChangeShapeType="1"/>
              </p:cNvSpPr>
              <p:nvPr/>
            </p:nvSpPr>
            <p:spPr bwMode="auto">
              <a:xfrm>
                <a:off x="192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9" name="Line 56"/>
              <p:cNvSpPr>
                <a:spLocks noChangeShapeType="1"/>
              </p:cNvSpPr>
              <p:nvPr/>
            </p:nvSpPr>
            <p:spPr bwMode="auto">
              <a:xfrm>
                <a:off x="206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 name="Line 57"/>
              <p:cNvSpPr>
                <a:spLocks noChangeShapeType="1"/>
              </p:cNvSpPr>
              <p:nvPr/>
            </p:nvSpPr>
            <p:spPr bwMode="auto">
              <a:xfrm>
                <a:off x="220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1" name="Line 58"/>
              <p:cNvSpPr>
                <a:spLocks noChangeShapeType="1"/>
              </p:cNvSpPr>
              <p:nvPr/>
            </p:nvSpPr>
            <p:spPr bwMode="auto">
              <a:xfrm>
                <a:off x="235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 name="Line 59"/>
              <p:cNvSpPr>
                <a:spLocks noChangeShapeType="1"/>
              </p:cNvSpPr>
              <p:nvPr/>
            </p:nvSpPr>
            <p:spPr bwMode="auto">
              <a:xfrm>
                <a:off x="2496"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 name="Line 60"/>
              <p:cNvSpPr>
                <a:spLocks noChangeShapeType="1"/>
              </p:cNvSpPr>
              <p:nvPr/>
            </p:nvSpPr>
            <p:spPr bwMode="auto">
              <a:xfrm>
                <a:off x="264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4" name="Line 61"/>
              <p:cNvSpPr>
                <a:spLocks noChangeShapeType="1"/>
              </p:cNvSpPr>
              <p:nvPr/>
            </p:nvSpPr>
            <p:spPr bwMode="auto">
              <a:xfrm>
                <a:off x="278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5" name="Line 62"/>
              <p:cNvSpPr>
                <a:spLocks noChangeShapeType="1"/>
              </p:cNvSpPr>
              <p:nvPr/>
            </p:nvSpPr>
            <p:spPr bwMode="auto">
              <a:xfrm>
                <a:off x="292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6" name="Line 63"/>
              <p:cNvSpPr>
                <a:spLocks noChangeShapeType="1"/>
              </p:cNvSpPr>
              <p:nvPr/>
            </p:nvSpPr>
            <p:spPr bwMode="auto">
              <a:xfrm>
                <a:off x="307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 name="Line 64"/>
              <p:cNvSpPr>
                <a:spLocks noChangeShapeType="1"/>
              </p:cNvSpPr>
              <p:nvPr/>
            </p:nvSpPr>
            <p:spPr bwMode="auto">
              <a:xfrm>
                <a:off x="3216"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8" name="Line 65"/>
              <p:cNvSpPr>
                <a:spLocks noChangeShapeType="1"/>
              </p:cNvSpPr>
              <p:nvPr/>
            </p:nvSpPr>
            <p:spPr bwMode="auto">
              <a:xfrm>
                <a:off x="336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9" name="Line 66"/>
              <p:cNvSpPr>
                <a:spLocks noChangeShapeType="1"/>
              </p:cNvSpPr>
              <p:nvPr/>
            </p:nvSpPr>
            <p:spPr bwMode="auto">
              <a:xfrm>
                <a:off x="350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0" name="Line 67"/>
              <p:cNvSpPr>
                <a:spLocks noChangeShapeType="1"/>
              </p:cNvSpPr>
              <p:nvPr/>
            </p:nvSpPr>
            <p:spPr bwMode="auto">
              <a:xfrm>
                <a:off x="364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1" name="Line 68"/>
              <p:cNvSpPr>
                <a:spLocks noChangeShapeType="1"/>
              </p:cNvSpPr>
              <p:nvPr/>
            </p:nvSpPr>
            <p:spPr bwMode="auto">
              <a:xfrm>
                <a:off x="379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2" name="Line 69"/>
              <p:cNvSpPr>
                <a:spLocks noChangeShapeType="1"/>
              </p:cNvSpPr>
              <p:nvPr/>
            </p:nvSpPr>
            <p:spPr bwMode="auto">
              <a:xfrm>
                <a:off x="3936"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 name="Line 70"/>
              <p:cNvSpPr>
                <a:spLocks noChangeShapeType="1"/>
              </p:cNvSpPr>
              <p:nvPr/>
            </p:nvSpPr>
            <p:spPr bwMode="auto">
              <a:xfrm>
                <a:off x="408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 name="Line 71"/>
              <p:cNvSpPr>
                <a:spLocks noChangeShapeType="1"/>
              </p:cNvSpPr>
              <p:nvPr/>
            </p:nvSpPr>
            <p:spPr bwMode="auto">
              <a:xfrm>
                <a:off x="422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 name="Line 72"/>
              <p:cNvSpPr>
                <a:spLocks noChangeShapeType="1"/>
              </p:cNvSpPr>
              <p:nvPr/>
            </p:nvSpPr>
            <p:spPr bwMode="auto">
              <a:xfrm>
                <a:off x="436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6" name="Line 73"/>
              <p:cNvSpPr>
                <a:spLocks noChangeShapeType="1"/>
              </p:cNvSpPr>
              <p:nvPr/>
            </p:nvSpPr>
            <p:spPr bwMode="auto">
              <a:xfrm>
                <a:off x="451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4" name="Group 74"/>
            <p:cNvGrpSpPr/>
            <p:nvPr/>
          </p:nvGrpSpPr>
          <p:grpSpPr bwMode="auto">
            <a:xfrm>
              <a:off x="1728" y="1656"/>
              <a:ext cx="2880" cy="432"/>
              <a:chOff x="1776" y="1656"/>
              <a:chExt cx="2880" cy="432"/>
            </a:xfrm>
          </p:grpSpPr>
          <p:sp>
            <p:nvSpPr>
              <p:cNvPr id="144" name="Line 75"/>
              <p:cNvSpPr>
                <a:spLocks noChangeShapeType="1"/>
              </p:cNvSpPr>
              <p:nvPr/>
            </p:nvSpPr>
            <p:spPr bwMode="auto">
              <a:xfrm>
                <a:off x="1776" y="1656"/>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5" name="Line 76"/>
              <p:cNvSpPr>
                <a:spLocks noChangeShapeType="1"/>
              </p:cNvSpPr>
              <p:nvPr/>
            </p:nvSpPr>
            <p:spPr bwMode="auto">
              <a:xfrm>
                <a:off x="1776" y="1800"/>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6" name="Line 77"/>
              <p:cNvSpPr>
                <a:spLocks noChangeShapeType="1"/>
              </p:cNvSpPr>
              <p:nvPr/>
            </p:nvSpPr>
            <p:spPr bwMode="auto">
              <a:xfrm>
                <a:off x="1776" y="1944"/>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7" name="Line 78"/>
              <p:cNvSpPr>
                <a:spLocks noChangeShapeType="1"/>
              </p:cNvSpPr>
              <p:nvPr/>
            </p:nvSpPr>
            <p:spPr bwMode="auto">
              <a:xfrm>
                <a:off x="1776" y="2088"/>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5" name="Group 79"/>
            <p:cNvGrpSpPr/>
            <p:nvPr/>
          </p:nvGrpSpPr>
          <p:grpSpPr bwMode="auto">
            <a:xfrm>
              <a:off x="1800" y="3168"/>
              <a:ext cx="2736" cy="576"/>
              <a:chOff x="1848" y="3168"/>
              <a:chExt cx="2736" cy="576"/>
            </a:xfrm>
          </p:grpSpPr>
          <p:sp>
            <p:nvSpPr>
              <p:cNvPr id="124" name="Line 80"/>
              <p:cNvSpPr>
                <a:spLocks noChangeShapeType="1"/>
              </p:cNvSpPr>
              <p:nvPr/>
            </p:nvSpPr>
            <p:spPr bwMode="auto">
              <a:xfrm>
                <a:off x="184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5" name="Line 81"/>
              <p:cNvSpPr>
                <a:spLocks noChangeShapeType="1"/>
              </p:cNvSpPr>
              <p:nvPr/>
            </p:nvSpPr>
            <p:spPr bwMode="auto">
              <a:xfrm>
                <a:off x="199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6" name="Line 82"/>
              <p:cNvSpPr>
                <a:spLocks noChangeShapeType="1"/>
              </p:cNvSpPr>
              <p:nvPr/>
            </p:nvSpPr>
            <p:spPr bwMode="auto">
              <a:xfrm>
                <a:off x="213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7" name="Line 83"/>
              <p:cNvSpPr>
                <a:spLocks noChangeShapeType="1"/>
              </p:cNvSpPr>
              <p:nvPr/>
            </p:nvSpPr>
            <p:spPr bwMode="auto">
              <a:xfrm>
                <a:off x="228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8" name="Line 84"/>
              <p:cNvSpPr>
                <a:spLocks noChangeShapeType="1"/>
              </p:cNvSpPr>
              <p:nvPr/>
            </p:nvSpPr>
            <p:spPr bwMode="auto">
              <a:xfrm>
                <a:off x="242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9" name="Line 85"/>
              <p:cNvSpPr>
                <a:spLocks noChangeShapeType="1"/>
              </p:cNvSpPr>
              <p:nvPr/>
            </p:nvSpPr>
            <p:spPr bwMode="auto">
              <a:xfrm>
                <a:off x="256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0" name="Line 86"/>
              <p:cNvSpPr>
                <a:spLocks noChangeShapeType="1"/>
              </p:cNvSpPr>
              <p:nvPr/>
            </p:nvSpPr>
            <p:spPr bwMode="auto">
              <a:xfrm>
                <a:off x="271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1" name="Line 87"/>
              <p:cNvSpPr>
                <a:spLocks noChangeShapeType="1"/>
              </p:cNvSpPr>
              <p:nvPr/>
            </p:nvSpPr>
            <p:spPr bwMode="auto">
              <a:xfrm>
                <a:off x="285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2" name="Line 88"/>
              <p:cNvSpPr>
                <a:spLocks noChangeShapeType="1"/>
              </p:cNvSpPr>
              <p:nvPr/>
            </p:nvSpPr>
            <p:spPr bwMode="auto">
              <a:xfrm>
                <a:off x="300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3" name="Line 89"/>
              <p:cNvSpPr>
                <a:spLocks noChangeShapeType="1"/>
              </p:cNvSpPr>
              <p:nvPr/>
            </p:nvSpPr>
            <p:spPr bwMode="auto">
              <a:xfrm>
                <a:off x="314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4" name="Line 90"/>
              <p:cNvSpPr>
                <a:spLocks noChangeShapeType="1"/>
              </p:cNvSpPr>
              <p:nvPr/>
            </p:nvSpPr>
            <p:spPr bwMode="auto">
              <a:xfrm>
                <a:off x="328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5" name="Line 91"/>
              <p:cNvSpPr>
                <a:spLocks noChangeShapeType="1"/>
              </p:cNvSpPr>
              <p:nvPr/>
            </p:nvSpPr>
            <p:spPr bwMode="auto">
              <a:xfrm>
                <a:off x="343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6" name="Line 92"/>
              <p:cNvSpPr>
                <a:spLocks noChangeShapeType="1"/>
              </p:cNvSpPr>
              <p:nvPr/>
            </p:nvSpPr>
            <p:spPr bwMode="auto">
              <a:xfrm>
                <a:off x="357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7" name="Line 93"/>
              <p:cNvSpPr>
                <a:spLocks noChangeShapeType="1"/>
              </p:cNvSpPr>
              <p:nvPr/>
            </p:nvSpPr>
            <p:spPr bwMode="auto">
              <a:xfrm>
                <a:off x="372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8" name="Line 94"/>
              <p:cNvSpPr>
                <a:spLocks noChangeShapeType="1"/>
              </p:cNvSpPr>
              <p:nvPr/>
            </p:nvSpPr>
            <p:spPr bwMode="auto">
              <a:xfrm>
                <a:off x="386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9" name="Line 95"/>
              <p:cNvSpPr>
                <a:spLocks noChangeShapeType="1"/>
              </p:cNvSpPr>
              <p:nvPr/>
            </p:nvSpPr>
            <p:spPr bwMode="auto">
              <a:xfrm>
                <a:off x="400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0" name="Line 96"/>
              <p:cNvSpPr>
                <a:spLocks noChangeShapeType="1"/>
              </p:cNvSpPr>
              <p:nvPr/>
            </p:nvSpPr>
            <p:spPr bwMode="auto">
              <a:xfrm>
                <a:off x="415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1" name="Line 97"/>
              <p:cNvSpPr>
                <a:spLocks noChangeShapeType="1"/>
              </p:cNvSpPr>
              <p:nvPr/>
            </p:nvSpPr>
            <p:spPr bwMode="auto">
              <a:xfrm>
                <a:off x="429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2" name="Line 98"/>
              <p:cNvSpPr>
                <a:spLocks noChangeShapeType="1"/>
              </p:cNvSpPr>
              <p:nvPr/>
            </p:nvSpPr>
            <p:spPr bwMode="auto">
              <a:xfrm>
                <a:off x="444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3" name="Line 99"/>
              <p:cNvSpPr>
                <a:spLocks noChangeShapeType="1"/>
              </p:cNvSpPr>
              <p:nvPr/>
            </p:nvSpPr>
            <p:spPr bwMode="auto">
              <a:xfrm>
                <a:off x="458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7" name="Group 101"/>
            <p:cNvGrpSpPr/>
            <p:nvPr/>
          </p:nvGrpSpPr>
          <p:grpSpPr bwMode="auto">
            <a:xfrm>
              <a:off x="3604" y="1033"/>
              <a:ext cx="1485" cy="283"/>
              <a:chOff x="3699" y="217"/>
              <a:chExt cx="1485" cy="283"/>
            </a:xfrm>
          </p:grpSpPr>
          <p:sp>
            <p:nvSpPr>
              <p:cNvPr id="119" name="Text Box 102"/>
              <p:cNvSpPr txBox="1">
                <a:spLocks noChangeArrowheads="1"/>
              </p:cNvSpPr>
              <p:nvPr/>
            </p:nvSpPr>
            <p:spPr bwMode="auto">
              <a:xfrm>
                <a:off x="3699" y="217"/>
                <a:ext cx="71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000" dirty="0">
                    <a:latin typeface="Arial" panose="020B0604020202020204" pitchFamily="34" charset="0"/>
                    <a:ea typeface="宋体" panose="02010600030101010101" pitchFamily="2" charset="-122"/>
                  </a:rPr>
                  <a:t>4</a:t>
                </a:r>
                <a:r>
                  <a:rPr kumimoji="0" lang="zh-CN" altLang="en-US" sz="2000" dirty="0">
                    <a:latin typeface="Arial" panose="020B0604020202020204" pitchFamily="34" charset="0"/>
                    <a:ea typeface="宋体" panose="02010600030101010101" pitchFamily="2" charset="-122"/>
                  </a:rPr>
                  <a:t>个用户</a:t>
                </a:r>
                <a:endParaRPr kumimoji="0" lang="fr-FR" altLang="zh-CN" sz="2000" dirty="0">
                  <a:latin typeface="Arial" panose="020B0604020202020204" pitchFamily="34" charset="0"/>
                  <a:ea typeface="宋体" panose="02010600030101010101" pitchFamily="2" charset="-122"/>
                </a:endParaRPr>
              </a:p>
            </p:txBody>
          </p:sp>
          <p:sp>
            <p:nvSpPr>
              <p:cNvPr id="120" name="Rectangle 103"/>
              <p:cNvSpPr>
                <a:spLocks noChangeArrowheads="1"/>
              </p:cNvSpPr>
              <p:nvPr/>
            </p:nvSpPr>
            <p:spPr bwMode="auto">
              <a:xfrm>
                <a:off x="4464" y="281"/>
                <a:ext cx="144" cy="144"/>
              </a:xfrm>
              <a:prstGeom prst="rect">
                <a:avLst/>
              </a:prstGeom>
              <a:solidFill>
                <a:srgbClr val="3366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21" name="Rectangle 104"/>
              <p:cNvSpPr>
                <a:spLocks noChangeArrowheads="1"/>
              </p:cNvSpPr>
              <p:nvPr/>
            </p:nvSpPr>
            <p:spPr bwMode="auto">
              <a:xfrm>
                <a:off x="4656" y="281"/>
                <a:ext cx="144" cy="144"/>
              </a:xfrm>
              <a:prstGeom prst="rect">
                <a:avLst/>
              </a:prstGeom>
              <a:solidFill>
                <a:srgbClr val="99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22" name="Rectangle 105"/>
              <p:cNvSpPr>
                <a:spLocks noChangeArrowheads="1"/>
              </p:cNvSpPr>
              <p:nvPr/>
            </p:nvSpPr>
            <p:spPr bwMode="auto">
              <a:xfrm>
                <a:off x="4848" y="281"/>
                <a:ext cx="144" cy="144"/>
              </a:xfrm>
              <a:prstGeom prst="rect">
                <a:avLst/>
              </a:prstGeom>
              <a:solidFill>
                <a:srgbClr val="FFCC00"/>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23" name="Rectangle 106"/>
              <p:cNvSpPr>
                <a:spLocks noChangeArrowheads="1"/>
              </p:cNvSpPr>
              <p:nvPr/>
            </p:nvSpPr>
            <p:spPr bwMode="auto">
              <a:xfrm>
                <a:off x="5040" y="281"/>
                <a:ext cx="144" cy="144"/>
              </a:xfrm>
              <a:prstGeom prst="rect">
                <a:avLst/>
              </a:prstGeom>
              <a:solidFill>
                <a:srgbClr val="FF00FF"/>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grpSp>
      <p:sp>
        <p:nvSpPr>
          <p:cNvPr id="3" name="Text Box 11"/>
          <p:cNvSpPr txBox="1">
            <a:spLocks noChangeArrowheads="1"/>
          </p:cNvSpPr>
          <p:nvPr/>
        </p:nvSpPr>
        <p:spPr bwMode="auto">
          <a:xfrm>
            <a:off x="2182094" y="4643639"/>
            <a:ext cx="697287" cy="39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zh-CN" altLang="en-US" sz="2000" dirty="0">
                <a:latin typeface="Arial" panose="020B0604020202020204" pitchFamily="34" charset="0"/>
                <a:ea typeface="宋体" panose="02010600030101010101" pitchFamily="2" charset="-122"/>
              </a:rPr>
              <a:t>频率</a:t>
            </a:r>
            <a:endParaRPr kumimoji="0" lang="fr-FR" altLang="zh-CN" sz="2000" dirty="0">
              <a:latin typeface="Arial" panose="020B060402020202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65363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网络核心：比较电路交换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1" name="Line 2"/>
          <p:cNvSpPr>
            <a:spLocks noChangeShapeType="1"/>
          </p:cNvSpPr>
          <p:nvPr/>
        </p:nvSpPr>
        <p:spPr bwMode="auto">
          <a:xfrm flipV="1">
            <a:off x="7008527" y="3246438"/>
            <a:ext cx="914400" cy="685800"/>
          </a:xfrm>
          <a:prstGeom prst="line">
            <a:avLst/>
          </a:prstGeom>
          <a:noFill/>
          <a:ln w="127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2" name="Text Box 4"/>
          <p:cNvSpPr txBox="1">
            <a:spLocks noChangeArrowheads="1"/>
          </p:cNvSpPr>
          <p:nvPr/>
        </p:nvSpPr>
        <p:spPr bwMode="auto">
          <a:xfrm>
            <a:off x="455327" y="3514725"/>
            <a:ext cx="9699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ctr">
              <a:spcBef>
                <a:spcPct val="0"/>
              </a:spcBef>
              <a:buFontTx/>
              <a:buNone/>
              <a:defRPr kumimoji="0" sz="1600">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spcBef>
                <a:spcPct val="20000"/>
              </a:spcBef>
              <a:buBlip>
                <a:blip r:embed="rId3"/>
              </a:buBlip>
              <a:defRPr sz="2800">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latin typeface="Times New Roman" panose="02020603050405020304" pitchFamily="18" charset="0"/>
                <a:ea typeface="Gulim" pitchFamily="34" charset="-127"/>
              </a:defRPr>
            </a:lvl4pPr>
            <a:lvl5pPr marL="2057400" indent="-228600">
              <a:spcBef>
                <a:spcPct val="20000"/>
              </a:spcBef>
              <a:buChar char="»"/>
              <a:defRPr sz="2000">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latin typeface="Times New Roman" panose="02020603050405020304" pitchFamily="18" charset="0"/>
                <a:ea typeface="Gulim" pitchFamily="34" charset="-127"/>
              </a:defRPr>
            </a:lvl9pPr>
          </a:lstStyle>
          <a:p>
            <a:r>
              <a:rPr lang="en-US" altLang="zh-CN" dirty="0"/>
              <a:t>Source</a:t>
            </a:r>
          </a:p>
          <a:p>
            <a:r>
              <a:rPr lang="en-US" altLang="zh-CN" dirty="0"/>
              <a:t>“</a:t>
            </a:r>
            <a:r>
              <a:rPr lang="zh-CN" altLang="en-US" dirty="0"/>
              <a:t>呼叫端</a:t>
            </a:r>
            <a:r>
              <a:rPr lang="en-US" altLang="zh-CN" dirty="0"/>
              <a:t>”</a:t>
            </a:r>
          </a:p>
        </p:txBody>
      </p:sp>
      <p:grpSp>
        <p:nvGrpSpPr>
          <p:cNvPr id="103" name="Group 5"/>
          <p:cNvGrpSpPr/>
          <p:nvPr/>
        </p:nvGrpSpPr>
        <p:grpSpPr bwMode="auto">
          <a:xfrm>
            <a:off x="683927" y="2908300"/>
            <a:ext cx="590550" cy="476250"/>
            <a:chOff x="384" y="1394"/>
            <a:chExt cx="372" cy="300"/>
          </a:xfrm>
        </p:grpSpPr>
        <p:sp>
          <p:nvSpPr>
            <p:cNvPr id="104" name="Rectangle 6"/>
            <p:cNvSpPr>
              <a:spLocks noChangeArrowheads="1"/>
            </p:cNvSpPr>
            <p:nvPr/>
          </p:nvSpPr>
          <p:spPr bwMode="auto">
            <a:xfrm>
              <a:off x="433" y="1651"/>
              <a:ext cx="264" cy="43"/>
            </a:xfrm>
            <a:prstGeom prst="rect">
              <a:avLst/>
            </a:prstGeom>
            <a:solidFill>
              <a:srgbClr val="FF0000"/>
            </a:solidFill>
            <a:ln w="9525">
              <a:noFill/>
              <a:miter lim="800000"/>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5" name="Freeform 7"/>
            <p:cNvSpPr/>
            <p:nvPr/>
          </p:nvSpPr>
          <p:spPr bwMode="auto">
            <a:xfrm rot="-2304584">
              <a:off x="384" y="1394"/>
              <a:ext cx="372" cy="286"/>
            </a:xfrm>
            <a:custGeom>
              <a:avLst/>
              <a:gdLst>
                <a:gd name="T0" fmla="*/ 7 w 553"/>
                <a:gd name="T1" fmla="*/ 1 h 470"/>
                <a:gd name="T2" fmla="*/ 6 w 553"/>
                <a:gd name="T3" fmla="*/ 1 h 470"/>
                <a:gd name="T4" fmla="*/ 5 w 553"/>
                <a:gd name="T5" fmla="*/ 1 h 470"/>
                <a:gd name="T6" fmla="*/ 5 w 553"/>
                <a:gd name="T7" fmla="*/ 1 h 470"/>
                <a:gd name="T8" fmla="*/ 5 w 553"/>
                <a:gd name="T9" fmla="*/ 1 h 470"/>
                <a:gd name="T10" fmla="*/ 5 w 553"/>
                <a:gd name="T11" fmla="*/ 1 h 470"/>
                <a:gd name="T12" fmla="*/ 5 w 553"/>
                <a:gd name="T13" fmla="*/ 2 h 470"/>
                <a:gd name="T14" fmla="*/ 4 w 553"/>
                <a:gd name="T15" fmla="*/ 2 h 470"/>
                <a:gd name="T16" fmla="*/ 3 w 553"/>
                <a:gd name="T17" fmla="*/ 2 h 470"/>
                <a:gd name="T18" fmla="*/ 2 w 553"/>
                <a:gd name="T19" fmla="*/ 1 h 470"/>
                <a:gd name="T20" fmla="*/ 1 w 553"/>
                <a:gd name="T21" fmla="*/ 1 h 470"/>
                <a:gd name="T22" fmla="*/ 1 w 553"/>
                <a:gd name="T23" fmla="*/ 1 h 470"/>
                <a:gd name="T24" fmla="*/ 1 w 553"/>
                <a:gd name="T25" fmla="*/ 1 h 470"/>
                <a:gd name="T26" fmla="*/ 1 w 553"/>
                <a:gd name="T27" fmla="*/ 1 h 470"/>
                <a:gd name="T28" fmla="*/ 2 w 553"/>
                <a:gd name="T29" fmla="*/ 1 h 470"/>
                <a:gd name="T30" fmla="*/ 3 w 553"/>
                <a:gd name="T31" fmla="*/ 1 h 470"/>
                <a:gd name="T32" fmla="*/ 3 w 553"/>
                <a:gd name="T33" fmla="*/ 0 h 470"/>
                <a:gd name="T34" fmla="*/ 4 w 553"/>
                <a:gd name="T35" fmla="*/ 1 h 470"/>
                <a:gd name="T36" fmla="*/ 5 w 553"/>
                <a:gd name="T37" fmla="*/ 1 h 470"/>
                <a:gd name="T38" fmla="*/ 6 w 553"/>
                <a:gd name="T39" fmla="*/ 1 h 470"/>
                <a:gd name="T40" fmla="*/ 7 w 553"/>
                <a:gd name="T41" fmla="*/ 1 h 470"/>
                <a:gd name="T42" fmla="*/ 7 w 553"/>
                <a:gd name="T43" fmla="*/ 1 h 470"/>
                <a:gd name="T44" fmla="*/ 8 w 553"/>
                <a:gd name="T45" fmla="*/ 1 h 470"/>
                <a:gd name="T46" fmla="*/ 9 w 553"/>
                <a:gd name="T47" fmla="*/ 1 h 470"/>
                <a:gd name="T48" fmla="*/ 10 w 553"/>
                <a:gd name="T49" fmla="*/ 1 h 470"/>
                <a:gd name="T50" fmla="*/ 11 w 553"/>
                <a:gd name="T51" fmla="*/ 1 h 470"/>
                <a:gd name="T52" fmla="*/ 12 w 553"/>
                <a:gd name="T53" fmla="*/ 1 h 470"/>
                <a:gd name="T54" fmla="*/ 13 w 553"/>
                <a:gd name="T55" fmla="*/ 2 h 470"/>
                <a:gd name="T56" fmla="*/ 15 w 553"/>
                <a:gd name="T57" fmla="*/ 2 h 470"/>
                <a:gd name="T58" fmla="*/ 15 w 553"/>
                <a:gd name="T59" fmla="*/ 3 h 470"/>
                <a:gd name="T60" fmla="*/ 15 w 553"/>
                <a:gd name="T61" fmla="*/ 3 h 470"/>
                <a:gd name="T62" fmla="*/ 15 w 553"/>
                <a:gd name="T63" fmla="*/ 4 h 470"/>
                <a:gd name="T64" fmla="*/ 15 w 553"/>
                <a:gd name="T65" fmla="*/ 4 h 470"/>
                <a:gd name="T66" fmla="*/ 15 w 553"/>
                <a:gd name="T67" fmla="*/ 4 h 470"/>
                <a:gd name="T68" fmla="*/ 15 w 553"/>
                <a:gd name="T69" fmla="*/ 5 h 470"/>
                <a:gd name="T70" fmla="*/ 14 w 553"/>
                <a:gd name="T71" fmla="*/ 5 h 470"/>
                <a:gd name="T72" fmla="*/ 11 w 553"/>
                <a:gd name="T73" fmla="*/ 4 h 470"/>
                <a:gd name="T74" fmla="*/ 11 w 553"/>
                <a:gd name="T75" fmla="*/ 4 h 470"/>
                <a:gd name="T76" fmla="*/ 11 w 553"/>
                <a:gd name="T77" fmla="*/ 4 h 470"/>
                <a:gd name="T78" fmla="*/ 12 w 553"/>
                <a:gd name="T79" fmla="*/ 4 h 470"/>
                <a:gd name="T80" fmla="*/ 13 w 553"/>
                <a:gd name="T81" fmla="*/ 4 h 470"/>
                <a:gd name="T82" fmla="*/ 13 w 553"/>
                <a:gd name="T83" fmla="*/ 4 h 470"/>
                <a:gd name="T84" fmla="*/ 13 w 553"/>
                <a:gd name="T85" fmla="*/ 3 h 470"/>
                <a:gd name="T86" fmla="*/ 12 w 553"/>
                <a:gd name="T87" fmla="*/ 3 h 470"/>
                <a:gd name="T88" fmla="*/ 11 w 553"/>
                <a:gd name="T89" fmla="*/ 3 h 470"/>
                <a:gd name="T90" fmla="*/ 11 w 553"/>
                <a:gd name="T91" fmla="*/ 2 h 470"/>
                <a:gd name="T92" fmla="*/ 10 w 553"/>
                <a:gd name="T93" fmla="*/ 2 h 470"/>
                <a:gd name="T94" fmla="*/ 9 w 553"/>
                <a:gd name="T95" fmla="*/ 2 h 470"/>
                <a:gd name="T96" fmla="*/ 7 w 553"/>
                <a:gd name="T97" fmla="*/ 1 h 47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53"/>
                <a:gd name="T148" fmla="*/ 0 h 470"/>
                <a:gd name="T149" fmla="*/ 553 w 553"/>
                <a:gd name="T150" fmla="*/ 470 h 47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53" h="470">
                  <a:moveTo>
                    <a:pt x="262" y="122"/>
                  </a:moveTo>
                  <a:lnTo>
                    <a:pt x="250" y="114"/>
                  </a:lnTo>
                  <a:lnTo>
                    <a:pt x="237" y="106"/>
                  </a:lnTo>
                  <a:lnTo>
                    <a:pt x="223" y="98"/>
                  </a:lnTo>
                  <a:lnTo>
                    <a:pt x="209" y="92"/>
                  </a:lnTo>
                  <a:lnTo>
                    <a:pt x="196" y="89"/>
                  </a:lnTo>
                  <a:lnTo>
                    <a:pt x="186" y="89"/>
                  </a:lnTo>
                  <a:lnTo>
                    <a:pt x="179" y="95"/>
                  </a:lnTo>
                  <a:lnTo>
                    <a:pt x="177" y="106"/>
                  </a:lnTo>
                  <a:lnTo>
                    <a:pt x="175" y="117"/>
                  </a:lnTo>
                  <a:lnTo>
                    <a:pt x="172" y="127"/>
                  </a:lnTo>
                  <a:lnTo>
                    <a:pt x="167" y="136"/>
                  </a:lnTo>
                  <a:lnTo>
                    <a:pt x="162" y="144"/>
                  </a:lnTo>
                  <a:lnTo>
                    <a:pt x="155" y="153"/>
                  </a:lnTo>
                  <a:lnTo>
                    <a:pt x="147" y="162"/>
                  </a:lnTo>
                  <a:lnTo>
                    <a:pt x="139" y="168"/>
                  </a:lnTo>
                  <a:lnTo>
                    <a:pt x="129" y="176"/>
                  </a:lnTo>
                  <a:lnTo>
                    <a:pt x="115" y="170"/>
                  </a:lnTo>
                  <a:lnTo>
                    <a:pt x="97" y="160"/>
                  </a:lnTo>
                  <a:lnTo>
                    <a:pt x="75" y="149"/>
                  </a:lnTo>
                  <a:lnTo>
                    <a:pt x="53" y="136"/>
                  </a:lnTo>
                  <a:lnTo>
                    <a:pt x="34" y="125"/>
                  </a:lnTo>
                  <a:lnTo>
                    <a:pt x="16" y="114"/>
                  </a:lnTo>
                  <a:lnTo>
                    <a:pt x="5" y="107"/>
                  </a:lnTo>
                  <a:lnTo>
                    <a:pt x="0" y="105"/>
                  </a:lnTo>
                  <a:lnTo>
                    <a:pt x="8" y="90"/>
                  </a:lnTo>
                  <a:lnTo>
                    <a:pt x="19" y="73"/>
                  </a:lnTo>
                  <a:lnTo>
                    <a:pt x="31" y="57"/>
                  </a:lnTo>
                  <a:lnTo>
                    <a:pt x="46" y="41"/>
                  </a:lnTo>
                  <a:lnTo>
                    <a:pt x="62" y="26"/>
                  </a:lnTo>
                  <a:lnTo>
                    <a:pt x="80" y="13"/>
                  </a:lnTo>
                  <a:lnTo>
                    <a:pt x="98" y="5"/>
                  </a:lnTo>
                  <a:lnTo>
                    <a:pt x="117" y="0"/>
                  </a:lnTo>
                  <a:lnTo>
                    <a:pt x="127" y="0"/>
                  </a:lnTo>
                  <a:lnTo>
                    <a:pt x="137" y="0"/>
                  </a:lnTo>
                  <a:lnTo>
                    <a:pt x="150" y="2"/>
                  </a:lnTo>
                  <a:lnTo>
                    <a:pt x="162" y="3"/>
                  </a:lnTo>
                  <a:lnTo>
                    <a:pt x="175" y="4"/>
                  </a:lnTo>
                  <a:lnTo>
                    <a:pt x="189" y="6"/>
                  </a:lnTo>
                  <a:lnTo>
                    <a:pt x="203" y="10"/>
                  </a:lnTo>
                  <a:lnTo>
                    <a:pt x="218" y="12"/>
                  </a:lnTo>
                  <a:lnTo>
                    <a:pt x="232" y="17"/>
                  </a:lnTo>
                  <a:lnTo>
                    <a:pt x="247" y="20"/>
                  </a:lnTo>
                  <a:lnTo>
                    <a:pt x="262" y="25"/>
                  </a:lnTo>
                  <a:lnTo>
                    <a:pt x="276" y="29"/>
                  </a:lnTo>
                  <a:lnTo>
                    <a:pt x="291" y="34"/>
                  </a:lnTo>
                  <a:lnTo>
                    <a:pt x="303" y="40"/>
                  </a:lnTo>
                  <a:lnTo>
                    <a:pt x="317" y="45"/>
                  </a:lnTo>
                  <a:lnTo>
                    <a:pt x="330" y="51"/>
                  </a:lnTo>
                  <a:lnTo>
                    <a:pt x="351" y="61"/>
                  </a:lnTo>
                  <a:lnTo>
                    <a:pt x="372" y="74"/>
                  </a:lnTo>
                  <a:lnTo>
                    <a:pt x="392" y="89"/>
                  </a:lnTo>
                  <a:lnTo>
                    <a:pt x="414" y="105"/>
                  </a:lnTo>
                  <a:lnTo>
                    <a:pt x="435" y="124"/>
                  </a:lnTo>
                  <a:lnTo>
                    <a:pt x="456" y="144"/>
                  </a:lnTo>
                  <a:lnTo>
                    <a:pt x="477" y="167"/>
                  </a:lnTo>
                  <a:lnTo>
                    <a:pt x="497" y="193"/>
                  </a:lnTo>
                  <a:lnTo>
                    <a:pt x="509" y="210"/>
                  </a:lnTo>
                  <a:lnTo>
                    <a:pt x="518" y="228"/>
                  </a:lnTo>
                  <a:lnTo>
                    <a:pt x="527" y="249"/>
                  </a:lnTo>
                  <a:lnTo>
                    <a:pt x="535" y="269"/>
                  </a:lnTo>
                  <a:lnTo>
                    <a:pt x="542" y="288"/>
                  </a:lnTo>
                  <a:lnTo>
                    <a:pt x="547" y="305"/>
                  </a:lnTo>
                  <a:lnTo>
                    <a:pt x="550" y="321"/>
                  </a:lnTo>
                  <a:lnTo>
                    <a:pt x="553" y="334"/>
                  </a:lnTo>
                  <a:lnTo>
                    <a:pt x="553" y="356"/>
                  </a:lnTo>
                  <a:lnTo>
                    <a:pt x="549" y="378"/>
                  </a:lnTo>
                  <a:lnTo>
                    <a:pt x="545" y="399"/>
                  </a:lnTo>
                  <a:lnTo>
                    <a:pt x="538" y="419"/>
                  </a:lnTo>
                  <a:lnTo>
                    <a:pt x="527" y="436"/>
                  </a:lnTo>
                  <a:lnTo>
                    <a:pt x="516" y="451"/>
                  </a:lnTo>
                  <a:lnTo>
                    <a:pt x="502" y="463"/>
                  </a:lnTo>
                  <a:lnTo>
                    <a:pt x="487" y="470"/>
                  </a:lnTo>
                  <a:lnTo>
                    <a:pt x="393" y="381"/>
                  </a:lnTo>
                  <a:lnTo>
                    <a:pt x="396" y="370"/>
                  </a:lnTo>
                  <a:lnTo>
                    <a:pt x="400" y="361"/>
                  </a:lnTo>
                  <a:lnTo>
                    <a:pt x="406" y="351"/>
                  </a:lnTo>
                  <a:lnTo>
                    <a:pt x="414" y="343"/>
                  </a:lnTo>
                  <a:lnTo>
                    <a:pt x="422" y="338"/>
                  </a:lnTo>
                  <a:lnTo>
                    <a:pt x="433" y="332"/>
                  </a:lnTo>
                  <a:lnTo>
                    <a:pt x="444" y="326"/>
                  </a:lnTo>
                  <a:lnTo>
                    <a:pt x="457" y="323"/>
                  </a:lnTo>
                  <a:lnTo>
                    <a:pt x="459" y="317"/>
                  </a:lnTo>
                  <a:lnTo>
                    <a:pt x="458" y="309"/>
                  </a:lnTo>
                  <a:lnTo>
                    <a:pt x="453" y="300"/>
                  </a:lnTo>
                  <a:lnTo>
                    <a:pt x="448" y="289"/>
                  </a:lnTo>
                  <a:lnTo>
                    <a:pt x="441" y="279"/>
                  </a:lnTo>
                  <a:lnTo>
                    <a:pt x="433" y="270"/>
                  </a:lnTo>
                  <a:lnTo>
                    <a:pt x="426" y="260"/>
                  </a:lnTo>
                  <a:lnTo>
                    <a:pt x="419" y="254"/>
                  </a:lnTo>
                  <a:lnTo>
                    <a:pt x="406" y="241"/>
                  </a:lnTo>
                  <a:lnTo>
                    <a:pt x="389" y="225"/>
                  </a:lnTo>
                  <a:lnTo>
                    <a:pt x="369" y="208"/>
                  </a:lnTo>
                  <a:lnTo>
                    <a:pt x="347" y="188"/>
                  </a:lnTo>
                  <a:lnTo>
                    <a:pt x="324" y="170"/>
                  </a:lnTo>
                  <a:lnTo>
                    <a:pt x="302" y="152"/>
                  </a:lnTo>
                  <a:lnTo>
                    <a:pt x="280" y="136"/>
                  </a:lnTo>
                  <a:lnTo>
                    <a:pt x="262" y="122"/>
                  </a:lnTo>
                  <a:close/>
                </a:path>
              </a:pathLst>
            </a:custGeom>
            <a:solidFill>
              <a:srgbClr val="FF0000"/>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6" name="Line 8"/>
            <p:cNvSpPr>
              <a:spLocks noChangeShapeType="1"/>
            </p:cNvSpPr>
            <p:nvPr/>
          </p:nvSpPr>
          <p:spPr bwMode="auto">
            <a:xfrm>
              <a:off x="676" y="1569"/>
              <a:ext cx="53" cy="53"/>
            </a:xfrm>
            <a:prstGeom prst="line">
              <a:avLst/>
            </a:prstGeom>
            <a:noFill/>
            <a:ln w="0">
              <a:solidFill>
                <a:srgbClr val="FFFFFF"/>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7" name="Line 9"/>
            <p:cNvSpPr>
              <a:spLocks noChangeShapeType="1"/>
            </p:cNvSpPr>
            <p:nvPr/>
          </p:nvSpPr>
          <p:spPr bwMode="auto">
            <a:xfrm>
              <a:off x="481" y="1434"/>
              <a:ext cx="68" cy="38"/>
            </a:xfrm>
            <a:prstGeom prst="line">
              <a:avLst/>
            </a:prstGeom>
            <a:noFill/>
            <a:ln w="0">
              <a:solidFill>
                <a:srgbClr val="FFFFFF"/>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8" name="Freeform 10"/>
            <p:cNvSpPr/>
            <p:nvPr/>
          </p:nvSpPr>
          <p:spPr bwMode="auto">
            <a:xfrm>
              <a:off x="433" y="1508"/>
              <a:ext cx="264" cy="133"/>
            </a:xfrm>
            <a:custGeom>
              <a:avLst/>
              <a:gdLst>
                <a:gd name="T0" fmla="*/ 1 w 529"/>
                <a:gd name="T1" fmla="*/ 1 h 266"/>
                <a:gd name="T2" fmla="*/ 1 w 529"/>
                <a:gd name="T3" fmla="*/ 1 h 266"/>
                <a:gd name="T4" fmla="*/ 0 w 529"/>
                <a:gd name="T5" fmla="*/ 1 h 266"/>
                <a:gd name="T6" fmla="*/ 0 w 529"/>
                <a:gd name="T7" fmla="*/ 1 h 266"/>
                <a:gd name="T8" fmla="*/ 0 w 529"/>
                <a:gd name="T9" fmla="*/ 1 h 266"/>
                <a:gd name="T10" fmla="*/ 0 w 529"/>
                <a:gd name="T11" fmla="*/ 1 h 266"/>
                <a:gd name="T12" fmla="*/ 0 w 529"/>
                <a:gd name="T13" fmla="*/ 1 h 266"/>
                <a:gd name="T14" fmla="*/ 0 w 529"/>
                <a:gd name="T15" fmla="*/ 1 h 266"/>
                <a:gd name="T16" fmla="*/ 0 w 529"/>
                <a:gd name="T17" fmla="*/ 1 h 266"/>
                <a:gd name="T18" fmla="*/ 0 w 529"/>
                <a:gd name="T19" fmla="*/ 1 h 266"/>
                <a:gd name="T20" fmla="*/ 0 w 529"/>
                <a:gd name="T21" fmla="*/ 1 h 266"/>
                <a:gd name="T22" fmla="*/ 0 w 529"/>
                <a:gd name="T23" fmla="*/ 1 h 266"/>
                <a:gd name="T24" fmla="*/ 0 w 529"/>
                <a:gd name="T25" fmla="*/ 0 h 266"/>
                <a:gd name="T26" fmla="*/ 0 w 529"/>
                <a:gd name="T27" fmla="*/ 1 h 266"/>
                <a:gd name="T28" fmla="*/ 0 w 529"/>
                <a:gd name="T29" fmla="*/ 1 h 266"/>
                <a:gd name="T30" fmla="*/ 0 w 529"/>
                <a:gd name="T31" fmla="*/ 1 h 266"/>
                <a:gd name="T32" fmla="*/ 0 w 529"/>
                <a:gd name="T33" fmla="*/ 1 h 266"/>
                <a:gd name="T34" fmla="*/ 0 w 529"/>
                <a:gd name="T35" fmla="*/ 1 h 266"/>
                <a:gd name="T36" fmla="*/ 0 w 529"/>
                <a:gd name="T37" fmla="*/ 1 h 266"/>
                <a:gd name="T38" fmla="*/ 0 w 529"/>
                <a:gd name="T39" fmla="*/ 1 h 266"/>
                <a:gd name="T40" fmla="*/ 0 w 529"/>
                <a:gd name="T41" fmla="*/ 1 h 266"/>
                <a:gd name="T42" fmla="*/ 0 w 529"/>
                <a:gd name="T43" fmla="*/ 1 h 266"/>
                <a:gd name="T44" fmla="*/ 0 w 529"/>
                <a:gd name="T45" fmla="*/ 1 h 266"/>
                <a:gd name="T46" fmla="*/ 0 w 529"/>
                <a:gd name="T47" fmla="*/ 1 h 266"/>
                <a:gd name="T48" fmla="*/ 0 w 529"/>
                <a:gd name="T49" fmla="*/ 1 h 266"/>
                <a:gd name="T50" fmla="*/ 0 w 529"/>
                <a:gd name="T51" fmla="*/ 1 h 266"/>
                <a:gd name="T52" fmla="*/ 0 w 529"/>
                <a:gd name="T53" fmla="*/ 1 h 266"/>
                <a:gd name="T54" fmla="*/ 0 w 529"/>
                <a:gd name="T55" fmla="*/ 1 h 266"/>
                <a:gd name="T56" fmla="*/ 0 w 529"/>
                <a:gd name="T57" fmla="*/ 1 h 266"/>
                <a:gd name="T58" fmla="*/ 0 w 529"/>
                <a:gd name="T59" fmla="*/ 1 h 266"/>
                <a:gd name="T60" fmla="*/ 0 w 529"/>
                <a:gd name="T61" fmla="*/ 1 h 266"/>
                <a:gd name="T62" fmla="*/ 0 w 529"/>
                <a:gd name="T63" fmla="*/ 1 h 266"/>
                <a:gd name="T64" fmla="*/ 1 w 529"/>
                <a:gd name="T65" fmla="*/ 1 h 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29"/>
                <a:gd name="T100" fmla="*/ 0 h 266"/>
                <a:gd name="T101" fmla="*/ 529 w 529"/>
                <a:gd name="T102" fmla="*/ 266 h 2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29" h="266">
                  <a:moveTo>
                    <a:pt x="529" y="266"/>
                  </a:moveTo>
                  <a:lnTo>
                    <a:pt x="527" y="256"/>
                  </a:lnTo>
                  <a:lnTo>
                    <a:pt x="523" y="250"/>
                  </a:lnTo>
                  <a:lnTo>
                    <a:pt x="517" y="245"/>
                  </a:lnTo>
                  <a:lnTo>
                    <a:pt x="509" y="242"/>
                  </a:lnTo>
                  <a:lnTo>
                    <a:pt x="501" y="240"/>
                  </a:lnTo>
                  <a:lnTo>
                    <a:pt x="490" y="235"/>
                  </a:lnTo>
                  <a:lnTo>
                    <a:pt x="480" y="229"/>
                  </a:lnTo>
                  <a:lnTo>
                    <a:pt x="469" y="220"/>
                  </a:lnTo>
                  <a:lnTo>
                    <a:pt x="457" y="208"/>
                  </a:lnTo>
                  <a:lnTo>
                    <a:pt x="447" y="196"/>
                  </a:lnTo>
                  <a:lnTo>
                    <a:pt x="439" y="182"/>
                  </a:lnTo>
                  <a:lnTo>
                    <a:pt x="433" y="166"/>
                  </a:lnTo>
                  <a:lnTo>
                    <a:pt x="429" y="150"/>
                  </a:lnTo>
                  <a:lnTo>
                    <a:pt x="427" y="131"/>
                  </a:lnTo>
                  <a:lnTo>
                    <a:pt x="429" y="113"/>
                  </a:lnTo>
                  <a:lnTo>
                    <a:pt x="434" y="93"/>
                  </a:lnTo>
                  <a:lnTo>
                    <a:pt x="464" y="93"/>
                  </a:lnTo>
                  <a:lnTo>
                    <a:pt x="464" y="49"/>
                  </a:lnTo>
                  <a:lnTo>
                    <a:pt x="425" y="49"/>
                  </a:lnTo>
                  <a:lnTo>
                    <a:pt x="425" y="22"/>
                  </a:lnTo>
                  <a:lnTo>
                    <a:pt x="425" y="18"/>
                  </a:lnTo>
                  <a:lnTo>
                    <a:pt x="422" y="9"/>
                  </a:lnTo>
                  <a:lnTo>
                    <a:pt x="415" y="5"/>
                  </a:lnTo>
                  <a:lnTo>
                    <a:pt x="406" y="1"/>
                  </a:lnTo>
                  <a:lnTo>
                    <a:pt x="395" y="0"/>
                  </a:lnTo>
                  <a:lnTo>
                    <a:pt x="383" y="1"/>
                  </a:lnTo>
                  <a:lnTo>
                    <a:pt x="374" y="5"/>
                  </a:lnTo>
                  <a:lnTo>
                    <a:pt x="367" y="9"/>
                  </a:lnTo>
                  <a:lnTo>
                    <a:pt x="365" y="18"/>
                  </a:lnTo>
                  <a:lnTo>
                    <a:pt x="366" y="22"/>
                  </a:lnTo>
                  <a:lnTo>
                    <a:pt x="366" y="49"/>
                  </a:lnTo>
                  <a:lnTo>
                    <a:pt x="147" y="49"/>
                  </a:lnTo>
                  <a:lnTo>
                    <a:pt x="147" y="22"/>
                  </a:lnTo>
                  <a:lnTo>
                    <a:pt x="144" y="14"/>
                  </a:lnTo>
                  <a:lnTo>
                    <a:pt x="137" y="9"/>
                  </a:lnTo>
                  <a:lnTo>
                    <a:pt x="128" y="6"/>
                  </a:lnTo>
                  <a:lnTo>
                    <a:pt x="118" y="6"/>
                  </a:lnTo>
                  <a:lnTo>
                    <a:pt x="107" y="7"/>
                  </a:lnTo>
                  <a:lnTo>
                    <a:pt x="98" y="11"/>
                  </a:lnTo>
                  <a:lnTo>
                    <a:pt x="91" y="15"/>
                  </a:lnTo>
                  <a:lnTo>
                    <a:pt x="89" y="22"/>
                  </a:lnTo>
                  <a:lnTo>
                    <a:pt x="89" y="51"/>
                  </a:lnTo>
                  <a:lnTo>
                    <a:pt x="53" y="51"/>
                  </a:lnTo>
                  <a:lnTo>
                    <a:pt x="53" y="93"/>
                  </a:lnTo>
                  <a:lnTo>
                    <a:pt x="57" y="93"/>
                  </a:lnTo>
                  <a:lnTo>
                    <a:pt x="65" y="93"/>
                  </a:lnTo>
                  <a:lnTo>
                    <a:pt x="75" y="93"/>
                  </a:lnTo>
                  <a:lnTo>
                    <a:pt x="87" y="93"/>
                  </a:lnTo>
                  <a:lnTo>
                    <a:pt x="91" y="107"/>
                  </a:lnTo>
                  <a:lnTo>
                    <a:pt x="94" y="122"/>
                  </a:lnTo>
                  <a:lnTo>
                    <a:pt x="94" y="139"/>
                  </a:lnTo>
                  <a:lnTo>
                    <a:pt x="91" y="157"/>
                  </a:lnTo>
                  <a:lnTo>
                    <a:pt x="86" y="174"/>
                  </a:lnTo>
                  <a:lnTo>
                    <a:pt x="79" y="190"/>
                  </a:lnTo>
                  <a:lnTo>
                    <a:pt x="69" y="206"/>
                  </a:lnTo>
                  <a:lnTo>
                    <a:pt x="57" y="220"/>
                  </a:lnTo>
                  <a:lnTo>
                    <a:pt x="45" y="229"/>
                  </a:lnTo>
                  <a:lnTo>
                    <a:pt x="35" y="236"/>
                  </a:lnTo>
                  <a:lnTo>
                    <a:pt x="26" y="241"/>
                  </a:lnTo>
                  <a:lnTo>
                    <a:pt x="17" y="244"/>
                  </a:lnTo>
                  <a:lnTo>
                    <a:pt x="11" y="248"/>
                  </a:lnTo>
                  <a:lnTo>
                    <a:pt x="5" y="251"/>
                  </a:lnTo>
                  <a:lnTo>
                    <a:pt x="1" y="257"/>
                  </a:lnTo>
                  <a:lnTo>
                    <a:pt x="0" y="266"/>
                  </a:lnTo>
                  <a:lnTo>
                    <a:pt x="529" y="266"/>
                  </a:lnTo>
                  <a:close/>
                </a:path>
              </a:pathLst>
            </a:custGeom>
            <a:solidFill>
              <a:srgbClr val="FF0000"/>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9" name="Freeform 11"/>
            <p:cNvSpPr/>
            <p:nvPr/>
          </p:nvSpPr>
          <p:spPr bwMode="auto">
            <a:xfrm>
              <a:off x="558" y="1547"/>
              <a:ext cx="40" cy="39"/>
            </a:xfrm>
            <a:custGeom>
              <a:avLst/>
              <a:gdLst>
                <a:gd name="T0" fmla="*/ 1 w 79"/>
                <a:gd name="T1" fmla="*/ 0 h 80"/>
                <a:gd name="T2" fmla="*/ 1 w 79"/>
                <a:gd name="T3" fmla="*/ 0 h 80"/>
                <a:gd name="T4" fmla="*/ 1 w 79"/>
                <a:gd name="T5" fmla="*/ 0 h 80"/>
                <a:gd name="T6" fmla="*/ 1 w 79"/>
                <a:gd name="T7" fmla="*/ 0 h 80"/>
                <a:gd name="T8" fmla="*/ 1 w 79"/>
                <a:gd name="T9" fmla="*/ 0 h 80"/>
                <a:gd name="T10" fmla="*/ 1 w 79"/>
                <a:gd name="T11" fmla="*/ 0 h 80"/>
                <a:gd name="T12" fmla="*/ 1 w 79"/>
                <a:gd name="T13" fmla="*/ 0 h 80"/>
                <a:gd name="T14" fmla="*/ 1 w 79"/>
                <a:gd name="T15" fmla="*/ 0 h 80"/>
                <a:gd name="T16" fmla="*/ 1 w 79"/>
                <a:gd name="T17" fmla="*/ 0 h 80"/>
                <a:gd name="T18" fmla="*/ 0 w 79"/>
                <a:gd name="T19" fmla="*/ 0 h 80"/>
                <a:gd name="T20" fmla="*/ 0 w 79"/>
                <a:gd name="T21" fmla="*/ 0 h 80"/>
                <a:gd name="T22" fmla="*/ 1 w 79"/>
                <a:gd name="T23" fmla="*/ 0 h 80"/>
                <a:gd name="T24" fmla="*/ 1 w 79"/>
                <a:gd name="T25" fmla="*/ 0 h 80"/>
                <a:gd name="T26" fmla="*/ 1 w 79"/>
                <a:gd name="T27" fmla="*/ 0 h 80"/>
                <a:gd name="T28" fmla="*/ 1 w 79"/>
                <a:gd name="T29" fmla="*/ 0 h 80"/>
                <a:gd name="T30" fmla="*/ 1 w 79"/>
                <a:gd name="T31" fmla="*/ 0 h 80"/>
                <a:gd name="T32" fmla="*/ 1 w 79"/>
                <a:gd name="T33" fmla="*/ 0 h 80"/>
                <a:gd name="T34" fmla="*/ 1 w 79"/>
                <a:gd name="T35" fmla="*/ 0 h 80"/>
                <a:gd name="T36" fmla="*/ 1 w 79"/>
                <a:gd name="T37" fmla="*/ 0 h 80"/>
                <a:gd name="T38" fmla="*/ 1 w 79"/>
                <a:gd name="T39" fmla="*/ 0 h 80"/>
                <a:gd name="T40" fmla="*/ 1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80"/>
                <a:gd name="T65" fmla="*/ 79 w 79"/>
                <a:gd name="T66" fmla="*/ 80 h 8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80">
                  <a:moveTo>
                    <a:pt x="79" y="80"/>
                  </a:moveTo>
                  <a:lnTo>
                    <a:pt x="79" y="80"/>
                  </a:lnTo>
                  <a:lnTo>
                    <a:pt x="77" y="65"/>
                  </a:lnTo>
                  <a:lnTo>
                    <a:pt x="72" y="50"/>
                  </a:lnTo>
                  <a:lnTo>
                    <a:pt x="65" y="36"/>
                  </a:lnTo>
                  <a:lnTo>
                    <a:pt x="55" y="23"/>
                  </a:lnTo>
                  <a:lnTo>
                    <a:pt x="44" y="14"/>
                  </a:lnTo>
                  <a:lnTo>
                    <a:pt x="30" y="7"/>
                  </a:lnTo>
                  <a:lnTo>
                    <a:pt x="15" y="3"/>
                  </a:lnTo>
                  <a:lnTo>
                    <a:pt x="0" y="0"/>
                  </a:lnTo>
                  <a:lnTo>
                    <a:pt x="0" y="12"/>
                  </a:lnTo>
                  <a:lnTo>
                    <a:pt x="15" y="12"/>
                  </a:lnTo>
                  <a:lnTo>
                    <a:pt x="27" y="17"/>
                  </a:lnTo>
                  <a:lnTo>
                    <a:pt x="39" y="23"/>
                  </a:lnTo>
                  <a:lnTo>
                    <a:pt x="48" y="30"/>
                  </a:lnTo>
                  <a:lnTo>
                    <a:pt x="56" y="41"/>
                  </a:lnTo>
                  <a:lnTo>
                    <a:pt x="63" y="52"/>
                  </a:lnTo>
                  <a:lnTo>
                    <a:pt x="68" y="65"/>
                  </a:lnTo>
                  <a:lnTo>
                    <a:pt x="68" y="80"/>
                  </a:lnTo>
                  <a:lnTo>
                    <a:pt x="79" y="80"/>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10" name="Freeform 12"/>
            <p:cNvSpPr/>
            <p:nvPr/>
          </p:nvSpPr>
          <p:spPr bwMode="auto">
            <a:xfrm>
              <a:off x="558" y="1586"/>
              <a:ext cx="40" cy="40"/>
            </a:xfrm>
            <a:custGeom>
              <a:avLst/>
              <a:gdLst>
                <a:gd name="T0" fmla="*/ 0 w 79"/>
                <a:gd name="T1" fmla="*/ 1 h 78"/>
                <a:gd name="T2" fmla="*/ 0 w 79"/>
                <a:gd name="T3" fmla="*/ 1 h 78"/>
                <a:gd name="T4" fmla="*/ 1 w 79"/>
                <a:gd name="T5" fmla="*/ 1 h 78"/>
                <a:gd name="T6" fmla="*/ 1 w 79"/>
                <a:gd name="T7" fmla="*/ 1 h 78"/>
                <a:gd name="T8" fmla="*/ 1 w 79"/>
                <a:gd name="T9" fmla="*/ 1 h 78"/>
                <a:gd name="T10" fmla="*/ 1 w 79"/>
                <a:gd name="T11" fmla="*/ 1 h 78"/>
                <a:gd name="T12" fmla="*/ 1 w 79"/>
                <a:gd name="T13" fmla="*/ 1 h 78"/>
                <a:gd name="T14" fmla="*/ 1 w 79"/>
                <a:gd name="T15" fmla="*/ 1 h 78"/>
                <a:gd name="T16" fmla="*/ 1 w 79"/>
                <a:gd name="T17" fmla="*/ 1 h 78"/>
                <a:gd name="T18" fmla="*/ 1 w 79"/>
                <a:gd name="T19" fmla="*/ 0 h 78"/>
                <a:gd name="T20" fmla="*/ 1 w 79"/>
                <a:gd name="T21" fmla="*/ 0 h 78"/>
                <a:gd name="T22" fmla="*/ 1 w 79"/>
                <a:gd name="T23" fmla="*/ 1 h 78"/>
                <a:gd name="T24" fmla="*/ 1 w 79"/>
                <a:gd name="T25" fmla="*/ 1 h 78"/>
                <a:gd name="T26" fmla="*/ 1 w 79"/>
                <a:gd name="T27" fmla="*/ 1 h 78"/>
                <a:gd name="T28" fmla="*/ 1 w 79"/>
                <a:gd name="T29" fmla="*/ 1 h 78"/>
                <a:gd name="T30" fmla="*/ 1 w 79"/>
                <a:gd name="T31" fmla="*/ 1 h 78"/>
                <a:gd name="T32" fmla="*/ 1 w 79"/>
                <a:gd name="T33" fmla="*/ 1 h 78"/>
                <a:gd name="T34" fmla="*/ 1 w 79"/>
                <a:gd name="T35" fmla="*/ 1 h 78"/>
                <a:gd name="T36" fmla="*/ 0 w 79"/>
                <a:gd name="T37" fmla="*/ 1 h 78"/>
                <a:gd name="T38" fmla="*/ 0 w 79"/>
                <a:gd name="T39" fmla="*/ 1 h 78"/>
                <a:gd name="T40" fmla="*/ 0 w 79"/>
                <a:gd name="T41" fmla="*/ 1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78"/>
                <a:gd name="T65" fmla="*/ 79 w 79"/>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78">
                  <a:moveTo>
                    <a:pt x="0" y="78"/>
                  </a:moveTo>
                  <a:lnTo>
                    <a:pt x="0" y="78"/>
                  </a:lnTo>
                  <a:lnTo>
                    <a:pt x="15" y="76"/>
                  </a:lnTo>
                  <a:lnTo>
                    <a:pt x="30" y="71"/>
                  </a:lnTo>
                  <a:lnTo>
                    <a:pt x="44" y="64"/>
                  </a:lnTo>
                  <a:lnTo>
                    <a:pt x="55" y="55"/>
                  </a:lnTo>
                  <a:lnTo>
                    <a:pt x="65" y="42"/>
                  </a:lnTo>
                  <a:lnTo>
                    <a:pt x="72" y="31"/>
                  </a:lnTo>
                  <a:lnTo>
                    <a:pt x="77" y="15"/>
                  </a:lnTo>
                  <a:lnTo>
                    <a:pt x="79" y="0"/>
                  </a:lnTo>
                  <a:lnTo>
                    <a:pt x="68" y="0"/>
                  </a:lnTo>
                  <a:lnTo>
                    <a:pt x="68" y="15"/>
                  </a:lnTo>
                  <a:lnTo>
                    <a:pt x="63" y="26"/>
                  </a:lnTo>
                  <a:lnTo>
                    <a:pt x="56" y="38"/>
                  </a:lnTo>
                  <a:lnTo>
                    <a:pt x="48" y="48"/>
                  </a:lnTo>
                  <a:lnTo>
                    <a:pt x="39" y="55"/>
                  </a:lnTo>
                  <a:lnTo>
                    <a:pt x="27" y="62"/>
                  </a:lnTo>
                  <a:lnTo>
                    <a:pt x="15" y="67"/>
                  </a:lnTo>
                  <a:lnTo>
                    <a:pt x="0" y="67"/>
                  </a:lnTo>
                  <a:lnTo>
                    <a:pt x="0" y="78"/>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11" name="Freeform 13"/>
            <p:cNvSpPr/>
            <p:nvPr/>
          </p:nvSpPr>
          <p:spPr bwMode="auto">
            <a:xfrm>
              <a:off x="519" y="1586"/>
              <a:ext cx="39" cy="40"/>
            </a:xfrm>
            <a:custGeom>
              <a:avLst/>
              <a:gdLst>
                <a:gd name="T0" fmla="*/ 0 w 79"/>
                <a:gd name="T1" fmla="*/ 0 h 78"/>
                <a:gd name="T2" fmla="*/ 0 w 79"/>
                <a:gd name="T3" fmla="*/ 0 h 78"/>
                <a:gd name="T4" fmla="*/ 0 w 79"/>
                <a:gd name="T5" fmla="*/ 1 h 78"/>
                <a:gd name="T6" fmla="*/ 0 w 79"/>
                <a:gd name="T7" fmla="*/ 1 h 78"/>
                <a:gd name="T8" fmla="*/ 0 w 79"/>
                <a:gd name="T9" fmla="*/ 1 h 78"/>
                <a:gd name="T10" fmla="*/ 0 w 79"/>
                <a:gd name="T11" fmla="*/ 1 h 78"/>
                <a:gd name="T12" fmla="*/ 0 w 79"/>
                <a:gd name="T13" fmla="*/ 1 h 78"/>
                <a:gd name="T14" fmla="*/ 0 w 79"/>
                <a:gd name="T15" fmla="*/ 1 h 78"/>
                <a:gd name="T16" fmla="*/ 0 w 79"/>
                <a:gd name="T17" fmla="*/ 1 h 78"/>
                <a:gd name="T18" fmla="*/ 0 w 79"/>
                <a:gd name="T19" fmla="*/ 1 h 78"/>
                <a:gd name="T20" fmla="*/ 0 w 79"/>
                <a:gd name="T21" fmla="*/ 1 h 78"/>
                <a:gd name="T22" fmla="*/ 0 w 79"/>
                <a:gd name="T23" fmla="*/ 1 h 78"/>
                <a:gd name="T24" fmla="*/ 0 w 79"/>
                <a:gd name="T25" fmla="*/ 1 h 78"/>
                <a:gd name="T26" fmla="*/ 0 w 79"/>
                <a:gd name="T27" fmla="*/ 1 h 78"/>
                <a:gd name="T28" fmla="*/ 0 w 79"/>
                <a:gd name="T29" fmla="*/ 1 h 78"/>
                <a:gd name="T30" fmla="*/ 0 w 79"/>
                <a:gd name="T31" fmla="*/ 1 h 78"/>
                <a:gd name="T32" fmla="*/ 0 w 79"/>
                <a:gd name="T33" fmla="*/ 1 h 78"/>
                <a:gd name="T34" fmla="*/ 0 w 79"/>
                <a:gd name="T35" fmla="*/ 1 h 78"/>
                <a:gd name="T36" fmla="*/ 0 w 79"/>
                <a:gd name="T37" fmla="*/ 0 h 78"/>
                <a:gd name="T38" fmla="*/ 0 w 79"/>
                <a:gd name="T39" fmla="*/ 0 h 78"/>
                <a:gd name="T40" fmla="*/ 0 w 79"/>
                <a:gd name="T41" fmla="*/ 0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78"/>
                <a:gd name="T65" fmla="*/ 79 w 79"/>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78">
                  <a:moveTo>
                    <a:pt x="0" y="0"/>
                  </a:moveTo>
                  <a:lnTo>
                    <a:pt x="0" y="0"/>
                  </a:lnTo>
                  <a:lnTo>
                    <a:pt x="3" y="15"/>
                  </a:lnTo>
                  <a:lnTo>
                    <a:pt x="7" y="31"/>
                  </a:lnTo>
                  <a:lnTo>
                    <a:pt x="14" y="42"/>
                  </a:lnTo>
                  <a:lnTo>
                    <a:pt x="23" y="55"/>
                  </a:lnTo>
                  <a:lnTo>
                    <a:pt x="36" y="64"/>
                  </a:lnTo>
                  <a:lnTo>
                    <a:pt x="48" y="71"/>
                  </a:lnTo>
                  <a:lnTo>
                    <a:pt x="64" y="76"/>
                  </a:lnTo>
                  <a:lnTo>
                    <a:pt x="79" y="78"/>
                  </a:lnTo>
                  <a:lnTo>
                    <a:pt x="79" y="67"/>
                  </a:lnTo>
                  <a:lnTo>
                    <a:pt x="64" y="67"/>
                  </a:lnTo>
                  <a:lnTo>
                    <a:pt x="52" y="62"/>
                  </a:lnTo>
                  <a:lnTo>
                    <a:pt x="41" y="55"/>
                  </a:lnTo>
                  <a:lnTo>
                    <a:pt x="30" y="48"/>
                  </a:lnTo>
                  <a:lnTo>
                    <a:pt x="23" y="38"/>
                  </a:lnTo>
                  <a:lnTo>
                    <a:pt x="16" y="26"/>
                  </a:lnTo>
                  <a:lnTo>
                    <a:pt x="12" y="15"/>
                  </a:lnTo>
                  <a:lnTo>
                    <a:pt x="12" y="0"/>
                  </a:lnTo>
                  <a:lnTo>
                    <a:pt x="0" y="0"/>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12" name="Freeform 14"/>
            <p:cNvSpPr/>
            <p:nvPr/>
          </p:nvSpPr>
          <p:spPr bwMode="auto">
            <a:xfrm>
              <a:off x="519" y="1547"/>
              <a:ext cx="39" cy="39"/>
            </a:xfrm>
            <a:custGeom>
              <a:avLst/>
              <a:gdLst>
                <a:gd name="T0" fmla="*/ 0 w 79"/>
                <a:gd name="T1" fmla="*/ 0 h 80"/>
                <a:gd name="T2" fmla="*/ 0 w 79"/>
                <a:gd name="T3" fmla="*/ 0 h 80"/>
                <a:gd name="T4" fmla="*/ 0 w 79"/>
                <a:gd name="T5" fmla="*/ 0 h 80"/>
                <a:gd name="T6" fmla="*/ 0 w 79"/>
                <a:gd name="T7" fmla="*/ 0 h 80"/>
                <a:gd name="T8" fmla="*/ 0 w 79"/>
                <a:gd name="T9" fmla="*/ 0 h 80"/>
                <a:gd name="T10" fmla="*/ 0 w 79"/>
                <a:gd name="T11" fmla="*/ 0 h 80"/>
                <a:gd name="T12" fmla="*/ 0 w 79"/>
                <a:gd name="T13" fmla="*/ 0 h 80"/>
                <a:gd name="T14" fmla="*/ 0 w 79"/>
                <a:gd name="T15" fmla="*/ 0 h 80"/>
                <a:gd name="T16" fmla="*/ 0 w 79"/>
                <a:gd name="T17" fmla="*/ 0 h 80"/>
                <a:gd name="T18" fmla="*/ 0 w 79"/>
                <a:gd name="T19" fmla="*/ 0 h 80"/>
                <a:gd name="T20" fmla="*/ 0 w 79"/>
                <a:gd name="T21" fmla="*/ 0 h 80"/>
                <a:gd name="T22" fmla="*/ 0 w 79"/>
                <a:gd name="T23" fmla="*/ 0 h 80"/>
                <a:gd name="T24" fmla="*/ 0 w 79"/>
                <a:gd name="T25" fmla="*/ 0 h 80"/>
                <a:gd name="T26" fmla="*/ 0 w 79"/>
                <a:gd name="T27" fmla="*/ 0 h 80"/>
                <a:gd name="T28" fmla="*/ 0 w 79"/>
                <a:gd name="T29" fmla="*/ 0 h 80"/>
                <a:gd name="T30" fmla="*/ 0 w 79"/>
                <a:gd name="T31" fmla="*/ 0 h 80"/>
                <a:gd name="T32" fmla="*/ 0 w 79"/>
                <a:gd name="T33" fmla="*/ 0 h 80"/>
                <a:gd name="T34" fmla="*/ 0 w 79"/>
                <a:gd name="T35" fmla="*/ 0 h 80"/>
                <a:gd name="T36" fmla="*/ 0 w 79"/>
                <a:gd name="T37" fmla="*/ 0 h 80"/>
                <a:gd name="T38" fmla="*/ 0 w 79"/>
                <a:gd name="T39" fmla="*/ 0 h 80"/>
                <a:gd name="T40" fmla="*/ 0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80"/>
                <a:gd name="T65" fmla="*/ 79 w 79"/>
                <a:gd name="T66" fmla="*/ 80 h 8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80">
                  <a:moveTo>
                    <a:pt x="79" y="0"/>
                  </a:moveTo>
                  <a:lnTo>
                    <a:pt x="79" y="0"/>
                  </a:lnTo>
                  <a:lnTo>
                    <a:pt x="64" y="3"/>
                  </a:lnTo>
                  <a:lnTo>
                    <a:pt x="48" y="7"/>
                  </a:lnTo>
                  <a:lnTo>
                    <a:pt x="36" y="14"/>
                  </a:lnTo>
                  <a:lnTo>
                    <a:pt x="23" y="23"/>
                  </a:lnTo>
                  <a:lnTo>
                    <a:pt x="14" y="36"/>
                  </a:lnTo>
                  <a:lnTo>
                    <a:pt x="7" y="50"/>
                  </a:lnTo>
                  <a:lnTo>
                    <a:pt x="3" y="65"/>
                  </a:lnTo>
                  <a:lnTo>
                    <a:pt x="0" y="80"/>
                  </a:lnTo>
                  <a:lnTo>
                    <a:pt x="12" y="80"/>
                  </a:lnTo>
                  <a:lnTo>
                    <a:pt x="12" y="65"/>
                  </a:lnTo>
                  <a:lnTo>
                    <a:pt x="16" y="52"/>
                  </a:lnTo>
                  <a:lnTo>
                    <a:pt x="23" y="41"/>
                  </a:lnTo>
                  <a:lnTo>
                    <a:pt x="30" y="30"/>
                  </a:lnTo>
                  <a:lnTo>
                    <a:pt x="41" y="23"/>
                  </a:lnTo>
                  <a:lnTo>
                    <a:pt x="52" y="17"/>
                  </a:lnTo>
                  <a:lnTo>
                    <a:pt x="64" y="12"/>
                  </a:lnTo>
                  <a:lnTo>
                    <a:pt x="79" y="12"/>
                  </a:lnTo>
                  <a:lnTo>
                    <a:pt x="79" y="0"/>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13" name="Rectangle 15"/>
            <p:cNvSpPr>
              <a:spLocks noChangeArrowheads="1"/>
            </p:cNvSpPr>
            <p:nvPr/>
          </p:nvSpPr>
          <p:spPr bwMode="auto">
            <a:xfrm>
              <a:off x="432" y="1641"/>
              <a:ext cx="265" cy="10"/>
            </a:xfrm>
            <a:prstGeom prst="rect">
              <a:avLst/>
            </a:prstGeom>
            <a:solidFill>
              <a:srgbClr val="FFFFFF"/>
            </a:solidFill>
            <a:ln w="9525">
              <a:noFill/>
              <a:miter lim="800000"/>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
        <p:nvSpPr>
          <p:cNvPr id="114" name="Rectangle 16"/>
          <p:cNvSpPr>
            <a:spLocks noChangeArrowheads="1"/>
          </p:cNvSpPr>
          <p:nvPr/>
        </p:nvSpPr>
        <p:spPr bwMode="auto">
          <a:xfrm>
            <a:off x="2131727" y="4429125"/>
            <a:ext cx="841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0"/>
              </a:spcBef>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Central </a:t>
            </a:r>
          </a:p>
          <a:p>
            <a:pPr algn="ctr">
              <a:spcBef>
                <a:spcPct val="0"/>
              </a:spcBef>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Office</a:t>
            </a:r>
          </a:p>
          <a:p>
            <a:pPr algn="ctr">
              <a:spcBef>
                <a:spcPct val="0"/>
              </a:spcBef>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“C.O.”</a:t>
            </a:r>
          </a:p>
        </p:txBody>
      </p:sp>
      <p:pic>
        <p:nvPicPr>
          <p:cNvPr id="115" name="Picture 17" descr="bl00194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3927" y="4810125"/>
            <a:ext cx="785813"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 name="Text Box 18"/>
          <p:cNvSpPr txBox="1">
            <a:spLocks noChangeArrowheads="1"/>
          </p:cNvSpPr>
          <p:nvPr/>
        </p:nvSpPr>
        <p:spPr bwMode="auto">
          <a:xfrm>
            <a:off x="7511765" y="3390900"/>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kumimoji="0" lang="en-US" altLang="zh-CN" sz="1600" dirty="0">
                <a:ea typeface="宋体" panose="02010600030101010101" pitchFamily="2" charset="-122"/>
                <a:cs typeface="Times New Roman" panose="02020603050405020304" pitchFamily="18" charset="0"/>
              </a:rPr>
              <a:t>Destination</a:t>
            </a:r>
          </a:p>
          <a:p>
            <a:pPr algn="ctr">
              <a:spcBef>
                <a:spcPct val="0"/>
              </a:spcBef>
              <a:buFontTx/>
              <a:buNone/>
            </a:pPr>
            <a:r>
              <a:rPr kumimoji="0" lang="en-US" altLang="zh-CN" sz="1600" dirty="0">
                <a:ea typeface="宋体" panose="02010600030101010101" pitchFamily="2" charset="-122"/>
                <a:cs typeface="Times New Roman" panose="02020603050405020304" pitchFamily="18" charset="0"/>
              </a:rPr>
              <a:t>“</a:t>
            </a:r>
            <a:r>
              <a:rPr kumimoji="0" lang="zh-CN" altLang="en-US" sz="1600" dirty="0">
                <a:ea typeface="宋体" panose="02010600030101010101" pitchFamily="2" charset="-122"/>
                <a:cs typeface="Times New Roman" panose="02020603050405020304" pitchFamily="18" charset="0"/>
              </a:rPr>
              <a:t>被叫端</a:t>
            </a:r>
            <a:r>
              <a:rPr kumimoji="0" lang="en-US" altLang="zh-CN" sz="1600" dirty="0">
                <a:ea typeface="宋体" panose="02010600030101010101" pitchFamily="2" charset="-122"/>
                <a:cs typeface="Times New Roman" panose="02020603050405020304" pitchFamily="18" charset="0"/>
              </a:rPr>
              <a:t>”</a:t>
            </a:r>
          </a:p>
        </p:txBody>
      </p:sp>
      <p:sp>
        <p:nvSpPr>
          <p:cNvPr id="117" name="AutoShape 19"/>
          <p:cNvSpPr>
            <a:spLocks noChangeArrowheads="1"/>
          </p:cNvSpPr>
          <p:nvPr/>
        </p:nvSpPr>
        <p:spPr bwMode="auto">
          <a:xfrm rot="3284493">
            <a:off x="3427127" y="2600325"/>
            <a:ext cx="381000" cy="1600200"/>
          </a:xfrm>
          <a:prstGeom prst="can">
            <a:avLst>
              <a:gd name="adj" fmla="val 42408"/>
            </a:avLst>
          </a:prstGeom>
          <a:solidFill>
            <a:schemeClr val="accent1"/>
          </a:solid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18" name="AutoShape 20"/>
          <p:cNvSpPr>
            <a:spLocks noChangeArrowheads="1"/>
          </p:cNvSpPr>
          <p:nvPr/>
        </p:nvSpPr>
        <p:spPr bwMode="auto">
          <a:xfrm rot="7561455">
            <a:off x="3503327" y="3895725"/>
            <a:ext cx="381000" cy="1600200"/>
          </a:xfrm>
          <a:prstGeom prst="can">
            <a:avLst>
              <a:gd name="adj" fmla="val 42408"/>
            </a:avLst>
          </a:prstGeom>
          <a:solidFill>
            <a:schemeClr val="accent1"/>
          </a:solid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19" name="AutoShape 21"/>
          <p:cNvSpPr>
            <a:spLocks noChangeArrowheads="1"/>
          </p:cNvSpPr>
          <p:nvPr/>
        </p:nvSpPr>
        <p:spPr bwMode="auto">
          <a:xfrm rot="7561455">
            <a:off x="5789327" y="2676525"/>
            <a:ext cx="381000" cy="1600200"/>
          </a:xfrm>
          <a:prstGeom prst="can">
            <a:avLst>
              <a:gd name="adj" fmla="val 42408"/>
            </a:avLst>
          </a:prstGeom>
          <a:solidFill>
            <a:schemeClr val="accent1"/>
          </a:solid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20" name="AutoShape 22"/>
          <p:cNvSpPr>
            <a:spLocks noChangeArrowheads="1"/>
          </p:cNvSpPr>
          <p:nvPr/>
        </p:nvSpPr>
        <p:spPr bwMode="auto">
          <a:xfrm rot="3284493">
            <a:off x="5865527" y="4048125"/>
            <a:ext cx="381000" cy="1600200"/>
          </a:xfrm>
          <a:prstGeom prst="can">
            <a:avLst>
              <a:gd name="adj" fmla="val 42408"/>
            </a:avLst>
          </a:prstGeom>
          <a:solidFill>
            <a:schemeClr val="accent1"/>
          </a:solid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21" name="Rectangle 23"/>
          <p:cNvSpPr>
            <a:spLocks noChangeArrowheads="1"/>
          </p:cNvSpPr>
          <p:nvPr/>
        </p:nvSpPr>
        <p:spPr bwMode="auto">
          <a:xfrm>
            <a:off x="6718015" y="4508500"/>
            <a:ext cx="841375" cy="830263"/>
          </a:xfrm>
          <a:prstGeom prst="rect">
            <a:avLst/>
          </a:prstGeom>
          <a:noFill/>
          <a:ln w="9525">
            <a:noFill/>
            <a:miter lim="800000"/>
          </a:ln>
        </p:spPr>
        <p:txBody>
          <a:bodyPr wrap="none">
            <a:spAutoFit/>
          </a:bodyPr>
          <a:lstStyle/>
          <a:p>
            <a:pPr>
              <a:defRPr/>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Central </a:t>
            </a:r>
          </a:p>
          <a:p>
            <a:pPr>
              <a:defRPr/>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Office</a:t>
            </a:r>
          </a:p>
          <a:p>
            <a:pPr>
              <a:defRPr/>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“C.O.”</a:t>
            </a:r>
          </a:p>
        </p:txBody>
      </p:sp>
      <p:sp>
        <p:nvSpPr>
          <p:cNvPr id="122" name="Text Box 24"/>
          <p:cNvSpPr txBox="1">
            <a:spLocks noChangeArrowheads="1"/>
          </p:cNvSpPr>
          <p:nvPr/>
        </p:nvSpPr>
        <p:spPr bwMode="auto">
          <a:xfrm>
            <a:off x="4341527" y="5734050"/>
            <a:ext cx="993775" cy="584200"/>
          </a:xfrm>
          <a:prstGeom prst="rect">
            <a:avLst/>
          </a:prstGeom>
          <a:noFill/>
          <a:ln w="9525">
            <a:noFill/>
            <a:miter lim="800000"/>
          </a:ln>
        </p:spPr>
        <p:txBody>
          <a:bodyPr wrap="none">
            <a:spAutoFit/>
          </a:bodyPr>
          <a:lstStyle/>
          <a:p>
            <a:pPr algn="ctr">
              <a:defRPr/>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Trunk</a:t>
            </a:r>
          </a:p>
          <a:p>
            <a:pPr algn="ctr">
              <a:defRPr/>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Exchange</a:t>
            </a:r>
          </a:p>
        </p:txBody>
      </p:sp>
      <p:pic>
        <p:nvPicPr>
          <p:cNvPr id="123" name="Picture 25" descr="bl00194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17727" y="2219325"/>
            <a:ext cx="785813"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4" name="Group 26"/>
          <p:cNvGrpSpPr/>
          <p:nvPr/>
        </p:nvGrpSpPr>
        <p:grpSpPr bwMode="auto">
          <a:xfrm>
            <a:off x="1141127" y="2828925"/>
            <a:ext cx="6858000" cy="1219200"/>
            <a:chOff x="528" y="1561"/>
            <a:chExt cx="4320" cy="768"/>
          </a:xfrm>
        </p:grpSpPr>
        <p:sp>
          <p:nvSpPr>
            <p:cNvPr id="125" name="Line 27"/>
            <p:cNvSpPr>
              <a:spLocks noChangeShapeType="1"/>
            </p:cNvSpPr>
            <p:nvPr/>
          </p:nvSpPr>
          <p:spPr bwMode="auto">
            <a:xfrm>
              <a:off x="528" y="1897"/>
              <a:ext cx="720" cy="336"/>
            </a:xfrm>
            <a:prstGeom prst="line">
              <a:avLst/>
            </a:prstGeom>
            <a:no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26" name="Line 28"/>
            <p:cNvSpPr>
              <a:spLocks noChangeShapeType="1"/>
            </p:cNvSpPr>
            <p:nvPr/>
          </p:nvSpPr>
          <p:spPr bwMode="auto">
            <a:xfrm flipV="1">
              <a:off x="4272" y="1801"/>
              <a:ext cx="576" cy="432"/>
            </a:xfrm>
            <a:prstGeom prst="line">
              <a:avLst/>
            </a:prstGeom>
            <a:no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27" name="Line 29"/>
            <p:cNvSpPr>
              <a:spLocks noChangeShapeType="1"/>
            </p:cNvSpPr>
            <p:nvPr/>
          </p:nvSpPr>
          <p:spPr bwMode="auto">
            <a:xfrm flipV="1">
              <a:off x="1584" y="1561"/>
              <a:ext cx="1008" cy="720"/>
            </a:xfrm>
            <a:prstGeom prst="line">
              <a:avLst/>
            </a:prstGeom>
            <a:no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28" name="Line 30"/>
            <p:cNvSpPr>
              <a:spLocks noChangeShapeType="1"/>
            </p:cNvSpPr>
            <p:nvPr/>
          </p:nvSpPr>
          <p:spPr bwMode="auto">
            <a:xfrm flipH="1" flipV="1">
              <a:off x="3072" y="1609"/>
              <a:ext cx="1008" cy="720"/>
            </a:xfrm>
            <a:prstGeom prst="line">
              <a:avLst/>
            </a:prstGeom>
            <a:no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pic>
        <p:nvPicPr>
          <p:cNvPr id="129" name="Picture 3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07927" y="3819525"/>
            <a:ext cx="762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3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03727" y="3895725"/>
            <a:ext cx="762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1" name="Group 33"/>
          <p:cNvGrpSpPr/>
          <p:nvPr/>
        </p:nvGrpSpPr>
        <p:grpSpPr bwMode="auto">
          <a:xfrm>
            <a:off x="531527" y="1341438"/>
            <a:ext cx="6324600" cy="4230687"/>
            <a:chOff x="144" y="624"/>
            <a:chExt cx="3984" cy="2665"/>
          </a:xfrm>
        </p:grpSpPr>
        <p:grpSp>
          <p:nvGrpSpPr>
            <p:cNvPr id="132" name="Group 34"/>
            <p:cNvGrpSpPr/>
            <p:nvPr/>
          </p:nvGrpSpPr>
          <p:grpSpPr bwMode="auto">
            <a:xfrm>
              <a:off x="144" y="624"/>
              <a:ext cx="3984" cy="2665"/>
              <a:chOff x="144" y="624"/>
              <a:chExt cx="3984" cy="2665"/>
            </a:xfrm>
          </p:grpSpPr>
          <p:grpSp>
            <p:nvGrpSpPr>
              <p:cNvPr id="139" name="Group 35"/>
              <p:cNvGrpSpPr/>
              <p:nvPr/>
            </p:nvGrpSpPr>
            <p:grpSpPr bwMode="auto">
              <a:xfrm>
                <a:off x="1584" y="1465"/>
                <a:ext cx="2544" cy="1824"/>
                <a:chOff x="1584" y="1465"/>
                <a:chExt cx="2544" cy="1824"/>
              </a:xfrm>
            </p:grpSpPr>
            <p:grpSp>
              <p:nvGrpSpPr>
                <p:cNvPr id="141" name="Group 36"/>
                <p:cNvGrpSpPr/>
                <p:nvPr/>
              </p:nvGrpSpPr>
              <p:grpSpPr bwMode="auto">
                <a:xfrm>
                  <a:off x="3120" y="2377"/>
                  <a:ext cx="1008" cy="912"/>
                  <a:chOff x="3168" y="2160"/>
                  <a:chExt cx="1008" cy="912"/>
                </a:xfrm>
              </p:grpSpPr>
              <p:sp>
                <p:nvSpPr>
                  <p:cNvPr id="159" name="Line 37"/>
                  <p:cNvSpPr>
                    <a:spLocks noChangeShapeType="1"/>
                  </p:cNvSpPr>
                  <p:nvPr/>
                </p:nvSpPr>
                <p:spPr bwMode="auto">
                  <a:xfrm flipV="1">
                    <a:off x="3168" y="2160"/>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0" name="Line 38"/>
                  <p:cNvSpPr>
                    <a:spLocks noChangeShapeType="1"/>
                  </p:cNvSpPr>
                  <p:nvPr/>
                </p:nvSpPr>
                <p:spPr bwMode="auto">
                  <a:xfrm flipV="1">
                    <a:off x="3168" y="2208"/>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1" name="Line 39"/>
                  <p:cNvSpPr>
                    <a:spLocks noChangeShapeType="1"/>
                  </p:cNvSpPr>
                  <p:nvPr/>
                </p:nvSpPr>
                <p:spPr bwMode="auto">
                  <a:xfrm flipV="1">
                    <a:off x="3168" y="2256"/>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2" name="Line 40"/>
                  <p:cNvSpPr>
                    <a:spLocks noChangeShapeType="1"/>
                  </p:cNvSpPr>
                  <p:nvPr/>
                </p:nvSpPr>
                <p:spPr bwMode="auto">
                  <a:xfrm flipV="1">
                    <a:off x="3168" y="2304"/>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 name="Line 41"/>
                  <p:cNvSpPr>
                    <a:spLocks noChangeShapeType="1"/>
                  </p:cNvSpPr>
                  <p:nvPr/>
                </p:nvSpPr>
                <p:spPr bwMode="auto">
                  <a:xfrm flipV="1">
                    <a:off x="3168" y="2352"/>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2" name="Group 42"/>
                <p:cNvGrpSpPr/>
                <p:nvPr/>
              </p:nvGrpSpPr>
              <p:grpSpPr bwMode="auto">
                <a:xfrm flipH="1">
                  <a:off x="1632" y="2281"/>
                  <a:ext cx="1008" cy="912"/>
                  <a:chOff x="912" y="2736"/>
                  <a:chExt cx="1008" cy="912"/>
                </a:xfrm>
              </p:grpSpPr>
              <p:sp>
                <p:nvSpPr>
                  <p:cNvPr id="154" name="Line 43"/>
                  <p:cNvSpPr>
                    <a:spLocks noChangeShapeType="1"/>
                  </p:cNvSpPr>
                  <p:nvPr/>
                </p:nvSpPr>
                <p:spPr bwMode="auto">
                  <a:xfrm flipV="1">
                    <a:off x="912" y="2736"/>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5" name="Line 44"/>
                  <p:cNvSpPr>
                    <a:spLocks noChangeShapeType="1"/>
                  </p:cNvSpPr>
                  <p:nvPr/>
                </p:nvSpPr>
                <p:spPr bwMode="auto">
                  <a:xfrm flipV="1">
                    <a:off x="912" y="2784"/>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6" name="Line 45"/>
                  <p:cNvSpPr>
                    <a:spLocks noChangeShapeType="1"/>
                  </p:cNvSpPr>
                  <p:nvPr/>
                </p:nvSpPr>
                <p:spPr bwMode="auto">
                  <a:xfrm flipV="1">
                    <a:off x="912" y="2832"/>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 name="Line 46"/>
                  <p:cNvSpPr>
                    <a:spLocks noChangeShapeType="1"/>
                  </p:cNvSpPr>
                  <p:nvPr/>
                </p:nvSpPr>
                <p:spPr bwMode="auto">
                  <a:xfrm flipV="1">
                    <a:off x="912" y="2880"/>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8" name="Line 47"/>
                  <p:cNvSpPr>
                    <a:spLocks noChangeShapeType="1"/>
                  </p:cNvSpPr>
                  <p:nvPr/>
                </p:nvSpPr>
                <p:spPr bwMode="auto">
                  <a:xfrm flipV="1">
                    <a:off x="912" y="2928"/>
                    <a:ext cx="1008" cy="72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3" name="Group 48"/>
                <p:cNvGrpSpPr/>
                <p:nvPr/>
              </p:nvGrpSpPr>
              <p:grpSpPr bwMode="auto">
                <a:xfrm>
                  <a:off x="1584" y="1465"/>
                  <a:ext cx="2496" cy="960"/>
                  <a:chOff x="1584" y="1465"/>
                  <a:chExt cx="2496" cy="960"/>
                </a:xfrm>
              </p:grpSpPr>
              <p:grpSp>
                <p:nvGrpSpPr>
                  <p:cNvPr id="144" name="Group 49"/>
                  <p:cNvGrpSpPr/>
                  <p:nvPr/>
                </p:nvGrpSpPr>
                <p:grpSpPr bwMode="auto">
                  <a:xfrm>
                    <a:off x="1584" y="1465"/>
                    <a:ext cx="1008" cy="912"/>
                    <a:chOff x="1584" y="1465"/>
                    <a:chExt cx="1008" cy="912"/>
                  </a:xfrm>
                </p:grpSpPr>
                <p:sp>
                  <p:nvSpPr>
                    <p:cNvPr id="150" name="Line 50"/>
                    <p:cNvSpPr>
                      <a:spLocks noChangeShapeType="1"/>
                    </p:cNvSpPr>
                    <p:nvPr/>
                  </p:nvSpPr>
                  <p:spPr bwMode="auto">
                    <a:xfrm flipV="1">
                      <a:off x="1584" y="1657"/>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1" name="Line 51"/>
                    <p:cNvSpPr>
                      <a:spLocks noChangeShapeType="1"/>
                    </p:cNvSpPr>
                    <p:nvPr/>
                  </p:nvSpPr>
                  <p:spPr bwMode="auto">
                    <a:xfrm flipV="1">
                      <a:off x="1584" y="1465"/>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 name="Line 52"/>
                    <p:cNvSpPr>
                      <a:spLocks noChangeShapeType="1"/>
                    </p:cNvSpPr>
                    <p:nvPr/>
                  </p:nvSpPr>
                  <p:spPr bwMode="auto">
                    <a:xfrm flipV="1">
                      <a:off x="1584" y="1513"/>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 name="Line 53"/>
                    <p:cNvSpPr>
                      <a:spLocks noChangeShapeType="1"/>
                    </p:cNvSpPr>
                    <p:nvPr/>
                  </p:nvSpPr>
                  <p:spPr bwMode="auto">
                    <a:xfrm flipV="1">
                      <a:off x="1584" y="1609"/>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5" name="Group 54"/>
                  <p:cNvGrpSpPr/>
                  <p:nvPr/>
                </p:nvGrpSpPr>
                <p:grpSpPr bwMode="auto">
                  <a:xfrm>
                    <a:off x="3072" y="1513"/>
                    <a:ext cx="1008" cy="912"/>
                    <a:chOff x="3072" y="1513"/>
                    <a:chExt cx="1008" cy="912"/>
                  </a:xfrm>
                </p:grpSpPr>
                <p:sp>
                  <p:nvSpPr>
                    <p:cNvPr id="146" name="Line 55"/>
                    <p:cNvSpPr>
                      <a:spLocks noChangeShapeType="1"/>
                    </p:cNvSpPr>
                    <p:nvPr/>
                  </p:nvSpPr>
                  <p:spPr bwMode="auto">
                    <a:xfrm flipH="1" flipV="1">
                      <a:off x="3072" y="1513"/>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 name="Line 56"/>
                    <p:cNvSpPr>
                      <a:spLocks noChangeShapeType="1"/>
                    </p:cNvSpPr>
                    <p:nvPr/>
                  </p:nvSpPr>
                  <p:spPr bwMode="auto">
                    <a:xfrm flipH="1" flipV="1">
                      <a:off x="3072" y="1561"/>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 name="Line 57"/>
                    <p:cNvSpPr>
                      <a:spLocks noChangeShapeType="1"/>
                    </p:cNvSpPr>
                    <p:nvPr/>
                  </p:nvSpPr>
                  <p:spPr bwMode="auto">
                    <a:xfrm flipH="1" flipV="1">
                      <a:off x="3072" y="1657"/>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9" name="Line 58"/>
                    <p:cNvSpPr>
                      <a:spLocks noChangeShapeType="1"/>
                    </p:cNvSpPr>
                    <p:nvPr/>
                  </p:nvSpPr>
                  <p:spPr bwMode="auto">
                    <a:xfrm flipH="1" flipV="1">
                      <a:off x="3072" y="1705"/>
                      <a:ext cx="1008"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40" name="AutoShape 59"/>
              <p:cNvSpPr>
                <a:spLocks noChangeArrowheads="1"/>
              </p:cNvSpPr>
              <p:nvPr/>
            </p:nvSpPr>
            <p:spPr bwMode="auto">
              <a:xfrm>
                <a:off x="144" y="624"/>
                <a:ext cx="2256" cy="912"/>
              </a:xfrm>
              <a:prstGeom prst="wedgeRoundRectCallout">
                <a:avLst>
                  <a:gd name="adj1" fmla="val 38343"/>
                  <a:gd name="adj2" fmla="val 76315"/>
                  <a:gd name="adj3" fmla="val 16667"/>
                </a:avLst>
              </a:prstGeom>
              <a:solidFill>
                <a:schemeClr val="bg1"/>
              </a:solidFill>
              <a:ln w="9525">
                <a:solidFill>
                  <a:schemeClr val="tx1"/>
                </a:solidFill>
                <a:miter lim="800000"/>
              </a:ln>
            </p:spPr>
            <p:txBody>
              <a:bodyPr/>
              <a:lstStyle/>
              <a:p>
                <a:pPr algn="ctr">
                  <a:defRPr/>
                </a:pPr>
                <a:r>
                  <a:rPr kumimoji="0" lang="en-US" altLang="zh-CN" sz="1600" dirty="0">
                    <a:latin typeface="+mn-lt"/>
                    <a:ea typeface="宋体" panose="02010600030101010101" pitchFamily="2" charset="-122"/>
                  </a:rPr>
                  <a:t>Each phone call is allocated </a:t>
                </a:r>
                <a:r>
                  <a:rPr kumimoji="0" lang="en-US" altLang="zh-CN" sz="1600" b="1" dirty="0">
                    <a:solidFill>
                      <a:srgbClr val="FF0000"/>
                    </a:solidFill>
                    <a:latin typeface="+mn-lt"/>
                    <a:ea typeface="宋体" panose="02010600030101010101" pitchFamily="2" charset="-122"/>
                  </a:rPr>
                  <a:t>64kb/s</a:t>
                </a:r>
                <a:r>
                  <a:rPr kumimoji="0" lang="en-US" altLang="zh-CN" sz="1600" dirty="0">
                    <a:latin typeface="+mn-lt"/>
                    <a:ea typeface="宋体" panose="02010600030101010101" pitchFamily="2" charset="-122"/>
                  </a:rPr>
                  <a:t>. </a:t>
                </a:r>
              </a:p>
              <a:p>
                <a:pPr algn="ctr">
                  <a:defRPr/>
                </a:pPr>
                <a:r>
                  <a:rPr kumimoji="0" lang="en-US" altLang="zh-CN" sz="1600" dirty="0">
                    <a:latin typeface="+mn-lt"/>
                    <a:ea typeface="宋体" panose="02010600030101010101" pitchFamily="2" charset="-122"/>
                  </a:rPr>
                  <a:t>So, a </a:t>
                </a:r>
                <a:r>
                  <a:rPr kumimoji="0" lang="en-US" altLang="zh-CN" sz="1600" b="1" dirty="0">
                    <a:solidFill>
                      <a:srgbClr val="FF0000"/>
                    </a:solidFill>
                    <a:latin typeface="+mn-lt"/>
                    <a:ea typeface="宋体" panose="02010600030101010101" pitchFamily="2" charset="-122"/>
                    <a:cs typeface="Times New Roman" panose="02020603050405020304" pitchFamily="18" charset="0"/>
                  </a:rPr>
                  <a:t>2.5Gb/s</a:t>
                </a:r>
                <a:r>
                  <a:rPr kumimoji="0" lang="en-US" altLang="zh-CN" sz="1600" dirty="0">
                    <a:latin typeface="+mn-lt"/>
                    <a:ea typeface="宋体" panose="02010600030101010101" pitchFamily="2" charset="-122"/>
                  </a:rPr>
                  <a:t> trunk line can carry about </a:t>
                </a:r>
                <a:r>
                  <a:rPr kumimoji="0" lang="en-US" altLang="zh-CN" sz="1600" b="1" dirty="0">
                    <a:solidFill>
                      <a:srgbClr val="FF0000"/>
                    </a:solidFill>
                    <a:latin typeface="+mn-lt"/>
                    <a:ea typeface="宋体" panose="02010600030101010101" pitchFamily="2" charset="-122"/>
                  </a:rPr>
                  <a:t>39,000</a:t>
                </a:r>
                <a:r>
                  <a:rPr kumimoji="0" lang="en-US" altLang="zh-CN" sz="1600" dirty="0">
                    <a:latin typeface="+mn-lt"/>
                    <a:ea typeface="宋体" panose="02010600030101010101" pitchFamily="2" charset="-122"/>
                  </a:rPr>
                  <a:t> calls.</a:t>
                </a:r>
              </a:p>
            </p:txBody>
          </p:sp>
        </p:grpSp>
        <p:grpSp>
          <p:nvGrpSpPr>
            <p:cNvPr id="133" name="Group 60"/>
            <p:cNvGrpSpPr/>
            <p:nvPr/>
          </p:nvGrpSpPr>
          <p:grpSpPr bwMode="auto">
            <a:xfrm>
              <a:off x="576" y="1248"/>
              <a:ext cx="1344" cy="192"/>
              <a:chOff x="288" y="1200"/>
              <a:chExt cx="1824" cy="240"/>
            </a:xfrm>
          </p:grpSpPr>
          <p:sp>
            <p:nvSpPr>
              <p:cNvPr id="134" name="AutoShape 61"/>
              <p:cNvSpPr>
                <a:spLocks noChangeArrowheads="1"/>
              </p:cNvSpPr>
              <p:nvPr/>
            </p:nvSpPr>
            <p:spPr bwMode="auto">
              <a:xfrm rot="5400000">
                <a:off x="1104" y="672"/>
                <a:ext cx="240" cy="1296"/>
              </a:xfrm>
              <a:prstGeom prst="can">
                <a:avLst>
                  <a:gd name="adj" fmla="val 63450"/>
                </a:avLst>
              </a:prstGeom>
              <a:solidFill>
                <a:schemeClr val="accent1">
                  <a:alpha val="50195"/>
                </a:schemeClr>
              </a:solidFill>
              <a:ln w="9525">
                <a:solidFill>
                  <a:schemeClr val="tx1"/>
                </a:solidFill>
                <a:round/>
              </a:ln>
            </p:spPr>
            <p:txBody>
              <a:bodyPr wrap="none" anchor="ctr"/>
              <a:lstStyle>
                <a:lvl1pPr>
                  <a:spcBef>
                    <a:spcPct val="20000"/>
                  </a:spcBef>
                  <a:buBlip>
                    <a:blip r:embed="rId5"/>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35" name="Line 62"/>
              <p:cNvSpPr>
                <a:spLocks noChangeShapeType="1"/>
              </p:cNvSpPr>
              <p:nvPr/>
            </p:nvSpPr>
            <p:spPr bwMode="auto">
              <a:xfrm>
                <a:off x="288" y="1248"/>
                <a:ext cx="18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6" name="Line 63"/>
              <p:cNvSpPr>
                <a:spLocks noChangeShapeType="1"/>
              </p:cNvSpPr>
              <p:nvPr/>
            </p:nvSpPr>
            <p:spPr bwMode="auto">
              <a:xfrm>
                <a:off x="288" y="1296"/>
                <a:ext cx="18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7" name="Line 64"/>
              <p:cNvSpPr>
                <a:spLocks noChangeShapeType="1"/>
              </p:cNvSpPr>
              <p:nvPr/>
            </p:nvSpPr>
            <p:spPr bwMode="auto">
              <a:xfrm>
                <a:off x="288" y="1344"/>
                <a:ext cx="18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 name="Line 65"/>
              <p:cNvSpPr>
                <a:spLocks noChangeShapeType="1"/>
              </p:cNvSpPr>
              <p:nvPr/>
            </p:nvSpPr>
            <p:spPr bwMode="auto">
              <a:xfrm>
                <a:off x="288" y="1392"/>
                <a:ext cx="18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64" name="Line 66"/>
          <p:cNvSpPr>
            <a:spLocks noChangeShapeType="1"/>
          </p:cNvSpPr>
          <p:nvPr/>
        </p:nvSpPr>
        <p:spPr bwMode="auto">
          <a:xfrm>
            <a:off x="1217327" y="3398838"/>
            <a:ext cx="1143000" cy="533400"/>
          </a:xfrm>
          <a:prstGeom prst="line">
            <a:avLst/>
          </a:prstGeom>
          <a:noFill/>
          <a:ln w="127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165" name="Group 67"/>
          <p:cNvGrpSpPr/>
          <p:nvPr/>
        </p:nvGrpSpPr>
        <p:grpSpPr bwMode="auto">
          <a:xfrm>
            <a:off x="7846727" y="2770188"/>
            <a:ext cx="590550" cy="476250"/>
            <a:chOff x="384" y="1394"/>
            <a:chExt cx="372" cy="300"/>
          </a:xfrm>
        </p:grpSpPr>
        <p:sp>
          <p:nvSpPr>
            <p:cNvPr id="166" name="Rectangle 68"/>
            <p:cNvSpPr>
              <a:spLocks noChangeArrowheads="1"/>
            </p:cNvSpPr>
            <p:nvPr/>
          </p:nvSpPr>
          <p:spPr bwMode="auto">
            <a:xfrm>
              <a:off x="433" y="1651"/>
              <a:ext cx="264" cy="43"/>
            </a:xfrm>
            <a:prstGeom prst="rect">
              <a:avLst/>
            </a:prstGeom>
            <a:solidFill>
              <a:srgbClr val="FF0000"/>
            </a:solidFill>
            <a:ln w="9525">
              <a:noFill/>
              <a:miter lim="800000"/>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67" name="Freeform 69"/>
            <p:cNvSpPr/>
            <p:nvPr/>
          </p:nvSpPr>
          <p:spPr bwMode="auto">
            <a:xfrm rot="-2304584">
              <a:off x="384" y="1394"/>
              <a:ext cx="372" cy="286"/>
            </a:xfrm>
            <a:custGeom>
              <a:avLst/>
              <a:gdLst>
                <a:gd name="T0" fmla="*/ 7 w 553"/>
                <a:gd name="T1" fmla="*/ 1 h 470"/>
                <a:gd name="T2" fmla="*/ 6 w 553"/>
                <a:gd name="T3" fmla="*/ 1 h 470"/>
                <a:gd name="T4" fmla="*/ 5 w 553"/>
                <a:gd name="T5" fmla="*/ 1 h 470"/>
                <a:gd name="T6" fmla="*/ 5 w 553"/>
                <a:gd name="T7" fmla="*/ 1 h 470"/>
                <a:gd name="T8" fmla="*/ 5 w 553"/>
                <a:gd name="T9" fmla="*/ 1 h 470"/>
                <a:gd name="T10" fmla="*/ 5 w 553"/>
                <a:gd name="T11" fmla="*/ 1 h 470"/>
                <a:gd name="T12" fmla="*/ 5 w 553"/>
                <a:gd name="T13" fmla="*/ 2 h 470"/>
                <a:gd name="T14" fmla="*/ 4 w 553"/>
                <a:gd name="T15" fmla="*/ 2 h 470"/>
                <a:gd name="T16" fmla="*/ 3 w 553"/>
                <a:gd name="T17" fmla="*/ 2 h 470"/>
                <a:gd name="T18" fmla="*/ 2 w 553"/>
                <a:gd name="T19" fmla="*/ 1 h 470"/>
                <a:gd name="T20" fmla="*/ 1 w 553"/>
                <a:gd name="T21" fmla="*/ 1 h 470"/>
                <a:gd name="T22" fmla="*/ 1 w 553"/>
                <a:gd name="T23" fmla="*/ 1 h 470"/>
                <a:gd name="T24" fmla="*/ 1 w 553"/>
                <a:gd name="T25" fmla="*/ 1 h 470"/>
                <a:gd name="T26" fmla="*/ 1 w 553"/>
                <a:gd name="T27" fmla="*/ 1 h 470"/>
                <a:gd name="T28" fmla="*/ 2 w 553"/>
                <a:gd name="T29" fmla="*/ 1 h 470"/>
                <a:gd name="T30" fmla="*/ 3 w 553"/>
                <a:gd name="T31" fmla="*/ 1 h 470"/>
                <a:gd name="T32" fmla="*/ 3 w 553"/>
                <a:gd name="T33" fmla="*/ 0 h 470"/>
                <a:gd name="T34" fmla="*/ 4 w 553"/>
                <a:gd name="T35" fmla="*/ 1 h 470"/>
                <a:gd name="T36" fmla="*/ 5 w 553"/>
                <a:gd name="T37" fmla="*/ 1 h 470"/>
                <a:gd name="T38" fmla="*/ 6 w 553"/>
                <a:gd name="T39" fmla="*/ 1 h 470"/>
                <a:gd name="T40" fmla="*/ 7 w 553"/>
                <a:gd name="T41" fmla="*/ 1 h 470"/>
                <a:gd name="T42" fmla="*/ 7 w 553"/>
                <a:gd name="T43" fmla="*/ 1 h 470"/>
                <a:gd name="T44" fmla="*/ 8 w 553"/>
                <a:gd name="T45" fmla="*/ 1 h 470"/>
                <a:gd name="T46" fmla="*/ 9 w 553"/>
                <a:gd name="T47" fmla="*/ 1 h 470"/>
                <a:gd name="T48" fmla="*/ 10 w 553"/>
                <a:gd name="T49" fmla="*/ 1 h 470"/>
                <a:gd name="T50" fmla="*/ 11 w 553"/>
                <a:gd name="T51" fmla="*/ 1 h 470"/>
                <a:gd name="T52" fmla="*/ 12 w 553"/>
                <a:gd name="T53" fmla="*/ 1 h 470"/>
                <a:gd name="T54" fmla="*/ 13 w 553"/>
                <a:gd name="T55" fmla="*/ 2 h 470"/>
                <a:gd name="T56" fmla="*/ 15 w 553"/>
                <a:gd name="T57" fmla="*/ 2 h 470"/>
                <a:gd name="T58" fmla="*/ 15 w 553"/>
                <a:gd name="T59" fmla="*/ 3 h 470"/>
                <a:gd name="T60" fmla="*/ 15 w 553"/>
                <a:gd name="T61" fmla="*/ 3 h 470"/>
                <a:gd name="T62" fmla="*/ 15 w 553"/>
                <a:gd name="T63" fmla="*/ 4 h 470"/>
                <a:gd name="T64" fmla="*/ 15 w 553"/>
                <a:gd name="T65" fmla="*/ 4 h 470"/>
                <a:gd name="T66" fmla="*/ 15 w 553"/>
                <a:gd name="T67" fmla="*/ 4 h 470"/>
                <a:gd name="T68" fmla="*/ 15 w 553"/>
                <a:gd name="T69" fmla="*/ 5 h 470"/>
                <a:gd name="T70" fmla="*/ 14 w 553"/>
                <a:gd name="T71" fmla="*/ 5 h 470"/>
                <a:gd name="T72" fmla="*/ 11 w 553"/>
                <a:gd name="T73" fmla="*/ 4 h 470"/>
                <a:gd name="T74" fmla="*/ 11 w 553"/>
                <a:gd name="T75" fmla="*/ 4 h 470"/>
                <a:gd name="T76" fmla="*/ 11 w 553"/>
                <a:gd name="T77" fmla="*/ 4 h 470"/>
                <a:gd name="T78" fmla="*/ 12 w 553"/>
                <a:gd name="T79" fmla="*/ 4 h 470"/>
                <a:gd name="T80" fmla="*/ 13 w 553"/>
                <a:gd name="T81" fmla="*/ 4 h 470"/>
                <a:gd name="T82" fmla="*/ 13 w 553"/>
                <a:gd name="T83" fmla="*/ 4 h 470"/>
                <a:gd name="T84" fmla="*/ 13 w 553"/>
                <a:gd name="T85" fmla="*/ 3 h 470"/>
                <a:gd name="T86" fmla="*/ 12 w 553"/>
                <a:gd name="T87" fmla="*/ 3 h 470"/>
                <a:gd name="T88" fmla="*/ 11 w 553"/>
                <a:gd name="T89" fmla="*/ 3 h 470"/>
                <a:gd name="T90" fmla="*/ 11 w 553"/>
                <a:gd name="T91" fmla="*/ 2 h 470"/>
                <a:gd name="T92" fmla="*/ 10 w 553"/>
                <a:gd name="T93" fmla="*/ 2 h 470"/>
                <a:gd name="T94" fmla="*/ 9 w 553"/>
                <a:gd name="T95" fmla="*/ 2 h 470"/>
                <a:gd name="T96" fmla="*/ 7 w 553"/>
                <a:gd name="T97" fmla="*/ 1 h 47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53"/>
                <a:gd name="T148" fmla="*/ 0 h 470"/>
                <a:gd name="T149" fmla="*/ 553 w 553"/>
                <a:gd name="T150" fmla="*/ 470 h 47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53" h="470">
                  <a:moveTo>
                    <a:pt x="262" y="122"/>
                  </a:moveTo>
                  <a:lnTo>
                    <a:pt x="250" y="114"/>
                  </a:lnTo>
                  <a:lnTo>
                    <a:pt x="237" y="106"/>
                  </a:lnTo>
                  <a:lnTo>
                    <a:pt x="223" y="98"/>
                  </a:lnTo>
                  <a:lnTo>
                    <a:pt x="209" y="92"/>
                  </a:lnTo>
                  <a:lnTo>
                    <a:pt x="196" y="89"/>
                  </a:lnTo>
                  <a:lnTo>
                    <a:pt x="186" y="89"/>
                  </a:lnTo>
                  <a:lnTo>
                    <a:pt x="179" y="95"/>
                  </a:lnTo>
                  <a:lnTo>
                    <a:pt x="177" y="106"/>
                  </a:lnTo>
                  <a:lnTo>
                    <a:pt x="175" y="117"/>
                  </a:lnTo>
                  <a:lnTo>
                    <a:pt x="172" y="127"/>
                  </a:lnTo>
                  <a:lnTo>
                    <a:pt x="167" y="136"/>
                  </a:lnTo>
                  <a:lnTo>
                    <a:pt x="162" y="144"/>
                  </a:lnTo>
                  <a:lnTo>
                    <a:pt x="155" y="153"/>
                  </a:lnTo>
                  <a:lnTo>
                    <a:pt x="147" y="162"/>
                  </a:lnTo>
                  <a:lnTo>
                    <a:pt x="139" y="168"/>
                  </a:lnTo>
                  <a:lnTo>
                    <a:pt x="129" y="176"/>
                  </a:lnTo>
                  <a:lnTo>
                    <a:pt x="115" y="170"/>
                  </a:lnTo>
                  <a:lnTo>
                    <a:pt x="97" y="160"/>
                  </a:lnTo>
                  <a:lnTo>
                    <a:pt x="75" y="149"/>
                  </a:lnTo>
                  <a:lnTo>
                    <a:pt x="53" y="136"/>
                  </a:lnTo>
                  <a:lnTo>
                    <a:pt x="34" y="125"/>
                  </a:lnTo>
                  <a:lnTo>
                    <a:pt x="16" y="114"/>
                  </a:lnTo>
                  <a:lnTo>
                    <a:pt x="5" y="107"/>
                  </a:lnTo>
                  <a:lnTo>
                    <a:pt x="0" y="105"/>
                  </a:lnTo>
                  <a:lnTo>
                    <a:pt x="8" y="90"/>
                  </a:lnTo>
                  <a:lnTo>
                    <a:pt x="19" y="73"/>
                  </a:lnTo>
                  <a:lnTo>
                    <a:pt x="31" y="57"/>
                  </a:lnTo>
                  <a:lnTo>
                    <a:pt x="46" y="41"/>
                  </a:lnTo>
                  <a:lnTo>
                    <a:pt x="62" y="26"/>
                  </a:lnTo>
                  <a:lnTo>
                    <a:pt x="80" y="13"/>
                  </a:lnTo>
                  <a:lnTo>
                    <a:pt x="98" y="5"/>
                  </a:lnTo>
                  <a:lnTo>
                    <a:pt x="117" y="0"/>
                  </a:lnTo>
                  <a:lnTo>
                    <a:pt x="127" y="0"/>
                  </a:lnTo>
                  <a:lnTo>
                    <a:pt x="137" y="0"/>
                  </a:lnTo>
                  <a:lnTo>
                    <a:pt x="150" y="2"/>
                  </a:lnTo>
                  <a:lnTo>
                    <a:pt x="162" y="3"/>
                  </a:lnTo>
                  <a:lnTo>
                    <a:pt x="175" y="4"/>
                  </a:lnTo>
                  <a:lnTo>
                    <a:pt x="189" y="6"/>
                  </a:lnTo>
                  <a:lnTo>
                    <a:pt x="203" y="10"/>
                  </a:lnTo>
                  <a:lnTo>
                    <a:pt x="218" y="12"/>
                  </a:lnTo>
                  <a:lnTo>
                    <a:pt x="232" y="17"/>
                  </a:lnTo>
                  <a:lnTo>
                    <a:pt x="247" y="20"/>
                  </a:lnTo>
                  <a:lnTo>
                    <a:pt x="262" y="25"/>
                  </a:lnTo>
                  <a:lnTo>
                    <a:pt x="276" y="29"/>
                  </a:lnTo>
                  <a:lnTo>
                    <a:pt x="291" y="34"/>
                  </a:lnTo>
                  <a:lnTo>
                    <a:pt x="303" y="40"/>
                  </a:lnTo>
                  <a:lnTo>
                    <a:pt x="317" y="45"/>
                  </a:lnTo>
                  <a:lnTo>
                    <a:pt x="330" y="51"/>
                  </a:lnTo>
                  <a:lnTo>
                    <a:pt x="351" y="61"/>
                  </a:lnTo>
                  <a:lnTo>
                    <a:pt x="372" y="74"/>
                  </a:lnTo>
                  <a:lnTo>
                    <a:pt x="392" y="89"/>
                  </a:lnTo>
                  <a:lnTo>
                    <a:pt x="414" y="105"/>
                  </a:lnTo>
                  <a:lnTo>
                    <a:pt x="435" y="124"/>
                  </a:lnTo>
                  <a:lnTo>
                    <a:pt x="456" y="144"/>
                  </a:lnTo>
                  <a:lnTo>
                    <a:pt x="477" y="167"/>
                  </a:lnTo>
                  <a:lnTo>
                    <a:pt x="497" y="193"/>
                  </a:lnTo>
                  <a:lnTo>
                    <a:pt x="509" y="210"/>
                  </a:lnTo>
                  <a:lnTo>
                    <a:pt x="518" y="228"/>
                  </a:lnTo>
                  <a:lnTo>
                    <a:pt x="527" y="249"/>
                  </a:lnTo>
                  <a:lnTo>
                    <a:pt x="535" y="269"/>
                  </a:lnTo>
                  <a:lnTo>
                    <a:pt x="542" y="288"/>
                  </a:lnTo>
                  <a:lnTo>
                    <a:pt x="547" y="305"/>
                  </a:lnTo>
                  <a:lnTo>
                    <a:pt x="550" y="321"/>
                  </a:lnTo>
                  <a:lnTo>
                    <a:pt x="553" y="334"/>
                  </a:lnTo>
                  <a:lnTo>
                    <a:pt x="553" y="356"/>
                  </a:lnTo>
                  <a:lnTo>
                    <a:pt x="549" y="378"/>
                  </a:lnTo>
                  <a:lnTo>
                    <a:pt x="545" y="399"/>
                  </a:lnTo>
                  <a:lnTo>
                    <a:pt x="538" y="419"/>
                  </a:lnTo>
                  <a:lnTo>
                    <a:pt x="527" y="436"/>
                  </a:lnTo>
                  <a:lnTo>
                    <a:pt x="516" y="451"/>
                  </a:lnTo>
                  <a:lnTo>
                    <a:pt x="502" y="463"/>
                  </a:lnTo>
                  <a:lnTo>
                    <a:pt x="487" y="470"/>
                  </a:lnTo>
                  <a:lnTo>
                    <a:pt x="393" y="381"/>
                  </a:lnTo>
                  <a:lnTo>
                    <a:pt x="396" y="370"/>
                  </a:lnTo>
                  <a:lnTo>
                    <a:pt x="400" y="361"/>
                  </a:lnTo>
                  <a:lnTo>
                    <a:pt x="406" y="351"/>
                  </a:lnTo>
                  <a:lnTo>
                    <a:pt x="414" y="343"/>
                  </a:lnTo>
                  <a:lnTo>
                    <a:pt x="422" y="338"/>
                  </a:lnTo>
                  <a:lnTo>
                    <a:pt x="433" y="332"/>
                  </a:lnTo>
                  <a:lnTo>
                    <a:pt x="444" y="326"/>
                  </a:lnTo>
                  <a:lnTo>
                    <a:pt x="457" y="323"/>
                  </a:lnTo>
                  <a:lnTo>
                    <a:pt x="459" y="317"/>
                  </a:lnTo>
                  <a:lnTo>
                    <a:pt x="458" y="309"/>
                  </a:lnTo>
                  <a:lnTo>
                    <a:pt x="453" y="300"/>
                  </a:lnTo>
                  <a:lnTo>
                    <a:pt x="448" y="289"/>
                  </a:lnTo>
                  <a:lnTo>
                    <a:pt x="441" y="279"/>
                  </a:lnTo>
                  <a:lnTo>
                    <a:pt x="433" y="270"/>
                  </a:lnTo>
                  <a:lnTo>
                    <a:pt x="426" y="260"/>
                  </a:lnTo>
                  <a:lnTo>
                    <a:pt x="419" y="254"/>
                  </a:lnTo>
                  <a:lnTo>
                    <a:pt x="406" y="241"/>
                  </a:lnTo>
                  <a:lnTo>
                    <a:pt x="389" y="225"/>
                  </a:lnTo>
                  <a:lnTo>
                    <a:pt x="369" y="208"/>
                  </a:lnTo>
                  <a:lnTo>
                    <a:pt x="347" y="188"/>
                  </a:lnTo>
                  <a:lnTo>
                    <a:pt x="324" y="170"/>
                  </a:lnTo>
                  <a:lnTo>
                    <a:pt x="302" y="152"/>
                  </a:lnTo>
                  <a:lnTo>
                    <a:pt x="280" y="136"/>
                  </a:lnTo>
                  <a:lnTo>
                    <a:pt x="262" y="122"/>
                  </a:lnTo>
                  <a:close/>
                </a:path>
              </a:pathLst>
            </a:custGeom>
            <a:solidFill>
              <a:srgbClr val="FF0000"/>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68" name="Line 70"/>
            <p:cNvSpPr>
              <a:spLocks noChangeShapeType="1"/>
            </p:cNvSpPr>
            <p:nvPr/>
          </p:nvSpPr>
          <p:spPr bwMode="auto">
            <a:xfrm>
              <a:off x="676" y="1569"/>
              <a:ext cx="53" cy="53"/>
            </a:xfrm>
            <a:prstGeom prst="line">
              <a:avLst/>
            </a:prstGeom>
            <a:noFill/>
            <a:ln w="0">
              <a:solidFill>
                <a:srgbClr val="FFFFFF"/>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69" name="Line 71"/>
            <p:cNvSpPr>
              <a:spLocks noChangeShapeType="1"/>
            </p:cNvSpPr>
            <p:nvPr/>
          </p:nvSpPr>
          <p:spPr bwMode="auto">
            <a:xfrm>
              <a:off x="481" y="1434"/>
              <a:ext cx="68" cy="38"/>
            </a:xfrm>
            <a:prstGeom prst="line">
              <a:avLst/>
            </a:prstGeom>
            <a:noFill/>
            <a:ln w="0">
              <a:solidFill>
                <a:srgbClr val="FFFFFF"/>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0" name="Freeform 72"/>
            <p:cNvSpPr/>
            <p:nvPr/>
          </p:nvSpPr>
          <p:spPr bwMode="auto">
            <a:xfrm>
              <a:off x="433" y="1508"/>
              <a:ext cx="264" cy="133"/>
            </a:xfrm>
            <a:custGeom>
              <a:avLst/>
              <a:gdLst>
                <a:gd name="T0" fmla="*/ 1 w 529"/>
                <a:gd name="T1" fmla="*/ 1 h 266"/>
                <a:gd name="T2" fmla="*/ 1 w 529"/>
                <a:gd name="T3" fmla="*/ 1 h 266"/>
                <a:gd name="T4" fmla="*/ 0 w 529"/>
                <a:gd name="T5" fmla="*/ 1 h 266"/>
                <a:gd name="T6" fmla="*/ 0 w 529"/>
                <a:gd name="T7" fmla="*/ 1 h 266"/>
                <a:gd name="T8" fmla="*/ 0 w 529"/>
                <a:gd name="T9" fmla="*/ 1 h 266"/>
                <a:gd name="T10" fmla="*/ 0 w 529"/>
                <a:gd name="T11" fmla="*/ 1 h 266"/>
                <a:gd name="T12" fmla="*/ 0 w 529"/>
                <a:gd name="T13" fmla="*/ 1 h 266"/>
                <a:gd name="T14" fmla="*/ 0 w 529"/>
                <a:gd name="T15" fmla="*/ 1 h 266"/>
                <a:gd name="T16" fmla="*/ 0 w 529"/>
                <a:gd name="T17" fmla="*/ 1 h 266"/>
                <a:gd name="T18" fmla="*/ 0 w 529"/>
                <a:gd name="T19" fmla="*/ 1 h 266"/>
                <a:gd name="T20" fmla="*/ 0 w 529"/>
                <a:gd name="T21" fmla="*/ 1 h 266"/>
                <a:gd name="T22" fmla="*/ 0 w 529"/>
                <a:gd name="T23" fmla="*/ 1 h 266"/>
                <a:gd name="T24" fmla="*/ 0 w 529"/>
                <a:gd name="T25" fmla="*/ 0 h 266"/>
                <a:gd name="T26" fmla="*/ 0 w 529"/>
                <a:gd name="T27" fmla="*/ 1 h 266"/>
                <a:gd name="T28" fmla="*/ 0 w 529"/>
                <a:gd name="T29" fmla="*/ 1 h 266"/>
                <a:gd name="T30" fmla="*/ 0 w 529"/>
                <a:gd name="T31" fmla="*/ 1 h 266"/>
                <a:gd name="T32" fmla="*/ 0 w 529"/>
                <a:gd name="T33" fmla="*/ 1 h 266"/>
                <a:gd name="T34" fmla="*/ 0 w 529"/>
                <a:gd name="T35" fmla="*/ 1 h 266"/>
                <a:gd name="T36" fmla="*/ 0 w 529"/>
                <a:gd name="T37" fmla="*/ 1 h 266"/>
                <a:gd name="T38" fmla="*/ 0 w 529"/>
                <a:gd name="T39" fmla="*/ 1 h 266"/>
                <a:gd name="T40" fmla="*/ 0 w 529"/>
                <a:gd name="T41" fmla="*/ 1 h 266"/>
                <a:gd name="T42" fmla="*/ 0 w 529"/>
                <a:gd name="T43" fmla="*/ 1 h 266"/>
                <a:gd name="T44" fmla="*/ 0 w 529"/>
                <a:gd name="T45" fmla="*/ 1 h 266"/>
                <a:gd name="T46" fmla="*/ 0 w 529"/>
                <a:gd name="T47" fmla="*/ 1 h 266"/>
                <a:gd name="T48" fmla="*/ 0 w 529"/>
                <a:gd name="T49" fmla="*/ 1 h 266"/>
                <a:gd name="T50" fmla="*/ 0 w 529"/>
                <a:gd name="T51" fmla="*/ 1 h 266"/>
                <a:gd name="T52" fmla="*/ 0 w 529"/>
                <a:gd name="T53" fmla="*/ 1 h 266"/>
                <a:gd name="T54" fmla="*/ 0 w 529"/>
                <a:gd name="T55" fmla="*/ 1 h 266"/>
                <a:gd name="T56" fmla="*/ 0 w 529"/>
                <a:gd name="T57" fmla="*/ 1 h 266"/>
                <a:gd name="T58" fmla="*/ 0 w 529"/>
                <a:gd name="T59" fmla="*/ 1 h 266"/>
                <a:gd name="T60" fmla="*/ 0 w 529"/>
                <a:gd name="T61" fmla="*/ 1 h 266"/>
                <a:gd name="T62" fmla="*/ 0 w 529"/>
                <a:gd name="T63" fmla="*/ 1 h 266"/>
                <a:gd name="T64" fmla="*/ 1 w 529"/>
                <a:gd name="T65" fmla="*/ 1 h 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29"/>
                <a:gd name="T100" fmla="*/ 0 h 266"/>
                <a:gd name="T101" fmla="*/ 529 w 529"/>
                <a:gd name="T102" fmla="*/ 266 h 2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29" h="266">
                  <a:moveTo>
                    <a:pt x="529" y="266"/>
                  </a:moveTo>
                  <a:lnTo>
                    <a:pt x="527" y="256"/>
                  </a:lnTo>
                  <a:lnTo>
                    <a:pt x="523" y="250"/>
                  </a:lnTo>
                  <a:lnTo>
                    <a:pt x="517" y="245"/>
                  </a:lnTo>
                  <a:lnTo>
                    <a:pt x="509" y="242"/>
                  </a:lnTo>
                  <a:lnTo>
                    <a:pt x="501" y="240"/>
                  </a:lnTo>
                  <a:lnTo>
                    <a:pt x="490" y="235"/>
                  </a:lnTo>
                  <a:lnTo>
                    <a:pt x="480" y="229"/>
                  </a:lnTo>
                  <a:lnTo>
                    <a:pt x="469" y="220"/>
                  </a:lnTo>
                  <a:lnTo>
                    <a:pt x="457" y="208"/>
                  </a:lnTo>
                  <a:lnTo>
                    <a:pt x="447" y="196"/>
                  </a:lnTo>
                  <a:lnTo>
                    <a:pt x="439" y="182"/>
                  </a:lnTo>
                  <a:lnTo>
                    <a:pt x="433" y="166"/>
                  </a:lnTo>
                  <a:lnTo>
                    <a:pt x="429" y="150"/>
                  </a:lnTo>
                  <a:lnTo>
                    <a:pt x="427" y="131"/>
                  </a:lnTo>
                  <a:lnTo>
                    <a:pt x="429" y="113"/>
                  </a:lnTo>
                  <a:lnTo>
                    <a:pt x="434" y="93"/>
                  </a:lnTo>
                  <a:lnTo>
                    <a:pt x="464" y="93"/>
                  </a:lnTo>
                  <a:lnTo>
                    <a:pt x="464" y="49"/>
                  </a:lnTo>
                  <a:lnTo>
                    <a:pt x="425" y="49"/>
                  </a:lnTo>
                  <a:lnTo>
                    <a:pt x="425" y="22"/>
                  </a:lnTo>
                  <a:lnTo>
                    <a:pt x="425" y="18"/>
                  </a:lnTo>
                  <a:lnTo>
                    <a:pt x="422" y="9"/>
                  </a:lnTo>
                  <a:lnTo>
                    <a:pt x="415" y="5"/>
                  </a:lnTo>
                  <a:lnTo>
                    <a:pt x="406" y="1"/>
                  </a:lnTo>
                  <a:lnTo>
                    <a:pt x="395" y="0"/>
                  </a:lnTo>
                  <a:lnTo>
                    <a:pt x="383" y="1"/>
                  </a:lnTo>
                  <a:lnTo>
                    <a:pt x="374" y="5"/>
                  </a:lnTo>
                  <a:lnTo>
                    <a:pt x="367" y="9"/>
                  </a:lnTo>
                  <a:lnTo>
                    <a:pt x="365" y="18"/>
                  </a:lnTo>
                  <a:lnTo>
                    <a:pt x="366" y="22"/>
                  </a:lnTo>
                  <a:lnTo>
                    <a:pt x="366" y="49"/>
                  </a:lnTo>
                  <a:lnTo>
                    <a:pt x="147" y="49"/>
                  </a:lnTo>
                  <a:lnTo>
                    <a:pt x="147" y="22"/>
                  </a:lnTo>
                  <a:lnTo>
                    <a:pt x="144" y="14"/>
                  </a:lnTo>
                  <a:lnTo>
                    <a:pt x="137" y="9"/>
                  </a:lnTo>
                  <a:lnTo>
                    <a:pt x="128" y="6"/>
                  </a:lnTo>
                  <a:lnTo>
                    <a:pt x="118" y="6"/>
                  </a:lnTo>
                  <a:lnTo>
                    <a:pt x="107" y="7"/>
                  </a:lnTo>
                  <a:lnTo>
                    <a:pt x="98" y="11"/>
                  </a:lnTo>
                  <a:lnTo>
                    <a:pt x="91" y="15"/>
                  </a:lnTo>
                  <a:lnTo>
                    <a:pt x="89" y="22"/>
                  </a:lnTo>
                  <a:lnTo>
                    <a:pt x="89" y="51"/>
                  </a:lnTo>
                  <a:lnTo>
                    <a:pt x="53" y="51"/>
                  </a:lnTo>
                  <a:lnTo>
                    <a:pt x="53" y="93"/>
                  </a:lnTo>
                  <a:lnTo>
                    <a:pt x="57" y="93"/>
                  </a:lnTo>
                  <a:lnTo>
                    <a:pt x="65" y="93"/>
                  </a:lnTo>
                  <a:lnTo>
                    <a:pt x="75" y="93"/>
                  </a:lnTo>
                  <a:lnTo>
                    <a:pt x="87" y="93"/>
                  </a:lnTo>
                  <a:lnTo>
                    <a:pt x="91" y="107"/>
                  </a:lnTo>
                  <a:lnTo>
                    <a:pt x="94" y="122"/>
                  </a:lnTo>
                  <a:lnTo>
                    <a:pt x="94" y="139"/>
                  </a:lnTo>
                  <a:lnTo>
                    <a:pt x="91" y="157"/>
                  </a:lnTo>
                  <a:lnTo>
                    <a:pt x="86" y="174"/>
                  </a:lnTo>
                  <a:lnTo>
                    <a:pt x="79" y="190"/>
                  </a:lnTo>
                  <a:lnTo>
                    <a:pt x="69" y="206"/>
                  </a:lnTo>
                  <a:lnTo>
                    <a:pt x="57" y="220"/>
                  </a:lnTo>
                  <a:lnTo>
                    <a:pt x="45" y="229"/>
                  </a:lnTo>
                  <a:lnTo>
                    <a:pt x="35" y="236"/>
                  </a:lnTo>
                  <a:lnTo>
                    <a:pt x="26" y="241"/>
                  </a:lnTo>
                  <a:lnTo>
                    <a:pt x="17" y="244"/>
                  </a:lnTo>
                  <a:lnTo>
                    <a:pt x="11" y="248"/>
                  </a:lnTo>
                  <a:lnTo>
                    <a:pt x="5" y="251"/>
                  </a:lnTo>
                  <a:lnTo>
                    <a:pt x="1" y="257"/>
                  </a:lnTo>
                  <a:lnTo>
                    <a:pt x="0" y="266"/>
                  </a:lnTo>
                  <a:lnTo>
                    <a:pt x="529" y="266"/>
                  </a:lnTo>
                  <a:close/>
                </a:path>
              </a:pathLst>
            </a:custGeom>
            <a:solidFill>
              <a:srgbClr val="FF0000"/>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1" name="Freeform 73"/>
            <p:cNvSpPr/>
            <p:nvPr/>
          </p:nvSpPr>
          <p:spPr bwMode="auto">
            <a:xfrm>
              <a:off x="558" y="1547"/>
              <a:ext cx="40" cy="39"/>
            </a:xfrm>
            <a:custGeom>
              <a:avLst/>
              <a:gdLst>
                <a:gd name="T0" fmla="*/ 1 w 79"/>
                <a:gd name="T1" fmla="*/ 0 h 80"/>
                <a:gd name="T2" fmla="*/ 1 w 79"/>
                <a:gd name="T3" fmla="*/ 0 h 80"/>
                <a:gd name="T4" fmla="*/ 1 w 79"/>
                <a:gd name="T5" fmla="*/ 0 h 80"/>
                <a:gd name="T6" fmla="*/ 1 w 79"/>
                <a:gd name="T7" fmla="*/ 0 h 80"/>
                <a:gd name="T8" fmla="*/ 1 w 79"/>
                <a:gd name="T9" fmla="*/ 0 h 80"/>
                <a:gd name="T10" fmla="*/ 1 w 79"/>
                <a:gd name="T11" fmla="*/ 0 h 80"/>
                <a:gd name="T12" fmla="*/ 1 w 79"/>
                <a:gd name="T13" fmla="*/ 0 h 80"/>
                <a:gd name="T14" fmla="*/ 1 w 79"/>
                <a:gd name="T15" fmla="*/ 0 h 80"/>
                <a:gd name="T16" fmla="*/ 1 w 79"/>
                <a:gd name="T17" fmla="*/ 0 h 80"/>
                <a:gd name="T18" fmla="*/ 0 w 79"/>
                <a:gd name="T19" fmla="*/ 0 h 80"/>
                <a:gd name="T20" fmla="*/ 0 w 79"/>
                <a:gd name="T21" fmla="*/ 0 h 80"/>
                <a:gd name="T22" fmla="*/ 1 w 79"/>
                <a:gd name="T23" fmla="*/ 0 h 80"/>
                <a:gd name="T24" fmla="*/ 1 w 79"/>
                <a:gd name="T25" fmla="*/ 0 h 80"/>
                <a:gd name="T26" fmla="*/ 1 w 79"/>
                <a:gd name="T27" fmla="*/ 0 h 80"/>
                <a:gd name="T28" fmla="*/ 1 w 79"/>
                <a:gd name="T29" fmla="*/ 0 h 80"/>
                <a:gd name="T30" fmla="*/ 1 w 79"/>
                <a:gd name="T31" fmla="*/ 0 h 80"/>
                <a:gd name="T32" fmla="*/ 1 w 79"/>
                <a:gd name="T33" fmla="*/ 0 h 80"/>
                <a:gd name="T34" fmla="*/ 1 w 79"/>
                <a:gd name="T35" fmla="*/ 0 h 80"/>
                <a:gd name="T36" fmla="*/ 1 w 79"/>
                <a:gd name="T37" fmla="*/ 0 h 80"/>
                <a:gd name="T38" fmla="*/ 1 w 79"/>
                <a:gd name="T39" fmla="*/ 0 h 80"/>
                <a:gd name="T40" fmla="*/ 1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80"/>
                <a:gd name="T65" fmla="*/ 79 w 79"/>
                <a:gd name="T66" fmla="*/ 80 h 8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80">
                  <a:moveTo>
                    <a:pt x="79" y="80"/>
                  </a:moveTo>
                  <a:lnTo>
                    <a:pt x="79" y="80"/>
                  </a:lnTo>
                  <a:lnTo>
                    <a:pt x="77" y="65"/>
                  </a:lnTo>
                  <a:lnTo>
                    <a:pt x="72" y="50"/>
                  </a:lnTo>
                  <a:lnTo>
                    <a:pt x="65" y="36"/>
                  </a:lnTo>
                  <a:lnTo>
                    <a:pt x="55" y="23"/>
                  </a:lnTo>
                  <a:lnTo>
                    <a:pt x="44" y="14"/>
                  </a:lnTo>
                  <a:lnTo>
                    <a:pt x="30" y="7"/>
                  </a:lnTo>
                  <a:lnTo>
                    <a:pt x="15" y="3"/>
                  </a:lnTo>
                  <a:lnTo>
                    <a:pt x="0" y="0"/>
                  </a:lnTo>
                  <a:lnTo>
                    <a:pt x="0" y="12"/>
                  </a:lnTo>
                  <a:lnTo>
                    <a:pt x="15" y="12"/>
                  </a:lnTo>
                  <a:lnTo>
                    <a:pt x="27" y="17"/>
                  </a:lnTo>
                  <a:lnTo>
                    <a:pt x="39" y="23"/>
                  </a:lnTo>
                  <a:lnTo>
                    <a:pt x="48" y="30"/>
                  </a:lnTo>
                  <a:lnTo>
                    <a:pt x="56" y="41"/>
                  </a:lnTo>
                  <a:lnTo>
                    <a:pt x="63" y="52"/>
                  </a:lnTo>
                  <a:lnTo>
                    <a:pt x="68" y="65"/>
                  </a:lnTo>
                  <a:lnTo>
                    <a:pt x="68" y="80"/>
                  </a:lnTo>
                  <a:lnTo>
                    <a:pt x="79" y="80"/>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2" name="Freeform 74"/>
            <p:cNvSpPr/>
            <p:nvPr/>
          </p:nvSpPr>
          <p:spPr bwMode="auto">
            <a:xfrm>
              <a:off x="558" y="1586"/>
              <a:ext cx="40" cy="40"/>
            </a:xfrm>
            <a:custGeom>
              <a:avLst/>
              <a:gdLst>
                <a:gd name="T0" fmla="*/ 0 w 79"/>
                <a:gd name="T1" fmla="*/ 1 h 78"/>
                <a:gd name="T2" fmla="*/ 0 w 79"/>
                <a:gd name="T3" fmla="*/ 1 h 78"/>
                <a:gd name="T4" fmla="*/ 1 w 79"/>
                <a:gd name="T5" fmla="*/ 1 h 78"/>
                <a:gd name="T6" fmla="*/ 1 w 79"/>
                <a:gd name="T7" fmla="*/ 1 h 78"/>
                <a:gd name="T8" fmla="*/ 1 w 79"/>
                <a:gd name="T9" fmla="*/ 1 h 78"/>
                <a:gd name="T10" fmla="*/ 1 w 79"/>
                <a:gd name="T11" fmla="*/ 1 h 78"/>
                <a:gd name="T12" fmla="*/ 1 w 79"/>
                <a:gd name="T13" fmla="*/ 1 h 78"/>
                <a:gd name="T14" fmla="*/ 1 w 79"/>
                <a:gd name="T15" fmla="*/ 1 h 78"/>
                <a:gd name="T16" fmla="*/ 1 w 79"/>
                <a:gd name="T17" fmla="*/ 1 h 78"/>
                <a:gd name="T18" fmla="*/ 1 w 79"/>
                <a:gd name="T19" fmla="*/ 0 h 78"/>
                <a:gd name="T20" fmla="*/ 1 w 79"/>
                <a:gd name="T21" fmla="*/ 0 h 78"/>
                <a:gd name="T22" fmla="*/ 1 w 79"/>
                <a:gd name="T23" fmla="*/ 1 h 78"/>
                <a:gd name="T24" fmla="*/ 1 w 79"/>
                <a:gd name="T25" fmla="*/ 1 h 78"/>
                <a:gd name="T26" fmla="*/ 1 w 79"/>
                <a:gd name="T27" fmla="*/ 1 h 78"/>
                <a:gd name="T28" fmla="*/ 1 w 79"/>
                <a:gd name="T29" fmla="*/ 1 h 78"/>
                <a:gd name="T30" fmla="*/ 1 w 79"/>
                <a:gd name="T31" fmla="*/ 1 h 78"/>
                <a:gd name="T32" fmla="*/ 1 w 79"/>
                <a:gd name="T33" fmla="*/ 1 h 78"/>
                <a:gd name="T34" fmla="*/ 1 w 79"/>
                <a:gd name="T35" fmla="*/ 1 h 78"/>
                <a:gd name="T36" fmla="*/ 0 w 79"/>
                <a:gd name="T37" fmla="*/ 1 h 78"/>
                <a:gd name="T38" fmla="*/ 0 w 79"/>
                <a:gd name="T39" fmla="*/ 1 h 78"/>
                <a:gd name="T40" fmla="*/ 0 w 79"/>
                <a:gd name="T41" fmla="*/ 1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78"/>
                <a:gd name="T65" fmla="*/ 79 w 79"/>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78">
                  <a:moveTo>
                    <a:pt x="0" y="78"/>
                  </a:moveTo>
                  <a:lnTo>
                    <a:pt x="0" y="78"/>
                  </a:lnTo>
                  <a:lnTo>
                    <a:pt x="15" y="76"/>
                  </a:lnTo>
                  <a:lnTo>
                    <a:pt x="30" y="71"/>
                  </a:lnTo>
                  <a:lnTo>
                    <a:pt x="44" y="64"/>
                  </a:lnTo>
                  <a:lnTo>
                    <a:pt x="55" y="55"/>
                  </a:lnTo>
                  <a:lnTo>
                    <a:pt x="65" y="42"/>
                  </a:lnTo>
                  <a:lnTo>
                    <a:pt x="72" y="31"/>
                  </a:lnTo>
                  <a:lnTo>
                    <a:pt x="77" y="15"/>
                  </a:lnTo>
                  <a:lnTo>
                    <a:pt x="79" y="0"/>
                  </a:lnTo>
                  <a:lnTo>
                    <a:pt x="68" y="0"/>
                  </a:lnTo>
                  <a:lnTo>
                    <a:pt x="68" y="15"/>
                  </a:lnTo>
                  <a:lnTo>
                    <a:pt x="63" y="26"/>
                  </a:lnTo>
                  <a:lnTo>
                    <a:pt x="56" y="38"/>
                  </a:lnTo>
                  <a:lnTo>
                    <a:pt x="48" y="48"/>
                  </a:lnTo>
                  <a:lnTo>
                    <a:pt x="39" y="55"/>
                  </a:lnTo>
                  <a:lnTo>
                    <a:pt x="27" y="62"/>
                  </a:lnTo>
                  <a:lnTo>
                    <a:pt x="15" y="67"/>
                  </a:lnTo>
                  <a:lnTo>
                    <a:pt x="0" y="67"/>
                  </a:lnTo>
                  <a:lnTo>
                    <a:pt x="0" y="78"/>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3" name="Freeform 75"/>
            <p:cNvSpPr/>
            <p:nvPr/>
          </p:nvSpPr>
          <p:spPr bwMode="auto">
            <a:xfrm>
              <a:off x="519" y="1586"/>
              <a:ext cx="39" cy="40"/>
            </a:xfrm>
            <a:custGeom>
              <a:avLst/>
              <a:gdLst>
                <a:gd name="T0" fmla="*/ 0 w 79"/>
                <a:gd name="T1" fmla="*/ 0 h 78"/>
                <a:gd name="T2" fmla="*/ 0 w 79"/>
                <a:gd name="T3" fmla="*/ 0 h 78"/>
                <a:gd name="T4" fmla="*/ 0 w 79"/>
                <a:gd name="T5" fmla="*/ 1 h 78"/>
                <a:gd name="T6" fmla="*/ 0 w 79"/>
                <a:gd name="T7" fmla="*/ 1 h 78"/>
                <a:gd name="T8" fmla="*/ 0 w 79"/>
                <a:gd name="T9" fmla="*/ 1 h 78"/>
                <a:gd name="T10" fmla="*/ 0 w 79"/>
                <a:gd name="T11" fmla="*/ 1 h 78"/>
                <a:gd name="T12" fmla="*/ 0 w 79"/>
                <a:gd name="T13" fmla="*/ 1 h 78"/>
                <a:gd name="T14" fmla="*/ 0 w 79"/>
                <a:gd name="T15" fmla="*/ 1 h 78"/>
                <a:gd name="T16" fmla="*/ 0 w 79"/>
                <a:gd name="T17" fmla="*/ 1 h 78"/>
                <a:gd name="T18" fmla="*/ 0 w 79"/>
                <a:gd name="T19" fmla="*/ 1 h 78"/>
                <a:gd name="T20" fmla="*/ 0 w 79"/>
                <a:gd name="T21" fmla="*/ 1 h 78"/>
                <a:gd name="T22" fmla="*/ 0 w 79"/>
                <a:gd name="T23" fmla="*/ 1 h 78"/>
                <a:gd name="T24" fmla="*/ 0 w 79"/>
                <a:gd name="T25" fmla="*/ 1 h 78"/>
                <a:gd name="T26" fmla="*/ 0 w 79"/>
                <a:gd name="T27" fmla="*/ 1 h 78"/>
                <a:gd name="T28" fmla="*/ 0 w 79"/>
                <a:gd name="T29" fmla="*/ 1 h 78"/>
                <a:gd name="T30" fmla="*/ 0 w 79"/>
                <a:gd name="T31" fmla="*/ 1 h 78"/>
                <a:gd name="T32" fmla="*/ 0 w 79"/>
                <a:gd name="T33" fmla="*/ 1 h 78"/>
                <a:gd name="T34" fmla="*/ 0 w 79"/>
                <a:gd name="T35" fmla="*/ 1 h 78"/>
                <a:gd name="T36" fmla="*/ 0 w 79"/>
                <a:gd name="T37" fmla="*/ 0 h 78"/>
                <a:gd name="T38" fmla="*/ 0 w 79"/>
                <a:gd name="T39" fmla="*/ 0 h 78"/>
                <a:gd name="T40" fmla="*/ 0 w 79"/>
                <a:gd name="T41" fmla="*/ 0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78"/>
                <a:gd name="T65" fmla="*/ 79 w 79"/>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78">
                  <a:moveTo>
                    <a:pt x="0" y="0"/>
                  </a:moveTo>
                  <a:lnTo>
                    <a:pt x="0" y="0"/>
                  </a:lnTo>
                  <a:lnTo>
                    <a:pt x="3" y="15"/>
                  </a:lnTo>
                  <a:lnTo>
                    <a:pt x="7" y="31"/>
                  </a:lnTo>
                  <a:lnTo>
                    <a:pt x="14" y="42"/>
                  </a:lnTo>
                  <a:lnTo>
                    <a:pt x="23" y="55"/>
                  </a:lnTo>
                  <a:lnTo>
                    <a:pt x="36" y="64"/>
                  </a:lnTo>
                  <a:lnTo>
                    <a:pt x="48" y="71"/>
                  </a:lnTo>
                  <a:lnTo>
                    <a:pt x="64" y="76"/>
                  </a:lnTo>
                  <a:lnTo>
                    <a:pt x="79" y="78"/>
                  </a:lnTo>
                  <a:lnTo>
                    <a:pt x="79" y="67"/>
                  </a:lnTo>
                  <a:lnTo>
                    <a:pt x="64" y="67"/>
                  </a:lnTo>
                  <a:lnTo>
                    <a:pt x="52" y="62"/>
                  </a:lnTo>
                  <a:lnTo>
                    <a:pt x="41" y="55"/>
                  </a:lnTo>
                  <a:lnTo>
                    <a:pt x="30" y="48"/>
                  </a:lnTo>
                  <a:lnTo>
                    <a:pt x="23" y="38"/>
                  </a:lnTo>
                  <a:lnTo>
                    <a:pt x="16" y="26"/>
                  </a:lnTo>
                  <a:lnTo>
                    <a:pt x="12" y="15"/>
                  </a:lnTo>
                  <a:lnTo>
                    <a:pt x="12" y="0"/>
                  </a:lnTo>
                  <a:lnTo>
                    <a:pt x="0" y="0"/>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4" name="Freeform 76"/>
            <p:cNvSpPr/>
            <p:nvPr/>
          </p:nvSpPr>
          <p:spPr bwMode="auto">
            <a:xfrm>
              <a:off x="519" y="1547"/>
              <a:ext cx="39" cy="39"/>
            </a:xfrm>
            <a:custGeom>
              <a:avLst/>
              <a:gdLst>
                <a:gd name="T0" fmla="*/ 0 w 79"/>
                <a:gd name="T1" fmla="*/ 0 h 80"/>
                <a:gd name="T2" fmla="*/ 0 w 79"/>
                <a:gd name="T3" fmla="*/ 0 h 80"/>
                <a:gd name="T4" fmla="*/ 0 w 79"/>
                <a:gd name="T5" fmla="*/ 0 h 80"/>
                <a:gd name="T6" fmla="*/ 0 w 79"/>
                <a:gd name="T7" fmla="*/ 0 h 80"/>
                <a:gd name="T8" fmla="*/ 0 w 79"/>
                <a:gd name="T9" fmla="*/ 0 h 80"/>
                <a:gd name="T10" fmla="*/ 0 w 79"/>
                <a:gd name="T11" fmla="*/ 0 h 80"/>
                <a:gd name="T12" fmla="*/ 0 w 79"/>
                <a:gd name="T13" fmla="*/ 0 h 80"/>
                <a:gd name="T14" fmla="*/ 0 w 79"/>
                <a:gd name="T15" fmla="*/ 0 h 80"/>
                <a:gd name="T16" fmla="*/ 0 w 79"/>
                <a:gd name="T17" fmla="*/ 0 h 80"/>
                <a:gd name="T18" fmla="*/ 0 w 79"/>
                <a:gd name="T19" fmla="*/ 0 h 80"/>
                <a:gd name="T20" fmla="*/ 0 w 79"/>
                <a:gd name="T21" fmla="*/ 0 h 80"/>
                <a:gd name="T22" fmla="*/ 0 w 79"/>
                <a:gd name="T23" fmla="*/ 0 h 80"/>
                <a:gd name="T24" fmla="*/ 0 w 79"/>
                <a:gd name="T25" fmla="*/ 0 h 80"/>
                <a:gd name="T26" fmla="*/ 0 w 79"/>
                <a:gd name="T27" fmla="*/ 0 h 80"/>
                <a:gd name="T28" fmla="*/ 0 w 79"/>
                <a:gd name="T29" fmla="*/ 0 h 80"/>
                <a:gd name="T30" fmla="*/ 0 w 79"/>
                <a:gd name="T31" fmla="*/ 0 h 80"/>
                <a:gd name="T32" fmla="*/ 0 w 79"/>
                <a:gd name="T33" fmla="*/ 0 h 80"/>
                <a:gd name="T34" fmla="*/ 0 w 79"/>
                <a:gd name="T35" fmla="*/ 0 h 80"/>
                <a:gd name="T36" fmla="*/ 0 w 79"/>
                <a:gd name="T37" fmla="*/ 0 h 80"/>
                <a:gd name="T38" fmla="*/ 0 w 79"/>
                <a:gd name="T39" fmla="*/ 0 h 80"/>
                <a:gd name="T40" fmla="*/ 0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80"/>
                <a:gd name="T65" fmla="*/ 79 w 79"/>
                <a:gd name="T66" fmla="*/ 80 h 8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80">
                  <a:moveTo>
                    <a:pt x="79" y="0"/>
                  </a:moveTo>
                  <a:lnTo>
                    <a:pt x="79" y="0"/>
                  </a:lnTo>
                  <a:lnTo>
                    <a:pt x="64" y="3"/>
                  </a:lnTo>
                  <a:lnTo>
                    <a:pt x="48" y="7"/>
                  </a:lnTo>
                  <a:lnTo>
                    <a:pt x="36" y="14"/>
                  </a:lnTo>
                  <a:lnTo>
                    <a:pt x="23" y="23"/>
                  </a:lnTo>
                  <a:lnTo>
                    <a:pt x="14" y="36"/>
                  </a:lnTo>
                  <a:lnTo>
                    <a:pt x="7" y="50"/>
                  </a:lnTo>
                  <a:lnTo>
                    <a:pt x="3" y="65"/>
                  </a:lnTo>
                  <a:lnTo>
                    <a:pt x="0" y="80"/>
                  </a:lnTo>
                  <a:lnTo>
                    <a:pt x="12" y="80"/>
                  </a:lnTo>
                  <a:lnTo>
                    <a:pt x="12" y="65"/>
                  </a:lnTo>
                  <a:lnTo>
                    <a:pt x="16" y="52"/>
                  </a:lnTo>
                  <a:lnTo>
                    <a:pt x="23" y="41"/>
                  </a:lnTo>
                  <a:lnTo>
                    <a:pt x="30" y="30"/>
                  </a:lnTo>
                  <a:lnTo>
                    <a:pt x="41" y="23"/>
                  </a:lnTo>
                  <a:lnTo>
                    <a:pt x="52" y="17"/>
                  </a:lnTo>
                  <a:lnTo>
                    <a:pt x="64" y="12"/>
                  </a:lnTo>
                  <a:lnTo>
                    <a:pt x="79" y="12"/>
                  </a:lnTo>
                  <a:lnTo>
                    <a:pt x="79" y="0"/>
                  </a:lnTo>
                  <a:close/>
                </a:path>
              </a:pathLst>
            </a:custGeom>
            <a:solidFill>
              <a:srgbClr val="FFFFFF"/>
            </a:solidFill>
            <a:ln w="9525">
              <a:no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5" name="Rectangle 77"/>
            <p:cNvSpPr>
              <a:spLocks noChangeArrowheads="1"/>
            </p:cNvSpPr>
            <p:nvPr/>
          </p:nvSpPr>
          <p:spPr bwMode="auto">
            <a:xfrm>
              <a:off x="432" y="1641"/>
              <a:ext cx="265" cy="10"/>
            </a:xfrm>
            <a:prstGeom prst="rect">
              <a:avLst/>
            </a:prstGeom>
            <a:solidFill>
              <a:srgbClr val="FFFFFF"/>
            </a:solidFill>
            <a:ln w="9525">
              <a:noFill/>
              <a:miter lim="800000"/>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left)">
                                      <p:cBhvr>
                                        <p:cTn id="7" dur="5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803236"/>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网络核心：比较电路交换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9" name="Rectangle 3"/>
          <p:cNvSpPr>
            <a:spLocks noGrp="1" noChangeArrowheads="1"/>
          </p:cNvSpPr>
          <p:nvPr>
            <p:ph type="body" sz="half" idx="1"/>
          </p:nvPr>
        </p:nvSpPr>
        <p:spPr>
          <a:xfrm>
            <a:off x="426095" y="1571710"/>
            <a:ext cx="8291226" cy="3148718"/>
          </a:xfrm>
        </p:spPr>
        <p:txBody>
          <a:bodyPr>
            <a:noAutofit/>
          </a:bodyPr>
          <a:lstStyle/>
          <a:p>
            <a:pPr marL="342900" indent="-342900">
              <a:lnSpc>
                <a:spcPts val="3600"/>
              </a:lnSpc>
              <a:spcBef>
                <a:spcPts val="600"/>
              </a:spcBef>
              <a:buClr>
                <a:schemeClr val="accent2"/>
              </a:buClr>
              <a:buSzPct val="100000"/>
              <a:buBlip>
                <a:blip r:embed="rId3"/>
              </a:buBlip>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计算示例</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600"/>
              </a:lnSpc>
              <a:spcBef>
                <a:spcPts val="600"/>
              </a:spcBef>
              <a:buBlip>
                <a:blip r:embed="rId4"/>
              </a:buBlip>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主机</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向主机</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发送大小为</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640000</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位的文件，计算所需的时间</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2" indent="-336550">
              <a:lnSpc>
                <a:spcPts val="3600"/>
              </a:lnSpc>
              <a:spcBef>
                <a:spcPts val="600"/>
              </a:spcBef>
              <a:buClr>
                <a:schemeClr val="accent2">
                  <a:lumMod val="75000"/>
                </a:schemeClr>
              </a:buClr>
              <a:buFont typeface="Wingdings" panose="05000000000000000000" pitchFamily="2" charset="2"/>
              <a:buChar char="ü"/>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链路的传输速率为</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1.536Mbps</a:t>
            </a:r>
          </a:p>
          <a:p>
            <a:pPr lvl="2" indent="-336550">
              <a:lnSpc>
                <a:spcPts val="3600"/>
              </a:lnSpc>
              <a:spcBef>
                <a:spcPts val="600"/>
              </a:spcBef>
              <a:buClr>
                <a:schemeClr val="accent2">
                  <a:lumMod val="75000"/>
                </a:schemeClr>
              </a:buClr>
              <a:buFont typeface="Wingdings" panose="05000000000000000000" pitchFamily="2" charset="2"/>
              <a:buChar char="ü"/>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采用时分多路复用，由</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24</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个连接共享（即划分</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24</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个时间槽口）</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2" indent="-336550">
              <a:lnSpc>
                <a:spcPts val="3600"/>
              </a:lnSpc>
              <a:spcBef>
                <a:spcPts val="600"/>
              </a:spcBef>
              <a:buClr>
                <a:schemeClr val="accent2">
                  <a:lumMod val="75000"/>
                </a:schemeClr>
              </a:buClr>
              <a:buFont typeface="Wingdings" panose="05000000000000000000" pitchFamily="2" charset="2"/>
              <a:buChar char="ü"/>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建立连接时间为</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500</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毫秒</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88" name="Rectangle 872"/>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800">
              <a:ea typeface="宋体" panose="02010600030101010101" pitchFamily="2"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6" name="Text Box 4"/>
          <p:cNvSpPr txBox="1">
            <a:spLocks noChangeArrowheads="1"/>
          </p:cNvSpPr>
          <p:nvPr/>
        </p:nvSpPr>
        <p:spPr bwMode="auto">
          <a:xfrm>
            <a:off x="1197207" y="4971756"/>
            <a:ext cx="5470525"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50000"/>
              </a:spcBef>
              <a:buClr>
                <a:schemeClr val="tx1"/>
              </a:buClr>
              <a:buFont typeface="Symbol" panose="05050102010706020507" pitchFamily="18" charset="2"/>
              <a:buNone/>
            </a:pPr>
            <a:r>
              <a:rPr lang="en-US" altLang="zh-CN" sz="2000" dirty="0">
                <a:ea typeface="宋体" panose="02010600030101010101" pitchFamily="2" charset="-122"/>
                <a:cs typeface="Times New Roman" panose="02020603050405020304" pitchFamily="18" charset="0"/>
              </a:rPr>
              <a:t>Rate:  1.536 Mbps /24 = 64,000 bps</a:t>
            </a:r>
          </a:p>
          <a:p>
            <a:pPr eaLnBrk="1" hangingPunct="1">
              <a:lnSpc>
                <a:spcPct val="120000"/>
              </a:lnSpc>
              <a:spcBef>
                <a:spcPct val="50000"/>
              </a:spcBef>
              <a:buClr>
                <a:schemeClr val="tx1"/>
              </a:buClr>
              <a:buFont typeface="Symbol" panose="05050102010706020507" pitchFamily="18" charset="2"/>
              <a:buNone/>
            </a:pPr>
            <a:r>
              <a:rPr lang="en-US" altLang="zh-CN" sz="2000" dirty="0">
                <a:ea typeface="宋体" panose="02010600030101010101" pitchFamily="2" charset="-122"/>
                <a:cs typeface="Times New Roman" panose="02020603050405020304" pitchFamily="18" charset="0"/>
              </a:rPr>
              <a:t>Total time:  0.5s+ 640000/64000s=10.5s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65363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4" name="组合 3"/>
          <p:cNvGrpSpPr/>
          <p:nvPr/>
        </p:nvGrpSpPr>
        <p:grpSpPr>
          <a:xfrm>
            <a:off x="428625" y="1320383"/>
            <a:ext cx="7889230" cy="3795799"/>
            <a:chOff x="426095" y="1264875"/>
            <a:chExt cx="7889230" cy="3795799"/>
          </a:xfrm>
        </p:grpSpPr>
        <p:sp>
          <p:nvSpPr>
            <p:cNvPr id="10088" name="Rectangle 872"/>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800">
                <a:ea typeface="宋体" panose="02010600030101010101" pitchFamily="2" charset="-122"/>
                <a:cs typeface="Times New Roman" panose="02020603050405020304" pitchFamily="18" charset="0"/>
              </a:endParaRPr>
            </a:p>
          </p:txBody>
        </p:sp>
        <p:graphicFrame>
          <p:nvGraphicFramePr>
            <p:cNvPr id="8" name="Object 10"/>
            <p:cNvGraphicFramePr>
              <a:graphicFrameLocks noChangeAspect="1"/>
            </p:cNvGraphicFramePr>
            <p:nvPr/>
          </p:nvGraphicFramePr>
          <p:xfrm>
            <a:off x="984250" y="2547938"/>
            <a:ext cx="708025" cy="581025"/>
          </p:xfrm>
          <a:graphic>
            <a:graphicData uri="http://schemas.openxmlformats.org/presentationml/2006/ole">
              <mc:AlternateContent xmlns:mc="http://schemas.openxmlformats.org/markup-compatibility/2006">
                <mc:Choice xmlns:v="urn:schemas-microsoft-com:vml" Requires="v">
                  <p:oleObj name="Clip" r:id="rId5" imgW="1307465" imgH="1083945" progId="MS_ClipArt_Gallery.2">
                    <p:embed/>
                  </p:oleObj>
                </mc:Choice>
                <mc:Fallback>
                  <p:oleObj name="Clip" r:id="rId5" imgW="1307465" imgH="1083945" progId="MS_ClipArt_Gallery.2">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250" y="2547938"/>
                          <a:ext cx="708025"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Oval 11"/>
            <p:cNvSpPr>
              <a:spLocks noChangeArrowheads="1"/>
            </p:cNvSpPr>
            <p:nvPr/>
          </p:nvSpPr>
          <p:spPr bwMode="auto">
            <a:xfrm>
              <a:off x="2481263" y="2398713"/>
              <a:ext cx="1311275" cy="403225"/>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0" name="Rectangle 12"/>
            <p:cNvSpPr>
              <a:spLocks noChangeArrowheads="1"/>
            </p:cNvSpPr>
            <p:nvPr/>
          </p:nvSpPr>
          <p:spPr bwMode="auto">
            <a:xfrm>
              <a:off x="2481263" y="2324100"/>
              <a:ext cx="1311275" cy="287338"/>
            </a:xfrm>
            <a:prstGeom prst="rect">
              <a:avLst/>
            </a:prstGeom>
            <a:solidFill>
              <a:schemeClr val="accent6">
                <a:lumMod val="60000"/>
                <a:lumOff val="40000"/>
              </a:schemeClr>
            </a:solidFill>
            <a:ln w="12700">
              <a:noFill/>
              <a:miter lim="800000"/>
            </a:ln>
          </p:spPr>
          <p:txBody>
            <a:bodyPr wrap="none" anchor="ctr"/>
            <a:lstStyle/>
            <a:p>
              <a:pPr algn="ctr">
                <a:defRPr/>
              </a:pPr>
              <a:endParaRPr kumimoji="0" lang="zh-CN" altLang="zh-CN" sz="2400">
                <a:latin typeface="+mn-lt"/>
                <a:ea typeface="宋体" panose="02010600030101010101" pitchFamily="2" charset="-122"/>
              </a:endParaRPr>
            </a:p>
          </p:txBody>
        </p:sp>
        <p:sp>
          <p:nvSpPr>
            <p:cNvPr id="11" name="Oval 13"/>
            <p:cNvSpPr>
              <a:spLocks noChangeArrowheads="1"/>
            </p:cNvSpPr>
            <p:nvPr/>
          </p:nvSpPr>
          <p:spPr bwMode="auto">
            <a:xfrm>
              <a:off x="2492375" y="2074863"/>
              <a:ext cx="1311275" cy="469900"/>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12" name="Group 14"/>
            <p:cNvGrpSpPr/>
            <p:nvPr/>
          </p:nvGrpSpPr>
          <p:grpSpPr bwMode="auto">
            <a:xfrm>
              <a:off x="2870200" y="2108200"/>
              <a:ext cx="546100" cy="130175"/>
              <a:chOff x="2208" y="2184"/>
              <a:chExt cx="176" cy="69"/>
            </a:xfrm>
          </p:grpSpPr>
          <p:grpSp>
            <p:nvGrpSpPr>
              <p:cNvPr id="13" name="Group 15"/>
              <p:cNvGrpSpPr/>
              <p:nvPr/>
            </p:nvGrpSpPr>
            <p:grpSpPr bwMode="auto">
              <a:xfrm>
                <a:off x="2208" y="2185"/>
                <a:ext cx="176" cy="68"/>
                <a:chOff x="2848" y="848"/>
                <a:chExt cx="140" cy="98"/>
              </a:xfrm>
            </p:grpSpPr>
            <p:sp>
              <p:nvSpPr>
                <p:cNvPr id="18" name="Line 16"/>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9" name="Line 17"/>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20" name="Line 18"/>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14" name="Group 19"/>
              <p:cNvGrpSpPr/>
              <p:nvPr/>
            </p:nvGrpSpPr>
            <p:grpSpPr bwMode="auto">
              <a:xfrm flipV="1">
                <a:off x="2208" y="2184"/>
                <a:ext cx="176" cy="68"/>
                <a:chOff x="2848" y="848"/>
                <a:chExt cx="140" cy="98"/>
              </a:xfrm>
            </p:grpSpPr>
            <p:sp>
              <p:nvSpPr>
                <p:cNvPr id="15" name="Line 20"/>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6" name="Line 21"/>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17" name="Line 22"/>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sp>
          <p:nvSpPr>
            <p:cNvPr id="21" name="Oval 23"/>
            <p:cNvSpPr>
              <a:spLocks noChangeArrowheads="1"/>
            </p:cNvSpPr>
            <p:nvPr/>
          </p:nvSpPr>
          <p:spPr bwMode="auto">
            <a:xfrm>
              <a:off x="5870575" y="2419350"/>
              <a:ext cx="1311275" cy="403225"/>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22" name="Line 24"/>
            <p:cNvSpPr>
              <a:spLocks noChangeShapeType="1"/>
            </p:cNvSpPr>
            <p:nvPr/>
          </p:nvSpPr>
          <p:spPr bwMode="auto">
            <a:xfrm>
              <a:off x="5880100" y="2397125"/>
              <a:ext cx="0" cy="249238"/>
            </a:xfrm>
            <a:prstGeom prst="line">
              <a:avLst/>
            </a:prstGeom>
            <a:no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23" name="Rectangle 25"/>
            <p:cNvSpPr>
              <a:spLocks noChangeArrowheads="1"/>
            </p:cNvSpPr>
            <p:nvPr/>
          </p:nvSpPr>
          <p:spPr bwMode="auto">
            <a:xfrm>
              <a:off x="5880100" y="2355850"/>
              <a:ext cx="1312863" cy="287338"/>
            </a:xfrm>
            <a:prstGeom prst="rect">
              <a:avLst/>
            </a:prstGeom>
            <a:solidFill>
              <a:schemeClr val="accent6">
                <a:lumMod val="60000"/>
                <a:lumOff val="40000"/>
              </a:schemeClr>
            </a:solidFill>
            <a:ln w="12700">
              <a:noFill/>
              <a:miter lim="800000"/>
            </a:ln>
          </p:spPr>
          <p:txBody>
            <a:bodyPr wrap="none" anchor="ctr"/>
            <a:lstStyle/>
            <a:p>
              <a:pPr algn="ctr">
                <a:defRPr/>
              </a:pPr>
              <a:endParaRPr kumimoji="0" lang="zh-CN" altLang="zh-CN" sz="2400">
                <a:latin typeface="+mn-lt"/>
                <a:ea typeface="宋体" panose="02010600030101010101" pitchFamily="2" charset="-122"/>
              </a:endParaRPr>
            </a:p>
          </p:txBody>
        </p:sp>
        <p:sp>
          <p:nvSpPr>
            <p:cNvPr id="24" name="Oval 26"/>
            <p:cNvSpPr>
              <a:spLocks noChangeArrowheads="1"/>
            </p:cNvSpPr>
            <p:nvPr/>
          </p:nvSpPr>
          <p:spPr bwMode="auto">
            <a:xfrm>
              <a:off x="5891213" y="2106613"/>
              <a:ext cx="1311275" cy="468312"/>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aphicFrame>
          <p:nvGraphicFramePr>
            <p:cNvPr id="25" name="Object 27"/>
            <p:cNvGraphicFramePr>
              <a:graphicFrameLocks noChangeAspect="1"/>
            </p:cNvGraphicFramePr>
            <p:nvPr/>
          </p:nvGraphicFramePr>
          <p:xfrm>
            <a:off x="7607300" y="1539875"/>
            <a:ext cx="708025" cy="582613"/>
          </p:xfrm>
          <a:graphic>
            <a:graphicData uri="http://schemas.openxmlformats.org/presentationml/2006/ole">
              <mc:AlternateContent xmlns:mc="http://schemas.openxmlformats.org/markup-compatibility/2006">
                <mc:Choice xmlns:v="urn:schemas-microsoft-com:vml" Requires="v">
                  <p:oleObj name="Clip" r:id="rId7" imgW="1307465" imgH="1083945" progId="MS_ClipArt_Gallery.2">
                    <p:embed/>
                  </p:oleObj>
                </mc:Choice>
                <mc:Fallback>
                  <p:oleObj name="Clip" r:id="rId7" imgW="1307465" imgH="1083945" progId="MS_ClipArt_Gallery.2">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7300" y="1539875"/>
                          <a:ext cx="708025"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8"/>
            <p:cNvGraphicFramePr>
              <a:graphicFrameLocks noChangeAspect="1"/>
            </p:cNvGraphicFramePr>
            <p:nvPr/>
          </p:nvGraphicFramePr>
          <p:xfrm>
            <a:off x="996950" y="1560513"/>
            <a:ext cx="708025" cy="582612"/>
          </p:xfrm>
          <a:graphic>
            <a:graphicData uri="http://schemas.openxmlformats.org/presentationml/2006/ole">
              <mc:AlternateContent xmlns:mc="http://schemas.openxmlformats.org/markup-compatibility/2006">
                <mc:Choice xmlns:v="urn:schemas-microsoft-com:vml" Requires="v">
                  <p:oleObj name="Clip" r:id="rId8" imgW="1307465" imgH="1083945" progId="MS_ClipArt_Gallery.2">
                    <p:embed/>
                  </p:oleObj>
                </mc:Choice>
                <mc:Fallback>
                  <p:oleObj name="Clip" r:id="rId8" imgW="1307465" imgH="1083945" progId="MS_ClipArt_Gallery.2">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950" y="1560513"/>
                          <a:ext cx="7080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Line 29"/>
            <p:cNvSpPr>
              <a:spLocks noChangeShapeType="1"/>
            </p:cNvSpPr>
            <p:nvPr/>
          </p:nvSpPr>
          <p:spPr bwMode="auto">
            <a:xfrm>
              <a:off x="1681163" y="2003425"/>
              <a:ext cx="552450" cy="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28" name="Line 30"/>
            <p:cNvSpPr>
              <a:spLocks noChangeShapeType="1"/>
            </p:cNvSpPr>
            <p:nvPr/>
          </p:nvSpPr>
          <p:spPr bwMode="auto">
            <a:xfrm flipV="1">
              <a:off x="1436688" y="3086100"/>
              <a:ext cx="792162" cy="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29" name="Line 31"/>
            <p:cNvSpPr>
              <a:spLocks noChangeShapeType="1"/>
            </p:cNvSpPr>
            <p:nvPr/>
          </p:nvSpPr>
          <p:spPr bwMode="auto">
            <a:xfrm>
              <a:off x="3787775" y="2460625"/>
              <a:ext cx="2117725" cy="11113"/>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0" name="Line 32"/>
            <p:cNvSpPr>
              <a:spLocks noChangeShapeType="1"/>
            </p:cNvSpPr>
            <p:nvPr/>
          </p:nvSpPr>
          <p:spPr bwMode="auto">
            <a:xfrm flipV="1">
              <a:off x="6092825" y="2824163"/>
              <a:ext cx="155575" cy="71755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1" name="Line 33"/>
            <p:cNvSpPr>
              <a:spLocks noChangeShapeType="1"/>
            </p:cNvSpPr>
            <p:nvPr/>
          </p:nvSpPr>
          <p:spPr bwMode="auto">
            <a:xfrm flipV="1">
              <a:off x="7156450" y="1982788"/>
              <a:ext cx="552450" cy="29210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2" name="Line 34"/>
            <p:cNvSpPr>
              <a:spLocks noChangeShapeType="1"/>
            </p:cNvSpPr>
            <p:nvPr/>
          </p:nvSpPr>
          <p:spPr bwMode="auto">
            <a:xfrm flipH="1">
              <a:off x="2233613" y="1993900"/>
              <a:ext cx="0" cy="1090613"/>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3" name="Line 35"/>
            <p:cNvSpPr>
              <a:spLocks noChangeShapeType="1"/>
            </p:cNvSpPr>
            <p:nvPr/>
          </p:nvSpPr>
          <p:spPr bwMode="auto">
            <a:xfrm>
              <a:off x="2244725" y="2466975"/>
              <a:ext cx="219075" cy="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4" name="Rectangle 36"/>
            <p:cNvSpPr>
              <a:spLocks noChangeArrowheads="1"/>
            </p:cNvSpPr>
            <p:nvPr/>
          </p:nvSpPr>
          <p:spPr bwMode="auto">
            <a:xfrm>
              <a:off x="3824288" y="2238375"/>
              <a:ext cx="161925" cy="217488"/>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5" name="Rectangle 37"/>
            <p:cNvSpPr>
              <a:spLocks noChangeArrowheads="1"/>
            </p:cNvSpPr>
            <p:nvPr/>
          </p:nvSpPr>
          <p:spPr bwMode="auto">
            <a:xfrm>
              <a:off x="4002088" y="22383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6" name="Rectangle 38"/>
            <p:cNvSpPr>
              <a:spLocks noChangeArrowheads="1"/>
            </p:cNvSpPr>
            <p:nvPr/>
          </p:nvSpPr>
          <p:spPr bwMode="auto">
            <a:xfrm>
              <a:off x="4179888" y="2238375"/>
              <a:ext cx="160337" cy="217488"/>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7" name="Rectangle 39"/>
            <p:cNvSpPr>
              <a:spLocks noChangeArrowheads="1"/>
            </p:cNvSpPr>
            <p:nvPr/>
          </p:nvSpPr>
          <p:spPr bwMode="auto">
            <a:xfrm>
              <a:off x="4356100" y="2238375"/>
              <a:ext cx="161925" cy="217488"/>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8" name="Rectangle 40"/>
            <p:cNvSpPr>
              <a:spLocks noChangeArrowheads="1"/>
            </p:cNvSpPr>
            <p:nvPr/>
          </p:nvSpPr>
          <p:spPr bwMode="auto">
            <a:xfrm>
              <a:off x="4533900" y="22383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39" name="Rectangle 41"/>
            <p:cNvSpPr>
              <a:spLocks noChangeArrowheads="1"/>
            </p:cNvSpPr>
            <p:nvPr/>
          </p:nvSpPr>
          <p:spPr bwMode="auto">
            <a:xfrm>
              <a:off x="4940300" y="22383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0" name="Rectangle 42"/>
            <p:cNvSpPr>
              <a:spLocks noChangeArrowheads="1"/>
            </p:cNvSpPr>
            <p:nvPr/>
          </p:nvSpPr>
          <p:spPr bwMode="auto">
            <a:xfrm>
              <a:off x="5419725" y="2232025"/>
              <a:ext cx="161925" cy="219075"/>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41" name="Group 43"/>
            <p:cNvGrpSpPr/>
            <p:nvPr/>
          </p:nvGrpSpPr>
          <p:grpSpPr bwMode="auto">
            <a:xfrm>
              <a:off x="3068638" y="2320925"/>
              <a:ext cx="693737" cy="217488"/>
              <a:chOff x="1800" y="1425"/>
              <a:chExt cx="399" cy="126"/>
            </a:xfrm>
          </p:grpSpPr>
          <p:sp>
            <p:nvSpPr>
              <p:cNvPr id="42" name="Rectangle 44"/>
              <p:cNvSpPr>
                <a:spLocks noChangeArrowheads="1"/>
              </p:cNvSpPr>
              <p:nvPr/>
            </p:nvSpPr>
            <p:spPr bwMode="auto">
              <a:xfrm>
                <a:off x="1800" y="1425"/>
                <a:ext cx="93" cy="126"/>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3" name="Rectangle 45"/>
              <p:cNvSpPr>
                <a:spLocks noChangeArrowheads="1"/>
              </p:cNvSpPr>
              <p:nvPr/>
            </p:nvSpPr>
            <p:spPr bwMode="auto">
              <a:xfrm>
                <a:off x="1902" y="1425"/>
                <a:ext cx="93" cy="126"/>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4" name="Rectangle 46"/>
              <p:cNvSpPr>
                <a:spLocks noChangeArrowheads="1"/>
              </p:cNvSpPr>
              <p:nvPr/>
            </p:nvSpPr>
            <p:spPr bwMode="auto">
              <a:xfrm>
                <a:off x="2004" y="1425"/>
                <a:ext cx="93" cy="126"/>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5" name="Rectangle 47"/>
              <p:cNvSpPr>
                <a:spLocks noChangeArrowheads="1"/>
              </p:cNvSpPr>
              <p:nvPr/>
            </p:nvSpPr>
            <p:spPr bwMode="auto">
              <a:xfrm>
                <a:off x="2106" y="1425"/>
                <a:ext cx="93" cy="126"/>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
          <p:nvSpPr>
            <p:cNvPr id="46" name="Rectangle 48"/>
            <p:cNvSpPr>
              <a:spLocks noChangeArrowheads="1"/>
            </p:cNvSpPr>
            <p:nvPr/>
          </p:nvSpPr>
          <p:spPr bwMode="auto">
            <a:xfrm>
              <a:off x="2270125" y="2211388"/>
              <a:ext cx="161925" cy="219075"/>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7" name="Rectangle 49"/>
            <p:cNvSpPr>
              <a:spLocks noChangeArrowheads="1"/>
            </p:cNvSpPr>
            <p:nvPr/>
          </p:nvSpPr>
          <p:spPr bwMode="auto">
            <a:xfrm>
              <a:off x="2030413" y="28352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8" name="Line 50"/>
            <p:cNvSpPr>
              <a:spLocks noChangeShapeType="1"/>
            </p:cNvSpPr>
            <p:nvPr/>
          </p:nvSpPr>
          <p:spPr bwMode="auto">
            <a:xfrm>
              <a:off x="2463800" y="2325688"/>
              <a:ext cx="265113" cy="635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49" name="Line 51"/>
            <p:cNvSpPr>
              <a:spLocks noChangeShapeType="1"/>
            </p:cNvSpPr>
            <p:nvPr/>
          </p:nvSpPr>
          <p:spPr bwMode="auto">
            <a:xfrm flipV="1">
              <a:off x="2098675" y="2627313"/>
              <a:ext cx="0" cy="192087"/>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50" name="Line 52"/>
            <p:cNvSpPr>
              <a:spLocks noChangeShapeType="1"/>
            </p:cNvSpPr>
            <p:nvPr/>
          </p:nvSpPr>
          <p:spPr bwMode="auto">
            <a:xfrm>
              <a:off x="4241800" y="2117725"/>
              <a:ext cx="1162050" cy="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51" name="Text Box 53"/>
            <p:cNvSpPr txBox="1">
              <a:spLocks noChangeArrowheads="1"/>
            </p:cNvSpPr>
            <p:nvPr/>
          </p:nvSpPr>
          <p:spPr bwMode="auto">
            <a:xfrm>
              <a:off x="636588" y="1587500"/>
              <a:ext cx="362600" cy="461665"/>
            </a:xfrm>
            <a:prstGeom prst="rect">
              <a:avLst/>
            </a:prstGeom>
            <a:noFill/>
            <a:ln w="9525">
              <a:noFill/>
              <a:miter lim="800000"/>
            </a:ln>
          </p:spPr>
          <p:txBody>
            <a:bodyPr wrap="none">
              <a:spAutoFit/>
            </a:bodyPr>
            <a:lstStyle>
              <a:defPPr>
                <a:defRPr lang="zh-CN"/>
              </a:defPPr>
              <a:lvl1pPr>
                <a:defRPr kumimoji="0" sz="2400">
                  <a:solidFill>
                    <a:schemeClr val="accent2"/>
                  </a:solidFill>
                  <a:ea typeface="宋体" panose="02010600030101010101" pitchFamily="2" charset="-122"/>
                </a:defRPr>
              </a:lvl1pPr>
            </a:lstStyle>
            <a:p>
              <a:r>
                <a:rPr lang="en-US" altLang="zh-CN" dirty="0">
                  <a:solidFill>
                    <a:schemeClr val="accent1">
                      <a:lumMod val="75000"/>
                    </a:schemeClr>
                  </a:solidFill>
                </a:rPr>
                <a:t>A</a:t>
              </a:r>
            </a:p>
          </p:txBody>
        </p:sp>
        <p:sp>
          <p:nvSpPr>
            <p:cNvPr id="52" name="Text Box 54"/>
            <p:cNvSpPr txBox="1">
              <a:spLocks noChangeArrowheads="1"/>
            </p:cNvSpPr>
            <p:nvPr/>
          </p:nvSpPr>
          <p:spPr bwMode="auto">
            <a:xfrm>
              <a:off x="644525" y="2691699"/>
              <a:ext cx="390525" cy="461963"/>
            </a:xfrm>
            <a:prstGeom prst="rect">
              <a:avLst/>
            </a:prstGeom>
            <a:noFill/>
            <a:ln w="9525">
              <a:noFill/>
              <a:miter lim="800000"/>
            </a:ln>
          </p:spPr>
          <p:txBody>
            <a:bodyPr wrap="none">
              <a:spAutoFit/>
            </a:bodyPr>
            <a:lstStyle/>
            <a:p>
              <a:pPr>
                <a:defRPr/>
              </a:pPr>
              <a:r>
                <a:rPr kumimoji="0" lang="en-US" altLang="zh-CN" sz="2400" dirty="0">
                  <a:solidFill>
                    <a:schemeClr val="accent2"/>
                  </a:solidFill>
                  <a:latin typeface="+mn-lt"/>
                  <a:ea typeface="宋体" panose="02010600030101010101" pitchFamily="2" charset="-122"/>
                </a:rPr>
                <a:t>B</a:t>
              </a:r>
              <a:endParaRPr kumimoji="0" lang="en-US" altLang="zh-CN" sz="2400" dirty="0">
                <a:solidFill>
                  <a:schemeClr val="accent1"/>
                </a:solidFill>
                <a:latin typeface="+mn-lt"/>
                <a:ea typeface="宋体" panose="02010600030101010101" pitchFamily="2" charset="-122"/>
              </a:endParaRPr>
            </a:p>
          </p:txBody>
        </p:sp>
        <p:sp>
          <p:nvSpPr>
            <p:cNvPr id="53" name="Text Box 55"/>
            <p:cNvSpPr txBox="1">
              <a:spLocks noChangeArrowheads="1"/>
            </p:cNvSpPr>
            <p:nvPr/>
          </p:nvSpPr>
          <p:spPr bwMode="auto">
            <a:xfrm>
              <a:off x="7796451" y="2074863"/>
              <a:ext cx="390525" cy="461962"/>
            </a:xfrm>
            <a:prstGeom prst="rect">
              <a:avLst/>
            </a:prstGeom>
            <a:noFill/>
            <a:ln w="9525">
              <a:noFill/>
              <a:miter lim="800000"/>
            </a:ln>
          </p:spPr>
          <p:txBody>
            <a:bodyPr wrap="none">
              <a:spAutoFit/>
            </a:bodyPr>
            <a:lstStyle/>
            <a:p>
              <a:pPr>
                <a:defRPr/>
              </a:pPr>
              <a:r>
                <a:rPr kumimoji="0" lang="en-US" altLang="zh-CN" sz="2400" dirty="0">
                  <a:solidFill>
                    <a:srgbClr val="FF0000"/>
                  </a:solidFill>
                  <a:latin typeface="+mn-lt"/>
                  <a:ea typeface="宋体" panose="02010600030101010101" pitchFamily="2" charset="-122"/>
                </a:rPr>
                <a:t>C</a:t>
              </a:r>
              <a:endParaRPr kumimoji="0" lang="en-US" altLang="zh-CN" sz="2400" dirty="0">
                <a:solidFill>
                  <a:schemeClr val="accent1"/>
                </a:solidFill>
                <a:latin typeface="+mn-lt"/>
                <a:ea typeface="宋体" panose="02010600030101010101" pitchFamily="2" charset="-122"/>
              </a:endParaRPr>
            </a:p>
          </p:txBody>
        </p:sp>
        <p:sp>
          <p:nvSpPr>
            <p:cNvPr id="54" name="Text Box 56"/>
            <p:cNvSpPr txBox="1">
              <a:spLocks noChangeArrowheads="1"/>
            </p:cNvSpPr>
            <p:nvPr/>
          </p:nvSpPr>
          <p:spPr bwMode="auto">
            <a:xfrm>
              <a:off x="1706563" y="1285875"/>
              <a:ext cx="1152525" cy="708025"/>
            </a:xfrm>
            <a:prstGeom prst="rect">
              <a:avLst/>
            </a:prstGeom>
            <a:noFill/>
            <a:ln w="9525">
              <a:noFill/>
              <a:miter lim="800000"/>
            </a:ln>
          </p:spPr>
          <p:txBody>
            <a:bodyPr wrap="none">
              <a:spAutoFit/>
            </a:bodyPr>
            <a:lstStyle/>
            <a:p>
              <a:pPr>
                <a:defRPr/>
              </a:pPr>
              <a:r>
                <a:rPr kumimoji="0" lang="en-US" altLang="zh-CN" sz="2000" dirty="0">
                  <a:latin typeface="+mn-lt"/>
                  <a:ea typeface="宋体" panose="02010600030101010101" pitchFamily="2" charset="-122"/>
                </a:rPr>
                <a:t>100Mbps</a:t>
              </a:r>
            </a:p>
            <a:p>
              <a:pPr>
                <a:defRPr/>
              </a:pPr>
              <a:r>
                <a:rPr kumimoji="0" lang="en-US" altLang="zh-CN" sz="2000" dirty="0">
                  <a:latin typeface="+mn-lt"/>
                  <a:ea typeface="宋体" panose="02010600030101010101" pitchFamily="2" charset="-122"/>
                </a:rPr>
                <a:t>Ethernet</a:t>
              </a:r>
              <a:endParaRPr kumimoji="0" lang="en-US" altLang="zh-CN" sz="2400" dirty="0">
                <a:solidFill>
                  <a:schemeClr val="accent1"/>
                </a:solidFill>
                <a:latin typeface="+mn-lt"/>
                <a:ea typeface="宋体" panose="02010600030101010101" pitchFamily="2" charset="-122"/>
              </a:endParaRPr>
            </a:p>
          </p:txBody>
        </p:sp>
        <p:sp>
          <p:nvSpPr>
            <p:cNvPr id="55" name="Text Box 57"/>
            <p:cNvSpPr txBox="1">
              <a:spLocks noChangeArrowheads="1"/>
            </p:cNvSpPr>
            <p:nvPr/>
          </p:nvSpPr>
          <p:spPr bwMode="auto">
            <a:xfrm>
              <a:off x="4052888" y="2500313"/>
              <a:ext cx="1089025" cy="400050"/>
            </a:xfrm>
            <a:prstGeom prst="rect">
              <a:avLst/>
            </a:prstGeom>
            <a:noFill/>
            <a:ln w="9525">
              <a:noFill/>
              <a:miter lim="800000"/>
            </a:ln>
          </p:spPr>
          <p:txBody>
            <a:bodyPr wrap="none">
              <a:spAutoFit/>
            </a:bodyPr>
            <a:lstStyle/>
            <a:p>
              <a:pPr>
                <a:defRPr/>
              </a:pPr>
              <a:r>
                <a:rPr kumimoji="0" lang="en-US" altLang="zh-CN" sz="2000" dirty="0">
                  <a:latin typeface="+mn-lt"/>
                  <a:ea typeface="宋体" panose="02010600030101010101" pitchFamily="2" charset="-122"/>
                </a:rPr>
                <a:t>1.5Mbps</a:t>
              </a:r>
              <a:endParaRPr kumimoji="0" lang="en-US" altLang="zh-CN" sz="2400" dirty="0">
                <a:solidFill>
                  <a:schemeClr val="accent1"/>
                </a:solidFill>
                <a:latin typeface="+mn-lt"/>
                <a:ea typeface="宋体" panose="02010600030101010101" pitchFamily="2" charset="-122"/>
              </a:endParaRPr>
            </a:p>
          </p:txBody>
        </p:sp>
        <p:sp>
          <p:nvSpPr>
            <p:cNvPr id="56" name="Text Box 58"/>
            <p:cNvSpPr txBox="1">
              <a:spLocks noChangeArrowheads="1"/>
            </p:cNvSpPr>
            <p:nvPr/>
          </p:nvSpPr>
          <p:spPr bwMode="auto">
            <a:xfrm>
              <a:off x="6160092" y="3057341"/>
              <a:ext cx="1023938" cy="400050"/>
            </a:xfrm>
            <a:prstGeom prst="rect">
              <a:avLst/>
            </a:prstGeom>
            <a:noFill/>
            <a:ln w="9525">
              <a:noFill/>
              <a:miter lim="800000"/>
            </a:ln>
          </p:spPr>
          <p:txBody>
            <a:bodyPr wrap="none">
              <a:spAutoFit/>
            </a:bodyPr>
            <a:lstStyle/>
            <a:p>
              <a:pPr>
                <a:defRPr/>
              </a:pPr>
              <a:r>
                <a:rPr kumimoji="0" lang="en-US" altLang="zh-CN" sz="2000" dirty="0">
                  <a:latin typeface="+mn-lt"/>
                  <a:ea typeface="宋体" panose="02010600030101010101" pitchFamily="2" charset="-122"/>
                </a:rPr>
                <a:t>45Mbps</a:t>
              </a:r>
              <a:endParaRPr kumimoji="0" lang="en-US" altLang="zh-CN" sz="2400" dirty="0">
                <a:solidFill>
                  <a:schemeClr val="accent1"/>
                </a:solidFill>
                <a:latin typeface="+mn-lt"/>
                <a:ea typeface="宋体" panose="02010600030101010101" pitchFamily="2" charset="-122"/>
              </a:endParaRPr>
            </a:p>
          </p:txBody>
        </p:sp>
        <p:sp>
          <p:nvSpPr>
            <p:cNvPr id="57" name="Rectangle 59"/>
            <p:cNvSpPr>
              <a:spLocks noChangeArrowheads="1"/>
            </p:cNvSpPr>
            <p:nvPr/>
          </p:nvSpPr>
          <p:spPr bwMode="auto">
            <a:xfrm>
              <a:off x="5926138" y="2259013"/>
              <a:ext cx="161925" cy="217487"/>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58" name="Rectangle 60"/>
            <p:cNvSpPr>
              <a:spLocks noChangeArrowheads="1"/>
            </p:cNvSpPr>
            <p:nvPr/>
          </p:nvSpPr>
          <p:spPr bwMode="auto">
            <a:xfrm>
              <a:off x="6102350" y="2259013"/>
              <a:ext cx="161925" cy="217487"/>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59" name="Rectangle 61"/>
            <p:cNvSpPr>
              <a:spLocks noChangeArrowheads="1"/>
            </p:cNvSpPr>
            <p:nvPr/>
          </p:nvSpPr>
          <p:spPr bwMode="auto">
            <a:xfrm>
              <a:off x="6280150" y="2259013"/>
              <a:ext cx="161925" cy="217487"/>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60" name="Group 62"/>
            <p:cNvGrpSpPr/>
            <p:nvPr/>
          </p:nvGrpSpPr>
          <p:grpSpPr bwMode="auto">
            <a:xfrm rot="-1962567">
              <a:off x="6197600" y="2497138"/>
              <a:ext cx="692150" cy="219075"/>
              <a:chOff x="4176" y="2211"/>
              <a:chExt cx="399" cy="126"/>
            </a:xfrm>
          </p:grpSpPr>
          <p:sp>
            <p:nvSpPr>
              <p:cNvPr id="61" name="Rectangle 63"/>
              <p:cNvSpPr>
                <a:spLocks noChangeArrowheads="1"/>
              </p:cNvSpPr>
              <p:nvPr/>
            </p:nvSpPr>
            <p:spPr bwMode="auto">
              <a:xfrm>
                <a:off x="4176"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62" name="Rectangle 64"/>
              <p:cNvSpPr>
                <a:spLocks noChangeArrowheads="1"/>
              </p:cNvSpPr>
              <p:nvPr/>
            </p:nvSpPr>
            <p:spPr bwMode="auto">
              <a:xfrm>
                <a:off x="4276" y="2209"/>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63" name="Rectangle 65"/>
              <p:cNvSpPr>
                <a:spLocks noChangeArrowheads="1"/>
              </p:cNvSpPr>
              <p:nvPr/>
            </p:nvSpPr>
            <p:spPr bwMode="auto">
              <a:xfrm>
                <a:off x="4380" y="2209"/>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64" name="Rectangle 66"/>
              <p:cNvSpPr>
                <a:spLocks noChangeArrowheads="1"/>
              </p:cNvSpPr>
              <p:nvPr/>
            </p:nvSpPr>
            <p:spPr bwMode="auto">
              <a:xfrm>
                <a:off x="4481" y="2208"/>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65" name="Group 67"/>
            <p:cNvGrpSpPr/>
            <p:nvPr/>
          </p:nvGrpSpPr>
          <p:grpSpPr bwMode="auto">
            <a:xfrm>
              <a:off x="4076500" y="3497264"/>
              <a:ext cx="3267274" cy="1563410"/>
              <a:chOff x="1708" y="2009"/>
              <a:chExt cx="1880" cy="903"/>
            </a:xfrm>
          </p:grpSpPr>
          <p:graphicFrame>
            <p:nvGraphicFramePr>
              <p:cNvPr id="66" name="Object 68"/>
              <p:cNvGraphicFramePr>
                <a:graphicFrameLocks noChangeAspect="1"/>
              </p:cNvGraphicFramePr>
              <p:nvPr/>
            </p:nvGraphicFramePr>
            <p:xfrm>
              <a:off x="2971" y="2576"/>
              <a:ext cx="407" cy="336"/>
            </p:xfrm>
            <a:graphic>
              <a:graphicData uri="http://schemas.openxmlformats.org/presentationml/2006/ole">
                <mc:AlternateContent xmlns:mc="http://schemas.openxmlformats.org/markup-compatibility/2006">
                  <mc:Choice xmlns:v="urn:schemas-microsoft-com:vml" Requires="v">
                    <p:oleObj name="Clip" r:id="rId9" imgW="1307465" imgH="1083945" progId="MS_ClipArt_Gallery.2">
                      <p:embed/>
                    </p:oleObj>
                  </mc:Choice>
                  <mc:Fallback>
                    <p:oleObj name="Clip" r:id="rId9" imgW="1307465" imgH="1083945" progId="MS_ClipArt_Gallery.2">
                      <p:embed/>
                      <p:pic>
                        <p:nvPicPr>
                          <p:cNvPr id="0" name="Object 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 y="257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 name="Group 69"/>
              <p:cNvGrpSpPr/>
              <p:nvPr/>
            </p:nvGrpSpPr>
            <p:grpSpPr bwMode="auto">
              <a:xfrm>
                <a:off x="2428" y="2009"/>
                <a:ext cx="761" cy="420"/>
                <a:chOff x="1462" y="1283"/>
                <a:chExt cx="761" cy="420"/>
              </a:xfrm>
            </p:grpSpPr>
            <p:sp>
              <p:nvSpPr>
                <p:cNvPr id="78" name="Oval 70"/>
                <p:cNvSpPr>
                  <a:spLocks noChangeArrowheads="1"/>
                </p:cNvSpPr>
                <p:nvPr/>
              </p:nvSpPr>
              <p:spPr bwMode="auto">
                <a:xfrm>
                  <a:off x="1462" y="1470"/>
                  <a:ext cx="755" cy="233"/>
                </a:xfrm>
                <a:prstGeom prst="ellipse">
                  <a:avLst/>
                </a:prstGeom>
                <a:solidFill>
                  <a:schemeClr val="hlink"/>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79" name="Line 71"/>
                <p:cNvSpPr>
                  <a:spLocks noChangeShapeType="1"/>
                </p:cNvSpPr>
                <p:nvPr/>
              </p:nvSpPr>
              <p:spPr bwMode="auto">
                <a:xfrm>
                  <a:off x="1462" y="1451"/>
                  <a:ext cx="0" cy="144"/>
                </a:xfrm>
                <a:prstGeom prst="line">
                  <a:avLst/>
                </a:prstGeom>
                <a:no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80" name="Rectangle 72"/>
                <p:cNvSpPr>
                  <a:spLocks noChangeArrowheads="1"/>
                </p:cNvSpPr>
                <p:nvPr/>
              </p:nvSpPr>
              <p:spPr bwMode="auto">
                <a:xfrm>
                  <a:off x="1462" y="1427"/>
                  <a:ext cx="755" cy="166"/>
                </a:xfrm>
                <a:prstGeom prst="rect">
                  <a:avLst/>
                </a:prstGeom>
                <a:solidFill>
                  <a:schemeClr val="hlink"/>
                </a:solidFill>
                <a:ln w="12700">
                  <a:noFill/>
                  <a:miter lim="800000"/>
                </a:ln>
              </p:spPr>
              <p:txBody>
                <a:bodyPr wrap="none" anchor="ctr"/>
                <a:lstStyle/>
                <a:p>
                  <a:pPr algn="ctr">
                    <a:defRPr/>
                  </a:pPr>
                  <a:endParaRPr kumimoji="0" lang="zh-CN" altLang="zh-CN" sz="2400">
                    <a:latin typeface="+mn-lt"/>
                    <a:ea typeface="宋体" panose="02010600030101010101" pitchFamily="2" charset="-122"/>
                  </a:endParaRPr>
                </a:p>
              </p:txBody>
            </p:sp>
            <p:sp>
              <p:nvSpPr>
                <p:cNvPr id="81" name="Oval 73"/>
                <p:cNvSpPr>
                  <a:spLocks noChangeArrowheads="1"/>
                </p:cNvSpPr>
                <p:nvPr/>
              </p:nvSpPr>
              <p:spPr bwMode="auto">
                <a:xfrm>
                  <a:off x="1468" y="1283"/>
                  <a:ext cx="755" cy="271"/>
                </a:xfrm>
                <a:prstGeom prst="ellipse">
                  <a:avLst/>
                </a:prstGeom>
                <a:solidFill>
                  <a:schemeClr val="hlink"/>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nvGrpSpPr>
                <p:cNvPr id="82" name="Group 74"/>
                <p:cNvGrpSpPr/>
                <p:nvPr/>
              </p:nvGrpSpPr>
              <p:grpSpPr bwMode="auto">
                <a:xfrm>
                  <a:off x="1686" y="1302"/>
                  <a:ext cx="314" cy="75"/>
                  <a:chOff x="2208" y="2184"/>
                  <a:chExt cx="176" cy="69"/>
                </a:xfrm>
              </p:grpSpPr>
              <p:grpSp>
                <p:nvGrpSpPr>
                  <p:cNvPr id="83" name="Group 75"/>
                  <p:cNvGrpSpPr/>
                  <p:nvPr/>
                </p:nvGrpSpPr>
                <p:grpSpPr bwMode="auto">
                  <a:xfrm>
                    <a:off x="2208" y="2185"/>
                    <a:ext cx="176" cy="68"/>
                    <a:chOff x="2848" y="848"/>
                    <a:chExt cx="140" cy="98"/>
                  </a:xfrm>
                </p:grpSpPr>
                <p:sp>
                  <p:nvSpPr>
                    <p:cNvPr id="88" name="Line 76"/>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89" name="Line 77"/>
                    <p:cNvSpPr>
                      <a:spLocks noChangeShapeType="1"/>
                    </p:cNvSpPr>
                    <p:nvPr/>
                  </p:nvSpPr>
                  <p:spPr bwMode="auto">
                    <a:xfrm>
                      <a:off x="2944" y="949"/>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90" name="Line 78"/>
                    <p:cNvSpPr>
                      <a:spLocks noChangeShapeType="1"/>
                    </p:cNvSpPr>
                    <p:nvPr/>
                  </p:nvSpPr>
                  <p:spPr bwMode="auto">
                    <a:xfrm>
                      <a:off x="2894" y="851"/>
                      <a:ext cx="52" cy="98"/>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nvGrpSpPr>
                  <p:cNvPr id="84" name="Group 79"/>
                  <p:cNvGrpSpPr/>
                  <p:nvPr/>
                </p:nvGrpSpPr>
                <p:grpSpPr bwMode="auto">
                  <a:xfrm flipV="1">
                    <a:off x="2208" y="2184"/>
                    <a:ext cx="176" cy="68"/>
                    <a:chOff x="2848" y="848"/>
                    <a:chExt cx="140" cy="98"/>
                  </a:xfrm>
                </p:grpSpPr>
                <p:sp>
                  <p:nvSpPr>
                    <p:cNvPr id="85" name="Line 80"/>
                    <p:cNvSpPr>
                      <a:spLocks noChangeShapeType="1"/>
                    </p:cNvSpPr>
                    <p:nvPr/>
                  </p:nvSpPr>
                  <p:spPr bwMode="auto">
                    <a:xfrm flipV="1">
                      <a:off x="2848" y="845"/>
                      <a:ext cx="50"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86" name="Line 81"/>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87" name="Line 82"/>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grpSp>
          <p:graphicFrame>
            <p:nvGraphicFramePr>
              <p:cNvPr id="68" name="Object 83"/>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name="Clip" r:id="rId10" imgW="1307465" imgH="1083945" progId="MS_ClipArt_Gallery.2">
                      <p:embed/>
                    </p:oleObj>
                  </mc:Choice>
                  <mc:Fallback>
                    <p:oleObj name="Clip" r:id="rId10" imgW="1307465" imgH="1083945" progId="MS_ClipArt_Gallery.2">
                      <p:embed/>
                      <p:pic>
                        <p:nvPicPr>
                          <p:cNvPr id="0" name="Object 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 name="Line 84"/>
              <p:cNvSpPr>
                <a:spLocks noChangeShapeType="1"/>
              </p:cNvSpPr>
              <p:nvPr/>
            </p:nvSpPr>
            <p:spPr bwMode="auto">
              <a:xfrm flipV="1">
                <a:off x="2214" y="2370"/>
                <a:ext cx="294" cy="252"/>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70" name="Line 85"/>
              <p:cNvSpPr>
                <a:spLocks noChangeShapeType="1"/>
              </p:cNvSpPr>
              <p:nvPr/>
            </p:nvSpPr>
            <p:spPr bwMode="auto">
              <a:xfrm flipH="1" flipV="1">
                <a:off x="2964" y="2406"/>
                <a:ext cx="210" cy="192"/>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71" name="Text Box 86"/>
              <p:cNvSpPr txBox="1">
                <a:spLocks noChangeArrowheads="1"/>
              </p:cNvSpPr>
              <p:nvPr/>
            </p:nvSpPr>
            <p:spPr bwMode="auto">
              <a:xfrm>
                <a:off x="1708" y="2590"/>
                <a:ext cx="234" cy="267"/>
              </a:xfrm>
              <a:prstGeom prst="rect">
                <a:avLst/>
              </a:prstGeom>
              <a:noFill/>
              <a:ln w="9525">
                <a:noFill/>
                <a:miter lim="800000"/>
              </a:ln>
            </p:spPr>
            <p:txBody>
              <a:bodyPr wrap="none">
                <a:spAutoFit/>
              </a:bodyPr>
              <a:lstStyle/>
              <a:p>
                <a:pPr>
                  <a:defRPr/>
                </a:pPr>
                <a:r>
                  <a:rPr kumimoji="0" lang="en-US" altLang="zh-CN" sz="2400" dirty="0">
                    <a:latin typeface="+mn-lt"/>
                    <a:ea typeface="宋体" panose="02010600030101010101" pitchFamily="2" charset="-122"/>
                  </a:rPr>
                  <a:t>D</a:t>
                </a:r>
                <a:endParaRPr kumimoji="0" lang="en-US" altLang="zh-CN" sz="2400" dirty="0">
                  <a:solidFill>
                    <a:schemeClr val="accent1"/>
                  </a:solidFill>
                  <a:latin typeface="+mn-lt"/>
                  <a:ea typeface="宋体" panose="02010600030101010101" pitchFamily="2" charset="-122"/>
                </a:endParaRPr>
              </a:p>
            </p:txBody>
          </p:sp>
          <p:sp>
            <p:nvSpPr>
              <p:cNvPr id="72" name="Text Box 87"/>
              <p:cNvSpPr txBox="1">
                <a:spLocks noChangeArrowheads="1"/>
              </p:cNvSpPr>
              <p:nvPr/>
            </p:nvSpPr>
            <p:spPr bwMode="auto">
              <a:xfrm>
                <a:off x="3374" y="2591"/>
                <a:ext cx="214" cy="267"/>
              </a:xfrm>
              <a:prstGeom prst="rect">
                <a:avLst/>
              </a:prstGeom>
              <a:noFill/>
              <a:ln w="9525">
                <a:noFill/>
                <a:miter lim="800000"/>
              </a:ln>
            </p:spPr>
            <p:txBody>
              <a:bodyPr wrap="none">
                <a:spAutoFit/>
              </a:bodyPr>
              <a:lstStyle/>
              <a:p>
                <a:pPr>
                  <a:defRPr/>
                </a:pPr>
                <a:r>
                  <a:rPr kumimoji="0" lang="en-US" altLang="zh-CN" sz="2400" dirty="0">
                    <a:latin typeface="+mn-lt"/>
                    <a:ea typeface="宋体" panose="02010600030101010101" pitchFamily="2" charset="-122"/>
                  </a:rPr>
                  <a:t>E</a:t>
                </a:r>
                <a:endParaRPr kumimoji="0" lang="en-US" altLang="zh-CN" sz="2400" dirty="0">
                  <a:solidFill>
                    <a:schemeClr val="accent1"/>
                  </a:solidFill>
                  <a:latin typeface="+mn-lt"/>
                  <a:ea typeface="宋体" panose="02010600030101010101" pitchFamily="2" charset="-122"/>
                </a:endParaRPr>
              </a:p>
            </p:txBody>
          </p:sp>
          <p:grpSp>
            <p:nvGrpSpPr>
              <p:cNvPr id="73" name="Group 88"/>
              <p:cNvGrpSpPr/>
              <p:nvPr/>
            </p:nvGrpSpPr>
            <p:grpSpPr bwMode="auto">
              <a:xfrm rot="-2018696">
                <a:off x="2736" y="2139"/>
                <a:ext cx="399" cy="126"/>
                <a:chOff x="4176" y="2211"/>
                <a:chExt cx="399" cy="126"/>
              </a:xfrm>
            </p:grpSpPr>
            <p:sp>
              <p:nvSpPr>
                <p:cNvPr id="74" name="Rectangle 89"/>
                <p:cNvSpPr>
                  <a:spLocks noChangeArrowheads="1"/>
                </p:cNvSpPr>
                <p:nvPr/>
              </p:nvSpPr>
              <p:spPr bwMode="auto">
                <a:xfrm>
                  <a:off x="4176"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75" name="Rectangle 90"/>
                <p:cNvSpPr>
                  <a:spLocks noChangeArrowheads="1"/>
                </p:cNvSpPr>
                <p:nvPr/>
              </p:nvSpPr>
              <p:spPr bwMode="auto">
                <a:xfrm>
                  <a:off x="4278"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76" name="Rectangle 91"/>
                <p:cNvSpPr>
                  <a:spLocks noChangeArrowheads="1"/>
                </p:cNvSpPr>
                <p:nvPr/>
              </p:nvSpPr>
              <p:spPr bwMode="auto">
                <a:xfrm>
                  <a:off x="4378"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sp>
              <p:nvSpPr>
                <p:cNvPr id="77" name="Rectangle 92"/>
                <p:cNvSpPr>
                  <a:spLocks noChangeArrowheads="1"/>
                </p:cNvSpPr>
                <p:nvPr/>
              </p:nvSpPr>
              <p:spPr bwMode="auto">
                <a:xfrm>
                  <a:off x="4482"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grpSp>
        <p:sp>
          <p:nvSpPr>
            <p:cNvPr id="91" name="Text Box 93"/>
            <p:cNvSpPr txBox="1">
              <a:spLocks noChangeArrowheads="1"/>
            </p:cNvSpPr>
            <p:nvPr/>
          </p:nvSpPr>
          <p:spPr bwMode="auto">
            <a:xfrm>
              <a:off x="3961050" y="1694626"/>
              <a:ext cx="1723549" cy="400110"/>
            </a:xfrm>
            <a:prstGeom prst="rect">
              <a:avLst/>
            </a:prstGeom>
            <a:noFill/>
            <a:ln w="9525">
              <a:noFill/>
              <a:miter lim="800000"/>
            </a:ln>
          </p:spPr>
          <p:txBody>
            <a:bodyPr wrap="none">
              <a:spAutoFit/>
            </a:bodyPr>
            <a:lstStyle/>
            <a:p>
              <a:pPr>
                <a:defRPr/>
              </a:pPr>
              <a:r>
                <a:rPr kumimoji="0" lang="zh-CN" altLang="en-US" sz="2000" dirty="0">
                  <a:solidFill>
                    <a:srgbClr val="FF0000"/>
                  </a:solidFill>
                  <a:latin typeface="+mn-lt"/>
                  <a:ea typeface="宋体" panose="02010600030101010101" pitchFamily="2" charset="-122"/>
                </a:rPr>
                <a:t>统计多路复用</a:t>
              </a:r>
              <a:endParaRPr kumimoji="0" lang="en-US" altLang="zh-CN" sz="2400" dirty="0">
                <a:solidFill>
                  <a:srgbClr val="FF0000"/>
                </a:solidFill>
                <a:latin typeface="+mn-lt"/>
                <a:ea typeface="宋体" panose="02010600030101010101" pitchFamily="2" charset="-122"/>
              </a:endParaRPr>
            </a:p>
          </p:txBody>
        </p:sp>
        <p:sp>
          <p:nvSpPr>
            <p:cNvPr id="92" name="Text Box 94"/>
            <p:cNvSpPr txBox="1">
              <a:spLocks noChangeArrowheads="1"/>
            </p:cNvSpPr>
            <p:nvPr/>
          </p:nvSpPr>
          <p:spPr bwMode="auto">
            <a:xfrm>
              <a:off x="2323495" y="3108325"/>
              <a:ext cx="1569661" cy="369332"/>
            </a:xfrm>
            <a:prstGeom prst="rect">
              <a:avLst/>
            </a:prstGeom>
            <a:noFill/>
            <a:ln w="9525">
              <a:noFill/>
              <a:miter lim="800000"/>
            </a:ln>
          </p:spPr>
          <p:txBody>
            <a:bodyPr wrap="none">
              <a:spAutoFit/>
            </a:bodyPr>
            <a:lstStyle/>
            <a:p>
              <a:pPr algn="ctr">
                <a:defRPr/>
              </a:pPr>
              <a:r>
                <a:rPr kumimoji="0" lang="zh-CN" altLang="en-US" dirty="0">
                  <a:latin typeface="+mn-lt"/>
                  <a:ea typeface="宋体" panose="02010600030101010101" pitchFamily="2" charset="-122"/>
                </a:rPr>
                <a:t>报文分组排队</a:t>
              </a:r>
              <a:endParaRPr kumimoji="0" lang="en-US" altLang="zh-CN" dirty="0">
                <a:solidFill>
                  <a:schemeClr val="accent1"/>
                </a:solidFill>
                <a:latin typeface="+mn-lt"/>
                <a:ea typeface="宋体" panose="02010600030101010101" pitchFamily="2" charset="-122"/>
              </a:endParaRPr>
            </a:p>
          </p:txBody>
        </p:sp>
        <p:sp>
          <p:nvSpPr>
            <p:cNvPr id="93" name="Line 95"/>
            <p:cNvSpPr>
              <a:spLocks noChangeShapeType="1"/>
            </p:cNvSpPr>
            <p:nvPr/>
          </p:nvSpPr>
          <p:spPr bwMode="auto">
            <a:xfrm flipV="1">
              <a:off x="3105150" y="2595563"/>
              <a:ext cx="182563" cy="57150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mn-lt"/>
              </a:endParaRPr>
            </a:p>
          </p:txBody>
        </p:sp>
      </p:grpSp>
      <p:sp>
        <p:nvSpPr>
          <p:cNvPr id="7" name="Rectangle 3"/>
          <p:cNvSpPr txBox="1">
            <a:spLocks noChangeArrowheads="1"/>
          </p:cNvSpPr>
          <p:nvPr/>
        </p:nvSpPr>
        <p:spPr bwMode="auto">
          <a:xfrm>
            <a:off x="323850" y="5300662"/>
            <a:ext cx="8496300" cy="1016467"/>
          </a:xfrm>
          <a:prstGeom prst="rect">
            <a:avLst/>
          </a:prstGeom>
          <a:solidFill>
            <a:schemeClr val="accent2">
              <a:lumMod val="20000"/>
              <a:lumOff val="80000"/>
            </a:schemeClr>
          </a:solidFill>
          <a:ln w="9525">
            <a:solidFill>
              <a:srgbClr val="C00000"/>
            </a:solidFill>
            <a:miter lim="800000"/>
          </a:ln>
        </p:spPr>
        <p:txBody>
          <a:bodyPr/>
          <a:lstStyle/>
          <a:p>
            <a:pPr>
              <a:lnSpc>
                <a:spcPts val="3600"/>
              </a:lnSpc>
              <a:spcBef>
                <a:spcPts val="1200"/>
              </a:spcBef>
              <a:buFont typeface="Wingdings" panose="05000000000000000000" pitchFamily="2" charset="2"/>
              <a:buNone/>
              <a:defRPr/>
            </a:pPr>
            <a:r>
              <a:rPr kumimoji="0" lang="zh-CN" altLang="en-US" sz="2400" kern="0" dirty="0">
                <a:latin typeface="+mn-lt"/>
                <a:ea typeface="宋体" panose="02010600030101010101" pitchFamily="2" charset="-122"/>
              </a:rPr>
              <a:t>主机</a:t>
            </a:r>
            <a:r>
              <a:rPr kumimoji="0" lang="en-US" altLang="zh-CN" sz="2400" kern="0" dirty="0">
                <a:latin typeface="+mn-lt"/>
                <a:ea typeface="宋体" panose="02010600030101010101" pitchFamily="2" charset="-122"/>
              </a:rPr>
              <a:t>A</a:t>
            </a:r>
            <a:r>
              <a:rPr kumimoji="0" lang="zh-CN" altLang="en-US" sz="2400" kern="0" dirty="0">
                <a:latin typeface="+mn-lt"/>
                <a:ea typeface="宋体" panose="02010600030101010101" pitchFamily="2" charset="-122"/>
              </a:rPr>
              <a:t>和</a:t>
            </a:r>
            <a:r>
              <a:rPr kumimoji="0" lang="en-US" altLang="zh-CN" sz="2400" kern="0" dirty="0">
                <a:latin typeface="+mn-lt"/>
                <a:ea typeface="宋体" panose="02010600030101010101" pitchFamily="2" charset="-122"/>
              </a:rPr>
              <a:t>B</a:t>
            </a:r>
            <a:r>
              <a:rPr kumimoji="0" lang="zh-CN" altLang="en-US" sz="2400" kern="0" dirty="0">
                <a:latin typeface="+mn-lt"/>
                <a:ea typeface="宋体" panose="02010600030101010101" pitchFamily="2" charset="-122"/>
              </a:rPr>
              <a:t>的报文分组没有固定的到达模式，带宽按需共享，这种方式称为统计多路复用（</a:t>
            </a:r>
            <a:r>
              <a:rPr kumimoji="0" lang="en-US" altLang="zh-CN" sz="2400" b="1" i="1" kern="0" dirty="0">
                <a:solidFill>
                  <a:srgbClr val="FF0000"/>
                </a:solidFill>
                <a:latin typeface="+mn-lt"/>
                <a:ea typeface="宋体" panose="02010600030101010101" pitchFamily="2" charset="-122"/>
                <a:sym typeface="Monotype Sorts" pitchFamily="2" charset="2"/>
              </a:rPr>
              <a:t>statistical multiplexing</a:t>
            </a:r>
            <a:r>
              <a:rPr lang="zh-CN" altLang="en-US" sz="2400" kern="0" dirty="0">
                <a:ea typeface="宋体" panose="02010600030101010101" pitchFamily="2" charset="-122"/>
                <a:sym typeface="Monotype Sorts" pitchFamily="2" charset="2"/>
              </a:rPr>
              <a:t>）</a:t>
            </a:r>
            <a:endParaRPr lang="en-US" altLang="zh-CN" sz="2400" kern="0" dirty="0">
              <a:ea typeface="宋体" panose="02010600030101010101" pitchFamily="2" charset="-122"/>
              <a:sym typeface="Monotype Sorts" pitchFamily="2" charset="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84738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9" name="Rectangle 3"/>
          <p:cNvSpPr>
            <a:spLocks noGrp="1" noChangeArrowheads="1"/>
          </p:cNvSpPr>
          <p:nvPr>
            <p:ph type="body" sz="half" idx="1"/>
          </p:nvPr>
        </p:nvSpPr>
        <p:spPr>
          <a:xfrm>
            <a:off x="382495" y="5038637"/>
            <a:ext cx="8335410" cy="995696"/>
          </a:xfrm>
        </p:spPr>
        <p:txBody>
          <a:bodyPr>
            <a:noAutofit/>
          </a:bodyPr>
          <a:lstStyle/>
          <a:p>
            <a:pPr marL="287655" indent="-287655">
              <a:lnSpc>
                <a:spcPts val="3200"/>
              </a:lnSpc>
              <a:spcBef>
                <a:spcPts val="600"/>
              </a:spcBef>
              <a:buClr>
                <a:srgbClr val="000099"/>
              </a:buClr>
              <a:buSzPct val="90000"/>
              <a:buFont typeface="Wingdings" panose="05000000000000000000" pitchFamily="2" charset="2"/>
              <a:buBlip>
                <a:blip r:embed="rId3"/>
              </a:buBlip>
              <a:defRPr/>
            </a:pPr>
            <a:r>
              <a:rPr lang="zh-CN" altLang="en-US" sz="2100" dirty="0">
                <a:ea typeface="宋体" panose="02010600030101010101" pitchFamily="2" charset="-122"/>
              </a:rPr>
              <a:t>路由器缓存可以临时缓存报文分组，输出链路无需支持</a:t>
            </a:r>
            <a:r>
              <a:rPr lang="en-US" altLang="zh-CN" sz="2100" i="1" dirty="0">
                <a:ea typeface="宋体" panose="02010600030101010101" pitchFamily="2" charset="-122"/>
              </a:rPr>
              <a:t>N</a:t>
            </a:r>
            <a:r>
              <a:rPr lang="zh-CN" altLang="en-US" sz="2100" i="1" dirty="0">
                <a:ea typeface="宋体" panose="02010600030101010101" pitchFamily="2" charset="-122"/>
              </a:rPr>
              <a:t>∙</a:t>
            </a:r>
            <a:r>
              <a:rPr lang="en-US" altLang="zh-CN" sz="2100" i="1" dirty="0">
                <a:ea typeface="宋体" panose="02010600030101010101" pitchFamily="2" charset="-122"/>
              </a:rPr>
              <a:t>R</a:t>
            </a:r>
            <a:r>
              <a:rPr lang="zh-CN" altLang="en-US" sz="2100" dirty="0">
                <a:ea typeface="宋体" panose="02010600030101010101" pitchFamily="2" charset="-122"/>
              </a:rPr>
              <a:t>的速率</a:t>
            </a:r>
            <a:endParaRPr lang="en-US" altLang="zh-CN" sz="2100" dirty="0">
              <a:ea typeface="宋体" panose="02010600030101010101" pitchFamily="2" charset="-122"/>
            </a:endParaRPr>
          </a:p>
          <a:p>
            <a:pPr marL="287655" indent="-287655">
              <a:lnSpc>
                <a:spcPts val="3200"/>
              </a:lnSpc>
              <a:spcBef>
                <a:spcPts val="600"/>
              </a:spcBef>
              <a:buClr>
                <a:srgbClr val="000099"/>
              </a:buClr>
              <a:buSzPct val="90000"/>
              <a:buFont typeface="Wingdings" panose="05000000000000000000" pitchFamily="2" charset="2"/>
              <a:buBlip>
                <a:blip r:embed="rId3"/>
              </a:buBlip>
              <a:defRPr/>
            </a:pPr>
            <a:r>
              <a:rPr lang="zh-CN" altLang="en-US" sz="2100" dirty="0">
                <a:ea typeface="宋体" panose="02010600030101010101" pitchFamily="2" charset="-122"/>
              </a:rPr>
              <a:t>大多数缓存大小有限，记为</a:t>
            </a:r>
            <a:r>
              <a:rPr lang="en-US" altLang="zh-CN" sz="2100" i="1" dirty="0">
                <a:ea typeface="宋体" panose="02010600030101010101" pitchFamily="2" charset="-122"/>
              </a:rPr>
              <a:t>B</a:t>
            </a:r>
            <a:r>
              <a:rPr lang="zh-CN" altLang="en-US" sz="2100" i="1" dirty="0">
                <a:ea typeface="宋体" panose="02010600030101010101" pitchFamily="2" charset="-122"/>
              </a:rPr>
              <a:t>，</a:t>
            </a:r>
            <a:r>
              <a:rPr lang="zh-CN" altLang="en-US" sz="2100" dirty="0">
                <a:ea typeface="宋体" panose="02010600030101010101" pitchFamily="2" charset="-122"/>
              </a:rPr>
              <a:t>如果缓存满，将丢弃报文分组</a:t>
            </a:r>
            <a:endParaRPr lang="en-US" altLang="zh-CN" sz="2100" dirty="0">
              <a:ea typeface="宋体" panose="02010600030101010101" pitchFamily="2" charset="-122"/>
            </a:endParaRPr>
          </a:p>
        </p:txBody>
      </p:sp>
      <p:sp>
        <p:nvSpPr>
          <p:cNvPr id="10088" name="Rectangle 872"/>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4"/>
              </a:buBlip>
            </a:pPr>
            <a:endParaRPr lang="en-US" altLang="zh-CN" sz="1800" dirty="0">
              <a:ea typeface="宋体" panose="02010600030101010101" pitchFamily="2"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2" name="组合 1"/>
          <p:cNvGrpSpPr/>
          <p:nvPr/>
        </p:nvGrpSpPr>
        <p:grpSpPr>
          <a:xfrm>
            <a:off x="426095" y="1692840"/>
            <a:ext cx="8335409" cy="2827474"/>
            <a:chOff x="596255" y="1888008"/>
            <a:chExt cx="8121650" cy="2607773"/>
          </a:xfrm>
        </p:grpSpPr>
        <p:sp>
          <p:nvSpPr>
            <p:cNvPr id="6" name="Line 2"/>
            <p:cNvSpPr>
              <a:spLocks noChangeShapeType="1"/>
            </p:cNvSpPr>
            <p:nvPr/>
          </p:nvSpPr>
          <p:spPr bwMode="auto">
            <a:xfrm>
              <a:off x="3026717" y="3242146"/>
              <a:ext cx="685800" cy="0"/>
            </a:xfrm>
            <a:prstGeom prst="line">
              <a:avLst/>
            </a:prstGeom>
            <a:no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7" name="Line 3"/>
            <p:cNvSpPr>
              <a:spLocks noChangeShapeType="1"/>
            </p:cNvSpPr>
            <p:nvPr/>
          </p:nvSpPr>
          <p:spPr bwMode="auto">
            <a:xfrm>
              <a:off x="3026717" y="3775546"/>
              <a:ext cx="685800" cy="0"/>
            </a:xfrm>
            <a:prstGeom prst="line">
              <a:avLst/>
            </a:prstGeom>
            <a:no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8" name="Line 4"/>
            <p:cNvSpPr>
              <a:spLocks noChangeShapeType="1"/>
            </p:cNvSpPr>
            <p:nvPr/>
          </p:nvSpPr>
          <p:spPr bwMode="auto">
            <a:xfrm>
              <a:off x="3712517" y="3242146"/>
              <a:ext cx="0" cy="533400"/>
            </a:xfrm>
            <a:prstGeom prst="line">
              <a:avLst/>
            </a:prstGeom>
            <a:no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9" name="Line 5"/>
            <p:cNvSpPr>
              <a:spLocks noChangeShapeType="1"/>
            </p:cNvSpPr>
            <p:nvPr/>
          </p:nvSpPr>
          <p:spPr bwMode="auto">
            <a:xfrm>
              <a:off x="3560117" y="3242146"/>
              <a:ext cx="0" cy="533400"/>
            </a:xfrm>
            <a:prstGeom prst="line">
              <a:avLst/>
            </a:prstGeom>
            <a:no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0" name="Line 6"/>
            <p:cNvSpPr>
              <a:spLocks noChangeShapeType="1"/>
            </p:cNvSpPr>
            <p:nvPr/>
          </p:nvSpPr>
          <p:spPr bwMode="auto">
            <a:xfrm>
              <a:off x="3407717" y="3242146"/>
              <a:ext cx="0" cy="533400"/>
            </a:xfrm>
            <a:prstGeom prst="line">
              <a:avLst/>
            </a:prstGeom>
            <a:no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1" name="Line 7"/>
            <p:cNvSpPr>
              <a:spLocks noChangeShapeType="1"/>
            </p:cNvSpPr>
            <p:nvPr/>
          </p:nvSpPr>
          <p:spPr bwMode="auto">
            <a:xfrm flipV="1">
              <a:off x="3720455" y="3488208"/>
              <a:ext cx="1371600" cy="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2" name="Line 8"/>
            <p:cNvSpPr>
              <a:spLocks noChangeShapeType="1"/>
            </p:cNvSpPr>
            <p:nvPr/>
          </p:nvSpPr>
          <p:spPr bwMode="auto">
            <a:xfrm>
              <a:off x="2121842" y="2875433"/>
              <a:ext cx="912813" cy="460375"/>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3" name="Line 9"/>
            <p:cNvSpPr>
              <a:spLocks noChangeShapeType="1"/>
            </p:cNvSpPr>
            <p:nvPr/>
          </p:nvSpPr>
          <p:spPr bwMode="auto">
            <a:xfrm>
              <a:off x="2121842" y="3208808"/>
              <a:ext cx="952500" cy="22860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4" name="Line 10"/>
            <p:cNvSpPr>
              <a:spLocks noChangeShapeType="1"/>
            </p:cNvSpPr>
            <p:nvPr/>
          </p:nvSpPr>
          <p:spPr bwMode="auto">
            <a:xfrm flipV="1">
              <a:off x="2083742" y="3564408"/>
              <a:ext cx="950913" cy="57785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grpSp>
          <p:nvGrpSpPr>
            <p:cNvPr id="15" name="Group 11"/>
            <p:cNvGrpSpPr/>
            <p:nvPr/>
          </p:nvGrpSpPr>
          <p:grpSpPr bwMode="auto">
            <a:xfrm>
              <a:off x="2131367" y="3512021"/>
              <a:ext cx="36513" cy="258762"/>
              <a:chOff x="886" y="1955"/>
              <a:chExt cx="23" cy="163"/>
            </a:xfrm>
            <a:solidFill>
              <a:schemeClr val="accent6">
                <a:lumMod val="60000"/>
                <a:lumOff val="40000"/>
              </a:schemeClr>
            </a:solidFill>
          </p:grpSpPr>
          <p:sp>
            <p:nvSpPr>
              <p:cNvPr id="16" name="Oval 12"/>
              <p:cNvSpPr>
                <a:spLocks noChangeArrowheads="1"/>
              </p:cNvSpPr>
              <p:nvPr/>
            </p:nvSpPr>
            <p:spPr bwMode="auto">
              <a:xfrm>
                <a:off x="886" y="1955"/>
                <a:ext cx="23" cy="23"/>
              </a:xfrm>
              <a:prstGeom prst="ellipse">
                <a:avLst/>
              </a:prstGeom>
              <a:grp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7" name="Oval 13"/>
              <p:cNvSpPr>
                <a:spLocks noChangeArrowheads="1"/>
              </p:cNvSpPr>
              <p:nvPr/>
            </p:nvSpPr>
            <p:spPr bwMode="auto">
              <a:xfrm>
                <a:off x="886" y="2025"/>
                <a:ext cx="23" cy="23"/>
              </a:xfrm>
              <a:prstGeom prst="ellipse">
                <a:avLst/>
              </a:prstGeom>
              <a:grp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18" name="Oval 14"/>
              <p:cNvSpPr>
                <a:spLocks noChangeArrowheads="1"/>
              </p:cNvSpPr>
              <p:nvPr/>
            </p:nvSpPr>
            <p:spPr bwMode="auto">
              <a:xfrm>
                <a:off x="886" y="2095"/>
                <a:ext cx="23" cy="23"/>
              </a:xfrm>
              <a:prstGeom prst="ellipse">
                <a:avLst/>
              </a:prstGeom>
              <a:grp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grpSp>
        <p:sp>
          <p:nvSpPr>
            <p:cNvPr id="19" name="Text Box 15"/>
            <p:cNvSpPr txBox="1">
              <a:spLocks noChangeArrowheads="1"/>
            </p:cNvSpPr>
            <p:nvPr/>
          </p:nvSpPr>
          <p:spPr bwMode="auto">
            <a:xfrm>
              <a:off x="3955451" y="3135600"/>
              <a:ext cx="1184229" cy="312248"/>
            </a:xfrm>
            <a:prstGeom prst="rect">
              <a:avLst/>
            </a:prstGeom>
            <a:noFill/>
            <a:ln w="9525">
              <a:noFill/>
              <a:miter lim="800000"/>
            </a:ln>
          </p:spPr>
          <p:txBody>
            <a:bodyPr wrap="none">
              <a:spAutoFit/>
            </a:bodyPr>
            <a:lstStyle/>
            <a:p>
              <a:pPr algn="r">
                <a:defRPr/>
              </a:pPr>
              <a:r>
                <a:rPr kumimoji="0" lang="zh-CN" altLang="en-US" sz="1600" dirty="0">
                  <a:latin typeface="+mn-lt"/>
                  <a:ea typeface="宋体" panose="02010600030101010101" pitchFamily="2" charset="-122"/>
                </a:rPr>
                <a:t>链路速率</a:t>
              </a:r>
              <a:r>
                <a:rPr kumimoji="0" lang="en-US" altLang="zh-CN" sz="1600" dirty="0">
                  <a:latin typeface="+mn-lt"/>
                  <a:ea typeface="宋体" panose="02010600030101010101" pitchFamily="2" charset="-122"/>
                </a:rPr>
                <a:t>, </a:t>
              </a:r>
              <a:r>
                <a:rPr kumimoji="0" lang="en-US" altLang="zh-CN" sz="1600" i="1" dirty="0">
                  <a:latin typeface="+mn-lt"/>
                  <a:ea typeface="宋体" panose="02010600030101010101" pitchFamily="2" charset="-122"/>
                </a:rPr>
                <a:t>R</a:t>
              </a:r>
            </a:p>
          </p:txBody>
        </p:sp>
        <p:sp>
          <p:nvSpPr>
            <p:cNvPr id="20" name="Text Box 16"/>
            <p:cNvSpPr txBox="1">
              <a:spLocks noChangeArrowheads="1"/>
            </p:cNvSpPr>
            <p:nvPr/>
          </p:nvSpPr>
          <p:spPr bwMode="auto">
            <a:xfrm>
              <a:off x="3188125" y="2875433"/>
              <a:ext cx="472005" cy="312248"/>
            </a:xfrm>
            <a:prstGeom prst="rect">
              <a:avLst/>
            </a:prstGeom>
            <a:noFill/>
            <a:ln w="9525">
              <a:noFill/>
              <a:miter lim="800000"/>
            </a:ln>
          </p:spPr>
          <p:txBody>
            <a:bodyPr wrap="none">
              <a:spAutoFit/>
            </a:bodyPr>
            <a:lstStyle/>
            <a:p>
              <a:pPr algn="r">
                <a:defRPr/>
              </a:pPr>
              <a:r>
                <a:rPr kumimoji="0" lang="en-US" altLang="zh-CN" sz="1600" i="1" dirty="0">
                  <a:latin typeface="+mn-lt"/>
                  <a:ea typeface="宋体" panose="02010600030101010101" pitchFamily="2" charset="-122"/>
                </a:rPr>
                <a:t>X</a:t>
              </a:r>
              <a:r>
                <a:rPr kumimoji="0" lang="en-US" altLang="zh-CN" sz="1600" dirty="0">
                  <a:latin typeface="+mn-lt"/>
                  <a:ea typeface="宋体" panose="02010600030101010101" pitchFamily="2" charset="-122"/>
                </a:rPr>
                <a:t>(</a:t>
              </a:r>
              <a:r>
                <a:rPr kumimoji="0" lang="en-US" altLang="zh-CN" sz="1600" i="1" dirty="0">
                  <a:latin typeface="+mn-lt"/>
                  <a:ea typeface="宋体" panose="02010600030101010101" pitchFamily="2" charset="-122"/>
                </a:rPr>
                <a:t>t</a:t>
              </a:r>
              <a:r>
                <a:rPr kumimoji="0" lang="en-US" altLang="zh-CN" sz="1600" dirty="0">
                  <a:latin typeface="+mn-lt"/>
                  <a:ea typeface="宋体" panose="02010600030101010101" pitchFamily="2" charset="-122"/>
                </a:rPr>
                <a:t>)</a:t>
              </a:r>
            </a:p>
          </p:txBody>
        </p:sp>
        <p:sp>
          <p:nvSpPr>
            <p:cNvPr id="21" name="Line 17"/>
            <p:cNvSpPr>
              <a:spLocks noChangeShapeType="1"/>
            </p:cNvSpPr>
            <p:nvPr/>
          </p:nvSpPr>
          <p:spPr bwMode="auto">
            <a:xfrm flipV="1">
              <a:off x="5723880" y="2664296"/>
              <a:ext cx="0" cy="1519237"/>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22" name="Line 18"/>
            <p:cNvSpPr>
              <a:spLocks noChangeShapeType="1"/>
            </p:cNvSpPr>
            <p:nvPr/>
          </p:nvSpPr>
          <p:spPr bwMode="auto">
            <a:xfrm>
              <a:off x="5723880" y="4183533"/>
              <a:ext cx="2590800" cy="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23" name="Line 19"/>
            <p:cNvSpPr>
              <a:spLocks noChangeShapeType="1"/>
            </p:cNvSpPr>
            <p:nvPr/>
          </p:nvSpPr>
          <p:spPr bwMode="auto">
            <a:xfrm>
              <a:off x="5723880" y="3121496"/>
              <a:ext cx="2590800" cy="0"/>
            </a:xfrm>
            <a:prstGeom prst="line">
              <a:avLst/>
            </a:prstGeom>
            <a:noFill/>
            <a:ln w="9525">
              <a:solidFill>
                <a:schemeClr val="tx1"/>
              </a:solidFill>
              <a:prstDash val="dash"/>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24" name="Freeform 20"/>
            <p:cNvSpPr/>
            <p:nvPr/>
          </p:nvSpPr>
          <p:spPr bwMode="auto">
            <a:xfrm>
              <a:off x="5723880" y="3123083"/>
              <a:ext cx="2438400" cy="1036638"/>
            </a:xfrm>
            <a:custGeom>
              <a:avLst/>
              <a:gdLst>
                <a:gd name="T0" fmla="*/ 0 w 1536"/>
                <a:gd name="T1" fmla="*/ 2147483647 h 653"/>
                <a:gd name="T2" fmla="*/ 2147483647 w 1536"/>
                <a:gd name="T3" fmla="*/ 2147483647 h 653"/>
                <a:gd name="T4" fmla="*/ 2147483647 w 1536"/>
                <a:gd name="T5" fmla="*/ 2147483647 h 653"/>
                <a:gd name="T6" fmla="*/ 2147483647 w 1536"/>
                <a:gd name="T7" fmla="*/ 2147483647 h 653"/>
                <a:gd name="T8" fmla="*/ 2147483647 w 1536"/>
                <a:gd name="T9" fmla="*/ 2147483647 h 653"/>
                <a:gd name="T10" fmla="*/ 2147483647 w 1536"/>
                <a:gd name="T11" fmla="*/ 2147483647 h 653"/>
                <a:gd name="T12" fmla="*/ 2147483647 w 1536"/>
                <a:gd name="T13" fmla="*/ 2147483647 h 653"/>
                <a:gd name="T14" fmla="*/ 2147483647 w 1536"/>
                <a:gd name="T15" fmla="*/ 2147483647 h 653"/>
                <a:gd name="T16" fmla="*/ 2147483647 w 1536"/>
                <a:gd name="T17" fmla="*/ 2147483647 h 653"/>
                <a:gd name="T18" fmla="*/ 2147483647 w 1536"/>
                <a:gd name="T19" fmla="*/ 2147483647 h 653"/>
                <a:gd name="T20" fmla="*/ 2147483647 w 1536"/>
                <a:gd name="T21" fmla="*/ 2147483647 h 653"/>
                <a:gd name="T22" fmla="*/ 2147483647 w 1536"/>
                <a:gd name="T23" fmla="*/ 2147483647 h 653"/>
                <a:gd name="T24" fmla="*/ 2147483647 w 1536"/>
                <a:gd name="T25" fmla="*/ 2147483647 h 653"/>
                <a:gd name="T26" fmla="*/ 2147483647 w 1536"/>
                <a:gd name="T27" fmla="*/ 2147483647 h 653"/>
                <a:gd name="T28" fmla="*/ 2147483647 w 1536"/>
                <a:gd name="T29" fmla="*/ 2147483647 h 653"/>
                <a:gd name="T30" fmla="*/ 2147483647 w 1536"/>
                <a:gd name="T31" fmla="*/ 2147483647 h 653"/>
                <a:gd name="T32" fmla="*/ 2147483647 w 1536"/>
                <a:gd name="T33" fmla="*/ 2147483647 h 653"/>
                <a:gd name="T34" fmla="*/ 2147483647 w 1536"/>
                <a:gd name="T35" fmla="*/ 2147483647 h 6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36"/>
                <a:gd name="T55" fmla="*/ 0 h 653"/>
                <a:gd name="T56" fmla="*/ 1536 w 1536"/>
                <a:gd name="T57" fmla="*/ 653 h 6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36" h="653">
                  <a:moveTo>
                    <a:pt x="0" y="653"/>
                  </a:moveTo>
                  <a:cubicBezTo>
                    <a:pt x="72" y="625"/>
                    <a:pt x="144" y="597"/>
                    <a:pt x="192" y="557"/>
                  </a:cubicBezTo>
                  <a:cubicBezTo>
                    <a:pt x="240" y="517"/>
                    <a:pt x="248" y="437"/>
                    <a:pt x="288" y="413"/>
                  </a:cubicBezTo>
                  <a:cubicBezTo>
                    <a:pt x="328" y="389"/>
                    <a:pt x="400" y="421"/>
                    <a:pt x="432" y="413"/>
                  </a:cubicBezTo>
                  <a:cubicBezTo>
                    <a:pt x="464" y="405"/>
                    <a:pt x="464" y="381"/>
                    <a:pt x="480" y="365"/>
                  </a:cubicBezTo>
                  <a:cubicBezTo>
                    <a:pt x="496" y="349"/>
                    <a:pt x="504" y="325"/>
                    <a:pt x="528" y="317"/>
                  </a:cubicBezTo>
                  <a:cubicBezTo>
                    <a:pt x="552" y="309"/>
                    <a:pt x="600" y="301"/>
                    <a:pt x="624" y="317"/>
                  </a:cubicBezTo>
                  <a:cubicBezTo>
                    <a:pt x="648" y="333"/>
                    <a:pt x="656" y="397"/>
                    <a:pt x="672" y="413"/>
                  </a:cubicBezTo>
                  <a:cubicBezTo>
                    <a:pt x="688" y="429"/>
                    <a:pt x="696" y="429"/>
                    <a:pt x="720" y="413"/>
                  </a:cubicBezTo>
                  <a:cubicBezTo>
                    <a:pt x="744" y="397"/>
                    <a:pt x="784" y="357"/>
                    <a:pt x="816" y="317"/>
                  </a:cubicBezTo>
                  <a:cubicBezTo>
                    <a:pt x="848" y="277"/>
                    <a:pt x="888" y="221"/>
                    <a:pt x="912" y="173"/>
                  </a:cubicBezTo>
                  <a:cubicBezTo>
                    <a:pt x="936" y="125"/>
                    <a:pt x="939" y="57"/>
                    <a:pt x="960" y="29"/>
                  </a:cubicBezTo>
                  <a:cubicBezTo>
                    <a:pt x="981" y="1"/>
                    <a:pt x="1008" y="9"/>
                    <a:pt x="1036" y="5"/>
                  </a:cubicBezTo>
                  <a:cubicBezTo>
                    <a:pt x="1064" y="1"/>
                    <a:pt x="1101" y="4"/>
                    <a:pt x="1128" y="5"/>
                  </a:cubicBezTo>
                  <a:cubicBezTo>
                    <a:pt x="1155" y="6"/>
                    <a:pt x="1177" y="0"/>
                    <a:pt x="1200" y="9"/>
                  </a:cubicBezTo>
                  <a:cubicBezTo>
                    <a:pt x="1223" y="18"/>
                    <a:pt x="1244" y="30"/>
                    <a:pt x="1268" y="57"/>
                  </a:cubicBezTo>
                  <a:cubicBezTo>
                    <a:pt x="1292" y="84"/>
                    <a:pt x="1299" y="162"/>
                    <a:pt x="1344" y="173"/>
                  </a:cubicBezTo>
                  <a:cubicBezTo>
                    <a:pt x="1389" y="184"/>
                    <a:pt x="1504" y="133"/>
                    <a:pt x="1536" y="125"/>
                  </a:cubicBezTo>
                </a:path>
              </a:pathLst>
            </a:custGeom>
            <a:noFill/>
            <a:ln w="952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25" name="Line 21"/>
            <p:cNvSpPr>
              <a:spLocks noChangeShapeType="1"/>
            </p:cNvSpPr>
            <p:nvPr/>
          </p:nvSpPr>
          <p:spPr bwMode="auto">
            <a:xfrm flipH="1">
              <a:off x="7476480" y="2754783"/>
              <a:ext cx="152400" cy="366713"/>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600">
                <a:latin typeface="+mn-lt"/>
              </a:endParaRPr>
            </a:p>
          </p:txBody>
        </p:sp>
        <p:sp>
          <p:nvSpPr>
            <p:cNvPr id="26" name="Text Box 22"/>
            <p:cNvSpPr txBox="1">
              <a:spLocks noChangeArrowheads="1"/>
            </p:cNvSpPr>
            <p:nvPr/>
          </p:nvSpPr>
          <p:spPr bwMode="auto">
            <a:xfrm>
              <a:off x="6866880" y="2449983"/>
              <a:ext cx="1851025" cy="312248"/>
            </a:xfrm>
            <a:prstGeom prst="rect">
              <a:avLst/>
            </a:prstGeom>
            <a:noFill/>
            <a:ln w="9525">
              <a:noFill/>
              <a:miter lim="800000"/>
            </a:ln>
          </p:spPr>
          <p:txBody>
            <a:bodyPr>
              <a:spAutoFit/>
            </a:bodyPr>
            <a:lstStyle/>
            <a:p>
              <a:pPr algn="r">
                <a:defRPr/>
              </a:pPr>
              <a:r>
                <a:rPr kumimoji="0" lang="zh-CN" altLang="en-US" sz="1600" dirty="0">
                  <a:latin typeface="+mn-lt"/>
                  <a:ea typeface="宋体" panose="02010600030101010101" pitchFamily="2" charset="-122"/>
                </a:rPr>
                <a:t>丢弃报文分组</a:t>
              </a:r>
              <a:endParaRPr kumimoji="0" lang="en-US" altLang="zh-CN" sz="1600" dirty="0">
                <a:latin typeface="+mn-lt"/>
                <a:ea typeface="宋体" panose="02010600030101010101" pitchFamily="2" charset="-122"/>
              </a:endParaRPr>
            </a:p>
          </p:txBody>
        </p:sp>
        <p:sp>
          <p:nvSpPr>
            <p:cNvPr id="27" name="Text Box 23"/>
            <p:cNvSpPr txBox="1">
              <a:spLocks noChangeArrowheads="1"/>
            </p:cNvSpPr>
            <p:nvPr/>
          </p:nvSpPr>
          <p:spPr bwMode="auto">
            <a:xfrm>
              <a:off x="5422123" y="2967508"/>
              <a:ext cx="301758"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r">
                <a:spcBef>
                  <a:spcPct val="0"/>
                </a:spcBef>
                <a:buFontTx/>
                <a:buNone/>
              </a:pPr>
              <a:r>
                <a:rPr kumimoji="0" lang="en-US" altLang="zh-CN" sz="1600" i="1" dirty="0">
                  <a:ea typeface="宋体" panose="02010600030101010101" pitchFamily="2" charset="-122"/>
                </a:rPr>
                <a:t>B</a:t>
              </a:r>
            </a:p>
          </p:txBody>
        </p:sp>
        <p:sp>
          <p:nvSpPr>
            <p:cNvPr id="29" name="Text Box 25"/>
            <p:cNvSpPr txBox="1">
              <a:spLocks noChangeArrowheads="1"/>
            </p:cNvSpPr>
            <p:nvPr/>
          </p:nvSpPr>
          <p:spPr bwMode="auto">
            <a:xfrm>
              <a:off x="4634855" y="2345208"/>
              <a:ext cx="1492250" cy="539337"/>
            </a:xfrm>
            <a:prstGeom prst="rect">
              <a:avLst/>
            </a:prstGeom>
            <a:noFill/>
            <a:ln w="9525">
              <a:noFill/>
              <a:miter lim="800000"/>
            </a:ln>
          </p:spPr>
          <p:txBody>
            <a:bodyPr>
              <a:spAutoFit/>
            </a:bodyPr>
            <a:lstStyle/>
            <a:p>
              <a:pPr algn="ctr">
                <a:defRPr/>
              </a:pPr>
              <a:r>
                <a:rPr kumimoji="0" lang="zh-CN" altLang="en-US" sz="1600" dirty="0">
                  <a:latin typeface="+mn-lt"/>
                  <a:ea typeface="宋体" panose="02010600030101010101" pitchFamily="2" charset="-122"/>
                </a:rPr>
                <a:t>队列长度</a:t>
              </a:r>
              <a:endParaRPr kumimoji="0" lang="en-US" altLang="zh-CN" sz="1600" dirty="0">
                <a:latin typeface="+mn-lt"/>
                <a:ea typeface="宋体" panose="02010600030101010101" pitchFamily="2" charset="-122"/>
              </a:endParaRPr>
            </a:p>
            <a:p>
              <a:pPr algn="ctr">
                <a:defRPr/>
              </a:pPr>
              <a:r>
                <a:rPr kumimoji="0" lang="en-US" altLang="zh-CN" sz="1600" i="1" dirty="0">
                  <a:latin typeface="+mn-lt"/>
                  <a:ea typeface="宋体" panose="02010600030101010101" pitchFamily="2" charset="-122"/>
                </a:rPr>
                <a:t>X</a:t>
              </a:r>
              <a:r>
                <a:rPr kumimoji="0" lang="en-US" altLang="zh-CN" sz="1600" dirty="0">
                  <a:latin typeface="+mn-lt"/>
                  <a:ea typeface="宋体" panose="02010600030101010101" pitchFamily="2" charset="-122"/>
                </a:rPr>
                <a:t>(</a:t>
              </a:r>
              <a:r>
                <a:rPr kumimoji="0" lang="en-US" altLang="zh-CN" sz="1600" i="1" dirty="0">
                  <a:latin typeface="+mn-lt"/>
                  <a:ea typeface="宋体" panose="02010600030101010101" pitchFamily="2" charset="-122"/>
                </a:rPr>
                <a:t>t</a:t>
              </a:r>
              <a:r>
                <a:rPr kumimoji="0" lang="en-US" altLang="zh-CN" sz="1600" dirty="0">
                  <a:latin typeface="+mn-lt"/>
                  <a:ea typeface="宋体" panose="02010600030101010101" pitchFamily="2" charset="-122"/>
                </a:rPr>
                <a:t>)</a:t>
              </a:r>
            </a:p>
          </p:txBody>
        </p:sp>
        <p:sp>
          <p:nvSpPr>
            <p:cNvPr id="30" name="Text Box 26"/>
            <p:cNvSpPr txBox="1">
              <a:spLocks noChangeArrowheads="1"/>
            </p:cNvSpPr>
            <p:nvPr/>
          </p:nvSpPr>
          <p:spPr bwMode="auto">
            <a:xfrm>
              <a:off x="7378055" y="4183533"/>
              <a:ext cx="806450" cy="312248"/>
            </a:xfrm>
            <a:prstGeom prst="rect">
              <a:avLst/>
            </a:prstGeom>
            <a:noFill/>
            <a:ln w="9525">
              <a:noFill/>
              <a:miter lim="800000"/>
            </a:ln>
          </p:spPr>
          <p:txBody>
            <a:bodyPr>
              <a:spAutoFit/>
            </a:bodyPr>
            <a:lstStyle/>
            <a:p>
              <a:pPr algn="r">
                <a:defRPr/>
              </a:pPr>
              <a:r>
                <a:rPr kumimoji="0" lang="zh-CN" altLang="en-US" sz="1600" dirty="0">
                  <a:latin typeface="+mn-lt"/>
                  <a:ea typeface="宋体" panose="02010600030101010101" pitchFamily="2" charset="-122"/>
                </a:rPr>
                <a:t>时间</a:t>
              </a:r>
              <a:endParaRPr kumimoji="0" lang="en-US" altLang="zh-CN" sz="1600" dirty="0">
                <a:latin typeface="+mn-lt"/>
                <a:ea typeface="宋体" panose="02010600030101010101" pitchFamily="2" charset="-122"/>
              </a:endParaRPr>
            </a:p>
          </p:txBody>
        </p:sp>
        <p:sp>
          <p:nvSpPr>
            <p:cNvPr id="31" name="Text Box 27"/>
            <p:cNvSpPr txBox="1">
              <a:spLocks noChangeArrowheads="1"/>
            </p:cNvSpPr>
            <p:nvPr/>
          </p:nvSpPr>
          <p:spPr bwMode="auto">
            <a:xfrm>
              <a:off x="2653655" y="3888258"/>
              <a:ext cx="1603375" cy="312248"/>
            </a:xfrm>
            <a:prstGeom prst="rect">
              <a:avLst/>
            </a:prstGeom>
            <a:noFill/>
            <a:ln w="9525">
              <a:noFill/>
              <a:miter lim="800000"/>
            </a:ln>
          </p:spPr>
          <p:txBody>
            <a:bodyPr>
              <a:spAutoFit/>
            </a:bodyPr>
            <a:lstStyle/>
            <a:p>
              <a:pPr algn="ctr">
                <a:defRPr/>
              </a:pPr>
              <a:r>
                <a:rPr kumimoji="0" lang="zh-CN" altLang="en-US" sz="1600" b="1" dirty="0">
                  <a:solidFill>
                    <a:srgbClr val="FF0000"/>
                  </a:solidFill>
                  <a:latin typeface="+mn-lt"/>
                  <a:ea typeface="宋体" panose="02010600030101010101" pitchFamily="2" charset="-122"/>
                </a:rPr>
                <a:t>报文分组缓存</a:t>
              </a:r>
              <a:endParaRPr kumimoji="0" lang="en-US" altLang="zh-CN" sz="1600" b="1" dirty="0">
                <a:solidFill>
                  <a:srgbClr val="FF0000"/>
                </a:solidFill>
                <a:latin typeface="+mn-lt"/>
                <a:ea typeface="宋体" panose="02010600030101010101" pitchFamily="2" charset="-122"/>
              </a:endParaRPr>
            </a:p>
          </p:txBody>
        </p:sp>
        <p:sp>
          <p:nvSpPr>
            <p:cNvPr id="32" name="Text Box 28"/>
            <p:cNvSpPr txBox="1">
              <a:spLocks noChangeArrowheads="1"/>
            </p:cNvSpPr>
            <p:nvPr/>
          </p:nvSpPr>
          <p:spPr bwMode="auto">
            <a:xfrm>
              <a:off x="770881" y="1888008"/>
              <a:ext cx="1633536" cy="539337"/>
            </a:xfrm>
            <a:prstGeom prst="rect">
              <a:avLst/>
            </a:prstGeom>
            <a:noFill/>
            <a:ln w="9525">
              <a:noFill/>
              <a:miter lim="800000"/>
            </a:ln>
          </p:spPr>
          <p:txBody>
            <a:bodyPr wrap="square">
              <a:spAutoFit/>
            </a:bodyPr>
            <a:lstStyle/>
            <a:p>
              <a:pPr algn="ctr">
                <a:defRPr/>
              </a:pPr>
              <a:r>
                <a:rPr kumimoji="0" lang="zh-CN" altLang="en-US" sz="1600" dirty="0">
                  <a:latin typeface="+mn-lt"/>
                  <a:ea typeface="宋体" panose="02010600030101010101" pitchFamily="2" charset="-122"/>
                </a:rPr>
                <a:t>具有相同输出的报文分组</a:t>
              </a:r>
              <a:endParaRPr kumimoji="0" lang="en-US" altLang="zh-CN" sz="1600" dirty="0">
                <a:latin typeface="+mn-lt"/>
                <a:ea typeface="宋体" panose="02010600030101010101" pitchFamily="2" charset="-122"/>
              </a:endParaRPr>
            </a:p>
          </p:txBody>
        </p:sp>
        <p:sp>
          <p:nvSpPr>
            <p:cNvPr id="33" name="Rectangle 30"/>
            <p:cNvSpPr>
              <a:spLocks noChangeArrowheads="1"/>
            </p:cNvSpPr>
            <p:nvPr/>
          </p:nvSpPr>
          <p:spPr bwMode="auto">
            <a:xfrm>
              <a:off x="912166" y="2726208"/>
              <a:ext cx="1219201" cy="254000"/>
            </a:xfrm>
            <a:prstGeom prst="rect">
              <a:avLst/>
            </a:prstGeom>
            <a:solidFill>
              <a:schemeClr val="accent2">
                <a:lumMod val="40000"/>
                <a:lumOff val="60000"/>
              </a:schemeClr>
            </a:solidFill>
            <a:ln w="9525">
              <a:solidFill>
                <a:schemeClr val="tx1"/>
              </a:solidFill>
              <a:miter lim="800000"/>
            </a:ln>
          </p:spPr>
          <p:txBody>
            <a:bodyPr wrap="none" anchor="ctr"/>
            <a:lstStyle/>
            <a:p>
              <a:pPr algn="ctr">
                <a:defRPr/>
              </a:pPr>
              <a:r>
                <a:rPr kumimoji="0" lang="zh-CN" altLang="en-US" sz="1600" dirty="0">
                  <a:latin typeface="+mn-lt"/>
                  <a:ea typeface="宋体" panose="02010600030101010101" pitchFamily="2" charset="-122"/>
                </a:rPr>
                <a:t>报文分组</a:t>
              </a:r>
              <a:endParaRPr kumimoji="0" lang="en-US" altLang="zh-CN" sz="1600" dirty="0">
                <a:latin typeface="+mn-lt"/>
                <a:ea typeface="宋体" panose="02010600030101010101" pitchFamily="2" charset="-122"/>
              </a:endParaRPr>
            </a:p>
          </p:txBody>
        </p:sp>
        <p:sp>
          <p:nvSpPr>
            <p:cNvPr id="39" name="Text Box 36"/>
            <p:cNvSpPr txBox="1">
              <a:spLocks noChangeArrowheads="1"/>
            </p:cNvSpPr>
            <p:nvPr/>
          </p:nvSpPr>
          <p:spPr bwMode="auto">
            <a:xfrm>
              <a:off x="2425055" y="2802408"/>
              <a:ext cx="301758"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i="1" dirty="0">
                  <a:ea typeface="宋体" panose="02010600030101010101" pitchFamily="2" charset="-122"/>
                  <a:cs typeface="Times New Roman" panose="02020603050405020304" pitchFamily="18" charset="0"/>
                </a:rPr>
                <a:t>R</a:t>
              </a:r>
            </a:p>
          </p:txBody>
        </p:sp>
        <p:sp>
          <p:nvSpPr>
            <p:cNvPr id="40" name="Text Box 37"/>
            <p:cNvSpPr txBox="1">
              <a:spLocks noChangeArrowheads="1"/>
            </p:cNvSpPr>
            <p:nvPr/>
          </p:nvSpPr>
          <p:spPr bwMode="auto">
            <a:xfrm>
              <a:off x="2425055" y="3056408"/>
              <a:ext cx="301758"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i="1">
                  <a:ea typeface="宋体" panose="02010600030101010101" pitchFamily="2" charset="-122"/>
                  <a:cs typeface="Times New Roman" panose="02020603050405020304" pitchFamily="18" charset="0"/>
                </a:rPr>
                <a:t>R</a:t>
              </a:r>
            </a:p>
          </p:txBody>
        </p:sp>
        <p:sp>
          <p:nvSpPr>
            <p:cNvPr id="41" name="Text Box 38"/>
            <p:cNvSpPr txBox="1">
              <a:spLocks noChangeArrowheads="1"/>
            </p:cNvSpPr>
            <p:nvPr/>
          </p:nvSpPr>
          <p:spPr bwMode="auto">
            <a:xfrm>
              <a:off x="2425055" y="3539008"/>
              <a:ext cx="301758"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i="1" dirty="0">
                  <a:ea typeface="宋体" panose="02010600030101010101" pitchFamily="2" charset="-122"/>
                  <a:cs typeface="Times New Roman" panose="02020603050405020304" pitchFamily="18" charset="0"/>
                </a:rPr>
                <a:t>R</a:t>
              </a:r>
            </a:p>
          </p:txBody>
        </p:sp>
        <p:sp>
          <p:nvSpPr>
            <p:cNvPr id="42" name="Text Box 40"/>
            <p:cNvSpPr txBox="1">
              <a:spLocks noChangeArrowheads="1"/>
            </p:cNvSpPr>
            <p:nvPr/>
          </p:nvSpPr>
          <p:spPr bwMode="auto">
            <a:xfrm>
              <a:off x="596255" y="2665883"/>
              <a:ext cx="279891"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rPr>
                <a:t>1</a:t>
              </a:r>
            </a:p>
          </p:txBody>
        </p:sp>
        <p:sp>
          <p:nvSpPr>
            <p:cNvPr id="43" name="Text Box 41"/>
            <p:cNvSpPr txBox="1">
              <a:spLocks noChangeArrowheads="1"/>
            </p:cNvSpPr>
            <p:nvPr/>
          </p:nvSpPr>
          <p:spPr bwMode="auto">
            <a:xfrm>
              <a:off x="596255" y="3072283"/>
              <a:ext cx="279891"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rPr>
                <a:t>2</a:t>
              </a:r>
            </a:p>
          </p:txBody>
        </p:sp>
        <p:sp>
          <p:nvSpPr>
            <p:cNvPr id="44" name="Text Box 42"/>
            <p:cNvSpPr txBox="1">
              <a:spLocks noChangeArrowheads="1"/>
            </p:cNvSpPr>
            <p:nvPr/>
          </p:nvSpPr>
          <p:spPr bwMode="auto">
            <a:xfrm>
              <a:off x="596255" y="3986683"/>
              <a:ext cx="312692" cy="31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i="1">
                  <a:ea typeface="宋体" panose="02010600030101010101" pitchFamily="2" charset="-122"/>
                </a:rPr>
                <a:t>N</a:t>
              </a:r>
            </a:p>
          </p:txBody>
        </p:sp>
      </p:grpSp>
      <p:sp>
        <p:nvSpPr>
          <p:cNvPr id="3" name="Rectangle 30"/>
          <p:cNvSpPr>
            <a:spLocks noChangeArrowheads="1"/>
          </p:cNvSpPr>
          <p:nvPr/>
        </p:nvSpPr>
        <p:spPr bwMode="auto">
          <a:xfrm>
            <a:off x="733050" y="3066240"/>
            <a:ext cx="1251290" cy="275399"/>
          </a:xfrm>
          <a:prstGeom prst="rect">
            <a:avLst/>
          </a:prstGeom>
          <a:solidFill>
            <a:schemeClr val="accent2">
              <a:lumMod val="40000"/>
              <a:lumOff val="60000"/>
            </a:schemeClr>
          </a:solidFill>
          <a:ln w="9525">
            <a:solidFill>
              <a:schemeClr val="tx1"/>
            </a:solidFill>
            <a:miter lim="800000"/>
          </a:ln>
        </p:spPr>
        <p:txBody>
          <a:bodyPr wrap="none" anchor="ctr"/>
          <a:lstStyle/>
          <a:p>
            <a:pPr algn="ctr">
              <a:defRPr/>
            </a:pPr>
            <a:r>
              <a:rPr kumimoji="0" lang="zh-CN" altLang="en-US" sz="1600" dirty="0">
                <a:latin typeface="+mn-lt"/>
                <a:ea typeface="宋体" panose="02010600030101010101" pitchFamily="2" charset="-122"/>
              </a:rPr>
              <a:t>报文分组</a:t>
            </a:r>
            <a:endParaRPr kumimoji="0" lang="en-US" altLang="zh-CN" sz="1600" dirty="0">
              <a:latin typeface="+mn-lt"/>
              <a:ea typeface="宋体" panose="02010600030101010101" pitchFamily="2" charset="-122"/>
            </a:endParaRPr>
          </a:p>
        </p:txBody>
      </p:sp>
      <p:sp>
        <p:nvSpPr>
          <p:cNvPr id="4" name="Rectangle 30"/>
          <p:cNvSpPr>
            <a:spLocks noChangeArrowheads="1"/>
          </p:cNvSpPr>
          <p:nvPr/>
        </p:nvSpPr>
        <p:spPr bwMode="auto">
          <a:xfrm>
            <a:off x="746031" y="4012640"/>
            <a:ext cx="1251290" cy="275399"/>
          </a:xfrm>
          <a:prstGeom prst="rect">
            <a:avLst/>
          </a:prstGeom>
          <a:solidFill>
            <a:schemeClr val="accent2">
              <a:lumMod val="40000"/>
              <a:lumOff val="60000"/>
            </a:schemeClr>
          </a:solidFill>
          <a:ln w="9525">
            <a:solidFill>
              <a:schemeClr val="tx1"/>
            </a:solidFill>
            <a:miter lim="800000"/>
          </a:ln>
        </p:spPr>
        <p:txBody>
          <a:bodyPr wrap="none" anchor="ctr"/>
          <a:lstStyle/>
          <a:p>
            <a:pPr algn="ctr">
              <a:defRPr/>
            </a:pPr>
            <a:r>
              <a:rPr kumimoji="0" lang="zh-CN" altLang="en-US" sz="1600" dirty="0">
                <a:latin typeface="+mn-lt"/>
                <a:ea typeface="宋体" panose="02010600030101010101" pitchFamily="2" charset="-122"/>
              </a:rPr>
              <a:t>报文分组</a:t>
            </a:r>
            <a:endParaRPr kumimoji="0" lang="en-US" altLang="zh-CN" sz="1600" dirty="0">
              <a:latin typeface="+mn-lt"/>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Line 3"/>
          <p:cNvSpPr>
            <a:spLocks noChangeShapeType="1"/>
          </p:cNvSpPr>
          <p:nvPr/>
        </p:nvSpPr>
        <p:spPr bwMode="auto">
          <a:xfrm>
            <a:off x="1039922" y="1841546"/>
            <a:ext cx="0" cy="160020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29" name="Line 4"/>
          <p:cNvSpPr>
            <a:spLocks noChangeShapeType="1"/>
          </p:cNvSpPr>
          <p:nvPr/>
        </p:nvSpPr>
        <p:spPr bwMode="auto">
          <a:xfrm flipH="1" flipV="1">
            <a:off x="811322" y="3213146"/>
            <a:ext cx="35052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0" name="Freeform 5"/>
          <p:cNvSpPr/>
          <p:nvPr/>
        </p:nvSpPr>
        <p:spPr bwMode="auto">
          <a:xfrm>
            <a:off x="963722" y="2433683"/>
            <a:ext cx="3276600" cy="755650"/>
          </a:xfrm>
          <a:custGeom>
            <a:avLst/>
            <a:gdLst>
              <a:gd name="T0" fmla="*/ 0 w 2064"/>
              <a:gd name="T1" fmla="*/ 2147483646 h 476"/>
              <a:gd name="T2" fmla="*/ 2147483646 w 2064"/>
              <a:gd name="T3" fmla="*/ 2147483646 h 476"/>
              <a:gd name="T4" fmla="*/ 2147483646 w 2064"/>
              <a:gd name="T5" fmla="*/ 2147483646 h 476"/>
              <a:gd name="T6" fmla="*/ 2147483646 w 2064"/>
              <a:gd name="T7" fmla="*/ 2147483646 h 476"/>
              <a:gd name="T8" fmla="*/ 2147483646 w 2064"/>
              <a:gd name="T9" fmla="*/ 2147483646 h 476"/>
              <a:gd name="T10" fmla="*/ 2147483646 w 2064"/>
              <a:gd name="T11" fmla="*/ 2147483646 h 476"/>
              <a:gd name="T12" fmla="*/ 2147483646 w 2064"/>
              <a:gd name="T13" fmla="*/ 2147483646 h 476"/>
              <a:gd name="T14" fmla="*/ 2147483646 w 2064"/>
              <a:gd name="T15" fmla="*/ 2147483646 h 476"/>
              <a:gd name="T16" fmla="*/ 2147483646 w 2064"/>
              <a:gd name="T17" fmla="*/ 2147483646 h 476"/>
              <a:gd name="T18" fmla="*/ 2147483646 w 2064"/>
              <a:gd name="T19" fmla="*/ 2147483646 h 476"/>
              <a:gd name="T20" fmla="*/ 2147483646 w 2064"/>
              <a:gd name="T21" fmla="*/ 2147483646 h 476"/>
              <a:gd name="T22" fmla="*/ 2147483646 w 2064"/>
              <a:gd name="T23" fmla="*/ 2147483646 h 476"/>
              <a:gd name="T24" fmla="*/ 2147483646 w 2064"/>
              <a:gd name="T25" fmla="*/ 2147483646 h 476"/>
              <a:gd name="T26" fmla="*/ 2147483646 w 2064"/>
              <a:gd name="T27" fmla="*/ 2147483646 h 4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64"/>
              <a:gd name="T43" fmla="*/ 0 h 476"/>
              <a:gd name="T44" fmla="*/ 2064 w 2064"/>
              <a:gd name="T45" fmla="*/ 476 h 47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64" h="476">
                <a:moveTo>
                  <a:pt x="0" y="299"/>
                </a:moveTo>
                <a:cubicBezTo>
                  <a:pt x="35" y="324"/>
                  <a:pt x="158" y="476"/>
                  <a:pt x="210" y="448"/>
                </a:cubicBezTo>
                <a:cubicBezTo>
                  <a:pt x="262" y="420"/>
                  <a:pt x="274" y="201"/>
                  <a:pt x="311" y="128"/>
                </a:cubicBezTo>
                <a:cubicBezTo>
                  <a:pt x="348" y="55"/>
                  <a:pt x="380" y="22"/>
                  <a:pt x="432" y="11"/>
                </a:cubicBezTo>
                <a:cubicBezTo>
                  <a:pt x="484" y="0"/>
                  <a:pt x="585" y="21"/>
                  <a:pt x="624" y="59"/>
                </a:cubicBezTo>
                <a:cubicBezTo>
                  <a:pt x="663" y="97"/>
                  <a:pt x="643" y="189"/>
                  <a:pt x="667" y="237"/>
                </a:cubicBezTo>
                <a:cubicBezTo>
                  <a:pt x="691" y="285"/>
                  <a:pt x="727" y="345"/>
                  <a:pt x="768" y="347"/>
                </a:cubicBezTo>
                <a:cubicBezTo>
                  <a:pt x="809" y="349"/>
                  <a:pt x="872" y="291"/>
                  <a:pt x="912" y="251"/>
                </a:cubicBezTo>
                <a:cubicBezTo>
                  <a:pt x="952" y="211"/>
                  <a:pt x="984" y="147"/>
                  <a:pt x="1008" y="107"/>
                </a:cubicBezTo>
                <a:cubicBezTo>
                  <a:pt x="1032" y="67"/>
                  <a:pt x="1016" y="11"/>
                  <a:pt x="1056" y="11"/>
                </a:cubicBezTo>
                <a:cubicBezTo>
                  <a:pt x="1096" y="11"/>
                  <a:pt x="1160" y="43"/>
                  <a:pt x="1248" y="107"/>
                </a:cubicBezTo>
                <a:cubicBezTo>
                  <a:pt x="1336" y="171"/>
                  <a:pt x="1472" y="347"/>
                  <a:pt x="1584" y="395"/>
                </a:cubicBezTo>
                <a:cubicBezTo>
                  <a:pt x="1696" y="443"/>
                  <a:pt x="1840" y="419"/>
                  <a:pt x="1920" y="395"/>
                </a:cubicBezTo>
                <a:cubicBezTo>
                  <a:pt x="2000" y="371"/>
                  <a:pt x="2048" y="291"/>
                  <a:pt x="2064" y="251"/>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31" name="Line 6"/>
          <p:cNvSpPr>
            <a:spLocks noChangeShapeType="1"/>
          </p:cNvSpPr>
          <p:nvPr/>
        </p:nvSpPr>
        <p:spPr bwMode="auto">
          <a:xfrm>
            <a:off x="811322" y="2451146"/>
            <a:ext cx="3429000"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2232" name="Line 7"/>
          <p:cNvSpPr>
            <a:spLocks noChangeShapeType="1"/>
          </p:cNvSpPr>
          <p:nvPr/>
        </p:nvSpPr>
        <p:spPr bwMode="auto">
          <a:xfrm>
            <a:off x="1039922" y="3975146"/>
            <a:ext cx="0" cy="160020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3" name="Line 8"/>
          <p:cNvSpPr>
            <a:spLocks noChangeShapeType="1"/>
          </p:cNvSpPr>
          <p:nvPr/>
        </p:nvSpPr>
        <p:spPr bwMode="auto">
          <a:xfrm flipH="1" flipV="1">
            <a:off x="811322" y="5346746"/>
            <a:ext cx="35052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4" name="Freeform 9"/>
          <p:cNvSpPr/>
          <p:nvPr/>
        </p:nvSpPr>
        <p:spPr bwMode="auto">
          <a:xfrm>
            <a:off x="963722" y="4519658"/>
            <a:ext cx="3276600" cy="803275"/>
          </a:xfrm>
          <a:custGeom>
            <a:avLst/>
            <a:gdLst>
              <a:gd name="T0" fmla="*/ 0 w 2064"/>
              <a:gd name="T1" fmla="*/ 2147483646 h 506"/>
              <a:gd name="T2" fmla="*/ 2147483646 w 2064"/>
              <a:gd name="T3" fmla="*/ 2147483646 h 506"/>
              <a:gd name="T4" fmla="*/ 2147483646 w 2064"/>
              <a:gd name="T5" fmla="*/ 2147483646 h 506"/>
              <a:gd name="T6" fmla="*/ 2147483646 w 2064"/>
              <a:gd name="T7" fmla="*/ 2147483646 h 506"/>
              <a:gd name="T8" fmla="*/ 2147483646 w 2064"/>
              <a:gd name="T9" fmla="*/ 2147483646 h 506"/>
              <a:gd name="T10" fmla="*/ 2147483646 w 2064"/>
              <a:gd name="T11" fmla="*/ 2147483646 h 506"/>
              <a:gd name="T12" fmla="*/ 2147483646 w 2064"/>
              <a:gd name="T13" fmla="*/ 2147483646 h 506"/>
              <a:gd name="T14" fmla="*/ 2147483646 w 2064"/>
              <a:gd name="T15" fmla="*/ 2147483646 h 506"/>
              <a:gd name="T16" fmla="*/ 2147483646 w 2064"/>
              <a:gd name="T17" fmla="*/ 2147483646 h 506"/>
              <a:gd name="T18" fmla="*/ 2147483646 w 2064"/>
              <a:gd name="T19" fmla="*/ 2147483646 h 506"/>
              <a:gd name="T20" fmla="*/ 2147483646 w 2064"/>
              <a:gd name="T21" fmla="*/ 2147483646 h 506"/>
              <a:gd name="T22" fmla="*/ 2147483646 w 2064"/>
              <a:gd name="T23" fmla="*/ 2147483646 h 506"/>
              <a:gd name="T24" fmla="*/ 2147483646 w 2064"/>
              <a:gd name="T25" fmla="*/ 2147483646 h 506"/>
              <a:gd name="T26" fmla="*/ 2147483646 w 2064"/>
              <a:gd name="T27" fmla="*/ 2147483646 h 506"/>
              <a:gd name="T28" fmla="*/ 2147483646 w 2064"/>
              <a:gd name="T29" fmla="*/ 2147483646 h 506"/>
              <a:gd name="T30" fmla="*/ 2147483646 w 2064"/>
              <a:gd name="T31" fmla="*/ 2147483646 h 5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64"/>
              <a:gd name="T49" fmla="*/ 0 h 506"/>
              <a:gd name="T50" fmla="*/ 2064 w 2064"/>
              <a:gd name="T51" fmla="*/ 506 h 5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64" h="506">
                <a:moveTo>
                  <a:pt x="0" y="329"/>
                </a:moveTo>
                <a:cubicBezTo>
                  <a:pt x="35" y="354"/>
                  <a:pt x="158" y="506"/>
                  <a:pt x="210" y="478"/>
                </a:cubicBezTo>
                <a:cubicBezTo>
                  <a:pt x="262" y="450"/>
                  <a:pt x="268" y="157"/>
                  <a:pt x="311" y="158"/>
                </a:cubicBezTo>
                <a:cubicBezTo>
                  <a:pt x="354" y="159"/>
                  <a:pt x="414" y="498"/>
                  <a:pt x="466" y="487"/>
                </a:cubicBezTo>
                <a:cubicBezTo>
                  <a:pt x="518" y="476"/>
                  <a:pt x="591" y="126"/>
                  <a:pt x="624" y="89"/>
                </a:cubicBezTo>
                <a:cubicBezTo>
                  <a:pt x="657" y="52"/>
                  <a:pt x="639" y="281"/>
                  <a:pt x="667" y="267"/>
                </a:cubicBezTo>
                <a:cubicBezTo>
                  <a:pt x="695" y="253"/>
                  <a:pt x="754" y="0"/>
                  <a:pt x="795" y="2"/>
                </a:cubicBezTo>
                <a:cubicBezTo>
                  <a:pt x="836" y="4"/>
                  <a:pt x="866" y="211"/>
                  <a:pt x="912" y="281"/>
                </a:cubicBezTo>
                <a:cubicBezTo>
                  <a:pt x="958" y="351"/>
                  <a:pt x="1029" y="404"/>
                  <a:pt x="1070" y="423"/>
                </a:cubicBezTo>
                <a:cubicBezTo>
                  <a:pt x="1111" y="442"/>
                  <a:pt x="1131" y="443"/>
                  <a:pt x="1161" y="395"/>
                </a:cubicBezTo>
                <a:cubicBezTo>
                  <a:pt x="1191" y="347"/>
                  <a:pt x="1182" y="175"/>
                  <a:pt x="1248" y="137"/>
                </a:cubicBezTo>
                <a:cubicBezTo>
                  <a:pt x="1314" y="99"/>
                  <a:pt x="1492" y="142"/>
                  <a:pt x="1554" y="167"/>
                </a:cubicBezTo>
                <a:cubicBezTo>
                  <a:pt x="1616" y="192"/>
                  <a:pt x="1578" y="287"/>
                  <a:pt x="1618" y="286"/>
                </a:cubicBezTo>
                <a:cubicBezTo>
                  <a:pt x="1658" y="285"/>
                  <a:pt x="1737" y="160"/>
                  <a:pt x="1792" y="158"/>
                </a:cubicBezTo>
                <a:cubicBezTo>
                  <a:pt x="1847" y="156"/>
                  <a:pt x="1902" y="255"/>
                  <a:pt x="1947" y="276"/>
                </a:cubicBezTo>
                <a:cubicBezTo>
                  <a:pt x="1992" y="297"/>
                  <a:pt x="2040" y="280"/>
                  <a:pt x="2064" y="281"/>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35" name="Line 10"/>
          <p:cNvSpPr>
            <a:spLocks noChangeShapeType="1"/>
          </p:cNvSpPr>
          <p:nvPr/>
        </p:nvSpPr>
        <p:spPr bwMode="auto">
          <a:xfrm>
            <a:off x="811322" y="4508546"/>
            <a:ext cx="3429000"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2236" name="Text Box 11"/>
          <p:cNvSpPr txBox="1">
            <a:spLocks noChangeArrowheads="1"/>
          </p:cNvSpPr>
          <p:nvPr/>
        </p:nvSpPr>
        <p:spPr bwMode="auto">
          <a:xfrm>
            <a:off x="1120834" y="3989990"/>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dirty="0">
                <a:solidFill>
                  <a:srgbClr val="000099"/>
                </a:solidFill>
                <a:ea typeface="宋体" panose="02010600030101010101" pitchFamily="2" charset="-122"/>
              </a:rPr>
              <a:t>B</a:t>
            </a:r>
          </a:p>
        </p:txBody>
      </p:sp>
      <p:sp>
        <p:nvSpPr>
          <p:cNvPr id="52237" name="Text Box 12"/>
          <p:cNvSpPr txBox="1">
            <a:spLocks noChangeArrowheads="1"/>
          </p:cNvSpPr>
          <p:nvPr/>
        </p:nvSpPr>
        <p:spPr bwMode="auto">
          <a:xfrm>
            <a:off x="1116123" y="1864842"/>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dirty="0">
                <a:solidFill>
                  <a:srgbClr val="000099"/>
                </a:solidFill>
                <a:ea typeface="宋体" panose="02010600030101010101" pitchFamily="2" charset="-122"/>
              </a:rPr>
              <a:t>A</a:t>
            </a:r>
          </a:p>
        </p:txBody>
      </p:sp>
      <p:sp>
        <p:nvSpPr>
          <p:cNvPr id="52238" name="Text Box 13"/>
          <p:cNvSpPr txBox="1">
            <a:spLocks noChangeArrowheads="1"/>
          </p:cNvSpPr>
          <p:nvPr/>
        </p:nvSpPr>
        <p:spPr bwMode="auto">
          <a:xfrm>
            <a:off x="3636169" y="3209971"/>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1800" dirty="0">
                <a:solidFill>
                  <a:srgbClr val="000099"/>
                </a:solidFill>
                <a:ea typeface="宋体" panose="02010600030101010101" pitchFamily="2" charset="-122"/>
              </a:rPr>
              <a:t>时间</a:t>
            </a:r>
            <a:endParaRPr kumimoji="0" lang="en-US" altLang="zh-CN" sz="1800" dirty="0">
              <a:solidFill>
                <a:srgbClr val="000099"/>
              </a:solidFill>
              <a:ea typeface="宋体" panose="02010600030101010101" pitchFamily="2" charset="-122"/>
            </a:endParaRPr>
          </a:p>
        </p:txBody>
      </p:sp>
      <p:sp>
        <p:nvSpPr>
          <p:cNvPr id="52239" name="Text Box 14"/>
          <p:cNvSpPr txBox="1">
            <a:spLocks noChangeArrowheads="1"/>
          </p:cNvSpPr>
          <p:nvPr/>
        </p:nvSpPr>
        <p:spPr bwMode="auto">
          <a:xfrm>
            <a:off x="3636962" y="5376908"/>
            <a:ext cx="6463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1800" dirty="0">
                <a:solidFill>
                  <a:srgbClr val="000099"/>
                </a:solidFill>
                <a:ea typeface="宋体" panose="02010600030101010101" pitchFamily="2" charset="-122"/>
              </a:rPr>
              <a:t>时间</a:t>
            </a:r>
            <a:endParaRPr kumimoji="0" lang="en-US" altLang="zh-CN" sz="1800" dirty="0">
              <a:solidFill>
                <a:srgbClr val="000099"/>
              </a:solidFill>
              <a:ea typeface="宋体" panose="02010600030101010101" pitchFamily="2" charset="-122"/>
            </a:endParaRPr>
          </a:p>
        </p:txBody>
      </p:sp>
      <p:sp>
        <p:nvSpPr>
          <p:cNvPr id="52240" name="Text Box 15"/>
          <p:cNvSpPr txBox="1">
            <a:spLocks noChangeArrowheads="1"/>
          </p:cNvSpPr>
          <p:nvPr/>
        </p:nvSpPr>
        <p:spPr bwMode="auto">
          <a:xfrm>
            <a:off x="428625" y="1932033"/>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1800" dirty="0">
                <a:solidFill>
                  <a:srgbClr val="000099"/>
                </a:solidFill>
                <a:ea typeface="宋体" panose="02010600030101010101" pitchFamily="2" charset="-122"/>
              </a:rPr>
              <a:t>速率</a:t>
            </a:r>
            <a:endParaRPr kumimoji="0" lang="en-US" altLang="zh-CN" sz="1800" dirty="0">
              <a:solidFill>
                <a:srgbClr val="000099"/>
              </a:solidFill>
              <a:ea typeface="宋体" panose="02010600030101010101" pitchFamily="2" charset="-122"/>
            </a:endParaRPr>
          </a:p>
        </p:txBody>
      </p:sp>
      <p:sp>
        <p:nvSpPr>
          <p:cNvPr id="52241" name="Text Box 16"/>
          <p:cNvSpPr txBox="1">
            <a:spLocks noChangeArrowheads="1"/>
          </p:cNvSpPr>
          <p:nvPr/>
        </p:nvSpPr>
        <p:spPr bwMode="auto">
          <a:xfrm>
            <a:off x="428625" y="4092621"/>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1800" dirty="0">
                <a:solidFill>
                  <a:srgbClr val="000099"/>
                </a:solidFill>
                <a:ea typeface="宋体" panose="02010600030101010101" pitchFamily="2" charset="-122"/>
              </a:rPr>
              <a:t>速率</a:t>
            </a:r>
            <a:endParaRPr kumimoji="0" lang="en-US" altLang="zh-CN" sz="1800" dirty="0">
              <a:solidFill>
                <a:srgbClr val="000099"/>
              </a:solidFill>
              <a:ea typeface="宋体" panose="02010600030101010101" pitchFamily="2" charset="-122"/>
            </a:endParaRPr>
          </a:p>
        </p:txBody>
      </p:sp>
      <p:sp>
        <p:nvSpPr>
          <p:cNvPr id="52242" name="Text Box 17"/>
          <p:cNvSpPr txBox="1">
            <a:spLocks noChangeArrowheads="1"/>
          </p:cNvSpPr>
          <p:nvPr/>
        </p:nvSpPr>
        <p:spPr bwMode="auto">
          <a:xfrm>
            <a:off x="3740259" y="206538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C</a:t>
            </a:r>
          </a:p>
        </p:txBody>
      </p:sp>
      <p:sp>
        <p:nvSpPr>
          <p:cNvPr id="52243" name="Text Box 18"/>
          <p:cNvSpPr txBox="1">
            <a:spLocks noChangeArrowheads="1"/>
          </p:cNvSpPr>
          <p:nvPr/>
        </p:nvSpPr>
        <p:spPr bwMode="auto">
          <a:xfrm>
            <a:off x="3783122" y="412278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C</a:t>
            </a:r>
          </a:p>
        </p:txBody>
      </p:sp>
      <p:sp>
        <p:nvSpPr>
          <p:cNvPr id="52244" name="Line 19"/>
          <p:cNvSpPr>
            <a:spLocks noChangeShapeType="1"/>
          </p:cNvSpPr>
          <p:nvPr/>
        </p:nvSpPr>
        <p:spPr bwMode="auto">
          <a:xfrm>
            <a:off x="5551597" y="2832146"/>
            <a:ext cx="11430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2245" name="Group 20"/>
          <p:cNvGrpSpPr/>
          <p:nvPr/>
        </p:nvGrpSpPr>
        <p:grpSpPr bwMode="auto">
          <a:xfrm>
            <a:off x="6694597" y="2679746"/>
            <a:ext cx="609600" cy="381000"/>
            <a:chOff x="3696" y="1392"/>
            <a:chExt cx="384" cy="240"/>
          </a:xfrm>
        </p:grpSpPr>
        <p:grpSp>
          <p:nvGrpSpPr>
            <p:cNvPr id="52260" name="Group 21"/>
            <p:cNvGrpSpPr/>
            <p:nvPr/>
          </p:nvGrpSpPr>
          <p:grpSpPr bwMode="auto">
            <a:xfrm>
              <a:off x="3792" y="1392"/>
              <a:ext cx="288" cy="240"/>
              <a:chOff x="3792" y="1392"/>
              <a:chExt cx="288" cy="240"/>
            </a:xfrm>
          </p:grpSpPr>
          <p:sp>
            <p:nvSpPr>
              <p:cNvPr id="52263" name="Rectangle 22"/>
              <p:cNvSpPr>
                <a:spLocks noChangeArrowheads="1"/>
              </p:cNvSpPr>
              <p:nvPr/>
            </p:nvSpPr>
            <p:spPr bwMode="auto">
              <a:xfrm>
                <a:off x="3792"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52264" name="Rectangle 23"/>
              <p:cNvSpPr>
                <a:spLocks noChangeArrowheads="1"/>
              </p:cNvSpPr>
              <p:nvPr/>
            </p:nvSpPr>
            <p:spPr bwMode="auto">
              <a:xfrm>
                <a:off x="3888"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52265" name="Rectangle 24"/>
              <p:cNvSpPr>
                <a:spLocks noChangeArrowheads="1"/>
              </p:cNvSpPr>
              <p:nvPr/>
            </p:nvSpPr>
            <p:spPr bwMode="auto">
              <a:xfrm>
                <a:off x="3984"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sp>
          <p:nvSpPr>
            <p:cNvPr id="52261" name="Line 25"/>
            <p:cNvSpPr>
              <a:spLocks noChangeShapeType="1"/>
            </p:cNvSpPr>
            <p:nvPr/>
          </p:nvSpPr>
          <p:spPr bwMode="auto">
            <a:xfrm>
              <a:off x="3696" y="1392"/>
              <a:ext cx="192" cy="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62" name="Line 26"/>
            <p:cNvSpPr>
              <a:spLocks noChangeShapeType="1"/>
            </p:cNvSpPr>
            <p:nvPr/>
          </p:nvSpPr>
          <p:spPr bwMode="auto">
            <a:xfrm>
              <a:off x="3696" y="1632"/>
              <a:ext cx="192" cy="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2246" name="Line 27"/>
          <p:cNvSpPr>
            <a:spLocks noChangeShapeType="1"/>
          </p:cNvSpPr>
          <p:nvPr/>
        </p:nvSpPr>
        <p:spPr bwMode="auto">
          <a:xfrm flipV="1">
            <a:off x="7380397" y="2832146"/>
            <a:ext cx="11430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7" name="Text Box 28"/>
          <p:cNvSpPr txBox="1">
            <a:spLocks noChangeArrowheads="1"/>
          </p:cNvSpPr>
          <p:nvPr/>
        </p:nvSpPr>
        <p:spPr bwMode="auto">
          <a:xfrm>
            <a:off x="5154722" y="2446383"/>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A</a:t>
            </a:r>
          </a:p>
        </p:txBody>
      </p:sp>
      <p:sp>
        <p:nvSpPr>
          <p:cNvPr id="52248" name="Text Box 29"/>
          <p:cNvSpPr txBox="1">
            <a:spLocks noChangeArrowheads="1"/>
          </p:cNvSpPr>
          <p:nvPr/>
        </p:nvSpPr>
        <p:spPr bwMode="auto">
          <a:xfrm>
            <a:off x="8040797" y="237018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C</a:t>
            </a:r>
          </a:p>
        </p:txBody>
      </p:sp>
      <p:sp>
        <p:nvSpPr>
          <p:cNvPr id="52249" name="Line 30"/>
          <p:cNvSpPr>
            <a:spLocks noChangeShapeType="1"/>
          </p:cNvSpPr>
          <p:nvPr/>
        </p:nvSpPr>
        <p:spPr bwMode="auto">
          <a:xfrm>
            <a:off x="5551597" y="4737146"/>
            <a:ext cx="11430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2250" name="Group 31"/>
          <p:cNvGrpSpPr/>
          <p:nvPr/>
        </p:nvGrpSpPr>
        <p:grpSpPr bwMode="auto">
          <a:xfrm>
            <a:off x="6694597" y="4584746"/>
            <a:ext cx="609600" cy="381000"/>
            <a:chOff x="3696" y="1392"/>
            <a:chExt cx="384" cy="240"/>
          </a:xfrm>
        </p:grpSpPr>
        <p:grpSp>
          <p:nvGrpSpPr>
            <p:cNvPr id="52254" name="Group 32"/>
            <p:cNvGrpSpPr/>
            <p:nvPr/>
          </p:nvGrpSpPr>
          <p:grpSpPr bwMode="auto">
            <a:xfrm>
              <a:off x="3792" y="1392"/>
              <a:ext cx="288" cy="240"/>
              <a:chOff x="3792" y="1392"/>
              <a:chExt cx="288" cy="240"/>
            </a:xfrm>
          </p:grpSpPr>
          <p:sp>
            <p:nvSpPr>
              <p:cNvPr id="52257" name="Rectangle 33"/>
              <p:cNvSpPr>
                <a:spLocks noChangeArrowheads="1"/>
              </p:cNvSpPr>
              <p:nvPr/>
            </p:nvSpPr>
            <p:spPr bwMode="auto">
              <a:xfrm>
                <a:off x="3792"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52258" name="Rectangle 34"/>
              <p:cNvSpPr>
                <a:spLocks noChangeArrowheads="1"/>
              </p:cNvSpPr>
              <p:nvPr/>
            </p:nvSpPr>
            <p:spPr bwMode="auto">
              <a:xfrm>
                <a:off x="3888"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52259" name="Rectangle 35"/>
              <p:cNvSpPr>
                <a:spLocks noChangeArrowheads="1"/>
              </p:cNvSpPr>
              <p:nvPr/>
            </p:nvSpPr>
            <p:spPr bwMode="auto">
              <a:xfrm>
                <a:off x="3984"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sp>
          <p:nvSpPr>
            <p:cNvPr id="52255" name="Line 36"/>
            <p:cNvSpPr>
              <a:spLocks noChangeShapeType="1"/>
            </p:cNvSpPr>
            <p:nvPr/>
          </p:nvSpPr>
          <p:spPr bwMode="auto">
            <a:xfrm>
              <a:off x="3696" y="1392"/>
              <a:ext cx="192" cy="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56" name="Line 37"/>
            <p:cNvSpPr>
              <a:spLocks noChangeShapeType="1"/>
            </p:cNvSpPr>
            <p:nvPr/>
          </p:nvSpPr>
          <p:spPr bwMode="auto">
            <a:xfrm>
              <a:off x="3696" y="1632"/>
              <a:ext cx="192" cy="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2251" name="Line 38"/>
          <p:cNvSpPr>
            <a:spLocks noChangeShapeType="1"/>
          </p:cNvSpPr>
          <p:nvPr/>
        </p:nvSpPr>
        <p:spPr bwMode="auto">
          <a:xfrm flipV="1">
            <a:off x="7380397" y="4737146"/>
            <a:ext cx="11430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2" name="Text Box 39"/>
          <p:cNvSpPr txBox="1">
            <a:spLocks noChangeArrowheads="1"/>
          </p:cNvSpPr>
          <p:nvPr/>
        </p:nvSpPr>
        <p:spPr bwMode="auto">
          <a:xfrm>
            <a:off x="5154722" y="4351383"/>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B</a:t>
            </a:r>
          </a:p>
        </p:txBody>
      </p:sp>
      <p:sp>
        <p:nvSpPr>
          <p:cNvPr id="52253" name="Text Box 40"/>
          <p:cNvSpPr txBox="1">
            <a:spLocks noChangeArrowheads="1"/>
          </p:cNvSpPr>
          <p:nvPr/>
        </p:nvSpPr>
        <p:spPr bwMode="auto">
          <a:xfrm>
            <a:off x="8040797" y="427518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C</a:t>
            </a:r>
          </a:p>
        </p:txBody>
      </p:sp>
      <p:sp>
        <p:nvSpPr>
          <p:cNvPr id="42"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44" name="Rectangle 2"/>
          <p:cNvSpPr>
            <a:spLocks noGrp="1" noChangeArrowheads="1"/>
          </p:cNvSpPr>
          <p:nvPr>
            <p:ph type="title"/>
          </p:nvPr>
        </p:nvSpPr>
        <p:spPr>
          <a:xfrm>
            <a:off x="428625" y="666748"/>
            <a:ext cx="8206327" cy="877613"/>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44" name="Rectangle 2"/>
          <p:cNvSpPr>
            <a:spLocks noGrp="1" noChangeArrowheads="1"/>
          </p:cNvSpPr>
          <p:nvPr>
            <p:ph type="title"/>
          </p:nvPr>
        </p:nvSpPr>
        <p:spPr>
          <a:xfrm>
            <a:off x="428625" y="666749"/>
            <a:ext cx="8206327" cy="81756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3" name="Line 3"/>
          <p:cNvSpPr>
            <a:spLocks noChangeShapeType="1"/>
          </p:cNvSpPr>
          <p:nvPr/>
        </p:nvSpPr>
        <p:spPr bwMode="auto">
          <a:xfrm>
            <a:off x="5586475" y="3203294"/>
            <a:ext cx="1143000" cy="2286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4"/>
          <p:cNvSpPr>
            <a:spLocks noChangeShapeType="1"/>
          </p:cNvSpPr>
          <p:nvPr/>
        </p:nvSpPr>
        <p:spPr bwMode="auto">
          <a:xfrm flipV="1">
            <a:off x="5586475" y="3660494"/>
            <a:ext cx="1143000" cy="2286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6" name="Group 5"/>
          <p:cNvGrpSpPr/>
          <p:nvPr/>
        </p:nvGrpSpPr>
        <p:grpSpPr bwMode="auto">
          <a:xfrm>
            <a:off x="6729475" y="3355694"/>
            <a:ext cx="609600" cy="381000"/>
            <a:chOff x="3696" y="1392"/>
            <a:chExt cx="384" cy="240"/>
          </a:xfrm>
        </p:grpSpPr>
        <p:grpSp>
          <p:nvGrpSpPr>
            <p:cNvPr id="47" name="Group 6"/>
            <p:cNvGrpSpPr/>
            <p:nvPr/>
          </p:nvGrpSpPr>
          <p:grpSpPr bwMode="auto">
            <a:xfrm>
              <a:off x="3792" y="1392"/>
              <a:ext cx="288" cy="240"/>
              <a:chOff x="3792" y="1392"/>
              <a:chExt cx="288" cy="240"/>
            </a:xfrm>
          </p:grpSpPr>
          <p:sp>
            <p:nvSpPr>
              <p:cNvPr id="50" name="Rectangle 7"/>
              <p:cNvSpPr>
                <a:spLocks noChangeArrowheads="1"/>
              </p:cNvSpPr>
              <p:nvPr/>
            </p:nvSpPr>
            <p:spPr bwMode="auto">
              <a:xfrm>
                <a:off x="3792"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51" name="Rectangle 8"/>
              <p:cNvSpPr>
                <a:spLocks noChangeArrowheads="1"/>
              </p:cNvSpPr>
              <p:nvPr/>
            </p:nvSpPr>
            <p:spPr bwMode="auto">
              <a:xfrm>
                <a:off x="3888"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52" name="Rectangle 9"/>
              <p:cNvSpPr>
                <a:spLocks noChangeArrowheads="1"/>
              </p:cNvSpPr>
              <p:nvPr/>
            </p:nvSpPr>
            <p:spPr bwMode="auto">
              <a:xfrm>
                <a:off x="3984" y="1392"/>
                <a:ext cx="96" cy="240"/>
              </a:xfrm>
              <a:prstGeom prst="rect">
                <a:avLst/>
              </a:prstGeom>
              <a:solidFill>
                <a:schemeClr val="accent1"/>
              </a:solidFill>
              <a:ln w="28575">
                <a:solidFill>
                  <a:schemeClr val="bg2"/>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sp>
          <p:nvSpPr>
            <p:cNvPr id="48" name="Line 10"/>
            <p:cNvSpPr>
              <a:spLocks noChangeShapeType="1"/>
            </p:cNvSpPr>
            <p:nvPr/>
          </p:nvSpPr>
          <p:spPr bwMode="auto">
            <a:xfrm>
              <a:off x="3696" y="1392"/>
              <a:ext cx="192" cy="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11"/>
            <p:cNvSpPr>
              <a:spLocks noChangeShapeType="1"/>
            </p:cNvSpPr>
            <p:nvPr/>
          </p:nvSpPr>
          <p:spPr bwMode="auto">
            <a:xfrm>
              <a:off x="3696" y="1632"/>
              <a:ext cx="192" cy="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 name="Line 12"/>
          <p:cNvSpPr>
            <a:spLocks noChangeShapeType="1"/>
          </p:cNvSpPr>
          <p:nvPr/>
        </p:nvSpPr>
        <p:spPr bwMode="auto">
          <a:xfrm flipV="1">
            <a:off x="7415275" y="3508094"/>
            <a:ext cx="11430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Text Box 13"/>
          <p:cNvSpPr txBox="1">
            <a:spLocks noChangeArrowheads="1"/>
          </p:cNvSpPr>
          <p:nvPr/>
        </p:nvSpPr>
        <p:spPr bwMode="auto">
          <a:xfrm>
            <a:off x="5189600" y="2863569"/>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A</a:t>
            </a:r>
          </a:p>
        </p:txBody>
      </p:sp>
      <p:sp>
        <p:nvSpPr>
          <p:cNvPr id="55" name="Text Box 14"/>
          <p:cNvSpPr txBox="1">
            <a:spLocks noChangeArrowheads="1"/>
          </p:cNvSpPr>
          <p:nvPr/>
        </p:nvSpPr>
        <p:spPr bwMode="auto">
          <a:xfrm>
            <a:off x="5205475" y="3655732"/>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B</a:t>
            </a:r>
          </a:p>
        </p:txBody>
      </p:sp>
      <p:sp>
        <p:nvSpPr>
          <p:cNvPr id="56" name="Text Box 15"/>
          <p:cNvSpPr txBox="1">
            <a:spLocks noChangeArrowheads="1"/>
          </p:cNvSpPr>
          <p:nvPr/>
        </p:nvSpPr>
        <p:spPr bwMode="auto">
          <a:xfrm>
            <a:off x="8075675" y="3046132"/>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a:solidFill>
                  <a:srgbClr val="000099"/>
                </a:solidFill>
                <a:ea typeface="宋体" panose="02010600030101010101" pitchFamily="2" charset="-122"/>
              </a:rPr>
              <a:t>R</a:t>
            </a:r>
          </a:p>
        </p:txBody>
      </p:sp>
      <p:sp>
        <p:nvSpPr>
          <p:cNvPr id="57" name="Freeform 16"/>
          <p:cNvSpPr/>
          <p:nvPr/>
        </p:nvSpPr>
        <p:spPr bwMode="auto">
          <a:xfrm>
            <a:off x="862075" y="3543019"/>
            <a:ext cx="3276600" cy="803275"/>
          </a:xfrm>
          <a:custGeom>
            <a:avLst/>
            <a:gdLst>
              <a:gd name="T0" fmla="*/ 0 w 2064"/>
              <a:gd name="T1" fmla="*/ 2147483646 h 506"/>
              <a:gd name="T2" fmla="*/ 2147483646 w 2064"/>
              <a:gd name="T3" fmla="*/ 2147483646 h 506"/>
              <a:gd name="T4" fmla="*/ 2147483646 w 2064"/>
              <a:gd name="T5" fmla="*/ 2147483646 h 506"/>
              <a:gd name="T6" fmla="*/ 2147483646 w 2064"/>
              <a:gd name="T7" fmla="*/ 2147483646 h 506"/>
              <a:gd name="T8" fmla="*/ 2147483646 w 2064"/>
              <a:gd name="T9" fmla="*/ 2147483646 h 506"/>
              <a:gd name="T10" fmla="*/ 2147483646 w 2064"/>
              <a:gd name="T11" fmla="*/ 2147483646 h 506"/>
              <a:gd name="T12" fmla="*/ 2147483646 w 2064"/>
              <a:gd name="T13" fmla="*/ 2147483646 h 506"/>
              <a:gd name="T14" fmla="*/ 2147483646 w 2064"/>
              <a:gd name="T15" fmla="*/ 2147483646 h 506"/>
              <a:gd name="T16" fmla="*/ 2147483646 w 2064"/>
              <a:gd name="T17" fmla="*/ 2147483646 h 506"/>
              <a:gd name="T18" fmla="*/ 2147483646 w 2064"/>
              <a:gd name="T19" fmla="*/ 2147483646 h 506"/>
              <a:gd name="T20" fmla="*/ 2147483646 w 2064"/>
              <a:gd name="T21" fmla="*/ 2147483646 h 506"/>
              <a:gd name="T22" fmla="*/ 2147483646 w 2064"/>
              <a:gd name="T23" fmla="*/ 2147483646 h 506"/>
              <a:gd name="T24" fmla="*/ 2147483646 w 2064"/>
              <a:gd name="T25" fmla="*/ 2147483646 h 506"/>
              <a:gd name="T26" fmla="*/ 2147483646 w 2064"/>
              <a:gd name="T27" fmla="*/ 2147483646 h 506"/>
              <a:gd name="T28" fmla="*/ 2147483646 w 2064"/>
              <a:gd name="T29" fmla="*/ 2147483646 h 506"/>
              <a:gd name="T30" fmla="*/ 2147483646 w 2064"/>
              <a:gd name="T31" fmla="*/ 2147483646 h 5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64"/>
              <a:gd name="T49" fmla="*/ 0 h 506"/>
              <a:gd name="T50" fmla="*/ 2064 w 2064"/>
              <a:gd name="T51" fmla="*/ 506 h 5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64" h="506">
                <a:moveTo>
                  <a:pt x="0" y="329"/>
                </a:moveTo>
                <a:cubicBezTo>
                  <a:pt x="35" y="354"/>
                  <a:pt x="158" y="506"/>
                  <a:pt x="210" y="478"/>
                </a:cubicBezTo>
                <a:cubicBezTo>
                  <a:pt x="262" y="450"/>
                  <a:pt x="268" y="157"/>
                  <a:pt x="311" y="158"/>
                </a:cubicBezTo>
                <a:cubicBezTo>
                  <a:pt x="354" y="159"/>
                  <a:pt x="414" y="498"/>
                  <a:pt x="466" y="487"/>
                </a:cubicBezTo>
                <a:cubicBezTo>
                  <a:pt x="518" y="476"/>
                  <a:pt x="591" y="126"/>
                  <a:pt x="624" y="89"/>
                </a:cubicBezTo>
                <a:cubicBezTo>
                  <a:pt x="657" y="52"/>
                  <a:pt x="639" y="281"/>
                  <a:pt x="667" y="267"/>
                </a:cubicBezTo>
                <a:cubicBezTo>
                  <a:pt x="695" y="253"/>
                  <a:pt x="754" y="0"/>
                  <a:pt x="795" y="2"/>
                </a:cubicBezTo>
                <a:cubicBezTo>
                  <a:pt x="836" y="4"/>
                  <a:pt x="866" y="211"/>
                  <a:pt x="912" y="281"/>
                </a:cubicBezTo>
                <a:cubicBezTo>
                  <a:pt x="958" y="351"/>
                  <a:pt x="1029" y="404"/>
                  <a:pt x="1070" y="423"/>
                </a:cubicBezTo>
                <a:cubicBezTo>
                  <a:pt x="1111" y="442"/>
                  <a:pt x="1131" y="443"/>
                  <a:pt x="1161" y="395"/>
                </a:cubicBezTo>
                <a:cubicBezTo>
                  <a:pt x="1191" y="347"/>
                  <a:pt x="1182" y="175"/>
                  <a:pt x="1248" y="137"/>
                </a:cubicBezTo>
                <a:cubicBezTo>
                  <a:pt x="1314" y="99"/>
                  <a:pt x="1492" y="142"/>
                  <a:pt x="1554" y="167"/>
                </a:cubicBezTo>
                <a:cubicBezTo>
                  <a:pt x="1616" y="192"/>
                  <a:pt x="1578" y="287"/>
                  <a:pt x="1618" y="286"/>
                </a:cubicBezTo>
                <a:cubicBezTo>
                  <a:pt x="1658" y="285"/>
                  <a:pt x="1737" y="160"/>
                  <a:pt x="1792" y="158"/>
                </a:cubicBezTo>
                <a:cubicBezTo>
                  <a:pt x="1847" y="156"/>
                  <a:pt x="1902" y="255"/>
                  <a:pt x="1947" y="276"/>
                </a:cubicBezTo>
                <a:cubicBezTo>
                  <a:pt x="1992" y="297"/>
                  <a:pt x="2040" y="280"/>
                  <a:pt x="2064" y="281"/>
                </a:cubicBezTo>
              </a:path>
            </a:pathLst>
          </a:custGeom>
          <a:noFill/>
          <a:ln w="38100">
            <a:solidFill>
              <a:srgbClr val="00990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Freeform 17"/>
          <p:cNvSpPr/>
          <p:nvPr/>
        </p:nvSpPr>
        <p:spPr bwMode="auto">
          <a:xfrm>
            <a:off x="862075" y="3584294"/>
            <a:ext cx="3276600" cy="755650"/>
          </a:xfrm>
          <a:custGeom>
            <a:avLst/>
            <a:gdLst>
              <a:gd name="T0" fmla="*/ 0 w 2064"/>
              <a:gd name="T1" fmla="*/ 2147483646 h 476"/>
              <a:gd name="T2" fmla="*/ 2147483646 w 2064"/>
              <a:gd name="T3" fmla="*/ 2147483646 h 476"/>
              <a:gd name="T4" fmla="*/ 2147483646 w 2064"/>
              <a:gd name="T5" fmla="*/ 2147483646 h 476"/>
              <a:gd name="T6" fmla="*/ 2147483646 w 2064"/>
              <a:gd name="T7" fmla="*/ 2147483646 h 476"/>
              <a:gd name="T8" fmla="*/ 2147483646 w 2064"/>
              <a:gd name="T9" fmla="*/ 2147483646 h 476"/>
              <a:gd name="T10" fmla="*/ 2147483646 w 2064"/>
              <a:gd name="T11" fmla="*/ 2147483646 h 476"/>
              <a:gd name="T12" fmla="*/ 2147483646 w 2064"/>
              <a:gd name="T13" fmla="*/ 2147483646 h 476"/>
              <a:gd name="T14" fmla="*/ 2147483646 w 2064"/>
              <a:gd name="T15" fmla="*/ 2147483646 h 476"/>
              <a:gd name="T16" fmla="*/ 2147483646 w 2064"/>
              <a:gd name="T17" fmla="*/ 2147483646 h 476"/>
              <a:gd name="T18" fmla="*/ 2147483646 w 2064"/>
              <a:gd name="T19" fmla="*/ 2147483646 h 476"/>
              <a:gd name="T20" fmla="*/ 2147483646 w 2064"/>
              <a:gd name="T21" fmla="*/ 2147483646 h 476"/>
              <a:gd name="T22" fmla="*/ 2147483646 w 2064"/>
              <a:gd name="T23" fmla="*/ 2147483646 h 476"/>
              <a:gd name="T24" fmla="*/ 2147483646 w 2064"/>
              <a:gd name="T25" fmla="*/ 2147483646 h 476"/>
              <a:gd name="T26" fmla="*/ 2147483646 w 2064"/>
              <a:gd name="T27" fmla="*/ 2147483646 h 4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64"/>
              <a:gd name="T43" fmla="*/ 0 h 476"/>
              <a:gd name="T44" fmla="*/ 2064 w 2064"/>
              <a:gd name="T45" fmla="*/ 476 h 47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64" h="476">
                <a:moveTo>
                  <a:pt x="0" y="299"/>
                </a:moveTo>
                <a:cubicBezTo>
                  <a:pt x="35" y="324"/>
                  <a:pt x="158" y="476"/>
                  <a:pt x="210" y="448"/>
                </a:cubicBezTo>
                <a:cubicBezTo>
                  <a:pt x="262" y="420"/>
                  <a:pt x="274" y="201"/>
                  <a:pt x="311" y="128"/>
                </a:cubicBezTo>
                <a:cubicBezTo>
                  <a:pt x="348" y="55"/>
                  <a:pt x="380" y="22"/>
                  <a:pt x="432" y="11"/>
                </a:cubicBezTo>
                <a:cubicBezTo>
                  <a:pt x="484" y="0"/>
                  <a:pt x="585" y="21"/>
                  <a:pt x="624" y="59"/>
                </a:cubicBezTo>
                <a:cubicBezTo>
                  <a:pt x="663" y="97"/>
                  <a:pt x="643" y="189"/>
                  <a:pt x="667" y="237"/>
                </a:cubicBezTo>
                <a:cubicBezTo>
                  <a:pt x="691" y="285"/>
                  <a:pt x="727" y="345"/>
                  <a:pt x="768" y="347"/>
                </a:cubicBezTo>
                <a:cubicBezTo>
                  <a:pt x="809" y="349"/>
                  <a:pt x="872" y="291"/>
                  <a:pt x="912" y="251"/>
                </a:cubicBezTo>
                <a:cubicBezTo>
                  <a:pt x="952" y="211"/>
                  <a:pt x="984" y="147"/>
                  <a:pt x="1008" y="107"/>
                </a:cubicBezTo>
                <a:cubicBezTo>
                  <a:pt x="1032" y="67"/>
                  <a:pt x="1016" y="11"/>
                  <a:pt x="1056" y="11"/>
                </a:cubicBezTo>
                <a:cubicBezTo>
                  <a:pt x="1096" y="11"/>
                  <a:pt x="1160" y="43"/>
                  <a:pt x="1248" y="107"/>
                </a:cubicBezTo>
                <a:cubicBezTo>
                  <a:pt x="1336" y="171"/>
                  <a:pt x="1472" y="347"/>
                  <a:pt x="1584" y="395"/>
                </a:cubicBezTo>
                <a:cubicBezTo>
                  <a:pt x="1696" y="443"/>
                  <a:pt x="1840" y="419"/>
                  <a:pt x="1920" y="395"/>
                </a:cubicBezTo>
                <a:cubicBezTo>
                  <a:pt x="2000" y="371"/>
                  <a:pt x="2048" y="291"/>
                  <a:pt x="2064" y="251"/>
                </a:cubicBezTo>
              </a:path>
            </a:pathLst>
          </a:custGeom>
          <a:noFill/>
          <a:ln w="38100">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 name="Line 18"/>
          <p:cNvSpPr>
            <a:spLocks noChangeShapeType="1"/>
          </p:cNvSpPr>
          <p:nvPr/>
        </p:nvSpPr>
        <p:spPr bwMode="auto">
          <a:xfrm>
            <a:off x="938275" y="1831694"/>
            <a:ext cx="0" cy="274320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19"/>
          <p:cNvSpPr>
            <a:spLocks noChangeShapeType="1"/>
          </p:cNvSpPr>
          <p:nvPr/>
        </p:nvSpPr>
        <p:spPr bwMode="auto">
          <a:xfrm flipH="1" flipV="1">
            <a:off x="709675" y="4346294"/>
            <a:ext cx="35052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Freeform 20"/>
          <p:cNvSpPr/>
          <p:nvPr/>
        </p:nvSpPr>
        <p:spPr bwMode="auto">
          <a:xfrm>
            <a:off x="854138" y="3092169"/>
            <a:ext cx="3295650" cy="1138238"/>
          </a:xfrm>
          <a:custGeom>
            <a:avLst/>
            <a:gdLst>
              <a:gd name="T0" fmla="*/ 0 w 2076"/>
              <a:gd name="T1" fmla="*/ 2147483646 h 717"/>
              <a:gd name="T2" fmla="*/ 2147483646 w 2076"/>
              <a:gd name="T3" fmla="*/ 2147483646 h 717"/>
              <a:gd name="T4" fmla="*/ 2147483646 w 2076"/>
              <a:gd name="T5" fmla="*/ 2147483646 h 717"/>
              <a:gd name="T6" fmla="*/ 2147483646 w 2076"/>
              <a:gd name="T7" fmla="*/ 2147483646 h 717"/>
              <a:gd name="T8" fmla="*/ 2147483646 w 2076"/>
              <a:gd name="T9" fmla="*/ 2147483646 h 717"/>
              <a:gd name="T10" fmla="*/ 2147483646 w 2076"/>
              <a:gd name="T11" fmla="*/ 2147483646 h 717"/>
              <a:gd name="T12" fmla="*/ 2147483646 w 2076"/>
              <a:gd name="T13" fmla="*/ 2147483646 h 717"/>
              <a:gd name="T14" fmla="*/ 2147483646 w 2076"/>
              <a:gd name="T15" fmla="*/ 2147483646 h 717"/>
              <a:gd name="T16" fmla="*/ 2147483646 w 2076"/>
              <a:gd name="T17" fmla="*/ 2147483646 h 717"/>
              <a:gd name="T18" fmla="*/ 2147483646 w 2076"/>
              <a:gd name="T19" fmla="*/ 2147483646 h 717"/>
              <a:gd name="T20" fmla="*/ 2147483646 w 2076"/>
              <a:gd name="T21" fmla="*/ 2147483646 h 717"/>
              <a:gd name="T22" fmla="*/ 2147483646 w 2076"/>
              <a:gd name="T23" fmla="*/ 2147483646 h 717"/>
              <a:gd name="T24" fmla="*/ 2147483646 w 2076"/>
              <a:gd name="T25" fmla="*/ 2147483646 h 717"/>
              <a:gd name="T26" fmla="*/ 2147483646 w 2076"/>
              <a:gd name="T27" fmla="*/ 2147483646 h 717"/>
              <a:gd name="T28" fmla="*/ 2147483646 w 2076"/>
              <a:gd name="T29" fmla="*/ 2147483646 h 7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76"/>
              <a:gd name="T46" fmla="*/ 0 h 717"/>
              <a:gd name="T47" fmla="*/ 2076 w 2076"/>
              <a:gd name="T48" fmla="*/ 717 h 7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76" h="717">
                <a:moveTo>
                  <a:pt x="0" y="381"/>
                </a:moveTo>
                <a:cubicBezTo>
                  <a:pt x="35" y="430"/>
                  <a:pt x="162" y="717"/>
                  <a:pt x="211" y="673"/>
                </a:cubicBezTo>
                <a:cubicBezTo>
                  <a:pt x="260" y="629"/>
                  <a:pt x="255" y="186"/>
                  <a:pt x="293" y="116"/>
                </a:cubicBezTo>
                <a:cubicBezTo>
                  <a:pt x="331" y="46"/>
                  <a:pt x="386" y="271"/>
                  <a:pt x="439" y="253"/>
                </a:cubicBezTo>
                <a:cubicBezTo>
                  <a:pt x="492" y="235"/>
                  <a:pt x="572" y="12"/>
                  <a:pt x="613" y="6"/>
                </a:cubicBezTo>
                <a:cubicBezTo>
                  <a:pt x="654" y="0"/>
                  <a:pt x="654" y="214"/>
                  <a:pt x="686" y="216"/>
                </a:cubicBezTo>
                <a:cubicBezTo>
                  <a:pt x="718" y="218"/>
                  <a:pt x="770" y="10"/>
                  <a:pt x="805" y="15"/>
                </a:cubicBezTo>
                <a:cubicBezTo>
                  <a:pt x="840" y="20"/>
                  <a:pt x="861" y="209"/>
                  <a:pt x="896" y="244"/>
                </a:cubicBezTo>
                <a:cubicBezTo>
                  <a:pt x="931" y="279"/>
                  <a:pt x="991" y="226"/>
                  <a:pt x="1015" y="225"/>
                </a:cubicBezTo>
                <a:cubicBezTo>
                  <a:pt x="1039" y="224"/>
                  <a:pt x="1000" y="247"/>
                  <a:pt x="1043" y="235"/>
                </a:cubicBezTo>
                <a:cubicBezTo>
                  <a:pt x="1086" y="223"/>
                  <a:pt x="1183" y="135"/>
                  <a:pt x="1271" y="152"/>
                </a:cubicBezTo>
                <a:cubicBezTo>
                  <a:pt x="1359" y="169"/>
                  <a:pt x="1513" y="292"/>
                  <a:pt x="1573" y="335"/>
                </a:cubicBezTo>
                <a:cubicBezTo>
                  <a:pt x="1633" y="378"/>
                  <a:pt x="1593" y="408"/>
                  <a:pt x="1628" y="408"/>
                </a:cubicBezTo>
                <a:cubicBezTo>
                  <a:pt x="1663" y="408"/>
                  <a:pt x="1708" y="336"/>
                  <a:pt x="1783" y="335"/>
                </a:cubicBezTo>
                <a:cubicBezTo>
                  <a:pt x="1858" y="334"/>
                  <a:pt x="2015" y="386"/>
                  <a:pt x="2076" y="399"/>
                </a:cubicBez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 name="Line 21"/>
          <p:cNvSpPr>
            <a:spLocks noChangeShapeType="1"/>
          </p:cNvSpPr>
          <p:nvPr/>
        </p:nvSpPr>
        <p:spPr bwMode="auto">
          <a:xfrm>
            <a:off x="709675" y="3088994"/>
            <a:ext cx="3429000" cy="0"/>
          </a:xfrm>
          <a:prstGeom prst="line">
            <a:avLst/>
          </a:prstGeom>
          <a:noFill/>
          <a:ln w="9525">
            <a:solidFill>
              <a:srgbClr val="00206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3" name="Line 22"/>
          <p:cNvSpPr>
            <a:spLocks noChangeShapeType="1"/>
          </p:cNvSpPr>
          <p:nvPr/>
        </p:nvSpPr>
        <p:spPr bwMode="auto">
          <a:xfrm>
            <a:off x="709675" y="2669894"/>
            <a:ext cx="3429000" cy="0"/>
          </a:xfrm>
          <a:prstGeom prst="line">
            <a:avLst/>
          </a:prstGeom>
          <a:noFill/>
          <a:ln w="9525">
            <a:solidFill>
              <a:srgbClr val="00206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4" name="Text Box 23"/>
          <p:cNvSpPr txBox="1">
            <a:spLocks noChangeArrowheads="1"/>
          </p:cNvSpPr>
          <p:nvPr/>
        </p:nvSpPr>
        <p:spPr bwMode="auto">
          <a:xfrm>
            <a:off x="3652900" y="2261907"/>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a:solidFill>
                  <a:srgbClr val="000099"/>
                </a:solidFill>
                <a:ea typeface="宋体" panose="02010600030101010101" pitchFamily="2" charset="-122"/>
              </a:rPr>
              <a:t>2</a:t>
            </a:r>
            <a:r>
              <a:rPr kumimoji="0" lang="en-US" altLang="zh-CN" sz="2400" i="1">
                <a:solidFill>
                  <a:srgbClr val="000099"/>
                </a:solidFill>
                <a:ea typeface="宋体" panose="02010600030101010101" pitchFamily="2" charset="-122"/>
              </a:rPr>
              <a:t>C</a:t>
            </a:r>
          </a:p>
        </p:txBody>
      </p:sp>
      <p:sp>
        <p:nvSpPr>
          <p:cNvPr id="65" name="Text Box 24"/>
          <p:cNvSpPr txBox="1">
            <a:spLocks noChangeArrowheads="1"/>
          </p:cNvSpPr>
          <p:nvPr/>
        </p:nvSpPr>
        <p:spPr bwMode="auto">
          <a:xfrm>
            <a:off x="3633850" y="2693326"/>
            <a:ext cx="1084263" cy="55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400" i="1" dirty="0">
                <a:solidFill>
                  <a:srgbClr val="000099"/>
                </a:solidFill>
                <a:ea typeface="宋体" panose="02010600030101010101" pitchFamily="2" charset="-122"/>
              </a:rPr>
              <a:t>R &lt; </a:t>
            </a:r>
            <a:r>
              <a:rPr kumimoji="0" lang="en-US" altLang="zh-CN" sz="2400" dirty="0">
                <a:solidFill>
                  <a:srgbClr val="000099"/>
                </a:solidFill>
                <a:ea typeface="宋体" panose="02010600030101010101" pitchFamily="2" charset="-122"/>
              </a:rPr>
              <a:t>2</a:t>
            </a:r>
            <a:r>
              <a:rPr kumimoji="0" lang="en-US" altLang="zh-CN" sz="2400" i="1" dirty="0">
                <a:solidFill>
                  <a:srgbClr val="000099"/>
                </a:solidFill>
                <a:ea typeface="宋体" panose="02010600030101010101" pitchFamily="2" charset="-122"/>
              </a:rPr>
              <a:t>C</a:t>
            </a:r>
          </a:p>
        </p:txBody>
      </p:sp>
      <p:sp>
        <p:nvSpPr>
          <p:cNvPr id="66" name="Text Box 25"/>
          <p:cNvSpPr txBox="1">
            <a:spLocks noChangeArrowheads="1"/>
          </p:cNvSpPr>
          <p:nvPr/>
        </p:nvSpPr>
        <p:spPr bwMode="auto">
          <a:xfrm>
            <a:off x="1014475" y="1903132"/>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s-ES_tradnl" altLang="zh-CN" sz="2400" i="1">
                <a:solidFill>
                  <a:srgbClr val="000099"/>
                </a:solidFill>
                <a:ea typeface="宋体" panose="02010600030101010101" pitchFamily="2" charset="-122"/>
              </a:rPr>
              <a:t>A+B</a:t>
            </a:r>
            <a:endParaRPr kumimoji="0" lang="en-US" altLang="zh-CN" sz="2400" i="1">
              <a:solidFill>
                <a:srgbClr val="000099"/>
              </a:solidFill>
              <a:ea typeface="宋体" panose="02010600030101010101" pitchFamily="2" charset="-122"/>
            </a:endParaRPr>
          </a:p>
        </p:txBody>
      </p:sp>
      <p:sp>
        <p:nvSpPr>
          <p:cNvPr id="67" name="Text Box 27"/>
          <p:cNvSpPr txBox="1">
            <a:spLocks noChangeArrowheads="1"/>
          </p:cNvSpPr>
          <p:nvPr/>
        </p:nvSpPr>
        <p:spPr bwMode="auto">
          <a:xfrm>
            <a:off x="291944" y="190313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defRPr/>
            </a:pPr>
            <a:r>
              <a:rPr kumimoji="0" lang="zh-CN" altLang="en-US" sz="1800" dirty="0">
                <a:solidFill>
                  <a:srgbClr val="000099"/>
                </a:solidFill>
                <a:latin typeface="+mn-lt"/>
                <a:ea typeface="宋体" panose="02010600030101010101" pitchFamily="2" charset="-122"/>
                <a:cs typeface="Arial" panose="020B0604020202020204" pitchFamily="34" charset="0"/>
              </a:rPr>
              <a:t>速率</a:t>
            </a:r>
            <a:endParaRPr kumimoji="0" lang="en-US" altLang="zh-CN" sz="1800" dirty="0">
              <a:solidFill>
                <a:srgbClr val="000099"/>
              </a:solidFill>
              <a:latin typeface="+mn-lt"/>
              <a:ea typeface="宋体" panose="02010600030101010101" pitchFamily="2" charset="-122"/>
              <a:cs typeface="Arial" panose="020B0604020202020204" pitchFamily="34" charset="0"/>
            </a:endParaRPr>
          </a:p>
        </p:txBody>
      </p:sp>
      <p:sp>
        <p:nvSpPr>
          <p:cNvPr id="2" name="Text Box 28"/>
          <p:cNvSpPr txBox="1">
            <a:spLocks noChangeArrowheads="1"/>
          </p:cNvSpPr>
          <p:nvPr/>
        </p:nvSpPr>
        <p:spPr bwMode="auto">
          <a:xfrm>
            <a:off x="2360675" y="5214657"/>
            <a:ext cx="4320986" cy="492443"/>
          </a:xfrm>
          <a:prstGeom prst="rect">
            <a:avLst/>
          </a:prstGeom>
          <a:solidFill>
            <a:schemeClr val="accent2">
              <a:lumMod val="40000"/>
              <a:lumOff val="60000"/>
            </a:schemeClr>
          </a:solidFill>
          <a:ln>
            <a:noFill/>
          </a:ln>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kumimoji="0" lang="zh-CN" altLang="en-US" sz="2600" dirty="0">
                <a:ea typeface="宋体" panose="02010600030101010101" pitchFamily="2" charset="-122"/>
              </a:rPr>
              <a:t>统计多路复用增益 </a:t>
            </a:r>
            <a:r>
              <a:rPr kumimoji="0" lang="en-US" altLang="zh-CN" sz="2400" dirty="0">
                <a:ea typeface="宋体" panose="02010600030101010101" pitchFamily="2" charset="-122"/>
              </a:rPr>
              <a:t>= 2</a:t>
            </a:r>
            <a:r>
              <a:rPr kumimoji="0" lang="en-US" altLang="zh-CN" sz="2400" i="1" dirty="0">
                <a:ea typeface="宋体" panose="02010600030101010101" pitchFamily="2" charset="-122"/>
              </a:rPr>
              <a:t>C</a:t>
            </a:r>
            <a:r>
              <a:rPr kumimoji="0" lang="en-US" altLang="zh-CN" sz="2400" dirty="0">
                <a:ea typeface="宋体" panose="02010600030101010101" pitchFamily="2" charset="-122"/>
              </a:rPr>
              <a:t>/</a:t>
            </a:r>
            <a:r>
              <a:rPr kumimoji="0" lang="en-US" altLang="zh-CN" sz="2400" i="1" dirty="0">
                <a:ea typeface="宋体" panose="02010600030101010101" pitchFamily="2" charset="-122"/>
              </a:rPr>
              <a:t>R</a:t>
            </a:r>
          </a:p>
        </p:txBody>
      </p:sp>
      <p:sp>
        <p:nvSpPr>
          <p:cNvPr id="3" name="Text Box 14"/>
          <p:cNvSpPr txBox="1">
            <a:spLocks noChangeArrowheads="1"/>
          </p:cNvSpPr>
          <p:nvPr/>
        </p:nvSpPr>
        <p:spPr bwMode="auto">
          <a:xfrm>
            <a:off x="3492343" y="4387435"/>
            <a:ext cx="6463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1800" dirty="0">
                <a:solidFill>
                  <a:srgbClr val="000099"/>
                </a:solidFill>
                <a:ea typeface="宋体" panose="02010600030101010101" pitchFamily="2" charset="-122"/>
              </a:rPr>
              <a:t>时间</a:t>
            </a:r>
            <a:endParaRPr kumimoji="0" lang="en-US" altLang="zh-CN" sz="1800" dirty="0">
              <a:solidFill>
                <a:srgbClr val="000099"/>
              </a:solidFill>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oneFl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4046" y="1175364"/>
            <a:ext cx="6657789" cy="4998260"/>
          </a:xfrm>
          <a:prstGeom prst="rect">
            <a:avLst/>
          </a:prstGeom>
          <a:noFill/>
        </p:spPr>
      </p:pic>
      <p:sp>
        <p:nvSpPr>
          <p:cNvPr id="42"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44" name="Rectangle 2"/>
          <p:cNvSpPr>
            <a:spLocks noGrp="1" noChangeArrowheads="1"/>
          </p:cNvSpPr>
          <p:nvPr>
            <p:ph type="title"/>
          </p:nvPr>
        </p:nvSpPr>
        <p:spPr>
          <a:xfrm>
            <a:off x="428625" y="666748"/>
            <a:ext cx="8206327" cy="756937"/>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28"/>
          <p:cNvSpPr txBox="1">
            <a:spLocks noChangeArrowheads="1"/>
          </p:cNvSpPr>
          <p:nvPr/>
        </p:nvSpPr>
        <p:spPr bwMode="auto">
          <a:xfrm>
            <a:off x="3481293" y="6014579"/>
            <a:ext cx="1798918" cy="461665"/>
          </a:xfrm>
          <a:prstGeom prst="rect">
            <a:avLst/>
          </a:prstGeom>
          <a:solidFill>
            <a:schemeClr val="accent2">
              <a:lumMod val="40000"/>
              <a:lumOff val="60000"/>
            </a:schemeClr>
          </a:solidFill>
          <a:ln>
            <a:noFill/>
          </a:ln>
        </p:spPr>
        <p:txBody>
          <a:bodyPr wrap="squar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kumimoji="0" lang="zh-CN" altLang="en-US" sz="2400" dirty="0">
                <a:ea typeface="宋体" panose="02010600030101010101" pitchFamily="2" charset="-122"/>
              </a:rPr>
              <a:t>单个数据流</a:t>
            </a:r>
            <a:endParaRPr kumimoji="0" lang="en-US" altLang="zh-CN" sz="2400" i="1" dirty="0">
              <a:ea typeface="宋体" panose="02010600030101010101" pitchFamily="2" charset="-122"/>
            </a:endParaRPr>
          </a:p>
        </p:txBody>
      </p:sp>
      <p:sp>
        <p:nvSpPr>
          <p:cNvPr id="5" name="Text Box 6"/>
          <p:cNvSpPr txBox="1">
            <a:spLocks noChangeArrowheads="1"/>
          </p:cNvSpPr>
          <p:nvPr/>
        </p:nvSpPr>
        <p:spPr bwMode="auto">
          <a:xfrm>
            <a:off x="6369131" y="5746664"/>
            <a:ext cx="799885" cy="444587"/>
          </a:xfrm>
          <a:prstGeom prst="rect">
            <a:avLst/>
          </a:prstGeom>
          <a:noFill/>
          <a:ln w="9525">
            <a:noFill/>
            <a:miter lim="800000"/>
          </a:ln>
        </p:spPr>
        <p:txBody>
          <a:bodyPr wrap="none">
            <a:spAutoFit/>
          </a:bodyPr>
          <a:lstStyle/>
          <a:p>
            <a:pPr>
              <a:defRPr/>
            </a:pPr>
            <a:r>
              <a:rPr kumimoji="0" lang="zh-CN" altLang="en-US" sz="2000" dirty="0">
                <a:latin typeface="+mn-lt"/>
                <a:ea typeface="宋体" panose="02010600030101010101" pitchFamily="2" charset="-122"/>
              </a:rPr>
              <a:t>时间</a:t>
            </a:r>
            <a:endParaRPr kumimoji="0" lang="en-US" altLang="zh-CN" sz="2000" dirty="0">
              <a:latin typeface="+mn-lt"/>
              <a:ea typeface="宋体" panose="02010600030101010101" pitchFamily="2" charset="-122"/>
            </a:endParaRPr>
          </a:p>
        </p:txBody>
      </p:sp>
      <p:sp>
        <p:nvSpPr>
          <p:cNvPr id="6" name="Text Box 6"/>
          <p:cNvSpPr txBox="1">
            <a:spLocks noChangeArrowheads="1"/>
          </p:cNvSpPr>
          <p:nvPr/>
        </p:nvSpPr>
        <p:spPr bwMode="auto">
          <a:xfrm>
            <a:off x="1112825" y="1528005"/>
            <a:ext cx="697627" cy="400110"/>
          </a:xfrm>
          <a:prstGeom prst="rect">
            <a:avLst/>
          </a:prstGeom>
          <a:noFill/>
          <a:ln w="9525">
            <a:noFill/>
            <a:miter lim="800000"/>
          </a:ln>
        </p:spPr>
        <p:txBody>
          <a:bodyPr wrap="none">
            <a:spAutoFit/>
          </a:bodyPr>
          <a:lstStyle/>
          <a:p>
            <a:pPr>
              <a:defRPr/>
            </a:pPr>
            <a:r>
              <a:rPr kumimoji="0" lang="zh-CN" altLang="en-US" sz="2000" dirty="0">
                <a:latin typeface="+mn-lt"/>
                <a:ea typeface="宋体" panose="02010600030101010101" pitchFamily="2" charset="-122"/>
              </a:rPr>
              <a:t>速率</a:t>
            </a:r>
            <a:endParaRPr kumimoji="0" lang="en-US" altLang="zh-CN" sz="2000" dirty="0">
              <a:latin typeface="+mn-lt"/>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74257" y="1229642"/>
            <a:ext cx="6812990" cy="4875679"/>
            <a:chOff x="1273175" y="1441450"/>
            <a:chExt cx="5942013" cy="4387910"/>
          </a:xfrm>
        </p:grpSpPr>
        <p:pic>
          <p:nvPicPr>
            <p:cNvPr id="6" name="Picture 5" descr="twoFlow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273175" y="1441450"/>
              <a:ext cx="5942013" cy="4344988"/>
            </a:xfrm>
            <a:prstGeom prst="rect">
              <a:avLst/>
            </a:prstGeom>
            <a:noFill/>
          </p:spPr>
        </p:pic>
        <p:sp>
          <p:nvSpPr>
            <p:cNvPr id="7" name="Text Box 9"/>
            <p:cNvSpPr txBox="1">
              <a:spLocks noChangeArrowheads="1"/>
            </p:cNvSpPr>
            <p:nvPr/>
          </p:nvSpPr>
          <p:spPr bwMode="auto">
            <a:xfrm>
              <a:off x="1273176" y="1643063"/>
              <a:ext cx="927100" cy="400050"/>
            </a:xfrm>
            <a:prstGeom prst="rect">
              <a:avLst/>
            </a:prstGeom>
            <a:noFill/>
            <a:ln w="9525">
              <a:noFill/>
              <a:miter lim="800000"/>
            </a:ln>
          </p:spPr>
          <p:txBody>
            <a:bodyPr wrap="square">
              <a:spAutoFit/>
            </a:bodyPr>
            <a:lstStyle/>
            <a:p>
              <a:pPr>
                <a:defRPr/>
              </a:pPr>
              <a:r>
                <a:rPr kumimoji="0" lang="zh-CN" altLang="en-US" sz="2000" dirty="0">
                  <a:latin typeface="+mn-lt"/>
                  <a:ea typeface="宋体" panose="02010600030101010101" pitchFamily="2" charset="-122"/>
                </a:rPr>
                <a:t>速率</a:t>
              </a:r>
              <a:endParaRPr kumimoji="0" lang="en-US" altLang="zh-CN" sz="2000" dirty="0">
                <a:latin typeface="+mn-lt"/>
                <a:ea typeface="宋体" panose="02010600030101010101" pitchFamily="2" charset="-122"/>
              </a:endParaRPr>
            </a:p>
          </p:txBody>
        </p:sp>
        <p:sp>
          <p:nvSpPr>
            <p:cNvPr id="8" name="Text Box 6"/>
            <p:cNvSpPr txBox="1">
              <a:spLocks noChangeArrowheads="1"/>
            </p:cNvSpPr>
            <p:nvPr/>
          </p:nvSpPr>
          <p:spPr bwMode="auto">
            <a:xfrm>
              <a:off x="6072188" y="5429250"/>
              <a:ext cx="697627" cy="400110"/>
            </a:xfrm>
            <a:prstGeom prst="rect">
              <a:avLst/>
            </a:prstGeom>
            <a:noFill/>
            <a:ln w="9525">
              <a:noFill/>
              <a:miter lim="800000"/>
            </a:ln>
          </p:spPr>
          <p:txBody>
            <a:bodyPr wrap="none">
              <a:spAutoFit/>
            </a:bodyPr>
            <a:lstStyle/>
            <a:p>
              <a:pPr>
                <a:defRPr/>
              </a:pPr>
              <a:r>
                <a:rPr kumimoji="0" lang="zh-CN" altLang="en-US" sz="2000" dirty="0">
                  <a:latin typeface="+mn-lt"/>
                  <a:ea typeface="宋体" panose="02010600030101010101" pitchFamily="2" charset="-122"/>
                </a:rPr>
                <a:t>时间</a:t>
              </a:r>
              <a:endParaRPr kumimoji="0" lang="en-US" altLang="zh-CN" sz="2000" dirty="0">
                <a:latin typeface="+mn-lt"/>
                <a:ea typeface="宋体" panose="02010600030101010101" pitchFamily="2" charset="-122"/>
              </a:endParaRPr>
            </a:p>
          </p:txBody>
        </p:sp>
      </p:grpSp>
      <p:sp>
        <p:nvSpPr>
          <p:cNvPr id="42"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44" name="Rectangle 2"/>
          <p:cNvSpPr>
            <a:spLocks noGrp="1" noChangeArrowheads="1"/>
          </p:cNvSpPr>
          <p:nvPr>
            <p:ph type="title"/>
          </p:nvPr>
        </p:nvSpPr>
        <p:spPr>
          <a:xfrm>
            <a:off x="428625" y="666748"/>
            <a:ext cx="8206327" cy="739226"/>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28"/>
          <p:cNvSpPr txBox="1">
            <a:spLocks noChangeArrowheads="1"/>
          </p:cNvSpPr>
          <p:nvPr/>
        </p:nvSpPr>
        <p:spPr bwMode="auto">
          <a:xfrm>
            <a:off x="3481293" y="6014579"/>
            <a:ext cx="1798918" cy="461665"/>
          </a:xfrm>
          <a:prstGeom prst="rect">
            <a:avLst/>
          </a:prstGeom>
          <a:solidFill>
            <a:schemeClr val="accent2">
              <a:lumMod val="40000"/>
              <a:lumOff val="60000"/>
            </a:schemeClr>
          </a:solidFill>
          <a:ln>
            <a:noFill/>
          </a:ln>
        </p:spPr>
        <p:txBody>
          <a:bodyPr wrap="squar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kumimoji="0" lang="zh-CN" altLang="en-US" sz="2400" dirty="0">
                <a:ea typeface="宋体" panose="02010600030101010101" pitchFamily="2" charset="-122"/>
              </a:rPr>
              <a:t>两个数据流</a:t>
            </a:r>
            <a:endParaRPr kumimoji="0" lang="en-US" altLang="zh-CN" sz="2400" i="1" dirty="0">
              <a:ea typeface="宋体" panose="02010600030101010101" pitchFamily="2" charset="-122"/>
            </a:endParaRPr>
          </a:p>
        </p:txBody>
      </p:sp>
      <p:sp>
        <p:nvSpPr>
          <p:cNvPr id="9" name="AutoShape 12"/>
          <p:cNvSpPr>
            <a:spLocks noChangeArrowheads="1"/>
          </p:cNvSpPr>
          <p:nvPr/>
        </p:nvSpPr>
        <p:spPr bwMode="auto">
          <a:xfrm>
            <a:off x="7286625" y="2534023"/>
            <a:ext cx="1285875" cy="466351"/>
          </a:xfrm>
          <a:prstGeom prst="wedgeRectCallout">
            <a:avLst>
              <a:gd name="adj1" fmla="val -195582"/>
              <a:gd name="adj2" fmla="val 188265"/>
            </a:avLst>
          </a:prstGeom>
          <a:solidFill>
            <a:schemeClr val="accent2">
              <a:lumMod val="40000"/>
              <a:lumOff val="60000"/>
            </a:schemeClr>
          </a:solidFill>
          <a:ln w="9525">
            <a:solidFill>
              <a:schemeClr val="tx1"/>
            </a:solidFill>
            <a:miter lim="800000"/>
          </a:ln>
        </p:spPr>
        <p:txBody>
          <a:bodyPr/>
          <a:lstStyle/>
          <a:p>
            <a:pPr algn="ctr">
              <a:defRPr/>
            </a:pPr>
            <a:r>
              <a:rPr kumimoji="0" lang="zh-CN" altLang="en-US" sz="2000" dirty="0">
                <a:latin typeface="+mn-lt"/>
                <a:ea typeface="宋体" panose="02010600030101010101" pitchFamily="2" charset="-122"/>
              </a:rPr>
              <a:t>平均速率</a:t>
            </a:r>
            <a:endParaRPr kumimoji="0" lang="en-US" altLang="zh-CN" sz="2000" dirty="0">
              <a:latin typeface="+mn-lt"/>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descr="manyFlow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55394" y="1062244"/>
            <a:ext cx="6884373" cy="5043077"/>
          </a:xfrm>
          <a:prstGeom prst="rect">
            <a:avLst/>
          </a:prstGeom>
          <a:noFill/>
        </p:spPr>
      </p:pic>
      <p:grpSp>
        <p:nvGrpSpPr>
          <p:cNvPr id="2" name="组合 1"/>
          <p:cNvGrpSpPr/>
          <p:nvPr/>
        </p:nvGrpSpPr>
        <p:grpSpPr>
          <a:xfrm>
            <a:off x="1105740" y="1441481"/>
            <a:ext cx="6170851" cy="4663840"/>
            <a:chOff x="1387849" y="1632096"/>
            <a:chExt cx="5381966" cy="4197264"/>
          </a:xfrm>
        </p:grpSpPr>
        <p:sp>
          <p:nvSpPr>
            <p:cNvPr id="7" name="Text Box 9"/>
            <p:cNvSpPr txBox="1">
              <a:spLocks noChangeArrowheads="1"/>
            </p:cNvSpPr>
            <p:nvPr/>
          </p:nvSpPr>
          <p:spPr bwMode="auto">
            <a:xfrm>
              <a:off x="1387849" y="1632096"/>
              <a:ext cx="927100" cy="400050"/>
            </a:xfrm>
            <a:prstGeom prst="rect">
              <a:avLst/>
            </a:prstGeom>
            <a:noFill/>
            <a:ln w="9525">
              <a:noFill/>
              <a:miter lim="800000"/>
            </a:ln>
          </p:spPr>
          <p:txBody>
            <a:bodyPr wrap="square">
              <a:spAutoFit/>
            </a:bodyPr>
            <a:lstStyle/>
            <a:p>
              <a:pPr>
                <a:defRPr/>
              </a:pPr>
              <a:r>
                <a:rPr kumimoji="0" lang="zh-CN" altLang="en-US" sz="2000" dirty="0">
                  <a:latin typeface="+mn-lt"/>
                  <a:ea typeface="宋体" panose="02010600030101010101" pitchFamily="2" charset="-122"/>
                </a:rPr>
                <a:t>速率</a:t>
              </a:r>
              <a:endParaRPr kumimoji="0" lang="en-US" altLang="zh-CN" sz="2000" dirty="0">
                <a:latin typeface="+mn-lt"/>
                <a:ea typeface="宋体" panose="02010600030101010101" pitchFamily="2" charset="-122"/>
              </a:endParaRPr>
            </a:p>
          </p:txBody>
        </p:sp>
        <p:sp>
          <p:nvSpPr>
            <p:cNvPr id="8" name="Text Box 6"/>
            <p:cNvSpPr txBox="1">
              <a:spLocks noChangeArrowheads="1"/>
            </p:cNvSpPr>
            <p:nvPr/>
          </p:nvSpPr>
          <p:spPr bwMode="auto">
            <a:xfrm>
              <a:off x="6072188" y="5429250"/>
              <a:ext cx="697627" cy="400110"/>
            </a:xfrm>
            <a:prstGeom prst="rect">
              <a:avLst/>
            </a:prstGeom>
            <a:noFill/>
            <a:ln w="9525">
              <a:noFill/>
              <a:miter lim="800000"/>
            </a:ln>
          </p:spPr>
          <p:txBody>
            <a:bodyPr wrap="none">
              <a:spAutoFit/>
            </a:bodyPr>
            <a:lstStyle/>
            <a:p>
              <a:pPr>
                <a:defRPr/>
              </a:pPr>
              <a:r>
                <a:rPr kumimoji="0" lang="zh-CN" altLang="en-US" sz="2000" dirty="0">
                  <a:latin typeface="+mn-lt"/>
                  <a:ea typeface="宋体" panose="02010600030101010101" pitchFamily="2" charset="-122"/>
                </a:rPr>
                <a:t>时间</a:t>
              </a:r>
              <a:endParaRPr kumimoji="0" lang="en-US" altLang="zh-CN" sz="2000" dirty="0">
                <a:latin typeface="+mn-lt"/>
                <a:ea typeface="宋体" panose="02010600030101010101" pitchFamily="2" charset="-122"/>
              </a:endParaRPr>
            </a:p>
          </p:txBody>
        </p:sp>
      </p:grpSp>
      <p:sp>
        <p:nvSpPr>
          <p:cNvPr id="42"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44" name="Rectangle 2"/>
          <p:cNvSpPr>
            <a:spLocks noGrp="1" noChangeArrowheads="1"/>
          </p:cNvSpPr>
          <p:nvPr>
            <p:ph type="title"/>
          </p:nvPr>
        </p:nvSpPr>
        <p:spPr>
          <a:xfrm>
            <a:off x="428625" y="666749"/>
            <a:ext cx="8206327" cy="67591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28"/>
          <p:cNvSpPr txBox="1">
            <a:spLocks noChangeArrowheads="1"/>
          </p:cNvSpPr>
          <p:nvPr/>
        </p:nvSpPr>
        <p:spPr bwMode="auto">
          <a:xfrm>
            <a:off x="3481293" y="6014579"/>
            <a:ext cx="1798918" cy="461665"/>
          </a:xfrm>
          <a:prstGeom prst="rect">
            <a:avLst/>
          </a:prstGeom>
          <a:solidFill>
            <a:schemeClr val="accent2">
              <a:lumMod val="40000"/>
              <a:lumOff val="60000"/>
            </a:schemeClr>
          </a:solidFill>
          <a:ln>
            <a:noFill/>
          </a:ln>
        </p:spPr>
        <p:txBody>
          <a:bodyPr wrap="squar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kumimoji="0" lang="zh-CN" altLang="en-US" sz="2400" dirty="0">
                <a:ea typeface="宋体" panose="02010600030101010101" pitchFamily="2" charset="-122"/>
              </a:rPr>
              <a:t>多个数据流</a:t>
            </a:r>
            <a:endParaRPr kumimoji="0" lang="en-US" altLang="zh-CN" sz="2400" i="1" dirty="0">
              <a:ea typeface="宋体" panose="02010600030101010101" pitchFamily="2" charset="-122"/>
            </a:endParaRPr>
          </a:p>
        </p:txBody>
      </p:sp>
      <p:sp>
        <p:nvSpPr>
          <p:cNvPr id="9" name="AutoShape 12"/>
          <p:cNvSpPr>
            <a:spLocks noChangeArrowheads="1"/>
          </p:cNvSpPr>
          <p:nvPr/>
        </p:nvSpPr>
        <p:spPr bwMode="auto">
          <a:xfrm>
            <a:off x="7286625" y="2534023"/>
            <a:ext cx="1285875" cy="466351"/>
          </a:xfrm>
          <a:prstGeom prst="wedgeRectCallout">
            <a:avLst>
              <a:gd name="adj1" fmla="val -163977"/>
              <a:gd name="adj2" fmla="val 307448"/>
            </a:avLst>
          </a:prstGeom>
          <a:solidFill>
            <a:schemeClr val="accent2">
              <a:lumMod val="40000"/>
              <a:lumOff val="60000"/>
            </a:schemeClr>
          </a:solidFill>
          <a:ln w="9525">
            <a:solidFill>
              <a:schemeClr val="tx1"/>
            </a:solidFill>
            <a:miter lim="800000"/>
          </a:ln>
        </p:spPr>
        <p:txBody>
          <a:bodyPr/>
          <a:lstStyle/>
          <a:p>
            <a:pPr algn="ctr">
              <a:defRPr/>
            </a:pPr>
            <a:r>
              <a:rPr kumimoji="0" lang="zh-CN" altLang="en-US" sz="2000" dirty="0">
                <a:latin typeface="+mn-lt"/>
                <a:ea typeface="宋体" panose="02010600030101010101" pitchFamily="2" charset="-122"/>
              </a:rPr>
              <a:t>平均速率</a:t>
            </a:r>
            <a:endParaRPr kumimoji="0" lang="en-US" altLang="zh-CN" sz="2000" dirty="0">
              <a:latin typeface="+mn-lt"/>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descr="manyFlow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55394" y="1062244"/>
            <a:ext cx="6884373" cy="5043077"/>
          </a:xfrm>
          <a:prstGeom prst="rect">
            <a:avLst/>
          </a:prstGeom>
          <a:noFill/>
        </p:spPr>
      </p:pic>
      <p:grpSp>
        <p:nvGrpSpPr>
          <p:cNvPr id="2" name="组合 1"/>
          <p:cNvGrpSpPr/>
          <p:nvPr/>
        </p:nvGrpSpPr>
        <p:grpSpPr>
          <a:xfrm>
            <a:off x="1105740" y="1441481"/>
            <a:ext cx="6170851" cy="4663840"/>
            <a:chOff x="1387849" y="1632096"/>
            <a:chExt cx="5381966" cy="4197264"/>
          </a:xfrm>
        </p:grpSpPr>
        <p:sp>
          <p:nvSpPr>
            <p:cNvPr id="7" name="Text Box 9"/>
            <p:cNvSpPr txBox="1">
              <a:spLocks noChangeArrowheads="1"/>
            </p:cNvSpPr>
            <p:nvPr/>
          </p:nvSpPr>
          <p:spPr bwMode="auto">
            <a:xfrm>
              <a:off x="1387849" y="1632096"/>
              <a:ext cx="927100" cy="400050"/>
            </a:xfrm>
            <a:prstGeom prst="rect">
              <a:avLst/>
            </a:prstGeom>
            <a:noFill/>
            <a:ln w="9525">
              <a:noFill/>
              <a:miter lim="800000"/>
            </a:ln>
          </p:spPr>
          <p:txBody>
            <a:bodyPr wrap="square">
              <a:spAutoFit/>
            </a:bodyPr>
            <a:lstStyle/>
            <a:p>
              <a:pPr>
                <a:defRPr/>
              </a:pPr>
              <a:r>
                <a:rPr kumimoji="0" lang="zh-CN" altLang="en-US" sz="2000" dirty="0">
                  <a:latin typeface="+mn-lt"/>
                  <a:ea typeface="宋体" panose="02010600030101010101" pitchFamily="2" charset="-122"/>
                </a:rPr>
                <a:t>速率</a:t>
              </a:r>
              <a:endParaRPr kumimoji="0" lang="en-US" altLang="zh-CN" sz="2000" dirty="0">
                <a:latin typeface="+mn-lt"/>
                <a:ea typeface="宋体" panose="02010600030101010101" pitchFamily="2" charset="-122"/>
              </a:endParaRPr>
            </a:p>
          </p:txBody>
        </p:sp>
        <p:sp>
          <p:nvSpPr>
            <p:cNvPr id="8" name="Text Box 6"/>
            <p:cNvSpPr txBox="1">
              <a:spLocks noChangeArrowheads="1"/>
            </p:cNvSpPr>
            <p:nvPr/>
          </p:nvSpPr>
          <p:spPr bwMode="auto">
            <a:xfrm>
              <a:off x="6072188" y="5429250"/>
              <a:ext cx="697627" cy="400110"/>
            </a:xfrm>
            <a:prstGeom prst="rect">
              <a:avLst/>
            </a:prstGeom>
            <a:noFill/>
            <a:ln w="9525">
              <a:noFill/>
              <a:miter lim="800000"/>
            </a:ln>
          </p:spPr>
          <p:txBody>
            <a:bodyPr wrap="none">
              <a:spAutoFit/>
            </a:bodyPr>
            <a:lstStyle/>
            <a:p>
              <a:pPr>
                <a:defRPr/>
              </a:pPr>
              <a:r>
                <a:rPr kumimoji="0" lang="zh-CN" altLang="en-US" sz="2000" dirty="0">
                  <a:latin typeface="+mn-lt"/>
                  <a:ea typeface="宋体" panose="02010600030101010101" pitchFamily="2" charset="-122"/>
                </a:rPr>
                <a:t>时间</a:t>
              </a:r>
              <a:endParaRPr kumimoji="0" lang="en-US" altLang="zh-CN" sz="2000" dirty="0">
                <a:latin typeface="+mn-lt"/>
                <a:ea typeface="宋体" panose="02010600030101010101" pitchFamily="2" charset="-122"/>
              </a:endParaRPr>
            </a:p>
          </p:txBody>
        </p:sp>
      </p:grpSp>
      <p:sp>
        <p:nvSpPr>
          <p:cNvPr id="42"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44" name="Rectangle 2"/>
          <p:cNvSpPr>
            <a:spLocks noGrp="1" noChangeArrowheads="1"/>
          </p:cNvSpPr>
          <p:nvPr>
            <p:ph type="title"/>
          </p:nvPr>
        </p:nvSpPr>
        <p:spPr>
          <a:xfrm>
            <a:off x="428625" y="666749"/>
            <a:ext cx="8206327" cy="65363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网络核心：报文分组交换</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28"/>
          <p:cNvSpPr txBox="1">
            <a:spLocks noChangeArrowheads="1"/>
          </p:cNvSpPr>
          <p:nvPr/>
        </p:nvSpPr>
        <p:spPr bwMode="auto">
          <a:xfrm>
            <a:off x="3481293" y="6014579"/>
            <a:ext cx="1798918" cy="461665"/>
          </a:xfrm>
          <a:prstGeom prst="rect">
            <a:avLst/>
          </a:prstGeom>
          <a:solidFill>
            <a:schemeClr val="accent2">
              <a:lumMod val="40000"/>
              <a:lumOff val="60000"/>
            </a:schemeClr>
          </a:solidFill>
          <a:ln>
            <a:noFill/>
          </a:ln>
        </p:spPr>
        <p:txBody>
          <a:bodyPr wrap="square">
            <a:spAutoFit/>
          </a:bodyPr>
          <a:lstStyle>
            <a:lvl1pPr>
              <a:spcBef>
                <a:spcPct val="20000"/>
              </a:spcBef>
              <a:buBlip>
                <a:blip r:embed="rId4"/>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kumimoji="0" lang="zh-CN" altLang="en-US" sz="2400" dirty="0">
                <a:ea typeface="宋体" panose="02010600030101010101" pitchFamily="2" charset="-122"/>
              </a:rPr>
              <a:t>多个数据流</a:t>
            </a:r>
            <a:endParaRPr kumimoji="0" lang="en-US" altLang="zh-CN" sz="2400" i="1" dirty="0">
              <a:ea typeface="宋体" panose="02010600030101010101" pitchFamily="2" charset="-122"/>
            </a:endParaRPr>
          </a:p>
        </p:txBody>
      </p:sp>
      <p:sp>
        <p:nvSpPr>
          <p:cNvPr id="9" name="AutoShape 12"/>
          <p:cNvSpPr>
            <a:spLocks noChangeArrowheads="1"/>
          </p:cNvSpPr>
          <p:nvPr/>
        </p:nvSpPr>
        <p:spPr bwMode="auto">
          <a:xfrm>
            <a:off x="7286625" y="2534023"/>
            <a:ext cx="1285875" cy="466351"/>
          </a:xfrm>
          <a:prstGeom prst="wedgeRectCallout">
            <a:avLst>
              <a:gd name="adj1" fmla="val -163977"/>
              <a:gd name="adj2" fmla="val 307448"/>
            </a:avLst>
          </a:prstGeom>
          <a:solidFill>
            <a:schemeClr val="accent2">
              <a:lumMod val="40000"/>
              <a:lumOff val="60000"/>
            </a:schemeClr>
          </a:solidFill>
          <a:ln w="9525">
            <a:solidFill>
              <a:schemeClr val="tx1"/>
            </a:solidFill>
            <a:miter lim="800000"/>
          </a:ln>
        </p:spPr>
        <p:txBody>
          <a:bodyPr/>
          <a:lstStyle/>
          <a:p>
            <a:pPr algn="ctr">
              <a:defRPr/>
            </a:pPr>
            <a:r>
              <a:rPr kumimoji="0" lang="zh-CN" altLang="en-US" sz="2000" dirty="0">
                <a:latin typeface="+mn-lt"/>
                <a:ea typeface="宋体" panose="02010600030101010101" pitchFamily="2" charset="-122"/>
              </a:rPr>
              <a:t>平均速率</a:t>
            </a:r>
            <a:endParaRPr kumimoji="0" lang="en-US" altLang="zh-CN" sz="2000" dirty="0">
              <a:latin typeface="+mn-lt"/>
              <a:ea typeface="宋体" panose="02010600030101010101" pitchFamily="2" charset="-122"/>
            </a:endParaRPr>
          </a:p>
        </p:txBody>
      </p:sp>
      <p:sp>
        <p:nvSpPr>
          <p:cNvPr id="12" name="Text Box 15"/>
          <p:cNvSpPr txBox="1">
            <a:spLocks noChangeArrowheads="1"/>
          </p:cNvSpPr>
          <p:nvPr/>
        </p:nvSpPr>
        <p:spPr bwMode="auto">
          <a:xfrm>
            <a:off x="1457062" y="5364030"/>
            <a:ext cx="6147164" cy="1136786"/>
          </a:xfrm>
          <a:prstGeom prst="rect">
            <a:avLst/>
          </a:prstGeom>
          <a:solidFill>
            <a:schemeClr val="accent6">
              <a:lumMod val="20000"/>
              <a:lumOff val="80000"/>
            </a:schemeClr>
          </a:solidFill>
          <a:ln w="9525">
            <a:solidFill>
              <a:srgbClr val="C00000"/>
            </a:solidFill>
            <a:miter lim="800000"/>
          </a:ln>
        </p:spPr>
        <p:txBody>
          <a:bodyPr wrap="square">
            <a:spAutoFit/>
          </a:bodyPr>
          <a:lstStyle/>
          <a:p>
            <a:pPr marL="233680" indent="-233680">
              <a:lnSpc>
                <a:spcPts val="2800"/>
              </a:lnSpc>
              <a:buClr>
                <a:srgbClr val="000099"/>
              </a:buClr>
              <a:buSzPct val="90000"/>
              <a:buFont typeface="Wingdings" panose="05000000000000000000" pitchFamily="2" charset="2"/>
              <a:buBlip>
                <a:blip r:embed="rId5"/>
              </a:buBlip>
              <a:defRPr/>
            </a:pPr>
            <a:r>
              <a:rPr kumimoji="0" lang="zh-CN" altLang="en-US" sz="2000" dirty="0">
                <a:latin typeface="Times New Roman" panose="02020603050405020304" pitchFamily="18" charset="0"/>
                <a:ea typeface="宋体" panose="02010600030101010101" pitchFamily="2" charset="-122"/>
              </a:rPr>
              <a:t>网络流量具有很强的突发性，即不平稳</a:t>
            </a:r>
            <a:endParaRPr kumimoji="0" lang="en-US" altLang="zh-CN" sz="2000" dirty="0">
              <a:latin typeface="Times New Roman" panose="02020603050405020304" pitchFamily="18" charset="0"/>
              <a:ea typeface="宋体" panose="02010600030101010101" pitchFamily="2" charset="-122"/>
            </a:endParaRPr>
          </a:p>
          <a:p>
            <a:pPr marL="233680" indent="-233680">
              <a:lnSpc>
                <a:spcPts val="2800"/>
              </a:lnSpc>
              <a:buClr>
                <a:srgbClr val="000099"/>
              </a:buClr>
              <a:buSzPct val="90000"/>
              <a:buFont typeface="Wingdings" panose="05000000000000000000" pitchFamily="2" charset="2"/>
              <a:buBlip>
                <a:blip r:embed="rId5"/>
              </a:buBlip>
              <a:defRPr/>
            </a:pPr>
            <a:r>
              <a:rPr kumimoji="0" lang="zh-CN" altLang="en-US" sz="2000" dirty="0">
                <a:latin typeface="Times New Roman" panose="02020603050405020304" pitchFamily="18" charset="0"/>
                <a:ea typeface="宋体" panose="02010600030101010101" pitchFamily="2" charset="-122"/>
              </a:rPr>
              <a:t>每个独立的流的峰值可能出现在不同时间</a:t>
            </a:r>
            <a:endParaRPr kumimoji="0" lang="en-US" altLang="zh-CN" sz="2000" dirty="0">
              <a:latin typeface="Times New Roman" panose="02020603050405020304" pitchFamily="18" charset="0"/>
              <a:ea typeface="宋体" panose="02010600030101010101" pitchFamily="2" charset="-122"/>
            </a:endParaRPr>
          </a:p>
          <a:p>
            <a:pPr marL="233680" indent="-233680">
              <a:lnSpc>
                <a:spcPts val="2800"/>
              </a:lnSpc>
              <a:buClr>
                <a:srgbClr val="000099"/>
              </a:buClr>
              <a:buSzPct val="90000"/>
              <a:buFont typeface="Wingdings" panose="05000000000000000000" pitchFamily="2" charset="2"/>
              <a:buBlip>
                <a:blip r:embed="rId5"/>
              </a:buBlip>
              <a:defRPr/>
            </a:pPr>
            <a:r>
              <a:rPr kumimoji="0" lang="zh-CN" altLang="en-US" sz="2000" u="sng" dirty="0">
                <a:solidFill>
                  <a:srgbClr val="FF0000"/>
                </a:solidFill>
                <a:latin typeface="Times New Roman" panose="02020603050405020304" pitchFamily="18" charset="0"/>
                <a:ea typeface="宋体" panose="02010600030101010101" pitchFamily="2" charset="-122"/>
              </a:rPr>
              <a:t>结论</a:t>
            </a:r>
            <a:r>
              <a:rPr kumimoji="0" lang="zh-CN" altLang="en-US" sz="2000" dirty="0">
                <a:solidFill>
                  <a:srgbClr val="FF0000"/>
                </a:solidFill>
                <a:latin typeface="Times New Roman" panose="02020603050405020304" pitchFamily="18" charset="0"/>
                <a:ea typeface="宋体" panose="02010600030101010101" pitchFamily="2" charset="-122"/>
              </a:rPr>
              <a:t>：</a:t>
            </a:r>
            <a:r>
              <a:rPr kumimoji="0" lang="en-US" altLang="zh-CN" sz="2000" dirty="0">
                <a:latin typeface="Times New Roman" panose="02020603050405020304" pitchFamily="18" charset="0"/>
                <a:ea typeface="宋体" panose="02010600030101010101" pitchFamily="2" charset="-122"/>
              </a:rPr>
              <a:t> </a:t>
            </a:r>
            <a:r>
              <a:rPr kumimoji="0" lang="zh-CN" altLang="en-US" sz="2000" dirty="0">
                <a:latin typeface="Times New Roman" panose="02020603050405020304" pitchFamily="18" charset="0"/>
                <a:ea typeface="宋体" panose="02010600030101010101" pitchFamily="2" charset="-122"/>
              </a:rPr>
              <a:t>流越多，网络平均流量越平滑</a:t>
            </a:r>
            <a:endParaRPr kumimoji="0" lang="en-US" altLang="zh-CN" sz="20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type="body" idx="1"/>
          </p:nvPr>
        </p:nvSpPr>
        <p:spPr>
          <a:xfrm>
            <a:off x="428625" y="1617129"/>
            <a:ext cx="8208962" cy="4592637"/>
          </a:xfrm>
        </p:spPr>
        <p:txBody>
          <a:bodyPr>
            <a:normAutofit/>
          </a:bodyPr>
          <a:lstStyle/>
          <a:p>
            <a:pPr>
              <a:lnSpc>
                <a:spcPct val="110000"/>
              </a:lnSpc>
              <a:buBlip>
                <a:blip r:embed="rId3"/>
              </a:buBlip>
            </a:pPr>
            <a:r>
              <a:rPr lang="zh-CN" altLang="en-US" sz="2000" dirty="0">
                <a:ea typeface="宋体" panose="02010600030101010101" pitchFamily="2" charset="-122"/>
                <a:cs typeface="Times New Roman" panose="02020603050405020304" pitchFamily="18" charset="0"/>
              </a:rPr>
              <a:t> 报文长度</a:t>
            </a:r>
            <a:r>
              <a:rPr lang="en-US" altLang="zh-CN" sz="2000" dirty="0">
                <a:ea typeface="宋体" panose="02010600030101010101" pitchFamily="2" charset="-122"/>
                <a:cs typeface="Times New Roman" panose="02020603050405020304" pitchFamily="18" charset="0"/>
              </a:rPr>
              <a:t> </a:t>
            </a:r>
            <a:r>
              <a:rPr lang="en-US" altLang="zh-CN" sz="2000" i="1" dirty="0">
                <a:solidFill>
                  <a:srgbClr val="FF0000"/>
                </a:solidFill>
                <a:ea typeface="宋体" panose="02010600030101010101" pitchFamily="2" charset="-122"/>
                <a:cs typeface="Times New Roman" panose="02020603050405020304" pitchFamily="18" charset="0"/>
              </a:rPr>
              <a:t>P</a:t>
            </a:r>
            <a:r>
              <a:rPr lang="zh-CN" altLang="en-US" sz="2000" dirty="0">
                <a:ea typeface="宋体" panose="02010600030101010101" pitchFamily="2" charset="-122"/>
                <a:cs typeface="Times New Roman" panose="02020603050405020304" pitchFamily="18" charset="0"/>
              </a:rPr>
              <a:t> ：单位“位（</a:t>
            </a:r>
            <a:r>
              <a:rPr lang="en-US" altLang="zh-CN" sz="2000" dirty="0">
                <a:ea typeface="宋体" panose="02010600030101010101" pitchFamily="2" charset="-122"/>
                <a:cs typeface="Times New Roman" panose="02020603050405020304" pitchFamily="18" charset="0"/>
              </a:rPr>
              <a:t>bit</a:t>
            </a:r>
            <a:r>
              <a:rPr lang="zh-CN" altLang="en-US" sz="2000" dirty="0">
                <a:ea typeface="宋体" panose="02010600030101010101" pitchFamily="2" charset="-122"/>
                <a:cs typeface="Times New Roman" panose="02020603050405020304" pitchFamily="18" charset="0"/>
              </a:rPr>
              <a:t>）”</a:t>
            </a:r>
            <a:endParaRPr lang="en-US" altLang="zh-CN" sz="2000" dirty="0">
              <a:ea typeface="宋体" panose="02010600030101010101" pitchFamily="2" charset="-122"/>
              <a:cs typeface="Times New Roman" panose="02020603050405020304" pitchFamily="18" charset="0"/>
            </a:endParaRPr>
          </a:p>
          <a:p>
            <a:pPr>
              <a:lnSpc>
                <a:spcPct val="110000"/>
              </a:lnSpc>
              <a:buBlip>
                <a:blip r:embed="rId3"/>
              </a:buBlip>
            </a:pPr>
            <a:r>
              <a:rPr lang="zh-CN" altLang="en-US" sz="2000" dirty="0">
                <a:ea typeface="宋体" panose="02010600030101010101" pitchFamily="2" charset="-122"/>
                <a:cs typeface="Times New Roman" panose="02020603050405020304" pitchFamily="18" charset="0"/>
              </a:rPr>
              <a:t> 链路长度</a:t>
            </a:r>
            <a:r>
              <a:rPr lang="en-US" altLang="zh-CN" sz="2000" dirty="0">
                <a:ea typeface="宋体" panose="02010600030101010101" pitchFamily="2" charset="-122"/>
                <a:cs typeface="Times New Roman" panose="02020603050405020304" pitchFamily="18" charset="0"/>
              </a:rPr>
              <a:t> </a:t>
            </a:r>
            <a:r>
              <a:rPr lang="en-US" altLang="zh-CN" sz="2000" i="1" dirty="0">
                <a:solidFill>
                  <a:srgbClr val="FF0000"/>
                </a:solidFill>
                <a:ea typeface="宋体" panose="02010600030101010101" pitchFamily="2" charset="-122"/>
                <a:cs typeface="Times New Roman" panose="02020603050405020304" pitchFamily="18" charset="0"/>
              </a:rPr>
              <a:t>L</a:t>
            </a:r>
            <a:r>
              <a:rPr lang="zh-CN" altLang="en-US" sz="2000" dirty="0">
                <a:ea typeface="宋体" panose="02010600030101010101" pitchFamily="2" charset="-122"/>
                <a:cs typeface="Times New Roman" panose="02020603050405020304" pitchFamily="18" charset="0"/>
              </a:rPr>
              <a:t> ：单位“米”</a:t>
            </a:r>
            <a:endParaRPr lang="en-US" altLang="zh-CN" sz="2000" dirty="0">
              <a:ea typeface="宋体" panose="02010600030101010101" pitchFamily="2" charset="-122"/>
              <a:cs typeface="Times New Roman" panose="02020603050405020304" pitchFamily="18" charset="0"/>
            </a:endParaRPr>
          </a:p>
          <a:p>
            <a:pPr>
              <a:lnSpc>
                <a:spcPct val="110000"/>
              </a:lnSpc>
              <a:buBlip>
                <a:blip r:embed="rId3"/>
              </a:buBlip>
            </a:pPr>
            <a:r>
              <a:rPr lang="zh-CN" altLang="en-US" sz="2000" dirty="0">
                <a:ea typeface="宋体" panose="02010600030101010101" pitchFamily="2" charset="-122"/>
                <a:cs typeface="Times New Roman" panose="02020603050405020304" pitchFamily="18" charset="0"/>
              </a:rPr>
              <a:t> 传输速率</a:t>
            </a:r>
            <a:r>
              <a:rPr lang="en-US" altLang="zh-CN" sz="2000" dirty="0">
                <a:ea typeface="宋体" panose="02010600030101010101" pitchFamily="2" charset="-122"/>
                <a:cs typeface="Times New Roman" panose="02020603050405020304" pitchFamily="18" charset="0"/>
              </a:rPr>
              <a:t> </a:t>
            </a:r>
            <a:r>
              <a:rPr lang="en-US" altLang="zh-CN" sz="2000" i="1" dirty="0">
                <a:solidFill>
                  <a:srgbClr val="FF0000"/>
                </a:solidFill>
                <a:ea typeface="宋体" panose="02010600030101010101" pitchFamily="2" charset="-122"/>
                <a:cs typeface="Times New Roman" panose="02020603050405020304" pitchFamily="18" charset="0"/>
              </a:rPr>
              <a:t>R</a:t>
            </a:r>
            <a:r>
              <a:rPr lang="zh-CN" altLang="en-US" sz="2000" i="1" dirty="0">
                <a:ea typeface="宋体" panose="02010600030101010101" pitchFamily="2" charset="-122"/>
                <a:cs typeface="Times New Roman" panose="02020603050405020304" pitchFamily="18" charset="0"/>
              </a:rPr>
              <a:t> </a:t>
            </a:r>
            <a:r>
              <a:rPr lang="zh-CN" altLang="en-US" sz="2000" dirty="0">
                <a:ea typeface="宋体" panose="02010600030101010101" pitchFamily="2" charset="-122"/>
                <a:cs typeface="Times New Roman" panose="02020603050405020304" pitchFamily="18" charset="0"/>
              </a:rPr>
              <a:t>：单位“位</a:t>
            </a:r>
            <a:r>
              <a:rPr lang="en-US" altLang="zh-CN" sz="2000" dirty="0">
                <a:ea typeface="宋体" panose="02010600030101010101" pitchFamily="2" charset="-122"/>
                <a:cs typeface="Times New Roman" panose="02020603050405020304" pitchFamily="18" charset="0"/>
              </a:rPr>
              <a:t>/</a:t>
            </a:r>
            <a:r>
              <a:rPr lang="zh-CN" altLang="en-US" sz="2000" dirty="0">
                <a:ea typeface="宋体" panose="02010600030101010101" pitchFamily="2" charset="-122"/>
                <a:cs typeface="Times New Roman" panose="02020603050405020304" pitchFamily="18" charset="0"/>
              </a:rPr>
              <a:t>秒”</a:t>
            </a:r>
            <a:endParaRPr lang="en-US" altLang="zh-CN" sz="2000" dirty="0">
              <a:ea typeface="宋体" panose="02010600030101010101" pitchFamily="2" charset="-122"/>
              <a:cs typeface="Times New Roman" panose="02020603050405020304" pitchFamily="18" charset="0"/>
            </a:endParaRPr>
          </a:p>
          <a:p>
            <a:pPr>
              <a:lnSpc>
                <a:spcPct val="110000"/>
              </a:lnSpc>
              <a:buBlip>
                <a:blip r:embed="rId3"/>
              </a:buBlip>
            </a:pPr>
            <a:r>
              <a:rPr lang="zh-CN" altLang="en-US" sz="2000" dirty="0">
                <a:ea typeface="宋体" panose="02010600030101010101" pitchFamily="2" charset="-122"/>
                <a:cs typeface="Times New Roman" panose="02020603050405020304" pitchFamily="18" charset="0"/>
              </a:rPr>
              <a:t> 传播时延</a:t>
            </a:r>
            <a:r>
              <a:rPr lang="en-US" altLang="zh-CN" sz="2000" i="1" dirty="0">
                <a:solidFill>
                  <a:srgbClr val="FF0000"/>
                </a:solidFill>
                <a:ea typeface="宋体" panose="02010600030101010101" pitchFamily="2" charset="-122"/>
                <a:cs typeface="Times New Roman" panose="02020603050405020304" pitchFamily="18" charset="0"/>
              </a:rPr>
              <a:t>PROP</a:t>
            </a:r>
            <a:r>
              <a:rPr lang="zh-CN" altLang="en-US" sz="2000" dirty="0">
                <a:ea typeface="宋体" panose="02010600030101010101" pitchFamily="2" charset="-122"/>
                <a:cs typeface="Times New Roman" panose="02020603050405020304" pitchFamily="18" charset="0"/>
              </a:rPr>
              <a:t>：电磁波在介质上传播的时间</a:t>
            </a:r>
            <a:r>
              <a:rPr lang="zh-CN" altLang="en-US" sz="2000" i="1" dirty="0">
                <a:ea typeface="宋体" panose="02010600030101010101" pitchFamily="2" charset="-122"/>
                <a:cs typeface="Times New Roman" panose="02020603050405020304" pitchFamily="18" charset="0"/>
              </a:rPr>
              <a:t>，</a:t>
            </a:r>
            <a:r>
              <a:rPr lang="zh-CN" altLang="en-US" sz="2000" dirty="0">
                <a:ea typeface="宋体" panose="02010600030101010101" pitchFamily="2" charset="-122"/>
                <a:cs typeface="Times New Roman" panose="02020603050405020304" pitchFamily="18" charset="0"/>
              </a:rPr>
              <a:t>单位“秒”</a:t>
            </a:r>
            <a:endParaRPr lang="en-US" altLang="zh-CN" sz="2000" dirty="0">
              <a:ea typeface="宋体" panose="02010600030101010101" pitchFamily="2" charset="-122"/>
              <a:cs typeface="Times New Roman" panose="02020603050405020304" pitchFamily="18" charset="0"/>
            </a:endParaRPr>
          </a:p>
          <a:p>
            <a:pPr marL="0" indent="0">
              <a:lnSpc>
                <a:spcPct val="110000"/>
              </a:lnSpc>
              <a:buNone/>
            </a:pPr>
            <a:r>
              <a:rPr lang="en-US" altLang="zh-CN" sz="2000" i="1" dirty="0">
                <a:ea typeface="宋体" panose="02010600030101010101" pitchFamily="2" charset="-122"/>
                <a:cs typeface="Times New Roman" panose="02020603050405020304" pitchFamily="18" charset="0"/>
              </a:rPr>
              <a:t>                                  PROP = L/C</a:t>
            </a:r>
            <a:r>
              <a:rPr lang="zh-CN" altLang="en-US" sz="2000" i="1" dirty="0">
                <a:ea typeface="宋体" panose="02010600030101010101" pitchFamily="2" charset="-122"/>
                <a:cs typeface="Times New Roman" panose="02020603050405020304" pitchFamily="18" charset="0"/>
              </a:rPr>
              <a:t>， </a:t>
            </a:r>
            <a:r>
              <a:rPr lang="zh-CN" altLang="en-US" sz="2000" dirty="0">
                <a:ea typeface="宋体" panose="02010600030101010101" pitchFamily="2" charset="-122"/>
                <a:cs typeface="Times New Roman" panose="02020603050405020304" pitchFamily="18" charset="0"/>
              </a:rPr>
              <a:t>其中</a:t>
            </a:r>
            <a:r>
              <a:rPr lang="en-US" altLang="zh-CN" sz="2000" dirty="0">
                <a:ea typeface="宋体" panose="02010600030101010101" pitchFamily="2" charset="-122"/>
                <a:cs typeface="Times New Roman" panose="02020603050405020304" pitchFamily="18" charset="0"/>
              </a:rPr>
              <a:t>C</a:t>
            </a:r>
            <a:r>
              <a:rPr lang="zh-CN" altLang="en-US" sz="2000" dirty="0">
                <a:ea typeface="宋体" panose="02010600030101010101" pitchFamily="2" charset="-122"/>
                <a:cs typeface="Times New Roman" panose="02020603050405020304" pitchFamily="18" charset="0"/>
              </a:rPr>
              <a:t>为电磁波传播速度</a:t>
            </a:r>
            <a:endParaRPr lang="en-US" altLang="zh-CN" sz="2000" dirty="0">
              <a:ea typeface="宋体" panose="02010600030101010101" pitchFamily="2" charset="-122"/>
              <a:cs typeface="Times New Roman" panose="02020603050405020304" pitchFamily="18" charset="0"/>
            </a:endParaRPr>
          </a:p>
          <a:p>
            <a:pPr>
              <a:lnSpc>
                <a:spcPct val="110000"/>
              </a:lnSpc>
              <a:buBlip>
                <a:blip r:embed="rId3"/>
              </a:buBlip>
            </a:pPr>
            <a:r>
              <a:rPr lang="zh-CN" altLang="en-US" sz="2000" dirty="0">
                <a:ea typeface="宋体" panose="02010600030101010101" pitchFamily="2" charset="-122"/>
                <a:cs typeface="Times New Roman" panose="02020603050405020304" pitchFamily="18" charset="0"/>
              </a:rPr>
              <a:t> 传输时延</a:t>
            </a:r>
            <a:r>
              <a:rPr lang="en-US" altLang="zh-CN" sz="2000" i="1" dirty="0">
                <a:solidFill>
                  <a:srgbClr val="FF0000"/>
                </a:solidFill>
                <a:ea typeface="宋体" panose="02010600030101010101" pitchFamily="2" charset="-122"/>
                <a:cs typeface="Times New Roman" panose="02020603050405020304" pitchFamily="18" charset="0"/>
              </a:rPr>
              <a:t>TRANSP</a:t>
            </a:r>
            <a:r>
              <a:rPr lang="zh-CN" altLang="en-US" sz="2000" dirty="0">
                <a:ea typeface="宋体" panose="02010600030101010101" pitchFamily="2" charset="-122"/>
                <a:cs typeface="Times New Roman" panose="02020603050405020304" pitchFamily="18" charset="0"/>
              </a:rPr>
              <a:t> ：发送长度为</a:t>
            </a:r>
            <a:r>
              <a:rPr lang="en-US" altLang="zh-CN" sz="2000" i="1" dirty="0">
                <a:ea typeface="宋体" panose="02010600030101010101" pitchFamily="2" charset="-122"/>
                <a:cs typeface="Times New Roman" panose="02020603050405020304" pitchFamily="18" charset="0"/>
              </a:rPr>
              <a:t>P</a:t>
            </a:r>
            <a:r>
              <a:rPr lang="zh-CN" altLang="en-US" sz="2000" dirty="0">
                <a:ea typeface="宋体" panose="02010600030101010101" pitchFamily="2" charset="-122"/>
                <a:cs typeface="Times New Roman" panose="02020603050405020304" pitchFamily="18" charset="0"/>
              </a:rPr>
              <a:t>的报文所用的时间</a:t>
            </a:r>
            <a:endParaRPr lang="en-US" altLang="zh-CN" sz="2000" i="1" dirty="0">
              <a:ea typeface="宋体" panose="02010600030101010101" pitchFamily="2" charset="-122"/>
              <a:cs typeface="Times New Roman" panose="02020603050405020304" pitchFamily="18" charset="0"/>
            </a:endParaRPr>
          </a:p>
          <a:p>
            <a:pPr marL="0" indent="0">
              <a:lnSpc>
                <a:spcPct val="110000"/>
              </a:lnSpc>
              <a:buNone/>
            </a:pPr>
            <a:r>
              <a:rPr lang="en-US" altLang="zh-CN" sz="2000" i="1" dirty="0">
                <a:ea typeface="宋体" panose="02010600030101010101" pitchFamily="2" charset="-122"/>
                <a:cs typeface="Times New Roman" panose="02020603050405020304" pitchFamily="18" charset="0"/>
              </a:rPr>
              <a:t>                                  TRANSP = P/R</a:t>
            </a:r>
            <a:r>
              <a:rPr lang="zh-CN" altLang="en-US" sz="2000" i="1" dirty="0">
                <a:ea typeface="宋体" panose="02010600030101010101" pitchFamily="2" charset="-122"/>
                <a:cs typeface="Times New Roman" panose="02020603050405020304" pitchFamily="18" charset="0"/>
              </a:rPr>
              <a:t>， </a:t>
            </a:r>
            <a:r>
              <a:rPr lang="zh-CN" altLang="en-US" sz="2000" dirty="0">
                <a:ea typeface="宋体" panose="02010600030101010101" pitchFamily="2" charset="-122"/>
                <a:cs typeface="Times New Roman" panose="02020603050405020304" pitchFamily="18" charset="0"/>
              </a:rPr>
              <a:t>其中</a:t>
            </a:r>
            <a:r>
              <a:rPr lang="en-US" altLang="zh-CN" sz="2000" dirty="0">
                <a:ea typeface="宋体" panose="02010600030101010101" pitchFamily="2" charset="-122"/>
                <a:cs typeface="Times New Roman" panose="02020603050405020304" pitchFamily="18" charset="0"/>
              </a:rPr>
              <a:t>R</a:t>
            </a:r>
            <a:r>
              <a:rPr lang="zh-CN" altLang="en-US" sz="2000" dirty="0">
                <a:ea typeface="宋体" panose="02010600030101010101" pitchFamily="2" charset="-122"/>
                <a:cs typeface="Times New Roman" panose="02020603050405020304" pitchFamily="18" charset="0"/>
              </a:rPr>
              <a:t>为传输速率</a:t>
            </a:r>
            <a:endParaRPr lang="en-US" altLang="zh-CN" sz="2000" dirty="0">
              <a:ea typeface="宋体" panose="02010600030101010101" pitchFamily="2" charset="-122"/>
              <a:cs typeface="Times New Roman" panose="02020603050405020304" pitchFamily="18" charset="0"/>
            </a:endParaRPr>
          </a:p>
          <a:p>
            <a:pPr marL="268605" indent="-268605">
              <a:lnSpc>
                <a:spcPct val="110000"/>
              </a:lnSpc>
              <a:buBlip>
                <a:blip r:embed="rId3"/>
              </a:buBlip>
            </a:pPr>
            <a:r>
              <a:rPr lang="zh-CN" altLang="en-US" sz="2000" dirty="0">
                <a:ea typeface="宋体" panose="02010600030101010101" pitchFamily="2" charset="-122"/>
                <a:cs typeface="Times New Roman" panose="02020603050405020304" pitchFamily="18" charset="0"/>
              </a:rPr>
              <a:t>端端时延</a:t>
            </a:r>
            <a:r>
              <a:rPr lang="en-US" altLang="zh-CN" sz="2000" i="1" dirty="0">
                <a:solidFill>
                  <a:srgbClr val="FF0000"/>
                </a:solidFill>
                <a:ea typeface="宋体" panose="02010600030101010101" pitchFamily="2" charset="-122"/>
                <a:cs typeface="Times New Roman" panose="02020603050405020304" pitchFamily="18" charset="0"/>
              </a:rPr>
              <a:t>Latency</a:t>
            </a:r>
            <a:r>
              <a:rPr lang="zh-CN" altLang="en-US" sz="2000" dirty="0">
                <a:ea typeface="宋体" panose="02010600030101010101" pitchFamily="2" charset="-122"/>
                <a:cs typeface="Times New Roman" panose="02020603050405020304" pitchFamily="18" charset="0"/>
              </a:rPr>
              <a:t>：发送端开始传送第一位到接收端接收到最后一位所用的时间，在</a:t>
            </a:r>
            <a:r>
              <a:rPr lang="zh-CN" altLang="en-US" sz="2000" b="1" dirty="0">
                <a:solidFill>
                  <a:srgbClr val="C00000"/>
                </a:solidFill>
                <a:ea typeface="宋体" panose="02010600030101010101" pitchFamily="2" charset="-122"/>
                <a:cs typeface="Times New Roman" panose="02020603050405020304" pitchFamily="18" charset="0"/>
              </a:rPr>
              <a:t>单一链路</a:t>
            </a:r>
            <a:r>
              <a:rPr lang="zh-CN" altLang="en-US" sz="2000" dirty="0">
                <a:ea typeface="宋体" panose="02010600030101010101" pitchFamily="2" charset="-122"/>
                <a:cs typeface="Times New Roman" panose="02020603050405020304" pitchFamily="18" charset="0"/>
              </a:rPr>
              <a:t>上计算方法为：</a:t>
            </a:r>
            <a:endParaRPr lang="en-US" altLang="zh-CN" sz="2000" dirty="0">
              <a:ea typeface="宋体" panose="02010600030101010101" pitchFamily="2" charset="-122"/>
              <a:cs typeface="Times New Roman" panose="02020603050405020304" pitchFamily="18" charset="0"/>
            </a:endParaRPr>
          </a:p>
          <a:p>
            <a:pPr marL="0" indent="0" algn="ctr">
              <a:lnSpc>
                <a:spcPct val="110000"/>
              </a:lnSpc>
              <a:buNone/>
            </a:pPr>
            <a:r>
              <a:rPr lang="en-US" altLang="zh-CN" sz="2000" i="1" dirty="0">
                <a:ea typeface="宋体" panose="02010600030101010101" pitchFamily="2" charset="-122"/>
                <a:cs typeface="Times New Roman" panose="02020603050405020304" pitchFamily="18" charset="0"/>
              </a:rPr>
              <a:t>Latency = PROP + TRANSP</a:t>
            </a:r>
          </a:p>
        </p:txBody>
      </p:sp>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9"/>
            <a:ext cx="8206327" cy="822046"/>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8"/>
            <a:ext cx="8206327" cy="734645"/>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AutoShape 2"/>
          <p:cNvSpPr>
            <a:spLocks noChangeArrowheads="1"/>
          </p:cNvSpPr>
          <p:nvPr/>
        </p:nvSpPr>
        <p:spPr bwMode="auto">
          <a:xfrm>
            <a:off x="3683939" y="1779588"/>
            <a:ext cx="1546225" cy="849312"/>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8" name="Text Box 4"/>
          <p:cNvSpPr txBox="1">
            <a:spLocks noChangeArrowheads="1"/>
          </p:cNvSpPr>
          <p:nvPr/>
        </p:nvSpPr>
        <p:spPr bwMode="auto">
          <a:xfrm>
            <a:off x="1772126" y="2877979"/>
            <a:ext cx="883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ea typeface="宋体" panose="02010600030101010101" pitchFamily="2" charset="-122"/>
                <a:cs typeface="Times New Roman" panose="02020603050405020304" pitchFamily="18" charset="0"/>
              </a:rPr>
              <a:t>主机</a:t>
            </a:r>
            <a:r>
              <a:rPr kumimoji="0" lang="en-US" altLang="zh-CN" sz="2000" dirty="0">
                <a:ea typeface="宋体" panose="02010600030101010101" pitchFamily="2" charset="-122"/>
                <a:cs typeface="Times New Roman" panose="02020603050405020304" pitchFamily="18" charset="0"/>
              </a:rPr>
              <a:t>A</a:t>
            </a:r>
          </a:p>
        </p:txBody>
      </p:sp>
      <p:sp>
        <p:nvSpPr>
          <p:cNvPr id="9" name="Text Box 5"/>
          <p:cNvSpPr txBox="1">
            <a:spLocks noChangeArrowheads="1"/>
          </p:cNvSpPr>
          <p:nvPr/>
        </p:nvSpPr>
        <p:spPr bwMode="auto">
          <a:xfrm>
            <a:off x="1821015" y="4883260"/>
            <a:ext cx="8691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ea typeface="宋体" panose="02010600030101010101" pitchFamily="2" charset="-122"/>
                <a:cs typeface="Times New Roman" panose="02020603050405020304" pitchFamily="18" charset="0"/>
              </a:rPr>
              <a:t>主机</a:t>
            </a:r>
            <a:r>
              <a:rPr kumimoji="0" lang="en-US" altLang="zh-CN" sz="2000" dirty="0">
                <a:ea typeface="宋体" panose="02010600030101010101" pitchFamily="2" charset="-122"/>
                <a:cs typeface="Times New Roman" panose="02020603050405020304" pitchFamily="18" charset="0"/>
              </a:rPr>
              <a:t>B</a:t>
            </a:r>
          </a:p>
        </p:txBody>
      </p:sp>
      <p:sp>
        <p:nvSpPr>
          <p:cNvPr id="11" name="Line 6"/>
          <p:cNvSpPr>
            <a:spLocks noChangeShapeType="1"/>
          </p:cNvSpPr>
          <p:nvPr/>
        </p:nvSpPr>
        <p:spPr bwMode="auto">
          <a:xfrm>
            <a:off x="2677464" y="3124200"/>
            <a:ext cx="31496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7"/>
          <p:cNvSpPr>
            <a:spLocks noChangeShapeType="1"/>
          </p:cNvSpPr>
          <p:nvPr/>
        </p:nvSpPr>
        <p:spPr bwMode="auto">
          <a:xfrm>
            <a:off x="2677464" y="5105400"/>
            <a:ext cx="31496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8"/>
          <p:cNvSpPr>
            <a:spLocks noChangeShapeType="1"/>
          </p:cNvSpPr>
          <p:nvPr/>
        </p:nvSpPr>
        <p:spPr bwMode="auto">
          <a:xfrm>
            <a:off x="2677464" y="3657600"/>
            <a:ext cx="314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9"/>
          <p:cNvSpPr>
            <a:spLocks noChangeShapeType="1"/>
          </p:cNvSpPr>
          <p:nvPr/>
        </p:nvSpPr>
        <p:spPr bwMode="auto">
          <a:xfrm>
            <a:off x="2677464" y="4114800"/>
            <a:ext cx="314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0"/>
          <p:cNvSpPr>
            <a:spLocks noChangeShapeType="1"/>
          </p:cNvSpPr>
          <p:nvPr/>
        </p:nvSpPr>
        <p:spPr bwMode="auto">
          <a:xfrm>
            <a:off x="2677464" y="4572000"/>
            <a:ext cx="314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1"/>
          <p:cNvSpPr txBox="1">
            <a:spLocks noChangeArrowheads="1"/>
          </p:cNvSpPr>
          <p:nvPr/>
        </p:nvSpPr>
        <p:spPr bwMode="auto">
          <a:xfrm>
            <a:off x="2255189" y="3505200"/>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R1</a:t>
            </a:r>
          </a:p>
        </p:txBody>
      </p:sp>
      <p:sp>
        <p:nvSpPr>
          <p:cNvPr id="17" name="Text Box 12"/>
          <p:cNvSpPr txBox="1">
            <a:spLocks noChangeArrowheads="1"/>
          </p:cNvSpPr>
          <p:nvPr/>
        </p:nvSpPr>
        <p:spPr bwMode="auto">
          <a:xfrm>
            <a:off x="2255189" y="3962400"/>
            <a:ext cx="434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R2</a:t>
            </a:r>
          </a:p>
        </p:txBody>
      </p:sp>
      <p:sp>
        <p:nvSpPr>
          <p:cNvPr id="18" name="Text Box 13"/>
          <p:cNvSpPr txBox="1">
            <a:spLocks noChangeArrowheads="1"/>
          </p:cNvSpPr>
          <p:nvPr/>
        </p:nvSpPr>
        <p:spPr bwMode="auto">
          <a:xfrm>
            <a:off x="2255189" y="4419600"/>
            <a:ext cx="434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R3</a:t>
            </a:r>
          </a:p>
        </p:txBody>
      </p:sp>
      <p:grpSp>
        <p:nvGrpSpPr>
          <p:cNvPr id="19" name="Group 14"/>
          <p:cNvGrpSpPr/>
          <p:nvPr/>
        </p:nvGrpSpPr>
        <p:grpSpPr bwMode="auto">
          <a:xfrm>
            <a:off x="1959914" y="1524000"/>
            <a:ext cx="381000" cy="381000"/>
            <a:chOff x="1296" y="1104"/>
            <a:chExt cx="240" cy="240"/>
          </a:xfrm>
        </p:grpSpPr>
        <p:sp>
          <p:nvSpPr>
            <p:cNvPr id="20" name="Oval 15"/>
            <p:cNvSpPr>
              <a:spLocks noChangeArrowheads="1"/>
            </p:cNvSpPr>
            <p:nvPr/>
          </p:nvSpPr>
          <p:spPr bwMode="auto">
            <a:xfrm>
              <a:off x="1296" y="1104"/>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21" name="Text Box 16"/>
            <p:cNvSpPr txBox="1">
              <a:spLocks noChangeArrowheads="1"/>
            </p:cNvSpPr>
            <p:nvPr/>
          </p:nvSpPr>
          <p:spPr bwMode="auto">
            <a:xfrm>
              <a:off x="1314" y="1115"/>
              <a:ext cx="2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A</a:t>
              </a:r>
            </a:p>
          </p:txBody>
        </p:sp>
      </p:grpSp>
      <p:sp>
        <p:nvSpPr>
          <p:cNvPr id="22" name="Oval 17"/>
          <p:cNvSpPr>
            <a:spLocks noChangeArrowheads="1"/>
          </p:cNvSpPr>
          <p:nvPr/>
        </p:nvSpPr>
        <p:spPr bwMode="auto">
          <a:xfrm>
            <a:off x="3404539" y="1992313"/>
            <a:ext cx="381000" cy="381000"/>
          </a:xfrm>
          <a:prstGeom prst="ellipse">
            <a:avLst/>
          </a:prstGeom>
          <a:solidFill>
            <a:schemeClr val="bg1"/>
          </a:solidFill>
          <a:ln w="9525">
            <a:solidFill>
              <a:schemeClr val="tx1"/>
            </a:solidFill>
            <a:rou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23" name="Text Box 18"/>
          <p:cNvSpPr txBox="1">
            <a:spLocks noChangeArrowheads="1"/>
          </p:cNvSpPr>
          <p:nvPr/>
        </p:nvSpPr>
        <p:spPr bwMode="auto">
          <a:xfrm>
            <a:off x="3410889" y="2035175"/>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R1</a:t>
            </a:r>
          </a:p>
        </p:txBody>
      </p:sp>
      <p:sp>
        <p:nvSpPr>
          <p:cNvPr id="24" name="Oval 19"/>
          <p:cNvSpPr>
            <a:spLocks noChangeArrowheads="1"/>
          </p:cNvSpPr>
          <p:nvPr/>
        </p:nvSpPr>
        <p:spPr bwMode="auto">
          <a:xfrm>
            <a:off x="4268139" y="1644650"/>
            <a:ext cx="381000" cy="381000"/>
          </a:xfrm>
          <a:prstGeom prst="ellipse">
            <a:avLst/>
          </a:prstGeom>
          <a:solidFill>
            <a:schemeClr val="bg1"/>
          </a:solidFill>
          <a:ln w="9525">
            <a:solidFill>
              <a:schemeClr val="tx1"/>
            </a:solidFill>
            <a:rou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25" name="Text Box 20"/>
          <p:cNvSpPr txBox="1">
            <a:spLocks noChangeArrowheads="1"/>
          </p:cNvSpPr>
          <p:nvPr/>
        </p:nvSpPr>
        <p:spPr bwMode="auto">
          <a:xfrm>
            <a:off x="4268139" y="1687513"/>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R2</a:t>
            </a:r>
          </a:p>
        </p:txBody>
      </p:sp>
      <p:sp>
        <p:nvSpPr>
          <p:cNvPr id="26" name="Oval 21"/>
          <p:cNvSpPr>
            <a:spLocks noChangeArrowheads="1"/>
          </p:cNvSpPr>
          <p:nvPr/>
        </p:nvSpPr>
        <p:spPr bwMode="auto">
          <a:xfrm>
            <a:off x="4268139" y="2389188"/>
            <a:ext cx="381000" cy="381000"/>
          </a:xfrm>
          <a:prstGeom prst="ellipse">
            <a:avLst/>
          </a:prstGeom>
          <a:solidFill>
            <a:schemeClr val="bg1"/>
          </a:solidFill>
          <a:ln w="9525">
            <a:solidFill>
              <a:schemeClr val="tx1"/>
            </a:solidFill>
            <a:rou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27" name="Text Box 22"/>
          <p:cNvSpPr txBox="1">
            <a:spLocks noChangeArrowheads="1"/>
          </p:cNvSpPr>
          <p:nvPr/>
        </p:nvSpPr>
        <p:spPr bwMode="auto">
          <a:xfrm>
            <a:off x="4268139" y="2432050"/>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R4</a:t>
            </a:r>
          </a:p>
        </p:txBody>
      </p:sp>
      <p:sp>
        <p:nvSpPr>
          <p:cNvPr id="28" name="Oval 23"/>
          <p:cNvSpPr>
            <a:spLocks noChangeArrowheads="1"/>
          </p:cNvSpPr>
          <p:nvPr/>
        </p:nvSpPr>
        <p:spPr bwMode="auto">
          <a:xfrm>
            <a:off x="5131739" y="2008188"/>
            <a:ext cx="381000" cy="381000"/>
          </a:xfrm>
          <a:prstGeom prst="ellipse">
            <a:avLst/>
          </a:prstGeom>
          <a:solidFill>
            <a:schemeClr val="bg1"/>
          </a:solidFill>
          <a:ln w="9525">
            <a:solidFill>
              <a:schemeClr val="tx1"/>
            </a:solidFill>
            <a:rou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29" name="Text Box 24"/>
          <p:cNvSpPr txBox="1">
            <a:spLocks noChangeArrowheads="1"/>
          </p:cNvSpPr>
          <p:nvPr/>
        </p:nvSpPr>
        <p:spPr bwMode="auto">
          <a:xfrm>
            <a:off x="5131739" y="2051050"/>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R3</a:t>
            </a:r>
          </a:p>
        </p:txBody>
      </p:sp>
      <p:grpSp>
        <p:nvGrpSpPr>
          <p:cNvPr id="30" name="Group 25"/>
          <p:cNvGrpSpPr/>
          <p:nvPr/>
        </p:nvGrpSpPr>
        <p:grpSpPr bwMode="auto">
          <a:xfrm>
            <a:off x="6595414" y="1541463"/>
            <a:ext cx="381000" cy="381000"/>
            <a:chOff x="1296" y="1104"/>
            <a:chExt cx="240" cy="240"/>
          </a:xfrm>
        </p:grpSpPr>
        <p:sp>
          <p:nvSpPr>
            <p:cNvPr id="31" name="Oval 26"/>
            <p:cNvSpPr>
              <a:spLocks noChangeArrowheads="1"/>
            </p:cNvSpPr>
            <p:nvPr/>
          </p:nvSpPr>
          <p:spPr bwMode="auto">
            <a:xfrm>
              <a:off x="1296" y="1104"/>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600">
                <a:ea typeface="楷体_GB2312" pitchFamily="49" charset="-122"/>
                <a:cs typeface="Times New Roman" panose="02020603050405020304" pitchFamily="18" charset="0"/>
              </a:endParaRPr>
            </a:p>
          </p:txBody>
        </p:sp>
        <p:sp>
          <p:nvSpPr>
            <p:cNvPr id="32" name="Text Box 27"/>
            <p:cNvSpPr txBox="1">
              <a:spLocks noChangeArrowheads="1"/>
            </p:cNvSpPr>
            <p:nvPr/>
          </p:nvSpPr>
          <p:spPr bwMode="auto">
            <a:xfrm>
              <a:off x="1314" y="1115"/>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B</a:t>
              </a:r>
            </a:p>
          </p:txBody>
        </p:sp>
      </p:grpSp>
      <p:sp>
        <p:nvSpPr>
          <p:cNvPr id="33" name="Line 28"/>
          <p:cNvSpPr>
            <a:spLocks noChangeShapeType="1"/>
          </p:cNvSpPr>
          <p:nvPr/>
        </p:nvSpPr>
        <p:spPr bwMode="auto">
          <a:xfrm>
            <a:off x="2321864" y="1779588"/>
            <a:ext cx="1074738" cy="400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34" name="Line 29"/>
          <p:cNvSpPr>
            <a:spLocks noChangeShapeType="1"/>
          </p:cNvSpPr>
          <p:nvPr/>
        </p:nvSpPr>
        <p:spPr bwMode="auto">
          <a:xfrm flipV="1">
            <a:off x="5520677" y="1779588"/>
            <a:ext cx="1074737" cy="400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35" name="Line 30"/>
          <p:cNvSpPr>
            <a:spLocks noChangeShapeType="1"/>
          </p:cNvSpPr>
          <p:nvPr/>
        </p:nvSpPr>
        <p:spPr bwMode="auto">
          <a:xfrm>
            <a:off x="2540939" y="1779588"/>
            <a:ext cx="677863" cy="2635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36" name="Line 31"/>
          <p:cNvSpPr>
            <a:spLocks noChangeShapeType="1"/>
          </p:cNvSpPr>
          <p:nvPr/>
        </p:nvSpPr>
        <p:spPr bwMode="auto">
          <a:xfrm flipV="1">
            <a:off x="3852214" y="1870075"/>
            <a:ext cx="320675" cy="1635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37" name="Line 32"/>
          <p:cNvSpPr>
            <a:spLocks noChangeShapeType="1"/>
          </p:cNvSpPr>
          <p:nvPr/>
        </p:nvSpPr>
        <p:spPr bwMode="auto">
          <a:xfrm>
            <a:off x="4744389" y="1866900"/>
            <a:ext cx="331788" cy="1873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38" name="Line 33"/>
          <p:cNvSpPr>
            <a:spLocks noChangeShapeType="1"/>
          </p:cNvSpPr>
          <p:nvPr/>
        </p:nvSpPr>
        <p:spPr bwMode="auto">
          <a:xfrm flipV="1">
            <a:off x="5665139" y="1781175"/>
            <a:ext cx="736600" cy="2698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39" name="AutoShape 34" descr="Wide upward diagonal"/>
          <p:cNvSpPr>
            <a:spLocks noChangeArrowheads="1"/>
          </p:cNvSpPr>
          <p:nvPr/>
        </p:nvSpPr>
        <p:spPr bwMode="auto">
          <a:xfrm flipH="1">
            <a:off x="2947339" y="3133725"/>
            <a:ext cx="549275" cy="523875"/>
          </a:xfrm>
          <a:prstGeom prst="parallelogram">
            <a:avLst>
              <a:gd name="adj" fmla="val 52424"/>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40" name="AutoShape 35" descr="Wide upward diagonal"/>
          <p:cNvSpPr>
            <a:spLocks noChangeArrowheads="1"/>
          </p:cNvSpPr>
          <p:nvPr/>
        </p:nvSpPr>
        <p:spPr bwMode="auto">
          <a:xfrm flipH="1">
            <a:off x="3520427" y="3660775"/>
            <a:ext cx="463550" cy="454025"/>
          </a:xfrm>
          <a:prstGeom prst="parallelogram">
            <a:avLst>
              <a:gd name="adj" fmla="val 51049"/>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41" name="AutoShape 36" descr="Wide upward diagonal"/>
          <p:cNvSpPr>
            <a:spLocks noChangeArrowheads="1"/>
          </p:cNvSpPr>
          <p:nvPr/>
        </p:nvSpPr>
        <p:spPr bwMode="auto">
          <a:xfrm flipH="1">
            <a:off x="4014139" y="4116388"/>
            <a:ext cx="463550" cy="455612"/>
          </a:xfrm>
          <a:prstGeom prst="parallelogram">
            <a:avLst>
              <a:gd name="adj" fmla="val 50871"/>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42" name="AutoShape 37" descr="Wide upward diagonal"/>
          <p:cNvSpPr>
            <a:spLocks noChangeArrowheads="1"/>
          </p:cNvSpPr>
          <p:nvPr/>
        </p:nvSpPr>
        <p:spPr bwMode="auto">
          <a:xfrm flipH="1">
            <a:off x="4488802" y="4575175"/>
            <a:ext cx="549275" cy="517525"/>
          </a:xfrm>
          <a:prstGeom prst="parallelogram">
            <a:avLst>
              <a:gd name="adj" fmla="val 53067"/>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43" name="Text Box 38"/>
          <p:cNvSpPr txBox="1">
            <a:spLocks noChangeArrowheads="1"/>
          </p:cNvSpPr>
          <p:nvPr/>
        </p:nvSpPr>
        <p:spPr bwMode="auto">
          <a:xfrm>
            <a:off x="2842564" y="2879725"/>
            <a:ext cx="784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rPr>
              <a:t>TRANSP</a:t>
            </a:r>
            <a:r>
              <a:rPr kumimoji="0" lang="en-US" altLang="zh-CN" sz="900" i="1">
                <a:ea typeface="宋体" panose="02010600030101010101" pitchFamily="2" charset="-122"/>
              </a:rPr>
              <a:t>1</a:t>
            </a:r>
            <a:endParaRPr kumimoji="0" lang="en-US" altLang="zh-CN" sz="1200" i="1">
              <a:ea typeface="宋体" panose="02010600030101010101" pitchFamily="2" charset="-122"/>
            </a:endParaRPr>
          </a:p>
        </p:txBody>
      </p:sp>
      <p:sp>
        <p:nvSpPr>
          <p:cNvPr id="44" name="Text Box 39"/>
          <p:cNvSpPr txBox="1">
            <a:spLocks noChangeArrowheads="1"/>
          </p:cNvSpPr>
          <p:nvPr/>
        </p:nvSpPr>
        <p:spPr bwMode="auto">
          <a:xfrm>
            <a:off x="3445814" y="3400425"/>
            <a:ext cx="784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dirty="0">
                <a:ea typeface="宋体" panose="02010600030101010101" pitchFamily="2" charset="-122"/>
              </a:rPr>
              <a:t>TRANSP</a:t>
            </a:r>
            <a:r>
              <a:rPr kumimoji="0" lang="en-US" altLang="zh-CN" sz="900" i="1" dirty="0">
                <a:ea typeface="宋体" panose="02010600030101010101" pitchFamily="2" charset="-122"/>
              </a:rPr>
              <a:t>2</a:t>
            </a:r>
            <a:endParaRPr kumimoji="0" lang="en-US" altLang="zh-CN" sz="1200" i="1" dirty="0">
              <a:ea typeface="宋体" panose="02010600030101010101" pitchFamily="2" charset="-122"/>
            </a:endParaRPr>
          </a:p>
        </p:txBody>
      </p:sp>
      <p:sp>
        <p:nvSpPr>
          <p:cNvPr id="45" name="Text Box 40"/>
          <p:cNvSpPr txBox="1">
            <a:spLocks noChangeArrowheads="1"/>
          </p:cNvSpPr>
          <p:nvPr/>
        </p:nvSpPr>
        <p:spPr bwMode="auto">
          <a:xfrm>
            <a:off x="3998264" y="3889375"/>
            <a:ext cx="784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rPr>
              <a:t>TRANSP</a:t>
            </a:r>
            <a:r>
              <a:rPr kumimoji="0" lang="en-US" altLang="zh-CN" sz="900" i="1">
                <a:ea typeface="宋体" panose="02010600030101010101" pitchFamily="2" charset="-122"/>
              </a:rPr>
              <a:t>3</a:t>
            </a:r>
            <a:endParaRPr kumimoji="0" lang="en-US" altLang="zh-CN" sz="1200" i="1">
              <a:ea typeface="宋体" panose="02010600030101010101" pitchFamily="2" charset="-122"/>
            </a:endParaRPr>
          </a:p>
        </p:txBody>
      </p:sp>
      <p:sp>
        <p:nvSpPr>
          <p:cNvPr id="46" name="Text Box 41"/>
          <p:cNvSpPr txBox="1">
            <a:spLocks noChangeArrowheads="1"/>
          </p:cNvSpPr>
          <p:nvPr/>
        </p:nvSpPr>
        <p:spPr bwMode="auto">
          <a:xfrm>
            <a:off x="4363389" y="4325938"/>
            <a:ext cx="7842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rPr>
              <a:t>TRANSP</a:t>
            </a:r>
            <a:r>
              <a:rPr kumimoji="0" lang="en-US" altLang="zh-CN" sz="900" i="1">
                <a:ea typeface="宋体" panose="02010600030101010101" pitchFamily="2" charset="-122"/>
              </a:rPr>
              <a:t>4</a:t>
            </a:r>
            <a:endParaRPr kumimoji="0" lang="en-US" altLang="zh-CN" sz="1200" i="1">
              <a:ea typeface="宋体" panose="02010600030101010101" pitchFamily="2" charset="-122"/>
            </a:endParaRPr>
          </a:p>
        </p:txBody>
      </p:sp>
      <p:sp>
        <p:nvSpPr>
          <p:cNvPr id="47" name="Line 42"/>
          <p:cNvSpPr>
            <a:spLocks noChangeShapeType="1"/>
          </p:cNvSpPr>
          <p:nvPr/>
        </p:nvSpPr>
        <p:spPr bwMode="auto">
          <a:xfrm>
            <a:off x="2947339" y="3124200"/>
            <a:ext cx="0" cy="5334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3"/>
          <p:cNvSpPr>
            <a:spLocks noChangeShapeType="1"/>
          </p:cNvSpPr>
          <p:nvPr/>
        </p:nvSpPr>
        <p:spPr bwMode="auto">
          <a:xfrm>
            <a:off x="2945752" y="3733800"/>
            <a:ext cx="271462"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44"/>
          <p:cNvSpPr>
            <a:spLocks noChangeShapeType="1"/>
          </p:cNvSpPr>
          <p:nvPr/>
        </p:nvSpPr>
        <p:spPr bwMode="auto">
          <a:xfrm>
            <a:off x="2947339" y="364490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5"/>
          <p:cNvSpPr>
            <a:spLocks noChangeShapeType="1"/>
          </p:cNvSpPr>
          <p:nvPr/>
        </p:nvSpPr>
        <p:spPr bwMode="auto">
          <a:xfrm>
            <a:off x="3217214" y="365125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Text Box 46"/>
          <p:cNvSpPr txBox="1">
            <a:spLocks noChangeArrowheads="1"/>
          </p:cNvSpPr>
          <p:nvPr/>
        </p:nvSpPr>
        <p:spPr bwMode="auto">
          <a:xfrm>
            <a:off x="2753664" y="3762375"/>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rPr>
              <a:t>PROP</a:t>
            </a:r>
            <a:r>
              <a:rPr kumimoji="0" lang="en-US" altLang="zh-CN" sz="700" i="1">
                <a:ea typeface="宋体" panose="02010600030101010101" pitchFamily="2" charset="-122"/>
              </a:rPr>
              <a:t>1</a:t>
            </a:r>
            <a:endParaRPr kumimoji="0" lang="en-US" altLang="zh-CN" sz="900" i="1">
              <a:ea typeface="宋体" panose="02010600030101010101" pitchFamily="2" charset="-122"/>
            </a:endParaRPr>
          </a:p>
        </p:txBody>
      </p:sp>
      <p:sp>
        <p:nvSpPr>
          <p:cNvPr id="52" name="Line 47"/>
          <p:cNvSpPr>
            <a:spLocks noChangeShapeType="1"/>
          </p:cNvSpPr>
          <p:nvPr/>
        </p:nvSpPr>
        <p:spPr bwMode="auto">
          <a:xfrm>
            <a:off x="3515664" y="3657600"/>
            <a:ext cx="0" cy="4445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48"/>
          <p:cNvSpPr>
            <a:spLocks noChangeShapeType="1"/>
          </p:cNvSpPr>
          <p:nvPr/>
        </p:nvSpPr>
        <p:spPr bwMode="auto">
          <a:xfrm>
            <a:off x="3520427" y="4178300"/>
            <a:ext cx="227012"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49"/>
          <p:cNvSpPr>
            <a:spLocks noChangeShapeType="1"/>
          </p:cNvSpPr>
          <p:nvPr/>
        </p:nvSpPr>
        <p:spPr bwMode="auto">
          <a:xfrm>
            <a:off x="3515664" y="408940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50"/>
          <p:cNvSpPr>
            <a:spLocks noChangeShapeType="1"/>
          </p:cNvSpPr>
          <p:nvPr/>
        </p:nvSpPr>
        <p:spPr bwMode="auto">
          <a:xfrm>
            <a:off x="3747439" y="409575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Text Box 51"/>
          <p:cNvSpPr txBox="1">
            <a:spLocks noChangeArrowheads="1"/>
          </p:cNvSpPr>
          <p:nvPr/>
        </p:nvSpPr>
        <p:spPr bwMode="auto">
          <a:xfrm>
            <a:off x="3363264" y="4205288"/>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rPr>
              <a:t>PROP</a:t>
            </a:r>
            <a:r>
              <a:rPr kumimoji="0" lang="en-US" altLang="zh-CN" sz="700" i="1">
                <a:ea typeface="宋体" panose="02010600030101010101" pitchFamily="2" charset="-122"/>
              </a:rPr>
              <a:t>2</a:t>
            </a:r>
            <a:endParaRPr kumimoji="0" lang="en-US" altLang="zh-CN" sz="900" i="1">
              <a:ea typeface="宋体" panose="02010600030101010101" pitchFamily="2" charset="-122"/>
            </a:endParaRPr>
          </a:p>
        </p:txBody>
      </p:sp>
      <p:sp>
        <p:nvSpPr>
          <p:cNvPr id="57" name="Line 52"/>
          <p:cNvSpPr>
            <a:spLocks noChangeShapeType="1"/>
          </p:cNvSpPr>
          <p:nvPr/>
        </p:nvSpPr>
        <p:spPr bwMode="auto">
          <a:xfrm>
            <a:off x="4014139" y="409575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53"/>
          <p:cNvSpPr>
            <a:spLocks noChangeShapeType="1"/>
          </p:cNvSpPr>
          <p:nvPr/>
        </p:nvSpPr>
        <p:spPr bwMode="auto">
          <a:xfrm>
            <a:off x="3983977" y="408940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4"/>
          <p:cNvSpPr>
            <a:spLocks noChangeShapeType="1"/>
          </p:cNvSpPr>
          <p:nvPr/>
        </p:nvSpPr>
        <p:spPr bwMode="auto">
          <a:xfrm>
            <a:off x="4012552" y="410210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55"/>
          <p:cNvSpPr>
            <a:spLocks noChangeShapeType="1"/>
          </p:cNvSpPr>
          <p:nvPr/>
        </p:nvSpPr>
        <p:spPr bwMode="auto">
          <a:xfrm>
            <a:off x="4014139" y="4127500"/>
            <a:ext cx="0" cy="4445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56"/>
          <p:cNvSpPr>
            <a:spLocks noChangeShapeType="1"/>
          </p:cNvSpPr>
          <p:nvPr/>
        </p:nvSpPr>
        <p:spPr bwMode="auto">
          <a:xfrm>
            <a:off x="4014139" y="4648200"/>
            <a:ext cx="22225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57"/>
          <p:cNvSpPr>
            <a:spLocks noChangeShapeType="1"/>
          </p:cNvSpPr>
          <p:nvPr/>
        </p:nvSpPr>
        <p:spPr bwMode="auto">
          <a:xfrm>
            <a:off x="4014139" y="4556125"/>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Text Box 58"/>
          <p:cNvSpPr txBox="1">
            <a:spLocks noChangeArrowheads="1"/>
          </p:cNvSpPr>
          <p:nvPr/>
        </p:nvSpPr>
        <p:spPr bwMode="auto">
          <a:xfrm>
            <a:off x="3820464" y="4673600"/>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rPr>
              <a:t>PROP</a:t>
            </a:r>
            <a:r>
              <a:rPr kumimoji="0" lang="en-US" altLang="zh-CN" sz="700" i="1">
                <a:ea typeface="宋体" panose="02010600030101010101" pitchFamily="2" charset="-122"/>
              </a:rPr>
              <a:t>3</a:t>
            </a:r>
            <a:endParaRPr kumimoji="0" lang="en-US" altLang="zh-CN" sz="900" i="1">
              <a:ea typeface="宋体" panose="02010600030101010101" pitchFamily="2" charset="-122"/>
            </a:endParaRPr>
          </a:p>
        </p:txBody>
      </p:sp>
      <p:sp>
        <p:nvSpPr>
          <p:cNvPr id="64" name="Line 59"/>
          <p:cNvSpPr>
            <a:spLocks noChangeShapeType="1"/>
          </p:cNvSpPr>
          <p:nvPr/>
        </p:nvSpPr>
        <p:spPr bwMode="auto">
          <a:xfrm>
            <a:off x="4487214" y="4619625"/>
            <a:ext cx="0" cy="4445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60"/>
          <p:cNvSpPr>
            <a:spLocks noChangeShapeType="1"/>
          </p:cNvSpPr>
          <p:nvPr/>
        </p:nvSpPr>
        <p:spPr bwMode="auto">
          <a:xfrm>
            <a:off x="4499914" y="5181600"/>
            <a:ext cx="269875"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1"/>
          <p:cNvSpPr>
            <a:spLocks noChangeShapeType="1"/>
          </p:cNvSpPr>
          <p:nvPr/>
        </p:nvSpPr>
        <p:spPr bwMode="auto">
          <a:xfrm>
            <a:off x="4487214" y="510540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62"/>
          <p:cNvSpPr>
            <a:spLocks noChangeShapeType="1"/>
          </p:cNvSpPr>
          <p:nvPr/>
        </p:nvSpPr>
        <p:spPr bwMode="auto">
          <a:xfrm>
            <a:off x="4766614" y="5105400"/>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Text Box 63"/>
          <p:cNvSpPr txBox="1">
            <a:spLocks noChangeArrowheads="1"/>
          </p:cNvSpPr>
          <p:nvPr/>
        </p:nvSpPr>
        <p:spPr bwMode="auto">
          <a:xfrm>
            <a:off x="4331639" y="5202238"/>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rPr>
              <a:t>PROP</a:t>
            </a:r>
            <a:r>
              <a:rPr kumimoji="0" lang="en-US" altLang="zh-CN" sz="700" i="1">
                <a:ea typeface="宋体" panose="02010600030101010101" pitchFamily="2" charset="-122"/>
              </a:rPr>
              <a:t>4</a:t>
            </a:r>
            <a:endParaRPr kumimoji="0" lang="en-US" altLang="zh-CN" sz="900" i="1">
              <a:ea typeface="宋体" panose="02010600030101010101" pitchFamily="2" charset="-122"/>
            </a:endParaRPr>
          </a:p>
        </p:txBody>
      </p:sp>
      <p:sp>
        <p:nvSpPr>
          <p:cNvPr id="69" name="Text Box 64"/>
          <p:cNvSpPr txBox="1">
            <a:spLocks noChangeArrowheads="1"/>
          </p:cNvSpPr>
          <p:nvPr/>
        </p:nvSpPr>
        <p:spPr bwMode="auto">
          <a:xfrm>
            <a:off x="1414749" y="1522879"/>
            <a:ext cx="5397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FontTx/>
              <a:buNone/>
            </a:pPr>
            <a:r>
              <a:rPr lang="en-US" altLang="zh-CN" sz="1600" dirty="0">
                <a:ea typeface="宋体" panose="02010600030101010101" pitchFamily="2" charset="-122"/>
                <a:cs typeface="Times New Roman" panose="02020603050405020304" pitchFamily="18" charset="0"/>
              </a:rPr>
              <a:t> </a:t>
            </a:r>
            <a:r>
              <a:rPr lang="zh-CN" altLang="en-US" sz="1600" dirty="0">
                <a:ea typeface="宋体" panose="02010600030101010101" pitchFamily="2" charset="-122"/>
                <a:cs typeface="Times New Roman" panose="02020603050405020304" pitchFamily="18" charset="0"/>
              </a:rPr>
              <a:t>源</a:t>
            </a:r>
            <a:endParaRPr kumimoji="0" lang="en-US" altLang="zh-CN" sz="1600" dirty="0">
              <a:ea typeface="宋体" panose="02010600030101010101" pitchFamily="2" charset="-122"/>
              <a:cs typeface="Times New Roman" panose="02020603050405020304" pitchFamily="18" charset="0"/>
            </a:endParaRPr>
          </a:p>
        </p:txBody>
      </p:sp>
      <p:sp>
        <p:nvSpPr>
          <p:cNvPr id="71" name="Text Box 66"/>
          <p:cNvSpPr txBox="1">
            <a:spLocks noChangeArrowheads="1"/>
          </p:cNvSpPr>
          <p:nvPr/>
        </p:nvSpPr>
        <p:spPr bwMode="auto">
          <a:xfrm>
            <a:off x="6233464" y="3200400"/>
            <a:ext cx="1870635" cy="646331"/>
          </a:xfrm>
          <a:prstGeom prst="rect">
            <a:avLst/>
          </a:prstGeom>
          <a:solidFill>
            <a:schemeClr val="accent6">
              <a:lumMod val="20000"/>
              <a:lumOff val="80000"/>
            </a:schemeClr>
          </a:solidFill>
          <a:ln>
            <a:noFill/>
          </a:ln>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SzPct val="150000"/>
              <a:buFontTx/>
              <a:buNone/>
            </a:pPr>
            <a:r>
              <a:rPr kumimoji="0" lang="zh-CN" altLang="en-US" sz="1800" b="1" dirty="0">
                <a:latin typeface="Comic Sans MS" panose="030F0702030302020204" pitchFamily="66" charset="0"/>
                <a:ea typeface="宋体" panose="02010600030101010101" pitchFamily="2" charset="-122"/>
              </a:rPr>
              <a:t>每个路由器执行存储转发机制</a:t>
            </a:r>
            <a:endParaRPr kumimoji="0" lang="en-US" altLang="zh-CN" sz="1800" b="1" dirty="0">
              <a:latin typeface="Comic Sans MS" panose="030F0702030302020204" pitchFamily="66"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4" name="文本框 3"/>
              <p:cNvSpPr txBox="1"/>
              <p:nvPr/>
            </p:nvSpPr>
            <p:spPr>
              <a:xfrm>
                <a:off x="787218" y="5710536"/>
                <a:ext cx="7380942" cy="461665"/>
              </a:xfrm>
              <a:prstGeom prst="rect">
                <a:avLst/>
              </a:prstGeom>
              <a:noFill/>
            </p:spPr>
            <p:txBody>
              <a:bodyPr wrap="square" rtlCol="0">
                <a:spAutoFit/>
              </a:bodyPr>
              <a:lstStyle/>
              <a:p>
                <a:pPr algn="ctr"/>
                <a:r>
                  <a:rPr lang="zh-CN" altLang="en-US" sz="2400" dirty="0"/>
                  <a:t>最小端端延迟：</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𝐿𝑎𝑡𝑒𝑛𝑐𝑦</m:t>
                        </m:r>
                      </m:e>
                      <m:sub>
                        <m:r>
                          <a:rPr lang="en-US" altLang="zh-CN" sz="2400" b="0" i="1" smtClean="0">
                            <a:latin typeface="Cambria Math" panose="02040503050406030204" pitchFamily="18" charset="0"/>
                          </a:rPr>
                          <m:t>𝑚𝑖𝑛</m:t>
                        </m:r>
                      </m:sub>
                    </m:sSub>
                    <m:r>
                      <a:rPr lang="en-US" altLang="zh-CN" sz="2400" b="0" i="0" smtClean="0">
                        <a:latin typeface="Cambria Math" panose="02040503050406030204" pitchFamily="18" charset="0"/>
                      </a:rPr>
                      <m:t>=</m:t>
                    </m:r>
                    <m:nary>
                      <m:naryPr>
                        <m:chr m:val="∑"/>
                        <m:subHide m:val="on"/>
                        <m:supHide m:val="on"/>
                        <m:ctrlPr>
                          <a:rPr lang="en-US" altLang="zh-CN" sz="2400" b="0" i="1" smtClean="0">
                            <a:latin typeface="Cambria Math" panose="02040503050406030204" pitchFamily="18" charset="0"/>
                          </a:rPr>
                        </m:ctrlPr>
                      </m:naryPr>
                      <m:sub/>
                      <m:sup/>
                      <m:e>
                        <m:d>
                          <m:dPr>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𝑇𝑅𝐴𝑁𝑆𝑃</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𝑃𝑅𝑂𝑃</m:t>
                                </m:r>
                              </m:e>
                              <m:sub>
                                <m:r>
                                  <a:rPr lang="en-US" altLang="zh-CN" sz="2400" i="1">
                                    <a:latin typeface="Cambria Math" panose="02040503050406030204" pitchFamily="18" charset="0"/>
                                  </a:rPr>
                                  <m:t>𝑖</m:t>
                                </m:r>
                              </m:sub>
                            </m:sSub>
                          </m:e>
                        </m:d>
                      </m:e>
                    </m:nary>
                  </m:oMath>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787218" y="5710536"/>
                <a:ext cx="7380942" cy="461665"/>
              </a:xfrm>
              <a:prstGeom prst="rect">
                <a:avLst/>
              </a:prstGeom>
              <a:blipFill rotWithShape="1">
                <a:blip r:embed="rId6"/>
                <a:stretch>
                  <a:fillRect l="-6" t="-133" r="2"/>
                </a:stretch>
              </a:blipFill>
            </p:spPr>
            <p:txBody>
              <a:bodyPr/>
              <a:lstStyle/>
              <a:p>
                <a:r>
                  <a:rPr lang="zh-CN" altLang="en-US">
                    <a:noFill/>
                  </a:rPr>
                  <a:t> </a:t>
                </a:r>
              </a:p>
            </p:txBody>
          </p:sp>
        </mc:Fallback>
      </mc:AlternateContent>
      <p:sp>
        <p:nvSpPr>
          <p:cNvPr id="5" name="文本框 4"/>
          <p:cNvSpPr txBox="1"/>
          <p:nvPr/>
        </p:nvSpPr>
        <p:spPr>
          <a:xfrm>
            <a:off x="4952250" y="6019820"/>
            <a:ext cx="253253" cy="369332"/>
          </a:xfrm>
          <a:prstGeom prst="rect">
            <a:avLst/>
          </a:prstGeom>
          <a:noFill/>
        </p:spPr>
        <p:txBody>
          <a:bodyPr wrap="square" rtlCol="0">
            <a:spAutoFit/>
          </a:bodyPr>
          <a:lstStyle/>
          <a:p>
            <a:r>
              <a:rPr lang="en-US" altLang="zh-CN" i="1" dirty="0" err="1">
                <a:latin typeface="Times New Roman" panose="02020603050405020304" pitchFamily="18" charset="0"/>
                <a:cs typeface="Times New Roman" panose="02020603050405020304" pitchFamily="18" charset="0"/>
              </a:rPr>
              <a:t>i</a:t>
            </a:r>
            <a:endParaRPr lang="zh-CN" altLang="en-US" i="1" dirty="0">
              <a:latin typeface="Times New Roman" panose="02020603050405020304" pitchFamily="18" charset="0"/>
              <a:cs typeface="Times New Roman" panose="02020603050405020304" pitchFamily="18" charset="0"/>
            </a:endParaRPr>
          </a:p>
        </p:txBody>
      </p:sp>
      <p:sp>
        <p:nvSpPr>
          <p:cNvPr id="66560" name="Text Box 64"/>
          <p:cNvSpPr txBox="1">
            <a:spLocks noChangeArrowheads="1"/>
          </p:cNvSpPr>
          <p:nvPr/>
        </p:nvSpPr>
        <p:spPr bwMode="auto">
          <a:xfrm>
            <a:off x="6897133" y="1491881"/>
            <a:ext cx="7549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lang="en-US" altLang="zh-CN" sz="1600" dirty="0">
                <a:ea typeface="宋体" panose="02010600030101010101" pitchFamily="2" charset="-122"/>
                <a:cs typeface="Times New Roman" panose="02020603050405020304" pitchFamily="18" charset="0"/>
              </a:rPr>
              <a:t> </a:t>
            </a:r>
            <a:r>
              <a:rPr lang="zh-CN" altLang="en-US" sz="1600" dirty="0">
                <a:ea typeface="宋体" panose="02010600030101010101" pitchFamily="2" charset="-122"/>
                <a:cs typeface="Times New Roman" panose="02020603050405020304" pitchFamily="18" charset="0"/>
              </a:rPr>
              <a:t>目的</a:t>
            </a:r>
            <a:endParaRPr kumimoji="0" lang="en-US" altLang="zh-CN" sz="1600" dirty="0">
              <a:ea typeface="宋体" panose="02010600030101010101" pitchFamily="2"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8"/>
            <a:ext cx="8206327" cy="723899"/>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1" name="Text Box 54"/>
          <p:cNvSpPr txBox="1">
            <a:spLocks noChangeArrowheads="1"/>
          </p:cNvSpPr>
          <p:nvPr/>
        </p:nvSpPr>
        <p:spPr bwMode="auto">
          <a:xfrm>
            <a:off x="395288" y="1530737"/>
            <a:ext cx="83550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SzPct val="150000"/>
              <a:buFontTx/>
              <a:buNone/>
            </a:pPr>
            <a:r>
              <a:rPr kumimoji="0" lang="en-US" altLang="zh-CN" sz="2100" dirty="0">
                <a:latin typeface="Comic Sans MS" panose="030F0702030302020204" pitchFamily="66" charset="0"/>
                <a:ea typeface="宋体" panose="02010600030101010101" pitchFamily="2" charset="-122"/>
              </a:rPr>
              <a:t> </a:t>
            </a:r>
            <a:r>
              <a:rPr kumimoji="0" lang="zh-CN" altLang="en-US" sz="2100" b="1" dirty="0">
                <a:solidFill>
                  <a:srgbClr val="FF0000"/>
                </a:solidFill>
                <a:latin typeface="Comic Sans MS" panose="030F0702030302020204" pitchFamily="66" charset="0"/>
                <a:ea typeface="宋体" panose="02010600030101010101" pitchFamily="2" charset="-122"/>
              </a:rPr>
              <a:t>问题</a:t>
            </a:r>
            <a:r>
              <a:rPr lang="zh-CN" altLang="en-US" sz="2100" dirty="0">
                <a:solidFill>
                  <a:srgbClr val="FF0000"/>
                </a:solidFill>
                <a:latin typeface="Comic Sans MS" panose="030F0702030302020204" pitchFamily="66" charset="0"/>
                <a:ea typeface="宋体" panose="02010600030101010101" pitchFamily="2" charset="-122"/>
              </a:rPr>
              <a:t>：</a:t>
            </a:r>
            <a:r>
              <a:rPr lang="zh-CN" altLang="en-US" sz="2100" dirty="0">
                <a:ea typeface="宋体" panose="02010600030101010101" pitchFamily="2" charset="-122"/>
                <a:cs typeface="Times New Roman" panose="02020603050405020304" pitchFamily="18" charset="0"/>
              </a:rPr>
              <a:t>为什么不直接发送报文</a:t>
            </a:r>
            <a:r>
              <a:rPr lang="zh-CN" altLang="en-US" sz="2100" dirty="0">
                <a:ea typeface="楷体_GB2312" pitchFamily="49" charset="-122"/>
                <a:cs typeface="Times New Roman" panose="02020603050405020304" pitchFamily="18" charset="0"/>
              </a:rPr>
              <a:t>（</a:t>
            </a:r>
            <a:r>
              <a:rPr lang="en-US" altLang="zh-CN" sz="2100" dirty="0">
                <a:ea typeface="楷体_GB2312" pitchFamily="49" charset="-122"/>
                <a:cs typeface="Times New Roman" panose="02020603050405020304" pitchFamily="18" charset="0"/>
              </a:rPr>
              <a:t>message</a:t>
            </a:r>
            <a:r>
              <a:rPr lang="zh-CN" altLang="en-US" sz="2100" dirty="0">
                <a:ea typeface="楷体_GB2312" pitchFamily="49" charset="-122"/>
                <a:cs typeface="Times New Roman" panose="02020603050405020304" pitchFamily="18" charset="0"/>
              </a:rPr>
              <a:t>），</a:t>
            </a:r>
            <a:r>
              <a:rPr lang="zh-CN" altLang="en-US" sz="2100" dirty="0">
                <a:ea typeface="宋体" panose="02010600030101010101" pitchFamily="2" charset="-122"/>
                <a:cs typeface="Times New Roman" panose="02020603050405020304" pitchFamily="18" charset="0"/>
              </a:rPr>
              <a:t>而使用报文分组</a:t>
            </a:r>
            <a:r>
              <a:rPr lang="zh-CN" altLang="en-US" sz="2100" dirty="0">
                <a:ea typeface="楷体_GB2312" pitchFamily="49" charset="-122"/>
                <a:cs typeface="Times New Roman" panose="02020603050405020304" pitchFamily="18" charset="0"/>
              </a:rPr>
              <a:t>（</a:t>
            </a:r>
            <a:r>
              <a:rPr lang="en-US" altLang="zh-CN" sz="2100" dirty="0">
                <a:ea typeface="楷体_GB2312" pitchFamily="49" charset="-122"/>
                <a:cs typeface="Times New Roman" panose="02020603050405020304" pitchFamily="18" charset="0"/>
              </a:rPr>
              <a:t>packet</a:t>
            </a:r>
            <a:r>
              <a:rPr lang="zh-CN" altLang="en-US" sz="2100" dirty="0">
                <a:ea typeface="楷体_GB2312" pitchFamily="49" charset="-122"/>
                <a:cs typeface="Times New Roman" panose="02020603050405020304" pitchFamily="18" charset="0"/>
              </a:rPr>
              <a:t>）</a:t>
            </a:r>
            <a:endParaRPr lang="en-US" altLang="zh-CN" sz="2100" dirty="0">
              <a:ea typeface="宋体" panose="02010600030101010101" pitchFamily="2" charset="-122"/>
              <a:cs typeface="Times New Roman" panose="02020603050405020304" pitchFamily="18" charset="0"/>
            </a:endParaRPr>
          </a:p>
        </p:txBody>
      </p:sp>
      <p:sp>
        <p:nvSpPr>
          <p:cNvPr id="66562" name="Text Box 4"/>
          <p:cNvSpPr txBox="1">
            <a:spLocks noChangeArrowheads="1"/>
          </p:cNvSpPr>
          <p:nvPr/>
        </p:nvSpPr>
        <p:spPr bwMode="auto">
          <a:xfrm>
            <a:off x="5105406" y="2290767"/>
            <a:ext cx="8323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1800" dirty="0">
                <a:ea typeface="宋体" panose="02010600030101010101" pitchFamily="2" charset="-122"/>
                <a:cs typeface="Times New Roman" panose="02020603050405020304" pitchFamily="18" charset="0"/>
              </a:rPr>
              <a:t>主机</a:t>
            </a:r>
            <a:r>
              <a:rPr kumimoji="0" lang="en-US" altLang="zh-CN" sz="1800" dirty="0">
                <a:ea typeface="宋体" panose="02010600030101010101" pitchFamily="2" charset="-122"/>
                <a:cs typeface="Times New Roman" panose="02020603050405020304" pitchFamily="18" charset="0"/>
              </a:rPr>
              <a:t>A</a:t>
            </a:r>
          </a:p>
        </p:txBody>
      </p:sp>
      <p:sp>
        <p:nvSpPr>
          <p:cNvPr id="66563" name="Text Box 5"/>
          <p:cNvSpPr txBox="1">
            <a:spLocks noChangeArrowheads="1"/>
          </p:cNvSpPr>
          <p:nvPr/>
        </p:nvSpPr>
        <p:spPr bwMode="auto">
          <a:xfrm>
            <a:off x="5105406" y="3651254"/>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1800" dirty="0">
                <a:ea typeface="宋体" panose="02010600030101010101" pitchFamily="2" charset="-122"/>
                <a:cs typeface="Times New Roman" panose="02020603050405020304" pitchFamily="18" charset="0"/>
              </a:rPr>
              <a:t>主机</a:t>
            </a:r>
            <a:r>
              <a:rPr kumimoji="0" lang="en-US" altLang="zh-CN" sz="1800" dirty="0">
                <a:ea typeface="宋体" panose="02010600030101010101" pitchFamily="2" charset="-122"/>
                <a:cs typeface="Times New Roman" panose="02020603050405020304" pitchFamily="18" charset="0"/>
              </a:rPr>
              <a:t>B</a:t>
            </a:r>
          </a:p>
        </p:txBody>
      </p:sp>
      <p:grpSp>
        <p:nvGrpSpPr>
          <p:cNvPr id="127" name="组合 126"/>
          <p:cNvGrpSpPr/>
          <p:nvPr/>
        </p:nvGrpSpPr>
        <p:grpSpPr>
          <a:xfrm>
            <a:off x="5943606" y="2452688"/>
            <a:ext cx="2463797" cy="1387475"/>
            <a:chOff x="5595938" y="2452688"/>
            <a:chExt cx="2895600" cy="1387475"/>
          </a:xfrm>
        </p:grpSpPr>
        <p:sp>
          <p:nvSpPr>
            <p:cNvPr id="66565" name="Line 6"/>
            <p:cNvSpPr>
              <a:spLocks noChangeShapeType="1"/>
            </p:cNvSpPr>
            <p:nvPr/>
          </p:nvSpPr>
          <p:spPr bwMode="auto">
            <a:xfrm>
              <a:off x="5595938" y="2452688"/>
              <a:ext cx="28956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566" name="Line 7"/>
            <p:cNvSpPr>
              <a:spLocks noChangeShapeType="1"/>
            </p:cNvSpPr>
            <p:nvPr/>
          </p:nvSpPr>
          <p:spPr bwMode="auto">
            <a:xfrm>
              <a:off x="5595938" y="3840163"/>
              <a:ext cx="28956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567" name="Line 8"/>
            <p:cNvSpPr>
              <a:spLocks noChangeShapeType="1"/>
            </p:cNvSpPr>
            <p:nvPr/>
          </p:nvSpPr>
          <p:spPr bwMode="auto">
            <a:xfrm>
              <a:off x="5595938" y="2800350"/>
              <a:ext cx="2895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8" name="Line 9"/>
            <p:cNvSpPr>
              <a:spLocks noChangeShapeType="1"/>
            </p:cNvSpPr>
            <p:nvPr/>
          </p:nvSpPr>
          <p:spPr bwMode="auto">
            <a:xfrm>
              <a:off x="5595938" y="3146425"/>
              <a:ext cx="2895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9" name="Line 10"/>
            <p:cNvSpPr>
              <a:spLocks noChangeShapeType="1"/>
            </p:cNvSpPr>
            <p:nvPr/>
          </p:nvSpPr>
          <p:spPr bwMode="auto">
            <a:xfrm>
              <a:off x="5595938" y="3494088"/>
              <a:ext cx="2895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6570" name="Text Box 11"/>
          <p:cNvSpPr txBox="1">
            <a:spLocks noChangeArrowheads="1"/>
          </p:cNvSpPr>
          <p:nvPr/>
        </p:nvSpPr>
        <p:spPr bwMode="auto">
          <a:xfrm>
            <a:off x="5648331" y="2667004"/>
            <a:ext cx="3642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dirty="0">
                <a:ea typeface="宋体" panose="02010600030101010101" pitchFamily="2" charset="-122"/>
                <a:cs typeface="Times New Roman" panose="02020603050405020304" pitchFamily="18" charset="0"/>
              </a:rPr>
              <a:t>R1</a:t>
            </a:r>
          </a:p>
        </p:txBody>
      </p:sp>
      <p:sp>
        <p:nvSpPr>
          <p:cNvPr id="66571" name="Text Box 12"/>
          <p:cNvSpPr txBox="1">
            <a:spLocks noChangeArrowheads="1"/>
          </p:cNvSpPr>
          <p:nvPr/>
        </p:nvSpPr>
        <p:spPr bwMode="auto">
          <a:xfrm>
            <a:off x="5648331" y="2987679"/>
            <a:ext cx="3730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a:ea typeface="宋体" panose="02010600030101010101" pitchFamily="2" charset="-122"/>
                <a:cs typeface="Times New Roman" panose="02020603050405020304" pitchFamily="18" charset="0"/>
              </a:rPr>
              <a:t>R2</a:t>
            </a:r>
          </a:p>
        </p:txBody>
      </p:sp>
      <p:sp>
        <p:nvSpPr>
          <p:cNvPr id="66572" name="Text Box 13"/>
          <p:cNvSpPr txBox="1">
            <a:spLocks noChangeArrowheads="1"/>
          </p:cNvSpPr>
          <p:nvPr/>
        </p:nvSpPr>
        <p:spPr bwMode="auto">
          <a:xfrm>
            <a:off x="5648331" y="3333754"/>
            <a:ext cx="3730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a:ea typeface="宋体" panose="02010600030101010101" pitchFamily="2" charset="-122"/>
                <a:cs typeface="Times New Roman" panose="02020603050405020304" pitchFamily="18" charset="0"/>
              </a:rPr>
              <a:t>R3</a:t>
            </a:r>
          </a:p>
        </p:txBody>
      </p:sp>
      <p:sp>
        <p:nvSpPr>
          <p:cNvPr id="66573" name="Line 14"/>
          <p:cNvSpPr>
            <a:spLocks noChangeShapeType="1"/>
          </p:cNvSpPr>
          <p:nvPr/>
        </p:nvSpPr>
        <p:spPr bwMode="auto">
          <a:xfrm>
            <a:off x="6135694" y="2338388"/>
            <a:ext cx="76410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74" name="Text Box 15"/>
          <p:cNvSpPr txBox="1">
            <a:spLocks noChangeArrowheads="1"/>
          </p:cNvSpPr>
          <p:nvPr/>
        </p:nvSpPr>
        <p:spPr bwMode="auto">
          <a:xfrm>
            <a:off x="6270269" y="2103438"/>
            <a:ext cx="4476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dirty="0">
                <a:ea typeface="宋体" panose="02010600030101010101" pitchFamily="2" charset="-122"/>
              </a:rPr>
              <a:t>M/R</a:t>
            </a:r>
          </a:p>
        </p:txBody>
      </p:sp>
      <p:grpSp>
        <p:nvGrpSpPr>
          <p:cNvPr id="121" name="组合 120"/>
          <p:cNvGrpSpPr/>
          <p:nvPr/>
        </p:nvGrpSpPr>
        <p:grpSpPr>
          <a:xfrm>
            <a:off x="6121406" y="2452688"/>
            <a:ext cx="1760527" cy="1387475"/>
            <a:chOff x="5773738" y="2452688"/>
            <a:chExt cx="2290762" cy="1387475"/>
          </a:xfrm>
        </p:grpSpPr>
        <p:sp>
          <p:nvSpPr>
            <p:cNvPr id="66575" name="AutoShape 16" descr="Wide upward diagonal"/>
            <p:cNvSpPr>
              <a:spLocks noChangeArrowheads="1"/>
            </p:cNvSpPr>
            <p:nvPr/>
          </p:nvSpPr>
          <p:spPr bwMode="auto">
            <a:xfrm flipH="1">
              <a:off x="5773738" y="2452688"/>
              <a:ext cx="373062" cy="347662"/>
            </a:xfrm>
            <a:prstGeom prst="parallelogram">
              <a:avLst>
                <a:gd name="adj" fmla="val 36405"/>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76" name="AutoShape 17" descr="Wide upward diagonal"/>
            <p:cNvSpPr>
              <a:spLocks noChangeArrowheads="1"/>
            </p:cNvSpPr>
            <p:nvPr/>
          </p:nvSpPr>
          <p:spPr bwMode="auto">
            <a:xfrm flipH="1">
              <a:off x="6040438" y="2452688"/>
              <a:ext cx="373062" cy="347662"/>
            </a:xfrm>
            <a:prstGeom prst="parallelogram">
              <a:avLst>
                <a:gd name="adj" fmla="val 36405"/>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77" name="AutoShape 18" descr="Wide upward diagonal"/>
            <p:cNvSpPr>
              <a:spLocks noChangeArrowheads="1"/>
            </p:cNvSpPr>
            <p:nvPr/>
          </p:nvSpPr>
          <p:spPr bwMode="auto">
            <a:xfrm flipH="1">
              <a:off x="6307138" y="2452688"/>
              <a:ext cx="373062" cy="347662"/>
            </a:xfrm>
            <a:prstGeom prst="parallelogram">
              <a:avLst>
                <a:gd name="adj" fmla="val 36405"/>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78" name="AutoShape 19" descr="Wide upward diagonal"/>
            <p:cNvSpPr>
              <a:spLocks noChangeArrowheads="1"/>
            </p:cNvSpPr>
            <p:nvPr/>
          </p:nvSpPr>
          <p:spPr bwMode="auto">
            <a:xfrm flipH="1">
              <a:off x="6572250" y="2452688"/>
              <a:ext cx="373063" cy="347662"/>
            </a:xfrm>
            <a:prstGeom prst="parallelogram">
              <a:avLst>
                <a:gd name="adj" fmla="val 36405"/>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79" name="AutoShape 20" descr="Wide upward diagonal"/>
            <p:cNvSpPr>
              <a:spLocks noChangeArrowheads="1"/>
            </p:cNvSpPr>
            <p:nvPr/>
          </p:nvSpPr>
          <p:spPr bwMode="auto">
            <a:xfrm flipH="1">
              <a:off x="6146800" y="2800350"/>
              <a:ext cx="373063" cy="346075"/>
            </a:xfrm>
            <a:prstGeom prst="parallelogram">
              <a:avLst>
                <a:gd name="adj" fmla="val 36572"/>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0" name="AutoShape 21" descr="Wide upward diagonal"/>
            <p:cNvSpPr>
              <a:spLocks noChangeArrowheads="1"/>
            </p:cNvSpPr>
            <p:nvPr/>
          </p:nvSpPr>
          <p:spPr bwMode="auto">
            <a:xfrm flipH="1">
              <a:off x="6413500" y="2800350"/>
              <a:ext cx="373063" cy="346075"/>
            </a:xfrm>
            <a:prstGeom prst="parallelogram">
              <a:avLst>
                <a:gd name="adj" fmla="val 36572"/>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1" name="AutoShape 22" descr="Wide upward diagonal"/>
            <p:cNvSpPr>
              <a:spLocks noChangeArrowheads="1"/>
            </p:cNvSpPr>
            <p:nvPr/>
          </p:nvSpPr>
          <p:spPr bwMode="auto">
            <a:xfrm flipH="1">
              <a:off x="6680200" y="2800350"/>
              <a:ext cx="371475" cy="346075"/>
            </a:xfrm>
            <a:prstGeom prst="parallelogram">
              <a:avLst>
                <a:gd name="adj" fmla="val 36416"/>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2" name="AutoShape 23" descr="Wide upward diagonal"/>
            <p:cNvSpPr>
              <a:spLocks noChangeArrowheads="1"/>
            </p:cNvSpPr>
            <p:nvPr/>
          </p:nvSpPr>
          <p:spPr bwMode="auto">
            <a:xfrm flipH="1">
              <a:off x="6945313" y="2800350"/>
              <a:ext cx="373062" cy="346075"/>
            </a:xfrm>
            <a:prstGeom prst="parallelogram">
              <a:avLst>
                <a:gd name="adj" fmla="val 36571"/>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3" name="AutoShape 24" descr="Wide upward diagonal"/>
            <p:cNvSpPr>
              <a:spLocks noChangeArrowheads="1"/>
            </p:cNvSpPr>
            <p:nvPr/>
          </p:nvSpPr>
          <p:spPr bwMode="auto">
            <a:xfrm flipH="1">
              <a:off x="6519863" y="3146425"/>
              <a:ext cx="373062" cy="347663"/>
            </a:xfrm>
            <a:prstGeom prst="parallelogram">
              <a:avLst>
                <a:gd name="adj" fmla="val 36404"/>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4" name="AutoShape 25" descr="Wide upward diagonal"/>
            <p:cNvSpPr>
              <a:spLocks noChangeArrowheads="1"/>
            </p:cNvSpPr>
            <p:nvPr/>
          </p:nvSpPr>
          <p:spPr bwMode="auto">
            <a:xfrm flipH="1">
              <a:off x="6786563" y="3146425"/>
              <a:ext cx="373062" cy="347663"/>
            </a:xfrm>
            <a:prstGeom prst="parallelogram">
              <a:avLst>
                <a:gd name="adj" fmla="val 36404"/>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5" name="AutoShape 26" descr="Wide upward diagonal"/>
            <p:cNvSpPr>
              <a:spLocks noChangeArrowheads="1"/>
            </p:cNvSpPr>
            <p:nvPr/>
          </p:nvSpPr>
          <p:spPr bwMode="auto">
            <a:xfrm flipH="1">
              <a:off x="7051675" y="3146425"/>
              <a:ext cx="373063" cy="347663"/>
            </a:xfrm>
            <a:prstGeom prst="parallelogram">
              <a:avLst>
                <a:gd name="adj" fmla="val 36405"/>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6" name="AutoShape 27" descr="Wide upward diagonal"/>
            <p:cNvSpPr>
              <a:spLocks noChangeArrowheads="1"/>
            </p:cNvSpPr>
            <p:nvPr/>
          </p:nvSpPr>
          <p:spPr bwMode="auto">
            <a:xfrm flipH="1">
              <a:off x="7318375" y="3146425"/>
              <a:ext cx="373063" cy="347663"/>
            </a:xfrm>
            <a:prstGeom prst="parallelogram">
              <a:avLst>
                <a:gd name="adj" fmla="val 36405"/>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7" name="AutoShape 28" descr="Wide upward diagonal"/>
            <p:cNvSpPr>
              <a:spLocks noChangeArrowheads="1"/>
            </p:cNvSpPr>
            <p:nvPr/>
          </p:nvSpPr>
          <p:spPr bwMode="auto">
            <a:xfrm flipH="1">
              <a:off x="6892925" y="3494088"/>
              <a:ext cx="373063" cy="346075"/>
            </a:xfrm>
            <a:prstGeom prst="parallelogram">
              <a:avLst>
                <a:gd name="adj" fmla="val 36572"/>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8" name="AutoShape 29" descr="Wide upward diagonal"/>
            <p:cNvSpPr>
              <a:spLocks noChangeArrowheads="1"/>
            </p:cNvSpPr>
            <p:nvPr/>
          </p:nvSpPr>
          <p:spPr bwMode="auto">
            <a:xfrm flipH="1">
              <a:off x="7159625" y="3494088"/>
              <a:ext cx="371475" cy="346075"/>
            </a:xfrm>
            <a:prstGeom prst="parallelogram">
              <a:avLst>
                <a:gd name="adj" fmla="val 36416"/>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89" name="AutoShape 30" descr="Wide upward diagonal"/>
            <p:cNvSpPr>
              <a:spLocks noChangeArrowheads="1"/>
            </p:cNvSpPr>
            <p:nvPr/>
          </p:nvSpPr>
          <p:spPr bwMode="auto">
            <a:xfrm flipH="1">
              <a:off x="7424738" y="3494088"/>
              <a:ext cx="373062" cy="346075"/>
            </a:xfrm>
            <a:prstGeom prst="parallelogram">
              <a:avLst>
                <a:gd name="adj" fmla="val 36571"/>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66590" name="AutoShape 31" descr="Wide upward diagonal"/>
            <p:cNvSpPr>
              <a:spLocks noChangeArrowheads="1"/>
            </p:cNvSpPr>
            <p:nvPr/>
          </p:nvSpPr>
          <p:spPr bwMode="auto">
            <a:xfrm flipH="1">
              <a:off x="7691438" y="3494088"/>
              <a:ext cx="373062" cy="346075"/>
            </a:xfrm>
            <a:prstGeom prst="parallelogram">
              <a:avLst>
                <a:gd name="adj" fmla="val 36571"/>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grpSp>
      <p:sp>
        <p:nvSpPr>
          <p:cNvPr id="66591" name="Line 32"/>
          <p:cNvSpPr>
            <a:spLocks noChangeShapeType="1"/>
          </p:cNvSpPr>
          <p:nvPr/>
        </p:nvSpPr>
        <p:spPr bwMode="auto">
          <a:xfrm>
            <a:off x="6121406" y="2347917"/>
            <a:ext cx="0" cy="1585912"/>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3" name="Line 33"/>
          <p:cNvSpPr>
            <a:spLocks noChangeShapeType="1"/>
          </p:cNvSpPr>
          <p:nvPr/>
        </p:nvSpPr>
        <p:spPr bwMode="auto">
          <a:xfrm flipV="1">
            <a:off x="6121406" y="3932238"/>
            <a:ext cx="2286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75" name="Object 34"/>
              <p:cNvSpPr txBox="1"/>
              <p:nvPr/>
            </p:nvSpPr>
            <p:spPr bwMode="auto">
              <a:xfrm>
                <a:off x="5219703" y="4110040"/>
                <a:ext cx="3530614" cy="77787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nor/>
                        </m:rPr>
                        <a:rPr lang="zh-CN" altLang="en-US" i="1" smtClean="0">
                          <a:solidFill>
                            <a:srgbClr val="000000"/>
                          </a:solidFill>
                          <a:latin typeface="Cambria Math" panose="02040503050406030204" pitchFamily="18" charset="0"/>
                        </a:rPr>
                        <m:t>Latency</m:t>
                      </m:r>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𝑀</m:t>
                          </m:r>
                        </m:num>
                        <m:den>
                          <m:r>
                            <a:rPr lang="en-US" altLang="zh-CN" b="0" i="1" smtClean="0">
                              <a:solidFill>
                                <a:srgbClr val="000000"/>
                              </a:solidFill>
                              <a:latin typeface="Cambria Math" panose="02040503050406030204" pitchFamily="18" charset="0"/>
                            </a:rPr>
                            <m:t>𝑅</m:t>
                          </m:r>
                        </m:den>
                      </m:f>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en-US" altLang="zh-CN" b="0" i="1" smtClean="0">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𝑀</m:t>
                          </m:r>
                        </m:num>
                        <m:den>
                          <m:r>
                            <a:rPr lang="en-US" altLang="zh-CN" b="0" i="1" smtClean="0">
                              <a:solidFill>
                                <a:srgbClr val="000000"/>
                              </a:solidFill>
                              <a:latin typeface="Cambria Math" panose="02040503050406030204" pitchFamily="18" charset="0"/>
                            </a:rPr>
                            <m:t>4</m:t>
                          </m:r>
                          <m:r>
                            <a:rPr lang="en-US" altLang="zh-CN" i="1">
                              <a:solidFill>
                                <a:srgbClr val="000000"/>
                              </a:solidFill>
                              <a:latin typeface="Cambria Math" panose="02040503050406030204" pitchFamily="18" charset="0"/>
                            </a:rPr>
                            <m:t>𝑅</m:t>
                          </m:r>
                        </m:den>
                      </m:f>
                      <m:r>
                        <a:rPr lang="en-US" altLang="zh-CN" b="0" i="1" smtClean="0">
                          <a:solidFill>
                            <a:srgbClr val="000000"/>
                          </a:solidFill>
                          <a:latin typeface="Cambria Math" panose="02040503050406030204" pitchFamily="18" charset="0"/>
                        </a:rPr>
                        <m:t>+</m:t>
                      </m:r>
                      <m:nary>
                        <m:naryPr>
                          <m:chr m:val="∑"/>
                          <m:supHide m:val="on"/>
                          <m:ctrlPr>
                            <a:rPr lang="zh-CN" altLang="en-US" i="1" smtClean="0">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r>
                            <a:rPr lang="zh-CN" altLang="en-US" i="1">
                              <a:solidFill>
                                <a:srgbClr val="000000"/>
                              </a:solidFill>
                              <a:latin typeface="Cambria Math" panose="02040503050406030204" pitchFamily="18" charset="0"/>
                            </a:rPr>
                            <m:t>𝑃𝑅𝑂</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𝑖</m:t>
                              </m:r>
                            </m:sub>
                          </m:sSub>
                        </m:e>
                      </m:nary>
                    </m:oMath>
                  </m:oMathPara>
                </a14:m>
                <a:endParaRPr lang="zh-CN" altLang="en-US" dirty="0"/>
              </a:p>
            </p:txBody>
          </p:sp>
        </mc:Choice>
        <mc:Fallback xmlns="">
          <p:sp>
            <p:nvSpPr>
              <p:cNvPr id="75" name="Object 34"/>
              <p:cNvSpPr txBox="1">
                <a:spLocks noRot="1" noChangeAspect="1" noMove="1" noResize="1" noEditPoints="1" noAdjustHandles="1" noChangeArrowheads="1" noChangeShapeType="1" noTextEdit="1"/>
              </p:cNvSpPr>
              <p:nvPr/>
            </p:nvSpPr>
            <p:spPr bwMode="auto">
              <a:xfrm>
                <a:off x="5219703" y="4110040"/>
                <a:ext cx="3530614" cy="777879"/>
              </a:xfrm>
              <a:prstGeom prst="rect">
                <a:avLst/>
              </a:prstGeom>
              <a:blipFill rotWithShape="1">
                <a:blip r:embed="rId6"/>
                <a:stretch>
                  <a:fillRect t="-41" b="42"/>
                </a:stretch>
              </a:blipFill>
              <a:ln>
                <a:noFill/>
              </a:ln>
              <a:effectLst/>
            </p:spPr>
            <p:txBody>
              <a:bodyPr/>
              <a:lstStyle/>
              <a:p>
                <a:r>
                  <a:rPr lang="zh-CN" altLang="en-US">
                    <a:noFill/>
                  </a:rPr>
                  <a:t> </a:t>
                </a:r>
              </a:p>
            </p:txBody>
          </p:sp>
        </mc:Fallback>
      </mc:AlternateContent>
      <p:sp>
        <p:nvSpPr>
          <p:cNvPr id="77" name="Text Box 35"/>
          <p:cNvSpPr txBox="1">
            <a:spLocks noChangeArrowheads="1"/>
          </p:cNvSpPr>
          <p:nvPr/>
        </p:nvSpPr>
        <p:spPr bwMode="auto">
          <a:xfrm>
            <a:off x="388233" y="2286005"/>
            <a:ext cx="8323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1800" dirty="0">
                <a:ea typeface="宋体" panose="02010600030101010101" pitchFamily="2" charset="-122"/>
                <a:cs typeface="Times New Roman" panose="02020603050405020304" pitchFamily="18" charset="0"/>
              </a:rPr>
              <a:t>主机</a:t>
            </a:r>
            <a:r>
              <a:rPr kumimoji="0" lang="en-US" altLang="zh-CN" sz="1800" dirty="0">
                <a:ea typeface="宋体" panose="02010600030101010101" pitchFamily="2" charset="-122"/>
                <a:cs typeface="Times New Roman" panose="02020603050405020304" pitchFamily="18" charset="0"/>
              </a:rPr>
              <a:t>A</a:t>
            </a:r>
          </a:p>
        </p:txBody>
      </p:sp>
      <p:sp>
        <p:nvSpPr>
          <p:cNvPr id="79" name="Text Box 36"/>
          <p:cNvSpPr txBox="1">
            <a:spLocks noChangeArrowheads="1"/>
          </p:cNvSpPr>
          <p:nvPr/>
        </p:nvSpPr>
        <p:spPr bwMode="auto">
          <a:xfrm>
            <a:off x="388233" y="3608392"/>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1800" dirty="0">
                <a:ea typeface="宋体" panose="02010600030101010101" pitchFamily="2" charset="-122"/>
                <a:cs typeface="Times New Roman" panose="02020603050405020304" pitchFamily="18" charset="0"/>
              </a:rPr>
              <a:t>主机</a:t>
            </a:r>
            <a:r>
              <a:rPr kumimoji="0" lang="en-US" altLang="zh-CN" sz="1800" dirty="0">
                <a:ea typeface="宋体" panose="02010600030101010101" pitchFamily="2" charset="-122"/>
                <a:cs typeface="Times New Roman" panose="02020603050405020304" pitchFamily="18" charset="0"/>
              </a:rPr>
              <a:t>B</a:t>
            </a:r>
          </a:p>
        </p:txBody>
      </p:sp>
      <p:sp>
        <p:nvSpPr>
          <p:cNvPr id="83" name="Line 38"/>
          <p:cNvSpPr>
            <a:spLocks noChangeShapeType="1"/>
          </p:cNvSpPr>
          <p:nvPr/>
        </p:nvSpPr>
        <p:spPr bwMode="auto">
          <a:xfrm flipV="1">
            <a:off x="1158175" y="3789374"/>
            <a:ext cx="3639675"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33" name="组合 132"/>
          <p:cNvGrpSpPr/>
          <p:nvPr/>
        </p:nvGrpSpPr>
        <p:grpSpPr>
          <a:xfrm>
            <a:off x="1158176" y="2443175"/>
            <a:ext cx="3625222" cy="1009650"/>
            <a:chOff x="827088" y="2441575"/>
            <a:chExt cx="2478087" cy="1009650"/>
          </a:xfrm>
        </p:grpSpPr>
        <p:sp>
          <p:nvSpPr>
            <p:cNvPr id="81" name="Line 37"/>
            <p:cNvSpPr>
              <a:spLocks noChangeShapeType="1"/>
            </p:cNvSpPr>
            <p:nvPr/>
          </p:nvSpPr>
          <p:spPr bwMode="auto">
            <a:xfrm>
              <a:off x="827088" y="2441575"/>
              <a:ext cx="247808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Line 39"/>
            <p:cNvSpPr>
              <a:spLocks noChangeShapeType="1"/>
            </p:cNvSpPr>
            <p:nvPr/>
          </p:nvSpPr>
          <p:spPr bwMode="auto">
            <a:xfrm>
              <a:off x="827088" y="2778125"/>
              <a:ext cx="247808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40"/>
            <p:cNvSpPr>
              <a:spLocks noChangeShapeType="1"/>
            </p:cNvSpPr>
            <p:nvPr/>
          </p:nvSpPr>
          <p:spPr bwMode="auto">
            <a:xfrm>
              <a:off x="827088" y="3114675"/>
              <a:ext cx="247808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41"/>
            <p:cNvSpPr>
              <a:spLocks noChangeShapeType="1"/>
            </p:cNvSpPr>
            <p:nvPr/>
          </p:nvSpPr>
          <p:spPr bwMode="auto">
            <a:xfrm>
              <a:off x="827088" y="3451225"/>
              <a:ext cx="247808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1" name="Text Box 42"/>
          <p:cNvSpPr txBox="1">
            <a:spLocks noChangeArrowheads="1"/>
          </p:cNvSpPr>
          <p:nvPr/>
        </p:nvSpPr>
        <p:spPr bwMode="auto">
          <a:xfrm>
            <a:off x="853370" y="2647955"/>
            <a:ext cx="3642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dirty="0">
                <a:ea typeface="宋体" panose="02010600030101010101" pitchFamily="2" charset="-122"/>
                <a:cs typeface="Times New Roman" panose="02020603050405020304" pitchFamily="18" charset="0"/>
              </a:rPr>
              <a:t>R1</a:t>
            </a:r>
          </a:p>
        </p:txBody>
      </p:sp>
      <p:sp>
        <p:nvSpPr>
          <p:cNvPr id="93" name="Text Box 43"/>
          <p:cNvSpPr txBox="1">
            <a:spLocks noChangeArrowheads="1"/>
          </p:cNvSpPr>
          <p:nvPr/>
        </p:nvSpPr>
        <p:spPr bwMode="auto">
          <a:xfrm>
            <a:off x="853370" y="2960692"/>
            <a:ext cx="3642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a:ea typeface="宋体" panose="02010600030101010101" pitchFamily="2" charset="-122"/>
                <a:cs typeface="Times New Roman" panose="02020603050405020304" pitchFamily="18" charset="0"/>
              </a:rPr>
              <a:t>R2</a:t>
            </a:r>
          </a:p>
        </p:txBody>
      </p:sp>
      <p:sp>
        <p:nvSpPr>
          <p:cNvPr id="95" name="Text Box 44"/>
          <p:cNvSpPr txBox="1">
            <a:spLocks noChangeArrowheads="1"/>
          </p:cNvSpPr>
          <p:nvPr/>
        </p:nvSpPr>
        <p:spPr bwMode="auto">
          <a:xfrm>
            <a:off x="853370" y="3297242"/>
            <a:ext cx="3642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a:ea typeface="宋体" panose="02010600030101010101" pitchFamily="2" charset="-122"/>
                <a:cs typeface="Times New Roman" panose="02020603050405020304" pitchFamily="18" charset="0"/>
              </a:rPr>
              <a:t>R3</a:t>
            </a:r>
          </a:p>
        </p:txBody>
      </p:sp>
      <p:sp>
        <p:nvSpPr>
          <p:cNvPr id="97" name="Line 45"/>
          <p:cNvSpPr>
            <a:spLocks noChangeShapeType="1"/>
          </p:cNvSpPr>
          <p:nvPr/>
        </p:nvSpPr>
        <p:spPr bwMode="auto">
          <a:xfrm>
            <a:off x="1323276" y="2333638"/>
            <a:ext cx="7556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AutoShape 46" descr="Wide upward diagonal"/>
          <p:cNvSpPr>
            <a:spLocks noChangeArrowheads="1"/>
          </p:cNvSpPr>
          <p:nvPr/>
        </p:nvSpPr>
        <p:spPr bwMode="auto">
          <a:xfrm flipH="1">
            <a:off x="1310576" y="2443175"/>
            <a:ext cx="861789" cy="336550"/>
          </a:xfrm>
          <a:prstGeom prst="parallelogram">
            <a:avLst>
              <a:gd name="adj" fmla="val 32461"/>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01" name="Line 47"/>
          <p:cNvSpPr>
            <a:spLocks noChangeShapeType="1"/>
          </p:cNvSpPr>
          <p:nvPr/>
        </p:nvSpPr>
        <p:spPr bwMode="auto">
          <a:xfrm>
            <a:off x="1310576" y="2443175"/>
            <a:ext cx="0" cy="1538288"/>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2000"/>
          </a:p>
        </p:txBody>
      </p:sp>
      <p:sp>
        <p:nvSpPr>
          <p:cNvPr id="103" name="Line 48"/>
          <p:cNvSpPr>
            <a:spLocks noChangeShapeType="1"/>
          </p:cNvSpPr>
          <p:nvPr/>
        </p:nvSpPr>
        <p:spPr bwMode="auto">
          <a:xfrm flipV="1">
            <a:off x="1310576" y="3878701"/>
            <a:ext cx="3487270" cy="751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105" name="Object 49"/>
              <p:cNvSpPr txBox="1"/>
              <p:nvPr/>
            </p:nvSpPr>
            <p:spPr bwMode="auto">
              <a:xfrm>
                <a:off x="1199021" y="4094943"/>
                <a:ext cx="3194480" cy="765474"/>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nor/>
                        </m:rPr>
                        <a:rPr lang="zh-CN" altLang="en-US" sz="2000" i="1">
                          <a:solidFill>
                            <a:srgbClr val="000000"/>
                          </a:solidFill>
                          <a:latin typeface="Cambria Math" panose="02040503050406030204" pitchFamily="18" charset="0"/>
                        </a:rPr>
                        <m:t>Latency</m:t>
                      </m:r>
                      <m:r>
                        <a:rPr lang="zh-CN" altLang="en-US" sz="2000" i="1">
                          <a:solidFill>
                            <a:srgbClr val="000000"/>
                          </a:solidFill>
                          <a:latin typeface="Cambria Math" panose="02040503050406030204" pitchFamily="18" charset="0"/>
                        </a:rPr>
                        <m:t>=</m:t>
                      </m:r>
                      <m:nary>
                        <m:naryPr>
                          <m:chr m:val="∑"/>
                          <m:supHide m:val="on"/>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sub>
                        <m:sup/>
                        <m:e>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𝑃𝑅𝑂</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𝑃</m:t>
                              </m:r>
                            </m:e>
                            <m:sub>
                              <m:r>
                                <a:rPr lang="zh-CN" altLang="en-US" sz="2000" i="1">
                                  <a:solidFill>
                                    <a:srgbClr val="000000"/>
                                  </a:solidFill>
                                  <a:latin typeface="Cambria Math" panose="02040503050406030204" pitchFamily="18" charset="0"/>
                                </a:rPr>
                                <m:t>𝑖</m:t>
                              </m:r>
                            </m:sub>
                          </m:sSub>
                        </m:e>
                      </m:nary>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𝑀</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oMath>
                  </m:oMathPara>
                </a14:m>
                <a:endParaRPr lang="zh-CN" altLang="en-US" sz="2000" dirty="0"/>
              </a:p>
            </p:txBody>
          </p:sp>
        </mc:Choice>
        <mc:Fallback xmlns="">
          <p:sp>
            <p:nvSpPr>
              <p:cNvPr id="105" name="Object 49"/>
              <p:cNvSpPr txBox="1">
                <a:spLocks noRot="1" noChangeAspect="1" noMove="1" noResize="1" noEditPoints="1" noAdjustHandles="1" noChangeArrowheads="1" noChangeShapeType="1" noTextEdit="1"/>
              </p:cNvSpPr>
              <p:nvPr/>
            </p:nvSpPr>
            <p:spPr bwMode="auto">
              <a:xfrm>
                <a:off x="1199021" y="4094943"/>
                <a:ext cx="3194480" cy="765474"/>
              </a:xfrm>
              <a:prstGeom prst="rect">
                <a:avLst/>
              </a:prstGeom>
              <a:blipFill rotWithShape="1">
                <a:blip r:embed="rId7"/>
                <a:stretch>
                  <a:fillRect l="-4" t="-60" r="18" b="17"/>
                </a:stretch>
              </a:blipFill>
              <a:ln>
                <a:noFill/>
              </a:ln>
              <a:effectLst/>
            </p:spPr>
            <p:txBody>
              <a:bodyPr/>
              <a:lstStyle/>
              <a:p>
                <a:r>
                  <a:rPr lang="zh-CN" altLang="en-US">
                    <a:noFill/>
                  </a:rPr>
                  <a:t> </a:t>
                </a:r>
              </a:p>
            </p:txBody>
          </p:sp>
        </mc:Fallback>
      </mc:AlternateContent>
      <p:sp>
        <p:nvSpPr>
          <p:cNvPr id="107" name="AutoShape 50" descr="Wide upward diagonal"/>
          <p:cNvSpPr>
            <a:spLocks noChangeArrowheads="1"/>
          </p:cNvSpPr>
          <p:nvPr/>
        </p:nvSpPr>
        <p:spPr bwMode="auto">
          <a:xfrm flipH="1">
            <a:off x="2185287" y="2779725"/>
            <a:ext cx="860425" cy="336550"/>
          </a:xfrm>
          <a:prstGeom prst="parallelogram">
            <a:avLst>
              <a:gd name="adj" fmla="val 32410"/>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13" name="Text Box 53"/>
          <p:cNvSpPr txBox="1">
            <a:spLocks noChangeArrowheads="1"/>
          </p:cNvSpPr>
          <p:nvPr/>
        </p:nvSpPr>
        <p:spPr bwMode="auto">
          <a:xfrm>
            <a:off x="1583626" y="2059000"/>
            <a:ext cx="4476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rPr>
              <a:t>M/R</a:t>
            </a:r>
          </a:p>
        </p:txBody>
      </p:sp>
      <p:sp>
        <p:nvSpPr>
          <p:cNvPr id="123" name="AutoShape 50" descr="Wide upward diagonal"/>
          <p:cNvSpPr>
            <a:spLocks noChangeArrowheads="1"/>
          </p:cNvSpPr>
          <p:nvPr/>
        </p:nvSpPr>
        <p:spPr bwMode="auto">
          <a:xfrm flipH="1">
            <a:off x="3048094" y="3116276"/>
            <a:ext cx="860425" cy="336550"/>
          </a:xfrm>
          <a:prstGeom prst="parallelogram">
            <a:avLst>
              <a:gd name="adj" fmla="val 32410"/>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25" name="AutoShape 50" descr="Wide upward diagonal"/>
          <p:cNvSpPr>
            <a:spLocks noChangeArrowheads="1"/>
          </p:cNvSpPr>
          <p:nvPr/>
        </p:nvSpPr>
        <p:spPr bwMode="auto">
          <a:xfrm flipH="1">
            <a:off x="3922974" y="3446475"/>
            <a:ext cx="860425" cy="336550"/>
          </a:xfrm>
          <a:prstGeom prst="parallelogram">
            <a:avLst>
              <a:gd name="adj" fmla="val 32410"/>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Comic Sans MS" panose="030F0702030302020204" pitchFamily="66" charset="0"/>
              <a:ea typeface="楷体_GB2312" pitchFamily="49" charset="-122"/>
            </a:endParaRPr>
          </a:p>
        </p:txBody>
      </p:sp>
      <p:sp>
        <p:nvSpPr>
          <p:cNvPr id="135" name="Text Box 3"/>
          <p:cNvSpPr txBox="1">
            <a:spLocks noChangeArrowheads="1"/>
          </p:cNvSpPr>
          <p:nvPr/>
        </p:nvSpPr>
        <p:spPr bwMode="auto">
          <a:xfrm>
            <a:off x="615726" y="5176700"/>
            <a:ext cx="7719374" cy="927134"/>
          </a:xfrm>
          <a:prstGeom prst="rect">
            <a:avLst/>
          </a:prstGeom>
          <a:solidFill>
            <a:schemeClr val="accent2">
              <a:lumMod val="20000"/>
              <a:lumOff val="80000"/>
            </a:schemeClr>
          </a:solidFill>
          <a:ln>
            <a:noFill/>
          </a:ln>
        </p:spPr>
        <p:txBody>
          <a:bodyPr wrap="square">
            <a:noAutofit/>
          </a:bodyPr>
          <a:lstStyle>
            <a:lvl1pPr marL="365125" indent="-365125">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marL="266700" indent="-266700">
              <a:lnSpc>
                <a:spcPts val="3200"/>
              </a:lnSpc>
              <a:spcBef>
                <a:spcPct val="0"/>
              </a:spcBef>
              <a:buClr>
                <a:srgbClr val="000099"/>
              </a:buClr>
              <a:buSzPct val="90000"/>
              <a:buFont typeface="Wingdings" panose="05000000000000000000" pitchFamily="2" charset="2"/>
              <a:buBlip>
                <a:blip r:embed="rId4"/>
              </a:buBlip>
            </a:pPr>
            <a:r>
              <a:rPr kumimoji="0" lang="zh-CN" altLang="en-US" sz="2000" dirty="0">
                <a:ea typeface="宋体" panose="02010600030101010101" pitchFamily="2" charset="-122"/>
              </a:rPr>
              <a:t>将报文分段（报文分组）传输可以降低端端时延</a:t>
            </a:r>
            <a:endParaRPr kumimoji="0" lang="en-US" altLang="zh-CN" sz="2000" dirty="0">
              <a:ea typeface="宋体" panose="02010600030101010101" pitchFamily="2" charset="-122"/>
            </a:endParaRPr>
          </a:p>
          <a:p>
            <a:pPr marL="266700" indent="-266700">
              <a:lnSpc>
                <a:spcPts val="3200"/>
              </a:lnSpc>
              <a:spcBef>
                <a:spcPct val="0"/>
              </a:spcBef>
              <a:buClr>
                <a:srgbClr val="000099"/>
              </a:buClr>
              <a:buSzPct val="90000"/>
              <a:buFont typeface="Wingdings" panose="05000000000000000000" pitchFamily="2" charset="2"/>
              <a:buBlip>
                <a:blip r:embed="rId4"/>
              </a:buBlip>
            </a:pPr>
            <a:r>
              <a:rPr kumimoji="0" lang="zh-CN" altLang="en-US" sz="2000" dirty="0">
                <a:ea typeface="宋体" panose="02010600030101010101" pitchFamily="2" charset="-122"/>
              </a:rPr>
              <a:t>可以避免某条链路或路由器缓存被一个报文长时间占用</a:t>
            </a:r>
            <a:endParaRPr kumimoji="0" lang="en-US" altLang="zh-CN" sz="2000" dirty="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8"/>
            <a:ext cx="8206327" cy="706613"/>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1" name="Text Box 54"/>
          <p:cNvSpPr txBox="1">
            <a:spLocks noChangeArrowheads="1"/>
          </p:cNvSpPr>
          <p:nvPr/>
        </p:nvSpPr>
        <p:spPr bwMode="auto">
          <a:xfrm>
            <a:off x="405352" y="1405111"/>
            <a:ext cx="8229600" cy="72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SzPct val="150000"/>
              <a:buNone/>
            </a:pPr>
            <a:r>
              <a:rPr kumimoji="0" lang="zh-CN" altLang="en-US" sz="2100" b="1" dirty="0">
                <a:solidFill>
                  <a:srgbClr val="FF0000"/>
                </a:solidFill>
                <a:latin typeface="Comic Sans MS" panose="030F0702030302020204" pitchFamily="66" charset="0"/>
                <a:ea typeface="宋体" panose="02010600030101010101" pitchFamily="2" charset="-122"/>
              </a:rPr>
              <a:t>问题</a:t>
            </a:r>
            <a:r>
              <a:rPr lang="zh-CN" altLang="en-US" sz="2100" dirty="0">
                <a:solidFill>
                  <a:srgbClr val="FF0000"/>
                </a:solidFill>
                <a:latin typeface="Comic Sans MS" panose="030F0702030302020204" pitchFamily="66" charset="0"/>
                <a:ea typeface="宋体" panose="02010600030101010101" pitchFamily="2" charset="-122"/>
              </a:rPr>
              <a:t>：</a:t>
            </a:r>
            <a:r>
              <a:rPr lang="zh-CN" altLang="en-US" sz="2100" dirty="0">
                <a:latin typeface="Comic Sans MS" panose="030F0702030302020204" pitchFamily="66" charset="0"/>
                <a:ea typeface="宋体" panose="02010600030101010101" pitchFamily="2" charset="-122"/>
              </a:rPr>
              <a:t>当报文分组到达时，如果出口链路忙，</a:t>
            </a:r>
            <a:r>
              <a:rPr lang="zh-CN" altLang="en-US" sz="2000" dirty="0">
                <a:latin typeface="Comic Sans MS" panose="030F0702030302020204" pitchFamily="66" charset="0"/>
                <a:ea typeface="宋体" panose="02010600030101010101" pitchFamily="2" charset="-122"/>
              </a:rPr>
              <a:t>报文分组需要在路由器缓存中排队等待，会引入排队时延</a:t>
            </a:r>
            <a:endParaRPr lang="en-US" altLang="zh-CN" sz="2100" dirty="0">
              <a:ea typeface="宋体" panose="02010600030101010101" pitchFamily="2" charset="-122"/>
              <a:cs typeface="Times New Roman" panose="02020603050405020304" pitchFamily="18" charset="0"/>
            </a:endParaRPr>
          </a:p>
        </p:txBody>
      </p:sp>
      <p:sp>
        <p:nvSpPr>
          <p:cNvPr id="2" name="AutoShape 2" descr="Large confetti"/>
          <p:cNvSpPr>
            <a:spLocks noChangeArrowheads="1"/>
          </p:cNvSpPr>
          <p:nvPr/>
        </p:nvSpPr>
        <p:spPr bwMode="auto">
          <a:xfrm flipH="1">
            <a:off x="4883738" y="3467525"/>
            <a:ext cx="376237" cy="469900"/>
          </a:xfrm>
          <a:prstGeom prst="parallelogram">
            <a:avLst>
              <a:gd name="adj" fmla="val 54852"/>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ea typeface="楷体_GB2312" pitchFamily="49" charset="-122"/>
              <a:cs typeface="Times New Roman" panose="02020603050405020304" pitchFamily="18" charset="0"/>
            </a:endParaRPr>
          </a:p>
        </p:txBody>
      </p:sp>
      <p:sp>
        <p:nvSpPr>
          <p:cNvPr id="3" name="Text Box 4"/>
          <p:cNvSpPr txBox="1">
            <a:spLocks noChangeArrowheads="1"/>
          </p:cNvSpPr>
          <p:nvPr/>
        </p:nvSpPr>
        <p:spPr bwMode="auto">
          <a:xfrm>
            <a:off x="2021012" y="2271662"/>
            <a:ext cx="883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ea typeface="宋体" panose="02010600030101010101" pitchFamily="2" charset="-122"/>
                <a:cs typeface="Times New Roman" panose="02020603050405020304" pitchFamily="18" charset="0"/>
              </a:rPr>
              <a:t>主机</a:t>
            </a:r>
            <a:r>
              <a:rPr kumimoji="0" lang="en-US" altLang="zh-CN" sz="2000" dirty="0">
                <a:ea typeface="宋体" panose="02010600030101010101" pitchFamily="2" charset="-122"/>
                <a:cs typeface="Times New Roman" panose="02020603050405020304" pitchFamily="18" charset="0"/>
              </a:rPr>
              <a:t>A</a:t>
            </a:r>
          </a:p>
        </p:txBody>
      </p:sp>
      <p:sp>
        <p:nvSpPr>
          <p:cNvPr id="4" name="Text Box 5"/>
          <p:cNvSpPr txBox="1">
            <a:spLocks noChangeArrowheads="1"/>
          </p:cNvSpPr>
          <p:nvPr/>
        </p:nvSpPr>
        <p:spPr bwMode="auto">
          <a:xfrm>
            <a:off x="2008865" y="4229465"/>
            <a:ext cx="9332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ea typeface="宋体" panose="02010600030101010101" pitchFamily="2" charset="-122"/>
                <a:cs typeface="Times New Roman" panose="02020603050405020304" pitchFamily="18" charset="0"/>
              </a:rPr>
              <a:t>主机</a:t>
            </a:r>
            <a:r>
              <a:rPr kumimoji="0" lang="en-US" altLang="zh-CN" sz="2000" dirty="0">
                <a:ea typeface="宋体" panose="02010600030101010101" pitchFamily="2" charset="-122"/>
                <a:cs typeface="Times New Roman" panose="02020603050405020304" pitchFamily="18" charset="0"/>
              </a:rPr>
              <a:t> B</a:t>
            </a:r>
          </a:p>
        </p:txBody>
      </p:sp>
      <p:sp>
        <p:nvSpPr>
          <p:cNvPr id="7" name="Line 7"/>
          <p:cNvSpPr>
            <a:spLocks noChangeShapeType="1"/>
          </p:cNvSpPr>
          <p:nvPr/>
        </p:nvSpPr>
        <p:spPr bwMode="auto">
          <a:xfrm>
            <a:off x="2897775" y="4458125"/>
            <a:ext cx="3429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43" name="组合 42"/>
          <p:cNvGrpSpPr/>
          <p:nvPr/>
        </p:nvGrpSpPr>
        <p:grpSpPr>
          <a:xfrm>
            <a:off x="2897775" y="2476925"/>
            <a:ext cx="3429000" cy="1447800"/>
            <a:chOff x="2559637" y="2368541"/>
            <a:chExt cx="3149600" cy="1447800"/>
          </a:xfrm>
        </p:grpSpPr>
        <p:sp>
          <p:nvSpPr>
            <p:cNvPr id="5" name="Line 6"/>
            <p:cNvSpPr>
              <a:spLocks noChangeShapeType="1"/>
            </p:cNvSpPr>
            <p:nvPr/>
          </p:nvSpPr>
          <p:spPr bwMode="auto">
            <a:xfrm>
              <a:off x="2559637" y="2368541"/>
              <a:ext cx="31496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8" name="Line 8"/>
            <p:cNvSpPr>
              <a:spLocks noChangeShapeType="1"/>
            </p:cNvSpPr>
            <p:nvPr/>
          </p:nvSpPr>
          <p:spPr bwMode="auto">
            <a:xfrm>
              <a:off x="2559637" y="2901941"/>
              <a:ext cx="314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 name="Line 9"/>
            <p:cNvSpPr>
              <a:spLocks noChangeShapeType="1"/>
            </p:cNvSpPr>
            <p:nvPr/>
          </p:nvSpPr>
          <p:spPr bwMode="auto">
            <a:xfrm>
              <a:off x="2559637" y="3359141"/>
              <a:ext cx="314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 name="Line 10"/>
            <p:cNvSpPr>
              <a:spLocks noChangeShapeType="1"/>
            </p:cNvSpPr>
            <p:nvPr/>
          </p:nvSpPr>
          <p:spPr bwMode="auto">
            <a:xfrm>
              <a:off x="2559637" y="3816341"/>
              <a:ext cx="314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12" name="Text Box 11"/>
          <p:cNvSpPr txBox="1">
            <a:spLocks noChangeArrowheads="1"/>
          </p:cNvSpPr>
          <p:nvPr/>
        </p:nvSpPr>
        <p:spPr bwMode="auto">
          <a:xfrm>
            <a:off x="2475500" y="2857925"/>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R1</a:t>
            </a:r>
          </a:p>
        </p:txBody>
      </p:sp>
      <p:sp>
        <p:nvSpPr>
          <p:cNvPr id="13" name="Text Box 12"/>
          <p:cNvSpPr txBox="1">
            <a:spLocks noChangeArrowheads="1"/>
          </p:cNvSpPr>
          <p:nvPr/>
        </p:nvSpPr>
        <p:spPr bwMode="auto">
          <a:xfrm>
            <a:off x="2475500" y="3315125"/>
            <a:ext cx="434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R2</a:t>
            </a:r>
          </a:p>
        </p:txBody>
      </p:sp>
      <p:sp>
        <p:nvSpPr>
          <p:cNvPr id="14" name="Text Box 13"/>
          <p:cNvSpPr txBox="1">
            <a:spLocks noChangeArrowheads="1"/>
          </p:cNvSpPr>
          <p:nvPr/>
        </p:nvSpPr>
        <p:spPr bwMode="auto">
          <a:xfrm>
            <a:off x="2475500" y="3772325"/>
            <a:ext cx="434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600">
                <a:ea typeface="宋体" panose="02010600030101010101" pitchFamily="2" charset="-122"/>
                <a:cs typeface="Times New Roman" panose="02020603050405020304" pitchFamily="18" charset="0"/>
              </a:rPr>
              <a:t>R3</a:t>
            </a:r>
          </a:p>
        </p:txBody>
      </p:sp>
      <p:sp>
        <p:nvSpPr>
          <p:cNvPr id="15" name="AutoShape 14" descr="Wide upward diagonal"/>
          <p:cNvSpPr>
            <a:spLocks noChangeArrowheads="1"/>
          </p:cNvSpPr>
          <p:nvPr/>
        </p:nvSpPr>
        <p:spPr bwMode="auto">
          <a:xfrm flipH="1">
            <a:off x="3167650" y="2486450"/>
            <a:ext cx="549275" cy="523875"/>
          </a:xfrm>
          <a:prstGeom prst="parallelogram">
            <a:avLst>
              <a:gd name="adj" fmla="val 52424"/>
            </a:avLst>
          </a:prstGeom>
          <a:blipFill dpi="0" rotWithShape="0">
            <a:blip r:embed="rId6"/>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ea typeface="楷体_GB2312" pitchFamily="49" charset="-122"/>
              <a:cs typeface="Times New Roman" panose="02020603050405020304" pitchFamily="18" charset="0"/>
            </a:endParaRPr>
          </a:p>
        </p:txBody>
      </p:sp>
      <p:sp>
        <p:nvSpPr>
          <p:cNvPr id="16" name="AutoShape 15" descr="Wide upward diagonal"/>
          <p:cNvSpPr>
            <a:spLocks noChangeArrowheads="1"/>
          </p:cNvSpPr>
          <p:nvPr/>
        </p:nvSpPr>
        <p:spPr bwMode="auto">
          <a:xfrm flipH="1">
            <a:off x="4415425" y="3010325"/>
            <a:ext cx="463550" cy="454025"/>
          </a:xfrm>
          <a:prstGeom prst="parallelogram">
            <a:avLst>
              <a:gd name="adj" fmla="val 51049"/>
            </a:avLst>
          </a:prstGeom>
          <a:blipFill dpi="0" rotWithShape="0">
            <a:blip r:embed="rId6"/>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ea typeface="楷体_GB2312" pitchFamily="49" charset="-122"/>
              <a:cs typeface="Times New Roman" panose="02020603050405020304" pitchFamily="18" charset="0"/>
            </a:endParaRPr>
          </a:p>
        </p:txBody>
      </p:sp>
      <p:sp>
        <p:nvSpPr>
          <p:cNvPr id="17" name="AutoShape 16" descr="Wide upward diagonal"/>
          <p:cNvSpPr>
            <a:spLocks noChangeArrowheads="1"/>
          </p:cNvSpPr>
          <p:nvPr/>
        </p:nvSpPr>
        <p:spPr bwMode="auto">
          <a:xfrm flipH="1">
            <a:off x="5031375" y="3467525"/>
            <a:ext cx="463550" cy="455613"/>
          </a:xfrm>
          <a:prstGeom prst="parallelogram">
            <a:avLst>
              <a:gd name="adj" fmla="val 50871"/>
            </a:avLst>
          </a:prstGeom>
          <a:blipFill dpi="0" rotWithShape="0">
            <a:blip r:embed="rId6"/>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ea typeface="楷体_GB2312" pitchFamily="49" charset="-122"/>
              <a:cs typeface="Times New Roman" panose="02020603050405020304" pitchFamily="18" charset="0"/>
            </a:endParaRPr>
          </a:p>
        </p:txBody>
      </p:sp>
      <p:sp>
        <p:nvSpPr>
          <p:cNvPr id="18" name="AutoShape 17" descr="Wide upward diagonal"/>
          <p:cNvSpPr>
            <a:spLocks noChangeArrowheads="1"/>
          </p:cNvSpPr>
          <p:nvPr/>
        </p:nvSpPr>
        <p:spPr bwMode="auto">
          <a:xfrm flipH="1">
            <a:off x="5488575" y="3924725"/>
            <a:ext cx="549275" cy="517525"/>
          </a:xfrm>
          <a:prstGeom prst="parallelogram">
            <a:avLst>
              <a:gd name="adj" fmla="val 53067"/>
            </a:avLst>
          </a:prstGeom>
          <a:blipFill dpi="0" rotWithShape="0">
            <a:blip r:embed="rId6"/>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ea typeface="楷体_GB2312" pitchFamily="49" charset="-122"/>
              <a:cs typeface="Times New Roman" panose="02020603050405020304" pitchFamily="18" charset="0"/>
            </a:endParaRPr>
          </a:p>
        </p:txBody>
      </p:sp>
      <p:sp>
        <p:nvSpPr>
          <p:cNvPr id="19" name="Text Box 18"/>
          <p:cNvSpPr txBox="1">
            <a:spLocks noChangeArrowheads="1"/>
          </p:cNvSpPr>
          <p:nvPr/>
        </p:nvSpPr>
        <p:spPr bwMode="auto">
          <a:xfrm>
            <a:off x="3062875" y="2232450"/>
            <a:ext cx="784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cs typeface="Times New Roman" panose="02020603050405020304" pitchFamily="18" charset="0"/>
              </a:rPr>
              <a:t>TRANSP</a:t>
            </a:r>
            <a:r>
              <a:rPr kumimoji="0" lang="en-US" altLang="zh-CN" sz="900" i="1">
                <a:ea typeface="宋体" panose="02010600030101010101" pitchFamily="2" charset="-122"/>
                <a:cs typeface="Times New Roman" panose="02020603050405020304" pitchFamily="18" charset="0"/>
              </a:rPr>
              <a:t>1</a:t>
            </a:r>
            <a:endParaRPr kumimoji="0" lang="en-US" altLang="zh-CN" sz="1200" i="1">
              <a:ea typeface="宋体" panose="02010600030101010101" pitchFamily="2" charset="-122"/>
              <a:cs typeface="Times New Roman" panose="02020603050405020304" pitchFamily="18" charset="0"/>
            </a:endParaRPr>
          </a:p>
        </p:txBody>
      </p:sp>
      <p:sp>
        <p:nvSpPr>
          <p:cNvPr id="20" name="Text Box 19"/>
          <p:cNvSpPr txBox="1">
            <a:spLocks noChangeArrowheads="1"/>
          </p:cNvSpPr>
          <p:nvPr/>
        </p:nvSpPr>
        <p:spPr bwMode="auto">
          <a:xfrm>
            <a:off x="4421775" y="2781725"/>
            <a:ext cx="784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cs typeface="Times New Roman" panose="02020603050405020304" pitchFamily="18" charset="0"/>
              </a:rPr>
              <a:t>TRANSP</a:t>
            </a:r>
            <a:r>
              <a:rPr kumimoji="0" lang="en-US" altLang="zh-CN" sz="900" i="1">
                <a:ea typeface="宋体" panose="02010600030101010101" pitchFamily="2" charset="-122"/>
                <a:cs typeface="Times New Roman" panose="02020603050405020304" pitchFamily="18" charset="0"/>
              </a:rPr>
              <a:t>2</a:t>
            </a:r>
            <a:endParaRPr kumimoji="0" lang="en-US" altLang="zh-CN" sz="1200" i="1">
              <a:ea typeface="宋体" panose="02010600030101010101" pitchFamily="2" charset="-122"/>
              <a:cs typeface="Times New Roman" panose="02020603050405020304" pitchFamily="18" charset="0"/>
            </a:endParaRPr>
          </a:p>
        </p:txBody>
      </p:sp>
      <p:sp>
        <p:nvSpPr>
          <p:cNvPr id="21" name="Text Box 20"/>
          <p:cNvSpPr txBox="1">
            <a:spLocks noChangeArrowheads="1"/>
          </p:cNvSpPr>
          <p:nvPr/>
        </p:nvSpPr>
        <p:spPr bwMode="auto">
          <a:xfrm>
            <a:off x="4802775" y="3238925"/>
            <a:ext cx="784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cs typeface="Times New Roman" panose="02020603050405020304" pitchFamily="18" charset="0"/>
              </a:rPr>
              <a:t>TRANSP</a:t>
            </a:r>
            <a:r>
              <a:rPr kumimoji="0" lang="en-US" altLang="zh-CN" sz="900" i="1">
                <a:ea typeface="宋体" panose="02010600030101010101" pitchFamily="2" charset="-122"/>
                <a:cs typeface="Times New Roman" panose="02020603050405020304" pitchFamily="18" charset="0"/>
              </a:rPr>
              <a:t>3</a:t>
            </a:r>
            <a:endParaRPr kumimoji="0" lang="en-US" altLang="zh-CN" sz="1200" i="1">
              <a:ea typeface="宋体" panose="02010600030101010101" pitchFamily="2" charset="-122"/>
              <a:cs typeface="Times New Roman" panose="02020603050405020304" pitchFamily="18" charset="0"/>
            </a:endParaRPr>
          </a:p>
        </p:txBody>
      </p:sp>
      <p:sp>
        <p:nvSpPr>
          <p:cNvPr id="22" name="Text Box 21"/>
          <p:cNvSpPr txBox="1">
            <a:spLocks noChangeArrowheads="1"/>
          </p:cNvSpPr>
          <p:nvPr/>
        </p:nvSpPr>
        <p:spPr bwMode="auto">
          <a:xfrm>
            <a:off x="5412375" y="3650088"/>
            <a:ext cx="7842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cs typeface="Times New Roman" panose="02020603050405020304" pitchFamily="18" charset="0"/>
              </a:rPr>
              <a:t>TRANSP</a:t>
            </a:r>
            <a:r>
              <a:rPr kumimoji="0" lang="en-US" altLang="zh-CN" sz="900" i="1">
                <a:ea typeface="宋体" panose="02010600030101010101" pitchFamily="2" charset="-122"/>
                <a:cs typeface="Times New Roman" panose="02020603050405020304" pitchFamily="18" charset="0"/>
              </a:rPr>
              <a:t>4</a:t>
            </a:r>
            <a:endParaRPr kumimoji="0" lang="en-US" altLang="zh-CN" sz="1200" i="1">
              <a:ea typeface="宋体" panose="02010600030101010101" pitchFamily="2" charset="-122"/>
              <a:cs typeface="Times New Roman" panose="02020603050405020304" pitchFamily="18" charset="0"/>
            </a:endParaRPr>
          </a:p>
        </p:txBody>
      </p:sp>
      <p:sp>
        <p:nvSpPr>
          <p:cNvPr id="23" name="Line 22"/>
          <p:cNvSpPr>
            <a:spLocks noChangeShapeType="1"/>
          </p:cNvSpPr>
          <p:nvPr/>
        </p:nvSpPr>
        <p:spPr bwMode="auto">
          <a:xfrm>
            <a:off x="3167650" y="2476925"/>
            <a:ext cx="0" cy="5334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 name="Line 23"/>
          <p:cNvSpPr>
            <a:spLocks noChangeShapeType="1"/>
          </p:cNvSpPr>
          <p:nvPr/>
        </p:nvSpPr>
        <p:spPr bwMode="auto">
          <a:xfrm>
            <a:off x="3166063" y="3086525"/>
            <a:ext cx="27146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 name="Line 24"/>
          <p:cNvSpPr>
            <a:spLocks noChangeShapeType="1"/>
          </p:cNvSpPr>
          <p:nvPr/>
        </p:nvSpPr>
        <p:spPr bwMode="auto">
          <a:xfrm>
            <a:off x="3167650" y="2997625"/>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 name="Line 25"/>
          <p:cNvSpPr>
            <a:spLocks noChangeShapeType="1"/>
          </p:cNvSpPr>
          <p:nvPr/>
        </p:nvSpPr>
        <p:spPr bwMode="auto">
          <a:xfrm>
            <a:off x="3437525" y="3003975"/>
            <a:ext cx="0" cy="44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7" name="Text Box 26"/>
          <p:cNvSpPr txBox="1">
            <a:spLocks noChangeArrowheads="1"/>
          </p:cNvSpPr>
          <p:nvPr/>
        </p:nvSpPr>
        <p:spPr bwMode="auto">
          <a:xfrm>
            <a:off x="2973975" y="3115100"/>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cs typeface="Times New Roman" panose="02020603050405020304" pitchFamily="18" charset="0"/>
              </a:rPr>
              <a:t>PROP</a:t>
            </a:r>
            <a:r>
              <a:rPr kumimoji="0" lang="en-US" altLang="zh-CN" sz="700" i="1">
                <a:ea typeface="宋体" panose="02010600030101010101" pitchFamily="2" charset="-122"/>
                <a:cs typeface="Times New Roman" panose="02020603050405020304" pitchFamily="18" charset="0"/>
              </a:rPr>
              <a:t>1</a:t>
            </a:r>
            <a:endParaRPr kumimoji="0" lang="en-US" altLang="zh-CN" sz="900" i="1">
              <a:ea typeface="宋体" panose="02010600030101010101" pitchFamily="2" charset="-122"/>
              <a:cs typeface="Times New Roman" panose="02020603050405020304" pitchFamily="18" charset="0"/>
            </a:endParaRPr>
          </a:p>
        </p:txBody>
      </p:sp>
      <p:sp>
        <p:nvSpPr>
          <p:cNvPr id="28" name="Line 27"/>
          <p:cNvSpPr>
            <a:spLocks noChangeShapeType="1"/>
          </p:cNvSpPr>
          <p:nvPr/>
        </p:nvSpPr>
        <p:spPr bwMode="auto">
          <a:xfrm>
            <a:off x="4421775" y="3543725"/>
            <a:ext cx="228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 name="Text Box 28"/>
          <p:cNvSpPr txBox="1">
            <a:spLocks noChangeArrowheads="1"/>
          </p:cNvSpPr>
          <p:nvPr/>
        </p:nvSpPr>
        <p:spPr bwMode="auto">
          <a:xfrm>
            <a:off x="4421775" y="3543725"/>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cs typeface="Times New Roman" panose="02020603050405020304" pitchFamily="18" charset="0"/>
              </a:rPr>
              <a:t>PROP</a:t>
            </a:r>
            <a:r>
              <a:rPr kumimoji="0" lang="en-US" altLang="zh-CN" sz="700" i="1">
                <a:ea typeface="宋体" panose="02010600030101010101" pitchFamily="2" charset="-122"/>
                <a:cs typeface="Times New Roman" panose="02020603050405020304" pitchFamily="18" charset="0"/>
              </a:rPr>
              <a:t>2</a:t>
            </a:r>
            <a:endParaRPr kumimoji="0" lang="en-US" altLang="zh-CN" sz="900" i="1">
              <a:ea typeface="宋体" panose="02010600030101010101" pitchFamily="2" charset="-122"/>
              <a:cs typeface="Times New Roman" panose="02020603050405020304" pitchFamily="18" charset="0"/>
            </a:endParaRPr>
          </a:p>
        </p:txBody>
      </p:sp>
      <p:sp>
        <p:nvSpPr>
          <p:cNvPr id="30" name="Line 29"/>
          <p:cNvSpPr>
            <a:spLocks noChangeShapeType="1"/>
          </p:cNvSpPr>
          <p:nvPr/>
        </p:nvSpPr>
        <p:spPr bwMode="auto">
          <a:xfrm>
            <a:off x="5031375" y="3467525"/>
            <a:ext cx="0" cy="6096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 name="Line 30"/>
          <p:cNvSpPr>
            <a:spLocks noChangeShapeType="1"/>
          </p:cNvSpPr>
          <p:nvPr/>
        </p:nvSpPr>
        <p:spPr bwMode="auto">
          <a:xfrm>
            <a:off x="5031375" y="4000925"/>
            <a:ext cx="2222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560" name="Text Box 31"/>
          <p:cNvSpPr txBox="1">
            <a:spLocks noChangeArrowheads="1"/>
          </p:cNvSpPr>
          <p:nvPr/>
        </p:nvSpPr>
        <p:spPr bwMode="auto">
          <a:xfrm>
            <a:off x="4878975" y="4000925"/>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cs typeface="Times New Roman" panose="02020603050405020304" pitchFamily="18" charset="0"/>
              </a:rPr>
              <a:t>PROP</a:t>
            </a:r>
            <a:r>
              <a:rPr kumimoji="0" lang="en-US" altLang="zh-CN" sz="700" i="1">
                <a:ea typeface="宋体" panose="02010600030101010101" pitchFamily="2" charset="-122"/>
                <a:cs typeface="Times New Roman" panose="02020603050405020304" pitchFamily="18" charset="0"/>
              </a:rPr>
              <a:t>3</a:t>
            </a:r>
            <a:endParaRPr kumimoji="0" lang="en-US" altLang="zh-CN" sz="900" i="1">
              <a:ea typeface="宋体" panose="02010600030101010101" pitchFamily="2" charset="-122"/>
              <a:cs typeface="Times New Roman" panose="02020603050405020304" pitchFamily="18" charset="0"/>
            </a:endParaRPr>
          </a:p>
        </p:txBody>
      </p:sp>
      <p:sp>
        <p:nvSpPr>
          <p:cNvPr id="66564" name="Line 32"/>
          <p:cNvSpPr>
            <a:spLocks noChangeShapeType="1"/>
          </p:cNvSpPr>
          <p:nvPr/>
        </p:nvSpPr>
        <p:spPr bwMode="auto">
          <a:xfrm>
            <a:off x="5488575" y="3924725"/>
            <a:ext cx="0" cy="6858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2" name="Line 33"/>
          <p:cNvSpPr>
            <a:spLocks noChangeShapeType="1"/>
          </p:cNvSpPr>
          <p:nvPr/>
        </p:nvSpPr>
        <p:spPr bwMode="auto">
          <a:xfrm>
            <a:off x="5488575" y="4534325"/>
            <a:ext cx="26987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3" name="Text Box 34"/>
          <p:cNvSpPr txBox="1">
            <a:spLocks noChangeArrowheads="1"/>
          </p:cNvSpPr>
          <p:nvPr/>
        </p:nvSpPr>
        <p:spPr bwMode="auto">
          <a:xfrm>
            <a:off x="5488575" y="4610525"/>
            <a:ext cx="520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900" i="1">
                <a:ea typeface="宋体" panose="02010600030101010101" pitchFamily="2" charset="-122"/>
                <a:cs typeface="Times New Roman" panose="02020603050405020304" pitchFamily="18" charset="0"/>
              </a:rPr>
              <a:t>PROP</a:t>
            </a:r>
            <a:r>
              <a:rPr kumimoji="0" lang="en-US" altLang="zh-CN" sz="700" i="1">
                <a:ea typeface="宋体" panose="02010600030101010101" pitchFamily="2" charset="-122"/>
                <a:cs typeface="Times New Roman" panose="02020603050405020304" pitchFamily="18" charset="0"/>
              </a:rPr>
              <a:t>4</a:t>
            </a:r>
            <a:endParaRPr kumimoji="0" lang="en-US" altLang="zh-CN" sz="900" i="1">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Object 35"/>
              <p:cNvSpPr txBox="1"/>
              <p:nvPr/>
            </p:nvSpPr>
            <p:spPr bwMode="auto">
              <a:xfrm>
                <a:off x="1010299" y="4708509"/>
                <a:ext cx="6928789" cy="688975"/>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zh-CN" altLang="en-US" sz="2000" i="1" smtClean="0">
                          <a:solidFill>
                            <a:srgbClr val="000000"/>
                          </a:solidFill>
                          <a:latin typeface="Cambria Math" panose="02040503050406030204" pitchFamily="18" charset="0"/>
                        </a:rPr>
                        <m:t>实际</m:t>
                      </m:r>
                      <m:r>
                        <a:rPr lang="zh-CN" altLang="en-US" sz="2000" i="1">
                          <a:solidFill>
                            <a:srgbClr val="000000"/>
                          </a:solidFill>
                          <a:latin typeface="Cambria Math" panose="02040503050406030204" pitchFamily="18" charset="0"/>
                        </a:rPr>
                        <m:t>的端端时延：</m:t>
                      </m:r>
                      <m:r>
                        <a:rPr lang="en-US" altLang="zh-CN" sz="2000" b="0" i="1" smtClean="0">
                          <a:solidFill>
                            <a:srgbClr val="000000"/>
                          </a:solidFill>
                          <a:latin typeface="Cambria Math" panose="02040503050406030204" pitchFamily="18" charset="0"/>
                        </a:rPr>
                        <m:t>𝐿</m:t>
                      </m:r>
                      <m:r>
                        <m:rPr>
                          <m:nor/>
                        </m:rPr>
                        <a:rPr lang="zh-CN" altLang="en-US" sz="2000" i="1">
                          <a:solidFill>
                            <a:srgbClr val="000000"/>
                          </a:solidFill>
                          <a:latin typeface="Cambria Math" panose="02040503050406030204" pitchFamily="18" charset="0"/>
                        </a:rPr>
                        <m:t>atency</m:t>
                      </m:r>
                      <m:r>
                        <a:rPr lang="zh-CN" altLang="en-US" sz="2000" i="1">
                          <a:solidFill>
                            <a:srgbClr val="000000"/>
                          </a:solidFill>
                          <a:latin typeface="Cambria Math" panose="02040503050406030204" pitchFamily="18" charset="0"/>
                        </a:rPr>
                        <m:t>=</m:t>
                      </m:r>
                      <m:nary>
                        <m:naryPr>
                          <m:chr m:val="∑"/>
                          <m:supHide m:val="on"/>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sub>
                        <m:sup/>
                        <m:e>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𝑇𝑅𝐴𝑁𝑆</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𝑃</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𝑃𝑅𝑂</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𝑃</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𝑄</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e>
                      </m:nary>
                    </m:oMath>
                  </m:oMathPara>
                </a14:m>
                <a:endParaRPr lang="zh-CN" altLang="en-US" sz="2000" dirty="0"/>
              </a:p>
            </p:txBody>
          </p:sp>
        </mc:Choice>
        <mc:Fallback xmlns="">
          <p:sp>
            <p:nvSpPr>
              <p:cNvPr id="34" name="Object 35"/>
              <p:cNvSpPr txBox="1">
                <a:spLocks noRot="1" noChangeAspect="1" noMove="1" noResize="1" noEditPoints="1" noAdjustHandles="1" noChangeArrowheads="1" noChangeShapeType="1" noTextEdit="1"/>
              </p:cNvSpPr>
              <p:nvPr/>
            </p:nvSpPr>
            <p:spPr bwMode="auto">
              <a:xfrm>
                <a:off x="1010299" y="4708509"/>
                <a:ext cx="6928789" cy="688975"/>
              </a:xfrm>
              <a:prstGeom prst="rect">
                <a:avLst/>
              </a:prstGeom>
              <a:blipFill rotWithShape="1">
                <a:blip r:embed="rId7"/>
                <a:stretch>
                  <a:fillRect t="-90" r="5" b="-4795"/>
                </a:stretch>
              </a:blipFill>
              <a:ln>
                <a:noFill/>
              </a:ln>
              <a:effectLst/>
            </p:spPr>
            <p:txBody>
              <a:bodyPr/>
              <a:lstStyle/>
              <a:p>
                <a:r>
                  <a:rPr lang="zh-CN" altLang="en-US">
                    <a:noFill/>
                  </a:rPr>
                  <a:t> </a:t>
                </a:r>
              </a:p>
            </p:txBody>
          </p:sp>
        </mc:Fallback>
      </mc:AlternateContent>
      <p:sp>
        <p:nvSpPr>
          <p:cNvPr id="35" name="AutoShape 36" descr="Large confetti"/>
          <p:cNvSpPr>
            <a:spLocks noChangeArrowheads="1"/>
          </p:cNvSpPr>
          <p:nvPr/>
        </p:nvSpPr>
        <p:spPr bwMode="auto">
          <a:xfrm flipH="1">
            <a:off x="3731213" y="3010325"/>
            <a:ext cx="919162" cy="454025"/>
          </a:xfrm>
          <a:prstGeom prst="parallelogram">
            <a:avLst>
              <a:gd name="adj" fmla="val 45101"/>
            </a:avLst>
          </a:prstGeom>
          <a:blipFill dpi="0" rotWithShape="0">
            <a:blip r:embed="rId5"/>
            <a:srcRect/>
            <a:tile tx="0" ty="0" sx="100000" sy="100000" flip="none" algn="tl"/>
          </a:blip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ea typeface="楷体_GB2312" pitchFamily="49" charset="-122"/>
              <a:cs typeface="Times New Roman" panose="02020603050405020304" pitchFamily="18" charset="0"/>
            </a:endParaRPr>
          </a:p>
        </p:txBody>
      </p:sp>
      <p:sp>
        <p:nvSpPr>
          <p:cNvPr id="36" name="Line 37"/>
          <p:cNvSpPr>
            <a:spLocks noChangeShapeType="1"/>
          </p:cNvSpPr>
          <p:nvPr/>
        </p:nvSpPr>
        <p:spPr bwMode="auto">
          <a:xfrm>
            <a:off x="4421775" y="3010325"/>
            <a:ext cx="0" cy="6096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 name="Line 38"/>
          <p:cNvSpPr>
            <a:spLocks noChangeShapeType="1"/>
          </p:cNvSpPr>
          <p:nvPr/>
        </p:nvSpPr>
        <p:spPr bwMode="auto">
          <a:xfrm>
            <a:off x="3735975" y="2553125"/>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8" name="Line 39"/>
          <p:cNvSpPr>
            <a:spLocks noChangeShapeType="1"/>
          </p:cNvSpPr>
          <p:nvPr/>
        </p:nvSpPr>
        <p:spPr bwMode="auto">
          <a:xfrm>
            <a:off x="4421775" y="2553125"/>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9" name="Line 40"/>
          <p:cNvSpPr>
            <a:spLocks noChangeShapeType="1"/>
          </p:cNvSpPr>
          <p:nvPr/>
        </p:nvSpPr>
        <p:spPr bwMode="auto">
          <a:xfrm>
            <a:off x="3735975" y="2781725"/>
            <a:ext cx="6858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0" name="Text Box 41"/>
          <p:cNvSpPr txBox="1">
            <a:spLocks noChangeArrowheads="1"/>
          </p:cNvSpPr>
          <p:nvPr/>
        </p:nvSpPr>
        <p:spPr bwMode="auto">
          <a:xfrm>
            <a:off x="3918538" y="2553125"/>
            <a:ext cx="3508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en-US" altLang="zh-CN" sz="1200" i="1">
                <a:ea typeface="宋体" panose="02010600030101010101" pitchFamily="2" charset="-122"/>
                <a:cs typeface="Times New Roman" panose="02020603050405020304" pitchFamily="18" charset="0"/>
              </a:rPr>
              <a:t>Q</a:t>
            </a:r>
            <a:r>
              <a:rPr kumimoji="0" lang="en-US" altLang="zh-CN" sz="900" i="1">
                <a:ea typeface="宋体" panose="02010600030101010101" pitchFamily="2" charset="-122"/>
                <a:cs typeface="Times New Roman" panose="02020603050405020304" pitchFamily="18" charset="0"/>
              </a:rPr>
              <a:t>2</a:t>
            </a:r>
            <a:endParaRPr kumimoji="0" lang="en-US" altLang="zh-CN" sz="1200" i="1">
              <a:ea typeface="宋体" panose="02010600030101010101" pitchFamily="2" charset="-122"/>
              <a:cs typeface="Times New Roman" panose="02020603050405020304" pitchFamily="18" charset="0"/>
            </a:endParaRPr>
          </a:p>
        </p:txBody>
      </p:sp>
      <p:sp>
        <p:nvSpPr>
          <p:cNvPr id="44" name="Text Box 3"/>
          <p:cNvSpPr txBox="1">
            <a:spLocks noChangeArrowheads="1"/>
          </p:cNvSpPr>
          <p:nvPr/>
        </p:nvSpPr>
        <p:spPr bwMode="auto">
          <a:xfrm>
            <a:off x="712313" y="5619755"/>
            <a:ext cx="7545862" cy="883506"/>
          </a:xfrm>
          <a:prstGeom prst="rect">
            <a:avLst/>
          </a:prstGeom>
          <a:solidFill>
            <a:schemeClr val="accent2">
              <a:lumMod val="20000"/>
              <a:lumOff val="80000"/>
            </a:schemeClr>
          </a:solidFill>
          <a:ln>
            <a:noFill/>
          </a:ln>
        </p:spPr>
        <p:txBody>
          <a:bodyPr wrap="square">
            <a:noAutofit/>
          </a:bodyPr>
          <a:lstStyle>
            <a:lvl1pPr marL="365125" indent="-365125">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marL="266700" indent="-266700">
              <a:lnSpc>
                <a:spcPts val="3000"/>
              </a:lnSpc>
              <a:spcBef>
                <a:spcPct val="0"/>
              </a:spcBef>
              <a:buClr>
                <a:srgbClr val="000099"/>
              </a:buClr>
              <a:buSzPct val="90000"/>
              <a:buFont typeface="Wingdings" panose="05000000000000000000" pitchFamily="2" charset="2"/>
              <a:buBlip>
                <a:blip r:embed="rId4"/>
              </a:buBlip>
            </a:pPr>
            <a:r>
              <a:rPr kumimoji="0" lang="zh-CN" altLang="en-US" sz="2000" dirty="0">
                <a:ea typeface="宋体" panose="02010600030101010101" pitchFamily="2" charset="-122"/>
              </a:rPr>
              <a:t>在给定链路长度和传输速率的情况下，只有排队时延是变化量</a:t>
            </a:r>
            <a:endParaRPr kumimoji="0" lang="en-US" altLang="zh-CN" sz="2000" dirty="0">
              <a:ea typeface="宋体" panose="02010600030101010101" pitchFamily="2" charset="-122"/>
            </a:endParaRPr>
          </a:p>
          <a:p>
            <a:pPr marL="266700" indent="-266700">
              <a:lnSpc>
                <a:spcPts val="3000"/>
              </a:lnSpc>
              <a:spcBef>
                <a:spcPct val="0"/>
              </a:spcBef>
              <a:buClr>
                <a:srgbClr val="000099"/>
              </a:buClr>
              <a:buSzPct val="90000"/>
              <a:buFont typeface="Wingdings" panose="05000000000000000000" pitchFamily="2" charset="2"/>
              <a:buBlip>
                <a:blip r:embed="rId4"/>
              </a:buBlip>
            </a:pPr>
            <a:r>
              <a:rPr lang="zh-CN" altLang="en-US" sz="2000" dirty="0">
                <a:ea typeface="宋体" panose="02010600030101010101" pitchFamily="2" charset="-122"/>
              </a:rPr>
              <a:t>排队时延对</a:t>
            </a:r>
            <a:r>
              <a:rPr kumimoji="0" lang="zh-CN" altLang="en-US" sz="2000" dirty="0">
                <a:ea typeface="宋体" panose="02010600030101010101" pitchFamily="2" charset="-122"/>
              </a:rPr>
              <a:t>网络性能</a:t>
            </a:r>
            <a:r>
              <a:rPr lang="zh-CN" altLang="en-US" sz="2000" dirty="0">
                <a:ea typeface="宋体" panose="02010600030101010101" pitchFamily="2" charset="-122"/>
              </a:rPr>
              <a:t>产生较大的影响（</a:t>
            </a:r>
            <a:r>
              <a:rPr lang="zh-CN" altLang="en-US" sz="2000" b="1" dirty="0">
                <a:solidFill>
                  <a:srgbClr val="FF0000"/>
                </a:solidFill>
                <a:ea typeface="宋体" panose="02010600030101010101" pitchFamily="2" charset="-122"/>
              </a:rPr>
              <a:t>拥塞控制</a:t>
            </a:r>
            <a:r>
              <a:rPr lang="zh-CN" altLang="en-US" sz="2000" dirty="0">
                <a:ea typeface="宋体" panose="02010600030101010101" pitchFamily="2" charset="-122"/>
              </a:rPr>
              <a:t>）</a:t>
            </a:r>
            <a:endParaRPr kumimoji="0" lang="en-US" altLang="zh-CN" sz="2000" dirty="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8"/>
            <a:ext cx="8206327" cy="780091"/>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1" name="Text Box 54"/>
          <p:cNvSpPr txBox="1">
            <a:spLocks noChangeArrowheads="1"/>
          </p:cNvSpPr>
          <p:nvPr/>
        </p:nvSpPr>
        <p:spPr bwMode="auto">
          <a:xfrm>
            <a:off x="362310" y="1562499"/>
            <a:ext cx="5146139" cy="196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marL="357505" indent="-357505" algn="just">
              <a:lnSpc>
                <a:spcPts val="3600"/>
              </a:lnSpc>
              <a:spcBef>
                <a:spcPts val="15"/>
              </a:spcBef>
              <a:defRPr/>
            </a:pPr>
            <a:r>
              <a:rPr lang="zh-CN" altLang="en-US" sz="2500" dirty="0">
                <a:ea typeface="宋体" panose="02010600030101010101" pitchFamily="2" charset="-122"/>
                <a:cs typeface="Times New Roman" panose="02020603050405020304" pitchFamily="18" charset="0"/>
                <a:sym typeface="+mn-ea"/>
              </a:rPr>
              <a:t>往返时延RTT（Round-Trip Time）</a:t>
            </a:r>
            <a:endParaRPr lang="en-US" altLang="zh-CN" sz="2500" dirty="0">
              <a:ea typeface="宋体" panose="02010600030101010101" pitchFamily="2" charset="-122"/>
              <a:cs typeface="Times New Roman" panose="02020603050405020304" pitchFamily="18" charset="0"/>
              <a:sym typeface="+mn-ea"/>
            </a:endParaRPr>
          </a:p>
          <a:p>
            <a:pPr lvl="1" algn="just">
              <a:lnSpc>
                <a:spcPts val="3600"/>
              </a:lnSpc>
              <a:spcBef>
                <a:spcPts val="600"/>
              </a:spcBef>
              <a:defRPr/>
            </a:pPr>
            <a:r>
              <a:rPr lang="zh-CN" altLang="en-US" sz="2200" dirty="0">
                <a:ea typeface="宋体" panose="02010600030101010101" pitchFamily="2" charset="-122"/>
                <a:cs typeface="Times New Roman" panose="02020603050405020304" pitchFamily="18" charset="0"/>
                <a:sym typeface="+mn-ea"/>
              </a:rPr>
              <a:t>从发送方发送数据开始，到发送方收到来自接收方的确认，经历的总时间</a:t>
            </a:r>
            <a:endParaRPr lang="en-US" altLang="zh-CN" sz="2200" dirty="0">
              <a:ea typeface="宋体" panose="02010600030101010101" pitchFamily="2" charset="-122"/>
              <a:cs typeface="Times New Roman" panose="02020603050405020304" pitchFamily="18" charset="0"/>
            </a:endParaRPr>
          </a:p>
        </p:txBody>
      </p:sp>
      <p:grpSp>
        <p:nvGrpSpPr>
          <p:cNvPr id="96" name="组合 95"/>
          <p:cNvGrpSpPr/>
          <p:nvPr/>
        </p:nvGrpSpPr>
        <p:grpSpPr>
          <a:xfrm>
            <a:off x="5463832" y="1653963"/>
            <a:ext cx="3394927" cy="2006818"/>
            <a:chOff x="2256" y="6477"/>
            <a:chExt cx="7128" cy="4002"/>
          </a:xfrm>
        </p:grpSpPr>
        <p:grpSp>
          <p:nvGrpSpPr>
            <p:cNvPr id="97" name="组合 96"/>
            <p:cNvGrpSpPr/>
            <p:nvPr/>
          </p:nvGrpSpPr>
          <p:grpSpPr>
            <a:xfrm>
              <a:off x="2256" y="6477"/>
              <a:ext cx="7128" cy="4002"/>
              <a:chOff x="7500" y="2705"/>
              <a:chExt cx="5243" cy="3898"/>
            </a:xfrm>
          </p:grpSpPr>
          <p:sp>
            <p:nvSpPr>
              <p:cNvPr id="99" name="Line 15"/>
              <p:cNvSpPr/>
              <p:nvPr/>
            </p:nvSpPr>
            <p:spPr>
              <a:xfrm>
                <a:off x="9653" y="3902"/>
                <a:ext cx="42" cy="2158"/>
              </a:xfrm>
              <a:prstGeom prst="line">
                <a:avLst/>
              </a:prstGeom>
              <a:ln w="9525" cap="flat" cmpd="sng">
                <a:solidFill>
                  <a:srgbClr val="FF0000"/>
                </a:solidFill>
                <a:prstDash val="sysDot"/>
                <a:round/>
                <a:headEnd type="none" w="med" len="med"/>
                <a:tailEnd type="triangle" w="med" len="med"/>
              </a:ln>
            </p:spPr>
          </p:sp>
          <p:sp>
            <p:nvSpPr>
              <p:cNvPr id="100" name="Line 16"/>
              <p:cNvSpPr/>
              <p:nvPr/>
            </p:nvSpPr>
            <p:spPr>
              <a:xfrm>
                <a:off x="12296" y="3913"/>
                <a:ext cx="17" cy="2158"/>
              </a:xfrm>
              <a:prstGeom prst="line">
                <a:avLst/>
              </a:prstGeom>
              <a:ln w="9525" cap="flat" cmpd="sng">
                <a:solidFill>
                  <a:srgbClr val="FF0000"/>
                </a:solidFill>
                <a:prstDash val="sysDot"/>
                <a:round/>
                <a:headEnd type="none" w="med" len="med"/>
                <a:tailEnd type="triangle" w="med" len="med"/>
              </a:ln>
            </p:spPr>
          </p:sp>
          <p:sp>
            <p:nvSpPr>
              <p:cNvPr id="101" name="Line 19"/>
              <p:cNvSpPr/>
              <p:nvPr/>
            </p:nvSpPr>
            <p:spPr>
              <a:xfrm>
                <a:off x="9661" y="4064"/>
                <a:ext cx="2653" cy="615"/>
              </a:xfrm>
              <a:prstGeom prst="line">
                <a:avLst/>
              </a:prstGeom>
              <a:ln w="57150">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sp>
          <p:sp>
            <p:nvSpPr>
              <p:cNvPr id="102" name="Line 27"/>
              <p:cNvSpPr/>
              <p:nvPr/>
            </p:nvSpPr>
            <p:spPr>
              <a:xfrm>
                <a:off x="9121" y="4078"/>
                <a:ext cx="558" cy="0"/>
              </a:xfrm>
              <a:prstGeom prst="line">
                <a:avLst/>
              </a:prstGeom>
              <a:ln w="9525" cap="flat" cmpd="sng">
                <a:solidFill>
                  <a:schemeClr val="tx1"/>
                </a:solidFill>
                <a:prstDash val="solid"/>
                <a:round/>
                <a:headEnd type="none" w="med" len="med"/>
                <a:tailEnd type="none" w="med" len="med"/>
              </a:ln>
            </p:spPr>
          </p:sp>
          <p:sp>
            <p:nvSpPr>
              <p:cNvPr id="103" name="Text Box 28"/>
              <p:cNvSpPr txBox="1"/>
              <p:nvPr/>
            </p:nvSpPr>
            <p:spPr>
              <a:xfrm>
                <a:off x="7500" y="3822"/>
                <a:ext cx="1771" cy="561"/>
              </a:xfrm>
              <a:prstGeom prst="rect">
                <a:avLst/>
              </a:prstGeom>
              <a:noFill/>
              <a:ln w="9525">
                <a:noFill/>
              </a:ln>
            </p:spPr>
            <p:txBody>
              <a:bodyPr wrap="square" anchor="t">
                <a:spAutoFit/>
              </a:bodyPr>
              <a:lstStyle/>
              <a:p>
                <a:pPr algn="ctr">
                  <a:lnSpc>
                    <a:spcPct val="85000"/>
                  </a:lnSpc>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rPr>
                  <a:t>请求</a:t>
                </a:r>
              </a:p>
            </p:txBody>
          </p:sp>
          <p:sp>
            <p:nvSpPr>
              <p:cNvPr id="104" name="AutoShape 29"/>
              <p:cNvSpPr/>
              <p:nvPr/>
            </p:nvSpPr>
            <p:spPr>
              <a:xfrm>
                <a:off x="9297" y="4144"/>
                <a:ext cx="218" cy="1596"/>
              </a:xfrm>
              <a:prstGeom prst="leftBrace">
                <a:avLst>
                  <a:gd name="adj1" fmla="val 51756"/>
                  <a:gd name="adj2" fmla="val 50000"/>
                </a:avLst>
              </a:prstGeom>
              <a:noFill/>
              <a:ln w="6350" cap="flat" cmpd="sng">
                <a:solidFill>
                  <a:schemeClr val="tx1"/>
                </a:solidFill>
                <a:prstDash val="solid"/>
                <a:round/>
                <a:headEnd type="none" w="med" len="med"/>
                <a:tailEnd type="none" w="med" len="med"/>
              </a:ln>
            </p:spPr>
            <p:txBody>
              <a:bodyPr wrap="none" anchor="ctr"/>
              <a:lstStyle/>
              <a:p>
                <a:pPr>
                  <a:lnSpc>
                    <a:spcPct val="85000"/>
                  </a:lnSpc>
                </a:pPr>
                <a:endParaRPr lang="zh-CN" altLang="zh-CN" dirty="0">
                  <a:latin typeface="微软雅黑" panose="020B0503020204020204" pitchFamily="34" charset="-122"/>
                  <a:ea typeface="微软雅黑" panose="020B0503020204020204" pitchFamily="34" charset="-122"/>
                </a:endParaRPr>
              </a:p>
            </p:txBody>
          </p:sp>
          <p:sp>
            <p:nvSpPr>
              <p:cNvPr id="105" name="Text Box 30"/>
              <p:cNvSpPr txBox="1"/>
              <p:nvPr/>
            </p:nvSpPr>
            <p:spPr>
              <a:xfrm>
                <a:off x="8228" y="4772"/>
                <a:ext cx="979" cy="561"/>
              </a:xfrm>
              <a:prstGeom prst="rect">
                <a:avLst/>
              </a:prstGeom>
              <a:noFill/>
              <a:ln w="9525">
                <a:noFill/>
              </a:ln>
            </p:spPr>
            <p:txBody>
              <a:bodyPr wrap="square" anchor="t">
                <a:spAutoFit/>
              </a:bodyPr>
              <a:lstStyle/>
              <a:p>
                <a:pPr>
                  <a:lnSpc>
                    <a:spcPct val="85000"/>
                  </a:lnSpc>
                </a:pPr>
                <a:r>
                  <a:rPr lang="en-US" altLang="zh-CN" sz="1500" dirty="0">
                    <a:latin typeface="微软雅黑" panose="020B0503020204020204" pitchFamily="34" charset="-122"/>
                    <a:ea typeface="微软雅黑" panose="020B0503020204020204" pitchFamily="34" charset="-122"/>
                  </a:rPr>
                  <a:t>RTT</a:t>
                </a:r>
              </a:p>
            </p:txBody>
          </p:sp>
          <p:sp>
            <p:nvSpPr>
              <p:cNvPr id="106" name="Line 35"/>
              <p:cNvSpPr/>
              <p:nvPr/>
            </p:nvSpPr>
            <p:spPr>
              <a:xfrm flipH="1">
                <a:off x="9113" y="5819"/>
                <a:ext cx="540" cy="3"/>
              </a:xfrm>
              <a:prstGeom prst="line">
                <a:avLst/>
              </a:prstGeom>
              <a:ln w="12700" cap="flat" cmpd="sng">
                <a:solidFill>
                  <a:schemeClr val="tx1"/>
                </a:solidFill>
                <a:prstDash val="solid"/>
                <a:round/>
                <a:headEnd type="none" w="med" len="med"/>
                <a:tailEnd type="none" w="med" len="med"/>
              </a:ln>
            </p:spPr>
          </p:sp>
          <p:sp>
            <p:nvSpPr>
              <p:cNvPr id="107" name="Text Box 36"/>
              <p:cNvSpPr txBox="1"/>
              <p:nvPr/>
            </p:nvSpPr>
            <p:spPr>
              <a:xfrm>
                <a:off x="7575" y="5475"/>
                <a:ext cx="1642" cy="942"/>
              </a:xfrm>
              <a:prstGeom prst="rect">
                <a:avLst/>
              </a:prstGeom>
              <a:noFill/>
              <a:ln w="9525">
                <a:noFill/>
              </a:ln>
            </p:spPr>
            <p:txBody>
              <a:bodyPr wrap="square" anchor="t">
                <a:spAutoFit/>
              </a:bodyPr>
              <a:lstStyle/>
              <a:p>
                <a:pPr>
                  <a:lnSpc>
                    <a:spcPct val="85000"/>
                  </a:lnSpc>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rPr>
                  <a:t>收到</a:t>
                </a: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response</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Text Box 37"/>
              <p:cNvSpPr txBox="1"/>
              <p:nvPr/>
            </p:nvSpPr>
            <p:spPr>
              <a:xfrm>
                <a:off x="9297" y="6093"/>
                <a:ext cx="895" cy="484"/>
              </a:xfrm>
              <a:prstGeom prst="rect">
                <a:avLst/>
              </a:prstGeom>
              <a:noFill/>
              <a:ln w="9525">
                <a:noFill/>
              </a:ln>
            </p:spPr>
            <p:txBody>
              <a:bodyPr wrap="square" anchor="t">
                <a:spAutoFit/>
              </a:bodyPr>
              <a:lstStyle/>
              <a:p>
                <a:pPr>
                  <a:lnSpc>
                    <a:spcPct val="85000"/>
                  </a:lnSpc>
                </a:pPr>
                <a:r>
                  <a:rPr lang="en-US" altLang="zh-CN" sz="1200" dirty="0">
                    <a:latin typeface="微软雅黑" panose="020B0503020204020204" pitchFamily="34" charset="-122"/>
                    <a:ea typeface="微软雅黑" panose="020B0503020204020204" pitchFamily="34" charset="-122"/>
                  </a:rPr>
                  <a:t>time</a:t>
                </a:r>
              </a:p>
            </p:txBody>
          </p:sp>
          <p:sp>
            <p:nvSpPr>
              <p:cNvPr id="109" name="Text Box 38"/>
              <p:cNvSpPr txBox="1"/>
              <p:nvPr/>
            </p:nvSpPr>
            <p:spPr>
              <a:xfrm>
                <a:off x="11848" y="6065"/>
                <a:ext cx="895" cy="538"/>
              </a:xfrm>
              <a:prstGeom prst="rect">
                <a:avLst/>
              </a:prstGeom>
              <a:noFill/>
              <a:ln w="9525">
                <a:noFill/>
              </a:ln>
            </p:spPr>
            <p:txBody>
              <a:bodyPr wrap="square" anchor="t">
                <a:spAutoFit/>
              </a:bodyPr>
              <a:lstStyle/>
              <a:p>
                <a:r>
                  <a:rPr lang="en-US" altLang="zh-CN" sz="1200" dirty="0">
                    <a:latin typeface="微软雅黑" panose="020B0503020204020204" pitchFamily="34" charset="-122"/>
                    <a:ea typeface="微软雅黑" panose="020B0503020204020204" pitchFamily="34" charset="-122"/>
                  </a:rPr>
                  <a:t>time</a:t>
                </a:r>
              </a:p>
            </p:txBody>
          </p:sp>
          <p:grpSp>
            <p:nvGrpSpPr>
              <p:cNvPr id="110" name="Group 43"/>
              <p:cNvGrpSpPr/>
              <p:nvPr/>
            </p:nvGrpSpPr>
            <p:grpSpPr>
              <a:xfrm>
                <a:off x="11980" y="2705"/>
                <a:ext cx="668" cy="1078"/>
                <a:chOff x="4140" y="429"/>
                <a:chExt cx="1425" cy="2396"/>
              </a:xfrm>
            </p:grpSpPr>
            <p:sp>
              <p:nvSpPr>
                <p:cNvPr id="114" name="Freeform 44"/>
                <p:cNvSpPr/>
                <p:nvPr/>
              </p:nvSpPr>
              <p:spPr>
                <a:xfrm>
                  <a:off x="5268" y="433"/>
                  <a:ext cx="283" cy="2286"/>
                </a:xfrm>
                <a:custGeom>
                  <a:avLst/>
                  <a:gdLst/>
                  <a:ahLst/>
                  <a:cxnLst>
                    <a:cxn ang="0">
                      <a:pos x="2" y="0"/>
                    </a:cxn>
                    <a:cxn ang="0">
                      <a:pos x="5" y="11"/>
                    </a:cxn>
                    <a:cxn ang="0">
                      <a:pos x="5" y="83"/>
                    </a:cxn>
                    <a:cxn ang="0">
                      <a:pos x="0" y="86"/>
                    </a:cxn>
                    <a:cxn ang="0">
                      <a:pos x="2" y="0"/>
                    </a:cxn>
                  </a:cxnLst>
                  <a:rect l="0" t="0" r="0" b="0"/>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sp>
              <p:nvSpPr>
                <p:cNvPr id="115" name="Rectangle 45"/>
                <p:cNvSpPr/>
                <p:nvPr/>
              </p:nvSpPr>
              <p:spPr>
                <a:xfrm>
                  <a:off x="4204" y="429"/>
                  <a:ext cx="1051" cy="2285"/>
                </a:xfrm>
                <a:prstGeom prst="rect">
                  <a:avLst/>
                </a:prstGeom>
                <a:gradFill rotWithShape="1">
                  <a:gsLst>
                    <a:gs pos="0">
                      <a:srgbClr val="292929"/>
                    </a:gs>
                    <a:gs pos="100000">
                      <a:srgbClr val="808080"/>
                    </a:gs>
                  </a:gsLst>
                  <a:lin ang="0" scaled="1"/>
                  <a:tileRect/>
                </a:gra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16" name="Freeform 46"/>
                <p:cNvSpPr/>
                <p:nvPr/>
              </p:nvSpPr>
              <p:spPr>
                <a:xfrm>
                  <a:off x="5321" y="570"/>
                  <a:ext cx="169" cy="2115"/>
                </a:xfrm>
                <a:custGeom>
                  <a:avLst/>
                  <a:gdLst/>
                  <a:ahLst/>
                  <a:cxnLst>
                    <a:cxn ang="0">
                      <a:pos x="2" y="0"/>
                    </a:cxn>
                    <a:cxn ang="0">
                      <a:pos x="3" y="8"/>
                    </a:cxn>
                    <a:cxn ang="0">
                      <a:pos x="2" y="78"/>
                    </a:cxn>
                    <a:cxn ang="0">
                      <a:pos x="2" y="0"/>
                    </a:cxn>
                  </a:cxnLst>
                  <a:rect l="0" t="0" r="0" b="0"/>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sp>
              <p:nvSpPr>
                <p:cNvPr id="117" name="Freeform 47"/>
                <p:cNvSpPr/>
                <p:nvPr/>
              </p:nvSpPr>
              <p:spPr>
                <a:xfrm>
                  <a:off x="5284" y="1640"/>
                  <a:ext cx="263" cy="189"/>
                </a:xfrm>
                <a:custGeom>
                  <a:avLst/>
                  <a:gdLst/>
                  <a:ahLst/>
                  <a:cxnLst>
                    <a:cxn ang="0">
                      <a:pos x="2" y="0"/>
                    </a:cxn>
                    <a:cxn ang="0">
                      <a:pos x="5" y="5"/>
                    </a:cxn>
                    <a:cxn ang="0">
                      <a:pos x="5" y="8"/>
                    </a:cxn>
                    <a:cxn ang="0">
                      <a:pos x="0" y="3"/>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sp>
              <p:nvSpPr>
                <p:cNvPr id="118" name="Rectangle 48"/>
                <p:cNvSpPr/>
                <p:nvPr/>
              </p:nvSpPr>
              <p:spPr>
                <a:xfrm>
                  <a:off x="4209" y="690"/>
                  <a:ext cx="598" cy="5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nvGrpSpPr>
                <p:cNvPr id="119" name="Group 49"/>
                <p:cNvGrpSpPr/>
                <p:nvPr/>
              </p:nvGrpSpPr>
              <p:grpSpPr>
                <a:xfrm>
                  <a:off x="4749" y="668"/>
                  <a:ext cx="581" cy="145"/>
                  <a:chOff x="614" y="2568"/>
                  <a:chExt cx="725" cy="139"/>
                </a:xfrm>
              </p:grpSpPr>
              <p:sp>
                <p:nvSpPr>
                  <p:cNvPr id="144" name="AutoShape 50"/>
                  <p:cNvSpPr/>
                  <p:nvPr/>
                </p:nvSpPr>
                <p:spPr>
                  <a:xfrm>
                    <a:off x="613" y="2568"/>
                    <a:ext cx="726" cy="139"/>
                  </a:xfrm>
                  <a:prstGeom prst="roundRect">
                    <a:avLst>
                      <a:gd name="adj" fmla="val 50000"/>
                    </a:avLst>
                  </a:prstGeom>
                  <a:solidFill>
                    <a:schemeClr val="tx1"/>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45" name="AutoShape 51"/>
                  <p:cNvSpPr/>
                  <p:nvPr/>
                </p:nvSpPr>
                <p:spPr>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sp>
              <p:nvSpPr>
                <p:cNvPr id="120" name="Rectangle 52"/>
                <p:cNvSpPr/>
                <p:nvPr/>
              </p:nvSpPr>
              <p:spPr>
                <a:xfrm>
                  <a:off x="4225" y="1018"/>
                  <a:ext cx="592" cy="5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nvGrpSpPr>
                <p:cNvPr id="121" name="Group 53"/>
                <p:cNvGrpSpPr/>
                <p:nvPr/>
              </p:nvGrpSpPr>
              <p:grpSpPr>
                <a:xfrm>
                  <a:off x="4747" y="994"/>
                  <a:ext cx="581" cy="134"/>
                  <a:chOff x="614" y="2568"/>
                  <a:chExt cx="725" cy="139"/>
                </a:xfrm>
              </p:grpSpPr>
              <p:sp>
                <p:nvSpPr>
                  <p:cNvPr id="142" name="AutoShape 54"/>
                  <p:cNvSpPr/>
                  <p:nvPr/>
                </p:nvSpPr>
                <p:spPr>
                  <a:xfrm>
                    <a:off x="616" y="2570"/>
                    <a:ext cx="726" cy="138"/>
                  </a:xfrm>
                  <a:prstGeom prst="roundRect">
                    <a:avLst>
                      <a:gd name="adj" fmla="val 50000"/>
                    </a:avLst>
                  </a:prstGeom>
                  <a:solidFill>
                    <a:schemeClr val="tx1"/>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43" name="AutoShape 55"/>
                  <p:cNvSpPr/>
                  <p:nvPr/>
                </p:nvSpPr>
                <p:spPr>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sp>
              <p:nvSpPr>
                <p:cNvPr id="122" name="Rectangle 56"/>
                <p:cNvSpPr/>
                <p:nvPr/>
              </p:nvSpPr>
              <p:spPr>
                <a:xfrm>
                  <a:off x="4215" y="1357"/>
                  <a:ext cx="598"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23" name="Rectangle 57"/>
                <p:cNvSpPr/>
                <p:nvPr/>
              </p:nvSpPr>
              <p:spPr>
                <a:xfrm>
                  <a:off x="4225" y="1658"/>
                  <a:ext cx="598"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nvGrpSpPr>
                <p:cNvPr id="124" name="Group 58"/>
                <p:cNvGrpSpPr/>
                <p:nvPr/>
              </p:nvGrpSpPr>
              <p:grpSpPr>
                <a:xfrm>
                  <a:off x="4735" y="1627"/>
                  <a:ext cx="582" cy="151"/>
                  <a:chOff x="614" y="2568"/>
                  <a:chExt cx="725" cy="139"/>
                </a:xfrm>
              </p:grpSpPr>
              <p:sp>
                <p:nvSpPr>
                  <p:cNvPr id="140" name="AutoShape 59"/>
                  <p:cNvSpPr/>
                  <p:nvPr/>
                </p:nvSpPr>
                <p:spPr>
                  <a:xfrm>
                    <a:off x="611" y="2581"/>
                    <a:ext cx="731" cy="128"/>
                  </a:xfrm>
                  <a:prstGeom prst="roundRect">
                    <a:avLst>
                      <a:gd name="adj" fmla="val 50000"/>
                    </a:avLst>
                  </a:prstGeom>
                  <a:solidFill>
                    <a:schemeClr val="tx1"/>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41" name="AutoShape 60"/>
                  <p:cNvSpPr/>
                  <p:nvPr/>
                </p:nvSpPr>
                <p:spPr>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sp>
              <p:nvSpPr>
                <p:cNvPr id="125" name="Freeform 61"/>
                <p:cNvSpPr/>
                <p:nvPr/>
              </p:nvSpPr>
              <p:spPr>
                <a:xfrm>
                  <a:off x="5288" y="1354"/>
                  <a:ext cx="263" cy="188"/>
                </a:xfrm>
                <a:custGeom>
                  <a:avLst/>
                  <a:gdLst/>
                  <a:ahLst/>
                  <a:cxnLst>
                    <a:cxn ang="0">
                      <a:pos x="2" y="0"/>
                    </a:cxn>
                    <a:cxn ang="0">
                      <a:pos x="5" y="4"/>
                    </a:cxn>
                    <a:cxn ang="0">
                      <a:pos x="5" y="7"/>
                    </a:cxn>
                    <a:cxn ang="0">
                      <a:pos x="0" y="2"/>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grpSp>
              <p:nvGrpSpPr>
                <p:cNvPr id="126" name="Group 62"/>
                <p:cNvGrpSpPr/>
                <p:nvPr/>
              </p:nvGrpSpPr>
              <p:grpSpPr>
                <a:xfrm>
                  <a:off x="4739" y="1327"/>
                  <a:ext cx="582" cy="139"/>
                  <a:chOff x="614" y="2568"/>
                  <a:chExt cx="725" cy="139"/>
                </a:xfrm>
              </p:grpSpPr>
              <p:sp>
                <p:nvSpPr>
                  <p:cNvPr id="138" name="AutoShape 63"/>
                  <p:cNvSpPr/>
                  <p:nvPr/>
                </p:nvSpPr>
                <p:spPr>
                  <a:xfrm>
                    <a:off x="612" y="2576"/>
                    <a:ext cx="725" cy="139"/>
                  </a:xfrm>
                  <a:prstGeom prst="roundRect">
                    <a:avLst>
                      <a:gd name="adj" fmla="val 50000"/>
                    </a:avLst>
                  </a:prstGeom>
                  <a:solidFill>
                    <a:schemeClr val="tx1"/>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39" name="AutoShape 64"/>
                  <p:cNvSpPr/>
                  <p:nvPr/>
                </p:nvSpPr>
                <p:spPr>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sp>
              <p:nvSpPr>
                <p:cNvPr id="127" name="Rectangle 65"/>
                <p:cNvSpPr/>
                <p:nvPr/>
              </p:nvSpPr>
              <p:spPr>
                <a:xfrm>
                  <a:off x="5250" y="429"/>
                  <a:ext cx="69" cy="2290"/>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28" name="Freeform 66"/>
                <p:cNvSpPr/>
                <p:nvPr/>
              </p:nvSpPr>
              <p:spPr>
                <a:xfrm>
                  <a:off x="5312" y="1007"/>
                  <a:ext cx="237" cy="213"/>
                </a:xfrm>
                <a:custGeom>
                  <a:avLst/>
                  <a:gdLst/>
                  <a:ahLst/>
                  <a:cxnLst>
                    <a:cxn ang="0">
                      <a:pos x="2" y="0"/>
                    </a:cxn>
                    <a:cxn ang="0">
                      <a:pos x="5" y="4"/>
                    </a:cxn>
                    <a:cxn ang="0">
                      <a:pos x="5" y="7"/>
                    </a:cxn>
                    <a:cxn ang="0">
                      <a:pos x="0" y="2"/>
                    </a:cxn>
                    <a:cxn ang="0">
                      <a:pos x="2" y="0"/>
                    </a:cxn>
                  </a:cxnLst>
                  <a:rect l="0" t="0" r="0" b="0"/>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sp>
              <p:nvSpPr>
                <p:cNvPr id="129" name="Freeform 67"/>
                <p:cNvSpPr/>
                <p:nvPr/>
              </p:nvSpPr>
              <p:spPr>
                <a:xfrm>
                  <a:off x="5315" y="680"/>
                  <a:ext cx="244" cy="240"/>
                </a:xfrm>
                <a:custGeom>
                  <a:avLst/>
                  <a:gdLst/>
                  <a:ahLst/>
                  <a:cxnLst>
                    <a:cxn ang="0">
                      <a:pos x="0" y="0"/>
                    </a:cxn>
                    <a:cxn ang="0">
                      <a:pos x="5" y="6"/>
                    </a:cxn>
                    <a:cxn ang="0">
                      <a:pos x="4" y="9"/>
                    </a:cxn>
                    <a:cxn ang="0">
                      <a:pos x="2" y="4"/>
                    </a:cxn>
                    <a:cxn ang="0">
                      <a:pos x="0" y="0"/>
                    </a:cxn>
                  </a:cxnLst>
                  <a:rect l="0" t="0" r="0" b="0"/>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sp>
              <p:nvSpPr>
                <p:cNvPr id="130" name="Oval 68"/>
                <p:cNvSpPr/>
                <p:nvPr/>
              </p:nvSpPr>
              <p:spPr>
                <a:xfrm>
                  <a:off x="5517" y="2614"/>
                  <a:ext cx="48" cy="95"/>
                </a:xfrm>
                <a:prstGeom prst="ellipse">
                  <a:avLst/>
                </a:prstGeom>
                <a:solidFill>
                  <a:srgbClr val="333333"/>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31" name="Freeform 69"/>
                <p:cNvSpPr/>
                <p:nvPr/>
              </p:nvSpPr>
              <p:spPr>
                <a:xfrm>
                  <a:off x="5302" y="2614"/>
                  <a:ext cx="245" cy="200"/>
                </a:xfrm>
                <a:custGeom>
                  <a:avLst/>
                  <a:gdLst/>
                  <a:ahLst/>
                  <a:cxnLst>
                    <a:cxn ang="0">
                      <a:pos x="0" y="4"/>
                    </a:cxn>
                    <a:cxn ang="0">
                      <a:pos x="2" y="8"/>
                    </a:cxn>
                    <a:cxn ang="0">
                      <a:pos x="5" y="4"/>
                    </a:cxn>
                    <a:cxn ang="0">
                      <a:pos x="5" y="0"/>
                    </a:cxn>
                    <a:cxn ang="0">
                      <a:pos x="0" y="4"/>
                    </a:cxn>
                  </a:cxnLst>
                  <a:rect l="0" t="0" r="0" b="0"/>
                  <a:pathLst>
                    <a:path w="306" h="240">
                      <a:moveTo>
                        <a:pt x="0" y="106"/>
                      </a:moveTo>
                      <a:lnTo>
                        <a:pt x="2" y="240"/>
                      </a:lnTo>
                      <a:lnTo>
                        <a:pt x="306" y="110"/>
                      </a:lnTo>
                      <a:lnTo>
                        <a:pt x="300" y="0"/>
                      </a:lnTo>
                      <a:lnTo>
                        <a:pt x="0" y="106"/>
                      </a:lnTo>
                      <a:close/>
                    </a:path>
                  </a:pathLst>
                </a:custGeom>
                <a:solidFill>
                  <a:srgbClr val="333333"/>
                </a:soli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sp>
              <p:nvSpPr>
                <p:cNvPr id="132" name="AutoShape 70"/>
                <p:cNvSpPr/>
                <p:nvPr/>
              </p:nvSpPr>
              <p:spPr>
                <a:xfrm>
                  <a:off x="4140" y="2680"/>
                  <a:ext cx="1201" cy="145"/>
                </a:xfrm>
                <a:prstGeom prst="roundRect">
                  <a:avLst>
                    <a:gd name="adj" fmla="val 50000"/>
                  </a:avLst>
                </a:prstGeom>
                <a:solidFill>
                  <a:srgbClr val="DDDDDD"/>
                </a:solidFill>
                <a:ln w="9525" cap="flat" cmpd="sng">
                  <a:solidFill>
                    <a:schemeClr val="tx1"/>
                  </a:solidFill>
                  <a:prstDash val="solid"/>
                  <a:round/>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33" name="AutoShape 71"/>
                <p:cNvSpPr/>
                <p:nvPr/>
              </p:nvSpPr>
              <p:spPr>
                <a:xfrm>
                  <a:off x="4204" y="2708"/>
                  <a:ext cx="1073" cy="83"/>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round/>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34" name="Oval 72"/>
                <p:cNvSpPr/>
                <p:nvPr/>
              </p:nvSpPr>
              <p:spPr>
                <a:xfrm>
                  <a:off x="4305" y="2380"/>
                  <a:ext cx="160" cy="145"/>
                </a:xfrm>
                <a:prstGeom prst="ellipse">
                  <a:avLst/>
                </a:prstGeom>
                <a:solidFill>
                  <a:srgbClr val="33CC33"/>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35" name="Oval 73"/>
                <p:cNvSpPr/>
                <p:nvPr/>
              </p:nvSpPr>
              <p:spPr>
                <a:xfrm>
                  <a:off x="4487" y="2386"/>
                  <a:ext cx="160" cy="139"/>
                </a:xfrm>
                <a:prstGeom prst="ellipse">
                  <a:avLst/>
                </a:prstGeom>
                <a:solidFill>
                  <a:srgbClr val="FF0000"/>
                </a:solidFill>
                <a:ln w="9525">
                  <a:noFill/>
                </a:ln>
              </p:spPr>
              <p:txBody>
                <a:bodyPr wrap="none" anchor="ctr"/>
                <a:lstStyle/>
                <a:p>
                  <a:pPr algn="ctr"/>
                  <a:endParaRPr lang="zh-CN" altLang="zh-CN" sz="1350" dirty="0">
                    <a:solidFill>
                      <a:srgbClr val="FF0000"/>
                    </a:solidFill>
                    <a:latin typeface="微软雅黑" panose="020B0503020204020204" pitchFamily="34" charset="-122"/>
                    <a:ea typeface="微软雅黑" panose="020B0503020204020204" pitchFamily="34" charset="-122"/>
                  </a:endParaRPr>
                </a:p>
              </p:txBody>
            </p:sp>
            <p:sp>
              <p:nvSpPr>
                <p:cNvPr id="136" name="Oval 74"/>
                <p:cNvSpPr/>
                <p:nvPr/>
              </p:nvSpPr>
              <p:spPr>
                <a:xfrm>
                  <a:off x="4663" y="2380"/>
                  <a:ext cx="155" cy="139"/>
                </a:xfrm>
                <a:prstGeom prst="ellipse">
                  <a:avLst/>
                </a:prstGeom>
                <a:solidFill>
                  <a:srgbClr val="33CC33"/>
                </a:solidFill>
                <a:ln w="9525">
                  <a:noFill/>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sp>
              <p:nvSpPr>
                <p:cNvPr id="137" name="Rectangle 75"/>
                <p:cNvSpPr/>
                <p:nvPr/>
              </p:nvSpPr>
              <p:spPr>
                <a:xfrm>
                  <a:off x="5063" y="1835"/>
                  <a:ext cx="85"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endParaRPr lang="zh-CN" altLang="zh-CN" sz="1350" dirty="0">
                    <a:latin typeface="微软雅黑" panose="020B0503020204020204" pitchFamily="34" charset="-122"/>
                    <a:ea typeface="微软雅黑" panose="020B0503020204020204" pitchFamily="34" charset="-122"/>
                  </a:endParaRPr>
                </a:p>
              </p:txBody>
            </p:sp>
          </p:grpSp>
          <p:grpSp>
            <p:nvGrpSpPr>
              <p:cNvPr id="111" name="Group 76"/>
              <p:cNvGrpSpPr/>
              <p:nvPr/>
            </p:nvGrpSpPr>
            <p:grpSpPr>
              <a:xfrm>
                <a:off x="8828" y="2740"/>
                <a:ext cx="1100" cy="1118"/>
                <a:chOff x="-44" y="1473"/>
                <a:chExt cx="981" cy="1105"/>
              </a:xfrm>
            </p:grpSpPr>
            <p:pic>
              <p:nvPicPr>
                <p:cNvPr id="112" name="Picture 77" descr="desktop_computer_stylized_medium"/>
                <p:cNvPicPr>
                  <a:picLocks noChangeAspect="1"/>
                </p:cNvPicPr>
                <p:nvPr/>
              </p:nvPicPr>
              <p:blipFill>
                <a:blip r:embed="rId5"/>
                <a:stretch>
                  <a:fillRect/>
                </a:stretch>
              </p:blipFill>
              <p:spPr>
                <a:xfrm flipH="1">
                  <a:off x="-44" y="1473"/>
                  <a:ext cx="981" cy="1105"/>
                </a:xfrm>
                <a:prstGeom prst="rect">
                  <a:avLst/>
                </a:prstGeom>
                <a:noFill/>
                <a:ln w="9525">
                  <a:noFill/>
                </a:ln>
              </p:spPr>
            </p:pic>
            <p:sp>
              <p:nvSpPr>
                <p:cNvPr id="113" name="Freeform 78"/>
                <p:cNvSpPr/>
                <p:nvPr/>
              </p:nvSpPr>
              <p:spPr>
                <a:xfrm flipH="1">
                  <a:off x="374" y="1579"/>
                  <a:ext cx="477" cy="506"/>
                </a:xfrm>
                <a:custGeom>
                  <a:avLst/>
                  <a:gdLst/>
                  <a:ahLst/>
                  <a:cxnLst>
                    <a:cxn ang="0">
                      <a:pos x="0" y="0"/>
                    </a:cxn>
                    <a:cxn ang="0">
                      <a:pos x="77884" y="5998"/>
                    </a:cxn>
                    <a:cxn ang="0">
                      <a:pos x="92393" y="124961"/>
                    </a:cxn>
                    <a:cxn ang="0">
                      <a:pos x="20362" y="156280"/>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sz="1350">
                    <a:latin typeface="微软雅黑" panose="020B0503020204020204" pitchFamily="34" charset="-122"/>
                    <a:ea typeface="微软雅黑" panose="020B0503020204020204" pitchFamily="34" charset="-122"/>
                  </a:endParaRPr>
                </a:p>
              </p:txBody>
            </p:sp>
          </p:grpSp>
        </p:grpSp>
        <p:cxnSp>
          <p:nvCxnSpPr>
            <p:cNvPr id="98" name="直接箭头连接符 97"/>
            <p:cNvCxnSpPr/>
            <p:nvPr/>
          </p:nvCxnSpPr>
          <p:spPr>
            <a:xfrm flipH="1">
              <a:off x="5167" y="8644"/>
              <a:ext cx="3633" cy="1052"/>
            </a:xfrm>
            <a:prstGeom prst="straightConnector1">
              <a:avLst/>
            </a:prstGeom>
            <a:ln w="57150">
              <a:solidFill>
                <a:srgbClr val="0B10F1"/>
              </a:solidFill>
              <a:tailEnd type="arrow"/>
            </a:ln>
          </p:spPr>
          <p:style>
            <a:lnRef idx="1">
              <a:schemeClr val="accent1"/>
            </a:lnRef>
            <a:fillRef idx="0">
              <a:schemeClr val="accent1"/>
            </a:fillRef>
            <a:effectRef idx="0">
              <a:schemeClr val="accent1"/>
            </a:effectRef>
            <a:fontRef idx="minor">
              <a:schemeClr val="tx1"/>
            </a:fontRef>
          </p:style>
        </p:cxnSp>
      </p:grpSp>
      <p:cxnSp>
        <p:nvCxnSpPr>
          <p:cNvPr id="146" name="直接箭头连接符 145"/>
          <p:cNvCxnSpPr/>
          <p:nvPr/>
        </p:nvCxnSpPr>
        <p:spPr>
          <a:xfrm>
            <a:off x="7103551" y="1943526"/>
            <a:ext cx="117348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flipH="1">
            <a:off x="7103551" y="2047348"/>
            <a:ext cx="1173480" cy="0"/>
          </a:xfrm>
          <a:prstGeom prst="straightConnector1">
            <a:avLst/>
          </a:prstGeom>
          <a:ln>
            <a:solidFill>
              <a:srgbClr val="0B10F1"/>
            </a:solidFill>
            <a:tailEnd type="arrow"/>
          </a:ln>
        </p:spPr>
        <p:style>
          <a:lnRef idx="1">
            <a:schemeClr val="accent1"/>
          </a:lnRef>
          <a:fillRef idx="0">
            <a:schemeClr val="accent1"/>
          </a:fillRef>
          <a:effectRef idx="0">
            <a:schemeClr val="accent1"/>
          </a:effectRef>
          <a:fontRef idx="minor">
            <a:schemeClr val="tx1"/>
          </a:fontRef>
        </p:style>
      </p:cxnSp>
      <p:sp>
        <p:nvSpPr>
          <p:cNvPr id="148" name="Text Box 24"/>
          <p:cNvSpPr txBox="1"/>
          <p:nvPr/>
        </p:nvSpPr>
        <p:spPr>
          <a:xfrm>
            <a:off x="7189024" y="1709508"/>
            <a:ext cx="1137128" cy="253916"/>
          </a:xfrm>
          <a:prstGeom prst="rect">
            <a:avLst/>
          </a:prstGeom>
          <a:noFill/>
          <a:ln w="9525">
            <a:noFill/>
          </a:ln>
        </p:spPr>
        <p:txBody>
          <a:bodyPr wrap="square" anchor="t">
            <a:spAutoFit/>
          </a:bodyPr>
          <a:lstStyle/>
          <a:p>
            <a:pPr algn="ctr"/>
            <a:r>
              <a:rPr lang="en-US" altLang="zh-CN" sz="1050" dirty="0">
                <a:solidFill>
                  <a:srgbClr val="CC0000"/>
                </a:solidFill>
                <a:latin typeface="微软雅黑" panose="020B0503020204020204" pitchFamily="34" charset="-122"/>
                <a:ea typeface="微软雅黑" panose="020B0503020204020204" pitchFamily="34" charset="-122"/>
              </a:rPr>
              <a:t>Ping request</a:t>
            </a:r>
          </a:p>
        </p:txBody>
      </p:sp>
      <p:sp>
        <p:nvSpPr>
          <p:cNvPr id="149" name="Text Box 26"/>
          <p:cNvSpPr txBox="1"/>
          <p:nvPr/>
        </p:nvSpPr>
        <p:spPr>
          <a:xfrm>
            <a:off x="7120446" y="2056645"/>
            <a:ext cx="1260567" cy="253916"/>
          </a:xfrm>
          <a:prstGeom prst="rect">
            <a:avLst/>
          </a:prstGeom>
          <a:noFill/>
          <a:ln w="9525">
            <a:noFill/>
          </a:ln>
        </p:spPr>
        <p:txBody>
          <a:bodyPr wrap="square" anchor="t">
            <a:spAutoFit/>
          </a:bodyPr>
          <a:lstStyle/>
          <a:p>
            <a:pPr algn="ctr"/>
            <a:r>
              <a:rPr lang="en-US" altLang="zh-CN" sz="1050" dirty="0">
                <a:solidFill>
                  <a:srgbClr val="CC0000"/>
                </a:solidFill>
                <a:latin typeface="微软雅黑" panose="020B0503020204020204" pitchFamily="34" charset="-122"/>
                <a:ea typeface="微软雅黑" panose="020B0503020204020204" pitchFamily="34" charset="-122"/>
              </a:rPr>
              <a:t>Ping response</a:t>
            </a:r>
          </a:p>
        </p:txBody>
      </p:sp>
      <p:pic>
        <p:nvPicPr>
          <p:cNvPr id="150" name="图片 149"/>
          <p:cNvPicPr>
            <a:picLocks noChangeAspect="1"/>
          </p:cNvPicPr>
          <p:nvPr/>
        </p:nvPicPr>
        <p:blipFill>
          <a:blip r:embed="rId6"/>
          <a:stretch>
            <a:fillRect/>
          </a:stretch>
        </p:blipFill>
        <p:spPr>
          <a:xfrm>
            <a:off x="2721502" y="3940537"/>
            <a:ext cx="6038954" cy="1897265"/>
          </a:xfrm>
          <a:prstGeom prst="rect">
            <a:avLst/>
          </a:prstGeom>
        </p:spPr>
      </p:pic>
      <p:sp>
        <p:nvSpPr>
          <p:cNvPr id="151" name="矩形 150"/>
          <p:cNvSpPr/>
          <p:nvPr/>
        </p:nvSpPr>
        <p:spPr>
          <a:xfrm>
            <a:off x="362310" y="4406143"/>
            <a:ext cx="1980029" cy="878895"/>
          </a:xfrm>
          <a:prstGeom prst="rect">
            <a:avLst/>
          </a:prstGeom>
          <a:ln>
            <a:solidFill>
              <a:schemeClr val="tx1"/>
            </a:solidFill>
          </a:ln>
        </p:spPr>
        <p:txBody>
          <a:bodyPr wrap="none">
            <a:spAutoFit/>
          </a:bodyPr>
          <a:lstStyle/>
          <a:p>
            <a:pPr algn="ctr">
              <a:lnSpc>
                <a:spcPct val="15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使用</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ping</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命令获取</a:t>
            </a:r>
            <a:b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b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往返时延</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RTT</a:t>
            </a:r>
            <a:endParaRPr lang="zh-CN" altLang="en-US" b="1" dirty="0">
              <a:solidFill>
                <a:srgbClr val="C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9"/>
            <a:ext cx="8206327" cy="773290"/>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1" name="Text Box 54"/>
          <p:cNvSpPr txBox="1">
            <a:spLocks noChangeArrowheads="1"/>
          </p:cNvSpPr>
          <p:nvPr/>
        </p:nvSpPr>
        <p:spPr bwMode="auto">
          <a:xfrm>
            <a:off x="405352" y="1575152"/>
            <a:ext cx="8229600" cy="2252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marL="357505" indent="-357505" algn="just">
              <a:lnSpc>
                <a:spcPts val="3200"/>
              </a:lnSpc>
              <a:spcBef>
                <a:spcPts val="600"/>
              </a:spcBef>
              <a:defRPr/>
            </a:pPr>
            <a:r>
              <a:rPr lang="zh-CN" altLang="en-US" sz="2500" dirty="0">
                <a:ea typeface="宋体" panose="02010600030101010101" pitchFamily="2" charset="-122"/>
                <a:cs typeface="Times New Roman" panose="02020603050405020304" pitchFamily="18" charset="0"/>
              </a:rPr>
              <a:t>时延带宽积</a:t>
            </a:r>
            <a:endParaRPr lang="en-US" altLang="zh-CN" sz="2500" dirty="0">
              <a:ea typeface="宋体" panose="02010600030101010101" pitchFamily="2" charset="-122"/>
              <a:cs typeface="Times New Roman" panose="02020603050405020304" pitchFamily="18" charset="0"/>
              <a:sym typeface="+mn-ea"/>
            </a:endParaRPr>
          </a:p>
          <a:p>
            <a:pPr lvl="1" algn="just">
              <a:lnSpc>
                <a:spcPts val="3200"/>
              </a:lnSpc>
              <a:spcBef>
                <a:spcPts val="600"/>
              </a:spcBef>
              <a:defRPr/>
            </a:pPr>
            <a:r>
              <a:rPr lang="zh-CN" altLang="en-US" sz="2000" b="1" dirty="0">
                <a:solidFill>
                  <a:srgbClr val="C00000"/>
                </a:solidFill>
                <a:ea typeface="宋体" panose="02010600030101010101" pitchFamily="2" charset="-122"/>
                <a:cs typeface="Times New Roman" panose="02020603050405020304" pitchFamily="18" charset="0"/>
              </a:rPr>
              <a:t>时延带宽积 </a:t>
            </a:r>
            <a:r>
              <a:rPr lang="en-US" altLang="zh-CN" sz="2000" b="1" dirty="0">
                <a:solidFill>
                  <a:srgbClr val="C00000"/>
                </a:solidFill>
                <a:ea typeface="宋体" panose="02010600030101010101" pitchFamily="2" charset="-122"/>
                <a:cs typeface="Times New Roman" panose="02020603050405020304" pitchFamily="18" charset="0"/>
              </a:rPr>
              <a:t>= </a:t>
            </a:r>
            <a:r>
              <a:rPr lang="zh-CN" altLang="en-US" sz="2000" b="1" dirty="0">
                <a:solidFill>
                  <a:srgbClr val="C00000"/>
                </a:solidFill>
                <a:ea typeface="宋体" panose="02010600030101010101" pitchFamily="2" charset="-122"/>
                <a:cs typeface="Times New Roman" panose="02020603050405020304" pitchFamily="18" charset="0"/>
              </a:rPr>
              <a:t>传播时延 </a:t>
            </a:r>
            <a:r>
              <a:rPr lang="zh-CN" altLang="en-US" sz="2000" b="1" dirty="0">
                <a:solidFill>
                  <a:srgbClr val="C00000"/>
                </a:solidFill>
                <a:ea typeface="宋体" panose="02010600030101010101" pitchFamily="2" charset="-122"/>
                <a:cs typeface="Times New Roman" panose="02020603050405020304" pitchFamily="18" charset="0"/>
                <a:sym typeface="Symbol" panose="05050102010706020507" pitchFamily="18" charset="2"/>
              </a:rPr>
              <a:t> 带宽</a:t>
            </a:r>
            <a:r>
              <a:rPr lang="zh-CN" altLang="en-US" sz="2000" b="1" dirty="0">
                <a:ea typeface="宋体" panose="02010600030101010101" pitchFamily="2" charset="-122"/>
                <a:cs typeface="Times New Roman" panose="02020603050405020304" pitchFamily="18" charset="0"/>
                <a:sym typeface="Symbol" panose="05050102010706020507" pitchFamily="18" charset="2"/>
              </a:rPr>
              <a:t>，</a:t>
            </a:r>
            <a:r>
              <a:rPr lang="zh-CN" altLang="en-US" sz="2000" dirty="0">
                <a:ea typeface="宋体" panose="02010600030101010101" pitchFamily="2" charset="-122"/>
                <a:cs typeface="Times New Roman" panose="02020603050405020304" pitchFamily="18" charset="0"/>
                <a:sym typeface="Symbol" panose="05050102010706020507" pitchFamily="18" charset="2"/>
              </a:rPr>
              <a:t>即</a:t>
            </a:r>
            <a:r>
              <a:rPr lang="zh-CN" altLang="en-US" sz="2000" dirty="0">
                <a:ea typeface="宋体" panose="02010600030101010101" pitchFamily="2" charset="-122"/>
                <a:cs typeface="Times New Roman" panose="02020603050405020304" pitchFamily="18" charset="0"/>
                <a:sym typeface="+mn-ea"/>
              </a:rPr>
              <a:t>按</a:t>
            </a:r>
            <a:r>
              <a:rPr lang="zh-CN" altLang="en-US" sz="2000" b="1" dirty="0">
                <a:solidFill>
                  <a:srgbClr val="C00000"/>
                </a:solidFill>
                <a:ea typeface="宋体" panose="02010600030101010101" pitchFamily="2" charset="-122"/>
                <a:cs typeface="Times New Roman" panose="02020603050405020304" pitchFamily="18" charset="0"/>
                <a:sym typeface="+mn-ea"/>
              </a:rPr>
              <a:t>比特计数</a:t>
            </a:r>
            <a:r>
              <a:rPr lang="zh-CN" altLang="en-US" sz="2000" dirty="0">
                <a:ea typeface="宋体" panose="02010600030101010101" pitchFamily="2" charset="-122"/>
                <a:cs typeface="Times New Roman" panose="02020603050405020304" pitchFamily="18" charset="0"/>
                <a:sym typeface="+mn-ea"/>
              </a:rPr>
              <a:t>的链路长度</a:t>
            </a:r>
            <a:endParaRPr lang="en-US" altLang="zh-CN" sz="2000" dirty="0">
              <a:ea typeface="宋体" panose="02010600030101010101" pitchFamily="2" charset="-122"/>
              <a:cs typeface="Times New Roman" panose="02020603050405020304" pitchFamily="18" charset="0"/>
              <a:sym typeface="+mn-ea"/>
            </a:endParaRPr>
          </a:p>
          <a:p>
            <a:pPr lvl="1" algn="just">
              <a:lnSpc>
                <a:spcPts val="3200"/>
              </a:lnSpc>
              <a:spcBef>
                <a:spcPts val="600"/>
              </a:spcBef>
              <a:defRPr/>
            </a:pPr>
            <a:r>
              <a:rPr lang="zh-CN" altLang="en-US" sz="2000" kern="0" dirty="0">
                <a:ea typeface="宋体" panose="02010600030101010101" pitchFamily="2" charset="-122"/>
                <a:cs typeface="Times New Roman" panose="02020603050405020304" pitchFamily="18" charset="0"/>
                <a:sym typeface="+mn-ea"/>
              </a:rPr>
              <a:t>若发送端连续发送数据，则在发送的第一个bit即将达到终点时，发送端就已经发送了</a:t>
            </a:r>
            <a:r>
              <a:rPr lang="zh-CN" altLang="en-US" sz="2000" b="1" dirty="0">
                <a:solidFill>
                  <a:srgbClr val="C00000"/>
                </a:solidFill>
                <a:ea typeface="宋体" panose="02010600030101010101" pitchFamily="2" charset="-122"/>
                <a:cs typeface="Times New Roman" panose="02020603050405020304" pitchFamily="18" charset="0"/>
              </a:rPr>
              <a:t>时延带宽积</a:t>
            </a:r>
            <a:r>
              <a:rPr lang="zh-CN" altLang="en-US" sz="2000" kern="0" dirty="0">
                <a:ea typeface="宋体" panose="02010600030101010101" pitchFamily="2" charset="-122"/>
                <a:cs typeface="Times New Roman" panose="02020603050405020304" pitchFamily="18" charset="0"/>
                <a:sym typeface="+mn-ea"/>
              </a:rPr>
              <a:t>个bit ，而这些bit都在链路上向前传播</a:t>
            </a:r>
            <a:endParaRPr lang="zh-CN" altLang="en-US" sz="2000" dirty="0">
              <a:ea typeface="宋体" panose="02010600030101010101" pitchFamily="2" charset="-122"/>
              <a:cs typeface="Times New Roman" panose="02020603050405020304" pitchFamily="18" charset="0"/>
            </a:endParaRPr>
          </a:p>
        </p:txBody>
      </p:sp>
      <p:grpSp>
        <p:nvGrpSpPr>
          <p:cNvPr id="62" name="组合 61"/>
          <p:cNvGrpSpPr/>
          <p:nvPr/>
        </p:nvGrpSpPr>
        <p:grpSpPr>
          <a:xfrm>
            <a:off x="653530" y="3916655"/>
            <a:ext cx="5073333" cy="1569728"/>
            <a:chOff x="2661" y="3280"/>
            <a:chExt cx="8349" cy="2463"/>
          </a:xfrm>
        </p:grpSpPr>
        <p:sp>
          <p:nvSpPr>
            <p:cNvPr id="63" name="AutoShape 37"/>
            <p:cNvSpPr>
              <a:spLocks noChangeArrowheads="1"/>
            </p:cNvSpPr>
            <p:nvPr/>
          </p:nvSpPr>
          <p:spPr bwMode="auto">
            <a:xfrm rot="-5400000">
              <a:off x="6889" y="984"/>
              <a:ext cx="1042" cy="72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1956B9"/>
                </a:solidFill>
                <a:latin typeface="宋体" panose="02010600030101010101" pitchFamily="2" charset="-122"/>
                <a:ea typeface="宋体" panose="02010600030101010101" pitchFamily="2" charset="-122"/>
              </a:endParaRPr>
            </a:p>
          </p:txBody>
        </p:sp>
        <p:sp>
          <p:nvSpPr>
            <p:cNvPr id="64" name="Line 38"/>
            <p:cNvSpPr>
              <a:spLocks noChangeShapeType="1"/>
            </p:cNvSpPr>
            <p:nvPr/>
          </p:nvSpPr>
          <p:spPr bwMode="auto">
            <a:xfrm>
              <a:off x="4045" y="3823"/>
              <a:ext cx="673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900" b="1">
                <a:ln>
                  <a:solidFill>
                    <a:schemeClr val="accent3"/>
                  </a:solidFill>
                </a:ln>
                <a:solidFill>
                  <a:srgbClr val="1956B9"/>
                </a:solidFill>
                <a:latin typeface="宋体" panose="02010600030101010101" pitchFamily="2" charset="-122"/>
                <a:ea typeface="宋体" panose="02010600030101010101" pitchFamily="2" charset="-122"/>
              </a:endParaRPr>
            </a:p>
          </p:txBody>
        </p:sp>
        <p:sp>
          <p:nvSpPr>
            <p:cNvPr id="65" name="Text Box 39"/>
            <p:cNvSpPr txBox="1">
              <a:spLocks noChangeArrowheads="1"/>
            </p:cNvSpPr>
            <p:nvPr/>
          </p:nvSpPr>
          <p:spPr bwMode="auto">
            <a:xfrm>
              <a:off x="5955" y="3280"/>
              <a:ext cx="3209"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dirty="0">
                  <a:latin typeface="宋体" panose="02010600030101010101" pitchFamily="2" charset="-122"/>
                </a:rPr>
                <a:t>（传播）时延</a:t>
              </a:r>
            </a:p>
          </p:txBody>
        </p:sp>
        <p:sp>
          <p:nvSpPr>
            <p:cNvPr id="66" name="Text Box 40"/>
            <p:cNvSpPr txBox="1">
              <a:spLocks noChangeArrowheads="1"/>
            </p:cNvSpPr>
            <p:nvPr/>
          </p:nvSpPr>
          <p:spPr bwMode="auto">
            <a:xfrm>
              <a:off x="6860" y="4313"/>
              <a:ext cx="1399"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b="1">
                  <a:solidFill>
                    <a:schemeClr val="bg1"/>
                  </a:solidFill>
                  <a:latin typeface="宋体" panose="02010600030101010101" pitchFamily="2" charset="-122"/>
                  <a:cs typeface="微软雅黑" panose="020B0503020204020204" pitchFamily="34" charset="-122"/>
                </a:rPr>
                <a:t>链 路</a:t>
              </a:r>
            </a:p>
          </p:txBody>
        </p:sp>
        <p:sp>
          <p:nvSpPr>
            <p:cNvPr id="67" name="Text Box 41"/>
            <p:cNvSpPr txBox="1">
              <a:spLocks noChangeArrowheads="1"/>
            </p:cNvSpPr>
            <p:nvPr/>
          </p:nvSpPr>
          <p:spPr bwMode="auto">
            <a:xfrm>
              <a:off x="2661" y="3704"/>
              <a:ext cx="858" cy="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dirty="0">
                  <a:latin typeface="宋体" panose="02010600030101010101" pitchFamily="2" charset="-122"/>
                </a:rPr>
                <a:t>带宽</a:t>
              </a:r>
            </a:p>
          </p:txBody>
        </p:sp>
        <p:sp>
          <p:nvSpPr>
            <p:cNvPr id="68" name="Line 42"/>
            <p:cNvSpPr>
              <a:spLocks noChangeShapeType="1"/>
            </p:cNvSpPr>
            <p:nvPr/>
          </p:nvSpPr>
          <p:spPr bwMode="auto">
            <a:xfrm>
              <a:off x="3377" y="4256"/>
              <a:ext cx="668" cy="314"/>
            </a:xfrm>
            <a:prstGeom prst="line">
              <a:avLst/>
            </a:prstGeom>
            <a:noFill/>
            <a:ln w="254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900" b="1">
                <a:ln>
                  <a:solidFill>
                    <a:schemeClr val="accent3"/>
                  </a:solidFill>
                </a:ln>
                <a:solidFill>
                  <a:srgbClr val="1956B9"/>
                </a:solidFill>
                <a:latin typeface="宋体" panose="02010600030101010101" pitchFamily="2" charset="-122"/>
                <a:ea typeface="宋体" panose="02010600030101010101" pitchFamily="2" charset="-122"/>
              </a:endParaRPr>
            </a:p>
          </p:txBody>
        </p:sp>
        <p:sp>
          <p:nvSpPr>
            <p:cNvPr id="69" name="矩形 13"/>
            <p:cNvSpPr>
              <a:spLocks noChangeArrowheads="1"/>
            </p:cNvSpPr>
            <p:nvPr/>
          </p:nvSpPr>
          <p:spPr bwMode="auto">
            <a:xfrm>
              <a:off x="5088" y="5163"/>
              <a:ext cx="4737"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a:latin typeface="宋体" panose="02010600030101010101" pitchFamily="2" charset="-122"/>
                  <a:ea typeface="宋体" panose="02010600030101010101" pitchFamily="2" charset="-122"/>
                </a:rPr>
                <a:t>链路像一条空心管道</a:t>
              </a:r>
            </a:p>
          </p:txBody>
        </p:sp>
      </p:grpSp>
      <p:sp>
        <p:nvSpPr>
          <p:cNvPr id="70" name="矩形 69"/>
          <p:cNvSpPr/>
          <p:nvPr/>
        </p:nvSpPr>
        <p:spPr>
          <a:xfrm>
            <a:off x="6167415" y="4186880"/>
            <a:ext cx="2409812" cy="1754326"/>
          </a:xfrm>
          <a:prstGeom prst="rect">
            <a:avLst/>
          </a:prstGeom>
          <a:ln>
            <a:solidFill>
              <a:srgbClr val="C00000"/>
            </a:solidFill>
          </a:ln>
        </p:spPr>
        <p:txBody>
          <a:bodyPr wrap="square">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举例</a:t>
            </a:r>
            <a:endParaRPr lang="en-US" altLang="zh-CN" sz="15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500" kern="0" dirty="0">
                <a:latin typeface="Times New Roman" panose="02020603050405020304" pitchFamily="18" charset="0"/>
                <a:ea typeface="宋体" panose="02010600030101010101" pitchFamily="2" charset="-122"/>
                <a:cs typeface="Times New Roman" panose="02020603050405020304" pitchFamily="18" charset="0"/>
                <a:sym typeface="+mn-ea"/>
              </a:rPr>
              <a:t>传播时延为20毫秒，带宽为10Mb/s，则：</a:t>
            </a:r>
            <a:br>
              <a:rPr lang="en-US" altLang="zh-CN" sz="1500" kern="0" dirty="0">
                <a:latin typeface="Times New Roman" panose="02020603050405020304" pitchFamily="18" charset="0"/>
                <a:ea typeface="宋体" panose="02010600030101010101" pitchFamily="2" charset="-122"/>
                <a:cs typeface="Times New Roman" panose="02020603050405020304" pitchFamily="18" charset="0"/>
                <a:sym typeface="+mn-ea"/>
              </a:rPr>
            </a:br>
            <a:endParaRPr lang="en-US" altLang="zh-CN" sz="1500" kern="0" dirty="0">
              <a:latin typeface="Times New Roman" panose="02020603050405020304" pitchFamily="18" charset="0"/>
              <a:ea typeface="宋体" panose="02010600030101010101" pitchFamily="2" charset="-122"/>
              <a:cs typeface="Times New Roman" panose="02020603050405020304" pitchFamily="18" charset="0"/>
              <a:sym typeface="+mn-ea"/>
            </a:endParaRPr>
          </a:p>
          <a:p>
            <a:r>
              <a:rPr lang="zh-CN" altLang="en-US" sz="1500"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时延带宽积</a:t>
            </a:r>
            <a:br>
              <a:rPr lang="en-US" altLang="zh-CN" sz="1500"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br>
            <a:r>
              <a:rPr lang="zh-CN" altLang="en-US" sz="1500" kern="0" dirty="0">
                <a:latin typeface="Times New Roman" panose="02020603050405020304" pitchFamily="18" charset="0"/>
                <a:ea typeface="宋体" panose="02010600030101010101" pitchFamily="2" charset="-122"/>
                <a:cs typeface="Times New Roman" panose="02020603050405020304" pitchFamily="18" charset="0"/>
                <a:sym typeface="+mn-ea"/>
              </a:rPr>
              <a:t>= 20×10</a:t>
            </a:r>
            <a:r>
              <a:rPr lang="en-US" altLang="zh-CN" sz="1500" kern="0" baseline="30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1500" kern="0" baseline="30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1500" kern="0" dirty="0">
                <a:latin typeface="Times New Roman" panose="02020603050405020304" pitchFamily="18" charset="0"/>
                <a:ea typeface="宋体" panose="02010600030101010101" pitchFamily="2" charset="-122"/>
                <a:cs typeface="Times New Roman" panose="02020603050405020304" pitchFamily="18" charset="0"/>
                <a:sym typeface="+mn-ea"/>
              </a:rPr>
              <a:t>×10×10</a:t>
            </a:r>
            <a:r>
              <a:rPr lang="en-US" altLang="zh-CN" sz="1500" kern="0" baseline="30000" dirty="0">
                <a:latin typeface="Times New Roman" panose="02020603050405020304" pitchFamily="18" charset="0"/>
                <a:ea typeface="宋体" panose="02010600030101010101" pitchFamily="2" charset="-122"/>
                <a:cs typeface="Times New Roman" panose="02020603050405020304" pitchFamily="18" charset="0"/>
                <a:sym typeface="+mn-ea"/>
              </a:rPr>
              <a:t>6</a:t>
            </a:r>
            <a:r>
              <a:rPr lang="zh-CN" altLang="en-US" sz="1500" kern="0" baseline="30000" dirty="0">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1500" kern="0" baseline="30000" dirty="0">
              <a:latin typeface="Times New Roman" panose="02020603050405020304" pitchFamily="18" charset="0"/>
              <a:ea typeface="宋体" panose="02010600030101010101" pitchFamily="2" charset="-122"/>
              <a:cs typeface="Times New Roman" panose="02020603050405020304" pitchFamily="18" charset="0"/>
              <a:sym typeface="+mn-ea"/>
            </a:endParaRPr>
          </a:p>
          <a:p>
            <a:r>
              <a:rPr lang="zh-CN" altLang="en-US" sz="1500" kern="0" dirty="0">
                <a:latin typeface="Times New Roman" panose="02020603050405020304" pitchFamily="18" charset="0"/>
                <a:ea typeface="宋体" panose="02010600030101010101" pitchFamily="2" charset="-122"/>
                <a:cs typeface="Times New Roman" panose="02020603050405020304" pitchFamily="18" charset="0"/>
                <a:sym typeface="+mn-ea"/>
              </a:rPr>
              <a:t>= 2×10</a:t>
            </a:r>
            <a:r>
              <a:rPr lang="zh-CN" altLang="en-US" sz="1500" kern="0" baseline="30000" dirty="0">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1500" kern="0" dirty="0">
                <a:latin typeface="Times New Roman" panose="02020603050405020304" pitchFamily="18" charset="0"/>
                <a:ea typeface="宋体" panose="02010600030101010101" pitchFamily="2" charset="-122"/>
                <a:cs typeface="Times New Roman" panose="02020603050405020304" pitchFamily="18" charset="0"/>
                <a:sym typeface="+mn-ea"/>
              </a:rPr>
              <a:t> bit</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矩形 12"/>
          <p:cNvSpPr>
            <a:spLocks noChangeArrowheads="1"/>
          </p:cNvSpPr>
          <p:nvPr/>
        </p:nvSpPr>
        <p:spPr bwMode="auto">
          <a:xfrm>
            <a:off x="1376035" y="5529085"/>
            <a:ext cx="4375134" cy="646331"/>
          </a:xfrm>
          <a:prstGeom prst="rect">
            <a:avLst/>
          </a:prstGeom>
          <a:noFill/>
          <a:ln>
            <a:solidFill>
              <a:srgbClr val="C00000"/>
            </a:solidFill>
          </a:ln>
        </p:spPr>
        <p:txBody>
          <a:bodyPr>
            <a:spAutoFit/>
          </a:bodyPr>
          <a:lstStyle/>
          <a:p>
            <a:pPr algn="ctr"/>
            <a:r>
              <a:rPr lang="zh-CN" altLang="zh-CN" dirty="0">
                <a:latin typeface="宋体" panose="02010600030101010101" pitchFamily="2" charset="-122"/>
                <a:ea typeface="宋体" panose="02010600030101010101" pitchFamily="2" charset="-122"/>
              </a:rPr>
              <a:t>只有在代表链路的管道都充满比特时，</a:t>
            </a:r>
            <a:endParaRPr lang="en-US" altLang="zh-CN" dirty="0">
              <a:latin typeface="宋体" panose="02010600030101010101" pitchFamily="2" charset="-122"/>
              <a:ea typeface="宋体" panose="02010600030101010101" pitchFamily="2" charset="-122"/>
            </a:endParaRPr>
          </a:p>
          <a:p>
            <a:pPr algn="ctr"/>
            <a:r>
              <a:rPr lang="zh-CN" altLang="zh-CN" dirty="0">
                <a:latin typeface="宋体" panose="02010600030101010101" pitchFamily="2" charset="-122"/>
                <a:ea typeface="宋体" panose="02010600030101010101" pitchFamily="2" charset="-122"/>
              </a:rPr>
              <a:t>链路才得到充分</a:t>
            </a:r>
            <a:r>
              <a:rPr lang="zh-CN" altLang="en-US" dirty="0">
                <a:latin typeface="宋体" panose="02010600030101010101" pitchFamily="2" charset="-122"/>
                <a:ea typeface="宋体" panose="02010600030101010101" pitchFamily="2" charset="-122"/>
              </a:rPr>
              <a:t>的</a:t>
            </a:r>
            <a:r>
              <a:rPr lang="zh-CN" altLang="zh-CN" dirty="0">
                <a:latin typeface="宋体" panose="02010600030101010101" pitchFamily="2" charset="-122"/>
                <a:ea typeface="宋体" panose="02010600030101010101" pitchFamily="2" charset="-122"/>
              </a:rPr>
              <a:t>利用</a:t>
            </a:r>
            <a:endParaRPr lang="zh-CN" altLang="en-US"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blinds(horizontal)">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blinds(horizontal)">
                                      <p:cBhvr>
                                        <p:cTn id="12"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0" name="Rectangle 2"/>
          <p:cNvSpPr>
            <a:spLocks noGrp="1" noChangeArrowheads="1"/>
          </p:cNvSpPr>
          <p:nvPr>
            <p:ph type="title"/>
          </p:nvPr>
        </p:nvSpPr>
        <p:spPr>
          <a:xfrm>
            <a:off x="428625" y="666748"/>
            <a:ext cx="8206327" cy="787097"/>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网络核心：传输时延</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1" name="Text Box 54"/>
          <p:cNvSpPr txBox="1">
            <a:spLocks noChangeArrowheads="1"/>
          </p:cNvSpPr>
          <p:nvPr/>
        </p:nvSpPr>
        <p:spPr bwMode="auto">
          <a:xfrm>
            <a:off x="405352" y="1418423"/>
            <a:ext cx="8229600" cy="1717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marL="357505" indent="-357505" algn="just">
              <a:lnSpc>
                <a:spcPts val="3200"/>
              </a:lnSpc>
              <a:spcBef>
                <a:spcPts val="600"/>
              </a:spcBef>
              <a:defRPr/>
            </a:pPr>
            <a:r>
              <a:rPr lang="zh-CN" altLang="en-US" sz="2500" dirty="0">
                <a:ea typeface="宋体" panose="02010600030101010101" pitchFamily="2" charset="-122"/>
                <a:cs typeface="Times New Roman" panose="02020603050405020304" pitchFamily="18" charset="0"/>
              </a:rPr>
              <a:t>时延抖动</a:t>
            </a:r>
            <a:endParaRPr lang="en-US" altLang="zh-CN" sz="2500" dirty="0">
              <a:ea typeface="宋体" panose="02010600030101010101" pitchFamily="2" charset="-122"/>
              <a:cs typeface="Times New Roman" panose="02020603050405020304" pitchFamily="18" charset="0"/>
              <a:sym typeface="+mn-ea"/>
            </a:endParaRPr>
          </a:p>
          <a:p>
            <a:pPr lvl="1">
              <a:lnSpc>
                <a:spcPct val="115000"/>
              </a:lnSpc>
            </a:pPr>
            <a:r>
              <a:rPr lang="zh-CN" altLang="en-US" sz="2000" kern="0" dirty="0">
                <a:ea typeface="宋体" panose="02010600030101010101" pitchFamily="2" charset="-122"/>
                <a:cs typeface="Times New Roman" panose="02020603050405020304" pitchFamily="18" charset="0"/>
              </a:rPr>
              <a:t>变化的时延称为抖动（</a:t>
            </a:r>
            <a:r>
              <a:rPr lang="en-US" altLang="zh-CN" sz="2000" kern="0" dirty="0">
                <a:ea typeface="宋体" panose="02010600030101010101" pitchFamily="2" charset="-122"/>
                <a:cs typeface="Times New Roman" panose="02020603050405020304" pitchFamily="18" charset="0"/>
              </a:rPr>
              <a:t>Jitter</a:t>
            </a:r>
            <a:r>
              <a:rPr lang="zh-CN" altLang="en-US" sz="2000" kern="0" dirty="0">
                <a:ea typeface="宋体" panose="02010600030101010101" pitchFamily="2" charset="-122"/>
                <a:cs typeface="Times New Roman" panose="02020603050405020304" pitchFamily="18" charset="0"/>
              </a:rPr>
              <a:t>）</a:t>
            </a:r>
            <a:endParaRPr lang="en-US" altLang="zh-CN" sz="2000" kern="0" dirty="0">
              <a:ea typeface="宋体" panose="02010600030101010101" pitchFamily="2" charset="-122"/>
              <a:cs typeface="Times New Roman" panose="02020603050405020304" pitchFamily="18" charset="0"/>
            </a:endParaRPr>
          </a:p>
          <a:p>
            <a:pPr lvl="1">
              <a:lnSpc>
                <a:spcPct val="115000"/>
              </a:lnSpc>
            </a:pPr>
            <a:r>
              <a:rPr lang="zh-CN" altLang="en-US" sz="2000" kern="0" dirty="0">
                <a:ea typeface="宋体" panose="02010600030101010101" pitchFamily="2" charset="-122"/>
                <a:cs typeface="Times New Roman" panose="02020603050405020304" pitchFamily="18" charset="0"/>
              </a:rPr>
              <a:t>时延抖动起源于网络中的队列或缓存，抖动难以精确预测</a:t>
            </a:r>
            <a:endParaRPr lang="en-US" altLang="zh-CN" sz="2000" kern="0" dirty="0">
              <a:ea typeface="宋体" panose="02010600030101010101" pitchFamily="2" charset="-122"/>
              <a:cs typeface="Times New Roman" panose="02020603050405020304" pitchFamily="18" charset="0"/>
            </a:endParaRPr>
          </a:p>
          <a:p>
            <a:pPr lvl="1">
              <a:lnSpc>
                <a:spcPct val="115000"/>
              </a:lnSpc>
            </a:pPr>
            <a:r>
              <a:rPr lang="zh-CN" altLang="en-US" sz="2000" kern="0" dirty="0">
                <a:ea typeface="宋体" panose="02010600030101010101" pitchFamily="2" charset="-122"/>
                <a:cs typeface="Times New Roman" panose="02020603050405020304" pitchFamily="18" charset="0"/>
              </a:rPr>
              <a:t>在语音、视频等多媒体业务中，抖动通常严重影响用户体验</a:t>
            </a:r>
          </a:p>
        </p:txBody>
      </p:sp>
      <p:grpSp>
        <p:nvGrpSpPr>
          <p:cNvPr id="16" name="组合 15"/>
          <p:cNvGrpSpPr/>
          <p:nvPr/>
        </p:nvGrpSpPr>
        <p:grpSpPr>
          <a:xfrm>
            <a:off x="1577634" y="3282683"/>
            <a:ext cx="5572739" cy="2940038"/>
            <a:chOff x="9222" y="3144"/>
            <a:chExt cx="9795" cy="5008"/>
          </a:xfrm>
        </p:grpSpPr>
        <p:pic>
          <p:nvPicPr>
            <p:cNvPr id="17" name="图片 16"/>
            <p:cNvPicPr>
              <a:picLocks noChangeAspect="1"/>
            </p:cNvPicPr>
            <p:nvPr/>
          </p:nvPicPr>
          <p:blipFill>
            <a:blip r:embed="rId5"/>
            <a:stretch>
              <a:fillRect/>
            </a:stretch>
          </p:blipFill>
          <p:spPr>
            <a:xfrm>
              <a:off x="9222" y="3144"/>
              <a:ext cx="9795" cy="4065"/>
            </a:xfrm>
            <a:prstGeom prst="rect">
              <a:avLst/>
            </a:prstGeom>
          </p:spPr>
        </p:pic>
        <p:sp>
          <p:nvSpPr>
            <p:cNvPr id="18" name="圆角矩形 7"/>
            <p:cNvSpPr/>
            <p:nvPr/>
          </p:nvSpPr>
          <p:spPr>
            <a:xfrm>
              <a:off x="14451" y="4092"/>
              <a:ext cx="1738" cy="1496"/>
            </a:xfrm>
            <a:prstGeom prst="roundRect">
              <a:avLst/>
            </a:prstGeom>
            <a:noFill/>
            <a:ln w="412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350"/>
            </a:p>
          </p:txBody>
        </p:sp>
        <p:cxnSp>
          <p:nvCxnSpPr>
            <p:cNvPr id="19" name="直接连接符 18"/>
            <p:cNvCxnSpPr/>
            <p:nvPr/>
          </p:nvCxnSpPr>
          <p:spPr>
            <a:xfrm>
              <a:off x="9948" y="7135"/>
              <a:ext cx="591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2433" y="7376"/>
              <a:ext cx="4229" cy="776"/>
            </a:xfrm>
            <a:prstGeom prst="rect">
              <a:avLst/>
            </a:prstGeom>
            <a:noFill/>
          </p:spPr>
          <p:txBody>
            <a:bodyPr wrap="square" rtlCol="0">
              <a:spAutoFit/>
            </a:bodyPr>
            <a:lstStyle/>
            <a:p>
              <a:pPr algn="ctr"/>
              <a:r>
                <a:rPr lang="zh-CN" altLang="en-US">
                  <a:solidFill>
                    <a:srgbClr val="7030A0"/>
                  </a:solidFill>
                  <a:latin typeface="微软雅黑" panose="020B0503020204020204" pitchFamily="34" charset="-122"/>
                  <a:ea typeface="微软雅黑" panose="020B0503020204020204" pitchFamily="34" charset="-122"/>
                </a:rPr>
                <a:t>时延抖动</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28625" y="666749"/>
            <a:ext cx="8206327" cy="776916"/>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网络边缘：各式各样的“主机”</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7"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942" name="Text Box 8"/>
          <p:cNvSpPr txBox="1">
            <a:spLocks noChangeArrowheads="1"/>
          </p:cNvSpPr>
          <p:nvPr/>
        </p:nvSpPr>
        <p:spPr bwMode="auto">
          <a:xfrm>
            <a:off x="6135675" y="3259521"/>
            <a:ext cx="11142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1400" dirty="0">
                <a:latin typeface="微软雅黑" panose="020B0503020204020204" pitchFamily="34" charset="-122"/>
                <a:ea typeface="微软雅黑" panose="020B0503020204020204" pitchFamily="34" charset="-122"/>
              </a:rPr>
              <a:t>安全摄像头</a:t>
            </a:r>
            <a:endParaRPr lang="en-US" altLang="en-US" sz="1400" dirty="0">
              <a:latin typeface="+mn-lt"/>
            </a:endParaRPr>
          </a:p>
        </p:txBody>
      </p:sp>
      <p:pic>
        <p:nvPicPr>
          <p:cNvPr id="943" name="Picture 21"/>
          <p:cNvPicPr>
            <a:picLocks noChangeAspect="1"/>
          </p:cNvPicPr>
          <p:nvPr/>
        </p:nvPicPr>
        <p:blipFill>
          <a:blip r:embed="rId3" cstate="print"/>
          <a:stretch>
            <a:fillRect/>
          </a:stretch>
        </p:blipFill>
        <p:spPr>
          <a:xfrm>
            <a:off x="6287606" y="2416943"/>
            <a:ext cx="765903" cy="742275"/>
          </a:xfrm>
          <a:prstGeom prst="rect">
            <a:avLst/>
          </a:prstGeom>
        </p:spPr>
      </p:pic>
      <p:sp>
        <p:nvSpPr>
          <p:cNvPr id="945" name="Text Box 7"/>
          <p:cNvSpPr txBox="1">
            <a:spLocks noChangeArrowheads="1"/>
          </p:cNvSpPr>
          <p:nvPr/>
        </p:nvSpPr>
        <p:spPr bwMode="auto">
          <a:xfrm>
            <a:off x="1884456" y="3227580"/>
            <a:ext cx="1044600" cy="307777"/>
          </a:xfrm>
          <a:prstGeom prst="rect">
            <a:avLst/>
          </a:prstGeom>
          <a:noFill/>
          <a:ln>
            <a:noFill/>
          </a:ln>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zh-CN" altLang="en-US" sz="1400" dirty="0">
                <a:latin typeface="微软雅黑" panose="020B0503020204020204" pitchFamily="34" charset="-122"/>
                <a:ea typeface="微软雅黑" panose="020B0503020204020204" pitchFamily="34" charset="-122"/>
              </a:rPr>
              <a:t>智能音箱</a:t>
            </a:r>
          </a:p>
        </p:txBody>
      </p:sp>
      <p:sp>
        <p:nvSpPr>
          <p:cNvPr id="947" name="Text Box 8"/>
          <p:cNvSpPr txBox="1">
            <a:spLocks noChangeArrowheads="1"/>
          </p:cNvSpPr>
          <p:nvPr/>
        </p:nvSpPr>
        <p:spPr bwMode="auto">
          <a:xfrm>
            <a:off x="7529910" y="4972918"/>
            <a:ext cx="11050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1400" dirty="0" err="1">
                <a:latin typeface="微软雅黑" panose="020B0503020204020204" pitchFamily="34" charset="-122"/>
                <a:ea typeface="微软雅黑" panose="020B0503020204020204" pitchFamily="34" charset="-122"/>
              </a:rPr>
              <a:t>互联网冰箱</a:t>
            </a:r>
            <a:endParaRPr lang="en-US" altLang="en-US" sz="1400" dirty="0">
              <a:latin typeface="微软雅黑" panose="020B0503020204020204" pitchFamily="34" charset="-122"/>
              <a:ea typeface="微软雅黑" panose="020B0503020204020204" pitchFamily="34" charset="-122"/>
            </a:endParaRPr>
          </a:p>
        </p:txBody>
      </p:sp>
      <p:sp>
        <p:nvSpPr>
          <p:cNvPr id="949" name="Text Box 10"/>
          <p:cNvSpPr txBox="1">
            <a:spLocks noChangeArrowheads="1"/>
          </p:cNvSpPr>
          <p:nvPr/>
        </p:nvSpPr>
        <p:spPr bwMode="auto">
          <a:xfrm>
            <a:off x="6139254" y="4974112"/>
            <a:ext cx="12999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zh-CN" altLang="en-US" sz="1400" dirty="0">
                <a:latin typeface="微软雅黑" panose="020B0503020204020204" pitchFamily="34" charset="-122"/>
                <a:ea typeface="微软雅黑" panose="020B0503020204020204" pitchFamily="34" charset="-122"/>
              </a:rPr>
              <a:t>智能电表</a:t>
            </a:r>
            <a:endParaRPr lang="en-US" altLang="en-US" sz="1400" dirty="0">
              <a:latin typeface="微软雅黑" panose="020B0503020204020204" pitchFamily="34" charset="-122"/>
              <a:ea typeface="微软雅黑" panose="020B0503020204020204" pitchFamily="34" charset="-122"/>
            </a:endParaRPr>
          </a:p>
        </p:txBody>
      </p:sp>
      <p:sp>
        <p:nvSpPr>
          <p:cNvPr id="951" name="Text Box 8"/>
          <p:cNvSpPr txBox="1">
            <a:spLocks noChangeArrowheads="1"/>
          </p:cNvSpPr>
          <p:nvPr/>
        </p:nvSpPr>
        <p:spPr bwMode="auto">
          <a:xfrm>
            <a:off x="3173932" y="4941592"/>
            <a:ext cx="979184" cy="307777"/>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zh-CN" sz="1400" dirty="0">
                <a:latin typeface="微软雅黑" panose="020B0503020204020204" pitchFamily="34" charset="-122"/>
                <a:ea typeface="微软雅黑" panose="020B0503020204020204" pitchFamily="34" charset="-122"/>
                <a:sym typeface="+mn-ea"/>
              </a:rPr>
              <a:t>VR</a:t>
            </a:r>
            <a:r>
              <a:rPr lang="zh-CN" altLang="en-US" sz="1400" dirty="0">
                <a:latin typeface="微软雅黑" panose="020B0503020204020204" pitchFamily="34" charset="-122"/>
                <a:ea typeface="微软雅黑" panose="020B0503020204020204" pitchFamily="34" charset="-122"/>
                <a:sym typeface="+mn-ea"/>
              </a:rPr>
              <a:t>眼镜</a:t>
            </a:r>
            <a:endParaRPr lang="en-US" altLang="en-US" sz="1400" dirty="0">
              <a:latin typeface="微软雅黑" panose="020B0503020204020204" pitchFamily="34" charset="-122"/>
              <a:ea typeface="微软雅黑" panose="020B0503020204020204" pitchFamily="34" charset="-122"/>
              <a:sym typeface="+mn-ea"/>
            </a:endParaRPr>
          </a:p>
        </p:txBody>
      </p:sp>
      <p:pic>
        <p:nvPicPr>
          <p:cNvPr id="952" name="Picture 23"/>
          <p:cNvPicPr>
            <a:picLocks noChangeAspect="1"/>
          </p:cNvPicPr>
          <p:nvPr/>
        </p:nvPicPr>
        <p:blipFill>
          <a:blip r:embed="rId4" cstate="print"/>
          <a:stretch>
            <a:fillRect/>
          </a:stretch>
        </p:blipFill>
        <p:spPr>
          <a:xfrm>
            <a:off x="2149851" y="4028694"/>
            <a:ext cx="394521" cy="751025"/>
          </a:xfrm>
          <a:prstGeom prst="rect">
            <a:avLst/>
          </a:prstGeom>
        </p:spPr>
      </p:pic>
      <p:sp>
        <p:nvSpPr>
          <p:cNvPr id="953" name="Text Box 8"/>
          <p:cNvSpPr txBox="1">
            <a:spLocks noChangeArrowheads="1"/>
          </p:cNvSpPr>
          <p:nvPr/>
        </p:nvSpPr>
        <p:spPr bwMode="auto">
          <a:xfrm>
            <a:off x="619029" y="3245197"/>
            <a:ext cx="9361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zh-CN" altLang="en-US" sz="1400" dirty="0">
                <a:latin typeface="微软雅黑" panose="020B0503020204020204" pitchFamily="34" charset="-122"/>
                <a:ea typeface="微软雅黑" panose="020B0503020204020204" pitchFamily="34" charset="-122"/>
              </a:rPr>
              <a:t>台式机</a:t>
            </a:r>
          </a:p>
        </p:txBody>
      </p:sp>
      <p:sp>
        <p:nvSpPr>
          <p:cNvPr id="957" name="Text Box 8"/>
          <p:cNvSpPr txBox="1">
            <a:spLocks noChangeArrowheads="1"/>
          </p:cNvSpPr>
          <p:nvPr/>
        </p:nvSpPr>
        <p:spPr bwMode="auto">
          <a:xfrm>
            <a:off x="4522570" y="3245197"/>
            <a:ext cx="13144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buClrTx/>
              <a:buSzTx/>
              <a:buFontTx/>
              <a:buNone/>
            </a:pPr>
            <a:r>
              <a:rPr lang="zh-CN" altLang="en-US" sz="1400" dirty="0">
                <a:latin typeface="微软雅黑" panose="020B0503020204020204" pitchFamily="34" charset="-122"/>
                <a:ea typeface="微软雅黑" panose="020B0503020204020204" pitchFamily="34" charset="-122"/>
              </a:rPr>
              <a:t>心脏</a:t>
            </a:r>
            <a:r>
              <a:rPr lang="en-US" altLang="en-US" sz="1400" dirty="0" err="1">
                <a:latin typeface="微软雅黑" panose="020B0503020204020204" pitchFamily="34" charset="-122"/>
                <a:ea typeface="微软雅黑" panose="020B0503020204020204" pitchFamily="34" charset="-122"/>
              </a:rPr>
              <a:t>起搏器</a:t>
            </a:r>
            <a:endParaRPr lang="en-US" altLang="en-US" sz="1400" dirty="0">
              <a:latin typeface="微软雅黑" panose="020B0503020204020204" pitchFamily="34" charset="-122"/>
              <a:ea typeface="微软雅黑" panose="020B0503020204020204" pitchFamily="34" charset="-122"/>
            </a:endParaRPr>
          </a:p>
        </p:txBody>
      </p:sp>
      <p:pic>
        <p:nvPicPr>
          <p:cNvPr id="958" name="Picture 33"/>
          <p:cNvPicPr>
            <a:picLocks noChangeAspect="1"/>
          </p:cNvPicPr>
          <p:nvPr/>
        </p:nvPicPr>
        <p:blipFill>
          <a:blip r:embed="rId5"/>
          <a:stretch>
            <a:fillRect/>
          </a:stretch>
        </p:blipFill>
        <p:spPr>
          <a:xfrm>
            <a:off x="3025041" y="4300449"/>
            <a:ext cx="1248314" cy="486600"/>
          </a:xfrm>
          <a:prstGeom prst="rect">
            <a:avLst/>
          </a:prstGeom>
        </p:spPr>
      </p:pic>
      <p:sp>
        <p:nvSpPr>
          <p:cNvPr id="959" name="Text Box 10"/>
          <p:cNvSpPr txBox="1">
            <a:spLocks noChangeArrowheads="1"/>
          </p:cNvSpPr>
          <p:nvPr/>
        </p:nvSpPr>
        <p:spPr bwMode="auto">
          <a:xfrm>
            <a:off x="3213966" y="3245197"/>
            <a:ext cx="1103994" cy="307777"/>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zh-CN" altLang="en-US" sz="1400" dirty="0">
                <a:latin typeface="微软雅黑" panose="020B0503020204020204" pitchFamily="34" charset="-122"/>
                <a:ea typeface="微软雅黑" panose="020B0503020204020204" pitchFamily="34" charset="-122"/>
                <a:sym typeface="+mn-ea"/>
              </a:rPr>
              <a:t>智能手机</a:t>
            </a:r>
            <a:endParaRPr lang="en-US" altLang="en-US" sz="1400" dirty="0">
              <a:latin typeface="微软雅黑" panose="020B0503020204020204" pitchFamily="34" charset="-122"/>
              <a:ea typeface="微软雅黑" panose="020B0503020204020204" pitchFamily="34" charset="-122"/>
              <a:sym typeface="+mn-ea"/>
            </a:endParaRPr>
          </a:p>
        </p:txBody>
      </p:sp>
      <p:pic>
        <p:nvPicPr>
          <p:cNvPr id="960" name="Picture 31"/>
          <p:cNvPicPr>
            <a:picLocks noChangeAspect="1"/>
          </p:cNvPicPr>
          <p:nvPr/>
        </p:nvPicPr>
        <p:blipFill>
          <a:blip r:embed="rId6" cstate="print"/>
          <a:stretch>
            <a:fillRect/>
          </a:stretch>
        </p:blipFill>
        <p:spPr>
          <a:xfrm>
            <a:off x="644415" y="3943086"/>
            <a:ext cx="937700" cy="843963"/>
          </a:xfrm>
          <a:prstGeom prst="rect">
            <a:avLst/>
          </a:prstGeom>
        </p:spPr>
      </p:pic>
      <p:sp>
        <p:nvSpPr>
          <p:cNvPr id="961" name="Text Box 10"/>
          <p:cNvSpPr txBox="1">
            <a:spLocks noChangeArrowheads="1"/>
          </p:cNvSpPr>
          <p:nvPr/>
        </p:nvSpPr>
        <p:spPr bwMode="auto">
          <a:xfrm>
            <a:off x="528676" y="4941593"/>
            <a:ext cx="1122093" cy="307777"/>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1400" dirty="0">
                <a:latin typeface="微软雅黑" panose="020B0503020204020204" pitchFamily="34" charset="-122"/>
                <a:ea typeface="微软雅黑" panose="020B0503020204020204" pitchFamily="34" charset="-122"/>
                <a:sym typeface="+mn-ea"/>
              </a:rPr>
              <a:t>智能手环</a:t>
            </a:r>
          </a:p>
        </p:txBody>
      </p:sp>
      <p:sp>
        <p:nvSpPr>
          <p:cNvPr id="964" name="TextBox 49"/>
          <p:cNvSpPr txBox="1"/>
          <p:nvPr/>
        </p:nvSpPr>
        <p:spPr>
          <a:xfrm>
            <a:off x="4778169" y="4950973"/>
            <a:ext cx="950138" cy="307777"/>
          </a:xfrm>
          <a:prstGeom prst="rect">
            <a:avLst/>
          </a:prstGeom>
          <a:noFill/>
        </p:spPr>
        <p:txBody>
          <a:bodyPr wrap="square" rtlCol="0">
            <a:spAutoFit/>
          </a:bodyPr>
          <a:lstStyle/>
          <a:p>
            <a:pPr algn="ctr">
              <a:buClrTx/>
              <a:buSzTx/>
              <a:buFontTx/>
            </a:pPr>
            <a:r>
              <a:rPr lang="en-US" altLang="en-US" sz="1400" dirty="0" err="1">
                <a:latin typeface="微软雅黑" panose="020B0503020204020204" pitchFamily="34" charset="-122"/>
                <a:ea typeface="微软雅黑" panose="020B0503020204020204" pitchFamily="34" charset="-122"/>
                <a:cs typeface="Arial" panose="020B0604020202020204" pitchFamily="34" charset="0"/>
              </a:rPr>
              <a:t>智能汽车</a:t>
            </a:r>
            <a:endParaRPr lang="en-US" altLang="en-US" sz="1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965" name="TextBox 55"/>
          <p:cNvSpPr txBox="1"/>
          <p:nvPr/>
        </p:nvSpPr>
        <p:spPr>
          <a:xfrm>
            <a:off x="7571550" y="3238608"/>
            <a:ext cx="935066" cy="307777"/>
          </a:xfrm>
          <a:prstGeom prst="rect">
            <a:avLst/>
          </a:prstGeom>
          <a:noFill/>
        </p:spPr>
        <p:txBody>
          <a:bodyPr wrap="square" rtlCol="0">
            <a:spAutoFit/>
          </a:bodyPr>
          <a:lstStyle/>
          <a:p>
            <a:pPr algn="ctr">
              <a:buClrTx/>
              <a:buSzTx/>
              <a:buFontTx/>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共享单</a:t>
            </a:r>
            <a:r>
              <a:rPr lang="en-US" altLang="en-US" sz="1400" dirty="0">
                <a:latin typeface="微软雅黑" panose="020B0503020204020204" pitchFamily="34" charset="-122"/>
                <a:ea typeface="微软雅黑" panose="020B0503020204020204" pitchFamily="34" charset="-122"/>
                <a:cs typeface="Arial" panose="020B0604020202020204" pitchFamily="34" charset="0"/>
              </a:rPr>
              <a:t>车</a:t>
            </a:r>
          </a:p>
        </p:txBody>
      </p:sp>
      <p:sp>
        <p:nvSpPr>
          <p:cNvPr id="966" name="文本框 965"/>
          <p:cNvSpPr txBox="1"/>
          <p:nvPr/>
        </p:nvSpPr>
        <p:spPr>
          <a:xfrm>
            <a:off x="1725878" y="4964677"/>
            <a:ext cx="1305293" cy="284693"/>
          </a:xfrm>
          <a:prstGeom prst="rect">
            <a:avLst/>
          </a:prstGeom>
          <a:noFill/>
        </p:spPr>
        <p:txBody>
          <a:bodyPr vert="horz" wrap="square" lIns="68580" tIns="34290" rIns="68580" bIns="34290" rtlCol="0">
            <a:spAutoFit/>
          </a:bodyPr>
          <a:lstStyle/>
          <a:p>
            <a:pPr indent="-171450" algn="ctr">
              <a:spcBef>
                <a:spcPts val="450"/>
              </a:spcBef>
            </a:pPr>
            <a:r>
              <a:rPr lang="zh-CN" altLang="en-US" sz="1400" dirty="0">
                <a:latin typeface="微软雅黑" panose="020B0503020204020204" pitchFamily="34" charset="-122"/>
                <a:ea typeface="微软雅黑" panose="020B0503020204020204" pitchFamily="34" charset="-122"/>
              </a:rPr>
              <a:t>智能音箱</a:t>
            </a:r>
          </a:p>
        </p:txBody>
      </p:sp>
      <p:pic>
        <p:nvPicPr>
          <p:cNvPr id="4" name="图片 3">
            <a:extLst>
              <a:ext uri="{FF2B5EF4-FFF2-40B4-BE49-F238E27FC236}">
                <a16:creationId xmlns:a16="http://schemas.microsoft.com/office/drawing/2014/main" id="{AC9E9362-BD3E-44F2-9E58-ECF018318D6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73480" y="2285159"/>
            <a:ext cx="933136" cy="993780"/>
          </a:xfrm>
          <a:prstGeom prst="rect">
            <a:avLst/>
          </a:prstGeom>
        </p:spPr>
      </p:pic>
      <p:pic>
        <p:nvPicPr>
          <p:cNvPr id="7" name="图片 6">
            <a:extLst>
              <a:ext uri="{FF2B5EF4-FFF2-40B4-BE49-F238E27FC236}">
                <a16:creationId xmlns:a16="http://schemas.microsoft.com/office/drawing/2014/main" id="{1AE4B9F4-03E5-4C40-BE33-E061C328BF6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51260" y="2474471"/>
            <a:ext cx="992772" cy="705706"/>
          </a:xfrm>
          <a:prstGeom prst="rect">
            <a:avLst/>
          </a:prstGeom>
        </p:spPr>
      </p:pic>
      <p:pic>
        <p:nvPicPr>
          <p:cNvPr id="10" name="图片 9">
            <a:extLst>
              <a:ext uri="{FF2B5EF4-FFF2-40B4-BE49-F238E27FC236}">
                <a16:creationId xmlns:a16="http://schemas.microsoft.com/office/drawing/2014/main" id="{0FCC7493-D1BF-44B2-9746-C6BAE4DEC8B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39206" y="3750196"/>
            <a:ext cx="675743" cy="1191397"/>
          </a:xfrm>
          <a:prstGeom prst="rect">
            <a:avLst/>
          </a:prstGeom>
        </p:spPr>
      </p:pic>
      <p:pic>
        <p:nvPicPr>
          <p:cNvPr id="13" name="图片 12">
            <a:extLst>
              <a:ext uri="{FF2B5EF4-FFF2-40B4-BE49-F238E27FC236}">
                <a16:creationId xmlns:a16="http://schemas.microsoft.com/office/drawing/2014/main" id="{934A4FBD-785A-43F8-8941-E26EB62C2BA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28676" y="2325491"/>
            <a:ext cx="1098487" cy="913117"/>
          </a:xfrm>
          <a:prstGeom prst="rect">
            <a:avLst/>
          </a:prstGeom>
        </p:spPr>
      </p:pic>
      <p:pic>
        <p:nvPicPr>
          <p:cNvPr id="16" name="图片 15">
            <a:extLst>
              <a:ext uri="{FF2B5EF4-FFF2-40B4-BE49-F238E27FC236}">
                <a16:creationId xmlns:a16="http://schemas.microsoft.com/office/drawing/2014/main" id="{3CA6236B-298D-45CD-B849-395FDF3DA5F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522574" y="2259168"/>
            <a:ext cx="463196" cy="913117"/>
          </a:xfrm>
          <a:prstGeom prst="rect">
            <a:avLst/>
          </a:prstGeom>
        </p:spPr>
      </p:pic>
      <p:pic>
        <p:nvPicPr>
          <p:cNvPr id="22" name="图片 21">
            <a:extLst>
              <a:ext uri="{FF2B5EF4-FFF2-40B4-BE49-F238E27FC236}">
                <a16:creationId xmlns:a16="http://schemas.microsoft.com/office/drawing/2014/main" id="{7B6C62AF-498B-41AA-9C28-3B07D4B8785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09925" y="2347183"/>
            <a:ext cx="766322" cy="878358"/>
          </a:xfrm>
          <a:prstGeom prst="rect">
            <a:avLst/>
          </a:prstGeom>
        </p:spPr>
      </p:pic>
      <p:pic>
        <p:nvPicPr>
          <p:cNvPr id="25" name="图片 24">
            <a:extLst>
              <a:ext uri="{FF2B5EF4-FFF2-40B4-BE49-F238E27FC236}">
                <a16:creationId xmlns:a16="http://schemas.microsoft.com/office/drawing/2014/main" id="{A64BFE1C-3A6F-4393-BA79-CFED538FCBA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302330" y="4008579"/>
            <a:ext cx="878292" cy="937549"/>
          </a:xfrm>
          <a:prstGeom prst="rect">
            <a:avLst/>
          </a:prstGeom>
        </p:spPr>
      </p:pic>
      <p:pic>
        <p:nvPicPr>
          <p:cNvPr id="31" name="图片 30">
            <a:extLst>
              <a:ext uri="{FF2B5EF4-FFF2-40B4-BE49-F238E27FC236}">
                <a16:creationId xmlns:a16="http://schemas.microsoft.com/office/drawing/2014/main" id="{3A00C02C-460E-4DB0-ACF0-8D77A4D0070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22570" y="3996191"/>
            <a:ext cx="1404794" cy="9055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431114" y="1544783"/>
            <a:ext cx="5700169" cy="4865613"/>
          </a:xfrm>
        </p:spPr>
        <p:txBody>
          <a:bodyPr>
            <a:normAutofit/>
          </a:bodyPr>
          <a:lstStyle/>
          <a:p>
            <a:pPr>
              <a:lnSpc>
                <a:spcPts val="3000"/>
              </a:lnSpc>
              <a:spcBef>
                <a:spcPts val="600"/>
              </a:spcBef>
              <a:buFont typeface="Wingdings" panose="05000000000000000000" pitchFamily="2" charset="2"/>
              <a:buNone/>
              <a:defRPr/>
            </a:pP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问题：如何将端系统连接到边缘路由器？</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446405" indent="-355600">
              <a:lnSpc>
                <a:spcPts val="3000"/>
              </a:lnSpc>
              <a:spcBef>
                <a:spcPts val="12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有线接入</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000"/>
              </a:lnSpc>
              <a:spcBef>
                <a:spcPts val="600"/>
              </a:spcBef>
              <a:buFontTx/>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数字用户线路（</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xDSL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000"/>
              </a:lnSpc>
              <a:spcBef>
                <a:spcPts val="600"/>
              </a:spcBef>
              <a:buFontTx/>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混合光纤同轴电缆（</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HFC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000"/>
              </a:lnSpc>
              <a:spcBef>
                <a:spcPts val="600"/>
              </a:spcBef>
              <a:buFontTx/>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光纤宽带（</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FTTH</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000"/>
              </a:lnSpc>
              <a:spcBef>
                <a:spcPts val="600"/>
              </a:spcBef>
              <a:buFontTx/>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46405" indent="-355600">
              <a:lnSpc>
                <a:spcPts val="30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无线接入</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0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无线局域网（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Wi-Fi</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0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移动通信网（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4G/5G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ea typeface="宋体" panose="02010600030101010101" pitchFamily="2" charset="-122"/>
            </a:endParaRPr>
          </a:p>
          <a:p>
            <a:pPr>
              <a:lnSpc>
                <a:spcPct val="100000"/>
              </a:lnSpc>
              <a:spcBef>
                <a:spcPts val="300"/>
              </a:spcBef>
              <a:buFont typeface="Wingdings" panose="05000000000000000000" pitchFamily="2" charset="2"/>
              <a:buNone/>
              <a:defRPr/>
            </a:pPr>
            <a:r>
              <a:rPr lang="zh-CN" altLang="en-US" sz="21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注意两个指标</a:t>
            </a:r>
            <a:r>
              <a:rPr lang="zh-CN" altLang="en-US" sz="2100" dirty="0">
                <a:solidFill>
                  <a:srgbClr val="FF0000"/>
                </a:solidFill>
                <a:ea typeface="宋体" panose="02010600030101010101" pitchFamily="2" charset="-122"/>
                <a:cs typeface="Times New Roman" panose="02020603050405020304" pitchFamily="18" charset="0"/>
              </a:rPr>
              <a:t>：</a:t>
            </a:r>
            <a:r>
              <a:rPr lang="zh-CN" altLang="en-US" sz="2000" b="1" dirty="0">
                <a:latin typeface="楷体" panose="02010609060101010101" pitchFamily="49" charset="-122"/>
                <a:ea typeface="楷体" panose="02010609060101010101" pitchFamily="49" charset="-122"/>
              </a:rPr>
              <a:t>接入网速率、共享或专用</a:t>
            </a:r>
            <a:endParaRPr lang="en-US" altLang="zh-CN" sz="2000" b="1" dirty="0">
              <a:latin typeface="楷体" panose="02010609060101010101" pitchFamily="49" charset="-122"/>
              <a:ea typeface="楷体" panose="02010609060101010101" pitchFamily="49" charset="-122"/>
            </a:endParaRPr>
          </a:p>
        </p:txBody>
      </p:sp>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grpSp>
        <p:nvGrpSpPr>
          <p:cNvPr id="662" name="Group 2"/>
          <p:cNvGrpSpPr/>
          <p:nvPr/>
        </p:nvGrpSpPr>
        <p:grpSpPr bwMode="auto">
          <a:xfrm>
            <a:off x="5592764" y="1886673"/>
            <a:ext cx="3458640" cy="4429997"/>
            <a:chOff x="5202238" y="1546225"/>
            <a:chExt cx="3551237" cy="4450443"/>
          </a:xfrm>
        </p:grpSpPr>
        <p:sp>
          <p:nvSpPr>
            <p:cNvPr id="663" name="Freeform 665"/>
            <p:cNvSpPr/>
            <p:nvPr/>
          </p:nvSpPr>
          <p:spPr bwMode="auto">
            <a:xfrm>
              <a:off x="5202238" y="1712913"/>
              <a:ext cx="1736725"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64" name="Group 666"/>
            <p:cNvGrpSpPr/>
            <p:nvPr/>
          </p:nvGrpSpPr>
          <p:grpSpPr bwMode="auto">
            <a:xfrm>
              <a:off x="5329977" y="2980450"/>
              <a:ext cx="1458912" cy="933450"/>
              <a:chOff x="2889" y="1631"/>
              <a:chExt cx="980" cy="743"/>
            </a:xfrm>
          </p:grpSpPr>
          <p:sp>
            <p:nvSpPr>
              <p:cNvPr id="1229" name="Rectangle 667"/>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30" name="AutoShape 668"/>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00CCFF"/>
                  </a:solidFill>
                </a:endParaRPr>
              </a:p>
            </p:txBody>
          </p:sp>
        </p:grpSp>
        <p:sp>
          <p:nvSpPr>
            <p:cNvPr id="665" name="Freeform 669"/>
            <p:cNvSpPr/>
            <p:nvPr/>
          </p:nvSpPr>
          <p:spPr bwMode="auto">
            <a:xfrm>
              <a:off x="5364163" y="4331380"/>
              <a:ext cx="3225800"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66" name="Line 670"/>
            <p:cNvSpPr>
              <a:spLocks noChangeShapeType="1"/>
            </p:cNvSpPr>
            <p:nvPr/>
          </p:nvSpPr>
          <p:spPr bwMode="auto">
            <a:xfrm rot="-5400000">
              <a:off x="7845425" y="5162551"/>
              <a:ext cx="523875" cy="1397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7" name="Line 671"/>
            <p:cNvSpPr>
              <a:spLocks noChangeShapeType="1"/>
            </p:cNvSpPr>
            <p:nvPr/>
          </p:nvSpPr>
          <p:spPr bwMode="auto">
            <a:xfrm rot="5400000" flipV="1">
              <a:off x="7991475" y="5443538"/>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8" name="Line 672"/>
            <p:cNvSpPr>
              <a:spLocks noChangeShapeType="1"/>
            </p:cNvSpPr>
            <p:nvPr/>
          </p:nvSpPr>
          <p:spPr bwMode="auto">
            <a:xfrm rot="-5400000">
              <a:off x="8177213" y="5116513"/>
              <a:ext cx="0" cy="1143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9" name="Line 674"/>
            <p:cNvSpPr>
              <a:spLocks noChangeShapeType="1"/>
            </p:cNvSpPr>
            <p:nvPr/>
          </p:nvSpPr>
          <p:spPr bwMode="auto">
            <a:xfrm>
              <a:off x="6100763" y="4776788"/>
              <a:ext cx="217487" cy="10001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0" name="Line 675"/>
            <p:cNvSpPr>
              <a:spLocks noChangeShapeType="1"/>
            </p:cNvSpPr>
            <p:nvPr/>
          </p:nvSpPr>
          <p:spPr bwMode="auto">
            <a:xfrm flipV="1">
              <a:off x="5842000" y="5038725"/>
              <a:ext cx="407988" cy="74613"/>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1" name="Line 678"/>
            <p:cNvSpPr>
              <a:spLocks noChangeShapeType="1"/>
            </p:cNvSpPr>
            <p:nvPr/>
          </p:nvSpPr>
          <p:spPr bwMode="auto">
            <a:xfrm flipH="1">
              <a:off x="6267450" y="5102225"/>
              <a:ext cx="144463" cy="169863"/>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2" name="Line 679"/>
            <p:cNvSpPr>
              <a:spLocks noChangeShapeType="1"/>
            </p:cNvSpPr>
            <p:nvPr/>
          </p:nvSpPr>
          <p:spPr bwMode="auto">
            <a:xfrm flipH="1" flipV="1">
              <a:off x="6586538" y="5110163"/>
              <a:ext cx="76200" cy="16351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3" name="Line 680"/>
            <p:cNvSpPr>
              <a:spLocks noChangeShapeType="1"/>
            </p:cNvSpPr>
            <p:nvPr/>
          </p:nvSpPr>
          <p:spPr bwMode="auto">
            <a:xfrm>
              <a:off x="6743700" y="5056188"/>
              <a:ext cx="503238" cy="269875"/>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4" name="Line 682"/>
            <p:cNvSpPr>
              <a:spLocks noChangeShapeType="1"/>
            </p:cNvSpPr>
            <p:nvPr/>
          </p:nvSpPr>
          <p:spPr bwMode="auto">
            <a:xfrm>
              <a:off x="6284913" y="3551238"/>
              <a:ext cx="0" cy="10636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5" name="Line 683"/>
            <p:cNvSpPr>
              <a:spLocks noChangeShapeType="1"/>
            </p:cNvSpPr>
            <p:nvPr/>
          </p:nvSpPr>
          <p:spPr bwMode="auto">
            <a:xfrm flipV="1">
              <a:off x="5891213" y="3736975"/>
              <a:ext cx="168275" cy="3175"/>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76" name="Picture 684"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0388" y="3548063"/>
              <a:ext cx="3698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7" name="Line 685"/>
            <p:cNvSpPr>
              <a:spLocks noChangeShapeType="1"/>
            </p:cNvSpPr>
            <p:nvPr/>
          </p:nvSpPr>
          <p:spPr bwMode="auto">
            <a:xfrm rot="5400000" flipV="1">
              <a:off x="7994650" y="5440363"/>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8" name="Line 686"/>
            <p:cNvSpPr>
              <a:spLocks noChangeShapeType="1"/>
            </p:cNvSpPr>
            <p:nvPr/>
          </p:nvSpPr>
          <p:spPr bwMode="auto">
            <a:xfrm flipV="1">
              <a:off x="5894388" y="3733800"/>
              <a:ext cx="168275" cy="3175"/>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79" name="Picture 70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1975" y="3546475"/>
              <a:ext cx="3698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0" name="Freeform 709"/>
            <p:cNvSpPr/>
            <p:nvPr/>
          </p:nvSpPr>
          <p:spPr bwMode="auto">
            <a:xfrm>
              <a:off x="7015163" y="3530600"/>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81" name="Freeform 710"/>
            <p:cNvSpPr/>
            <p:nvPr/>
          </p:nvSpPr>
          <p:spPr bwMode="auto">
            <a:xfrm>
              <a:off x="7023100" y="2005013"/>
              <a:ext cx="1730375"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82" name="Line 711"/>
            <p:cNvSpPr>
              <a:spLocks noChangeShapeType="1"/>
            </p:cNvSpPr>
            <p:nvPr/>
          </p:nvSpPr>
          <p:spPr bwMode="auto">
            <a:xfrm>
              <a:off x="7396163" y="3816350"/>
              <a:ext cx="163512" cy="12065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3" name="Line 712"/>
            <p:cNvSpPr>
              <a:spLocks noChangeShapeType="1"/>
            </p:cNvSpPr>
            <p:nvPr/>
          </p:nvSpPr>
          <p:spPr bwMode="auto">
            <a:xfrm>
              <a:off x="7493000" y="3736975"/>
              <a:ext cx="279400" cy="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4" name="Line 713"/>
            <p:cNvSpPr>
              <a:spLocks noChangeShapeType="1"/>
            </p:cNvSpPr>
            <p:nvPr/>
          </p:nvSpPr>
          <p:spPr bwMode="auto">
            <a:xfrm flipV="1">
              <a:off x="7729538" y="3822700"/>
              <a:ext cx="134937" cy="10477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5" name="Line 714"/>
            <p:cNvSpPr>
              <a:spLocks noChangeShapeType="1"/>
            </p:cNvSpPr>
            <p:nvPr/>
          </p:nvSpPr>
          <p:spPr bwMode="auto">
            <a:xfrm>
              <a:off x="6723063" y="2590800"/>
              <a:ext cx="509587" cy="3175"/>
            </a:xfrm>
            <a:prstGeom prst="line">
              <a:avLst/>
            </a:prstGeom>
            <a:noFill/>
            <a:ln w="9525">
              <a:solidFill>
                <a:srgbClr val="969696"/>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6" name="Line 715"/>
            <p:cNvSpPr>
              <a:spLocks noChangeShapeType="1"/>
            </p:cNvSpPr>
            <p:nvPr/>
          </p:nvSpPr>
          <p:spPr bwMode="auto">
            <a:xfrm>
              <a:off x="7358063" y="4700588"/>
              <a:ext cx="390525" cy="18415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7" name="Line 716"/>
            <p:cNvSpPr>
              <a:spLocks noChangeShapeType="1"/>
            </p:cNvSpPr>
            <p:nvPr/>
          </p:nvSpPr>
          <p:spPr bwMode="auto">
            <a:xfrm flipV="1">
              <a:off x="6737350" y="4687888"/>
              <a:ext cx="322263" cy="198437"/>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8" name="Line 717"/>
            <p:cNvSpPr>
              <a:spLocks noChangeShapeType="1"/>
            </p:cNvSpPr>
            <p:nvPr/>
          </p:nvSpPr>
          <p:spPr bwMode="auto">
            <a:xfrm flipV="1">
              <a:off x="6780213" y="4979988"/>
              <a:ext cx="971550"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9" name="Line 718"/>
            <p:cNvSpPr>
              <a:spLocks noChangeShapeType="1"/>
            </p:cNvSpPr>
            <p:nvPr/>
          </p:nvSpPr>
          <p:spPr bwMode="auto">
            <a:xfrm flipV="1">
              <a:off x="7577138" y="2495550"/>
              <a:ext cx="123825" cy="87313"/>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0" name="Line 719"/>
            <p:cNvSpPr>
              <a:spLocks noChangeShapeType="1"/>
            </p:cNvSpPr>
            <p:nvPr/>
          </p:nvSpPr>
          <p:spPr bwMode="auto">
            <a:xfrm>
              <a:off x="7405688" y="2668588"/>
              <a:ext cx="0" cy="82550"/>
            </a:xfrm>
            <a:prstGeom prst="line">
              <a:avLst/>
            </a:prstGeom>
            <a:noFill/>
            <a:ln w="9525">
              <a:solidFill>
                <a:srgbClr val="969696"/>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1" name="Line 720"/>
            <p:cNvSpPr>
              <a:spLocks noChangeShapeType="1"/>
            </p:cNvSpPr>
            <p:nvPr/>
          </p:nvSpPr>
          <p:spPr bwMode="auto">
            <a:xfrm flipV="1">
              <a:off x="7577138" y="2565400"/>
              <a:ext cx="263525" cy="28892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2" name="Line 721"/>
            <p:cNvSpPr>
              <a:spLocks noChangeShapeType="1"/>
            </p:cNvSpPr>
            <p:nvPr/>
          </p:nvSpPr>
          <p:spPr bwMode="auto">
            <a:xfrm>
              <a:off x="7942263" y="2563813"/>
              <a:ext cx="0" cy="19685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3" name="Line 722"/>
            <p:cNvSpPr>
              <a:spLocks noChangeShapeType="1"/>
            </p:cNvSpPr>
            <p:nvPr/>
          </p:nvSpPr>
          <p:spPr bwMode="auto">
            <a:xfrm>
              <a:off x="7596188" y="2870200"/>
              <a:ext cx="188912" cy="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4" name="Line 723"/>
            <p:cNvSpPr>
              <a:spLocks noChangeShapeType="1"/>
            </p:cNvSpPr>
            <p:nvPr/>
          </p:nvSpPr>
          <p:spPr bwMode="auto">
            <a:xfrm>
              <a:off x="8150225" y="2860675"/>
              <a:ext cx="177800" cy="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5" name="Line 724"/>
            <p:cNvSpPr>
              <a:spLocks noChangeShapeType="1"/>
            </p:cNvSpPr>
            <p:nvPr/>
          </p:nvSpPr>
          <p:spPr bwMode="auto">
            <a:xfrm flipH="1">
              <a:off x="7296150" y="2936875"/>
              <a:ext cx="98425" cy="704850"/>
            </a:xfrm>
            <a:prstGeom prst="line">
              <a:avLst/>
            </a:prstGeom>
            <a:noFill/>
            <a:ln w="9525">
              <a:solidFill>
                <a:srgbClr val="969696"/>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6" name="Line 725"/>
            <p:cNvSpPr>
              <a:spLocks noChangeShapeType="1"/>
            </p:cNvSpPr>
            <p:nvPr/>
          </p:nvSpPr>
          <p:spPr bwMode="auto">
            <a:xfrm flipH="1">
              <a:off x="7888288" y="2936875"/>
              <a:ext cx="111125" cy="72707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7" name="Line 726"/>
            <p:cNvSpPr>
              <a:spLocks noChangeShapeType="1"/>
            </p:cNvSpPr>
            <p:nvPr/>
          </p:nvSpPr>
          <p:spPr bwMode="auto">
            <a:xfrm flipV="1">
              <a:off x="7272338" y="4078288"/>
              <a:ext cx="227012" cy="436562"/>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8" name="Line 727"/>
            <p:cNvSpPr>
              <a:spLocks noChangeShapeType="1"/>
            </p:cNvSpPr>
            <p:nvPr/>
          </p:nvSpPr>
          <p:spPr bwMode="auto">
            <a:xfrm>
              <a:off x="8345488" y="2859088"/>
              <a:ext cx="177800"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99" name="Line 728"/>
            <p:cNvSpPr>
              <a:spLocks noChangeShapeType="1"/>
            </p:cNvSpPr>
            <p:nvPr/>
          </p:nvSpPr>
          <p:spPr bwMode="auto">
            <a:xfrm>
              <a:off x="6289675" y="2406650"/>
              <a:ext cx="152400" cy="9525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0" name="Oval 407"/>
            <p:cNvSpPr>
              <a:spLocks noChangeArrowheads="1"/>
            </p:cNvSpPr>
            <p:nvPr/>
          </p:nvSpPr>
          <p:spPr bwMode="auto">
            <a:xfrm>
              <a:off x="6354763" y="2565400"/>
              <a:ext cx="387350" cy="9525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701" name="Rectangle 410"/>
            <p:cNvSpPr>
              <a:spLocks noChangeArrowheads="1"/>
            </p:cNvSpPr>
            <p:nvPr/>
          </p:nvSpPr>
          <p:spPr bwMode="auto">
            <a:xfrm>
              <a:off x="6354763" y="2555875"/>
              <a:ext cx="388937" cy="58738"/>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702" name="Oval 411"/>
            <p:cNvSpPr>
              <a:spLocks noChangeArrowheads="1"/>
            </p:cNvSpPr>
            <p:nvPr/>
          </p:nvSpPr>
          <p:spPr bwMode="auto">
            <a:xfrm>
              <a:off x="6353175" y="2490788"/>
              <a:ext cx="387350" cy="111125"/>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703" name="Group 732"/>
            <p:cNvGrpSpPr/>
            <p:nvPr/>
          </p:nvGrpSpPr>
          <p:grpSpPr bwMode="auto">
            <a:xfrm>
              <a:off x="6430963" y="2519363"/>
              <a:ext cx="219075" cy="52387"/>
              <a:chOff x="2468" y="1332"/>
              <a:chExt cx="310" cy="60"/>
            </a:xfrm>
          </p:grpSpPr>
          <p:sp>
            <p:nvSpPr>
              <p:cNvPr id="1227" name="Freeform 733"/>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228" name="Freeform 734"/>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704" name="Line 735"/>
            <p:cNvSpPr>
              <a:spLocks noChangeShapeType="1"/>
            </p:cNvSpPr>
            <p:nvPr/>
          </p:nvSpPr>
          <p:spPr bwMode="auto">
            <a:xfrm>
              <a:off x="6354763" y="2543175"/>
              <a:ext cx="0" cy="74613"/>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5" name="Line 736"/>
            <p:cNvSpPr>
              <a:spLocks noChangeShapeType="1"/>
            </p:cNvSpPr>
            <p:nvPr/>
          </p:nvSpPr>
          <p:spPr bwMode="auto">
            <a:xfrm>
              <a:off x="6740525" y="2546350"/>
              <a:ext cx="0" cy="73025"/>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706" name="Group 737"/>
            <p:cNvGrpSpPr/>
            <p:nvPr/>
          </p:nvGrpSpPr>
          <p:grpSpPr bwMode="auto">
            <a:xfrm>
              <a:off x="7202488" y="2493963"/>
              <a:ext cx="390525" cy="174625"/>
              <a:chOff x="4334" y="1470"/>
              <a:chExt cx="246" cy="107"/>
            </a:xfrm>
          </p:grpSpPr>
          <p:sp>
            <p:nvSpPr>
              <p:cNvPr id="121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22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22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222" name="Group 741"/>
              <p:cNvGrpSpPr/>
              <p:nvPr/>
            </p:nvGrpSpPr>
            <p:grpSpPr bwMode="auto">
              <a:xfrm>
                <a:off x="4383" y="1488"/>
                <a:ext cx="138" cy="33"/>
                <a:chOff x="2468" y="1332"/>
                <a:chExt cx="310" cy="60"/>
              </a:xfrm>
            </p:grpSpPr>
            <p:sp>
              <p:nvSpPr>
                <p:cNvPr id="1225" name="Freeform 74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226" name="Freeform 74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223" name="Line 744"/>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4" name="Line 745"/>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07" name="Group 746"/>
            <p:cNvGrpSpPr/>
            <p:nvPr/>
          </p:nvGrpSpPr>
          <p:grpSpPr bwMode="auto">
            <a:xfrm>
              <a:off x="7213600" y="2757488"/>
              <a:ext cx="390525" cy="174625"/>
              <a:chOff x="4334" y="1470"/>
              <a:chExt cx="246" cy="107"/>
            </a:xfrm>
          </p:grpSpPr>
          <p:sp>
            <p:nvSpPr>
              <p:cNvPr id="121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21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21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214" name="Group 750"/>
              <p:cNvGrpSpPr/>
              <p:nvPr/>
            </p:nvGrpSpPr>
            <p:grpSpPr bwMode="auto">
              <a:xfrm>
                <a:off x="4383" y="1488"/>
                <a:ext cx="138" cy="33"/>
                <a:chOff x="2468" y="1332"/>
                <a:chExt cx="310" cy="60"/>
              </a:xfrm>
            </p:grpSpPr>
            <p:sp>
              <p:nvSpPr>
                <p:cNvPr id="1217" name="Freeform 75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218" name="Freeform 75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215" name="Line 753"/>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16" name="Line 754"/>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08" name="Group 755"/>
            <p:cNvGrpSpPr/>
            <p:nvPr/>
          </p:nvGrpSpPr>
          <p:grpSpPr bwMode="auto">
            <a:xfrm>
              <a:off x="7762875" y="2759075"/>
              <a:ext cx="390525" cy="174625"/>
              <a:chOff x="4334" y="1470"/>
              <a:chExt cx="246" cy="107"/>
            </a:xfrm>
          </p:grpSpPr>
          <p:sp>
            <p:nvSpPr>
              <p:cNvPr id="120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20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20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206" name="Group 759"/>
              <p:cNvGrpSpPr/>
              <p:nvPr/>
            </p:nvGrpSpPr>
            <p:grpSpPr bwMode="auto">
              <a:xfrm>
                <a:off x="4383" y="1488"/>
                <a:ext cx="138" cy="33"/>
                <a:chOff x="2468" y="1332"/>
                <a:chExt cx="310" cy="60"/>
              </a:xfrm>
            </p:grpSpPr>
            <p:sp>
              <p:nvSpPr>
                <p:cNvPr id="1209" name="Freeform 76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210" name="Freeform 76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207" name="Line 762"/>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8" name="Line 763"/>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09" name="Group 764"/>
            <p:cNvGrpSpPr/>
            <p:nvPr/>
          </p:nvGrpSpPr>
          <p:grpSpPr bwMode="auto">
            <a:xfrm>
              <a:off x="7689850" y="2393950"/>
              <a:ext cx="390525" cy="174625"/>
              <a:chOff x="4334" y="1470"/>
              <a:chExt cx="246" cy="107"/>
            </a:xfrm>
          </p:grpSpPr>
          <p:sp>
            <p:nvSpPr>
              <p:cNvPr id="119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19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19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198" name="Group 768"/>
              <p:cNvGrpSpPr/>
              <p:nvPr/>
            </p:nvGrpSpPr>
            <p:grpSpPr bwMode="auto">
              <a:xfrm>
                <a:off x="4383" y="1488"/>
                <a:ext cx="138" cy="33"/>
                <a:chOff x="2468" y="1332"/>
                <a:chExt cx="310" cy="60"/>
              </a:xfrm>
            </p:grpSpPr>
            <p:sp>
              <p:nvSpPr>
                <p:cNvPr id="1201" name="Freeform 769"/>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202" name="Freeform 770"/>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199" name="Line 771"/>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0" name="Line 772"/>
              <p:cNvSpPr>
                <a:spLocks noChangeShapeType="1"/>
              </p:cNvSpPr>
              <p:nvPr/>
            </p:nvSpPr>
            <p:spPr bwMode="auto">
              <a:xfrm>
                <a:off x="4578" y="1505"/>
                <a:ext cx="0" cy="46"/>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0" name="Line 782"/>
            <p:cNvSpPr>
              <a:spLocks noChangeShapeType="1"/>
            </p:cNvSpPr>
            <p:nvPr/>
          </p:nvSpPr>
          <p:spPr bwMode="auto">
            <a:xfrm>
              <a:off x="6427788" y="3743325"/>
              <a:ext cx="679450" cy="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711" name="Group 801"/>
            <p:cNvGrpSpPr/>
            <p:nvPr/>
          </p:nvGrpSpPr>
          <p:grpSpPr bwMode="auto">
            <a:xfrm>
              <a:off x="7591425" y="4806950"/>
              <a:ext cx="622300" cy="244475"/>
              <a:chOff x="4334" y="1470"/>
              <a:chExt cx="246" cy="107"/>
            </a:xfrm>
          </p:grpSpPr>
          <p:sp>
            <p:nvSpPr>
              <p:cNvPr id="118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18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18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190" name="Group 805"/>
              <p:cNvGrpSpPr/>
              <p:nvPr/>
            </p:nvGrpSpPr>
            <p:grpSpPr bwMode="auto">
              <a:xfrm>
                <a:off x="4383" y="1488"/>
                <a:ext cx="138" cy="33"/>
                <a:chOff x="2468" y="1332"/>
                <a:chExt cx="310" cy="60"/>
              </a:xfrm>
            </p:grpSpPr>
            <p:sp>
              <p:nvSpPr>
                <p:cNvPr id="1193" name="Freeform 80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194" name="Freeform 80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191" name="Line 808"/>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2" name="Line 809"/>
              <p:cNvSpPr>
                <a:spLocks noChangeShapeType="1"/>
              </p:cNvSpPr>
              <p:nvPr/>
            </p:nvSpPr>
            <p:spPr bwMode="auto">
              <a:xfrm>
                <a:off x="4578" y="1505"/>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12" name="Group 810"/>
            <p:cNvGrpSpPr/>
            <p:nvPr/>
          </p:nvGrpSpPr>
          <p:grpSpPr bwMode="auto">
            <a:xfrm>
              <a:off x="6965950" y="4508500"/>
              <a:ext cx="622300" cy="244475"/>
              <a:chOff x="4334" y="1470"/>
              <a:chExt cx="246" cy="107"/>
            </a:xfrm>
          </p:grpSpPr>
          <p:sp>
            <p:nvSpPr>
              <p:cNvPr id="117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18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18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182" name="Group 814"/>
              <p:cNvGrpSpPr/>
              <p:nvPr/>
            </p:nvGrpSpPr>
            <p:grpSpPr bwMode="auto">
              <a:xfrm>
                <a:off x="4383" y="1488"/>
                <a:ext cx="138" cy="33"/>
                <a:chOff x="2468" y="1332"/>
                <a:chExt cx="310" cy="60"/>
              </a:xfrm>
            </p:grpSpPr>
            <p:sp>
              <p:nvSpPr>
                <p:cNvPr id="1185" name="Freeform 815"/>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186" name="Freeform 816"/>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183" name="Line 817"/>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4" name="Line 818"/>
              <p:cNvSpPr>
                <a:spLocks noChangeShapeType="1"/>
              </p:cNvSpPr>
              <p:nvPr/>
            </p:nvSpPr>
            <p:spPr bwMode="auto">
              <a:xfrm>
                <a:off x="4578" y="1505"/>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13" name="Group 819"/>
            <p:cNvGrpSpPr/>
            <p:nvPr/>
          </p:nvGrpSpPr>
          <p:grpSpPr bwMode="auto">
            <a:xfrm>
              <a:off x="6242050" y="4851400"/>
              <a:ext cx="622300" cy="244475"/>
              <a:chOff x="4334" y="1470"/>
              <a:chExt cx="246" cy="107"/>
            </a:xfrm>
          </p:grpSpPr>
          <p:sp>
            <p:nvSpPr>
              <p:cNvPr id="117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17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17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174" name="Group 823"/>
              <p:cNvGrpSpPr/>
              <p:nvPr/>
            </p:nvGrpSpPr>
            <p:grpSpPr bwMode="auto">
              <a:xfrm>
                <a:off x="4383" y="1488"/>
                <a:ext cx="138" cy="33"/>
                <a:chOff x="2468" y="1332"/>
                <a:chExt cx="310" cy="60"/>
              </a:xfrm>
            </p:grpSpPr>
            <p:sp>
              <p:nvSpPr>
                <p:cNvPr id="1177" name="Freeform 82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178" name="Freeform 82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175" name="Line 826"/>
              <p:cNvSpPr>
                <a:spLocks noChangeShapeType="1"/>
              </p:cNvSpPr>
              <p:nvPr/>
            </p:nvSpPr>
            <p:spPr bwMode="auto">
              <a:xfrm>
                <a:off x="4335" y="1503"/>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6" name="Line 827"/>
              <p:cNvSpPr>
                <a:spLocks noChangeShapeType="1"/>
              </p:cNvSpPr>
              <p:nvPr/>
            </p:nvSpPr>
            <p:spPr bwMode="auto">
              <a:xfrm>
                <a:off x="4578" y="1505"/>
                <a:ext cx="0" cy="47"/>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14" name="Group 828"/>
            <p:cNvGrpSpPr/>
            <p:nvPr/>
          </p:nvGrpSpPr>
          <p:grpSpPr bwMode="auto">
            <a:xfrm>
              <a:off x="6051550" y="3644900"/>
              <a:ext cx="390525" cy="171450"/>
              <a:chOff x="4334" y="1470"/>
              <a:chExt cx="246" cy="107"/>
            </a:xfrm>
          </p:grpSpPr>
          <p:sp>
            <p:nvSpPr>
              <p:cNvPr id="116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16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116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1166" name="Group 832"/>
              <p:cNvGrpSpPr/>
              <p:nvPr/>
            </p:nvGrpSpPr>
            <p:grpSpPr bwMode="auto">
              <a:xfrm>
                <a:off x="4383" y="1488"/>
                <a:ext cx="138" cy="33"/>
                <a:chOff x="2468" y="1332"/>
                <a:chExt cx="310" cy="60"/>
              </a:xfrm>
            </p:grpSpPr>
            <p:sp>
              <p:nvSpPr>
                <p:cNvPr id="1169" name="Freeform 833"/>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sp>
              <p:nvSpPr>
                <p:cNvPr id="1170" name="Freeform 834"/>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ln>
              </p:spPr>
              <p:txBody>
                <a:bodyPr/>
                <a:lstStyle/>
                <a:p>
                  <a:endParaRPr lang="zh-CN" altLang="en-US"/>
                </a:p>
              </p:txBody>
            </p:sp>
          </p:grpSp>
          <p:sp>
            <p:nvSpPr>
              <p:cNvPr id="1167" name="Line 835"/>
              <p:cNvSpPr>
                <a:spLocks noChangeShapeType="1"/>
              </p:cNvSpPr>
              <p:nvPr/>
            </p:nvSpPr>
            <p:spPr bwMode="auto">
              <a:xfrm>
                <a:off x="4335" y="1503"/>
                <a:ext cx="0" cy="5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68" name="Line 836"/>
              <p:cNvSpPr>
                <a:spLocks noChangeShapeType="1"/>
              </p:cNvSpPr>
              <p:nvPr/>
            </p:nvSpPr>
            <p:spPr bwMode="auto">
              <a:xfrm>
                <a:off x="4578" y="1505"/>
                <a:ext cx="0" cy="49"/>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15" name="Group 837"/>
            <p:cNvGrpSpPr/>
            <p:nvPr/>
          </p:nvGrpSpPr>
          <p:grpSpPr bwMode="auto">
            <a:xfrm>
              <a:off x="6024563" y="1744663"/>
              <a:ext cx="517525" cy="508000"/>
              <a:chOff x="2922" y="1424"/>
              <a:chExt cx="326" cy="320"/>
            </a:xfrm>
          </p:grpSpPr>
          <p:sp>
            <p:nvSpPr>
              <p:cNvPr id="1155" name="Oval 838"/>
              <p:cNvSpPr>
                <a:spLocks noChangeArrowheads="1"/>
              </p:cNvSpPr>
              <p:nvPr/>
            </p:nvSpPr>
            <p:spPr bwMode="auto">
              <a:xfrm>
                <a:off x="2922" y="1445"/>
                <a:ext cx="326" cy="289"/>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156" name="Group 839"/>
              <p:cNvGrpSpPr/>
              <p:nvPr/>
            </p:nvGrpSpPr>
            <p:grpSpPr bwMode="auto">
              <a:xfrm>
                <a:off x="2949" y="1424"/>
                <a:ext cx="265" cy="280"/>
                <a:chOff x="2949" y="1424"/>
                <a:chExt cx="265" cy="280"/>
              </a:xfrm>
            </p:grpSpPr>
            <p:sp>
              <p:nvSpPr>
                <p:cNvPr id="1158" name="Oval 840"/>
                <p:cNvSpPr>
                  <a:spLocks noChangeArrowheads="1"/>
                </p:cNvSpPr>
                <p:nvPr/>
              </p:nvSpPr>
              <p:spPr bwMode="auto">
                <a:xfrm>
                  <a:off x="3030" y="1545"/>
                  <a:ext cx="107" cy="92"/>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159" name="Oval 841"/>
                <p:cNvSpPr>
                  <a:spLocks noChangeArrowheads="1"/>
                </p:cNvSpPr>
                <p:nvPr/>
              </p:nvSpPr>
              <p:spPr bwMode="auto">
                <a:xfrm>
                  <a:off x="3006" y="1525"/>
                  <a:ext cx="154" cy="131"/>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160" name="Oval 842"/>
                <p:cNvSpPr>
                  <a:spLocks noChangeArrowheads="1"/>
                </p:cNvSpPr>
                <p:nvPr/>
              </p:nvSpPr>
              <p:spPr bwMode="auto">
                <a:xfrm>
                  <a:off x="2983" y="1501"/>
                  <a:ext cx="203" cy="179"/>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161" name="Oval 843"/>
                <p:cNvSpPr>
                  <a:spLocks noChangeArrowheads="1"/>
                </p:cNvSpPr>
                <p:nvPr/>
              </p:nvSpPr>
              <p:spPr bwMode="auto">
                <a:xfrm>
                  <a:off x="2949" y="1476"/>
                  <a:ext cx="265" cy="228"/>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162" name="Freeform 844"/>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a:solidFill>
                        <a:srgbClr val="000000"/>
                      </a:solidFill>
                      <a:round/>
                    </a14:hiddenLine>
                  </a:ext>
                </a:extLst>
              </p:spPr>
              <p:txBody>
                <a:bodyPr/>
                <a:lstStyle/>
                <a:p>
                  <a:endParaRPr lang="zh-CN" altLang="en-US"/>
                </a:p>
              </p:txBody>
            </p:sp>
          </p:grpSp>
          <p:sp>
            <p:nvSpPr>
              <p:cNvPr id="1157" name="Freeform 845"/>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a:solidFill>
                      <a:srgbClr val="000000"/>
                    </a:solidFill>
                    <a:round/>
                  </a14:hiddenLine>
                </a:ext>
              </a:extLst>
            </p:spPr>
            <p:txBody>
              <a:bodyPr/>
              <a:lstStyle/>
              <a:p>
                <a:endParaRPr lang="zh-CN" altLang="en-US"/>
              </a:p>
            </p:txBody>
          </p:sp>
        </p:grpSp>
        <p:grpSp>
          <p:nvGrpSpPr>
            <p:cNvPr id="716" name="Group 846"/>
            <p:cNvGrpSpPr/>
            <p:nvPr/>
          </p:nvGrpSpPr>
          <p:grpSpPr bwMode="auto">
            <a:xfrm>
              <a:off x="6138863" y="1989138"/>
              <a:ext cx="282575" cy="477837"/>
              <a:chOff x="3748" y="1253"/>
              <a:chExt cx="178" cy="301"/>
            </a:xfrm>
          </p:grpSpPr>
          <p:sp>
            <p:nvSpPr>
              <p:cNvPr id="1139" name="Line 270"/>
              <p:cNvSpPr>
                <a:spLocks noChangeShapeType="1"/>
              </p:cNvSpPr>
              <p:nvPr/>
            </p:nvSpPr>
            <p:spPr bwMode="auto">
              <a:xfrm flipH="1">
                <a:off x="3748" y="1276"/>
                <a:ext cx="89" cy="25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0" name="Line 271"/>
              <p:cNvSpPr>
                <a:spLocks noChangeShapeType="1"/>
              </p:cNvSpPr>
              <p:nvPr/>
            </p:nvSpPr>
            <p:spPr bwMode="auto">
              <a:xfrm>
                <a:off x="3837" y="1276"/>
                <a:ext cx="89" cy="25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1" name="Line 272"/>
              <p:cNvSpPr>
                <a:spLocks noChangeShapeType="1"/>
              </p:cNvSpPr>
              <p:nvPr/>
            </p:nvSpPr>
            <p:spPr bwMode="auto">
              <a:xfrm>
                <a:off x="3748" y="1527"/>
                <a:ext cx="89"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2" name="Line 273"/>
              <p:cNvSpPr>
                <a:spLocks noChangeShapeType="1"/>
              </p:cNvSpPr>
              <p:nvPr/>
            </p:nvSpPr>
            <p:spPr bwMode="auto">
              <a:xfrm flipH="1">
                <a:off x="3837" y="1527"/>
                <a:ext cx="89"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3" name="Line 274"/>
              <p:cNvSpPr>
                <a:spLocks noChangeShapeType="1"/>
              </p:cNvSpPr>
              <p:nvPr/>
            </p:nvSpPr>
            <p:spPr bwMode="auto">
              <a:xfrm>
                <a:off x="3837" y="1282"/>
                <a:ext cx="0" cy="2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4" name="Line 275"/>
              <p:cNvSpPr>
                <a:spLocks noChangeShapeType="1"/>
              </p:cNvSpPr>
              <p:nvPr/>
            </p:nvSpPr>
            <p:spPr bwMode="auto">
              <a:xfrm flipV="1">
                <a:off x="3748" y="1501"/>
                <a:ext cx="89"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5" name="Line 276"/>
              <p:cNvSpPr>
                <a:spLocks noChangeShapeType="1"/>
              </p:cNvSpPr>
              <p:nvPr/>
            </p:nvSpPr>
            <p:spPr bwMode="auto">
              <a:xfrm flipH="1" flipV="1">
                <a:off x="3837" y="1501"/>
                <a:ext cx="89" cy="2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6" name="Line 277"/>
              <p:cNvSpPr>
                <a:spLocks noChangeShapeType="1"/>
              </p:cNvSpPr>
              <p:nvPr/>
            </p:nvSpPr>
            <p:spPr bwMode="auto">
              <a:xfrm>
                <a:off x="3786" y="1418"/>
                <a:ext cx="51"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7" name="Line 278"/>
              <p:cNvSpPr>
                <a:spLocks noChangeShapeType="1"/>
              </p:cNvSpPr>
              <p:nvPr/>
            </p:nvSpPr>
            <p:spPr bwMode="auto">
              <a:xfrm flipV="1">
                <a:off x="3837" y="1418"/>
                <a:ext cx="54"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8" name="Line 279"/>
              <p:cNvSpPr>
                <a:spLocks noChangeShapeType="1"/>
              </p:cNvSpPr>
              <p:nvPr/>
            </p:nvSpPr>
            <p:spPr bwMode="auto">
              <a:xfrm>
                <a:off x="3768" y="1455"/>
                <a:ext cx="66" cy="2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49" name="Line 280"/>
              <p:cNvSpPr>
                <a:spLocks noChangeShapeType="1"/>
              </p:cNvSpPr>
              <p:nvPr/>
            </p:nvSpPr>
            <p:spPr bwMode="auto">
              <a:xfrm flipV="1">
                <a:off x="3837" y="1461"/>
                <a:ext cx="66" cy="2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50" name="Line 281"/>
              <p:cNvSpPr>
                <a:spLocks noChangeShapeType="1"/>
              </p:cNvSpPr>
              <p:nvPr/>
            </p:nvSpPr>
            <p:spPr bwMode="auto">
              <a:xfrm flipV="1">
                <a:off x="3837" y="1381"/>
                <a:ext cx="34" cy="1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51" name="Line 282"/>
              <p:cNvSpPr>
                <a:spLocks noChangeShapeType="1"/>
              </p:cNvSpPr>
              <p:nvPr/>
            </p:nvSpPr>
            <p:spPr bwMode="auto">
              <a:xfrm flipV="1">
                <a:off x="3837" y="1329"/>
                <a:ext cx="21" cy="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52" name="Line 283"/>
              <p:cNvSpPr>
                <a:spLocks noChangeShapeType="1"/>
              </p:cNvSpPr>
              <p:nvPr/>
            </p:nvSpPr>
            <p:spPr bwMode="auto">
              <a:xfrm>
                <a:off x="3798" y="1377"/>
                <a:ext cx="42" cy="1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53" name="Line 284"/>
              <p:cNvSpPr>
                <a:spLocks noChangeShapeType="1"/>
              </p:cNvSpPr>
              <p:nvPr/>
            </p:nvSpPr>
            <p:spPr bwMode="auto">
              <a:xfrm>
                <a:off x="3817" y="1327"/>
                <a:ext cx="24" cy="1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54" name="Oval 862"/>
              <p:cNvSpPr>
                <a:spLocks noChangeArrowheads="1"/>
              </p:cNvSpPr>
              <p:nvPr/>
            </p:nvSpPr>
            <p:spPr bwMode="auto">
              <a:xfrm>
                <a:off x="3821" y="1253"/>
                <a:ext cx="30" cy="29"/>
              </a:xfrm>
              <a:prstGeom prst="ellipse">
                <a:avLst/>
              </a:prstGeom>
              <a:solidFill>
                <a:schemeClr val="tx2"/>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717" name="Group 863"/>
            <p:cNvGrpSpPr/>
            <p:nvPr/>
          </p:nvGrpSpPr>
          <p:grpSpPr bwMode="auto">
            <a:xfrm>
              <a:off x="5318125" y="1997075"/>
              <a:ext cx="519113" cy="128588"/>
              <a:chOff x="2199" y="955"/>
              <a:chExt cx="2547" cy="506"/>
            </a:xfrm>
          </p:grpSpPr>
          <p:sp>
            <p:nvSpPr>
              <p:cNvPr id="1133" name="Freeform 864"/>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 name="Freeform 865"/>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5" name="Freeform 866"/>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6" name="Freeform 867"/>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7" name="Freeform 868"/>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8" name="Freeform 869"/>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18" name="Group 870"/>
            <p:cNvGrpSpPr/>
            <p:nvPr/>
          </p:nvGrpSpPr>
          <p:grpSpPr bwMode="auto">
            <a:xfrm>
              <a:off x="6554788" y="1662113"/>
              <a:ext cx="477837" cy="107950"/>
              <a:chOff x="2199" y="955"/>
              <a:chExt cx="2547" cy="506"/>
            </a:xfrm>
          </p:grpSpPr>
          <p:sp>
            <p:nvSpPr>
              <p:cNvPr id="1127" name="Freeform 871"/>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 name="Freeform 872"/>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9" name="Freeform 873"/>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0" name="Freeform 874"/>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1" name="Freeform 875"/>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2" name="Freeform 876"/>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19" name="Line 877"/>
            <p:cNvSpPr>
              <a:spLocks noChangeShapeType="1"/>
            </p:cNvSpPr>
            <p:nvPr/>
          </p:nvSpPr>
          <p:spPr bwMode="auto">
            <a:xfrm flipH="1" flipV="1">
              <a:off x="5626100" y="2027238"/>
              <a:ext cx="39688" cy="635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720" name="Group 885"/>
            <p:cNvGrpSpPr/>
            <p:nvPr/>
          </p:nvGrpSpPr>
          <p:grpSpPr bwMode="auto">
            <a:xfrm>
              <a:off x="5392738" y="3527425"/>
              <a:ext cx="519112" cy="128588"/>
              <a:chOff x="2199" y="955"/>
              <a:chExt cx="2547" cy="506"/>
            </a:xfrm>
          </p:grpSpPr>
          <p:sp>
            <p:nvSpPr>
              <p:cNvPr id="1121" name="Freeform 886"/>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2" name="Freeform 887"/>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3" name="Freeform 888"/>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4" name="Freeform 889"/>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5" name="Freeform 890"/>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6" name="Freeform 891"/>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21" name="Line 892"/>
            <p:cNvSpPr>
              <a:spLocks noChangeShapeType="1"/>
            </p:cNvSpPr>
            <p:nvPr/>
          </p:nvSpPr>
          <p:spPr bwMode="auto">
            <a:xfrm>
              <a:off x="5726113" y="3127375"/>
              <a:ext cx="20637" cy="555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722" name="Group 893"/>
            <p:cNvGrpSpPr/>
            <p:nvPr/>
          </p:nvGrpSpPr>
          <p:grpSpPr bwMode="auto">
            <a:xfrm>
              <a:off x="7007225" y="5005388"/>
              <a:ext cx="519113" cy="128587"/>
              <a:chOff x="2199" y="955"/>
              <a:chExt cx="2547" cy="506"/>
            </a:xfrm>
          </p:grpSpPr>
          <p:sp>
            <p:nvSpPr>
              <p:cNvPr id="1115" name="Freeform 894"/>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6" name="Freeform 895"/>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7" name="Freeform 896"/>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8" name="Freeform 897"/>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9" name="Freeform 898"/>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0" name="Freeform 899"/>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23" name="Group 900"/>
            <p:cNvGrpSpPr/>
            <p:nvPr/>
          </p:nvGrpSpPr>
          <p:grpSpPr bwMode="auto">
            <a:xfrm>
              <a:off x="7245350" y="5429250"/>
              <a:ext cx="519113" cy="128588"/>
              <a:chOff x="2199" y="955"/>
              <a:chExt cx="2547" cy="506"/>
            </a:xfrm>
          </p:grpSpPr>
          <p:sp>
            <p:nvSpPr>
              <p:cNvPr id="1109" name="Freeform 901"/>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0" name="Freeform 902"/>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1" name="Freeform 903"/>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2" name="Freeform 904"/>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3" name="Freeform 905"/>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4" name="Freeform 906"/>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24" name="Group 907"/>
            <p:cNvGrpSpPr/>
            <p:nvPr/>
          </p:nvGrpSpPr>
          <p:grpSpPr bwMode="auto">
            <a:xfrm>
              <a:off x="6821488" y="5408613"/>
              <a:ext cx="519112" cy="128587"/>
              <a:chOff x="2199" y="955"/>
              <a:chExt cx="2547" cy="506"/>
            </a:xfrm>
          </p:grpSpPr>
          <p:sp>
            <p:nvSpPr>
              <p:cNvPr id="1103" name="Freeform 908"/>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4" name="Freeform 909"/>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5" name="Freeform 910"/>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6" name="Freeform 911"/>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7" name="Freeform 912"/>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8" name="Freeform 913"/>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pic>
          <p:nvPicPr>
            <p:cNvPr id="725" name="Picture 915"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9625" y="5056188"/>
              <a:ext cx="43338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6" name="Line 918"/>
            <p:cNvSpPr>
              <a:spLocks noChangeShapeType="1"/>
            </p:cNvSpPr>
            <p:nvPr/>
          </p:nvSpPr>
          <p:spPr bwMode="auto">
            <a:xfrm rot="5400000" flipV="1">
              <a:off x="7991475" y="5440363"/>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27" name="Group 919"/>
            <p:cNvGrpSpPr/>
            <p:nvPr/>
          </p:nvGrpSpPr>
          <p:grpSpPr bwMode="auto">
            <a:xfrm flipH="1">
              <a:off x="5775325" y="4533900"/>
              <a:ext cx="414338" cy="373063"/>
              <a:chOff x="2839" y="3501"/>
              <a:chExt cx="755" cy="803"/>
            </a:xfrm>
          </p:grpSpPr>
          <p:pic>
            <p:nvPicPr>
              <p:cNvPr id="1101" name="Picture 920"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2" name="Freeform 921"/>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728" name="Group 922"/>
            <p:cNvGrpSpPr/>
            <p:nvPr/>
          </p:nvGrpSpPr>
          <p:grpSpPr bwMode="auto">
            <a:xfrm flipH="1">
              <a:off x="5457825" y="4954588"/>
              <a:ext cx="482600" cy="406400"/>
              <a:chOff x="2839" y="3501"/>
              <a:chExt cx="755" cy="803"/>
            </a:xfrm>
          </p:grpSpPr>
          <p:pic>
            <p:nvPicPr>
              <p:cNvPr id="1099" name="Picture 923" descr="desktop_computer_stylized_medium"/>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0" name="Freeform 924"/>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729" name="Group 925"/>
            <p:cNvGrpSpPr/>
            <p:nvPr/>
          </p:nvGrpSpPr>
          <p:grpSpPr bwMode="auto">
            <a:xfrm flipH="1">
              <a:off x="5935663" y="5256213"/>
              <a:ext cx="427037" cy="349250"/>
              <a:chOff x="2839" y="3501"/>
              <a:chExt cx="755" cy="803"/>
            </a:xfrm>
          </p:grpSpPr>
          <p:pic>
            <p:nvPicPr>
              <p:cNvPr id="1097" name="Picture 926" descr="desktop_computer_stylized_medium"/>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8" name="Freeform 927"/>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730" name="Group 928"/>
            <p:cNvGrpSpPr/>
            <p:nvPr/>
          </p:nvGrpSpPr>
          <p:grpSpPr bwMode="auto">
            <a:xfrm>
              <a:off x="6550025" y="5238750"/>
              <a:ext cx="427038" cy="350838"/>
              <a:chOff x="2839" y="3501"/>
              <a:chExt cx="755" cy="803"/>
            </a:xfrm>
          </p:grpSpPr>
          <p:pic>
            <p:nvPicPr>
              <p:cNvPr id="1095" name="Picture 929" descr="desktop_computer_stylized_medium"/>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6" name="Freeform 930"/>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731" name="Group 932"/>
            <p:cNvGrpSpPr/>
            <p:nvPr/>
          </p:nvGrpSpPr>
          <p:grpSpPr bwMode="auto">
            <a:xfrm>
              <a:off x="5618163" y="1558925"/>
              <a:ext cx="415925" cy="373063"/>
              <a:chOff x="2756" y="1866"/>
              <a:chExt cx="462" cy="463"/>
            </a:xfrm>
          </p:grpSpPr>
          <p:pic>
            <p:nvPicPr>
              <p:cNvPr id="1093" name="Picture 933" descr="iphone_stylized_small"/>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4" name="Picture 934" descr="antenna_radiation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6" y="1866"/>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32" name="Picture 936"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4388" y="50577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33" name="Group 938"/>
            <p:cNvGrpSpPr/>
            <p:nvPr/>
          </p:nvGrpSpPr>
          <p:grpSpPr bwMode="auto">
            <a:xfrm>
              <a:off x="8240713" y="5002213"/>
              <a:ext cx="227012" cy="481012"/>
              <a:chOff x="4140" y="429"/>
              <a:chExt cx="1425" cy="2396"/>
            </a:xfrm>
          </p:grpSpPr>
          <p:sp>
            <p:nvSpPr>
              <p:cNvPr id="1061" name="Freeform 939"/>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62" name="Rectangle 940"/>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63" name="Freeform 941"/>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64" name="Freeform 942"/>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65" name="Rectangle 943"/>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066" name="Group 944"/>
              <p:cNvGrpSpPr/>
              <p:nvPr/>
            </p:nvGrpSpPr>
            <p:grpSpPr bwMode="auto">
              <a:xfrm>
                <a:off x="4749" y="668"/>
                <a:ext cx="581" cy="145"/>
                <a:chOff x="614" y="2568"/>
                <a:chExt cx="725" cy="139"/>
              </a:xfrm>
            </p:grpSpPr>
            <p:sp>
              <p:nvSpPr>
                <p:cNvPr id="1091" name="AutoShape 945"/>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92" name="AutoShape 946"/>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67" name="Rectangle 947"/>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068" name="Group 948"/>
              <p:cNvGrpSpPr/>
              <p:nvPr/>
            </p:nvGrpSpPr>
            <p:grpSpPr bwMode="auto">
              <a:xfrm>
                <a:off x="4747" y="994"/>
                <a:ext cx="581" cy="134"/>
                <a:chOff x="614" y="2568"/>
                <a:chExt cx="725" cy="139"/>
              </a:xfrm>
            </p:grpSpPr>
            <p:sp>
              <p:nvSpPr>
                <p:cNvPr id="1089" name="AutoShape 949"/>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90" name="AutoShape 950"/>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69" name="Rectangle 951"/>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70" name="Rectangle 952"/>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071" name="Group 953"/>
              <p:cNvGrpSpPr/>
              <p:nvPr/>
            </p:nvGrpSpPr>
            <p:grpSpPr bwMode="auto">
              <a:xfrm>
                <a:off x="4735" y="1627"/>
                <a:ext cx="582" cy="151"/>
                <a:chOff x="614" y="2568"/>
                <a:chExt cx="725" cy="139"/>
              </a:xfrm>
            </p:grpSpPr>
            <p:sp>
              <p:nvSpPr>
                <p:cNvPr id="1087" name="AutoShape 954"/>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88" name="AutoShape 955"/>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72" name="Freeform 956"/>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073" name="Group 957"/>
              <p:cNvGrpSpPr/>
              <p:nvPr/>
            </p:nvGrpSpPr>
            <p:grpSpPr bwMode="auto">
              <a:xfrm>
                <a:off x="4739" y="1327"/>
                <a:ext cx="582" cy="139"/>
                <a:chOff x="614" y="2568"/>
                <a:chExt cx="725" cy="139"/>
              </a:xfrm>
            </p:grpSpPr>
            <p:sp>
              <p:nvSpPr>
                <p:cNvPr id="1085" name="AutoShape 958"/>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86" name="AutoShape 959"/>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74" name="Rectangle 960"/>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75" name="Freeform 961"/>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76" name="Freeform 962"/>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77" name="Oval 963"/>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78" name="Freeform 964"/>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79" name="AutoShape 965"/>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80" name="AutoShape 966"/>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81" name="Oval 967"/>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82" name="Oval 968"/>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endParaRPr>
              </a:p>
            </p:txBody>
          </p:sp>
          <p:sp>
            <p:nvSpPr>
              <p:cNvPr id="1083" name="Oval 969"/>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84" name="Rectangle 970"/>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734" name="Group 971"/>
            <p:cNvGrpSpPr/>
            <p:nvPr/>
          </p:nvGrpSpPr>
          <p:grpSpPr bwMode="auto">
            <a:xfrm>
              <a:off x="7924800" y="5303838"/>
              <a:ext cx="227013" cy="481012"/>
              <a:chOff x="4140" y="429"/>
              <a:chExt cx="1425" cy="2396"/>
            </a:xfrm>
          </p:grpSpPr>
          <p:sp>
            <p:nvSpPr>
              <p:cNvPr id="1029" name="Freeform 972"/>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0" name="Rectangle 973"/>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31" name="Freeform 974"/>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2" name="Freeform 975"/>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3" name="Rectangle 976"/>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034" name="Group 977"/>
              <p:cNvGrpSpPr/>
              <p:nvPr/>
            </p:nvGrpSpPr>
            <p:grpSpPr bwMode="auto">
              <a:xfrm>
                <a:off x="4749" y="668"/>
                <a:ext cx="581" cy="145"/>
                <a:chOff x="614" y="2568"/>
                <a:chExt cx="725" cy="139"/>
              </a:xfrm>
            </p:grpSpPr>
            <p:sp>
              <p:nvSpPr>
                <p:cNvPr id="1059" name="AutoShape 978"/>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60" name="AutoShape 979"/>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35" name="Rectangle 980"/>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036" name="Group 981"/>
              <p:cNvGrpSpPr/>
              <p:nvPr/>
            </p:nvGrpSpPr>
            <p:grpSpPr bwMode="auto">
              <a:xfrm>
                <a:off x="4747" y="994"/>
                <a:ext cx="581" cy="134"/>
                <a:chOff x="614" y="2568"/>
                <a:chExt cx="725" cy="139"/>
              </a:xfrm>
            </p:grpSpPr>
            <p:sp>
              <p:nvSpPr>
                <p:cNvPr id="1057" name="AutoShape 982"/>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58" name="AutoShape 983"/>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37" name="Rectangle 984"/>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38" name="Rectangle 985"/>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039" name="Group 986"/>
              <p:cNvGrpSpPr/>
              <p:nvPr/>
            </p:nvGrpSpPr>
            <p:grpSpPr bwMode="auto">
              <a:xfrm>
                <a:off x="4735" y="1627"/>
                <a:ext cx="582" cy="151"/>
                <a:chOff x="614" y="2568"/>
                <a:chExt cx="725" cy="139"/>
              </a:xfrm>
            </p:grpSpPr>
            <p:sp>
              <p:nvSpPr>
                <p:cNvPr id="1055" name="AutoShape 987"/>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56" name="AutoShape 988"/>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40" name="Freeform 989"/>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041" name="Group 990"/>
              <p:cNvGrpSpPr/>
              <p:nvPr/>
            </p:nvGrpSpPr>
            <p:grpSpPr bwMode="auto">
              <a:xfrm>
                <a:off x="4739" y="1327"/>
                <a:ext cx="582" cy="139"/>
                <a:chOff x="614" y="2568"/>
                <a:chExt cx="725" cy="139"/>
              </a:xfrm>
            </p:grpSpPr>
            <p:sp>
              <p:nvSpPr>
                <p:cNvPr id="1053" name="AutoShape 991"/>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54" name="AutoShape 992"/>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042" name="Rectangle 993"/>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43" name="Freeform 994"/>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4" name="Freeform 995"/>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5" name="Oval 996"/>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46" name="Freeform 997"/>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7" name="AutoShape 998"/>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48" name="AutoShape 999"/>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49" name="Oval 1000"/>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50" name="Oval 1001"/>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endParaRPr>
              </a:p>
            </p:txBody>
          </p:sp>
          <p:sp>
            <p:nvSpPr>
              <p:cNvPr id="1051" name="Oval 1002"/>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052" name="Rectangle 1003"/>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grpSp>
          <p:nvGrpSpPr>
            <p:cNvPr id="735" name="Group 1004"/>
            <p:cNvGrpSpPr/>
            <p:nvPr/>
          </p:nvGrpSpPr>
          <p:grpSpPr bwMode="auto">
            <a:xfrm>
              <a:off x="5302250" y="2043113"/>
              <a:ext cx="534988" cy="407987"/>
              <a:chOff x="877" y="1008"/>
              <a:chExt cx="2747" cy="2591"/>
            </a:xfrm>
          </p:grpSpPr>
          <p:pic>
            <p:nvPicPr>
              <p:cNvPr id="1006" name="Picture 1005" descr="antenna_stylize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7" name="Picture 1006"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8" name="Freeform 1007"/>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1009" name="Picture 1008" descr="screen"/>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0" name="Freeform 1009"/>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1" name="Freeform 1010"/>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2" name="Freeform 1011"/>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3" name="Freeform 1012"/>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4" name="Freeform 1013"/>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5" name="Freeform 1014"/>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016" name="Group 1015"/>
              <p:cNvGrpSpPr/>
              <p:nvPr/>
            </p:nvGrpSpPr>
            <p:grpSpPr bwMode="auto">
              <a:xfrm>
                <a:off x="1709" y="3008"/>
                <a:ext cx="507" cy="234"/>
                <a:chOff x="1740" y="2642"/>
                <a:chExt cx="752" cy="327"/>
              </a:xfrm>
            </p:grpSpPr>
            <p:sp>
              <p:nvSpPr>
                <p:cNvPr id="1023" name="Freeform 1016"/>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4" name="Freeform 1017"/>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5" name="Freeform 1018"/>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6" name="Freeform 1019"/>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7" name="Freeform 1020"/>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8" name="Freeform 1021"/>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017" name="Freeform 1022"/>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8" name="Freeform 1023"/>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9" name="Freeform 1024"/>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0" name="Freeform 1025"/>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1" name="Freeform 1026"/>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2" name="Freeform 1027"/>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pic>
          <p:nvPicPr>
            <p:cNvPr id="736" name="Picture 1030" descr="laptop_keyboard"/>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109064" flipH="1">
              <a:off x="6897688" y="57356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 name="Freeform 1031"/>
            <p:cNvSpPr/>
            <p:nvPr/>
          </p:nvSpPr>
          <p:spPr bwMode="auto">
            <a:xfrm>
              <a:off x="7026275" y="5580063"/>
              <a:ext cx="312738"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738" name="Picture 1032" descr="scre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042150" y="55848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 name="Freeform 1033"/>
            <p:cNvSpPr/>
            <p:nvPr/>
          </p:nvSpPr>
          <p:spPr bwMode="auto">
            <a:xfrm>
              <a:off x="7083425" y="5573713"/>
              <a:ext cx="265113"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0" name="Freeform 1034"/>
            <p:cNvSpPr/>
            <p:nvPr/>
          </p:nvSpPr>
          <p:spPr bwMode="auto">
            <a:xfrm>
              <a:off x="7024688" y="5573713"/>
              <a:ext cx="73025"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1" name="Freeform 1035"/>
            <p:cNvSpPr/>
            <p:nvPr/>
          </p:nvSpPr>
          <p:spPr bwMode="auto">
            <a:xfrm>
              <a:off x="7267575" y="5602288"/>
              <a:ext cx="79375"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2" name="Freeform 1036"/>
            <p:cNvSpPr/>
            <p:nvPr/>
          </p:nvSpPr>
          <p:spPr bwMode="auto">
            <a:xfrm>
              <a:off x="7023100" y="5726113"/>
              <a:ext cx="29051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3" name="Freeform 1037"/>
            <p:cNvSpPr/>
            <p:nvPr/>
          </p:nvSpPr>
          <p:spPr bwMode="auto">
            <a:xfrm>
              <a:off x="7275513" y="5603875"/>
              <a:ext cx="74612"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4" name="Freeform 1038"/>
            <p:cNvSpPr/>
            <p:nvPr/>
          </p:nvSpPr>
          <p:spPr bwMode="auto">
            <a:xfrm>
              <a:off x="7023100" y="5735638"/>
              <a:ext cx="258763"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45" name="Group 1039"/>
            <p:cNvGrpSpPr/>
            <p:nvPr/>
          </p:nvGrpSpPr>
          <p:grpSpPr bwMode="auto">
            <a:xfrm>
              <a:off x="7019925" y="5800725"/>
              <a:ext cx="87313" cy="38100"/>
              <a:chOff x="1740" y="2642"/>
              <a:chExt cx="752" cy="327"/>
            </a:xfrm>
          </p:grpSpPr>
          <p:sp>
            <p:nvSpPr>
              <p:cNvPr id="1000" name="Freeform 1040"/>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1" name="Freeform 1041"/>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2" name="Freeform 1042"/>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3" name="Freeform 1043"/>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4" name="Freeform 1044"/>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5" name="Freeform 1045"/>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746" name="Freeform 1046"/>
            <p:cNvSpPr/>
            <p:nvPr/>
          </p:nvSpPr>
          <p:spPr bwMode="auto">
            <a:xfrm>
              <a:off x="7169150" y="5807075"/>
              <a:ext cx="10636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7" name="Freeform 1047"/>
            <p:cNvSpPr/>
            <p:nvPr/>
          </p:nvSpPr>
          <p:spPr bwMode="auto">
            <a:xfrm>
              <a:off x="6897688" y="5813425"/>
              <a:ext cx="271462"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8" name="Freeform 1048"/>
            <p:cNvSpPr/>
            <p:nvPr/>
          </p:nvSpPr>
          <p:spPr bwMode="auto">
            <a:xfrm>
              <a:off x="6899275" y="5799138"/>
              <a:ext cx="1588"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9" name="Freeform 1049"/>
            <p:cNvSpPr/>
            <p:nvPr/>
          </p:nvSpPr>
          <p:spPr bwMode="auto">
            <a:xfrm>
              <a:off x="6899275" y="5738813"/>
              <a:ext cx="12541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0" name="Freeform 1050"/>
            <p:cNvSpPr/>
            <p:nvPr/>
          </p:nvSpPr>
          <p:spPr bwMode="auto">
            <a:xfrm>
              <a:off x="6907213" y="5802313"/>
              <a:ext cx="257175"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1" name="Freeform 1051"/>
            <p:cNvSpPr/>
            <p:nvPr/>
          </p:nvSpPr>
          <p:spPr bwMode="auto">
            <a:xfrm flipV="1">
              <a:off x="7164388" y="5797550"/>
              <a:ext cx="10477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52" name="Group 2"/>
            <p:cNvGrpSpPr/>
            <p:nvPr/>
          </p:nvGrpSpPr>
          <p:grpSpPr bwMode="auto">
            <a:xfrm>
              <a:off x="5607050" y="3182938"/>
              <a:ext cx="317500" cy="246062"/>
              <a:chOff x="5581650" y="3128963"/>
              <a:chExt cx="423863" cy="320675"/>
            </a:xfrm>
          </p:grpSpPr>
          <p:pic>
            <p:nvPicPr>
              <p:cNvPr id="978" name="Picture 1054" descr="laptop_keyboar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rot="109064" flipH="1">
                <a:off x="5581650" y="3290888"/>
                <a:ext cx="363538"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9" name="Freeform 1055"/>
              <p:cNvSpPr/>
              <p:nvPr/>
            </p:nvSpPr>
            <p:spPr bwMode="auto">
              <a:xfrm>
                <a:off x="5702300" y="3135313"/>
                <a:ext cx="292100"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980" name="Picture 1056" descr="screen"/>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716588" y="3140075"/>
                <a:ext cx="2667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1" name="Freeform 1057"/>
              <p:cNvSpPr/>
              <p:nvPr/>
            </p:nvSpPr>
            <p:spPr bwMode="auto">
              <a:xfrm>
                <a:off x="5756275" y="3128963"/>
                <a:ext cx="247650"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2" name="Freeform 1058"/>
              <p:cNvSpPr/>
              <p:nvPr/>
            </p:nvSpPr>
            <p:spPr bwMode="auto">
              <a:xfrm>
                <a:off x="5700713" y="3128963"/>
                <a:ext cx="68262"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3" name="Freeform 1059"/>
              <p:cNvSpPr/>
              <p:nvPr/>
            </p:nvSpPr>
            <p:spPr bwMode="auto">
              <a:xfrm>
                <a:off x="5927725" y="3157538"/>
                <a:ext cx="74613"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4" name="Freeform 1060"/>
              <p:cNvSpPr/>
              <p:nvPr/>
            </p:nvSpPr>
            <p:spPr bwMode="auto">
              <a:xfrm>
                <a:off x="5699125" y="3281363"/>
                <a:ext cx="27146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5" name="Freeform 1061"/>
              <p:cNvSpPr/>
              <p:nvPr/>
            </p:nvSpPr>
            <p:spPr bwMode="auto">
              <a:xfrm>
                <a:off x="5935663" y="3159125"/>
                <a:ext cx="69850"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6" name="Freeform 1062"/>
              <p:cNvSpPr/>
              <p:nvPr/>
            </p:nvSpPr>
            <p:spPr bwMode="auto">
              <a:xfrm>
                <a:off x="5699125" y="3290888"/>
                <a:ext cx="242888"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987" name="Group 1063"/>
              <p:cNvGrpSpPr/>
              <p:nvPr/>
            </p:nvGrpSpPr>
            <p:grpSpPr bwMode="auto">
              <a:xfrm>
                <a:off x="5695950" y="3355975"/>
                <a:ext cx="80963" cy="38100"/>
                <a:chOff x="1740" y="2642"/>
                <a:chExt cx="752" cy="327"/>
              </a:xfrm>
            </p:grpSpPr>
            <p:sp>
              <p:nvSpPr>
                <p:cNvPr id="994" name="Freeform 1064"/>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5" name="Freeform 1065"/>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6" name="Freeform 1066"/>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7" name="Freeform 1067"/>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8" name="Freeform 1068"/>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9" name="Freeform 1069"/>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988" name="Freeform 1070"/>
              <p:cNvSpPr/>
              <p:nvPr/>
            </p:nvSpPr>
            <p:spPr bwMode="auto">
              <a:xfrm>
                <a:off x="5835650" y="3362325"/>
                <a:ext cx="10001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9" name="Freeform 1071"/>
              <p:cNvSpPr/>
              <p:nvPr/>
            </p:nvSpPr>
            <p:spPr bwMode="auto">
              <a:xfrm>
                <a:off x="5583238" y="3368675"/>
                <a:ext cx="254000"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0" name="Freeform 1072"/>
              <p:cNvSpPr/>
              <p:nvPr/>
            </p:nvSpPr>
            <p:spPr bwMode="auto">
              <a:xfrm>
                <a:off x="5583238" y="3354388"/>
                <a:ext cx="1587"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1" name="Freeform 1073"/>
              <p:cNvSpPr/>
              <p:nvPr/>
            </p:nvSpPr>
            <p:spPr bwMode="auto">
              <a:xfrm>
                <a:off x="5583238" y="3294063"/>
                <a:ext cx="117475"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2" name="Freeform 1074"/>
              <p:cNvSpPr/>
              <p:nvPr/>
            </p:nvSpPr>
            <p:spPr bwMode="auto">
              <a:xfrm>
                <a:off x="5591175" y="3357563"/>
                <a:ext cx="241300"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3" name="Freeform 1075"/>
              <p:cNvSpPr/>
              <p:nvPr/>
            </p:nvSpPr>
            <p:spPr bwMode="auto">
              <a:xfrm flipV="1">
                <a:off x="5830888" y="3352800"/>
                <a:ext cx="9842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753" name="Group 1076"/>
            <p:cNvGrpSpPr/>
            <p:nvPr/>
          </p:nvGrpSpPr>
          <p:grpSpPr bwMode="auto">
            <a:xfrm flipH="1">
              <a:off x="6156325" y="3300413"/>
              <a:ext cx="342900" cy="334962"/>
              <a:chOff x="2839" y="3501"/>
              <a:chExt cx="755" cy="803"/>
            </a:xfrm>
          </p:grpSpPr>
          <p:pic>
            <p:nvPicPr>
              <p:cNvPr id="976" name="Picture 1077" descr="desktop_computer_stylized_medium"/>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7" name="Freeform 1078"/>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pic>
          <p:nvPicPr>
            <p:cNvPr id="754" name="Picture 1081" descr="laptop_keyboard"/>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109064" flipH="1">
              <a:off x="7329488" y="56721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5" name="Freeform 1082"/>
            <p:cNvSpPr/>
            <p:nvPr/>
          </p:nvSpPr>
          <p:spPr bwMode="auto">
            <a:xfrm>
              <a:off x="7458075" y="5516563"/>
              <a:ext cx="312738"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p>
          </p:txBody>
        </p:sp>
        <p:pic>
          <p:nvPicPr>
            <p:cNvPr id="756" name="Picture 1083" descr="scre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473950" y="55213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 name="Freeform 1084"/>
            <p:cNvSpPr/>
            <p:nvPr/>
          </p:nvSpPr>
          <p:spPr bwMode="auto">
            <a:xfrm>
              <a:off x="7515225" y="5510213"/>
              <a:ext cx="265113"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 name="Freeform 1085"/>
            <p:cNvSpPr/>
            <p:nvPr/>
          </p:nvSpPr>
          <p:spPr bwMode="auto">
            <a:xfrm>
              <a:off x="7456488" y="5510213"/>
              <a:ext cx="73025"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9" name="Freeform 1086"/>
            <p:cNvSpPr/>
            <p:nvPr/>
          </p:nvSpPr>
          <p:spPr bwMode="auto">
            <a:xfrm>
              <a:off x="7699375" y="5538788"/>
              <a:ext cx="79375"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0" name="Freeform 1087"/>
            <p:cNvSpPr/>
            <p:nvPr/>
          </p:nvSpPr>
          <p:spPr bwMode="auto">
            <a:xfrm>
              <a:off x="7454900" y="5662613"/>
              <a:ext cx="29051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1" name="Freeform 1088"/>
            <p:cNvSpPr/>
            <p:nvPr/>
          </p:nvSpPr>
          <p:spPr bwMode="auto">
            <a:xfrm>
              <a:off x="7707313" y="5540375"/>
              <a:ext cx="74612"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2" name="Freeform 1089"/>
            <p:cNvSpPr/>
            <p:nvPr/>
          </p:nvSpPr>
          <p:spPr bwMode="auto">
            <a:xfrm>
              <a:off x="7454900" y="5672138"/>
              <a:ext cx="258763"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63" name="Group 1090"/>
            <p:cNvGrpSpPr/>
            <p:nvPr/>
          </p:nvGrpSpPr>
          <p:grpSpPr bwMode="auto">
            <a:xfrm>
              <a:off x="7451725" y="5737225"/>
              <a:ext cx="87313" cy="38100"/>
              <a:chOff x="1740" y="2642"/>
              <a:chExt cx="752" cy="327"/>
            </a:xfrm>
          </p:grpSpPr>
          <p:sp>
            <p:nvSpPr>
              <p:cNvPr id="970" name="Freeform 1091"/>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1" name="Freeform 1092"/>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2" name="Freeform 1093"/>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3" name="Freeform 1094"/>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4" name="Freeform 1095"/>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5" name="Freeform 1096"/>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764" name="Freeform 1097"/>
            <p:cNvSpPr/>
            <p:nvPr/>
          </p:nvSpPr>
          <p:spPr bwMode="auto">
            <a:xfrm>
              <a:off x="7600950" y="5743575"/>
              <a:ext cx="10636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5" name="Freeform 1098"/>
            <p:cNvSpPr/>
            <p:nvPr/>
          </p:nvSpPr>
          <p:spPr bwMode="auto">
            <a:xfrm>
              <a:off x="7329488" y="5749925"/>
              <a:ext cx="271462"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6" name="Freeform 1099"/>
            <p:cNvSpPr/>
            <p:nvPr/>
          </p:nvSpPr>
          <p:spPr bwMode="auto">
            <a:xfrm>
              <a:off x="7331075" y="5735638"/>
              <a:ext cx="1588"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7" name="Freeform 1100"/>
            <p:cNvSpPr/>
            <p:nvPr/>
          </p:nvSpPr>
          <p:spPr bwMode="auto">
            <a:xfrm>
              <a:off x="7331075" y="5675313"/>
              <a:ext cx="12541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8" name="Freeform 1101"/>
            <p:cNvSpPr/>
            <p:nvPr/>
          </p:nvSpPr>
          <p:spPr bwMode="auto">
            <a:xfrm>
              <a:off x="7339013" y="5738813"/>
              <a:ext cx="257175"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9" name="Freeform 1102"/>
            <p:cNvSpPr/>
            <p:nvPr/>
          </p:nvSpPr>
          <p:spPr bwMode="auto">
            <a:xfrm flipV="1">
              <a:off x="7596188" y="5734050"/>
              <a:ext cx="10477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70" name="Group 1103"/>
            <p:cNvGrpSpPr/>
            <p:nvPr/>
          </p:nvGrpSpPr>
          <p:grpSpPr bwMode="auto">
            <a:xfrm>
              <a:off x="6351588" y="2493963"/>
              <a:ext cx="390525" cy="169862"/>
              <a:chOff x="4650" y="1129"/>
              <a:chExt cx="246" cy="95"/>
            </a:xfrm>
          </p:grpSpPr>
          <p:sp>
            <p:nvSpPr>
              <p:cNvPr id="96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96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96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965" name="Group 1107"/>
              <p:cNvGrpSpPr/>
              <p:nvPr/>
            </p:nvGrpSpPr>
            <p:grpSpPr bwMode="auto">
              <a:xfrm>
                <a:off x="4699" y="1145"/>
                <a:ext cx="138" cy="29"/>
                <a:chOff x="2468" y="1332"/>
                <a:chExt cx="310" cy="60"/>
              </a:xfrm>
            </p:grpSpPr>
            <p:sp>
              <p:nvSpPr>
                <p:cNvPr id="968" name="Freeform 110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9" name="Freeform 110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66" name="Line 1110"/>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7" name="Line 1111"/>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71" name="Group 1112"/>
            <p:cNvGrpSpPr/>
            <p:nvPr/>
          </p:nvGrpSpPr>
          <p:grpSpPr bwMode="auto">
            <a:xfrm>
              <a:off x="6051550" y="3641725"/>
              <a:ext cx="390525" cy="169863"/>
              <a:chOff x="4650" y="1129"/>
              <a:chExt cx="246" cy="95"/>
            </a:xfrm>
          </p:grpSpPr>
          <p:sp>
            <p:nvSpPr>
              <p:cNvPr id="95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95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95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957" name="Group 1116"/>
              <p:cNvGrpSpPr/>
              <p:nvPr/>
            </p:nvGrpSpPr>
            <p:grpSpPr bwMode="auto">
              <a:xfrm>
                <a:off x="4699" y="1145"/>
                <a:ext cx="138" cy="29"/>
                <a:chOff x="2468" y="1332"/>
                <a:chExt cx="310" cy="60"/>
              </a:xfrm>
            </p:grpSpPr>
            <p:sp>
              <p:nvSpPr>
                <p:cNvPr id="960" name="Freeform 1117"/>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1" name="Freeform 1118"/>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58" name="Line 1119"/>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9" name="Line 1120"/>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72" name="Group 878"/>
            <p:cNvGrpSpPr/>
            <p:nvPr/>
          </p:nvGrpSpPr>
          <p:grpSpPr bwMode="auto">
            <a:xfrm>
              <a:off x="5521325" y="3067050"/>
              <a:ext cx="374650" cy="82550"/>
              <a:chOff x="2199" y="955"/>
              <a:chExt cx="2547" cy="506"/>
            </a:xfrm>
          </p:grpSpPr>
          <p:sp>
            <p:nvSpPr>
              <p:cNvPr id="948" name="Freeform 879"/>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9" name="Freeform 880"/>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0" name="Freeform 881"/>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1" name="Freeform 882"/>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 name="Freeform 883"/>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3" name="Freeform 884"/>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73" name="Group 1121"/>
            <p:cNvGrpSpPr/>
            <p:nvPr/>
          </p:nvGrpSpPr>
          <p:grpSpPr bwMode="auto">
            <a:xfrm>
              <a:off x="6248400" y="4852988"/>
              <a:ext cx="617538" cy="247650"/>
              <a:chOff x="2356" y="1300"/>
              <a:chExt cx="555" cy="194"/>
            </a:xfrm>
          </p:grpSpPr>
          <p:sp>
            <p:nvSpPr>
              <p:cNvPr id="940"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941"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942"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943" name="Group 1125"/>
              <p:cNvGrpSpPr/>
              <p:nvPr/>
            </p:nvGrpSpPr>
            <p:grpSpPr bwMode="auto">
              <a:xfrm>
                <a:off x="2468" y="1332"/>
                <a:ext cx="310" cy="60"/>
                <a:chOff x="2468" y="1332"/>
                <a:chExt cx="310" cy="60"/>
              </a:xfrm>
            </p:grpSpPr>
            <p:sp>
              <p:nvSpPr>
                <p:cNvPr id="946" name="Freeform 112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7" name="Freeform 112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44" name="Line 1128"/>
              <p:cNvSpPr>
                <a:spLocks noChangeShapeType="1"/>
              </p:cNvSpPr>
              <p:nvPr/>
            </p:nvSpPr>
            <p:spPr bwMode="auto">
              <a:xfrm>
                <a:off x="2357" y="1361"/>
                <a:ext cx="0" cy="8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5" name="Line 1129"/>
              <p:cNvSpPr>
                <a:spLocks noChangeShapeType="1"/>
              </p:cNvSpPr>
              <p:nvPr/>
            </p:nvSpPr>
            <p:spPr bwMode="auto">
              <a:xfrm>
                <a:off x="2907" y="1363"/>
                <a:ext cx="0" cy="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74" name="Group 1130"/>
            <p:cNvGrpSpPr/>
            <p:nvPr/>
          </p:nvGrpSpPr>
          <p:grpSpPr bwMode="auto">
            <a:xfrm>
              <a:off x="6969125" y="4510088"/>
              <a:ext cx="617538" cy="247650"/>
              <a:chOff x="2356" y="1300"/>
              <a:chExt cx="555" cy="194"/>
            </a:xfrm>
          </p:grpSpPr>
          <p:sp>
            <p:nvSpPr>
              <p:cNvPr id="932"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933"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934"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935" name="Group 1134"/>
              <p:cNvGrpSpPr/>
              <p:nvPr/>
            </p:nvGrpSpPr>
            <p:grpSpPr bwMode="auto">
              <a:xfrm>
                <a:off x="2468" y="1332"/>
                <a:ext cx="310" cy="60"/>
                <a:chOff x="2468" y="1332"/>
                <a:chExt cx="310" cy="60"/>
              </a:xfrm>
            </p:grpSpPr>
            <p:sp>
              <p:nvSpPr>
                <p:cNvPr id="938" name="Freeform 1135"/>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9" name="Freeform 1136"/>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36" name="Line 1137"/>
              <p:cNvSpPr>
                <a:spLocks noChangeShapeType="1"/>
              </p:cNvSpPr>
              <p:nvPr/>
            </p:nvSpPr>
            <p:spPr bwMode="auto">
              <a:xfrm>
                <a:off x="2357" y="1361"/>
                <a:ext cx="0" cy="8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7" name="Line 1138"/>
              <p:cNvSpPr>
                <a:spLocks noChangeShapeType="1"/>
              </p:cNvSpPr>
              <p:nvPr/>
            </p:nvSpPr>
            <p:spPr bwMode="auto">
              <a:xfrm>
                <a:off x="2907" y="1363"/>
                <a:ext cx="0" cy="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75" name="Group 1139"/>
            <p:cNvGrpSpPr/>
            <p:nvPr/>
          </p:nvGrpSpPr>
          <p:grpSpPr bwMode="auto">
            <a:xfrm>
              <a:off x="7585075" y="4811713"/>
              <a:ext cx="617538" cy="247650"/>
              <a:chOff x="2356" y="1300"/>
              <a:chExt cx="555" cy="194"/>
            </a:xfrm>
          </p:grpSpPr>
          <p:sp>
            <p:nvSpPr>
              <p:cNvPr id="924"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925"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926"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927" name="Group 1143"/>
              <p:cNvGrpSpPr/>
              <p:nvPr/>
            </p:nvGrpSpPr>
            <p:grpSpPr bwMode="auto">
              <a:xfrm>
                <a:off x="2468" y="1332"/>
                <a:ext cx="310" cy="60"/>
                <a:chOff x="2468" y="1332"/>
                <a:chExt cx="310" cy="60"/>
              </a:xfrm>
            </p:grpSpPr>
            <p:sp>
              <p:nvSpPr>
                <p:cNvPr id="930" name="Freeform 114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1" name="Freeform 114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28" name="Line 1146"/>
              <p:cNvSpPr>
                <a:spLocks noChangeShapeType="1"/>
              </p:cNvSpPr>
              <p:nvPr/>
            </p:nvSpPr>
            <p:spPr bwMode="auto">
              <a:xfrm>
                <a:off x="2357" y="1361"/>
                <a:ext cx="0" cy="8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9" name="Line 1147"/>
              <p:cNvSpPr>
                <a:spLocks noChangeShapeType="1"/>
              </p:cNvSpPr>
              <p:nvPr/>
            </p:nvSpPr>
            <p:spPr bwMode="auto">
              <a:xfrm>
                <a:off x="2907" y="1363"/>
                <a:ext cx="0" cy="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76" name="Group 3"/>
            <p:cNvGrpSpPr/>
            <p:nvPr/>
          </p:nvGrpSpPr>
          <p:grpSpPr bwMode="auto">
            <a:xfrm>
              <a:off x="5964238" y="3135313"/>
              <a:ext cx="314325" cy="334962"/>
              <a:chOff x="5974579" y="3105349"/>
              <a:chExt cx="347997" cy="396620"/>
            </a:xfrm>
          </p:grpSpPr>
          <p:pic>
            <p:nvPicPr>
              <p:cNvPr id="922" name="Picture 555" descr="fridge2.png"/>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6074343" y="3164942"/>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 name="Picture 1115" descr="antenna_stylized"/>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974579" y="3105349"/>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77" name="Picture 603" descr="car_icon_small"/>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73813" y="1744663"/>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 name="Picture 814" descr="light2.png"/>
            <p:cNvPicPr>
              <a:picLocks noChangeAspect="1"/>
            </p:cNvPicPr>
            <p:nvPr/>
          </p:nvPicPr>
          <p:blipFill>
            <a:blip r:embed="rId23" cstate="print">
              <a:extLst>
                <a:ext uri="{28A0092B-C50C-407E-A947-70E740481C1C}">
                  <a14:useLocalDpi xmlns:a14="http://schemas.microsoft.com/office/drawing/2010/main" val="0"/>
                </a:ext>
              </a:extLst>
            </a:blip>
            <a:srcRect/>
            <a:stretch>
              <a:fillRect/>
            </a:stretch>
          </p:blipFill>
          <p:spPr bwMode="auto">
            <a:xfrm flipH="1">
              <a:off x="6707188" y="2019300"/>
              <a:ext cx="920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9" name="Picture 1017" descr="antenna_stylized"/>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6511925" y="1946275"/>
              <a:ext cx="531813"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0" name="Picture 1017" descr="antenna_stylize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586538" y="1685925"/>
              <a:ext cx="530225"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81" name="Group 870"/>
            <p:cNvGrpSpPr/>
            <p:nvPr/>
          </p:nvGrpSpPr>
          <p:grpSpPr bwMode="auto">
            <a:xfrm>
              <a:off x="5588000" y="1546225"/>
              <a:ext cx="477838" cy="107950"/>
              <a:chOff x="2199" y="955"/>
              <a:chExt cx="2547" cy="506"/>
            </a:xfrm>
          </p:grpSpPr>
          <p:sp>
            <p:nvSpPr>
              <p:cNvPr id="916" name="Freeform 871"/>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7" name="Freeform 872"/>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8" name="Freeform 873"/>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9" name="Freeform 874"/>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0" name="Freeform 875"/>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 name="Freeform 876"/>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82" name="Group 870"/>
            <p:cNvGrpSpPr/>
            <p:nvPr/>
          </p:nvGrpSpPr>
          <p:grpSpPr bwMode="auto">
            <a:xfrm>
              <a:off x="6481763" y="1935163"/>
              <a:ext cx="479425" cy="107950"/>
              <a:chOff x="2199" y="955"/>
              <a:chExt cx="2547" cy="506"/>
            </a:xfrm>
          </p:grpSpPr>
          <p:sp>
            <p:nvSpPr>
              <p:cNvPr id="910" name="Freeform 871"/>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 name="Freeform 872"/>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2" name="Freeform 873"/>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3" name="Freeform 874"/>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4" name="Freeform 875"/>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5" name="Freeform 876"/>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83" name="Group 878"/>
            <p:cNvGrpSpPr/>
            <p:nvPr/>
          </p:nvGrpSpPr>
          <p:grpSpPr bwMode="auto">
            <a:xfrm>
              <a:off x="5935663" y="3106738"/>
              <a:ext cx="373062" cy="82550"/>
              <a:chOff x="2199" y="955"/>
              <a:chExt cx="2547" cy="506"/>
            </a:xfrm>
          </p:grpSpPr>
          <p:sp>
            <p:nvSpPr>
              <p:cNvPr id="904" name="Freeform 879"/>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5" name="Freeform 880"/>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6" name="Freeform 881"/>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7" name="Freeform 882"/>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8" name="Freeform 883"/>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9" name="Freeform 884"/>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84" name="Group 347"/>
            <p:cNvGrpSpPr/>
            <p:nvPr/>
          </p:nvGrpSpPr>
          <p:grpSpPr bwMode="auto">
            <a:xfrm>
              <a:off x="6220922" y="4838544"/>
              <a:ext cx="660165" cy="269566"/>
              <a:chOff x="1871277" y="1576300"/>
              <a:chExt cx="1128371" cy="437861"/>
            </a:xfrm>
          </p:grpSpPr>
          <p:sp>
            <p:nvSpPr>
              <p:cNvPr id="895" name="Oval 487"/>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96" name="Rectangle 488"/>
              <p:cNvSpPr/>
              <p:nvPr/>
            </p:nvSpPr>
            <p:spPr bwMode="auto">
              <a:xfrm>
                <a:off x="1872116" y="1739848"/>
                <a:ext cx="1128773" cy="11605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7" name="Oval 489"/>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98" name="Freeform 490"/>
              <p:cNvSpPr/>
              <p:nvPr/>
            </p:nvSpPr>
            <p:spPr bwMode="auto">
              <a:xfrm>
                <a:off x="2159736" y="1672794"/>
                <a:ext cx="548106" cy="162476"/>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9" name="Freeform 491"/>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900" name="Freeform 492"/>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901" name="Freeform 493"/>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902" name="Straight Connector 494"/>
              <p:cNvCxnSpPr>
                <a:cxnSpLocks noChangeShapeType="1"/>
                <a:endCxn id="897"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03" name="Straight Connector 495"/>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85" name="Group 347"/>
            <p:cNvGrpSpPr/>
            <p:nvPr/>
          </p:nvGrpSpPr>
          <p:grpSpPr bwMode="auto">
            <a:xfrm>
              <a:off x="6933466" y="4503243"/>
              <a:ext cx="660165" cy="269566"/>
              <a:chOff x="1871277" y="1576300"/>
              <a:chExt cx="1128371" cy="437861"/>
            </a:xfrm>
          </p:grpSpPr>
          <p:sp>
            <p:nvSpPr>
              <p:cNvPr id="886" name="Oval 569"/>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87" name="Rectangle 570"/>
              <p:cNvSpPr/>
              <p:nvPr/>
            </p:nvSpPr>
            <p:spPr bwMode="auto">
              <a:xfrm>
                <a:off x="1872532" y="1737736"/>
                <a:ext cx="1126060" cy="11605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88" name="Oval 571"/>
              <p:cNvSpPr>
                <a:spLocks noChangeArrowheads="1"/>
              </p:cNvSpPr>
              <p:nvPr/>
            </p:nvSpPr>
            <p:spPr bwMode="auto">
              <a:xfrm flipV="1">
                <a:off x="1871277" y="1576300"/>
                <a:ext cx="1125200" cy="319520"/>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89" name="Freeform 572"/>
              <p:cNvSpPr/>
              <p:nvPr/>
            </p:nvSpPr>
            <p:spPr bwMode="auto">
              <a:xfrm>
                <a:off x="2160152" y="1673261"/>
                <a:ext cx="548106" cy="15989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0" name="Freeform 573"/>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91" name="Freeform 574"/>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92" name="Freeform 575"/>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93" name="Straight Connector 576"/>
              <p:cNvCxnSpPr>
                <a:cxnSpLocks noChangeShapeType="1"/>
                <a:endCxn id="888"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94" name="Straight Connector 577"/>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86" name="Group 347"/>
            <p:cNvGrpSpPr/>
            <p:nvPr/>
          </p:nvGrpSpPr>
          <p:grpSpPr bwMode="auto">
            <a:xfrm>
              <a:off x="7563920" y="4800505"/>
              <a:ext cx="660165" cy="269566"/>
              <a:chOff x="1871277" y="1576300"/>
              <a:chExt cx="1128371" cy="437861"/>
            </a:xfrm>
          </p:grpSpPr>
          <p:sp>
            <p:nvSpPr>
              <p:cNvPr id="877" name="Oval 579"/>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78" name="Rectangle 580"/>
              <p:cNvSpPr/>
              <p:nvPr/>
            </p:nvSpPr>
            <p:spPr bwMode="auto">
              <a:xfrm>
                <a:off x="1872162" y="1739739"/>
                <a:ext cx="1128773" cy="11605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79" name="Oval 581"/>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80" name="Freeform 582"/>
              <p:cNvSpPr/>
              <p:nvPr/>
            </p:nvSpPr>
            <p:spPr bwMode="auto">
              <a:xfrm>
                <a:off x="2159782" y="1672685"/>
                <a:ext cx="548106" cy="162476"/>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81" name="Freeform 583"/>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82" name="Freeform 584"/>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83" name="Freeform 585"/>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84" name="Straight Connector 586"/>
              <p:cNvCxnSpPr>
                <a:cxnSpLocks noChangeShapeType="1"/>
                <a:endCxn id="879"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85" name="Straight Connector 587"/>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87" name="Group 347"/>
            <p:cNvGrpSpPr/>
            <p:nvPr/>
          </p:nvGrpSpPr>
          <p:grpSpPr bwMode="auto">
            <a:xfrm>
              <a:off x="6050373" y="3620176"/>
              <a:ext cx="425094" cy="228319"/>
              <a:chOff x="1871277" y="1576300"/>
              <a:chExt cx="1128371" cy="437861"/>
            </a:xfrm>
          </p:grpSpPr>
          <p:sp>
            <p:nvSpPr>
              <p:cNvPr id="868" name="Oval 589"/>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69" name="Rectangle 590"/>
              <p:cNvSpPr/>
              <p:nvPr/>
            </p:nvSpPr>
            <p:spPr bwMode="auto">
              <a:xfrm>
                <a:off x="1870189" y="1740037"/>
                <a:ext cx="1129316" cy="115707"/>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70" name="Oval 591"/>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71" name="Freeform 592"/>
              <p:cNvSpPr/>
              <p:nvPr/>
            </p:nvSpPr>
            <p:spPr bwMode="auto">
              <a:xfrm>
                <a:off x="2160944" y="1673049"/>
                <a:ext cx="547803" cy="16138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72" name="Freeform 593"/>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73" name="Freeform 594"/>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74" name="Freeform 595"/>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75" name="Straight Connector 596"/>
              <p:cNvCxnSpPr>
                <a:cxnSpLocks noChangeShapeType="1"/>
                <a:endCxn id="870"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76" name="Straight Connector 597"/>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88" name="Group 347"/>
            <p:cNvGrpSpPr/>
            <p:nvPr/>
          </p:nvGrpSpPr>
          <p:grpSpPr bwMode="auto">
            <a:xfrm>
              <a:off x="6347637" y="2481965"/>
              <a:ext cx="403071" cy="202807"/>
              <a:chOff x="1871277" y="1576300"/>
              <a:chExt cx="1128371" cy="437861"/>
            </a:xfrm>
          </p:grpSpPr>
          <p:sp>
            <p:nvSpPr>
              <p:cNvPr id="859" name="Oval 599"/>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60" name="Rectangle 600"/>
              <p:cNvSpPr/>
              <p:nvPr/>
            </p:nvSpPr>
            <p:spPr bwMode="auto">
              <a:xfrm>
                <a:off x="1873449" y="1739634"/>
                <a:ext cx="1124357" cy="116550"/>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61" name="Oval 601"/>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62" name="Freeform 602"/>
              <p:cNvSpPr/>
              <p:nvPr/>
            </p:nvSpPr>
            <p:spPr bwMode="auto">
              <a:xfrm>
                <a:off x="2162315" y="1671075"/>
                <a:ext cx="546626" cy="16111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63" name="Freeform 603"/>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64" name="Freeform 604"/>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65" name="Freeform 605"/>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66" name="Straight Connector 606"/>
              <p:cNvCxnSpPr>
                <a:cxnSpLocks noChangeShapeType="1"/>
                <a:endCxn id="861"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67" name="Straight Connector 607"/>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89" name="Group 1"/>
            <p:cNvGrpSpPr/>
            <p:nvPr/>
          </p:nvGrpSpPr>
          <p:grpSpPr bwMode="auto">
            <a:xfrm>
              <a:off x="7678804" y="2388750"/>
              <a:ext cx="418211" cy="189727"/>
              <a:chOff x="7913987" y="1515773"/>
              <a:chExt cx="625138" cy="276534"/>
            </a:xfrm>
          </p:grpSpPr>
          <p:sp>
            <p:nvSpPr>
              <p:cNvPr id="850" name="Oval 609"/>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51" name="Rectangle 610"/>
              <p:cNvSpPr/>
              <p:nvPr/>
            </p:nvSpPr>
            <p:spPr bwMode="auto">
              <a:xfrm>
                <a:off x="7913888" y="1623052"/>
                <a:ext cx="624093" cy="71739"/>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52" name="Oval 611"/>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53" name="Freeform 612"/>
              <p:cNvSpPr/>
              <p:nvPr/>
            </p:nvSpPr>
            <p:spPr bwMode="auto">
              <a:xfrm>
                <a:off x="8072877" y="1581397"/>
                <a:ext cx="303742" cy="995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54" name="Freeform 613"/>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55" name="Freeform 614"/>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56" name="Freeform 615"/>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57" name="Straight Connector 616"/>
              <p:cNvCxnSpPr>
                <a:cxnSpLocks noChangeShapeType="1"/>
                <a:endCxn id="852"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58" name="Straight Connector 617"/>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90" name="Group 619"/>
            <p:cNvGrpSpPr/>
            <p:nvPr/>
          </p:nvGrpSpPr>
          <p:grpSpPr bwMode="auto">
            <a:xfrm>
              <a:off x="7750570" y="2752811"/>
              <a:ext cx="418211" cy="189727"/>
              <a:chOff x="7913987" y="1515773"/>
              <a:chExt cx="625138" cy="276534"/>
            </a:xfrm>
          </p:grpSpPr>
          <p:sp>
            <p:nvSpPr>
              <p:cNvPr id="841" name="Oval 620"/>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42" name="Rectangle 621"/>
              <p:cNvSpPr/>
              <p:nvPr/>
            </p:nvSpPr>
            <p:spPr bwMode="auto">
              <a:xfrm>
                <a:off x="7913397" y="1622369"/>
                <a:ext cx="626467" cy="71741"/>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43" name="Oval 622"/>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44" name="Freeform 623"/>
              <p:cNvSpPr/>
              <p:nvPr/>
            </p:nvSpPr>
            <p:spPr bwMode="auto">
              <a:xfrm>
                <a:off x="8072387" y="1580713"/>
                <a:ext cx="306114" cy="9951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45" name="Freeform 624"/>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46" name="Freeform 625"/>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47" name="Freeform 626"/>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48" name="Straight Connector 627"/>
              <p:cNvCxnSpPr>
                <a:cxnSpLocks noChangeShapeType="1"/>
                <a:endCxn id="843"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49" name="Straight Connector 628"/>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91" name="Group 629"/>
            <p:cNvGrpSpPr/>
            <p:nvPr/>
          </p:nvGrpSpPr>
          <p:grpSpPr bwMode="auto">
            <a:xfrm>
              <a:off x="7187343" y="2485248"/>
              <a:ext cx="418211" cy="189727"/>
              <a:chOff x="7913987" y="1515773"/>
              <a:chExt cx="625138" cy="276534"/>
            </a:xfrm>
          </p:grpSpPr>
          <p:sp>
            <p:nvSpPr>
              <p:cNvPr id="832" name="Oval 630"/>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33" name="Rectangle 631"/>
              <p:cNvSpPr/>
              <p:nvPr/>
            </p:nvSpPr>
            <p:spPr bwMode="auto">
              <a:xfrm>
                <a:off x="7912896" y="1621254"/>
                <a:ext cx="626467" cy="71739"/>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34" name="Oval 632"/>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35" name="Freeform 633"/>
              <p:cNvSpPr/>
              <p:nvPr/>
            </p:nvSpPr>
            <p:spPr bwMode="auto">
              <a:xfrm>
                <a:off x="8071885" y="1579598"/>
                <a:ext cx="306115" cy="10182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36" name="Freeform 634"/>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37" name="Freeform 635"/>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38" name="Freeform 636"/>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39" name="Straight Connector 637"/>
              <p:cNvCxnSpPr>
                <a:cxnSpLocks noChangeShapeType="1"/>
                <a:endCxn id="834"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40" name="Straight Connector 638"/>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92" name="Group 639"/>
            <p:cNvGrpSpPr/>
            <p:nvPr/>
          </p:nvGrpSpPr>
          <p:grpSpPr bwMode="auto">
            <a:xfrm>
              <a:off x="7195275" y="2751878"/>
              <a:ext cx="418211" cy="189727"/>
              <a:chOff x="7913987" y="1515773"/>
              <a:chExt cx="625138" cy="276534"/>
            </a:xfrm>
          </p:grpSpPr>
          <p:sp>
            <p:nvSpPr>
              <p:cNvPr id="823" name="Oval 640"/>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24" name="Rectangle 641"/>
              <p:cNvSpPr/>
              <p:nvPr/>
            </p:nvSpPr>
            <p:spPr bwMode="auto">
              <a:xfrm>
                <a:off x="7912903" y="1621415"/>
                <a:ext cx="626467" cy="71739"/>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25" name="Oval 642"/>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26" name="Freeform 643"/>
              <p:cNvSpPr/>
              <p:nvPr/>
            </p:nvSpPr>
            <p:spPr bwMode="auto">
              <a:xfrm>
                <a:off x="8071894" y="1579760"/>
                <a:ext cx="306114" cy="10182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27" name="Freeform 644"/>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28" name="Freeform 645"/>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29" name="Freeform 646"/>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30" name="Straight Connector 647"/>
              <p:cNvCxnSpPr>
                <a:cxnSpLocks noChangeShapeType="1"/>
                <a:endCxn id="825"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31" name="Straight Connector 648"/>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93" name="Group 649"/>
            <p:cNvGrpSpPr/>
            <p:nvPr/>
          </p:nvGrpSpPr>
          <p:grpSpPr bwMode="auto">
            <a:xfrm>
              <a:off x="7088975" y="3633334"/>
              <a:ext cx="418211" cy="189727"/>
              <a:chOff x="7913987" y="1515773"/>
              <a:chExt cx="625138" cy="276534"/>
            </a:xfrm>
          </p:grpSpPr>
          <p:sp>
            <p:nvSpPr>
              <p:cNvPr id="814" name="Oval 650"/>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15" name="Rectangle 651"/>
              <p:cNvSpPr/>
              <p:nvPr/>
            </p:nvSpPr>
            <p:spPr bwMode="auto">
              <a:xfrm>
                <a:off x="7912811" y="1623353"/>
                <a:ext cx="626467" cy="71739"/>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16" name="Oval 652"/>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17" name="Freeform 653"/>
              <p:cNvSpPr/>
              <p:nvPr/>
            </p:nvSpPr>
            <p:spPr bwMode="auto">
              <a:xfrm>
                <a:off x="8071800" y="1581697"/>
                <a:ext cx="306115" cy="995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18" name="Freeform 654"/>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19" name="Freeform 655"/>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20" name="Freeform 656"/>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21" name="Straight Connector 657"/>
              <p:cNvCxnSpPr>
                <a:cxnSpLocks noChangeShapeType="1"/>
                <a:endCxn id="816"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22" name="Straight Connector 658"/>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94" name="Group 659"/>
            <p:cNvGrpSpPr/>
            <p:nvPr/>
          </p:nvGrpSpPr>
          <p:grpSpPr bwMode="auto">
            <a:xfrm>
              <a:off x="7748699" y="3641266"/>
              <a:ext cx="418211" cy="189727"/>
              <a:chOff x="7913987" y="1515773"/>
              <a:chExt cx="625138" cy="276534"/>
            </a:xfrm>
          </p:grpSpPr>
          <p:sp>
            <p:nvSpPr>
              <p:cNvPr id="805" name="Oval 660"/>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06" name="Rectangle 661"/>
              <p:cNvSpPr/>
              <p:nvPr/>
            </p:nvSpPr>
            <p:spPr bwMode="auto">
              <a:xfrm>
                <a:off x="7913821" y="1623361"/>
                <a:ext cx="626467" cy="71741"/>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07" name="Oval 662"/>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08" name="Freeform 663"/>
              <p:cNvSpPr/>
              <p:nvPr/>
            </p:nvSpPr>
            <p:spPr bwMode="auto">
              <a:xfrm>
                <a:off x="8072810" y="1581706"/>
                <a:ext cx="306115" cy="9951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09" name="Freeform 664"/>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10" name="Freeform 665"/>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11" name="Freeform 666"/>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12" name="Straight Connector 667"/>
              <p:cNvCxnSpPr>
                <a:cxnSpLocks noChangeShapeType="1"/>
                <a:endCxn id="807"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13" name="Straight Connector 668"/>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95" name="Group 669"/>
            <p:cNvGrpSpPr/>
            <p:nvPr/>
          </p:nvGrpSpPr>
          <p:grpSpPr bwMode="auto">
            <a:xfrm>
              <a:off x="7440813" y="3924693"/>
              <a:ext cx="418211" cy="189727"/>
              <a:chOff x="7913987" y="1515773"/>
              <a:chExt cx="625138" cy="276534"/>
            </a:xfrm>
          </p:grpSpPr>
          <p:sp>
            <p:nvSpPr>
              <p:cNvPr id="796" name="Oval 670"/>
              <p:cNvSpPr>
                <a:spLocks noChangeArrowheads="1"/>
              </p:cNvSpPr>
              <p:nvPr/>
            </p:nvSpPr>
            <p:spPr bwMode="auto">
              <a:xfrm flipV="1">
                <a:off x="7915743" y="1593920"/>
                <a:ext cx="623382" cy="198387"/>
              </a:xfrm>
              <a:prstGeom prst="ellipse">
                <a:avLst/>
              </a:prstGeom>
              <a:gradFill rotWithShape="1">
                <a:gsLst>
                  <a:gs pos="0">
                    <a:srgbClr val="7F7F7F"/>
                  </a:gs>
                  <a:gs pos="53000">
                    <a:srgbClr val="D9D9D9"/>
                  </a:gs>
                  <a:gs pos="100000">
                    <a:srgbClr val="7F7F7F"/>
                  </a:gs>
                </a:gsLst>
                <a:lin ang="0" scaled="1"/>
              </a:gradFill>
              <a:ln w="6350">
                <a:solidFill>
                  <a:srgbClr val="7F7F7F"/>
                </a:solidFill>
                <a:round/>
              </a:ln>
              <a:effectLst>
                <a:outerShdw blurRad="40000" dist="23000" dir="5400000" rotWithShape="0">
                  <a:srgbClr val="BFBFBF">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797" name="Rectangle 671"/>
              <p:cNvSpPr/>
              <p:nvPr/>
            </p:nvSpPr>
            <p:spPr bwMode="auto">
              <a:xfrm>
                <a:off x="7913688" y="1622182"/>
                <a:ext cx="626467" cy="71741"/>
              </a:xfrm>
              <a:prstGeom prst="rect">
                <a:avLst/>
              </a:prstGeom>
              <a:gradFill>
                <a:gsLst>
                  <a:gs pos="0">
                    <a:schemeClr val="tx1">
                      <a:lumMod val="50000"/>
                      <a:lumOff val="50000"/>
                    </a:schemeClr>
                  </a:gs>
                  <a:gs pos="53000">
                    <a:schemeClr val="bg1">
                      <a:lumMod val="85000"/>
                    </a:schemeClr>
                  </a:gs>
                  <a:gs pos="100000">
                    <a:schemeClr val="tx1">
                      <a:lumMod val="50000"/>
                      <a:lumOff val="50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798" name="Oval 672"/>
              <p:cNvSpPr>
                <a:spLocks noChangeArrowheads="1"/>
              </p:cNvSpPr>
              <p:nvPr/>
            </p:nvSpPr>
            <p:spPr bwMode="auto">
              <a:xfrm flipV="1">
                <a:off x="7914388" y="1515773"/>
                <a:ext cx="623381" cy="198387"/>
              </a:xfrm>
              <a:prstGeom prst="ellipse">
                <a:avLst/>
              </a:prstGeom>
              <a:solidFill>
                <a:srgbClr val="BFBFBF"/>
              </a:solidFill>
              <a:ln w="6350">
                <a:solidFill>
                  <a:srgbClr val="7F7F7F"/>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799" name="Freeform 673"/>
              <p:cNvSpPr/>
              <p:nvPr/>
            </p:nvSpPr>
            <p:spPr bwMode="auto">
              <a:xfrm>
                <a:off x="8072677" y="1580527"/>
                <a:ext cx="306115" cy="10182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00" name="Freeform 674"/>
              <p:cNvSpPr/>
              <p:nvPr/>
            </p:nvSpPr>
            <p:spPr bwMode="auto">
              <a:xfrm>
                <a:off x="8042174" y="1555712"/>
                <a:ext cx="367006" cy="69068"/>
              </a:xfrm>
              <a:custGeom>
                <a:avLst/>
                <a:gdLst>
                  <a:gd name="T0" fmla="*/ 0 w 3723451"/>
                  <a:gd name="T1" fmla="*/ 16897 h 932950"/>
                  <a:gd name="T2" fmla="*/ 64577 w 3723451"/>
                  <a:gd name="T3" fmla="*/ 199 h 932950"/>
                  <a:gd name="T4" fmla="*/ 182917 w 3723451"/>
                  <a:gd name="T5" fmla="*/ 38538 h 932950"/>
                  <a:gd name="T6" fmla="*/ 295814 w 3723451"/>
                  <a:gd name="T7" fmla="*/ 0 h 932950"/>
                  <a:gd name="T8" fmla="*/ 367006 w 3723451"/>
                  <a:gd name="T9" fmla="*/ 15336 h 932950"/>
                  <a:gd name="T10" fmla="*/ 314039 w 3723451"/>
                  <a:gd name="T11" fmla="*/ 34193 h 932950"/>
                  <a:gd name="T12" fmla="*/ 296986 w 3723451"/>
                  <a:gd name="T13" fmla="*/ 29109 h 932950"/>
                  <a:gd name="T14" fmla="*/ 184996 w 3723451"/>
                  <a:gd name="T15" fmla="*/ 69068 h 932950"/>
                  <a:gd name="T16" fmla="*/ 70141 w 3723451"/>
                  <a:gd name="T17" fmla="*/ 30579 h 932950"/>
                  <a:gd name="T18" fmla="*/ 51571 w 3723451"/>
                  <a:gd name="T19" fmla="*/ 34733 h 932950"/>
                  <a:gd name="T20" fmla="*/ 0 w 3723451"/>
                  <a:gd name="T21" fmla="*/ 1689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01" name="Freeform 675"/>
              <p:cNvSpPr/>
              <p:nvPr/>
            </p:nvSpPr>
            <p:spPr bwMode="auto">
              <a:xfrm>
                <a:off x="8282748" y="1614494"/>
                <a:ext cx="135212" cy="60251"/>
              </a:xfrm>
              <a:custGeom>
                <a:avLst/>
                <a:gdLst>
                  <a:gd name="T0" fmla="*/ 0 w 1366596"/>
                  <a:gd name="T1" fmla="*/ 0 h 809868"/>
                  <a:gd name="T2" fmla="*/ 135212 w 1366596"/>
                  <a:gd name="T3" fmla="*/ 46558 h 809868"/>
                  <a:gd name="T4" fmla="*/ 85589 w 1366596"/>
                  <a:gd name="T5" fmla="*/ 60251 h 809868"/>
                  <a:gd name="T6" fmla="*/ 455 w 1366596"/>
                  <a:gd name="T7" fmla="*/ 3183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02" name="Freeform 676"/>
              <p:cNvSpPr/>
              <p:nvPr/>
            </p:nvSpPr>
            <p:spPr bwMode="auto">
              <a:xfrm>
                <a:off x="8035150" y="1615964"/>
                <a:ext cx="133456" cy="60250"/>
              </a:xfrm>
              <a:custGeom>
                <a:avLst/>
                <a:gdLst>
                  <a:gd name="T0" fmla="*/ 131634 w 1348191"/>
                  <a:gd name="T1" fmla="*/ 0 h 791462"/>
                  <a:gd name="T2" fmla="*/ 133456 w 1348191"/>
                  <a:gd name="T3" fmla="*/ 29074 h 791462"/>
                  <a:gd name="T4" fmla="*/ 48281 w 1348191"/>
                  <a:gd name="T5" fmla="*/ 60250 h 791462"/>
                  <a:gd name="T6" fmla="*/ 0 w 1348191"/>
                  <a:gd name="T7" fmla="*/ 46589 h 791462"/>
                  <a:gd name="T8" fmla="*/ 13163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59595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03" name="Straight Connector 677"/>
              <p:cNvCxnSpPr>
                <a:cxnSpLocks noChangeShapeType="1"/>
                <a:endCxn id="798" idx="2"/>
              </p:cNvCxnSpPr>
              <p:nvPr/>
            </p:nvCxnSpPr>
            <p:spPr bwMode="auto">
              <a:xfrm flipH="1" flipV="1">
                <a:off x="7914388" y="1615701"/>
                <a:ext cx="1756"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04" name="Straight Connector 678"/>
              <p:cNvCxnSpPr>
                <a:cxnSpLocks noChangeShapeType="1"/>
              </p:cNvCxnSpPr>
              <p:nvPr/>
            </p:nvCxnSpPr>
            <p:spPr bwMode="auto">
              <a:xfrm flipH="1" flipV="1">
                <a:off x="8537368" y="1618903"/>
                <a:ext cx="1757" cy="76416"/>
              </a:xfrm>
              <a:prstGeom prst="line">
                <a:avLst/>
              </a:prstGeom>
              <a:noFill/>
              <a:ln w="6350">
                <a:solidFill>
                  <a:srgbClr val="7F7F7F"/>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sp>
        <p:nvSpPr>
          <p:cNvPr id="1231" name="Rectangle 2"/>
          <p:cNvSpPr txBox="1">
            <a:spLocks noChangeArrowheads="1"/>
          </p:cNvSpPr>
          <p:nvPr/>
        </p:nvSpPr>
        <p:spPr>
          <a:xfrm>
            <a:off x="428625" y="666748"/>
            <a:ext cx="8206327" cy="756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网络边缘：接入网络（</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Access networks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367801" y="4898372"/>
            <a:ext cx="8286750" cy="1222031"/>
          </a:xfrm>
        </p:spPr>
        <p:txBody>
          <a:bodyPr>
            <a:noAutofit/>
          </a:bodyPr>
          <a:lstStyle/>
          <a:p>
            <a:pPr marL="446405" indent="-355600">
              <a:lnSpc>
                <a:spcPts val="3000"/>
              </a:lnSpc>
              <a:spcBef>
                <a:spcPts val="0"/>
              </a:spcBef>
              <a:buBlip>
                <a:blip r:embed="rId3"/>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使用电话线连接到中心局</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CO</a:t>
            </a:r>
          </a:p>
          <a:p>
            <a:pPr marL="446405" indent="-355600">
              <a:lnSpc>
                <a:spcPts val="3000"/>
              </a:lnSpc>
              <a:spcBef>
                <a:spcPts val="0"/>
              </a:spcBef>
              <a:buBlip>
                <a:blip r:embed="rId3"/>
              </a:buBlip>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DSL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接入复用器分流数据和语音</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46405" indent="-355600">
              <a:lnSpc>
                <a:spcPts val="3000"/>
              </a:lnSpc>
              <a:spcBef>
                <a:spcPts val="0"/>
              </a:spcBef>
              <a:buBlip>
                <a:blip r:embed="rId3"/>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非对称速率：最大</a:t>
            </a:r>
            <a:r>
              <a:rPr lang="en-US" altLang="zh-CN" sz="2000" dirty="0">
                <a:latin typeface="Times New Roman" panose="02020603050405020304" pitchFamily="18" charset="0"/>
                <a:cs typeface="Times New Roman" panose="02020603050405020304" pitchFamily="18" charset="0"/>
              </a:rPr>
              <a:t>19.2</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上行速率，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55Mbps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下行速率</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231" name="Rectangle 2"/>
          <p:cNvSpPr txBox="1">
            <a:spLocks noChangeArrowheads="1"/>
          </p:cNvSpPr>
          <p:nvPr/>
        </p:nvSpPr>
        <p:spPr>
          <a:xfrm>
            <a:off x="428625" y="666748"/>
            <a:ext cx="8206327" cy="75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接入网络：</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DSL</a:t>
            </a:r>
          </a:p>
        </p:txBody>
      </p:sp>
      <p:grpSp>
        <p:nvGrpSpPr>
          <p:cNvPr id="2" name="组合 1"/>
          <p:cNvGrpSpPr/>
          <p:nvPr/>
        </p:nvGrpSpPr>
        <p:grpSpPr>
          <a:xfrm>
            <a:off x="1226140" y="1611571"/>
            <a:ext cx="6822485" cy="3050917"/>
            <a:chOff x="1373778" y="1763971"/>
            <a:chExt cx="6365875" cy="2690813"/>
          </a:xfrm>
        </p:grpSpPr>
        <p:grpSp>
          <p:nvGrpSpPr>
            <p:cNvPr id="575" name="Group 128"/>
            <p:cNvGrpSpPr/>
            <p:nvPr/>
          </p:nvGrpSpPr>
          <p:grpSpPr bwMode="auto">
            <a:xfrm>
              <a:off x="5561603" y="3307021"/>
              <a:ext cx="2178050" cy="1147763"/>
              <a:chOff x="3240" y="1830"/>
              <a:chExt cx="1372" cy="723"/>
            </a:xfrm>
          </p:grpSpPr>
          <p:sp>
            <p:nvSpPr>
              <p:cNvPr id="616" name="Freeform 129"/>
              <p:cNvSpPr/>
              <p:nvPr/>
            </p:nvSpPr>
            <p:spPr bwMode="auto">
              <a:xfrm>
                <a:off x="3240" y="1830"/>
                <a:ext cx="1372" cy="723"/>
              </a:xfrm>
              <a:custGeom>
                <a:avLst/>
                <a:gdLst>
                  <a:gd name="T0" fmla="*/ 1509012 w 765"/>
                  <a:gd name="T1" fmla="*/ 5729 h 459"/>
                  <a:gd name="T2" fmla="*/ 1027025 w 765"/>
                  <a:gd name="T3" fmla="*/ 40395 h 459"/>
                  <a:gd name="T4" fmla="*/ 340902 w 765"/>
                  <a:gd name="T5" fmla="*/ 58024 h 459"/>
                  <a:gd name="T6" fmla="*/ 49874 w 765"/>
                  <a:gd name="T7" fmla="*/ 194383 h 459"/>
                  <a:gd name="T8" fmla="*/ 640932 w 765"/>
                  <a:gd name="T9" fmla="*/ 256788 h 459"/>
                  <a:gd name="T10" fmla="*/ 1233656 w 765"/>
                  <a:gd name="T11" fmla="*/ 246677 h 459"/>
                  <a:gd name="T12" fmla="*/ 2079640 w 765"/>
                  <a:gd name="T13" fmla="*/ 256788 h 459"/>
                  <a:gd name="T14" fmla="*/ 2485867 w 765"/>
                  <a:gd name="T15" fmla="*/ 251149 h 459"/>
                  <a:gd name="T16" fmla="*/ 2678580 w 765"/>
                  <a:gd name="T17" fmla="*/ 215337 h 459"/>
                  <a:gd name="T18" fmla="*/ 2671282 w 765"/>
                  <a:gd name="T19" fmla="*/ 91397 h 459"/>
                  <a:gd name="T20" fmla="*/ 2357408 w 765"/>
                  <a:gd name="T21" fmla="*/ 19830 h 459"/>
                  <a:gd name="T22" fmla="*/ 1509012 w 765"/>
                  <a:gd name="T23" fmla="*/ 572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17" name="Line 130"/>
              <p:cNvSpPr>
                <a:spLocks noChangeShapeType="1"/>
              </p:cNvSpPr>
              <p:nvPr/>
            </p:nvSpPr>
            <p:spPr bwMode="auto">
              <a:xfrm flipV="1">
                <a:off x="3763" y="2053"/>
                <a:ext cx="106" cy="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8" name="Line 131"/>
              <p:cNvSpPr>
                <a:spLocks noChangeShapeType="1"/>
              </p:cNvSpPr>
              <p:nvPr/>
            </p:nvSpPr>
            <p:spPr bwMode="auto">
              <a:xfrm>
                <a:off x="3616" y="2204"/>
                <a:ext cx="0" cy="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9" name="Line 132"/>
              <p:cNvSpPr>
                <a:spLocks noChangeShapeType="1"/>
              </p:cNvSpPr>
              <p:nvPr/>
            </p:nvSpPr>
            <p:spPr bwMode="auto">
              <a:xfrm flipV="1">
                <a:off x="3763" y="2114"/>
                <a:ext cx="226" cy="2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0" name="Line 133"/>
              <p:cNvSpPr>
                <a:spLocks noChangeShapeType="1"/>
              </p:cNvSpPr>
              <p:nvPr/>
            </p:nvSpPr>
            <p:spPr bwMode="auto">
              <a:xfrm>
                <a:off x="4076" y="2113"/>
                <a:ext cx="0" cy="1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1" name="Line 134"/>
              <p:cNvSpPr>
                <a:spLocks noChangeShapeType="1"/>
              </p:cNvSpPr>
              <p:nvPr/>
            </p:nvSpPr>
            <p:spPr bwMode="auto">
              <a:xfrm>
                <a:off x="3779" y="2380"/>
                <a:ext cx="1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2" name="Line 135"/>
              <p:cNvSpPr>
                <a:spLocks noChangeShapeType="1"/>
              </p:cNvSpPr>
              <p:nvPr/>
            </p:nvSpPr>
            <p:spPr bwMode="auto">
              <a:xfrm>
                <a:off x="4255" y="2372"/>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623" name="Group 136"/>
              <p:cNvGrpSpPr/>
              <p:nvPr/>
            </p:nvGrpSpPr>
            <p:grpSpPr bwMode="auto">
              <a:xfrm>
                <a:off x="3860" y="1969"/>
                <a:ext cx="335" cy="148"/>
                <a:chOff x="4650" y="1129"/>
                <a:chExt cx="246" cy="95"/>
              </a:xfrm>
            </p:grpSpPr>
            <p:sp>
              <p:nvSpPr>
                <p:cNvPr id="653"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654"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655"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656" name="Group 140"/>
                <p:cNvGrpSpPr/>
                <p:nvPr/>
              </p:nvGrpSpPr>
              <p:grpSpPr bwMode="auto">
                <a:xfrm>
                  <a:off x="4699" y="1145"/>
                  <a:ext cx="138" cy="29"/>
                  <a:chOff x="2468" y="1332"/>
                  <a:chExt cx="310" cy="60"/>
                </a:xfrm>
              </p:grpSpPr>
              <p:sp>
                <p:nvSpPr>
                  <p:cNvPr id="659" name="Freeform 14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0" name="Freeform 14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57" name="Line 143"/>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8" name="Line 144"/>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24" name="Group 145"/>
              <p:cNvGrpSpPr/>
              <p:nvPr/>
            </p:nvGrpSpPr>
            <p:grpSpPr bwMode="auto">
              <a:xfrm>
                <a:off x="3922" y="2284"/>
                <a:ext cx="336" cy="154"/>
                <a:chOff x="4650" y="1129"/>
                <a:chExt cx="246" cy="95"/>
              </a:xfrm>
            </p:grpSpPr>
            <p:sp>
              <p:nvSpPr>
                <p:cNvPr id="645"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646"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647"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648" name="Group 149"/>
                <p:cNvGrpSpPr/>
                <p:nvPr/>
              </p:nvGrpSpPr>
              <p:grpSpPr bwMode="auto">
                <a:xfrm>
                  <a:off x="4699" y="1145"/>
                  <a:ext cx="138" cy="29"/>
                  <a:chOff x="2468" y="1332"/>
                  <a:chExt cx="310" cy="60"/>
                </a:xfrm>
              </p:grpSpPr>
              <p:sp>
                <p:nvSpPr>
                  <p:cNvPr id="651" name="Freeform 15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2" name="Freeform 15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49" name="Line 152"/>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0" name="Line 153"/>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25" name="Group 154"/>
              <p:cNvGrpSpPr/>
              <p:nvPr/>
            </p:nvGrpSpPr>
            <p:grpSpPr bwMode="auto">
              <a:xfrm>
                <a:off x="3443" y="2054"/>
                <a:ext cx="335" cy="149"/>
                <a:chOff x="4650" y="1129"/>
                <a:chExt cx="246" cy="95"/>
              </a:xfrm>
            </p:grpSpPr>
            <p:sp>
              <p:nvSpPr>
                <p:cNvPr id="637"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638"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639"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640" name="Group 158"/>
                <p:cNvGrpSpPr/>
                <p:nvPr/>
              </p:nvGrpSpPr>
              <p:grpSpPr bwMode="auto">
                <a:xfrm>
                  <a:off x="4699" y="1145"/>
                  <a:ext cx="138" cy="29"/>
                  <a:chOff x="2468" y="1332"/>
                  <a:chExt cx="310" cy="60"/>
                </a:xfrm>
              </p:grpSpPr>
              <p:sp>
                <p:nvSpPr>
                  <p:cNvPr id="643" name="Freeform 159"/>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4" name="Freeform 160"/>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41" name="Line 161"/>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2" name="Line 162"/>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26" name="Group 163"/>
              <p:cNvGrpSpPr/>
              <p:nvPr/>
            </p:nvGrpSpPr>
            <p:grpSpPr bwMode="auto">
              <a:xfrm>
                <a:off x="3452" y="2284"/>
                <a:ext cx="336" cy="148"/>
                <a:chOff x="4650" y="1129"/>
                <a:chExt cx="246" cy="95"/>
              </a:xfrm>
            </p:grpSpPr>
            <p:sp>
              <p:nvSpPr>
                <p:cNvPr id="629"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630"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631"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632" name="Group 167"/>
                <p:cNvGrpSpPr/>
                <p:nvPr/>
              </p:nvGrpSpPr>
              <p:grpSpPr bwMode="auto">
                <a:xfrm>
                  <a:off x="4699" y="1145"/>
                  <a:ext cx="138" cy="29"/>
                  <a:chOff x="2468" y="1332"/>
                  <a:chExt cx="310" cy="60"/>
                </a:xfrm>
              </p:grpSpPr>
              <p:sp>
                <p:nvSpPr>
                  <p:cNvPr id="635" name="Freeform 16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 name="Freeform 16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33" name="Line 170"/>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4" name="Line 171"/>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27" name="Line 172"/>
              <p:cNvSpPr>
                <a:spLocks noChangeShapeType="1"/>
              </p:cNvSpPr>
              <p:nvPr/>
            </p:nvSpPr>
            <p:spPr bwMode="auto">
              <a:xfrm>
                <a:off x="4422" y="2370"/>
                <a:ext cx="153"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28" name="Text Box 580"/>
              <p:cNvSpPr txBox="1">
                <a:spLocks noChangeArrowheads="1"/>
              </p:cNvSpPr>
              <p:nvPr/>
            </p:nvSpPr>
            <p:spPr bwMode="auto">
              <a:xfrm>
                <a:off x="4231" y="1988"/>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zh-CN" sz="1800"/>
                  <a:t>ISP</a:t>
                </a:r>
              </a:p>
            </p:txBody>
          </p:sp>
        </p:grpSp>
        <p:grpSp>
          <p:nvGrpSpPr>
            <p:cNvPr id="576" name="Group 347"/>
            <p:cNvGrpSpPr/>
            <p:nvPr/>
          </p:nvGrpSpPr>
          <p:grpSpPr bwMode="auto">
            <a:xfrm>
              <a:off x="5868622" y="3652387"/>
              <a:ext cx="569188" cy="269566"/>
              <a:chOff x="1871277" y="1576300"/>
              <a:chExt cx="1128371" cy="437861"/>
            </a:xfrm>
          </p:grpSpPr>
          <p:sp>
            <p:nvSpPr>
              <p:cNvPr id="607" name="Oval 134"/>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608" name="Rectangle 135"/>
              <p:cNvSpPr/>
              <p:nvPr/>
            </p:nvSpPr>
            <p:spPr bwMode="auto">
              <a:xfrm>
                <a:off x="1870026" y="1739905"/>
                <a:ext cx="1129806"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609" name="Oval 136"/>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610" name="Freeform 137"/>
              <p:cNvSpPr/>
              <p:nvPr/>
            </p:nvSpPr>
            <p:spPr bwMode="auto">
              <a:xfrm>
                <a:off x="2159559" y="1672861"/>
                <a:ext cx="547595" cy="16245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611" name="Freeform 138"/>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612" name="Freeform 139"/>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613" name="Freeform 140"/>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614" name="Straight Connector 141"/>
              <p:cNvCxnSpPr>
                <a:cxnSpLocks noChangeShapeType="1"/>
                <a:endCxn id="609"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615" name="Straight Connector 142"/>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577" name="Group 347"/>
            <p:cNvGrpSpPr/>
            <p:nvPr/>
          </p:nvGrpSpPr>
          <p:grpSpPr bwMode="auto">
            <a:xfrm>
              <a:off x="5881322" y="4007987"/>
              <a:ext cx="569188" cy="269566"/>
              <a:chOff x="1871277" y="1576300"/>
              <a:chExt cx="1128371" cy="437861"/>
            </a:xfrm>
          </p:grpSpPr>
          <p:sp>
            <p:nvSpPr>
              <p:cNvPr id="598" name="Oval 125"/>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599" name="Rectangle 126"/>
              <p:cNvSpPr/>
              <p:nvPr/>
            </p:nvSpPr>
            <p:spPr bwMode="auto">
              <a:xfrm>
                <a:off x="1870026" y="1739905"/>
                <a:ext cx="1129806"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600" name="Oval 127"/>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601" name="Freeform 128"/>
              <p:cNvSpPr/>
              <p:nvPr/>
            </p:nvSpPr>
            <p:spPr bwMode="auto">
              <a:xfrm>
                <a:off x="2159559" y="1672861"/>
                <a:ext cx="547595" cy="16245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602" name="Freeform 129"/>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603" name="Freeform 130"/>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604" name="Freeform 131"/>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605" name="Straight Connector 132"/>
              <p:cNvCxnSpPr>
                <a:cxnSpLocks noChangeShapeType="1"/>
                <a:endCxn id="600"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606" name="Straight Connector 133"/>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578" name="Group 347"/>
            <p:cNvGrpSpPr/>
            <p:nvPr/>
          </p:nvGrpSpPr>
          <p:grpSpPr bwMode="auto">
            <a:xfrm>
              <a:off x="6525847" y="3522212"/>
              <a:ext cx="569188" cy="269566"/>
              <a:chOff x="1871277" y="1576300"/>
              <a:chExt cx="1128371" cy="437861"/>
            </a:xfrm>
          </p:grpSpPr>
          <p:sp>
            <p:nvSpPr>
              <p:cNvPr id="589" name="Oval 116"/>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590" name="Rectangle 117"/>
              <p:cNvSpPr/>
              <p:nvPr/>
            </p:nvSpPr>
            <p:spPr bwMode="auto">
              <a:xfrm>
                <a:off x="1870026" y="1739905"/>
                <a:ext cx="1129806"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591" name="Oval 118"/>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592" name="Freeform 119"/>
              <p:cNvSpPr/>
              <p:nvPr/>
            </p:nvSpPr>
            <p:spPr bwMode="auto">
              <a:xfrm>
                <a:off x="2159559" y="1672861"/>
                <a:ext cx="547595" cy="16245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593" name="Freeform 120"/>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594" name="Freeform 121"/>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595" name="Freeform 122"/>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596" name="Straight Connector 123"/>
              <p:cNvCxnSpPr>
                <a:cxnSpLocks noChangeShapeType="1"/>
                <a:endCxn id="591"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97" name="Straight Connector 124"/>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579" name="Group 347"/>
            <p:cNvGrpSpPr/>
            <p:nvPr/>
          </p:nvGrpSpPr>
          <p:grpSpPr bwMode="auto">
            <a:xfrm>
              <a:off x="6625513" y="4024542"/>
              <a:ext cx="569188" cy="269566"/>
              <a:chOff x="1871277" y="1576300"/>
              <a:chExt cx="1128371" cy="437861"/>
            </a:xfrm>
          </p:grpSpPr>
          <p:sp>
            <p:nvSpPr>
              <p:cNvPr id="580" name="Oval 107"/>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581" name="Rectangle 108"/>
              <p:cNvSpPr/>
              <p:nvPr/>
            </p:nvSpPr>
            <p:spPr bwMode="auto">
              <a:xfrm>
                <a:off x="1870712" y="1738800"/>
                <a:ext cx="1129808"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582" name="Oval 109"/>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583" name="Freeform 110"/>
              <p:cNvSpPr/>
              <p:nvPr/>
            </p:nvSpPr>
            <p:spPr bwMode="auto">
              <a:xfrm>
                <a:off x="2160245" y="1674334"/>
                <a:ext cx="547595" cy="15987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584" name="Freeform 111"/>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585" name="Freeform 112"/>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586" name="Freeform 113"/>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587" name="Straight Connector 114"/>
              <p:cNvCxnSpPr>
                <a:cxnSpLocks noChangeShapeType="1"/>
                <a:endCxn id="582"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88" name="Straight Connector 115"/>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232" name="Freeform 3"/>
            <p:cNvSpPr/>
            <p:nvPr/>
          </p:nvSpPr>
          <p:spPr bwMode="auto">
            <a:xfrm>
              <a:off x="4723403" y="1903671"/>
              <a:ext cx="2216150" cy="1477963"/>
            </a:xfrm>
            <a:custGeom>
              <a:avLst/>
              <a:gdLst>
                <a:gd name="T0" fmla="*/ 2147483647 w 1396"/>
                <a:gd name="T1" fmla="*/ 2147483647 h 931"/>
                <a:gd name="T2" fmla="*/ 2147483647 w 1396"/>
                <a:gd name="T3" fmla="*/ 2147483647 h 931"/>
                <a:gd name="T4" fmla="*/ 2147483647 w 1396"/>
                <a:gd name="T5" fmla="*/ 2147483647 h 931"/>
                <a:gd name="T6" fmla="*/ 2147483647 w 1396"/>
                <a:gd name="T7" fmla="*/ 2147483647 h 931"/>
                <a:gd name="T8" fmla="*/ 2147483647 w 1396"/>
                <a:gd name="T9" fmla="*/ 2147483647 h 931"/>
                <a:gd name="T10" fmla="*/ 2147483647 w 1396"/>
                <a:gd name="T11" fmla="*/ 2147483647 h 931"/>
                <a:gd name="T12" fmla="*/ 2147483647 w 1396"/>
                <a:gd name="T13" fmla="*/ 2147483647 h 931"/>
                <a:gd name="T14" fmla="*/ 2147483647 w 1396"/>
                <a:gd name="T15" fmla="*/ 2147483647 h 931"/>
                <a:gd name="T16" fmla="*/ 2147483647 w 1396"/>
                <a:gd name="T17" fmla="*/ 2147483647 h 931"/>
                <a:gd name="T18" fmla="*/ 2147483647 w 1396"/>
                <a:gd name="T19" fmla="*/ 2147483647 h 931"/>
                <a:gd name="T20" fmla="*/ 2147483647 w 1396"/>
                <a:gd name="T21" fmla="*/ 2147483647 h 931"/>
                <a:gd name="T22" fmla="*/ 2147483647 w 1396"/>
                <a:gd name="T23" fmla="*/ 2147483647 h 931"/>
                <a:gd name="T24" fmla="*/ 2147483647 w 1396"/>
                <a:gd name="T25" fmla="*/ 2147483647 h 931"/>
                <a:gd name="T26" fmla="*/ 2147483647 w 1396"/>
                <a:gd name="T27" fmla="*/ 2147483647 h 931"/>
                <a:gd name="T28" fmla="*/ 2147483647 w 1396"/>
                <a:gd name="T29" fmla="*/ 2147483647 h 931"/>
                <a:gd name="T30" fmla="*/ 2147483647 w 1396"/>
                <a:gd name="T31" fmla="*/ 2147483647 h 9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6"/>
                <a:gd name="T49" fmla="*/ 0 h 931"/>
                <a:gd name="T50" fmla="*/ 1396 w 1396"/>
                <a:gd name="T51" fmla="*/ 931 h 93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6" h="931">
                  <a:moveTo>
                    <a:pt x="873" y="18"/>
                  </a:moveTo>
                  <a:cubicBezTo>
                    <a:pt x="787" y="32"/>
                    <a:pt x="625" y="55"/>
                    <a:pt x="526" y="89"/>
                  </a:cubicBezTo>
                  <a:cubicBezTo>
                    <a:pt x="426" y="122"/>
                    <a:pt x="346" y="184"/>
                    <a:pt x="278" y="216"/>
                  </a:cubicBezTo>
                  <a:cubicBezTo>
                    <a:pt x="210" y="248"/>
                    <a:pt x="159" y="236"/>
                    <a:pt x="118" y="283"/>
                  </a:cubicBezTo>
                  <a:cubicBezTo>
                    <a:pt x="77" y="330"/>
                    <a:pt x="46" y="416"/>
                    <a:pt x="30" y="497"/>
                  </a:cubicBezTo>
                  <a:cubicBezTo>
                    <a:pt x="14" y="578"/>
                    <a:pt x="0" y="714"/>
                    <a:pt x="24" y="768"/>
                  </a:cubicBezTo>
                  <a:cubicBezTo>
                    <a:pt x="49" y="821"/>
                    <a:pt x="112" y="796"/>
                    <a:pt x="178" y="818"/>
                  </a:cubicBezTo>
                  <a:cubicBezTo>
                    <a:pt x="244" y="840"/>
                    <a:pt x="318" y="886"/>
                    <a:pt x="421" y="902"/>
                  </a:cubicBezTo>
                  <a:cubicBezTo>
                    <a:pt x="524" y="918"/>
                    <a:pt x="681" y="916"/>
                    <a:pt x="793" y="916"/>
                  </a:cubicBezTo>
                  <a:cubicBezTo>
                    <a:pt x="905" y="916"/>
                    <a:pt x="1004" y="931"/>
                    <a:pt x="1095" y="902"/>
                  </a:cubicBezTo>
                  <a:cubicBezTo>
                    <a:pt x="1186" y="873"/>
                    <a:pt x="1291" y="813"/>
                    <a:pt x="1337" y="744"/>
                  </a:cubicBezTo>
                  <a:cubicBezTo>
                    <a:pt x="1383" y="675"/>
                    <a:pt x="1365" y="580"/>
                    <a:pt x="1372" y="487"/>
                  </a:cubicBezTo>
                  <a:cubicBezTo>
                    <a:pt x="1378" y="393"/>
                    <a:pt x="1396" y="256"/>
                    <a:pt x="1377" y="179"/>
                  </a:cubicBezTo>
                  <a:cubicBezTo>
                    <a:pt x="1358" y="102"/>
                    <a:pt x="1314" y="57"/>
                    <a:pt x="1259" y="28"/>
                  </a:cubicBezTo>
                  <a:cubicBezTo>
                    <a:pt x="1203" y="0"/>
                    <a:pt x="1110" y="7"/>
                    <a:pt x="1046" y="5"/>
                  </a:cubicBezTo>
                  <a:cubicBezTo>
                    <a:pt x="981" y="3"/>
                    <a:pt x="959" y="5"/>
                    <a:pt x="873" y="18"/>
                  </a:cubicBezTo>
                  <a:close/>
                </a:path>
              </a:pathLst>
            </a:custGeom>
            <a:solidFill>
              <a:schemeClr val="accent6">
                <a:lumMod val="40000"/>
                <a:lumOff val="60000"/>
              </a:schemeClr>
            </a:solidFill>
            <a:ln>
              <a:noFill/>
            </a:ln>
          </p:spPr>
          <p:txBody>
            <a:bodyPr/>
            <a:lstStyle/>
            <a:p>
              <a:endParaRPr lang="zh-CN" altLang="en-US"/>
            </a:p>
          </p:txBody>
        </p:sp>
        <p:sp>
          <p:nvSpPr>
            <p:cNvPr id="1233" name="Oval 9"/>
            <p:cNvSpPr>
              <a:spLocks noChangeArrowheads="1"/>
            </p:cNvSpPr>
            <p:nvPr/>
          </p:nvSpPr>
          <p:spPr bwMode="auto">
            <a:xfrm>
              <a:off x="5723528" y="2610109"/>
              <a:ext cx="193675" cy="193675"/>
            </a:xfrm>
            <a:prstGeom prst="ellipse">
              <a:avLst/>
            </a:prstGeom>
            <a:solidFill>
              <a:schemeClr val="tx1"/>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234" name="Oval 12"/>
            <p:cNvSpPr>
              <a:spLocks noChangeArrowheads="1"/>
            </p:cNvSpPr>
            <p:nvPr/>
          </p:nvSpPr>
          <p:spPr bwMode="auto">
            <a:xfrm>
              <a:off x="6104528" y="2238634"/>
              <a:ext cx="193675" cy="193675"/>
            </a:xfrm>
            <a:prstGeom prst="ellipse">
              <a:avLst/>
            </a:prstGeom>
            <a:solidFill>
              <a:schemeClr val="tx1"/>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235" name="Line 15"/>
            <p:cNvSpPr>
              <a:spLocks noChangeShapeType="1"/>
            </p:cNvSpPr>
            <p:nvPr/>
          </p:nvSpPr>
          <p:spPr bwMode="auto">
            <a:xfrm flipV="1">
              <a:off x="5810841" y="2379921"/>
              <a:ext cx="317500" cy="3365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36" name="Line 16"/>
            <p:cNvSpPr>
              <a:spLocks noChangeShapeType="1"/>
            </p:cNvSpPr>
            <p:nvPr/>
          </p:nvSpPr>
          <p:spPr bwMode="auto">
            <a:xfrm>
              <a:off x="6204541" y="2356109"/>
              <a:ext cx="400050" cy="59055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237" name="Rectangle 44"/>
            <p:cNvSpPr>
              <a:spLocks noChangeArrowheads="1"/>
            </p:cNvSpPr>
            <p:nvPr/>
          </p:nvSpPr>
          <p:spPr bwMode="auto">
            <a:xfrm>
              <a:off x="5002803" y="2359284"/>
              <a:ext cx="955675" cy="700087"/>
            </a:xfrm>
            <a:prstGeom prst="rect">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1238" name="Text Box 45"/>
            <p:cNvSpPr txBox="1">
              <a:spLocks noChangeArrowheads="1"/>
            </p:cNvSpPr>
            <p:nvPr/>
          </p:nvSpPr>
          <p:spPr bwMode="auto">
            <a:xfrm>
              <a:off x="4877190" y="1827677"/>
              <a:ext cx="1136851"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r">
                <a:lnSpc>
                  <a:spcPct val="85000"/>
                </a:lnSpc>
                <a:defRPr sz="1400">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defRPr sz="2400">
                  <a:latin typeface="Arial" panose="020B0604020202020204" pitchFamily="34" charset="0"/>
                  <a:ea typeface="MS PGothic" panose="020B0600070205080204" pitchFamily="34" charset="-128"/>
                </a:defRPr>
              </a:lvl2pPr>
              <a:lvl3pPr marL="1143000" indent="-228600">
                <a:defRPr sz="2400">
                  <a:latin typeface="Arial" panose="020B0604020202020204" pitchFamily="34" charset="0"/>
                  <a:ea typeface="MS PGothic" panose="020B0600070205080204" pitchFamily="34" charset="-128"/>
                </a:defRPr>
              </a:lvl3pPr>
              <a:lvl4pPr marL="1600200" indent="-228600">
                <a:defRPr sz="2400">
                  <a:latin typeface="Arial" panose="020B0604020202020204" pitchFamily="34" charset="0"/>
                  <a:ea typeface="MS PGothic" panose="020B0600070205080204" pitchFamily="34" charset="-128"/>
                </a:defRPr>
              </a:lvl4pPr>
              <a:lvl5pPr marL="2057400" indent="-228600">
                <a:defRPr sz="2400">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9pPr>
            </a:lstStyle>
            <a:p>
              <a:r>
                <a:rPr lang="zh-CN" altLang="en-US" dirty="0"/>
                <a:t>中心局 </a:t>
              </a:r>
              <a:r>
                <a:rPr lang="en-US" altLang="zh-CN" dirty="0"/>
                <a:t>(CO)</a:t>
              </a:r>
            </a:p>
          </p:txBody>
        </p:sp>
        <p:sp>
          <p:nvSpPr>
            <p:cNvPr id="1239" name="Line 14"/>
            <p:cNvSpPr>
              <a:spLocks noChangeShapeType="1"/>
            </p:cNvSpPr>
            <p:nvPr/>
          </p:nvSpPr>
          <p:spPr bwMode="auto">
            <a:xfrm flipV="1">
              <a:off x="3108916" y="2765684"/>
              <a:ext cx="19383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40" name="Text Box 17"/>
            <p:cNvSpPr txBox="1">
              <a:spLocks noChangeArrowheads="1"/>
            </p:cNvSpPr>
            <p:nvPr/>
          </p:nvSpPr>
          <p:spPr bwMode="auto">
            <a:xfrm>
              <a:off x="6266837" y="2298550"/>
              <a:ext cx="723275"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r">
                <a:lnSpc>
                  <a:spcPct val="85000"/>
                </a:lnSpc>
                <a:defRPr sz="1400">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defRPr sz="2400">
                  <a:latin typeface="Arial" panose="020B0604020202020204" pitchFamily="34" charset="0"/>
                  <a:ea typeface="MS PGothic" panose="020B0600070205080204" pitchFamily="34" charset="-128"/>
                </a:defRPr>
              </a:lvl2pPr>
              <a:lvl3pPr marL="1143000" indent="-228600">
                <a:defRPr sz="2400">
                  <a:latin typeface="Arial" panose="020B0604020202020204" pitchFamily="34" charset="0"/>
                  <a:ea typeface="MS PGothic" panose="020B0600070205080204" pitchFamily="34" charset="-128"/>
                </a:defRPr>
              </a:lvl3pPr>
              <a:lvl4pPr marL="1600200" indent="-228600">
                <a:defRPr sz="2400">
                  <a:latin typeface="Arial" panose="020B0604020202020204" pitchFamily="34" charset="0"/>
                  <a:ea typeface="MS PGothic" panose="020B0600070205080204" pitchFamily="34" charset="-128"/>
                </a:defRPr>
              </a:lvl4pPr>
              <a:lvl5pPr marL="2057400" indent="-228600">
                <a:defRPr sz="2400">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9pPr>
            </a:lstStyle>
            <a:p>
              <a:r>
                <a:rPr lang="zh-CN" altLang="en-US" dirty="0"/>
                <a:t>电话网</a:t>
              </a:r>
              <a:endParaRPr lang="en-US" altLang="zh-CN" dirty="0"/>
            </a:p>
          </p:txBody>
        </p:sp>
        <p:grpSp>
          <p:nvGrpSpPr>
            <p:cNvPr id="1241" name="Group 108"/>
            <p:cNvGrpSpPr/>
            <p:nvPr/>
          </p:nvGrpSpPr>
          <p:grpSpPr bwMode="auto">
            <a:xfrm>
              <a:off x="5059953" y="2476759"/>
              <a:ext cx="368300" cy="519112"/>
              <a:chOff x="1852" y="2562"/>
              <a:chExt cx="355" cy="471"/>
            </a:xfrm>
          </p:grpSpPr>
          <p:sp>
            <p:nvSpPr>
              <p:cNvPr id="1242" name="Freeform 109"/>
              <p:cNvSpPr/>
              <p:nvPr/>
            </p:nvSpPr>
            <p:spPr bwMode="auto">
              <a:xfrm>
                <a:off x="1852" y="2621"/>
                <a:ext cx="318" cy="412"/>
              </a:xfrm>
              <a:custGeom>
                <a:avLst/>
                <a:gdLst>
                  <a:gd name="T0" fmla="*/ 0 w 318"/>
                  <a:gd name="T1" fmla="*/ 412 h 412"/>
                  <a:gd name="T2" fmla="*/ 3 w 318"/>
                  <a:gd name="T3" fmla="*/ 1 h 412"/>
                  <a:gd name="T4" fmla="*/ 74 w 318"/>
                  <a:gd name="T5" fmla="*/ 0 h 412"/>
                  <a:gd name="T6" fmla="*/ 254 w 318"/>
                  <a:gd name="T7" fmla="*/ 111 h 412"/>
                  <a:gd name="T8" fmla="*/ 318 w 318"/>
                  <a:gd name="T9" fmla="*/ 115 h 412"/>
                  <a:gd name="T10" fmla="*/ 318 w 318"/>
                  <a:gd name="T11" fmla="*/ 308 h 412"/>
                  <a:gd name="T12" fmla="*/ 246 w 318"/>
                  <a:gd name="T13" fmla="*/ 308 h 412"/>
                  <a:gd name="T14" fmla="*/ 74 w 318"/>
                  <a:gd name="T15" fmla="*/ 412 h 412"/>
                  <a:gd name="T16" fmla="*/ 0 w 318"/>
                  <a:gd name="T17" fmla="*/ 412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chemeClr val="accent1"/>
                  </a:gs>
                </a:gsLst>
                <a:lin ang="0" scaled="1"/>
              </a:gradFill>
              <a:ln w="9525">
                <a:solidFill>
                  <a:schemeClr val="tx1"/>
                </a:solidFill>
                <a:round/>
              </a:ln>
            </p:spPr>
            <p:txBody>
              <a:bodyPr/>
              <a:lstStyle/>
              <a:p>
                <a:endParaRPr lang="zh-CN" altLang="en-US"/>
              </a:p>
            </p:txBody>
          </p:sp>
          <p:sp>
            <p:nvSpPr>
              <p:cNvPr id="1243" name="Freeform 110"/>
              <p:cNvSpPr/>
              <p:nvPr/>
            </p:nvSpPr>
            <p:spPr bwMode="auto">
              <a:xfrm>
                <a:off x="1854" y="2562"/>
                <a:ext cx="353" cy="369"/>
              </a:xfrm>
              <a:custGeom>
                <a:avLst/>
                <a:gdLst>
                  <a:gd name="T0" fmla="*/ 0 w 353"/>
                  <a:gd name="T1" fmla="*/ 59 h 369"/>
                  <a:gd name="T2" fmla="*/ 32 w 353"/>
                  <a:gd name="T3" fmla="*/ 0 h 369"/>
                  <a:gd name="T4" fmla="*/ 105 w 353"/>
                  <a:gd name="T5" fmla="*/ 0 h 369"/>
                  <a:gd name="T6" fmla="*/ 276 w 353"/>
                  <a:gd name="T7" fmla="*/ 113 h 369"/>
                  <a:gd name="T8" fmla="*/ 353 w 353"/>
                  <a:gd name="T9" fmla="*/ 113 h 369"/>
                  <a:gd name="T10" fmla="*/ 353 w 353"/>
                  <a:gd name="T11" fmla="*/ 315 h 369"/>
                  <a:gd name="T12" fmla="*/ 318 w 353"/>
                  <a:gd name="T13" fmla="*/ 369 h 369"/>
                  <a:gd name="T14" fmla="*/ 315 w 353"/>
                  <a:gd name="T15" fmla="*/ 173 h 369"/>
                  <a:gd name="T16" fmla="*/ 254 w 353"/>
                  <a:gd name="T17" fmla="*/ 173 h 369"/>
                  <a:gd name="T18" fmla="*/ 75 w 353"/>
                  <a:gd name="T19" fmla="*/ 60 h 369"/>
                  <a:gd name="T20" fmla="*/ 0 w 353"/>
                  <a:gd name="T21" fmla="*/ 59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solidFill>
              <a:ln w="9525">
                <a:solidFill>
                  <a:schemeClr val="tx1"/>
                </a:solidFill>
                <a:round/>
              </a:ln>
            </p:spPr>
            <p:txBody>
              <a:bodyPr/>
              <a:lstStyle/>
              <a:p>
                <a:endParaRPr lang="zh-CN" altLang="en-US"/>
              </a:p>
            </p:txBody>
          </p:sp>
          <p:sp>
            <p:nvSpPr>
              <p:cNvPr id="1244" name="Line 111"/>
              <p:cNvSpPr>
                <a:spLocks noChangeShapeType="1"/>
              </p:cNvSpPr>
              <p:nvPr/>
            </p:nvSpPr>
            <p:spPr bwMode="auto">
              <a:xfrm flipH="1">
                <a:off x="2167" y="2674"/>
                <a:ext cx="34" cy="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45" name="Line 112"/>
              <p:cNvSpPr>
                <a:spLocks noChangeShapeType="1"/>
              </p:cNvSpPr>
              <p:nvPr/>
            </p:nvSpPr>
            <p:spPr bwMode="auto">
              <a:xfrm>
                <a:off x="1880" y="2830"/>
                <a:ext cx="2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6" name="Freeform 113"/>
              <p:cNvSpPr/>
              <p:nvPr/>
            </p:nvSpPr>
            <p:spPr bwMode="auto">
              <a:xfrm>
                <a:off x="1874" y="2670"/>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47" name="Freeform 114"/>
              <p:cNvSpPr/>
              <p:nvPr/>
            </p:nvSpPr>
            <p:spPr bwMode="auto">
              <a:xfrm flipV="1">
                <a:off x="1874" y="2884"/>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249" name="Group 118"/>
            <p:cNvGrpSpPr/>
            <p:nvPr/>
          </p:nvGrpSpPr>
          <p:grpSpPr bwMode="auto">
            <a:xfrm>
              <a:off x="3801066" y="1763971"/>
              <a:ext cx="796925" cy="658813"/>
              <a:chOff x="1671" y="1861"/>
              <a:chExt cx="502" cy="415"/>
            </a:xfrm>
          </p:grpSpPr>
          <p:sp>
            <p:nvSpPr>
              <p:cNvPr id="1250" name="Rectangle 116"/>
              <p:cNvSpPr>
                <a:spLocks noChangeArrowheads="1"/>
              </p:cNvSpPr>
              <p:nvPr/>
            </p:nvSpPr>
            <p:spPr bwMode="auto">
              <a:xfrm>
                <a:off x="1742" y="1966"/>
                <a:ext cx="360" cy="31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51" name="AutoShape 117"/>
              <p:cNvSpPr>
                <a:spLocks noChangeArrowheads="1"/>
              </p:cNvSpPr>
              <p:nvPr/>
            </p:nvSpPr>
            <p:spPr bwMode="auto">
              <a:xfrm>
                <a:off x="1671" y="1861"/>
                <a:ext cx="502" cy="129"/>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1252" name="Freeform 119"/>
            <p:cNvSpPr/>
            <p:nvPr/>
          </p:nvSpPr>
          <p:spPr bwMode="auto">
            <a:xfrm>
              <a:off x="4404316" y="2352934"/>
              <a:ext cx="674687" cy="239712"/>
            </a:xfrm>
            <a:custGeom>
              <a:avLst/>
              <a:gdLst>
                <a:gd name="T0" fmla="*/ 0 w 425"/>
                <a:gd name="T1" fmla="*/ 0 h 151"/>
                <a:gd name="T2" fmla="*/ 0 w 425"/>
                <a:gd name="T3" fmla="*/ 2147483647 h 151"/>
                <a:gd name="T4" fmla="*/ 2147483647 w 425"/>
                <a:gd name="T5" fmla="*/ 2147483647 h 151"/>
                <a:gd name="T6" fmla="*/ 0 60000 65536"/>
                <a:gd name="T7" fmla="*/ 0 60000 65536"/>
                <a:gd name="T8" fmla="*/ 0 60000 65536"/>
                <a:gd name="T9" fmla="*/ 0 w 425"/>
                <a:gd name="T10" fmla="*/ 0 h 151"/>
                <a:gd name="T11" fmla="*/ 425 w 425"/>
                <a:gd name="T12" fmla="*/ 151 h 151"/>
              </a:gdLst>
              <a:ahLst/>
              <a:cxnLst>
                <a:cxn ang="T6">
                  <a:pos x="T0" y="T1"/>
                </a:cxn>
                <a:cxn ang="T7">
                  <a:pos x="T2" y="T3"/>
                </a:cxn>
                <a:cxn ang="T8">
                  <a:pos x="T4" y="T5"/>
                </a:cxn>
              </a:cxnLst>
              <a:rect l="T9" t="T10" r="T11" b="T12"/>
              <a:pathLst>
                <a:path w="425" h="151">
                  <a:moveTo>
                    <a:pt x="0" y="0"/>
                  </a:moveTo>
                  <a:lnTo>
                    <a:pt x="0" y="151"/>
                  </a:lnTo>
                  <a:lnTo>
                    <a:pt x="425" y="151"/>
                  </a:lnTo>
                </a:path>
              </a:pathLst>
            </a:custGeom>
            <a:noFill/>
            <a:ln w="9525">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53" name="Line 120"/>
            <p:cNvSpPr>
              <a:spLocks noChangeShapeType="1"/>
            </p:cNvSpPr>
            <p:nvPr/>
          </p:nvSpPr>
          <p:spPr bwMode="auto">
            <a:xfrm>
              <a:off x="5433016" y="2718059"/>
              <a:ext cx="3778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54" name="Freeform 123"/>
            <p:cNvSpPr/>
            <p:nvPr/>
          </p:nvSpPr>
          <p:spPr bwMode="auto">
            <a:xfrm>
              <a:off x="5433016" y="2786321"/>
              <a:ext cx="463550" cy="1009650"/>
            </a:xfrm>
            <a:custGeom>
              <a:avLst/>
              <a:gdLst>
                <a:gd name="T0" fmla="*/ 0 w 292"/>
                <a:gd name="T1" fmla="*/ 0 h 636"/>
                <a:gd name="T2" fmla="*/ 2147483647 w 292"/>
                <a:gd name="T3" fmla="*/ 0 h 636"/>
                <a:gd name="T4" fmla="*/ 2147483647 w 292"/>
                <a:gd name="T5" fmla="*/ 2147483647 h 636"/>
                <a:gd name="T6" fmla="*/ 2147483647 w 292"/>
                <a:gd name="T7" fmla="*/ 2147483647 h 636"/>
                <a:gd name="T8" fmla="*/ 0 60000 65536"/>
                <a:gd name="T9" fmla="*/ 0 60000 65536"/>
                <a:gd name="T10" fmla="*/ 0 60000 65536"/>
                <a:gd name="T11" fmla="*/ 0 60000 65536"/>
                <a:gd name="T12" fmla="*/ 0 w 292"/>
                <a:gd name="T13" fmla="*/ 0 h 636"/>
                <a:gd name="T14" fmla="*/ 292 w 292"/>
                <a:gd name="T15" fmla="*/ 636 h 636"/>
              </a:gdLst>
              <a:ahLst/>
              <a:cxnLst>
                <a:cxn ang="T8">
                  <a:pos x="T0" y="T1"/>
                </a:cxn>
                <a:cxn ang="T9">
                  <a:pos x="T2" y="T3"/>
                </a:cxn>
                <a:cxn ang="T10">
                  <a:pos x="T4" y="T5"/>
                </a:cxn>
                <a:cxn ang="T11">
                  <a:pos x="T6" y="T7"/>
                </a:cxn>
              </a:cxnLst>
              <a:rect l="T12" t="T13" r="T14" b="T15"/>
              <a:pathLst>
                <a:path w="292" h="636">
                  <a:moveTo>
                    <a:pt x="0" y="0"/>
                  </a:moveTo>
                  <a:lnTo>
                    <a:pt x="130" y="0"/>
                  </a:lnTo>
                  <a:lnTo>
                    <a:pt x="130" y="636"/>
                  </a:lnTo>
                  <a:lnTo>
                    <a:pt x="292" y="636"/>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255" name="Group 135"/>
            <p:cNvGrpSpPr/>
            <p:nvPr/>
          </p:nvGrpSpPr>
          <p:grpSpPr bwMode="auto">
            <a:xfrm>
              <a:off x="1787102" y="2776760"/>
              <a:ext cx="2549526" cy="1419227"/>
              <a:chOff x="848" y="1538"/>
              <a:chExt cx="1606" cy="894"/>
            </a:xfrm>
          </p:grpSpPr>
          <p:sp>
            <p:nvSpPr>
              <p:cNvPr id="1256" name="Text Box 124"/>
              <p:cNvSpPr txBox="1">
                <a:spLocks noChangeArrowheads="1"/>
              </p:cNvSpPr>
              <p:nvPr/>
            </p:nvSpPr>
            <p:spPr bwMode="auto">
              <a:xfrm>
                <a:off x="848" y="2102"/>
                <a:ext cx="145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到中心局的专线，用不同频率传输语音和数据</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57" name="Line 125"/>
              <p:cNvSpPr>
                <a:spLocks noChangeShapeType="1"/>
              </p:cNvSpPr>
              <p:nvPr/>
            </p:nvSpPr>
            <p:spPr bwMode="auto">
              <a:xfrm flipV="1">
                <a:off x="2093" y="1538"/>
                <a:ext cx="361" cy="584"/>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58" name="Rectangle 90"/>
            <p:cNvSpPr>
              <a:spLocks noChangeArrowheads="1"/>
            </p:cNvSpPr>
            <p:nvPr/>
          </p:nvSpPr>
          <p:spPr bwMode="auto">
            <a:xfrm>
              <a:off x="1656353" y="2216409"/>
              <a:ext cx="1978025" cy="13954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59" name="Line 7"/>
            <p:cNvSpPr>
              <a:spLocks noChangeShapeType="1"/>
            </p:cNvSpPr>
            <p:nvPr/>
          </p:nvSpPr>
          <p:spPr bwMode="auto">
            <a:xfrm flipV="1">
              <a:off x="2142128" y="2767271"/>
              <a:ext cx="365125"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60" name="Text Box 39"/>
            <p:cNvSpPr txBox="1">
              <a:spLocks noChangeArrowheads="1"/>
            </p:cNvSpPr>
            <p:nvPr/>
          </p:nvSpPr>
          <p:spPr bwMode="auto">
            <a:xfrm>
              <a:off x="2250242" y="2873634"/>
              <a:ext cx="1082348"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0000"/>
                </a:lnSpc>
              </a:pP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xDSL</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algn="ctr">
                <a:lnSpc>
                  <a:spcPct val="80000"/>
                </a:lnSpc>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调制解调器</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61" name="Text Box 41"/>
            <p:cNvSpPr txBox="1">
              <a:spLocks noChangeArrowheads="1"/>
            </p:cNvSpPr>
            <p:nvPr/>
          </p:nvSpPr>
          <p:spPr bwMode="auto">
            <a:xfrm>
              <a:off x="3345904" y="2840096"/>
              <a:ext cx="723276" cy="26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0000"/>
                </a:lnSpc>
              </a:pPr>
              <a:r>
                <a:rPr lang="zh-CN" altLang="en-US" sz="1400" dirty="0">
                  <a:latin typeface="宋体" panose="02010600030101010101" pitchFamily="2" charset="-122"/>
                  <a:ea typeface="宋体" panose="02010600030101010101" pitchFamily="2" charset="-122"/>
                </a:rPr>
                <a:t>分线器</a:t>
              </a:r>
              <a:endParaRPr lang="en-US" altLang="zh-CN" sz="1400" dirty="0">
                <a:latin typeface="宋体" panose="02010600030101010101" pitchFamily="2" charset="-122"/>
                <a:ea typeface="宋体" panose="02010600030101010101" pitchFamily="2" charset="-122"/>
              </a:endParaRPr>
            </a:p>
          </p:txBody>
        </p:sp>
        <p:grpSp>
          <p:nvGrpSpPr>
            <p:cNvPr id="1262" name="Group 94"/>
            <p:cNvGrpSpPr/>
            <p:nvPr/>
          </p:nvGrpSpPr>
          <p:grpSpPr bwMode="auto">
            <a:xfrm>
              <a:off x="2496933" y="2673192"/>
              <a:ext cx="506413" cy="168269"/>
              <a:chOff x="322" y="890"/>
              <a:chExt cx="872" cy="339"/>
            </a:xfrm>
          </p:grpSpPr>
          <p:sp>
            <p:nvSpPr>
              <p:cNvPr id="1263" name="Rectangle 95"/>
              <p:cNvSpPr>
                <a:spLocks noChangeArrowheads="1"/>
              </p:cNvSpPr>
              <p:nvPr/>
            </p:nvSpPr>
            <p:spPr bwMode="auto">
              <a:xfrm>
                <a:off x="322" y="1005"/>
                <a:ext cx="872" cy="224"/>
              </a:xfrm>
              <a:prstGeom prst="rect">
                <a:avLst/>
              </a:prstGeom>
              <a:solidFill>
                <a:schemeClr val="accent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64" name="Rectangle 96"/>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65" name="Rectangle 97"/>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66" name="Rectangle 98"/>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67" name="Rectangle 99"/>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68" name="AutoShape 100"/>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9525">
                <a:solidFill>
                  <a:schemeClr val="tx1"/>
                </a:solidFill>
                <a:miter lim="800000"/>
              </a:ln>
            </p:spPr>
            <p:txBody>
              <a:bodyPr wrap="none" anchor="ctr"/>
              <a:lstStyle/>
              <a:p>
                <a:endParaRPr lang="zh-CN" altLang="en-US"/>
              </a:p>
            </p:txBody>
          </p:sp>
        </p:grpSp>
        <p:sp>
          <p:nvSpPr>
            <p:cNvPr id="1269" name="AutoShape 102"/>
            <p:cNvSpPr>
              <a:spLocks noChangeArrowheads="1"/>
            </p:cNvSpPr>
            <p:nvPr/>
          </p:nvSpPr>
          <p:spPr bwMode="auto">
            <a:xfrm>
              <a:off x="1373778" y="1805246"/>
              <a:ext cx="2498725" cy="46831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70" name="Rectangle 103"/>
            <p:cNvSpPr>
              <a:spLocks noChangeArrowheads="1"/>
            </p:cNvSpPr>
            <p:nvPr/>
          </p:nvSpPr>
          <p:spPr bwMode="auto">
            <a:xfrm>
              <a:off x="3351803" y="2705359"/>
              <a:ext cx="166688" cy="144462"/>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271" name="Freeform 104"/>
            <p:cNvSpPr/>
            <p:nvPr/>
          </p:nvSpPr>
          <p:spPr bwMode="auto">
            <a:xfrm>
              <a:off x="2827928" y="2260859"/>
              <a:ext cx="604838" cy="434975"/>
            </a:xfrm>
            <a:custGeom>
              <a:avLst/>
              <a:gdLst>
                <a:gd name="T0" fmla="*/ 2147483647 w 381"/>
                <a:gd name="T1" fmla="*/ 2147483647 h 274"/>
                <a:gd name="T2" fmla="*/ 2147483647 w 381"/>
                <a:gd name="T3" fmla="*/ 2147483647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272" name="Object 3"/>
            <p:cNvGraphicFramePr>
              <a:graphicFrameLocks noChangeAspect="1"/>
            </p:cNvGraphicFramePr>
            <p:nvPr/>
          </p:nvGraphicFramePr>
          <p:xfrm>
            <a:off x="2488203" y="2057659"/>
            <a:ext cx="490538" cy="369887"/>
          </p:xfrm>
          <a:graphic>
            <a:graphicData uri="http://schemas.openxmlformats.org/presentationml/2006/ole">
              <mc:AlternateContent xmlns:mc="http://schemas.openxmlformats.org/markup-compatibility/2006">
                <mc:Choice xmlns:v="urn:schemas-microsoft-com:vml" Requires="v">
                  <p:oleObj name="Clip" r:id="rId4" imgW="681990" imgH="480695" progId="MS_ClipArt_Gallery.2">
                    <p:embed/>
                  </p:oleObj>
                </mc:Choice>
                <mc:Fallback>
                  <p:oleObj name="Clip" r:id="rId4" imgW="681990" imgH="480695" progId="MS_ClipArt_Gallery.2">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8203" y="2057659"/>
                          <a:ext cx="49053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73" name="Line 130"/>
            <p:cNvSpPr>
              <a:spLocks noChangeShapeType="1"/>
            </p:cNvSpPr>
            <p:nvPr/>
          </p:nvSpPr>
          <p:spPr bwMode="auto">
            <a:xfrm flipH="1">
              <a:off x="2982189" y="2767271"/>
              <a:ext cx="372789"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74" name="AutoShape 131"/>
            <p:cNvSpPr>
              <a:spLocks noChangeArrowheads="1"/>
            </p:cNvSpPr>
            <p:nvPr/>
          </p:nvSpPr>
          <p:spPr bwMode="auto">
            <a:xfrm>
              <a:off x="4863103" y="2105284"/>
              <a:ext cx="1206500" cy="261937"/>
            </a:xfrm>
            <a:prstGeom prst="triangle">
              <a:avLst>
                <a:gd name="adj" fmla="val 50000"/>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275" name="Group 136"/>
            <p:cNvGrpSpPr/>
            <p:nvPr/>
          </p:nvGrpSpPr>
          <p:grpSpPr bwMode="auto">
            <a:xfrm>
              <a:off x="4069311" y="2980586"/>
              <a:ext cx="1420813" cy="942975"/>
              <a:chOff x="2256" y="1806"/>
              <a:chExt cx="895" cy="594"/>
            </a:xfrm>
          </p:grpSpPr>
          <p:sp>
            <p:nvSpPr>
              <p:cNvPr id="1276" name="Line 132"/>
              <p:cNvSpPr>
                <a:spLocks noChangeShapeType="1"/>
              </p:cNvSpPr>
              <p:nvPr/>
            </p:nvSpPr>
            <p:spPr bwMode="auto">
              <a:xfrm flipV="1">
                <a:off x="2671" y="1806"/>
                <a:ext cx="268" cy="433"/>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77" name="Text Box 133"/>
              <p:cNvSpPr txBox="1">
                <a:spLocks noChangeArrowheads="1"/>
              </p:cNvSpPr>
              <p:nvPr/>
            </p:nvSpPr>
            <p:spPr bwMode="auto">
              <a:xfrm>
                <a:off x="2256" y="2226"/>
                <a:ext cx="89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lnSpc>
                    <a:spcPct val="85000"/>
                  </a:lnSpc>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DSL</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接入复用器</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278" name="Group 141"/>
            <p:cNvGrpSpPr/>
            <p:nvPr/>
          </p:nvGrpSpPr>
          <p:grpSpPr bwMode="auto">
            <a:xfrm>
              <a:off x="1561103" y="2445009"/>
              <a:ext cx="642938" cy="644525"/>
              <a:chOff x="-44" y="1473"/>
              <a:chExt cx="981" cy="1105"/>
            </a:xfrm>
          </p:grpSpPr>
          <p:pic>
            <p:nvPicPr>
              <p:cNvPr id="1279" name="Picture 142"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 name="Freeform 143"/>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358696" y="5543985"/>
            <a:ext cx="8343895" cy="859568"/>
          </a:xfrm>
          <a:solidFill>
            <a:schemeClr val="accent6">
              <a:lumMod val="20000"/>
              <a:lumOff val="80000"/>
            </a:schemeClr>
          </a:solidFill>
        </p:spPr>
        <p:txBody>
          <a:bodyPr>
            <a:noAutofit/>
          </a:bodyPr>
          <a:lstStyle/>
          <a:p>
            <a:pPr marL="357505" indent="-266700">
              <a:lnSpc>
                <a:spcPts val="3000"/>
              </a:lnSpc>
              <a:spcBef>
                <a:spcPts val="0"/>
              </a:spcBef>
              <a:buBlip>
                <a:blip r:embed="rId3"/>
              </a:buBlip>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采用频分多路复用，</a:t>
            </a:r>
            <a:r>
              <a:rPr lang="zh-CN" altLang="en-US" sz="1800" dirty="0">
                <a:latin typeface="宋体" panose="02010600030101010101" pitchFamily="2" charset="-122"/>
                <a:ea typeface="宋体" panose="02010600030101010101" pitchFamily="2" charset="-122"/>
              </a:rPr>
              <a:t>数据、电视信号在不同的频率上传输，</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数据通道是共享的</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marL="357505" indent="-266700">
              <a:lnSpc>
                <a:spcPts val="3000"/>
              </a:lnSpc>
              <a:spcBef>
                <a:spcPts val="0"/>
              </a:spcBef>
              <a:buBlip>
                <a:blip r:embed="rId3"/>
              </a:buBlip>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非对称：最大上行</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10Mbps</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，下行</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30Mbps</a:t>
            </a:r>
          </a:p>
          <a:p>
            <a:pPr marL="446405" indent="-355600">
              <a:lnSpc>
                <a:spcPts val="3000"/>
              </a:lnSpc>
              <a:spcBef>
                <a:spcPts val="0"/>
              </a:spcBef>
              <a:buBlip>
                <a:blip r:embed="rId3"/>
              </a:buBlip>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46405" indent="-355600">
              <a:lnSpc>
                <a:spcPts val="3000"/>
              </a:lnSpc>
              <a:spcBef>
                <a:spcPts val="0"/>
              </a:spcBef>
              <a:buBlip>
                <a:blip r:embed="rId3"/>
              </a:buBlip>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231" name="Rectangle 2"/>
          <p:cNvSpPr txBox="1">
            <a:spLocks noChangeArrowheads="1"/>
          </p:cNvSpPr>
          <p:nvPr/>
        </p:nvSpPr>
        <p:spPr>
          <a:xfrm>
            <a:off x="428625" y="666749"/>
            <a:ext cx="8206327" cy="793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接入网络：</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HFC</a:t>
            </a:r>
          </a:p>
        </p:txBody>
      </p:sp>
      <p:sp>
        <p:nvSpPr>
          <p:cNvPr id="140" name="Rectangle 60"/>
          <p:cNvSpPr>
            <a:spLocks noChangeArrowheads="1"/>
          </p:cNvSpPr>
          <p:nvPr/>
        </p:nvSpPr>
        <p:spPr bwMode="auto">
          <a:xfrm>
            <a:off x="666750" y="1938347"/>
            <a:ext cx="1793875" cy="92551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41" name="Line 7"/>
          <p:cNvSpPr>
            <a:spLocks noChangeShapeType="1"/>
          </p:cNvSpPr>
          <p:nvPr/>
        </p:nvSpPr>
        <p:spPr bwMode="auto">
          <a:xfrm flipV="1">
            <a:off x="968375" y="2489210"/>
            <a:ext cx="365125" cy="15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2" name="Text Box 39"/>
          <p:cNvSpPr txBox="1">
            <a:spLocks noChangeArrowheads="1"/>
          </p:cNvSpPr>
          <p:nvPr/>
        </p:nvSpPr>
        <p:spPr bwMode="auto">
          <a:xfrm>
            <a:off x="1156012" y="2640022"/>
            <a:ext cx="723275"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0000"/>
              </a:lnSpc>
            </a:pPr>
            <a:r>
              <a:rPr lang="en-US" altLang="zh-CN" sz="1400">
                <a:latin typeface="Times New Roman" panose="02020603050405020304" pitchFamily="18" charset="0"/>
                <a:ea typeface="宋体" panose="02010600030101010101" pitchFamily="2" charset="-122"/>
                <a:cs typeface="Times New Roman" panose="02020603050405020304" pitchFamily="18" charset="0"/>
              </a:rPr>
              <a:t>cable</a:t>
            </a:r>
          </a:p>
          <a:p>
            <a:pPr algn="ctr">
              <a:lnSpc>
                <a:spcPct val="80000"/>
              </a:lnSpc>
            </a:pPr>
            <a:r>
              <a:rPr lang="en-US" altLang="zh-CN" sz="1400">
                <a:latin typeface="Times New Roman" panose="02020603050405020304" pitchFamily="18" charset="0"/>
                <a:ea typeface="宋体" panose="02010600030101010101" pitchFamily="2" charset="-122"/>
                <a:cs typeface="Times New Roman" panose="02020603050405020304" pitchFamily="18" charset="0"/>
              </a:rPr>
              <a:t>modem</a:t>
            </a:r>
          </a:p>
        </p:txBody>
      </p:sp>
      <p:sp>
        <p:nvSpPr>
          <p:cNvPr id="143" name="Text Box 41"/>
          <p:cNvSpPr txBox="1">
            <a:spLocks noChangeArrowheads="1"/>
          </p:cNvSpPr>
          <p:nvPr/>
        </p:nvSpPr>
        <p:spPr bwMode="auto">
          <a:xfrm>
            <a:off x="1788632" y="2641610"/>
            <a:ext cx="723275" cy="26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0000"/>
              </a:lnSpc>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分线器</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44" name="Group 64"/>
          <p:cNvGrpSpPr/>
          <p:nvPr/>
        </p:nvGrpSpPr>
        <p:grpSpPr bwMode="auto">
          <a:xfrm>
            <a:off x="1314450" y="2365385"/>
            <a:ext cx="614363" cy="220662"/>
            <a:chOff x="322" y="890"/>
            <a:chExt cx="872" cy="339"/>
          </a:xfrm>
        </p:grpSpPr>
        <p:sp>
          <p:nvSpPr>
            <p:cNvPr id="145" name="Rectangle 65"/>
            <p:cNvSpPr>
              <a:spLocks noChangeArrowheads="1"/>
            </p:cNvSpPr>
            <p:nvPr/>
          </p:nvSpPr>
          <p:spPr bwMode="auto">
            <a:xfrm>
              <a:off x="322" y="1005"/>
              <a:ext cx="872" cy="224"/>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6" name="Rectangle 66"/>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7" name="Rectangle 67"/>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8" name="Rectangle 68"/>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9" name="Rectangle 69"/>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0" name="AutoShape 70"/>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51" name="AutoShape 72"/>
          <p:cNvSpPr>
            <a:spLocks noChangeArrowheads="1"/>
          </p:cNvSpPr>
          <p:nvPr/>
        </p:nvSpPr>
        <p:spPr bwMode="auto">
          <a:xfrm>
            <a:off x="428625" y="1527185"/>
            <a:ext cx="2268538" cy="468312"/>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52" name="Rectangle 73"/>
          <p:cNvSpPr>
            <a:spLocks noChangeArrowheads="1"/>
          </p:cNvSpPr>
          <p:nvPr/>
        </p:nvSpPr>
        <p:spPr bwMode="auto">
          <a:xfrm>
            <a:off x="2044700" y="2427297"/>
            <a:ext cx="166688" cy="144463"/>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 name="Freeform 74"/>
          <p:cNvSpPr/>
          <p:nvPr/>
        </p:nvSpPr>
        <p:spPr bwMode="auto">
          <a:xfrm>
            <a:off x="1654175" y="1982797"/>
            <a:ext cx="479425" cy="434975"/>
          </a:xfrm>
          <a:custGeom>
            <a:avLst/>
            <a:gdLst>
              <a:gd name="T0" fmla="*/ 2147483647 w 381"/>
              <a:gd name="T1" fmla="*/ 2147483647 h 274"/>
              <a:gd name="T2" fmla="*/ 2147483647 w 381"/>
              <a:gd name="T3" fmla="*/ 2147483647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 name="Line 95"/>
          <p:cNvSpPr>
            <a:spLocks noChangeShapeType="1"/>
          </p:cNvSpPr>
          <p:nvPr/>
        </p:nvSpPr>
        <p:spPr bwMode="auto">
          <a:xfrm flipH="1">
            <a:off x="1952625" y="2489210"/>
            <a:ext cx="23971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55" name="Picture 96" descr="tv"/>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675" y="1643072"/>
            <a:ext cx="75565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6" name="Group 117"/>
          <p:cNvGrpSpPr/>
          <p:nvPr/>
        </p:nvGrpSpPr>
        <p:grpSpPr bwMode="auto">
          <a:xfrm>
            <a:off x="2686050" y="1757372"/>
            <a:ext cx="850900" cy="527050"/>
            <a:chOff x="-490" y="1664"/>
            <a:chExt cx="1429" cy="842"/>
          </a:xfrm>
        </p:grpSpPr>
        <p:sp>
          <p:nvSpPr>
            <p:cNvPr id="157" name="AutoShape 111"/>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58" name="Group 116"/>
            <p:cNvGrpSpPr/>
            <p:nvPr/>
          </p:nvGrpSpPr>
          <p:grpSpPr bwMode="auto">
            <a:xfrm>
              <a:off x="-427" y="1737"/>
              <a:ext cx="1217" cy="769"/>
              <a:chOff x="-427" y="1737"/>
              <a:chExt cx="1217" cy="769"/>
            </a:xfrm>
          </p:grpSpPr>
          <p:sp>
            <p:nvSpPr>
              <p:cNvPr id="159" name="Rectangle 99"/>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60"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161" name="Group 103"/>
              <p:cNvGrpSpPr/>
              <p:nvPr/>
            </p:nvGrpSpPr>
            <p:grpSpPr bwMode="auto">
              <a:xfrm>
                <a:off x="68" y="2192"/>
                <a:ext cx="387" cy="139"/>
                <a:chOff x="322" y="890"/>
                <a:chExt cx="872" cy="339"/>
              </a:xfrm>
            </p:grpSpPr>
            <p:sp>
              <p:nvSpPr>
                <p:cNvPr id="167" name="Rectangle 104"/>
                <p:cNvSpPr>
                  <a:spLocks noChangeArrowheads="1"/>
                </p:cNvSpPr>
                <p:nvPr/>
              </p:nvSpPr>
              <p:spPr bwMode="auto">
                <a:xfrm>
                  <a:off x="320" y="1000"/>
                  <a:ext cx="871" cy="229"/>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68" name="Rectangle 105"/>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69" name="Rectangle 106"/>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0" name="Rectangle 107"/>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1" name="Rectangle 108"/>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2" name="AutoShape 109"/>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a:p>
              </p:txBody>
            </p:sp>
          </p:grpSp>
          <p:pic>
            <p:nvPicPr>
              <p:cNvPr id="162" name="Picture 110" descr="desktop_computer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 name="Rectangle 112"/>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64" name="Freeform 113"/>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5" name="Line 114"/>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66" name="Picture 115" descr="tv"/>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73" name="Group 118"/>
          <p:cNvGrpSpPr/>
          <p:nvPr/>
        </p:nvGrpSpPr>
        <p:grpSpPr bwMode="auto">
          <a:xfrm>
            <a:off x="3587750" y="1751022"/>
            <a:ext cx="850900" cy="527050"/>
            <a:chOff x="-490" y="1664"/>
            <a:chExt cx="1429" cy="842"/>
          </a:xfrm>
        </p:grpSpPr>
        <p:sp>
          <p:nvSpPr>
            <p:cNvPr id="174" name="AutoShape 119"/>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75" name="Group 120"/>
            <p:cNvGrpSpPr/>
            <p:nvPr/>
          </p:nvGrpSpPr>
          <p:grpSpPr bwMode="auto">
            <a:xfrm>
              <a:off x="-427" y="1737"/>
              <a:ext cx="1217" cy="769"/>
              <a:chOff x="-427" y="1737"/>
              <a:chExt cx="1217" cy="769"/>
            </a:xfrm>
          </p:grpSpPr>
          <p:sp>
            <p:nvSpPr>
              <p:cNvPr id="176" name="Rectangle 121"/>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77"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178" name="Group 123"/>
              <p:cNvGrpSpPr/>
              <p:nvPr/>
            </p:nvGrpSpPr>
            <p:grpSpPr bwMode="auto">
              <a:xfrm>
                <a:off x="68" y="2192"/>
                <a:ext cx="387" cy="139"/>
                <a:chOff x="322" y="890"/>
                <a:chExt cx="872" cy="339"/>
              </a:xfrm>
            </p:grpSpPr>
            <p:sp>
              <p:nvSpPr>
                <p:cNvPr id="184" name="Rectangle 124"/>
                <p:cNvSpPr>
                  <a:spLocks noChangeArrowheads="1"/>
                </p:cNvSpPr>
                <p:nvPr/>
              </p:nvSpPr>
              <p:spPr bwMode="auto">
                <a:xfrm>
                  <a:off x="320" y="1000"/>
                  <a:ext cx="871" cy="229"/>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85" name="Rectangle 125"/>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86" name="Rectangle 126"/>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87" name="Rectangle 127"/>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88" name="Rectangle 128"/>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89" name="AutoShape 129"/>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a:p>
              </p:txBody>
            </p:sp>
          </p:grpSp>
          <p:pic>
            <p:nvPicPr>
              <p:cNvPr id="179" name="Picture 130" descr="desktop_computer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Rectangle 131"/>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81" name="Freeform 132"/>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2" name="Line 133"/>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83" name="Picture 134" descr="tv"/>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90" name="Group 135"/>
          <p:cNvGrpSpPr/>
          <p:nvPr/>
        </p:nvGrpSpPr>
        <p:grpSpPr bwMode="auto">
          <a:xfrm>
            <a:off x="2773363" y="2597160"/>
            <a:ext cx="850900" cy="527050"/>
            <a:chOff x="-490" y="1664"/>
            <a:chExt cx="1429" cy="842"/>
          </a:xfrm>
        </p:grpSpPr>
        <p:sp>
          <p:nvSpPr>
            <p:cNvPr id="191" name="AutoShape 136"/>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192" name="Group 137"/>
            <p:cNvGrpSpPr/>
            <p:nvPr/>
          </p:nvGrpSpPr>
          <p:grpSpPr bwMode="auto">
            <a:xfrm>
              <a:off x="-427" y="1737"/>
              <a:ext cx="1217" cy="769"/>
              <a:chOff x="-427" y="1737"/>
              <a:chExt cx="1217" cy="769"/>
            </a:xfrm>
          </p:grpSpPr>
          <p:sp>
            <p:nvSpPr>
              <p:cNvPr id="193" name="Rectangle 138"/>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94"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195" name="Group 140"/>
              <p:cNvGrpSpPr/>
              <p:nvPr/>
            </p:nvGrpSpPr>
            <p:grpSpPr bwMode="auto">
              <a:xfrm>
                <a:off x="68" y="2192"/>
                <a:ext cx="387" cy="139"/>
                <a:chOff x="322" y="890"/>
                <a:chExt cx="872" cy="339"/>
              </a:xfrm>
            </p:grpSpPr>
            <p:sp>
              <p:nvSpPr>
                <p:cNvPr id="201" name="Rectangle 141"/>
                <p:cNvSpPr>
                  <a:spLocks noChangeArrowheads="1"/>
                </p:cNvSpPr>
                <p:nvPr/>
              </p:nvSpPr>
              <p:spPr bwMode="auto">
                <a:xfrm>
                  <a:off x="320" y="1000"/>
                  <a:ext cx="871" cy="229"/>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02" name="Rectangle 142"/>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03" name="Rectangle 143"/>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04" name="Rectangle 144"/>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05" name="Rectangle 145"/>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06" name="AutoShape 146"/>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a:p>
              </p:txBody>
            </p:sp>
          </p:grpSp>
          <p:pic>
            <p:nvPicPr>
              <p:cNvPr id="196" name="Picture 147" descr="desktop_computer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Rectangle 148"/>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98" name="Freeform 149"/>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9" name="Line 150"/>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200" name="Picture 151" descr="tv"/>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07" name="Group 152"/>
          <p:cNvGrpSpPr/>
          <p:nvPr/>
        </p:nvGrpSpPr>
        <p:grpSpPr bwMode="auto">
          <a:xfrm>
            <a:off x="3640138" y="2606685"/>
            <a:ext cx="850900" cy="527050"/>
            <a:chOff x="-490" y="1664"/>
            <a:chExt cx="1429" cy="842"/>
          </a:xfrm>
        </p:grpSpPr>
        <p:sp>
          <p:nvSpPr>
            <p:cNvPr id="208" name="AutoShape 153"/>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209" name="Group 154"/>
            <p:cNvGrpSpPr/>
            <p:nvPr/>
          </p:nvGrpSpPr>
          <p:grpSpPr bwMode="auto">
            <a:xfrm>
              <a:off x="-427" y="1737"/>
              <a:ext cx="1217" cy="769"/>
              <a:chOff x="-427" y="1737"/>
              <a:chExt cx="1217" cy="769"/>
            </a:xfrm>
          </p:grpSpPr>
          <p:sp>
            <p:nvSpPr>
              <p:cNvPr id="210" name="Rectangle 155"/>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11"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212" name="Group 157"/>
              <p:cNvGrpSpPr/>
              <p:nvPr/>
            </p:nvGrpSpPr>
            <p:grpSpPr bwMode="auto">
              <a:xfrm>
                <a:off x="68" y="2192"/>
                <a:ext cx="387" cy="139"/>
                <a:chOff x="322" y="890"/>
                <a:chExt cx="872" cy="339"/>
              </a:xfrm>
            </p:grpSpPr>
            <p:sp>
              <p:nvSpPr>
                <p:cNvPr id="218" name="Rectangle 158"/>
                <p:cNvSpPr>
                  <a:spLocks noChangeArrowheads="1"/>
                </p:cNvSpPr>
                <p:nvPr/>
              </p:nvSpPr>
              <p:spPr bwMode="auto">
                <a:xfrm>
                  <a:off x="320" y="1000"/>
                  <a:ext cx="871" cy="229"/>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19" name="Rectangle 159"/>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20" name="Rectangle 160"/>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21" name="Rectangle 161"/>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22" name="Rectangle 162"/>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23" name="AutoShape 163"/>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a:p>
              </p:txBody>
            </p:sp>
          </p:grpSp>
          <p:pic>
            <p:nvPicPr>
              <p:cNvPr id="213" name="Picture 164" descr="desktop_computer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Rectangle 165"/>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15" name="Freeform 166"/>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6" name="Line 167"/>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217" name="Picture 168" descr="tv"/>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4" name="Line 169"/>
          <p:cNvSpPr>
            <a:spLocks noChangeShapeType="1"/>
          </p:cNvSpPr>
          <p:nvPr/>
        </p:nvSpPr>
        <p:spPr bwMode="auto">
          <a:xfrm>
            <a:off x="2227263" y="2500322"/>
            <a:ext cx="369093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25" name="Group 170"/>
          <p:cNvGrpSpPr/>
          <p:nvPr/>
        </p:nvGrpSpPr>
        <p:grpSpPr bwMode="auto">
          <a:xfrm>
            <a:off x="4729163" y="1758960"/>
            <a:ext cx="850900" cy="527050"/>
            <a:chOff x="-490" y="1664"/>
            <a:chExt cx="1429" cy="842"/>
          </a:xfrm>
        </p:grpSpPr>
        <p:sp>
          <p:nvSpPr>
            <p:cNvPr id="226" name="AutoShape 171"/>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227" name="Group 172"/>
            <p:cNvGrpSpPr/>
            <p:nvPr/>
          </p:nvGrpSpPr>
          <p:grpSpPr bwMode="auto">
            <a:xfrm>
              <a:off x="-427" y="1737"/>
              <a:ext cx="1217" cy="769"/>
              <a:chOff x="-427" y="1737"/>
              <a:chExt cx="1217" cy="769"/>
            </a:xfrm>
          </p:grpSpPr>
          <p:sp>
            <p:nvSpPr>
              <p:cNvPr id="228" name="Rectangle 173"/>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29"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230" name="Group 175"/>
              <p:cNvGrpSpPr/>
              <p:nvPr/>
            </p:nvGrpSpPr>
            <p:grpSpPr bwMode="auto">
              <a:xfrm>
                <a:off x="68" y="2192"/>
                <a:ext cx="387" cy="139"/>
                <a:chOff x="322" y="890"/>
                <a:chExt cx="872" cy="339"/>
              </a:xfrm>
            </p:grpSpPr>
            <p:sp>
              <p:nvSpPr>
                <p:cNvPr id="236" name="Rectangle 176"/>
                <p:cNvSpPr>
                  <a:spLocks noChangeArrowheads="1"/>
                </p:cNvSpPr>
                <p:nvPr/>
              </p:nvSpPr>
              <p:spPr bwMode="auto">
                <a:xfrm>
                  <a:off x="320" y="1000"/>
                  <a:ext cx="871" cy="229"/>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37" name="Rectangle 177"/>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38" name="Rectangle 178"/>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39" name="Rectangle 179"/>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40" name="Rectangle 180"/>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41" name="AutoShape 181"/>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a:p>
              </p:txBody>
            </p:sp>
          </p:grpSp>
          <p:pic>
            <p:nvPicPr>
              <p:cNvPr id="231" name="Picture 182" descr="desktop_computer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 name="Rectangle 183"/>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233" name="Freeform 184"/>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 name="Line 185"/>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235" name="Picture 186" descr="tv"/>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42" name="Text Box 204"/>
          <p:cNvSpPr txBox="1">
            <a:spLocks noChangeArrowheads="1"/>
          </p:cNvSpPr>
          <p:nvPr/>
        </p:nvSpPr>
        <p:spPr bwMode="auto">
          <a:xfrm>
            <a:off x="4340225" y="182881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zh-CN">
                <a:solidFill>
                  <a:srgbClr val="969696"/>
                </a:solidFill>
                <a:latin typeface="Times New Roman" panose="02020603050405020304" pitchFamily="18" charset="0"/>
              </a:rPr>
              <a:t>…</a:t>
            </a:r>
          </a:p>
        </p:txBody>
      </p:sp>
      <p:sp>
        <p:nvSpPr>
          <p:cNvPr id="243" name="Line 205"/>
          <p:cNvSpPr>
            <a:spLocks noChangeShapeType="1"/>
          </p:cNvSpPr>
          <p:nvPr/>
        </p:nvSpPr>
        <p:spPr bwMode="auto">
          <a:xfrm flipH="1">
            <a:off x="3321050" y="2170122"/>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4" name="Line 206"/>
          <p:cNvSpPr>
            <a:spLocks noChangeShapeType="1"/>
          </p:cNvSpPr>
          <p:nvPr/>
        </p:nvSpPr>
        <p:spPr bwMode="auto">
          <a:xfrm flipH="1">
            <a:off x="4225925" y="2170122"/>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 name="Line 207"/>
          <p:cNvSpPr>
            <a:spLocks noChangeShapeType="1"/>
          </p:cNvSpPr>
          <p:nvPr/>
        </p:nvSpPr>
        <p:spPr bwMode="auto">
          <a:xfrm flipH="1">
            <a:off x="5362575" y="2170122"/>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 name="Freeform 208"/>
          <p:cNvSpPr/>
          <p:nvPr/>
        </p:nvSpPr>
        <p:spPr bwMode="auto">
          <a:xfrm>
            <a:off x="4311650" y="2506672"/>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7" name="Freeform 209"/>
          <p:cNvSpPr/>
          <p:nvPr/>
        </p:nvSpPr>
        <p:spPr bwMode="auto">
          <a:xfrm>
            <a:off x="3444875" y="2500322"/>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Rectangle 44"/>
          <p:cNvSpPr>
            <a:spLocks noChangeArrowheads="1"/>
          </p:cNvSpPr>
          <p:nvPr/>
        </p:nvSpPr>
        <p:spPr bwMode="auto">
          <a:xfrm>
            <a:off x="5656263" y="2074872"/>
            <a:ext cx="955675" cy="700088"/>
          </a:xfrm>
          <a:prstGeom prst="rect">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249" name="Text Box 45"/>
          <p:cNvSpPr txBox="1">
            <a:spLocks noChangeArrowheads="1"/>
          </p:cNvSpPr>
          <p:nvPr/>
        </p:nvSpPr>
        <p:spPr bwMode="auto">
          <a:xfrm>
            <a:off x="5167313" y="1538297"/>
            <a:ext cx="1925637"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0000"/>
              </a:lnSpc>
            </a:pPr>
            <a:r>
              <a:rPr lang="en-US" altLang="zh-CN" sz="1600"/>
              <a:t>cable headend</a:t>
            </a:r>
          </a:p>
        </p:txBody>
      </p:sp>
      <p:sp>
        <p:nvSpPr>
          <p:cNvPr id="250" name="Freeform 216"/>
          <p:cNvSpPr/>
          <p:nvPr/>
        </p:nvSpPr>
        <p:spPr bwMode="auto">
          <a:xfrm>
            <a:off x="5913438" y="2257435"/>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rgbClr val="FFFF99"/>
              </a:gs>
            </a:gsLst>
            <a:lin ang="0" scaled="1"/>
          </a:gradFill>
          <a:ln w="9525">
            <a:solidFill>
              <a:schemeClr val="tx1"/>
            </a:solidFill>
            <a:round/>
          </a:ln>
        </p:spPr>
        <p:txBody>
          <a:bodyPr/>
          <a:lstStyle/>
          <a:p>
            <a:endParaRPr lang="zh-CN" altLang="en-US"/>
          </a:p>
        </p:txBody>
      </p:sp>
      <p:sp>
        <p:nvSpPr>
          <p:cNvPr id="251" name="Freeform 217"/>
          <p:cNvSpPr/>
          <p:nvPr/>
        </p:nvSpPr>
        <p:spPr bwMode="auto">
          <a:xfrm>
            <a:off x="5915025" y="2192347"/>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FFFF99"/>
          </a:solidFill>
          <a:ln w="9525">
            <a:solidFill>
              <a:schemeClr val="tx1"/>
            </a:solidFill>
            <a:round/>
          </a:ln>
        </p:spPr>
        <p:txBody>
          <a:bodyPr/>
          <a:lstStyle/>
          <a:p>
            <a:endParaRPr lang="zh-CN" altLang="en-US"/>
          </a:p>
        </p:txBody>
      </p:sp>
      <p:sp>
        <p:nvSpPr>
          <p:cNvPr id="252" name="Line 218"/>
          <p:cNvSpPr>
            <a:spLocks noChangeShapeType="1"/>
          </p:cNvSpPr>
          <p:nvPr/>
        </p:nvSpPr>
        <p:spPr bwMode="auto">
          <a:xfrm flipH="1">
            <a:off x="6240463" y="2316172"/>
            <a:ext cx="34925" cy="68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3" name="Line 219"/>
          <p:cNvSpPr>
            <a:spLocks noChangeShapeType="1"/>
          </p:cNvSpPr>
          <p:nvPr/>
        </p:nvSpPr>
        <p:spPr bwMode="auto">
          <a:xfrm>
            <a:off x="5942013" y="2487622"/>
            <a:ext cx="2682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4" name="Freeform 220"/>
          <p:cNvSpPr/>
          <p:nvPr/>
        </p:nvSpPr>
        <p:spPr bwMode="auto">
          <a:xfrm>
            <a:off x="5935663" y="2311410"/>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5" name="Freeform 221"/>
          <p:cNvSpPr/>
          <p:nvPr/>
        </p:nvSpPr>
        <p:spPr bwMode="auto">
          <a:xfrm flipV="1">
            <a:off x="5935663" y="2547947"/>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 name="AutoShape 225"/>
          <p:cNvSpPr>
            <a:spLocks noChangeArrowheads="1"/>
          </p:cNvSpPr>
          <p:nvPr/>
        </p:nvSpPr>
        <p:spPr bwMode="auto">
          <a:xfrm>
            <a:off x="5516563" y="1811347"/>
            <a:ext cx="1206500" cy="261938"/>
          </a:xfrm>
          <a:prstGeom prst="triangle">
            <a:avLst>
              <a:gd name="adj" fmla="val 50000"/>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257" name="Group 37"/>
          <p:cNvGrpSpPr/>
          <p:nvPr/>
        </p:nvGrpSpPr>
        <p:grpSpPr bwMode="auto">
          <a:xfrm>
            <a:off x="3427413" y="3473460"/>
            <a:ext cx="2043112" cy="958850"/>
            <a:chOff x="2505" y="826"/>
            <a:chExt cx="1287" cy="604"/>
          </a:xfrm>
        </p:grpSpPr>
        <p:sp>
          <p:nvSpPr>
            <p:cNvPr id="258" name="Line 38"/>
            <p:cNvSpPr>
              <a:spLocks noChangeShapeType="1"/>
            </p:cNvSpPr>
            <p:nvPr/>
          </p:nvSpPr>
          <p:spPr bwMode="auto">
            <a:xfrm flipH="1">
              <a:off x="2505" y="1115"/>
              <a:ext cx="128" cy="29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9" name="Freeform 39"/>
            <p:cNvSpPr/>
            <p:nvPr/>
          </p:nvSpPr>
          <p:spPr bwMode="auto">
            <a:xfrm>
              <a:off x="2548" y="826"/>
              <a:ext cx="562" cy="266"/>
            </a:xfrm>
            <a:custGeom>
              <a:avLst/>
              <a:gdLst>
                <a:gd name="T0" fmla="*/ 4 w 562"/>
                <a:gd name="T1" fmla="*/ 264 h 266"/>
                <a:gd name="T2" fmla="*/ 52 w 562"/>
                <a:gd name="T3" fmla="*/ 6 h 266"/>
                <a:gd name="T4" fmla="*/ 108 w 562"/>
                <a:gd name="T5" fmla="*/ 266 h 266"/>
                <a:gd name="T6" fmla="*/ 174 w 562"/>
                <a:gd name="T7" fmla="*/ 0 h 266"/>
                <a:gd name="T8" fmla="*/ 228 w 562"/>
                <a:gd name="T9" fmla="*/ 264 h 266"/>
                <a:gd name="T10" fmla="*/ 288 w 562"/>
                <a:gd name="T11" fmla="*/ 8 h 266"/>
                <a:gd name="T12" fmla="*/ 354 w 562"/>
                <a:gd name="T13" fmla="*/ 266 h 266"/>
                <a:gd name="T14" fmla="*/ 402 w 562"/>
                <a:gd name="T15" fmla="*/ 8 h 266"/>
                <a:gd name="T16" fmla="*/ 464 w 562"/>
                <a:gd name="T17" fmla="*/ 264 h 266"/>
                <a:gd name="T18" fmla="*/ 506 w 562"/>
                <a:gd name="T19" fmla="*/ 6 h 266"/>
                <a:gd name="T20" fmla="*/ 556 w 562"/>
                <a:gd name="T21" fmla="*/ 26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266"/>
                <a:gd name="T35" fmla="*/ 562 w 562"/>
                <a:gd name="T36" fmla="*/ 266 h 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0" name="Freeform 40"/>
            <p:cNvSpPr/>
            <p:nvPr/>
          </p:nvSpPr>
          <p:spPr bwMode="auto">
            <a:xfrm>
              <a:off x="3523" y="830"/>
              <a:ext cx="269" cy="266"/>
            </a:xfrm>
            <a:custGeom>
              <a:avLst/>
              <a:gdLst>
                <a:gd name="T0" fmla="*/ 0 w 562"/>
                <a:gd name="T1" fmla="*/ 264 h 266"/>
                <a:gd name="T2" fmla="*/ 0 w 562"/>
                <a:gd name="T3" fmla="*/ 6 h 266"/>
                <a:gd name="T4" fmla="*/ 0 w 562"/>
                <a:gd name="T5" fmla="*/ 266 h 266"/>
                <a:gd name="T6" fmla="*/ 0 w 562"/>
                <a:gd name="T7" fmla="*/ 0 h 266"/>
                <a:gd name="T8" fmla="*/ 0 w 562"/>
                <a:gd name="T9" fmla="*/ 264 h 266"/>
                <a:gd name="T10" fmla="*/ 0 w 562"/>
                <a:gd name="T11" fmla="*/ 8 h 266"/>
                <a:gd name="T12" fmla="*/ 0 w 562"/>
                <a:gd name="T13" fmla="*/ 266 h 266"/>
                <a:gd name="T14" fmla="*/ 0 w 562"/>
                <a:gd name="T15" fmla="*/ 8 h 266"/>
                <a:gd name="T16" fmla="*/ 0 w 562"/>
                <a:gd name="T17" fmla="*/ 264 h 266"/>
                <a:gd name="T18" fmla="*/ 0 w 562"/>
                <a:gd name="T19" fmla="*/ 6 h 266"/>
                <a:gd name="T20" fmla="*/ 0 w 562"/>
                <a:gd name="T21" fmla="*/ 26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266"/>
                <a:gd name="T35" fmla="*/ 562 w 562"/>
                <a:gd name="T36" fmla="*/ 266 h 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1" name="Line 41"/>
            <p:cNvSpPr>
              <a:spLocks noChangeShapeType="1"/>
            </p:cNvSpPr>
            <p:nvPr/>
          </p:nvSpPr>
          <p:spPr bwMode="auto">
            <a:xfrm flipH="1">
              <a:off x="3433" y="1137"/>
              <a:ext cx="128" cy="29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62" name="Group 42"/>
          <p:cNvGrpSpPr/>
          <p:nvPr/>
        </p:nvGrpSpPr>
        <p:grpSpPr bwMode="auto">
          <a:xfrm>
            <a:off x="2717800" y="3630622"/>
            <a:ext cx="3544888" cy="1846263"/>
            <a:chOff x="2606" y="951"/>
            <a:chExt cx="2233" cy="1163"/>
          </a:xfrm>
        </p:grpSpPr>
        <p:sp>
          <p:nvSpPr>
            <p:cNvPr id="263" name="Text Box 43"/>
            <p:cNvSpPr txBox="1">
              <a:spLocks noChangeArrowheads="1"/>
            </p:cNvSpPr>
            <p:nvPr/>
          </p:nvSpPr>
          <p:spPr bwMode="auto">
            <a:xfrm>
              <a:off x="4464" y="1892"/>
              <a:ext cx="37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1600" dirty="0">
                  <a:latin typeface="宋体" panose="02010600030101010101" pitchFamily="2" charset="-122"/>
                  <a:ea typeface="宋体" panose="02010600030101010101" pitchFamily="2" charset="-122"/>
                </a:rPr>
                <a:t>通道</a:t>
              </a:r>
              <a:endParaRPr lang="en-US" altLang="zh-CN" sz="1600" dirty="0">
                <a:latin typeface="宋体" panose="02010600030101010101" pitchFamily="2" charset="-122"/>
                <a:ea typeface="宋体" panose="02010600030101010101" pitchFamily="2" charset="-122"/>
              </a:endParaRPr>
            </a:p>
          </p:txBody>
        </p:sp>
        <p:sp>
          <p:nvSpPr>
            <p:cNvPr id="264" name="Line 44"/>
            <p:cNvSpPr>
              <a:spLocks noChangeShapeType="1"/>
            </p:cNvSpPr>
            <p:nvPr/>
          </p:nvSpPr>
          <p:spPr bwMode="auto">
            <a:xfrm>
              <a:off x="2994" y="951"/>
              <a:ext cx="0" cy="97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5" name="Line 45"/>
            <p:cNvSpPr>
              <a:spLocks noChangeShapeType="1"/>
            </p:cNvSpPr>
            <p:nvPr/>
          </p:nvSpPr>
          <p:spPr bwMode="auto">
            <a:xfrm flipV="1">
              <a:off x="2988" y="1935"/>
              <a:ext cx="14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 name="Text Box 46"/>
            <p:cNvSpPr txBox="1">
              <a:spLocks noChangeArrowheads="1"/>
            </p:cNvSpPr>
            <p:nvPr/>
          </p:nvSpPr>
          <p:spPr bwMode="auto">
            <a:xfrm>
              <a:off x="2978"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V</a:t>
              </a:r>
            </a:p>
            <a:p>
              <a:pPr algn="ctr" eaLnBrk="1" hangingPunct="1"/>
              <a:r>
                <a:rPr lang="en-US" altLang="zh-CN" sz="1000"/>
                <a:t>I</a:t>
              </a:r>
            </a:p>
            <a:p>
              <a:pPr algn="ctr" eaLnBrk="1" hangingPunct="1"/>
              <a:r>
                <a:rPr lang="en-US" altLang="zh-CN" sz="1000"/>
                <a:t>D</a:t>
              </a:r>
            </a:p>
            <a:p>
              <a:pPr algn="ctr" eaLnBrk="1" hangingPunct="1"/>
              <a:r>
                <a:rPr lang="en-US" altLang="zh-CN" sz="1000"/>
                <a:t>E</a:t>
              </a:r>
            </a:p>
            <a:p>
              <a:pPr algn="ctr" eaLnBrk="1" hangingPunct="1"/>
              <a:r>
                <a:rPr lang="en-US" altLang="zh-CN" sz="1000"/>
                <a:t>O</a:t>
              </a:r>
            </a:p>
          </p:txBody>
        </p:sp>
        <p:sp>
          <p:nvSpPr>
            <p:cNvPr id="267" name="Line 47"/>
            <p:cNvSpPr>
              <a:spLocks noChangeShapeType="1"/>
            </p:cNvSpPr>
            <p:nvPr/>
          </p:nvSpPr>
          <p:spPr bwMode="auto">
            <a:xfrm>
              <a:off x="3150" y="1863"/>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 name="Text Box 48"/>
            <p:cNvSpPr txBox="1">
              <a:spLocks noChangeArrowheads="1"/>
            </p:cNvSpPr>
            <p:nvPr/>
          </p:nvSpPr>
          <p:spPr bwMode="auto">
            <a:xfrm>
              <a:off x="3152"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V</a:t>
              </a:r>
            </a:p>
            <a:p>
              <a:pPr algn="ctr" eaLnBrk="1" hangingPunct="1"/>
              <a:r>
                <a:rPr lang="en-US" altLang="zh-CN" sz="1000"/>
                <a:t>I</a:t>
              </a:r>
            </a:p>
            <a:p>
              <a:pPr algn="ctr" eaLnBrk="1" hangingPunct="1"/>
              <a:r>
                <a:rPr lang="en-US" altLang="zh-CN" sz="1000"/>
                <a:t>D</a:t>
              </a:r>
            </a:p>
            <a:p>
              <a:pPr algn="ctr" eaLnBrk="1" hangingPunct="1"/>
              <a:r>
                <a:rPr lang="en-US" altLang="zh-CN" sz="1000"/>
                <a:t>E</a:t>
              </a:r>
            </a:p>
            <a:p>
              <a:pPr algn="ctr" eaLnBrk="1" hangingPunct="1"/>
              <a:r>
                <a:rPr lang="en-US" altLang="zh-CN" sz="1000"/>
                <a:t>O</a:t>
              </a:r>
            </a:p>
          </p:txBody>
        </p:sp>
        <p:sp>
          <p:nvSpPr>
            <p:cNvPr id="269" name="Text Box 49"/>
            <p:cNvSpPr txBox="1">
              <a:spLocks noChangeArrowheads="1"/>
            </p:cNvSpPr>
            <p:nvPr/>
          </p:nvSpPr>
          <p:spPr bwMode="auto">
            <a:xfrm>
              <a:off x="3338"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V</a:t>
              </a:r>
            </a:p>
            <a:p>
              <a:pPr algn="ctr" eaLnBrk="1" hangingPunct="1"/>
              <a:r>
                <a:rPr lang="en-US" altLang="zh-CN" sz="1000"/>
                <a:t>I</a:t>
              </a:r>
            </a:p>
            <a:p>
              <a:pPr algn="ctr" eaLnBrk="1" hangingPunct="1"/>
              <a:r>
                <a:rPr lang="en-US" altLang="zh-CN" sz="1000"/>
                <a:t>D</a:t>
              </a:r>
            </a:p>
            <a:p>
              <a:pPr algn="ctr" eaLnBrk="1" hangingPunct="1"/>
              <a:r>
                <a:rPr lang="en-US" altLang="zh-CN" sz="1000"/>
                <a:t>E</a:t>
              </a:r>
            </a:p>
            <a:p>
              <a:pPr algn="ctr" eaLnBrk="1" hangingPunct="1"/>
              <a:r>
                <a:rPr lang="en-US" altLang="zh-CN" sz="1000"/>
                <a:t>O</a:t>
              </a:r>
            </a:p>
          </p:txBody>
        </p:sp>
        <p:sp>
          <p:nvSpPr>
            <p:cNvPr id="270" name="Text Box 50"/>
            <p:cNvSpPr txBox="1">
              <a:spLocks noChangeArrowheads="1"/>
            </p:cNvSpPr>
            <p:nvPr/>
          </p:nvSpPr>
          <p:spPr bwMode="auto">
            <a:xfrm>
              <a:off x="3524"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V</a:t>
              </a:r>
            </a:p>
            <a:p>
              <a:pPr algn="ctr" eaLnBrk="1" hangingPunct="1"/>
              <a:r>
                <a:rPr lang="en-US" altLang="zh-CN" sz="1000"/>
                <a:t>I</a:t>
              </a:r>
            </a:p>
            <a:p>
              <a:pPr algn="ctr" eaLnBrk="1" hangingPunct="1"/>
              <a:r>
                <a:rPr lang="en-US" altLang="zh-CN" sz="1000"/>
                <a:t>D</a:t>
              </a:r>
            </a:p>
            <a:p>
              <a:pPr algn="ctr" eaLnBrk="1" hangingPunct="1"/>
              <a:r>
                <a:rPr lang="en-US" altLang="zh-CN" sz="1000"/>
                <a:t>E</a:t>
              </a:r>
            </a:p>
            <a:p>
              <a:pPr algn="ctr" eaLnBrk="1" hangingPunct="1"/>
              <a:r>
                <a:rPr lang="en-US" altLang="zh-CN" sz="1000"/>
                <a:t>O</a:t>
              </a:r>
            </a:p>
          </p:txBody>
        </p:sp>
        <p:sp>
          <p:nvSpPr>
            <p:cNvPr id="271" name="Text Box 51"/>
            <p:cNvSpPr txBox="1">
              <a:spLocks noChangeArrowheads="1"/>
            </p:cNvSpPr>
            <p:nvPr/>
          </p:nvSpPr>
          <p:spPr bwMode="auto">
            <a:xfrm>
              <a:off x="3710"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V</a:t>
              </a:r>
            </a:p>
            <a:p>
              <a:pPr algn="ctr" eaLnBrk="1" hangingPunct="1"/>
              <a:r>
                <a:rPr lang="en-US" altLang="zh-CN" sz="1000"/>
                <a:t>I</a:t>
              </a:r>
            </a:p>
            <a:p>
              <a:pPr algn="ctr" eaLnBrk="1" hangingPunct="1"/>
              <a:r>
                <a:rPr lang="en-US" altLang="zh-CN" sz="1000"/>
                <a:t>D</a:t>
              </a:r>
            </a:p>
            <a:p>
              <a:pPr algn="ctr" eaLnBrk="1" hangingPunct="1"/>
              <a:r>
                <a:rPr lang="en-US" altLang="zh-CN" sz="1000"/>
                <a:t>E</a:t>
              </a:r>
            </a:p>
            <a:p>
              <a:pPr algn="ctr" eaLnBrk="1" hangingPunct="1"/>
              <a:r>
                <a:rPr lang="en-US" altLang="zh-CN" sz="1000"/>
                <a:t>O</a:t>
              </a:r>
            </a:p>
          </p:txBody>
        </p:sp>
        <p:sp>
          <p:nvSpPr>
            <p:cNvPr id="272" name="Text Box 52"/>
            <p:cNvSpPr txBox="1">
              <a:spLocks noChangeArrowheads="1"/>
            </p:cNvSpPr>
            <p:nvPr/>
          </p:nvSpPr>
          <p:spPr bwMode="auto">
            <a:xfrm>
              <a:off x="3896"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V</a:t>
              </a:r>
            </a:p>
            <a:p>
              <a:pPr algn="ctr" eaLnBrk="1" hangingPunct="1"/>
              <a:r>
                <a:rPr lang="en-US" altLang="zh-CN" sz="1000"/>
                <a:t>I</a:t>
              </a:r>
            </a:p>
            <a:p>
              <a:pPr algn="ctr" eaLnBrk="1" hangingPunct="1"/>
              <a:r>
                <a:rPr lang="en-US" altLang="zh-CN" sz="1000"/>
                <a:t>D</a:t>
              </a:r>
            </a:p>
            <a:p>
              <a:pPr algn="ctr" eaLnBrk="1" hangingPunct="1"/>
              <a:r>
                <a:rPr lang="en-US" altLang="zh-CN" sz="1000"/>
                <a:t>E</a:t>
              </a:r>
            </a:p>
            <a:p>
              <a:pPr algn="ctr" eaLnBrk="1" hangingPunct="1"/>
              <a:r>
                <a:rPr lang="en-US" altLang="zh-CN" sz="1000"/>
                <a:t>O</a:t>
              </a:r>
            </a:p>
          </p:txBody>
        </p:sp>
        <p:sp>
          <p:nvSpPr>
            <p:cNvPr id="273" name="Text Box 53"/>
            <p:cNvSpPr txBox="1">
              <a:spLocks noChangeArrowheads="1"/>
            </p:cNvSpPr>
            <p:nvPr/>
          </p:nvSpPr>
          <p:spPr bwMode="auto">
            <a:xfrm>
              <a:off x="4058" y="1402"/>
              <a:ext cx="17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en-US" altLang="zh-CN" sz="1000"/>
            </a:p>
            <a:p>
              <a:pPr algn="ctr" eaLnBrk="1" hangingPunct="1"/>
              <a:r>
                <a:rPr lang="en-US" altLang="zh-CN" sz="1000"/>
                <a:t>D</a:t>
              </a:r>
            </a:p>
            <a:p>
              <a:pPr algn="ctr" eaLnBrk="1" hangingPunct="1"/>
              <a:r>
                <a:rPr lang="en-US" altLang="zh-CN" sz="1000"/>
                <a:t>A</a:t>
              </a:r>
            </a:p>
            <a:p>
              <a:pPr algn="ctr" eaLnBrk="1" hangingPunct="1"/>
              <a:r>
                <a:rPr lang="en-US" altLang="zh-CN" sz="1000"/>
                <a:t>T</a:t>
              </a:r>
            </a:p>
            <a:p>
              <a:pPr algn="ctr" eaLnBrk="1" hangingPunct="1"/>
              <a:r>
                <a:rPr lang="en-US" altLang="zh-CN" sz="1000"/>
                <a:t>A</a:t>
              </a:r>
            </a:p>
          </p:txBody>
        </p:sp>
        <p:sp>
          <p:nvSpPr>
            <p:cNvPr id="274" name="Text Box 54"/>
            <p:cNvSpPr txBox="1">
              <a:spLocks noChangeArrowheads="1"/>
            </p:cNvSpPr>
            <p:nvPr/>
          </p:nvSpPr>
          <p:spPr bwMode="auto">
            <a:xfrm>
              <a:off x="4202" y="1402"/>
              <a:ext cx="17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en-US" altLang="zh-CN" sz="1000"/>
            </a:p>
            <a:p>
              <a:pPr algn="ctr" eaLnBrk="1" hangingPunct="1"/>
              <a:r>
                <a:rPr lang="en-US" altLang="zh-CN" sz="1000"/>
                <a:t>D</a:t>
              </a:r>
            </a:p>
            <a:p>
              <a:pPr algn="ctr" eaLnBrk="1" hangingPunct="1"/>
              <a:r>
                <a:rPr lang="en-US" altLang="zh-CN" sz="1000"/>
                <a:t>A</a:t>
              </a:r>
            </a:p>
            <a:p>
              <a:pPr algn="ctr" eaLnBrk="1" hangingPunct="1"/>
              <a:r>
                <a:rPr lang="en-US" altLang="zh-CN" sz="1000"/>
                <a:t>T</a:t>
              </a:r>
            </a:p>
            <a:p>
              <a:pPr algn="ctr" eaLnBrk="1" hangingPunct="1"/>
              <a:r>
                <a:rPr lang="en-US" altLang="zh-CN" sz="1000"/>
                <a:t>A</a:t>
              </a:r>
            </a:p>
          </p:txBody>
        </p:sp>
        <p:sp>
          <p:nvSpPr>
            <p:cNvPr id="275" name="Text Box 55"/>
            <p:cNvSpPr txBox="1">
              <a:spLocks noChangeArrowheads="1"/>
            </p:cNvSpPr>
            <p:nvPr/>
          </p:nvSpPr>
          <p:spPr bwMode="auto">
            <a:xfrm>
              <a:off x="4330" y="1114"/>
              <a:ext cx="178"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en-US" altLang="zh-CN" sz="1000"/>
            </a:p>
            <a:p>
              <a:pPr algn="ctr" eaLnBrk="1" hangingPunct="1"/>
              <a:r>
                <a:rPr lang="en-US" altLang="zh-CN" sz="1000"/>
                <a:t>C</a:t>
              </a:r>
            </a:p>
            <a:p>
              <a:pPr algn="ctr" eaLnBrk="1" hangingPunct="1"/>
              <a:r>
                <a:rPr lang="en-US" altLang="zh-CN" sz="1000"/>
                <a:t>O</a:t>
              </a:r>
            </a:p>
            <a:p>
              <a:pPr algn="ctr" eaLnBrk="1" hangingPunct="1"/>
              <a:r>
                <a:rPr lang="en-US" altLang="zh-CN" sz="1000"/>
                <a:t>N</a:t>
              </a:r>
            </a:p>
            <a:p>
              <a:pPr algn="ctr" eaLnBrk="1" hangingPunct="1"/>
              <a:r>
                <a:rPr lang="en-US" altLang="zh-CN" sz="1000"/>
                <a:t>T</a:t>
              </a:r>
            </a:p>
            <a:p>
              <a:pPr algn="ctr" eaLnBrk="1" hangingPunct="1"/>
              <a:r>
                <a:rPr lang="en-US" altLang="zh-CN" sz="1000"/>
                <a:t>R</a:t>
              </a:r>
            </a:p>
            <a:p>
              <a:pPr algn="ctr" eaLnBrk="1" hangingPunct="1"/>
              <a:r>
                <a:rPr lang="en-US" altLang="zh-CN" sz="1000"/>
                <a:t>O</a:t>
              </a:r>
            </a:p>
            <a:p>
              <a:pPr algn="ctr" eaLnBrk="1" hangingPunct="1"/>
              <a:r>
                <a:rPr lang="en-US" altLang="zh-CN" sz="1000"/>
                <a:t>L</a:t>
              </a:r>
            </a:p>
          </p:txBody>
        </p:sp>
        <p:sp>
          <p:nvSpPr>
            <p:cNvPr id="276" name="Line 56"/>
            <p:cNvSpPr>
              <a:spLocks noChangeShapeType="1"/>
            </p:cNvSpPr>
            <p:nvPr/>
          </p:nvSpPr>
          <p:spPr bwMode="auto">
            <a:xfrm>
              <a:off x="3334" y="1863"/>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 name="Line 57"/>
            <p:cNvSpPr>
              <a:spLocks noChangeShapeType="1"/>
            </p:cNvSpPr>
            <p:nvPr/>
          </p:nvSpPr>
          <p:spPr bwMode="auto">
            <a:xfrm>
              <a:off x="3514" y="1863"/>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8" name="Line 58"/>
            <p:cNvSpPr>
              <a:spLocks noChangeShapeType="1"/>
            </p:cNvSpPr>
            <p:nvPr/>
          </p:nvSpPr>
          <p:spPr bwMode="auto">
            <a:xfrm>
              <a:off x="3698" y="1863"/>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9" name="Line 59"/>
            <p:cNvSpPr>
              <a:spLocks noChangeShapeType="1"/>
            </p:cNvSpPr>
            <p:nvPr/>
          </p:nvSpPr>
          <p:spPr bwMode="auto">
            <a:xfrm>
              <a:off x="3886" y="1863"/>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0" name="Line 60"/>
            <p:cNvSpPr>
              <a:spLocks noChangeShapeType="1"/>
            </p:cNvSpPr>
            <p:nvPr/>
          </p:nvSpPr>
          <p:spPr bwMode="auto">
            <a:xfrm>
              <a:off x="4062" y="1871"/>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1" name="Line 61"/>
            <p:cNvSpPr>
              <a:spLocks noChangeShapeType="1"/>
            </p:cNvSpPr>
            <p:nvPr/>
          </p:nvSpPr>
          <p:spPr bwMode="auto">
            <a:xfrm>
              <a:off x="4218" y="1867"/>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2" name="Line 62"/>
            <p:cNvSpPr>
              <a:spLocks noChangeShapeType="1"/>
            </p:cNvSpPr>
            <p:nvPr/>
          </p:nvSpPr>
          <p:spPr bwMode="auto">
            <a:xfrm>
              <a:off x="4362" y="1859"/>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3" name="Text Box 63"/>
            <p:cNvSpPr txBox="1">
              <a:spLocks noChangeArrowheads="1"/>
            </p:cNvSpPr>
            <p:nvPr/>
          </p:nvSpPr>
          <p:spPr bwMode="auto">
            <a:xfrm>
              <a:off x="2985"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1</a:t>
              </a:r>
            </a:p>
          </p:txBody>
        </p:sp>
        <p:sp>
          <p:nvSpPr>
            <p:cNvPr id="284" name="Text Box 64"/>
            <p:cNvSpPr txBox="1">
              <a:spLocks noChangeArrowheads="1"/>
            </p:cNvSpPr>
            <p:nvPr/>
          </p:nvSpPr>
          <p:spPr bwMode="auto">
            <a:xfrm>
              <a:off x="3153"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2</a:t>
              </a:r>
            </a:p>
          </p:txBody>
        </p:sp>
        <p:sp>
          <p:nvSpPr>
            <p:cNvPr id="285" name="Text Box 65"/>
            <p:cNvSpPr txBox="1">
              <a:spLocks noChangeArrowheads="1"/>
            </p:cNvSpPr>
            <p:nvPr/>
          </p:nvSpPr>
          <p:spPr bwMode="auto">
            <a:xfrm>
              <a:off x="3345"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3</a:t>
              </a:r>
            </a:p>
          </p:txBody>
        </p:sp>
        <p:sp>
          <p:nvSpPr>
            <p:cNvPr id="286" name="Text Box 66"/>
            <p:cNvSpPr txBox="1">
              <a:spLocks noChangeArrowheads="1"/>
            </p:cNvSpPr>
            <p:nvPr/>
          </p:nvSpPr>
          <p:spPr bwMode="auto">
            <a:xfrm>
              <a:off x="3517"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4</a:t>
              </a:r>
            </a:p>
          </p:txBody>
        </p:sp>
        <p:sp>
          <p:nvSpPr>
            <p:cNvPr id="287" name="Text Box 67"/>
            <p:cNvSpPr txBox="1">
              <a:spLocks noChangeArrowheads="1"/>
            </p:cNvSpPr>
            <p:nvPr/>
          </p:nvSpPr>
          <p:spPr bwMode="auto">
            <a:xfrm>
              <a:off x="3705"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5</a:t>
              </a:r>
            </a:p>
          </p:txBody>
        </p:sp>
        <p:sp>
          <p:nvSpPr>
            <p:cNvPr id="288" name="Text Box 68"/>
            <p:cNvSpPr txBox="1">
              <a:spLocks noChangeArrowheads="1"/>
            </p:cNvSpPr>
            <p:nvPr/>
          </p:nvSpPr>
          <p:spPr bwMode="auto">
            <a:xfrm>
              <a:off x="3893"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6</a:t>
              </a:r>
            </a:p>
          </p:txBody>
        </p:sp>
        <p:sp>
          <p:nvSpPr>
            <p:cNvPr id="289" name="Text Box 69"/>
            <p:cNvSpPr txBox="1">
              <a:spLocks noChangeArrowheads="1"/>
            </p:cNvSpPr>
            <p:nvPr/>
          </p:nvSpPr>
          <p:spPr bwMode="auto">
            <a:xfrm>
              <a:off x="4057"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7</a:t>
              </a:r>
            </a:p>
          </p:txBody>
        </p:sp>
        <p:sp>
          <p:nvSpPr>
            <p:cNvPr id="290" name="Text Box 70"/>
            <p:cNvSpPr txBox="1">
              <a:spLocks noChangeArrowheads="1"/>
            </p:cNvSpPr>
            <p:nvPr/>
          </p:nvSpPr>
          <p:spPr bwMode="auto">
            <a:xfrm>
              <a:off x="4205"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8</a:t>
              </a:r>
            </a:p>
          </p:txBody>
        </p:sp>
        <p:sp>
          <p:nvSpPr>
            <p:cNvPr id="291" name="Text Box 71"/>
            <p:cNvSpPr txBox="1">
              <a:spLocks noChangeArrowheads="1"/>
            </p:cNvSpPr>
            <p:nvPr/>
          </p:nvSpPr>
          <p:spPr bwMode="auto">
            <a:xfrm>
              <a:off x="4349"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1000"/>
                <a:t>9</a:t>
              </a:r>
            </a:p>
          </p:txBody>
        </p:sp>
        <p:sp>
          <p:nvSpPr>
            <p:cNvPr id="292" name="Freeform 72"/>
            <p:cNvSpPr/>
            <p:nvPr/>
          </p:nvSpPr>
          <p:spPr bwMode="auto">
            <a:xfrm>
              <a:off x="2606" y="969"/>
              <a:ext cx="375" cy="969"/>
            </a:xfrm>
            <a:custGeom>
              <a:avLst/>
              <a:gdLst>
                <a:gd name="T0" fmla="*/ 375 w 375"/>
                <a:gd name="T1" fmla="*/ 0 h 969"/>
                <a:gd name="T2" fmla="*/ 0 w 375"/>
                <a:gd name="T3" fmla="*/ 485 h 969"/>
                <a:gd name="T4" fmla="*/ 375 w 375"/>
                <a:gd name="T5" fmla="*/ 969 h 969"/>
                <a:gd name="T6" fmla="*/ 375 w 375"/>
                <a:gd name="T7" fmla="*/ 0 h 969"/>
                <a:gd name="T8" fmla="*/ 0 60000 65536"/>
                <a:gd name="T9" fmla="*/ 0 60000 65536"/>
                <a:gd name="T10" fmla="*/ 0 60000 65536"/>
                <a:gd name="T11" fmla="*/ 0 60000 65536"/>
                <a:gd name="T12" fmla="*/ 0 w 375"/>
                <a:gd name="T13" fmla="*/ 0 h 969"/>
                <a:gd name="T14" fmla="*/ 375 w 375"/>
                <a:gd name="T15" fmla="*/ 969 h 969"/>
              </a:gdLst>
              <a:ahLst/>
              <a:cxnLst>
                <a:cxn ang="T8">
                  <a:pos x="T0" y="T1"/>
                </a:cxn>
                <a:cxn ang="T9">
                  <a:pos x="T2" y="T3"/>
                </a:cxn>
                <a:cxn ang="T10">
                  <a:pos x="T4" y="T5"/>
                </a:cxn>
                <a:cxn ang="T11">
                  <a:pos x="T6" y="T7"/>
                </a:cxn>
              </a:cxnLst>
              <a:rect l="T12" t="T13" r="T14" b="T15"/>
              <a:pathLst>
                <a:path w="375" h="969">
                  <a:moveTo>
                    <a:pt x="375" y="0"/>
                  </a:moveTo>
                  <a:lnTo>
                    <a:pt x="0" y="485"/>
                  </a:lnTo>
                  <a:lnTo>
                    <a:pt x="375" y="969"/>
                  </a:lnTo>
                  <a:lnTo>
                    <a:pt x="375" y="0"/>
                  </a:lnTo>
                  <a:close/>
                </a:path>
              </a:pathLst>
            </a:custGeom>
            <a:gradFill rotWithShape="1">
              <a:gsLst>
                <a:gs pos="0">
                  <a:schemeClr val="tx1"/>
                </a:gs>
                <a:gs pos="100000">
                  <a:schemeClr val="bg1"/>
                </a:gs>
              </a:gsLst>
              <a:lin ang="0" scaled="1"/>
            </a:gradFill>
            <a:ln>
              <a:noFill/>
            </a:ln>
            <a:extLst>
              <a:ext uri="{91240B29-F687-4F45-9708-019B960494DF}">
                <a14:hiddenLine xmlns:a14="http://schemas.microsoft.com/office/drawing/2010/main" w="3175">
                  <a:solidFill>
                    <a:srgbClr val="000000"/>
                  </a:solidFill>
                  <a:round/>
                </a14:hiddenLine>
              </a:ext>
            </a:extLst>
          </p:spPr>
          <p:txBody>
            <a:bodyPr/>
            <a:lstStyle/>
            <a:p>
              <a:endParaRPr lang="zh-CN" altLang="en-US"/>
            </a:p>
          </p:txBody>
        </p:sp>
      </p:grpSp>
      <p:grpSp>
        <p:nvGrpSpPr>
          <p:cNvPr id="293" name="Group 73"/>
          <p:cNvGrpSpPr/>
          <p:nvPr/>
        </p:nvGrpSpPr>
        <p:grpSpPr bwMode="auto">
          <a:xfrm flipV="1">
            <a:off x="1049338" y="2525722"/>
            <a:ext cx="1666875" cy="2062163"/>
            <a:chOff x="1511" y="1371"/>
            <a:chExt cx="1050" cy="1299"/>
          </a:xfrm>
        </p:grpSpPr>
        <p:grpSp>
          <p:nvGrpSpPr>
            <p:cNvPr id="294" name="Group 74"/>
            <p:cNvGrpSpPr/>
            <p:nvPr/>
          </p:nvGrpSpPr>
          <p:grpSpPr bwMode="auto">
            <a:xfrm>
              <a:off x="1511" y="1371"/>
              <a:ext cx="1050" cy="198"/>
              <a:chOff x="1614" y="1494"/>
              <a:chExt cx="1050" cy="198"/>
            </a:xfrm>
          </p:grpSpPr>
          <p:sp>
            <p:nvSpPr>
              <p:cNvPr id="296" name="Rectangle 75"/>
              <p:cNvSpPr>
                <a:spLocks noChangeArrowheads="1"/>
              </p:cNvSpPr>
              <p:nvPr/>
            </p:nvSpPr>
            <p:spPr bwMode="auto">
              <a:xfrm>
                <a:off x="2358" y="1500"/>
                <a:ext cx="168" cy="174"/>
              </a:xfrm>
              <a:prstGeom prst="rect">
                <a:avLst/>
              </a:prstGeom>
              <a:solidFill>
                <a:schemeClr val="bg1"/>
              </a:solidFill>
              <a:ln w="9525">
                <a:solidFill>
                  <a:schemeClr val="tx1"/>
                </a:solidFill>
                <a:miter lim="800000"/>
              </a:ln>
            </p:spPr>
            <p:txBody>
              <a:bodyPr rot="10800000"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297" name="Freeform 76"/>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 name="T21" fmla="*/ 0 w 896"/>
                  <a:gd name="T22" fmla="*/ 0 h 198"/>
                  <a:gd name="T23" fmla="*/ 896 w 896"/>
                  <a:gd name="T24" fmla="*/ 198 h 1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chemeClr val="tx1"/>
                  </a:gs>
                  <a:gs pos="50000">
                    <a:schemeClr val="bg1"/>
                  </a:gs>
                  <a:gs pos="100000">
                    <a:schemeClr val="tx1"/>
                  </a:gs>
                </a:gsLst>
                <a:lin ang="5400000" scaled="1"/>
              </a:gradFill>
              <a:ln w="9525">
                <a:solidFill>
                  <a:schemeClr val="tx1"/>
                </a:solidFill>
                <a:round/>
              </a:ln>
            </p:spPr>
            <p:txBody>
              <a:bodyPr rot="10800000"/>
              <a:lstStyle/>
              <a:p>
                <a:pPr>
                  <a:defRPr/>
                </a:pPr>
                <a:endParaRPr lang="en-US" dirty="0">
                  <a:latin typeface="Times New Roman" panose="02020603050405020304" pitchFamily="18" charset="0"/>
                  <a:ea typeface="+mn-ea"/>
                </a:endParaRPr>
              </a:p>
            </p:txBody>
          </p:sp>
          <p:sp>
            <p:nvSpPr>
              <p:cNvPr id="298" name="Oval 77"/>
              <p:cNvSpPr>
                <a:spLocks noChangeArrowheads="1"/>
              </p:cNvSpPr>
              <p:nvPr/>
            </p:nvSpPr>
            <p:spPr bwMode="auto">
              <a:xfrm>
                <a:off x="2502" y="1506"/>
                <a:ext cx="62" cy="168"/>
              </a:xfrm>
              <a:prstGeom prst="ellipse">
                <a:avLst/>
              </a:prstGeom>
              <a:solidFill>
                <a:schemeClr val="bg1"/>
              </a:solidFill>
              <a:ln w="9525">
                <a:solidFill>
                  <a:schemeClr val="tx1"/>
                </a:solidFill>
                <a:round/>
              </a:ln>
            </p:spPr>
            <p:txBody>
              <a:bodyPr rot="10800000"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299" name="Line 78"/>
              <p:cNvSpPr>
                <a:spLocks noChangeShapeType="1"/>
              </p:cNvSpPr>
              <p:nvPr/>
            </p:nvSpPr>
            <p:spPr bwMode="auto">
              <a:xfrm>
                <a:off x="2526" y="1584"/>
                <a:ext cx="13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5" name="Freeform 79"/>
            <p:cNvSpPr/>
            <p:nvPr/>
          </p:nvSpPr>
          <p:spPr bwMode="auto">
            <a:xfrm>
              <a:off x="1536" y="1563"/>
              <a:ext cx="1015" cy="1107"/>
            </a:xfrm>
            <a:custGeom>
              <a:avLst/>
              <a:gdLst>
                <a:gd name="T0" fmla="*/ 1015 w 1015"/>
                <a:gd name="T1" fmla="*/ 1107 h 1107"/>
                <a:gd name="T2" fmla="*/ 0 w 1015"/>
                <a:gd name="T3" fmla="*/ 0 h 1107"/>
                <a:gd name="T4" fmla="*/ 905 w 1015"/>
                <a:gd name="T5" fmla="*/ 0 h 1107"/>
                <a:gd name="T6" fmla="*/ 1015 w 1015"/>
                <a:gd name="T7" fmla="*/ 1107 h 1107"/>
                <a:gd name="T8" fmla="*/ 0 60000 65536"/>
                <a:gd name="T9" fmla="*/ 0 60000 65536"/>
                <a:gd name="T10" fmla="*/ 0 60000 65536"/>
                <a:gd name="T11" fmla="*/ 0 60000 65536"/>
                <a:gd name="T12" fmla="*/ 0 w 1015"/>
                <a:gd name="T13" fmla="*/ 0 h 1107"/>
                <a:gd name="T14" fmla="*/ 1015 w 1015"/>
                <a:gd name="T15" fmla="*/ 1107 h 1107"/>
              </a:gdLst>
              <a:ahLst/>
              <a:cxnLst>
                <a:cxn ang="T8">
                  <a:pos x="T0" y="T1"/>
                </a:cxn>
                <a:cxn ang="T9">
                  <a:pos x="T2" y="T3"/>
                </a:cxn>
                <a:cxn ang="T10">
                  <a:pos x="T4" y="T5"/>
                </a:cxn>
                <a:cxn ang="T11">
                  <a:pos x="T6" y="T7"/>
                </a:cxn>
              </a:cxnLst>
              <a:rect l="T12" t="T13" r="T14" b="T15"/>
              <a:pathLst>
                <a:path w="1015" h="1107">
                  <a:moveTo>
                    <a:pt x="1015" y="1107"/>
                  </a:moveTo>
                  <a:lnTo>
                    <a:pt x="0" y="0"/>
                  </a:lnTo>
                  <a:lnTo>
                    <a:pt x="905" y="0"/>
                  </a:lnTo>
                  <a:lnTo>
                    <a:pt x="1015" y="1107"/>
                  </a:lnTo>
                  <a:close/>
                </a:path>
              </a:pathLst>
            </a:custGeom>
            <a:gradFill rotWithShape="1">
              <a:gsLst>
                <a:gs pos="0">
                  <a:schemeClr val="bg1"/>
                </a:gs>
                <a:gs pos="100000">
                  <a:schemeClr val="tx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rot="10800000"/>
            <a:lstStyle/>
            <a:p>
              <a:endParaRPr lang="zh-CN" altLang="en-US"/>
            </a:p>
          </p:txBody>
        </p:sp>
      </p:grpSp>
      <p:grpSp>
        <p:nvGrpSpPr>
          <p:cNvPr id="300" name="Group 326"/>
          <p:cNvGrpSpPr/>
          <p:nvPr/>
        </p:nvGrpSpPr>
        <p:grpSpPr bwMode="auto">
          <a:xfrm>
            <a:off x="569913" y="2216160"/>
            <a:ext cx="609600" cy="609600"/>
            <a:chOff x="-44" y="1473"/>
            <a:chExt cx="981" cy="1105"/>
          </a:xfrm>
        </p:grpSpPr>
        <p:pic>
          <p:nvPicPr>
            <p:cNvPr id="301" name="Picture 327" descr="desktop_computer_stylized_mediu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 name="Freeform 328"/>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303" name="Group 2"/>
          <p:cNvGrpSpPr/>
          <p:nvPr/>
        </p:nvGrpSpPr>
        <p:grpSpPr bwMode="auto">
          <a:xfrm>
            <a:off x="6022975" y="3216284"/>
            <a:ext cx="2178050" cy="1147763"/>
            <a:chOff x="5143500" y="2905125"/>
            <a:chExt cx="2178050" cy="1147763"/>
          </a:xfrm>
        </p:grpSpPr>
        <p:grpSp>
          <p:nvGrpSpPr>
            <p:cNvPr id="304" name="Group 128"/>
            <p:cNvGrpSpPr/>
            <p:nvPr/>
          </p:nvGrpSpPr>
          <p:grpSpPr bwMode="auto">
            <a:xfrm>
              <a:off x="5143500" y="2905125"/>
              <a:ext cx="2178050" cy="1147763"/>
              <a:chOff x="3240" y="1830"/>
              <a:chExt cx="1372" cy="723"/>
            </a:xfrm>
          </p:grpSpPr>
          <p:sp>
            <p:nvSpPr>
              <p:cNvPr id="345" name="Freeform 129"/>
              <p:cNvSpPr/>
              <p:nvPr/>
            </p:nvSpPr>
            <p:spPr bwMode="auto">
              <a:xfrm>
                <a:off x="3240" y="1830"/>
                <a:ext cx="1372" cy="723"/>
              </a:xfrm>
              <a:custGeom>
                <a:avLst/>
                <a:gdLst>
                  <a:gd name="T0" fmla="*/ 1509012 w 765"/>
                  <a:gd name="T1" fmla="*/ 5729 h 459"/>
                  <a:gd name="T2" fmla="*/ 1027025 w 765"/>
                  <a:gd name="T3" fmla="*/ 40395 h 459"/>
                  <a:gd name="T4" fmla="*/ 340902 w 765"/>
                  <a:gd name="T5" fmla="*/ 58024 h 459"/>
                  <a:gd name="T6" fmla="*/ 49874 w 765"/>
                  <a:gd name="T7" fmla="*/ 194383 h 459"/>
                  <a:gd name="T8" fmla="*/ 640932 w 765"/>
                  <a:gd name="T9" fmla="*/ 256788 h 459"/>
                  <a:gd name="T10" fmla="*/ 1233656 w 765"/>
                  <a:gd name="T11" fmla="*/ 246677 h 459"/>
                  <a:gd name="T12" fmla="*/ 2079640 w 765"/>
                  <a:gd name="T13" fmla="*/ 256788 h 459"/>
                  <a:gd name="T14" fmla="*/ 2485867 w 765"/>
                  <a:gd name="T15" fmla="*/ 251149 h 459"/>
                  <a:gd name="T16" fmla="*/ 2678580 w 765"/>
                  <a:gd name="T17" fmla="*/ 215337 h 459"/>
                  <a:gd name="T18" fmla="*/ 2671282 w 765"/>
                  <a:gd name="T19" fmla="*/ 91397 h 459"/>
                  <a:gd name="T20" fmla="*/ 2357408 w 765"/>
                  <a:gd name="T21" fmla="*/ 19830 h 459"/>
                  <a:gd name="T22" fmla="*/ 1509012 w 765"/>
                  <a:gd name="T23" fmla="*/ 572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6" name="Line 130"/>
              <p:cNvSpPr>
                <a:spLocks noChangeShapeType="1"/>
              </p:cNvSpPr>
              <p:nvPr/>
            </p:nvSpPr>
            <p:spPr bwMode="auto">
              <a:xfrm flipV="1">
                <a:off x="3763" y="2053"/>
                <a:ext cx="106" cy="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7" name="Line 131"/>
              <p:cNvSpPr>
                <a:spLocks noChangeShapeType="1"/>
              </p:cNvSpPr>
              <p:nvPr/>
            </p:nvSpPr>
            <p:spPr bwMode="auto">
              <a:xfrm>
                <a:off x="3616" y="2204"/>
                <a:ext cx="0" cy="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 name="Line 132"/>
              <p:cNvSpPr>
                <a:spLocks noChangeShapeType="1"/>
              </p:cNvSpPr>
              <p:nvPr/>
            </p:nvSpPr>
            <p:spPr bwMode="auto">
              <a:xfrm flipV="1">
                <a:off x="3763" y="2114"/>
                <a:ext cx="226" cy="2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 name="Line 133"/>
              <p:cNvSpPr>
                <a:spLocks noChangeShapeType="1"/>
              </p:cNvSpPr>
              <p:nvPr/>
            </p:nvSpPr>
            <p:spPr bwMode="auto">
              <a:xfrm>
                <a:off x="4076" y="2113"/>
                <a:ext cx="0" cy="1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 name="Line 134"/>
              <p:cNvSpPr>
                <a:spLocks noChangeShapeType="1"/>
              </p:cNvSpPr>
              <p:nvPr/>
            </p:nvSpPr>
            <p:spPr bwMode="auto">
              <a:xfrm>
                <a:off x="3779" y="2380"/>
                <a:ext cx="1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1" name="Line 135"/>
              <p:cNvSpPr>
                <a:spLocks noChangeShapeType="1"/>
              </p:cNvSpPr>
              <p:nvPr/>
            </p:nvSpPr>
            <p:spPr bwMode="auto">
              <a:xfrm>
                <a:off x="4255" y="2372"/>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52" name="Group 136"/>
              <p:cNvGrpSpPr/>
              <p:nvPr/>
            </p:nvGrpSpPr>
            <p:grpSpPr bwMode="auto">
              <a:xfrm>
                <a:off x="3860" y="1969"/>
                <a:ext cx="335" cy="148"/>
                <a:chOff x="4650" y="1129"/>
                <a:chExt cx="246" cy="95"/>
              </a:xfrm>
            </p:grpSpPr>
            <p:sp>
              <p:nvSpPr>
                <p:cNvPr id="38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38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38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385" name="Group 140"/>
                <p:cNvGrpSpPr/>
                <p:nvPr/>
              </p:nvGrpSpPr>
              <p:grpSpPr bwMode="auto">
                <a:xfrm>
                  <a:off x="4699" y="1145"/>
                  <a:ext cx="138" cy="29"/>
                  <a:chOff x="2468" y="1332"/>
                  <a:chExt cx="310" cy="60"/>
                </a:xfrm>
              </p:grpSpPr>
              <p:sp>
                <p:nvSpPr>
                  <p:cNvPr id="388" name="Freeform 14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 name="Freeform 14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6" name="Line 143"/>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7" name="Line 144"/>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53" name="Group 145"/>
              <p:cNvGrpSpPr/>
              <p:nvPr/>
            </p:nvGrpSpPr>
            <p:grpSpPr bwMode="auto">
              <a:xfrm>
                <a:off x="3922" y="2284"/>
                <a:ext cx="336" cy="154"/>
                <a:chOff x="4650" y="1129"/>
                <a:chExt cx="246" cy="95"/>
              </a:xfrm>
            </p:grpSpPr>
            <p:sp>
              <p:nvSpPr>
                <p:cNvPr id="37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37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37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377" name="Group 149"/>
                <p:cNvGrpSpPr/>
                <p:nvPr/>
              </p:nvGrpSpPr>
              <p:grpSpPr bwMode="auto">
                <a:xfrm>
                  <a:off x="4699" y="1145"/>
                  <a:ext cx="138" cy="29"/>
                  <a:chOff x="2468" y="1332"/>
                  <a:chExt cx="310" cy="60"/>
                </a:xfrm>
              </p:grpSpPr>
              <p:sp>
                <p:nvSpPr>
                  <p:cNvPr id="380" name="Freeform 15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1" name="Freeform 15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78" name="Line 152"/>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 name="Line 153"/>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54" name="Group 154"/>
              <p:cNvGrpSpPr/>
              <p:nvPr/>
            </p:nvGrpSpPr>
            <p:grpSpPr bwMode="auto">
              <a:xfrm>
                <a:off x="3443" y="2054"/>
                <a:ext cx="335" cy="149"/>
                <a:chOff x="4650" y="1129"/>
                <a:chExt cx="246" cy="95"/>
              </a:xfrm>
            </p:grpSpPr>
            <p:sp>
              <p:nvSpPr>
                <p:cNvPr id="36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36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36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369" name="Group 158"/>
                <p:cNvGrpSpPr/>
                <p:nvPr/>
              </p:nvGrpSpPr>
              <p:grpSpPr bwMode="auto">
                <a:xfrm>
                  <a:off x="4699" y="1145"/>
                  <a:ext cx="138" cy="29"/>
                  <a:chOff x="2468" y="1332"/>
                  <a:chExt cx="310" cy="60"/>
                </a:xfrm>
              </p:grpSpPr>
              <p:sp>
                <p:nvSpPr>
                  <p:cNvPr id="372" name="Freeform 159"/>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3" name="Freeform 160"/>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70" name="Line 161"/>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1" name="Line 162"/>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55" name="Group 163"/>
              <p:cNvGrpSpPr/>
              <p:nvPr/>
            </p:nvGrpSpPr>
            <p:grpSpPr bwMode="auto">
              <a:xfrm>
                <a:off x="3452" y="2284"/>
                <a:ext cx="336" cy="148"/>
                <a:chOff x="4650" y="1129"/>
                <a:chExt cx="246" cy="95"/>
              </a:xfrm>
            </p:grpSpPr>
            <p:sp>
              <p:nvSpPr>
                <p:cNvPr id="35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35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36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361" name="Group 167"/>
                <p:cNvGrpSpPr/>
                <p:nvPr/>
              </p:nvGrpSpPr>
              <p:grpSpPr bwMode="auto">
                <a:xfrm>
                  <a:off x="4699" y="1145"/>
                  <a:ext cx="138" cy="29"/>
                  <a:chOff x="2468" y="1332"/>
                  <a:chExt cx="310" cy="60"/>
                </a:xfrm>
              </p:grpSpPr>
              <p:sp>
                <p:nvSpPr>
                  <p:cNvPr id="364" name="Freeform 16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5" name="Freeform 16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62" name="Line 170"/>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3" name="Line 171"/>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56" name="Line 172"/>
              <p:cNvSpPr>
                <a:spLocks noChangeShapeType="1"/>
              </p:cNvSpPr>
              <p:nvPr/>
            </p:nvSpPr>
            <p:spPr bwMode="auto">
              <a:xfrm>
                <a:off x="4422" y="2370"/>
                <a:ext cx="153"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57" name="Text Box 580"/>
              <p:cNvSpPr txBox="1">
                <a:spLocks noChangeArrowheads="1"/>
              </p:cNvSpPr>
              <p:nvPr/>
            </p:nvSpPr>
            <p:spPr bwMode="auto">
              <a:xfrm>
                <a:off x="4231" y="1988"/>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zh-CN" sz="1800"/>
                  <a:t>ISP</a:t>
                </a:r>
              </a:p>
            </p:txBody>
          </p:sp>
        </p:grpSp>
        <p:grpSp>
          <p:nvGrpSpPr>
            <p:cNvPr id="305" name="Group 347"/>
            <p:cNvGrpSpPr/>
            <p:nvPr/>
          </p:nvGrpSpPr>
          <p:grpSpPr bwMode="auto">
            <a:xfrm>
              <a:off x="5450519" y="3250491"/>
              <a:ext cx="569188" cy="269566"/>
              <a:chOff x="1871277" y="1576300"/>
              <a:chExt cx="1128371" cy="437861"/>
            </a:xfrm>
          </p:grpSpPr>
          <p:sp>
            <p:nvSpPr>
              <p:cNvPr id="336" name="Oval 18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37" name="Rectangle 182"/>
              <p:cNvSpPr/>
              <p:nvPr/>
            </p:nvSpPr>
            <p:spPr bwMode="auto">
              <a:xfrm>
                <a:off x="1870026" y="1739905"/>
                <a:ext cx="1129806"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38" name="Oval 18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39" name="Freeform 184"/>
              <p:cNvSpPr/>
              <p:nvPr/>
            </p:nvSpPr>
            <p:spPr bwMode="auto">
              <a:xfrm>
                <a:off x="2159559" y="1672861"/>
                <a:ext cx="547595" cy="16245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40" name="Freeform 18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41" name="Freeform 18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42" name="Freeform 18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343" name="Straight Connector 188"/>
              <p:cNvCxnSpPr>
                <a:cxnSpLocks noChangeShapeType="1"/>
                <a:endCxn id="338"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44" name="Straight Connector 18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306" name="Group 347"/>
            <p:cNvGrpSpPr/>
            <p:nvPr/>
          </p:nvGrpSpPr>
          <p:grpSpPr bwMode="auto">
            <a:xfrm>
              <a:off x="5463219" y="3606091"/>
              <a:ext cx="569188" cy="269566"/>
              <a:chOff x="1871277" y="1576300"/>
              <a:chExt cx="1128371" cy="437861"/>
            </a:xfrm>
          </p:grpSpPr>
          <p:sp>
            <p:nvSpPr>
              <p:cNvPr id="327" name="Oval 19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28" name="Rectangle 192"/>
              <p:cNvSpPr/>
              <p:nvPr/>
            </p:nvSpPr>
            <p:spPr bwMode="auto">
              <a:xfrm>
                <a:off x="1870026" y="1739905"/>
                <a:ext cx="1129806"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29" name="Oval 19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30" name="Freeform 194"/>
              <p:cNvSpPr/>
              <p:nvPr/>
            </p:nvSpPr>
            <p:spPr bwMode="auto">
              <a:xfrm>
                <a:off x="2159559" y="1672861"/>
                <a:ext cx="547595" cy="16245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31" name="Freeform 19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32" name="Freeform 19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33" name="Freeform 19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334" name="Straight Connector 198"/>
              <p:cNvCxnSpPr>
                <a:cxnSpLocks noChangeShapeType="1"/>
                <a:endCxn id="329"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5" name="Straight Connector 19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307" name="Group 347"/>
            <p:cNvGrpSpPr/>
            <p:nvPr/>
          </p:nvGrpSpPr>
          <p:grpSpPr bwMode="auto">
            <a:xfrm>
              <a:off x="6107744" y="3120316"/>
              <a:ext cx="569188" cy="269566"/>
              <a:chOff x="1871277" y="1576300"/>
              <a:chExt cx="1128371" cy="437861"/>
            </a:xfrm>
          </p:grpSpPr>
          <p:sp>
            <p:nvSpPr>
              <p:cNvPr id="318" name="Oval 20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19" name="Rectangle 202"/>
              <p:cNvSpPr/>
              <p:nvPr/>
            </p:nvSpPr>
            <p:spPr bwMode="auto">
              <a:xfrm>
                <a:off x="1870026" y="1739905"/>
                <a:ext cx="1129806"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20" name="Oval 20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21" name="Freeform 204"/>
              <p:cNvSpPr/>
              <p:nvPr/>
            </p:nvSpPr>
            <p:spPr bwMode="auto">
              <a:xfrm>
                <a:off x="2159559" y="1672861"/>
                <a:ext cx="547595" cy="16245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22" name="Freeform 20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23" name="Freeform 20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24" name="Freeform 20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325" name="Straight Connector 208"/>
              <p:cNvCxnSpPr>
                <a:cxnSpLocks noChangeShapeType="1"/>
                <a:endCxn id="320"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26" name="Straight Connector 20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308" name="Group 347"/>
            <p:cNvGrpSpPr/>
            <p:nvPr/>
          </p:nvGrpSpPr>
          <p:grpSpPr bwMode="auto">
            <a:xfrm>
              <a:off x="6207410" y="3622646"/>
              <a:ext cx="569188" cy="269566"/>
              <a:chOff x="1871277" y="1576300"/>
              <a:chExt cx="1128371" cy="437861"/>
            </a:xfrm>
          </p:grpSpPr>
          <p:sp>
            <p:nvSpPr>
              <p:cNvPr id="309" name="Oval 21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10" name="Rectangle 212"/>
              <p:cNvSpPr/>
              <p:nvPr/>
            </p:nvSpPr>
            <p:spPr bwMode="auto">
              <a:xfrm>
                <a:off x="1870712" y="1738800"/>
                <a:ext cx="1129808" cy="1160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11" name="Oval 21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312" name="Freeform 214"/>
              <p:cNvSpPr/>
              <p:nvPr/>
            </p:nvSpPr>
            <p:spPr bwMode="auto">
              <a:xfrm>
                <a:off x="2160245" y="1674334"/>
                <a:ext cx="547595" cy="15987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313" name="Freeform 21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14" name="Freeform 21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315" name="Freeform 21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316" name="Straight Connector 218"/>
              <p:cNvCxnSpPr>
                <a:cxnSpLocks noChangeShapeType="1"/>
                <a:endCxn id="311"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7" name="Straight Connector 21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sp>
        <p:nvSpPr>
          <p:cNvPr id="392" name="Text Box 126"/>
          <p:cNvSpPr txBox="1">
            <a:spLocks noChangeArrowheads="1"/>
          </p:cNvSpPr>
          <p:nvPr/>
        </p:nvSpPr>
        <p:spPr bwMode="auto">
          <a:xfrm>
            <a:off x="5730875" y="2732098"/>
            <a:ext cx="950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1600"/>
              <a:t>CMTS</a:t>
            </a:r>
          </a:p>
        </p:txBody>
      </p:sp>
      <p:sp>
        <p:nvSpPr>
          <p:cNvPr id="393" name="Freeform 174"/>
          <p:cNvSpPr/>
          <p:nvPr/>
        </p:nvSpPr>
        <p:spPr bwMode="auto">
          <a:xfrm>
            <a:off x="6270625" y="2476510"/>
            <a:ext cx="629282" cy="927100"/>
          </a:xfrm>
          <a:custGeom>
            <a:avLst/>
            <a:gdLst>
              <a:gd name="T0" fmla="*/ 0 w 130"/>
              <a:gd name="T1" fmla="*/ 0 h 584"/>
              <a:gd name="T2" fmla="*/ 2147483647 w 130"/>
              <a:gd name="T3" fmla="*/ 0 h 584"/>
              <a:gd name="T4" fmla="*/ 2147483647 w 130"/>
              <a:gd name="T5" fmla="*/ 2147483647 h 584"/>
              <a:gd name="T6" fmla="*/ 0 60000 65536"/>
              <a:gd name="T7" fmla="*/ 0 60000 65536"/>
              <a:gd name="T8" fmla="*/ 0 60000 65536"/>
              <a:gd name="T9" fmla="*/ 0 w 130"/>
              <a:gd name="T10" fmla="*/ 0 h 584"/>
              <a:gd name="T11" fmla="*/ 130 w 130"/>
              <a:gd name="T12" fmla="*/ 584 h 584"/>
            </a:gdLst>
            <a:ahLst/>
            <a:cxnLst>
              <a:cxn ang="T6">
                <a:pos x="T0" y="T1"/>
              </a:cxn>
              <a:cxn ang="T7">
                <a:pos x="T2" y="T3"/>
              </a:cxn>
              <a:cxn ang="T8">
                <a:pos x="T4" y="T5"/>
              </a:cxn>
            </a:cxnLst>
            <a:rect l="T9" t="T10" r="T11" b="T12"/>
            <a:pathLst>
              <a:path w="130" h="584">
                <a:moveTo>
                  <a:pt x="0" y="0"/>
                </a:moveTo>
                <a:lnTo>
                  <a:pt x="130" y="0"/>
                </a:lnTo>
                <a:lnTo>
                  <a:pt x="130" y="58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94" name="Group 175"/>
          <p:cNvGrpSpPr/>
          <p:nvPr/>
        </p:nvGrpSpPr>
        <p:grpSpPr bwMode="auto">
          <a:xfrm>
            <a:off x="6337301" y="2568588"/>
            <a:ext cx="2471738" cy="534988"/>
            <a:chOff x="3980" y="1440"/>
            <a:chExt cx="1557" cy="337"/>
          </a:xfrm>
        </p:grpSpPr>
        <p:sp>
          <p:nvSpPr>
            <p:cNvPr id="395" name="Line 176"/>
            <p:cNvSpPr>
              <a:spLocks noChangeShapeType="1"/>
            </p:cNvSpPr>
            <p:nvPr/>
          </p:nvSpPr>
          <p:spPr bwMode="auto">
            <a:xfrm flipH="1" flipV="1">
              <a:off x="3980" y="1440"/>
              <a:ext cx="711" cy="94"/>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6" name="Text Box 177"/>
            <p:cNvSpPr txBox="1">
              <a:spLocks noChangeArrowheads="1"/>
            </p:cNvSpPr>
            <p:nvPr/>
          </p:nvSpPr>
          <p:spPr bwMode="auto">
            <a:xfrm>
              <a:off x="4346" y="1457"/>
              <a:ext cx="119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lnSpc>
                  <a:spcPct val="85000"/>
                </a:lnSpc>
              </a:pPr>
              <a:r>
                <a:rPr lang="en-US" altLang="zh-CN" sz="1600" i="1" dirty="0"/>
                <a:t>cable modem</a:t>
              </a:r>
            </a:p>
            <a:p>
              <a:pPr algn="r">
                <a:lnSpc>
                  <a:spcPct val="85000"/>
                </a:lnSpc>
              </a:pPr>
              <a:r>
                <a:rPr lang="en-US" altLang="zh-CN" sz="1600" i="1" dirty="0"/>
                <a:t>termination system</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93"/>
                                        </p:tgtEl>
                                        <p:attrNameLst>
                                          <p:attrName>style.visibility</p:attrName>
                                        </p:attrNameLst>
                                      </p:cBhvr>
                                      <p:to>
                                        <p:strVal val="visible"/>
                                      </p:to>
                                    </p:set>
                                    <p:animEffect transition="in" filter="dissolve">
                                      <p:cBhvr>
                                        <p:cTn id="7" dur="500"/>
                                        <p:tgtEl>
                                          <p:spTgt spid="29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2"/>
                                        </p:tgtEl>
                                        <p:attrNameLst>
                                          <p:attrName>style.visibility</p:attrName>
                                        </p:attrNameLst>
                                      </p:cBhvr>
                                      <p:to>
                                        <p:strVal val="visible"/>
                                      </p:to>
                                    </p:set>
                                    <p:animEffect transition="in" filter="dissolve">
                                      <p:cBhvr>
                                        <p:cTn id="12" dur="500"/>
                                        <p:tgtEl>
                                          <p:spTgt spid="262"/>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57"/>
                                        </p:tgtEl>
                                        <p:attrNameLst>
                                          <p:attrName>style.visibility</p:attrName>
                                        </p:attrNameLst>
                                      </p:cBhvr>
                                      <p:to>
                                        <p:strVal val="visible"/>
                                      </p:to>
                                    </p:set>
                                    <p:animEffect transition="in" filter="dissolve">
                                      <p:cBhvr>
                                        <p:cTn id="16" dur="500"/>
                                        <p:tgtEl>
                                          <p:spTgt spid="25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94"/>
                                        </p:tgtEl>
                                        <p:attrNameLst>
                                          <p:attrName>style.visibility</p:attrName>
                                        </p:attrNameLst>
                                      </p:cBhvr>
                                      <p:to>
                                        <p:strVal val="visible"/>
                                      </p:to>
                                    </p:set>
                                    <p:animEffect transition="in" filter="dissolve">
                                      <p:cBhvr>
                                        <p:cTn id="21"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427480" y="1775301"/>
            <a:ext cx="8206327" cy="3307398"/>
          </a:xfrm>
        </p:spPr>
        <p:txBody>
          <a:bodyPr>
            <a:noAutofit/>
          </a:bodyPr>
          <a:lstStyle/>
          <a:p>
            <a:pPr marL="357505" indent="-266700">
              <a:lnSpc>
                <a:spcPct val="150000"/>
              </a:lnSpc>
              <a:spcBef>
                <a:spcPts val="600"/>
              </a:spcBef>
              <a:buBlip>
                <a:blip r:embed="rId3"/>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光纤宽带（</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FTTH</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ct val="1500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GPON: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下行最大速率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2.488Gbps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，上行最大速率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1.244Gbps</a:t>
            </a:r>
          </a:p>
          <a:p>
            <a:pPr marL="808355" lvl="1" indent="-361950">
              <a:lnSpc>
                <a:spcPct val="1500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EPON: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下行最大速率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1.25Gbps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，上行最大速率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1.25Gbps</a:t>
            </a:r>
          </a:p>
          <a:p>
            <a:pPr marL="446405" indent="-355600">
              <a:lnSpc>
                <a:spcPct val="150000"/>
              </a:lnSpc>
              <a:spcBef>
                <a:spcPts val="600"/>
              </a:spcBef>
              <a:buBlip>
                <a:blip r:embed="rId3"/>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ct val="1500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使用最广泛的接入方式（机构）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ct val="1500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目前最大速率为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10Gbps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（万兆以太网）</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231" name="Rectangle 2"/>
          <p:cNvSpPr txBox="1">
            <a:spLocks noChangeArrowheads="1"/>
          </p:cNvSpPr>
          <p:nvPr/>
        </p:nvSpPr>
        <p:spPr>
          <a:xfrm>
            <a:off x="428625" y="666749"/>
            <a:ext cx="8206327" cy="9074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接入网络：其他有线接入</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428625" y="1828799"/>
            <a:ext cx="8206327" cy="4362451"/>
          </a:xfrm>
        </p:spPr>
        <p:txBody>
          <a:bodyPr>
            <a:noAutofit/>
          </a:bodyPr>
          <a:lstStyle/>
          <a:p>
            <a:pPr marL="446405" indent="-355600">
              <a:lnSpc>
                <a:spcPts val="2800"/>
              </a:lnSpc>
              <a:spcBef>
                <a:spcPts val="600"/>
              </a:spcBef>
              <a:buBlip>
                <a:blip r:embed="rId3"/>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无线局域网（</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Wi-Fi</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802.11a/b/g: &lt; 54 Mbps</a:t>
            </a: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802.11n: &lt; 600Mbps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75-150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802.11ac: &lt; 1Gbps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300-400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802.11ax (Wi-Fi</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：最大速率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9.6Gbps</a:t>
            </a:r>
          </a:p>
          <a:p>
            <a:pPr marL="446405" indent="-355600">
              <a:lnSpc>
                <a:spcPts val="2800"/>
              </a:lnSpc>
              <a:spcBef>
                <a:spcPts val="1200"/>
              </a:spcBef>
              <a:buBlip>
                <a:blip r:embed="rId3"/>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移动通信网</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CDMA 2000: 3.1M/1.8Mbps, TD-SCDMA: 2.8M/2.2Mbps, WCDMA: 14.4M/5.76Mbps</a:t>
            </a: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4G: TD-LTE:100M/50Mbps</a:t>
            </a:r>
          </a:p>
          <a:p>
            <a:pPr marL="808355" lvl="1" indent="-361950">
              <a:lnSpc>
                <a:spcPts val="28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5G: IMT-2020: 20G/100Mbps </a:t>
            </a:r>
          </a:p>
        </p:txBody>
      </p:sp>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231" name="Rectangle 2"/>
          <p:cNvSpPr txBox="1">
            <a:spLocks noChangeArrowheads="1"/>
          </p:cNvSpPr>
          <p:nvPr/>
        </p:nvSpPr>
        <p:spPr>
          <a:xfrm>
            <a:off x="428625" y="666748"/>
            <a:ext cx="8206327" cy="8958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接入网络：无线接入</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231" name="Rectangle 2"/>
          <p:cNvSpPr txBox="1">
            <a:spLocks noChangeArrowheads="1"/>
          </p:cNvSpPr>
          <p:nvPr/>
        </p:nvSpPr>
        <p:spPr>
          <a:xfrm>
            <a:off x="428625" y="666748"/>
            <a:ext cx="8206327" cy="806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接入网络：家庭网络</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AutoShape 99"/>
          <p:cNvSpPr>
            <a:spLocks noChangeArrowheads="1"/>
          </p:cNvSpPr>
          <p:nvPr/>
        </p:nvSpPr>
        <p:spPr bwMode="auto">
          <a:xfrm>
            <a:off x="1567388" y="1615101"/>
            <a:ext cx="5649912" cy="768350"/>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Rectangle 87"/>
          <p:cNvSpPr>
            <a:spLocks noChangeArrowheads="1"/>
          </p:cNvSpPr>
          <p:nvPr/>
        </p:nvSpPr>
        <p:spPr bwMode="auto">
          <a:xfrm>
            <a:off x="2009517" y="2380261"/>
            <a:ext cx="4781550" cy="266223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8" name="Group 105"/>
          <p:cNvGrpSpPr/>
          <p:nvPr/>
        </p:nvGrpSpPr>
        <p:grpSpPr bwMode="auto">
          <a:xfrm>
            <a:off x="5108318" y="3720111"/>
            <a:ext cx="2620374" cy="361950"/>
            <a:chOff x="2434" y="2109"/>
            <a:chExt cx="1890" cy="228"/>
          </a:xfrm>
        </p:grpSpPr>
        <p:grpSp>
          <p:nvGrpSpPr>
            <p:cNvPr id="9" name="Group 91"/>
            <p:cNvGrpSpPr/>
            <p:nvPr/>
          </p:nvGrpSpPr>
          <p:grpSpPr bwMode="auto">
            <a:xfrm>
              <a:off x="2722" y="2109"/>
              <a:ext cx="642" cy="228"/>
              <a:chOff x="322" y="890"/>
              <a:chExt cx="872" cy="339"/>
            </a:xfrm>
          </p:grpSpPr>
          <p:sp>
            <p:nvSpPr>
              <p:cNvPr id="12" name="Rectangle 92"/>
              <p:cNvSpPr>
                <a:spLocks noChangeArrowheads="1"/>
              </p:cNvSpPr>
              <p:nvPr/>
            </p:nvSpPr>
            <p:spPr bwMode="auto">
              <a:xfrm>
                <a:off x="323" y="1004"/>
                <a:ext cx="871" cy="225"/>
              </a:xfrm>
              <a:prstGeom prst="rect">
                <a:avLst/>
              </a:prstGeom>
              <a:solidFill>
                <a:srgbClr val="FFFF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Rectangle 93"/>
              <p:cNvSpPr>
                <a:spLocks noChangeArrowheads="1"/>
              </p:cNvSpPr>
              <p:nvPr/>
            </p:nvSpPr>
            <p:spPr bwMode="auto">
              <a:xfrm>
                <a:off x="393" y="1073"/>
                <a:ext cx="57" cy="5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Rectangle 94"/>
              <p:cNvSpPr>
                <a:spLocks noChangeArrowheads="1"/>
              </p:cNvSpPr>
              <p:nvPr/>
            </p:nvSpPr>
            <p:spPr bwMode="auto">
              <a:xfrm>
                <a:off x="467" y="1073"/>
                <a:ext cx="56" cy="57"/>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95"/>
              <p:cNvSpPr>
                <a:spLocks noChangeArrowheads="1"/>
              </p:cNvSpPr>
              <p:nvPr/>
            </p:nvSpPr>
            <p:spPr bwMode="auto">
              <a:xfrm>
                <a:off x="541" y="1071"/>
                <a:ext cx="56" cy="5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Rectangle 96"/>
              <p:cNvSpPr>
                <a:spLocks noChangeArrowheads="1"/>
              </p:cNvSpPr>
              <p:nvPr/>
            </p:nvSpPr>
            <p:spPr bwMode="auto">
              <a:xfrm>
                <a:off x="615" y="1071"/>
                <a:ext cx="56" cy="5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AutoShape 97"/>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0" name="Line 102"/>
            <p:cNvSpPr>
              <a:spLocks noChangeShapeType="1"/>
            </p:cNvSpPr>
            <p:nvPr/>
          </p:nvSpPr>
          <p:spPr bwMode="auto">
            <a:xfrm flipH="1">
              <a:off x="3361" y="2258"/>
              <a:ext cx="963"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Line 104"/>
            <p:cNvSpPr>
              <a:spLocks noChangeShapeType="1"/>
            </p:cNvSpPr>
            <p:nvPr/>
          </p:nvSpPr>
          <p:spPr bwMode="auto">
            <a:xfrm flipH="1">
              <a:off x="2434" y="2261"/>
              <a:ext cx="2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8" name="Group 107"/>
          <p:cNvGrpSpPr/>
          <p:nvPr/>
        </p:nvGrpSpPr>
        <p:grpSpPr bwMode="auto">
          <a:xfrm>
            <a:off x="4107096" y="3756735"/>
            <a:ext cx="942478" cy="393587"/>
            <a:chOff x="2356" y="1300"/>
            <a:chExt cx="555" cy="194"/>
          </a:xfrm>
        </p:grpSpPr>
        <p:sp>
          <p:nvSpPr>
            <p:cNvPr id="19"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2" name="Group 111"/>
            <p:cNvGrpSpPr/>
            <p:nvPr/>
          </p:nvGrpSpPr>
          <p:grpSpPr bwMode="auto">
            <a:xfrm>
              <a:off x="2468" y="1332"/>
              <a:ext cx="310" cy="60"/>
              <a:chOff x="2468" y="1332"/>
              <a:chExt cx="310" cy="60"/>
            </a:xfrm>
          </p:grpSpPr>
          <p:sp>
            <p:nvSpPr>
              <p:cNvPr id="25" name="Freeform 11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Freeform 11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3" name="Line 114"/>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Line 115"/>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7" name="Line 116"/>
          <p:cNvSpPr>
            <a:spLocks noChangeShapeType="1"/>
          </p:cNvSpPr>
          <p:nvPr/>
        </p:nvSpPr>
        <p:spPr bwMode="auto">
          <a:xfrm flipH="1">
            <a:off x="3255704" y="3931248"/>
            <a:ext cx="8223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8" name="Group 119"/>
          <p:cNvGrpSpPr/>
          <p:nvPr/>
        </p:nvGrpSpPr>
        <p:grpSpPr bwMode="auto">
          <a:xfrm>
            <a:off x="2634992" y="3351811"/>
            <a:ext cx="1068387" cy="820737"/>
            <a:chOff x="2967" y="478"/>
            <a:chExt cx="788" cy="625"/>
          </a:xfrm>
        </p:grpSpPr>
        <p:pic>
          <p:nvPicPr>
            <p:cNvPr id="29" name="Picture 120"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121"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 name="Line 122"/>
          <p:cNvSpPr>
            <a:spLocks noChangeShapeType="1"/>
          </p:cNvSpPr>
          <p:nvPr/>
        </p:nvSpPr>
        <p:spPr bwMode="auto">
          <a:xfrm flipH="1" flipV="1">
            <a:off x="4576504" y="3234336"/>
            <a:ext cx="0" cy="4683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2" name="Group 138"/>
          <p:cNvGrpSpPr/>
          <p:nvPr/>
        </p:nvGrpSpPr>
        <p:grpSpPr bwMode="auto">
          <a:xfrm>
            <a:off x="5299620" y="4105847"/>
            <a:ext cx="1490663" cy="1239837"/>
            <a:chOff x="3076" y="2333"/>
            <a:chExt cx="939" cy="781"/>
          </a:xfrm>
        </p:grpSpPr>
        <p:sp>
          <p:nvSpPr>
            <p:cNvPr id="33" name="Text Box 39"/>
            <p:cNvSpPr txBox="1">
              <a:spLocks noChangeArrowheads="1"/>
            </p:cNvSpPr>
            <p:nvPr/>
          </p:nvSpPr>
          <p:spPr bwMode="auto">
            <a:xfrm>
              <a:off x="3076" y="2932"/>
              <a:ext cx="9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nSpc>
                  <a:spcPct val="80000"/>
                </a:lnSpc>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调制解调器</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Line 129"/>
            <p:cNvSpPr>
              <a:spLocks noChangeShapeType="1"/>
            </p:cNvSpPr>
            <p:nvPr/>
          </p:nvSpPr>
          <p:spPr bwMode="auto">
            <a:xfrm>
              <a:off x="3449" y="2333"/>
              <a:ext cx="0" cy="590"/>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5" name="Group 139"/>
          <p:cNvGrpSpPr/>
          <p:nvPr/>
        </p:nvGrpSpPr>
        <p:grpSpPr bwMode="auto">
          <a:xfrm>
            <a:off x="4592380" y="4163023"/>
            <a:ext cx="2366963" cy="1787525"/>
            <a:chOff x="2376" y="2328"/>
            <a:chExt cx="1491" cy="1126"/>
          </a:xfrm>
        </p:grpSpPr>
        <p:sp>
          <p:nvSpPr>
            <p:cNvPr id="36" name="Text Box 39"/>
            <p:cNvSpPr txBox="1">
              <a:spLocks noChangeArrowheads="1"/>
            </p:cNvSpPr>
            <p:nvPr/>
          </p:nvSpPr>
          <p:spPr bwMode="auto">
            <a:xfrm>
              <a:off x="2376" y="3272"/>
              <a:ext cx="149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nSpc>
                  <a:spcPct val="80000"/>
                </a:lnSpc>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路由器、防火墙、</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a:t>
              </a:r>
            </a:p>
          </p:txBody>
        </p:sp>
        <p:sp>
          <p:nvSpPr>
            <p:cNvPr id="37" name="Line 133"/>
            <p:cNvSpPr>
              <a:spLocks noChangeShapeType="1"/>
            </p:cNvSpPr>
            <p:nvPr/>
          </p:nvSpPr>
          <p:spPr bwMode="auto">
            <a:xfrm>
              <a:off x="2645" y="2328"/>
              <a:ext cx="0" cy="938"/>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8" name="Group 141"/>
          <p:cNvGrpSpPr/>
          <p:nvPr/>
        </p:nvGrpSpPr>
        <p:grpSpPr bwMode="auto">
          <a:xfrm>
            <a:off x="3740040" y="4943293"/>
            <a:ext cx="1839913" cy="1395298"/>
            <a:chOff x="1696" y="2532"/>
            <a:chExt cx="1159" cy="1213"/>
          </a:xfrm>
        </p:grpSpPr>
        <p:sp>
          <p:nvSpPr>
            <p:cNvPr id="39" name="Line 134"/>
            <p:cNvSpPr>
              <a:spLocks noChangeShapeType="1"/>
            </p:cNvSpPr>
            <p:nvPr/>
          </p:nvSpPr>
          <p:spPr bwMode="auto">
            <a:xfrm>
              <a:off x="2064" y="2532"/>
              <a:ext cx="0" cy="938"/>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Text Box 39"/>
            <p:cNvSpPr txBox="1">
              <a:spLocks noChangeArrowheads="1"/>
            </p:cNvSpPr>
            <p:nvPr/>
          </p:nvSpPr>
          <p:spPr bwMode="auto">
            <a:xfrm>
              <a:off x="1696" y="3493"/>
              <a:ext cx="115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nSpc>
                  <a:spcPct val="8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Ethernet (1Gbps)</a:t>
              </a:r>
            </a:p>
          </p:txBody>
        </p:sp>
      </p:grpSp>
      <p:grpSp>
        <p:nvGrpSpPr>
          <p:cNvPr id="41" name="Group 140"/>
          <p:cNvGrpSpPr/>
          <p:nvPr/>
        </p:nvGrpSpPr>
        <p:grpSpPr bwMode="auto">
          <a:xfrm>
            <a:off x="1244342" y="4193186"/>
            <a:ext cx="1966912" cy="1801812"/>
            <a:chOff x="267" y="2347"/>
            <a:chExt cx="1239" cy="1135"/>
          </a:xfrm>
        </p:grpSpPr>
        <p:sp>
          <p:nvSpPr>
            <p:cNvPr id="42" name="Line 136"/>
            <p:cNvSpPr>
              <a:spLocks noChangeShapeType="1"/>
            </p:cNvSpPr>
            <p:nvPr/>
          </p:nvSpPr>
          <p:spPr bwMode="auto">
            <a:xfrm>
              <a:off x="1360" y="2347"/>
              <a:ext cx="0" cy="938"/>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Text Box 39"/>
            <p:cNvSpPr txBox="1">
              <a:spLocks noChangeArrowheads="1"/>
            </p:cNvSpPr>
            <p:nvPr/>
          </p:nvSpPr>
          <p:spPr bwMode="auto">
            <a:xfrm>
              <a:off x="267" y="3300"/>
              <a:ext cx="12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lnSpc>
                  <a:spcPct val="80000"/>
                </a:lnSpc>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无线访问点</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AP</a:t>
              </a:r>
            </a:p>
          </p:txBody>
        </p:sp>
      </p:grpSp>
      <p:sp>
        <p:nvSpPr>
          <p:cNvPr id="44" name="Text Box 142"/>
          <p:cNvSpPr txBox="1">
            <a:spLocks noChangeArrowheads="1"/>
          </p:cNvSpPr>
          <p:nvPr/>
        </p:nvSpPr>
        <p:spPr bwMode="auto">
          <a:xfrm>
            <a:off x="1956614" y="1770661"/>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无线设备</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5" name="Group 143"/>
          <p:cNvGrpSpPr/>
          <p:nvPr/>
        </p:nvGrpSpPr>
        <p:grpSpPr bwMode="auto">
          <a:xfrm>
            <a:off x="2204779" y="2421536"/>
            <a:ext cx="733425" cy="758825"/>
            <a:chOff x="2751" y="1851"/>
            <a:chExt cx="462" cy="478"/>
          </a:xfrm>
        </p:grpSpPr>
        <p:pic>
          <p:nvPicPr>
            <p:cNvPr id="46" name="Picture 144" descr="iphone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145"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 name="Line 146"/>
          <p:cNvSpPr>
            <a:spLocks noChangeShapeType="1"/>
          </p:cNvSpPr>
          <p:nvPr/>
        </p:nvSpPr>
        <p:spPr bwMode="auto">
          <a:xfrm>
            <a:off x="4408264" y="4054028"/>
            <a:ext cx="1" cy="33501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Oval 147"/>
          <p:cNvSpPr>
            <a:spLocks noChangeArrowheads="1"/>
          </p:cNvSpPr>
          <p:nvPr/>
        </p:nvSpPr>
        <p:spPr bwMode="auto">
          <a:xfrm>
            <a:off x="2101592" y="3269261"/>
            <a:ext cx="3359150" cy="1050925"/>
          </a:xfrm>
          <a:prstGeom prst="ellipse">
            <a:avLst/>
          </a:prstGeom>
          <a:noFill/>
          <a:ln w="19050">
            <a:solidFill>
              <a:srgbClr val="CC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0" name="Group 150"/>
          <p:cNvGrpSpPr/>
          <p:nvPr/>
        </p:nvGrpSpPr>
        <p:grpSpPr bwMode="auto">
          <a:xfrm>
            <a:off x="966528" y="3999511"/>
            <a:ext cx="1620838" cy="628650"/>
            <a:chOff x="92" y="2225"/>
            <a:chExt cx="1021" cy="396"/>
          </a:xfrm>
        </p:grpSpPr>
        <p:sp>
          <p:nvSpPr>
            <p:cNvPr id="51" name="Text Box 148"/>
            <p:cNvSpPr txBox="1">
              <a:spLocks noChangeArrowheads="1"/>
            </p:cNvSpPr>
            <p:nvPr/>
          </p:nvSpPr>
          <p:spPr bwMode="auto">
            <a:xfrm>
              <a:off x="92" y="2431"/>
              <a:ext cx="1021"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lnSpc>
                  <a:spcPct val="85000"/>
                </a:lnSpc>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通常集成在一起</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Line 149"/>
            <p:cNvSpPr>
              <a:spLocks noChangeShapeType="1"/>
            </p:cNvSpPr>
            <p:nvPr/>
          </p:nvSpPr>
          <p:spPr bwMode="auto">
            <a:xfrm flipV="1">
              <a:off x="590" y="2225"/>
              <a:ext cx="238" cy="1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53" name="Group 151"/>
          <p:cNvGrpSpPr/>
          <p:nvPr/>
        </p:nvGrpSpPr>
        <p:grpSpPr bwMode="auto">
          <a:xfrm>
            <a:off x="3169185" y="2092885"/>
            <a:ext cx="871227" cy="806872"/>
            <a:chOff x="877" y="1008"/>
            <a:chExt cx="2747" cy="2591"/>
          </a:xfrm>
        </p:grpSpPr>
        <p:pic>
          <p:nvPicPr>
            <p:cNvPr id="54" name="Picture 152" descr="antenna_stylize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153" descr="laptop_keyboard"/>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Freeform 154"/>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7" name="Picture 155" descr="scree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56"/>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Freeform 157"/>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Freeform 158"/>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Freeform 159"/>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Freeform 160"/>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Freeform 161"/>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4" name="Group 162"/>
            <p:cNvGrpSpPr/>
            <p:nvPr/>
          </p:nvGrpSpPr>
          <p:grpSpPr bwMode="auto">
            <a:xfrm>
              <a:off x="1709" y="3008"/>
              <a:ext cx="507" cy="234"/>
              <a:chOff x="1740" y="2642"/>
              <a:chExt cx="752" cy="327"/>
            </a:xfrm>
          </p:grpSpPr>
          <p:sp>
            <p:nvSpPr>
              <p:cNvPr id="71" name="Freeform 163"/>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Freeform 164"/>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Freeform 165"/>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Freeform 166"/>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Freeform 167"/>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Freeform 168"/>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5" name="Freeform 169"/>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Freeform 170"/>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Freeform 171"/>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 name="Freeform 172"/>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Freeform 173"/>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Freeform 174"/>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77" name="Group 175"/>
          <p:cNvGrpSpPr/>
          <p:nvPr/>
        </p:nvGrpSpPr>
        <p:grpSpPr bwMode="auto">
          <a:xfrm>
            <a:off x="4059123" y="2546949"/>
            <a:ext cx="1034905" cy="814387"/>
            <a:chOff x="-44" y="1473"/>
            <a:chExt cx="981" cy="1105"/>
          </a:xfrm>
        </p:grpSpPr>
        <p:pic>
          <p:nvPicPr>
            <p:cNvPr id="78" name="Picture 176" descr="desktop_computer_stylized_medium"/>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Freeform 177"/>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80" name="Group 178"/>
          <p:cNvGrpSpPr/>
          <p:nvPr/>
        </p:nvGrpSpPr>
        <p:grpSpPr bwMode="auto">
          <a:xfrm>
            <a:off x="3801797" y="4305898"/>
            <a:ext cx="849312" cy="712788"/>
            <a:chOff x="-44" y="1473"/>
            <a:chExt cx="981" cy="1105"/>
          </a:xfrm>
        </p:grpSpPr>
        <p:pic>
          <p:nvPicPr>
            <p:cNvPr id="81" name="Picture 179" descr="desktop_computer_stylized_medium"/>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Freeform 180"/>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83" name="Group 98"/>
          <p:cNvGrpSpPr/>
          <p:nvPr/>
        </p:nvGrpSpPr>
        <p:grpSpPr bwMode="auto">
          <a:xfrm>
            <a:off x="5306754" y="2781229"/>
            <a:ext cx="625915" cy="670594"/>
            <a:chOff x="5806938" y="3011924"/>
            <a:chExt cx="347997" cy="396620"/>
          </a:xfrm>
        </p:grpSpPr>
        <p:pic>
          <p:nvPicPr>
            <p:cNvPr id="84" name="Picture 101" descr="fridge2.png"/>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906702" y="307151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1115"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6938" y="301192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6" name="Group 347"/>
          <p:cNvGrpSpPr/>
          <p:nvPr/>
        </p:nvGrpSpPr>
        <p:grpSpPr bwMode="auto">
          <a:xfrm>
            <a:off x="4100251" y="3717787"/>
            <a:ext cx="952506" cy="451196"/>
            <a:chOff x="1871272" y="1576300"/>
            <a:chExt cx="1128376" cy="437861"/>
          </a:xfrm>
        </p:grpSpPr>
        <p:sp>
          <p:nvSpPr>
            <p:cNvPr id="87" name="Oval 87"/>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Rectangle 88"/>
            <p:cNvSpPr/>
            <p:nvPr/>
          </p:nvSpPr>
          <p:spPr bwMode="auto">
            <a:xfrm>
              <a:off x="1871277" y="1739375"/>
              <a:ext cx="1128371" cy="116848"/>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Oval 89"/>
            <p:cNvSpPr>
              <a:spLocks noChangeArrowheads="1"/>
            </p:cNvSpPr>
            <p:nvPr/>
          </p:nvSpPr>
          <p:spPr bwMode="auto">
            <a:xfrm flipV="1">
              <a:off x="1871272" y="1576300"/>
              <a:ext cx="1125203"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Freeform 90"/>
            <p:cNvSpPr/>
            <p:nvPr/>
          </p:nvSpPr>
          <p:spPr bwMode="auto">
            <a:xfrm>
              <a:off x="2158995" y="1673888"/>
              <a:ext cx="549719" cy="160506"/>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Freeform 91"/>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 name="Freeform 92"/>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Freeform 93"/>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94" name="Straight Connector 94"/>
            <p:cNvCxnSpPr>
              <a:cxnSpLocks noChangeShapeType="1"/>
              <a:endCxn id="89" idx="2"/>
            </p:cNvCxnSpPr>
            <p:nvPr/>
          </p:nvCxnSpPr>
          <p:spPr bwMode="auto">
            <a:xfrm flipH="1" flipV="1">
              <a:off x="1871274"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5" name="Straight Connector 95"/>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6" name="Text Box 26"/>
          <p:cNvSpPr txBox="1">
            <a:spLocks noChangeArrowheads="1"/>
          </p:cNvSpPr>
          <p:nvPr/>
        </p:nvSpPr>
        <p:spPr bwMode="auto">
          <a:xfrm>
            <a:off x="6295767" y="3583586"/>
            <a:ext cx="2025646"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HFC</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DSL</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FTTH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ssolv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dissolve">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dissolve">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dissolve">
                                      <p:cBhvr>
                                        <p:cTn id="37" dur="500"/>
                                        <p:tgtEl>
                                          <p:spTgt spid="49"/>
                                        </p:tgtEl>
                                      </p:cBhvr>
                                    </p:animEffect>
                                  </p:childTnLst>
                                </p:cTn>
                              </p:par>
                              <p:par>
                                <p:cTn id="38" presetID="9" presetClass="entr" presetSubtype="0" fill="hold" nodeType="with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dissolve">
                                      <p:cBhvr>
                                        <p:cTn id="4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9" grpId="0" animBg="1"/>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1.3 Internet</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的边缘与核心</a:t>
            </a:r>
          </a:p>
        </p:txBody>
      </p:sp>
      <p:sp>
        <p:nvSpPr>
          <p:cNvPr id="1231" name="Rectangle 2"/>
          <p:cNvSpPr txBox="1">
            <a:spLocks noChangeArrowheads="1"/>
          </p:cNvSpPr>
          <p:nvPr/>
        </p:nvSpPr>
        <p:spPr>
          <a:xfrm>
            <a:off x="428625" y="666749"/>
            <a:ext cx="8206327" cy="7932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接入网络：机构网络</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6" name="Line 2"/>
          <p:cNvSpPr>
            <a:spLocks noChangeShapeType="1"/>
          </p:cNvSpPr>
          <p:nvPr/>
        </p:nvSpPr>
        <p:spPr bwMode="auto">
          <a:xfrm flipH="1">
            <a:off x="2351464" y="3509962"/>
            <a:ext cx="259725" cy="38893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Line 3"/>
          <p:cNvSpPr>
            <a:spLocks noChangeShapeType="1"/>
          </p:cNvSpPr>
          <p:nvPr/>
        </p:nvSpPr>
        <p:spPr bwMode="auto">
          <a:xfrm>
            <a:off x="2850933" y="3489325"/>
            <a:ext cx="120618" cy="4635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8" name="Line 4"/>
          <p:cNvSpPr>
            <a:spLocks noChangeShapeType="1"/>
          </p:cNvSpPr>
          <p:nvPr/>
        </p:nvSpPr>
        <p:spPr bwMode="auto">
          <a:xfrm flipH="1">
            <a:off x="1852871" y="3462337"/>
            <a:ext cx="672624" cy="3397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99" name="Group 51"/>
          <p:cNvGrpSpPr/>
          <p:nvPr/>
        </p:nvGrpSpPr>
        <p:grpSpPr bwMode="auto">
          <a:xfrm>
            <a:off x="2230220" y="3168650"/>
            <a:ext cx="1052513" cy="355600"/>
            <a:chOff x="4410" y="1365"/>
            <a:chExt cx="663" cy="224"/>
          </a:xfrm>
        </p:grpSpPr>
        <p:sp>
          <p:nvSpPr>
            <p:cNvPr id="100" name="Rectangle 52"/>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AutoShape 53"/>
            <p:cNvSpPr>
              <a:spLocks noChangeArrowheads="1"/>
            </p:cNvSpPr>
            <p:nvPr/>
          </p:nvSpPr>
          <p:spPr bwMode="auto">
            <a:xfrm>
              <a:off x="4410" y="1368"/>
              <a:ext cx="663" cy="135"/>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Freeform 54"/>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cmpd="sng">
              <a:solidFill>
                <a:srgbClr val="000000"/>
              </a:solidFill>
              <a:round/>
            </a:ln>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3" name="Freeform 55"/>
            <p:cNvSpPr/>
            <p:nvPr/>
          </p:nvSpPr>
          <p:spPr bwMode="auto">
            <a:xfrm>
              <a:off x="4475" y="1395"/>
              <a:ext cx="506" cy="80"/>
            </a:xfrm>
            <a:custGeom>
              <a:avLst/>
              <a:gdLst>
                <a:gd name="T0" fmla="*/ 0 w 280"/>
                <a:gd name="T1" fmla="*/ 1801 h 63"/>
                <a:gd name="T2" fmla="*/ 147159 w 280"/>
                <a:gd name="T3" fmla="*/ 1752 h 63"/>
                <a:gd name="T4" fmla="*/ 868488 w 280"/>
                <a:gd name="T5" fmla="*/ 0 h 63"/>
                <a:gd name="T6" fmla="*/ 1108812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4" name="Freeform 56"/>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05" name="Line 59"/>
          <p:cNvSpPr>
            <a:spLocks noChangeShapeType="1"/>
          </p:cNvSpPr>
          <p:nvPr/>
        </p:nvSpPr>
        <p:spPr bwMode="auto">
          <a:xfrm flipH="1" flipV="1">
            <a:off x="1671206" y="3121026"/>
            <a:ext cx="713002" cy="12064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Line 61"/>
          <p:cNvSpPr>
            <a:spLocks noChangeShapeType="1"/>
          </p:cNvSpPr>
          <p:nvPr/>
        </p:nvSpPr>
        <p:spPr bwMode="auto">
          <a:xfrm flipV="1">
            <a:off x="2603283" y="2624138"/>
            <a:ext cx="0" cy="5365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7" name="Group 62"/>
          <p:cNvGrpSpPr/>
          <p:nvPr/>
        </p:nvGrpSpPr>
        <p:grpSpPr bwMode="auto">
          <a:xfrm>
            <a:off x="2303245" y="2171700"/>
            <a:ext cx="873125" cy="627063"/>
            <a:chOff x="2967" y="478"/>
            <a:chExt cx="788" cy="625"/>
          </a:xfrm>
        </p:grpSpPr>
        <p:pic>
          <p:nvPicPr>
            <p:cNvPr id="108" name="Picture 63"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Picture 64"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0" name="Group 65"/>
          <p:cNvGrpSpPr/>
          <p:nvPr/>
        </p:nvGrpSpPr>
        <p:grpSpPr bwMode="auto">
          <a:xfrm>
            <a:off x="3075013" y="1514266"/>
            <a:ext cx="622300" cy="706438"/>
            <a:chOff x="877" y="1008"/>
            <a:chExt cx="2747" cy="2591"/>
          </a:xfrm>
        </p:grpSpPr>
        <p:pic>
          <p:nvPicPr>
            <p:cNvPr id="111" name="Picture 66" descr="antenna_styliz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67" descr="laptop_keyboar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Freeform 68"/>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4" name="Picture 69" descr="scree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0"/>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6" name="Freeform 71"/>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Freeform 72"/>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8" name="Freeform 73"/>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9" name="Freeform 74"/>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0" name="Freeform 75"/>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1" name="Group 76"/>
            <p:cNvGrpSpPr/>
            <p:nvPr/>
          </p:nvGrpSpPr>
          <p:grpSpPr bwMode="auto">
            <a:xfrm>
              <a:off x="1709" y="3008"/>
              <a:ext cx="507" cy="234"/>
              <a:chOff x="1740" y="2642"/>
              <a:chExt cx="752" cy="327"/>
            </a:xfrm>
          </p:grpSpPr>
          <p:sp>
            <p:nvSpPr>
              <p:cNvPr id="128" name="Freeform 77"/>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9" name="Freeform 78"/>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0" name="Freeform 79"/>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1" name="Freeform 80"/>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2" name="Freeform 81"/>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3" name="Freeform 82"/>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22" name="Freeform 83"/>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3" name="Freeform 84"/>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4" name="Freeform 85"/>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5" name="Freeform 86"/>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6" name="Freeform 87"/>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7" name="Freeform 88"/>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34" name="Group 89"/>
          <p:cNvGrpSpPr/>
          <p:nvPr/>
        </p:nvGrpSpPr>
        <p:grpSpPr bwMode="auto">
          <a:xfrm>
            <a:off x="1525515" y="1844678"/>
            <a:ext cx="566738" cy="625475"/>
            <a:chOff x="877" y="1008"/>
            <a:chExt cx="2747" cy="2591"/>
          </a:xfrm>
        </p:grpSpPr>
        <p:pic>
          <p:nvPicPr>
            <p:cNvPr id="135" name="Picture 90" descr="antenna_stylized"/>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 name="Picture 91" descr="laptop_keyboar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 name="Freeform 92"/>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38" name="Picture 93" descr="screen"/>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 name="Freeform 94"/>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0" name="Freeform 95"/>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1" name="Freeform 96"/>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2" name="Freeform 97"/>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 name="Freeform 98"/>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4" name="Freeform 99"/>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45" name="Group 100"/>
            <p:cNvGrpSpPr/>
            <p:nvPr/>
          </p:nvGrpSpPr>
          <p:grpSpPr bwMode="auto">
            <a:xfrm>
              <a:off x="1709" y="3008"/>
              <a:ext cx="507" cy="234"/>
              <a:chOff x="1740" y="2642"/>
              <a:chExt cx="752" cy="327"/>
            </a:xfrm>
          </p:grpSpPr>
          <p:sp>
            <p:nvSpPr>
              <p:cNvPr id="152" name="Freeform 101"/>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 name="Freeform 102"/>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4" name="Freeform 103"/>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5" name="Freeform 104"/>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6" name="Freeform 105"/>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7" name="Freeform 106"/>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46" name="Freeform 107"/>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7" name="Freeform 108"/>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8" name="Freeform 109"/>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9" name="Freeform 110"/>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0" name="Freeform 111"/>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1" name="Freeform 112"/>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58" name="Group 113"/>
          <p:cNvGrpSpPr/>
          <p:nvPr/>
        </p:nvGrpSpPr>
        <p:grpSpPr bwMode="auto">
          <a:xfrm>
            <a:off x="2225846" y="1499171"/>
            <a:ext cx="635000" cy="615950"/>
            <a:chOff x="877" y="1008"/>
            <a:chExt cx="2747" cy="2591"/>
          </a:xfrm>
        </p:grpSpPr>
        <p:pic>
          <p:nvPicPr>
            <p:cNvPr id="159" name="Picture 114"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 name="Picture 115" descr="laptop_keyboard"/>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 name="Freeform 116"/>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62" name="Picture 117" descr="screen"/>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 name="Freeform 118"/>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Freeform 119"/>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5" name="Freeform 120"/>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 name="Freeform 121"/>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7" name="Freeform 122"/>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8" name="Freeform 123"/>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69" name="Group 124"/>
            <p:cNvGrpSpPr/>
            <p:nvPr/>
          </p:nvGrpSpPr>
          <p:grpSpPr bwMode="auto">
            <a:xfrm>
              <a:off x="1709" y="3008"/>
              <a:ext cx="507" cy="234"/>
              <a:chOff x="1740" y="2642"/>
              <a:chExt cx="752" cy="327"/>
            </a:xfrm>
          </p:grpSpPr>
          <p:sp>
            <p:nvSpPr>
              <p:cNvPr id="176" name="Freeform 125"/>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7" name="Freeform 126"/>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8" name="Freeform 127"/>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9" name="Freeform 128"/>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0" name="Freeform 129"/>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1" name="Freeform 130"/>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70" name="Freeform 131"/>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1" name="Freeform 132"/>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2" name="Freeform 133"/>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 name="Freeform 134"/>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 name="Freeform 135"/>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5" name="Freeform 136"/>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82" name="Group 296"/>
          <p:cNvGrpSpPr/>
          <p:nvPr/>
        </p:nvGrpSpPr>
        <p:grpSpPr bwMode="auto">
          <a:xfrm>
            <a:off x="4714658" y="2254523"/>
            <a:ext cx="847802" cy="359798"/>
            <a:chOff x="2356" y="1300"/>
            <a:chExt cx="555" cy="194"/>
          </a:xfrm>
        </p:grpSpPr>
        <p:sp>
          <p:nvSpPr>
            <p:cNvPr id="183"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4"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86" name="Group 300"/>
            <p:cNvGrpSpPr/>
            <p:nvPr/>
          </p:nvGrpSpPr>
          <p:grpSpPr bwMode="auto">
            <a:xfrm>
              <a:off x="2468" y="1332"/>
              <a:ext cx="310" cy="60"/>
              <a:chOff x="2468" y="1332"/>
              <a:chExt cx="310" cy="60"/>
            </a:xfrm>
          </p:grpSpPr>
          <p:sp>
            <p:nvSpPr>
              <p:cNvPr id="189" name="Freeform 30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0" name="Freeform 30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87" name="Line 303"/>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8" name="Line 304"/>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91" name="Line 305"/>
          <p:cNvSpPr>
            <a:spLocks noChangeShapeType="1"/>
          </p:cNvSpPr>
          <p:nvPr/>
        </p:nvSpPr>
        <p:spPr bwMode="auto">
          <a:xfrm flipV="1">
            <a:off x="2992220" y="2406650"/>
            <a:ext cx="1668463" cy="7667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2" name="Line 306"/>
          <p:cNvSpPr>
            <a:spLocks noChangeShapeType="1"/>
          </p:cNvSpPr>
          <p:nvPr/>
        </p:nvSpPr>
        <p:spPr bwMode="auto">
          <a:xfrm>
            <a:off x="4808320" y="3300413"/>
            <a:ext cx="0" cy="65246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3" name="Line 340"/>
          <p:cNvSpPr>
            <a:spLocks noChangeShapeType="1"/>
          </p:cNvSpPr>
          <p:nvPr/>
        </p:nvSpPr>
        <p:spPr bwMode="auto">
          <a:xfrm>
            <a:off x="5189320" y="3292475"/>
            <a:ext cx="0" cy="6524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94" name="Group 230"/>
          <p:cNvGrpSpPr/>
          <p:nvPr/>
        </p:nvGrpSpPr>
        <p:grpSpPr bwMode="auto">
          <a:xfrm>
            <a:off x="4646395" y="3911600"/>
            <a:ext cx="365125" cy="766763"/>
            <a:chOff x="4140" y="429"/>
            <a:chExt cx="1425" cy="2396"/>
          </a:xfrm>
        </p:grpSpPr>
        <p:sp>
          <p:nvSpPr>
            <p:cNvPr id="195" name="Freeform 23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6" name="Rectangle 232"/>
            <p:cNvSpPr>
              <a:spLocks noChangeArrowheads="1"/>
            </p:cNvSpPr>
            <p:nvPr/>
          </p:nvSpPr>
          <p:spPr bwMode="auto">
            <a:xfrm>
              <a:off x="4208" y="429"/>
              <a:ext cx="1047" cy="2282"/>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7" name="Freeform 23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8" name="Freeform 23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9" name="Rectangle 235"/>
            <p:cNvSpPr>
              <a:spLocks noChangeArrowheads="1"/>
            </p:cNvSpPr>
            <p:nvPr/>
          </p:nvSpPr>
          <p:spPr bwMode="auto">
            <a:xfrm>
              <a:off x="4214" y="692"/>
              <a:ext cx="595"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00" name="Group 236"/>
            <p:cNvGrpSpPr/>
            <p:nvPr/>
          </p:nvGrpSpPr>
          <p:grpSpPr bwMode="auto">
            <a:xfrm>
              <a:off x="4749" y="668"/>
              <a:ext cx="581" cy="145"/>
              <a:chOff x="614" y="2568"/>
              <a:chExt cx="725" cy="139"/>
            </a:xfrm>
          </p:grpSpPr>
          <p:sp>
            <p:nvSpPr>
              <p:cNvPr id="225" name="AutoShape 237"/>
              <p:cNvSpPr>
                <a:spLocks noChangeArrowheads="1"/>
              </p:cNvSpPr>
              <p:nvPr/>
            </p:nvSpPr>
            <p:spPr bwMode="auto">
              <a:xfrm>
                <a:off x="612" y="2567"/>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6" name="AutoShape 238"/>
              <p:cNvSpPr>
                <a:spLocks noChangeArrowheads="1"/>
              </p:cNvSpPr>
              <p:nvPr/>
            </p:nvSpPr>
            <p:spPr bwMode="auto">
              <a:xfrm>
                <a:off x="627" y="2581"/>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01" name="Rectangle 239"/>
            <p:cNvSpPr>
              <a:spLocks noChangeArrowheads="1"/>
            </p:cNvSpPr>
            <p:nvPr/>
          </p:nvSpPr>
          <p:spPr bwMode="auto">
            <a:xfrm>
              <a:off x="4227" y="1019"/>
              <a:ext cx="595" cy="45"/>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02" name="Group 240"/>
            <p:cNvGrpSpPr/>
            <p:nvPr/>
          </p:nvGrpSpPr>
          <p:grpSpPr bwMode="auto">
            <a:xfrm>
              <a:off x="4747" y="994"/>
              <a:ext cx="581" cy="134"/>
              <a:chOff x="614" y="2568"/>
              <a:chExt cx="725" cy="139"/>
            </a:xfrm>
          </p:grpSpPr>
          <p:sp>
            <p:nvSpPr>
              <p:cNvPr id="223" name="AutoShape 241"/>
              <p:cNvSpPr>
                <a:spLocks noChangeArrowheads="1"/>
              </p:cNvSpPr>
              <p:nvPr/>
            </p:nvSpPr>
            <p:spPr bwMode="auto">
              <a:xfrm>
                <a:off x="614" y="2569"/>
                <a:ext cx="727"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4" name="AutoShape 242"/>
              <p:cNvSpPr>
                <a:spLocks noChangeArrowheads="1"/>
              </p:cNvSpPr>
              <p:nvPr/>
            </p:nvSpPr>
            <p:spPr bwMode="auto">
              <a:xfrm>
                <a:off x="630" y="2584"/>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03" name="Rectangle 243"/>
            <p:cNvSpPr>
              <a:spLocks noChangeArrowheads="1"/>
            </p:cNvSpPr>
            <p:nvPr/>
          </p:nvSpPr>
          <p:spPr bwMode="auto">
            <a:xfrm>
              <a:off x="4214" y="1357"/>
              <a:ext cx="601"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4" name="Rectangle 244"/>
            <p:cNvSpPr>
              <a:spLocks noChangeArrowheads="1"/>
            </p:cNvSpPr>
            <p:nvPr/>
          </p:nvSpPr>
          <p:spPr bwMode="auto">
            <a:xfrm>
              <a:off x="4227" y="1654"/>
              <a:ext cx="595"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05" name="Group 245"/>
            <p:cNvGrpSpPr/>
            <p:nvPr/>
          </p:nvGrpSpPr>
          <p:grpSpPr bwMode="auto">
            <a:xfrm>
              <a:off x="4735" y="1627"/>
              <a:ext cx="582" cy="151"/>
              <a:chOff x="614" y="2568"/>
              <a:chExt cx="725" cy="139"/>
            </a:xfrm>
          </p:grpSpPr>
          <p:sp>
            <p:nvSpPr>
              <p:cNvPr id="221" name="AutoShape 246"/>
              <p:cNvSpPr>
                <a:spLocks noChangeArrowheads="1"/>
              </p:cNvSpPr>
              <p:nvPr/>
            </p:nvSpPr>
            <p:spPr bwMode="auto">
              <a:xfrm>
                <a:off x="614" y="2570"/>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2" name="AutoShape 247"/>
              <p:cNvSpPr>
                <a:spLocks noChangeArrowheads="1"/>
              </p:cNvSpPr>
              <p:nvPr/>
            </p:nvSpPr>
            <p:spPr bwMode="auto">
              <a:xfrm>
                <a:off x="629" y="2584"/>
                <a:ext cx="695"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06" name="Freeform 24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07" name="Group 249"/>
            <p:cNvGrpSpPr/>
            <p:nvPr/>
          </p:nvGrpSpPr>
          <p:grpSpPr bwMode="auto">
            <a:xfrm>
              <a:off x="4739" y="1327"/>
              <a:ext cx="582" cy="139"/>
              <a:chOff x="614" y="2568"/>
              <a:chExt cx="725" cy="139"/>
            </a:xfrm>
          </p:grpSpPr>
          <p:sp>
            <p:nvSpPr>
              <p:cNvPr id="219" name="AutoShape 250"/>
              <p:cNvSpPr>
                <a:spLocks noChangeArrowheads="1"/>
              </p:cNvSpPr>
              <p:nvPr/>
            </p:nvSpPr>
            <p:spPr bwMode="auto">
              <a:xfrm>
                <a:off x="616" y="2568"/>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0" name="AutoShape 251"/>
              <p:cNvSpPr>
                <a:spLocks noChangeArrowheads="1"/>
              </p:cNvSpPr>
              <p:nvPr/>
            </p:nvSpPr>
            <p:spPr bwMode="auto">
              <a:xfrm>
                <a:off x="632" y="2583"/>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08" name="Rectangle 252"/>
            <p:cNvSpPr>
              <a:spLocks noChangeArrowheads="1"/>
            </p:cNvSpPr>
            <p:nvPr/>
          </p:nvSpPr>
          <p:spPr bwMode="auto">
            <a:xfrm>
              <a:off x="5249" y="429"/>
              <a:ext cx="68"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9" name="Freeform 25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0" name="Freeform 254"/>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1" name="Oval 255"/>
            <p:cNvSpPr>
              <a:spLocks noChangeArrowheads="1"/>
            </p:cNvSpPr>
            <p:nvPr/>
          </p:nvSpPr>
          <p:spPr bwMode="auto">
            <a:xfrm>
              <a:off x="5515" y="2612"/>
              <a:ext cx="50" cy="94"/>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2" name="Freeform 256"/>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3" name="AutoShape 257"/>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4" name="AutoShape 258"/>
            <p:cNvSpPr>
              <a:spLocks noChangeArrowheads="1"/>
            </p:cNvSpPr>
            <p:nvPr/>
          </p:nvSpPr>
          <p:spPr bwMode="auto">
            <a:xfrm>
              <a:off x="4208" y="2711"/>
              <a:ext cx="1066" cy="84"/>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5" name="Oval 259"/>
            <p:cNvSpPr>
              <a:spLocks noChangeArrowheads="1"/>
            </p:cNvSpPr>
            <p:nvPr/>
          </p:nvSpPr>
          <p:spPr bwMode="auto">
            <a:xfrm>
              <a:off x="4307" y="2383"/>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6" name="Oval 260"/>
            <p:cNvSpPr>
              <a:spLocks noChangeArrowheads="1"/>
            </p:cNvSpPr>
            <p:nvPr/>
          </p:nvSpPr>
          <p:spPr bwMode="auto">
            <a:xfrm>
              <a:off x="4487" y="2383"/>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7" name="Oval 261"/>
            <p:cNvSpPr>
              <a:spLocks noChangeArrowheads="1"/>
            </p:cNvSpPr>
            <p:nvPr/>
          </p:nvSpPr>
          <p:spPr bwMode="auto">
            <a:xfrm>
              <a:off x="4660" y="2379"/>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8" name="Rectangle 262"/>
            <p:cNvSpPr>
              <a:spLocks noChangeArrowheads="1"/>
            </p:cNvSpPr>
            <p:nvPr/>
          </p:nvSpPr>
          <p:spPr bwMode="auto">
            <a:xfrm>
              <a:off x="5063" y="1833"/>
              <a:ext cx="87" cy="764"/>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27" name="Line 342"/>
          <p:cNvSpPr>
            <a:spLocks noChangeShapeType="1"/>
          </p:cNvSpPr>
          <p:nvPr/>
        </p:nvSpPr>
        <p:spPr bwMode="auto">
          <a:xfrm>
            <a:off x="3231933" y="3503613"/>
            <a:ext cx="503237" cy="331787"/>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8" name="Text Box 343"/>
          <p:cNvSpPr txBox="1">
            <a:spLocks noChangeArrowheads="1"/>
          </p:cNvSpPr>
          <p:nvPr/>
        </p:nvSpPr>
        <p:spPr bwMode="auto">
          <a:xfrm>
            <a:off x="3359375" y="3833813"/>
            <a:ext cx="10246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Ethernet </a:t>
            </a:r>
          </a:p>
          <a:p>
            <a:pPr algn="ct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交换机</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9" name="Line 344"/>
          <p:cNvSpPr>
            <a:spLocks noChangeShapeType="1"/>
          </p:cNvSpPr>
          <p:nvPr/>
        </p:nvSpPr>
        <p:spPr bwMode="auto">
          <a:xfrm>
            <a:off x="5438447" y="4255294"/>
            <a:ext cx="525462" cy="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0" name="Text Box 345"/>
          <p:cNvSpPr txBox="1">
            <a:spLocks noChangeArrowheads="1"/>
          </p:cNvSpPr>
          <p:nvPr/>
        </p:nvSpPr>
        <p:spPr bwMode="auto">
          <a:xfrm>
            <a:off x="5857806" y="4018008"/>
            <a:ext cx="877163"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机构</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ctr">
              <a:lnSpc>
                <a:spcPct val="85000"/>
              </a:lnSpc>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服务器</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1" name="Text Box 346"/>
          <p:cNvSpPr txBox="1">
            <a:spLocks noChangeArrowheads="1"/>
          </p:cNvSpPr>
          <p:nvPr/>
        </p:nvSpPr>
        <p:spPr bwMode="auto">
          <a:xfrm>
            <a:off x="5917477" y="3275047"/>
            <a:ext cx="1338828" cy="327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机构路由器</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2" name="Line 347"/>
          <p:cNvSpPr>
            <a:spLocks noChangeShapeType="1"/>
          </p:cNvSpPr>
          <p:nvPr/>
        </p:nvSpPr>
        <p:spPr bwMode="auto">
          <a:xfrm>
            <a:off x="5509996" y="2589104"/>
            <a:ext cx="1006475" cy="663575"/>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3" name="Line 348"/>
          <p:cNvSpPr>
            <a:spLocks noChangeShapeType="1"/>
          </p:cNvSpPr>
          <p:nvPr/>
        </p:nvSpPr>
        <p:spPr bwMode="auto">
          <a:xfrm>
            <a:off x="5586228" y="2347953"/>
            <a:ext cx="97155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 name="Line 349"/>
          <p:cNvSpPr>
            <a:spLocks noChangeShapeType="1"/>
          </p:cNvSpPr>
          <p:nvPr/>
        </p:nvSpPr>
        <p:spPr bwMode="auto">
          <a:xfrm>
            <a:off x="6599020" y="2350592"/>
            <a:ext cx="971550" cy="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 name="Line 350"/>
          <p:cNvSpPr>
            <a:spLocks noChangeShapeType="1"/>
          </p:cNvSpPr>
          <p:nvPr/>
        </p:nvSpPr>
        <p:spPr bwMode="auto">
          <a:xfrm>
            <a:off x="6213258" y="2413000"/>
            <a:ext cx="503237" cy="331788"/>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 name="Text Box 351"/>
          <p:cNvSpPr txBox="1">
            <a:spLocks noChangeArrowheads="1"/>
          </p:cNvSpPr>
          <p:nvPr/>
        </p:nvSpPr>
        <p:spPr bwMode="auto">
          <a:xfrm>
            <a:off x="6746803" y="2544076"/>
            <a:ext cx="1210588"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机构到</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ISP</a:t>
            </a:r>
          </a:p>
          <a:p>
            <a:pPr algn="ctr">
              <a:lnSpc>
                <a:spcPct val="85000"/>
              </a:lnSpc>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链路</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37" name="Group 353"/>
          <p:cNvGrpSpPr/>
          <p:nvPr/>
        </p:nvGrpSpPr>
        <p:grpSpPr bwMode="auto">
          <a:xfrm>
            <a:off x="4611470" y="2932113"/>
            <a:ext cx="1052513" cy="355600"/>
            <a:chOff x="4410" y="1365"/>
            <a:chExt cx="663" cy="224"/>
          </a:xfrm>
        </p:grpSpPr>
        <p:sp>
          <p:nvSpPr>
            <p:cNvPr id="238" name="Rectangle 354"/>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9" name="AutoShape 355"/>
            <p:cNvSpPr>
              <a:spLocks noChangeArrowheads="1"/>
            </p:cNvSpPr>
            <p:nvPr/>
          </p:nvSpPr>
          <p:spPr bwMode="auto">
            <a:xfrm>
              <a:off x="4410" y="1368"/>
              <a:ext cx="663" cy="135"/>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0" name="Freeform 356"/>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cmpd="sng">
              <a:solidFill>
                <a:srgbClr val="000000"/>
              </a:solidFill>
              <a:round/>
            </a:ln>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1" name="Freeform 357"/>
            <p:cNvSpPr/>
            <p:nvPr/>
          </p:nvSpPr>
          <p:spPr bwMode="auto">
            <a:xfrm>
              <a:off x="4475" y="1395"/>
              <a:ext cx="506" cy="80"/>
            </a:xfrm>
            <a:custGeom>
              <a:avLst/>
              <a:gdLst>
                <a:gd name="T0" fmla="*/ 0 w 280"/>
                <a:gd name="T1" fmla="*/ 1801 h 63"/>
                <a:gd name="T2" fmla="*/ 147159 w 280"/>
                <a:gd name="T3" fmla="*/ 1752 h 63"/>
                <a:gd name="T4" fmla="*/ 868488 w 280"/>
                <a:gd name="T5" fmla="*/ 0 h 63"/>
                <a:gd name="T6" fmla="*/ 1108812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2" name="Freeform 358"/>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43" name="Line 359"/>
          <p:cNvSpPr>
            <a:spLocks noChangeShapeType="1"/>
          </p:cNvSpPr>
          <p:nvPr/>
        </p:nvSpPr>
        <p:spPr bwMode="auto">
          <a:xfrm>
            <a:off x="5197258" y="2627313"/>
            <a:ext cx="0" cy="29686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44" name="Group 360"/>
          <p:cNvGrpSpPr/>
          <p:nvPr/>
        </p:nvGrpSpPr>
        <p:grpSpPr bwMode="auto">
          <a:xfrm>
            <a:off x="5086133" y="3905250"/>
            <a:ext cx="365125" cy="766763"/>
            <a:chOff x="4140" y="429"/>
            <a:chExt cx="1425" cy="2396"/>
          </a:xfrm>
        </p:grpSpPr>
        <p:sp>
          <p:nvSpPr>
            <p:cNvPr id="245" name="Freeform 36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6" name="Rectangle 362"/>
            <p:cNvSpPr>
              <a:spLocks noChangeArrowheads="1"/>
            </p:cNvSpPr>
            <p:nvPr/>
          </p:nvSpPr>
          <p:spPr bwMode="auto">
            <a:xfrm>
              <a:off x="4208" y="429"/>
              <a:ext cx="1047" cy="2282"/>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7" name="Freeform 36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8" name="Freeform 36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9" name="Rectangle 365"/>
            <p:cNvSpPr>
              <a:spLocks noChangeArrowheads="1"/>
            </p:cNvSpPr>
            <p:nvPr/>
          </p:nvSpPr>
          <p:spPr bwMode="auto">
            <a:xfrm>
              <a:off x="4214" y="692"/>
              <a:ext cx="595"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50" name="Group 366"/>
            <p:cNvGrpSpPr/>
            <p:nvPr/>
          </p:nvGrpSpPr>
          <p:grpSpPr bwMode="auto">
            <a:xfrm>
              <a:off x="4749" y="668"/>
              <a:ext cx="581" cy="145"/>
              <a:chOff x="614" y="2568"/>
              <a:chExt cx="725" cy="139"/>
            </a:xfrm>
          </p:grpSpPr>
          <p:sp>
            <p:nvSpPr>
              <p:cNvPr id="275" name="AutoShape 367"/>
              <p:cNvSpPr>
                <a:spLocks noChangeArrowheads="1"/>
              </p:cNvSpPr>
              <p:nvPr/>
            </p:nvSpPr>
            <p:spPr bwMode="auto">
              <a:xfrm>
                <a:off x="612" y="2567"/>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6" name="AutoShape 368"/>
              <p:cNvSpPr>
                <a:spLocks noChangeArrowheads="1"/>
              </p:cNvSpPr>
              <p:nvPr/>
            </p:nvSpPr>
            <p:spPr bwMode="auto">
              <a:xfrm>
                <a:off x="627" y="2581"/>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51" name="Rectangle 369"/>
            <p:cNvSpPr>
              <a:spLocks noChangeArrowheads="1"/>
            </p:cNvSpPr>
            <p:nvPr/>
          </p:nvSpPr>
          <p:spPr bwMode="auto">
            <a:xfrm>
              <a:off x="4227" y="1019"/>
              <a:ext cx="595" cy="45"/>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52" name="Group 370"/>
            <p:cNvGrpSpPr/>
            <p:nvPr/>
          </p:nvGrpSpPr>
          <p:grpSpPr bwMode="auto">
            <a:xfrm>
              <a:off x="4747" y="994"/>
              <a:ext cx="581" cy="134"/>
              <a:chOff x="614" y="2568"/>
              <a:chExt cx="725" cy="139"/>
            </a:xfrm>
          </p:grpSpPr>
          <p:sp>
            <p:nvSpPr>
              <p:cNvPr id="273" name="AutoShape 371"/>
              <p:cNvSpPr>
                <a:spLocks noChangeArrowheads="1"/>
              </p:cNvSpPr>
              <p:nvPr/>
            </p:nvSpPr>
            <p:spPr bwMode="auto">
              <a:xfrm>
                <a:off x="614" y="2569"/>
                <a:ext cx="727"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4" name="AutoShape 372"/>
              <p:cNvSpPr>
                <a:spLocks noChangeArrowheads="1"/>
              </p:cNvSpPr>
              <p:nvPr/>
            </p:nvSpPr>
            <p:spPr bwMode="auto">
              <a:xfrm>
                <a:off x="630" y="2584"/>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53" name="Rectangle 373"/>
            <p:cNvSpPr>
              <a:spLocks noChangeArrowheads="1"/>
            </p:cNvSpPr>
            <p:nvPr/>
          </p:nvSpPr>
          <p:spPr bwMode="auto">
            <a:xfrm>
              <a:off x="4214" y="1357"/>
              <a:ext cx="601"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4" name="Rectangle 374"/>
            <p:cNvSpPr>
              <a:spLocks noChangeArrowheads="1"/>
            </p:cNvSpPr>
            <p:nvPr/>
          </p:nvSpPr>
          <p:spPr bwMode="auto">
            <a:xfrm>
              <a:off x="4227" y="1654"/>
              <a:ext cx="595"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55" name="Group 375"/>
            <p:cNvGrpSpPr/>
            <p:nvPr/>
          </p:nvGrpSpPr>
          <p:grpSpPr bwMode="auto">
            <a:xfrm>
              <a:off x="4735" y="1627"/>
              <a:ext cx="582" cy="151"/>
              <a:chOff x="614" y="2568"/>
              <a:chExt cx="725" cy="139"/>
            </a:xfrm>
          </p:grpSpPr>
          <p:sp>
            <p:nvSpPr>
              <p:cNvPr id="271" name="AutoShape 376"/>
              <p:cNvSpPr>
                <a:spLocks noChangeArrowheads="1"/>
              </p:cNvSpPr>
              <p:nvPr/>
            </p:nvSpPr>
            <p:spPr bwMode="auto">
              <a:xfrm>
                <a:off x="614" y="2570"/>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2" name="AutoShape 377"/>
              <p:cNvSpPr>
                <a:spLocks noChangeArrowheads="1"/>
              </p:cNvSpPr>
              <p:nvPr/>
            </p:nvSpPr>
            <p:spPr bwMode="auto">
              <a:xfrm>
                <a:off x="629" y="2584"/>
                <a:ext cx="695"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56" name="Freeform 37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57" name="Group 379"/>
            <p:cNvGrpSpPr/>
            <p:nvPr/>
          </p:nvGrpSpPr>
          <p:grpSpPr bwMode="auto">
            <a:xfrm>
              <a:off x="4739" y="1327"/>
              <a:ext cx="582" cy="139"/>
              <a:chOff x="614" y="2568"/>
              <a:chExt cx="725" cy="139"/>
            </a:xfrm>
          </p:grpSpPr>
          <p:sp>
            <p:nvSpPr>
              <p:cNvPr id="269" name="AutoShape 380"/>
              <p:cNvSpPr>
                <a:spLocks noChangeArrowheads="1"/>
              </p:cNvSpPr>
              <p:nvPr/>
            </p:nvSpPr>
            <p:spPr bwMode="auto">
              <a:xfrm>
                <a:off x="616" y="2568"/>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 name="AutoShape 381"/>
              <p:cNvSpPr>
                <a:spLocks noChangeArrowheads="1"/>
              </p:cNvSpPr>
              <p:nvPr/>
            </p:nvSpPr>
            <p:spPr bwMode="auto">
              <a:xfrm>
                <a:off x="632" y="2583"/>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58" name="Rectangle 382"/>
            <p:cNvSpPr>
              <a:spLocks noChangeArrowheads="1"/>
            </p:cNvSpPr>
            <p:nvPr/>
          </p:nvSpPr>
          <p:spPr bwMode="auto">
            <a:xfrm>
              <a:off x="5249" y="429"/>
              <a:ext cx="68"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9" name="Freeform 38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0" name="Freeform 384"/>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1" name="Oval 385"/>
            <p:cNvSpPr>
              <a:spLocks noChangeArrowheads="1"/>
            </p:cNvSpPr>
            <p:nvPr/>
          </p:nvSpPr>
          <p:spPr bwMode="auto">
            <a:xfrm>
              <a:off x="5515" y="2612"/>
              <a:ext cx="50" cy="94"/>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2" name="Freeform 386"/>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3" name="AutoShape 387"/>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4" name="AutoShape 388"/>
            <p:cNvSpPr>
              <a:spLocks noChangeArrowheads="1"/>
            </p:cNvSpPr>
            <p:nvPr/>
          </p:nvSpPr>
          <p:spPr bwMode="auto">
            <a:xfrm>
              <a:off x="4208" y="2711"/>
              <a:ext cx="1066" cy="84"/>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5" name="Oval 389"/>
            <p:cNvSpPr>
              <a:spLocks noChangeArrowheads="1"/>
            </p:cNvSpPr>
            <p:nvPr/>
          </p:nvSpPr>
          <p:spPr bwMode="auto">
            <a:xfrm>
              <a:off x="4307" y="2383"/>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 name="Oval 390"/>
            <p:cNvSpPr>
              <a:spLocks noChangeArrowheads="1"/>
            </p:cNvSpPr>
            <p:nvPr/>
          </p:nvSpPr>
          <p:spPr bwMode="auto">
            <a:xfrm>
              <a:off x="4487" y="2383"/>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8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7" name="Oval 391"/>
            <p:cNvSpPr>
              <a:spLocks noChangeArrowheads="1"/>
            </p:cNvSpPr>
            <p:nvPr/>
          </p:nvSpPr>
          <p:spPr bwMode="auto">
            <a:xfrm>
              <a:off x="4660" y="2379"/>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8" name="Rectangle 392"/>
            <p:cNvSpPr>
              <a:spLocks noChangeArrowheads="1"/>
            </p:cNvSpPr>
            <p:nvPr/>
          </p:nvSpPr>
          <p:spPr bwMode="auto">
            <a:xfrm>
              <a:off x="5063" y="1833"/>
              <a:ext cx="87" cy="764"/>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77" name="Line 393"/>
          <p:cNvSpPr>
            <a:spLocks noChangeShapeType="1"/>
          </p:cNvSpPr>
          <p:nvPr/>
        </p:nvSpPr>
        <p:spPr bwMode="auto">
          <a:xfrm flipH="1">
            <a:off x="3852645" y="3346450"/>
            <a:ext cx="788988" cy="503238"/>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8" name="Group 395"/>
          <p:cNvGrpSpPr/>
          <p:nvPr/>
        </p:nvGrpSpPr>
        <p:grpSpPr bwMode="auto">
          <a:xfrm>
            <a:off x="1010767" y="2822577"/>
            <a:ext cx="723900" cy="665162"/>
            <a:chOff x="-44" y="1473"/>
            <a:chExt cx="981" cy="1105"/>
          </a:xfrm>
        </p:grpSpPr>
        <p:pic>
          <p:nvPicPr>
            <p:cNvPr id="279" name="Picture 396"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 name="Freeform 397"/>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81" name="Group 398"/>
          <p:cNvGrpSpPr/>
          <p:nvPr/>
        </p:nvGrpSpPr>
        <p:grpSpPr bwMode="auto">
          <a:xfrm>
            <a:off x="1218509" y="3406918"/>
            <a:ext cx="723900" cy="665163"/>
            <a:chOff x="-44" y="1473"/>
            <a:chExt cx="981" cy="1105"/>
          </a:xfrm>
        </p:grpSpPr>
        <p:pic>
          <p:nvPicPr>
            <p:cNvPr id="282" name="Picture 399"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Freeform 400"/>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84" name="Group 401"/>
          <p:cNvGrpSpPr/>
          <p:nvPr/>
        </p:nvGrpSpPr>
        <p:grpSpPr bwMode="auto">
          <a:xfrm>
            <a:off x="1762351" y="3847296"/>
            <a:ext cx="723900" cy="665162"/>
            <a:chOff x="-44" y="1473"/>
            <a:chExt cx="981" cy="1105"/>
          </a:xfrm>
        </p:grpSpPr>
        <p:pic>
          <p:nvPicPr>
            <p:cNvPr id="285" name="Picture 402"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403"/>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87" name="Group 404"/>
          <p:cNvGrpSpPr/>
          <p:nvPr/>
        </p:nvGrpSpPr>
        <p:grpSpPr bwMode="auto">
          <a:xfrm>
            <a:off x="2436088" y="3922713"/>
            <a:ext cx="723900" cy="665163"/>
            <a:chOff x="-44" y="1473"/>
            <a:chExt cx="981" cy="1105"/>
          </a:xfrm>
        </p:grpSpPr>
        <p:pic>
          <p:nvPicPr>
            <p:cNvPr id="288" name="Picture 405"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406"/>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90" name="Group 347"/>
          <p:cNvGrpSpPr/>
          <p:nvPr/>
        </p:nvGrpSpPr>
        <p:grpSpPr bwMode="auto">
          <a:xfrm>
            <a:off x="4671795" y="2146572"/>
            <a:ext cx="917010" cy="486085"/>
            <a:chOff x="1871277" y="1576300"/>
            <a:chExt cx="1128371" cy="437861"/>
          </a:xfrm>
        </p:grpSpPr>
        <p:sp>
          <p:nvSpPr>
            <p:cNvPr id="291" name="Oval 20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8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2" name="Rectangle 202"/>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3" name="Oval 20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8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4" name="Freeform 204"/>
            <p:cNvSpPr/>
            <p:nvPr/>
          </p:nvSpPr>
          <p:spPr bwMode="auto">
            <a:xfrm>
              <a:off x="2159402" y="1672887"/>
              <a:ext cx="549283" cy="16097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5" name="Freeform 20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6" name="Freeform 20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 name="Freeform 20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98" name="Straight Connector 208"/>
            <p:cNvCxnSpPr>
              <a:cxnSpLocks noChangeShapeType="1"/>
              <a:endCxn id="293"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99" name="Straight Connector 20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300" name="Rectangle 3"/>
          <p:cNvSpPr txBox="1">
            <a:spLocks noChangeArrowheads="1"/>
          </p:cNvSpPr>
          <p:nvPr/>
        </p:nvSpPr>
        <p:spPr>
          <a:xfrm>
            <a:off x="662442" y="5016337"/>
            <a:ext cx="7898055" cy="1290097"/>
          </a:xfrm>
          <a:prstGeom prst="rect">
            <a:avLst/>
          </a:prstGeom>
          <a:solidFill>
            <a:schemeClr val="accent6">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505" indent="-266700">
              <a:lnSpc>
                <a:spcPts val="3000"/>
              </a:lnSpc>
              <a:spcBef>
                <a:spcPts val="0"/>
              </a:spcBef>
              <a:buFont typeface="Arial" panose="020B0604020202020204" pitchFamily="34" charset="0"/>
              <a:buBlip>
                <a:blip r:embed="rId15"/>
              </a:buBlip>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典型的企业、公司、学校网络结构</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marL="357505" indent="-266700">
              <a:lnSpc>
                <a:spcPts val="3000"/>
              </a:lnSpc>
              <a:spcBef>
                <a:spcPts val="0"/>
              </a:spcBef>
              <a:buBlip>
                <a:blip r:embed="rId15"/>
              </a:buBlip>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可达</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10 Mbps, 100Mbps, 1Gbps, 10Gbps</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传输速率</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marL="357505" indent="-266700">
              <a:lnSpc>
                <a:spcPts val="3000"/>
              </a:lnSpc>
              <a:spcBef>
                <a:spcPts val="0"/>
              </a:spcBef>
              <a:buBlip>
                <a:blip r:embed="rId15"/>
              </a:buBlip>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端系统可以连入以太网交换机或通过</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WiFi</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接入</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a:stCxn id="82955" idx="1"/>
            <a:endCxn id="82955" idx="3"/>
          </p:cNvCxnSpPr>
          <p:nvPr/>
        </p:nvCxnSpPr>
        <p:spPr>
          <a:xfrm>
            <a:off x="1750952" y="4138613"/>
            <a:ext cx="1676400" cy="0"/>
          </a:xfrm>
          <a:prstGeom prst="line">
            <a:avLst/>
          </a:prstGeom>
          <a:ln w="9525">
            <a:prstDash val="dash"/>
          </a:ln>
        </p:spPr>
        <p:style>
          <a:lnRef idx="1">
            <a:schemeClr val="accent2"/>
          </a:lnRef>
          <a:fillRef idx="0">
            <a:schemeClr val="accent2"/>
          </a:fillRef>
          <a:effectRef idx="0">
            <a:schemeClr val="accent2"/>
          </a:effectRef>
          <a:fontRef idx="minor">
            <a:schemeClr val="tx1"/>
          </a:fontRef>
        </p:style>
      </p:cxnSp>
      <p:sp>
        <p:nvSpPr>
          <p:cNvPr id="770050" name="Rectangle 2"/>
          <p:cNvSpPr>
            <a:spLocks noGrp="1" noChangeArrowheads="1"/>
          </p:cNvSpPr>
          <p:nvPr>
            <p:ph type="title"/>
          </p:nvPr>
        </p:nvSpPr>
        <p:spPr>
          <a:xfrm>
            <a:off x="323850" y="620233"/>
            <a:ext cx="8210550" cy="965610"/>
          </a:xfrm>
        </p:spPr>
        <p:txBody>
          <a:bodyPr/>
          <a:lstStyle/>
          <a:p>
            <a:pPr>
              <a:defRP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ISO/OSI</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参考模型与</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TCP/IP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体系结构</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2952" name="Rectangle 8"/>
          <p:cNvSpPr>
            <a:spLocks noChangeArrowheads="1"/>
          </p:cNvSpPr>
          <p:nvPr/>
        </p:nvSpPr>
        <p:spPr bwMode="auto">
          <a:xfrm>
            <a:off x="1750952" y="493871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a:ea typeface="宋体" panose="02010600030101010101" pitchFamily="2" charset="-122"/>
              </a:rPr>
              <a:t>物理层</a:t>
            </a:r>
            <a:endParaRPr lang="en-US" altLang="zh-CN" sz="2000" dirty="0">
              <a:ea typeface="宋体" panose="02010600030101010101" pitchFamily="2" charset="-122"/>
            </a:endParaRPr>
          </a:p>
        </p:txBody>
      </p:sp>
      <p:sp>
        <p:nvSpPr>
          <p:cNvPr id="82953" name="Rectangle 9"/>
          <p:cNvSpPr>
            <a:spLocks noChangeArrowheads="1"/>
          </p:cNvSpPr>
          <p:nvPr/>
        </p:nvSpPr>
        <p:spPr bwMode="auto">
          <a:xfrm>
            <a:off x="1750952" y="1749425"/>
            <a:ext cx="1676400" cy="525463"/>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82954" name="Rectangle 11"/>
          <p:cNvSpPr>
            <a:spLocks noChangeArrowheads="1"/>
          </p:cNvSpPr>
          <p:nvPr/>
        </p:nvSpPr>
        <p:spPr bwMode="auto">
          <a:xfrm>
            <a:off x="1750952" y="333851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82955" name="Rectangle 12"/>
          <p:cNvSpPr>
            <a:spLocks noChangeArrowheads="1"/>
          </p:cNvSpPr>
          <p:nvPr/>
        </p:nvSpPr>
        <p:spPr bwMode="auto">
          <a:xfrm>
            <a:off x="1750952" y="3871913"/>
            <a:ext cx="1676400" cy="533400"/>
          </a:xfrm>
          <a:prstGeom prst="rect">
            <a:avLst/>
          </a:prstGeom>
          <a:no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a:ea typeface="宋体" panose="02010600030101010101" pitchFamily="2" charset="-122"/>
              </a:rPr>
              <a:t>网络层</a:t>
            </a:r>
            <a:endParaRPr lang="en-US" altLang="zh-CN" sz="2000" dirty="0">
              <a:ea typeface="宋体" panose="02010600030101010101" pitchFamily="2" charset="-122"/>
            </a:endParaRPr>
          </a:p>
        </p:txBody>
      </p:sp>
      <p:sp>
        <p:nvSpPr>
          <p:cNvPr id="82956" name="Rectangle 13"/>
          <p:cNvSpPr>
            <a:spLocks noChangeArrowheads="1"/>
          </p:cNvSpPr>
          <p:nvPr/>
        </p:nvSpPr>
        <p:spPr bwMode="auto">
          <a:xfrm>
            <a:off x="1750952" y="440531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数据链路层</a:t>
            </a:r>
            <a:endParaRPr lang="en-US" altLang="zh-CN" sz="2000" dirty="0">
              <a:ea typeface="宋体" panose="02010600030101010101" pitchFamily="2" charset="-122"/>
            </a:endParaRPr>
          </a:p>
        </p:txBody>
      </p:sp>
      <p:sp>
        <p:nvSpPr>
          <p:cNvPr id="53"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1.4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网络体系结构</a:t>
            </a:r>
          </a:p>
        </p:txBody>
      </p:sp>
      <p:sp>
        <p:nvSpPr>
          <p:cNvPr id="3" name="Rectangle 11"/>
          <p:cNvSpPr>
            <a:spLocks noChangeArrowheads="1"/>
          </p:cNvSpPr>
          <p:nvPr/>
        </p:nvSpPr>
        <p:spPr bwMode="auto">
          <a:xfrm>
            <a:off x="1750952" y="2277269"/>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表示层</a:t>
            </a:r>
            <a:endParaRPr kumimoji="0" lang="en-US" altLang="zh-CN" sz="2000" dirty="0">
              <a:ea typeface="宋体" panose="02010600030101010101" pitchFamily="2" charset="-122"/>
            </a:endParaRPr>
          </a:p>
        </p:txBody>
      </p:sp>
      <p:sp>
        <p:nvSpPr>
          <p:cNvPr id="4" name="Rectangle 11"/>
          <p:cNvSpPr>
            <a:spLocks noChangeArrowheads="1"/>
          </p:cNvSpPr>
          <p:nvPr/>
        </p:nvSpPr>
        <p:spPr bwMode="auto">
          <a:xfrm>
            <a:off x="1750952" y="281146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会话层</a:t>
            </a:r>
            <a:endParaRPr kumimoji="0" lang="en-US" altLang="zh-CN" sz="2000" dirty="0">
              <a:ea typeface="宋体" panose="02010600030101010101" pitchFamily="2" charset="-122"/>
            </a:endParaRPr>
          </a:p>
        </p:txBody>
      </p:sp>
      <p:sp>
        <p:nvSpPr>
          <p:cNvPr id="6" name="Rectangle 9"/>
          <p:cNvSpPr>
            <a:spLocks noChangeArrowheads="1"/>
          </p:cNvSpPr>
          <p:nvPr/>
        </p:nvSpPr>
        <p:spPr bwMode="auto">
          <a:xfrm>
            <a:off x="4789419" y="1749425"/>
            <a:ext cx="1676400" cy="1589088"/>
          </a:xfrm>
          <a:prstGeom prst="rect">
            <a:avLst/>
          </a:prstGeom>
          <a:solidFill>
            <a:schemeClr val="accent6">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7" name="Rectangle 11"/>
          <p:cNvSpPr>
            <a:spLocks noChangeArrowheads="1"/>
          </p:cNvSpPr>
          <p:nvPr/>
        </p:nvSpPr>
        <p:spPr bwMode="auto">
          <a:xfrm>
            <a:off x="4789419" y="3338513"/>
            <a:ext cx="1676400" cy="533400"/>
          </a:xfrm>
          <a:prstGeom prst="rect">
            <a:avLst/>
          </a:prstGeom>
          <a:solidFill>
            <a:schemeClr val="accent6">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8" name="Rectangle 12"/>
          <p:cNvSpPr>
            <a:spLocks noChangeArrowheads="1"/>
          </p:cNvSpPr>
          <p:nvPr/>
        </p:nvSpPr>
        <p:spPr bwMode="auto">
          <a:xfrm>
            <a:off x="4789419" y="3871913"/>
            <a:ext cx="1676400" cy="533400"/>
          </a:xfrm>
          <a:prstGeom prst="rect">
            <a:avLst/>
          </a:prstGeom>
          <a:solidFill>
            <a:schemeClr val="accent6">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9" name="Rectangle 13"/>
          <p:cNvSpPr>
            <a:spLocks noChangeArrowheads="1"/>
          </p:cNvSpPr>
          <p:nvPr/>
        </p:nvSpPr>
        <p:spPr bwMode="auto">
          <a:xfrm>
            <a:off x="4789419" y="4405313"/>
            <a:ext cx="1676400" cy="10668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12" name="Text Box 42"/>
          <p:cNvSpPr txBox="1">
            <a:spLocks noChangeArrowheads="1"/>
          </p:cNvSpPr>
          <p:nvPr/>
        </p:nvSpPr>
        <p:spPr bwMode="auto">
          <a:xfrm>
            <a:off x="1750952" y="5661026"/>
            <a:ext cx="1676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chemeClr val="accent1">
                    <a:lumMod val="75000"/>
                  </a:schemeClr>
                </a:solidFill>
                <a:ea typeface="宋体" panose="02010600030101010101" pitchFamily="2" charset="-122"/>
              </a:rPr>
              <a:t>OSI</a:t>
            </a:r>
            <a:r>
              <a:rPr kumimoji="0" lang="zh-CN" altLang="en-US" sz="2000" dirty="0">
                <a:solidFill>
                  <a:schemeClr val="accent1">
                    <a:lumMod val="75000"/>
                  </a:schemeClr>
                </a:solidFill>
                <a:ea typeface="宋体" panose="02010600030101010101" pitchFamily="2" charset="-122"/>
              </a:rPr>
              <a:t>参考模型</a:t>
            </a:r>
            <a:endParaRPr kumimoji="0" lang="en-US" altLang="zh-CN" sz="2000" dirty="0">
              <a:solidFill>
                <a:schemeClr val="accent1">
                  <a:lumMod val="75000"/>
                </a:schemeClr>
              </a:solidFill>
              <a:ea typeface="宋体" panose="02010600030101010101" pitchFamily="2" charset="-122"/>
            </a:endParaRPr>
          </a:p>
        </p:txBody>
      </p:sp>
      <p:sp>
        <p:nvSpPr>
          <p:cNvPr id="13" name="Text Box 42"/>
          <p:cNvSpPr txBox="1">
            <a:spLocks noChangeArrowheads="1"/>
          </p:cNvSpPr>
          <p:nvPr/>
        </p:nvSpPr>
        <p:spPr bwMode="auto">
          <a:xfrm>
            <a:off x="4572725" y="5661026"/>
            <a:ext cx="21097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chemeClr val="accent1">
                    <a:lumMod val="75000"/>
                  </a:schemeClr>
                </a:solidFill>
                <a:ea typeface="宋体" panose="02010600030101010101" pitchFamily="2" charset="-122"/>
              </a:rPr>
              <a:t>TCP/IP</a:t>
            </a:r>
            <a:r>
              <a:rPr kumimoji="0" lang="zh-CN" altLang="en-US" sz="2000" dirty="0">
                <a:solidFill>
                  <a:schemeClr val="accent1">
                    <a:lumMod val="75000"/>
                  </a:schemeClr>
                </a:solidFill>
                <a:ea typeface="宋体" panose="02010600030101010101" pitchFamily="2" charset="-122"/>
              </a:rPr>
              <a:t>体系结构</a:t>
            </a:r>
            <a:endParaRPr kumimoji="0" lang="en-US" altLang="zh-CN" sz="2000" dirty="0">
              <a:solidFill>
                <a:schemeClr val="accent1">
                  <a:lumMod val="75000"/>
                </a:schemeClr>
              </a:solidFill>
              <a:ea typeface="宋体" panose="02010600030101010101" pitchFamily="2" charset="-122"/>
            </a:endParaRPr>
          </a:p>
        </p:txBody>
      </p:sp>
      <p:sp>
        <p:nvSpPr>
          <p:cNvPr id="15" name="右中括号 14"/>
          <p:cNvSpPr/>
          <p:nvPr/>
        </p:nvSpPr>
        <p:spPr>
          <a:xfrm>
            <a:off x="6572182" y="1749425"/>
            <a:ext cx="66675" cy="2655888"/>
          </a:xfrm>
          <a:prstGeom prst="rightBracket">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 Box 42"/>
          <p:cNvSpPr txBox="1">
            <a:spLocks noChangeArrowheads="1"/>
          </p:cNvSpPr>
          <p:nvPr/>
        </p:nvSpPr>
        <p:spPr bwMode="auto">
          <a:xfrm>
            <a:off x="6682512" y="2819341"/>
            <a:ext cx="12422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chemeClr val="accent1">
                    <a:lumMod val="75000"/>
                  </a:schemeClr>
                </a:solidFill>
                <a:ea typeface="宋体" panose="02010600030101010101" pitchFamily="2" charset="-122"/>
              </a:rPr>
              <a:t>IETF</a:t>
            </a:r>
            <a:r>
              <a:rPr kumimoji="0" lang="zh-CN" altLang="en-US" sz="2000" dirty="0">
                <a:solidFill>
                  <a:schemeClr val="accent1">
                    <a:lumMod val="75000"/>
                  </a:schemeClr>
                </a:solidFill>
                <a:ea typeface="宋体" panose="02010600030101010101" pitchFamily="2" charset="-122"/>
              </a:rPr>
              <a:t>定义</a:t>
            </a:r>
            <a:endParaRPr kumimoji="0" lang="en-US" altLang="zh-CN" sz="2000" dirty="0">
              <a:solidFill>
                <a:schemeClr val="accent1">
                  <a:lumMod val="75000"/>
                </a:schemeClr>
              </a:solidFill>
              <a:ea typeface="宋体" panose="02010600030101010101" pitchFamily="2" charset="-122"/>
            </a:endParaRPr>
          </a:p>
        </p:txBody>
      </p:sp>
      <p:sp>
        <p:nvSpPr>
          <p:cNvPr id="17" name="Text Box 42"/>
          <p:cNvSpPr txBox="1">
            <a:spLocks noChangeArrowheads="1"/>
          </p:cNvSpPr>
          <p:nvPr/>
        </p:nvSpPr>
        <p:spPr bwMode="auto">
          <a:xfrm>
            <a:off x="6429306" y="4564271"/>
            <a:ext cx="1889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ea typeface="宋体" panose="02010600030101010101" pitchFamily="2" charset="-122"/>
              </a:rPr>
              <a:t>各种组织定义如</a:t>
            </a:r>
            <a:r>
              <a:rPr kumimoji="0" lang="en-US" altLang="zh-CN" sz="2000" dirty="0">
                <a:solidFill>
                  <a:schemeClr val="accent1">
                    <a:lumMod val="75000"/>
                  </a:schemeClr>
                </a:solidFill>
                <a:ea typeface="宋体" panose="02010600030101010101" pitchFamily="2" charset="-122"/>
              </a:rPr>
              <a:t>IEEE</a:t>
            </a:r>
            <a:r>
              <a:rPr kumimoji="0" lang="zh-CN" altLang="en-US" sz="2000" dirty="0">
                <a:solidFill>
                  <a:schemeClr val="accent1">
                    <a:lumMod val="75000"/>
                  </a:schemeClr>
                </a:solidFill>
                <a:ea typeface="宋体" panose="02010600030101010101" pitchFamily="2" charset="-122"/>
              </a:rPr>
              <a:t>、</a:t>
            </a:r>
            <a:r>
              <a:rPr lang="en-US" altLang="zh-CN" sz="2000" dirty="0">
                <a:solidFill>
                  <a:schemeClr val="accent1">
                    <a:lumMod val="75000"/>
                  </a:schemeClr>
                </a:solidFill>
                <a:ea typeface="宋体" panose="02010600030101010101" pitchFamily="2" charset="-122"/>
              </a:rPr>
              <a:t>3GPP</a:t>
            </a:r>
            <a:endParaRPr kumimoji="0" lang="en-US" altLang="zh-CN" sz="2000" dirty="0">
              <a:solidFill>
                <a:schemeClr val="accent1">
                  <a:lumMod val="75000"/>
                </a:schemeClr>
              </a:solidFill>
              <a:ea typeface="宋体" panose="02010600030101010101" pitchFamily="2" charset="-122"/>
            </a:endParaRPr>
          </a:p>
        </p:txBody>
      </p:sp>
      <p:cxnSp>
        <p:nvCxnSpPr>
          <p:cNvPr id="24" name="直接连接符 23"/>
          <p:cNvCxnSpPr>
            <a:stCxn id="82955" idx="3"/>
          </p:cNvCxnSpPr>
          <p:nvPr/>
        </p:nvCxnSpPr>
        <p:spPr>
          <a:xfrm>
            <a:off x="3427352" y="4138613"/>
            <a:ext cx="1362067" cy="266700"/>
          </a:xfrm>
          <a:prstGeom prst="line">
            <a:avLst/>
          </a:prstGeom>
          <a:ln w="9525">
            <a:solidFill>
              <a:schemeClr val="accent1"/>
            </a:solidFill>
            <a:prstDash val="dash"/>
          </a:ln>
        </p:spPr>
        <p:style>
          <a:lnRef idx="1">
            <a:schemeClr val="accent2"/>
          </a:lnRef>
          <a:fillRef idx="0">
            <a:schemeClr val="accent2"/>
          </a:fillRef>
          <a:effectRef idx="0">
            <a:schemeClr val="accent2"/>
          </a:effectRef>
          <a:fontRef idx="minor">
            <a:schemeClr val="tx1"/>
          </a:fontRef>
        </p:style>
      </p:cxnSp>
      <p:cxnSp>
        <p:nvCxnSpPr>
          <p:cNvPr id="27" name="直接连接符 26"/>
          <p:cNvCxnSpPr/>
          <p:nvPr/>
        </p:nvCxnSpPr>
        <p:spPr>
          <a:xfrm>
            <a:off x="3427352" y="5472113"/>
            <a:ext cx="1362067" cy="0"/>
          </a:xfrm>
          <a:prstGeom prst="line">
            <a:avLst/>
          </a:prstGeom>
          <a:ln w="9525">
            <a:solidFill>
              <a:schemeClr val="accent1"/>
            </a:solidFill>
            <a:prstDash val="dash"/>
          </a:ln>
        </p:spPr>
        <p:style>
          <a:lnRef idx="1">
            <a:schemeClr val="accent2"/>
          </a:lnRef>
          <a:fillRef idx="0">
            <a:schemeClr val="accent2"/>
          </a:fillRef>
          <a:effectRef idx="0">
            <a:schemeClr val="accent2"/>
          </a:effectRef>
          <a:fontRef idx="minor">
            <a:schemeClr val="tx1"/>
          </a:fontRef>
        </p:style>
      </p:cxnSp>
      <p:cxnSp>
        <p:nvCxnSpPr>
          <p:cNvPr id="31" name="直接连接符 30"/>
          <p:cNvCxnSpPr/>
          <p:nvPr/>
        </p:nvCxnSpPr>
        <p:spPr>
          <a:xfrm>
            <a:off x="3427352" y="1749425"/>
            <a:ext cx="1362067" cy="0"/>
          </a:xfrm>
          <a:prstGeom prst="line">
            <a:avLst/>
          </a:prstGeom>
          <a:ln w="9525">
            <a:solidFill>
              <a:schemeClr val="accent1"/>
            </a:solidFill>
            <a:prstDash val="dash"/>
          </a:ln>
        </p:spPr>
        <p:style>
          <a:lnRef idx="1">
            <a:schemeClr val="accent2"/>
          </a:lnRef>
          <a:fillRef idx="0">
            <a:schemeClr val="accent2"/>
          </a:fillRef>
          <a:effectRef idx="0">
            <a:schemeClr val="accent2"/>
          </a:effectRef>
          <a:fontRef idx="minor">
            <a:schemeClr val="tx1"/>
          </a:fontRef>
        </p:style>
      </p:cxnSp>
      <p:cxnSp>
        <p:nvCxnSpPr>
          <p:cNvPr id="32" name="直接连接符 31"/>
          <p:cNvCxnSpPr/>
          <p:nvPr/>
        </p:nvCxnSpPr>
        <p:spPr>
          <a:xfrm>
            <a:off x="3427351" y="3344863"/>
            <a:ext cx="1362067" cy="0"/>
          </a:xfrm>
          <a:prstGeom prst="line">
            <a:avLst/>
          </a:prstGeom>
          <a:ln w="9525">
            <a:solidFill>
              <a:schemeClr val="accent1"/>
            </a:solidFill>
            <a:prstDash val="dash"/>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a:xfrm>
            <a:off x="323850" y="609600"/>
            <a:ext cx="8210550" cy="931712"/>
          </a:xfrm>
        </p:spPr>
        <p:txBody>
          <a:bodyPr/>
          <a:lstStyle/>
          <a:p>
            <a:pPr>
              <a:defRP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TCP/IP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体系结构</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2963" name="Line 24"/>
          <p:cNvSpPr>
            <a:spLocks noChangeShapeType="1"/>
          </p:cNvSpPr>
          <p:nvPr/>
        </p:nvSpPr>
        <p:spPr bwMode="auto">
          <a:xfrm>
            <a:off x="2184400" y="2767018"/>
            <a:ext cx="47244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4" name="Line 26"/>
          <p:cNvSpPr>
            <a:spLocks noChangeShapeType="1"/>
          </p:cNvSpPr>
          <p:nvPr/>
        </p:nvSpPr>
        <p:spPr bwMode="auto">
          <a:xfrm>
            <a:off x="2184400" y="3833818"/>
            <a:ext cx="47244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5" name="Line 27"/>
          <p:cNvSpPr>
            <a:spLocks noChangeShapeType="1"/>
          </p:cNvSpPr>
          <p:nvPr/>
        </p:nvSpPr>
        <p:spPr bwMode="auto">
          <a:xfrm>
            <a:off x="2184400" y="436721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6" name="Line 28"/>
          <p:cNvSpPr>
            <a:spLocks noChangeShapeType="1"/>
          </p:cNvSpPr>
          <p:nvPr/>
        </p:nvSpPr>
        <p:spPr bwMode="auto">
          <a:xfrm>
            <a:off x="2184400" y="490061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7" name="Line 29"/>
          <p:cNvSpPr>
            <a:spLocks noChangeShapeType="1"/>
          </p:cNvSpPr>
          <p:nvPr/>
        </p:nvSpPr>
        <p:spPr bwMode="auto">
          <a:xfrm>
            <a:off x="2184400" y="543401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8" name="Line 30"/>
          <p:cNvSpPr>
            <a:spLocks noChangeShapeType="1"/>
          </p:cNvSpPr>
          <p:nvPr/>
        </p:nvSpPr>
        <p:spPr bwMode="auto">
          <a:xfrm>
            <a:off x="6604000" y="436721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9" name="Line 31"/>
          <p:cNvSpPr>
            <a:spLocks noChangeShapeType="1"/>
          </p:cNvSpPr>
          <p:nvPr/>
        </p:nvSpPr>
        <p:spPr bwMode="auto">
          <a:xfrm>
            <a:off x="6604000" y="490061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0" name="Line 32"/>
          <p:cNvSpPr>
            <a:spLocks noChangeShapeType="1"/>
          </p:cNvSpPr>
          <p:nvPr/>
        </p:nvSpPr>
        <p:spPr bwMode="auto">
          <a:xfrm>
            <a:off x="6604000" y="543401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1" name="Line 33"/>
          <p:cNvSpPr>
            <a:spLocks noChangeShapeType="1"/>
          </p:cNvSpPr>
          <p:nvPr/>
        </p:nvSpPr>
        <p:spPr bwMode="auto">
          <a:xfrm>
            <a:off x="1379548" y="6049967"/>
            <a:ext cx="154462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72" name="Line 34"/>
          <p:cNvSpPr>
            <a:spLocks noChangeShapeType="1"/>
          </p:cNvSpPr>
          <p:nvPr/>
        </p:nvSpPr>
        <p:spPr bwMode="auto">
          <a:xfrm flipV="1">
            <a:off x="3870324" y="6032506"/>
            <a:ext cx="1357311"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73" name="Line 35"/>
          <p:cNvSpPr>
            <a:spLocks noChangeShapeType="1"/>
          </p:cNvSpPr>
          <p:nvPr/>
        </p:nvSpPr>
        <p:spPr bwMode="auto">
          <a:xfrm>
            <a:off x="6169022" y="6032506"/>
            <a:ext cx="15668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74" name="Line 36"/>
          <p:cNvSpPr>
            <a:spLocks noChangeShapeType="1"/>
          </p:cNvSpPr>
          <p:nvPr/>
        </p:nvSpPr>
        <p:spPr bwMode="auto">
          <a:xfrm flipV="1">
            <a:off x="1379548" y="5738818"/>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5" name="Line 37"/>
          <p:cNvSpPr>
            <a:spLocks noChangeShapeType="1"/>
          </p:cNvSpPr>
          <p:nvPr/>
        </p:nvSpPr>
        <p:spPr bwMode="auto">
          <a:xfrm flipV="1">
            <a:off x="2924175" y="5727706"/>
            <a:ext cx="0" cy="32861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6" name="Line 38"/>
          <p:cNvSpPr>
            <a:spLocks noChangeShapeType="1"/>
          </p:cNvSpPr>
          <p:nvPr/>
        </p:nvSpPr>
        <p:spPr bwMode="auto">
          <a:xfrm flipV="1">
            <a:off x="3870325" y="5738818"/>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7" name="Line 39"/>
          <p:cNvSpPr>
            <a:spLocks noChangeShapeType="1"/>
          </p:cNvSpPr>
          <p:nvPr/>
        </p:nvSpPr>
        <p:spPr bwMode="auto">
          <a:xfrm flipV="1">
            <a:off x="5227638" y="5727706"/>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8" name="Line 40"/>
          <p:cNvSpPr>
            <a:spLocks noChangeShapeType="1"/>
          </p:cNvSpPr>
          <p:nvPr/>
        </p:nvSpPr>
        <p:spPr bwMode="auto">
          <a:xfrm flipV="1">
            <a:off x="6169025" y="5727706"/>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80" name="Text Box 42"/>
          <p:cNvSpPr txBox="1">
            <a:spLocks noChangeArrowheads="1"/>
          </p:cNvSpPr>
          <p:nvPr/>
        </p:nvSpPr>
        <p:spPr bwMode="auto">
          <a:xfrm>
            <a:off x="2901950" y="3087693"/>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zh-CN" altLang="en-US" sz="2000" i="1" dirty="0">
                <a:solidFill>
                  <a:srgbClr val="FF0000"/>
                </a:solidFill>
                <a:ea typeface="宋体" panose="02010600030101010101" pitchFamily="2" charset="-122"/>
              </a:rPr>
              <a:t>对等层通信，执行相关协议</a:t>
            </a:r>
            <a:endParaRPr kumimoji="0" lang="en-US" altLang="zh-CN" sz="2000" i="1" dirty="0">
              <a:solidFill>
                <a:srgbClr val="FF0000"/>
              </a:solidFill>
              <a:ea typeface="宋体" panose="02010600030101010101" pitchFamily="2" charset="-122"/>
            </a:endParaRPr>
          </a:p>
        </p:txBody>
      </p:sp>
      <p:sp>
        <p:nvSpPr>
          <p:cNvPr id="82981" name="Text Box 46"/>
          <p:cNvSpPr txBox="1">
            <a:spLocks noChangeArrowheads="1"/>
          </p:cNvSpPr>
          <p:nvPr/>
        </p:nvSpPr>
        <p:spPr bwMode="auto">
          <a:xfrm>
            <a:off x="2924175" y="3743330"/>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solidFill>
                  <a:srgbClr val="000099"/>
                </a:solidFill>
                <a:ea typeface="宋体" panose="02010600030101010101" pitchFamily="2" charset="-122"/>
              </a:rPr>
              <a:t>路由器</a:t>
            </a:r>
            <a:endParaRPr kumimoji="0" lang="en-US" altLang="zh-CN" sz="2000" dirty="0">
              <a:solidFill>
                <a:srgbClr val="000099"/>
              </a:solidFill>
              <a:ea typeface="宋体" panose="02010600030101010101" pitchFamily="2" charset="-122"/>
            </a:endParaRPr>
          </a:p>
        </p:txBody>
      </p:sp>
      <p:sp>
        <p:nvSpPr>
          <p:cNvPr id="82994" name="Line 64"/>
          <p:cNvSpPr>
            <a:spLocks noChangeShapeType="1"/>
          </p:cNvSpPr>
          <p:nvPr/>
        </p:nvSpPr>
        <p:spPr bwMode="auto">
          <a:xfrm flipV="1">
            <a:off x="4197350" y="2782894"/>
            <a:ext cx="360362" cy="32226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95" name="Line 65"/>
          <p:cNvSpPr>
            <a:spLocks noChangeShapeType="1"/>
          </p:cNvSpPr>
          <p:nvPr/>
        </p:nvSpPr>
        <p:spPr bwMode="auto">
          <a:xfrm>
            <a:off x="4197350" y="3425830"/>
            <a:ext cx="215900" cy="4095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1.4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网络体系结构</a:t>
            </a:r>
          </a:p>
        </p:txBody>
      </p:sp>
      <p:sp>
        <p:nvSpPr>
          <p:cNvPr id="3" name="Rectangle 9"/>
          <p:cNvSpPr>
            <a:spLocks noChangeArrowheads="1"/>
          </p:cNvSpPr>
          <p:nvPr/>
        </p:nvSpPr>
        <p:spPr bwMode="auto">
          <a:xfrm>
            <a:off x="525472" y="2016130"/>
            <a:ext cx="1676400" cy="1589088"/>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4" name="Rectangle 11"/>
          <p:cNvSpPr>
            <a:spLocks noChangeArrowheads="1"/>
          </p:cNvSpPr>
          <p:nvPr/>
        </p:nvSpPr>
        <p:spPr bwMode="auto">
          <a:xfrm>
            <a:off x="525472" y="3605218"/>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5" name="Rectangle 12"/>
          <p:cNvSpPr>
            <a:spLocks noChangeArrowheads="1"/>
          </p:cNvSpPr>
          <p:nvPr/>
        </p:nvSpPr>
        <p:spPr bwMode="auto">
          <a:xfrm>
            <a:off x="525472" y="4138618"/>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6" name="Rectangle 13"/>
          <p:cNvSpPr>
            <a:spLocks noChangeArrowheads="1"/>
          </p:cNvSpPr>
          <p:nvPr/>
        </p:nvSpPr>
        <p:spPr bwMode="auto">
          <a:xfrm>
            <a:off x="525472" y="4672018"/>
            <a:ext cx="1676400" cy="10668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7" name="Rectangle 9"/>
          <p:cNvSpPr>
            <a:spLocks noChangeArrowheads="1"/>
          </p:cNvSpPr>
          <p:nvPr/>
        </p:nvSpPr>
        <p:spPr bwMode="auto">
          <a:xfrm>
            <a:off x="6892916" y="2019305"/>
            <a:ext cx="1676400" cy="1589088"/>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8" name="Rectangle 11"/>
          <p:cNvSpPr>
            <a:spLocks noChangeArrowheads="1"/>
          </p:cNvSpPr>
          <p:nvPr/>
        </p:nvSpPr>
        <p:spPr bwMode="auto">
          <a:xfrm>
            <a:off x="6892916" y="360839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9" name="Rectangle 12"/>
          <p:cNvSpPr>
            <a:spLocks noChangeArrowheads="1"/>
          </p:cNvSpPr>
          <p:nvPr/>
        </p:nvSpPr>
        <p:spPr bwMode="auto">
          <a:xfrm>
            <a:off x="6892916" y="414179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10" name="Rectangle 13"/>
          <p:cNvSpPr>
            <a:spLocks noChangeArrowheads="1"/>
          </p:cNvSpPr>
          <p:nvPr/>
        </p:nvSpPr>
        <p:spPr bwMode="auto">
          <a:xfrm>
            <a:off x="6892916" y="4675193"/>
            <a:ext cx="1676400" cy="1066800"/>
          </a:xfrm>
          <a:prstGeom prst="rect">
            <a:avLst/>
          </a:prstGeom>
          <a:solidFill>
            <a:schemeClr val="accent4">
              <a:lumMod val="40000"/>
              <a:lumOff val="6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11" name="Line 40"/>
          <p:cNvSpPr>
            <a:spLocks noChangeShapeType="1"/>
          </p:cNvSpPr>
          <p:nvPr/>
        </p:nvSpPr>
        <p:spPr bwMode="auto">
          <a:xfrm flipV="1">
            <a:off x="7737475" y="5738818"/>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4" name="组合 23"/>
          <p:cNvGrpSpPr/>
          <p:nvPr/>
        </p:nvGrpSpPr>
        <p:grpSpPr>
          <a:xfrm>
            <a:off x="4327651" y="4372775"/>
            <a:ext cx="433189" cy="1066800"/>
            <a:chOff x="4668856" y="4067970"/>
            <a:chExt cx="304800" cy="1066800"/>
          </a:xfrm>
        </p:grpSpPr>
        <p:sp>
          <p:nvSpPr>
            <p:cNvPr id="12" name="Line 30"/>
            <p:cNvSpPr>
              <a:spLocks noChangeShapeType="1"/>
            </p:cNvSpPr>
            <p:nvPr/>
          </p:nvSpPr>
          <p:spPr bwMode="auto">
            <a:xfrm>
              <a:off x="4668856" y="40679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31"/>
            <p:cNvSpPr>
              <a:spLocks noChangeShapeType="1"/>
            </p:cNvSpPr>
            <p:nvPr/>
          </p:nvSpPr>
          <p:spPr bwMode="auto">
            <a:xfrm>
              <a:off x="4668856" y="46013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32"/>
            <p:cNvSpPr>
              <a:spLocks noChangeShapeType="1"/>
            </p:cNvSpPr>
            <p:nvPr/>
          </p:nvSpPr>
          <p:spPr bwMode="auto">
            <a:xfrm>
              <a:off x="4668856" y="51347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2" name="Rectangle 12"/>
          <p:cNvSpPr>
            <a:spLocks noChangeArrowheads="1"/>
          </p:cNvSpPr>
          <p:nvPr/>
        </p:nvSpPr>
        <p:spPr bwMode="auto">
          <a:xfrm>
            <a:off x="2486109" y="4138618"/>
            <a:ext cx="1844633"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23" name="Rectangle 13"/>
          <p:cNvSpPr>
            <a:spLocks noChangeArrowheads="1"/>
          </p:cNvSpPr>
          <p:nvPr/>
        </p:nvSpPr>
        <p:spPr bwMode="auto">
          <a:xfrm>
            <a:off x="2486110" y="4672018"/>
            <a:ext cx="928692" cy="10668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39" name="Rectangle 13"/>
          <p:cNvSpPr>
            <a:spLocks noChangeArrowheads="1"/>
          </p:cNvSpPr>
          <p:nvPr/>
        </p:nvSpPr>
        <p:spPr bwMode="auto">
          <a:xfrm>
            <a:off x="3403667" y="4672018"/>
            <a:ext cx="928692" cy="1066800"/>
          </a:xfrm>
          <a:prstGeom prst="rect">
            <a:avLst/>
          </a:prstGeom>
          <a:solidFill>
            <a:schemeClr val="accent6">
              <a:lumMod val="40000"/>
              <a:lumOff val="6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40" name="Rectangle 12"/>
          <p:cNvSpPr>
            <a:spLocks noChangeArrowheads="1"/>
          </p:cNvSpPr>
          <p:nvPr/>
        </p:nvSpPr>
        <p:spPr bwMode="auto">
          <a:xfrm>
            <a:off x="4762458" y="4141794"/>
            <a:ext cx="1844633"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41" name="Rectangle 13"/>
          <p:cNvSpPr>
            <a:spLocks noChangeArrowheads="1"/>
          </p:cNvSpPr>
          <p:nvPr/>
        </p:nvSpPr>
        <p:spPr bwMode="auto">
          <a:xfrm>
            <a:off x="4762459" y="4675194"/>
            <a:ext cx="928692" cy="1066800"/>
          </a:xfrm>
          <a:prstGeom prst="rect">
            <a:avLst/>
          </a:prstGeom>
          <a:solidFill>
            <a:schemeClr val="accent6">
              <a:lumMod val="40000"/>
              <a:lumOff val="6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42" name="Rectangle 13"/>
          <p:cNvSpPr>
            <a:spLocks noChangeArrowheads="1"/>
          </p:cNvSpPr>
          <p:nvPr/>
        </p:nvSpPr>
        <p:spPr bwMode="auto">
          <a:xfrm>
            <a:off x="5680016" y="4675194"/>
            <a:ext cx="928692" cy="1066800"/>
          </a:xfrm>
          <a:prstGeom prst="rect">
            <a:avLst/>
          </a:prstGeom>
          <a:solidFill>
            <a:schemeClr val="accent4">
              <a:lumMod val="40000"/>
              <a:lumOff val="6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43" name="Text Box 46"/>
          <p:cNvSpPr txBox="1">
            <a:spLocks noChangeArrowheads="1"/>
          </p:cNvSpPr>
          <p:nvPr/>
        </p:nvSpPr>
        <p:spPr bwMode="auto">
          <a:xfrm>
            <a:off x="5197390" y="3759148"/>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solidFill>
                  <a:srgbClr val="000099"/>
                </a:solidFill>
                <a:ea typeface="宋体" panose="02010600030101010101" pitchFamily="2" charset="-122"/>
              </a:rPr>
              <a:t>路由器</a:t>
            </a:r>
            <a:endParaRPr kumimoji="0" lang="en-US" altLang="zh-CN" sz="2000" dirty="0">
              <a:solidFill>
                <a:srgbClr val="000099"/>
              </a:solidFill>
              <a:ea typeface="宋体" panose="02010600030101010101" pitchFamily="2" charset="-122"/>
            </a:endParaRPr>
          </a:p>
        </p:txBody>
      </p:sp>
      <p:sp>
        <p:nvSpPr>
          <p:cNvPr id="44" name="Text Box 42"/>
          <p:cNvSpPr txBox="1">
            <a:spLocks noChangeArrowheads="1"/>
          </p:cNvSpPr>
          <p:nvPr/>
        </p:nvSpPr>
        <p:spPr bwMode="auto">
          <a:xfrm>
            <a:off x="601437" y="1533450"/>
            <a:ext cx="1517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ea typeface="宋体" panose="02010600030101010101" pitchFamily="2" charset="-122"/>
              </a:rPr>
              <a:t>主机</a:t>
            </a:r>
            <a:r>
              <a:rPr kumimoji="0" lang="en-US" altLang="zh-CN" sz="2000" dirty="0">
                <a:solidFill>
                  <a:schemeClr val="accent1">
                    <a:lumMod val="75000"/>
                  </a:schemeClr>
                </a:solidFill>
                <a:ea typeface="宋体" panose="02010600030101010101" pitchFamily="2" charset="-122"/>
              </a:rPr>
              <a:t>A</a:t>
            </a:r>
          </a:p>
        </p:txBody>
      </p:sp>
      <p:sp>
        <p:nvSpPr>
          <p:cNvPr id="45" name="Text Box 42"/>
          <p:cNvSpPr txBox="1">
            <a:spLocks noChangeArrowheads="1"/>
          </p:cNvSpPr>
          <p:nvPr/>
        </p:nvSpPr>
        <p:spPr bwMode="auto">
          <a:xfrm>
            <a:off x="6952446" y="1542900"/>
            <a:ext cx="1517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ea typeface="宋体" panose="02010600030101010101" pitchFamily="2" charset="-122"/>
              </a:rPr>
              <a:t>主机</a:t>
            </a:r>
            <a:r>
              <a:rPr kumimoji="0" lang="en-US" altLang="zh-CN" sz="2000" dirty="0">
                <a:solidFill>
                  <a:schemeClr val="accent1">
                    <a:lumMod val="75000"/>
                  </a:schemeClr>
                </a:solidFill>
                <a:ea typeface="宋体" panose="02010600030101010101" pitchFamily="2" charset="-122"/>
              </a:rPr>
              <a:t>B</a:t>
            </a:r>
          </a:p>
        </p:txBody>
      </p:sp>
      <p:sp>
        <p:nvSpPr>
          <p:cNvPr id="2" name="矩形 1"/>
          <p:cNvSpPr/>
          <p:nvPr/>
        </p:nvSpPr>
        <p:spPr>
          <a:xfrm>
            <a:off x="2391595" y="4069032"/>
            <a:ext cx="4305300" cy="1762184"/>
          </a:xfrm>
          <a:prstGeom prst="rect">
            <a:avLst/>
          </a:prstGeom>
          <a:solidFill>
            <a:schemeClr val="accent1">
              <a:lumMod val="20000"/>
              <a:lumOff val="80000"/>
              <a:alpha val="3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a:xfrm>
            <a:off x="323850" y="609600"/>
            <a:ext cx="8210550" cy="929833"/>
          </a:xfrm>
        </p:spPr>
        <p:txBody>
          <a:bodyPr/>
          <a:lstStyle/>
          <a:p>
            <a:pPr>
              <a:defRP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TCP/IP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协议集</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1.4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网络体系结构</a:t>
            </a:r>
          </a:p>
        </p:txBody>
      </p:sp>
      <p:pic>
        <p:nvPicPr>
          <p:cNvPr id="3" name="图片 2"/>
          <p:cNvPicPr>
            <a:picLocks noChangeAspect="1"/>
          </p:cNvPicPr>
          <p:nvPr/>
        </p:nvPicPr>
        <p:blipFill>
          <a:blip r:embed="rId3"/>
          <a:stretch>
            <a:fillRect/>
          </a:stretch>
        </p:blipFill>
        <p:spPr>
          <a:xfrm>
            <a:off x="569652" y="1765405"/>
            <a:ext cx="7964748" cy="4064871"/>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a:xfrm>
            <a:off x="395288" y="713355"/>
            <a:ext cx="8210550" cy="768203"/>
          </a:xfrm>
        </p:spPr>
        <p:txBody>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网络协议需要规定什么？</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6804" name="Rectangle 4"/>
          <p:cNvSpPr>
            <a:spLocks noChangeArrowheads="1"/>
          </p:cNvSpPr>
          <p:nvPr/>
        </p:nvSpPr>
        <p:spPr bwMode="auto">
          <a:xfrm>
            <a:off x="442913" y="1666754"/>
            <a:ext cx="8210550" cy="447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17550" indent="-2603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nSpc>
                <a:spcPts val="3500"/>
              </a:lnSpc>
              <a:spcBef>
                <a:spcPts val="1200"/>
              </a:spcBef>
            </a:pPr>
            <a:r>
              <a:rPr lang="zh-CN" altLang="en-US" sz="2400" dirty="0">
                <a:ea typeface="宋体" panose="02010600030101010101" pitchFamily="2" charset="-122"/>
              </a:rPr>
              <a:t>计算机网络中各实体之间数据交换必须遵守事先约定好的规则，这些规则称为</a:t>
            </a:r>
            <a:r>
              <a:rPr lang="zh-CN" altLang="en-US" sz="2400" b="1" dirty="0">
                <a:solidFill>
                  <a:srgbClr val="FF0000"/>
                </a:solidFill>
                <a:latin typeface="楷体" panose="02010609060101010101" pitchFamily="49" charset="-122"/>
                <a:ea typeface="楷体" panose="02010609060101010101" pitchFamily="49" charset="-122"/>
              </a:rPr>
              <a:t>协议</a:t>
            </a:r>
            <a:endParaRPr lang="en-US" altLang="zh-CN" sz="2400" b="1" dirty="0">
              <a:solidFill>
                <a:srgbClr val="FF0000"/>
              </a:solidFill>
              <a:latin typeface="楷体" panose="02010609060101010101" pitchFamily="49" charset="-122"/>
              <a:ea typeface="楷体" panose="02010609060101010101" pitchFamily="49" charset="-122"/>
            </a:endParaRPr>
          </a:p>
          <a:p>
            <a:pPr>
              <a:lnSpc>
                <a:spcPts val="3500"/>
              </a:lnSpc>
              <a:spcBef>
                <a:spcPts val="1200"/>
              </a:spcBef>
            </a:pPr>
            <a:r>
              <a:rPr lang="zh-CN" altLang="en-US" sz="2400" dirty="0">
                <a:ea typeface="宋体" panose="02010600030101010101" pitchFamily="2" charset="-122"/>
              </a:rPr>
              <a:t>网络协议的组成要素：</a:t>
            </a:r>
            <a:endParaRPr lang="en-US" altLang="zh-CN" sz="2400" dirty="0">
              <a:ea typeface="宋体" panose="02010600030101010101" pitchFamily="2" charset="-122"/>
            </a:endParaRPr>
          </a:p>
          <a:p>
            <a:pPr lvl="1">
              <a:lnSpc>
                <a:spcPts val="3500"/>
              </a:lnSpc>
              <a:spcBef>
                <a:spcPts val="1200"/>
              </a:spcBef>
            </a:pPr>
            <a:r>
              <a:rPr lang="zh-CN" altLang="en-US" sz="2000" dirty="0">
                <a:ea typeface="宋体" panose="02010600030101010101" pitchFamily="2" charset="-122"/>
              </a:rPr>
              <a:t>语法：数据与控制信息的结构或格式 （</a:t>
            </a:r>
            <a:r>
              <a:rPr lang="zh-CN" altLang="en-US" sz="2000" b="1" dirty="0">
                <a:solidFill>
                  <a:srgbClr val="FF0000"/>
                </a:solidFill>
                <a:ea typeface="宋体" panose="02010600030101010101" pitchFamily="2" charset="-122"/>
              </a:rPr>
              <a:t>协议数据单元</a:t>
            </a:r>
            <a:r>
              <a:rPr lang="en-US" altLang="zh-CN" sz="2000" b="1" dirty="0">
                <a:solidFill>
                  <a:srgbClr val="FF0000"/>
                </a:solidFill>
                <a:ea typeface="宋体" panose="02010600030101010101" pitchFamily="2" charset="-122"/>
              </a:rPr>
              <a:t>PDU</a:t>
            </a:r>
            <a:r>
              <a:rPr lang="zh-CN" altLang="en-US" sz="2000" dirty="0">
                <a:ea typeface="宋体" panose="02010600030101010101" pitchFamily="2" charset="-122"/>
              </a:rPr>
              <a:t>）</a:t>
            </a:r>
          </a:p>
          <a:p>
            <a:pPr lvl="1">
              <a:lnSpc>
                <a:spcPts val="3500"/>
              </a:lnSpc>
              <a:spcBef>
                <a:spcPts val="1200"/>
              </a:spcBef>
            </a:pPr>
            <a:r>
              <a:rPr lang="zh-CN" altLang="en-US" sz="2000" dirty="0">
                <a:ea typeface="宋体" panose="02010600030101010101" pitchFamily="2" charset="-122"/>
              </a:rPr>
              <a:t>语义：需要发出何种控制信息，完成何种动作以及做出何种响应 </a:t>
            </a:r>
          </a:p>
          <a:p>
            <a:pPr lvl="1">
              <a:lnSpc>
                <a:spcPts val="3500"/>
              </a:lnSpc>
              <a:spcBef>
                <a:spcPts val="1200"/>
              </a:spcBef>
            </a:pPr>
            <a:r>
              <a:rPr lang="zh-CN" altLang="en-US" sz="2000" dirty="0">
                <a:ea typeface="宋体" panose="02010600030101010101" pitchFamily="2" charset="-122"/>
              </a:rPr>
              <a:t>时序：事件实现顺序的详细说明。 </a:t>
            </a:r>
          </a:p>
          <a:p>
            <a:pPr>
              <a:lnSpc>
                <a:spcPts val="3500"/>
              </a:lnSpc>
              <a:spcBef>
                <a:spcPts val="1200"/>
              </a:spcBef>
            </a:pPr>
            <a:r>
              <a:rPr lang="zh-CN" altLang="en-US" sz="2400" dirty="0">
                <a:ea typeface="宋体" panose="02010600030101010101" pitchFamily="2" charset="-122"/>
              </a:rPr>
              <a:t>协议的对等性：通信的实体（相同层次）必须执行相同的协议</a:t>
            </a:r>
            <a:endParaRPr lang="en-US" altLang="zh-CN" sz="2000" dirty="0">
              <a:ea typeface="宋体" panose="02010600030101010101" pitchFamily="2" charset="-122"/>
            </a:endParaRPr>
          </a:p>
        </p:txBody>
      </p:sp>
      <p:sp>
        <p:nvSpPr>
          <p:cNvPr id="9"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1.4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网络体系结构</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Freeform 99"/>
          <p:cNvSpPr/>
          <p:nvPr/>
        </p:nvSpPr>
        <p:spPr bwMode="auto">
          <a:xfrm>
            <a:off x="7217447" y="4432315"/>
            <a:ext cx="655638" cy="1135063"/>
          </a:xfrm>
          <a:custGeom>
            <a:avLst/>
            <a:gdLst>
              <a:gd name="T0" fmla="*/ 2147483647 w 413"/>
              <a:gd name="T1" fmla="*/ 2147483647 h 715"/>
              <a:gd name="T2" fmla="*/ 2147483647 w 413"/>
              <a:gd name="T3" fmla="*/ 0 h 715"/>
              <a:gd name="T4" fmla="*/ 0 w 413"/>
              <a:gd name="T5" fmla="*/ 2147483647 h 715"/>
              <a:gd name="T6" fmla="*/ 2147483647 w 413"/>
              <a:gd name="T7" fmla="*/ 2147483647 h 715"/>
              <a:gd name="T8" fmla="*/ 2147483647 w 413"/>
              <a:gd name="T9" fmla="*/ 2147483647 h 715"/>
              <a:gd name="T10" fmla="*/ 0 60000 65536"/>
              <a:gd name="T11" fmla="*/ 0 60000 65536"/>
              <a:gd name="T12" fmla="*/ 0 60000 65536"/>
              <a:gd name="T13" fmla="*/ 0 60000 65536"/>
              <a:gd name="T14" fmla="*/ 0 60000 65536"/>
              <a:gd name="T15" fmla="*/ 0 w 413"/>
              <a:gd name="T16" fmla="*/ 0 h 715"/>
              <a:gd name="T17" fmla="*/ 413 w 413"/>
              <a:gd name="T18" fmla="*/ 715 h 715"/>
            </a:gdLst>
            <a:ahLst/>
            <a:cxnLst>
              <a:cxn ang="T10">
                <a:pos x="T0" y="T1"/>
              </a:cxn>
              <a:cxn ang="T11">
                <a:pos x="T2" y="T3"/>
              </a:cxn>
              <a:cxn ang="T12">
                <a:pos x="T4" y="T5"/>
              </a:cxn>
              <a:cxn ang="T13">
                <a:pos x="T6" y="T7"/>
              </a:cxn>
              <a:cxn ang="T14">
                <a:pos x="T8" y="T9"/>
              </a:cxn>
            </a:cxnLst>
            <a:rect l="T15" t="T16" r="T17" b="T18"/>
            <a:pathLst>
              <a:path w="413" h="715">
                <a:moveTo>
                  <a:pt x="413" y="570"/>
                </a:moveTo>
                <a:lnTo>
                  <a:pt x="9" y="0"/>
                </a:lnTo>
                <a:lnTo>
                  <a:pt x="0" y="604"/>
                </a:lnTo>
                <a:lnTo>
                  <a:pt x="397" y="715"/>
                </a:lnTo>
                <a:lnTo>
                  <a:pt x="413" y="570"/>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31074" name="Group 347"/>
          <p:cNvGrpSpPr/>
          <p:nvPr/>
        </p:nvGrpSpPr>
        <p:grpSpPr bwMode="auto">
          <a:xfrm>
            <a:off x="7819110" y="5194315"/>
            <a:ext cx="984250" cy="600075"/>
            <a:chOff x="1871277" y="1576300"/>
            <a:chExt cx="1128371" cy="437861"/>
          </a:xfrm>
        </p:grpSpPr>
        <p:sp>
          <p:nvSpPr>
            <p:cNvPr id="146" name="Oval 145"/>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47" name="Rectangle 146"/>
            <p:cNvSpPr/>
            <p:nvPr/>
          </p:nvSpPr>
          <p:spPr bwMode="auto">
            <a:xfrm>
              <a:off x="1871277" y="1739629"/>
              <a:ext cx="1128371" cy="11583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48" name="Oval 147"/>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49" name="Freeform 148"/>
            <p:cNvSpPr/>
            <p:nvPr/>
          </p:nvSpPr>
          <p:spPr bwMode="auto">
            <a:xfrm>
              <a:off x="2158830" y="1673602"/>
              <a:ext cx="549626" cy="16101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0" name="Freeform 149"/>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1" name="Freeform 150"/>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52" name="Freeform 151"/>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53" name="Straight Connector 152"/>
            <p:cNvCxnSpPr>
              <a:cxnSpLocks noChangeShapeType="1"/>
              <a:endCxn id="148"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4" name="Straight Connector 153"/>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31077" name="Freeform 3"/>
          <p:cNvSpPr/>
          <p:nvPr/>
        </p:nvSpPr>
        <p:spPr bwMode="auto">
          <a:xfrm>
            <a:off x="7368260" y="2522553"/>
            <a:ext cx="638175" cy="852487"/>
          </a:xfrm>
          <a:custGeom>
            <a:avLst/>
            <a:gdLst>
              <a:gd name="T0" fmla="*/ 2147483647 w 402"/>
              <a:gd name="T1" fmla="*/ 2147483647 h 537"/>
              <a:gd name="T2" fmla="*/ 2147483647 w 402"/>
              <a:gd name="T3" fmla="*/ 0 h 537"/>
              <a:gd name="T4" fmla="*/ 0 w 402"/>
              <a:gd name="T5" fmla="*/ 2147483647 h 537"/>
              <a:gd name="T6" fmla="*/ 2147483647 w 402"/>
              <a:gd name="T7" fmla="*/ 2147483647 h 537"/>
              <a:gd name="T8" fmla="*/ 2147483647 w 402"/>
              <a:gd name="T9" fmla="*/ 2147483647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31078" name="Group 180"/>
          <p:cNvGrpSpPr/>
          <p:nvPr/>
        </p:nvGrpSpPr>
        <p:grpSpPr bwMode="auto">
          <a:xfrm>
            <a:off x="7568285" y="3030553"/>
            <a:ext cx="1052512" cy="355600"/>
            <a:chOff x="4410" y="1365"/>
            <a:chExt cx="663" cy="224"/>
          </a:xfrm>
        </p:grpSpPr>
        <p:sp>
          <p:nvSpPr>
            <p:cNvPr id="131205" name="Rectangle 181"/>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206" name="AutoShape 182"/>
            <p:cNvSpPr>
              <a:spLocks noChangeArrowheads="1"/>
            </p:cNvSpPr>
            <p:nvPr/>
          </p:nvSpPr>
          <p:spPr bwMode="auto">
            <a:xfrm>
              <a:off x="4410" y="1368"/>
              <a:ext cx="663" cy="135"/>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207" name="Freeform 183"/>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cmpd="sng">
              <a:solidFill>
                <a:srgbClr val="000000"/>
              </a:solidFill>
              <a:round/>
            </a:ln>
          </p:spPr>
          <p:txBody>
            <a:bodyPr/>
            <a:lstStyle/>
            <a:p>
              <a:endParaRPr lang="zh-CN" altLang="en-US"/>
            </a:p>
          </p:txBody>
        </p:sp>
        <p:sp>
          <p:nvSpPr>
            <p:cNvPr id="131208" name="Freeform 184"/>
            <p:cNvSpPr/>
            <p:nvPr/>
          </p:nvSpPr>
          <p:spPr bwMode="auto">
            <a:xfrm>
              <a:off x="4475" y="1395"/>
              <a:ext cx="506" cy="80"/>
            </a:xfrm>
            <a:custGeom>
              <a:avLst/>
              <a:gdLst>
                <a:gd name="T0" fmla="*/ 0 w 280"/>
                <a:gd name="T1" fmla="*/ 1801 h 63"/>
                <a:gd name="T2" fmla="*/ 147159 w 280"/>
                <a:gd name="T3" fmla="*/ 1752 h 63"/>
                <a:gd name="T4" fmla="*/ 868488 w 280"/>
                <a:gd name="T5" fmla="*/ 0 h 63"/>
                <a:gd name="T6" fmla="*/ 1108812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1209" name="Freeform 185"/>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131079" name="Freeform 2"/>
          <p:cNvSpPr/>
          <p:nvPr/>
        </p:nvSpPr>
        <p:spPr bwMode="auto">
          <a:xfrm>
            <a:off x="4056735" y="1724040"/>
            <a:ext cx="4048125" cy="3833813"/>
          </a:xfrm>
          <a:custGeom>
            <a:avLst/>
            <a:gdLst>
              <a:gd name="T0" fmla="*/ 2147483647 w 2550"/>
              <a:gd name="T1" fmla="*/ 0 h 2415"/>
              <a:gd name="T2" fmla="*/ 2147483647 w 2550"/>
              <a:gd name="T3" fmla="*/ 0 h 2415"/>
              <a:gd name="T4" fmla="*/ 2147483647 w 2550"/>
              <a:gd name="T5" fmla="*/ 2147483647 h 2415"/>
              <a:gd name="T6" fmla="*/ 0 w 2550"/>
              <a:gd name="T7" fmla="*/ 2147483647 h 2415"/>
              <a:gd name="T8" fmla="*/ 0 60000 65536"/>
              <a:gd name="T9" fmla="*/ 0 60000 65536"/>
              <a:gd name="T10" fmla="*/ 0 60000 65536"/>
              <a:gd name="T11" fmla="*/ 0 60000 65536"/>
              <a:gd name="T12" fmla="*/ 0 w 2550"/>
              <a:gd name="T13" fmla="*/ 0 h 2415"/>
              <a:gd name="T14" fmla="*/ 2550 w 2550"/>
              <a:gd name="T15" fmla="*/ 2415 h 2415"/>
            </a:gdLst>
            <a:ahLst/>
            <a:cxnLst>
              <a:cxn ang="T8">
                <a:pos x="T0" y="T1"/>
              </a:cxn>
              <a:cxn ang="T9">
                <a:pos x="T2" y="T3"/>
              </a:cxn>
              <a:cxn ang="T10">
                <a:pos x="T4" y="T5"/>
              </a:cxn>
              <a:cxn ang="T11">
                <a:pos x="T6" y="T7"/>
              </a:cxn>
            </a:cxnLst>
            <a:rect l="T12" t="T13" r="T14" b="T15"/>
            <a:pathLst>
              <a:path w="2550" h="2415">
                <a:moveTo>
                  <a:pt x="592" y="0"/>
                </a:moveTo>
                <a:lnTo>
                  <a:pt x="2544" y="0"/>
                </a:lnTo>
                <a:lnTo>
                  <a:pt x="2550" y="2415"/>
                </a:lnTo>
                <a:lnTo>
                  <a:pt x="0" y="2415"/>
                </a:lnTo>
              </a:path>
            </a:pathLst>
          </a:custGeom>
          <a:noFill/>
          <a:ln w="9525">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1080" name="Text Box 8"/>
          <p:cNvSpPr txBox="1">
            <a:spLocks noChangeArrowheads="1"/>
          </p:cNvSpPr>
          <p:nvPr/>
        </p:nvSpPr>
        <p:spPr bwMode="auto">
          <a:xfrm>
            <a:off x="2946356" y="537146"/>
            <a:ext cx="10428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zh-CN" altLang="en-US" sz="1800" dirty="0">
                <a:solidFill>
                  <a:srgbClr val="000099"/>
                </a:solidFill>
              </a:rPr>
              <a:t>源主机</a:t>
            </a:r>
            <a:endParaRPr lang="en-US" altLang="zh-CN" sz="1800" dirty="0">
              <a:solidFill>
                <a:srgbClr val="000099"/>
              </a:solidFill>
            </a:endParaRPr>
          </a:p>
        </p:txBody>
      </p:sp>
      <p:sp>
        <p:nvSpPr>
          <p:cNvPr id="131081" name="Freeform 10"/>
          <p:cNvSpPr/>
          <p:nvPr/>
        </p:nvSpPr>
        <p:spPr bwMode="auto">
          <a:xfrm>
            <a:off x="4107535" y="927115"/>
            <a:ext cx="360362" cy="1577975"/>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1082" name="Rectangle 23"/>
          <p:cNvSpPr>
            <a:spLocks noChangeArrowheads="1"/>
          </p:cNvSpPr>
          <p:nvPr/>
        </p:nvSpPr>
        <p:spPr bwMode="auto">
          <a:xfrm>
            <a:off x="2883572" y="936640"/>
            <a:ext cx="1296988" cy="154622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p>
        </p:txBody>
      </p:sp>
      <p:sp>
        <p:nvSpPr>
          <p:cNvPr id="131083" name="Rectangle 24"/>
          <p:cNvSpPr>
            <a:spLocks noChangeArrowheads="1"/>
          </p:cNvSpPr>
          <p:nvPr/>
        </p:nvSpPr>
        <p:spPr bwMode="auto">
          <a:xfrm>
            <a:off x="2835947" y="1008078"/>
            <a:ext cx="1273175" cy="1536700"/>
          </a:xfrm>
          <a:prstGeom prst="rect">
            <a:avLst/>
          </a:prstGeom>
          <a:solidFill>
            <a:schemeClr val="bg1"/>
          </a:solidFill>
          <a:ln w="2857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1800"/>
          </a:p>
        </p:txBody>
      </p:sp>
      <p:sp>
        <p:nvSpPr>
          <p:cNvPr id="131084" name="Line 25"/>
          <p:cNvSpPr>
            <a:spLocks noChangeShapeType="1"/>
          </p:cNvSpPr>
          <p:nvPr/>
        </p:nvSpPr>
        <p:spPr bwMode="auto">
          <a:xfrm>
            <a:off x="2835947" y="1325578"/>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5" name="Text Box 26"/>
          <p:cNvSpPr txBox="1">
            <a:spLocks noChangeArrowheads="1"/>
          </p:cNvSpPr>
          <p:nvPr/>
        </p:nvSpPr>
        <p:spPr bwMode="auto">
          <a:xfrm>
            <a:off x="2793085" y="974740"/>
            <a:ext cx="1317625" cy="1647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125000"/>
              </a:lnSpc>
            </a:pPr>
            <a:r>
              <a:rPr lang="zh-CN" altLang="en-US" sz="1600" dirty="0">
                <a:latin typeface="宋体" panose="02010600030101010101" pitchFamily="2" charset="-122"/>
                <a:ea typeface="宋体" panose="02010600030101010101" pitchFamily="2" charset="-122"/>
              </a:rPr>
              <a:t>应用层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传输层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网络层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数据链路层物理层</a:t>
            </a:r>
            <a:endParaRPr lang="en-US" altLang="zh-CN" sz="1600" dirty="0">
              <a:latin typeface="宋体" panose="02010600030101010101" pitchFamily="2" charset="-122"/>
              <a:ea typeface="宋体" panose="02010600030101010101" pitchFamily="2" charset="-122"/>
            </a:endParaRPr>
          </a:p>
        </p:txBody>
      </p:sp>
      <p:sp>
        <p:nvSpPr>
          <p:cNvPr id="131086" name="Line 27"/>
          <p:cNvSpPr>
            <a:spLocks noChangeShapeType="1"/>
          </p:cNvSpPr>
          <p:nvPr/>
        </p:nvSpPr>
        <p:spPr bwMode="auto">
          <a:xfrm>
            <a:off x="2843885" y="1646253"/>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7" name="Line 28"/>
          <p:cNvSpPr>
            <a:spLocks noChangeShapeType="1"/>
          </p:cNvSpPr>
          <p:nvPr/>
        </p:nvSpPr>
        <p:spPr bwMode="auto">
          <a:xfrm>
            <a:off x="2848647" y="1927240"/>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8" name="Line 29"/>
          <p:cNvSpPr>
            <a:spLocks noChangeShapeType="1"/>
          </p:cNvSpPr>
          <p:nvPr/>
        </p:nvSpPr>
        <p:spPr bwMode="auto">
          <a:xfrm>
            <a:off x="2848647" y="2238137"/>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Group 39"/>
          <p:cNvGrpSpPr/>
          <p:nvPr/>
        </p:nvGrpSpPr>
        <p:grpSpPr bwMode="auto">
          <a:xfrm>
            <a:off x="1622802" y="1644665"/>
            <a:ext cx="1208088" cy="303213"/>
            <a:chOff x="501" y="1990"/>
            <a:chExt cx="761" cy="191"/>
          </a:xfrm>
        </p:grpSpPr>
        <p:sp>
          <p:nvSpPr>
            <p:cNvPr id="131199" name="Rectangle 40"/>
            <p:cNvSpPr>
              <a:spLocks noChangeArrowheads="1"/>
            </p:cNvSpPr>
            <p:nvPr/>
          </p:nvSpPr>
          <p:spPr bwMode="auto">
            <a:xfrm>
              <a:off x="501" y="2007"/>
              <a:ext cx="68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200" name="Rectangle 41"/>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201" name="Rectangle 42"/>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202" name="Rectangle 43"/>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203" name="Line 44"/>
            <p:cNvSpPr>
              <a:spLocks noChangeShapeType="1"/>
            </p:cNvSpPr>
            <p:nvPr/>
          </p:nvSpPr>
          <p:spPr bwMode="auto">
            <a:xfrm>
              <a:off x="688" y="2013"/>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204" name="Line 45"/>
            <p:cNvSpPr>
              <a:spLocks noChangeShapeType="1"/>
            </p:cNvSpPr>
            <p:nvPr/>
          </p:nvSpPr>
          <p:spPr bwMode="auto">
            <a:xfrm>
              <a:off x="880" y="2010"/>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12645" name="Text Box 5"/>
          <p:cNvSpPr txBox="1">
            <a:spLocks noChangeArrowheads="1"/>
          </p:cNvSpPr>
          <p:nvPr/>
        </p:nvSpPr>
        <p:spPr bwMode="auto">
          <a:xfrm>
            <a:off x="-7034" y="1272475"/>
            <a:ext cx="14731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1400" dirty="0">
                <a:solidFill>
                  <a:srgbClr val="CC0000"/>
                </a:solidFill>
              </a:rPr>
              <a:t>报文段</a:t>
            </a:r>
            <a:r>
              <a:rPr lang="en-US" altLang="zh-CN" sz="1400" dirty="0">
                <a:solidFill>
                  <a:srgbClr val="CC0000"/>
                </a:solidFill>
              </a:rPr>
              <a:t>(segment)</a:t>
            </a:r>
          </a:p>
        </p:txBody>
      </p:sp>
      <p:grpSp>
        <p:nvGrpSpPr>
          <p:cNvPr id="6" name="Group 178"/>
          <p:cNvGrpSpPr/>
          <p:nvPr/>
        </p:nvGrpSpPr>
        <p:grpSpPr bwMode="auto">
          <a:xfrm>
            <a:off x="1937127" y="1309703"/>
            <a:ext cx="301625" cy="292100"/>
            <a:chOff x="1962" y="2058"/>
            <a:chExt cx="190" cy="184"/>
          </a:xfrm>
        </p:grpSpPr>
        <p:sp>
          <p:nvSpPr>
            <p:cNvPr id="131197" name="Rectangle 47"/>
            <p:cNvSpPr>
              <a:spLocks noChangeArrowheads="1"/>
            </p:cNvSpPr>
            <p:nvPr/>
          </p:nvSpPr>
          <p:spPr bwMode="auto">
            <a:xfrm>
              <a:off x="1962" y="2075"/>
              <a:ext cx="177"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98" name="Rectangle 48"/>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grpSp>
      <p:sp>
        <p:nvSpPr>
          <p:cNvPr id="112644" name="Text Box 4"/>
          <p:cNvSpPr txBox="1">
            <a:spLocks noChangeArrowheads="1"/>
          </p:cNvSpPr>
          <p:nvPr/>
        </p:nvSpPr>
        <p:spPr bwMode="auto">
          <a:xfrm>
            <a:off x="0" y="1612915"/>
            <a:ext cx="15500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1400" dirty="0">
                <a:solidFill>
                  <a:srgbClr val="CC0000"/>
                </a:solidFill>
              </a:rPr>
              <a:t>数据报</a:t>
            </a:r>
            <a:r>
              <a:rPr lang="en-US" altLang="zh-CN" sz="1400" dirty="0">
                <a:solidFill>
                  <a:srgbClr val="CC0000"/>
                </a:solidFill>
              </a:rPr>
              <a:t>(datagram)</a:t>
            </a:r>
          </a:p>
        </p:txBody>
      </p:sp>
      <p:sp>
        <p:nvSpPr>
          <p:cNvPr id="131093" name="Text Box 54"/>
          <p:cNvSpPr txBox="1">
            <a:spLocks noChangeArrowheads="1"/>
          </p:cNvSpPr>
          <p:nvPr/>
        </p:nvSpPr>
        <p:spPr bwMode="auto">
          <a:xfrm>
            <a:off x="2007243" y="4415408"/>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a:solidFill>
                  <a:srgbClr val="000099"/>
                </a:solidFill>
                <a:latin typeface="Arial" panose="020B0604020202020204" pitchFamily="34" charset="0"/>
                <a:ea typeface="MS PGothic" panose="020B0600070205080204" pitchFamily="34" charset="-128"/>
              </a:defRPr>
            </a:lvl1pPr>
            <a:lvl2pPr marL="742950" indent="-285750">
              <a:defRPr sz="2400">
                <a:latin typeface="Arial" panose="020B0604020202020204" pitchFamily="34" charset="0"/>
                <a:ea typeface="MS PGothic" panose="020B0600070205080204" pitchFamily="34" charset="-128"/>
              </a:defRPr>
            </a:lvl2pPr>
            <a:lvl3pPr marL="1143000" indent="-228600">
              <a:defRPr sz="2400">
                <a:latin typeface="Arial" panose="020B0604020202020204" pitchFamily="34" charset="0"/>
                <a:ea typeface="MS PGothic" panose="020B0600070205080204" pitchFamily="34" charset="-128"/>
              </a:defRPr>
            </a:lvl3pPr>
            <a:lvl4pPr marL="1600200" indent="-228600">
              <a:defRPr sz="2400">
                <a:latin typeface="Arial" panose="020B0604020202020204" pitchFamily="34" charset="0"/>
                <a:ea typeface="MS PGothic" panose="020B0600070205080204" pitchFamily="34" charset="-128"/>
              </a:defRPr>
            </a:lvl4pPr>
            <a:lvl5pPr marL="2057400" indent="-228600">
              <a:defRPr sz="2400">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9pPr>
          </a:lstStyle>
          <a:p>
            <a:r>
              <a:rPr lang="zh-CN" altLang="en-US" dirty="0"/>
              <a:t>目的主机</a:t>
            </a:r>
            <a:endParaRPr lang="en-US" altLang="zh-CN" dirty="0"/>
          </a:p>
        </p:txBody>
      </p:sp>
      <p:sp>
        <p:nvSpPr>
          <p:cNvPr id="131094" name="Freeform 56"/>
          <p:cNvSpPr/>
          <p:nvPr/>
        </p:nvSpPr>
        <p:spPr bwMode="auto">
          <a:xfrm>
            <a:off x="3218535" y="4816490"/>
            <a:ext cx="360362" cy="1577975"/>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1095" name="Rectangle 57"/>
          <p:cNvSpPr>
            <a:spLocks noChangeArrowheads="1"/>
          </p:cNvSpPr>
          <p:nvPr/>
        </p:nvSpPr>
        <p:spPr bwMode="auto">
          <a:xfrm>
            <a:off x="1994572" y="4822840"/>
            <a:ext cx="1296988" cy="154622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096" name="Rectangle 58"/>
          <p:cNvSpPr>
            <a:spLocks noChangeArrowheads="1"/>
          </p:cNvSpPr>
          <p:nvPr/>
        </p:nvSpPr>
        <p:spPr bwMode="auto">
          <a:xfrm>
            <a:off x="1946947" y="4894278"/>
            <a:ext cx="1273175" cy="1536700"/>
          </a:xfrm>
          <a:prstGeom prst="rect">
            <a:avLst/>
          </a:prstGeom>
          <a:solidFill>
            <a:schemeClr val="bg1"/>
          </a:solidFill>
          <a:ln w="2857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097" name="Line 59"/>
          <p:cNvSpPr>
            <a:spLocks noChangeShapeType="1"/>
          </p:cNvSpPr>
          <p:nvPr/>
        </p:nvSpPr>
        <p:spPr bwMode="auto">
          <a:xfrm>
            <a:off x="1946947" y="5211778"/>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8" name="Text Box 60"/>
          <p:cNvSpPr txBox="1">
            <a:spLocks noChangeArrowheads="1"/>
          </p:cNvSpPr>
          <p:nvPr/>
        </p:nvSpPr>
        <p:spPr bwMode="auto">
          <a:xfrm>
            <a:off x="1945360" y="4861591"/>
            <a:ext cx="1317625" cy="1912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125000"/>
              </a:lnSpc>
            </a:pPr>
            <a:r>
              <a:rPr lang="zh-CN" altLang="en-US" sz="1600" dirty="0">
                <a:latin typeface="宋体" panose="02010600030101010101" pitchFamily="2" charset="-122"/>
                <a:ea typeface="宋体" panose="02010600030101010101" pitchFamily="2" charset="-122"/>
              </a:rPr>
              <a:t>应用层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传输层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网络层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数据链路层物理层</a:t>
            </a:r>
            <a:endParaRPr lang="en-US" altLang="zh-CN" sz="1600" dirty="0">
              <a:latin typeface="宋体" panose="02010600030101010101" pitchFamily="2" charset="-122"/>
              <a:ea typeface="宋体" panose="02010600030101010101" pitchFamily="2" charset="-122"/>
            </a:endParaRPr>
          </a:p>
          <a:p>
            <a:pPr algn="ctr">
              <a:lnSpc>
                <a:spcPct val="110000"/>
              </a:lnSpc>
            </a:pPr>
            <a:endParaRPr lang="en-US" altLang="zh-CN" sz="1800" dirty="0"/>
          </a:p>
        </p:txBody>
      </p:sp>
      <p:sp>
        <p:nvSpPr>
          <p:cNvPr id="131099" name="Line 61"/>
          <p:cNvSpPr>
            <a:spLocks noChangeShapeType="1"/>
          </p:cNvSpPr>
          <p:nvPr/>
        </p:nvSpPr>
        <p:spPr bwMode="auto">
          <a:xfrm>
            <a:off x="1954885" y="5532453"/>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00" name="Line 62"/>
          <p:cNvSpPr>
            <a:spLocks noChangeShapeType="1"/>
          </p:cNvSpPr>
          <p:nvPr/>
        </p:nvSpPr>
        <p:spPr bwMode="auto">
          <a:xfrm>
            <a:off x="1959647" y="5813440"/>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01" name="Line 63"/>
          <p:cNvSpPr>
            <a:spLocks noChangeShapeType="1"/>
          </p:cNvSpPr>
          <p:nvPr/>
        </p:nvSpPr>
        <p:spPr bwMode="auto">
          <a:xfrm>
            <a:off x="1959647" y="6089665"/>
            <a:ext cx="1263650" cy="317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 name="Group 2"/>
          <p:cNvGrpSpPr/>
          <p:nvPr/>
        </p:nvGrpSpPr>
        <p:grpSpPr bwMode="auto">
          <a:xfrm>
            <a:off x="391197" y="4886340"/>
            <a:ext cx="1479550" cy="1220788"/>
            <a:chOff x="152400" y="4610100"/>
            <a:chExt cx="1479550" cy="1220788"/>
          </a:xfrm>
        </p:grpSpPr>
        <p:grpSp>
          <p:nvGrpSpPr>
            <p:cNvPr id="131173" name="Group 64"/>
            <p:cNvGrpSpPr/>
            <p:nvPr/>
          </p:nvGrpSpPr>
          <p:grpSpPr bwMode="auto">
            <a:xfrm>
              <a:off x="152400" y="5527675"/>
              <a:ext cx="1479550" cy="303213"/>
              <a:chOff x="332" y="2224"/>
              <a:chExt cx="932" cy="191"/>
            </a:xfrm>
          </p:grpSpPr>
          <p:sp>
            <p:nvSpPr>
              <p:cNvPr id="131189" name="Rectangle 65"/>
              <p:cNvSpPr>
                <a:spLocks noChangeArrowheads="1"/>
              </p:cNvSpPr>
              <p:nvPr/>
            </p:nvSpPr>
            <p:spPr bwMode="auto">
              <a:xfrm>
                <a:off x="345" y="2241"/>
                <a:ext cx="840"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90" name="Rectangle 66"/>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91" name="Rectangle 67"/>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192" name="Rectangle 68"/>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l</a:t>
                </a:r>
              </a:p>
            </p:txBody>
          </p:sp>
          <p:sp>
            <p:nvSpPr>
              <p:cNvPr id="131193" name="Rectangle 69"/>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94" name="Line 70"/>
              <p:cNvSpPr>
                <a:spLocks noChangeShapeType="1"/>
              </p:cNvSpPr>
              <p:nvPr/>
            </p:nvSpPr>
            <p:spPr bwMode="auto">
              <a:xfrm>
                <a:off x="510" y="2241"/>
                <a:ext cx="0" cy="1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95" name="Line 71"/>
              <p:cNvSpPr>
                <a:spLocks noChangeShapeType="1"/>
              </p:cNvSpPr>
              <p:nvPr/>
            </p:nvSpPr>
            <p:spPr bwMode="auto">
              <a:xfrm>
                <a:off x="690" y="2247"/>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96" name="Line 72"/>
              <p:cNvSpPr>
                <a:spLocks noChangeShapeType="1"/>
              </p:cNvSpPr>
              <p:nvPr/>
            </p:nvSpPr>
            <p:spPr bwMode="auto">
              <a:xfrm>
                <a:off x="882" y="2244"/>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31174" name="Group 73"/>
            <p:cNvGrpSpPr/>
            <p:nvPr/>
          </p:nvGrpSpPr>
          <p:grpSpPr bwMode="auto">
            <a:xfrm>
              <a:off x="420688" y="5229225"/>
              <a:ext cx="1208087" cy="303213"/>
              <a:chOff x="501" y="1990"/>
              <a:chExt cx="761" cy="191"/>
            </a:xfrm>
          </p:grpSpPr>
          <p:sp>
            <p:nvSpPr>
              <p:cNvPr id="131183" name="Rectangle 74"/>
              <p:cNvSpPr>
                <a:spLocks noChangeArrowheads="1"/>
              </p:cNvSpPr>
              <p:nvPr/>
            </p:nvSpPr>
            <p:spPr bwMode="auto">
              <a:xfrm>
                <a:off x="501" y="2007"/>
                <a:ext cx="68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84" name="Rectangle 75"/>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85" name="Rectangle 76"/>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186" name="Rectangle 77"/>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87" name="Line 78"/>
              <p:cNvSpPr>
                <a:spLocks noChangeShapeType="1"/>
              </p:cNvSpPr>
              <p:nvPr/>
            </p:nvSpPr>
            <p:spPr bwMode="auto">
              <a:xfrm>
                <a:off x="688" y="2013"/>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88" name="Line 79"/>
              <p:cNvSpPr>
                <a:spLocks noChangeShapeType="1"/>
              </p:cNvSpPr>
              <p:nvPr/>
            </p:nvSpPr>
            <p:spPr bwMode="auto">
              <a:xfrm>
                <a:off x="880" y="2010"/>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31175" name="Group 80"/>
            <p:cNvGrpSpPr/>
            <p:nvPr/>
          </p:nvGrpSpPr>
          <p:grpSpPr bwMode="auto">
            <a:xfrm>
              <a:off x="723900" y="4921250"/>
              <a:ext cx="890588" cy="303213"/>
              <a:chOff x="645" y="1734"/>
              <a:chExt cx="561" cy="191"/>
            </a:xfrm>
          </p:grpSpPr>
          <p:sp>
            <p:nvSpPr>
              <p:cNvPr id="131179" name="Rectangle 81"/>
              <p:cNvSpPr>
                <a:spLocks noChangeArrowheads="1"/>
              </p:cNvSpPr>
              <p:nvPr/>
            </p:nvSpPr>
            <p:spPr bwMode="auto">
              <a:xfrm>
                <a:off x="645" y="1751"/>
                <a:ext cx="48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80" name="Rectangle 82"/>
              <p:cNvSpPr>
                <a:spLocks noChangeArrowheads="1"/>
              </p:cNvSpPr>
              <p:nvPr/>
            </p:nvSpPr>
            <p:spPr bwMode="auto">
              <a:xfrm>
                <a:off x="648" y="173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81" name="Rectangle 83"/>
              <p:cNvSpPr>
                <a:spLocks noChangeArrowheads="1"/>
              </p:cNvSpPr>
              <p:nvPr/>
            </p:nvSpPr>
            <p:spPr bwMode="auto">
              <a:xfrm>
                <a:off x="778" y="173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82" name="Line 84"/>
              <p:cNvSpPr>
                <a:spLocks noChangeShapeType="1"/>
              </p:cNvSpPr>
              <p:nvPr/>
            </p:nvSpPr>
            <p:spPr bwMode="auto">
              <a:xfrm>
                <a:off x="824" y="1754"/>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31176" name="Group 85"/>
            <p:cNvGrpSpPr/>
            <p:nvPr/>
          </p:nvGrpSpPr>
          <p:grpSpPr bwMode="auto">
            <a:xfrm>
              <a:off x="930275" y="4610100"/>
              <a:ext cx="679450" cy="301625"/>
              <a:chOff x="780" y="1553"/>
              <a:chExt cx="428" cy="190"/>
            </a:xfrm>
          </p:grpSpPr>
          <p:sp>
            <p:nvSpPr>
              <p:cNvPr id="131177" name="Rectangle 86"/>
              <p:cNvSpPr>
                <a:spLocks noChangeArrowheads="1"/>
              </p:cNvSpPr>
              <p:nvPr/>
            </p:nvSpPr>
            <p:spPr bwMode="auto">
              <a:xfrm>
                <a:off x="817" y="1569"/>
                <a:ext cx="31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78" name="Rectangle 87"/>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grpSp>
      </p:grpSp>
      <p:grpSp>
        <p:nvGrpSpPr>
          <p:cNvPr id="131103" name="Group 88"/>
          <p:cNvGrpSpPr/>
          <p:nvPr/>
        </p:nvGrpSpPr>
        <p:grpSpPr bwMode="auto">
          <a:xfrm>
            <a:off x="5893472" y="4440253"/>
            <a:ext cx="1387475" cy="1017588"/>
            <a:chOff x="3601" y="168"/>
            <a:chExt cx="874" cy="641"/>
          </a:xfrm>
        </p:grpSpPr>
        <p:sp>
          <p:nvSpPr>
            <p:cNvPr id="131168" name="Rectangle 89"/>
            <p:cNvSpPr>
              <a:spLocks noChangeArrowheads="1"/>
            </p:cNvSpPr>
            <p:nvPr/>
          </p:nvSpPr>
          <p:spPr bwMode="auto">
            <a:xfrm>
              <a:off x="3658" y="168"/>
              <a:ext cx="817" cy="59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69" name="Rectangle 90"/>
            <p:cNvSpPr>
              <a:spLocks noChangeArrowheads="1"/>
            </p:cNvSpPr>
            <p:nvPr/>
          </p:nvSpPr>
          <p:spPr bwMode="auto">
            <a:xfrm>
              <a:off x="3628" y="213"/>
              <a:ext cx="802" cy="596"/>
            </a:xfrm>
            <a:prstGeom prst="rect">
              <a:avLst/>
            </a:prstGeom>
            <a:solidFill>
              <a:schemeClr val="bg1"/>
            </a:solidFill>
            <a:ln w="2857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70" name="Line 91"/>
            <p:cNvSpPr>
              <a:spLocks noChangeShapeType="1"/>
            </p:cNvSpPr>
            <p:nvPr/>
          </p:nvSpPr>
          <p:spPr bwMode="auto">
            <a:xfrm>
              <a:off x="3628" y="413"/>
              <a:ext cx="796"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71" name="Text Box 92"/>
            <p:cNvSpPr txBox="1">
              <a:spLocks noChangeArrowheads="1"/>
            </p:cNvSpPr>
            <p:nvPr/>
          </p:nvSpPr>
          <p:spPr bwMode="auto">
            <a:xfrm>
              <a:off x="3601" y="192"/>
              <a:ext cx="830"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125000"/>
                </a:lnSpc>
              </a:pPr>
              <a:r>
                <a:rPr lang="zh-CN" altLang="en-US" sz="1600" dirty="0">
                  <a:latin typeface="宋体" panose="02010600030101010101" pitchFamily="2" charset="-122"/>
                  <a:ea typeface="宋体" panose="02010600030101010101" pitchFamily="2" charset="-122"/>
                </a:rPr>
                <a:t>网络层</a:t>
              </a:r>
              <a:endParaRPr lang="en-US" altLang="zh-CN" sz="1600" dirty="0">
                <a:latin typeface="宋体" panose="02010600030101010101" pitchFamily="2" charset="-122"/>
                <a:ea typeface="宋体" panose="02010600030101010101" pitchFamily="2" charset="-122"/>
              </a:endParaRPr>
            </a:p>
            <a:p>
              <a:pPr algn="ctr">
                <a:lnSpc>
                  <a:spcPct val="125000"/>
                </a:lnSpc>
              </a:pPr>
              <a:r>
                <a:rPr lang="zh-CN" altLang="en-US" sz="1600" dirty="0">
                  <a:latin typeface="宋体" panose="02010600030101010101" pitchFamily="2" charset="-122"/>
                  <a:ea typeface="宋体" panose="02010600030101010101" pitchFamily="2" charset="-122"/>
                </a:rPr>
                <a:t>数据链路层物理层</a:t>
              </a:r>
              <a:endParaRPr lang="en-US" altLang="zh-CN" sz="1600" dirty="0">
                <a:latin typeface="宋体" panose="02010600030101010101" pitchFamily="2" charset="-122"/>
                <a:ea typeface="宋体" panose="02010600030101010101" pitchFamily="2" charset="-122"/>
              </a:endParaRPr>
            </a:p>
          </p:txBody>
        </p:sp>
        <p:sp>
          <p:nvSpPr>
            <p:cNvPr id="131172" name="Line 93"/>
            <p:cNvSpPr>
              <a:spLocks noChangeShapeType="1"/>
            </p:cNvSpPr>
            <p:nvPr/>
          </p:nvSpPr>
          <p:spPr bwMode="auto">
            <a:xfrm>
              <a:off x="3633" y="615"/>
              <a:ext cx="796"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1104" name="Group 94"/>
          <p:cNvGrpSpPr/>
          <p:nvPr/>
        </p:nvGrpSpPr>
        <p:grpSpPr bwMode="auto">
          <a:xfrm>
            <a:off x="6060160" y="2547953"/>
            <a:ext cx="1387475" cy="727075"/>
            <a:chOff x="4696" y="597"/>
            <a:chExt cx="874" cy="458"/>
          </a:xfrm>
        </p:grpSpPr>
        <p:sp>
          <p:nvSpPr>
            <p:cNvPr id="131164" name="Rectangle 95"/>
            <p:cNvSpPr>
              <a:spLocks noChangeArrowheads="1"/>
            </p:cNvSpPr>
            <p:nvPr/>
          </p:nvSpPr>
          <p:spPr bwMode="auto">
            <a:xfrm>
              <a:off x="4753" y="597"/>
              <a:ext cx="817" cy="41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65" name="Rectangle 96"/>
            <p:cNvSpPr>
              <a:spLocks noChangeArrowheads="1"/>
            </p:cNvSpPr>
            <p:nvPr/>
          </p:nvSpPr>
          <p:spPr bwMode="auto">
            <a:xfrm>
              <a:off x="4723" y="642"/>
              <a:ext cx="802" cy="413"/>
            </a:xfrm>
            <a:prstGeom prst="rect">
              <a:avLst/>
            </a:prstGeom>
            <a:solidFill>
              <a:schemeClr val="bg1"/>
            </a:solidFill>
            <a:ln w="2857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66" name="Line 97"/>
            <p:cNvSpPr>
              <a:spLocks noChangeShapeType="1"/>
            </p:cNvSpPr>
            <p:nvPr/>
          </p:nvSpPr>
          <p:spPr bwMode="auto">
            <a:xfrm>
              <a:off x="4723" y="842"/>
              <a:ext cx="796"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67" name="Text Box 98"/>
            <p:cNvSpPr txBox="1">
              <a:spLocks noChangeArrowheads="1"/>
            </p:cNvSpPr>
            <p:nvPr/>
          </p:nvSpPr>
          <p:spPr bwMode="auto">
            <a:xfrm>
              <a:off x="4696" y="621"/>
              <a:ext cx="830"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125000"/>
                </a:lnSpc>
              </a:pPr>
              <a:r>
                <a:rPr lang="zh-CN" altLang="en-US" sz="1600" dirty="0">
                  <a:latin typeface="宋体" panose="02010600030101010101" pitchFamily="2" charset="-122"/>
                  <a:ea typeface="宋体" panose="02010600030101010101" pitchFamily="2" charset="-122"/>
                </a:rPr>
                <a:t>数据链路层物理层</a:t>
              </a:r>
              <a:endParaRPr lang="en-US" altLang="zh-CN" sz="1600" dirty="0">
                <a:latin typeface="宋体" panose="02010600030101010101" pitchFamily="2" charset="-122"/>
                <a:ea typeface="宋体" panose="02010600030101010101" pitchFamily="2" charset="-122"/>
              </a:endParaRPr>
            </a:p>
          </p:txBody>
        </p:sp>
      </p:grpSp>
      <p:sp>
        <p:nvSpPr>
          <p:cNvPr id="131105" name="Freeform 114"/>
          <p:cNvSpPr/>
          <p:nvPr/>
        </p:nvSpPr>
        <p:spPr bwMode="auto">
          <a:xfrm>
            <a:off x="2067597" y="839772"/>
            <a:ext cx="5264150" cy="5464206"/>
          </a:xfrm>
          <a:custGeom>
            <a:avLst/>
            <a:gdLst>
              <a:gd name="T0" fmla="*/ 2147483647 w 3316"/>
              <a:gd name="T1" fmla="*/ 0 h 3461"/>
              <a:gd name="T2" fmla="*/ 2147483647 w 3316"/>
              <a:gd name="T3" fmla="*/ 2147483647 h 3461"/>
              <a:gd name="T4" fmla="*/ 2147483647 w 3316"/>
              <a:gd name="T5" fmla="*/ 2147483647 h 3461"/>
              <a:gd name="T6" fmla="*/ 2147483647 w 3316"/>
              <a:gd name="T7" fmla="*/ 2147483647 h 3461"/>
              <a:gd name="T8" fmla="*/ 2147483647 w 3316"/>
              <a:gd name="T9" fmla="*/ 2147483647 h 3461"/>
              <a:gd name="T10" fmla="*/ 2147483647 w 3316"/>
              <a:gd name="T11" fmla="*/ 2147483647 h 3461"/>
              <a:gd name="T12" fmla="*/ 2147483647 w 3316"/>
              <a:gd name="T13" fmla="*/ 2147483647 h 3461"/>
              <a:gd name="T14" fmla="*/ 2147483647 w 3316"/>
              <a:gd name="T15" fmla="*/ 2147483647 h 3461"/>
              <a:gd name="T16" fmla="*/ 2147483647 w 3316"/>
              <a:gd name="T17" fmla="*/ 2147483647 h 3461"/>
              <a:gd name="T18" fmla="*/ 2147483647 w 3316"/>
              <a:gd name="T19" fmla="*/ 2147483647 h 3461"/>
              <a:gd name="T20" fmla="*/ 2147483647 w 3316"/>
              <a:gd name="T21" fmla="*/ 2147483647 h 3461"/>
              <a:gd name="T22" fmla="*/ 0 w 3316"/>
              <a:gd name="T23" fmla="*/ 2147483647 h 3461"/>
              <a:gd name="T24" fmla="*/ 0 w 3316"/>
              <a:gd name="T25" fmla="*/ 2147483647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16" h="3461">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1"/>
          <p:cNvGrpSpPr/>
          <p:nvPr/>
        </p:nvGrpSpPr>
        <p:grpSpPr bwMode="auto">
          <a:xfrm>
            <a:off x="4477422" y="4516453"/>
            <a:ext cx="1479550" cy="609600"/>
            <a:chOff x="4238625" y="4240213"/>
            <a:chExt cx="1479550" cy="609600"/>
          </a:xfrm>
        </p:grpSpPr>
        <p:grpSp>
          <p:nvGrpSpPr>
            <p:cNvPr id="131148" name="Group 115"/>
            <p:cNvGrpSpPr/>
            <p:nvPr/>
          </p:nvGrpSpPr>
          <p:grpSpPr bwMode="auto">
            <a:xfrm>
              <a:off x="4238625" y="4546600"/>
              <a:ext cx="1479550" cy="303213"/>
              <a:chOff x="332" y="2224"/>
              <a:chExt cx="932" cy="191"/>
            </a:xfrm>
          </p:grpSpPr>
          <p:sp>
            <p:nvSpPr>
              <p:cNvPr id="131156" name="Rectangle 116"/>
              <p:cNvSpPr>
                <a:spLocks noChangeArrowheads="1"/>
              </p:cNvSpPr>
              <p:nvPr/>
            </p:nvSpPr>
            <p:spPr bwMode="auto">
              <a:xfrm>
                <a:off x="345" y="2241"/>
                <a:ext cx="840"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57" name="Rectangle 117"/>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58" name="Rectangle 118"/>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159" name="Rectangle 119"/>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l</a:t>
                </a:r>
              </a:p>
            </p:txBody>
          </p:sp>
          <p:sp>
            <p:nvSpPr>
              <p:cNvPr id="131160" name="Rectangle 120"/>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61" name="Line 121"/>
              <p:cNvSpPr>
                <a:spLocks noChangeShapeType="1"/>
              </p:cNvSpPr>
              <p:nvPr/>
            </p:nvSpPr>
            <p:spPr bwMode="auto">
              <a:xfrm>
                <a:off x="510" y="2241"/>
                <a:ext cx="0" cy="1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62" name="Line 122"/>
              <p:cNvSpPr>
                <a:spLocks noChangeShapeType="1"/>
              </p:cNvSpPr>
              <p:nvPr/>
            </p:nvSpPr>
            <p:spPr bwMode="auto">
              <a:xfrm>
                <a:off x="690" y="2247"/>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63" name="Line 123"/>
              <p:cNvSpPr>
                <a:spLocks noChangeShapeType="1"/>
              </p:cNvSpPr>
              <p:nvPr/>
            </p:nvSpPr>
            <p:spPr bwMode="auto">
              <a:xfrm>
                <a:off x="882" y="2244"/>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31149" name="Group 124"/>
            <p:cNvGrpSpPr/>
            <p:nvPr/>
          </p:nvGrpSpPr>
          <p:grpSpPr bwMode="auto">
            <a:xfrm>
              <a:off x="4497388" y="4240213"/>
              <a:ext cx="1208087" cy="303212"/>
              <a:chOff x="501" y="1990"/>
              <a:chExt cx="761" cy="191"/>
            </a:xfrm>
          </p:grpSpPr>
          <p:sp>
            <p:nvSpPr>
              <p:cNvPr id="131150" name="Rectangle 125"/>
              <p:cNvSpPr>
                <a:spLocks noChangeArrowheads="1"/>
              </p:cNvSpPr>
              <p:nvPr/>
            </p:nvSpPr>
            <p:spPr bwMode="auto">
              <a:xfrm>
                <a:off x="501" y="2007"/>
                <a:ext cx="68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51" name="Rectangle 126"/>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52" name="Rectangle 127"/>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153" name="Rectangle 128"/>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54" name="Line 129"/>
              <p:cNvSpPr>
                <a:spLocks noChangeShapeType="1"/>
              </p:cNvSpPr>
              <p:nvPr/>
            </p:nvSpPr>
            <p:spPr bwMode="auto">
              <a:xfrm>
                <a:off x="688" y="2013"/>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55" name="Line 130"/>
              <p:cNvSpPr>
                <a:spLocks noChangeShapeType="1"/>
              </p:cNvSpPr>
              <p:nvPr/>
            </p:nvSpPr>
            <p:spPr bwMode="auto">
              <a:xfrm>
                <a:off x="880" y="2010"/>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 name="Group 140"/>
          <p:cNvGrpSpPr/>
          <p:nvPr/>
        </p:nvGrpSpPr>
        <p:grpSpPr bwMode="auto">
          <a:xfrm>
            <a:off x="7507960" y="4883165"/>
            <a:ext cx="1208087" cy="303213"/>
            <a:chOff x="501" y="1990"/>
            <a:chExt cx="761" cy="191"/>
          </a:xfrm>
        </p:grpSpPr>
        <p:sp>
          <p:nvSpPr>
            <p:cNvPr id="131142" name="Rectangle 141"/>
            <p:cNvSpPr>
              <a:spLocks noChangeArrowheads="1"/>
            </p:cNvSpPr>
            <p:nvPr/>
          </p:nvSpPr>
          <p:spPr bwMode="auto">
            <a:xfrm>
              <a:off x="501" y="2007"/>
              <a:ext cx="68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43" name="Rectangle 142"/>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44" name="Rectangle 143"/>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145" name="Rectangle 144"/>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46" name="Line 145"/>
            <p:cNvSpPr>
              <a:spLocks noChangeShapeType="1"/>
            </p:cNvSpPr>
            <p:nvPr/>
          </p:nvSpPr>
          <p:spPr bwMode="auto">
            <a:xfrm>
              <a:off x="688" y="2013"/>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47" name="Line 146"/>
            <p:cNvSpPr>
              <a:spLocks noChangeShapeType="1"/>
            </p:cNvSpPr>
            <p:nvPr/>
          </p:nvSpPr>
          <p:spPr bwMode="auto">
            <a:xfrm>
              <a:off x="880" y="2010"/>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6" name="Group 156"/>
          <p:cNvGrpSpPr/>
          <p:nvPr/>
        </p:nvGrpSpPr>
        <p:grpSpPr bwMode="auto">
          <a:xfrm>
            <a:off x="1341815" y="1941528"/>
            <a:ext cx="1479550" cy="303212"/>
            <a:chOff x="332" y="2224"/>
            <a:chExt cx="932" cy="191"/>
          </a:xfrm>
        </p:grpSpPr>
        <p:sp>
          <p:nvSpPr>
            <p:cNvPr id="131134" name="Rectangle 157"/>
            <p:cNvSpPr>
              <a:spLocks noChangeArrowheads="1"/>
            </p:cNvSpPr>
            <p:nvPr/>
          </p:nvSpPr>
          <p:spPr bwMode="auto">
            <a:xfrm>
              <a:off x="345" y="2241"/>
              <a:ext cx="840"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35" name="Rectangle 158"/>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sp>
          <p:nvSpPr>
            <p:cNvPr id="131136" name="Rectangle 159"/>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n</a:t>
              </a:r>
            </a:p>
          </p:txBody>
        </p:sp>
        <p:sp>
          <p:nvSpPr>
            <p:cNvPr id="131137" name="Rectangle 160"/>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l</a:t>
              </a:r>
            </a:p>
          </p:txBody>
        </p:sp>
        <p:sp>
          <p:nvSpPr>
            <p:cNvPr id="131138" name="Rectangle 161"/>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sp>
          <p:nvSpPr>
            <p:cNvPr id="131139" name="Line 162"/>
            <p:cNvSpPr>
              <a:spLocks noChangeShapeType="1"/>
            </p:cNvSpPr>
            <p:nvPr/>
          </p:nvSpPr>
          <p:spPr bwMode="auto">
            <a:xfrm>
              <a:off x="510" y="2241"/>
              <a:ext cx="0" cy="1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40" name="Line 163"/>
            <p:cNvSpPr>
              <a:spLocks noChangeShapeType="1"/>
            </p:cNvSpPr>
            <p:nvPr/>
          </p:nvSpPr>
          <p:spPr bwMode="auto">
            <a:xfrm>
              <a:off x="690" y="2247"/>
              <a:ext cx="0" cy="1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141" name="Line 164"/>
            <p:cNvSpPr>
              <a:spLocks noChangeShapeType="1"/>
            </p:cNvSpPr>
            <p:nvPr/>
          </p:nvSpPr>
          <p:spPr bwMode="auto">
            <a:xfrm>
              <a:off x="882" y="2244"/>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1109" name="Text Box 166"/>
          <p:cNvSpPr txBox="1">
            <a:spLocks noChangeArrowheads="1"/>
          </p:cNvSpPr>
          <p:nvPr/>
        </p:nvSpPr>
        <p:spPr bwMode="auto">
          <a:xfrm>
            <a:off x="7908010" y="5794390"/>
            <a:ext cx="8925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a:solidFill>
                  <a:srgbClr val="000099"/>
                </a:solidFill>
                <a:latin typeface="Arial" panose="020B0604020202020204" pitchFamily="34" charset="0"/>
                <a:ea typeface="MS PGothic" panose="020B0600070205080204" pitchFamily="34" charset="-128"/>
              </a:defRPr>
            </a:lvl1pPr>
            <a:lvl2pPr marL="742950" indent="-285750">
              <a:defRPr sz="2400">
                <a:latin typeface="Arial" panose="020B0604020202020204" pitchFamily="34" charset="0"/>
                <a:ea typeface="MS PGothic" panose="020B0600070205080204" pitchFamily="34" charset="-128"/>
              </a:defRPr>
            </a:lvl2pPr>
            <a:lvl3pPr marL="1143000" indent="-228600">
              <a:defRPr sz="2400">
                <a:latin typeface="Arial" panose="020B0604020202020204" pitchFamily="34" charset="0"/>
                <a:ea typeface="MS PGothic" panose="020B0600070205080204" pitchFamily="34" charset="-128"/>
              </a:defRPr>
            </a:lvl3pPr>
            <a:lvl4pPr marL="1600200" indent="-228600">
              <a:defRPr sz="2400">
                <a:latin typeface="Arial" panose="020B0604020202020204" pitchFamily="34" charset="0"/>
                <a:ea typeface="MS PGothic" panose="020B0600070205080204" pitchFamily="34" charset="-128"/>
              </a:defRPr>
            </a:lvl4pPr>
            <a:lvl5pPr marL="2057400" indent="-228600">
              <a:defRPr sz="2400">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9pPr>
          </a:lstStyle>
          <a:p>
            <a:r>
              <a:rPr lang="zh-CN" altLang="en-US" dirty="0"/>
              <a:t>路由器</a:t>
            </a:r>
            <a:endParaRPr lang="en-US" altLang="zh-CN" dirty="0"/>
          </a:p>
        </p:txBody>
      </p:sp>
      <p:sp>
        <p:nvSpPr>
          <p:cNvPr id="131110" name="Text Box 167"/>
          <p:cNvSpPr txBox="1">
            <a:spLocks noChangeArrowheads="1"/>
          </p:cNvSpPr>
          <p:nvPr/>
        </p:nvSpPr>
        <p:spPr bwMode="auto">
          <a:xfrm>
            <a:off x="8091365" y="2640840"/>
            <a:ext cx="895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a:solidFill>
                  <a:srgbClr val="000099"/>
                </a:solidFill>
                <a:latin typeface="Arial" panose="020B0604020202020204" pitchFamily="34" charset="0"/>
                <a:ea typeface="MS PGothic" panose="020B0600070205080204" pitchFamily="34" charset="-128"/>
              </a:defRPr>
            </a:lvl1pPr>
            <a:lvl2pPr marL="742950" indent="-285750">
              <a:defRPr sz="2400">
                <a:latin typeface="Arial" panose="020B0604020202020204" pitchFamily="34" charset="0"/>
                <a:ea typeface="MS PGothic" panose="020B0600070205080204" pitchFamily="34" charset="-128"/>
              </a:defRPr>
            </a:lvl2pPr>
            <a:lvl3pPr marL="1143000" indent="-228600">
              <a:defRPr sz="2400">
                <a:latin typeface="Arial" panose="020B0604020202020204" pitchFamily="34" charset="0"/>
                <a:ea typeface="MS PGothic" panose="020B0600070205080204" pitchFamily="34" charset="-128"/>
              </a:defRPr>
            </a:lvl3pPr>
            <a:lvl4pPr marL="1600200" indent="-228600">
              <a:defRPr sz="2400">
                <a:latin typeface="Arial" panose="020B0604020202020204" pitchFamily="34" charset="0"/>
                <a:ea typeface="MS PGothic" panose="020B0600070205080204" pitchFamily="34" charset="-128"/>
              </a:defRPr>
            </a:lvl4pPr>
            <a:lvl5pPr marL="2057400" indent="-228600">
              <a:defRPr sz="2400">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latin typeface="Arial" panose="020B0604020202020204" pitchFamily="34" charset="0"/>
                <a:ea typeface="MS PGothic" panose="020B0600070205080204" pitchFamily="34" charset="-128"/>
              </a:defRPr>
            </a:lvl9pPr>
          </a:lstStyle>
          <a:p>
            <a:r>
              <a:rPr lang="zh-CN" altLang="en-US" dirty="0"/>
              <a:t>交换机</a:t>
            </a:r>
            <a:endParaRPr lang="en-US" altLang="zh-CN" dirty="0"/>
          </a:p>
        </p:txBody>
      </p:sp>
      <p:sp>
        <p:nvSpPr>
          <p:cNvPr id="112814" name="Text Box 174"/>
          <p:cNvSpPr txBox="1">
            <a:spLocks noChangeArrowheads="1"/>
          </p:cNvSpPr>
          <p:nvPr/>
        </p:nvSpPr>
        <p:spPr bwMode="auto">
          <a:xfrm>
            <a:off x="5806" y="941825"/>
            <a:ext cx="140100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1400" dirty="0">
                <a:solidFill>
                  <a:srgbClr val="CC0000"/>
                </a:solidFill>
              </a:rPr>
              <a:t>报文</a:t>
            </a:r>
            <a:r>
              <a:rPr lang="en-US" altLang="zh-CN" sz="1400" dirty="0">
                <a:solidFill>
                  <a:srgbClr val="CC0000"/>
                </a:solidFill>
              </a:rPr>
              <a:t>(message)</a:t>
            </a:r>
          </a:p>
        </p:txBody>
      </p:sp>
      <p:grpSp>
        <p:nvGrpSpPr>
          <p:cNvPr id="17" name="Group 175"/>
          <p:cNvGrpSpPr/>
          <p:nvPr/>
        </p:nvGrpSpPr>
        <p:grpSpPr bwMode="auto">
          <a:xfrm>
            <a:off x="2167315" y="995378"/>
            <a:ext cx="679450" cy="301625"/>
            <a:chOff x="780" y="1553"/>
            <a:chExt cx="428" cy="190"/>
          </a:xfrm>
        </p:grpSpPr>
        <p:sp>
          <p:nvSpPr>
            <p:cNvPr id="131132" name="Rectangle 176"/>
            <p:cNvSpPr>
              <a:spLocks noChangeArrowheads="1"/>
            </p:cNvSpPr>
            <p:nvPr/>
          </p:nvSpPr>
          <p:spPr bwMode="auto">
            <a:xfrm>
              <a:off x="817" y="1569"/>
              <a:ext cx="31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33" name="Rectangle 177"/>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grpSp>
      <p:grpSp>
        <p:nvGrpSpPr>
          <p:cNvPr id="18" name="Group 185"/>
          <p:cNvGrpSpPr/>
          <p:nvPr/>
        </p:nvGrpSpPr>
        <p:grpSpPr bwMode="auto">
          <a:xfrm>
            <a:off x="1932365" y="1316053"/>
            <a:ext cx="903287" cy="301625"/>
            <a:chOff x="1851" y="2046"/>
            <a:chExt cx="569" cy="190"/>
          </a:xfrm>
        </p:grpSpPr>
        <p:grpSp>
          <p:nvGrpSpPr>
            <p:cNvPr id="131126" name="Group 179"/>
            <p:cNvGrpSpPr/>
            <p:nvPr/>
          </p:nvGrpSpPr>
          <p:grpSpPr bwMode="auto">
            <a:xfrm>
              <a:off x="1851" y="2047"/>
              <a:ext cx="190" cy="184"/>
              <a:chOff x="1962" y="2058"/>
              <a:chExt cx="190" cy="184"/>
            </a:xfrm>
          </p:grpSpPr>
          <p:sp>
            <p:nvSpPr>
              <p:cNvPr id="131130" name="Rectangle 180"/>
              <p:cNvSpPr>
                <a:spLocks noChangeArrowheads="1"/>
              </p:cNvSpPr>
              <p:nvPr/>
            </p:nvSpPr>
            <p:spPr bwMode="auto">
              <a:xfrm>
                <a:off x="1962" y="2075"/>
                <a:ext cx="177"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31" name="Rectangle 181"/>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H</a:t>
                </a:r>
                <a:r>
                  <a:rPr lang="en-US" altLang="zh-CN" sz="1800" baseline="-25000"/>
                  <a:t>t</a:t>
                </a:r>
              </a:p>
            </p:txBody>
          </p:sp>
        </p:grpSp>
        <p:grpSp>
          <p:nvGrpSpPr>
            <p:cNvPr id="131127" name="Group 182"/>
            <p:cNvGrpSpPr/>
            <p:nvPr/>
          </p:nvGrpSpPr>
          <p:grpSpPr bwMode="auto">
            <a:xfrm>
              <a:off x="1992" y="2046"/>
              <a:ext cx="428" cy="190"/>
              <a:chOff x="780" y="1553"/>
              <a:chExt cx="428" cy="190"/>
            </a:xfrm>
          </p:grpSpPr>
          <p:sp>
            <p:nvSpPr>
              <p:cNvPr id="131128" name="Rectangle 183"/>
              <p:cNvSpPr>
                <a:spLocks noChangeArrowheads="1"/>
              </p:cNvSpPr>
              <p:nvPr/>
            </p:nvSpPr>
            <p:spPr bwMode="auto">
              <a:xfrm>
                <a:off x="817" y="1569"/>
                <a:ext cx="312"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29" name="Rectangle 184"/>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a:t>M</a:t>
                </a:r>
              </a:p>
            </p:txBody>
          </p:sp>
        </p:grpSp>
      </p:grpSp>
      <p:grpSp>
        <p:nvGrpSpPr>
          <p:cNvPr id="21" name="Group 187"/>
          <p:cNvGrpSpPr/>
          <p:nvPr/>
        </p:nvGrpSpPr>
        <p:grpSpPr bwMode="auto">
          <a:xfrm>
            <a:off x="1638677" y="1639903"/>
            <a:ext cx="301625" cy="292100"/>
            <a:chOff x="1962" y="2058"/>
            <a:chExt cx="190" cy="184"/>
          </a:xfrm>
        </p:grpSpPr>
        <p:sp>
          <p:nvSpPr>
            <p:cNvPr id="131124" name="Rectangle 188"/>
            <p:cNvSpPr>
              <a:spLocks noChangeArrowheads="1"/>
            </p:cNvSpPr>
            <p:nvPr/>
          </p:nvSpPr>
          <p:spPr bwMode="auto">
            <a:xfrm>
              <a:off x="1962" y="2075"/>
              <a:ext cx="177" cy="162"/>
            </a:xfrm>
            <a:prstGeom prst="rect">
              <a:avLst/>
            </a:prstGeom>
            <a:solidFill>
              <a:schemeClr val="bg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131125" name="Rectangle 189"/>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400" dirty="0" err="1"/>
                <a:t>H</a:t>
              </a:r>
              <a:r>
                <a:rPr lang="en-US" altLang="zh-CN" sz="1800" baseline="-25000" dirty="0" err="1"/>
                <a:t>n</a:t>
              </a:r>
              <a:endParaRPr lang="en-US" altLang="zh-CN" sz="1800" baseline="-25000" dirty="0"/>
            </a:p>
          </p:txBody>
        </p:sp>
      </p:grpSp>
      <p:sp>
        <p:nvSpPr>
          <p:cNvPr id="112647" name="Text Box 7"/>
          <p:cNvSpPr txBox="1">
            <a:spLocks noChangeArrowheads="1"/>
          </p:cNvSpPr>
          <p:nvPr/>
        </p:nvSpPr>
        <p:spPr bwMode="auto">
          <a:xfrm>
            <a:off x="19722" y="1943213"/>
            <a:ext cx="96288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1400" dirty="0">
                <a:solidFill>
                  <a:srgbClr val="CC0000"/>
                </a:solidFill>
              </a:rPr>
              <a:t>帧</a:t>
            </a:r>
            <a:r>
              <a:rPr lang="en-US" altLang="zh-CN" sz="1400" dirty="0">
                <a:solidFill>
                  <a:srgbClr val="CC0000"/>
                </a:solidFill>
              </a:rPr>
              <a:t>(frame)</a:t>
            </a:r>
          </a:p>
        </p:txBody>
      </p:sp>
      <p:grpSp>
        <p:nvGrpSpPr>
          <p:cNvPr id="131117" name="Group 187"/>
          <p:cNvGrpSpPr/>
          <p:nvPr/>
        </p:nvGrpSpPr>
        <p:grpSpPr bwMode="auto">
          <a:xfrm flipH="1">
            <a:off x="3416972" y="5246703"/>
            <a:ext cx="803275" cy="771525"/>
            <a:chOff x="-44" y="1473"/>
            <a:chExt cx="981" cy="1105"/>
          </a:xfrm>
        </p:grpSpPr>
        <p:pic>
          <p:nvPicPr>
            <p:cNvPr id="131122" name="Picture 188"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123" name="Freeform 189"/>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131118" name="Group 190"/>
          <p:cNvGrpSpPr/>
          <p:nvPr/>
        </p:nvGrpSpPr>
        <p:grpSpPr bwMode="auto">
          <a:xfrm flipH="1">
            <a:off x="4378997" y="1363678"/>
            <a:ext cx="803275" cy="771525"/>
            <a:chOff x="-44" y="1473"/>
            <a:chExt cx="981" cy="1105"/>
          </a:xfrm>
        </p:grpSpPr>
        <p:pic>
          <p:nvPicPr>
            <p:cNvPr id="131120" name="Picture 19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121" name="Freeform 192"/>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sp>
        <p:nvSpPr>
          <p:cNvPr id="4"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1.4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网络体系结构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0.0037 L -4.72222E-6 0.04584 " pathEditMode="relative" rAng="0" ptsTypes="AA">
                                      <p:cBhvr>
                                        <p:cTn id="6" dur="2000" fill="hold"/>
                                        <p:tgtEl>
                                          <p:spTgt spid="17"/>
                                        </p:tgtEl>
                                        <p:attrNameLst>
                                          <p:attrName>ppt_x</p:attrName>
                                          <p:attrName>ppt_y</p:attrName>
                                        </p:attrNameLst>
                                      </p:cBhvr>
                                      <p:rCtr x="0" y="2477"/>
                                    </p:animMotion>
                                  </p:childTnLst>
                                </p:cTn>
                              </p:par>
                              <p:par>
                                <p:cTn id="7" presetID="10" presetClass="exit" presetSubtype="0" fill="hold" grpId="0" nodeType="withEffect">
                                  <p:stCondLst>
                                    <p:cond delay="0"/>
                                  </p:stCondLst>
                                  <p:childTnLst>
                                    <p:animEffect transition="out" filter="fade">
                                      <p:cBhvr>
                                        <p:cTn id="8" dur="2000"/>
                                        <p:tgtEl>
                                          <p:spTgt spid="112814"/>
                                        </p:tgtEl>
                                      </p:cBhvr>
                                    </p:animEffect>
                                    <p:set>
                                      <p:cBhvr>
                                        <p:cTn id="9" dur="1" fill="hold">
                                          <p:stCondLst>
                                            <p:cond delay="1999"/>
                                          </p:stCondLst>
                                        </p:cTn>
                                        <p:tgtEl>
                                          <p:spTgt spid="112814"/>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264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17"/>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6"/>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12645"/>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par>
                          <p:cTn id="26" fill="hold">
                            <p:stCondLst>
                              <p:cond delay="0"/>
                            </p:stCondLst>
                            <p:childTnLst>
                              <p:par>
                                <p:cTn id="27" presetID="42" presetClass="path" presetSubtype="0" accel="50000" decel="50000" fill="hold" nodeType="afterEffect">
                                  <p:stCondLst>
                                    <p:cond delay="0"/>
                                  </p:stCondLst>
                                  <p:childTnLst>
                                    <p:animMotion origin="layout" path="M -3.05556E-6 -0.00926 L -3.05556E-6 0.04792 " pathEditMode="relative" rAng="0" ptsTypes="AA">
                                      <p:cBhvr>
                                        <p:cTn id="28" dur="2000" fill="hold"/>
                                        <p:tgtEl>
                                          <p:spTgt spid="18"/>
                                        </p:tgtEl>
                                        <p:attrNameLst>
                                          <p:attrName>ppt_x</p:attrName>
                                          <p:attrName>ppt_y</p:attrName>
                                        </p:attrNameLst>
                                      </p:cBhvr>
                                      <p:rCtr x="0" y="2847"/>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6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12644"/>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3.05556E-6 2.22222E-6 L -3.05556E-6 0.04213 " pathEditMode="relative" rAng="0" ptsTypes="AA">
                                      <p:cBhvr>
                                        <p:cTn id="46" dur="2000" fill="hold"/>
                                        <p:tgtEl>
                                          <p:spTgt spid="5"/>
                                        </p:tgtEl>
                                        <p:attrNameLst>
                                          <p:attrName>ppt_x</p:attrName>
                                          <p:attrName>ppt_y</p:attrName>
                                        </p:attrNameLst>
                                      </p:cBhvr>
                                      <p:rCtr x="0" y="2106"/>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264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5"/>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12647"/>
                                        </p:tgtEl>
                                        <p:attrNameLst>
                                          <p:attrName>style.visibility</p:attrName>
                                        </p:attrNameLst>
                                      </p:cBhvr>
                                      <p:to>
                                        <p:strVal val="hidden"/>
                                      </p:to>
                                    </p:set>
                                  </p:childTnLst>
                                </p:cTn>
                              </p:par>
                            </p:childTnLst>
                          </p:cTn>
                        </p:par>
                        <p:par>
                          <p:cTn id="59" fill="hold">
                            <p:stCondLst>
                              <p:cond delay="0"/>
                            </p:stCondLst>
                            <p:childTnLst>
                              <p:par>
                                <p:cTn id="60" presetID="0" presetClass="path" presetSubtype="0" accel="50000" decel="50000" fill="hold" nodeType="afterEffect">
                                  <p:stCondLst>
                                    <p:cond delay="0"/>
                                  </p:stCondLst>
                                  <p:childTnLst>
                                    <p:animMotion origin="layout" path="M 3.05556E-6 -4.81481E-6 L 3.05556E-6 0.13889 L 0.40295 0.13889 L 0.40295 0.09885 L 0.57152 0.10093 L 0.57152 0.57709 L 0.66371 0.50857 L 0.66371 0.42848 " pathEditMode="relative" rAng="0" ptsTypes="AAAAAAAA">
                                      <p:cBhvr>
                                        <p:cTn id="61" dur="3000" fill="hold"/>
                                        <p:tgtEl>
                                          <p:spTgt spid="16"/>
                                        </p:tgtEl>
                                        <p:attrNameLst>
                                          <p:attrName>ppt_x</p:attrName>
                                          <p:attrName>ppt_y</p:attrName>
                                        </p:attrNameLst>
                                      </p:cBhvr>
                                      <p:rCtr x="33177" y="28843"/>
                                    </p:animMotion>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16"/>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1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64" presetClass="path" presetSubtype="0" accel="50000" decel="50000" fill="hold" nodeType="clickEffect">
                                  <p:stCondLst>
                                    <p:cond delay="0"/>
                                  </p:stCondLst>
                                  <p:childTnLst>
                                    <p:animMotion origin="layout" path="M 0.00156 -0.00046 L 0.00156 -0.04815 " pathEditMode="relative" rAng="0" ptsTypes="AA">
                                      <p:cBhvr>
                                        <p:cTn id="71" dur="2000" fill="hold"/>
                                        <p:tgtEl>
                                          <p:spTgt spid="15"/>
                                        </p:tgtEl>
                                        <p:attrNameLst>
                                          <p:attrName>ppt_x</p:attrName>
                                          <p:attrName>ppt_y</p:attrName>
                                        </p:attrNameLst>
                                      </p:cBhvr>
                                      <p:rCtr x="0" y="-2384"/>
                                    </p:animMotion>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nodeType="clickEffect">
                                  <p:stCondLst>
                                    <p:cond delay="0"/>
                                  </p:stCondLst>
                                  <p:childTnLst>
                                    <p:set>
                                      <p:cBhvr>
                                        <p:cTn id="75" dur="1" fill="hold">
                                          <p:stCondLst>
                                            <p:cond delay="0"/>
                                          </p:stCondLst>
                                        </p:cTn>
                                        <p:tgtEl>
                                          <p:spTgt spid="15"/>
                                        </p:tgtEl>
                                        <p:attrNameLst>
                                          <p:attrName>style.visibility</p:attrName>
                                        </p:attrNameLst>
                                      </p:cBhvr>
                                      <p:to>
                                        <p:strVal val="hidden"/>
                                      </p:to>
                                    </p:set>
                                  </p:childTnLst>
                                </p:cTn>
                              </p:par>
                              <p:par>
                                <p:cTn id="76" presetID="22" presetClass="entr" presetSubtype="1" fill="hold" nodeType="with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wipe(up)">
                                      <p:cBhvr>
                                        <p:cTn id="78" dur="500"/>
                                        <p:tgtEl>
                                          <p:spTgt spid="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2"/>
                                        </p:tgtEl>
                                        <p:attrNameLst>
                                          <p:attrName>style.visibility</p:attrName>
                                        </p:attrNameLst>
                                      </p:cBhvr>
                                      <p:to>
                                        <p:strVal val="hidden"/>
                                      </p:to>
                                    </p:set>
                                  </p:childTnLst>
                                </p:cTn>
                              </p:par>
                              <p:par>
                                <p:cTn id="83" presetID="22" presetClass="entr" presetSubtype="4" fill="hold" nodeType="with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wipe(down)">
                                      <p:cBhvr>
                                        <p:cTn id="8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5" grpId="1"/>
      <p:bldP spid="112644" grpId="0"/>
      <p:bldP spid="112644" grpId="1"/>
      <p:bldP spid="112814" grpId="0"/>
      <p:bldP spid="112647" grpId="0"/>
      <p:bldP spid="112647"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a:xfrm>
            <a:off x="395288" y="713356"/>
            <a:ext cx="8210550" cy="679450"/>
          </a:xfrm>
        </p:spPr>
        <p:txBody>
          <a:bodyPr/>
          <a:lstStyle/>
          <a:p>
            <a:pPr>
              <a:defRP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TCP/IP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协议栈实现</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标题 1"/>
          <p:cNvSpPr txBox="1"/>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1.4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网络体系结构</a:t>
            </a:r>
          </a:p>
        </p:txBody>
      </p:sp>
      <p:sp>
        <p:nvSpPr>
          <p:cNvPr id="2" name="Rectangle 9"/>
          <p:cNvSpPr>
            <a:spLocks noChangeArrowheads="1"/>
          </p:cNvSpPr>
          <p:nvPr/>
        </p:nvSpPr>
        <p:spPr bwMode="auto">
          <a:xfrm>
            <a:off x="525470" y="2358177"/>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3" name="Rectangle 11"/>
          <p:cNvSpPr>
            <a:spLocks noChangeArrowheads="1"/>
          </p:cNvSpPr>
          <p:nvPr/>
        </p:nvSpPr>
        <p:spPr bwMode="auto">
          <a:xfrm>
            <a:off x="525470" y="2891577"/>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4" name="Rectangle 12"/>
          <p:cNvSpPr>
            <a:spLocks noChangeArrowheads="1"/>
          </p:cNvSpPr>
          <p:nvPr/>
        </p:nvSpPr>
        <p:spPr bwMode="auto">
          <a:xfrm>
            <a:off x="525470" y="3424977"/>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6" name="Rectangle 13"/>
          <p:cNvSpPr>
            <a:spLocks noChangeArrowheads="1"/>
          </p:cNvSpPr>
          <p:nvPr/>
        </p:nvSpPr>
        <p:spPr bwMode="auto">
          <a:xfrm>
            <a:off x="525470" y="4480665"/>
            <a:ext cx="1676400" cy="544512"/>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物理层</a:t>
            </a:r>
            <a:endParaRPr lang="en-US" altLang="zh-CN" sz="2000" dirty="0">
              <a:ea typeface="宋体" panose="02010600030101010101" pitchFamily="2" charset="-122"/>
            </a:endParaRPr>
          </a:p>
        </p:txBody>
      </p:sp>
      <p:sp>
        <p:nvSpPr>
          <p:cNvPr id="8" name="Rectangle 13"/>
          <p:cNvSpPr>
            <a:spLocks noChangeArrowheads="1"/>
          </p:cNvSpPr>
          <p:nvPr/>
        </p:nvSpPr>
        <p:spPr bwMode="auto">
          <a:xfrm>
            <a:off x="525470" y="3947265"/>
            <a:ext cx="1676400" cy="544512"/>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数据链路层</a:t>
            </a:r>
            <a:endParaRPr lang="en-US" altLang="zh-CN" sz="2000" dirty="0">
              <a:ea typeface="宋体" panose="02010600030101010101" pitchFamily="2" charset="-122"/>
            </a:endParaRPr>
          </a:p>
        </p:txBody>
      </p:sp>
      <p:sp>
        <p:nvSpPr>
          <p:cNvPr id="12" name="右中括号 11"/>
          <p:cNvSpPr/>
          <p:nvPr/>
        </p:nvSpPr>
        <p:spPr>
          <a:xfrm>
            <a:off x="2293856" y="3958377"/>
            <a:ext cx="45719" cy="1066800"/>
          </a:xfrm>
          <a:prstGeom prst="rightBracket">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Text Box 42"/>
          <p:cNvSpPr txBox="1">
            <a:spLocks noChangeArrowheads="1"/>
          </p:cNvSpPr>
          <p:nvPr/>
        </p:nvSpPr>
        <p:spPr bwMode="auto">
          <a:xfrm>
            <a:off x="2316715" y="4126722"/>
            <a:ext cx="204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ea typeface="宋体" panose="02010600030101010101" pitchFamily="2" charset="-122"/>
              </a:rPr>
              <a:t>接口层</a:t>
            </a:r>
            <a:endParaRPr kumimoji="0" lang="en-US" altLang="zh-CN" sz="2000" dirty="0">
              <a:solidFill>
                <a:schemeClr val="accent1">
                  <a:lumMod val="75000"/>
                </a:schemeClr>
              </a:solidFill>
              <a:ea typeface="宋体" panose="02010600030101010101" pitchFamily="2" charset="-122"/>
            </a:endParaRPr>
          </a:p>
          <a:p>
            <a:pPr algn="ctr">
              <a:spcBef>
                <a:spcPct val="0"/>
              </a:spcBef>
              <a:buNone/>
            </a:pPr>
            <a:r>
              <a:rPr lang="zh-CN" altLang="en-US" sz="2000" dirty="0">
                <a:solidFill>
                  <a:schemeClr val="accent1">
                    <a:lumMod val="75000"/>
                  </a:schemeClr>
                </a:solidFill>
                <a:ea typeface="宋体" panose="02010600030101010101" pitchFamily="2" charset="-122"/>
              </a:rPr>
              <a:t>驱动程序</a:t>
            </a:r>
            <a:r>
              <a:rPr lang="en-US" altLang="zh-CN" sz="2000" dirty="0">
                <a:solidFill>
                  <a:schemeClr val="accent1">
                    <a:lumMod val="75000"/>
                  </a:schemeClr>
                </a:solidFill>
                <a:ea typeface="宋体" panose="02010600030101010101" pitchFamily="2" charset="-122"/>
              </a:rPr>
              <a:t>+</a:t>
            </a:r>
            <a:r>
              <a:rPr lang="zh-CN" altLang="en-US" sz="2000" dirty="0">
                <a:solidFill>
                  <a:schemeClr val="accent1">
                    <a:lumMod val="75000"/>
                  </a:schemeClr>
                </a:solidFill>
                <a:ea typeface="宋体" panose="02010600030101010101" pitchFamily="2" charset="-122"/>
              </a:rPr>
              <a:t>网卡</a:t>
            </a:r>
            <a:endParaRPr kumimoji="0" lang="en-US" altLang="zh-CN" sz="2000" dirty="0">
              <a:solidFill>
                <a:schemeClr val="accent1">
                  <a:lumMod val="75000"/>
                </a:schemeClr>
              </a:solidFill>
              <a:ea typeface="宋体" panose="02010600030101010101" pitchFamily="2" charset="-122"/>
            </a:endParaRPr>
          </a:p>
        </p:txBody>
      </p:sp>
      <p:sp>
        <p:nvSpPr>
          <p:cNvPr id="16" name="右中括号 15"/>
          <p:cNvSpPr/>
          <p:nvPr/>
        </p:nvSpPr>
        <p:spPr>
          <a:xfrm>
            <a:off x="2293855" y="2891577"/>
            <a:ext cx="45719" cy="1066800"/>
          </a:xfrm>
          <a:prstGeom prst="rightBracket">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 Box 42"/>
          <p:cNvSpPr txBox="1">
            <a:spLocks noChangeArrowheads="1"/>
          </p:cNvSpPr>
          <p:nvPr/>
        </p:nvSpPr>
        <p:spPr bwMode="auto">
          <a:xfrm>
            <a:off x="2293854" y="2991833"/>
            <a:ext cx="206389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rgbClr val="FF0000"/>
                </a:solidFill>
                <a:ea typeface="宋体" panose="02010600030101010101" pitchFamily="2" charset="-122"/>
              </a:rPr>
              <a:t>操作系统内核</a:t>
            </a:r>
            <a:endParaRPr kumimoji="0" lang="en-US" altLang="zh-CN" sz="2000" dirty="0">
              <a:solidFill>
                <a:srgbClr val="FF0000"/>
              </a:solidFill>
              <a:ea typeface="宋体" panose="02010600030101010101" pitchFamily="2" charset="-122"/>
            </a:endParaRPr>
          </a:p>
          <a:p>
            <a:pPr algn="ctr" eaLnBrk="1" hangingPunct="1">
              <a:spcBef>
                <a:spcPct val="0"/>
              </a:spcBef>
              <a:buFontTx/>
              <a:buNone/>
            </a:pPr>
            <a:r>
              <a:rPr kumimoji="0" lang="en-US" altLang="zh-CN" sz="2000" dirty="0">
                <a:solidFill>
                  <a:srgbClr val="FF0000"/>
                </a:solidFill>
                <a:ea typeface="宋体" panose="02010600030101010101" pitchFamily="2" charset="-122"/>
              </a:rPr>
              <a:t>TCP/IP</a:t>
            </a:r>
            <a:r>
              <a:rPr kumimoji="0" lang="zh-CN" altLang="en-US" sz="2000" dirty="0">
                <a:solidFill>
                  <a:srgbClr val="FF0000"/>
                </a:solidFill>
                <a:ea typeface="宋体" panose="02010600030101010101" pitchFamily="2" charset="-122"/>
              </a:rPr>
              <a:t>协议栈</a:t>
            </a:r>
            <a:endParaRPr kumimoji="0" lang="en-US" altLang="zh-CN" sz="2000" dirty="0">
              <a:solidFill>
                <a:srgbClr val="FF0000"/>
              </a:solidFill>
              <a:ea typeface="宋体" panose="02010600030101010101" pitchFamily="2" charset="-122"/>
            </a:endParaRPr>
          </a:p>
        </p:txBody>
      </p:sp>
      <p:sp>
        <p:nvSpPr>
          <p:cNvPr id="20" name="Text Box 42"/>
          <p:cNvSpPr txBox="1">
            <a:spLocks noChangeArrowheads="1"/>
          </p:cNvSpPr>
          <p:nvPr/>
        </p:nvSpPr>
        <p:spPr bwMode="auto">
          <a:xfrm>
            <a:off x="2201870" y="2369289"/>
            <a:ext cx="22462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ea typeface="宋体" panose="02010600030101010101" pitchFamily="2" charset="-122"/>
              </a:rPr>
              <a:t>操作系统用户空间</a:t>
            </a:r>
            <a:endParaRPr kumimoji="0" lang="en-US" altLang="zh-CN" sz="2000" dirty="0">
              <a:solidFill>
                <a:schemeClr val="accent1">
                  <a:lumMod val="75000"/>
                </a:schemeClr>
              </a:solidFill>
              <a:ea typeface="宋体" panose="02010600030101010101" pitchFamily="2" charset="-122"/>
            </a:endParaRPr>
          </a:p>
        </p:txBody>
      </p:sp>
      <p:pic>
        <p:nvPicPr>
          <p:cNvPr id="24" name="图片 23"/>
          <p:cNvPicPr>
            <a:picLocks noChangeAspect="1"/>
          </p:cNvPicPr>
          <p:nvPr/>
        </p:nvPicPr>
        <p:blipFill>
          <a:blip r:embed="rId5"/>
          <a:stretch>
            <a:fillRect/>
          </a:stretch>
        </p:blipFill>
        <p:spPr>
          <a:xfrm>
            <a:off x="4906455" y="831608"/>
            <a:ext cx="3909557" cy="5553243"/>
          </a:xfrm>
          <a:prstGeom prst="rect">
            <a:avLst/>
          </a:prstGeom>
        </p:spPr>
      </p:pic>
      <p:sp>
        <p:nvSpPr>
          <p:cNvPr id="25" name="矩形 24"/>
          <p:cNvSpPr/>
          <p:nvPr/>
        </p:nvSpPr>
        <p:spPr>
          <a:xfrm>
            <a:off x="5130209" y="871870"/>
            <a:ext cx="786810" cy="19670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5130208" y="3152552"/>
            <a:ext cx="2062717" cy="1932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130207" y="3743410"/>
            <a:ext cx="2062717" cy="1932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AutoShape 3"/>
          <p:cNvSpPr>
            <a:spLocks noChangeArrowheads="1"/>
          </p:cNvSpPr>
          <p:nvPr/>
        </p:nvSpPr>
        <p:spPr bwMode="auto">
          <a:xfrm>
            <a:off x="3160303" y="4201745"/>
            <a:ext cx="2534327" cy="1371600"/>
          </a:xfrm>
          <a:prstGeom prst="roundRect">
            <a:avLst>
              <a:gd name="adj" fmla="val 16667"/>
            </a:avLst>
          </a:prstGeom>
          <a:solidFill>
            <a:schemeClr val="bg1"/>
          </a:solidFill>
          <a:ln w="9525">
            <a:solidFill>
              <a:schemeClr val="tx1"/>
            </a:solidFill>
            <a:rou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Arial" panose="020B0604020202020204" pitchFamily="34" charset="0"/>
              <a:ea typeface="楷体_GB2312" pitchFamily="49" charset="-122"/>
              <a:cs typeface="Arial" panose="020B0604020202020204" pitchFamily="34" charset="0"/>
            </a:endParaRPr>
          </a:p>
        </p:txBody>
      </p:sp>
      <p:sp>
        <p:nvSpPr>
          <p:cNvPr id="97321" name="Freeform 62"/>
          <p:cNvSpPr/>
          <p:nvPr/>
        </p:nvSpPr>
        <p:spPr bwMode="auto">
          <a:xfrm flipH="1">
            <a:off x="5116594" y="4381386"/>
            <a:ext cx="1600200" cy="533400"/>
          </a:xfrm>
          <a:custGeom>
            <a:avLst/>
            <a:gdLst>
              <a:gd name="T0" fmla="*/ 0 w 576"/>
              <a:gd name="T1" fmla="*/ 0 h 192"/>
              <a:gd name="T2" fmla="*/ 0 w 576"/>
              <a:gd name="T3" fmla="*/ 2147483646 h 192"/>
              <a:gd name="T4" fmla="*/ 2147483646 w 576"/>
              <a:gd name="T5" fmla="*/ 2147483646 h 192"/>
              <a:gd name="T6" fmla="*/ 0 60000 65536"/>
              <a:gd name="T7" fmla="*/ 0 60000 65536"/>
              <a:gd name="T8" fmla="*/ 0 60000 65536"/>
              <a:gd name="T9" fmla="*/ 0 w 576"/>
              <a:gd name="T10" fmla="*/ 0 h 192"/>
              <a:gd name="T11" fmla="*/ 576 w 576"/>
              <a:gd name="T12" fmla="*/ 192 h 192"/>
            </a:gdLst>
            <a:ahLst/>
            <a:cxnLst>
              <a:cxn ang="T6">
                <a:pos x="T0" y="T1"/>
              </a:cxn>
              <a:cxn ang="T7">
                <a:pos x="T2" y="T3"/>
              </a:cxn>
              <a:cxn ang="T8">
                <a:pos x="T4" y="T5"/>
              </a:cxn>
            </a:cxnLst>
            <a:rect l="T9" t="T10" r="T11" b="T12"/>
            <a:pathLst>
              <a:path w="576" h="192">
                <a:moveTo>
                  <a:pt x="0" y="0"/>
                </a:moveTo>
                <a:lnTo>
                  <a:pt x="0" y="192"/>
                </a:lnTo>
                <a:lnTo>
                  <a:pt x="576" y="192"/>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783362"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7285" name="Line 4"/>
          <p:cNvSpPr>
            <a:spLocks noChangeShapeType="1"/>
          </p:cNvSpPr>
          <p:nvPr/>
        </p:nvSpPr>
        <p:spPr bwMode="auto">
          <a:xfrm flipH="1">
            <a:off x="304800" y="3769264"/>
            <a:ext cx="2667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286" name="Rectangle 5"/>
          <p:cNvSpPr>
            <a:spLocks noChangeArrowheads="1"/>
          </p:cNvSpPr>
          <p:nvPr/>
        </p:nvSpPr>
        <p:spPr bwMode="auto">
          <a:xfrm>
            <a:off x="706719" y="1254664"/>
            <a:ext cx="957166" cy="5334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None/>
            </a:pPr>
            <a:r>
              <a:rPr lang="zh-CN" altLang="en-US" sz="1600" dirty="0">
                <a:ea typeface="宋体" panose="02010600030101010101" pitchFamily="2" charset="-122"/>
              </a:rPr>
              <a:t>应用层</a:t>
            </a:r>
            <a:endParaRPr lang="en-US" altLang="zh-CN" sz="1600" dirty="0">
              <a:ea typeface="宋体" panose="02010600030101010101" pitchFamily="2" charset="-122"/>
            </a:endParaRPr>
          </a:p>
        </p:txBody>
      </p:sp>
      <p:sp>
        <p:nvSpPr>
          <p:cNvPr id="97288" name="AutoShape 7"/>
          <p:cNvSpPr>
            <a:spLocks noChangeArrowheads="1"/>
          </p:cNvSpPr>
          <p:nvPr/>
        </p:nvSpPr>
        <p:spPr bwMode="auto">
          <a:xfrm>
            <a:off x="3505200" y="4531264"/>
            <a:ext cx="457200" cy="457200"/>
          </a:xfrm>
          <a:prstGeom prst="roundRect">
            <a:avLst>
              <a:gd name="adj" fmla="val 16667"/>
            </a:avLst>
          </a:prstGeom>
          <a:solidFill>
            <a:schemeClr val="bg1"/>
          </a:solidFill>
          <a:ln w="9525">
            <a:solidFill>
              <a:schemeClr val="tx1"/>
            </a:solidFill>
            <a:round/>
          </a:ln>
          <a:effectLst/>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2400" b="1">
                <a:latin typeface="Arial" panose="020B0604020202020204" pitchFamily="34" charset="0"/>
                <a:ea typeface="宋体" panose="02010600030101010101" pitchFamily="2" charset="-122"/>
                <a:cs typeface="Arial" panose="020B0604020202020204" pitchFamily="34" charset="0"/>
              </a:rPr>
              <a:t>R2</a:t>
            </a:r>
          </a:p>
        </p:txBody>
      </p:sp>
      <p:sp>
        <p:nvSpPr>
          <p:cNvPr id="97289" name="AutoShape 8"/>
          <p:cNvSpPr>
            <a:spLocks noChangeArrowheads="1"/>
          </p:cNvSpPr>
          <p:nvPr/>
        </p:nvSpPr>
        <p:spPr bwMode="auto">
          <a:xfrm>
            <a:off x="4724400" y="4531264"/>
            <a:ext cx="457200" cy="457200"/>
          </a:xfrm>
          <a:prstGeom prst="roundRect">
            <a:avLst>
              <a:gd name="adj" fmla="val 16667"/>
            </a:avLst>
          </a:prstGeom>
          <a:solidFill>
            <a:schemeClr val="bg1"/>
          </a:solidFill>
          <a:ln w="9525">
            <a:solidFill>
              <a:schemeClr val="tx1"/>
            </a:solidFill>
            <a:round/>
          </a:ln>
          <a:effectLst/>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2400" b="1" dirty="0">
                <a:latin typeface="Arial" panose="020B0604020202020204" pitchFamily="34" charset="0"/>
                <a:ea typeface="宋体" panose="02010600030101010101" pitchFamily="2" charset="-122"/>
                <a:cs typeface="Arial" panose="020B0604020202020204" pitchFamily="34" charset="0"/>
              </a:rPr>
              <a:t>R3</a:t>
            </a:r>
          </a:p>
        </p:txBody>
      </p:sp>
      <p:sp>
        <p:nvSpPr>
          <p:cNvPr id="97290" name="AutoShape 9"/>
          <p:cNvSpPr>
            <a:spLocks noChangeArrowheads="1"/>
          </p:cNvSpPr>
          <p:nvPr/>
        </p:nvSpPr>
        <p:spPr bwMode="auto">
          <a:xfrm>
            <a:off x="4158859" y="5064664"/>
            <a:ext cx="457200" cy="457200"/>
          </a:xfrm>
          <a:prstGeom prst="roundRect">
            <a:avLst>
              <a:gd name="adj" fmla="val 16667"/>
            </a:avLst>
          </a:prstGeom>
          <a:solidFill>
            <a:schemeClr val="bg1"/>
          </a:solidFill>
          <a:ln w="9525">
            <a:solidFill>
              <a:schemeClr val="tx1"/>
            </a:solidFill>
            <a:round/>
          </a:ln>
          <a:effectLst/>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2400" b="1" dirty="0">
                <a:latin typeface="Arial" panose="020B0604020202020204" pitchFamily="34" charset="0"/>
                <a:ea typeface="宋体" panose="02010600030101010101" pitchFamily="2" charset="-122"/>
                <a:cs typeface="Arial" panose="020B0604020202020204" pitchFamily="34" charset="0"/>
              </a:rPr>
              <a:t>R4</a:t>
            </a:r>
          </a:p>
        </p:txBody>
      </p:sp>
      <p:sp>
        <p:nvSpPr>
          <p:cNvPr id="97291" name="Line 10"/>
          <p:cNvSpPr>
            <a:spLocks noChangeShapeType="1"/>
          </p:cNvSpPr>
          <p:nvPr/>
        </p:nvSpPr>
        <p:spPr bwMode="auto">
          <a:xfrm flipV="1">
            <a:off x="3957720" y="4918407"/>
            <a:ext cx="7620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Arial" panose="020B0604020202020204" pitchFamily="34" charset="0"/>
              <a:cs typeface="Arial" panose="020B0604020202020204" pitchFamily="34" charset="0"/>
            </a:endParaRPr>
          </a:p>
        </p:txBody>
      </p:sp>
      <p:sp>
        <p:nvSpPr>
          <p:cNvPr id="97292" name="Line 11"/>
          <p:cNvSpPr>
            <a:spLocks noChangeShapeType="1"/>
          </p:cNvSpPr>
          <p:nvPr/>
        </p:nvSpPr>
        <p:spPr bwMode="auto">
          <a:xfrm flipH="1">
            <a:off x="4620739" y="4988463"/>
            <a:ext cx="332261" cy="33676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293" name="Line 12"/>
          <p:cNvSpPr>
            <a:spLocks noChangeShapeType="1"/>
          </p:cNvSpPr>
          <p:nvPr/>
        </p:nvSpPr>
        <p:spPr bwMode="auto">
          <a:xfrm>
            <a:off x="3754358" y="4988463"/>
            <a:ext cx="416006" cy="33676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294" name="AutoShape 13"/>
          <p:cNvSpPr>
            <a:spLocks noChangeArrowheads="1"/>
          </p:cNvSpPr>
          <p:nvPr/>
        </p:nvSpPr>
        <p:spPr bwMode="auto">
          <a:xfrm>
            <a:off x="2286000" y="4074064"/>
            <a:ext cx="457200" cy="457200"/>
          </a:xfrm>
          <a:prstGeom prst="roundRect">
            <a:avLst>
              <a:gd name="adj" fmla="val 16667"/>
            </a:avLst>
          </a:prstGeom>
          <a:solidFill>
            <a:schemeClr val="bg1"/>
          </a:solidFill>
          <a:ln w="9525">
            <a:solidFill>
              <a:schemeClr val="tx1"/>
            </a:solidFill>
            <a:round/>
          </a:ln>
          <a:effectLst/>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2400" b="1" dirty="0">
                <a:latin typeface="Arial" panose="020B0604020202020204" pitchFamily="34" charset="0"/>
                <a:ea typeface="宋体" panose="02010600030101010101" pitchFamily="2" charset="-122"/>
                <a:cs typeface="Arial" panose="020B0604020202020204" pitchFamily="34" charset="0"/>
              </a:rPr>
              <a:t>R1</a:t>
            </a:r>
          </a:p>
        </p:txBody>
      </p:sp>
      <p:sp>
        <p:nvSpPr>
          <p:cNvPr id="97295" name="AutoShape 14"/>
          <p:cNvSpPr>
            <a:spLocks noChangeArrowheads="1"/>
          </p:cNvSpPr>
          <p:nvPr/>
        </p:nvSpPr>
        <p:spPr bwMode="auto">
          <a:xfrm>
            <a:off x="6400800" y="3997864"/>
            <a:ext cx="457200" cy="457200"/>
          </a:xfrm>
          <a:prstGeom prst="roundRect">
            <a:avLst>
              <a:gd name="adj" fmla="val 16667"/>
            </a:avLst>
          </a:prstGeom>
          <a:solidFill>
            <a:schemeClr val="bg1"/>
          </a:solidFill>
          <a:ln w="9525">
            <a:solidFill>
              <a:schemeClr val="tx1"/>
            </a:solidFill>
            <a:round/>
          </a:ln>
          <a:effectLst/>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2400" b="1" dirty="0">
                <a:latin typeface="Arial" panose="020B0604020202020204" pitchFamily="34" charset="0"/>
                <a:ea typeface="宋体" panose="02010600030101010101" pitchFamily="2" charset="-122"/>
                <a:cs typeface="Arial" panose="020B0604020202020204" pitchFamily="34" charset="0"/>
              </a:rPr>
              <a:t>R5</a:t>
            </a:r>
          </a:p>
        </p:txBody>
      </p:sp>
      <p:sp>
        <p:nvSpPr>
          <p:cNvPr id="97296" name="Text Box 15"/>
          <p:cNvSpPr txBox="1">
            <a:spLocks noChangeArrowheads="1"/>
          </p:cNvSpPr>
          <p:nvPr/>
        </p:nvSpPr>
        <p:spPr bwMode="auto">
          <a:xfrm>
            <a:off x="533400" y="3464464"/>
            <a:ext cx="1052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1600" b="1">
                <a:latin typeface="Arial" panose="020B0604020202020204" pitchFamily="34" charset="0"/>
                <a:ea typeface="宋体" panose="02010600030101010101" pitchFamily="2" charset="-122"/>
                <a:cs typeface="Arial" panose="020B0604020202020204" pitchFamily="34" charset="0"/>
              </a:rPr>
              <a:t>Ethernet</a:t>
            </a:r>
          </a:p>
        </p:txBody>
      </p:sp>
      <p:sp>
        <p:nvSpPr>
          <p:cNvPr id="97297" name="Text Box 16"/>
          <p:cNvSpPr txBox="1">
            <a:spLocks noChangeArrowheads="1"/>
          </p:cNvSpPr>
          <p:nvPr/>
        </p:nvSpPr>
        <p:spPr bwMode="auto">
          <a:xfrm>
            <a:off x="1832706" y="1321622"/>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主机</a:t>
            </a:r>
            <a:r>
              <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A</a:t>
            </a:r>
          </a:p>
        </p:txBody>
      </p:sp>
      <p:sp>
        <p:nvSpPr>
          <p:cNvPr id="97299" name="Line 18"/>
          <p:cNvSpPr>
            <a:spLocks noChangeShapeType="1"/>
          </p:cNvSpPr>
          <p:nvPr/>
        </p:nvSpPr>
        <p:spPr bwMode="auto">
          <a:xfrm>
            <a:off x="2265363" y="2550064"/>
            <a:ext cx="0" cy="1219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00" name="Line 19"/>
          <p:cNvSpPr>
            <a:spLocks noChangeShapeType="1"/>
          </p:cNvSpPr>
          <p:nvPr/>
        </p:nvSpPr>
        <p:spPr bwMode="auto">
          <a:xfrm>
            <a:off x="1454150" y="3769264"/>
            <a:ext cx="0"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pic>
        <p:nvPicPr>
          <p:cNvPr id="97301" name="Picture 20" descr="bd06908_"/>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1740439"/>
            <a:ext cx="725487"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302" name="Picture 21" descr="bd06908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800" y="4074064"/>
            <a:ext cx="54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303" name="Picture 22" descr="bd06908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06500" y="4074064"/>
            <a:ext cx="54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304" name="Line 23"/>
          <p:cNvSpPr>
            <a:spLocks noChangeShapeType="1"/>
          </p:cNvSpPr>
          <p:nvPr/>
        </p:nvSpPr>
        <p:spPr bwMode="auto">
          <a:xfrm>
            <a:off x="609600" y="3769264"/>
            <a:ext cx="0"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06" name="Line 25"/>
          <p:cNvSpPr>
            <a:spLocks noChangeShapeType="1"/>
          </p:cNvSpPr>
          <p:nvPr/>
        </p:nvSpPr>
        <p:spPr bwMode="auto">
          <a:xfrm flipH="1">
            <a:off x="6096000" y="3769264"/>
            <a:ext cx="2667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07" name="Text Box 26"/>
          <p:cNvSpPr txBox="1">
            <a:spLocks noChangeArrowheads="1"/>
          </p:cNvSpPr>
          <p:nvPr/>
        </p:nvSpPr>
        <p:spPr bwMode="auto">
          <a:xfrm>
            <a:off x="7915977" y="3464464"/>
            <a:ext cx="10525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1600" b="1" dirty="0">
                <a:latin typeface="Arial" panose="020B0604020202020204" pitchFamily="34" charset="0"/>
                <a:ea typeface="宋体" panose="02010600030101010101" pitchFamily="2" charset="-122"/>
                <a:cs typeface="Arial" panose="020B0604020202020204" pitchFamily="34" charset="0"/>
              </a:rPr>
              <a:t>Ethernet</a:t>
            </a:r>
          </a:p>
        </p:txBody>
      </p:sp>
      <p:sp>
        <p:nvSpPr>
          <p:cNvPr id="97308" name="Line 27"/>
          <p:cNvSpPr>
            <a:spLocks noChangeShapeType="1"/>
          </p:cNvSpPr>
          <p:nvPr/>
        </p:nvSpPr>
        <p:spPr bwMode="auto">
          <a:xfrm>
            <a:off x="6410325" y="2550064"/>
            <a:ext cx="0" cy="1219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09" name="Line 28"/>
          <p:cNvSpPr>
            <a:spLocks noChangeShapeType="1"/>
          </p:cNvSpPr>
          <p:nvPr/>
        </p:nvSpPr>
        <p:spPr bwMode="auto">
          <a:xfrm>
            <a:off x="8616950" y="3769264"/>
            <a:ext cx="0"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pic>
        <p:nvPicPr>
          <p:cNvPr id="97310" name="Picture 29" descr="bd06908_"/>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9325" y="1740439"/>
            <a:ext cx="7254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311" name="Picture 30" descr="bd06908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67600" y="4074064"/>
            <a:ext cx="54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312" name="Picture 31" descr="bd06908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69300" y="4074064"/>
            <a:ext cx="54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313" name="Line 32"/>
          <p:cNvSpPr>
            <a:spLocks noChangeShapeType="1"/>
          </p:cNvSpPr>
          <p:nvPr/>
        </p:nvSpPr>
        <p:spPr bwMode="auto">
          <a:xfrm>
            <a:off x="7772400" y="3769264"/>
            <a:ext cx="0"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15" name="Line 34"/>
          <p:cNvSpPr>
            <a:spLocks noChangeShapeType="1"/>
          </p:cNvSpPr>
          <p:nvPr/>
        </p:nvSpPr>
        <p:spPr bwMode="auto">
          <a:xfrm>
            <a:off x="2514600" y="3769264"/>
            <a:ext cx="0"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29" name="Rectangle 38"/>
          <p:cNvSpPr>
            <a:spLocks noChangeArrowheads="1"/>
          </p:cNvSpPr>
          <p:nvPr/>
        </p:nvSpPr>
        <p:spPr bwMode="auto">
          <a:xfrm>
            <a:off x="354013" y="1268952"/>
            <a:ext cx="38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dirty="0">
                <a:solidFill>
                  <a:srgbClr val="000099"/>
                </a:solidFill>
                <a:latin typeface="Arial" panose="020B0604020202020204" pitchFamily="34" charset="0"/>
                <a:ea typeface="宋体" panose="02010600030101010101" pitchFamily="2" charset="-122"/>
                <a:cs typeface="Arial" panose="020B0604020202020204" pitchFamily="34" charset="0"/>
              </a:rPr>
              <a:t>1</a:t>
            </a:r>
          </a:p>
        </p:txBody>
      </p:sp>
      <p:sp>
        <p:nvSpPr>
          <p:cNvPr id="97330" name="Text Box 39"/>
          <p:cNvSpPr txBox="1">
            <a:spLocks noChangeArrowheads="1"/>
          </p:cNvSpPr>
          <p:nvPr/>
        </p:nvSpPr>
        <p:spPr bwMode="auto">
          <a:xfrm>
            <a:off x="381000" y="2181764"/>
            <a:ext cx="401638"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75000"/>
              </a:lnSpc>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2</a:t>
            </a:r>
          </a:p>
          <a:p>
            <a:pPr eaLnBrk="1" hangingPunct="1">
              <a:lnSpc>
                <a:spcPct val="75000"/>
              </a:lnSpc>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3</a:t>
            </a:r>
          </a:p>
          <a:p>
            <a:pPr eaLnBrk="1" hangingPunct="1">
              <a:lnSpc>
                <a:spcPct val="75000"/>
              </a:lnSpc>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4</a:t>
            </a:r>
          </a:p>
        </p:txBody>
      </p:sp>
      <p:sp>
        <p:nvSpPr>
          <p:cNvPr id="97331" name="Text Box 40"/>
          <p:cNvSpPr txBox="1">
            <a:spLocks noChangeArrowheads="1"/>
          </p:cNvSpPr>
          <p:nvPr/>
        </p:nvSpPr>
        <p:spPr bwMode="auto">
          <a:xfrm>
            <a:off x="2743200" y="4066681"/>
            <a:ext cx="38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6</a:t>
            </a:r>
          </a:p>
        </p:txBody>
      </p:sp>
      <p:sp>
        <p:nvSpPr>
          <p:cNvPr id="97332" name="Text Box 41"/>
          <p:cNvSpPr txBox="1">
            <a:spLocks noChangeArrowheads="1"/>
          </p:cNvSpPr>
          <p:nvPr/>
        </p:nvSpPr>
        <p:spPr bwMode="auto">
          <a:xfrm>
            <a:off x="2743200" y="4371481"/>
            <a:ext cx="38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7</a:t>
            </a:r>
          </a:p>
        </p:txBody>
      </p:sp>
      <p:sp>
        <p:nvSpPr>
          <p:cNvPr id="97333" name="Rectangle 42"/>
          <p:cNvSpPr>
            <a:spLocks noChangeArrowheads="1"/>
          </p:cNvSpPr>
          <p:nvPr/>
        </p:nvSpPr>
        <p:spPr bwMode="auto">
          <a:xfrm>
            <a:off x="6872174" y="1268952"/>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20</a:t>
            </a:r>
          </a:p>
        </p:txBody>
      </p:sp>
      <p:sp>
        <p:nvSpPr>
          <p:cNvPr id="97334" name="Text Box 43"/>
          <p:cNvSpPr txBox="1">
            <a:spLocks noChangeArrowheads="1"/>
          </p:cNvSpPr>
          <p:nvPr/>
        </p:nvSpPr>
        <p:spPr bwMode="auto">
          <a:xfrm>
            <a:off x="6872174" y="2181764"/>
            <a:ext cx="706438"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75000"/>
              </a:lnSpc>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19</a:t>
            </a:r>
          </a:p>
          <a:p>
            <a:pPr eaLnBrk="1" hangingPunct="1">
              <a:lnSpc>
                <a:spcPct val="75000"/>
              </a:lnSpc>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18</a:t>
            </a:r>
          </a:p>
          <a:p>
            <a:pPr eaLnBrk="1" hangingPunct="1">
              <a:lnSpc>
                <a:spcPct val="75000"/>
              </a:lnSpc>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17</a:t>
            </a:r>
          </a:p>
        </p:txBody>
      </p:sp>
      <p:sp>
        <p:nvSpPr>
          <p:cNvPr id="97335" name="Text Box 44"/>
          <p:cNvSpPr txBox="1">
            <a:spLocks noChangeArrowheads="1"/>
          </p:cNvSpPr>
          <p:nvPr/>
        </p:nvSpPr>
        <p:spPr bwMode="auto">
          <a:xfrm>
            <a:off x="2743200" y="3761881"/>
            <a:ext cx="38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dirty="0">
                <a:solidFill>
                  <a:srgbClr val="000099"/>
                </a:solidFill>
                <a:latin typeface="Arial" panose="020B0604020202020204" pitchFamily="34" charset="0"/>
                <a:ea typeface="宋体" panose="02010600030101010101" pitchFamily="2" charset="-122"/>
                <a:cs typeface="Arial" panose="020B0604020202020204" pitchFamily="34" charset="0"/>
              </a:rPr>
              <a:t>5</a:t>
            </a:r>
          </a:p>
        </p:txBody>
      </p:sp>
      <p:sp>
        <p:nvSpPr>
          <p:cNvPr id="97336" name="Text Box 45"/>
          <p:cNvSpPr txBox="1">
            <a:spLocks noChangeArrowheads="1"/>
          </p:cNvSpPr>
          <p:nvPr/>
        </p:nvSpPr>
        <p:spPr bwMode="auto">
          <a:xfrm>
            <a:off x="3179763" y="4506545"/>
            <a:ext cx="38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9</a:t>
            </a:r>
          </a:p>
        </p:txBody>
      </p:sp>
      <p:sp>
        <p:nvSpPr>
          <p:cNvPr id="97337" name="Text Box 46"/>
          <p:cNvSpPr txBox="1">
            <a:spLocks noChangeArrowheads="1"/>
          </p:cNvSpPr>
          <p:nvPr/>
        </p:nvSpPr>
        <p:spPr bwMode="auto">
          <a:xfrm>
            <a:off x="3028142" y="4811345"/>
            <a:ext cx="585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dirty="0">
                <a:solidFill>
                  <a:srgbClr val="000099"/>
                </a:solidFill>
                <a:latin typeface="Arial" panose="020B0604020202020204" pitchFamily="34" charset="0"/>
                <a:ea typeface="宋体" panose="02010600030101010101" pitchFamily="2" charset="-122"/>
                <a:cs typeface="Arial" panose="020B0604020202020204" pitchFamily="34" charset="0"/>
              </a:rPr>
              <a:t>10</a:t>
            </a:r>
          </a:p>
        </p:txBody>
      </p:sp>
      <p:sp>
        <p:nvSpPr>
          <p:cNvPr id="97338" name="Text Box 47"/>
          <p:cNvSpPr txBox="1">
            <a:spLocks noChangeArrowheads="1"/>
          </p:cNvSpPr>
          <p:nvPr/>
        </p:nvSpPr>
        <p:spPr bwMode="auto">
          <a:xfrm>
            <a:off x="3179763" y="4201745"/>
            <a:ext cx="38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8</a:t>
            </a:r>
          </a:p>
        </p:txBody>
      </p:sp>
      <p:sp>
        <p:nvSpPr>
          <p:cNvPr id="97339" name="Text Box 48"/>
          <p:cNvSpPr txBox="1">
            <a:spLocks noChangeArrowheads="1"/>
          </p:cNvSpPr>
          <p:nvPr/>
        </p:nvSpPr>
        <p:spPr bwMode="auto">
          <a:xfrm>
            <a:off x="5160963" y="4496592"/>
            <a:ext cx="585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12</a:t>
            </a:r>
          </a:p>
        </p:txBody>
      </p:sp>
      <p:sp>
        <p:nvSpPr>
          <p:cNvPr id="97340" name="Text Box 49"/>
          <p:cNvSpPr txBox="1">
            <a:spLocks noChangeArrowheads="1"/>
          </p:cNvSpPr>
          <p:nvPr/>
        </p:nvSpPr>
        <p:spPr bwMode="auto">
          <a:xfrm>
            <a:off x="5160963" y="4801392"/>
            <a:ext cx="585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13</a:t>
            </a:r>
          </a:p>
        </p:txBody>
      </p:sp>
      <p:sp>
        <p:nvSpPr>
          <p:cNvPr id="97341" name="Text Box 50"/>
          <p:cNvSpPr txBox="1">
            <a:spLocks noChangeArrowheads="1"/>
          </p:cNvSpPr>
          <p:nvPr/>
        </p:nvSpPr>
        <p:spPr bwMode="auto">
          <a:xfrm>
            <a:off x="5160963" y="4191792"/>
            <a:ext cx="565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11</a:t>
            </a:r>
          </a:p>
        </p:txBody>
      </p:sp>
      <p:sp>
        <p:nvSpPr>
          <p:cNvPr id="97342" name="Text Box 51"/>
          <p:cNvSpPr txBox="1">
            <a:spLocks noChangeArrowheads="1"/>
          </p:cNvSpPr>
          <p:nvPr/>
        </p:nvSpPr>
        <p:spPr bwMode="auto">
          <a:xfrm>
            <a:off x="5857875" y="4074064"/>
            <a:ext cx="585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15</a:t>
            </a:r>
          </a:p>
        </p:txBody>
      </p:sp>
      <p:sp>
        <p:nvSpPr>
          <p:cNvPr id="97343" name="Text Box 52"/>
          <p:cNvSpPr txBox="1">
            <a:spLocks noChangeArrowheads="1"/>
          </p:cNvSpPr>
          <p:nvPr/>
        </p:nvSpPr>
        <p:spPr bwMode="auto">
          <a:xfrm>
            <a:off x="5857875" y="4378864"/>
            <a:ext cx="585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dirty="0">
                <a:solidFill>
                  <a:srgbClr val="000099"/>
                </a:solidFill>
                <a:latin typeface="Arial" panose="020B0604020202020204" pitchFamily="34" charset="0"/>
                <a:ea typeface="宋体" panose="02010600030101010101" pitchFamily="2" charset="-122"/>
                <a:cs typeface="Arial" panose="020B0604020202020204" pitchFamily="34" charset="0"/>
              </a:rPr>
              <a:t>14</a:t>
            </a:r>
          </a:p>
        </p:txBody>
      </p:sp>
      <p:sp>
        <p:nvSpPr>
          <p:cNvPr id="97344" name="Text Box 53"/>
          <p:cNvSpPr txBox="1">
            <a:spLocks noChangeArrowheads="1"/>
          </p:cNvSpPr>
          <p:nvPr/>
        </p:nvSpPr>
        <p:spPr bwMode="auto">
          <a:xfrm>
            <a:off x="5857875" y="3769264"/>
            <a:ext cx="585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2800" b="1">
                <a:solidFill>
                  <a:srgbClr val="000099"/>
                </a:solidFill>
                <a:latin typeface="Arial" panose="020B0604020202020204" pitchFamily="34" charset="0"/>
                <a:ea typeface="宋体" panose="02010600030101010101" pitchFamily="2" charset="-122"/>
                <a:cs typeface="Arial" panose="020B0604020202020204" pitchFamily="34" charset="0"/>
              </a:rPr>
              <a:t>16</a:t>
            </a:r>
          </a:p>
        </p:txBody>
      </p:sp>
      <p:sp>
        <p:nvSpPr>
          <p:cNvPr id="97326" name="Freeform 56"/>
          <p:cNvSpPr/>
          <p:nvPr/>
        </p:nvSpPr>
        <p:spPr bwMode="auto">
          <a:xfrm>
            <a:off x="1219200" y="3312064"/>
            <a:ext cx="1219200" cy="762000"/>
          </a:xfrm>
          <a:custGeom>
            <a:avLst/>
            <a:gdLst>
              <a:gd name="T0" fmla="*/ 0 w 768"/>
              <a:gd name="T1" fmla="*/ 0 h 480"/>
              <a:gd name="T2" fmla="*/ 0 w 768"/>
              <a:gd name="T3" fmla="*/ 96 h 480"/>
              <a:gd name="T4" fmla="*/ 768 w 768"/>
              <a:gd name="T5" fmla="*/ 96 h 480"/>
              <a:gd name="T6" fmla="*/ 768 w 768"/>
              <a:gd name="T7" fmla="*/ 480 h 480"/>
              <a:gd name="T8" fmla="*/ 0 60000 65536"/>
              <a:gd name="T9" fmla="*/ 0 60000 65536"/>
              <a:gd name="T10" fmla="*/ 0 60000 65536"/>
              <a:gd name="T11" fmla="*/ 0 60000 65536"/>
              <a:gd name="T12" fmla="*/ 0 w 768"/>
              <a:gd name="T13" fmla="*/ 0 h 480"/>
              <a:gd name="T14" fmla="*/ 768 w 768"/>
              <a:gd name="T15" fmla="*/ 480 h 480"/>
            </a:gdLst>
            <a:ahLst/>
            <a:cxnLst>
              <a:cxn ang="T8">
                <a:pos x="T0" y="T1"/>
              </a:cxn>
              <a:cxn ang="T9">
                <a:pos x="T2" y="T3"/>
              </a:cxn>
              <a:cxn ang="T10">
                <a:pos x="T4" y="T5"/>
              </a:cxn>
              <a:cxn ang="T11">
                <a:pos x="T6" y="T7"/>
              </a:cxn>
            </a:cxnLst>
            <a:rect l="T12" t="T13" r="T14" b="T15"/>
            <a:pathLst>
              <a:path w="768" h="480">
                <a:moveTo>
                  <a:pt x="0" y="0"/>
                </a:moveTo>
                <a:lnTo>
                  <a:pt x="0" y="96"/>
                </a:lnTo>
                <a:lnTo>
                  <a:pt x="768" y="96"/>
                </a:lnTo>
                <a:lnTo>
                  <a:pt x="768" y="480"/>
                </a:lnTo>
              </a:path>
            </a:pathLst>
          </a:custGeom>
          <a:noFill/>
          <a:ln w="38100">
            <a:solidFill>
              <a:srgbClr val="000099"/>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27" name="Freeform 57"/>
          <p:cNvSpPr/>
          <p:nvPr/>
        </p:nvSpPr>
        <p:spPr bwMode="auto">
          <a:xfrm>
            <a:off x="2447248" y="4448393"/>
            <a:ext cx="4191000" cy="397478"/>
          </a:xfrm>
          <a:custGeom>
            <a:avLst/>
            <a:gdLst>
              <a:gd name="T0" fmla="*/ 0 w 2640"/>
              <a:gd name="T1" fmla="*/ 1 h 336"/>
              <a:gd name="T2" fmla="*/ 0 w 2640"/>
              <a:gd name="T3" fmla="*/ 1 h 336"/>
              <a:gd name="T4" fmla="*/ 2640 w 2640"/>
              <a:gd name="T5" fmla="*/ 1 h 336"/>
              <a:gd name="T6" fmla="*/ 2640 w 2640"/>
              <a:gd name="T7" fmla="*/ 0 h 336"/>
              <a:gd name="T8" fmla="*/ 0 60000 65536"/>
              <a:gd name="T9" fmla="*/ 0 60000 65536"/>
              <a:gd name="T10" fmla="*/ 0 60000 65536"/>
              <a:gd name="T11" fmla="*/ 0 60000 65536"/>
              <a:gd name="T12" fmla="*/ 0 w 2640"/>
              <a:gd name="T13" fmla="*/ 0 h 336"/>
              <a:gd name="T14" fmla="*/ 2640 w 2640"/>
              <a:gd name="T15" fmla="*/ 336 h 336"/>
            </a:gdLst>
            <a:ahLst/>
            <a:cxnLst>
              <a:cxn ang="T8">
                <a:pos x="T0" y="T1"/>
              </a:cxn>
              <a:cxn ang="T9">
                <a:pos x="T2" y="T3"/>
              </a:cxn>
              <a:cxn ang="T10">
                <a:pos x="T4" y="T5"/>
              </a:cxn>
              <a:cxn ang="T11">
                <a:pos x="T6" y="T7"/>
              </a:cxn>
            </a:cxnLst>
            <a:rect l="T12" t="T13" r="T14" b="T15"/>
            <a:pathLst>
              <a:path w="2640" h="336">
                <a:moveTo>
                  <a:pt x="0" y="144"/>
                </a:moveTo>
                <a:lnTo>
                  <a:pt x="0" y="336"/>
                </a:lnTo>
                <a:lnTo>
                  <a:pt x="2640" y="336"/>
                </a:lnTo>
                <a:lnTo>
                  <a:pt x="2640" y="0"/>
                </a:lnTo>
              </a:path>
            </a:pathLst>
          </a:custGeom>
          <a:noFill/>
          <a:ln w="38100">
            <a:solidFill>
              <a:srgbClr val="000099"/>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Arial" panose="020B0604020202020204" pitchFamily="34" charset="0"/>
              <a:cs typeface="Arial" panose="020B0604020202020204" pitchFamily="34" charset="0"/>
            </a:endParaRPr>
          </a:p>
        </p:txBody>
      </p:sp>
      <p:sp>
        <p:nvSpPr>
          <p:cNvPr id="97328" name="Freeform 58"/>
          <p:cNvSpPr/>
          <p:nvPr/>
        </p:nvSpPr>
        <p:spPr bwMode="auto">
          <a:xfrm>
            <a:off x="6629400" y="3312064"/>
            <a:ext cx="1295400" cy="685800"/>
          </a:xfrm>
          <a:custGeom>
            <a:avLst/>
            <a:gdLst>
              <a:gd name="T0" fmla="*/ 0 w 816"/>
              <a:gd name="T1" fmla="*/ 432 h 432"/>
              <a:gd name="T2" fmla="*/ 0 w 816"/>
              <a:gd name="T3" fmla="*/ 144 h 432"/>
              <a:gd name="T4" fmla="*/ 816 w 816"/>
              <a:gd name="T5" fmla="*/ 144 h 432"/>
              <a:gd name="T6" fmla="*/ 816 w 816"/>
              <a:gd name="T7" fmla="*/ 0 h 432"/>
              <a:gd name="T8" fmla="*/ 0 60000 65536"/>
              <a:gd name="T9" fmla="*/ 0 60000 65536"/>
              <a:gd name="T10" fmla="*/ 0 60000 65536"/>
              <a:gd name="T11" fmla="*/ 0 60000 65536"/>
              <a:gd name="T12" fmla="*/ 0 w 816"/>
              <a:gd name="T13" fmla="*/ 0 h 432"/>
              <a:gd name="T14" fmla="*/ 816 w 816"/>
              <a:gd name="T15" fmla="*/ 432 h 432"/>
            </a:gdLst>
            <a:ahLst/>
            <a:cxnLst>
              <a:cxn ang="T8">
                <a:pos x="T0" y="T1"/>
              </a:cxn>
              <a:cxn ang="T9">
                <a:pos x="T2" y="T3"/>
              </a:cxn>
              <a:cxn ang="T10">
                <a:pos x="T4" y="T5"/>
              </a:cxn>
              <a:cxn ang="T11">
                <a:pos x="T6" y="T7"/>
              </a:cxn>
            </a:cxnLst>
            <a:rect l="T12" t="T13" r="T14" b="T15"/>
            <a:pathLst>
              <a:path w="816" h="432">
                <a:moveTo>
                  <a:pt x="0" y="432"/>
                </a:moveTo>
                <a:lnTo>
                  <a:pt x="0" y="144"/>
                </a:lnTo>
                <a:lnTo>
                  <a:pt x="816" y="144"/>
                </a:lnTo>
                <a:lnTo>
                  <a:pt x="816" y="0"/>
                </a:lnTo>
              </a:path>
            </a:pathLst>
          </a:custGeom>
          <a:noFill/>
          <a:ln w="38100">
            <a:solidFill>
              <a:srgbClr val="000099"/>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24" name="Line 59"/>
          <p:cNvSpPr>
            <a:spLocks noChangeShapeType="1"/>
          </p:cNvSpPr>
          <p:nvPr/>
        </p:nvSpPr>
        <p:spPr bwMode="auto">
          <a:xfrm>
            <a:off x="1206500" y="1788064"/>
            <a:ext cx="0" cy="22860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endParaRPr lang="zh-CN" altLang="en-US" sz="1600">
              <a:latin typeface="Arial" panose="020B0604020202020204" pitchFamily="34" charset="0"/>
              <a:cs typeface="Arial" panose="020B0604020202020204" pitchFamily="34" charset="0"/>
            </a:endParaRPr>
          </a:p>
        </p:txBody>
      </p:sp>
      <p:sp>
        <p:nvSpPr>
          <p:cNvPr id="97320" name="Freeform 61"/>
          <p:cNvSpPr/>
          <p:nvPr/>
        </p:nvSpPr>
        <p:spPr bwMode="auto">
          <a:xfrm>
            <a:off x="2523449" y="4545551"/>
            <a:ext cx="981751" cy="366713"/>
          </a:xfrm>
          <a:custGeom>
            <a:avLst/>
            <a:gdLst>
              <a:gd name="T0" fmla="*/ 0 w 576"/>
              <a:gd name="T1" fmla="*/ 0 h 192"/>
              <a:gd name="T2" fmla="*/ 0 w 576"/>
              <a:gd name="T3" fmla="*/ 2147483646 h 192"/>
              <a:gd name="T4" fmla="*/ 2147483646 w 576"/>
              <a:gd name="T5" fmla="*/ 2147483646 h 192"/>
              <a:gd name="T6" fmla="*/ 0 60000 65536"/>
              <a:gd name="T7" fmla="*/ 0 60000 65536"/>
              <a:gd name="T8" fmla="*/ 0 60000 65536"/>
              <a:gd name="T9" fmla="*/ 0 w 576"/>
              <a:gd name="T10" fmla="*/ 0 h 192"/>
              <a:gd name="T11" fmla="*/ 576 w 576"/>
              <a:gd name="T12" fmla="*/ 192 h 192"/>
            </a:gdLst>
            <a:ahLst/>
            <a:cxnLst>
              <a:cxn ang="T6">
                <a:pos x="T0" y="T1"/>
              </a:cxn>
              <a:cxn ang="T7">
                <a:pos x="T2" y="T3"/>
              </a:cxn>
              <a:cxn ang="T8">
                <a:pos x="T4" y="T5"/>
              </a:cxn>
            </a:cxnLst>
            <a:rect l="T9" t="T10" r="T11" b="T12"/>
            <a:pathLst>
              <a:path w="576" h="192">
                <a:moveTo>
                  <a:pt x="0" y="0"/>
                </a:moveTo>
                <a:lnTo>
                  <a:pt x="0" y="192"/>
                </a:lnTo>
                <a:lnTo>
                  <a:pt x="576" y="192"/>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97322" name="Line 63"/>
          <p:cNvSpPr>
            <a:spLocks noChangeShapeType="1"/>
          </p:cNvSpPr>
          <p:nvPr/>
        </p:nvSpPr>
        <p:spPr bwMode="auto">
          <a:xfrm>
            <a:off x="6705600" y="3769264"/>
            <a:ext cx="0" cy="228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65" name="Line 59"/>
          <p:cNvSpPr>
            <a:spLocks noChangeShapeType="1"/>
          </p:cNvSpPr>
          <p:nvPr/>
        </p:nvSpPr>
        <p:spPr bwMode="auto">
          <a:xfrm>
            <a:off x="2447248" y="4521739"/>
            <a:ext cx="0" cy="22860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6" name="组合 5"/>
          <p:cNvGrpSpPr/>
          <p:nvPr/>
        </p:nvGrpSpPr>
        <p:grpSpPr>
          <a:xfrm>
            <a:off x="706722" y="2024047"/>
            <a:ext cx="960154" cy="1274601"/>
            <a:chOff x="1019459" y="4845664"/>
            <a:chExt cx="960154" cy="1071644"/>
          </a:xfrm>
        </p:grpSpPr>
        <p:sp>
          <p:nvSpPr>
            <p:cNvPr id="2" name="Rectangle 11"/>
            <p:cNvSpPr>
              <a:spLocks noChangeArrowheads="1"/>
            </p:cNvSpPr>
            <p:nvPr/>
          </p:nvSpPr>
          <p:spPr bwMode="auto">
            <a:xfrm>
              <a:off x="1021810" y="4845664"/>
              <a:ext cx="957167" cy="357753"/>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传输层</a:t>
              </a:r>
              <a:endParaRPr lang="en-US" altLang="zh-CN" sz="1600" dirty="0">
                <a:ea typeface="宋体" panose="02010600030101010101" pitchFamily="2" charset="-122"/>
              </a:endParaRPr>
            </a:p>
          </p:txBody>
        </p:sp>
        <p:sp>
          <p:nvSpPr>
            <p:cNvPr id="3" name="Rectangle 12"/>
            <p:cNvSpPr>
              <a:spLocks noChangeArrowheads="1"/>
            </p:cNvSpPr>
            <p:nvPr/>
          </p:nvSpPr>
          <p:spPr bwMode="auto">
            <a:xfrm>
              <a:off x="1022446" y="5196426"/>
              <a:ext cx="957167" cy="357753"/>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网络层</a:t>
              </a:r>
              <a:endParaRPr lang="en-US" altLang="zh-CN" sz="1600" dirty="0">
                <a:ea typeface="宋体" panose="02010600030101010101" pitchFamily="2" charset="-122"/>
              </a:endParaRPr>
            </a:p>
          </p:txBody>
        </p:sp>
        <p:sp>
          <p:nvSpPr>
            <p:cNvPr id="5" name="Rectangle 13"/>
            <p:cNvSpPr>
              <a:spLocks noChangeArrowheads="1"/>
            </p:cNvSpPr>
            <p:nvPr/>
          </p:nvSpPr>
          <p:spPr bwMode="auto">
            <a:xfrm>
              <a:off x="1019459" y="5552102"/>
              <a:ext cx="957167" cy="365206"/>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接口层</a:t>
              </a:r>
              <a:endParaRPr lang="en-US" altLang="zh-CN" sz="1600" dirty="0">
                <a:ea typeface="宋体" panose="02010600030101010101" pitchFamily="2" charset="-122"/>
              </a:endParaRPr>
            </a:p>
          </p:txBody>
        </p:sp>
      </p:grpSp>
      <p:sp>
        <p:nvSpPr>
          <p:cNvPr id="69" name="Rectangle 5"/>
          <p:cNvSpPr>
            <a:spLocks noChangeArrowheads="1"/>
          </p:cNvSpPr>
          <p:nvPr/>
        </p:nvSpPr>
        <p:spPr bwMode="auto">
          <a:xfrm>
            <a:off x="7437394" y="1279562"/>
            <a:ext cx="957166" cy="5334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None/>
            </a:pPr>
            <a:r>
              <a:rPr lang="zh-CN" altLang="en-US" sz="1600" dirty="0">
                <a:ea typeface="宋体" panose="02010600030101010101" pitchFamily="2" charset="-122"/>
              </a:rPr>
              <a:t>应用层</a:t>
            </a:r>
            <a:endParaRPr lang="en-US" altLang="zh-CN" sz="1600" dirty="0">
              <a:ea typeface="宋体" panose="02010600030101010101" pitchFamily="2" charset="-122"/>
            </a:endParaRPr>
          </a:p>
        </p:txBody>
      </p:sp>
      <p:sp>
        <p:nvSpPr>
          <p:cNvPr id="70" name="Line 59"/>
          <p:cNvSpPr>
            <a:spLocks noChangeShapeType="1"/>
          </p:cNvSpPr>
          <p:nvPr/>
        </p:nvSpPr>
        <p:spPr bwMode="auto">
          <a:xfrm>
            <a:off x="7915977" y="1812962"/>
            <a:ext cx="0" cy="22860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endParaRPr lang="zh-CN" altLang="en-US" sz="1600">
              <a:latin typeface="Arial" panose="020B0604020202020204" pitchFamily="34" charset="0"/>
              <a:cs typeface="Arial" panose="020B0604020202020204" pitchFamily="34" charset="0"/>
            </a:endParaRPr>
          </a:p>
        </p:txBody>
      </p:sp>
      <p:grpSp>
        <p:nvGrpSpPr>
          <p:cNvPr id="71" name="组合 70"/>
          <p:cNvGrpSpPr/>
          <p:nvPr/>
        </p:nvGrpSpPr>
        <p:grpSpPr>
          <a:xfrm>
            <a:off x="7437397" y="2048945"/>
            <a:ext cx="960154" cy="1274601"/>
            <a:chOff x="1019459" y="4845664"/>
            <a:chExt cx="960154" cy="1071644"/>
          </a:xfrm>
        </p:grpSpPr>
        <p:sp>
          <p:nvSpPr>
            <p:cNvPr id="72" name="Rectangle 11"/>
            <p:cNvSpPr>
              <a:spLocks noChangeArrowheads="1"/>
            </p:cNvSpPr>
            <p:nvPr/>
          </p:nvSpPr>
          <p:spPr bwMode="auto">
            <a:xfrm>
              <a:off x="1021810" y="4845664"/>
              <a:ext cx="957167" cy="357753"/>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传输层</a:t>
              </a:r>
              <a:endParaRPr lang="en-US" altLang="zh-CN" sz="1600" dirty="0">
                <a:ea typeface="宋体" panose="02010600030101010101" pitchFamily="2" charset="-122"/>
              </a:endParaRPr>
            </a:p>
          </p:txBody>
        </p:sp>
        <p:sp>
          <p:nvSpPr>
            <p:cNvPr id="73" name="Rectangle 12"/>
            <p:cNvSpPr>
              <a:spLocks noChangeArrowheads="1"/>
            </p:cNvSpPr>
            <p:nvPr/>
          </p:nvSpPr>
          <p:spPr bwMode="auto">
            <a:xfrm>
              <a:off x="1022446" y="5196426"/>
              <a:ext cx="957167" cy="357753"/>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网络层</a:t>
              </a:r>
              <a:endParaRPr lang="en-US" altLang="zh-CN" sz="1600" dirty="0">
                <a:ea typeface="宋体" panose="02010600030101010101" pitchFamily="2" charset="-122"/>
              </a:endParaRPr>
            </a:p>
          </p:txBody>
        </p:sp>
        <p:sp>
          <p:nvSpPr>
            <p:cNvPr id="74" name="Rectangle 13"/>
            <p:cNvSpPr>
              <a:spLocks noChangeArrowheads="1"/>
            </p:cNvSpPr>
            <p:nvPr/>
          </p:nvSpPr>
          <p:spPr bwMode="auto">
            <a:xfrm>
              <a:off x="1019459" y="5552102"/>
              <a:ext cx="957167" cy="365206"/>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接口层</a:t>
              </a:r>
              <a:endParaRPr lang="en-US" altLang="zh-CN" sz="1600" dirty="0">
                <a:ea typeface="宋体" panose="02010600030101010101" pitchFamily="2" charset="-122"/>
              </a:endParaRPr>
            </a:p>
          </p:txBody>
        </p:sp>
      </p:grpSp>
      <p:sp>
        <p:nvSpPr>
          <p:cNvPr id="7" name="Rectangle 12"/>
          <p:cNvSpPr>
            <a:spLocks noChangeArrowheads="1"/>
          </p:cNvSpPr>
          <p:nvPr/>
        </p:nvSpPr>
        <p:spPr bwMode="auto">
          <a:xfrm>
            <a:off x="3781140" y="2466137"/>
            <a:ext cx="1552190" cy="425507"/>
          </a:xfrm>
          <a:prstGeom prst="rect">
            <a:avLst/>
          </a:prstGeom>
          <a:solidFill>
            <a:schemeClr val="accent6">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网络层</a:t>
            </a:r>
            <a:endParaRPr lang="en-US" altLang="zh-CN" sz="1600" dirty="0">
              <a:ea typeface="宋体" panose="02010600030101010101" pitchFamily="2" charset="-122"/>
            </a:endParaRPr>
          </a:p>
        </p:txBody>
      </p:sp>
      <p:sp>
        <p:nvSpPr>
          <p:cNvPr id="8" name="Rectangle 13"/>
          <p:cNvSpPr>
            <a:spLocks noChangeArrowheads="1"/>
          </p:cNvSpPr>
          <p:nvPr/>
        </p:nvSpPr>
        <p:spPr bwMode="auto">
          <a:xfrm>
            <a:off x="3778154" y="2889174"/>
            <a:ext cx="777590" cy="434372"/>
          </a:xfrm>
          <a:prstGeom prst="rect">
            <a:avLst/>
          </a:prstGeom>
          <a:solidFill>
            <a:schemeClr val="accent6">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接口层</a:t>
            </a:r>
            <a:endParaRPr lang="en-US" altLang="zh-CN" sz="1600" dirty="0">
              <a:ea typeface="宋体" panose="02010600030101010101" pitchFamily="2" charset="-122"/>
            </a:endParaRPr>
          </a:p>
        </p:txBody>
      </p:sp>
      <p:sp>
        <p:nvSpPr>
          <p:cNvPr id="9" name="Rectangle 13"/>
          <p:cNvSpPr>
            <a:spLocks noChangeArrowheads="1"/>
          </p:cNvSpPr>
          <p:nvPr/>
        </p:nvSpPr>
        <p:spPr bwMode="auto">
          <a:xfrm>
            <a:off x="4555744" y="2889174"/>
            <a:ext cx="777590" cy="434372"/>
          </a:xfrm>
          <a:prstGeom prst="rect">
            <a:avLst/>
          </a:prstGeom>
          <a:solidFill>
            <a:schemeClr val="accent6">
              <a:lumMod val="20000"/>
              <a:lumOff val="80000"/>
            </a:schemeClr>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1600" dirty="0">
                <a:ea typeface="宋体" panose="02010600030101010101" pitchFamily="2" charset="-122"/>
              </a:rPr>
              <a:t>接口层</a:t>
            </a:r>
            <a:endParaRPr lang="en-US" altLang="zh-CN" sz="1600" dirty="0">
              <a:ea typeface="宋体" panose="02010600030101010101" pitchFamily="2" charset="-122"/>
            </a:endParaRPr>
          </a:p>
        </p:txBody>
      </p:sp>
      <p:sp>
        <p:nvSpPr>
          <p:cNvPr id="10" name="Text Box 16"/>
          <p:cNvSpPr txBox="1">
            <a:spLocks noChangeArrowheads="1"/>
          </p:cNvSpPr>
          <p:nvPr/>
        </p:nvSpPr>
        <p:spPr bwMode="auto">
          <a:xfrm>
            <a:off x="3941465" y="2058349"/>
            <a:ext cx="12174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zh-CN" altLang="en-US" sz="1800" b="1" dirty="0">
                <a:solidFill>
                  <a:srgbClr val="FF0000"/>
                </a:solidFill>
                <a:latin typeface="Arial" panose="020B0604020202020204" pitchFamily="34" charset="0"/>
                <a:ea typeface="宋体" panose="02010600030101010101" pitchFamily="2" charset="-122"/>
                <a:cs typeface="Arial" panose="020B0604020202020204" pitchFamily="34" charset="0"/>
              </a:rPr>
              <a:t>路由器</a:t>
            </a:r>
            <a:endParaRPr kumimoji="0" lang="en-US" altLang="zh-CN" sz="1800" b="1"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cxnSp>
        <p:nvCxnSpPr>
          <p:cNvPr id="12" name="直接连接符 11"/>
          <p:cNvCxnSpPr/>
          <p:nvPr/>
        </p:nvCxnSpPr>
        <p:spPr>
          <a:xfrm flipH="1">
            <a:off x="3778154" y="3370521"/>
            <a:ext cx="777590" cy="108454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 Box 16"/>
          <p:cNvSpPr txBox="1">
            <a:spLocks noChangeArrowheads="1"/>
          </p:cNvSpPr>
          <p:nvPr/>
        </p:nvSpPr>
        <p:spPr bwMode="auto">
          <a:xfrm>
            <a:off x="5991959" y="1314239"/>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主机</a:t>
            </a:r>
            <a:r>
              <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B</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7"/>
            <a:ext cx="6683568" cy="2754563"/>
          </a:xfrm>
        </p:spPr>
        <p:txBody>
          <a:bodyPr>
            <a:norm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应用编程接口（</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API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应用请求与主机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建立连接</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传输层（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创建连接建立</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调用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层提供的服务，发送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段到主机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B</a:t>
            </a:r>
          </a:p>
        </p:txBody>
      </p:sp>
      <p:grpSp>
        <p:nvGrpSpPr>
          <p:cNvPr id="4" name="组合 3"/>
          <p:cNvGrpSpPr/>
          <p:nvPr/>
        </p:nvGrpSpPr>
        <p:grpSpPr>
          <a:xfrm>
            <a:off x="1295399" y="4016563"/>
            <a:ext cx="3085215" cy="1310349"/>
            <a:chOff x="1295399" y="4016563"/>
            <a:chExt cx="3276601" cy="1585457"/>
          </a:xfrm>
        </p:grpSpPr>
        <p:sp>
          <p:nvSpPr>
            <p:cNvPr id="99334" name="Rectangle 4"/>
            <p:cNvSpPr>
              <a:spLocks noChangeArrowheads="1"/>
            </p:cNvSpPr>
            <p:nvPr/>
          </p:nvSpPr>
          <p:spPr bwMode="auto">
            <a:xfrm>
              <a:off x="1295400" y="4497120"/>
              <a:ext cx="2209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数据</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99335" name="Rectangle 5"/>
            <p:cNvSpPr>
              <a:spLocks noChangeArrowheads="1"/>
            </p:cNvSpPr>
            <p:nvPr/>
          </p:nvSpPr>
          <p:spPr bwMode="auto">
            <a:xfrm>
              <a:off x="3505200" y="4497120"/>
              <a:ext cx="1066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99336" name="Text Box 6"/>
            <p:cNvSpPr txBox="1">
              <a:spLocks noChangeArrowheads="1"/>
            </p:cNvSpPr>
            <p:nvPr/>
          </p:nvSpPr>
          <p:spPr bwMode="auto">
            <a:xfrm>
              <a:off x="2356925" y="4016563"/>
              <a:ext cx="1148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 </a:t>
              </a:r>
              <a:r>
                <a:rPr kumimoji="0" lang="zh-CN" altLang="en-US" sz="1800" dirty="0">
                  <a:solidFill>
                    <a:srgbClr val="000099"/>
                  </a:solidFill>
                  <a:ea typeface="宋体" panose="02010600030101010101" pitchFamily="2" charset="-122"/>
                  <a:cs typeface="Times New Roman" panose="02020603050405020304" pitchFamily="18" charset="0"/>
                </a:rPr>
                <a:t>段</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99337" name="Line 7"/>
            <p:cNvSpPr>
              <a:spLocks noChangeShapeType="1"/>
            </p:cNvSpPr>
            <p:nvPr/>
          </p:nvSpPr>
          <p:spPr bwMode="auto">
            <a:xfrm>
              <a:off x="3505200" y="4232007"/>
              <a:ext cx="1066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9338" name="Line 8"/>
            <p:cNvSpPr>
              <a:spLocks noChangeShapeType="1"/>
            </p:cNvSpPr>
            <p:nvPr/>
          </p:nvSpPr>
          <p:spPr bwMode="auto">
            <a:xfrm flipH="1" flipV="1">
              <a:off x="1295399" y="4232007"/>
              <a:ext cx="10615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9342" name="Line 12"/>
            <p:cNvSpPr>
              <a:spLocks noChangeShapeType="1"/>
            </p:cNvSpPr>
            <p:nvPr/>
          </p:nvSpPr>
          <p:spPr bwMode="auto">
            <a:xfrm>
              <a:off x="2748515" y="5191280"/>
              <a:ext cx="327095" cy="4107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99343" name="Text Box 13"/>
          <p:cNvSpPr txBox="1">
            <a:spLocks noChangeArrowheads="1"/>
          </p:cNvSpPr>
          <p:nvPr/>
        </p:nvSpPr>
        <p:spPr bwMode="auto">
          <a:xfrm>
            <a:off x="2886740" y="5326912"/>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latin typeface="Arial" panose="020B0604020202020204" pitchFamily="34" charset="0"/>
                <a:ea typeface="宋体" panose="02010600030101010101" pitchFamily="2" charset="-122"/>
                <a:cs typeface="Arial" panose="020B0604020202020204" pitchFamily="34" charset="0"/>
              </a:rPr>
              <a:t>空</a:t>
            </a:r>
            <a:endParaRPr kumimoji="0" lang="en-US" altLang="zh-CN" sz="1800" dirty="0">
              <a:latin typeface="Arial" panose="020B0604020202020204" pitchFamily="34" charset="0"/>
              <a:ea typeface="宋体" panose="02010600030101010101" pitchFamily="2" charset="-122"/>
              <a:cs typeface="Arial" panose="020B0604020202020204" pitchFamily="34"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6"/>
          <a:stretch>
            <a:fillRect/>
          </a:stretch>
        </p:blipFill>
        <p:spPr>
          <a:xfrm>
            <a:off x="4922874" y="617537"/>
            <a:ext cx="4221126" cy="218031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8"/>
            <a:ext cx="4360354" cy="2063450"/>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网络层（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调用接口层提供的服务，发送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数据包到下一跳路由器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13" name="Rectangle 5"/>
          <p:cNvSpPr>
            <a:spLocks noChangeArrowheads="1"/>
          </p:cNvSpPr>
          <p:nvPr/>
        </p:nvSpPr>
        <p:spPr bwMode="auto">
          <a:xfrm>
            <a:off x="1125277" y="4877622"/>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sp>
        <p:nvSpPr>
          <p:cNvPr id="18" name="Line 9"/>
          <p:cNvSpPr>
            <a:spLocks noChangeShapeType="1"/>
          </p:cNvSpPr>
          <p:nvPr/>
        </p:nvSpPr>
        <p:spPr bwMode="auto">
          <a:xfrm>
            <a:off x="4210493" y="419182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19" name="Line 10"/>
          <p:cNvSpPr>
            <a:spLocks noChangeShapeType="1"/>
          </p:cNvSpPr>
          <p:nvPr/>
        </p:nvSpPr>
        <p:spPr bwMode="auto">
          <a:xfrm>
            <a:off x="1125278" y="419182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0" name="Text Box 11"/>
          <p:cNvSpPr txBox="1">
            <a:spLocks noChangeArrowheads="1"/>
          </p:cNvSpPr>
          <p:nvPr/>
        </p:nvSpPr>
        <p:spPr bwMode="auto">
          <a:xfrm>
            <a:off x="2344720" y="431626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封装</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21" name="Rectangle 12"/>
          <p:cNvSpPr>
            <a:spLocks noChangeArrowheads="1"/>
          </p:cNvSpPr>
          <p:nvPr/>
        </p:nvSpPr>
        <p:spPr bwMode="auto">
          <a:xfrm>
            <a:off x="4189227" y="4877622"/>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2" name="组合 1"/>
          <p:cNvGrpSpPr/>
          <p:nvPr/>
        </p:nvGrpSpPr>
        <p:grpSpPr>
          <a:xfrm>
            <a:off x="1125277" y="5591967"/>
            <a:ext cx="4130750" cy="369332"/>
            <a:chOff x="1125277" y="5591967"/>
            <a:chExt cx="3747978" cy="369332"/>
          </a:xfrm>
        </p:grpSpPr>
        <p:sp>
          <p:nvSpPr>
            <p:cNvPr id="22" name="Text Box 13"/>
            <p:cNvSpPr txBox="1">
              <a:spLocks noChangeArrowheads="1"/>
            </p:cNvSpPr>
            <p:nvPr/>
          </p:nvSpPr>
          <p:spPr bwMode="auto">
            <a:xfrm>
              <a:off x="2339691" y="5591967"/>
              <a:ext cx="9936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23"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4"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25" name="Text Box 16"/>
          <p:cNvSpPr txBox="1">
            <a:spLocks noChangeArrowheads="1"/>
          </p:cNvSpPr>
          <p:nvPr/>
        </p:nvSpPr>
        <p:spPr bwMode="auto">
          <a:xfrm>
            <a:off x="5638785" y="4760970"/>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26" name="Line 17"/>
          <p:cNvSpPr>
            <a:spLocks noChangeShapeType="1"/>
          </p:cNvSpPr>
          <p:nvPr/>
        </p:nvSpPr>
        <p:spPr bwMode="auto">
          <a:xfrm flipV="1">
            <a:off x="5257785" y="4889557"/>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7" name="Line 18"/>
          <p:cNvSpPr>
            <a:spLocks noChangeShapeType="1"/>
          </p:cNvSpPr>
          <p:nvPr/>
        </p:nvSpPr>
        <p:spPr bwMode="auto">
          <a:xfrm>
            <a:off x="5257785" y="5194357"/>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31" name="组合 30"/>
          <p:cNvGrpSpPr/>
          <p:nvPr/>
        </p:nvGrpSpPr>
        <p:grpSpPr>
          <a:xfrm>
            <a:off x="1125278" y="3150586"/>
            <a:ext cx="3085215" cy="1026949"/>
            <a:chOff x="1295399" y="4016563"/>
            <a:chExt cx="3276601" cy="1242557"/>
          </a:xfrm>
        </p:grpSpPr>
        <p:sp>
          <p:nvSpPr>
            <p:cNvPr id="32" name="Rectangle 4"/>
            <p:cNvSpPr>
              <a:spLocks noChangeArrowheads="1"/>
            </p:cNvSpPr>
            <p:nvPr/>
          </p:nvSpPr>
          <p:spPr bwMode="auto">
            <a:xfrm>
              <a:off x="1295400" y="4497120"/>
              <a:ext cx="2209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数据</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3" name="Rectangle 5"/>
            <p:cNvSpPr>
              <a:spLocks noChangeArrowheads="1"/>
            </p:cNvSpPr>
            <p:nvPr/>
          </p:nvSpPr>
          <p:spPr bwMode="auto">
            <a:xfrm>
              <a:off x="3505200" y="4497120"/>
              <a:ext cx="1066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4" name="Text Box 6"/>
            <p:cNvSpPr txBox="1">
              <a:spLocks noChangeArrowheads="1"/>
            </p:cNvSpPr>
            <p:nvPr/>
          </p:nvSpPr>
          <p:spPr bwMode="auto">
            <a:xfrm>
              <a:off x="2356925" y="4016563"/>
              <a:ext cx="1148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 </a:t>
              </a:r>
              <a:r>
                <a:rPr kumimoji="0" lang="zh-CN" altLang="en-US" sz="1800" dirty="0">
                  <a:solidFill>
                    <a:srgbClr val="000099"/>
                  </a:solidFill>
                  <a:ea typeface="宋体" panose="02010600030101010101" pitchFamily="2" charset="-122"/>
                  <a:cs typeface="Times New Roman" panose="02020603050405020304" pitchFamily="18" charset="0"/>
                </a:rPr>
                <a:t>段</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5" name="Line 7"/>
            <p:cNvSpPr>
              <a:spLocks noChangeShapeType="1"/>
            </p:cNvSpPr>
            <p:nvPr/>
          </p:nvSpPr>
          <p:spPr bwMode="auto">
            <a:xfrm>
              <a:off x="3505200" y="4232007"/>
              <a:ext cx="1066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6" name="Line 8"/>
            <p:cNvSpPr>
              <a:spLocks noChangeShapeType="1"/>
            </p:cNvSpPr>
            <p:nvPr/>
          </p:nvSpPr>
          <p:spPr bwMode="auto">
            <a:xfrm flipH="1" flipV="1">
              <a:off x="1295399" y="4232007"/>
              <a:ext cx="10615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8"/>
            <a:ext cx="4360354" cy="1629824"/>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接口层（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创建以太数据帧</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请求物理层按位发送数据帧</a:t>
            </a:r>
            <a:endParaRPr lang="en-US" altLang="zh-CN" sz="2000" dirty="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44" name="Rectangle 5"/>
          <p:cNvSpPr>
            <a:spLocks noChangeArrowheads="1"/>
          </p:cNvSpPr>
          <p:nvPr/>
        </p:nvSpPr>
        <p:spPr bwMode="auto">
          <a:xfrm>
            <a:off x="1306031" y="3434655"/>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45" name="组合 44"/>
          <p:cNvGrpSpPr/>
          <p:nvPr/>
        </p:nvGrpSpPr>
        <p:grpSpPr>
          <a:xfrm>
            <a:off x="1300701" y="4024554"/>
            <a:ext cx="4136080" cy="685800"/>
            <a:chOff x="917929" y="3713572"/>
            <a:chExt cx="3085215" cy="685800"/>
          </a:xfrm>
        </p:grpSpPr>
        <p:sp>
          <p:nvSpPr>
            <p:cNvPr id="46" name="Line 9"/>
            <p:cNvSpPr>
              <a:spLocks noChangeShapeType="1"/>
            </p:cNvSpPr>
            <p:nvPr/>
          </p:nvSpPr>
          <p:spPr bwMode="auto">
            <a:xfrm>
              <a:off x="4003144" y="371357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7" name="Line 10"/>
            <p:cNvSpPr>
              <a:spLocks noChangeShapeType="1"/>
            </p:cNvSpPr>
            <p:nvPr/>
          </p:nvSpPr>
          <p:spPr bwMode="auto">
            <a:xfrm>
              <a:off x="917929" y="371357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8" name="Text Box 11"/>
            <p:cNvSpPr txBox="1">
              <a:spLocks noChangeArrowheads="1"/>
            </p:cNvSpPr>
            <p:nvPr/>
          </p:nvSpPr>
          <p:spPr bwMode="auto">
            <a:xfrm>
              <a:off x="2137371" y="383801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封装</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grpSp>
      <p:sp>
        <p:nvSpPr>
          <p:cNvPr id="49" name="Rectangle 12"/>
          <p:cNvSpPr>
            <a:spLocks noChangeArrowheads="1"/>
          </p:cNvSpPr>
          <p:nvPr/>
        </p:nvSpPr>
        <p:spPr bwMode="auto">
          <a:xfrm>
            <a:off x="4369981" y="3434655"/>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50" name="组合 49"/>
          <p:cNvGrpSpPr/>
          <p:nvPr/>
        </p:nvGrpSpPr>
        <p:grpSpPr>
          <a:xfrm>
            <a:off x="1308448" y="3059668"/>
            <a:ext cx="4130750" cy="369332"/>
            <a:chOff x="1125277" y="5591967"/>
            <a:chExt cx="3747978" cy="369332"/>
          </a:xfrm>
        </p:grpSpPr>
        <p:sp>
          <p:nvSpPr>
            <p:cNvPr id="51" name="Text Box 13"/>
            <p:cNvSpPr txBox="1">
              <a:spLocks noChangeArrowheads="1"/>
            </p:cNvSpPr>
            <p:nvPr/>
          </p:nvSpPr>
          <p:spPr bwMode="auto">
            <a:xfrm>
              <a:off x="2339690" y="5591967"/>
              <a:ext cx="11305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52"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3"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54" name="Text Box 16"/>
          <p:cNvSpPr txBox="1">
            <a:spLocks noChangeArrowheads="1"/>
          </p:cNvSpPr>
          <p:nvPr/>
        </p:nvSpPr>
        <p:spPr bwMode="auto">
          <a:xfrm>
            <a:off x="5819539" y="3318003"/>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55" name="Line 17"/>
          <p:cNvSpPr>
            <a:spLocks noChangeShapeType="1"/>
          </p:cNvSpPr>
          <p:nvPr/>
        </p:nvSpPr>
        <p:spPr bwMode="auto">
          <a:xfrm flipV="1">
            <a:off x="5438539" y="3446590"/>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6" name="Line 18"/>
          <p:cNvSpPr>
            <a:spLocks noChangeShapeType="1"/>
          </p:cNvSpPr>
          <p:nvPr/>
        </p:nvSpPr>
        <p:spPr bwMode="auto">
          <a:xfrm>
            <a:off x="5438539" y="375139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57" name="组合 56"/>
          <p:cNvGrpSpPr/>
          <p:nvPr/>
        </p:nvGrpSpPr>
        <p:grpSpPr>
          <a:xfrm>
            <a:off x="451890" y="4722110"/>
            <a:ext cx="5879798" cy="685800"/>
            <a:chOff x="923260" y="4411128"/>
            <a:chExt cx="3926635" cy="685800"/>
          </a:xfrm>
        </p:grpSpPr>
        <p:sp>
          <p:nvSpPr>
            <p:cNvPr id="58" name="Rectangle 5"/>
            <p:cNvSpPr>
              <a:spLocks noChangeArrowheads="1"/>
            </p:cNvSpPr>
            <p:nvPr/>
          </p:nvSpPr>
          <p:spPr bwMode="auto">
            <a:xfrm>
              <a:off x="1490111" y="4411128"/>
              <a:ext cx="2751493"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Data</a:t>
              </a:r>
            </a:p>
          </p:txBody>
        </p:sp>
        <p:sp>
          <p:nvSpPr>
            <p:cNvPr id="59" name="Rectangle 10"/>
            <p:cNvSpPr>
              <a:spLocks noChangeArrowheads="1"/>
            </p:cNvSpPr>
            <p:nvPr/>
          </p:nvSpPr>
          <p:spPr bwMode="auto">
            <a:xfrm>
              <a:off x="923260" y="4411128"/>
              <a:ext cx="566852"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尾部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60" name="Rectangle 11"/>
            <p:cNvSpPr>
              <a:spLocks noChangeArrowheads="1"/>
            </p:cNvSpPr>
            <p:nvPr/>
          </p:nvSpPr>
          <p:spPr bwMode="auto">
            <a:xfrm>
              <a:off x="4241604" y="4411128"/>
              <a:ext cx="608291"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grpSp>
      <p:grpSp>
        <p:nvGrpSpPr>
          <p:cNvPr id="61" name="组合 60"/>
          <p:cNvGrpSpPr/>
          <p:nvPr/>
        </p:nvGrpSpPr>
        <p:grpSpPr>
          <a:xfrm>
            <a:off x="447494" y="5388495"/>
            <a:ext cx="5841664" cy="369332"/>
            <a:chOff x="1114645" y="5447064"/>
            <a:chExt cx="3126803" cy="369332"/>
          </a:xfrm>
        </p:grpSpPr>
        <p:sp>
          <p:nvSpPr>
            <p:cNvPr id="62" name="Text Box 13"/>
            <p:cNvSpPr txBox="1">
              <a:spLocks noChangeArrowheads="1"/>
            </p:cNvSpPr>
            <p:nvPr/>
          </p:nvSpPr>
          <p:spPr bwMode="auto">
            <a:xfrm>
              <a:off x="2367695" y="5447064"/>
              <a:ext cx="6411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r>
                <a:rPr kumimoji="0" lang="zh-CN" altLang="en-US" sz="1800" dirty="0">
                  <a:solidFill>
                    <a:srgbClr val="000099"/>
                  </a:solidFill>
                  <a:ea typeface="宋体" panose="02010600030101010101" pitchFamily="2" charset="-122"/>
                  <a:cs typeface="Times New Roman" panose="02020603050405020304" pitchFamily="18" charset="0"/>
                </a:rPr>
                <a:t>帧</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63" name="Line 14"/>
            <p:cNvSpPr>
              <a:spLocks noChangeShapeType="1"/>
            </p:cNvSpPr>
            <p:nvPr/>
          </p:nvSpPr>
          <p:spPr bwMode="auto">
            <a:xfrm>
              <a:off x="3287133" y="5660841"/>
              <a:ext cx="954315" cy="84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4" name="Line 15"/>
            <p:cNvSpPr>
              <a:spLocks noChangeShapeType="1"/>
            </p:cNvSpPr>
            <p:nvPr/>
          </p:nvSpPr>
          <p:spPr bwMode="auto">
            <a:xfrm flipH="1">
              <a:off x="1114645" y="5669314"/>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65" name="Text Box 16"/>
          <p:cNvSpPr txBox="1">
            <a:spLocks noChangeArrowheads="1"/>
          </p:cNvSpPr>
          <p:nvPr/>
        </p:nvSpPr>
        <p:spPr bwMode="auto">
          <a:xfrm>
            <a:off x="6781875" y="4649503"/>
            <a:ext cx="21114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MAC “R1”</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MAC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IP</a:t>
            </a:r>
          </a:p>
        </p:txBody>
      </p:sp>
      <p:sp>
        <p:nvSpPr>
          <p:cNvPr id="66" name="Line 17"/>
          <p:cNvSpPr>
            <a:spLocks noChangeShapeType="1"/>
          </p:cNvSpPr>
          <p:nvPr/>
        </p:nvSpPr>
        <p:spPr bwMode="auto">
          <a:xfrm flipV="1">
            <a:off x="6340549" y="4760233"/>
            <a:ext cx="425361" cy="25756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67" name="Line 18"/>
          <p:cNvSpPr>
            <a:spLocks noChangeShapeType="1"/>
          </p:cNvSpPr>
          <p:nvPr/>
        </p:nvSpPr>
        <p:spPr bwMode="auto">
          <a:xfrm>
            <a:off x="6340550" y="5017802"/>
            <a:ext cx="458958" cy="354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7"/>
            <a:ext cx="4360354" cy="2141385"/>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接口层（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接收以太数据帧，判断地址并进行差错校验</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如果正确将</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数据包传给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29" name="Rectangle 5"/>
          <p:cNvSpPr>
            <a:spLocks noChangeArrowheads="1"/>
          </p:cNvSpPr>
          <p:nvPr/>
        </p:nvSpPr>
        <p:spPr bwMode="auto">
          <a:xfrm>
            <a:off x="1192457" y="3619849"/>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sp>
        <p:nvSpPr>
          <p:cNvPr id="30" name="Line 9"/>
          <p:cNvSpPr>
            <a:spLocks noChangeShapeType="1"/>
          </p:cNvSpPr>
          <p:nvPr/>
        </p:nvSpPr>
        <p:spPr bwMode="auto">
          <a:xfrm>
            <a:off x="5323207" y="4209748"/>
            <a:ext cx="0" cy="685800"/>
          </a:xfrm>
          <a:prstGeom prst="line">
            <a:avLst/>
          </a:prstGeom>
          <a:noFill/>
          <a:ln w="9525" cap="rnd">
            <a:solidFill>
              <a:schemeClr val="tx1"/>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1" name="Line 10"/>
          <p:cNvSpPr>
            <a:spLocks noChangeShapeType="1"/>
          </p:cNvSpPr>
          <p:nvPr/>
        </p:nvSpPr>
        <p:spPr bwMode="auto">
          <a:xfrm>
            <a:off x="1187127" y="4209748"/>
            <a:ext cx="0" cy="685800"/>
          </a:xfrm>
          <a:prstGeom prst="line">
            <a:avLst/>
          </a:prstGeom>
          <a:noFill/>
          <a:ln w="9525" cap="rnd">
            <a:solidFill>
              <a:schemeClr val="tx1"/>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2" name="Text Box 11"/>
          <p:cNvSpPr txBox="1">
            <a:spLocks noChangeArrowheads="1"/>
          </p:cNvSpPr>
          <p:nvPr/>
        </p:nvSpPr>
        <p:spPr bwMode="auto">
          <a:xfrm>
            <a:off x="2821927" y="43341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拆封</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33" name="Rectangle 12"/>
          <p:cNvSpPr>
            <a:spLocks noChangeArrowheads="1"/>
          </p:cNvSpPr>
          <p:nvPr/>
        </p:nvSpPr>
        <p:spPr bwMode="auto">
          <a:xfrm>
            <a:off x="4256407" y="3619849"/>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34" name="组合 33"/>
          <p:cNvGrpSpPr/>
          <p:nvPr/>
        </p:nvGrpSpPr>
        <p:grpSpPr>
          <a:xfrm>
            <a:off x="1194874" y="3244862"/>
            <a:ext cx="4130750" cy="369332"/>
            <a:chOff x="1125277" y="5591967"/>
            <a:chExt cx="3747978" cy="369332"/>
          </a:xfrm>
        </p:grpSpPr>
        <p:sp>
          <p:nvSpPr>
            <p:cNvPr id="35" name="Text Box 13"/>
            <p:cNvSpPr txBox="1">
              <a:spLocks noChangeArrowheads="1"/>
            </p:cNvSpPr>
            <p:nvPr/>
          </p:nvSpPr>
          <p:spPr bwMode="auto">
            <a:xfrm>
              <a:off x="2339690" y="5591967"/>
              <a:ext cx="11305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6"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7"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38" name="Text Box 16"/>
          <p:cNvSpPr txBox="1">
            <a:spLocks noChangeArrowheads="1"/>
          </p:cNvSpPr>
          <p:nvPr/>
        </p:nvSpPr>
        <p:spPr bwMode="auto">
          <a:xfrm>
            <a:off x="5705965" y="3503197"/>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39" name="Line 17"/>
          <p:cNvSpPr>
            <a:spLocks noChangeShapeType="1"/>
          </p:cNvSpPr>
          <p:nvPr/>
        </p:nvSpPr>
        <p:spPr bwMode="auto">
          <a:xfrm flipV="1">
            <a:off x="5324965" y="3631784"/>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0" name="Line 18"/>
          <p:cNvSpPr>
            <a:spLocks noChangeShapeType="1"/>
          </p:cNvSpPr>
          <p:nvPr/>
        </p:nvSpPr>
        <p:spPr bwMode="auto">
          <a:xfrm>
            <a:off x="5324965" y="3936584"/>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41" name="组合 40"/>
          <p:cNvGrpSpPr/>
          <p:nvPr/>
        </p:nvGrpSpPr>
        <p:grpSpPr>
          <a:xfrm>
            <a:off x="338316" y="4907304"/>
            <a:ext cx="5879798" cy="685800"/>
            <a:chOff x="923260" y="4411128"/>
            <a:chExt cx="3926635" cy="685800"/>
          </a:xfrm>
        </p:grpSpPr>
        <p:sp>
          <p:nvSpPr>
            <p:cNvPr id="42" name="Rectangle 5"/>
            <p:cNvSpPr>
              <a:spLocks noChangeArrowheads="1"/>
            </p:cNvSpPr>
            <p:nvPr/>
          </p:nvSpPr>
          <p:spPr bwMode="auto">
            <a:xfrm>
              <a:off x="1490111" y="4411128"/>
              <a:ext cx="2751493"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en-US" altLang="zh-CN" sz="1800">
                  <a:solidFill>
                    <a:srgbClr val="000099"/>
                  </a:solidFill>
                  <a:ea typeface="宋体" panose="02010600030101010101" pitchFamily="2" charset="-122"/>
                  <a:cs typeface="Times New Roman" panose="02020603050405020304" pitchFamily="18" charset="0"/>
                </a:rPr>
                <a:t>Data</a:t>
              </a:r>
            </a:p>
          </p:txBody>
        </p:sp>
        <p:sp>
          <p:nvSpPr>
            <p:cNvPr id="43" name="Rectangle 10"/>
            <p:cNvSpPr>
              <a:spLocks noChangeArrowheads="1"/>
            </p:cNvSpPr>
            <p:nvPr/>
          </p:nvSpPr>
          <p:spPr bwMode="auto">
            <a:xfrm>
              <a:off x="923260" y="4411128"/>
              <a:ext cx="566852"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尾部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44" name="Rectangle 11"/>
            <p:cNvSpPr>
              <a:spLocks noChangeArrowheads="1"/>
            </p:cNvSpPr>
            <p:nvPr/>
          </p:nvSpPr>
          <p:spPr bwMode="auto">
            <a:xfrm>
              <a:off x="4241604" y="4411128"/>
              <a:ext cx="608291"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grpSp>
      <p:grpSp>
        <p:nvGrpSpPr>
          <p:cNvPr id="45" name="组合 44"/>
          <p:cNvGrpSpPr/>
          <p:nvPr/>
        </p:nvGrpSpPr>
        <p:grpSpPr>
          <a:xfrm>
            <a:off x="333920" y="5573689"/>
            <a:ext cx="5841664" cy="369332"/>
            <a:chOff x="1114645" y="5447064"/>
            <a:chExt cx="3126803" cy="369332"/>
          </a:xfrm>
        </p:grpSpPr>
        <p:sp>
          <p:nvSpPr>
            <p:cNvPr id="46" name="Text Box 13"/>
            <p:cNvSpPr txBox="1">
              <a:spLocks noChangeArrowheads="1"/>
            </p:cNvSpPr>
            <p:nvPr/>
          </p:nvSpPr>
          <p:spPr bwMode="auto">
            <a:xfrm>
              <a:off x="2367695" y="5447064"/>
              <a:ext cx="6411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r>
                <a:rPr kumimoji="0" lang="zh-CN" altLang="en-US" sz="1800" dirty="0">
                  <a:solidFill>
                    <a:srgbClr val="000099"/>
                  </a:solidFill>
                  <a:ea typeface="宋体" panose="02010600030101010101" pitchFamily="2" charset="-122"/>
                  <a:cs typeface="Times New Roman" panose="02020603050405020304" pitchFamily="18" charset="0"/>
                </a:rPr>
                <a:t>帧</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47" name="Line 14"/>
            <p:cNvSpPr>
              <a:spLocks noChangeShapeType="1"/>
            </p:cNvSpPr>
            <p:nvPr/>
          </p:nvSpPr>
          <p:spPr bwMode="auto">
            <a:xfrm>
              <a:off x="3287133" y="5660841"/>
              <a:ext cx="954315" cy="84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Line 15"/>
            <p:cNvSpPr>
              <a:spLocks noChangeShapeType="1"/>
            </p:cNvSpPr>
            <p:nvPr/>
          </p:nvSpPr>
          <p:spPr bwMode="auto">
            <a:xfrm flipH="1">
              <a:off x="1114645" y="5669314"/>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49" name="Text Box 16"/>
          <p:cNvSpPr txBox="1">
            <a:spLocks noChangeArrowheads="1"/>
          </p:cNvSpPr>
          <p:nvPr/>
        </p:nvSpPr>
        <p:spPr bwMode="auto">
          <a:xfrm>
            <a:off x="6668301" y="4834697"/>
            <a:ext cx="21114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MAC “R1”</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MAC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IP</a:t>
            </a:r>
          </a:p>
        </p:txBody>
      </p:sp>
      <p:sp>
        <p:nvSpPr>
          <p:cNvPr id="50" name="Line 17"/>
          <p:cNvSpPr>
            <a:spLocks noChangeShapeType="1"/>
          </p:cNvSpPr>
          <p:nvPr/>
        </p:nvSpPr>
        <p:spPr bwMode="auto">
          <a:xfrm flipV="1">
            <a:off x="6226975" y="4945427"/>
            <a:ext cx="425361" cy="25756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1" name="Line 18"/>
          <p:cNvSpPr>
            <a:spLocks noChangeShapeType="1"/>
          </p:cNvSpPr>
          <p:nvPr/>
        </p:nvSpPr>
        <p:spPr bwMode="auto">
          <a:xfrm>
            <a:off x="6226976" y="5202996"/>
            <a:ext cx="458958" cy="354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8"/>
            <a:ext cx="4360354" cy="1629824"/>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网络层（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的目的地址确定下一跳路由器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请求接口层发送数据包</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29" name="Rectangle 5"/>
          <p:cNvSpPr>
            <a:spLocks noChangeArrowheads="1"/>
          </p:cNvSpPr>
          <p:nvPr/>
        </p:nvSpPr>
        <p:spPr bwMode="auto">
          <a:xfrm>
            <a:off x="1229671" y="3912244"/>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sp>
        <p:nvSpPr>
          <p:cNvPr id="33" name="Rectangle 12"/>
          <p:cNvSpPr>
            <a:spLocks noChangeArrowheads="1"/>
          </p:cNvSpPr>
          <p:nvPr/>
        </p:nvSpPr>
        <p:spPr bwMode="auto">
          <a:xfrm>
            <a:off x="4293621" y="3912244"/>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34" name="组合 33"/>
          <p:cNvGrpSpPr/>
          <p:nvPr/>
        </p:nvGrpSpPr>
        <p:grpSpPr>
          <a:xfrm>
            <a:off x="1232088" y="3537257"/>
            <a:ext cx="4130750" cy="369332"/>
            <a:chOff x="1125277" y="5591967"/>
            <a:chExt cx="3747978" cy="369332"/>
          </a:xfrm>
        </p:grpSpPr>
        <p:sp>
          <p:nvSpPr>
            <p:cNvPr id="35" name="Text Box 13"/>
            <p:cNvSpPr txBox="1">
              <a:spLocks noChangeArrowheads="1"/>
            </p:cNvSpPr>
            <p:nvPr/>
          </p:nvSpPr>
          <p:spPr bwMode="auto">
            <a:xfrm>
              <a:off x="2339690" y="5591967"/>
              <a:ext cx="11305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6"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7"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38" name="Text Box 16"/>
          <p:cNvSpPr txBox="1">
            <a:spLocks noChangeArrowheads="1"/>
          </p:cNvSpPr>
          <p:nvPr/>
        </p:nvSpPr>
        <p:spPr bwMode="auto">
          <a:xfrm>
            <a:off x="5743179" y="3795592"/>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39" name="Line 17"/>
          <p:cNvSpPr>
            <a:spLocks noChangeShapeType="1"/>
          </p:cNvSpPr>
          <p:nvPr/>
        </p:nvSpPr>
        <p:spPr bwMode="auto">
          <a:xfrm flipV="1">
            <a:off x="5362179" y="3924179"/>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0" name="Line 18"/>
          <p:cNvSpPr>
            <a:spLocks noChangeShapeType="1"/>
          </p:cNvSpPr>
          <p:nvPr/>
        </p:nvSpPr>
        <p:spPr bwMode="auto">
          <a:xfrm>
            <a:off x="5362179" y="4228979"/>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8"/>
            <a:ext cx="4360354" cy="1629824"/>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接口层（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7</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创建以太数据帧</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请求物理层按位发送数据帧</a:t>
            </a:r>
            <a:endParaRPr lang="en-US" altLang="zh-CN" sz="2000" dirty="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44" name="Rectangle 5"/>
          <p:cNvSpPr>
            <a:spLocks noChangeArrowheads="1"/>
          </p:cNvSpPr>
          <p:nvPr/>
        </p:nvSpPr>
        <p:spPr bwMode="auto">
          <a:xfrm>
            <a:off x="1306031" y="3434655"/>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45" name="组合 44"/>
          <p:cNvGrpSpPr/>
          <p:nvPr/>
        </p:nvGrpSpPr>
        <p:grpSpPr>
          <a:xfrm>
            <a:off x="1300701" y="4024554"/>
            <a:ext cx="4136080" cy="685800"/>
            <a:chOff x="917929" y="3713572"/>
            <a:chExt cx="3085215" cy="685800"/>
          </a:xfrm>
        </p:grpSpPr>
        <p:sp>
          <p:nvSpPr>
            <p:cNvPr id="46" name="Line 9"/>
            <p:cNvSpPr>
              <a:spLocks noChangeShapeType="1"/>
            </p:cNvSpPr>
            <p:nvPr/>
          </p:nvSpPr>
          <p:spPr bwMode="auto">
            <a:xfrm>
              <a:off x="4003144" y="371357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7" name="Line 10"/>
            <p:cNvSpPr>
              <a:spLocks noChangeShapeType="1"/>
            </p:cNvSpPr>
            <p:nvPr/>
          </p:nvSpPr>
          <p:spPr bwMode="auto">
            <a:xfrm>
              <a:off x="917929" y="371357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8" name="Text Box 11"/>
            <p:cNvSpPr txBox="1">
              <a:spLocks noChangeArrowheads="1"/>
            </p:cNvSpPr>
            <p:nvPr/>
          </p:nvSpPr>
          <p:spPr bwMode="auto">
            <a:xfrm>
              <a:off x="2137371" y="383801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封装</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grpSp>
      <p:sp>
        <p:nvSpPr>
          <p:cNvPr id="49" name="Rectangle 12"/>
          <p:cNvSpPr>
            <a:spLocks noChangeArrowheads="1"/>
          </p:cNvSpPr>
          <p:nvPr/>
        </p:nvSpPr>
        <p:spPr bwMode="auto">
          <a:xfrm>
            <a:off x="4369981" y="3434655"/>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50" name="组合 49"/>
          <p:cNvGrpSpPr/>
          <p:nvPr/>
        </p:nvGrpSpPr>
        <p:grpSpPr>
          <a:xfrm>
            <a:off x="1308448" y="3059668"/>
            <a:ext cx="4130750" cy="369332"/>
            <a:chOff x="1125277" y="5591967"/>
            <a:chExt cx="3747978" cy="369332"/>
          </a:xfrm>
        </p:grpSpPr>
        <p:sp>
          <p:nvSpPr>
            <p:cNvPr id="51" name="Text Box 13"/>
            <p:cNvSpPr txBox="1">
              <a:spLocks noChangeArrowheads="1"/>
            </p:cNvSpPr>
            <p:nvPr/>
          </p:nvSpPr>
          <p:spPr bwMode="auto">
            <a:xfrm>
              <a:off x="2339690" y="5591967"/>
              <a:ext cx="11305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52"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3"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54" name="Text Box 16"/>
          <p:cNvSpPr txBox="1">
            <a:spLocks noChangeArrowheads="1"/>
          </p:cNvSpPr>
          <p:nvPr/>
        </p:nvSpPr>
        <p:spPr bwMode="auto">
          <a:xfrm>
            <a:off x="5819539" y="3318003"/>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55" name="Line 17"/>
          <p:cNvSpPr>
            <a:spLocks noChangeShapeType="1"/>
          </p:cNvSpPr>
          <p:nvPr/>
        </p:nvSpPr>
        <p:spPr bwMode="auto">
          <a:xfrm flipV="1">
            <a:off x="5438539" y="3446590"/>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6" name="Line 18"/>
          <p:cNvSpPr>
            <a:spLocks noChangeShapeType="1"/>
          </p:cNvSpPr>
          <p:nvPr/>
        </p:nvSpPr>
        <p:spPr bwMode="auto">
          <a:xfrm>
            <a:off x="5438539" y="375139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57" name="组合 56"/>
          <p:cNvGrpSpPr/>
          <p:nvPr/>
        </p:nvGrpSpPr>
        <p:grpSpPr>
          <a:xfrm>
            <a:off x="451890" y="4722110"/>
            <a:ext cx="5879798" cy="685800"/>
            <a:chOff x="923260" y="4411128"/>
            <a:chExt cx="3926635" cy="685800"/>
          </a:xfrm>
        </p:grpSpPr>
        <p:sp>
          <p:nvSpPr>
            <p:cNvPr id="58" name="Rectangle 5"/>
            <p:cNvSpPr>
              <a:spLocks noChangeArrowheads="1"/>
            </p:cNvSpPr>
            <p:nvPr/>
          </p:nvSpPr>
          <p:spPr bwMode="auto">
            <a:xfrm>
              <a:off x="1490111" y="4411128"/>
              <a:ext cx="2751493"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Data</a:t>
              </a:r>
            </a:p>
          </p:txBody>
        </p:sp>
        <p:sp>
          <p:nvSpPr>
            <p:cNvPr id="59" name="Rectangle 10"/>
            <p:cNvSpPr>
              <a:spLocks noChangeArrowheads="1"/>
            </p:cNvSpPr>
            <p:nvPr/>
          </p:nvSpPr>
          <p:spPr bwMode="auto">
            <a:xfrm>
              <a:off x="923260" y="4411128"/>
              <a:ext cx="566852"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尾部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60" name="Rectangle 11"/>
            <p:cNvSpPr>
              <a:spLocks noChangeArrowheads="1"/>
            </p:cNvSpPr>
            <p:nvPr/>
          </p:nvSpPr>
          <p:spPr bwMode="auto">
            <a:xfrm>
              <a:off x="4241604" y="4411128"/>
              <a:ext cx="608291"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grpSp>
      <p:grpSp>
        <p:nvGrpSpPr>
          <p:cNvPr id="61" name="组合 60"/>
          <p:cNvGrpSpPr/>
          <p:nvPr/>
        </p:nvGrpSpPr>
        <p:grpSpPr>
          <a:xfrm>
            <a:off x="447494" y="5388495"/>
            <a:ext cx="5841664" cy="369332"/>
            <a:chOff x="1114645" y="5447064"/>
            <a:chExt cx="3126803" cy="369332"/>
          </a:xfrm>
        </p:grpSpPr>
        <p:sp>
          <p:nvSpPr>
            <p:cNvPr id="62" name="Text Box 13"/>
            <p:cNvSpPr txBox="1">
              <a:spLocks noChangeArrowheads="1"/>
            </p:cNvSpPr>
            <p:nvPr/>
          </p:nvSpPr>
          <p:spPr bwMode="auto">
            <a:xfrm>
              <a:off x="2367695" y="5447064"/>
              <a:ext cx="6411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r>
                <a:rPr kumimoji="0" lang="zh-CN" altLang="en-US" sz="1800" dirty="0">
                  <a:solidFill>
                    <a:srgbClr val="000099"/>
                  </a:solidFill>
                  <a:ea typeface="宋体" panose="02010600030101010101" pitchFamily="2" charset="-122"/>
                  <a:cs typeface="Times New Roman" panose="02020603050405020304" pitchFamily="18" charset="0"/>
                </a:rPr>
                <a:t>帧</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63" name="Line 14"/>
            <p:cNvSpPr>
              <a:spLocks noChangeShapeType="1"/>
            </p:cNvSpPr>
            <p:nvPr/>
          </p:nvSpPr>
          <p:spPr bwMode="auto">
            <a:xfrm>
              <a:off x="3287133" y="5660841"/>
              <a:ext cx="954315" cy="84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4" name="Line 15"/>
            <p:cNvSpPr>
              <a:spLocks noChangeShapeType="1"/>
            </p:cNvSpPr>
            <p:nvPr/>
          </p:nvSpPr>
          <p:spPr bwMode="auto">
            <a:xfrm flipH="1">
              <a:off x="1114645" y="5669314"/>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65" name="Text Box 16"/>
          <p:cNvSpPr txBox="1">
            <a:spLocks noChangeArrowheads="1"/>
          </p:cNvSpPr>
          <p:nvPr/>
        </p:nvSpPr>
        <p:spPr bwMode="auto">
          <a:xfrm>
            <a:off x="6781875" y="4649503"/>
            <a:ext cx="21098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MAC “R2”</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MAC “R1”</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IP</a:t>
            </a:r>
          </a:p>
        </p:txBody>
      </p:sp>
      <p:sp>
        <p:nvSpPr>
          <p:cNvPr id="66" name="Line 17"/>
          <p:cNvSpPr>
            <a:spLocks noChangeShapeType="1"/>
          </p:cNvSpPr>
          <p:nvPr/>
        </p:nvSpPr>
        <p:spPr bwMode="auto">
          <a:xfrm flipV="1">
            <a:off x="6340549" y="4760233"/>
            <a:ext cx="425361" cy="25756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67" name="Line 18"/>
          <p:cNvSpPr>
            <a:spLocks noChangeShapeType="1"/>
          </p:cNvSpPr>
          <p:nvPr/>
        </p:nvSpPr>
        <p:spPr bwMode="auto">
          <a:xfrm>
            <a:off x="6340550" y="5017802"/>
            <a:ext cx="458958" cy="354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8"/>
            <a:ext cx="4360354" cy="1629824"/>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接口层（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16</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创建以太数据帧</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请求物理层按位发送数据帧</a:t>
            </a:r>
            <a:endParaRPr lang="en-US" altLang="zh-CN" sz="2000" dirty="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44" name="Rectangle 5"/>
          <p:cNvSpPr>
            <a:spLocks noChangeArrowheads="1"/>
          </p:cNvSpPr>
          <p:nvPr/>
        </p:nvSpPr>
        <p:spPr bwMode="auto">
          <a:xfrm>
            <a:off x="1306031" y="3434655"/>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45" name="组合 44"/>
          <p:cNvGrpSpPr/>
          <p:nvPr/>
        </p:nvGrpSpPr>
        <p:grpSpPr>
          <a:xfrm>
            <a:off x="1300701" y="4024554"/>
            <a:ext cx="4136080" cy="685800"/>
            <a:chOff x="917929" y="3713572"/>
            <a:chExt cx="3085215" cy="685800"/>
          </a:xfrm>
        </p:grpSpPr>
        <p:sp>
          <p:nvSpPr>
            <p:cNvPr id="46" name="Line 9"/>
            <p:cNvSpPr>
              <a:spLocks noChangeShapeType="1"/>
            </p:cNvSpPr>
            <p:nvPr/>
          </p:nvSpPr>
          <p:spPr bwMode="auto">
            <a:xfrm>
              <a:off x="4003144" y="371357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7" name="Line 10"/>
            <p:cNvSpPr>
              <a:spLocks noChangeShapeType="1"/>
            </p:cNvSpPr>
            <p:nvPr/>
          </p:nvSpPr>
          <p:spPr bwMode="auto">
            <a:xfrm>
              <a:off x="917929" y="3713572"/>
              <a:ext cx="0" cy="685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8" name="Text Box 11"/>
            <p:cNvSpPr txBox="1">
              <a:spLocks noChangeArrowheads="1"/>
            </p:cNvSpPr>
            <p:nvPr/>
          </p:nvSpPr>
          <p:spPr bwMode="auto">
            <a:xfrm>
              <a:off x="2137371" y="383801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封装</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grpSp>
      <p:sp>
        <p:nvSpPr>
          <p:cNvPr id="49" name="Rectangle 12"/>
          <p:cNvSpPr>
            <a:spLocks noChangeArrowheads="1"/>
          </p:cNvSpPr>
          <p:nvPr/>
        </p:nvSpPr>
        <p:spPr bwMode="auto">
          <a:xfrm>
            <a:off x="4369981" y="3434655"/>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50" name="组合 49"/>
          <p:cNvGrpSpPr/>
          <p:nvPr/>
        </p:nvGrpSpPr>
        <p:grpSpPr>
          <a:xfrm>
            <a:off x="1308448" y="3059668"/>
            <a:ext cx="4130750" cy="369332"/>
            <a:chOff x="1125277" y="5591967"/>
            <a:chExt cx="3747978" cy="369332"/>
          </a:xfrm>
        </p:grpSpPr>
        <p:sp>
          <p:nvSpPr>
            <p:cNvPr id="51" name="Text Box 13"/>
            <p:cNvSpPr txBox="1">
              <a:spLocks noChangeArrowheads="1"/>
            </p:cNvSpPr>
            <p:nvPr/>
          </p:nvSpPr>
          <p:spPr bwMode="auto">
            <a:xfrm>
              <a:off x="2339690" y="5591967"/>
              <a:ext cx="11305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52"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3"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54" name="Text Box 16"/>
          <p:cNvSpPr txBox="1">
            <a:spLocks noChangeArrowheads="1"/>
          </p:cNvSpPr>
          <p:nvPr/>
        </p:nvSpPr>
        <p:spPr bwMode="auto">
          <a:xfrm>
            <a:off x="5819539" y="3318003"/>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55" name="Line 17"/>
          <p:cNvSpPr>
            <a:spLocks noChangeShapeType="1"/>
          </p:cNvSpPr>
          <p:nvPr/>
        </p:nvSpPr>
        <p:spPr bwMode="auto">
          <a:xfrm flipV="1">
            <a:off x="5438539" y="3446590"/>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6" name="Line 18"/>
          <p:cNvSpPr>
            <a:spLocks noChangeShapeType="1"/>
          </p:cNvSpPr>
          <p:nvPr/>
        </p:nvSpPr>
        <p:spPr bwMode="auto">
          <a:xfrm>
            <a:off x="5438539" y="375139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57" name="组合 56"/>
          <p:cNvGrpSpPr/>
          <p:nvPr/>
        </p:nvGrpSpPr>
        <p:grpSpPr>
          <a:xfrm>
            <a:off x="451890" y="4722110"/>
            <a:ext cx="5879798" cy="685800"/>
            <a:chOff x="923260" y="4411128"/>
            <a:chExt cx="3926635" cy="685800"/>
          </a:xfrm>
        </p:grpSpPr>
        <p:sp>
          <p:nvSpPr>
            <p:cNvPr id="58" name="Rectangle 5"/>
            <p:cNvSpPr>
              <a:spLocks noChangeArrowheads="1"/>
            </p:cNvSpPr>
            <p:nvPr/>
          </p:nvSpPr>
          <p:spPr bwMode="auto">
            <a:xfrm>
              <a:off x="1490111" y="4411128"/>
              <a:ext cx="2751493"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Data</a:t>
              </a:r>
            </a:p>
          </p:txBody>
        </p:sp>
        <p:sp>
          <p:nvSpPr>
            <p:cNvPr id="59" name="Rectangle 10"/>
            <p:cNvSpPr>
              <a:spLocks noChangeArrowheads="1"/>
            </p:cNvSpPr>
            <p:nvPr/>
          </p:nvSpPr>
          <p:spPr bwMode="auto">
            <a:xfrm>
              <a:off x="923260" y="4411128"/>
              <a:ext cx="566852"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尾部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60" name="Rectangle 11"/>
            <p:cNvSpPr>
              <a:spLocks noChangeArrowheads="1"/>
            </p:cNvSpPr>
            <p:nvPr/>
          </p:nvSpPr>
          <p:spPr bwMode="auto">
            <a:xfrm>
              <a:off x="4241604" y="4411128"/>
              <a:ext cx="608291"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grpSp>
      <p:grpSp>
        <p:nvGrpSpPr>
          <p:cNvPr id="61" name="组合 60"/>
          <p:cNvGrpSpPr/>
          <p:nvPr/>
        </p:nvGrpSpPr>
        <p:grpSpPr>
          <a:xfrm>
            <a:off x="447494" y="5388495"/>
            <a:ext cx="5841664" cy="369332"/>
            <a:chOff x="1114645" y="5447064"/>
            <a:chExt cx="3126803" cy="369332"/>
          </a:xfrm>
        </p:grpSpPr>
        <p:sp>
          <p:nvSpPr>
            <p:cNvPr id="62" name="Text Box 13"/>
            <p:cNvSpPr txBox="1">
              <a:spLocks noChangeArrowheads="1"/>
            </p:cNvSpPr>
            <p:nvPr/>
          </p:nvSpPr>
          <p:spPr bwMode="auto">
            <a:xfrm>
              <a:off x="2367695" y="5447064"/>
              <a:ext cx="6411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r>
                <a:rPr kumimoji="0" lang="zh-CN" altLang="en-US" sz="1800" dirty="0">
                  <a:solidFill>
                    <a:srgbClr val="000099"/>
                  </a:solidFill>
                  <a:ea typeface="宋体" panose="02010600030101010101" pitchFamily="2" charset="-122"/>
                  <a:cs typeface="Times New Roman" panose="02020603050405020304" pitchFamily="18" charset="0"/>
                </a:rPr>
                <a:t>帧</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63" name="Line 14"/>
            <p:cNvSpPr>
              <a:spLocks noChangeShapeType="1"/>
            </p:cNvSpPr>
            <p:nvPr/>
          </p:nvSpPr>
          <p:spPr bwMode="auto">
            <a:xfrm>
              <a:off x="3287133" y="5660841"/>
              <a:ext cx="954315" cy="84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4" name="Line 15"/>
            <p:cNvSpPr>
              <a:spLocks noChangeShapeType="1"/>
            </p:cNvSpPr>
            <p:nvPr/>
          </p:nvSpPr>
          <p:spPr bwMode="auto">
            <a:xfrm flipH="1">
              <a:off x="1114645" y="5669314"/>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65" name="Text Box 16"/>
          <p:cNvSpPr txBox="1">
            <a:spLocks noChangeArrowheads="1"/>
          </p:cNvSpPr>
          <p:nvPr/>
        </p:nvSpPr>
        <p:spPr bwMode="auto">
          <a:xfrm>
            <a:off x="6781875" y="4649503"/>
            <a:ext cx="19960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MAC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MAC “R5”</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IP</a:t>
            </a:r>
          </a:p>
        </p:txBody>
      </p:sp>
      <p:sp>
        <p:nvSpPr>
          <p:cNvPr id="66" name="Line 17"/>
          <p:cNvSpPr>
            <a:spLocks noChangeShapeType="1"/>
          </p:cNvSpPr>
          <p:nvPr/>
        </p:nvSpPr>
        <p:spPr bwMode="auto">
          <a:xfrm flipV="1">
            <a:off x="6340549" y="4760233"/>
            <a:ext cx="425361" cy="25756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67" name="Line 18"/>
          <p:cNvSpPr>
            <a:spLocks noChangeShapeType="1"/>
          </p:cNvSpPr>
          <p:nvPr/>
        </p:nvSpPr>
        <p:spPr bwMode="auto">
          <a:xfrm>
            <a:off x="6340550" y="5017802"/>
            <a:ext cx="458958" cy="354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7"/>
            <a:ext cx="4360354" cy="2141385"/>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接口层（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接收以太数据帧，判断地址并进行差错校验</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如果正确将</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数据包传给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29" name="Rectangle 5"/>
          <p:cNvSpPr>
            <a:spLocks noChangeArrowheads="1"/>
          </p:cNvSpPr>
          <p:nvPr/>
        </p:nvSpPr>
        <p:spPr bwMode="auto">
          <a:xfrm>
            <a:off x="1192457" y="3619849"/>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sp>
        <p:nvSpPr>
          <p:cNvPr id="30" name="Line 9"/>
          <p:cNvSpPr>
            <a:spLocks noChangeShapeType="1"/>
          </p:cNvSpPr>
          <p:nvPr/>
        </p:nvSpPr>
        <p:spPr bwMode="auto">
          <a:xfrm>
            <a:off x="5323207" y="4209748"/>
            <a:ext cx="0" cy="685800"/>
          </a:xfrm>
          <a:prstGeom prst="line">
            <a:avLst/>
          </a:prstGeom>
          <a:noFill/>
          <a:ln w="9525" cap="rnd">
            <a:solidFill>
              <a:schemeClr val="tx1"/>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1" name="Line 10"/>
          <p:cNvSpPr>
            <a:spLocks noChangeShapeType="1"/>
          </p:cNvSpPr>
          <p:nvPr/>
        </p:nvSpPr>
        <p:spPr bwMode="auto">
          <a:xfrm>
            <a:off x="1187127" y="4209748"/>
            <a:ext cx="0" cy="685800"/>
          </a:xfrm>
          <a:prstGeom prst="line">
            <a:avLst/>
          </a:prstGeom>
          <a:noFill/>
          <a:ln w="9525" cap="rnd">
            <a:solidFill>
              <a:schemeClr val="tx1"/>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2" name="Text Box 11"/>
          <p:cNvSpPr txBox="1">
            <a:spLocks noChangeArrowheads="1"/>
          </p:cNvSpPr>
          <p:nvPr/>
        </p:nvSpPr>
        <p:spPr bwMode="auto">
          <a:xfrm>
            <a:off x="2821927" y="43341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拆封</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33" name="Rectangle 12"/>
          <p:cNvSpPr>
            <a:spLocks noChangeArrowheads="1"/>
          </p:cNvSpPr>
          <p:nvPr/>
        </p:nvSpPr>
        <p:spPr bwMode="auto">
          <a:xfrm>
            <a:off x="4256407" y="3619849"/>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34" name="组合 33"/>
          <p:cNvGrpSpPr/>
          <p:nvPr/>
        </p:nvGrpSpPr>
        <p:grpSpPr>
          <a:xfrm>
            <a:off x="1194874" y="3244862"/>
            <a:ext cx="4130750" cy="369332"/>
            <a:chOff x="1125277" y="5591967"/>
            <a:chExt cx="3747978" cy="369332"/>
          </a:xfrm>
        </p:grpSpPr>
        <p:sp>
          <p:nvSpPr>
            <p:cNvPr id="35" name="Text Box 13"/>
            <p:cNvSpPr txBox="1">
              <a:spLocks noChangeArrowheads="1"/>
            </p:cNvSpPr>
            <p:nvPr/>
          </p:nvSpPr>
          <p:spPr bwMode="auto">
            <a:xfrm>
              <a:off x="2339690" y="5591967"/>
              <a:ext cx="11305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6"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37"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38" name="Text Box 16"/>
          <p:cNvSpPr txBox="1">
            <a:spLocks noChangeArrowheads="1"/>
          </p:cNvSpPr>
          <p:nvPr/>
        </p:nvSpPr>
        <p:spPr bwMode="auto">
          <a:xfrm>
            <a:off x="5705965" y="3503197"/>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39" name="Line 17"/>
          <p:cNvSpPr>
            <a:spLocks noChangeShapeType="1"/>
          </p:cNvSpPr>
          <p:nvPr/>
        </p:nvSpPr>
        <p:spPr bwMode="auto">
          <a:xfrm flipV="1">
            <a:off x="5324965" y="3631784"/>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0" name="Line 18"/>
          <p:cNvSpPr>
            <a:spLocks noChangeShapeType="1"/>
          </p:cNvSpPr>
          <p:nvPr/>
        </p:nvSpPr>
        <p:spPr bwMode="auto">
          <a:xfrm>
            <a:off x="5324965" y="3936584"/>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41" name="组合 40"/>
          <p:cNvGrpSpPr/>
          <p:nvPr/>
        </p:nvGrpSpPr>
        <p:grpSpPr>
          <a:xfrm>
            <a:off x="338316" y="4907304"/>
            <a:ext cx="5879798" cy="685800"/>
            <a:chOff x="923260" y="4411128"/>
            <a:chExt cx="3926635" cy="685800"/>
          </a:xfrm>
        </p:grpSpPr>
        <p:sp>
          <p:nvSpPr>
            <p:cNvPr id="42" name="Rectangle 5"/>
            <p:cNvSpPr>
              <a:spLocks noChangeArrowheads="1"/>
            </p:cNvSpPr>
            <p:nvPr/>
          </p:nvSpPr>
          <p:spPr bwMode="auto">
            <a:xfrm>
              <a:off x="1490111" y="4411128"/>
              <a:ext cx="2751493"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en-US" altLang="zh-CN" sz="1800">
                  <a:solidFill>
                    <a:srgbClr val="000099"/>
                  </a:solidFill>
                  <a:ea typeface="宋体" panose="02010600030101010101" pitchFamily="2" charset="-122"/>
                  <a:cs typeface="Times New Roman" panose="02020603050405020304" pitchFamily="18" charset="0"/>
                </a:rPr>
                <a:t>Data</a:t>
              </a:r>
            </a:p>
          </p:txBody>
        </p:sp>
        <p:sp>
          <p:nvSpPr>
            <p:cNvPr id="43" name="Rectangle 10"/>
            <p:cNvSpPr>
              <a:spLocks noChangeArrowheads="1"/>
            </p:cNvSpPr>
            <p:nvPr/>
          </p:nvSpPr>
          <p:spPr bwMode="auto">
            <a:xfrm>
              <a:off x="923260" y="4411128"/>
              <a:ext cx="566852"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尾部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44" name="Rectangle 11"/>
            <p:cNvSpPr>
              <a:spLocks noChangeArrowheads="1"/>
            </p:cNvSpPr>
            <p:nvPr/>
          </p:nvSpPr>
          <p:spPr bwMode="auto">
            <a:xfrm>
              <a:off x="4241604" y="4411128"/>
              <a:ext cx="608291" cy="6858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grpSp>
      <p:grpSp>
        <p:nvGrpSpPr>
          <p:cNvPr id="45" name="组合 44"/>
          <p:cNvGrpSpPr/>
          <p:nvPr/>
        </p:nvGrpSpPr>
        <p:grpSpPr>
          <a:xfrm>
            <a:off x="333920" y="5573689"/>
            <a:ext cx="5841664" cy="369332"/>
            <a:chOff x="1114645" y="5447064"/>
            <a:chExt cx="3126803" cy="369332"/>
          </a:xfrm>
        </p:grpSpPr>
        <p:sp>
          <p:nvSpPr>
            <p:cNvPr id="46" name="Text Box 13"/>
            <p:cNvSpPr txBox="1">
              <a:spLocks noChangeArrowheads="1"/>
            </p:cNvSpPr>
            <p:nvPr/>
          </p:nvSpPr>
          <p:spPr bwMode="auto">
            <a:xfrm>
              <a:off x="2367695" y="5447064"/>
              <a:ext cx="6411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Ethernet</a:t>
              </a:r>
              <a:r>
                <a:rPr kumimoji="0" lang="zh-CN" altLang="en-US" sz="1800" dirty="0">
                  <a:solidFill>
                    <a:srgbClr val="000099"/>
                  </a:solidFill>
                  <a:ea typeface="宋体" panose="02010600030101010101" pitchFamily="2" charset="-122"/>
                  <a:cs typeface="Times New Roman" panose="02020603050405020304" pitchFamily="18" charset="0"/>
                </a:rPr>
                <a:t>帧</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47" name="Line 14"/>
            <p:cNvSpPr>
              <a:spLocks noChangeShapeType="1"/>
            </p:cNvSpPr>
            <p:nvPr/>
          </p:nvSpPr>
          <p:spPr bwMode="auto">
            <a:xfrm>
              <a:off x="3287133" y="5660841"/>
              <a:ext cx="954315" cy="84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Line 15"/>
            <p:cNvSpPr>
              <a:spLocks noChangeShapeType="1"/>
            </p:cNvSpPr>
            <p:nvPr/>
          </p:nvSpPr>
          <p:spPr bwMode="auto">
            <a:xfrm flipH="1">
              <a:off x="1114645" y="5669314"/>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49" name="Text Box 16"/>
          <p:cNvSpPr txBox="1">
            <a:spLocks noChangeArrowheads="1"/>
          </p:cNvSpPr>
          <p:nvPr/>
        </p:nvSpPr>
        <p:spPr bwMode="auto">
          <a:xfrm>
            <a:off x="6668301" y="4834697"/>
            <a:ext cx="19960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MAC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MAC “R5”</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IP</a:t>
            </a:r>
          </a:p>
        </p:txBody>
      </p:sp>
      <p:sp>
        <p:nvSpPr>
          <p:cNvPr id="50" name="Line 17"/>
          <p:cNvSpPr>
            <a:spLocks noChangeShapeType="1"/>
          </p:cNvSpPr>
          <p:nvPr/>
        </p:nvSpPr>
        <p:spPr bwMode="auto">
          <a:xfrm flipV="1">
            <a:off x="6226975" y="4945427"/>
            <a:ext cx="425361" cy="25756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1" name="Line 18"/>
          <p:cNvSpPr>
            <a:spLocks noChangeShapeType="1"/>
          </p:cNvSpPr>
          <p:nvPr/>
        </p:nvSpPr>
        <p:spPr bwMode="auto">
          <a:xfrm>
            <a:off x="6226976" y="5202996"/>
            <a:ext cx="458958" cy="354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8"/>
            <a:ext cx="4360354" cy="2063450"/>
          </a:xfrm>
        </p:spPr>
        <p:txBody>
          <a:bodyPr>
            <a:no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网络层（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18</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验证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数据包中的目的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数据包取出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段，交付给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4922874" y="617537"/>
            <a:ext cx="4221126" cy="2180312"/>
          </a:xfrm>
          <a:prstGeom prst="rect">
            <a:avLst/>
          </a:prstGeom>
        </p:spPr>
      </p:pic>
      <p:sp>
        <p:nvSpPr>
          <p:cNvPr id="13" name="Rectangle 5"/>
          <p:cNvSpPr>
            <a:spLocks noChangeArrowheads="1"/>
          </p:cNvSpPr>
          <p:nvPr/>
        </p:nvSpPr>
        <p:spPr bwMode="auto">
          <a:xfrm>
            <a:off x="1125277" y="4877622"/>
            <a:ext cx="3063937"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数据</a:t>
            </a:r>
            <a:endParaRPr lang="en-US" altLang="zh-CN" sz="1800" dirty="0">
              <a:solidFill>
                <a:srgbClr val="000099"/>
              </a:solidFill>
              <a:ea typeface="宋体" panose="02010600030101010101" pitchFamily="2" charset="-122"/>
              <a:cs typeface="Times New Roman" panose="02020603050405020304" pitchFamily="18" charset="0"/>
            </a:endParaRPr>
          </a:p>
        </p:txBody>
      </p:sp>
      <p:sp>
        <p:nvSpPr>
          <p:cNvPr id="18" name="Line 9"/>
          <p:cNvSpPr>
            <a:spLocks noChangeShapeType="1"/>
          </p:cNvSpPr>
          <p:nvPr/>
        </p:nvSpPr>
        <p:spPr bwMode="auto">
          <a:xfrm>
            <a:off x="4210493" y="4191822"/>
            <a:ext cx="0" cy="685800"/>
          </a:xfrm>
          <a:prstGeom prst="line">
            <a:avLst/>
          </a:prstGeom>
          <a:noFill/>
          <a:ln w="9525" cap="rnd">
            <a:solidFill>
              <a:schemeClr val="tx1"/>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19" name="Line 10"/>
          <p:cNvSpPr>
            <a:spLocks noChangeShapeType="1"/>
          </p:cNvSpPr>
          <p:nvPr/>
        </p:nvSpPr>
        <p:spPr bwMode="auto">
          <a:xfrm>
            <a:off x="1125278" y="4191822"/>
            <a:ext cx="0" cy="685800"/>
          </a:xfrm>
          <a:prstGeom prst="line">
            <a:avLst/>
          </a:prstGeom>
          <a:noFill/>
          <a:ln w="9525" cap="rnd">
            <a:solidFill>
              <a:schemeClr val="tx1"/>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0" name="Text Box 11"/>
          <p:cNvSpPr txBox="1">
            <a:spLocks noChangeArrowheads="1"/>
          </p:cNvSpPr>
          <p:nvPr/>
        </p:nvSpPr>
        <p:spPr bwMode="auto">
          <a:xfrm>
            <a:off x="2344720" y="431626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800" dirty="0">
                <a:solidFill>
                  <a:srgbClr val="FF0000"/>
                </a:solidFill>
                <a:latin typeface="Arial" panose="020B0604020202020204" pitchFamily="34" charset="0"/>
                <a:ea typeface="宋体" panose="02010600030101010101" pitchFamily="2" charset="-122"/>
                <a:cs typeface="Arial" panose="020B0604020202020204" pitchFamily="34" charset="0"/>
              </a:rPr>
              <a:t>拆封</a:t>
            </a:r>
            <a:endParaRPr kumimoji="0"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21" name="Rectangle 12"/>
          <p:cNvSpPr>
            <a:spLocks noChangeArrowheads="1"/>
          </p:cNvSpPr>
          <p:nvPr/>
        </p:nvSpPr>
        <p:spPr bwMode="auto">
          <a:xfrm>
            <a:off x="4189227" y="4877622"/>
            <a:ext cx="1066800" cy="6096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lang="en-US" altLang="zh-CN" sz="1800" dirty="0">
                <a:solidFill>
                  <a:srgbClr val="000099"/>
                </a:solidFill>
                <a:ea typeface="宋体" panose="02010600030101010101" pitchFamily="2" charset="-122"/>
                <a:cs typeface="Times New Roman" panose="02020603050405020304" pitchFamily="18" charset="0"/>
              </a:rPr>
              <a:t>IP</a:t>
            </a:r>
            <a:r>
              <a:rPr lang="zh-CN" altLang="en-US" sz="1800" dirty="0">
                <a:solidFill>
                  <a:srgbClr val="000099"/>
                </a:solidFill>
                <a:ea typeface="宋体" panose="02010600030101010101" pitchFamily="2" charset="-122"/>
                <a:cs typeface="Times New Roman" panose="02020603050405020304" pitchFamily="18" charset="0"/>
              </a:rPr>
              <a:t>首部</a:t>
            </a:r>
            <a:endParaRPr lang="en-US" altLang="zh-CN" sz="1800" dirty="0">
              <a:solidFill>
                <a:srgbClr val="000099"/>
              </a:solidFill>
              <a:ea typeface="宋体" panose="02010600030101010101" pitchFamily="2" charset="-122"/>
              <a:cs typeface="Times New Roman" panose="02020603050405020304" pitchFamily="18" charset="0"/>
            </a:endParaRPr>
          </a:p>
        </p:txBody>
      </p:sp>
      <p:grpSp>
        <p:nvGrpSpPr>
          <p:cNvPr id="2" name="组合 1"/>
          <p:cNvGrpSpPr/>
          <p:nvPr/>
        </p:nvGrpSpPr>
        <p:grpSpPr>
          <a:xfrm>
            <a:off x="1125277" y="5591967"/>
            <a:ext cx="4130750" cy="369332"/>
            <a:chOff x="1125277" y="5591967"/>
            <a:chExt cx="3747978" cy="369332"/>
          </a:xfrm>
        </p:grpSpPr>
        <p:sp>
          <p:nvSpPr>
            <p:cNvPr id="22" name="Text Box 13"/>
            <p:cNvSpPr txBox="1">
              <a:spLocks noChangeArrowheads="1"/>
            </p:cNvSpPr>
            <p:nvPr/>
          </p:nvSpPr>
          <p:spPr bwMode="auto">
            <a:xfrm>
              <a:off x="2339691" y="5591967"/>
              <a:ext cx="9936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IP</a:t>
              </a:r>
              <a:r>
                <a:rPr kumimoji="0" lang="zh-CN" altLang="en-US" sz="1800" dirty="0">
                  <a:solidFill>
                    <a:srgbClr val="000099"/>
                  </a:solidFill>
                  <a:ea typeface="宋体" panose="02010600030101010101" pitchFamily="2" charset="-122"/>
                  <a:cs typeface="Times New Roman" panose="02020603050405020304" pitchFamily="18" charset="0"/>
                </a:rPr>
                <a:t>数据包</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23" name="Line 14"/>
            <p:cNvSpPr>
              <a:spLocks noChangeShapeType="1"/>
            </p:cNvSpPr>
            <p:nvPr/>
          </p:nvSpPr>
          <p:spPr bwMode="auto">
            <a:xfrm>
              <a:off x="3556591" y="5792022"/>
              <a:ext cx="13166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4" name="Line 15"/>
            <p:cNvSpPr>
              <a:spLocks noChangeShapeType="1"/>
            </p:cNvSpPr>
            <p:nvPr/>
          </p:nvSpPr>
          <p:spPr bwMode="auto">
            <a:xfrm flipH="1">
              <a:off x="1125277" y="5792022"/>
              <a:ext cx="113059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sp>
        <p:nvSpPr>
          <p:cNvPr id="25" name="Text Box 16"/>
          <p:cNvSpPr txBox="1">
            <a:spLocks noChangeArrowheads="1"/>
          </p:cNvSpPr>
          <p:nvPr/>
        </p:nvSpPr>
        <p:spPr bwMode="auto">
          <a:xfrm>
            <a:off x="5638785" y="4760970"/>
            <a:ext cx="1721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目的地址</a:t>
            </a:r>
            <a:r>
              <a:rPr kumimoji="0" lang="en-US" altLang="zh-CN" sz="1600" dirty="0">
                <a:ea typeface="宋体" panose="02010600030101010101" pitchFamily="2" charset="-122"/>
                <a:cs typeface="Times New Roman" panose="02020603050405020304" pitchFamily="18" charset="0"/>
              </a:rPr>
              <a:t>:</a:t>
            </a:r>
            <a:r>
              <a:rPr kumimoji="0" lang="en-US" altLang="zh-CN" sz="1600" b="1" dirty="0">
                <a:solidFill>
                  <a:srgbClr val="FF0000"/>
                </a:solidFill>
                <a:ea typeface="宋体" panose="02010600030101010101" pitchFamily="2" charset="-122"/>
                <a:cs typeface="Times New Roman" panose="02020603050405020304" pitchFamily="18" charset="0"/>
              </a:rPr>
              <a:t> IP “B”</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源地址</a:t>
            </a:r>
            <a:r>
              <a:rPr kumimoji="0" lang="en-US" altLang="zh-CN" sz="1600" dirty="0">
                <a:ea typeface="宋体" panose="02010600030101010101" pitchFamily="2" charset="-122"/>
                <a:cs typeface="Times New Roman" panose="02020603050405020304" pitchFamily="18" charset="0"/>
              </a:rPr>
              <a:t>: </a:t>
            </a:r>
            <a:r>
              <a:rPr kumimoji="0" lang="en-US" altLang="zh-CN" sz="1600" b="1" dirty="0">
                <a:solidFill>
                  <a:srgbClr val="FF0000"/>
                </a:solidFill>
                <a:ea typeface="宋体" panose="02010600030101010101" pitchFamily="2" charset="-122"/>
                <a:cs typeface="Times New Roman" panose="02020603050405020304" pitchFamily="18" charset="0"/>
              </a:rPr>
              <a:t>IP “A”</a:t>
            </a:r>
          </a:p>
          <a:p>
            <a:pPr eaLnBrk="1" hangingPunct="1">
              <a:spcBef>
                <a:spcPct val="0"/>
              </a:spcBef>
              <a:buFontTx/>
              <a:buNone/>
            </a:pPr>
            <a:r>
              <a:rPr kumimoji="0" lang="zh-CN" altLang="en-US" sz="1600" dirty="0">
                <a:ea typeface="宋体" panose="02010600030101010101" pitchFamily="2" charset="-122"/>
                <a:cs typeface="Times New Roman" panose="02020603050405020304" pitchFamily="18" charset="0"/>
              </a:rPr>
              <a:t>协议类型</a:t>
            </a:r>
            <a:r>
              <a:rPr kumimoji="0" lang="en-US" altLang="zh-CN" sz="1600" dirty="0">
                <a:ea typeface="宋体" panose="02010600030101010101" pitchFamily="2" charset="-122"/>
                <a:cs typeface="Times New Roman" panose="02020603050405020304" pitchFamily="18" charset="0"/>
              </a:rPr>
              <a:t> = TCP</a:t>
            </a:r>
          </a:p>
        </p:txBody>
      </p:sp>
      <p:sp>
        <p:nvSpPr>
          <p:cNvPr id="26" name="Line 17"/>
          <p:cNvSpPr>
            <a:spLocks noChangeShapeType="1"/>
          </p:cNvSpPr>
          <p:nvPr/>
        </p:nvSpPr>
        <p:spPr bwMode="auto">
          <a:xfrm flipV="1">
            <a:off x="5257785" y="4889557"/>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7" name="Line 18"/>
          <p:cNvSpPr>
            <a:spLocks noChangeShapeType="1"/>
          </p:cNvSpPr>
          <p:nvPr/>
        </p:nvSpPr>
        <p:spPr bwMode="auto">
          <a:xfrm>
            <a:off x="5257785" y="5194357"/>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grpSp>
        <p:nvGrpSpPr>
          <p:cNvPr id="31" name="组合 30"/>
          <p:cNvGrpSpPr/>
          <p:nvPr/>
        </p:nvGrpSpPr>
        <p:grpSpPr>
          <a:xfrm>
            <a:off x="1125278" y="3150586"/>
            <a:ext cx="3085215" cy="1026949"/>
            <a:chOff x="1295399" y="4016563"/>
            <a:chExt cx="3276601" cy="1242557"/>
          </a:xfrm>
        </p:grpSpPr>
        <p:sp>
          <p:nvSpPr>
            <p:cNvPr id="32" name="Rectangle 4"/>
            <p:cNvSpPr>
              <a:spLocks noChangeArrowheads="1"/>
            </p:cNvSpPr>
            <p:nvPr/>
          </p:nvSpPr>
          <p:spPr bwMode="auto">
            <a:xfrm>
              <a:off x="1295400" y="4497120"/>
              <a:ext cx="2209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数据</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3" name="Rectangle 5"/>
            <p:cNvSpPr>
              <a:spLocks noChangeArrowheads="1"/>
            </p:cNvSpPr>
            <p:nvPr/>
          </p:nvSpPr>
          <p:spPr bwMode="auto">
            <a:xfrm>
              <a:off x="3505200" y="4497120"/>
              <a:ext cx="1066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4" name="Text Box 6"/>
            <p:cNvSpPr txBox="1">
              <a:spLocks noChangeArrowheads="1"/>
            </p:cNvSpPr>
            <p:nvPr/>
          </p:nvSpPr>
          <p:spPr bwMode="auto">
            <a:xfrm>
              <a:off x="2356925" y="4016563"/>
              <a:ext cx="1148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6"/>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 </a:t>
              </a:r>
              <a:r>
                <a:rPr kumimoji="0" lang="zh-CN" altLang="en-US" sz="1800" dirty="0">
                  <a:solidFill>
                    <a:srgbClr val="000099"/>
                  </a:solidFill>
                  <a:ea typeface="宋体" panose="02010600030101010101" pitchFamily="2" charset="-122"/>
                  <a:cs typeface="Times New Roman" panose="02020603050405020304" pitchFamily="18" charset="0"/>
                </a:rPr>
                <a:t>段</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35" name="Line 7"/>
            <p:cNvSpPr>
              <a:spLocks noChangeShapeType="1"/>
            </p:cNvSpPr>
            <p:nvPr/>
          </p:nvSpPr>
          <p:spPr bwMode="auto">
            <a:xfrm>
              <a:off x="3505200" y="4232007"/>
              <a:ext cx="1066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6" name="Line 8"/>
            <p:cNvSpPr>
              <a:spLocks noChangeShapeType="1"/>
            </p:cNvSpPr>
            <p:nvPr/>
          </p:nvSpPr>
          <p:spPr bwMode="auto">
            <a:xfrm flipH="1" flipV="1">
              <a:off x="1295399" y="4232007"/>
              <a:ext cx="10615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3"/>
          <p:cNvSpPr>
            <a:spLocks noGrp="1" noChangeArrowheads="1"/>
          </p:cNvSpPr>
          <p:nvPr>
            <p:ph type="body" sz="half" idx="1"/>
          </p:nvPr>
        </p:nvSpPr>
        <p:spPr>
          <a:xfrm>
            <a:off x="333920" y="998727"/>
            <a:ext cx="4434782" cy="1557384"/>
          </a:xfrm>
        </p:spPr>
        <p:txBody>
          <a:bodyPr>
            <a:normAutofit/>
          </a:bodyPr>
          <a:lstStyle/>
          <a:p>
            <a:pPr marL="446405" indent="-355600">
              <a:lnSpc>
                <a:spcPts val="3500"/>
              </a:lnSpc>
              <a:spcBef>
                <a:spcPts val="6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传输层（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19</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接收连接建立</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Blip>
                <a:blip r:embed="rId4"/>
              </a:buBlip>
              <a:defRP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0805" indent="0">
              <a:lnSpc>
                <a:spcPts val="3500"/>
              </a:lnSpc>
              <a:spcBef>
                <a:spcPts val="600"/>
              </a:spcBef>
              <a:buNone/>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 name="组合 3"/>
          <p:cNvGrpSpPr/>
          <p:nvPr/>
        </p:nvGrpSpPr>
        <p:grpSpPr>
          <a:xfrm>
            <a:off x="1167809" y="2597161"/>
            <a:ext cx="3085215" cy="1026949"/>
            <a:chOff x="1295399" y="4016563"/>
            <a:chExt cx="3276601" cy="1242557"/>
          </a:xfrm>
        </p:grpSpPr>
        <p:sp>
          <p:nvSpPr>
            <p:cNvPr id="99334" name="Rectangle 4"/>
            <p:cNvSpPr>
              <a:spLocks noChangeArrowheads="1"/>
            </p:cNvSpPr>
            <p:nvPr/>
          </p:nvSpPr>
          <p:spPr bwMode="auto">
            <a:xfrm>
              <a:off x="1295400" y="4497120"/>
              <a:ext cx="2209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数据</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99335" name="Rectangle 5"/>
            <p:cNvSpPr>
              <a:spLocks noChangeArrowheads="1"/>
            </p:cNvSpPr>
            <p:nvPr/>
          </p:nvSpPr>
          <p:spPr bwMode="auto">
            <a:xfrm>
              <a:off x="3505200" y="4497120"/>
              <a:ext cx="1066800" cy="762000"/>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a:t>
              </a:r>
            </a:p>
            <a:p>
              <a:pPr algn="ctr" eaLnBrk="1" hangingPunct="1">
                <a:spcBef>
                  <a:spcPct val="0"/>
                </a:spcBef>
                <a:buFontTx/>
                <a:buNone/>
              </a:pPr>
              <a:r>
                <a:rPr kumimoji="0" lang="zh-CN" altLang="en-US" sz="1800" dirty="0">
                  <a:solidFill>
                    <a:srgbClr val="000099"/>
                  </a:solidFill>
                  <a:ea typeface="宋体" panose="02010600030101010101" pitchFamily="2" charset="-122"/>
                  <a:cs typeface="Times New Roman" panose="02020603050405020304" pitchFamily="18" charset="0"/>
                </a:rPr>
                <a:t>首部</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99336" name="Text Box 6"/>
            <p:cNvSpPr txBox="1">
              <a:spLocks noChangeArrowheads="1"/>
            </p:cNvSpPr>
            <p:nvPr/>
          </p:nvSpPr>
          <p:spPr bwMode="auto">
            <a:xfrm>
              <a:off x="2356925" y="4016563"/>
              <a:ext cx="1148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FontTx/>
                <a:buNone/>
              </a:pPr>
              <a:r>
                <a:rPr kumimoji="0" lang="en-US" altLang="zh-CN" sz="1800" dirty="0">
                  <a:solidFill>
                    <a:srgbClr val="000099"/>
                  </a:solidFill>
                  <a:ea typeface="宋体" panose="02010600030101010101" pitchFamily="2" charset="-122"/>
                  <a:cs typeface="Times New Roman" panose="02020603050405020304" pitchFamily="18" charset="0"/>
                </a:rPr>
                <a:t>TCP </a:t>
              </a:r>
              <a:r>
                <a:rPr kumimoji="0" lang="zh-CN" altLang="en-US" sz="1800" dirty="0">
                  <a:solidFill>
                    <a:srgbClr val="000099"/>
                  </a:solidFill>
                  <a:ea typeface="宋体" panose="02010600030101010101" pitchFamily="2" charset="-122"/>
                  <a:cs typeface="Times New Roman" panose="02020603050405020304" pitchFamily="18" charset="0"/>
                </a:rPr>
                <a:t>段</a:t>
              </a:r>
              <a:endParaRPr kumimoji="0" lang="en-US" altLang="zh-CN" sz="1800" dirty="0">
                <a:solidFill>
                  <a:srgbClr val="000099"/>
                </a:solidFill>
                <a:ea typeface="宋体" panose="02010600030101010101" pitchFamily="2" charset="-122"/>
                <a:cs typeface="Times New Roman" panose="02020603050405020304" pitchFamily="18" charset="0"/>
              </a:endParaRPr>
            </a:p>
          </p:txBody>
        </p:sp>
        <p:sp>
          <p:nvSpPr>
            <p:cNvPr id="99337" name="Line 7"/>
            <p:cNvSpPr>
              <a:spLocks noChangeShapeType="1"/>
            </p:cNvSpPr>
            <p:nvPr/>
          </p:nvSpPr>
          <p:spPr bwMode="auto">
            <a:xfrm>
              <a:off x="3505200" y="4232007"/>
              <a:ext cx="1066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9338" name="Line 8"/>
            <p:cNvSpPr>
              <a:spLocks noChangeShapeType="1"/>
            </p:cNvSpPr>
            <p:nvPr/>
          </p:nvSpPr>
          <p:spPr bwMode="auto">
            <a:xfrm flipH="1" flipV="1">
              <a:off x="1295399" y="4232007"/>
              <a:ext cx="10615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15" name="Rectangle 2"/>
          <p:cNvSpPr>
            <a:spLocks noGrp="1" noChangeArrowheads="1"/>
          </p:cNvSpPr>
          <p:nvPr>
            <p:ph type="title"/>
          </p:nvPr>
        </p:nvSpPr>
        <p:spPr>
          <a:xfrm>
            <a:off x="1979613" y="-55564"/>
            <a:ext cx="5125275" cy="673101"/>
          </a:xfrm>
        </p:spPr>
        <p:txBody>
          <a:bodyPr>
            <a:normAutofit/>
          </a:bodyPr>
          <a:lstStyle/>
          <a:p>
            <a:pPr>
              <a:defRPr/>
            </a:pPr>
            <a:r>
              <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1.5 Web</a:t>
            </a:r>
            <a:r>
              <a:rPr lang="zh-CN" altLang="en-US"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服务器访问示例</a:t>
            </a:r>
            <a:endParaRPr lang="en-US" altLang="zh-CN" sz="32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6"/>
          <a:stretch>
            <a:fillRect/>
          </a:stretch>
        </p:blipFill>
        <p:spPr>
          <a:xfrm>
            <a:off x="4922874" y="617537"/>
            <a:ext cx="4221126" cy="2180312"/>
          </a:xfrm>
          <a:prstGeom prst="rect">
            <a:avLst/>
          </a:prstGeom>
        </p:spPr>
      </p:pic>
      <p:sp>
        <p:nvSpPr>
          <p:cNvPr id="13" name="Rectangle 3"/>
          <p:cNvSpPr txBox="1">
            <a:spLocks noChangeArrowheads="1"/>
          </p:cNvSpPr>
          <p:nvPr/>
        </p:nvSpPr>
        <p:spPr>
          <a:xfrm>
            <a:off x="409930" y="4089116"/>
            <a:ext cx="6668665" cy="12058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6405" indent="-355600">
              <a:lnSpc>
                <a:spcPts val="3500"/>
              </a:lnSpc>
              <a:spcBef>
                <a:spcPts val="600"/>
              </a:spcBef>
              <a:buFont typeface="Arial" panose="020B0604020202020204" pitchFamily="34" charset="0"/>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应用编程接口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(API)</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8355" lvl="1" indent="-361950">
              <a:lnSpc>
                <a:spcPts val="3500"/>
              </a:lnSpc>
              <a:spcBef>
                <a:spcPts val="600"/>
              </a:spcBef>
              <a:buFont typeface="Arial" panose="020B0604020202020204" pitchFamily="34" charset="0"/>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主机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接收到主机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连接建立请求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a:xfrm>
            <a:off x="323850" y="620713"/>
            <a:ext cx="8569325" cy="976593"/>
          </a:xfrm>
        </p:spPr>
        <p:txBody>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推荐阅读文章</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836" name="Rectangle 3"/>
          <p:cNvSpPr>
            <a:spLocks noGrp="1" noChangeArrowheads="1"/>
          </p:cNvSpPr>
          <p:nvPr>
            <p:ph type="body" sz="half" idx="1"/>
          </p:nvPr>
        </p:nvSpPr>
        <p:spPr>
          <a:xfrm>
            <a:off x="359568" y="1690507"/>
            <a:ext cx="8424863" cy="3132063"/>
          </a:xfrm>
        </p:spPr>
        <p:txBody>
          <a:bodyPr>
            <a:noAutofit/>
          </a:bodyPr>
          <a:lstStyle/>
          <a:p>
            <a:pPr marL="358775" indent="-358775">
              <a:lnSpc>
                <a:spcPts val="3500"/>
              </a:lnSpc>
              <a:spcBef>
                <a:spcPts val="1200"/>
              </a:spcBef>
              <a:buClr>
                <a:schemeClr val="tx1"/>
              </a:buClr>
              <a:buBlip>
                <a:blip r:embed="rId3"/>
              </a:buBlip>
            </a:pPr>
            <a:r>
              <a:rPr lang="en-US" altLang="zh-CN" sz="2000" dirty="0">
                <a:latin typeface="Arial" panose="020B0604020202020204" pitchFamily="34" charset="0"/>
                <a:cs typeface="Arial" panose="020B0604020202020204" pitchFamily="34" charset="0"/>
              </a:rPr>
              <a:t>Clark, "The Design Philosophy of the DARPA Internet Protocols", Proc. of ACM SIGCOMM '88, 18(4):106-114, Aug. 1988</a:t>
            </a:r>
          </a:p>
          <a:p>
            <a:pPr marL="358775" indent="-358775">
              <a:lnSpc>
                <a:spcPts val="3500"/>
              </a:lnSpc>
              <a:spcBef>
                <a:spcPts val="1200"/>
              </a:spcBef>
              <a:buClr>
                <a:schemeClr val="tx1"/>
              </a:buClr>
              <a:buBlip>
                <a:blip r:embed="rId3"/>
              </a:buBlip>
            </a:pPr>
            <a:r>
              <a:rPr lang="en-US" altLang="zh-CN" sz="2000" dirty="0" err="1">
                <a:latin typeface="Arial" panose="020B0604020202020204" pitchFamily="34" charset="0"/>
                <a:cs typeface="Arial" panose="020B0604020202020204" pitchFamily="34" charset="0"/>
              </a:rPr>
              <a:t>Saltzer</a:t>
            </a:r>
            <a:r>
              <a:rPr lang="en-US" altLang="zh-CN" sz="2000" dirty="0">
                <a:latin typeface="Arial" panose="020B0604020202020204" pitchFamily="34" charset="0"/>
                <a:cs typeface="Arial" panose="020B0604020202020204" pitchFamily="34" charset="0"/>
              </a:rPr>
              <a:t>, Reed, and Clark, "End-to-end Arguments in System Design", ACM Trans. on Computer Systems (TOCS), 2(4):277-288, Nov. 1984</a:t>
            </a:r>
          </a:p>
          <a:p>
            <a:pPr marL="358775" indent="-358775">
              <a:lnSpc>
                <a:spcPts val="3500"/>
              </a:lnSpc>
              <a:spcBef>
                <a:spcPts val="1200"/>
              </a:spcBef>
              <a:buClr>
                <a:schemeClr val="tx1"/>
              </a:buClr>
              <a:buBlip>
                <a:blip r:embed="rId3"/>
              </a:buBlip>
            </a:pPr>
            <a:r>
              <a:rPr lang="en-US" altLang="zh-CN" sz="2000" dirty="0">
                <a:latin typeface="Arial" panose="020B0604020202020204" pitchFamily="34" charset="0"/>
                <a:cs typeface="Arial" panose="020B0604020202020204" pitchFamily="34" charset="0"/>
              </a:rPr>
              <a:t>M. Handley, “Why the Internet Only Just Works”, BT Technology Journal, 24(3):119-129, 2006</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标题 1"/>
          <p:cNvSpPr txBox="1"/>
          <p:nvPr/>
        </p:nvSpPr>
        <p:spPr>
          <a:xfrm>
            <a:off x="661676" y="32661"/>
            <a:ext cx="7817162" cy="51299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zh-CN" altLang="en-US" sz="3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总  结</a:t>
            </a:r>
          </a:p>
        </p:txBody>
      </p:sp>
      <p:sp>
        <p:nvSpPr>
          <p:cNvPr id="33" name="Text Box 3"/>
          <p:cNvSpPr txBox="1">
            <a:spLocks noChangeArrowheads="1"/>
          </p:cNvSpPr>
          <p:nvPr/>
        </p:nvSpPr>
        <p:spPr bwMode="auto">
          <a:xfrm>
            <a:off x="468258" y="1306175"/>
            <a:ext cx="8203997" cy="212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3"/>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4"/>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nSpc>
                <a:spcPts val="3600"/>
              </a:lnSpc>
              <a:spcBef>
                <a:spcPts val="600"/>
              </a:spcBef>
              <a:buClr>
                <a:schemeClr val="tx1"/>
              </a:buClr>
            </a:pPr>
            <a:r>
              <a:rPr lang="zh-CN" altLang="en-US" sz="2400" dirty="0">
                <a:latin typeface="Arial" panose="020B0604020202020204" pitchFamily="34" charset="0"/>
                <a:cs typeface="Arial" panose="020B0604020202020204" pitchFamily="34" charset="0"/>
              </a:rPr>
              <a:t>计算机网络构成及基本概念</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600"/>
              </a:spcBef>
              <a:buClr>
                <a:schemeClr val="tx1"/>
              </a:buClr>
            </a:pPr>
            <a:r>
              <a:rPr lang="en-US" altLang="zh-CN" sz="2400" dirty="0">
                <a:latin typeface="Arial" panose="020B0604020202020204" pitchFamily="34" charset="0"/>
                <a:cs typeface="Arial" panose="020B0604020202020204" pitchFamily="34" charset="0"/>
              </a:rPr>
              <a:t>Internet</a:t>
            </a:r>
            <a:r>
              <a:rPr lang="zh-CN" altLang="en-US" sz="2400" dirty="0">
                <a:latin typeface="Arial" panose="020B0604020202020204" pitchFamily="34" charset="0"/>
                <a:cs typeface="Arial" panose="020B0604020202020204" pitchFamily="34" charset="0"/>
              </a:rPr>
              <a:t>发展历程</a:t>
            </a:r>
            <a:endParaRPr lang="en-US" altLang="zh-CN" sz="2400" dirty="0"/>
          </a:p>
          <a:p>
            <a:pPr>
              <a:lnSpc>
                <a:spcPts val="3600"/>
              </a:lnSpc>
              <a:spcBef>
                <a:spcPts val="600"/>
              </a:spcBef>
              <a:buClr>
                <a:schemeClr val="tx1"/>
              </a:buClr>
            </a:pPr>
            <a:r>
              <a:rPr lang="en-US" altLang="zh-CN" sz="2400" dirty="0">
                <a:latin typeface="Arial" panose="020B0604020202020204" pitchFamily="34" charset="0"/>
                <a:cs typeface="Arial" panose="020B0604020202020204" pitchFamily="34" charset="0"/>
              </a:rPr>
              <a:t>Internet</a:t>
            </a:r>
            <a:r>
              <a:rPr lang="zh-CN" altLang="en-US" sz="2400" dirty="0">
                <a:latin typeface="Arial" panose="020B0604020202020204" pitchFamily="34" charset="0"/>
                <a:cs typeface="Arial" panose="020B0604020202020204" pitchFamily="34" charset="0"/>
              </a:rPr>
              <a:t>的核心与边缘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58140" indent="-358140">
              <a:lnSpc>
                <a:spcPts val="3600"/>
              </a:lnSpc>
              <a:spcBef>
                <a:spcPts val="600"/>
              </a:spcBef>
              <a:buClr>
                <a:srgbClr val="C00000"/>
              </a:buClr>
            </a:pPr>
            <a:r>
              <a:rPr lang="en-US" altLang="zh-CN" sz="2400" dirty="0">
                <a:latin typeface="Arial" panose="020B0604020202020204" pitchFamily="34" charset="0"/>
                <a:cs typeface="Arial" panose="020B0604020202020204" pitchFamily="34" charset="0"/>
              </a:rPr>
              <a:t>TCP/IP</a:t>
            </a:r>
            <a:r>
              <a:rPr lang="zh-CN" altLang="en-US" sz="2400" dirty="0">
                <a:latin typeface="Arial" panose="020B0604020202020204" pitchFamily="34" charset="0"/>
                <a:cs typeface="Arial" panose="020B0604020202020204" pitchFamily="34" charset="0"/>
              </a:rPr>
              <a:t>网络体系结构</a:t>
            </a:r>
            <a:endParaRPr lang="en-US" altLang="zh-CN" sz="239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2"/>
          <p:cNvSpPr txBox="1"/>
          <p:nvPr/>
        </p:nvSpPr>
        <p:spPr>
          <a:xfrm>
            <a:off x="1222860" y="3993265"/>
            <a:ext cx="6709028" cy="10412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chemeClr val="accent5">
                    <a:lumMod val="75000"/>
                  </a:schemeClr>
                </a:solidFill>
                <a:latin typeface="楷体" panose="02010609060101010101" pitchFamily="49" charset="-122"/>
                <a:ea typeface="楷体" panose="02010609060101010101" pitchFamily="49" charset="-122"/>
              </a:rPr>
              <a:t>吴英</a:t>
            </a:r>
            <a:endParaRPr lang="en-US" altLang="zh-CN" sz="2800" dirty="0">
              <a:solidFill>
                <a:schemeClr val="accent5">
                  <a:lumMod val="75000"/>
                </a:schemeClr>
              </a:solidFill>
              <a:latin typeface="楷体" panose="02010609060101010101" pitchFamily="49" charset="-122"/>
              <a:ea typeface="楷体" panose="02010609060101010101" pitchFamily="49" charset="-122"/>
            </a:endParaRPr>
          </a:p>
          <a:p>
            <a:r>
              <a:rPr lang="en-US" altLang="zh-CN" sz="2800" dirty="0">
                <a:solidFill>
                  <a:schemeClr val="accent5">
                    <a:lumMod val="75000"/>
                  </a:schemeClr>
                </a:solidFill>
                <a:latin typeface="Times New Roman" panose="02020603050405020304" pitchFamily="18" charset="0"/>
                <a:ea typeface="楷体" panose="02010609060101010101" pitchFamily="49" charset="-122"/>
                <a:cs typeface="Times New Roman" panose="02020603050405020304" pitchFamily="18" charset="0"/>
              </a:rPr>
              <a:t>wuying@nankai.edu.cn </a:t>
            </a:r>
          </a:p>
          <a:p>
            <a:endParaRPr lang="en-US" altLang="zh-CN" dirty="0">
              <a:solidFill>
                <a:schemeClr val="accent5">
                  <a:lumMod val="75000"/>
                </a:schemeClr>
              </a:solidFill>
              <a:latin typeface="楷体" panose="02010609060101010101" pitchFamily="49" charset="-122"/>
              <a:ea typeface="楷体" panose="02010609060101010101" pitchFamily="49" charset="-122"/>
            </a:endParaRPr>
          </a:p>
        </p:txBody>
      </p:sp>
      <p:sp>
        <p:nvSpPr>
          <p:cNvPr id="2" name="标题 1"/>
          <p:cNvSpPr txBox="1"/>
          <p:nvPr/>
        </p:nvSpPr>
        <p:spPr>
          <a:xfrm rot="10800000" flipH="1" flipV="1">
            <a:off x="1056736" y="1317523"/>
            <a:ext cx="7030527" cy="22909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800"/>
              </a:lnSpc>
              <a:spcBef>
                <a:spcPts val="600"/>
              </a:spcBef>
              <a:spcAft>
                <a:spcPts val="1200"/>
              </a:spcAft>
            </a:pPr>
            <a:r>
              <a:rPr lang="en-US" altLang="zh-CN" sz="6600" b="1" dirty="0">
                <a:latin typeface="Times New Roman" panose="02020603050405020304" pitchFamily="18" charset="0"/>
                <a:ea typeface="楷体" panose="02010609060101010101" pitchFamily="49" charset="-122"/>
                <a:cs typeface="Times New Roman" panose="02020603050405020304" pitchFamily="18" charset="0"/>
              </a:rPr>
              <a:t>Thank You!</a:t>
            </a:r>
            <a:endParaRPr lang="en-US" altLang="zh-CN" sz="48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112</TotalTime>
  <Words>4184</Words>
  <Application>Microsoft Office PowerPoint</Application>
  <PresentationFormat>全屏显示(4:3)</PresentationFormat>
  <Paragraphs>1049</Paragraphs>
  <Slides>76</Slides>
  <Notes>76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76</vt:i4>
      </vt:variant>
    </vt:vector>
  </HeadingPairs>
  <TitlesOfParts>
    <vt:vector size="93" baseType="lpstr">
      <vt:lpstr>Arial Unicode MS</vt:lpstr>
      <vt:lpstr>等线</vt:lpstr>
      <vt:lpstr>黑体</vt:lpstr>
      <vt:lpstr>楷体</vt:lpstr>
      <vt:lpstr>宋体</vt:lpstr>
      <vt:lpstr>微软雅黑</vt:lpstr>
      <vt:lpstr>Arial</vt:lpstr>
      <vt:lpstr>Calibri</vt:lpstr>
      <vt:lpstr>Calibri Light</vt:lpstr>
      <vt:lpstr>Cambria Math</vt:lpstr>
      <vt:lpstr>Comic Sans MS</vt:lpstr>
      <vt:lpstr>Gill Sans MT</vt:lpstr>
      <vt:lpstr>Symbol</vt:lpstr>
      <vt:lpstr>Times New Roman</vt:lpstr>
      <vt:lpstr>Wingdings</vt:lpstr>
      <vt:lpstr>Office 主题​​</vt:lpstr>
      <vt:lpstr>Clip</vt:lpstr>
      <vt:lpstr>计算机网络 第1章 概论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网络核心：互联大量的异构网络</vt:lpstr>
      <vt:lpstr>网络核心</vt:lpstr>
      <vt:lpstr>网络核心：简单的路由器模型</vt:lpstr>
      <vt:lpstr>网络核心：比较电路交换</vt:lpstr>
      <vt:lpstr>网络核心：比较电路交换</vt:lpstr>
      <vt:lpstr>网络核心：比较电路交换</vt:lpstr>
      <vt:lpstr>网络核心：比较电路交换</vt:lpstr>
      <vt:lpstr>网络核心：报文分组交换</vt:lpstr>
      <vt:lpstr>网络核心：报文分组交换</vt:lpstr>
      <vt:lpstr>网络核心：报文分组交换</vt:lpstr>
      <vt:lpstr>网络核心：报文分组交换</vt:lpstr>
      <vt:lpstr>网络核心：报文分组交换</vt:lpstr>
      <vt:lpstr>网络核心：报文分组交换</vt:lpstr>
      <vt:lpstr>网络核心：报文分组交换</vt:lpstr>
      <vt:lpstr>网络核心：报文分组交换</vt:lpstr>
      <vt:lpstr>网络核心：传输时延</vt:lpstr>
      <vt:lpstr>网络核心：传输时延</vt:lpstr>
      <vt:lpstr>网络核心：传输时延</vt:lpstr>
      <vt:lpstr>网络核心：传输时延</vt:lpstr>
      <vt:lpstr>网络核心：传输时延</vt:lpstr>
      <vt:lpstr>网络核心：传输时延</vt:lpstr>
      <vt:lpstr>网络核心：传输时延</vt:lpstr>
      <vt:lpstr>网络边缘：各式各样的“主机”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ISO/OSI参考模型与TCP/IP体系结构</vt:lpstr>
      <vt:lpstr>TCP/IP体系结构</vt:lpstr>
      <vt:lpstr>TCP/IP协议集</vt:lpstr>
      <vt:lpstr>网络协议需要规定什么？</vt:lpstr>
      <vt:lpstr>PowerPoint 演示文稿</vt:lpstr>
      <vt:lpstr>TCP/IP协议栈实现</vt:lpstr>
      <vt:lpstr>1.5 Web服务器访问示例</vt:lpstr>
      <vt:lpstr>1.5 Web服务器访问示例</vt:lpstr>
      <vt:lpstr>1.5 Web服务器访问示例</vt:lpstr>
      <vt:lpstr>1.5 Web服务器访问示例</vt:lpstr>
      <vt:lpstr>1.5 Web服务器访问示例</vt:lpstr>
      <vt:lpstr>1.5 Web服务器访问示例</vt:lpstr>
      <vt:lpstr>1.5 Web服务器访问示例</vt:lpstr>
      <vt:lpstr>1.5 Web服务器访问示例</vt:lpstr>
      <vt:lpstr>1.5 Web服务器访问示例</vt:lpstr>
      <vt:lpstr>1.5 Web服务器访问示例</vt:lpstr>
      <vt:lpstr>1.5 Web服务器访问示例</vt:lpstr>
      <vt:lpstr>推荐阅读文章</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dc:creator>
  <cp:lastModifiedBy>吴英</cp:lastModifiedBy>
  <cp:revision>976</cp:revision>
  <cp:lastPrinted>2019-09-14T11:00:00Z</cp:lastPrinted>
  <dcterms:created xsi:type="dcterms:W3CDTF">2019-06-10T02:39:00Z</dcterms:created>
  <dcterms:modified xsi:type="dcterms:W3CDTF">2025-09-16T09:36:32Z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EE2AD17A88634FD99DCFCBF9717702F7_12</vt:lpwstr>
  </property>
  <property fmtid="{D5CDD505-2E9C-101B-9397-08002B2CF9AE}" pid="3" name="KSOProductBuildVer">
    <vt:lpwstr>2052-12.1.0.21541</vt:lpwstr>
  </property>
</Properties>
</file>