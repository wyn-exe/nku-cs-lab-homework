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3"/>
  </p:notesMasterIdLst>
  <p:sldIdLst>
    <p:sldId id="836" r:id="rId2"/>
    <p:sldId id="1206" r:id="rId3"/>
    <p:sldId id="1338" r:id="rId4"/>
    <p:sldId id="1339" r:id="rId5"/>
    <p:sldId id="1341" r:id="rId6"/>
    <p:sldId id="1340" r:id="rId7"/>
    <p:sldId id="1423" r:id="rId8"/>
    <p:sldId id="1344" r:id="rId9"/>
    <p:sldId id="1345" r:id="rId10"/>
    <p:sldId id="1351" r:id="rId11"/>
    <p:sldId id="445" r:id="rId12"/>
    <p:sldId id="1352" r:id="rId13"/>
    <p:sldId id="1354" r:id="rId14"/>
    <p:sldId id="1225" r:id="rId15"/>
    <p:sldId id="1233" r:id="rId16"/>
    <p:sldId id="1424" r:id="rId17"/>
    <p:sldId id="1425" r:id="rId18"/>
    <p:sldId id="1426" r:id="rId19"/>
    <p:sldId id="1429" r:id="rId20"/>
    <p:sldId id="1427" r:id="rId21"/>
    <p:sldId id="1428" r:id="rId22"/>
    <p:sldId id="1430" r:id="rId23"/>
    <p:sldId id="1431" r:id="rId24"/>
    <p:sldId id="1432" r:id="rId25"/>
    <p:sldId id="1433" r:id="rId26"/>
    <p:sldId id="1434" r:id="rId27"/>
    <p:sldId id="1435" r:id="rId28"/>
    <p:sldId id="1436" r:id="rId29"/>
    <p:sldId id="1437" r:id="rId30"/>
    <p:sldId id="1439" r:id="rId31"/>
    <p:sldId id="1440" r:id="rId32"/>
    <p:sldId id="1442" r:id="rId33"/>
    <p:sldId id="1438" r:id="rId34"/>
    <p:sldId id="1443" r:id="rId35"/>
    <p:sldId id="1444" r:id="rId36"/>
    <p:sldId id="1445" r:id="rId37"/>
    <p:sldId id="1446" r:id="rId38"/>
    <p:sldId id="1447" r:id="rId39"/>
    <p:sldId id="1448" r:id="rId40"/>
    <p:sldId id="1449" r:id="rId41"/>
    <p:sldId id="1450" r:id="rId42"/>
    <p:sldId id="1451" r:id="rId43"/>
    <p:sldId id="1452" r:id="rId44"/>
    <p:sldId id="1453" r:id="rId45"/>
    <p:sldId id="1355" r:id="rId46"/>
    <p:sldId id="1455" r:id="rId47"/>
    <p:sldId id="1356" r:id="rId48"/>
    <p:sldId id="1357" r:id="rId49"/>
    <p:sldId id="468" r:id="rId50"/>
    <p:sldId id="1422" r:id="rId51"/>
    <p:sldId id="1370" r:id="rId52"/>
    <p:sldId id="1387" r:id="rId53"/>
    <p:sldId id="1372" r:id="rId54"/>
    <p:sldId id="1373" r:id="rId55"/>
    <p:sldId id="1375" r:id="rId56"/>
    <p:sldId id="1376" r:id="rId57"/>
    <p:sldId id="1378" r:id="rId58"/>
    <p:sldId id="1379" r:id="rId59"/>
    <p:sldId id="1380" r:id="rId60"/>
    <p:sldId id="1390" r:id="rId61"/>
    <p:sldId id="1388" r:id="rId62"/>
    <p:sldId id="1389" r:id="rId63"/>
    <p:sldId id="1391" r:id="rId64"/>
    <p:sldId id="1413" r:id="rId65"/>
    <p:sldId id="1412" r:id="rId66"/>
    <p:sldId id="1456" r:id="rId67"/>
    <p:sldId id="1457" r:id="rId68"/>
    <p:sldId id="1458" r:id="rId69"/>
    <p:sldId id="1404" r:id="rId70"/>
    <p:sldId id="1401" r:id="rId71"/>
    <p:sldId id="1402" r:id="rId72"/>
    <p:sldId id="1369" r:id="rId73"/>
    <p:sldId id="490" r:id="rId74"/>
    <p:sldId id="1407" r:id="rId75"/>
    <p:sldId id="1408" r:id="rId76"/>
    <p:sldId id="1304" r:id="rId77"/>
    <p:sldId id="1305" r:id="rId78"/>
    <p:sldId id="1411" r:id="rId79"/>
    <p:sldId id="1460" r:id="rId80"/>
    <p:sldId id="1461" r:id="rId81"/>
    <p:sldId id="1315" r:id="rId82"/>
    <p:sldId id="1463" r:id="rId83"/>
    <p:sldId id="1415" r:id="rId84"/>
    <p:sldId id="1417" r:id="rId85"/>
    <p:sldId id="1465" r:id="rId86"/>
    <p:sldId id="1464" r:id="rId87"/>
    <p:sldId id="1466" r:id="rId88"/>
    <p:sldId id="1467" r:id="rId89"/>
    <p:sldId id="338" r:id="rId90"/>
    <p:sldId id="340" r:id="rId91"/>
    <p:sldId id="1468" r:id="rId92"/>
    <p:sldId id="1325" r:id="rId93"/>
    <p:sldId id="1469" r:id="rId94"/>
    <p:sldId id="1470" r:id="rId95"/>
    <p:sldId id="1471" r:id="rId96"/>
    <p:sldId id="1472" r:id="rId97"/>
    <p:sldId id="1473" r:id="rId98"/>
    <p:sldId id="1474" r:id="rId99"/>
    <p:sldId id="1476" r:id="rId100"/>
    <p:sldId id="1477" r:id="rId101"/>
    <p:sldId id="1478" r:id="rId102"/>
    <p:sldId id="1479" r:id="rId103"/>
    <p:sldId id="1480" r:id="rId104"/>
    <p:sldId id="1481" r:id="rId105"/>
    <p:sldId id="1492" r:id="rId106"/>
    <p:sldId id="1482" r:id="rId107"/>
    <p:sldId id="1493" r:id="rId108"/>
    <p:sldId id="1494" r:id="rId109"/>
    <p:sldId id="1483" r:id="rId110"/>
    <p:sldId id="1484" r:id="rId111"/>
    <p:sldId id="1770" r:id="rId1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0C6E"/>
    <a:srgbClr val="2A09B7"/>
    <a:srgbClr val="2618A8"/>
    <a:srgbClr val="02A5EE"/>
    <a:srgbClr val="DFD1E1"/>
    <a:srgbClr val="CBB5CF"/>
    <a:srgbClr val="49702E"/>
    <a:srgbClr val="7F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90" autoAdjust="0"/>
    <p:restoredTop sz="85714" autoAdjust="0"/>
  </p:normalViewPr>
  <p:slideViewPr>
    <p:cSldViewPr snapToGrid="0">
      <p:cViewPr varScale="1">
        <p:scale>
          <a:sx n="104" d="100"/>
          <a:sy n="104" d="100"/>
        </p:scale>
        <p:origin x="11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06BB4-2C65-4E2B-839D-4CED5A4305D5}"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75FF09-559A-413E-B23E-0DFCD03CDBD8}" type="slidenum">
              <a:rPr lang="zh-CN" altLang="en-US" smtClean="0"/>
              <a:t>‹#›</a:t>
            </a:fld>
            <a:endParaRPr lang="zh-CN" altLang="en-US"/>
          </a:p>
        </p:txBody>
      </p:sp>
    </p:spTree>
    <p:extLst>
      <p:ext uri="{BB962C8B-B14F-4D97-AF65-F5344CB8AC3E}">
        <p14:creationId xmlns:p14="http://schemas.microsoft.com/office/powerpoint/2010/main" val="298334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5C0E898E-1401-4DDB-B865-CE6AAD04AEFC}" type="slidenum">
              <a:rPr lang="en-US" altLang="zh-CN" smtClean="0"/>
              <a:pPr/>
              <a:t>1</a:t>
            </a:fld>
            <a:endParaRPr lang="en-US" altLang="zh-CN"/>
          </a:p>
        </p:txBody>
      </p:sp>
      <p:sp>
        <p:nvSpPr>
          <p:cNvPr id="189443" name="Rectangle 2"/>
          <p:cNvSpPr>
            <a:spLocks noGrp="1" noRot="1" noChangeAspect="1" noChangeArrowheads="1" noTextEdit="1"/>
          </p:cNvSpPr>
          <p:nvPr>
            <p:ph type="sldImg"/>
          </p:nvPr>
        </p:nvSpPr>
        <p:spPr>
          <a:xfrm>
            <a:off x="992188" y="768350"/>
            <a:ext cx="5114925" cy="3836988"/>
          </a:xfrm>
          <a:ln/>
        </p:spPr>
      </p:sp>
      <p:sp>
        <p:nvSpPr>
          <p:cNvPr id="189444" name="Rectangle 3"/>
          <p:cNvSpPr>
            <a:spLocks noGrp="1" noChangeArrowheads="1"/>
          </p:cNvSpPr>
          <p:nvPr>
            <p:ph type="body" idx="1"/>
          </p:nvPr>
        </p:nvSpPr>
        <p:spPr>
          <a:noFill/>
          <a:ln/>
        </p:spPr>
        <p:txBody>
          <a:bodyPr/>
          <a:lstStyle/>
          <a:p>
            <a:pPr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a:t>
            </a:fld>
            <a:endParaRPr lang="zh-CN" altLang="en-US"/>
          </a:p>
        </p:txBody>
      </p:sp>
    </p:spTree>
    <p:extLst>
      <p:ext uri="{BB962C8B-B14F-4D97-AF65-F5344CB8AC3E}">
        <p14:creationId xmlns:p14="http://schemas.microsoft.com/office/powerpoint/2010/main" val="2340808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3</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IP</a:t>
            </a:r>
            <a:r>
              <a:rPr lang="zh-CN" altLang="en-US" dirty="0"/>
              <a:t>层提供的“尽力而为”服务相当于普通信件，邮局不告诉发信人对方是否收到信件</a:t>
            </a:r>
            <a:endParaRPr lang="en-US" altLang="zh-CN" dirty="0"/>
          </a:p>
          <a:p>
            <a:pPr eaLnBrk="1" hangingPunct="1"/>
            <a:r>
              <a:rPr lang="zh-CN" altLang="en-US" dirty="0"/>
              <a:t>为了保证数据传输可靠，需要让发送方知道数据是否发到目的地</a:t>
            </a:r>
            <a:endParaRPr lang="zh-CN" altLang="zh-CN" dirty="0"/>
          </a:p>
        </p:txBody>
      </p:sp>
    </p:spTree>
    <p:extLst>
      <p:ext uri="{BB962C8B-B14F-4D97-AF65-F5344CB8AC3E}">
        <p14:creationId xmlns:p14="http://schemas.microsoft.com/office/powerpoint/2010/main" val="190152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4</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587208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D578E2B-A8B9-405F-B909-5B6F638F3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pPr>
                <a:spcBef>
                  <a:spcPct val="0"/>
                </a:spcBef>
              </a:pPr>
              <a:t>5</a:t>
            </a:fld>
            <a:endParaRPr lang="en-US" altLang="zh-CN" sz="1300"/>
          </a:p>
        </p:txBody>
      </p:sp>
      <p:sp>
        <p:nvSpPr>
          <p:cNvPr id="83971" name="Rectangle 2">
            <a:extLst>
              <a:ext uri="{FF2B5EF4-FFF2-40B4-BE49-F238E27FC236}">
                <a16:creationId xmlns:a16="http://schemas.microsoft.com/office/drawing/2014/main" id="{61C35D61-7983-4A6F-8D87-4C24D8CD8256}"/>
              </a:ext>
            </a:extLst>
          </p:cNvPr>
          <p:cNvSpPr>
            <a:spLocks noGrp="1" noRot="1" noChangeAspect="1" noChangeArrowheads="1" noTextEdit="1"/>
          </p:cNvSpPr>
          <p:nvPr>
            <p:ph type="sldImg"/>
          </p:nvPr>
        </p:nvSpPr>
        <p:spPr>
          <a:xfrm>
            <a:off x="992188" y="768350"/>
            <a:ext cx="5114925" cy="3836988"/>
          </a:xfrm>
          <a:ln/>
        </p:spPr>
      </p:sp>
      <p:sp>
        <p:nvSpPr>
          <p:cNvPr id="83972" name="Rectangle 3">
            <a:extLst>
              <a:ext uri="{FF2B5EF4-FFF2-40B4-BE49-F238E27FC236}">
                <a16:creationId xmlns:a16="http://schemas.microsoft.com/office/drawing/2014/main" id="{250F48A7-728A-4636-A0D3-31264386DE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可靠协议：功能复杂，需要付出处理代价</a:t>
            </a:r>
            <a:endParaRPr lang="en-US" altLang="zh-CN" dirty="0"/>
          </a:p>
          <a:p>
            <a:pPr eaLnBrk="1" hangingPunct="1"/>
            <a:r>
              <a:rPr lang="zh-CN" altLang="en-US" dirty="0"/>
              <a:t>不可靠协议：功能简单，开销小，速度快，需要应用层按需实现可靠保证</a:t>
            </a:r>
            <a:endParaRPr lang="zh-CN" altLang="zh-CN" dirty="0"/>
          </a:p>
        </p:txBody>
      </p:sp>
    </p:spTree>
    <p:extLst>
      <p:ext uri="{BB962C8B-B14F-4D97-AF65-F5344CB8AC3E}">
        <p14:creationId xmlns:p14="http://schemas.microsoft.com/office/powerpoint/2010/main" val="4038741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6</a:t>
            </a:fld>
            <a:endParaRPr lang="zh-CN" altLang="en-US"/>
          </a:p>
        </p:txBody>
      </p:sp>
    </p:spTree>
    <p:extLst>
      <p:ext uri="{BB962C8B-B14F-4D97-AF65-F5344CB8AC3E}">
        <p14:creationId xmlns:p14="http://schemas.microsoft.com/office/powerpoint/2010/main" val="103512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7</a:t>
            </a:fld>
            <a:endParaRPr lang="zh-CN" altLang="en-US"/>
          </a:p>
        </p:txBody>
      </p:sp>
    </p:spTree>
    <p:extLst>
      <p:ext uri="{BB962C8B-B14F-4D97-AF65-F5344CB8AC3E}">
        <p14:creationId xmlns:p14="http://schemas.microsoft.com/office/powerpoint/2010/main" val="410592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a:t>
            </a:fld>
            <a:endParaRPr lang="zh-CN" altLang="en-US"/>
          </a:p>
        </p:txBody>
      </p:sp>
    </p:spTree>
    <p:extLst>
      <p:ext uri="{BB962C8B-B14F-4D97-AF65-F5344CB8AC3E}">
        <p14:creationId xmlns:p14="http://schemas.microsoft.com/office/powerpoint/2010/main" val="1022019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UDP</a:t>
            </a:r>
            <a:r>
              <a:rPr lang="zh-CN" altLang="en-US" b="0" i="0" dirty="0">
                <a:solidFill>
                  <a:srgbClr val="333333"/>
                </a:solidFill>
                <a:effectLst/>
                <a:latin typeface="PingFang SC"/>
              </a:rPr>
              <a:t>作为一种端到端协议，仅用端口号不足以唯一标识分布式进程，校验和覆盖伪首部（源</a:t>
            </a:r>
            <a:r>
              <a:rPr lang="en-US" altLang="zh-CN" b="0" i="0" dirty="0">
                <a:solidFill>
                  <a:srgbClr val="333333"/>
                </a:solidFill>
                <a:effectLst/>
                <a:latin typeface="PingFang SC"/>
              </a:rPr>
              <a:t>IP</a:t>
            </a:r>
            <a:r>
              <a:rPr lang="zh-CN" altLang="en-US" b="0" i="0" dirty="0">
                <a:solidFill>
                  <a:srgbClr val="333333"/>
                </a:solidFill>
                <a:effectLst/>
                <a:latin typeface="PingFang SC"/>
              </a:rPr>
              <a:t>地址、目的</a:t>
            </a:r>
            <a:r>
              <a:rPr lang="en-US" altLang="zh-CN" b="0" i="0" dirty="0">
                <a:solidFill>
                  <a:srgbClr val="333333"/>
                </a:solidFill>
                <a:effectLst/>
                <a:latin typeface="PingFang SC"/>
              </a:rPr>
              <a:t>IP</a:t>
            </a:r>
            <a:r>
              <a:rPr lang="zh-CN" altLang="en-US" b="0" i="0" dirty="0">
                <a:solidFill>
                  <a:srgbClr val="333333"/>
                </a:solidFill>
                <a:effectLst/>
                <a:latin typeface="PingFang SC"/>
              </a:rPr>
              <a:t>地址、协议类型、传输层报文长度等），确保传输层报文正确到达‌</a:t>
            </a:r>
            <a:endParaRPr lang="en-US" altLang="zh-CN"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9</a:t>
            </a:fld>
            <a:endParaRPr lang="zh-CN" altLang="en-US"/>
          </a:p>
        </p:txBody>
      </p:sp>
    </p:spTree>
    <p:extLst>
      <p:ext uri="{BB962C8B-B14F-4D97-AF65-F5344CB8AC3E}">
        <p14:creationId xmlns:p14="http://schemas.microsoft.com/office/powerpoint/2010/main" val="3333698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二进制反码求和本质是带进位的逐位相加，最高位的进位循环加至最低位‌</a:t>
            </a:r>
            <a:endParaRPr lang="en-US" altLang="zh-CN" b="0" i="0" dirty="0">
              <a:solidFill>
                <a:srgbClr val="333333"/>
              </a:solidFill>
              <a:effectLst/>
              <a:latin typeface="PingFang SC"/>
            </a:endParaRPr>
          </a:p>
          <a:p>
            <a:r>
              <a:rPr lang="zh-CN" altLang="en-US" b="0" i="0" dirty="0">
                <a:solidFill>
                  <a:srgbClr val="333333"/>
                </a:solidFill>
                <a:effectLst/>
                <a:latin typeface="PingFang SC"/>
              </a:rPr>
              <a:t>采用二进制反码求和的原因：与字节序无关‌，反码求和过程不受大端</a:t>
            </a:r>
            <a:r>
              <a:rPr lang="en-US" altLang="zh-CN" b="0" i="0" dirty="0">
                <a:solidFill>
                  <a:srgbClr val="333333"/>
                </a:solidFill>
                <a:effectLst/>
                <a:latin typeface="PingFang SC"/>
              </a:rPr>
              <a:t>/</a:t>
            </a:r>
            <a:r>
              <a:rPr lang="zh-CN" altLang="en-US" b="0" i="0" dirty="0">
                <a:solidFill>
                  <a:srgbClr val="333333"/>
                </a:solidFill>
                <a:effectLst/>
                <a:latin typeface="PingFang SC"/>
              </a:rPr>
              <a:t>小端模式影响‌；高效检测数据在传输中的位翻转、插入</a:t>
            </a:r>
            <a:r>
              <a:rPr lang="en-US" altLang="zh-CN" b="0" i="0" dirty="0">
                <a:solidFill>
                  <a:srgbClr val="333333"/>
                </a:solidFill>
                <a:effectLst/>
                <a:latin typeface="PingFang SC"/>
              </a:rPr>
              <a:t>/</a:t>
            </a:r>
            <a:r>
              <a:rPr lang="zh-CN" altLang="en-US" b="0" i="0" dirty="0">
                <a:solidFill>
                  <a:srgbClr val="333333"/>
                </a:solidFill>
                <a:effectLst/>
                <a:latin typeface="PingFang SC"/>
              </a:rPr>
              <a:t>删除错误‌；</a:t>
            </a:r>
            <a:r>
              <a:rPr lang="en-US" altLang="zh-CN" b="0" i="0" dirty="0">
                <a:solidFill>
                  <a:srgbClr val="333333"/>
                </a:solidFill>
                <a:effectLst/>
                <a:latin typeface="PingFang SC"/>
              </a:rPr>
              <a:t>16</a:t>
            </a:r>
            <a:r>
              <a:rPr lang="zh-CN" altLang="en-US" b="0" i="0" dirty="0">
                <a:solidFill>
                  <a:srgbClr val="333333"/>
                </a:solidFill>
                <a:effectLst/>
                <a:latin typeface="PingFang SC"/>
              </a:rPr>
              <a:t>位字长平衡计算复杂性和错误检测能力，硬件实现时可利用</a:t>
            </a:r>
            <a:r>
              <a:rPr lang="en-US" altLang="zh-CN" b="0" i="0" dirty="0">
                <a:solidFill>
                  <a:srgbClr val="333333"/>
                </a:solidFill>
                <a:effectLst/>
                <a:latin typeface="PingFang SC"/>
              </a:rPr>
              <a:t>CPU</a:t>
            </a:r>
            <a:r>
              <a:rPr lang="zh-CN" altLang="en-US" b="0" i="0" dirty="0">
                <a:solidFill>
                  <a:srgbClr val="333333"/>
                </a:solidFill>
                <a:effectLst/>
                <a:latin typeface="PingFang SC"/>
              </a:rPr>
              <a:t>的</a:t>
            </a:r>
            <a:r>
              <a:rPr lang="en-US" altLang="zh-CN" b="0" i="0" dirty="0">
                <a:solidFill>
                  <a:srgbClr val="333333"/>
                </a:solidFill>
                <a:effectLst/>
                <a:latin typeface="PingFang SC"/>
              </a:rPr>
              <a:t>16</a:t>
            </a:r>
            <a:r>
              <a:rPr lang="zh-CN" altLang="en-US" b="0" i="0" dirty="0">
                <a:solidFill>
                  <a:srgbClr val="333333"/>
                </a:solidFill>
                <a:effectLst/>
                <a:latin typeface="PingFang SC"/>
              </a:rPr>
              <a:t>位寄存器优化性能；反码求和通过循环进位简化溢出处理‌</a:t>
            </a:r>
            <a:br>
              <a:rPr lang="zh-CN" altLang="en-US" b="0" i="0" dirty="0">
                <a:solidFill>
                  <a:srgbClr val="333333"/>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10</a:t>
            </a:fld>
            <a:endParaRPr lang="zh-CN" altLang="en-US"/>
          </a:p>
        </p:txBody>
      </p:sp>
    </p:spTree>
    <p:extLst>
      <p:ext uri="{BB962C8B-B14F-4D97-AF65-F5344CB8AC3E}">
        <p14:creationId xmlns:p14="http://schemas.microsoft.com/office/powerpoint/2010/main" val="137269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F4D95709-A6D3-4E2D-9B34-F48389212D8B}"/>
              </a:ext>
            </a:extLst>
          </p:cNvPr>
          <p:cNvSpPr>
            <a:spLocks noGrp="1" noChangeArrowheads="1"/>
          </p:cNvSpPr>
          <p:nvPr>
            <p:ph type="sldNum" sz="quarter" idx="5"/>
          </p:nvPr>
        </p:nvSpPr>
        <p:spPr>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defTabSz="933450">
              <a:defRPr sz="1600">
                <a:solidFill>
                  <a:schemeClr val="tx1"/>
                </a:solidFill>
                <a:latin typeface="Tahoma" panose="020B0604030504040204" pitchFamily="34" charset="0"/>
                <a:ea typeface="MS PGothic" panose="020B0600070205080204" pitchFamily="34" charset="-128"/>
              </a:defRPr>
            </a:lvl1pPr>
            <a:lvl2pPr marL="742950" indent="-285750" defTabSz="933450">
              <a:defRPr sz="1600">
                <a:solidFill>
                  <a:schemeClr val="tx1"/>
                </a:solidFill>
                <a:latin typeface="Tahoma" panose="020B0604030504040204" pitchFamily="34" charset="0"/>
                <a:ea typeface="MS PGothic" panose="020B0600070205080204" pitchFamily="34" charset="-128"/>
              </a:defRPr>
            </a:lvl2pPr>
            <a:lvl3pPr marL="1143000" indent="-228600" defTabSz="933450">
              <a:defRPr sz="1600">
                <a:solidFill>
                  <a:schemeClr val="tx1"/>
                </a:solidFill>
                <a:latin typeface="Tahoma" panose="020B0604030504040204" pitchFamily="34" charset="0"/>
                <a:ea typeface="MS PGothic" panose="020B0600070205080204" pitchFamily="34" charset="-128"/>
              </a:defRPr>
            </a:lvl3pPr>
            <a:lvl4pPr marL="1600200" indent="-228600" defTabSz="933450">
              <a:defRPr sz="1600">
                <a:solidFill>
                  <a:schemeClr val="tx1"/>
                </a:solidFill>
                <a:latin typeface="Tahoma" panose="020B0604030504040204" pitchFamily="34" charset="0"/>
                <a:ea typeface="MS PGothic" panose="020B0600070205080204" pitchFamily="34" charset="-128"/>
              </a:defRPr>
            </a:lvl4pPr>
            <a:lvl5pPr marL="2057400" indent="-228600" defTabSz="933450">
              <a:defRPr sz="1600">
                <a:solidFill>
                  <a:schemeClr val="tx1"/>
                </a:solidFill>
                <a:latin typeface="Tahoma" panose="020B0604030504040204" pitchFamily="34" charset="0"/>
                <a:ea typeface="MS PGothic" panose="020B0600070205080204" pitchFamily="34" charset="-128"/>
              </a:defRPr>
            </a:lvl5pPr>
            <a:lvl6pPr marL="2514600" indent="-228600" algn="ctr" defTabSz="933450"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defTabSz="933450"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defTabSz="933450"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defTabSz="933450"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fld id="{F8A4BC8D-7822-4409-BCEF-A86A03F7E0DB}" type="slidenum">
              <a:rPr lang="en-US" altLang="zh-CN" sz="1200">
                <a:latin typeface="Times New Roman" panose="02020603050405020304" pitchFamily="18" charset="0"/>
              </a:rPr>
              <a:pPr/>
              <a:t>11</a:t>
            </a:fld>
            <a:endParaRPr lang="en-US" altLang="zh-CN" sz="1200">
              <a:latin typeface="Times New Roman" panose="02020603050405020304" pitchFamily="18" charset="0"/>
            </a:endParaRPr>
          </a:p>
        </p:txBody>
      </p:sp>
      <p:sp>
        <p:nvSpPr>
          <p:cNvPr id="114691" name="Rectangle 2">
            <a:extLst>
              <a:ext uri="{FF2B5EF4-FFF2-40B4-BE49-F238E27FC236}">
                <a16:creationId xmlns:a16="http://schemas.microsoft.com/office/drawing/2014/main" id="{DFC5CDAE-76CC-41C4-9A2E-F1FEAB61D7FD}"/>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04755AC2-AD36-4ABE-9E9E-0481F1AF328F}"/>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PingFang SC"/>
              </a:rPr>
              <a:t>IP</a:t>
            </a:r>
            <a:r>
              <a:rPr lang="zh-CN" altLang="en-US" b="0" i="0" dirty="0">
                <a:solidFill>
                  <a:srgbClr val="333333"/>
                </a:solidFill>
                <a:effectLst/>
                <a:latin typeface="PingFang SC"/>
              </a:rPr>
              <a:t>、</a:t>
            </a:r>
            <a:r>
              <a:rPr lang="en-US" altLang="zh-CN" b="0" i="0" dirty="0">
                <a:solidFill>
                  <a:srgbClr val="333333"/>
                </a:solidFill>
                <a:effectLst/>
                <a:latin typeface="PingFang SC"/>
              </a:rPr>
              <a:t>TCP</a:t>
            </a:r>
            <a:r>
              <a:rPr lang="zh-CN" altLang="en-US" b="0" i="0" dirty="0">
                <a:solidFill>
                  <a:srgbClr val="333333"/>
                </a:solidFill>
                <a:effectLst/>
                <a:latin typeface="PingFang SC"/>
              </a:rPr>
              <a:t>、</a:t>
            </a:r>
            <a:r>
              <a:rPr lang="en-US" altLang="zh-CN" b="0" i="0" dirty="0">
                <a:solidFill>
                  <a:srgbClr val="333333"/>
                </a:solidFill>
                <a:effectLst/>
                <a:latin typeface="PingFang SC"/>
              </a:rPr>
              <a:t>UDP</a:t>
            </a:r>
            <a:r>
              <a:rPr lang="zh-CN" altLang="en-US" b="0" i="0" dirty="0">
                <a:solidFill>
                  <a:srgbClr val="333333"/>
                </a:solidFill>
                <a:effectLst/>
                <a:latin typeface="PingFang SC"/>
              </a:rPr>
              <a:t>的校验和算法保持一致，简化</a:t>
            </a:r>
            <a:r>
              <a:rPr lang="en-US" altLang="zh-CN" b="0" i="0" dirty="0">
                <a:solidFill>
                  <a:srgbClr val="333333"/>
                </a:solidFill>
                <a:effectLst/>
                <a:latin typeface="PingFang SC"/>
              </a:rPr>
              <a:t>TCP/IP</a:t>
            </a:r>
            <a:r>
              <a:rPr lang="zh-CN" altLang="en-US" b="0" i="0" dirty="0">
                <a:solidFill>
                  <a:srgbClr val="333333"/>
                </a:solidFill>
                <a:effectLst/>
                <a:latin typeface="PingFang SC"/>
              </a:rPr>
              <a:t>协议栈实现‌</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12</a:t>
            </a:fld>
            <a:endParaRPr lang="zh-CN" altLang="en-US"/>
          </a:p>
        </p:txBody>
      </p:sp>
    </p:spTree>
    <p:extLst>
      <p:ext uri="{BB962C8B-B14F-4D97-AF65-F5344CB8AC3E}">
        <p14:creationId xmlns:p14="http://schemas.microsoft.com/office/powerpoint/2010/main" val="3988126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13</a:t>
            </a:fld>
            <a:endParaRPr lang="zh-CN" altLang="en-US"/>
          </a:p>
        </p:txBody>
      </p:sp>
    </p:spTree>
    <p:extLst>
      <p:ext uri="{BB962C8B-B14F-4D97-AF65-F5344CB8AC3E}">
        <p14:creationId xmlns:p14="http://schemas.microsoft.com/office/powerpoint/2010/main" val="2556094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14</a:t>
            </a:fld>
            <a:endParaRPr lang="zh-CN" altLang="en-US"/>
          </a:p>
        </p:txBody>
      </p:sp>
    </p:spTree>
    <p:extLst>
      <p:ext uri="{BB962C8B-B14F-4D97-AF65-F5344CB8AC3E}">
        <p14:creationId xmlns:p14="http://schemas.microsoft.com/office/powerpoint/2010/main" val="2509447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可靠信道：按发送的顺序、无差错的送达</a:t>
            </a:r>
            <a:endParaRPr lang="en-US" altLang="zh-CN" dirty="0"/>
          </a:p>
          <a:p>
            <a:r>
              <a:rPr lang="zh-CN" altLang="en-US" dirty="0"/>
              <a:t>如果网络层完全可靠，从可靠性的角度出发，传输层不用做任何事；在网络层的不可靠服务的基础上，传输层一定要做些事情，才能够保证向上提供可靠服务</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传输层事情多少、复杂程度与网络层服务直接相关（在保证向上层提供同样服务的情况下，通常网络层功能简单，传输层相对复杂）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3.4</a:t>
            </a:r>
            <a:r>
              <a:rPr lang="zh-CN" altLang="en-US" dirty="0"/>
              <a:t>节用</a:t>
            </a:r>
            <a:r>
              <a:rPr lang="en-US" altLang="zh-CN" dirty="0" err="1"/>
              <a:t>rdt</a:t>
            </a:r>
            <a:r>
              <a:rPr lang="zh-CN" altLang="en-US" dirty="0"/>
              <a:t>代表</a:t>
            </a:r>
            <a:r>
              <a:rPr lang="zh-CN" altLang="en-US" b="0" dirty="0"/>
              <a:t>可靠数据传输</a:t>
            </a:r>
            <a:r>
              <a:rPr lang="zh-CN" altLang="en-US" b="1" dirty="0"/>
              <a:t>，</a:t>
            </a:r>
            <a:r>
              <a:rPr lang="zh-CN" altLang="en-US" sz="1200" kern="1200" dirty="0">
                <a:solidFill>
                  <a:schemeClr val="tx1"/>
                </a:solidFill>
                <a:latin typeface="+mn-lt"/>
                <a:ea typeface="+mn-ea"/>
                <a:cs typeface="+mn-cs"/>
              </a:rPr>
              <a:t>它不是特定的协议，只是个代名词，方便后面内容介绍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15</a:t>
            </a:fld>
            <a:endParaRPr lang="zh-CN" altLang="en-US"/>
          </a:p>
        </p:txBody>
      </p:sp>
    </p:spTree>
    <p:extLst>
      <p:ext uri="{BB962C8B-B14F-4D97-AF65-F5344CB8AC3E}">
        <p14:creationId xmlns:p14="http://schemas.microsoft.com/office/powerpoint/2010/main" val="2722122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状态迁移时可能产生一系列动作</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16</a:t>
            </a:fld>
            <a:endParaRPr lang="zh-CN" altLang="en-US"/>
          </a:p>
        </p:txBody>
      </p:sp>
    </p:spTree>
    <p:extLst>
      <p:ext uri="{BB962C8B-B14F-4D97-AF65-F5344CB8AC3E}">
        <p14:creationId xmlns:p14="http://schemas.microsoft.com/office/powerpoint/2010/main" val="2366223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17</a:t>
            </a:fld>
            <a:endParaRPr lang="zh-CN" altLang="en-US"/>
          </a:p>
        </p:txBody>
      </p:sp>
    </p:spTree>
    <p:extLst>
      <p:ext uri="{BB962C8B-B14F-4D97-AF65-F5344CB8AC3E}">
        <p14:creationId xmlns:p14="http://schemas.microsoft.com/office/powerpoint/2010/main" val="3216151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18</a:t>
            </a:fld>
            <a:endParaRPr lang="zh-CN" altLang="en-US"/>
          </a:p>
        </p:txBody>
      </p:sp>
    </p:spTree>
    <p:extLst>
      <p:ext uri="{BB962C8B-B14F-4D97-AF65-F5344CB8AC3E}">
        <p14:creationId xmlns:p14="http://schemas.microsoft.com/office/powerpoint/2010/main" val="3657188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双方都增加“校验和”</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19</a:t>
            </a:fld>
            <a:endParaRPr lang="zh-CN" altLang="en-US"/>
          </a:p>
        </p:txBody>
      </p:sp>
    </p:spTree>
    <p:extLst>
      <p:ext uri="{BB962C8B-B14F-4D97-AF65-F5344CB8AC3E}">
        <p14:creationId xmlns:p14="http://schemas.microsoft.com/office/powerpoint/2010/main" val="3256025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20</a:t>
            </a:fld>
            <a:endParaRPr lang="zh-CN" altLang="en-US"/>
          </a:p>
        </p:txBody>
      </p:sp>
    </p:spTree>
    <p:extLst>
      <p:ext uri="{BB962C8B-B14F-4D97-AF65-F5344CB8AC3E}">
        <p14:creationId xmlns:p14="http://schemas.microsoft.com/office/powerpoint/2010/main" val="3471775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21</a:t>
            </a:fld>
            <a:endParaRPr lang="zh-CN" altLang="en-US"/>
          </a:p>
        </p:txBody>
      </p:sp>
    </p:spTree>
    <p:extLst>
      <p:ext uri="{BB962C8B-B14F-4D97-AF65-F5344CB8AC3E}">
        <p14:creationId xmlns:p14="http://schemas.microsoft.com/office/powerpoint/2010/main" val="3964972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22</a:t>
            </a:fld>
            <a:endParaRPr lang="zh-CN" altLang="en-US"/>
          </a:p>
        </p:txBody>
      </p:sp>
    </p:spTree>
    <p:extLst>
      <p:ext uri="{BB962C8B-B14F-4D97-AF65-F5344CB8AC3E}">
        <p14:creationId xmlns:p14="http://schemas.microsoft.com/office/powerpoint/2010/main" val="968888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rdt2.0</a:t>
            </a:r>
            <a:r>
              <a:rPr lang="zh-CN" altLang="en-US" dirty="0"/>
              <a:t>仅需</a:t>
            </a:r>
            <a:r>
              <a:rPr lang="en-US" altLang="zh-CN" dirty="0"/>
              <a:t>2</a:t>
            </a:r>
            <a:r>
              <a:rPr lang="zh-CN" altLang="en-US" dirty="0"/>
              <a:t>个序号</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23</a:t>
            </a:fld>
            <a:endParaRPr lang="zh-CN" altLang="en-US"/>
          </a:p>
        </p:txBody>
      </p:sp>
    </p:spTree>
    <p:extLst>
      <p:ext uri="{BB962C8B-B14F-4D97-AF65-F5344CB8AC3E}">
        <p14:creationId xmlns:p14="http://schemas.microsoft.com/office/powerpoint/2010/main" val="11528190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双方都增加“序号”，</a:t>
            </a:r>
            <a:r>
              <a:rPr lang="en-US" altLang="zh-CN" dirty="0"/>
              <a:t>0</a:t>
            </a:r>
            <a:r>
              <a:rPr lang="zh-CN" altLang="en-US" dirty="0"/>
              <a:t>与</a:t>
            </a:r>
            <a:r>
              <a:rPr lang="en-US" altLang="zh-CN" dirty="0"/>
              <a:t>1</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24</a:t>
            </a:fld>
            <a:endParaRPr lang="zh-CN" altLang="en-US"/>
          </a:p>
        </p:txBody>
      </p:sp>
    </p:spTree>
    <p:extLst>
      <p:ext uri="{BB962C8B-B14F-4D97-AF65-F5344CB8AC3E}">
        <p14:creationId xmlns:p14="http://schemas.microsoft.com/office/powerpoint/2010/main" val="2708586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25</a:t>
            </a:fld>
            <a:endParaRPr lang="zh-CN" altLang="en-US"/>
          </a:p>
        </p:txBody>
      </p:sp>
    </p:spTree>
    <p:extLst>
      <p:ext uri="{BB962C8B-B14F-4D97-AF65-F5344CB8AC3E}">
        <p14:creationId xmlns:p14="http://schemas.microsoft.com/office/powerpoint/2010/main" val="1318681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26</a:t>
            </a:fld>
            <a:endParaRPr lang="zh-CN" altLang="en-US"/>
          </a:p>
        </p:txBody>
      </p:sp>
    </p:spTree>
    <p:extLst>
      <p:ext uri="{BB962C8B-B14F-4D97-AF65-F5344CB8AC3E}">
        <p14:creationId xmlns:p14="http://schemas.microsoft.com/office/powerpoint/2010/main" val="2763399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双方都取消“</a:t>
            </a:r>
            <a:r>
              <a:rPr lang="en-US" altLang="zh-CN" dirty="0"/>
              <a:t>NAK</a:t>
            </a:r>
            <a:r>
              <a:rPr lang="zh-CN" altLang="en-US" dirty="0"/>
              <a:t>”，仅使用“</a:t>
            </a:r>
            <a:r>
              <a:rPr lang="en-US" altLang="zh-CN" dirty="0"/>
              <a:t>ACK</a:t>
            </a:r>
            <a:r>
              <a:rPr lang="zh-CN" altLang="en-US" dirty="0"/>
              <a:t>”，并且标出确认的分组序号</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27</a:t>
            </a:fld>
            <a:endParaRPr lang="zh-CN" altLang="en-US"/>
          </a:p>
        </p:txBody>
      </p:sp>
    </p:spTree>
    <p:extLst>
      <p:ext uri="{BB962C8B-B14F-4D97-AF65-F5344CB8AC3E}">
        <p14:creationId xmlns:p14="http://schemas.microsoft.com/office/powerpoint/2010/main" val="1404220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28</a:t>
            </a:fld>
            <a:endParaRPr lang="zh-CN" altLang="en-US"/>
          </a:p>
        </p:txBody>
      </p:sp>
    </p:spTree>
    <p:extLst>
      <p:ext uri="{BB962C8B-B14F-4D97-AF65-F5344CB8AC3E}">
        <p14:creationId xmlns:p14="http://schemas.microsoft.com/office/powerpoint/2010/main" val="3977050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计时器过长：难以及时发现分组丢失并重发，影响传输效率</a:t>
            </a:r>
            <a:endParaRPr lang="en-US" altLang="zh-CN" dirty="0"/>
          </a:p>
          <a:p>
            <a:r>
              <a:rPr lang="zh-CN" altLang="en-US" dirty="0"/>
              <a:t>计时器过短：延迟到达的分组被重发</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29</a:t>
            </a:fld>
            <a:endParaRPr lang="zh-CN" altLang="en-US"/>
          </a:p>
        </p:txBody>
      </p:sp>
    </p:spTree>
    <p:extLst>
      <p:ext uri="{BB962C8B-B14F-4D97-AF65-F5344CB8AC3E}">
        <p14:creationId xmlns:p14="http://schemas.microsoft.com/office/powerpoint/2010/main" val="40301430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发送方增加计时器，每次发送分组之后启动计时器，仅在收到正确序号的</a:t>
            </a:r>
            <a:r>
              <a:rPr lang="en-US" altLang="zh-CN" dirty="0"/>
              <a:t>ACK</a:t>
            </a:r>
            <a:r>
              <a:rPr lang="zh-CN" altLang="en-US" dirty="0"/>
              <a:t>之后终止计时器</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30</a:t>
            </a:fld>
            <a:endParaRPr lang="zh-CN" altLang="en-US"/>
          </a:p>
        </p:txBody>
      </p:sp>
    </p:spTree>
    <p:extLst>
      <p:ext uri="{BB962C8B-B14F-4D97-AF65-F5344CB8AC3E}">
        <p14:creationId xmlns:p14="http://schemas.microsoft.com/office/powerpoint/2010/main" val="3753576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31</a:t>
            </a:fld>
            <a:endParaRPr lang="zh-CN" altLang="en-US"/>
          </a:p>
        </p:txBody>
      </p:sp>
    </p:spTree>
    <p:extLst>
      <p:ext uri="{BB962C8B-B14F-4D97-AF65-F5344CB8AC3E}">
        <p14:creationId xmlns:p14="http://schemas.microsoft.com/office/powerpoint/2010/main" val="15935251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rdt3.0</a:t>
            </a:r>
            <a:r>
              <a:rPr lang="zh-CN" altLang="en-US" dirty="0"/>
              <a:t>无法判断</a:t>
            </a:r>
            <a:r>
              <a:rPr lang="en-US" altLang="zh-CN" dirty="0"/>
              <a:t>ACK</a:t>
            </a:r>
            <a:r>
              <a:rPr lang="zh-CN" altLang="en-US" dirty="0"/>
              <a:t>是否重发</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32</a:t>
            </a:fld>
            <a:endParaRPr lang="zh-CN" altLang="en-US"/>
          </a:p>
        </p:txBody>
      </p:sp>
    </p:spTree>
    <p:extLst>
      <p:ext uri="{BB962C8B-B14F-4D97-AF65-F5344CB8AC3E}">
        <p14:creationId xmlns:p14="http://schemas.microsoft.com/office/powerpoint/2010/main" val="24555155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RTT</a:t>
            </a:r>
            <a:r>
              <a:rPr lang="zh-CN" altLang="en-US"/>
              <a:t>受制于发送方的发送处理与双方之间的</a:t>
            </a:r>
            <a:r>
              <a:rPr lang="zh-CN" altLang="en-US" dirty="0"/>
              <a:t>通信链路，可以从</a:t>
            </a:r>
            <a:r>
              <a:rPr lang="en-US" altLang="zh-CN" dirty="0"/>
              <a:t>P/R</a:t>
            </a:r>
            <a:r>
              <a:rPr lang="zh-CN" altLang="en-US" dirty="0"/>
              <a:t>着手提升效率</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33</a:t>
            </a:fld>
            <a:endParaRPr lang="zh-CN" altLang="en-US"/>
          </a:p>
        </p:txBody>
      </p:sp>
    </p:spTree>
    <p:extLst>
      <p:ext uri="{BB962C8B-B14F-4D97-AF65-F5344CB8AC3E}">
        <p14:creationId xmlns:p14="http://schemas.microsoft.com/office/powerpoint/2010/main" val="21693287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34</a:t>
            </a:fld>
            <a:endParaRPr lang="zh-CN" altLang="en-US"/>
          </a:p>
        </p:txBody>
      </p:sp>
    </p:spTree>
    <p:extLst>
      <p:ext uri="{BB962C8B-B14F-4D97-AF65-F5344CB8AC3E}">
        <p14:creationId xmlns:p14="http://schemas.microsoft.com/office/powerpoint/2010/main" val="10545400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35</a:t>
            </a:fld>
            <a:endParaRPr lang="zh-CN" altLang="en-US"/>
          </a:p>
        </p:txBody>
      </p:sp>
    </p:spTree>
    <p:extLst>
      <p:ext uri="{BB962C8B-B14F-4D97-AF65-F5344CB8AC3E}">
        <p14:creationId xmlns:p14="http://schemas.microsoft.com/office/powerpoint/2010/main" val="10485787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36</a:t>
            </a:fld>
            <a:endParaRPr lang="zh-CN" altLang="en-US"/>
          </a:p>
        </p:txBody>
      </p:sp>
    </p:spTree>
    <p:extLst>
      <p:ext uri="{BB962C8B-B14F-4D97-AF65-F5344CB8AC3E}">
        <p14:creationId xmlns:p14="http://schemas.microsoft.com/office/powerpoint/2010/main" val="26480215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设置</a:t>
            </a:r>
            <a:r>
              <a:rPr lang="zh-CN" altLang="en-US" b="1" i="0" dirty="0">
                <a:solidFill>
                  <a:srgbClr val="333333"/>
                </a:solidFill>
                <a:effectLst/>
                <a:latin typeface="PingFang SC"/>
              </a:rPr>
              <a:t>窗口</a:t>
            </a:r>
            <a:r>
              <a:rPr lang="en-US" altLang="zh-CN" sz="1200" b="1" i="0" kern="1200" dirty="0">
                <a:solidFill>
                  <a:srgbClr val="333333"/>
                </a:solidFill>
                <a:effectLst/>
                <a:latin typeface="PingFang SC"/>
                <a:ea typeface="+mn-ea"/>
                <a:cs typeface="+mn-cs"/>
              </a:rPr>
              <a:t>N</a:t>
            </a:r>
            <a:r>
              <a:rPr lang="zh-CN" altLang="en-US" sz="1200" b="0" i="0" kern="1200" dirty="0">
                <a:solidFill>
                  <a:srgbClr val="333333"/>
                </a:solidFill>
                <a:effectLst/>
                <a:latin typeface="PingFang SC"/>
                <a:ea typeface="+mn-ea"/>
                <a:cs typeface="+mn-cs"/>
              </a:rPr>
              <a:t>‌的</a:t>
            </a:r>
            <a:r>
              <a:rPr lang="zh-CN" altLang="en-US" b="0" i="0" dirty="0">
                <a:solidFill>
                  <a:srgbClr val="333333"/>
                </a:solidFill>
                <a:effectLst/>
                <a:latin typeface="PingFang SC"/>
              </a:rPr>
              <a:t>目的是通过滑动窗口机制实现‌流量控制‌和‌差错恢复‌的平衡。具体目的：</a:t>
            </a:r>
            <a:r>
              <a:rPr lang="en-US" altLang="zh-CN" b="0" i="0" dirty="0">
                <a:solidFill>
                  <a:srgbClr val="333333"/>
                </a:solidFill>
                <a:effectLst/>
                <a:latin typeface="PingFang SC"/>
              </a:rPr>
              <a:t>1.</a:t>
            </a:r>
            <a:r>
              <a:rPr lang="zh-CN" altLang="en-US" b="1" i="0" dirty="0">
                <a:solidFill>
                  <a:srgbClr val="333333"/>
                </a:solidFill>
                <a:effectLst/>
                <a:latin typeface="PingFang SC"/>
              </a:rPr>
              <a:t>提升信道利用率，</a:t>
            </a:r>
            <a:r>
              <a:rPr lang="zh-CN" altLang="en-US" b="0" i="0" dirty="0">
                <a:solidFill>
                  <a:srgbClr val="333333"/>
                </a:solidFill>
                <a:effectLst/>
                <a:latin typeface="PingFang SC"/>
              </a:rPr>
              <a:t>允许发送方连续发送多个分组（最多</a:t>
            </a:r>
            <a:r>
              <a:rPr lang="en-US" altLang="zh-CN" b="0" i="0" dirty="0">
                <a:solidFill>
                  <a:srgbClr val="333333"/>
                </a:solidFill>
                <a:effectLst/>
                <a:latin typeface="PingFang SC"/>
              </a:rPr>
              <a:t>N</a:t>
            </a:r>
            <a:r>
              <a:rPr lang="zh-CN" altLang="en-US" b="0" i="0" dirty="0">
                <a:solidFill>
                  <a:srgbClr val="333333"/>
                </a:solidFill>
                <a:effectLst/>
                <a:latin typeface="PingFang SC"/>
              </a:rPr>
              <a:t>个）而无需等待确认，避免停等协议的低效问题；</a:t>
            </a:r>
            <a:r>
              <a:rPr lang="en-US" altLang="zh-CN" dirty="0"/>
              <a:t>2.</a:t>
            </a:r>
            <a:r>
              <a:rPr lang="zh-CN" altLang="en-US" b="1" i="0" dirty="0">
                <a:solidFill>
                  <a:srgbClr val="333333"/>
                </a:solidFill>
                <a:effectLst/>
                <a:latin typeface="PingFang SC"/>
              </a:rPr>
              <a:t>限制未确认分组的数量，</a:t>
            </a:r>
            <a:r>
              <a:rPr lang="en-US" altLang="zh-CN" b="0" i="0" dirty="0">
                <a:solidFill>
                  <a:srgbClr val="333333"/>
                </a:solidFill>
                <a:effectLst/>
                <a:latin typeface="PingFang SC"/>
              </a:rPr>
              <a:t>N</a:t>
            </a:r>
            <a:r>
              <a:rPr lang="zh-CN" altLang="en-US" b="0" i="0" dirty="0">
                <a:solidFill>
                  <a:srgbClr val="333333"/>
                </a:solidFill>
                <a:effectLst/>
                <a:latin typeface="PingFang SC"/>
              </a:rPr>
              <a:t>定义发送窗口的最大容量，确保发送方不会因缓存不足或资源耗尽而崩溃‌‌；</a:t>
            </a:r>
            <a:r>
              <a:rPr lang="en-US" altLang="zh-CN" b="0" i="0" dirty="0">
                <a:solidFill>
                  <a:srgbClr val="333333"/>
                </a:solidFill>
                <a:effectLst/>
                <a:latin typeface="PingFang SC"/>
              </a:rPr>
              <a:t>3.</a:t>
            </a:r>
            <a:r>
              <a:rPr lang="zh-CN" altLang="en-US" b="1" i="0" dirty="0">
                <a:solidFill>
                  <a:srgbClr val="333333"/>
                </a:solidFill>
                <a:effectLst/>
                <a:latin typeface="PingFang SC"/>
              </a:rPr>
              <a:t>简化差错恢复，</a:t>
            </a:r>
            <a:r>
              <a:rPr lang="zh-CN" altLang="en-US" b="0" i="0" dirty="0">
                <a:solidFill>
                  <a:srgbClr val="333333"/>
                </a:solidFill>
                <a:effectLst/>
                <a:latin typeface="PingFang SC"/>
              </a:rPr>
              <a:t>当检测到丢帧时，发送方直接回退到出错分组并重传后续</a:t>
            </a:r>
            <a:r>
              <a:rPr lang="en-US" altLang="zh-CN" b="0" i="0" dirty="0">
                <a:solidFill>
                  <a:srgbClr val="333333"/>
                </a:solidFill>
                <a:effectLst/>
                <a:latin typeface="PingFang SC"/>
              </a:rPr>
              <a:t>N</a:t>
            </a:r>
            <a:r>
              <a:rPr lang="zh-CN" altLang="en-US" b="0" i="0" dirty="0">
                <a:solidFill>
                  <a:srgbClr val="333333"/>
                </a:solidFill>
                <a:effectLst/>
                <a:latin typeface="PingFang SC"/>
              </a:rPr>
              <a:t>个分组（无需选择重传），降低协议复杂度‌</a:t>
            </a:r>
            <a:br>
              <a:rPr lang="zh-CN" altLang="en-US" b="0" i="0" dirty="0">
                <a:solidFill>
                  <a:srgbClr val="333333"/>
                </a:solidFill>
                <a:effectLst/>
                <a:latin typeface="PingFang SC"/>
              </a:rPr>
            </a:br>
            <a:r>
              <a:rPr lang="en-US" altLang="zh-CN" b="0" i="0" dirty="0">
                <a:solidFill>
                  <a:srgbClr val="333333"/>
                </a:solidFill>
                <a:effectLst/>
                <a:latin typeface="PingFang SC"/>
              </a:rPr>
              <a:t>GBN</a:t>
            </a:r>
            <a:r>
              <a:rPr lang="zh-CN" altLang="en-US" b="0" i="0" dirty="0">
                <a:solidFill>
                  <a:srgbClr val="333333"/>
                </a:solidFill>
                <a:effectLst/>
                <a:latin typeface="PingFang SC"/>
              </a:rPr>
              <a:t>的发送窗口大小</a:t>
            </a:r>
            <a:r>
              <a:rPr lang="en-US" altLang="zh-CN" b="0" i="0" dirty="0">
                <a:solidFill>
                  <a:srgbClr val="333333"/>
                </a:solidFill>
                <a:effectLst/>
                <a:latin typeface="PingFang SC"/>
              </a:rPr>
              <a:t>N</a:t>
            </a:r>
            <a:r>
              <a:rPr lang="zh-CN" altLang="en-US" b="0" i="0" dirty="0">
                <a:solidFill>
                  <a:srgbClr val="333333"/>
                </a:solidFill>
                <a:effectLst/>
                <a:latin typeface="PingFang SC"/>
              </a:rPr>
              <a:t>必须满足：</a:t>
            </a:r>
            <a:r>
              <a:rPr lang="en-US" altLang="zh-CN" b="0" i="0" dirty="0">
                <a:solidFill>
                  <a:srgbClr val="333333"/>
                </a:solidFill>
                <a:effectLst/>
                <a:latin typeface="KaTeX_Math"/>
              </a:rPr>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k</a:t>
            </a:r>
            <a:r>
              <a:rPr lang="en-US" altLang="zh-CN" b="0" i="0" dirty="0">
                <a:solidFill>
                  <a:srgbClr val="333333"/>
                </a:solidFill>
                <a:effectLst/>
                <a:latin typeface="KaTeX_Main"/>
              </a:rPr>
              <a:t>−1</a:t>
            </a:r>
            <a:r>
              <a:rPr lang="zh-CN" altLang="en-US" b="0" i="0" dirty="0">
                <a:solidFill>
                  <a:srgbClr val="333333"/>
                </a:solidFill>
                <a:effectLst/>
                <a:latin typeface="KaTeX_Main"/>
              </a:rPr>
              <a:t>。</a:t>
            </a:r>
            <a:r>
              <a:rPr lang="zh-CN" altLang="en-US" b="0" i="0" dirty="0">
                <a:solidFill>
                  <a:srgbClr val="333333"/>
                </a:solidFill>
                <a:effectLst/>
                <a:latin typeface="PingFang SC"/>
              </a:rPr>
              <a:t>其中，</a:t>
            </a:r>
            <a:r>
              <a:rPr lang="en-US" altLang="zh-CN" b="0" i="0" dirty="0">
                <a:solidFill>
                  <a:srgbClr val="333333"/>
                </a:solidFill>
                <a:effectLst/>
                <a:latin typeface="PingFang SC"/>
              </a:rPr>
              <a:t>k</a:t>
            </a:r>
            <a:r>
              <a:rPr lang="zh-CN" altLang="en-US" b="0" i="0" dirty="0">
                <a:solidFill>
                  <a:srgbClr val="333333"/>
                </a:solidFill>
                <a:effectLst/>
                <a:latin typeface="PingFang SC"/>
              </a:rPr>
              <a:t>是序号字段的比特数。例如，如果</a:t>
            </a:r>
            <a:r>
              <a:rPr lang="en-US" altLang="zh-CN" b="0" i="0" dirty="0">
                <a:solidFill>
                  <a:srgbClr val="333333"/>
                </a:solidFill>
                <a:effectLst/>
                <a:latin typeface="PingFang SC"/>
              </a:rPr>
              <a:t>k=3</a:t>
            </a:r>
            <a:r>
              <a:rPr lang="zh-CN" altLang="en-US" b="0" i="0" dirty="0">
                <a:solidFill>
                  <a:srgbClr val="333333"/>
                </a:solidFill>
                <a:effectLst/>
                <a:latin typeface="PingFang SC"/>
              </a:rPr>
              <a:t>（序号范围</a:t>
            </a:r>
            <a:r>
              <a:rPr lang="en-US" altLang="zh-CN" b="0" i="0" dirty="0">
                <a:solidFill>
                  <a:srgbClr val="333333"/>
                </a:solidFill>
                <a:effectLst/>
                <a:latin typeface="PingFang SC"/>
              </a:rPr>
              <a:t>0-7</a:t>
            </a:r>
            <a:r>
              <a:rPr lang="zh-CN" altLang="en-US" b="0" i="0" dirty="0">
                <a:solidFill>
                  <a:srgbClr val="333333"/>
                </a:solidFill>
                <a:effectLst/>
                <a:latin typeface="PingFang SC"/>
              </a:rPr>
              <a:t>），则最大窗口</a:t>
            </a:r>
            <a:r>
              <a:rPr lang="en-US" altLang="zh-CN" b="0" i="0" dirty="0">
                <a:solidFill>
                  <a:srgbClr val="333333"/>
                </a:solidFill>
                <a:effectLst/>
                <a:latin typeface="PingFang SC"/>
              </a:rPr>
              <a:t>N=7‌</a:t>
            </a:r>
            <a:r>
              <a:rPr lang="zh-CN" altLang="en-US" b="0" i="0" dirty="0">
                <a:solidFill>
                  <a:srgbClr val="333333"/>
                </a:solidFill>
                <a:effectLst/>
                <a:latin typeface="PingFang SC"/>
              </a:rPr>
              <a:t>。如果</a:t>
            </a:r>
            <a:r>
              <a:rPr lang="en-US" altLang="zh-CN" b="0" i="0" dirty="0">
                <a:solidFill>
                  <a:srgbClr val="333333"/>
                </a:solidFill>
                <a:effectLst/>
                <a:latin typeface="PingFang SC"/>
              </a:rPr>
              <a:t>N=2</a:t>
            </a:r>
            <a:r>
              <a:rPr lang="en-US" altLang="zh-CN" b="0" i="0" baseline="30000" dirty="0">
                <a:solidFill>
                  <a:srgbClr val="333333"/>
                </a:solidFill>
                <a:effectLst/>
                <a:latin typeface="PingFang SC"/>
              </a:rPr>
              <a:t>k</a:t>
            </a:r>
            <a:r>
              <a:rPr lang="zh-CN" altLang="en-US" b="0" i="0" dirty="0">
                <a:solidFill>
                  <a:srgbClr val="333333"/>
                </a:solidFill>
                <a:effectLst/>
                <a:latin typeface="PingFang SC"/>
              </a:rPr>
              <a:t>，当窗口滑动时，新旧序号可能重叠（如旧窗口的</a:t>
            </a:r>
            <a:r>
              <a:rPr lang="en-US" altLang="zh-CN" b="0" i="0" dirty="0">
                <a:solidFill>
                  <a:srgbClr val="333333"/>
                </a:solidFill>
                <a:effectLst/>
                <a:latin typeface="PingFang SC"/>
              </a:rPr>
              <a:t>0</a:t>
            </a:r>
            <a:r>
              <a:rPr lang="zh-CN" altLang="en-US" b="0" i="0" dirty="0">
                <a:solidFill>
                  <a:srgbClr val="333333"/>
                </a:solidFill>
                <a:effectLst/>
                <a:latin typeface="PingFang SC"/>
              </a:rPr>
              <a:t>与新窗口的</a:t>
            </a:r>
            <a:r>
              <a:rPr lang="en-US" altLang="zh-CN" b="0" i="0" dirty="0">
                <a:solidFill>
                  <a:srgbClr val="333333"/>
                </a:solidFill>
                <a:effectLst/>
                <a:latin typeface="PingFang SC"/>
              </a:rPr>
              <a:t>0</a:t>
            </a:r>
            <a:r>
              <a:rPr lang="zh-CN" altLang="en-US" b="0" i="0" dirty="0">
                <a:solidFill>
                  <a:srgbClr val="333333"/>
                </a:solidFill>
                <a:effectLst/>
                <a:latin typeface="PingFang SC"/>
              </a:rPr>
              <a:t>无法区分），导致接收方无法正确识别数据‌</a:t>
            </a:r>
            <a:br>
              <a:rPr lang="zh-CN" altLang="en-US" b="0" i="0" dirty="0">
                <a:solidFill>
                  <a:srgbClr val="333333"/>
                </a:solidFill>
                <a:effectLst/>
                <a:latin typeface="PingFang SC"/>
              </a:rPr>
            </a:br>
            <a:br>
              <a:rPr lang="en-US" altLang="zh-CN" b="0" i="0" dirty="0">
                <a:solidFill>
                  <a:srgbClr val="333333"/>
                </a:solidFill>
                <a:effectLst/>
                <a:latin typeface="PingFang SC"/>
              </a:rPr>
            </a:b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37</a:t>
            </a:fld>
            <a:endParaRPr lang="zh-CN" altLang="en-US"/>
          </a:p>
        </p:txBody>
      </p:sp>
    </p:spTree>
    <p:extLst>
      <p:ext uri="{BB962C8B-B14F-4D97-AF65-F5344CB8AC3E}">
        <p14:creationId xmlns:p14="http://schemas.microsoft.com/office/powerpoint/2010/main" val="25262157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发送方增加“下一个序号”</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38</a:t>
            </a:fld>
            <a:endParaRPr lang="zh-CN" altLang="en-US"/>
          </a:p>
        </p:txBody>
      </p:sp>
    </p:spTree>
    <p:extLst>
      <p:ext uri="{BB962C8B-B14F-4D97-AF65-F5344CB8AC3E}">
        <p14:creationId xmlns:p14="http://schemas.microsoft.com/office/powerpoint/2010/main" val="1882435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接收方增加“</a:t>
            </a:r>
            <a:r>
              <a:rPr lang="zh-CN" altLang="en-US" dirty="0">
                <a:latin typeface="Times New Roman" panose="02020603050405020304" pitchFamily="18" charset="0"/>
                <a:ea typeface="宋体" panose="02010600030101010101" pitchFamily="2" charset="-122"/>
                <a:cs typeface="Times New Roman" panose="02020603050405020304" pitchFamily="18" charset="0"/>
              </a:rPr>
              <a:t>希望接收的分组</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序号 </a:t>
            </a:r>
            <a:r>
              <a:rPr lang="zh-CN" altLang="en-US" dirty="0"/>
              <a:t>”</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39</a:t>
            </a:fld>
            <a:endParaRPr lang="zh-CN" altLang="en-US"/>
          </a:p>
        </p:txBody>
      </p:sp>
    </p:spTree>
    <p:extLst>
      <p:ext uri="{BB962C8B-B14F-4D97-AF65-F5344CB8AC3E}">
        <p14:creationId xmlns:p14="http://schemas.microsoft.com/office/powerpoint/2010/main" val="2561720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GBN</a:t>
            </a:r>
            <a:r>
              <a:rPr lang="zh-CN" altLang="en-US" dirty="0"/>
              <a:t>协议的发送窗口大小合规：序号</a:t>
            </a:r>
            <a:r>
              <a:rPr lang="en-US" altLang="zh-CN" dirty="0"/>
              <a:t>k=4</a:t>
            </a:r>
            <a:r>
              <a:rPr lang="zh-CN" altLang="en-US" dirty="0"/>
              <a:t>，</a:t>
            </a:r>
            <a:r>
              <a:rPr lang="en-US" altLang="zh-CN" dirty="0"/>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4</a:t>
            </a:r>
            <a:r>
              <a:rPr lang="en-US" altLang="zh-CN" b="0" i="0" dirty="0">
                <a:solidFill>
                  <a:srgbClr val="333333"/>
                </a:solidFill>
                <a:effectLst/>
                <a:latin typeface="KaTeX_Main"/>
              </a:rPr>
              <a:t>−1=15</a:t>
            </a:r>
          </a:p>
          <a:p>
            <a:r>
              <a:rPr lang="zh-CN" altLang="en-US" dirty="0"/>
              <a:t>工作流程：</a:t>
            </a:r>
            <a:r>
              <a:rPr lang="en-US" altLang="zh-CN" dirty="0"/>
              <a:t>1.</a:t>
            </a:r>
            <a:r>
              <a:rPr lang="zh-CN" altLang="en-US" dirty="0"/>
              <a:t>窗口</a:t>
            </a:r>
            <a:r>
              <a:rPr lang="en-US" altLang="zh-CN" dirty="0"/>
              <a:t>N=4</a:t>
            </a:r>
            <a:r>
              <a:rPr lang="zh-CN" altLang="en-US" dirty="0"/>
              <a:t>，流水线发送</a:t>
            </a:r>
            <a:r>
              <a:rPr lang="en-US" altLang="zh-CN" dirty="0"/>
              <a:t>4</a:t>
            </a:r>
            <a:r>
              <a:rPr lang="zh-CN" altLang="en-US" dirty="0"/>
              <a:t>个分组；</a:t>
            </a:r>
            <a:r>
              <a:rPr lang="en-US" altLang="zh-CN" dirty="0"/>
              <a:t>2.</a:t>
            </a:r>
            <a:r>
              <a:rPr lang="zh-CN" altLang="en-US" dirty="0"/>
              <a:t>分组</a:t>
            </a:r>
            <a:r>
              <a:rPr lang="en-US" altLang="zh-CN" dirty="0"/>
              <a:t>0</a:t>
            </a:r>
            <a:r>
              <a:rPr lang="zh-CN" altLang="en-US" dirty="0"/>
              <a:t>、</a:t>
            </a:r>
            <a:r>
              <a:rPr lang="en-US" altLang="zh-CN" dirty="0"/>
              <a:t>1</a:t>
            </a:r>
            <a:r>
              <a:rPr lang="zh-CN" altLang="en-US" dirty="0"/>
              <a:t>的</a:t>
            </a:r>
            <a:r>
              <a:rPr lang="en-US" altLang="zh-CN" dirty="0"/>
              <a:t>ACK</a:t>
            </a:r>
            <a:r>
              <a:rPr lang="zh-CN" altLang="en-US" dirty="0"/>
              <a:t>返回，窗口向前移动</a:t>
            </a:r>
            <a:r>
              <a:rPr lang="en-US" altLang="zh-CN" dirty="0"/>
              <a:t>2</a:t>
            </a:r>
            <a:r>
              <a:rPr lang="zh-CN" altLang="en-US" dirty="0"/>
              <a:t>格；</a:t>
            </a:r>
            <a:r>
              <a:rPr lang="en-US" altLang="zh-CN" dirty="0"/>
              <a:t>3.</a:t>
            </a:r>
            <a:r>
              <a:rPr lang="zh-CN" altLang="en-US" dirty="0"/>
              <a:t>分组</a:t>
            </a:r>
            <a:r>
              <a:rPr lang="en-US" altLang="zh-CN" dirty="0"/>
              <a:t>2</a:t>
            </a:r>
            <a:r>
              <a:rPr lang="zh-CN" altLang="en-US" dirty="0"/>
              <a:t>丢失，分组</a:t>
            </a:r>
            <a:r>
              <a:rPr lang="en-US" altLang="zh-CN" dirty="0"/>
              <a:t>3</a:t>
            </a:r>
            <a:r>
              <a:rPr lang="zh-CN" altLang="en-US" dirty="0"/>
              <a:t>、</a:t>
            </a:r>
            <a:r>
              <a:rPr lang="en-US" altLang="zh-CN" dirty="0"/>
              <a:t>4</a:t>
            </a:r>
            <a:r>
              <a:rPr lang="zh-CN" altLang="en-US" dirty="0"/>
              <a:t>、</a:t>
            </a:r>
            <a:r>
              <a:rPr lang="en-US" altLang="zh-CN" dirty="0"/>
              <a:t>5</a:t>
            </a:r>
            <a:r>
              <a:rPr lang="zh-CN" altLang="en-US" dirty="0"/>
              <a:t>到达，未按序，丢弃，返回对分组</a:t>
            </a:r>
            <a:r>
              <a:rPr lang="en-US" altLang="zh-CN" dirty="0"/>
              <a:t>1</a:t>
            </a:r>
            <a:r>
              <a:rPr lang="zh-CN" altLang="en-US" dirty="0"/>
              <a:t>（正确接收的最大序号）的</a:t>
            </a:r>
            <a:r>
              <a:rPr lang="en-US" altLang="zh-CN" dirty="0"/>
              <a:t>ACK</a:t>
            </a:r>
            <a:r>
              <a:rPr lang="zh-CN" altLang="en-US" dirty="0"/>
              <a:t>；</a:t>
            </a:r>
            <a:r>
              <a:rPr lang="en-US" altLang="zh-CN" dirty="0"/>
              <a:t>4.</a:t>
            </a:r>
            <a:r>
              <a:rPr lang="zh-CN" altLang="en-US" dirty="0"/>
              <a:t>由于分组</a:t>
            </a:r>
            <a:r>
              <a:rPr lang="en-US" altLang="zh-CN" dirty="0"/>
              <a:t>2</a:t>
            </a:r>
            <a:r>
              <a:rPr lang="zh-CN" altLang="en-US" dirty="0"/>
              <a:t>超时，流水线发送</a:t>
            </a:r>
            <a:r>
              <a:rPr lang="en-US" altLang="zh-CN" dirty="0"/>
              <a:t>4</a:t>
            </a:r>
            <a:r>
              <a:rPr lang="zh-CN" altLang="en-US" dirty="0"/>
              <a:t>个分组（包括重发）</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40</a:t>
            </a:fld>
            <a:endParaRPr lang="zh-CN" altLang="en-US"/>
          </a:p>
        </p:txBody>
      </p:sp>
    </p:spTree>
    <p:extLst>
      <p:ext uri="{BB962C8B-B14F-4D97-AF65-F5344CB8AC3E}">
        <p14:creationId xmlns:p14="http://schemas.microsoft.com/office/powerpoint/2010/main" val="2043442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PingFang SC"/>
              </a:rPr>
              <a:t>SR</a:t>
            </a:r>
            <a:r>
              <a:rPr lang="zh-CN" altLang="en-US" b="0" i="0" dirty="0">
                <a:solidFill>
                  <a:srgbClr val="333333"/>
                </a:solidFill>
                <a:effectLst/>
                <a:latin typeface="PingFang SC"/>
              </a:rPr>
              <a:t>协议的发送窗口</a:t>
            </a:r>
            <a:r>
              <a:rPr lang="en-US" altLang="zh-CN" b="0" i="0" dirty="0">
                <a:solidFill>
                  <a:srgbClr val="333333"/>
                </a:solidFill>
                <a:effectLst/>
                <a:latin typeface="PingFang SC"/>
              </a:rPr>
              <a:t>/</a:t>
            </a:r>
            <a:r>
              <a:rPr lang="zh-CN" altLang="en-US" b="0" i="0" dirty="0">
                <a:solidFill>
                  <a:srgbClr val="333333"/>
                </a:solidFill>
                <a:effectLst/>
                <a:latin typeface="PingFang SC"/>
              </a:rPr>
              <a:t>接收窗口大小</a:t>
            </a:r>
            <a:r>
              <a:rPr lang="en-US" altLang="zh-CN" b="0" i="0" dirty="0">
                <a:solidFill>
                  <a:srgbClr val="333333"/>
                </a:solidFill>
                <a:effectLst/>
                <a:latin typeface="PingFang SC"/>
              </a:rPr>
              <a:t>N</a:t>
            </a:r>
            <a:r>
              <a:rPr lang="zh-CN" altLang="en-US" b="0" i="0" dirty="0">
                <a:solidFill>
                  <a:srgbClr val="333333"/>
                </a:solidFill>
                <a:effectLst/>
                <a:latin typeface="PingFang SC"/>
              </a:rPr>
              <a:t>必须满足：</a:t>
            </a:r>
            <a:r>
              <a:rPr lang="en-US" altLang="zh-CN" b="0" i="0" dirty="0">
                <a:solidFill>
                  <a:srgbClr val="333333"/>
                </a:solidFill>
                <a:effectLst/>
                <a:latin typeface="KaTeX_Math"/>
              </a:rPr>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k</a:t>
            </a:r>
            <a:r>
              <a:rPr lang="en-US" altLang="zh-CN" b="0" i="0" baseline="30000" dirty="0">
                <a:solidFill>
                  <a:srgbClr val="333333"/>
                </a:solidFill>
                <a:effectLst/>
                <a:latin typeface="KaTeX_Main"/>
              </a:rPr>
              <a:t>−1</a:t>
            </a:r>
            <a:r>
              <a:rPr lang="zh-CN" altLang="en-US" b="0" i="0" dirty="0">
                <a:solidFill>
                  <a:srgbClr val="333333"/>
                </a:solidFill>
                <a:effectLst/>
                <a:latin typeface="KaTeX_Main"/>
              </a:rPr>
              <a:t>。</a:t>
            </a:r>
            <a:r>
              <a:rPr lang="zh-CN" altLang="en-US" b="0" i="0" dirty="0">
                <a:solidFill>
                  <a:srgbClr val="333333"/>
                </a:solidFill>
                <a:effectLst/>
                <a:latin typeface="PingFang SC"/>
              </a:rPr>
              <a:t>其中，</a:t>
            </a:r>
            <a:r>
              <a:rPr lang="en-US" altLang="zh-CN" b="0" i="0" dirty="0">
                <a:solidFill>
                  <a:srgbClr val="333333"/>
                </a:solidFill>
                <a:effectLst/>
                <a:latin typeface="PingFang SC"/>
              </a:rPr>
              <a:t>k</a:t>
            </a:r>
            <a:r>
              <a:rPr lang="zh-CN" altLang="en-US" b="0" i="0" dirty="0">
                <a:solidFill>
                  <a:srgbClr val="333333"/>
                </a:solidFill>
                <a:effectLst/>
                <a:latin typeface="PingFang SC"/>
              </a:rPr>
              <a:t>是序号字段的比特数。例如，若</a:t>
            </a:r>
            <a:r>
              <a:rPr lang="en-US" altLang="zh-CN" b="0" i="0" dirty="0">
                <a:solidFill>
                  <a:srgbClr val="333333"/>
                </a:solidFill>
                <a:effectLst/>
                <a:latin typeface="PingFang SC"/>
              </a:rPr>
              <a:t>k=3</a:t>
            </a:r>
            <a:r>
              <a:rPr lang="zh-CN" altLang="en-US" b="0" i="0" dirty="0">
                <a:solidFill>
                  <a:srgbClr val="333333"/>
                </a:solidFill>
                <a:effectLst/>
                <a:latin typeface="PingFang SC"/>
              </a:rPr>
              <a:t>（序号范围</a:t>
            </a:r>
            <a:r>
              <a:rPr lang="en-US" altLang="zh-CN" b="0" i="0" dirty="0">
                <a:solidFill>
                  <a:srgbClr val="333333"/>
                </a:solidFill>
                <a:effectLst/>
                <a:latin typeface="PingFang SC"/>
              </a:rPr>
              <a:t>0-7</a:t>
            </a:r>
            <a:r>
              <a:rPr lang="zh-CN" altLang="en-US" b="0" i="0" dirty="0">
                <a:solidFill>
                  <a:srgbClr val="333333"/>
                </a:solidFill>
                <a:effectLst/>
                <a:latin typeface="PingFang SC"/>
              </a:rPr>
              <a:t>），则最大窗口</a:t>
            </a:r>
            <a:r>
              <a:rPr lang="en-US" altLang="zh-CN" b="0" i="0" dirty="0">
                <a:solidFill>
                  <a:srgbClr val="333333"/>
                </a:solidFill>
                <a:effectLst/>
                <a:latin typeface="PingFang SC"/>
              </a:rPr>
              <a:t>N=4‌</a:t>
            </a:r>
            <a:r>
              <a:rPr lang="zh-CN" altLang="en-US" b="0" i="0" dirty="0">
                <a:solidFill>
                  <a:srgbClr val="333333"/>
                </a:solidFill>
                <a:effectLst/>
                <a:latin typeface="PingFang SC"/>
              </a:rPr>
              <a:t>。如果</a:t>
            </a:r>
            <a:r>
              <a:rPr lang="en-US" altLang="zh-CN" b="0" i="0" dirty="0">
                <a:solidFill>
                  <a:srgbClr val="333333"/>
                </a:solidFill>
                <a:effectLst/>
                <a:latin typeface="PingFang SC"/>
              </a:rPr>
              <a:t>N&gt;2</a:t>
            </a:r>
            <a:r>
              <a:rPr lang="en-US" altLang="zh-CN" b="0" i="0" baseline="30000" dirty="0">
                <a:solidFill>
                  <a:srgbClr val="333333"/>
                </a:solidFill>
                <a:effectLst/>
                <a:latin typeface="PingFang SC"/>
              </a:rPr>
              <a:t>k-1</a:t>
            </a:r>
            <a:r>
              <a:rPr lang="zh-CN" altLang="en-US" b="0" i="0" dirty="0">
                <a:solidFill>
                  <a:srgbClr val="333333"/>
                </a:solidFill>
                <a:effectLst/>
                <a:latin typeface="PingFang SC"/>
              </a:rPr>
              <a:t>，当发送方重传旧窗口数据时，接收方可能无法区分新旧序号，导致重复接收或错误‌丢弃；接收窗口需保证滑动后新旧窗口不重叠，因此窗口尺寸不能超过序号空间的一半‌</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41</a:t>
            </a:fld>
            <a:endParaRPr lang="zh-CN" altLang="en-US"/>
          </a:p>
        </p:txBody>
      </p:sp>
    </p:spTree>
    <p:extLst>
      <p:ext uri="{BB962C8B-B14F-4D97-AF65-F5344CB8AC3E}">
        <p14:creationId xmlns:p14="http://schemas.microsoft.com/office/powerpoint/2010/main" val="2848726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latin typeface="Times New Roman" panose="02020603050405020304" pitchFamily="18" charset="0"/>
                <a:ea typeface="宋体" panose="02010600030101010101" pitchFamily="2" charset="-122"/>
                <a:cs typeface="Times New Roman" panose="02020603050405020304" pitchFamily="18" charset="0"/>
              </a:rPr>
              <a:t>rcv_base</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-N, rcv_base-1]</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区间，</a:t>
            </a:r>
            <a:r>
              <a:rPr lang="zh-CN" altLang="en-US" dirty="0"/>
              <a:t>说明</a:t>
            </a:r>
            <a:r>
              <a:rPr lang="zh-CN" altLang="en-US" b="0" i="0" dirty="0">
                <a:solidFill>
                  <a:srgbClr val="333333"/>
                </a:solidFill>
                <a:effectLst/>
                <a:latin typeface="PingFang SC"/>
              </a:rPr>
              <a:t>收到的帧在窗口下限之前（如已确认的帧），直接返回</a:t>
            </a:r>
            <a:r>
              <a:rPr lang="en-US" altLang="zh-CN" b="0" i="0" dirty="0">
                <a:solidFill>
                  <a:srgbClr val="333333"/>
                </a:solidFill>
                <a:effectLst/>
                <a:latin typeface="PingFang SC"/>
              </a:rPr>
              <a:t>ACK</a:t>
            </a:r>
            <a:r>
              <a:rPr lang="zh-CN" altLang="en-US" b="0" i="0" dirty="0">
                <a:solidFill>
                  <a:srgbClr val="333333"/>
                </a:solidFill>
                <a:effectLst/>
                <a:latin typeface="PingFang SC"/>
              </a:rPr>
              <a:t>并忽略</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42</a:t>
            </a:fld>
            <a:endParaRPr lang="zh-CN" altLang="en-US"/>
          </a:p>
        </p:txBody>
      </p:sp>
    </p:spTree>
    <p:extLst>
      <p:ext uri="{BB962C8B-B14F-4D97-AF65-F5344CB8AC3E}">
        <p14:creationId xmlns:p14="http://schemas.microsoft.com/office/powerpoint/2010/main" val="11615422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SR</a:t>
            </a:r>
            <a:r>
              <a:rPr lang="zh-CN" altLang="en-US" dirty="0"/>
              <a:t>协议的发送窗口大小合规：序号</a:t>
            </a:r>
            <a:r>
              <a:rPr lang="en-US" altLang="zh-CN" dirty="0"/>
              <a:t>k=4</a:t>
            </a:r>
            <a:r>
              <a:rPr lang="zh-CN" altLang="en-US" dirty="0"/>
              <a:t>，</a:t>
            </a:r>
            <a:r>
              <a:rPr lang="en-US" altLang="zh-CN" dirty="0"/>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4</a:t>
            </a:r>
            <a:r>
              <a:rPr lang="en-US" altLang="zh-CN" b="0" i="0" baseline="30000" dirty="0">
                <a:solidFill>
                  <a:srgbClr val="333333"/>
                </a:solidFill>
                <a:effectLst/>
                <a:latin typeface="KaTeX_Main"/>
              </a:rPr>
              <a:t>−1</a:t>
            </a:r>
            <a:r>
              <a:rPr lang="en-US" altLang="zh-CN" b="0" i="0" dirty="0">
                <a:solidFill>
                  <a:srgbClr val="333333"/>
                </a:solidFill>
                <a:effectLst/>
                <a:latin typeface="KaTeX_Main"/>
              </a:rPr>
              <a:t>=8</a:t>
            </a:r>
          </a:p>
          <a:p>
            <a:r>
              <a:rPr lang="zh-CN" altLang="en-US" dirty="0"/>
              <a:t>工作流程：</a:t>
            </a:r>
            <a:r>
              <a:rPr lang="en-US" altLang="zh-CN" dirty="0"/>
              <a:t>1.</a:t>
            </a:r>
            <a:r>
              <a:rPr lang="zh-CN" altLang="en-US" dirty="0"/>
              <a:t>窗口</a:t>
            </a:r>
            <a:r>
              <a:rPr lang="en-US" altLang="zh-CN" dirty="0"/>
              <a:t>N=4</a:t>
            </a:r>
            <a:r>
              <a:rPr lang="zh-CN" altLang="en-US" dirty="0"/>
              <a:t>，流水线发送</a:t>
            </a:r>
            <a:r>
              <a:rPr lang="en-US" altLang="zh-CN" dirty="0"/>
              <a:t>4</a:t>
            </a:r>
            <a:r>
              <a:rPr lang="zh-CN" altLang="en-US" dirty="0"/>
              <a:t>个分组；</a:t>
            </a:r>
            <a:r>
              <a:rPr lang="en-US" altLang="zh-CN" dirty="0"/>
              <a:t>2.</a:t>
            </a:r>
            <a:r>
              <a:rPr lang="zh-CN" altLang="en-US" dirty="0"/>
              <a:t>分组</a:t>
            </a:r>
            <a:r>
              <a:rPr lang="en-US" altLang="zh-CN" dirty="0"/>
              <a:t>0</a:t>
            </a:r>
            <a:r>
              <a:rPr lang="zh-CN" altLang="en-US" dirty="0"/>
              <a:t>、</a:t>
            </a:r>
            <a:r>
              <a:rPr lang="en-US" altLang="zh-CN" dirty="0"/>
              <a:t>1</a:t>
            </a:r>
            <a:r>
              <a:rPr lang="zh-CN" altLang="en-US" dirty="0"/>
              <a:t>的</a:t>
            </a:r>
            <a:r>
              <a:rPr lang="en-US" altLang="zh-CN" dirty="0"/>
              <a:t>ACK</a:t>
            </a:r>
            <a:r>
              <a:rPr lang="zh-CN" altLang="en-US" dirty="0"/>
              <a:t>返回，窗口向前移动</a:t>
            </a:r>
            <a:r>
              <a:rPr lang="en-US" altLang="zh-CN" dirty="0"/>
              <a:t>2</a:t>
            </a:r>
            <a:r>
              <a:rPr lang="zh-CN" altLang="en-US" dirty="0"/>
              <a:t>格；</a:t>
            </a:r>
            <a:r>
              <a:rPr lang="en-US" altLang="zh-CN" dirty="0"/>
              <a:t>3.</a:t>
            </a:r>
            <a:r>
              <a:rPr lang="zh-CN" altLang="en-US" dirty="0"/>
              <a:t>分组</a:t>
            </a:r>
            <a:r>
              <a:rPr lang="en-US" altLang="zh-CN" dirty="0"/>
              <a:t>2</a:t>
            </a:r>
            <a:r>
              <a:rPr lang="zh-CN" altLang="en-US" dirty="0"/>
              <a:t>丢失，分组</a:t>
            </a:r>
            <a:r>
              <a:rPr lang="en-US" altLang="zh-CN" dirty="0"/>
              <a:t>3</a:t>
            </a:r>
            <a:r>
              <a:rPr lang="zh-CN" altLang="en-US" dirty="0"/>
              <a:t>、</a:t>
            </a:r>
            <a:r>
              <a:rPr lang="en-US" altLang="zh-CN" dirty="0"/>
              <a:t>4</a:t>
            </a:r>
            <a:r>
              <a:rPr lang="zh-CN" altLang="en-US" dirty="0"/>
              <a:t>、</a:t>
            </a:r>
            <a:r>
              <a:rPr lang="en-US" altLang="zh-CN" dirty="0"/>
              <a:t>5</a:t>
            </a:r>
            <a:r>
              <a:rPr lang="zh-CN" altLang="en-US" dirty="0"/>
              <a:t>依次到达，未按序，缓存，返回对分组</a:t>
            </a:r>
            <a:r>
              <a:rPr lang="en-US" altLang="zh-CN" dirty="0"/>
              <a:t>3</a:t>
            </a:r>
            <a:r>
              <a:rPr lang="zh-CN" altLang="en-US" dirty="0"/>
              <a:t>、</a:t>
            </a:r>
            <a:r>
              <a:rPr lang="en-US" altLang="zh-CN" dirty="0"/>
              <a:t>4</a:t>
            </a:r>
            <a:r>
              <a:rPr lang="zh-CN" altLang="en-US" dirty="0"/>
              <a:t>、</a:t>
            </a:r>
            <a:r>
              <a:rPr lang="en-US" altLang="zh-CN" dirty="0"/>
              <a:t>5</a:t>
            </a:r>
            <a:r>
              <a:rPr lang="zh-CN" altLang="en-US" dirty="0"/>
              <a:t>的</a:t>
            </a:r>
            <a:r>
              <a:rPr lang="en-US" altLang="zh-CN" dirty="0"/>
              <a:t>ACK</a:t>
            </a:r>
            <a:r>
              <a:rPr lang="zh-CN" altLang="en-US" dirty="0"/>
              <a:t>；</a:t>
            </a:r>
            <a:r>
              <a:rPr lang="en-US" altLang="zh-CN" dirty="0"/>
              <a:t>4.</a:t>
            </a:r>
            <a:r>
              <a:rPr lang="zh-CN" altLang="en-US" dirty="0"/>
              <a:t>由于分组</a:t>
            </a:r>
            <a:r>
              <a:rPr lang="en-US" altLang="zh-CN" dirty="0"/>
              <a:t>2</a:t>
            </a:r>
            <a:r>
              <a:rPr lang="zh-CN" altLang="en-US" dirty="0"/>
              <a:t>超时，仅重发分组</a:t>
            </a:r>
            <a:r>
              <a:rPr lang="en-US" altLang="zh-CN" dirty="0"/>
              <a:t>2</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43</a:t>
            </a:fld>
            <a:endParaRPr lang="zh-CN" altLang="en-US"/>
          </a:p>
        </p:txBody>
      </p:sp>
    </p:spTree>
    <p:extLst>
      <p:ext uri="{BB962C8B-B14F-4D97-AF65-F5344CB8AC3E}">
        <p14:creationId xmlns:p14="http://schemas.microsoft.com/office/powerpoint/2010/main" val="1587359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PingFang SC"/>
              </a:rPr>
              <a:t>SR</a:t>
            </a:r>
            <a:r>
              <a:rPr lang="zh-CN" altLang="en-US" b="0" i="0" dirty="0">
                <a:solidFill>
                  <a:srgbClr val="333333"/>
                </a:solidFill>
                <a:effectLst/>
                <a:latin typeface="PingFang SC"/>
              </a:rPr>
              <a:t>协议的发送窗口</a:t>
            </a:r>
            <a:r>
              <a:rPr lang="en-US" altLang="zh-CN" b="0" i="0" dirty="0">
                <a:solidFill>
                  <a:srgbClr val="333333"/>
                </a:solidFill>
                <a:effectLst/>
                <a:latin typeface="PingFang SC"/>
              </a:rPr>
              <a:t>/</a:t>
            </a:r>
            <a:r>
              <a:rPr lang="zh-CN" altLang="en-US" b="0" i="0" dirty="0">
                <a:solidFill>
                  <a:srgbClr val="333333"/>
                </a:solidFill>
                <a:effectLst/>
                <a:latin typeface="PingFang SC"/>
              </a:rPr>
              <a:t>接收窗口大小</a:t>
            </a:r>
            <a:r>
              <a:rPr lang="en-US" altLang="zh-CN" b="0" i="0" dirty="0">
                <a:solidFill>
                  <a:srgbClr val="333333"/>
                </a:solidFill>
                <a:effectLst/>
                <a:latin typeface="PingFang SC"/>
              </a:rPr>
              <a:t>N</a:t>
            </a:r>
            <a:r>
              <a:rPr lang="zh-CN" altLang="en-US" b="0" i="0" dirty="0">
                <a:solidFill>
                  <a:srgbClr val="333333"/>
                </a:solidFill>
                <a:effectLst/>
                <a:latin typeface="PingFang SC"/>
              </a:rPr>
              <a:t>必须满足：</a:t>
            </a:r>
            <a:r>
              <a:rPr lang="en-US" altLang="zh-CN" b="0" i="0" dirty="0">
                <a:solidFill>
                  <a:srgbClr val="333333"/>
                </a:solidFill>
                <a:effectLst/>
                <a:latin typeface="KaTeX_Math"/>
              </a:rPr>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k</a:t>
            </a:r>
            <a:r>
              <a:rPr lang="en-US" altLang="zh-CN" b="0" i="0" baseline="30000" dirty="0">
                <a:solidFill>
                  <a:srgbClr val="333333"/>
                </a:solidFill>
                <a:effectLst/>
                <a:latin typeface="KaTeX_Main"/>
              </a:rPr>
              <a:t>−1</a:t>
            </a:r>
            <a:endParaRPr lang="en-US" altLang="zh-CN" b="0" i="0" dirty="0">
              <a:solidFill>
                <a:srgbClr val="333333"/>
              </a:solidFill>
              <a:effectLst/>
              <a:latin typeface="KaTeX_Main"/>
            </a:endParaRPr>
          </a:p>
          <a:p>
            <a:pPr algn="l"/>
            <a:r>
              <a:rPr lang="zh-CN" altLang="en-US" dirty="0"/>
              <a:t>序号空间为</a:t>
            </a:r>
            <a:r>
              <a:rPr lang="en-US" altLang="zh-CN" dirty="0"/>
              <a:t>0</a:t>
            </a:r>
            <a:r>
              <a:rPr lang="zh-CN" altLang="en-US" dirty="0">
                <a:latin typeface="宋体" panose="02010600030101010101" pitchFamily="2" charset="-122"/>
                <a:ea typeface="宋体" panose="02010600030101010101" pitchFamily="2" charset="-122"/>
              </a:rPr>
              <a:t>～</a:t>
            </a:r>
            <a:r>
              <a:rPr lang="en-US" altLang="zh-CN" dirty="0"/>
              <a:t>3</a:t>
            </a:r>
            <a:r>
              <a:rPr lang="zh-CN" altLang="en-US" dirty="0"/>
              <a:t>，说明序号为</a:t>
            </a:r>
            <a:r>
              <a:rPr lang="en-US" altLang="zh-CN" dirty="0"/>
              <a:t>2</a:t>
            </a:r>
            <a:r>
              <a:rPr lang="zh-CN" altLang="en-US" dirty="0"/>
              <a:t>位，发送窗口</a:t>
            </a:r>
            <a:r>
              <a:rPr lang="en-US" altLang="zh-CN" dirty="0"/>
              <a:t>/</a:t>
            </a:r>
            <a:r>
              <a:rPr lang="zh-CN" altLang="en-US" dirty="0"/>
              <a:t>接收窗口大小</a:t>
            </a:r>
            <a:r>
              <a:rPr lang="en-US" altLang="zh-CN" b="0" i="0" dirty="0">
                <a:solidFill>
                  <a:srgbClr val="333333"/>
                </a:solidFill>
                <a:effectLst/>
                <a:latin typeface="KaTeX_Math"/>
              </a:rPr>
              <a:t>N</a:t>
            </a:r>
            <a:r>
              <a:rPr lang="en-US" altLang="zh-CN" b="0" i="0" dirty="0">
                <a:solidFill>
                  <a:srgbClr val="333333"/>
                </a:solidFill>
                <a:effectLst/>
                <a:latin typeface="KaTeX_Main"/>
              </a:rPr>
              <a:t>≤2</a:t>
            </a:r>
            <a:r>
              <a:rPr lang="en-US" altLang="zh-CN" b="0" i="0" baseline="30000" dirty="0">
                <a:solidFill>
                  <a:srgbClr val="333333"/>
                </a:solidFill>
                <a:effectLst/>
                <a:latin typeface="KaTeX_Math"/>
              </a:rPr>
              <a:t>2</a:t>
            </a:r>
            <a:r>
              <a:rPr lang="en-US" altLang="zh-CN" b="0" i="0" baseline="30000" dirty="0">
                <a:solidFill>
                  <a:srgbClr val="333333"/>
                </a:solidFill>
                <a:effectLst/>
                <a:latin typeface="KaTeX_Main"/>
              </a:rPr>
              <a:t>−1</a:t>
            </a:r>
            <a:r>
              <a:rPr lang="en-US" altLang="zh-CN" b="0" i="0" baseline="0" dirty="0">
                <a:solidFill>
                  <a:srgbClr val="333333"/>
                </a:solidFill>
                <a:effectLst/>
                <a:latin typeface="KaTeX_Main"/>
              </a:rPr>
              <a:t>=2</a:t>
            </a:r>
          </a:p>
          <a:p>
            <a:pPr algn="l"/>
            <a:r>
              <a:rPr lang="zh-CN" altLang="en-US" b="0" i="0" baseline="0" dirty="0">
                <a:solidFill>
                  <a:srgbClr val="333333"/>
                </a:solidFill>
                <a:effectLst/>
                <a:latin typeface="KaTeX_Main"/>
              </a:rPr>
              <a:t>当</a:t>
            </a:r>
            <a:r>
              <a:rPr lang="zh-CN" altLang="en-US" dirty="0"/>
              <a:t>窗口大小</a:t>
            </a:r>
            <a:r>
              <a:rPr lang="en-US" altLang="zh-CN" b="0" i="0" dirty="0">
                <a:solidFill>
                  <a:srgbClr val="333333"/>
                </a:solidFill>
                <a:effectLst/>
                <a:latin typeface="KaTeX_Math"/>
              </a:rPr>
              <a:t>N=3</a:t>
            </a:r>
            <a:r>
              <a:rPr lang="zh-CN" altLang="en-US" b="0" i="0" dirty="0">
                <a:solidFill>
                  <a:srgbClr val="333333"/>
                </a:solidFill>
                <a:effectLst/>
                <a:latin typeface="KaTeX_Math"/>
              </a:rPr>
              <a:t>时，</a:t>
            </a:r>
            <a:r>
              <a:rPr lang="zh-CN" altLang="en-US" b="0" i="0" dirty="0">
                <a:solidFill>
                  <a:srgbClr val="333333"/>
                </a:solidFill>
                <a:effectLst/>
                <a:latin typeface="PingFang SC"/>
              </a:rPr>
              <a:t>如果发送方重传旧窗口数据，接收方可能无法区分新旧序号，例如图中序号</a:t>
            </a:r>
            <a:r>
              <a:rPr lang="en-US" altLang="zh-CN" b="0" i="0" dirty="0">
                <a:solidFill>
                  <a:srgbClr val="333333"/>
                </a:solidFill>
                <a:effectLst/>
                <a:latin typeface="PingFang SC"/>
              </a:rPr>
              <a:t>0</a:t>
            </a:r>
            <a:r>
              <a:rPr lang="zh-CN" altLang="en-US" b="0" i="0" dirty="0">
                <a:solidFill>
                  <a:srgbClr val="333333"/>
                </a:solidFill>
                <a:effectLst/>
                <a:latin typeface="PingFang SC"/>
              </a:rPr>
              <a:t>的新旧分组</a:t>
            </a:r>
            <a:endParaRPr lang="en-US" altLang="zh-CN" baseline="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44</a:t>
            </a:fld>
            <a:endParaRPr lang="zh-CN" altLang="en-US"/>
          </a:p>
        </p:txBody>
      </p:sp>
    </p:spTree>
    <p:extLst>
      <p:ext uri="{BB962C8B-B14F-4D97-AF65-F5344CB8AC3E}">
        <p14:creationId xmlns:p14="http://schemas.microsoft.com/office/powerpoint/2010/main" val="22909142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45</a:t>
            </a:fld>
            <a:endParaRPr lang="zh-CN" altLang="en-US"/>
          </a:p>
        </p:txBody>
      </p:sp>
    </p:spTree>
    <p:extLst>
      <p:ext uri="{BB962C8B-B14F-4D97-AF65-F5344CB8AC3E}">
        <p14:creationId xmlns:p14="http://schemas.microsoft.com/office/powerpoint/2010/main" val="29089797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46</a:t>
            </a:fld>
            <a:endParaRPr lang="zh-CN" altLang="en-US"/>
          </a:p>
        </p:txBody>
      </p:sp>
    </p:spTree>
    <p:extLst>
      <p:ext uri="{BB962C8B-B14F-4D97-AF65-F5344CB8AC3E}">
        <p14:creationId xmlns:p14="http://schemas.microsoft.com/office/powerpoint/2010/main" val="16932083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端口号：实现复用</a:t>
            </a:r>
            <a:r>
              <a:rPr lang="en-US" altLang="zh-CN" dirty="0"/>
              <a:t>/</a:t>
            </a:r>
            <a:r>
              <a:rPr lang="zh-CN" altLang="en-US" dirty="0"/>
              <a:t>分用</a:t>
            </a:r>
            <a:endParaRPr lang="en-US" altLang="zh-CN" dirty="0"/>
          </a:p>
          <a:p>
            <a:r>
              <a:rPr lang="zh-CN" altLang="en-US" dirty="0"/>
              <a:t>序号、确认号、校验和：支持可靠传输、包括流水线（每个字节有独立的序号）</a:t>
            </a:r>
            <a:endParaRPr lang="en-US" altLang="zh-CN" dirty="0"/>
          </a:p>
          <a:p>
            <a:r>
              <a:rPr lang="zh-CN" altLang="en-US" dirty="0"/>
              <a:t>接收窗口通告：支持流量控制</a:t>
            </a:r>
            <a:endParaRPr lang="en-US" altLang="zh-CN" dirty="0"/>
          </a:p>
          <a:p>
            <a:r>
              <a:rPr lang="zh-CN" altLang="en-US" dirty="0"/>
              <a:t>标志位：连接建立、释放、</a:t>
            </a:r>
            <a:r>
              <a:rPr lang="en-US" altLang="zh-CN" dirty="0"/>
              <a:t>ACK</a:t>
            </a:r>
            <a:r>
              <a:rPr lang="zh-CN" altLang="en-US" dirty="0"/>
              <a:t>、紧急情况等</a:t>
            </a:r>
            <a:endParaRPr lang="en-US" altLang="zh-CN"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47</a:t>
            </a:fld>
            <a:endParaRPr lang="zh-CN" altLang="en-US"/>
          </a:p>
        </p:txBody>
      </p:sp>
    </p:spTree>
    <p:extLst>
      <p:ext uri="{BB962C8B-B14F-4D97-AF65-F5344CB8AC3E}">
        <p14:creationId xmlns:p14="http://schemas.microsoft.com/office/powerpoint/2010/main" val="33783093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48</a:t>
            </a:fld>
            <a:endParaRPr lang="zh-CN" altLang="en-US"/>
          </a:p>
        </p:txBody>
      </p:sp>
    </p:spTree>
    <p:extLst>
      <p:ext uri="{BB962C8B-B14F-4D97-AF65-F5344CB8AC3E}">
        <p14:creationId xmlns:p14="http://schemas.microsoft.com/office/powerpoint/2010/main" val="687582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49</a:t>
            </a:fld>
            <a:endParaRPr lang="zh-CN" altLang="en-US"/>
          </a:p>
        </p:txBody>
      </p:sp>
    </p:spTree>
    <p:extLst>
      <p:ext uri="{BB962C8B-B14F-4D97-AF65-F5344CB8AC3E}">
        <p14:creationId xmlns:p14="http://schemas.microsoft.com/office/powerpoint/2010/main" val="5960662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进程服务器改成线程服务器</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50</a:t>
            </a:fld>
            <a:endParaRPr lang="zh-CN" altLang="en-US"/>
          </a:p>
        </p:txBody>
      </p:sp>
    </p:spTree>
    <p:extLst>
      <p:ext uri="{BB962C8B-B14F-4D97-AF65-F5344CB8AC3E}">
        <p14:creationId xmlns:p14="http://schemas.microsoft.com/office/powerpoint/2010/main" val="605238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针对特定的</a:t>
            </a:r>
            <a:r>
              <a:rPr lang="en-US" altLang="zh-CN" dirty="0"/>
              <a:t>TCP</a:t>
            </a:r>
            <a:r>
              <a:rPr lang="zh-CN" altLang="en-US" dirty="0"/>
              <a:t>连接，为应用进程提供可靠传输服务（字节流）</a:t>
            </a:r>
            <a:endParaRPr lang="en-US" altLang="zh-CN" dirty="0"/>
          </a:p>
          <a:p>
            <a:r>
              <a:rPr lang="zh-CN" altLang="en-US" dirty="0"/>
              <a:t>每个</a:t>
            </a:r>
            <a:r>
              <a:rPr lang="en-US" altLang="zh-CN" dirty="0"/>
              <a:t>TCP</a:t>
            </a:r>
            <a:r>
              <a:rPr lang="zh-CN" altLang="en-US" dirty="0"/>
              <a:t>连接都有自己的缓存（可靠传输服务保证从发送缓存到接收缓存的可靠性）</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51</a:t>
            </a:fld>
            <a:endParaRPr lang="zh-CN" altLang="en-US"/>
          </a:p>
        </p:txBody>
      </p:sp>
    </p:spTree>
    <p:extLst>
      <p:ext uri="{BB962C8B-B14F-4D97-AF65-F5344CB8AC3E}">
        <p14:creationId xmlns:p14="http://schemas.microsoft.com/office/powerpoint/2010/main" val="27251345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52</a:t>
            </a:fld>
            <a:endParaRPr lang="zh-CN" altLang="en-US"/>
          </a:p>
        </p:txBody>
      </p:sp>
    </p:spTree>
    <p:extLst>
      <p:ext uri="{BB962C8B-B14F-4D97-AF65-F5344CB8AC3E}">
        <p14:creationId xmlns:p14="http://schemas.microsoft.com/office/powerpoint/2010/main" val="31629506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53</a:t>
            </a:fld>
            <a:endParaRPr lang="zh-CN" altLang="en-US"/>
          </a:p>
        </p:txBody>
      </p:sp>
    </p:spTree>
    <p:extLst>
      <p:ext uri="{BB962C8B-B14F-4D97-AF65-F5344CB8AC3E}">
        <p14:creationId xmlns:p14="http://schemas.microsoft.com/office/powerpoint/2010/main" val="17078500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54</a:t>
            </a:fld>
            <a:endParaRPr lang="zh-CN" altLang="en-US"/>
          </a:p>
        </p:txBody>
      </p:sp>
    </p:spTree>
    <p:extLst>
      <p:ext uri="{BB962C8B-B14F-4D97-AF65-F5344CB8AC3E}">
        <p14:creationId xmlns:p14="http://schemas.microsoft.com/office/powerpoint/2010/main" val="12927931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PingFang SC"/>
              </a:rPr>
              <a:t>平衡实时性与效率</a:t>
            </a:r>
            <a:r>
              <a:rPr lang="zh-CN" altLang="en-US" b="0" i="0" dirty="0">
                <a:solidFill>
                  <a:srgbClr val="333333"/>
                </a:solidFill>
                <a:effectLst/>
                <a:latin typeface="PingFang SC"/>
              </a:rPr>
              <a:t>‌：</a:t>
            </a:r>
            <a:r>
              <a:rPr lang="en-US" altLang="zh-CN" b="0" i="0" dirty="0">
                <a:solidFill>
                  <a:srgbClr val="333333"/>
                </a:solidFill>
                <a:effectLst/>
                <a:latin typeface="PingFang SC"/>
              </a:rPr>
              <a:t>500</a:t>
            </a:r>
            <a:r>
              <a:rPr lang="zh-CN" altLang="en-US" b="0" i="0" dirty="0">
                <a:solidFill>
                  <a:srgbClr val="333333"/>
                </a:solidFill>
                <a:effectLst/>
                <a:latin typeface="PingFang SC"/>
              </a:rPr>
              <a:t>毫秒的延迟上限（通常由协议规定）既能有效合并确认，又不会因等待过长导致发送方超时重传</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55</a:t>
            </a:fld>
            <a:endParaRPr lang="zh-CN" altLang="en-US"/>
          </a:p>
        </p:txBody>
      </p:sp>
    </p:spTree>
    <p:extLst>
      <p:ext uri="{BB962C8B-B14F-4D97-AF65-F5344CB8AC3E}">
        <p14:creationId xmlns:p14="http://schemas.microsoft.com/office/powerpoint/2010/main" val="20587694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53A538D5-EB5D-40A8-A3E4-62F522CAACAE}" type="slidenum">
              <a:rPr lang="en-US" altLang="zh-CN" smtClean="0"/>
              <a:pPr/>
              <a:t>56</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p:spPr>
        <p:txBody>
          <a:bodyPr/>
          <a:lstStyle/>
          <a:p>
            <a:pPr eaLnBrk="1" hangingPunct="1"/>
            <a:r>
              <a:rPr lang="zh-CN" altLang="en-US" b="1" i="0" dirty="0">
                <a:solidFill>
                  <a:srgbClr val="333333"/>
                </a:solidFill>
                <a:effectLst/>
                <a:latin typeface="PingFang SC"/>
              </a:rPr>
              <a:t>累积</a:t>
            </a:r>
            <a:r>
              <a:rPr lang="en-US" altLang="zh-CN" b="1" i="0" dirty="0">
                <a:solidFill>
                  <a:srgbClr val="333333"/>
                </a:solidFill>
                <a:effectLst/>
                <a:latin typeface="PingFang SC"/>
              </a:rPr>
              <a:t>ACK</a:t>
            </a:r>
            <a:r>
              <a:rPr lang="zh-CN" altLang="en-US" b="1" i="0" dirty="0">
                <a:solidFill>
                  <a:srgbClr val="333333"/>
                </a:solidFill>
                <a:effectLst/>
                <a:latin typeface="PingFang SC"/>
              </a:rPr>
              <a:t>机制：</a:t>
            </a:r>
            <a:r>
              <a:rPr lang="zh-CN" altLang="en-US" b="0" i="0" dirty="0">
                <a:solidFill>
                  <a:srgbClr val="333333"/>
                </a:solidFill>
                <a:effectLst/>
                <a:latin typeface="PingFang SC"/>
              </a:rPr>
              <a:t>接收方发送的</a:t>
            </a:r>
            <a:r>
              <a:rPr lang="en-US" altLang="zh-CN" b="0" i="0" dirty="0">
                <a:solidFill>
                  <a:srgbClr val="333333"/>
                </a:solidFill>
                <a:effectLst/>
                <a:latin typeface="PingFang SC"/>
              </a:rPr>
              <a:t>ACK</a:t>
            </a:r>
            <a:r>
              <a:rPr lang="zh-CN" altLang="en-US" b="0" i="0" dirty="0">
                <a:solidFill>
                  <a:srgbClr val="333333"/>
                </a:solidFill>
                <a:effectLst/>
                <a:latin typeface="PingFang SC"/>
              </a:rPr>
              <a:t>号表示已正确接收该序号之前的所有数据，并期望接收下一个序号的数据。这种机制意味着确认是累积的，确认一个序号就意味着确认所有之前的序号。即使接收方收到多个重复的报文段，但</a:t>
            </a:r>
            <a:r>
              <a:rPr lang="en-US" altLang="zh-CN" b="0" i="0" dirty="0">
                <a:solidFill>
                  <a:srgbClr val="333333"/>
                </a:solidFill>
                <a:effectLst/>
                <a:latin typeface="PingFang SC"/>
              </a:rPr>
              <a:t>ACK</a:t>
            </a:r>
            <a:r>
              <a:rPr lang="zh-CN" altLang="en-US" b="0" i="0" dirty="0">
                <a:solidFill>
                  <a:srgbClr val="333333"/>
                </a:solidFill>
                <a:effectLst/>
                <a:latin typeface="PingFang SC"/>
              </a:rPr>
              <a:t>号仍指向第一个缺失的字节序号</a:t>
            </a:r>
            <a:br>
              <a:rPr lang="zh-CN" altLang="en-US" b="0" i="0" dirty="0">
                <a:solidFill>
                  <a:srgbClr val="333333"/>
                </a:solidFill>
                <a:effectLst/>
                <a:latin typeface="PingFang SC"/>
              </a:rPr>
            </a:br>
            <a:endParaRPr lang="zh-CN" altLang="zh-CN" dirty="0"/>
          </a:p>
        </p:txBody>
      </p:sp>
    </p:spTree>
    <p:extLst>
      <p:ext uri="{BB962C8B-B14F-4D97-AF65-F5344CB8AC3E}">
        <p14:creationId xmlns:p14="http://schemas.microsoft.com/office/powerpoint/2010/main" val="39723555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53A538D5-EB5D-40A8-A3E4-62F522CAACAE}" type="slidenum">
              <a:rPr lang="en-US" altLang="zh-CN" smtClean="0"/>
              <a:pPr/>
              <a:t>57</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p:spPr>
        <p:txBody>
          <a:bodyPr/>
          <a:lstStyle/>
          <a:p>
            <a:pPr algn="l">
              <a:buFont typeface="Arial" panose="020B0604020202020204" pitchFamily="34" charset="0"/>
              <a:buNone/>
            </a:pPr>
            <a:r>
              <a:rPr lang="zh-CN" altLang="en-US" b="1" i="0" dirty="0">
                <a:solidFill>
                  <a:srgbClr val="333333"/>
                </a:solidFill>
                <a:effectLst/>
                <a:latin typeface="PingFang SC"/>
              </a:rPr>
              <a:t>解决传统缺陷</a:t>
            </a:r>
            <a:r>
              <a:rPr lang="zh-CN" altLang="en-US" b="0" i="0" dirty="0">
                <a:solidFill>
                  <a:srgbClr val="333333"/>
                </a:solidFill>
                <a:effectLst/>
                <a:latin typeface="PingFang SC"/>
              </a:rPr>
              <a:t>‌：传统</a:t>
            </a:r>
            <a:r>
              <a:rPr lang="en-US" altLang="zh-CN" b="0" i="0" dirty="0">
                <a:solidFill>
                  <a:srgbClr val="333333"/>
                </a:solidFill>
                <a:effectLst/>
                <a:latin typeface="PingFang SC"/>
              </a:rPr>
              <a:t>TCP</a:t>
            </a:r>
            <a:r>
              <a:rPr lang="zh-CN" altLang="en-US" b="0" i="0" dirty="0">
                <a:solidFill>
                  <a:srgbClr val="333333"/>
                </a:solidFill>
                <a:effectLst/>
                <a:latin typeface="PingFang SC"/>
              </a:rPr>
              <a:t>采用累积确认机制，接收方仅报告最后一个连续字节的序号，导致发送方需重传所有后续数据。</a:t>
            </a:r>
            <a:r>
              <a:rPr lang="en-US" altLang="zh-CN" b="0" i="0" dirty="0">
                <a:solidFill>
                  <a:srgbClr val="333333"/>
                </a:solidFill>
                <a:effectLst/>
                <a:latin typeface="PingFang SC"/>
              </a:rPr>
              <a:t>SACK</a:t>
            </a:r>
            <a:r>
              <a:rPr lang="zh-CN" altLang="en-US" b="0" i="0" dirty="0">
                <a:solidFill>
                  <a:srgbClr val="333333"/>
                </a:solidFill>
                <a:effectLst/>
                <a:latin typeface="PingFang SC"/>
              </a:rPr>
              <a:t>通过非累积确认机制，允许接收方在</a:t>
            </a:r>
            <a:r>
              <a:rPr lang="en-US" altLang="zh-CN" b="0" i="0" dirty="0">
                <a:solidFill>
                  <a:srgbClr val="333333"/>
                </a:solidFill>
                <a:effectLst/>
                <a:latin typeface="PingFang SC"/>
              </a:rPr>
              <a:t>ACK</a:t>
            </a:r>
            <a:r>
              <a:rPr lang="zh-CN" altLang="en-US" b="0" i="0" dirty="0">
                <a:solidFill>
                  <a:srgbClr val="333333"/>
                </a:solidFill>
                <a:effectLst/>
                <a:latin typeface="PingFang SC"/>
              </a:rPr>
              <a:t>报文中附加已接收的非连续数据块序列号范围（如</a:t>
            </a:r>
            <a:r>
              <a:rPr lang="en-US" altLang="zh-CN" b="0" i="0" dirty="0">
                <a:solidFill>
                  <a:srgbClr val="333333"/>
                </a:solidFill>
                <a:effectLst/>
                <a:latin typeface="PingFang SC"/>
              </a:rPr>
              <a:t>3000-3500</a:t>
            </a:r>
            <a:r>
              <a:rPr lang="zh-CN" altLang="en-US" b="0" i="0" dirty="0">
                <a:solidFill>
                  <a:srgbClr val="333333"/>
                </a:solidFill>
                <a:effectLst/>
                <a:latin typeface="PingFang SC"/>
              </a:rPr>
              <a:t>），从而避免重复传输已正确接收的数据‌</a:t>
            </a:r>
          </a:p>
          <a:p>
            <a:r>
              <a:rPr lang="zh-CN" altLang="en-US" b="0" i="0" dirty="0">
                <a:solidFill>
                  <a:srgbClr val="333333"/>
                </a:solidFill>
                <a:effectLst/>
                <a:latin typeface="PingFang SC"/>
              </a:rPr>
              <a:t>‌</a:t>
            </a:r>
            <a:r>
              <a:rPr lang="zh-CN" altLang="en-US" b="1" i="0" dirty="0">
                <a:solidFill>
                  <a:srgbClr val="333333"/>
                </a:solidFill>
                <a:effectLst/>
                <a:latin typeface="PingFang SC"/>
              </a:rPr>
              <a:t>协同工作</a:t>
            </a:r>
            <a:r>
              <a:rPr lang="zh-CN" altLang="en-US" b="0" i="0" dirty="0">
                <a:solidFill>
                  <a:srgbClr val="333333"/>
                </a:solidFill>
                <a:effectLst/>
                <a:latin typeface="PingFang SC"/>
              </a:rPr>
              <a:t>‌：</a:t>
            </a:r>
            <a:r>
              <a:rPr lang="en-US" altLang="zh-CN" b="0" i="0" dirty="0">
                <a:solidFill>
                  <a:srgbClr val="333333"/>
                </a:solidFill>
                <a:effectLst/>
                <a:latin typeface="PingFang SC"/>
              </a:rPr>
              <a:t>SACK</a:t>
            </a:r>
            <a:r>
              <a:rPr lang="zh-CN" altLang="en-US" b="0" i="0" dirty="0">
                <a:solidFill>
                  <a:srgbClr val="333333"/>
                </a:solidFill>
                <a:effectLst/>
                <a:latin typeface="PingFang SC"/>
              </a:rPr>
              <a:t>与快速重传算法协同工作，不替代累积确认的基础功能。仅当检测到失序数据段时，才向发送方返回</a:t>
            </a:r>
            <a:r>
              <a:rPr lang="en-US" altLang="zh-CN" b="0" i="0" dirty="0">
                <a:solidFill>
                  <a:srgbClr val="333333"/>
                </a:solidFill>
                <a:effectLst/>
                <a:latin typeface="PingFang SC"/>
              </a:rPr>
              <a:t>SACK</a:t>
            </a:r>
            <a:r>
              <a:rPr lang="zh-CN" altLang="en-US" b="0" i="0" dirty="0">
                <a:solidFill>
                  <a:srgbClr val="333333"/>
                </a:solidFill>
                <a:effectLst/>
                <a:latin typeface="PingFang SC"/>
              </a:rPr>
              <a:t>选项‌</a:t>
            </a:r>
            <a:endParaRPr lang="zh-CN" altLang="en-US" b="1" i="0" dirty="0">
              <a:solidFill>
                <a:srgbClr val="333333"/>
              </a:solidFill>
              <a:effectLst/>
              <a:latin typeface="PingFang SC"/>
            </a:endParaRPr>
          </a:p>
        </p:txBody>
      </p:sp>
    </p:spTree>
    <p:extLst>
      <p:ext uri="{BB962C8B-B14F-4D97-AF65-F5344CB8AC3E}">
        <p14:creationId xmlns:p14="http://schemas.microsoft.com/office/powerpoint/2010/main" val="2057928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自适应方法通过持续调整</a:t>
            </a:r>
            <a:r>
              <a:rPr lang="en-US" altLang="zh-CN" b="0" i="0" dirty="0">
                <a:solidFill>
                  <a:srgbClr val="333333"/>
                </a:solidFill>
                <a:effectLst/>
                <a:latin typeface="PingFang SC"/>
              </a:rPr>
              <a:t>RTO</a:t>
            </a:r>
            <a:r>
              <a:rPr lang="zh-CN" altLang="en-US" b="0" i="0" dirty="0">
                <a:solidFill>
                  <a:srgbClr val="333333"/>
                </a:solidFill>
                <a:effectLst/>
                <a:latin typeface="PingFang SC"/>
              </a:rPr>
              <a:t>适应网络动态变化：如果</a:t>
            </a:r>
            <a:r>
              <a:rPr lang="en-US" altLang="zh-CN" b="0" i="0" dirty="0">
                <a:solidFill>
                  <a:srgbClr val="333333"/>
                </a:solidFill>
                <a:effectLst/>
                <a:latin typeface="PingFang SC"/>
              </a:rPr>
              <a:t>RTT</a:t>
            </a:r>
            <a:r>
              <a:rPr lang="zh-CN" altLang="en-US" b="0" i="0" dirty="0">
                <a:solidFill>
                  <a:srgbClr val="333333"/>
                </a:solidFill>
                <a:effectLst/>
                <a:latin typeface="PingFang SC"/>
              </a:rPr>
              <a:t>波动较小，</a:t>
            </a:r>
            <a:r>
              <a:rPr lang="en-US" altLang="zh-CN" b="0" i="0" dirty="0">
                <a:solidFill>
                  <a:srgbClr val="333333"/>
                </a:solidFill>
                <a:effectLst/>
                <a:latin typeface="PingFang SC"/>
              </a:rPr>
              <a:t>RTO</a:t>
            </a:r>
            <a:r>
              <a:rPr lang="zh-CN" altLang="en-US" b="0" i="0" dirty="0">
                <a:solidFill>
                  <a:srgbClr val="333333"/>
                </a:solidFill>
                <a:effectLst/>
                <a:latin typeface="PingFang SC"/>
              </a:rPr>
              <a:t>保持稳定；如果网络时延增大，</a:t>
            </a:r>
            <a:r>
              <a:rPr lang="en-US" altLang="zh-CN" b="0" i="0" dirty="0">
                <a:solidFill>
                  <a:srgbClr val="333333"/>
                </a:solidFill>
                <a:effectLst/>
                <a:latin typeface="PingFang SC"/>
              </a:rPr>
              <a:t>RTT</a:t>
            </a:r>
            <a:r>
              <a:rPr lang="zh-CN" altLang="en-US" b="0" i="0" dirty="0">
                <a:solidFill>
                  <a:srgbClr val="333333"/>
                </a:solidFill>
                <a:effectLst/>
                <a:latin typeface="PingFang SC"/>
              </a:rPr>
              <a:t>上升会推动</a:t>
            </a:r>
            <a:r>
              <a:rPr lang="en-US" altLang="zh-CN" b="0" i="0" dirty="0">
                <a:solidFill>
                  <a:srgbClr val="333333"/>
                </a:solidFill>
                <a:effectLst/>
                <a:latin typeface="PingFang SC"/>
              </a:rPr>
              <a:t>RTO</a:t>
            </a:r>
            <a:r>
              <a:rPr lang="zh-CN" altLang="en-US" b="0" i="0" dirty="0">
                <a:solidFill>
                  <a:srgbClr val="333333"/>
                </a:solidFill>
                <a:effectLst/>
                <a:latin typeface="PingFang SC"/>
              </a:rPr>
              <a:t>增加，平衡传输效率与可靠性</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58</a:t>
            </a:fld>
            <a:endParaRPr lang="zh-CN" altLang="en-US"/>
          </a:p>
        </p:txBody>
      </p:sp>
    </p:spTree>
    <p:extLst>
      <p:ext uri="{BB962C8B-B14F-4D97-AF65-F5344CB8AC3E}">
        <p14:creationId xmlns:p14="http://schemas.microsoft.com/office/powerpoint/2010/main" val="11719829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333333"/>
                </a:solidFill>
                <a:effectLst/>
                <a:latin typeface="PingFang SC"/>
              </a:rPr>
              <a:t>测量</a:t>
            </a:r>
            <a:r>
              <a:rPr lang="en-US" altLang="zh-CN" b="0" dirty="0">
                <a:solidFill>
                  <a:srgbClr val="333333"/>
                </a:solidFill>
                <a:effectLst/>
                <a:latin typeface="PingFang SC"/>
              </a:rPr>
              <a:t>RTT</a:t>
            </a:r>
            <a:r>
              <a:rPr lang="zh-CN" altLang="en-US" b="0" dirty="0">
                <a:solidFill>
                  <a:srgbClr val="333333"/>
                </a:solidFill>
                <a:effectLst/>
                <a:latin typeface="PingFang SC"/>
              </a:rPr>
              <a:t>：</a:t>
            </a:r>
            <a:r>
              <a:rPr lang="zh-CN" altLang="en-US" dirty="0">
                <a:effectLst/>
              </a:rPr>
              <a:t>发送端设置计时器，</a:t>
            </a:r>
            <a:r>
              <a:rPr lang="zh-CN" altLang="en-US" b="0" i="0" dirty="0">
                <a:solidFill>
                  <a:srgbClr val="333333"/>
                </a:solidFill>
                <a:effectLst/>
                <a:latin typeface="PingFang SC"/>
              </a:rPr>
              <a:t>通过</a:t>
            </a:r>
            <a:r>
              <a:rPr lang="en-US" altLang="zh-CN" b="0" i="0" dirty="0">
                <a:solidFill>
                  <a:srgbClr val="333333"/>
                </a:solidFill>
                <a:effectLst/>
                <a:latin typeface="PingFang SC"/>
              </a:rPr>
              <a:t>TCP</a:t>
            </a:r>
            <a:r>
              <a:rPr lang="zh-CN" altLang="en-US" b="0" i="0" dirty="0">
                <a:solidFill>
                  <a:srgbClr val="333333"/>
                </a:solidFill>
                <a:effectLst/>
                <a:latin typeface="PingFang SC"/>
              </a:rPr>
              <a:t>报文选项中的时间戳记录发送时间，接收端返回</a:t>
            </a:r>
            <a:r>
              <a:rPr lang="en-US" altLang="zh-CN" b="0" i="0" dirty="0">
                <a:solidFill>
                  <a:srgbClr val="333333"/>
                </a:solidFill>
                <a:effectLst/>
                <a:latin typeface="PingFang SC"/>
              </a:rPr>
              <a:t>ACK</a:t>
            </a:r>
            <a:r>
              <a:rPr lang="zh-CN" altLang="en-US" b="0" i="0" dirty="0">
                <a:solidFill>
                  <a:srgbClr val="333333"/>
                </a:solidFill>
                <a:effectLst/>
                <a:latin typeface="PingFang SC"/>
              </a:rPr>
              <a:t>时携带该时间戳‌</a:t>
            </a:r>
            <a:endParaRPr lang="en-US" altLang="zh-CN" b="0" i="0" dirty="0">
              <a:solidFill>
                <a:srgbClr val="333333"/>
              </a:solidFill>
              <a:effectLst/>
              <a:latin typeface="PingFang SC"/>
            </a:endParaRPr>
          </a:p>
          <a:p>
            <a:r>
              <a:rPr lang="zh-CN" altLang="en-US" b="0" i="0" dirty="0">
                <a:solidFill>
                  <a:srgbClr val="333333"/>
                </a:solidFill>
                <a:effectLst/>
                <a:latin typeface="PingFang SC"/>
              </a:rPr>
              <a:t>平滑</a:t>
            </a:r>
            <a:r>
              <a:rPr lang="en-US" altLang="zh-CN" b="0" i="0" dirty="0">
                <a:solidFill>
                  <a:srgbClr val="333333"/>
                </a:solidFill>
                <a:effectLst/>
                <a:latin typeface="PingFang SC"/>
              </a:rPr>
              <a:t>RTT</a:t>
            </a:r>
            <a:r>
              <a:rPr lang="zh-CN" altLang="en-US" b="0" i="0" dirty="0">
                <a:solidFill>
                  <a:srgbClr val="333333"/>
                </a:solidFill>
                <a:effectLst/>
                <a:latin typeface="PingFang SC"/>
              </a:rPr>
              <a:t>‌：对历史</a:t>
            </a:r>
            <a:r>
              <a:rPr lang="en-US" altLang="zh-CN" b="0" i="0" dirty="0">
                <a:solidFill>
                  <a:srgbClr val="333333"/>
                </a:solidFill>
                <a:effectLst/>
                <a:latin typeface="PingFang SC"/>
              </a:rPr>
              <a:t>RTT</a:t>
            </a:r>
            <a:r>
              <a:rPr lang="zh-CN" altLang="en-US" b="0" i="0" dirty="0">
                <a:solidFill>
                  <a:srgbClr val="333333"/>
                </a:solidFill>
                <a:effectLst/>
                <a:latin typeface="PingFang SC"/>
              </a:rPr>
              <a:t>样本进行加权平均，首次测量时直接取样本值，后续采用以下公式计算，新</a:t>
            </a:r>
            <a:r>
              <a:rPr lang="en-US" altLang="zh-CN" b="0" i="0" dirty="0">
                <a:solidFill>
                  <a:srgbClr val="333333"/>
                </a:solidFill>
                <a:effectLst/>
                <a:latin typeface="PingFang SC"/>
              </a:rPr>
              <a:t>RTT=(1-α)×</a:t>
            </a:r>
            <a:r>
              <a:rPr lang="zh-CN" altLang="en-US" b="0" i="0" dirty="0">
                <a:solidFill>
                  <a:srgbClr val="333333"/>
                </a:solidFill>
                <a:effectLst/>
                <a:latin typeface="PingFang SC"/>
              </a:rPr>
              <a:t>旧</a:t>
            </a:r>
            <a:r>
              <a:rPr lang="en-US" altLang="zh-CN" b="0" i="0" dirty="0">
                <a:solidFill>
                  <a:srgbClr val="333333"/>
                </a:solidFill>
                <a:effectLst/>
                <a:latin typeface="PingFang SC"/>
              </a:rPr>
              <a:t>RTT+α×</a:t>
            </a:r>
            <a:r>
              <a:rPr lang="zh-CN" altLang="en-US" b="0" i="0" dirty="0">
                <a:solidFill>
                  <a:srgbClr val="333333"/>
                </a:solidFill>
                <a:effectLst/>
                <a:latin typeface="PingFang SC"/>
              </a:rPr>
              <a:t>新</a:t>
            </a:r>
            <a:r>
              <a:rPr lang="en-US" altLang="zh-CN" b="0" i="0" dirty="0">
                <a:solidFill>
                  <a:srgbClr val="333333"/>
                </a:solidFill>
                <a:effectLst/>
                <a:latin typeface="PingFang SC"/>
              </a:rPr>
              <a:t>RTT</a:t>
            </a:r>
            <a:r>
              <a:rPr lang="zh-CN" altLang="en-US" b="0" i="0" dirty="0">
                <a:solidFill>
                  <a:srgbClr val="333333"/>
                </a:solidFill>
                <a:effectLst/>
                <a:latin typeface="PingFang SC"/>
              </a:rPr>
              <a:t>样本</a:t>
            </a:r>
            <a:endParaRPr lang="en-US" altLang="zh-CN" b="0" i="0" dirty="0">
              <a:solidFill>
                <a:srgbClr val="333333"/>
              </a:solidFill>
              <a:effectLst/>
              <a:latin typeface="PingFang SC"/>
            </a:endParaRPr>
          </a:p>
          <a:p>
            <a:r>
              <a:rPr lang="zh-CN" altLang="en-US" b="0" i="0" dirty="0">
                <a:solidFill>
                  <a:srgbClr val="333333"/>
                </a:solidFill>
                <a:effectLst/>
                <a:latin typeface="PingFang SC"/>
              </a:rPr>
              <a:t>计算</a:t>
            </a:r>
            <a:r>
              <a:rPr lang="en-US" altLang="zh-CN" b="0" i="0" dirty="0">
                <a:solidFill>
                  <a:srgbClr val="333333"/>
                </a:solidFill>
                <a:effectLst/>
                <a:latin typeface="PingFang SC"/>
              </a:rPr>
              <a:t>RTO</a:t>
            </a:r>
            <a:r>
              <a:rPr lang="zh-CN" altLang="en-US" b="0" i="0" dirty="0">
                <a:solidFill>
                  <a:srgbClr val="333333"/>
                </a:solidFill>
                <a:effectLst/>
                <a:latin typeface="PingFang SC"/>
              </a:rPr>
              <a:t>：根据</a:t>
            </a:r>
            <a:r>
              <a:rPr lang="en-US" altLang="zh-CN" b="0" i="0" dirty="0">
                <a:solidFill>
                  <a:srgbClr val="333333"/>
                </a:solidFill>
                <a:effectLst/>
                <a:latin typeface="PingFang SC"/>
              </a:rPr>
              <a:t>RTT</a:t>
            </a:r>
            <a:r>
              <a:rPr lang="zh-CN" altLang="en-US" b="0" i="0" dirty="0">
                <a:solidFill>
                  <a:srgbClr val="333333"/>
                </a:solidFill>
                <a:effectLst/>
                <a:latin typeface="PingFang SC"/>
              </a:rPr>
              <a:t>计算</a:t>
            </a:r>
            <a:r>
              <a:rPr lang="en-US" altLang="zh-CN" b="0" i="0" dirty="0">
                <a:solidFill>
                  <a:srgbClr val="333333"/>
                </a:solidFill>
                <a:effectLst/>
                <a:latin typeface="PingFang SC"/>
              </a:rPr>
              <a:t>RTO</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59</a:t>
            </a:fld>
            <a:endParaRPr lang="zh-CN" altLang="en-US"/>
          </a:p>
        </p:txBody>
      </p:sp>
    </p:spTree>
    <p:extLst>
      <p:ext uri="{BB962C8B-B14F-4D97-AF65-F5344CB8AC3E}">
        <p14:creationId xmlns:p14="http://schemas.microsoft.com/office/powerpoint/2010/main" val="3681689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新的</a:t>
            </a:r>
            <a:r>
              <a:rPr lang="en-US" altLang="zh-CN" b="0" i="0" dirty="0">
                <a:solidFill>
                  <a:srgbClr val="333333"/>
                </a:solidFill>
                <a:effectLst/>
                <a:latin typeface="PingFang SC"/>
              </a:rPr>
              <a:t>RTT</a:t>
            </a:r>
            <a:r>
              <a:rPr lang="zh-CN" altLang="en-US" b="0" i="0" dirty="0">
                <a:solidFill>
                  <a:srgbClr val="333333"/>
                </a:solidFill>
                <a:effectLst/>
                <a:latin typeface="PingFang SC"/>
              </a:rPr>
              <a:t>样本对</a:t>
            </a:r>
            <a:r>
              <a:rPr lang="en-US" altLang="zh-CN" b="0" i="0" dirty="0">
                <a:solidFill>
                  <a:srgbClr val="333333"/>
                </a:solidFill>
                <a:effectLst/>
                <a:latin typeface="PingFang SC"/>
              </a:rPr>
              <a:t>RTT</a:t>
            </a:r>
            <a:r>
              <a:rPr lang="zh-CN" altLang="en-US" b="0" i="0" dirty="0">
                <a:solidFill>
                  <a:srgbClr val="333333"/>
                </a:solidFill>
                <a:effectLst/>
                <a:latin typeface="PingFang SC"/>
              </a:rPr>
              <a:t>评估值产生一定影响，但是不会完全覆盖旧值，从而使得</a:t>
            </a:r>
            <a:r>
              <a:rPr lang="en-US" altLang="zh-CN" b="0" i="0" dirty="0">
                <a:solidFill>
                  <a:srgbClr val="333333"/>
                </a:solidFill>
                <a:effectLst/>
                <a:latin typeface="PingFang SC"/>
              </a:rPr>
              <a:t>RTO</a:t>
            </a:r>
            <a:r>
              <a:rPr lang="zh-CN" altLang="en-US" b="0" i="0" dirty="0">
                <a:solidFill>
                  <a:srgbClr val="333333"/>
                </a:solidFill>
                <a:effectLst/>
                <a:latin typeface="PingFang SC"/>
              </a:rPr>
              <a:t>的估算更平滑和稳定‌</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60</a:t>
            </a:fld>
            <a:endParaRPr lang="zh-CN" altLang="en-US"/>
          </a:p>
        </p:txBody>
      </p:sp>
    </p:spTree>
    <p:extLst>
      <p:ext uri="{BB962C8B-B14F-4D97-AF65-F5344CB8AC3E}">
        <p14:creationId xmlns:p14="http://schemas.microsoft.com/office/powerpoint/2010/main" val="3932499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solidFill>
                  <a:srgbClr val="333333"/>
                </a:solidFill>
                <a:effectLst/>
                <a:latin typeface="PingFang SC"/>
              </a:rPr>
              <a:t>平滑</a:t>
            </a:r>
            <a:r>
              <a:rPr lang="en-US" altLang="zh-CN" b="0" i="0" dirty="0">
                <a:solidFill>
                  <a:srgbClr val="333333"/>
                </a:solidFill>
                <a:effectLst/>
                <a:latin typeface="PingFang SC"/>
              </a:rPr>
              <a:t>RTT</a:t>
            </a:r>
            <a:r>
              <a:rPr lang="zh-CN" altLang="en-US" b="0" i="0" dirty="0">
                <a:solidFill>
                  <a:srgbClr val="333333"/>
                </a:solidFill>
                <a:effectLst/>
                <a:latin typeface="PingFang SC"/>
              </a:rPr>
              <a:t>‌：对历史</a:t>
            </a:r>
            <a:r>
              <a:rPr lang="en-US" altLang="zh-CN" b="0" i="0" dirty="0">
                <a:solidFill>
                  <a:srgbClr val="333333"/>
                </a:solidFill>
                <a:effectLst/>
                <a:latin typeface="PingFang SC"/>
              </a:rPr>
              <a:t>RTT</a:t>
            </a:r>
            <a:r>
              <a:rPr lang="zh-CN" altLang="en-US" b="0" i="0" dirty="0">
                <a:solidFill>
                  <a:srgbClr val="333333"/>
                </a:solidFill>
                <a:effectLst/>
                <a:latin typeface="PingFang SC"/>
              </a:rPr>
              <a:t>样本进行加权平均，首次测量时直接取样本值，后续采用以下公式计算，新</a:t>
            </a:r>
            <a:r>
              <a:rPr lang="en-US" altLang="zh-CN" b="0" i="0" dirty="0">
                <a:solidFill>
                  <a:srgbClr val="333333"/>
                </a:solidFill>
                <a:effectLst/>
                <a:latin typeface="PingFang SC"/>
              </a:rPr>
              <a:t>RTT=(1-α)×</a:t>
            </a:r>
            <a:r>
              <a:rPr lang="zh-CN" altLang="en-US" b="0" i="0" dirty="0">
                <a:solidFill>
                  <a:srgbClr val="333333"/>
                </a:solidFill>
                <a:effectLst/>
                <a:latin typeface="PingFang SC"/>
              </a:rPr>
              <a:t>旧</a:t>
            </a:r>
            <a:r>
              <a:rPr lang="en-US" altLang="zh-CN" b="0" i="0" dirty="0">
                <a:solidFill>
                  <a:srgbClr val="333333"/>
                </a:solidFill>
                <a:effectLst/>
                <a:latin typeface="PingFang SC"/>
              </a:rPr>
              <a:t>RTT+α×</a:t>
            </a:r>
            <a:r>
              <a:rPr lang="zh-CN" altLang="en-US" b="0" i="0" dirty="0">
                <a:solidFill>
                  <a:srgbClr val="333333"/>
                </a:solidFill>
                <a:effectLst/>
                <a:latin typeface="PingFang SC"/>
              </a:rPr>
              <a:t>新</a:t>
            </a:r>
            <a:r>
              <a:rPr lang="en-US" altLang="zh-CN" b="0" i="0" dirty="0">
                <a:solidFill>
                  <a:srgbClr val="333333"/>
                </a:solidFill>
                <a:effectLst/>
                <a:latin typeface="PingFang SC"/>
              </a:rPr>
              <a:t>RTT</a:t>
            </a:r>
            <a:r>
              <a:rPr lang="zh-CN" altLang="en-US" b="0" i="0" dirty="0">
                <a:solidFill>
                  <a:srgbClr val="333333"/>
                </a:solidFill>
                <a:effectLst/>
                <a:latin typeface="PingFang SC"/>
              </a:rPr>
              <a:t>样本</a:t>
            </a:r>
          </a:p>
          <a:p>
            <a:pPr algn="l">
              <a:buFont typeface="Arial" panose="020B0604020202020204" pitchFamily="34" charset="0"/>
              <a:buNone/>
            </a:pPr>
            <a:r>
              <a:rPr lang="en-US" altLang="zh-CN" b="0" i="0" dirty="0">
                <a:solidFill>
                  <a:srgbClr val="333333"/>
                </a:solidFill>
                <a:effectLst/>
                <a:latin typeface="PingFang SC"/>
              </a:rPr>
              <a:t>RTT</a:t>
            </a:r>
            <a:r>
              <a:rPr lang="zh-CN" altLang="en-US" b="0" i="0" dirty="0">
                <a:solidFill>
                  <a:srgbClr val="333333"/>
                </a:solidFill>
                <a:effectLst/>
                <a:latin typeface="PingFang SC"/>
              </a:rPr>
              <a:t>偏差‌：反映</a:t>
            </a:r>
            <a:r>
              <a:rPr lang="en-US" altLang="zh-CN" b="0" i="0" dirty="0">
                <a:solidFill>
                  <a:srgbClr val="333333"/>
                </a:solidFill>
                <a:effectLst/>
                <a:latin typeface="PingFang SC"/>
              </a:rPr>
              <a:t>RTT</a:t>
            </a:r>
            <a:r>
              <a:rPr lang="zh-CN" altLang="en-US" b="0" i="0" dirty="0">
                <a:solidFill>
                  <a:srgbClr val="333333"/>
                </a:solidFill>
                <a:effectLst/>
                <a:latin typeface="PingFang SC"/>
              </a:rPr>
              <a:t>波动程度，首次取样本值的一半，后续采用以下公式计算，新</a:t>
            </a:r>
            <a:r>
              <a:rPr lang="en-US" altLang="zh-CN" b="0" i="0" dirty="0">
                <a:solidFill>
                  <a:srgbClr val="333333"/>
                </a:solidFill>
                <a:effectLst/>
                <a:latin typeface="PingFang SC"/>
              </a:rPr>
              <a:t>RTT</a:t>
            </a:r>
            <a:r>
              <a:rPr lang="zh-CN" altLang="en-US" b="0" i="0" dirty="0">
                <a:solidFill>
                  <a:srgbClr val="333333"/>
                </a:solidFill>
                <a:effectLst/>
                <a:latin typeface="PingFang SC"/>
              </a:rPr>
              <a:t>偏差</a:t>
            </a:r>
            <a:r>
              <a:rPr lang="en-US" altLang="zh-CN" b="0" i="0" dirty="0">
                <a:solidFill>
                  <a:srgbClr val="333333"/>
                </a:solidFill>
                <a:effectLst/>
                <a:latin typeface="PingFang SC"/>
              </a:rPr>
              <a:t>=(1-β)×</a:t>
            </a:r>
            <a:r>
              <a:rPr lang="zh-CN" altLang="en-US" b="0" i="0" dirty="0">
                <a:solidFill>
                  <a:srgbClr val="333333"/>
                </a:solidFill>
                <a:effectLst/>
                <a:latin typeface="PingFang SC"/>
              </a:rPr>
              <a:t>旧</a:t>
            </a:r>
            <a:r>
              <a:rPr lang="en-US" altLang="zh-CN" b="0" i="0" dirty="0">
                <a:solidFill>
                  <a:srgbClr val="333333"/>
                </a:solidFill>
                <a:effectLst/>
                <a:latin typeface="PingFang SC"/>
              </a:rPr>
              <a:t>RTT</a:t>
            </a:r>
            <a:r>
              <a:rPr lang="zh-CN" altLang="en-US" b="0" i="0" dirty="0">
                <a:solidFill>
                  <a:srgbClr val="333333"/>
                </a:solidFill>
                <a:effectLst/>
                <a:latin typeface="PingFang SC"/>
              </a:rPr>
              <a:t>偏差</a:t>
            </a:r>
            <a:r>
              <a:rPr lang="en-US" altLang="zh-CN" b="0" i="0" dirty="0">
                <a:solidFill>
                  <a:srgbClr val="333333"/>
                </a:solidFill>
                <a:effectLst/>
                <a:latin typeface="PingFang SC"/>
              </a:rPr>
              <a:t>+β×|</a:t>
            </a:r>
            <a:r>
              <a:rPr lang="zh-CN" altLang="en-US" b="0" i="0" dirty="0">
                <a:solidFill>
                  <a:srgbClr val="333333"/>
                </a:solidFill>
                <a:effectLst/>
                <a:latin typeface="PingFang SC"/>
              </a:rPr>
              <a:t>旧</a:t>
            </a:r>
            <a:r>
              <a:rPr lang="en-US" altLang="zh-CN" b="0" i="0" dirty="0">
                <a:solidFill>
                  <a:srgbClr val="333333"/>
                </a:solidFill>
                <a:effectLst/>
                <a:latin typeface="PingFang SC"/>
              </a:rPr>
              <a:t>RTT-</a:t>
            </a:r>
            <a:r>
              <a:rPr lang="zh-CN" altLang="en-US" b="0" i="0" dirty="0">
                <a:solidFill>
                  <a:srgbClr val="333333"/>
                </a:solidFill>
                <a:effectLst/>
                <a:latin typeface="PingFang SC"/>
              </a:rPr>
              <a:t>新</a:t>
            </a:r>
            <a:r>
              <a:rPr lang="en-US" altLang="zh-CN" b="0" i="0" dirty="0">
                <a:solidFill>
                  <a:srgbClr val="333333"/>
                </a:solidFill>
                <a:effectLst/>
                <a:latin typeface="PingFang SC"/>
              </a:rPr>
              <a:t>RTT</a:t>
            </a:r>
            <a:r>
              <a:rPr lang="zh-CN" altLang="en-US" b="0" i="0" dirty="0">
                <a:solidFill>
                  <a:srgbClr val="333333"/>
                </a:solidFill>
                <a:effectLst/>
                <a:latin typeface="PingFang SC"/>
              </a:rPr>
              <a:t>样本</a:t>
            </a:r>
            <a:r>
              <a:rPr lang="en-US" altLang="zh-CN" b="0" i="0" dirty="0">
                <a:solidFill>
                  <a:srgbClr val="333333"/>
                </a:solidFill>
                <a:effectLst/>
                <a:latin typeface="PingFang SC"/>
              </a:rPr>
              <a:t>|</a:t>
            </a:r>
            <a:r>
              <a:rPr lang="zh-CN" altLang="en-US" b="0" i="0" dirty="0">
                <a:solidFill>
                  <a:srgbClr val="333333"/>
                </a:solidFill>
                <a:effectLst/>
                <a:latin typeface="PingFang SC"/>
              </a:rPr>
              <a:t>，引入方差有助于适应网络拥塞情况</a:t>
            </a:r>
          </a:p>
          <a:p>
            <a:r>
              <a:rPr lang="zh-CN" altLang="en-US" b="0" i="0" dirty="0">
                <a:solidFill>
                  <a:srgbClr val="333333"/>
                </a:solidFill>
                <a:effectLst/>
                <a:latin typeface="PingFang SC"/>
              </a:rPr>
              <a:t>‌计算</a:t>
            </a:r>
            <a:r>
              <a:rPr lang="en-US" altLang="zh-CN" b="0" i="0" dirty="0">
                <a:solidFill>
                  <a:srgbClr val="333333"/>
                </a:solidFill>
                <a:effectLst/>
                <a:latin typeface="PingFang SC"/>
              </a:rPr>
              <a:t>RTO</a:t>
            </a:r>
            <a:r>
              <a:rPr lang="zh-CN" altLang="en-US" b="0" i="0" dirty="0">
                <a:solidFill>
                  <a:srgbClr val="333333"/>
                </a:solidFill>
                <a:effectLst/>
                <a:latin typeface="PingFang SC"/>
              </a:rPr>
              <a:t>‌：根据</a:t>
            </a:r>
            <a:r>
              <a:rPr lang="en-US" altLang="zh-CN" b="0" i="0" dirty="0">
                <a:solidFill>
                  <a:srgbClr val="333333"/>
                </a:solidFill>
                <a:effectLst/>
                <a:latin typeface="PingFang SC"/>
              </a:rPr>
              <a:t>RTT</a:t>
            </a:r>
            <a:r>
              <a:rPr lang="zh-CN" altLang="en-US" b="0" i="0" dirty="0">
                <a:solidFill>
                  <a:srgbClr val="333333"/>
                </a:solidFill>
                <a:effectLst/>
                <a:latin typeface="PingFang SC"/>
              </a:rPr>
              <a:t>与</a:t>
            </a:r>
            <a:r>
              <a:rPr lang="en-US" altLang="zh-CN" b="0" i="0" dirty="0">
                <a:solidFill>
                  <a:srgbClr val="333333"/>
                </a:solidFill>
                <a:effectLst/>
                <a:latin typeface="PingFang SC"/>
              </a:rPr>
              <a:t>RTT</a:t>
            </a:r>
            <a:r>
              <a:rPr lang="zh-CN" altLang="en-US" b="0" i="0" dirty="0">
                <a:solidFill>
                  <a:srgbClr val="333333"/>
                </a:solidFill>
                <a:effectLst/>
                <a:latin typeface="PingFang SC"/>
              </a:rPr>
              <a:t>偏差计算，确保</a:t>
            </a:r>
            <a:r>
              <a:rPr lang="en-US" altLang="zh-CN" b="0" i="0" dirty="0">
                <a:solidFill>
                  <a:srgbClr val="333333"/>
                </a:solidFill>
                <a:effectLst/>
                <a:latin typeface="PingFang SC"/>
              </a:rPr>
              <a:t>RTO</a:t>
            </a:r>
            <a:r>
              <a:rPr lang="zh-CN" altLang="en-US" b="0" i="0" dirty="0">
                <a:solidFill>
                  <a:srgbClr val="333333"/>
                </a:solidFill>
                <a:effectLst/>
                <a:latin typeface="PingFang SC"/>
              </a:rPr>
              <a:t>略大于</a:t>
            </a:r>
            <a:r>
              <a:rPr lang="en-US" altLang="zh-CN" b="0" i="0" dirty="0">
                <a:solidFill>
                  <a:srgbClr val="333333"/>
                </a:solidFill>
                <a:effectLst/>
                <a:latin typeface="PingFang SC"/>
              </a:rPr>
              <a:t>RTT</a:t>
            </a:r>
            <a:r>
              <a:rPr lang="zh-CN" altLang="en-US" b="0" i="0" dirty="0">
                <a:solidFill>
                  <a:srgbClr val="333333"/>
                </a:solidFill>
                <a:effectLst/>
                <a:latin typeface="PingFang SC"/>
              </a:rPr>
              <a:t>评估值</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61</a:t>
            </a:fld>
            <a:endParaRPr lang="zh-CN" altLang="en-US"/>
          </a:p>
        </p:txBody>
      </p:sp>
    </p:spTree>
    <p:extLst>
      <p:ext uri="{BB962C8B-B14F-4D97-AF65-F5344CB8AC3E}">
        <p14:creationId xmlns:p14="http://schemas.microsoft.com/office/powerpoint/2010/main" val="4234762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b="0" i="0" dirty="0">
                <a:solidFill>
                  <a:srgbClr val="333333"/>
                </a:solidFill>
                <a:effectLst/>
                <a:latin typeface="PingFang SC"/>
              </a:rPr>
              <a:t>传统算法在超时重传之后，将重传后的</a:t>
            </a:r>
            <a:r>
              <a:rPr lang="en-US" altLang="zh-CN" b="0" i="0" dirty="0">
                <a:solidFill>
                  <a:srgbClr val="333333"/>
                </a:solidFill>
                <a:effectLst/>
                <a:latin typeface="PingFang SC"/>
              </a:rPr>
              <a:t>RTT</a:t>
            </a:r>
            <a:r>
              <a:rPr lang="zh-CN" altLang="en-US" b="0" i="0" dirty="0">
                <a:solidFill>
                  <a:srgbClr val="333333"/>
                </a:solidFill>
                <a:effectLst/>
                <a:latin typeface="PingFang SC"/>
              </a:rPr>
              <a:t>样本（即重传时间）纳入</a:t>
            </a:r>
            <a:r>
              <a:rPr lang="en-US" altLang="zh-CN" b="0" i="0" dirty="0">
                <a:solidFill>
                  <a:srgbClr val="333333"/>
                </a:solidFill>
                <a:effectLst/>
                <a:latin typeface="PingFang SC"/>
              </a:rPr>
              <a:t>RTT</a:t>
            </a:r>
            <a:r>
              <a:rPr lang="zh-CN" altLang="en-US" b="0" i="0" dirty="0">
                <a:solidFill>
                  <a:srgbClr val="333333"/>
                </a:solidFill>
                <a:effectLst/>
                <a:latin typeface="PingFang SC"/>
              </a:rPr>
              <a:t>平均值计算。重传通常由网络拥塞引起，若将重传时间作为</a:t>
            </a:r>
            <a:r>
              <a:rPr lang="en-US" altLang="zh-CN" b="0" i="0" dirty="0">
                <a:solidFill>
                  <a:srgbClr val="333333"/>
                </a:solidFill>
                <a:effectLst/>
                <a:latin typeface="PingFang SC"/>
              </a:rPr>
              <a:t>RTT</a:t>
            </a:r>
            <a:r>
              <a:rPr lang="zh-CN" altLang="en-US" b="0" i="0" dirty="0">
                <a:solidFill>
                  <a:srgbClr val="333333"/>
                </a:solidFill>
                <a:effectLst/>
                <a:latin typeface="PingFang SC"/>
              </a:rPr>
              <a:t>样本，将导致</a:t>
            </a:r>
            <a:r>
              <a:rPr lang="en-US" altLang="zh-CN" b="0" i="0" dirty="0">
                <a:solidFill>
                  <a:srgbClr val="333333"/>
                </a:solidFill>
                <a:effectLst/>
                <a:latin typeface="PingFang SC"/>
              </a:rPr>
              <a:t>RTO</a:t>
            </a:r>
            <a:r>
              <a:rPr lang="zh-CN" altLang="en-US" b="0" i="0" dirty="0">
                <a:solidFill>
                  <a:srgbClr val="333333"/>
                </a:solidFill>
                <a:effectLst/>
                <a:latin typeface="PingFang SC"/>
              </a:rPr>
              <a:t>被错误地放大，进一步加剧拥塞。</a:t>
            </a:r>
            <a:r>
              <a:rPr lang="en-US" altLang="zh-CN" b="0" i="0" dirty="0" err="1">
                <a:solidFill>
                  <a:srgbClr val="333333"/>
                </a:solidFill>
                <a:effectLst/>
                <a:latin typeface="PingFang SC"/>
              </a:rPr>
              <a:t>Karn</a:t>
            </a:r>
            <a:r>
              <a:rPr lang="en-US" altLang="zh-CN" b="0" i="0" dirty="0">
                <a:solidFill>
                  <a:srgbClr val="333333"/>
                </a:solidFill>
                <a:effectLst/>
                <a:latin typeface="PingFang SC"/>
              </a:rPr>
              <a:t>/Partridge</a:t>
            </a:r>
            <a:r>
              <a:rPr lang="zh-CN" altLang="en-US" b="0" i="0" dirty="0">
                <a:solidFill>
                  <a:srgbClr val="333333"/>
                </a:solidFill>
                <a:effectLst/>
                <a:latin typeface="PingFang SC"/>
              </a:rPr>
              <a:t>算法用于改进</a:t>
            </a:r>
            <a:r>
              <a:rPr lang="en-US" altLang="zh-CN" b="0" i="0" dirty="0">
                <a:solidFill>
                  <a:srgbClr val="333333"/>
                </a:solidFill>
                <a:effectLst/>
                <a:latin typeface="PingFang SC"/>
              </a:rPr>
              <a:t>RTO</a:t>
            </a:r>
            <a:r>
              <a:rPr lang="zh-CN" altLang="en-US" b="0" i="0" dirty="0">
                <a:solidFill>
                  <a:srgbClr val="333333"/>
                </a:solidFill>
                <a:effectLst/>
                <a:latin typeface="PingFang SC"/>
              </a:rPr>
              <a:t>（重传超时）估算的早期算法，主要解决因重传导致的</a:t>
            </a:r>
            <a:r>
              <a:rPr lang="en-US" altLang="zh-CN" b="0" i="0" dirty="0">
                <a:solidFill>
                  <a:srgbClr val="333333"/>
                </a:solidFill>
                <a:effectLst/>
                <a:latin typeface="PingFang SC"/>
              </a:rPr>
              <a:t>RTT</a:t>
            </a:r>
            <a:r>
              <a:rPr lang="zh-CN" altLang="en-US" b="0" i="0" dirty="0">
                <a:solidFill>
                  <a:srgbClr val="333333"/>
                </a:solidFill>
                <a:effectLst/>
                <a:latin typeface="PingFang SC"/>
              </a:rPr>
              <a:t>测量偏差问题</a:t>
            </a:r>
            <a:endParaRPr lang="en-US" altLang="zh-CN" dirty="0"/>
          </a:p>
          <a:p>
            <a:pPr algn="l">
              <a:buFont typeface="Arial" panose="020B0604020202020204" pitchFamily="34" charset="0"/>
              <a:buNone/>
            </a:pPr>
            <a:r>
              <a:rPr lang="zh-CN" altLang="en-US" dirty="0"/>
              <a:t>具体改进：</a:t>
            </a:r>
            <a:r>
              <a:rPr lang="zh-CN" altLang="en-US" b="1" i="0" dirty="0">
                <a:solidFill>
                  <a:srgbClr val="333333"/>
                </a:solidFill>
                <a:effectLst/>
                <a:latin typeface="PingFang SC"/>
              </a:rPr>
              <a:t>忽略重传样本</a:t>
            </a:r>
            <a:r>
              <a:rPr lang="zh-CN" altLang="en-US" b="0" i="0" dirty="0">
                <a:solidFill>
                  <a:srgbClr val="333333"/>
                </a:solidFill>
                <a:effectLst/>
                <a:latin typeface="PingFang SC"/>
              </a:rPr>
              <a:t>‌，在超时重传后，不更新</a:t>
            </a:r>
            <a:r>
              <a:rPr lang="en-US" altLang="zh-CN" b="0" i="0" dirty="0">
                <a:solidFill>
                  <a:srgbClr val="333333"/>
                </a:solidFill>
                <a:effectLst/>
                <a:latin typeface="PingFang SC"/>
              </a:rPr>
              <a:t>RTT</a:t>
            </a:r>
            <a:r>
              <a:rPr lang="zh-CN" altLang="en-US" b="0" i="0" dirty="0">
                <a:solidFill>
                  <a:srgbClr val="333333"/>
                </a:solidFill>
                <a:effectLst/>
                <a:latin typeface="PingFang SC"/>
              </a:rPr>
              <a:t>样本（即不将重传时间计入</a:t>
            </a:r>
            <a:r>
              <a:rPr lang="en-US" altLang="zh-CN" b="0" i="0" dirty="0">
                <a:solidFill>
                  <a:srgbClr val="333333"/>
                </a:solidFill>
                <a:effectLst/>
                <a:latin typeface="PingFang SC"/>
              </a:rPr>
              <a:t>RTT</a:t>
            </a:r>
            <a:r>
              <a:rPr lang="zh-CN" altLang="en-US" b="0" i="0" dirty="0">
                <a:solidFill>
                  <a:srgbClr val="333333"/>
                </a:solidFill>
                <a:effectLst/>
                <a:latin typeface="PingFang SC"/>
              </a:rPr>
              <a:t>计算）；</a:t>
            </a:r>
            <a:r>
              <a:rPr lang="zh-CN" altLang="en-US" b="1" i="0" dirty="0">
                <a:solidFill>
                  <a:srgbClr val="333333"/>
                </a:solidFill>
                <a:effectLst/>
                <a:latin typeface="PingFang SC"/>
              </a:rPr>
              <a:t>依赖有效</a:t>
            </a:r>
            <a:r>
              <a:rPr lang="en-US" altLang="zh-CN" b="1" i="0" dirty="0">
                <a:solidFill>
                  <a:srgbClr val="333333"/>
                </a:solidFill>
                <a:effectLst/>
                <a:latin typeface="PingFang SC"/>
              </a:rPr>
              <a:t>ACK</a:t>
            </a:r>
            <a:r>
              <a:rPr lang="zh-CN" altLang="en-US" b="0" i="0" dirty="0">
                <a:solidFill>
                  <a:srgbClr val="333333"/>
                </a:solidFill>
                <a:effectLst/>
                <a:latin typeface="PingFang SC"/>
              </a:rPr>
              <a:t>‌，仅当收到非重传数据的</a:t>
            </a:r>
            <a:r>
              <a:rPr lang="en-US" altLang="zh-CN" b="0" i="0" dirty="0">
                <a:solidFill>
                  <a:srgbClr val="333333"/>
                </a:solidFill>
                <a:effectLst/>
                <a:latin typeface="PingFang SC"/>
              </a:rPr>
              <a:t>ACK</a:t>
            </a:r>
            <a:r>
              <a:rPr lang="zh-CN" altLang="en-US" b="0" i="0" dirty="0">
                <a:solidFill>
                  <a:srgbClr val="333333"/>
                </a:solidFill>
                <a:effectLst/>
                <a:latin typeface="PingFang SC"/>
              </a:rPr>
              <a:t>时，才更新</a:t>
            </a:r>
            <a:r>
              <a:rPr lang="en-US" altLang="zh-CN" b="0" i="0" dirty="0">
                <a:solidFill>
                  <a:srgbClr val="333333"/>
                </a:solidFill>
                <a:effectLst/>
                <a:latin typeface="PingFang SC"/>
              </a:rPr>
              <a:t>RTT</a:t>
            </a:r>
            <a:r>
              <a:rPr lang="zh-CN" altLang="en-US" b="0" i="0" dirty="0">
                <a:solidFill>
                  <a:srgbClr val="333333"/>
                </a:solidFill>
                <a:effectLst/>
                <a:latin typeface="PingFang SC"/>
              </a:rPr>
              <a:t>样本；</a:t>
            </a:r>
            <a:r>
              <a:rPr lang="zh-CN" altLang="en-US" b="1" i="0" dirty="0">
                <a:solidFill>
                  <a:srgbClr val="333333"/>
                </a:solidFill>
                <a:effectLst/>
                <a:latin typeface="PingFang SC"/>
              </a:rPr>
              <a:t>动态调整</a:t>
            </a:r>
            <a:r>
              <a:rPr lang="en-US" altLang="zh-CN" b="1" i="0" dirty="0">
                <a:solidFill>
                  <a:srgbClr val="333333"/>
                </a:solidFill>
                <a:effectLst/>
                <a:latin typeface="PingFang SC"/>
              </a:rPr>
              <a:t>RTO</a:t>
            </a:r>
            <a:r>
              <a:rPr lang="zh-CN" altLang="en-US" b="0" i="0" dirty="0">
                <a:solidFill>
                  <a:srgbClr val="333333"/>
                </a:solidFill>
                <a:effectLst/>
                <a:latin typeface="PingFang SC"/>
              </a:rPr>
              <a:t>‌，通过忽略重传样本，避免</a:t>
            </a:r>
            <a:r>
              <a:rPr lang="en-US" altLang="zh-CN" b="0" i="0" dirty="0">
                <a:solidFill>
                  <a:srgbClr val="333333"/>
                </a:solidFill>
                <a:effectLst/>
                <a:latin typeface="PingFang SC"/>
              </a:rPr>
              <a:t>RTO</a:t>
            </a:r>
            <a:r>
              <a:rPr lang="zh-CN" altLang="en-US" b="0" i="0" dirty="0">
                <a:solidFill>
                  <a:srgbClr val="333333"/>
                </a:solidFill>
                <a:effectLst/>
                <a:latin typeface="PingFang SC"/>
              </a:rPr>
              <a:t>因网络拥塞被过度拉高，从而更准确地反映实际网络状况</a:t>
            </a:r>
          </a:p>
          <a:p>
            <a:pPr eaLnBrk="1" hangingPunct="1">
              <a:lnSpc>
                <a:spcPct val="120000"/>
              </a:lnSpc>
            </a:pP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62</a:t>
            </a:fld>
            <a:endParaRPr lang="zh-CN" altLang="en-US"/>
          </a:p>
        </p:txBody>
      </p:sp>
    </p:spTree>
    <p:extLst>
      <p:ext uri="{BB962C8B-B14F-4D97-AF65-F5344CB8AC3E}">
        <p14:creationId xmlns:p14="http://schemas.microsoft.com/office/powerpoint/2010/main" val="8215712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DD118E7A-E986-40E7-81B3-DAC6842CABCA}" type="slidenum">
              <a:rPr lang="en-US" altLang="zh-CN" smtClean="0"/>
              <a:pPr/>
              <a:t>63</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p:spPr>
        <p:txBody>
          <a:bodyPr/>
          <a:lstStyle/>
          <a:p>
            <a:r>
              <a:rPr lang="zh-CN" altLang="en-US" b="0" i="0" dirty="0">
                <a:solidFill>
                  <a:srgbClr val="333333"/>
                </a:solidFill>
                <a:effectLst/>
                <a:latin typeface="PingFang SC"/>
              </a:rPr>
              <a:t>累计</a:t>
            </a:r>
            <a:r>
              <a:rPr lang="en-US" altLang="zh-CN" b="0" i="0" dirty="0">
                <a:solidFill>
                  <a:srgbClr val="333333"/>
                </a:solidFill>
                <a:effectLst/>
                <a:latin typeface="PingFang SC"/>
              </a:rPr>
              <a:t>ACK</a:t>
            </a:r>
            <a:r>
              <a:rPr lang="zh-CN" altLang="en-US" b="0" i="0" dirty="0">
                <a:solidFill>
                  <a:srgbClr val="333333"/>
                </a:solidFill>
                <a:effectLst/>
                <a:latin typeface="PingFang SC"/>
              </a:rPr>
              <a:t>机制使接收方正确收到期望序号之前的所有数据。如果接收方收到过失序的报文段，则无论后续收到什么报文段，返回的</a:t>
            </a:r>
            <a:r>
              <a:rPr lang="en-US" altLang="zh-CN" b="0" i="0" dirty="0">
                <a:solidFill>
                  <a:srgbClr val="333333"/>
                </a:solidFill>
                <a:effectLst/>
                <a:latin typeface="PingFang SC"/>
              </a:rPr>
              <a:t>ACK</a:t>
            </a:r>
            <a:r>
              <a:rPr lang="zh-CN" altLang="en-US" b="0" i="0" dirty="0">
                <a:solidFill>
                  <a:srgbClr val="333333"/>
                </a:solidFill>
                <a:effectLst/>
                <a:latin typeface="PingFang SC"/>
              </a:rPr>
              <a:t>号仍指向第一个缺失的字节序号</a:t>
            </a:r>
            <a:endParaRPr lang="zh-CN" altLang="zh-CN" dirty="0"/>
          </a:p>
        </p:txBody>
      </p:sp>
    </p:spTree>
    <p:extLst>
      <p:ext uri="{BB962C8B-B14F-4D97-AF65-F5344CB8AC3E}">
        <p14:creationId xmlns:p14="http://schemas.microsoft.com/office/powerpoint/2010/main" val="4437134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PingFang SC"/>
              </a:rPr>
              <a:t>SACK</a:t>
            </a:r>
            <a:r>
              <a:rPr lang="zh-CN" altLang="en-US" b="0" i="0" dirty="0">
                <a:solidFill>
                  <a:srgbClr val="333333"/>
                </a:solidFill>
                <a:effectLst/>
                <a:latin typeface="PingFang SC"/>
              </a:rPr>
              <a:t>是一种用于优化</a:t>
            </a:r>
            <a:r>
              <a:rPr lang="en-US" altLang="zh-CN" b="0" i="0" dirty="0">
                <a:solidFill>
                  <a:srgbClr val="333333"/>
                </a:solidFill>
                <a:effectLst/>
                <a:latin typeface="PingFang SC"/>
              </a:rPr>
              <a:t>TCP</a:t>
            </a:r>
            <a:r>
              <a:rPr lang="zh-CN" altLang="en-US" b="0" i="0" dirty="0">
                <a:solidFill>
                  <a:srgbClr val="333333"/>
                </a:solidFill>
                <a:effectLst/>
                <a:latin typeface="PingFang SC"/>
              </a:rPr>
              <a:t>重传效率的机制，允许接收方精准反馈已接收的非连续数据段信息，使发送方仅重传真正丢失的报文段‌</a:t>
            </a:r>
            <a:br>
              <a:rPr lang="zh-CN" altLang="en-US" b="0" i="0" dirty="0">
                <a:solidFill>
                  <a:srgbClr val="333333"/>
                </a:solidFill>
                <a:effectLst/>
                <a:latin typeface="PingFang SC"/>
              </a:rPr>
            </a:br>
            <a:r>
              <a:rPr lang="en-US" altLang="zh-CN" b="1" i="0" dirty="0">
                <a:solidFill>
                  <a:srgbClr val="333333"/>
                </a:solidFill>
                <a:effectLst/>
                <a:latin typeface="PingFang SC"/>
              </a:rPr>
              <a:t>kind=4</a:t>
            </a:r>
            <a:r>
              <a:rPr lang="zh-CN" altLang="en-US" b="1" i="0" dirty="0">
                <a:solidFill>
                  <a:srgbClr val="333333"/>
                </a:solidFill>
                <a:effectLst/>
                <a:latin typeface="PingFang SC"/>
              </a:rPr>
              <a:t>：</a:t>
            </a:r>
            <a:r>
              <a:rPr lang="en-US" altLang="zh-CN" b="1" i="0" dirty="0">
                <a:solidFill>
                  <a:srgbClr val="333333"/>
                </a:solidFill>
                <a:effectLst/>
                <a:latin typeface="PingFang SC"/>
              </a:rPr>
              <a:t>SACK-permitted</a:t>
            </a:r>
            <a:r>
              <a:rPr lang="zh-CN" altLang="en-US" b="1" i="0" dirty="0">
                <a:solidFill>
                  <a:srgbClr val="333333"/>
                </a:solidFill>
                <a:effectLst/>
                <a:latin typeface="PingFang SC"/>
              </a:rPr>
              <a:t>（允许</a:t>
            </a:r>
            <a:r>
              <a:rPr lang="en-US" altLang="zh-CN" b="1" i="0" dirty="0">
                <a:solidFill>
                  <a:srgbClr val="333333"/>
                </a:solidFill>
                <a:effectLst/>
                <a:latin typeface="PingFang SC"/>
              </a:rPr>
              <a:t>SACK</a:t>
            </a:r>
            <a:r>
              <a:rPr lang="zh-CN" altLang="en-US" b="1" i="0" dirty="0">
                <a:solidFill>
                  <a:srgbClr val="333333"/>
                </a:solidFill>
                <a:effectLst/>
                <a:latin typeface="PingFang SC"/>
              </a:rPr>
              <a:t>）</a:t>
            </a:r>
            <a:r>
              <a:rPr lang="zh-CN" altLang="en-US" b="0" i="0" dirty="0">
                <a:solidFill>
                  <a:srgbClr val="333333"/>
                </a:solidFill>
                <a:effectLst/>
                <a:latin typeface="PingFang SC"/>
              </a:rPr>
              <a:t>。在</a:t>
            </a:r>
            <a:r>
              <a:rPr lang="en-US" altLang="zh-CN" b="0" i="0" dirty="0">
                <a:solidFill>
                  <a:srgbClr val="333333"/>
                </a:solidFill>
                <a:effectLst/>
                <a:latin typeface="PingFang SC"/>
              </a:rPr>
              <a:t>TCP</a:t>
            </a:r>
            <a:r>
              <a:rPr lang="zh-CN" altLang="en-US" b="0" i="0" dirty="0">
                <a:solidFill>
                  <a:srgbClr val="333333"/>
                </a:solidFill>
                <a:effectLst/>
                <a:latin typeface="PingFang SC"/>
              </a:rPr>
              <a:t>连接建立阶段（即三次握手的</a:t>
            </a:r>
            <a:r>
              <a:rPr lang="en-US" altLang="zh-CN" b="0" i="0" dirty="0">
                <a:solidFill>
                  <a:srgbClr val="333333"/>
                </a:solidFill>
                <a:effectLst/>
                <a:latin typeface="PingFang SC"/>
              </a:rPr>
              <a:t>SYN</a:t>
            </a:r>
            <a:r>
              <a:rPr lang="zh-CN" altLang="en-US" b="0" i="0" dirty="0">
                <a:solidFill>
                  <a:srgbClr val="333333"/>
                </a:solidFill>
                <a:effectLst/>
                <a:latin typeface="PingFang SC"/>
              </a:rPr>
              <a:t>和</a:t>
            </a:r>
            <a:r>
              <a:rPr lang="en-US" altLang="zh-CN" b="0" i="0" dirty="0">
                <a:solidFill>
                  <a:srgbClr val="333333"/>
                </a:solidFill>
                <a:effectLst/>
                <a:latin typeface="PingFang SC"/>
              </a:rPr>
              <a:t>SYN-ACK</a:t>
            </a:r>
            <a:r>
              <a:rPr lang="zh-CN" altLang="en-US" b="0" i="0" dirty="0">
                <a:solidFill>
                  <a:srgbClr val="333333"/>
                </a:solidFill>
                <a:effectLst/>
                <a:latin typeface="PingFang SC"/>
              </a:rPr>
              <a:t>报文中），用于协商双方是否支持</a:t>
            </a:r>
            <a:r>
              <a:rPr lang="en-US" altLang="zh-CN" b="0" i="0" dirty="0">
                <a:solidFill>
                  <a:srgbClr val="333333"/>
                </a:solidFill>
                <a:effectLst/>
                <a:latin typeface="PingFang SC"/>
              </a:rPr>
              <a:t>SACK</a:t>
            </a:r>
            <a:r>
              <a:rPr lang="zh-CN" altLang="en-US" b="0" i="0" dirty="0">
                <a:solidFill>
                  <a:srgbClr val="333333"/>
                </a:solidFill>
                <a:effectLst/>
                <a:latin typeface="PingFang SC"/>
              </a:rPr>
              <a:t>功能‌。如果双方均支持，后续通信中接收方可以发送</a:t>
            </a:r>
            <a:r>
              <a:rPr lang="en-US" altLang="zh-CN" b="0" i="0" dirty="0">
                <a:solidFill>
                  <a:srgbClr val="333333"/>
                </a:solidFill>
                <a:effectLst/>
                <a:latin typeface="PingFang SC"/>
              </a:rPr>
              <a:t>SACK</a:t>
            </a:r>
            <a:r>
              <a:rPr lang="zh-CN" altLang="en-US" b="0" i="0" dirty="0">
                <a:solidFill>
                  <a:srgbClr val="333333"/>
                </a:solidFill>
                <a:effectLst/>
                <a:latin typeface="PingFang SC"/>
              </a:rPr>
              <a:t>选项通知发送方已成功接收的非连续数据块</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333333"/>
                </a:solidFill>
                <a:effectLst/>
                <a:latin typeface="PingFang SC"/>
              </a:rPr>
              <a:t>kind=5</a:t>
            </a:r>
            <a:r>
              <a:rPr lang="zh-CN" altLang="en-US" b="1" i="0" dirty="0">
                <a:solidFill>
                  <a:srgbClr val="333333"/>
                </a:solidFill>
                <a:effectLst/>
                <a:latin typeface="PingFang SC"/>
              </a:rPr>
              <a:t>：</a:t>
            </a:r>
            <a:r>
              <a:rPr lang="en-US" altLang="zh-CN" b="1" i="0" dirty="0">
                <a:solidFill>
                  <a:srgbClr val="333333"/>
                </a:solidFill>
                <a:effectLst/>
                <a:latin typeface="PingFang SC"/>
              </a:rPr>
              <a:t>SACK</a:t>
            </a:r>
            <a:r>
              <a:rPr lang="zh-CN" altLang="en-US" b="1" i="0" dirty="0">
                <a:solidFill>
                  <a:srgbClr val="333333"/>
                </a:solidFill>
                <a:effectLst/>
                <a:latin typeface="PingFang SC"/>
              </a:rPr>
              <a:t>（选择性确认）</a:t>
            </a:r>
            <a:r>
              <a:rPr lang="zh-CN" altLang="en-US" b="0" i="0" dirty="0">
                <a:solidFill>
                  <a:srgbClr val="333333"/>
                </a:solidFill>
                <a:effectLst/>
                <a:latin typeface="PingFang SC"/>
              </a:rPr>
              <a:t>。在连接建立后，当接收方检测到数据包丢失或乱序时，通过携带</a:t>
            </a:r>
            <a:r>
              <a:rPr lang="en-US" altLang="zh-CN" b="0" i="0" dirty="0">
                <a:solidFill>
                  <a:srgbClr val="333333"/>
                </a:solidFill>
                <a:effectLst/>
                <a:latin typeface="PingFang SC"/>
              </a:rPr>
              <a:t>SACK</a:t>
            </a:r>
            <a:r>
              <a:rPr lang="zh-CN" altLang="en-US" b="0" i="0" dirty="0">
                <a:solidFill>
                  <a:srgbClr val="333333"/>
                </a:solidFill>
                <a:effectLst/>
                <a:latin typeface="PingFang SC"/>
              </a:rPr>
              <a:t>选项的</a:t>
            </a:r>
            <a:r>
              <a:rPr lang="en-US" altLang="zh-CN" b="0" i="0" dirty="0">
                <a:solidFill>
                  <a:srgbClr val="333333"/>
                </a:solidFill>
                <a:effectLst/>
                <a:latin typeface="PingFang SC"/>
              </a:rPr>
              <a:t>ACK</a:t>
            </a:r>
            <a:r>
              <a:rPr lang="zh-CN" altLang="en-US" b="0" i="0" dirty="0">
                <a:solidFill>
                  <a:srgbClr val="333333"/>
                </a:solidFill>
                <a:effectLst/>
                <a:latin typeface="PingFang SC"/>
              </a:rPr>
              <a:t>报文，向发送方报告已成功接收的‌</a:t>
            </a:r>
            <a:r>
              <a:rPr lang="zh-CN" altLang="en-US" b="1" i="0" dirty="0">
                <a:solidFill>
                  <a:srgbClr val="333333"/>
                </a:solidFill>
                <a:effectLst/>
                <a:latin typeface="PingFang SC"/>
              </a:rPr>
              <a:t>非连续数据块</a:t>
            </a:r>
            <a:r>
              <a:rPr lang="zh-CN" altLang="en-US" b="0" i="0" dirty="0">
                <a:solidFill>
                  <a:srgbClr val="333333"/>
                </a:solidFill>
                <a:effectLst/>
                <a:latin typeface="PingFang SC"/>
              </a:rPr>
              <a:t>‌的边界（左边界和右边界）。‌由于</a:t>
            </a:r>
            <a:r>
              <a:rPr lang="en-US" altLang="zh-CN" b="0" i="0" dirty="0">
                <a:solidFill>
                  <a:srgbClr val="333333"/>
                </a:solidFill>
                <a:effectLst/>
                <a:latin typeface="PingFang SC"/>
              </a:rPr>
              <a:t>TCP</a:t>
            </a:r>
            <a:r>
              <a:rPr lang="zh-CN" altLang="en-US" b="0" i="0" dirty="0">
                <a:solidFill>
                  <a:srgbClr val="333333"/>
                </a:solidFill>
                <a:effectLst/>
                <a:latin typeface="PingFang SC"/>
              </a:rPr>
              <a:t>选项总长度限制为</a:t>
            </a:r>
            <a:r>
              <a:rPr lang="en-US" altLang="zh-CN" b="0" i="0" dirty="0">
                <a:solidFill>
                  <a:srgbClr val="333333"/>
                </a:solidFill>
                <a:effectLst/>
                <a:latin typeface="PingFang SC"/>
              </a:rPr>
              <a:t>40</a:t>
            </a:r>
            <a:r>
              <a:rPr lang="zh-CN" altLang="en-US" b="0" i="0" dirty="0">
                <a:solidFill>
                  <a:srgbClr val="333333"/>
                </a:solidFill>
                <a:effectLst/>
                <a:latin typeface="PingFang SC"/>
              </a:rPr>
              <a:t>字节，通常最多可携带</a:t>
            </a:r>
            <a:r>
              <a:rPr lang="en-US" altLang="zh-CN" b="0" i="0" dirty="0">
                <a:solidFill>
                  <a:srgbClr val="333333"/>
                </a:solidFill>
                <a:effectLst/>
                <a:latin typeface="PingFang SC"/>
              </a:rPr>
              <a:t>4</a:t>
            </a:r>
            <a:r>
              <a:rPr lang="zh-CN" altLang="en-US" b="0" i="0" dirty="0">
                <a:solidFill>
                  <a:srgbClr val="333333"/>
                </a:solidFill>
                <a:effectLst/>
                <a:latin typeface="PingFang SC"/>
              </a:rPr>
              <a:t>个</a:t>
            </a:r>
            <a:r>
              <a:rPr lang="en-US" altLang="zh-CN" b="0" i="0" dirty="0">
                <a:solidFill>
                  <a:srgbClr val="333333"/>
                </a:solidFill>
                <a:effectLst/>
                <a:latin typeface="PingFang SC"/>
              </a:rPr>
              <a:t>SACK</a:t>
            </a:r>
            <a:r>
              <a:rPr lang="zh-CN" altLang="en-US" b="0" i="0" dirty="0">
                <a:solidFill>
                  <a:srgbClr val="333333"/>
                </a:solidFill>
                <a:effectLst/>
                <a:latin typeface="PingFang SC"/>
              </a:rPr>
              <a:t>块</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64</a:t>
            </a:fld>
            <a:endParaRPr lang="zh-CN" altLang="en-US"/>
          </a:p>
        </p:txBody>
      </p:sp>
    </p:spTree>
    <p:extLst>
      <p:ext uri="{BB962C8B-B14F-4D97-AF65-F5344CB8AC3E}">
        <p14:creationId xmlns:p14="http://schemas.microsoft.com/office/powerpoint/2010/main" val="18125273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DD118E7A-E986-40E7-81B3-DAC6842CABCA}" type="slidenum">
              <a:rPr lang="en-US" altLang="zh-CN" smtClean="0"/>
              <a:pPr/>
              <a:t>65</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p:spPr>
        <p:txBody>
          <a:bodyPr/>
          <a:lstStyle/>
          <a:p>
            <a:r>
              <a:rPr lang="zh-CN" altLang="en-US" dirty="0"/>
              <a:t>通过</a:t>
            </a:r>
            <a:r>
              <a:rPr lang="en-US" altLang="zh-CN" dirty="0"/>
              <a:t>ACK</a:t>
            </a:r>
            <a:r>
              <a:rPr lang="zh-CN" altLang="en-US" dirty="0"/>
              <a:t>序号与</a:t>
            </a:r>
            <a:r>
              <a:rPr lang="en-US" altLang="zh-CN" dirty="0"/>
              <a:t>SACK</a:t>
            </a:r>
            <a:r>
              <a:rPr lang="zh-CN" altLang="en-US" dirty="0"/>
              <a:t>左边界、右边界，发送方可以确定接收方未收到的字节数据块</a:t>
            </a:r>
            <a:endParaRPr lang="zh-CN" altLang="zh-CN" dirty="0"/>
          </a:p>
        </p:txBody>
      </p:sp>
    </p:spTree>
    <p:extLst>
      <p:ext uri="{BB962C8B-B14F-4D97-AF65-F5344CB8AC3E}">
        <p14:creationId xmlns:p14="http://schemas.microsoft.com/office/powerpoint/2010/main" val="3349468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如果接收方的缓存已经存满，发送方还在持续发送数据，接收方只能丢掉收到的数据，大量丢包不但浪费网络资源，而且带来发送方的更多重传。从这角度出发，有必要限制发送方的发送速率，使接收方与发送方处于一种动态平衡</a:t>
            </a: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66</a:t>
            </a:fld>
            <a:endParaRPr lang="zh-CN" altLang="en-US"/>
          </a:p>
        </p:txBody>
      </p:sp>
    </p:spTree>
    <p:extLst>
      <p:ext uri="{BB962C8B-B14F-4D97-AF65-F5344CB8AC3E}">
        <p14:creationId xmlns:p14="http://schemas.microsoft.com/office/powerpoint/2010/main" val="23239826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0" i="0" dirty="0" err="1">
                <a:solidFill>
                  <a:srgbClr val="333333"/>
                </a:solidFill>
                <a:effectLst/>
                <a:latin typeface="PingFang SC"/>
              </a:rPr>
              <a:t>LastByteWritten</a:t>
            </a:r>
            <a:r>
              <a:rPr lang="zh-CN" altLang="en-US" b="0" i="0" dirty="0">
                <a:solidFill>
                  <a:srgbClr val="333333"/>
                </a:solidFill>
                <a:effectLst/>
                <a:latin typeface="PingFang SC"/>
              </a:rPr>
              <a:t>‌表示应用程序最后写入</a:t>
            </a:r>
            <a:r>
              <a:rPr lang="en-US" altLang="zh-CN" b="0" i="0" dirty="0">
                <a:solidFill>
                  <a:srgbClr val="333333"/>
                </a:solidFill>
                <a:effectLst/>
                <a:latin typeface="PingFang SC"/>
              </a:rPr>
              <a:t>TCP</a:t>
            </a:r>
            <a:r>
              <a:rPr lang="zh-CN" altLang="en-US" b="0" i="0" dirty="0">
                <a:solidFill>
                  <a:srgbClr val="333333"/>
                </a:solidFill>
                <a:effectLst/>
                <a:latin typeface="PingFang SC"/>
              </a:rPr>
              <a:t>发送缓存的字节位置，</a:t>
            </a:r>
            <a:r>
              <a:rPr lang="en-US" altLang="zh-CN" b="0" i="0" dirty="0" err="1">
                <a:solidFill>
                  <a:srgbClr val="333333"/>
                </a:solidFill>
                <a:effectLst/>
                <a:latin typeface="PingFang SC"/>
              </a:rPr>
              <a:t>LastByteAcked</a:t>
            </a:r>
            <a:r>
              <a:rPr lang="zh-CN" altLang="en-US" b="0" i="0" dirty="0">
                <a:solidFill>
                  <a:srgbClr val="333333"/>
                </a:solidFill>
                <a:effectLst/>
                <a:latin typeface="PingFang SC"/>
              </a:rPr>
              <a:t>‌表示接收方最后确认收到的字节位置；两者的差值‌‌表示已经发送到网络中但未收到确认的数据量，这部分数据需保留在发送方缓存中，以备可能丢失带来的重传</a:t>
            </a:r>
            <a:endParaRPr lang="en-US" altLang="zh-CN" b="0" i="0" dirty="0">
              <a:solidFill>
                <a:srgbClr val="333333"/>
              </a:solidFill>
              <a:effectLst/>
              <a:latin typeface="PingFang SC"/>
            </a:endParaRPr>
          </a:p>
          <a:p>
            <a:pPr algn="l">
              <a:buFont typeface="Arial" panose="020B0604020202020204" pitchFamily="34" charset="0"/>
              <a:buNone/>
            </a:pPr>
            <a:r>
              <a:rPr lang="en-US" altLang="zh-CN" b="0" i="0" dirty="0" err="1">
                <a:solidFill>
                  <a:srgbClr val="333333"/>
                </a:solidFill>
                <a:effectLst/>
                <a:latin typeface="PingFang SC"/>
              </a:rPr>
              <a:t>LastByteRcvd</a:t>
            </a:r>
            <a:r>
              <a:rPr lang="zh-CN" altLang="en-US" b="0" i="0" dirty="0">
                <a:solidFill>
                  <a:srgbClr val="333333"/>
                </a:solidFill>
                <a:effectLst/>
                <a:latin typeface="PingFang SC"/>
              </a:rPr>
              <a:t>‌表示接收方最后从网络收到的字节位置，</a:t>
            </a:r>
            <a:r>
              <a:rPr lang="en-US" altLang="zh-CN" b="0" i="0" dirty="0" err="1">
                <a:solidFill>
                  <a:srgbClr val="333333"/>
                </a:solidFill>
                <a:effectLst/>
                <a:latin typeface="PingFang SC"/>
              </a:rPr>
              <a:t>LastByteRead</a:t>
            </a:r>
            <a:r>
              <a:rPr lang="zh-CN" altLang="en-US" b="0" i="0" dirty="0">
                <a:solidFill>
                  <a:srgbClr val="333333"/>
                </a:solidFill>
                <a:effectLst/>
                <a:latin typeface="PingFang SC"/>
              </a:rPr>
              <a:t>‌表示应用程序最后从接收缓冲区读取的字节位置；两者的差值‌表示已经到达接收方但未被应用程序读取的数据量，这部分数据暂时存储在接收方缓存中，等待应用程序处理</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67</a:t>
            </a:fld>
            <a:endParaRPr lang="zh-CN" altLang="en-US"/>
          </a:p>
        </p:txBody>
      </p:sp>
    </p:spTree>
    <p:extLst>
      <p:ext uri="{BB962C8B-B14F-4D97-AF65-F5344CB8AC3E}">
        <p14:creationId xmlns:p14="http://schemas.microsoft.com/office/powerpoint/2010/main" val="18985847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接收方通过</a:t>
            </a:r>
            <a:r>
              <a:rPr lang="en-US" altLang="zh-CN" b="0" i="0" dirty="0">
                <a:solidFill>
                  <a:srgbClr val="333333"/>
                </a:solidFill>
                <a:effectLst/>
                <a:latin typeface="PingFang SC"/>
              </a:rPr>
              <a:t>ACK</a:t>
            </a:r>
            <a:r>
              <a:rPr lang="zh-CN" altLang="en-US" b="0" i="0" dirty="0">
                <a:solidFill>
                  <a:srgbClr val="333333"/>
                </a:solidFill>
                <a:effectLst/>
                <a:latin typeface="PingFang SC"/>
              </a:rPr>
              <a:t>报文中的接收窗口（</a:t>
            </a:r>
            <a:r>
              <a:rPr lang="en-US" altLang="zh-CN" sz="1200" dirty="0" err="1">
                <a:solidFill>
                  <a:srgbClr val="000099"/>
                </a:solidFill>
                <a:latin typeface="Times New Roman" panose="02020603050405020304" pitchFamily="18" charset="0"/>
                <a:ea typeface="宋体" pitchFamily="2" charset="-122"/>
                <a:cs typeface="Times New Roman" panose="02020603050405020304" pitchFamily="18" charset="0"/>
              </a:rPr>
              <a:t>AdvertisedWindow</a:t>
            </a:r>
            <a:r>
              <a:rPr lang="zh-CN" altLang="en-US" b="0" i="0" dirty="0">
                <a:solidFill>
                  <a:srgbClr val="333333"/>
                </a:solidFill>
                <a:effectLst/>
                <a:latin typeface="PingFang SC"/>
              </a:rPr>
              <a:t>）动态通告其缓存的可用空间，约束条件是发送方的</a:t>
            </a:r>
            <a:r>
              <a:rPr lang="zh-CN" altLang="en-US" b="1" i="0" dirty="0">
                <a:solidFill>
                  <a:srgbClr val="333333"/>
                </a:solidFill>
                <a:effectLst/>
                <a:latin typeface="PingFang SC"/>
              </a:rPr>
              <a:t>已发送但未确认的数据量</a:t>
            </a:r>
            <a:r>
              <a:rPr lang="zh-CN" altLang="en-US" b="0" i="0" dirty="0">
                <a:solidFill>
                  <a:srgbClr val="333333"/>
                </a:solidFill>
                <a:effectLst/>
                <a:latin typeface="PingFang SC"/>
              </a:rPr>
              <a:t>不得超过该值</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333333"/>
                </a:solidFill>
                <a:effectLst/>
                <a:latin typeface="PingFang SC"/>
              </a:rPr>
              <a:t>发送窗口的实际大小取两者的最小值：</a:t>
            </a:r>
            <a:r>
              <a:rPr lang="zh-CN" altLang="en-US" dirty="0">
                <a:effectLst/>
              </a:rPr>
              <a:t>接收方通告的</a:t>
            </a:r>
            <a:r>
              <a:rPr lang="en-US" altLang="zh-CN" sz="1200" dirty="0" err="1">
                <a:solidFill>
                  <a:srgbClr val="000099"/>
                </a:solidFill>
                <a:latin typeface="Times New Roman" panose="02020603050405020304" pitchFamily="18" charset="0"/>
                <a:ea typeface="宋体" pitchFamily="2" charset="-122"/>
                <a:cs typeface="Times New Roman" panose="02020603050405020304" pitchFamily="18" charset="0"/>
              </a:rPr>
              <a:t>AdvertisedWindow</a:t>
            </a:r>
            <a:r>
              <a:rPr lang="zh-CN" altLang="en-US" dirty="0">
                <a:effectLst/>
              </a:rPr>
              <a:t>与</a:t>
            </a:r>
            <a:r>
              <a:rPr lang="zh-CN" altLang="en-US" b="0" i="0" dirty="0">
                <a:solidFill>
                  <a:srgbClr val="333333"/>
                </a:solidFill>
                <a:effectLst/>
                <a:latin typeface="PingFang SC"/>
              </a:rPr>
              <a:t>发送方的发送缓存容量‌</a:t>
            </a:r>
            <a:br>
              <a:rPr lang="zh-CN" altLang="en-US" b="0" i="0" dirty="0">
                <a:solidFill>
                  <a:srgbClr val="333333"/>
                </a:solidFill>
                <a:effectLst/>
                <a:latin typeface="PingFang SC"/>
              </a:rPr>
            </a:br>
            <a:r>
              <a:rPr lang="zh-CN" altLang="en-US" b="0" i="0" dirty="0">
                <a:solidFill>
                  <a:srgbClr val="333333"/>
                </a:solidFill>
                <a:effectLst/>
                <a:latin typeface="PingFang SC"/>
              </a:rPr>
              <a:t>当接收方的接收缓存已存满时，</a:t>
            </a:r>
            <a:r>
              <a:rPr lang="en-US" altLang="zh-CN" sz="1200" dirty="0" err="1">
                <a:solidFill>
                  <a:srgbClr val="000099"/>
                </a:solidFill>
                <a:latin typeface="Times New Roman" panose="02020603050405020304" pitchFamily="18" charset="0"/>
                <a:ea typeface="宋体" pitchFamily="2" charset="-122"/>
                <a:cs typeface="Times New Roman" panose="02020603050405020304" pitchFamily="18" charset="0"/>
              </a:rPr>
              <a:t>AdvertisedWindow</a:t>
            </a:r>
            <a:r>
              <a:rPr lang="en-US" altLang="zh-CN" b="0" i="0" dirty="0">
                <a:solidFill>
                  <a:srgbClr val="333333"/>
                </a:solidFill>
                <a:effectLst/>
                <a:latin typeface="PingFang SC"/>
              </a:rPr>
              <a:t>=0</a:t>
            </a:r>
            <a:r>
              <a:rPr lang="zh-CN" altLang="en-US" b="0" i="0" dirty="0">
                <a:solidFill>
                  <a:srgbClr val="333333"/>
                </a:solidFill>
                <a:effectLst/>
                <a:latin typeface="PingFang SC"/>
              </a:rPr>
              <a:t>，发送方需暂停发送并启动窗口探测机制‌</a:t>
            </a:r>
            <a:endParaRPr lang="en-US" altLang="zh-CN"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1075FF09-559A-413E-B23E-0DFCD03CDBD8}" type="slidenum">
              <a:rPr lang="zh-CN" altLang="en-US" smtClean="0"/>
              <a:t>68</a:t>
            </a:fld>
            <a:endParaRPr lang="zh-CN" altLang="en-US"/>
          </a:p>
        </p:txBody>
      </p:sp>
    </p:spTree>
    <p:extLst>
      <p:ext uri="{BB962C8B-B14F-4D97-AF65-F5344CB8AC3E}">
        <p14:creationId xmlns:p14="http://schemas.microsoft.com/office/powerpoint/2010/main" val="25363041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86B500A3-4394-4C6F-8814-8173A39D69B9}" type="slidenum">
              <a:rPr lang="en-US" altLang="zh-CN" smtClean="0"/>
              <a:pPr/>
              <a:t>69</a:t>
            </a:fld>
            <a:endParaRPr lang="en-US" altLang="zh-CN"/>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p:spPr>
        <p:txBody>
          <a:bodyPr/>
          <a:lstStyle/>
          <a:p>
            <a:pPr algn="l">
              <a:buFont typeface="+mj-lt"/>
              <a:buNone/>
            </a:pPr>
            <a:r>
              <a:rPr lang="zh-CN" altLang="en-US" b="0" i="0" dirty="0">
                <a:solidFill>
                  <a:srgbClr val="333333"/>
                </a:solidFill>
                <a:effectLst/>
                <a:latin typeface="PingFang SC"/>
              </a:rPr>
              <a:t>当接收方通告的窗口（</a:t>
            </a:r>
            <a:r>
              <a:rPr lang="en-US" altLang="zh-CN" b="0" i="0" dirty="0" err="1">
                <a:solidFill>
                  <a:srgbClr val="333333"/>
                </a:solidFill>
                <a:effectLst/>
                <a:latin typeface="PingFang SC"/>
              </a:rPr>
              <a:t>AdvertisedWindow</a:t>
            </a:r>
            <a:r>
              <a:rPr lang="zh-CN" altLang="en-US" b="0" i="0" dirty="0">
                <a:solidFill>
                  <a:srgbClr val="333333"/>
                </a:solidFill>
                <a:effectLst/>
                <a:latin typeface="PingFang SC"/>
              </a:rPr>
              <a:t>）为</a:t>
            </a:r>
            <a:r>
              <a:rPr lang="en-US" altLang="zh-CN" b="0" i="0" dirty="0">
                <a:solidFill>
                  <a:srgbClr val="333333"/>
                </a:solidFill>
                <a:effectLst/>
                <a:latin typeface="PingFang SC"/>
              </a:rPr>
              <a:t>0</a:t>
            </a:r>
            <a:r>
              <a:rPr lang="zh-CN" altLang="en-US" b="0" i="0" dirty="0">
                <a:solidFill>
                  <a:srgbClr val="333333"/>
                </a:solidFill>
                <a:effectLst/>
                <a:latin typeface="PingFang SC"/>
              </a:rPr>
              <a:t>时，发送方立即停止发送数据</a:t>
            </a:r>
            <a:endParaRPr lang="en-US" altLang="zh-CN" b="0" i="0" dirty="0">
              <a:solidFill>
                <a:srgbClr val="333333"/>
              </a:solidFill>
              <a:effectLst/>
              <a:latin typeface="PingFang SC"/>
            </a:endParaRPr>
          </a:p>
          <a:p>
            <a:pPr algn="l">
              <a:buFont typeface="Arial" panose="020B0604020202020204" pitchFamily="34" charset="0"/>
              <a:buNone/>
            </a:pPr>
            <a:r>
              <a:rPr lang="zh-CN" altLang="en-US" b="0" i="0" dirty="0">
                <a:solidFill>
                  <a:srgbClr val="333333"/>
                </a:solidFill>
                <a:effectLst/>
                <a:latin typeface="PingFang SC"/>
              </a:rPr>
              <a:t>发送方通过以下机制探测窗口恢复状态并恢复传输‌：</a:t>
            </a:r>
            <a:r>
              <a:rPr lang="en-US" altLang="zh-CN" b="0" i="0" dirty="0">
                <a:solidFill>
                  <a:srgbClr val="333333"/>
                </a:solidFill>
                <a:effectLst/>
                <a:latin typeface="PingFang SC"/>
              </a:rPr>
              <a:t>1.</a:t>
            </a:r>
            <a:r>
              <a:rPr lang="zh-CN" altLang="en-US" b="0" i="0" dirty="0">
                <a:solidFill>
                  <a:srgbClr val="333333"/>
                </a:solidFill>
                <a:effectLst/>
                <a:latin typeface="PingFang SC"/>
              </a:rPr>
              <a:t>发送方启动</a:t>
            </a:r>
            <a:r>
              <a:rPr lang="en-US" altLang="zh-CN" b="0" i="0" dirty="0">
                <a:solidFill>
                  <a:srgbClr val="333333"/>
                </a:solidFill>
                <a:effectLst/>
                <a:latin typeface="PingFang SC"/>
              </a:rPr>
              <a:t>Persist Timer</a:t>
            </a:r>
            <a:r>
              <a:rPr lang="zh-CN" altLang="en-US" b="0" i="0" dirty="0">
                <a:solidFill>
                  <a:srgbClr val="333333"/>
                </a:solidFill>
                <a:effectLst/>
                <a:latin typeface="PingFang SC"/>
              </a:rPr>
              <a:t>，初始间隔通常为</a:t>
            </a:r>
            <a:r>
              <a:rPr lang="en-US" altLang="zh-CN" b="0" i="0" dirty="0">
                <a:solidFill>
                  <a:srgbClr val="333333"/>
                </a:solidFill>
                <a:effectLst/>
                <a:latin typeface="PingFang SC"/>
              </a:rPr>
              <a:t>TCP</a:t>
            </a:r>
            <a:r>
              <a:rPr lang="zh-CN" altLang="en-US" b="0" i="0" dirty="0">
                <a:solidFill>
                  <a:srgbClr val="333333"/>
                </a:solidFill>
                <a:effectLst/>
                <a:latin typeface="PingFang SC"/>
              </a:rPr>
              <a:t>重传超时</a:t>
            </a:r>
            <a:r>
              <a:rPr lang="en-US" altLang="zh-CN" b="0" i="0" dirty="0">
                <a:solidFill>
                  <a:srgbClr val="333333"/>
                </a:solidFill>
                <a:effectLst/>
                <a:latin typeface="PingFang SC"/>
              </a:rPr>
              <a:t>RTO</a:t>
            </a:r>
            <a:r>
              <a:rPr lang="zh-CN" altLang="en-US" b="0" i="0" dirty="0">
                <a:solidFill>
                  <a:srgbClr val="333333"/>
                </a:solidFill>
                <a:effectLst/>
                <a:latin typeface="PingFang SC"/>
              </a:rPr>
              <a:t>，后续按指数退避延长；</a:t>
            </a:r>
            <a:r>
              <a:rPr lang="en-US" altLang="zh-CN" b="0" i="0" dirty="0">
                <a:solidFill>
                  <a:srgbClr val="333333"/>
                </a:solidFill>
                <a:effectLst/>
                <a:latin typeface="PingFang SC"/>
              </a:rPr>
              <a:t>2.</a:t>
            </a:r>
            <a:r>
              <a:rPr lang="zh-CN" altLang="en-US" b="0" i="0" dirty="0">
                <a:solidFill>
                  <a:srgbClr val="333333"/>
                </a:solidFill>
                <a:effectLst/>
                <a:latin typeface="PingFang SC"/>
              </a:rPr>
              <a:t>定期发送‌</a:t>
            </a:r>
            <a:r>
              <a:rPr lang="en-US" altLang="zh-CN" b="0" i="0" dirty="0">
                <a:solidFill>
                  <a:srgbClr val="333333"/>
                </a:solidFill>
                <a:effectLst/>
                <a:latin typeface="PingFang SC"/>
              </a:rPr>
              <a:t>1</a:t>
            </a:r>
            <a:r>
              <a:rPr lang="zh-CN" altLang="en-US" b="0" i="0" dirty="0">
                <a:solidFill>
                  <a:srgbClr val="333333"/>
                </a:solidFill>
                <a:effectLst/>
                <a:latin typeface="PingFang SC"/>
              </a:rPr>
              <a:t>字节的探测报文‌（即使可能被丢弃），强制接收方回复包含当前窗口大小的</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b="0" i="0" dirty="0">
                <a:solidFill>
                  <a:srgbClr val="333333"/>
                </a:solidFill>
                <a:effectLst/>
                <a:latin typeface="PingFang SC"/>
              </a:rPr>
              <a:t>3.</a:t>
            </a:r>
            <a:r>
              <a:rPr lang="zh-CN" altLang="en-US" b="0" i="0" dirty="0">
                <a:solidFill>
                  <a:srgbClr val="333333"/>
                </a:solidFill>
                <a:effectLst/>
                <a:latin typeface="PingFang SC"/>
              </a:rPr>
              <a:t>若</a:t>
            </a:r>
            <a:r>
              <a:rPr lang="en-US" altLang="zh-CN" b="0" i="0" dirty="0">
                <a:solidFill>
                  <a:srgbClr val="333333"/>
                </a:solidFill>
                <a:effectLst/>
                <a:latin typeface="PingFang SC"/>
              </a:rPr>
              <a:t>ACK</a:t>
            </a:r>
            <a:r>
              <a:rPr lang="zh-CN" altLang="en-US" b="0" i="0" dirty="0">
                <a:solidFill>
                  <a:srgbClr val="333333"/>
                </a:solidFill>
                <a:effectLst/>
                <a:latin typeface="PingFang SC"/>
              </a:rPr>
              <a:t>仍显示</a:t>
            </a:r>
            <a:r>
              <a:rPr lang="en-US" altLang="zh-CN" b="0" i="0" dirty="0" err="1">
                <a:solidFill>
                  <a:srgbClr val="333333"/>
                </a:solidFill>
                <a:effectLst/>
                <a:latin typeface="PingFang SC"/>
              </a:rPr>
              <a:t>rwnd</a:t>
            </a:r>
            <a:r>
              <a:rPr lang="en-US" altLang="zh-CN" b="0" i="0" dirty="0">
                <a:solidFill>
                  <a:srgbClr val="333333"/>
                </a:solidFill>
                <a:effectLst/>
                <a:latin typeface="PingFang SC"/>
              </a:rPr>
              <a:t>=0</a:t>
            </a:r>
            <a:r>
              <a:rPr lang="zh-CN" altLang="en-US" b="0" i="0" dirty="0">
                <a:solidFill>
                  <a:srgbClr val="333333"/>
                </a:solidFill>
                <a:effectLst/>
                <a:latin typeface="PingFang SC"/>
              </a:rPr>
              <a:t>，发送端继续等待并重复探测‌；</a:t>
            </a:r>
            <a:r>
              <a:rPr lang="en-US" altLang="zh-CN" b="0" i="0" dirty="0">
                <a:solidFill>
                  <a:srgbClr val="333333"/>
                </a:solidFill>
                <a:effectLst/>
                <a:latin typeface="PingFang SC"/>
              </a:rPr>
              <a:t>4.</a:t>
            </a:r>
            <a:r>
              <a:rPr lang="zh-CN" altLang="en-US" b="0" i="0" dirty="0">
                <a:solidFill>
                  <a:srgbClr val="333333"/>
                </a:solidFill>
                <a:effectLst/>
                <a:latin typeface="PingFang SC"/>
              </a:rPr>
              <a:t>若接收方缓冲区释放空间后回复</a:t>
            </a:r>
            <a:r>
              <a:rPr lang="en-US" altLang="zh-CN" b="0" i="0" dirty="0" err="1">
                <a:solidFill>
                  <a:srgbClr val="333333"/>
                </a:solidFill>
                <a:effectLst/>
                <a:latin typeface="PingFang SC"/>
              </a:rPr>
              <a:t>rwnd</a:t>
            </a:r>
            <a:r>
              <a:rPr lang="en-US" altLang="zh-CN" b="0" i="0" dirty="0">
                <a:solidFill>
                  <a:srgbClr val="333333"/>
                </a:solidFill>
                <a:effectLst/>
                <a:latin typeface="PingFang SC"/>
              </a:rPr>
              <a:t>&gt;0</a:t>
            </a:r>
            <a:r>
              <a:rPr lang="zh-CN" altLang="en-US" b="0" i="0" dirty="0">
                <a:solidFill>
                  <a:srgbClr val="333333"/>
                </a:solidFill>
                <a:effectLst/>
                <a:latin typeface="PingFang SC"/>
              </a:rPr>
              <a:t>，发送端立即恢复数据传输‌</a:t>
            </a:r>
            <a:br>
              <a:rPr lang="zh-CN" altLang="en-US" b="0" i="0" dirty="0">
                <a:solidFill>
                  <a:srgbClr val="333333"/>
                </a:solidFill>
                <a:effectLst/>
                <a:latin typeface="PingFang SC"/>
              </a:rPr>
            </a:br>
            <a:r>
              <a:rPr lang="zh-CN" altLang="en-US" b="1" i="0" dirty="0">
                <a:solidFill>
                  <a:srgbClr val="333333"/>
                </a:solidFill>
                <a:effectLst/>
                <a:latin typeface="PingFang SC"/>
              </a:rPr>
              <a:t>死锁预防</a:t>
            </a:r>
            <a:r>
              <a:rPr lang="zh-CN" altLang="en-US" b="0" i="0" dirty="0">
                <a:solidFill>
                  <a:srgbClr val="333333"/>
                </a:solidFill>
                <a:effectLst/>
                <a:latin typeface="PingFang SC"/>
              </a:rPr>
              <a:t>：该机制可避免双方无限等待（发送端等窗口打开，接收端等数据），即使探测报文被接收端丢弃，也会触发</a:t>
            </a:r>
            <a:r>
              <a:rPr lang="en-US" altLang="zh-CN" b="0" i="0" dirty="0">
                <a:solidFill>
                  <a:srgbClr val="333333"/>
                </a:solidFill>
                <a:effectLst/>
                <a:latin typeface="PingFang SC"/>
              </a:rPr>
              <a:t>ACK</a:t>
            </a:r>
            <a:r>
              <a:rPr lang="zh-CN" altLang="en-US" b="0" i="0" dirty="0">
                <a:solidFill>
                  <a:srgbClr val="333333"/>
                </a:solidFill>
                <a:effectLst/>
                <a:latin typeface="PingFang SC"/>
              </a:rPr>
              <a:t>回复，确保窗口状态同步‌</a:t>
            </a:r>
            <a:br>
              <a:rPr lang="en-US" altLang="zh-CN" b="0" i="0" dirty="0">
                <a:solidFill>
                  <a:srgbClr val="333333"/>
                </a:solidFill>
                <a:effectLst/>
                <a:latin typeface="PingFang SC"/>
              </a:rPr>
            </a:br>
            <a:endParaRPr kumimoji="0" lang="en-US" altLang="zh-CN" dirty="0"/>
          </a:p>
        </p:txBody>
      </p:sp>
    </p:spTree>
    <p:extLst>
      <p:ext uri="{BB962C8B-B14F-4D97-AF65-F5344CB8AC3E}">
        <p14:creationId xmlns:p14="http://schemas.microsoft.com/office/powerpoint/2010/main" val="40191938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发送窗口大小是</a:t>
            </a:r>
            <a:r>
              <a:rPr lang="en-US" altLang="zh-CN" b="0" i="0" dirty="0">
                <a:solidFill>
                  <a:srgbClr val="333333"/>
                </a:solidFill>
                <a:effectLst/>
                <a:latin typeface="PingFang SC"/>
              </a:rPr>
              <a:t>TCP</a:t>
            </a:r>
            <a:r>
              <a:rPr lang="zh-CN" altLang="en-US" b="0" i="0" dirty="0">
                <a:solidFill>
                  <a:srgbClr val="333333"/>
                </a:solidFill>
                <a:effectLst/>
                <a:latin typeface="PingFang SC"/>
              </a:rPr>
              <a:t>协议中影响网络性能的关键参数，直接决定发送方在没有收到确认的情况下可以连续发送的数据量</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如果发送窗口设置过小，导致发送方频繁地等待确认，无法充分利用网络带宽。具体表现：</a:t>
            </a:r>
            <a:r>
              <a:rPr lang="en-US" altLang="zh-CN" b="0" i="0" dirty="0">
                <a:solidFill>
                  <a:srgbClr val="333333"/>
                </a:solidFill>
                <a:effectLst/>
                <a:latin typeface="PingFang SC"/>
              </a:rPr>
              <a:t>1.</a:t>
            </a:r>
            <a:r>
              <a:rPr lang="zh-CN" altLang="en-US" b="1" i="0" dirty="0">
                <a:solidFill>
                  <a:srgbClr val="333333"/>
                </a:solidFill>
                <a:effectLst/>
                <a:latin typeface="PingFang SC"/>
              </a:rPr>
              <a:t>降低吞吐量</a:t>
            </a:r>
            <a:r>
              <a:rPr lang="zh-CN" altLang="en-US" b="0" i="0" dirty="0">
                <a:solidFill>
                  <a:srgbClr val="333333"/>
                </a:solidFill>
                <a:effectLst/>
                <a:latin typeface="PingFang SC"/>
              </a:rPr>
              <a:t>‌，发送方需要等待每个数据包被确认后才能发送下一个，导致网络资源利用率低，整体传输速度变慢；</a:t>
            </a:r>
            <a:r>
              <a:rPr lang="en-US" altLang="zh-CN" b="0" i="0" dirty="0">
                <a:solidFill>
                  <a:srgbClr val="333333"/>
                </a:solidFill>
                <a:effectLst/>
                <a:latin typeface="PingFang SC"/>
              </a:rPr>
              <a:t>2.</a:t>
            </a:r>
            <a:r>
              <a:rPr lang="zh-CN" altLang="en-US" b="1" i="0" dirty="0">
                <a:solidFill>
                  <a:srgbClr val="333333"/>
                </a:solidFill>
                <a:effectLst/>
                <a:latin typeface="PingFang SC"/>
              </a:rPr>
              <a:t>增加延迟</a:t>
            </a:r>
            <a:r>
              <a:rPr lang="zh-CN" altLang="en-US" b="0" i="0" dirty="0">
                <a:solidFill>
                  <a:srgbClr val="333333"/>
                </a:solidFill>
                <a:effectLst/>
                <a:latin typeface="PingFang SC"/>
              </a:rPr>
              <a:t>，由于需要频繁等待确认，数据的端到端传输时间变长</a:t>
            </a:r>
            <a:endParaRPr lang="en-US" altLang="zh-CN" b="0" i="0" dirty="0">
              <a:solidFill>
                <a:srgbClr val="333333"/>
              </a:solidFill>
              <a:effectLst/>
              <a:latin typeface="PingFang SC"/>
            </a:endParaRPr>
          </a:p>
          <a:p>
            <a:pPr algn="l">
              <a:buFont typeface="Arial" panose="020B0604020202020204" pitchFamily="34" charset="0"/>
              <a:buNone/>
            </a:pPr>
            <a:r>
              <a:rPr lang="zh-CN" altLang="en-US" b="0" i="0" dirty="0">
                <a:solidFill>
                  <a:srgbClr val="333333"/>
                </a:solidFill>
                <a:effectLst/>
                <a:latin typeface="PingFang SC"/>
              </a:rPr>
              <a:t>如果发送窗口设置过大，可能超出接收方的处理能力或网络的承载能力，反而降低性能。具体表现：</a:t>
            </a:r>
            <a:r>
              <a:rPr lang="en-US" altLang="zh-CN" b="0" i="0" dirty="0">
                <a:solidFill>
                  <a:srgbClr val="333333"/>
                </a:solidFill>
                <a:effectLst/>
                <a:latin typeface="PingFang SC"/>
              </a:rPr>
              <a:t>1.</a:t>
            </a:r>
            <a:r>
              <a:rPr lang="zh-CN" altLang="en-US" b="1" i="0" dirty="0">
                <a:solidFill>
                  <a:srgbClr val="333333"/>
                </a:solidFill>
                <a:effectLst/>
                <a:latin typeface="PingFang SC"/>
              </a:rPr>
              <a:t>引发丢包</a:t>
            </a:r>
            <a:r>
              <a:rPr lang="zh-CN" altLang="en-US" b="0" i="0" dirty="0">
                <a:solidFill>
                  <a:srgbClr val="333333"/>
                </a:solidFill>
                <a:effectLst/>
                <a:latin typeface="PingFang SC"/>
              </a:rPr>
              <a:t>‌，如果发送的数据量超过接收方缓冲区的容量，接收方会丢弃无法处理的数据包，导致发送方进行不必要的重传；</a:t>
            </a:r>
            <a:r>
              <a:rPr lang="en-US" altLang="zh-CN" b="0" i="0" dirty="0">
                <a:solidFill>
                  <a:srgbClr val="333333"/>
                </a:solidFill>
                <a:effectLst/>
                <a:latin typeface="PingFang SC"/>
              </a:rPr>
              <a:t>2.</a:t>
            </a:r>
            <a:r>
              <a:rPr lang="zh-CN" altLang="en-US" b="1" i="0" dirty="0">
                <a:solidFill>
                  <a:srgbClr val="333333"/>
                </a:solidFill>
                <a:effectLst/>
                <a:latin typeface="PingFang SC"/>
              </a:rPr>
              <a:t>加剧网络拥塞</a:t>
            </a:r>
            <a:r>
              <a:rPr lang="zh-CN" altLang="en-US" b="0" i="0" dirty="0">
                <a:solidFill>
                  <a:srgbClr val="333333"/>
                </a:solidFill>
                <a:effectLst/>
                <a:latin typeface="PingFang SC"/>
              </a:rPr>
              <a:t>，过大的窗口将向网络中注入过多数据，加剧拥塞，触发拥塞控制机制，最终降低整体吞吐量</a:t>
            </a:r>
          </a:p>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70</a:t>
            </a:fld>
            <a:endParaRPr lang="zh-CN" altLang="en-US"/>
          </a:p>
        </p:txBody>
      </p:sp>
    </p:spTree>
    <p:extLst>
      <p:ext uri="{BB962C8B-B14F-4D97-AF65-F5344CB8AC3E}">
        <p14:creationId xmlns:p14="http://schemas.microsoft.com/office/powerpoint/2010/main" val="207485397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810C7630-3408-4C5D-A85F-94A6B06AAE26}" type="slidenum">
              <a:rPr lang="en-US" altLang="zh-CN" smtClean="0"/>
              <a:pPr/>
              <a:t>71</a:t>
            </a:fld>
            <a:endParaRPr lang="en-US" altLang="zh-CN"/>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p:spPr>
        <p:txBody>
          <a:bodyPr/>
          <a:lstStyle/>
          <a:p>
            <a:pPr eaLnBrk="1" hangingPunct="1"/>
            <a:r>
              <a:rPr lang="zh-CN" altLang="en-US" b="0" i="0" dirty="0">
                <a:solidFill>
                  <a:srgbClr val="333333"/>
                </a:solidFill>
                <a:effectLst/>
                <a:latin typeface="PingFang SC"/>
              </a:rPr>
              <a:t>糊涂窗口综合症是流量控制机制中因通信双方速率不匹配导致的低效传输现象，其核心问题在于‌大量的小数据段（有效载荷远小于协议开销）频繁传输‌‌</a:t>
            </a:r>
            <a:endParaRPr lang="en-US" altLang="zh-CN" b="0" i="0" dirty="0">
              <a:solidFill>
                <a:srgbClr val="333333"/>
              </a:solidFill>
              <a:effectLst/>
              <a:latin typeface="PingFang SC"/>
            </a:endParaRPr>
          </a:p>
          <a:p>
            <a:pPr algn="l">
              <a:buFont typeface="Arial" panose="020B0604020202020204" pitchFamily="34" charset="0"/>
              <a:buNone/>
            </a:pPr>
            <a:r>
              <a:rPr lang="zh-CN" altLang="en-US" b="0" i="0" dirty="0">
                <a:solidFill>
                  <a:srgbClr val="333333"/>
                </a:solidFill>
                <a:effectLst/>
                <a:latin typeface="PingFang SC"/>
              </a:rPr>
              <a:t>发送端问题‌：应用进程逐字节生成数据（如</a:t>
            </a:r>
            <a:r>
              <a:rPr lang="en-US" altLang="zh-CN" b="0" i="0" dirty="0">
                <a:solidFill>
                  <a:srgbClr val="333333"/>
                </a:solidFill>
                <a:effectLst/>
                <a:latin typeface="PingFang SC"/>
              </a:rPr>
              <a:t>Telnet</a:t>
            </a:r>
            <a:r>
              <a:rPr lang="zh-CN" altLang="en-US" b="0" i="0" dirty="0">
                <a:solidFill>
                  <a:srgbClr val="333333"/>
                </a:solidFill>
                <a:effectLst/>
                <a:latin typeface="PingFang SC"/>
              </a:rPr>
              <a:t>），发送端立即发送微小报文段（如</a:t>
            </a:r>
            <a:r>
              <a:rPr lang="en-US" altLang="zh-CN" b="0" i="0" dirty="0">
                <a:solidFill>
                  <a:srgbClr val="333333"/>
                </a:solidFill>
                <a:effectLst/>
                <a:latin typeface="PingFang SC"/>
              </a:rPr>
              <a:t>1</a:t>
            </a:r>
            <a:r>
              <a:rPr lang="zh-CN" altLang="en-US" b="0" i="0" dirty="0">
                <a:solidFill>
                  <a:srgbClr val="333333"/>
                </a:solidFill>
                <a:effectLst/>
                <a:latin typeface="PingFang SC"/>
              </a:rPr>
              <a:t>字节有效载荷</a:t>
            </a:r>
            <a:r>
              <a:rPr lang="en-US" altLang="zh-CN" b="0" i="0" dirty="0">
                <a:solidFill>
                  <a:srgbClr val="333333"/>
                </a:solidFill>
                <a:effectLst/>
                <a:latin typeface="PingFang SC"/>
              </a:rPr>
              <a:t>+40</a:t>
            </a:r>
            <a:r>
              <a:rPr lang="zh-CN" altLang="en-US" b="0" i="0" dirty="0">
                <a:solidFill>
                  <a:srgbClr val="333333"/>
                </a:solidFill>
                <a:effectLst/>
                <a:latin typeface="PingFang SC"/>
              </a:rPr>
              <a:t>字节头部）</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‌接收端问题‌：应用进程处理速度极慢（如每次仅读取</a:t>
            </a:r>
            <a:r>
              <a:rPr lang="en-US" altLang="zh-CN" b="0" i="0" dirty="0">
                <a:solidFill>
                  <a:srgbClr val="333333"/>
                </a:solidFill>
                <a:effectLst/>
                <a:latin typeface="PingFang SC"/>
              </a:rPr>
              <a:t>5</a:t>
            </a:r>
            <a:r>
              <a:rPr lang="zh-CN" altLang="en-US" b="0" i="0" dirty="0">
                <a:solidFill>
                  <a:srgbClr val="333333"/>
                </a:solidFill>
                <a:effectLst/>
                <a:latin typeface="PingFang SC"/>
              </a:rPr>
              <a:t>字节），导致窗口通告频繁更新为极小值（如</a:t>
            </a:r>
            <a:r>
              <a:rPr lang="en-US" altLang="zh-CN" b="0" i="0" dirty="0">
                <a:solidFill>
                  <a:srgbClr val="333333"/>
                </a:solidFill>
                <a:effectLst/>
                <a:latin typeface="PingFang SC"/>
              </a:rPr>
              <a:t>5</a:t>
            </a:r>
            <a:r>
              <a:rPr lang="zh-CN" altLang="en-US" b="0" i="0" dirty="0">
                <a:solidFill>
                  <a:srgbClr val="333333"/>
                </a:solidFill>
                <a:effectLst/>
                <a:latin typeface="PingFang SC"/>
              </a:rPr>
              <a:t>字节），使发送方持续发送小数据段‌</a:t>
            </a:r>
            <a:br>
              <a:rPr lang="zh-CN" altLang="en-US" b="0" i="0" dirty="0">
                <a:solidFill>
                  <a:srgbClr val="333333"/>
                </a:solidFill>
                <a:effectLst/>
                <a:latin typeface="PingFang SC"/>
              </a:rPr>
            </a:br>
            <a:r>
              <a:rPr lang="zh-CN" altLang="en-US" b="0" i="0" dirty="0">
                <a:solidFill>
                  <a:srgbClr val="333333"/>
                </a:solidFill>
                <a:effectLst/>
                <a:latin typeface="PingFang SC"/>
              </a:rPr>
              <a:t>发送端优化：</a:t>
            </a:r>
            <a:r>
              <a:rPr lang="en-US" altLang="zh-CN" b="0" i="0" dirty="0">
                <a:solidFill>
                  <a:srgbClr val="333333"/>
                </a:solidFill>
                <a:effectLst/>
                <a:latin typeface="PingFang SC"/>
              </a:rPr>
              <a:t>Nagle</a:t>
            </a:r>
            <a:r>
              <a:rPr lang="zh-CN" altLang="en-US" b="0" i="0" dirty="0">
                <a:solidFill>
                  <a:srgbClr val="333333"/>
                </a:solidFill>
                <a:effectLst/>
                <a:latin typeface="PingFang SC"/>
              </a:rPr>
              <a:t>算法‌强制合并小数据段，条件是数据量达到</a:t>
            </a:r>
            <a:r>
              <a:rPr lang="en-US" altLang="zh-CN" b="0" i="0" dirty="0">
                <a:solidFill>
                  <a:srgbClr val="333333"/>
                </a:solidFill>
                <a:effectLst/>
                <a:latin typeface="PingFang SC"/>
              </a:rPr>
              <a:t>MSS</a:t>
            </a:r>
            <a:r>
              <a:rPr lang="zh-CN" altLang="en-US" b="0" i="0" dirty="0">
                <a:solidFill>
                  <a:srgbClr val="333333"/>
                </a:solidFill>
                <a:effectLst/>
                <a:latin typeface="PingFang SC"/>
              </a:rPr>
              <a:t>（最大报文段长度），或者窗口大小≥</a:t>
            </a:r>
            <a:r>
              <a:rPr lang="en-US" altLang="zh-CN" b="0" i="0" dirty="0">
                <a:solidFill>
                  <a:srgbClr val="333333"/>
                </a:solidFill>
                <a:effectLst/>
                <a:latin typeface="PingFang SC"/>
              </a:rPr>
              <a:t>MSS</a:t>
            </a:r>
            <a:r>
              <a:rPr lang="zh-CN" altLang="en-US" b="0" i="0" dirty="0">
                <a:solidFill>
                  <a:srgbClr val="333333"/>
                </a:solidFill>
                <a:effectLst/>
                <a:latin typeface="PingFang SC"/>
              </a:rPr>
              <a:t>的一半</a:t>
            </a:r>
          </a:p>
          <a:p>
            <a:pPr algn="l">
              <a:buFont typeface="Arial" panose="020B0604020202020204" pitchFamily="34" charset="0"/>
              <a:buNone/>
            </a:pPr>
            <a:r>
              <a:rPr lang="zh-CN" altLang="en-US" b="0" i="0" dirty="0">
                <a:solidFill>
                  <a:srgbClr val="333333"/>
                </a:solidFill>
                <a:effectLst/>
                <a:latin typeface="PingFang SC"/>
              </a:rPr>
              <a:t>接收端优化：延迟窗口通告‌（仅当窗口≥</a:t>
            </a:r>
            <a:r>
              <a:rPr lang="en-US" altLang="zh-CN" b="0" i="0" dirty="0">
                <a:solidFill>
                  <a:srgbClr val="333333"/>
                </a:solidFill>
                <a:effectLst/>
                <a:latin typeface="PingFang SC"/>
              </a:rPr>
              <a:t>MSS</a:t>
            </a:r>
            <a:r>
              <a:rPr lang="zh-CN" altLang="en-US" b="0" i="0" dirty="0">
                <a:solidFill>
                  <a:srgbClr val="333333"/>
                </a:solidFill>
                <a:effectLst/>
                <a:latin typeface="PingFang SC"/>
              </a:rPr>
              <a:t>或接收缓冲区一半时更新窗口），避免通告小值；‌延迟确认（暂缓</a:t>
            </a:r>
            <a:r>
              <a:rPr lang="en-US" altLang="zh-CN" b="0" i="0" dirty="0">
                <a:solidFill>
                  <a:srgbClr val="333333"/>
                </a:solidFill>
                <a:effectLst/>
                <a:latin typeface="PingFang SC"/>
              </a:rPr>
              <a:t>ACK</a:t>
            </a:r>
            <a:r>
              <a:rPr lang="zh-CN" altLang="en-US" b="0" i="0" dirty="0">
                <a:solidFill>
                  <a:srgbClr val="333333"/>
                </a:solidFill>
                <a:effectLst/>
                <a:latin typeface="PingFang SC"/>
              </a:rPr>
              <a:t>发送以减少小报文交互），但需在</a:t>
            </a:r>
            <a:r>
              <a:rPr lang="en-US" altLang="zh-CN" b="0" i="0" dirty="0">
                <a:solidFill>
                  <a:srgbClr val="333333"/>
                </a:solidFill>
                <a:effectLst/>
                <a:latin typeface="PingFang SC"/>
              </a:rPr>
              <a:t>500ms</a:t>
            </a:r>
            <a:r>
              <a:rPr lang="zh-CN" altLang="en-US" b="0" i="0" dirty="0">
                <a:solidFill>
                  <a:srgbClr val="333333"/>
                </a:solidFill>
                <a:effectLst/>
                <a:latin typeface="PingFang SC"/>
              </a:rPr>
              <a:t>内确认以防超时‌</a:t>
            </a:r>
            <a:br>
              <a:rPr lang="zh-CN" altLang="en-US" b="0" i="0" dirty="0">
                <a:solidFill>
                  <a:srgbClr val="333333"/>
                </a:solidFill>
                <a:effectLst/>
                <a:latin typeface="PingFang SC"/>
              </a:rPr>
            </a:br>
            <a:br>
              <a:rPr lang="zh-CN" altLang="en-US" b="0" i="0" dirty="0">
                <a:solidFill>
                  <a:srgbClr val="333333"/>
                </a:solidFill>
                <a:effectLst/>
                <a:latin typeface="PingFang SC"/>
              </a:rPr>
            </a:br>
            <a:endParaRPr lang="en-US" altLang="zh-CN" b="0" dirty="0"/>
          </a:p>
        </p:txBody>
      </p:sp>
    </p:spTree>
    <p:extLst>
      <p:ext uri="{BB962C8B-B14F-4D97-AF65-F5344CB8AC3E}">
        <p14:creationId xmlns:p14="http://schemas.microsoft.com/office/powerpoint/2010/main" val="18069580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TCP</a:t>
            </a:r>
            <a:r>
              <a:rPr lang="zh-CN" altLang="en-US" b="0" i="0" dirty="0">
                <a:solidFill>
                  <a:srgbClr val="333333"/>
                </a:solidFill>
                <a:effectLst/>
                <a:latin typeface="PingFang SC"/>
              </a:rPr>
              <a:t>连接建立采用三次握手的核心原因在于‌全双工通信的可靠性验证‌，需确保双方收发能力均正常，并同步初始序列号（</a:t>
            </a:r>
            <a:r>
              <a:rPr lang="en-US" altLang="zh-CN" b="0" i="0" dirty="0">
                <a:solidFill>
                  <a:srgbClr val="333333"/>
                </a:solidFill>
                <a:effectLst/>
                <a:latin typeface="PingFang SC"/>
              </a:rPr>
              <a:t>ISN</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r>
              <a:rPr lang="en-US" altLang="zh-CN" b="0" i="0" dirty="0">
                <a:solidFill>
                  <a:srgbClr val="333333"/>
                </a:solidFill>
                <a:effectLst/>
                <a:latin typeface="PingFang SC"/>
              </a:rPr>
              <a:t>1.</a:t>
            </a:r>
            <a:r>
              <a:rPr lang="zh-CN" altLang="en-US" b="1" i="0" dirty="0">
                <a:solidFill>
                  <a:srgbClr val="333333"/>
                </a:solidFill>
                <a:effectLst/>
                <a:latin typeface="PingFang SC"/>
              </a:rPr>
              <a:t>第一次握手（</a:t>
            </a:r>
            <a:r>
              <a:rPr lang="en-US" altLang="zh-CN" b="1" i="0" dirty="0">
                <a:solidFill>
                  <a:srgbClr val="333333"/>
                </a:solidFill>
                <a:effectLst/>
                <a:latin typeface="PingFang SC"/>
              </a:rPr>
              <a:t>SYN</a:t>
            </a:r>
            <a:r>
              <a:rPr lang="zh-CN" altLang="en-US" b="1" i="0" dirty="0">
                <a:solidFill>
                  <a:srgbClr val="333333"/>
                </a:solidFill>
                <a:effectLst/>
                <a:latin typeface="PingFang SC"/>
              </a:rPr>
              <a:t>）</a:t>
            </a:r>
            <a:r>
              <a:rPr lang="zh-CN" altLang="en-US" b="0" i="0" dirty="0">
                <a:solidFill>
                  <a:srgbClr val="333333"/>
                </a:solidFill>
                <a:effectLst/>
                <a:latin typeface="PingFang SC"/>
              </a:rPr>
              <a:t>：客户端发送</a:t>
            </a:r>
            <a:r>
              <a:rPr lang="en-US" altLang="zh-CN" b="0" i="0" dirty="0">
                <a:solidFill>
                  <a:srgbClr val="333333"/>
                </a:solidFill>
                <a:effectLst/>
                <a:latin typeface="PingFang SC"/>
              </a:rPr>
              <a:t>SYN</a:t>
            </a:r>
            <a:r>
              <a:rPr lang="zh-CN" altLang="en-US" b="0" i="0" dirty="0">
                <a:solidFill>
                  <a:srgbClr val="333333"/>
                </a:solidFill>
                <a:effectLst/>
                <a:latin typeface="PingFang SC"/>
              </a:rPr>
              <a:t>报文（</a:t>
            </a:r>
            <a:r>
              <a:rPr lang="en-US" altLang="zh-CN" b="0" i="0" dirty="0">
                <a:solidFill>
                  <a:srgbClr val="333333"/>
                </a:solidFill>
                <a:effectLst/>
                <a:latin typeface="PingFang SC"/>
              </a:rPr>
              <a:t>SYN=1</a:t>
            </a:r>
            <a:r>
              <a:rPr lang="zh-CN" altLang="en-US" b="0" i="0" dirty="0">
                <a:solidFill>
                  <a:srgbClr val="333333"/>
                </a:solidFill>
                <a:effectLst/>
                <a:latin typeface="PingFang SC"/>
              </a:rPr>
              <a:t>）及初始序列号</a:t>
            </a:r>
            <a:r>
              <a:rPr lang="en-US" altLang="zh-CN" dirty="0"/>
              <a:t>seq=x</a:t>
            </a:r>
            <a:r>
              <a:rPr lang="zh-CN" altLang="en-US" b="0" i="0" dirty="0">
                <a:solidFill>
                  <a:srgbClr val="333333"/>
                </a:solidFill>
                <a:effectLst/>
                <a:latin typeface="PingFang SC"/>
              </a:rPr>
              <a:t>，进入</a:t>
            </a:r>
            <a:r>
              <a:rPr lang="en-US" altLang="zh-CN" dirty="0"/>
              <a:t>SYN-SENT</a:t>
            </a:r>
            <a:r>
              <a:rPr lang="zh-CN" altLang="en-US" b="0" i="0" dirty="0">
                <a:solidFill>
                  <a:srgbClr val="333333"/>
                </a:solidFill>
                <a:effectLst/>
                <a:latin typeface="PingFang SC"/>
              </a:rPr>
              <a:t>状态‌；</a:t>
            </a:r>
            <a:r>
              <a:rPr lang="en-US" altLang="zh-CN" b="0" i="0" dirty="0">
                <a:solidFill>
                  <a:srgbClr val="333333"/>
                </a:solidFill>
                <a:effectLst/>
                <a:latin typeface="PingFang SC"/>
              </a:rPr>
              <a:t>2.</a:t>
            </a:r>
            <a:r>
              <a:rPr lang="zh-CN" altLang="en-US" b="1" i="0" dirty="0">
                <a:solidFill>
                  <a:srgbClr val="333333"/>
                </a:solidFill>
                <a:effectLst/>
                <a:latin typeface="PingFang SC"/>
              </a:rPr>
              <a:t>第二次握手（</a:t>
            </a:r>
            <a:r>
              <a:rPr lang="en-US" altLang="zh-CN" b="1" i="0" dirty="0">
                <a:solidFill>
                  <a:srgbClr val="333333"/>
                </a:solidFill>
                <a:effectLst/>
                <a:latin typeface="PingFang SC"/>
              </a:rPr>
              <a:t>SYN+ACK</a:t>
            </a:r>
            <a:r>
              <a:rPr lang="zh-CN" altLang="en-US" b="1" i="0" dirty="0">
                <a:solidFill>
                  <a:srgbClr val="333333"/>
                </a:solidFill>
                <a:effectLst/>
                <a:latin typeface="PingFang SC"/>
              </a:rPr>
              <a:t>）</a:t>
            </a:r>
            <a:r>
              <a:rPr lang="zh-CN" altLang="en-US" b="0" i="0" dirty="0">
                <a:solidFill>
                  <a:srgbClr val="333333"/>
                </a:solidFill>
                <a:effectLst/>
                <a:latin typeface="PingFang SC"/>
              </a:rPr>
              <a:t>：服务器回复</a:t>
            </a:r>
            <a:r>
              <a:rPr lang="en-US" altLang="zh-CN" b="0" i="0" dirty="0">
                <a:solidFill>
                  <a:srgbClr val="333333"/>
                </a:solidFill>
                <a:effectLst/>
                <a:latin typeface="PingFang SC"/>
              </a:rPr>
              <a:t>SYN+ACK</a:t>
            </a:r>
            <a:r>
              <a:rPr lang="zh-CN" altLang="en-US" b="0" i="0" dirty="0">
                <a:solidFill>
                  <a:srgbClr val="333333"/>
                </a:solidFill>
                <a:effectLst/>
                <a:latin typeface="PingFang SC"/>
              </a:rPr>
              <a:t>报文（</a:t>
            </a:r>
            <a:r>
              <a:rPr lang="en-US" altLang="zh-CN" b="0" i="0" dirty="0">
                <a:solidFill>
                  <a:srgbClr val="333333"/>
                </a:solidFill>
                <a:effectLst/>
                <a:latin typeface="PingFang SC"/>
              </a:rPr>
              <a:t>SYN=1, ACK=1</a:t>
            </a:r>
            <a:r>
              <a:rPr lang="zh-CN" altLang="en-US" b="0" i="0" dirty="0">
                <a:solidFill>
                  <a:srgbClr val="333333"/>
                </a:solidFill>
                <a:effectLst/>
                <a:latin typeface="PingFang SC"/>
              </a:rPr>
              <a:t>），携带自己的序列号</a:t>
            </a:r>
            <a:r>
              <a:rPr lang="en-US" altLang="zh-CN" dirty="0"/>
              <a:t>seq=y</a:t>
            </a:r>
            <a:r>
              <a:rPr lang="zh-CN" altLang="en-US" b="0" i="0" dirty="0">
                <a:solidFill>
                  <a:srgbClr val="333333"/>
                </a:solidFill>
                <a:effectLst/>
                <a:latin typeface="PingFang SC"/>
              </a:rPr>
              <a:t>及确认号</a:t>
            </a:r>
            <a:r>
              <a:rPr lang="en-US" altLang="zh-CN" dirty="0"/>
              <a:t>ack=x+1</a:t>
            </a:r>
            <a:r>
              <a:rPr lang="zh-CN" altLang="en-US" b="0" i="0" dirty="0">
                <a:solidFill>
                  <a:srgbClr val="333333"/>
                </a:solidFill>
                <a:effectLst/>
                <a:latin typeface="PingFang SC"/>
              </a:rPr>
              <a:t>，进入</a:t>
            </a:r>
            <a:r>
              <a:rPr lang="en-US" altLang="zh-CN" dirty="0"/>
              <a:t>SYN-RECV</a:t>
            </a:r>
            <a:r>
              <a:rPr lang="zh-CN" altLang="en-US" b="0" i="0" dirty="0">
                <a:solidFill>
                  <a:srgbClr val="333333"/>
                </a:solidFill>
                <a:effectLst/>
                <a:latin typeface="PingFang SC"/>
              </a:rPr>
              <a:t>状态‌；</a:t>
            </a:r>
            <a:r>
              <a:rPr lang="en-US" altLang="zh-CN" b="0" i="0" dirty="0">
                <a:solidFill>
                  <a:srgbClr val="333333"/>
                </a:solidFill>
                <a:effectLst/>
                <a:latin typeface="PingFang SC"/>
              </a:rPr>
              <a:t>3.</a:t>
            </a:r>
            <a:r>
              <a:rPr lang="zh-CN" altLang="en-US" b="1" i="0" dirty="0">
                <a:solidFill>
                  <a:srgbClr val="333333"/>
                </a:solidFill>
                <a:effectLst/>
                <a:latin typeface="PingFang SC"/>
              </a:rPr>
              <a:t>第三次握手（</a:t>
            </a:r>
            <a:r>
              <a:rPr lang="en-US" altLang="zh-CN" b="1" i="0" dirty="0">
                <a:solidFill>
                  <a:srgbClr val="333333"/>
                </a:solidFill>
                <a:effectLst/>
                <a:latin typeface="PingFang SC"/>
              </a:rPr>
              <a:t>ACK</a:t>
            </a:r>
            <a:r>
              <a:rPr lang="zh-CN" altLang="en-US" b="1" i="0" dirty="0">
                <a:solidFill>
                  <a:srgbClr val="333333"/>
                </a:solidFill>
                <a:effectLst/>
                <a:latin typeface="PingFang SC"/>
              </a:rPr>
              <a:t>）</a:t>
            </a:r>
            <a:r>
              <a:rPr lang="zh-CN" altLang="en-US" b="0" i="0" dirty="0">
                <a:solidFill>
                  <a:srgbClr val="333333"/>
                </a:solidFill>
                <a:effectLst/>
                <a:latin typeface="PingFang SC"/>
              </a:rPr>
              <a:t>‌：客户端发送</a:t>
            </a:r>
            <a:r>
              <a:rPr lang="en-US" altLang="zh-CN" b="0" i="0" dirty="0">
                <a:solidFill>
                  <a:srgbClr val="333333"/>
                </a:solidFill>
                <a:effectLst/>
                <a:latin typeface="PingFang SC"/>
              </a:rPr>
              <a:t>ACK</a:t>
            </a:r>
            <a:r>
              <a:rPr lang="zh-CN" altLang="en-US" b="0" i="0" dirty="0">
                <a:solidFill>
                  <a:srgbClr val="333333"/>
                </a:solidFill>
                <a:effectLst/>
                <a:latin typeface="PingFang SC"/>
              </a:rPr>
              <a:t>报文（</a:t>
            </a:r>
            <a:r>
              <a:rPr lang="en-US" altLang="zh-CN" b="0" i="0" dirty="0">
                <a:solidFill>
                  <a:srgbClr val="333333"/>
                </a:solidFill>
                <a:effectLst/>
                <a:latin typeface="PingFang SC"/>
              </a:rPr>
              <a:t>ACK=1</a:t>
            </a:r>
            <a:r>
              <a:rPr lang="zh-CN" altLang="en-US" b="0" i="0" dirty="0">
                <a:solidFill>
                  <a:srgbClr val="333333"/>
                </a:solidFill>
                <a:effectLst/>
                <a:latin typeface="PingFang SC"/>
              </a:rPr>
              <a:t>），确认号</a:t>
            </a:r>
            <a:r>
              <a:rPr lang="en-US" altLang="zh-CN" dirty="0"/>
              <a:t>ack=y+1</a:t>
            </a:r>
            <a:r>
              <a:rPr lang="zh-CN" altLang="en-US" b="0" i="0" dirty="0">
                <a:solidFill>
                  <a:srgbClr val="333333"/>
                </a:solidFill>
                <a:effectLst/>
                <a:latin typeface="PingFang SC"/>
              </a:rPr>
              <a:t>，双方进入</a:t>
            </a:r>
            <a:r>
              <a:rPr lang="en-US" altLang="zh-CN" dirty="0"/>
              <a:t>ESTABLISHED</a:t>
            </a:r>
            <a:r>
              <a:rPr lang="zh-CN" altLang="en-US" b="0" i="0" dirty="0">
                <a:solidFill>
                  <a:srgbClr val="333333"/>
                </a:solidFill>
                <a:effectLst/>
                <a:latin typeface="PingFang SC"/>
              </a:rPr>
              <a:t>状态</a:t>
            </a:r>
            <a:endParaRPr lang="en-US" altLang="zh-CN" b="0" i="0" dirty="0">
              <a:solidFill>
                <a:srgbClr val="333333"/>
              </a:solidFill>
              <a:effectLst/>
              <a:latin typeface="PingFang SC"/>
            </a:endParaRPr>
          </a:p>
          <a:p>
            <a:pPr algn="l">
              <a:buFont typeface="Arial" panose="020B0604020202020204" pitchFamily="34" charset="0"/>
              <a:buNone/>
            </a:pPr>
            <a:r>
              <a:rPr lang="zh-CN" altLang="en-US" b="1" i="0" dirty="0">
                <a:solidFill>
                  <a:srgbClr val="333333"/>
                </a:solidFill>
                <a:effectLst/>
                <a:latin typeface="PingFang SC"/>
              </a:rPr>
              <a:t>为何不能简化为两次？</a:t>
            </a:r>
            <a:r>
              <a:rPr lang="en-US" altLang="zh-CN" b="0" i="0" dirty="0">
                <a:solidFill>
                  <a:srgbClr val="333333"/>
                </a:solidFill>
                <a:effectLst/>
                <a:latin typeface="PingFang SC"/>
              </a:rPr>
              <a:t>1.</a:t>
            </a:r>
            <a:r>
              <a:rPr lang="zh-CN" altLang="en-US" b="1" i="0" dirty="0">
                <a:solidFill>
                  <a:srgbClr val="333333"/>
                </a:solidFill>
                <a:effectLst/>
                <a:latin typeface="PingFang SC"/>
              </a:rPr>
              <a:t>服务器无法确认客户端接收能力</a:t>
            </a:r>
            <a:r>
              <a:rPr lang="zh-CN" altLang="en-US" b="0" i="0" dirty="0">
                <a:solidFill>
                  <a:srgbClr val="333333"/>
                </a:solidFill>
                <a:effectLst/>
                <a:latin typeface="PingFang SC"/>
              </a:rPr>
              <a:t>‌：第二次握手后，服务器只能确认客户端的发送能力，但无法确定客户端是否能收到自己的响应‌；</a:t>
            </a:r>
            <a:r>
              <a:rPr lang="en-US" altLang="zh-CN" b="0" i="0" dirty="0">
                <a:solidFill>
                  <a:srgbClr val="333333"/>
                </a:solidFill>
                <a:effectLst/>
                <a:latin typeface="PingFang SC"/>
              </a:rPr>
              <a:t>2.</a:t>
            </a:r>
            <a:r>
              <a:rPr lang="zh-CN" altLang="en-US" b="1" i="0" dirty="0">
                <a:solidFill>
                  <a:srgbClr val="333333"/>
                </a:solidFill>
                <a:effectLst/>
                <a:latin typeface="PingFang SC"/>
              </a:rPr>
              <a:t>可能引发半连接问题</a:t>
            </a:r>
            <a:r>
              <a:rPr lang="zh-CN" altLang="en-US" b="0" i="0" dirty="0">
                <a:solidFill>
                  <a:srgbClr val="333333"/>
                </a:solidFill>
                <a:effectLst/>
                <a:latin typeface="PingFang SC"/>
              </a:rPr>
              <a:t>‌：若第三次握手丢失，服务器将持续等待客户端响应，导致资源占用（如</a:t>
            </a:r>
            <a:r>
              <a:rPr lang="en-US" altLang="zh-CN" b="0" i="0" dirty="0">
                <a:solidFill>
                  <a:srgbClr val="333333"/>
                </a:solidFill>
                <a:effectLst/>
                <a:latin typeface="PingFang SC"/>
              </a:rPr>
              <a:t>SYN</a:t>
            </a:r>
            <a:r>
              <a:rPr lang="zh-CN" altLang="en-US" b="0" i="0" dirty="0">
                <a:solidFill>
                  <a:srgbClr val="333333"/>
                </a:solidFill>
                <a:effectLst/>
                <a:latin typeface="PingFang SC"/>
              </a:rPr>
              <a:t>攻击场景）‌</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72</a:t>
            </a:fld>
            <a:endParaRPr lang="zh-CN" altLang="en-US"/>
          </a:p>
        </p:txBody>
      </p:sp>
    </p:spTree>
    <p:extLst>
      <p:ext uri="{BB962C8B-B14F-4D97-AF65-F5344CB8AC3E}">
        <p14:creationId xmlns:p14="http://schemas.microsoft.com/office/powerpoint/2010/main" val="22147536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0" i="0" dirty="0">
                <a:solidFill>
                  <a:srgbClr val="333333"/>
                </a:solidFill>
                <a:effectLst/>
                <a:latin typeface="PingFang SC"/>
              </a:rPr>
              <a:t>CLOSED</a:t>
            </a:r>
            <a:r>
              <a:rPr lang="zh-CN" altLang="en-US" b="0" i="0" dirty="0">
                <a:solidFill>
                  <a:srgbClr val="333333"/>
                </a:solidFill>
                <a:effectLst/>
                <a:latin typeface="PingFang SC"/>
              </a:rPr>
              <a:t>‌：初始状态，表示无活动连接</a:t>
            </a:r>
            <a:endParaRPr lang="en-US" altLang="zh-CN" b="0" i="0" dirty="0">
              <a:solidFill>
                <a:srgbClr val="333333"/>
              </a:solidFill>
              <a:effectLst/>
              <a:latin typeface="PingFang SC"/>
            </a:endParaRPr>
          </a:p>
          <a:p>
            <a:pPr algn="l">
              <a:buFont typeface="Arial" panose="020B0604020202020204" pitchFamily="34" charset="0"/>
              <a:buNone/>
            </a:pPr>
            <a:r>
              <a:rPr lang="en-US" altLang="zh-CN" b="0" i="0" dirty="0">
                <a:solidFill>
                  <a:srgbClr val="333333"/>
                </a:solidFill>
                <a:effectLst/>
                <a:latin typeface="PingFang SC"/>
              </a:rPr>
              <a:t>LISTEN</a:t>
            </a:r>
            <a:r>
              <a:rPr lang="zh-CN" altLang="en-US" b="0" i="0" dirty="0">
                <a:solidFill>
                  <a:srgbClr val="333333"/>
                </a:solidFill>
                <a:effectLst/>
                <a:latin typeface="PingFang SC"/>
              </a:rPr>
              <a:t>：服务器开始侦听客户端请求</a:t>
            </a:r>
          </a:p>
          <a:p>
            <a:pPr algn="l">
              <a:buFont typeface="Arial" panose="020B0604020202020204" pitchFamily="34" charset="0"/>
              <a:buNone/>
            </a:pPr>
            <a:r>
              <a:rPr lang="en-US" altLang="zh-CN" b="0" i="0" dirty="0">
                <a:solidFill>
                  <a:srgbClr val="333333"/>
                </a:solidFill>
                <a:effectLst/>
                <a:latin typeface="PingFang SC"/>
              </a:rPr>
              <a:t>SYN_SENT</a:t>
            </a:r>
            <a:r>
              <a:rPr lang="zh-CN" altLang="en-US" b="0" i="0" dirty="0">
                <a:solidFill>
                  <a:srgbClr val="333333"/>
                </a:solidFill>
                <a:effectLst/>
                <a:latin typeface="PingFang SC"/>
              </a:rPr>
              <a:t>‌：客户端发送</a:t>
            </a:r>
            <a:r>
              <a:rPr lang="en-US" altLang="zh-CN" b="0" i="0" dirty="0">
                <a:solidFill>
                  <a:srgbClr val="333333"/>
                </a:solidFill>
                <a:effectLst/>
                <a:latin typeface="PingFang SC"/>
              </a:rPr>
              <a:t>SYN</a:t>
            </a:r>
            <a:r>
              <a:rPr lang="zh-CN" altLang="en-US" b="0" i="0" dirty="0">
                <a:solidFill>
                  <a:srgbClr val="333333"/>
                </a:solidFill>
                <a:effectLst/>
                <a:latin typeface="PingFang SC"/>
              </a:rPr>
              <a:t>报文后进入此状态，等待服务器确认</a:t>
            </a:r>
          </a:p>
          <a:p>
            <a:pPr algn="l">
              <a:buFont typeface="Arial" panose="020B0604020202020204" pitchFamily="34" charset="0"/>
              <a:buNone/>
            </a:pPr>
            <a:r>
              <a:rPr lang="en-US" altLang="zh-CN" b="0" i="0" dirty="0">
                <a:solidFill>
                  <a:srgbClr val="333333"/>
                </a:solidFill>
                <a:effectLst/>
                <a:latin typeface="PingFang SC"/>
              </a:rPr>
              <a:t>SYN_RCVD</a:t>
            </a:r>
            <a:r>
              <a:rPr lang="zh-CN" altLang="en-US" b="0" i="0" dirty="0">
                <a:solidFill>
                  <a:srgbClr val="333333"/>
                </a:solidFill>
                <a:effectLst/>
                <a:latin typeface="PingFang SC"/>
              </a:rPr>
              <a:t>‌：服务器收到</a:t>
            </a:r>
            <a:r>
              <a:rPr lang="en-US" altLang="zh-CN" b="0" i="0" dirty="0">
                <a:solidFill>
                  <a:srgbClr val="333333"/>
                </a:solidFill>
                <a:effectLst/>
                <a:latin typeface="PingFang SC"/>
              </a:rPr>
              <a:t>SYN</a:t>
            </a:r>
            <a:r>
              <a:rPr lang="zh-CN" altLang="en-US" b="0" i="0" dirty="0">
                <a:solidFill>
                  <a:srgbClr val="333333"/>
                </a:solidFill>
                <a:effectLst/>
                <a:latin typeface="PingFang SC"/>
              </a:rPr>
              <a:t>后回复</a:t>
            </a:r>
            <a:r>
              <a:rPr lang="en-US" altLang="zh-CN" b="0" i="0" dirty="0">
                <a:solidFill>
                  <a:srgbClr val="333333"/>
                </a:solidFill>
                <a:effectLst/>
                <a:latin typeface="PingFang SC"/>
              </a:rPr>
              <a:t>SYN-ACK</a:t>
            </a:r>
            <a:r>
              <a:rPr lang="zh-CN" altLang="en-US" b="0" i="0" dirty="0">
                <a:solidFill>
                  <a:srgbClr val="333333"/>
                </a:solidFill>
                <a:effectLst/>
                <a:latin typeface="PingFang SC"/>
              </a:rPr>
              <a:t>，进入此状态等待最终</a:t>
            </a:r>
            <a:r>
              <a:rPr lang="en-US" altLang="zh-CN" b="0" i="0" dirty="0">
                <a:solidFill>
                  <a:srgbClr val="333333"/>
                </a:solidFill>
                <a:effectLst/>
                <a:latin typeface="PingFang SC"/>
              </a:rPr>
              <a:t>ACK</a:t>
            </a:r>
            <a:endParaRPr lang="zh-CN" altLang="en-US" b="0" i="0" dirty="0">
              <a:solidFill>
                <a:srgbClr val="333333"/>
              </a:solidFill>
              <a:effectLst/>
              <a:latin typeface="PingFang SC"/>
            </a:endParaRPr>
          </a:p>
          <a:p>
            <a:pPr algn="l">
              <a:buFont typeface="Arial" panose="020B0604020202020204" pitchFamily="34" charset="0"/>
              <a:buNone/>
            </a:pPr>
            <a:r>
              <a:rPr lang="en-US" altLang="zh-CN" b="0" i="0" dirty="0">
                <a:solidFill>
                  <a:srgbClr val="333333"/>
                </a:solidFill>
                <a:effectLst/>
                <a:latin typeface="PingFang SC"/>
              </a:rPr>
              <a:t>ESTABLISHED</a:t>
            </a:r>
            <a:r>
              <a:rPr lang="zh-CN" altLang="en-US" b="0" i="0" dirty="0">
                <a:solidFill>
                  <a:srgbClr val="333333"/>
                </a:solidFill>
                <a:effectLst/>
                <a:latin typeface="PingFang SC"/>
              </a:rPr>
              <a:t>‌：三次握手完成后的数据传输状态</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73</a:t>
            </a:fld>
            <a:endParaRPr lang="zh-CN" altLang="en-US"/>
          </a:p>
        </p:txBody>
      </p:sp>
    </p:spTree>
    <p:extLst>
      <p:ext uri="{BB962C8B-B14F-4D97-AF65-F5344CB8AC3E}">
        <p14:creationId xmlns:p14="http://schemas.microsoft.com/office/powerpoint/2010/main" val="31177293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PingFang SC"/>
              </a:rPr>
              <a:t>TCP</a:t>
            </a:r>
            <a:r>
              <a:rPr lang="zh-CN" altLang="en-US" b="0" i="0" dirty="0">
                <a:solidFill>
                  <a:srgbClr val="333333"/>
                </a:solidFill>
                <a:effectLst/>
                <a:latin typeface="PingFang SC"/>
              </a:rPr>
              <a:t>连接关闭需要四次挥手（非“握手”）的原因在于</a:t>
            </a:r>
            <a:r>
              <a:rPr lang="en-US" altLang="zh-CN" b="0" i="0" dirty="0">
                <a:solidFill>
                  <a:srgbClr val="333333"/>
                </a:solidFill>
                <a:effectLst/>
                <a:latin typeface="PingFang SC"/>
              </a:rPr>
              <a:t>TCP</a:t>
            </a:r>
            <a:r>
              <a:rPr lang="zh-CN" altLang="en-US" b="0" i="0" dirty="0">
                <a:solidFill>
                  <a:srgbClr val="333333"/>
                </a:solidFill>
                <a:effectLst/>
                <a:latin typeface="PingFang SC"/>
              </a:rPr>
              <a:t>连接是双向的，关闭需双方分别确认‌；服务器在收到</a:t>
            </a:r>
            <a:r>
              <a:rPr lang="en-US" altLang="zh-CN" dirty="0"/>
              <a:t>FIN</a:t>
            </a:r>
            <a:r>
              <a:rPr lang="zh-CN" altLang="en-US" b="0" i="0" dirty="0">
                <a:solidFill>
                  <a:srgbClr val="333333"/>
                </a:solidFill>
                <a:effectLst/>
                <a:latin typeface="PingFang SC"/>
              </a:rPr>
              <a:t>后可能仍有数据待发送，需先</a:t>
            </a:r>
            <a:r>
              <a:rPr lang="en-US" altLang="zh-CN" dirty="0"/>
              <a:t>ACK</a:t>
            </a:r>
            <a:r>
              <a:rPr lang="zh-CN" altLang="en-US" b="0" i="0" dirty="0">
                <a:solidFill>
                  <a:srgbClr val="333333"/>
                </a:solidFill>
                <a:effectLst/>
                <a:latin typeface="PingFang SC"/>
              </a:rPr>
              <a:t>再发</a:t>
            </a:r>
            <a:r>
              <a:rPr lang="en-US" altLang="zh-CN" dirty="0"/>
              <a:t>FIN</a:t>
            </a:r>
            <a:r>
              <a:rPr lang="zh-CN" altLang="en-US" b="0" i="0" dirty="0">
                <a:solidFill>
                  <a:srgbClr val="333333"/>
                </a:solidFill>
                <a:effectLst/>
                <a:latin typeface="PingFang SC"/>
              </a:rPr>
              <a:t>，导致无法合并为三次‌</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PingFang SC"/>
              </a:rPr>
              <a:t>1.</a:t>
            </a:r>
            <a:r>
              <a:rPr lang="zh-CN" altLang="en-US" b="1" i="0" dirty="0">
                <a:solidFill>
                  <a:srgbClr val="333333"/>
                </a:solidFill>
                <a:effectLst/>
                <a:latin typeface="PingFang SC"/>
              </a:rPr>
              <a:t>主动方发送</a:t>
            </a:r>
            <a:r>
              <a:rPr lang="en-US" altLang="zh-CN" b="1" i="0" dirty="0">
                <a:solidFill>
                  <a:srgbClr val="333333"/>
                </a:solidFill>
                <a:effectLst/>
                <a:latin typeface="PingFang SC"/>
              </a:rPr>
              <a:t>FIN</a:t>
            </a:r>
            <a:r>
              <a:rPr lang="zh-CN" altLang="en-US" b="0" i="0" dirty="0">
                <a:solidFill>
                  <a:srgbClr val="333333"/>
                </a:solidFill>
                <a:effectLst/>
                <a:latin typeface="PingFang SC"/>
              </a:rPr>
              <a:t>‌，客户端（主动方）发送</a:t>
            </a:r>
            <a:r>
              <a:rPr lang="en-US" altLang="zh-CN" b="0" i="0" dirty="0">
                <a:solidFill>
                  <a:srgbClr val="333333"/>
                </a:solidFill>
                <a:effectLst/>
                <a:latin typeface="PingFang SC"/>
              </a:rPr>
              <a:t>FIN</a:t>
            </a:r>
            <a:r>
              <a:rPr lang="zh-CN" altLang="en-US" b="0" i="0" dirty="0">
                <a:solidFill>
                  <a:srgbClr val="333333"/>
                </a:solidFill>
                <a:effectLst/>
                <a:latin typeface="PingFang SC"/>
              </a:rPr>
              <a:t>报文，表示不再发送数据，进入</a:t>
            </a:r>
            <a:r>
              <a:rPr lang="en-US" altLang="zh-CN" dirty="0"/>
              <a:t>FIN-WAIT-1</a:t>
            </a:r>
            <a:r>
              <a:rPr lang="zh-CN" altLang="en-US" b="0" i="0" dirty="0">
                <a:solidFill>
                  <a:srgbClr val="333333"/>
                </a:solidFill>
                <a:effectLst/>
                <a:latin typeface="PingFang SC"/>
              </a:rPr>
              <a:t>状态‌；</a:t>
            </a:r>
            <a:r>
              <a:rPr lang="en-US" altLang="zh-CN" b="0" i="0" dirty="0">
                <a:solidFill>
                  <a:srgbClr val="333333"/>
                </a:solidFill>
                <a:effectLst/>
                <a:latin typeface="PingFang SC"/>
              </a:rPr>
              <a:t>2.</a:t>
            </a:r>
            <a:r>
              <a:rPr lang="zh-CN" altLang="en-US" b="1" i="0" dirty="0">
                <a:solidFill>
                  <a:srgbClr val="333333"/>
                </a:solidFill>
                <a:effectLst/>
                <a:latin typeface="PingFang SC"/>
              </a:rPr>
              <a:t>被动方回复</a:t>
            </a:r>
            <a:r>
              <a:rPr lang="en-US" altLang="zh-CN" b="1" i="0" dirty="0">
                <a:solidFill>
                  <a:srgbClr val="333333"/>
                </a:solidFill>
                <a:effectLst/>
                <a:latin typeface="PingFang SC"/>
              </a:rPr>
              <a:t>ACK</a:t>
            </a:r>
            <a:r>
              <a:rPr lang="zh-CN" altLang="en-US" b="0" i="0" dirty="0">
                <a:solidFill>
                  <a:srgbClr val="333333"/>
                </a:solidFill>
                <a:effectLst/>
                <a:latin typeface="PingFang SC"/>
              </a:rPr>
              <a:t>‌，服务器收到</a:t>
            </a:r>
            <a:r>
              <a:rPr lang="en-US" altLang="zh-CN" b="0" i="0" dirty="0">
                <a:solidFill>
                  <a:srgbClr val="333333"/>
                </a:solidFill>
                <a:effectLst/>
                <a:latin typeface="PingFang SC"/>
              </a:rPr>
              <a:t>FIN</a:t>
            </a:r>
            <a:r>
              <a:rPr lang="zh-CN" altLang="en-US" b="0" i="0" dirty="0">
                <a:solidFill>
                  <a:srgbClr val="333333"/>
                </a:solidFill>
                <a:effectLst/>
                <a:latin typeface="PingFang SC"/>
              </a:rPr>
              <a:t>后，发送</a:t>
            </a:r>
            <a:r>
              <a:rPr lang="en-US" altLang="zh-CN" b="0" i="0" dirty="0">
                <a:solidFill>
                  <a:srgbClr val="333333"/>
                </a:solidFill>
                <a:effectLst/>
                <a:latin typeface="PingFang SC"/>
              </a:rPr>
              <a:t>ACK</a:t>
            </a:r>
            <a:r>
              <a:rPr lang="zh-CN" altLang="en-US" b="0" i="0" dirty="0">
                <a:solidFill>
                  <a:srgbClr val="333333"/>
                </a:solidFill>
                <a:effectLst/>
                <a:latin typeface="PingFang SC"/>
              </a:rPr>
              <a:t>确认（此时服务器可能仍有数据待发送），进入</a:t>
            </a:r>
            <a:r>
              <a:rPr lang="en-US" altLang="zh-CN" dirty="0"/>
              <a:t>CLOSE-WAIT</a:t>
            </a:r>
            <a:r>
              <a:rPr lang="zh-CN" altLang="en-US" b="0" i="0" dirty="0">
                <a:solidFill>
                  <a:srgbClr val="333333"/>
                </a:solidFill>
                <a:effectLst/>
                <a:latin typeface="PingFang SC"/>
              </a:rPr>
              <a:t>状态‌；</a:t>
            </a:r>
            <a:r>
              <a:rPr lang="en-US" altLang="zh-CN" b="0" i="0" dirty="0">
                <a:solidFill>
                  <a:srgbClr val="333333"/>
                </a:solidFill>
                <a:effectLst/>
                <a:latin typeface="PingFang SC"/>
              </a:rPr>
              <a:t>3.</a:t>
            </a:r>
            <a:r>
              <a:rPr lang="zh-CN" altLang="en-US" b="1" i="0" dirty="0">
                <a:solidFill>
                  <a:srgbClr val="333333"/>
                </a:solidFill>
                <a:effectLst/>
                <a:latin typeface="PingFang SC"/>
              </a:rPr>
              <a:t>被动方发送</a:t>
            </a:r>
            <a:r>
              <a:rPr lang="en-US" altLang="zh-CN" b="1" i="0" dirty="0">
                <a:solidFill>
                  <a:srgbClr val="333333"/>
                </a:solidFill>
                <a:effectLst/>
                <a:latin typeface="PingFang SC"/>
              </a:rPr>
              <a:t>FIN</a:t>
            </a:r>
            <a:r>
              <a:rPr lang="zh-CN" altLang="en-US" b="0" i="0" dirty="0">
                <a:solidFill>
                  <a:srgbClr val="333333"/>
                </a:solidFill>
                <a:effectLst/>
                <a:latin typeface="PingFang SC"/>
              </a:rPr>
              <a:t>‌，服务器完成数据发送后，发送自己的</a:t>
            </a:r>
            <a:r>
              <a:rPr lang="en-US" altLang="zh-CN" b="0" i="0" dirty="0">
                <a:solidFill>
                  <a:srgbClr val="333333"/>
                </a:solidFill>
                <a:effectLst/>
                <a:latin typeface="PingFang SC"/>
              </a:rPr>
              <a:t>FIN</a:t>
            </a:r>
            <a:r>
              <a:rPr lang="zh-CN" altLang="en-US" b="0" i="0" dirty="0">
                <a:solidFill>
                  <a:srgbClr val="333333"/>
                </a:solidFill>
                <a:effectLst/>
                <a:latin typeface="PingFang SC"/>
              </a:rPr>
              <a:t>报文，进入</a:t>
            </a:r>
            <a:r>
              <a:rPr lang="en-US" altLang="zh-CN" dirty="0"/>
              <a:t>LAST-ACK</a:t>
            </a:r>
            <a:r>
              <a:rPr lang="zh-CN" altLang="en-US" b="0" i="0" dirty="0">
                <a:solidFill>
                  <a:srgbClr val="333333"/>
                </a:solidFill>
                <a:effectLst/>
                <a:latin typeface="PingFang SC"/>
              </a:rPr>
              <a:t>状态‌；</a:t>
            </a:r>
            <a:r>
              <a:rPr lang="en-US" altLang="zh-CN" b="0" i="0" dirty="0">
                <a:solidFill>
                  <a:srgbClr val="333333"/>
                </a:solidFill>
                <a:effectLst/>
                <a:latin typeface="PingFang SC"/>
              </a:rPr>
              <a:t>4.</a:t>
            </a:r>
            <a:r>
              <a:rPr lang="zh-CN" altLang="en-US" b="1" i="0" dirty="0">
                <a:solidFill>
                  <a:srgbClr val="333333"/>
                </a:solidFill>
                <a:effectLst/>
                <a:latin typeface="PingFang SC"/>
              </a:rPr>
              <a:t>主动方确认</a:t>
            </a:r>
            <a:r>
              <a:rPr lang="en-US" altLang="zh-CN" b="1" i="0" dirty="0">
                <a:solidFill>
                  <a:srgbClr val="333333"/>
                </a:solidFill>
                <a:effectLst/>
                <a:latin typeface="PingFang SC"/>
              </a:rPr>
              <a:t>ACK</a:t>
            </a:r>
            <a:r>
              <a:rPr lang="zh-CN" altLang="en-US" b="0" i="0" dirty="0">
                <a:solidFill>
                  <a:srgbClr val="333333"/>
                </a:solidFill>
                <a:effectLst/>
                <a:latin typeface="PingFang SC"/>
              </a:rPr>
              <a:t>‌，客户端收到服务器的</a:t>
            </a:r>
            <a:r>
              <a:rPr lang="en-US" altLang="zh-CN" b="0" i="0" dirty="0">
                <a:solidFill>
                  <a:srgbClr val="333333"/>
                </a:solidFill>
                <a:effectLst/>
                <a:latin typeface="PingFang SC"/>
              </a:rPr>
              <a:t>FIN</a:t>
            </a:r>
            <a:r>
              <a:rPr lang="zh-CN" altLang="en-US" b="0" i="0" dirty="0">
                <a:solidFill>
                  <a:srgbClr val="333333"/>
                </a:solidFill>
                <a:effectLst/>
                <a:latin typeface="PingFang SC"/>
              </a:rPr>
              <a:t>后，回复</a:t>
            </a:r>
            <a:r>
              <a:rPr lang="en-US" altLang="zh-CN" b="0" i="0" dirty="0">
                <a:solidFill>
                  <a:srgbClr val="333333"/>
                </a:solidFill>
                <a:effectLst/>
                <a:latin typeface="PingFang SC"/>
              </a:rPr>
              <a:t>ACK</a:t>
            </a:r>
            <a:r>
              <a:rPr lang="zh-CN" altLang="en-US" b="0" i="0" dirty="0">
                <a:solidFill>
                  <a:srgbClr val="333333"/>
                </a:solidFill>
                <a:effectLst/>
                <a:latin typeface="PingFang SC"/>
              </a:rPr>
              <a:t>并进入</a:t>
            </a:r>
            <a:r>
              <a:rPr lang="en-US" altLang="zh-CN" dirty="0"/>
              <a:t>TIME-WAIT</a:t>
            </a:r>
            <a:r>
              <a:rPr lang="zh-CN" altLang="en-US" b="0" i="0" dirty="0">
                <a:solidFill>
                  <a:srgbClr val="333333"/>
                </a:solidFill>
                <a:effectLst/>
                <a:latin typeface="PingFang SC"/>
              </a:rPr>
              <a:t>状态（等待</a:t>
            </a:r>
            <a:r>
              <a:rPr lang="en-US" altLang="zh-CN" b="0" i="0" dirty="0">
                <a:solidFill>
                  <a:srgbClr val="333333"/>
                </a:solidFill>
                <a:effectLst/>
                <a:latin typeface="PingFang SC"/>
              </a:rPr>
              <a:t>2MSL</a:t>
            </a:r>
            <a:r>
              <a:rPr lang="zh-CN" altLang="en-US" b="0" i="0" dirty="0">
                <a:solidFill>
                  <a:srgbClr val="333333"/>
                </a:solidFill>
                <a:effectLst/>
                <a:latin typeface="PingFang SC"/>
              </a:rPr>
              <a:t>确保报文到达），服务器收到</a:t>
            </a:r>
            <a:r>
              <a:rPr lang="en-US" altLang="zh-CN" b="0" i="0" dirty="0">
                <a:solidFill>
                  <a:srgbClr val="333333"/>
                </a:solidFill>
                <a:effectLst/>
                <a:latin typeface="PingFang SC"/>
              </a:rPr>
              <a:t>ACK</a:t>
            </a:r>
            <a:r>
              <a:rPr lang="zh-CN" altLang="en-US" b="0" i="0" dirty="0">
                <a:solidFill>
                  <a:srgbClr val="333333"/>
                </a:solidFill>
                <a:effectLst/>
                <a:latin typeface="PingFang SC"/>
              </a:rPr>
              <a:t>后关闭连接‌</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333333"/>
                </a:solidFill>
                <a:effectLst/>
                <a:latin typeface="PingFang SC"/>
              </a:rPr>
              <a:t>等待</a:t>
            </a:r>
            <a:r>
              <a:rPr lang="en-US" altLang="zh-CN" b="1" i="0" dirty="0">
                <a:solidFill>
                  <a:srgbClr val="333333"/>
                </a:solidFill>
                <a:effectLst/>
                <a:latin typeface="PingFang SC"/>
              </a:rPr>
              <a:t>2MSL</a:t>
            </a:r>
            <a:r>
              <a:rPr lang="zh-CN" altLang="en-US" b="1" i="0" dirty="0">
                <a:solidFill>
                  <a:srgbClr val="333333"/>
                </a:solidFill>
                <a:effectLst/>
                <a:latin typeface="PingFang SC"/>
              </a:rPr>
              <a:t>（最长报文段寿命）</a:t>
            </a:r>
            <a:r>
              <a:rPr lang="zh-CN" altLang="en-US" b="0" i="0" dirty="0">
                <a:solidFill>
                  <a:srgbClr val="333333"/>
                </a:solidFill>
                <a:effectLst/>
                <a:latin typeface="PingFang SC"/>
              </a:rPr>
              <a:t>：确保最后一个</a:t>
            </a:r>
            <a:r>
              <a:rPr lang="en-US" altLang="zh-CN" dirty="0"/>
              <a:t>ACK</a:t>
            </a:r>
            <a:r>
              <a:rPr lang="zh-CN" altLang="en-US" b="0" i="0" dirty="0">
                <a:solidFill>
                  <a:srgbClr val="333333"/>
                </a:solidFill>
                <a:effectLst/>
                <a:latin typeface="PingFang SC"/>
              </a:rPr>
              <a:t>到达服务器，避免旧连接数据干扰新连接</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74</a:t>
            </a:fld>
            <a:endParaRPr lang="zh-CN" altLang="en-US"/>
          </a:p>
        </p:txBody>
      </p:sp>
    </p:spTree>
    <p:extLst>
      <p:ext uri="{BB962C8B-B14F-4D97-AF65-F5344CB8AC3E}">
        <p14:creationId xmlns:p14="http://schemas.microsoft.com/office/powerpoint/2010/main" val="41114139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333333"/>
                </a:solidFill>
                <a:effectLst/>
                <a:latin typeface="PingFang SC"/>
              </a:rPr>
              <a:t>连接建立定时器</a:t>
            </a:r>
            <a:r>
              <a:rPr lang="zh-CN" altLang="en-US" b="0" i="0" dirty="0">
                <a:solidFill>
                  <a:srgbClr val="333333"/>
                </a:solidFill>
                <a:effectLst/>
                <a:latin typeface="PingFang SC"/>
              </a:rPr>
              <a:t>：在发送</a:t>
            </a:r>
            <a:r>
              <a:rPr lang="en-US" altLang="zh-CN" b="0" i="0" dirty="0">
                <a:solidFill>
                  <a:srgbClr val="333333"/>
                </a:solidFill>
                <a:effectLst/>
                <a:latin typeface="PingFang SC"/>
              </a:rPr>
              <a:t>SYN</a:t>
            </a:r>
            <a:r>
              <a:rPr lang="zh-CN" altLang="en-US" b="0" i="0" dirty="0">
                <a:solidFill>
                  <a:srgbClr val="333333"/>
                </a:solidFill>
                <a:effectLst/>
                <a:latin typeface="PingFang SC"/>
              </a:rPr>
              <a:t>报文段建立新连接时启动。如果在</a:t>
            </a:r>
            <a:r>
              <a:rPr lang="en-US" altLang="zh-CN" b="0" i="0" dirty="0">
                <a:solidFill>
                  <a:srgbClr val="333333"/>
                </a:solidFill>
                <a:effectLst/>
                <a:latin typeface="PingFang SC"/>
              </a:rPr>
              <a:t>75</a:t>
            </a:r>
            <a:r>
              <a:rPr lang="zh-CN" altLang="en-US" b="0" i="0" dirty="0">
                <a:solidFill>
                  <a:srgbClr val="333333"/>
                </a:solidFill>
                <a:effectLst/>
                <a:latin typeface="PingFang SC"/>
              </a:rPr>
              <a:t>秒内未收到响应，则连接建立将中止</a:t>
            </a:r>
          </a:p>
          <a:p>
            <a:pPr algn="l"/>
            <a:r>
              <a:rPr lang="zh-CN" altLang="en-US" b="1" i="0" dirty="0">
                <a:solidFill>
                  <a:srgbClr val="333333"/>
                </a:solidFill>
                <a:effectLst/>
                <a:latin typeface="PingFang SC"/>
              </a:rPr>
              <a:t>重传定时器（</a:t>
            </a:r>
            <a:r>
              <a:rPr lang="en-US" altLang="zh-CN" b="1" i="0" dirty="0">
                <a:solidFill>
                  <a:srgbClr val="333333"/>
                </a:solidFill>
                <a:effectLst/>
                <a:latin typeface="PingFang SC"/>
              </a:rPr>
              <a:t>RTO</a:t>
            </a:r>
            <a:r>
              <a:rPr lang="zh-CN" altLang="en-US" b="1" i="0" dirty="0">
                <a:solidFill>
                  <a:srgbClr val="333333"/>
                </a:solidFill>
                <a:effectLst/>
                <a:latin typeface="PingFang SC"/>
              </a:rPr>
              <a:t>）</a:t>
            </a:r>
            <a:r>
              <a:rPr lang="zh-CN" altLang="en-US" b="0" i="0" dirty="0">
                <a:solidFill>
                  <a:srgbClr val="333333"/>
                </a:solidFill>
                <a:effectLst/>
                <a:latin typeface="PingFang SC"/>
              </a:rPr>
              <a:t>：用于在发送数据后等待确认。如果定时器超时且未收到确认，</a:t>
            </a:r>
            <a:r>
              <a:rPr lang="en-US" altLang="zh-CN" b="0" i="0" dirty="0">
                <a:solidFill>
                  <a:srgbClr val="333333"/>
                </a:solidFill>
                <a:effectLst/>
                <a:latin typeface="PingFang SC"/>
              </a:rPr>
              <a:t>TCP</a:t>
            </a:r>
            <a:r>
              <a:rPr lang="zh-CN" altLang="en-US" b="0" i="0" dirty="0">
                <a:solidFill>
                  <a:srgbClr val="333333"/>
                </a:solidFill>
                <a:effectLst/>
                <a:latin typeface="PingFang SC"/>
              </a:rPr>
              <a:t>将重传数据</a:t>
            </a:r>
          </a:p>
          <a:p>
            <a:pPr algn="l"/>
            <a:r>
              <a:rPr lang="zh-CN" altLang="en-US" b="1" i="0" dirty="0">
                <a:solidFill>
                  <a:srgbClr val="333333"/>
                </a:solidFill>
                <a:effectLst/>
                <a:latin typeface="PingFang SC"/>
              </a:rPr>
              <a:t>持续定时器（避免</a:t>
            </a:r>
            <a:r>
              <a:rPr lang="en-US" altLang="zh-CN" b="1" i="0" dirty="0">
                <a:solidFill>
                  <a:srgbClr val="333333"/>
                </a:solidFill>
                <a:effectLst/>
                <a:latin typeface="PingFang SC"/>
              </a:rPr>
              <a:t>0</a:t>
            </a:r>
            <a:r>
              <a:rPr lang="zh-CN" altLang="en-US" b="1" i="0" dirty="0">
                <a:solidFill>
                  <a:srgbClr val="333333"/>
                </a:solidFill>
                <a:effectLst/>
                <a:latin typeface="PingFang SC"/>
              </a:rPr>
              <a:t>窗口死锁）</a:t>
            </a:r>
            <a:r>
              <a:rPr lang="zh-CN" altLang="en-US" b="0" i="0" dirty="0">
                <a:solidFill>
                  <a:srgbClr val="333333"/>
                </a:solidFill>
                <a:effectLst/>
                <a:latin typeface="PingFang SC"/>
              </a:rPr>
              <a:t>：当接收方通告窗口大小为</a:t>
            </a:r>
            <a:r>
              <a:rPr lang="en-US" altLang="zh-CN" b="0" i="0" dirty="0">
                <a:solidFill>
                  <a:srgbClr val="333333"/>
                </a:solidFill>
                <a:effectLst/>
                <a:latin typeface="PingFang SC"/>
              </a:rPr>
              <a:t>0</a:t>
            </a:r>
            <a:r>
              <a:rPr lang="zh-CN" altLang="en-US" b="0" i="0" dirty="0">
                <a:solidFill>
                  <a:srgbClr val="333333"/>
                </a:solidFill>
                <a:effectLst/>
                <a:latin typeface="PingFang SC"/>
              </a:rPr>
              <a:t>时启动。发送方定期发送探测报文（如</a:t>
            </a:r>
            <a:r>
              <a:rPr lang="en-US" altLang="zh-CN" b="0" i="0" dirty="0">
                <a:solidFill>
                  <a:srgbClr val="333333"/>
                </a:solidFill>
                <a:effectLst/>
                <a:latin typeface="PingFang SC"/>
              </a:rPr>
              <a:t>1</a:t>
            </a:r>
            <a:r>
              <a:rPr lang="zh-CN" altLang="en-US" b="0" i="0" dirty="0">
                <a:solidFill>
                  <a:srgbClr val="333333"/>
                </a:solidFill>
                <a:effectLst/>
                <a:latin typeface="PingFang SC"/>
              </a:rPr>
              <a:t>字节数据）以确认窗口是否重新打开，防止因窗口更新</a:t>
            </a:r>
            <a:r>
              <a:rPr lang="en-US" altLang="zh-CN" b="0" i="0" dirty="0">
                <a:solidFill>
                  <a:srgbClr val="333333"/>
                </a:solidFill>
                <a:effectLst/>
                <a:latin typeface="PingFang SC"/>
              </a:rPr>
              <a:t>ACK</a:t>
            </a:r>
            <a:r>
              <a:rPr lang="zh-CN" altLang="en-US" b="0" i="0" dirty="0">
                <a:solidFill>
                  <a:srgbClr val="333333"/>
                </a:solidFill>
                <a:effectLst/>
                <a:latin typeface="PingFang SC"/>
              </a:rPr>
              <a:t>丢失导致的死锁</a:t>
            </a:r>
          </a:p>
          <a:p>
            <a:pPr algn="l"/>
            <a:r>
              <a:rPr lang="zh-CN" altLang="en-US" b="1" i="0" dirty="0">
                <a:solidFill>
                  <a:srgbClr val="333333"/>
                </a:solidFill>
                <a:effectLst/>
                <a:latin typeface="PingFang SC"/>
              </a:rPr>
              <a:t>保活定时器（避免半打开连接）</a:t>
            </a:r>
            <a:r>
              <a:rPr lang="zh-CN" altLang="en-US" b="0" i="0" dirty="0">
                <a:solidFill>
                  <a:srgbClr val="333333"/>
                </a:solidFill>
                <a:effectLst/>
                <a:latin typeface="PingFang SC"/>
              </a:rPr>
              <a:t>：用于检测长时间空闲的连接是否有效。默认超时为</a:t>
            </a:r>
            <a:r>
              <a:rPr lang="en-US" altLang="zh-CN" b="0" i="0" dirty="0">
                <a:solidFill>
                  <a:srgbClr val="333333"/>
                </a:solidFill>
                <a:effectLst/>
                <a:latin typeface="PingFang SC"/>
              </a:rPr>
              <a:t>2</a:t>
            </a:r>
            <a:r>
              <a:rPr lang="zh-CN" altLang="en-US" b="0" i="0" dirty="0">
                <a:solidFill>
                  <a:srgbClr val="333333"/>
                </a:solidFill>
                <a:effectLst/>
                <a:latin typeface="PingFang SC"/>
              </a:rPr>
              <a:t>小时，若期间无活动，发送方发送探测报文。若连续多次无响应，则判定连接失效‌</a:t>
            </a:r>
          </a:p>
          <a:p>
            <a:pPr algn="l"/>
            <a:r>
              <a:rPr lang="zh-CN" altLang="en-US" b="1" i="0" dirty="0">
                <a:solidFill>
                  <a:srgbClr val="333333"/>
                </a:solidFill>
                <a:effectLst/>
                <a:latin typeface="PingFang SC"/>
              </a:rPr>
              <a:t>静默定时器（避免端口号重用）</a:t>
            </a:r>
            <a:r>
              <a:rPr lang="zh-CN" altLang="en-US" b="0" i="0" dirty="0">
                <a:solidFill>
                  <a:srgbClr val="333333"/>
                </a:solidFill>
                <a:effectLst/>
                <a:latin typeface="PingFang SC"/>
              </a:rPr>
              <a:t>：</a:t>
            </a:r>
            <a:r>
              <a:rPr lang="en-US" altLang="zh-CN" b="0" i="0" dirty="0">
                <a:solidFill>
                  <a:srgbClr val="333333"/>
                </a:solidFill>
                <a:effectLst/>
                <a:latin typeface="PingFang SC"/>
              </a:rPr>
              <a:t>TIME_WAIT</a:t>
            </a:r>
            <a:r>
              <a:rPr lang="zh-CN" altLang="en-US" b="0" i="0" dirty="0">
                <a:solidFill>
                  <a:srgbClr val="333333"/>
                </a:solidFill>
                <a:effectLst/>
                <a:latin typeface="PingFang SC"/>
              </a:rPr>
              <a:t>定时器（</a:t>
            </a:r>
            <a:r>
              <a:rPr lang="en-US" altLang="zh-CN" b="0" i="0" dirty="0">
                <a:solidFill>
                  <a:srgbClr val="333333"/>
                </a:solidFill>
                <a:effectLst/>
                <a:latin typeface="PingFang SC"/>
              </a:rPr>
              <a:t>2MSL</a:t>
            </a:r>
            <a:r>
              <a:rPr lang="zh-CN" altLang="en-US" b="0" i="0" dirty="0">
                <a:solidFill>
                  <a:srgbClr val="333333"/>
                </a:solidFill>
                <a:effectLst/>
                <a:latin typeface="PingFang SC"/>
              </a:rPr>
              <a:t>）。主动关闭连接之后，该定时器确保旧连接的数据在网络中完全消失，防止新连接因端口号重用而收到旧数据‌</a:t>
            </a:r>
          </a:p>
        </p:txBody>
      </p:sp>
      <p:sp>
        <p:nvSpPr>
          <p:cNvPr id="4" name="灯片编号占位符 3"/>
          <p:cNvSpPr>
            <a:spLocks noGrp="1"/>
          </p:cNvSpPr>
          <p:nvPr>
            <p:ph type="sldNum" sz="quarter" idx="5"/>
          </p:nvPr>
        </p:nvSpPr>
        <p:spPr/>
        <p:txBody>
          <a:bodyPr/>
          <a:lstStyle/>
          <a:p>
            <a:fld id="{1075FF09-559A-413E-B23E-0DFCD03CDBD8}" type="slidenum">
              <a:rPr lang="zh-CN" altLang="en-US" smtClean="0"/>
              <a:t>75</a:t>
            </a:fld>
            <a:endParaRPr lang="zh-CN" altLang="en-US"/>
          </a:p>
        </p:txBody>
      </p:sp>
    </p:spTree>
    <p:extLst>
      <p:ext uri="{BB962C8B-B14F-4D97-AF65-F5344CB8AC3E}">
        <p14:creationId xmlns:p14="http://schemas.microsoft.com/office/powerpoint/2010/main" val="6609310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4221A4C3-E60D-4BAF-9FA1-452B71F72B73}" type="slidenum">
              <a:rPr lang="en-US" altLang="zh-CN" smtClean="0"/>
              <a:pPr/>
              <a:t>76</a:t>
            </a:fld>
            <a:endParaRPr lang="en-US" altLang="zh-CN"/>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p:spPr>
        <p:txBody>
          <a:bodyPr/>
          <a:lstStyle/>
          <a:p>
            <a:pPr algn="l">
              <a:buFont typeface="Arial" panose="020B0604020202020204" pitchFamily="34" charset="0"/>
              <a:buNone/>
            </a:pPr>
            <a:r>
              <a:rPr lang="en-US" altLang="zh-CN" b="0" i="0" dirty="0">
                <a:solidFill>
                  <a:srgbClr val="333333"/>
                </a:solidFill>
                <a:effectLst/>
                <a:latin typeface="PingFang SC"/>
              </a:rPr>
              <a:t>MSL</a:t>
            </a:r>
            <a:r>
              <a:rPr lang="zh-CN" altLang="en-US" b="0" i="0" dirty="0">
                <a:solidFill>
                  <a:srgbClr val="333333"/>
                </a:solidFill>
                <a:effectLst/>
                <a:latin typeface="PingFang SC"/>
              </a:rPr>
              <a:t>定义‌：报文段在网络中的最大生存时间，通常为</a:t>
            </a:r>
            <a:r>
              <a:rPr lang="en-US" altLang="zh-CN" b="0" i="0" dirty="0">
                <a:solidFill>
                  <a:srgbClr val="333333"/>
                </a:solidFill>
                <a:effectLst/>
                <a:latin typeface="PingFang SC"/>
              </a:rPr>
              <a:t>30</a:t>
            </a:r>
            <a:r>
              <a:rPr lang="zh-CN" altLang="en-US" b="0" i="0" dirty="0">
                <a:solidFill>
                  <a:srgbClr val="333333"/>
                </a:solidFill>
                <a:effectLst/>
                <a:latin typeface="PingFang SC"/>
              </a:rPr>
              <a:t>秒至</a:t>
            </a:r>
            <a:r>
              <a:rPr lang="en-US" altLang="zh-CN" b="0" i="0" dirty="0">
                <a:solidFill>
                  <a:srgbClr val="333333"/>
                </a:solidFill>
                <a:effectLst/>
                <a:latin typeface="PingFang SC"/>
              </a:rPr>
              <a:t>2</a:t>
            </a:r>
            <a:r>
              <a:rPr lang="zh-CN" altLang="en-US" b="0" i="0" dirty="0">
                <a:solidFill>
                  <a:srgbClr val="333333"/>
                </a:solidFill>
                <a:effectLst/>
                <a:latin typeface="PingFang SC"/>
              </a:rPr>
              <a:t>分钟（不同实现可能不同）‌</a:t>
            </a:r>
          </a:p>
          <a:p>
            <a:pPr algn="l">
              <a:buFont typeface="Arial" panose="020B0604020202020204" pitchFamily="34" charset="0"/>
              <a:buNone/>
            </a:pPr>
            <a:r>
              <a:rPr lang="zh-CN" altLang="en-US" b="0" i="0" dirty="0">
                <a:solidFill>
                  <a:srgbClr val="333333"/>
                </a:solidFill>
                <a:effectLst/>
                <a:latin typeface="PingFang SC"/>
              </a:rPr>
              <a:t>等待时长‌：</a:t>
            </a:r>
            <a:r>
              <a:rPr lang="en-US" altLang="zh-CN" b="0" i="0" dirty="0">
                <a:solidFill>
                  <a:srgbClr val="333333"/>
                </a:solidFill>
                <a:effectLst/>
                <a:latin typeface="PingFang SC"/>
              </a:rPr>
              <a:t>2MSL</a:t>
            </a:r>
            <a:r>
              <a:rPr lang="zh-CN" altLang="en-US" b="0" i="0" dirty="0">
                <a:solidFill>
                  <a:srgbClr val="333333"/>
                </a:solidFill>
                <a:effectLst/>
                <a:latin typeface="PingFang SC"/>
              </a:rPr>
              <a:t>确保所有延迟的报文（如重传的</a:t>
            </a:r>
            <a:r>
              <a:rPr lang="en-US" altLang="zh-CN" b="0" i="0" dirty="0">
                <a:solidFill>
                  <a:srgbClr val="333333"/>
                </a:solidFill>
                <a:effectLst/>
                <a:latin typeface="PingFang SC"/>
              </a:rPr>
              <a:t>FIN</a:t>
            </a:r>
            <a:r>
              <a:rPr lang="zh-CN" altLang="en-US" b="0" i="0" dirty="0">
                <a:solidFill>
                  <a:srgbClr val="333333"/>
                </a:solidFill>
                <a:effectLst/>
                <a:latin typeface="PingFang SC"/>
              </a:rPr>
              <a:t>或</a:t>
            </a:r>
            <a:r>
              <a:rPr lang="en-US" altLang="zh-CN" b="0" i="0" dirty="0">
                <a:solidFill>
                  <a:srgbClr val="333333"/>
                </a:solidFill>
                <a:effectLst/>
                <a:latin typeface="PingFang SC"/>
              </a:rPr>
              <a:t>ACK</a:t>
            </a:r>
            <a:r>
              <a:rPr lang="zh-CN" altLang="en-US" b="0" i="0" dirty="0">
                <a:solidFill>
                  <a:srgbClr val="333333"/>
                </a:solidFill>
                <a:effectLst/>
                <a:latin typeface="PingFang SC"/>
              </a:rPr>
              <a:t>）在网络中消失，避免干扰新连接‌（新旧连接使用相同五元组）</a:t>
            </a:r>
            <a:endParaRPr lang="en-US" altLang="zh-CN" b="0" i="0" dirty="0">
              <a:solidFill>
                <a:srgbClr val="333333"/>
              </a:solidFill>
              <a:effectLst/>
              <a:latin typeface="PingFang SC"/>
            </a:endParaRPr>
          </a:p>
          <a:p>
            <a:pPr algn="l">
              <a:buFont typeface="Arial" panose="020B0604020202020204" pitchFamily="34" charset="0"/>
              <a:buNone/>
            </a:pPr>
            <a:r>
              <a:rPr lang="zh-CN" altLang="en-US" b="0" i="0" dirty="0">
                <a:solidFill>
                  <a:srgbClr val="333333"/>
                </a:solidFill>
                <a:effectLst/>
                <a:latin typeface="PingFang SC"/>
              </a:rPr>
              <a:t>如果最终的</a:t>
            </a:r>
            <a:r>
              <a:rPr lang="en-US" altLang="zh-CN" b="0" i="0" dirty="0">
                <a:solidFill>
                  <a:srgbClr val="333333"/>
                </a:solidFill>
                <a:effectLst/>
                <a:latin typeface="PingFang SC"/>
              </a:rPr>
              <a:t>ACK</a:t>
            </a:r>
            <a:r>
              <a:rPr lang="zh-CN" altLang="en-US" b="0" i="0" dirty="0">
                <a:solidFill>
                  <a:srgbClr val="333333"/>
                </a:solidFill>
                <a:effectLst/>
                <a:latin typeface="PingFang SC"/>
              </a:rPr>
              <a:t>丢失，被动端将重传</a:t>
            </a:r>
            <a:r>
              <a:rPr lang="en-US" altLang="zh-CN" b="0" i="0" dirty="0">
                <a:solidFill>
                  <a:srgbClr val="333333"/>
                </a:solidFill>
                <a:effectLst/>
                <a:latin typeface="PingFang SC"/>
              </a:rPr>
              <a:t>FIN</a:t>
            </a:r>
            <a:r>
              <a:rPr lang="zh-CN" altLang="en-US" b="0" i="0" dirty="0">
                <a:solidFill>
                  <a:srgbClr val="333333"/>
                </a:solidFill>
                <a:effectLst/>
                <a:latin typeface="PingFang SC"/>
              </a:rPr>
              <a:t>，主动端通过</a:t>
            </a:r>
            <a:r>
              <a:rPr lang="en-US" altLang="zh-CN" b="0" i="0" dirty="0">
                <a:solidFill>
                  <a:srgbClr val="333333"/>
                </a:solidFill>
                <a:effectLst/>
                <a:latin typeface="PingFang SC"/>
              </a:rPr>
              <a:t>2MSL</a:t>
            </a:r>
            <a:r>
              <a:rPr lang="zh-CN" altLang="en-US" b="0" i="0" dirty="0">
                <a:solidFill>
                  <a:srgbClr val="333333"/>
                </a:solidFill>
                <a:effectLst/>
                <a:latin typeface="PingFang SC"/>
              </a:rPr>
              <a:t>等待重传机会‌</a:t>
            </a:r>
          </a:p>
        </p:txBody>
      </p:sp>
    </p:spTree>
    <p:extLst>
      <p:ext uri="{BB962C8B-B14F-4D97-AF65-F5344CB8AC3E}">
        <p14:creationId xmlns:p14="http://schemas.microsoft.com/office/powerpoint/2010/main" val="30095439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77</a:t>
            </a:fld>
            <a:endParaRPr lang="zh-CN" altLang="en-US"/>
          </a:p>
        </p:txBody>
      </p:sp>
    </p:spTree>
    <p:extLst>
      <p:ext uri="{BB962C8B-B14F-4D97-AF65-F5344CB8AC3E}">
        <p14:creationId xmlns:p14="http://schemas.microsoft.com/office/powerpoint/2010/main" val="15471161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Reset</a:t>
            </a:r>
            <a:r>
              <a:rPr lang="zh-CN" altLang="en-US" b="0" i="0" dirty="0">
                <a:solidFill>
                  <a:srgbClr val="333333"/>
                </a:solidFill>
                <a:effectLst/>
                <a:latin typeface="PingFang SC"/>
              </a:rPr>
              <a:t>（</a:t>
            </a:r>
            <a:r>
              <a:rPr lang="en-US" altLang="zh-CN" b="0" i="0" dirty="0">
                <a:solidFill>
                  <a:srgbClr val="333333"/>
                </a:solidFill>
                <a:effectLst/>
                <a:latin typeface="PingFang SC"/>
              </a:rPr>
              <a:t>RST</a:t>
            </a:r>
            <a:r>
              <a:rPr lang="zh-CN" altLang="en-US" b="0" i="0" dirty="0">
                <a:solidFill>
                  <a:srgbClr val="333333"/>
                </a:solidFill>
                <a:effectLst/>
                <a:latin typeface="PingFang SC"/>
              </a:rPr>
              <a:t>）报文段是</a:t>
            </a:r>
            <a:r>
              <a:rPr lang="en-US" altLang="zh-CN" b="0" i="0" dirty="0">
                <a:solidFill>
                  <a:srgbClr val="333333"/>
                </a:solidFill>
                <a:effectLst/>
                <a:latin typeface="PingFang SC"/>
              </a:rPr>
              <a:t>TCP</a:t>
            </a:r>
            <a:r>
              <a:rPr lang="zh-CN" altLang="en-US" b="0" i="0" dirty="0">
                <a:solidFill>
                  <a:srgbClr val="333333"/>
                </a:solidFill>
                <a:effectLst/>
                <a:latin typeface="PingFang SC"/>
              </a:rPr>
              <a:t>协议中用于强制终止异常连接的机制，其核心功能是通过置位</a:t>
            </a:r>
            <a:r>
              <a:rPr lang="en-US" altLang="zh-CN" b="0" i="0" dirty="0">
                <a:solidFill>
                  <a:srgbClr val="333333"/>
                </a:solidFill>
                <a:effectLst/>
                <a:latin typeface="PingFang SC"/>
              </a:rPr>
              <a:t>TCP</a:t>
            </a:r>
            <a:r>
              <a:rPr lang="zh-CN" altLang="en-US" b="0" i="0" dirty="0">
                <a:solidFill>
                  <a:srgbClr val="333333"/>
                </a:solidFill>
                <a:effectLst/>
                <a:latin typeface="PingFang SC"/>
              </a:rPr>
              <a:t>首部的</a:t>
            </a:r>
            <a:r>
              <a:rPr lang="en-US" altLang="zh-CN" b="0" i="0" dirty="0">
                <a:solidFill>
                  <a:srgbClr val="333333"/>
                </a:solidFill>
                <a:effectLst/>
                <a:latin typeface="PingFang SC"/>
              </a:rPr>
              <a:t>RST</a:t>
            </a:r>
            <a:r>
              <a:rPr lang="zh-CN" altLang="en-US" b="0" i="0" dirty="0">
                <a:solidFill>
                  <a:srgbClr val="333333"/>
                </a:solidFill>
                <a:effectLst/>
                <a:latin typeface="PingFang SC"/>
              </a:rPr>
              <a:t>标志位（值为</a:t>
            </a:r>
            <a:r>
              <a:rPr lang="en-US" altLang="zh-CN" b="0" i="0" dirty="0">
                <a:solidFill>
                  <a:srgbClr val="333333"/>
                </a:solidFill>
                <a:effectLst/>
                <a:latin typeface="PingFang SC"/>
              </a:rPr>
              <a:t>1</a:t>
            </a:r>
            <a:r>
              <a:rPr lang="zh-CN" altLang="en-US" b="0" i="0" dirty="0">
                <a:solidFill>
                  <a:srgbClr val="333333"/>
                </a:solidFill>
                <a:effectLst/>
                <a:latin typeface="PingFang SC"/>
              </a:rPr>
              <a:t>）实现连接的立即中断‌</a:t>
            </a:r>
            <a:br>
              <a:rPr lang="zh-CN" altLang="en-US" b="0" i="0" dirty="0">
                <a:solidFill>
                  <a:srgbClr val="333333"/>
                </a:solidFill>
                <a:effectLst/>
                <a:latin typeface="PingFang SC"/>
              </a:rPr>
            </a:br>
            <a:r>
              <a:rPr lang="zh-CN" altLang="en-US" b="0" i="0" dirty="0">
                <a:solidFill>
                  <a:srgbClr val="333333"/>
                </a:solidFill>
                <a:effectLst/>
                <a:latin typeface="PingFang SC"/>
              </a:rPr>
              <a:t>使用场景：连接请求指向未监听端口、异常连接终止（程序崩溃或资源耗尽‌）、主动终止释放（攻击响应）、半开连接处理等</a:t>
            </a:r>
            <a:endParaRPr lang="zh-CN" altLang="en-US" b="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78</a:t>
            </a:fld>
            <a:endParaRPr lang="zh-CN" altLang="en-US"/>
          </a:p>
        </p:txBody>
      </p:sp>
    </p:spTree>
    <p:extLst>
      <p:ext uri="{BB962C8B-B14F-4D97-AF65-F5344CB8AC3E}">
        <p14:creationId xmlns:p14="http://schemas.microsoft.com/office/powerpoint/2010/main" val="12403873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79</a:t>
            </a:fld>
            <a:endParaRPr lang="zh-CN" altLang="en-US"/>
          </a:p>
        </p:txBody>
      </p:sp>
    </p:spTree>
    <p:extLst>
      <p:ext uri="{BB962C8B-B14F-4D97-AF65-F5344CB8AC3E}">
        <p14:creationId xmlns:p14="http://schemas.microsoft.com/office/powerpoint/2010/main" val="119467698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TCP</a:t>
            </a:r>
            <a:r>
              <a:rPr lang="zh-CN" altLang="en-US" b="0" i="0" dirty="0">
                <a:solidFill>
                  <a:srgbClr val="333333"/>
                </a:solidFill>
                <a:effectLst/>
                <a:latin typeface="PingFang SC"/>
              </a:rPr>
              <a:t>作为面向字节流的可靠传输协议，要求数据必须按严格顺序到达接收端。接收窗口只有在收到有序数据时才能向前滑动，已接收的有序数据才能被应用层读取。如果某个报文段（如第</a:t>
            </a:r>
            <a:r>
              <a:rPr lang="en-US" altLang="zh-CN" b="0" i="0" dirty="0">
                <a:solidFill>
                  <a:srgbClr val="333333"/>
                </a:solidFill>
                <a:effectLst/>
                <a:latin typeface="PingFang SC"/>
              </a:rPr>
              <a:t>5</a:t>
            </a:r>
            <a:r>
              <a:rPr lang="zh-CN" altLang="en-US" b="0" i="0" dirty="0">
                <a:solidFill>
                  <a:srgbClr val="333333"/>
                </a:solidFill>
                <a:effectLst/>
                <a:latin typeface="PingFang SC"/>
              </a:rPr>
              <a:t>个）丢失，虽然收到后面的报文段（如</a:t>
            </a:r>
            <a:r>
              <a:rPr lang="en-US" altLang="zh-CN" b="0" i="0" dirty="0">
                <a:solidFill>
                  <a:srgbClr val="333333"/>
                </a:solidFill>
                <a:effectLst/>
                <a:latin typeface="PingFang SC"/>
              </a:rPr>
              <a:t>6</a:t>
            </a:r>
            <a:r>
              <a:rPr lang="zh-CN" altLang="en-US" b="0" i="0" dirty="0">
                <a:solidFill>
                  <a:srgbClr val="333333"/>
                </a:solidFill>
                <a:effectLst/>
                <a:latin typeface="PingFang SC"/>
              </a:rPr>
              <a:t>、</a:t>
            </a:r>
            <a:r>
              <a:rPr lang="en-US" altLang="zh-CN" b="0" i="0" dirty="0">
                <a:solidFill>
                  <a:srgbClr val="333333"/>
                </a:solidFill>
                <a:effectLst/>
                <a:latin typeface="PingFang SC"/>
              </a:rPr>
              <a:t>7</a:t>
            </a:r>
            <a:r>
              <a:rPr lang="zh-CN" altLang="en-US" b="0" i="0" dirty="0">
                <a:solidFill>
                  <a:srgbClr val="333333"/>
                </a:solidFill>
                <a:effectLst/>
                <a:latin typeface="PingFang SC"/>
              </a:rPr>
              <a:t>、</a:t>
            </a:r>
            <a:r>
              <a:rPr lang="en-US" altLang="zh-CN" b="0" i="0" dirty="0">
                <a:solidFill>
                  <a:srgbClr val="333333"/>
                </a:solidFill>
                <a:effectLst/>
                <a:latin typeface="PingFang SC"/>
              </a:rPr>
              <a:t>8</a:t>
            </a:r>
            <a:r>
              <a:rPr lang="zh-CN" altLang="en-US" b="0" i="0" dirty="0">
                <a:solidFill>
                  <a:srgbClr val="333333"/>
                </a:solidFill>
                <a:effectLst/>
                <a:latin typeface="PingFang SC"/>
              </a:rPr>
              <a:t>），这些报文段也不能交给应用层，必须等第</a:t>
            </a:r>
            <a:r>
              <a:rPr lang="en-US" altLang="zh-CN" b="0" i="0" dirty="0">
                <a:solidFill>
                  <a:srgbClr val="333333"/>
                </a:solidFill>
                <a:effectLst/>
                <a:latin typeface="PingFang SC"/>
              </a:rPr>
              <a:t>5</a:t>
            </a:r>
            <a:r>
              <a:rPr lang="zh-CN" altLang="en-US" b="0" i="0" dirty="0">
                <a:solidFill>
                  <a:srgbClr val="333333"/>
                </a:solidFill>
                <a:effectLst/>
                <a:latin typeface="PingFang SC"/>
              </a:rPr>
              <a:t>个重传成功。这种机制确保传输的可靠性，但也成为队头阻塞的温床</a:t>
            </a:r>
            <a:br>
              <a:rPr lang="zh-CN" altLang="en-US" b="0" i="0" dirty="0">
                <a:solidFill>
                  <a:srgbClr val="333333"/>
                </a:solidFill>
                <a:effectLst/>
                <a:latin typeface="PingFang SC"/>
              </a:rPr>
            </a:br>
            <a:r>
              <a:rPr lang="en-US" altLang="zh-CN" b="0" i="0" dirty="0">
                <a:solidFill>
                  <a:srgbClr val="333333"/>
                </a:solidFill>
                <a:effectLst/>
                <a:latin typeface="PingFang SC"/>
              </a:rPr>
              <a:t>QUIC</a:t>
            </a:r>
            <a:r>
              <a:rPr lang="zh-CN" altLang="en-US" b="0" i="0" dirty="0">
                <a:solidFill>
                  <a:srgbClr val="333333"/>
                </a:solidFill>
                <a:effectLst/>
                <a:latin typeface="PingFang SC"/>
              </a:rPr>
              <a:t>协议基于</a:t>
            </a:r>
            <a:r>
              <a:rPr lang="en-US" altLang="zh-CN" b="0" i="0" dirty="0">
                <a:solidFill>
                  <a:srgbClr val="333333"/>
                </a:solidFill>
                <a:effectLst/>
                <a:latin typeface="PingFang SC"/>
              </a:rPr>
              <a:t>UDP</a:t>
            </a:r>
            <a:r>
              <a:rPr lang="zh-CN" altLang="en-US" b="0" i="0" dirty="0">
                <a:solidFill>
                  <a:srgbClr val="333333"/>
                </a:solidFill>
                <a:effectLst/>
                <a:latin typeface="PingFang SC"/>
              </a:rPr>
              <a:t>传输并融合</a:t>
            </a:r>
            <a:r>
              <a:rPr lang="en-US" altLang="zh-CN" b="0" i="0" dirty="0">
                <a:solidFill>
                  <a:srgbClr val="333333"/>
                </a:solidFill>
                <a:effectLst/>
                <a:latin typeface="PingFang SC"/>
              </a:rPr>
              <a:t>HTTP/2</a:t>
            </a:r>
            <a:r>
              <a:rPr lang="zh-CN" altLang="en-US" b="0" i="0" dirty="0">
                <a:solidFill>
                  <a:srgbClr val="333333"/>
                </a:solidFill>
                <a:effectLst/>
                <a:latin typeface="PingFang SC"/>
              </a:rPr>
              <a:t>多路复用功能，允许每个数据流独立传输，从而避免</a:t>
            </a:r>
            <a:r>
              <a:rPr lang="en-US" altLang="zh-CN" b="0" i="0" dirty="0">
                <a:solidFill>
                  <a:srgbClr val="333333"/>
                </a:solidFill>
                <a:effectLst/>
                <a:latin typeface="PingFang SC"/>
              </a:rPr>
              <a:t>TCP</a:t>
            </a:r>
            <a:r>
              <a:rPr lang="zh-CN" altLang="en-US" b="0" i="0" dirty="0">
                <a:solidFill>
                  <a:srgbClr val="333333"/>
                </a:solidFill>
                <a:effectLst/>
                <a:latin typeface="PingFang SC"/>
              </a:rPr>
              <a:t>的队头阻塞问题</a:t>
            </a: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80</a:t>
            </a:fld>
            <a:endParaRPr lang="zh-CN" altLang="en-US"/>
          </a:p>
        </p:txBody>
      </p:sp>
    </p:spTree>
    <p:extLst>
      <p:ext uri="{BB962C8B-B14F-4D97-AF65-F5344CB8AC3E}">
        <p14:creationId xmlns:p14="http://schemas.microsoft.com/office/powerpoint/2010/main" val="38246557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81</a:t>
            </a:fld>
            <a:endParaRPr lang="zh-CN" altLang="en-US"/>
          </a:p>
        </p:txBody>
      </p:sp>
    </p:spTree>
    <p:extLst>
      <p:ext uri="{BB962C8B-B14F-4D97-AF65-F5344CB8AC3E}">
        <p14:creationId xmlns:p14="http://schemas.microsoft.com/office/powerpoint/2010/main" val="16515414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r>
              <a:rPr lang="zh-CN" altLang="en-US" b="1" i="0" dirty="0">
                <a:solidFill>
                  <a:srgbClr val="333333"/>
                </a:solidFill>
                <a:effectLst/>
                <a:latin typeface="PingFang SC"/>
              </a:rPr>
              <a:t>流量控制</a:t>
            </a:r>
            <a:r>
              <a:rPr lang="zh-CN" altLang="en-US" b="0" i="0" dirty="0">
                <a:solidFill>
                  <a:srgbClr val="333333"/>
                </a:solidFill>
                <a:effectLst/>
                <a:latin typeface="PingFang SC"/>
              </a:rPr>
              <a:t>‌：解决发送端与接收端速率不匹配问题，防止接收方缓冲区溢出‌。例如，通过滑动窗口机制动态调整发送速率‌</a:t>
            </a:r>
          </a:p>
          <a:p>
            <a:r>
              <a:rPr lang="zh-CN" altLang="en-US" b="0" i="0" dirty="0">
                <a:solidFill>
                  <a:srgbClr val="333333"/>
                </a:solidFill>
                <a:effectLst/>
                <a:latin typeface="PingFang SC"/>
              </a:rPr>
              <a:t>‌</a:t>
            </a:r>
            <a:r>
              <a:rPr lang="zh-CN" altLang="en-US" b="1" i="0" dirty="0">
                <a:solidFill>
                  <a:srgbClr val="333333"/>
                </a:solidFill>
                <a:effectLst/>
                <a:latin typeface="PingFang SC"/>
              </a:rPr>
              <a:t>拥塞控制</a:t>
            </a:r>
            <a:r>
              <a:rPr lang="zh-CN" altLang="en-US" b="0" i="0" dirty="0">
                <a:solidFill>
                  <a:srgbClr val="333333"/>
                </a:solidFill>
                <a:effectLst/>
                <a:latin typeface="PingFang SC"/>
              </a:rPr>
              <a:t>‌：解决网络整体负载过载问题，避免过多数据注入导致网络性能下降‌。例如，通过慢启动、拥塞避免算法优化网络资源分配‌</a:t>
            </a:r>
            <a:br>
              <a:rPr lang="zh-CN" altLang="en-US" b="0" i="0" dirty="0">
                <a:solidFill>
                  <a:srgbClr val="333333"/>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82</a:t>
            </a:fld>
            <a:endParaRPr lang="zh-CN" altLang="en-US"/>
          </a:p>
        </p:txBody>
      </p:sp>
    </p:spTree>
    <p:extLst>
      <p:ext uri="{BB962C8B-B14F-4D97-AF65-F5344CB8AC3E}">
        <p14:creationId xmlns:p14="http://schemas.microsoft.com/office/powerpoint/2010/main" val="34177152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83</a:t>
            </a:fld>
            <a:endParaRPr lang="zh-CN" altLang="en-US"/>
          </a:p>
        </p:txBody>
      </p:sp>
    </p:spTree>
    <p:extLst>
      <p:ext uri="{BB962C8B-B14F-4D97-AF65-F5344CB8AC3E}">
        <p14:creationId xmlns:p14="http://schemas.microsoft.com/office/powerpoint/2010/main" val="33226287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84</a:t>
            </a:fld>
            <a:endParaRPr lang="zh-CN" altLang="en-US"/>
          </a:p>
        </p:txBody>
      </p:sp>
    </p:spTree>
    <p:extLst>
      <p:ext uri="{BB962C8B-B14F-4D97-AF65-F5344CB8AC3E}">
        <p14:creationId xmlns:p14="http://schemas.microsoft.com/office/powerpoint/2010/main" val="154919652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85</a:t>
            </a:fld>
            <a:endParaRPr lang="zh-CN" altLang="en-US"/>
          </a:p>
        </p:txBody>
      </p:sp>
    </p:spTree>
    <p:extLst>
      <p:ext uri="{BB962C8B-B14F-4D97-AF65-F5344CB8AC3E}">
        <p14:creationId xmlns:p14="http://schemas.microsoft.com/office/powerpoint/2010/main" val="41538175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86</a:t>
            </a:fld>
            <a:endParaRPr lang="zh-CN" altLang="en-US"/>
          </a:p>
        </p:txBody>
      </p:sp>
    </p:spTree>
    <p:extLst>
      <p:ext uri="{BB962C8B-B14F-4D97-AF65-F5344CB8AC3E}">
        <p14:creationId xmlns:p14="http://schemas.microsoft.com/office/powerpoint/2010/main" val="40351663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87</a:t>
            </a:fld>
            <a:endParaRPr lang="zh-CN" altLang="en-US"/>
          </a:p>
        </p:txBody>
      </p:sp>
    </p:spTree>
    <p:extLst>
      <p:ext uri="{BB962C8B-B14F-4D97-AF65-F5344CB8AC3E}">
        <p14:creationId xmlns:p14="http://schemas.microsoft.com/office/powerpoint/2010/main" val="39042864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88</a:t>
            </a:fld>
            <a:endParaRPr lang="zh-CN" altLang="en-US"/>
          </a:p>
        </p:txBody>
      </p:sp>
    </p:spTree>
    <p:extLst>
      <p:ext uri="{BB962C8B-B14F-4D97-AF65-F5344CB8AC3E}">
        <p14:creationId xmlns:p14="http://schemas.microsoft.com/office/powerpoint/2010/main" val="194338857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89</a:t>
            </a:fld>
            <a:endParaRPr lang="zh-CN" altLang="en-US"/>
          </a:p>
        </p:txBody>
      </p:sp>
    </p:spTree>
    <p:extLst>
      <p:ext uri="{BB962C8B-B14F-4D97-AF65-F5344CB8AC3E}">
        <p14:creationId xmlns:p14="http://schemas.microsoft.com/office/powerpoint/2010/main" val="9688796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075FF09-559A-413E-B23E-0DFCD03CDBD8}" type="slidenum">
              <a:rPr lang="zh-CN" altLang="en-US" smtClean="0"/>
              <a:t>90</a:t>
            </a:fld>
            <a:endParaRPr lang="zh-CN" altLang="en-US"/>
          </a:p>
        </p:txBody>
      </p:sp>
    </p:spTree>
    <p:extLst>
      <p:ext uri="{BB962C8B-B14F-4D97-AF65-F5344CB8AC3E}">
        <p14:creationId xmlns:p14="http://schemas.microsoft.com/office/powerpoint/2010/main" val="33785402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前向反馈：接收端通过‌前向路径‌（即数据流向）将拥塞信息嵌入到返回的</a:t>
            </a:r>
            <a:r>
              <a:rPr lang="en-US" altLang="zh-CN" b="0" i="0" dirty="0">
                <a:solidFill>
                  <a:srgbClr val="333333"/>
                </a:solidFill>
                <a:effectLst/>
                <a:latin typeface="PingFang SC"/>
              </a:rPr>
              <a:t>ACK</a:t>
            </a:r>
            <a:r>
              <a:rPr lang="zh-CN" altLang="en-US" b="0" i="0" dirty="0">
                <a:solidFill>
                  <a:srgbClr val="333333"/>
                </a:solidFill>
                <a:effectLst/>
                <a:latin typeface="PingFang SC"/>
              </a:rPr>
              <a:t>或专用探测分组中，直接通知发送端调整速率。反馈内容可以是显式标记（如</a:t>
            </a:r>
            <a:r>
              <a:rPr lang="en-US" altLang="zh-CN" b="0" i="0" dirty="0">
                <a:solidFill>
                  <a:srgbClr val="333333"/>
                </a:solidFill>
                <a:effectLst/>
                <a:latin typeface="PingFang SC"/>
              </a:rPr>
              <a:t>ECN</a:t>
            </a:r>
            <a:r>
              <a:rPr lang="zh-CN" altLang="en-US" b="0" i="0" dirty="0">
                <a:solidFill>
                  <a:srgbClr val="333333"/>
                </a:solidFill>
                <a:effectLst/>
                <a:latin typeface="PingFang SC"/>
              </a:rPr>
              <a:t>）或隐式信号‌（接收端通过丢包率或延迟变化间接推断拥塞）</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后向反馈：网络设备通过‌反向路径‌（即数据返回路径）将拥塞信息嵌入到专用控制分组或反向数据流中，直接通知发送端调整速率‌。反馈内容可以是显式标记（如</a:t>
            </a:r>
            <a:r>
              <a:rPr lang="en-US" altLang="zh-CN" b="0" i="0" dirty="0">
                <a:solidFill>
                  <a:srgbClr val="333333"/>
                </a:solidFill>
                <a:effectLst/>
                <a:latin typeface="PingFang SC"/>
              </a:rPr>
              <a:t>ECN</a:t>
            </a:r>
            <a:r>
              <a:rPr lang="zh-CN" altLang="en-US" b="0" i="0" dirty="0">
                <a:solidFill>
                  <a:srgbClr val="333333"/>
                </a:solidFill>
                <a:effectLst/>
                <a:latin typeface="PingFang SC"/>
              </a:rPr>
              <a:t>）或隐式信号‌（路由器通过丢包率或队列长度间接推断拥塞）</a:t>
            </a:r>
            <a:br>
              <a:rPr lang="zh-CN" altLang="en-US" b="0" i="0" dirty="0">
                <a:solidFill>
                  <a:srgbClr val="333333"/>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91</a:t>
            </a:fld>
            <a:endParaRPr lang="zh-CN" altLang="en-US"/>
          </a:p>
        </p:txBody>
      </p:sp>
    </p:spTree>
    <p:extLst>
      <p:ext uri="{BB962C8B-B14F-4D97-AF65-F5344CB8AC3E}">
        <p14:creationId xmlns:p14="http://schemas.microsoft.com/office/powerpoint/2010/main" val="266409221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92</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TCP</a:t>
            </a:r>
            <a:r>
              <a:rPr lang="zh-CN" altLang="en-US" b="0" i="0" dirty="0">
                <a:solidFill>
                  <a:srgbClr val="333333"/>
                </a:solidFill>
                <a:effectLst/>
                <a:latin typeface="PingFang SC"/>
              </a:rPr>
              <a:t>拥塞控制中的锯齿现象是</a:t>
            </a:r>
            <a:r>
              <a:rPr lang="en-US" altLang="zh-CN" b="0" i="0" dirty="0">
                <a:solidFill>
                  <a:srgbClr val="333333"/>
                </a:solidFill>
                <a:effectLst/>
                <a:latin typeface="PingFang SC"/>
              </a:rPr>
              <a:t>AIMD</a:t>
            </a:r>
            <a:r>
              <a:rPr lang="zh-CN" altLang="en-US" b="0" i="0" dirty="0">
                <a:solidFill>
                  <a:srgbClr val="333333"/>
                </a:solidFill>
                <a:effectLst/>
                <a:latin typeface="PingFang SC"/>
              </a:rPr>
              <a:t>（加性增</a:t>
            </a:r>
            <a:r>
              <a:rPr lang="en-US" altLang="zh-CN" b="0" i="0" dirty="0">
                <a:solidFill>
                  <a:srgbClr val="333333"/>
                </a:solidFill>
                <a:effectLst/>
                <a:latin typeface="PingFang SC"/>
              </a:rPr>
              <a:t>/</a:t>
            </a:r>
            <a:r>
              <a:rPr lang="zh-CN" altLang="en-US" b="0" i="0" dirty="0">
                <a:solidFill>
                  <a:srgbClr val="333333"/>
                </a:solidFill>
                <a:effectLst/>
                <a:latin typeface="PingFang SC"/>
              </a:rPr>
              <a:t>乘性减）算法导致的典型窗口变化特征，具体表现为拥塞窗口（</a:t>
            </a:r>
            <a:r>
              <a:rPr lang="en-US" altLang="zh-CN" b="0" i="0" dirty="0" err="1">
                <a:solidFill>
                  <a:srgbClr val="333333"/>
                </a:solidFill>
                <a:effectLst/>
                <a:latin typeface="PingFang SC"/>
              </a:rPr>
              <a:t>cwnd</a:t>
            </a:r>
            <a:r>
              <a:rPr lang="zh-CN" altLang="en-US" b="0" i="0" dirty="0">
                <a:solidFill>
                  <a:srgbClr val="333333"/>
                </a:solidFill>
                <a:effectLst/>
                <a:latin typeface="PingFang SC"/>
              </a:rPr>
              <a:t>）在缓慢线性增长后因丢包事件突然减半，形成周期性锯齿状波动‌</a:t>
            </a:r>
            <a:br>
              <a:rPr lang="zh-CN" altLang="en-US" b="0" i="0" dirty="0">
                <a:solidFill>
                  <a:srgbClr val="333333"/>
                </a:solidFill>
                <a:effectLst/>
                <a:latin typeface="PingFang SC"/>
              </a:rPr>
            </a:br>
            <a:r>
              <a:rPr lang="zh-CN" altLang="en-US" b="1" i="0" dirty="0">
                <a:solidFill>
                  <a:srgbClr val="333333"/>
                </a:solidFill>
                <a:effectLst/>
                <a:latin typeface="PingFang SC"/>
              </a:rPr>
              <a:t>加性增（</a:t>
            </a:r>
            <a:r>
              <a:rPr lang="en-US" altLang="zh-CN" b="1" i="0" dirty="0">
                <a:solidFill>
                  <a:srgbClr val="333333"/>
                </a:solidFill>
                <a:effectLst/>
                <a:latin typeface="PingFang SC"/>
              </a:rPr>
              <a:t>Additive Increase</a:t>
            </a:r>
            <a:r>
              <a:rPr lang="zh-CN" altLang="en-US" b="1" i="0" dirty="0">
                <a:solidFill>
                  <a:srgbClr val="333333"/>
                </a:solidFill>
                <a:effectLst/>
                <a:latin typeface="PingFang SC"/>
              </a:rPr>
              <a:t>）</a:t>
            </a:r>
            <a:r>
              <a:rPr lang="en-US" altLang="zh-CN" b="0" i="0" dirty="0">
                <a:solidFill>
                  <a:srgbClr val="333333"/>
                </a:solidFill>
                <a:effectLst/>
                <a:latin typeface="PingFang SC"/>
              </a:rPr>
              <a:t>‌</a:t>
            </a:r>
            <a:r>
              <a:rPr lang="zh-CN" altLang="en-US" b="0" i="0" dirty="0">
                <a:solidFill>
                  <a:srgbClr val="333333"/>
                </a:solidFill>
                <a:effectLst/>
                <a:latin typeface="PingFang SC"/>
              </a:rPr>
              <a:t>：每个</a:t>
            </a:r>
            <a:r>
              <a:rPr lang="en-US" altLang="zh-CN" b="0" i="0" dirty="0">
                <a:solidFill>
                  <a:srgbClr val="333333"/>
                </a:solidFill>
                <a:effectLst/>
                <a:latin typeface="PingFang SC"/>
              </a:rPr>
              <a:t>RTT</a:t>
            </a:r>
            <a:r>
              <a:rPr lang="zh-CN" altLang="en-US" b="0" i="0" dirty="0">
                <a:solidFill>
                  <a:srgbClr val="333333"/>
                </a:solidFill>
                <a:effectLst/>
                <a:latin typeface="PingFang SC"/>
              </a:rPr>
              <a:t>（往返时间）内，</a:t>
            </a:r>
            <a:r>
              <a:rPr lang="en-US" altLang="zh-CN" b="0" i="0" dirty="0" err="1">
                <a:solidFill>
                  <a:srgbClr val="333333"/>
                </a:solidFill>
                <a:effectLst/>
                <a:latin typeface="PingFang SC"/>
              </a:rPr>
              <a:t>cwnd</a:t>
            </a:r>
            <a:r>
              <a:rPr lang="zh-CN" altLang="en-US" b="0" i="0" dirty="0">
                <a:solidFill>
                  <a:srgbClr val="333333"/>
                </a:solidFill>
                <a:effectLst/>
                <a:latin typeface="PingFang SC"/>
              </a:rPr>
              <a:t>按固定步长（如</a:t>
            </a:r>
            <a:r>
              <a:rPr lang="en-US" altLang="zh-CN" b="0" i="0" dirty="0">
                <a:solidFill>
                  <a:srgbClr val="333333"/>
                </a:solidFill>
                <a:effectLst/>
                <a:latin typeface="PingFang SC"/>
              </a:rPr>
              <a:t>1MSS</a:t>
            </a:r>
            <a:r>
              <a:rPr lang="zh-CN" altLang="en-US" b="0" i="0" dirty="0">
                <a:solidFill>
                  <a:srgbClr val="333333"/>
                </a:solidFill>
                <a:effectLst/>
                <a:latin typeface="PingFang SC"/>
              </a:rPr>
              <a:t>）线性增长，逐步试探可用带宽‌</a:t>
            </a:r>
            <a:br>
              <a:rPr lang="zh-CN" altLang="en-US" b="0" i="0" dirty="0">
                <a:solidFill>
                  <a:srgbClr val="333333"/>
                </a:solidFill>
                <a:effectLst/>
                <a:latin typeface="PingFang SC"/>
              </a:rPr>
            </a:br>
            <a:r>
              <a:rPr lang="zh-CN" altLang="en-US" b="1" i="0" dirty="0">
                <a:solidFill>
                  <a:srgbClr val="333333"/>
                </a:solidFill>
                <a:effectLst/>
                <a:latin typeface="PingFang SC"/>
              </a:rPr>
              <a:t>乘性减（</a:t>
            </a:r>
            <a:r>
              <a:rPr lang="en-US" altLang="zh-CN" b="1" i="0" dirty="0">
                <a:solidFill>
                  <a:srgbClr val="333333"/>
                </a:solidFill>
                <a:effectLst/>
                <a:latin typeface="PingFang SC"/>
              </a:rPr>
              <a:t>Multiplicative Decrease</a:t>
            </a:r>
            <a:r>
              <a:rPr lang="zh-CN" altLang="en-US" b="1" i="0" dirty="0">
                <a:solidFill>
                  <a:srgbClr val="333333"/>
                </a:solidFill>
                <a:effectLst/>
                <a:latin typeface="PingFang SC"/>
              </a:rPr>
              <a:t>）</a:t>
            </a:r>
            <a:r>
              <a:rPr lang="en-US" altLang="zh-CN" b="0" i="0" dirty="0">
                <a:solidFill>
                  <a:srgbClr val="333333"/>
                </a:solidFill>
                <a:effectLst/>
                <a:latin typeface="PingFang SC"/>
              </a:rPr>
              <a:t>‌</a:t>
            </a:r>
            <a:r>
              <a:rPr lang="zh-CN" altLang="en-US" b="0" i="0" dirty="0">
                <a:solidFill>
                  <a:srgbClr val="333333"/>
                </a:solidFill>
                <a:effectLst/>
                <a:latin typeface="PingFang SC"/>
              </a:rPr>
              <a:t>：当检测到丢包（超时或</a:t>
            </a:r>
            <a:r>
              <a:rPr lang="en-US" altLang="zh-CN" b="0" i="0" dirty="0">
                <a:solidFill>
                  <a:srgbClr val="333333"/>
                </a:solidFill>
                <a:effectLst/>
                <a:latin typeface="PingFang SC"/>
              </a:rPr>
              <a:t>3</a:t>
            </a:r>
            <a:r>
              <a:rPr lang="zh-CN" altLang="en-US" b="0" i="0" dirty="0">
                <a:solidFill>
                  <a:srgbClr val="333333"/>
                </a:solidFill>
                <a:effectLst/>
                <a:latin typeface="PingFang SC"/>
              </a:rPr>
              <a:t>个重复</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b="0" i="0" dirty="0" err="1">
                <a:solidFill>
                  <a:srgbClr val="333333"/>
                </a:solidFill>
                <a:effectLst/>
                <a:latin typeface="PingFang SC"/>
              </a:rPr>
              <a:t>cwnd</a:t>
            </a:r>
            <a:r>
              <a:rPr lang="zh-CN" altLang="en-US" b="0" i="0" dirty="0">
                <a:solidFill>
                  <a:srgbClr val="333333"/>
                </a:solidFill>
                <a:effectLst/>
                <a:latin typeface="PingFang SC"/>
              </a:rPr>
              <a:t>直接减半，快速缓解拥塞‌</a:t>
            </a:r>
            <a:br>
              <a:rPr lang="zh-CN" altLang="en-US" b="0" i="0" dirty="0">
                <a:solidFill>
                  <a:srgbClr val="333333"/>
                </a:solidFill>
                <a:effectLst/>
                <a:latin typeface="PingFang SC"/>
              </a:rPr>
            </a:br>
            <a:r>
              <a:rPr lang="zh-CN" altLang="en-US" b="1" i="0" dirty="0">
                <a:solidFill>
                  <a:srgbClr val="333333"/>
                </a:solidFill>
                <a:effectLst/>
                <a:latin typeface="PingFang SC"/>
              </a:rPr>
              <a:t>结果</a:t>
            </a:r>
            <a:r>
              <a:rPr lang="zh-CN" altLang="en-US" b="0" i="0" dirty="0">
                <a:solidFill>
                  <a:srgbClr val="333333"/>
                </a:solidFill>
                <a:effectLst/>
                <a:latin typeface="PingFang SC"/>
              </a:rPr>
              <a:t>‌：窗口在“缓慢爬升→骤降”循环中形成锯齿曲线</a:t>
            </a:r>
            <a:endParaRPr lang="zh-CN" altLang="zh-CN" dirty="0"/>
          </a:p>
        </p:txBody>
      </p:sp>
    </p:spTree>
    <p:extLst>
      <p:ext uri="{BB962C8B-B14F-4D97-AF65-F5344CB8AC3E}">
        <p14:creationId xmlns:p14="http://schemas.microsoft.com/office/powerpoint/2010/main" val="335266916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93</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32360736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94</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zh-CN" altLang="en-US" b="0" i="0" dirty="0">
                <a:solidFill>
                  <a:srgbClr val="333333"/>
                </a:solidFill>
                <a:effectLst/>
                <a:latin typeface="PingFang SC"/>
              </a:rPr>
              <a:t>慢启动（</a:t>
            </a:r>
            <a:r>
              <a:rPr lang="en-US" altLang="zh-CN" b="0" i="0" dirty="0">
                <a:solidFill>
                  <a:srgbClr val="333333"/>
                </a:solidFill>
                <a:effectLst/>
                <a:latin typeface="PingFang SC"/>
              </a:rPr>
              <a:t>Slow Start</a:t>
            </a:r>
            <a:r>
              <a:rPr lang="zh-CN" altLang="en-US" b="0" i="0" dirty="0">
                <a:solidFill>
                  <a:srgbClr val="333333"/>
                </a:solidFill>
                <a:effectLst/>
                <a:latin typeface="PingFang SC"/>
              </a:rPr>
              <a:t>）阶段是连接初始化或恢复时用于试探网络容量的关键机制</a:t>
            </a:r>
            <a:endParaRPr lang="en-US" altLang="zh-CN" b="0" i="0" dirty="0">
              <a:solidFill>
                <a:srgbClr val="333333"/>
              </a:solidFill>
              <a:effectLst/>
              <a:latin typeface="PingFang SC"/>
            </a:endParaRPr>
          </a:p>
          <a:p>
            <a:r>
              <a:rPr lang="zh-CN" altLang="en-US" b="1" i="0" dirty="0">
                <a:solidFill>
                  <a:srgbClr val="333333"/>
                </a:solidFill>
                <a:effectLst/>
                <a:latin typeface="PingFang SC"/>
              </a:rPr>
              <a:t>初始窗口设置</a:t>
            </a:r>
            <a:r>
              <a:rPr lang="zh-CN" altLang="en-US" b="0" i="0" dirty="0">
                <a:solidFill>
                  <a:srgbClr val="333333"/>
                </a:solidFill>
                <a:effectLst/>
                <a:latin typeface="PingFang SC"/>
              </a:rPr>
              <a:t>‌：</a:t>
            </a:r>
            <a:r>
              <a:rPr lang="en-US" altLang="zh-CN" b="0" i="0" dirty="0" err="1">
                <a:solidFill>
                  <a:srgbClr val="333333"/>
                </a:solidFill>
                <a:effectLst/>
                <a:latin typeface="PingFang SC"/>
              </a:rPr>
              <a:t>cwnd</a:t>
            </a:r>
            <a:r>
              <a:rPr lang="zh-CN" altLang="en-US" b="0" i="0" dirty="0">
                <a:solidFill>
                  <a:srgbClr val="333333"/>
                </a:solidFill>
                <a:effectLst/>
                <a:latin typeface="PingFang SC"/>
              </a:rPr>
              <a:t>初始值通常为</a:t>
            </a:r>
            <a:r>
              <a:rPr lang="en-US" altLang="zh-CN" b="0" i="0" dirty="0">
                <a:solidFill>
                  <a:srgbClr val="333333"/>
                </a:solidFill>
                <a:effectLst/>
                <a:latin typeface="PingFang SC"/>
              </a:rPr>
              <a:t>1~2</a:t>
            </a:r>
            <a:r>
              <a:rPr lang="zh-CN" altLang="en-US" b="0" i="0" dirty="0">
                <a:solidFill>
                  <a:srgbClr val="333333"/>
                </a:solidFill>
                <a:effectLst/>
                <a:latin typeface="PingFang SC"/>
              </a:rPr>
              <a:t>个</a:t>
            </a:r>
            <a:r>
              <a:rPr lang="en-US" altLang="zh-CN" b="0" i="0" dirty="0">
                <a:solidFill>
                  <a:srgbClr val="333333"/>
                </a:solidFill>
                <a:effectLst/>
                <a:latin typeface="PingFang SC"/>
              </a:rPr>
              <a:t>MSS</a:t>
            </a:r>
            <a:r>
              <a:rPr lang="zh-CN" altLang="en-US" b="0" i="0" dirty="0">
                <a:solidFill>
                  <a:srgbClr val="333333"/>
                </a:solidFill>
                <a:effectLst/>
                <a:latin typeface="PingFang SC"/>
              </a:rPr>
              <a:t>（最大报文段）；慢启动阈值（</a:t>
            </a:r>
            <a:r>
              <a:rPr lang="en-US" altLang="zh-CN" b="0" i="0" dirty="0" err="1">
                <a:solidFill>
                  <a:srgbClr val="333333"/>
                </a:solidFill>
                <a:effectLst/>
                <a:latin typeface="PingFang SC"/>
              </a:rPr>
              <a:t>ssthresh</a:t>
            </a:r>
            <a:r>
              <a:rPr lang="zh-CN" altLang="en-US" b="0" i="0" dirty="0">
                <a:solidFill>
                  <a:srgbClr val="333333"/>
                </a:solidFill>
                <a:effectLst/>
                <a:latin typeface="PingFang SC"/>
              </a:rPr>
              <a:t>）初始设为接收窗口大小或较高值（如</a:t>
            </a:r>
            <a:r>
              <a:rPr lang="en-US" altLang="zh-CN" b="0" i="0" dirty="0">
                <a:solidFill>
                  <a:srgbClr val="333333"/>
                </a:solidFill>
                <a:effectLst/>
                <a:latin typeface="PingFang SC"/>
              </a:rPr>
              <a:t>16</a:t>
            </a:r>
            <a:r>
              <a:rPr lang="zh-CN" altLang="en-US" b="0" i="0" dirty="0">
                <a:solidFill>
                  <a:srgbClr val="333333"/>
                </a:solidFill>
                <a:effectLst/>
                <a:latin typeface="PingFang SC"/>
              </a:rPr>
              <a:t>个</a:t>
            </a:r>
            <a:r>
              <a:rPr lang="en-US" altLang="zh-CN" b="0" i="0" dirty="0">
                <a:solidFill>
                  <a:srgbClr val="333333"/>
                </a:solidFill>
                <a:effectLst/>
                <a:latin typeface="PingFang SC"/>
              </a:rPr>
              <a:t>MSS</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r>
              <a:rPr lang="zh-CN" altLang="en-US" b="1" i="0" dirty="0">
                <a:solidFill>
                  <a:srgbClr val="333333"/>
                </a:solidFill>
                <a:effectLst/>
                <a:latin typeface="PingFang SC"/>
              </a:rPr>
              <a:t>窗口增长规则</a:t>
            </a:r>
            <a:r>
              <a:rPr lang="zh-CN" altLang="en-US" b="0" i="0" dirty="0">
                <a:solidFill>
                  <a:srgbClr val="333333"/>
                </a:solidFill>
                <a:effectLst/>
                <a:latin typeface="PingFang SC"/>
              </a:rPr>
              <a:t>‌：每收到一个</a:t>
            </a:r>
            <a:r>
              <a:rPr lang="en-US" altLang="zh-CN" b="0" i="0" dirty="0">
                <a:solidFill>
                  <a:srgbClr val="333333"/>
                </a:solidFill>
                <a:effectLst/>
                <a:latin typeface="PingFang SC"/>
              </a:rPr>
              <a:t>ACK</a:t>
            </a:r>
            <a:r>
              <a:rPr lang="zh-CN" altLang="en-US" b="0" i="0" dirty="0">
                <a:solidFill>
                  <a:srgbClr val="333333"/>
                </a:solidFill>
                <a:effectLst/>
                <a:latin typeface="PingFang SC"/>
              </a:rPr>
              <a:t>确认，</a:t>
            </a:r>
            <a:r>
              <a:rPr lang="en-US" altLang="zh-CN" b="0" i="0" dirty="0" err="1">
                <a:solidFill>
                  <a:srgbClr val="333333"/>
                </a:solidFill>
                <a:effectLst/>
                <a:latin typeface="PingFang SC"/>
              </a:rPr>
              <a:t>cwnd</a:t>
            </a:r>
            <a:r>
              <a:rPr lang="zh-CN" altLang="en-US" b="0" i="0" dirty="0">
                <a:solidFill>
                  <a:srgbClr val="333333"/>
                </a:solidFill>
                <a:effectLst/>
                <a:latin typeface="PingFang SC"/>
              </a:rPr>
              <a:t>增加</a:t>
            </a:r>
            <a:r>
              <a:rPr lang="en-US" altLang="zh-CN" b="0" i="0" dirty="0">
                <a:solidFill>
                  <a:srgbClr val="333333"/>
                </a:solidFill>
                <a:effectLst/>
                <a:latin typeface="PingFang SC"/>
              </a:rPr>
              <a:t>1</a:t>
            </a:r>
            <a:r>
              <a:rPr lang="zh-CN" altLang="en-US" b="0" i="0" dirty="0">
                <a:solidFill>
                  <a:srgbClr val="333333"/>
                </a:solidFill>
                <a:effectLst/>
                <a:latin typeface="PingFang SC"/>
              </a:rPr>
              <a:t>个</a:t>
            </a:r>
            <a:r>
              <a:rPr lang="en-US" altLang="zh-CN" b="0" i="0" dirty="0">
                <a:solidFill>
                  <a:srgbClr val="333333"/>
                </a:solidFill>
                <a:effectLst/>
                <a:latin typeface="PingFang SC"/>
              </a:rPr>
              <a:t>MSS</a:t>
            </a:r>
            <a:r>
              <a:rPr lang="zh-CN" altLang="en-US" b="0" i="0" dirty="0">
                <a:solidFill>
                  <a:srgbClr val="333333"/>
                </a:solidFill>
                <a:effectLst/>
                <a:latin typeface="PingFang SC"/>
              </a:rPr>
              <a:t>，实现指数级增长（如</a:t>
            </a:r>
            <a:r>
              <a:rPr lang="en-US" altLang="zh-CN" b="0" i="0" dirty="0">
                <a:solidFill>
                  <a:srgbClr val="333333"/>
                </a:solidFill>
                <a:effectLst/>
                <a:latin typeface="PingFang SC"/>
              </a:rPr>
              <a:t>1→2→4→8…</a:t>
            </a:r>
            <a:r>
              <a:rPr lang="zh-CN" altLang="en-US" b="0" i="0" dirty="0">
                <a:solidFill>
                  <a:srgbClr val="333333"/>
                </a:solidFill>
                <a:effectLst/>
                <a:latin typeface="PingFang SC"/>
              </a:rPr>
              <a:t>）‌；发送方每</a:t>
            </a:r>
            <a:r>
              <a:rPr lang="en-US" altLang="zh-CN" b="0" i="0" dirty="0">
                <a:solidFill>
                  <a:srgbClr val="333333"/>
                </a:solidFill>
                <a:effectLst/>
                <a:latin typeface="PingFang SC"/>
              </a:rPr>
              <a:t>RTT</a:t>
            </a:r>
            <a:r>
              <a:rPr lang="zh-CN" altLang="en-US" b="0" i="0" dirty="0">
                <a:solidFill>
                  <a:srgbClr val="333333"/>
                </a:solidFill>
                <a:effectLst/>
                <a:latin typeface="PingFang SC"/>
              </a:rPr>
              <a:t>（往返时间）可发送的窗口大小随</a:t>
            </a:r>
            <a:r>
              <a:rPr lang="en-US" altLang="zh-CN" b="0" i="0" dirty="0" err="1">
                <a:solidFill>
                  <a:srgbClr val="333333"/>
                </a:solidFill>
                <a:effectLst/>
                <a:latin typeface="PingFang SC"/>
              </a:rPr>
              <a:t>cwnd</a:t>
            </a:r>
            <a:r>
              <a:rPr lang="zh-CN" altLang="en-US" b="0" i="0" dirty="0">
                <a:solidFill>
                  <a:srgbClr val="333333"/>
                </a:solidFill>
                <a:effectLst/>
                <a:latin typeface="PingFang SC"/>
              </a:rPr>
              <a:t>翻倍，快速逼近网络容量‌</a:t>
            </a:r>
            <a:br>
              <a:rPr lang="zh-CN" altLang="en-US" b="0" i="0" dirty="0">
                <a:solidFill>
                  <a:srgbClr val="333333"/>
                </a:solidFill>
                <a:effectLst/>
                <a:latin typeface="PingFang SC"/>
              </a:rPr>
            </a:br>
            <a:endParaRPr lang="zh-CN" altLang="zh-CN" dirty="0"/>
          </a:p>
        </p:txBody>
      </p:sp>
    </p:spTree>
    <p:extLst>
      <p:ext uri="{BB962C8B-B14F-4D97-AF65-F5344CB8AC3E}">
        <p14:creationId xmlns:p14="http://schemas.microsoft.com/office/powerpoint/2010/main" val="325602304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95</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zh-CN" altLang="en-US" b="0" i="0" dirty="0">
                <a:solidFill>
                  <a:srgbClr val="333333"/>
                </a:solidFill>
                <a:effectLst/>
                <a:latin typeface="PingFang SC"/>
              </a:rPr>
              <a:t>拥塞避免（</a:t>
            </a:r>
            <a:r>
              <a:rPr lang="en-US" altLang="zh-CN" b="0" i="0" dirty="0">
                <a:solidFill>
                  <a:srgbClr val="333333"/>
                </a:solidFill>
                <a:effectLst/>
                <a:latin typeface="PingFang SC"/>
              </a:rPr>
              <a:t>Congestion Avoidance</a:t>
            </a:r>
            <a:r>
              <a:rPr lang="zh-CN" altLang="en-US" b="0" i="0" dirty="0">
                <a:solidFill>
                  <a:srgbClr val="333333"/>
                </a:solidFill>
                <a:effectLst/>
                <a:latin typeface="PingFang SC"/>
              </a:rPr>
              <a:t>）阶段是慢启动后的关键机制，旨在通过线性增长拥塞窗口（</a:t>
            </a:r>
            <a:r>
              <a:rPr lang="en-US" altLang="zh-CN" b="0" i="0" dirty="0" err="1">
                <a:solidFill>
                  <a:srgbClr val="333333"/>
                </a:solidFill>
                <a:effectLst/>
                <a:latin typeface="PingFang SC"/>
              </a:rPr>
              <a:t>cwnd</a:t>
            </a:r>
            <a:r>
              <a:rPr lang="zh-CN" altLang="en-US" b="0" i="0" dirty="0">
                <a:solidFill>
                  <a:srgbClr val="333333"/>
                </a:solidFill>
                <a:effectLst/>
                <a:latin typeface="PingFang SC"/>
              </a:rPr>
              <a:t>）维持网络稳定性，避免剧烈波动</a:t>
            </a:r>
            <a:endParaRPr lang="en-US" altLang="zh-CN" b="0" i="0" dirty="0">
              <a:solidFill>
                <a:srgbClr val="333333"/>
              </a:solidFill>
              <a:effectLst/>
              <a:latin typeface="PingFang SC"/>
            </a:endParaRPr>
          </a:p>
          <a:p>
            <a:pPr algn="l"/>
            <a:r>
              <a:rPr lang="zh-CN" altLang="en-US" b="1" i="0" dirty="0">
                <a:solidFill>
                  <a:srgbClr val="333333"/>
                </a:solidFill>
                <a:effectLst/>
                <a:latin typeface="PingFang SC"/>
              </a:rPr>
              <a:t>触发条件</a:t>
            </a:r>
            <a:r>
              <a:rPr lang="zh-CN" altLang="en-US" b="0" i="0" dirty="0">
                <a:solidFill>
                  <a:srgbClr val="333333"/>
                </a:solidFill>
                <a:effectLst/>
                <a:latin typeface="PingFang SC"/>
              </a:rPr>
              <a:t>‌：当</a:t>
            </a:r>
            <a:r>
              <a:rPr lang="en-US" altLang="zh-CN" b="0" i="0" dirty="0" err="1">
                <a:solidFill>
                  <a:srgbClr val="333333"/>
                </a:solidFill>
                <a:effectLst/>
                <a:latin typeface="PingFang SC"/>
              </a:rPr>
              <a:t>cwnd</a:t>
            </a:r>
            <a:r>
              <a:rPr lang="zh-CN" altLang="en-US" b="0" i="0" dirty="0">
                <a:solidFill>
                  <a:srgbClr val="333333"/>
                </a:solidFill>
                <a:effectLst/>
                <a:latin typeface="PingFang SC"/>
              </a:rPr>
              <a:t>超过慢启动阈值（</a:t>
            </a:r>
            <a:r>
              <a:rPr lang="en-US" altLang="zh-CN" b="0" i="0" dirty="0" err="1">
                <a:solidFill>
                  <a:srgbClr val="333333"/>
                </a:solidFill>
                <a:effectLst/>
                <a:latin typeface="PingFang SC"/>
              </a:rPr>
              <a:t>ssthresh</a:t>
            </a:r>
            <a:r>
              <a:rPr lang="zh-CN" altLang="en-US" b="0" i="0" dirty="0">
                <a:solidFill>
                  <a:srgbClr val="333333"/>
                </a:solidFill>
                <a:effectLst/>
                <a:latin typeface="PingFang SC"/>
              </a:rPr>
              <a:t>）时，进入拥塞避免阶段‌；若检测到丢包（超时或</a:t>
            </a:r>
            <a:r>
              <a:rPr lang="en-US" altLang="zh-CN" b="0" i="0" dirty="0">
                <a:solidFill>
                  <a:srgbClr val="333333"/>
                </a:solidFill>
                <a:effectLst/>
                <a:latin typeface="PingFang SC"/>
              </a:rPr>
              <a:t>3</a:t>
            </a:r>
            <a:r>
              <a:rPr lang="zh-CN" altLang="en-US" b="0" i="0" dirty="0">
                <a:solidFill>
                  <a:srgbClr val="333333"/>
                </a:solidFill>
                <a:effectLst/>
                <a:latin typeface="PingFang SC"/>
              </a:rPr>
              <a:t>个重复</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b="0" i="0" dirty="0" err="1">
                <a:solidFill>
                  <a:srgbClr val="333333"/>
                </a:solidFill>
                <a:effectLst/>
                <a:latin typeface="PingFang SC"/>
              </a:rPr>
              <a:t>cwnd</a:t>
            </a:r>
            <a:r>
              <a:rPr lang="zh-CN" altLang="en-US" b="0" i="0" dirty="0">
                <a:solidFill>
                  <a:srgbClr val="333333"/>
                </a:solidFill>
                <a:effectLst/>
                <a:latin typeface="PingFang SC"/>
              </a:rPr>
              <a:t>减半并重置</a:t>
            </a:r>
            <a:r>
              <a:rPr lang="en-US" altLang="zh-CN" b="0" i="0" dirty="0" err="1">
                <a:solidFill>
                  <a:srgbClr val="333333"/>
                </a:solidFill>
                <a:effectLst/>
                <a:latin typeface="PingFang SC"/>
              </a:rPr>
              <a:t>ssthresh</a:t>
            </a:r>
            <a:r>
              <a:rPr lang="zh-CN" altLang="en-US" b="0" i="0" dirty="0">
                <a:solidFill>
                  <a:srgbClr val="333333"/>
                </a:solidFill>
                <a:effectLst/>
                <a:latin typeface="PingFang SC"/>
              </a:rPr>
              <a:t>，可能重新进入慢启动‌</a:t>
            </a:r>
          </a:p>
          <a:p>
            <a:r>
              <a:rPr lang="zh-CN" altLang="en-US" b="1" dirty="0">
                <a:solidFill>
                  <a:srgbClr val="333333"/>
                </a:solidFill>
                <a:effectLst/>
                <a:latin typeface="PingFang SC"/>
              </a:rPr>
              <a:t>窗口增长规则</a:t>
            </a:r>
            <a:r>
              <a:rPr lang="zh-CN" altLang="en-US" b="0" dirty="0">
                <a:solidFill>
                  <a:srgbClr val="333333"/>
                </a:solidFill>
                <a:effectLst/>
                <a:latin typeface="PingFang SC"/>
              </a:rPr>
              <a:t>‌：</a:t>
            </a:r>
            <a:r>
              <a:rPr lang="zh-CN" altLang="en-US" b="1" dirty="0">
                <a:effectLst/>
                <a:latin typeface="PingFang SC"/>
              </a:rPr>
              <a:t>线性增长</a:t>
            </a:r>
            <a:r>
              <a:rPr lang="zh-CN" altLang="en-US" dirty="0">
                <a:effectLst/>
              </a:rPr>
              <a:t>‌：每</a:t>
            </a:r>
            <a:r>
              <a:rPr lang="en-US" altLang="zh-CN" dirty="0">
                <a:effectLst/>
              </a:rPr>
              <a:t>RTT</a:t>
            </a:r>
            <a:r>
              <a:rPr lang="zh-CN" altLang="en-US" dirty="0">
                <a:effectLst/>
              </a:rPr>
              <a:t>（往返时间），</a:t>
            </a:r>
            <a:r>
              <a:rPr lang="en-US" altLang="zh-CN" dirty="0" err="1">
                <a:effectLst/>
              </a:rPr>
              <a:t>cwnd</a:t>
            </a:r>
            <a:r>
              <a:rPr lang="zh-CN" altLang="en-US" dirty="0">
                <a:effectLst/>
              </a:rPr>
              <a:t>增加</a:t>
            </a:r>
            <a:r>
              <a:rPr lang="en-US" altLang="zh-CN" dirty="0">
                <a:effectLst/>
              </a:rPr>
              <a:t>1</a:t>
            </a:r>
            <a:r>
              <a:rPr lang="zh-CN" altLang="en-US" dirty="0">
                <a:effectLst/>
              </a:rPr>
              <a:t>个</a:t>
            </a:r>
            <a:r>
              <a:rPr lang="en-US" altLang="zh-CN" dirty="0">
                <a:effectLst/>
              </a:rPr>
              <a:t>MSS</a:t>
            </a:r>
            <a:r>
              <a:rPr lang="zh-CN" altLang="en-US" dirty="0">
                <a:effectLst/>
              </a:rPr>
              <a:t>，而非慢启动的指数增长‌</a:t>
            </a:r>
            <a:r>
              <a:rPr lang="en-US" altLang="zh-CN" dirty="0">
                <a:solidFill>
                  <a:srgbClr val="333333"/>
                </a:solidFill>
                <a:effectLst/>
              </a:rPr>
              <a:t>1</a:t>
            </a:r>
            <a:r>
              <a:rPr lang="zh-CN" altLang="en-US" dirty="0">
                <a:solidFill>
                  <a:srgbClr val="333333"/>
                </a:solidFill>
                <a:effectLst/>
              </a:rPr>
              <a:t>；</a:t>
            </a:r>
            <a:r>
              <a:rPr lang="zh-CN" altLang="en-US" b="1" i="0" dirty="0">
                <a:solidFill>
                  <a:srgbClr val="333333"/>
                </a:solidFill>
                <a:effectLst/>
                <a:latin typeface="PingFang SC"/>
              </a:rPr>
              <a:t>加法增大（</a:t>
            </a:r>
            <a:r>
              <a:rPr lang="en-US" altLang="zh-CN" b="1" i="0" dirty="0">
                <a:solidFill>
                  <a:srgbClr val="333333"/>
                </a:solidFill>
                <a:effectLst/>
                <a:latin typeface="PingFang SC"/>
              </a:rPr>
              <a:t>AIMD</a:t>
            </a:r>
            <a:r>
              <a:rPr lang="zh-CN" altLang="en-US" b="1" i="0" dirty="0">
                <a:solidFill>
                  <a:srgbClr val="333333"/>
                </a:solidFill>
                <a:effectLst/>
                <a:latin typeface="PingFang SC"/>
              </a:rPr>
              <a:t>）</a:t>
            </a:r>
            <a:r>
              <a:rPr lang="zh-CN" altLang="en-US" b="0" i="0" dirty="0">
                <a:solidFill>
                  <a:srgbClr val="333333"/>
                </a:solidFill>
                <a:effectLst/>
                <a:latin typeface="PingFang SC"/>
              </a:rPr>
              <a:t>‌：通过缓慢试探带宽，避免网络突发拥塞‌</a:t>
            </a:r>
            <a:endParaRPr lang="zh-CN" altLang="zh-CN" dirty="0"/>
          </a:p>
        </p:txBody>
      </p:sp>
    </p:spTree>
    <p:extLst>
      <p:ext uri="{BB962C8B-B14F-4D97-AF65-F5344CB8AC3E}">
        <p14:creationId xmlns:p14="http://schemas.microsoft.com/office/powerpoint/2010/main" val="29181210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96</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algn="l">
              <a:buFont typeface="Arial" panose="020B0604020202020204" pitchFamily="34" charset="0"/>
              <a:buNone/>
            </a:pPr>
            <a:r>
              <a:rPr lang="en-US" altLang="zh-CN" b="1" i="0" dirty="0">
                <a:solidFill>
                  <a:srgbClr val="333333"/>
                </a:solidFill>
                <a:effectLst/>
                <a:latin typeface="PingFang SC"/>
              </a:rPr>
              <a:t>Tahoe</a:t>
            </a:r>
            <a:r>
              <a:rPr lang="zh-CN" altLang="en-US" b="0" i="0" dirty="0">
                <a:solidFill>
                  <a:srgbClr val="333333"/>
                </a:solidFill>
                <a:effectLst/>
                <a:latin typeface="PingFang SC"/>
              </a:rPr>
              <a:t>算法‌：早期版本，仅支持慢启动、拥塞避免和快速重传，丢包后窗口直接归</a:t>
            </a:r>
            <a:r>
              <a:rPr lang="en-US" altLang="zh-CN" b="0" i="0" dirty="0">
                <a:solidFill>
                  <a:srgbClr val="333333"/>
                </a:solidFill>
                <a:effectLst/>
                <a:latin typeface="PingFang SC"/>
              </a:rPr>
              <a:t>1</a:t>
            </a:r>
            <a:r>
              <a:rPr lang="zh-CN" altLang="en-US" b="0" i="0" dirty="0">
                <a:solidFill>
                  <a:srgbClr val="333333"/>
                </a:solidFill>
                <a:effectLst/>
                <a:latin typeface="PingFang SC"/>
              </a:rPr>
              <a:t>，‌加剧网络波动，尤其对高带宽、长时延网络不友好‌</a:t>
            </a:r>
          </a:p>
          <a:p>
            <a:r>
              <a:rPr lang="zh-CN" altLang="en-US" b="0" i="0" dirty="0">
                <a:solidFill>
                  <a:srgbClr val="333333"/>
                </a:solidFill>
                <a:effectLst/>
                <a:latin typeface="PingFang SC"/>
              </a:rPr>
              <a:t>‌</a:t>
            </a:r>
            <a:r>
              <a:rPr lang="en-US" altLang="zh-CN" b="1" i="0" dirty="0">
                <a:solidFill>
                  <a:srgbClr val="333333"/>
                </a:solidFill>
                <a:effectLst/>
                <a:latin typeface="PingFang SC"/>
              </a:rPr>
              <a:t>Reno</a:t>
            </a:r>
            <a:r>
              <a:rPr lang="zh-CN" altLang="en-US" b="0" i="0" dirty="0">
                <a:solidFill>
                  <a:srgbClr val="333333"/>
                </a:solidFill>
                <a:effectLst/>
                <a:latin typeface="PingFang SC"/>
              </a:rPr>
              <a:t>算法：在</a:t>
            </a:r>
            <a:r>
              <a:rPr lang="en-US" altLang="zh-CN" b="0" i="0" dirty="0">
                <a:solidFill>
                  <a:srgbClr val="333333"/>
                </a:solidFill>
                <a:effectLst/>
                <a:latin typeface="PingFang SC"/>
              </a:rPr>
              <a:t>Tahoe</a:t>
            </a:r>
            <a:r>
              <a:rPr lang="zh-CN" altLang="en-US" b="0" i="0" dirty="0">
                <a:solidFill>
                  <a:srgbClr val="333333"/>
                </a:solidFill>
                <a:effectLst/>
                <a:latin typeface="PingFang SC"/>
              </a:rPr>
              <a:t>的基础上增加‌快速恢复‌机制，避免窗口太小，通过重复</a:t>
            </a:r>
            <a:r>
              <a:rPr lang="en-US" altLang="zh-CN" b="0" i="0" dirty="0">
                <a:solidFill>
                  <a:srgbClr val="333333"/>
                </a:solidFill>
                <a:effectLst/>
                <a:latin typeface="PingFang SC"/>
              </a:rPr>
              <a:t>ACK</a:t>
            </a:r>
            <a:r>
              <a:rPr lang="zh-CN" altLang="en-US" b="0" i="0" dirty="0">
                <a:solidFill>
                  <a:srgbClr val="333333"/>
                </a:solidFill>
                <a:effectLst/>
                <a:latin typeface="PingFang SC"/>
              </a:rPr>
              <a:t>触发降速后进入拥塞避免阶段‌。</a:t>
            </a:r>
            <a:r>
              <a:rPr lang="en-US" altLang="zh-CN" b="0" i="0" dirty="0">
                <a:solidFill>
                  <a:srgbClr val="333333"/>
                </a:solidFill>
                <a:effectLst/>
                <a:latin typeface="PingFang SC"/>
              </a:rPr>
              <a:t>1.</a:t>
            </a:r>
            <a:r>
              <a:rPr lang="zh-CN" altLang="en-US" b="0" i="0" dirty="0">
                <a:solidFill>
                  <a:srgbClr val="333333"/>
                </a:solidFill>
                <a:effectLst/>
                <a:latin typeface="PingFang SC"/>
              </a:rPr>
              <a:t>收到</a:t>
            </a:r>
            <a:r>
              <a:rPr lang="en-US" altLang="zh-CN" b="0" i="0" dirty="0">
                <a:solidFill>
                  <a:srgbClr val="333333"/>
                </a:solidFill>
                <a:effectLst/>
                <a:latin typeface="PingFang SC"/>
              </a:rPr>
              <a:t>3</a:t>
            </a:r>
            <a:r>
              <a:rPr lang="zh-CN" altLang="en-US" b="0" i="0" dirty="0">
                <a:solidFill>
                  <a:srgbClr val="333333"/>
                </a:solidFill>
                <a:effectLst/>
                <a:latin typeface="PingFang SC"/>
              </a:rPr>
              <a:t>个重复</a:t>
            </a:r>
            <a:r>
              <a:rPr lang="en-US" altLang="zh-CN" b="0" i="0" dirty="0">
                <a:solidFill>
                  <a:srgbClr val="333333"/>
                </a:solidFill>
                <a:effectLst/>
                <a:latin typeface="PingFang SC"/>
              </a:rPr>
              <a:t>ACK</a:t>
            </a:r>
            <a:r>
              <a:rPr lang="zh-CN" altLang="en-US" b="0" i="0" dirty="0">
                <a:solidFill>
                  <a:srgbClr val="333333"/>
                </a:solidFill>
                <a:effectLst/>
                <a:latin typeface="PingFang SC"/>
              </a:rPr>
              <a:t>后，将</a:t>
            </a:r>
            <a:r>
              <a:rPr lang="en-US" altLang="zh-CN" dirty="0" err="1"/>
              <a:t>ssthresh</a:t>
            </a:r>
            <a:r>
              <a:rPr lang="zh-CN" altLang="en-US" b="0" i="0" dirty="0">
                <a:solidFill>
                  <a:srgbClr val="333333"/>
                </a:solidFill>
                <a:effectLst/>
                <a:latin typeface="PingFang SC"/>
              </a:rPr>
              <a:t>设为当前</a:t>
            </a:r>
            <a:r>
              <a:rPr lang="en-US" altLang="zh-CN" dirty="0" err="1"/>
              <a:t>cwnd</a:t>
            </a:r>
            <a:r>
              <a:rPr lang="zh-CN" altLang="en-US" b="0" i="0" dirty="0">
                <a:solidFill>
                  <a:srgbClr val="333333"/>
                </a:solidFill>
                <a:effectLst/>
                <a:latin typeface="PingFang SC"/>
              </a:rPr>
              <a:t>的一半，</a:t>
            </a:r>
            <a:r>
              <a:rPr lang="en-US" altLang="zh-CN" dirty="0" err="1"/>
              <a:t>cwnd</a:t>
            </a:r>
            <a:r>
              <a:rPr lang="zh-CN" altLang="en-US" b="0" i="0" dirty="0">
                <a:solidFill>
                  <a:srgbClr val="333333"/>
                </a:solidFill>
                <a:effectLst/>
                <a:latin typeface="PingFang SC"/>
              </a:rPr>
              <a:t>降为</a:t>
            </a:r>
            <a:r>
              <a:rPr lang="en-US" altLang="zh-CN" dirty="0"/>
              <a:t>ssthresh</a:t>
            </a:r>
            <a:r>
              <a:rPr lang="en-US" altLang="zh-CN" b="0" i="0" dirty="0">
                <a:solidFill>
                  <a:srgbClr val="333333"/>
                </a:solidFill>
                <a:effectLst/>
                <a:latin typeface="PingFang SC"/>
              </a:rPr>
              <a:t>+3</a:t>
            </a:r>
            <a:r>
              <a:rPr lang="zh-CN" altLang="en-US" b="0" i="0" dirty="0">
                <a:solidFill>
                  <a:srgbClr val="333333"/>
                </a:solidFill>
                <a:effectLst/>
                <a:latin typeface="PingFang SC"/>
              </a:rPr>
              <a:t>（补偿已确认的</a:t>
            </a:r>
            <a:r>
              <a:rPr lang="en-US" altLang="zh-CN" b="0" i="0" dirty="0">
                <a:solidFill>
                  <a:srgbClr val="333333"/>
                </a:solidFill>
                <a:effectLst/>
                <a:latin typeface="PingFang SC"/>
              </a:rPr>
              <a:t>3</a:t>
            </a:r>
            <a:r>
              <a:rPr lang="zh-CN" altLang="en-US" b="0" i="0" dirty="0">
                <a:solidFill>
                  <a:srgbClr val="333333"/>
                </a:solidFill>
                <a:effectLst/>
                <a:latin typeface="PingFang SC"/>
              </a:rPr>
              <a:t>个报文）‌；</a:t>
            </a:r>
            <a:r>
              <a:rPr lang="en-US" altLang="zh-CN" b="0" i="0" dirty="0">
                <a:solidFill>
                  <a:srgbClr val="333333"/>
                </a:solidFill>
                <a:effectLst/>
                <a:latin typeface="PingFang SC"/>
              </a:rPr>
              <a:t>2.</a:t>
            </a:r>
            <a:r>
              <a:rPr lang="zh-CN" altLang="en-US" b="0" i="0" dirty="0">
                <a:solidFill>
                  <a:srgbClr val="333333"/>
                </a:solidFill>
                <a:effectLst/>
                <a:latin typeface="PingFang SC"/>
              </a:rPr>
              <a:t>每收到一个重复</a:t>
            </a:r>
            <a:r>
              <a:rPr lang="en-US" altLang="zh-CN" b="0" i="0" dirty="0">
                <a:solidFill>
                  <a:srgbClr val="333333"/>
                </a:solidFill>
                <a:effectLst/>
                <a:latin typeface="PingFang SC"/>
              </a:rPr>
              <a:t>ACK</a:t>
            </a:r>
            <a:r>
              <a:rPr lang="zh-CN" altLang="en-US" b="0" i="0" dirty="0">
                <a:solidFill>
                  <a:srgbClr val="333333"/>
                </a:solidFill>
                <a:effectLst/>
                <a:latin typeface="PingFang SC"/>
              </a:rPr>
              <a:t>，</a:t>
            </a:r>
            <a:r>
              <a:rPr lang="en-US" altLang="zh-CN" dirty="0" err="1"/>
              <a:t>cwnd</a:t>
            </a:r>
            <a:r>
              <a:rPr lang="zh-CN" altLang="en-US" b="0" i="0" dirty="0">
                <a:solidFill>
                  <a:srgbClr val="333333"/>
                </a:solidFill>
                <a:effectLst/>
                <a:latin typeface="PingFang SC"/>
              </a:rPr>
              <a:t>增加</a:t>
            </a:r>
            <a:r>
              <a:rPr lang="en-US" altLang="zh-CN" b="0" i="0" dirty="0">
                <a:solidFill>
                  <a:srgbClr val="333333"/>
                </a:solidFill>
                <a:effectLst/>
                <a:latin typeface="PingFang SC"/>
              </a:rPr>
              <a:t>1MSS</a:t>
            </a:r>
            <a:r>
              <a:rPr lang="zh-CN" altLang="en-US" b="0" i="0" dirty="0">
                <a:solidFill>
                  <a:srgbClr val="333333"/>
                </a:solidFill>
                <a:effectLst/>
                <a:latin typeface="PingFang SC"/>
              </a:rPr>
              <a:t>，维持窗口大小；</a:t>
            </a:r>
            <a:r>
              <a:rPr lang="en-US" altLang="zh-CN" b="0" i="0" dirty="0">
                <a:solidFill>
                  <a:srgbClr val="333333"/>
                </a:solidFill>
                <a:effectLst/>
                <a:latin typeface="PingFang SC"/>
              </a:rPr>
              <a:t>3.</a:t>
            </a:r>
            <a:r>
              <a:rPr lang="zh-CN" altLang="en-US" b="0" i="0" dirty="0">
                <a:solidFill>
                  <a:srgbClr val="333333"/>
                </a:solidFill>
                <a:effectLst/>
                <a:latin typeface="PingFang SC"/>
              </a:rPr>
              <a:t>收到新</a:t>
            </a:r>
            <a:r>
              <a:rPr lang="en-US" altLang="zh-CN" b="0" i="0" dirty="0">
                <a:solidFill>
                  <a:srgbClr val="333333"/>
                </a:solidFill>
                <a:effectLst/>
                <a:latin typeface="PingFang SC"/>
              </a:rPr>
              <a:t>ACK</a:t>
            </a:r>
            <a:r>
              <a:rPr lang="zh-CN" altLang="en-US" b="0" i="0" dirty="0">
                <a:solidFill>
                  <a:srgbClr val="333333"/>
                </a:solidFill>
                <a:effectLst/>
                <a:latin typeface="PingFang SC"/>
              </a:rPr>
              <a:t>后退出恢复，进入拥塞避免阶段‌</a:t>
            </a:r>
            <a:endParaRPr lang="zh-CN" altLang="zh-CN" dirty="0"/>
          </a:p>
        </p:txBody>
      </p:sp>
    </p:spTree>
    <p:extLst>
      <p:ext uri="{BB962C8B-B14F-4D97-AF65-F5344CB8AC3E}">
        <p14:creationId xmlns:p14="http://schemas.microsoft.com/office/powerpoint/2010/main" val="42493164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97</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慢启动阶段：每个</a:t>
            </a:r>
            <a:r>
              <a:rPr lang="en-US" altLang="zh-CN" dirty="0"/>
              <a:t>RTT</a:t>
            </a:r>
            <a:r>
              <a:rPr lang="zh-CN" altLang="en-US" dirty="0"/>
              <a:t>，</a:t>
            </a:r>
            <a:r>
              <a:rPr lang="en-US" altLang="zh-CN" sz="1200" dirty="0" err="1">
                <a:latin typeface="Times New Roman" panose="02020603050405020304" pitchFamily="18" charset="0"/>
                <a:ea typeface="宋体" panose="02010600030101010101" pitchFamily="2" charset="-122"/>
                <a:cs typeface="Times New Roman" panose="02020603050405020304" pitchFamily="18" charset="0"/>
              </a:rPr>
              <a:t>cwnd</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翻倍（指数增长）</a:t>
            </a: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拥塞避免阶段：</a:t>
            </a:r>
            <a:r>
              <a:rPr lang="zh-CN" altLang="en-US" dirty="0"/>
              <a:t>每个</a:t>
            </a:r>
            <a:r>
              <a:rPr lang="en-US" altLang="zh-CN" dirty="0"/>
              <a:t>RTT</a:t>
            </a:r>
            <a:r>
              <a:rPr lang="zh-CN" altLang="en-US" dirty="0"/>
              <a:t>，</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cwnd+1</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（加法增长）</a:t>
            </a: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丢失检测之后：</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Tahoe</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Reno</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不同</a:t>
            </a: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27175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98</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algn="l"/>
            <a:r>
              <a:rPr lang="en-US" altLang="zh-CN" b="0" i="0" dirty="0">
                <a:solidFill>
                  <a:srgbClr val="333333"/>
                </a:solidFill>
                <a:effectLst/>
                <a:latin typeface="PingFang SC"/>
              </a:rPr>
              <a:t>Reno</a:t>
            </a:r>
            <a:r>
              <a:rPr lang="zh-CN" altLang="en-US" b="0" i="0" dirty="0">
                <a:solidFill>
                  <a:srgbClr val="333333"/>
                </a:solidFill>
                <a:effectLst/>
                <a:latin typeface="PingFang SC"/>
              </a:rPr>
              <a:t>的问题：</a:t>
            </a:r>
            <a:r>
              <a:rPr lang="en-US" altLang="zh-CN" b="0" i="0" dirty="0">
                <a:solidFill>
                  <a:srgbClr val="333333"/>
                </a:solidFill>
                <a:effectLst/>
                <a:latin typeface="PingFang SC"/>
              </a:rPr>
              <a:t>1.</a:t>
            </a:r>
            <a:r>
              <a:rPr lang="zh-CN" altLang="en-US" b="0" i="0" dirty="0">
                <a:solidFill>
                  <a:srgbClr val="333333"/>
                </a:solidFill>
                <a:effectLst/>
                <a:latin typeface="PingFang SC"/>
              </a:rPr>
              <a:t>‌</a:t>
            </a:r>
            <a:r>
              <a:rPr lang="zh-CN" altLang="en-US" b="1" i="0" dirty="0">
                <a:solidFill>
                  <a:srgbClr val="333333"/>
                </a:solidFill>
                <a:effectLst/>
                <a:latin typeface="PingFang SC"/>
              </a:rPr>
              <a:t>多丢包处理</a:t>
            </a:r>
            <a:r>
              <a:rPr lang="zh-CN" altLang="en-US" b="0" i="0" dirty="0">
                <a:solidFill>
                  <a:srgbClr val="333333"/>
                </a:solidFill>
                <a:effectLst/>
                <a:latin typeface="PingFang SC"/>
              </a:rPr>
              <a:t>，</a:t>
            </a:r>
            <a:r>
              <a:rPr lang="en-US" altLang="zh-CN" b="0" i="0" dirty="0">
                <a:solidFill>
                  <a:srgbClr val="333333"/>
                </a:solidFill>
                <a:effectLst/>
                <a:latin typeface="PingFang SC"/>
              </a:rPr>
              <a:t>Reno</a:t>
            </a:r>
            <a:r>
              <a:rPr lang="zh-CN" altLang="en-US" b="0" i="0" dirty="0">
                <a:solidFill>
                  <a:srgbClr val="333333"/>
                </a:solidFill>
                <a:effectLst/>
                <a:latin typeface="PingFang SC"/>
              </a:rPr>
              <a:t>快速恢复机制仅优化了单个报文丢失‌，当同一窗口内‌多个报文连续丢失‌时，若未收到足够重复</a:t>
            </a:r>
            <a:r>
              <a:rPr lang="en-US" altLang="zh-CN" b="0" i="0" dirty="0">
                <a:solidFill>
                  <a:srgbClr val="333333"/>
                </a:solidFill>
                <a:effectLst/>
                <a:latin typeface="PingFang SC"/>
              </a:rPr>
              <a:t>ACK</a:t>
            </a:r>
            <a:r>
              <a:rPr lang="zh-CN" altLang="en-US" b="0" i="0" dirty="0">
                <a:solidFill>
                  <a:srgbClr val="333333"/>
                </a:solidFill>
                <a:effectLst/>
                <a:latin typeface="PingFang SC"/>
              </a:rPr>
              <a:t>（如仅丢失</a:t>
            </a:r>
            <a:r>
              <a:rPr lang="en-US" altLang="zh-CN" b="0" i="0" dirty="0">
                <a:solidFill>
                  <a:srgbClr val="333333"/>
                </a:solidFill>
                <a:effectLst/>
                <a:latin typeface="PingFang SC"/>
              </a:rPr>
              <a:t>1</a:t>
            </a:r>
            <a:r>
              <a:rPr lang="zh-CN" altLang="en-US" b="0" i="0" dirty="0">
                <a:solidFill>
                  <a:srgbClr val="333333"/>
                </a:solidFill>
                <a:effectLst/>
                <a:latin typeface="PingFang SC"/>
              </a:rPr>
              <a:t>个报文触发</a:t>
            </a:r>
            <a:r>
              <a:rPr lang="en-US" altLang="zh-CN" b="0" i="0" dirty="0">
                <a:solidFill>
                  <a:srgbClr val="333333"/>
                </a:solidFill>
                <a:effectLst/>
                <a:latin typeface="PingFang SC"/>
              </a:rPr>
              <a:t>3</a:t>
            </a:r>
            <a:r>
              <a:rPr lang="zh-CN" altLang="en-US" b="0" i="0" dirty="0">
                <a:solidFill>
                  <a:srgbClr val="333333"/>
                </a:solidFill>
                <a:effectLst/>
                <a:latin typeface="PingFang SC"/>
              </a:rPr>
              <a:t>个重复</a:t>
            </a:r>
            <a:r>
              <a:rPr lang="en-US" altLang="zh-CN" b="0" i="0" dirty="0">
                <a:solidFill>
                  <a:srgbClr val="333333"/>
                </a:solidFill>
                <a:effectLst/>
                <a:latin typeface="PingFang SC"/>
              </a:rPr>
              <a:t>ACK</a:t>
            </a:r>
            <a:r>
              <a:rPr lang="zh-CN" altLang="en-US" b="0" i="0" dirty="0">
                <a:solidFill>
                  <a:srgbClr val="333333"/>
                </a:solidFill>
                <a:effectLst/>
                <a:latin typeface="PingFang SC"/>
              </a:rPr>
              <a:t>，但实际丢失</a:t>
            </a:r>
            <a:r>
              <a:rPr lang="en-US" altLang="zh-CN" b="0" i="0" dirty="0">
                <a:solidFill>
                  <a:srgbClr val="333333"/>
                </a:solidFill>
                <a:effectLst/>
                <a:latin typeface="PingFang SC"/>
              </a:rPr>
              <a:t>2</a:t>
            </a:r>
            <a:r>
              <a:rPr lang="zh-CN" altLang="en-US" b="0" i="0" dirty="0">
                <a:solidFill>
                  <a:srgbClr val="333333"/>
                </a:solidFill>
                <a:effectLst/>
                <a:latin typeface="PingFang SC"/>
              </a:rPr>
              <a:t>个），</a:t>
            </a:r>
            <a:r>
              <a:rPr lang="en-US" altLang="zh-CN" b="0" i="0" dirty="0">
                <a:solidFill>
                  <a:srgbClr val="333333"/>
                </a:solidFill>
                <a:effectLst/>
                <a:latin typeface="PingFang SC"/>
              </a:rPr>
              <a:t>Reno</a:t>
            </a:r>
            <a:r>
              <a:rPr lang="zh-CN" altLang="en-US" b="0" i="0" dirty="0">
                <a:solidFill>
                  <a:srgbClr val="333333"/>
                </a:solidFill>
                <a:effectLst/>
                <a:latin typeface="PingFang SC"/>
              </a:rPr>
              <a:t>将错误退出快速恢复阶段，导致窗口骤降甚至进入“拥塞死锁”状态；</a:t>
            </a:r>
            <a:r>
              <a:rPr lang="en-US" altLang="zh-CN" b="0" i="0" dirty="0">
                <a:solidFill>
                  <a:srgbClr val="333333"/>
                </a:solidFill>
                <a:effectLst/>
                <a:latin typeface="PingFang SC"/>
              </a:rPr>
              <a:t>2.</a:t>
            </a:r>
            <a:r>
              <a:rPr lang="zh-CN" altLang="en-US" b="1" i="0" dirty="0">
                <a:solidFill>
                  <a:srgbClr val="333333"/>
                </a:solidFill>
                <a:effectLst/>
                <a:latin typeface="PingFang SC"/>
              </a:rPr>
              <a:t>依赖重复</a:t>
            </a:r>
            <a:r>
              <a:rPr lang="en-US" altLang="zh-CN" b="1" i="0" dirty="0">
                <a:solidFill>
                  <a:srgbClr val="333333"/>
                </a:solidFill>
                <a:effectLst/>
                <a:latin typeface="PingFang SC"/>
              </a:rPr>
              <a:t>ACK</a:t>
            </a:r>
            <a:r>
              <a:rPr lang="zh-CN" altLang="en-US" b="1" i="0" dirty="0">
                <a:solidFill>
                  <a:srgbClr val="333333"/>
                </a:solidFill>
                <a:effectLst/>
                <a:latin typeface="PingFang SC"/>
              </a:rPr>
              <a:t>，</a:t>
            </a:r>
            <a:r>
              <a:rPr lang="zh-CN" altLang="en-US" b="0" i="0" dirty="0">
                <a:solidFill>
                  <a:srgbClr val="333333"/>
                </a:solidFill>
                <a:effectLst/>
                <a:latin typeface="PingFang SC"/>
              </a:rPr>
              <a:t>快速恢复完全依赖重复</a:t>
            </a:r>
            <a:r>
              <a:rPr lang="en-US" altLang="zh-CN" b="0" i="0" dirty="0">
                <a:solidFill>
                  <a:srgbClr val="333333"/>
                </a:solidFill>
                <a:effectLst/>
                <a:latin typeface="PingFang SC"/>
              </a:rPr>
              <a:t>ACK</a:t>
            </a:r>
            <a:r>
              <a:rPr lang="zh-CN" altLang="en-US" b="0" i="0" dirty="0">
                <a:solidFill>
                  <a:srgbClr val="333333"/>
                </a:solidFill>
                <a:effectLst/>
                <a:latin typeface="PingFang SC"/>
              </a:rPr>
              <a:t>触发，若网络乱序或丢包率较高，可能误判拥塞程度，影响吞吐量稳定性</a:t>
            </a:r>
            <a:endParaRPr lang="en-US" altLang="zh-CN" b="0" i="0" dirty="0">
              <a:solidFill>
                <a:srgbClr val="333333"/>
              </a:solidFill>
              <a:effectLst/>
              <a:latin typeface="PingFang SC"/>
            </a:endParaRPr>
          </a:p>
          <a:p>
            <a:pPr algn="l"/>
            <a:r>
              <a:rPr lang="en-US" altLang="zh-CN" b="0" i="0" dirty="0">
                <a:solidFill>
                  <a:srgbClr val="333333"/>
                </a:solidFill>
                <a:effectLst/>
                <a:latin typeface="PingFang SC"/>
              </a:rPr>
              <a:t>New Reno</a:t>
            </a:r>
            <a:r>
              <a:rPr lang="zh-CN" altLang="en-US" b="0" i="0" dirty="0">
                <a:solidFill>
                  <a:srgbClr val="333333"/>
                </a:solidFill>
                <a:effectLst/>
                <a:latin typeface="PingFang SC"/>
              </a:rPr>
              <a:t>的改进：</a:t>
            </a:r>
            <a:r>
              <a:rPr lang="en-US" altLang="zh-CN" b="0" i="0" dirty="0">
                <a:solidFill>
                  <a:srgbClr val="333333"/>
                </a:solidFill>
                <a:effectLst/>
                <a:latin typeface="PingFang SC"/>
              </a:rPr>
              <a:t>1.</a:t>
            </a:r>
            <a:r>
              <a:rPr lang="zh-CN" altLang="en-US" b="0" i="0" dirty="0">
                <a:solidFill>
                  <a:srgbClr val="333333"/>
                </a:solidFill>
                <a:effectLst/>
                <a:latin typeface="PingFang SC"/>
              </a:rPr>
              <a:t>‌</a:t>
            </a:r>
            <a:r>
              <a:rPr lang="zh-CN" altLang="en-US" b="1" i="0" dirty="0">
                <a:solidFill>
                  <a:srgbClr val="333333"/>
                </a:solidFill>
                <a:effectLst/>
                <a:latin typeface="PingFang SC"/>
              </a:rPr>
              <a:t>全窗口确认</a:t>
            </a:r>
            <a:r>
              <a:rPr lang="zh-CN" altLang="en-US" b="0" i="0" dirty="0">
                <a:solidFill>
                  <a:srgbClr val="333333"/>
                </a:solidFill>
                <a:effectLst/>
                <a:latin typeface="PingFang SC"/>
              </a:rPr>
              <a:t>，</a:t>
            </a:r>
            <a:r>
              <a:rPr lang="en-US" altLang="zh-CN" b="0" i="0" dirty="0">
                <a:solidFill>
                  <a:srgbClr val="333333"/>
                </a:solidFill>
                <a:effectLst/>
                <a:latin typeface="PingFang SC"/>
              </a:rPr>
              <a:t>New Reno</a:t>
            </a:r>
            <a:r>
              <a:rPr lang="zh-CN" altLang="en-US" b="0" i="0" dirty="0">
                <a:solidFill>
                  <a:srgbClr val="333333"/>
                </a:solidFill>
                <a:effectLst/>
                <a:latin typeface="PingFang SC"/>
              </a:rPr>
              <a:t>要求‌所有丢失报文均被确认‌后才退出快速恢复阶段（如窗口内丢失</a:t>
            </a:r>
            <a:r>
              <a:rPr lang="en-US" altLang="zh-CN" b="0" i="0" dirty="0">
                <a:solidFill>
                  <a:srgbClr val="333333"/>
                </a:solidFill>
                <a:effectLst/>
                <a:latin typeface="PingFang SC"/>
              </a:rPr>
              <a:t>3</a:t>
            </a:r>
            <a:r>
              <a:rPr lang="zh-CN" altLang="en-US" b="0" i="0" dirty="0">
                <a:solidFill>
                  <a:srgbClr val="333333"/>
                </a:solidFill>
                <a:effectLst/>
                <a:latin typeface="PingFang SC"/>
              </a:rPr>
              <a:t>个报文，即使仅收到部分</a:t>
            </a:r>
            <a:r>
              <a:rPr lang="en-US" altLang="zh-CN" b="0" i="0" dirty="0">
                <a:solidFill>
                  <a:srgbClr val="333333"/>
                </a:solidFill>
                <a:effectLst/>
                <a:latin typeface="PingFang SC"/>
              </a:rPr>
              <a:t>ACK</a:t>
            </a:r>
            <a:r>
              <a:rPr lang="zh-CN" altLang="en-US" b="0" i="0" dirty="0">
                <a:solidFill>
                  <a:srgbClr val="333333"/>
                </a:solidFill>
                <a:effectLst/>
                <a:latin typeface="PingFang SC"/>
              </a:rPr>
              <a:t>，仍持续重传直至全部确认），避免</a:t>
            </a:r>
            <a:r>
              <a:rPr lang="en-US" altLang="zh-CN" b="0" i="0" dirty="0">
                <a:solidFill>
                  <a:srgbClr val="333333"/>
                </a:solidFill>
                <a:effectLst/>
                <a:latin typeface="PingFang SC"/>
              </a:rPr>
              <a:t>Reno</a:t>
            </a:r>
            <a:r>
              <a:rPr lang="zh-CN" altLang="en-US" b="0" i="0" dirty="0">
                <a:solidFill>
                  <a:srgbClr val="333333"/>
                </a:solidFill>
                <a:effectLst/>
                <a:latin typeface="PingFang SC"/>
              </a:rPr>
              <a:t>的过早退出问题；</a:t>
            </a:r>
            <a:r>
              <a:rPr lang="en-US" altLang="zh-CN" b="0" i="0" dirty="0">
                <a:solidFill>
                  <a:srgbClr val="333333"/>
                </a:solidFill>
                <a:effectLst/>
                <a:latin typeface="PingFang SC"/>
              </a:rPr>
              <a:t>2.</a:t>
            </a:r>
            <a:r>
              <a:rPr lang="zh-CN" altLang="en-US" b="1" i="0" dirty="0">
                <a:solidFill>
                  <a:srgbClr val="333333"/>
                </a:solidFill>
                <a:effectLst/>
                <a:latin typeface="PingFang SC"/>
              </a:rPr>
              <a:t>避免拥塞死锁</a:t>
            </a:r>
            <a:r>
              <a:rPr lang="zh-CN" altLang="en-US" b="0" i="0" dirty="0">
                <a:solidFill>
                  <a:srgbClr val="333333"/>
                </a:solidFill>
                <a:effectLst/>
                <a:latin typeface="PingFang SC"/>
              </a:rPr>
              <a:t>‌，通过延长快速恢复的持续时间，</a:t>
            </a:r>
            <a:r>
              <a:rPr lang="en-US" altLang="zh-CN" b="0" i="0" dirty="0">
                <a:solidFill>
                  <a:srgbClr val="333333"/>
                </a:solidFill>
                <a:effectLst/>
                <a:latin typeface="PingFang SC"/>
              </a:rPr>
              <a:t>New Reno</a:t>
            </a:r>
            <a:r>
              <a:rPr lang="zh-CN" altLang="en-US" b="0" i="0" dirty="0">
                <a:solidFill>
                  <a:srgbClr val="333333"/>
                </a:solidFill>
                <a:effectLst/>
                <a:latin typeface="PingFang SC"/>
              </a:rPr>
              <a:t>解决了</a:t>
            </a:r>
            <a:r>
              <a:rPr lang="en-US" altLang="zh-CN" b="0" i="0" dirty="0">
                <a:solidFill>
                  <a:srgbClr val="333333"/>
                </a:solidFill>
                <a:effectLst/>
                <a:latin typeface="PingFang SC"/>
              </a:rPr>
              <a:t>Reno</a:t>
            </a:r>
            <a:r>
              <a:rPr lang="zh-CN" altLang="en-US" b="0" i="0" dirty="0">
                <a:solidFill>
                  <a:srgbClr val="333333"/>
                </a:solidFill>
                <a:effectLst/>
                <a:latin typeface="PingFang SC"/>
              </a:rPr>
              <a:t>在多丢包场景的窗口归零问题，显著提升高丢包率网络的恢复效率</a:t>
            </a:r>
          </a:p>
          <a:p>
            <a:endParaRPr lang="zh-CN" altLang="zh-CN" dirty="0"/>
          </a:p>
        </p:txBody>
      </p:sp>
    </p:spTree>
    <p:extLst>
      <p:ext uri="{BB962C8B-B14F-4D97-AF65-F5344CB8AC3E}">
        <p14:creationId xmlns:p14="http://schemas.microsoft.com/office/powerpoint/2010/main" val="346966188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99</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zh-CN" altLang="en-US" dirty="0"/>
              <a:t>考虑：长期存活的</a:t>
            </a:r>
            <a:r>
              <a:rPr lang="en-US" altLang="zh-CN" dirty="0"/>
              <a:t>TCP</a:t>
            </a:r>
            <a:r>
              <a:rPr lang="zh-CN" altLang="en-US" dirty="0"/>
              <a:t>连接的平均吞吐率</a:t>
            </a:r>
            <a:endParaRPr lang="zh-CN" altLang="zh-CN" dirty="0"/>
          </a:p>
        </p:txBody>
      </p:sp>
    </p:spTree>
    <p:extLst>
      <p:ext uri="{BB962C8B-B14F-4D97-AF65-F5344CB8AC3E}">
        <p14:creationId xmlns:p14="http://schemas.microsoft.com/office/powerpoint/2010/main" val="328132862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100</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TCP</a:t>
            </a:r>
            <a:r>
              <a:rPr lang="zh-CN" altLang="en-US" b="0" i="0" dirty="0">
                <a:solidFill>
                  <a:srgbClr val="333333"/>
                </a:solidFill>
                <a:effectLst/>
                <a:latin typeface="PingFang SC"/>
              </a:rPr>
              <a:t>拥塞控制中的吞吐率问题主要涉及算法对网络带宽利用率的优化能力，尤其在‌高带宽</a:t>
            </a:r>
            <a:r>
              <a:rPr lang="en-US" altLang="zh-CN" b="0" i="0" dirty="0">
                <a:solidFill>
                  <a:srgbClr val="333333"/>
                </a:solidFill>
                <a:effectLst/>
                <a:latin typeface="PingFang SC"/>
              </a:rPr>
              <a:t>/</a:t>
            </a:r>
            <a:r>
              <a:rPr lang="zh-CN" altLang="en-US" b="0" i="0" dirty="0">
                <a:solidFill>
                  <a:srgbClr val="333333"/>
                </a:solidFill>
                <a:effectLst/>
                <a:latin typeface="PingFang SC"/>
              </a:rPr>
              <a:t>高时延（</a:t>
            </a:r>
            <a:r>
              <a:rPr lang="en-US" altLang="zh-CN" b="0" i="0" dirty="0">
                <a:solidFill>
                  <a:srgbClr val="333333"/>
                </a:solidFill>
                <a:effectLst/>
                <a:latin typeface="PingFang SC"/>
              </a:rPr>
              <a:t>BDP</a:t>
            </a:r>
            <a:r>
              <a:rPr lang="zh-CN" altLang="en-US" b="0" i="0" dirty="0">
                <a:solidFill>
                  <a:srgbClr val="333333"/>
                </a:solidFill>
                <a:effectLst/>
                <a:latin typeface="PingFang SC"/>
              </a:rPr>
              <a:t>）‌网络环境下，传统算法（如</a:t>
            </a:r>
            <a:r>
              <a:rPr lang="en-US" altLang="zh-CN" b="0" i="0" dirty="0">
                <a:solidFill>
                  <a:srgbClr val="333333"/>
                </a:solidFill>
                <a:effectLst/>
                <a:latin typeface="PingFang SC"/>
              </a:rPr>
              <a:t>Reno</a:t>
            </a:r>
            <a:r>
              <a:rPr lang="zh-CN" altLang="en-US" b="0" i="0" dirty="0">
                <a:solidFill>
                  <a:srgbClr val="333333"/>
                </a:solidFill>
                <a:effectLst/>
                <a:latin typeface="PingFang SC"/>
              </a:rPr>
              <a:t>）可能因窗口限制或丢包机制而导致吞吐率显著下降‌</a:t>
            </a:r>
            <a:endParaRPr lang="zh-CN" altLang="zh-CN" dirty="0"/>
          </a:p>
        </p:txBody>
      </p:sp>
    </p:spTree>
    <p:extLst>
      <p:ext uri="{BB962C8B-B14F-4D97-AF65-F5344CB8AC3E}">
        <p14:creationId xmlns:p14="http://schemas.microsoft.com/office/powerpoint/2010/main" val="248466191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101</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TCP</a:t>
            </a:r>
            <a:r>
              <a:rPr lang="zh-CN" altLang="en-US" b="0" i="0" dirty="0">
                <a:solidFill>
                  <a:srgbClr val="333333"/>
                </a:solidFill>
                <a:effectLst/>
                <a:latin typeface="PingFang SC"/>
              </a:rPr>
              <a:t>拥塞控制中的公平性问题是网络资源分配的核心挑战，尤其在多流竞争场景下，算法需确保不同连接（尤其是</a:t>
            </a:r>
            <a:r>
              <a:rPr lang="en-US" altLang="zh-CN" b="0" i="0" dirty="0">
                <a:solidFill>
                  <a:srgbClr val="333333"/>
                </a:solidFill>
                <a:effectLst/>
                <a:latin typeface="PingFang SC"/>
              </a:rPr>
              <a:t>TCP</a:t>
            </a:r>
            <a:r>
              <a:rPr lang="zh-CN" altLang="en-US" b="0" i="0" dirty="0">
                <a:solidFill>
                  <a:srgbClr val="333333"/>
                </a:solidFill>
                <a:effectLst/>
                <a:latin typeface="PingFang SC"/>
              </a:rPr>
              <a:t>与</a:t>
            </a:r>
            <a:r>
              <a:rPr lang="en-US" altLang="zh-CN" b="0" i="0" dirty="0">
                <a:solidFill>
                  <a:srgbClr val="333333"/>
                </a:solidFill>
                <a:effectLst/>
                <a:latin typeface="PingFang SC"/>
              </a:rPr>
              <a:t>UDP</a:t>
            </a:r>
            <a:r>
              <a:rPr lang="zh-CN" altLang="en-US" b="0" i="0" dirty="0">
                <a:solidFill>
                  <a:srgbClr val="333333"/>
                </a:solidFill>
                <a:effectLst/>
                <a:latin typeface="PingFang SC"/>
              </a:rPr>
              <a:t>、不同</a:t>
            </a:r>
            <a:r>
              <a:rPr lang="en-US" altLang="zh-CN" b="0" i="0" dirty="0">
                <a:solidFill>
                  <a:srgbClr val="333333"/>
                </a:solidFill>
                <a:effectLst/>
                <a:latin typeface="PingFang SC"/>
              </a:rPr>
              <a:t>RTT</a:t>
            </a:r>
            <a:r>
              <a:rPr lang="zh-CN" altLang="en-US" b="0" i="0" dirty="0">
                <a:solidFill>
                  <a:srgbClr val="333333"/>
                </a:solidFill>
                <a:effectLst/>
                <a:latin typeface="PingFang SC"/>
              </a:rPr>
              <a:t>的</a:t>
            </a:r>
            <a:r>
              <a:rPr lang="en-US" altLang="zh-CN" b="0" i="0" dirty="0">
                <a:solidFill>
                  <a:srgbClr val="333333"/>
                </a:solidFill>
                <a:effectLst/>
                <a:latin typeface="PingFang SC"/>
              </a:rPr>
              <a:t>TCP</a:t>
            </a:r>
            <a:r>
              <a:rPr lang="zh-CN" altLang="en-US" b="0" i="0" dirty="0">
                <a:solidFill>
                  <a:srgbClr val="333333"/>
                </a:solidFill>
                <a:effectLst/>
                <a:latin typeface="PingFang SC"/>
              </a:rPr>
              <a:t>流）能合理共享带宽</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公平性问题的根源‌：</a:t>
            </a:r>
            <a:r>
              <a:rPr lang="en-US" altLang="zh-CN" b="0" i="0" dirty="0">
                <a:solidFill>
                  <a:srgbClr val="333333"/>
                </a:solidFill>
                <a:effectLst/>
                <a:latin typeface="PingFang SC"/>
              </a:rPr>
              <a:t>1.</a:t>
            </a:r>
            <a:r>
              <a:rPr lang="en-US" altLang="zh-CN" b="1" i="0" dirty="0">
                <a:solidFill>
                  <a:srgbClr val="333333"/>
                </a:solidFill>
                <a:effectLst/>
                <a:latin typeface="PingFang SC"/>
              </a:rPr>
              <a:t>RTT</a:t>
            </a:r>
            <a:r>
              <a:rPr lang="zh-CN" altLang="en-US" b="1" i="0" dirty="0">
                <a:solidFill>
                  <a:srgbClr val="333333"/>
                </a:solidFill>
                <a:effectLst/>
                <a:latin typeface="PingFang SC"/>
              </a:rPr>
              <a:t>差异</a:t>
            </a:r>
            <a:r>
              <a:rPr lang="zh-CN" altLang="en-US" b="0" i="0" dirty="0">
                <a:solidFill>
                  <a:srgbClr val="333333"/>
                </a:solidFill>
                <a:effectLst/>
                <a:latin typeface="PingFang SC"/>
              </a:rPr>
              <a:t>‌，</a:t>
            </a:r>
            <a:r>
              <a:rPr lang="en-US" altLang="zh-CN" b="0" i="0" dirty="0">
                <a:solidFill>
                  <a:srgbClr val="333333"/>
                </a:solidFill>
                <a:effectLst/>
                <a:latin typeface="PingFang SC"/>
              </a:rPr>
              <a:t>AIMD</a:t>
            </a:r>
            <a:r>
              <a:rPr lang="zh-CN" altLang="en-US" b="0" i="0" dirty="0">
                <a:solidFill>
                  <a:srgbClr val="333333"/>
                </a:solidFill>
                <a:effectLst/>
                <a:latin typeface="PingFang SC"/>
              </a:rPr>
              <a:t>类算法（如</a:t>
            </a:r>
            <a:r>
              <a:rPr lang="en-US" altLang="zh-CN" b="0" i="0" dirty="0">
                <a:solidFill>
                  <a:srgbClr val="333333"/>
                </a:solidFill>
                <a:effectLst/>
                <a:latin typeface="PingFang SC"/>
              </a:rPr>
              <a:t>Reno</a:t>
            </a:r>
            <a:r>
              <a:rPr lang="zh-CN" altLang="en-US" b="0" i="0" dirty="0">
                <a:solidFill>
                  <a:srgbClr val="333333"/>
                </a:solidFill>
                <a:effectLst/>
                <a:latin typeface="PingFang SC"/>
              </a:rPr>
              <a:t>）中，</a:t>
            </a:r>
            <a:r>
              <a:rPr lang="en-US" altLang="zh-CN" b="0" i="0" dirty="0">
                <a:solidFill>
                  <a:srgbClr val="333333"/>
                </a:solidFill>
                <a:effectLst/>
                <a:latin typeface="PingFang SC"/>
              </a:rPr>
              <a:t>RTT</a:t>
            </a:r>
            <a:r>
              <a:rPr lang="zh-CN" altLang="en-US" b="0" i="0" dirty="0">
                <a:solidFill>
                  <a:srgbClr val="333333"/>
                </a:solidFill>
                <a:effectLst/>
                <a:latin typeface="PingFang SC"/>
              </a:rPr>
              <a:t>小的流因窗口增长更快，占用更多带宽；</a:t>
            </a:r>
            <a:r>
              <a:rPr lang="en-US" altLang="zh-CN" b="0" i="0" dirty="0">
                <a:solidFill>
                  <a:srgbClr val="333333"/>
                </a:solidFill>
                <a:effectLst/>
                <a:latin typeface="PingFang SC"/>
              </a:rPr>
              <a:t>2.</a:t>
            </a:r>
            <a:r>
              <a:rPr lang="zh-CN" altLang="en-US" b="1" i="0" dirty="0">
                <a:solidFill>
                  <a:srgbClr val="333333"/>
                </a:solidFill>
                <a:effectLst/>
                <a:latin typeface="PingFang SC"/>
              </a:rPr>
              <a:t>窗口与</a:t>
            </a:r>
            <a:r>
              <a:rPr lang="en-US" altLang="zh-CN" b="1" i="0" dirty="0">
                <a:solidFill>
                  <a:srgbClr val="333333"/>
                </a:solidFill>
                <a:effectLst/>
                <a:latin typeface="PingFang SC"/>
              </a:rPr>
              <a:t>MSS</a:t>
            </a:r>
            <a:r>
              <a:rPr lang="zh-CN" altLang="en-US" b="1" i="0" dirty="0">
                <a:solidFill>
                  <a:srgbClr val="333333"/>
                </a:solidFill>
                <a:effectLst/>
                <a:latin typeface="PingFang SC"/>
              </a:rPr>
              <a:t>影响</a:t>
            </a:r>
            <a:r>
              <a:rPr lang="zh-CN" altLang="en-US" b="0" i="0" dirty="0">
                <a:solidFill>
                  <a:srgbClr val="333333"/>
                </a:solidFill>
                <a:effectLst/>
                <a:latin typeface="PingFang SC"/>
              </a:rPr>
              <a:t>，大窗口或大</a:t>
            </a:r>
            <a:r>
              <a:rPr lang="en-US" altLang="zh-CN" b="0" i="0" dirty="0">
                <a:solidFill>
                  <a:srgbClr val="333333"/>
                </a:solidFill>
                <a:effectLst/>
                <a:latin typeface="PingFang SC"/>
              </a:rPr>
              <a:t>MSS</a:t>
            </a:r>
            <a:r>
              <a:rPr lang="zh-CN" altLang="en-US" b="0" i="0" dirty="0">
                <a:solidFill>
                  <a:srgbClr val="333333"/>
                </a:solidFill>
                <a:effectLst/>
                <a:latin typeface="PingFang SC"/>
              </a:rPr>
              <a:t>的流在拥塞时更具优势，加剧资源分配不均；</a:t>
            </a:r>
            <a:r>
              <a:rPr lang="en-US" altLang="zh-CN" b="0" i="0" dirty="0">
                <a:solidFill>
                  <a:srgbClr val="333333"/>
                </a:solidFill>
                <a:effectLst/>
                <a:latin typeface="PingFang SC"/>
              </a:rPr>
              <a:t>3.</a:t>
            </a:r>
            <a:r>
              <a:rPr lang="zh-CN" altLang="en-US" b="1" i="0" dirty="0">
                <a:solidFill>
                  <a:srgbClr val="333333"/>
                </a:solidFill>
                <a:effectLst/>
                <a:latin typeface="PingFang SC"/>
              </a:rPr>
              <a:t>协议差异</a:t>
            </a:r>
            <a:r>
              <a:rPr lang="zh-CN" altLang="en-US" b="0" i="0" dirty="0">
                <a:solidFill>
                  <a:srgbClr val="333333"/>
                </a:solidFill>
                <a:effectLst/>
                <a:latin typeface="PingFang SC"/>
              </a:rPr>
              <a:t>，</a:t>
            </a:r>
            <a:r>
              <a:rPr lang="en-US" altLang="zh-CN" b="0" i="0" dirty="0">
                <a:solidFill>
                  <a:srgbClr val="333333"/>
                </a:solidFill>
                <a:effectLst/>
                <a:latin typeface="PingFang SC"/>
              </a:rPr>
              <a:t>TCP</a:t>
            </a:r>
            <a:r>
              <a:rPr lang="zh-CN" altLang="en-US" b="0" i="0" dirty="0">
                <a:solidFill>
                  <a:srgbClr val="333333"/>
                </a:solidFill>
                <a:effectLst/>
                <a:latin typeface="PingFang SC"/>
              </a:rPr>
              <a:t>与无拥塞控制的</a:t>
            </a:r>
            <a:r>
              <a:rPr lang="en-US" altLang="zh-CN" b="0" i="0" dirty="0">
                <a:solidFill>
                  <a:srgbClr val="333333"/>
                </a:solidFill>
                <a:effectLst/>
                <a:latin typeface="PingFang SC"/>
              </a:rPr>
              <a:t>UDP</a:t>
            </a:r>
            <a:r>
              <a:rPr lang="zh-CN" altLang="en-US" b="0" i="0" dirty="0">
                <a:solidFill>
                  <a:srgbClr val="333333"/>
                </a:solidFill>
                <a:effectLst/>
                <a:latin typeface="PingFang SC"/>
              </a:rPr>
              <a:t>竞争时，</a:t>
            </a:r>
            <a:r>
              <a:rPr lang="en-US" altLang="zh-CN" b="0" i="0" dirty="0">
                <a:solidFill>
                  <a:srgbClr val="333333"/>
                </a:solidFill>
                <a:effectLst/>
                <a:latin typeface="PingFang SC"/>
              </a:rPr>
              <a:t>TCP</a:t>
            </a:r>
            <a:r>
              <a:rPr lang="zh-CN" altLang="en-US" b="0" i="0" dirty="0">
                <a:solidFill>
                  <a:srgbClr val="333333"/>
                </a:solidFill>
                <a:effectLst/>
                <a:latin typeface="PingFang SC"/>
              </a:rPr>
              <a:t>流可能因主动降速被</a:t>
            </a:r>
            <a:r>
              <a:rPr lang="en-US" altLang="zh-CN" b="0" i="0" dirty="0">
                <a:solidFill>
                  <a:srgbClr val="333333"/>
                </a:solidFill>
                <a:effectLst/>
                <a:latin typeface="PingFang SC"/>
              </a:rPr>
              <a:t>UDP</a:t>
            </a:r>
            <a:r>
              <a:rPr lang="zh-CN" altLang="en-US" b="0" i="0" dirty="0">
                <a:solidFill>
                  <a:srgbClr val="333333"/>
                </a:solidFill>
                <a:effectLst/>
                <a:latin typeface="PingFang SC"/>
              </a:rPr>
              <a:t>挤出</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典型算法对公平性的影响：</a:t>
            </a:r>
            <a:r>
              <a:rPr lang="en-US" altLang="zh-CN" b="0" i="0" dirty="0">
                <a:solidFill>
                  <a:srgbClr val="333333"/>
                </a:solidFill>
                <a:effectLst/>
                <a:latin typeface="PingFang SC"/>
              </a:rPr>
              <a:t>1.</a:t>
            </a:r>
            <a:r>
              <a:rPr lang="en-US" altLang="zh-CN" b="1" i="0" dirty="0">
                <a:solidFill>
                  <a:srgbClr val="333333"/>
                </a:solidFill>
                <a:effectLst/>
                <a:latin typeface="PingFang SC"/>
              </a:rPr>
              <a:t>AIMD</a:t>
            </a:r>
            <a:r>
              <a:rPr lang="zh-CN" altLang="en-US" b="1" i="0" dirty="0">
                <a:solidFill>
                  <a:srgbClr val="333333"/>
                </a:solidFill>
                <a:effectLst/>
                <a:latin typeface="PingFang SC"/>
              </a:rPr>
              <a:t>（如</a:t>
            </a:r>
            <a:r>
              <a:rPr lang="en-US" altLang="zh-CN" b="1" i="0" dirty="0">
                <a:solidFill>
                  <a:srgbClr val="333333"/>
                </a:solidFill>
                <a:effectLst/>
                <a:latin typeface="PingFang SC"/>
              </a:rPr>
              <a:t>Reno</a:t>
            </a:r>
            <a:r>
              <a:rPr lang="zh-CN" altLang="en-US" b="1" i="0" dirty="0">
                <a:solidFill>
                  <a:srgbClr val="333333"/>
                </a:solidFill>
                <a:effectLst/>
                <a:latin typeface="PingFang SC"/>
              </a:rPr>
              <a:t>）</a:t>
            </a:r>
            <a:r>
              <a:rPr lang="en-US" altLang="zh-CN" b="0" i="0" dirty="0">
                <a:solidFill>
                  <a:srgbClr val="333333"/>
                </a:solidFill>
                <a:effectLst/>
                <a:latin typeface="PingFang SC"/>
              </a:rPr>
              <a:t>‌</a:t>
            </a:r>
            <a:r>
              <a:rPr lang="zh-CN" altLang="en-US" b="0" i="0" dirty="0">
                <a:solidFill>
                  <a:srgbClr val="333333"/>
                </a:solidFill>
                <a:effectLst/>
                <a:latin typeface="PingFang SC"/>
              </a:rPr>
              <a:t>，线性增长导致</a:t>
            </a:r>
            <a:r>
              <a:rPr lang="en-US" altLang="zh-CN" b="0" i="0" dirty="0">
                <a:solidFill>
                  <a:srgbClr val="333333"/>
                </a:solidFill>
                <a:effectLst/>
                <a:latin typeface="PingFang SC"/>
              </a:rPr>
              <a:t>RTT</a:t>
            </a:r>
            <a:r>
              <a:rPr lang="zh-CN" altLang="en-US" b="0" i="0" dirty="0">
                <a:solidFill>
                  <a:srgbClr val="333333"/>
                </a:solidFill>
                <a:effectLst/>
                <a:latin typeface="PingFang SC"/>
              </a:rPr>
              <a:t>小的流带宽占比更高，乘法减少加剧竞争劣势‌；</a:t>
            </a:r>
            <a:r>
              <a:rPr lang="en-US" altLang="zh-CN" b="0" i="0" dirty="0">
                <a:solidFill>
                  <a:srgbClr val="333333"/>
                </a:solidFill>
                <a:effectLst/>
                <a:latin typeface="PingFang SC"/>
              </a:rPr>
              <a:t>2.</a:t>
            </a:r>
            <a:r>
              <a:rPr lang="en-US" altLang="zh-CN" b="1" i="0" dirty="0">
                <a:solidFill>
                  <a:srgbClr val="333333"/>
                </a:solidFill>
                <a:effectLst/>
                <a:latin typeface="PingFang SC"/>
              </a:rPr>
              <a:t>Cubic</a:t>
            </a:r>
            <a:r>
              <a:rPr lang="zh-CN" altLang="en-US" b="0" i="0" dirty="0">
                <a:solidFill>
                  <a:srgbClr val="333333"/>
                </a:solidFill>
                <a:effectLst/>
                <a:latin typeface="PingFang SC"/>
              </a:rPr>
              <a:t>‌：通过非线性函数调整窗口，减少</a:t>
            </a:r>
            <a:r>
              <a:rPr lang="en-US" altLang="zh-CN" b="0" i="0" dirty="0">
                <a:solidFill>
                  <a:srgbClr val="333333"/>
                </a:solidFill>
                <a:effectLst/>
                <a:latin typeface="PingFang SC"/>
              </a:rPr>
              <a:t>RTT</a:t>
            </a:r>
            <a:r>
              <a:rPr lang="zh-CN" altLang="en-US" b="0" i="0" dirty="0">
                <a:solidFill>
                  <a:srgbClr val="333333"/>
                </a:solidFill>
                <a:effectLst/>
                <a:latin typeface="PingFang SC"/>
              </a:rPr>
              <a:t>影响，但高</a:t>
            </a:r>
            <a:r>
              <a:rPr lang="en-US" altLang="zh-CN" b="0" i="0" dirty="0">
                <a:solidFill>
                  <a:srgbClr val="333333"/>
                </a:solidFill>
                <a:effectLst/>
                <a:latin typeface="PingFang SC"/>
              </a:rPr>
              <a:t>BDP</a:t>
            </a:r>
            <a:r>
              <a:rPr lang="zh-CN" altLang="en-US" b="0" i="0" dirty="0">
                <a:solidFill>
                  <a:srgbClr val="333333"/>
                </a:solidFill>
                <a:effectLst/>
                <a:latin typeface="PingFang SC"/>
              </a:rPr>
              <a:t>网络中仍存在公平性争议‌；</a:t>
            </a:r>
            <a:r>
              <a:rPr lang="en-US" altLang="zh-CN" b="0" i="0" dirty="0">
                <a:solidFill>
                  <a:srgbClr val="333333"/>
                </a:solidFill>
                <a:effectLst/>
                <a:latin typeface="PingFang SC"/>
              </a:rPr>
              <a:t>3.</a:t>
            </a:r>
            <a:r>
              <a:rPr lang="zh-CN" altLang="en-US" b="1" i="0" dirty="0">
                <a:solidFill>
                  <a:srgbClr val="333333"/>
                </a:solidFill>
                <a:effectLst/>
                <a:latin typeface="PingFang SC"/>
              </a:rPr>
              <a:t> </a:t>
            </a:r>
            <a:r>
              <a:rPr lang="en-US" altLang="zh-CN" b="1" i="0" dirty="0">
                <a:solidFill>
                  <a:srgbClr val="333333"/>
                </a:solidFill>
                <a:effectLst/>
                <a:latin typeface="PingFang SC"/>
              </a:rPr>
              <a:t>BBR</a:t>
            </a:r>
            <a:r>
              <a:rPr lang="zh-CN" altLang="en-US" b="0" i="0" dirty="0">
                <a:solidFill>
                  <a:srgbClr val="333333"/>
                </a:solidFill>
                <a:effectLst/>
                <a:latin typeface="PingFang SC"/>
              </a:rPr>
              <a:t>‌：基于带宽和</a:t>
            </a:r>
            <a:r>
              <a:rPr lang="en-US" altLang="zh-CN" b="0" i="0" dirty="0">
                <a:solidFill>
                  <a:srgbClr val="333333"/>
                </a:solidFill>
                <a:effectLst/>
                <a:latin typeface="PingFang SC"/>
              </a:rPr>
              <a:t>RTT</a:t>
            </a:r>
            <a:r>
              <a:rPr lang="zh-CN" altLang="en-US" b="0" i="0" dirty="0">
                <a:solidFill>
                  <a:srgbClr val="333333"/>
                </a:solidFill>
                <a:effectLst/>
                <a:latin typeface="PingFang SC"/>
              </a:rPr>
              <a:t>建模，主动探测瓶颈，理论上与</a:t>
            </a:r>
            <a:r>
              <a:rPr lang="en-US" altLang="zh-CN" b="0" i="0" dirty="0">
                <a:solidFill>
                  <a:srgbClr val="333333"/>
                </a:solidFill>
                <a:effectLst/>
                <a:latin typeface="PingFang SC"/>
              </a:rPr>
              <a:t>RTT</a:t>
            </a:r>
            <a:r>
              <a:rPr lang="zh-CN" altLang="en-US" b="0" i="0" dirty="0">
                <a:solidFill>
                  <a:srgbClr val="333333"/>
                </a:solidFill>
                <a:effectLst/>
                <a:latin typeface="PingFang SC"/>
              </a:rPr>
              <a:t>无关，但实际部署中可能因抢占缓存引发不公平‌</a:t>
            </a:r>
            <a:br>
              <a:rPr lang="zh-CN" altLang="en-US" b="0" i="0" dirty="0">
                <a:solidFill>
                  <a:srgbClr val="333333"/>
                </a:solidFill>
                <a:effectLst/>
                <a:latin typeface="PingFang SC"/>
              </a:rPr>
            </a:br>
            <a:br>
              <a:rPr lang="zh-CN" altLang="en-US" b="0" i="0" dirty="0">
                <a:solidFill>
                  <a:srgbClr val="333333"/>
                </a:solidFill>
                <a:effectLst/>
                <a:latin typeface="PingFang SC"/>
              </a:rPr>
            </a:br>
            <a:endParaRPr lang="zh-CN" altLang="en-US" b="0" i="0" dirty="0">
              <a:solidFill>
                <a:srgbClr val="333333"/>
              </a:solidFill>
              <a:effectLst/>
              <a:latin typeface="PingFang SC"/>
            </a:endParaRPr>
          </a:p>
        </p:txBody>
      </p:sp>
    </p:spTree>
    <p:extLst>
      <p:ext uri="{BB962C8B-B14F-4D97-AF65-F5344CB8AC3E}">
        <p14:creationId xmlns:p14="http://schemas.microsoft.com/office/powerpoint/2010/main" val="161453950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102</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333871360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103</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b="1" i="0" dirty="0">
                <a:solidFill>
                  <a:srgbClr val="333333"/>
                </a:solidFill>
                <a:effectLst/>
                <a:latin typeface="PingFang SC"/>
              </a:rPr>
              <a:t>Cubic</a:t>
            </a:r>
            <a:r>
              <a:rPr lang="zh-CN" altLang="en-US" b="1" i="0" dirty="0">
                <a:solidFill>
                  <a:srgbClr val="333333"/>
                </a:solidFill>
                <a:effectLst/>
                <a:latin typeface="PingFang SC"/>
              </a:rPr>
              <a:t>改进</a:t>
            </a:r>
            <a:r>
              <a:rPr lang="zh-CN" altLang="en-US" b="0" i="0" dirty="0">
                <a:solidFill>
                  <a:srgbClr val="333333"/>
                </a:solidFill>
                <a:effectLst/>
                <a:latin typeface="PingFang SC"/>
              </a:rPr>
              <a:t>‌：通过时间公平性调整窗口增长，削弱</a:t>
            </a:r>
            <a:r>
              <a:rPr lang="en-US" altLang="zh-CN" b="0" i="0" dirty="0">
                <a:solidFill>
                  <a:srgbClr val="333333"/>
                </a:solidFill>
                <a:effectLst/>
                <a:latin typeface="PingFang SC"/>
              </a:rPr>
              <a:t>RTT</a:t>
            </a:r>
            <a:r>
              <a:rPr lang="zh-CN" altLang="en-US" b="0" i="0" dirty="0">
                <a:solidFill>
                  <a:srgbClr val="333333"/>
                </a:solidFill>
                <a:effectLst/>
                <a:latin typeface="PingFang SC"/>
              </a:rPr>
              <a:t>差异影响‌</a:t>
            </a:r>
          </a:p>
          <a:p>
            <a:pPr algn="l">
              <a:buFont typeface="Arial" panose="020B0604020202020204" pitchFamily="34" charset="0"/>
              <a:buNone/>
            </a:pPr>
            <a:r>
              <a:rPr lang="en-US" altLang="zh-CN" b="1" i="0" dirty="0">
                <a:solidFill>
                  <a:srgbClr val="333333"/>
                </a:solidFill>
                <a:effectLst/>
                <a:latin typeface="PingFang SC"/>
              </a:rPr>
              <a:t>BBR</a:t>
            </a:r>
            <a:r>
              <a:rPr lang="zh-CN" altLang="en-US" b="1" i="0" dirty="0">
                <a:solidFill>
                  <a:srgbClr val="333333"/>
                </a:solidFill>
                <a:effectLst/>
                <a:latin typeface="PingFang SC"/>
              </a:rPr>
              <a:t>算法</a:t>
            </a:r>
            <a:r>
              <a:rPr lang="zh-CN" altLang="en-US" b="0" i="0" dirty="0">
                <a:solidFill>
                  <a:srgbClr val="333333"/>
                </a:solidFill>
                <a:effectLst/>
                <a:latin typeface="PingFang SC"/>
              </a:rPr>
              <a:t>‌：基于带宽和</a:t>
            </a:r>
            <a:r>
              <a:rPr lang="en-US" altLang="zh-CN" b="0" i="0" dirty="0">
                <a:solidFill>
                  <a:srgbClr val="333333"/>
                </a:solidFill>
                <a:effectLst/>
                <a:latin typeface="PingFang SC"/>
              </a:rPr>
              <a:t>RTT</a:t>
            </a:r>
            <a:r>
              <a:rPr lang="zh-CN" altLang="en-US" b="0" i="0" dirty="0">
                <a:solidFill>
                  <a:srgbClr val="333333"/>
                </a:solidFill>
                <a:effectLst/>
                <a:latin typeface="PingFang SC"/>
              </a:rPr>
              <a:t>建模，减少对丢包的依赖，提升抗</a:t>
            </a:r>
            <a:r>
              <a:rPr lang="en-US" altLang="zh-CN" b="0" i="0" dirty="0">
                <a:solidFill>
                  <a:srgbClr val="333333"/>
                </a:solidFill>
                <a:effectLst/>
                <a:latin typeface="PingFang SC"/>
              </a:rPr>
              <a:t>UDP</a:t>
            </a:r>
            <a:r>
              <a:rPr lang="zh-CN" altLang="en-US" b="0" i="0" dirty="0">
                <a:solidFill>
                  <a:srgbClr val="333333"/>
                </a:solidFill>
                <a:effectLst/>
                <a:latin typeface="PingFang SC"/>
              </a:rPr>
              <a:t>干扰能力‌</a:t>
            </a:r>
          </a:p>
        </p:txBody>
      </p:sp>
    </p:spTree>
    <p:extLst>
      <p:ext uri="{BB962C8B-B14F-4D97-AF65-F5344CB8AC3E}">
        <p14:creationId xmlns:p14="http://schemas.microsoft.com/office/powerpoint/2010/main" val="245410896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104</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313261717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105</a:t>
            </a:fld>
            <a:endParaRPr lang="en-US" altLang="zh-CN"/>
          </a:p>
        </p:txBody>
      </p:sp>
      <p:sp>
        <p:nvSpPr>
          <p:cNvPr id="176131"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BBR</a:t>
                </a:r>
                <a:r>
                  <a:rPr lang="zh-CN" altLang="en-US" b="0" i="0" dirty="0">
                    <a:solidFill>
                      <a:srgbClr val="333333"/>
                    </a:solidFill>
                    <a:effectLst/>
                    <a:latin typeface="PingFang SC"/>
                  </a:rPr>
                  <a:t>通过主动探测网络瓶颈带宽和最小</a:t>
                </a:r>
                <a:r>
                  <a:rPr lang="en-US" altLang="zh-CN" b="0" i="0" dirty="0">
                    <a:solidFill>
                      <a:srgbClr val="333333"/>
                    </a:solidFill>
                    <a:effectLst/>
                    <a:latin typeface="PingFang SC"/>
                  </a:rPr>
                  <a:t>RTT</a:t>
                </a:r>
                <a:r>
                  <a:rPr lang="zh-CN" altLang="en-US" b="0" i="0" dirty="0">
                    <a:solidFill>
                      <a:srgbClr val="333333"/>
                    </a:solidFill>
                    <a:effectLst/>
                    <a:latin typeface="PingFang SC"/>
                  </a:rPr>
                  <a:t>，实现高吞吐量与低时延的平衡‌</a:t>
                </a:r>
                <a:endParaRPr lang="en-US" altLang="zh-CN" b="0" i="0" dirty="0">
                  <a:solidFill>
                    <a:srgbClr val="333333"/>
                  </a:solidFill>
                  <a:effectLst/>
                  <a:latin typeface="PingFang SC"/>
                </a:endParaRPr>
              </a:p>
              <a:p>
                <a:r>
                  <a:rPr lang="zh-CN" altLang="en-US" b="0" i="0" dirty="0">
                    <a:solidFill>
                      <a:srgbClr val="333333"/>
                    </a:solidFill>
                    <a:effectLst/>
                    <a:latin typeface="PingFang SC"/>
                  </a:rPr>
                  <a:t>动态计算即时带宽（</a:t>
                </a:r>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BtlBw</a:t>
                </a:r>
                <a:r>
                  <a:rPr lang="zh-CN" altLang="en-US" b="0" i="0" dirty="0">
                    <a:solidFill>
                      <a:srgbClr val="333333"/>
                    </a:solidFill>
                    <a:effectLst/>
                    <a:latin typeface="PingFang SC"/>
                  </a:rPr>
                  <a:t>）和最小</a:t>
                </a:r>
                <a:r>
                  <a:rPr lang="en-US" altLang="zh-CN" b="0" i="0" dirty="0">
                    <a:solidFill>
                      <a:srgbClr val="333333"/>
                    </a:solidFill>
                    <a:effectLst/>
                    <a:latin typeface="PingFang SC"/>
                  </a:rPr>
                  <a:t>RTT</a:t>
                </a:r>
                <a:r>
                  <a:rPr lang="zh-CN" altLang="en-US" b="0" i="0" dirty="0">
                    <a:solidFill>
                      <a:srgbClr val="333333"/>
                    </a:solidFill>
                    <a:effectLst/>
                    <a:latin typeface="PingFang SC"/>
                  </a:rPr>
                  <a:t>（</a:t>
                </a:r>
                <a14:m>
                  <m:oMath xmlns:m="http://schemas.openxmlformats.org/officeDocument/2006/math">
                    <m:r>
                      <a:rPr lang="en-US" altLang="zh-CN" sz="1200" i="1" smtClean="0">
                        <a:latin typeface="Cambria Math" panose="02040503050406030204" pitchFamily="18" charset="0"/>
                        <a:ea typeface="Cambria Math" panose="02040503050406030204" pitchFamily="18" charset="0"/>
                      </a:rPr>
                      <m:t>𝑅𝑇𝑝𝑟𝑜𝑝</m:t>
                    </m:r>
                  </m:oMath>
                </a14:m>
                <a:r>
                  <a:rPr lang="zh-CN" altLang="en-US" b="0" i="0" dirty="0">
                    <a:solidFill>
                      <a:srgbClr val="333333"/>
                    </a:solidFill>
                    <a:effectLst/>
                    <a:latin typeface="PingFang SC"/>
                  </a:rPr>
                  <a:t>），通过两者乘积确定</a:t>
                </a:r>
                <a:r>
                  <a:rPr lang="en-US" altLang="zh-CN" b="0" i="0" dirty="0">
                    <a:solidFill>
                      <a:srgbClr val="333333"/>
                    </a:solidFill>
                    <a:effectLst/>
                    <a:latin typeface="PingFang SC"/>
                  </a:rPr>
                  <a:t>BDP</a:t>
                </a:r>
                <a:r>
                  <a:rPr lang="zh-CN" altLang="en-US" b="0" i="0" dirty="0">
                    <a:solidFill>
                      <a:srgbClr val="333333"/>
                    </a:solidFill>
                    <a:effectLst/>
                    <a:latin typeface="PingFang SC"/>
                  </a:rPr>
                  <a:t>（带宽时延积）作为传输上限‌</a:t>
                </a:r>
                <a:br>
                  <a:rPr lang="zh-CN" altLang="en-US" b="0" i="0" dirty="0">
                    <a:solidFill>
                      <a:srgbClr val="333333"/>
                    </a:solidFill>
                    <a:effectLst/>
                    <a:latin typeface="PingFang SC"/>
                  </a:rPr>
                </a:br>
                <a:r>
                  <a:rPr lang="zh-CN" altLang="en-US" b="0" i="0" dirty="0">
                    <a:solidFill>
                      <a:srgbClr val="333333"/>
                    </a:solidFill>
                    <a:effectLst/>
                    <a:latin typeface="PingFang SC"/>
                  </a:rPr>
                  <a:t>相比</a:t>
                </a:r>
                <a:r>
                  <a:rPr lang="en-US" altLang="zh-CN" b="0" i="0" dirty="0">
                    <a:solidFill>
                      <a:srgbClr val="333333"/>
                    </a:solidFill>
                    <a:effectLst/>
                    <a:latin typeface="PingFang SC"/>
                  </a:rPr>
                  <a:t>Cubic</a:t>
                </a:r>
                <a:r>
                  <a:rPr lang="zh-CN" altLang="en-US" b="0" i="0" dirty="0">
                    <a:solidFill>
                      <a:srgbClr val="333333"/>
                    </a:solidFill>
                    <a:effectLst/>
                    <a:latin typeface="PingFang SC"/>
                  </a:rPr>
                  <a:t>依赖丢包信号，</a:t>
                </a:r>
                <a:r>
                  <a:rPr lang="en-US" altLang="zh-CN" b="0" i="0" dirty="0">
                    <a:solidFill>
                      <a:srgbClr val="333333"/>
                    </a:solidFill>
                    <a:effectLst/>
                    <a:latin typeface="PingFang SC"/>
                  </a:rPr>
                  <a:t>BBR</a:t>
                </a:r>
                <a:r>
                  <a:rPr lang="zh-CN" altLang="en-US" b="0" i="0" dirty="0">
                    <a:solidFill>
                      <a:srgbClr val="333333"/>
                    </a:solidFill>
                    <a:effectLst/>
                    <a:latin typeface="PingFang SC"/>
                  </a:rPr>
                  <a:t>通过周期性探测（如</a:t>
                </a:r>
                <a:r>
                  <a:rPr lang="en-US" altLang="zh-CN" dirty="0"/>
                  <a:t>PROBE_BW</a:t>
                </a:r>
                <a:r>
                  <a:rPr lang="zh-CN" altLang="en-US" b="0" i="0" dirty="0">
                    <a:solidFill>
                      <a:srgbClr val="333333"/>
                    </a:solidFill>
                    <a:effectLst/>
                    <a:latin typeface="PingFang SC"/>
                  </a:rPr>
                  <a:t>状态）主动优化速率‌</a:t>
                </a:r>
                <a:endParaRPr lang="zh-CN" altLang="zh-CN" dirty="0"/>
              </a:p>
            </p:txBody>
          </p:sp>
        </mc:Choice>
        <mc:Fallback xmlns="">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BBR</a:t>
                </a:r>
                <a:r>
                  <a:rPr lang="zh-CN" altLang="en-US" b="0" i="0" dirty="0">
                    <a:solidFill>
                      <a:srgbClr val="333333"/>
                    </a:solidFill>
                    <a:effectLst/>
                    <a:latin typeface="PingFang SC"/>
                  </a:rPr>
                  <a:t>通过主动探测网络瓶颈带宽和最小</a:t>
                </a:r>
                <a:r>
                  <a:rPr lang="en-US" altLang="zh-CN" b="0" i="0" dirty="0">
                    <a:solidFill>
                      <a:srgbClr val="333333"/>
                    </a:solidFill>
                    <a:effectLst/>
                    <a:latin typeface="PingFang SC"/>
                  </a:rPr>
                  <a:t>RTT</a:t>
                </a:r>
                <a:r>
                  <a:rPr lang="zh-CN" altLang="en-US" b="0" i="0" dirty="0">
                    <a:solidFill>
                      <a:srgbClr val="333333"/>
                    </a:solidFill>
                    <a:effectLst/>
                    <a:latin typeface="PingFang SC"/>
                  </a:rPr>
                  <a:t>，实现高吞吐量与低时延的平衡‌</a:t>
                </a:r>
                <a:endParaRPr lang="en-US" altLang="zh-CN" b="0" i="0" dirty="0">
                  <a:solidFill>
                    <a:srgbClr val="333333"/>
                  </a:solidFill>
                  <a:effectLst/>
                  <a:latin typeface="PingFang SC"/>
                </a:endParaRPr>
              </a:p>
              <a:p>
                <a:r>
                  <a:rPr lang="zh-CN" altLang="en-US" b="0" i="0" dirty="0">
                    <a:solidFill>
                      <a:srgbClr val="333333"/>
                    </a:solidFill>
                    <a:effectLst/>
                    <a:latin typeface="PingFang SC"/>
                  </a:rPr>
                  <a:t>动态计算即时带宽（</a:t>
                </a:r>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BtlBw</a:t>
                </a:r>
                <a:r>
                  <a:rPr lang="zh-CN" altLang="en-US" b="0" i="0" dirty="0">
                    <a:solidFill>
                      <a:srgbClr val="333333"/>
                    </a:solidFill>
                    <a:effectLst/>
                    <a:latin typeface="PingFang SC"/>
                  </a:rPr>
                  <a:t>）和最小</a:t>
                </a:r>
                <a:r>
                  <a:rPr lang="en-US" altLang="zh-CN" b="0" i="0" dirty="0">
                    <a:solidFill>
                      <a:srgbClr val="333333"/>
                    </a:solidFill>
                    <a:effectLst/>
                    <a:latin typeface="PingFang SC"/>
                  </a:rPr>
                  <a:t>RTT</a:t>
                </a:r>
                <a:r>
                  <a:rPr lang="zh-CN" altLang="en-US" b="0" i="0" dirty="0">
                    <a:solidFill>
                      <a:srgbClr val="333333"/>
                    </a:solidFill>
                    <a:effectLst/>
                    <a:latin typeface="PingFang SC"/>
                  </a:rPr>
                  <a:t>（</a:t>
                </a:r>
                <a:r>
                  <a:rPr lang="en-US" altLang="zh-CN" sz="1200" i="0">
                    <a:latin typeface="Cambria Math" panose="02040503050406030204" pitchFamily="18" charset="0"/>
                    <a:ea typeface="Cambria Math" panose="02040503050406030204" pitchFamily="18" charset="0"/>
                  </a:rPr>
                  <a:t>𝑅𝑇𝑝𝑟𝑜𝑝</a:t>
                </a:r>
                <a:r>
                  <a:rPr lang="zh-CN" altLang="en-US" b="0" i="0" dirty="0">
                    <a:solidFill>
                      <a:srgbClr val="333333"/>
                    </a:solidFill>
                    <a:effectLst/>
                    <a:latin typeface="PingFang SC"/>
                  </a:rPr>
                  <a:t>），通过两者乘积确定</a:t>
                </a:r>
                <a:r>
                  <a:rPr lang="en-US" altLang="zh-CN" b="0" i="0" dirty="0">
                    <a:solidFill>
                      <a:srgbClr val="333333"/>
                    </a:solidFill>
                    <a:effectLst/>
                    <a:latin typeface="PingFang SC"/>
                  </a:rPr>
                  <a:t>BDP</a:t>
                </a:r>
                <a:r>
                  <a:rPr lang="zh-CN" altLang="en-US" b="0" i="0" dirty="0">
                    <a:solidFill>
                      <a:srgbClr val="333333"/>
                    </a:solidFill>
                    <a:effectLst/>
                    <a:latin typeface="PingFang SC"/>
                  </a:rPr>
                  <a:t>（带宽时延积）作为传输上限‌</a:t>
                </a:r>
                <a:br>
                  <a:rPr lang="zh-CN" altLang="en-US" b="0" i="0" dirty="0">
                    <a:solidFill>
                      <a:srgbClr val="333333"/>
                    </a:solidFill>
                    <a:effectLst/>
                    <a:latin typeface="PingFang SC"/>
                  </a:rPr>
                </a:br>
                <a:r>
                  <a:rPr lang="zh-CN" altLang="en-US" b="0" i="0" dirty="0">
                    <a:solidFill>
                      <a:srgbClr val="333333"/>
                    </a:solidFill>
                    <a:effectLst/>
                    <a:latin typeface="PingFang SC"/>
                  </a:rPr>
                  <a:t>相比</a:t>
                </a:r>
                <a:r>
                  <a:rPr lang="en-US" altLang="zh-CN" b="0" i="0" dirty="0">
                    <a:solidFill>
                      <a:srgbClr val="333333"/>
                    </a:solidFill>
                    <a:effectLst/>
                    <a:latin typeface="PingFang SC"/>
                  </a:rPr>
                  <a:t>Cubic</a:t>
                </a:r>
                <a:r>
                  <a:rPr lang="zh-CN" altLang="en-US" b="0" i="0" dirty="0">
                    <a:solidFill>
                      <a:srgbClr val="333333"/>
                    </a:solidFill>
                    <a:effectLst/>
                    <a:latin typeface="PingFang SC"/>
                  </a:rPr>
                  <a:t>依赖丢包信号，</a:t>
                </a:r>
                <a:r>
                  <a:rPr lang="en-US" altLang="zh-CN" b="0" i="0" dirty="0">
                    <a:solidFill>
                      <a:srgbClr val="333333"/>
                    </a:solidFill>
                    <a:effectLst/>
                    <a:latin typeface="PingFang SC"/>
                  </a:rPr>
                  <a:t>BBR</a:t>
                </a:r>
                <a:r>
                  <a:rPr lang="zh-CN" altLang="en-US" b="0" i="0" dirty="0">
                    <a:solidFill>
                      <a:srgbClr val="333333"/>
                    </a:solidFill>
                    <a:effectLst/>
                    <a:latin typeface="PingFang SC"/>
                  </a:rPr>
                  <a:t>通过周期性探测（如</a:t>
                </a:r>
                <a:r>
                  <a:rPr lang="en-US" altLang="zh-CN" dirty="0"/>
                  <a:t>PROBE_BW</a:t>
                </a:r>
                <a:r>
                  <a:rPr lang="zh-CN" altLang="en-US" b="0" i="0" dirty="0">
                    <a:solidFill>
                      <a:srgbClr val="333333"/>
                    </a:solidFill>
                    <a:effectLst/>
                    <a:latin typeface="PingFang SC"/>
                  </a:rPr>
                  <a:t>状态）主动优化速率‌</a:t>
                </a:r>
                <a:endParaRPr lang="zh-CN" altLang="zh-CN" dirty="0"/>
              </a:p>
            </p:txBody>
          </p:sp>
        </mc:Fallback>
      </mc:AlternateContent>
    </p:spTree>
    <p:extLst>
      <p:ext uri="{BB962C8B-B14F-4D97-AF65-F5344CB8AC3E}">
        <p14:creationId xmlns:p14="http://schemas.microsoft.com/office/powerpoint/2010/main" val="131371374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106</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en-US" altLang="zh-CN" b="0" i="0" dirty="0">
                <a:solidFill>
                  <a:srgbClr val="333333"/>
                </a:solidFill>
                <a:effectLst/>
                <a:latin typeface="pingfang SC"/>
              </a:rPr>
              <a:t>1.</a:t>
            </a:r>
            <a:r>
              <a:rPr lang="zh-CN" altLang="en-US" b="0" i="0" dirty="0">
                <a:solidFill>
                  <a:srgbClr val="333333"/>
                </a:solidFill>
                <a:effectLst/>
                <a:latin typeface="pingfang SC"/>
              </a:rPr>
              <a:t>应用限制阶段：</a:t>
            </a:r>
            <a:r>
              <a:rPr lang="en-US" altLang="zh-CN" b="0" i="0" dirty="0">
                <a:solidFill>
                  <a:srgbClr val="333333"/>
                </a:solidFill>
                <a:effectLst/>
                <a:latin typeface="pingfang SC"/>
              </a:rPr>
              <a:t>RTT</a:t>
            </a:r>
            <a:r>
              <a:rPr lang="zh-CN" altLang="en-US" b="0" i="0" dirty="0">
                <a:solidFill>
                  <a:srgbClr val="333333"/>
                </a:solidFill>
                <a:effectLst/>
                <a:latin typeface="pingfang SC"/>
              </a:rPr>
              <a:t>不变，随着应用程序开始发送大文件，传输速率直线上升</a:t>
            </a:r>
            <a:endParaRPr lang="en-US" altLang="zh-CN" b="0" i="0" dirty="0">
              <a:solidFill>
                <a:srgbClr val="333333"/>
              </a:solidFill>
              <a:effectLst/>
              <a:latin typeface="pingfang SC"/>
            </a:endParaRPr>
          </a:p>
          <a:p>
            <a:r>
              <a:rPr lang="en-US" altLang="zh-CN" b="0" i="0" dirty="0">
                <a:solidFill>
                  <a:srgbClr val="333333"/>
                </a:solidFill>
                <a:effectLst/>
                <a:latin typeface="pingfang SC"/>
              </a:rPr>
              <a:t>2.BDP</a:t>
            </a:r>
            <a:r>
              <a:rPr lang="zh-CN" altLang="en-US" b="0" i="0" dirty="0">
                <a:solidFill>
                  <a:srgbClr val="333333"/>
                </a:solidFill>
                <a:effectLst/>
                <a:latin typeface="pingfang SC"/>
              </a:rPr>
              <a:t>限制阶段：</a:t>
            </a:r>
            <a:r>
              <a:rPr lang="en-US" altLang="zh-CN" b="0" i="0" dirty="0">
                <a:solidFill>
                  <a:srgbClr val="333333"/>
                </a:solidFill>
                <a:effectLst/>
                <a:latin typeface="pingfang SC"/>
              </a:rPr>
              <a:t>RTT</a:t>
            </a:r>
            <a:r>
              <a:rPr lang="zh-CN" altLang="en-US" b="0" i="0" dirty="0">
                <a:solidFill>
                  <a:srgbClr val="333333"/>
                </a:solidFill>
                <a:effectLst/>
                <a:latin typeface="pingfang SC"/>
              </a:rPr>
              <a:t>开始不断上升，但吞吐量不变，瓶颈路由器已达到上限，缓冲队列正在不断增加</a:t>
            </a:r>
            <a:endParaRPr lang="en-US" altLang="zh-CN" b="0" i="0" dirty="0">
              <a:solidFill>
                <a:srgbClr val="333333"/>
              </a:solidFill>
              <a:effectLst/>
              <a:latin typeface="pingfang SC"/>
            </a:endParaRPr>
          </a:p>
          <a:p>
            <a:r>
              <a:rPr lang="en-US" altLang="zh-CN" b="0" i="0" dirty="0">
                <a:solidFill>
                  <a:srgbClr val="333333"/>
                </a:solidFill>
                <a:effectLst/>
                <a:latin typeface="pingfang SC"/>
              </a:rPr>
              <a:t>3.</a:t>
            </a:r>
            <a:r>
              <a:rPr lang="zh-CN" altLang="en-US" b="0" i="0" dirty="0">
                <a:solidFill>
                  <a:srgbClr val="333333"/>
                </a:solidFill>
                <a:effectLst/>
                <a:latin typeface="pingfang SC"/>
              </a:rPr>
              <a:t>缓存限制阶段：瓶颈路由器开始大量丢包</a:t>
            </a:r>
            <a:endParaRPr lang="zh-CN" altLang="zh-CN" dirty="0"/>
          </a:p>
        </p:txBody>
      </p:sp>
    </p:spTree>
    <p:extLst>
      <p:ext uri="{BB962C8B-B14F-4D97-AF65-F5344CB8AC3E}">
        <p14:creationId xmlns:p14="http://schemas.microsoft.com/office/powerpoint/2010/main" val="42063046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107</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19384822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108</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dirty="0"/>
          </a:p>
        </p:txBody>
      </p:sp>
    </p:spTree>
    <p:extLst>
      <p:ext uri="{BB962C8B-B14F-4D97-AF65-F5344CB8AC3E}">
        <p14:creationId xmlns:p14="http://schemas.microsoft.com/office/powerpoint/2010/main" val="140374152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BF08431A-FA85-457E-9064-AC779E04DE47}" type="slidenum">
              <a:rPr lang="en-US" altLang="zh-CN" smtClean="0"/>
              <a:pPr/>
              <a:t>109</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endParaRPr lang="zh-CN" altLang="zh-CN"/>
          </a:p>
        </p:txBody>
      </p:sp>
    </p:spTree>
    <p:extLst>
      <p:ext uri="{BB962C8B-B14F-4D97-AF65-F5344CB8AC3E}">
        <p14:creationId xmlns:p14="http://schemas.microsoft.com/office/powerpoint/2010/main" val="26549214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110</a:t>
            </a:fld>
            <a:endParaRPr lang="zh-CN" altLang="en-US"/>
          </a:p>
        </p:txBody>
      </p:sp>
    </p:spTree>
    <p:extLst>
      <p:ext uri="{BB962C8B-B14F-4D97-AF65-F5344CB8AC3E}">
        <p14:creationId xmlns:p14="http://schemas.microsoft.com/office/powerpoint/2010/main" val="148776332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5C0E898E-1401-4DDB-B865-CE6AAD04AEFC}" type="slidenum">
              <a:rPr lang="en-US" altLang="zh-CN" smtClean="0"/>
              <a:pPr/>
              <a:t>111</a:t>
            </a:fld>
            <a:endParaRPr lang="en-US" altLang="zh-CN"/>
          </a:p>
        </p:txBody>
      </p:sp>
      <p:sp>
        <p:nvSpPr>
          <p:cNvPr id="189443" name="Rectangle 2"/>
          <p:cNvSpPr>
            <a:spLocks noGrp="1" noRot="1" noChangeAspect="1" noChangeArrowheads="1" noTextEdit="1"/>
          </p:cNvSpPr>
          <p:nvPr>
            <p:ph type="sldImg"/>
          </p:nvPr>
        </p:nvSpPr>
        <p:spPr>
          <a:xfrm>
            <a:off x="992188" y="768350"/>
            <a:ext cx="5114925" cy="3836988"/>
          </a:xfrm>
          <a:ln/>
        </p:spPr>
      </p:sp>
      <p:sp>
        <p:nvSpPr>
          <p:cNvPr id="189444" name="Rectangle 3"/>
          <p:cNvSpPr>
            <a:spLocks noGrp="1" noChangeArrowheads="1"/>
          </p:cNvSpPr>
          <p:nvPr>
            <p:ph type="body" idx="1"/>
          </p:nvPr>
        </p:nvSpPr>
        <p:spPr>
          <a:noFill/>
          <a:ln/>
        </p:spPr>
        <p:txBody>
          <a:bodyPr/>
          <a:lstStyle/>
          <a:p>
            <a:pPr eaLnBrk="1" hangingPunct="1"/>
            <a:endParaRPr lang="zh-CN" altLang="zh-CN" dirty="0"/>
          </a:p>
        </p:txBody>
      </p:sp>
    </p:spTree>
    <p:extLst>
      <p:ext uri="{BB962C8B-B14F-4D97-AF65-F5344CB8AC3E}">
        <p14:creationId xmlns:p14="http://schemas.microsoft.com/office/powerpoint/2010/main" val="12715280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7" name="矩形 6"/>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481761" y="26197"/>
            <a:ext cx="548949" cy="520015"/>
            <a:chOff x="2603366" y="22110"/>
            <a:chExt cx="879202" cy="892290"/>
          </a:xfrm>
        </p:grpSpPr>
        <p:sp>
          <p:nvSpPr>
            <p:cNvPr id="9" name="椭圆 8"/>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p:cNvSpPr txBox="1">
            <a:spLocks/>
          </p:cNvSpPr>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0FA613-B9E4-4FBF-8914-673569737EED}" type="datetime1">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2025/11/12</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p:cNvSpPr txBox="1">
            <a:spLocks/>
          </p:cNvSpPr>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a:extLst>
              <a:ext uri="{FF2B5EF4-FFF2-40B4-BE49-F238E27FC236}">
                <a16:creationId xmlns:a16="http://schemas.microsoft.com/office/drawing/2014/main" id="{80B28F47-0014-4EFB-9109-AE5A4681AFC7}"/>
              </a:ext>
            </a:extLst>
          </p:cNvPr>
          <p:cNvSpPr txBox="1">
            <a:spLocks/>
          </p:cNvSpPr>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399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161925" y="4110038"/>
            <a:ext cx="2057400" cy="648109"/>
          </a:xfrm>
        </p:spPr>
        <p:txBody>
          <a:bodyPr/>
          <a:lstStyle>
            <a:lvl1pPr>
              <a:defRPr>
                <a:solidFill>
                  <a:schemeClr val="bg1"/>
                </a:solidFill>
              </a:defRPr>
            </a:lvl1pPr>
          </a:lstStyle>
          <a:p>
            <a:endParaRPr lang="zh-CN" altLang="en-US"/>
          </a:p>
        </p:txBody>
      </p:sp>
    </p:spTree>
    <p:extLst>
      <p:ext uri="{BB962C8B-B14F-4D97-AF65-F5344CB8AC3E}">
        <p14:creationId xmlns:p14="http://schemas.microsoft.com/office/powerpoint/2010/main" val="3166282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2">
            <a:extLst>
              <a:ext uri="{FF2B5EF4-FFF2-40B4-BE49-F238E27FC236}">
                <a16:creationId xmlns:a16="http://schemas.microsoft.com/office/drawing/2014/main" id="{0E17F8BE-5CF7-4899-A4D0-F92E3E4AFE11}"/>
              </a:ext>
            </a:extLst>
          </p:cNvPr>
          <p:cNvSpPr>
            <a:spLocks noGrp="1" noChangeArrowheads="1"/>
          </p:cNvSpPr>
          <p:nvPr>
            <p:ph type="sldNum" sz="quarter" idx="10"/>
          </p:nvPr>
        </p:nvSpPr>
        <p:spPr>
          <a:ln/>
        </p:spPr>
        <p:txBody>
          <a:bodyPr/>
          <a:lstStyle>
            <a:lvl1pPr>
              <a:defRPr/>
            </a:lvl1pPr>
          </a:lstStyle>
          <a:p>
            <a:pPr>
              <a:defRPr/>
            </a:pPr>
            <a:fld id="{BD9906E0-87FE-4883-82FA-BD095BE0BADD}" type="slidenum">
              <a:rPr lang="en-US" altLang="zh-CN"/>
              <a:pPr>
                <a:defRPr/>
              </a:pPr>
              <a:t>‹#›</a:t>
            </a:fld>
            <a:endParaRPr lang="en-US" altLang="zh-CN"/>
          </a:p>
        </p:txBody>
      </p:sp>
    </p:spTree>
    <p:extLst>
      <p:ext uri="{BB962C8B-B14F-4D97-AF65-F5344CB8AC3E}">
        <p14:creationId xmlns:p14="http://schemas.microsoft.com/office/powerpoint/2010/main" val="57520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628775"/>
            <a:ext cx="4208463"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1628775"/>
            <a:ext cx="4208462" cy="4467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2">
            <a:extLst>
              <a:ext uri="{FF2B5EF4-FFF2-40B4-BE49-F238E27FC236}">
                <a16:creationId xmlns:a16="http://schemas.microsoft.com/office/drawing/2014/main" id="{C67C8103-21E6-446A-9CEC-C8D3D49E4E4E}"/>
              </a:ext>
            </a:extLst>
          </p:cNvPr>
          <p:cNvSpPr>
            <a:spLocks noGrp="1" noChangeArrowheads="1"/>
          </p:cNvSpPr>
          <p:nvPr>
            <p:ph type="sldNum" sz="quarter" idx="10"/>
          </p:nvPr>
        </p:nvSpPr>
        <p:spPr>
          <a:ln/>
        </p:spPr>
        <p:txBody>
          <a:bodyPr/>
          <a:lstStyle>
            <a:lvl1pPr>
              <a:defRPr/>
            </a:lvl1pPr>
          </a:lstStyle>
          <a:p>
            <a:pPr>
              <a:defRPr/>
            </a:pPr>
            <a:fld id="{4E1F7E0A-5E79-486D-BEFA-661F9440F7F0}" type="slidenum">
              <a:rPr lang="en-US" altLang="zh-CN"/>
              <a:pPr>
                <a:defRPr/>
              </a:pPr>
              <a:t>‹#›</a:t>
            </a:fld>
            <a:endParaRPr lang="en-US" altLang="zh-CN"/>
          </a:p>
        </p:txBody>
      </p:sp>
    </p:spTree>
    <p:extLst>
      <p:ext uri="{BB962C8B-B14F-4D97-AF65-F5344CB8AC3E}">
        <p14:creationId xmlns:p14="http://schemas.microsoft.com/office/powerpoint/2010/main" val="78885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8B5DAF5-1062-4CC8-925A-BBAB44B1C3FC}"/>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FD92BDC9-3D2B-45DE-A9F8-9179C2278A0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793BEDB-D63E-4B85-831E-A12AFF2FFBF8}"/>
              </a:ext>
            </a:extLst>
          </p:cNvPr>
          <p:cNvSpPr>
            <a:spLocks noGrp="1"/>
          </p:cNvSpPr>
          <p:nvPr>
            <p:ph type="sldNum" sz="quarter" idx="12"/>
          </p:nvPr>
        </p:nvSpPr>
        <p:spPr/>
        <p:txBody>
          <a:bodyPr/>
          <a:lstStyle/>
          <a:p>
            <a:fld id="{975C4720-E5E3-47C1-B89A-421EF3B8B01B}" type="slidenum">
              <a:rPr lang="zh-CN" altLang="en-US" smtClean="0"/>
              <a:t>‹#›</a:t>
            </a:fld>
            <a:endParaRPr lang="zh-CN" altLang="en-US"/>
          </a:p>
        </p:txBody>
      </p:sp>
    </p:spTree>
    <p:extLst>
      <p:ext uri="{BB962C8B-B14F-4D97-AF65-F5344CB8AC3E}">
        <p14:creationId xmlns:p14="http://schemas.microsoft.com/office/powerpoint/2010/main" val="1865204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C4720-E5E3-47C1-B89A-421EF3B8B01B}" type="slidenum">
              <a:rPr lang="zh-CN" altLang="en-US" smtClean="0"/>
              <a:t>‹#›</a:t>
            </a:fld>
            <a:endParaRPr lang="zh-CN" altLang="en-US"/>
          </a:p>
        </p:txBody>
      </p:sp>
      <p:sp>
        <p:nvSpPr>
          <p:cNvPr id="7" name="矩形 6">
            <a:extLst>
              <a:ext uri="{FF2B5EF4-FFF2-40B4-BE49-F238E27FC236}">
                <a16:creationId xmlns:a16="http://schemas.microsoft.com/office/drawing/2014/main" id="{4DE615AC-9BB3-40DC-8932-B96B1180BF08}"/>
              </a:ext>
            </a:extLst>
          </p:cNvPr>
          <p:cNvSpPr/>
          <p:nvPr userDrawn="1"/>
        </p:nvSpPr>
        <p:spPr>
          <a:xfrm>
            <a:off x="0" y="0"/>
            <a:ext cx="9144000" cy="578581"/>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E541CC01-681B-4A72-A12A-6B48AD55992E}"/>
              </a:ext>
            </a:extLst>
          </p:cNvPr>
          <p:cNvGrpSpPr/>
          <p:nvPr userDrawn="1"/>
        </p:nvGrpSpPr>
        <p:grpSpPr>
          <a:xfrm>
            <a:off x="8481761" y="26197"/>
            <a:ext cx="548949" cy="520015"/>
            <a:chOff x="2603366" y="22110"/>
            <a:chExt cx="879202" cy="892290"/>
          </a:xfrm>
        </p:grpSpPr>
        <p:sp>
          <p:nvSpPr>
            <p:cNvPr id="9" name="椭圆 8">
              <a:extLst>
                <a:ext uri="{FF2B5EF4-FFF2-40B4-BE49-F238E27FC236}">
                  <a16:creationId xmlns:a16="http://schemas.microsoft.com/office/drawing/2014/main" id="{72DC98C9-5C6B-43CE-B4FE-0E636EFB74EB}"/>
                </a:ext>
              </a:extLst>
            </p:cNvPr>
            <p:cNvSpPr/>
            <p:nvPr/>
          </p:nvSpPr>
          <p:spPr>
            <a:xfrm>
              <a:off x="2603366" y="22110"/>
              <a:ext cx="879201" cy="89229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descr="https://gss0.bdstatic.com/94o3dSag_xI4khGkpoWK1HF6hhy/baike/c0%3Dbaike150%2C5%2C5%2C150%2C50/sign=c622cca4b5014a9095334eefc81e5277/562c11dfa9ec8a13bb1224f6fb03918fa0ecc098.jpg">
              <a:extLst>
                <a:ext uri="{FF2B5EF4-FFF2-40B4-BE49-F238E27FC236}">
                  <a16:creationId xmlns:a16="http://schemas.microsoft.com/office/drawing/2014/main" id="{2338FB51-A6EB-43BC-BFF8-865309829E5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0800000" flipH="1" flipV="1">
              <a:off x="2603367" y="22110"/>
              <a:ext cx="879201" cy="89229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文本框 10">
            <a:extLst>
              <a:ext uri="{FF2B5EF4-FFF2-40B4-BE49-F238E27FC236}">
                <a16:creationId xmlns:a16="http://schemas.microsoft.com/office/drawing/2014/main" id="{D9A13220-393A-4901-B964-C462684A07D4}"/>
              </a:ext>
            </a:extLst>
          </p:cNvPr>
          <p:cNvSpPr txBox="1"/>
          <p:nvPr userDrawn="1"/>
        </p:nvSpPr>
        <p:spPr>
          <a:xfrm>
            <a:off x="471949" y="1368"/>
            <a:ext cx="7256206" cy="646331"/>
          </a:xfrm>
          <a:prstGeom prst="rect">
            <a:avLst/>
          </a:prstGeom>
          <a:noFill/>
        </p:spPr>
        <p:txBody>
          <a:bodyPr wrap="square" rtlCol="0">
            <a:spAutoFit/>
          </a:bodyPr>
          <a:lstStyle/>
          <a:p>
            <a:endParaRPr lang="zh-CN" altLang="en-US" sz="3600" b="1" dirty="0">
              <a:solidFill>
                <a:schemeClr val="bg1"/>
              </a:solidFill>
            </a:endParaRPr>
          </a:p>
        </p:txBody>
      </p:sp>
      <p:sp>
        <p:nvSpPr>
          <p:cNvPr id="12" name="矩形 11">
            <a:extLst>
              <a:ext uri="{FF2B5EF4-FFF2-40B4-BE49-F238E27FC236}">
                <a16:creationId xmlns:a16="http://schemas.microsoft.com/office/drawing/2014/main" id="{3B05C098-4A3F-45C8-AD5A-1B0CC9D82C44}"/>
              </a:ext>
            </a:extLst>
          </p:cNvPr>
          <p:cNvSpPr/>
          <p:nvPr userDrawn="1"/>
        </p:nvSpPr>
        <p:spPr>
          <a:xfrm>
            <a:off x="0" y="6604937"/>
            <a:ext cx="9144000" cy="253064"/>
          </a:xfrm>
          <a:prstGeom prst="rect">
            <a:avLst/>
          </a:prstGeom>
          <a:solidFill>
            <a:srgbClr val="7E0C6E"/>
          </a:solidFill>
          <a:ln>
            <a:solidFill>
              <a:srgbClr val="7F2F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日期占位符 8">
            <a:extLst>
              <a:ext uri="{FF2B5EF4-FFF2-40B4-BE49-F238E27FC236}">
                <a16:creationId xmlns:a16="http://schemas.microsoft.com/office/drawing/2014/main" id="{EE61AAFC-D5F5-4AF9-8132-E49A3363102A}"/>
              </a:ext>
            </a:extLst>
          </p:cNvPr>
          <p:cNvSpPr txBox="1">
            <a:spLocks/>
          </p:cNvSpPr>
          <p:nvPr userDrawn="1"/>
        </p:nvSpPr>
        <p:spPr>
          <a:xfrm>
            <a:off x="471949" y="6604936"/>
            <a:ext cx="2057400" cy="240926"/>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0FA613-B9E4-4FBF-8914-673569737EED}" type="datetime1">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2025/11/12</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灯片编号占位符 10">
            <a:extLst>
              <a:ext uri="{FF2B5EF4-FFF2-40B4-BE49-F238E27FC236}">
                <a16:creationId xmlns:a16="http://schemas.microsoft.com/office/drawing/2014/main" id="{F7ECEEA5-AD0B-4EEF-AD12-7A05EFA7AF0D}"/>
              </a:ext>
            </a:extLst>
          </p:cNvPr>
          <p:cNvSpPr txBox="1">
            <a:spLocks/>
          </p:cNvSpPr>
          <p:nvPr userDrawn="1"/>
        </p:nvSpPr>
        <p:spPr>
          <a:xfrm>
            <a:off x="7086600" y="6599473"/>
            <a:ext cx="2057400" cy="258527"/>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C4720-E5E3-47C1-B89A-421EF3B8B01B}" type="slidenum">
              <a:rPr lang="zh-CN" altLang="en-US" sz="1600" smtClean="0">
                <a:solidFill>
                  <a:schemeClr val="bg1"/>
                </a:solidFill>
                <a:latin typeface="Times New Roman" panose="02020603050405020304" pitchFamily="18" charset="0"/>
                <a:ea typeface="宋体" panose="02010600030101010101" pitchFamily="2" charset="-122"/>
                <a:cs typeface="Times New Roman" panose="02020603050405020304" pitchFamily="18" charset="0"/>
              </a:rPr>
              <a:pPr/>
              <a:t>‹#›</a:t>
            </a:fld>
            <a:endPar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Subtitle 2">
            <a:extLst>
              <a:ext uri="{FF2B5EF4-FFF2-40B4-BE49-F238E27FC236}">
                <a16:creationId xmlns:a16="http://schemas.microsoft.com/office/drawing/2014/main" id="{8B58D73D-AE44-4628-B15C-06575F9F730D}"/>
              </a:ext>
            </a:extLst>
          </p:cNvPr>
          <p:cNvSpPr txBox="1">
            <a:spLocks/>
          </p:cNvSpPr>
          <p:nvPr userDrawn="1"/>
        </p:nvSpPr>
        <p:spPr>
          <a:xfrm>
            <a:off x="2464025" y="6587335"/>
            <a:ext cx="4094570" cy="2585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计算机网络与信息安全研究室</a:t>
            </a:r>
            <a:endParaRPr 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167694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67" r:id="rId4"/>
    <p:sldLayoutId id="2147483668"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4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28.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28.wmf"/><Relationship Id="rId5" Type="http://schemas.openxmlformats.org/officeDocument/2006/relationships/oleObject" Target="../embeddings/oleObject6.bin"/><Relationship Id="rId4" Type="http://schemas.openxmlformats.org/officeDocument/2006/relationships/image" Target="../media/image29.wmf"/></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4.xml"/><Relationship Id="rId6" Type="http://schemas.openxmlformats.org/officeDocument/2006/relationships/oleObject" Target="../embeddings/oleObject8.bin"/><Relationship Id="rId5" Type="http://schemas.openxmlformats.org/officeDocument/2006/relationships/image" Target="../media/image28.wmf"/><Relationship Id="rId4" Type="http://schemas.openxmlformats.org/officeDocument/2006/relationships/oleObject" Target="../embeddings/oleObject7.bin"/></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emf"/></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35.emf"/></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7.emf"/><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6.emf"/><Relationship Id="rId4" Type="http://schemas.openxmlformats.org/officeDocument/2006/relationships/image" Target="../media/image36.png"/></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37.emf"/><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41.png"/><Relationship Id="rId4" Type="http://schemas.openxmlformats.org/officeDocument/2006/relationships/image" Target="../media/image1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image" Target="../media/image44.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image" Target="../media/image47.emf"/></Relationships>
</file>

<file path=ppt/slides/_rels/slide7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50.emf"/></Relationships>
</file>

<file path=ppt/slides/_rels/slide76.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30.png"/><Relationship Id="rId7" Type="http://schemas.openxmlformats.org/officeDocument/2006/relationships/oleObject" Target="../embeddings/oleObject10.bin"/><Relationship Id="rId2" Type="http://schemas.openxmlformats.org/officeDocument/2006/relationships/notesSlide" Target="../notesSlides/notesSlide81.xml"/><Relationship Id="rId1" Type="http://schemas.openxmlformats.org/officeDocument/2006/relationships/slideLayout" Target="../slideLayouts/slideLayout4.xml"/><Relationship Id="rId6" Type="http://schemas.openxmlformats.org/officeDocument/2006/relationships/image" Target="../media/image28.wmf"/><Relationship Id="rId5" Type="http://schemas.openxmlformats.org/officeDocument/2006/relationships/oleObject" Target="../embeddings/oleObject9.bin"/><Relationship Id="rId10" Type="http://schemas.openxmlformats.org/officeDocument/2006/relationships/oleObject" Target="../embeddings/oleObject13.bin"/><Relationship Id="rId4" Type="http://schemas.openxmlformats.org/officeDocument/2006/relationships/image" Target="../media/image39.png"/><Relationship Id="rId9" Type="http://schemas.openxmlformats.org/officeDocument/2006/relationships/oleObject" Target="../embeddings/oleObject12.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8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6.xml"/><Relationship Id="rId1" Type="http://schemas.openxmlformats.org/officeDocument/2006/relationships/slideLayout" Target="../slideLayouts/slideLayout4.xml"/><Relationship Id="rId4" Type="http://schemas.openxmlformats.org/officeDocument/2006/relationships/image" Target="../media/image57.jpeg"/></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7.xml"/><Relationship Id="rId1" Type="http://schemas.openxmlformats.org/officeDocument/2006/relationships/slideLayout" Target="../slideLayouts/slideLayout4.xml"/><Relationship Id="rId4" Type="http://schemas.openxmlformats.org/officeDocument/2006/relationships/image" Target="../media/image57.jpeg"/></Relationships>
</file>

<file path=ppt/slides/_rels/slide8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8.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2.emf"/><Relationship Id="rId4" Type="http://schemas.openxmlformats.org/officeDocument/2006/relationships/image" Target="../media/image19.png"/></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9.png"/></Relationships>
</file>

<file path=ppt/slides/_rels/slide9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23.png"/><Relationship Id="rId4" Type="http://schemas.openxmlformats.org/officeDocument/2006/relationships/image" Target="../media/image19.png"/></Relationships>
</file>

<file path=ppt/slides/_rels/slide9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0.png"/></Relationships>
</file>

<file path=ppt/slides/_rels/slide9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9.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19.png"/></Relationships>
</file>

<file path=ppt/slides/_rels/slide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0.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19.png"/></Relationships>
</file>

<file path=ppt/slides/_rels/slide10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9.png"/></Relationships>
</file>

<file path=ppt/slides/_rels/slide10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19.png"/></Relationships>
</file>

<file path=ppt/slides/_rels/slide10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68.png"/><Relationship Id="rId4" Type="http://schemas.openxmlformats.org/officeDocument/2006/relationships/image" Target="../media/image19.png"/></Relationships>
</file>

<file path=ppt/slides/_rels/slide10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71.png"/><Relationship Id="rId4" Type="http://schemas.openxmlformats.org/officeDocument/2006/relationships/image" Target="../media/image74.png"/></Relationships>
</file>

<file path=ppt/slides/_rels/slide10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19.png"/></Relationships>
</file>

<file path=ppt/slides/_rels/slide10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8.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19.png"/></Relationships>
</file>

<file path=ppt/slides/_rels/slide10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9.png"/></Relationships>
</file>

<file path=ppt/slides/_rels/slide1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2">
            <a:extLst>
              <a:ext uri="{FF2B5EF4-FFF2-40B4-BE49-F238E27FC236}">
                <a16:creationId xmlns:a16="http://schemas.microsoft.com/office/drawing/2014/main" id="{2A6E10AF-4605-49AD-9A69-1FE4D754DB9F}"/>
              </a:ext>
            </a:extLst>
          </p:cNvPr>
          <p:cNvSpPr txBox="1">
            <a:spLocks/>
          </p:cNvSpPr>
          <p:nvPr/>
        </p:nvSpPr>
        <p:spPr>
          <a:xfrm>
            <a:off x="1222860" y="3962399"/>
            <a:ext cx="6709028" cy="107211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p:txBody>
      </p:sp>
      <p:sp>
        <p:nvSpPr>
          <p:cNvPr id="10" name="标题 1">
            <a:extLst>
              <a:ext uri="{FF2B5EF4-FFF2-40B4-BE49-F238E27FC236}">
                <a16:creationId xmlns:a16="http://schemas.microsoft.com/office/drawing/2014/main" id="{5E719471-31A7-4244-9406-61FB4BA5EC5A}"/>
              </a:ext>
            </a:extLst>
          </p:cNvPr>
          <p:cNvSpPr txBox="1">
            <a:spLocks/>
          </p:cNvSpPr>
          <p:nvPr/>
        </p:nvSpPr>
        <p:spPr>
          <a:xfrm rot="10800000" flipH="1" flipV="1">
            <a:off x="1056736" y="1475232"/>
            <a:ext cx="7030527" cy="18044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5760"/>
              </a:lnSpc>
              <a:spcBef>
                <a:spcPts val="600"/>
              </a:spcBef>
            </a:pPr>
            <a:r>
              <a:rPr lang="zh-CN" altLang="zh-CN" sz="6600" b="1" dirty="0">
                <a:latin typeface="楷体" panose="02010609060101010101" pitchFamily="49" charset="-122"/>
                <a:ea typeface="楷体" panose="02010609060101010101" pitchFamily="49" charset="-122"/>
              </a:rPr>
              <a:t>计算机网络</a:t>
            </a:r>
            <a:br>
              <a:rPr lang="en-US" altLang="zh-CN" sz="4800" b="1" dirty="0">
                <a:latin typeface="楷体" panose="02010609060101010101" pitchFamily="49" charset="-122"/>
                <a:ea typeface="楷体" panose="02010609060101010101" pitchFamily="49" charset="-122"/>
              </a:rPr>
            </a:br>
            <a:r>
              <a:rPr lang="zh-CN" altLang="en-US" sz="3600" b="1" dirty="0">
                <a:solidFill>
                  <a:srgbClr val="C00000"/>
                </a:solidFill>
                <a:latin typeface="楷体" panose="02010609060101010101" pitchFamily="49" charset="-122"/>
                <a:ea typeface="楷体" panose="02010609060101010101" pitchFamily="49" charset="-122"/>
              </a:rPr>
              <a:t>第</a:t>
            </a:r>
            <a:r>
              <a:rPr lang="en-US" altLang="zh-CN" sz="36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3600" b="1" dirty="0">
                <a:solidFill>
                  <a:srgbClr val="C00000"/>
                </a:solidFill>
                <a:latin typeface="楷体" panose="02010609060101010101" pitchFamily="49" charset="-122"/>
                <a:ea typeface="楷体" panose="02010609060101010101" pitchFamily="49" charset="-122"/>
              </a:rPr>
              <a:t>章 传输层协议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09C55F1-2076-4202-8A9C-970948040A0E}"/>
              </a:ext>
            </a:extLst>
          </p:cNvPr>
          <p:cNvSpPr txBox="1">
            <a:spLocks/>
          </p:cNvSpPr>
          <p:nvPr/>
        </p:nvSpPr>
        <p:spPr>
          <a:xfrm>
            <a:off x="707366" y="32661"/>
            <a:ext cx="7703389"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黑体" panose="02010609060101010101" pitchFamily="49" charset="-122"/>
                <a:ea typeface="黑体" panose="02010609060101010101" pitchFamily="49" charset="-122"/>
              </a:rPr>
              <a:t>内容提纲</a:t>
            </a:r>
          </a:p>
        </p:txBody>
      </p:sp>
      <p:sp>
        <p:nvSpPr>
          <p:cNvPr id="2" name="文本框 1">
            <a:extLst>
              <a:ext uri="{FF2B5EF4-FFF2-40B4-BE49-F238E27FC236}">
                <a16:creationId xmlns:a16="http://schemas.microsoft.com/office/drawing/2014/main" id="{527AA05F-DD57-491F-AE5D-481B65D84528}"/>
              </a:ext>
            </a:extLst>
          </p:cNvPr>
          <p:cNvSpPr txBox="1"/>
          <p:nvPr/>
        </p:nvSpPr>
        <p:spPr>
          <a:xfrm>
            <a:off x="565008" y="1095156"/>
            <a:ext cx="8013983" cy="4667688"/>
          </a:xfrm>
          <a:prstGeom prst="rect">
            <a:avLst/>
          </a:prstGeom>
          <a:noFill/>
        </p:spPr>
        <p:txBody>
          <a:bodyPr wrap="square" rtlCol="0">
            <a:spAutoFit/>
          </a:bodyPr>
          <a:lstStyle/>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传输层解决的基本问题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3.2 TCP/IP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体系结构的传输层协议与服务</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3.3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用户数据报协议（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3.4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可靠数据传输分析</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3.5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传输控制协议（</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3.6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网络拥塞的概念</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ts val="3600"/>
              </a:lnSpc>
              <a:spcBef>
                <a:spcPts val="1800"/>
              </a:spcBef>
              <a:buClr>
                <a:schemeClr val="tx1"/>
              </a:buCl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3.7 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拥塞控制机制</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9631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8337" y="5256142"/>
            <a:ext cx="8354664" cy="400110"/>
          </a:xfrm>
          <a:prstGeom prst="rect">
            <a:avLst/>
          </a:prstGeom>
        </p:spPr>
        <p:txBody>
          <a:bodyPr wrap="square">
            <a:spAutoFit/>
          </a:bodyPr>
          <a:lstStyle/>
          <a:p>
            <a:pPr marL="285750" indent="-285750">
              <a:spcBef>
                <a:spcPts val="600"/>
              </a:spcBef>
              <a:buClr>
                <a:srgbClr val="C00000"/>
              </a:buClr>
              <a:buFont typeface="Wingdings" panose="05000000000000000000" pitchFamily="2" charset="2"/>
              <a:buChar char="n"/>
            </a:pPr>
            <a:r>
              <a:rPr lang="zh-CN" altLang="en-US" sz="2000" dirty="0">
                <a:latin typeface="宋体" panose="02010600030101010101" pitchFamily="2" charset="-122"/>
                <a:ea typeface="宋体" panose="02010600030101010101" pitchFamily="2" charset="-122"/>
                <a:cs typeface="Arial Unicode MS" pitchFamily="34" charset="-122"/>
              </a:rPr>
              <a:t>网络层：</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数据包从源主机传送到目的主机，提供无连接不可靠服务</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标题 1">
            <a:extLst>
              <a:ext uri="{FF2B5EF4-FFF2-40B4-BE49-F238E27FC236}">
                <a16:creationId xmlns:a16="http://schemas.microsoft.com/office/drawing/2014/main" id="{D09C55F1-2076-4202-8A9C-970948040A0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传输层解决的基本问题</a:t>
            </a:r>
          </a:p>
        </p:txBody>
      </p:sp>
      <p:pic>
        <p:nvPicPr>
          <p:cNvPr id="4" name="图片 3">
            <a:extLst>
              <a:ext uri="{FF2B5EF4-FFF2-40B4-BE49-F238E27FC236}">
                <a16:creationId xmlns:a16="http://schemas.microsoft.com/office/drawing/2014/main" id="{9739C776-6A3B-4D95-9E51-90B167728DF0}"/>
              </a:ext>
            </a:extLst>
          </p:cNvPr>
          <p:cNvPicPr>
            <a:picLocks noChangeAspect="1"/>
          </p:cNvPicPr>
          <p:nvPr/>
        </p:nvPicPr>
        <p:blipFill>
          <a:blip r:embed="rId3"/>
          <a:stretch>
            <a:fillRect/>
          </a:stretch>
        </p:blipFill>
        <p:spPr>
          <a:xfrm>
            <a:off x="1180380" y="848814"/>
            <a:ext cx="6749701" cy="4338250"/>
          </a:xfrm>
          <a:prstGeom prst="rect">
            <a:avLst/>
          </a:prstGeom>
        </p:spPr>
      </p:pic>
      <p:pic>
        <p:nvPicPr>
          <p:cNvPr id="7" name="图片 6">
            <a:extLst>
              <a:ext uri="{FF2B5EF4-FFF2-40B4-BE49-F238E27FC236}">
                <a16:creationId xmlns:a16="http://schemas.microsoft.com/office/drawing/2014/main" id="{7491EFDF-AD75-4C78-93BD-3CB1C3952397}"/>
              </a:ext>
            </a:extLst>
          </p:cNvPr>
          <p:cNvPicPr>
            <a:picLocks noChangeAspect="1"/>
          </p:cNvPicPr>
          <p:nvPr/>
        </p:nvPicPr>
        <p:blipFill>
          <a:blip r:embed="rId4"/>
          <a:stretch>
            <a:fillRect/>
          </a:stretch>
        </p:blipFill>
        <p:spPr>
          <a:xfrm>
            <a:off x="1576149" y="1267823"/>
            <a:ext cx="882825" cy="463417"/>
          </a:xfrm>
          <a:prstGeom prst="rect">
            <a:avLst/>
          </a:prstGeom>
        </p:spPr>
      </p:pic>
      <p:pic>
        <p:nvPicPr>
          <p:cNvPr id="8" name="图片 7">
            <a:extLst>
              <a:ext uri="{FF2B5EF4-FFF2-40B4-BE49-F238E27FC236}">
                <a16:creationId xmlns:a16="http://schemas.microsoft.com/office/drawing/2014/main" id="{05175FC0-D328-4D08-B214-2159C0C89581}"/>
              </a:ext>
            </a:extLst>
          </p:cNvPr>
          <p:cNvPicPr>
            <a:picLocks noChangeAspect="1"/>
          </p:cNvPicPr>
          <p:nvPr/>
        </p:nvPicPr>
        <p:blipFill>
          <a:blip r:embed="rId5"/>
          <a:stretch>
            <a:fillRect/>
          </a:stretch>
        </p:blipFill>
        <p:spPr>
          <a:xfrm>
            <a:off x="6647294" y="1267822"/>
            <a:ext cx="882825" cy="463417"/>
          </a:xfrm>
          <a:prstGeom prst="rect">
            <a:avLst/>
          </a:prstGeom>
        </p:spPr>
      </p:pic>
      <p:sp>
        <p:nvSpPr>
          <p:cNvPr id="69" name="矩形 68">
            <a:extLst>
              <a:ext uri="{FF2B5EF4-FFF2-40B4-BE49-F238E27FC236}">
                <a16:creationId xmlns:a16="http://schemas.microsoft.com/office/drawing/2014/main" id="{B6775FAD-7BBD-46C3-8727-33AF345A7628}"/>
              </a:ext>
            </a:extLst>
          </p:cNvPr>
          <p:cNvSpPr/>
          <p:nvPr/>
        </p:nvSpPr>
        <p:spPr>
          <a:xfrm>
            <a:off x="408337" y="5598866"/>
            <a:ext cx="8347484" cy="400110"/>
          </a:xfrm>
          <a:prstGeom prst="rect">
            <a:avLst/>
          </a:prstGeom>
        </p:spPr>
        <p:txBody>
          <a:bodyPr wrap="square">
            <a:spAutoFit/>
          </a:bodyPr>
          <a:lstStyle/>
          <a:p>
            <a:pPr marL="285750" indent="-285750">
              <a:spcBef>
                <a:spcPts val="600"/>
              </a:spcBef>
              <a:buClr>
                <a:srgbClr val="C00000"/>
              </a:buClr>
              <a:buFont typeface="Wingdings" panose="05000000000000000000" pitchFamily="2" charset="2"/>
              <a:buChar char="n"/>
            </a:pPr>
            <a:r>
              <a:rPr lang="zh-CN" altLang="en-US" sz="2000" b="1" dirty="0">
                <a:solidFill>
                  <a:srgbClr val="2A09B7"/>
                </a:solidFill>
                <a:latin typeface="宋体" panose="02010600030101010101" pitchFamily="2" charset="-122"/>
                <a:ea typeface="宋体" panose="02010600030101010101" pitchFamily="2" charset="-122"/>
                <a:cs typeface="Arial Unicode MS" pitchFamily="34" charset="-122"/>
              </a:rPr>
              <a:t>数据包传输存在的问题：</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延迟、乱序、出错、丢失等</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矩形 69">
            <a:extLst>
              <a:ext uri="{FF2B5EF4-FFF2-40B4-BE49-F238E27FC236}">
                <a16:creationId xmlns:a16="http://schemas.microsoft.com/office/drawing/2014/main" id="{ECE860A9-DB24-4573-A1FE-A66CBF91D4AA}"/>
              </a:ext>
            </a:extLst>
          </p:cNvPr>
          <p:cNvSpPr/>
          <p:nvPr/>
        </p:nvSpPr>
        <p:spPr>
          <a:xfrm>
            <a:off x="401136" y="5968198"/>
            <a:ext cx="8480150" cy="400110"/>
          </a:xfrm>
          <a:prstGeom prst="rect">
            <a:avLst/>
          </a:prstGeom>
        </p:spPr>
        <p:txBody>
          <a:bodyPr wrap="square">
            <a:spAutoFit/>
          </a:bodyPr>
          <a:lstStyle/>
          <a:p>
            <a:pPr marL="285750" indent="-285750">
              <a:spcBef>
                <a:spcPts val="600"/>
              </a:spcBef>
              <a:buFont typeface="Wingdings" panose="05000000000000000000" pitchFamily="2" charset="2"/>
              <a:buChar char="n"/>
            </a:pPr>
            <a:r>
              <a:rPr lang="zh-CN" altLang="en-US" sz="2000" b="1" dirty="0">
                <a:solidFill>
                  <a:srgbClr val="C00000"/>
                </a:solidFill>
                <a:latin typeface="宋体" panose="02010600030101010101" pitchFamily="2" charset="-122"/>
                <a:ea typeface="宋体" panose="02010600030101010101" pitchFamily="2" charset="-122"/>
                <a:cs typeface="Arial Unicode MS" pitchFamily="34" charset="-122"/>
              </a:rPr>
              <a:t>传输层解决的问题之一：</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可靠性，向应用层提供可靠服务</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 name="直接箭头连接符 4">
            <a:extLst>
              <a:ext uri="{FF2B5EF4-FFF2-40B4-BE49-F238E27FC236}">
                <a16:creationId xmlns:a16="http://schemas.microsoft.com/office/drawing/2014/main" id="{71175319-F372-4506-8812-E5ADFED99686}"/>
              </a:ext>
            </a:extLst>
          </p:cNvPr>
          <p:cNvCxnSpPr/>
          <p:nvPr/>
        </p:nvCxnSpPr>
        <p:spPr>
          <a:xfrm>
            <a:off x="2502568" y="3543847"/>
            <a:ext cx="529390" cy="29313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直接箭头连接符 10">
            <a:extLst>
              <a:ext uri="{FF2B5EF4-FFF2-40B4-BE49-F238E27FC236}">
                <a16:creationId xmlns:a16="http://schemas.microsoft.com/office/drawing/2014/main" id="{5CD89CC8-5B44-4789-A8AB-810C714546C8}"/>
              </a:ext>
            </a:extLst>
          </p:cNvPr>
          <p:cNvCxnSpPr>
            <a:cxnSpLocks/>
          </p:cNvCxnSpPr>
          <p:nvPr/>
        </p:nvCxnSpPr>
        <p:spPr>
          <a:xfrm>
            <a:off x="3529992" y="3954380"/>
            <a:ext cx="2030785"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3" name="直接箭头连接符 12">
            <a:extLst>
              <a:ext uri="{FF2B5EF4-FFF2-40B4-BE49-F238E27FC236}">
                <a16:creationId xmlns:a16="http://schemas.microsoft.com/office/drawing/2014/main" id="{EF7718DB-B652-476C-8DC2-0156EB893A31}"/>
              </a:ext>
            </a:extLst>
          </p:cNvPr>
          <p:cNvCxnSpPr>
            <a:cxnSpLocks/>
          </p:cNvCxnSpPr>
          <p:nvPr/>
        </p:nvCxnSpPr>
        <p:spPr>
          <a:xfrm>
            <a:off x="6050061" y="3967505"/>
            <a:ext cx="560745"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0" name="矩形 9">
            <a:extLst>
              <a:ext uri="{FF2B5EF4-FFF2-40B4-BE49-F238E27FC236}">
                <a16:creationId xmlns:a16="http://schemas.microsoft.com/office/drawing/2014/main" id="{35342217-D1E2-4537-8BD7-C3F3DCDB4272}"/>
              </a:ext>
            </a:extLst>
          </p:cNvPr>
          <p:cNvSpPr/>
          <p:nvPr/>
        </p:nvSpPr>
        <p:spPr>
          <a:xfrm>
            <a:off x="1576149" y="1713739"/>
            <a:ext cx="5953970" cy="85005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2280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0"/>
                                        </p:tgtEl>
                                        <p:attrNameLst>
                                          <p:attrName>style.visibility</p:attrName>
                                        </p:attrNameLst>
                                      </p:cBhvr>
                                      <p:to>
                                        <p:strVal val="visible"/>
                                      </p:to>
                                    </p:set>
                                    <p:anim calcmode="lin" valueType="num">
                                      <p:cBhvr additive="base">
                                        <p:cTn id="25" dur="500" fill="hold"/>
                                        <p:tgtEl>
                                          <p:spTgt spid="70"/>
                                        </p:tgtEl>
                                        <p:attrNameLst>
                                          <p:attrName>ppt_x</p:attrName>
                                        </p:attrNameLst>
                                      </p:cBhvr>
                                      <p:tavLst>
                                        <p:tav tm="0">
                                          <p:val>
                                            <p:strVal val="#ppt_x"/>
                                          </p:val>
                                        </p:tav>
                                        <p:tav tm="100000">
                                          <p:val>
                                            <p:strVal val="#ppt_x"/>
                                          </p:val>
                                        </p:tav>
                                      </p:tavLst>
                                    </p:anim>
                                    <p:anim calcmode="lin" valueType="num">
                                      <p:cBhvr additive="base">
                                        <p:cTn id="26"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9" grpId="0"/>
      <p:bldP spid="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8335" y="774214"/>
            <a:ext cx="7366273" cy="523220"/>
          </a:xfrm>
          <a:prstGeom prst="rect">
            <a:avLst/>
          </a:prstGeom>
        </p:spPr>
        <p:txBody>
          <a:bodyPr wrap="square">
            <a:spAutoFit/>
          </a:bodyPr>
          <a:lstStyle/>
          <a:p>
            <a:pPr marL="285750" indent="-285750">
              <a:spcBef>
                <a:spcPts val="600"/>
              </a:spcBef>
              <a:buClr>
                <a:srgbClr val="C00000"/>
              </a:buClr>
              <a:buFont typeface="Wingdings" panose="05000000000000000000" pitchFamily="2" charset="2"/>
              <a:buChar char="n"/>
            </a:pPr>
            <a:r>
              <a:rPr lang="zh-CN" altLang="en-US" sz="2800" dirty="0">
                <a:latin typeface="宋体" panose="02010600030101010101" pitchFamily="2" charset="-122"/>
                <a:ea typeface="宋体" panose="02010600030101010101" pitchFamily="2" charset="-122"/>
                <a:cs typeface="Arial Unicode MS" pitchFamily="34" charset="-122"/>
              </a:rPr>
              <a:t>应用层运行多个应用进程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标题 1">
            <a:extLst>
              <a:ext uri="{FF2B5EF4-FFF2-40B4-BE49-F238E27FC236}">
                <a16:creationId xmlns:a16="http://schemas.microsoft.com/office/drawing/2014/main" id="{D09C55F1-2076-4202-8A9C-970948040A0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3.1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传输层解决的基本问题</a:t>
            </a:r>
          </a:p>
        </p:txBody>
      </p:sp>
      <p:pic>
        <p:nvPicPr>
          <p:cNvPr id="2" name="图片 1">
            <a:extLst>
              <a:ext uri="{FF2B5EF4-FFF2-40B4-BE49-F238E27FC236}">
                <a16:creationId xmlns:a16="http://schemas.microsoft.com/office/drawing/2014/main" id="{CB9FA73C-F290-4648-AD3E-13DA70E86DF9}"/>
              </a:ext>
            </a:extLst>
          </p:cNvPr>
          <p:cNvPicPr>
            <a:picLocks noChangeAspect="1"/>
          </p:cNvPicPr>
          <p:nvPr/>
        </p:nvPicPr>
        <p:blipFill>
          <a:blip r:embed="rId3"/>
          <a:stretch>
            <a:fillRect/>
          </a:stretch>
        </p:blipFill>
        <p:spPr>
          <a:xfrm>
            <a:off x="1163600" y="1328212"/>
            <a:ext cx="6749701" cy="1943000"/>
          </a:xfrm>
          <a:prstGeom prst="rect">
            <a:avLst/>
          </a:prstGeom>
        </p:spPr>
      </p:pic>
      <p:pic>
        <p:nvPicPr>
          <p:cNvPr id="5" name="图片 4">
            <a:extLst>
              <a:ext uri="{FF2B5EF4-FFF2-40B4-BE49-F238E27FC236}">
                <a16:creationId xmlns:a16="http://schemas.microsoft.com/office/drawing/2014/main" id="{BB9121D4-4913-44F6-A2C6-A739FDE7A83E}"/>
              </a:ext>
            </a:extLst>
          </p:cNvPr>
          <p:cNvPicPr>
            <a:picLocks noChangeAspect="1"/>
          </p:cNvPicPr>
          <p:nvPr/>
        </p:nvPicPr>
        <p:blipFill>
          <a:blip r:embed="rId4"/>
          <a:stretch>
            <a:fillRect/>
          </a:stretch>
        </p:blipFill>
        <p:spPr>
          <a:xfrm>
            <a:off x="1163599" y="3521333"/>
            <a:ext cx="6749701" cy="1943000"/>
          </a:xfrm>
          <a:prstGeom prst="rect">
            <a:avLst/>
          </a:prstGeom>
        </p:spPr>
      </p:pic>
      <p:sp>
        <p:nvSpPr>
          <p:cNvPr id="8" name="矩形 7">
            <a:extLst>
              <a:ext uri="{FF2B5EF4-FFF2-40B4-BE49-F238E27FC236}">
                <a16:creationId xmlns:a16="http://schemas.microsoft.com/office/drawing/2014/main" id="{60D724EC-AC72-4EE4-A19E-32DE00257A28}"/>
              </a:ext>
            </a:extLst>
          </p:cNvPr>
          <p:cNvSpPr/>
          <p:nvPr/>
        </p:nvSpPr>
        <p:spPr>
          <a:xfrm>
            <a:off x="408336" y="5622186"/>
            <a:ext cx="7366273" cy="400110"/>
          </a:xfrm>
          <a:prstGeom prst="rect">
            <a:avLst/>
          </a:prstGeom>
        </p:spPr>
        <p:txBody>
          <a:bodyPr wrap="square">
            <a:spAutoFit/>
          </a:bodyPr>
          <a:lstStyle/>
          <a:p>
            <a:pPr marL="342900" indent="-342900">
              <a:spcBef>
                <a:spcPts val="600"/>
              </a:spcBef>
              <a:buClr>
                <a:srgbClr val="0070C0"/>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共享单一的网络层协议（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）和网络接口</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04CC1081-E527-47FF-BF6D-484ED592BC7A}"/>
              </a:ext>
            </a:extLst>
          </p:cNvPr>
          <p:cNvSpPr/>
          <p:nvPr/>
        </p:nvSpPr>
        <p:spPr>
          <a:xfrm>
            <a:off x="408336" y="5991518"/>
            <a:ext cx="8525939" cy="400110"/>
          </a:xfrm>
          <a:prstGeom prst="rect">
            <a:avLst/>
          </a:prstGeom>
        </p:spPr>
        <p:txBody>
          <a:bodyPr wrap="square">
            <a:spAutoFit/>
          </a:bodyPr>
          <a:lstStyle/>
          <a:p>
            <a:pPr marL="342900" indent="-342900">
              <a:spcBef>
                <a:spcPts val="600"/>
              </a:spcBef>
              <a:buClr>
                <a:srgbClr val="2A09B7"/>
              </a:buClr>
              <a:buFont typeface="Wingdings" panose="05000000000000000000" pitchFamily="2" charset="2"/>
              <a:buChar char="Ø"/>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传输层解决的问题之二：</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Multiplexing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）和分用（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Demultiplexing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4562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标题 1">
            <a:extLst>
              <a:ext uri="{FF2B5EF4-FFF2-40B4-BE49-F238E27FC236}">
                <a16:creationId xmlns:a16="http://schemas.microsoft.com/office/drawing/2014/main" id="{D09C55F1-2076-4202-8A9C-970948040A0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3.2 TCP/IP</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体系结构的传输层协议与服务</a:t>
            </a:r>
          </a:p>
        </p:txBody>
      </p:sp>
      <p:sp>
        <p:nvSpPr>
          <p:cNvPr id="8" name="矩形 7">
            <a:extLst>
              <a:ext uri="{FF2B5EF4-FFF2-40B4-BE49-F238E27FC236}">
                <a16:creationId xmlns:a16="http://schemas.microsoft.com/office/drawing/2014/main" id="{60D724EC-AC72-4EE4-A19E-32DE00257A28}"/>
              </a:ext>
            </a:extLst>
          </p:cNvPr>
          <p:cNvSpPr/>
          <p:nvPr/>
        </p:nvSpPr>
        <p:spPr>
          <a:xfrm>
            <a:off x="341223" y="737937"/>
            <a:ext cx="8395911" cy="1290674"/>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传输层协议的基本功能</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复用和分用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可靠保证</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64D0A092-B74B-4CF0-AE58-FAF98B041054}"/>
              </a:ext>
            </a:extLst>
          </p:cNvPr>
          <p:cNvSpPr/>
          <p:nvPr/>
        </p:nvSpPr>
        <p:spPr>
          <a:xfrm>
            <a:off x="341223" y="2082278"/>
            <a:ext cx="8395911" cy="1290674"/>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传输层实体执行的动作</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发送端：将应用层的消息</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封装</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成传输层的数据单元，传递到网络层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接收端：将从网络层接收的传输层数据单元，</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处理</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后交给应用层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a:extLst>
              <a:ext uri="{FF2B5EF4-FFF2-40B4-BE49-F238E27FC236}">
                <a16:creationId xmlns:a16="http://schemas.microsoft.com/office/drawing/2014/main" id="{D416FEC8-9453-412E-9206-1979D50A8350}"/>
              </a:ext>
            </a:extLst>
          </p:cNvPr>
          <p:cNvSpPr/>
          <p:nvPr/>
        </p:nvSpPr>
        <p:spPr>
          <a:xfrm>
            <a:off x="330478" y="3458454"/>
            <a:ext cx="8395911" cy="1361206"/>
          </a:xfrm>
          <a:prstGeom prst="rect">
            <a:avLst/>
          </a:prstGeom>
        </p:spPr>
        <p:txBody>
          <a:bodyPr wrap="square">
            <a:spAutoFit/>
          </a:bodyPr>
          <a:lstStyle/>
          <a:p>
            <a:pPr marL="285750" indent="-285750">
              <a:lnSpc>
                <a:spcPts val="3000"/>
              </a:lnSpc>
              <a:spcBef>
                <a:spcPts val="600"/>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传输控制协议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Transport Control Protocol</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0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为进程间通信提供面向连接、可靠的传输服务</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0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实现复用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分用、差错检测、确认重传、流量控制等传输层功能</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a:extLst>
              <a:ext uri="{FF2B5EF4-FFF2-40B4-BE49-F238E27FC236}">
                <a16:creationId xmlns:a16="http://schemas.microsoft.com/office/drawing/2014/main" id="{D261DEFF-E494-4842-B143-13DA475745D3}"/>
              </a:ext>
            </a:extLst>
          </p:cNvPr>
          <p:cNvSpPr/>
          <p:nvPr/>
        </p:nvSpPr>
        <p:spPr>
          <a:xfrm>
            <a:off x="339753" y="4905162"/>
            <a:ext cx="8395911" cy="1361206"/>
          </a:xfrm>
          <a:prstGeom prst="rect">
            <a:avLst/>
          </a:prstGeom>
        </p:spPr>
        <p:txBody>
          <a:bodyPr wrap="square">
            <a:spAutoFit/>
          </a:bodyPr>
          <a:lstStyle/>
          <a:p>
            <a:pPr marL="285750" indent="-285750">
              <a:lnSpc>
                <a:spcPts val="3000"/>
              </a:lnSpc>
              <a:spcBef>
                <a:spcPts val="600"/>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用户数据报协议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User Datagram Protocol</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0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为进程间通信提供无连接、不可靠的传输服务</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000"/>
              </a:lnSpc>
              <a:spcBef>
                <a:spcPts val="6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实现复用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分用、差错检测等传输层功能</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9430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374044" y="1107269"/>
            <a:ext cx="8395911" cy="3913764"/>
          </a:xfrm>
          <a:prstGeom prst="rect">
            <a:avLst/>
          </a:prstGeom>
        </p:spPr>
        <p:txBody>
          <a:bodyPr wrap="square">
            <a:spAutoFit/>
          </a:bodyPr>
          <a:lstStyle/>
          <a:p>
            <a:pPr marL="285750" indent="-285750">
              <a:lnSpc>
                <a:spcPct val="150000"/>
              </a:lnSpc>
              <a:spcBef>
                <a:spcPts val="3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协议特点</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发送方和接收方不需要握手过程</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数据单元（</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数据报</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）独立传输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提供复用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分用功能和</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可选</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的差错检测功能</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支持组播通信（点到多点通信）</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不提供可靠保证：无确认重传，可能有出错、丢失、乱序等现象</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FC625905-DD69-4362-A404-B0AAD822D0E7}"/>
              </a:ext>
            </a:extLst>
          </p:cNvPr>
          <p:cNvSpPr/>
          <p:nvPr/>
        </p:nvSpPr>
        <p:spPr>
          <a:xfrm>
            <a:off x="7629137" y="737937"/>
            <a:ext cx="1107996" cy="369332"/>
          </a:xfrm>
          <a:prstGeom prst="rect">
            <a:avLst/>
          </a:prstGeom>
          <a:solidFill>
            <a:schemeClr val="accent3">
              <a:lumMod val="20000"/>
              <a:lumOff val="80000"/>
            </a:schemeClr>
          </a:solidFill>
          <a:ln>
            <a:solidFill>
              <a:srgbClr val="C00000"/>
            </a:solidFill>
          </a:ln>
        </p:spPr>
        <p:txBody>
          <a:bodyPr wrap="none">
            <a:spAutoFit/>
          </a:bodyPr>
          <a:lstStyle/>
          <a:p>
            <a:r>
              <a:rPr lang="en-US" altLang="zh-CN" dirty="0">
                <a:latin typeface="Arial" pitchFamily="34" charset="0"/>
                <a:ea typeface="宋体" pitchFamily="2" charset="-122"/>
              </a:rPr>
              <a:t>RFC 768</a:t>
            </a:r>
            <a:endParaRPr lang="zh-CN" altLang="en-US" dirty="0"/>
          </a:p>
        </p:txBody>
      </p:sp>
    </p:spTree>
    <p:extLst>
      <p:ext uri="{BB962C8B-B14F-4D97-AF65-F5344CB8AC3E}">
        <p14:creationId xmlns:p14="http://schemas.microsoft.com/office/powerpoint/2010/main" val="3142555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32C5994E-53DB-4193-B4C9-72BAFA479C74}"/>
              </a:ext>
            </a:extLst>
          </p:cNvPr>
          <p:cNvPicPr>
            <a:picLocks noChangeAspect="1"/>
          </p:cNvPicPr>
          <p:nvPr/>
        </p:nvPicPr>
        <p:blipFill>
          <a:blip r:embed="rId3"/>
          <a:stretch>
            <a:fillRect/>
          </a:stretch>
        </p:blipFill>
        <p:spPr>
          <a:xfrm>
            <a:off x="649737" y="2993928"/>
            <a:ext cx="7852437" cy="2282407"/>
          </a:xfrm>
          <a:prstGeom prst="rect">
            <a:avLst/>
          </a:prstGeom>
        </p:spPr>
      </p:pic>
      <p:sp>
        <p:nvSpPr>
          <p:cNvPr id="8" name="矩形 7">
            <a:extLst>
              <a:ext uri="{FF2B5EF4-FFF2-40B4-BE49-F238E27FC236}">
                <a16:creationId xmlns:a16="http://schemas.microsoft.com/office/drawing/2014/main" id="{C5520673-0FE4-4017-8F96-BB17A78342DC}"/>
              </a:ext>
            </a:extLst>
          </p:cNvPr>
          <p:cNvSpPr/>
          <p:nvPr/>
        </p:nvSpPr>
        <p:spPr>
          <a:xfrm>
            <a:off x="415651" y="922603"/>
            <a:ext cx="8395911" cy="1767022"/>
          </a:xfrm>
          <a:prstGeom prst="rect">
            <a:avLst/>
          </a:prstGeom>
        </p:spPr>
        <p:txBody>
          <a:bodyPr wrap="square">
            <a:spAutoFit/>
          </a:bodyPr>
          <a:lstStyle/>
          <a:p>
            <a:pPr marL="285750" indent="-285750">
              <a:lnSpc>
                <a:spcPct val="150000"/>
              </a:lnSpc>
              <a:spcBef>
                <a:spcPts val="3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数据报格式</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长度：包含头部，以字节计数</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50000"/>
              </a:lnSpc>
              <a:spcBef>
                <a:spcPts val="3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校验和：为可选项，用于差错检测</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FC625905-DD69-4362-A404-B0AAD822D0E7}"/>
              </a:ext>
            </a:extLst>
          </p:cNvPr>
          <p:cNvSpPr/>
          <p:nvPr/>
        </p:nvSpPr>
        <p:spPr>
          <a:xfrm>
            <a:off x="7629137" y="737937"/>
            <a:ext cx="1107996" cy="369332"/>
          </a:xfrm>
          <a:prstGeom prst="rect">
            <a:avLst/>
          </a:prstGeom>
          <a:solidFill>
            <a:schemeClr val="accent3">
              <a:lumMod val="20000"/>
              <a:lumOff val="80000"/>
            </a:schemeClr>
          </a:solidFill>
          <a:ln>
            <a:solidFill>
              <a:srgbClr val="C00000"/>
            </a:solidFill>
          </a:ln>
        </p:spPr>
        <p:txBody>
          <a:bodyPr wrap="none">
            <a:spAutoFit/>
          </a:bodyPr>
          <a:lstStyle/>
          <a:p>
            <a:r>
              <a:rPr lang="en-US" altLang="zh-CN" dirty="0">
                <a:latin typeface="Arial" pitchFamily="34" charset="0"/>
                <a:ea typeface="宋体" pitchFamily="2" charset="-122"/>
              </a:rPr>
              <a:t>RFC 768</a:t>
            </a:r>
            <a:endParaRPr lang="zh-CN" altLang="en-US" dirty="0"/>
          </a:p>
        </p:txBody>
      </p:sp>
    </p:spTree>
    <p:extLst>
      <p:ext uri="{BB962C8B-B14F-4D97-AF65-F5344CB8AC3E}">
        <p14:creationId xmlns:p14="http://schemas.microsoft.com/office/powerpoint/2010/main" val="2304947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457200" y="781464"/>
            <a:ext cx="8143103" cy="2079415"/>
          </a:xfrm>
          <a:prstGeom prst="rect">
            <a:avLst/>
          </a:prstGeom>
        </p:spPr>
        <p:txBody>
          <a:bodyPr wrap="square">
            <a:spAutoFit/>
          </a:bodyPr>
          <a:lstStyle/>
          <a:p>
            <a:pPr marL="285750" indent="-285750">
              <a:lnSpc>
                <a:spcPct val="1300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分用</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30000"/>
              </a:lnSpc>
              <a:spcBef>
                <a:spcPts val="600"/>
              </a:spcBef>
              <a:buClr>
                <a:srgbClr val="2618A8"/>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进程标识：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端口号</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30000"/>
              </a:lnSpc>
              <a:spcBef>
                <a:spcPts val="600"/>
              </a:spcBef>
              <a:buClr>
                <a:srgbClr val="2618A8"/>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例如：</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通信，</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使用端口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6000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使用端口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6000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通信，</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使用端口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7000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P4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使用端口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8000</a:t>
            </a:r>
          </a:p>
        </p:txBody>
      </p:sp>
      <p:pic>
        <p:nvPicPr>
          <p:cNvPr id="3" name="图片 2">
            <a:extLst>
              <a:ext uri="{FF2B5EF4-FFF2-40B4-BE49-F238E27FC236}">
                <a16:creationId xmlns:a16="http://schemas.microsoft.com/office/drawing/2014/main" id="{1E0E3112-D0B7-47B9-BCC9-B55CCA5DFF31}"/>
              </a:ext>
            </a:extLst>
          </p:cNvPr>
          <p:cNvPicPr>
            <a:picLocks noChangeAspect="1"/>
          </p:cNvPicPr>
          <p:nvPr/>
        </p:nvPicPr>
        <p:blipFill>
          <a:blip r:embed="rId3"/>
          <a:stretch>
            <a:fillRect/>
          </a:stretch>
        </p:blipFill>
        <p:spPr>
          <a:xfrm>
            <a:off x="1711410" y="2892068"/>
            <a:ext cx="5721179" cy="3435864"/>
          </a:xfrm>
          <a:prstGeom prst="rect">
            <a:avLst/>
          </a:prstGeom>
        </p:spPr>
      </p:pic>
    </p:spTree>
    <p:extLst>
      <p:ext uri="{BB962C8B-B14F-4D97-AF65-F5344CB8AC3E}">
        <p14:creationId xmlns:p14="http://schemas.microsoft.com/office/powerpoint/2010/main" val="1828095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374043" y="879486"/>
            <a:ext cx="8395911" cy="2896177"/>
          </a:xfrm>
          <a:prstGeom prst="rect">
            <a:avLst/>
          </a:prstGeom>
        </p:spPr>
        <p:txBody>
          <a:bodyPr wrap="square">
            <a:spAutoFit/>
          </a:bodyPr>
          <a:lstStyle/>
          <a:p>
            <a:pPr marL="285750" indent="-285750">
              <a:lnSpc>
                <a:spcPts val="33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数据报的差错检测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3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可选项，数据报中携带冗余位（校验和字段），检测数据报传输过程中是否出错</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3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发送端：生成伪首部，和发送的数据报计算校验和</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3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接收端：生成伪首部，和接收的数据报计算校验和</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3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伪首部：包含源</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地址、目的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地址、协议类型等</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FA4C6DEC-ACC0-4CEE-AB13-61266BA97D30}"/>
              </a:ext>
            </a:extLst>
          </p:cNvPr>
          <p:cNvPicPr>
            <a:picLocks noChangeAspect="1"/>
          </p:cNvPicPr>
          <p:nvPr/>
        </p:nvPicPr>
        <p:blipFill>
          <a:blip r:embed="rId3"/>
          <a:stretch>
            <a:fillRect/>
          </a:stretch>
        </p:blipFill>
        <p:spPr>
          <a:xfrm>
            <a:off x="584602" y="4151638"/>
            <a:ext cx="7974794" cy="1826876"/>
          </a:xfrm>
          <a:prstGeom prst="rect">
            <a:avLst/>
          </a:prstGeom>
        </p:spPr>
      </p:pic>
    </p:spTree>
    <p:extLst>
      <p:ext uri="{BB962C8B-B14F-4D97-AF65-F5344CB8AC3E}">
        <p14:creationId xmlns:p14="http://schemas.microsoft.com/office/powerpoint/2010/main" val="702065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292147" y="689947"/>
            <a:ext cx="8523215"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校验和计算方法</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0B496D3B-B899-48B2-BDDC-1522957E289E}"/>
              </a:ext>
            </a:extLst>
          </p:cNvPr>
          <p:cNvSpPr/>
          <p:nvPr/>
        </p:nvSpPr>
        <p:spPr>
          <a:xfrm>
            <a:off x="341222" y="1225897"/>
            <a:ext cx="4155277" cy="2688493"/>
          </a:xfrm>
          <a:prstGeom prst="rect">
            <a:avLst/>
          </a:prstGeom>
          <a:ln>
            <a:solidFill>
              <a:schemeClr val="accent1">
                <a:lumMod val="75000"/>
              </a:schemeClr>
            </a:solidFill>
          </a:ln>
        </p:spPr>
        <p:txBody>
          <a:bodyPr wrap="square">
            <a:spAutoFit/>
          </a:bodyPr>
          <a:lstStyle/>
          <a:p>
            <a:pPr>
              <a:lnSpc>
                <a:spcPts val="2800"/>
              </a:lnSpc>
              <a:spcBef>
                <a:spcPts val="600"/>
              </a:spcBef>
              <a:buClr>
                <a:srgbClr val="2A09B7"/>
              </a:buClr>
            </a:pPr>
            <a:r>
              <a:rPr lang="zh-CN" altLang="en-US" sz="2400" b="1" dirty="0">
                <a:solidFill>
                  <a:srgbClr val="2A09B7"/>
                </a:solidFill>
                <a:latin typeface="楷体" panose="02010609060101010101" pitchFamily="49" charset="-122"/>
                <a:ea typeface="楷体" panose="02010609060101010101" pitchFamily="49" charset="-122"/>
                <a:cs typeface="Times New Roman" panose="02020603050405020304" pitchFamily="18" charset="0"/>
              </a:rPr>
              <a:t>发送端</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产生伪首部，校验和字段填充</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，将数据报用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补齐为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位整数倍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伪首部和数据报看成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位整数序列，采用</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二进制反码求和</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位二进制求和，计算结果取反写入校验和字段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CDB7C7AC-EEF1-41EF-848C-010F9B18B724}"/>
              </a:ext>
            </a:extLst>
          </p:cNvPr>
          <p:cNvSpPr/>
          <p:nvPr/>
        </p:nvSpPr>
        <p:spPr>
          <a:xfrm>
            <a:off x="4660085" y="1225897"/>
            <a:ext cx="4155277" cy="2682786"/>
          </a:xfrm>
          <a:prstGeom prst="rect">
            <a:avLst/>
          </a:prstGeom>
          <a:ln>
            <a:solidFill>
              <a:schemeClr val="accent1">
                <a:lumMod val="75000"/>
              </a:schemeClr>
            </a:solidFill>
          </a:ln>
        </p:spPr>
        <p:txBody>
          <a:bodyPr wrap="square">
            <a:spAutoFit/>
          </a:bodyPr>
          <a:lstStyle/>
          <a:p>
            <a:pPr>
              <a:lnSpc>
                <a:spcPts val="2800"/>
              </a:lnSpc>
              <a:spcBef>
                <a:spcPts val="600"/>
              </a:spcBef>
              <a:buClr>
                <a:srgbClr val="2A09B7"/>
              </a:buClr>
            </a:pPr>
            <a:r>
              <a:rPr lang="zh-CN" altLang="en-US" sz="2400" b="1" dirty="0">
                <a:solidFill>
                  <a:srgbClr val="2A09B7"/>
                </a:solidFill>
                <a:latin typeface="楷体" panose="02010609060101010101" pitchFamily="49" charset="-122"/>
                <a:ea typeface="楷体" panose="02010609060101010101" pitchFamily="49" charset="-122"/>
                <a:cs typeface="Times New Roman" panose="02020603050405020304" pitchFamily="18" charset="0"/>
              </a:rPr>
              <a:t>接收端</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产生伪首部，将数据报用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补齐为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位整数倍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伪首部和数据报看成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位整数序列，采用二进制反码求和运算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2800"/>
              </a:lnSpc>
              <a:spcBef>
                <a:spcPts val="300"/>
              </a:spcBef>
              <a:buClr>
                <a:srgbClr val="2A09B7"/>
              </a:buClr>
              <a:buFont typeface="Wingdings" panose="05000000000000000000" pitchFamily="2" charset="2"/>
              <a:buChar char="l"/>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如果计算结果为全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，未检测到错误；否则，检测到错误</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CBAF7DA2-1901-4D08-AC4B-0D380856F9E5}"/>
              </a:ext>
            </a:extLst>
          </p:cNvPr>
          <p:cNvPicPr>
            <a:picLocks noChangeAspect="1"/>
          </p:cNvPicPr>
          <p:nvPr/>
        </p:nvPicPr>
        <p:blipFill>
          <a:blip r:embed="rId3"/>
          <a:stretch>
            <a:fillRect/>
          </a:stretch>
        </p:blipFill>
        <p:spPr>
          <a:xfrm>
            <a:off x="1989438" y="4012341"/>
            <a:ext cx="5184252" cy="2473134"/>
          </a:xfrm>
          <a:prstGeom prst="rect">
            <a:avLst/>
          </a:prstGeom>
        </p:spPr>
      </p:pic>
      <p:sp>
        <p:nvSpPr>
          <p:cNvPr id="3" name="矩形 2">
            <a:extLst>
              <a:ext uri="{FF2B5EF4-FFF2-40B4-BE49-F238E27FC236}">
                <a16:creationId xmlns:a16="http://schemas.microsoft.com/office/drawing/2014/main" id="{9E2D6E58-1EE7-4553-B92B-9302CE552CE2}"/>
              </a:ext>
            </a:extLst>
          </p:cNvPr>
          <p:cNvSpPr/>
          <p:nvPr/>
        </p:nvSpPr>
        <p:spPr>
          <a:xfrm>
            <a:off x="1970311" y="5152768"/>
            <a:ext cx="5203380" cy="13327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160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1327750" y="1787765"/>
            <a:ext cx="6400800" cy="236988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type="none" w="sm" len="me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Comic Sans MS" charset="0"/>
              </a:rPr>
              <a:t>1</a:t>
            </a:r>
            <a:r>
              <a:rPr lang="en-US" sz="2000" b="1" dirty="0">
                <a:latin typeface="Comic Sans MS" charset="0"/>
              </a:rPr>
              <a:t>  1  1  1  0  0  1  1  0  0  1  1  0  0  1  1  0</a:t>
            </a:r>
          </a:p>
          <a:p>
            <a:pPr algn="l">
              <a:defRPr/>
            </a:pPr>
            <a:r>
              <a:rPr lang="en-US" sz="2000" b="1" dirty="0">
                <a:solidFill>
                  <a:schemeClr val="bg1"/>
                </a:solidFill>
                <a:latin typeface="Comic Sans MS" charset="0"/>
              </a:rPr>
              <a:t>1</a:t>
            </a:r>
            <a:r>
              <a:rPr lang="en-US" sz="2000" b="1" dirty="0">
                <a:latin typeface="Comic Sans MS" charset="0"/>
              </a:rPr>
              <a:t>  1  1  0  1  0  1  0  1  0  1  0  1  0  1  0  1</a:t>
            </a:r>
          </a:p>
          <a:p>
            <a:pPr algn="l">
              <a:lnSpc>
                <a:spcPct val="120000"/>
              </a:lnSpc>
              <a:defRPr/>
            </a:pPr>
            <a:endParaRPr lang="en-US" sz="2000" b="1" dirty="0">
              <a:latin typeface="Comic Sans MS" charset="0"/>
            </a:endParaRPr>
          </a:p>
          <a:p>
            <a:pPr algn="l">
              <a:defRPr/>
            </a:pPr>
            <a:r>
              <a:rPr lang="en-US" sz="2000" b="1" dirty="0">
                <a:latin typeface="Comic Sans MS" charset="0"/>
              </a:rPr>
              <a:t>1  1  0  1  1  1  0  1  1  1  0  1  1  1  0  1  1</a:t>
            </a:r>
          </a:p>
          <a:p>
            <a:pPr algn="l">
              <a:lnSpc>
                <a:spcPct val="120000"/>
              </a:lnSpc>
              <a:defRPr/>
            </a:pPr>
            <a:endParaRPr lang="en-US" sz="2000" b="1" dirty="0">
              <a:latin typeface="Comic Sans MS" charset="0"/>
            </a:endParaRPr>
          </a:p>
          <a:p>
            <a:pPr algn="l">
              <a:defRPr/>
            </a:pPr>
            <a:r>
              <a:rPr lang="en-US" sz="2000" b="1" dirty="0">
                <a:solidFill>
                  <a:schemeClr val="bg1"/>
                </a:solidFill>
                <a:latin typeface="Comic Sans MS" charset="0"/>
              </a:rPr>
              <a:t>1</a:t>
            </a:r>
            <a:r>
              <a:rPr lang="en-US" sz="2000" b="1" dirty="0">
                <a:latin typeface="Comic Sans MS" charset="0"/>
              </a:rPr>
              <a:t>  1  0  1  1  1  0  1  1  1  0  1  1  1  1  0  0</a:t>
            </a:r>
          </a:p>
          <a:p>
            <a:pPr algn="l">
              <a:defRPr/>
            </a:pPr>
            <a:r>
              <a:rPr lang="en-US" sz="2000" b="1" dirty="0">
                <a:solidFill>
                  <a:schemeClr val="bg1"/>
                </a:solidFill>
                <a:latin typeface="Comic Sans MS" charset="0"/>
              </a:rPr>
              <a:t>1</a:t>
            </a:r>
            <a:r>
              <a:rPr lang="en-US" sz="2000" b="1" dirty="0">
                <a:latin typeface="Comic Sans MS" charset="0"/>
              </a:rPr>
              <a:t>  </a:t>
            </a:r>
            <a:r>
              <a:rPr lang="en-US" sz="2000" b="1" dirty="0">
                <a:solidFill>
                  <a:srgbClr val="2A09B7"/>
                </a:solidFill>
                <a:latin typeface="Comic Sans MS" charset="0"/>
              </a:rPr>
              <a:t>0  1  0  0  0  1  0  0  0  1  0  0  0  0  1  1</a:t>
            </a:r>
            <a:endParaRPr lang="en-US" sz="2400" b="1" dirty="0">
              <a:solidFill>
                <a:srgbClr val="2A09B7"/>
              </a:solidFill>
              <a:latin typeface="Comic Sans MS" charset="0"/>
            </a:endParaRPr>
          </a:p>
        </p:txBody>
      </p:sp>
      <p:sp>
        <p:nvSpPr>
          <p:cNvPr id="19464" name="Line 5">
            <a:extLst>
              <a:ext uri="{FF2B5EF4-FFF2-40B4-BE49-F238E27FC236}">
                <a16:creationId xmlns:a16="http://schemas.microsoft.com/office/drawing/2014/main" id="{6B7A5157-C9C5-4E69-8774-15BDEE99D5F1}"/>
              </a:ext>
            </a:extLst>
          </p:cNvPr>
          <p:cNvSpPr>
            <a:spLocks noChangeShapeType="1"/>
          </p:cNvSpPr>
          <p:nvPr/>
        </p:nvSpPr>
        <p:spPr bwMode="auto">
          <a:xfrm flipH="1">
            <a:off x="1251550" y="2614853"/>
            <a:ext cx="6477000"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465" name="Oval 6">
            <a:extLst>
              <a:ext uri="{FF2B5EF4-FFF2-40B4-BE49-F238E27FC236}">
                <a16:creationId xmlns:a16="http://schemas.microsoft.com/office/drawing/2014/main" id="{C349E8C1-FB8C-4DD2-937E-921290DDF5A3}"/>
              </a:ext>
            </a:extLst>
          </p:cNvPr>
          <p:cNvSpPr>
            <a:spLocks noChangeArrowheads="1"/>
          </p:cNvSpPr>
          <p:nvPr/>
        </p:nvSpPr>
        <p:spPr bwMode="auto">
          <a:xfrm>
            <a:off x="1327750" y="2791065"/>
            <a:ext cx="304800"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469" name="Line 10">
            <a:extLst>
              <a:ext uri="{FF2B5EF4-FFF2-40B4-BE49-F238E27FC236}">
                <a16:creationId xmlns:a16="http://schemas.microsoft.com/office/drawing/2014/main" id="{C0DA2F60-A56E-43BE-9FFD-D3F55F76073C}"/>
              </a:ext>
            </a:extLst>
          </p:cNvPr>
          <p:cNvSpPr>
            <a:spLocks noChangeShapeType="1"/>
          </p:cNvSpPr>
          <p:nvPr/>
        </p:nvSpPr>
        <p:spPr bwMode="auto">
          <a:xfrm flipH="1">
            <a:off x="1251550" y="3333990"/>
            <a:ext cx="6477000"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3805" name="Freeform 11">
            <a:extLst>
              <a:ext uri="{FF2B5EF4-FFF2-40B4-BE49-F238E27FC236}">
                <a16:creationId xmlns:a16="http://schemas.microsoft.com/office/drawing/2014/main" id="{6818F98D-5E8C-4EBE-BF6A-BCEDC9012BFB}"/>
              </a:ext>
            </a:extLst>
          </p:cNvPr>
          <p:cNvSpPr>
            <a:spLocks/>
          </p:cNvSpPr>
          <p:nvPr/>
        </p:nvSpPr>
        <p:spPr bwMode="auto">
          <a:xfrm>
            <a:off x="1489675" y="3097453"/>
            <a:ext cx="6013450" cy="92075"/>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标题 1">
            <a:extLst>
              <a:ext uri="{FF2B5EF4-FFF2-40B4-BE49-F238E27FC236}">
                <a16:creationId xmlns:a16="http://schemas.microsoft.com/office/drawing/2014/main" id="{597B8C1B-9B4B-4B3E-81D1-2C4FB73BDC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矩形 18">
            <a:extLst>
              <a:ext uri="{FF2B5EF4-FFF2-40B4-BE49-F238E27FC236}">
                <a16:creationId xmlns:a16="http://schemas.microsoft.com/office/drawing/2014/main" id="{6BCE0C58-758D-4961-8654-32E4001EBBC0}"/>
              </a:ext>
            </a:extLst>
          </p:cNvPr>
          <p:cNvSpPr/>
          <p:nvPr/>
        </p:nvSpPr>
        <p:spPr>
          <a:xfrm>
            <a:off x="400058" y="869357"/>
            <a:ext cx="8343884"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TCP/UDP/IP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校验和计算示例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228442" y="710618"/>
            <a:ext cx="8523215"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计算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校验和示例 </a:t>
            </a:r>
          </a:p>
        </p:txBody>
      </p:sp>
      <p:sp>
        <p:nvSpPr>
          <p:cNvPr id="12" name="Text Box 8">
            <a:extLst>
              <a:ext uri="{FF2B5EF4-FFF2-40B4-BE49-F238E27FC236}">
                <a16:creationId xmlns:a16="http://schemas.microsoft.com/office/drawing/2014/main" id="{080DAA27-4444-4A50-90D8-3BE39191F346}"/>
              </a:ext>
            </a:extLst>
          </p:cNvPr>
          <p:cNvSpPr txBox="1">
            <a:spLocks noChangeArrowheads="1"/>
          </p:cNvSpPr>
          <p:nvPr/>
        </p:nvSpPr>
        <p:spPr bwMode="auto">
          <a:xfrm>
            <a:off x="4272086" y="1122239"/>
            <a:ext cx="4843462" cy="5324535"/>
          </a:xfrm>
          <a:prstGeom prst="rect">
            <a:avLst/>
          </a:prstGeom>
          <a:noFill/>
          <a:ln w="9525">
            <a:noFill/>
            <a:miter lim="800000"/>
            <a:headEnd/>
            <a:tailEnd/>
          </a:ln>
        </p:spPr>
        <p:txBody>
          <a:bodyPr>
            <a:spAutoFit/>
          </a:bodyPr>
          <a:lstStyle/>
          <a:p>
            <a:pPr>
              <a:lnSpc>
                <a:spcPct val="100000"/>
              </a:lnSpc>
              <a:spcBef>
                <a:spcPct val="0"/>
              </a:spcBef>
              <a:buClrTx/>
              <a:buFontTx/>
              <a:buNone/>
            </a:pPr>
            <a:r>
              <a:rPr lang="en-US" altLang="zh-CN" sz="2000" dirty="0">
                <a:latin typeface="Times New Roman" pitchFamily="18" charset="0"/>
                <a:ea typeface="宋体" pitchFamily="2" charset="-122"/>
              </a:rPr>
              <a:t>10011001 00010011  →  153.19</a:t>
            </a:r>
          </a:p>
          <a:p>
            <a:pPr>
              <a:lnSpc>
                <a:spcPct val="100000"/>
              </a:lnSpc>
              <a:spcBef>
                <a:spcPct val="0"/>
              </a:spcBef>
              <a:buClrTx/>
              <a:buFontTx/>
              <a:buNone/>
            </a:pPr>
            <a:r>
              <a:rPr lang="en-US" altLang="zh-CN" sz="2000" dirty="0">
                <a:latin typeface="Times New Roman" pitchFamily="18" charset="0"/>
                <a:ea typeface="宋体" pitchFamily="2" charset="-122"/>
              </a:rPr>
              <a:t>00001000 01101000  →  8.104</a:t>
            </a:r>
          </a:p>
          <a:p>
            <a:pPr>
              <a:lnSpc>
                <a:spcPct val="100000"/>
              </a:lnSpc>
              <a:spcBef>
                <a:spcPct val="0"/>
              </a:spcBef>
              <a:buClrTx/>
              <a:buFontTx/>
              <a:buNone/>
            </a:pPr>
            <a:r>
              <a:rPr lang="en-US" altLang="zh-CN" sz="2000" dirty="0">
                <a:latin typeface="Times New Roman" pitchFamily="18" charset="0"/>
                <a:ea typeface="宋体" pitchFamily="2" charset="-122"/>
              </a:rPr>
              <a:t>10101011 00000011  →  171.3</a:t>
            </a:r>
          </a:p>
          <a:p>
            <a:pPr>
              <a:lnSpc>
                <a:spcPct val="100000"/>
              </a:lnSpc>
              <a:spcBef>
                <a:spcPct val="0"/>
              </a:spcBef>
              <a:buClrTx/>
              <a:buFontTx/>
              <a:buNone/>
            </a:pPr>
            <a:r>
              <a:rPr lang="en-US" altLang="zh-CN" sz="2000" dirty="0">
                <a:latin typeface="Times New Roman" pitchFamily="18" charset="0"/>
                <a:ea typeface="宋体" pitchFamily="2" charset="-122"/>
              </a:rPr>
              <a:t>00001110 00001011  →  14.11</a:t>
            </a:r>
          </a:p>
          <a:p>
            <a:pPr>
              <a:lnSpc>
                <a:spcPct val="100000"/>
              </a:lnSpc>
              <a:spcBef>
                <a:spcPct val="0"/>
              </a:spcBef>
              <a:buClrTx/>
              <a:buFontTx/>
              <a:buNone/>
            </a:pPr>
            <a:r>
              <a:rPr lang="en-US" altLang="zh-CN" sz="2000" dirty="0">
                <a:latin typeface="Times New Roman" pitchFamily="18" charset="0"/>
                <a:ea typeface="宋体" pitchFamily="2" charset="-122"/>
              </a:rPr>
              <a:t>00000000 00010001  →  0 </a:t>
            </a:r>
            <a:r>
              <a:rPr lang="zh-CN" altLang="en-US" sz="2000" dirty="0">
                <a:latin typeface="Times New Roman" pitchFamily="18" charset="0"/>
                <a:ea typeface="宋体" pitchFamily="2" charset="-122"/>
              </a:rPr>
              <a:t>和 </a:t>
            </a:r>
            <a:r>
              <a:rPr lang="en-US" altLang="zh-CN" sz="2000" dirty="0">
                <a:latin typeface="Times New Roman" pitchFamily="18" charset="0"/>
                <a:ea typeface="宋体" pitchFamily="2" charset="-122"/>
              </a:rPr>
              <a:t>17</a:t>
            </a:r>
          </a:p>
          <a:p>
            <a:pPr>
              <a:lnSpc>
                <a:spcPct val="100000"/>
              </a:lnSpc>
              <a:spcBef>
                <a:spcPct val="0"/>
              </a:spcBef>
              <a:buClrTx/>
              <a:buFontTx/>
              <a:buNone/>
            </a:pPr>
            <a:r>
              <a:rPr lang="en-US" altLang="zh-CN" sz="2000" dirty="0">
                <a:latin typeface="Times New Roman" pitchFamily="18" charset="0"/>
                <a:ea typeface="宋体" pitchFamily="2" charset="-122"/>
              </a:rPr>
              <a:t>00000000 00001111  →  15</a:t>
            </a:r>
          </a:p>
          <a:p>
            <a:pPr>
              <a:lnSpc>
                <a:spcPct val="100000"/>
              </a:lnSpc>
              <a:spcBef>
                <a:spcPct val="0"/>
              </a:spcBef>
              <a:buClrTx/>
              <a:buFontTx/>
              <a:buNone/>
            </a:pPr>
            <a:r>
              <a:rPr lang="en-US" altLang="zh-CN" sz="2000" dirty="0">
                <a:latin typeface="Times New Roman" pitchFamily="18" charset="0"/>
                <a:ea typeface="宋体" pitchFamily="2" charset="-122"/>
              </a:rPr>
              <a:t>00000100 00111111  →  1087</a:t>
            </a:r>
          </a:p>
          <a:p>
            <a:pPr>
              <a:lnSpc>
                <a:spcPct val="100000"/>
              </a:lnSpc>
              <a:spcBef>
                <a:spcPct val="0"/>
              </a:spcBef>
              <a:buClrTx/>
              <a:buFontTx/>
              <a:buNone/>
            </a:pPr>
            <a:r>
              <a:rPr lang="en-US" altLang="zh-CN" sz="2000" dirty="0">
                <a:latin typeface="Times New Roman" pitchFamily="18" charset="0"/>
                <a:ea typeface="宋体" pitchFamily="2" charset="-122"/>
              </a:rPr>
              <a:t>00000000 00001101  →  13</a:t>
            </a:r>
          </a:p>
          <a:p>
            <a:pPr>
              <a:lnSpc>
                <a:spcPct val="100000"/>
              </a:lnSpc>
              <a:spcBef>
                <a:spcPct val="0"/>
              </a:spcBef>
              <a:buClrTx/>
              <a:buFontTx/>
              <a:buNone/>
            </a:pPr>
            <a:r>
              <a:rPr lang="en-US" altLang="zh-CN" sz="2000" dirty="0">
                <a:latin typeface="Times New Roman" pitchFamily="18" charset="0"/>
                <a:ea typeface="宋体" pitchFamily="2" charset="-122"/>
              </a:rPr>
              <a:t>00000000 00001111  →  15</a:t>
            </a:r>
          </a:p>
          <a:p>
            <a:pPr>
              <a:lnSpc>
                <a:spcPct val="100000"/>
              </a:lnSpc>
              <a:spcBef>
                <a:spcPct val="0"/>
              </a:spcBef>
              <a:buClrTx/>
              <a:buFontTx/>
              <a:buNone/>
            </a:pPr>
            <a:r>
              <a:rPr lang="en-US" altLang="zh-CN" sz="2000" dirty="0">
                <a:latin typeface="Times New Roman" pitchFamily="18" charset="0"/>
                <a:ea typeface="宋体" pitchFamily="2" charset="-122"/>
              </a:rPr>
              <a:t>00000000 00000000  →  0</a:t>
            </a:r>
            <a:r>
              <a:rPr lang="zh-CN" altLang="en-US" sz="2000" dirty="0">
                <a:latin typeface="Times New Roman" pitchFamily="18" charset="0"/>
                <a:ea typeface="宋体" pitchFamily="2" charset="-122"/>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校验和</a:t>
            </a:r>
            <a:r>
              <a:rPr lang="zh-CN" altLang="en-US" sz="2000" dirty="0">
                <a:latin typeface="Times New Roman" pitchFamily="18" charset="0"/>
                <a:ea typeface="宋体" pitchFamily="2" charset="-122"/>
              </a:rPr>
              <a:t>）</a:t>
            </a:r>
          </a:p>
          <a:p>
            <a:pPr>
              <a:lnSpc>
                <a:spcPct val="100000"/>
              </a:lnSpc>
              <a:spcBef>
                <a:spcPct val="0"/>
              </a:spcBef>
              <a:buClrTx/>
              <a:buFontTx/>
              <a:buNone/>
            </a:pPr>
            <a:r>
              <a:rPr lang="en-US" altLang="zh-CN" sz="2000" dirty="0">
                <a:latin typeface="Times New Roman" pitchFamily="18" charset="0"/>
                <a:ea typeface="宋体" pitchFamily="2" charset="-122"/>
              </a:rPr>
              <a:t>01010100 01000101  →  </a:t>
            </a:r>
            <a:r>
              <a:rPr lang="zh-CN" altLang="en-US" sz="2000" dirty="0">
                <a:latin typeface="Times New Roman" pitchFamily="18" charset="0"/>
                <a:ea typeface="宋体" pitchFamily="2" charset="-122"/>
              </a:rPr>
              <a:t>数据</a:t>
            </a:r>
          </a:p>
          <a:p>
            <a:pPr>
              <a:lnSpc>
                <a:spcPct val="100000"/>
              </a:lnSpc>
              <a:spcBef>
                <a:spcPct val="0"/>
              </a:spcBef>
              <a:buClrTx/>
              <a:buFontTx/>
              <a:buNone/>
            </a:pPr>
            <a:r>
              <a:rPr lang="en-US" altLang="zh-CN" sz="2000" dirty="0">
                <a:latin typeface="Times New Roman" pitchFamily="18" charset="0"/>
                <a:ea typeface="宋体" pitchFamily="2" charset="-122"/>
              </a:rPr>
              <a:t>01010011 01010100  →  </a:t>
            </a:r>
            <a:r>
              <a:rPr lang="zh-CN" altLang="en-US" sz="2000" dirty="0">
                <a:latin typeface="Times New Roman" pitchFamily="18" charset="0"/>
                <a:ea typeface="宋体" pitchFamily="2" charset="-122"/>
              </a:rPr>
              <a:t>数据</a:t>
            </a:r>
          </a:p>
          <a:p>
            <a:pPr>
              <a:lnSpc>
                <a:spcPct val="100000"/>
              </a:lnSpc>
              <a:spcBef>
                <a:spcPct val="0"/>
              </a:spcBef>
              <a:buClrTx/>
              <a:buFontTx/>
              <a:buNone/>
            </a:pPr>
            <a:r>
              <a:rPr lang="en-US" altLang="zh-CN" sz="2000" dirty="0">
                <a:latin typeface="Times New Roman" pitchFamily="18" charset="0"/>
                <a:ea typeface="宋体" pitchFamily="2" charset="-122"/>
              </a:rPr>
              <a:t>01001001 01001110  →  </a:t>
            </a:r>
            <a:r>
              <a:rPr lang="zh-CN" altLang="en-US" sz="2000" dirty="0">
                <a:latin typeface="Times New Roman" pitchFamily="18" charset="0"/>
                <a:ea typeface="宋体" pitchFamily="2" charset="-122"/>
              </a:rPr>
              <a:t>数据</a:t>
            </a:r>
          </a:p>
          <a:p>
            <a:pPr>
              <a:lnSpc>
                <a:spcPct val="100000"/>
              </a:lnSpc>
              <a:spcBef>
                <a:spcPct val="0"/>
              </a:spcBef>
              <a:buClrTx/>
              <a:buFontTx/>
              <a:buNone/>
            </a:pPr>
            <a:r>
              <a:rPr lang="en-US" altLang="zh-CN" sz="2000" dirty="0">
                <a:latin typeface="Times New Roman" pitchFamily="18" charset="0"/>
                <a:ea typeface="宋体" pitchFamily="2" charset="-122"/>
              </a:rPr>
              <a:t>01000111 00000000  →  </a:t>
            </a:r>
            <a:r>
              <a:rPr lang="zh-CN" altLang="en-US" sz="2000" dirty="0">
                <a:latin typeface="Times New Roman" pitchFamily="18" charset="0"/>
                <a:ea typeface="宋体" pitchFamily="2" charset="-122"/>
              </a:rPr>
              <a:t>数据和 </a:t>
            </a:r>
            <a:r>
              <a:rPr lang="en-US" altLang="zh-CN" sz="2000" dirty="0">
                <a:latin typeface="Times New Roman" pitchFamily="18" charset="0"/>
                <a:ea typeface="宋体" pitchFamily="2" charset="-122"/>
              </a:rPr>
              <a:t>0</a:t>
            </a:r>
            <a:r>
              <a:rPr lang="zh-CN" altLang="en-US" sz="2000" dirty="0">
                <a:latin typeface="Times New Roman" pitchFamily="18" charset="0"/>
                <a:ea typeface="宋体" pitchFamily="2" charset="-122"/>
              </a:rPr>
              <a:t>（填充）</a:t>
            </a:r>
          </a:p>
          <a:p>
            <a:pPr>
              <a:lnSpc>
                <a:spcPct val="80000"/>
              </a:lnSpc>
              <a:spcBef>
                <a:spcPct val="0"/>
              </a:spcBef>
              <a:buClrTx/>
              <a:buFontTx/>
              <a:buNone/>
            </a:pPr>
            <a:endParaRPr lang="zh-CN" altLang="en-US" sz="2000" dirty="0">
              <a:latin typeface="Times New Roman" pitchFamily="18" charset="0"/>
              <a:ea typeface="宋体" pitchFamily="2" charset="-122"/>
            </a:endParaRPr>
          </a:p>
          <a:p>
            <a:pPr>
              <a:lnSpc>
                <a:spcPct val="100000"/>
              </a:lnSpc>
              <a:spcBef>
                <a:spcPct val="0"/>
              </a:spcBef>
              <a:buClrTx/>
              <a:buFontTx/>
              <a:buNone/>
            </a:pPr>
            <a:r>
              <a:rPr lang="en-US" altLang="zh-CN" sz="2000" dirty="0">
                <a:latin typeface="Times New Roman" pitchFamily="18" charset="0"/>
                <a:ea typeface="宋体" pitchFamily="2" charset="-122"/>
              </a:rPr>
              <a:t>10010110 11101101 →  </a:t>
            </a:r>
            <a:r>
              <a:rPr lang="zh-CN" altLang="en-US" sz="2000" dirty="0">
                <a:latin typeface="Times New Roman" pitchFamily="18" charset="0"/>
                <a:ea typeface="宋体" pitchFamily="2" charset="-122"/>
              </a:rPr>
              <a:t>求和得出的结果</a:t>
            </a:r>
            <a:r>
              <a:rPr lang="en-US" altLang="zh-CN" sz="2000" dirty="0">
                <a:latin typeface="Times New Roman" pitchFamily="18" charset="0"/>
                <a:ea typeface="宋体" pitchFamily="2" charset="-122"/>
              </a:rPr>
              <a:t>01101001 00010010 →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校验和</a:t>
            </a:r>
            <a:endParaRPr lang="zh-CN" altLang="en-US" sz="2000" dirty="0">
              <a:latin typeface="Times New Roman" pitchFamily="18" charset="0"/>
              <a:ea typeface="宋体" pitchFamily="2" charset="-122"/>
            </a:endParaRPr>
          </a:p>
        </p:txBody>
      </p:sp>
      <p:sp>
        <p:nvSpPr>
          <p:cNvPr id="28" name="AutoShape 24">
            <a:extLst>
              <a:ext uri="{FF2B5EF4-FFF2-40B4-BE49-F238E27FC236}">
                <a16:creationId xmlns:a16="http://schemas.microsoft.com/office/drawing/2014/main" id="{0A9157D3-64D7-41D5-B498-A01BAD8F3D8A}"/>
              </a:ext>
            </a:extLst>
          </p:cNvPr>
          <p:cNvSpPr>
            <a:spLocks/>
          </p:cNvSpPr>
          <p:nvPr/>
        </p:nvSpPr>
        <p:spPr bwMode="auto">
          <a:xfrm>
            <a:off x="883288" y="1401954"/>
            <a:ext cx="48929" cy="1043427"/>
          </a:xfrm>
          <a:prstGeom prst="leftBrace">
            <a:avLst>
              <a:gd name="adj1" fmla="val 124053"/>
              <a:gd name="adj2" fmla="val 50000"/>
            </a:avLst>
          </a:prstGeom>
          <a:noFill/>
          <a:ln w="9525">
            <a:solidFill>
              <a:schemeClr val="tx1"/>
            </a:solidFill>
            <a:round/>
            <a:headEnd/>
            <a:tailEnd/>
          </a:ln>
        </p:spPr>
        <p:txBody>
          <a:bodyPr wrap="none" anchor="ctr"/>
          <a:lstStyle/>
          <a:p>
            <a:endParaRPr lang="zh-CN" altLang="en-US"/>
          </a:p>
        </p:txBody>
      </p:sp>
      <p:sp>
        <p:nvSpPr>
          <p:cNvPr id="29" name="AutoShape 25">
            <a:extLst>
              <a:ext uri="{FF2B5EF4-FFF2-40B4-BE49-F238E27FC236}">
                <a16:creationId xmlns:a16="http://schemas.microsoft.com/office/drawing/2014/main" id="{5DA512A9-1B67-4F12-B93C-F5CAE361815E}"/>
              </a:ext>
            </a:extLst>
          </p:cNvPr>
          <p:cNvSpPr>
            <a:spLocks/>
          </p:cNvSpPr>
          <p:nvPr/>
        </p:nvSpPr>
        <p:spPr bwMode="auto">
          <a:xfrm>
            <a:off x="882760" y="2492290"/>
            <a:ext cx="45719" cy="656958"/>
          </a:xfrm>
          <a:prstGeom prst="leftBrace">
            <a:avLst>
              <a:gd name="adj1" fmla="val 64795"/>
              <a:gd name="adj2" fmla="val 50000"/>
            </a:avLst>
          </a:prstGeom>
          <a:noFill/>
          <a:ln w="9525">
            <a:solidFill>
              <a:schemeClr val="tx1"/>
            </a:solidFill>
            <a:round/>
            <a:headEnd/>
            <a:tailEnd/>
          </a:ln>
        </p:spPr>
        <p:txBody>
          <a:bodyPr wrap="none" anchor="ctr"/>
          <a:lstStyle/>
          <a:p>
            <a:endParaRPr lang="zh-CN" altLang="en-US"/>
          </a:p>
        </p:txBody>
      </p:sp>
      <p:sp>
        <p:nvSpPr>
          <p:cNvPr id="30" name="AutoShape 26">
            <a:extLst>
              <a:ext uri="{FF2B5EF4-FFF2-40B4-BE49-F238E27FC236}">
                <a16:creationId xmlns:a16="http://schemas.microsoft.com/office/drawing/2014/main" id="{7EE282AA-8405-48C5-8AB6-F914C2C2592F}"/>
              </a:ext>
            </a:extLst>
          </p:cNvPr>
          <p:cNvSpPr>
            <a:spLocks/>
          </p:cNvSpPr>
          <p:nvPr/>
        </p:nvSpPr>
        <p:spPr bwMode="auto">
          <a:xfrm>
            <a:off x="874635" y="3187770"/>
            <a:ext cx="45719" cy="656957"/>
          </a:xfrm>
          <a:prstGeom prst="leftBrace">
            <a:avLst>
              <a:gd name="adj1" fmla="val 68027"/>
              <a:gd name="adj2" fmla="val 50000"/>
            </a:avLst>
          </a:prstGeom>
          <a:noFill/>
          <a:ln w="9525">
            <a:solidFill>
              <a:schemeClr val="tx1"/>
            </a:solidFill>
            <a:round/>
            <a:headEnd/>
            <a:tailEnd/>
          </a:ln>
        </p:spPr>
        <p:txBody>
          <a:bodyPr wrap="none" anchor="ctr"/>
          <a:lstStyle/>
          <a:p>
            <a:endParaRPr lang="zh-CN" altLang="en-US"/>
          </a:p>
        </p:txBody>
      </p:sp>
      <p:sp>
        <p:nvSpPr>
          <p:cNvPr id="31" name="Text Box 27">
            <a:extLst>
              <a:ext uri="{FF2B5EF4-FFF2-40B4-BE49-F238E27FC236}">
                <a16:creationId xmlns:a16="http://schemas.microsoft.com/office/drawing/2014/main" id="{DF23ABC4-224D-4066-93B3-2694EAE5F558}"/>
              </a:ext>
            </a:extLst>
          </p:cNvPr>
          <p:cNvSpPr txBox="1">
            <a:spLocks noChangeArrowheads="1"/>
          </p:cNvSpPr>
          <p:nvPr/>
        </p:nvSpPr>
        <p:spPr bwMode="auto">
          <a:xfrm>
            <a:off x="0" y="1721994"/>
            <a:ext cx="869250" cy="369332"/>
          </a:xfrm>
          <a:prstGeom prst="rect">
            <a:avLst/>
          </a:prstGeom>
          <a:noFill/>
          <a:ln w="9525">
            <a:noFill/>
            <a:miter lim="800000"/>
            <a:headEnd/>
            <a:tailEnd/>
          </a:ln>
        </p:spPr>
        <p:txBody>
          <a:bodyPr wrap="square">
            <a:spAutoFit/>
          </a:bodyPr>
          <a:lstStyle/>
          <a:p>
            <a:pPr algn="r">
              <a:lnSpc>
                <a:spcPct val="100000"/>
              </a:lnSpc>
              <a:spcBef>
                <a:spcPct val="0"/>
              </a:spcBef>
              <a:buClrTx/>
              <a:buFontTx/>
              <a:buNone/>
            </a:pPr>
            <a:r>
              <a:rPr lang="zh-CN" altLang="en-US" dirty="0">
                <a:latin typeface="Times New Roman" pitchFamily="18" charset="0"/>
                <a:ea typeface="宋体" pitchFamily="2" charset="-122"/>
              </a:rPr>
              <a:t>伪首部</a:t>
            </a:r>
          </a:p>
        </p:txBody>
      </p:sp>
      <p:sp>
        <p:nvSpPr>
          <p:cNvPr id="32" name="Text Box 28">
            <a:extLst>
              <a:ext uri="{FF2B5EF4-FFF2-40B4-BE49-F238E27FC236}">
                <a16:creationId xmlns:a16="http://schemas.microsoft.com/office/drawing/2014/main" id="{32BF93D4-7BE2-43DA-9BFD-9E2A889C7452}"/>
              </a:ext>
            </a:extLst>
          </p:cNvPr>
          <p:cNvSpPr txBox="1">
            <a:spLocks noChangeArrowheads="1"/>
          </p:cNvSpPr>
          <p:nvPr/>
        </p:nvSpPr>
        <p:spPr bwMode="auto">
          <a:xfrm>
            <a:off x="231239" y="2492290"/>
            <a:ext cx="641643" cy="646331"/>
          </a:xfrm>
          <a:prstGeom prst="rect">
            <a:avLst/>
          </a:prstGeom>
          <a:noFill/>
          <a:ln w="9525">
            <a:noFill/>
            <a:miter lim="800000"/>
            <a:headEnd/>
            <a:tailEnd/>
          </a:ln>
        </p:spPr>
        <p:txBody>
          <a:bodyPr wrap="square">
            <a:spAutoFit/>
          </a:bodyPr>
          <a:lstStyle/>
          <a:p>
            <a:pPr algn="r">
              <a:lnSpc>
                <a:spcPct val="100000"/>
              </a:lnSpc>
              <a:spcBef>
                <a:spcPct val="0"/>
              </a:spcBef>
              <a:buClrTx/>
              <a:buFontTx/>
              <a:buNone/>
            </a:pPr>
            <a:r>
              <a:rPr lang="en-US" altLang="zh-CN" dirty="0">
                <a:latin typeface="Times New Roman" pitchFamily="18" charset="0"/>
                <a:ea typeface="宋体" pitchFamily="2" charset="-122"/>
              </a:rPr>
              <a:t>UDP </a:t>
            </a:r>
          </a:p>
          <a:p>
            <a:pPr algn="r">
              <a:lnSpc>
                <a:spcPct val="100000"/>
              </a:lnSpc>
              <a:spcBef>
                <a:spcPct val="0"/>
              </a:spcBef>
              <a:buClrTx/>
              <a:buFontTx/>
              <a:buNone/>
            </a:pPr>
            <a:r>
              <a:rPr lang="zh-CN" altLang="en-US" dirty="0">
                <a:latin typeface="Times New Roman" pitchFamily="18" charset="0"/>
                <a:ea typeface="宋体" pitchFamily="2" charset="-122"/>
              </a:rPr>
              <a:t>首部</a:t>
            </a:r>
          </a:p>
        </p:txBody>
      </p:sp>
      <p:sp>
        <p:nvSpPr>
          <p:cNvPr id="33" name="Text Box 29">
            <a:extLst>
              <a:ext uri="{FF2B5EF4-FFF2-40B4-BE49-F238E27FC236}">
                <a16:creationId xmlns:a16="http://schemas.microsoft.com/office/drawing/2014/main" id="{D4C16227-0DD6-43DC-92DF-64D43F028745}"/>
              </a:ext>
            </a:extLst>
          </p:cNvPr>
          <p:cNvSpPr txBox="1">
            <a:spLocks noChangeArrowheads="1"/>
          </p:cNvSpPr>
          <p:nvPr/>
        </p:nvSpPr>
        <p:spPr bwMode="auto">
          <a:xfrm>
            <a:off x="91751" y="3331582"/>
            <a:ext cx="791496" cy="369332"/>
          </a:xfrm>
          <a:prstGeom prst="rect">
            <a:avLst/>
          </a:prstGeom>
          <a:noFill/>
          <a:ln w="9525">
            <a:noFill/>
            <a:miter lim="800000"/>
            <a:headEnd/>
            <a:tailEnd/>
          </a:ln>
        </p:spPr>
        <p:txBody>
          <a:bodyPr wrap="square">
            <a:spAutoFit/>
          </a:bodyPr>
          <a:lstStyle/>
          <a:p>
            <a:pPr algn="r">
              <a:lnSpc>
                <a:spcPct val="100000"/>
              </a:lnSpc>
              <a:spcBef>
                <a:spcPct val="0"/>
              </a:spcBef>
              <a:buClrTx/>
              <a:buFontTx/>
              <a:buNone/>
            </a:pPr>
            <a:r>
              <a:rPr lang="zh-CN" altLang="en-US" dirty="0">
                <a:latin typeface="Times New Roman" pitchFamily="18" charset="0"/>
                <a:ea typeface="宋体" pitchFamily="2" charset="-122"/>
              </a:rPr>
              <a:t>数据</a:t>
            </a:r>
          </a:p>
        </p:txBody>
      </p:sp>
      <p:sp>
        <p:nvSpPr>
          <p:cNvPr id="37" name="Line 33">
            <a:extLst>
              <a:ext uri="{FF2B5EF4-FFF2-40B4-BE49-F238E27FC236}">
                <a16:creationId xmlns:a16="http://schemas.microsoft.com/office/drawing/2014/main" id="{FF07B452-CB0B-454F-B2B2-652C32C81BBE}"/>
              </a:ext>
            </a:extLst>
          </p:cNvPr>
          <p:cNvSpPr>
            <a:spLocks noChangeShapeType="1"/>
          </p:cNvSpPr>
          <p:nvPr/>
        </p:nvSpPr>
        <p:spPr bwMode="auto">
          <a:xfrm flipV="1">
            <a:off x="4242590" y="5547839"/>
            <a:ext cx="4818062" cy="9525"/>
          </a:xfrm>
          <a:prstGeom prst="line">
            <a:avLst/>
          </a:prstGeom>
          <a:noFill/>
          <a:ln w="28575">
            <a:solidFill>
              <a:srgbClr val="333399"/>
            </a:solidFill>
            <a:round/>
            <a:headEnd/>
            <a:tailEnd/>
          </a:ln>
        </p:spPr>
        <p:txBody>
          <a:bodyPr/>
          <a:lstStyle/>
          <a:p>
            <a:endParaRPr lang="zh-CN" altLang="en-US"/>
          </a:p>
        </p:txBody>
      </p:sp>
      <p:sp>
        <p:nvSpPr>
          <p:cNvPr id="38" name="Text Box 34">
            <a:extLst>
              <a:ext uri="{FF2B5EF4-FFF2-40B4-BE49-F238E27FC236}">
                <a16:creationId xmlns:a16="http://schemas.microsoft.com/office/drawing/2014/main" id="{CC2DCA80-8383-4C27-8D11-442244346EEE}"/>
              </a:ext>
            </a:extLst>
          </p:cNvPr>
          <p:cNvSpPr txBox="1">
            <a:spLocks noChangeArrowheads="1"/>
          </p:cNvSpPr>
          <p:nvPr/>
        </p:nvSpPr>
        <p:spPr bwMode="auto">
          <a:xfrm>
            <a:off x="2594414" y="5632541"/>
            <a:ext cx="1569660" cy="690702"/>
          </a:xfrm>
          <a:prstGeom prst="rect">
            <a:avLst/>
          </a:prstGeom>
          <a:noFill/>
          <a:ln w="9525">
            <a:noFill/>
            <a:miter lim="800000"/>
            <a:headEnd/>
            <a:tailEnd/>
          </a:ln>
        </p:spPr>
        <p:txBody>
          <a:bodyPr wrap="none">
            <a:spAutoFit/>
          </a:bodyPr>
          <a:lstStyle/>
          <a:p>
            <a:pPr algn="r">
              <a:lnSpc>
                <a:spcPct val="100000"/>
              </a:lnSpc>
              <a:spcBef>
                <a:spcPct val="0"/>
              </a:spcBef>
              <a:buClrTx/>
              <a:buFontTx/>
              <a:buNone/>
            </a:pPr>
            <a:r>
              <a:rPr lang="zh-CN" altLang="en-US" dirty="0">
                <a:latin typeface="Times New Roman" pitchFamily="18" charset="0"/>
                <a:ea typeface="宋体" pitchFamily="2" charset="-122"/>
              </a:rPr>
              <a:t>按二进制求和</a:t>
            </a:r>
          </a:p>
          <a:p>
            <a:pPr algn="r">
              <a:lnSpc>
                <a:spcPct val="130000"/>
              </a:lnSpc>
              <a:spcBef>
                <a:spcPct val="0"/>
              </a:spcBef>
              <a:buClrTx/>
              <a:buFontTx/>
              <a:buNone/>
            </a:pPr>
            <a:r>
              <a:rPr lang="zh-CN" altLang="en-US" dirty="0">
                <a:latin typeface="Times New Roman" pitchFamily="18" charset="0"/>
                <a:ea typeface="宋体" pitchFamily="2" charset="-122"/>
              </a:rPr>
              <a:t>结果取反</a:t>
            </a:r>
          </a:p>
        </p:txBody>
      </p:sp>
      <p:pic>
        <p:nvPicPr>
          <p:cNvPr id="2" name="图片 1">
            <a:extLst>
              <a:ext uri="{FF2B5EF4-FFF2-40B4-BE49-F238E27FC236}">
                <a16:creationId xmlns:a16="http://schemas.microsoft.com/office/drawing/2014/main" id="{AFEF7E03-868E-4367-B167-E1B48E0F3D54}"/>
              </a:ext>
            </a:extLst>
          </p:cNvPr>
          <p:cNvPicPr>
            <a:picLocks noChangeAspect="1"/>
          </p:cNvPicPr>
          <p:nvPr/>
        </p:nvPicPr>
        <p:blipFill>
          <a:blip r:embed="rId3"/>
          <a:stretch>
            <a:fillRect/>
          </a:stretch>
        </p:blipFill>
        <p:spPr>
          <a:xfrm>
            <a:off x="963157" y="1374330"/>
            <a:ext cx="3096059" cy="2516313"/>
          </a:xfrm>
          <a:prstGeom prst="rect">
            <a:avLst/>
          </a:prstGeom>
        </p:spPr>
      </p:pic>
    </p:spTree>
    <p:extLst>
      <p:ext uri="{BB962C8B-B14F-4D97-AF65-F5344CB8AC3E}">
        <p14:creationId xmlns:p14="http://schemas.microsoft.com/office/powerpoint/2010/main" val="292636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38D7F92-4056-4B0B-A360-E45B9FE9037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584EC9F1-C1F0-4551-B469-E864E9BFD0FB}"/>
              </a:ext>
            </a:extLst>
          </p:cNvPr>
          <p:cNvSpPr/>
          <p:nvPr/>
        </p:nvSpPr>
        <p:spPr>
          <a:xfrm>
            <a:off x="383796" y="927032"/>
            <a:ext cx="8376408" cy="430752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校验和计算的说明</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100"/>
              </a:lnSpc>
              <a:spcBef>
                <a:spcPts val="800"/>
              </a:spcBef>
              <a:buClr>
                <a:srgbClr val="2A09B7"/>
              </a:buClr>
              <a:buFont typeface="Wingdings" panose="05000000000000000000" pitchFamily="2" charset="2"/>
              <a:buChar char="l"/>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IPv4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校验和为可选项，</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IPv6</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变成强制项</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82675" lvl="2" indent="-168275">
              <a:lnSpc>
                <a:spcPts val="3100"/>
              </a:lnSpc>
              <a:spcBef>
                <a:spcPts val="800"/>
              </a:spcBef>
              <a:buClr>
                <a:schemeClr val="tx1"/>
              </a:buClr>
              <a:buFont typeface="Times New Roman" panose="02020603050405020304" pitchFamily="18"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表示无，非</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表示有（如果计算结果为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，则以全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代替）</a:t>
            </a:r>
          </a:p>
          <a:p>
            <a:pPr marL="800100" lvl="1" indent="-342900">
              <a:lnSpc>
                <a:spcPts val="3100"/>
              </a:lnSpc>
              <a:spcBef>
                <a:spcPts val="800"/>
              </a:spcBef>
              <a:buClr>
                <a:srgbClr val="2A09B7"/>
              </a:buClr>
              <a:buFont typeface="Wingdings" panose="05000000000000000000" pitchFamily="2" charset="2"/>
              <a:buChar char="l"/>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校验和覆盖范围超出数据报本身，使用伪首部用于检验数据报是否到达正确目的地</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82675" lvl="2" indent="-168275">
              <a:lnSpc>
                <a:spcPts val="3100"/>
              </a:lnSpc>
              <a:spcBef>
                <a:spcPts val="8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正确目的地包括特定主机和该主机上的特定端口</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3100"/>
              </a:lnSpc>
              <a:spcBef>
                <a:spcPts val="8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伪首部不随数据报一起传输，接收方生成伪首部进行校验</a:t>
            </a:r>
          </a:p>
          <a:p>
            <a:pPr marL="800100" lvl="1" indent="-342900">
              <a:lnSpc>
                <a:spcPts val="3100"/>
              </a:lnSpc>
              <a:spcBef>
                <a:spcPts val="8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使用伪首部破坏层次划分前提，即每层的功能独立</a:t>
            </a:r>
          </a:p>
          <a:p>
            <a:pPr marL="1082675" lvl="2" indent="-168275">
              <a:lnSpc>
                <a:spcPts val="3100"/>
              </a:lnSpc>
              <a:spcBef>
                <a:spcPts val="800"/>
              </a:spcBef>
              <a:buClr>
                <a:srgbClr val="2A09B7"/>
              </a:buClr>
              <a:buFont typeface="Times New Roman" panose="02020603050405020304" pitchFamily="18"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知道目的主机的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地址通过路由选择确定</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TextBox 5">
            <a:extLst>
              <a:ext uri="{FF2B5EF4-FFF2-40B4-BE49-F238E27FC236}">
                <a16:creationId xmlns:a16="http://schemas.microsoft.com/office/drawing/2014/main" id="{1326BA2D-B9DF-49F1-92BF-9FA6A16F0A4E}"/>
              </a:ext>
            </a:extLst>
          </p:cNvPr>
          <p:cNvSpPr txBox="1"/>
          <p:nvPr/>
        </p:nvSpPr>
        <p:spPr>
          <a:xfrm>
            <a:off x="707367" y="5604525"/>
            <a:ext cx="6286557" cy="400110"/>
          </a:xfrm>
          <a:prstGeom prst="rect">
            <a:avLst/>
          </a:prstGeom>
          <a:noFill/>
          <a:ln>
            <a:solidFill>
              <a:schemeClr val="accent6"/>
            </a:solidFill>
          </a:ln>
        </p:spPr>
        <p:txBody>
          <a:bodyPr wrap="square">
            <a:spAutoFit/>
          </a:bodyPr>
          <a:lstStyle/>
          <a:p>
            <a:pPr>
              <a:defRPr/>
            </a:pP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ICMP</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UDP</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都要计算校验和，方法类似</a:t>
            </a:r>
          </a:p>
        </p:txBody>
      </p:sp>
    </p:spTree>
    <p:extLst>
      <p:ext uri="{BB962C8B-B14F-4D97-AF65-F5344CB8AC3E}">
        <p14:creationId xmlns:p14="http://schemas.microsoft.com/office/powerpoint/2010/main" val="3223401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p:cNvSpPr>
            <a:spLocks noGrp="1" noChangeArrowheads="1"/>
          </p:cNvSpPr>
          <p:nvPr>
            <p:ph type="body" sz="half" idx="1"/>
          </p:nvPr>
        </p:nvSpPr>
        <p:spPr>
          <a:xfrm>
            <a:off x="608513" y="1682151"/>
            <a:ext cx="4198265" cy="4275489"/>
          </a:xfrm>
        </p:spPr>
        <p:txBody>
          <a:bodyPr>
            <a:normAutofit/>
          </a:bodyPr>
          <a:lstStyle/>
          <a:p>
            <a:pPr marL="358775" indent="-358775">
              <a:lnSpc>
                <a:spcPts val="32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流媒体应用（实时音频</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视频）通常使用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服务</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2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能够容忍一定的丢失</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2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对时延敏感</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58775" indent="-358775">
              <a:lnSpc>
                <a:spcPts val="32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其他使用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服务的应用</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3200"/>
              </a:lnSpc>
              <a:spcBef>
                <a:spcPts val="60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DNS</a:t>
            </a:r>
          </a:p>
          <a:p>
            <a:pPr lvl="1">
              <a:lnSpc>
                <a:spcPts val="3200"/>
              </a:lnSpc>
              <a:spcBef>
                <a:spcPts val="60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SNMP</a:t>
            </a:r>
          </a:p>
          <a:p>
            <a:pPr marL="358775" indent="-358775">
              <a:lnSpc>
                <a:spcPts val="32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需在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之上实现可靠传输，应用层增加可靠机制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58" name="Rectangle 21"/>
          <p:cNvSpPr>
            <a:spLocks noGrp="1" noChangeArrowheads="1"/>
          </p:cNvSpPr>
          <p:nvPr>
            <p:ph type="body" sz="half" idx="2"/>
          </p:nvPr>
        </p:nvSpPr>
        <p:spPr>
          <a:xfrm>
            <a:off x="5186392" y="2261287"/>
            <a:ext cx="3461528" cy="3579703"/>
          </a:xfrm>
          <a:noFill/>
          <a:ln>
            <a:solidFill>
              <a:srgbClr val="C00000"/>
            </a:solidFill>
          </a:ln>
        </p:spPr>
        <p:txBody>
          <a:bodyPr>
            <a:normAutofit/>
          </a:bodyPr>
          <a:lstStyle/>
          <a:p>
            <a:pPr marL="269875" indent="-269875">
              <a:lnSpc>
                <a:spcPts val="3000"/>
              </a:lnSpc>
              <a:spcBef>
                <a:spcPts val="1200"/>
              </a:spcBef>
              <a:buClr>
                <a:srgbClr val="C00000"/>
              </a:buClr>
              <a:buFont typeface="Wingdings" panose="05000000000000000000" pitchFamily="2" charset="2"/>
              <a:buChar char="n"/>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为什么提供</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服务？</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536575" lvl="1" indent="-177800">
              <a:lnSpc>
                <a:spcPts val="30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无需建立连接，建立连接需要增加延时，特别对于简单的交互应用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36575" lvl="1" indent="-177800">
              <a:lnSpc>
                <a:spcPts val="30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协议简单：发送端和接收端无需维护连接状态</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36575" lvl="1" indent="-177800">
              <a:lnSpc>
                <a:spcPts val="30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数据报首部短，开销小</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536575" lvl="1" indent="-177800">
              <a:lnSpc>
                <a:spcPts val="3000"/>
              </a:lnSpc>
              <a:spcBef>
                <a:spcPts val="60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无拥塞控制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3316153D-4B3D-4602-8C5B-9281367D9F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3.3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用户数据报协议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UDP</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a:extLst>
              <a:ext uri="{FF2B5EF4-FFF2-40B4-BE49-F238E27FC236}">
                <a16:creationId xmlns:a16="http://schemas.microsoft.com/office/drawing/2014/main" id="{9A78FA5C-C957-4560-8262-B4281F8F98B6}"/>
              </a:ext>
            </a:extLst>
          </p:cNvPr>
          <p:cNvSpPr/>
          <p:nvPr/>
        </p:nvSpPr>
        <p:spPr>
          <a:xfrm>
            <a:off x="457200" y="863111"/>
            <a:ext cx="8376407" cy="451406"/>
          </a:xfrm>
          <a:prstGeom prst="rect">
            <a:avLst/>
          </a:prstGeom>
        </p:spPr>
        <p:txBody>
          <a:bodyPr wrap="square">
            <a:spAutoFit/>
          </a:bodyPr>
          <a:lstStyle/>
          <a:p>
            <a:pPr marL="457200" indent="-457200">
              <a:lnSpc>
                <a:spcPts val="28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服务的应用</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爆炸形: 14 pt  7">
            <a:extLst>
              <a:ext uri="{FF2B5EF4-FFF2-40B4-BE49-F238E27FC236}">
                <a16:creationId xmlns:a16="http://schemas.microsoft.com/office/drawing/2014/main" id="{CD817049-48ED-42DC-BCFC-D14D833D5EDA}"/>
              </a:ext>
            </a:extLst>
          </p:cNvPr>
          <p:cNvSpPr/>
          <p:nvPr/>
        </p:nvSpPr>
        <p:spPr>
          <a:xfrm>
            <a:off x="7393447" y="819302"/>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3-1</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5542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zh-CN" altLang="en-US" sz="2800" dirty="0">
                <a:latin typeface="Arial" pitchFamily="34" charset="0"/>
                <a:ea typeface="宋体" pitchFamily="2" charset="-122"/>
              </a:rPr>
              <a:t>可靠传输的基本原理</a:t>
            </a:r>
            <a:endParaRPr lang="en-US" altLang="zh-CN" sz="2800" dirty="0">
              <a:latin typeface="Arial" pitchFamily="34" charset="0"/>
              <a:ea typeface="宋体" pitchFamily="2" charset="-122"/>
            </a:endParaRPr>
          </a:p>
        </p:txBody>
      </p:sp>
      <p:sp>
        <p:nvSpPr>
          <p:cNvPr id="31751" name="Rectangle 6"/>
          <p:cNvSpPr>
            <a:spLocks noChangeArrowheads="1"/>
          </p:cNvSpPr>
          <p:nvPr/>
        </p:nvSpPr>
        <p:spPr bwMode="auto">
          <a:xfrm>
            <a:off x="496024" y="5935203"/>
            <a:ext cx="5645284" cy="453397"/>
          </a:xfrm>
          <a:prstGeom prst="rect">
            <a:avLst/>
          </a:prstGeom>
          <a:solidFill>
            <a:schemeClr val="accent3">
              <a:lumMod val="20000"/>
              <a:lumOff val="80000"/>
            </a:schemeClr>
          </a:solidFill>
          <a:ln w="9525">
            <a:noFill/>
            <a:miter lim="800000"/>
            <a:headEnd/>
            <a:tailEnd/>
          </a:ln>
        </p:spPr>
        <p:txBody>
          <a:bodyPr/>
          <a:lstStyle/>
          <a:p>
            <a:pPr algn="ctr" eaLnBrk="0" hangingPunct="0">
              <a:spcBef>
                <a:spcPts val="600"/>
              </a:spcBef>
              <a:buClrTx/>
            </a:pPr>
            <a:r>
              <a:rPr lang="en-US" altLang="zh-CN" sz="2000" dirty="0" err="1">
                <a:solidFill>
                  <a:srgbClr val="FF0000"/>
                </a:solidFill>
                <a:latin typeface="Arial" charset="0"/>
                <a:ea typeface="宋体" pitchFamily="2" charset="-122"/>
              </a:rPr>
              <a:t>rdt</a:t>
            </a:r>
            <a:r>
              <a:rPr lang="zh-CN" altLang="en-US" sz="2000" dirty="0">
                <a:solidFill>
                  <a:srgbClr val="FF0000"/>
                </a:solidFill>
                <a:latin typeface="Arial" charset="0"/>
                <a:ea typeface="宋体" pitchFamily="2" charset="-122"/>
              </a:rPr>
              <a:t>：</a:t>
            </a:r>
            <a:r>
              <a:rPr lang="en-US" altLang="zh-CN" sz="2000" dirty="0">
                <a:solidFill>
                  <a:srgbClr val="FF0000"/>
                </a:solidFill>
                <a:latin typeface="Arial" charset="0"/>
                <a:ea typeface="宋体" pitchFamily="2" charset="-122"/>
              </a:rPr>
              <a:t>r</a:t>
            </a:r>
            <a:r>
              <a:rPr kumimoji="0" lang="en-US" altLang="zh-CN" sz="2000" dirty="0">
                <a:latin typeface="Arial" charset="0"/>
                <a:ea typeface="宋体" pitchFamily="2" charset="-122"/>
              </a:rPr>
              <a:t>eliable </a:t>
            </a:r>
            <a:r>
              <a:rPr kumimoji="0" lang="en-US" altLang="zh-CN" sz="2000" dirty="0">
                <a:solidFill>
                  <a:srgbClr val="FF0000"/>
                </a:solidFill>
                <a:latin typeface="Arial" charset="0"/>
                <a:ea typeface="宋体" pitchFamily="2" charset="-122"/>
              </a:rPr>
              <a:t>d</a:t>
            </a:r>
            <a:r>
              <a:rPr kumimoji="0" lang="en-US" altLang="zh-CN" sz="2000" dirty="0">
                <a:latin typeface="Arial" charset="0"/>
                <a:ea typeface="宋体" pitchFamily="2" charset="-122"/>
              </a:rPr>
              <a:t>ata </a:t>
            </a:r>
            <a:r>
              <a:rPr kumimoji="0" lang="en-US" altLang="zh-CN" sz="2000" dirty="0">
                <a:solidFill>
                  <a:srgbClr val="FF0000"/>
                </a:solidFill>
                <a:latin typeface="Arial" charset="0"/>
                <a:ea typeface="宋体" pitchFamily="2" charset="-122"/>
              </a:rPr>
              <a:t>t</a:t>
            </a:r>
            <a:r>
              <a:rPr kumimoji="0" lang="en-US" altLang="zh-CN" sz="2000" dirty="0">
                <a:latin typeface="Arial" charset="0"/>
                <a:ea typeface="宋体" pitchFamily="2" charset="-122"/>
              </a:rPr>
              <a:t>ransfer</a:t>
            </a:r>
            <a:r>
              <a:rPr lang="zh-CN" altLang="en-US" sz="2000" dirty="0">
                <a:latin typeface="Arial" charset="0"/>
                <a:ea typeface="宋体" pitchFamily="2" charset="-122"/>
              </a:rPr>
              <a:t>（可靠数据传输协议）</a:t>
            </a:r>
            <a:endParaRPr kumimoji="0" lang="en-US" altLang="zh-CN" sz="2400" dirty="0">
              <a:latin typeface="Arial"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197114" y="1302306"/>
            <a:ext cx="8450862" cy="1119617"/>
          </a:xfrm>
          <a:prstGeom prst="rect">
            <a:avLst/>
          </a:prstGeom>
          <a:noFill/>
          <a:ln w="9525">
            <a:noFill/>
            <a:miter lim="800000"/>
            <a:headEnd/>
            <a:tailEnd/>
          </a:ln>
        </p:spPr>
        <p:txBody>
          <a:bodyPr/>
          <a:lstStyle/>
          <a:p>
            <a:pPr marL="800100" lvl="1" indent="-342900" eaLnBrk="0" hangingPunct="0">
              <a:lnSpc>
                <a:spcPct val="13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可靠传输在多个层次有涉及，如应用层、传输层、链路层等</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3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计算机网络中的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Top 10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6B441DFC-C476-48EF-AD3D-A5E23A007FCE}"/>
              </a:ext>
            </a:extLst>
          </p:cNvPr>
          <p:cNvPicPr>
            <a:picLocks noChangeAspect="1"/>
          </p:cNvPicPr>
          <p:nvPr/>
        </p:nvPicPr>
        <p:blipFill>
          <a:blip r:embed="rId3"/>
          <a:stretch>
            <a:fillRect/>
          </a:stretch>
        </p:blipFill>
        <p:spPr>
          <a:xfrm>
            <a:off x="496024" y="2542522"/>
            <a:ext cx="8151952" cy="3151004"/>
          </a:xfrm>
          <a:prstGeom prst="rect">
            <a:avLst/>
          </a:prstGeom>
          <a:solidFill>
            <a:schemeClr val="bg1">
              <a:lumMod val="95000"/>
            </a:schemeClr>
          </a:solidFill>
        </p:spPr>
      </p:pic>
    </p:spTree>
    <p:extLst>
      <p:ext uri="{BB962C8B-B14F-4D97-AF65-F5344CB8AC3E}">
        <p14:creationId xmlns:p14="http://schemas.microsoft.com/office/powerpoint/2010/main" val="170774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zh-CN" altLang="en-US" sz="2800" dirty="0">
                <a:latin typeface="Arial" pitchFamily="34" charset="0"/>
                <a:ea typeface="宋体" pitchFamily="2" charset="-122"/>
              </a:rPr>
              <a:t>可靠传输的基本原理</a:t>
            </a:r>
            <a:endParaRPr lang="en-US" altLang="zh-CN" sz="2800" dirty="0">
              <a:latin typeface="Arial" pitchFamily="34" charset="0"/>
              <a:ea typeface="宋体" pitchFamily="2" charset="-122"/>
            </a:endParaRPr>
          </a:p>
        </p:txBody>
      </p:sp>
      <p:sp>
        <p:nvSpPr>
          <p:cNvPr id="31751" name="Rectangle 6"/>
          <p:cNvSpPr>
            <a:spLocks noChangeArrowheads="1"/>
          </p:cNvSpPr>
          <p:nvPr/>
        </p:nvSpPr>
        <p:spPr bwMode="auto">
          <a:xfrm>
            <a:off x="2644849" y="5973984"/>
            <a:ext cx="3854302" cy="453397"/>
          </a:xfrm>
          <a:prstGeom prst="rect">
            <a:avLst/>
          </a:prstGeom>
          <a:solidFill>
            <a:schemeClr val="accent3">
              <a:lumMod val="20000"/>
              <a:lumOff val="80000"/>
            </a:schemeClr>
          </a:solidFill>
          <a:ln w="9525">
            <a:noFill/>
            <a:miter lim="800000"/>
            <a:headEnd/>
            <a:tailEnd/>
          </a:ln>
        </p:spPr>
        <p:txBody>
          <a:bodyPr/>
          <a:lstStyle/>
          <a:p>
            <a:pPr algn="ctr" eaLnBrk="0" hangingPunct="0">
              <a:spcBef>
                <a:spcPts val="600"/>
              </a:spcBef>
              <a:buClrTx/>
            </a:pPr>
            <a:r>
              <a:rPr lang="en-US" altLang="zh-CN" sz="2000" dirty="0">
                <a:solidFill>
                  <a:srgbClr val="FF0000"/>
                </a:solidFill>
                <a:latin typeface="Arial" charset="0"/>
                <a:ea typeface="宋体" pitchFamily="2" charset="-122"/>
              </a:rPr>
              <a:t>FSM</a:t>
            </a:r>
            <a:r>
              <a:rPr lang="zh-CN" altLang="en-US" sz="2000" dirty="0">
                <a:solidFill>
                  <a:srgbClr val="FF0000"/>
                </a:solidFill>
                <a:latin typeface="Arial" charset="0"/>
                <a:ea typeface="宋体" pitchFamily="2" charset="-122"/>
              </a:rPr>
              <a:t>：</a:t>
            </a:r>
            <a:r>
              <a:rPr lang="en-US" altLang="zh-CN" sz="2000" dirty="0">
                <a:solidFill>
                  <a:srgbClr val="FF0000"/>
                </a:solidFill>
                <a:latin typeface="Arial" charset="0"/>
                <a:ea typeface="宋体" pitchFamily="2" charset="-122"/>
              </a:rPr>
              <a:t>F</a:t>
            </a:r>
            <a:r>
              <a:rPr lang="en-US" altLang="zh-CN" sz="2000" dirty="0">
                <a:latin typeface="Arial" charset="0"/>
                <a:ea typeface="宋体" pitchFamily="2" charset="-122"/>
              </a:rPr>
              <a:t>inite </a:t>
            </a:r>
            <a:r>
              <a:rPr lang="en-US" altLang="zh-CN" sz="2000" dirty="0">
                <a:solidFill>
                  <a:srgbClr val="FF0000"/>
                </a:solidFill>
                <a:latin typeface="Arial" charset="0"/>
                <a:ea typeface="宋体" pitchFamily="2" charset="-122"/>
              </a:rPr>
              <a:t>S</a:t>
            </a:r>
            <a:r>
              <a:rPr lang="en-US" altLang="zh-CN" sz="2000" dirty="0">
                <a:latin typeface="Arial" charset="0"/>
                <a:ea typeface="宋体" pitchFamily="2" charset="-122"/>
              </a:rPr>
              <a:t>tate</a:t>
            </a:r>
            <a:r>
              <a:rPr lang="en-US" altLang="zh-CN" sz="2000" dirty="0">
                <a:solidFill>
                  <a:srgbClr val="FF0000"/>
                </a:solidFill>
                <a:latin typeface="Arial" charset="0"/>
                <a:ea typeface="宋体" pitchFamily="2" charset="-122"/>
              </a:rPr>
              <a:t> M</a:t>
            </a:r>
            <a:r>
              <a:rPr lang="en-US" altLang="zh-CN" sz="2000" dirty="0">
                <a:latin typeface="Arial" charset="0"/>
                <a:ea typeface="宋体" pitchFamily="2" charset="-122"/>
              </a:rPr>
              <a:t>achine</a:t>
            </a: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65326" y="1285863"/>
            <a:ext cx="8449447" cy="2060770"/>
          </a:xfrm>
          <a:prstGeom prst="rect">
            <a:avLst/>
          </a:prstGeom>
          <a:noFill/>
          <a:ln w="9525">
            <a:noFill/>
            <a:miter lim="800000"/>
            <a:headEnd/>
            <a:tailEnd/>
          </a:ln>
        </p:spPr>
        <p:txBody>
          <a:bodyPr/>
          <a:lstStyle/>
          <a:p>
            <a:pPr marL="800100" lvl="1" indent="-342900" eaLnBrk="0" hangingPunct="0">
              <a:lnSpc>
                <a:spcPct val="1500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考虑可靠协议的复杂性，采用渐进的方法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考虑单向数据传输，控制信息可以双向传输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使用有限状态机（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FSM</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）描述发送端和接收端的状态及状态变化（迁移）</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eaLnBrk="0" hangingPunct="0">
              <a:lnSpc>
                <a:spcPct val="150000"/>
              </a:lnSpc>
              <a:buClr>
                <a:srgbClr val="2A09B7"/>
              </a:buCl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spcBef>
                <a:spcPts val="600"/>
              </a:spcBef>
              <a:buClr>
                <a:srgbClr val="2A09B7"/>
              </a:buClr>
              <a:buFont typeface="Wingdings" panose="05000000000000000000" pitchFamily="2" charset="2"/>
              <a:buChar char="Ø"/>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8" name="Group 4">
            <a:extLst>
              <a:ext uri="{FF2B5EF4-FFF2-40B4-BE49-F238E27FC236}">
                <a16:creationId xmlns:a16="http://schemas.microsoft.com/office/drawing/2014/main" id="{544CFC00-9FE9-443A-B850-C6CEE2E616EF}"/>
              </a:ext>
            </a:extLst>
          </p:cNvPr>
          <p:cNvGrpSpPr>
            <a:grpSpLocks/>
          </p:cNvGrpSpPr>
          <p:nvPr/>
        </p:nvGrpSpPr>
        <p:grpSpPr bwMode="auto">
          <a:xfrm>
            <a:off x="2216223" y="4226198"/>
            <a:ext cx="857251" cy="909638"/>
            <a:chOff x="690" y="3315"/>
            <a:chExt cx="540" cy="573"/>
          </a:xfrm>
        </p:grpSpPr>
        <p:sp>
          <p:nvSpPr>
            <p:cNvPr id="9" name="Oval 5">
              <a:extLst>
                <a:ext uri="{FF2B5EF4-FFF2-40B4-BE49-F238E27FC236}">
                  <a16:creationId xmlns:a16="http://schemas.microsoft.com/office/drawing/2014/main" id="{9FF916D2-8A40-459B-8A8B-D6207A91C819}"/>
                </a:ext>
              </a:extLst>
            </p:cNvPr>
            <p:cNvSpPr>
              <a:spLocks noChangeArrowheads="1"/>
            </p:cNvSpPr>
            <p:nvPr/>
          </p:nvSpPr>
          <p:spPr bwMode="auto">
            <a:xfrm>
              <a:off x="720" y="3315"/>
              <a:ext cx="510" cy="552"/>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11" name="Oval 6">
              <a:extLst>
                <a:ext uri="{FF2B5EF4-FFF2-40B4-BE49-F238E27FC236}">
                  <a16:creationId xmlns:a16="http://schemas.microsoft.com/office/drawing/2014/main" id="{E3E406A0-A7AB-4ECE-AF59-09A4D2A60FC5}"/>
                </a:ext>
              </a:extLst>
            </p:cNvPr>
            <p:cNvSpPr>
              <a:spLocks noChangeArrowheads="1"/>
            </p:cNvSpPr>
            <p:nvPr/>
          </p:nvSpPr>
          <p:spPr bwMode="auto">
            <a:xfrm>
              <a:off x="690" y="3336"/>
              <a:ext cx="510" cy="552"/>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2" name="Text Box 7">
              <a:extLst>
                <a:ext uri="{FF2B5EF4-FFF2-40B4-BE49-F238E27FC236}">
                  <a16:creationId xmlns:a16="http://schemas.microsoft.com/office/drawing/2014/main" id="{11217528-B0B8-4264-BB52-3D2540B0FADE}"/>
                </a:ext>
              </a:extLst>
            </p:cNvPr>
            <p:cNvSpPr txBox="1">
              <a:spLocks noChangeArrowheads="1"/>
            </p:cNvSpPr>
            <p:nvPr/>
          </p:nvSpPr>
          <p:spPr bwMode="auto">
            <a:xfrm>
              <a:off x="722" y="3425"/>
              <a:ext cx="407" cy="407"/>
            </a:xfrm>
            <a:prstGeom prst="rect">
              <a:avLst/>
            </a:prstGeom>
            <a:noFill/>
            <a:ln w="9525">
              <a:noFill/>
              <a:miter lim="800000"/>
              <a:headEnd/>
              <a:tailEnd/>
            </a:ln>
          </p:spPr>
          <p:txBody>
            <a:bodyPr wrap="none">
              <a:spAutoFit/>
            </a:bodyPr>
            <a:lstStyle/>
            <a:p>
              <a:pPr algn="ctr" eaLnBrk="0" hangingPunct="0">
                <a:lnSpc>
                  <a:spcPct val="100000"/>
                </a:lnSpc>
                <a:spcBef>
                  <a:spcPct val="0"/>
                </a:spcBef>
                <a:buClrTx/>
                <a:buFontTx/>
                <a:buNone/>
              </a:pPr>
              <a:r>
                <a:rPr kumimoji="0" lang="zh-CN" altLang="en-US" dirty="0">
                  <a:ea typeface="宋体" pitchFamily="2" charset="-122"/>
                </a:rPr>
                <a:t>状态</a:t>
              </a:r>
              <a:endParaRPr kumimoji="0" lang="en-US" altLang="zh-CN" dirty="0">
                <a:ea typeface="宋体" pitchFamily="2" charset="-122"/>
              </a:endParaRPr>
            </a:p>
            <a:p>
              <a:pPr algn="ctr" eaLnBrk="0" hangingPunct="0">
                <a:lnSpc>
                  <a:spcPct val="100000"/>
                </a:lnSpc>
                <a:spcBef>
                  <a:spcPct val="0"/>
                </a:spcBef>
                <a:buClrTx/>
                <a:buFontTx/>
                <a:buNone/>
              </a:pPr>
              <a:r>
                <a:rPr kumimoji="0" lang="en-US" altLang="zh-CN" dirty="0">
                  <a:ea typeface="宋体" pitchFamily="2" charset="-122"/>
                </a:rPr>
                <a:t>1</a:t>
              </a:r>
            </a:p>
          </p:txBody>
        </p:sp>
      </p:grpSp>
      <p:sp>
        <p:nvSpPr>
          <p:cNvPr id="13" name="Freeform 8">
            <a:extLst>
              <a:ext uri="{FF2B5EF4-FFF2-40B4-BE49-F238E27FC236}">
                <a16:creationId xmlns:a16="http://schemas.microsoft.com/office/drawing/2014/main" id="{59FDA004-2A7C-4780-9229-B41BCB79566A}"/>
              </a:ext>
            </a:extLst>
          </p:cNvPr>
          <p:cNvSpPr>
            <a:spLocks/>
          </p:cNvSpPr>
          <p:nvPr/>
        </p:nvSpPr>
        <p:spPr bwMode="auto">
          <a:xfrm>
            <a:off x="3102046" y="4211908"/>
            <a:ext cx="3952875" cy="285750"/>
          </a:xfrm>
          <a:custGeom>
            <a:avLst/>
            <a:gdLst>
              <a:gd name="T0" fmla="*/ 0 w 1446"/>
              <a:gd name="T1" fmla="*/ 2147483647 h 180"/>
              <a:gd name="T2" fmla="*/ 2147483647 w 1446"/>
              <a:gd name="T3" fmla="*/ 2147483647 h 180"/>
              <a:gd name="T4" fmla="*/ 0 60000 65536"/>
              <a:gd name="T5" fmla="*/ 0 60000 65536"/>
              <a:gd name="T6" fmla="*/ 0 w 1446"/>
              <a:gd name="T7" fmla="*/ 0 h 180"/>
              <a:gd name="T8" fmla="*/ 1446 w 1446"/>
              <a:gd name="T9" fmla="*/ 180 h 180"/>
            </a:gdLst>
            <a:ahLst/>
            <a:cxnLst>
              <a:cxn ang="T4">
                <a:pos x="T0" y="T1"/>
              </a:cxn>
              <a:cxn ang="T5">
                <a:pos x="T2" y="T3"/>
              </a:cxn>
            </a:cxnLst>
            <a:rect l="T6" t="T7" r="T8" b="T9"/>
            <a:pathLst>
              <a:path w="1446" h="180">
                <a:moveTo>
                  <a:pt x="0" y="180"/>
                </a:moveTo>
                <a:cubicBezTo>
                  <a:pt x="540" y="30"/>
                  <a:pt x="972" y="0"/>
                  <a:pt x="1446" y="168"/>
                </a:cubicBezTo>
              </a:path>
            </a:pathLst>
          </a:custGeom>
          <a:noFill/>
          <a:ln w="28575">
            <a:solidFill>
              <a:srgbClr val="FF0000"/>
            </a:solidFill>
            <a:round/>
            <a:headEnd/>
            <a:tailEnd type="triangle" w="med" len="med"/>
          </a:ln>
        </p:spPr>
        <p:txBody>
          <a:bodyPr wrap="none" anchor="ctr"/>
          <a:lstStyle/>
          <a:p>
            <a:endParaRPr lang="zh-CN" altLang="en-US"/>
          </a:p>
        </p:txBody>
      </p:sp>
      <p:grpSp>
        <p:nvGrpSpPr>
          <p:cNvPr id="14" name="Group 9">
            <a:extLst>
              <a:ext uri="{FF2B5EF4-FFF2-40B4-BE49-F238E27FC236}">
                <a16:creationId xmlns:a16="http://schemas.microsoft.com/office/drawing/2014/main" id="{64C057C2-4180-419C-8F8C-1106A7437E1F}"/>
              </a:ext>
            </a:extLst>
          </p:cNvPr>
          <p:cNvGrpSpPr>
            <a:grpSpLocks/>
          </p:cNvGrpSpPr>
          <p:nvPr/>
        </p:nvGrpSpPr>
        <p:grpSpPr bwMode="auto">
          <a:xfrm>
            <a:off x="6969199" y="4335733"/>
            <a:ext cx="862014" cy="904875"/>
            <a:chOff x="690" y="3318"/>
            <a:chExt cx="543" cy="570"/>
          </a:xfrm>
        </p:grpSpPr>
        <p:sp>
          <p:nvSpPr>
            <p:cNvPr id="15" name="Oval 10">
              <a:extLst>
                <a:ext uri="{FF2B5EF4-FFF2-40B4-BE49-F238E27FC236}">
                  <a16:creationId xmlns:a16="http://schemas.microsoft.com/office/drawing/2014/main" id="{FD66278D-58E8-48F9-8CA9-4FE364A4DEDC}"/>
                </a:ext>
              </a:extLst>
            </p:cNvPr>
            <p:cNvSpPr>
              <a:spLocks noChangeArrowheads="1"/>
            </p:cNvSpPr>
            <p:nvPr/>
          </p:nvSpPr>
          <p:spPr bwMode="auto">
            <a:xfrm>
              <a:off x="723" y="3318"/>
              <a:ext cx="510" cy="552"/>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16" name="Oval 11">
              <a:extLst>
                <a:ext uri="{FF2B5EF4-FFF2-40B4-BE49-F238E27FC236}">
                  <a16:creationId xmlns:a16="http://schemas.microsoft.com/office/drawing/2014/main" id="{D2FFF703-F1D2-4733-A4E1-1A4FB9D66A2A}"/>
                </a:ext>
              </a:extLst>
            </p:cNvPr>
            <p:cNvSpPr>
              <a:spLocks noChangeArrowheads="1"/>
            </p:cNvSpPr>
            <p:nvPr/>
          </p:nvSpPr>
          <p:spPr bwMode="auto">
            <a:xfrm>
              <a:off x="690" y="3336"/>
              <a:ext cx="510" cy="552"/>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7" name="Text Box 12">
              <a:extLst>
                <a:ext uri="{FF2B5EF4-FFF2-40B4-BE49-F238E27FC236}">
                  <a16:creationId xmlns:a16="http://schemas.microsoft.com/office/drawing/2014/main" id="{CE21FD14-1A35-4210-8897-4165E1428DFC}"/>
                </a:ext>
              </a:extLst>
            </p:cNvPr>
            <p:cNvSpPr txBox="1">
              <a:spLocks noChangeArrowheads="1"/>
            </p:cNvSpPr>
            <p:nvPr/>
          </p:nvSpPr>
          <p:spPr bwMode="auto">
            <a:xfrm>
              <a:off x="722" y="3425"/>
              <a:ext cx="407" cy="407"/>
            </a:xfrm>
            <a:prstGeom prst="rect">
              <a:avLst/>
            </a:prstGeom>
            <a:noFill/>
            <a:ln w="9525">
              <a:noFill/>
              <a:miter lim="800000"/>
              <a:headEnd/>
              <a:tailEnd/>
            </a:ln>
          </p:spPr>
          <p:txBody>
            <a:bodyPr wrap="none">
              <a:spAutoFit/>
            </a:bodyPr>
            <a:lstStyle/>
            <a:p>
              <a:pPr algn="ctr" eaLnBrk="0" hangingPunct="0">
                <a:lnSpc>
                  <a:spcPct val="100000"/>
                </a:lnSpc>
                <a:spcBef>
                  <a:spcPct val="0"/>
                </a:spcBef>
                <a:buClrTx/>
                <a:buFontTx/>
                <a:buNone/>
              </a:pPr>
              <a:r>
                <a:rPr kumimoji="0" lang="zh-CN" altLang="en-US" dirty="0">
                  <a:ea typeface="宋体" pitchFamily="2" charset="-122"/>
                </a:rPr>
                <a:t>状态</a:t>
              </a:r>
              <a:endParaRPr kumimoji="0" lang="en-US" altLang="zh-CN" dirty="0">
                <a:ea typeface="宋体" pitchFamily="2" charset="-122"/>
              </a:endParaRPr>
            </a:p>
            <a:p>
              <a:pPr algn="ctr" eaLnBrk="0" hangingPunct="0">
                <a:lnSpc>
                  <a:spcPct val="100000"/>
                </a:lnSpc>
                <a:spcBef>
                  <a:spcPct val="0"/>
                </a:spcBef>
                <a:buClrTx/>
                <a:buFontTx/>
                <a:buNone/>
              </a:pPr>
              <a:r>
                <a:rPr kumimoji="0" lang="en-US" altLang="zh-CN" dirty="0">
                  <a:ea typeface="宋体" pitchFamily="2" charset="-122"/>
                </a:rPr>
                <a:t>2</a:t>
              </a:r>
            </a:p>
          </p:txBody>
        </p:sp>
      </p:grpSp>
      <p:sp>
        <p:nvSpPr>
          <p:cNvPr id="18" name="Text Box 13">
            <a:extLst>
              <a:ext uri="{FF2B5EF4-FFF2-40B4-BE49-F238E27FC236}">
                <a16:creationId xmlns:a16="http://schemas.microsoft.com/office/drawing/2014/main" id="{A0C3F5B4-88DD-41F8-A1E6-B0AC0EC0E34F}"/>
              </a:ext>
            </a:extLst>
          </p:cNvPr>
          <p:cNvSpPr txBox="1">
            <a:spLocks noChangeArrowheads="1"/>
          </p:cNvSpPr>
          <p:nvPr/>
        </p:nvSpPr>
        <p:spPr bwMode="auto">
          <a:xfrm>
            <a:off x="3450804" y="3565659"/>
            <a:ext cx="3279488"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b="1" dirty="0">
                <a:solidFill>
                  <a:schemeClr val="accent2">
                    <a:lumMod val="75000"/>
                  </a:schemeClr>
                </a:solidFill>
                <a:ea typeface="宋体" pitchFamily="2" charset="-122"/>
              </a:rPr>
              <a:t>引起状态迁移的事件（</a:t>
            </a:r>
            <a:r>
              <a:rPr kumimoji="0" lang="en-US" altLang="zh-CN" b="1" dirty="0">
                <a:solidFill>
                  <a:schemeClr val="accent2">
                    <a:lumMod val="75000"/>
                  </a:schemeClr>
                </a:solidFill>
                <a:ea typeface="宋体" pitchFamily="2" charset="-122"/>
              </a:rPr>
              <a:t>event</a:t>
            </a:r>
            <a:r>
              <a:rPr kumimoji="0" lang="zh-CN" altLang="en-US" b="1" dirty="0">
                <a:solidFill>
                  <a:schemeClr val="accent2">
                    <a:lumMod val="75000"/>
                  </a:schemeClr>
                </a:solidFill>
                <a:ea typeface="宋体" pitchFamily="2" charset="-122"/>
              </a:rPr>
              <a:t>）</a:t>
            </a:r>
            <a:endParaRPr kumimoji="0" lang="en-US" altLang="zh-CN" sz="2400" b="1" dirty="0">
              <a:solidFill>
                <a:schemeClr val="accent2">
                  <a:lumMod val="75000"/>
                </a:schemeClr>
              </a:solidFill>
              <a:latin typeface="Times New Roman" pitchFamily="18" charset="0"/>
              <a:ea typeface="宋体" pitchFamily="2" charset="-122"/>
            </a:endParaRPr>
          </a:p>
        </p:txBody>
      </p:sp>
      <p:sp>
        <p:nvSpPr>
          <p:cNvPr id="19" name="Text Box 14">
            <a:extLst>
              <a:ext uri="{FF2B5EF4-FFF2-40B4-BE49-F238E27FC236}">
                <a16:creationId xmlns:a16="http://schemas.microsoft.com/office/drawing/2014/main" id="{D8824460-0BC6-44B4-8256-8B58173D2BCB}"/>
              </a:ext>
            </a:extLst>
          </p:cNvPr>
          <p:cNvSpPr txBox="1">
            <a:spLocks noChangeArrowheads="1"/>
          </p:cNvSpPr>
          <p:nvPr/>
        </p:nvSpPr>
        <p:spPr bwMode="auto">
          <a:xfrm>
            <a:off x="3278193" y="3907108"/>
            <a:ext cx="3624710" cy="369332"/>
          </a:xfrm>
          <a:prstGeom prst="rect">
            <a:avLst/>
          </a:prstGeom>
          <a:noFill/>
          <a:ln w="9525">
            <a:noFill/>
            <a:miter lim="800000"/>
            <a:headEnd/>
            <a:tailEnd/>
          </a:ln>
        </p:spPr>
        <p:txBody>
          <a:bodyPr wrap="none">
            <a:spAutoFit/>
          </a:bodyPr>
          <a:lstStyle>
            <a:defPPr>
              <a:defRPr lang="zh-CN"/>
            </a:defPPr>
            <a:lvl1pPr eaLnBrk="0" hangingPunct="0">
              <a:lnSpc>
                <a:spcPct val="100000"/>
              </a:lnSpc>
              <a:spcBef>
                <a:spcPct val="0"/>
              </a:spcBef>
              <a:buClrTx/>
              <a:buFontTx/>
              <a:buNone/>
              <a:defRPr kumimoji="0" b="1">
                <a:solidFill>
                  <a:schemeClr val="accent2">
                    <a:lumMod val="75000"/>
                  </a:schemeClr>
                </a:solidFill>
                <a:ea typeface="宋体" pitchFamily="2" charset="-122"/>
              </a:defRPr>
            </a:lvl1pPr>
          </a:lstStyle>
          <a:p>
            <a:r>
              <a:rPr lang="zh-CN" altLang="en-US" dirty="0"/>
              <a:t>状态迁移时执行的动作（</a:t>
            </a:r>
            <a:r>
              <a:rPr lang="en-US" altLang="zh-CN" dirty="0"/>
              <a:t>actions</a:t>
            </a:r>
            <a:r>
              <a:rPr lang="zh-CN" altLang="en-US" dirty="0"/>
              <a:t>）</a:t>
            </a:r>
            <a:endParaRPr lang="en-US" altLang="zh-CN" dirty="0"/>
          </a:p>
        </p:txBody>
      </p:sp>
      <p:sp>
        <p:nvSpPr>
          <p:cNvPr id="20" name="Line 15">
            <a:extLst>
              <a:ext uri="{FF2B5EF4-FFF2-40B4-BE49-F238E27FC236}">
                <a16:creationId xmlns:a16="http://schemas.microsoft.com/office/drawing/2014/main" id="{76000DB5-9E92-43DE-BFA3-1FEBC9C34247}"/>
              </a:ext>
            </a:extLst>
          </p:cNvPr>
          <p:cNvSpPr>
            <a:spLocks noChangeShapeType="1"/>
          </p:cNvSpPr>
          <p:nvPr/>
        </p:nvSpPr>
        <p:spPr bwMode="auto">
          <a:xfrm>
            <a:off x="3225871" y="3926158"/>
            <a:ext cx="3381375" cy="0"/>
          </a:xfrm>
          <a:prstGeom prst="line">
            <a:avLst/>
          </a:prstGeom>
          <a:noFill/>
          <a:ln w="28575">
            <a:solidFill>
              <a:schemeClr val="accent1">
                <a:lumMod val="60000"/>
                <a:lumOff val="40000"/>
              </a:schemeClr>
            </a:solidFill>
            <a:round/>
            <a:headEnd/>
            <a:tailEnd/>
          </a:ln>
        </p:spPr>
        <p:txBody>
          <a:bodyPr wrap="none" anchor="ctr"/>
          <a:lstStyle/>
          <a:p>
            <a:endParaRPr lang="zh-CN" altLang="en-US">
              <a:solidFill>
                <a:schemeClr val="accent1"/>
              </a:solidFill>
            </a:endParaRPr>
          </a:p>
        </p:txBody>
      </p:sp>
      <p:sp>
        <p:nvSpPr>
          <p:cNvPr id="22" name="Freeform 17">
            <a:extLst>
              <a:ext uri="{FF2B5EF4-FFF2-40B4-BE49-F238E27FC236}">
                <a16:creationId xmlns:a16="http://schemas.microsoft.com/office/drawing/2014/main" id="{98B1F5CF-A285-4157-827F-F4FA9BD1396A}"/>
              </a:ext>
            </a:extLst>
          </p:cNvPr>
          <p:cNvSpPr>
            <a:spLocks/>
          </p:cNvSpPr>
          <p:nvPr/>
        </p:nvSpPr>
        <p:spPr bwMode="auto">
          <a:xfrm>
            <a:off x="2501971" y="5135833"/>
            <a:ext cx="95250" cy="581025"/>
          </a:xfrm>
          <a:custGeom>
            <a:avLst/>
            <a:gdLst>
              <a:gd name="T0" fmla="*/ 2147483647 w 60"/>
              <a:gd name="T1" fmla="*/ 2147483647 h 366"/>
              <a:gd name="T2" fmla="*/ 2147483647 w 60"/>
              <a:gd name="T3" fmla="*/ 0 h 366"/>
              <a:gd name="T4" fmla="*/ 0 60000 65536"/>
              <a:gd name="T5" fmla="*/ 0 60000 65536"/>
              <a:gd name="T6" fmla="*/ 0 w 60"/>
              <a:gd name="T7" fmla="*/ 0 h 366"/>
              <a:gd name="T8" fmla="*/ 60 w 60"/>
              <a:gd name="T9" fmla="*/ 366 h 366"/>
            </a:gdLst>
            <a:ahLst/>
            <a:cxnLst>
              <a:cxn ang="T4">
                <a:pos x="T0" y="T1"/>
              </a:cxn>
              <a:cxn ang="T5">
                <a:pos x="T2" y="T3"/>
              </a:cxn>
            </a:cxnLst>
            <a:rect l="T6" t="T7" r="T8" b="T9"/>
            <a:pathLst>
              <a:path w="60" h="366">
                <a:moveTo>
                  <a:pt x="48" y="366"/>
                </a:moveTo>
                <a:cubicBezTo>
                  <a:pt x="0" y="204"/>
                  <a:pt x="60" y="55"/>
                  <a:pt x="60" y="0"/>
                </a:cubicBezTo>
              </a:path>
            </a:pathLst>
          </a:custGeom>
          <a:noFill/>
          <a:ln w="28575">
            <a:solidFill>
              <a:srgbClr val="FF0000"/>
            </a:solidFill>
            <a:round/>
            <a:headEnd/>
            <a:tailEnd type="triangle" w="med" len="med"/>
          </a:ln>
        </p:spPr>
        <p:txBody>
          <a:bodyPr wrap="none" anchor="ctr"/>
          <a:lstStyle/>
          <a:p>
            <a:endParaRPr lang="zh-CN" altLang="en-US"/>
          </a:p>
        </p:txBody>
      </p:sp>
      <p:sp>
        <p:nvSpPr>
          <p:cNvPr id="23" name="Freeform 18">
            <a:extLst>
              <a:ext uri="{FF2B5EF4-FFF2-40B4-BE49-F238E27FC236}">
                <a16:creationId xmlns:a16="http://schemas.microsoft.com/office/drawing/2014/main" id="{31B89EED-5B87-4CBE-89B2-62116568E23C}"/>
              </a:ext>
            </a:extLst>
          </p:cNvPr>
          <p:cNvSpPr>
            <a:spLocks/>
          </p:cNvSpPr>
          <p:nvPr/>
        </p:nvSpPr>
        <p:spPr bwMode="auto">
          <a:xfrm flipH="1" flipV="1">
            <a:off x="7645471" y="5173933"/>
            <a:ext cx="95250" cy="581025"/>
          </a:xfrm>
          <a:custGeom>
            <a:avLst/>
            <a:gdLst>
              <a:gd name="T0" fmla="*/ 2147483647 w 60"/>
              <a:gd name="T1" fmla="*/ 2147483647 h 366"/>
              <a:gd name="T2" fmla="*/ 2147483647 w 60"/>
              <a:gd name="T3" fmla="*/ 0 h 366"/>
              <a:gd name="T4" fmla="*/ 0 60000 65536"/>
              <a:gd name="T5" fmla="*/ 0 60000 65536"/>
              <a:gd name="T6" fmla="*/ 0 w 60"/>
              <a:gd name="T7" fmla="*/ 0 h 366"/>
              <a:gd name="T8" fmla="*/ 60 w 60"/>
              <a:gd name="T9" fmla="*/ 366 h 366"/>
            </a:gdLst>
            <a:ahLst/>
            <a:cxnLst>
              <a:cxn ang="T4">
                <a:pos x="T0" y="T1"/>
              </a:cxn>
              <a:cxn ang="T5">
                <a:pos x="T2" y="T3"/>
              </a:cxn>
            </a:cxnLst>
            <a:rect l="T6" t="T7" r="T8" b="T9"/>
            <a:pathLst>
              <a:path w="60" h="366">
                <a:moveTo>
                  <a:pt x="48" y="366"/>
                </a:moveTo>
                <a:cubicBezTo>
                  <a:pt x="0" y="204"/>
                  <a:pt x="60" y="55"/>
                  <a:pt x="60" y="0"/>
                </a:cubicBezTo>
              </a:path>
            </a:pathLst>
          </a:custGeom>
          <a:noFill/>
          <a:ln w="28575">
            <a:solidFill>
              <a:srgbClr val="FF0000"/>
            </a:solidFill>
            <a:round/>
            <a:headEnd/>
            <a:tailEnd type="triangle" w="med" len="med"/>
          </a:ln>
        </p:spPr>
        <p:txBody>
          <a:bodyPr wrap="none" anchor="ctr"/>
          <a:lstStyle/>
          <a:p>
            <a:endParaRPr lang="zh-CN" altLang="en-US"/>
          </a:p>
        </p:txBody>
      </p:sp>
      <p:sp>
        <p:nvSpPr>
          <p:cNvPr id="24" name="Line 19">
            <a:extLst>
              <a:ext uri="{FF2B5EF4-FFF2-40B4-BE49-F238E27FC236}">
                <a16:creationId xmlns:a16="http://schemas.microsoft.com/office/drawing/2014/main" id="{484B4E28-9319-46D2-BCAC-88055AA1DEDE}"/>
              </a:ext>
            </a:extLst>
          </p:cNvPr>
          <p:cNvSpPr>
            <a:spLocks noChangeShapeType="1"/>
          </p:cNvSpPr>
          <p:nvPr/>
        </p:nvSpPr>
        <p:spPr bwMode="auto">
          <a:xfrm>
            <a:off x="3025846" y="4878658"/>
            <a:ext cx="1571625" cy="752475"/>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5" name="Group 20">
            <a:extLst>
              <a:ext uri="{FF2B5EF4-FFF2-40B4-BE49-F238E27FC236}">
                <a16:creationId xmlns:a16="http://schemas.microsoft.com/office/drawing/2014/main" id="{7B6DF930-D587-4828-8C63-F64F1ABBD005}"/>
              </a:ext>
            </a:extLst>
          </p:cNvPr>
          <p:cNvGrpSpPr>
            <a:grpSpLocks/>
          </p:cNvGrpSpPr>
          <p:nvPr/>
        </p:nvGrpSpPr>
        <p:grpSpPr bwMode="auto">
          <a:xfrm>
            <a:off x="3702118" y="4656408"/>
            <a:ext cx="942975" cy="674687"/>
            <a:chOff x="3516" y="3260"/>
            <a:chExt cx="594" cy="425"/>
          </a:xfrm>
        </p:grpSpPr>
        <p:sp>
          <p:nvSpPr>
            <p:cNvPr id="26" name="Text Box 21">
              <a:extLst>
                <a:ext uri="{FF2B5EF4-FFF2-40B4-BE49-F238E27FC236}">
                  <a16:creationId xmlns:a16="http://schemas.microsoft.com/office/drawing/2014/main" id="{BC8E6051-5BA6-4AFD-8314-FB572FDE0AFF}"/>
                </a:ext>
              </a:extLst>
            </p:cNvPr>
            <p:cNvSpPr txBox="1">
              <a:spLocks noChangeArrowheads="1"/>
            </p:cNvSpPr>
            <p:nvPr/>
          </p:nvSpPr>
          <p:spPr bwMode="auto">
            <a:xfrm>
              <a:off x="3564" y="3260"/>
              <a:ext cx="449" cy="233"/>
            </a:xfrm>
            <a:prstGeom prst="rect">
              <a:avLst/>
            </a:prstGeom>
            <a:noFill/>
            <a:ln w="9525">
              <a:noFill/>
              <a:miter lim="800000"/>
              <a:headEnd/>
              <a:tailEnd/>
            </a:ln>
          </p:spPr>
          <p:txBody>
            <a:bodyPr wrap="none">
              <a:spAutoFit/>
            </a:bodyPr>
            <a:lstStyle>
              <a:defPPr>
                <a:defRPr lang="zh-CN"/>
              </a:defPPr>
              <a:lvl1pPr eaLnBrk="0" hangingPunct="0">
                <a:lnSpc>
                  <a:spcPct val="100000"/>
                </a:lnSpc>
                <a:spcBef>
                  <a:spcPct val="0"/>
                </a:spcBef>
                <a:buClrTx/>
                <a:buFontTx/>
                <a:buNone/>
                <a:defRPr kumimoji="0" b="1">
                  <a:solidFill>
                    <a:schemeClr val="accent2">
                      <a:lumMod val="75000"/>
                    </a:schemeClr>
                  </a:solidFill>
                  <a:ea typeface="宋体" pitchFamily="2" charset="-122"/>
                </a:defRPr>
              </a:lvl1pPr>
            </a:lstStyle>
            <a:p>
              <a:r>
                <a:rPr lang="en-US" altLang="zh-CN"/>
                <a:t>event</a:t>
              </a:r>
              <a:endParaRPr lang="en-US" altLang="zh-CN" dirty="0"/>
            </a:p>
          </p:txBody>
        </p:sp>
        <p:sp>
          <p:nvSpPr>
            <p:cNvPr id="27" name="Text Box 22">
              <a:extLst>
                <a:ext uri="{FF2B5EF4-FFF2-40B4-BE49-F238E27FC236}">
                  <a16:creationId xmlns:a16="http://schemas.microsoft.com/office/drawing/2014/main" id="{8AD845C6-430A-45F1-9BC9-1CAEECAC9B73}"/>
                </a:ext>
              </a:extLst>
            </p:cNvPr>
            <p:cNvSpPr txBox="1">
              <a:spLocks noChangeArrowheads="1"/>
            </p:cNvSpPr>
            <p:nvPr/>
          </p:nvSpPr>
          <p:spPr bwMode="auto">
            <a:xfrm>
              <a:off x="3532" y="3452"/>
              <a:ext cx="539" cy="233"/>
            </a:xfrm>
            <a:prstGeom prst="rect">
              <a:avLst/>
            </a:prstGeom>
            <a:noFill/>
            <a:ln w="9525">
              <a:noFill/>
              <a:miter lim="800000"/>
              <a:headEnd/>
              <a:tailEnd/>
            </a:ln>
          </p:spPr>
          <p:txBody>
            <a:bodyPr wrap="none">
              <a:spAutoFit/>
            </a:bodyPr>
            <a:lstStyle>
              <a:defPPr>
                <a:defRPr lang="zh-CN"/>
              </a:defPPr>
              <a:lvl1pPr eaLnBrk="0" hangingPunct="0">
                <a:lnSpc>
                  <a:spcPct val="100000"/>
                </a:lnSpc>
                <a:spcBef>
                  <a:spcPct val="0"/>
                </a:spcBef>
                <a:buClrTx/>
                <a:buFontTx/>
                <a:buNone/>
                <a:defRPr kumimoji="0" b="1">
                  <a:solidFill>
                    <a:schemeClr val="accent2">
                      <a:lumMod val="75000"/>
                    </a:schemeClr>
                  </a:solidFill>
                  <a:ea typeface="宋体" pitchFamily="2" charset="-122"/>
                </a:defRPr>
              </a:lvl1pPr>
            </a:lstStyle>
            <a:p>
              <a:r>
                <a:rPr lang="en-US" altLang="zh-CN"/>
                <a:t>actions</a:t>
              </a:r>
              <a:endParaRPr lang="en-US" altLang="zh-CN" dirty="0"/>
            </a:p>
          </p:txBody>
        </p:sp>
        <p:sp>
          <p:nvSpPr>
            <p:cNvPr id="28" name="Line 23">
              <a:extLst>
                <a:ext uri="{FF2B5EF4-FFF2-40B4-BE49-F238E27FC236}">
                  <a16:creationId xmlns:a16="http://schemas.microsoft.com/office/drawing/2014/main" id="{11DF0555-590E-4948-B4A8-9C6C79806C3D}"/>
                </a:ext>
              </a:extLst>
            </p:cNvPr>
            <p:cNvSpPr>
              <a:spLocks noChangeShapeType="1"/>
            </p:cNvSpPr>
            <p:nvPr/>
          </p:nvSpPr>
          <p:spPr bwMode="auto">
            <a:xfrm>
              <a:off x="3516" y="3480"/>
              <a:ext cx="594" cy="0"/>
            </a:xfrm>
            <a:prstGeom prst="line">
              <a:avLst/>
            </a:prstGeom>
            <a:noFill/>
            <a:ln w="28575">
              <a:solidFill>
                <a:schemeClr val="accent1">
                  <a:lumMod val="60000"/>
                  <a:lumOff val="40000"/>
                </a:schemeClr>
              </a:solidFill>
              <a:round/>
              <a:headEnd/>
              <a:tailEnd/>
            </a:ln>
          </p:spPr>
          <p:txBody>
            <a:bodyPr wrap="none" anchor="ctr"/>
            <a:lstStyle/>
            <a:p>
              <a:endParaRPr lang="zh-CN" altLang="en-US"/>
            </a:p>
          </p:txBody>
        </p:sp>
      </p:grpSp>
      <p:sp>
        <p:nvSpPr>
          <p:cNvPr id="2" name="矩形 1">
            <a:extLst>
              <a:ext uri="{FF2B5EF4-FFF2-40B4-BE49-F238E27FC236}">
                <a16:creationId xmlns:a16="http://schemas.microsoft.com/office/drawing/2014/main" id="{9822E5B4-BB90-4BE4-A32B-3529D6F8C0C3}"/>
              </a:ext>
            </a:extLst>
          </p:cNvPr>
          <p:cNvSpPr/>
          <p:nvPr/>
        </p:nvSpPr>
        <p:spPr>
          <a:xfrm>
            <a:off x="1052616" y="4341182"/>
            <a:ext cx="1107996" cy="646331"/>
          </a:xfrm>
          <a:prstGeom prst="rect">
            <a:avLst/>
          </a:prstGeom>
        </p:spPr>
        <p:txBody>
          <a:bodyPr wrap="none">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事件触发</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状态迁移</a:t>
            </a:r>
            <a:endParaRPr lang="zh-CN" altLang="en-US" dirty="0"/>
          </a:p>
        </p:txBody>
      </p:sp>
    </p:spTree>
    <p:extLst>
      <p:ext uri="{BB962C8B-B14F-4D97-AF65-F5344CB8AC3E}">
        <p14:creationId xmlns:p14="http://schemas.microsoft.com/office/powerpoint/2010/main" val="2314204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zh-CN" altLang="en-US" sz="2800" dirty="0">
                <a:latin typeface="Arial" charset="0"/>
                <a:ea typeface="宋体" pitchFamily="2" charset="-122"/>
              </a:rPr>
              <a:t>完全可靠通道上的可靠数据传输：</a:t>
            </a:r>
            <a:r>
              <a:rPr lang="en-US" altLang="zh-CN" sz="2800" dirty="0">
                <a:solidFill>
                  <a:srgbClr val="C00000"/>
                </a:solidFill>
                <a:latin typeface="Arial" charset="0"/>
                <a:ea typeface="宋体" pitchFamily="2" charset="-122"/>
              </a:rPr>
              <a:t>rdt1.0</a:t>
            </a:r>
            <a:r>
              <a:rPr lang="en-US" altLang="zh-CN" sz="2800" dirty="0">
                <a:latin typeface="Arial" charset="0"/>
                <a:ea typeface="宋体" pitchFamily="2" charset="-122"/>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83563" y="1314038"/>
            <a:ext cx="8450862" cy="1546113"/>
          </a:xfrm>
          <a:prstGeom prst="rect">
            <a:avLst/>
          </a:prstGeom>
          <a:noFill/>
          <a:ln w="9525">
            <a:noFill/>
            <a:miter lim="800000"/>
            <a:headEnd/>
            <a:tailEnd/>
          </a:ln>
        </p:spPr>
        <p:txBody>
          <a:bodyPr/>
          <a:lstStyle/>
          <a:p>
            <a:pPr marL="800100" lvl="1" indent="-342900" eaLnBrk="0" hangingPunct="0">
              <a:lnSpc>
                <a:spcPct val="1500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下层通道是完全可靠的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无位错误</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无分组丢失</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1" name="组合 60">
            <a:extLst>
              <a:ext uri="{FF2B5EF4-FFF2-40B4-BE49-F238E27FC236}">
                <a16:creationId xmlns:a16="http://schemas.microsoft.com/office/drawing/2014/main" id="{1D77EFA7-0D2E-40A0-AC2A-2B45177CE53A}"/>
              </a:ext>
            </a:extLst>
          </p:cNvPr>
          <p:cNvGrpSpPr/>
          <p:nvPr/>
        </p:nvGrpSpPr>
        <p:grpSpPr>
          <a:xfrm>
            <a:off x="481013" y="3419181"/>
            <a:ext cx="4222750" cy="1035344"/>
            <a:chOff x="481013" y="3419181"/>
            <a:chExt cx="4222750" cy="1035344"/>
          </a:xfrm>
        </p:grpSpPr>
        <p:sp>
          <p:nvSpPr>
            <p:cNvPr id="63" name="Oval 5">
              <a:extLst>
                <a:ext uri="{FF2B5EF4-FFF2-40B4-BE49-F238E27FC236}">
                  <a16:creationId xmlns:a16="http://schemas.microsoft.com/office/drawing/2014/main" id="{0A11CF65-7A64-429E-B690-BA08241E2432}"/>
                </a:ext>
              </a:extLst>
            </p:cNvPr>
            <p:cNvSpPr>
              <a:spLocks noChangeArrowheads="1"/>
            </p:cNvSpPr>
            <p:nvPr/>
          </p:nvSpPr>
          <p:spPr bwMode="auto">
            <a:xfrm>
              <a:off x="822252" y="3419181"/>
              <a:ext cx="1000305" cy="1021057"/>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 name="Oval 4">
              <a:extLst>
                <a:ext uri="{FF2B5EF4-FFF2-40B4-BE49-F238E27FC236}">
                  <a16:creationId xmlns:a16="http://schemas.microsoft.com/office/drawing/2014/main" id="{B2B995AE-39C9-418C-B7E5-710BD3591CFD}"/>
                </a:ext>
              </a:extLst>
            </p:cNvPr>
            <p:cNvSpPr>
              <a:spLocks noChangeArrowheads="1"/>
            </p:cNvSpPr>
            <p:nvPr/>
          </p:nvSpPr>
          <p:spPr bwMode="auto">
            <a:xfrm>
              <a:off x="804863" y="3443288"/>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endParaRPr lang="zh-CN" altLang="zh-CN"/>
            </a:p>
          </p:txBody>
        </p:sp>
        <p:sp>
          <p:nvSpPr>
            <p:cNvPr id="4" name="Text Box 5">
              <a:extLst>
                <a:ext uri="{FF2B5EF4-FFF2-40B4-BE49-F238E27FC236}">
                  <a16:creationId xmlns:a16="http://schemas.microsoft.com/office/drawing/2014/main" id="{0B01F853-BE37-418F-96B9-94D3D793CCC1}"/>
                </a:ext>
              </a:extLst>
            </p:cNvPr>
            <p:cNvSpPr txBox="1">
              <a:spLocks noChangeArrowheads="1"/>
            </p:cNvSpPr>
            <p:nvPr/>
          </p:nvSpPr>
          <p:spPr bwMode="auto">
            <a:xfrm>
              <a:off x="828675" y="3529013"/>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等待来自上层的调用</a:t>
              </a:r>
              <a:endParaRPr lang="en-US" altLang="zh-CN" dirty="0">
                <a:latin typeface="宋体" panose="02010600030101010101" pitchFamily="2" charset="-122"/>
                <a:ea typeface="宋体" panose="02010600030101010101" pitchFamily="2" charset="-122"/>
              </a:endParaRPr>
            </a:p>
          </p:txBody>
        </p:sp>
        <p:sp>
          <p:nvSpPr>
            <p:cNvPr id="5" name="Freeform 6">
              <a:extLst>
                <a:ext uri="{FF2B5EF4-FFF2-40B4-BE49-F238E27FC236}">
                  <a16:creationId xmlns:a16="http://schemas.microsoft.com/office/drawing/2014/main" id="{CD80DEA8-1B9C-40FF-A8D4-04E2A38C5635}"/>
                </a:ext>
              </a:extLst>
            </p:cNvPr>
            <p:cNvSpPr>
              <a:spLocks/>
            </p:cNvSpPr>
            <p:nvPr/>
          </p:nvSpPr>
          <p:spPr bwMode="auto">
            <a:xfrm>
              <a:off x="1657016" y="3427413"/>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Text Box 7">
              <a:extLst>
                <a:ext uri="{FF2B5EF4-FFF2-40B4-BE49-F238E27FC236}">
                  <a16:creationId xmlns:a16="http://schemas.microsoft.com/office/drawing/2014/main" id="{6CBABBCF-2D98-49EE-82FE-B68105EA4601}"/>
                </a:ext>
              </a:extLst>
            </p:cNvPr>
            <p:cNvSpPr txBox="1">
              <a:spLocks noChangeArrowheads="1"/>
            </p:cNvSpPr>
            <p:nvPr/>
          </p:nvSpPr>
          <p:spPr bwMode="auto">
            <a:xfrm>
              <a:off x="2020888" y="3814709"/>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a:r>
                <a:rPr lang="en-US" altLang="zh-CN" dirty="0">
                  <a:latin typeface="Arial" panose="020B0604020202020204" pitchFamily="34" charset="0"/>
                </a:rPr>
                <a:t>packet = </a:t>
              </a:r>
              <a:r>
                <a:rPr lang="en-US" altLang="zh-CN" dirty="0" err="1">
                  <a:latin typeface="Arial" panose="020B0604020202020204" pitchFamily="34" charset="0"/>
                </a:rPr>
                <a:t>make_pkt</a:t>
              </a:r>
              <a:r>
                <a:rPr lang="en-US" altLang="zh-CN" dirty="0">
                  <a:latin typeface="Arial" panose="020B0604020202020204" pitchFamily="34" charset="0"/>
                </a:rPr>
                <a:t>(data)</a:t>
              </a:r>
            </a:p>
            <a:p>
              <a:pPr algn="l"/>
              <a:r>
                <a:rPr lang="en-US" altLang="zh-CN" dirty="0" err="1">
                  <a:latin typeface="Arial" panose="020B0604020202020204" pitchFamily="34" charset="0"/>
                </a:rPr>
                <a:t>udt_send</a:t>
              </a:r>
              <a:r>
                <a:rPr lang="en-US" altLang="zh-CN" dirty="0">
                  <a:latin typeface="Arial" panose="020B0604020202020204" pitchFamily="34" charset="0"/>
                </a:rPr>
                <a:t>(packet)</a:t>
              </a:r>
              <a:endParaRPr lang="en-US" altLang="zh-CN" dirty="0">
                <a:latin typeface="Times New Roman" panose="02020603050405020304" pitchFamily="18" charset="0"/>
              </a:endParaRPr>
            </a:p>
          </p:txBody>
        </p:sp>
        <p:sp>
          <p:nvSpPr>
            <p:cNvPr id="21" name="Text Box 8">
              <a:extLst>
                <a:ext uri="{FF2B5EF4-FFF2-40B4-BE49-F238E27FC236}">
                  <a16:creationId xmlns:a16="http://schemas.microsoft.com/office/drawing/2014/main" id="{9B46E12E-D274-4FE0-A821-75334AE01EC0}"/>
                </a:ext>
              </a:extLst>
            </p:cNvPr>
            <p:cNvSpPr txBox="1">
              <a:spLocks noChangeArrowheads="1"/>
            </p:cNvSpPr>
            <p:nvPr/>
          </p:nvSpPr>
          <p:spPr bwMode="auto">
            <a:xfrm>
              <a:off x="2025650" y="3484563"/>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a:r>
                <a:rPr lang="en-US" altLang="zh-CN">
                  <a:latin typeface="Arial" panose="020B0604020202020204" pitchFamily="34" charset="0"/>
                </a:rPr>
                <a:t>rdt_send(data)</a:t>
              </a:r>
              <a:endParaRPr lang="en-US" altLang="zh-CN">
                <a:latin typeface="Times New Roman" panose="02020603050405020304" pitchFamily="18" charset="0"/>
              </a:endParaRPr>
            </a:p>
          </p:txBody>
        </p:sp>
        <p:sp>
          <p:nvSpPr>
            <p:cNvPr id="33" name="Line 9">
              <a:extLst>
                <a:ext uri="{FF2B5EF4-FFF2-40B4-BE49-F238E27FC236}">
                  <a16:creationId xmlns:a16="http://schemas.microsoft.com/office/drawing/2014/main" id="{F80E931D-3189-42B1-BFCE-6CB8106C74BA}"/>
                </a:ext>
              </a:extLst>
            </p:cNvPr>
            <p:cNvSpPr>
              <a:spLocks noChangeShapeType="1"/>
            </p:cNvSpPr>
            <p:nvPr/>
          </p:nvSpPr>
          <p:spPr bwMode="auto">
            <a:xfrm>
              <a:off x="2125663" y="3827463"/>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0">
              <a:extLst>
                <a:ext uri="{FF2B5EF4-FFF2-40B4-BE49-F238E27FC236}">
                  <a16:creationId xmlns:a16="http://schemas.microsoft.com/office/drawing/2014/main" id="{96C067D7-1502-4D9C-A04A-7D8B45185C8A}"/>
                </a:ext>
              </a:extLst>
            </p:cNvPr>
            <p:cNvSpPr>
              <a:spLocks noChangeShapeType="1"/>
            </p:cNvSpPr>
            <p:nvPr/>
          </p:nvSpPr>
          <p:spPr bwMode="auto">
            <a:xfrm>
              <a:off x="481013" y="3427413"/>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3" name="Text Box 19">
            <a:extLst>
              <a:ext uri="{FF2B5EF4-FFF2-40B4-BE49-F238E27FC236}">
                <a16:creationId xmlns:a16="http://schemas.microsoft.com/office/drawing/2014/main" id="{9583E865-D48C-47AE-97D5-49DBFFF584C5}"/>
              </a:ext>
            </a:extLst>
          </p:cNvPr>
          <p:cNvSpPr txBox="1">
            <a:spLocks noChangeArrowheads="1"/>
          </p:cNvSpPr>
          <p:nvPr/>
        </p:nvSpPr>
        <p:spPr bwMode="auto">
          <a:xfrm>
            <a:off x="1822557" y="4817529"/>
            <a:ext cx="11079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发送端</a:t>
            </a:r>
            <a:endParaRPr lang="en-US" sz="2400" dirty="0">
              <a:solidFill>
                <a:srgbClr val="CC0000"/>
              </a:solidFill>
            </a:endParaRPr>
          </a:p>
        </p:txBody>
      </p:sp>
      <p:sp>
        <p:nvSpPr>
          <p:cNvPr id="55" name="Text Box 20">
            <a:extLst>
              <a:ext uri="{FF2B5EF4-FFF2-40B4-BE49-F238E27FC236}">
                <a16:creationId xmlns:a16="http://schemas.microsoft.com/office/drawing/2014/main" id="{735F7ED5-F3E9-4F9E-BAFB-ADA2D3C410CF}"/>
              </a:ext>
            </a:extLst>
          </p:cNvPr>
          <p:cNvSpPr txBox="1">
            <a:spLocks noChangeArrowheads="1"/>
          </p:cNvSpPr>
          <p:nvPr/>
        </p:nvSpPr>
        <p:spPr bwMode="auto">
          <a:xfrm>
            <a:off x="5947587" y="4804273"/>
            <a:ext cx="11079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接收端</a:t>
            </a:r>
            <a:endParaRPr lang="en-US" sz="2400" dirty="0">
              <a:solidFill>
                <a:srgbClr val="CC0000"/>
              </a:solidFill>
            </a:endParaRPr>
          </a:p>
        </p:txBody>
      </p:sp>
      <p:grpSp>
        <p:nvGrpSpPr>
          <p:cNvPr id="67" name="组合 66">
            <a:extLst>
              <a:ext uri="{FF2B5EF4-FFF2-40B4-BE49-F238E27FC236}">
                <a16:creationId xmlns:a16="http://schemas.microsoft.com/office/drawing/2014/main" id="{D41B6A6A-FAEB-4245-AC41-154AE625ABF4}"/>
              </a:ext>
            </a:extLst>
          </p:cNvPr>
          <p:cNvGrpSpPr/>
          <p:nvPr/>
        </p:nvGrpSpPr>
        <p:grpSpPr>
          <a:xfrm>
            <a:off x="4703763" y="3391971"/>
            <a:ext cx="4030662" cy="1042433"/>
            <a:chOff x="4789488" y="3397805"/>
            <a:chExt cx="4030662" cy="1042433"/>
          </a:xfrm>
        </p:grpSpPr>
        <p:sp>
          <p:nvSpPr>
            <p:cNvPr id="59" name="Oval 5">
              <a:extLst>
                <a:ext uri="{FF2B5EF4-FFF2-40B4-BE49-F238E27FC236}">
                  <a16:creationId xmlns:a16="http://schemas.microsoft.com/office/drawing/2014/main" id="{5D3843FA-D2A8-438A-8CF0-DF7062BDF97F}"/>
                </a:ext>
              </a:extLst>
            </p:cNvPr>
            <p:cNvSpPr>
              <a:spLocks noChangeArrowheads="1"/>
            </p:cNvSpPr>
            <p:nvPr/>
          </p:nvSpPr>
          <p:spPr bwMode="auto">
            <a:xfrm>
              <a:off x="5133641" y="3397805"/>
              <a:ext cx="1000305" cy="1021057"/>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7" name="Text Box 11">
              <a:extLst>
                <a:ext uri="{FF2B5EF4-FFF2-40B4-BE49-F238E27FC236}">
                  <a16:creationId xmlns:a16="http://schemas.microsoft.com/office/drawing/2014/main" id="{77B085CF-82DD-4303-89E5-8121F4F03622}"/>
                </a:ext>
              </a:extLst>
            </p:cNvPr>
            <p:cNvSpPr txBox="1">
              <a:spLocks noChangeArrowheads="1"/>
            </p:cNvSpPr>
            <p:nvPr/>
          </p:nvSpPr>
          <p:spPr bwMode="auto">
            <a:xfrm>
              <a:off x="6332538" y="3810000"/>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a:r>
                <a:rPr lang="en-US" altLang="zh-CN">
                  <a:latin typeface="Arial" panose="020B0604020202020204" pitchFamily="34" charset="0"/>
                </a:rPr>
                <a:t>extract (packet,data)</a:t>
              </a:r>
            </a:p>
            <a:p>
              <a:pPr algn="l"/>
              <a:r>
                <a:rPr lang="en-US" altLang="zh-CN">
                  <a:latin typeface="Arial" panose="020B0604020202020204" pitchFamily="34" charset="0"/>
                </a:rPr>
                <a:t>deliver_data(data)</a:t>
              </a:r>
              <a:endParaRPr lang="en-US" altLang="zh-CN">
                <a:latin typeface="Times New Roman" panose="02020603050405020304" pitchFamily="18" charset="0"/>
              </a:endParaRPr>
            </a:p>
          </p:txBody>
        </p:sp>
        <p:sp>
          <p:nvSpPr>
            <p:cNvPr id="39" name="Oval 12">
              <a:extLst>
                <a:ext uri="{FF2B5EF4-FFF2-40B4-BE49-F238E27FC236}">
                  <a16:creationId xmlns:a16="http://schemas.microsoft.com/office/drawing/2014/main" id="{512956D0-C286-4F65-9B8C-D3A036E64B0C}"/>
                </a:ext>
              </a:extLst>
            </p:cNvPr>
            <p:cNvSpPr>
              <a:spLocks noChangeArrowheads="1"/>
            </p:cNvSpPr>
            <p:nvPr/>
          </p:nvSpPr>
          <p:spPr bwMode="auto">
            <a:xfrm>
              <a:off x="5113338" y="3429000"/>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endParaRPr lang="zh-CN" altLang="zh-CN"/>
            </a:p>
          </p:txBody>
        </p:sp>
        <p:sp>
          <p:nvSpPr>
            <p:cNvPr id="43" name="Freeform 14">
              <a:extLst>
                <a:ext uri="{FF2B5EF4-FFF2-40B4-BE49-F238E27FC236}">
                  <a16:creationId xmlns:a16="http://schemas.microsoft.com/office/drawing/2014/main" id="{59E952B1-218C-459A-8BF9-29C25B7F23A6}"/>
                </a:ext>
              </a:extLst>
            </p:cNvPr>
            <p:cNvSpPr>
              <a:spLocks/>
            </p:cNvSpPr>
            <p:nvPr/>
          </p:nvSpPr>
          <p:spPr bwMode="auto">
            <a:xfrm>
              <a:off x="5976123" y="3413125"/>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Text Box 15">
              <a:extLst>
                <a:ext uri="{FF2B5EF4-FFF2-40B4-BE49-F238E27FC236}">
                  <a16:creationId xmlns:a16="http://schemas.microsoft.com/office/drawing/2014/main" id="{9B3AB04E-04DF-4712-88DF-088BAD2EFCC1}"/>
                </a:ext>
              </a:extLst>
            </p:cNvPr>
            <p:cNvSpPr txBox="1">
              <a:spLocks noChangeArrowheads="1"/>
            </p:cNvSpPr>
            <p:nvPr/>
          </p:nvSpPr>
          <p:spPr bwMode="auto">
            <a:xfrm>
              <a:off x="6334125" y="3470275"/>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a:endParaRPr lang="zh-CN" altLang="zh-CN">
                <a:latin typeface="Times New Roman" panose="02020603050405020304" pitchFamily="18" charset="0"/>
              </a:endParaRPr>
            </a:p>
          </p:txBody>
        </p:sp>
        <p:sp>
          <p:nvSpPr>
            <p:cNvPr id="47" name="Line 16">
              <a:extLst>
                <a:ext uri="{FF2B5EF4-FFF2-40B4-BE49-F238E27FC236}">
                  <a16:creationId xmlns:a16="http://schemas.microsoft.com/office/drawing/2014/main" id="{876EBB60-9EED-4446-ACE4-99B218CBB7EA}"/>
                </a:ext>
              </a:extLst>
            </p:cNvPr>
            <p:cNvSpPr>
              <a:spLocks noChangeShapeType="1"/>
            </p:cNvSpPr>
            <p:nvPr/>
          </p:nvSpPr>
          <p:spPr bwMode="auto">
            <a:xfrm>
              <a:off x="6434138" y="3813175"/>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17">
              <a:extLst>
                <a:ext uri="{FF2B5EF4-FFF2-40B4-BE49-F238E27FC236}">
                  <a16:creationId xmlns:a16="http://schemas.microsoft.com/office/drawing/2014/main" id="{1A5EBBE9-1582-4B37-B90D-8046977E2793}"/>
                </a:ext>
              </a:extLst>
            </p:cNvPr>
            <p:cNvSpPr>
              <a:spLocks noChangeShapeType="1"/>
            </p:cNvSpPr>
            <p:nvPr/>
          </p:nvSpPr>
          <p:spPr bwMode="auto">
            <a:xfrm>
              <a:off x="4789488" y="3413125"/>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Rectangle 18">
              <a:extLst>
                <a:ext uri="{FF2B5EF4-FFF2-40B4-BE49-F238E27FC236}">
                  <a16:creationId xmlns:a16="http://schemas.microsoft.com/office/drawing/2014/main" id="{BFF79D0F-D5A1-4A37-8AD1-AF0834721E38}"/>
                </a:ext>
              </a:extLst>
            </p:cNvPr>
            <p:cNvSpPr>
              <a:spLocks noChangeArrowheads="1"/>
            </p:cNvSpPr>
            <p:nvPr/>
          </p:nvSpPr>
          <p:spPr bwMode="auto">
            <a:xfrm>
              <a:off x="6347619" y="3440112"/>
              <a:ext cx="15414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err="1">
                  <a:latin typeface="Arial" charset="0"/>
                  <a:ea typeface="ＭＳ Ｐゴシック" charset="0"/>
                </a:rPr>
                <a:t>rdt_rcv</a:t>
              </a:r>
              <a:r>
                <a:rPr lang="en-US" dirty="0">
                  <a:latin typeface="Arial" charset="0"/>
                  <a:ea typeface="ＭＳ Ｐゴシック" charset="0"/>
                </a:rPr>
                <a:t>(packet)</a:t>
              </a:r>
            </a:p>
          </p:txBody>
        </p:sp>
        <p:sp>
          <p:nvSpPr>
            <p:cNvPr id="57" name="Text Box 5">
              <a:extLst>
                <a:ext uri="{FF2B5EF4-FFF2-40B4-BE49-F238E27FC236}">
                  <a16:creationId xmlns:a16="http://schemas.microsoft.com/office/drawing/2014/main" id="{02F87C23-35D0-42AF-83EB-89023EF7FFCA}"/>
                </a:ext>
              </a:extLst>
            </p:cNvPr>
            <p:cNvSpPr txBox="1">
              <a:spLocks noChangeArrowheads="1"/>
            </p:cNvSpPr>
            <p:nvPr/>
          </p:nvSpPr>
          <p:spPr bwMode="auto">
            <a:xfrm>
              <a:off x="5112342" y="3463133"/>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等待来自下层的调用</a:t>
              </a:r>
              <a:endParaRPr lang="en-US" altLang="zh-CN" dirty="0">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723955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zh-CN" altLang="en-US" sz="2800" dirty="0">
                <a:latin typeface="Arial" charset="0"/>
                <a:ea typeface="宋体" pitchFamily="2" charset="-122"/>
              </a:rPr>
              <a:t>具有位错误通道上的可靠数据传输：</a:t>
            </a:r>
            <a:r>
              <a:rPr lang="en-US" altLang="zh-CN" sz="2800" dirty="0">
                <a:solidFill>
                  <a:srgbClr val="C00000"/>
                </a:solidFill>
                <a:latin typeface="Arial" charset="0"/>
                <a:ea typeface="宋体" pitchFamily="2" charset="-122"/>
              </a:rPr>
              <a:t>rdt2.0</a:t>
            </a:r>
            <a:r>
              <a:rPr lang="en-US" altLang="zh-CN" sz="2800" dirty="0">
                <a:latin typeface="Arial" charset="0"/>
                <a:ea typeface="宋体" pitchFamily="2" charset="-122"/>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64619" y="1426505"/>
            <a:ext cx="8450862" cy="4690090"/>
          </a:xfrm>
          <a:prstGeom prst="rect">
            <a:avLst/>
          </a:prstGeom>
          <a:noFill/>
          <a:ln w="9525">
            <a:noFill/>
            <a:miter lim="800000"/>
            <a:headEnd/>
            <a:tailEnd/>
          </a:ln>
        </p:spPr>
        <p:txBody>
          <a:bodyPr/>
          <a:lstStyle/>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下层通道可能造成某些位出现错误（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变</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变</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需要解决的问题</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：如何恢复差错（自动重传请求</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ARQ</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：接收端通知发送端分组正确接收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：接收端通知发送端分组存在错误</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发送端收到</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，则重传分组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spcBef>
                <a:spcPts val="300"/>
              </a:spcBef>
              <a:buClr>
                <a:srgbClr val="2A09B7"/>
              </a:buClr>
              <a:buFont typeface="Wingdings" panose="05000000000000000000" pitchFamily="2" charset="2"/>
              <a:buChar char="Ø"/>
            </a:pPr>
            <a:r>
              <a:rPr lang="en-US" altLang="zh-CN"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rdt2.0</a:t>
            </a:r>
            <a:r>
              <a:rPr lang="zh-CN" altLang="en-US"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需要增加的功能</a:t>
            </a:r>
            <a:endParaRPr lang="en-US" altLang="zh-CN"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差错检测</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接收端反馈：</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（控制分组）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发送端重传分组</a:t>
            </a:r>
            <a:endParaRPr lang="en-US" altLang="zh-CN" sz="2000" dirty="0">
              <a:solidFill>
                <a:srgbClr val="003366"/>
              </a:solidFill>
              <a:latin typeface="Arial" charset="0"/>
            </a:endParaRPr>
          </a:p>
          <a:p>
            <a:pPr marL="1163638" lvl="2" indent="-249238" eaLnBrk="0" hangingPunct="0">
              <a:lnSpc>
                <a:spcPct val="150000"/>
              </a:lnSpc>
              <a:buClr>
                <a:srgbClr val="2A09B7"/>
              </a:buClr>
              <a:buFont typeface="Arial" panose="020B0604020202020204" pitchFamily="34" charset="0"/>
              <a:buChar cha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C6EAD48B-7AA7-47BA-8090-E86B02ACA34C}"/>
              </a:ext>
            </a:extLst>
          </p:cNvPr>
          <p:cNvSpPr/>
          <p:nvPr/>
        </p:nvSpPr>
        <p:spPr>
          <a:xfrm>
            <a:off x="4674463" y="5901151"/>
            <a:ext cx="4145687" cy="430887"/>
          </a:xfrm>
          <a:prstGeom prst="rect">
            <a:avLst/>
          </a:prstGeom>
          <a:solidFill>
            <a:schemeClr val="accent2">
              <a:lumMod val="20000"/>
              <a:lumOff val="80000"/>
            </a:schemeClr>
          </a:solidFill>
        </p:spPr>
        <p:txBody>
          <a:bodyPr wrap="none">
            <a:spAutoFit/>
          </a:bodyPr>
          <a:lstStyle/>
          <a:p>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ARQ</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Automatic Repeat </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ReQuest</a:t>
            </a:r>
            <a:endParaRPr lang="zh-CN" altLang="en-US" sz="2200" dirty="0"/>
          </a:p>
        </p:txBody>
      </p:sp>
    </p:spTree>
    <p:extLst>
      <p:ext uri="{BB962C8B-B14F-4D97-AF65-F5344CB8AC3E}">
        <p14:creationId xmlns:p14="http://schemas.microsoft.com/office/powerpoint/2010/main" val="3616792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5">
            <a:extLst>
              <a:ext uri="{FF2B5EF4-FFF2-40B4-BE49-F238E27FC236}">
                <a16:creationId xmlns:a16="http://schemas.microsoft.com/office/drawing/2014/main" id="{4F5CCBCD-2D4E-4171-B077-8E37613D0B22}"/>
              </a:ext>
            </a:extLst>
          </p:cNvPr>
          <p:cNvSpPr>
            <a:spLocks noChangeArrowheads="1"/>
          </p:cNvSpPr>
          <p:nvPr/>
        </p:nvSpPr>
        <p:spPr bwMode="auto">
          <a:xfrm>
            <a:off x="6821751" y="3504707"/>
            <a:ext cx="1000305" cy="1013120"/>
          </a:xfrm>
          <a:prstGeom prst="ellipse">
            <a:avLst/>
          </a:prstGeom>
          <a:solidFill>
            <a:schemeClr val="accent6">
              <a:lumMod val="75000"/>
            </a:schemeClr>
          </a:solidFill>
          <a:ln w="19050">
            <a:noFill/>
            <a:round/>
            <a:headEnd/>
            <a:tailEnd/>
          </a:ln>
        </p:spPr>
        <p:txBody>
          <a:bodyPr wrap="none" anchor="ctr"/>
          <a:lstStyle/>
          <a:p>
            <a:endParaRPr lang="zh-CN" altLang="en-US"/>
          </a:p>
        </p:txBody>
      </p:sp>
      <p:sp>
        <p:nvSpPr>
          <p:cNvPr id="10" name="Oval 5">
            <a:extLst>
              <a:ext uri="{FF2B5EF4-FFF2-40B4-BE49-F238E27FC236}">
                <a16:creationId xmlns:a16="http://schemas.microsoft.com/office/drawing/2014/main" id="{BC54B501-337A-449B-B3E4-27E7CEF84EF0}"/>
              </a:ext>
            </a:extLst>
          </p:cNvPr>
          <p:cNvSpPr>
            <a:spLocks noChangeArrowheads="1"/>
          </p:cNvSpPr>
          <p:nvPr/>
        </p:nvSpPr>
        <p:spPr bwMode="auto">
          <a:xfrm>
            <a:off x="2524295" y="2856361"/>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 name="Oval 5">
            <a:extLst>
              <a:ext uri="{FF2B5EF4-FFF2-40B4-BE49-F238E27FC236}">
                <a16:creationId xmlns:a16="http://schemas.microsoft.com/office/drawing/2014/main" id="{7C2AB84A-ACBA-4A7E-A7AC-8E97B6310A81}"/>
              </a:ext>
            </a:extLst>
          </p:cNvPr>
          <p:cNvSpPr>
            <a:spLocks noChangeArrowheads="1"/>
          </p:cNvSpPr>
          <p:nvPr/>
        </p:nvSpPr>
        <p:spPr bwMode="auto">
          <a:xfrm>
            <a:off x="887262" y="2840486"/>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rdt2.0</a:t>
            </a:r>
            <a:r>
              <a:rPr lang="zh-CN" altLang="en-US" sz="2800" dirty="0">
                <a:solidFill>
                  <a:srgbClr val="C00000"/>
                </a:solidFill>
                <a:latin typeface="Arial" charset="0"/>
                <a:ea typeface="宋体" pitchFamily="2" charset="-122"/>
              </a:rPr>
              <a:t>：</a:t>
            </a:r>
            <a:r>
              <a:rPr lang="zh-CN" altLang="en-US" sz="2800" b="1" dirty="0">
                <a:latin typeface="Arial" charset="0"/>
                <a:ea typeface="宋体" pitchFamily="2" charset="-122"/>
              </a:rPr>
              <a:t>有限状态机</a:t>
            </a:r>
            <a:endParaRPr lang="en-US" altLang="zh-CN" sz="2800" b="1"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53" name="Oval 3">
            <a:extLst>
              <a:ext uri="{FF2B5EF4-FFF2-40B4-BE49-F238E27FC236}">
                <a16:creationId xmlns:a16="http://schemas.microsoft.com/office/drawing/2014/main" id="{5B507379-68AD-4F6A-A004-4AF61FC784FB}"/>
              </a:ext>
            </a:extLst>
          </p:cNvPr>
          <p:cNvSpPr>
            <a:spLocks noChangeArrowheads="1"/>
          </p:cNvSpPr>
          <p:nvPr/>
        </p:nvSpPr>
        <p:spPr bwMode="auto">
          <a:xfrm>
            <a:off x="843223" y="2873177"/>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55" name="Text Box 5">
            <a:extLst>
              <a:ext uri="{FF2B5EF4-FFF2-40B4-BE49-F238E27FC236}">
                <a16:creationId xmlns:a16="http://schemas.microsoft.com/office/drawing/2014/main" id="{4F7D1571-9AA0-40A2-AD79-BE5409C23C25}"/>
              </a:ext>
            </a:extLst>
          </p:cNvPr>
          <p:cNvSpPr txBox="1">
            <a:spLocks noChangeArrowheads="1"/>
          </p:cNvSpPr>
          <p:nvPr/>
        </p:nvSpPr>
        <p:spPr bwMode="auto">
          <a:xfrm>
            <a:off x="1151198" y="2154040"/>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sndpkt</a:t>
            </a:r>
            <a:r>
              <a:rPr lang="en-US" altLang="zh-CN" dirty="0">
                <a:latin typeface="Arial" panose="020B0604020202020204" pitchFamily="34" charset="0"/>
              </a:rPr>
              <a:t> = </a:t>
            </a:r>
            <a:r>
              <a:rPr lang="en-US" altLang="zh-CN" dirty="0" err="1">
                <a:latin typeface="Arial" panose="020B0604020202020204" pitchFamily="34" charset="0"/>
              </a:rPr>
              <a:t>make_pkt</a:t>
            </a:r>
            <a:r>
              <a:rPr lang="en-US" altLang="zh-CN" dirty="0">
                <a:latin typeface="Arial" panose="020B0604020202020204" pitchFamily="34" charset="0"/>
              </a:rPr>
              <a:t>(data, checksum)</a:t>
            </a:r>
          </a:p>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57" name="Line 6">
            <a:extLst>
              <a:ext uri="{FF2B5EF4-FFF2-40B4-BE49-F238E27FC236}">
                <a16:creationId xmlns:a16="http://schemas.microsoft.com/office/drawing/2014/main" id="{4128CFC6-A13B-486E-A1A6-F0F30F0BEF28}"/>
              </a:ext>
            </a:extLst>
          </p:cNvPr>
          <p:cNvSpPr>
            <a:spLocks noChangeShapeType="1"/>
          </p:cNvSpPr>
          <p:nvPr/>
        </p:nvSpPr>
        <p:spPr bwMode="auto">
          <a:xfrm>
            <a:off x="1255973" y="2198490"/>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Text Box 7">
            <a:extLst>
              <a:ext uri="{FF2B5EF4-FFF2-40B4-BE49-F238E27FC236}">
                <a16:creationId xmlns:a16="http://schemas.microsoft.com/office/drawing/2014/main" id="{15170A7C-FA2B-4712-A082-5A5442133843}"/>
              </a:ext>
            </a:extLst>
          </p:cNvPr>
          <p:cNvSpPr txBox="1">
            <a:spLocks noChangeArrowheads="1"/>
          </p:cNvSpPr>
          <p:nvPr/>
        </p:nvSpPr>
        <p:spPr bwMode="auto">
          <a:xfrm>
            <a:off x="6340829" y="529351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extract(rcvpkt,data)</a:t>
            </a:r>
          </a:p>
          <a:p>
            <a:pPr algn="l"/>
            <a:r>
              <a:rPr lang="en-US" altLang="zh-CN">
                <a:latin typeface="Arial" panose="020B0604020202020204" pitchFamily="34" charset="0"/>
              </a:rPr>
              <a:t>deliver_data(data)</a:t>
            </a:r>
          </a:p>
          <a:p>
            <a:pPr algn="l"/>
            <a:r>
              <a:rPr lang="en-US" altLang="zh-CN">
                <a:latin typeface="Arial" panose="020B0604020202020204" pitchFamily="34" charset="0"/>
              </a:rPr>
              <a:t>udt_send(ACK)</a:t>
            </a:r>
            <a:endParaRPr lang="en-US" altLang="zh-CN">
              <a:latin typeface="Times New Roman" panose="02020603050405020304" pitchFamily="18" charset="0"/>
            </a:endParaRPr>
          </a:p>
        </p:txBody>
      </p:sp>
      <p:sp>
        <p:nvSpPr>
          <p:cNvPr id="60" name="Text Box 8">
            <a:extLst>
              <a:ext uri="{FF2B5EF4-FFF2-40B4-BE49-F238E27FC236}">
                <a16:creationId xmlns:a16="http://schemas.microsoft.com/office/drawing/2014/main" id="{44A46DE7-6B7B-4ED6-BE8E-96660C878207}"/>
              </a:ext>
            </a:extLst>
          </p:cNvPr>
          <p:cNvSpPr txBox="1">
            <a:spLocks noChangeArrowheads="1"/>
          </p:cNvSpPr>
          <p:nvPr/>
        </p:nvSpPr>
        <p:spPr bwMode="auto">
          <a:xfrm>
            <a:off x="6318604" y="4760111"/>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notcorrupt(rcvpkt)</a:t>
            </a:r>
            <a:endParaRPr lang="en-US" altLang="zh-CN">
              <a:latin typeface="Times New Roman" panose="02020603050405020304" pitchFamily="18" charset="0"/>
            </a:endParaRPr>
          </a:p>
        </p:txBody>
      </p:sp>
      <p:sp>
        <p:nvSpPr>
          <p:cNvPr id="61" name="Line 9">
            <a:extLst>
              <a:ext uri="{FF2B5EF4-FFF2-40B4-BE49-F238E27FC236}">
                <a16:creationId xmlns:a16="http://schemas.microsoft.com/office/drawing/2014/main" id="{40A2E62E-F487-4734-98A8-BA85042AF4D9}"/>
              </a:ext>
            </a:extLst>
          </p:cNvPr>
          <p:cNvSpPr>
            <a:spLocks noChangeShapeType="1"/>
          </p:cNvSpPr>
          <p:nvPr/>
        </p:nvSpPr>
        <p:spPr bwMode="auto">
          <a:xfrm>
            <a:off x="6440841" y="534907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Freeform 10">
            <a:extLst>
              <a:ext uri="{FF2B5EF4-FFF2-40B4-BE49-F238E27FC236}">
                <a16:creationId xmlns:a16="http://schemas.microsoft.com/office/drawing/2014/main" id="{31C3ACAA-3C14-4737-855E-C29A5ED34245}"/>
              </a:ext>
            </a:extLst>
          </p:cNvPr>
          <p:cNvSpPr>
            <a:spLocks/>
          </p:cNvSpPr>
          <p:nvPr/>
        </p:nvSpPr>
        <p:spPr bwMode="auto">
          <a:xfrm flipV="1">
            <a:off x="1203585" y="2642990"/>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 name="Freeform 11">
            <a:extLst>
              <a:ext uri="{FF2B5EF4-FFF2-40B4-BE49-F238E27FC236}">
                <a16:creationId xmlns:a16="http://schemas.microsoft.com/office/drawing/2014/main" id="{DCE811A2-EDA4-4013-91BD-DD5EFDE053A4}"/>
              </a:ext>
            </a:extLst>
          </p:cNvPr>
          <p:cNvSpPr>
            <a:spLocks/>
          </p:cNvSpPr>
          <p:nvPr/>
        </p:nvSpPr>
        <p:spPr bwMode="auto">
          <a:xfrm>
            <a:off x="1251210" y="3803452"/>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Text Box 12">
            <a:extLst>
              <a:ext uri="{FF2B5EF4-FFF2-40B4-BE49-F238E27FC236}">
                <a16:creationId xmlns:a16="http://schemas.microsoft.com/office/drawing/2014/main" id="{C4A90E15-CF24-4858-A7DA-EEE57F86313F}"/>
              </a:ext>
            </a:extLst>
          </p:cNvPr>
          <p:cNvSpPr txBox="1">
            <a:spLocks noChangeArrowheads="1"/>
          </p:cNvSpPr>
          <p:nvPr/>
        </p:nvSpPr>
        <p:spPr bwMode="auto">
          <a:xfrm>
            <a:off x="1217873" y="3951089"/>
            <a:ext cx="2004146"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t>
            </a:r>
          </a:p>
          <a:p>
            <a:pPr algn="l"/>
            <a:r>
              <a:rPr lang="en-US" altLang="zh-CN" dirty="0">
                <a:latin typeface="Arial" panose="020B0604020202020204" pitchFamily="34" charset="0"/>
              </a:rPr>
              <a:t>  &amp;&amp; </a:t>
            </a:r>
            <a:r>
              <a:rPr lang="en-US" altLang="zh-CN" dirty="0" err="1">
                <a:latin typeface="Arial" panose="020B0604020202020204" pitchFamily="34" charset="0"/>
              </a:rPr>
              <a:t>isACK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6" name="Freeform 14">
            <a:extLst>
              <a:ext uri="{FF2B5EF4-FFF2-40B4-BE49-F238E27FC236}">
                <a16:creationId xmlns:a16="http://schemas.microsoft.com/office/drawing/2014/main" id="{3ABD71DA-4B0B-44F7-95FA-44300F23FCCA}"/>
              </a:ext>
            </a:extLst>
          </p:cNvPr>
          <p:cNvSpPr>
            <a:spLocks/>
          </p:cNvSpPr>
          <p:nvPr/>
        </p:nvSpPr>
        <p:spPr bwMode="auto">
          <a:xfrm>
            <a:off x="3399098" y="2949377"/>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Text Box 15">
            <a:extLst>
              <a:ext uri="{FF2B5EF4-FFF2-40B4-BE49-F238E27FC236}">
                <a16:creationId xmlns:a16="http://schemas.microsoft.com/office/drawing/2014/main" id="{E0F144A4-B7CE-4DA9-B7DB-C523E63F3070}"/>
              </a:ext>
            </a:extLst>
          </p:cNvPr>
          <p:cNvSpPr txBox="1">
            <a:spLocks noChangeArrowheads="1"/>
          </p:cNvSpPr>
          <p:nvPr/>
        </p:nvSpPr>
        <p:spPr bwMode="auto">
          <a:xfrm>
            <a:off x="3741203" y="3226471"/>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8" name="Text Box 16">
            <a:extLst>
              <a:ext uri="{FF2B5EF4-FFF2-40B4-BE49-F238E27FC236}">
                <a16:creationId xmlns:a16="http://schemas.microsoft.com/office/drawing/2014/main" id="{219485B8-E33B-4143-AC68-BED90F2007D3}"/>
              </a:ext>
            </a:extLst>
          </p:cNvPr>
          <p:cNvSpPr txBox="1">
            <a:spLocks noChangeArrowheads="1"/>
          </p:cNvSpPr>
          <p:nvPr/>
        </p:nvSpPr>
        <p:spPr bwMode="auto">
          <a:xfrm>
            <a:off x="3741204" y="2678489"/>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&amp;&amp;</a:t>
            </a:r>
          </a:p>
          <a:p>
            <a:pPr algn="l"/>
            <a:r>
              <a:rPr lang="en-US" altLang="zh-CN" dirty="0">
                <a:latin typeface="Arial" panose="020B0604020202020204" pitchFamily="34" charset="0"/>
              </a:rPr>
              <a:t>   </a:t>
            </a:r>
            <a:r>
              <a:rPr lang="en-US" altLang="zh-CN" dirty="0" err="1">
                <a:latin typeface="Arial" panose="020B0604020202020204" pitchFamily="34" charset="0"/>
              </a:rPr>
              <a:t>isNAK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9" name="Line 17">
            <a:extLst>
              <a:ext uri="{FF2B5EF4-FFF2-40B4-BE49-F238E27FC236}">
                <a16:creationId xmlns:a16="http://schemas.microsoft.com/office/drawing/2014/main" id="{DAFB4A03-B399-4F34-BDCD-AA673BB976A0}"/>
              </a:ext>
            </a:extLst>
          </p:cNvPr>
          <p:cNvSpPr>
            <a:spLocks noChangeShapeType="1"/>
          </p:cNvSpPr>
          <p:nvPr/>
        </p:nvSpPr>
        <p:spPr bwMode="auto">
          <a:xfrm>
            <a:off x="3802322" y="3263702"/>
            <a:ext cx="156350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 name="Group 18">
            <a:extLst>
              <a:ext uri="{FF2B5EF4-FFF2-40B4-BE49-F238E27FC236}">
                <a16:creationId xmlns:a16="http://schemas.microsoft.com/office/drawing/2014/main" id="{DDF351C2-E7A0-4BC9-9EEE-77EB3E2253B0}"/>
              </a:ext>
            </a:extLst>
          </p:cNvPr>
          <p:cNvGrpSpPr>
            <a:grpSpLocks/>
          </p:cNvGrpSpPr>
          <p:nvPr/>
        </p:nvGrpSpPr>
        <p:grpSpPr bwMode="auto">
          <a:xfrm>
            <a:off x="6594829" y="2331236"/>
            <a:ext cx="1924050" cy="858838"/>
            <a:chOff x="2222" y="2660"/>
            <a:chExt cx="1212" cy="541"/>
          </a:xfrm>
        </p:grpSpPr>
        <p:sp>
          <p:nvSpPr>
            <p:cNvPr id="71" name="Text Box 19">
              <a:extLst>
                <a:ext uri="{FF2B5EF4-FFF2-40B4-BE49-F238E27FC236}">
                  <a16:creationId xmlns:a16="http://schemas.microsoft.com/office/drawing/2014/main" id="{4F26CAD4-5D3C-4770-8E1A-7B2449456D58}"/>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udt_send(NAK)</a:t>
              </a:r>
              <a:endParaRPr lang="en-US" altLang="zh-CN">
                <a:latin typeface="Times New Roman" panose="02020603050405020304" pitchFamily="18" charset="0"/>
              </a:endParaRPr>
            </a:p>
          </p:txBody>
        </p:sp>
        <p:sp>
          <p:nvSpPr>
            <p:cNvPr id="72" name="Text Box 20">
              <a:extLst>
                <a:ext uri="{FF2B5EF4-FFF2-40B4-BE49-F238E27FC236}">
                  <a16:creationId xmlns:a16="http://schemas.microsoft.com/office/drawing/2014/main" id="{320A7241-955B-4F3C-B1BD-85C1BA99FE42}"/>
                </a:ext>
              </a:extLst>
            </p:cNvPr>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corrupt(rcvpkt)</a:t>
              </a:r>
              <a:endParaRPr lang="en-US" altLang="zh-CN">
                <a:latin typeface="Times New Roman" panose="02020603050405020304" pitchFamily="18" charset="0"/>
              </a:endParaRPr>
            </a:p>
          </p:txBody>
        </p:sp>
        <p:sp>
          <p:nvSpPr>
            <p:cNvPr id="73" name="Line 21">
              <a:extLst>
                <a:ext uri="{FF2B5EF4-FFF2-40B4-BE49-F238E27FC236}">
                  <a16:creationId xmlns:a16="http://schemas.microsoft.com/office/drawing/2014/main" id="{42EEA3B7-489A-4A09-9B70-035E07183274}"/>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 name="Oval 23">
            <a:extLst>
              <a:ext uri="{FF2B5EF4-FFF2-40B4-BE49-F238E27FC236}">
                <a16:creationId xmlns:a16="http://schemas.microsoft.com/office/drawing/2014/main" id="{C99C3EA4-406F-4188-B848-7278BF3CD568}"/>
              </a:ext>
            </a:extLst>
          </p:cNvPr>
          <p:cNvSpPr>
            <a:spLocks noChangeArrowheads="1"/>
          </p:cNvSpPr>
          <p:nvPr/>
        </p:nvSpPr>
        <p:spPr bwMode="auto">
          <a:xfrm>
            <a:off x="2478348" y="2885877"/>
            <a:ext cx="985838"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7" name="Freeform 25">
            <a:extLst>
              <a:ext uri="{FF2B5EF4-FFF2-40B4-BE49-F238E27FC236}">
                <a16:creationId xmlns:a16="http://schemas.microsoft.com/office/drawing/2014/main" id="{F9BC0B43-BB6C-4DA7-9C5D-8093FF32EF1B}"/>
              </a:ext>
            </a:extLst>
          </p:cNvPr>
          <p:cNvSpPr>
            <a:spLocks/>
          </p:cNvSpPr>
          <p:nvPr/>
        </p:nvSpPr>
        <p:spPr bwMode="auto">
          <a:xfrm>
            <a:off x="6693254" y="312657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 name="Oval 26">
            <a:extLst>
              <a:ext uri="{FF2B5EF4-FFF2-40B4-BE49-F238E27FC236}">
                <a16:creationId xmlns:a16="http://schemas.microsoft.com/office/drawing/2014/main" id="{D0C26408-DB67-4B98-A0F8-B19C0465DB81}"/>
              </a:ext>
            </a:extLst>
          </p:cNvPr>
          <p:cNvSpPr>
            <a:spLocks noChangeArrowheads="1"/>
          </p:cNvSpPr>
          <p:nvPr/>
        </p:nvSpPr>
        <p:spPr bwMode="auto">
          <a:xfrm>
            <a:off x="6785329" y="3547261"/>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80" name="Freeform 28">
            <a:extLst>
              <a:ext uri="{FF2B5EF4-FFF2-40B4-BE49-F238E27FC236}">
                <a16:creationId xmlns:a16="http://schemas.microsoft.com/office/drawing/2014/main" id="{6F9523A6-37E5-46FC-B03A-61DFC660E5D1}"/>
              </a:ext>
            </a:extLst>
          </p:cNvPr>
          <p:cNvSpPr>
            <a:spLocks/>
          </p:cNvSpPr>
          <p:nvPr/>
        </p:nvSpPr>
        <p:spPr bwMode="auto">
          <a:xfrm flipV="1">
            <a:off x="6705954" y="4442611"/>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Text Box 35">
            <a:extLst>
              <a:ext uri="{FF2B5EF4-FFF2-40B4-BE49-F238E27FC236}">
                <a16:creationId xmlns:a16="http://schemas.microsoft.com/office/drawing/2014/main" id="{7652AFB7-686C-47ED-B746-CCA93731B92F}"/>
              </a:ext>
            </a:extLst>
          </p:cNvPr>
          <p:cNvSpPr txBox="1">
            <a:spLocks noChangeArrowheads="1"/>
          </p:cNvSpPr>
          <p:nvPr/>
        </p:nvSpPr>
        <p:spPr bwMode="auto">
          <a:xfrm>
            <a:off x="1158308" y="1859042"/>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rdt_send</a:t>
            </a:r>
            <a:r>
              <a:rPr lang="en-US" altLang="zh-CN" dirty="0">
                <a:latin typeface="Arial" panose="020B0604020202020204" pitchFamily="34" charset="0"/>
              </a:rPr>
              <a:t>(data)</a:t>
            </a:r>
            <a:endParaRPr lang="en-US" altLang="zh-CN" dirty="0">
              <a:latin typeface="Times New Roman" panose="02020603050405020304" pitchFamily="18" charset="0"/>
            </a:endParaRPr>
          </a:p>
        </p:txBody>
      </p:sp>
      <p:sp>
        <p:nvSpPr>
          <p:cNvPr id="91" name="Line 39">
            <a:extLst>
              <a:ext uri="{FF2B5EF4-FFF2-40B4-BE49-F238E27FC236}">
                <a16:creationId xmlns:a16="http://schemas.microsoft.com/office/drawing/2014/main" id="{62EE57B4-4485-4E5C-B8E5-9FCC4266E492}"/>
              </a:ext>
            </a:extLst>
          </p:cNvPr>
          <p:cNvSpPr>
            <a:spLocks noChangeShapeType="1"/>
          </p:cNvSpPr>
          <p:nvPr/>
        </p:nvSpPr>
        <p:spPr bwMode="auto">
          <a:xfrm>
            <a:off x="493973" y="2830316"/>
            <a:ext cx="433388" cy="244475"/>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 name="Text Box 48">
            <a:extLst>
              <a:ext uri="{FF2B5EF4-FFF2-40B4-BE49-F238E27FC236}">
                <a16:creationId xmlns:a16="http://schemas.microsoft.com/office/drawing/2014/main" id="{B1724C5F-BF00-43CD-BD27-95C85FE1A821}"/>
              </a:ext>
            </a:extLst>
          </p:cNvPr>
          <p:cNvSpPr txBox="1">
            <a:spLocks noChangeArrowheads="1"/>
          </p:cNvSpPr>
          <p:nvPr/>
        </p:nvSpPr>
        <p:spPr bwMode="auto">
          <a:xfrm>
            <a:off x="1556010" y="451782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2" name="Text Box 5">
            <a:extLst>
              <a:ext uri="{FF2B5EF4-FFF2-40B4-BE49-F238E27FC236}">
                <a16:creationId xmlns:a16="http://schemas.microsoft.com/office/drawing/2014/main" id="{5D0AFEDB-B4B1-47C8-B359-CE08BDFEDA16}"/>
              </a:ext>
            </a:extLst>
          </p:cNvPr>
          <p:cNvSpPr txBox="1">
            <a:spLocks noChangeArrowheads="1"/>
          </p:cNvSpPr>
          <p:nvPr/>
        </p:nvSpPr>
        <p:spPr bwMode="auto">
          <a:xfrm>
            <a:off x="897990" y="2922390"/>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等待来自上层的调用</a:t>
            </a:r>
            <a:endParaRPr lang="en-US" altLang="zh-CN" dirty="0">
              <a:latin typeface="宋体" panose="02010600030101010101" pitchFamily="2" charset="-122"/>
              <a:ea typeface="宋体" panose="02010600030101010101" pitchFamily="2" charset="-122"/>
            </a:endParaRPr>
          </a:p>
        </p:txBody>
      </p:sp>
      <p:sp>
        <p:nvSpPr>
          <p:cNvPr id="7" name="Text Box 5">
            <a:extLst>
              <a:ext uri="{FF2B5EF4-FFF2-40B4-BE49-F238E27FC236}">
                <a16:creationId xmlns:a16="http://schemas.microsoft.com/office/drawing/2014/main" id="{932D830C-21CA-4C49-A583-2BDF1659382D}"/>
              </a:ext>
            </a:extLst>
          </p:cNvPr>
          <p:cNvSpPr txBox="1">
            <a:spLocks noChangeArrowheads="1"/>
          </p:cNvSpPr>
          <p:nvPr/>
        </p:nvSpPr>
        <p:spPr bwMode="auto">
          <a:xfrm>
            <a:off x="2506924" y="2926162"/>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NAK</a:t>
            </a:r>
          </a:p>
        </p:txBody>
      </p:sp>
      <p:sp>
        <p:nvSpPr>
          <p:cNvPr id="8" name="Line 17">
            <a:extLst>
              <a:ext uri="{FF2B5EF4-FFF2-40B4-BE49-F238E27FC236}">
                <a16:creationId xmlns:a16="http://schemas.microsoft.com/office/drawing/2014/main" id="{EBCD92DF-ECCF-4575-84A7-A0D7F2FF2D34}"/>
              </a:ext>
            </a:extLst>
          </p:cNvPr>
          <p:cNvSpPr>
            <a:spLocks noChangeShapeType="1"/>
          </p:cNvSpPr>
          <p:nvPr/>
        </p:nvSpPr>
        <p:spPr bwMode="auto">
          <a:xfrm>
            <a:off x="1321944" y="4479256"/>
            <a:ext cx="156350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Text Box 5">
            <a:extLst>
              <a:ext uri="{FF2B5EF4-FFF2-40B4-BE49-F238E27FC236}">
                <a16:creationId xmlns:a16="http://schemas.microsoft.com/office/drawing/2014/main" id="{ABC5ADBB-8110-422A-B4DF-7B1632C9B171}"/>
              </a:ext>
            </a:extLst>
          </p:cNvPr>
          <p:cNvSpPr txBox="1">
            <a:spLocks noChangeArrowheads="1"/>
          </p:cNvSpPr>
          <p:nvPr/>
        </p:nvSpPr>
        <p:spPr bwMode="auto">
          <a:xfrm>
            <a:off x="6818665" y="3579012"/>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等待来自下层的调用</a:t>
            </a:r>
            <a:endParaRPr lang="en-US" altLang="zh-CN" dirty="0">
              <a:latin typeface="宋体" panose="02010600030101010101" pitchFamily="2" charset="-122"/>
              <a:ea typeface="宋体" panose="02010600030101010101" pitchFamily="2" charset="-122"/>
            </a:endParaRPr>
          </a:p>
        </p:txBody>
      </p:sp>
      <p:sp>
        <p:nvSpPr>
          <p:cNvPr id="4" name="Line 25">
            <a:extLst>
              <a:ext uri="{FF2B5EF4-FFF2-40B4-BE49-F238E27FC236}">
                <a16:creationId xmlns:a16="http://schemas.microsoft.com/office/drawing/2014/main" id="{C62619D8-67C4-416C-94B1-8EBB6D28517C}"/>
              </a:ext>
            </a:extLst>
          </p:cNvPr>
          <p:cNvSpPr>
            <a:spLocks noChangeShapeType="1"/>
          </p:cNvSpPr>
          <p:nvPr/>
        </p:nvSpPr>
        <p:spPr bwMode="auto">
          <a:xfrm>
            <a:off x="6368609" y="3552024"/>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Text Box 31">
            <a:extLst>
              <a:ext uri="{FF2B5EF4-FFF2-40B4-BE49-F238E27FC236}">
                <a16:creationId xmlns:a16="http://schemas.microsoft.com/office/drawing/2014/main" id="{FECC483D-40A9-4858-B0E8-75527CC07ADF}"/>
              </a:ext>
            </a:extLst>
          </p:cNvPr>
          <p:cNvSpPr txBox="1">
            <a:spLocks noChangeArrowheads="1"/>
          </p:cNvSpPr>
          <p:nvPr/>
        </p:nvSpPr>
        <p:spPr bwMode="auto">
          <a:xfrm>
            <a:off x="1606809" y="5167600"/>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发送端</a:t>
            </a:r>
            <a:endParaRPr lang="en-US" sz="2400" dirty="0">
              <a:solidFill>
                <a:srgbClr val="CC0000"/>
              </a:solidFill>
            </a:endParaRPr>
          </a:p>
        </p:txBody>
      </p:sp>
      <p:sp>
        <p:nvSpPr>
          <p:cNvPr id="9" name="Text Box 32">
            <a:extLst>
              <a:ext uri="{FF2B5EF4-FFF2-40B4-BE49-F238E27FC236}">
                <a16:creationId xmlns:a16="http://schemas.microsoft.com/office/drawing/2014/main" id="{725EB728-D679-4ECB-A067-2FD25E016D9C}"/>
              </a:ext>
            </a:extLst>
          </p:cNvPr>
          <p:cNvSpPr txBox="1">
            <a:spLocks noChangeArrowheads="1"/>
          </p:cNvSpPr>
          <p:nvPr/>
        </p:nvSpPr>
        <p:spPr bwMode="auto">
          <a:xfrm>
            <a:off x="6719964" y="1481584"/>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接收端</a:t>
            </a:r>
            <a:endParaRPr lang="en-US" sz="2400" dirty="0">
              <a:solidFill>
                <a:srgbClr val="CC0000"/>
              </a:solidFill>
            </a:endParaRPr>
          </a:p>
        </p:txBody>
      </p:sp>
    </p:spTree>
    <p:extLst>
      <p:ext uri="{BB962C8B-B14F-4D97-AF65-F5344CB8AC3E}">
        <p14:creationId xmlns:p14="http://schemas.microsoft.com/office/powerpoint/2010/main" val="3122597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Oval 5">
            <a:extLst>
              <a:ext uri="{FF2B5EF4-FFF2-40B4-BE49-F238E27FC236}">
                <a16:creationId xmlns:a16="http://schemas.microsoft.com/office/drawing/2014/main" id="{3EDC8B94-30DB-4B8D-A9A7-F1709EA9D913}"/>
              </a:ext>
            </a:extLst>
          </p:cNvPr>
          <p:cNvSpPr>
            <a:spLocks noChangeArrowheads="1"/>
          </p:cNvSpPr>
          <p:nvPr/>
        </p:nvSpPr>
        <p:spPr bwMode="auto">
          <a:xfrm>
            <a:off x="6835761" y="3738871"/>
            <a:ext cx="1000305" cy="1013120"/>
          </a:xfrm>
          <a:prstGeom prst="ellipse">
            <a:avLst/>
          </a:prstGeom>
          <a:solidFill>
            <a:schemeClr val="accent6">
              <a:lumMod val="75000"/>
            </a:schemeClr>
          </a:solidFill>
          <a:ln w="19050">
            <a:noFill/>
            <a:round/>
            <a:headEnd/>
            <a:tailEnd/>
          </a:ln>
        </p:spPr>
        <p:txBody>
          <a:bodyPr wrap="none" anchor="ctr"/>
          <a:lstStyle/>
          <a:p>
            <a:endParaRPr lang="zh-CN" altLang="en-US"/>
          </a:p>
        </p:txBody>
      </p:sp>
      <p:sp>
        <p:nvSpPr>
          <p:cNvPr id="107" name="Oval 5">
            <a:extLst>
              <a:ext uri="{FF2B5EF4-FFF2-40B4-BE49-F238E27FC236}">
                <a16:creationId xmlns:a16="http://schemas.microsoft.com/office/drawing/2014/main" id="{ED2BEBE1-44BB-4867-940B-3B1CEA0C362D}"/>
              </a:ext>
            </a:extLst>
          </p:cNvPr>
          <p:cNvSpPr>
            <a:spLocks noChangeArrowheads="1"/>
          </p:cNvSpPr>
          <p:nvPr/>
        </p:nvSpPr>
        <p:spPr bwMode="auto">
          <a:xfrm>
            <a:off x="2412986" y="2405709"/>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 name="Oval 5">
            <a:extLst>
              <a:ext uri="{FF2B5EF4-FFF2-40B4-BE49-F238E27FC236}">
                <a16:creationId xmlns:a16="http://schemas.microsoft.com/office/drawing/2014/main" id="{7C2AB84A-ACBA-4A7E-A7AC-8E97B6310A81}"/>
              </a:ext>
            </a:extLst>
          </p:cNvPr>
          <p:cNvSpPr>
            <a:spLocks noChangeArrowheads="1"/>
          </p:cNvSpPr>
          <p:nvPr/>
        </p:nvSpPr>
        <p:spPr bwMode="auto">
          <a:xfrm>
            <a:off x="792885" y="2391625"/>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rdt2.0</a:t>
            </a:r>
            <a:r>
              <a:rPr lang="zh-CN" altLang="en-US" sz="2800" dirty="0">
                <a:solidFill>
                  <a:srgbClr val="C00000"/>
                </a:solidFill>
                <a:latin typeface="Arial" charset="0"/>
                <a:ea typeface="宋体" pitchFamily="2" charset="-122"/>
              </a:rPr>
              <a:t>：</a:t>
            </a:r>
            <a:r>
              <a:rPr lang="zh-CN" altLang="en-US" sz="2800" b="1" dirty="0">
                <a:latin typeface="Arial" charset="0"/>
                <a:ea typeface="宋体" pitchFamily="2" charset="-122"/>
              </a:rPr>
              <a:t>无差错情况</a:t>
            </a:r>
            <a:r>
              <a:rPr lang="en-US" altLang="zh-CN" sz="2800" b="1" dirty="0">
                <a:latin typeface="Arial" charset="0"/>
                <a:ea typeface="宋体" pitchFamily="2" charset="-122"/>
              </a:rPr>
              <a:t> </a:t>
            </a:r>
            <a:endParaRPr lang="en-US" altLang="zh-CN" sz="2800" b="1"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53" name="Oval 3">
            <a:extLst>
              <a:ext uri="{FF2B5EF4-FFF2-40B4-BE49-F238E27FC236}">
                <a16:creationId xmlns:a16="http://schemas.microsoft.com/office/drawing/2014/main" id="{5B507379-68AD-4F6A-A004-4AF61FC784FB}"/>
              </a:ext>
            </a:extLst>
          </p:cNvPr>
          <p:cNvSpPr>
            <a:spLocks noChangeArrowheads="1"/>
          </p:cNvSpPr>
          <p:nvPr/>
        </p:nvSpPr>
        <p:spPr bwMode="auto">
          <a:xfrm>
            <a:off x="731914" y="2422525"/>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55" name="Text Box 5">
            <a:extLst>
              <a:ext uri="{FF2B5EF4-FFF2-40B4-BE49-F238E27FC236}">
                <a16:creationId xmlns:a16="http://schemas.microsoft.com/office/drawing/2014/main" id="{4F7D1571-9AA0-40A2-AD79-BE5409C23C25}"/>
              </a:ext>
            </a:extLst>
          </p:cNvPr>
          <p:cNvSpPr txBox="1">
            <a:spLocks noChangeArrowheads="1"/>
          </p:cNvSpPr>
          <p:nvPr/>
        </p:nvSpPr>
        <p:spPr bwMode="auto">
          <a:xfrm>
            <a:off x="1039889" y="1703388"/>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sndpkt</a:t>
            </a:r>
            <a:r>
              <a:rPr lang="en-US" altLang="zh-CN" dirty="0">
                <a:latin typeface="Arial" panose="020B0604020202020204" pitchFamily="34" charset="0"/>
              </a:rPr>
              <a:t> = </a:t>
            </a:r>
            <a:r>
              <a:rPr lang="en-US" altLang="zh-CN" dirty="0" err="1">
                <a:latin typeface="Arial" panose="020B0604020202020204" pitchFamily="34" charset="0"/>
              </a:rPr>
              <a:t>make_pkt</a:t>
            </a:r>
            <a:r>
              <a:rPr lang="en-US" altLang="zh-CN" dirty="0">
                <a:latin typeface="Arial" panose="020B0604020202020204" pitchFamily="34" charset="0"/>
              </a:rPr>
              <a:t>(data, checksum)</a:t>
            </a:r>
          </a:p>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57" name="Line 6">
            <a:extLst>
              <a:ext uri="{FF2B5EF4-FFF2-40B4-BE49-F238E27FC236}">
                <a16:creationId xmlns:a16="http://schemas.microsoft.com/office/drawing/2014/main" id="{4128CFC6-A13B-486E-A1A6-F0F30F0BEF28}"/>
              </a:ext>
            </a:extLst>
          </p:cNvPr>
          <p:cNvSpPr>
            <a:spLocks noChangeShapeType="1"/>
          </p:cNvSpPr>
          <p:nvPr/>
        </p:nvSpPr>
        <p:spPr bwMode="auto">
          <a:xfrm>
            <a:off x="1144664" y="174783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Text Box 7">
            <a:extLst>
              <a:ext uri="{FF2B5EF4-FFF2-40B4-BE49-F238E27FC236}">
                <a16:creationId xmlns:a16="http://schemas.microsoft.com/office/drawing/2014/main" id="{15170A7C-FA2B-4712-A082-5A5442133843}"/>
              </a:ext>
            </a:extLst>
          </p:cNvPr>
          <p:cNvSpPr txBox="1">
            <a:spLocks noChangeArrowheads="1"/>
          </p:cNvSpPr>
          <p:nvPr/>
        </p:nvSpPr>
        <p:spPr bwMode="auto">
          <a:xfrm>
            <a:off x="6354839" y="5527675"/>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extract(rcvpkt,data)</a:t>
            </a:r>
          </a:p>
          <a:p>
            <a:pPr algn="l"/>
            <a:r>
              <a:rPr lang="en-US" altLang="zh-CN">
                <a:latin typeface="Arial" panose="020B0604020202020204" pitchFamily="34" charset="0"/>
              </a:rPr>
              <a:t>deliver_data(data)</a:t>
            </a:r>
          </a:p>
          <a:p>
            <a:pPr algn="l"/>
            <a:r>
              <a:rPr lang="en-US" altLang="zh-CN">
                <a:latin typeface="Arial" panose="020B0604020202020204" pitchFamily="34" charset="0"/>
              </a:rPr>
              <a:t>udt_send(ACK)</a:t>
            </a:r>
            <a:endParaRPr lang="en-US" altLang="zh-CN">
              <a:latin typeface="Times New Roman" panose="02020603050405020304" pitchFamily="18" charset="0"/>
            </a:endParaRPr>
          </a:p>
        </p:txBody>
      </p:sp>
      <p:sp>
        <p:nvSpPr>
          <p:cNvPr id="60" name="Text Box 8">
            <a:extLst>
              <a:ext uri="{FF2B5EF4-FFF2-40B4-BE49-F238E27FC236}">
                <a16:creationId xmlns:a16="http://schemas.microsoft.com/office/drawing/2014/main" id="{44A46DE7-6B7B-4ED6-BE8E-96660C878207}"/>
              </a:ext>
            </a:extLst>
          </p:cNvPr>
          <p:cNvSpPr txBox="1">
            <a:spLocks noChangeArrowheads="1"/>
          </p:cNvSpPr>
          <p:nvPr/>
        </p:nvSpPr>
        <p:spPr bwMode="auto">
          <a:xfrm>
            <a:off x="6332614" y="4994275"/>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notcorrupt(rcvpkt)</a:t>
            </a:r>
            <a:endParaRPr lang="en-US" altLang="zh-CN">
              <a:latin typeface="Times New Roman" panose="02020603050405020304" pitchFamily="18" charset="0"/>
            </a:endParaRPr>
          </a:p>
        </p:txBody>
      </p:sp>
      <p:sp>
        <p:nvSpPr>
          <p:cNvPr id="61" name="Line 9">
            <a:extLst>
              <a:ext uri="{FF2B5EF4-FFF2-40B4-BE49-F238E27FC236}">
                <a16:creationId xmlns:a16="http://schemas.microsoft.com/office/drawing/2014/main" id="{40A2E62E-F487-4734-98A8-BA85042AF4D9}"/>
              </a:ext>
            </a:extLst>
          </p:cNvPr>
          <p:cNvSpPr>
            <a:spLocks noChangeShapeType="1"/>
          </p:cNvSpPr>
          <p:nvPr/>
        </p:nvSpPr>
        <p:spPr bwMode="auto">
          <a:xfrm>
            <a:off x="6454851" y="5583238"/>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Freeform 10">
            <a:extLst>
              <a:ext uri="{FF2B5EF4-FFF2-40B4-BE49-F238E27FC236}">
                <a16:creationId xmlns:a16="http://schemas.microsoft.com/office/drawing/2014/main" id="{31C3ACAA-3C14-4737-855E-C29A5ED34245}"/>
              </a:ext>
            </a:extLst>
          </p:cNvPr>
          <p:cNvSpPr>
            <a:spLocks/>
          </p:cNvSpPr>
          <p:nvPr/>
        </p:nvSpPr>
        <p:spPr bwMode="auto">
          <a:xfrm flipV="1">
            <a:off x="1092276" y="2192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 name="Freeform 11">
            <a:extLst>
              <a:ext uri="{FF2B5EF4-FFF2-40B4-BE49-F238E27FC236}">
                <a16:creationId xmlns:a16="http://schemas.microsoft.com/office/drawing/2014/main" id="{DCE811A2-EDA4-4013-91BD-DD5EFDE053A4}"/>
              </a:ext>
            </a:extLst>
          </p:cNvPr>
          <p:cNvSpPr>
            <a:spLocks/>
          </p:cNvSpPr>
          <p:nvPr/>
        </p:nvSpPr>
        <p:spPr bwMode="auto">
          <a:xfrm>
            <a:off x="1139901" y="3352800"/>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Text Box 12">
            <a:extLst>
              <a:ext uri="{FF2B5EF4-FFF2-40B4-BE49-F238E27FC236}">
                <a16:creationId xmlns:a16="http://schemas.microsoft.com/office/drawing/2014/main" id="{C4A90E15-CF24-4858-A7DA-EEE57F86313F}"/>
              </a:ext>
            </a:extLst>
          </p:cNvPr>
          <p:cNvSpPr txBox="1">
            <a:spLocks noChangeArrowheads="1"/>
          </p:cNvSpPr>
          <p:nvPr/>
        </p:nvSpPr>
        <p:spPr bwMode="auto">
          <a:xfrm>
            <a:off x="1106564" y="3500437"/>
            <a:ext cx="2004146"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t>
            </a:r>
          </a:p>
          <a:p>
            <a:pPr algn="l"/>
            <a:r>
              <a:rPr lang="en-US" altLang="zh-CN" dirty="0">
                <a:latin typeface="Arial" panose="020B0604020202020204" pitchFamily="34" charset="0"/>
              </a:rPr>
              <a:t>  &amp;&amp; </a:t>
            </a:r>
            <a:r>
              <a:rPr lang="en-US" altLang="zh-CN" dirty="0" err="1">
                <a:latin typeface="Arial" panose="020B0604020202020204" pitchFamily="34" charset="0"/>
              </a:rPr>
              <a:t>isACK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6" name="Freeform 14">
            <a:extLst>
              <a:ext uri="{FF2B5EF4-FFF2-40B4-BE49-F238E27FC236}">
                <a16:creationId xmlns:a16="http://schemas.microsoft.com/office/drawing/2014/main" id="{3ABD71DA-4B0B-44F7-95FA-44300F23FCCA}"/>
              </a:ext>
            </a:extLst>
          </p:cNvPr>
          <p:cNvSpPr>
            <a:spLocks/>
          </p:cNvSpPr>
          <p:nvPr/>
        </p:nvSpPr>
        <p:spPr bwMode="auto">
          <a:xfrm>
            <a:off x="3287789" y="2498725"/>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Text Box 15">
            <a:extLst>
              <a:ext uri="{FF2B5EF4-FFF2-40B4-BE49-F238E27FC236}">
                <a16:creationId xmlns:a16="http://schemas.microsoft.com/office/drawing/2014/main" id="{E0F144A4-B7CE-4DA9-B7DB-C523E63F3070}"/>
              </a:ext>
            </a:extLst>
          </p:cNvPr>
          <p:cNvSpPr txBox="1">
            <a:spLocks noChangeArrowheads="1"/>
          </p:cNvSpPr>
          <p:nvPr/>
        </p:nvSpPr>
        <p:spPr bwMode="auto">
          <a:xfrm>
            <a:off x="3629894" y="2775819"/>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8" name="Text Box 16">
            <a:extLst>
              <a:ext uri="{FF2B5EF4-FFF2-40B4-BE49-F238E27FC236}">
                <a16:creationId xmlns:a16="http://schemas.microsoft.com/office/drawing/2014/main" id="{219485B8-E33B-4143-AC68-BED90F2007D3}"/>
              </a:ext>
            </a:extLst>
          </p:cNvPr>
          <p:cNvSpPr txBox="1">
            <a:spLocks noChangeArrowheads="1"/>
          </p:cNvSpPr>
          <p:nvPr/>
        </p:nvSpPr>
        <p:spPr bwMode="auto">
          <a:xfrm>
            <a:off x="3629895" y="2227837"/>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&amp;&amp;</a:t>
            </a:r>
          </a:p>
          <a:p>
            <a:pPr algn="l"/>
            <a:r>
              <a:rPr lang="en-US" altLang="zh-CN" dirty="0">
                <a:latin typeface="Arial" panose="020B0604020202020204" pitchFamily="34" charset="0"/>
              </a:rPr>
              <a:t>   </a:t>
            </a:r>
            <a:r>
              <a:rPr lang="en-US" altLang="zh-CN" dirty="0" err="1">
                <a:latin typeface="Arial" panose="020B0604020202020204" pitchFamily="34" charset="0"/>
              </a:rPr>
              <a:t>isNAK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69" name="Line 17">
            <a:extLst>
              <a:ext uri="{FF2B5EF4-FFF2-40B4-BE49-F238E27FC236}">
                <a16:creationId xmlns:a16="http://schemas.microsoft.com/office/drawing/2014/main" id="{DAFB4A03-B399-4F34-BDCD-AA673BB976A0}"/>
              </a:ext>
            </a:extLst>
          </p:cNvPr>
          <p:cNvSpPr>
            <a:spLocks noChangeShapeType="1"/>
          </p:cNvSpPr>
          <p:nvPr/>
        </p:nvSpPr>
        <p:spPr bwMode="auto">
          <a:xfrm>
            <a:off x="3691013" y="2813050"/>
            <a:ext cx="156350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0" name="Group 18">
            <a:extLst>
              <a:ext uri="{FF2B5EF4-FFF2-40B4-BE49-F238E27FC236}">
                <a16:creationId xmlns:a16="http://schemas.microsoft.com/office/drawing/2014/main" id="{DDF351C2-E7A0-4BC9-9EEE-77EB3E2253B0}"/>
              </a:ext>
            </a:extLst>
          </p:cNvPr>
          <p:cNvGrpSpPr>
            <a:grpSpLocks/>
          </p:cNvGrpSpPr>
          <p:nvPr/>
        </p:nvGrpSpPr>
        <p:grpSpPr bwMode="auto">
          <a:xfrm>
            <a:off x="6608839" y="2565400"/>
            <a:ext cx="1924050" cy="858838"/>
            <a:chOff x="2222" y="2660"/>
            <a:chExt cx="1212" cy="541"/>
          </a:xfrm>
        </p:grpSpPr>
        <p:sp>
          <p:nvSpPr>
            <p:cNvPr id="71" name="Text Box 19">
              <a:extLst>
                <a:ext uri="{FF2B5EF4-FFF2-40B4-BE49-F238E27FC236}">
                  <a16:creationId xmlns:a16="http://schemas.microsoft.com/office/drawing/2014/main" id="{4F26CAD4-5D3C-4770-8E1A-7B2449456D58}"/>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udt_send(NAK)</a:t>
              </a:r>
              <a:endParaRPr lang="en-US" altLang="zh-CN">
                <a:latin typeface="Times New Roman" panose="02020603050405020304" pitchFamily="18" charset="0"/>
              </a:endParaRPr>
            </a:p>
          </p:txBody>
        </p:sp>
        <p:sp>
          <p:nvSpPr>
            <p:cNvPr id="72" name="Text Box 20">
              <a:extLst>
                <a:ext uri="{FF2B5EF4-FFF2-40B4-BE49-F238E27FC236}">
                  <a16:creationId xmlns:a16="http://schemas.microsoft.com/office/drawing/2014/main" id="{320A7241-955B-4F3C-B1BD-85C1BA99FE42}"/>
                </a:ext>
              </a:extLst>
            </p:cNvPr>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corrupt(rcvpkt)</a:t>
              </a:r>
              <a:endParaRPr lang="en-US" altLang="zh-CN">
                <a:latin typeface="Times New Roman" panose="02020603050405020304" pitchFamily="18" charset="0"/>
              </a:endParaRPr>
            </a:p>
          </p:txBody>
        </p:sp>
        <p:sp>
          <p:nvSpPr>
            <p:cNvPr id="73" name="Line 21">
              <a:extLst>
                <a:ext uri="{FF2B5EF4-FFF2-40B4-BE49-F238E27FC236}">
                  <a16:creationId xmlns:a16="http://schemas.microsoft.com/office/drawing/2014/main" id="{42EEA3B7-489A-4A09-9B70-035E07183274}"/>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 name="Oval 23">
            <a:extLst>
              <a:ext uri="{FF2B5EF4-FFF2-40B4-BE49-F238E27FC236}">
                <a16:creationId xmlns:a16="http://schemas.microsoft.com/office/drawing/2014/main" id="{C99C3EA4-406F-4188-B848-7278BF3CD568}"/>
              </a:ext>
            </a:extLst>
          </p:cNvPr>
          <p:cNvSpPr>
            <a:spLocks noChangeArrowheads="1"/>
          </p:cNvSpPr>
          <p:nvPr/>
        </p:nvSpPr>
        <p:spPr bwMode="auto">
          <a:xfrm>
            <a:off x="2367039" y="2435225"/>
            <a:ext cx="985838"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7" name="Freeform 25">
            <a:extLst>
              <a:ext uri="{FF2B5EF4-FFF2-40B4-BE49-F238E27FC236}">
                <a16:creationId xmlns:a16="http://schemas.microsoft.com/office/drawing/2014/main" id="{F9BC0B43-BB6C-4DA7-9C5D-8093FF32EF1B}"/>
              </a:ext>
            </a:extLst>
          </p:cNvPr>
          <p:cNvSpPr>
            <a:spLocks/>
          </p:cNvSpPr>
          <p:nvPr/>
        </p:nvSpPr>
        <p:spPr bwMode="auto">
          <a:xfrm>
            <a:off x="6707264" y="3360738"/>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 name="Oval 26">
            <a:extLst>
              <a:ext uri="{FF2B5EF4-FFF2-40B4-BE49-F238E27FC236}">
                <a16:creationId xmlns:a16="http://schemas.microsoft.com/office/drawing/2014/main" id="{D0C26408-DB67-4B98-A0F8-B19C0465DB81}"/>
              </a:ext>
            </a:extLst>
          </p:cNvPr>
          <p:cNvSpPr>
            <a:spLocks noChangeArrowheads="1"/>
          </p:cNvSpPr>
          <p:nvPr/>
        </p:nvSpPr>
        <p:spPr bwMode="auto">
          <a:xfrm>
            <a:off x="6799339" y="3781425"/>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80" name="Freeform 28">
            <a:extLst>
              <a:ext uri="{FF2B5EF4-FFF2-40B4-BE49-F238E27FC236}">
                <a16:creationId xmlns:a16="http://schemas.microsoft.com/office/drawing/2014/main" id="{6F9523A6-37E5-46FC-B03A-61DFC660E5D1}"/>
              </a:ext>
            </a:extLst>
          </p:cNvPr>
          <p:cNvSpPr>
            <a:spLocks/>
          </p:cNvSpPr>
          <p:nvPr/>
        </p:nvSpPr>
        <p:spPr bwMode="auto">
          <a:xfrm flipV="1">
            <a:off x="6719964" y="4676775"/>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1" name="Group 29">
            <a:extLst>
              <a:ext uri="{FF2B5EF4-FFF2-40B4-BE49-F238E27FC236}">
                <a16:creationId xmlns:a16="http://schemas.microsoft.com/office/drawing/2014/main" id="{ACBCC848-57EF-4012-947B-DC25A5E0A24D}"/>
              </a:ext>
            </a:extLst>
          </p:cNvPr>
          <p:cNvGrpSpPr>
            <a:grpSpLocks/>
          </p:cNvGrpSpPr>
          <p:nvPr/>
        </p:nvGrpSpPr>
        <p:grpSpPr bwMode="auto">
          <a:xfrm>
            <a:off x="384251" y="2379663"/>
            <a:ext cx="1333500" cy="1004887"/>
            <a:chOff x="220" y="1365"/>
            <a:chExt cx="840" cy="633"/>
          </a:xfrm>
        </p:grpSpPr>
        <p:sp>
          <p:nvSpPr>
            <p:cNvPr id="82" name="Line 30">
              <a:extLst>
                <a:ext uri="{FF2B5EF4-FFF2-40B4-BE49-F238E27FC236}">
                  <a16:creationId xmlns:a16="http://schemas.microsoft.com/office/drawing/2014/main" id="{A1A75BC8-36D6-4805-8452-E441D1B9649F}"/>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Oval 31">
              <a:extLst>
                <a:ext uri="{FF2B5EF4-FFF2-40B4-BE49-F238E27FC236}">
                  <a16:creationId xmlns:a16="http://schemas.microsoft.com/office/drawing/2014/main" id="{E28F20BA-8248-4502-810B-39402E89CB9A}"/>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grpSp>
        <p:nvGrpSpPr>
          <p:cNvPr id="84" name="Group 32">
            <a:extLst>
              <a:ext uri="{FF2B5EF4-FFF2-40B4-BE49-F238E27FC236}">
                <a16:creationId xmlns:a16="http://schemas.microsoft.com/office/drawing/2014/main" id="{A994BDB8-3A50-445E-9B14-5B34340DABC2}"/>
              </a:ext>
            </a:extLst>
          </p:cNvPr>
          <p:cNvGrpSpPr>
            <a:grpSpLocks/>
          </p:cNvGrpSpPr>
          <p:nvPr/>
        </p:nvGrpSpPr>
        <p:grpSpPr bwMode="auto">
          <a:xfrm>
            <a:off x="6369126" y="3709988"/>
            <a:ext cx="1414463" cy="1033462"/>
            <a:chOff x="3990" y="2203"/>
            <a:chExt cx="891" cy="651"/>
          </a:xfrm>
        </p:grpSpPr>
        <p:sp>
          <p:nvSpPr>
            <p:cNvPr id="85" name="Line 33">
              <a:extLst>
                <a:ext uri="{FF2B5EF4-FFF2-40B4-BE49-F238E27FC236}">
                  <a16:creationId xmlns:a16="http://schemas.microsoft.com/office/drawing/2014/main" id="{1EE607DF-68B3-42B7-A9D4-7BC547AEB04F}"/>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Oval 34">
              <a:extLst>
                <a:ext uri="{FF2B5EF4-FFF2-40B4-BE49-F238E27FC236}">
                  <a16:creationId xmlns:a16="http://schemas.microsoft.com/office/drawing/2014/main" id="{F8DB1863-B131-4218-BBC9-5ACC9AFB993E}"/>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87" name="Text Box 35">
            <a:extLst>
              <a:ext uri="{FF2B5EF4-FFF2-40B4-BE49-F238E27FC236}">
                <a16:creationId xmlns:a16="http://schemas.microsoft.com/office/drawing/2014/main" id="{7652AFB7-686C-47ED-B746-CCA93731B92F}"/>
              </a:ext>
            </a:extLst>
          </p:cNvPr>
          <p:cNvSpPr txBox="1">
            <a:spLocks noChangeArrowheads="1"/>
          </p:cNvSpPr>
          <p:nvPr/>
        </p:nvSpPr>
        <p:spPr bwMode="auto">
          <a:xfrm>
            <a:off x="1046999" y="1408390"/>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rdt_send</a:t>
            </a:r>
            <a:r>
              <a:rPr lang="en-US" altLang="zh-CN" dirty="0">
                <a:latin typeface="Arial" panose="020B0604020202020204" pitchFamily="34" charset="0"/>
              </a:rPr>
              <a:t>(data)</a:t>
            </a:r>
            <a:endParaRPr lang="en-US" altLang="zh-CN" dirty="0">
              <a:latin typeface="Times New Roman" panose="02020603050405020304" pitchFamily="18" charset="0"/>
            </a:endParaRPr>
          </a:p>
        </p:txBody>
      </p:sp>
      <p:sp>
        <p:nvSpPr>
          <p:cNvPr id="88" name="Line 36">
            <a:extLst>
              <a:ext uri="{FF2B5EF4-FFF2-40B4-BE49-F238E27FC236}">
                <a16:creationId xmlns:a16="http://schemas.microsoft.com/office/drawing/2014/main" id="{5C3F6A69-E3D5-49DA-90B2-71310A5599B4}"/>
              </a:ext>
            </a:extLst>
          </p:cNvPr>
          <p:cNvSpPr>
            <a:spLocks noChangeShapeType="1"/>
          </p:cNvSpPr>
          <p:nvPr/>
        </p:nvSpPr>
        <p:spPr bwMode="auto">
          <a:xfrm>
            <a:off x="1046239" y="1501775"/>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89" name="Freeform 37">
            <a:extLst>
              <a:ext uri="{FF2B5EF4-FFF2-40B4-BE49-F238E27FC236}">
                <a16:creationId xmlns:a16="http://schemas.microsoft.com/office/drawing/2014/main" id="{F7EED4CB-8CD6-4654-AB34-36F3F174E9DA}"/>
              </a:ext>
            </a:extLst>
          </p:cNvPr>
          <p:cNvSpPr>
            <a:spLocks/>
          </p:cNvSpPr>
          <p:nvPr/>
        </p:nvSpPr>
        <p:spPr bwMode="auto">
          <a:xfrm>
            <a:off x="1046239" y="2219325"/>
            <a:ext cx="6697662" cy="3060700"/>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19" h="1928">
                <a:moveTo>
                  <a:pt x="0" y="10"/>
                </a:moveTo>
                <a:lnTo>
                  <a:pt x="1003" y="0"/>
                </a:lnTo>
                <a:lnTo>
                  <a:pt x="3387" y="1928"/>
                </a:lnTo>
                <a:lnTo>
                  <a:pt x="4219" y="1928"/>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0" name="Group 38">
            <a:extLst>
              <a:ext uri="{FF2B5EF4-FFF2-40B4-BE49-F238E27FC236}">
                <a16:creationId xmlns:a16="http://schemas.microsoft.com/office/drawing/2014/main" id="{8E53FF06-2E5D-47CF-8869-0A89A200CF4D}"/>
              </a:ext>
            </a:extLst>
          </p:cNvPr>
          <p:cNvGrpSpPr>
            <a:grpSpLocks/>
          </p:cNvGrpSpPr>
          <p:nvPr/>
        </p:nvGrpSpPr>
        <p:grpSpPr bwMode="auto">
          <a:xfrm>
            <a:off x="382664" y="2379663"/>
            <a:ext cx="1333500" cy="1004887"/>
            <a:chOff x="220" y="1365"/>
            <a:chExt cx="840" cy="633"/>
          </a:xfrm>
        </p:grpSpPr>
        <p:sp>
          <p:nvSpPr>
            <p:cNvPr id="91" name="Line 39">
              <a:extLst>
                <a:ext uri="{FF2B5EF4-FFF2-40B4-BE49-F238E27FC236}">
                  <a16:creationId xmlns:a16="http://schemas.microsoft.com/office/drawing/2014/main" id="{62EE57B4-4485-4E5C-B8E5-9FCC4266E492}"/>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Oval 40">
              <a:extLst>
                <a:ext uri="{FF2B5EF4-FFF2-40B4-BE49-F238E27FC236}">
                  <a16:creationId xmlns:a16="http://schemas.microsoft.com/office/drawing/2014/main" id="{3EC1673B-734B-4034-83C9-496923AC0801}"/>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93" name="Oval 41">
            <a:extLst>
              <a:ext uri="{FF2B5EF4-FFF2-40B4-BE49-F238E27FC236}">
                <a16:creationId xmlns:a16="http://schemas.microsoft.com/office/drawing/2014/main" id="{D3128A84-276A-4FF0-80C2-AA4757BA83EB}"/>
              </a:ext>
            </a:extLst>
          </p:cNvPr>
          <p:cNvSpPr>
            <a:spLocks noChangeArrowheads="1"/>
          </p:cNvSpPr>
          <p:nvPr/>
        </p:nvSpPr>
        <p:spPr bwMode="auto">
          <a:xfrm>
            <a:off x="2367039" y="2435225"/>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94" name="Line 42">
            <a:extLst>
              <a:ext uri="{FF2B5EF4-FFF2-40B4-BE49-F238E27FC236}">
                <a16:creationId xmlns:a16="http://schemas.microsoft.com/office/drawing/2014/main" id="{8FE76A3E-08D8-4057-94BA-FBE01E003E44}"/>
              </a:ext>
            </a:extLst>
          </p:cNvPr>
          <p:cNvSpPr>
            <a:spLocks noChangeShapeType="1"/>
          </p:cNvSpPr>
          <p:nvPr/>
        </p:nvSpPr>
        <p:spPr bwMode="auto">
          <a:xfrm flipH="1">
            <a:off x="6313564" y="5172052"/>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95" name="Freeform 43">
            <a:extLst>
              <a:ext uri="{FF2B5EF4-FFF2-40B4-BE49-F238E27FC236}">
                <a16:creationId xmlns:a16="http://schemas.microsoft.com/office/drawing/2014/main" id="{02F9543A-B89F-41E4-9F35-6E0BF8ACAB2A}"/>
              </a:ext>
            </a:extLst>
          </p:cNvPr>
          <p:cNvSpPr>
            <a:spLocks/>
          </p:cNvSpPr>
          <p:nvPr/>
        </p:nvSpPr>
        <p:spPr bwMode="auto">
          <a:xfrm>
            <a:off x="1190701" y="4098925"/>
            <a:ext cx="6667500" cy="2260600"/>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0" h="1424">
                <a:moveTo>
                  <a:pt x="4200" y="1424"/>
                </a:moveTo>
                <a:lnTo>
                  <a:pt x="3224" y="1424"/>
                </a:lnTo>
                <a:lnTo>
                  <a:pt x="1880"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6" name="Group 44">
            <a:extLst>
              <a:ext uri="{FF2B5EF4-FFF2-40B4-BE49-F238E27FC236}">
                <a16:creationId xmlns:a16="http://schemas.microsoft.com/office/drawing/2014/main" id="{B3FA5D91-0694-499F-9E99-31EE68439DF5}"/>
              </a:ext>
            </a:extLst>
          </p:cNvPr>
          <p:cNvGrpSpPr>
            <a:grpSpLocks/>
          </p:cNvGrpSpPr>
          <p:nvPr/>
        </p:nvGrpSpPr>
        <p:grpSpPr bwMode="auto">
          <a:xfrm>
            <a:off x="382664" y="2379663"/>
            <a:ext cx="1333500" cy="1004887"/>
            <a:chOff x="220" y="1365"/>
            <a:chExt cx="840" cy="633"/>
          </a:xfrm>
        </p:grpSpPr>
        <p:sp>
          <p:nvSpPr>
            <p:cNvPr id="97" name="Line 45">
              <a:extLst>
                <a:ext uri="{FF2B5EF4-FFF2-40B4-BE49-F238E27FC236}">
                  <a16:creationId xmlns:a16="http://schemas.microsoft.com/office/drawing/2014/main" id="{986B0022-391B-4117-AE7B-5B255758D465}"/>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Oval 46">
              <a:extLst>
                <a:ext uri="{FF2B5EF4-FFF2-40B4-BE49-F238E27FC236}">
                  <a16:creationId xmlns:a16="http://schemas.microsoft.com/office/drawing/2014/main" id="{27428BCA-5486-4BD5-8C0D-F3200B6EA685}"/>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99" name="Oval 47">
            <a:extLst>
              <a:ext uri="{FF2B5EF4-FFF2-40B4-BE49-F238E27FC236}">
                <a16:creationId xmlns:a16="http://schemas.microsoft.com/office/drawing/2014/main" id="{A55EA284-ABC6-45C8-831D-8D18D136B1E8}"/>
              </a:ext>
            </a:extLst>
          </p:cNvPr>
          <p:cNvSpPr>
            <a:spLocks noChangeArrowheads="1"/>
          </p:cNvSpPr>
          <p:nvPr/>
        </p:nvSpPr>
        <p:spPr bwMode="auto">
          <a:xfrm>
            <a:off x="2363864" y="2439988"/>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0" name="Text Box 48">
            <a:extLst>
              <a:ext uri="{FF2B5EF4-FFF2-40B4-BE49-F238E27FC236}">
                <a16:creationId xmlns:a16="http://schemas.microsoft.com/office/drawing/2014/main" id="{B1724C5F-BF00-43CD-BD27-95C85FE1A821}"/>
              </a:ext>
            </a:extLst>
          </p:cNvPr>
          <p:cNvSpPr txBox="1">
            <a:spLocks noChangeArrowheads="1"/>
          </p:cNvSpPr>
          <p:nvPr/>
        </p:nvSpPr>
        <p:spPr bwMode="auto">
          <a:xfrm>
            <a:off x="1444701" y="4067175"/>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2" name="Text Box 5">
            <a:extLst>
              <a:ext uri="{FF2B5EF4-FFF2-40B4-BE49-F238E27FC236}">
                <a16:creationId xmlns:a16="http://schemas.microsoft.com/office/drawing/2014/main" id="{5D0AFEDB-B4B1-47C8-B359-CE08BDFEDA16}"/>
              </a:ext>
            </a:extLst>
          </p:cNvPr>
          <p:cNvSpPr txBox="1">
            <a:spLocks noChangeArrowheads="1"/>
          </p:cNvSpPr>
          <p:nvPr/>
        </p:nvSpPr>
        <p:spPr bwMode="auto">
          <a:xfrm>
            <a:off x="786681" y="2471738"/>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等待来自上层的调用</a:t>
            </a:r>
            <a:endParaRPr lang="en-US" altLang="zh-CN" dirty="0">
              <a:latin typeface="宋体" panose="02010600030101010101" pitchFamily="2" charset="-122"/>
              <a:ea typeface="宋体" panose="02010600030101010101" pitchFamily="2" charset="-122"/>
            </a:endParaRPr>
          </a:p>
        </p:txBody>
      </p:sp>
      <p:sp>
        <p:nvSpPr>
          <p:cNvPr id="7" name="Text Box 5">
            <a:extLst>
              <a:ext uri="{FF2B5EF4-FFF2-40B4-BE49-F238E27FC236}">
                <a16:creationId xmlns:a16="http://schemas.microsoft.com/office/drawing/2014/main" id="{932D830C-21CA-4C49-A583-2BDF1659382D}"/>
              </a:ext>
            </a:extLst>
          </p:cNvPr>
          <p:cNvSpPr txBox="1">
            <a:spLocks noChangeArrowheads="1"/>
          </p:cNvSpPr>
          <p:nvPr/>
        </p:nvSpPr>
        <p:spPr bwMode="auto">
          <a:xfrm>
            <a:off x="2395615" y="2475510"/>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NAK</a:t>
            </a:r>
          </a:p>
        </p:txBody>
      </p:sp>
      <p:sp>
        <p:nvSpPr>
          <p:cNvPr id="8" name="Line 17">
            <a:extLst>
              <a:ext uri="{FF2B5EF4-FFF2-40B4-BE49-F238E27FC236}">
                <a16:creationId xmlns:a16="http://schemas.microsoft.com/office/drawing/2014/main" id="{EBCD92DF-ECCF-4575-84A7-A0D7F2FF2D34}"/>
              </a:ext>
            </a:extLst>
          </p:cNvPr>
          <p:cNvSpPr>
            <a:spLocks noChangeShapeType="1"/>
          </p:cNvSpPr>
          <p:nvPr/>
        </p:nvSpPr>
        <p:spPr bwMode="auto">
          <a:xfrm>
            <a:off x="1210635" y="4028604"/>
            <a:ext cx="156350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Text Box 5">
            <a:extLst>
              <a:ext uri="{FF2B5EF4-FFF2-40B4-BE49-F238E27FC236}">
                <a16:creationId xmlns:a16="http://schemas.microsoft.com/office/drawing/2014/main" id="{ABC5ADBB-8110-422A-B4DF-7B1632C9B171}"/>
              </a:ext>
            </a:extLst>
          </p:cNvPr>
          <p:cNvSpPr txBox="1">
            <a:spLocks noChangeArrowheads="1"/>
          </p:cNvSpPr>
          <p:nvPr/>
        </p:nvSpPr>
        <p:spPr bwMode="auto">
          <a:xfrm>
            <a:off x="6832675" y="3813176"/>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等待来自下层的调用</a:t>
            </a:r>
            <a:endParaRPr lang="en-US" altLang="zh-CN" dirty="0">
              <a:latin typeface="宋体" panose="02010600030101010101" pitchFamily="2" charset="-122"/>
              <a:ea typeface="宋体" panose="02010600030101010101" pitchFamily="2" charset="-122"/>
            </a:endParaRPr>
          </a:p>
        </p:txBody>
      </p:sp>
      <p:sp>
        <p:nvSpPr>
          <p:cNvPr id="52" name="Text Box 31">
            <a:extLst>
              <a:ext uri="{FF2B5EF4-FFF2-40B4-BE49-F238E27FC236}">
                <a16:creationId xmlns:a16="http://schemas.microsoft.com/office/drawing/2014/main" id="{74764C33-45DC-46D9-A1B1-C3A037E58108}"/>
              </a:ext>
            </a:extLst>
          </p:cNvPr>
          <p:cNvSpPr txBox="1">
            <a:spLocks noChangeArrowheads="1"/>
          </p:cNvSpPr>
          <p:nvPr/>
        </p:nvSpPr>
        <p:spPr bwMode="auto">
          <a:xfrm>
            <a:off x="1495500" y="4716948"/>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发送端</a:t>
            </a:r>
            <a:endParaRPr lang="en-US" sz="2400" dirty="0">
              <a:solidFill>
                <a:srgbClr val="CC0000"/>
              </a:solidFill>
            </a:endParaRPr>
          </a:p>
        </p:txBody>
      </p:sp>
      <p:sp>
        <p:nvSpPr>
          <p:cNvPr id="54" name="Text Box 32">
            <a:extLst>
              <a:ext uri="{FF2B5EF4-FFF2-40B4-BE49-F238E27FC236}">
                <a16:creationId xmlns:a16="http://schemas.microsoft.com/office/drawing/2014/main" id="{B10F50FC-34D3-4BCD-942A-97EF128A1F91}"/>
              </a:ext>
            </a:extLst>
          </p:cNvPr>
          <p:cNvSpPr txBox="1">
            <a:spLocks noChangeArrowheads="1"/>
          </p:cNvSpPr>
          <p:nvPr/>
        </p:nvSpPr>
        <p:spPr bwMode="auto">
          <a:xfrm>
            <a:off x="6719964" y="1544935"/>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接收端</a:t>
            </a:r>
            <a:endParaRPr lang="en-US" sz="2400" dirty="0">
              <a:solidFill>
                <a:srgbClr val="CC0000"/>
              </a:solidFill>
            </a:endParaRPr>
          </a:p>
        </p:txBody>
      </p:sp>
    </p:spTree>
    <p:extLst>
      <p:ext uri="{BB962C8B-B14F-4D97-AF65-F5344CB8AC3E}">
        <p14:creationId xmlns:p14="http://schemas.microsoft.com/office/powerpoint/2010/main" val="87519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p:cTn id="7" dur="1000" fill="hold"/>
                                        <p:tgtEl>
                                          <p:spTgt spid="81"/>
                                        </p:tgtEl>
                                        <p:attrNameLst>
                                          <p:attrName>ppt_w</p:attrName>
                                        </p:attrNameLst>
                                      </p:cBhvr>
                                      <p:tavLst>
                                        <p:tav tm="0">
                                          <p:val>
                                            <p:fltVal val="0"/>
                                          </p:val>
                                        </p:tav>
                                        <p:tav tm="100000">
                                          <p:val>
                                            <p:strVal val="#ppt_w"/>
                                          </p:val>
                                        </p:tav>
                                      </p:tavLst>
                                    </p:anim>
                                    <p:anim calcmode="lin" valueType="num">
                                      <p:cBhvr>
                                        <p:cTn id="8" dur="1000" fill="hold"/>
                                        <p:tgtEl>
                                          <p:spTgt spid="81"/>
                                        </p:tgtEl>
                                        <p:attrNameLst>
                                          <p:attrName>ppt_h</p:attrName>
                                        </p:attrNameLst>
                                      </p:cBhvr>
                                      <p:tavLst>
                                        <p:tav tm="0">
                                          <p:val>
                                            <p:fltVal val="0"/>
                                          </p:val>
                                        </p:tav>
                                        <p:tav tm="100000">
                                          <p:val>
                                            <p:strVal val="#ppt_h"/>
                                          </p:val>
                                        </p:tav>
                                      </p:tavLst>
                                    </p:anim>
                                    <p:anim calcmode="lin" valueType="num">
                                      <p:cBhvr>
                                        <p:cTn id="9"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anim calcmode="lin" valueType="num">
                                      <p:cBhvr>
                                        <p:cTn id="15" dur="1000" fill="hold"/>
                                        <p:tgtEl>
                                          <p:spTgt spid="84"/>
                                        </p:tgtEl>
                                        <p:attrNameLst>
                                          <p:attrName>ppt_w</p:attrName>
                                        </p:attrNameLst>
                                      </p:cBhvr>
                                      <p:tavLst>
                                        <p:tav tm="0">
                                          <p:val>
                                            <p:fltVal val="0"/>
                                          </p:val>
                                        </p:tav>
                                        <p:tav tm="100000">
                                          <p:val>
                                            <p:strVal val="#ppt_w"/>
                                          </p:val>
                                        </p:tav>
                                      </p:tavLst>
                                    </p:anim>
                                    <p:anim calcmode="lin" valueType="num">
                                      <p:cBhvr>
                                        <p:cTn id="16" dur="1000" fill="hold"/>
                                        <p:tgtEl>
                                          <p:spTgt spid="84"/>
                                        </p:tgtEl>
                                        <p:attrNameLst>
                                          <p:attrName>ppt_h</p:attrName>
                                        </p:attrNameLst>
                                      </p:cBhvr>
                                      <p:tavLst>
                                        <p:tav tm="0">
                                          <p:val>
                                            <p:fltVal val="0"/>
                                          </p:val>
                                        </p:tav>
                                        <p:tav tm="100000">
                                          <p:val>
                                            <p:strVal val="#ppt_h"/>
                                          </p:val>
                                        </p:tav>
                                      </p:tavLst>
                                    </p:anim>
                                    <p:anim calcmode="lin" valueType="num">
                                      <p:cBhvr>
                                        <p:cTn id="17"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wipe(up)">
                                      <p:cBhvr>
                                        <p:cTn id="23" dur="1000"/>
                                        <p:tgtEl>
                                          <p:spTgt spid="88"/>
                                        </p:tgtEl>
                                      </p:cBhvr>
                                    </p:animEffect>
                                  </p:childTnLst>
                                  <p:subTnLst>
                                    <p:set>
                                      <p:cBhvr override="childStyle">
                                        <p:cTn dur="1" fill="hold" display="0" masterRel="nextClick" afterEffect="1"/>
                                        <p:tgtEl>
                                          <p:spTgt spid="88"/>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1000"/>
                                        <p:tgtEl>
                                          <p:spTgt spid="89"/>
                                        </p:tgtEl>
                                      </p:cBhvr>
                                    </p:animEffect>
                                  </p:childTnLst>
                                  <p:subTnLst>
                                    <p:set>
                                      <p:cBhvr override="childStyle">
                                        <p:cTn dur="1" fill="hold" display="0" masterRel="nextClick" afterEffect="1"/>
                                        <p:tgtEl>
                                          <p:spTgt spid="89"/>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wipe(up)">
                                      <p:cBhvr>
                                        <p:cTn id="37" dur="1000"/>
                                        <p:tgtEl>
                                          <p:spTgt spid="94"/>
                                        </p:tgtEl>
                                      </p:cBhvr>
                                    </p:animEffec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wipe(right)">
                                      <p:cBhvr>
                                        <p:cTn id="42" dur="1000"/>
                                        <p:tgtEl>
                                          <p:spTgt spid="95"/>
                                        </p:tgtEl>
                                      </p:cBhvr>
                                    </p:animEffect>
                                  </p:childTnLst>
                                  <p:subTnLst>
                                    <p:set>
                                      <p:cBhvr override="childStyle">
                                        <p:cTn dur="1" fill="hold" display="0" masterRel="sameClick" afterEffect="1">
                                          <p:stCondLst>
                                            <p:cond evt="end" delay="0">
                                              <p:tn val="40"/>
                                            </p:cond>
                                          </p:stCondLst>
                                        </p:cTn>
                                        <p:tgtEl>
                                          <p:spTgt spid="95"/>
                                        </p:tgtEl>
                                        <p:attrNameLst>
                                          <p:attrName>style.visibility</p:attrName>
                                        </p:attrNameLst>
                                      </p:cBhvr>
                                      <p:to>
                                        <p:strVal val="hidden"/>
                                      </p:to>
                                    </p:set>
                                  </p:subTnLst>
                                </p:cTn>
                              </p:par>
                            </p:childTnLst>
                          </p:cTn>
                        </p:par>
                        <p:par>
                          <p:cTn id="43" fill="hold">
                            <p:stCondLst>
                              <p:cond delay="1000"/>
                            </p:stCondLst>
                            <p:childTnLst>
                              <p:par>
                                <p:cTn id="44" presetID="1" presetClass="entr" presetSubtype="0" fill="hold" nodeType="afterEffect">
                                  <p:stCondLst>
                                    <p:cond delay="0"/>
                                  </p:stCondLst>
                                  <p:childTnLst>
                                    <p:set>
                                      <p:cBhvr>
                                        <p:cTn id="45" dur="1" fill="hold">
                                          <p:stCondLst>
                                            <p:cond delay="0"/>
                                          </p:stCondLst>
                                        </p:cTn>
                                        <p:tgtEl>
                                          <p:spTgt spid="9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9"/>
                                        </p:tgtEl>
                                        <p:attrNameLst>
                                          <p:attrName>style.visibility</p:attrName>
                                        </p:attrNameLst>
                                      </p:cBhvr>
                                      <p:to>
                                        <p:strVal val="visible"/>
                                      </p:to>
                                    </p:set>
                                  </p:childTnLst>
                                </p:cTn>
                              </p:par>
                              <p:par>
                                <p:cTn id="48" presetID="1" presetClass="entr" presetSubtype="0" fill="hold" grpId="1" nodeType="withEffect">
                                  <p:stCondLst>
                                    <p:cond delay="0"/>
                                  </p:stCondLst>
                                  <p:childTnLst>
                                    <p:set>
                                      <p:cBhvr>
                                        <p:cTn id="49"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animBg="1"/>
      <p:bldP spid="9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5">
            <a:extLst>
              <a:ext uri="{FF2B5EF4-FFF2-40B4-BE49-F238E27FC236}">
                <a16:creationId xmlns:a16="http://schemas.microsoft.com/office/drawing/2014/main" id="{F35E9084-40E6-43D6-9948-F04A41B0C3B7}"/>
              </a:ext>
            </a:extLst>
          </p:cNvPr>
          <p:cNvSpPr>
            <a:spLocks noChangeArrowheads="1"/>
          </p:cNvSpPr>
          <p:nvPr/>
        </p:nvSpPr>
        <p:spPr bwMode="auto">
          <a:xfrm>
            <a:off x="2412986" y="2405709"/>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11" name="Oval 5">
            <a:extLst>
              <a:ext uri="{FF2B5EF4-FFF2-40B4-BE49-F238E27FC236}">
                <a16:creationId xmlns:a16="http://schemas.microsoft.com/office/drawing/2014/main" id="{BABFF0C6-8B7E-49A6-8E04-1FAFB15B3A0F}"/>
              </a:ext>
            </a:extLst>
          </p:cNvPr>
          <p:cNvSpPr>
            <a:spLocks noChangeArrowheads="1"/>
          </p:cNvSpPr>
          <p:nvPr/>
        </p:nvSpPr>
        <p:spPr bwMode="auto">
          <a:xfrm>
            <a:off x="792885" y="2391625"/>
            <a:ext cx="1000305" cy="1013120"/>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10" name="Oval 5">
            <a:extLst>
              <a:ext uri="{FF2B5EF4-FFF2-40B4-BE49-F238E27FC236}">
                <a16:creationId xmlns:a16="http://schemas.microsoft.com/office/drawing/2014/main" id="{27EBB119-1190-4AED-B73A-DE29E27C5C28}"/>
              </a:ext>
            </a:extLst>
          </p:cNvPr>
          <p:cNvSpPr>
            <a:spLocks noChangeArrowheads="1"/>
          </p:cNvSpPr>
          <p:nvPr/>
        </p:nvSpPr>
        <p:spPr bwMode="auto">
          <a:xfrm>
            <a:off x="6835761" y="3738871"/>
            <a:ext cx="1000305" cy="1013120"/>
          </a:xfrm>
          <a:prstGeom prst="ellipse">
            <a:avLst/>
          </a:prstGeom>
          <a:solidFill>
            <a:schemeClr val="accent6">
              <a:lumMod val="75000"/>
            </a:schemeClr>
          </a:solidFill>
          <a:ln w="19050">
            <a:noFill/>
            <a:round/>
            <a:headEnd/>
            <a:tailEnd/>
          </a:ln>
        </p:spPr>
        <p:txBody>
          <a:bodyPr wrap="none" anchor="ctr"/>
          <a:lstStyle/>
          <a:p>
            <a:endParaRPr lang="zh-CN" altLang="en-US"/>
          </a:p>
        </p:txBody>
      </p:sp>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400" dirty="0">
                <a:solidFill>
                  <a:srgbClr val="C00000"/>
                </a:solidFill>
                <a:latin typeface="Arial" charset="0"/>
                <a:ea typeface="宋体" pitchFamily="2" charset="-122"/>
              </a:rPr>
              <a:t>rdt2.0</a:t>
            </a:r>
            <a:r>
              <a:rPr lang="zh-CN" altLang="en-US" sz="2400" dirty="0">
                <a:solidFill>
                  <a:srgbClr val="C00000"/>
                </a:solidFill>
                <a:latin typeface="Arial" charset="0"/>
                <a:ea typeface="宋体" pitchFamily="2" charset="-122"/>
              </a:rPr>
              <a:t>：</a:t>
            </a:r>
            <a:r>
              <a:rPr lang="zh-CN" altLang="en-US" sz="2400" b="1" dirty="0">
                <a:latin typeface="Arial" charset="0"/>
                <a:ea typeface="宋体" pitchFamily="2" charset="-122"/>
              </a:rPr>
              <a:t>有差错情况</a:t>
            </a:r>
            <a:r>
              <a:rPr lang="en-US" altLang="zh-CN" sz="2400" b="1" dirty="0">
                <a:latin typeface="Arial" charset="0"/>
                <a:ea typeface="宋体" pitchFamily="2" charset="-122"/>
              </a:rPr>
              <a:t> </a:t>
            </a:r>
            <a:endParaRPr lang="en-US" altLang="zh-CN" sz="2400" b="1"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142" name="Oval 3">
            <a:extLst>
              <a:ext uri="{FF2B5EF4-FFF2-40B4-BE49-F238E27FC236}">
                <a16:creationId xmlns:a16="http://schemas.microsoft.com/office/drawing/2014/main" id="{4F580319-03ED-49F6-9DE5-0E1708A0B2E4}"/>
              </a:ext>
            </a:extLst>
          </p:cNvPr>
          <p:cNvSpPr>
            <a:spLocks noChangeArrowheads="1"/>
          </p:cNvSpPr>
          <p:nvPr/>
        </p:nvSpPr>
        <p:spPr bwMode="auto">
          <a:xfrm>
            <a:off x="723164" y="2422525"/>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44" name="Text Box 5">
            <a:extLst>
              <a:ext uri="{FF2B5EF4-FFF2-40B4-BE49-F238E27FC236}">
                <a16:creationId xmlns:a16="http://schemas.microsoft.com/office/drawing/2014/main" id="{048AE3DA-ECA2-446B-98C6-E7DBF9326765}"/>
              </a:ext>
            </a:extLst>
          </p:cNvPr>
          <p:cNvSpPr txBox="1">
            <a:spLocks noChangeArrowheads="1"/>
          </p:cNvSpPr>
          <p:nvPr/>
        </p:nvSpPr>
        <p:spPr bwMode="auto">
          <a:xfrm>
            <a:off x="1031139" y="1703388"/>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sndpkt</a:t>
            </a:r>
            <a:r>
              <a:rPr lang="en-US" altLang="zh-CN" dirty="0">
                <a:latin typeface="Arial" panose="020B0604020202020204" pitchFamily="34" charset="0"/>
              </a:rPr>
              <a:t> = </a:t>
            </a:r>
            <a:r>
              <a:rPr lang="en-US" altLang="zh-CN" dirty="0" err="1">
                <a:latin typeface="Arial" panose="020B0604020202020204" pitchFamily="34" charset="0"/>
              </a:rPr>
              <a:t>make_pkt</a:t>
            </a:r>
            <a:r>
              <a:rPr lang="en-US" altLang="zh-CN" dirty="0">
                <a:latin typeface="Arial" panose="020B0604020202020204" pitchFamily="34" charset="0"/>
              </a:rPr>
              <a:t>(data, checksum)</a:t>
            </a:r>
          </a:p>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145" name="Line 6">
            <a:extLst>
              <a:ext uri="{FF2B5EF4-FFF2-40B4-BE49-F238E27FC236}">
                <a16:creationId xmlns:a16="http://schemas.microsoft.com/office/drawing/2014/main" id="{708543D3-E0DF-4560-99EC-BBDD89E0BC6B}"/>
              </a:ext>
            </a:extLst>
          </p:cNvPr>
          <p:cNvSpPr>
            <a:spLocks noChangeShapeType="1"/>
          </p:cNvSpPr>
          <p:nvPr/>
        </p:nvSpPr>
        <p:spPr bwMode="auto">
          <a:xfrm>
            <a:off x="1135914" y="174783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Text Box 7">
            <a:extLst>
              <a:ext uri="{FF2B5EF4-FFF2-40B4-BE49-F238E27FC236}">
                <a16:creationId xmlns:a16="http://schemas.microsoft.com/office/drawing/2014/main" id="{FADE3BD7-CB14-41E9-BDDE-77D1C6CFB4D6}"/>
              </a:ext>
            </a:extLst>
          </p:cNvPr>
          <p:cNvSpPr txBox="1">
            <a:spLocks noChangeArrowheads="1"/>
          </p:cNvSpPr>
          <p:nvPr/>
        </p:nvSpPr>
        <p:spPr bwMode="auto">
          <a:xfrm>
            <a:off x="6346089" y="5527675"/>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extract(rcvpkt,data)</a:t>
            </a:r>
          </a:p>
          <a:p>
            <a:pPr algn="l"/>
            <a:r>
              <a:rPr lang="en-US" altLang="zh-CN">
                <a:latin typeface="Arial" panose="020B0604020202020204" pitchFamily="34" charset="0"/>
              </a:rPr>
              <a:t>deliver_data(data)</a:t>
            </a:r>
          </a:p>
          <a:p>
            <a:pPr algn="l"/>
            <a:r>
              <a:rPr lang="en-US" altLang="zh-CN">
                <a:latin typeface="Arial" panose="020B0604020202020204" pitchFamily="34" charset="0"/>
              </a:rPr>
              <a:t>udt_send(ACK)</a:t>
            </a:r>
            <a:endParaRPr lang="en-US" altLang="zh-CN">
              <a:latin typeface="Times New Roman" panose="02020603050405020304" pitchFamily="18" charset="0"/>
            </a:endParaRPr>
          </a:p>
        </p:txBody>
      </p:sp>
      <p:sp>
        <p:nvSpPr>
          <p:cNvPr id="147" name="Text Box 8">
            <a:extLst>
              <a:ext uri="{FF2B5EF4-FFF2-40B4-BE49-F238E27FC236}">
                <a16:creationId xmlns:a16="http://schemas.microsoft.com/office/drawing/2014/main" id="{0DC1935F-1F71-472E-9819-0F4688CC04C7}"/>
              </a:ext>
            </a:extLst>
          </p:cNvPr>
          <p:cNvSpPr txBox="1">
            <a:spLocks noChangeArrowheads="1"/>
          </p:cNvSpPr>
          <p:nvPr/>
        </p:nvSpPr>
        <p:spPr bwMode="auto">
          <a:xfrm>
            <a:off x="6323864" y="4994275"/>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notcorrupt(rcvpkt)</a:t>
            </a:r>
            <a:endParaRPr lang="en-US" altLang="zh-CN">
              <a:latin typeface="Times New Roman" panose="02020603050405020304" pitchFamily="18" charset="0"/>
            </a:endParaRPr>
          </a:p>
        </p:txBody>
      </p:sp>
      <p:sp>
        <p:nvSpPr>
          <p:cNvPr id="148" name="Line 9">
            <a:extLst>
              <a:ext uri="{FF2B5EF4-FFF2-40B4-BE49-F238E27FC236}">
                <a16:creationId xmlns:a16="http://schemas.microsoft.com/office/drawing/2014/main" id="{EE60007E-23E4-435A-B907-EEA344A37442}"/>
              </a:ext>
            </a:extLst>
          </p:cNvPr>
          <p:cNvSpPr>
            <a:spLocks noChangeShapeType="1"/>
          </p:cNvSpPr>
          <p:nvPr/>
        </p:nvSpPr>
        <p:spPr bwMode="auto">
          <a:xfrm>
            <a:off x="6446101" y="5583238"/>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Freeform 10">
            <a:extLst>
              <a:ext uri="{FF2B5EF4-FFF2-40B4-BE49-F238E27FC236}">
                <a16:creationId xmlns:a16="http://schemas.microsoft.com/office/drawing/2014/main" id="{394F1123-BC78-46E1-BAAD-1B6E4CF2B799}"/>
              </a:ext>
            </a:extLst>
          </p:cNvPr>
          <p:cNvSpPr>
            <a:spLocks/>
          </p:cNvSpPr>
          <p:nvPr/>
        </p:nvSpPr>
        <p:spPr bwMode="auto">
          <a:xfrm flipV="1">
            <a:off x="1083526" y="2192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0" name="Freeform 11">
            <a:extLst>
              <a:ext uri="{FF2B5EF4-FFF2-40B4-BE49-F238E27FC236}">
                <a16:creationId xmlns:a16="http://schemas.microsoft.com/office/drawing/2014/main" id="{00AB0FCE-7D41-43AB-812D-582426C23E2D}"/>
              </a:ext>
            </a:extLst>
          </p:cNvPr>
          <p:cNvSpPr>
            <a:spLocks/>
          </p:cNvSpPr>
          <p:nvPr/>
        </p:nvSpPr>
        <p:spPr bwMode="auto">
          <a:xfrm>
            <a:off x="1131151" y="3352800"/>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1" name="Text Box 12">
            <a:extLst>
              <a:ext uri="{FF2B5EF4-FFF2-40B4-BE49-F238E27FC236}">
                <a16:creationId xmlns:a16="http://schemas.microsoft.com/office/drawing/2014/main" id="{BC3A09EC-C047-46E9-B1F5-C910AED3AC0A}"/>
              </a:ext>
            </a:extLst>
          </p:cNvPr>
          <p:cNvSpPr txBox="1">
            <a:spLocks noChangeArrowheads="1"/>
          </p:cNvSpPr>
          <p:nvPr/>
        </p:nvSpPr>
        <p:spPr bwMode="auto">
          <a:xfrm>
            <a:off x="1097814" y="3489922"/>
            <a:ext cx="3548062" cy="50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t>
            </a:r>
          </a:p>
          <a:p>
            <a:pPr algn="l"/>
            <a:r>
              <a:rPr lang="en-US" altLang="zh-CN" dirty="0">
                <a:latin typeface="Arial" panose="020B0604020202020204" pitchFamily="34" charset="0"/>
              </a:rPr>
              <a:t>  &amp;&amp; </a:t>
            </a:r>
            <a:r>
              <a:rPr lang="en-US" altLang="zh-CN" dirty="0" err="1">
                <a:latin typeface="Arial" panose="020B0604020202020204" pitchFamily="34" charset="0"/>
              </a:rPr>
              <a:t>isACK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152" name="Line 13">
            <a:extLst>
              <a:ext uri="{FF2B5EF4-FFF2-40B4-BE49-F238E27FC236}">
                <a16:creationId xmlns:a16="http://schemas.microsoft.com/office/drawing/2014/main" id="{531555AF-EF70-47DF-A209-3AA558B543F9}"/>
              </a:ext>
            </a:extLst>
          </p:cNvPr>
          <p:cNvSpPr>
            <a:spLocks noChangeShapeType="1"/>
          </p:cNvSpPr>
          <p:nvPr/>
        </p:nvSpPr>
        <p:spPr bwMode="auto">
          <a:xfrm>
            <a:off x="1199414" y="402907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 name="Freeform 14">
            <a:extLst>
              <a:ext uri="{FF2B5EF4-FFF2-40B4-BE49-F238E27FC236}">
                <a16:creationId xmlns:a16="http://schemas.microsoft.com/office/drawing/2014/main" id="{1AF1570B-D9AD-45D1-AA29-F997ADFB21C8}"/>
              </a:ext>
            </a:extLst>
          </p:cNvPr>
          <p:cNvSpPr>
            <a:spLocks/>
          </p:cNvSpPr>
          <p:nvPr/>
        </p:nvSpPr>
        <p:spPr bwMode="auto">
          <a:xfrm>
            <a:off x="3279039" y="2498725"/>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 name="Text Box 15">
            <a:extLst>
              <a:ext uri="{FF2B5EF4-FFF2-40B4-BE49-F238E27FC236}">
                <a16:creationId xmlns:a16="http://schemas.microsoft.com/office/drawing/2014/main" id="{9E5D0C0B-C2CC-4BC4-9F0A-4E4347772A81}"/>
              </a:ext>
            </a:extLst>
          </p:cNvPr>
          <p:cNvSpPr txBox="1">
            <a:spLocks noChangeArrowheads="1"/>
          </p:cNvSpPr>
          <p:nvPr/>
        </p:nvSpPr>
        <p:spPr bwMode="auto">
          <a:xfrm>
            <a:off x="3588601" y="2813050"/>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udt_send(sndpkt)</a:t>
            </a:r>
            <a:endParaRPr lang="en-US" altLang="zh-CN">
              <a:latin typeface="Times New Roman" panose="02020603050405020304" pitchFamily="18" charset="0"/>
            </a:endParaRPr>
          </a:p>
        </p:txBody>
      </p:sp>
      <p:sp>
        <p:nvSpPr>
          <p:cNvPr id="155" name="Text Box 16">
            <a:extLst>
              <a:ext uri="{FF2B5EF4-FFF2-40B4-BE49-F238E27FC236}">
                <a16:creationId xmlns:a16="http://schemas.microsoft.com/office/drawing/2014/main" id="{3A8149B9-84B9-4DDC-B2F8-241A4F1B9ADA}"/>
              </a:ext>
            </a:extLst>
          </p:cNvPr>
          <p:cNvSpPr txBox="1">
            <a:spLocks noChangeArrowheads="1"/>
          </p:cNvSpPr>
          <p:nvPr/>
        </p:nvSpPr>
        <p:spPr bwMode="auto">
          <a:xfrm>
            <a:off x="3563201" y="2138363"/>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rdt_rcv</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 &amp;&amp;</a:t>
            </a:r>
          </a:p>
          <a:p>
            <a:pPr algn="l"/>
            <a:r>
              <a:rPr lang="en-US" altLang="zh-CN" dirty="0">
                <a:latin typeface="Arial" panose="020B0604020202020204" pitchFamily="34" charset="0"/>
              </a:rPr>
              <a:t>   </a:t>
            </a:r>
            <a:r>
              <a:rPr lang="en-US" altLang="zh-CN" dirty="0" err="1">
                <a:latin typeface="Arial" panose="020B0604020202020204" pitchFamily="34" charset="0"/>
              </a:rPr>
              <a:t>isNAK</a:t>
            </a:r>
            <a:r>
              <a:rPr lang="en-US" altLang="zh-CN" dirty="0">
                <a:latin typeface="Arial" panose="020B0604020202020204" pitchFamily="34" charset="0"/>
              </a:rPr>
              <a:t>(</a:t>
            </a:r>
            <a:r>
              <a:rPr lang="en-US" altLang="zh-CN" dirty="0" err="1">
                <a:latin typeface="Arial" panose="020B0604020202020204" pitchFamily="34" charset="0"/>
              </a:rPr>
              <a:t>rcvpkt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156" name="Line 17">
            <a:extLst>
              <a:ext uri="{FF2B5EF4-FFF2-40B4-BE49-F238E27FC236}">
                <a16:creationId xmlns:a16="http://schemas.microsoft.com/office/drawing/2014/main" id="{2D514B6C-F932-4DF5-B666-EC6E63B5BAC7}"/>
              </a:ext>
            </a:extLst>
          </p:cNvPr>
          <p:cNvSpPr>
            <a:spLocks noChangeShapeType="1"/>
          </p:cNvSpPr>
          <p:nvPr/>
        </p:nvSpPr>
        <p:spPr bwMode="auto">
          <a:xfrm flipV="1">
            <a:off x="3683850" y="2765426"/>
            <a:ext cx="1497013" cy="461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7" name="Group 18">
            <a:extLst>
              <a:ext uri="{FF2B5EF4-FFF2-40B4-BE49-F238E27FC236}">
                <a16:creationId xmlns:a16="http://schemas.microsoft.com/office/drawing/2014/main" id="{E09F17A3-8529-4D86-8928-317D4BF95E13}"/>
              </a:ext>
            </a:extLst>
          </p:cNvPr>
          <p:cNvGrpSpPr>
            <a:grpSpLocks/>
          </p:cNvGrpSpPr>
          <p:nvPr/>
        </p:nvGrpSpPr>
        <p:grpSpPr bwMode="auto">
          <a:xfrm>
            <a:off x="6600089" y="2565400"/>
            <a:ext cx="1924050" cy="858838"/>
            <a:chOff x="2222" y="2660"/>
            <a:chExt cx="1212" cy="541"/>
          </a:xfrm>
        </p:grpSpPr>
        <p:sp>
          <p:nvSpPr>
            <p:cNvPr id="158" name="Text Box 19">
              <a:extLst>
                <a:ext uri="{FF2B5EF4-FFF2-40B4-BE49-F238E27FC236}">
                  <a16:creationId xmlns:a16="http://schemas.microsoft.com/office/drawing/2014/main" id="{9CF828F9-6AF0-41AC-A4F8-490811825544}"/>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udt_send(NAK)</a:t>
              </a:r>
              <a:endParaRPr lang="en-US" altLang="zh-CN">
                <a:latin typeface="Times New Roman" panose="02020603050405020304" pitchFamily="18" charset="0"/>
              </a:endParaRPr>
            </a:p>
          </p:txBody>
        </p:sp>
        <p:sp>
          <p:nvSpPr>
            <p:cNvPr id="159" name="Text Box 20">
              <a:extLst>
                <a:ext uri="{FF2B5EF4-FFF2-40B4-BE49-F238E27FC236}">
                  <a16:creationId xmlns:a16="http://schemas.microsoft.com/office/drawing/2014/main" id="{29D8556D-47FC-48DE-BD78-2441FBE74C67}"/>
                </a:ext>
              </a:extLst>
            </p:cNvPr>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corrupt(rcvpkt)</a:t>
              </a:r>
              <a:endParaRPr lang="en-US" altLang="zh-CN">
                <a:latin typeface="Times New Roman" panose="02020603050405020304" pitchFamily="18" charset="0"/>
              </a:endParaRPr>
            </a:p>
          </p:txBody>
        </p:sp>
        <p:sp>
          <p:nvSpPr>
            <p:cNvPr id="160" name="Line 21">
              <a:extLst>
                <a:ext uri="{FF2B5EF4-FFF2-40B4-BE49-F238E27FC236}">
                  <a16:creationId xmlns:a16="http://schemas.microsoft.com/office/drawing/2014/main" id="{F2F3222E-47B0-4BA5-816D-D0501F0EB4E7}"/>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 name="Oval 23">
            <a:extLst>
              <a:ext uri="{FF2B5EF4-FFF2-40B4-BE49-F238E27FC236}">
                <a16:creationId xmlns:a16="http://schemas.microsoft.com/office/drawing/2014/main" id="{5CCECFF3-25B1-4EF8-989A-D409117793FF}"/>
              </a:ext>
            </a:extLst>
          </p:cNvPr>
          <p:cNvSpPr>
            <a:spLocks noChangeArrowheads="1"/>
          </p:cNvSpPr>
          <p:nvPr/>
        </p:nvSpPr>
        <p:spPr bwMode="auto">
          <a:xfrm>
            <a:off x="2358289" y="2435225"/>
            <a:ext cx="985838"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64" name="Freeform 25">
            <a:extLst>
              <a:ext uri="{FF2B5EF4-FFF2-40B4-BE49-F238E27FC236}">
                <a16:creationId xmlns:a16="http://schemas.microsoft.com/office/drawing/2014/main" id="{9B957DE4-97A0-407F-9F86-7F32E2161773}"/>
              </a:ext>
            </a:extLst>
          </p:cNvPr>
          <p:cNvSpPr>
            <a:spLocks/>
          </p:cNvSpPr>
          <p:nvPr/>
        </p:nvSpPr>
        <p:spPr bwMode="auto">
          <a:xfrm>
            <a:off x="6698514" y="3360738"/>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5" name="Oval 26">
            <a:extLst>
              <a:ext uri="{FF2B5EF4-FFF2-40B4-BE49-F238E27FC236}">
                <a16:creationId xmlns:a16="http://schemas.microsoft.com/office/drawing/2014/main" id="{CF71073A-9823-4BFF-BCA9-0B580F98ED90}"/>
              </a:ext>
            </a:extLst>
          </p:cNvPr>
          <p:cNvSpPr>
            <a:spLocks noChangeArrowheads="1"/>
          </p:cNvSpPr>
          <p:nvPr/>
        </p:nvSpPr>
        <p:spPr bwMode="auto">
          <a:xfrm>
            <a:off x="6790589" y="3781425"/>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67" name="Freeform 28">
            <a:extLst>
              <a:ext uri="{FF2B5EF4-FFF2-40B4-BE49-F238E27FC236}">
                <a16:creationId xmlns:a16="http://schemas.microsoft.com/office/drawing/2014/main" id="{D6FCB50A-DDC4-4C8A-9D32-0632DD7AF5A5}"/>
              </a:ext>
            </a:extLst>
          </p:cNvPr>
          <p:cNvSpPr>
            <a:spLocks/>
          </p:cNvSpPr>
          <p:nvPr/>
        </p:nvSpPr>
        <p:spPr bwMode="auto">
          <a:xfrm flipV="1">
            <a:off x="6711214" y="4676775"/>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68" name="Group 29">
            <a:extLst>
              <a:ext uri="{FF2B5EF4-FFF2-40B4-BE49-F238E27FC236}">
                <a16:creationId xmlns:a16="http://schemas.microsoft.com/office/drawing/2014/main" id="{8A98C6DC-2D61-44A4-BA56-BEEF7A71C69A}"/>
              </a:ext>
            </a:extLst>
          </p:cNvPr>
          <p:cNvGrpSpPr>
            <a:grpSpLocks/>
          </p:cNvGrpSpPr>
          <p:nvPr/>
        </p:nvGrpSpPr>
        <p:grpSpPr bwMode="auto">
          <a:xfrm>
            <a:off x="375501" y="2379663"/>
            <a:ext cx="1333500" cy="1004887"/>
            <a:chOff x="220" y="1365"/>
            <a:chExt cx="840" cy="633"/>
          </a:xfrm>
        </p:grpSpPr>
        <p:sp>
          <p:nvSpPr>
            <p:cNvPr id="169" name="Line 30">
              <a:extLst>
                <a:ext uri="{FF2B5EF4-FFF2-40B4-BE49-F238E27FC236}">
                  <a16:creationId xmlns:a16="http://schemas.microsoft.com/office/drawing/2014/main" id="{8C8C5A20-97F6-487A-95AB-838561DC036D}"/>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0" name="Oval 31">
              <a:extLst>
                <a:ext uri="{FF2B5EF4-FFF2-40B4-BE49-F238E27FC236}">
                  <a16:creationId xmlns:a16="http://schemas.microsoft.com/office/drawing/2014/main" id="{5638FF7C-43F3-4279-82EC-1641FEBA8921}"/>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grpSp>
        <p:nvGrpSpPr>
          <p:cNvPr id="171" name="Group 32">
            <a:extLst>
              <a:ext uri="{FF2B5EF4-FFF2-40B4-BE49-F238E27FC236}">
                <a16:creationId xmlns:a16="http://schemas.microsoft.com/office/drawing/2014/main" id="{073CE3AD-1CB2-4FB4-B511-5D57D949C5F7}"/>
              </a:ext>
            </a:extLst>
          </p:cNvPr>
          <p:cNvGrpSpPr>
            <a:grpSpLocks/>
          </p:cNvGrpSpPr>
          <p:nvPr/>
        </p:nvGrpSpPr>
        <p:grpSpPr bwMode="auto">
          <a:xfrm>
            <a:off x="6360376" y="3709988"/>
            <a:ext cx="1414463" cy="1033462"/>
            <a:chOff x="3990" y="2203"/>
            <a:chExt cx="891" cy="651"/>
          </a:xfrm>
        </p:grpSpPr>
        <p:sp>
          <p:nvSpPr>
            <p:cNvPr id="172" name="Line 33">
              <a:extLst>
                <a:ext uri="{FF2B5EF4-FFF2-40B4-BE49-F238E27FC236}">
                  <a16:creationId xmlns:a16="http://schemas.microsoft.com/office/drawing/2014/main" id="{2145DBE0-0EC2-4DC8-9D51-AF51A1A1BB8A}"/>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3" name="Oval 34">
              <a:extLst>
                <a:ext uri="{FF2B5EF4-FFF2-40B4-BE49-F238E27FC236}">
                  <a16:creationId xmlns:a16="http://schemas.microsoft.com/office/drawing/2014/main" id="{AA6E12D3-C091-4896-815D-1484D8ED056E}"/>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174" name="Text Box 35">
            <a:extLst>
              <a:ext uri="{FF2B5EF4-FFF2-40B4-BE49-F238E27FC236}">
                <a16:creationId xmlns:a16="http://schemas.microsoft.com/office/drawing/2014/main" id="{C5B2DC68-CFE4-4930-BDD9-BA7DA1293924}"/>
              </a:ext>
            </a:extLst>
          </p:cNvPr>
          <p:cNvSpPr txBox="1">
            <a:spLocks noChangeArrowheads="1"/>
          </p:cNvSpPr>
          <p:nvPr/>
        </p:nvSpPr>
        <p:spPr bwMode="auto">
          <a:xfrm>
            <a:off x="1056539" y="1412875"/>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rdt_send(data)</a:t>
            </a:r>
            <a:endParaRPr lang="en-US" altLang="zh-CN">
              <a:latin typeface="Times New Roman" panose="02020603050405020304" pitchFamily="18" charset="0"/>
            </a:endParaRPr>
          </a:p>
        </p:txBody>
      </p:sp>
      <p:sp>
        <p:nvSpPr>
          <p:cNvPr id="175" name="Line 36">
            <a:extLst>
              <a:ext uri="{FF2B5EF4-FFF2-40B4-BE49-F238E27FC236}">
                <a16:creationId xmlns:a16="http://schemas.microsoft.com/office/drawing/2014/main" id="{3C0D2F83-35E5-467B-B617-07220C5F1871}"/>
              </a:ext>
            </a:extLst>
          </p:cNvPr>
          <p:cNvSpPr>
            <a:spLocks noChangeShapeType="1"/>
          </p:cNvSpPr>
          <p:nvPr/>
        </p:nvSpPr>
        <p:spPr bwMode="auto">
          <a:xfrm>
            <a:off x="1037489" y="1501775"/>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76" name="Freeform 37">
            <a:extLst>
              <a:ext uri="{FF2B5EF4-FFF2-40B4-BE49-F238E27FC236}">
                <a16:creationId xmlns:a16="http://schemas.microsoft.com/office/drawing/2014/main" id="{71BC1FF6-FBE0-4C77-9E61-39467B460640}"/>
              </a:ext>
            </a:extLst>
          </p:cNvPr>
          <p:cNvSpPr>
            <a:spLocks/>
          </p:cNvSpPr>
          <p:nvPr/>
        </p:nvSpPr>
        <p:spPr bwMode="auto">
          <a:xfrm>
            <a:off x="1037489" y="2219325"/>
            <a:ext cx="6940550" cy="654050"/>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7" name="Group 38">
            <a:extLst>
              <a:ext uri="{FF2B5EF4-FFF2-40B4-BE49-F238E27FC236}">
                <a16:creationId xmlns:a16="http://schemas.microsoft.com/office/drawing/2014/main" id="{F6308A6F-1DA0-4202-B5BB-CA32F78AA9F3}"/>
              </a:ext>
            </a:extLst>
          </p:cNvPr>
          <p:cNvGrpSpPr>
            <a:grpSpLocks/>
          </p:cNvGrpSpPr>
          <p:nvPr/>
        </p:nvGrpSpPr>
        <p:grpSpPr bwMode="auto">
          <a:xfrm>
            <a:off x="373914" y="2379663"/>
            <a:ext cx="1333500" cy="1004887"/>
            <a:chOff x="220" y="1365"/>
            <a:chExt cx="840" cy="633"/>
          </a:xfrm>
        </p:grpSpPr>
        <p:sp>
          <p:nvSpPr>
            <p:cNvPr id="178" name="Line 39">
              <a:extLst>
                <a:ext uri="{FF2B5EF4-FFF2-40B4-BE49-F238E27FC236}">
                  <a16:creationId xmlns:a16="http://schemas.microsoft.com/office/drawing/2014/main" id="{0DD210B7-A9B0-46A7-89BF-85007CBE7DF1}"/>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9" name="Oval 40">
              <a:extLst>
                <a:ext uri="{FF2B5EF4-FFF2-40B4-BE49-F238E27FC236}">
                  <a16:creationId xmlns:a16="http://schemas.microsoft.com/office/drawing/2014/main" id="{A8F881DB-4BF3-47F0-830B-1B9291F347C3}"/>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180" name="Oval 41">
            <a:extLst>
              <a:ext uri="{FF2B5EF4-FFF2-40B4-BE49-F238E27FC236}">
                <a16:creationId xmlns:a16="http://schemas.microsoft.com/office/drawing/2014/main" id="{9CAF00E4-A767-4AF7-B325-FE662015323A}"/>
              </a:ext>
            </a:extLst>
          </p:cNvPr>
          <p:cNvSpPr>
            <a:spLocks noChangeArrowheads="1"/>
          </p:cNvSpPr>
          <p:nvPr/>
        </p:nvSpPr>
        <p:spPr bwMode="auto">
          <a:xfrm>
            <a:off x="2358289" y="2435225"/>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81" name="Line 42">
            <a:extLst>
              <a:ext uri="{FF2B5EF4-FFF2-40B4-BE49-F238E27FC236}">
                <a16:creationId xmlns:a16="http://schemas.microsoft.com/office/drawing/2014/main" id="{04AD0D23-5B86-406E-B1B7-9BC37E509417}"/>
              </a:ext>
            </a:extLst>
          </p:cNvPr>
          <p:cNvSpPr>
            <a:spLocks noChangeShapeType="1"/>
          </p:cNvSpPr>
          <p:nvPr/>
        </p:nvSpPr>
        <p:spPr bwMode="auto">
          <a:xfrm flipH="1">
            <a:off x="6287351" y="5114925"/>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82" name="Freeform 43">
            <a:extLst>
              <a:ext uri="{FF2B5EF4-FFF2-40B4-BE49-F238E27FC236}">
                <a16:creationId xmlns:a16="http://schemas.microsoft.com/office/drawing/2014/main" id="{B33ED5ED-B76C-4799-8696-78F29D0E2F4E}"/>
              </a:ext>
            </a:extLst>
          </p:cNvPr>
          <p:cNvSpPr>
            <a:spLocks/>
          </p:cNvSpPr>
          <p:nvPr/>
        </p:nvSpPr>
        <p:spPr bwMode="auto">
          <a:xfrm>
            <a:off x="1181951" y="4098925"/>
            <a:ext cx="6667500" cy="2260600"/>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0" h="1424">
                <a:moveTo>
                  <a:pt x="4200" y="1424"/>
                </a:moveTo>
                <a:lnTo>
                  <a:pt x="3224" y="1424"/>
                </a:lnTo>
                <a:lnTo>
                  <a:pt x="1880"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3" name="Group 44">
            <a:extLst>
              <a:ext uri="{FF2B5EF4-FFF2-40B4-BE49-F238E27FC236}">
                <a16:creationId xmlns:a16="http://schemas.microsoft.com/office/drawing/2014/main" id="{223D5D71-1158-4401-A859-600161F091C0}"/>
              </a:ext>
            </a:extLst>
          </p:cNvPr>
          <p:cNvGrpSpPr>
            <a:grpSpLocks/>
          </p:cNvGrpSpPr>
          <p:nvPr/>
        </p:nvGrpSpPr>
        <p:grpSpPr bwMode="auto">
          <a:xfrm>
            <a:off x="373914" y="2379663"/>
            <a:ext cx="1333500" cy="1004887"/>
            <a:chOff x="220" y="1365"/>
            <a:chExt cx="840" cy="633"/>
          </a:xfrm>
        </p:grpSpPr>
        <p:sp>
          <p:nvSpPr>
            <p:cNvPr id="184" name="Line 45">
              <a:extLst>
                <a:ext uri="{FF2B5EF4-FFF2-40B4-BE49-F238E27FC236}">
                  <a16:creationId xmlns:a16="http://schemas.microsoft.com/office/drawing/2014/main" id="{5E0A091F-5816-48B1-8451-B3A0457DB392}"/>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 name="Oval 46">
              <a:extLst>
                <a:ext uri="{FF2B5EF4-FFF2-40B4-BE49-F238E27FC236}">
                  <a16:creationId xmlns:a16="http://schemas.microsoft.com/office/drawing/2014/main" id="{360F08DA-6EC9-4D3C-8900-CDF72B16DE4D}"/>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186" name="Oval 47">
            <a:extLst>
              <a:ext uri="{FF2B5EF4-FFF2-40B4-BE49-F238E27FC236}">
                <a16:creationId xmlns:a16="http://schemas.microsoft.com/office/drawing/2014/main" id="{A8A0B8DD-2590-4879-9076-000CC5BB5713}"/>
              </a:ext>
            </a:extLst>
          </p:cNvPr>
          <p:cNvSpPr>
            <a:spLocks noChangeArrowheads="1"/>
          </p:cNvSpPr>
          <p:nvPr/>
        </p:nvSpPr>
        <p:spPr bwMode="auto">
          <a:xfrm>
            <a:off x="2355114" y="2439988"/>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87" name="Line 48">
            <a:extLst>
              <a:ext uri="{FF2B5EF4-FFF2-40B4-BE49-F238E27FC236}">
                <a16:creationId xmlns:a16="http://schemas.microsoft.com/office/drawing/2014/main" id="{56539F3D-B7FE-4E04-B17C-01947052C1ED}"/>
              </a:ext>
            </a:extLst>
          </p:cNvPr>
          <p:cNvSpPr>
            <a:spLocks noChangeShapeType="1"/>
          </p:cNvSpPr>
          <p:nvPr/>
        </p:nvSpPr>
        <p:spPr bwMode="auto">
          <a:xfrm>
            <a:off x="6579451" y="2706688"/>
            <a:ext cx="0" cy="817562"/>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88" name="Freeform 49">
            <a:extLst>
              <a:ext uri="{FF2B5EF4-FFF2-40B4-BE49-F238E27FC236}">
                <a16:creationId xmlns:a16="http://schemas.microsoft.com/office/drawing/2014/main" id="{A2A5316A-0233-42CD-976C-BA6505E6C90F}"/>
              </a:ext>
            </a:extLst>
          </p:cNvPr>
          <p:cNvSpPr>
            <a:spLocks/>
          </p:cNvSpPr>
          <p:nvPr/>
        </p:nvSpPr>
        <p:spPr bwMode="auto">
          <a:xfrm>
            <a:off x="3683851" y="2428875"/>
            <a:ext cx="4378325" cy="1025525"/>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 name="Line 50">
            <a:extLst>
              <a:ext uri="{FF2B5EF4-FFF2-40B4-BE49-F238E27FC236}">
                <a16:creationId xmlns:a16="http://schemas.microsoft.com/office/drawing/2014/main" id="{88E19179-EFCC-46C3-B0BA-9B01784F9E5C}"/>
              </a:ext>
            </a:extLst>
          </p:cNvPr>
          <p:cNvSpPr>
            <a:spLocks noChangeShapeType="1"/>
          </p:cNvSpPr>
          <p:nvPr/>
        </p:nvSpPr>
        <p:spPr bwMode="auto">
          <a:xfrm>
            <a:off x="3574314" y="2303463"/>
            <a:ext cx="0" cy="846137"/>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90" name="Freeform 51">
            <a:extLst>
              <a:ext uri="{FF2B5EF4-FFF2-40B4-BE49-F238E27FC236}">
                <a16:creationId xmlns:a16="http://schemas.microsoft.com/office/drawing/2014/main" id="{14432817-B4E4-40D9-8210-F0BE36A92AE9}"/>
              </a:ext>
            </a:extLst>
          </p:cNvPr>
          <p:cNvSpPr>
            <a:spLocks/>
          </p:cNvSpPr>
          <p:nvPr/>
        </p:nvSpPr>
        <p:spPr bwMode="auto">
          <a:xfrm>
            <a:off x="3669564" y="3163888"/>
            <a:ext cx="4073525" cy="2133600"/>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66" h="1344">
                <a:moveTo>
                  <a:pt x="0" y="0"/>
                </a:moveTo>
                <a:lnTo>
                  <a:pt x="1013" y="0"/>
                </a:lnTo>
                <a:lnTo>
                  <a:pt x="1650" y="1344"/>
                </a:lnTo>
                <a:lnTo>
                  <a:pt x="2566" y="1344"/>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1" name="Text Box 52">
            <a:extLst>
              <a:ext uri="{FF2B5EF4-FFF2-40B4-BE49-F238E27FC236}">
                <a16:creationId xmlns:a16="http://schemas.microsoft.com/office/drawing/2014/main" id="{DFDAE9B8-1483-443B-B5E1-D5485F1CF1A2}"/>
              </a:ext>
            </a:extLst>
          </p:cNvPr>
          <p:cNvSpPr txBox="1">
            <a:spLocks noChangeArrowheads="1"/>
          </p:cNvSpPr>
          <p:nvPr/>
        </p:nvSpPr>
        <p:spPr bwMode="auto">
          <a:xfrm>
            <a:off x="1461351" y="4081463"/>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4" name="Text Box 5">
            <a:extLst>
              <a:ext uri="{FF2B5EF4-FFF2-40B4-BE49-F238E27FC236}">
                <a16:creationId xmlns:a16="http://schemas.microsoft.com/office/drawing/2014/main" id="{753B2694-7E86-49E0-8AAE-95D5215C6534}"/>
              </a:ext>
            </a:extLst>
          </p:cNvPr>
          <p:cNvSpPr txBox="1">
            <a:spLocks noChangeArrowheads="1"/>
          </p:cNvSpPr>
          <p:nvPr/>
        </p:nvSpPr>
        <p:spPr bwMode="auto">
          <a:xfrm>
            <a:off x="786681" y="2471738"/>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等待来自上层的调用</a:t>
            </a:r>
            <a:endParaRPr lang="en-US" altLang="zh-CN" dirty="0">
              <a:latin typeface="宋体" panose="02010600030101010101" pitchFamily="2" charset="-122"/>
              <a:ea typeface="宋体" panose="02010600030101010101" pitchFamily="2" charset="-122"/>
            </a:endParaRPr>
          </a:p>
        </p:txBody>
      </p:sp>
      <p:sp>
        <p:nvSpPr>
          <p:cNvPr id="5" name="Text Box 5">
            <a:extLst>
              <a:ext uri="{FF2B5EF4-FFF2-40B4-BE49-F238E27FC236}">
                <a16:creationId xmlns:a16="http://schemas.microsoft.com/office/drawing/2014/main" id="{AE4595B8-8F59-4E85-BA80-2D2277F304EA}"/>
              </a:ext>
            </a:extLst>
          </p:cNvPr>
          <p:cNvSpPr txBox="1">
            <a:spLocks noChangeArrowheads="1"/>
          </p:cNvSpPr>
          <p:nvPr/>
        </p:nvSpPr>
        <p:spPr bwMode="auto">
          <a:xfrm>
            <a:off x="2395615" y="2475510"/>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NAK</a:t>
            </a:r>
          </a:p>
        </p:txBody>
      </p:sp>
      <p:sp>
        <p:nvSpPr>
          <p:cNvPr id="9" name="Text Box 5">
            <a:extLst>
              <a:ext uri="{FF2B5EF4-FFF2-40B4-BE49-F238E27FC236}">
                <a16:creationId xmlns:a16="http://schemas.microsoft.com/office/drawing/2014/main" id="{DC286C50-1F1D-4539-8C3D-0A6EB7D83FC4}"/>
              </a:ext>
            </a:extLst>
          </p:cNvPr>
          <p:cNvSpPr txBox="1">
            <a:spLocks noChangeArrowheads="1"/>
          </p:cNvSpPr>
          <p:nvPr/>
        </p:nvSpPr>
        <p:spPr bwMode="auto">
          <a:xfrm>
            <a:off x="6832675" y="3813176"/>
            <a:ext cx="911226"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dirty="0">
                <a:latin typeface="宋体" panose="02010600030101010101" pitchFamily="2" charset="-122"/>
                <a:ea typeface="宋体" panose="02010600030101010101" pitchFamily="2" charset="-122"/>
              </a:rPr>
              <a:t>等待来自下层的调用</a:t>
            </a:r>
            <a:endParaRPr lang="en-US" altLang="zh-CN" dirty="0">
              <a:latin typeface="宋体" panose="02010600030101010101" pitchFamily="2" charset="-122"/>
              <a:ea typeface="宋体" panose="02010600030101010101" pitchFamily="2" charset="-122"/>
            </a:endParaRPr>
          </a:p>
        </p:txBody>
      </p:sp>
      <p:sp>
        <p:nvSpPr>
          <p:cNvPr id="56" name="Text Box 31">
            <a:extLst>
              <a:ext uri="{FF2B5EF4-FFF2-40B4-BE49-F238E27FC236}">
                <a16:creationId xmlns:a16="http://schemas.microsoft.com/office/drawing/2014/main" id="{E997338A-ED77-40B1-AD30-54BC68148293}"/>
              </a:ext>
            </a:extLst>
          </p:cNvPr>
          <p:cNvSpPr txBox="1">
            <a:spLocks noChangeArrowheads="1"/>
          </p:cNvSpPr>
          <p:nvPr/>
        </p:nvSpPr>
        <p:spPr bwMode="auto">
          <a:xfrm>
            <a:off x="1495500" y="4716948"/>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发送端</a:t>
            </a:r>
            <a:endParaRPr lang="en-US" sz="2400" dirty="0">
              <a:solidFill>
                <a:srgbClr val="CC0000"/>
              </a:solidFill>
            </a:endParaRPr>
          </a:p>
        </p:txBody>
      </p:sp>
      <p:sp>
        <p:nvSpPr>
          <p:cNvPr id="57" name="Text Box 32">
            <a:extLst>
              <a:ext uri="{FF2B5EF4-FFF2-40B4-BE49-F238E27FC236}">
                <a16:creationId xmlns:a16="http://schemas.microsoft.com/office/drawing/2014/main" id="{6F01B866-C840-43BD-88AD-60D7CF9330C5}"/>
              </a:ext>
            </a:extLst>
          </p:cNvPr>
          <p:cNvSpPr txBox="1">
            <a:spLocks noChangeArrowheads="1"/>
          </p:cNvSpPr>
          <p:nvPr/>
        </p:nvSpPr>
        <p:spPr bwMode="auto">
          <a:xfrm>
            <a:off x="6727922" y="1531165"/>
            <a:ext cx="110799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400" dirty="0">
                <a:solidFill>
                  <a:srgbClr val="CC0000"/>
                </a:solidFill>
              </a:rPr>
              <a:t>接收端</a:t>
            </a:r>
            <a:endParaRPr lang="en-US" sz="2400" dirty="0">
              <a:solidFill>
                <a:srgbClr val="CC0000"/>
              </a:solidFill>
            </a:endParaRPr>
          </a:p>
        </p:txBody>
      </p:sp>
    </p:spTree>
    <p:extLst>
      <p:ext uri="{BB962C8B-B14F-4D97-AF65-F5344CB8AC3E}">
        <p14:creationId xmlns:p14="http://schemas.microsoft.com/office/powerpoint/2010/main" val="421525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 calcmode="lin" valueType="num">
                                      <p:cBhvr>
                                        <p:cTn id="7" dur="1000" fill="hold"/>
                                        <p:tgtEl>
                                          <p:spTgt spid="168"/>
                                        </p:tgtEl>
                                        <p:attrNameLst>
                                          <p:attrName>ppt_w</p:attrName>
                                        </p:attrNameLst>
                                      </p:cBhvr>
                                      <p:tavLst>
                                        <p:tav tm="0">
                                          <p:val>
                                            <p:fltVal val="0"/>
                                          </p:val>
                                        </p:tav>
                                        <p:tav tm="100000">
                                          <p:val>
                                            <p:strVal val="#ppt_w"/>
                                          </p:val>
                                        </p:tav>
                                      </p:tavLst>
                                    </p:anim>
                                    <p:anim calcmode="lin" valueType="num">
                                      <p:cBhvr>
                                        <p:cTn id="8" dur="1000" fill="hold"/>
                                        <p:tgtEl>
                                          <p:spTgt spid="168"/>
                                        </p:tgtEl>
                                        <p:attrNameLst>
                                          <p:attrName>ppt_h</p:attrName>
                                        </p:attrNameLst>
                                      </p:cBhvr>
                                      <p:tavLst>
                                        <p:tav tm="0">
                                          <p:val>
                                            <p:fltVal val="0"/>
                                          </p:val>
                                        </p:tav>
                                        <p:tav tm="100000">
                                          <p:val>
                                            <p:strVal val="#ppt_h"/>
                                          </p:val>
                                        </p:tav>
                                      </p:tavLst>
                                    </p:anim>
                                    <p:anim calcmode="lin" valueType="num">
                                      <p:cBhvr>
                                        <p:cTn id="9" dur="1000" fill="hold"/>
                                        <p:tgtEl>
                                          <p:spTgt spid="16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171"/>
                                        </p:tgtEl>
                                        <p:attrNameLst>
                                          <p:attrName>style.visibility</p:attrName>
                                        </p:attrNameLst>
                                      </p:cBhvr>
                                      <p:to>
                                        <p:strVal val="visible"/>
                                      </p:to>
                                    </p:set>
                                    <p:anim calcmode="lin" valueType="num">
                                      <p:cBhvr>
                                        <p:cTn id="15" dur="1000" fill="hold"/>
                                        <p:tgtEl>
                                          <p:spTgt spid="171"/>
                                        </p:tgtEl>
                                        <p:attrNameLst>
                                          <p:attrName>ppt_w</p:attrName>
                                        </p:attrNameLst>
                                      </p:cBhvr>
                                      <p:tavLst>
                                        <p:tav tm="0">
                                          <p:val>
                                            <p:fltVal val="0"/>
                                          </p:val>
                                        </p:tav>
                                        <p:tav tm="100000">
                                          <p:val>
                                            <p:strVal val="#ppt_w"/>
                                          </p:val>
                                        </p:tav>
                                      </p:tavLst>
                                    </p:anim>
                                    <p:anim calcmode="lin" valueType="num">
                                      <p:cBhvr>
                                        <p:cTn id="16" dur="1000" fill="hold"/>
                                        <p:tgtEl>
                                          <p:spTgt spid="171"/>
                                        </p:tgtEl>
                                        <p:attrNameLst>
                                          <p:attrName>ppt_h</p:attrName>
                                        </p:attrNameLst>
                                      </p:cBhvr>
                                      <p:tavLst>
                                        <p:tav tm="0">
                                          <p:val>
                                            <p:fltVal val="0"/>
                                          </p:val>
                                        </p:tav>
                                        <p:tav tm="100000">
                                          <p:val>
                                            <p:strVal val="#ppt_h"/>
                                          </p:val>
                                        </p:tav>
                                      </p:tavLst>
                                    </p:anim>
                                    <p:anim calcmode="lin" valueType="num">
                                      <p:cBhvr>
                                        <p:cTn id="17" dur="1000" fill="hold"/>
                                        <p:tgtEl>
                                          <p:spTgt spid="171"/>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7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75"/>
                                        </p:tgtEl>
                                        <p:attrNameLst>
                                          <p:attrName>style.visibility</p:attrName>
                                        </p:attrNameLst>
                                      </p:cBhvr>
                                      <p:to>
                                        <p:strVal val="visible"/>
                                      </p:to>
                                    </p:set>
                                    <p:animEffect transition="in" filter="wipe(up)">
                                      <p:cBhvr>
                                        <p:cTn id="23" dur="1000"/>
                                        <p:tgtEl>
                                          <p:spTgt spid="175"/>
                                        </p:tgtEl>
                                      </p:cBhvr>
                                    </p:animEffect>
                                  </p:childTnLst>
                                  <p:subTnLst>
                                    <p:set>
                                      <p:cBhvr override="childStyle">
                                        <p:cTn dur="1" fill="hold" display="0" masterRel="nextClick" afterEffect="1"/>
                                        <p:tgtEl>
                                          <p:spTgt spid="175"/>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76"/>
                                        </p:tgtEl>
                                        <p:attrNameLst>
                                          <p:attrName>style.visibility</p:attrName>
                                        </p:attrNameLst>
                                      </p:cBhvr>
                                      <p:to>
                                        <p:strVal val="visible"/>
                                      </p:to>
                                    </p:set>
                                    <p:animEffect transition="in" filter="wipe(left)">
                                      <p:cBhvr>
                                        <p:cTn id="28" dur="1000"/>
                                        <p:tgtEl>
                                          <p:spTgt spid="176"/>
                                        </p:tgtEl>
                                      </p:cBhvr>
                                    </p:animEffect>
                                  </p:childTnLst>
                                  <p:subTnLst>
                                    <p:set>
                                      <p:cBhvr override="childStyle">
                                        <p:cTn dur="1" fill="hold" display="0" masterRel="nextClick" afterEffect="1"/>
                                        <p:tgtEl>
                                          <p:spTgt spid="176"/>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17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87"/>
                                        </p:tgtEl>
                                        <p:attrNameLst>
                                          <p:attrName>style.visibility</p:attrName>
                                        </p:attrNameLst>
                                      </p:cBhvr>
                                      <p:to>
                                        <p:strVal val="visible"/>
                                      </p:to>
                                    </p:set>
                                    <p:animEffect transition="in" filter="wipe(up)">
                                      <p:cBhvr>
                                        <p:cTn id="37" dur="1000"/>
                                        <p:tgtEl>
                                          <p:spTgt spid="187"/>
                                        </p:tgtEl>
                                      </p:cBhvr>
                                    </p:animEffect>
                                  </p:childTnLst>
                                  <p:subTnLst>
                                    <p:set>
                                      <p:cBhvr override="childStyle">
                                        <p:cTn dur="1" fill="hold" display="0" masterRel="nextClick" afterEffect="1"/>
                                        <p:tgtEl>
                                          <p:spTgt spid="187"/>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88"/>
                                        </p:tgtEl>
                                        <p:attrNameLst>
                                          <p:attrName>style.visibility</p:attrName>
                                        </p:attrNameLst>
                                      </p:cBhvr>
                                      <p:to>
                                        <p:strVal val="visible"/>
                                      </p:to>
                                    </p:set>
                                    <p:animEffect transition="in" filter="wipe(right)">
                                      <p:cBhvr>
                                        <p:cTn id="42" dur="1000"/>
                                        <p:tgtEl>
                                          <p:spTgt spid="188"/>
                                        </p:tgtEl>
                                      </p:cBhvr>
                                    </p:animEffect>
                                  </p:childTnLst>
                                  <p:subTnLst>
                                    <p:set>
                                      <p:cBhvr override="childStyle">
                                        <p:cTn dur="1" fill="hold" display="0" masterRel="nextClick" afterEffect="1"/>
                                        <p:tgtEl>
                                          <p:spTgt spid="188"/>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89"/>
                                        </p:tgtEl>
                                        <p:attrNameLst>
                                          <p:attrName>style.visibility</p:attrName>
                                        </p:attrNameLst>
                                      </p:cBhvr>
                                      <p:to>
                                        <p:strVal val="visible"/>
                                      </p:to>
                                    </p:set>
                                    <p:animEffect transition="in" filter="wipe(up)">
                                      <p:cBhvr>
                                        <p:cTn id="47" dur="1000"/>
                                        <p:tgtEl>
                                          <p:spTgt spid="189"/>
                                        </p:tgtEl>
                                      </p:cBhvr>
                                    </p:animEffect>
                                  </p:childTnLst>
                                  <p:subTnLst>
                                    <p:set>
                                      <p:cBhvr override="childStyle">
                                        <p:cTn dur="1" fill="hold" display="0" masterRel="nextClick" afterEffect="1"/>
                                        <p:tgtEl>
                                          <p:spTgt spid="189"/>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90"/>
                                        </p:tgtEl>
                                        <p:attrNameLst>
                                          <p:attrName>style.visibility</p:attrName>
                                        </p:attrNameLst>
                                      </p:cBhvr>
                                      <p:to>
                                        <p:strVal val="visible"/>
                                      </p:to>
                                    </p:set>
                                    <p:animEffect transition="in" filter="wipe(left)">
                                      <p:cBhvr>
                                        <p:cTn id="52" dur="2000"/>
                                        <p:tgtEl>
                                          <p:spTgt spid="190"/>
                                        </p:tgtEl>
                                      </p:cBhvr>
                                    </p:animEffect>
                                  </p:childTnLst>
                                  <p:subTnLst>
                                    <p:set>
                                      <p:cBhvr override="childStyle">
                                        <p:cTn dur="1" fill="hold" display="0" masterRel="nextClick" afterEffect="1"/>
                                        <p:tgtEl>
                                          <p:spTgt spid="190"/>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1"/>
                                        </p:tgtEl>
                                        <p:attrNameLst>
                                          <p:attrName>style.visibility</p:attrName>
                                        </p:attrNameLst>
                                      </p:cBhvr>
                                      <p:to>
                                        <p:strVal val="visible"/>
                                      </p:to>
                                    </p:set>
                                    <p:animEffect transition="in" filter="wipe(up)">
                                      <p:cBhvr>
                                        <p:cTn id="57" dur="1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82"/>
                                        </p:tgtEl>
                                        <p:attrNameLst>
                                          <p:attrName>style.visibility</p:attrName>
                                        </p:attrNameLst>
                                      </p:cBhvr>
                                      <p:to>
                                        <p:strVal val="visible"/>
                                      </p:to>
                                    </p:set>
                                    <p:animEffect transition="in" filter="wipe(down)">
                                      <p:cBhvr>
                                        <p:cTn id="62" dur="1000"/>
                                        <p:tgtEl>
                                          <p:spTgt spid="182"/>
                                        </p:tgtEl>
                                      </p:cBhvr>
                                    </p:animEffect>
                                  </p:childTnLst>
                                </p:cTn>
                              </p:par>
                            </p:childTnLst>
                          </p:cTn>
                        </p:par>
                        <p:par>
                          <p:cTn id="63" fill="hold">
                            <p:stCondLst>
                              <p:cond delay="1000"/>
                            </p:stCondLst>
                            <p:childTnLst>
                              <p:par>
                                <p:cTn id="64" presetID="1" presetClass="entr" presetSubtype="0" fill="hold" nodeType="afterEffect">
                                  <p:stCondLst>
                                    <p:cond delay="0"/>
                                  </p:stCondLst>
                                  <p:childTnLst>
                                    <p:set>
                                      <p:cBhvr>
                                        <p:cTn id="65" dur="1" fill="hold">
                                          <p:stCondLst>
                                            <p:cond delay="0"/>
                                          </p:stCondLst>
                                        </p:cTn>
                                        <p:tgtEl>
                                          <p:spTgt spid="18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86"/>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animBg="1"/>
      <p:bldP spid="186" grpId="0" animBg="1"/>
      <p:bldP spid="18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rdt2.0</a:t>
            </a:r>
            <a:r>
              <a:rPr lang="zh-CN" altLang="en-US" sz="2800" b="1" dirty="0">
                <a:latin typeface="Arial" charset="0"/>
                <a:ea typeface="宋体" pitchFamily="2" charset="-122"/>
              </a:rPr>
              <a:t>：存在的问题</a:t>
            </a:r>
            <a:r>
              <a:rPr lang="en-US" altLang="zh-CN" sz="2800" b="1" dirty="0">
                <a:latin typeface="Arial" charset="0"/>
                <a:ea typeface="宋体" pitchFamily="2" charset="-122"/>
              </a:rPr>
              <a:t> </a:t>
            </a:r>
            <a:endParaRPr lang="en-US" altLang="zh-CN" sz="2800" b="1"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21007" y="1476824"/>
            <a:ext cx="8450862" cy="3935435"/>
          </a:xfrm>
          <a:prstGeom prst="rect">
            <a:avLst/>
          </a:prstGeom>
          <a:noFill/>
          <a:ln w="9525">
            <a:noFill/>
            <a:miter lim="800000"/>
            <a:headEnd/>
            <a:tailEnd/>
          </a:ln>
        </p:spPr>
        <p:txBody>
          <a:bodyPr/>
          <a:lstStyle/>
          <a:p>
            <a:pPr marL="800100" lvl="1" indent="-342900" eaLnBrk="0" hangingPunct="0">
              <a:lnSpc>
                <a:spcPct val="15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200" dirty="0">
                <a:solidFill>
                  <a:srgbClr val="FF0000"/>
                </a:solidFill>
                <a:latin typeface="Times New Roman" panose="02020603050405020304" pitchFamily="18" charset="0"/>
                <a:cs typeface="Times New Roman" panose="02020603050405020304" pitchFamily="18" charset="0"/>
              </a:rPr>
              <a:t>ACK/NAK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受损，产生什么状况？</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发送端无法确认接收端的状况（</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不能简单进行重传：可能造成</a:t>
            </a:r>
            <a:r>
              <a:rPr lang="zh-CN" altLang="en-US"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重复接收</a:t>
            </a:r>
            <a:endParaRPr lang="en-US" altLang="zh-CN"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spcBef>
                <a:spcPts val="600"/>
              </a:spcBef>
              <a:buClr>
                <a:srgbClr val="2A09B7"/>
              </a:buClr>
              <a:buFont typeface="Wingdings" panose="05000000000000000000" pitchFamily="2" charset="2"/>
              <a:buChar char="Ø"/>
            </a:pPr>
            <a:r>
              <a:rPr lang="zh-CN" altLang="en-US"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处理重复接收问题</a:t>
            </a:r>
            <a:endParaRPr lang="en-US" altLang="zh-CN" sz="22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发送端在每个分组中</a:t>
            </a:r>
            <a:r>
              <a:rPr lang="zh-CN" altLang="en-US"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增加序号</a:t>
            </a:r>
            <a:endParaRPr lang="en-US" altLang="zh-CN"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如果无法判断是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，则重传当前的分组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接收端丢弃重复的分组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ct val="150000"/>
              </a:lnSpc>
              <a:spcBef>
                <a:spcPts val="300"/>
              </a:spcBef>
              <a:buClr>
                <a:srgbClr val="2A09B7"/>
              </a:buClr>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78392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rdt2.1</a:t>
            </a:r>
            <a:r>
              <a:rPr lang="zh-CN" altLang="en-US" sz="2800" b="1" dirty="0">
                <a:latin typeface="Arial" charset="0"/>
                <a:ea typeface="宋体" pitchFamily="2" charset="-122"/>
              </a:rPr>
              <a:t>：</a:t>
            </a:r>
            <a:r>
              <a:rPr lang="zh-CN" altLang="en-US" sz="2800" dirty="0">
                <a:latin typeface="Arial" charset="0"/>
                <a:ea typeface="宋体" pitchFamily="2" charset="-122"/>
              </a:rPr>
              <a:t>解决</a:t>
            </a:r>
            <a:r>
              <a:rPr lang="en-US" altLang="zh-CN" sz="2800" dirty="0">
                <a:latin typeface="Arial" charset="0"/>
                <a:ea typeface="宋体" pitchFamily="2" charset="-122"/>
              </a:rPr>
              <a:t>rdt2.0</a:t>
            </a:r>
            <a:r>
              <a:rPr lang="zh-CN" altLang="en-US" sz="2800" dirty="0">
                <a:latin typeface="Arial" charset="0"/>
                <a:ea typeface="宋体" pitchFamily="2" charset="-122"/>
              </a:rPr>
              <a:t>的问题</a:t>
            </a:r>
            <a:r>
              <a:rPr lang="en-US" altLang="zh-CN" sz="2800" dirty="0">
                <a:latin typeface="Arial" charset="0"/>
                <a:ea typeface="宋体" pitchFamily="2" charset="-122"/>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60652" y="1526852"/>
            <a:ext cx="8450862" cy="3322979"/>
          </a:xfrm>
          <a:prstGeom prst="rect">
            <a:avLst/>
          </a:prstGeom>
          <a:noFill/>
          <a:ln w="9525">
            <a:noFill/>
            <a:miter lim="800000"/>
            <a:headEnd/>
            <a:tailEnd/>
          </a:ln>
        </p:spPr>
        <p:txBody>
          <a:bodyPr/>
          <a:lstStyle/>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dirty="0">
                <a:latin typeface="Times New Roman" panose="02020603050405020304" pitchFamily="18" charset="0"/>
                <a:ea typeface="宋体" pitchFamily="2" charset="-122"/>
                <a:cs typeface="Times New Roman" panose="02020603050405020304" pitchFamily="18" charset="0"/>
              </a:rPr>
              <a:t>rdt2.0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基础上需要增加哪些功能？</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发送端在每个分组中</a:t>
            </a:r>
            <a:r>
              <a:rPr lang="zh-CN" altLang="en-US"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增加序号</a:t>
            </a:r>
            <a:endParaRPr lang="en-US" altLang="zh-CN" sz="20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发送端通过校验和字段验证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分组是否损坏</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ACK/NAK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分组损坏，发送端重传当前分组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接收端根据序号判断是否为重复分组</a:t>
            </a:r>
            <a:endPar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接收端在</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ACK/NAK</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分组中增加校验和字段</a:t>
            </a:r>
            <a:endPar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1163638" lvl="2" indent="-249238" eaLnBrk="0" hangingPunct="0">
              <a:lnSpc>
                <a:spcPct val="150000"/>
              </a:lnSpc>
              <a:spcBef>
                <a:spcPts val="300"/>
              </a:spcBef>
              <a:buClr>
                <a:srgbClr val="2A09B7"/>
              </a:buClr>
              <a:buFont typeface="Arial" panose="020B0604020202020204" pitchFamily="34" charset="0"/>
              <a:buChar char="•"/>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Text Box 10">
            <a:extLst>
              <a:ext uri="{FF2B5EF4-FFF2-40B4-BE49-F238E27FC236}">
                <a16:creationId xmlns:a16="http://schemas.microsoft.com/office/drawing/2014/main" id="{1BB897D3-7942-4835-92DF-B0819F44E28B}"/>
              </a:ext>
            </a:extLst>
          </p:cNvPr>
          <p:cNvSpPr txBox="1">
            <a:spLocks noChangeArrowheads="1"/>
          </p:cNvSpPr>
          <p:nvPr/>
        </p:nvSpPr>
        <p:spPr bwMode="auto">
          <a:xfrm>
            <a:off x="830866" y="5356069"/>
            <a:ext cx="6962162" cy="430887"/>
          </a:xfrm>
          <a:prstGeom prst="rect">
            <a:avLst/>
          </a:prstGeom>
          <a:solidFill>
            <a:schemeClr val="accent2">
              <a:lumMod val="20000"/>
              <a:lumOff val="80000"/>
            </a:schemeClr>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200" b="1"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停等机制</a:t>
            </a:r>
            <a:r>
              <a:rPr lang="zh-CN" altLang="en-US" sz="2200"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发送端发送一个分组，然后等待接收端响应</a:t>
            </a:r>
            <a:endParaRPr lang="en-US" sz="2200" dirty="0">
              <a:solidFill>
                <a:srgbClr val="CC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10">
            <a:extLst>
              <a:ext uri="{FF2B5EF4-FFF2-40B4-BE49-F238E27FC236}">
                <a16:creationId xmlns:a16="http://schemas.microsoft.com/office/drawing/2014/main" id="{B9FF0479-9CEC-4CCE-91BB-C0CD56D704EA}"/>
              </a:ext>
            </a:extLst>
          </p:cNvPr>
          <p:cNvSpPr txBox="1">
            <a:spLocks noChangeArrowheads="1"/>
          </p:cNvSpPr>
          <p:nvPr/>
        </p:nvSpPr>
        <p:spPr bwMode="auto">
          <a:xfrm>
            <a:off x="6545807" y="2176641"/>
            <a:ext cx="1991251" cy="400110"/>
          </a:xfrm>
          <a:prstGeom prst="rect">
            <a:avLst/>
          </a:prstGeom>
          <a:ln/>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2">
            <a:schemeClr val="dk1"/>
          </a:lnRef>
          <a:fillRef idx="1">
            <a:schemeClr val="lt1"/>
          </a:fillRef>
          <a:effectRef idx="0">
            <a:schemeClr val="dk1"/>
          </a:effectRef>
          <a:fontRef idx="minor">
            <a:schemeClr val="dk1"/>
          </a:fontRef>
        </p:style>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b="1"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需要几个序号？</a:t>
            </a:r>
            <a:endParaRPr lang="en-US" sz="2000" b="1" dirty="0">
              <a:solidFill>
                <a:srgbClr val="CC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24965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Oval 5">
            <a:extLst>
              <a:ext uri="{FF2B5EF4-FFF2-40B4-BE49-F238E27FC236}">
                <a16:creationId xmlns:a16="http://schemas.microsoft.com/office/drawing/2014/main" id="{EEA468ED-C613-4E37-B9BB-35DF557C31BF}"/>
              </a:ext>
            </a:extLst>
          </p:cNvPr>
          <p:cNvSpPr>
            <a:spLocks noChangeArrowheads="1"/>
          </p:cNvSpPr>
          <p:nvPr/>
        </p:nvSpPr>
        <p:spPr bwMode="auto">
          <a:xfrm>
            <a:off x="5030390" y="4313997"/>
            <a:ext cx="890530" cy="855959"/>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56" name="Oval 5">
            <a:extLst>
              <a:ext uri="{FF2B5EF4-FFF2-40B4-BE49-F238E27FC236}">
                <a16:creationId xmlns:a16="http://schemas.microsoft.com/office/drawing/2014/main" id="{BB3FDADE-2AB2-4699-8225-30238E23928F}"/>
              </a:ext>
            </a:extLst>
          </p:cNvPr>
          <p:cNvSpPr>
            <a:spLocks noChangeArrowheads="1"/>
          </p:cNvSpPr>
          <p:nvPr/>
        </p:nvSpPr>
        <p:spPr bwMode="auto">
          <a:xfrm>
            <a:off x="2775307" y="4248430"/>
            <a:ext cx="890530" cy="855959"/>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52" name="Oval 5">
            <a:extLst>
              <a:ext uri="{FF2B5EF4-FFF2-40B4-BE49-F238E27FC236}">
                <a16:creationId xmlns:a16="http://schemas.microsoft.com/office/drawing/2014/main" id="{7C9DC3A2-47CE-4E95-8AED-2C6352CFDF0D}"/>
              </a:ext>
            </a:extLst>
          </p:cNvPr>
          <p:cNvSpPr>
            <a:spLocks noChangeArrowheads="1"/>
          </p:cNvSpPr>
          <p:nvPr/>
        </p:nvSpPr>
        <p:spPr bwMode="auto">
          <a:xfrm>
            <a:off x="4865185" y="2381228"/>
            <a:ext cx="890530" cy="855959"/>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50" name="Oval 5">
            <a:extLst>
              <a:ext uri="{FF2B5EF4-FFF2-40B4-BE49-F238E27FC236}">
                <a16:creationId xmlns:a16="http://schemas.microsoft.com/office/drawing/2014/main" id="{18D037F2-6C91-4400-B33A-377735712426}"/>
              </a:ext>
            </a:extLst>
          </p:cNvPr>
          <p:cNvSpPr>
            <a:spLocks noChangeArrowheads="1"/>
          </p:cNvSpPr>
          <p:nvPr/>
        </p:nvSpPr>
        <p:spPr bwMode="auto">
          <a:xfrm>
            <a:off x="2923617" y="2416175"/>
            <a:ext cx="890530" cy="855959"/>
          </a:xfrm>
          <a:prstGeom prst="ellipse">
            <a:avLst/>
          </a:prstGeom>
          <a:solidFill>
            <a:schemeClr val="accent1">
              <a:lumMod val="75000"/>
            </a:schemeClr>
          </a:solidFill>
          <a:ln w="19050">
            <a:noFill/>
            <a:round/>
            <a:headEnd/>
            <a:tailEnd/>
          </a:ln>
        </p:spPr>
        <p:txBody>
          <a:bodyPr wrap="none" anchor="ctr"/>
          <a:lstStyle/>
          <a:p>
            <a:endParaRPr lang="zh-CN" altLang="en-US"/>
          </a:p>
        </p:txBody>
      </p:sp>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rdt2.1</a:t>
            </a:r>
            <a:r>
              <a:rPr lang="zh-CN" altLang="en-US" sz="2800" b="1" dirty="0">
                <a:latin typeface="Arial" charset="0"/>
                <a:ea typeface="宋体" pitchFamily="2" charset="-122"/>
              </a:rPr>
              <a:t>：发送端状态机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8" name="Oval 3">
            <a:extLst>
              <a:ext uri="{FF2B5EF4-FFF2-40B4-BE49-F238E27FC236}">
                <a16:creationId xmlns:a16="http://schemas.microsoft.com/office/drawing/2014/main" id="{62905EE7-BF4D-42AA-AE70-39FF1A052553}"/>
              </a:ext>
            </a:extLst>
          </p:cNvPr>
          <p:cNvSpPr>
            <a:spLocks noChangeArrowheads="1"/>
          </p:cNvSpPr>
          <p:nvPr/>
        </p:nvSpPr>
        <p:spPr bwMode="auto">
          <a:xfrm>
            <a:off x="2868613" y="2451013"/>
            <a:ext cx="901700" cy="83661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 name="Text Box 5">
            <a:extLst>
              <a:ext uri="{FF2B5EF4-FFF2-40B4-BE49-F238E27FC236}">
                <a16:creationId xmlns:a16="http://schemas.microsoft.com/office/drawing/2014/main" id="{A58225A6-62ED-4E02-B87B-10BC7DDC3B60}"/>
              </a:ext>
            </a:extLst>
          </p:cNvPr>
          <p:cNvSpPr txBox="1">
            <a:spLocks noChangeArrowheads="1"/>
          </p:cNvSpPr>
          <p:nvPr/>
        </p:nvSpPr>
        <p:spPr bwMode="auto">
          <a:xfrm>
            <a:off x="3124200" y="1722350"/>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sndpkt</a:t>
            </a:r>
            <a:r>
              <a:rPr lang="en-US" altLang="zh-CN" dirty="0">
                <a:latin typeface="Arial" panose="020B0604020202020204" pitchFamily="34" charset="0"/>
              </a:rPr>
              <a:t> = </a:t>
            </a:r>
            <a:r>
              <a:rPr lang="en-US" altLang="zh-CN" dirty="0" err="1">
                <a:latin typeface="Arial" panose="020B0604020202020204" pitchFamily="34" charset="0"/>
              </a:rPr>
              <a:t>make_pkt</a:t>
            </a:r>
            <a:r>
              <a:rPr lang="en-US" altLang="zh-CN" dirty="0">
                <a:latin typeface="Arial" panose="020B0604020202020204" pitchFamily="34" charset="0"/>
              </a:rPr>
              <a:t>(0, data, checksum)</a:t>
            </a:r>
          </a:p>
          <a:p>
            <a:pPr algn="l"/>
            <a:r>
              <a:rPr lang="en-US" altLang="zh-CN" dirty="0" err="1">
                <a:latin typeface="Arial" panose="020B0604020202020204" pitchFamily="34" charset="0"/>
              </a:rPr>
              <a:t>udt_send</a:t>
            </a:r>
            <a:r>
              <a:rPr lang="en-US" altLang="zh-CN" dirty="0">
                <a:latin typeface="Arial" panose="020B0604020202020204" pitchFamily="34" charset="0"/>
              </a:rPr>
              <a:t>(</a:t>
            </a:r>
            <a:r>
              <a:rPr lang="en-US" altLang="zh-CN" dirty="0" err="1">
                <a:latin typeface="Arial" panose="020B0604020202020204" pitchFamily="34" charset="0"/>
              </a:rPr>
              <a:t>sndpkt</a:t>
            </a:r>
            <a:r>
              <a:rPr lang="en-US" altLang="zh-CN" dirty="0">
                <a:latin typeface="Arial" panose="020B0604020202020204" pitchFamily="34" charset="0"/>
              </a:rPr>
              <a:t>)</a:t>
            </a:r>
            <a:endParaRPr lang="en-US" altLang="zh-CN" dirty="0">
              <a:latin typeface="Times New Roman" panose="02020603050405020304" pitchFamily="18" charset="0"/>
            </a:endParaRPr>
          </a:p>
        </p:txBody>
      </p:sp>
      <p:sp>
        <p:nvSpPr>
          <p:cNvPr id="11" name="Text Box 6">
            <a:extLst>
              <a:ext uri="{FF2B5EF4-FFF2-40B4-BE49-F238E27FC236}">
                <a16:creationId xmlns:a16="http://schemas.microsoft.com/office/drawing/2014/main" id="{C45A703E-5B8E-4951-8DD4-B43FE41EF0D0}"/>
              </a:ext>
            </a:extLst>
          </p:cNvPr>
          <p:cNvSpPr txBox="1">
            <a:spLocks noChangeArrowheads="1"/>
          </p:cNvSpPr>
          <p:nvPr/>
        </p:nvSpPr>
        <p:spPr bwMode="auto">
          <a:xfrm>
            <a:off x="3138488" y="1409613"/>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rdt_send(data)</a:t>
            </a:r>
            <a:endParaRPr lang="en-US" altLang="zh-CN">
              <a:latin typeface="Times New Roman" panose="02020603050405020304" pitchFamily="18" charset="0"/>
            </a:endParaRPr>
          </a:p>
        </p:txBody>
      </p:sp>
      <p:sp>
        <p:nvSpPr>
          <p:cNvPr id="12" name="Line 7">
            <a:extLst>
              <a:ext uri="{FF2B5EF4-FFF2-40B4-BE49-F238E27FC236}">
                <a16:creationId xmlns:a16="http://schemas.microsoft.com/office/drawing/2014/main" id="{3AC42909-ACF6-4C69-A68D-A56B91CF66A2}"/>
              </a:ext>
            </a:extLst>
          </p:cNvPr>
          <p:cNvSpPr>
            <a:spLocks noChangeShapeType="1"/>
          </p:cNvSpPr>
          <p:nvPr/>
        </p:nvSpPr>
        <p:spPr bwMode="auto">
          <a:xfrm>
            <a:off x="3255963" y="1774738"/>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8">
            <a:extLst>
              <a:ext uri="{FF2B5EF4-FFF2-40B4-BE49-F238E27FC236}">
                <a16:creationId xmlns:a16="http://schemas.microsoft.com/office/drawing/2014/main" id="{083247A5-E960-4C83-A629-286B0A9068C7}"/>
              </a:ext>
            </a:extLst>
          </p:cNvPr>
          <p:cNvSpPr>
            <a:spLocks noChangeShapeType="1"/>
          </p:cNvSpPr>
          <p:nvPr/>
        </p:nvSpPr>
        <p:spPr bwMode="auto">
          <a:xfrm>
            <a:off x="2593975" y="2406563"/>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Freeform 9">
            <a:extLst>
              <a:ext uri="{FF2B5EF4-FFF2-40B4-BE49-F238E27FC236}">
                <a16:creationId xmlns:a16="http://schemas.microsoft.com/office/drawing/2014/main" id="{8B640E31-69F6-45E5-BBFD-1A83E0C4DF97}"/>
              </a:ext>
            </a:extLst>
          </p:cNvPr>
          <p:cNvSpPr>
            <a:spLocks/>
          </p:cNvSpPr>
          <p:nvPr/>
        </p:nvSpPr>
        <p:spPr bwMode="auto">
          <a:xfrm rot="14082282">
            <a:off x="2178469" y="4741932"/>
            <a:ext cx="930068" cy="482734"/>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Oval 11">
            <a:extLst>
              <a:ext uri="{FF2B5EF4-FFF2-40B4-BE49-F238E27FC236}">
                <a16:creationId xmlns:a16="http://schemas.microsoft.com/office/drawing/2014/main" id="{589DC0E8-C858-45EA-ACC9-BCDC23B28ABD}"/>
              </a:ext>
            </a:extLst>
          </p:cNvPr>
          <p:cNvSpPr>
            <a:spLocks noChangeArrowheads="1"/>
          </p:cNvSpPr>
          <p:nvPr/>
        </p:nvSpPr>
        <p:spPr bwMode="auto">
          <a:xfrm>
            <a:off x="4776429" y="2398625"/>
            <a:ext cx="937222" cy="86518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8" name="Freeform 13">
            <a:extLst>
              <a:ext uri="{FF2B5EF4-FFF2-40B4-BE49-F238E27FC236}">
                <a16:creationId xmlns:a16="http://schemas.microsoft.com/office/drawing/2014/main" id="{CF9B1747-7406-4C6E-AD73-F19831C7510E}"/>
              </a:ext>
            </a:extLst>
          </p:cNvPr>
          <p:cNvSpPr>
            <a:spLocks/>
          </p:cNvSpPr>
          <p:nvPr/>
        </p:nvSpPr>
        <p:spPr bwMode="auto">
          <a:xfrm flipV="1">
            <a:off x="3425825" y="2276388"/>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Freeform 14">
            <a:extLst>
              <a:ext uri="{FF2B5EF4-FFF2-40B4-BE49-F238E27FC236}">
                <a16:creationId xmlns:a16="http://schemas.microsoft.com/office/drawing/2014/main" id="{042C1A51-6068-431F-9E88-7888EDB370C5}"/>
              </a:ext>
            </a:extLst>
          </p:cNvPr>
          <p:cNvSpPr>
            <a:spLocks/>
          </p:cNvSpPr>
          <p:nvPr/>
        </p:nvSpPr>
        <p:spPr bwMode="auto">
          <a:xfrm rot="20242820">
            <a:off x="5589588" y="2260513"/>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Text Box 15">
            <a:extLst>
              <a:ext uri="{FF2B5EF4-FFF2-40B4-BE49-F238E27FC236}">
                <a16:creationId xmlns:a16="http://schemas.microsoft.com/office/drawing/2014/main" id="{C884A23B-611D-4DB1-878E-522F01C64B99}"/>
              </a:ext>
            </a:extLst>
          </p:cNvPr>
          <p:cNvSpPr txBox="1">
            <a:spLocks noChangeArrowheads="1"/>
          </p:cNvSpPr>
          <p:nvPr/>
        </p:nvSpPr>
        <p:spPr bwMode="auto">
          <a:xfrm>
            <a:off x="5913438" y="2822488"/>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udt_send(sndpkt)</a:t>
            </a:r>
            <a:endParaRPr lang="en-US" altLang="zh-CN">
              <a:latin typeface="Times New Roman" panose="02020603050405020304" pitchFamily="18" charset="0"/>
            </a:endParaRPr>
          </a:p>
        </p:txBody>
      </p:sp>
      <p:sp>
        <p:nvSpPr>
          <p:cNvPr id="21" name="Text Box 16">
            <a:extLst>
              <a:ext uri="{FF2B5EF4-FFF2-40B4-BE49-F238E27FC236}">
                <a16:creationId xmlns:a16="http://schemas.microsoft.com/office/drawing/2014/main" id="{EE98C25D-3A3F-4253-A2D3-B5045DFC6EA4}"/>
              </a:ext>
            </a:extLst>
          </p:cNvPr>
          <p:cNvSpPr txBox="1">
            <a:spLocks noChangeArrowheads="1"/>
          </p:cNvSpPr>
          <p:nvPr/>
        </p:nvSpPr>
        <p:spPr bwMode="auto">
          <a:xfrm>
            <a:off x="5875338" y="2065250"/>
            <a:ext cx="25638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corrupt(rcvpkt) ||</a:t>
            </a:r>
          </a:p>
          <a:p>
            <a:pPr algn="l"/>
            <a:r>
              <a:rPr lang="en-US" altLang="zh-CN">
                <a:latin typeface="Arial" panose="020B0604020202020204" pitchFamily="34" charset="0"/>
              </a:rPr>
              <a:t>isNAK(rcvpkt) )</a:t>
            </a:r>
            <a:endParaRPr lang="en-US" altLang="zh-CN">
              <a:latin typeface="Times New Roman" panose="02020603050405020304" pitchFamily="18" charset="0"/>
            </a:endParaRPr>
          </a:p>
        </p:txBody>
      </p:sp>
      <p:sp>
        <p:nvSpPr>
          <p:cNvPr id="22" name="Line 17">
            <a:extLst>
              <a:ext uri="{FF2B5EF4-FFF2-40B4-BE49-F238E27FC236}">
                <a16:creationId xmlns:a16="http://schemas.microsoft.com/office/drawing/2014/main" id="{1C1008E8-CE71-413E-8190-01D4FF4293DB}"/>
              </a:ext>
            </a:extLst>
          </p:cNvPr>
          <p:cNvSpPr>
            <a:spLocks noChangeShapeType="1"/>
          </p:cNvSpPr>
          <p:nvPr/>
        </p:nvSpPr>
        <p:spPr bwMode="auto">
          <a:xfrm>
            <a:off x="6045200" y="2862175"/>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Freeform 18">
            <a:extLst>
              <a:ext uri="{FF2B5EF4-FFF2-40B4-BE49-F238E27FC236}">
                <a16:creationId xmlns:a16="http://schemas.microsoft.com/office/drawing/2014/main" id="{7D5D7ED2-5571-4BAC-889E-AAE6E5B0857D}"/>
              </a:ext>
            </a:extLst>
          </p:cNvPr>
          <p:cNvSpPr>
            <a:spLocks/>
          </p:cNvSpPr>
          <p:nvPr/>
        </p:nvSpPr>
        <p:spPr bwMode="auto">
          <a:xfrm rot="16200000" flipV="1">
            <a:off x="2201863" y="3636875"/>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Freeform 19">
            <a:extLst>
              <a:ext uri="{FF2B5EF4-FFF2-40B4-BE49-F238E27FC236}">
                <a16:creationId xmlns:a16="http://schemas.microsoft.com/office/drawing/2014/main" id="{93369F64-801B-4C65-996E-342CB665AE74}"/>
              </a:ext>
            </a:extLst>
          </p:cNvPr>
          <p:cNvSpPr>
            <a:spLocks/>
          </p:cNvSpPr>
          <p:nvPr/>
        </p:nvSpPr>
        <p:spPr bwMode="auto">
          <a:xfrm>
            <a:off x="3600450" y="4924338"/>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Freeform 20">
            <a:extLst>
              <a:ext uri="{FF2B5EF4-FFF2-40B4-BE49-F238E27FC236}">
                <a16:creationId xmlns:a16="http://schemas.microsoft.com/office/drawing/2014/main" id="{030A819D-85C9-4164-B88D-DD24CB805F47}"/>
              </a:ext>
            </a:extLst>
          </p:cNvPr>
          <p:cNvSpPr>
            <a:spLocks/>
          </p:cNvSpPr>
          <p:nvPr/>
        </p:nvSpPr>
        <p:spPr bwMode="auto">
          <a:xfrm rot="5400000" flipH="1" flipV="1">
            <a:off x="5071868" y="3669438"/>
            <a:ext cx="1199010" cy="168684"/>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Text Box 21">
            <a:extLst>
              <a:ext uri="{FF2B5EF4-FFF2-40B4-BE49-F238E27FC236}">
                <a16:creationId xmlns:a16="http://schemas.microsoft.com/office/drawing/2014/main" id="{58C4D45F-B8AF-4019-9594-CB3C996B6DE2}"/>
              </a:ext>
            </a:extLst>
          </p:cNvPr>
          <p:cNvSpPr txBox="1">
            <a:spLocks noChangeArrowheads="1"/>
          </p:cNvSpPr>
          <p:nvPr/>
        </p:nvSpPr>
        <p:spPr bwMode="auto">
          <a:xfrm>
            <a:off x="3365500" y="5508538"/>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sndpkt = make_pkt(1, data, checksum)</a:t>
            </a:r>
          </a:p>
          <a:p>
            <a:pPr algn="l"/>
            <a:r>
              <a:rPr lang="en-US" altLang="zh-CN">
                <a:latin typeface="Arial" panose="020B0604020202020204" pitchFamily="34" charset="0"/>
              </a:rPr>
              <a:t>udt_send(sndpkt)</a:t>
            </a:r>
            <a:endParaRPr lang="en-US" altLang="zh-CN">
              <a:latin typeface="Times New Roman" panose="02020603050405020304" pitchFamily="18" charset="0"/>
            </a:endParaRPr>
          </a:p>
        </p:txBody>
      </p:sp>
      <p:sp>
        <p:nvSpPr>
          <p:cNvPr id="27" name="Text Box 22">
            <a:extLst>
              <a:ext uri="{FF2B5EF4-FFF2-40B4-BE49-F238E27FC236}">
                <a16:creationId xmlns:a16="http://schemas.microsoft.com/office/drawing/2014/main" id="{CB7387A4-FEE6-402E-9A8F-794859BF84E7}"/>
              </a:ext>
            </a:extLst>
          </p:cNvPr>
          <p:cNvSpPr txBox="1">
            <a:spLocks noChangeArrowheads="1"/>
          </p:cNvSpPr>
          <p:nvPr/>
        </p:nvSpPr>
        <p:spPr bwMode="auto">
          <a:xfrm>
            <a:off x="3397087" y="5171045"/>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dirty="0" err="1">
                <a:latin typeface="Arial" panose="020B0604020202020204" pitchFamily="34" charset="0"/>
              </a:rPr>
              <a:t>rdt_send</a:t>
            </a:r>
            <a:r>
              <a:rPr lang="en-US" altLang="zh-CN" dirty="0">
                <a:latin typeface="Arial" panose="020B0604020202020204" pitchFamily="34" charset="0"/>
              </a:rPr>
              <a:t>(data)</a:t>
            </a:r>
            <a:endParaRPr lang="en-US" altLang="zh-CN" dirty="0">
              <a:latin typeface="Times New Roman" panose="02020603050405020304" pitchFamily="18" charset="0"/>
            </a:endParaRPr>
          </a:p>
        </p:txBody>
      </p:sp>
      <p:sp>
        <p:nvSpPr>
          <p:cNvPr id="28" name="Line 23">
            <a:extLst>
              <a:ext uri="{FF2B5EF4-FFF2-40B4-BE49-F238E27FC236}">
                <a16:creationId xmlns:a16="http://schemas.microsoft.com/office/drawing/2014/main" id="{1C12FBD0-AA70-4D72-8BE2-2148861E5C53}"/>
              </a:ext>
            </a:extLst>
          </p:cNvPr>
          <p:cNvSpPr>
            <a:spLocks noChangeShapeType="1"/>
          </p:cNvSpPr>
          <p:nvPr/>
        </p:nvSpPr>
        <p:spPr bwMode="auto">
          <a:xfrm>
            <a:off x="3482975" y="5522825"/>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24">
            <a:extLst>
              <a:ext uri="{FF2B5EF4-FFF2-40B4-BE49-F238E27FC236}">
                <a16:creationId xmlns:a16="http://schemas.microsoft.com/office/drawing/2014/main" id="{799E0322-3C3E-46D1-BDB3-A04D1863A7EC}"/>
              </a:ext>
            </a:extLst>
          </p:cNvPr>
          <p:cNvSpPr txBox="1">
            <a:spLocks noChangeArrowheads="1"/>
          </p:cNvSpPr>
          <p:nvPr/>
        </p:nvSpPr>
        <p:spPr bwMode="auto">
          <a:xfrm>
            <a:off x="5692775" y="3317788"/>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t>
            </a:r>
          </a:p>
          <a:p>
            <a:pPr algn="l"/>
            <a:r>
              <a:rPr lang="en-US" altLang="zh-CN">
                <a:latin typeface="Arial" panose="020B0604020202020204" pitchFamily="34" charset="0"/>
              </a:rPr>
              <a:t>&amp;&amp; notcorrupt(rcvpkt) </a:t>
            </a:r>
          </a:p>
          <a:p>
            <a:pPr algn="l"/>
            <a:r>
              <a:rPr lang="en-US" altLang="zh-CN">
                <a:latin typeface="Arial" panose="020B0604020202020204" pitchFamily="34" charset="0"/>
              </a:rPr>
              <a:t>&amp;&amp; isACK(rcvpkt) </a:t>
            </a:r>
          </a:p>
        </p:txBody>
      </p:sp>
      <p:sp>
        <p:nvSpPr>
          <p:cNvPr id="30" name="Line 25">
            <a:extLst>
              <a:ext uri="{FF2B5EF4-FFF2-40B4-BE49-F238E27FC236}">
                <a16:creationId xmlns:a16="http://schemas.microsoft.com/office/drawing/2014/main" id="{7C17A77B-1EAB-4463-AB5B-3EA0B84A5EBE}"/>
              </a:ext>
            </a:extLst>
          </p:cNvPr>
          <p:cNvSpPr>
            <a:spLocks noChangeShapeType="1"/>
          </p:cNvSpPr>
          <p:nvPr/>
        </p:nvSpPr>
        <p:spPr bwMode="auto">
          <a:xfrm>
            <a:off x="5821363" y="4129000"/>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26">
            <a:extLst>
              <a:ext uri="{FF2B5EF4-FFF2-40B4-BE49-F238E27FC236}">
                <a16:creationId xmlns:a16="http://schemas.microsoft.com/office/drawing/2014/main" id="{0939146E-7A57-4C7D-BDD7-9B1366FA97C9}"/>
              </a:ext>
            </a:extLst>
          </p:cNvPr>
          <p:cNvSpPr txBox="1">
            <a:spLocks noChangeArrowheads="1"/>
          </p:cNvSpPr>
          <p:nvPr/>
        </p:nvSpPr>
        <p:spPr bwMode="auto">
          <a:xfrm>
            <a:off x="720725" y="5579975"/>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udt_send(sndpkt)</a:t>
            </a:r>
            <a:endParaRPr lang="en-US" altLang="zh-CN">
              <a:latin typeface="Times New Roman" panose="02020603050405020304" pitchFamily="18" charset="0"/>
            </a:endParaRPr>
          </a:p>
        </p:txBody>
      </p:sp>
      <p:sp>
        <p:nvSpPr>
          <p:cNvPr id="32" name="Text Box 27">
            <a:extLst>
              <a:ext uri="{FF2B5EF4-FFF2-40B4-BE49-F238E27FC236}">
                <a16:creationId xmlns:a16="http://schemas.microsoft.com/office/drawing/2014/main" id="{E13EC906-0AA8-420D-9FCB-9D536FEB00DB}"/>
              </a:ext>
            </a:extLst>
          </p:cNvPr>
          <p:cNvSpPr txBox="1">
            <a:spLocks noChangeArrowheads="1"/>
          </p:cNvSpPr>
          <p:nvPr/>
        </p:nvSpPr>
        <p:spPr bwMode="auto">
          <a:xfrm>
            <a:off x="695325" y="4762413"/>
            <a:ext cx="20113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&amp;&amp;  </a:t>
            </a:r>
          </a:p>
          <a:p>
            <a:pPr algn="l"/>
            <a:r>
              <a:rPr lang="en-US" altLang="zh-CN">
                <a:latin typeface="Arial" panose="020B0604020202020204" pitchFamily="34" charset="0"/>
              </a:rPr>
              <a:t>( corrupt(rcvpkt) ||</a:t>
            </a:r>
          </a:p>
          <a:p>
            <a:pPr algn="l"/>
            <a:r>
              <a:rPr lang="en-US" altLang="zh-CN">
                <a:latin typeface="Arial" panose="020B0604020202020204" pitchFamily="34" charset="0"/>
              </a:rPr>
              <a:t>isNAK(rcvpkt) )</a:t>
            </a:r>
            <a:endParaRPr lang="en-US" altLang="zh-CN">
              <a:latin typeface="Times New Roman" panose="02020603050405020304" pitchFamily="18" charset="0"/>
            </a:endParaRPr>
          </a:p>
        </p:txBody>
      </p:sp>
      <p:sp>
        <p:nvSpPr>
          <p:cNvPr id="33" name="Line 28">
            <a:extLst>
              <a:ext uri="{FF2B5EF4-FFF2-40B4-BE49-F238E27FC236}">
                <a16:creationId xmlns:a16="http://schemas.microsoft.com/office/drawing/2014/main" id="{462ECF0C-8E3E-4C83-B852-18FA3417D9E3}"/>
              </a:ext>
            </a:extLst>
          </p:cNvPr>
          <p:cNvSpPr>
            <a:spLocks noChangeShapeType="1"/>
          </p:cNvSpPr>
          <p:nvPr/>
        </p:nvSpPr>
        <p:spPr bwMode="auto">
          <a:xfrm>
            <a:off x="811213" y="5587913"/>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Text Box 29">
            <a:extLst>
              <a:ext uri="{FF2B5EF4-FFF2-40B4-BE49-F238E27FC236}">
                <a16:creationId xmlns:a16="http://schemas.microsoft.com/office/drawing/2014/main" id="{73AFDD94-9F67-49C9-A49C-1540B129B437}"/>
              </a:ext>
            </a:extLst>
          </p:cNvPr>
          <p:cNvSpPr txBox="1">
            <a:spLocks noChangeArrowheads="1"/>
          </p:cNvSpPr>
          <p:nvPr/>
        </p:nvSpPr>
        <p:spPr bwMode="auto">
          <a:xfrm>
            <a:off x="638175" y="3160625"/>
            <a:ext cx="21097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a:latin typeface="Arial" panose="020B0604020202020204" pitchFamily="34" charset="0"/>
              </a:rPr>
              <a:t>rdt_rcv(rcvpkt)   </a:t>
            </a:r>
          </a:p>
          <a:p>
            <a:pPr algn="l"/>
            <a:r>
              <a:rPr lang="en-US" altLang="zh-CN">
                <a:latin typeface="Arial" panose="020B0604020202020204" pitchFamily="34" charset="0"/>
              </a:rPr>
              <a:t>&amp;&amp; notcorrupt(rcvpkt) </a:t>
            </a:r>
          </a:p>
          <a:p>
            <a:pPr algn="l"/>
            <a:r>
              <a:rPr lang="en-US" altLang="zh-CN">
                <a:latin typeface="Arial" panose="020B0604020202020204" pitchFamily="34" charset="0"/>
              </a:rPr>
              <a:t>&amp;&amp; isACK(rcvpkt)</a:t>
            </a:r>
            <a:r>
              <a:rPr lang="en-US" altLang="zh-CN" sz="1000">
                <a:latin typeface="Arial" panose="020B0604020202020204" pitchFamily="34" charset="0"/>
              </a:rPr>
              <a:t> </a:t>
            </a:r>
            <a:endParaRPr lang="en-US" altLang="zh-CN" sz="2400">
              <a:latin typeface="Times New Roman" panose="02020603050405020304" pitchFamily="18" charset="0"/>
            </a:endParaRPr>
          </a:p>
        </p:txBody>
      </p:sp>
      <p:sp>
        <p:nvSpPr>
          <p:cNvPr id="35" name="Line 30">
            <a:extLst>
              <a:ext uri="{FF2B5EF4-FFF2-40B4-BE49-F238E27FC236}">
                <a16:creationId xmlns:a16="http://schemas.microsoft.com/office/drawing/2014/main" id="{259C8FB8-0864-4A4E-8BE9-593C531BC863}"/>
              </a:ext>
            </a:extLst>
          </p:cNvPr>
          <p:cNvSpPr>
            <a:spLocks noChangeShapeType="1"/>
          </p:cNvSpPr>
          <p:nvPr/>
        </p:nvSpPr>
        <p:spPr bwMode="auto">
          <a:xfrm>
            <a:off x="782638" y="3998825"/>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Oval 32">
            <a:extLst>
              <a:ext uri="{FF2B5EF4-FFF2-40B4-BE49-F238E27FC236}">
                <a16:creationId xmlns:a16="http://schemas.microsoft.com/office/drawing/2014/main" id="{75A61EDF-7B04-45C1-95B3-48F6105FE6A8}"/>
              </a:ext>
            </a:extLst>
          </p:cNvPr>
          <p:cNvSpPr>
            <a:spLocks noChangeArrowheads="1"/>
          </p:cNvSpPr>
          <p:nvPr/>
        </p:nvSpPr>
        <p:spPr bwMode="auto">
          <a:xfrm>
            <a:off x="4989517" y="4344900"/>
            <a:ext cx="900113" cy="823913"/>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40" name="Oval 35">
            <a:extLst>
              <a:ext uri="{FF2B5EF4-FFF2-40B4-BE49-F238E27FC236}">
                <a16:creationId xmlns:a16="http://schemas.microsoft.com/office/drawing/2014/main" id="{B4AD8766-DD6A-4DC7-B89E-F51CCAFEEE1C}"/>
              </a:ext>
            </a:extLst>
          </p:cNvPr>
          <p:cNvSpPr>
            <a:spLocks noChangeArrowheads="1"/>
          </p:cNvSpPr>
          <p:nvPr/>
        </p:nvSpPr>
        <p:spPr bwMode="auto">
          <a:xfrm>
            <a:off x="2728913" y="4290925"/>
            <a:ext cx="900113" cy="823913"/>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42" name="Text Box 37">
            <a:extLst>
              <a:ext uri="{FF2B5EF4-FFF2-40B4-BE49-F238E27FC236}">
                <a16:creationId xmlns:a16="http://schemas.microsoft.com/office/drawing/2014/main" id="{91AF076D-7751-4AC9-AF55-4265685F5532}"/>
              </a:ext>
            </a:extLst>
          </p:cNvPr>
          <p:cNvSpPr txBox="1">
            <a:spLocks noChangeArrowheads="1"/>
          </p:cNvSpPr>
          <p:nvPr/>
        </p:nvSpPr>
        <p:spPr bwMode="auto">
          <a:xfrm>
            <a:off x="6203950" y="4138525"/>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43" name="Text Box 38">
            <a:extLst>
              <a:ext uri="{FF2B5EF4-FFF2-40B4-BE49-F238E27FC236}">
                <a16:creationId xmlns:a16="http://schemas.microsoft.com/office/drawing/2014/main" id="{51264A07-50B8-47E9-81C2-F0B36B72076A}"/>
              </a:ext>
            </a:extLst>
          </p:cNvPr>
          <p:cNvSpPr txBox="1">
            <a:spLocks noChangeArrowheads="1"/>
          </p:cNvSpPr>
          <p:nvPr/>
        </p:nvSpPr>
        <p:spPr bwMode="auto">
          <a:xfrm>
            <a:off x="1354138" y="4013113"/>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4" name="Text Box 5">
            <a:extLst>
              <a:ext uri="{FF2B5EF4-FFF2-40B4-BE49-F238E27FC236}">
                <a16:creationId xmlns:a16="http://schemas.microsoft.com/office/drawing/2014/main" id="{E71EB152-7982-4C32-9FE7-7F8A72BC05DD}"/>
              </a:ext>
            </a:extLst>
          </p:cNvPr>
          <p:cNvSpPr txBox="1">
            <a:spLocks noChangeArrowheads="1"/>
          </p:cNvSpPr>
          <p:nvPr/>
        </p:nvSpPr>
        <p:spPr bwMode="auto">
          <a:xfrm>
            <a:off x="2864645" y="2539544"/>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0</a:t>
            </a:r>
          </a:p>
        </p:txBody>
      </p:sp>
      <p:sp>
        <p:nvSpPr>
          <p:cNvPr id="5" name="Text Box 5">
            <a:extLst>
              <a:ext uri="{FF2B5EF4-FFF2-40B4-BE49-F238E27FC236}">
                <a16:creationId xmlns:a16="http://schemas.microsoft.com/office/drawing/2014/main" id="{365CA983-A802-4EC2-9339-66E37F4C71CD}"/>
              </a:ext>
            </a:extLst>
          </p:cNvPr>
          <p:cNvSpPr txBox="1">
            <a:spLocks noChangeArrowheads="1"/>
          </p:cNvSpPr>
          <p:nvPr/>
        </p:nvSpPr>
        <p:spPr bwMode="auto">
          <a:xfrm>
            <a:off x="4800837" y="2472259"/>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NAK0</a:t>
            </a:r>
          </a:p>
        </p:txBody>
      </p:sp>
      <p:sp>
        <p:nvSpPr>
          <p:cNvPr id="46" name="Text Box 5">
            <a:extLst>
              <a:ext uri="{FF2B5EF4-FFF2-40B4-BE49-F238E27FC236}">
                <a16:creationId xmlns:a16="http://schemas.microsoft.com/office/drawing/2014/main" id="{5235D53E-9BCA-45D7-BC7D-70525F5F203F}"/>
              </a:ext>
            </a:extLst>
          </p:cNvPr>
          <p:cNvSpPr txBox="1">
            <a:spLocks noChangeArrowheads="1"/>
          </p:cNvSpPr>
          <p:nvPr/>
        </p:nvSpPr>
        <p:spPr bwMode="auto">
          <a:xfrm>
            <a:off x="2710808" y="4332200"/>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NAK1</a:t>
            </a:r>
          </a:p>
        </p:txBody>
      </p:sp>
      <p:sp>
        <p:nvSpPr>
          <p:cNvPr id="48" name="Text Box 5">
            <a:extLst>
              <a:ext uri="{FF2B5EF4-FFF2-40B4-BE49-F238E27FC236}">
                <a16:creationId xmlns:a16="http://schemas.microsoft.com/office/drawing/2014/main" id="{167460B7-DD65-485D-983A-419FD17182B3}"/>
              </a:ext>
            </a:extLst>
          </p:cNvPr>
          <p:cNvSpPr txBox="1">
            <a:spLocks noChangeArrowheads="1"/>
          </p:cNvSpPr>
          <p:nvPr/>
        </p:nvSpPr>
        <p:spPr bwMode="auto">
          <a:xfrm>
            <a:off x="4997733" y="4422319"/>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1</a:t>
            </a:r>
          </a:p>
        </p:txBody>
      </p:sp>
    </p:spTree>
    <p:extLst>
      <p:ext uri="{BB962C8B-B14F-4D97-AF65-F5344CB8AC3E}">
        <p14:creationId xmlns:p14="http://schemas.microsoft.com/office/powerpoint/2010/main" val="875843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5">
            <a:extLst>
              <a:ext uri="{FF2B5EF4-FFF2-40B4-BE49-F238E27FC236}">
                <a16:creationId xmlns:a16="http://schemas.microsoft.com/office/drawing/2014/main" id="{12635C2E-D042-48D0-97B5-BBCFE48030A3}"/>
              </a:ext>
            </a:extLst>
          </p:cNvPr>
          <p:cNvSpPr>
            <a:spLocks noChangeArrowheads="1"/>
          </p:cNvSpPr>
          <p:nvPr/>
        </p:nvSpPr>
        <p:spPr bwMode="auto">
          <a:xfrm>
            <a:off x="4804750" y="3410077"/>
            <a:ext cx="768733" cy="772672"/>
          </a:xfrm>
          <a:prstGeom prst="ellipse">
            <a:avLst/>
          </a:prstGeom>
          <a:solidFill>
            <a:schemeClr val="accent6"/>
          </a:solidFill>
          <a:ln w="19050">
            <a:noFill/>
            <a:round/>
            <a:headEnd/>
            <a:tailEnd/>
          </a:ln>
        </p:spPr>
        <p:txBody>
          <a:bodyPr wrap="none" anchor="ctr"/>
          <a:lstStyle/>
          <a:p>
            <a:endParaRPr lang="zh-CN" altLang="en-US"/>
          </a:p>
        </p:txBody>
      </p:sp>
      <p:sp>
        <p:nvSpPr>
          <p:cNvPr id="7" name="Oval 5">
            <a:extLst>
              <a:ext uri="{FF2B5EF4-FFF2-40B4-BE49-F238E27FC236}">
                <a16:creationId xmlns:a16="http://schemas.microsoft.com/office/drawing/2014/main" id="{F30BDC13-4B67-4C8E-BDA1-B5CD0AFEA93E}"/>
              </a:ext>
            </a:extLst>
          </p:cNvPr>
          <p:cNvSpPr>
            <a:spLocks noChangeArrowheads="1"/>
          </p:cNvSpPr>
          <p:nvPr/>
        </p:nvSpPr>
        <p:spPr bwMode="auto">
          <a:xfrm>
            <a:off x="3089293" y="3373178"/>
            <a:ext cx="768733" cy="772672"/>
          </a:xfrm>
          <a:prstGeom prst="ellipse">
            <a:avLst/>
          </a:prstGeom>
          <a:solidFill>
            <a:schemeClr val="accent6"/>
          </a:solidFill>
          <a:ln w="19050">
            <a:noFill/>
            <a:round/>
            <a:headEnd/>
            <a:tailEnd/>
          </a:ln>
        </p:spPr>
        <p:txBody>
          <a:bodyPr wrap="none" anchor="ctr"/>
          <a:lstStyle/>
          <a:p>
            <a:endParaRPr lang="zh-CN" altLang="en-US"/>
          </a:p>
        </p:txBody>
      </p:sp>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rdt2.1</a:t>
            </a:r>
            <a:r>
              <a:rPr lang="zh-CN" altLang="en-US" sz="2800" b="1" dirty="0">
                <a:latin typeface="Arial" charset="0"/>
                <a:ea typeface="宋体" pitchFamily="2" charset="-122"/>
              </a:rPr>
              <a:t>：接收端状态机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44" name="Oval 4">
            <a:extLst>
              <a:ext uri="{FF2B5EF4-FFF2-40B4-BE49-F238E27FC236}">
                <a16:creationId xmlns:a16="http://schemas.microsoft.com/office/drawing/2014/main" id="{82DC6F81-86E3-4390-8378-E9B049CD7882}"/>
              </a:ext>
            </a:extLst>
          </p:cNvPr>
          <p:cNvSpPr>
            <a:spLocks noChangeArrowheads="1"/>
          </p:cNvSpPr>
          <p:nvPr/>
        </p:nvSpPr>
        <p:spPr bwMode="auto">
          <a:xfrm>
            <a:off x="3038474" y="3396550"/>
            <a:ext cx="777875" cy="7953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47" name="Line 6">
            <a:extLst>
              <a:ext uri="{FF2B5EF4-FFF2-40B4-BE49-F238E27FC236}">
                <a16:creationId xmlns:a16="http://schemas.microsoft.com/office/drawing/2014/main" id="{EE7B607A-E3BF-4C99-A713-B8DDAD756108}"/>
              </a:ext>
            </a:extLst>
          </p:cNvPr>
          <p:cNvSpPr>
            <a:spLocks noChangeShapeType="1"/>
          </p:cNvSpPr>
          <p:nvPr/>
        </p:nvSpPr>
        <p:spPr bwMode="auto">
          <a:xfrm>
            <a:off x="2874963" y="2326575"/>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Freeform 7">
            <a:extLst>
              <a:ext uri="{FF2B5EF4-FFF2-40B4-BE49-F238E27FC236}">
                <a16:creationId xmlns:a16="http://schemas.microsoft.com/office/drawing/2014/main" id="{EF544F40-D5BE-4522-A67F-702A053FE903}"/>
              </a:ext>
            </a:extLst>
          </p:cNvPr>
          <p:cNvSpPr>
            <a:spLocks/>
          </p:cNvSpPr>
          <p:nvPr/>
        </p:nvSpPr>
        <p:spPr bwMode="auto">
          <a:xfrm flipV="1">
            <a:off x="3556000" y="2644075"/>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Text Box 8">
            <a:extLst>
              <a:ext uri="{FF2B5EF4-FFF2-40B4-BE49-F238E27FC236}">
                <a16:creationId xmlns:a16="http://schemas.microsoft.com/office/drawing/2014/main" id="{4FA18139-F4FC-475F-ADE4-C1EF345EB0C2}"/>
              </a:ext>
            </a:extLst>
          </p:cNvPr>
          <p:cNvSpPr txBox="1">
            <a:spLocks noChangeArrowheads="1"/>
          </p:cNvSpPr>
          <p:nvPr/>
        </p:nvSpPr>
        <p:spPr bwMode="auto">
          <a:xfrm>
            <a:off x="6116638" y="3002850"/>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sndpkt = make_pkt(NAK, chksum)</a:t>
            </a:r>
          </a:p>
          <a:p>
            <a:pPr algn="l"/>
            <a:r>
              <a:rPr lang="en-US" altLang="zh-CN" sz="1400">
                <a:latin typeface="Arial" panose="020B0604020202020204" pitchFamily="34" charset="0"/>
              </a:rPr>
              <a:t>udt_send(sndpkt)</a:t>
            </a:r>
            <a:endParaRPr lang="en-US" altLang="zh-CN" sz="1400">
              <a:latin typeface="Times New Roman" panose="02020603050405020304" pitchFamily="18" charset="0"/>
            </a:endParaRPr>
          </a:p>
        </p:txBody>
      </p:sp>
      <p:sp>
        <p:nvSpPr>
          <p:cNvPr id="53" name="Text Box 9">
            <a:extLst>
              <a:ext uri="{FF2B5EF4-FFF2-40B4-BE49-F238E27FC236}">
                <a16:creationId xmlns:a16="http://schemas.microsoft.com/office/drawing/2014/main" id="{60170EDB-5F6D-4556-BEB6-23DAB41573C4}"/>
              </a:ext>
            </a:extLst>
          </p:cNvPr>
          <p:cNvSpPr txBox="1">
            <a:spLocks noChangeArrowheads="1"/>
          </p:cNvSpPr>
          <p:nvPr/>
        </p:nvSpPr>
        <p:spPr bwMode="auto">
          <a:xfrm>
            <a:off x="6119813" y="3715638"/>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&amp;&amp; </a:t>
            </a:r>
          </a:p>
          <a:p>
            <a:pPr algn="l"/>
            <a:r>
              <a:rPr lang="en-US" altLang="zh-CN" sz="1400">
                <a:latin typeface="Arial" panose="020B0604020202020204" pitchFamily="34" charset="0"/>
              </a:rPr>
              <a:t>   not corrupt(rcvpkt) &amp;&amp;</a:t>
            </a:r>
          </a:p>
          <a:p>
            <a:pPr algn="l"/>
            <a:r>
              <a:rPr lang="en-US" altLang="zh-CN" sz="1400">
                <a:latin typeface="Arial" panose="020B0604020202020204" pitchFamily="34" charset="0"/>
              </a:rPr>
              <a:t>   has_seq0(rcvpkt)</a:t>
            </a:r>
          </a:p>
          <a:p>
            <a:endParaRPr lang="en-US" altLang="zh-CN">
              <a:latin typeface="Times New Roman" panose="02020603050405020304" pitchFamily="18" charset="0"/>
            </a:endParaRPr>
          </a:p>
        </p:txBody>
      </p:sp>
      <p:sp>
        <p:nvSpPr>
          <p:cNvPr id="55" name="Line 10">
            <a:extLst>
              <a:ext uri="{FF2B5EF4-FFF2-40B4-BE49-F238E27FC236}">
                <a16:creationId xmlns:a16="http://schemas.microsoft.com/office/drawing/2014/main" id="{17BF21F3-419E-426A-9AB4-D289466B1337}"/>
              </a:ext>
            </a:extLst>
          </p:cNvPr>
          <p:cNvSpPr>
            <a:spLocks noChangeShapeType="1"/>
          </p:cNvSpPr>
          <p:nvPr/>
        </p:nvSpPr>
        <p:spPr bwMode="auto">
          <a:xfrm>
            <a:off x="6203950" y="4414138"/>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Freeform 11">
            <a:extLst>
              <a:ext uri="{FF2B5EF4-FFF2-40B4-BE49-F238E27FC236}">
                <a16:creationId xmlns:a16="http://schemas.microsoft.com/office/drawing/2014/main" id="{22581E7E-85D7-4CB8-AAD4-27D8C258D678}"/>
              </a:ext>
            </a:extLst>
          </p:cNvPr>
          <p:cNvSpPr>
            <a:spLocks/>
          </p:cNvSpPr>
          <p:nvPr/>
        </p:nvSpPr>
        <p:spPr bwMode="auto">
          <a:xfrm>
            <a:off x="3573463" y="4212525"/>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Text Box 12">
            <a:extLst>
              <a:ext uri="{FF2B5EF4-FFF2-40B4-BE49-F238E27FC236}">
                <a16:creationId xmlns:a16="http://schemas.microsoft.com/office/drawing/2014/main" id="{8C340FCB-4263-424C-A61E-AF72E9C71CC2}"/>
              </a:ext>
            </a:extLst>
          </p:cNvPr>
          <p:cNvSpPr txBox="1">
            <a:spLocks noChangeArrowheads="1"/>
          </p:cNvSpPr>
          <p:nvPr/>
        </p:nvSpPr>
        <p:spPr bwMode="auto">
          <a:xfrm>
            <a:off x="2962275" y="4793550"/>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&amp;&amp; notcorrupt(rcvpkt) </a:t>
            </a:r>
          </a:p>
          <a:p>
            <a:pPr algn="l"/>
            <a:r>
              <a:rPr lang="en-US" altLang="zh-CN" sz="1400">
                <a:latin typeface="Arial" panose="020B0604020202020204" pitchFamily="34" charset="0"/>
              </a:rPr>
              <a:t>  &amp;&amp; has_seq1(rcvpkt)</a:t>
            </a:r>
            <a:r>
              <a:rPr lang="en-US" altLang="zh-CN">
                <a:latin typeface="Arial" panose="020B0604020202020204" pitchFamily="34" charset="0"/>
              </a:rPr>
              <a:t> </a:t>
            </a:r>
            <a:endParaRPr lang="en-US" altLang="zh-CN">
              <a:latin typeface="Times New Roman" panose="02020603050405020304" pitchFamily="18" charset="0"/>
            </a:endParaRPr>
          </a:p>
        </p:txBody>
      </p:sp>
      <p:sp>
        <p:nvSpPr>
          <p:cNvPr id="59" name="Line 13">
            <a:extLst>
              <a:ext uri="{FF2B5EF4-FFF2-40B4-BE49-F238E27FC236}">
                <a16:creationId xmlns:a16="http://schemas.microsoft.com/office/drawing/2014/main" id="{3DDF5F23-CA9B-40FE-9EEA-94A6C0AC815B}"/>
              </a:ext>
            </a:extLst>
          </p:cNvPr>
          <p:cNvSpPr>
            <a:spLocks noChangeShapeType="1"/>
          </p:cNvSpPr>
          <p:nvPr/>
        </p:nvSpPr>
        <p:spPr bwMode="auto">
          <a:xfrm>
            <a:off x="3028950" y="5350763"/>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Text Box 14">
            <a:extLst>
              <a:ext uri="{FF2B5EF4-FFF2-40B4-BE49-F238E27FC236}">
                <a16:creationId xmlns:a16="http://schemas.microsoft.com/office/drawing/2014/main" id="{FB6071AA-E902-4E94-9CD6-3203AC0A06D6}"/>
              </a:ext>
            </a:extLst>
          </p:cNvPr>
          <p:cNvSpPr txBox="1">
            <a:spLocks noChangeArrowheads="1"/>
          </p:cNvSpPr>
          <p:nvPr/>
        </p:nvSpPr>
        <p:spPr bwMode="auto">
          <a:xfrm>
            <a:off x="2962275" y="5336477"/>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extract(</a:t>
            </a:r>
            <a:r>
              <a:rPr lang="en-US" altLang="zh-CN" sz="1400" dirty="0" err="1">
                <a:latin typeface="Arial" panose="020B0604020202020204" pitchFamily="34" charset="0"/>
              </a:rPr>
              <a:t>rcvpkt,data</a:t>
            </a:r>
            <a:r>
              <a:rPr lang="en-US" altLang="zh-CN" sz="1400" dirty="0">
                <a:latin typeface="Arial" panose="020B0604020202020204" pitchFamily="34" charset="0"/>
              </a:rPr>
              <a:t>)</a:t>
            </a:r>
          </a:p>
          <a:p>
            <a:pPr algn="l"/>
            <a:r>
              <a:rPr lang="en-US" altLang="zh-CN" sz="1400" dirty="0" err="1">
                <a:latin typeface="Arial" panose="020B0604020202020204" pitchFamily="34" charset="0"/>
              </a:rPr>
              <a:t>deliver_data</a:t>
            </a:r>
            <a:r>
              <a:rPr lang="en-US" altLang="zh-CN" sz="1400" dirty="0">
                <a:latin typeface="Arial" panose="020B0604020202020204" pitchFamily="34" charset="0"/>
              </a:rPr>
              <a:t>(data)</a:t>
            </a:r>
          </a:p>
          <a:p>
            <a:pPr algn="l"/>
            <a:r>
              <a:rPr lang="en-US" altLang="zh-CN" sz="1400" dirty="0" err="1">
                <a:latin typeface="Arial" panose="020B0604020202020204" pitchFamily="34" charset="0"/>
              </a:rPr>
              <a:t>sndpkt</a:t>
            </a:r>
            <a:r>
              <a:rPr lang="en-US" altLang="zh-CN" sz="1400" dirty="0">
                <a:latin typeface="Arial" panose="020B0604020202020204" pitchFamily="34" charset="0"/>
              </a:rPr>
              <a:t> = </a:t>
            </a:r>
            <a:r>
              <a:rPr lang="en-US" altLang="zh-CN" sz="1400" dirty="0" err="1">
                <a:latin typeface="Arial" panose="020B0604020202020204" pitchFamily="34" charset="0"/>
              </a:rPr>
              <a:t>make_pkt</a:t>
            </a:r>
            <a:r>
              <a:rPr lang="en-US" altLang="zh-CN" sz="1400" dirty="0">
                <a:latin typeface="Arial" panose="020B0604020202020204" pitchFamily="34" charset="0"/>
              </a:rPr>
              <a:t>(ACK, </a:t>
            </a:r>
            <a:r>
              <a:rPr lang="en-US" altLang="zh-CN" sz="1400" dirty="0" err="1">
                <a:latin typeface="Arial" panose="020B0604020202020204" pitchFamily="34" charset="0"/>
              </a:rPr>
              <a:t>chksum</a:t>
            </a:r>
            <a:r>
              <a:rPr lang="en-US" altLang="zh-CN" sz="1400" dirty="0">
                <a:latin typeface="Arial" panose="020B0604020202020204" pitchFamily="34" charset="0"/>
              </a:rPr>
              <a:t>)</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62" name="Oval 16">
            <a:extLst>
              <a:ext uri="{FF2B5EF4-FFF2-40B4-BE49-F238E27FC236}">
                <a16:creationId xmlns:a16="http://schemas.microsoft.com/office/drawing/2014/main" id="{E1A9CE2D-5C29-421B-B892-D969358D23CC}"/>
              </a:ext>
            </a:extLst>
          </p:cNvPr>
          <p:cNvSpPr>
            <a:spLocks noChangeArrowheads="1"/>
          </p:cNvSpPr>
          <p:nvPr/>
        </p:nvSpPr>
        <p:spPr bwMode="auto">
          <a:xfrm>
            <a:off x="4737104" y="3431475"/>
            <a:ext cx="804863" cy="7969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4" name="Freeform 18">
            <a:extLst>
              <a:ext uri="{FF2B5EF4-FFF2-40B4-BE49-F238E27FC236}">
                <a16:creationId xmlns:a16="http://schemas.microsoft.com/office/drawing/2014/main" id="{C62C12F8-D0CE-455B-9D06-E9418622A00C}"/>
              </a:ext>
            </a:extLst>
          </p:cNvPr>
          <p:cNvSpPr>
            <a:spLocks/>
          </p:cNvSpPr>
          <p:nvPr/>
        </p:nvSpPr>
        <p:spPr bwMode="auto">
          <a:xfrm rot="20238987">
            <a:off x="5437188" y="3023488"/>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Text Box 19">
            <a:extLst>
              <a:ext uri="{FF2B5EF4-FFF2-40B4-BE49-F238E27FC236}">
                <a16:creationId xmlns:a16="http://schemas.microsoft.com/office/drawing/2014/main" id="{440CC393-5CEA-4FD3-BECD-7C9FF5CD8853}"/>
              </a:ext>
            </a:extLst>
          </p:cNvPr>
          <p:cNvSpPr txBox="1">
            <a:spLocks noChangeArrowheads="1"/>
          </p:cNvSpPr>
          <p:nvPr/>
        </p:nvSpPr>
        <p:spPr bwMode="auto">
          <a:xfrm>
            <a:off x="3124200" y="1328038"/>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&amp;&amp; notcorrupt(rcvpkt) </a:t>
            </a:r>
          </a:p>
          <a:p>
            <a:pPr algn="l"/>
            <a:r>
              <a:rPr lang="en-US" altLang="zh-CN" sz="1400">
                <a:latin typeface="Arial" panose="020B0604020202020204" pitchFamily="34" charset="0"/>
              </a:rPr>
              <a:t>  &amp;&amp; has_seq0(rcvpkt) </a:t>
            </a:r>
            <a:endParaRPr lang="en-US" altLang="zh-CN" sz="1400">
              <a:latin typeface="Times New Roman" panose="02020603050405020304" pitchFamily="18" charset="0"/>
            </a:endParaRPr>
          </a:p>
        </p:txBody>
      </p:sp>
      <p:sp>
        <p:nvSpPr>
          <p:cNvPr id="66" name="Line 20">
            <a:extLst>
              <a:ext uri="{FF2B5EF4-FFF2-40B4-BE49-F238E27FC236}">
                <a16:creationId xmlns:a16="http://schemas.microsoft.com/office/drawing/2014/main" id="{7092C9E0-8348-4BCB-B615-1E70E4528AF9}"/>
              </a:ext>
            </a:extLst>
          </p:cNvPr>
          <p:cNvSpPr>
            <a:spLocks noChangeShapeType="1"/>
          </p:cNvSpPr>
          <p:nvPr/>
        </p:nvSpPr>
        <p:spPr bwMode="auto">
          <a:xfrm>
            <a:off x="3233738" y="1897950"/>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Text Box 21">
            <a:extLst>
              <a:ext uri="{FF2B5EF4-FFF2-40B4-BE49-F238E27FC236}">
                <a16:creationId xmlns:a16="http://schemas.microsoft.com/office/drawing/2014/main" id="{7AE68EB1-1C43-42D2-B3A6-B8B8C4A2D817}"/>
              </a:ext>
            </a:extLst>
          </p:cNvPr>
          <p:cNvSpPr txBox="1">
            <a:spLocks noChangeArrowheads="1"/>
          </p:cNvSpPr>
          <p:nvPr/>
        </p:nvSpPr>
        <p:spPr bwMode="auto">
          <a:xfrm>
            <a:off x="3136900" y="1855088"/>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extract(rcvpkt,data)</a:t>
            </a:r>
          </a:p>
          <a:p>
            <a:pPr algn="l"/>
            <a:r>
              <a:rPr lang="en-US" altLang="zh-CN" sz="1400">
                <a:latin typeface="Arial" panose="020B0604020202020204" pitchFamily="34" charset="0"/>
              </a:rPr>
              <a:t>deliver_data(data)</a:t>
            </a:r>
          </a:p>
          <a:p>
            <a:pPr algn="l"/>
            <a:r>
              <a:rPr lang="en-US" altLang="zh-CN" sz="1400">
                <a:latin typeface="Arial" panose="020B0604020202020204" pitchFamily="34" charset="0"/>
              </a:rPr>
              <a:t>sndpkt = make_pkt(ACK, chksum)</a:t>
            </a:r>
          </a:p>
          <a:p>
            <a:pPr algn="l"/>
            <a:r>
              <a:rPr lang="en-US" altLang="zh-CN" sz="1400">
                <a:latin typeface="Arial" panose="020B0604020202020204" pitchFamily="34" charset="0"/>
              </a:rPr>
              <a:t>udt_send(sndpkt)</a:t>
            </a:r>
            <a:endParaRPr lang="en-US" altLang="zh-CN" sz="1400">
              <a:latin typeface="Times New Roman" panose="02020603050405020304" pitchFamily="18" charset="0"/>
            </a:endParaRPr>
          </a:p>
        </p:txBody>
      </p:sp>
      <p:sp>
        <p:nvSpPr>
          <p:cNvPr id="68" name="Freeform 22">
            <a:extLst>
              <a:ext uri="{FF2B5EF4-FFF2-40B4-BE49-F238E27FC236}">
                <a16:creationId xmlns:a16="http://schemas.microsoft.com/office/drawing/2014/main" id="{DD0C502B-9128-4F74-A0F3-1E33737017E6}"/>
              </a:ext>
            </a:extLst>
          </p:cNvPr>
          <p:cNvSpPr>
            <a:spLocks/>
          </p:cNvSpPr>
          <p:nvPr/>
        </p:nvSpPr>
        <p:spPr bwMode="auto">
          <a:xfrm rot="1020547">
            <a:off x="5461000" y="3747388"/>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 name="Text Box 23">
            <a:extLst>
              <a:ext uri="{FF2B5EF4-FFF2-40B4-BE49-F238E27FC236}">
                <a16:creationId xmlns:a16="http://schemas.microsoft.com/office/drawing/2014/main" id="{9BE37472-07C8-4B84-83D6-0C55C1868E7B}"/>
              </a:ext>
            </a:extLst>
          </p:cNvPr>
          <p:cNvSpPr txBox="1">
            <a:spLocks noChangeArrowheads="1"/>
          </p:cNvSpPr>
          <p:nvPr/>
        </p:nvSpPr>
        <p:spPr bwMode="auto">
          <a:xfrm>
            <a:off x="6067425" y="2705988"/>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&amp;&amp; (corrupt(rcvpkt)</a:t>
            </a:r>
            <a:endParaRPr lang="en-US" altLang="zh-CN" sz="1400">
              <a:latin typeface="Times New Roman" panose="02020603050405020304" pitchFamily="18" charset="0"/>
            </a:endParaRPr>
          </a:p>
        </p:txBody>
      </p:sp>
      <p:sp>
        <p:nvSpPr>
          <p:cNvPr id="70" name="Line 24">
            <a:extLst>
              <a:ext uri="{FF2B5EF4-FFF2-40B4-BE49-F238E27FC236}">
                <a16:creationId xmlns:a16="http://schemas.microsoft.com/office/drawing/2014/main" id="{12F9B7D4-9472-4148-AE3A-DF933944916F}"/>
              </a:ext>
            </a:extLst>
          </p:cNvPr>
          <p:cNvSpPr>
            <a:spLocks noChangeShapeType="1"/>
          </p:cNvSpPr>
          <p:nvPr/>
        </p:nvSpPr>
        <p:spPr bwMode="auto">
          <a:xfrm>
            <a:off x="6205538" y="3017138"/>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 Box 25">
            <a:extLst>
              <a:ext uri="{FF2B5EF4-FFF2-40B4-BE49-F238E27FC236}">
                <a16:creationId xmlns:a16="http://schemas.microsoft.com/office/drawing/2014/main" id="{EDE6785D-0CBA-46E3-BF5F-B084F3077A73}"/>
              </a:ext>
            </a:extLst>
          </p:cNvPr>
          <p:cNvSpPr txBox="1">
            <a:spLocks noChangeArrowheads="1"/>
          </p:cNvSpPr>
          <p:nvPr/>
        </p:nvSpPr>
        <p:spPr bwMode="auto">
          <a:xfrm>
            <a:off x="6075363" y="4468113"/>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sndpkt</a:t>
            </a:r>
            <a:r>
              <a:rPr lang="en-US" altLang="zh-CN" sz="1400" dirty="0">
                <a:latin typeface="Arial" panose="020B0604020202020204" pitchFamily="34" charset="0"/>
              </a:rPr>
              <a:t> = </a:t>
            </a:r>
            <a:r>
              <a:rPr lang="en-US" altLang="zh-CN" sz="1400" dirty="0" err="1">
                <a:latin typeface="Arial" panose="020B0604020202020204" pitchFamily="34" charset="0"/>
              </a:rPr>
              <a:t>make_pkt</a:t>
            </a:r>
            <a:r>
              <a:rPr lang="en-US" altLang="zh-CN" sz="1400" dirty="0">
                <a:latin typeface="Arial" panose="020B0604020202020204" pitchFamily="34" charset="0"/>
              </a:rPr>
              <a:t>(NAK, </a:t>
            </a:r>
            <a:r>
              <a:rPr lang="en-US" altLang="zh-CN" sz="1400" dirty="0" err="1">
                <a:latin typeface="Arial" panose="020B0604020202020204" pitchFamily="34" charset="0"/>
              </a:rPr>
              <a:t>chksum</a:t>
            </a:r>
            <a:r>
              <a:rPr lang="en-US" altLang="zh-CN" sz="1400" dirty="0">
                <a:latin typeface="Arial" panose="020B0604020202020204" pitchFamily="34" charset="0"/>
              </a:rPr>
              <a:t>)</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72" name="Text Box 26">
            <a:extLst>
              <a:ext uri="{FF2B5EF4-FFF2-40B4-BE49-F238E27FC236}">
                <a16:creationId xmlns:a16="http://schemas.microsoft.com/office/drawing/2014/main" id="{1D329126-4B00-4F5D-A0FF-A62AB29D362B}"/>
              </a:ext>
            </a:extLst>
          </p:cNvPr>
          <p:cNvSpPr txBox="1">
            <a:spLocks noChangeArrowheads="1"/>
          </p:cNvSpPr>
          <p:nvPr/>
        </p:nvSpPr>
        <p:spPr bwMode="auto">
          <a:xfrm>
            <a:off x="193675" y="3695000"/>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&amp;&amp; </a:t>
            </a:r>
          </a:p>
          <a:p>
            <a:pPr algn="l"/>
            <a:r>
              <a:rPr lang="en-US" altLang="zh-CN" sz="1400">
                <a:latin typeface="Arial" panose="020B0604020202020204" pitchFamily="34" charset="0"/>
              </a:rPr>
              <a:t>   not corrupt(rcvpkt) &amp;&amp;</a:t>
            </a:r>
          </a:p>
          <a:p>
            <a:pPr algn="l"/>
            <a:r>
              <a:rPr lang="en-US" altLang="zh-CN" sz="1400">
                <a:latin typeface="Arial" panose="020B0604020202020204" pitchFamily="34" charset="0"/>
              </a:rPr>
              <a:t>   has_seq1(rcvpkt)</a:t>
            </a:r>
          </a:p>
          <a:p>
            <a:endParaRPr lang="en-US" altLang="zh-CN">
              <a:latin typeface="Times New Roman" panose="02020603050405020304" pitchFamily="18" charset="0"/>
            </a:endParaRPr>
          </a:p>
        </p:txBody>
      </p:sp>
      <p:sp>
        <p:nvSpPr>
          <p:cNvPr id="73" name="Line 27">
            <a:extLst>
              <a:ext uri="{FF2B5EF4-FFF2-40B4-BE49-F238E27FC236}">
                <a16:creationId xmlns:a16="http://schemas.microsoft.com/office/drawing/2014/main" id="{92123F5A-75F0-405D-A95F-BAB0CA8E804A}"/>
              </a:ext>
            </a:extLst>
          </p:cNvPr>
          <p:cNvSpPr>
            <a:spLocks noChangeShapeType="1"/>
          </p:cNvSpPr>
          <p:nvPr/>
        </p:nvSpPr>
        <p:spPr bwMode="auto">
          <a:xfrm>
            <a:off x="277813" y="4403025"/>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Text Box 28">
            <a:extLst>
              <a:ext uri="{FF2B5EF4-FFF2-40B4-BE49-F238E27FC236}">
                <a16:creationId xmlns:a16="http://schemas.microsoft.com/office/drawing/2014/main" id="{2B390E24-0D78-4F21-8336-193C6624E76F}"/>
              </a:ext>
            </a:extLst>
          </p:cNvPr>
          <p:cNvSpPr txBox="1">
            <a:spLocks noChangeArrowheads="1"/>
          </p:cNvSpPr>
          <p:nvPr/>
        </p:nvSpPr>
        <p:spPr bwMode="auto">
          <a:xfrm>
            <a:off x="141288" y="2642488"/>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&amp;&amp; (corrupt(</a:t>
            </a:r>
            <a:r>
              <a:rPr lang="en-US" altLang="zh-CN" sz="1400" dirty="0" err="1">
                <a:latin typeface="Arial" panose="020B0604020202020204" pitchFamily="34" charset="0"/>
              </a:rPr>
              <a:t>rcvpkt</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75" name="Line 29">
            <a:extLst>
              <a:ext uri="{FF2B5EF4-FFF2-40B4-BE49-F238E27FC236}">
                <a16:creationId xmlns:a16="http://schemas.microsoft.com/office/drawing/2014/main" id="{68AFCA6F-601D-4E0F-B598-02EDF1B7A51F}"/>
              </a:ext>
            </a:extLst>
          </p:cNvPr>
          <p:cNvSpPr>
            <a:spLocks noChangeShapeType="1"/>
          </p:cNvSpPr>
          <p:nvPr/>
        </p:nvSpPr>
        <p:spPr bwMode="auto">
          <a:xfrm>
            <a:off x="279400" y="3017138"/>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Text Box 30">
            <a:extLst>
              <a:ext uri="{FF2B5EF4-FFF2-40B4-BE49-F238E27FC236}">
                <a16:creationId xmlns:a16="http://schemas.microsoft.com/office/drawing/2014/main" id="{30AB1188-46D1-4F70-9430-74DF4708D002}"/>
              </a:ext>
            </a:extLst>
          </p:cNvPr>
          <p:cNvSpPr txBox="1">
            <a:spLocks noChangeArrowheads="1"/>
          </p:cNvSpPr>
          <p:nvPr/>
        </p:nvSpPr>
        <p:spPr bwMode="auto">
          <a:xfrm>
            <a:off x="225425" y="4425250"/>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sndpkt</a:t>
            </a:r>
            <a:r>
              <a:rPr lang="en-US" altLang="zh-CN" sz="1400" dirty="0">
                <a:latin typeface="Arial" panose="020B0604020202020204" pitchFamily="34" charset="0"/>
              </a:rPr>
              <a:t> = </a:t>
            </a:r>
            <a:r>
              <a:rPr lang="en-US" altLang="zh-CN" sz="1400" dirty="0" err="1">
                <a:latin typeface="Arial" panose="020B0604020202020204" pitchFamily="34" charset="0"/>
              </a:rPr>
              <a:t>make_pkt</a:t>
            </a:r>
            <a:r>
              <a:rPr lang="en-US" altLang="zh-CN" sz="1400" dirty="0">
                <a:latin typeface="Arial" panose="020B0604020202020204" pitchFamily="34" charset="0"/>
              </a:rPr>
              <a:t>(NAK, </a:t>
            </a:r>
            <a:r>
              <a:rPr lang="en-US" altLang="zh-CN" sz="1400" dirty="0" err="1">
                <a:latin typeface="Arial" panose="020B0604020202020204" pitchFamily="34" charset="0"/>
              </a:rPr>
              <a:t>chksum</a:t>
            </a:r>
            <a:r>
              <a:rPr lang="en-US" altLang="zh-CN" sz="1400" dirty="0">
                <a:latin typeface="Arial" panose="020B0604020202020204" pitchFamily="34" charset="0"/>
              </a:rPr>
              <a:t>)</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77" name="Text Box 31">
            <a:extLst>
              <a:ext uri="{FF2B5EF4-FFF2-40B4-BE49-F238E27FC236}">
                <a16:creationId xmlns:a16="http://schemas.microsoft.com/office/drawing/2014/main" id="{124CB2FC-F08F-4794-AE29-B1C99E6F0A09}"/>
              </a:ext>
            </a:extLst>
          </p:cNvPr>
          <p:cNvSpPr txBox="1">
            <a:spLocks noChangeArrowheads="1"/>
          </p:cNvSpPr>
          <p:nvPr/>
        </p:nvSpPr>
        <p:spPr bwMode="auto">
          <a:xfrm>
            <a:off x="201613" y="2983800"/>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sndpkt = make_pkt(NAK, chksum)</a:t>
            </a:r>
          </a:p>
          <a:p>
            <a:pPr algn="l"/>
            <a:r>
              <a:rPr lang="en-US" altLang="zh-CN" sz="1400">
                <a:latin typeface="Arial" panose="020B0604020202020204" pitchFamily="34" charset="0"/>
              </a:rPr>
              <a:t>udt_send(sndpkt)</a:t>
            </a:r>
            <a:endParaRPr lang="en-US" altLang="zh-CN" sz="1400">
              <a:latin typeface="Times New Roman" panose="02020603050405020304" pitchFamily="18" charset="0"/>
            </a:endParaRPr>
          </a:p>
        </p:txBody>
      </p:sp>
      <p:sp>
        <p:nvSpPr>
          <p:cNvPr id="78" name="Freeform 32">
            <a:extLst>
              <a:ext uri="{FF2B5EF4-FFF2-40B4-BE49-F238E27FC236}">
                <a16:creationId xmlns:a16="http://schemas.microsoft.com/office/drawing/2014/main" id="{186FBCC5-B121-4BEA-BECA-FBF4AFF072C1}"/>
              </a:ext>
            </a:extLst>
          </p:cNvPr>
          <p:cNvSpPr>
            <a:spLocks/>
          </p:cNvSpPr>
          <p:nvPr/>
        </p:nvSpPr>
        <p:spPr bwMode="auto">
          <a:xfrm rot="20579453" flipH="1">
            <a:off x="2235200" y="3683888"/>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Freeform 33">
            <a:extLst>
              <a:ext uri="{FF2B5EF4-FFF2-40B4-BE49-F238E27FC236}">
                <a16:creationId xmlns:a16="http://schemas.microsoft.com/office/drawing/2014/main" id="{E8D56DE4-779F-4B82-BD0D-5B95BC5F0A2A}"/>
              </a:ext>
            </a:extLst>
          </p:cNvPr>
          <p:cNvSpPr>
            <a:spLocks/>
          </p:cNvSpPr>
          <p:nvPr/>
        </p:nvSpPr>
        <p:spPr bwMode="auto">
          <a:xfrm rot="1361013" flipH="1">
            <a:off x="2222500" y="3036188"/>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Text Box 5">
            <a:extLst>
              <a:ext uri="{FF2B5EF4-FFF2-40B4-BE49-F238E27FC236}">
                <a16:creationId xmlns:a16="http://schemas.microsoft.com/office/drawing/2014/main" id="{F321E597-798C-4100-B4E1-6284AA7339E5}"/>
              </a:ext>
            </a:extLst>
          </p:cNvPr>
          <p:cNvSpPr txBox="1">
            <a:spLocks noChangeArrowheads="1"/>
          </p:cNvSpPr>
          <p:nvPr/>
        </p:nvSpPr>
        <p:spPr bwMode="auto">
          <a:xfrm>
            <a:off x="3024400" y="3459072"/>
            <a:ext cx="804863"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等待接收分组</a:t>
            </a:r>
            <a:r>
              <a:rPr lang="en-US" altLang="zh-CN" sz="1400" dirty="0">
                <a:latin typeface="宋体" panose="02010600030101010101" pitchFamily="2" charset="-122"/>
                <a:ea typeface="宋体" panose="02010600030101010101" pitchFamily="2" charset="-122"/>
              </a:rPr>
              <a:t>0</a:t>
            </a:r>
          </a:p>
        </p:txBody>
      </p:sp>
      <p:sp>
        <p:nvSpPr>
          <p:cNvPr id="3" name="Text Box 5">
            <a:extLst>
              <a:ext uri="{FF2B5EF4-FFF2-40B4-BE49-F238E27FC236}">
                <a16:creationId xmlns:a16="http://schemas.microsoft.com/office/drawing/2014/main" id="{AEBDAF01-0BE3-403D-9866-90C4C262EDB5}"/>
              </a:ext>
            </a:extLst>
          </p:cNvPr>
          <p:cNvSpPr txBox="1">
            <a:spLocks noChangeArrowheads="1"/>
          </p:cNvSpPr>
          <p:nvPr/>
        </p:nvSpPr>
        <p:spPr bwMode="auto">
          <a:xfrm>
            <a:off x="4765204" y="3459071"/>
            <a:ext cx="750513"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等待接收分组</a:t>
            </a:r>
            <a:r>
              <a:rPr lang="en-US" altLang="zh-CN" sz="1400" dirty="0">
                <a:latin typeface="宋体" panose="02010600030101010101" pitchFamily="2" charset="-122"/>
                <a:ea typeface="宋体" panose="02010600030101010101" pitchFamily="2" charset="-122"/>
              </a:rPr>
              <a:t>1</a:t>
            </a:r>
          </a:p>
        </p:txBody>
      </p:sp>
    </p:spTree>
    <p:extLst>
      <p:ext uri="{BB962C8B-B14F-4D97-AF65-F5344CB8AC3E}">
        <p14:creationId xmlns:p14="http://schemas.microsoft.com/office/powerpoint/2010/main" val="309566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73211"/>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rdt2.2</a:t>
            </a:r>
            <a:r>
              <a:rPr lang="zh-CN" altLang="en-US" sz="2800" b="1" dirty="0">
                <a:latin typeface="Arial" charset="0"/>
                <a:ea typeface="宋体" pitchFamily="2" charset="-122"/>
              </a:rPr>
              <a:t>：</a:t>
            </a:r>
            <a:r>
              <a:rPr lang="zh-CN" altLang="en-US" sz="2800" dirty="0">
                <a:latin typeface="Arial" charset="0"/>
                <a:ea typeface="宋体" pitchFamily="2" charset="-122"/>
              </a:rPr>
              <a:t>对</a:t>
            </a:r>
            <a:r>
              <a:rPr lang="en-US" altLang="zh-CN" sz="2800" dirty="0">
                <a:latin typeface="Arial" charset="0"/>
                <a:ea typeface="宋体" pitchFamily="2" charset="-122"/>
              </a:rPr>
              <a:t>rdt2.1</a:t>
            </a:r>
            <a:r>
              <a:rPr lang="zh-CN" altLang="en-US" sz="2800" dirty="0">
                <a:latin typeface="Arial" charset="0"/>
                <a:ea typeface="宋体" pitchFamily="2" charset="-122"/>
              </a:rPr>
              <a:t>的改进</a:t>
            </a:r>
            <a:r>
              <a:rPr lang="en-US" altLang="zh-CN" sz="2800" dirty="0">
                <a:latin typeface="Arial" charset="0"/>
                <a:ea typeface="宋体" pitchFamily="2" charset="-122"/>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278412" y="1620382"/>
            <a:ext cx="8450862" cy="2778623"/>
          </a:xfrm>
          <a:prstGeom prst="rect">
            <a:avLst/>
          </a:prstGeom>
          <a:noFill/>
          <a:ln w="9525">
            <a:noFill/>
            <a:miter lim="800000"/>
            <a:headEnd/>
            <a:tailEnd/>
          </a:ln>
        </p:spPr>
        <p:txBody>
          <a:bodyPr/>
          <a:lstStyle/>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200" dirty="0">
                <a:latin typeface="Times New Roman" panose="02020603050405020304" pitchFamily="18" charset="0"/>
                <a:ea typeface="宋体" pitchFamily="2" charset="-122"/>
                <a:cs typeface="Times New Roman" panose="02020603050405020304" pitchFamily="18" charset="0"/>
              </a:rPr>
              <a:t>rdt2.1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功能相同，仅使用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，不再使用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NAK</a:t>
            </a:r>
          </a:p>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接收端通过发送对最后正确接收分组的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代替</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NAK</a:t>
            </a:r>
          </a:p>
          <a:p>
            <a:pPr marL="1163638" lvl="2" indent="-249238" eaLnBrk="0" hangingPunct="0">
              <a:lnSpc>
                <a:spcPct val="150000"/>
              </a:lnSpc>
              <a:spcBef>
                <a:spcPts val="600"/>
              </a:spcBef>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中必须携带所确认分组的序号</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发送端接收到重复的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，代表对当前分组的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NAK</a:t>
            </a:r>
          </a:p>
          <a:p>
            <a:pPr marL="1163638" lvl="2" indent="-249238" eaLnBrk="0" hangingPunct="0">
              <a:lnSpc>
                <a:spcPct val="150000"/>
              </a:lnSpc>
              <a:spcBef>
                <a:spcPts val="600"/>
              </a:spcBef>
              <a:buClr>
                <a:srgbClr val="2A09B7"/>
              </a:buClr>
              <a:buFont typeface="Arial" panose="020B0604020202020204" pitchFamily="34" charset="0"/>
              <a:buChar char="•"/>
            </a:pPr>
            <a:r>
              <a:rPr lang="zh-CN" altLang="en-US" sz="2000" dirty="0">
                <a:latin typeface="Arial" charset="0"/>
                <a:ea typeface="宋体" pitchFamily="2" charset="-122"/>
              </a:rPr>
              <a:t>重传当前的分组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96793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rdt2.2</a:t>
            </a:r>
            <a:r>
              <a:rPr lang="zh-CN" altLang="en-US" sz="2800" b="1" dirty="0">
                <a:latin typeface="Arial" charset="0"/>
                <a:ea typeface="宋体" pitchFamily="2" charset="-122"/>
              </a:rPr>
              <a:t>：发送端状态机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5" name="Oval 41">
            <a:extLst>
              <a:ext uri="{FF2B5EF4-FFF2-40B4-BE49-F238E27FC236}">
                <a16:creationId xmlns:a16="http://schemas.microsoft.com/office/drawing/2014/main" id="{0397ABFC-96BC-48D5-AEAB-A524F9C1D387}"/>
              </a:ext>
            </a:extLst>
          </p:cNvPr>
          <p:cNvSpPr>
            <a:spLocks noChangeArrowheads="1"/>
          </p:cNvSpPr>
          <p:nvPr/>
        </p:nvSpPr>
        <p:spPr bwMode="auto">
          <a:xfrm>
            <a:off x="5195230" y="2470150"/>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8" name="Oval 38">
            <a:extLst>
              <a:ext uri="{FF2B5EF4-FFF2-40B4-BE49-F238E27FC236}">
                <a16:creationId xmlns:a16="http://schemas.microsoft.com/office/drawing/2014/main" id="{FF6E6151-DA7C-4010-B6C7-D1BBB8AF055C}"/>
              </a:ext>
            </a:extLst>
          </p:cNvPr>
          <p:cNvSpPr>
            <a:spLocks noChangeArrowheads="1"/>
          </p:cNvSpPr>
          <p:nvPr/>
        </p:nvSpPr>
        <p:spPr bwMode="auto">
          <a:xfrm>
            <a:off x="2833030" y="2463800"/>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10" name="Oval 4">
            <a:extLst>
              <a:ext uri="{FF2B5EF4-FFF2-40B4-BE49-F238E27FC236}">
                <a16:creationId xmlns:a16="http://schemas.microsoft.com/office/drawing/2014/main" id="{F83906D2-F9E2-44CA-B5AC-7A870E860227}"/>
              </a:ext>
            </a:extLst>
          </p:cNvPr>
          <p:cNvSpPr>
            <a:spLocks noChangeArrowheads="1"/>
          </p:cNvSpPr>
          <p:nvPr/>
        </p:nvSpPr>
        <p:spPr bwMode="auto">
          <a:xfrm>
            <a:off x="2769530" y="2479675"/>
            <a:ext cx="917575" cy="838200"/>
          </a:xfrm>
          <a:prstGeom prst="ellipse">
            <a:avLst/>
          </a:prstGeom>
          <a:solidFill>
            <a:srgbClr val="FFFFFF"/>
          </a:solidFill>
          <a:ln w="19050">
            <a:solidFill>
              <a:srgbClr val="000000"/>
            </a:solidFill>
            <a:round/>
            <a:headEnd/>
            <a:tailEnd/>
          </a:ln>
        </p:spPr>
        <p:txBody>
          <a:bodyPr/>
          <a:lstStyle/>
          <a:p>
            <a:endParaRPr lang="zh-CN" altLang="en-US"/>
          </a:p>
        </p:txBody>
      </p:sp>
      <p:sp>
        <p:nvSpPr>
          <p:cNvPr id="12" name="Text Box 6">
            <a:extLst>
              <a:ext uri="{FF2B5EF4-FFF2-40B4-BE49-F238E27FC236}">
                <a16:creationId xmlns:a16="http://schemas.microsoft.com/office/drawing/2014/main" id="{0FFAD76C-EA30-4440-BA11-CE10F0D3CB6A}"/>
              </a:ext>
            </a:extLst>
          </p:cNvPr>
          <p:cNvSpPr txBox="1">
            <a:spLocks noChangeArrowheads="1"/>
          </p:cNvSpPr>
          <p:nvPr/>
        </p:nvSpPr>
        <p:spPr bwMode="auto">
          <a:xfrm>
            <a:off x="3039405" y="1635125"/>
            <a:ext cx="3627437" cy="5778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a:latin typeface="Arial" charset="0"/>
                <a:ea typeface="宋体" pitchFamily="2" charset="-122"/>
              </a:rPr>
              <a:t>compute </a:t>
            </a:r>
            <a:r>
              <a:rPr kumimoji="0" lang="en-US" altLang="zh-CN" sz="1600" dirty="0" err="1">
                <a:latin typeface="Arial" charset="0"/>
                <a:ea typeface="宋体" pitchFamily="2" charset="-122"/>
              </a:rPr>
              <a:t>chksum</a:t>
            </a:r>
            <a:endParaRPr kumimoji="0" lang="en-US" altLang="zh-CN" sz="1600" dirty="0">
              <a:latin typeface="Arial" charset="0"/>
              <a:ea typeface="宋体" pitchFamily="2" charset="-122"/>
            </a:endParaRPr>
          </a:p>
          <a:p>
            <a:pPr eaLnBrk="0" hangingPunct="0">
              <a:lnSpc>
                <a:spcPct val="100000"/>
              </a:lnSpc>
              <a:spcBef>
                <a:spcPct val="0"/>
              </a:spcBef>
              <a:buClrTx/>
              <a:buFontTx/>
              <a:buNone/>
            </a:pPr>
            <a:r>
              <a:rPr kumimoji="0" lang="en-US" altLang="zh-CN" sz="1600" dirty="0" err="1">
                <a:latin typeface="Arial" charset="0"/>
                <a:ea typeface="宋体" pitchFamily="2" charset="-122"/>
              </a:rPr>
              <a:t>make_pkt</a:t>
            </a:r>
            <a:r>
              <a:rPr kumimoji="0" lang="en-US" altLang="zh-CN" sz="1600" dirty="0">
                <a:latin typeface="Arial" charset="0"/>
                <a:ea typeface="宋体" pitchFamily="2" charset="-122"/>
              </a:rPr>
              <a:t> = (</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 0, data, </a:t>
            </a:r>
            <a:r>
              <a:rPr kumimoji="0" lang="en-US" altLang="zh-CN" sz="1600" dirty="0" err="1">
                <a:latin typeface="Arial" charset="0"/>
                <a:ea typeface="宋体" pitchFamily="2" charset="-122"/>
              </a:rPr>
              <a:t>chksum</a:t>
            </a:r>
            <a:r>
              <a:rPr kumimoji="0" lang="en-US" altLang="zh-CN" sz="1600" dirty="0">
                <a:latin typeface="Arial" charset="0"/>
                <a:ea typeface="宋体" pitchFamily="2" charset="-122"/>
              </a:rPr>
              <a:t>)</a:t>
            </a:r>
          </a:p>
          <a:p>
            <a:pPr eaLnBrk="0" hangingPunct="0">
              <a:lnSpc>
                <a:spcPct val="100000"/>
              </a:lnSpc>
              <a:spcBef>
                <a:spcPct val="0"/>
              </a:spcBef>
              <a:buClrTx/>
              <a:buFontTx/>
              <a:buNone/>
            </a:pPr>
            <a:r>
              <a:rPr kumimoji="0" lang="en-US" altLang="zh-CN" sz="1600" dirty="0" err="1">
                <a:latin typeface="Arial" charset="0"/>
                <a:ea typeface="宋体" pitchFamily="2" charset="-122"/>
              </a:rPr>
              <a:t>udt_send</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a:t>
            </a:r>
          </a:p>
        </p:txBody>
      </p:sp>
      <p:sp>
        <p:nvSpPr>
          <p:cNvPr id="13" name="Text Box 7">
            <a:extLst>
              <a:ext uri="{FF2B5EF4-FFF2-40B4-BE49-F238E27FC236}">
                <a16:creationId xmlns:a16="http://schemas.microsoft.com/office/drawing/2014/main" id="{D2900B92-4C43-47C0-852B-CBA75BAD3A25}"/>
              </a:ext>
            </a:extLst>
          </p:cNvPr>
          <p:cNvSpPr txBox="1">
            <a:spLocks noChangeArrowheads="1"/>
          </p:cNvSpPr>
          <p:nvPr/>
        </p:nvSpPr>
        <p:spPr bwMode="auto">
          <a:xfrm>
            <a:off x="3052105" y="1354138"/>
            <a:ext cx="1724025" cy="2857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rdt_send(data)</a:t>
            </a:r>
            <a:endParaRPr kumimoji="0" lang="en-US" altLang="zh-CN" sz="1600">
              <a:latin typeface="Times New Roman" pitchFamily="18" charset="0"/>
              <a:ea typeface="宋体" pitchFamily="2" charset="-122"/>
            </a:endParaRPr>
          </a:p>
        </p:txBody>
      </p:sp>
      <p:sp>
        <p:nvSpPr>
          <p:cNvPr id="14" name="Line 8">
            <a:extLst>
              <a:ext uri="{FF2B5EF4-FFF2-40B4-BE49-F238E27FC236}">
                <a16:creationId xmlns:a16="http://schemas.microsoft.com/office/drawing/2014/main" id="{A7CD1989-98A2-49C8-A6C3-0356E68549E1}"/>
              </a:ext>
            </a:extLst>
          </p:cNvPr>
          <p:cNvSpPr>
            <a:spLocks noChangeShapeType="1"/>
          </p:cNvSpPr>
          <p:nvPr/>
        </p:nvSpPr>
        <p:spPr bwMode="auto">
          <a:xfrm>
            <a:off x="3114017" y="1697038"/>
            <a:ext cx="3552825" cy="0"/>
          </a:xfrm>
          <a:prstGeom prst="line">
            <a:avLst/>
          </a:prstGeom>
          <a:noFill/>
          <a:ln w="28575">
            <a:solidFill>
              <a:srgbClr val="000000"/>
            </a:solidFill>
            <a:round/>
            <a:headEnd/>
            <a:tailEnd/>
          </a:ln>
        </p:spPr>
        <p:txBody>
          <a:bodyPr/>
          <a:lstStyle/>
          <a:p>
            <a:endParaRPr lang="zh-CN" altLang="en-US"/>
          </a:p>
        </p:txBody>
      </p:sp>
      <p:sp>
        <p:nvSpPr>
          <p:cNvPr id="15" name="Line 9">
            <a:extLst>
              <a:ext uri="{FF2B5EF4-FFF2-40B4-BE49-F238E27FC236}">
                <a16:creationId xmlns:a16="http://schemas.microsoft.com/office/drawing/2014/main" id="{4B2A1FAF-4961-47E1-AADF-BF6F2088FAA5}"/>
              </a:ext>
            </a:extLst>
          </p:cNvPr>
          <p:cNvSpPr>
            <a:spLocks noChangeShapeType="1"/>
          </p:cNvSpPr>
          <p:nvPr/>
        </p:nvSpPr>
        <p:spPr bwMode="auto">
          <a:xfrm>
            <a:off x="2509180" y="2343150"/>
            <a:ext cx="419100" cy="230188"/>
          </a:xfrm>
          <a:prstGeom prst="line">
            <a:avLst/>
          </a:prstGeom>
          <a:noFill/>
          <a:ln w="19050">
            <a:solidFill>
              <a:srgbClr val="000000"/>
            </a:solidFill>
            <a:prstDash val="dash"/>
            <a:round/>
            <a:headEnd/>
            <a:tailEnd type="triangle" w="med" len="med"/>
          </a:ln>
        </p:spPr>
        <p:txBody>
          <a:bodyPr/>
          <a:lstStyle/>
          <a:p>
            <a:endParaRPr lang="zh-CN" altLang="en-US"/>
          </a:p>
        </p:txBody>
      </p:sp>
      <p:sp>
        <p:nvSpPr>
          <p:cNvPr id="16" name="Freeform 10">
            <a:extLst>
              <a:ext uri="{FF2B5EF4-FFF2-40B4-BE49-F238E27FC236}">
                <a16:creationId xmlns:a16="http://schemas.microsoft.com/office/drawing/2014/main" id="{3339E1F4-8D74-4626-ADED-A78F91F88C74}"/>
              </a:ext>
            </a:extLst>
          </p:cNvPr>
          <p:cNvSpPr>
            <a:spLocks/>
          </p:cNvSpPr>
          <p:nvPr/>
        </p:nvSpPr>
        <p:spPr bwMode="auto">
          <a:xfrm flipV="1">
            <a:off x="3523592" y="2355850"/>
            <a:ext cx="1825625" cy="188913"/>
          </a:xfrm>
          <a:custGeom>
            <a:avLst/>
            <a:gdLst>
              <a:gd name="T0" fmla="*/ 0 w 2835"/>
              <a:gd name="T1" fmla="*/ 0 h 525"/>
              <a:gd name="T2" fmla="*/ 2147483647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p:spPr>
        <p:txBody>
          <a:bodyPr/>
          <a:lstStyle/>
          <a:p>
            <a:endParaRPr lang="zh-CN" altLang="en-US"/>
          </a:p>
        </p:txBody>
      </p:sp>
      <p:sp>
        <p:nvSpPr>
          <p:cNvPr id="17" name="Freeform 11">
            <a:extLst>
              <a:ext uri="{FF2B5EF4-FFF2-40B4-BE49-F238E27FC236}">
                <a16:creationId xmlns:a16="http://schemas.microsoft.com/office/drawing/2014/main" id="{F13677F1-64B5-4DA4-A0EE-452E9C09C3F7}"/>
              </a:ext>
            </a:extLst>
          </p:cNvPr>
          <p:cNvSpPr>
            <a:spLocks/>
          </p:cNvSpPr>
          <p:nvPr/>
        </p:nvSpPr>
        <p:spPr bwMode="auto">
          <a:xfrm rot="-1357180">
            <a:off x="5981042" y="2252663"/>
            <a:ext cx="452438" cy="860425"/>
          </a:xfrm>
          <a:custGeom>
            <a:avLst/>
            <a:gdLst>
              <a:gd name="T0" fmla="*/ 0 w 735"/>
              <a:gd name="T1" fmla="*/ 2147483647 h 1080"/>
              <a:gd name="T2" fmla="*/ 0 w 735"/>
              <a:gd name="T3" fmla="*/ 2147483647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p:spPr>
        <p:txBody>
          <a:bodyPr/>
          <a:lstStyle/>
          <a:p>
            <a:endParaRPr lang="zh-CN" altLang="en-US"/>
          </a:p>
        </p:txBody>
      </p:sp>
      <p:sp>
        <p:nvSpPr>
          <p:cNvPr id="18" name="Text Box 12">
            <a:extLst>
              <a:ext uri="{FF2B5EF4-FFF2-40B4-BE49-F238E27FC236}">
                <a16:creationId xmlns:a16="http://schemas.microsoft.com/office/drawing/2014/main" id="{3D4F38AE-A55C-4B5F-A4CA-B47821D3BFED}"/>
              </a:ext>
            </a:extLst>
          </p:cNvPr>
          <p:cNvSpPr txBox="1">
            <a:spLocks noChangeArrowheads="1"/>
          </p:cNvSpPr>
          <p:nvPr/>
        </p:nvSpPr>
        <p:spPr bwMode="auto">
          <a:xfrm>
            <a:off x="6396967" y="2962275"/>
            <a:ext cx="2124075" cy="4000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udt_send(sndpkt)</a:t>
            </a:r>
            <a:endParaRPr kumimoji="0" lang="en-US" altLang="zh-CN" sz="1600">
              <a:latin typeface="Times New Roman" pitchFamily="18" charset="0"/>
              <a:ea typeface="宋体" pitchFamily="2" charset="-122"/>
            </a:endParaRPr>
          </a:p>
        </p:txBody>
      </p:sp>
      <p:sp>
        <p:nvSpPr>
          <p:cNvPr id="19" name="Text Box 13">
            <a:extLst>
              <a:ext uri="{FF2B5EF4-FFF2-40B4-BE49-F238E27FC236}">
                <a16:creationId xmlns:a16="http://schemas.microsoft.com/office/drawing/2014/main" id="{026B750D-B36C-407D-89A6-73C77A80A5C5}"/>
              </a:ext>
            </a:extLst>
          </p:cNvPr>
          <p:cNvSpPr txBox="1">
            <a:spLocks noChangeArrowheads="1"/>
          </p:cNvSpPr>
          <p:nvPr/>
        </p:nvSpPr>
        <p:spPr bwMode="auto">
          <a:xfrm>
            <a:off x="6300130" y="2225675"/>
            <a:ext cx="2030412" cy="1101726"/>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&amp;&amp;  </a:t>
            </a:r>
          </a:p>
          <a:p>
            <a:pPr eaLnBrk="0" hangingPunct="0">
              <a:lnSpc>
                <a:spcPct val="100000"/>
              </a:lnSpc>
              <a:spcBef>
                <a:spcPct val="0"/>
              </a:spcBef>
              <a:buClrTx/>
              <a:buFontTx/>
              <a:buNone/>
            </a:pPr>
            <a:r>
              <a:rPr kumimoji="0" lang="en-US" altLang="zh-CN" sz="1600" dirty="0">
                <a:latin typeface="Arial" charset="0"/>
                <a:ea typeface="宋体" pitchFamily="2" charset="-122"/>
              </a:rPr>
              <a:t>( corrupt(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  </a:t>
            </a:r>
            <a:r>
              <a:rPr kumimoji="0" lang="en-US" altLang="zh-CN" sz="1600" b="1" dirty="0" err="1">
                <a:solidFill>
                  <a:srgbClr val="FF0000"/>
                </a:solidFill>
                <a:latin typeface="Arial" charset="0"/>
                <a:ea typeface="宋体" pitchFamily="2" charset="-122"/>
              </a:rPr>
              <a:t>isACK</a:t>
            </a:r>
            <a:r>
              <a:rPr kumimoji="0" lang="en-US" altLang="zh-CN" sz="1600" b="1" dirty="0">
                <a:solidFill>
                  <a:srgbClr val="FF0000"/>
                </a:solidFill>
                <a:latin typeface="Arial" charset="0"/>
                <a:ea typeface="宋体" pitchFamily="2" charset="-122"/>
              </a:rPr>
              <a:t>(rcvpkt,1)</a:t>
            </a:r>
            <a:r>
              <a:rPr kumimoji="0" lang="en-US" altLang="zh-CN" sz="1600" dirty="0">
                <a:latin typeface="Arial" charset="0"/>
                <a:ea typeface="宋体" pitchFamily="2" charset="-122"/>
              </a:rPr>
              <a:t> )</a:t>
            </a:r>
            <a:endParaRPr kumimoji="0" lang="en-US" altLang="zh-CN" sz="1600" dirty="0">
              <a:latin typeface="Times New Roman" pitchFamily="18" charset="0"/>
              <a:ea typeface="宋体" pitchFamily="2" charset="-122"/>
            </a:endParaRPr>
          </a:p>
        </p:txBody>
      </p:sp>
      <p:sp>
        <p:nvSpPr>
          <p:cNvPr id="20" name="Line 14">
            <a:extLst>
              <a:ext uri="{FF2B5EF4-FFF2-40B4-BE49-F238E27FC236}">
                <a16:creationId xmlns:a16="http://schemas.microsoft.com/office/drawing/2014/main" id="{833A26A9-D544-4EAF-A98C-4DF7AC831A1A}"/>
              </a:ext>
            </a:extLst>
          </p:cNvPr>
          <p:cNvSpPr>
            <a:spLocks noChangeShapeType="1"/>
          </p:cNvSpPr>
          <p:nvPr/>
        </p:nvSpPr>
        <p:spPr bwMode="auto">
          <a:xfrm flipV="1">
            <a:off x="6500155" y="3028950"/>
            <a:ext cx="1420812" cy="1588"/>
          </a:xfrm>
          <a:prstGeom prst="line">
            <a:avLst/>
          </a:prstGeom>
          <a:noFill/>
          <a:ln w="28575">
            <a:solidFill>
              <a:srgbClr val="000000"/>
            </a:solidFill>
            <a:round/>
            <a:headEnd/>
            <a:tailEnd/>
          </a:ln>
        </p:spPr>
        <p:txBody>
          <a:bodyPr/>
          <a:lstStyle/>
          <a:p>
            <a:endParaRPr lang="zh-CN" altLang="en-US"/>
          </a:p>
        </p:txBody>
      </p:sp>
      <p:sp>
        <p:nvSpPr>
          <p:cNvPr id="21" name="Freeform 15">
            <a:extLst>
              <a:ext uri="{FF2B5EF4-FFF2-40B4-BE49-F238E27FC236}">
                <a16:creationId xmlns:a16="http://schemas.microsoft.com/office/drawing/2014/main" id="{72221FB0-F4E4-4E34-BB74-F805A035277E}"/>
              </a:ext>
            </a:extLst>
          </p:cNvPr>
          <p:cNvSpPr>
            <a:spLocks/>
          </p:cNvSpPr>
          <p:nvPr/>
        </p:nvSpPr>
        <p:spPr bwMode="auto">
          <a:xfrm>
            <a:off x="6030255" y="3152775"/>
            <a:ext cx="203200" cy="1228725"/>
          </a:xfrm>
          <a:custGeom>
            <a:avLst/>
            <a:gdLst>
              <a:gd name="T0" fmla="*/ 2147483647 w 128"/>
              <a:gd name="T1" fmla="*/ 2147483647 h 774"/>
              <a:gd name="T2" fmla="*/ 0 w 128"/>
              <a:gd name="T3" fmla="*/ 0 h 774"/>
              <a:gd name="T4" fmla="*/ 0 60000 65536"/>
              <a:gd name="T5" fmla="*/ 0 60000 65536"/>
              <a:gd name="T6" fmla="*/ 0 w 128"/>
              <a:gd name="T7" fmla="*/ 0 h 774"/>
              <a:gd name="T8" fmla="*/ 128 w 128"/>
              <a:gd name="T9" fmla="*/ 774 h 774"/>
            </a:gdLst>
            <a:ahLst/>
            <a:cxnLst>
              <a:cxn ang="T4">
                <a:pos x="T0" y="T1"/>
              </a:cxn>
              <a:cxn ang="T5">
                <a:pos x="T2" y="T3"/>
              </a:cxn>
            </a:cxnLst>
            <a:rect l="T6" t="T7" r="T8" b="T9"/>
            <a:pathLst>
              <a:path w="128" h="774">
                <a:moveTo>
                  <a:pt x="67" y="774"/>
                </a:moveTo>
                <a:cubicBezTo>
                  <a:pt x="128" y="425"/>
                  <a:pt x="81" y="0"/>
                  <a:pt x="0" y="0"/>
                </a:cubicBezTo>
              </a:path>
            </a:pathLst>
          </a:custGeom>
          <a:noFill/>
          <a:ln w="19050">
            <a:solidFill>
              <a:srgbClr val="000000"/>
            </a:solidFill>
            <a:round/>
            <a:headEnd type="triangle" w="med" len="med"/>
            <a:tailEnd/>
          </a:ln>
        </p:spPr>
        <p:txBody>
          <a:bodyPr/>
          <a:lstStyle/>
          <a:p>
            <a:endParaRPr lang="zh-CN" altLang="en-US"/>
          </a:p>
        </p:txBody>
      </p:sp>
      <p:sp>
        <p:nvSpPr>
          <p:cNvPr id="22" name="Text Box 16">
            <a:extLst>
              <a:ext uri="{FF2B5EF4-FFF2-40B4-BE49-F238E27FC236}">
                <a16:creationId xmlns:a16="http://schemas.microsoft.com/office/drawing/2014/main" id="{24829A37-7C37-40AB-8555-09662A0BA67E}"/>
              </a:ext>
            </a:extLst>
          </p:cNvPr>
          <p:cNvSpPr txBox="1">
            <a:spLocks noChangeArrowheads="1"/>
          </p:cNvSpPr>
          <p:nvPr/>
        </p:nvSpPr>
        <p:spPr bwMode="auto">
          <a:xfrm>
            <a:off x="6174717" y="3563938"/>
            <a:ext cx="2155825" cy="57150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&amp;&amp; </a:t>
            </a:r>
            <a:r>
              <a:rPr kumimoji="0" lang="en-US" altLang="zh-CN" sz="1600" dirty="0" err="1">
                <a:latin typeface="Arial" charset="0"/>
                <a:ea typeface="宋体" pitchFamily="2" charset="-122"/>
              </a:rPr>
              <a:t>notcorrupt</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&amp;&amp; </a:t>
            </a:r>
            <a:r>
              <a:rPr kumimoji="0" lang="en-US" altLang="zh-CN" sz="1600" b="1" dirty="0" err="1">
                <a:solidFill>
                  <a:srgbClr val="FF0000"/>
                </a:solidFill>
                <a:latin typeface="Arial" charset="0"/>
                <a:ea typeface="宋体" pitchFamily="2" charset="-122"/>
              </a:rPr>
              <a:t>isACK</a:t>
            </a:r>
            <a:r>
              <a:rPr kumimoji="0" lang="en-US" altLang="zh-CN" sz="1600" b="1" dirty="0">
                <a:solidFill>
                  <a:srgbClr val="FF0000"/>
                </a:solidFill>
                <a:latin typeface="Arial" charset="0"/>
                <a:ea typeface="宋体" pitchFamily="2" charset="-122"/>
              </a:rPr>
              <a:t>(rcvpkt,0)</a:t>
            </a:r>
            <a:r>
              <a:rPr kumimoji="0" lang="en-US" altLang="zh-CN" sz="1000" dirty="0">
                <a:latin typeface="Arial" charset="0"/>
                <a:ea typeface="宋体" pitchFamily="2" charset="-122"/>
              </a:rPr>
              <a:t> </a:t>
            </a:r>
            <a:endParaRPr kumimoji="0" lang="en-US" altLang="zh-CN" sz="2400" dirty="0">
              <a:latin typeface="Times New Roman" pitchFamily="18" charset="0"/>
              <a:ea typeface="宋体" pitchFamily="2" charset="-122"/>
            </a:endParaRPr>
          </a:p>
        </p:txBody>
      </p:sp>
      <p:sp>
        <p:nvSpPr>
          <p:cNvPr id="23" name="Line 17">
            <a:extLst>
              <a:ext uri="{FF2B5EF4-FFF2-40B4-BE49-F238E27FC236}">
                <a16:creationId xmlns:a16="http://schemas.microsoft.com/office/drawing/2014/main" id="{3E544471-0C38-4EF7-A819-83CA40050454}"/>
              </a:ext>
            </a:extLst>
          </p:cNvPr>
          <p:cNvSpPr>
            <a:spLocks noChangeShapeType="1"/>
          </p:cNvSpPr>
          <p:nvPr/>
        </p:nvSpPr>
        <p:spPr bwMode="auto">
          <a:xfrm>
            <a:off x="6263617" y="4359275"/>
            <a:ext cx="1863725" cy="0"/>
          </a:xfrm>
          <a:prstGeom prst="line">
            <a:avLst/>
          </a:prstGeom>
          <a:noFill/>
          <a:ln w="28575">
            <a:solidFill>
              <a:srgbClr val="000000"/>
            </a:solidFill>
            <a:round/>
            <a:headEnd/>
            <a:tailEnd/>
          </a:ln>
        </p:spPr>
        <p:txBody>
          <a:bodyPr/>
          <a:lstStyle/>
          <a:p>
            <a:endParaRPr lang="zh-CN" altLang="en-US"/>
          </a:p>
        </p:txBody>
      </p:sp>
      <p:sp>
        <p:nvSpPr>
          <p:cNvPr id="25" name="Oval 19">
            <a:extLst>
              <a:ext uri="{FF2B5EF4-FFF2-40B4-BE49-F238E27FC236}">
                <a16:creationId xmlns:a16="http://schemas.microsoft.com/office/drawing/2014/main" id="{20DB1E83-B732-4A9A-B25A-EF7C5F598CAE}"/>
              </a:ext>
            </a:extLst>
          </p:cNvPr>
          <p:cNvSpPr>
            <a:spLocks noChangeArrowheads="1"/>
          </p:cNvSpPr>
          <p:nvPr/>
        </p:nvSpPr>
        <p:spPr bwMode="auto">
          <a:xfrm>
            <a:off x="5125380" y="2474913"/>
            <a:ext cx="917575" cy="838200"/>
          </a:xfrm>
          <a:prstGeom prst="ellipse">
            <a:avLst/>
          </a:prstGeom>
          <a:solidFill>
            <a:srgbClr val="FFFFFF"/>
          </a:solidFill>
          <a:ln w="19050">
            <a:solidFill>
              <a:srgbClr val="000000"/>
            </a:solidFill>
            <a:round/>
            <a:headEnd/>
            <a:tailEnd/>
          </a:ln>
        </p:spPr>
        <p:txBody>
          <a:bodyPr/>
          <a:lstStyle/>
          <a:p>
            <a:endParaRPr lang="zh-CN" altLang="en-US"/>
          </a:p>
        </p:txBody>
      </p:sp>
      <p:sp>
        <p:nvSpPr>
          <p:cNvPr id="27" name="Text Box 21">
            <a:extLst>
              <a:ext uri="{FF2B5EF4-FFF2-40B4-BE49-F238E27FC236}">
                <a16:creationId xmlns:a16="http://schemas.microsoft.com/office/drawing/2014/main" id="{A3F073A8-EC8F-46DE-86A3-C52B0DA99E48}"/>
              </a:ext>
            </a:extLst>
          </p:cNvPr>
          <p:cNvSpPr txBox="1">
            <a:spLocks noChangeArrowheads="1"/>
          </p:cNvSpPr>
          <p:nvPr/>
        </p:nvSpPr>
        <p:spPr bwMode="auto">
          <a:xfrm>
            <a:off x="3847062" y="3582560"/>
            <a:ext cx="1407308" cy="40011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2000" b="1" dirty="0">
                <a:solidFill>
                  <a:schemeClr val="accent2">
                    <a:lumMod val="75000"/>
                  </a:schemeClr>
                </a:solidFill>
                <a:ea typeface="宋体" pitchFamily="2" charset="-122"/>
              </a:rPr>
              <a:t>发送端</a:t>
            </a:r>
            <a:r>
              <a:rPr kumimoji="0" lang="en-US" altLang="zh-CN" sz="2000" b="1" dirty="0">
                <a:solidFill>
                  <a:schemeClr val="accent2">
                    <a:lumMod val="75000"/>
                  </a:schemeClr>
                </a:solidFill>
                <a:ea typeface="宋体" pitchFamily="2" charset="-122"/>
              </a:rPr>
              <a:t>FSM</a:t>
            </a:r>
          </a:p>
        </p:txBody>
      </p:sp>
      <p:sp>
        <p:nvSpPr>
          <p:cNvPr id="28" name="Text Box 36">
            <a:extLst>
              <a:ext uri="{FF2B5EF4-FFF2-40B4-BE49-F238E27FC236}">
                <a16:creationId xmlns:a16="http://schemas.microsoft.com/office/drawing/2014/main" id="{E2437A99-93AF-4AAB-8F42-0397C67F7A33}"/>
              </a:ext>
            </a:extLst>
          </p:cNvPr>
          <p:cNvSpPr txBox="1">
            <a:spLocks noChangeArrowheads="1"/>
          </p:cNvSpPr>
          <p:nvPr/>
        </p:nvSpPr>
        <p:spPr bwMode="auto">
          <a:xfrm>
            <a:off x="6936717" y="4316413"/>
            <a:ext cx="379413" cy="336550"/>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600">
                <a:latin typeface="Symbol" pitchFamily="18" charset="2"/>
                <a:ea typeface="宋体" pitchFamily="2" charset="-122"/>
              </a:rPr>
              <a:t>L</a:t>
            </a:r>
          </a:p>
        </p:txBody>
      </p:sp>
      <p:sp>
        <p:nvSpPr>
          <p:cNvPr id="29" name="Oval 65">
            <a:extLst>
              <a:ext uri="{FF2B5EF4-FFF2-40B4-BE49-F238E27FC236}">
                <a16:creationId xmlns:a16="http://schemas.microsoft.com/office/drawing/2014/main" id="{4C34549B-544E-45B0-BD4E-EF9D15729DFF}"/>
              </a:ext>
            </a:extLst>
          </p:cNvPr>
          <p:cNvSpPr>
            <a:spLocks noChangeArrowheads="1"/>
          </p:cNvSpPr>
          <p:nvPr/>
        </p:nvSpPr>
        <p:spPr bwMode="auto">
          <a:xfrm>
            <a:off x="5417480" y="4292600"/>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30" name="Oval 66">
            <a:extLst>
              <a:ext uri="{FF2B5EF4-FFF2-40B4-BE49-F238E27FC236}">
                <a16:creationId xmlns:a16="http://schemas.microsoft.com/office/drawing/2014/main" id="{2B20E839-230B-4592-8985-61042F35E882}"/>
              </a:ext>
            </a:extLst>
          </p:cNvPr>
          <p:cNvSpPr>
            <a:spLocks noChangeArrowheads="1"/>
          </p:cNvSpPr>
          <p:nvPr/>
        </p:nvSpPr>
        <p:spPr bwMode="auto">
          <a:xfrm>
            <a:off x="3055280" y="4286250"/>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32" name="Oval 68">
            <a:extLst>
              <a:ext uri="{FF2B5EF4-FFF2-40B4-BE49-F238E27FC236}">
                <a16:creationId xmlns:a16="http://schemas.microsoft.com/office/drawing/2014/main" id="{7BE699EB-0E57-4AE9-A2D8-10C5B90A9CD6}"/>
              </a:ext>
            </a:extLst>
          </p:cNvPr>
          <p:cNvSpPr>
            <a:spLocks noChangeArrowheads="1"/>
          </p:cNvSpPr>
          <p:nvPr/>
        </p:nvSpPr>
        <p:spPr bwMode="auto">
          <a:xfrm>
            <a:off x="2991780" y="4302125"/>
            <a:ext cx="917575" cy="838200"/>
          </a:xfrm>
          <a:prstGeom prst="ellipse">
            <a:avLst/>
          </a:prstGeom>
          <a:solidFill>
            <a:srgbClr val="FFFFFF"/>
          </a:solidFill>
          <a:ln w="19050">
            <a:solidFill>
              <a:srgbClr val="000000"/>
            </a:solidFill>
            <a:round/>
            <a:headEnd/>
            <a:tailEnd/>
          </a:ln>
        </p:spPr>
        <p:txBody>
          <a:bodyPr/>
          <a:lstStyle/>
          <a:p>
            <a:endParaRPr lang="zh-CN" altLang="en-US"/>
          </a:p>
        </p:txBody>
      </p:sp>
      <p:sp>
        <p:nvSpPr>
          <p:cNvPr id="34" name="Freeform 71">
            <a:extLst>
              <a:ext uri="{FF2B5EF4-FFF2-40B4-BE49-F238E27FC236}">
                <a16:creationId xmlns:a16="http://schemas.microsoft.com/office/drawing/2014/main" id="{FA71E882-4DF8-4045-A4CF-1E2FC37008BA}"/>
              </a:ext>
            </a:extLst>
          </p:cNvPr>
          <p:cNvSpPr>
            <a:spLocks/>
          </p:cNvSpPr>
          <p:nvPr/>
        </p:nvSpPr>
        <p:spPr bwMode="auto">
          <a:xfrm rot="10800000" flipV="1">
            <a:off x="3696630" y="5089525"/>
            <a:ext cx="1825625" cy="188913"/>
          </a:xfrm>
          <a:custGeom>
            <a:avLst/>
            <a:gdLst>
              <a:gd name="T0" fmla="*/ 0 w 2835"/>
              <a:gd name="T1" fmla="*/ 0 h 525"/>
              <a:gd name="T2" fmla="*/ 2147483647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p:spPr>
        <p:txBody>
          <a:bodyPr/>
          <a:lstStyle/>
          <a:p>
            <a:endParaRPr lang="zh-CN" altLang="en-US"/>
          </a:p>
        </p:txBody>
      </p:sp>
      <p:sp>
        <p:nvSpPr>
          <p:cNvPr id="35" name="Freeform 72">
            <a:extLst>
              <a:ext uri="{FF2B5EF4-FFF2-40B4-BE49-F238E27FC236}">
                <a16:creationId xmlns:a16="http://schemas.microsoft.com/office/drawing/2014/main" id="{EAC89F8B-7837-40CC-86C9-983E5C829803}"/>
              </a:ext>
            </a:extLst>
          </p:cNvPr>
          <p:cNvSpPr>
            <a:spLocks/>
          </p:cNvSpPr>
          <p:nvPr/>
        </p:nvSpPr>
        <p:spPr bwMode="auto">
          <a:xfrm rot="9031426">
            <a:off x="2688567" y="4586288"/>
            <a:ext cx="452438" cy="860425"/>
          </a:xfrm>
          <a:custGeom>
            <a:avLst/>
            <a:gdLst>
              <a:gd name="T0" fmla="*/ 0 w 735"/>
              <a:gd name="T1" fmla="*/ 2147483647 h 1080"/>
              <a:gd name="T2" fmla="*/ 0 w 735"/>
              <a:gd name="T3" fmla="*/ 2147483647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p:spPr>
        <p:txBody>
          <a:bodyPr/>
          <a:lstStyle/>
          <a:p>
            <a:endParaRPr lang="zh-CN" altLang="en-US"/>
          </a:p>
        </p:txBody>
      </p:sp>
      <p:sp>
        <p:nvSpPr>
          <p:cNvPr id="37" name="Oval 74">
            <a:extLst>
              <a:ext uri="{FF2B5EF4-FFF2-40B4-BE49-F238E27FC236}">
                <a16:creationId xmlns:a16="http://schemas.microsoft.com/office/drawing/2014/main" id="{3B340690-196F-4F4E-B800-47F4A8D3E4DB}"/>
              </a:ext>
            </a:extLst>
          </p:cNvPr>
          <p:cNvSpPr>
            <a:spLocks noChangeArrowheads="1"/>
          </p:cNvSpPr>
          <p:nvPr/>
        </p:nvSpPr>
        <p:spPr bwMode="auto">
          <a:xfrm>
            <a:off x="5347630" y="4297363"/>
            <a:ext cx="917575" cy="838200"/>
          </a:xfrm>
          <a:prstGeom prst="ellipse">
            <a:avLst/>
          </a:prstGeom>
          <a:solidFill>
            <a:srgbClr val="FFFFFF"/>
          </a:solidFill>
          <a:ln w="19050">
            <a:solidFill>
              <a:srgbClr val="000000"/>
            </a:solidFill>
            <a:round/>
            <a:headEnd/>
            <a:tailEnd/>
          </a:ln>
        </p:spPr>
        <p:txBody>
          <a:bodyPr/>
          <a:lstStyle/>
          <a:p>
            <a:endParaRPr lang="zh-CN" altLang="en-US"/>
          </a:p>
        </p:txBody>
      </p:sp>
      <p:sp>
        <p:nvSpPr>
          <p:cNvPr id="39" name="Freeform 76">
            <a:extLst>
              <a:ext uri="{FF2B5EF4-FFF2-40B4-BE49-F238E27FC236}">
                <a16:creationId xmlns:a16="http://schemas.microsoft.com/office/drawing/2014/main" id="{0C61DFAD-1F28-4E8D-BDC6-773DD92A44F8}"/>
              </a:ext>
            </a:extLst>
          </p:cNvPr>
          <p:cNvSpPr>
            <a:spLocks/>
          </p:cNvSpPr>
          <p:nvPr/>
        </p:nvSpPr>
        <p:spPr bwMode="auto">
          <a:xfrm rot="10800000">
            <a:off x="2671105" y="3144838"/>
            <a:ext cx="377825" cy="1368425"/>
          </a:xfrm>
          <a:custGeom>
            <a:avLst/>
            <a:gdLst>
              <a:gd name="T0" fmla="*/ 2147483647 w 128"/>
              <a:gd name="T1" fmla="*/ 2147483647 h 774"/>
              <a:gd name="T2" fmla="*/ 0 w 128"/>
              <a:gd name="T3" fmla="*/ 0 h 774"/>
              <a:gd name="T4" fmla="*/ 0 60000 65536"/>
              <a:gd name="T5" fmla="*/ 0 60000 65536"/>
              <a:gd name="T6" fmla="*/ 0 w 128"/>
              <a:gd name="T7" fmla="*/ 0 h 774"/>
              <a:gd name="T8" fmla="*/ 128 w 128"/>
              <a:gd name="T9" fmla="*/ 774 h 774"/>
            </a:gdLst>
            <a:ahLst/>
            <a:cxnLst>
              <a:cxn ang="T4">
                <a:pos x="T0" y="T1"/>
              </a:cxn>
              <a:cxn ang="T5">
                <a:pos x="T2" y="T3"/>
              </a:cxn>
            </a:cxnLst>
            <a:rect l="T6" t="T7" r="T8" b="T9"/>
            <a:pathLst>
              <a:path w="128" h="774">
                <a:moveTo>
                  <a:pt x="67" y="774"/>
                </a:moveTo>
                <a:cubicBezTo>
                  <a:pt x="128" y="425"/>
                  <a:pt x="81" y="0"/>
                  <a:pt x="0" y="0"/>
                </a:cubicBezTo>
              </a:path>
            </a:pathLst>
          </a:custGeom>
          <a:noFill/>
          <a:ln w="19050">
            <a:solidFill>
              <a:srgbClr val="000000"/>
            </a:solidFill>
            <a:round/>
            <a:headEnd type="triangle" w="med" len="med"/>
            <a:tailEnd/>
          </a:ln>
        </p:spPr>
        <p:txBody>
          <a:bodyPr/>
          <a:lstStyle/>
          <a:p>
            <a:endParaRPr lang="zh-CN" altLang="en-US"/>
          </a:p>
        </p:txBody>
      </p:sp>
      <p:sp>
        <p:nvSpPr>
          <p:cNvPr id="40" name="Text Box 77">
            <a:extLst>
              <a:ext uri="{FF2B5EF4-FFF2-40B4-BE49-F238E27FC236}">
                <a16:creationId xmlns:a16="http://schemas.microsoft.com/office/drawing/2014/main" id="{6496E53E-251A-4D74-9BA0-CDF6290E18A3}"/>
              </a:ext>
            </a:extLst>
          </p:cNvPr>
          <p:cNvSpPr txBox="1">
            <a:spLocks noChangeArrowheads="1"/>
          </p:cNvSpPr>
          <p:nvPr/>
        </p:nvSpPr>
        <p:spPr bwMode="auto">
          <a:xfrm>
            <a:off x="3336267" y="5456238"/>
            <a:ext cx="3673475" cy="792162"/>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a:latin typeface="Arial" charset="0"/>
                <a:ea typeface="宋体" pitchFamily="2" charset="-122"/>
              </a:rPr>
              <a:t>compute </a:t>
            </a:r>
            <a:r>
              <a:rPr kumimoji="0" lang="en-US" altLang="zh-CN" sz="1600" dirty="0" err="1">
                <a:latin typeface="Arial" charset="0"/>
                <a:ea typeface="宋体" pitchFamily="2" charset="-122"/>
              </a:rPr>
              <a:t>chksum</a:t>
            </a:r>
            <a:endParaRPr kumimoji="0" lang="en-US" altLang="zh-CN" sz="1600" dirty="0">
              <a:latin typeface="Arial" charset="0"/>
              <a:ea typeface="宋体" pitchFamily="2" charset="-122"/>
            </a:endParaRPr>
          </a:p>
          <a:p>
            <a:pPr eaLnBrk="0" hangingPunct="0">
              <a:lnSpc>
                <a:spcPct val="100000"/>
              </a:lnSpc>
              <a:spcBef>
                <a:spcPct val="0"/>
              </a:spcBef>
              <a:buClrTx/>
              <a:buFontTx/>
              <a:buNone/>
            </a:pPr>
            <a:r>
              <a:rPr kumimoji="0" lang="en-US" altLang="zh-CN" sz="1600" dirty="0" err="1">
                <a:latin typeface="Arial" charset="0"/>
                <a:ea typeface="宋体" pitchFamily="2" charset="-122"/>
              </a:rPr>
              <a:t>make_pkt</a:t>
            </a:r>
            <a:r>
              <a:rPr kumimoji="0" lang="en-US" altLang="zh-CN" sz="1600" dirty="0">
                <a:latin typeface="Arial" charset="0"/>
                <a:ea typeface="宋体" pitchFamily="2" charset="-122"/>
              </a:rPr>
              <a:t> = (</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 1, data, </a:t>
            </a:r>
            <a:r>
              <a:rPr kumimoji="0" lang="en-US" altLang="zh-CN" sz="1600" dirty="0" err="1">
                <a:latin typeface="Arial" charset="0"/>
                <a:ea typeface="宋体" pitchFamily="2" charset="-122"/>
              </a:rPr>
              <a:t>chksum</a:t>
            </a:r>
            <a:r>
              <a:rPr kumimoji="0" lang="en-US" altLang="zh-CN" sz="1600" dirty="0">
                <a:latin typeface="Arial" charset="0"/>
                <a:ea typeface="宋体" pitchFamily="2" charset="-122"/>
              </a:rPr>
              <a:t>)</a:t>
            </a:r>
          </a:p>
          <a:p>
            <a:pPr eaLnBrk="0" hangingPunct="0">
              <a:lnSpc>
                <a:spcPct val="100000"/>
              </a:lnSpc>
              <a:spcBef>
                <a:spcPct val="0"/>
              </a:spcBef>
              <a:buClrTx/>
              <a:buFontTx/>
              <a:buNone/>
            </a:pPr>
            <a:r>
              <a:rPr kumimoji="0" lang="en-US" altLang="zh-CN" sz="1600" dirty="0" err="1">
                <a:latin typeface="Arial" charset="0"/>
                <a:ea typeface="宋体" pitchFamily="2" charset="-122"/>
              </a:rPr>
              <a:t>udt_send</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a:t>
            </a:r>
          </a:p>
        </p:txBody>
      </p:sp>
      <p:sp>
        <p:nvSpPr>
          <p:cNvPr id="41" name="Text Box 78">
            <a:extLst>
              <a:ext uri="{FF2B5EF4-FFF2-40B4-BE49-F238E27FC236}">
                <a16:creationId xmlns:a16="http://schemas.microsoft.com/office/drawing/2014/main" id="{ECA83664-866E-4DA5-8AAA-89504435726F}"/>
              </a:ext>
            </a:extLst>
          </p:cNvPr>
          <p:cNvSpPr txBox="1">
            <a:spLocks noChangeArrowheads="1"/>
          </p:cNvSpPr>
          <p:nvPr/>
        </p:nvSpPr>
        <p:spPr bwMode="auto">
          <a:xfrm>
            <a:off x="3345792" y="5162550"/>
            <a:ext cx="1724025" cy="2857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rdt_send(data)</a:t>
            </a:r>
            <a:endParaRPr kumimoji="0" lang="en-US" altLang="zh-CN" sz="1600">
              <a:latin typeface="Times New Roman" pitchFamily="18" charset="0"/>
              <a:ea typeface="宋体" pitchFamily="2" charset="-122"/>
            </a:endParaRPr>
          </a:p>
        </p:txBody>
      </p:sp>
      <p:sp>
        <p:nvSpPr>
          <p:cNvPr id="42" name="Line 79">
            <a:extLst>
              <a:ext uri="{FF2B5EF4-FFF2-40B4-BE49-F238E27FC236}">
                <a16:creationId xmlns:a16="http://schemas.microsoft.com/office/drawing/2014/main" id="{F4B058DC-EEAD-430F-85EB-0A777003C31A}"/>
              </a:ext>
            </a:extLst>
          </p:cNvPr>
          <p:cNvSpPr>
            <a:spLocks noChangeShapeType="1"/>
          </p:cNvSpPr>
          <p:nvPr/>
        </p:nvSpPr>
        <p:spPr bwMode="auto">
          <a:xfrm>
            <a:off x="3407705" y="5499100"/>
            <a:ext cx="3552825" cy="0"/>
          </a:xfrm>
          <a:prstGeom prst="line">
            <a:avLst/>
          </a:prstGeom>
          <a:noFill/>
          <a:ln w="28575">
            <a:solidFill>
              <a:srgbClr val="000000"/>
            </a:solidFill>
            <a:round/>
            <a:headEnd/>
            <a:tailEnd/>
          </a:ln>
        </p:spPr>
        <p:txBody>
          <a:bodyPr/>
          <a:lstStyle/>
          <a:p>
            <a:endParaRPr lang="zh-CN" altLang="en-US"/>
          </a:p>
        </p:txBody>
      </p:sp>
      <p:sp>
        <p:nvSpPr>
          <p:cNvPr id="43" name="Text Box 80">
            <a:extLst>
              <a:ext uri="{FF2B5EF4-FFF2-40B4-BE49-F238E27FC236}">
                <a16:creationId xmlns:a16="http://schemas.microsoft.com/office/drawing/2014/main" id="{16A975B3-3547-43D3-ACEA-0856E6F1EAB0}"/>
              </a:ext>
            </a:extLst>
          </p:cNvPr>
          <p:cNvSpPr txBox="1">
            <a:spLocks noChangeArrowheads="1"/>
          </p:cNvSpPr>
          <p:nvPr/>
        </p:nvSpPr>
        <p:spPr bwMode="auto">
          <a:xfrm>
            <a:off x="707367" y="3073400"/>
            <a:ext cx="2284413" cy="57150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&amp;&amp; </a:t>
            </a:r>
            <a:r>
              <a:rPr kumimoji="0" lang="en-US" altLang="zh-CN" sz="1600" dirty="0" err="1">
                <a:latin typeface="Arial" charset="0"/>
                <a:ea typeface="宋体" pitchFamily="2" charset="-122"/>
              </a:rPr>
              <a:t>notcorrupt</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&amp;&amp; </a:t>
            </a:r>
            <a:r>
              <a:rPr kumimoji="0" lang="en-US" altLang="zh-CN" sz="1600" b="1" dirty="0" err="1">
                <a:solidFill>
                  <a:srgbClr val="FF0000"/>
                </a:solidFill>
                <a:latin typeface="Arial" charset="0"/>
                <a:ea typeface="宋体" pitchFamily="2" charset="-122"/>
              </a:rPr>
              <a:t>isACK</a:t>
            </a:r>
            <a:r>
              <a:rPr kumimoji="0" lang="en-US" altLang="zh-CN" sz="1600" b="1" dirty="0">
                <a:solidFill>
                  <a:srgbClr val="FF0000"/>
                </a:solidFill>
                <a:latin typeface="Arial" charset="0"/>
                <a:ea typeface="宋体" pitchFamily="2" charset="-122"/>
              </a:rPr>
              <a:t>(rcvpkt,1)</a:t>
            </a:r>
            <a:r>
              <a:rPr kumimoji="0" lang="en-US" altLang="zh-CN" sz="1000" dirty="0">
                <a:latin typeface="Arial" charset="0"/>
                <a:ea typeface="宋体" pitchFamily="2" charset="-122"/>
              </a:rPr>
              <a:t> </a:t>
            </a:r>
            <a:endParaRPr kumimoji="0" lang="en-US" altLang="zh-CN" sz="2400" dirty="0">
              <a:latin typeface="Times New Roman" pitchFamily="18" charset="0"/>
              <a:ea typeface="宋体" pitchFamily="2" charset="-122"/>
            </a:endParaRPr>
          </a:p>
        </p:txBody>
      </p:sp>
      <p:sp>
        <p:nvSpPr>
          <p:cNvPr id="44" name="Line 81">
            <a:extLst>
              <a:ext uri="{FF2B5EF4-FFF2-40B4-BE49-F238E27FC236}">
                <a16:creationId xmlns:a16="http://schemas.microsoft.com/office/drawing/2014/main" id="{962D8360-9C5D-4B70-973A-9C3AAE9E04D5}"/>
              </a:ext>
            </a:extLst>
          </p:cNvPr>
          <p:cNvSpPr>
            <a:spLocks noChangeShapeType="1"/>
          </p:cNvSpPr>
          <p:nvPr/>
        </p:nvSpPr>
        <p:spPr bwMode="auto">
          <a:xfrm>
            <a:off x="796267" y="3868738"/>
            <a:ext cx="1863725" cy="0"/>
          </a:xfrm>
          <a:prstGeom prst="line">
            <a:avLst/>
          </a:prstGeom>
          <a:noFill/>
          <a:ln w="28575">
            <a:solidFill>
              <a:srgbClr val="000000"/>
            </a:solidFill>
            <a:round/>
            <a:headEnd/>
            <a:tailEnd/>
          </a:ln>
        </p:spPr>
        <p:txBody>
          <a:bodyPr/>
          <a:lstStyle/>
          <a:p>
            <a:endParaRPr lang="zh-CN" altLang="en-US"/>
          </a:p>
        </p:txBody>
      </p:sp>
      <p:sp>
        <p:nvSpPr>
          <p:cNvPr id="45" name="Text Box 82">
            <a:extLst>
              <a:ext uri="{FF2B5EF4-FFF2-40B4-BE49-F238E27FC236}">
                <a16:creationId xmlns:a16="http://schemas.microsoft.com/office/drawing/2014/main" id="{F677E493-261B-4694-8708-300A016DC1E9}"/>
              </a:ext>
            </a:extLst>
          </p:cNvPr>
          <p:cNvSpPr txBox="1">
            <a:spLocks noChangeArrowheads="1"/>
          </p:cNvSpPr>
          <p:nvPr/>
        </p:nvSpPr>
        <p:spPr bwMode="auto">
          <a:xfrm>
            <a:off x="1469367" y="3825875"/>
            <a:ext cx="379413" cy="336550"/>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600">
                <a:latin typeface="Symbol" pitchFamily="18" charset="2"/>
                <a:ea typeface="宋体" pitchFamily="2" charset="-122"/>
              </a:rPr>
              <a:t>L</a:t>
            </a:r>
          </a:p>
        </p:txBody>
      </p:sp>
      <p:sp>
        <p:nvSpPr>
          <p:cNvPr id="46" name="Text Box 83">
            <a:extLst>
              <a:ext uri="{FF2B5EF4-FFF2-40B4-BE49-F238E27FC236}">
                <a16:creationId xmlns:a16="http://schemas.microsoft.com/office/drawing/2014/main" id="{24AAA3F0-3FE6-4CF2-B695-739F648F8200}"/>
              </a:ext>
            </a:extLst>
          </p:cNvPr>
          <p:cNvSpPr txBox="1">
            <a:spLocks noChangeArrowheads="1"/>
          </p:cNvSpPr>
          <p:nvPr/>
        </p:nvSpPr>
        <p:spPr bwMode="auto">
          <a:xfrm>
            <a:off x="1032805" y="5335588"/>
            <a:ext cx="2124075" cy="4000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udt_send(sndpkt)</a:t>
            </a:r>
            <a:endParaRPr kumimoji="0" lang="en-US" altLang="zh-CN" sz="1600">
              <a:latin typeface="Times New Roman" pitchFamily="18" charset="0"/>
              <a:ea typeface="宋体" pitchFamily="2" charset="-122"/>
            </a:endParaRPr>
          </a:p>
        </p:txBody>
      </p:sp>
      <p:sp>
        <p:nvSpPr>
          <p:cNvPr id="47" name="Text Box 84">
            <a:extLst>
              <a:ext uri="{FF2B5EF4-FFF2-40B4-BE49-F238E27FC236}">
                <a16:creationId xmlns:a16="http://schemas.microsoft.com/office/drawing/2014/main" id="{2300EAB8-E862-496F-B460-A99A6A3A3E71}"/>
              </a:ext>
            </a:extLst>
          </p:cNvPr>
          <p:cNvSpPr txBox="1">
            <a:spLocks noChangeArrowheads="1"/>
          </p:cNvSpPr>
          <p:nvPr/>
        </p:nvSpPr>
        <p:spPr bwMode="auto">
          <a:xfrm>
            <a:off x="935968" y="4586288"/>
            <a:ext cx="2078038" cy="114935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&amp;&amp;  </a:t>
            </a:r>
          </a:p>
          <a:p>
            <a:pPr eaLnBrk="0" hangingPunct="0">
              <a:lnSpc>
                <a:spcPct val="100000"/>
              </a:lnSpc>
              <a:spcBef>
                <a:spcPct val="0"/>
              </a:spcBef>
              <a:buClrTx/>
              <a:buFontTx/>
              <a:buNone/>
            </a:pPr>
            <a:r>
              <a:rPr kumimoji="0" lang="en-US" altLang="zh-CN" sz="1600" dirty="0">
                <a:latin typeface="Arial" charset="0"/>
                <a:ea typeface="宋体" pitchFamily="2" charset="-122"/>
              </a:rPr>
              <a:t>( corrupt(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  </a:t>
            </a:r>
            <a:r>
              <a:rPr kumimoji="0" lang="en-US" altLang="zh-CN" sz="1600" b="1" dirty="0" err="1">
                <a:solidFill>
                  <a:srgbClr val="FF0000"/>
                </a:solidFill>
                <a:latin typeface="Arial" charset="0"/>
                <a:ea typeface="宋体" pitchFamily="2" charset="-122"/>
              </a:rPr>
              <a:t>isACK</a:t>
            </a:r>
            <a:r>
              <a:rPr kumimoji="0" lang="en-US" altLang="zh-CN" sz="1600" b="1" dirty="0">
                <a:solidFill>
                  <a:srgbClr val="FF0000"/>
                </a:solidFill>
                <a:latin typeface="Arial" charset="0"/>
                <a:ea typeface="宋体" pitchFamily="2" charset="-122"/>
              </a:rPr>
              <a:t>(rcvpkt,0)</a:t>
            </a:r>
            <a:r>
              <a:rPr kumimoji="0" lang="en-US" altLang="zh-CN" sz="1600" dirty="0">
                <a:latin typeface="Arial" charset="0"/>
                <a:ea typeface="宋体" pitchFamily="2" charset="-122"/>
              </a:rPr>
              <a:t> )</a:t>
            </a:r>
            <a:endParaRPr kumimoji="0" lang="en-US" altLang="zh-CN" sz="1600" dirty="0">
              <a:latin typeface="Times New Roman" pitchFamily="18" charset="0"/>
              <a:ea typeface="宋体" pitchFamily="2" charset="-122"/>
            </a:endParaRPr>
          </a:p>
        </p:txBody>
      </p:sp>
      <p:sp>
        <p:nvSpPr>
          <p:cNvPr id="48" name="Line 85">
            <a:extLst>
              <a:ext uri="{FF2B5EF4-FFF2-40B4-BE49-F238E27FC236}">
                <a16:creationId xmlns:a16="http://schemas.microsoft.com/office/drawing/2014/main" id="{668E8CB7-4E89-46E0-8F13-FBF9D50408EC}"/>
              </a:ext>
            </a:extLst>
          </p:cNvPr>
          <p:cNvSpPr>
            <a:spLocks noChangeShapeType="1"/>
          </p:cNvSpPr>
          <p:nvPr/>
        </p:nvSpPr>
        <p:spPr bwMode="auto">
          <a:xfrm flipV="1">
            <a:off x="1135992" y="5383213"/>
            <a:ext cx="1420813" cy="1587"/>
          </a:xfrm>
          <a:prstGeom prst="line">
            <a:avLst/>
          </a:prstGeom>
          <a:noFill/>
          <a:ln w="28575">
            <a:solidFill>
              <a:srgbClr val="000000"/>
            </a:solidFill>
            <a:round/>
            <a:headEnd/>
            <a:tailEnd/>
          </a:ln>
        </p:spPr>
        <p:txBody>
          <a:bodyPr/>
          <a:lstStyle/>
          <a:p>
            <a:endParaRPr lang="zh-CN" altLang="en-US"/>
          </a:p>
        </p:txBody>
      </p:sp>
      <p:sp>
        <p:nvSpPr>
          <p:cNvPr id="2" name="Text Box 5">
            <a:extLst>
              <a:ext uri="{FF2B5EF4-FFF2-40B4-BE49-F238E27FC236}">
                <a16:creationId xmlns:a16="http://schemas.microsoft.com/office/drawing/2014/main" id="{97B75A1B-8604-43C3-8E35-A2F4D1220A76}"/>
              </a:ext>
            </a:extLst>
          </p:cNvPr>
          <p:cNvSpPr txBox="1">
            <a:spLocks noChangeArrowheads="1"/>
          </p:cNvSpPr>
          <p:nvPr/>
        </p:nvSpPr>
        <p:spPr bwMode="auto">
          <a:xfrm>
            <a:off x="2786566" y="2565215"/>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0</a:t>
            </a:r>
          </a:p>
        </p:txBody>
      </p:sp>
      <p:sp>
        <p:nvSpPr>
          <p:cNvPr id="3" name="Text Box 5">
            <a:extLst>
              <a:ext uri="{FF2B5EF4-FFF2-40B4-BE49-F238E27FC236}">
                <a16:creationId xmlns:a16="http://schemas.microsoft.com/office/drawing/2014/main" id="{B7696863-ACF8-4F36-9388-C303AABB2E4D}"/>
              </a:ext>
            </a:extLst>
          </p:cNvPr>
          <p:cNvSpPr txBox="1">
            <a:spLocks noChangeArrowheads="1"/>
          </p:cNvSpPr>
          <p:nvPr/>
        </p:nvSpPr>
        <p:spPr bwMode="auto">
          <a:xfrm>
            <a:off x="5363505" y="4371975"/>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1</a:t>
            </a:r>
          </a:p>
        </p:txBody>
      </p:sp>
      <p:sp>
        <p:nvSpPr>
          <p:cNvPr id="4" name="Text Box 5">
            <a:extLst>
              <a:ext uri="{FF2B5EF4-FFF2-40B4-BE49-F238E27FC236}">
                <a16:creationId xmlns:a16="http://schemas.microsoft.com/office/drawing/2014/main" id="{1EEE7CAA-5AAF-48A2-9276-8AA60562969D}"/>
              </a:ext>
            </a:extLst>
          </p:cNvPr>
          <p:cNvSpPr txBox="1">
            <a:spLocks noChangeArrowheads="1"/>
          </p:cNvSpPr>
          <p:nvPr/>
        </p:nvSpPr>
        <p:spPr bwMode="auto">
          <a:xfrm>
            <a:off x="5160731" y="2619375"/>
            <a:ext cx="850473" cy="60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52" name="Text Box 5">
            <a:extLst>
              <a:ext uri="{FF2B5EF4-FFF2-40B4-BE49-F238E27FC236}">
                <a16:creationId xmlns:a16="http://schemas.microsoft.com/office/drawing/2014/main" id="{3C6074CF-23D9-4E1F-895A-15868B8B45C6}"/>
              </a:ext>
            </a:extLst>
          </p:cNvPr>
          <p:cNvSpPr txBox="1">
            <a:spLocks noChangeArrowheads="1"/>
          </p:cNvSpPr>
          <p:nvPr/>
        </p:nvSpPr>
        <p:spPr bwMode="auto">
          <a:xfrm>
            <a:off x="3015593" y="4448175"/>
            <a:ext cx="900112" cy="573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ACK1</a:t>
            </a:r>
          </a:p>
        </p:txBody>
      </p:sp>
    </p:spTree>
    <p:extLst>
      <p:ext uri="{BB962C8B-B14F-4D97-AF65-F5344CB8AC3E}">
        <p14:creationId xmlns:p14="http://schemas.microsoft.com/office/powerpoint/2010/main" val="3970041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rdt2.2</a:t>
            </a:r>
            <a:r>
              <a:rPr lang="zh-CN" altLang="en-US" sz="2800" b="1" dirty="0">
                <a:latin typeface="Arial" charset="0"/>
                <a:ea typeface="宋体" pitchFamily="2" charset="-122"/>
              </a:rPr>
              <a:t>：接收端状态机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49" name="Oval 3">
            <a:extLst>
              <a:ext uri="{FF2B5EF4-FFF2-40B4-BE49-F238E27FC236}">
                <a16:creationId xmlns:a16="http://schemas.microsoft.com/office/drawing/2014/main" id="{435881CE-2E85-47FF-9201-776D05DD7F27}"/>
              </a:ext>
            </a:extLst>
          </p:cNvPr>
          <p:cNvSpPr>
            <a:spLocks noChangeArrowheads="1"/>
          </p:cNvSpPr>
          <p:nvPr/>
        </p:nvSpPr>
        <p:spPr bwMode="auto">
          <a:xfrm>
            <a:off x="2370138" y="3419924"/>
            <a:ext cx="917575" cy="838200"/>
          </a:xfrm>
          <a:prstGeom prst="ellipse">
            <a:avLst/>
          </a:prstGeom>
          <a:solidFill>
            <a:srgbClr val="008000"/>
          </a:solidFill>
          <a:ln w="19050">
            <a:solidFill>
              <a:srgbClr val="008000"/>
            </a:solidFill>
            <a:round/>
            <a:headEnd/>
            <a:tailEnd/>
          </a:ln>
        </p:spPr>
        <p:txBody>
          <a:bodyPr/>
          <a:lstStyle/>
          <a:p>
            <a:endParaRPr lang="zh-CN" altLang="en-US"/>
          </a:p>
        </p:txBody>
      </p:sp>
      <p:grpSp>
        <p:nvGrpSpPr>
          <p:cNvPr id="50" name="Group 26">
            <a:extLst>
              <a:ext uri="{FF2B5EF4-FFF2-40B4-BE49-F238E27FC236}">
                <a16:creationId xmlns:a16="http://schemas.microsoft.com/office/drawing/2014/main" id="{50645796-9457-4CA3-BEC3-9BD0945C244D}"/>
              </a:ext>
            </a:extLst>
          </p:cNvPr>
          <p:cNvGrpSpPr>
            <a:grpSpLocks/>
          </p:cNvGrpSpPr>
          <p:nvPr/>
        </p:nvGrpSpPr>
        <p:grpSpPr bwMode="auto">
          <a:xfrm>
            <a:off x="2366963" y="3443737"/>
            <a:ext cx="847725" cy="795337"/>
            <a:chOff x="3570" y="3063"/>
            <a:chExt cx="534" cy="501"/>
          </a:xfrm>
        </p:grpSpPr>
        <p:sp>
          <p:nvSpPr>
            <p:cNvPr id="51" name="Oval 27">
              <a:extLst>
                <a:ext uri="{FF2B5EF4-FFF2-40B4-BE49-F238E27FC236}">
                  <a16:creationId xmlns:a16="http://schemas.microsoft.com/office/drawing/2014/main" id="{50B3636E-0BF3-4E81-8ADB-853E2C5A6DEF}"/>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p>
              <a:endParaRPr lang="zh-CN" altLang="en-US"/>
            </a:p>
          </p:txBody>
        </p:sp>
        <p:sp>
          <p:nvSpPr>
            <p:cNvPr id="52" name="Text Box 28">
              <a:extLst>
                <a:ext uri="{FF2B5EF4-FFF2-40B4-BE49-F238E27FC236}">
                  <a16:creationId xmlns:a16="http://schemas.microsoft.com/office/drawing/2014/main" id="{878DEFDC-7976-4174-812A-F6937C44FDE2}"/>
                </a:ext>
              </a:extLst>
            </p:cNvPr>
            <p:cNvSpPr txBox="1">
              <a:spLocks noChangeArrowheads="1"/>
            </p:cNvSpPr>
            <p:nvPr/>
          </p:nvSpPr>
          <p:spPr bwMode="auto">
            <a:xfrm>
              <a:off x="3597" y="3085"/>
              <a:ext cx="504" cy="384"/>
            </a:xfrm>
            <a:prstGeom prst="rect">
              <a:avLst/>
            </a:prstGeom>
            <a:noFill/>
            <a:ln w="9525">
              <a:noFill/>
              <a:miter lim="800000"/>
              <a:headEnd/>
              <a:tailEnd/>
            </a:ln>
          </p:spPr>
          <p:txBody>
            <a:bodyPr/>
            <a:lstStyle/>
            <a:p>
              <a:pPr algn="ctr"/>
              <a:r>
                <a:rPr lang="zh-CN" altLang="en-US" sz="1400" dirty="0">
                  <a:latin typeface="宋体" panose="02010600030101010101" pitchFamily="2" charset="-122"/>
                  <a:ea typeface="宋体" panose="02010600030101010101" pitchFamily="2" charset="-122"/>
                </a:rPr>
                <a:t>等待接收分组</a:t>
              </a:r>
              <a:r>
                <a:rPr lang="en-US" altLang="zh-CN" sz="1400" dirty="0">
                  <a:latin typeface="宋体" panose="02010600030101010101" pitchFamily="2" charset="-122"/>
                  <a:ea typeface="宋体" panose="02010600030101010101" pitchFamily="2" charset="-122"/>
                </a:rPr>
                <a:t>0</a:t>
              </a:r>
            </a:p>
          </p:txBody>
        </p:sp>
      </p:grpSp>
      <p:sp>
        <p:nvSpPr>
          <p:cNvPr id="53" name="Freeform 30">
            <a:extLst>
              <a:ext uri="{FF2B5EF4-FFF2-40B4-BE49-F238E27FC236}">
                <a16:creationId xmlns:a16="http://schemas.microsoft.com/office/drawing/2014/main" id="{9049EDF3-80A0-4C90-91F4-8D9CBA5FB742}"/>
              </a:ext>
            </a:extLst>
          </p:cNvPr>
          <p:cNvSpPr>
            <a:spLocks/>
          </p:cNvSpPr>
          <p:nvPr/>
        </p:nvSpPr>
        <p:spPr bwMode="auto">
          <a:xfrm>
            <a:off x="3108326" y="4169224"/>
            <a:ext cx="1716087" cy="176213"/>
          </a:xfrm>
          <a:custGeom>
            <a:avLst/>
            <a:gdLst>
              <a:gd name="T0" fmla="*/ 0 w 1514"/>
              <a:gd name="T1" fmla="*/ 0 h 130"/>
              <a:gd name="T2" fmla="*/ 2147483647 w 1514"/>
              <a:gd name="T3" fmla="*/ 2147483647 h 130"/>
              <a:gd name="T4" fmla="*/ 0 60000 65536"/>
              <a:gd name="T5" fmla="*/ 0 60000 65536"/>
              <a:gd name="T6" fmla="*/ 0 w 1514"/>
              <a:gd name="T7" fmla="*/ 0 h 130"/>
              <a:gd name="T8" fmla="*/ 1514 w 1514"/>
              <a:gd name="T9" fmla="*/ 130 h 130"/>
            </a:gdLst>
            <a:ahLst/>
            <a:cxnLst>
              <a:cxn ang="T4">
                <a:pos x="T0" y="T1"/>
              </a:cxn>
              <a:cxn ang="T5">
                <a:pos x="T2" y="T3"/>
              </a:cxn>
            </a:cxnLst>
            <a:rect l="T6" t="T7" r="T8" b="T9"/>
            <a:pathLst>
              <a:path w="1514" h="130">
                <a:moveTo>
                  <a:pt x="0" y="0"/>
                </a:moveTo>
                <a:cubicBezTo>
                  <a:pt x="266" y="130"/>
                  <a:pt x="1322" y="113"/>
                  <a:pt x="1514" y="17"/>
                </a:cubicBezTo>
              </a:path>
            </a:pathLst>
          </a:custGeom>
          <a:noFill/>
          <a:ln w="19050">
            <a:solidFill>
              <a:srgbClr val="000000"/>
            </a:solidFill>
            <a:round/>
            <a:headEnd type="triangle" w="med" len="med"/>
            <a:tailEnd/>
          </a:ln>
        </p:spPr>
        <p:txBody>
          <a:bodyPr/>
          <a:lstStyle/>
          <a:p>
            <a:endParaRPr lang="zh-CN" altLang="en-US"/>
          </a:p>
        </p:txBody>
      </p:sp>
      <p:sp>
        <p:nvSpPr>
          <p:cNvPr id="54" name="Text Box 31">
            <a:extLst>
              <a:ext uri="{FF2B5EF4-FFF2-40B4-BE49-F238E27FC236}">
                <a16:creationId xmlns:a16="http://schemas.microsoft.com/office/drawing/2014/main" id="{3E130435-EF34-4A78-A7DC-1D6747A411DA}"/>
              </a:ext>
            </a:extLst>
          </p:cNvPr>
          <p:cNvSpPr txBox="1">
            <a:spLocks noChangeArrowheads="1"/>
          </p:cNvSpPr>
          <p:nvPr/>
        </p:nvSpPr>
        <p:spPr bwMode="auto">
          <a:xfrm>
            <a:off x="3881653" y="4345436"/>
            <a:ext cx="3940175" cy="57150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rdt_rcv(rcvpkt) &amp;&amp; notcorrupt(rcvpkt) </a:t>
            </a:r>
          </a:p>
          <a:p>
            <a:pPr eaLnBrk="0" hangingPunct="0">
              <a:lnSpc>
                <a:spcPct val="100000"/>
              </a:lnSpc>
              <a:spcBef>
                <a:spcPct val="0"/>
              </a:spcBef>
              <a:buClrTx/>
              <a:buFontTx/>
              <a:buNone/>
            </a:pPr>
            <a:r>
              <a:rPr kumimoji="0" lang="en-US" altLang="zh-CN" sz="1600">
                <a:latin typeface="Arial" charset="0"/>
                <a:ea typeface="宋体" pitchFamily="2" charset="-122"/>
              </a:rPr>
              <a:t>  &amp;&amp; has_seq1(rcvpkt) </a:t>
            </a:r>
            <a:endParaRPr kumimoji="0" lang="en-US" altLang="zh-CN" sz="1600">
              <a:latin typeface="Times New Roman" pitchFamily="18" charset="0"/>
              <a:ea typeface="宋体" pitchFamily="2" charset="-122"/>
            </a:endParaRPr>
          </a:p>
        </p:txBody>
      </p:sp>
      <p:sp>
        <p:nvSpPr>
          <p:cNvPr id="55" name="Line 32">
            <a:extLst>
              <a:ext uri="{FF2B5EF4-FFF2-40B4-BE49-F238E27FC236}">
                <a16:creationId xmlns:a16="http://schemas.microsoft.com/office/drawing/2014/main" id="{13BDF971-4A4C-45B3-AF67-11A3BA202BED}"/>
              </a:ext>
            </a:extLst>
          </p:cNvPr>
          <p:cNvSpPr>
            <a:spLocks noChangeShapeType="1"/>
          </p:cNvSpPr>
          <p:nvPr/>
        </p:nvSpPr>
        <p:spPr bwMode="auto">
          <a:xfrm>
            <a:off x="3992778" y="4916936"/>
            <a:ext cx="1914525" cy="0"/>
          </a:xfrm>
          <a:prstGeom prst="line">
            <a:avLst/>
          </a:prstGeom>
          <a:noFill/>
          <a:ln w="28575">
            <a:solidFill>
              <a:srgbClr val="000000"/>
            </a:solidFill>
            <a:round/>
            <a:headEnd/>
            <a:tailEnd/>
          </a:ln>
        </p:spPr>
        <p:txBody>
          <a:bodyPr/>
          <a:lstStyle/>
          <a:p>
            <a:endParaRPr lang="zh-CN" altLang="en-US"/>
          </a:p>
        </p:txBody>
      </p:sp>
      <p:sp>
        <p:nvSpPr>
          <p:cNvPr id="56" name="Text Box 33">
            <a:extLst>
              <a:ext uri="{FF2B5EF4-FFF2-40B4-BE49-F238E27FC236}">
                <a16:creationId xmlns:a16="http://schemas.microsoft.com/office/drawing/2014/main" id="{6D98E90A-4E81-4D04-A645-4F14D77A4FCA}"/>
              </a:ext>
            </a:extLst>
          </p:cNvPr>
          <p:cNvSpPr txBox="1">
            <a:spLocks noChangeArrowheads="1"/>
          </p:cNvSpPr>
          <p:nvPr/>
        </p:nvSpPr>
        <p:spPr bwMode="auto">
          <a:xfrm>
            <a:off x="3849903" y="4902649"/>
            <a:ext cx="4175125" cy="1271587"/>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a:latin typeface="Arial" charset="0"/>
                <a:ea typeface="宋体" pitchFamily="2" charset="-122"/>
              </a:rPr>
              <a:t>extract(rcvpkt,data)</a:t>
            </a:r>
          </a:p>
          <a:p>
            <a:pPr eaLnBrk="0" hangingPunct="0">
              <a:lnSpc>
                <a:spcPct val="100000"/>
              </a:lnSpc>
              <a:spcBef>
                <a:spcPct val="0"/>
              </a:spcBef>
              <a:buClrTx/>
              <a:buFontTx/>
              <a:buNone/>
            </a:pPr>
            <a:r>
              <a:rPr kumimoji="0" lang="en-US" altLang="zh-CN" sz="1600">
                <a:latin typeface="Arial" charset="0"/>
                <a:ea typeface="宋体" pitchFamily="2" charset="-122"/>
              </a:rPr>
              <a:t>deliver_data(data)</a:t>
            </a:r>
          </a:p>
          <a:p>
            <a:pPr eaLnBrk="0" hangingPunct="0">
              <a:lnSpc>
                <a:spcPct val="100000"/>
              </a:lnSpc>
              <a:spcBef>
                <a:spcPct val="0"/>
              </a:spcBef>
              <a:buClrTx/>
              <a:buFontTx/>
              <a:buNone/>
            </a:pPr>
            <a:r>
              <a:rPr kumimoji="0" lang="en-US" altLang="zh-CN" sz="1600">
                <a:latin typeface="Arial" charset="0"/>
                <a:ea typeface="宋体" pitchFamily="2" charset="-122"/>
              </a:rPr>
              <a:t>compute chksum</a:t>
            </a:r>
          </a:p>
          <a:p>
            <a:pPr eaLnBrk="0" hangingPunct="0">
              <a:lnSpc>
                <a:spcPct val="100000"/>
              </a:lnSpc>
              <a:spcBef>
                <a:spcPct val="0"/>
              </a:spcBef>
              <a:buClrTx/>
              <a:buFontTx/>
              <a:buNone/>
            </a:pPr>
            <a:r>
              <a:rPr kumimoji="0" lang="en-US" altLang="zh-CN" sz="1600" b="1">
                <a:solidFill>
                  <a:srgbClr val="FF0000"/>
                </a:solidFill>
                <a:latin typeface="Arial" charset="0"/>
                <a:ea typeface="宋体" pitchFamily="2" charset="-122"/>
              </a:rPr>
              <a:t>make_pkt(sndpkt, ACK1, chksum)</a:t>
            </a:r>
          </a:p>
          <a:p>
            <a:pPr eaLnBrk="0" hangingPunct="0">
              <a:lnSpc>
                <a:spcPct val="100000"/>
              </a:lnSpc>
              <a:spcBef>
                <a:spcPct val="0"/>
              </a:spcBef>
              <a:buClrTx/>
              <a:buFontTx/>
              <a:buNone/>
            </a:pPr>
            <a:r>
              <a:rPr kumimoji="0" lang="en-US" altLang="zh-CN" sz="1600">
                <a:latin typeface="Arial" charset="0"/>
                <a:ea typeface="宋体" pitchFamily="2" charset="-122"/>
              </a:rPr>
              <a:t>udt_send(sndpkt)</a:t>
            </a:r>
          </a:p>
        </p:txBody>
      </p:sp>
      <p:sp>
        <p:nvSpPr>
          <p:cNvPr id="57" name="Freeform 34">
            <a:extLst>
              <a:ext uri="{FF2B5EF4-FFF2-40B4-BE49-F238E27FC236}">
                <a16:creationId xmlns:a16="http://schemas.microsoft.com/office/drawing/2014/main" id="{FDE82493-CB2C-450A-A36A-77B2AC3E13F6}"/>
              </a:ext>
            </a:extLst>
          </p:cNvPr>
          <p:cNvSpPr>
            <a:spLocks/>
          </p:cNvSpPr>
          <p:nvPr/>
        </p:nvSpPr>
        <p:spPr bwMode="auto">
          <a:xfrm flipH="1">
            <a:off x="1890713" y="3104012"/>
            <a:ext cx="490538" cy="1358900"/>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p:spPr>
        <p:txBody>
          <a:bodyPr/>
          <a:lstStyle/>
          <a:p>
            <a:endParaRPr lang="zh-CN" altLang="en-US"/>
          </a:p>
        </p:txBody>
      </p:sp>
      <p:sp>
        <p:nvSpPr>
          <p:cNvPr id="58" name="Line 35">
            <a:extLst>
              <a:ext uri="{FF2B5EF4-FFF2-40B4-BE49-F238E27FC236}">
                <a16:creationId xmlns:a16="http://schemas.microsoft.com/office/drawing/2014/main" id="{E430CF64-8C85-436E-8EB3-19459648FC96}"/>
              </a:ext>
            </a:extLst>
          </p:cNvPr>
          <p:cNvSpPr>
            <a:spLocks noChangeShapeType="1"/>
          </p:cNvSpPr>
          <p:nvPr/>
        </p:nvSpPr>
        <p:spPr bwMode="auto">
          <a:xfrm>
            <a:off x="80963" y="4083499"/>
            <a:ext cx="1924050" cy="0"/>
          </a:xfrm>
          <a:prstGeom prst="line">
            <a:avLst/>
          </a:prstGeom>
          <a:noFill/>
          <a:ln w="28575">
            <a:solidFill>
              <a:srgbClr val="000000"/>
            </a:solidFill>
            <a:round/>
            <a:headEnd/>
            <a:tailEnd/>
          </a:ln>
        </p:spPr>
        <p:txBody>
          <a:bodyPr/>
          <a:lstStyle/>
          <a:p>
            <a:endParaRPr lang="zh-CN" altLang="en-US"/>
          </a:p>
        </p:txBody>
      </p:sp>
      <p:sp>
        <p:nvSpPr>
          <p:cNvPr id="59" name="Text Box 36">
            <a:extLst>
              <a:ext uri="{FF2B5EF4-FFF2-40B4-BE49-F238E27FC236}">
                <a16:creationId xmlns:a16="http://schemas.microsoft.com/office/drawing/2014/main" id="{CE7109DB-71BF-4A7A-A7FC-02BE3EBB666A}"/>
              </a:ext>
            </a:extLst>
          </p:cNvPr>
          <p:cNvSpPr txBox="1">
            <a:spLocks noChangeArrowheads="1"/>
          </p:cNvSpPr>
          <p:nvPr/>
        </p:nvSpPr>
        <p:spPr bwMode="auto">
          <a:xfrm>
            <a:off x="36513" y="3257999"/>
            <a:ext cx="2124075" cy="782082"/>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&amp;&amp; </a:t>
            </a:r>
          </a:p>
          <a:p>
            <a:pPr eaLnBrk="0" hangingPunct="0">
              <a:lnSpc>
                <a:spcPct val="100000"/>
              </a:lnSpc>
              <a:spcBef>
                <a:spcPct val="0"/>
              </a:spcBef>
              <a:buClrTx/>
              <a:buFontTx/>
              <a:buNone/>
            </a:pPr>
            <a:r>
              <a:rPr kumimoji="0" lang="en-US" altLang="zh-CN" sz="1600" dirty="0">
                <a:latin typeface="Arial" charset="0"/>
                <a:ea typeface="宋体" pitchFamily="2" charset="-122"/>
              </a:rPr>
              <a:t>   (corrupt(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   </a:t>
            </a:r>
            <a:r>
              <a:rPr kumimoji="0" lang="en-US" altLang="zh-CN" sz="1600" b="1" dirty="0">
                <a:solidFill>
                  <a:srgbClr val="FF0000"/>
                </a:solidFill>
                <a:latin typeface="Arial" charset="0"/>
                <a:ea typeface="宋体" pitchFamily="2" charset="-122"/>
              </a:rPr>
              <a:t>has_seq1(</a:t>
            </a:r>
            <a:r>
              <a:rPr kumimoji="0" lang="en-US" altLang="zh-CN" sz="1600" b="1" dirty="0" err="1">
                <a:solidFill>
                  <a:srgbClr val="FF0000"/>
                </a:solidFill>
                <a:latin typeface="Arial" charset="0"/>
                <a:ea typeface="宋体" pitchFamily="2" charset="-122"/>
              </a:rPr>
              <a:t>rcvpkt</a:t>
            </a:r>
            <a:r>
              <a:rPr kumimoji="0" lang="en-US" altLang="zh-CN" sz="1600" b="1" dirty="0">
                <a:solidFill>
                  <a:srgbClr val="FF0000"/>
                </a:solidFill>
                <a:latin typeface="Arial" charset="0"/>
                <a:ea typeface="宋体" pitchFamily="2" charset="-122"/>
              </a:rPr>
              <a:t>))</a:t>
            </a:r>
            <a:endParaRPr kumimoji="0" lang="en-US" altLang="zh-CN" sz="1600" b="1" dirty="0">
              <a:solidFill>
                <a:srgbClr val="FF0000"/>
              </a:solidFill>
              <a:latin typeface="Times New Roman" pitchFamily="18" charset="0"/>
              <a:ea typeface="宋体" pitchFamily="2" charset="-122"/>
            </a:endParaRPr>
          </a:p>
        </p:txBody>
      </p:sp>
      <p:sp>
        <p:nvSpPr>
          <p:cNvPr id="60" name="Text Box 37">
            <a:extLst>
              <a:ext uri="{FF2B5EF4-FFF2-40B4-BE49-F238E27FC236}">
                <a16:creationId xmlns:a16="http://schemas.microsoft.com/office/drawing/2014/main" id="{4C24B456-D233-4950-885B-5568C77C2F93}"/>
              </a:ext>
            </a:extLst>
          </p:cNvPr>
          <p:cNvSpPr txBox="1">
            <a:spLocks noChangeArrowheads="1"/>
          </p:cNvSpPr>
          <p:nvPr/>
        </p:nvSpPr>
        <p:spPr bwMode="auto">
          <a:xfrm>
            <a:off x="36514" y="4083499"/>
            <a:ext cx="3524250" cy="838200"/>
          </a:xfrm>
          <a:prstGeom prst="rect">
            <a:avLst/>
          </a:prstGeom>
          <a:noFill/>
          <a:ln w="9525">
            <a:noFill/>
            <a:miter lim="800000"/>
            <a:headEnd/>
            <a:tailEnd/>
          </a:ln>
        </p:spPr>
        <p:txBody>
          <a:bodyPr/>
          <a:lstStyle/>
          <a:p>
            <a:pPr>
              <a:lnSpc>
                <a:spcPct val="90000"/>
              </a:lnSpc>
              <a:spcBef>
                <a:spcPct val="0"/>
              </a:spcBef>
            </a:pPr>
            <a:r>
              <a:rPr kumimoji="0" lang="en-US" altLang="zh-CN" sz="1600" dirty="0">
                <a:latin typeface="Arial" charset="0"/>
                <a:ea typeface="宋体" pitchFamily="2" charset="-122"/>
              </a:rPr>
              <a:t>compute </a:t>
            </a:r>
            <a:r>
              <a:rPr kumimoji="0" lang="en-US" altLang="zh-CN" sz="1600" dirty="0" err="1">
                <a:latin typeface="Arial" charset="0"/>
                <a:ea typeface="宋体" pitchFamily="2" charset="-122"/>
              </a:rPr>
              <a:t>chksum</a:t>
            </a:r>
            <a:endParaRPr kumimoji="0" lang="en-US" altLang="zh-CN" sz="1600" dirty="0">
              <a:latin typeface="Arial" charset="0"/>
              <a:ea typeface="宋体" pitchFamily="2" charset="-122"/>
            </a:endParaRPr>
          </a:p>
          <a:p>
            <a:pPr>
              <a:lnSpc>
                <a:spcPct val="90000"/>
              </a:lnSpc>
              <a:spcBef>
                <a:spcPct val="0"/>
              </a:spcBef>
            </a:pPr>
            <a:r>
              <a:rPr kumimoji="0" lang="en-US" altLang="zh-CN" sz="1600" b="1" dirty="0" err="1">
                <a:solidFill>
                  <a:srgbClr val="FF0000"/>
                </a:solidFill>
                <a:latin typeface="Arial" charset="0"/>
                <a:ea typeface="宋体" pitchFamily="2" charset="-122"/>
              </a:rPr>
              <a:t>make_pkt</a:t>
            </a:r>
            <a:r>
              <a:rPr kumimoji="0" lang="en-US" altLang="zh-CN" sz="1600" b="1" dirty="0">
                <a:solidFill>
                  <a:srgbClr val="FF0000"/>
                </a:solidFill>
                <a:latin typeface="Arial" charset="0"/>
                <a:ea typeface="宋体" pitchFamily="2" charset="-122"/>
              </a:rPr>
              <a:t>(</a:t>
            </a:r>
            <a:r>
              <a:rPr kumimoji="0" lang="en-US" altLang="zh-CN" sz="1600" b="1" dirty="0" err="1">
                <a:solidFill>
                  <a:srgbClr val="FF0000"/>
                </a:solidFill>
                <a:latin typeface="Arial" charset="0"/>
                <a:ea typeface="宋体" pitchFamily="2" charset="-122"/>
              </a:rPr>
              <a:t>sndpkt</a:t>
            </a:r>
            <a:r>
              <a:rPr kumimoji="0" lang="en-US" altLang="zh-CN" sz="1600" b="1" dirty="0">
                <a:solidFill>
                  <a:srgbClr val="FF0000"/>
                </a:solidFill>
                <a:latin typeface="Arial" charset="0"/>
                <a:ea typeface="宋体" pitchFamily="2" charset="-122"/>
              </a:rPr>
              <a:t>, ACK1, </a:t>
            </a:r>
            <a:r>
              <a:rPr kumimoji="0" lang="en-US" altLang="zh-CN" sz="1600" b="1" dirty="0" err="1">
                <a:solidFill>
                  <a:srgbClr val="FF0000"/>
                </a:solidFill>
                <a:latin typeface="Arial" charset="0"/>
                <a:ea typeface="宋体" pitchFamily="2" charset="-122"/>
              </a:rPr>
              <a:t>chksum</a:t>
            </a:r>
            <a:r>
              <a:rPr kumimoji="0" lang="en-US" altLang="zh-CN" sz="1600" b="1" dirty="0">
                <a:solidFill>
                  <a:srgbClr val="FF0000"/>
                </a:solidFill>
                <a:latin typeface="Arial" charset="0"/>
                <a:ea typeface="宋体" pitchFamily="2" charset="-122"/>
              </a:rPr>
              <a:t>)</a:t>
            </a:r>
          </a:p>
          <a:p>
            <a:pPr eaLnBrk="0" hangingPunct="0">
              <a:lnSpc>
                <a:spcPct val="90000"/>
              </a:lnSpc>
              <a:spcBef>
                <a:spcPct val="0"/>
              </a:spcBef>
              <a:buClrTx/>
              <a:buFontTx/>
              <a:buNone/>
            </a:pPr>
            <a:r>
              <a:rPr kumimoji="0" lang="en-US" altLang="zh-CN" sz="1600" dirty="0" err="1">
                <a:latin typeface="Arial" charset="0"/>
                <a:ea typeface="宋体" pitchFamily="2" charset="-122"/>
              </a:rPr>
              <a:t>udt_send</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a:t>
            </a:r>
          </a:p>
        </p:txBody>
      </p:sp>
      <p:sp>
        <p:nvSpPr>
          <p:cNvPr id="61" name="Text Box 38">
            <a:extLst>
              <a:ext uri="{FF2B5EF4-FFF2-40B4-BE49-F238E27FC236}">
                <a16:creationId xmlns:a16="http://schemas.microsoft.com/office/drawing/2014/main" id="{C01C140A-0C1D-4B3B-BE11-6D32F3706D9D}"/>
              </a:ext>
            </a:extLst>
          </p:cNvPr>
          <p:cNvSpPr txBox="1">
            <a:spLocks noChangeArrowheads="1"/>
          </p:cNvSpPr>
          <p:nvPr/>
        </p:nvSpPr>
        <p:spPr bwMode="auto">
          <a:xfrm>
            <a:off x="3318732" y="3670750"/>
            <a:ext cx="1295739" cy="369332"/>
          </a:xfrm>
          <a:prstGeom prst="rect">
            <a:avLst/>
          </a:prstGeom>
          <a:noFill/>
          <a:ln w="9525">
            <a:noFill/>
            <a:prstDash val="dash"/>
            <a:miter lim="800000"/>
            <a:headEnd/>
            <a:tailEnd/>
          </a:ln>
        </p:spPr>
        <p:txBody>
          <a:bodyPr wrap="none">
            <a:spAutoFit/>
          </a:bodyPr>
          <a:lstStyle/>
          <a:p>
            <a:pPr eaLnBrk="0" hangingPunct="0">
              <a:lnSpc>
                <a:spcPct val="100000"/>
              </a:lnSpc>
              <a:spcBef>
                <a:spcPct val="0"/>
              </a:spcBef>
              <a:buClrTx/>
              <a:buFontTx/>
              <a:buNone/>
            </a:pPr>
            <a:r>
              <a:rPr kumimoji="0" lang="zh-CN" altLang="en-US" b="1" dirty="0">
                <a:solidFill>
                  <a:srgbClr val="008000"/>
                </a:solidFill>
                <a:ea typeface="宋体" pitchFamily="2" charset="-122"/>
              </a:rPr>
              <a:t>接收端</a:t>
            </a:r>
            <a:r>
              <a:rPr kumimoji="0" lang="en-US" altLang="zh-CN" b="1" dirty="0">
                <a:solidFill>
                  <a:srgbClr val="008000"/>
                </a:solidFill>
                <a:ea typeface="宋体" pitchFamily="2" charset="-122"/>
              </a:rPr>
              <a:t>FSM</a:t>
            </a:r>
          </a:p>
        </p:txBody>
      </p:sp>
      <p:sp>
        <p:nvSpPr>
          <p:cNvPr id="62" name="Oval 41">
            <a:extLst>
              <a:ext uri="{FF2B5EF4-FFF2-40B4-BE49-F238E27FC236}">
                <a16:creationId xmlns:a16="http://schemas.microsoft.com/office/drawing/2014/main" id="{CB0209AC-00DE-4456-820B-800CA3DF6621}"/>
              </a:ext>
            </a:extLst>
          </p:cNvPr>
          <p:cNvSpPr>
            <a:spLocks noChangeArrowheads="1"/>
          </p:cNvSpPr>
          <p:nvPr/>
        </p:nvSpPr>
        <p:spPr bwMode="auto">
          <a:xfrm>
            <a:off x="4679951" y="3426274"/>
            <a:ext cx="917575" cy="838200"/>
          </a:xfrm>
          <a:prstGeom prst="ellipse">
            <a:avLst/>
          </a:prstGeom>
          <a:solidFill>
            <a:srgbClr val="008000"/>
          </a:solidFill>
          <a:ln w="19050">
            <a:solidFill>
              <a:srgbClr val="008000"/>
            </a:solidFill>
            <a:round/>
            <a:headEnd/>
            <a:tailEnd/>
          </a:ln>
        </p:spPr>
        <p:txBody>
          <a:bodyPr/>
          <a:lstStyle/>
          <a:p>
            <a:endParaRPr lang="zh-CN" altLang="en-US"/>
          </a:p>
        </p:txBody>
      </p:sp>
      <p:grpSp>
        <p:nvGrpSpPr>
          <p:cNvPr id="63" name="Group 42">
            <a:extLst>
              <a:ext uri="{FF2B5EF4-FFF2-40B4-BE49-F238E27FC236}">
                <a16:creationId xmlns:a16="http://schemas.microsoft.com/office/drawing/2014/main" id="{0C876500-6990-4F32-BC86-588AAB767286}"/>
              </a:ext>
            </a:extLst>
          </p:cNvPr>
          <p:cNvGrpSpPr>
            <a:grpSpLocks/>
          </p:cNvGrpSpPr>
          <p:nvPr/>
        </p:nvGrpSpPr>
        <p:grpSpPr bwMode="auto">
          <a:xfrm>
            <a:off x="4679951" y="3450087"/>
            <a:ext cx="847725" cy="795337"/>
            <a:chOff x="3570" y="3063"/>
            <a:chExt cx="534" cy="501"/>
          </a:xfrm>
        </p:grpSpPr>
        <p:sp>
          <p:nvSpPr>
            <p:cNvPr id="64" name="Oval 43">
              <a:extLst>
                <a:ext uri="{FF2B5EF4-FFF2-40B4-BE49-F238E27FC236}">
                  <a16:creationId xmlns:a16="http://schemas.microsoft.com/office/drawing/2014/main" id="{8FCD53A5-783D-4CA9-8FD4-EC2FDAB66A97}"/>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p>
              <a:endParaRPr lang="zh-CN" altLang="en-US"/>
            </a:p>
          </p:txBody>
        </p:sp>
        <p:sp>
          <p:nvSpPr>
            <p:cNvPr id="65" name="Text Box 44">
              <a:extLst>
                <a:ext uri="{FF2B5EF4-FFF2-40B4-BE49-F238E27FC236}">
                  <a16:creationId xmlns:a16="http://schemas.microsoft.com/office/drawing/2014/main" id="{9E81E76A-4964-431A-AF2A-506AD0AB0159}"/>
                </a:ext>
              </a:extLst>
            </p:cNvPr>
            <p:cNvSpPr txBox="1">
              <a:spLocks noChangeArrowheads="1"/>
            </p:cNvSpPr>
            <p:nvPr/>
          </p:nvSpPr>
          <p:spPr bwMode="auto">
            <a:xfrm>
              <a:off x="3597" y="3085"/>
              <a:ext cx="504" cy="384"/>
            </a:xfrm>
            <a:prstGeom prst="rect">
              <a:avLst/>
            </a:prstGeom>
            <a:noFill/>
            <a:ln w="9525">
              <a:noFill/>
              <a:miter lim="800000"/>
              <a:headEnd/>
              <a:tailEnd/>
            </a:ln>
          </p:spPr>
          <p:txBody>
            <a:bodyPr/>
            <a:lstStyle/>
            <a:p>
              <a:pPr algn="ctr"/>
              <a:r>
                <a:rPr lang="zh-CN" altLang="en-US" sz="1400" dirty="0">
                  <a:latin typeface="宋体" panose="02010600030101010101" pitchFamily="2" charset="-122"/>
                  <a:ea typeface="宋体" panose="02010600030101010101" pitchFamily="2" charset="-122"/>
                </a:rPr>
                <a:t>等待接收分组</a:t>
              </a:r>
              <a:r>
                <a:rPr lang="en-US" altLang="zh-CN" sz="1400" dirty="0">
                  <a:latin typeface="宋体" panose="02010600030101010101" pitchFamily="2" charset="-122"/>
                  <a:ea typeface="宋体" panose="02010600030101010101" pitchFamily="2" charset="-122"/>
                </a:rPr>
                <a:t>1</a:t>
              </a:r>
            </a:p>
          </p:txBody>
        </p:sp>
      </p:grpSp>
      <p:sp>
        <p:nvSpPr>
          <p:cNvPr id="66" name="Freeform 45">
            <a:extLst>
              <a:ext uri="{FF2B5EF4-FFF2-40B4-BE49-F238E27FC236}">
                <a16:creationId xmlns:a16="http://schemas.microsoft.com/office/drawing/2014/main" id="{E3795C4F-59DD-48CA-AEAA-76639865983D}"/>
              </a:ext>
            </a:extLst>
          </p:cNvPr>
          <p:cNvSpPr>
            <a:spLocks/>
          </p:cNvSpPr>
          <p:nvPr/>
        </p:nvSpPr>
        <p:spPr bwMode="auto">
          <a:xfrm rot="10518249" flipH="1">
            <a:off x="5543551" y="3170687"/>
            <a:ext cx="490537" cy="1358900"/>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p:spPr>
        <p:txBody>
          <a:bodyPr/>
          <a:lstStyle/>
          <a:p>
            <a:endParaRPr lang="zh-CN" altLang="en-US"/>
          </a:p>
        </p:txBody>
      </p:sp>
      <p:sp>
        <p:nvSpPr>
          <p:cNvPr id="67" name="Freeform 46">
            <a:extLst>
              <a:ext uri="{FF2B5EF4-FFF2-40B4-BE49-F238E27FC236}">
                <a16:creationId xmlns:a16="http://schemas.microsoft.com/office/drawing/2014/main" id="{3335C74A-8656-4A19-BC79-73A3FFC826C8}"/>
              </a:ext>
            </a:extLst>
          </p:cNvPr>
          <p:cNvSpPr>
            <a:spLocks/>
          </p:cNvSpPr>
          <p:nvPr/>
        </p:nvSpPr>
        <p:spPr bwMode="auto">
          <a:xfrm rot="10800000">
            <a:off x="3168651" y="3313562"/>
            <a:ext cx="1655762" cy="207962"/>
          </a:xfrm>
          <a:custGeom>
            <a:avLst/>
            <a:gdLst>
              <a:gd name="T0" fmla="*/ 0 w 1514"/>
              <a:gd name="T1" fmla="*/ 0 h 130"/>
              <a:gd name="T2" fmla="*/ 2147483647 w 1514"/>
              <a:gd name="T3" fmla="*/ 2147483647 h 130"/>
              <a:gd name="T4" fmla="*/ 0 60000 65536"/>
              <a:gd name="T5" fmla="*/ 0 60000 65536"/>
              <a:gd name="T6" fmla="*/ 0 w 1514"/>
              <a:gd name="T7" fmla="*/ 0 h 130"/>
              <a:gd name="T8" fmla="*/ 1514 w 1514"/>
              <a:gd name="T9" fmla="*/ 130 h 130"/>
            </a:gdLst>
            <a:ahLst/>
            <a:cxnLst>
              <a:cxn ang="T4">
                <a:pos x="T0" y="T1"/>
              </a:cxn>
              <a:cxn ang="T5">
                <a:pos x="T2" y="T3"/>
              </a:cxn>
            </a:cxnLst>
            <a:rect l="T6" t="T7" r="T8" b="T9"/>
            <a:pathLst>
              <a:path w="1514" h="130">
                <a:moveTo>
                  <a:pt x="0" y="0"/>
                </a:moveTo>
                <a:cubicBezTo>
                  <a:pt x="266" y="130"/>
                  <a:pt x="1322" y="113"/>
                  <a:pt x="1514" y="17"/>
                </a:cubicBezTo>
              </a:path>
            </a:pathLst>
          </a:custGeom>
          <a:noFill/>
          <a:ln w="19050">
            <a:solidFill>
              <a:srgbClr val="000000"/>
            </a:solidFill>
            <a:round/>
            <a:headEnd type="triangle" w="med" len="med"/>
            <a:tailEnd/>
          </a:ln>
        </p:spPr>
        <p:txBody>
          <a:bodyPr/>
          <a:lstStyle/>
          <a:p>
            <a:endParaRPr lang="zh-CN" altLang="en-US"/>
          </a:p>
        </p:txBody>
      </p:sp>
      <p:sp>
        <p:nvSpPr>
          <p:cNvPr id="68" name="Text Box 47">
            <a:extLst>
              <a:ext uri="{FF2B5EF4-FFF2-40B4-BE49-F238E27FC236}">
                <a16:creationId xmlns:a16="http://schemas.microsoft.com/office/drawing/2014/main" id="{0308100A-0871-41FB-BBD5-714559E3D372}"/>
              </a:ext>
            </a:extLst>
          </p:cNvPr>
          <p:cNvSpPr txBox="1">
            <a:spLocks noChangeArrowheads="1"/>
          </p:cNvSpPr>
          <p:nvPr/>
        </p:nvSpPr>
        <p:spPr bwMode="auto">
          <a:xfrm>
            <a:off x="2060371" y="1488731"/>
            <a:ext cx="3492501" cy="571500"/>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&amp;&amp; </a:t>
            </a:r>
            <a:r>
              <a:rPr kumimoji="0" lang="en-US" altLang="zh-CN" sz="1600" dirty="0" err="1">
                <a:latin typeface="Arial" charset="0"/>
                <a:ea typeface="宋体" pitchFamily="2" charset="-122"/>
              </a:rPr>
              <a:t>notcorrupt</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  &amp;&amp; has_seq0(</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endParaRPr kumimoji="0" lang="en-US" altLang="zh-CN" sz="1600" dirty="0">
              <a:latin typeface="Times New Roman" pitchFamily="18" charset="0"/>
              <a:ea typeface="宋体" pitchFamily="2" charset="-122"/>
            </a:endParaRPr>
          </a:p>
        </p:txBody>
      </p:sp>
      <p:sp>
        <p:nvSpPr>
          <p:cNvPr id="69" name="Line 48">
            <a:extLst>
              <a:ext uri="{FF2B5EF4-FFF2-40B4-BE49-F238E27FC236}">
                <a16:creationId xmlns:a16="http://schemas.microsoft.com/office/drawing/2014/main" id="{EF362D0F-7EE8-46E3-B78C-F5D4261C690A}"/>
              </a:ext>
            </a:extLst>
          </p:cNvPr>
          <p:cNvSpPr>
            <a:spLocks noChangeShapeType="1"/>
          </p:cNvSpPr>
          <p:nvPr/>
        </p:nvSpPr>
        <p:spPr bwMode="auto">
          <a:xfrm>
            <a:off x="2173084" y="2093569"/>
            <a:ext cx="1914525" cy="0"/>
          </a:xfrm>
          <a:prstGeom prst="line">
            <a:avLst/>
          </a:prstGeom>
          <a:noFill/>
          <a:ln w="28575">
            <a:solidFill>
              <a:srgbClr val="000000"/>
            </a:solidFill>
            <a:round/>
            <a:headEnd/>
            <a:tailEnd/>
          </a:ln>
        </p:spPr>
        <p:txBody>
          <a:bodyPr/>
          <a:lstStyle/>
          <a:p>
            <a:endParaRPr lang="zh-CN" altLang="en-US"/>
          </a:p>
        </p:txBody>
      </p:sp>
      <p:sp>
        <p:nvSpPr>
          <p:cNvPr id="70" name="Text Box 49">
            <a:extLst>
              <a:ext uri="{FF2B5EF4-FFF2-40B4-BE49-F238E27FC236}">
                <a16:creationId xmlns:a16="http://schemas.microsoft.com/office/drawing/2014/main" id="{F2EFADBE-72BA-4B8A-9032-18EA1ABC989F}"/>
              </a:ext>
            </a:extLst>
          </p:cNvPr>
          <p:cNvSpPr txBox="1">
            <a:spLocks noChangeArrowheads="1"/>
          </p:cNvSpPr>
          <p:nvPr/>
        </p:nvSpPr>
        <p:spPr bwMode="auto">
          <a:xfrm>
            <a:off x="2028622" y="2045944"/>
            <a:ext cx="3524250" cy="1271587"/>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a:latin typeface="Arial" charset="0"/>
                <a:ea typeface="宋体" pitchFamily="2" charset="-122"/>
              </a:rPr>
              <a:t>extract(</a:t>
            </a:r>
            <a:r>
              <a:rPr kumimoji="0" lang="en-US" altLang="zh-CN" sz="1600" dirty="0" err="1">
                <a:latin typeface="Arial" charset="0"/>
                <a:ea typeface="宋体" pitchFamily="2" charset="-122"/>
              </a:rPr>
              <a:t>rcvpkt,data</a:t>
            </a:r>
            <a:r>
              <a:rPr kumimoji="0" lang="en-US" altLang="zh-CN" sz="1600" dirty="0">
                <a:latin typeface="Arial" charset="0"/>
                <a:ea typeface="宋体" pitchFamily="2" charset="-122"/>
              </a:rPr>
              <a:t>)</a:t>
            </a:r>
          </a:p>
          <a:p>
            <a:pPr eaLnBrk="0" hangingPunct="0">
              <a:lnSpc>
                <a:spcPct val="100000"/>
              </a:lnSpc>
              <a:spcBef>
                <a:spcPct val="0"/>
              </a:spcBef>
              <a:buClrTx/>
              <a:buFontTx/>
              <a:buNone/>
            </a:pPr>
            <a:r>
              <a:rPr kumimoji="0" lang="en-US" altLang="zh-CN" sz="1600" dirty="0" err="1">
                <a:latin typeface="Arial" charset="0"/>
                <a:ea typeface="宋体" pitchFamily="2" charset="-122"/>
              </a:rPr>
              <a:t>deliver_data</a:t>
            </a:r>
            <a:r>
              <a:rPr kumimoji="0" lang="en-US" altLang="zh-CN" sz="1600" dirty="0">
                <a:latin typeface="Arial" charset="0"/>
                <a:ea typeface="宋体" pitchFamily="2" charset="-122"/>
              </a:rPr>
              <a:t>(data)</a:t>
            </a:r>
          </a:p>
          <a:p>
            <a:pPr eaLnBrk="0" hangingPunct="0">
              <a:lnSpc>
                <a:spcPct val="100000"/>
              </a:lnSpc>
              <a:spcBef>
                <a:spcPct val="0"/>
              </a:spcBef>
              <a:buClrTx/>
              <a:buFontTx/>
              <a:buNone/>
            </a:pPr>
            <a:r>
              <a:rPr kumimoji="0" lang="en-US" altLang="zh-CN" sz="1600" dirty="0">
                <a:latin typeface="Arial" charset="0"/>
                <a:ea typeface="宋体" pitchFamily="2" charset="-122"/>
              </a:rPr>
              <a:t>compute </a:t>
            </a:r>
            <a:r>
              <a:rPr kumimoji="0" lang="en-US" altLang="zh-CN" sz="1600" dirty="0" err="1">
                <a:latin typeface="Arial" charset="0"/>
                <a:ea typeface="宋体" pitchFamily="2" charset="-122"/>
              </a:rPr>
              <a:t>chksum</a:t>
            </a:r>
            <a:endParaRPr kumimoji="0" lang="en-US" altLang="zh-CN" sz="1600" dirty="0">
              <a:latin typeface="Arial" charset="0"/>
              <a:ea typeface="宋体" pitchFamily="2" charset="-122"/>
            </a:endParaRPr>
          </a:p>
          <a:p>
            <a:pPr eaLnBrk="0" hangingPunct="0">
              <a:lnSpc>
                <a:spcPct val="100000"/>
              </a:lnSpc>
              <a:spcBef>
                <a:spcPct val="0"/>
              </a:spcBef>
              <a:buClrTx/>
              <a:buFontTx/>
              <a:buNone/>
            </a:pPr>
            <a:r>
              <a:rPr kumimoji="0" lang="en-US" altLang="zh-CN" sz="1600" b="1" dirty="0" err="1">
                <a:solidFill>
                  <a:srgbClr val="FF0000"/>
                </a:solidFill>
                <a:latin typeface="Arial" charset="0"/>
                <a:ea typeface="宋体" pitchFamily="2" charset="-122"/>
              </a:rPr>
              <a:t>make_pkt</a:t>
            </a:r>
            <a:r>
              <a:rPr kumimoji="0" lang="en-US" altLang="zh-CN" sz="1600" b="1" dirty="0">
                <a:solidFill>
                  <a:srgbClr val="FF0000"/>
                </a:solidFill>
                <a:latin typeface="Arial" charset="0"/>
                <a:ea typeface="宋体" pitchFamily="2" charset="-122"/>
              </a:rPr>
              <a:t>(</a:t>
            </a:r>
            <a:r>
              <a:rPr kumimoji="0" lang="en-US" altLang="zh-CN" sz="1600" b="1" dirty="0" err="1">
                <a:solidFill>
                  <a:srgbClr val="FF0000"/>
                </a:solidFill>
                <a:latin typeface="Arial" charset="0"/>
                <a:ea typeface="宋体" pitchFamily="2" charset="-122"/>
              </a:rPr>
              <a:t>sndpkt</a:t>
            </a:r>
            <a:r>
              <a:rPr kumimoji="0" lang="en-US" altLang="zh-CN" sz="1600" b="1" dirty="0">
                <a:solidFill>
                  <a:srgbClr val="FF0000"/>
                </a:solidFill>
                <a:latin typeface="Arial" charset="0"/>
                <a:ea typeface="宋体" pitchFamily="2" charset="-122"/>
              </a:rPr>
              <a:t>, ACK0, </a:t>
            </a:r>
            <a:r>
              <a:rPr kumimoji="0" lang="en-US" altLang="zh-CN" sz="1600" b="1" dirty="0" err="1">
                <a:solidFill>
                  <a:srgbClr val="FF0000"/>
                </a:solidFill>
                <a:latin typeface="Arial" charset="0"/>
                <a:ea typeface="宋体" pitchFamily="2" charset="-122"/>
              </a:rPr>
              <a:t>chksum</a:t>
            </a:r>
            <a:r>
              <a:rPr kumimoji="0" lang="en-US" altLang="zh-CN" sz="1600" b="1" dirty="0">
                <a:solidFill>
                  <a:srgbClr val="FF0000"/>
                </a:solidFill>
                <a:latin typeface="Arial" charset="0"/>
                <a:ea typeface="宋体" pitchFamily="2" charset="-122"/>
              </a:rPr>
              <a:t>)</a:t>
            </a:r>
          </a:p>
          <a:p>
            <a:pPr eaLnBrk="0" hangingPunct="0">
              <a:lnSpc>
                <a:spcPct val="100000"/>
              </a:lnSpc>
              <a:spcBef>
                <a:spcPct val="0"/>
              </a:spcBef>
              <a:buClrTx/>
              <a:buFontTx/>
              <a:buNone/>
            </a:pPr>
            <a:r>
              <a:rPr kumimoji="0" lang="en-US" altLang="zh-CN" sz="1600" dirty="0" err="1">
                <a:latin typeface="Arial" charset="0"/>
                <a:ea typeface="宋体" pitchFamily="2" charset="-122"/>
              </a:rPr>
              <a:t>udt_send</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a:t>
            </a:r>
          </a:p>
        </p:txBody>
      </p:sp>
      <p:sp>
        <p:nvSpPr>
          <p:cNvPr id="71" name="Line 50">
            <a:extLst>
              <a:ext uri="{FF2B5EF4-FFF2-40B4-BE49-F238E27FC236}">
                <a16:creationId xmlns:a16="http://schemas.microsoft.com/office/drawing/2014/main" id="{603BD34D-BA37-425D-8703-20903D25B854}"/>
              </a:ext>
            </a:extLst>
          </p:cNvPr>
          <p:cNvSpPr>
            <a:spLocks noChangeShapeType="1"/>
          </p:cNvSpPr>
          <p:nvPr/>
        </p:nvSpPr>
        <p:spPr bwMode="auto">
          <a:xfrm>
            <a:off x="5709124" y="2868379"/>
            <a:ext cx="1924050" cy="0"/>
          </a:xfrm>
          <a:prstGeom prst="line">
            <a:avLst/>
          </a:prstGeom>
          <a:noFill/>
          <a:ln w="28575">
            <a:solidFill>
              <a:srgbClr val="000000"/>
            </a:solidFill>
            <a:round/>
            <a:headEnd/>
            <a:tailEnd/>
          </a:ln>
        </p:spPr>
        <p:txBody>
          <a:bodyPr/>
          <a:lstStyle/>
          <a:p>
            <a:endParaRPr lang="zh-CN" altLang="en-US"/>
          </a:p>
        </p:txBody>
      </p:sp>
      <p:sp>
        <p:nvSpPr>
          <p:cNvPr id="72" name="Text Box 51">
            <a:extLst>
              <a:ext uri="{FF2B5EF4-FFF2-40B4-BE49-F238E27FC236}">
                <a16:creationId xmlns:a16="http://schemas.microsoft.com/office/drawing/2014/main" id="{FF61C39A-F729-48F5-BE5E-F8D1E26B216E}"/>
              </a:ext>
            </a:extLst>
          </p:cNvPr>
          <p:cNvSpPr txBox="1">
            <a:spLocks noChangeArrowheads="1"/>
          </p:cNvSpPr>
          <p:nvPr/>
        </p:nvSpPr>
        <p:spPr bwMode="auto">
          <a:xfrm>
            <a:off x="5628162" y="2031766"/>
            <a:ext cx="2133814" cy="784225"/>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en-US" altLang="zh-CN" sz="1600" dirty="0" err="1">
                <a:latin typeface="Arial" charset="0"/>
                <a:ea typeface="宋体" pitchFamily="2" charset="-122"/>
              </a:rPr>
              <a:t>rdt_rcv</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&amp;&amp; </a:t>
            </a:r>
          </a:p>
          <a:p>
            <a:pPr eaLnBrk="0" hangingPunct="0">
              <a:lnSpc>
                <a:spcPct val="100000"/>
              </a:lnSpc>
              <a:spcBef>
                <a:spcPct val="0"/>
              </a:spcBef>
              <a:buClrTx/>
              <a:buFontTx/>
              <a:buNone/>
            </a:pPr>
            <a:r>
              <a:rPr kumimoji="0" lang="en-US" altLang="zh-CN" sz="1600" dirty="0">
                <a:latin typeface="Arial" charset="0"/>
                <a:ea typeface="宋体" pitchFamily="2" charset="-122"/>
              </a:rPr>
              <a:t>   (corrupt(</a:t>
            </a:r>
            <a:r>
              <a:rPr kumimoji="0" lang="en-US" altLang="zh-CN" sz="1600" dirty="0" err="1">
                <a:latin typeface="Arial" charset="0"/>
                <a:ea typeface="宋体" pitchFamily="2" charset="-122"/>
              </a:rPr>
              <a:t>rcvpkt</a:t>
            </a:r>
            <a:r>
              <a:rPr kumimoji="0" lang="en-US" altLang="zh-CN" sz="1600" dirty="0">
                <a:latin typeface="Arial" charset="0"/>
                <a:ea typeface="宋体" pitchFamily="2" charset="-122"/>
              </a:rPr>
              <a:t>) ||</a:t>
            </a:r>
          </a:p>
          <a:p>
            <a:pPr eaLnBrk="0" hangingPunct="0">
              <a:lnSpc>
                <a:spcPct val="100000"/>
              </a:lnSpc>
              <a:spcBef>
                <a:spcPct val="0"/>
              </a:spcBef>
              <a:buClrTx/>
              <a:buFontTx/>
              <a:buNone/>
            </a:pPr>
            <a:r>
              <a:rPr kumimoji="0" lang="en-US" altLang="zh-CN" sz="1600" dirty="0">
                <a:latin typeface="Arial" charset="0"/>
                <a:ea typeface="宋体" pitchFamily="2" charset="-122"/>
              </a:rPr>
              <a:t>   </a:t>
            </a:r>
            <a:r>
              <a:rPr kumimoji="0" lang="en-US" altLang="zh-CN" sz="1600" b="1" dirty="0">
                <a:solidFill>
                  <a:srgbClr val="FF0000"/>
                </a:solidFill>
                <a:latin typeface="Arial" charset="0"/>
                <a:ea typeface="宋体" pitchFamily="2" charset="-122"/>
              </a:rPr>
              <a:t>has_seq0(</a:t>
            </a:r>
            <a:r>
              <a:rPr kumimoji="0" lang="en-US" altLang="zh-CN" sz="1600" b="1" dirty="0" err="1">
                <a:solidFill>
                  <a:srgbClr val="FF0000"/>
                </a:solidFill>
                <a:latin typeface="Arial" charset="0"/>
                <a:ea typeface="宋体" pitchFamily="2" charset="-122"/>
              </a:rPr>
              <a:t>rcvpkt</a:t>
            </a:r>
            <a:r>
              <a:rPr kumimoji="0" lang="en-US" altLang="zh-CN" sz="1600" b="1" dirty="0">
                <a:solidFill>
                  <a:srgbClr val="FF0000"/>
                </a:solidFill>
                <a:latin typeface="Arial" charset="0"/>
                <a:ea typeface="宋体" pitchFamily="2" charset="-122"/>
              </a:rPr>
              <a:t>))</a:t>
            </a:r>
            <a:endParaRPr kumimoji="0" lang="en-US" altLang="zh-CN" sz="1600" b="1" dirty="0">
              <a:solidFill>
                <a:srgbClr val="FF0000"/>
              </a:solidFill>
              <a:latin typeface="Times New Roman" pitchFamily="18" charset="0"/>
              <a:ea typeface="宋体" pitchFamily="2" charset="-122"/>
            </a:endParaRPr>
          </a:p>
        </p:txBody>
      </p:sp>
      <p:sp>
        <p:nvSpPr>
          <p:cNvPr id="73" name="Text Box 52">
            <a:extLst>
              <a:ext uri="{FF2B5EF4-FFF2-40B4-BE49-F238E27FC236}">
                <a16:creationId xmlns:a16="http://schemas.microsoft.com/office/drawing/2014/main" id="{15B19E74-94E7-4445-ABFE-6E2EF63AAEA8}"/>
              </a:ext>
            </a:extLst>
          </p:cNvPr>
          <p:cNvSpPr txBox="1">
            <a:spLocks noChangeArrowheads="1"/>
          </p:cNvSpPr>
          <p:nvPr/>
        </p:nvSpPr>
        <p:spPr bwMode="auto">
          <a:xfrm>
            <a:off x="5690075" y="2823928"/>
            <a:ext cx="3446462" cy="803275"/>
          </a:xfrm>
          <a:prstGeom prst="rect">
            <a:avLst/>
          </a:prstGeom>
          <a:noFill/>
          <a:ln w="9525">
            <a:noFill/>
            <a:miter lim="800000"/>
            <a:headEnd/>
            <a:tailEnd/>
          </a:ln>
        </p:spPr>
        <p:txBody>
          <a:bodyPr/>
          <a:lstStyle/>
          <a:p>
            <a:pPr>
              <a:lnSpc>
                <a:spcPct val="100000"/>
              </a:lnSpc>
              <a:spcBef>
                <a:spcPct val="0"/>
              </a:spcBef>
            </a:pPr>
            <a:r>
              <a:rPr kumimoji="0" lang="en-US" altLang="zh-CN" sz="1600" dirty="0">
                <a:latin typeface="Arial" charset="0"/>
                <a:ea typeface="宋体" pitchFamily="2" charset="-122"/>
              </a:rPr>
              <a:t>compute </a:t>
            </a:r>
            <a:r>
              <a:rPr kumimoji="0" lang="en-US" altLang="zh-CN" sz="1600" dirty="0" err="1">
                <a:latin typeface="Arial" charset="0"/>
                <a:ea typeface="宋体" pitchFamily="2" charset="-122"/>
              </a:rPr>
              <a:t>chksum</a:t>
            </a:r>
            <a:endParaRPr kumimoji="0" lang="en-US" altLang="zh-CN" sz="1600" dirty="0">
              <a:latin typeface="Arial" charset="0"/>
              <a:ea typeface="宋体" pitchFamily="2" charset="-122"/>
            </a:endParaRPr>
          </a:p>
          <a:p>
            <a:pPr>
              <a:lnSpc>
                <a:spcPct val="100000"/>
              </a:lnSpc>
              <a:spcBef>
                <a:spcPct val="0"/>
              </a:spcBef>
            </a:pPr>
            <a:r>
              <a:rPr kumimoji="0" lang="en-US" altLang="zh-CN" sz="1600" b="1" dirty="0" err="1">
                <a:solidFill>
                  <a:srgbClr val="FF0000"/>
                </a:solidFill>
                <a:latin typeface="Arial" charset="0"/>
                <a:ea typeface="宋体" pitchFamily="2" charset="-122"/>
              </a:rPr>
              <a:t>make_pkt</a:t>
            </a:r>
            <a:r>
              <a:rPr kumimoji="0" lang="en-US" altLang="zh-CN" sz="1600" b="1" dirty="0">
                <a:solidFill>
                  <a:srgbClr val="FF0000"/>
                </a:solidFill>
                <a:latin typeface="Arial" charset="0"/>
                <a:ea typeface="宋体" pitchFamily="2" charset="-122"/>
              </a:rPr>
              <a:t>(</a:t>
            </a:r>
            <a:r>
              <a:rPr kumimoji="0" lang="en-US" altLang="zh-CN" sz="1600" b="1" dirty="0" err="1">
                <a:solidFill>
                  <a:srgbClr val="FF0000"/>
                </a:solidFill>
                <a:latin typeface="Arial" charset="0"/>
                <a:ea typeface="宋体" pitchFamily="2" charset="-122"/>
              </a:rPr>
              <a:t>sndpkt</a:t>
            </a:r>
            <a:r>
              <a:rPr kumimoji="0" lang="en-US" altLang="zh-CN" sz="1600" b="1" dirty="0">
                <a:solidFill>
                  <a:srgbClr val="FF0000"/>
                </a:solidFill>
                <a:latin typeface="Arial" charset="0"/>
                <a:ea typeface="宋体" pitchFamily="2" charset="-122"/>
              </a:rPr>
              <a:t>, ACK0, </a:t>
            </a:r>
            <a:r>
              <a:rPr kumimoji="0" lang="en-US" altLang="zh-CN" sz="1600" b="1" dirty="0" err="1">
                <a:solidFill>
                  <a:srgbClr val="FF0000"/>
                </a:solidFill>
                <a:latin typeface="Arial" charset="0"/>
                <a:ea typeface="宋体" pitchFamily="2" charset="-122"/>
              </a:rPr>
              <a:t>chksum</a:t>
            </a:r>
            <a:r>
              <a:rPr kumimoji="0" lang="en-US" altLang="zh-CN" sz="1600" b="1" dirty="0">
                <a:solidFill>
                  <a:srgbClr val="FF0000"/>
                </a:solidFill>
                <a:latin typeface="Arial" charset="0"/>
                <a:ea typeface="宋体" pitchFamily="2" charset="-122"/>
              </a:rPr>
              <a:t>)</a:t>
            </a:r>
          </a:p>
          <a:p>
            <a:pPr eaLnBrk="0" hangingPunct="0">
              <a:lnSpc>
                <a:spcPct val="100000"/>
              </a:lnSpc>
              <a:spcBef>
                <a:spcPct val="0"/>
              </a:spcBef>
              <a:buClrTx/>
              <a:buFontTx/>
              <a:buNone/>
            </a:pPr>
            <a:r>
              <a:rPr kumimoji="0" lang="en-US" altLang="zh-CN" sz="1600" dirty="0" err="1">
                <a:latin typeface="Arial" charset="0"/>
                <a:ea typeface="宋体" pitchFamily="2" charset="-122"/>
              </a:rPr>
              <a:t>udt_send</a:t>
            </a:r>
            <a:r>
              <a:rPr kumimoji="0" lang="en-US" altLang="zh-CN" sz="1600" dirty="0">
                <a:latin typeface="Arial" charset="0"/>
                <a:ea typeface="宋体" pitchFamily="2" charset="-122"/>
              </a:rPr>
              <a:t>(</a:t>
            </a:r>
            <a:r>
              <a:rPr kumimoji="0" lang="en-US" altLang="zh-CN" sz="1600" dirty="0" err="1">
                <a:latin typeface="Arial" charset="0"/>
                <a:ea typeface="宋体" pitchFamily="2" charset="-122"/>
              </a:rPr>
              <a:t>sndpkt</a:t>
            </a:r>
            <a:r>
              <a:rPr kumimoji="0" lang="en-US" altLang="zh-CN" sz="1600" dirty="0">
                <a:latin typeface="Arial" charset="0"/>
                <a:ea typeface="宋体" pitchFamily="2" charset="-122"/>
              </a:rPr>
              <a:t>)</a:t>
            </a:r>
          </a:p>
        </p:txBody>
      </p:sp>
    </p:spTree>
    <p:extLst>
      <p:ext uri="{BB962C8B-B14F-4D97-AF65-F5344CB8AC3E}">
        <p14:creationId xmlns:p14="http://schemas.microsoft.com/office/powerpoint/2010/main" val="3021814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8775" indent="-358775">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a:t>
            </a:r>
            <a:r>
              <a:rPr lang="zh-CN" altLang="en-US" sz="2800" dirty="0">
                <a:latin typeface="Arial" charset="0"/>
                <a:ea typeface="宋体" pitchFamily="2" charset="-122"/>
              </a:rPr>
              <a:t>通道既有差错又有丢失</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369288" y="1476824"/>
            <a:ext cx="8450862" cy="3886008"/>
          </a:xfrm>
          <a:prstGeom prst="rect">
            <a:avLst/>
          </a:prstGeom>
          <a:noFill/>
          <a:ln w="9525">
            <a:noFill/>
            <a:miter lim="800000"/>
            <a:headEnd/>
            <a:tailEnd/>
          </a:ln>
        </p:spPr>
        <p:txBody>
          <a:bodyPr/>
          <a:lstStyle/>
          <a:p>
            <a:pPr marL="625475" lvl="1" indent="-266700" eaLnBrk="0" hangingPunct="0">
              <a:lnSpc>
                <a:spcPct val="150000"/>
              </a:lnSpc>
              <a:spcBef>
                <a:spcPts val="300"/>
              </a:spcBef>
              <a:buClr>
                <a:srgbClr val="2A09B7"/>
              </a:buClr>
              <a:buFont typeface="Wingdings" panose="05000000000000000000" pitchFamily="2" charset="2"/>
              <a:buChar char="Ø"/>
            </a:pPr>
            <a:r>
              <a:rPr lang="zh-CN" altLang="en-US" sz="2200" b="1" u="dbl" dirty="0">
                <a:solidFill>
                  <a:srgbClr val="FF0000"/>
                </a:solidFill>
                <a:latin typeface="Arial" charset="0"/>
              </a:rPr>
              <a:t>新的假设</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：下层通道可能有分组丢失（数据或</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如何检测丢失，当丢失发生时如何解决？</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校验和、序号、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、重传等不足以解决丢失检测问题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ct val="150000"/>
              </a:lnSpc>
              <a:spcBef>
                <a:spcPts val="300"/>
              </a:spcBef>
              <a:buClr>
                <a:srgbClr val="2A09B7"/>
              </a:buClr>
              <a:buFont typeface="Wingdings" panose="05000000000000000000" pitchFamily="2" charset="2"/>
              <a:buChar char="Ø"/>
            </a:pPr>
            <a:r>
              <a:rPr lang="zh-CN" altLang="en-US" sz="2200" b="1" u="dbl" dirty="0">
                <a:solidFill>
                  <a:srgbClr val="FF0000"/>
                </a:solidFill>
                <a:latin typeface="Arial" charset="0"/>
              </a:rPr>
              <a:t>解决方法</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：发送端等待一个</a:t>
            </a:r>
            <a:r>
              <a:rPr lang="zh-CN" altLang="en-US" sz="2200" b="1" dirty="0">
                <a:solidFill>
                  <a:srgbClr val="2A09B7"/>
                </a:solidFill>
                <a:latin typeface="楷体" panose="02010609060101010101" pitchFamily="49" charset="-122"/>
                <a:ea typeface="楷体" panose="02010609060101010101" pitchFamily="49" charset="-122"/>
                <a:cs typeface="Times New Roman" panose="02020603050405020304" pitchFamily="18" charset="0"/>
              </a:rPr>
              <a:t>合理时间</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需要计时器</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如果未收到</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，则重传当前分组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如果分组仅是延迟，或是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丢失，将造成接收端重复接收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接收端根据序号判断重复分组，并丢弃</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Text Box 10">
            <a:extLst>
              <a:ext uri="{FF2B5EF4-FFF2-40B4-BE49-F238E27FC236}">
                <a16:creationId xmlns:a16="http://schemas.microsoft.com/office/drawing/2014/main" id="{46BFB1FE-37C6-4AD0-8E1A-EEAB630F870D}"/>
              </a:ext>
            </a:extLst>
          </p:cNvPr>
          <p:cNvSpPr txBox="1">
            <a:spLocks noChangeArrowheads="1"/>
          </p:cNvSpPr>
          <p:nvPr/>
        </p:nvSpPr>
        <p:spPr bwMode="auto">
          <a:xfrm>
            <a:off x="585620" y="5669208"/>
            <a:ext cx="6321807" cy="430887"/>
          </a:xfrm>
          <a:prstGeom prst="rect">
            <a:avLst/>
          </a:prstGeom>
          <a:solidFill>
            <a:schemeClr val="accent2">
              <a:lumMod val="20000"/>
              <a:lumOff val="80000"/>
            </a:schemeClr>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zh-CN" altLang="en-US" sz="2200" b="1"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计时器</a:t>
            </a:r>
            <a:r>
              <a:rPr lang="zh-CN" altLang="en-US" sz="2200" dirty="0">
                <a:solidFill>
                  <a:srgbClr val="CC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多长时间合理？过长和过短有什么问题？</a:t>
            </a:r>
            <a:endParaRPr lang="en-US" sz="2200" dirty="0">
              <a:solidFill>
                <a:srgbClr val="CC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07865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val 38">
            <a:extLst>
              <a:ext uri="{FF2B5EF4-FFF2-40B4-BE49-F238E27FC236}">
                <a16:creationId xmlns:a16="http://schemas.microsoft.com/office/drawing/2014/main" id="{46A7BD6E-3708-4261-9DCF-E15059E07BCD}"/>
              </a:ext>
            </a:extLst>
          </p:cNvPr>
          <p:cNvSpPr>
            <a:spLocks noChangeArrowheads="1"/>
          </p:cNvSpPr>
          <p:nvPr/>
        </p:nvSpPr>
        <p:spPr bwMode="auto">
          <a:xfrm>
            <a:off x="5619447" y="4286141"/>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110" name="Oval 38">
            <a:extLst>
              <a:ext uri="{FF2B5EF4-FFF2-40B4-BE49-F238E27FC236}">
                <a16:creationId xmlns:a16="http://schemas.microsoft.com/office/drawing/2014/main" id="{121AC8A9-5167-41E7-AFE0-C05A2C2F63F2}"/>
              </a:ext>
            </a:extLst>
          </p:cNvPr>
          <p:cNvSpPr>
            <a:spLocks noChangeArrowheads="1"/>
          </p:cNvSpPr>
          <p:nvPr/>
        </p:nvSpPr>
        <p:spPr bwMode="auto">
          <a:xfrm>
            <a:off x="2664122" y="4273221"/>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108" name="Oval 38">
            <a:extLst>
              <a:ext uri="{FF2B5EF4-FFF2-40B4-BE49-F238E27FC236}">
                <a16:creationId xmlns:a16="http://schemas.microsoft.com/office/drawing/2014/main" id="{727A81B5-1989-40D8-B627-F201919A8906}"/>
              </a:ext>
            </a:extLst>
          </p:cNvPr>
          <p:cNvSpPr>
            <a:spLocks noChangeArrowheads="1"/>
          </p:cNvSpPr>
          <p:nvPr/>
        </p:nvSpPr>
        <p:spPr bwMode="auto">
          <a:xfrm>
            <a:off x="5383213" y="2377547"/>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106" name="Oval 38">
            <a:extLst>
              <a:ext uri="{FF2B5EF4-FFF2-40B4-BE49-F238E27FC236}">
                <a16:creationId xmlns:a16="http://schemas.microsoft.com/office/drawing/2014/main" id="{E771FD05-A380-44BC-8170-65B92E62A215}"/>
              </a:ext>
            </a:extLst>
          </p:cNvPr>
          <p:cNvSpPr>
            <a:spLocks noChangeArrowheads="1"/>
          </p:cNvSpPr>
          <p:nvPr/>
        </p:nvSpPr>
        <p:spPr bwMode="auto">
          <a:xfrm>
            <a:off x="2602800" y="2414624"/>
            <a:ext cx="917575" cy="838200"/>
          </a:xfrm>
          <a:prstGeom prst="ellipse">
            <a:avLst/>
          </a:prstGeom>
          <a:solidFill>
            <a:schemeClr val="accent2"/>
          </a:solidFill>
          <a:ln w="19050">
            <a:solidFill>
              <a:schemeClr val="accent2"/>
            </a:solidFill>
            <a:round/>
            <a:headEnd/>
            <a:tailEnd/>
          </a:ln>
        </p:spPr>
        <p:txBody>
          <a:bodyPr/>
          <a:lstStyle/>
          <a:p>
            <a:endParaRPr lang="zh-CN" altLang="en-US"/>
          </a:p>
        </p:txBody>
      </p:sp>
      <p:sp>
        <p:nvSpPr>
          <p:cNvPr id="31748" name="Rectangle 2"/>
          <p:cNvSpPr>
            <a:spLocks noGrp="1" noChangeArrowheads="1"/>
          </p:cNvSpPr>
          <p:nvPr>
            <p:ph type="title"/>
          </p:nvPr>
        </p:nvSpPr>
        <p:spPr>
          <a:xfrm>
            <a:off x="323850" y="609600"/>
            <a:ext cx="8496300" cy="836141"/>
          </a:xfrm>
        </p:spPr>
        <p:txBody>
          <a:bodyPr>
            <a:normAutofit/>
          </a:bodyPr>
          <a:lstStyle/>
          <a:p>
            <a:pPr marL="357188" indent="-357188">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：发送端状态机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49" name="Text Box 3">
            <a:extLst>
              <a:ext uri="{FF2B5EF4-FFF2-40B4-BE49-F238E27FC236}">
                <a16:creationId xmlns:a16="http://schemas.microsoft.com/office/drawing/2014/main" id="{3AEBD35D-4B72-44AC-837B-830BC497DBEA}"/>
              </a:ext>
            </a:extLst>
          </p:cNvPr>
          <p:cNvSpPr txBox="1">
            <a:spLocks noChangeArrowheads="1"/>
          </p:cNvSpPr>
          <p:nvPr/>
        </p:nvSpPr>
        <p:spPr bwMode="auto">
          <a:xfrm>
            <a:off x="3019425" y="1694932"/>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sndpkt = make_pkt(0, data, checksum)</a:t>
            </a:r>
          </a:p>
          <a:p>
            <a:pPr algn="l"/>
            <a:r>
              <a:rPr lang="en-US" altLang="zh-CN" sz="1400">
                <a:latin typeface="Arial" panose="020B0604020202020204" pitchFamily="34" charset="0"/>
              </a:rPr>
              <a:t>udt_send(sndpkt)</a:t>
            </a:r>
          </a:p>
          <a:p>
            <a:pPr algn="l"/>
            <a:r>
              <a:rPr lang="en-US" altLang="zh-CN" sz="1400">
                <a:latin typeface="Arial" panose="020B0604020202020204" pitchFamily="34" charset="0"/>
              </a:rPr>
              <a:t>start_timer</a:t>
            </a:r>
            <a:endParaRPr lang="en-US" altLang="zh-CN" sz="1400">
              <a:latin typeface="Times New Roman" panose="02020603050405020304" pitchFamily="18" charset="0"/>
            </a:endParaRPr>
          </a:p>
        </p:txBody>
      </p:sp>
      <p:sp>
        <p:nvSpPr>
          <p:cNvPr id="50" name="Text Box 4">
            <a:extLst>
              <a:ext uri="{FF2B5EF4-FFF2-40B4-BE49-F238E27FC236}">
                <a16:creationId xmlns:a16="http://schemas.microsoft.com/office/drawing/2014/main" id="{0BBE4ACA-E294-4E47-B7DF-CE2B8942AFC3}"/>
              </a:ext>
            </a:extLst>
          </p:cNvPr>
          <p:cNvSpPr txBox="1">
            <a:spLocks noChangeArrowheads="1"/>
          </p:cNvSpPr>
          <p:nvPr/>
        </p:nvSpPr>
        <p:spPr bwMode="auto">
          <a:xfrm>
            <a:off x="3060700" y="1401245"/>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rdt_send(data)</a:t>
            </a:r>
            <a:endParaRPr lang="en-US" altLang="zh-CN" sz="1400">
              <a:latin typeface="Times New Roman" panose="02020603050405020304" pitchFamily="18" charset="0"/>
            </a:endParaRPr>
          </a:p>
        </p:txBody>
      </p:sp>
      <p:sp>
        <p:nvSpPr>
          <p:cNvPr id="51" name="Line 5">
            <a:extLst>
              <a:ext uri="{FF2B5EF4-FFF2-40B4-BE49-F238E27FC236}">
                <a16:creationId xmlns:a16="http://schemas.microsoft.com/office/drawing/2014/main" id="{9A81A5F5-7CC3-4D00-A7E2-9BAA4F29C6F1}"/>
              </a:ext>
            </a:extLst>
          </p:cNvPr>
          <p:cNvSpPr>
            <a:spLocks noChangeShapeType="1"/>
          </p:cNvSpPr>
          <p:nvPr/>
        </p:nvSpPr>
        <p:spPr bwMode="auto">
          <a:xfrm>
            <a:off x="3162300" y="1739382"/>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6">
            <a:extLst>
              <a:ext uri="{FF2B5EF4-FFF2-40B4-BE49-F238E27FC236}">
                <a16:creationId xmlns:a16="http://schemas.microsoft.com/office/drawing/2014/main" id="{1B37C2B8-6915-49B0-8932-57C5DC39584A}"/>
              </a:ext>
            </a:extLst>
          </p:cNvPr>
          <p:cNvSpPr>
            <a:spLocks noChangeShapeType="1"/>
          </p:cNvSpPr>
          <p:nvPr/>
        </p:nvSpPr>
        <p:spPr bwMode="auto">
          <a:xfrm>
            <a:off x="2749550" y="1855270"/>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Oval 8">
            <a:extLst>
              <a:ext uri="{FF2B5EF4-FFF2-40B4-BE49-F238E27FC236}">
                <a16:creationId xmlns:a16="http://schemas.microsoft.com/office/drawing/2014/main" id="{C72AEF72-73CC-4938-84C8-16CA69C04F44}"/>
              </a:ext>
            </a:extLst>
          </p:cNvPr>
          <p:cNvSpPr>
            <a:spLocks noChangeArrowheads="1"/>
          </p:cNvSpPr>
          <p:nvPr/>
        </p:nvSpPr>
        <p:spPr bwMode="auto">
          <a:xfrm>
            <a:off x="5360988" y="2401370"/>
            <a:ext cx="889000" cy="86518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56" name="Freeform 10">
            <a:extLst>
              <a:ext uri="{FF2B5EF4-FFF2-40B4-BE49-F238E27FC236}">
                <a16:creationId xmlns:a16="http://schemas.microsoft.com/office/drawing/2014/main" id="{D68A2234-4212-45D1-9D64-70516E1F3B2C}"/>
              </a:ext>
            </a:extLst>
          </p:cNvPr>
          <p:cNvSpPr>
            <a:spLocks/>
          </p:cNvSpPr>
          <p:nvPr/>
        </p:nvSpPr>
        <p:spPr bwMode="auto">
          <a:xfrm flipV="1">
            <a:off x="3384550" y="2382320"/>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 name="Freeform 11">
            <a:extLst>
              <a:ext uri="{FF2B5EF4-FFF2-40B4-BE49-F238E27FC236}">
                <a16:creationId xmlns:a16="http://schemas.microsoft.com/office/drawing/2014/main" id="{4C1E3409-F878-4855-A756-AB81E2541729}"/>
              </a:ext>
            </a:extLst>
          </p:cNvPr>
          <p:cNvSpPr>
            <a:spLocks/>
          </p:cNvSpPr>
          <p:nvPr/>
        </p:nvSpPr>
        <p:spPr bwMode="auto">
          <a:xfrm>
            <a:off x="6069013" y="1985445"/>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Text Box 12">
            <a:extLst>
              <a:ext uri="{FF2B5EF4-FFF2-40B4-BE49-F238E27FC236}">
                <a16:creationId xmlns:a16="http://schemas.microsoft.com/office/drawing/2014/main" id="{E2A21BEA-7C69-4239-8038-9610386AAF9A}"/>
              </a:ext>
            </a:extLst>
          </p:cNvPr>
          <p:cNvSpPr txBox="1">
            <a:spLocks noChangeArrowheads="1"/>
          </p:cNvSpPr>
          <p:nvPr/>
        </p:nvSpPr>
        <p:spPr bwMode="auto">
          <a:xfrm>
            <a:off x="6421546" y="1605690"/>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&amp;&amp;  </a:t>
            </a:r>
          </a:p>
          <a:p>
            <a:pPr algn="l"/>
            <a:r>
              <a:rPr lang="en-US" altLang="zh-CN" sz="1400" dirty="0">
                <a:latin typeface="Arial" panose="020B0604020202020204" pitchFamily="34" charset="0"/>
              </a:rPr>
              <a:t>( corrupt(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err="1">
                <a:latin typeface="Arial" panose="020B0604020202020204" pitchFamily="34" charset="0"/>
              </a:rPr>
              <a:t>isACK</a:t>
            </a:r>
            <a:r>
              <a:rPr lang="en-US" altLang="zh-CN" sz="1400" dirty="0">
                <a:latin typeface="Arial" panose="020B0604020202020204" pitchFamily="34" charset="0"/>
              </a:rPr>
              <a:t>(rcvpkt,1) )</a:t>
            </a:r>
            <a:endParaRPr lang="en-US" altLang="zh-CN" sz="1400" dirty="0">
              <a:latin typeface="Times New Roman" panose="02020603050405020304" pitchFamily="18" charset="0"/>
            </a:endParaRPr>
          </a:p>
        </p:txBody>
      </p:sp>
      <p:sp>
        <p:nvSpPr>
          <p:cNvPr id="59" name="Line 13">
            <a:extLst>
              <a:ext uri="{FF2B5EF4-FFF2-40B4-BE49-F238E27FC236}">
                <a16:creationId xmlns:a16="http://schemas.microsoft.com/office/drawing/2014/main" id="{1D11B06A-A74E-42DD-B1EB-136446DCFE7E}"/>
              </a:ext>
            </a:extLst>
          </p:cNvPr>
          <p:cNvSpPr>
            <a:spLocks noChangeShapeType="1"/>
          </p:cNvSpPr>
          <p:nvPr/>
        </p:nvSpPr>
        <p:spPr bwMode="auto">
          <a:xfrm>
            <a:off x="6631096" y="2307365"/>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Oval 15">
            <a:extLst>
              <a:ext uri="{FF2B5EF4-FFF2-40B4-BE49-F238E27FC236}">
                <a16:creationId xmlns:a16="http://schemas.microsoft.com/office/drawing/2014/main" id="{7BEA7043-9862-47A0-8AD8-125D82637383}"/>
              </a:ext>
            </a:extLst>
          </p:cNvPr>
          <p:cNvSpPr>
            <a:spLocks noChangeArrowheads="1"/>
          </p:cNvSpPr>
          <p:nvPr/>
        </p:nvSpPr>
        <p:spPr bwMode="auto">
          <a:xfrm>
            <a:off x="5562600" y="4315895"/>
            <a:ext cx="944562" cy="85090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3" name="Freeform 17">
            <a:extLst>
              <a:ext uri="{FF2B5EF4-FFF2-40B4-BE49-F238E27FC236}">
                <a16:creationId xmlns:a16="http://schemas.microsoft.com/office/drawing/2014/main" id="{84932FD1-24C1-4435-AFCC-980866571A14}"/>
              </a:ext>
            </a:extLst>
          </p:cNvPr>
          <p:cNvSpPr>
            <a:spLocks/>
          </p:cNvSpPr>
          <p:nvPr/>
        </p:nvSpPr>
        <p:spPr bwMode="auto">
          <a:xfrm rot="16200000" flipV="1">
            <a:off x="2140744" y="3713438"/>
            <a:ext cx="1254125" cy="150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 name="Freeform 18">
            <a:extLst>
              <a:ext uri="{FF2B5EF4-FFF2-40B4-BE49-F238E27FC236}">
                <a16:creationId xmlns:a16="http://schemas.microsoft.com/office/drawing/2014/main" id="{BD841E28-F0AF-426B-9055-C8DCF4C798CD}"/>
              </a:ext>
            </a:extLst>
          </p:cNvPr>
          <p:cNvSpPr>
            <a:spLocks/>
          </p:cNvSpPr>
          <p:nvPr/>
        </p:nvSpPr>
        <p:spPr bwMode="auto">
          <a:xfrm>
            <a:off x="3370263" y="5049320"/>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 name="Freeform 19">
            <a:extLst>
              <a:ext uri="{FF2B5EF4-FFF2-40B4-BE49-F238E27FC236}">
                <a16:creationId xmlns:a16="http://schemas.microsoft.com/office/drawing/2014/main" id="{1F7CF857-891D-4566-8F3B-8716755C6307}"/>
              </a:ext>
            </a:extLst>
          </p:cNvPr>
          <p:cNvSpPr>
            <a:spLocks/>
          </p:cNvSpPr>
          <p:nvPr/>
        </p:nvSpPr>
        <p:spPr bwMode="auto">
          <a:xfrm rot="5400000" flipH="1" flipV="1">
            <a:off x="5611019" y="3638826"/>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Text Box 20">
            <a:extLst>
              <a:ext uri="{FF2B5EF4-FFF2-40B4-BE49-F238E27FC236}">
                <a16:creationId xmlns:a16="http://schemas.microsoft.com/office/drawing/2014/main" id="{3C0730D7-8484-43C5-A06C-54545B9A6EBE}"/>
              </a:ext>
            </a:extLst>
          </p:cNvPr>
          <p:cNvSpPr txBox="1">
            <a:spLocks noChangeArrowheads="1"/>
          </p:cNvSpPr>
          <p:nvPr/>
        </p:nvSpPr>
        <p:spPr bwMode="auto">
          <a:xfrm>
            <a:off x="3390901" y="5545362"/>
            <a:ext cx="3314808" cy="69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sndpkt</a:t>
            </a:r>
            <a:r>
              <a:rPr lang="en-US" altLang="zh-CN" sz="1400" dirty="0">
                <a:latin typeface="Arial" panose="020B0604020202020204" pitchFamily="34" charset="0"/>
              </a:rPr>
              <a:t> = </a:t>
            </a:r>
            <a:r>
              <a:rPr lang="en-US" altLang="zh-CN" sz="1400" dirty="0" err="1">
                <a:latin typeface="Arial" panose="020B0604020202020204" pitchFamily="34" charset="0"/>
              </a:rPr>
              <a:t>make_pkt</a:t>
            </a:r>
            <a:r>
              <a:rPr lang="en-US" altLang="zh-CN" sz="1400" dirty="0">
                <a:latin typeface="Arial" panose="020B0604020202020204" pitchFamily="34" charset="0"/>
              </a:rPr>
              <a:t>(1, data, checksum)</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p>
          <a:p>
            <a:pPr algn="l"/>
            <a:r>
              <a:rPr lang="en-US" altLang="zh-CN" sz="1400" dirty="0" err="1">
                <a:latin typeface="Arial" panose="020B0604020202020204" pitchFamily="34" charset="0"/>
              </a:rPr>
              <a:t>start_timer</a:t>
            </a:r>
            <a:endParaRPr lang="en-US" altLang="zh-CN" sz="1400" dirty="0">
              <a:latin typeface="Times New Roman" panose="02020603050405020304" pitchFamily="18" charset="0"/>
            </a:endParaRPr>
          </a:p>
        </p:txBody>
      </p:sp>
      <p:sp>
        <p:nvSpPr>
          <p:cNvPr id="67" name="Text Box 21">
            <a:extLst>
              <a:ext uri="{FF2B5EF4-FFF2-40B4-BE49-F238E27FC236}">
                <a16:creationId xmlns:a16="http://schemas.microsoft.com/office/drawing/2014/main" id="{10C1ACB6-EEF3-4740-9A38-1E3D6F374B28}"/>
              </a:ext>
            </a:extLst>
          </p:cNvPr>
          <p:cNvSpPr txBox="1">
            <a:spLocks noChangeArrowheads="1"/>
          </p:cNvSpPr>
          <p:nvPr/>
        </p:nvSpPr>
        <p:spPr bwMode="auto">
          <a:xfrm>
            <a:off x="3390900" y="5262788"/>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rdt_send(data)</a:t>
            </a:r>
            <a:endParaRPr lang="en-US" altLang="zh-CN" sz="1400">
              <a:latin typeface="Times New Roman" panose="02020603050405020304" pitchFamily="18" charset="0"/>
            </a:endParaRPr>
          </a:p>
        </p:txBody>
      </p:sp>
      <p:sp>
        <p:nvSpPr>
          <p:cNvPr id="68" name="Line 22">
            <a:extLst>
              <a:ext uri="{FF2B5EF4-FFF2-40B4-BE49-F238E27FC236}">
                <a16:creationId xmlns:a16="http://schemas.microsoft.com/office/drawing/2014/main" id="{F08AEC5E-A93A-46AB-B5D5-88C877C74B95}"/>
              </a:ext>
            </a:extLst>
          </p:cNvPr>
          <p:cNvSpPr>
            <a:spLocks noChangeShapeType="1"/>
          </p:cNvSpPr>
          <p:nvPr/>
        </p:nvSpPr>
        <p:spPr bwMode="auto">
          <a:xfrm>
            <a:off x="3509962" y="5573938"/>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Text Box 23">
            <a:extLst>
              <a:ext uri="{FF2B5EF4-FFF2-40B4-BE49-F238E27FC236}">
                <a16:creationId xmlns:a16="http://schemas.microsoft.com/office/drawing/2014/main" id="{85F7C92C-4F53-4E5D-823E-27788FF0A747}"/>
              </a:ext>
            </a:extLst>
          </p:cNvPr>
          <p:cNvSpPr txBox="1">
            <a:spLocks noChangeArrowheads="1"/>
          </p:cNvSpPr>
          <p:nvPr/>
        </p:nvSpPr>
        <p:spPr bwMode="auto">
          <a:xfrm>
            <a:off x="6280151" y="3417370"/>
            <a:ext cx="1946276"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a:latin typeface="Arial" panose="020B0604020202020204" pitchFamily="34" charset="0"/>
              </a:rPr>
              <a:t>&amp;&amp; </a:t>
            </a:r>
            <a:r>
              <a:rPr lang="en-US" altLang="zh-CN" sz="1400" dirty="0" err="1">
                <a:latin typeface="Arial" panose="020B0604020202020204" pitchFamily="34" charset="0"/>
              </a:rPr>
              <a:t>notcorrupt</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a:latin typeface="Arial" panose="020B0604020202020204" pitchFamily="34" charset="0"/>
              </a:rPr>
              <a:t>&amp;&amp; </a:t>
            </a:r>
            <a:r>
              <a:rPr lang="en-US" altLang="zh-CN" sz="1400" dirty="0" err="1">
                <a:latin typeface="Arial" panose="020B0604020202020204" pitchFamily="34" charset="0"/>
              </a:rPr>
              <a:t>isACK</a:t>
            </a:r>
            <a:r>
              <a:rPr lang="en-US" altLang="zh-CN" sz="1400" dirty="0">
                <a:latin typeface="Arial" panose="020B0604020202020204" pitchFamily="34" charset="0"/>
              </a:rPr>
              <a:t>(rcvpkt,0)</a:t>
            </a:r>
            <a:r>
              <a:rPr lang="en-US" altLang="zh-CN" sz="1000" dirty="0">
                <a:latin typeface="Arial" panose="020B0604020202020204" pitchFamily="34" charset="0"/>
              </a:rPr>
              <a:t> </a:t>
            </a:r>
            <a:endParaRPr lang="en-US" altLang="zh-CN" sz="2400" dirty="0">
              <a:latin typeface="Times New Roman" panose="02020603050405020304" pitchFamily="18" charset="0"/>
            </a:endParaRPr>
          </a:p>
        </p:txBody>
      </p:sp>
      <p:sp>
        <p:nvSpPr>
          <p:cNvPr id="70" name="Line 24">
            <a:extLst>
              <a:ext uri="{FF2B5EF4-FFF2-40B4-BE49-F238E27FC236}">
                <a16:creationId xmlns:a16="http://schemas.microsoft.com/office/drawing/2014/main" id="{4A8A1C8E-4880-45E4-BD89-647E2E1E339E}"/>
              </a:ext>
            </a:extLst>
          </p:cNvPr>
          <p:cNvSpPr>
            <a:spLocks noChangeShapeType="1"/>
          </p:cNvSpPr>
          <p:nvPr/>
        </p:nvSpPr>
        <p:spPr bwMode="auto">
          <a:xfrm>
            <a:off x="6396038" y="4128570"/>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 Box 25">
            <a:extLst>
              <a:ext uri="{FF2B5EF4-FFF2-40B4-BE49-F238E27FC236}">
                <a16:creationId xmlns:a16="http://schemas.microsoft.com/office/drawing/2014/main" id="{6AA5DDFC-D2F5-4BB8-8740-CDB1BB568F21}"/>
              </a:ext>
            </a:extLst>
          </p:cNvPr>
          <p:cNvSpPr txBox="1">
            <a:spLocks noChangeArrowheads="1"/>
          </p:cNvSpPr>
          <p:nvPr/>
        </p:nvSpPr>
        <p:spPr bwMode="auto">
          <a:xfrm>
            <a:off x="1290638" y="5373170"/>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&amp;&amp;  </a:t>
            </a:r>
          </a:p>
          <a:p>
            <a:pPr algn="l"/>
            <a:r>
              <a:rPr lang="en-US" altLang="zh-CN" sz="1400" dirty="0">
                <a:latin typeface="Arial" panose="020B0604020202020204" pitchFamily="34" charset="0"/>
              </a:rPr>
              <a:t>( corrupt(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err="1">
                <a:latin typeface="Arial" panose="020B0604020202020204" pitchFamily="34" charset="0"/>
              </a:rPr>
              <a:t>isACK</a:t>
            </a:r>
            <a:r>
              <a:rPr lang="en-US" altLang="zh-CN" sz="1400" dirty="0">
                <a:latin typeface="Arial" panose="020B0604020202020204" pitchFamily="34" charset="0"/>
              </a:rPr>
              <a:t>(rcvpkt,0) )</a:t>
            </a:r>
            <a:endParaRPr lang="en-US" altLang="zh-CN" sz="1400" dirty="0">
              <a:latin typeface="Times New Roman" panose="02020603050405020304" pitchFamily="18" charset="0"/>
            </a:endParaRPr>
          </a:p>
        </p:txBody>
      </p:sp>
      <p:sp>
        <p:nvSpPr>
          <p:cNvPr id="72" name="Line 26">
            <a:extLst>
              <a:ext uri="{FF2B5EF4-FFF2-40B4-BE49-F238E27FC236}">
                <a16:creationId xmlns:a16="http://schemas.microsoft.com/office/drawing/2014/main" id="{2ADE6FC7-6C5B-431D-BEEB-547F4295AE02}"/>
              </a:ext>
            </a:extLst>
          </p:cNvPr>
          <p:cNvSpPr>
            <a:spLocks noChangeShapeType="1"/>
          </p:cNvSpPr>
          <p:nvPr/>
        </p:nvSpPr>
        <p:spPr bwMode="auto">
          <a:xfrm>
            <a:off x="1393825" y="6098657"/>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Text Box 27">
            <a:extLst>
              <a:ext uri="{FF2B5EF4-FFF2-40B4-BE49-F238E27FC236}">
                <a16:creationId xmlns:a16="http://schemas.microsoft.com/office/drawing/2014/main" id="{ACF967A2-7F7E-4DDF-B4FE-F7629EFAE469}"/>
              </a:ext>
            </a:extLst>
          </p:cNvPr>
          <p:cNvSpPr txBox="1">
            <a:spLocks noChangeArrowheads="1"/>
          </p:cNvSpPr>
          <p:nvPr/>
        </p:nvSpPr>
        <p:spPr bwMode="auto">
          <a:xfrm>
            <a:off x="908050" y="3176069"/>
            <a:ext cx="1912938" cy="70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a:latin typeface="Arial" panose="020B0604020202020204" pitchFamily="34" charset="0"/>
              </a:rPr>
              <a:t>&amp;&amp; </a:t>
            </a:r>
            <a:r>
              <a:rPr lang="en-US" altLang="zh-CN" sz="1400" dirty="0" err="1">
                <a:latin typeface="Arial" panose="020B0604020202020204" pitchFamily="34" charset="0"/>
              </a:rPr>
              <a:t>notcorrupt</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pPr algn="l"/>
            <a:r>
              <a:rPr lang="en-US" altLang="zh-CN" sz="1400" dirty="0">
                <a:latin typeface="Arial" panose="020B0604020202020204" pitchFamily="34" charset="0"/>
              </a:rPr>
              <a:t>&amp;&amp; </a:t>
            </a:r>
            <a:r>
              <a:rPr lang="en-US" altLang="zh-CN" sz="1400" dirty="0" err="1">
                <a:latin typeface="Arial" panose="020B0604020202020204" pitchFamily="34" charset="0"/>
              </a:rPr>
              <a:t>isACK</a:t>
            </a:r>
            <a:r>
              <a:rPr lang="en-US" altLang="zh-CN" sz="1400" dirty="0">
                <a:latin typeface="Arial" panose="020B0604020202020204" pitchFamily="34" charset="0"/>
              </a:rPr>
              <a:t>(rcvpkt,1)</a:t>
            </a:r>
            <a:r>
              <a:rPr lang="en-US" altLang="zh-CN" sz="1000" dirty="0">
                <a:latin typeface="Arial" panose="020B0604020202020204" pitchFamily="34" charset="0"/>
              </a:rPr>
              <a:t> </a:t>
            </a:r>
            <a:endParaRPr lang="en-US" altLang="zh-CN" sz="2400" dirty="0">
              <a:latin typeface="Times New Roman" panose="02020603050405020304" pitchFamily="18" charset="0"/>
            </a:endParaRPr>
          </a:p>
        </p:txBody>
      </p:sp>
      <p:sp>
        <p:nvSpPr>
          <p:cNvPr id="74" name="Line 28">
            <a:extLst>
              <a:ext uri="{FF2B5EF4-FFF2-40B4-BE49-F238E27FC236}">
                <a16:creationId xmlns:a16="http://schemas.microsoft.com/office/drawing/2014/main" id="{D054F714-7488-4741-925E-65C0D9FC9C29}"/>
              </a:ext>
            </a:extLst>
          </p:cNvPr>
          <p:cNvSpPr>
            <a:spLocks noChangeShapeType="1"/>
          </p:cNvSpPr>
          <p:nvPr/>
        </p:nvSpPr>
        <p:spPr bwMode="auto">
          <a:xfrm>
            <a:off x="1035050" y="3915845"/>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Text Box 29">
            <a:extLst>
              <a:ext uri="{FF2B5EF4-FFF2-40B4-BE49-F238E27FC236}">
                <a16:creationId xmlns:a16="http://schemas.microsoft.com/office/drawing/2014/main" id="{A766E8ED-AD08-4264-B3C1-0AF8A522D40B}"/>
              </a:ext>
            </a:extLst>
          </p:cNvPr>
          <p:cNvSpPr txBox="1">
            <a:spLocks noChangeArrowheads="1"/>
          </p:cNvSpPr>
          <p:nvPr/>
        </p:nvSpPr>
        <p:spPr bwMode="auto">
          <a:xfrm>
            <a:off x="6300788" y="4109520"/>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stop_timer</a:t>
            </a:r>
            <a:endParaRPr lang="en-US" altLang="zh-CN" sz="1400">
              <a:latin typeface="Times New Roman" panose="02020603050405020304" pitchFamily="18" charset="0"/>
            </a:endParaRPr>
          </a:p>
        </p:txBody>
      </p:sp>
      <p:sp>
        <p:nvSpPr>
          <p:cNvPr id="76" name="Text Box 30">
            <a:extLst>
              <a:ext uri="{FF2B5EF4-FFF2-40B4-BE49-F238E27FC236}">
                <a16:creationId xmlns:a16="http://schemas.microsoft.com/office/drawing/2014/main" id="{8DE6C959-BCE6-4E1B-8E2A-6A7508253161}"/>
              </a:ext>
            </a:extLst>
          </p:cNvPr>
          <p:cNvSpPr txBox="1">
            <a:spLocks noChangeArrowheads="1"/>
          </p:cNvSpPr>
          <p:nvPr/>
        </p:nvSpPr>
        <p:spPr bwMode="auto">
          <a:xfrm>
            <a:off x="900113" y="3888857"/>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stop_timer</a:t>
            </a:r>
            <a:endParaRPr lang="en-US" altLang="zh-CN" sz="1400">
              <a:latin typeface="Times New Roman" panose="02020603050405020304" pitchFamily="18" charset="0"/>
            </a:endParaRPr>
          </a:p>
        </p:txBody>
      </p:sp>
      <p:sp>
        <p:nvSpPr>
          <p:cNvPr id="77" name="Freeform 31">
            <a:extLst>
              <a:ext uri="{FF2B5EF4-FFF2-40B4-BE49-F238E27FC236}">
                <a16:creationId xmlns:a16="http://schemas.microsoft.com/office/drawing/2014/main" id="{61B5EEC0-7645-41F7-83CA-0E57D7D38BBD}"/>
              </a:ext>
            </a:extLst>
          </p:cNvPr>
          <p:cNvSpPr>
            <a:spLocks/>
          </p:cNvSpPr>
          <p:nvPr/>
        </p:nvSpPr>
        <p:spPr bwMode="auto">
          <a:xfrm rot="1033307">
            <a:off x="6203553" y="2679183"/>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 name="Text Box 32">
            <a:extLst>
              <a:ext uri="{FF2B5EF4-FFF2-40B4-BE49-F238E27FC236}">
                <a16:creationId xmlns:a16="http://schemas.microsoft.com/office/drawing/2014/main" id="{344EC2B9-93E2-457A-BCDE-FAEE1C3E029C}"/>
              </a:ext>
            </a:extLst>
          </p:cNvPr>
          <p:cNvSpPr txBox="1">
            <a:spLocks noChangeArrowheads="1"/>
          </p:cNvSpPr>
          <p:nvPr/>
        </p:nvSpPr>
        <p:spPr bwMode="auto">
          <a:xfrm>
            <a:off x="6557962" y="2825403"/>
            <a:ext cx="1655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p>
          <a:p>
            <a:pPr algn="l"/>
            <a:r>
              <a:rPr lang="en-US" altLang="zh-CN" sz="1400" dirty="0" err="1">
                <a:latin typeface="Arial" panose="020B0604020202020204" pitchFamily="34" charset="0"/>
              </a:rPr>
              <a:t>start_timer</a:t>
            </a:r>
            <a:endParaRPr lang="en-US" altLang="zh-CN" sz="1400" dirty="0">
              <a:latin typeface="Times New Roman" panose="02020603050405020304" pitchFamily="18" charset="0"/>
            </a:endParaRPr>
          </a:p>
        </p:txBody>
      </p:sp>
      <p:sp>
        <p:nvSpPr>
          <p:cNvPr id="79" name="Text Box 33">
            <a:extLst>
              <a:ext uri="{FF2B5EF4-FFF2-40B4-BE49-F238E27FC236}">
                <a16:creationId xmlns:a16="http://schemas.microsoft.com/office/drawing/2014/main" id="{C0E46B13-24A7-45A5-A6C8-580F9E24F507}"/>
              </a:ext>
            </a:extLst>
          </p:cNvPr>
          <p:cNvSpPr txBox="1">
            <a:spLocks noChangeArrowheads="1"/>
          </p:cNvSpPr>
          <p:nvPr/>
        </p:nvSpPr>
        <p:spPr bwMode="auto">
          <a:xfrm>
            <a:off x="6580187" y="2588865"/>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timeout</a:t>
            </a:r>
            <a:endParaRPr lang="en-US" altLang="zh-CN" sz="1400">
              <a:latin typeface="Times New Roman" panose="02020603050405020304" pitchFamily="18" charset="0"/>
            </a:endParaRPr>
          </a:p>
        </p:txBody>
      </p:sp>
      <p:sp>
        <p:nvSpPr>
          <p:cNvPr id="80" name="Line 34">
            <a:extLst>
              <a:ext uri="{FF2B5EF4-FFF2-40B4-BE49-F238E27FC236}">
                <a16:creationId xmlns:a16="http://schemas.microsoft.com/office/drawing/2014/main" id="{74881FE6-2653-4425-8068-2E00EB6E5AE9}"/>
              </a:ext>
            </a:extLst>
          </p:cNvPr>
          <p:cNvSpPr>
            <a:spLocks noChangeShapeType="1"/>
          </p:cNvSpPr>
          <p:nvPr/>
        </p:nvSpPr>
        <p:spPr bwMode="auto">
          <a:xfrm>
            <a:off x="6669087" y="284286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Freeform 35">
            <a:extLst>
              <a:ext uri="{FF2B5EF4-FFF2-40B4-BE49-F238E27FC236}">
                <a16:creationId xmlns:a16="http://schemas.microsoft.com/office/drawing/2014/main" id="{7A2B962F-CE12-488C-B1B5-B8CE243462A5}"/>
              </a:ext>
            </a:extLst>
          </p:cNvPr>
          <p:cNvSpPr>
            <a:spLocks/>
          </p:cNvSpPr>
          <p:nvPr/>
        </p:nvSpPr>
        <p:spPr bwMode="auto">
          <a:xfrm>
            <a:off x="2252356" y="5022332"/>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Freeform 36">
            <a:extLst>
              <a:ext uri="{FF2B5EF4-FFF2-40B4-BE49-F238E27FC236}">
                <a16:creationId xmlns:a16="http://schemas.microsoft.com/office/drawing/2014/main" id="{E45AC827-D911-4509-9ECA-70D0CC498B19}"/>
              </a:ext>
            </a:extLst>
          </p:cNvPr>
          <p:cNvSpPr>
            <a:spLocks/>
          </p:cNvSpPr>
          <p:nvPr/>
        </p:nvSpPr>
        <p:spPr bwMode="auto">
          <a:xfrm>
            <a:off x="2092622" y="4664590"/>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Text Box 37">
            <a:extLst>
              <a:ext uri="{FF2B5EF4-FFF2-40B4-BE49-F238E27FC236}">
                <a16:creationId xmlns:a16="http://schemas.microsoft.com/office/drawing/2014/main" id="{C4D4C08E-5A0E-4BCC-B304-702F95FDCCA2}"/>
              </a:ext>
            </a:extLst>
          </p:cNvPr>
          <p:cNvSpPr txBox="1">
            <a:spLocks noChangeArrowheads="1"/>
          </p:cNvSpPr>
          <p:nvPr/>
        </p:nvSpPr>
        <p:spPr bwMode="auto">
          <a:xfrm>
            <a:off x="777227" y="4748761"/>
            <a:ext cx="157287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p>
          <a:p>
            <a:pPr algn="l"/>
            <a:r>
              <a:rPr lang="en-US" altLang="zh-CN" sz="1400" dirty="0" err="1">
                <a:latin typeface="Arial" panose="020B0604020202020204" pitchFamily="34" charset="0"/>
              </a:rPr>
              <a:t>start_timer</a:t>
            </a:r>
            <a:endParaRPr lang="en-US" altLang="zh-CN" sz="1400" dirty="0">
              <a:latin typeface="Times New Roman" panose="02020603050405020304" pitchFamily="18" charset="0"/>
            </a:endParaRPr>
          </a:p>
        </p:txBody>
      </p:sp>
      <p:sp>
        <p:nvSpPr>
          <p:cNvPr id="84" name="Text Box 38">
            <a:extLst>
              <a:ext uri="{FF2B5EF4-FFF2-40B4-BE49-F238E27FC236}">
                <a16:creationId xmlns:a16="http://schemas.microsoft.com/office/drawing/2014/main" id="{46844EC2-8CEA-4214-AB70-470BD2761806}"/>
              </a:ext>
            </a:extLst>
          </p:cNvPr>
          <p:cNvSpPr txBox="1">
            <a:spLocks noChangeArrowheads="1"/>
          </p:cNvSpPr>
          <p:nvPr/>
        </p:nvSpPr>
        <p:spPr bwMode="auto">
          <a:xfrm>
            <a:off x="791515" y="4494761"/>
            <a:ext cx="900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timeout</a:t>
            </a:r>
            <a:endParaRPr lang="en-US" altLang="zh-CN" sz="1400" dirty="0">
              <a:latin typeface="Times New Roman" panose="02020603050405020304" pitchFamily="18" charset="0"/>
            </a:endParaRPr>
          </a:p>
        </p:txBody>
      </p:sp>
      <p:sp>
        <p:nvSpPr>
          <p:cNvPr id="85" name="Line 39">
            <a:extLst>
              <a:ext uri="{FF2B5EF4-FFF2-40B4-BE49-F238E27FC236}">
                <a16:creationId xmlns:a16="http://schemas.microsoft.com/office/drawing/2014/main" id="{0A50EE6B-76BE-4311-BA2F-465764DF1B7B}"/>
              </a:ext>
            </a:extLst>
          </p:cNvPr>
          <p:cNvSpPr>
            <a:spLocks noChangeShapeType="1"/>
          </p:cNvSpPr>
          <p:nvPr/>
        </p:nvSpPr>
        <p:spPr bwMode="auto">
          <a:xfrm>
            <a:off x="894702" y="477733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Freeform 40">
            <a:extLst>
              <a:ext uri="{FF2B5EF4-FFF2-40B4-BE49-F238E27FC236}">
                <a16:creationId xmlns:a16="http://schemas.microsoft.com/office/drawing/2014/main" id="{BD6F1973-31AB-4EFF-85B3-D29167B253BF}"/>
              </a:ext>
            </a:extLst>
          </p:cNvPr>
          <p:cNvSpPr>
            <a:spLocks/>
          </p:cNvSpPr>
          <p:nvPr/>
        </p:nvSpPr>
        <p:spPr bwMode="auto">
          <a:xfrm>
            <a:off x="6426200" y="4684195"/>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 name="Text Box 41">
            <a:extLst>
              <a:ext uri="{FF2B5EF4-FFF2-40B4-BE49-F238E27FC236}">
                <a16:creationId xmlns:a16="http://schemas.microsoft.com/office/drawing/2014/main" id="{61FA0D9C-8975-4030-950F-D70C55549463}"/>
              </a:ext>
            </a:extLst>
          </p:cNvPr>
          <p:cNvSpPr txBox="1">
            <a:spLocks noChangeArrowheads="1"/>
          </p:cNvSpPr>
          <p:nvPr/>
        </p:nvSpPr>
        <p:spPr bwMode="auto">
          <a:xfrm>
            <a:off x="1036638" y="2185470"/>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a:t>
            </a:r>
            <a:endParaRPr lang="en-US" altLang="zh-CN" sz="1400">
              <a:latin typeface="Times New Roman" panose="02020603050405020304" pitchFamily="18" charset="0"/>
            </a:endParaRPr>
          </a:p>
        </p:txBody>
      </p:sp>
      <p:sp>
        <p:nvSpPr>
          <p:cNvPr id="89" name="Oval 43">
            <a:extLst>
              <a:ext uri="{FF2B5EF4-FFF2-40B4-BE49-F238E27FC236}">
                <a16:creationId xmlns:a16="http://schemas.microsoft.com/office/drawing/2014/main" id="{8B71519A-5F60-4957-ACEC-6D4F8B6A3648}"/>
              </a:ext>
            </a:extLst>
          </p:cNvPr>
          <p:cNvSpPr>
            <a:spLocks noChangeArrowheads="1"/>
          </p:cNvSpPr>
          <p:nvPr/>
        </p:nvSpPr>
        <p:spPr bwMode="auto">
          <a:xfrm>
            <a:off x="2528888" y="2445820"/>
            <a:ext cx="944563" cy="85090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91" name="Line 45">
            <a:extLst>
              <a:ext uri="{FF2B5EF4-FFF2-40B4-BE49-F238E27FC236}">
                <a16:creationId xmlns:a16="http://schemas.microsoft.com/office/drawing/2014/main" id="{9CEC1816-0F4F-488D-B42D-E2D3A3111409}"/>
              </a:ext>
            </a:extLst>
          </p:cNvPr>
          <p:cNvSpPr>
            <a:spLocks noChangeShapeType="1"/>
          </p:cNvSpPr>
          <p:nvPr/>
        </p:nvSpPr>
        <p:spPr bwMode="auto">
          <a:xfrm>
            <a:off x="1123950" y="2471220"/>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Oval 47">
            <a:extLst>
              <a:ext uri="{FF2B5EF4-FFF2-40B4-BE49-F238E27FC236}">
                <a16:creationId xmlns:a16="http://schemas.microsoft.com/office/drawing/2014/main" id="{D64ECE26-482B-4E6C-888C-41B69CAA6AEF}"/>
              </a:ext>
            </a:extLst>
          </p:cNvPr>
          <p:cNvSpPr>
            <a:spLocks noChangeArrowheads="1"/>
          </p:cNvSpPr>
          <p:nvPr/>
        </p:nvSpPr>
        <p:spPr bwMode="auto">
          <a:xfrm>
            <a:off x="2630488" y="4300020"/>
            <a:ext cx="889000" cy="86518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95" name="Freeform 49">
            <a:extLst>
              <a:ext uri="{FF2B5EF4-FFF2-40B4-BE49-F238E27FC236}">
                <a16:creationId xmlns:a16="http://schemas.microsoft.com/office/drawing/2014/main" id="{689474CE-2181-4ED7-A5E3-C88DF801E94C}"/>
              </a:ext>
            </a:extLst>
          </p:cNvPr>
          <p:cNvSpPr>
            <a:spLocks/>
          </p:cNvSpPr>
          <p:nvPr/>
        </p:nvSpPr>
        <p:spPr bwMode="auto">
          <a:xfrm flipH="1" flipV="1">
            <a:off x="2006600" y="2093395"/>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 name="Text Box 50">
            <a:extLst>
              <a:ext uri="{FF2B5EF4-FFF2-40B4-BE49-F238E27FC236}">
                <a16:creationId xmlns:a16="http://schemas.microsoft.com/office/drawing/2014/main" id="{3BA6AB7D-2831-4F35-9BF9-BFAF9B55ED13}"/>
              </a:ext>
            </a:extLst>
          </p:cNvPr>
          <p:cNvSpPr txBox="1">
            <a:spLocks noChangeArrowheads="1"/>
          </p:cNvSpPr>
          <p:nvPr/>
        </p:nvSpPr>
        <p:spPr bwMode="auto">
          <a:xfrm>
            <a:off x="7149781" y="5163620"/>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97" name="Text Box 51">
            <a:extLst>
              <a:ext uri="{FF2B5EF4-FFF2-40B4-BE49-F238E27FC236}">
                <a16:creationId xmlns:a16="http://schemas.microsoft.com/office/drawing/2014/main" id="{A378B21A-1BDB-43E4-A18E-0F4EFF040ABB}"/>
              </a:ext>
            </a:extLst>
          </p:cNvPr>
          <p:cNvSpPr txBox="1">
            <a:spLocks noChangeArrowheads="1"/>
          </p:cNvSpPr>
          <p:nvPr/>
        </p:nvSpPr>
        <p:spPr bwMode="auto">
          <a:xfrm>
            <a:off x="6683056" y="491438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a:t>
            </a:r>
            <a:endParaRPr lang="en-US" altLang="zh-CN" sz="1400">
              <a:latin typeface="Times New Roman" panose="02020603050405020304" pitchFamily="18" charset="0"/>
            </a:endParaRPr>
          </a:p>
        </p:txBody>
      </p:sp>
      <p:sp>
        <p:nvSpPr>
          <p:cNvPr id="98" name="Line 52">
            <a:extLst>
              <a:ext uri="{FF2B5EF4-FFF2-40B4-BE49-F238E27FC236}">
                <a16:creationId xmlns:a16="http://schemas.microsoft.com/office/drawing/2014/main" id="{935AAE12-BB72-4E37-BAE8-9DC9DFBF9114}"/>
              </a:ext>
            </a:extLst>
          </p:cNvPr>
          <p:cNvSpPr>
            <a:spLocks noChangeShapeType="1"/>
          </p:cNvSpPr>
          <p:nvPr/>
        </p:nvSpPr>
        <p:spPr bwMode="auto">
          <a:xfrm>
            <a:off x="6770368" y="520013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Text Box 53">
            <a:extLst>
              <a:ext uri="{FF2B5EF4-FFF2-40B4-BE49-F238E27FC236}">
                <a16:creationId xmlns:a16="http://schemas.microsoft.com/office/drawing/2014/main" id="{78697C07-48E1-4AAA-93A7-47684244B479}"/>
              </a:ext>
            </a:extLst>
          </p:cNvPr>
          <p:cNvSpPr txBox="1">
            <a:spLocks noChangeArrowheads="1"/>
          </p:cNvSpPr>
          <p:nvPr/>
        </p:nvSpPr>
        <p:spPr bwMode="auto">
          <a:xfrm>
            <a:off x="7067658" y="2256565"/>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100" name="Text Box 54">
            <a:extLst>
              <a:ext uri="{FF2B5EF4-FFF2-40B4-BE49-F238E27FC236}">
                <a16:creationId xmlns:a16="http://schemas.microsoft.com/office/drawing/2014/main" id="{22E79E9C-249E-4F30-9075-A759AE069B3A}"/>
              </a:ext>
            </a:extLst>
          </p:cNvPr>
          <p:cNvSpPr txBox="1">
            <a:spLocks noChangeArrowheads="1"/>
          </p:cNvSpPr>
          <p:nvPr/>
        </p:nvSpPr>
        <p:spPr bwMode="auto">
          <a:xfrm>
            <a:off x="1476375" y="243470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Symbol" charset="0"/>
              </a:rPr>
              <a:t>L</a:t>
            </a:r>
          </a:p>
        </p:txBody>
      </p:sp>
      <p:sp>
        <p:nvSpPr>
          <p:cNvPr id="101" name="Text Box 55">
            <a:extLst>
              <a:ext uri="{FF2B5EF4-FFF2-40B4-BE49-F238E27FC236}">
                <a16:creationId xmlns:a16="http://schemas.microsoft.com/office/drawing/2014/main" id="{89789461-BBC1-4D2E-88BA-CBD8336246DB}"/>
              </a:ext>
            </a:extLst>
          </p:cNvPr>
          <p:cNvSpPr txBox="1">
            <a:spLocks noChangeArrowheads="1"/>
          </p:cNvSpPr>
          <p:nvPr/>
        </p:nvSpPr>
        <p:spPr bwMode="auto">
          <a:xfrm>
            <a:off x="1879600" y="610500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latin typeface="Symbol" charset="0"/>
              </a:rPr>
              <a:t>L</a:t>
            </a:r>
          </a:p>
        </p:txBody>
      </p:sp>
      <p:sp>
        <p:nvSpPr>
          <p:cNvPr id="2" name="Text Box 5">
            <a:extLst>
              <a:ext uri="{FF2B5EF4-FFF2-40B4-BE49-F238E27FC236}">
                <a16:creationId xmlns:a16="http://schemas.microsoft.com/office/drawing/2014/main" id="{2E5F96F1-9397-4E90-91E9-A8D89CB3CB5F}"/>
              </a:ext>
            </a:extLst>
          </p:cNvPr>
          <p:cNvSpPr txBox="1">
            <a:spLocks noChangeArrowheads="1"/>
          </p:cNvSpPr>
          <p:nvPr/>
        </p:nvSpPr>
        <p:spPr bwMode="auto">
          <a:xfrm>
            <a:off x="5353844" y="2538964"/>
            <a:ext cx="900112" cy="60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3" name="Text Box 5">
            <a:extLst>
              <a:ext uri="{FF2B5EF4-FFF2-40B4-BE49-F238E27FC236}">
                <a16:creationId xmlns:a16="http://schemas.microsoft.com/office/drawing/2014/main" id="{07FD256A-AB25-4312-9E7C-158BB142E0F0}"/>
              </a:ext>
            </a:extLst>
          </p:cNvPr>
          <p:cNvSpPr txBox="1">
            <a:spLocks noChangeArrowheads="1"/>
          </p:cNvSpPr>
          <p:nvPr/>
        </p:nvSpPr>
        <p:spPr bwMode="auto">
          <a:xfrm>
            <a:off x="2604233" y="4438467"/>
            <a:ext cx="900112" cy="59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4" name="Text Box 5">
            <a:extLst>
              <a:ext uri="{FF2B5EF4-FFF2-40B4-BE49-F238E27FC236}">
                <a16:creationId xmlns:a16="http://schemas.microsoft.com/office/drawing/2014/main" id="{CEDA7153-95BE-4F45-B3D5-5FD1592E1C03}"/>
              </a:ext>
            </a:extLst>
          </p:cNvPr>
          <p:cNvSpPr txBox="1">
            <a:spLocks noChangeArrowheads="1"/>
          </p:cNvSpPr>
          <p:nvPr/>
        </p:nvSpPr>
        <p:spPr bwMode="auto">
          <a:xfrm>
            <a:off x="2558257" y="2523237"/>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0</a:t>
            </a:r>
          </a:p>
        </p:txBody>
      </p:sp>
      <p:sp>
        <p:nvSpPr>
          <p:cNvPr id="7" name="Text Box 5">
            <a:extLst>
              <a:ext uri="{FF2B5EF4-FFF2-40B4-BE49-F238E27FC236}">
                <a16:creationId xmlns:a16="http://schemas.microsoft.com/office/drawing/2014/main" id="{83F786C3-906E-4BF5-8733-77AB323ED800}"/>
              </a:ext>
            </a:extLst>
          </p:cNvPr>
          <p:cNvSpPr txBox="1">
            <a:spLocks noChangeArrowheads="1"/>
          </p:cNvSpPr>
          <p:nvPr/>
        </p:nvSpPr>
        <p:spPr bwMode="auto">
          <a:xfrm>
            <a:off x="5581651" y="4391116"/>
            <a:ext cx="900112" cy="700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a:r>
              <a:rPr lang="zh-CN" altLang="en-US" sz="1400" dirty="0">
                <a:latin typeface="宋体" panose="02010600030101010101" pitchFamily="2" charset="-122"/>
                <a:ea typeface="宋体" panose="02010600030101010101" pitchFamily="2" charset="-122"/>
              </a:rPr>
              <a:t>等待来自上层的调用</a:t>
            </a:r>
            <a:r>
              <a:rPr lang="en-US" altLang="zh-CN" sz="1400" dirty="0">
                <a:latin typeface="宋体" panose="02010600030101010101" pitchFamily="2" charset="-122"/>
                <a:ea typeface="宋体" panose="02010600030101010101" pitchFamily="2" charset="-122"/>
              </a:rPr>
              <a:t>1</a:t>
            </a:r>
          </a:p>
        </p:txBody>
      </p:sp>
      <p:sp>
        <p:nvSpPr>
          <p:cNvPr id="114" name="Text Box 61">
            <a:extLst>
              <a:ext uri="{FF2B5EF4-FFF2-40B4-BE49-F238E27FC236}">
                <a16:creationId xmlns:a16="http://schemas.microsoft.com/office/drawing/2014/main" id="{B2CC6C90-4195-4453-BAA8-BCBD6D43C7F5}"/>
              </a:ext>
            </a:extLst>
          </p:cNvPr>
          <p:cNvSpPr txBox="1">
            <a:spLocks noChangeArrowheads="1"/>
          </p:cNvSpPr>
          <p:nvPr/>
        </p:nvSpPr>
        <p:spPr bwMode="auto">
          <a:xfrm>
            <a:off x="3663524" y="3507463"/>
            <a:ext cx="1726464" cy="400110"/>
          </a:xfrm>
          <a:prstGeom prst="rect">
            <a:avLst/>
          </a:prstGeom>
          <a:noFill/>
          <a:ln w="9525">
            <a:noFill/>
            <a:miter lim="800000"/>
            <a:headEnd/>
            <a:tailEnd/>
          </a:ln>
        </p:spPr>
        <p:txBody>
          <a:bodyPr wrap="square">
            <a:spAutoFit/>
          </a:bodyPr>
          <a:lstStyle/>
          <a:p>
            <a:pPr marL="342900" indent="-342900" algn="ctr">
              <a:spcBef>
                <a:spcPct val="50000"/>
              </a:spcBef>
            </a:pPr>
            <a:r>
              <a:rPr lang="zh-CN" altLang="en-US" sz="2000" dirty="0">
                <a:solidFill>
                  <a:srgbClr val="C00000"/>
                </a:solidFill>
              </a:rPr>
              <a:t>发送端</a:t>
            </a:r>
            <a:r>
              <a:rPr lang="en-US" altLang="zh-CN" sz="2000" dirty="0">
                <a:solidFill>
                  <a:srgbClr val="C00000"/>
                </a:solidFill>
              </a:rPr>
              <a:t>FSM</a:t>
            </a:r>
          </a:p>
        </p:txBody>
      </p:sp>
    </p:spTree>
    <p:extLst>
      <p:ext uri="{BB962C8B-B14F-4D97-AF65-F5344CB8AC3E}">
        <p14:creationId xmlns:p14="http://schemas.microsoft.com/office/powerpoint/2010/main" val="1639151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7188" indent="-357188">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：场景示例</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60" name="Text Box 5">
            <a:extLst>
              <a:ext uri="{FF2B5EF4-FFF2-40B4-BE49-F238E27FC236}">
                <a16:creationId xmlns:a16="http://schemas.microsoft.com/office/drawing/2014/main" id="{5A0ABA9A-A906-472F-B3CA-9C08C7010308}"/>
              </a:ext>
            </a:extLst>
          </p:cNvPr>
          <p:cNvSpPr txBox="1">
            <a:spLocks noChangeArrowheads="1"/>
          </p:cNvSpPr>
          <p:nvPr/>
        </p:nvSpPr>
        <p:spPr bwMode="auto">
          <a:xfrm>
            <a:off x="574959" y="1512525"/>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0099"/>
                </a:solidFill>
              </a:rPr>
              <a:t>发送端</a:t>
            </a:r>
            <a:endParaRPr lang="en-US" sz="2000" dirty="0">
              <a:solidFill>
                <a:srgbClr val="000099"/>
              </a:solidFill>
            </a:endParaRPr>
          </a:p>
        </p:txBody>
      </p:sp>
      <p:sp>
        <p:nvSpPr>
          <p:cNvPr id="62" name="Text Box 6">
            <a:extLst>
              <a:ext uri="{FF2B5EF4-FFF2-40B4-BE49-F238E27FC236}">
                <a16:creationId xmlns:a16="http://schemas.microsoft.com/office/drawing/2014/main" id="{02840ED0-5C93-4F33-B6B4-88EF03F37760}"/>
              </a:ext>
            </a:extLst>
          </p:cNvPr>
          <p:cNvSpPr txBox="1">
            <a:spLocks noChangeArrowheads="1"/>
          </p:cNvSpPr>
          <p:nvPr/>
        </p:nvSpPr>
        <p:spPr bwMode="auto">
          <a:xfrm>
            <a:off x="3014947" y="1507763"/>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sp>
        <p:nvSpPr>
          <p:cNvPr id="103" name="Text Box 14">
            <a:extLst>
              <a:ext uri="{FF2B5EF4-FFF2-40B4-BE49-F238E27FC236}">
                <a16:creationId xmlns:a16="http://schemas.microsoft.com/office/drawing/2014/main" id="{8228F34E-6D35-4814-B19B-701D635366C3}"/>
              </a:ext>
            </a:extLst>
          </p:cNvPr>
          <p:cNvSpPr txBox="1">
            <a:spLocks noChangeArrowheads="1"/>
          </p:cNvSpPr>
          <p:nvPr/>
        </p:nvSpPr>
        <p:spPr bwMode="auto">
          <a:xfrm>
            <a:off x="454229" y="2694234"/>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5" name="Text Box 17">
            <a:extLst>
              <a:ext uri="{FF2B5EF4-FFF2-40B4-BE49-F238E27FC236}">
                <a16:creationId xmlns:a16="http://schemas.microsoft.com/office/drawing/2014/main" id="{207D68B0-D119-44D5-9002-58A474C79CA6}"/>
              </a:ext>
            </a:extLst>
          </p:cNvPr>
          <p:cNvSpPr txBox="1">
            <a:spLocks noChangeArrowheads="1"/>
          </p:cNvSpPr>
          <p:nvPr/>
        </p:nvSpPr>
        <p:spPr bwMode="auto">
          <a:xfrm>
            <a:off x="459839" y="2962498"/>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09" name="Text Box 7">
            <a:extLst>
              <a:ext uri="{FF2B5EF4-FFF2-40B4-BE49-F238E27FC236}">
                <a16:creationId xmlns:a16="http://schemas.microsoft.com/office/drawing/2014/main" id="{35512613-B97B-4741-B3D8-860E73A0B9E7}"/>
              </a:ext>
            </a:extLst>
          </p:cNvPr>
          <p:cNvSpPr txBox="1">
            <a:spLocks noChangeArrowheads="1"/>
          </p:cNvSpPr>
          <p:nvPr/>
        </p:nvSpPr>
        <p:spPr bwMode="auto">
          <a:xfrm>
            <a:off x="444777" y="2000234"/>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13" name="Group 37">
            <a:extLst>
              <a:ext uri="{FF2B5EF4-FFF2-40B4-BE49-F238E27FC236}">
                <a16:creationId xmlns:a16="http://schemas.microsoft.com/office/drawing/2014/main" id="{065F779A-76C4-4AD7-998F-28A048F95EF7}"/>
              </a:ext>
            </a:extLst>
          </p:cNvPr>
          <p:cNvGrpSpPr>
            <a:grpSpLocks/>
          </p:cNvGrpSpPr>
          <p:nvPr/>
        </p:nvGrpSpPr>
        <p:grpSpPr bwMode="auto">
          <a:xfrm>
            <a:off x="1552859" y="2022113"/>
            <a:ext cx="1471613" cy="512762"/>
            <a:chOff x="850" y="1159"/>
            <a:chExt cx="927" cy="323"/>
          </a:xfrm>
        </p:grpSpPr>
        <p:sp>
          <p:nvSpPr>
            <p:cNvPr id="115" name="Line 19">
              <a:extLst>
                <a:ext uri="{FF2B5EF4-FFF2-40B4-BE49-F238E27FC236}">
                  <a16:creationId xmlns:a16="http://schemas.microsoft.com/office/drawing/2014/main" id="{CC86DA40-B329-4843-8DAD-2AE3764B8CEB}"/>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6" name="Text Box 28">
              <a:extLst>
                <a:ext uri="{FF2B5EF4-FFF2-40B4-BE49-F238E27FC236}">
                  <a16:creationId xmlns:a16="http://schemas.microsoft.com/office/drawing/2014/main" id="{4F419ADA-AE77-495A-86F1-B9B22857111C}"/>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17" name="Group 43">
            <a:extLst>
              <a:ext uri="{FF2B5EF4-FFF2-40B4-BE49-F238E27FC236}">
                <a16:creationId xmlns:a16="http://schemas.microsoft.com/office/drawing/2014/main" id="{266F1571-D4BF-4EA1-9026-21167A014B72}"/>
              </a:ext>
            </a:extLst>
          </p:cNvPr>
          <p:cNvGrpSpPr>
            <a:grpSpLocks/>
          </p:cNvGrpSpPr>
          <p:nvPr/>
        </p:nvGrpSpPr>
        <p:grpSpPr bwMode="auto">
          <a:xfrm>
            <a:off x="1546509" y="3758838"/>
            <a:ext cx="1471613" cy="487362"/>
            <a:chOff x="846" y="2253"/>
            <a:chExt cx="927" cy="307"/>
          </a:xfrm>
        </p:grpSpPr>
        <p:sp>
          <p:nvSpPr>
            <p:cNvPr id="118" name="Line 24">
              <a:extLst>
                <a:ext uri="{FF2B5EF4-FFF2-40B4-BE49-F238E27FC236}">
                  <a16:creationId xmlns:a16="http://schemas.microsoft.com/office/drawing/2014/main" id="{F7FF0CE5-BEE1-4AD5-A12F-1A99627F1744}"/>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9" name="Text Box 29">
              <a:extLst>
                <a:ext uri="{FF2B5EF4-FFF2-40B4-BE49-F238E27FC236}">
                  <a16:creationId xmlns:a16="http://schemas.microsoft.com/office/drawing/2014/main" id="{A13A8780-155A-48AE-B566-276097B5CA1D}"/>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20" name="Group 39">
            <a:extLst>
              <a:ext uri="{FF2B5EF4-FFF2-40B4-BE49-F238E27FC236}">
                <a16:creationId xmlns:a16="http://schemas.microsoft.com/office/drawing/2014/main" id="{DFD1A3ED-B1AD-4AC1-86B2-915F87204670}"/>
              </a:ext>
            </a:extLst>
          </p:cNvPr>
          <p:cNvGrpSpPr>
            <a:grpSpLocks/>
          </p:cNvGrpSpPr>
          <p:nvPr/>
        </p:nvGrpSpPr>
        <p:grpSpPr bwMode="auto">
          <a:xfrm>
            <a:off x="1560797" y="2896825"/>
            <a:ext cx="1471612" cy="504825"/>
            <a:chOff x="855" y="1710"/>
            <a:chExt cx="927" cy="318"/>
          </a:xfrm>
        </p:grpSpPr>
        <p:sp>
          <p:nvSpPr>
            <p:cNvPr id="121" name="Line 23">
              <a:extLst>
                <a:ext uri="{FF2B5EF4-FFF2-40B4-BE49-F238E27FC236}">
                  <a16:creationId xmlns:a16="http://schemas.microsoft.com/office/drawing/2014/main" id="{0778D389-D6D2-481B-B92D-C506482B405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22" name="Text Box 30">
              <a:extLst>
                <a:ext uri="{FF2B5EF4-FFF2-40B4-BE49-F238E27FC236}">
                  <a16:creationId xmlns:a16="http://schemas.microsoft.com/office/drawing/2014/main" id="{170F978D-0E54-4E71-A823-32EA25876D17}"/>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grpSp>
      <p:grpSp>
        <p:nvGrpSpPr>
          <p:cNvPr id="123" name="Group 40">
            <a:extLst>
              <a:ext uri="{FF2B5EF4-FFF2-40B4-BE49-F238E27FC236}">
                <a16:creationId xmlns:a16="http://schemas.microsoft.com/office/drawing/2014/main" id="{52ADA998-6EBE-4E4B-8C0B-9F147F67D26F}"/>
              </a:ext>
            </a:extLst>
          </p:cNvPr>
          <p:cNvGrpSpPr>
            <a:grpSpLocks/>
          </p:cNvGrpSpPr>
          <p:nvPr/>
        </p:nvGrpSpPr>
        <p:grpSpPr bwMode="auto">
          <a:xfrm>
            <a:off x="1546509" y="3361963"/>
            <a:ext cx="1471613" cy="471487"/>
            <a:chOff x="846" y="2003"/>
            <a:chExt cx="927" cy="297"/>
          </a:xfrm>
        </p:grpSpPr>
        <p:sp>
          <p:nvSpPr>
            <p:cNvPr id="124" name="Line 26">
              <a:extLst>
                <a:ext uri="{FF2B5EF4-FFF2-40B4-BE49-F238E27FC236}">
                  <a16:creationId xmlns:a16="http://schemas.microsoft.com/office/drawing/2014/main" id="{F10FFD4E-D5F0-4925-9ACD-E1D330E7F973}"/>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25" name="Text Box 31">
              <a:extLst>
                <a:ext uri="{FF2B5EF4-FFF2-40B4-BE49-F238E27FC236}">
                  <a16:creationId xmlns:a16="http://schemas.microsoft.com/office/drawing/2014/main" id="{91ACEE86-31EF-4948-9E18-052A7B130A79}"/>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ack1</a:t>
              </a:r>
            </a:p>
          </p:txBody>
        </p:sp>
      </p:grpSp>
      <p:grpSp>
        <p:nvGrpSpPr>
          <p:cNvPr id="126" name="Group 38">
            <a:extLst>
              <a:ext uri="{FF2B5EF4-FFF2-40B4-BE49-F238E27FC236}">
                <a16:creationId xmlns:a16="http://schemas.microsoft.com/office/drawing/2014/main" id="{7DD99E87-3440-49D6-896A-3DF423E65154}"/>
              </a:ext>
            </a:extLst>
          </p:cNvPr>
          <p:cNvGrpSpPr>
            <a:grpSpLocks/>
          </p:cNvGrpSpPr>
          <p:nvPr/>
        </p:nvGrpSpPr>
        <p:grpSpPr bwMode="auto">
          <a:xfrm>
            <a:off x="1538572" y="2522175"/>
            <a:ext cx="1471612" cy="455613"/>
            <a:chOff x="841" y="1474"/>
            <a:chExt cx="927" cy="287"/>
          </a:xfrm>
        </p:grpSpPr>
        <p:sp>
          <p:nvSpPr>
            <p:cNvPr id="127" name="Line 25">
              <a:extLst>
                <a:ext uri="{FF2B5EF4-FFF2-40B4-BE49-F238E27FC236}">
                  <a16:creationId xmlns:a16="http://schemas.microsoft.com/office/drawing/2014/main" id="{653A9FE1-851B-4893-9DB3-3D75343CA38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28" name="Text Box 32">
              <a:extLst>
                <a:ext uri="{FF2B5EF4-FFF2-40B4-BE49-F238E27FC236}">
                  <a16:creationId xmlns:a16="http://schemas.microsoft.com/office/drawing/2014/main" id="{D866E212-32F8-4DC7-9767-0E7C69C85465}"/>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grpSp>
        <p:nvGrpSpPr>
          <p:cNvPr id="129" name="Group 44">
            <a:extLst>
              <a:ext uri="{FF2B5EF4-FFF2-40B4-BE49-F238E27FC236}">
                <a16:creationId xmlns:a16="http://schemas.microsoft.com/office/drawing/2014/main" id="{A694A4FF-184D-422E-8516-63B7D01B8840}"/>
              </a:ext>
            </a:extLst>
          </p:cNvPr>
          <p:cNvGrpSpPr>
            <a:grpSpLocks/>
          </p:cNvGrpSpPr>
          <p:nvPr/>
        </p:nvGrpSpPr>
        <p:grpSpPr bwMode="auto">
          <a:xfrm>
            <a:off x="1532222" y="4214450"/>
            <a:ext cx="1471612" cy="461963"/>
            <a:chOff x="837" y="2540"/>
            <a:chExt cx="927" cy="291"/>
          </a:xfrm>
        </p:grpSpPr>
        <p:sp>
          <p:nvSpPr>
            <p:cNvPr id="130" name="Line 27">
              <a:extLst>
                <a:ext uri="{FF2B5EF4-FFF2-40B4-BE49-F238E27FC236}">
                  <a16:creationId xmlns:a16="http://schemas.microsoft.com/office/drawing/2014/main" id="{4022EB60-EE75-481E-85BE-A42E8E79BF6F}"/>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1" name="Text Box 33">
              <a:extLst>
                <a:ext uri="{FF2B5EF4-FFF2-40B4-BE49-F238E27FC236}">
                  <a16:creationId xmlns:a16="http://schemas.microsoft.com/office/drawing/2014/main" id="{C9141732-4151-4E95-8E2F-92AB893FFB7E}"/>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sp>
        <p:nvSpPr>
          <p:cNvPr id="132" name="Text Box 45">
            <a:extLst>
              <a:ext uri="{FF2B5EF4-FFF2-40B4-BE49-F238E27FC236}">
                <a16:creationId xmlns:a16="http://schemas.microsoft.com/office/drawing/2014/main" id="{89B23AB1-547F-4FEF-A70A-97C67EDB0416}"/>
              </a:ext>
            </a:extLst>
          </p:cNvPr>
          <p:cNvSpPr txBox="1">
            <a:spLocks noChangeArrowheads="1"/>
          </p:cNvSpPr>
          <p:nvPr/>
        </p:nvSpPr>
        <p:spPr bwMode="auto">
          <a:xfrm>
            <a:off x="1712722" y="6102314"/>
            <a:ext cx="12474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a:t>(a) </a:t>
            </a:r>
            <a:r>
              <a:rPr lang="zh-CN" altLang="en-US" sz="1800" dirty="0"/>
              <a:t>无丢失</a:t>
            </a:r>
            <a:endParaRPr lang="en-US" sz="1800" dirty="0"/>
          </a:p>
        </p:txBody>
      </p:sp>
      <p:grpSp>
        <p:nvGrpSpPr>
          <p:cNvPr id="146" name="Group 59">
            <a:extLst>
              <a:ext uri="{FF2B5EF4-FFF2-40B4-BE49-F238E27FC236}">
                <a16:creationId xmlns:a16="http://schemas.microsoft.com/office/drawing/2014/main" id="{309DD5F3-826E-4F4B-A0DB-B13B43BF31A7}"/>
              </a:ext>
            </a:extLst>
          </p:cNvPr>
          <p:cNvGrpSpPr>
            <a:grpSpLocks/>
          </p:cNvGrpSpPr>
          <p:nvPr/>
        </p:nvGrpSpPr>
        <p:grpSpPr bwMode="auto">
          <a:xfrm>
            <a:off x="6011095" y="2016334"/>
            <a:ext cx="1471612" cy="512762"/>
            <a:chOff x="850" y="1159"/>
            <a:chExt cx="927" cy="323"/>
          </a:xfrm>
        </p:grpSpPr>
        <p:sp>
          <p:nvSpPr>
            <p:cNvPr id="147" name="Line 60">
              <a:extLst>
                <a:ext uri="{FF2B5EF4-FFF2-40B4-BE49-F238E27FC236}">
                  <a16:creationId xmlns:a16="http://schemas.microsoft.com/office/drawing/2014/main" id="{6FF63D1C-D488-4F11-951D-12989809BDC9}"/>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48" name="Text Box 61">
              <a:extLst>
                <a:ext uri="{FF2B5EF4-FFF2-40B4-BE49-F238E27FC236}">
                  <a16:creationId xmlns:a16="http://schemas.microsoft.com/office/drawing/2014/main" id="{83FFA483-1D79-4ED5-A558-41B86C47A7A1}"/>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49" name="Group 62">
            <a:extLst>
              <a:ext uri="{FF2B5EF4-FFF2-40B4-BE49-F238E27FC236}">
                <a16:creationId xmlns:a16="http://schemas.microsoft.com/office/drawing/2014/main" id="{879A64AC-42BA-44A5-A1F1-6D50306C9C5B}"/>
              </a:ext>
            </a:extLst>
          </p:cNvPr>
          <p:cNvGrpSpPr>
            <a:grpSpLocks/>
          </p:cNvGrpSpPr>
          <p:nvPr/>
        </p:nvGrpSpPr>
        <p:grpSpPr bwMode="auto">
          <a:xfrm>
            <a:off x="6031992" y="5005836"/>
            <a:ext cx="1471612" cy="487363"/>
            <a:chOff x="846" y="2253"/>
            <a:chExt cx="927" cy="307"/>
          </a:xfrm>
        </p:grpSpPr>
        <p:sp>
          <p:nvSpPr>
            <p:cNvPr id="150" name="Line 63">
              <a:extLst>
                <a:ext uri="{FF2B5EF4-FFF2-40B4-BE49-F238E27FC236}">
                  <a16:creationId xmlns:a16="http://schemas.microsoft.com/office/drawing/2014/main" id="{4E620CEC-2CF3-4DCD-8BA4-D7766C0747A8}"/>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1" name="Text Box 64">
              <a:extLst>
                <a:ext uri="{FF2B5EF4-FFF2-40B4-BE49-F238E27FC236}">
                  <a16:creationId xmlns:a16="http://schemas.microsoft.com/office/drawing/2014/main" id="{0CDA2944-E373-4B85-BD97-BB44DA04319D}"/>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52" name="Group 68">
            <a:extLst>
              <a:ext uri="{FF2B5EF4-FFF2-40B4-BE49-F238E27FC236}">
                <a16:creationId xmlns:a16="http://schemas.microsoft.com/office/drawing/2014/main" id="{E98C5EC3-D60A-498F-9D9B-C483C771649F}"/>
              </a:ext>
            </a:extLst>
          </p:cNvPr>
          <p:cNvGrpSpPr>
            <a:grpSpLocks/>
          </p:cNvGrpSpPr>
          <p:nvPr/>
        </p:nvGrpSpPr>
        <p:grpSpPr bwMode="auto">
          <a:xfrm>
            <a:off x="6031992" y="4608961"/>
            <a:ext cx="1471612" cy="471488"/>
            <a:chOff x="846" y="2003"/>
            <a:chExt cx="927" cy="297"/>
          </a:xfrm>
        </p:grpSpPr>
        <p:sp>
          <p:nvSpPr>
            <p:cNvPr id="153" name="Line 69">
              <a:extLst>
                <a:ext uri="{FF2B5EF4-FFF2-40B4-BE49-F238E27FC236}">
                  <a16:creationId xmlns:a16="http://schemas.microsoft.com/office/drawing/2014/main" id="{8083DFC2-7820-4C77-9471-1338C31D88CB}"/>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4" name="Text Box 70">
              <a:extLst>
                <a:ext uri="{FF2B5EF4-FFF2-40B4-BE49-F238E27FC236}">
                  <a16:creationId xmlns:a16="http://schemas.microsoft.com/office/drawing/2014/main" id="{6BE2A48D-8ADC-47E6-979B-40E7770F6C0D}"/>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ack1</a:t>
              </a:r>
            </a:p>
          </p:txBody>
        </p:sp>
      </p:grpSp>
      <p:grpSp>
        <p:nvGrpSpPr>
          <p:cNvPr id="155" name="Group 71">
            <a:extLst>
              <a:ext uri="{FF2B5EF4-FFF2-40B4-BE49-F238E27FC236}">
                <a16:creationId xmlns:a16="http://schemas.microsoft.com/office/drawing/2014/main" id="{F70A6624-A014-45E2-AAEC-31169F30C9D9}"/>
              </a:ext>
            </a:extLst>
          </p:cNvPr>
          <p:cNvGrpSpPr>
            <a:grpSpLocks/>
          </p:cNvGrpSpPr>
          <p:nvPr/>
        </p:nvGrpSpPr>
        <p:grpSpPr bwMode="auto">
          <a:xfrm>
            <a:off x="5996807" y="2516396"/>
            <a:ext cx="1471613" cy="455613"/>
            <a:chOff x="841" y="1474"/>
            <a:chExt cx="927" cy="287"/>
          </a:xfrm>
        </p:grpSpPr>
        <p:sp>
          <p:nvSpPr>
            <p:cNvPr id="156" name="Line 72">
              <a:extLst>
                <a:ext uri="{FF2B5EF4-FFF2-40B4-BE49-F238E27FC236}">
                  <a16:creationId xmlns:a16="http://schemas.microsoft.com/office/drawing/2014/main" id="{A55D5486-D5BF-4FCC-9878-8E8389AF6DC9}"/>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7" name="Text Box 73">
              <a:extLst>
                <a:ext uri="{FF2B5EF4-FFF2-40B4-BE49-F238E27FC236}">
                  <a16:creationId xmlns:a16="http://schemas.microsoft.com/office/drawing/2014/main" id="{3A588D23-372A-40F6-9A69-F004A7D97A6E}"/>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grpSp>
        <p:nvGrpSpPr>
          <p:cNvPr id="158" name="Group 74">
            <a:extLst>
              <a:ext uri="{FF2B5EF4-FFF2-40B4-BE49-F238E27FC236}">
                <a16:creationId xmlns:a16="http://schemas.microsoft.com/office/drawing/2014/main" id="{00791399-F649-420B-B477-6E7825CAF5B4}"/>
              </a:ext>
            </a:extLst>
          </p:cNvPr>
          <p:cNvGrpSpPr>
            <a:grpSpLocks/>
          </p:cNvGrpSpPr>
          <p:nvPr/>
        </p:nvGrpSpPr>
        <p:grpSpPr bwMode="auto">
          <a:xfrm>
            <a:off x="6017704" y="5456686"/>
            <a:ext cx="1471613" cy="466725"/>
            <a:chOff x="837" y="2537"/>
            <a:chExt cx="927" cy="294"/>
          </a:xfrm>
        </p:grpSpPr>
        <p:sp>
          <p:nvSpPr>
            <p:cNvPr id="159" name="Line 75">
              <a:extLst>
                <a:ext uri="{FF2B5EF4-FFF2-40B4-BE49-F238E27FC236}">
                  <a16:creationId xmlns:a16="http://schemas.microsoft.com/office/drawing/2014/main" id="{073812C7-3DCA-4E0A-9D3E-94A9144400D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60" name="Text Box 76">
              <a:extLst>
                <a:ext uri="{FF2B5EF4-FFF2-40B4-BE49-F238E27FC236}">
                  <a16:creationId xmlns:a16="http://schemas.microsoft.com/office/drawing/2014/main" id="{8E386291-9573-4F1A-9DB6-83E51B12AD27}"/>
                </a:ext>
              </a:extLst>
            </p:cNvPr>
            <p:cNvSpPr txBox="1">
              <a:spLocks noChangeArrowheads="1"/>
            </p:cNvSpPr>
            <p:nvPr/>
          </p:nvSpPr>
          <p:spPr bwMode="auto">
            <a:xfrm>
              <a:off x="1091" y="2537"/>
              <a:ext cx="37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rPr>
                <a:t>ack0</a:t>
              </a:r>
            </a:p>
          </p:txBody>
        </p:sp>
      </p:grpSp>
      <p:sp>
        <p:nvSpPr>
          <p:cNvPr id="161" name="Text Box 78">
            <a:extLst>
              <a:ext uri="{FF2B5EF4-FFF2-40B4-BE49-F238E27FC236}">
                <a16:creationId xmlns:a16="http://schemas.microsoft.com/office/drawing/2014/main" id="{E3D03972-0FA8-4379-87A8-9E2AA7A63FC9}"/>
              </a:ext>
            </a:extLst>
          </p:cNvPr>
          <p:cNvSpPr txBox="1">
            <a:spLocks noChangeArrowheads="1"/>
          </p:cNvSpPr>
          <p:nvPr/>
        </p:nvSpPr>
        <p:spPr bwMode="auto">
          <a:xfrm>
            <a:off x="6133243" y="6070017"/>
            <a:ext cx="148470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a:t>(b) </a:t>
            </a:r>
            <a:r>
              <a:rPr lang="zh-CN" altLang="en-US" sz="1800" dirty="0"/>
              <a:t>分组丢失</a:t>
            </a:r>
            <a:endParaRPr lang="en-US" sz="1800" dirty="0"/>
          </a:p>
        </p:txBody>
      </p:sp>
      <p:grpSp>
        <p:nvGrpSpPr>
          <p:cNvPr id="162" name="Group 81">
            <a:extLst>
              <a:ext uri="{FF2B5EF4-FFF2-40B4-BE49-F238E27FC236}">
                <a16:creationId xmlns:a16="http://schemas.microsoft.com/office/drawing/2014/main" id="{C5DA5370-9676-41A8-8242-FA06BADA7940}"/>
              </a:ext>
            </a:extLst>
          </p:cNvPr>
          <p:cNvGrpSpPr>
            <a:grpSpLocks/>
          </p:cNvGrpSpPr>
          <p:nvPr/>
        </p:nvGrpSpPr>
        <p:grpSpPr bwMode="auto">
          <a:xfrm>
            <a:off x="6019032" y="2891046"/>
            <a:ext cx="1157288" cy="738188"/>
            <a:chOff x="3726" y="1687"/>
            <a:chExt cx="729" cy="465"/>
          </a:xfrm>
        </p:grpSpPr>
        <p:sp>
          <p:nvSpPr>
            <p:cNvPr id="163" name="Line 66">
              <a:extLst>
                <a:ext uri="{FF2B5EF4-FFF2-40B4-BE49-F238E27FC236}">
                  <a16:creationId xmlns:a16="http://schemas.microsoft.com/office/drawing/2014/main" id="{29A5CE38-318A-4C1F-8798-A7A39D52CA80}"/>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64" name="Text Box 67">
              <a:extLst>
                <a:ext uri="{FF2B5EF4-FFF2-40B4-BE49-F238E27FC236}">
                  <a16:creationId xmlns:a16="http://schemas.microsoft.com/office/drawing/2014/main" id="{9CB4CD60-4D75-42A0-851D-164FA3C79C76}"/>
                </a:ext>
              </a:extLst>
            </p:cNvPr>
            <p:cNvSpPr txBox="1">
              <a:spLocks noChangeArrowheads="1"/>
            </p:cNvSpPr>
            <p:nvPr/>
          </p:nvSpPr>
          <p:spPr bwMode="auto">
            <a:xfrm>
              <a:off x="3965" y="1687"/>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sp>
          <p:nvSpPr>
            <p:cNvPr id="165" name="Text Box 79">
              <a:extLst>
                <a:ext uri="{FF2B5EF4-FFF2-40B4-BE49-F238E27FC236}">
                  <a16:creationId xmlns:a16="http://schemas.microsoft.com/office/drawing/2014/main" id="{B5FA44EF-9303-408B-8775-D9AA070DCA3B}"/>
                </a:ext>
              </a:extLst>
            </p:cNvPr>
            <p:cNvSpPr txBox="1">
              <a:spLocks noChangeArrowheads="1"/>
            </p:cNvSpPr>
            <p:nvPr/>
          </p:nvSpPr>
          <p:spPr bwMode="auto">
            <a:xfrm>
              <a:off x="4185" y="1808"/>
              <a:ext cx="21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b="1">
                  <a:solidFill>
                    <a:srgbClr val="FF0000"/>
                  </a:solidFill>
                </a:rPr>
                <a:t>X</a:t>
              </a:r>
            </a:p>
          </p:txBody>
        </p:sp>
        <p:sp>
          <p:nvSpPr>
            <p:cNvPr id="166" name="Text Box 80">
              <a:extLst>
                <a:ext uri="{FF2B5EF4-FFF2-40B4-BE49-F238E27FC236}">
                  <a16:creationId xmlns:a16="http://schemas.microsoft.com/office/drawing/2014/main" id="{4F328A58-7F38-4264-812C-E34BFF57981B}"/>
                </a:ext>
              </a:extLst>
            </p:cNvPr>
            <p:cNvSpPr txBox="1">
              <a:spLocks noChangeArrowheads="1"/>
            </p:cNvSpPr>
            <p:nvPr/>
          </p:nvSpPr>
          <p:spPr bwMode="auto">
            <a:xfrm>
              <a:off x="4126" y="1940"/>
              <a:ext cx="32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i="1">
                  <a:solidFill>
                    <a:srgbClr val="FF0000"/>
                  </a:solidFill>
                </a:rPr>
                <a:t>loss</a:t>
              </a:r>
            </a:p>
          </p:txBody>
        </p:sp>
      </p:grpSp>
      <p:grpSp>
        <p:nvGrpSpPr>
          <p:cNvPr id="167" name="Group 86">
            <a:extLst>
              <a:ext uri="{FF2B5EF4-FFF2-40B4-BE49-F238E27FC236}">
                <a16:creationId xmlns:a16="http://schemas.microsoft.com/office/drawing/2014/main" id="{048BE443-A7A4-4B85-8E47-7F466DBC06D4}"/>
              </a:ext>
            </a:extLst>
          </p:cNvPr>
          <p:cNvGrpSpPr>
            <a:grpSpLocks/>
          </p:cNvGrpSpPr>
          <p:nvPr/>
        </p:nvGrpSpPr>
        <p:grpSpPr bwMode="auto">
          <a:xfrm>
            <a:off x="5952891" y="3073657"/>
            <a:ext cx="104775" cy="1159972"/>
            <a:chOff x="3651" y="1878"/>
            <a:chExt cx="78" cy="963"/>
          </a:xfrm>
        </p:grpSpPr>
        <p:sp>
          <p:nvSpPr>
            <p:cNvPr id="168" name="Line 82">
              <a:extLst>
                <a:ext uri="{FF2B5EF4-FFF2-40B4-BE49-F238E27FC236}">
                  <a16:creationId xmlns:a16="http://schemas.microsoft.com/office/drawing/2014/main" id="{8BBAFFA1-4F7F-4EE3-BA48-ECBC9A47D17B}"/>
                </a:ext>
              </a:extLst>
            </p:cNvPr>
            <p:cNvSpPr>
              <a:spLocks noChangeShapeType="1"/>
            </p:cNvSpPr>
            <p:nvPr/>
          </p:nvSpPr>
          <p:spPr bwMode="auto">
            <a:xfrm>
              <a:off x="3729" y="1879"/>
              <a:ext cx="0" cy="96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69" name="Line 84">
              <a:extLst>
                <a:ext uri="{FF2B5EF4-FFF2-40B4-BE49-F238E27FC236}">
                  <a16:creationId xmlns:a16="http://schemas.microsoft.com/office/drawing/2014/main" id="{7CF21C11-18AF-47DA-8372-EA19F9530BAC}"/>
                </a:ext>
              </a:extLst>
            </p:cNvPr>
            <p:cNvSpPr>
              <a:spLocks noChangeShapeType="1"/>
            </p:cNvSpPr>
            <p:nvPr/>
          </p:nvSpPr>
          <p:spPr bwMode="auto">
            <a:xfrm flipH="1">
              <a:off x="3651" y="1878"/>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0" name="Line 85">
              <a:extLst>
                <a:ext uri="{FF2B5EF4-FFF2-40B4-BE49-F238E27FC236}">
                  <a16:creationId xmlns:a16="http://schemas.microsoft.com/office/drawing/2014/main" id="{940FD369-FA6F-499E-8B7F-45E58C78D6DC}"/>
                </a:ext>
              </a:extLst>
            </p:cNvPr>
            <p:cNvSpPr>
              <a:spLocks noChangeShapeType="1"/>
            </p:cNvSpPr>
            <p:nvPr/>
          </p:nvSpPr>
          <p:spPr bwMode="auto">
            <a:xfrm flipH="1">
              <a:off x="3651" y="2841"/>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grpSp>
        <p:nvGrpSpPr>
          <p:cNvPr id="171" name="Group 88">
            <a:extLst>
              <a:ext uri="{FF2B5EF4-FFF2-40B4-BE49-F238E27FC236}">
                <a16:creationId xmlns:a16="http://schemas.microsoft.com/office/drawing/2014/main" id="{7B39BE1C-57BC-437B-92A1-1D10F5884047}"/>
              </a:ext>
            </a:extLst>
          </p:cNvPr>
          <p:cNvGrpSpPr>
            <a:grpSpLocks/>
          </p:cNvGrpSpPr>
          <p:nvPr/>
        </p:nvGrpSpPr>
        <p:grpSpPr bwMode="auto">
          <a:xfrm>
            <a:off x="6055804" y="4158111"/>
            <a:ext cx="1471613" cy="504825"/>
            <a:chOff x="855" y="1710"/>
            <a:chExt cx="927" cy="318"/>
          </a:xfrm>
        </p:grpSpPr>
        <p:sp>
          <p:nvSpPr>
            <p:cNvPr id="172" name="Line 89">
              <a:extLst>
                <a:ext uri="{FF2B5EF4-FFF2-40B4-BE49-F238E27FC236}">
                  <a16:creationId xmlns:a16="http://schemas.microsoft.com/office/drawing/2014/main" id="{080CDB35-E6DD-4361-BB10-2FCCCF2D409C}"/>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3" name="Text Box 90">
              <a:extLst>
                <a:ext uri="{FF2B5EF4-FFF2-40B4-BE49-F238E27FC236}">
                  <a16:creationId xmlns:a16="http://schemas.microsoft.com/office/drawing/2014/main" id="{1CF06B45-AF81-4FF6-ABE6-28926FB3B777}"/>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grpSp>
      <p:grpSp>
        <p:nvGrpSpPr>
          <p:cNvPr id="174" name="Group 92">
            <a:extLst>
              <a:ext uri="{FF2B5EF4-FFF2-40B4-BE49-F238E27FC236}">
                <a16:creationId xmlns:a16="http://schemas.microsoft.com/office/drawing/2014/main" id="{A6C0BB71-A38E-43EB-B9CC-308EAC1730B4}"/>
              </a:ext>
            </a:extLst>
          </p:cNvPr>
          <p:cNvGrpSpPr>
            <a:grpSpLocks/>
          </p:cNvGrpSpPr>
          <p:nvPr/>
        </p:nvGrpSpPr>
        <p:grpSpPr bwMode="auto">
          <a:xfrm>
            <a:off x="4893759" y="3905705"/>
            <a:ext cx="1108076" cy="687388"/>
            <a:chOff x="2972" y="2426"/>
            <a:chExt cx="698" cy="433"/>
          </a:xfrm>
        </p:grpSpPr>
        <p:pic>
          <p:nvPicPr>
            <p:cNvPr id="175" name="Picture 87" descr="alarm_clock_ringing">
              <a:extLst>
                <a:ext uri="{FF2B5EF4-FFF2-40B4-BE49-F238E27FC236}">
                  <a16:creationId xmlns:a16="http://schemas.microsoft.com/office/drawing/2014/main" id="{D10641C8-DCB3-486E-9F29-3CAD94BBB0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5" y="2426"/>
              <a:ext cx="20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 name="Text Box 91">
              <a:extLst>
                <a:ext uri="{FF2B5EF4-FFF2-40B4-BE49-F238E27FC236}">
                  <a16:creationId xmlns:a16="http://schemas.microsoft.com/office/drawing/2014/main" id="{C256AFD9-3F83-442F-81D9-68CE85B5B8CE}"/>
                </a:ext>
              </a:extLst>
            </p:cNvPr>
            <p:cNvSpPr txBox="1">
              <a:spLocks noChangeArrowheads="1"/>
            </p:cNvSpPr>
            <p:nvPr/>
          </p:nvSpPr>
          <p:spPr bwMode="auto">
            <a:xfrm>
              <a:off x="2972" y="2491"/>
              <a:ext cx="698" cy="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超时</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 name="Text Box 5">
            <a:extLst>
              <a:ext uri="{FF2B5EF4-FFF2-40B4-BE49-F238E27FC236}">
                <a16:creationId xmlns:a16="http://schemas.microsoft.com/office/drawing/2014/main" id="{0CA783B4-1082-4118-86C8-6AE03687A6A3}"/>
              </a:ext>
            </a:extLst>
          </p:cNvPr>
          <p:cNvSpPr txBox="1">
            <a:spLocks noChangeArrowheads="1"/>
          </p:cNvSpPr>
          <p:nvPr/>
        </p:nvSpPr>
        <p:spPr bwMode="auto">
          <a:xfrm>
            <a:off x="4905391" y="1495604"/>
            <a:ext cx="954107"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0099"/>
                </a:solidFill>
              </a:rPr>
              <a:t>发送端</a:t>
            </a:r>
            <a:endParaRPr lang="en-US" sz="2000" dirty="0">
              <a:solidFill>
                <a:srgbClr val="000099"/>
              </a:solidFill>
            </a:endParaRPr>
          </a:p>
        </p:txBody>
      </p:sp>
      <p:sp>
        <p:nvSpPr>
          <p:cNvPr id="8" name="Text Box 6">
            <a:extLst>
              <a:ext uri="{FF2B5EF4-FFF2-40B4-BE49-F238E27FC236}">
                <a16:creationId xmlns:a16="http://schemas.microsoft.com/office/drawing/2014/main" id="{137B4DFC-3006-4D0C-9FB1-DF5038490B0D}"/>
              </a:ext>
            </a:extLst>
          </p:cNvPr>
          <p:cNvSpPr txBox="1">
            <a:spLocks noChangeArrowheads="1"/>
          </p:cNvSpPr>
          <p:nvPr/>
        </p:nvSpPr>
        <p:spPr bwMode="auto">
          <a:xfrm>
            <a:off x="7528725" y="1463569"/>
            <a:ext cx="954107"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sp>
        <p:nvSpPr>
          <p:cNvPr id="179" name="Text Box 14">
            <a:extLst>
              <a:ext uri="{FF2B5EF4-FFF2-40B4-BE49-F238E27FC236}">
                <a16:creationId xmlns:a16="http://schemas.microsoft.com/office/drawing/2014/main" id="{E8123734-219E-46F2-85C4-52CCE358F71B}"/>
              </a:ext>
            </a:extLst>
          </p:cNvPr>
          <p:cNvSpPr txBox="1">
            <a:spLocks noChangeArrowheads="1"/>
          </p:cNvSpPr>
          <p:nvPr/>
        </p:nvSpPr>
        <p:spPr bwMode="auto">
          <a:xfrm>
            <a:off x="480382" y="3541763"/>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0" name="Text Box 17">
            <a:extLst>
              <a:ext uri="{FF2B5EF4-FFF2-40B4-BE49-F238E27FC236}">
                <a16:creationId xmlns:a16="http://schemas.microsoft.com/office/drawing/2014/main" id="{3F6C2F21-5235-44AB-99D6-CDFC6F76917C}"/>
              </a:ext>
            </a:extLst>
          </p:cNvPr>
          <p:cNvSpPr txBox="1">
            <a:spLocks noChangeArrowheads="1"/>
          </p:cNvSpPr>
          <p:nvPr/>
        </p:nvSpPr>
        <p:spPr bwMode="auto">
          <a:xfrm>
            <a:off x="485992" y="3810027"/>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181" name="Text Box 14">
            <a:extLst>
              <a:ext uri="{FF2B5EF4-FFF2-40B4-BE49-F238E27FC236}">
                <a16:creationId xmlns:a16="http://schemas.microsoft.com/office/drawing/2014/main" id="{E0A48E5B-D164-4A9C-968C-99F8185E2148}"/>
              </a:ext>
            </a:extLst>
          </p:cNvPr>
          <p:cNvSpPr txBox="1">
            <a:spLocks noChangeArrowheads="1"/>
          </p:cNvSpPr>
          <p:nvPr/>
        </p:nvSpPr>
        <p:spPr bwMode="auto">
          <a:xfrm>
            <a:off x="2989431" y="2258966"/>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2" name="Text Box 17">
            <a:extLst>
              <a:ext uri="{FF2B5EF4-FFF2-40B4-BE49-F238E27FC236}">
                <a16:creationId xmlns:a16="http://schemas.microsoft.com/office/drawing/2014/main" id="{0F6373AA-6108-49BE-8174-1B19D252BB21}"/>
              </a:ext>
            </a:extLst>
          </p:cNvPr>
          <p:cNvSpPr txBox="1">
            <a:spLocks noChangeArrowheads="1"/>
          </p:cNvSpPr>
          <p:nvPr/>
        </p:nvSpPr>
        <p:spPr bwMode="auto">
          <a:xfrm>
            <a:off x="2995041" y="2527230"/>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183" name="Text Box 14">
            <a:extLst>
              <a:ext uri="{FF2B5EF4-FFF2-40B4-BE49-F238E27FC236}">
                <a16:creationId xmlns:a16="http://schemas.microsoft.com/office/drawing/2014/main" id="{9D0B2CDA-8BB4-4B01-B8FA-51720302CD83}"/>
              </a:ext>
            </a:extLst>
          </p:cNvPr>
          <p:cNvSpPr txBox="1">
            <a:spLocks noChangeArrowheads="1"/>
          </p:cNvSpPr>
          <p:nvPr/>
        </p:nvSpPr>
        <p:spPr bwMode="auto">
          <a:xfrm>
            <a:off x="2988162" y="3156774"/>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4" name="Text Box 17">
            <a:extLst>
              <a:ext uri="{FF2B5EF4-FFF2-40B4-BE49-F238E27FC236}">
                <a16:creationId xmlns:a16="http://schemas.microsoft.com/office/drawing/2014/main" id="{F1FF6294-347F-454A-8322-11E56000613D}"/>
              </a:ext>
            </a:extLst>
          </p:cNvPr>
          <p:cNvSpPr txBox="1">
            <a:spLocks noChangeArrowheads="1"/>
          </p:cNvSpPr>
          <p:nvPr/>
        </p:nvSpPr>
        <p:spPr bwMode="auto">
          <a:xfrm>
            <a:off x="2993772" y="3425038"/>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185" name="Text Box 14">
            <a:extLst>
              <a:ext uri="{FF2B5EF4-FFF2-40B4-BE49-F238E27FC236}">
                <a16:creationId xmlns:a16="http://schemas.microsoft.com/office/drawing/2014/main" id="{BF574520-8323-49E8-B508-1C6988D0351D}"/>
              </a:ext>
            </a:extLst>
          </p:cNvPr>
          <p:cNvSpPr txBox="1">
            <a:spLocks noChangeArrowheads="1"/>
          </p:cNvSpPr>
          <p:nvPr/>
        </p:nvSpPr>
        <p:spPr bwMode="auto">
          <a:xfrm>
            <a:off x="2988162" y="3976797"/>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6" name="Text Box 17">
            <a:extLst>
              <a:ext uri="{FF2B5EF4-FFF2-40B4-BE49-F238E27FC236}">
                <a16:creationId xmlns:a16="http://schemas.microsoft.com/office/drawing/2014/main" id="{3AEEB89F-7F4A-411D-BB7F-29814C6E48D3}"/>
              </a:ext>
            </a:extLst>
          </p:cNvPr>
          <p:cNvSpPr txBox="1">
            <a:spLocks noChangeArrowheads="1"/>
          </p:cNvSpPr>
          <p:nvPr/>
        </p:nvSpPr>
        <p:spPr bwMode="auto">
          <a:xfrm>
            <a:off x="2993772" y="4245061"/>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9" name="Text Box 7">
            <a:extLst>
              <a:ext uri="{FF2B5EF4-FFF2-40B4-BE49-F238E27FC236}">
                <a16:creationId xmlns:a16="http://schemas.microsoft.com/office/drawing/2014/main" id="{735620AC-E3BD-4BE7-862E-7D102687A4FA}"/>
              </a:ext>
            </a:extLst>
          </p:cNvPr>
          <p:cNvSpPr txBox="1">
            <a:spLocks noChangeArrowheads="1"/>
          </p:cNvSpPr>
          <p:nvPr/>
        </p:nvSpPr>
        <p:spPr bwMode="auto">
          <a:xfrm>
            <a:off x="4892871" y="1997630"/>
            <a:ext cx="111761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8" name="Text Box 14">
            <a:extLst>
              <a:ext uri="{FF2B5EF4-FFF2-40B4-BE49-F238E27FC236}">
                <a16:creationId xmlns:a16="http://schemas.microsoft.com/office/drawing/2014/main" id="{AE604D2F-FE5C-44EE-8FA0-57127DA5720E}"/>
              </a:ext>
            </a:extLst>
          </p:cNvPr>
          <p:cNvSpPr txBox="1">
            <a:spLocks noChangeArrowheads="1"/>
          </p:cNvSpPr>
          <p:nvPr/>
        </p:nvSpPr>
        <p:spPr bwMode="auto">
          <a:xfrm>
            <a:off x="4917823" y="2695670"/>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9" name="Text Box 17">
            <a:extLst>
              <a:ext uri="{FF2B5EF4-FFF2-40B4-BE49-F238E27FC236}">
                <a16:creationId xmlns:a16="http://schemas.microsoft.com/office/drawing/2014/main" id="{65A34E4E-03FB-4FEC-B383-3C2A18B03B3B}"/>
              </a:ext>
            </a:extLst>
          </p:cNvPr>
          <p:cNvSpPr txBox="1">
            <a:spLocks noChangeArrowheads="1"/>
          </p:cNvSpPr>
          <p:nvPr/>
        </p:nvSpPr>
        <p:spPr bwMode="auto">
          <a:xfrm>
            <a:off x="4923433" y="2963934"/>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90" name="Text Box 14">
            <a:extLst>
              <a:ext uri="{FF2B5EF4-FFF2-40B4-BE49-F238E27FC236}">
                <a16:creationId xmlns:a16="http://schemas.microsoft.com/office/drawing/2014/main" id="{DEFBDFA7-A5E7-4226-8F26-F1B1C9D54C79}"/>
              </a:ext>
            </a:extLst>
          </p:cNvPr>
          <p:cNvSpPr txBox="1">
            <a:spLocks noChangeArrowheads="1"/>
          </p:cNvSpPr>
          <p:nvPr/>
        </p:nvSpPr>
        <p:spPr bwMode="auto">
          <a:xfrm>
            <a:off x="4954688" y="4853363"/>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1" name="Text Box 17">
            <a:extLst>
              <a:ext uri="{FF2B5EF4-FFF2-40B4-BE49-F238E27FC236}">
                <a16:creationId xmlns:a16="http://schemas.microsoft.com/office/drawing/2014/main" id="{2A116D3D-7DFC-4675-8295-09FEE0765C00}"/>
              </a:ext>
            </a:extLst>
          </p:cNvPr>
          <p:cNvSpPr txBox="1">
            <a:spLocks noChangeArrowheads="1"/>
          </p:cNvSpPr>
          <p:nvPr/>
        </p:nvSpPr>
        <p:spPr bwMode="auto">
          <a:xfrm>
            <a:off x="4960298" y="5121627"/>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192" name="Text Box 14">
            <a:extLst>
              <a:ext uri="{FF2B5EF4-FFF2-40B4-BE49-F238E27FC236}">
                <a16:creationId xmlns:a16="http://schemas.microsoft.com/office/drawing/2014/main" id="{BE0E922A-290F-48FF-B454-6CE4BAB9E737}"/>
              </a:ext>
            </a:extLst>
          </p:cNvPr>
          <p:cNvSpPr txBox="1">
            <a:spLocks noChangeArrowheads="1"/>
          </p:cNvSpPr>
          <p:nvPr/>
        </p:nvSpPr>
        <p:spPr bwMode="auto">
          <a:xfrm>
            <a:off x="7407349" y="2258999"/>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Text Box 17">
            <a:extLst>
              <a:ext uri="{FF2B5EF4-FFF2-40B4-BE49-F238E27FC236}">
                <a16:creationId xmlns:a16="http://schemas.microsoft.com/office/drawing/2014/main" id="{E9EB120D-7AC3-49D0-88B7-7832F84EA391}"/>
              </a:ext>
            </a:extLst>
          </p:cNvPr>
          <p:cNvSpPr txBox="1">
            <a:spLocks noChangeArrowheads="1"/>
          </p:cNvSpPr>
          <p:nvPr/>
        </p:nvSpPr>
        <p:spPr bwMode="auto">
          <a:xfrm>
            <a:off x="7412959" y="2527263"/>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194" name="Text Box 14">
            <a:extLst>
              <a:ext uri="{FF2B5EF4-FFF2-40B4-BE49-F238E27FC236}">
                <a16:creationId xmlns:a16="http://schemas.microsoft.com/office/drawing/2014/main" id="{66264C39-6A38-4A6D-88AA-854E6723A342}"/>
              </a:ext>
            </a:extLst>
          </p:cNvPr>
          <p:cNvSpPr txBox="1">
            <a:spLocks noChangeArrowheads="1"/>
          </p:cNvSpPr>
          <p:nvPr/>
        </p:nvSpPr>
        <p:spPr bwMode="auto">
          <a:xfrm>
            <a:off x="7499958" y="4404912"/>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5" name="Text Box 17">
            <a:extLst>
              <a:ext uri="{FF2B5EF4-FFF2-40B4-BE49-F238E27FC236}">
                <a16:creationId xmlns:a16="http://schemas.microsoft.com/office/drawing/2014/main" id="{529AA174-01C1-404E-8658-FD96C1456A30}"/>
              </a:ext>
            </a:extLst>
          </p:cNvPr>
          <p:cNvSpPr txBox="1">
            <a:spLocks noChangeArrowheads="1"/>
          </p:cNvSpPr>
          <p:nvPr/>
        </p:nvSpPr>
        <p:spPr bwMode="auto">
          <a:xfrm>
            <a:off x="7505568" y="4673176"/>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196" name="Text Box 14">
            <a:extLst>
              <a:ext uri="{FF2B5EF4-FFF2-40B4-BE49-F238E27FC236}">
                <a16:creationId xmlns:a16="http://schemas.microsoft.com/office/drawing/2014/main" id="{74155001-D79A-4DCC-A532-8DD72EDDA517}"/>
              </a:ext>
            </a:extLst>
          </p:cNvPr>
          <p:cNvSpPr txBox="1">
            <a:spLocks noChangeArrowheads="1"/>
          </p:cNvSpPr>
          <p:nvPr/>
        </p:nvSpPr>
        <p:spPr bwMode="auto">
          <a:xfrm>
            <a:off x="7499958" y="5224935"/>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7" name="Text Box 17">
            <a:extLst>
              <a:ext uri="{FF2B5EF4-FFF2-40B4-BE49-F238E27FC236}">
                <a16:creationId xmlns:a16="http://schemas.microsoft.com/office/drawing/2014/main" id="{BEFE6164-12B9-41C7-BA61-663CD64693B0}"/>
              </a:ext>
            </a:extLst>
          </p:cNvPr>
          <p:cNvSpPr txBox="1">
            <a:spLocks noChangeArrowheads="1"/>
          </p:cNvSpPr>
          <p:nvPr/>
        </p:nvSpPr>
        <p:spPr bwMode="auto">
          <a:xfrm>
            <a:off x="7505568" y="5493199"/>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80" name="Text Box 14">
            <a:extLst>
              <a:ext uri="{FF2B5EF4-FFF2-40B4-BE49-F238E27FC236}">
                <a16:creationId xmlns:a16="http://schemas.microsoft.com/office/drawing/2014/main" id="{0B0426D6-F478-486E-B287-0C2ACC1A763E}"/>
              </a:ext>
            </a:extLst>
          </p:cNvPr>
          <p:cNvSpPr txBox="1">
            <a:spLocks noChangeArrowheads="1"/>
          </p:cNvSpPr>
          <p:nvPr/>
        </p:nvSpPr>
        <p:spPr bwMode="auto">
          <a:xfrm>
            <a:off x="498719" y="4507136"/>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Text Box 14">
            <a:extLst>
              <a:ext uri="{FF2B5EF4-FFF2-40B4-BE49-F238E27FC236}">
                <a16:creationId xmlns:a16="http://schemas.microsoft.com/office/drawing/2014/main" id="{856069BB-A315-4FE8-B04C-C7B618C75C5A}"/>
              </a:ext>
            </a:extLst>
          </p:cNvPr>
          <p:cNvSpPr txBox="1">
            <a:spLocks noChangeArrowheads="1"/>
          </p:cNvSpPr>
          <p:nvPr/>
        </p:nvSpPr>
        <p:spPr bwMode="auto">
          <a:xfrm>
            <a:off x="4954688" y="5754135"/>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14768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5600" indent="-355600">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：场景示例</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60" name="Text Box 5">
            <a:extLst>
              <a:ext uri="{FF2B5EF4-FFF2-40B4-BE49-F238E27FC236}">
                <a16:creationId xmlns:a16="http://schemas.microsoft.com/office/drawing/2014/main" id="{5A0ABA9A-A906-472F-B3CA-9C08C7010308}"/>
              </a:ext>
            </a:extLst>
          </p:cNvPr>
          <p:cNvSpPr txBox="1">
            <a:spLocks noChangeArrowheads="1"/>
          </p:cNvSpPr>
          <p:nvPr/>
        </p:nvSpPr>
        <p:spPr bwMode="auto">
          <a:xfrm>
            <a:off x="596040" y="1412875"/>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0099"/>
                </a:solidFill>
              </a:rPr>
              <a:t>发送端</a:t>
            </a:r>
            <a:endParaRPr lang="en-US" sz="2000" dirty="0">
              <a:solidFill>
                <a:srgbClr val="000099"/>
              </a:solidFill>
            </a:endParaRPr>
          </a:p>
        </p:txBody>
      </p:sp>
      <p:sp>
        <p:nvSpPr>
          <p:cNvPr id="62" name="Text Box 6">
            <a:extLst>
              <a:ext uri="{FF2B5EF4-FFF2-40B4-BE49-F238E27FC236}">
                <a16:creationId xmlns:a16="http://schemas.microsoft.com/office/drawing/2014/main" id="{02840ED0-5C93-4F33-B6B4-88EF03F37760}"/>
              </a:ext>
            </a:extLst>
          </p:cNvPr>
          <p:cNvSpPr txBox="1">
            <a:spLocks noChangeArrowheads="1"/>
          </p:cNvSpPr>
          <p:nvPr/>
        </p:nvSpPr>
        <p:spPr bwMode="auto">
          <a:xfrm>
            <a:off x="3036028" y="1408113"/>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sp>
        <p:nvSpPr>
          <p:cNvPr id="5" name="Text Box 5">
            <a:extLst>
              <a:ext uri="{FF2B5EF4-FFF2-40B4-BE49-F238E27FC236}">
                <a16:creationId xmlns:a16="http://schemas.microsoft.com/office/drawing/2014/main" id="{0CA783B4-1082-4118-86C8-6AE03687A6A3}"/>
              </a:ext>
            </a:extLst>
          </p:cNvPr>
          <p:cNvSpPr txBox="1">
            <a:spLocks noChangeArrowheads="1"/>
          </p:cNvSpPr>
          <p:nvPr/>
        </p:nvSpPr>
        <p:spPr bwMode="auto">
          <a:xfrm>
            <a:off x="5148991" y="1405200"/>
            <a:ext cx="954107"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0099"/>
                </a:solidFill>
              </a:rPr>
              <a:t>发送端</a:t>
            </a:r>
            <a:endParaRPr lang="en-US" sz="2000" dirty="0">
              <a:solidFill>
                <a:srgbClr val="000099"/>
              </a:solidFill>
            </a:endParaRPr>
          </a:p>
        </p:txBody>
      </p:sp>
      <p:sp>
        <p:nvSpPr>
          <p:cNvPr id="8" name="Text Box 6">
            <a:extLst>
              <a:ext uri="{FF2B5EF4-FFF2-40B4-BE49-F238E27FC236}">
                <a16:creationId xmlns:a16="http://schemas.microsoft.com/office/drawing/2014/main" id="{137B4DFC-3006-4D0C-9FB1-DF5038490B0D}"/>
              </a:ext>
            </a:extLst>
          </p:cNvPr>
          <p:cNvSpPr txBox="1">
            <a:spLocks noChangeArrowheads="1"/>
          </p:cNvSpPr>
          <p:nvPr/>
        </p:nvSpPr>
        <p:spPr bwMode="auto">
          <a:xfrm>
            <a:off x="7649323" y="1393369"/>
            <a:ext cx="954107"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grpSp>
        <p:nvGrpSpPr>
          <p:cNvPr id="83" name="Group 23">
            <a:extLst>
              <a:ext uri="{FF2B5EF4-FFF2-40B4-BE49-F238E27FC236}">
                <a16:creationId xmlns:a16="http://schemas.microsoft.com/office/drawing/2014/main" id="{826AAAF5-C4A6-4C2F-9556-E13D5FC9F579}"/>
              </a:ext>
            </a:extLst>
          </p:cNvPr>
          <p:cNvGrpSpPr>
            <a:grpSpLocks/>
          </p:cNvGrpSpPr>
          <p:nvPr/>
        </p:nvGrpSpPr>
        <p:grpSpPr bwMode="auto">
          <a:xfrm>
            <a:off x="1521573" y="2863910"/>
            <a:ext cx="1471612" cy="504825"/>
            <a:chOff x="855" y="1710"/>
            <a:chExt cx="927" cy="318"/>
          </a:xfrm>
        </p:grpSpPr>
        <p:sp>
          <p:nvSpPr>
            <p:cNvPr id="84" name="Line 24">
              <a:extLst>
                <a:ext uri="{FF2B5EF4-FFF2-40B4-BE49-F238E27FC236}">
                  <a16:creationId xmlns:a16="http://schemas.microsoft.com/office/drawing/2014/main" id="{3744E6B8-F22E-462F-9609-70681D0D3516}"/>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5" name="Text Box 25">
              <a:extLst>
                <a:ext uri="{FF2B5EF4-FFF2-40B4-BE49-F238E27FC236}">
                  <a16:creationId xmlns:a16="http://schemas.microsoft.com/office/drawing/2014/main" id="{175C899D-394B-4F2D-962B-94FE332EA053}"/>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grpSp>
      <p:grpSp>
        <p:nvGrpSpPr>
          <p:cNvPr id="99" name="Group 49">
            <a:extLst>
              <a:ext uri="{FF2B5EF4-FFF2-40B4-BE49-F238E27FC236}">
                <a16:creationId xmlns:a16="http://schemas.microsoft.com/office/drawing/2014/main" id="{D36FC9D3-0162-4D9D-AE15-00C79B22C75F}"/>
              </a:ext>
            </a:extLst>
          </p:cNvPr>
          <p:cNvGrpSpPr>
            <a:grpSpLocks/>
          </p:cNvGrpSpPr>
          <p:nvPr/>
        </p:nvGrpSpPr>
        <p:grpSpPr bwMode="auto">
          <a:xfrm>
            <a:off x="1512048" y="1992373"/>
            <a:ext cx="1471612" cy="512762"/>
            <a:chOff x="850" y="1159"/>
            <a:chExt cx="927" cy="323"/>
          </a:xfrm>
        </p:grpSpPr>
        <p:sp>
          <p:nvSpPr>
            <p:cNvPr id="100" name="Line 50">
              <a:extLst>
                <a:ext uri="{FF2B5EF4-FFF2-40B4-BE49-F238E27FC236}">
                  <a16:creationId xmlns:a16="http://schemas.microsoft.com/office/drawing/2014/main" id="{4A60FA54-56DC-4FED-AF9F-77B33D125000}"/>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1" name="Text Box 51">
              <a:extLst>
                <a:ext uri="{FF2B5EF4-FFF2-40B4-BE49-F238E27FC236}">
                  <a16:creationId xmlns:a16="http://schemas.microsoft.com/office/drawing/2014/main" id="{8F4B06EC-7B6F-4027-886D-3A77A48AAE30}"/>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02" name="Group 52">
            <a:extLst>
              <a:ext uri="{FF2B5EF4-FFF2-40B4-BE49-F238E27FC236}">
                <a16:creationId xmlns:a16="http://schemas.microsoft.com/office/drawing/2014/main" id="{69EB0760-6DB6-4723-A6B5-EE05060701C9}"/>
              </a:ext>
            </a:extLst>
          </p:cNvPr>
          <p:cNvGrpSpPr>
            <a:grpSpLocks/>
          </p:cNvGrpSpPr>
          <p:nvPr/>
        </p:nvGrpSpPr>
        <p:grpSpPr bwMode="auto">
          <a:xfrm>
            <a:off x="1505698" y="5007035"/>
            <a:ext cx="1471612" cy="487363"/>
            <a:chOff x="846" y="2253"/>
            <a:chExt cx="927" cy="307"/>
          </a:xfrm>
        </p:grpSpPr>
        <p:sp>
          <p:nvSpPr>
            <p:cNvPr id="104" name="Line 53">
              <a:extLst>
                <a:ext uri="{FF2B5EF4-FFF2-40B4-BE49-F238E27FC236}">
                  <a16:creationId xmlns:a16="http://schemas.microsoft.com/office/drawing/2014/main" id="{44A157C3-5E2C-40B2-87BB-F1AB33347AF0}"/>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6" name="Text Box 54">
              <a:extLst>
                <a:ext uri="{FF2B5EF4-FFF2-40B4-BE49-F238E27FC236}">
                  <a16:creationId xmlns:a16="http://schemas.microsoft.com/office/drawing/2014/main" id="{A91D24EA-D37F-4AA8-992B-2488D27AFF2E}"/>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107" name="Group 55">
            <a:extLst>
              <a:ext uri="{FF2B5EF4-FFF2-40B4-BE49-F238E27FC236}">
                <a16:creationId xmlns:a16="http://schemas.microsoft.com/office/drawing/2014/main" id="{B847C673-171B-453E-827D-49A5244A50B9}"/>
              </a:ext>
            </a:extLst>
          </p:cNvPr>
          <p:cNvGrpSpPr>
            <a:grpSpLocks/>
          </p:cNvGrpSpPr>
          <p:nvPr/>
        </p:nvGrpSpPr>
        <p:grpSpPr bwMode="auto">
          <a:xfrm>
            <a:off x="1505698" y="4610160"/>
            <a:ext cx="1471612" cy="471488"/>
            <a:chOff x="846" y="2003"/>
            <a:chExt cx="927" cy="297"/>
          </a:xfrm>
        </p:grpSpPr>
        <p:sp>
          <p:nvSpPr>
            <p:cNvPr id="108" name="Line 56">
              <a:extLst>
                <a:ext uri="{FF2B5EF4-FFF2-40B4-BE49-F238E27FC236}">
                  <a16:creationId xmlns:a16="http://schemas.microsoft.com/office/drawing/2014/main" id="{24C7C858-C8E7-469B-B143-4FFA0FD50499}"/>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0" name="Text Box 57">
              <a:extLst>
                <a:ext uri="{FF2B5EF4-FFF2-40B4-BE49-F238E27FC236}">
                  <a16:creationId xmlns:a16="http://schemas.microsoft.com/office/drawing/2014/main" id="{99348AF8-52E5-480A-A08C-A61950F6A735}"/>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ack1</a:t>
              </a:r>
            </a:p>
          </p:txBody>
        </p:sp>
      </p:grpSp>
      <p:grpSp>
        <p:nvGrpSpPr>
          <p:cNvPr id="111" name="Group 58">
            <a:extLst>
              <a:ext uri="{FF2B5EF4-FFF2-40B4-BE49-F238E27FC236}">
                <a16:creationId xmlns:a16="http://schemas.microsoft.com/office/drawing/2014/main" id="{618A4DC7-A3C0-4866-A841-CA47D70CC435}"/>
              </a:ext>
            </a:extLst>
          </p:cNvPr>
          <p:cNvGrpSpPr>
            <a:grpSpLocks/>
          </p:cNvGrpSpPr>
          <p:nvPr/>
        </p:nvGrpSpPr>
        <p:grpSpPr bwMode="auto">
          <a:xfrm>
            <a:off x="1497760" y="2492435"/>
            <a:ext cx="1471613" cy="455613"/>
            <a:chOff x="841" y="1474"/>
            <a:chExt cx="927" cy="287"/>
          </a:xfrm>
        </p:grpSpPr>
        <p:sp>
          <p:nvSpPr>
            <p:cNvPr id="112" name="Line 59">
              <a:extLst>
                <a:ext uri="{FF2B5EF4-FFF2-40B4-BE49-F238E27FC236}">
                  <a16:creationId xmlns:a16="http://schemas.microsoft.com/office/drawing/2014/main" id="{6F3ADB7C-AC46-41D3-BAE8-8D392250881C}"/>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4" name="Text Box 60">
              <a:extLst>
                <a:ext uri="{FF2B5EF4-FFF2-40B4-BE49-F238E27FC236}">
                  <a16:creationId xmlns:a16="http://schemas.microsoft.com/office/drawing/2014/main" id="{C744AE61-2F0E-44FF-A9E8-7B5B847C5C92}"/>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grpSp>
        <p:nvGrpSpPr>
          <p:cNvPr id="133" name="Group 61">
            <a:extLst>
              <a:ext uri="{FF2B5EF4-FFF2-40B4-BE49-F238E27FC236}">
                <a16:creationId xmlns:a16="http://schemas.microsoft.com/office/drawing/2014/main" id="{A86CC936-1170-4651-8FEC-394FCC8F3BEE}"/>
              </a:ext>
            </a:extLst>
          </p:cNvPr>
          <p:cNvGrpSpPr>
            <a:grpSpLocks/>
          </p:cNvGrpSpPr>
          <p:nvPr/>
        </p:nvGrpSpPr>
        <p:grpSpPr bwMode="auto">
          <a:xfrm>
            <a:off x="1491410" y="5462648"/>
            <a:ext cx="1471613" cy="461962"/>
            <a:chOff x="837" y="2540"/>
            <a:chExt cx="927" cy="291"/>
          </a:xfrm>
        </p:grpSpPr>
        <p:sp>
          <p:nvSpPr>
            <p:cNvPr id="134" name="Line 62">
              <a:extLst>
                <a:ext uri="{FF2B5EF4-FFF2-40B4-BE49-F238E27FC236}">
                  <a16:creationId xmlns:a16="http://schemas.microsoft.com/office/drawing/2014/main" id="{EB7D116B-A40A-42BC-9C13-7A7B2C058676}"/>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5" name="Text Box 63">
              <a:extLst>
                <a:ext uri="{FF2B5EF4-FFF2-40B4-BE49-F238E27FC236}">
                  <a16:creationId xmlns:a16="http://schemas.microsoft.com/office/drawing/2014/main" id="{5FF5EAD9-A4B7-4A1D-9F90-6AFF9370E043}"/>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sp>
        <p:nvSpPr>
          <p:cNvPr id="136" name="Text Box 64">
            <a:extLst>
              <a:ext uri="{FF2B5EF4-FFF2-40B4-BE49-F238E27FC236}">
                <a16:creationId xmlns:a16="http://schemas.microsoft.com/office/drawing/2014/main" id="{06371EC8-08B6-44E9-8EBD-13166BB0952E}"/>
              </a:ext>
            </a:extLst>
          </p:cNvPr>
          <p:cNvSpPr txBox="1">
            <a:spLocks noChangeArrowheads="1"/>
          </p:cNvSpPr>
          <p:nvPr/>
        </p:nvSpPr>
        <p:spPr bwMode="auto">
          <a:xfrm>
            <a:off x="1362106" y="6129691"/>
            <a:ext cx="141256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a:t>(c) ACK</a:t>
            </a:r>
            <a:r>
              <a:rPr lang="zh-CN" altLang="en-US" sz="1800" dirty="0"/>
              <a:t>丢失</a:t>
            </a:r>
            <a:endParaRPr lang="en-US" sz="1800" dirty="0"/>
          </a:p>
        </p:txBody>
      </p:sp>
      <p:grpSp>
        <p:nvGrpSpPr>
          <p:cNvPr id="137" name="Group 81">
            <a:extLst>
              <a:ext uri="{FF2B5EF4-FFF2-40B4-BE49-F238E27FC236}">
                <a16:creationId xmlns:a16="http://schemas.microsoft.com/office/drawing/2014/main" id="{31CD1534-B159-46CF-A4DD-3E5262B633BC}"/>
              </a:ext>
            </a:extLst>
          </p:cNvPr>
          <p:cNvGrpSpPr>
            <a:grpSpLocks/>
          </p:cNvGrpSpPr>
          <p:nvPr/>
        </p:nvGrpSpPr>
        <p:grpSpPr bwMode="auto">
          <a:xfrm>
            <a:off x="1777160" y="3263962"/>
            <a:ext cx="1212850" cy="720726"/>
            <a:chOff x="1324" y="1931"/>
            <a:chExt cx="764" cy="454"/>
          </a:xfrm>
        </p:grpSpPr>
        <p:sp>
          <p:nvSpPr>
            <p:cNvPr id="138" name="Line 27">
              <a:extLst>
                <a:ext uri="{FF2B5EF4-FFF2-40B4-BE49-F238E27FC236}">
                  <a16:creationId xmlns:a16="http://schemas.microsoft.com/office/drawing/2014/main" id="{60C6BB50-4E68-4F1E-AD62-24738566C609}"/>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9" name="Text Box 28">
              <a:extLst>
                <a:ext uri="{FF2B5EF4-FFF2-40B4-BE49-F238E27FC236}">
                  <a16:creationId xmlns:a16="http://schemas.microsoft.com/office/drawing/2014/main" id="{02252212-991D-45D1-BCC1-DBDAF3235F88}"/>
                </a:ext>
              </a:extLst>
            </p:cNvPr>
            <p:cNvSpPr txBox="1">
              <a:spLocks noChangeArrowheads="1"/>
            </p:cNvSpPr>
            <p:nvPr/>
          </p:nvSpPr>
          <p:spPr bwMode="auto">
            <a:xfrm>
              <a:off x="1456" y="1931"/>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ack1</a:t>
              </a:r>
            </a:p>
          </p:txBody>
        </p:sp>
        <p:sp>
          <p:nvSpPr>
            <p:cNvPr id="140" name="Text Box 68">
              <a:extLst>
                <a:ext uri="{FF2B5EF4-FFF2-40B4-BE49-F238E27FC236}">
                  <a16:creationId xmlns:a16="http://schemas.microsoft.com/office/drawing/2014/main" id="{A7E51FE7-B991-45FF-A14E-4C14A912C394}"/>
                </a:ext>
              </a:extLst>
            </p:cNvPr>
            <p:cNvSpPr txBox="1">
              <a:spLocks noChangeArrowheads="1"/>
            </p:cNvSpPr>
            <p:nvPr/>
          </p:nvSpPr>
          <p:spPr bwMode="auto">
            <a:xfrm>
              <a:off x="1383" y="2040"/>
              <a:ext cx="21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b="1">
                  <a:solidFill>
                    <a:srgbClr val="FF0000"/>
                  </a:solidFill>
                </a:rPr>
                <a:t>X</a:t>
              </a:r>
            </a:p>
          </p:txBody>
        </p:sp>
        <p:sp>
          <p:nvSpPr>
            <p:cNvPr id="141" name="Text Box 69">
              <a:extLst>
                <a:ext uri="{FF2B5EF4-FFF2-40B4-BE49-F238E27FC236}">
                  <a16:creationId xmlns:a16="http://schemas.microsoft.com/office/drawing/2014/main" id="{EE5E4CED-940B-470E-97E8-A6890BF31C82}"/>
                </a:ext>
              </a:extLst>
            </p:cNvPr>
            <p:cNvSpPr txBox="1">
              <a:spLocks noChangeArrowheads="1"/>
            </p:cNvSpPr>
            <p:nvPr/>
          </p:nvSpPr>
          <p:spPr bwMode="auto">
            <a:xfrm>
              <a:off x="1324" y="2172"/>
              <a:ext cx="375"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FF0000"/>
                  </a:solidFill>
                </a:rPr>
                <a:t>丢失</a:t>
              </a:r>
              <a:endParaRPr lang="en-US" dirty="0">
                <a:solidFill>
                  <a:srgbClr val="FF0000"/>
                </a:solidFill>
              </a:endParaRPr>
            </a:p>
          </p:txBody>
        </p:sp>
      </p:grpSp>
      <p:grpSp>
        <p:nvGrpSpPr>
          <p:cNvPr id="142" name="Group 70">
            <a:extLst>
              <a:ext uri="{FF2B5EF4-FFF2-40B4-BE49-F238E27FC236}">
                <a16:creationId xmlns:a16="http://schemas.microsoft.com/office/drawing/2014/main" id="{70A962BE-3BBB-4CF3-9D05-8AD725816717}"/>
              </a:ext>
            </a:extLst>
          </p:cNvPr>
          <p:cNvGrpSpPr>
            <a:grpSpLocks/>
          </p:cNvGrpSpPr>
          <p:nvPr/>
        </p:nvGrpSpPr>
        <p:grpSpPr bwMode="auto">
          <a:xfrm>
            <a:off x="1433108" y="3064036"/>
            <a:ext cx="93227" cy="1182588"/>
            <a:chOff x="3651" y="1878"/>
            <a:chExt cx="78" cy="963"/>
          </a:xfrm>
        </p:grpSpPr>
        <p:sp>
          <p:nvSpPr>
            <p:cNvPr id="143" name="Line 71">
              <a:extLst>
                <a:ext uri="{FF2B5EF4-FFF2-40B4-BE49-F238E27FC236}">
                  <a16:creationId xmlns:a16="http://schemas.microsoft.com/office/drawing/2014/main" id="{1AEC51E0-F593-4743-B44C-B114E9509417}"/>
                </a:ext>
              </a:extLst>
            </p:cNvPr>
            <p:cNvSpPr>
              <a:spLocks noChangeShapeType="1"/>
            </p:cNvSpPr>
            <p:nvPr/>
          </p:nvSpPr>
          <p:spPr bwMode="auto">
            <a:xfrm>
              <a:off x="3729" y="1879"/>
              <a:ext cx="0" cy="96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44" name="Line 72">
              <a:extLst>
                <a:ext uri="{FF2B5EF4-FFF2-40B4-BE49-F238E27FC236}">
                  <a16:creationId xmlns:a16="http://schemas.microsoft.com/office/drawing/2014/main" id="{66745A2B-830D-448A-BCB3-0BF4C8F2C960}"/>
                </a:ext>
              </a:extLst>
            </p:cNvPr>
            <p:cNvSpPr>
              <a:spLocks noChangeShapeType="1"/>
            </p:cNvSpPr>
            <p:nvPr/>
          </p:nvSpPr>
          <p:spPr bwMode="auto">
            <a:xfrm flipH="1">
              <a:off x="3651" y="1878"/>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45" name="Line 73">
              <a:extLst>
                <a:ext uri="{FF2B5EF4-FFF2-40B4-BE49-F238E27FC236}">
                  <a16:creationId xmlns:a16="http://schemas.microsoft.com/office/drawing/2014/main" id="{871508BD-287A-4F87-B567-F8D1825D53B4}"/>
                </a:ext>
              </a:extLst>
            </p:cNvPr>
            <p:cNvSpPr>
              <a:spLocks noChangeShapeType="1"/>
            </p:cNvSpPr>
            <p:nvPr/>
          </p:nvSpPr>
          <p:spPr bwMode="auto">
            <a:xfrm flipH="1">
              <a:off x="3651" y="2841"/>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grpSp>
        <p:nvGrpSpPr>
          <p:cNvPr id="177" name="Group 74">
            <a:extLst>
              <a:ext uri="{FF2B5EF4-FFF2-40B4-BE49-F238E27FC236}">
                <a16:creationId xmlns:a16="http://schemas.microsoft.com/office/drawing/2014/main" id="{3ECB37F7-9FC1-4F78-B787-A71DBFBEC9BA}"/>
              </a:ext>
            </a:extLst>
          </p:cNvPr>
          <p:cNvGrpSpPr>
            <a:grpSpLocks/>
          </p:cNvGrpSpPr>
          <p:nvPr/>
        </p:nvGrpSpPr>
        <p:grpSpPr bwMode="auto">
          <a:xfrm>
            <a:off x="1529510" y="4159310"/>
            <a:ext cx="1471613" cy="504825"/>
            <a:chOff x="855" y="1710"/>
            <a:chExt cx="927" cy="318"/>
          </a:xfrm>
        </p:grpSpPr>
        <p:sp>
          <p:nvSpPr>
            <p:cNvPr id="178" name="Line 75">
              <a:extLst>
                <a:ext uri="{FF2B5EF4-FFF2-40B4-BE49-F238E27FC236}">
                  <a16:creationId xmlns:a16="http://schemas.microsoft.com/office/drawing/2014/main" id="{48AF229F-C4B9-43F1-9607-26C2367024D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87" name="Text Box 76">
              <a:extLst>
                <a:ext uri="{FF2B5EF4-FFF2-40B4-BE49-F238E27FC236}">
                  <a16:creationId xmlns:a16="http://schemas.microsoft.com/office/drawing/2014/main" id="{1978596E-A61B-40A1-8BA5-ED2FADE9D9D5}"/>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grpSp>
      <p:grpSp>
        <p:nvGrpSpPr>
          <p:cNvPr id="204" name="Group 85">
            <a:extLst>
              <a:ext uri="{FF2B5EF4-FFF2-40B4-BE49-F238E27FC236}">
                <a16:creationId xmlns:a16="http://schemas.microsoft.com/office/drawing/2014/main" id="{988879C2-CA70-43AB-87BF-CFCD6A16614A}"/>
              </a:ext>
            </a:extLst>
          </p:cNvPr>
          <p:cNvGrpSpPr>
            <a:grpSpLocks/>
          </p:cNvGrpSpPr>
          <p:nvPr/>
        </p:nvGrpSpPr>
        <p:grpSpPr bwMode="auto">
          <a:xfrm>
            <a:off x="6223748" y="2727023"/>
            <a:ext cx="1471612" cy="504825"/>
            <a:chOff x="855" y="1710"/>
            <a:chExt cx="927" cy="318"/>
          </a:xfrm>
        </p:grpSpPr>
        <p:sp>
          <p:nvSpPr>
            <p:cNvPr id="205" name="Line 86">
              <a:extLst>
                <a:ext uri="{FF2B5EF4-FFF2-40B4-BE49-F238E27FC236}">
                  <a16:creationId xmlns:a16="http://schemas.microsoft.com/office/drawing/2014/main" id="{FC76A0B9-DAE2-4B24-8C58-CDB85AA8F3B2}"/>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06" name="Text Box 87">
              <a:extLst>
                <a:ext uri="{FF2B5EF4-FFF2-40B4-BE49-F238E27FC236}">
                  <a16:creationId xmlns:a16="http://schemas.microsoft.com/office/drawing/2014/main" id="{1EED1300-DFF2-4A18-981C-F051583777EC}"/>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pkt1</a:t>
              </a:r>
            </a:p>
          </p:txBody>
        </p:sp>
      </p:grpSp>
      <p:grpSp>
        <p:nvGrpSpPr>
          <p:cNvPr id="213" name="Group 101">
            <a:extLst>
              <a:ext uri="{FF2B5EF4-FFF2-40B4-BE49-F238E27FC236}">
                <a16:creationId xmlns:a16="http://schemas.microsoft.com/office/drawing/2014/main" id="{339F66A9-4636-4820-A595-CF3369405CA8}"/>
              </a:ext>
            </a:extLst>
          </p:cNvPr>
          <p:cNvGrpSpPr>
            <a:grpSpLocks/>
          </p:cNvGrpSpPr>
          <p:nvPr/>
        </p:nvGrpSpPr>
        <p:grpSpPr bwMode="auto">
          <a:xfrm>
            <a:off x="6214223" y="1855485"/>
            <a:ext cx="1471612" cy="512763"/>
            <a:chOff x="850" y="1159"/>
            <a:chExt cx="927" cy="323"/>
          </a:xfrm>
        </p:grpSpPr>
        <p:sp>
          <p:nvSpPr>
            <p:cNvPr id="214" name="Line 102">
              <a:extLst>
                <a:ext uri="{FF2B5EF4-FFF2-40B4-BE49-F238E27FC236}">
                  <a16:creationId xmlns:a16="http://schemas.microsoft.com/office/drawing/2014/main" id="{DFC0DD8E-3664-4BB0-8134-BD99A530AAF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15" name="Text Box 103">
              <a:extLst>
                <a:ext uri="{FF2B5EF4-FFF2-40B4-BE49-F238E27FC236}">
                  <a16:creationId xmlns:a16="http://schemas.microsoft.com/office/drawing/2014/main" id="{CBE18A69-9B73-465C-B40A-C2F70EA58181}"/>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0099"/>
                  </a:solidFill>
                  <a:latin typeface="Arial" charset="0"/>
                </a:rPr>
                <a:t>pkt0</a:t>
              </a:r>
            </a:p>
          </p:txBody>
        </p:sp>
      </p:grpSp>
      <p:grpSp>
        <p:nvGrpSpPr>
          <p:cNvPr id="216" name="Group 110">
            <a:extLst>
              <a:ext uri="{FF2B5EF4-FFF2-40B4-BE49-F238E27FC236}">
                <a16:creationId xmlns:a16="http://schemas.microsoft.com/office/drawing/2014/main" id="{9642AD62-754E-408A-BFC1-A8B763A0B832}"/>
              </a:ext>
            </a:extLst>
          </p:cNvPr>
          <p:cNvGrpSpPr>
            <a:grpSpLocks/>
          </p:cNvGrpSpPr>
          <p:nvPr/>
        </p:nvGrpSpPr>
        <p:grpSpPr bwMode="auto">
          <a:xfrm>
            <a:off x="6199935" y="2355548"/>
            <a:ext cx="1471613" cy="455612"/>
            <a:chOff x="841" y="1474"/>
            <a:chExt cx="927" cy="287"/>
          </a:xfrm>
        </p:grpSpPr>
        <p:sp>
          <p:nvSpPr>
            <p:cNvPr id="217" name="Line 111">
              <a:extLst>
                <a:ext uri="{FF2B5EF4-FFF2-40B4-BE49-F238E27FC236}">
                  <a16:creationId xmlns:a16="http://schemas.microsoft.com/office/drawing/2014/main" id="{E0E5FB3B-8ED6-4091-AB45-9A7CE75A76A1}"/>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18" name="Text Box 112">
              <a:extLst>
                <a:ext uri="{FF2B5EF4-FFF2-40B4-BE49-F238E27FC236}">
                  <a16:creationId xmlns:a16="http://schemas.microsoft.com/office/drawing/2014/main" id="{09996268-2707-4404-B0FD-CB5A702F55C4}"/>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ack0</a:t>
              </a:r>
            </a:p>
          </p:txBody>
        </p:sp>
      </p:grpSp>
      <p:sp>
        <p:nvSpPr>
          <p:cNvPr id="219" name="Text Box 116">
            <a:extLst>
              <a:ext uri="{FF2B5EF4-FFF2-40B4-BE49-F238E27FC236}">
                <a16:creationId xmlns:a16="http://schemas.microsoft.com/office/drawing/2014/main" id="{332E3230-4A1D-4801-A676-822172B76F0F}"/>
              </a:ext>
            </a:extLst>
          </p:cNvPr>
          <p:cNvSpPr txBox="1">
            <a:spLocks noChangeArrowheads="1"/>
          </p:cNvSpPr>
          <p:nvPr/>
        </p:nvSpPr>
        <p:spPr bwMode="auto">
          <a:xfrm>
            <a:off x="6180046" y="6129691"/>
            <a:ext cx="148470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a:t>(d) </a:t>
            </a:r>
            <a:r>
              <a:rPr lang="zh-CN" altLang="en-US" sz="1800" dirty="0"/>
              <a:t>提前超时</a:t>
            </a:r>
            <a:endParaRPr lang="en-US" sz="1800" dirty="0"/>
          </a:p>
        </p:txBody>
      </p:sp>
      <p:grpSp>
        <p:nvGrpSpPr>
          <p:cNvPr id="220" name="Group 122">
            <a:extLst>
              <a:ext uri="{FF2B5EF4-FFF2-40B4-BE49-F238E27FC236}">
                <a16:creationId xmlns:a16="http://schemas.microsoft.com/office/drawing/2014/main" id="{1EFDCD32-80EE-4FD8-A2FC-AE9E85236CCB}"/>
              </a:ext>
            </a:extLst>
          </p:cNvPr>
          <p:cNvGrpSpPr>
            <a:grpSpLocks/>
          </p:cNvGrpSpPr>
          <p:nvPr/>
        </p:nvGrpSpPr>
        <p:grpSpPr bwMode="auto">
          <a:xfrm>
            <a:off x="6135173" y="2941876"/>
            <a:ext cx="120583" cy="1185322"/>
            <a:chOff x="3651" y="1878"/>
            <a:chExt cx="78" cy="963"/>
          </a:xfrm>
        </p:grpSpPr>
        <p:sp>
          <p:nvSpPr>
            <p:cNvPr id="221" name="Line 123">
              <a:extLst>
                <a:ext uri="{FF2B5EF4-FFF2-40B4-BE49-F238E27FC236}">
                  <a16:creationId xmlns:a16="http://schemas.microsoft.com/office/drawing/2014/main" id="{8F64DAE6-D437-4D1E-BD3B-3C6E4AD7CF45}"/>
                </a:ext>
              </a:extLst>
            </p:cNvPr>
            <p:cNvSpPr>
              <a:spLocks noChangeShapeType="1"/>
            </p:cNvSpPr>
            <p:nvPr/>
          </p:nvSpPr>
          <p:spPr bwMode="auto">
            <a:xfrm>
              <a:off x="3729" y="1879"/>
              <a:ext cx="0" cy="96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22" name="Line 124">
              <a:extLst>
                <a:ext uri="{FF2B5EF4-FFF2-40B4-BE49-F238E27FC236}">
                  <a16:creationId xmlns:a16="http://schemas.microsoft.com/office/drawing/2014/main" id="{7396F32B-CB10-491C-9E74-C14E0079579D}"/>
                </a:ext>
              </a:extLst>
            </p:cNvPr>
            <p:cNvSpPr>
              <a:spLocks noChangeShapeType="1"/>
            </p:cNvSpPr>
            <p:nvPr/>
          </p:nvSpPr>
          <p:spPr bwMode="auto">
            <a:xfrm flipH="1">
              <a:off x="3651" y="1878"/>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23" name="Line 125">
              <a:extLst>
                <a:ext uri="{FF2B5EF4-FFF2-40B4-BE49-F238E27FC236}">
                  <a16:creationId xmlns:a16="http://schemas.microsoft.com/office/drawing/2014/main" id="{066C81D9-47EF-48D7-BCE2-32902FF29AB6}"/>
                </a:ext>
              </a:extLst>
            </p:cNvPr>
            <p:cNvSpPr>
              <a:spLocks noChangeShapeType="1"/>
            </p:cNvSpPr>
            <p:nvPr/>
          </p:nvSpPr>
          <p:spPr bwMode="auto">
            <a:xfrm flipH="1">
              <a:off x="3651" y="2841"/>
              <a:ext cx="75"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grpSp>
        <p:nvGrpSpPr>
          <p:cNvPr id="224" name="Group 126">
            <a:extLst>
              <a:ext uri="{FF2B5EF4-FFF2-40B4-BE49-F238E27FC236}">
                <a16:creationId xmlns:a16="http://schemas.microsoft.com/office/drawing/2014/main" id="{D1B8EC52-8E52-403C-9E57-001A669F98AB}"/>
              </a:ext>
            </a:extLst>
          </p:cNvPr>
          <p:cNvGrpSpPr>
            <a:grpSpLocks/>
          </p:cNvGrpSpPr>
          <p:nvPr/>
        </p:nvGrpSpPr>
        <p:grpSpPr bwMode="auto">
          <a:xfrm>
            <a:off x="6231685" y="4022423"/>
            <a:ext cx="1471613" cy="504825"/>
            <a:chOff x="855" y="1710"/>
            <a:chExt cx="927" cy="318"/>
          </a:xfrm>
        </p:grpSpPr>
        <p:sp>
          <p:nvSpPr>
            <p:cNvPr id="225" name="Line 127">
              <a:extLst>
                <a:ext uri="{FF2B5EF4-FFF2-40B4-BE49-F238E27FC236}">
                  <a16:creationId xmlns:a16="http://schemas.microsoft.com/office/drawing/2014/main" id="{EAFD6D70-26A0-4491-9479-FBEDF287295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26" name="Text Box 128">
              <a:extLst>
                <a:ext uri="{FF2B5EF4-FFF2-40B4-BE49-F238E27FC236}">
                  <a16:creationId xmlns:a16="http://schemas.microsoft.com/office/drawing/2014/main" id="{6F4E3B00-246B-4F11-B6CB-5429A86F712B}"/>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solidFill>
                    <a:srgbClr val="000099"/>
                  </a:solidFill>
                  <a:latin typeface="Arial" charset="0"/>
                </a:rPr>
                <a:t>pkt1</a:t>
              </a:r>
            </a:p>
          </p:txBody>
        </p:sp>
      </p:grpSp>
      <p:grpSp>
        <p:nvGrpSpPr>
          <p:cNvPr id="230" name="Group 133">
            <a:extLst>
              <a:ext uri="{FF2B5EF4-FFF2-40B4-BE49-F238E27FC236}">
                <a16:creationId xmlns:a16="http://schemas.microsoft.com/office/drawing/2014/main" id="{2BE4AF9C-27E8-4B77-919D-500EC8B18CDB}"/>
              </a:ext>
            </a:extLst>
          </p:cNvPr>
          <p:cNvGrpSpPr>
            <a:grpSpLocks/>
          </p:cNvGrpSpPr>
          <p:nvPr/>
        </p:nvGrpSpPr>
        <p:grpSpPr bwMode="auto">
          <a:xfrm>
            <a:off x="6620623" y="3285823"/>
            <a:ext cx="1071562" cy="752475"/>
            <a:chOff x="4081" y="1705"/>
            <a:chExt cx="703" cy="453"/>
          </a:xfrm>
        </p:grpSpPr>
        <p:sp>
          <p:nvSpPr>
            <p:cNvPr id="231" name="Line 118">
              <a:extLst>
                <a:ext uri="{FF2B5EF4-FFF2-40B4-BE49-F238E27FC236}">
                  <a16:creationId xmlns:a16="http://schemas.microsoft.com/office/drawing/2014/main" id="{67DFC9CF-8B9E-4371-9898-0EAF5504360D}"/>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32" name="Text Box 119">
              <a:extLst>
                <a:ext uri="{FF2B5EF4-FFF2-40B4-BE49-F238E27FC236}">
                  <a16:creationId xmlns:a16="http://schemas.microsoft.com/office/drawing/2014/main" id="{8EEAD960-8DF2-4484-9F76-5C8E5E5248E9}"/>
                </a:ext>
              </a:extLst>
            </p:cNvPr>
            <p:cNvSpPr txBox="1">
              <a:spLocks noChangeArrowheads="1"/>
            </p:cNvSpPr>
            <p:nvPr/>
          </p:nvSpPr>
          <p:spPr bwMode="auto">
            <a:xfrm>
              <a:off x="4081" y="1794"/>
              <a:ext cx="435" cy="2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rgbClr val="008000"/>
                  </a:solidFill>
                  <a:latin typeface="Arial" charset="0"/>
                </a:rPr>
                <a:t>ack1</a:t>
              </a:r>
            </a:p>
          </p:txBody>
        </p:sp>
        <p:sp>
          <p:nvSpPr>
            <p:cNvPr id="233" name="Line 132">
              <a:extLst>
                <a:ext uri="{FF2B5EF4-FFF2-40B4-BE49-F238E27FC236}">
                  <a16:creationId xmlns:a16="http://schemas.microsoft.com/office/drawing/2014/main" id="{9048D096-23F4-405A-B8BD-7C7746BB6FB6}"/>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sp>
        <p:nvSpPr>
          <p:cNvPr id="234" name="Line 136">
            <a:extLst>
              <a:ext uri="{FF2B5EF4-FFF2-40B4-BE49-F238E27FC236}">
                <a16:creationId xmlns:a16="http://schemas.microsoft.com/office/drawing/2014/main" id="{6B5FA306-AA6B-4A8C-A218-52D86304ADB7}"/>
              </a:ext>
            </a:extLst>
          </p:cNvPr>
          <p:cNvSpPr>
            <a:spLocks noChangeShapeType="1"/>
          </p:cNvSpPr>
          <p:nvPr/>
        </p:nvSpPr>
        <p:spPr bwMode="auto">
          <a:xfrm flipH="1">
            <a:off x="6122148" y="3830335"/>
            <a:ext cx="909637" cy="73977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35" name="Group 153">
            <a:extLst>
              <a:ext uri="{FF2B5EF4-FFF2-40B4-BE49-F238E27FC236}">
                <a16:creationId xmlns:a16="http://schemas.microsoft.com/office/drawing/2014/main" id="{3FDB4B91-9302-44D9-8646-DC745E637508}"/>
              </a:ext>
            </a:extLst>
          </p:cNvPr>
          <p:cNvGrpSpPr>
            <a:grpSpLocks/>
          </p:cNvGrpSpPr>
          <p:nvPr/>
        </p:nvGrpSpPr>
        <p:grpSpPr bwMode="auto">
          <a:xfrm>
            <a:off x="6157266" y="4434212"/>
            <a:ext cx="1547813" cy="1255719"/>
            <a:chOff x="3817" y="2431"/>
            <a:chExt cx="975" cy="791"/>
          </a:xfrm>
        </p:grpSpPr>
        <p:grpSp>
          <p:nvGrpSpPr>
            <p:cNvPr id="240" name="Group 150">
              <a:extLst>
                <a:ext uri="{FF2B5EF4-FFF2-40B4-BE49-F238E27FC236}">
                  <a16:creationId xmlns:a16="http://schemas.microsoft.com/office/drawing/2014/main" id="{63DE2550-25EF-4951-AA55-1BB7C6B503A3}"/>
                </a:ext>
              </a:extLst>
            </p:cNvPr>
            <p:cNvGrpSpPr>
              <a:grpSpLocks/>
            </p:cNvGrpSpPr>
            <p:nvPr/>
          </p:nvGrpSpPr>
          <p:grpSpPr bwMode="auto">
            <a:xfrm>
              <a:off x="3859" y="2545"/>
              <a:ext cx="903" cy="394"/>
              <a:chOff x="2215" y="3373"/>
              <a:chExt cx="903" cy="394"/>
            </a:xfrm>
          </p:grpSpPr>
          <p:sp>
            <p:nvSpPr>
              <p:cNvPr id="260" name="Line 108">
                <a:extLst>
                  <a:ext uri="{FF2B5EF4-FFF2-40B4-BE49-F238E27FC236}">
                    <a16:creationId xmlns:a16="http://schemas.microsoft.com/office/drawing/2014/main" id="{A4EA0AF1-6BC2-46AA-AD8E-E42774050EC4}"/>
                  </a:ext>
                </a:extLst>
              </p:cNvPr>
              <p:cNvSpPr>
                <a:spLocks noChangeShapeType="1"/>
              </p:cNvSpPr>
              <p:nvPr/>
            </p:nvSpPr>
            <p:spPr bwMode="auto">
              <a:xfrm flipH="1">
                <a:off x="2224" y="3373"/>
                <a:ext cx="894" cy="39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61" name="Text Box 109">
                <a:extLst>
                  <a:ext uri="{FF2B5EF4-FFF2-40B4-BE49-F238E27FC236}">
                    <a16:creationId xmlns:a16="http://schemas.microsoft.com/office/drawing/2014/main" id="{99AF2025-4238-4AAC-9CC5-FD2ACAD8B0CA}"/>
                  </a:ext>
                </a:extLst>
              </p:cNvPr>
              <p:cNvSpPr txBox="1">
                <a:spLocks noChangeArrowheads="1"/>
              </p:cNvSpPr>
              <p:nvPr/>
            </p:nvSpPr>
            <p:spPr bwMode="auto">
              <a:xfrm>
                <a:off x="2215" y="3460"/>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solidFill>
                      <a:srgbClr val="008000"/>
                    </a:solidFill>
                    <a:latin typeface="Arial" charset="0"/>
                  </a:rPr>
                  <a:t>ack1</a:t>
                </a:r>
              </a:p>
            </p:txBody>
          </p:sp>
        </p:grpSp>
        <p:grpSp>
          <p:nvGrpSpPr>
            <p:cNvPr id="243" name="Group 138">
              <a:extLst>
                <a:ext uri="{FF2B5EF4-FFF2-40B4-BE49-F238E27FC236}">
                  <a16:creationId xmlns:a16="http://schemas.microsoft.com/office/drawing/2014/main" id="{C2837589-19BD-4F16-8A9C-5F9D0FB93F6F}"/>
                </a:ext>
              </a:extLst>
            </p:cNvPr>
            <p:cNvGrpSpPr>
              <a:grpSpLocks/>
            </p:cNvGrpSpPr>
            <p:nvPr/>
          </p:nvGrpSpPr>
          <p:grpSpPr bwMode="auto">
            <a:xfrm>
              <a:off x="3817" y="2431"/>
              <a:ext cx="975" cy="364"/>
              <a:chOff x="850" y="1179"/>
              <a:chExt cx="927" cy="330"/>
            </a:xfrm>
          </p:grpSpPr>
          <p:sp>
            <p:nvSpPr>
              <p:cNvPr id="254" name="Line 139">
                <a:extLst>
                  <a:ext uri="{FF2B5EF4-FFF2-40B4-BE49-F238E27FC236}">
                    <a16:creationId xmlns:a16="http://schemas.microsoft.com/office/drawing/2014/main" id="{53D01500-1F79-48F4-ACE0-CF826A83DA06}"/>
                  </a:ext>
                </a:extLst>
              </p:cNvPr>
              <p:cNvSpPr>
                <a:spLocks noChangeShapeType="1"/>
              </p:cNvSpPr>
              <p:nvPr/>
            </p:nvSpPr>
            <p:spPr bwMode="auto">
              <a:xfrm>
                <a:off x="850" y="1284"/>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55" name="Text Box 140">
                <a:extLst>
                  <a:ext uri="{FF2B5EF4-FFF2-40B4-BE49-F238E27FC236}">
                    <a16:creationId xmlns:a16="http://schemas.microsoft.com/office/drawing/2014/main" id="{5CD2A424-EA13-4749-9CD3-531D69509363}"/>
                  </a:ext>
                </a:extLst>
              </p:cNvPr>
              <p:cNvSpPr txBox="1">
                <a:spLocks noChangeArrowheads="1"/>
              </p:cNvSpPr>
              <p:nvPr/>
            </p:nvSpPr>
            <p:spPr bwMode="auto">
              <a:xfrm>
                <a:off x="1115" y="1179"/>
                <a:ext cx="340" cy="1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solidFill>
                      <a:srgbClr val="000099"/>
                    </a:solidFill>
                    <a:latin typeface="Arial" charset="0"/>
                  </a:rPr>
                  <a:t>pkt0</a:t>
                </a:r>
              </a:p>
            </p:txBody>
          </p:sp>
        </p:grpSp>
        <p:grpSp>
          <p:nvGrpSpPr>
            <p:cNvPr id="245" name="Group 149">
              <a:extLst>
                <a:ext uri="{FF2B5EF4-FFF2-40B4-BE49-F238E27FC236}">
                  <a16:creationId xmlns:a16="http://schemas.microsoft.com/office/drawing/2014/main" id="{55D39FFC-933F-41C5-81C9-34FD0165A596}"/>
                </a:ext>
              </a:extLst>
            </p:cNvPr>
            <p:cNvGrpSpPr>
              <a:grpSpLocks/>
            </p:cNvGrpSpPr>
            <p:nvPr/>
          </p:nvGrpSpPr>
          <p:grpSpPr bwMode="auto">
            <a:xfrm>
              <a:off x="3896" y="2834"/>
              <a:ext cx="881" cy="388"/>
              <a:chOff x="3848" y="2816"/>
              <a:chExt cx="881" cy="388"/>
            </a:xfrm>
          </p:grpSpPr>
          <p:sp>
            <p:nvSpPr>
              <p:cNvPr id="250" name="Line 146">
                <a:extLst>
                  <a:ext uri="{FF2B5EF4-FFF2-40B4-BE49-F238E27FC236}">
                    <a16:creationId xmlns:a16="http://schemas.microsoft.com/office/drawing/2014/main" id="{BCE9D8EE-4DF3-4F89-83BB-621192A6702C}"/>
                  </a:ext>
                </a:extLst>
              </p:cNvPr>
              <p:cNvSpPr>
                <a:spLocks noChangeShapeType="1"/>
              </p:cNvSpPr>
              <p:nvPr/>
            </p:nvSpPr>
            <p:spPr bwMode="auto">
              <a:xfrm flipH="1">
                <a:off x="3848" y="2816"/>
                <a:ext cx="881" cy="38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51" name="Text Box 147">
                <a:extLst>
                  <a:ext uri="{FF2B5EF4-FFF2-40B4-BE49-F238E27FC236}">
                    <a16:creationId xmlns:a16="http://schemas.microsoft.com/office/drawing/2014/main" id="{5C90B239-F000-49AE-B164-4C5B18D6E793}"/>
                  </a:ext>
                </a:extLst>
              </p:cNvPr>
              <p:cNvSpPr txBox="1">
                <a:spLocks noChangeArrowheads="1"/>
              </p:cNvSpPr>
              <p:nvPr/>
            </p:nvSpPr>
            <p:spPr bwMode="auto">
              <a:xfrm>
                <a:off x="4016" y="2826"/>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solidFill>
                      <a:srgbClr val="008000"/>
                    </a:solidFill>
                    <a:latin typeface="Arial" charset="0"/>
                  </a:rPr>
                  <a:t>ack0</a:t>
                </a:r>
              </a:p>
            </p:txBody>
          </p:sp>
        </p:grpSp>
      </p:grpSp>
      <p:sp>
        <p:nvSpPr>
          <p:cNvPr id="264" name="Text Box 14">
            <a:extLst>
              <a:ext uri="{FF2B5EF4-FFF2-40B4-BE49-F238E27FC236}">
                <a16:creationId xmlns:a16="http://schemas.microsoft.com/office/drawing/2014/main" id="{B2809559-C3E9-4D01-9315-22A88309739B}"/>
              </a:ext>
            </a:extLst>
          </p:cNvPr>
          <p:cNvSpPr txBox="1">
            <a:spLocks noChangeArrowheads="1"/>
          </p:cNvSpPr>
          <p:nvPr/>
        </p:nvSpPr>
        <p:spPr bwMode="auto">
          <a:xfrm>
            <a:off x="421348" y="2633521"/>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5" name="Text Box 17">
            <a:extLst>
              <a:ext uri="{FF2B5EF4-FFF2-40B4-BE49-F238E27FC236}">
                <a16:creationId xmlns:a16="http://schemas.microsoft.com/office/drawing/2014/main" id="{ECBE1AE5-90F0-4C13-90A4-077089174067}"/>
              </a:ext>
            </a:extLst>
          </p:cNvPr>
          <p:cNvSpPr txBox="1">
            <a:spLocks noChangeArrowheads="1"/>
          </p:cNvSpPr>
          <p:nvPr/>
        </p:nvSpPr>
        <p:spPr bwMode="auto">
          <a:xfrm>
            <a:off x="426958" y="2901785"/>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266" name="Text Box 7">
            <a:extLst>
              <a:ext uri="{FF2B5EF4-FFF2-40B4-BE49-F238E27FC236}">
                <a16:creationId xmlns:a16="http://schemas.microsoft.com/office/drawing/2014/main" id="{E5B64B09-065E-4F19-9B8F-FBFBDBFC372E}"/>
              </a:ext>
            </a:extLst>
          </p:cNvPr>
          <p:cNvSpPr txBox="1">
            <a:spLocks noChangeArrowheads="1"/>
          </p:cNvSpPr>
          <p:nvPr/>
        </p:nvSpPr>
        <p:spPr bwMode="auto">
          <a:xfrm>
            <a:off x="411896" y="1939521"/>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7" name="Text Box 14">
            <a:extLst>
              <a:ext uri="{FF2B5EF4-FFF2-40B4-BE49-F238E27FC236}">
                <a16:creationId xmlns:a16="http://schemas.microsoft.com/office/drawing/2014/main" id="{5944B026-0783-42EA-BB8D-FFB8297A9B7D}"/>
              </a:ext>
            </a:extLst>
          </p:cNvPr>
          <p:cNvSpPr txBox="1">
            <a:spLocks noChangeArrowheads="1"/>
          </p:cNvSpPr>
          <p:nvPr/>
        </p:nvSpPr>
        <p:spPr bwMode="auto">
          <a:xfrm>
            <a:off x="435248" y="4831632"/>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8" name="Text Box 17">
            <a:extLst>
              <a:ext uri="{FF2B5EF4-FFF2-40B4-BE49-F238E27FC236}">
                <a16:creationId xmlns:a16="http://schemas.microsoft.com/office/drawing/2014/main" id="{1719F3A3-7551-4150-A146-D9DE8D9EF2E8}"/>
              </a:ext>
            </a:extLst>
          </p:cNvPr>
          <p:cNvSpPr txBox="1">
            <a:spLocks noChangeArrowheads="1"/>
          </p:cNvSpPr>
          <p:nvPr/>
        </p:nvSpPr>
        <p:spPr bwMode="auto">
          <a:xfrm>
            <a:off x="440858" y="5099896"/>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p:txBody>
      </p:sp>
      <p:grpSp>
        <p:nvGrpSpPr>
          <p:cNvPr id="269" name="Group 92">
            <a:extLst>
              <a:ext uri="{FF2B5EF4-FFF2-40B4-BE49-F238E27FC236}">
                <a16:creationId xmlns:a16="http://schemas.microsoft.com/office/drawing/2014/main" id="{4050923F-DFBE-4702-BDCC-769EB1F87F56}"/>
              </a:ext>
            </a:extLst>
          </p:cNvPr>
          <p:cNvGrpSpPr>
            <a:grpSpLocks/>
          </p:cNvGrpSpPr>
          <p:nvPr/>
        </p:nvGrpSpPr>
        <p:grpSpPr bwMode="auto">
          <a:xfrm>
            <a:off x="397622" y="3867067"/>
            <a:ext cx="1108076" cy="687388"/>
            <a:chOff x="2972" y="2426"/>
            <a:chExt cx="698" cy="433"/>
          </a:xfrm>
        </p:grpSpPr>
        <p:pic>
          <p:nvPicPr>
            <p:cNvPr id="270" name="Picture 87" descr="alarm_clock_ringing">
              <a:extLst>
                <a:ext uri="{FF2B5EF4-FFF2-40B4-BE49-F238E27FC236}">
                  <a16:creationId xmlns:a16="http://schemas.microsoft.com/office/drawing/2014/main" id="{279432B9-2D78-4C07-AC2F-406CB8B503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5" y="2426"/>
              <a:ext cx="20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 name="Text Box 91">
              <a:extLst>
                <a:ext uri="{FF2B5EF4-FFF2-40B4-BE49-F238E27FC236}">
                  <a16:creationId xmlns:a16="http://schemas.microsoft.com/office/drawing/2014/main" id="{420D29E8-D8AE-4EB6-9411-527D1E823C1C}"/>
                </a:ext>
              </a:extLst>
            </p:cNvPr>
            <p:cNvSpPr txBox="1">
              <a:spLocks noChangeArrowheads="1"/>
            </p:cNvSpPr>
            <p:nvPr/>
          </p:nvSpPr>
          <p:spPr bwMode="auto">
            <a:xfrm>
              <a:off x="2972" y="2491"/>
              <a:ext cx="698" cy="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超时</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2" name="Group 92">
            <a:extLst>
              <a:ext uri="{FF2B5EF4-FFF2-40B4-BE49-F238E27FC236}">
                <a16:creationId xmlns:a16="http://schemas.microsoft.com/office/drawing/2014/main" id="{0D1D3F22-7CEE-4984-AD22-1E016EF02752}"/>
              </a:ext>
            </a:extLst>
          </p:cNvPr>
          <p:cNvGrpSpPr>
            <a:grpSpLocks/>
          </p:cNvGrpSpPr>
          <p:nvPr/>
        </p:nvGrpSpPr>
        <p:grpSpPr bwMode="auto">
          <a:xfrm>
            <a:off x="5048998" y="3624012"/>
            <a:ext cx="1108076" cy="687388"/>
            <a:chOff x="2972" y="2426"/>
            <a:chExt cx="698" cy="433"/>
          </a:xfrm>
        </p:grpSpPr>
        <p:pic>
          <p:nvPicPr>
            <p:cNvPr id="273" name="Picture 87" descr="alarm_clock_ringing">
              <a:extLst>
                <a:ext uri="{FF2B5EF4-FFF2-40B4-BE49-F238E27FC236}">
                  <a16:creationId xmlns:a16="http://schemas.microsoft.com/office/drawing/2014/main" id="{5C0AB16B-CE4D-4A14-A4DB-FAAD0A8418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5" y="2426"/>
              <a:ext cx="20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 name="Text Box 91">
              <a:extLst>
                <a:ext uri="{FF2B5EF4-FFF2-40B4-BE49-F238E27FC236}">
                  <a16:creationId xmlns:a16="http://schemas.microsoft.com/office/drawing/2014/main" id="{A0FAC078-7E22-4FA5-AFB6-592942C15C0B}"/>
                </a:ext>
              </a:extLst>
            </p:cNvPr>
            <p:cNvSpPr txBox="1">
              <a:spLocks noChangeArrowheads="1"/>
            </p:cNvSpPr>
            <p:nvPr/>
          </p:nvSpPr>
          <p:spPr bwMode="auto">
            <a:xfrm>
              <a:off x="2972" y="2491"/>
              <a:ext cx="698" cy="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超时</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5" name="Text Box 14">
            <a:extLst>
              <a:ext uri="{FF2B5EF4-FFF2-40B4-BE49-F238E27FC236}">
                <a16:creationId xmlns:a16="http://schemas.microsoft.com/office/drawing/2014/main" id="{04ABEBC7-4A69-47F0-A274-CC32278DAFBF}"/>
              </a:ext>
            </a:extLst>
          </p:cNvPr>
          <p:cNvSpPr txBox="1">
            <a:spLocks noChangeArrowheads="1"/>
          </p:cNvSpPr>
          <p:nvPr/>
        </p:nvSpPr>
        <p:spPr bwMode="auto">
          <a:xfrm>
            <a:off x="5114811" y="2519184"/>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6" name="Text Box 17">
            <a:extLst>
              <a:ext uri="{FF2B5EF4-FFF2-40B4-BE49-F238E27FC236}">
                <a16:creationId xmlns:a16="http://schemas.microsoft.com/office/drawing/2014/main" id="{B1805815-0D82-4FBC-87B6-FE8CCB6939BA}"/>
              </a:ext>
            </a:extLst>
          </p:cNvPr>
          <p:cNvSpPr txBox="1">
            <a:spLocks noChangeArrowheads="1"/>
          </p:cNvSpPr>
          <p:nvPr/>
        </p:nvSpPr>
        <p:spPr bwMode="auto">
          <a:xfrm>
            <a:off x="5120421" y="2787448"/>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277" name="Text Box 7">
            <a:extLst>
              <a:ext uri="{FF2B5EF4-FFF2-40B4-BE49-F238E27FC236}">
                <a16:creationId xmlns:a16="http://schemas.microsoft.com/office/drawing/2014/main" id="{54C5FACB-B9EE-42F6-AF8A-ECD3318FED60}"/>
              </a:ext>
            </a:extLst>
          </p:cNvPr>
          <p:cNvSpPr txBox="1">
            <a:spLocks noChangeArrowheads="1"/>
          </p:cNvSpPr>
          <p:nvPr/>
        </p:nvSpPr>
        <p:spPr bwMode="auto">
          <a:xfrm>
            <a:off x="5105359" y="1825184"/>
            <a:ext cx="111761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8" name="Text Box 14">
            <a:extLst>
              <a:ext uri="{FF2B5EF4-FFF2-40B4-BE49-F238E27FC236}">
                <a16:creationId xmlns:a16="http://schemas.microsoft.com/office/drawing/2014/main" id="{61CC6B67-FA8C-4768-A4B3-8E85DB88A4A2}"/>
              </a:ext>
            </a:extLst>
          </p:cNvPr>
          <p:cNvSpPr txBox="1">
            <a:spLocks noChangeArrowheads="1"/>
          </p:cNvSpPr>
          <p:nvPr/>
        </p:nvSpPr>
        <p:spPr bwMode="auto">
          <a:xfrm>
            <a:off x="5072688" y="4303411"/>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9" name="Text Box 17">
            <a:extLst>
              <a:ext uri="{FF2B5EF4-FFF2-40B4-BE49-F238E27FC236}">
                <a16:creationId xmlns:a16="http://schemas.microsoft.com/office/drawing/2014/main" id="{671BEAE1-20BB-4249-84A1-21230CE7A091}"/>
              </a:ext>
            </a:extLst>
          </p:cNvPr>
          <p:cNvSpPr txBox="1">
            <a:spLocks noChangeArrowheads="1"/>
          </p:cNvSpPr>
          <p:nvPr/>
        </p:nvSpPr>
        <p:spPr bwMode="auto">
          <a:xfrm>
            <a:off x="5078298" y="4571675"/>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280" name="Text Box 14">
            <a:extLst>
              <a:ext uri="{FF2B5EF4-FFF2-40B4-BE49-F238E27FC236}">
                <a16:creationId xmlns:a16="http://schemas.microsoft.com/office/drawing/2014/main" id="{D073BB26-C43D-42FD-B0DD-6CF52ABDD486}"/>
              </a:ext>
            </a:extLst>
          </p:cNvPr>
          <p:cNvSpPr txBox="1">
            <a:spLocks noChangeArrowheads="1"/>
          </p:cNvSpPr>
          <p:nvPr/>
        </p:nvSpPr>
        <p:spPr bwMode="auto">
          <a:xfrm>
            <a:off x="5075864" y="5063219"/>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2" name="Text Box 14">
            <a:extLst>
              <a:ext uri="{FF2B5EF4-FFF2-40B4-BE49-F238E27FC236}">
                <a16:creationId xmlns:a16="http://schemas.microsoft.com/office/drawing/2014/main" id="{AD878791-8A5C-44D8-9F56-8C2CF84A18C9}"/>
              </a:ext>
            </a:extLst>
          </p:cNvPr>
          <p:cNvSpPr txBox="1">
            <a:spLocks noChangeArrowheads="1"/>
          </p:cNvSpPr>
          <p:nvPr/>
        </p:nvSpPr>
        <p:spPr bwMode="auto">
          <a:xfrm>
            <a:off x="2979752" y="2177271"/>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3" name="Text Box 17">
            <a:extLst>
              <a:ext uri="{FF2B5EF4-FFF2-40B4-BE49-F238E27FC236}">
                <a16:creationId xmlns:a16="http://schemas.microsoft.com/office/drawing/2014/main" id="{C0E470BC-CAFE-4A55-891F-1D5B0A1CB546}"/>
              </a:ext>
            </a:extLst>
          </p:cNvPr>
          <p:cNvSpPr txBox="1">
            <a:spLocks noChangeArrowheads="1"/>
          </p:cNvSpPr>
          <p:nvPr/>
        </p:nvSpPr>
        <p:spPr bwMode="auto">
          <a:xfrm>
            <a:off x="2985362" y="2445535"/>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284" name="Text Box 14">
            <a:extLst>
              <a:ext uri="{FF2B5EF4-FFF2-40B4-BE49-F238E27FC236}">
                <a16:creationId xmlns:a16="http://schemas.microsoft.com/office/drawing/2014/main" id="{7D39C56B-8EF6-4D34-A300-A7BDACB9FD1D}"/>
              </a:ext>
            </a:extLst>
          </p:cNvPr>
          <p:cNvSpPr txBox="1">
            <a:spLocks noChangeArrowheads="1"/>
          </p:cNvSpPr>
          <p:nvPr/>
        </p:nvSpPr>
        <p:spPr bwMode="auto">
          <a:xfrm>
            <a:off x="2978483" y="3075079"/>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5" name="Text Box 17">
            <a:extLst>
              <a:ext uri="{FF2B5EF4-FFF2-40B4-BE49-F238E27FC236}">
                <a16:creationId xmlns:a16="http://schemas.microsoft.com/office/drawing/2014/main" id="{586DD27D-C8DA-400C-9508-938F0D970F88}"/>
              </a:ext>
            </a:extLst>
          </p:cNvPr>
          <p:cNvSpPr txBox="1">
            <a:spLocks noChangeArrowheads="1"/>
          </p:cNvSpPr>
          <p:nvPr/>
        </p:nvSpPr>
        <p:spPr bwMode="auto">
          <a:xfrm>
            <a:off x="2984093" y="3343343"/>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286" name="Text Box 14">
            <a:extLst>
              <a:ext uri="{FF2B5EF4-FFF2-40B4-BE49-F238E27FC236}">
                <a16:creationId xmlns:a16="http://schemas.microsoft.com/office/drawing/2014/main" id="{729618D1-0435-4B4C-A25F-986B255012EE}"/>
              </a:ext>
            </a:extLst>
          </p:cNvPr>
          <p:cNvSpPr txBox="1">
            <a:spLocks noChangeArrowheads="1"/>
          </p:cNvSpPr>
          <p:nvPr/>
        </p:nvSpPr>
        <p:spPr bwMode="auto">
          <a:xfrm>
            <a:off x="2952034" y="5244068"/>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7" name="Text Box 17">
            <a:extLst>
              <a:ext uri="{FF2B5EF4-FFF2-40B4-BE49-F238E27FC236}">
                <a16:creationId xmlns:a16="http://schemas.microsoft.com/office/drawing/2014/main" id="{09F2DB55-CFE6-4289-B30F-36DBDBEC243D}"/>
              </a:ext>
            </a:extLst>
          </p:cNvPr>
          <p:cNvSpPr txBox="1">
            <a:spLocks noChangeArrowheads="1"/>
          </p:cNvSpPr>
          <p:nvPr/>
        </p:nvSpPr>
        <p:spPr bwMode="auto">
          <a:xfrm>
            <a:off x="2957644" y="5512332"/>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288" name="Text Box 14">
            <a:extLst>
              <a:ext uri="{FF2B5EF4-FFF2-40B4-BE49-F238E27FC236}">
                <a16:creationId xmlns:a16="http://schemas.microsoft.com/office/drawing/2014/main" id="{7F84802A-CF8A-4978-B23E-D689333040AA}"/>
              </a:ext>
            </a:extLst>
          </p:cNvPr>
          <p:cNvSpPr txBox="1">
            <a:spLocks noChangeArrowheads="1"/>
          </p:cNvSpPr>
          <p:nvPr/>
        </p:nvSpPr>
        <p:spPr bwMode="auto">
          <a:xfrm>
            <a:off x="2947497" y="4255215"/>
            <a:ext cx="116543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 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a:p>
            <a:pPr algn="ctr">
              <a:defRPr/>
            </a:pPr>
            <a:r>
              <a:rPr lang="en-US" sz="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重复分组</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a:t>
            </a:r>
            <a:endParaRPr lang="en-US" sz="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9" name="Text Box 17">
            <a:extLst>
              <a:ext uri="{FF2B5EF4-FFF2-40B4-BE49-F238E27FC236}">
                <a16:creationId xmlns:a16="http://schemas.microsoft.com/office/drawing/2014/main" id="{9A2941A6-ECD1-4FFB-A2E9-5F1F5AD906AB}"/>
              </a:ext>
            </a:extLst>
          </p:cNvPr>
          <p:cNvSpPr txBox="1">
            <a:spLocks noChangeArrowheads="1"/>
          </p:cNvSpPr>
          <p:nvPr/>
        </p:nvSpPr>
        <p:spPr bwMode="auto">
          <a:xfrm>
            <a:off x="2984093" y="4697482"/>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290" name="Text Box 14">
            <a:extLst>
              <a:ext uri="{FF2B5EF4-FFF2-40B4-BE49-F238E27FC236}">
                <a16:creationId xmlns:a16="http://schemas.microsoft.com/office/drawing/2014/main" id="{9A068828-818A-4369-BBA3-F6F3BFA83C11}"/>
              </a:ext>
            </a:extLst>
          </p:cNvPr>
          <p:cNvSpPr txBox="1">
            <a:spLocks noChangeArrowheads="1"/>
          </p:cNvSpPr>
          <p:nvPr/>
        </p:nvSpPr>
        <p:spPr bwMode="auto">
          <a:xfrm>
            <a:off x="7685705" y="2072141"/>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1" name="Text Box 17">
            <a:extLst>
              <a:ext uri="{FF2B5EF4-FFF2-40B4-BE49-F238E27FC236}">
                <a16:creationId xmlns:a16="http://schemas.microsoft.com/office/drawing/2014/main" id="{C59A2AE4-2125-4886-B509-1E6A4534D5FC}"/>
              </a:ext>
            </a:extLst>
          </p:cNvPr>
          <p:cNvSpPr txBox="1">
            <a:spLocks noChangeArrowheads="1"/>
          </p:cNvSpPr>
          <p:nvPr/>
        </p:nvSpPr>
        <p:spPr bwMode="auto">
          <a:xfrm>
            <a:off x="7691315" y="2340405"/>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292" name="Text Box 14">
            <a:extLst>
              <a:ext uri="{FF2B5EF4-FFF2-40B4-BE49-F238E27FC236}">
                <a16:creationId xmlns:a16="http://schemas.microsoft.com/office/drawing/2014/main" id="{FE64C1BA-B6DE-4648-9D7A-28512F49E3A3}"/>
              </a:ext>
            </a:extLst>
          </p:cNvPr>
          <p:cNvSpPr txBox="1">
            <a:spLocks noChangeArrowheads="1"/>
          </p:cNvSpPr>
          <p:nvPr/>
        </p:nvSpPr>
        <p:spPr bwMode="auto">
          <a:xfrm>
            <a:off x="7684436" y="2969949"/>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3" name="Text Box 17">
            <a:extLst>
              <a:ext uri="{FF2B5EF4-FFF2-40B4-BE49-F238E27FC236}">
                <a16:creationId xmlns:a16="http://schemas.microsoft.com/office/drawing/2014/main" id="{B0308869-5C0A-4809-8FE9-5274907B6EA6}"/>
              </a:ext>
            </a:extLst>
          </p:cNvPr>
          <p:cNvSpPr txBox="1">
            <a:spLocks noChangeArrowheads="1"/>
          </p:cNvSpPr>
          <p:nvPr/>
        </p:nvSpPr>
        <p:spPr bwMode="auto">
          <a:xfrm>
            <a:off x="7690046" y="3238213"/>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294" name="Text Box 14">
            <a:extLst>
              <a:ext uri="{FF2B5EF4-FFF2-40B4-BE49-F238E27FC236}">
                <a16:creationId xmlns:a16="http://schemas.microsoft.com/office/drawing/2014/main" id="{CC9267DC-B2FC-453F-9EE4-FA45C73A7087}"/>
              </a:ext>
            </a:extLst>
          </p:cNvPr>
          <p:cNvSpPr txBox="1">
            <a:spLocks noChangeArrowheads="1"/>
          </p:cNvSpPr>
          <p:nvPr/>
        </p:nvSpPr>
        <p:spPr bwMode="auto">
          <a:xfrm>
            <a:off x="7600393" y="4108052"/>
            <a:ext cx="116543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 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a:p>
            <a:pPr algn="ctr">
              <a:defRPr/>
            </a:pPr>
            <a:r>
              <a:rPr lang="en-US" sz="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重复分组</a:t>
            </a: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a:t>
            </a:r>
            <a:endParaRPr lang="en-US" sz="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5" name="Text Box 17">
            <a:extLst>
              <a:ext uri="{FF2B5EF4-FFF2-40B4-BE49-F238E27FC236}">
                <a16:creationId xmlns:a16="http://schemas.microsoft.com/office/drawing/2014/main" id="{8D181DFE-D48A-4764-B4BF-7C0C1F41C3F9}"/>
              </a:ext>
            </a:extLst>
          </p:cNvPr>
          <p:cNvSpPr txBox="1">
            <a:spLocks noChangeArrowheads="1"/>
          </p:cNvSpPr>
          <p:nvPr/>
        </p:nvSpPr>
        <p:spPr bwMode="auto">
          <a:xfrm>
            <a:off x="7648710" y="4548774"/>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296" name="Text Box 14">
            <a:extLst>
              <a:ext uri="{FF2B5EF4-FFF2-40B4-BE49-F238E27FC236}">
                <a16:creationId xmlns:a16="http://schemas.microsoft.com/office/drawing/2014/main" id="{CF67903B-FFC4-469F-B21F-FAD09CC52DE2}"/>
              </a:ext>
            </a:extLst>
          </p:cNvPr>
          <p:cNvSpPr txBox="1">
            <a:spLocks noChangeArrowheads="1"/>
          </p:cNvSpPr>
          <p:nvPr/>
        </p:nvSpPr>
        <p:spPr bwMode="auto">
          <a:xfrm>
            <a:off x="7639241" y="4782108"/>
            <a:ext cx="11079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 name="Text Box 17">
            <a:extLst>
              <a:ext uri="{FF2B5EF4-FFF2-40B4-BE49-F238E27FC236}">
                <a16:creationId xmlns:a16="http://schemas.microsoft.com/office/drawing/2014/main" id="{532B90C4-78F7-4B00-8E72-334AB4AF26C4}"/>
              </a:ext>
            </a:extLst>
          </p:cNvPr>
          <p:cNvSpPr txBox="1">
            <a:spLocks noChangeArrowheads="1"/>
          </p:cNvSpPr>
          <p:nvPr/>
        </p:nvSpPr>
        <p:spPr bwMode="auto">
          <a:xfrm>
            <a:off x="7644851" y="5050372"/>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p:txBody>
      </p:sp>
      <p:sp>
        <p:nvSpPr>
          <p:cNvPr id="2" name="Text Box 10">
            <a:extLst>
              <a:ext uri="{FF2B5EF4-FFF2-40B4-BE49-F238E27FC236}">
                <a16:creationId xmlns:a16="http://schemas.microsoft.com/office/drawing/2014/main" id="{8ED132C5-CF7B-41B8-853B-D7F681A7CBCE}"/>
              </a:ext>
            </a:extLst>
          </p:cNvPr>
          <p:cNvSpPr txBox="1">
            <a:spLocks noChangeArrowheads="1"/>
          </p:cNvSpPr>
          <p:nvPr/>
        </p:nvSpPr>
        <p:spPr bwMode="auto">
          <a:xfrm>
            <a:off x="5583986" y="794619"/>
            <a:ext cx="3369071" cy="430887"/>
          </a:xfrm>
          <a:prstGeom prst="rect">
            <a:avLst/>
          </a:prstGeom>
          <a:solidFill>
            <a:schemeClr val="accent6">
              <a:lumMod val="20000"/>
              <a:lumOff val="80000"/>
            </a:schemeClr>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en-US" altLang="zh-CN" sz="22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rdt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3.0</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能否解决失序问题？</a:t>
            </a:r>
            <a:endParaRPr 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14">
            <a:extLst>
              <a:ext uri="{FF2B5EF4-FFF2-40B4-BE49-F238E27FC236}">
                <a16:creationId xmlns:a16="http://schemas.microsoft.com/office/drawing/2014/main" id="{A754C35F-D9BE-4747-B577-331BA6929BE7}"/>
              </a:ext>
            </a:extLst>
          </p:cNvPr>
          <p:cNvSpPr txBox="1">
            <a:spLocks noChangeArrowheads="1"/>
          </p:cNvSpPr>
          <p:nvPr/>
        </p:nvSpPr>
        <p:spPr bwMode="auto">
          <a:xfrm>
            <a:off x="5094138" y="5554763"/>
            <a:ext cx="1128835"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9" name="Group 126">
            <a:extLst>
              <a:ext uri="{FF2B5EF4-FFF2-40B4-BE49-F238E27FC236}">
                <a16:creationId xmlns:a16="http://schemas.microsoft.com/office/drawing/2014/main" id="{A4DD83F1-EA8E-4C06-9798-6BC9D87DE27F}"/>
              </a:ext>
            </a:extLst>
          </p:cNvPr>
          <p:cNvGrpSpPr>
            <a:grpSpLocks/>
          </p:cNvGrpSpPr>
          <p:nvPr/>
        </p:nvGrpSpPr>
        <p:grpSpPr bwMode="auto">
          <a:xfrm>
            <a:off x="6277631" y="5584729"/>
            <a:ext cx="1471613" cy="504825"/>
            <a:chOff x="855" y="1710"/>
            <a:chExt cx="927" cy="318"/>
          </a:xfrm>
        </p:grpSpPr>
        <p:sp>
          <p:nvSpPr>
            <p:cNvPr id="113" name="Line 127">
              <a:extLst>
                <a:ext uri="{FF2B5EF4-FFF2-40B4-BE49-F238E27FC236}">
                  <a16:creationId xmlns:a16="http://schemas.microsoft.com/office/drawing/2014/main" id="{CE2A6C21-A0D5-4FF2-BACA-3CCEBDD185AF}"/>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5" name="Text Box 128">
              <a:extLst>
                <a:ext uri="{FF2B5EF4-FFF2-40B4-BE49-F238E27FC236}">
                  <a16:creationId xmlns:a16="http://schemas.microsoft.com/office/drawing/2014/main" id="{82FA1A91-5873-48CF-B7FD-346641CFF6A3}"/>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solidFill>
                    <a:srgbClr val="000099"/>
                  </a:solidFill>
                  <a:latin typeface="Arial" charset="0"/>
                </a:rPr>
                <a:t>pkt1</a:t>
              </a:r>
            </a:p>
          </p:txBody>
        </p:sp>
      </p:grpSp>
      <p:sp>
        <p:nvSpPr>
          <p:cNvPr id="116" name="Text Box 14">
            <a:extLst>
              <a:ext uri="{FF2B5EF4-FFF2-40B4-BE49-F238E27FC236}">
                <a16:creationId xmlns:a16="http://schemas.microsoft.com/office/drawing/2014/main" id="{FE9CE8B5-CD0E-4A1B-B211-653A5BDA7BE6}"/>
              </a:ext>
            </a:extLst>
          </p:cNvPr>
          <p:cNvSpPr txBox="1">
            <a:spLocks noChangeArrowheads="1"/>
          </p:cNvSpPr>
          <p:nvPr/>
        </p:nvSpPr>
        <p:spPr bwMode="auto">
          <a:xfrm>
            <a:off x="421347" y="5724040"/>
            <a:ext cx="11288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5639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8775" indent="-358775">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a:t>
            </a:r>
            <a:r>
              <a:rPr lang="zh-CN" altLang="en-US" sz="2800" dirty="0">
                <a:latin typeface="Arial" charset="0"/>
                <a:ea typeface="宋体" pitchFamily="2" charset="-122"/>
              </a:rPr>
              <a:t>性能问题（停等协议）</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8" name="Text Box 4">
            <a:extLst>
              <a:ext uri="{FF2B5EF4-FFF2-40B4-BE49-F238E27FC236}">
                <a16:creationId xmlns:a16="http://schemas.microsoft.com/office/drawing/2014/main" id="{896090F2-5C3E-4F67-8065-DEBAB7B6460E}"/>
              </a:ext>
            </a:extLst>
          </p:cNvPr>
          <p:cNvSpPr txBox="1">
            <a:spLocks noChangeArrowheads="1"/>
          </p:cNvSpPr>
          <p:nvPr/>
        </p:nvSpPr>
        <p:spPr bwMode="auto">
          <a:xfrm>
            <a:off x="90488" y="2746930"/>
            <a:ext cx="3232150" cy="352425"/>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发送分组的第一位</a:t>
            </a:r>
            <a:r>
              <a:rPr lang="zh-CN" altLang="en-US" sz="1600" dirty="0">
                <a:latin typeface="Arial" charset="0"/>
                <a:ea typeface="宋体" pitchFamily="2" charset="-122"/>
              </a:rPr>
              <a:t>，</a:t>
            </a:r>
            <a:r>
              <a:rPr kumimoji="0" lang="en-US" altLang="zh-CN" sz="1600" dirty="0">
                <a:latin typeface="Arial" charset="0"/>
                <a:ea typeface="宋体" pitchFamily="2" charset="-122"/>
              </a:rPr>
              <a:t>t = 0</a:t>
            </a:r>
          </a:p>
        </p:txBody>
      </p:sp>
      <p:sp>
        <p:nvSpPr>
          <p:cNvPr id="9" name="Line 5">
            <a:extLst>
              <a:ext uri="{FF2B5EF4-FFF2-40B4-BE49-F238E27FC236}">
                <a16:creationId xmlns:a16="http://schemas.microsoft.com/office/drawing/2014/main" id="{22FCC654-6CBC-432F-8BA2-C03ECB58D0EE}"/>
              </a:ext>
            </a:extLst>
          </p:cNvPr>
          <p:cNvSpPr>
            <a:spLocks noChangeShapeType="1"/>
          </p:cNvSpPr>
          <p:nvPr/>
        </p:nvSpPr>
        <p:spPr bwMode="auto">
          <a:xfrm>
            <a:off x="3403600" y="2732643"/>
            <a:ext cx="23813" cy="2913062"/>
          </a:xfrm>
          <a:prstGeom prst="line">
            <a:avLst/>
          </a:prstGeom>
          <a:noFill/>
          <a:ln w="9525">
            <a:solidFill>
              <a:srgbClr val="000000"/>
            </a:solidFill>
            <a:round/>
            <a:headEnd/>
            <a:tailEnd type="triangle" w="med" len="med"/>
          </a:ln>
        </p:spPr>
        <p:txBody>
          <a:bodyPr/>
          <a:lstStyle/>
          <a:p>
            <a:endParaRPr lang="zh-CN" altLang="en-US"/>
          </a:p>
        </p:txBody>
      </p:sp>
      <p:sp>
        <p:nvSpPr>
          <p:cNvPr id="10" name="Line 6">
            <a:extLst>
              <a:ext uri="{FF2B5EF4-FFF2-40B4-BE49-F238E27FC236}">
                <a16:creationId xmlns:a16="http://schemas.microsoft.com/office/drawing/2014/main" id="{EBBF3F87-15F1-4503-86AF-916494051C7E}"/>
              </a:ext>
            </a:extLst>
          </p:cNvPr>
          <p:cNvSpPr>
            <a:spLocks noChangeShapeType="1"/>
          </p:cNvSpPr>
          <p:nvPr/>
        </p:nvSpPr>
        <p:spPr bwMode="auto">
          <a:xfrm>
            <a:off x="5630863" y="2745343"/>
            <a:ext cx="22225" cy="2890837"/>
          </a:xfrm>
          <a:prstGeom prst="line">
            <a:avLst/>
          </a:prstGeom>
          <a:noFill/>
          <a:ln w="9525">
            <a:solidFill>
              <a:srgbClr val="000000"/>
            </a:solidFill>
            <a:round/>
            <a:headEnd/>
            <a:tailEnd type="triangle" w="med" len="med"/>
          </a:ln>
        </p:spPr>
        <p:txBody>
          <a:bodyPr/>
          <a:lstStyle/>
          <a:p>
            <a:endParaRPr lang="zh-CN" altLang="en-US"/>
          </a:p>
        </p:txBody>
      </p:sp>
      <p:sp>
        <p:nvSpPr>
          <p:cNvPr id="11" name="Text Box 7">
            <a:extLst>
              <a:ext uri="{FF2B5EF4-FFF2-40B4-BE49-F238E27FC236}">
                <a16:creationId xmlns:a16="http://schemas.microsoft.com/office/drawing/2014/main" id="{95B08D82-AA45-40DC-BF01-86391DA43D1D}"/>
              </a:ext>
            </a:extLst>
          </p:cNvPr>
          <p:cNvSpPr txBox="1">
            <a:spLocks noChangeArrowheads="1"/>
          </p:cNvSpPr>
          <p:nvPr/>
        </p:nvSpPr>
        <p:spPr bwMode="auto">
          <a:xfrm>
            <a:off x="2874963" y="2396093"/>
            <a:ext cx="885825"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发送端</a:t>
            </a:r>
            <a:endParaRPr kumimoji="0" lang="en-US" altLang="zh-CN" sz="1600" dirty="0">
              <a:latin typeface="Times New Roman" pitchFamily="18" charset="0"/>
              <a:ea typeface="宋体" pitchFamily="2" charset="-122"/>
            </a:endParaRPr>
          </a:p>
        </p:txBody>
      </p:sp>
      <p:sp>
        <p:nvSpPr>
          <p:cNvPr id="12" name="Text Box 8">
            <a:extLst>
              <a:ext uri="{FF2B5EF4-FFF2-40B4-BE49-F238E27FC236}">
                <a16:creationId xmlns:a16="http://schemas.microsoft.com/office/drawing/2014/main" id="{4D31D88B-A0E5-48B5-B688-C9B2C936151A}"/>
              </a:ext>
            </a:extLst>
          </p:cNvPr>
          <p:cNvSpPr txBox="1">
            <a:spLocks noChangeArrowheads="1"/>
          </p:cNvSpPr>
          <p:nvPr/>
        </p:nvSpPr>
        <p:spPr bwMode="auto">
          <a:xfrm>
            <a:off x="5053013" y="2396093"/>
            <a:ext cx="946150"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接收端</a:t>
            </a:r>
            <a:endParaRPr kumimoji="0" lang="en-US" altLang="zh-CN" sz="1600" dirty="0">
              <a:latin typeface="Times New Roman" pitchFamily="18" charset="0"/>
              <a:ea typeface="宋体" pitchFamily="2" charset="-122"/>
            </a:endParaRPr>
          </a:p>
        </p:txBody>
      </p:sp>
      <p:sp>
        <p:nvSpPr>
          <p:cNvPr id="13" name="Line 9">
            <a:extLst>
              <a:ext uri="{FF2B5EF4-FFF2-40B4-BE49-F238E27FC236}">
                <a16:creationId xmlns:a16="http://schemas.microsoft.com/office/drawing/2014/main" id="{C3DF2BCA-0433-4E02-85DC-9DA95546172A}"/>
              </a:ext>
            </a:extLst>
          </p:cNvPr>
          <p:cNvSpPr>
            <a:spLocks noChangeShapeType="1"/>
          </p:cNvSpPr>
          <p:nvPr/>
        </p:nvSpPr>
        <p:spPr bwMode="auto">
          <a:xfrm>
            <a:off x="3427413" y="2946955"/>
            <a:ext cx="2190750" cy="3175"/>
          </a:xfrm>
          <a:prstGeom prst="line">
            <a:avLst/>
          </a:prstGeom>
          <a:noFill/>
          <a:ln w="9525">
            <a:solidFill>
              <a:srgbClr val="000000"/>
            </a:solidFill>
            <a:prstDash val="dash"/>
            <a:round/>
            <a:headEnd/>
            <a:tailEnd/>
          </a:ln>
        </p:spPr>
        <p:txBody>
          <a:bodyPr/>
          <a:lstStyle/>
          <a:p>
            <a:endParaRPr lang="zh-CN" altLang="en-US"/>
          </a:p>
        </p:txBody>
      </p:sp>
      <p:sp>
        <p:nvSpPr>
          <p:cNvPr id="14" name="Line 10">
            <a:extLst>
              <a:ext uri="{FF2B5EF4-FFF2-40B4-BE49-F238E27FC236}">
                <a16:creationId xmlns:a16="http://schemas.microsoft.com/office/drawing/2014/main" id="{B55694C8-E8D5-463E-A587-8B28AE7B533C}"/>
              </a:ext>
            </a:extLst>
          </p:cNvPr>
          <p:cNvSpPr>
            <a:spLocks noChangeShapeType="1"/>
          </p:cNvSpPr>
          <p:nvPr/>
        </p:nvSpPr>
        <p:spPr bwMode="auto">
          <a:xfrm>
            <a:off x="3432175" y="5058330"/>
            <a:ext cx="2192338" cy="0"/>
          </a:xfrm>
          <a:prstGeom prst="line">
            <a:avLst/>
          </a:prstGeom>
          <a:noFill/>
          <a:ln w="9525">
            <a:solidFill>
              <a:srgbClr val="000000"/>
            </a:solidFill>
            <a:prstDash val="dash"/>
            <a:round/>
            <a:headEnd/>
            <a:tailEnd/>
          </a:ln>
        </p:spPr>
        <p:txBody>
          <a:bodyPr/>
          <a:lstStyle/>
          <a:p>
            <a:endParaRPr lang="zh-CN" altLang="en-US"/>
          </a:p>
        </p:txBody>
      </p:sp>
      <p:sp>
        <p:nvSpPr>
          <p:cNvPr id="15" name="Line 11">
            <a:extLst>
              <a:ext uri="{FF2B5EF4-FFF2-40B4-BE49-F238E27FC236}">
                <a16:creationId xmlns:a16="http://schemas.microsoft.com/office/drawing/2014/main" id="{F7DEBE71-1B9E-4B74-A95D-2DC2D428E03B}"/>
              </a:ext>
            </a:extLst>
          </p:cNvPr>
          <p:cNvSpPr>
            <a:spLocks noChangeShapeType="1"/>
          </p:cNvSpPr>
          <p:nvPr/>
        </p:nvSpPr>
        <p:spPr bwMode="auto">
          <a:xfrm flipV="1">
            <a:off x="3432175" y="4115355"/>
            <a:ext cx="2209800" cy="922338"/>
          </a:xfrm>
          <a:prstGeom prst="line">
            <a:avLst/>
          </a:prstGeom>
          <a:noFill/>
          <a:ln w="9525">
            <a:solidFill>
              <a:srgbClr val="000000"/>
            </a:solidFill>
            <a:round/>
            <a:headEnd/>
            <a:tailEnd/>
          </a:ln>
        </p:spPr>
        <p:txBody>
          <a:bodyPr/>
          <a:lstStyle/>
          <a:p>
            <a:endParaRPr lang="zh-CN" altLang="en-US"/>
          </a:p>
        </p:txBody>
      </p:sp>
      <p:grpSp>
        <p:nvGrpSpPr>
          <p:cNvPr id="16" name="Group 43">
            <a:extLst>
              <a:ext uri="{FF2B5EF4-FFF2-40B4-BE49-F238E27FC236}">
                <a16:creationId xmlns:a16="http://schemas.microsoft.com/office/drawing/2014/main" id="{5BC4D514-E002-460B-8B88-356498532E2B}"/>
              </a:ext>
            </a:extLst>
          </p:cNvPr>
          <p:cNvGrpSpPr>
            <a:grpSpLocks/>
          </p:cNvGrpSpPr>
          <p:nvPr/>
        </p:nvGrpSpPr>
        <p:grpSpPr bwMode="auto">
          <a:xfrm>
            <a:off x="3409950" y="2945368"/>
            <a:ext cx="2232025" cy="1155700"/>
            <a:chOff x="2238" y="1257"/>
            <a:chExt cx="1406" cy="728"/>
          </a:xfrm>
        </p:grpSpPr>
        <p:sp>
          <p:nvSpPr>
            <p:cNvPr id="17" name="Line 3">
              <a:extLst>
                <a:ext uri="{FF2B5EF4-FFF2-40B4-BE49-F238E27FC236}">
                  <a16:creationId xmlns:a16="http://schemas.microsoft.com/office/drawing/2014/main" id="{9A71C5FD-0DA1-40BD-B777-470EEE6ACD99}"/>
                </a:ext>
              </a:extLst>
            </p:cNvPr>
            <p:cNvSpPr>
              <a:spLocks noChangeShapeType="1"/>
            </p:cNvSpPr>
            <p:nvPr/>
          </p:nvSpPr>
          <p:spPr bwMode="auto">
            <a:xfrm>
              <a:off x="2241" y="1261"/>
              <a:ext cx="1403" cy="581"/>
            </a:xfrm>
            <a:prstGeom prst="line">
              <a:avLst/>
            </a:prstGeom>
            <a:noFill/>
            <a:ln w="9525">
              <a:solidFill>
                <a:srgbClr val="000000"/>
              </a:solidFill>
              <a:round/>
              <a:headEnd/>
              <a:tailEnd/>
            </a:ln>
          </p:spPr>
          <p:txBody>
            <a:bodyPr/>
            <a:lstStyle/>
            <a:p>
              <a:endParaRPr lang="zh-CN" altLang="en-US"/>
            </a:p>
          </p:txBody>
        </p:sp>
        <p:sp>
          <p:nvSpPr>
            <p:cNvPr id="18" name="Freeform 12">
              <a:extLst>
                <a:ext uri="{FF2B5EF4-FFF2-40B4-BE49-F238E27FC236}">
                  <a16:creationId xmlns:a16="http://schemas.microsoft.com/office/drawing/2014/main" id="{F9288FF9-BFC6-4479-BD2A-928D33E88CD7}"/>
                </a:ext>
              </a:extLst>
            </p:cNvPr>
            <p:cNvSpPr>
              <a:spLocks/>
            </p:cNvSpPr>
            <p:nvPr/>
          </p:nvSpPr>
          <p:spPr bwMode="auto">
            <a:xfrm>
              <a:off x="2238" y="1257"/>
              <a:ext cx="1406" cy="728"/>
            </a:xfrm>
            <a:custGeom>
              <a:avLst/>
              <a:gdLst>
                <a:gd name="T0" fmla="*/ 0 w 2902"/>
                <a:gd name="T1" fmla="*/ 0 h 1185"/>
                <a:gd name="T2" fmla="*/ 0 w 2902"/>
                <a:gd name="T3" fmla="*/ 1 h 1185"/>
                <a:gd name="T4" fmla="*/ 0 w 2902"/>
                <a:gd name="T5" fmla="*/ 1 h 1185"/>
                <a:gd name="T6" fmla="*/ 0 w 2902"/>
                <a:gd name="T7" fmla="*/ 1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grpSp>
      <p:sp>
        <p:nvSpPr>
          <p:cNvPr id="19" name="Line 13">
            <a:extLst>
              <a:ext uri="{FF2B5EF4-FFF2-40B4-BE49-F238E27FC236}">
                <a16:creationId xmlns:a16="http://schemas.microsoft.com/office/drawing/2014/main" id="{71A56DA1-C984-4F38-8B24-266CC2B288E7}"/>
              </a:ext>
            </a:extLst>
          </p:cNvPr>
          <p:cNvSpPr>
            <a:spLocks noChangeShapeType="1"/>
          </p:cNvSpPr>
          <p:nvPr/>
        </p:nvSpPr>
        <p:spPr bwMode="auto">
          <a:xfrm flipH="1">
            <a:off x="3265488" y="2945368"/>
            <a:ext cx="131762" cy="0"/>
          </a:xfrm>
          <a:prstGeom prst="line">
            <a:avLst/>
          </a:prstGeom>
          <a:noFill/>
          <a:ln w="9525">
            <a:solidFill>
              <a:srgbClr val="000000"/>
            </a:solidFill>
            <a:round/>
            <a:headEnd/>
            <a:tailEnd/>
          </a:ln>
        </p:spPr>
        <p:txBody>
          <a:bodyPr/>
          <a:lstStyle/>
          <a:p>
            <a:endParaRPr lang="zh-CN" altLang="en-US"/>
          </a:p>
        </p:txBody>
      </p:sp>
      <p:sp>
        <p:nvSpPr>
          <p:cNvPr id="20" name="Line 14">
            <a:extLst>
              <a:ext uri="{FF2B5EF4-FFF2-40B4-BE49-F238E27FC236}">
                <a16:creationId xmlns:a16="http://schemas.microsoft.com/office/drawing/2014/main" id="{9488B02B-0515-48D1-8888-0EAF024FFCF4}"/>
              </a:ext>
            </a:extLst>
          </p:cNvPr>
          <p:cNvSpPr>
            <a:spLocks noChangeShapeType="1"/>
          </p:cNvSpPr>
          <p:nvPr/>
        </p:nvSpPr>
        <p:spPr bwMode="auto">
          <a:xfrm flipH="1">
            <a:off x="3265488" y="3186668"/>
            <a:ext cx="131762" cy="0"/>
          </a:xfrm>
          <a:prstGeom prst="line">
            <a:avLst/>
          </a:prstGeom>
          <a:noFill/>
          <a:ln w="9525">
            <a:solidFill>
              <a:srgbClr val="000000"/>
            </a:solidFill>
            <a:round/>
            <a:headEnd/>
            <a:tailEnd/>
          </a:ln>
        </p:spPr>
        <p:txBody>
          <a:bodyPr/>
          <a:lstStyle/>
          <a:p>
            <a:endParaRPr lang="zh-CN" altLang="en-US"/>
          </a:p>
        </p:txBody>
      </p:sp>
      <p:sp>
        <p:nvSpPr>
          <p:cNvPr id="21" name="Line 15">
            <a:extLst>
              <a:ext uri="{FF2B5EF4-FFF2-40B4-BE49-F238E27FC236}">
                <a16:creationId xmlns:a16="http://schemas.microsoft.com/office/drawing/2014/main" id="{8D035623-5644-4F42-83F0-EDFE0519F6E1}"/>
              </a:ext>
            </a:extLst>
          </p:cNvPr>
          <p:cNvSpPr>
            <a:spLocks noChangeShapeType="1"/>
          </p:cNvSpPr>
          <p:nvPr/>
        </p:nvSpPr>
        <p:spPr bwMode="auto">
          <a:xfrm flipH="1">
            <a:off x="3276600" y="5045630"/>
            <a:ext cx="133350" cy="0"/>
          </a:xfrm>
          <a:prstGeom prst="line">
            <a:avLst/>
          </a:prstGeom>
          <a:noFill/>
          <a:ln w="9525">
            <a:solidFill>
              <a:srgbClr val="000000"/>
            </a:solidFill>
            <a:round/>
            <a:headEnd/>
            <a:tailEnd/>
          </a:ln>
        </p:spPr>
        <p:txBody>
          <a:bodyPr/>
          <a:lstStyle/>
          <a:p>
            <a:endParaRPr lang="zh-CN" altLang="en-US"/>
          </a:p>
        </p:txBody>
      </p:sp>
      <p:sp>
        <p:nvSpPr>
          <p:cNvPr id="22" name="Text Box 16">
            <a:extLst>
              <a:ext uri="{FF2B5EF4-FFF2-40B4-BE49-F238E27FC236}">
                <a16:creationId xmlns:a16="http://schemas.microsoft.com/office/drawing/2014/main" id="{33E878E9-97D2-44A9-9797-75375914AD72}"/>
              </a:ext>
            </a:extLst>
          </p:cNvPr>
          <p:cNvSpPr txBox="1">
            <a:spLocks noChangeArrowheads="1"/>
          </p:cNvSpPr>
          <p:nvPr/>
        </p:nvSpPr>
        <p:spPr bwMode="auto">
          <a:xfrm>
            <a:off x="2613025" y="3918505"/>
            <a:ext cx="847725" cy="336550"/>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en-US" altLang="zh-CN" sz="1600">
                <a:solidFill>
                  <a:srgbClr val="FF0000"/>
                </a:solidFill>
                <a:latin typeface="Arial" charset="0"/>
                <a:ea typeface="宋体" pitchFamily="2" charset="-122"/>
              </a:rPr>
              <a:t>RTT</a:t>
            </a:r>
            <a:r>
              <a:rPr kumimoji="0" lang="en-US" altLang="zh-CN" sz="1000">
                <a:latin typeface="Arial" charset="0"/>
                <a:ea typeface="宋体" pitchFamily="2" charset="-122"/>
              </a:rPr>
              <a:t> </a:t>
            </a:r>
            <a:endParaRPr kumimoji="0" lang="en-US" altLang="zh-CN" sz="2400">
              <a:latin typeface="Times New Roman" pitchFamily="18" charset="0"/>
              <a:ea typeface="宋体" pitchFamily="2" charset="-122"/>
            </a:endParaRPr>
          </a:p>
        </p:txBody>
      </p:sp>
      <p:sp>
        <p:nvSpPr>
          <p:cNvPr id="23" name="Line 17">
            <a:extLst>
              <a:ext uri="{FF2B5EF4-FFF2-40B4-BE49-F238E27FC236}">
                <a16:creationId xmlns:a16="http://schemas.microsoft.com/office/drawing/2014/main" id="{787D4EE3-2267-4E2C-9AF6-188A9C7649EA}"/>
              </a:ext>
            </a:extLst>
          </p:cNvPr>
          <p:cNvSpPr>
            <a:spLocks noChangeShapeType="1"/>
          </p:cNvSpPr>
          <p:nvPr/>
        </p:nvSpPr>
        <p:spPr bwMode="auto">
          <a:xfrm>
            <a:off x="3300413" y="4226480"/>
            <a:ext cx="11112" cy="811213"/>
          </a:xfrm>
          <a:prstGeom prst="line">
            <a:avLst/>
          </a:prstGeom>
          <a:noFill/>
          <a:ln w="9525">
            <a:solidFill>
              <a:srgbClr val="000000"/>
            </a:solidFill>
            <a:round/>
            <a:headEnd/>
            <a:tailEnd type="triangle" w="med" len="med"/>
          </a:ln>
        </p:spPr>
        <p:txBody>
          <a:bodyPr/>
          <a:lstStyle/>
          <a:p>
            <a:endParaRPr lang="zh-CN" altLang="en-US"/>
          </a:p>
        </p:txBody>
      </p:sp>
      <p:sp>
        <p:nvSpPr>
          <p:cNvPr id="24" name="Line 18">
            <a:extLst>
              <a:ext uri="{FF2B5EF4-FFF2-40B4-BE49-F238E27FC236}">
                <a16:creationId xmlns:a16="http://schemas.microsoft.com/office/drawing/2014/main" id="{48DBB899-1AEB-42C7-BF0F-A161DB3DD347}"/>
              </a:ext>
            </a:extLst>
          </p:cNvPr>
          <p:cNvSpPr>
            <a:spLocks noChangeShapeType="1"/>
          </p:cNvSpPr>
          <p:nvPr/>
        </p:nvSpPr>
        <p:spPr bwMode="auto">
          <a:xfrm flipV="1">
            <a:off x="3305175" y="3208893"/>
            <a:ext cx="3175" cy="768350"/>
          </a:xfrm>
          <a:prstGeom prst="line">
            <a:avLst/>
          </a:prstGeom>
          <a:noFill/>
          <a:ln w="9525">
            <a:solidFill>
              <a:srgbClr val="000000"/>
            </a:solidFill>
            <a:round/>
            <a:headEnd/>
            <a:tailEnd type="triangle" w="med" len="med"/>
          </a:ln>
        </p:spPr>
        <p:txBody>
          <a:bodyPr/>
          <a:lstStyle/>
          <a:p>
            <a:endParaRPr lang="zh-CN" altLang="en-US"/>
          </a:p>
        </p:txBody>
      </p:sp>
      <p:sp>
        <p:nvSpPr>
          <p:cNvPr id="25" name="Text Box 19">
            <a:extLst>
              <a:ext uri="{FF2B5EF4-FFF2-40B4-BE49-F238E27FC236}">
                <a16:creationId xmlns:a16="http://schemas.microsoft.com/office/drawing/2014/main" id="{B5E8A26B-2581-4BA0-9AFE-256204DE7C3E}"/>
              </a:ext>
            </a:extLst>
          </p:cNvPr>
          <p:cNvSpPr txBox="1">
            <a:spLocks noChangeArrowheads="1"/>
          </p:cNvSpPr>
          <p:nvPr/>
        </p:nvSpPr>
        <p:spPr bwMode="auto">
          <a:xfrm>
            <a:off x="-147638" y="2986042"/>
            <a:ext cx="3465513" cy="352425"/>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发送分组的最后一位</a:t>
            </a:r>
            <a:r>
              <a:rPr lang="zh-CN" altLang="en-US" sz="1600" dirty="0">
                <a:latin typeface="Arial" charset="0"/>
                <a:ea typeface="宋体" pitchFamily="2" charset="-122"/>
              </a:rPr>
              <a:t>，</a:t>
            </a:r>
            <a:r>
              <a:rPr kumimoji="0" lang="en-US" altLang="zh-CN" sz="1600" dirty="0">
                <a:solidFill>
                  <a:srgbClr val="FF0000"/>
                </a:solidFill>
                <a:latin typeface="Arial" charset="0"/>
                <a:ea typeface="宋体" pitchFamily="2" charset="-122"/>
              </a:rPr>
              <a:t>t = P/R</a:t>
            </a:r>
            <a:endParaRPr kumimoji="0" lang="en-US" altLang="zh-CN" sz="1600" dirty="0">
              <a:solidFill>
                <a:srgbClr val="FF0000"/>
              </a:solidFill>
              <a:latin typeface="Times New Roman" pitchFamily="18" charset="0"/>
              <a:ea typeface="宋体" pitchFamily="2" charset="-122"/>
            </a:endParaRPr>
          </a:p>
        </p:txBody>
      </p:sp>
      <p:sp>
        <p:nvSpPr>
          <p:cNvPr id="26" name="Line 20">
            <a:extLst>
              <a:ext uri="{FF2B5EF4-FFF2-40B4-BE49-F238E27FC236}">
                <a16:creationId xmlns:a16="http://schemas.microsoft.com/office/drawing/2014/main" id="{93A50DB7-F1FF-4F38-A9AA-58DB5E45E768}"/>
              </a:ext>
            </a:extLst>
          </p:cNvPr>
          <p:cNvSpPr>
            <a:spLocks noChangeShapeType="1"/>
          </p:cNvSpPr>
          <p:nvPr/>
        </p:nvSpPr>
        <p:spPr bwMode="auto">
          <a:xfrm flipH="1">
            <a:off x="5618163" y="3859768"/>
            <a:ext cx="133350" cy="0"/>
          </a:xfrm>
          <a:prstGeom prst="line">
            <a:avLst/>
          </a:prstGeom>
          <a:noFill/>
          <a:ln w="9525">
            <a:solidFill>
              <a:srgbClr val="000000"/>
            </a:solidFill>
            <a:round/>
            <a:headEnd/>
            <a:tailEnd/>
          </a:ln>
        </p:spPr>
        <p:txBody>
          <a:bodyPr/>
          <a:lstStyle/>
          <a:p>
            <a:endParaRPr lang="zh-CN" altLang="en-US"/>
          </a:p>
        </p:txBody>
      </p:sp>
      <p:sp>
        <p:nvSpPr>
          <p:cNvPr id="27" name="Text Box 21">
            <a:extLst>
              <a:ext uri="{FF2B5EF4-FFF2-40B4-BE49-F238E27FC236}">
                <a16:creationId xmlns:a16="http://schemas.microsoft.com/office/drawing/2014/main" id="{729A3657-ED83-4057-B3A3-D63E5984C539}"/>
              </a:ext>
            </a:extLst>
          </p:cNvPr>
          <p:cNvSpPr txBox="1">
            <a:spLocks noChangeArrowheads="1"/>
          </p:cNvSpPr>
          <p:nvPr/>
        </p:nvSpPr>
        <p:spPr bwMode="auto">
          <a:xfrm>
            <a:off x="5699125" y="3683555"/>
            <a:ext cx="2425700" cy="352425"/>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zh-CN" altLang="en-US" sz="1600" dirty="0">
                <a:latin typeface="Arial" charset="0"/>
                <a:ea typeface="宋体" pitchFamily="2" charset="-122"/>
              </a:rPr>
              <a:t>分组的第一位到达</a:t>
            </a:r>
            <a:endParaRPr kumimoji="0" lang="en-US" altLang="zh-CN" sz="1600" dirty="0">
              <a:latin typeface="Times New Roman" pitchFamily="18" charset="0"/>
              <a:ea typeface="宋体" pitchFamily="2" charset="-122"/>
            </a:endParaRPr>
          </a:p>
        </p:txBody>
      </p:sp>
      <p:sp>
        <p:nvSpPr>
          <p:cNvPr id="28" name="Line 22">
            <a:extLst>
              <a:ext uri="{FF2B5EF4-FFF2-40B4-BE49-F238E27FC236}">
                <a16:creationId xmlns:a16="http://schemas.microsoft.com/office/drawing/2014/main" id="{49D64DDC-C7F1-4104-BBD2-7CB2CF785D72}"/>
              </a:ext>
            </a:extLst>
          </p:cNvPr>
          <p:cNvSpPr>
            <a:spLocks noChangeShapeType="1"/>
          </p:cNvSpPr>
          <p:nvPr/>
        </p:nvSpPr>
        <p:spPr bwMode="auto">
          <a:xfrm>
            <a:off x="5641975" y="4109005"/>
            <a:ext cx="127000" cy="0"/>
          </a:xfrm>
          <a:prstGeom prst="line">
            <a:avLst/>
          </a:prstGeom>
          <a:noFill/>
          <a:ln w="9525">
            <a:solidFill>
              <a:srgbClr val="000000"/>
            </a:solidFill>
            <a:round/>
            <a:headEnd/>
            <a:tailEnd/>
          </a:ln>
        </p:spPr>
        <p:txBody>
          <a:bodyPr/>
          <a:lstStyle/>
          <a:p>
            <a:endParaRPr lang="zh-CN" altLang="en-US"/>
          </a:p>
        </p:txBody>
      </p:sp>
      <p:sp>
        <p:nvSpPr>
          <p:cNvPr id="29" name="Text Box 23">
            <a:extLst>
              <a:ext uri="{FF2B5EF4-FFF2-40B4-BE49-F238E27FC236}">
                <a16:creationId xmlns:a16="http://schemas.microsoft.com/office/drawing/2014/main" id="{B196B155-A75F-406C-9CBC-1471C0CC34D5}"/>
              </a:ext>
            </a:extLst>
          </p:cNvPr>
          <p:cNvSpPr txBox="1">
            <a:spLocks noChangeArrowheads="1"/>
          </p:cNvSpPr>
          <p:nvPr/>
        </p:nvSpPr>
        <p:spPr bwMode="auto">
          <a:xfrm>
            <a:off x="5705475" y="3935968"/>
            <a:ext cx="3114675" cy="569912"/>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zh-CN" altLang="en-US" sz="1600" dirty="0">
                <a:latin typeface="Arial" charset="0"/>
                <a:ea typeface="宋体" pitchFamily="2" charset="-122"/>
              </a:rPr>
              <a:t>分组的最后一位到达，发送</a:t>
            </a:r>
            <a:r>
              <a:rPr kumimoji="0" lang="en-US" altLang="zh-CN" sz="1600" dirty="0">
                <a:latin typeface="Arial" charset="0"/>
                <a:ea typeface="宋体" pitchFamily="2" charset="-122"/>
              </a:rPr>
              <a:t>ACK</a:t>
            </a:r>
            <a:endParaRPr kumimoji="0" lang="en-US" altLang="zh-CN" sz="1600" dirty="0">
              <a:latin typeface="Times New Roman" pitchFamily="18" charset="0"/>
              <a:ea typeface="宋体" pitchFamily="2" charset="-122"/>
            </a:endParaRPr>
          </a:p>
        </p:txBody>
      </p:sp>
      <p:sp>
        <p:nvSpPr>
          <p:cNvPr id="30" name="Text Box 24">
            <a:extLst>
              <a:ext uri="{FF2B5EF4-FFF2-40B4-BE49-F238E27FC236}">
                <a16:creationId xmlns:a16="http://schemas.microsoft.com/office/drawing/2014/main" id="{872851C8-379C-46E7-9CB8-87216B7D024B}"/>
              </a:ext>
            </a:extLst>
          </p:cNvPr>
          <p:cNvSpPr txBox="1">
            <a:spLocks noChangeArrowheads="1"/>
          </p:cNvSpPr>
          <p:nvPr/>
        </p:nvSpPr>
        <p:spPr bwMode="auto">
          <a:xfrm>
            <a:off x="682625" y="4718605"/>
            <a:ext cx="2686050" cy="635000"/>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en-US" altLang="zh-CN" sz="1600" dirty="0">
                <a:latin typeface="Arial" charset="0"/>
                <a:ea typeface="宋体" pitchFamily="2" charset="-122"/>
              </a:rPr>
              <a:t>ACK</a:t>
            </a:r>
            <a:r>
              <a:rPr kumimoji="0" lang="zh-CN" altLang="en-US" sz="1600" dirty="0">
                <a:latin typeface="Arial" charset="0"/>
                <a:ea typeface="宋体" pitchFamily="2" charset="-122"/>
              </a:rPr>
              <a:t>到达，发送下一个</a:t>
            </a:r>
            <a:endParaRPr kumimoji="0" lang="en-US" altLang="zh-CN" sz="1600" dirty="0">
              <a:latin typeface="Arial" charset="0"/>
              <a:ea typeface="宋体" pitchFamily="2" charset="-122"/>
            </a:endParaRPr>
          </a:p>
          <a:p>
            <a:pPr algn="r" eaLnBrk="0" hangingPunct="0">
              <a:lnSpc>
                <a:spcPct val="100000"/>
              </a:lnSpc>
              <a:spcBef>
                <a:spcPct val="0"/>
              </a:spcBef>
              <a:buClrTx/>
              <a:buFontTx/>
              <a:buNone/>
            </a:pPr>
            <a:r>
              <a:rPr kumimoji="0" lang="zh-CN" altLang="en-US" sz="1600" dirty="0">
                <a:latin typeface="Arial" charset="0"/>
                <a:ea typeface="宋体" pitchFamily="2" charset="-122"/>
              </a:rPr>
              <a:t>分组，</a:t>
            </a:r>
            <a:r>
              <a:rPr kumimoji="0" lang="en-US" altLang="zh-CN" sz="1600" dirty="0">
                <a:solidFill>
                  <a:srgbClr val="FF0000"/>
                </a:solidFill>
                <a:latin typeface="Arial" charset="0"/>
                <a:ea typeface="宋体" pitchFamily="2" charset="-122"/>
              </a:rPr>
              <a:t>t = RTT + P/R</a:t>
            </a:r>
            <a:endParaRPr kumimoji="0" lang="en-US" altLang="zh-CN" sz="1600" dirty="0">
              <a:solidFill>
                <a:srgbClr val="FF0000"/>
              </a:solidFill>
              <a:latin typeface="Times New Roman" pitchFamily="18" charset="0"/>
              <a:ea typeface="宋体" pitchFamily="2" charset="-122"/>
            </a:endParaRPr>
          </a:p>
        </p:txBody>
      </p:sp>
      <p:grpSp>
        <p:nvGrpSpPr>
          <p:cNvPr id="31" name="Group 45">
            <a:extLst>
              <a:ext uri="{FF2B5EF4-FFF2-40B4-BE49-F238E27FC236}">
                <a16:creationId xmlns:a16="http://schemas.microsoft.com/office/drawing/2014/main" id="{C9BCAFDC-870F-486E-80E4-40602DBF6DCA}"/>
              </a:ext>
            </a:extLst>
          </p:cNvPr>
          <p:cNvGrpSpPr>
            <a:grpSpLocks/>
          </p:cNvGrpSpPr>
          <p:nvPr/>
        </p:nvGrpSpPr>
        <p:grpSpPr bwMode="auto">
          <a:xfrm>
            <a:off x="3421063" y="5055155"/>
            <a:ext cx="1425575" cy="600075"/>
            <a:chOff x="2245" y="2580"/>
            <a:chExt cx="898" cy="378"/>
          </a:xfrm>
        </p:grpSpPr>
        <p:grpSp>
          <p:nvGrpSpPr>
            <p:cNvPr id="32" name="Group 44">
              <a:extLst>
                <a:ext uri="{FF2B5EF4-FFF2-40B4-BE49-F238E27FC236}">
                  <a16:creationId xmlns:a16="http://schemas.microsoft.com/office/drawing/2014/main" id="{AC46DCE0-677F-4D1C-8C25-94809185C0C1}"/>
                </a:ext>
              </a:extLst>
            </p:cNvPr>
            <p:cNvGrpSpPr>
              <a:grpSpLocks/>
            </p:cNvGrpSpPr>
            <p:nvPr/>
          </p:nvGrpSpPr>
          <p:grpSpPr bwMode="auto">
            <a:xfrm>
              <a:off x="2245" y="2580"/>
              <a:ext cx="898" cy="369"/>
              <a:chOff x="2245" y="2580"/>
              <a:chExt cx="898" cy="369"/>
            </a:xfrm>
          </p:grpSpPr>
          <p:sp>
            <p:nvSpPr>
              <p:cNvPr id="34" name="Freeform 25">
                <a:extLst>
                  <a:ext uri="{FF2B5EF4-FFF2-40B4-BE49-F238E27FC236}">
                    <a16:creationId xmlns:a16="http://schemas.microsoft.com/office/drawing/2014/main" id="{44A52EE0-049D-474B-9077-D64032DC8A23}"/>
                  </a:ext>
                </a:extLst>
              </p:cNvPr>
              <p:cNvSpPr>
                <a:spLocks/>
              </p:cNvSpPr>
              <p:nvPr/>
            </p:nvSpPr>
            <p:spPr bwMode="auto">
              <a:xfrm>
                <a:off x="2249" y="2585"/>
                <a:ext cx="894" cy="364"/>
              </a:xfrm>
              <a:custGeom>
                <a:avLst/>
                <a:gdLst>
                  <a:gd name="T0" fmla="*/ 0 w 1845"/>
                  <a:gd name="T1" fmla="*/ 0 h 592"/>
                  <a:gd name="T2" fmla="*/ 0 w 1845"/>
                  <a:gd name="T3" fmla="*/ 1 h 592"/>
                  <a:gd name="T4" fmla="*/ 0 w 1845"/>
                  <a:gd name="T5" fmla="*/ 1 h 592"/>
                  <a:gd name="T6" fmla="*/ 0 w 1845"/>
                  <a:gd name="T7" fmla="*/ 1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w="9525">
                <a:noFill/>
                <a:round/>
                <a:headEnd/>
                <a:tailEnd/>
              </a:ln>
            </p:spPr>
            <p:txBody>
              <a:bodyPr/>
              <a:lstStyle/>
              <a:p>
                <a:endParaRPr lang="zh-CN" altLang="en-US"/>
              </a:p>
            </p:txBody>
          </p:sp>
          <p:grpSp>
            <p:nvGrpSpPr>
              <p:cNvPr id="35" name="Group 26">
                <a:extLst>
                  <a:ext uri="{FF2B5EF4-FFF2-40B4-BE49-F238E27FC236}">
                    <a16:creationId xmlns:a16="http://schemas.microsoft.com/office/drawing/2014/main" id="{BD2721A7-9A53-4A76-8E77-1625B50EB862}"/>
                  </a:ext>
                </a:extLst>
              </p:cNvPr>
              <p:cNvGrpSpPr>
                <a:grpSpLocks/>
              </p:cNvGrpSpPr>
              <p:nvPr/>
            </p:nvGrpSpPr>
            <p:grpSpPr bwMode="auto">
              <a:xfrm>
                <a:off x="2245" y="2580"/>
                <a:ext cx="807" cy="337"/>
                <a:chOff x="12315" y="13225"/>
                <a:chExt cx="2775" cy="913"/>
              </a:xfrm>
            </p:grpSpPr>
            <p:sp>
              <p:nvSpPr>
                <p:cNvPr id="36" name="Line 27">
                  <a:extLst>
                    <a:ext uri="{FF2B5EF4-FFF2-40B4-BE49-F238E27FC236}">
                      <a16:creationId xmlns:a16="http://schemas.microsoft.com/office/drawing/2014/main" id="{15D831C5-8C09-4D0C-95CA-7012AC7E3501}"/>
                    </a:ext>
                  </a:extLst>
                </p:cNvPr>
                <p:cNvSpPr>
                  <a:spLocks noChangeShapeType="1"/>
                </p:cNvSpPr>
                <p:nvPr/>
              </p:nvSpPr>
              <p:spPr bwMode="auto">
                <a:xfrm>
                  <a:off x="12315" y="13225"/>
                  <a:ext cx="1587" cy="513"/>
                </a:xfrm>
                <a:prstGeom prst="line">
                  <a:avLst/>
                </a:prstGeom>
                <a:noFill/>
                <a:ln w="9525">
                  <a:solidFill>
                    <a:srgbClr val="000000"/>
                  </a:solidFill>
                  <a:round/>
                  <a:headEnd/>
                  <a:tailEnd/>
                </a:ln>
              </p:spPr>
              <p:txBody>
                <a:bodyPr/>
                <a:lstStyle/>
                <a:p>
                  <a:endParaRPr lang="zh-CN" altLang="en-US"/>
                </a:p>
              </p:txBody>
            </p:sp>
            <p:sp>
              <p:nvSpPr>
                <p:cNvPr id="37" name="Line 28">
                  <a:extLst>
                    <a:ext uri="{FF2B5EF4-FFF2-40B4-BE49-F238E27FC236}">
                      <a16:creationId xmlns:a16="http://schemas.microsoft.com/office/drawing/2014/main" id="{2EC0FB71-8DCF-4DDB-ACF6-914E492C3A1E}"/>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p:spPr>
              <p:txBody>
                <a:bodyPr/>
                <a:lstStyle/>
                <a:p>
                  <a:endParaRPr lang="zh-CN" altLang="en-US"/>
                </a:p>
              </p:txBody>
            </p:sp>
          </p:grpSp>
        </p:grpSp>
        <p:sp>
          <p:nvSpPr>
            <p:cNvPr id="33" name="Line 30">
              <a:extLst>
                <a:ext uri="{FF2B5EF4-FFF2-40B4-BE49-F238E27FC236}">
                  <a16:creationId xmlns:a16="http://schemas.microsoft.com/office/drawing/2014/main" id="{C5741ECF-F4A5-44F6-A246-9FA709B2C35D}"/>
                </a:ext>
              </a:extLst>
            </p:cNvPr>
            <p:cNvSpPr>
              <a:spLocks noChangeShapeType="1"/>
            </p:cNvSpPr>
            <p:nvPr/>
          </p:nvSpPr>
          <p:spPr bwMode="auto">
            <a:xfrm>
              <a:off x="2449" y="2810"/>
              <a:ext cx="341" cy="148"/>
            </a:xfrm>
            <a:prstGeom prst="line">
              <a:avLst/>
            </a:prstGeom>
            <a:noFill/>
            <a:ln w="9525">
              <a:solidFill>
                <a:srgbClr val="000000"/>
              </a:solidFill>
              <a:prstDash val="sysDot"/>
              <a:round/>
              <a:headEnd/>
              <a:tailEnd/>
            </a:ln>
          </p:spPr>
          <p:txBody>
            <a:bodyPr/>
            <a:lstStyle/>
            <a:p>
              <a:endParaRPr lang="zh-CN" altLang="en-US"/>
            </a:p>
          </p:txBody>
        </p:sp>
      </p:grpSp>
      <p:sp>
        <p:nvSpPr>
          <p:cNvPr id="3" name="Rectangle 6">
            <a:extLst>
              <a:ext uri="{FF2B5EF4-FFF2-40B4-BE49-F238E27FC236}">
                <a16:creationId xmlns:a16="http://schemas.microsoft.com/office/drawing/2014/main" id="{8E398EAA-342A-4D0A-BE04-CA73FF939B2E}"/>
              </a:ext>
            </a:extLst>
          </p:cNvPr>
          <p:cNvSpPr>
            <a:spLocks noChangeArrowheads="1"/>
          </p:cNvSpPr>
          <p:nvPr/>
        </p:nvSpPr>
        <p:spPr bwMode="auto">
          <a:xfrm>
            <a:off x="264619" y="1431602"/>
            <a:ext cx="8450862" cy="592445"/>
          </a:xfrm>
          <a:prstGeom prst="rect">
            <a:avLst/>
          </a:prstGeom>
          <a:noFill/>
          <a:ln w="9525">
            <a:noFill/>
            <a:miter lim="800000"/>
            <a:headEnd/>
            <a:tailEnd/>
          </a:ln>
        </p:spPr>
        <p:txBody>
          <a:bodyPr/>
          <a:lstStyle/>
          <a:p>
            <a:pPr marL="625475" lvl="1" indent="-266700" eaLnBrk="0" hangingPunct="0">
              <a:lnSpc>
                <a:spcPct val="150000"/>
              </a:lnSpc>
              <a:spcBef>
                <a:spcPts val="300"/>
              </a:spcBef>
              <a:buClr>
                <a:srgbClr val="2A09B7"/>
              </a:buClr>
              <a:buFont typeface="Wingdings" panose="05000000000000000000" pitchFamily="2" charset="2"/>
              <a:buChar char="Ø"/>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rdt3.0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可实现可靠机制，但存在性能问题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Text Box 7">
            <a:extLst>
              <a:ext uri="{FF2B5EF4-FFF2-40B4-BE49-F238E27FC236}">
                <a16:creationId xmlns:a16="http://schemas.microsoft.com/office/drawing/2014/main" id="{D242F102-9B00-4A1D-A18F-74FA11CE55AE}"/>
              </a:ext>
            </a:extLst>
          </p:cNvPr>
          <p:cNvSpPr txBox="1">
            <a:spLocks noChangeArrowheads="1"/>
          </p:cNvSpPr>
          <p:nvPr/>
        </p:nvSpPr>
        <p:spPr bwMode="auto">
          <a:xfrm>
            <a:off x="2925763" y="5719754"/>
            <a:ext cx="755218"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时间</a:t>
            </a:r>
            <a:endParaRPr kumimoji="0" lang="en-US" altLang="zh-CN" sz="1600" dirty="0">
              <a:latin typeface="Times New Roman" pitchFamily="18" charset="0"/>
              <a:ea typeface="宋体" pitchFamily="2" charset="-122"/>
            </a:endParaRPr>
          </a:p>
        </p:txBody>
      </p:sp>
    </p:spTree>
    <p:extLst>
      <p:ext uri="{BB962C8B-B14F-4D97-AF65-F5344CB8AC3E}">
        <p14:creationId xmlns:p14="http://schemas.microsoft.com/office/powerpoint/2010/main" val="405661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69288" y="609600"/>
            <a:ext cx="8450862" cy="867224"/>
          </a:xfrm>
        </p:spPr>
        <p:txBody>
          <a:bodyPr>
            <a:normAutofit/>
          </a:bodyPr>
          <a:lstStyle/>
          <a:p>
            <a:pPr marL="358775" indent="-358775">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a:t>
            </a:r>
            <a:r>
              <a:rPr lang="zh-CN" altLang="en-US" sz="2800" dirty="0">
                <a:latin typeface="Arial" charset="0"/>
                <a:ea typeface="宋体" pitchFamily="2" charset="-122"/>
              </a:rPr>
              <a:t>性能问题（停等协议）</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323850" y="1476824"/>
                <a:ext cx="8450862" cy="4071360"/>
              </a:xfrm>
              <a:prstGeom prst="rect">
                <a:avLst/>
              </a:prstGeom>
              <a:noFill/>
              <a:ln w="9525">
                <a:noFill/>
                <a:miter lim="800000"/>
                <a:headEnd/>
                <a:tailEnd/>
              </a:ln>
            </p:spPr>
            <p:txBody>
              <a:bodyPr/>
              <a:lstStyle/>
              <a:p>
                <a:pPr marL="625475" lvl="1" indent="-2667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例如：链路速率</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=1Gbps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9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bps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），往返延时</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RTT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毫秒，分组长度</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=1000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字节（</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8000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位），发送一个分组所用的时间</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358775" lvl="1" eaLnBrk="0" hangingPunct="0">
                  <a:lnSpc>
                    <a:spcPct val="150000"/>
                  </a:lnSpc>
                  <a:spcBef>
                    <a:spcPts val="300"/>
                  </a:spcBef>
                  <a:buClr>
                    <a:srgbClr val="2A09B7"/>
                  </a:buClr>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𝑇𝑅𝐴𝑁𝑆𝑃</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𝑃</m:t>
                          </m:r>
                        </m:num>
                        <m:den>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m:t>
                          </m:r>
                        </m:den>
                      </m:f>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8000 </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𝑏𝑖𝑡</m:t>
                          </m:r>
                        </m:num>
                        <m:den>
                          <m:sSup>
                            <m:sSup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10</m:t>
                              </m:r>
                            </m:e>
                            <m:sup>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9</m:t>
                              </m:r>
                            </m:sup>
                          </m:sSup>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𝑏𝑖𝑡</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𝑠</m:t>
                          </m:r>
                        </m:den>
                      </m:f>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=8</m:t>
                      </m:r>
                      <m:r>
                        <a:rPr lang="zh-CN" altLang="en-US"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𝜇</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𝑠</m:t>
                      </m:r>
                    </m:oMath>
                  </m:oMathPara>
                </a14:m>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链路利用率（忽略发送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的时间）</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358775" lvl="1" eaLnBrk="0" hangingPunct="0">
                  <a:lnSpc>
                    <a:spcPct val="150000"/>
                  </a:lnSpc>
                  <a:spcBef>
                    <a:spcPts val="300"/>
                  </a:spcBef>
                  <a:buClr>
                    <a:srgbClr val="2A09B7"/>
                  </a:buClr>
                </a:pPr>
                <a14:m>
                  <m:oMathPara xmlns:m="http://schemas.openxmlformats.org/officeDocument/2006/math">
                    <m:oMathParaPr>
                      <m:jc m:val="centerGroup"/>
                    </m:oMathParaPr>
                    <m:oMath xmlns:m="http://schemas.openxmlformats.org/officeDocument/2006/math">
                      <m:sSub>
                        <m:sSub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𝑠𝑒𝑛𝑑𝑒𝑟</m:t>
                          </m:r>
                        </m:sub>
                      </m:sSub>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𝑃</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m:t>
                          </m:r>
                        </m:num>
                        <m:den>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𝑅𝑇𝑇</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𝑃</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m:t>
                          </m:r>
                        </m:den>
                      </m:f>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0.008</m:t>
                          </m:r>
                        </m:num>
                        <m:den>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30+0.008</m:t>
                          </m:r>
                        </m:den>
                      </m:f>
                      <m:r>
                        <a:rPr lang="en-US" altLang="zh-CN"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0.00027</m:t>
                      </m:r>
                    </m:oMath>
                  </m:oMathPara>
                </a14:m>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ct val="150000"/>
                  </a:lnSpc>
                  <a:spcBef>
                    <a:spcPts val="3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大约每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毫秒发送一个分组，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1Gbps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链路吞吐率约为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264Kbps</a:t>
                </a:r>
              </a:p>
            </p:txBody>
          </p:sp>
        </mc:Choice>
        <mc:Fallback xmlns="">
          <p:sp>
            <p:nvSpPr>
              <p:cNvPr id="7" name="Rectangle 6">
                <a:extLst>
                  <a:ext uri="{FF2B5EF4-FFF2-40B4-BE49-F238E27FC236}">
                    <a16:creationId xmlns:a16="http://schemas.microsoft.com/office/drawing/2014/main" id="{B43D1F6A-1517-4EAF-8875-27DF88222326}"/>
                  </a:ext>
                </a:extLst>
              </p:cNvPr>
              <p:cNvSpPr>
                <a:spLocks noRot="1" noChangeAspect="1" noMove="1" noResize="1" noEditPoints="1" noAdjustHandles="1" noChangeArrowheads="1" noChangeShapeType="1" noTextEdit="1"/>
              </p:cNvSpPr>
              <p:nvPr/>
            </p:nvSpPr>
            <p:spPr bwMode="auto">
              <a:xfrm>
                <a:off x="323850" y="1476824"/>
                <a:ext cx="8450862" cy="4071360"/>
              </a:xfrm>
              <a:prstGeom prst="rect">
                <a:avLst/>
              </a:prstGeom>
              <a:blipFill>
                <a:blip r:embed="rId3"/>
                <a:stretch>
                  <a:fillRect b="-1647"/>
                </a:stretch>
              </a:blipFill>
              <a:ln w="9525">
                <a:noFill/>
                <a:miter lim="800000"/>
                <a:headEnd/>
                <a:tailEnd/>
              </a:ln>
            </p:spPr>
            <p:txBody>
              <a:bodyPr/>
              <a:lstStyle/>
              <a:p>
                <a:r>
                  <a:rPr lang="zh-CN" altLang="en-US">
                    <a:noFill/>
                  </a:rPr>
                  <a:t> </a:t>
                </a:r>
              </a:p>
            </p:txBody>
          </p:sp>
        </mc:Fallback>
      </mc:AlternateContent>
      <p:sp>
        <p:nvSpPr>
          <p:cNvPr id="2" name="Text Box 10">
            <a:extLst>
              <a:ext uri="{FF2B5EF4-FFF2-40B4-BE49-F238E27FC236}">
                <a16:creationId xmlns:a16="http://schemas.microsoft.com/office/drawing/2014/main" id="{46BFB1FE-37C6-4AD0-8E1A-EEAB630F870D}"/>
              </a:ext>
            </a:extLst>
          </p:cNvPr>
          <p:cNvSpPr txBox="1">
            <a:spLocks noChangeArrowheads="1"/>
          </p:cNvSpPr>
          <p:nvPr/>
        </p:nvSpPr>
        <p:spPr bwMode="auto">
          <a:xfrm>
            <a:off x="323850" y="5817513"/>
            <a:ext cx="5153975" cy="430887"/>
          </a:xfrm>
          <a:prstGeom prst="rect">
            <a:avLst/>
          </a:prstGeom>
          <a:solidFill>
            <a:schemeClr val="accent2">
              <a:lumMod val="20000"/>
              <a:lumOff val="80000"/>
            </a:schemeClr>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如何提高链路利用率？</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rdt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3.0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如何改进？</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7097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8775" indent="-358775">
              <a:buClr>
                <a:srgbClr val="C00000"/>
              </a:buClr>
              <a:buFont typeface="Wingdings" panose="05000000000000000000" pitchFamily="2" charset="2"/>
              <a:buChar char="n"/>
              <a:defRPr/>
            </a:pPr>
            <a:r>
              <a:rPr lang="en-US" altLang="zh-CN" sz="2800" dirty="0">
                <a:solidFill>
                  <a:srgbClr val="C00000"/>
                </a:solidFill>
                <a:latin typeface="Arial" charset="0"/>
                <a:ea typeface="宋体" pitchFamily="2" charset="-122"/>
              </a:rPr>
              <a:t>rdt3.0</a:t>
            </a:r>
            <a:r>
              <a:rPr lang="zh-CN" altLang="en-US" sz="2800" b="1" dirty="0">
                <a:latin typeface="Arial" charset="0"/>
                <a:ea typeface="宋体" pitchFamily="2" charset="-122"/>
              </a:rPr>
              <a:t>：</a:t>
            </a:r>
            <a:r>
              <a:rPr lang="zh-CN" altLang="en-US" sz="2800" dirty="0">
                <a:latin typeface="Arial" charset="0"/>
                <a:ea typeface="宋体" pitchFamily="2" charset="-122"/>
              </a:rPr>
              <a:t>性能优化</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8" name="Text Box 4">
            <a:extLst>
              <a:ext uri="{FF2B5EF4-FFF2-40B4-BE49-F238E27FC236}">
                <a16:creationId xmlns:a16="http://schemas.microsoft.com/office/drawing/2014/main" id="{896090F2-5C3E-4F67-8065-DEBAB7B6460E}"/>
              </a:ext>
            </a:extLst>
          </p:cNvPr>
          <p:cNvSpPr txBox="1">
            <a:spLocks noChangeArrowheads="1"/>
          </p:cNvSpPr>
          <p:nvPr/>
        </p:nvSpPr>
        <p:spPr bwMode="auto">
          <a:xfrm>
            <a:off x="138764" y="1918148"/>
            <a:ext cx="3033623" cy="352425"/>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发送第一个分组的第一位</a:t>
            </a:r>
            <a:r>
              <a:rPr lang="zh-CN" altLang="en-US" sz="1600" dirty="0">
                <a:latin typeface="Arial" charset="0"/>
                <a:ea typeface="宋体" pitchFamily="2" charset="-122"/>
              </a:rPr>
              <a:t>，</a:t>
            </a:r>
            <a:r>
              <a:rPr kumimoji="0" lang="en-US" altLang="zh-CN" sz="1600" dirty="0">
                <a:latin typeface="Arial" charset="0"/>
                <a:ea typeface="宋体" pitchFamily="2" charset="-122"/>
              </a:rPr>
              <a:t>t = 0</a:t>
            </a:r>
          </a:p>
        </p:txBody>
      </p:sp>
      <p:sp>
        <p:nvSpPr>
          <p:cNvPr id="11" name="Text Box 7">
            <a:extLst>
              <a:ext uri="{FF2B5EF4-FFF2-40B4-BE49-F238E27FC236}">
                <a16:creationId xmlns:a16="http://schemas.microsoft.com/office/drawing/2014/main" id="{95B08D82-AA45-40DC-BF01-86391DA43D1D}"/>
              </a:ext>
            </a:extLst>
          </p:cNvPr>
          <p:cNvSpPr txBox="1">
            <a:spLocks noChangeArrowheads="1"/>
          </p:cNvSpPr>
          <p:nvPr/>
        </p:nvSpPr>
        <p:spPr bwMode="auto">
          <a:xfrm>
            <a:off x="2711219" y="1476824"/>
            <a:ext cx="885825"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发送端</a:t>
            </a:r>
            <a:endParaRPr kumimoji="0" lang="en-US" altLang="zh-CN" sz="1600" dirty="0">
              <a:latin typeface="Times New Roman" pitchFamily="18" charset="0"/>
              <a:ea typeface="宋体" pitchFamily="2" charset="-122"/>
            </a:endParaRPr>
          </a:p>
        </p:txBody>
      </p:sp>
      <p:sp>
        <p:nvSpPr>
          <p:cNvPr id="12" name="Text Box 8">
            <a:extLst>
              <a:ext uri="{FF2B5EF4-FFF2-40B4-BE49-F238E27FC236}">
                <a16:creationId xmlns:a16="http://schemas.microsoft.com/office/drawing/2014/main" id="{4D31D88B-A0E5-48B5-B688-C9B2C936151A}"/>
              </a:ext>
            </a:extLst>
          </p:cNvPr>
          <p:cNvSpPr txBox="1">
            <a:spLocks noChangeArrowheads="1"/>
          </p:cNvSpPr>
          <p:nvPr/>
        </p:nvSpPr>
        <p:spPr bwMode="auto">
          <a:xfrm>
            <a:off x="4810517" y="1485921"/>
            <a:ext cx="946150"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接收端</a:t>
            </a:r>
            <a:endParaRPr kumimoji="0" lang="en-US" altLang="zh-CN" sz="1600" dirty="0">
              <a:latin typeface="Times New Roman" pitchFamily="18" charset="0"/>
              <a:ea typeface="宋体" pitchFamily="2" charset="-122"/>
            </a:endParaRPr>
          </a:p>
        </p:txBody>
      </p:sp>
      <p:sp>
        <p:nvSpPr>
          <p:cNvPr id="22" name="Text Box 16">
            <a:extLst>
              <a:ext uri="{FF2B5EF4-FFF2-40B4-BE49-F238E27FC236}">
                <a16:creationId xmlns:a16="http://schemas.microsoft.com/office/drawing/2014/main" id="{33E878E9-97D2-44A9-9797-75375914AD72}"/>
              </a:ext>
            </a:extLst>
          </p:cNvPr>
          <p:cNvSpPr txBox="1">
            <a:spLocks noChangeArrowheads="1"/>
          </p:cNvSpPr>
          <p:nvPr/>
        </p:nvSpPr>
        <p:spPr bwMode="auto">
          <a:xfrm>
            <a:off x="2462775" y="3089723"/>
            <a:ext cx="847725" cy="336550"/>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en-US" altLang="zh-CN" sz="1600">
                <a:solidFill>
                  <a:srgbClr val="FF0000"/>
                </a:solidFill>
                <a:latin typeface="Arial" charset="0"/>
                <a:ea typeface="宋体" pitchFamily="2" charset="-122"/>
              </a:rPr>
              <a:t>RTT</a:t>
            </a:r>
            <a:r>
              <a:rPr kumimoji="0" lang="en-US" altLang="zh-CN" sz="1000">
                <a:latin typeface="Arial" charset="0"/>
                <a:ea typeface="宋体" pitchFamily="2" charset="-122"/>
              </a:rPr>
              <a:t> </a:t>
            </a:r>
            <a:endParaRPr kumimoji="0" lang="en-US" altLang="zh-CN" sz="2400">
              <a:latin typeface="Times New Roman" pitchFamily="18" charset="0"/>
              <a:ea typeface="宋体" pitchFamily="2" charset="-122"/>
            </a:endParaRPr>
          </a:p>
        </p:txBody>
      </p:sp>
      <p:sp>
        <p:nvSpPr>
          <p:cNvPr id="25" name="Text Box 19">
            <a:extLst>
              <a:ext uri="{FF2B5EF4-FFF2-40B4-BE49-F238E27FC236}">
                <a16:creationId xmlns:a16="http://schemas.microsoft.com/office/drawing/2014/main" id="{B5E8A26B-2581-4BA0-9AFE-256204DE7C3E}"/>
              </a:ext>
            </a:extLst>
          </p:cNvPr>
          <p:cNvSpPr txBox="1">
            <a:spLocks noChangeArrowheads="1"/>
          </p:cNvSpPr>
          <p:nvPr/>
        </p:nvSpPr>
        <p:spPr bwMode="auto">
          <a:xfrm>
            <a:off x="176592" y="2195961"/>
            <a:ext cx="2995796" cy="352425"/>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发送分组的最后一位</a:t>
            </a:r>
            <a:r>
              <a:rPr lang="zh-CN" altLang="en-US" sz="1600" dirty="0">
                <a:latin typeface="Arial" charset="0"/>
                <a:ea typeface="宋体" pitchFamily="2" charset="-122"/>
              </a:rPr>
              <a:t>，</a:t>
            </a:r>
            <a:r>
              <a:rPr kumimoji="0" lang="en-US" altLang="zh-CN" sz="1600" dirty="0">
                <a:solidFill>
                  <a:srgbClr val="FF0000"/>
                </a:solidFill>
                <a:latin typeface="Arial" charset="0"/>
                <a:ea typeface="宋体" pitchFamily="2" charset="-122"/>
              </a:rPr>
              <a:t>t = P/R</a:t>
            </a:r>
            <a:endParaRPr kumimoji="0" lang="en-US" altLang="zh-CN" sz="1600" dirty="0">
              <a:solidFill>
                <a:srgbClr val="FF0000"/>
              </a:solidFill>
              <a:latin typeface="Times New Roman" pitchFamily="18" charset="0"/>
              <a:ea typeface="宋体" pitchFamily="2" charset="-122"/>
            </a:endParaRPr>
          </a:p>
        </p:txBody>
      </p:sp>
      <p:sp>
        <p:nvSpPr>
          <p:cNvPr id="27" name="Text Box 21">
            <a:extLst>
              <a:ext uri="{FF2B5EF4-FFF2-40B4-BE49-F238E27FC236}">
                <a16:creationId xmlns:a16="http://schemas.microsoft.com/office/drawing/2014/main" id="{729A3657-ED83-4057-B3A3-D63E5984C539}"/>
              </a:ext>
            </a:extLst>
          </p:cNvPr>
          <p:cNvSpPr txBox="1">
            <a:spLocks noChangeArrowheads="1"/>
          </p:cNvSpPr>
          <p:nvPr/>
        </p:nvSpPr>
        <p:spPr bwMode="auto">
          <a:xfrm>
            <a:off x="5384568" y="2789685"/>
            <a:ext cx="2425700" cy="352425"/>
          </a:xfrm>
          <a:prstGeom prst="rect">
            <a:avLst/>
          </a:prstGeom>
          <a:noFill/>
          <a:ln w="9525">
            <a:noFill/>
            <a:miter lim="800000"/>
            <a:headEnd/>
            <a:tailEnd/>
          </a:ln>
        </p:spPr>
        <p:txBody>
          <a:bodyPr/>
          <a:lstStyle/>
          <a:p>
            <a:pPr eaLnBrk="0" hangingPunct="0">
              <a:lnSpc>
                <a:spcPct val="100000"/>
              </a:lnSpc>
              <a:spcBef>
                <a:spcPct val="0"/>
              </a:spcBef>
              <a:buClrTx/>
              <a:buFontTx/>
              <a:buNone/>
            </a:pPr>
            <a:r>
              <a:rPr kumimoji="0" lang="zh-CN" altLang="en-US" sz="1600" dirty="0">
                <a:latin typeface="Arial" charset="0"/>
                <a:ea typeface="宋体" pitchFamily="2" charset="-122"/>
              </a:rPr>
              <a:t>第一个分组的第一位到达</a:t>
            </a:r>
            <a:endParaRPr kumimoji="0" lang="en-US" altLang="zh-CN" sz="1600" dirty="0">
              <a:latin typeface="Times New Roman" pitchFamily="18" charset="0"/>
              <a:ea typeface="宋体" pitchFamily="2" charset="-122"/>
            </a:endParaRPr>
          </a:p>
        </p:txBody>
      </p:sp>
      <p:sp>
        <p:nvSpPr>
          <p:cNvPr id="29" name="Text Box 23">
            <a:extLst>
              <a:ext uri="{FF2B5EF4-FFF2-40B4-BE49-F238E27FC236}">
                <a16:creationId xmlns:a16="http://schemas.microsoft.com/office/drawing/2014/main" id="{B196B155-A75F-406C-9CBC-1471C0CC34D5}"/>
              </a:ext>
            </a:extLst>
          </p:cNvPr>
          <p:cNvSpPr txBox="1">
            <a:spLocks noChangeArrowheads="1"/>
          </p:cNvSpPr>
          <p:nvPr/>
        </p:nvSpPr>
        <p:spPr bwMode="auto">
          <a:xfrm>
            <a:off x="5390918" y="3042098"/>
            <a:ext cx="3682730" cy="321659"/>
          </a:xfrm>
          <a:prstGeom prst="rect">
            <a:avLst/>
          </a:prstGeom>
          <a:noFill/>
          <a:ln w="9525">
            <a:noFill/>
            <a:miter lim="800000"/>
            <a:headEnd/>
            <a:tailEnd/>
          </a:ln>
        </p:spPr>
        <p:txBody>
          <a:bodyPr/>
          <a:lstStyle/>
          <a:p>
            <a:pPr eaLnBrk="0" hangingPunct="0">
              <a:lnSpc>
                <a:spcPct val="100000"/>
              </a:lnSpc>
              <a:spcBef>
                <a:spcPct val="0"/>
              </a:spcBef>
              <a:buClrTx/>
              <a:buFontTx/>
              <a:buNone/>
            </a:pPr>
            <a:r>
              <a:rPr lang="zh-CN" altLang="en-US" sz="1600" dirty="0">
                <a:latin typeface="Arial" charset="0"/>
                <a:ea typeface="宋体" pitchFamily="2" charset="-122"/>
              </a:rPr>
              <a:t>第一个分组</a:t>
            </a:r>
            <a:r>
              <a:rPr kumimoji="0" lang="zh-CN" altLang="en-US" sz="1600" dirty="0">
                <a:latin typeface="Arial" charset="0"/>
                <a:ea typeface="宋体" pitchFamily="2" charset="-122"/>
              </a:rPr>
              <a:t>的最后一位到达，发送</a:t>
            </a:r>
            <a:r>
              <a:rPr kumimoji="0" lang="en-US" altLang="zh-CN" sz="1600" dirty="0">
                <a:latin typeface="Arial" charset="0"/>
                <a:ea typeface="宋体" pitchFamily="2" charset="-122"/>
              </a:rPr>
              <a:t>ACK</a:t>
            </a:r>
            <a:endParaRPr kumimoji="0" lang="en-US" altLang="zh-CN" sz="1600" dirty="0">
              <a:latin typeface="Times New Roman" pitchFamily="18" charset="0"/>
              <a:ea typeface="宋体" pitchFamily="2" charset="-122"/>
            </a:endParaRPr>
          </a:p>
        </p:txBody>
      </p:sp>
      <p:sp>
        <p:nvSpPr>
          <p:cNvPr id="30" name="Text Box 24">
            <a:extLst>
              <a:ext uri="{FF2B5EF4-FFF2-40B4-BE49-F238E27FC236}">
                <a16:creationId xmlns:a16="http://schemas.microsoft.com/office/drawing/2014/main" id="{872851C8-379C-46E7-9CB8-87216B7D024B}"/>
              </a:ext>
            </a:extLst>
          </p:cNvPr>
          <p:cNvSpPr txBox="1">
            <a:spLocks noChangeArrowheads="1"/>
          </p:cNvSpPr>
          <p:nvPr/>
        </p:nvSpPr>
        <p:spPr bwMode="auto">
          <a:xfrm>
            <a:off x="532375" y="3889823"/>
            <a:ext cx="2686050" cy="635000"/>
          </a:xfrm>
          <a:prstGeom prst="rect">
            <a:avLst/>
          </a:prstGeom>
          <a:noFill/>
          <a:ln w="9525">
            <a:noFill/>
            <a:miter lim="800000"/>
            <a:headEnd/>
            <a:tailEnd/>
          </a:ln>
        </p:spPr>
        <p:txBody>
          <a:bodyPr/>
          <a:lstStyle/>
          <a:p>
            <a:pPr algn="r" eaLnBrk="0" hangingPunct="0">
              <a:lnSpc>
                <a:spcPct val="100000"/>
              </a:lnSpc>
              <a:spcBef>
                <a:spcPct val="0"/>
              </a:spcBef>
              <a:buClrTx/>
              <a:buFontTx/>
              <a:buNone/>
            </a:pPr>
            <a:r>
              <a:rPr kumimoji="0" lang="en-US" altLang="zh-CN" sz="1600" dirty="0">
                <a:latin typeface="Arial" charset="0"/>
                <a:ea typeface="宋体" pitchFamily="2" charset="-122"/>
              </a:rPr>
              <a:t>ACK</a:t>
            </a:r>
            <a:r>
              <a:rPr kumimoji="0" lang="zh-CN" altLang="en-US" sz="1600" dirty="0">
                <a:latin typeface="Arial" charset="0"/>
                <a:ea typeface="宋体" pitchFamily="2" charset="-122"/>
              </a:rPr>
              <a:t>到达，发送下一个</a:t>
            </a:r>
            <a:endParaRPr kumimoji="0" lang="en-US" altLang="zh-CN" sz="1600" dirty="0">
              <a:latin typeface="Arial" charset="0"/>
              <a:ea typeface="宋体" pitchFamily="2" charset="-122"/>
            </a:endParaRPr>
          </a:p>
          <a:p>
            <a:pPr algn="r" eaLnBrk="0" hangingPunct="0">
              <a:lnSpc>
                <a:spcPct val="100000"/>
              </a:lnSpc>
              <a:spcBef>
                <a:spcPct val="0"/>
              </a:spcBef>
              <a:buClrTx/>
              <a:buFontTx/>
              <a:buNone/>
            </a:pPr>
            <a:r>
              <a:rPr kumimoji="0" lang="zh-CN" altLang="en-US" sz="1600" dirty="0">
                <a:latin typeface="Arial" charset="0"/>
                <a:ea typeface="宋体" pitchFamily="2" charset="-122"/>
              </a:rPr>
              <a:t>分组，</a:t>
            </a:r>
            <a:r>
              <a:rPr kumimoji="0" lang="en-US" altLang="zh-CN" sz="1600" dirty="0">
                <a:solidFill>
                  <a:srgbClr val="FF0000"/>
                </a:solidFill>
                <a:latin typeface="Arial" charset="0"/>
                <a:ea typeface="宋体" pitchFamily="2" charset="-122"/>
              </a:rPr>
              <a:t>t = RTT + P/R</a:t>
            </a:r>
            <a:endParaRPr kumimoji="0" lang="en-US" altLang="zh-CN" sz="1600" dirty="0">
              <a:solidFill>
                <a:srgbClr val="FF0000"/>
              </a:solidFill>
              <a:latin typeface="Times New Roman" pitchFamily="18" charset="0"/>
              <a:ea typeface="宋体" pitchFamily="2" charset="-122"/>
            </a:endParaRPr>
          </a:p>
        </p:txBody>
      </p:sp>
      <p:sp>
        <p:nvSpPr>
          <p:cNvPr id="4" name="Text Box 7">
            <a:extLst>
              <a:ext uri="{FF2B5EF4-FFF2-40B4-BE49-F238E27FC236}">
                <a16:creationId xmlns:a16="http://schemas.microsoft.com/office/drawing/2014/main" id="{D242F102-9B00-4A1D-A18F-74FA11CE55AE}"/>
              </a:ext>
            </a:extLst>
          </p:cNvPr>
          <p:cNvSpPr txBox="1">
            <a:spLocks noChangeArrowheads="1"/>
          </p:cNvSpPr>
          <p:nvPr/>
        </p:nvSpPr>
        <p:spPr bwMode="auto">
          <a:xfrm>
            <a:off x="2832773" y="5171254"/>
            <a:ext cx="755218" cy="350837"/>
          </a:xfrm>
          <a:prstGeom prst="rect">
            <a:avLst/>
          </a:prstGeom>
          <a:solidFill>
            <a:srgbClr val="FFFFFF"/>
          </a:solidFill>
          <a:ln w="9525">
            <a:noFill/>
            <a:miter lim="800000"/>
            <a:headEnd/>
            <a:tailEnd/>
          </a:ln>
        </p:spPr>
        <p:txBody>
          <a:bodyPr/>
          <a:lstStyle/>
          <a:p>
            <a:pPr algn="r" eaLnBrk="0" hangingPunct="0">
              <a:lnSpc>
                <a:spcPct val="100000"/>
              </a:lnSpc>
              <a:spcBef>
                <a:spcPct val="0"/>
              </a:spcBef>
              <a:buClrTx/>
              <a:buFontTx/>
              <a:buNone/>
            </a:pPr>
            <a:r>
              <a:rPr kumimoji="0" lang="zh-CN" altLang="en-US" sz="1600" dirty="0">
                <a:latin typeface="Arial" charset="0"/>
                <a:ea typeface="宋体" pitchFamily="2" charset="-122"/>
              </a:rPr>
              <a:t>时间</a:t>
            </a:r>
            <a:endParaRPr kumimoji="0" lang="en-US" altLang="zh-CN" sz="1600" dirty="0">
              <a:latin typeface="Times New Roman" pitchFamily="18" charset="0"/>
              <a:ea typeface="宋体" pitchFamily="2" charset="-122"/>
            </a:endParaRPr>
          </a:p>
        </p:txBody>
      </p:sp>
      <p:sp>
        <p:nvSpPr>
          <p:cNvPr id="38" name="Line 5">
            <a:extLst>
              <a:ext uri="{FF2B5EF4-FFF2-40B4-BE49-F238E27FC236}">
                <a16:creationId xmlns:a16="http://schemas.microsoft.com/office/drawing/2014/main" id="{46EF7584-7581-49B1-A327-7A421F50D5F3}"/>
              </a:ext>
            </a:extLst>
          </p:cNvPr>
          <p:cNvSpPr>
            <a:spLocks noChangeShapeType="1"/>
          </p:cNvSpPr>
          <p:nvPr/>
        </p:nvSpPr>
        <p:spPr bwMode="auto">
          <a:xfrm>
            <a:off x="3270019" y="1826073"/>
            <a:ext cx="20637" cy="3284538"/>
          </a:xfrm>
          <a:prstGeom prst="line">
            <a:avLst/>
          </a:prstGeom>
          <a:noFill/>
          <a:ln w="9525">
            <a:solidFill>
              <a:srgbClr val="000000"/>
            </a:solidFill>
            <a:round/>
            <a:headEnd/>
            <a:tailEnd type="triangle" w="med" len="med"/>
          </a:ln>
        </p:spPr>
        <p:txBody>
          <a:bodyPr/>
          <a:lstStyle/>
          <a:p>
            <a:endParaRPr lang="zh-CN" altLang="en-US"/>
          </a:p>
        </p:txBody>
      </p:sp>
      <p:sp>
        <p:nvSpPr>
          <p:cNvPr id="39" name="Line 6">
            <a:extLst>
              <a:ext uri="{FF2B5EF4-FFF2-40B4-BE49-F238E27FC236}">
                <a16:creationId xmlns:a16="http://schemas.microsoft.com/office/drawing/2014/main" id="{4DDA0923-8682-4F9A-89DD-2808D7966628}"/>
              </a:ext>
            </a:extLst>
          </p:cNvPr>
          <p:cNvSpPr>
            <a:spLocks noChangeShapeType="1"/>
          </p:cNvSpPr>
          <p:nvPr/>
        </p:nvSpPr>
        <p:spPr bwMode="auto">
          <a:xfrm>
            <a:off x="5351231" y="1838773"/>
            <a:ext cx="22225" cy="3351213"/>
          </a:xfrm>
          <a:prstGeom prst="line">
            <a:avLst/>
          </a:prstGeom>
          <a:noFill/>
          <a:ln w="9525">
            <a:solidFill>
              <a:srgbClr val="000000"/>
            </a:solidFill>
            <a:round/>
            <a:headEnd/>
            <a:tailEnd type="triangle" w="med" len="med"/>
          </a:ln>
        </p:spPr>
        <p:txBody>
          <a:bodyPr/>
          <a:lstStyle/>
          <a:p>
            <a:endParaRPr lang="zh-CN" altLang="en-US"/>
          </a:p>
        </p:txBody>
      </p:sp>
      <p:sp>
        <p:nvSpPr>
          <p:cNvPr id="40" name="Line 9">
            <a:extLst>
              <a:ext uri="{FF2B5EF4-FFF2-40B4-BE49-F238E27FC236}">
                <a16:creationId xmlns:a16="http://schemas.microsoft.com/office/drawing/2014/main" id="{03C69830-9AD1-4207-BBA8-E86F9C53A672}"/>
              </a:ext>
            </a:extLst>
          </p:cNvPr>
          <p:cNvSpPr>
            <a:spLocks noChangeShapeType="1"/>
          </p:cNvSpPr>
          <p:nvPr/>
        </p:nvSpPr>
        <p:spPr bwMode="auto">
          <a:xfrm>
            <a:off x="3290656" y="2043561"/>
            <a:ext cx="2049463" cy="3175"/>
          </a:xfrm>
          <a:prstGeom prst="line">
            <a:avLst/>
          </a:prstGeom>
          <a:noFill/>
          <a:ln w="9525">
            <a:solidFill>
              <a:srgbClr val="000000"/>
            </a:solidFill>
            <a:prstDash val="dash"/>
            <a:round/>
            <a:headEnd/>
            <a:tailEnd/>
          </a:ln>
        </p:spPr>
        <p:txBody>
          <a:bodyPr/>
          <a:lstStyle/>
          <a:p>
            <a:endParaRPr lang="zh-CN" altLang="en-US"/>
          </a:p>
        </p:txBody>
      </p:sp>
      <p:sp>
        <p:nvSpPr>
          <p:cNvPr id="41" name="Line 10">
            <a:extLst>
              <a:ext uri="{FF2B5EF4-FFF2-40B4-BE49-F238E27FC236}">
                <a16:creationId xmlns:a16="http://schemas.microsoft.com/office/drawing/2014/main" id="{0282012A-428F-40CB-B11F-63CE67059DA8}"/>
              </a:ext>
            </a:extLst>
          </p:cNvPr>
          <p:cNvSpPr>
            <a:spLocks noChangeShapeType="1"/>
          </p:cNvSpPr>
          <p:nvPr/>
        </p:nvSpPr>
        <p:spPr bwMode="auto">
          <a:xfrm>
            <a:off x="3297006" y="4175573"/>
            <a:ext cx="2049463" cy="0"/>
          </a:xfrm>
          <a:prstGeom prst="line">
            <a:avLst/>
          </a:prstGeom>
          <a:noFill/>
          <a:ln w="9525">
            <a:solidFill>
              <a:srgbClr val="000000"/>
            </a:solidFill>
            <a:prstDash val="dash"/>
            <a:round/>
            <a:headEnd/>
            <a:tailEnd/>
          </a:ln>
        </p:spPr>
        <p:txBody>
          <a:bodyPr/>
          <a:lstStyle/>
          <a:p>
            <a:endParaRPr lang="zh-CN" altLang="en-US"/>
          </a:p>
        </p:txBody>
      </p:sp>
      <p:sp>
        <p:nvSpPr>
          <p:cNvPr id="42" name="Freeform 11">
            <a:extLst>
              <a:ext uri="{FF2B5EF4-FFF2-40B4-BE49-F238E27FC236}">
                <a16:creationId xmlns:a16="http://schemas.microsoft.com/office/drawing/2014/main" id="{5D543994-7265-4866-9713-23EF7874EE14}"/>
              </a:ext>
            </a:extLst>
          </p:cNvPr>
          <p:cNvSpPr>
            <a:spLocks/>
          </p:cNvSpPr>
          <p:nvPr/>
        </p:nvSpPr>
        <p:spPr bwMode="auto">
          <a:xfrm>
            <a:off x="3274781" y="2037211"/>
            <a:ext cx="2087563"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3" name="Line 12">
            <a:extLst>
              <a:ext uri="{FF2B5EF4-FFF2-40B4-BE49-F238E27FC236}">
                <a16:creationId xmlns:a16="http://schemas.microsoft.com/office/drawing/2014/main" id="{DD905E1E-60FA-4E6E-9682-CD94CBB1D81E}"/>
              </a:ext>
            </a:extLst>
          </p:cNvPr>
          <p:cNvSpPr>
            <a:spLocks noChangeShapeType="1"/>
          </p:cNvSpPr>
          <p:nvPr/>
        </p:nvSpPr>
        <p:spPr bwMode="auto">
          <a:xfrm flipH="1">
            <a:off x="3139844" y="2040386"/>
            <a:ext cx="123825" cy="3175"/>
          </a:xfrm>
          <a:prstGeom prst="line">
            <a:avLst/>
          </a:prstGeom>
          <a:noFill/>
          <a:ln w="9525">
            <a:solidFill>
              <a:srgbClr val="000000"/>
            </a:solidFill>
            <a:round/>
            <a:headEnd/>
            <a:tailEnd/>
          </a:ln>
        </p:spPr>
        <p:txBody>
          <a:bodyPr/>
          <a:lstStyle/>
          <a:p>
            <a:endParaRPr lang="zh-CN" altLang="en-US"/>
          </a:p>
        </p:txBody>
      </p:sp>
      <p:sp>
        <p:nvSpPr>
          <p:cNvPr id="44" name="Line 13">
            <a:extLst>
              <a:ext uri="{FF2B5EF4-FFF2-40B4-BE49-F238E27FC236}">
                <a16:creationId xmlns:a16="http://schemas.microsoft.com/office/drawing/2014/main" id="{793E6A38-C863-4333-940E-E91570A4CAAF}"/>
              </a:ext>
            </a:extLst>
          </p:cNvPr>
          <p:cNvSpPr>
            <a:spLocks noChangeShapeType="1"/>
          </p:cNvSpPr>
          <p:nvPr/>
        </p:nvSpPr>
        <p:spPr bwMode="auto">
          <a:xfrm flipH="1">
            <a:off x="3139844" y="2284861"/>
            <a:ext cx="123825" cy="0"/>
          </a:xfrm>
          <a:prstGeom prst="line">
            <a:avLst/>
          </a:prstGeom>
          <a:noFill/>
          <a:ln w="9525">
            <a:solidFill>
              <a:srgbClr val="000000"/>
            </a:solidFill>
            <a:round/>
            <a:headEnd/>
            <a:tailEnd/>
          </a:ln>
        </p:spPr>
        <p:txBody>
          <a:bodyPr/>
          <a:lstStyle/>
          <a:p>
            <a:endParaRPr lang="zh-CN" altLang="en-US"/>
          </a:p>
        </p:txBody>
      </p:sp>
      <p:sp>
        <p:nvSpPr>
          <p:cNvPr id="45" name="Line 15">
            <a:extLst>
              <a:ext uri="{FF2B5EF4-FFF2-40B4-BE49-F238E27FC236}">
                <a16:creationId xmlns:a16="http://schemas.microsoft.com/office/drawing/2014/main" id="{0C15A16B-F18D-47D8-B4A3-5791CE98E684}"/>
              </a:ext>
            </a:extLst>
          </p:cNvPr>
          <p:cNvSpPr>
            <a:spLocks noChangeShapeType="1"/>
          </p:cNvSpPr>
          <p:nvPr/>
        </p:nvSpPr>
        <p:spPr bwMode="auto">
          <a:xfrm>
            <a:off x="3173181" y="3335786"/>
            <a:ext cx="9525" cy="820737"/>
          </a:xfrm>
          <a:prstGeom prst="line">
            <a:avLst/>
          </a:prstGeom>
          <a:noFill/>
          <a:ln w="9525">
            <a:solidFill>
              <a:srgbClr val="000000"/>
            </a:solidFill>
            <a:round/>
            <a:headEnd/>
            <a:tailEnd type="triangle" w="med" len="med"/>
          </a:ln>
        </p:spPr>
        <p:txBody>
          <a:bodyPr/>
          <a:lstStyle/>
          <a:p>
            <a:endParaRPr lang="zh-CN" altLang="en-US"/>
          </a:p>
        </p:txBody>
      </p:sp>
      <p:sp>
        <p:nvSpPr>
          <p:cNvPr id="46" name="Line 16">
            <a:extLst>
              <a:ext uri="{FF2B5EF4-FFF2-40B4-BE49-F238E27FC236}">
                <a16:creationId xmlns:a16="http://schemas.microsoft.com/office/drawing/2014/main" id="{264EE731-226F-4FED-A8BB-6C662B0D8AA4}"/>
              </a:ext>
            </a:extLst>
          </p:cNvPr>
          <p:cNvSpPr>
            <a:spLocks noChangeShapeType="1"/>
          </p:cNvSpPr>
          <p:nvPr/>
        </p:nvSpPr>
        <p:spPr bwMode="auto">
          <a:xfrm flipV="1">
            <a:off x="3177944" y="2307086"/>
            <a:ext cx="1587" cy="776287"/>
          </a:xfrm>
          <a:prstGeom prst="line">
            <a:avLst/>
          </a:prstGeom>
          <a:noFill/>
          <a:ln w="9525">
            <a:solidFill>
              <a:srgbClr val="000000"/>
            </a:solidFill>
            <a:round/>
            <a:headEnd/>
            <a:tailEnd type="triangle" w="med" len="med"/>
          </a:ln>
        </p:spPr>
        <p:txBody>
          <a:bodyPr/>
          <a:lstStyle/>
          <a:p>
            <a:endParaRPr lang="zh-CN" altLang="en-US"/>
          </a:p>
        </p:txBody>
      </p:sp>
      <p:sp>
        <p:nvSpPr>
          <p:cNvPr id="47" name="Line 18">
            <a:extLst>
              <a:ext uri="{FF2B5EF4-FFF2-40B4-BE49-F238E27FC236}">
                <a16:creationId xmlns:a16="http://schemas.microsoft.com/office/drawing/2014/main" id="{D8C0307A-549E-4AB6-A8E2-0F67BAB20C82}"/>
              </a:ext>
            </a:extLst>
          </p:cNvPr>
          <p:cNvSpPr>
            <a:spLocks noChangeShapeType="1"/>
          </p:cNvSpPr>
          <p:nvPr/>
        </p:nvSpPr>
        <p:spPr bwMode="auto">
          <a:xfrm flipH="1">
            <a:off x="5340119" y="2965898"/>
            <a:ext cx="125412" cy="0"/>
          </a:xfrm>
          <a:prstGeom prst="line">
            <a:avLst/>
          </a:prstGeom>
          <a:noFill/>
          <a:ln w="9525">
            <a:solidFill>
              <a:srgbClr val="000000"/>
            </a:solidFill>
            <a:round/>
            <a:headEnd/>
            <a:tailEnd/>
          </a:ln>
        </p:spPr>
        <p:txBody>
          <a:bodyPr/>
          <a:lstStyle/>
          <a:p>
            <a:endParaRPr lang="zh-CN" altLang="en-US"/>
          </a:p>
        </p:txBody>
      </p:sp>
      <p:sp>
        <p:nvSpPr>
          <p:cNvPr id="48" name="Line 20">
            <a:extLst>
              <a:ext uri="{FF2B5EF4-FFF2-40B4-BE49-F238E27FC236}">
                <a16:creationId xmlns:a16="http://schemas.microsoft.com/office/drawing/2014/main" id="{1F92B46A-280C-4418-93F9-CA38C2035C92}"/>
              </a:ext>
            </a:extLst>
          </p:cNvPr>
          <p:cNvSpPr>
            <a:spLocks noChangeShapeType="1"/>
          </p:cNvSpPr>
          <p:nvPr/>
        </p:nvSpPr>
        <p:spPr bwMode="auto">
          <a:xfrm>
            <a:off x="5362344" y="3216723"/>
            <a:ext cx="119062" cy="0"/>
          </a:xfrm>
          <a:prstGeom prst="line">
            <a:avLst/>
          </a:prstGeom>
          <a:noFill/>
          <a:ln w="9525">
            <a:solidFill>
              <a:srgbClr val="000000"/>
            </a:solidFill>
            <a:round/>
            <a:headEnd/>
            <a:tailEnd/>
          </a:ln>
        </p:spPr>
        <p:txBody>
          <a:bodyPr/>
          <a:lstStyle/>
          <a:p>
            <a:endParaRPr lang="zh-CN" altLang="en-US"/>
          </a:p>
        </p:txBody>
      </p:sp>
      <p:grpSp>
        <p:nvGrpSpPr>
          <p:cNvPr id="49" name="Group 23">
            <a:extLst>
              <a:ext uri="{FF2B5EF4-FFF2-40B4-BE49-F238E27FC236}">
                <a16:creationId xmlns:a16="http://schemas.microsoft.com/office/drawing/2014/main" id="{1A696579-EBDE-4CE9-BA2C-E27BEFB8D421}"/>
              </a:ext>
            </a:extLst>
          </p:cNvPr>
          <p:cNvGrpSpPr>
            <a:grpSpLocks/>
          </p:cNvGrpSpPr>
          <p:nvPr/>
        </p:nvGrpSpPr>
        <p:grpSpPr bwMode="auto">
          <a:xfrm>
            <a:off x="3150956" y="4162873"/>
            <a:ext cx="1466850" cy="608013"/>
            <a:chOff x="12502" y="21425"/>
            <a:chExt cx="3400" cy="1025"/>
          </a:xfrm>
        </p:grpSpPr>
        <p:sp>
          <p:nvSpPr>
            <p:cNvPr id="50" name="Line 24">
              <a:extLst>
                <a:ext uri="{FF2B5EF4-FFF2-40B4-BE49-F238E27FC236}">
                  <a16:creationId xmlns:a16="http://schemas.microsoft.com/office/drawing/2014/main" id="{4E106CB0-FBDB-44A2-9190-C7176538E658}"/>
                </a:ext>
              </a:extLst>
            </p:cNvPr>
            <p:cNvSpPr>
              <a:spLocks noChangeShapeType="1"/>
            </p:cNvSpPr>
            <p:nvPr/>
          </p:nvSpPr>
          <p:spPr bwMode="auto">
            <a:xfrm flipH="1">
              <a:off x="12502" y="21425"/>
              <a:ext cx="288" cy="2"/>
            </a:xfrm>
            <a:prstGeom prst="line">
              <a:avLst/>
            </a:prstGeom>
            <a:noFill/>
            <a:ln w="9525">
              <a:solidFill>
                <a:srgbClr val="000000"/>
              </a:solidFill>
              <a:round/>
              <a:headEnd/>
              <a:tailEnd/>
            </a:ln>
          </p:spPr>
          <p:txBody>
            <a:bodyPr/>
            <a:lstStyle/>
            <a:p>
              <a:endParaRPr lang="zh-CN" altLang="en-US"/>
            </a:p>
          </p:txBody>
        </p:sp>
        <p:sp>
          <p:nvSpPr>
            <p:cNvPr id="51" name="Freeform 25">
              <a:extLst>
                <a:ext uri="{FF2B5EF4-FFF2-40B4-BE49-F238E27FC236}">
                  <a16:creationId xmlns:a16="http://schemas.microsoft.com/office/drawing/2014/main" id="{6219404F-77F6-43D6-8CDF-FADA57DFA931}"/>
                </a:ext>
              </a:extLst>
            </p:cNvPr>
            <p:cNvSpPr>
              <a:spLocks/>
            </p:cNvSpPr>
            <p:nvPr/>
          </p:nvSpPr>
          <p:spPr bwMode="auto">
            <a:xfrm>
              <a:off x="12827" y="21438"/>
              <a:ext cx="3075" cy="987"/>
            </a:xfrm>
            <a:custGeom>
              <a:avLst/>
              <a:gdLst>
                <a:gd name="T0" fmla="*/ 0 w 1845"/>
                <a:gd name="T1" fmla="*/ 0 h 592"/>
                <a:gd name="T2" fmla="*/ 1081653900 w 1845"/>
                <a:gd name="T3" fmla="*/ 350214665 h 592"/>
                <a:gd name="T4" fmla="*/ 641985750 w 1845"/>
                <a:gd name="T5" fmla="*/ 350214665 h 592"/>
                <a:gd name="T6" fmla="*/ 0 w 1845"/>
                <a:gd name="T7" fmla="*/ 146140442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w="9525">
              <a:noFill/>
              <a:round/>
              <a:headEnd/>
              <a:tailEnd/>
            </a:ln>
          </p:spPr>
          <p:txBody>
            <a:bodyPr/>
            <a:lstStyle/>
            <a:p>
              <a:endParaRPr lang="zh-CN" altLang="en-US"/>
            </a:p>
          </p:txBody>
        </p:sp>
        <p:grpSp>
          <p:nvGrpSpPr>
            <p:cNvPr id="52" name="Group 26">
              <a:extLst>
                <a:ext uri="{FF2B5EF4-FFF2-40B4-BE49-F238E27FC236}">
                  <a16:creationId xmlns:a16="http://schemas.microsoft.com/office/drawing/2014/main" id="{607B14A1-102B-44B3-8AA9-431FF97569C0}"/>
                </a:ext>
              </a:extLst>
            </p:cNvPr>
            <p:cNvGrpSpPr>
              <a:grpSpLocks/>
            </p:cNvGrpSpPr>
            <p:nvPr/>
          </p:nvGrpSpPr>
          <p:grpSpPr bwMode="auto">
            <a:xfrm>
              <a:off x="12815" y="21425"/>
              <a:ext cx="2776" cy="913"/>
              <a:chOff x="12315" y="13225"/>
              <a:chExt cx="2775" cy="913"/>
            </a:xfrm>
          </p:grpSpPr>
          <p:sp>
            <p:nvSpPr>
              <p:cNvPr id="55" name="Line 27">
                <a:extLst>
                  <a:ext uri="{FF2B5EF4-FFF2-40B4-BE49-F238E27FC236}">
                    <a16:creationId xmlns:a16="http://schemas.microsoft.com/office/drawing/2014/main" id="{310424A4-4544-4533-99D2-4F95A3A00BBF}"/>
                  </a:ext>
                </a:extLst>
              </p:cNvPr>
              <p:cNvSpPr>
                <a:spLocks noChangeShapeType="1"/>
              </p:cNvSpPr>
              <p:nvPr/>
            </p:nvSpPr>
            <p:spPr bwMode="auto">
              <a:xfrm>
                <a:off x="12315" y="13225"/>
                <a:ext cx="1587" cy="513"/>
              </a:xfrm>
              <a:prstGeom prst="line">
                <a:avLst/>
              </a:prstGeom>
              <a:noFill/>
              <a:ln w="9525">
                <a:solidFill>
                  <a:srgbClr val="000000"/>
                </a:solidFill>
                <a:round/>
                <a:headEnd/>
                <a:tailEnd/>
              </a:ln>
            </p:spPr>
            <p:txBody>
              <a:bodyPr/>
              <a:lstStyle/>
              <a:p>
                <a:endParaRPr lang="zh-CN" altLang="en-US"/>
              </a:p>
            </p:txBody>
          </p:sp>
          <p:sp>
            <p:nvSpPr>
              <p:cNvPr id="56" name="Line 28">
                <a:extLst>
                  <a:ext uri="{FF2B5EF4-FFF2-40B4-BE49-F238E27FC236}">
                    <a16:creationId xmlns:a16="http://schemas.microsoft.com/office/drawing/2014/main" id="{FECFCBA9-DDD3-4BD0-B0BE-B1C03D533014}"/>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p:spPr>
            <p:txBody>
              <a:bodyPr/>
              <a:lstStyle/>
              <a:p>
                <a:endParaRPr lang="zh-CN" altLang="en-US"/>
              </a:p>
            </p:txBody>
          </p:sp>
        </p:grpSp>
        <p:sp>
          <p:nvSpPr>
            <p:cNvPr id="53" name="Line 29">
              <a:extLst>
                <a:ext uri="{FF2B5EF4-FFF2-40B4-BE49-F238E27FC236}">
                  <a16:creationId xmlns:a16="http://schemas.microsoft.com/office/drawing/2014/main" id="{88B1DADA-06A4-4EF4-9F46-F8DB886F646E}"/>
                </a:ext>
              </a:extLst>
            </p:cNvPr>
            <p:cNvSpPr>
              <a:spLocks noChangeShapeType="1"/>
            </p:cNvSpPr>
            <p:nvPr/>
          </p:nvSpPr>
          <p:spPr bwMode="auto">
            <a:xfrm>
              <a:off x="12815" y="21837"/>
              <a:ext cx="687" cy="213"/>
            </a:xfrm>
            <a:prstGeom prst="line">
              <a:avLst/>
            </a:prstGeom>
            <a:noFill/>
            <a:ln w="9525">
              <a:solidFill>
                <a:srgbClr val="000000"/>
              </a:solidFill>
              <a:round/>
              <a:headEnd/>
              <a:tailEnd/>
            </a:ln>
          </p:spPr>
          <p:txBody>
            <a:bodyPr/>
            <a:lstStyle/>
            <a:p>
              <a:endParaRPr lang="zh-CN" altLang="en-US"/>
            </a:p>
          </p:txBody>
        </p:sp>
        <p:sp>
          <p:nvSpPr>
            <p:cNvPr id="54" name="Line 30">
              <a:extLst>
                <a:ext uri="{FF2B5EF4-FFF2-40B4-BE49-F238E27FC236}">
                  <a16:creationId xmlns:a16="http://schemas.microsoft.com/office/drawing/2014/main" id="{5B8B7FF9-BE07-41FB-9E45-6DCB561449DF}"/>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p:spPr>
          <p:txBody>
            <a:bodyPr/>
            <a:lstStyle/>
            <a:p>
              <a:endParaRPr lang="zh-CN" altLang="en-US"/>
            </a:p>
          </p:txBody>
        </p:sp>
      </p:grpSp>
      <p:sp>
        <p:nvSpPr>
          <p:cNvPr id="57" name="Freeform 31">
            <a:extLst>
              <a:ext uri="{FF2B5EF4-FFF2-40B4-BE49-F238E27FC236}">
                <a16:creationId xmlns:a16="http://schemas.microsoft.com/office/drawing/2014/main" id="{5224E06D-4492-4397-AC6B-D8779D8C2082}"/>
              </a:ext>
            </a:extLst>
          </p:cNvPr>
          <p:cNvSpPr>
            <a:spLocks/>
          </p:cNvSpPr>
          <p:nvPr/>
        </p:nvSpPr>
        <p:spPr bwMode="auto">
          <a:xfrm>
            <a:off x="3274781" y="2276923"/>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chemeClr val="tx1"/>
            </a:solidFill>
            <a:round/>
            <a:headEnd/>
            <a:tailEnd/>
          </a:ln>
        </p:spPr>
        <p:txBody>
          <a:bodyPr/>
          <a:lstStyle/>
          <a:p>
            <a:endParaRPr lang="zh-CN" altLang="en-US"/>
          </a:p>
        </p:txBody>
      </p:sp>
      <p:sp>
        <p:nvSpPr>
          <p:cNvPr id="58" name="Freeform 32">
            <a:extLst>
              <a:ext uri="{FF2B5EF4-FFF2-40B4-BE49-F238E27FC236}">
                <a16:creationId xmlns:a16="http://schemas.microsoft.com/office/drawing/2014/main" id="{A5B2BC4D-BA75-404A-BFFF-36C1566FB517}"/>
              </a:ext>
            </a:extLst>
          </p:cNvPr>
          <p:cNvSpPr>
            <a:spLocks/>
          </p:cNvSpPr>
          <p:nvPr/>
        </p:nvSpPr>
        <p:spPr bwMode="auto">
          <a:xfrm>
            <a:off x="3274781" y="2521398"/>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59" name="Line 33">
            <a:extLst>
              <a:ext uri="{FF2B5EF4-FFF2-40B4-BE49-F238E27FC236}">
                <a16:creationId xmlns:a16="http://schemas.microsoft.com/office/drawing/2014/main" id="{52EF415E-FA42-4E46-A43D-17F809BAB4DF}"/>
              </a:ext>
            </a:extLst>
          </p:cNvPr>
          <p:cNvSpPr>
            <a:spLocks noChangeShapeType="1"/>
          </p:cNvSpPr>
          <p:nvPr/>
        </p:nvSpPr>
        <p:spPr bwMode="auto">
          <a:xfrm flipV="1">
            <a:off x="3297006" y="3224661"/>
            <a:ext cx="2065338" cy="931862"/>
          </a:xfrm>
          <a:prstGeom prst="line">
            <a:avLst/>
          </a:prstGeom>
          <a:noFill/>
          <a:ln w="9525">
            <a:solidFill>
              <a:srgbClr val="000000"/>
            </a:solidFill>
            <a:round/>
            <a:headEnd/>
            <a:tailEnd/>
          </a:ln>
        </p:spPr>
        <p:txBody>
          <a:bodyPr/>
          <a:lstStyle/>
          <a:p>
            <a:endParaRPr lang="zh-CN" altLang="en-US"/>
          </a:p>
        </p:txBody>
      </p:sp>
      <p:sp>
        <p:nvSpPr>
          <p:cNvPr id="60" name="Line 34">
            <a:extLst>
              <a:ext uri="{FF2B5EF4-FFF2-40B4-BE49-F238E27FC236}">
                <a16:creationId xmlns:a16="http://schemas.microsoft.com/office/drawing/2014/main" id="{AEF06C3C-1CD6-40FE-8834-C0618C8A495D}"/>
              </a:ext>
            </a:extLst>
          </p:cNvPr>
          <p:cNvSpPr>
            <a:spLocks noChangeShapeType="1"/>
          </p:cNvSpPr>
          <p:nvPr/>
        </p:nvSpPr>
        <p:spPr bwMode="auto">
          <a:xfrm flipV="1">
            <a:off x="3297006" y="3475486"/>
            <a:ext cx="2065338" cy="931862"/>
          </a:xfrm>
          <a:prstGeom prst="line">
            <a:avLst/>
          </a:prstGeom>
          <a:noFill/>
          <a:ln w="9525">
            <a:solidFill>
              <a:srgbClr val="000000"/>
            </a:solidFill>
            <a:round/>
            <a:headEnd/>
            <a:tailEnd/>
          </a:ln>
        </p:spPr>
        <p:txBody>
          <a:bodyPr/>
          <a:lstStyle/>
          <a:p>
            <a:endParaRPr lang="zh-CN" altLang="en-US"/>
          </a:p>
        </p:txBody>
      </p:sp>
      <p:grpSp>
        <p:nvGrpSpPr>
          <p:cNvPr id="61" name="Group 35">
            <a:extLst>
              <a:ext uri="{FF2B5EF4-FFF2-40B4-BE49-F238E27FC236}">
                <a16:creationId xmlns:a16="http://schemas.microsoft.com/office/drawing/2014/main" id="{A505673D-C3D9-4BC0-BACE-B9D67873EF58}"/>
              </a:ext>
            </a:extLst>
          </p:cNvPr>
          <p:cNvGrpSpPr>
            <a:grpSpLocks/>
          </p:cNvGrpSpPr>
          <p:nvPr/>
        </p:nvGrpSpPr>
        <p:grpSpPr bwMode="auto">
          <a:xfrm>
            <a:off x="3139844" y="4400998"/>
            <a:ext cx="1466850" cy="606425"/>
            <a:chOff x="12502" y="21425"/>
            <a:chExt cx="3400" cy="1025"/>
          </a:xfrm>
        </p:grpSpPr>
        <p:sp>
          <p:nvSpPr>
            <p:cNvPr id="62" name="Line 36">
              <a:extLst>
                <a:ext uri="{FF2B5EF4-FFF2-40B4-BE49-F238E27FC236}">
                  <a16:creationId xmlns:a16="http://schemas.microsoft.com/office/drawing/2014/main" id="{1FA5B76B-7E2B-46ED-A7C7-43428684EF08}"/>
                </a:ext>
              </a:extLst>
            </p:cNvPr>
            <p:cNvSpPr>
              <a:spLocks noChangeShapeType="1"/>
            </p:cNvSpPr>
            <p:nvPr/>
          </p:nvSpPr>
          <p:spPr bwMode="auto">
            <a:xfrm flipH="1">
              <a:off x="12502" y="21425"/>
              <a:ext cx="288" cy="2"/>
            </a:xfrm>
            <a:prstGeom prst="line">
              <a:avLst/>
            </a:prstGeom>
            <a:noFill/>
            <a:ln w="9525">
              <a:solidFill>
                <a:srgbClr val="000000"/>
              </a:solidFill>
              <a:round/>
              <a:headEnd/>
              <a:tailEnd/>
            </a:ln>
          </p:spPr>
          <p:txBody>
            <a:bodyPr/>
            <a:lstStyle/>
            <a:p>
              <a:endParaRPr lang="zh-CN" altLang="en-US"/>
            </a:p>
          </p:txBody>
        </p:sp>
        <p:sp>
          <p:nvSpPr>
            <p:cNvPr id="63" name="Freeform 37">
              <a:extLst>
                <a:ext uri="{FF2B5EF4-FFF2-40B4-BE49-F238E27FC236}">
                  <a16:creationId xmlns:a16="http://schemas.microsoft.com/office/drawing/2014/main" id="{1390D21A-74C7-42EE-ADF6-4B097FD5C3FC}"/>
                </a:ext>
              </a:extLst>
            </p:cNvPr>
            <p:cNvSpPr>
              <a:spLocks/>
            </p:cNvSpPr>
            <p:nvPr/>
          </p:nvSpPr>
          <p:spPr bwMode="auto">
            <a:xfrm>
              <a:off x="12827" y="21438"/>
              <a:ext cx="3075" cy="987"/>
            </a:xfrm>
            <a:custGeom>
              <a:avLst/>
              <a:gdLst>
                <a:gd name="T0" fmla="*/ 0 w 1845"/>
                <a:gd name="T1" fmla="*/ 0 h 592"/>
                <a:gd name="T2" fmla="*/ 1081653900 w 1845"/>
                <a:gd name="T3" fmla="*/ 350214665 h 592"/>
                <a:gd name="T4" fmla="*/ 641985750 w 1845"/>
                <a:gd name="T5" fmla="*/ 350214665 h 592"/>
                <a:gd name="T6" fmla="*/ 0 w 1845"/>
                <a:gd name="T7" fmla="*/ 146140442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w="9525">
              <a:noFill/>
              <a:round/>
              <a:headEnd/>
              <a:tailEnd/>
            </a:ln>
          </p:spPr>
          <p:txBody>
            <a:bodyPr/>
            <a:lstStyle/>
            <a:p>
              <a:endParaRPr lang="zh-CN" altLang="en-US"/>
            </a:p>
          </p:txBody>
        </p:sp>
        <p:grpSp>
          <p:nvGrpSpPr>
            <p:cNvPr id="64" name="Group 38">
              <a:extLst>
                <a:ext uri="{FF2B5EF4-FFF2-40B4-BE49-F238E27FC236}">
                  <a16:creationId xmlns:a16="http://schemas.microsoft.com/office/drawing/2014/main" id="{AF83A1C3-37EA-4A4A-ADDD-32CD95E9A1DD}"/>
                </a:ext>
              </a:extLst>
            </p:cNvPr>
            <p:cNvGrpSpPr>
              <a:grpSpLocks/>
            </p:cNvGrpSpPr>
            <p:nvPr/>
          </p:nvGrpSpPr>
          <p:grpSpPr bwMode="auto">
            <a:xfrm>
              <a:off x="12815" y="21425"/>
              <a:ext cx="2776" cy="913"/>
              <a:chOff x="12315" y="13225"/>
              <a:chExt cx="2775" cy="913"/>
            </a:xfrm>
          </p:grpSpPr>
          <p:sp>
            <p:nvSpPr>
              <p:cNvPr id="67" name="Line 39">
                <a:extLst>
                  <a:ext uri="{FF2B5EF4-FFF2-40B4-BE49-F238E27FC236}">
                    <a16:creationId xmlns:a16="http://schemas.microsoft.com/office/drawing/2014/main" id="{40DF6774-38A6-4055-A01D-7C57E7F17AFD}"/>
                  </a:ext>
                </a:extLst>
              </p:cNvPr>
              <p:cNvSpPr>
                <a:spLocks noChangeShapeType="1"/>
              </p:cNvSpPr>
              <p:nvPr/>
            </p:nvSpPr>
            <p:spPr bwMode="auto">
              <a:xfrm>
                <a:off x="12315" y="13225"/>
                <a:ext cx="1587" cy="513"/>
              </a:xfrm>
              <a:prstGeom prst="line">
                <a:avLst/>
              </a:prstGeom>
              <a:noFill/>
              <a:ln w="9525">
                <a:solidFill>
                  <a:srgbClr val="000000"/>
                </a:solidFill>
                <a:round/>
                <a:headEnd/>
                <a:tailEnd/>
              </a:ln>
            </p:spPr>
            <p:txBody>
              <a:bodyPr/>
              <a:lstStyle/>
              <a:p>
                <a:endParaRPr lang="zh-CN" altLang="en-US"/>
              </a:p>
            </p:txBody>
          </p:sp>
          <p:sp>
            <p:nvSpPr>
              <p:cNvPr id="68" name="Line 40">
                <a:extLst>
                  <a:ext uri="{FF2B5EF4-FFF2-40B4-BE49-F238E27FC236}">
                    <a16:creationId xmlns:a16="http://schemas.microsoft.com/office/drawing/2014/main" id="{3E6E19B0-DA12-4CE3-B1B0-68D678506A69}"/>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p:spPr>
            <p:txBody>
              <a:bodyPr/>
              <a:lstStyle/>
              <a:p>
                <a:endParaRPr lang="zh-CN" altLang="en-US"/>
              </a:p>
            </p:txBody>
          </p:sp>
        </p:grpSp>
        <p:sp>
          <p:nvSpPr>
            <p:cNvPr id="65" name="Line 41">
              <a:extLst>
                <a:ext uri="{FF2B5EF4-FFF2-40B4-BE49-F238E27FC236}">
                  <a16:creationId xmlns:a16="http://schemas.microsoft.com/office/drawing/2014/main" id="{152CECDC-6DC4-41C0-B258-0DEB74556326}"/>
                </a:ext>
              </a:extLst>
            </p:cNvPr>
            <p:cNvSpPr>
              <a:spLocks noChangeShapeType="1"/>
            </p:cNvSpPr>
            <p:nvPr/>
          </p:nvSpPr>
          <p:spPr bwMode="auto">
            <a:xfrm>
              <a:off x="12815" y="21837"/>
              <a:ext cx="687" cy="213"/>
            </a:xfrm>
            <a:prstGeom prst="line">
              <a:avLst/>
            </a:prstGeom>
            <a:noFill/>
            <a:ln w="9525">
              <a:solidFill>
                <a:srgbClr val="000000"/>
              </a:solidFill>
              <a:round/>
              <a:headEnd/>
              <a:tailEnd/>
            </a:ln>
          </p:spPr>
          <p:txBody>
            <a:bodyPr/>
            <a:lstStyle/>
            <a:p>
              <a:endParaRPr lang="zh-CN" altLang="en-US"/>
            </a:p>
          </p:txBody>
        </p:sp>
        <p:sp>
          <p:nvSpPr>
            <p:cNvPr id="66" name="Line 42">
              <a:extLst>
                <a:ext uri="{FF2B5EF4-FFF2-40B4-BE49-F238E27FC236}">
                  <a16:creationId xmlns:a16="http://schemas.microsoft.com/office/drawing/2014/main" id="{B0FB2BB1-7E34-4643-B368-F9BA3B3BD41A}"/>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p:spPr>
          <p:txBody>
            <a:bodyPr/>
            <a:lstStyle/>
            <a:p>
              <a:endParaRPr lang="zh-CN" altLang="en-US"/>
            </a:p>
          </p:txBody>
        </p:sp>
      </p:grpSp>
      <p:grpSp>
        <p:nvGrpSpPr>
          <p:cNvPr id="69" name="Group 43">
            <a:extLst>
              <a:ext uri="{FF2B5EF4-FFF2-40B4-BE49-F238E27FC236}">
                <a16:creationId xmlns:a16="http://schemas.microsoft.com/office/drawing/2014/main" id="{5652DB3E-ACA0-4F84-958D-287E9FCC556C}"/>
              </a:ext>
            </a:extLst>
          </p:cNvPr>
          <p:cNvGrpSpPr>
            <a:grpSpLocks/>
          </p:cNvGrpSpPr>
          <p:nvPr/>
        </p:nvGrpSpPr>
        <p:grpSpPr bwMode="auto">
          <a:xfrm>
            <a:off x="3150956" y="4651823"/>
            <a:ext cx="1466850" cy="606425"/>
            <a:chOff x="12502" y="21425"/>
            <a:chExt cx="3400" cy="1025"/>
          </a:xfrm>
        </p:grpSpPr>
        <p:sp>
          <p:nvSpPr>
            <p:cNvPr id="70" name="Line 44">
              <a:extLst>
                <a:ext uri="{FF2B5EF4-FFF2-40B4-BE49-F238E27FC236}">
                  <a16:creationId xmlns:a16="http://schemas.microsoft.com/office/drawing/2014/main" id="{13D5B952-BC95-41DB-ADBF-5DCB7CCD9014}"/>
                </a:ext>
              </a:extLst>
            </p:cNvPr>
            <p:cNvSpPr>
              <a:spLocks noChangeShapeType="1"/>
            </p:cNvSpPr>
            <p:nvPr/>
          </p:nvSpPr>
          <p:spPr bwMode="auto">
            <a:xfrm flipH="1">
              <a:off x="12502" y="21425"/>
              <a:ext cx="288" cy="2"/>
            </a:xfrm>
            <a:prstGeom prst="line">
              <a:avLst/>
            </a:prstGeom>
            <a:noFill/>
            <a:ln w="9525">
              <a:solidFill>
                <a:srgbClr val="000000"/>
              </a:solidFill>
              <a:round/>
              <a:headEnd/>
              <a:tailEnd/>
            </a:ln>
          </p:spPr>
          <p:txBody>
            <a:bodyPr/>
            <a:lstStyle/>
            <a:p>
              <a:endParaRPr lang="zh-CN" altLang="en-US"/>
            </a:p>
          </p:txBody>
        </p:sp>
        <p:sp>
          <p:nvSpPr>
            <p:cNvPr id="71" name="Freeform 45">
              <a:extLst>
                <a:ext uri="{FF2B5EF4-FFF2-40B4-BE49-F238E27FC236}">
                  <a16:creationId xmlns:a16="http://schemas.microsoft.com/office/drawing/2014/main" id="{46300D96-9539-417D-8C3B-9B5B668EE474}"/>
                </a:ext>
              </a:extLst>
            </p:cNvPr>
            <p:cNvSpPr>
              <a:spLocks/>
            </p:cNvSpPr>
            <p:nvPr/>
          </p:nvSpPr>
          <p:spPr bwMode="auto">
            <a:xfrm>
              <a:off x="12827" y="21438"/>
              <a:ext cx="3075" cy="987"/>
            </a:xfrm>
            <a:custGeom>
              <a:avLst/>
              <a:gdLst>
                <a:gd name="T0" fmla="*/ 0 w 1845"/>
                <a:gd name="T1" fmla="*/ 0 h 592"/>
                <a:gd name="T2" fmla="*/ 1081653900 w 1845"/>
                <a:gd name="T3" fmla="*/ 350214665 h 592"/>
                <a:gd name="T4" fmla="*/ 641985750 w 1845"/>
                <a:gd name="T5" fmla="*/ 350214665 h 592"/>
                <a:gd name="T6" fmla="*/ 0 w 1845"/>
                <a:gd name="T7" fmla="*/ 146140442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w="9525">
              <a:noFill/>
              <a:round/>
              <a:headEnd/>
              <a:tailEnd/>
            </a:ln>
          </p:spPr>
          <p:txBody>
            <a:bodyPr/>
            <a:lstStyle/>
            <a:p>
              <a:endParaRPr lang="zh-CN" altLang="en-US"/>
            </a:p>
          </p:txBody>
        </p:sp>
        <p:grpSp>
          <p:nvGrpSpPr>
            <p:cNvPr id="72" name="Group 46">
              <a:extLst>
                <a:ext uri="{FF2B5EF4-FFF2-40B4-BE49-F238E27FC236}">
                  <a16:creationId xmlns:a16="http://schemas.microsoft.com/office/drawing/2014/main" id="{F2B23FD5-0215-439B-8F0C-4D236C1816F4}"/>
                </a:ext>
              </a:extLst>
            </p:cNvPr>
            <p:cNvGrpSpPr>
              <a:grpSpLocks/>
            </p:cNvGrpSpPr>
            <p:nvPr/>
          </p:nvGrpSpPr>
          <p:grpSpPr bwMode="auto">
            <a:xfrm>
              <a:off x="12815" y="21425"/>
              <a:ext cx="2776" cy="913"/>
              <a:chOff x="12315" y="13225"/>
              <a:chExt cx="2775" cy="913"/>
            </a:xfrm>
          </p:grpSpPr>
          <p:sp>
            <p:nvSpPr>
              <p:cNvPr id="75" name="Line 47">
                <a:extLst>
                  <a:ext uri="{FF2B5EF4-FFF2-40B4-BE49-F238E27FC236}">
                    <a16:creationId xmlns:a16="http://schemas.microsoft.com/office/drawing/2014/main" id="{1362CBFD-F578-49A2-88A2-DB75ADEA39C4}"/>
                  </a:ext>
                </a:extLst>
              </p:cNvPr>
              <p:cNvSpPr>
                <a:spLocks noChangeShapeType="1"/>
              </p:cNvSpPr>
              <p:nvPr/>
            </p:nvSpPr>
            <p:spPr bwMode="auto">
              <a:xfrm>
                <a:off x="12315" y="13225"/>
                <a:ext cx="1587" cy="513"/>
              </a:xfrm>
              <a:prstGeom prst="line">
                <a:avLst/>
              </a:prstGeom>
              <a:noFill/>
              <a:ln w="9525">
                <a:solidFill>
                  <a:srgbClr val="000000"/>
                </a:solidFill>
                <a:round/>
                <a:headEnd/>
                <a:tailEnd/>
              </a:ln>
            </p:spPr>
            <p:txBody>
              <a:bodyPr/>
              <a:lstStyle/>
              <a:p>
                <a:endParaRPr lang="zh-CN" altLang="en-US"/>
              </a:p>
            </p:txBody>
          </p:sp>
          <p:sp>
            <p:nvSpPr>
              <p:cNvPr id="76" name="Line 48">
                <a:extLst>
                  <a:ext uri="{FF2B5EF4-FFF2-40B4-BE49-F238E27FC236}">
                    <a16:creationId xmlns:a16="http://schemas.microsoft.com/office/drawing/2014/main" id="{05EBC5E4-9B63-44FA-A6E9-903BFBD32AA9}"/>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p:spPr>
            <p:txBody>
              <a:bodyPr/>
              <a:lstStyle/>
              <a:p>
                <a:endParaRPr lang="zh-CN" altLang="en-US"/>
              </a:p>
            </p:txBody>
          </p:sp>
        </p:grpSp>
        <p:sp>
          <p:nvSpPr>
            <p:cNvPr id="73" name="Line 49">
              <a:extLst>
                <a:ext uri="{FF2B5EF4-FFF2-40B4-BE49-F238E27FC236}">
                  <a16:creationId xmlns:a16="http://schemas.microsoft.com/office/drawing/2014/main" id="{13A5ACF3-32AE-4F76-AA74-3E32B1362423}"/>
                </a:ext>
              </a:extLst>
            </p:cNvPr>
            <p:cNvSpPr>
              <a:spLocks noChangeShapeType="1"/>
            </p:cNvSpPr>
            <p:nvPr/>
          </p:nvSpPr>
          <p:spPr bwMode="auto">
            <a:xfrm>
              <a:off x="12815" y="21837"/>
              <a:ext cx="687" cy="213"/>
            </a:xfrm>
            <a:prstGeom prst="line">
              <a:avLst/>
            </a:prstGeom>
            <a:noFill/>
            <a:ln w="9525">
              <a:solidFill>
                <a:srgbClr val="000000"/>
              </a:solidFill>
              <a:round/>
              <a:headEnd/>
              <a:tailEnd/>
            </a:ln>
          </p:spPr>
          <p:txBody>
            <a:bodyPr/>
            <a:lstStyle/>
            <a:p>
              <a:endParaRPr lang="zh-CN" altLang="en-US"/>
            </a:p>
          </p:txBody>
        </p:sp>
        <p:sp>
          <p:nvSpPr>
            <p:cNvPr id="74" name="Line 50">
              <a:extLst>
                <a:ext uri="{FF2B5EF4-FFF2-40B4-BE49-F238E27FC236}">
                  <a16:creationId xmlns:a16="http://schemas.microsoft.com/office/drawing/2014/main" id="{FC8F6D0F-0C32-4BCD-A90C-F6B01B8F02E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p:spPr>
          <p:txBody>
            <a:bodyPr/>
            <a:lstStyle/>
            <a:p>
              <a:endParaRPr lang="zh-CN" altLang="en-US"/>
            </a:p>
          </p:txBody>
        </p:sp>
      </p:grpSp>
      <p:sp>
        <p:nvSpPr>
          <p:cNvPr id="77" name="Line 51">
            <a:extLst>
              <a:ext uri="{FF2B5EF4-FFF2-40B4-BE49-F238E27FC236}">
                <a16:creationId xmlns:a16="http://schemas.microsoft.com/office/drawing/2014/main" id="{06C4929B-76AD-427C-B885-6F5B15BF9CFC}"/>
              </a:ext>
            </a:extLst>
          </p:cNvPr>
          <p:cNvSpPr>
            <a:spLocks noChangeShapeType="1"/>
          </p:cNvSpPr>
          <p:nvPr/>
        </p:nvSpPr>
        <p:spPr bwMode="auto">
          <a:xfrm flipV="1">
            <a:off x="3301769" y="3727898"/>
            <a:ext cx="2065337" cy="931863"/>
          </a:xfrm>
          <a:prstGeom prst="line">
            <a:avLst/>
          </a:prstGeom>
          <a:noFill/>
          <a:ln w="9525">
            <a:solidFill>
              <a:srgbClr val="000000"/>
            </a:solidFill>
            <a:round/>
            <a:headEnd/>
            <a:tailEnd/>
          </a:ln>
        </p:spPr>
        <p:txBody>
          <a:bodyPr/>
          <a:lstStyle/>
          <a:p>
            <a:endParaRPr lang="zh-CN" altLang="en-US"/>
          </a:p>
        </p:txBody>
      </p:sp>
      <p:sp>
        <p:nvSpPr>
          <p:cNvPr id="78" name="Line 53">
            <a:extLst>
              <a:ext uri="{FF2B5EF4-FFF2-40B4-BE49-F238E27FC236}">
                <a16:creationId xmlns:a16="http://schemas.microsoft.com/office/drawing/2014/main" id="{75D23956-4902-4FD3-BB92-918AE6FB149C}"/>
              </a:ext>
            </a:extLst>
          </p:cNvPr>
          <p:cNvSpPr>
            <a:spLocks noChangeShapeType="1"/>
          </p:cNvSpPr>
          <p:nvPr/>
        </p:nvSpPr>
        <p:spPr bwMode="auto">
          <a:xfrm flipV="1">
            <a:off x="5362344" y="3453261"/>
            <a:ext cx="112712" cy="0"/>
          </a:xfrm>
          <a:prstGeom prst="line">
            <a:avLst/>
          </a:prstGeom>
          <a:noFill/>
          <a:ln w="9525">
            <a:solidFill>
              <a:srgbClr val="000000"/>
            </a:solidFill>
            <a:round/>
            <a:headEnd/>
            <a:tailEnd/>
          </a:ln>
        </p:spPr>
        <p:txBody>
          <a:bodyPr/>
          <a:lstStyle/>
          <a:p>
            <a:endParaRPr lang="zh-CN" altLang="en-US"/>
          </a:p>
        </p:txBody>
      </p:sp>
      <p:sp>
        <p:nvSpPr>
          <p:cNvPr id="79" name="Line 54">
            <a:extLst>
              <a:ext uri="{FF2B5EF4-FFF2-40B4-BE49-F238E27FC236}">
                <a16:creationId xmlns:a16="http://schemas.microsoft.com/office/drawing/2014/main" id="{76EDE3B4-2CCE-48BC-85B7-E596BBA295AF}"/>
              </a:ext>
            </a:extLst>
          </p:cNvPr>
          <p:cNvSpPr>
            <a:spLocks noChangeShapeType="1"/>
          </p:cNvSpPr>
          <p:nvPr/>
        </p:nvSpPr>
        <p:spPr bwMode="auto">
          <a:xfrm flipV="1">
            <a:off x="5373456" y="3705673"/>
            <a:ext cx="112713" cy="0"/>
          </a:xfrm>
          <a:prstGeom prst="line">
            <a:avLst/>
          </a:prstGeom>
          <a:noFill/>
          <a:ln w="9525">
            <a:solidFill>
              <a:srgbClr val="000000"/>
            </a:solidFill>
            <a:round/>
            <a:headEnd/>
            <a:tailEnd/>
          </a:ln>
        </p:spPr>
        <p:txBody>
          <a:bodyPr/>
          <a:lstStyle/>
          <a:p>
            <a:endParaRPr lang="zh-CN" altLang="en-US"/>
          </a:p>
        </p:txBody>
      </p:sp>
      <p:sp>
        <p:nvSpPr>
          <p:cNvPr id="2" name="Text Box 23">
            <a:extLst>
              <a:ext uri="{FF2B5EF4-FFF2-40B4-BE49-F238E27FC236}">
                <a16:creationId xmlns:a16="http://schemas.microsoft.com/office/drawing/2014/main" id="{3DE29B4E-6DCE-4001-9D9E-C84A02630903}"/>
              </a:ext>
            </a:extLst>
          </p:cNvPr>
          <p:cNvSpPr txBox="1">
            <a:spLocks noChangeArrowheads="1"/>
          </p:cNvSpPr>
          <p:nvPr/>
        </p:nvSpPr>
        <p:spPr bwMode="auto">
          <a:xfrm>
            <a:off x="5390917" y="3305983"/>
            <a:ext cx="3753083" cy="321659"/>
          </a:xfrm>
          <a:prstGeom prst="rect">
            <a:avLst/>
          </a:prstGeom>
          <a:noFill/>
          <a:ln w="9525">
            <a:noFill/>
            <a:miter lim="800000"/>
            <a:headEnd/>
            <a:tailEnd/>
          </a:ln>
        </p:spPr>
        <p:txBody>
          <a:bodyPr/>
          <a:lstStyle/>
          <a:p>
            <a:pPr eaLnBrk="0" hangingPunct="0">
              <a:lnSpc>
                <a:spcPct val="100000"/>
              </a:lnSpc>
              <a:spcBef>
                <a:spcPct val="0"/>
              </a:spcBef>
              <a:buClrTx/>
              <a:buFontTx/>
              <a:buNone/>
            </a:pPr>
            <a:r>
              <a:rPr lang="zh-CN" altLang="en-US" sz="1600" dirty="0">
                <a:latin typeface="Arial" charset="0"/>
                <a:ea typeface="宋体" pitchFamily="2" charset="-122"/>
              </a:rPr>
              <a:t>第二个</a:t>
            </a:r>
            <a:r>
              <a:rPr kumimoji="0" lang="zh-CN" altLang="en-US" sz="1600" dirty="0">
                <a:latin typeface="Arial" charset="0"/>
                <a:ea typeface="宋体" pitchFamily="2" charset="-122"/>
              </a:rPr>
              <a:t>分组的最后一位到达，发送</a:t>
            </a:r>
            <a:r>
              <a:rPr kumimoji="0" lang="en-US" altLang="zh-CN" sz="1600" dirty="0">
                <a:latin typeface="Arial" charset="0"/>
                <a:ea typeface="宋体" pitchFamily="2" charset="-122"/>
              </a:rPr>
              <a:t>ACK</a:t>
            </a:r>
            <a:endParaRPr kumimoji="0" lang="en-US" altLang="zh-CN" sz="1600" dirty="0">
              <a:latin typeface="Times New Roman" pitchFamily="18" charset="0"/>
              <a:ea typeface="宋体" pitchFamily="2" charset="-122"/>
            </a:endParaRPr>
          </a:p>
        </p:txBody>
      </p:sp>
      <p:sp>
        <p:nvSpPr>
          <p:cNvPr id="5" name="Text Box 23">
            <a:extLst>
              <a:ext uri="{FF2B5EF4-FFF2-40B4-BE49-F238E27FC236}">
                <a16:creationId xmlns:a16="http://schemas.microsoft.com/office/drawing/2014/main" id="{3B16A9E7-A8EA-4538-BFC0-0C2E89B7F320}"/>
              </a:ext>
            </a:extLst>
          </p:cNvPr>
          <p:cNvSpPr txBox="1">
            <a:spLocks noChangeArrowheads="1"/>
          </p:cNvSpPr>
          <p:nvPr/>
        </p:nvSpPr>
        <p:spPr bwMode="auto">
          <a:xfrm>
            <a:off x="5405691" y="3568164"/>
            <a:ext cx="3653184" cy="321659"/>
          </a:xfrm>
          <a:prstGeom prst="rect">
            <a:avLst/>
          </a:prstGeom>
          <a:noFill/>
          <a:ln w="9525">
            <a:noFill/>
            <a:miter lim="800000"/>
            <a:headEnd/>
            <a:tailEnd/>
          </a:ln>
        </p:spPr>
        <p:txBody>
          <a:bodyPr/>
          <a:lstStyle/>
          <a:p>
            <a:pPr eaLnBrk="0" hangingPunct="0">
              <a:lnSpc>
                <a:spcPct val="100000"/>
              </a:lnSpc>
              <a:spcBef>
                <a:spcPct val="0"/>
              </a:spcBef>
              <a:buClrTx/>
              <a:buFontTx/>
              <a:buNone/>
            </a:pPr>
            <a:r>
              <a:rPr lang="zh-CN" altLang="en-US" sz="1600" dirty="0">
                <a:latin typeface="Arial" charset="0"/>
                <a:ea typeface="宋体" pitchFamily="2" charset="-122"/>
              </a:rPr>
              <a:t>第三个</a:t>
            </a:r>
            <a:r>
              <a:rPr kumimoji="0" lang="zh-CN" altLang="en-US" sz="1600" dirty="0">
                <a:latin typeface="Arial" charset="0"/>
                <a:ea typeface="宋体" pitchFamily="2" charset="-122"/>
              </a:rPr>
              <a:t>分组的最后一位到达，发送</a:t>
            </a:r>
            <a:r>
              <a:rPr kumimoji="0" lang="en-US" altLang="zh-CN" sz="1600" dirty="0">
                <a:latin typeface="Arial" charset="0"/>
                <a:ea typeface="宋体" pitchFamily="2" charset="-122"/>
              </a:rPr>
              <a:t>ACK</a:t>
            </a:r>
            <a:endParaRPr kumimoji="0" lang="en-US" altLang="zh-CN" sz="1600" dirty="0">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533FBF5-F321-4185-A718-34710C4F6B48}"/>
                  </a:ext>
                </a:extLst>
              </p:cNvPr>
              <p:cNvSpPr>
                <a:spLocks noChangeArrowheads="1"/>
              </p:cNvSpPr>
              <p:nvPr/>
            </p:nvSpPr>
            <p:spPr bwMode="auto">
              <a:xfrm>
                <a:off x="1147945" y="5442170"/>
                <a:ext cx="6848109" cy="1036342"/>
              </a:xfrm>
              <a:prstGeom prst="rect">
                <a:avLst/>
              </a:prstGeom>
              <a:noFill/>
              <a:ln w="9525">
                <a:noFill/>
                <a:miter lim="800000"/>
                <a:headEnd/>
                <a:tailEnd/>
              </a:ln>
            </p:spPr>
            <p:txBody>
              <a:bodyPr/>
              <a:lstStyle/>
              <a:p>
                <a:pPr marL="358775" lvl="1" eaLnBrk="0" hangingPunct="0">
                  <a:lnSpc>
                    <a:spcPct val="150000"/>
                  </a:lnSpc>
                  <a:spcBef>
                    <a:spcPts val="300"/>
                  </a:spcBef>
                  <a:buClr>
                    <a:srgbClr val="2A09B7"/>
                  </a:buClr>
                </a:pPr>
                <a14:m>
                  <m:oMathPara xmlns:m="http://schemas.openxmlformats.org/officeDocument/2006/math">
                    <m:oMathParaPr>
                      <m:jc m:val="centerGroup"/>
                    </m:oMathParaPr>
                    <m:oMath xmlns:m="http://schemas.openxmlformats.org/officeDocument/2006/math">
                      <m:sSub>
                        <m:sSub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𝑠𝑒𝑛𝑑𝑒𝑟</m:t>
                          </m:r>
                        </m:sub>
                      </m:sSub>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3</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𝑃</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m:t>
                          </m:r>
                        </m:num>
                        <m:den>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𝑅𝑇𝑇</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𝑃</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𝑅</m:t>
                          </m:r>
                        </m:den>
                      </m:f>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0.008</m:t>
                          </m:r>
                          <m:r>
                            <a:rPr lang="en-US" altLang="zh-CN"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×3</m:t>
                          </m:r>
                        </m:num>
                        <m:den>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30+0.008</m:t>
                          </m:r>
                        </m:den>
                      </m:f>
                      <m:r>
                        <a:rPr lang="en-US" altLang="zh-CN"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0.00081</m:t>
                      </m:r>
                    </m:oMath>
                  </m:oMathPara>
                </a14:m>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id="{7533FBF5-F321-4185-A718-34710C4F6B48}"/>
                  </a:ext>
                </a:extLst>
              </p:cNvPr>
              <p:cNvSpPr>
                <a:spLocks noRot="1" noChangeAspect="1" noMove="1" noResize="1" noEditPoints="1" noAdjustHandles="1" noChangeArrowheads="1" noChangeShapeType="1" noTextEdit="1"/>
              </p:cNvSpPr>
              <p:nvPr/>
            </p:nvSpPr>
            <p:spPr bwMode="auto">
              <a:xfrm>
                <a:off x="1147945" y="5442170"/>
                <a:ext cx="6848109" cy="1036342"/>
              </a:xfrm>
              <a:prstGeom prst="rect">
                <a:avLst/>
              </a:prstGeom>
              <a:blipFill>
                <a:blip r:embed="rId3"/>
                <a:stretch>
                  <a:fillRect/>
                </a:stretch>
              </a:blipFill>
              <a:ln w="9525">
                <a:no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3776053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09600"/>
            <a:ext cx="8496300" cy="803275"/>
          </a:xfrm>
        </p:spPr>
        <p:txBody>
          <a:bodyPr>
            <a:normAutofit/>
          </a:bodyPr>
          <a:lstStyle/>
          <a:p>
            <a:pPr marL="358775" indent="-358775">
              <a:buClr>
                <a:srgbClr val="C00000"/>
              </a:buClr>
              <a:buFont typeface="Wingdings" panose="05000000000000000000" pitchFamily="2" charset="2"/>
              <a:buChar char="n"/>
              <a:defRPr/>
            </a:pPr>
            <a:r>
              <a:rPr lang="zh-CN" altLang="en-US" sz="2800" dirty="0">
                <a:latin typeface="Arial" charset="0"/>
                <a:ea typeface="宋体" pitchFamily="2" charset="-122"/>
              </a:rPr>
              <a:t>流水线协议</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346569" y="1351148"/>
            <a:ext cx="8450862" cy="1257567"/>
          </a:xfrm>
          <a:prstGeom prst="rect">
            <a:avLst/>
          </a:prstGeom>
          <a:noFill/>
          <a:ln w="9525">
            <a:noFill/>
            <a:miter lim="800000"/>
            <a:headEnd/>
            <a:tailEnd/>
          </a:ln>
        </p:spPr>
        <p:txBody>
          <a:bodyPr/>
          <a:lstStyle/>
          <a:p>
            <a:pPr marL="625475" lvl="1" indent="-266700" eaLnBrk="0" hangingPunct="0">
              <a:lnSpc>
                <a:spcPts val="32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流水线机制：在确认未返回之前允许发送多个分组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ts val="32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两个序号（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）是否够用？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ts val="32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发送端和接收端缓存是否增加？</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 name="组合 9">
            <a:extLst>
              <a:ext uri="{FF2B5EF4-FFF2-40B4-BE49-F238E27FC236}">
                <a16:creationId xmlns:a16="http://schemas.microsoft.com/office/drawing/2014/main" id="{DB4A00E4-F0B9-4D9B-9982-352525139CD6}"/>
              </a:ext>
            </a:extLst>
          </p:cNvPr>
          <p:cNvGrpSpPr/>
          <p:nvPr/>
        </p:nvGrpSpPr>
        <p:grpSpPr>
          <a:xfrm>
            <a:off x="922670" y="2720976"/>
            <a:ext cx="7298660" cy="2438910"/>
            <a:chOff x="810457" y="3668628"/>
            <a:chExt cx="7359185" cy="2532755"/>
          </a:xfrm>
        </p:grpSpPr>
        <p:pic>
          <p:nvPicPr>
            <p:cNvPr id="3" name="图片 2">
              <a:extLst>
                <a:ext uri="{FF2B5EF4-FFF2-40B4-BE49-F238E27FC236}">
                  <a16:creationId xmlns:a16="http://schemas.microsoft.com/office/drawing/2014/main" id="{690C66D6-D41F-413F-B2E5-78C5C57D4751}"/>
                </a:ext>
              </a:extLst>
            </p:cNvPr>
            <p:cNvPicPr>
              <a:picLocks noChangeAspect="1"/>
            </p:cNvPicPr>
            <p:nvPr/>
          </p:nvPicPr>
          <p:blipFill>
            <a:blip r:embed="rId3"/>
            <a:stretch>
              <a:fillRect/>
            </a:stretch>
          </p:blipFill>
          <p:spPr>
            <a:xfrm>
              <a:off x="810457" y="3668628"/>
              <a:ext cx="7359185" cy="2532755"/>
            </a:xfrm>
            <a:prstGeom prst="rect">
              <a:avLst/>
            </a:prstGeom>
          </p:spPr>
        </p:pic>
        <p:sp>
          <p:nvSpPr>
            <p:cNvPr id="4" name="文本框 3">
              <a:extLst>
                <a:ext uri="{FF2B5EF4-FFF2-40B4-BE49-F238E27FC236}">
                  <a16:creationId xmlns:a16="http://schemas.microsoft.com/office/drawing/2014/main" id="{07D32CE8-E0FD-4DE3-84BC-941014F0C4A6}"/>
                </a:ext>
              </a:extLst>
            </p:cNvPr>
            <p:cNvSpPr txBox="1"/>
            <p:nvPr/>
          </p:nvSpPr>
          <p:spPr>
            <a:xfrm>
              <a:off x="2012556" y="4213240"/>
              <a:ext cx="905650" cy="307777"/>
            </a:xfrm>
            <a:prstGeom prst="rect">
              <a:avLst/>
            </a:prstGeom>
            <a:noFill/>
          </p:spPr>
          <p:txBody>
            <a:bodyPr wrap="square" rtlCol="0">
              <a:spAutoFit/>
            </a:bodyPr>
            <a:lstStyle/>
            <a:p>
              <a:r>
                <a:rPr lang="zh-CN" altLang="en-US" sz="1400" b="1" dirty="0">
                  <a:solidFill>
                    <a:srgbClr val="02A5EE"/>
                  </a:solidFill>
                </a:rPr>
                <a:t>数据分组</a:t>
              </a:r>
            </a:p>
          </p:txBody>
        </p:sp>
        <p:sp>
          <p:nvSpPr>
            <p:cNvPr id="5" name="文本框 4">
              <a:extLst>
                <a:ext uri="{FF2B5EF4-FFF2-40B4-BE49-F238E27FC236}">
                  <a16:creationId xmlns:a16="http://schemas.microsoft.com/office/drawing/2014/main" id="{EE7F4241-234F-472B-8488-FD02CBE44491}"/>
                </a:ext>
              </a:extLst>
            </p:cNvPr>
            <p:cNvSpPr txBox="1"/>
            <p:nvPr/>
          </p:nvSpPr>
          <p:spPr>
            <a:xfrm>
              <a:off x="5608175" y="4213239"/>
              <a:ext cx="905650" cy="307777"/>
            </a:xfrm>
            <a:prstGeom prst="rect">
              <a:avLst/>
            </a:prstGeom>
            <a:noFill/>
          </p:spPr>
          <p:txBody>
            <a:bodyPr wrap="square" rtlCol="0">
              <a:spAutoFit/>
            </a:bodyPr>
            <a:lstStyle/>
            <a:p>
              <a:r>
                <a:rPr lang="zh-CN" altLang="en-US" sz="1400" b="1" dirty="0">
                  <a:solidFill>
                    <a:srgbClr val="02A5EE"/>
                  </a:solidFill>
                </a:rPr>
                <a:t>数据分组</a:t>
              </a:r>
            </a:p>
          </p:txBody>
        </p:sp>
      </p:grpSp>
      <p:sp>
        <p:nvSpPr>
          <p:cNvPr id="11" name="Rectangle 6">
            <a:extLst>
              <a:ext uri="{FF2B5EF4-FFF2-40B4-BE49-F238E27FC236}">
                <a16:creationId xmlns:a16="http://schemas.microsoft.com/office/drawing/2014/main" id="{37ACC7C0-7A5E-45BE-8FBB-27116D447724}"/>
              </a:ext>
            </a:extLst>
          </p:cNvPr>
          <p:cNvSpPr>
            <a:spLocks noChangeArrowheads="1"/>
          </p:cNvSpPr>
          <p:nvPr/>
        </p:nvSpPr>
        <p:spPr bwMode="auto">
          <a:xfrm>
            <a:off x="302339" y="5136271"/>
            <a:ext cx="8450862" cy="1290661"/>
          </a:xfrm>
          <a:prstGeom prst="rect">
            <a:avLst/>
          </a:prstGeom>
          <a:noFill/>
          <a:ln w="9525">
            <a:noFill/>
            <a:miter lim="800000"/>
            <a:headEnd/>
            <a:tailEnd/>
          </a:ln>
        </p:spPr>
        <p:txBody>
          <a:bodyPr/>
          <a:lstStyle/>
          <a:p>
            <a:pPr marL="625475" lvl="1" indent="-266700" eaLnBrk="0" hangingPunct="0">
              <a:lnSpc>
                <a:spcPts val="32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两种典型的流水线协议</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ts val="32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回退</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solidFill>
                  <a:srgbClr val="FF0000"/>
                </a:solidFill>
                <a:latin typeface="Arial" charset="0"/>
              </a:rPr>
              <a:t>Go-Back-N (GBN)</a:t>
            </a:r>
          </a:p>
          <a:p>
            <a:pPr marL="896938" lvl="2" indent="-179388" eaLnBrk="0" hangingPunct="0">
              <a:lnSpc>
                <a:spcPts val="3200"/>
              </a:lnSpc>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选择重传：</a:t>
            </a:r>
            <a:r>
              <a:rPr lang="en-US" altLang="zh-CN" sz="2000" i="1" dirty="0">
                <a:solidFill>
                  <a:srgbClr val="FF0000"/>
                </a:solidFill>
                <a:latin typeface="Arial" charset="0"/>
              </a:rPr>
              <a:t>Selective Repeat (SR)</a:t>
            </a:r>
          </a:p>
        </p:txBody>
      </p:sp>
    </p:spTree>
    <p:extLst>
      <p:ext uri="{BB962C8B-B14F-4D97-AF65-F5344CB8AC3E}">
        <p14:creationId xmlns:p14="http://schemas.microsoft.com/office/powerpoint/2010/main" val="2623157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69288" y="609600"/>
            <a:ext cx="8450862" cy="867223"/>
          </a:xfrm>
        </p:spPr>
        <p:txBody>
          <a:bodyPr>
            <a:normAutofit/>
          </a:bodyPr>
          <a:lstStyle/>
          <a:p>
            <a:pPr marL="358775" indent="-358775">
              <a:buClr>
                <a:srgbClr val="C00000"/>
              </a:buClr>
              <a:buFont typeface="Wingdings" panose="05000000000000000000" pitchFamily="2" charset="2"/>
              <a:buChar char="n"/>
              <a:defRP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回退</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solidFill>
                  <a:srgbClr val="FF0000"/>
                </a:solidFill>
                <a:latin typeface="Arial" charset="0"/>
              </a:rPr>
              <a:t>Go-Back-N (GBN)</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7" name="Rectangle 6">
            <a:extLst>
              <a:ext uri="{FF2B5EF4-FFF2-40B4-BE49-F238E27FC236}">
                <a16:creationId xmlns:a16="http://schemas.microsoft.com/office/drawing/2014/main" id="{B43D1F6A-1517-4EAF-8875-27DF88222326}"/>
              </a:ext>
            </a:extLst>
          </p:cNvPr>
          <p:cNvSpPr>
            <a:spLocks noChangeArrowheads="1"/>
          </p:cNvSpPr>
          <p:nvPr/>
        </p:nvSpPr>
        <p:spPr bwMode="auto">
          <a:xfrm>
            <a:off x="369288" y="1476824"/>
            <a:ext cx="8119804" cy="2798518"/>
          </a:xfrm>
          <a:prstGeom prst="rect">
            <a:avLst/>
          </a:prstGeom>
          <a:noFill/>
          <a:ln w="9525">
            <a:noFill/>
            <a:miter lim="800000"/>
            <a:headEnd/>
            <a:tailEnd/>
          </a:ln>
        </p:spPr>
        <p:txBody>
          <a:bodyPr/>
          <a:lstStyle/>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允许发送端发出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个未获得确认的分组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需要增加序号范围</a:t>
            </a:r>
            <a:endParaRPr lang="en-US" altLang="zh-CN" sz="2200" dirty="0">
              <a:latin typeface="Times New Roman" panose="02020603050405020304" pitchFamily="18" charset="0"/>
              <a:cs typeface="Times New Roman" panose="02020603050405020304" pitchFamily="18" charset="0"/>
            </a:endParaRPr>
          </a:p>
          <a:p>
            <a:pPr marL="896938" lvl="2" indent="-179388" eaLnBrk="0" hangingPunct="0">
              <a:lnSpc>
                <a:spcPct val="12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分组头部中增加</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位的序号，序号空间为</a:t>
            </a:r>
            <a:r>
              <a:rPr lang="en-US" altLang="zh-CN" sz="2000" dirty="0">
                <a:latin typeface="Times New Roman" panose="02020603050405020304" pitchFamily="18" charset="0"/>
                <a:cs typeface="Times New Roman" panose="02020603050405020304" pitchFamily="18" charset="0"/>
              </a:rPr>
              <a:t>[0, 2</a:t>
            </a:r>
            <a:r>
              <a:rPr lang="en-US" altLang="zh-CN" sz="2000" baseline="30000" dirty="0">
                <a:latin typeface="Times New Roman" panose="02020603050405020304" pitchFamily="18" charset="0"/>
                <a:cs typeface="Times New Roman" panose="02020603050405020304" pitchFamily="18" charset="0"/>
              </a:rPr>
              <a:t>k</a:t>
            </a:r>
            <a:r>
              <a:rPr lang="en-US" altLang="zh-CN" sz="2000" dirty="0">
                <a:latin typeface="Times New Roman" panose="02020603050405020304" pitchFamily="18" charset="0"/>
                <a:cs typeface="Times New Roman" panose="02020603050405020304" pitchFamily="18" charset="0"/>
              </a:rPr>
              <a:t>-1]</a:t>
            </a:r>
          </a:p>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采用累积确认，仅确认连续正确接收分组的最大序号</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2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可能接收到重复的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p>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发送端设置计时器，如果超时，则重传所有未确认分组</a:t>
            </a:r>
            <a:endParaRPr lang="en-US" altLang="zh-CN" sz="2200" dirty="0">
              <a:latin typeface="Times New Roman" panose="02020603050405020304" pitchFamily="18" charset="0"/>
              <a:cs typeface="Times New Roman" panose="02020603050405020304" pitchFamily="18" charset="0"/>
            </a:endParaRPr>
          </a:p>
        </p:txBody>
      </p:sp>
      <p:grpSp>
        <p:nvGrpSpPr>
          <p:cNvPr id="27" name="组合 26">
            <a:extLst>
              <a:ext uri="{FF2B5EF4-FFF2-40B4-BE49-F238E27FC236}">
                <a16:creationId xmlns:a16="http://schemas.microsoft.com/office/drawing/2014/main" id="{57009DF9-4749-40E4-84D3-049B9B55A94C}"/>
              </a:ext>
            </a:extLst>
          </p:cNvPr>
          <p:cNvGrpSpPr/>
          <p:nvPr/>
        </p:nvGrpSpPr>
        <p:grpSpPr>
          <a:xfrm>
            <a:off x="707367" y="4459218"/>
            <a:ext cx="7965315" cy="1789182"/>
            <a:chOff x="809397" y="3311379"/>
            <a:chExt cx="7965315" cy="1789182"/>
          </a:xfrm>
        </p:grpSpPr>
        <p:sp>
          <p:nvSpPr>
            <p:cNvPr id="17" name="文本框 16">
              <a:extLst>
                <a:ext uri="{FF2B5EF4-FFF2-40B4-BE49-F238E27FC236}">
                  <a16:creationId xmlns:a16="http://schemas.microsoft.com/office/drawing/2014/main" id="{D0652221-4FF7-4B0E-B9D7-5F4EC662399C}"/>
                </a:ext>
              </a:extLst>
            </p:cNvPr>
            <p:cNvSpPr txBox="1"/>
            <p:nvPr/>
          </p:nvSpPr>
          <p:spPr>
            <a:xfrm>
              <a:off x="7167364" y="3741958"/>
              <a:ext cx="1607348" cy="307777"/>
            </a:xfrm>
            <a:prstGeom prst="rect">
              <a:avLst/>
            </a:prstGeom>
            <a:noFill/>
          </p:spPr>
          <p:txBody>
            <a:bodyPr wrap="square" rtlCol="0">
              <a:spAutoFit/>
            </a:bodyPr>
            <a:lstStyle/>
            <a:p>
              <a:r>
                <a:rPr lang="zh-CN" altLang="en-US" sz="1400" dirty="0"/>
                <a:t>可用，还未发送</a:t>
              </a:r>
            </a:p>
          </p:txBody>
        </p:sp>
        <p:pic>
          <p:nvPicPr>
            <p:cNvPr id="20" name="图片 19">
              <a:extLst>
                <a:ext uri="{FF2B5EF4-FFF2-40B4-BE49-F238E27FC236}">
                  <a16:creationId xmlns:a16="http://schemas.microsoft.com/office/drawing/2014/main" id="{58A6144C-2B7E-43CC-BFE2-DD1EFFE2FBC6}"/>
                </a:ext>
              </a:extLst>
            </p:cNvPr>
            <p:cNvPicPr>
              <a:picLocks noChangeAspect="1"/>
            </p:cNvPicPr>
            <p:nvPr/>
          </p:nvPicPr>
          <p:blipFill>
            <a:blip r:embed="rId3"/>
            <a:stretch>
              <a:fillRect/>
            </a:stretch>
          </p:blipFill>
          <p:spPr>
            <a:xfrm>
              <a:off x="809397" y="3544374"/>
              <a:ext cx="6418301" cy="1441544"/>
            </a:xfrm>
            <a:prstGeom prst="rect">
              <a:avLst/>
            </a:prstGeom>
          </p:spPr>
        </p:pic>
        <p:sp>
          <p:nvSpPr>
            <p:cNvPr id="8" name="文本框 7">
              <a:extLst>
                <a:ext uri="{FF2B5EF4-FFF2-40B4-BE49-F238E27FC236}">
                  <a16:creationId xmlns:a16="http://schemas.microsoft.com/office/drawing/2014/main" id="{3A203DCA-79C2-4715-9C8F-B51B10D63A52}"/>
                </a:ext>
              </a:extLst>
            </p:cNvPr>
            <p:cNvSpPr txBox="1"/>
            <p:nvPr/>
          </p:nvSpPr>
          <p:spPr>
            <a:xfrm>
              <a:off x="5610332" y="3741958"/>
              <a:ext cx="1145195" cy="307777"/>
            </a:xfrm>
            <a:prstGeom prst="rect">
              <a:avLst/>
            </a:prstGeom>
            <a:noFill/>
          </p:spPr>
          <p:txBody>
            <a:bodyPr wrap="square" rtlCol="0">
              <a:spAutoFit/>
            </a:bodyPr>
            <a:lstStyle/>
            <a:p>
              <a:r>
                <a:rPr lang="zh-CN" altLang="en-US" sz="1400" dirty="0"/>
                <a:t>已经被确认</a:t>
              </a:r>
            </a:p>
          </p:txBody>
        </p:sp>
        <p:sp>
          <p:nvSpPr>
            <p:cNvPr id="9" name="文本框 8">
              <a:extLst>
                <a:ext uri="{FF2B5EF4-FFF2-40B4-BE49-F238E27FC236}">
                  <a16:creationId xmlns:a16="http://schemas.microsoft.com/office/drawing/2014/main" id="{2140AB27-42D7-4D5A-9021-EE1DC6F5D118}"/>
                </a:ext>
              </a:extLst>
            </p:cNvPr>
            <p:cNvSpPr txBox="1"/>
            <p:nvPr/>
          </p:nvSpPr>
          <p:spPr>
            <a:xfrm>
              <a:off x="5610332" y="4265146"/>
              <a:ext cx="1447078" cy="307777"/>
            </a:xfrm>
            <a:prstGeom prst="rect">
              <a:avLst/>
            </a:prstGeom>
            <a:noFill/>
          </p:spPr>
          <p:txBody>
            <a:bodyPr wrap="square" rtlCol="0">
              <a:spAutoFit/>
            </a:bodyPr>
            <a:lstStyle/>
            <a:p>
              <a:r>
                <a:rPr lang="zh-CN" altLang="en-US" sz="1400" dirty="0"/>
                <a:t>已发送，未确认</a:t>
              </a:r>
            </a:p>
          </p:txBody>
        </p:sp>
        <p:sp>
          <p:nvSpPr>
            <p:cNvPr id="15" name="文本框 14">
              <a:extLst>
                <a:ext uri="{FF2B5EF4-FFF2-40B4-BE49-F238E27FC236}">
                  <a16:creationId xmlns:a16="http://schemas.microsoft.com/office/drawing/2014/main" id="{D2D5C026-4D60-40CE-91D5-641525C49A42}"/>
                </a:ext>
              </a:extLst>
            </p:cNvPr>
            <p:cNvSpPr txBox="1"/>
            <p:nvPr/>
          </p:nvSpPr>
          <p:spPr>
            <a:xfrm>
              <a:off x="7167364" y="4247321"/>
              <a:ext cx="898202" cy="307777"/>
            </a:xfrm>
            <a:prstGeom prst="rect">
              <a:avLst/>
            </a:prstGeom>
            <a:noFill/>
          </p:spPr>
          <p:txBody>
            <a:bodyPr wrap="square" rtlCol="0">
              <a:spAutoFit/>
            </a:bodyPr>
            <a:lstStyle/>
            <a:p>
              <a:r>
                <a:rPr lang="zh-CN" altLang="en-US" sz="1400" dirty="0"/>
                <a:t>不可用</a:t>
              </a:r>
            </a:p>
          </p:txBody>
        </p:sp>
        <p:sp>
          <p:nvSpPr>
            <p:cNvPr id="21" name="文本框 20">
              <a:extLst>
                <a:ext uri="{FF2B5EF4-FFF2-40B4-BE49-F238E27FC236}">
                  <a16:creationId xmlns:a16="http://schemas.microsoft.com/office/drawing/2014/main" id="{3C2E7922-9419-4AED-96A0-B14508483468}"/>
                </a:ext>
              </a:extLst>
            </p:cNvPr>
            <p:cNvSpPr txBox="1"/>
            <p:nvPr/>
          </p:nvSpPr>
          <p:spPr>
            <a:xfrm>
              <a:off x="1321829" y="3311380"/>
              <a:ext cx="1101988" cy="584775"/>
            </a:xfrm>
            <a:prstGeom prst="rect">
              <a:avLst/>
            </a:prstGeom>
            <a:noFill/>
          </p:spPr>
          <p:txBody>
            <a:bodyPr wrap="square" rtlCol="0">
              <a:spAutoFit/>
            </a:bodyPr>
            <a:lstStyle/>
            <a:p>
              <a:pPr algn="ctr"/>
              <a:r>
                <a:rPr lang="zh-CN" altLang="en-US" sz="1600" dirty="0"/>
                <a:t>基序号</a:t>
              </a:r>
              <a:endParaRPr lang="en-US" altLang="zh-CN" sz="1600" dirty="0"/>
            </a:p>
            <a:p>
              <a:pPr algn="ctr"/>
              <a:r>
                <a:rPr lang="en-US" altLang="zh-CN" sz="1600" dirty="0"/>
                <a:t>base</a:t>
              </a:r>
              <a:endParaRPr lang="zh-CN" altLang="en-US" sz="1600" dirty="0"/>
            </a:p>
          </p:txBody>
        </p:sp>
        <p:sp>
          <p:nvSpPr>
            <p:cNvPr id="23" name="文本框 22">
              <a:extLst>
                <a:ext uri="{FF2B5EF4-FFF2-40B4-BE49-F238E27FC236}">
                  <a16:creationId xmlns:a16="http://schemas.microsoft.com/office/drawing/2014/main" id="{207217F0-102F-4903-8419-4FAAA38B769F}"/>
                </a:ext>
              </a:extLst>
            </p:cNvPr>
            <p:cNvSpPr txBox="1"/>
            <p:nvPr/>
          </p:nvSpPr>
          <p:spPr>
            <a:xfrm>
              <a:off x="2423817" y="3311379"/>
              <a:ext cx="1215554" cy="584775"/>
            </a:xfrm>
            <a:prstGeom prst="rect">
              <a:avLst/>
            </a:prstGeom>
            <a:noFill/>
          </p:spPr>
          <p:txBody>
            <a:bodyPr wrap="square" rtlCol="0">
              <a:spAutoFit/>
            </a:bodyPr>
            <a:lstStyle/>
            <a:p>
              <a:pPr algn="ctr"/>
              <a:r>
                <a:rPr lang="zh-CN" altLang="en-US" sz="1600" dirty="0"/>
                <a:t>下一个序号</a:t>
              </a:r>
              <a:endParaRPr lang="en-US" altLang="zh-CN" sz="1600" dirty="0"/>
            </a:p>
            <a:p>
              <a:pPr algn="ctr"/>
              <a:r>
                <a:rPr lang="en-US" altLang="zh-CN" sz="1600" dirty="0" err="1"/>
                <a:t>nextseqnum</a:t>
              </a:r>
              <a:endParaRPr lang="zh-CN" altLang="en-US" sz="1600" dirty="0"/>
            </a:p>
          </p:txBody>
        </p:sp>
        <p:sp>
          <p:nvSpPr>
            <p:cNvPr id="25" name="文本框 24">
              <a:extLst>
                <a:ext uri="{FF2B5EF4-FFF2-40B4-BE49-F238E27FC236}">
                  <a16:creationId xmlns:a16="http://schemas.microsoft.com/office/drawing/2014/main" id="{0B85B661-066E-44BF-8FF5-CEC54EB1379D}"/>
                </a:ext>
              </a:extLst>
            </p:cNvPr>
            <p:cNvSpPr txBox="1"/>
            <p:nvPr/>
          </p:nvSpPr>
          <p:spPr>
            <a:xfrm>
              <a:off x="2152559" y="4762007"/>
              <a:ext cx="1319317" cy="338554"/>
            </a:xfrm>
            <a:prstGeom prst="rect">
              <a:avLst/>
            </a:prstGeom>
            <a:noFill/>
          </p:spPr>
          <p:txBody>
            <a:bodyPr wrap="square" rtlCol="0">
              <a:spAutoFit/>
            </a:bodyPr>
            <a:lstStyle/>
            <a:p>
              <a:pPr algn="ctr"/>
              <a:r>
                <a:rPr lang="zh-CN" altLang="en-US" sz="1600" dirty="0"/>
                <a:t>窗口大小</a:t>
              </a:r>
              <a:r>
                <a:rPr lang="en-US" altLang="zh-CN" sz="1600" dirty="0"/>
                <a:t>N</a:t>
              </a:r>
              <a:endParaRPr lang="zh-CN" altLang="en-US" sz="1400" dirty="0"/>
            </a:p>
          </p:txBody>
        </p:sp>
      </p:grpSp>
      <p:sp>
        <p:nvSpPr>
          <p:cNvPr id="29" name="Text Box 10">
            <a:extLst>
              <a:ext uri="{FF2B5EF4-FFF2-40B4-BE49-F238E27FC236}">
                <a16:creationId xmlns:a16="http://schemas.microsoft.com/office/drawing/2014/main" id="{81C9B5C3-8622-4E3E-898F-037102657E47}"/>
              </a:ext>
            </a:extLst>
          </p:cNvPr>
          <p:cNvSpPr txBox="1">
            <a:spLocks noChangeArrowheads="1"/>
          </p:cNvSpPr>
          <p:nvPr/>
        </p:nvSpPr>
        <p:spPr bwMode="auto">
          <a:xfrm>
            <a:off x="6288858" y="801551"/>
            <a:ext cx="2645276" cy="430887"/>
          </a:xfrm>
          <a:prstGeom prst="rect">
            <a:avLst/>
          </a:prstGeom>
          <a:solidFill>
            <a:schemeClr val="accent2">
              <a:lumMod val="20000"/>
              <a:lumOff val="80000"/>
            </a:schemeClr>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设置窗口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的目的？</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38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23850" y="619163"/>
            <a:ext cx="8496300" cy="853228"/>
          </a:xfrm>
        </p:spPr>
        <p:txBody>
          <a:bodyPr>
            <a:normAutofit/>
          </a:bodyPr>
          <a:lstStyle/>
          <a:p>
            <a:pPr marL="358775" indent="-358775">
              <a:buClr>
                <a:srgbClr val="C00000"/>
              </a:buClr>
              <a:buFont typeface="Wingdings" panose="05000000000000000000" pitchFamily="2" charset="2"/>
              <a:buChar char="n"/>
              <a:defRP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GBN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发送端扩展</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FSM</a:t>
            </a:r>
            <a:r>
              <a:rPr lang="en-US" altLang="zh-CN" sz="2800" i="1" dirty="0">
                <a:solidFill>
                  <a:srgbClr val="FF0000"/>
                </a:solidFill>
                <a:latin typeface="Arial" charset="0"/>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grpSp>
        <p:nvGrpSpPr>
          <p:cNvPr id="19" name="Group 3">
            <a:extLst>
              <a:ext uri="{FF2B5EF4-FFF2-40B4-BE49-F238E27FC236}">
                <a16:creationId xmlns:a16="http://schemas.microsoft.com/office/drawing/2014/main" id="{E75919FF-66DE-426E-BDD3-710C4A7B4368}"/>
              </a:ext>
            </a:extLst>
          </p:cNvPr>
          <p:cNvGrpSpPr>
            <a:grpSpLocks/>
          </p:cNvGrpSpPr>
          <p:nvPr/>
        </p:nvGrpSpPr>
        <p:grpSpPr bwMode="auto">
          <a:xfrm>
            <a:off x="3423405" y="3727523"/>
            <a:ext cx="814388" cy="657225"/>
            <a:chOff x="2004" y="2515"/>
            <a:chExt cx="513" cy="414"/>
          </a:xfrm>
        </p:grpSpPr>
        <p:sp>
          <p:nvSpPr>
            <p:cNvPr id="22" name="Oval 4">
              <a:extLst>
                <a:ext uri="{FF2B5EF4-FFF2-40B4-BE49-F238E27FC236}">
                  <a16:creationId xmlns:a16="http://schemas.microsoft.com/office/drawing/2014/main" id="{D597CB30-1F3C-4409-AE80-6A1E498310AE}"/>
                </a:ext>
              </a:extLst>
            </p:cNvPr>
            <p:cNvSpPr>
              <a:spLocks noChangeArrowheads="1"/>
            </p:cNvSpPr>
            <p:nvPr/>
          </p:nvSpPr>
          <p:spPr bwMode="auto">
            <a:xfrm>
              <a:off x="2004" y="2515"/>
              <a:ext cx="420" cy="414"/>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4" name="Text Box 5">
              <a:extLst>
                <a:ext uri="{FF2B5EF4-FFF2-40B4-BE49-F238E27FC236}">
                  <a16:creationId xmlns:a16="http://schemas.microsoft.com/office/drawing/2014/main" id="{E586D251-2A5D-46CA-BEA2-65D72EFAA938}"/>
                </a:ext>
              </a:extLst>
            </p:cNvPr>
            <p:cNvSpPr txBox="1">
              <a:spLocks noChangeArrowheads="1"/>
            </p:cNvSpPr>
            <p:nvPr/>
          </p:nvSpPr>
          <p:spPr bwMode="auto">
            <a:xfrm>
              <a:off x="2013" y="2606"/>
              <a:ext cx="50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zh-CN" altLang="en-US" b="1" dirty="0">
                  <a:solidFill>
                    <a:srgbClr val="FF0000"/>
                  </a:solidFill>
                  <a:latin typeface="宋体" panose="02010600030101010101" pitchFamily="2" charset="-122"/>
                  <a:ea typeface="宋体" panose="02010600030101010101" pitchFamily="2" charset="-122"/>
                </a:rPr>
                <a:t>等待</a:t>
              </a:r>
              <a:endParaRPr lang="en-US" altLang="zh-CN" b="1" dirty="0">
                <a:solidFill>
                  <a:srgbClr val="FF0000"/>
                </a:solidFill>
                <a:latin typeface="宋体" panose="02010600030101010101" pitchFamily="2" charset="-122"/>
                <a:ea typeface="宋体" panose="02010600030101010101" pitchFamily="2" charset="-122"/>
              </a:endParaRPr>
            </a:p>
          </p:txBody>
        </p:sp>
      </p:grpSp>
      <p:sp>
        <p:nvSpPr>
          <p:cNvPr id="26" name="Line 6">
            <a:extLst>
              <a:ext uri="{FF2B5EF4-FFF2-40B4-BE49-F238E27FC236}">
                <a16:creationId xmlns:a16="http://schemas.microsoft.com/office/drawing/2014/main" id="{F54981B1-D1B8-46BB-86AA-9C5D428C5036}"/>
              </a:ext>
            </a:extLst>
          </p:cNvPr>
          <p:cNvSpPr>
            <a:spLocks noChangeShapeType="1"/>
          </p:cNvSpPr>
          <p:nvPr/>
        </p:nvSpPr>
        <p:spPr bwMode="auto">
          <a:xfrm>
            <a:off x="1813678" y="2814711"/>
            <a:ext cx="1624013" cy="1069975"/>
          </a:xfrm>
          <a:prstGeom prst="line">
            <a:avLst/>
          </a:prstGeom>
          <a:noFill/>
          <a:ln w="2857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7">
            <a:extLst>
              <a:ext uri="{FF2B5EF4-FFF2-40B4-BE49-F238E27FC236}">
                <a16:creationId xmlns:a16="http://schemas.microsoft.com/office/drawing/2014/main" id="{C869E99B-416F-42E8-ABF4-FAD0C3742394}"/>
              </a:ext>
            </a:extLst>
          </p:cNvPr>
          <p:cNvSpPr txBox="1">
            <a:spLocks noChangeArrowheads="1"/>
          </p:cNvSpPr>
          <p:nvPr/>
        </p:nvSpPr>
        <p:spPr bwMode="auto">
          <a:xfrm>
            <a:off x="4447140" y="3725944"/>
            <a:ext cx="2833688" cy="1164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start_timer</a:t>
            </a:r>
            <a:endParaRPr lang="en-US" altLang="zh-CN" sz="1400" dirty="0">
              <a:latin typeface="Arial" panose="020B0604020202020204" pitchFamily="34" charset="0"/>
            </a:endParaRP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[base])</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[base+1])</a:t>
            </a:r>
          </a:p>
          <a:p>
            <a:pPr algn="l"/>
            <a:r>
              <a:rPr lang="en-US" altLang="zh-CN" sz="1400" dirty="0">
                <a:latin typeface="Arial" panose="020B0604020202020204" pitchFamily="34" charset="0"/>
              </a:rPr>
              <a:t>…</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[nextseqnum-1])</a:t>
            </a:r>
          </a:p>
          <a:p>
            <a:endParaRPr lang="en-US" altLang="zh-CN" sz="1400" dirty="0">
              <a:latin typeface="Times New Roman" panose="02020603050405020304" pitchFamily="18" charset="0"/>
            </a:endParaRPr>
          </a:p>
        </p:txBody>
      </p:sp>
      <p:sp>
        <p:nvSpPr>
          <p:cNvPr id="30" name="Text Box 8">
            <a:extLst>
              <a:ext uri="{FF2B5EF4-FFF2-40B4-BE49-F238E27FC236}">
                <a16:creationId xmlns:a16="http://schemas.microsoft.com/office/drawing/2014/main" id="{D00DF14F-7C0B-4437-8AB7-305A0F717B0D}"/>
              </a:ext>
            </a:extLst>
          </p:cNvPr>
          <p:cNvSpPr txBox="1">
            <a:spLocks noChangeArrowheads="1"/>
          </p:cNvSpPr>
          <p:nvPr/>
        </p:nvSpPr>
        <p:spPr bwMode="auto">
          <a:xfrm>
            <a:off x="4469365" y="3490994"/>
            <a:ext cx="11001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timeout</a:t>
            </a:r>
            <a:endParaRPr lang="en-US" altLang="zh-CN" sz="1400">
              <a:latin typeface="Times New Roman" panose="02020603050405020304" pitchFamily="18" charset="0"/>
            </a:endParaRPr>
          </a:p>
          <a:p>
            <a:endParaRPr lang="en-US" altLang="zh-CN" sz="1400">
              <a:latin typeface="Times New Roman" panose="02020603050405020304" pitchFamily="18" charset="0"/>
            </a:endParaRPr>
          </a:p>
        </p:txBody>
      </p:sp>
      <p:sp>
        <p:nvSpPr>
          <p:cNvPr id="31" name="Line 9">
            <a:extLst>
              <a:ext uri="{FF2B5EF4-FFF2-40B4-BE49-F238E27FC236}">
                <a16:creationId xmlns:a16="http://schemas.microsoft.com/office/drawing/2014/main" id="{2DD7A28C-B6B0-4362-9F59-301A55E146CF}"/>
              </a:ext>
            </a:extLst>
          </p:cNvPr>
          <p:cNvSpPr>
            <a:spLocks noChangeShapeType="1"/>
          </p:cNvSpPr>
          <p:nvPr/>
        </p:nvSpPr>
        <p:spPr bwMode="auto">
          <a:xfrm>
            <a:off x="4553502" y="3767219"/>
            <a:ext cx="1619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Freeform 10">
            <a:extLst>
              <a:ext uri="{FF2B5EF4-FFF2-40B4-BE49-F238E27FC236}">
                <a16:creationId xmlns:a16="http://schemas.microsoft.com/office/drawing/2014/main" id="{4C0483DE-7138-492F-9261-3B7D1419C10D}"/>
              </a:ext>
            </a:extLst>
          </p:cNvPr>
          <p:cNvSpPr>
            <a:spLocks/>
          </p:cNvSpPr>
          <p:nvPr/>
        </p:nvSpPr>
        <p:spPr bwMode="auto">
          <a:xfrm>
            <a:off x="4145716" y="3483048"/>
            <a:ext cx="393700" cy="1152525"/>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Text Box 11">
            <a:extLst>
              <a:ext uri="{FF2B5EF4-FFF2-40B4-BE49-F238E27FC236}">
                <a16:creationId xmlns:a16="http://schemas.microsoft.com/office/drawing/2014/main" id="{CFB34E11-6732-489C-B3D5-15C3E5BB4FB0}"/>
              </a:ext>
            </a:extLst>
          </p:cNvPr>
          <p:cNvSpPr txBox="1">
            <a:spLocks noChangeArrowheads="1"/>
          </p:cNvSpPr>
          <p:nvPr/>
        </p:nvSpPr>
        <p:spPr bwMode="auto">
          <a:xfrm>
            <a:off x="2976465" y="1308770"/>
            <a:ext cx="23336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rdt_send</a:t>
            </a:r>
            <a:r>
              <a:rPr lang="en-US" altLang="zh-CN" sz="1400" dirty="0">
                <a:latin typeface="Arial" panose="020B0604020202020204" pitchFamily="34" charset="0"/>
              </a:rPr>
              <a:t>(data)</a:t>
            </a:r>
            <a:r>
              <a:rPr lang="en-US" altLang="zh-CN" sz="1000" dirty="0">
                <a:latin typeface="Arial" panose="020B0604020202020204" pitchFamily="34" charset="0"/>
              </a:rPr>
              <a:t> </a:t>
            </a:r>
            <a:endParaRPr lang="en-US" altLang="zh-CN" sz="2400" dirty="0">
              <a:latin typeface="Times New Roman" panose="02020603050405020304" pitchFamily="18" charset="0"/>
            </a:endParaRPr>
          </a:p>
        </p:txBody>
      </p:sp>
      <p:sp>
        <p:nvSpPr>
          <p:cNvPr id="34" name="Line 12">
            <a:extLst>
              <a:ext uri="{FF2B5EF4-FFF2-40B4-BE49-F238E27FC236}">
                <a16:creationId xmlns:a16="http://schemas.microsoft.com/office/drawing/2014/main" id="{D52252A2-4204-4170-B014-B540E1D916E9}"/>
              </a:ext>
            </a:extLst>
          </p:cNvPr>
          <p:cNvSpPr>
            <a:spLocks noChangeShapeType="1"/>
          </p:cNvSpPr>
          <p:nvPr/>
        </p:nvSpPr>
        <p:spPr bwMode="auto">
          <a:xfrm>
            <a:off x="3061854" y="1631364"/>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Text Box 13">
            <a:extLst>
              <a:ext uri="{FF2B5EF4-FFF2-40B4-BE49-F238E27FC236}">
                <a16:creationId xmlns:a16="http://schemas.microsoft.com/office/drawing/2014/main" id="{F5121ABB-BB15-4BF4-BC6E-DF965226B334}"/>
              </a:ext>
            </a:extLst>
          </p:cNvPr>
          <p:cNvSpPr txBox="1">
            <a:spLocks noChangeArrowheads="1"/>
          </p:cNvSpPr>
          <p:nvPr/>
        </p:nvSpPr>
        <p:spPr bwMode="auto">
          <a:xfrm>
            <a:off x="2953905" y="1610729"/>
            <a:ext cx="5077702" cy="1845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if (</a:t>
            </a:r>
            <a:r>
              <a:rPr lang="en-US" altLang="zh-CN" sz="1400" dirty="0" err="1">
                <a:latin typeface="Arial" panose="020B0604020202020204" pitchFamily="34" charset="0"/>
              </a:rPr>
              <a:t>nextseqnum</a:t>
            </a:r>
            <a:r>
              <a:rPr lang="en-US" altLang="zh-CN" sz="1400" dirty="0">
                <a:latin typeface="Arial" panose="020B0604020202020204" pitchFamily="34" charset="0"/>
              </a:rPr>
              <a:t> &lt; </a:t>
            </a:r>
            <a:r>
              <a:rPr lang="en-US" altLang="zh-CN" sz="1400" dirty="0" err="1">
                <a:latin typeface="Arial" panose="020B0604020202020204" pitchFamily="34" charset="0"/>
              </a:rPr>
              <a:t>base+N</a:t>
            </a:r>
            <a:r>
              <a:rPr lang="en-US" altLang="zh-CN" sz="1400" dirty="0">
                <a:latin typeface="Arial" panose="020B0604020202020204" pitchFamily="34" charset="0"/>
              </a:rPr>
              <a:t>) {</a:t>
            </a:r>
          </a:p>
          <a:p>
            <a:pPr algn="l"/>
            <a:r>
              <a:rPr lang="en-US" altLang="zh-CN" sz="1400" dirty="0">
                <a:latin typeface="Arial" panose="020B0604020202020204" pitchFamily="34" charset="0"/>
              </a:rPr>
              <a:t>    </a:t>
            </a:r>
            <a:r>
              <a:rPr lang="en-US" altLang="zh-CN" sz="1400" dirty="0" err="1">
                <a:latin typeface="Arial" panose="020B0604020202020204" pitchFamily="34" charset="0"/>
              </a:rPr>
              <a:t>sndpkt</a:t>
            </a:r>
            <a:r>
              <a:rPr lang="en-US" altLang="zh-CN" sz="1400" dirty="0">
                <a:latin typeface="Arial" panose="020B0604020202020204" pitchFamily="34" charset="0"/>
              </a:rPr>
              <a:t>[</a:t>
            </a:r>
            <a:r>
              <a:rPr lang="en-US" altLang="zh-CN" sz="1400" dirty="0" err="1">
                <a:latin typeface="Arial" panose="020B0604020202020204" pitchFamily="34" charset="0"/>
              </a:rPr>
              <a:t>nextseqnum</a:t>
            </a:r>
            <a:r>
              <a:rPr lang="en-US" altLang="zh-CN" sz="1400" dirty="0">
                <a:latin typeface="Arial" panose="020B0604020202020204" pitchFamily="34" charset="0"/>
              </a:rPr>
              <a:t>] = </a:t>
            </a:r>
            <a:r>
              <a:rPr lang="en-US" altLang="zh-CN" sz="1400" dirty="0" err="1">
                <a:latin typeface="Arial" panose="020B0604020202020204" pitchFamily="34" charset="0"/>
              </a:rPr>
              <a:t>make_pkt</a:t>
            </a:r>
            <a:r>
              <a:rPr lang="en-US" altLang="zh-CN" sz="1400" dirty="0">
                <a:latin typeface="Arial" panose="020B0604020202020204" pitchFamily="34" charset="0"/>
              </a:rPr>
              <a:t>(</a:t>
            </a:r>
            <a:r>
              <a:rPr lang="en-US" altLang="zh-CN" sz="1400" dirty="0" err="1">
                <a:latin typeface="Arial" panose="020B0604020202020204" pitchFamily="34" charset="0"/>
              </a:rPr>
              <a:t>nextseqnum,data,chksum</a:t>
            </a:r>
            <a:r>
              <a:rPr lang="en-US" altLang="zh-CN" sz="1400" dirty="0">
                <a:latin typeface="Arial" panose="020B0604020202020204" pitchFamily="34" charset="0"/>
              </a:rPr>
              <a:t>)</a:t>
            </a:r>
          </a:p>
          <a:p>
            <a:pPr algn="l"/>
            <a:r>
              <a:rPr lang="en-US" altLang="zh-CN" sz="1400" dirty="0">
                <a:latin typeface="Arial" panose="020B0604020202020204" pitchFamily="34" charset="0"/>
              </a:rPr>
              <a:t>    </a:t>
            </a:r>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r>
              <a:rPr lang="en-US" altLang="zh-CN" sz="1400" dirty="0" err="1">
                <a:latin typeface="Arial" panose="020B0604020202020204" pitchFamily="34" charset="0"/>
              </a:rPr>
              <a:t>nextseqnum</a:t>
            </a:r>
            <a:r>
              <a:rPr lang="en-US" altLang="zh-CN" sz="1400" dirty="0">
                <a:latin typeface="Arial" panose="020B0604020202020204" pitchFamily="34" charset="0"/>
              </a:rPr>
              <a:t>])</a:t>
            </a:r>
          </a:p>
          <a:p>
            <a:pPr algn="l"/>
            <a:r>
              <a:rPr lang="en-US" altLang="zh-CN" sz="1400" dirty="0">
                <a:latin typeface="Arial" panose="020B0604020202020204" pitchFamily="34" charset="0"/>
              </a:rPr>
              <a:t>    if (base == </a:t>
            </a:r>
            <a:r>
              <a:rPr lang="en-US" altLang="zh-CN" sz="1400" dirty="0" err="1">
                <a:latin typeface="Arial" panose="020B0604020202020204" pitchFamily="34" charset="0"/>
              </a:rPr>
              <a:t>nextseqnum</a:t>
            </a:r>
            <a:r>
              <a:rPr lang="en-US" altLang="zh-CN" sz="1400" dirty="0">
                <a:latin typeface="Arial" panose="020B0604020202020204" pitchFamily="34" charset="0"/>
              </a:rPr>
              <a:t>)</a:t>
            </a:r>
          </a:p>
          <a:p>
            <a:pPr algn="l"/>
            <a:r>
              <a:rPr lang="en-US" altLang="zh-CN" sz="1400" dirty="0">
                <a:latin typeface="Arial" panose="020B0604020202020204" pitchFamily="34" charset="0"/>
              </a:rPr>
              <a:t>       </a:t>
            </a:r>
            <a:r>
              <a:rPr lang="en-US" altLang="zh-CN" sz="1400" dirty="0" err="1">
                <a:latin typeface="Arial" panose="020B0604020202020204" pitchFamily="34" charset="0"/>
              </a:rPr>
              <a:t>start_timer</a:t>
            </a:r>
            <a:endParaRPr lang="en-US" altLang="zh-CN" sz="1400" dirty="0">
              <a:latin typeface="Arial" panose="020B0604020202020204" pitchFamily="34" charset="0"/>
            </a:endParaRPr>
          </a:p>
          <a:p>
            <a:pPr algn="l"/>
            <a:r>
              <a:rPr lang="en-US" altLang="zh-CN" sz="1400" dirty="0">
                <a:latin typeface="Arial" panose="020B0604020202020204" pitchFamily="34" charset="0"/>
              </a:rPr>
              <a:t>    </a:t>
            </a:r>
            <a:r>
              <a:rPr lang="en-US" altLang="zh-CN" sz="1400" dirty="0" err="1">
                <a:latin typeface="Arial" panose="020B0604020202020204" pitchFamily="34" charset="0"/>
              </a:rPr>
              <a:t>nextseqnum</a:t>
            </a:r>
            <a:r>
              <a:rPr lang="en-US" altLang="zh-CN" sz="1400" dirty="0">
                <a:latin typeface="Arial" panose="020B0604020202020204" pitchFamily="34" charset="0"/>
              </a:rPr>
              <a:t>++  }</a:t>
            </a:r>
          </a:p>
          <a:p>
            <a:pPr algn="l"/>
            <a:r>
              <a:rPr lang="en-US" altLang="zh-CN" sz="1400" dirty="0">
                <a:latin typeface="Arial" panose="020B0604020202020204" pitchFamily="34" charset="0"/>
              </a:rPr>
              <a:t>else</a:t>
            </a:r>
          </a:p>
          <a:p>
            <a:pPr algn="l"/>
            <a:r>
              <a:rPr lang="en-US" altLang="zh-CN" sz="1400" dirty="0">
                <a:latin typeface="Arial" panose="020B0604020202020204" pitchFamily="34" charset="0"/>
              </a:rPr>
              <a:t>    </a:t>
            </a:r>
            <a:r>
              <a:rPr lang="en-US" altLang="zh-CN" sz="1400" dirty="0" err="1">
                <a:latin typeface="Arial" panose="020B0604020202020204" pitchFamily="34" charset="0"/>
              </a:rPr>
              <a:t>refuse_data</a:t>
            </a:r>
            <a:r>
              <a:rPr lang="en-US" altLang="zh-CN" sz="1400" dirty="0">
                <a:latin typeface="Arial" panose="020B0604020202020204" pitchFamily="34" charset="0"/>
              </a:rPr>
              <a:t>(data)</a:t>
            </a:r>
            <a:endParaRPr lang="en-US" altLang="zh-CN" sz="1400" dirty="0">
              <a:latin typeface="Times New Roman" panose="02020603050405020304" pitchFamily="18" charset="0"/>
            </a:endParaRPr>
          </a:p>
        </p:txBody>
      </p:sp>
      <p:sp>
        <p:nvSpPr>
          <p:cNvPr id="36" name="Freeform 14">
            <a:extLst>
              <a:ext uri="{FF2B5EF4-FFF2-40B4-BE49-F238E27FC236}">
                <a16:creationId xmlns:a16="http://schemas.microsoft.com/office/drawing/2014/main" id="{32F2DFFD-B66D-4CBD-9939-2481712B67CC}"/>
              </a:ext>
            </a:extLst>
          </p:cNvPr>
          <p:cNvSpPr>
            <a:spLocks/>
          </p:cNvSpPr>
          <p:nvPr/>
        </p:nvSpPr>
        <p:spPr bwMode="auto">
          <a:xfrm rot="5142103" flipH="1">
            <a:off x="3572629" y="2917898"/>
            <a:ext cx="393700" cy="1152525"/>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Text Box 15">
            <a:extLst>
              <a:ext uri="{FF2B5EF4-FFF2-40B4-BE49-F238E27FC236}">
                <a16:creationId xmlns:a16="http://schemas.microsoft.com/office/drawing/2014/main" id="{773D32AE-4E77-4C92-81CA-C060D5F2E2C6}"/>
              </a:ext>
            </a:extLst>
          </p:cNvPr>
          <p:cNvSpPr txBox="1">
            <a:spLocks noChangeArrowheads="1"/>
          </p:cNvSpPr>
          <p:nvPr/>
        </p:nvSpPr>
        <p:spPr bwMode="auto">
          <a:xfrm>
            <a:off x="3001464" y="5394941"/>
            <a:ext cx="2568038" cy="118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base = </a:t>
            </a:r>
            <a:r>
              <a:rPr lang="en-US" altLang="zh-CN" sz="1400" dirty="0" err="1">
                <a:latin typeface="Arial" panose="020B0604020202020204" pitchFamily="34" charset="0"/>
              </a:rPr>
              <a:t>getacknum</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)+1</a:t>
            </a:r>
          </a:p>
          <a:p>
            <a:pPr algn="l"/>
            <a:r>
              <a:rPr lang="en-US" altLang="zh-CN" sz="1400" dirty="0">
                <a:latin typeface="Arial" panose="020B0604020202020204" pitchFamily="34" charset="0"/>
              </a:rPr>
              <a:t>If (base == </a:t>
            </a:r>
            <a:r>
              <a:rPr lang="en-US" altLang="zh-CN" sz="1400" dirty="0" err="1">
                <a:latin typeface="Arial" panose="020B0604020202020204" pitchFamily="34" charset="0"/>
              </a:rPr>
              <a:t>nextseqnum</a:t>
            </a:r>
            <a:r>
              <a:rPr lang="en-US" altLang="zh-CN" sz="1400" dirty="0">
                <a:latin typeface="Arial" panose="020B0604020202020204" pitchFamily="34" charset="0"/>
              </a:rPr>
              <a:t>)</a:t>
            </a:r>
          </a:p>
          <a:p>
            <a:pPr algn="l"/>
            <a:r>
              <a:rPr lang="en-US" altLang="zh-CN" sz="1400" dirty="0">
                <a:latin typeface="Arial" panose="020B0604020202020204" pitchFamily="34" charset="0"/>
              </a:rPr>
              <a:t>    </a:t>
            </a:r>
            <a:r>
              <a:rPr lang="en-US" altLang="zh-CN" sz="1400" dirty="0" err="1">
                <a:latin typeface="Arial" panose="020B0604020202020204" pitchFamily="34" charset="0"/>
              </a:rPr>
              <a:t>stop_timer</a:t>
            </a:r>
            <a:endParaRPr lang="en-US" altLang="zh-CN" sz="1400" dirty="0">
              <a:latin typeface="Arial" panose="020B0604020202020204" pitchFamily="34" charset="0"/>
            </a:endParaRPr>
          </a:p>
          <a:p>
            <a:pPr algn="l"/>
            <a:r>
              <a:rPr lang="en-US" altLang="zh-CN" sz="1400" dirty="0">
                <a:latin typeface="Arial" panose="020B0604020202020204" pitchFamily="34" charset="0"/>
              </a:rPr>
              <a:t>else</a:t>
            </a:r>
          </a:p>
          <a:p>
            <a:pPr algn="l"/>
            <a:r>
              <a:rPr lang="en-US" altLang="zh-CN" sz="1400" dirty="0">
                <a:latin typeface="Arial" panose="020B0604020202020204" pitchFamily="34" charset="0"/>
              </a:rPr>
              <a:t>    </a:t>
            </a:r>
            <a:r>
              <a:rPr lang="en-US" altLang="zh-CN" sz="1400" dirty="0" err="1">
                <a:latin typeface="Arial" panose="020B0604020202020204" pitchFamily="34" charset="0"/>
              </a:rPr>
              <a:t>start_timer</a:t>
            </a:r>
            <a:endParaRPr lang="en-US" altLang="zh-CN" sz="1400" dirty="0">
              <a:latin typeface="Times New Roman" panose="02020603050405020304" pitchFamily="18" charset="0"/>
            </a:endParaRPr>
          </a:p>
        </p:txBody>
      </p:sp>
      <p:sp>
        <p:nvSpPr>
          <p:cNvPr id="38" name="Text Box 16">
            <a:extLst>
              <a:ext uri="{FF2B5EF4-FFF2-40B4-BE49-F238E27FC236}">
                <a16:creationId xmlns:a16="http://schemas.microsoft.com/office/drawing/2014/main" id="{D89FF5C5-D269-48BD-9A4B-BA8360739739}"/>
              </a:ext>
            </a:extLst>
          </p:cNvPr>
          <p:cNvSpPr txBox="1">
            <a:spLocks noChangeArrowheads="1"/>
          </p:cNvSpPr>
          <p:nvPr/>
        </p:nvSpPr>
        <p:spPr bwMode="auto">
          <a:xfrm>
            <a:off x="3014163" y="4894878"/>
            <a:ext cx="28336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rdt_rcv</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&amp;&amp; </a:t>
            </a:r>
          </a:p>
          <a:p>
            <a:pPr algn="l"/>
            <a:r>
              <a:rPr lang="en-US" altLang="zh-CN" sz="1400" dirty="0">
                <a:latin typeface="Arial" panose="020B0604020202020204" pitchFamily="34" charset="0"/>
              </a:rPr>
              <a:t>   </a:t>
            </a:r>
            <a:r>
              <a:rPr lang="en-US" altLang="zh-CN" sz="1400" dirty="0" err="1">
                <a:latin typeface="Arial" panose="020B0604020202020204" pitchFamily="34" charset="0"/>
              </a:rPr>
              <a:t>notcorrupt</a:t>
            </a:r>
            <a:r>
              <a:rPr lang="en-US" altLang="zh-CN" sz="1400" dirty="0">
                <a:latin typeface="Arial" panose="020B0604020202020204" pitchFamily="34" charset="0"/>
              </a:rPr>
              <a:t>(</a:t>
            </a:r>
            <a:r>
              <a:rPr lang="en-US" altLang="zh-CN" sz="1400" dirty="0" err="1">
                <a:latin typeface="Arial" panose="020B0604020202020204" pitchFamily="34" charset="0"/>
              </a:rPr>
              <a:t>rcvpkt</a:t>
            </a:r>
            <a:r>
              <a:rPr lang="en-US" altLang="zh-CN" sz="1400" dirty="0">
                <a:latin typeface="Arial" panose="020B0604020202020204" pitchFamily="34" charset="0"/>
              </a:rPr>
              <a:t>) </a:t>
            </a:r>
          </a:p>
          <a:p>
            <a:endParaRPr lang="en-US" altLang="zh-CN" sz="1400" dirty="0">
              <a:latin typeface="Times New Roman" panose="02020603050405020304" pitchFamily="18" charset="0"/>
            </a:endParaRPr>
          </a:p>
        </p:txBody>
      </p:sp>
      <p:sp>
        <p:nvSpPr>
          <p:cNvPr id="39" name="Line 17">
            <a:extLst>
              <a:ext uri="{FF2B5EF4-FFF2-40B4-BE49-F238E27FC236}">
                <a16:creationId xmlns:a16="http://schemas.microsoft.com/office/drawing/2014/main" id="{BCE73588-F3BE-4FF0-B306-4403F9ED2E23}"/>
              </a:ext>
            </a:extLst>
          </p:cNvPr>
          <p:cNvSpPr>
            <a:spLocks noChangeShapeType="1"/>
          </p:cNvSpPr>
          <p:nvPr/>
        </p:nvSpPr>
        <p:spPr bwMode="auto">
          <a:xfrm>
            <a:off x="3106238" y="5418753"/>
            <a:ext cx="1619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Freeform 18">
            <a:extLst>
              <a:ext uri="{FF2B5EF4-FFF2-40B4-BE49-F238E27FC236}">
                <a16:creationId xmlns:a16="http://schemas.microsoft.com/office/drawing/2014/main" id="{2CE4C507-238B-4CB2-AD81-005D49EB6BF1}"/>
              </a:ext>
            </a:extLst>
          </p:cNvPr>
          <p:cNvSpPr>
            <a:spLocks/>
          </p:cNvSpPr>
          <p:nvPr/>
        </p:nvSpPr>
        <p:spPr bwMode="auto">
          <a:xfrm>
            <a:off x="3290053" y="4430786"/>
            <a:ext cx="1054100" cy="674687"/>
          </a:xfrm>
          <a:custGeom>
            <a:avLst/>
            <a:gdLst>
              <a:gd name="T0" fmla="*/ 2147483647 w 664"/>
              <a:gd name="T1" fmla="*/ 2147483647 h 425"/>
              <a:gd name="T2" fmla="*/ 2147483647 w 664"/>
              <a:gd name="T3" fmla="*/ 0 h 425"/>
              <a:gd name="T4" fmla="*/ 0 60000 65536"/>
              <a:gd name="T5" fmla="*/ 0 60000 65536"/>
            </a:gdLst>
            <a:ahLst/>
            <a:cxnLst>
              <a:cxn ang="T4">
                <a:pos x="T0" y="T1"/>
              </a:cxn>
              <a:cxn ang="T5">
                <a:pos x="T2" y="T3"/>
              </a:cxn>
            </a:cxnLst>
            <a:rect l="0" t="0" r="r" b="b"/>
            <a:pathLst>
              <a:path w="664" h="425">
                <a:moveTo>
                  <a:pt x="241" y="20"/>
                </a:moveTo>
                <a:cubicBezTo>
                  <a:pt x="0" y="393"/>
                  <a:pt x="664" y="425"/>
                  <a:pt x="388"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Line 19">
            <a:extLst>
              <a:ext uri="{FF2B5EF4-FFF2-40B4-BE49-F238E27FC236}">
                <a16:creationId xmlns:a16="http://schemas.microsoft.com/office/drawing/2014/main" id="{B5E4182B-67AB-4AB7-B66A-EDA695DF62D0}"/>
              </a:ext>
            </a:extLst>
          </p:cNvPr>
          <p:cNvSpPr>
            <a:spLocks noChangeShapeType="1"/>
          </p:cNvSpPr>
          <p:nvPr/>
        </p:nvSpPr>
        <p:spPr bwMode="auto">
          <a:xfrm>
            <a:off x="1467171" y="3254456"/>
            <a:ext cx="81859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20">
            <a:extLst>
              <a:ext uri="{FF2B5EF4-FFF2-40B4-BE49-F238E27FC236}">
                <a16:creationId xmlns:a16="http://schemas.microsoft.com/office/drawing/2014/main" id="{ABF6DA54-12B9-4CBF-941D-2C28BE87F35A}"/>
              </a:ext>
            </a:extLst>
          </p:cNvPr>
          <p:cNvSpPr txBox="1">
            <a:spLocks noChangeArrowheads="1"/>
          </p:cNvSpPr>
          <p:nvPr/>
        </p:nvSpPr>
        <p:spPr bwMode="auto">
          <a:xfrm>
            <a:off x="1340171" y="3224294"/>
            <a:ext cx="151424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base=1</a:t>
            </a:r>
          </a:p>
          <a:p>
            <a:pPr algn="l"/>
            <a:r>
              <a:rPr lang="en-US" altLang="zh-CN" sz="1400">
                <a:latin typeface="Arial" panose="020B0604020202020204" pitchFamily="34" charset="0"/>
              </a:rPr>
              <a:t>nextseqnum=1</a:t>
            </a:r>
            <a:endParaRPr lang="en-US" altLang="zh-CN" sz="1400">
              <a:latin typeface="Times New Roman" panose="02020603050405020304" pitchFamily="18" charset="0"/>
            </a:endParaRPr>
          </a:p>
          <a:p>
            <a:endParaRPr lang="en-US" altLang="zh-CN" sz="2400">
              <a:latin typeface="Times New Roman" panose="02020603050405020304" pitchFamily="18" charset="0"/>
            </a:endParaRPr>
          </a:p>
        </p:txBody>
      </p:sp>
      <p:sp>
        <p:nvSpPr>
          <p:cNvPr id="43" name="Text Box 21">
            <a:extLst>
              <a:ext uri="{FF2B5EF4-FFF2-40B4-BE49-F238E27FC236}">
                <a16:creationId xmlns:a16="http://schemas.microsoft.com/office/drawing/2014/main" id="{1A9C2799-DC1D-4DC2-9D9C-49BE9C6ADF0B}"/>
              </a:ext>
            </a:extLst>
          </p:cNvPr>
          <p:cNvSpPr txBox="1">
            <a:spLocks noChangeArrowheads="1"/>
          </p:cNvSpPr>
          <p:nvPr/>
        </p:nvSpPr>
        <p:spPr bwMode="auto">
          <a:xfrm>
            <a:off x="1317584" y="4247374"/>
            <a:ext cx="20478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 </a:t>
            </a:r>
          </a:p>
          <a:p>
            <a:pPr algn="l"/>
            <a:r>
              <a:rPr lang="en-US" altLang="zh-CN" sz="1400">
                <a:latin typeface="Arial" panose="020B0604020202020204" pitchFamily="34" charset="0"/>
              </a:rPr>
              <a:t>   &amp;&amp; corrupt(rcvpkt)</a:t>
            </a:r>
            <a:r>
              <a:rPr lang="en-US" altLang="zh-CN" sz="1000">
                <a:latin typeface="Arial" panose="020B0604020202020204" pitchFamily="34" charset="0"/>
              </a:rPr>
              <a:t> </a:t>
            </a:r>
          </a:p>
          <a:p>
            <a:endParaRPr lang="en-US" altLang="zh-CN" sz="2400">
              <a:latin typeface="Times New Roman" panose="02020603050405020304" pitchFamily="18" charset="0"/>
            </a:endParaRPr>
          </a:p>
        </p:txBody>
      </p:sp>
      <p:sp>
        <p:nvSpPr>
          <p:cNvPr id="44" name="Line 22">
            <a:extLst>
              <a:ext uri="{FF2B5EF4-FFF2-40B4-BE49-F238E27FC236}">
                <a16:creationId xmlns:a16="http://schemas.microsoft.com/office/drawing/2014/main" id="{1674049E-5229-4C49-B72D-60BF8FDE16F5}"/>
              </a:ext>
            </a:extLst>
          </p:cNvPr>
          <p:cNvSpPr>
            <a:spLocks noChangeShapeType="1"/>
          </p:cNvSpPr>
          <p:nvPr/>
        </p:nvSpPr>
        <p:spPr bwMode="auto">
          <a:xfrm flipV="1">
            <a:off x="1409659" y="4745849"/>
            <a:ext cx="1520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Freeform 23">
            <a:extLst>
              <a:ext uri="{FF2B5EF4-FFF2-40B4-BE49-F238E27FC236}">
                <a16:creationId xmlns:a16="http://schemas.microsoft.com/office/drawing/2014/main" id="{B0E941D4-6CB1-4FA3-BA7C-AB4342F1F55E}"/>
              </a:ext>
            </a:extLst>
          </p:cNvPr>
          <p:cNvSpPr>
            <a:spLocks/>
          </p:cNvSpPr>
          <p:nvPr/>
        </p:nvSpPr>
        <p:spPr bwMode="auto">
          <a:xfrm>
            <a:off x="2683628" y="4205361"/>
            <a:ext cx="695325" cy="638175"/>
          </a:xfrm>
          <a:custGeom>
            <a:avLst/>
            <a:gdLst>
              <a:gd name="T0" fmla="*/ 2147483647 w 1095"/>
              <a:gd name="T1" fmla="*/ 0 h 1005"/>
              <a:gd name="T2" fmla="*/ 2147483647 w 1095"/>
              <a:gd name="T3" fmla="*/ 2147483647 h 1005"/>
              <a:gd name="T4" fmla="*/ 0 60000 65536"/>
              <a:gd name="T5" fmla="*/ 0 60000 65536"/>
            </a:gdLst>
            <a:ahLst/>
            <a:cxnLst>
              <a:cxn ang="T4">
                <a:pos x="T0" y="T1"/>
              </a:cxn>
              <a:cxn ang="T5">
                <a:pos x="T2" y="T3"/>
              </a:cxn>
            </a:cxnLst>
            <a:rect l="0" t="0" r="r" b="b"/>
            <a:pathLst>
              <a:path w="1095" h="1005">
                <a:moveTo>
                  <a:pt x="1005" y="0"/>
                </a:moveTo>
                <a:cubicBezTo>
                  <a:pt x="0" y="30"/>
                  <a:pt x="645" y="1005"/>
                  <a:pt x="1095" y="16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Text Box 24">
            <a:extLst>
              <a:ext uri="{FF2B5EF4-FFF2-40B4-BE49-F238E27FC236}">
                <a16:creationId xmlns:a16="http://schemas.microsoft.com/office/drawing/2014/main" id="{661D6738-98FA-44F9-A738-750D252419AF}"/>
              </a:ext>
            </a:extLst>
          </p:cNvPr>
          <p:cNvSpPr txBox="1">
            <a:spLocks noChangeArrowheads="1"/>
          </p:cNvSpPr>
          <p:nvPr/>
        </p:nvSpPr>
        <p:spPr bwMode="auto">
          <a:xfrm>
            <a:off x="1593038" y="2933781"/>
            <a:ext cx="330027"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latin typeface="Symbol" charset="0"/>
              </a:rPr>
              <a:t>L</a:t>
            </a:r>
          </a:p>
        </p:txBody>
      </p:sp>
    </p:spTree>
    <p:extLst>
      <p:ext uri="{BB962C8B-B14F-4D97-AF65-F5344CB8AC3E}">
        <p14:creationId xmlns:p14="http://schemas.microsoft.com/office/powerpoint/2010/main" val="3376120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01131" y="586924"/>
            <a:ext cx="8496300" cy="809727"/>
          </a:xfrm>
        </p:spPr>
        <p:txBody>
          <a:bodyPr>
            <a:normAutofit/>
          </a:bodyPr>
          <a:lstStyle/>
          <a:p>
            <a:pPr marL="358775" indent="-358775">
              <a:buClr>
                <a:srgbClr val="C00000"/>
              </a:buClr>
              <a:buFont typeface="Wingdings" panose="05000000000000000000" pitchFamily="2" charset="2"/>
              <a:buChar char="n"/>
              <a:defRP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GBN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接收端扩展</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FSM</a:t>
            </a:r>
            <a:r>
              <a:rPr lang="en-US" altLang="zh-CN" sz="2800" i="1" dirty="0">
                <a:solidFill>
                  <a:srgbClr val="FF0000"/>
                </a:solidFill>
                <a:latin typeface="Arial" charset="0"/>
              </a:rPr>
              <a:t> </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 name="Oval 4">
            <a:extLst>
              <a:ext uri="{FF2B5EF4-FFF2-40B4-BE49-F238E27FC236}">
                <a16:creationId xmlns:a16="http://schemas.microsoft.com/office/drawing/2014/main" id="{08A58B1B-FDDD-46FB-80A4-3EEC1D3331AD}"/>
              </a:ext>
            </a:extLst>
          </p:cNvPr>
          <p:cNvSpPr>
            <a:spLocks noChangeArrowheads="1"/>
          </p:cNvSpPr>
          <p:nvPr/>
        </p:nvSpPr>
        <p:spPr bwMode="auto">
          <a:xfrm>
            <a:off x="3232451" y="4682727"/>
            <a:ext cx="666750" cy="6572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3" name="Text Box 5">
            <a:extLst>
              <a:ext uri="{FF2B5EF4-FFF2-40B4-BE49-F238E27FC236}">
                <a16:creationId xmlns:a16="http://schemas.microsoft.com/office/drawing/2014/main" id="{7D163CF8-5D61-499C-80B1-46E82A530B87}"/>
              </a:ext>
            </a:extLst>
          </p:cNvPr>
          <p:cNvSpPr txBox="1">
            <a:spLocks noChangeArrowheads="1"/>
          </p:cNvSpPr>
          <p:nvPr/>
        </p:nvSpPr>
        <p:spPr bwMode="auto">
          <a:xfrm>
            <a:off x="3276905" y="4830677"/>
            <a:ext cx="622296" cy="33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zh-CN" altLang="en-US" dirty="0">
                <a:solidFill>
                  <a:schemeClr val="accent6">
                    <a:lumMod val="75000"/>
                  </a:schemeClr>
                </a:solidFill>
                <a:latin typeface="Arial" panose="020B0604020202020204" pitchFamily="34" charset="0"/>
              </a:rPr>
              <a:t>等待</a:t>
            </a:r>
            <a:endParaRPr lang="en-US" altLang="zh-CN" dirty="0">
              <a:solidFill>
                <a:schemeClr val="accent6">
                  <a:lumMod val="75000"/>
                </a:schemeClr>
              </a:solidFill>
              <a:latin typeface="Times New Roman" panose="02020603050405020304" pitchFamily="18" charset="0"/>
            </a:endParaRPr>
          </a:p>
        </p:txBody>
      </p:sp>
      <p:sp>
        <p:nvSpPr>
          <p:cNvPr id="4" name="Line 6">
            <a:extLst>
              <a:ext uri="{FF2B5EF4-FFF2-40B4-BE49-F238E27FC236}">
                <a16:creationId xmlns:a16="http://schemas.microsoft.com/office/drawing/2014/main" id="{F4B79090-344C-49D9-94B1-99EEBDCCF8F8}"/>
              </a:ext>
            </a:extLst>
          </p:cNvPr>
          <p:cNvSpPr>
            <a:spLocks noChangeShapeType="1"/>
          </p:cNvSpPr>
          <p:nvPr/>
        </p:nvSpPr>
        <p:spPr bwMode="auto">
          <a:xfrm>
            <a:off x="917876" y="4522390"/>
            <a:ext cx="2298700" cy="4746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Text Box 7">
            <a:extLst>
              <a:ext uri="{FF2B5EF4-FFF2-40B4-BE49-F238E27FC236}">
                <a16:creationId xmlns:a16="http://schemas.microsoft.com/office/drawing/2014/main" id="{3943E8B8-9EF0-4EE0-8A84-3652A72A7065}"/>
              </a:ext>
            </a:extLst>
          </p:cNvPr>
          <p:cNvSpPr txBox="1">
            <a:spLocks noChangeArrowheads="1"/>
          </p:cNvSpPr>
          <p:nvPr/>
        </p:nvSpPr>
        <p:spPr bwMode="auto">
          <a:xfrm>
            <a:off x="2670475" y="4109640"/>
            <a:ext cx="1577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7" name="Text Box 8">
            <a:extLst>
              <a:ext uri="{FF2B5EF4-FFF2-40B4-BE49-F238E27FC236}">
                <a16:creationId xmlns:a16="http://schemas.microsoft.com/office/drawing/2014/main" id="{320B73C0-9235-4662-B7D3-251155FCF9CD}"/>
              </a:ext>
            </a:extLst>
          </p:cNvPr>
          <p:cNvSpPr txBox="1">
            <a:spLocks noChangeArrowheads="1"/>
          </p:cNvSpPr>
          <p:nvPr/>
        </p:nvSpPr>
        <p:spPr bwMode="auto">
          <a:xfrm>
            <a:off x="2670476" y="3833415"/>
            <a:ext cx="72548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default</a:t>
            </a:r>
            <a:endParaRPr lang="en-US" altLang="zh-CN" sz="1400" dirty="0">
              <a:latin typeface="Times New Roman" panose="02020603050405020304" pitchFamily="18" charset="0"/>
            </a:endParaRPr>
          </a:p>
          <a:p>
            <a:endParaRPr lang="en-US" altLang="zh-CN" sz="2400" dirty="0">
              <a:latin typeface="Times New Roman" panose="02020603050405020304" pitchFamily="18" charset="0"/>
            </a:endParaRPr>
          </a:p>
        </p:txBody>
      </p:sp>
      <p:sp>
        <p:nvSpPr>
          <p:cNvPr id="8" name="Line 9">
            <a:extLst>
              <a:ext uri="{FF2B5EF4-FFF2-40B4-BE49-F238E27FC236}">
                <a16:creationId xmlns:a16="http://schemas.microsoft.com/office/drawing/2014/main" id="{1B6FBA63-9BA1-47E9-AACF-1E4F33F31112}"/>
              </a:ext>
            </a:extLst>
          </p:cNvPr>
          <p:cNvSpPr>
            <a:spLocks noChangeShapeType="1"/>
          </p:cNvSpPr>
          <p:nvPr/>
        </p:nvSpPr>
        <p:spPr bwMode="auto">
          <a:xfrm>
            <a:off x="2751439" y="4130277"/>
            <a:ext cx="8159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reeform 10">
            <a:extLst>
              <a:ext uri="{FF2B5EF4-FFF2-40B4-BE49-F238E27FC236}">
                <a16:creationId xmlns:a16="http://schemas.microsoft.com/office/drawing/2014/main" id="{7EA9705F-8742-4D3E-BF25-319D22E5B721}"/>
              </a:ext>
            </a:extLst>
          </p:cNvPr>
          <p:cNvSpPr>
            <a:spLocks/>
          </p:cNvSpPr>
          <p:nvPr/>
        </p:nvSpPr>
        <p:spPr bwMode="auto">
          <a:xfrm>
            <a:off x="3905551" y="4425552"/>
            <a:ext cx="828675" cy="1152525"/>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Text Box 11">
            <a:extLst>
              <a:ext uri="{FF2B5EF4-FFF2-40B4-BE49-F238E27FC236}">
                <a16:creationId xmlns:a16="http://schemas.microsoft.com/office/drawing/2014/main" id="{AE8CA72A-BE38-4E56-BC7B-870860ABE84D}"/>
              </a:ext>
            </a:extLst>
          </p:cNvPr>
          <p:cNvSpPr txBox="1">
            <a:spLocks noChangeArrowheads="1"/>
          </p:cNvSpPr>
          <p:nvPr/>
        </p:nvSpPr>
        <p:spPr bwMode="auto">
          <a:xfrm>
            <a:off x="4477844" y="4343002"/>
            <a:ext cx="3570287"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a:latin typeface="Arial" panose="020B0604020202020204" pitchFamily="34" charset="0"/>
              </a:rPr>
              <a:t>rdt_rcv(rcvpkt)</a:t>
            </a:r>
          </a:p>
          <a:p>
            <a:pPr algn="l"/>
            <a:r>
              <a:rPr lang="en-US" altLang="zh-CN" sz="1400">
                <a:latin typeface="Arial" panose="020B0604020202020204" pitchFamily="34" charset="0"/>
              </a:rPr>
              <a:t>  &amp;&amp; notcurrupt(rcvpkt)</a:t>
            </a:r>
          </a:p>
          <a:p>
            <a:pPr algn="l"/>
            <a:r>
              <a:rPr lang="en-US" altLang="zh-CN" sz="1400">
                <a:latin typeface="Arial" panose="020B0604020202020204" pitchFamily="34" charset="0"/>
              </a:rPr>
              <a:t>  &amp;&amp; hasseqnum(rcvpkt,expectedseqnum) </a:t>
            </a:r>
            <a:endParaRPr lang="en-US" altLang="zh-CN" sz="1400">
              <a:latin typeface="Times New Roman" panose="02020603050405020304" pitchFamily="18" charset="0"/>
            </a:endParaRPr>
          </a:p>
        </p:txBody>
      </p:sp>
      <p:sp>
        <p:nvSpPr>
          <p:cNvPr id="11" name="Line 12">
            <a:extLst>
              <a:ext uri="{FF2B5EF4-FFF2-40B4-BE49-F238E27FC236}">
                <a16:creationId xmlns:a16="http://schemas.microsoft.com/office/drawing/2014/main" id="{59562703-290A-4861-AC60-4A15F3263945}"/>
              </a:ext>
            </a:extLst>
          </p:cNvPr>
          <p:cNvSpPr>
            <a:spLocks noChangeShapeType="1"/>
          </p:cNvSpPr>
          <p:nvPr/>
        </p:nvSpPr>
        <p:spPr bwMode="auto">
          <a:xfrm>
            <a:off x="4547694" y="5035152"/>
            <a:ext cx="31750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13">
            <a:extLst>
              <a:ext uri="{FF2B5EF4-FFF2-40B4-BE49-F238E27FC236}">
                <a16:creationId xmlns:a16="http://schemas.microsoft.com/office/drawing/2014/main" id="{C24BC29B-FF8E-49FF-8CFD-59223059B97C}"/>
              </a:ext>
            </a:extLst>
          </p:cNvPr>
          <p:cNvSpPr txBox="1">
            <a:spLocks noChangeArrowheads="1"/>
          </p:cNvSpPr>
          <p:nvPr/>
        </p:nvSpPr>
        <p:spPr bwMode="auto">
          <a:xfrm>
            <a:off x="4482606" y="5078013"/>
            <a:ext cx="4314825" cy="112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a:latin typeface="Arial" panose="020B0604020202020204" pitchFamily="34" charset="0"/>
              </a:rPr>
              <a:t>extract(</a:t>
            </a:r>
            <a:r>
              <a:rPr lang="en-US" altLang="zh-CN" sz="1400" dirty="0" err="1">
                <a:latin typeface="Arial" panose="020B0604020202020204" pitchFamily="34" charset="0"/>
              </a:rPr>
              <a:t>rcvpkt,data</a:t>
            </a:r>
            <a:r>
              <a:rPr lang="en-US" altLang="zh-CN" sz="1400" dirty="0">
                <a:latin typeface="Arial" panose="020B0604020202020204" pitchFamily="34" charset="0"/>
              </a:rPr>
              <a:t>)</a:t>
            </a:r>
          </a:p>
          <a:p>
            <a:pPr algn="l"/>
            <a:r>
              <a:rPr lang="en-US" altLang="zh-CN" sz="1400" dirty="0" err="1">
                <a:latin typeface="Arial" panose="020B0604020202020204" pitchFamily="34" charset="0"/>
              </a:rPr>
              <a:t>deliver_data</a:t>
            </a:r>
            <a:r>
              <a:rPr lang="en-US" altLang="zh-CN" sz="1400" dirty="0">
                <a:latin typeface="Arial" panose="020B0604020202020204" pitchFamily="34" charset="0"/>
              </a:rPr>
              <a:t>(data)</a:t>
            </a:r>
          </a:p>
          <a:p>
            <a:pPr algn="l"/>
            <a:r>
              <a:rPr lang="en-US" altLang="zh-CN" sz="1400" dirty="0" err="1">
                <a:solidFill>
                  <a:srgbClr val="FF0000"/>
                </a:solidFill>
                <a:latin typeface="Arial" panose="020B0604020202020204" pitchFamily="34" charset="0"/>
              </a:rPr>
              <a:t>sndpkt</a:t>
            </a:r>
            <a:r>
              <a:rPr lang="en-US" altLang="zh-CN" sz="1400" dirty="0">
                <a:solidFill>
                  <a:srgbClr val="FF0000"/>
                </a:solidFill>
                <a:latin typeface="Arial" panose="020B0604020202020204" pitchFamily="34" charset="0"/>
              </a:rPr>
              <a:t> = </a:t>
            </a:r>
            <a:r>
              <a:rPr lang="en-US" altLang="zh-CN" sz="1400" dirty="0" err="1">
                <a:solidFill>
                  <a:srgbClr val="FF0000"/>
                </a:solidFill>
                <a:latin typeface="Arial" panose="020B0604020202020204" pitchFamily="34" charset="0"/>
              </a:rPr>
              <a:t>make_pkt</a:t>
            </a:r>
            <a:r>
              <a:rPr lang="en-US" altLang="zh-CN" sz="1400" dirty="0">
                <a:solidFill>
                  <a:srgbClr val="FF0000"/>
                </a:solidFill>
                <a:latin typeface="Arial" panose="020B0604020202020204" pitchFamily="34" charset="0"/>
              </a:rPr>
              <a:t>(</a:t>
            </a:r>
            <a:r>
              <a:rPr lang="en-US" altLang="zh-CN" sz="1400" dirty="0" err="1">
                <a:solidFill>
                  <a:srgbClr val="FF0000"/>
                </a:solidFill>
                <a:latin typeface="Arial" panose="020B0604020202020204" pitchFamily="34" charset="0"/>
              </a:rPr>
              <a:t>expectedseqnum,ACK,chksum</a:t>
            </a:r>
            <a:r>
              <a:rPr lang="en-US" altLang="zh-CN" sz="1400" dirty="0">
                <a:solidFill>
                  <a:srgbClr val="FF0000"/>
                </a:solidFill>
                <a:latin typeface="Arial" panose="020B0604020202020204" pitchFamily="34" charset="0"/>
              </a:rPr>
              <a:t>)</a:t>
            </a:r>
          </a:p>
          <a:p>
            <a:pPr algn="l"/>
            <a:r>
              <a:rPr lang="en-US" altLang="zh-CN" sz="1400" dirty="0" err="1">
                <a:latin typeface="Arial" panose="020B0604020202020204" pitchFamily="34" charset="0"/>
              </a:rPr>
              <a:t>udt_send</a:t>
            </a:r>
            <a:r>
              <a:rPr lang="en-US" altLang="zh-CN" sz="1400" dirty="0">
                <a:latin typeface="Arial" panose="020B0604020202020204" pitchFamily="34" charset="0"/>
              </a:rPr>
              <a:t>(</a:t>
            </a:r>
            <a:r>
              <a:rPr lang="en-US" altLang="zh-CN" sz="1400" dirty="0" err="1">
                <a:latin typeface="Arial" panose="020B0604020202020204" pitchFamily="34" charset="0"/>
              </a:rPr>
              <a:t>sndpkt</a:t>
            </a:r>
            <a:r>
              <a:rPr lang="en-US" altLang="zh-CN" sz="1400" dirty="0">
                <a:latin typeface="Arial" panose="020B0604020202020204" pitchFamily="34" charset="0"/>
              </a:rPr>
              <a:t>)</a:t>
            </a:r>
          </a:p>
          <a:p>
            <a:pPr algn="l"/>
            <a:r>
              <a:rPr lang="en-US" altLang="zh-CN" sz="1400" dirty="0" err="1">
                <a:latin typeface="Arial" panose="020B0604020202020204" pitchFamily="34" charset="0"/>
              </a:rPr>
              <a:t>expectedseqnum</a:t>
            </a:r>
            <a:r>
              <a:rPr lang="en-US" altLang="zh-CN" sz="1400" dirty="0">
                <a:latin typeface="Arial" panose="020B0604020202020204" pitchFamily="34" charset="0"/>
              </a:rPr>
              <a:t>++</a:t>
            </a:r>
            <a:endParaRPr lang="en-US" altLang="zh-CN" sz="1400" dirty="0">
              <a:latin typeface="Times New Roman" panose="02020603050405020304" pitchFamily="18" charset="0"/>
            </a:endParaRPr>
          </a:p>
        </p:txBody>
      </p:sp>
      <p:sp>
        <p:nvSpPr>
          <p:cNvPr id="13" name="Freeform 14">
            <a:extLst>
              <a:ext uri="{FF2B5EF4-FFF2-40B4-BE49-F238E27FC236}">
                <a16:creationId xmlns:a16="http://schemas.microsoft.com/office/drawing/2014/main" id="{F7D80FE2-AB2E-44C7-9878-B82551B3912A}"/>
              </a:ext>
            </a:extLst>
          </p:cNvPr>
          <p:cNvSpPr>
            <a:spLocks/>
          </p:cNvSpPr>
          <p:nvPr/>
        </p:nvSpPr>
        <p:spPr bwMode="auto">
          <a:xfrm rot="5142103" flipH="1">
            <a:off x="3378502" y="3901677"/>
            <a:ext cx="393700" cy="1152525"/>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 name="Line 15">
            <a:extLst>
              <a:ext uri="{FF2B5EF4-FFF2-40B4-BE49-F238E27FC236}">
                <a16:creationId xmlns:a16="http://schemas.microsoft.com/office/drawing/2014/main" id="{5E8F62C9-481C-44AF-BDF0-FCF93FC89103}"/>
              </a:ext>
            </a:extLst>
          </p:cNvPr>
          <p:cNvSpPr>
            <a:spLocks noChangeShapeType="1"/>
          </p:cNvSpPr>
          <p:nvPr/>
        </p:nvSpPr>
        <p:spPr bwMode="auto">
          <a:xfrm>
            <a:off x="634426" y="4974515"/>
            <a:ext cx="1238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Text Box 16">
            <a:extLst>
              <a:ext uri="{FF2B5EF4-FFF2-40B4-BE49-F238E27FC236}">
                <a16:creationId xmlns:a16="http://schemas.microsoft.com/office/drawing/2014/main" id="{45F9DB83-5483-4464-8DAC-09DB79154108}"/>
              </a:ext>
            </a:extLst>
          </p:cNvPr>
          <p:cNvSpPr txBox="1">
            <a:spLocks noChangeArrowheads="1"/>
          </p:cNvSpPr>
          <p:nvPr/>
        </p:nvSpPr>
        <p:spPr bwMode="auto">
          <a:xfrm>
            <a:off x="530811" y="4955778"/>
            <a:ext cx="3780630" cy="74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r>
              <a:rPr lang="en-US" altLang="zh-CN" sz="1400" dirty="0" err="1">
                <a:latin typeface="Arial" panose="020B0604020202020204" pitchFamily="34" charset="0"/>
              </a:rPr>
              <a:t>expectedseqnum</a:t>
            </a:r>
            <a:r>
              <a:rPr lang="en-US" altLang="zh-CN" sz="1400" dirty="0">
                <a:latin typeface="Arial" panose="020B0604020202020204" pitchFamily="34" charset="0"/>
              </a:rPr>
              <a:t>=1</a:t>
            </a:r>
          </a:p>
          <a:p>
            <a:pPr algn="l"/>
            <a:r>
              <a:rPr lang="en-US" altLang="zh-CN" sz="1400" dirty="0" err="1">
                <a:latin typeface="Arial" panose="020B0604020202020204" pitchFamily="34" charset="0"/>
              </a:rPr>
              <a:t>sndpkt</a:t>
            </a:r>
            <a:r>
              <a:rPr lang="en-US" altLang="zh-CN" sz="1400" dirty="0">
                <a:latin typeface="Arial" panose="020B0604020202020204" pitchFamily="34" charset="0"/>
              </a:rPr>
              <a:t> =    </a:t>
            </a:r>
          </a:p>
          <a:p>
            <a:pPr algn="l"/>
            <a:r>
              <a:rPr lang="en-US" altLang="zh-CN" sz="1400" dirty="0">
                <a:solidFill>
                  <a:srgbClr val="FF0000"/>
                </a:solidFill>
                <a:latin typeface="Arial" panose="020B0604020202020204" pitchFamily="34" charset="0"/>
              </a:rPr>
              <a:t>  </a:t>
            </a:r>
            <a:r>
              <a:rPr lang="en-US" altLang="zh-CN" sz="1400" dirty="0" err="1">
                <a:solidFill>
                  <a:srgbClr val="FF0000"/>
                </a:solidFill>
                <a:latin typeface="Arial" panose="020B0604020202020204" pitchFamily="34" charset="0"/>
              </a:rPr>
              <a:t>make_pkt</a:t>
            </a:r>
            <a:r>
              <a:rPr lang="en-US" altLang="zh-CN" sz="1400" dirty="0">
                <a:solidFill>
                  <a:srgbClr val="FF0000"/>
                </a:solidFill>
                <a:latin typeface="Arial" panose="020B0604020202020204" pitchFamily="34" charset="0"/>
              </a:rPr>
              <a:t>(expectedseqnum-1,ACK,chksum)</a:t>
            </a:r>
          </a:p>
        </p:txBody>
      </p:sp>
      <p:sp>
        <p:nvSpPr>
          <p:cNvPr id="16" name="Text Box 17">
            <a:extLst>
              <a:ext uri="{FF2B5EF4-FFF2-40B4-BE49-F238E27FC236}">
                <a16:creationId xmlns:a16="http://schemas.microsoft.com/office/drawing/2014/main" id="{3A672F8B-B0F5-40AD-B17F-E69D5B60BA79}"/>
              </a:ext>
            </a:extLst>
          </p:cNvPr>
          <p:cNvSpPr txBox="1">
            <a:spLocks noChangeArrowheads="1"/>
          </p:cNvSpPr>
          <p:nvPr/>
        </p:nvSpPr>
        <p:spPr bwMode="auto">
          <a:xfrm>
            <a:off x="1080763" y="4642330"/>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latin typeface="Symbol" charset="0"/>
              </a:rPr>
              <a:t>L</a:t>
            </a:r>
          </a:p>
        </p:txBody>
      </p:sp>
      <p:sp>
        <p:nvSpPr>
          <p:cNvPr id="18" name="Rectangle 6">
            <a:extLst>
              <a:ext uri="{FF2B5EF4-FFF2-40B4-BE49-F238E27FC236}">
                <a16:creationId xmlns:a16="http://schemas.microsoft.com/office/drawing/2014/main" id="{91FEA863-741F-45E7-9281-AAE593D63D05}"/>
              </a:ext>
            </a:extLst>
          </p:cNvPr>
          <p:cNvSpPr>
            <a:spLocks noChangeArrowheads="1"/>
          </p:cNvSpPr>
          <p:nvPr/>
        </p:nvSpPr>
        <p:spPr bwMode="auto">
          <a:xfrm>
            <a:off x="301131" y="1401016"/>
            <a:ext cx="8450862" cy="2334297"/>
          </a:xfrm>
          <a:prstGeom prst="rect">
            <a:avLst/>
          </a:prstGeom>
          <a:noFill/>
          <a:ln w="9525">
            <a:noFill/>
            <a:miter lim="800000"/>
            <a:headEnd/>
            <a:tailEnd/>
          </a:ln>
        </p:spPr>
        <p:txBody>
          <a:bodyPr/>
          <a:lstStyle/>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分组（按序到达）处理</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2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，需保存希望接收的分组序号（</a:t>
            </a:r>
            <a:r>
              <a:rPr lang="en-US" altLang="zh-CN" sz="20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expectedseqnum</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ct val="1200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失序分组（未按序到达）处理</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2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不缓存，丢弃</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9388" eaLnBrk="0" hangingPunct="0">
              <a:lnSpc>
                <a:spcPct val="12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重发</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，确认按序正确接收的最高序号分组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65105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284205" y="600519"/>
            <a:ext cx="8450220" cy="625374"/>
          </a:xfrm>
        </p:spPr>
        <p:txBody>
          <a:bodyPr>
            <a:normAutofit/>
          </a:bodyPr>
          <a:lstStyle/>
          <a:p>
            <a:pPr marL="358775" indent="-358775">
              <a:buClr>
                <a:srgbClr val="C00000"/>
              </a:buClr>
              <a:buFont typeface="Wingdings" panose="05000000000000000000" pitchFamily="2" charset="2"/>
              <a:buChar char="n"/>
              <a:defRP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GBN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交互示例</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0" name="Text Box 5">
            <a:extLst>
              <a:ext uri="{FF2B5EF4-FFF2-40B4-BE49-F238E27FC236}">
                <a16:creationId xmlns:a16="http://schemas.microsoft.com/office/drawing/2014/main" id="{59CCBD5A-2963-4AFD-8076-D7035D5B7FCE}"/>
              </a:ext>
            </a:extLst>
          </p:cNvPr>
          <p:cNvSpPr txBox="1">
            <a:spLocks noChangeArrowheads="1"/>
          </p:cNvSpPr>
          <p:nvPr/>
        </p:nvSpPr>
        <p:spPr bwMode="auto">
          <a:xfrm>
            <a:off x="3221927" y="1126599"/>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C00000"/>
                </a:solidFill>
              </a:rPr>
              <a:t>发送端</a:t>
            </a:r>
            <a:endParaRPr lang="en-US" sz="2000" dirty="0">
              <a:solidFill>
                <a:srgbClr val="C00000"/>
              </a:solidFill>
            </a:endParaRPr>
          </a:p>
        </p:txBody>
      </p:sp>
      <p:sp>
        <p:nvSpPr>
          <p:cNvPr id="21" name="Text Box 6">
            <a:extLst>
              <a:ext uri="{FF2B5EF4-FFF2-40B4-BE49-F238E27FC236}">
                <a16:creationId xmlns:a16="http://schemas.microsoft.com/office/drawing/2014/main" id="{C9989EAC-BD30-47DD-B84E-38E3AC579EF5}"/>
              </a:ext>
            </a:extLst>
          </p:cNvPr>
          <p:cNvSpPr txBox="1">
            <a:spLocks noChangeArrowheads="1"/>
          </p:cNvSpPr>
          <p:nvPr/>
        </p:nvSpPr>
        <p:spPr bwMode="auto">
          <a:xfrm>
            <a:off x="5829386" y="1093816"/>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sp>
        <p:nvSpPr>
          <p:cNvPr id="86" name="Text Box 4">
            <a:extLst>
              <a:ext uri="{FF2B5EF4-FFF2-40B4-BE49-F238E27FC236}">
                <a16:creationId xmlns:a16="http://schemas.microsoft.com/office/drawing/2014/main" id="{C4509183-B17B-4FF2-8882-106086FC5904}"/>
              </a:ext>
            </a:extLst>
          </p:cNvPr>
          <p:cNvSpPr txBox="1">
            <a:spLocks noChangeArrowheads="1"/>
          </p:cNvSpPr>
          <p:nvPr/>
        </p:nvSpPr>
        <p:spPr bwMode="auto">
          <a:xfrm>
            <a:off x="2902949" y="1449946"/>
            <a:ext cx="1117614" cy="14733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p>
          <a:p>
            <a:pPr algn="r">
              <a:lnSpc>
                <a:spcPts val="2200"/>
              </a:lnSpc>
              <a:defRPr/>
            </a:pPr>
            <a:r>
              <a:rPr 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等待</a:t>
            </a:r>
            <a:r>
              <a:rPr lang="en-US"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7" name="Line 14">
            <a:extLst>
              <a:ext uri="{FF2B5EF4-FFF2-40B4-BE49-F238E27FC236}">
                <a16:creationId xmlns:a16="http://schemas.microsoft.com/office/drawing/2014/main" id="{1D4B8F63-41CB-4329-9889-A1103FB29565}"/>
              </a:ext>
            </a:extLst>
          </p:cNvPr>
          <p:cNvSpPr>
            <a:spLocks noChangeShapeType="1"/>
          </p:cNvSpPr>
          <p:nvPr/>
        </p:nvSpPr>
        <p:spPr bwMode="auto">
          <a:xfrm>
            <a:off x="6251576" y="1581493"/>
            <a:ext cx="11906" cy="457215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Text Box 15">
            <a:extLst>
              <a:ext uri="{FF2B5EF4-FFF2-40B4-BE49-F238E27FC236}">
                <a16:creationId xmlns:a16="http://schemas.microsoft.com/office/drawing/2014/main" id="{670380B6-922B-4468-B2B5-ACE73077991B}"/>
              </a:ext>
            </a:extLst>
          </p:cNvPr>
          <p:cNvSpPr txBox="1">
            <a:spLocks noChangeArrowheads="1"/>
          </p:cNvSpPr>
          <p:nvPr/>
        </p:nvSpPr>
        <p:spPr bwMode="auto">
          <a:xfrm>
            <a:off x="6242050" y="1965713"/>
            <a:ext cx="2699544" cy="1113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a:p>
            <a:pPr algn="l">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丢弃</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Text Box 22">
            <a:extLst>
              <a:ext uri="{FF2B5EF4-FFF2-40B4-BE49-F238E27FC236}">
                <a16:creationId xmlns:a16="http://schemas.microsoft.com/office/drawing/2014/main" id="{35730FD0-B645-4854-B5CA-60F09D262354}"/>
              </a:ext>
            </a:extLst>
          </p:cNvPr>
          <p:cNvSpPr txBox="1">
            <a:spLocks noChangeArrowheads="1"/>
          </p:cNvSpPr>
          <p:nvPr/>
        </p:nvSpPr>
        <p:spPr bwMode="auto">
          <a:xfrm>
            <a:off x="1918193" y="3053321"/>
            <a:ext cx="2154757" cy="6316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a:t>
            </a:r>
            <a:endParaRPr lang="en-US" dirty="0">
              <a:latin typeface="Times New Roman" panose="02020603050405020304" pitchFamily="18" charset="0"/>
              <a:ea typeface="宋体" panose="02010600030101010101" pitchFamily="2" charset="-122"/>
              <a:cs typeface="Times New Roman" panose="02020603050405020304" pitchFamily="18" charset="0"/>
            </a:endParaRP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Text Box 35">
            <a:extLst>
              <a:ext uri="{FF2B5EF4-FFF2-40B4-BE49-F238E27FC236}">
                <a16:creationId xmlns:a16="http://schemas.microsoft.com/office/drawing/2014/main" id="{F45D3449-6239-4C6B-8236-222370D00154}"/>
              </a:ext>
            </a:extLst>
          </p:cNvPr>
          <p:cNvSpPr txBox="1">
            <a:spLocks noChangeArrowheads="1"/>
          </p:cNvSpPr>
          <p:nvPr/>
        </p:nvSpPr>
        <p:spPr bwMode="auto">
          <a:xfrm>
            <a:off x="2909390" y="4441322"/>
            <a:ext cx="1107996"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75000"/>
              </a:lnSpc>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分组</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超时</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Text Box 36">
            <a:extLst>
              <a:ext uri="{FF2B5EF4-FFF2-40B4-BE49-F238E27FC236}">
                <a16:creationId xmlns:a16="http://schemas.microsoft.com/office/drawing/2014/main" id="{34AB1BAD-BD50-4393-8FEF-AF45B8E76A15}"/>
              </a:ext>
            </a:extLst>
          </p:cNvPr>
          <p:cNvSpPr txBox="1">
            <a:spLocks noChangeArrowheads="1"/>
          </p:cNvSpPr>
          <p:nvPr/>
        </p:nvSpPr>
        <p:spPr bwMode="auto">
          <a:xfrm>
            <a:off x="2912864" y="4648387"/>
            <a:ext cx="1107996" cy="1099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0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p>
          <a:p>
            <a:pPr algn="r">
              <a:lnSpc>
                <a:spcPts val="20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p>
          <a:p>
            <a:pPr algn="r">
              <a:lnSpc>
                <a:spcPts val="20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a:t>
            </a:r>
          </a:p>
          <a:p>
            <a:pPr algn="r">
              <a:lnSpc>
                <a:spcPts val="20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92" name="Line 7">
            <a:extLst>
              <a:ext uri="{FF2B5EF4-FFF2-40B4-BE49-F238E27FC236}">
                <a16:creationId xmlns:a16="http://schemas.microsoft.com/office/drawing/2014/main" id="{6787BCC7-F3F6-4EFC-9CFC-DD680C300EE6}"/>
              </a:ext>
            </a:extLst>
          </p:cNvPr>
          <p:cNvSpPr>
            <a:spLocks noChangeShapeType="1"/>
          </p:cNvSpPr>
          <p:nvPr/>
        </p:nvSpPr>
        <p:spPr bwMode="auto">
          <a:xfrm>
            <a:off x="4148138" y="1643621"/>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Line 11">
            <a:extLst>
              <a:ext uri="{FF2B5EF4-FFF2-40B4-BE49-F238E27FC236}">
                <a16:creationId xmlns:a16="http://schemas.microsoft.com/office/drawing/2014/main" id="{E32EC1F9-49CC-4D47-8697-A6C2CF96681B}"/>
              </a:ext>
            </a:extLst>
          </p:cNvPr>
          <p:cNvSpPr>
            <a:spLocks noChangeShapeType="1"/>
          </p:cNvSpPr>
          <p:nvPr/>
        </p:nvSpPr>
        <p:spPr bwMode="auto">
          <a:xfrm>
            <a:off x="4146550" y="1918259"/>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Line 12">
            <a:extLst>
              <a:ext uri="{FF2B5EF4-FFF2-40B4-BE49-F238E27FC236}">
                <a16:creationId xmlns:a16="http://schemas.microsoft.com/office/drawing/2014/main" id="{DF1431AE-8FC1-4AE8-8CA8-74D4E86D202F}"/>
              </a:ext>
            </a:extLst>
          </p:cNvPr>
          <p:cNvSpPr>
            <a:spLocks noChangeShapeType="1"/>
          </p:cNvSpPr>
          <p:nvPr/>
        </p:nvSpPr>
        <p:spPr bwMode="auto">
          <a:xfrm>
            <a:off x="4162425" y="2181784"/>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Line 13">
            <a:extLst>
              <a:ext uri="{FF2B5EF4-FFF2-40B4-BE49-F238E27FC236}">
                <a16:creationId xmlns:a16="http://schemas.microsoft.com/office/drawing/2014/main" id="{9BA8B3FA-ECEF-41A8-99EF-24BDC9DE126F}"/>
              </a:ext>
            </a:extLst>
          </p:cNvPr>
          <p:cNvSpPr>
            <a:spLocks noChangeShapeType="1"/>
          </p:cNvSpPr>
          <p:nvPr/>
        </p:nvSpPr>
        <p:spPr bwMode="auto">
          <a:xfrm>
            <a:off x="4168775" y="2467534"/>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6" name="Line 17">
            <a:extLst>
              <a:ext uri="{FF2B5EF4-FFF2-40B4-BE49-F238E27FC236}">
                <a16:creationId xmlns:a16="http://schemas.microsoft.com/office/drawing/2014/main" id="{6F8B3D0A-E20D-4160-BAEF-0BDDCBF1D072}"/>
              </a:ext>
            </a:extLst>
          </p:cNvPr>
          <p:cNvSpPr>
            <a:spLocks noChangeShapeType="1"/>
          </p:cNvSpPr>
          <p:nvPr/>
        </p:nvSpPr>
        <p:spPr bwMode="auto">
          <a:xfrm flipH="1">
            <a:off x="4154488" y="2167496"/>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Text Box 19">
            <a:extLst>
              <a:ext uri="{FF2B5EF4-FFF2-40B4-BE49-F238E27FC236}">
                <a16:creationId xmlns:a16="http://schemas.microsoft.com/office/drawing/2014/main" id="{EC11435F-D7FA-46AF-ACCA-DCAF32C5433B}"/>
              </a:ext>
            </a:extLst>
          </p:cNvPr>
          <p:cNvSpPr txBox="1">
            <a:spLocks noChangeArrowheads="1"/>
          </p:cNvSpPr>
          <p:nvPr/>
        </p:nvSpPr>
        <p:spPr bwMode="auto">
          <a:xfrm>
            <a:off x="4924425" y="2216709"/>
            <a:ext cx="33214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98" name="Text Box 20">
            <a:extLst>
              <a:ext uri="{FF2B5EF4-FFF2-40B4-BE49-F238E27FC236}">
                <a16:creationId xmlns:a16="http://schemas.microsoft.com/office/drawing/2014/main" id="{0F5F84CE-ADC8-48C6-9CDC-C10F63581ED5}"/>
              </a:ext>
            </a:extLst>
          </p:cNvPr>
          <p:cNvSpPr txBox="1">
            <a:spLocks noChangeArrowheads="1"/>
          </p:cNvSpPr>
          <p:nvPr/>
        </p:nvSpPr>
        <p:spPr bwMode="auto">
          <a:xfrm>
            <a:off x="5083175" y="2237346"/>
            <a:ext cx="5950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丢失</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9" name="Line 21">
            <a:extLst>
              <a:ext uri="{FF2B5EF4-FFF2-40B4-BE49-F238E27FC236}">
                <a16:creationId xmlns:a16="http://schemas.microsoft.com/office/drawing/2014/main" id="{FAFD21A3-2CAE-40D0-B1CD-148640387354}"/>
              </a:ext>
            </a:extLst>
          </p:cNvPr>
          <p:cNvSpPr>
            <a:spLocks noChangeShapeType="1"/>
          </p:cNvSpPr>
          <p:nvPr/>
        </p:nvSpPr>
        <p:spPr bwMode="auto">
          <a:xfrm flipH="1">
            <a:off x="4151313" y="2453246"/>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Line 24">
            <a:extLst>
              <a:ext uri="{FF2B5EF4-FFF2-40B4-BE49-F238E27FC236}">
                <a16:creationId xmlns:a16="http://schemas.microsoft.com/office/drawing/2014/main" id="{C04A2A9A-BC09-48B5-844D-C74D16B61368}"/>
              </a:ext>
            </a:extLst>
          </p:cNvPr>
          <p:cNvSpPr>
            <a:spLocks noChangeShapeType="1"/>
          </p:cNvSpPr>
          <p:nvPr/>
        </p:nvSpPr>
        <p:spPr bwMode="auto">
          <a:xfrm>
            <a:off x="4154488" y="3289859"/>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25">
            <a:extLst>
              <a:ext uri="{FF2B5EF4-FFF2-40B4-BE49-F238E27FC236}">
                <a16:creationId xmlns:a16="http://schemas.microsoft.com/office/drawing/2014/main" id="{60639479-5017-4686-A80C-EE7E4E617A21}"/>
              </a:ext>
            </a:extLst>
          </p:cNvPr>
          <p:cNvSpPr>
            <a:spLocks noChangeShapeType="1"/>
          </p:cNvSpPr>
          <p:nvPr/>
        </p:nvSpPr>
        <p:spPr bwMode="auto">
          <a:xfrm>
            <a:off x="4186238" y="3608946"/>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Line 26">
            <a:extLst>
              <a:ext uri="{FF2B5EF4-FFF2-40B4-BE49-F238E27FC236}">
                <a16:creationId xmlns:a16="http://schemas.microsoft.com/office/drawing/2014/main" id="{7E57B9DA-F1DA-45F7-A4AD-9E49804C9FA3}"/>
              </a:ext>
            </a:extLst>
          </p:cNvPr>
          <p:cNvSpPr>
            <a:spLocks noChangeShapeType="1"/>
          </p:cNvSpPr>
          <p:nvPr/>
        </p:nvSpPr>
        <p:spPr bwMode="auto">
          <a:xfrm flipH="1">
            <a:off x="4183063" y="2983471"/>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3" name="Group 29">
            <a:extLst>
              <a:ext uri="{FF2B5EF4-FFF2-40B4-BE49-F238E27FC236}">
                <a16:creationId xmlns:a16="http://schemas.microsoft.com/office/drawing/2014/main" id="{25FC910E-B5B5-40FA-8DA7-F98AE0872322}"/>
              </a:ext>
            </a:extLst>
          </p:cNvPr>
          <p:cNvGrpSpPr>
            <a:grpSpLocks/>
          </p:cNvGrpSpPr>
          <p:nvPr/>
        </p:nvGrpSpPr>
        <p:grpSpPr bwMode="auto">
          <a:xfrm>
            <a:off x="3960238" y="2172259"/>
            <a:ext cx="103187" cy="2462212"/>
            <a:chOff x="3651" y="1878"/>
            <a:chExt cx="78" cy="963"/>
          </a:xfrm>
        </p:grpSpPr>
        <p:sp>
          <p:nvSpPr>
            <p:cNvPr id="104" name="Line 30">
              <a:extLst>
                <a:ext uri="{FF2B5EF4-FFF2-40B4-BE49-F238E27FC236}">
                  <a16:creationId xmlns:a16="http://schemas.microsoft.com/office/drawing/2014/main" id="{C3A73B2A-2016-4549-9BA3-2AB2A0C51DC6}"/>
                </a:ext>
              </a:extLst>
            </p:cNvPr>
            <p:cNvSpPr>
              <a:spLocks noChangeShapeType="1"/>
            </p:cNvSpPr>
            <p:nvPr/>
          </p:nvSpPr>
          <p:spPr bwMode="auto">
            <a:xfrm>
              <a:off x="3729" y="1879"/>
              <a:ext cx="0" cy="96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5" name="Line 31">
              <a:extLst>
                <a:ext uri="{FF2B5EF4-FFF2-40B4-BE49-F238E27FC236}">
                  <a16:creationId xmlns:a16="http://schemas.microsoft.com/office/drawing/2014/main" id="{F9B04E31-7C3E-4FE4-89DF-4BFA61A13351}"/>
                </a:ext>
              </a:extLst>
            </p:cNvPr>
            <p:cNvSpPr>
              <a:spLocks noChangeShapeType="1"/>
            </p:cNvSpPr>
            <p:nvPr/>
          </p:nvSpPr>
          <p:spPr bwMode="auto">
            <a:xfrm flipH="1">
              <a:off x="3651" y="1878"/>
              <a:ext cx="76"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Line 32">
              <a:extLst>
                <a:ext uri="{FF2B5EF4-FFF2-40B4-BE49-F238E27FC236}">
                  <a16:creationId xmlns:a16="http://schemas.microsoft.com/office/drawing/2014/main" id="{764CB763-B686-4194-A0C0-A7DBAC0476B6}"/>
                </a:ext>
              </a:extLst>
            </p:cNvPr>
            <p:cNvSpPr>
              <a:spLocks noChangeShapeType="1"/>
            </p:cNvSpPr>
            <p:nvPr/>
          </p:nvSpPr>
          <p:spPr bwMode="auto">
            <a:xfrm flipH="1">
              <a:off x="3651" y="2841"/>
              <a:ext cx="76"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07" name="Line 37">
            <a:extLst>
              <a:ext uri="{FF2B5EF4-FFF2-40B4-BE49-F238E27FC236}">
                <a16:creationId xmlns:a16="http://schemas.microsoft.com/office/drawing/2014/main" id="{1178BDA6-8692-4AE9-AD74-F0352169112B}"/>
              </a:ext>
            </a:extLst>
          </p:cNvPr>
          <p:cNvSpPr>
            <a:spLocks noChangeShapeType="1"/>
          </p:cNvSpPr>
          <p:nvPr/>
        </p:nvSpPr>
        <p:spPr bwMode="auto">
          <a:xfrm>
            <a:off x="4162425" y="4802746"/>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8" name="Line 38">
            <a:extLst>
              <a:ext uri="{FF2B5EF4-FFF2-40B4-BE49-F238E27FC236}">
                <a16:creationId xmlns:a16="http://schemas.microsoft.com/office/drawing/2014/main" id="{0F411939-CF2C-407D-8045-00B34449E9C6}"/>
              </a:ext>
            </a:extLst>
          </p:cNvPr>
          <p:cNvSpPr>
            <a:spLocks noChangeShapeType="1"/>
          </p:cNvSpPr>
          <p:nvPr/>
        </p:nvSpPr>
        <p:spPr bwMode="auto">
          <a:xfrm>
            <a:off x="4154488" y="5047221"/>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9" name="Line 39">
            <a:extLst>
              <a:ext uri="{FF2B5EF4-FFF2-40B4-BE49-F238E27FC236}">
                <a16:creationId xmlns:a16="http://schemas.microsoft.com/office/drawing/2014/main" id="{A9CD6C30-1224-46EF-8B65-3A5E7B8C1C88}"/>
              </a:ext>
            </a:extLst>
          </p:cNvPr>
          <p:cNvSpPr>
            <a:spLocks noChangeShapeType="1"/>
          </p:cNvSpPr>
          <p:nvPr/>
        </p:nvSpPr>
        <p:spPr bwMode="auto">
          <a:xfrm>
            <a:off x="4148138" y="5280584"/>
            <a:ext cx="2101850"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0" name="Line 40">
            <a:extLst>
              <a:ext uri="{FF2B5EF4-FFF2-40B4-BE49-F238E27FC236}">
                <a16:creationId xmlns:a16="http://schemas.microsoft.com/office/drawing/2014/main" id="{6644F711-48A7-4D5D-9CAE-3B182862E455}"/>
              </a:ext>
            </a:extLst>
          </p:cNvPr>
          <p:cNvSpPr>
            <a:spLocks noChangeShapeType="1"/>
          </p:cNvSpPr>
          <p:nvPr/>
        </p:nvSpPr>
        <p:spPr bwMode="auto">
          <a:xfrm>
            <a:off x="4151313" y="5513946"/>
            <a:ext cx="2100262"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1" name="Text Box 41">
            <a:extLst>
              <a:ext uri="{FF2B5EF4-FFF2-40B4-BE49-F238E27FC236}">
                <a16:creationId xmlns:a16="http://schemas.microsoft.com/office/drawing/2014/main" id="{9E0E6613-EB41-47E9-95AF-D45DF1BE5578}"/>
              </a:ext>
            </a:extLst>
          </p:cNvPr>
          <p:cNvSpPr txBox="1">
            <a:spLocks noChangeArrowheads="1"/>
          </p:cNvSpPr>
          <p:nvPr/>
        </p:nvSpPr>
        <p:spPr bwMode="auto">
          <a:xfrm>
            <a:off x="6257963" y="3578697"/>
            <a:ext cx="266771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丢弃</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112" name="Text Box 42">
            <a:extLst>
              <a:ext uri="{FF2B5EF4-FFF2-40B4-BE49-F238E27FC236}">
                <a16:creationId xmlns:a16="http://schemas.microsoft.com/office/drawing/2014/main" id="{6D58DB4C-CCE5-4583-9119-03478210F3F0}"/>
              </a:ext>
            </a:extLst>
          </p:cNvPr>
          <p:cNvSpPr txBox="1">
            <a:spLocks noChangeArrowheads="1"/>
          </p:cNvSpPr>
          <p:nvPr/>
        </p:nvSpPr>
        <p:spPr bwMode="auto">
          <a:xfrm>
            <a:off x="6269038" y="3922386"/>
            <a:ext cx="266771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丢弃</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重传</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p:txBody>
      </p:sp>
      <p:sp>
        <p:nvSpPr>
          <p:cNvPr id="113" name="Text Box 43">
            <a:extLst>
              <a:ext uri="{FF2B5EF4-FFF2-40B4-BE49-F238E27FC236}">
                <a16:creationId xmlns:a16="http://schemas.microsoft.com/office/drawing/2014/main" id="{D728CE1F-386E-4709-84F9-D0D1062F1612}"/>
              </a:ext>
            </a:extLst>
          </p:cNvPr>
          <p:cNvSpPr txBox="1">
            <a:spLocks noChangeArrowheads="1"/>
          </p:cNvSpPr>
          <p:nvPr/>
        </p:nvSpPr>
        <p:spPr bwMode="auto">
          <a:xfrm>
            <a:off x="6261535" y="5115581"/>
            <a:ext cx="2770310" cy="1077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ACK2</a:t>
            </a: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ACK3</a:t>
            </a: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ACK4</a:t>
            </a: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ACK5</a:t>
            </a:r>
          </a:p>
        </p:txBody>
      </p:sp>
      <p:sp>
        <p:nvSpPr>
          <p:cNvPr id="114" name="Text Box 44">
            <a:extLst>
              <a:ext uri="{FF2B5EF4-FFF2-40B4-BE49-F238E27FC236}">
                <a16:creationId xmlns:a16="http://schemas.microsoft.com/office/drawing/2014/main" id="{9F8EE706-0538-4FC7-865D-F2C35798DD3E}"/>
              </a:ext>
            </a:extLst>
          </p:cNvPr>
          <p:cNvSpPr txBox="1">
            <a:spLocks noChangeArrowheads="1"/>
          </p:cNvSpPr>
          <p:nvPr/>
        </p:nvSpPr>
        <p:spPr bwMode="auto">
          <a:xfrm>
            <a:off x="2709477" y="3923654"/>
            <a:ext cx="143661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忽略重复</a:t>
            </a:r>
            <a:r>
              <a:rPr lang="en-US" dirty="0">
                <a:latin typeface="Times New Roman" panose="02020603050405020304" pitchFamily="18" charset="0"/>
                <a:ea typeface="宋体" panose="02010600030101010101" pitchFamily="2" charset="-122"/>
                <a:cs typeface="Times New Roman" panose="02020603050405020304" pitchFamily="18" charset="0"/>
              </a:rPr>
              <a:t>ACK</a:t>
            </a:r>
          </a:p>
        </p:txBody>
      </p:sp>
      <p:sp>
        <p:nvSpPr>
          <p:cNvPr id="144" name="Line 98">
            <a:extLst>
              <a:ext uri="{FF2B5EF4-FFF2-40B4-BE49-F238E27FC236}">
                <a16:creationId xmlns:a16="http://schemas.microsoft.com/office/drawing/2014/main" id="{63EEE5BB-E312-471B-A43D-A6ABBF84E22F}"/>
              </a:ext>
            </a:extLst>
          </p:cNvPr>
          <p:cNvSpPr>
            <a:spLocks noChangeShapeType="1"/>
          </p:cNvSpPr>
          <p:nvPr/>
        </p:nvSpPr>
        <p:spPr bwMode="auto">
          <a:xfrm flipH="1">
            <a:off x="5216525" y="3794684"/>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5" name="Line 99">
            <a:extLst>
              <a:ext uri="{FF2B5EF4-FFF2-40B4-BE49-F238E27FC236}">
                <a16:creationId xmlns:a16="http://schemas.microsoft.com/office/drawing/2014/main" id="{93074ADD-B405-4FE2-B7C4-97377537A1C1}"/>
              </a:ext>
            </a:extLst>
          </p:cNvPr>
          <p:cNvSpPr>
            <a:spLocks noChangeShapeType="1"/>
          </p:cNvSpPr>
          <p:nvPr/>
        </p:nvSpPr>
        <p:spPr bwMode="auto">
          <a:xfrm flipH="1">
            <a:off x="5222875" y="4104246"/>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6" name="Line 100">
            <a:extLst>
              <a:ext uri="{FF2B5EF4-FFF2-40B4-BE49-F238E27FC236}">
                <a16:creationId xmlns:a16="http://schemas.microsoft.com/office/drawing/2014/main" id="{E9E364A1-2AAE-4D74-AD63-2AFD7AC24A71}"/>
              </a:ext>
            </a:extLst>
          </p:cNvPr>
          <p:cNvSpPr>
            <a:spLocks noChangeShapeType="1"/>
          </p:cNvSpPr>
          <p:nvPr/>
        </p:nvSpPr>
        <p:spPr bwMode="auto">
          <a:xfrm flipH="1">
            <a:off x="5218113" y="5294871"/>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Line 101">
            <a:extLst>
              <a:ext uri="{FF2B5EF4-FFF2-40B4-BE49-F238E27FC236}">
                <a16:creationId xmlns:a16="http://schemas.microsoft.com/office/drawing/2014/main" id="{9766A88A-B9E3-4F17-9608-71A11D6FB581}"/>
              </a:ext>
            </a:extLst>
          </p:cNvPr>
          <p:cNvSpPr>
            <a:spLocks noChangeShapeType="1"/>
          </p:cNvSpPr>
          <p:nvPr/>
        </p:nvSpPr>
        <p:spPr bwMode="auto">
          <a:xfrm flipH="1">
            <a:off x="5202238" y="5548871"/>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8" name="Line 102">
            <a:extLst>
              <a:ext uri="{FF2B5EF4-FFF2-40B4-BE49-F238E27FC236}">
                <a16:creationId xmlns:a16="http://schemas.microsoft.com/office/drawing/2014/main" id="{6913D31D-64CC-4C7F-8E37-20637DAC3C24}"/>
              </a:ext>
            </a:extLst>
          </p:cNvPr>
          <p:cNvSpPr>
            <a:spLocks noChangeShapeType="1"/>
          </p:cNvSpPr>
          <p:nvPr/>
        </p:nvSpPr>
        <p:spPr bwMode="auto">
          <a:xfrm flipH="1">
            <a:off x="5186363" y="5791759"/>
            <a:ext cx="1033462"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9" name="Line 103">
            <a:extLst>
              <a:ext uri="{FF2B5EF4-FFF2-40B4-BE49-F238E27FC236}">
                <a16:creationId xmlns:a16="http://schemas.microsoft.com/office/drawing/2014/main" id="{74ECBF35-3280-4A94-A69D-087942CF472D}"/>
              </a:ext>
            </a:extLst>
          </p:cNvPr>
          <p:cNvSpPr>
            <a:spLocks noChangeShapeType="1"/>
          </p:cNvSpPr>
          <p:nvPr/>
        </p:nvSpPr>
        <p:spPr bwMode="auto">
          <a:xfrm flipH="1">
            <a:off x="5170488" y="6034646"/>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 name="Line 14">
            <a:extLst>
              <a:ext uri="{FF2B5EF4-FFF2-40B4-BE49-F238E27FC236}">
                <a16:creationId xmlns:a16="http://schemas.microsoft.com/office/drawing/2014/main" id="{5C96FBE8-175C-4DCE-8FCF-3E0919E0A664}"/>
              </a:ext>
            </a:extLst>
          </p:cNvPr>
          <p:cNvSpPr>
            <a:spLocks noChangeShapeType="1"/>
          </p:cNvSpPr>
          <p:nvPr/>
        </p:nvSpPr>
        <p:spPr bwMode="auto">
          <a:xfrm>
            <a:off x="4143375" y="1581493"/>
            <a:ext cx="9525" cy="458130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Text Box 59">
            <a:extLst>
              <a:ext uri="{FF2B5EF4-FFF2-40B4-BE49-F238E27FC236}">
                <a16:creationId xmlns:a16="http://schemas.microsoft.com/office/drawing/2014/main" id="{BE46E9D1-344D-492B-9C8B-F96CA1D9EEDB}"/>
              </a:ext>
            </a:extLst>
          </p:cNvPr>
          <p:cNvSpPr txBox="1">
            <a:spLocks noChangeArrowheads="1"/>
          </p:cNvSpPr>
          <p:nvPr/>
        </p:nvSpPr>
        <p:spPr bwMode="auto">
          <a:xfrm>
            <a:off x="414557" y="1182274"/>
            <a:ext cx="109837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窗口</a:t>
            </a:r>
            <a:r>
              <a:rPr lang="en-US"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(N=4)</a:t>
            </a:r>
          </a:p>
        </p:txBody>
      </p:sp>
      <p:grpSp>
        <p:nvGrpSpPr>
          <p:cNvPr id="73" name="Group 65">
            <a:extLst>
              <a:ext uri="{FF2B5EF4-FFF2-40B4-BE49-F238E27FC236}">
                <a16:creationId xmlns:a16="http://schemas.microsoft.com/office/drawing/2014/main" id="{9EBC685B-EC27-47E2-876C-891BCCF49F30}"/>
              </a:ext>
            </a:extLst>
          </p:cNvPr>
          <p:cNvGrpSpPr>
            <a:grpSpLocks/>
          </p:cNvGrpSpPr>
          <p:nvPr/>
        </p:nvGrpSpPr>
        <p:grpSpPr bwMode="auto">
          <a:xfrm>
            <a:off x="407988" y="1488046"/>
            <a:ext cx="1396999" cy="307975"/>
            <a:chOff x="115" y="914"/>
            <a:chExt cx="880" cy="194"/>
          </a:xfrm>
        </p:grpSpPr>
        <p:sp>
          <p:nvSpPr>
            <p:cNvPr id="74" name="Rectangle 60">
              <a:extLst>
                <a:ext uri="{FF2B5EF4-FFF2-40B4-BE49-F238E27FC236}">
                  <a16:creationId xmlns:a16="http://schemas.microsoft.com/office/drawing/2014/main" id="{9AA15342-2313-43E9-92E6-374C8747B14B}"/>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Text Box 46">
              <a:extLst>
                <a:ext uri="{FF2B5EF4-FFF2-40B4-BE49-F238E27FC236}">
                  <a16:creationId xmlns:a16="http://schemas.microsoft.com/office/drawing/2014/main" id="{7ED60C3C-B1B7-4E9B-9078-9B63716C10CA}"/>
                </a:ext>
              </a:extLst>
            </p:cNvPr>
            <p:cNvSpPr txBox="1">
              <a:spLocks noChangeArrowheads="1"/>
            </p:cNvSpPr>
            <p:nvPr/>
          </p:nvSpPr>
          <p:spPr bwMode="auto">
            <a:xfrm>
              <a:off x="115" y="914"/>
              <a:ext cx="880"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76" name="Group 67">
            <a:extLst>
              <a:ext uri="{FF2B5EF4-FFF2-40B4-BE49-F238E27FC236}">
                <a16:creationId xmlns:a16="http://schemas.microsoft.com/office/drawing/2014/main" id="{E8C623F1-C6CA-48D0-A88B-3610EEFA5481}"/>
              </a:ext>
            </a:extLst>
          </p:cNvPr>
          <p:cNvGrpSpPr>
            <a:grpSpLocks/>
          </p:cNvGrpSpPr>
          <p:nvPr/>
        </p:nvGrpSpPr>
        <p:grpSpPr bwMode="auto">
          <a:xfrm>
            <a:off x="404813" y="1773796"/>
            <a:ext cx="1441449" cy="307975"/>
            <a:chOff x="115" y="914"/>
            <a:chExt cx="908" cy="194"/>
          </a:xfrm>
        </p:grpSpPr>
        <p:sp>
          <p:nvSpPr>
            <p:cNvPr id="77" name="Rectangle 68">
              <a:extLst>
                <a:ext uri="{FF2B5EF4-FFF2-40B4-BE49-F238E27FC236}">
                  <a16:creationId xmlns:a16="http://schemas.microsoft.com/office/drawing/2014/main" id="{65A25BC8-7EC8-42A1-9B53-62C87BCE841D}"/>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Text Box 69">
              <a:extLst>
                <a:ext uri="{FF2B5EF4-FFF2-40B4-BE49-F238E27FC236}">
                  <a16:creationId xmlns:a16="http://schemas.microsoft.com/office/drawing/2014/main" id="{79AFE4F6-D443-4024-B0C5-40344B9E81AF}"/>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79" name="Group 70">
            <a:extLst>
              <a:ext uri="{FF2B5EF4-FFF2-40B4-BE49-F238E27FC236}">
                <a16:creationId xmlns:a16="http://schemas.microsoft.com/office/drawing/2014/main" id="{B6438DC3-A848-4ED6-9763-4ECE85176B45}"/>
              </a:ext>
            </a:extLst>
          </p:cNvPr>
          <p:cNvGrpSpPr>
            <a:grpSpLocks/>
          </p:cNvGrpSpPr>
          <p:nvPr/>
        </p:nvGrpSpPr>
        <p:grpSpPr bwMode="auto">
          <a:xfrm>
            <a:off x="412750" y="2059546"/>
            <a:ext cx="1441451" cy="307975"/>
            <a:chOff x="115" y="914"/>
            <a:chExt cx="908" cy="194"/>
          </a:xfrm>
        </p:grpSpPr>
        <p:sp>
          <p:nvSpPr>
            <p:cNvPr id="80" name="Rectangle 71">
              <a:extLst>
                <a:ext uri="{FF2B5EF4-FFF2-40B4-BE49-F238E27FC236}">
                  <a16:creationId xmlns:a16="http://schemas.microsoft.com/office/drawing/2014/main" id="{2F8A3136-17B5-4E17-B913-88ABFCB17158}"/>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Text Box 72">
              <a:extLst>
                <a:ext uri="{FF2B5EF4-FFF2-40B4-BE49-F238E27FC236}">
                  <a16:creationId xmlns:a16="http://schemas.microsoft.com/office/drawing/2014/main" id="{1375DDC2-746F-4390-85B7-FCE1C0EB409A}"/>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82" name="Group 73">
            <a:extLst>
              <a:ext uri="{FF2B5EF4-FFF2-40B4-BE49-F238E27FC236}">
                <a16:creationId xmlns:a16="http://schemas.microsoft.com/office/drawing/2014/main" id="{1126EF56-BB63-44B4-9E43-90CE3A05C844}"/>
              </a:ext>
            </a:extLst>
          </p:cNvPr>
          <p:cNvGrpSpPr>
            <a:grpSpLocks/>
          </p:cNvGrpSpPr>
          <p:nvPr/>
        </p:nvGrpSpPr>
        <p:grpSpPr bwMode="auto">
          <a:xfrm>
            <a:off x="409575" y="2334184"/>
            <a:ext cx="1441451" cy="307975"/>
            <a:chOff x="115" y="914"/>
            <a:chExt cx="908" cy="194"/>
          </a:xfrm>
        </p:grpSpPr>
        <p:sp>
          <p:nvSpPr>
            <p:cNvPr id="83" name="Rectangle 74">
              <a:extLst>
                <a:ext uri="{FF2B5EF4-FFF2-40B4-BE49-F238E27FC236}">
                  <a16:creationId xmlns:a16="http://schemas.microsoft.com/office/drawing/2014/main" id="{236DD927-17DC-4800-9D1E-755D73059AE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Text Box 75">
              <a:extLst>
                <a:ext uri="{FF2B5EF4-FFF2-40B4-BE49-F238E27FC236}">
                  <a16:creationId xmlns:a16="http://schemas.microsoft.com/office/drawing/2014/main" id="{D27760CC-4057-44E9-9FED-4B2D18A0FA9F}"/>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sp>
        <p:nvSpPr>
          <p:cNvPr id="85" name="Rectangle 79">
            <a:extLst>
              <a:ext uri="{FF2B5EF4-FFF2-40B4-BE49-F238E27FC236}">
                <a16:creationId xmlns:a16="http://schemas.microsoft.com/office/drawing/2014/main" id="{7D435F32-0367-4713-A491-50BB130CC756}"/>
              </a:ext>
            </a:extLst>
          </p:cNvPr>
          <p:cNvSpPr>
            <a:spLocks noChangeArrowheads="1"/>
          </p:cNvSpPr>
          <p:nvPr/>
        </p:nvSpPr>
        <p:spPr bwMode="auto">
          <a:xfrm>
            <a:off x="620713" y="3139046"/>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0" name="Text Box 80">
            <a:extLst>
              <a:ext uri="{FF2B5EF4-FFF2-40B4-BE49-F238E27FC236}">
                <a16:creationId xmlns:a16="http://schemas.microsoft.com/office/drawing/2014/main" id="{B51D8E53-9442-47D1-93BC-2E36A518713C}"/>
              </a:ext>
            </a:extLst>
          </p:cNvPr>
          <p:cNvSpPr txBox="1">
            <a:spLocks noChangeArrowheads="1"/>
          </p:cNvSpPr>
          <p:nvPr/>
        </p:nvSpPr>
        <p:spPr bwMode="auto">
          <a:xfrm>
            <a:off x="406400" y="3104121"/>
            <a:ext cx="148630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1 2 3 4</a:t>
            </a:r>
            <a:r>
              <a:rPr lang="en-US" sz="1400" dirty="0">
                <a:latin typeface="Times New Roman" panose="02020603050405020304" pitchFamily="18" charset="0"/>
                <a:ea typeface="宋体" panose="02010600030101010101" pitchFamily="2" charset="-122"/>
                <a:cs typeface="Times New Roman" panose="02020603050405020304" pitchFamily="18" charset="0"/>
              </a:rPr>
              <a:t>   5 6 7 8 </a:t>
            </a:r>
          </a:p>
        </p:txBody>
      </p:sp>
      <p:grpSp>
        <p:nvGrpSpPr>
          <p:cNvPr id="151" name="Group 84">
            <a:extLst>
              <a:ext uri="{FF2B5EF4-FFF2-40B4-BE49-F238E27FC236}">
                <a16:creationId xmlns:a16="http://schemas.microsoft.com/office/drawing/2014/main" id="{FC22FCBA-3552-46E5-8539-B4E72D6E4E83}"/>
              </a:ext>
            </a:extLst>
          </p:cNvPr>
          <p:cNvGrpSpPr>
            <a:grpSpLocks/>
          </p:cNvGrpSpPr>
          <p:nvPr/>
        </p:nvGrpSpPr>
        <p:grpSpPr bwMode="auto">
          <a:xfrm>
            <a:off x="403225" y="3378759"/>
            <a:ext cx="1485901" cy="307975"/>
            <a:chOff x="112" y="2105"/>
            <a:chExt cx="936" cy="194"/>
          </a:xfrm>
        </p:grpSpPr>
        <p:sp>
          <p:nvSpPr>
            <p:cNvPr id="152" name="Rectangle 82">
              <a:extLst>
                <a:ext uri="{FF2B5EF4-FFF2-40B4-BE49-F238E27FC236}">
                  <a16:creationId xmlns:a16="http://schemas.microsoft.com/office/drawing/2014/main" id="{981CEAE1-9381-4B20-B4CF-96BD5DAACCEF}"/>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 name="Text Box 83">
              <a:extLst>
                <a:ext uri="{FF2B5EF4-FFF2-40B4-BE49-F238E27FC236}">
                  <a16:creationId xmlns:a16="http://schemas.microsoft.com/office/drawing/2014/main" id="{0731CA1E-6386-46D7-8FEB-03178CD67846}"/>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54" name="Group 85">
            <a:extLst>
              <a:ext uri="{FF2B5EF4-FFF2-40B4-BE49-F238E27FC236}">
                <a16:creationId xmlns:a16="http://schemas.microsoft.com/office/drawing/2014/main" id="{1B4DA75F-B328-4826-AD2C-FDAFC837FB7C}"/>
              </a:ext>
            </a:extLst>
          </p:cNvPr>
          <p:cNvGrpSpPr>
            <a:grpSpLocks/>
          </p:cNvGrpSpPr>
          <p:nvPr/>
        </p:nvGrpSpPr>
        <p:grpSpPr bwMode="auto">
          <a:xfrm>
            <a:off x="391913" y="4613833"/>
            <a:ext cx="1485899" cy="307975"/>
            <a:chOff x="112" y="2105"/>
            <a:chExt cx="936" cy="194"/>
          </a:xfrm>
        </p:grpSpPr>
        <p:sp>
          <p:nvSpPr>
            <p:cNvPr id="155" name="Rectangle 86">
              <a:extLst>
                <a:ext uri="{FF2B5EF4-FFF2-40B4-BE49-F238E27FC236}">
                  <a16:creationId xmlns:a16="http://schemas.microsoft.com/office/drawing/2014/main" id="{A130616C-06BE-4426-93A4-AE0B982137C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6" name="Text Box 87">
              <a:extLst>
                <a:ext uri="{FF2B5EF4-FFF2-40B4-BE49-F238E27FC236}">
                  <a16:creationId xmlns:a16="http://schemas.microsoft.com/office/drawing/2014/main" id="{236551BE-EA82-4B8B-A8AB-ECAE4E25C4BB}"/>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57" name="Group 88">
            <a:extLst>
              <a:ext uri="{FF2B5EF4-FFF2-40B4-BE49-F238E27FC236}">
                <a16:creationId xmlns:a16="http://schemas.microsoft.com/office/drawing/2014/main" id="{8F18180C-887E-4321-8672-C4847294CF73}"/>
              </a:ext>
            </a:extLst>
          </p:cNvPr>
          <p:cNvGrpSpPr>
            <a:grpSpLocks/>
          </p:cNvGrpSpPr>
          <p:nvPr/>
        </p:nvGrpSpPr>
        <p:grpSpPr bwMode="auto">
          <a:xfrm>
            <a:off x="399850" y="4855133"/>
            <a:ext cx="1485901" cy="307975"/>
            <a:chOff x="112" y="2105"/>
            <a:chExt cx="936" cy="194"/>
          </a:xfrm>
        </p:grpSpPr>
        <p:sp>
          <p:nvSpPr>
            <p:cNvPr id="158" name="Rectangle 89">
              <a:extLst>
                <a:ext uri="{FF2B5EF4-FFF2-40B4-BE49-F238E27FC236}">
                  <a16:creationId xmlns:a16="http://schemas.microsoft.com/office/drawing/2014/main" id="{D93B95DA-8366-47A9-B761-8330898EE800}"/>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9" name="Text Box 90">
              <a:extLst>
                <a:ext uri="{FF2B5EF4-FFF2-40B4-BE49-F238E27FC236}">
                  <a16:creationId xmlns:a16="http://schemas.microsoft.com/office/drawing/2014/main" id="{6FDE5219-E7E7-4551-B189-5BF5F48D0631}"/>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60" name="Group 91">
            <a:extLst>
              <a:ext uri="{FF2B5EF4-FFF2-40B4-BE49-F238E27FC236}">
                <a16:creationId xmlns:a16="http://schemas.microsoft.com/office/drawing/2014/main" id="{7DF61423-F46A-48E5-8F2F-9E733068AE9B}"/>
              </a:ext>
            </a:extLst>
          </p:cNvPr>
          <p:cNvGrpSpPr>
            <a:grpSpLocks/>
          </p:cNvGrpSpPr>
          <p:nvPr/>
        </p:nvGrpSpPr>
        <p:grpSpPr bwMode="auto">
          <a:xfrm>
            <a:off x="396675" y="5118658"/>
            <a:ext cx="1485901" cy="307975"/>
            <a:chOff x="112" y="2105"/>
            <a:chExt cx="936" cy="194"/>
          </a:xfrm>
        </p:grpSpPr>
        <p:sp>
          <p:nvSpPr>
            <p:cNvPr id="161" name="Rectangle 92">
              <a:extLst>
                <a:ext uri="{FF2B5EF4-FFF2-40B4-BE49-F238E27FC236}">
                  <a16:creationId xmlns:a16="http://schemas.microsoft.com/office/drawing/2014/main" id="{34946CE2-E0D5-4B50-92AF-3158EE562A01}"/>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 name="Text Box 93">
              <a:extLst>
                <a:ext uri="{FF2B5EF4-FFF2-40B4-BE49-F238E27FC236}">
                  <a16:creationId xmlns:a16="http://schemas.microsoft.com/office/drawing/2014/main" id="{C8FC008F-7D85-47FB-A712-DD77431FFD6F}"/>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63" name="Group 94">
            <a:extLst>
              <a:ext uri="{FF2B5EF4-FFF2-40B4-BE49-F238E27FC236}">
                <a16:creationId xmlns:a16="http://schemas.microsoft.com/office/drawing/2014/main" id="{0B793075-F4A2-4125-9F18-75358084D699}"/>
              </a:ext>
            </a:extLst>
          </p:cNvPr>
          <p:cNvGrpSpPr>
            <a:grpSpLocks/>
          </p:cNvGrpSpPr>
          <p:nvPr/>
        </p:nvGrpSpPr>
        <p:grpSpPr bwMode="auto">
          <a:xfrm>
            <a:off x="393500" y="5359958"/>
            <a:ext cx="1485901" cy="307975"/>
            <a:chOff x="112" y="2105"/>
            <a:chExt cx="936" cy="194"/>
          </a:xfrm>
        </p:grpSpPr>
        <p:sp>
          <p:nvSpPr>
            <p:cNvPr id="164" name="Rectangle 95">
              <a:extLst>
                <a:ext uri="{FF2B5EF4-FFF2-40B4-BE49-F238E27FC236}">
                  <a16:creationId xmlns:a16="http://schemas.microsoft.com/office/drawing/2014/main" id="{30FBF2C4-6DEC-444A-B630-5CB9CE925BA6}"/>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5" name="Text Box 96">
              <a:extLst>
                <a:ext uri="{FF2B5EF4-FFF2-40B4-BE49-F238E27FC236}">
                  <a16:creationId xmlns:a16="http://schemas.microsoft.com/office/drawing/2014/main" id="{C5DB221E-0722-4FEB-A11D-A9F82FCB630E}"/>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spTree>
    <p:extLst>
      <p:ext uri="{BB962C8B-B14F-4D97-AF65-F5344CB8AC3E}">
        <p14:creationId xmlns:p14="http://schemas.microsoft.com/office/powerpoint/2010/main" val="1945880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图片 58">
            <a:extLst>
              <a:ext uri="{FF2B5EF4-FFF2-40B4-BE49-F238E27FC236}">
                <a16:creationId xmlns:a16="http://schemas.microsoft.com/office/drawing/2014/main" id="{010ED728-131B-493A-B0EC-998B7A1F1CD4}"/>
              </a:ext>
            </a:extLst>
          </p:cNvPr>
          <p:cNvPicPr>
            <a:picLocks noChangeAspect="1"/>
          </p:cNvPicPr>
          <p:nvPr/>
        </p:nvPicPr>
        <p:blipFill>
          <a:blip r:embed="rId3"/>
          <a:stretch>
            <a:fillRect/>
          </a:stretch>
        </p:blipFill>
        <p:spPr>
          <a:xfrm>
            <a:off x="539463" y="2395299"/>
            <a:ext cx="7064410" cy="3847319"/>
          </a:xfrm>
          <a:prstGeom prst="rect">
            <a:avLst/>
          </a:prstGeom>
        </p:spPr>
      </p:pic>
      <p:sp>
        <p:nvSpPr>
          <p:cNvPr id="31748" name="Rectangle 2"/>
          <p:cNvSpPr>
            <a:spLocks noGrp="1" noChangeArrowheads="1"/>
          </p:cNvSpPr>
          <p:nvPr>
            <p:ph type="title"/>
          </p:nvPr>
        </p:nvSpPr>
        <p:spPr>
          <a:xfrm>
            <a:off x="310469" y="571853"/>
            <a:ext cx="8496300" cy="826426"/>
          </a:xfrm>
        </p:spPr>
        <p:txBody>
          <a:bodyPr>
            <a:normAutofit/>
          </a:bodyPr>
          <a:lstStyle/>
          <a:p>
            <a:pPr marL="358775" indent="-358775">
              <a:buClr>
                <a:srgbClr val="C00000"/>
              </a:buClr>
              <a:buFont typeface="Wingdings" panose="05000000000000000000" pitchFamily="2" charset="2"/>
              <a:buChar char="n"/>
              <a:defRP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选择重传：</a:t>
            </a:r>
            <a:r>
              <a:rPr lang="en-US" altLang="zh-CN" sz="2800" i="1" dirty="0">
                <a:solidFill>
                  <a:srgbClr val="FF0000"/>
                </a:solidFill>
                <a:latin typeface="Arial" charset="0"/>
              </a:rPr>
              <a:t>Selective Repeat (SR)</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18" name="Rectangle 6">
            <a:extLst>
              <a:ext uri="{FF2B5EF4-FFF2-40B4-BE49-F238E27FC236}">
                <a16:creationId xmlns:a16="http://schemas.microsoft.com/office/drawing/2014/main" id="{91FEA863-741F-45E7-9281-AAE593D63D05}"/>
              </a:ext>
            </a:extLst>
          </p:cNvPr>
          <p:cNvSpPr>
            <a:spLocks noChangeArrowheads="1"/>
          </p:cNvSpPr>
          <p:nvPr/>
        </p:nvSpPr>
        <p:spPr bwMode="auto">
          <a:xfrm>
            <a:off x="271002" y="1341716"/>
            <a:ext cx="8535767" cy="859431"/>
          </a:xfrm>
          <a:prstGeom prst="rect">
            <a:avLst/>
          </a:prstGeom>
          <a:noFill/>
          <a:ln w="9525">
            <a:noFill/>
            <a:miter lim="800000"/>
            <a:headEnd/>
            <a:tailEnd/>
          </a:ln>
        </p:spPr>
        <p:txBody>
          <a:bodyPr/>
          <a:lstStyle/>
          <a:p>
            <a:pPr marL="625475" lvl="1" indent="-266700" eaLnBrk="0" hangingPunct="0">
              <a:lnSpc>
                <a:spcPts val="3200"/>
              </a:lnSpc>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接收端独立确认每个正确接收的分组，必要时缓存，对高层按序交付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ts val="3200"/>
              </a:lnSpc>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每个分组独立计时，发送端仅重传未收到</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的分组</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CD64DCCD-2F08-48F7-AF4E-BB9A8177E4FF}"/>
              </a:ext>
            </a:extLst>
          </p:cNvPr>
          <p:cNvSpPr txBox="1"/>
          <p:nvPr/>
        </p:nvSpPr>
        <p:spPr>
          <a:xfrm>
            <a:off x="7536652" y="2652980"/>
            <a:ext cx="1607348" cy="292388"/>
          </a:xfrm>
          <a:prstGeom prst="rect">
            <a:avLst/>
          </a:prstGeom>
          <a:noFill/>
        </p:spPr>
        <p:txBody>
          <a:bodyPr wrap="square" rtlCol="0">
            <a:spAutoFit/>
          </a:bodyPr>
          <a:lstStyle/>
          <a:p>
            <a:r>
              <a:rPr lang="zh-CN" altLang="en-US" sz="1300" dirty="0"/>
              <a:t>可用，还未发送</a:t>
            </a:r>
          </a:p>
        </p:txBody>
      </p:sp>
      <p:sp>
        <p:nvSpPr>
          <p:cNvPr id="22" name="文本框 21">
            <a:extLst>
              <a:ext uri="{FF2B5EF4-FFF2-40B4-BE49-F238E27FC236}">
                <a16:creationId xmlns:a16="http://schemas.microsoft.com/office/drawing/2014/main" id="{C3A2839E-ABB8-47E3-B83A-81F9D5AC3CB0}"/>
              </a:ext>
            </a:extLst>
          </p:cNvPr>
          <p:cNvSpPr txBox="1"/>
          <p:nvPr/>
        </p:nvSpPr>
        <p:spPr>
          <a:xfrm>
            <a:off x="6046400" y="2654931"/>
            <a:ext cx="1145195" cy="292388"/>
          </a:xfrm>
          <a:prstGeom prst="rect">
            <a:avLst/>
          </a:prstGeom>
          <a:noFill/>
        </p:spPr>
        <p:txBody>
          <a:bodyPr wrap="square" rtlCol="0">
            <a:spAutoFit/>
          </a:bodyPr>
          <a:lstStyle/>
          <a:p>
            <a:r>
              <a:rPr lang="zh-CN" altLang="en-US" sz="1300" dirty="0"/>
              <a:t>已经被确认</a:t>
            </a:r>
          </a:p>
        </p:txBody>
      </p:sp>
      <p:sp>
        <p:nvSpPr>
          <p:cNvPr id="24" name="文本框 23">
            <a:extLst>
              <a:ext uri="{FF2B5EF4-FFF2-40B4-BE49-F238E27FC236}">
                <a16:creationId xmlns:a16="http://schemas.microsoft.com/office/drawing/2014/main" id="{094EBDD7-0A09-4E9A-9185-0376F8E951CF}"/>
              </a:ext>
            </a:extLst>
          </p:cNvPr>
          <p:cNvSpPr txBox="1"/>
          <p:nvPr/>
        </p:nvSpPr>
        <p:spPr>
          <a:xfrm>
            <a:off x="6046400" y="3258604"/>
            <a:ext cx="1447078" cy="292388"/>
          </a:xfrm>
          <a:prstGeom prst="rect">
            <a:avLst/>
          </a:prstGeom>
          <a:noFill/>
        </p:spPr>
        <p:txBody>
          <a:bodyPr wrap="square" rtlCol="0">
            <a:spAutoFit/>
          </a:bodyPr>
          <a:lstStyle/>
          <a:p>
            <a:r>
              <a:rPr lang="zh-CN" altLang="en-US" sz="1300" dirty="0"/>
              <a:t>已发送，未确认</a:t>
            </a:r>
          </a:p>
        </p:txBody>
      </p:sp>
      <p:sp>
        <p:nvSpPr>
          <p:cNvPr id="26" name="文本框 25">
            <a:extLst>
              <a:ext uri="{FF2B5EF4-FFF2-40B4-BE49-F238E27FC236}">
                <a16:creationId xmlns:a16="http://schemas.microsoft.com/office/drawing/2014/main" id="{346E9C31-58B0-4E57-A8A5-A35801B2BB3D}"/>
              </a:ext>
            </a:extLst>
          </p:cNvPr>
          <p:cNvSpPr txBox="1"/>
          <p:nvPr/>
        </p:nvSpPr>
        <p:spPr>
          <a:xfrm>
            <a:off x="7556605" y="3242249"/>
            <a:ext cx="898202" cy="292388"/>
          </a:xfrm>
          <a:prstGeom prst="rect">
            <a:avLst/>
          </a:prstGeom>
          <a:noFill/>
        </p:spPr>
        <p:txBody>
          <a:bodyPr wrap="square" rtlCol="0">
            <a:spAutoFit/>
          </a:bodyPr>
          <a:lstStyle/>
          <a:p>
            <a:r>
              <a:rPr lang="zh-CN" altLang="en-US" sz="1300" dirty="0"/>
              <a:t>不可用</a:t>
            </a:r>
          </a:p>
        </p:txBody>
      </p:sp>
      <p:sp>
        <p:nvSpPr>
          <p:cNvPr id="28" name="文本框 27">
            <a:extLst>
              <a:ext uri="{FF2B5EF4-FFF2-40B4-BE49-F238E27FC236}">
                <a16:creationId xmlns:a16="http://schemas.microsoft.com/office/drawing/2014/main" id="{4C7E50AD-305B-4CF6-906F-338C1CC5B3B0}"/>
              </a:ext>
            </a:extLst>
          </p:cNvPr>
          <p:cNvSpPr txBox="1"/>
          <p:nvPr/>
        </p:nvSpPr>
        <p:spPr>
          <a:xfrm>
            <a:off x="1151040" y="2423312"/>
            <a:ext cx="1208069" cy="338554"/>
          </a:xfrm>
          <a:prstGeom prst="rect">
            <a:avLst/>
          </a:prstGeom>
          <a:noFill/>
        </p:spPr>
        <p:txBody>
          <a:bodyPr wrap="square" rtlCol="0">
            <a:spAutoFit/>
          </a:bodyPr>
          <a:lstStyle/>
          <a:p>
            <a:pPr algn="ctr"/>
            <a:r>
              <a:rPr lang="zh-CN" altLang="en-US" sz="1600" dirty="0"/>
              <a:t>发送基序号</a:t>
            </a:r>
            <a:endParaRPr lang="en-US" altLang="zh-CN" sz="1600" dirty="0"/>
          </a:p>
        </p:txBody>
      </p:sp>
      <p:sp>
        <p:nvSpPr>
          <p:cNvPr id="30" name="文本框 29">
            <a:extLst>
              <a:ext uri="{FF2B5EF4-FFF2-40B4-BE49-F238E27FC236}">
                <a16:creationId xmlns:a16="http://schemas.microsoft.com/office/drawing/2014/main" id="{B32092EF-9117-4BD8-9322-EB93A3644F71}"/>
              </a:ext>
            </a:extLst>
          </p:cNvPr>
          <p:cNvSpPr txBox="1"/>
          <p:nvPr/>
        </p:nvSpPr>
        <p:spPr>
          <a:xfrm>
            <a:off x="2594879" y="2423312"/>
            <a:ext cx="1208069" cy="338554"/>
          </a:xfrm>
          <a:prstGeom prst="rect">
            <a:avLst/>
          </a:prstGeom>
          <a:noFill/>
        </p:spPr>
        <p:txBody>
          <a:bodyPr wrap="square" rtlCol="0">
            <a:spAutoFit/>
          </a:bodyPr>
          <a:lstStyle/>
          <a:p>
            <a:pPr algn="ctr"/>
            <a:r>
              <a:rPr lang="zh-CN" altLang="en-US" sz="1600" dirty="0"/>
              <a:t>下一个序号</a:t>
            </a:r>
            <a:endParaRPr lang="en-US" altLang="zh-CN" sz="1600" dirty="0"/>
          </a:p>
        </p:txBody>
      </p:sp>
      <p:sp>
        <p:nvSpPr>
          <p:cNvPr id="32" name="文本框 31">
            <a:extLst>
              <a:ext uri="{FF2B5EF4-FFF2-40B4-BE49-F238E27FC236}">
                <a16:creationId xmlns:a16="http://schemas.microsoft.com/office/drawing/2014/main" id="{9C8EC804-1B17-49FB-B5D5-21976C321649}"/>
              </a:ext>
            </a:extLst>
          </p:cNvPr>
          <p:cNvSpPr txBox="1"/>
          <p:nvPr/>
        </p:nvSpPr>
        <p:spPr>
          <a:xfrm>
            <a:off x="1772837" y="6185913"/>
            <a:ext cx="1384166" cy="338554"/>
          </a:xfrm>
          <a:prstGeom prst="rect">
            <a:avLst/>
          </a:prstGeom>
          <a:noFill/>
        </p:spPr>
        <p:txBody>
          <a:bodyPr wrap="square" rtlCol="0">
            <a:spAutoFit/>
          </a:bodyPr>
          <a:lstStyle/>
          <a:p>
            <a:pPr algn="ctr"/>
            <a:r>
              <a:rPr lang="zh-CN" altLang="en-US" sz="1600" dirty="0"/>
              <a:t>接收基序号</a:t>
            </a:r>
            <a:endParaRPr lang="en-US" altLang="zh-CN" sz="1600" dirty="0"/>
          </a:p>
        </p:txBody>
      </p:sp>
      <p:sp>
        <p:nvSpPr>
          <p:cNvPr id="38" name="文本框 37">
            <a:extLst>
              <a:ext uri="{FF2B5EF4-FFF2-40B4-BE49-F238E27FC236}">
                <a16:creationId xmlns:a16="http://schemas.microsoft.com/office/drawing/2014/main" id="{178AC727-79B4-49E3-A18C-D50B787F736E}"/>
              </a:ext>
            </a:extLst>
          </p:cNvPr>
          <p:cNvSpPr txBox="1"/>
          <p:nvPr/>
        </p:nvSpPr>
        <p:spPr>
          <a:xfrm>
            <a:off x="7536652" y="4576025"/>
            <a:ext cx="1132426" cy="292388"/>
          </a:xfrm>
          <a:prstGeom prst="rect">
            <a:avLst/>
          </a:prstGeom>
          <a:noFill/>
        </p:spPr>
        <p:txBody>
          <a:bodyPr wrap="square" rtlCol="0">
            <a:spAutoFit/>
          </a:bodyPr>
          <a:lstStyle/>
          <a:p>
            <a:r>
              <a:rPr lang="zh-CN" altLang="en-US" sz="1300" dirty="0"/>
              <a:t>可接收</a:t>
            </a:r>
          </a:p>
        </p:txBody>
      </p:sp>
      <p:sp>
        <p:nvSpPr>
          <p:cNvPr id="40" name="文本框 39">
            <a:extLst>
              <a:ext uri="{FF2B5EF4-FFF2-40B4-BE49-F238E27FC236}">
                <a16:creationId xmlns:a16="http://schemas.microsoft.com/office/drawing/2014/main" id="{021D2CE9-09B3-48CB-BC4B-3BE699E7E75E}"/>
              </a:ext>
            </a:extLst>
          </p:cNvPr>
          <p:cNvSpPr txBox="1"/>
          <p:nvPr/>
        </p:nvSpPr>
        <p:spPr>
          <a:xfrm>
            <a:off x="6046400" y="4576025"/>
            <a:ext cx="1386376" cy="292388"/>
          </a:xfrm>
          <a:prstGeom prst="rect">
            <a:avLst/>
          </a:prstGeom>
          <a:noFill/>
        </p:spPr>
        <p:txBody>
          <a:bodyPr wrap="square" rtlCol="0">
            <a:spAutoFit/>
          </a:bodyPr>
          <a:lstStyle/>
          <a:p>
            <a:r>
              <a:rPr lang="zh-CN" altLang="en-US" sz="1300" dirty="0"/>
              <a:t>失序，被缓存</a:t>
            </a:r>
          </a:p>
        </p:txBody>
      </p:sp>
      <p:sp>
        <p:nvSpPr>
          <p:cNvPr id="42" name="文本框 41">
            <a:extLst>
              <a:ext uri="{FF2B5EF4-FFF2-40B4-BE49-F238E27FC236}">
                <a16:creationId xmlns:a16="http://schemas.microsoft.com/office/drawing/2014/main" id="{1E8719F9-5362-4418-97E5-0A71B5CAA8A1}"/>
              </a:ext>
            </a:extLst>
          </p:cNvPr>
          <p:cNvSpPr txBox="1"/>
          <p:nvPr/>
        </p:nvSpPr>
        <p:spPr>
          <a:xfrm>
            <a:off x="6046400" y="5142205"/>
            <a:ext cx="1447078" cy="292388"/>
          </a:xfrm>
          <a:prstGeom prst="rect">
            <a:avLst/>
          </a:prstGeom>
          <a:noFill/>
        </p:spPr>
        <p:txBody>
          <a:bodyPr wrap="square" rtlCol="0">
            <a:spAutoFit/>
          </a:bodyPr>
          <a:lstStyle/>
          <a:p>
            <a:r>
              <a:rPr lang="zh-CN" altLang="en-US" sz="1300" dirty="0"/>
              <a:t>期待，未收到</a:t>
            </a:r>
          </a:p>
        </p:txBody>
      </p:sp>
      <p:sp>
        <p:nvSpPr>
          <p:cNvPr id="44" name="文本框 43">
            <a:extLst>
              <a:ext uri="{FF2B5EF4-FFF2-40B4-BE49-F238E27FC236}">
                <a16:creationId xmlns:a16="http://schemas.microsoft.com/office/drawing/2014/main" id="{5DD18ACC-2E5C-42BA-B712-A822C4C09532}"/>
              </a:ext>
            </a:extLst>
          </p:cNvPr>
          <p:cNvSpPr txBox="1"/>
          <p:nvPr/>
        </p:nvSpPr>
        <p:spPr>
          <a:xfrm>
            <a:off x="7536652" y="5140159"/>
            <a:ext cx="898202" cy="292388"/>
          </a:xfrm>
          <a:prstGeom prst="rect">
            <a:avLst/>
          </a:prstGeom>
          <a:noFill/>
        </p:spPr>
        <p:txBody>
          <a:bodyPr wrap="square" rtlCol="0">
            <a:spAutoFit/>
          </a:bodyPr>
          <a:lstStyle/>
          <a:p>
            <a:r>
              <a:rPr lang="zh-CN" altLang="en-US" sz="1300" dirty="0"/>
              <a:t>不可用</a:t>
            </a:r>
          </a:p>
        </p:txBody>
      </p:sp>
      <p:sp>
        <p:nvSpPr>
          <p:cNvPr id="46" name="文本框 45">
            <a:extLst>
              <a:ext uri="{FF2B5EF4-FFF2-40B4-BE49-F238E27FC236}">
                <a16:creationId xmlns:a16="http://schemas.microsoft.com/office/drawing/2014/main" id="{FFDCE469-DD3B-4AD1-AEE0-F64BC8287533}"/>
              </a:ext>
            </a:extLst>
          </p:cNvPr>
          <p:cNvSpPr txBox="1"/>
          <p:nvPr/>
        </p:nvSpPr>
        <p:spPr>
          <a:xfrm>
            <a:off x="2359109" y="3828796"/>
            <a:ext cx="1249895" cy="338554"/>
          </a:xfrm>
          <a:prstGeom prst="rect">
            <a:avLst/>
          </a:prstGeom>
          <a:noFill/>
        </p:spPr>
        <p:txBody>
          <a:bodyPr wrap="square" rtlCol="0">
            <a:spAutoFit/>
          </a:bodyPr>
          <a:lstStyle/>
          <a:p>
            <a:pPr algn="ctr"/>
            <a:r>
              <a:rPr lang="zh-CN" altLang="en-US" sz="1600" dirty="0"/>
              <a:t>窗口大小</a:t>
            </a:r>
            <a:r>
              <a:rPr lang="en-US" altLang="zh-CN" sz="1600" dirty="0"/>
              <a:t>N</a:t>
            </a:r>
            <a:endParaRPr lang="zh-CN" altLang="en-US" sz="1600" dirty="0"/>
          </a:p>
        </p:txBody>
      </p:sp>
      <p:sp>
        <p:nvSpPr>
          <p:cNvPr id="48" name="文本框 47">
            <a:extLst>
              <a:ext uri="{FF2B5EF4-FFF2-40B4-BE49-F238E27FC236}">
                <a16:creationId xmlns:a16="http://schemas.microsoft.com/office/drawing/2014/main" id="{F046A3C5-C373-473D-B5EA-6597A9F708B4}"/>
              </a:ext>
            </a:extLst>
          </p:cNvPr>
          <p:cNvSpPr txBox="1"/>
          <p:nvPr/>
        </p:nvSpPr>
        <p:spPr>
          <a:xfrm>
            <a:off x="3070401" y="5717591"/>
            <a:ext cx="1275192" cy="338554"/>
          </a:xfrm>
          <a:prstGeom prst="rect">
            <a:avLst/>
          </a:prstGeom>
          <a:noFill/>
        </p:spPr>
        <p:txBody>
          <a:bodyPr wrap="square" rtlCol="0">
            <a:spAutoFit/>
          </a:bodyPr>
          <a:lstStyle/>
          <a:p>
            <a:pPr algn="ctr"/>
            <a:r>
              <a:rPr lang="zh-CN" altLang="en-US" sz="1600" dirty="0"/>
              <a:t>窗口大小</a:t>
            </a:r>
            <a:r>
              <a:rPr lang="en-US" altLang="zh-CN" sz="1600" dirty="0"/>
              <a:t>N</a:t>
            </a:r>
            <a:endParaRPr lang="zh-CN" altLang="en-US" sz="1600" dirty="0"/>
          </a:p>
        </p:txBody>
      </p:sp>
      <p:sp>
        <p:nvSpPr>
          <p:cNvPr id="50" name="文本框 49">
            <a:extLst>
              <a:ext uri="{FF2B5EF4-FFF2-40B4-BE49-F238E27FC236}">
                <a16:creationId xmlns:a16="http://schemas.microsoft.com/office/drawing/2014/main" id="{0A97B164-F56A-4884-B5F8-197D45BC2204}"/>
              </a:ext>
            </a:extLst>
          </p:cNvPr>
          <p:cNvSpPr txBox="1"/>
          <p:nvPr/>
        </p:nvSpPr>
        <p:spPr>
          <a:xfrm>
            <a:off x="457067" y="2682609"/>
            <a:ext cx="898201" cy="338554"/>
          </a:xfrm>
          <a:prstGeom prst="rect">
            <a:avLst/>
          </a:prstGeom>
          <a:noFill/>
        </p:spPr>
        <p:txBody>
          <a:bodyPr wrap="square" rtlCol="0">
            <a:spAutoFit/>
          </a:bodyPr>
          <a:lstStyle/>
          <a:p>
            <a:pPr algn="ctr"/>
            <a:r>
              <a:rPr lang="zh-CN" altLang="en-US" sz="1600" b="1" dirty="0">
                <a:solidFill>
                  <a:srgbClr val="FF0000"/>
                </a:solidFill>
              </a:rPr>
              <a:t>发送端</a:t>
            </a:r>
            <a:endParaRPr lang="en-US" altLang="zh-CN" sz="1600" b="1" dirty="0">
              <a:solidFill>
                <a:srgbClr val="FF0000"/>
              </a:solidFill>
            </a:endParaRPr>
          </a:p>
        </p:txBody>
      </p:sp>
      <p:sp>
        <p:nvSpPr>
          <p:cNvPr id="52" name="文本框 51">
            <a:extLst>
              <a:ext uri="{FF2B5EF4-FFF2-40B4-BE49-F238E27FC236}">
                <a16:creationId xmlns:a16="http://schemas.microsoft.com/office/drawing/2014/main" id="{F1502CA9-7501-41F4-BCF0-5AE241723985}"/>
              </a:ext>
            </a:extLst>
          </p:cNvPr>
          <p:cNvSpPr txBox="1"/>
          <p:nvPr/>
        </p:nvSpPr>
        <p:spPr>
          <a:xfrm>
            <a:off x="457067" y="4610192"/>
            <a:ext cx="1083059" cy="338554"/>
          </a:xfrm>
          <a:prstGeom prst="rect">
            <a:avLst/>
          </a:prstGeom>
          <a:noFill/>
        </p:spPr>
        <p:txBody>
          <a:bodyPr wrap="square" rtlCol="0">
            <a:spAutoFit/>
          </a:bodyPr>
          <a:lstStyle/>
          <a:p>
            <a:pPr algn="ctr"/>
            <a:r>
              <a:rPr lang="zh-CN" altLang="en-US" sz="1600" b="1" dirty="0">
                <a:solidFill>
                  <a:srgbClr val="FF0000"/>
                </a:solidFill>
              </a:rPr>
              <a:t>接收端</a:t>
            </a:r>
            <a:endParaRPr lang="en-US" altLang="zh-CN" sz="1600" b="1" dirty="0">
              <a:solidFill>
                <a:srgbClr val="FF0000"/>
              </a:solidFill>
            </a:endParaRPr>
          </a:p>
        </p:txBody>
      </p:sp>
    </p:spTree>
    <p:extLst>
      <p:ext uri="{BB962C8B-B14F-4D97-AF65-F5344CB8AC3E}">
        <p14:creationId xmlns:p14="http://schemas.microsoft.com/office/powerpoint/2010/main" val="3565577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01131" y="732276"/>
            <a:ext cx="8496300" cy="701107"/>
          </a:xfrm>
        </p:spPr>
        <p:txBody>
          <a:bodyPr>
            <a:normAutofit/>
          </a:bodyPr>
          <a:lstStyle/>
          <a:p>
            <a:pPr marL="358775" indent="-358775">
              <a:buClr>
                <a:srgbClr val="C00000"/>
              </a:buClr>
              <a:buFont typeface="Wingdings" panose="05000000000000000000" pitchFamily="2" charset="2"/>
              <a:buChar char="n"/>
              <a:defRP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选择重传：</a:t>
            </a:r>
            <a:r>
              <a:rPr lang="en-US" altLang="zh-CN" sz="2800" i="1" dirty="0">
                <a:solidFill>
                  <a:srgbClr val="FF0000"/>
                </a:solidFill>
                <a:latin typeface="Arial" charset="0"/>
              </a:rPr>
              <a:t>Selective Repeat (SR)</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18" name="Rectangle 6">
            <a:extLst>
              <a:ext uri="{FF2B5EF4-FFF2-40B4-BE49-F238E27FC236}">
                <a16:creationId xmlns:a16="http://schemas.microsoft.com/office/drawing/2014/main" id="{91FEA863-741F-45E7-9281-AAE593D63D05}"/>
              </a:ext>
            </a:extLst>
          </p:cNvPr>
          <p:cNvSpPr>
            <a:spLocks noChangeArrowheads="1"/>
          </p:cNvSpPr>
          <p:nvPr/>
        </p:nvSpPr>
        <p:spPr bwMode="auto">
          <a:xfrm>
            <a:off x="301131" y="1504753"/>
            <a:ext cx="8323885" cy="4717870"/>
          </a:xfrm>
          <a:prstGeom prst="rect">
            <a:avLst/>
          </a:prstGeom>
          <a:noFill/>
          <a:ln w="9525">
            <a:noFill/>
            <a:miter lim="800000"/>
            <a:headEnd/>
            <a:tailEnd/>
          </a:ln>
        </p:spPr>
        <p:txBody>
          <a:bodyPr/>
          <a:lstStyle/>
          <a:p>
            <a:pPr marL="625475" lvl="1" indent="-266700" eaLnBrk="0" hangingPunct="0">
              <a:lnSpc>
                <a:spcPts val="36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发送端</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4863" lvl="2" indent="-179388" eaLnBrk="0" hangingPunct="0">
              <a:lnSpc>
                <a:spcPts val="3600"/>
              </a:lnSpc>
              <a:buClr>
                <a:srgbClr val="2A09B7"/>
              </a:buClr>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接收上层数据：</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如果发送窗口中有可用的序号，则发送分组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4863" lvl="2" indent="-179388" eaLnBrk="0" hangingPunct="0">
              <a:lnSpc>
                <a:spcPts val="3600"/>
              </a:lnSpc>
              <a:buClr>
                <a:srgbClr val="2A09B7"/>
              </a:buClr>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超时</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：重传分组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，重启计时器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4863" lvl="2" indent="-179388" eaLnBrk="0" hangingPunct="0">
              <a:lnSpc>
                <a:spcPts val="3600"/>
              </a:lnSpc>
              <a:buClr>
                <a:srgbClr val="2A09B7"/>
              </a:buClr>
              <a:buFont typeface="Arial" panose="020B0604020202020204" pitchFamily="34" charset="0"/>
              <a:buChar char="•"/>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ACK(n)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send_base</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send_base+N-1]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区间，将分组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标记为已接收，如果是窗口中最小的未确认分组，则窗口向前滑动，基序号为下一个未确认分组的序号</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ts val="36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p>
          <a:p>
            <a:pPr marL="804863" lvl="2" indent="-179388" eaLnBrk="0" hangingPunct="0">
              <a:lnSpc>
                <a:spcPts val="3600"/>
              </a:lnSpc>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rcv_base</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rcv_base+N-1]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区间，发送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，缓存失序分组，将按序分组交付给上层，窗口向前滑动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4863" lvl="2" indent="-179388" eaLnBrk="0" hangingPunct="0">
              <a:lnSpc>
                <a:spcPts val="3600"/>
              </a:lnSpc>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rcv_base</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 rcv_base-1]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区间，发送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ACK(n) </a:t>
            </a:r>
          </a:p>
          <a:p>
            <a:pPr marL="625475" lvl="1" indent="-266700" eaLnBrk="0" hangingPunct="0">
              <a:lnSpc>
                <a:spcPts val="3200"/>
              </a:lnSpc>
              <a:buClr>
                <a:srgbClr val="2A09B7"/>
              </a:buClr>
              <a:buFont typeface="Wingdings" panose="05000000000000000000" pitchFamily="2" charset="2"/>
              <a:buChar char="Ø"/>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25268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72805" y="600519"/>
            <a:ext cx="8361619" cy="834001"/>
          </a:xfrm>
        </p:spPr>
        <p:txBody>
          <a:bodyPr>
            <a:normAutofit/>
          </a:bodyPr>
          <a:lstStyle/>
          <a:p>
            <a:pPr marL="358775" indent="-358775">
              <a:buClr>
                <a:srgbClr val="C00000"/>
              </a:buClr>
              <a:buFont typeface="Wingdings" panose="05000000000000000000" pitchFamily="2" charset="2"/>
              <a:buChar char="n"/>
              <a:defRP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交互示例</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0" name="Text Box 5">
            <a:extLst>
              <a:ext uri="{FF2B5EF4-FFF2-40B4-BE49-F238E27FC236}">
                <a16:creationId xmlns:a16="http://schemas.microsoft.com/office/drawing/2014/main" id="{59CCBD5A-2963-4AFD-8076-D7035D5B7FCE}"/>
              </a:ext>
            </a:extLst>
          </p:cNvPr>
          <p:cNvSpPr txBox="1">
            <a:spLocks noChangeArrowheads="1"/>
          </p:cNvSpPr>
          <p:nvPr/>
        </p:nvSpPr>
        <p:spPr bwMode="auto">
          <a:xfrm>
            <a:off x="3201033" y="1357238"/>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C00000"/>
                </a:solidFill>
              </a:rPr>
              <a:t>发送端</a:t>
            </a:r>
            <a:endParaRPr lang="en-US" sz="2000" dirty="0">
              <a:solidFill>
                <a:srgbClr val="C00000"/>
              </a:solidFill>
            </a:endParaRPr>
          </a:p>
        </p:txBody>
      </p:sp>
      <p:sp>
        <p:nvSpPr>
          <p:cNvPr id="21" name="Text Box 6">
            <a:extLst>
              <a:ext uri="{FF2B5EF4-FFF2-40B4-BE49-F238E27FC236}">
                <a16:creationId xmlns:a16="http://schemas.microsoft.com/office/drawing/2014/main" id="{C9989EAC-BD30-47DD-B84E-38E3AC579EF5}"/>
              </a:ext>
            </a:extLst>
          </p:cNvPr>
          <p:cNvSpPr txBox="1">
            <a:spLocks noChangeArrowheads="1"/>
          </p:cNvSpPr>
          <p:nvPr/>
        </p:nvSpPr>
        <p:spPr bwMode="auto">
          <a:xfrm>
            <a:off x="5808492" y="1324455"/>
            <a:ext cx="95410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008000"/>
                </a:solidFill>
              </a:rPr>
              <a:t>接收端</a:t>
            </a:r>
            <a:endParaRPr lang="en-US" sz="2000" dirty="0">
              <a:solidFill>
                <a:srgbClr val="008000"/>
              </a:solidFill>
            </a:endParaRPr>
          </a:p>
        </p:txBody>
      </p:sp>
      <p:sp>
        <p:nvSpPr>
          <p:cNvPr id="53" name="Text Box 59">
            <a:extLst>
              <a:ext uri="{FF2B5EF4-FFF2-40B4-BE49-F238E27FC236}">
                <a16:creationId xmlns:a16="http://schemas.microsoft.com/office/drawing/2014/main" id="{8FBDADA3-6C9C-4C93-8011-B8AC46AB08E4}"/>
              </a:ext>
            </a:extLst>
          </p:cNvPr>
          <p:cNvSpPr txBox="1">
            <a:spLocks noChangeArrowheads="1"/>
          </p:cNvSpPr>
          <p:nvPr/>
        </p:nvSpPr>
        <p:spPr bwMode="auto">
          <a:xfrm>
            <a:off x="393663" y="1412913"/>
            <a:ext cx="109837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窗口</a:t>
            </a:r>
            <a:r>
              <a:rPr lang="en-US"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(N=4)</a:t>
            </a:r>
          </a:p>
        </p:txBody>
      </p:sp>
      <p:sp>
        <p:nvSpPr>
          <p:cNvPr id="86" name="Text Box 4">
            <a:extLst>
              <a:ext uri="{FF2B5EF4-FFF2-40B4-BE49-F238E27FC236}">
                <a16:creationId xmlns:a16="http://schemas.microsoft.com/office/drawing/2014/main" id="{C4509183-B17B-4FF2-8882-106086FC5904}"/>
              </a:ext>
            </a:extLst>
          </p:cNvPr>
          <p:cNvSpPr txBox="1">
            <a:spLocks noChangeArrowheads="1"/>
          </p:cNvSpPr>
          <p:nvPr/>
        </p:nvSpPr>
        <p:spPr bwMode="auto">
          <a:xfrm>
            <a:off x="2882055" y="1680585"/>
            <a:ext cx="1117614" cy="1478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p>
          <a:p>
            <a:pPr algn="r">
              <a:lnSpc>
                <a:spcPts val="2200"/>
              </a:lnSpc>
              <a:defRPr/>
            </a:pPr>
            <a:r>
              <a:rPr 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等待</a:t>
            </a:r>
            <a:r>
              <a:rPr lang="en-US"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7" name="Line 14">
            <a:extLst>
              <a:ext uri="{FF2B5EF4-FFF2-40B4-BE49-F238E27FC236}">
                <a16:creationId xmlns:a16="http://schemas.microsoft.com/office/drawing/2014/main" id="{1D4B8F63-41CB-4329-9889-A1103FB29565}"/>
              </a:ext>
            </a:extLst>
          </p:cNvPr>
          <p:cNvSpPr>
            <a:spLocks noChangeShapeType="1"/>
          </p:cNvSpPr>
          <p:nvPr/>
        </p:nvSpPr>
        <p:spPr bwMode="auto">
          <a:xfrm>
            <a:off x="6230682" y="1812132"/>
            <a:ext cx="11906" cy="457215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Text Box 15">
            <a:extLst>
              <a:ext uri="{FF2B5EF4-FFF2-40B4-BE49-F238E27FC236}">
                <a16:creationId xmlns:a16="http://schemas.microsoft.com/office/drawing/2014/main" id="{670380B6-922B-4468-B2B5-ACE73077991B}"/>
              </a:ext>
            </a:extLst>
          </p:cNvPr>
          <p:cNvSpPr txBox="1">
            <a:spLocks noChangeArrowheads="1"/>
          </p:cNvSpPr>
          <p:nvPr/>
        </p:nvSpPr>
        <p:spPr bwMode="auto">
          <a:xfrm>
            <a:off x="6221156" y="2196352"/>
            <a:ext cx="2699544" cy="1113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a:t>
            </a: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a:t>
            </a:r>
          </a:p>
          <a:p>
            <a:pPr algn="l">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缓存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ACK3</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Text Box 22">
            <a:extLst>
              <a:ext uri="{FF2B5EF4-FFF2-40B4-BE49-F238E27FC236}">
                <a16:creationId xmlns:a16="http://schemas.microsoft.com/office/drawing/2014/main" id="{35730FD0-B645-4854-B5CA-60F09D262354}"/>
              </a:ext>
            </a:extLst>
          </p:cNvPr>
          <p:cNvSpPr txBox="1">
            <a:spLocks noChangeArrowheads="1"/>
          </p:cNvSpPr>
          <p:nvPr/>
        </p:nvSpPr>
        <p:spPr bwMode="auto">
          <a:xfrm>
            <a:off x="1897299" y="3283960"/>
            <a:ext cx="2154757" cy="6316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ACK0,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a:t>
            </a:r>
            <a:endParaRPr lang="en-US" dirty="0">
              <a:latin typeface="Times New Roman" panose="02020603050405020304" pitchFamily="18" charset="0"/>
              <a:ea typeface="宋体" panose="02010600030101010101" pitchFamily="2" charset="-122"/>
              <a:cs typeface="Times New Roman" panose="02020603050405020304" pitchFamily="18" charset="0"/>
            </a:endParaRPr>
          </a:p>
          <a:p>
            <a:pPr algn="r">
              <a:lnSpc>
                <a:spcPts val="22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ACK1,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Text Box 35">
            <a:extLst>
              <a:ext uri="{FF2B5EF4-FFF2-40B4-BE49-F238E27FC236}">
                <a16:creationId xmlns:a16="http://schemas.microsoft.com/office/drawing/2014/main" id="{F45D3449-6239-4C6B-8236-222370D00154}"/>
              </a:ext>
            </a:extLst>
          </p:cNvPr>
          <p:cNvSpPr txBox="1">
            <a:spLocks noChangeArrowheads="1"/>
          </p:cNvSpPr>
          <p:nvPr/>
        </p:nvSpPr>
        <p:spPr bwMode="auto">
          <a:xfrm>
            <a:off x="2888496" y="4671961"/>
            <a:ext cx="1107996"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ct val="75000"/>
              </a:lnSpc>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分组</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超时</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Text Box 36">
            <a:extLst>
              <a:ext uri="{FF2B5EF4-FFF2-40B4-BE49-F238E27FC236}">
                <a16:creationId xmlns:a16="http://schemas.microsoft.com/office/drawing/2014/main" id="{34AB1BAD-BD50-4393-8FEF-AF45B8E76A15}"/>
              </a:ext>
            </a:extLst>
          </p:cNvPr>
          <p:cNvSpPr txBox="1">
            <a:spLocks noChangeArrowheads="1"/>
          </p:cNvSpPr>
          <p:nvPr/>
        </p:nvSpPr>
        <p:spPr bwMode="auto">
          <a:xfrm>
            <a:off x="2891970" y="4879026"/>
            <a:ext cx="1107996" cy="3302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a:lnSpc>
                <a:spcPts val="2000"/>
              </a:lnSpc>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92" name="Line 7">
            <a:extLst>
              <a:ext uri="{FF2B5EF4-FFF2-40B4-BE49-F238E27FC236}">
                <a16:creationId xmlns:a16="http://schemas.microsoft.com/office/drawing/2014/main" id="{6787BCC7-F3F6-4EFC-9CFC-DD680C300EE6}"/>
              </a:ext>
            </a:extLst>
          </p:cNvPr>
          <p:cNvSpPr>
            <a:spLocks noChangeShapeType="1"/>
          </p:cNvSpPr>
          <p:nvPr/>
        </p:nvSpPr>
        <p:spPr bwMode="auto">
          <a:xfrm>
            <a:off x="4127244" y="1874260"/>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Line 11">
            <a:extLst>
              <a:ext uri="{FF2B5EF4-FFF2-40B4-BE49-F238E27FC236}">
                <a16:creationId xmlns:a16="http://schemas.microsoft.com/office/drawing/2014/main" id="{E32EC1F9-49CC-4D47-8697-A6C2CF96681B}"/>
              </a:ext>
            </a:extLst>
          </p:cNvPr>
          <p:cNvSpPr>
            <a:spLocks noChangeShapeType="1"/>
          </p:cNvSpPr>
          <p:nvPr/>
        </p:nvSpPr>
        <p:spPr bwMode="auto">
          <a:xfrm>
            <a:off x="4125656" y="2148898"/>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4" name="Line 12">
            <a:extLst>
              <a:ext uri="{FF2B5EF4-FFF2-40B4-BE49-F238E27FC236}">
                <a16:creationId xmlns:a16="http://schemas.microsoft.com/office/drawing/2014/main" id="{DF1431AE-8FC1-4AE8-8CA8-74D4E86D202F}"/>
              </a:ext>
            </a:extLst>
          </p:cNvPr>
          <p:cNvSpPr>
            <a:spLocks noChangeShapeType="1"/>
          </p:cNvSpPr>
          <p:nvPr/>
        </p:nvSpPr>
        <p:spPr bwMode="auto">
          <a:xfrm>
            <a:off x="4141531" y="2412423"/>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Line 13">
            <a:extLst>
              <a:ext uri="{FF2B5EF4-FFF2-40B4-BE49-F238E27FC236}">
                <a16:creationId xmlns:a16="http://schemas.microsoft.com/office/drawing/2014/main" id="{9BA8B3FA-ECEF-41A8-99EF-24BDC9DE126F}"/>
              </a:ext>
            </a:extLst>
          </p:cNvPr>
          <p:cNvSpPr>
            <a:spLocks noChangeShapeType="1"/>
          </p:cNvSpPr>
          <p:nvPr/>
        </p:nvSpPr>
        <p:spPr bwMode="auto">
          <a:xfrm>
            <a:off x="4147881" y="2698173"/>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6" name="Line 17">
            <a:extLst>
              <a:ext uri="{FF2B5EF4-FFF2-40B4-BE49-F238E27FC236}">
                <a16:creationId xmlns:a16="http://schemas.microsoft.com/office/drawing/2014/main" id="{6F8B3D0A-E20D-4160-BAEF-0BDDCBF1D072}"/>
              </a:ext>
            </a:extLst>
          </p:cNvPr>
          <p:cNvSpPr>
            <a:spLocks noChangeShapeType="1"/>
          </p:cNvSpPr>
          <p:nvPr/>
        </p:nvSpPr>
        <p:spPr bwMode="auto">
          <a:xfrm flipH="1">
            <a:off x="4133594" y="2398135"/>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Text Box 19">
            <a:extLst>
              <a:ext uri="{FF2B5EF4-FFF2-40B4-BE49-F238E27FC236}">
                <a16:creationId xmlns:a16="http://schemas.microsoft.com/office/drawing/2014/main" id="{EC11435F-D7FA-46AF-ACCA-DCAF32C5433B}"/>
              </a:ext>
            </a:extLst>
          </p:cNvPr>
          <p:cNvSpPr txBox="1">
            <a:spLocks noChangeArrowheads="1"/>
          </p:cNvSpPr>
          <p:nvPr/>
        </p:nvSpPr>
        <p:spPr bwMode="auto">
          <a:xfrm>
            <a:off x="4903531" y="2447348"/>
            <a:ext cx="33214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98" name="Text Box 20">
            <a:extLst>
              <a:ext uri="{FF2B5EF4-FFF2-40B4-BE49-F238E27FC236}">
                <a16:creationId xmlns:a16="http://schemas.microsoft.com/office/drawing/2014/main" id="{0F5F84CE-ADC8-48C6-9CDC-C10F63581ED5}"/>
              </a:ext>
            </a:extLst>
          </p:cNvPr>
          <p:cNvSpPr txBox="1">
            <a:spLocks noChangeArrowheads="1"/>
          </p:cNvSpPr>
          <p:nvPr/>
        </p:nvSpPr>
        <p:spPr bwMode="auto">
          <a:xfrm>
            <a:off x="5062281" y="2467985"/>
            <a:ext cx="595035"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丢失</a:t>
            </a:r>
            <a:endParaRPr 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9" name="Line 21">
            <a:extLst>
              <a:ext uri="{FF2B5EF4-FFF2-40B4-BE49-F238E27FC236}">
                <a16:creationId xmlns:a16="http://schemas.microsoft.com/office/drawing/2014/main" id="{FAFD21A3-2CAE-40D0-B1CD-148640387354}"/>
              </a:ext>
            </a:extLst>
          </p:cNvPr>
          <p:cNvSpPr>
            <a:spLocks noChangeShapeType="1"/>
          </p:cNvSpPr>
          <p:nvPr/>
        </p:nvSpPr>
        <p:spPr bwMode="auto">
          <a:xfrm flipH="1">
            <a:off x="4130419" y="2683885"/>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Line 24">
            <a:extLst>
              <a:ext uri="{FF2B5EF4-FFF2-40B4-BE49-F238E27FC236}">
                <a16:creationId xmlns:a16="http://schemas.microsoft.com/office/drawing/2014/main" id="{C04A2A9A-BC09-48B5-844D-C74D16B61368}"/>
              </a:ext>
            </a:extLst>
          </p:cNvPr>
          <p:cNvSpPr>
            <a:spLocks noChangeShapeType="1"/>
          </p:cNvSpPr>
          <p:nvPr/>
        </p:nvSpPr>
        <p:spPr bwMode="auto">
          <a:xfrm>
            <a:off x="4133594" y="3520498"/>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1" name="Line 25">
            <a:extLst>
              <a:ext uri="{FF2B5EF4-FFF2-40B4-BE49-F238E27FC236}">
                <a16:creationId xmlns:a16="http://schemas.microsoft.com/office/drawing/2014/main" id="{60639479-5017-4686-A80C-EE7E4E617A21}"/>
              </a:ext>
            </a:extLst>
          </p:cNvPr>
          <p:cNvSpPr>
            <a:spLocks noChangeShapeType="1"/>
          </p:cNvSpPr>
          <p:nvPr/>
        </p:nvSpPr>
        <p:spPr bwMode="auto">
          <a:xfrm>
            <a:off x="4165344" y="3839585"/>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Line 26">
            <a:extLst>
              <a:ext uri="{FF2B5EF4-FFF2-40B4-BE49-F238E27FC236}">
                <a16:creationId xmlns:a16="http://schemas.microsoft.com/office/drawing/2014/main" id="{7E57B9DA-F1DA-45F7-A4AD-9E49804C9FA3}"/>
              </a:ext>
            </a:extLst>
          </p:cNvPr>
          <p:cNvSpPr>
            <a:spLocks noChangeShapeType="1"/>
          </p:cNvSpPr>
          <p:nvPr/>
        </p:nvSpPr>
        <p:spPr bwMode="auto">
          <a:xfrm flipH="1">
            <a:off x="4152224" y="3214109"/>
            <a:ext cx="2024482" cy="1144337"/>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3" name="Group 29">
            <a:extLst>
              <a:ext uri="{FF2B5EF4-FFF2-40B4-BE49-F238E27FC236}">
                <a16:creationId xmlns:a16="http://schemas.microsoft.com/office/drawing/2014/main" id="{25FC910E-B5B5-40FA-8DA7-F98AE0872322}"/>
              </a:ext>
            </a:extLst>
          </p:cNvPr>
          <p:cNvGrpSpPr>
            <a:grpSpLocks/>
          </p:cNvGrpSpPr>
          <p:nvPr/>
        </p:nvGrpSpPr>
        <p:grpSpPr bwMode="auto">
          <a:xfrm>
            <a:off x="3939344" y="2402898"/>
            <a:ext cx="103187" cy="2462212"/>
            <a:chOff x="3651" y="1878"/>
            <a:chExt cx="78" cy="963"/>
          </a:xfrm>
        </p:grpSpPr>
        <p:sp>
          <p:nvSpPr>
            <p:cNvPr id="104" name="Line 30">
              <a:extLst>
                <a:ext uri="{FF2B5EF4-FFF2-40B4-BE49-F238E27FC236}">
                  <a16:creationId xmlns:a16="http://schemas.microsoft.com/office/drawing/2014/main" id="{C3A73B2A-2016-4549-9BA3-2AB2A0C51DC6}"/>
                </a:ext>
              </a:extLst>
            </p:cNvPr>
            <p:cNvSpPr>
              <a:spLocks noChangeShapeType="1"/>
            </p:cNvSpPr>
            <p:nvPr/>
          </p:nvSpPr>
          <p:spPr bwMode="auto">
            <a:xfrm>
              <a:off x="3729" y="1879"/>
              <a:ext cx="0" cy="962"/>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5" name="Line 31">
              <a:extLst>
                <a:ext uri="{FF2B5EF4-FFF2-40B4-BE49-F238E27FC236}">
                  <a16:creationId xmlns:a16="http://schemas.microsoft.com/office/drawing/2014/main" id="{F9B04E31-7C3E-4FE4-89DF-4BFA61A13351}"/>
                </a:ext>
              </a:extLst>
            </p:cNvPr>
            <p:cNvSpPr>
              <a:spLocks noChangeShapeType="1"/>
            </p:cNvSpPr>
            <p:nvPr/>
          </p:nvSpPr>
          <p:spPr bwMode="auto">
            <a:xfrm flipH="1">
              <a:off x="3651" y="1878"/>
              <a:ext cx="76"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Line 32">
              <a:extLst>
                <a:ext uri="{FF2B5EF4-FFF2-40B4-BE49-F238E27FC236}">
                  <a16:creationId xmlns:a16="http://schemas.microsoft.com/office/drawing/2014/main" id="{764CB763-B686-4194-A0C0-A7DBAC0476B6}"/>
                </a:ext>
              </a:extLst>
            </p:cNvPr>
            <p:cNvSpPr>
              <a:spLocks noChangeShapeType="1"/>
            </p:cNvSpPr>
            <p:nvPr/>
          </p:nvSpPr>
          <p:spPr bwMode="auto">
            <a:xfrm flipH="1">
              <a:off x="3651" y="2841"/>
              <a:ext cx="76"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11" name="Text Box 41">
            <a:extLst>
              <a:ext uri="{FF2B5EF4-FFF2-40B4-BE49-F238E27FC236}">
                <a16:creationId xmlns:a16="http://schemas.microsoft.com/office/drawing/2014/main" id="{9E0E6613-EB41-47E9-95AF-D45DF1BE5578}"/>
              </a:ext>
            </a:extLst>
          </p:cNvPr>
          <p:cNvSpPr txBox="1">
            <a:spLocks noChangeArrowheads="1"/>
          </p:cNvSpPr>
          <p:nvPr/>
        </p:nvSpPr>
        <p:spPr bwMode="auto">
          <a:xfrm>
            <a:off x="6237069" y="3809336"/>
            <a:ext cx="266771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4,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缓存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ACK4</a:t>
            </a:r>
          </a:p>
        </p:txBody>
      </p:sp>
      <p:sp>
        <p:nvSpPr>
          <p:cNvPr id="112" name="Text Box 42">
            <a:extLst>
              <a:ext uri="{FF2B5EF4-FFF2-40B4-BE49-F238E27FC236}">
                <a16:creationId xmlns:a16="http://schemas.microsoft.com/office/drawing/2014/main" id="{6D58DB4C-CCE5-4583-9119-03478210F3F0}"/>
              </a:ext>
            </a:extLst>
          </p:cNvPr>
          <p:cNvSpPr txBox="1">
            <a:spLocks noChangeArrowheads="1"/>
          </p:cNvSpPr>
          <p:nvPr/>
        </p:nvSpPr>
        <p:spPr bwMode="auto">
          <a:xfrm>
            <a:off x="6248144" y="4153025"/>
            <a:ext cx="266771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缓存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ACK5</a:t>
            </a:r>
          </a:p>
        </p:txBody>
      </p:sp>
      <p:sp>
        <p:nvSpPr>
          <p:cNvPr id="113" name="Text Box 43">
            <a:extLst>
              <a:ext uri="{FF2B5EF4-FFF2-40B4-BE49-F238E27FC236}">
                <a16:creationId xmlns:a16="http://schemas.microsoft.com/office/drawing/2014/main" id="{D728CE1F-386E-4709-84F9-D0D1062F1612}"/>
              </a:ext>
            </a:extLst>
          </p:cNvPr>
          <p:cNvSpPr txBox="1">
            <a:spLocks noChangeArrowheads="1"/>
          </p:cNvSpPr>
          <p:nvPr/>
        </p:nvSpPr>
        <p:spPr bwMode="auto">
          <a:xfrm>
            <a:off x="6240642" y="5346220"/>
            <a:ext cx="2608148"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ts val="600"/>
              </a:spcBef>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接收分组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缓存分组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3/4/5,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交付</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ACK2</a:t>
            </a:r>
          </a:p>
        </p:txBody>
      </p:sp>
      <p:sp>
        <p:nvSpPr>
          <p:cNvPr id="114" name="Text Box 44">
            <a:extLst>
              <a:ext uri="{FF2B5EF4-FFF2-40B4-BE49-F238E27FC236}">
                <a16:creationId xmlns:a16="http://schemas.microsoft.com/office/drawing/2014/main" id="{9F8EE706-0538-4FC7-865D-F2C35798DD3E}"/>
              </a:ext>
            </a:extLst>
          </p:cNvPr>
          <p:cNvSpPr txBox="1">
            <a:spLocks noChangeArrowheads="1"/>
          </p:cNvSpPr>
          <p:nvPr/>
        </p:nvSpPr>
        <p:spPr bwMode="auto">
          <a:xfrm>
            <a:off x="2517519" y="4144971"/>
            <a:ext cx="153920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记录</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en-US" dirty="0">
                <a:latin typeface="Times New Roman" panose="02020603050405020304" pitchFamily="18" charset="0"/>
                <a:ea typeface="宋体" panose="02010600030101010101" pitchFamily="2" charset="-122"/>
                <a:cs typeface="Times New Roman" panose="02020603050405020304" pitchFamily="18" charset="0"/>
              </a:rPr>
              <a:t>CK</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到达</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15" name="Group 65">
            <a:extLst>
              <a:ext uri="{FF2B5EF4-FFF2-40B4-BE49-F238E27FC236}">
                <a16:creationId xmlns:a16="http://schemas.microsoft.com/office/drawing/2014/main" id="{1D409CC6-3DFE-4FA0-B39D-E08B62D775B0}"/>
              </a:ext>
            </a:extLst>
          </p:cNvPr>
          <p:cNvGrpSpPr>
            <a:grpSpLocks/>
          </p:cNvGrpSpPr>
          <p:nvPr/>
        </p:nvGrpSpPr>
        <p:grpSpPr bwMode="auto">
          <a:xfrm>
            <a:off x="387094" y="1718685"/>
            <a:ext cx="1396999" cy="307975"/>
            <a:chOff x="115" y="914"/>
            <a:chExt cx="880" cy="194"/>
          </a:xfrm>
        </p:grpSpPr>
        <p:sp>
          <p:nvSpPr>
            <p:cNvPr id="116" name="Rectangle 60">
              <a:extLst>
                <a:ext uri="{FF2B5EF4-FFF2-40B4-BE49-F238E27FC236}">
                  <a16:creationId xmlns:a16="http://schemas.microsoft.com/office/drawing/2014/main" id="{7B159F55-0419-4A1C-88A0-4F9AE3AEB389}"/>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Text Box 46">
              <a:extLst>
                <a:ext uri="{FF2B5EF4-FFF2-40B4-BE49-F238E27FC236}">
                  <a16:creationId xmlns:a16="http://schemas.microsoft.com/office/drawing/2014/main" id="{E42EF64E-E13A-4C92-9B56-64690DC1520E}"/>
                </a:ext>
              </a:extLst>
            </p:cNvPr>
            <p:cNvSpPr txBox="1">
              <a:spLocks noChangeArrowheads="1"/>
            </p:cNvSpPr>
            <p:nvPr/>
          </p:nvSpPr>
          <p:spPr bwMode="auto">
            <a:xfrm>
              <a:off x="115" y="914"/>
              <a:ext cx="880"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118" name="Group 67">
            <a:extLst>
              <a:ext uri="{FF2B5EF4-FFF2-40B4-BE49-F238E27FC236}">
                <a16:creationId xmlns:a16="http://schemas.microsoft.com/office/drawing/2014/main" id="{50BD686A-3B80-4F22-92CF-6909D5CDA0AA}"/>
              </a:ext>
            </a:extLst>
          </p:cNvPr>
          <p:cNvGrpSpPr>
            <a:grpSpLocks/>
          </p:cNvGrpSpPr>
          <p:nvPr/>
        </p:nvGrpSpPr>
        <p:grpSpPr bwMode="auto">
          <a:xfrm>
            <a:off x="383919" y="2004435"/>
            <a:ext cx="1441449" cy="307975"/>
            <a:chOff x="115" y="914"/>
            <a:chExt cx="908" cy="194"/>
          </a:xfrm>
        </p:grpSpPr>
        <p:sp>
          <p:nvSpPr>
            <p:cNvPr id="119" name="Rectangle 68">
              <a:extLst>
                <a:ext uri="{FF2B5EF4-FFF2-40B4-BE49-F238E27FC236}">
                  <a16:creationId xmlns:a16="http://schemas.microsoft.com/office/drawing/2014/main" id="{45B93CF9-DACB-48E8-A9C3-CC9341CB12D6}"/>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0" name="Text Box 69">
              <a:extLst>
                <a:ext uri="{FF2B5EF4-FFF2-40B4-BE49-F238E27FC236}">
                  <a16:creationId xmlns:a16="http://schemas.microsoft.com/office/drawing/2014/main" id="{7CEAFA7C-1211-4327-B61C-BCBF9545403A}"/>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121" name="Group 70">
            <a:extLst>
              <a:ext uri="{FF2B5EF4-FFF2-40B4-BE49-F238E27FC236}">
                <a16:creationId xmlns:a16="http://schemas.microsoft.com/office/drawing/2014/main" id="{B626F43A-9F94-4DEA-806F-4DA2B4D99D70}"/>
              </a:ext>
            </a:extLst>
          </p:cNvPr>
          <p:cNvGrpSpPr>
            <a:grpSpLocks/>
          </p:cNvGrpSpPr>
          <p:nvPr/>
        </p:nvGrpSpPr>
        <p:grpSpPr bwMode="auto">
          <a:xfrm>
            <a:off x="391856" y="2290185"/>
            <a:ext cx="1441451" cy="307975"/>
            <a:chOff x="115" y="914"/>
            <a:chExt cx="908" cy="194"/>
          </a:xfrm>
        </p:grpSpPr>
        <p:sp>
          <p:nvSpPr>
            <p:cNvPr id="122" name="Rectangle 71">
              <a:extLst>
                <a:ext uri="{FF2B5EF4-FFF2-40B4-BE49-F238E27FC236}">
                  <a16:creationId xmlns:a16="http://schemas.microsoft.com/office/drawing/2014/main" id="{49D841D4-A410-41C4-92E0-92A2001F5508}"/>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3" name="Text Box 72">
              <a:extLst>
                <a:ext uri="{FF2B5EF4-FFF2-40B4-BE49-F238E27FC236}">
                  <a16:creationId xmlns:a16="http://schemas.microsoft.com/office/drawing/2014/main" id="{69AF9AD2-48DF-4427-9D31-DC6BF9A5FFF7}"/>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grpSp>
        <p:nvGrpSpPr>
          <p:cNvPr id="124" name="Group 73">
            <a:extLst>
              <a:ext uri="{FF2B5EF4-FFF2-40B4-BE49-F238E27FC236}">
                <a16:creationId xmlns:a16="http://schemas.microsoft.com/office/drawing/2014/main" id="{C036415D-DA44-410D-839A-EA02FE01BF09}"/>
              </a:ext>
            </a:extLst>
          </p:cNvPr>
          <p:cNvGrpSpPr>
            <a:grpSpLocks/>
          </p:cNvGrpSpPr>
          <p:nvPr/>
        </p:nvGrpSpPr>
        <p:grpSpPr bwMode="auto">
          <a:xfrm>
            <a:off x="388681" y="2564823"/>
            <a:ext cx="1441451" cy="307975"/>
            <a:chOff x="115" y="914"/>
            <a:chExt cx="908" cy="194"/>
          </a:xfrm>
        </p:grpSpPr>
        <p:sp>
          <p:nvSpPr>
            <p:cNvPr id="125" name="Rectangle 74">
              <a:extLst>
                <a:ext uri="{FF2B5EF4-FFF2-40B4-BE49-F238E27FC236}">
                  <a16:creationId xmlns:a16="http://schemas.microsoft.com/office/drawing/2014/main" id="{DA06D609-907F-4884-B6C7-A1B3694998F0}"/>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 name="Text Box 75">
              <a:extLst>
                <a:ext uri="{FF2B5EF4-FFF2-40B4-BE49-F238E27FC236}">
                  <a16:creationId xmlns:a16="http://schemas.microsoft.com/office/drawing/2014/main" id="{F5145D80-6A19-48D9-894A-1AEA544DAB03}"/>
                </a:ext>
              </a:extLst>
            </p:cNvPr>
            <p:cNvSpPr txBox="1">
              <a:spLocks noChangeArrowheads="1"/>
            </p:cNvSpPr>
            <p:nvPr/>
          </p:nvSpPr>
          <p:spPr bwMode="auto">
            <a:xfrm>
              <a:off x="115" y="914"/>
              <a:ext cx="90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0 1 2 3  </a:t>
              </a:r>
              <a:r>
                <a:rPr lang="en-US" sz="1400" dirty="0">
                  <a:latin typeface="Times New Roman" panose="02020603050405020304" pitchFamily="18" charset="0"/>
                  <a:ea typeface="宋体" panose="02010600030101010101" pitchFamily="2" charset="-122"/>
                  <a:cs typeface="Times New Roman" panose="02020603050405020304" pitchFamily="18" charset="0"/>
                </a:rPr>
                <a:t>4 5 6 7 8 </a:t>
              </a:r>
            </a:p>
          </p:txBody>
        </p:sp>
      </p:grpSp>
      <p:sp>
        <p:nvSpPr>
          <p:cNvPr id="127" name="Rectangle 79">
            <a:extLst>
              <a:ext uri="{FF2B5EF4-FFF2-40B4-BE49-F238E27FC236}">
                <a16:creationId xmlns:a16="http://schemas.microsoft.com/office/drawing/2014/main" id="{8CA9B1B6-64AC-4879-B5DC-6D91BC89065A}"/>
              </a:ext>
            </a:extLst>
          </p:cNvPr>
          <p:cNvSpPr>
            <a:spLocks noChangeArrowheads="1"/>
          </p:cNvSpPr>
          <p:nvPr/>
        </p:nvSpPr>
        <p:spPr bwMode="auto">
          <a:xfrm>
            <a:off x="599819" y="3369685"/>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8" name="Text Box 80">
            <a:extLst>
              <a:ext uri="{FF2B5EF4-FFF2-40B4-BE49-F238E27FC236}">
                <a16:creationId xmlns:a16="http://schemas.microsoft.com/office/drawing/2014/main" id="{AC6FE1DA-792E-4E39-BE61-63DF3FCBC32B}"/>
              </a:ext>
            </a:extLst>
          </p:cNvPr>
          <p:cNvSpPr txBox="1">
            <a:spLocks noChangeArrowheads="1"/>
          </p:cNvSpPr>
          <p:nvPr/>
        </p:nvSpPr>
        <p:spPr bwMode="auto">
          <a:xfrm>
            <a:off x="385506" y="3334760"/>
            <a:ext cx="148630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1 2 3 4</a:t>
            </a:r>
            <a:r>
              <a:rPr lang="en-US" sz="1400" dirty="0">
                <a:latin typeface="Times New Roman" panose="02020603050405020304" pitchFamily="18" charset="0"/>
                <a:ea typeface="宋体" panose="02010600030101010101" pitchFamily="2" charset="-122"/>
                <a:cs typeface="Times New Roman" panose="02020603050405020304" pitchFamily="18" charset="0"/>
              </a:rPr>
              <a:t>   5 6 7 8 </a:t>
            </a:r>
          </a:p>
        </p:txBody>
      </p:sp>
      <p:grpSp>
        <p:nvGrpSpPr>
          <p:cNvPr id="129" name="Group 84">
            <a:extLst>
              <a:ext uri="{FF2B5EF4-FFF2-40B4-BE49-F238E27FC236}">
                <a16:creationId xmlns:a16="http://schemas.microsoft.com/office/drawing/2014/main" id="{92F45076-7648-4B07-9215-8BD1ECDA523F}"/>
              </a:ext>
            </a:extLst>
          </p:cNvPr>
          <p:cNvGrpSpPr>
            <a:grpSpLocks/>
          </p:cNvGrpSpPr>
          <p:nvPr/>
        </p:nvGrpSpPr>
        <p:grpSpPr bwMode="auto">
          <a:xfrm>
            <a:off x="382331" y="3609398"/>
            <a:ext cx="1485901" cy="307975"/>
            <a:chOff x="112" y="2105"/>
            <a:chExt cx="936" cy="194"/>
          </a:xfrm>
        </p:grpSpPr>
        <p:sp>
          <p:nvSpPr>
            <p:cNvPr id="130" name="Rectangle 82">
              <a:extLst>
                <a:ext uri="{FF2B5EF4-FFF2-40B4-BE49-F238E27FC236}">
                  <a16:creationId xmlns:a16="http://schemas.microsoft.com/office/drawing/2014/main" id="{1842D377-0A3F-44B1-A987-6A8675EB471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1" name="Text Box 83">
              <a:extLst>
                <a:ext uri="{FF2B5EF4-FFF2-40B4-BE49-F238E27FC236}">
                  <a16:creationId xmlns:a16="http://schemas.microsoft.com/office/drawing/2014/main" id="{40371802-6DAC-4ED2-BA07-E5969FD094CF}"/>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32" name="Group 85">
            <a:extLst>
              <a:ext uri="{FF2B5EF4-FFF2-40B4-BE49-F238E27FC236}">
                <a16:creationId xmlns:a16="http://schemas.microsoft.com/office/drawing/2014/main" id="{D1D36FE1-C986-409B-BB02-2DFE6486D415}"/>
              </a:ext>
            </a:extLst>
          </p:cNvPr>
          <p:cNvGrpSpPr>
            <a:grpSpLocks/>
          </p:cNvGrpSpPr>
          <p:nvPr/>
        </p:nvGrpSpPr>
        <p:grpSpPr bwMode="auto">
          <a:xfrm>
            <a:off x="372806" y="4917300"/>
            <a:ext cx="1485899" cy="307975"/>
            <a:chOff x="112" y="2105"/>
            <a:chExt cx="936" cy="194"/>
          </a:xfrm>
        </p:grpSpPr>
        <p:sp>
          <p:nvSpPr>
            <p:cNvPr id="133" name="Rectangle 86">
              <a:extLst>
                <a:ext uri="{FF2B5EF4-FFF2-40B4-BE49-F238E27FC236}">
                  <a16:creationId xmlns:a16="http://schemas.microsoft.com/office/drawing/2014/main" id="{8140267D-3BFA-4602-BC6E-94E7AC58B1B9}"/>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4" name="Text Box 87">
              <a:extLst>
                <a:ext uri="{FF2B5EF4-FFF2-40B4-BE49-F238E27FC236}">
                  <a16:creationId xmlns:a16="http://schemas.microsoft.com/office/drawing/2014/main" id="{77D406A0-C588-4F99-AB4C-76418492E3A8}"/>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35" name="Group 88">
            <a:extLst>
              <a:ext uri="{FF2B5EF4-FFF2-40B4-BE49-F238E27FC236}">
                <a16:creationId xmlns:a16="http://schemas.microsoft.com/office/drawing/2014/main" id="{7F5840AB-6FE3-4544-BFC5-3CA2DDF59B12}"/>
              </a:ext>
            </a:extLst>
          </p:cNvPr>
          <p:cNvGrpSpPr>
            <a:grpSpLocks/>
          </p:cNvGrpSpPr>
          <p:nvPr/>
        </p:nvGrpSpPr>
        <p:grpSpPr bwMode="auto">
          <a:xfrm>
            <a:off x="380743" y="5158600"/>
            <a:ext cx="1485901" cy="307975"/>
            <a:chOff x="112" y="2105"/>
            <a:chExt cx="936" cy="194"/>
          </a:xfrm>
        </p:grpSpPr>
        <p:sp>
          <p:nvSpPr>
            <p:cNvPr id="136" name="Rectangle 89">
              <a:extLst>
                <a:ext uri="{FF2B5EF4-FFF2-40B4-BE49-F238E27FC236}">
                  <a16:creationId xmlns:a16="http://schemas.microsoft.com/office/drawing/2014/main" id="{1438C2E0-AF18-42D9-B006-3CC81C836BB9}"/>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7" name="Text Box 90">
              <a:extLst>
                <a:ext uri="{FF2B5EF4-FFF2-40B4-BE49-F238E27FC236}">
                  <a16:creationId xmlns:a16="http://schemas.microsoft.com/office/drawing/2014/main" id="{907E6201-7D71-4FC0-B242-9B7E4D5272D7}"/>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38" name="Group 91">
            <a:extLst>
              <a:ext uri="{FF2B5EF4-FFF2-40B4-BE49-F238E27FC236}">
                <a16:creationId xmlns:a16="http://schemas.microsoft.com/office/drawing/2014/main" id="{F3E83EAC-0EA6-4311-88FC-4B7327E67C06}"/>
              </a:ext>
            </a:extLst>
          </p:cNvPr>
          <p:cNvGrpSpPr>
            <a:grpSpLocks/>
          </p:cNvGrpSpPr>
          <p:nvPr/>
        </p:nvGrpSpPr>
        <p:grpSpPr bwMode="auto">
          <a:xfrm>
            <a:off x="377568" y="5422125"/>
            <a:ext cx="1485901" cy="307975"/>
            <a:chOff x="112" y="2105"/>
            <a:chExt cx="936" cy="194"/>
          </a:xfrm>
        </p:grpSpPr>
        <p:sp>
          <p:nvSpPr>
            <p:cNvPr id="139" name="Rectangle 92">
              <a:extLst>
                <a:ext uri="{FF2B5EF4-FFF2-40B4-BE49-F238E27FC236}">
                  <a16:creationId xmlns:a16="http://schemas.microsoft.com/office/drawing/2014/main" id="{2DD601B0-AC22-43E9-8C2D-F2B1B3BD4AE8}"/>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Text Box 93">
              <a:extLst>
                <a:ext uri="{FF2B5EF4-FFF2-40B4-BE49-F238E27FC236}">
                  <a16:creationId xmlns:a16="http://schemas.microsoft.com/office/drawing/2014/main" id="{658B4180-0AD9-4D31-9A31-75F081C5D1DD}"/>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grpSp>
        <p:nvGrpSpPr>
          <p:cNvPr id="141" name="Group 94">
            <a:extLst>
              <a:ext uri="{FF2B5EF4-FFF2-40B4-BE49-F238E27FC236}">
                <a16:creationId xmlns:a16="http://schemas.microsoft.com/office/drawing/2014/main" id="{DF9B3FCB-DD06-4BE6-A4C4-B706BF483014}"/>
              </a:ext>
            </a:extLst>
          </p:cNvPr>
          <p:cNvGrpSpPr>
            <a:grpSpLocks/>
          </p:cNvGrpSpPr>
          <p:nvPr/>
        </p:nvGrpSpPr>
        <p:grpSpPr bwMode="auto">
          <a:xfrm>
            <a:off x="374393" y="5663425"/>
            <a:ext cx="1485901" cy="307975"/>
            <a:chOff x="112" y="2105"/>
            <a:chExt cx="936" cy="194"/>
          </a:xfrm>
        </p:grpSpPr>
        <p:sp>
          <p:nvSpPr>
            <p:cNvPr id="142" name="Rectangle 95">
              <a:extLst>
                <a:ext uri="{FF2B5EF4-FFF2-40B4-BE49-F238E27FC236}">
                  <a16:creationId xmlns:a16="http://schemas.microsoft.com/office/drawing/2014/main" id="{9A9D1E8E-6956-4E05-BE5A-FEC620A30AE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 name="Text Box 96">
              <a:extLst>
                <a:ext uri="{FF2B5EF4-FFF2-40B4-BE49-F238E27FC236}">
                  <a16:creationId xmlns:a16="http://schemas.microsoft.com/office/drawing/2014/main" id="{8AD4F1E5-00C0-478E-BE82-CC25B161AEC3}"/>
                </a:ext>
              </a:extLst>
            </p:cNvPr>
            <p:cNvSpPr txBox="1">
              <a:spLocks noChangeArrowheads="1"/>
            </p:cNvSpPr>
            <p:nvPr/>
          </p:nvSpPr>
          <p:spPr bwMode="auto">
            <a:xfrm>
              <a:off x="112" y="2105"/>
              <a:ext cx="936"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Times New Roman" panose="02020603050405020304" pitchFamily="18" charset="0"/>
                  <a:ea typeface="宋体" panose="02010600030101010101" pitchFamily="2" charset="-122"/>
                  <a:cs typeface="Times New Roman" panose="02020603050405020304" pitchFamily="18" charset="0"/>
                </a:rPr>
                <a:t>0 1</a:t>
              </a:r>
              <a:r>
                <a:rPr lang="en-US" sz="1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2 3 4 5</a:t>
              </a:r>
              <a:r>
                <a:rPr lang="en-US" sz="1400" dirty="0">
                  <a:latin typeface="Times New Roman" panose="02020603050405020304" pitchFamily="18" charset="0"/>
                  <a:ea typeface="宋体" panose="02010600030101010101" pitchFamily="2" charset="-122"/>
                  <a:cs typeface="Times New Roman" panose="02020603050405020304" pitchFamily="18" charset="0"/>
                </a:rPr>
                <a:t>   6 7 8 </a:t>
              </a:r>
            </a:p>
          </p:txBody>
        </p:sp>
      </p:grpSp>
      <p:sp>
        <p:nvSpPr>
          <p:cNvPr id="17" name="Line 14">
            <a:extLst>
              <a:ext uri="{FF2B5EF4-FFF2-40B4-BE49-F238E27FC236}">
                <a16:creationId xmlns:a16="http://schemas.microsoft.com/office/drawing/2014/main" id="{5C96FBE8-175C-4DCE-8FCF-3E0919E0A664}"/>
              </a:ext>
            </a:extLst>
          </p:cNvPr>
          <p:cNvSpPr>
            <a:spLocks noChangeShapeType="1"/>
          </p:cNvSpPr>
          <p:nvPr/>
        </p:nvSpPr>
        <p:spPr bwMode="auto">
          <a:xfrm>
            <a:off x="4122481" y="1812132"/>
            <a:ext cx="9525" cy="4581301"/>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Line 29">
            <a:extLst>
              <a:ext uri="{FF2B5EF4-FFF2-40B4-BE49-F238E27FC236}">
                <a16:creationId xmlns:a16="http://schemas.microsoft.com/office/drawing/2014/main" id="{8B0825BB-7BFC-42C9-B327-065C0316EE39}"/>
              </a:ext>
            </a:extLst>
          </p:cNvPr>
          <p:cNvSpPr>
            <a:spLocks noChangeShapeType="1"/>
          </p:cNvSpPr>
          <p:nvPr/>
        </p:nvSpPr>
        <p:spPr bwMode="auto">
          <a:xfrm>
            <a:off x="4155446" y="5017607"/>
            <a:ext cx="2100262"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3" name="Line 88">
            <a:extLst>
              <a:ext uri="{FF2B5EF4-FFF2-40B4-BE49-F238E27FC236}">
                <a16:creationId xmlns:a16="http://schemas.microsoft.com/office/drawing/2014/main" id="{3C416967-055C-4CD0-932D-A7833905F144}"/>
              </a:ext>
            </a:extLst>
          </p:cNvPr>
          <p:cNvSpPr>
            <a:spLocks noChangeShapeType="1"/>
          </p:cNvSpPr>
          <p:nvPr/>
        </p:nvSpPr>
        <p:spPr bwMode="auto">
          <a:xfrm flipH="1">
            <a:off x="4125127" y="4080090"/>
            <a:ext cx="2059989" cy="1210257"/>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4" name="Line 89">
            <a:extLst>
              <a:ext uri="{FF2B5EF4-FFF2-40B4-BE49-F238E27FC236}">
                <a16:creationId xmlns:a16="http://schemas.microsoft.com/office/drawing/2014/main" id="{18427FC6-8961-4B77-9B83-5F5288CF3D8C}"/>
              </a:ext>
            </a:extLst>
          </p:cNvPr>
          <p:cNvSpPr>
            <a:spLocks noChangeShapeType="1"/>
          </p:cNvSpPr>
          <p:nvPr/>
        </p:nvSpPr>
        <p:spPr bwMode="auto">
          <a:xfrm flipH="1">
            <a:off x="4147881" y="4414007"/>
            <a:ext cx="2044550" cy="1249417"/>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5" name="Line 92">
            <a:extLst>
              <a:ext uri="{FF2B5EF4-FFF2-40B4-BE49-F238E27FC236}">
                <a16:creationId xmlns:a16="http://schemas.microsoft.com/office/drawing/2014/main" id="{1EEB8ACF-094E-48B6-877B-33F3067E1412}"/>
              </a:ext>
            </a:extLst>
          </p:cNvPr>
          <p:cNvSpPr>
            <a:spLocks noChangeShapeType="1"/>
          </p:cNvSpPr>
          <p:nvPr/>
        </p:nvSpPr>
        <p:spPr bwMode="auto">
          <a:xfrm flipH="1">
            <a:off x="5327795" y="5527195"/>
            <a:ext cx="898543" cy="629426"/>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7" name="Text Box 44">
            <a:extLst>
              <a:ext uri="{FF2B5EF4-FFF2-40B4-BE49-F238E27FC236}">
                <a16:creationId xmlns:a16="http://schemas.microsoft.com/office/drawing/2014/main" id="{C8179D0F-D36E-4970-B44B-9240EA393A85}"/>
              </a:ext>
            </a:extLst>
          </p:cNvPr>
          <p:cNvSpPr txBox="1">
            <a:spLocks noChangeArrowheads="1"/>
          </p:cNvSpPr>
          <p:nvPr/>
        </p:nvSpPr>
        <p:spPr bwMode="auto">
          <a:xfrm>
            <a:off x="2545026" y="5180825"/>
            <a:ext cx="153920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记录</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en-US" dirty="0">
                <a:latin typeface="Times New Roman" panose="02020603050405020304" pitchFamily="18" charset="0"/>
                <a:ea typeface="宋体" panose="02010600030101010101" pitchFamily="2" charset="-122"/>
                <a:cs typeface="Times New Roman" panose="02020603050405020304" pitchFamily="18" charset="0"/>
              </a:rPr>
              <a:t>CK</a:t>
            </a:r>
            <a:r>
              <a:rPr lang="en-US" altLang="zh-CN"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到达</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Text Box 44">
            <a:extLst>
              <a:ext uri="{FF2B5EF4-FFF2-40B4-BE49-F238E27FC236}">
                <a16:creationId xmlns:a16="http://schemas.microsoft.com/office/drawing/2014/main" id="{A7F4FF5D-AA7A-41E9-AE6E-494055CA6C32}"/>
              </a:ext>
            </a:extLst>
          </p:cNvPr>
          <p:cNvSpPr txBox="1">
            <a:spLocks noChangeArrowheads="1"/>
          </p:cNvSpPr>
          <p:nvPr/>
        </p:nvSpPr>
        <p:spPr bwMode="auto">
          <a:xfrm>
            <a:off x="2557329" y="5509391"/>
            <a:ext cx="153920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记录</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en-US" dirty="0">
                <a:latin typeface="Times New Roman" panose="02020603050405020304" pitchFamily="18" charset="0"/>
                <a:ea typeface="宋体" panose="02010600030101010101" pitchFamily="2" charset="-122"/>
                <a:cs typeface="Times New Roman" panose="02020603050405020304" pitchFamily="18" charset="0"/>
              </a:rPr>
              <a:t>CK</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到达</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96240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a:extLst>
              <a:ext uri="{FF2B5EF4-FFF2-40B4-BE49-F238E27FC236}">
                <a16:creationId xmlns:a16="http://schemas.microsoft.com/office/drawing/2014/main" id="{3DC86749-1C91-49FD-9327-AF41F88F4A7F}"/>
              </a:ext>
            </a:extLst>
          </p:cNvPr>
          <p:cNvSpPr/>
          <p:nvPr/>
        </p:nvSpPr>
        <p:spPr>
          <a:xfrm rot="5400000">
            <a:off x="5098780" y="4761047"/>
            <a:ext cx="2390748" cy="250824"/>
          </a:xfrm>
          <a:prstGeom prst="parallelogram">
            <a:avLst>
              <a:gd name="adj" fmla="val 64072"/>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a:extLst>
              <a:ext uri="{FF2B5EF4-FFF2-40B4-BE49-F238E27FC236}">
                <a16:creationId xmlns:a16="http://schemas.microsoft.com/office/drawing/2014/main" id="{0BC5FD9B-19BF-46D8-8818-270A86819468}"/>
              </a:ext>
            </a:extLst>
          </p:cNvPr>
          <p:cNvSpPr/>
          <p:nvPr/>
        </p:nvSpPr>
        <p:spPr>
          <a:xfrm rot="5400000">
            <a:off x="5186634" y="2224311"/>
            <a:ext cx="2169000" cy="240378"/>
          </a:xfrm>
          <a:prstGeom prst="parallelogram">
            <a:avLst>
              <a:gd name="adj" fmla="val 64072"/>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48" name="Rectangle 2"/>
          <p:cNvSpPr>
            <a:spLocks noGrp="1" noChangeArrowheads="1"/>
          </p:cNvSpPr>
          <p:nvPr>
            <p:ph type="title"/>
          </p:nvPr>
        </p:nvSpPr>
        <p:spPr>
          <a:xfrm>
            <a:off x="345989" y="590100"/>
            <a:ext cx="8421643" cy="944689"/>
          </a:xfrm>
        </p:spPr>
        <p:txBody>
          <a:bodyPr>
            <a:normAutofit/>
          </a:bodyPr>
          <a:lstStyle/>
          <a:p>
            <a:pPr marL="358775" indent="-358775">
              <a:buClr>
                <a:srgbClr val="C00000"/>
              </a:buClr>
              <a:buFont typeface="Wingdings" panose="05000000000000000000" pitchFamily="2" charset="2"/>
              <a:buChar char="n"/>
              <a:defRPr/>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问题讨论</a:t>
            </a:r>
            <a:endParaRPr lang="en-US" altLang="zh-CN" sz="2800" dirty="0">
              <a:latin typeface="Arial" pitchFamily="34" charset="0"/>
              <a:ea typeface="宋体" pitchFamily="2" charset="-122"/>
            </a:endParaRPr>
          </a:p>
        </p:txBody>
      </p:sp>
      <p:sp>
        <p:nvSpPr>
          <p:cNvPr id="6" name="标题 1">
            <a:extLst>
              <a:ext uri="{FF2B5EF4-FFF2-40B4-BE49-F238E27FC236}">
                <a16:creationId xmlns:a16="http://schemas.microsoft.com/office/drawing/2014/main" id="{86E78625-A95B-4C78-B842-83FA8346E12E}"/>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3.4 </a:t>
            </a:r>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9" name="Rectangle 6">
            <a:extLst>
              <a:ext uri="{FF2B5EF4-FFF2-40B4-BE49-F238E27FC236}">
                <a16:creationId xmlns:a16="http://schemas.microsoft.com/office/drawing/2014/main" id="{CE594287-9D6B-45E7-B125-0BB33027BCBC}"/>
              </a:ext>
            </a:extLst>
          </p:cNvPr>
          <p:cNvSpPr>
            <a:spLocks noChangeArrowheads="1"/>
          </p:cNvSpPr>
          <p:nvPr/>
        </p:nvSpPr>
        <p:spPr bwMode="auto">
          <a:xfrm>
            <a:off x="303166" y="1499894"/>
            <a:ext cx="3767182" cy="1885274"/>
          </a:xfrm>
          <a:prstGeom prst="rect">
            <a:avLst/>
          </a:prstGeom>
          <a:noFill/>
          <a:ln w="9525">
            <a:noFill/>
            <a:miter lim="800000"/>
            <a:headEnd/>
            <a:tailEnd/>
          </a:ln>
        </p:spPr>
        <p:txBody>
          <a:bodyPr/>
          <a:lstStyle/>
          <a:p>
            <a:pPr marL="625475" lvl="1" indent="-266700" eaLnBrk="0" hangingPunct="0">
              <a:lnSpc>
                <a:spcPts val="36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序号为</a:t>
            </a:r>
            <a:r>
              <a:rPr lang="en-US" altLang="ja-JP" sz="22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ja-JP"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ja-JP" sz="22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ja-JP" sz="22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，窗口大小为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a:t>
            </a:r>
          </a:p>
          <a:p>
            <a:pPr marL="625475" lvl="1" indent="-266700" eaLnBrk="0" hangingPunct="0">
              <a:lnSpc>
                <a:spcPts val="36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在两种情况下，接收端没有差别</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266700" eaLnBrk="0" hangingPunct="0">
              <a:lnSpc>
                <a:spcPts val="3200"/>
              </a:lnSpc>
              <a:buClr>
                <a:srgbClr val="2A09B7"/>
              </a:buClr>
              <a:buFont typeface="Wingdings" panose="05000000000000000000" pitchFamily="2" charset="2"/>
              <a:buChar char="Ø"/>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Text Box 41">
            <a:extLst>
              <a:ext uri="{FF2B5EF4-FFF2-40B4-BE49-F238E27FC236}">
                <a16:creationId xmlns:a16="http://schemas.microsoft.com/office/drawing/2014/main" id="{6D9508F4-CE92-45AA-8832-A6EAEFA6C9B9}"/>
              </a:ext>
            </a:extLst>
          </p:cNvPr>
          <p:cNvSpPr txBox="1">
            <a:spLocks noChangeArrowheads="1"/>
          </p:cNvSpPr>
          <p:nvPr/>
        </p:nvSpPr>
        <p:spPr bwMode="auto">
          <a:xfrm>
            <a:off x="4404836" y="1167512"/>
            <a:ext cx="902811"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zh-CN" altLang="en-US" sz="1400" dirty="0"/>
              <a:t>发送窗口</a:t>
            </a:r>
            <a:endParaRPr lang="en-US" sz="1400" dirty="0"/>
          </a:p>
        </p:txBody>
      </p:sp>
      <p:grpSp>
        <p:nvGrpSpPr>
          <p:cNvPr id="76" name="Group 129">
            <a:extLst>
              <a:ext uri="{FF2B5EF4-FFF2-40B4-BE49-F238E27FC236}">
                <a16:creationId xmlns:a16="http://schemas.microsoft.com/office/drawing/2014/main" id="{F38D6431-CFFE-4F8F-9113-0D84864568D7}"/>
              </a:ext>
            </a:extLst>
          </p:cNvPr>
          <p:cNvGrpSpPr>
            <a:grpSpLocks/>
          </p:cNvGrpSpPr>
          <p:nvPr/>
        </p:nvGrpSpPr>
        <p:grpSpPr bwMode="auto">
          <a:xfrm>
            <a:off x="4368849" y="3800916"/>
            <a:ext cx="4462463" cy="2044700"/>
            <a:chOff x="2808" y="2536"/>
            <a:chExt cx="2811" cy="1288"/>
          </a:xfrm>
        </p:grpSpPr>
        <p:grpSp>
          <p:nvGrpSpPr>
            <p:cNvPr id="77" name="Group 8">
              <a:extLst>
                <a:ext uri="{FF2B5EF4-FFF2-40B4-BE49-F238E27FC236}">
                  <a16:creationId xmlns:a16="http://schemas.microsoft.com/office/drawing/2014/main" id="{55A183A1-8145-4630-9482-AE55E5E9EE1A}"/>
                </a:ext>
              </a:extLst>
            </p:cNvPr>
            <p:cNvGrpSpPr>
              <a:grpSpLocks/>
            </p:cNvGrpSpPr>
            <p:nvPr/>
          </p:nvGrpSpPr>
          <p:grpSpPr bwMode="auto">
            <a:xfrm>
              <a:off x="2808" y="2584"/>
              <a:ext cx="649" cy="173"/>
              <a:chOff x="1895" y="3931"/>
              <a:chExt cx="649" cy="173"/>
            </a:xfrm>
          </p:grpSpPr>
          <p:sp>
            <p:nvSpPr>
              <p:cNvPr id="165" name="Rectangle 7">
                <a:extLst>
                  <a:ext uri="{FF2B5EF4-FFF2-40B4-BE49-F238E27FC236}">
                    <a16:creationId xmlns:a16="http://schemas.microsoft.com/office/drawing/2014/main" id="{5A6139FD-45FD-4118-8431-2DFCB4C7554E}"/>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6" name="Text Box 6">
                <a:extLst>
                  <a:ext uri="{FF2B5EF4-FFF2-40B4-BE49-F238E27FC236}">
                    <a16:creationId xmlns:a16="http://schemas.microsoft.com/office/drawing/2014/main" id="{BCBA7D14-D60E-4972-89C5-6949A4D1CC5D}"/>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solidFill>
                      <a:schemeClr val="bg1"/>
                    </a:solidFill>
                    <a:latin typeface="Arial" charset="0"/>
                  </a:rPr>
                  <a:t>0 1 2</a:t>
                </a:r>
                <a:r>
                  <a:rPr lang="en-US" sz="1200">
                    <a:latin typeface="Arial" charset="0"/>
                  </a:rPr>
                  <a:t> 3 0 1 2</a:t>
                </a:r>
              </a:p>
            </p:txBody>
          </p:sp>
        </p:grpSp>
        <p:grpSp>
          <p:nvGrpSpPr>
            <p:cNvPr id="78" name="Group 9">
              <a:extLst>
                <a:ext uri="{FF2B5EF4-FFF2-40B4-BE49-F238E27FC236}">
                  <a16:creationId xmlns:a16="http://schemas.microsoft.com/office/drawing/2014/main" id="{53F3E502-2C95-4092-B8C7-D72BAAF80692}"/>
                </a:ext>
              </a:extLst>
            </p:cNvPr>
            <p:cNvGrpSpPr>
              <a:grpSpLocks/>
            </p:cNvGrpSpPr>
            <p:nvPr/>
          </p:nvGrpSpPr>
          <p:grpSpPr bwMode="auto">
            <a:xfrm>
              <a:off x="2820" y="2757"/>
              <a:ext cx="649" cy="173"/>
              <a:chOff x="1895" y="3931"/>
              <a:chExt cx="649" cy="173"/>
            </a:xfrm>
          </p:grpSpPr>
          <p:sp>
            <p:nvSpPr>
              <p:cNvPr id="163" name="Rectangle 10">
                <a:extLst>
                  <a:ext uri="{FF2B5EF4-FFF2-40B4-BE49-F238E27FC236}">
                    <a16:creationId xmlns:a16="http://schemas.microsoft.com/office/drawing/2014/main" id="{3DC9A4FD-A8C5-4084-94AB-9322A35CD360}"/>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4" name="Text Box 11">
                <a:extLst>
                  <a:ext uri="{FF2B5EF4-FFF2-40B4-BE49-F238E27FC236}">
                    <a16:creationId xmlns:a16="http://schemas.microsoft.com/office/drawing/2014/main" id="{CF83A7E0-AB12-43B5-9F54-FCF22C60AFC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solidFill>
                      <a:schemeClr val="bg1"/>
                    </a:solidFill>
                    <a:latin typeface="Arial" charset="0"/>
                  </a:rPr>
                  <a:t>0 1 2</a:t>
                </a:r>
                <a:r>
                  <a:rPr lang="en-US" sz="1200" dirty="0">
                    <a:latin typeface="Arial" charset="0"/>
                  </a:rPr>
                  <a:t> 3 0 1 2</a:t>
                </a:r>
              </a:p>
            </p:txBody>
          </p:sp>
        </p:grpSp>
        <p:grpSp>
          <p:nvGrpSpPr>
            <p:cNvPr id="79" name="Group 12">
              <a:extLst>
                <a:ext uri="{FF2B5EF4-FFF2-40B4-BE49-F238E27FC236}">
                  <a16:creationId xmlns:a16="http://schemas.microsoft.com/office/drawing/2014/main" id="{1AACCC55-C2F1-4D77-A74A-33AB4FD84D06}"/>
                </a:ext>
              </a:extLst>
            </p:cNvPr>
            <p:cNvGrpSpPr>
              <a:grpSpLocks/>
            </p:cNvGrpSpPr>
            <p:nvPr/>
          </p:nvGrpSpPr>
          <p:grpSpPr bwMode="auto">
            <a:xfrm>
              <a:off x="2825" y="2923"/>
              <a:ext cx="649" cy="173"/>
              <a:chOff x="1895" y="3931"/>
              <a:chExt cx="649" cy="173"/>
            </a:xfrm>
          </p:grpSpPr>
          <p:sp>
            <p:nvSpPr>
              <p:cNvPr id="161" name="Rectangle 13">
                <a:extLst>
                  <a:ext uri="{FF2B5EF4-FFF2-40B4-BE49-F238E27FC236}">
                    <a16:creationId xmlns:a16="http://schemas.microsoft.com/office/drawing/2014/main" id="{A94C61E0-BB20-4956-A242-0E2BCA91F58D}"/>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2" name="Text Box 14">
                <a:extLst>
                  <a:ext uri="{FF2B5EF4-FFF2-40B4-BE49-F238E27FC236}">
                    <a16:creationId xmlns:a16="http://schemas.microsoft.com/office/drawing/2014/main" id="{312133F5-862F-4272-9664-1994CCBBD00B}"/>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solidFill>
                      <a:schemeClr val="bg1"/>
                    </a:solidFill>
                    <a:latin typeface="Arial" charset="0"/>
                  </a:rPr>
                  <a:t>0 1 2</a:t>
                </a:r>
                <a:r>
                  <a:rPr lang="en-US" sz="1200">
                    <a:latin typeface="Arial" charset="0"/>
                  </a:rPr>
                  <a:t> 3 0 1 2</a:t>
                </a:r>
              </a:p>
            </p:txBody>
          </p:sp>
        </p:grpSp>
        <p:sp>
          <p:nvSpPr>
            <p:cNvPr id="80" name="Line 15">
              <a:extLst>
                <a:ext uri="{FF2B5EF4-FFF2-40B4-BE49-F238E27FC236}">
                  <a16:creationId xmlns:a16="http://schemas.microsoft.com/office/drawing/2014/main" id="{D277F86D-3707-4810-9C92-D00EE7A9945D}"/>
                </a:ext>
              </a:extLst>
            </p:cNvPr>
            <p:cNvSpPr>
              <a:spLocks noChangeShapeType="1"/>
            </p:cNvSpPr>
            <p:nvPr/>
          </p:nvSpPr>
          <p:spPr bwMode="auto">
            <a:xfrm>
              <a:off x="3449" y="2671"/>
              <a:ext cx="1151" cy="1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1" name="Line 16">
              <a:extLst>
                <a:ext uri="{FF2B5EF4-FFF2-40B4-BE49-F238E27FC236}">
                  <a16:creationId xmlns:a16="http://schemas.microsoft.com/office/drawing/2014/main" id="{0C61B3B2-217E-40E2-8D9D-E6438BCFC870}"/>
                </a:ext>
              </a:extLst>
            </p:cNvPr>
            <p:cNvSpPr>
              <a:spLocks noChangeShapeType="1"/>
            </p:cNvSpPr>
            <p:nvPr/>
          </p:nvSpPr>
          <p:spPr bwMode="auto">
            <a:xfrm>
              <a:off x="3468" y="2851"/>
              <a:ext cx="1139" cy="144"/>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 name="Line 17">
              <a:extLst>
                <a:ext uri="{FF2B5EF4-FFF2-40B4-BE49-F238E27FC236}">
                  <a16:creationId xmlns:a16="http://schemas.microsoft.com/office/drawing/2014/main" id="{CC84A496-3202-406D-B521-88D3355F521A}"/>
                </a:ext>
              </a:extLst>
            </p:cNvPr>
            <p:cNvSpPr>
              <a:spLocks noChangeShapeType="1"/>
            </p:cNvSpPr>
            <p:nvPr/>
          </p:nvSpPr>
          <p:spPr bwMode="auto">
            <a:xfrm>
              <a:off x="3487" y="3031"/>
              <a:ext cx="1124" cy="132"/>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3" name="Text Box 18">
              <a:extLst>
                <a:ext uri="{FF2B5EF4-FFF2-40B4-BE49-F238E27FC236}">
                  <a16:creationId xmlns:a16="http://schemas.microsoft.com/office/drawing/2014/main" id="{7B3D02F7-47D7-4668-8D15-2815C732776D}"/>
                </a:ext>
              </a:extLst>
            </p:cNvPr>
            <p:cNvSpPr txBox="1">
              <a:spLocks noChangeArrowheads="1"/>
            </p:cNvSpPr>
            <p:nvPr/>
          </p:nvSpPr>
          <p:spPr bwMode="auto">
            <a:xfrm>
              <a:off x="3520" y="2536"/>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pkt0</a:t>
              </a:r>
            </a:p>
          </p:txBody>
        </p:sp>
        <p:sp>
          <p:nvSpPr>
            <p:cNvPr id="84" name="Text Box 19">
              <a:extLst>
                <a:ext uri="{FF2B5EF4-FFF2-40B4-BE49-F238E27FC236}">
                  <a16:creationId xmlns:a16="http://schemas.microsoft.com/office/drawing/2014/main" id="{716EA66F-0B83-4FFF-A42A-70784FA69513}"/>
                </a:ext>
              </a:extLst>
            </p:cNvPr>
            <p:cNvSpPr txBox="1">
              <a:spLocks noChangeArrowheads="1"/>
            </p:cNvSpPr>
            <p:nvPr/>
          </p:nvSpPr>
          <p:spPr bwMode="auto">
            <a:xfrm>
              <a:off x="3518" y="2716"/>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pkt1</a:t>
              </a:r>
            </a:p>
          </p:txBody>
        </p:sp>
        <p:sp>
          <p:nvSpPr>
            <p:cNvPr id="85" name="Text Box 20">
              <a:extLst>
                <a:ext uri="{FF2B5EF4-FFF2-40B4-BE49-F238E27FC236}">
                  <a16:creationId xmlns:a16="http://schemas.microsoft.com/office/drawing/2014/main" id="{EA20A902-FBC4-4544-9E3B-7036C2BD6F97}"/>
                </a:ext>
              </a:extLst>
            </p:cNvPr>
            <p:cNvSpPr txBox="1">
              <a:spLocks noChangeArrowheads="1"/>
            </p:cNvSpPr>
            <p:nvPr/>
          </p:nvSpPr>
          <p:spPr bwMode="auto">
            <a:xfrm>
              <a:off x="3516" y="2896"/>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pkt2</a:t>
              </a:r>
            </a:p>
          </p:txBody>
        </p:sp>
        <p:grpSp>
          <p:nvGrpSpPr>
            <p:cNvPr id="107" name="Group 23">
              <a:extLst>
                <a:ext uri="{FF2B5EF4-FFF2-40B4-BE49-F238E27FC236}">
                  <a16:creationId xmlns:a16="http://schemas.microsoft.com/office/drawing/2014/main" id="{3442CE22-55C6-4722-9857-FB0BFFC806EF}"/>
                </a:ext>
              </a:extLst>
            </p:cNvPr>
            <p:cNvGrpSpPr>
              <a:grpSpLocks/>
            </p:cNvGrpSpPr>
            <p:nvPr/>
          </p:nvGrpSpPr>
          <p:grpSpPr bwMode="auto">
            <a:xfrm>
              <a:off x="2827" y="3573"/>
              <a:ext cx="649" cy="173"/>
              <a:chOff x="1895" y="3931"/>
              <a:chExt cx="649" cy="173"/>
            </a:xfrm>
          </p:grpSpPr>
          <p:sp>
            <p:nvSpPr>
              <p:cNvPr id="159" name="Rectangle 24">
                <a:extLst>
                  <a:ext uri="{FF2B5EF4-FFF2-40B4-BE49-F238E27FC236}">
                    <a16:creationId xmlns:a16="http://schemas.microsoft.com/office/drawing/2014/main" id="{76C4D394-D980-466D-89E4-632C33DADBE2}"/>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0" name="Text Box 25">
                <a:extLst>
                  <a:ext uri="{FF2B5EF4-FFF2-40B4-BE49-F238E27FC236}">
                    <a16:creationId xmlns:a16="http://schemas.microsoft.com/office/drawing/2014/main" id="{96CE111E-DE0E-4A4B-B440-A305F561D52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solidFill>
                      <a:schemeClr val="bg1"/>
                    </a:solidFill>
                    <a:latin typeface="Arial" charset="0"/>
                  </a:rPr>
                  <a:t>0 1 2</a:t>
                </a:r>
                <a:r>
                  <a:rPr lang="en-US" sz="1200">
                    <a:latin typeface="Arial" charset="0"/>
                  </a:rPr>
                  <a:t> 3 0 1 2</a:t>
                </a:r>
              </a:p>
            </p:txBody>
          </p:sp>
        </p:grpSp>
        <p:sp>
          <p:nvSpPr>
            <p:cNvPr id="108" name="Line 32">
              <a:extLst>
                <a:ext uri="{FF2B5EF4-FFF2-40B4-BE49-F238E27FC236}">
                  <a16:creationId xmlns:a16="http://schemas.microsoft.com/office/drawing/2014/main" id="{A09A3410-D4DB-430A-B8E3-CFC59232A3D1}"/>
                </a:ext>
              </a:extLst>
            </p:cNvPr>
            <p:cNvSpPr>
              <a:spLocks noChangeShapeType="1"/>
            </p:cNvSpPr>
            <p:nvPr/>
          </p:nvSpPr>
          <p:spPr bwMode="auto">
            <a:xfrm>
              <a:off x="3489" y="3657"/>
              <a:ext cx="1124" cy="141"/>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9" name="Text Box 35">
              <a:extLst>
                <a:ext uri="{FF2B5EF4-FFF2-40B4-BE49-F238E27FC236}">
                  <a16:creationId xmlns:a16="http://schemas.microsoft.com/office/drawing/2014/main" id="{F020578B-5555-4E67-AC56-706E4664C748}"/>
                </a:ext>
              </a:extLst>
            </p:cNvPr>
            <p:cNvSpPr txBox="1">
              <a:spLocks noChangeArrowheads="1"/>
            </p:cNvSpPr>
            <p:nvPr/>
          </p:nvSpPr>
          <p:spPr bwMode="auto">
            <a:xfrm>
              <a:off x="3542" y="3522"/>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pkt0</a:t>
              </a:r>
            </a:p>
          </p:txBody>
        </p:sp>
        <p:sp>
          <p:nvSpPr>
            <p:cNvPr id="110" name="Text Box 39">
              <a:extLst>
                <a:ext uri="{FF2B5EF4-FFF2-40B4-BE49-F238E27FC236}">
                  <a16:creationId xmlns:a16="http://schemas.microsoft.com/office/drawing/2014/main" id="{08CD9E02-F74E-474D-891F-66D5EDE2E6A0}"/>
                </a:ext>
              </a:extLst>
            </p:cNvPr>
            <p:cNvSpPr txBox="1">
              <a:spLocks noChangeArrowheads="1"/>
            </p:cNvSpPr>
            <p:nvPr/>
          </p:nvSpPr>
          <p:spPr bwMode="auto">
            <a:xfrm>
              <a:off x="2817" y="3322"/>
              <a:ext cx="787" cy="1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lnSpc>
                  <a:spcPct val="90000"/>
                </a:lnSpc>
                <a:defRPr/>
              </a:pPr>
              <a:r>
                <a:rPr lang="zh-CN" altLang="en-US" sz="1400" dirty="0"/>
                <a:t>超时重传</a:t>
              </a:r>
              <a:r>
                <a:rPr lang="en-US" sz="1400" dirty="0"/>
                <a:t>pkt0</a:t>
              </a:r>
            </a:p>
          </p:txBody>
        </p:sp>
        <p:sp>
          <p:nvSpPr>
            <p:cNvPr id="144" name="Rectangle 45">
              <a:extLst>
                <a:ext uri="{FF2B5EF4-FFF2-40B4-BE49-F238E27FC236}">
                  <a16:creationId xmlns:a16="http://schemas.microsoft.com/office/drawing/2014/main" id="{AD963EBF-9CBF-45CC-A9FA-F1D425BBB415}"/>
                </a:ext>
              </a:extLst>
            </p:cNvPr>
            <p:cNvSpPr>
              <a:spLocks noChangeArrowheads="1"/>
            </p:cNvSpPr>
            <p:nvPr/>
          </p:nvSpPr>
          <p:spPr bwMode="auto">
            <a:xfrm>
              <a:off x="4729" y="2774"/>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5" name="Text Box 46">
              <a:extLst>
                <a:ext uri="{FF2B5EF4-FFF2-40B4-BE49-F238E27FC236}">
                  <a16:creationId xmlns:a16="http://schemas.microsoft.com/office/drawing/2014/main" id="{DB04261B-1CE7-4ED2-95CB-E6FB7032B47E}"/>
                </a:ext>
              </a:extLst>
            </p:cNvPr>
            <p:cNvSpPr txBox="1">
              <a:spLocks noChangeArrowheads="1"/>
            </p:cNvSpPr>
            <p:nvPr/>
          </p:nvSpPr>
          <p:spPr bwMode="auto">
            <a:xfrm>
              <a:off x="4610" y="2743"/>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a:t>
              </a:r>
              <a:r>
                <a:rPr lang="en-US" sz="1200">
                  <a:solidFill>
                    <a:schemeClr val="bg1"/>
                  </a:solidFill>
                  <a:latin typeface="Arial" charset="0"/>
                </a:rPr>
                <a:t> 1 2 3</a:t>
              </a:r>
              <a:r>
                <a:rPr lang="en-US" sz="1200">
                  <a:latin typeface="Arial" charset="0"/>
                </a:rPr>
                <a:t> 0 1 2</a:t>
              </a:r>
            </a:p>
          </p:txBody>
        </p:sp>
        <p:sp>
          <p:nvSpPr>
            <p:cNvPr id="146" name="Rectangle 50">
              <a:extLst>
                <a:ext uri="{FF2B5EF4-FFF2-40B4-BE49-F238E27FC236}">
                  <a16:creationId xmlns:a16="http://schemas.microsoft.com/office/drawing/2014/main" id="{C3B96CD8-A640-419A-AC1F-F824BF0B50C3}"/>
                </a:ext>
              </a:extLst>
            </p:cNvPr>
            <p:cNvSpPr>
              <a:spLocks noChangeArrowheads="1"/>
            </p:cNvSpPr>
            <p:nvPr/>
          </p:nvSpPr>
          <p:spPr bwMode="auto">
            <a:xfrm>
              <a:off x="4805" y="2945"/>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7" name="Text Box 51">
              <a:extLst>
                <a:ext uri="{FF2B5EF4-FFF2-40B4-BE49-F238E27FC236}">
                  <a16:creationId xmlns:a16="http://schemas.microsoft.com/office/drawing/2014/main" id="{D3765D20-2384-4D03-97DA-7D6F5262A521}"/>
                </a:ext>
              </a:extLst>
            </p:cNvPr>
            <p:cNvSpPr txBox="1">
              <a:spLocks noChangeArrowheads="1"/>
            </p:cNvSpPr>
            <p:nvPr/>
          </p:nvSpPr>
          <p:spPr bwMode="auto">
            <a:xfrm>
              <a:off x="4608" y="2916"/>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0 1</a:t>
              </a:r>
              <a:r>
                <a:rPr lang="en-US" sz="1200">
                  <a:solidFill>
                    <a:schemeClr val="bg1"/>
                  </a:solidFill>
                  <a:latin typeface="Arial" charset="0"/>
                </a:rPr>
                <a:t> 2 3 0</a:t>
              </a:r>
              <a:r>
                <a:rPr lang="en-US" sz="1200">
                  <a:latin typeface="Arial" charset="0"/>
                </a:rPr>
                <a:t> 1 2</a:t>
              </a:r>
            </a:p>
          </p:txBody>
        </p:sp>
        <p:sp>
          <p:nvSpPr>
            <p:cNvPr id="148" name="Rectangle 53">
              <a:extLst>
                <a:ext uri="{FF2B5EF4-FFF2-40B4-BE49-F238E27FC236}">
                  <a16:creationId xmlns:a16="http://schemas.microsoft.com/office/drawing/2014/main" id="{9C06CCC6-69AB-4CDC-98DC-871D632DD53A}"/>
                </a:ext>
              </a:extLst>
            </p:cNvPr>
            <p:cNvSpPr>
              <a:spLocks noChangeArrowheads="1"/>
            </p:cNvSpPr>
            <p:nvPr/>
          </p:nvSpPr>
          <p:spPr bwMode="auto">
            <a:xfrm>
              <a:off x="4887" y="3111"/>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9" name="Text Box 54">
              <a:extLst>
                <a:ext uri="{FF2B5EF4-FFF2-40B4-BE49-F238E27FC236}">
                  <a16:creationId xmlns:a16="http://schemas.microsoft.com/office/drawing/2014/main" id="{B3524099-6925-4334-9190-98C0AE4A6258}"/>
                </a:ext>
              </a:extLst>
            </p:cNvPr>
            <p:cNvSpPr txBox="1">
              <a:spLocks noChangeArrowheads="1"/>
            </p:cNvSpPr>
            <p:nvPr/>
          </p:nvSpPr>
          <p:spPr bwMode="auto">
            <a:xfrm>
              <a:off x="4610" y="3082"/>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0 1 2 </a:t>
              </a:r>
              <a:r>
                <a:rPr lang="en-US" sz="1200">
                  <a:solidFill>
                    <a:schemeClr val="bg1"/>
                  </a:solidFill>
                  <a:latin typeface="Arial" charset="0"/>
                </a:rPr>
                <a:t>3 0 1</a:t>
              </a:r>
              <a:r>
                <a:rPr lang="en-US" sz="1200">
                  <a:latin typeface="Arial" charset="0"/>
                </a:rPr>
                <a:t> 2</a:t>
              </a:r>
            </a:p>
          </p:txBody>
        </p:sp>
        <p:sp>
          <p:nvSpPr>
            <p:cNvPr id="150" name="Line 62">
              <a:extLst>
                <a:ext uri="{FF2B5EF4-FFF2-40B4-BE49-F238E27FC236}">
                  <a16:creationId xmlns:a16="http://schemas.microsoft.com/office/drawing/2014/main" id="{251B5928-5B0F-4E77-A0FF-0E2980AE461B}"/>
                </a:ext>
              </a:extLst>
            </p:cNvPr>
            <p:cNvSpPr>
              <a:spLocks noChangeShapeType="1"/>
            </p:cNvSpPr>
            <p:nvPr/>
          </p:nvSpPr>
          <p:spPr bwMode="auto">
            <a:xfrm flipH="1">
              <a:off x="3744" y="2826"/>
              <a:ext cx="822" cy="344"/>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1" name="Line 63">
              <a:extLst>
                <a:ext uri="{FF2B5EF4-FFF2-40B4-BE49-F238E27FC236}">
                  <a16:creationId xmlns:a16="http://schemas.microsoft.com/office/drawing/2014/main" id="{A93CD402-6C23-4058-A300-FC87887581D1}"/>
                </a:ext>
              </a:extLst>
            </p:cNvPr>
            <p:cNvSpPr>
              <a:spLocks noChangeShapeType="1"/>
            </p:cNvSpPr>
            <p:nvPr/>
          </p:nvSpPr>
          <p:spPr bwMode="auto">
            <a:xfrm flipH="1">
              <a:off x="3763" y="2992"/>
              <a:ext cx="822" cy="344"/>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2" name="Line 64">
              <a:extLst>
                <a:ext uri="{FF2B5EF4-FFF2-40B4-BE49-F238E27FC236}">
                  <a16:creationId xmlns:a16="http://schemas.microsoft.com/office/drawing/2014/main" id="{35AC2B97-265B-4DC3-807F-D4EACF1708AD}"/>
                </a:ext>
              </a:extLst>
            </p:cNvPr>
            <p:cNvSpPr>
              <a:spLocks noChangeShapeType="1"/>
            </p:cNvSpPr>
            <p:nvPr/>
          </p:nvSpPr>
          <p:spPr bwMode="auto">
            <a:xfrm flipH="1">
              <a:off x="3782" y="3158"/>
              <a:ext cx="822" cy="344"/>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3" name="Text Box 65">
              <a:extLst>
                <a:ext uri="{FF2B5EF4-FFF2-40B4-BE49-F238E27FC236}">
                  <a16:creationId xmlns:a16="http://schemas.microsoft.com/office/drawing/2014/main" id="{08BB9A4F-1A3A-4336-BEF9-D21AC376B3B4}"/>
                </a:ext>
              </a:extLst>
            </p:cNvPr>
            <p:cNvSpPr txBox="1">
              <a:spLocks noChangeArrowheads="1"/>
            </p:cNvSpPr>
            <p:nvPr/>
          </p:nvSpPr>
          <p:spPr bwMode="auto">
            <a:xfrm>
              <a:off x="3628" y="3048"/>
              <a:ext cx="204"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rPr>
                <a:t>X</a:t>
              </a:r>
            </a:p>
          </p:txBody>
        </p:sp>
        <p:sp>
          <p:nvSpPr>
            <p:cNvPr id="154" name="Text Box 66">
              <a:extLst>
                <a:ext uri="{FF2B5EF4-FFF2-40B4-BE49-F238E27FC236}">
                  <a16:creationId xmlns:a16="http://schemas.microsoft.com/office/drawing/2014/main" id="{E9FEA890-CDEC-4B4E-943C-299DE76214F3}"/>
                </a:ext>
              </a:extLst>
            </p:cNvPr>
            <p:cNvSpPr txBox="1">
              <a:spLocks noChangeArrowheads="1"/>
            </p:cNvSpPr>
            <p:nvPr/>
          </p:nvSpPr>
          <p:spPr bwMode="auto">
            <a:xfrm>
              <a:off x="3640" y="3228"/>
              <a:ext cx="204"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rPr>
                <a:t>X</a:t>
              </a:r>
            </a:p>
          </p:txBody>
        </p:sp>
        <p:sp>
          <p:nvSpPr>
            <p:cNvPr id="155" name="Text Box 67">
              <a:extLst>
                <a:ext uri="{FF2B5EF4-FFF2-40B4-BE49-F238E27FC236}">
                  <a16:creationId xmlns:a16="http://schemas.microsoft.com/office/drawing/2014/main" id="{D18B1647-A0BC-46DE-9E61-B345E44759B7}"/>
                </a:ext>
              </a:extLst>
            </p:cNvPr>
            <p:cNvSpPr txBox="1">
              <a:spLocks noChangeArrowheads="1"/>
            </p:cNvSpPr>
            <p:nvPr/>
          </p:nvSpPr>
          <p:spPr bwMode="auto">
            <a:xfrm>
              <a:off x="3659" y="3387"/>
              <a:ext cx="204"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rPr>
                <a:t>X</a:t>
              </a:r>
            </a:p>
          </p:txBody>
        </p:sp>
        <p:sp>
          <p:nvSpPr>
            <p:cNvPr id="156" name="Text Box 68">
              <a:extLst>
                <a:ext uri="{FF2B5EF4-FFF2-40B4-BE49-F238E27FC236}">
                  <a16:creationId xmlns:a16="http://schemas.microsoft.com/office/drawing/2014/main" id="{C3EE3279-ABAB-4FB5-9DCE-D5956AF3104D}"/>
                </a:ext>
              </a:extLst>
            </p:cNvPr>
            <p:cNvSpPr txBox="1">
              <a:spLocks noChangeArrowheads="1"/>
            </p:cNvSpPr>
            <p:nvPr/>
          </p:nvSpPr>
          <p:spPr bwMode="auto">
            <a:xfrm>
              <a:off x="4578" y="3650"/>
              <a:ext cx="1041" cy="1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200" i="1" dirty="0">
                  <a:solidFill>
                    <a:srgbClr val="CC0000"/>
                  </a:solidFill>
                </a:rPr>
                <a:t>接收到序号为</a:t>
              </a:r>
              <a:r>
                <a:rPr lang="en-US" altLang="zh-CN" sz="1200" i="1" dirty="0">
                  <a:solidFill>
                    <a:srgbClr val="CC0000"/>
                  </a:solidFill>
                </a:rPr>
                <a:t>0</a:t>
              </a:r>
              <a:r>
                <a:rPr lang="zh-CN" altLang="en-US" sz="1200" i="1" dirty="0">
                  <a:solidFill>
                    <a:srgbClr val="CC0000"/>
                  </a:solidFill>
                </a:rPr>
                <a:t>的分组</a:t>
              </a:r>
              <a:endParaRPr lang="en-US" altLang="zh-CN" sz="1200" i="1" dirty="0">
                <a:solidFill>
                  <a:srgbClr val="CC0000"/>
                </a:solidFill>
              </a:endParaRPr>
            </a:p>
          </p:txBody>
        </p:sp>
        <p:sp>
          <p:nvSpPr>
            <p:cNvPr id="157" name="Line 69">
              <a:extLst>
                <a:ext uri="{FF2B5EF4-FFF2-40B4-BE49-F238E27FC236}">
                  <a16:creationId xmlns:a16="http://schemas.microsoft.com/office/drawing/2014/main" id="{00DFDB3B-9DFF-47CB-B636-12EF4175585F}"/>
                </a:ext>
              </a:extLst>
            </p:cNvPr>
            <p:cNvSpPr>
              <a:spLocks noChangeShapeType="1"/>
            </p:cNvSpPr>
            <p:nvPr/>
          </p:nvSpPr>
          <p:spPr bwMode="auto">
            <a:xfrm flipV="1">
              <a:off x="5022" y="3269"/>
              <a:ext cx="0" cy="4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grpSp>
        <p:nvGrpSpPr>
          <p:cNvPr id="167" name="Group 128">
            <a:extLst>
              <a:ext uri="{FF2B5EF4-FFF2-40B4-BE49-F238E27FC236}">
                <a16:creationId xmlns:a16="http://schemas.microsoft.com/office/drawing/2014/main" id="{DA1C405A-BEE1-43A5-A3E0-7A2FFACBBD85}"/>
              </a:ext>
            </a:extLst>
          </p:cNvPr>
          <p:cNvGrpSpPr>
            <a:grpSpLocks/>
          </p:cNvGrpSpPr>
          <p:nvPr/>
        </p:nvGrpSpPr>
        <p:grpSpPr bwMode="auto">
          <a:xfrm>
            <a:off x="4367261" y="1391154"/>
            <a:ext cx="4473573" cy="1866904"/>
            <a:chOff x="2819" y="499"/>
            <a:chExt cx="2818" cy="1176"/>
          </a:xfrm>
        </p:grpSpPr>
        <p:grpSp>
          <p:nvGrpSpPr>
            <p:cNvPr id="168" name="Group 72">
              <a:extLst>
                <a:ext uri="{FF2B5EF4-FFF2-40B4-BE49-F238E27FC236}">
                  <a16:creationId xmlns:a16="http://schemas.microsoft.com/office/drawing/2014/main" id="{B67A963A-644E-4449-84B2-4CC4F30D99B1}"/>
                </a:ext>
              </a:extLst>
            </p:cNvPr>
            <p:cNvGrpSpPr>
              <a:grpSpLocks/>
            </p:cNvGrpSpPr>
            <p:nvPr/>
          </p:nvGrpSpPr>
          <p:grpSpPr bwMode="auto">
            <a:xfrm>
              <a:off x="2819" y="568"/>
              <a:ext cx="649" cy="173"/>
              <a:chOff x="1895" y="3931"/>
              <a:chExt cx="649" cy="173"/>
            </a:xfrm>
          </p:grpSpPr>
          <p:sp>
            <p:nvSpPr>
              <p:cNvPr id="202" name="Rectangle 73">
                <a:extLst>
                  <a:ext uri="{FF2B5EF4-FFF2-40B4-BE49-F238E27FC236}">
                    <a16:creationId xmlns:a16="http://schemas.microsoft.com/office/drawing/2014/main" id="{8BDFB3D0-270A-448B-939D-34DB09FBA549}"/>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03" name="Text Box 74">
                <a:extLst>
                  <a:ext uri="{FF2B5EF4-FFF2-40B4-BE49-F238E27FC236}">
                    <a16:creationId xmlns:a16="http://schemas.microsoft.com/office/drawing/2014/main" id="{2AE9A16A-80D5-4D2B-BB43-79B121E860EA}"/>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solidFill>
                      <a:schemeClr val="bg1"/>
                    </a:solidFill>
                    <a:latin typeface="Arial" charset="0"/>
                  </a:rPr>
                  <a:t>0 1 2</a:t>
                </a:r>
                <a:r>
                  <a:rPr lang="en-US" sz="1200" dirty="0">
                    <a:latin typeface="Arial" charset="0"/>
                  </a:rPr>
                  <a:t> 3 0 1 2</a:t>
                </a:r>
              </a:p>
            </p:txBody>
          </p:sp>
        </p:grpSp>
        <p:grpSp>
          <p:nvGrpSpPr>
            <p:cNvPr id="169" name="Group 75">
              <a:extLst>
                <a:ext uri="{FF2B5EF4-FFF2-40B4-BE49-F238E27FC236}">
                  <a16:creationId xmlns:a16="http://schemas.microsoft.com/office/drawing/2014/main" id="{C706EC62-C731-4062-8A00-E13A7B4C593A}"/>
                </a:ext>
              </a:extLst>
            </p:cNvPr>
            <p:cNvGrpSpPr>
              <a:grpSpLocks/>
            </p:cNvGrpSpPr>
            <p:nvPr/>
          </p:nvGrpSpPr>
          <p:grpSpPr bwMode="auto">
            <a:xfrm>
              <a:off x="2831" y="741"/>
              <a:ext cx="649" cy="173"/>
              <a:chOff x="1895" y="3931"/>
              <a:chExt cx="649" cy="173"/>
            </a:xfrm>
          </p:grpSpPr>
          <p:sp>
            <p:nvSpPr>
              <p:cNvPr id="200" name="Rectangle 76">
                <a:extLst>
                  <a:ext uri="{FF2B5EF4-FFF2-40B4-BE49-F238E27FC236}">
                    <a16:creationId xmlns:a16="http://schemas.microsoft.com/office/drawing/2014/main" id="{520A4857-CC01-4911-BEC5-D7E01253CFCD}"/>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01" name="Text Box 77">
                <a:extLst>
                  <a:ext uri="{FF2B5EF4-FFF2-40B4-BE49-F238E27FC236}">
                    <a16:creationId xmlns:a16="http://schemas.microsoft.com/office/drawing/2014/main" id="{4D076F9B-76B6-473E-9988-7980FE3ABF5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solidFill>
                      <a:schemeClr val="bg1"/>
                    </a:solidFill>
                    <a:latin typeface="Arial" charset="0"/>
                  </a:rPr>
                  <a:t>0 1 2</a:t>
                </a:r>
                <a:r>
                  <a:rPr lang="en-US" sz="1200" dirty="0">
                    <a:latin typeface="Arial" charset="0"/>
                  </a:rPr>
                  <a:t> 3 0 1 2</a:t>
                </a:r>
              </a:p>
            </p:txBody>
          </p:sp>
        </p:grpSp>
        <p:grpSp>
          <p:nvGrpSpPr>
            <p:cNvPr id="170" name="Group 78">
              <a:extLst>
                <a:ext uri="{FF2B5EF4-FFF2-40B4-BE49-F238E27FC236}">
                  <a16:creationId xmlns:a16="http://schemas.microsoft.com/office/drawing/2014/main" id="{4A410294-1D5B-4773-8F2C-A6A3ADD4C008}"/>
                </a:ext>
              </a:extLst>
            </p:cNvPr>
            <p:cNvGrpSpPr>
              <a:grpSpLocks/>
            </p:cNvGrpSpPr>
            <p:nvPr/>
          </p:nvGrpSpPr>
          <p:grpSpPr bwMode="auto">
            <a:xfrm>
              <a:off x="2836" y="907"/>
              <a:ext cx="649" cy="173"/>
              <a:chOff x="1895" y="3931"/>
              <a:chExt cx="649" cy="173"/>
            </a:xfrm>
          </p:grpSpPr>
          <p:sp>
            <p:nvSpPr>
              <p:cNvPr id="198" name="Rectangle 79">
                <a:extLst>
                  <a:ext uri="{FF2B5EF4-FFF2-40B4-BE49-F238E27FC236}">
                    <a16:creationId xmlns:a16="http://schemas.microsoft.com/office/drawing/2014/main" id="{5554610B-645C-4B9E-8DEF-76FAF2BA29C0}"/>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9" name="Text Box 80">
                <a:extLst>
                  <a:ext uri="{FF2B5EF4-FFF2-40B4-BE49-F238E27FC236}">
                    <a16:creationId xmlns:a16="http://schemas.microsoft.com/office/drawing/2014/main" id="{A734EC5F-04DD-4921-98EF-070F4DEC356B}"/>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solidFill>
                      <a:schemeClr val="bg1"/>
                    </a:solidFill>
                    <a:latin typeface="Arial" charset="0"/>
                  </a:rPr>
                  <a:t>0 1 2</a:t>
                </a:r>
                <a:r>
                  <a:rPr lang="en-US" sz="1200">
                    <a:latin typeface="Arial" charset="0"/>
                  </a:rPr>
                  <a:t> 3 0 1 2</a:t>
                </a:r>
              </a:p>
            </p:txBody>
          </p:sp>
        </p:grpSp>
        <p:sp>
          <p:nvSpPr>
            <p:cNvPr id="171" name="Line 81">
              <a:extLst>
                <a:ext uri="{FF2B5EF4-FFF2-40B4-BE49-F238E27FC236}">
                  <a16:creationId xmlns:a16="http://schemas.microsoft.com/office/drawing/2014/main" id="{59B32B28-5C48-44C6-8EC7-B26FDD7CBACE}"/>
                </a:ext>
              </a:extLst>
            </p:cNvPr>
            <p:cNvSpPr>
              <a:spLocks noChangeShapeType="1"/>
            </p:cNvSpPr>
            <p:nvPr/>
          </p:nvSpPr>
          <p:spPr bwMode="auto">
            <a:xfrm>
              <a:off x="3460" y="655"/>
              <a:ext cx="1151" cy="1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2" name="Line 82">
              <a:extLst>
                <a:ext uri="{FF2B5EF4-FFF2-40B4-BE49-F238E27FC236}">
                  <a16:creationId xmlns:a16="http://schemas.microsoft.com/office/drawing/2014/main" id="{2CBCA716-6707-4360-813C-D73C92D4C022}"/>
                </a:ext>
              </a:extLst>
            </p:cNvPr>
            <p:cNvSpPr>
              <a:spLocks noChangeShapeType="1"/>
            </p:cNvSpPr>
            <p:nvPr/>
          </p:nvSpPr>
          <p:spPr bwMode="auto">
            <a:xfrm>
              <a:off x="3479" y="835"/>
              <a:ext cx="1139" cy="144"/>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3" name="Line 83">
              <a:extLst>
                <a:ext uri="{FF2B5EF4-FFF2-40B4-BE49-F238E27FC236}">
                  <a16:creationId xmlns:a16="http://schemas.microsoft.com/office/drawing/2014/main" id="{274E8D70-5C6F-4507-917C-B7EC0C2717A4}"/>
                </a:ext>
              </a:extLst>
            </p:cNvPr>
            <p:cNvSpPr>
              <a:spLocks noChangeShapeType="1"/>
            </p:cNvSpPr>
            <p:nvPr/>
          </p:nvSpPr>
          <p:spPr bwMode="auto">
            <a:xfrm>
              <a:off x="3498" y="1015"/>
              <a:ext cx="1124" cy="132"/>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74" name="Text Box 84">
              <a:extLst>
                <a:ext uri="{FF2B5EF4-FFF2-40B4-BE49-F238E27FC236}">
                  <a16:creationId xmlns:a16="http://schemas.microsoft.com/office/drawing/2014/main" id="{8DE68F3A-9AB7-41E7-974A-D163B7408C7B}"/>
                </a:ext>
              </a:extLst>
            </p:cNvPr>
            <p:cNvSpPr txBox="1">
              <a:spLocks noChangeArrowheads="1"/>
            </p:cNvSpPr>
            <p:nvPr/>
          </p:nvSpPr>
          <p:spPr bwMode="auto">
            <a:xfrm>
              <a:off x="3522" y="499"/>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t>pkt0</a:t>
              </a:r>
            </a:p>
          </p:txBody>
        </p:sp>
        <p:sp>
          <p:nvSpPr>
            <p:cNvPr id="175" name="Text Box 85">
              <a:extLst>
                <a:ext uri="{FF2B5EF4-FFF2-40B4-BE49-F238E27FC236}">
                  <a16:creationId xmlns:a16="http://schemas.microsoft.com/office/drawing/2014/main" id="{90B308C9-BC0B-4831-9820-A530C8062B3E}"/>
                </a:ext>
              </a:extLst>
            </p:cNvPr>
            <p:cNvSpPr txBox="1">
              <a:spLocks noChangeArrowheads="1"/>
            </p:cNvSpPr>
            <p:nvPr/>
          </p:nvSpPr>
          <p:spPr bwMode="auto">
            <a:xfrm>
              <a:off x="3529" y="700"/>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pkt1</a:t>
              </a:r>
            </a:p>
          </p:txBody>
        </p:sp>
        <p:sp>
          <p:nvSpPr>
            <p:cNvPr id="176" name="Text Box 86">
              <a:extLst>
                <a:ext uri="{FF2B5EF4-FFF2-40B4-BE49-F238E27FC236}">
                  <a16:creationId xmlns:a16="http://schemas.microsoft.com/office/drawing/2014/main" id="{034B80E2-407E-4A6F-AB15-A01CF380D3B8}"/>
                </a:ext>
              </a:extLst>
            </p:cNvPr>
            <p:cNvSpPr txBox="1">
              <a:spLocks noChangeArrowheads="1"/>
            </p:cNvSpPr>
            <p:nvPr/>
          </p:nvSpPr>
          <p:spPr bwMode="auto">
            <a:xfrm>
              <a:off x="3527" y="880"/>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pkt2</a:t>
              </a:r>
            </a:p>
          </p:txBody>
        </p:sp>
        <p:sp>
          <p:nvSpPr>
            <p:cNvPr id="177" name="Rectangle 88">
              <a:extLst>
                <a:ext uri="{FF2B5EF4-FFF2-40B4-BE49-F238E27FC236}">
                  <a16:creationId xmlns:a16="http://schemas.microsoft.com/office/drawing/2014/main" id="{47BC2475-43B4-4F22-AD76-BAA97251F8A2}"/>
                </a:ext>
              </a:extLst>
            </p:cNvPr>
            <p:cNvSpPr>
              <a:spLocks noChangeArrowheads="1"/>
            </p:cNvSpPr>
            <p:nvPr/>
          </p:nvSpPr>
          <p:spPr bwMode="auto">
            <a:xfrm>
              <a:off x="3035" y="1394"/>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78" name="Text Box 89">
              <a:extLst>
                <a:ext uri="{FF2B5EF4-FFF2-40B4-BE49-F238E27FC236}">
                  <a16:creationId xmlns:a16="http://schemas.microsoft.com/office/drawing/2014/main" id="{F197B200-1B1D-4F09-B75F-3564B5BF323A}"/>
                </a:ext>
              </a:extLst>
            </p:cNvPr>
            <p:cNvSpPr txBox="1">
              <a:spLocks noChangeArrowheads="1"/>
            </p:cNvSpPr>
            <p:nvPr/>
          </p:nvSpPr>
          <p:spPr bwMode="auto">
            <a:xfrm>
              <a:off x="2838" y="1365"/>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0 1</a:t>
              </a:r>
              <a:r>
                <a:rPr lang="en-US" sz="1200">
                  <a:solidFill>
                    <a:schemeClr val="bg1"/>
                  </a:solidFill>
                  <a:latin typeface="Arial" charset="0"/>
                </a:rPr>
                <a:t> 2</a:t>
              </a:r>
              <a:r>
                <a:rPr lang="en-US" sz="1200">
                  <a:latin typeface="Arial" charset="0"/>
                </a:rPr>
                <a:t> </a:t>
              </a:r>
              <a:r>
                <a:rPr lang="en-US" sz="1200">
                  <a:solidFill>
                    <a:schemeClr val="bg1"/>
                  </a:solidFill>
                  <a:latin typeface="Arial" charset="0"/>
                </a:rPr>
                <a:t>3 0</a:t>
              </a:r>
              <a:r>
                <a:rPr lang="en-US" sz="1200">
                  <a:latin typeface="Arial" charset="0"/>
                </a:rPr>
                <a:t> 1 2</a:t>
              </a:r>
            </a:p>
          </p:txBody>
        </p:sp>
        <p:sp>
          <p:nvSpPr>
            <p:cNvPr id="179" name="Line 90">
              <a:extLst>
                <a:ext uri="{FF2B5EF4-FFF2-40B4-BE49-F238E27FC236}">
                  <a16:creationId xmlns:a16="http://schemas.microsoft.com/office/drawing/2014/main" id="{4B848B92-83D2-462F-9253-45F1C0FFF75F}"/>
                </a:ext>
              </a:extLst>
            </p:cNvPr>
            <p:cNvSpPr>
              <a:spLocks noChangeShapeType="1"/>
            </p:cNvSpPr>
            <p:nvPr/>
          </p:nvSpPr>
          <p:spPr bwMode="auto">
            <a:xfrm>
              <a:off x="3480" y="1473"/>
              <a:ext cx="1124" cy="141"/>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80" name="Text Box 91">
              <a:extLst>
                <a:ext uri="{FF2B5EF4-FFF2-40B4-BE49-F238E27FC236}">
                  <a16:creationId xmlns:a16="http://schemas.microsoft.com/office/drawing/2014/main" id="{0968E65C-B507-40C2-A77C-DBE5B054EFA0}"/>
                </a:ext>
              </a:extLst>
            </p:cNvPr>
            <p:cNvSpPr txBox="1">
              <a:spLocks noChangeArrowheads="1"/>
            </p:cNvSpPr>
            <p:nvPr/>
          </p:nvSpPr>
          <p:spPr bwMode="auto">
            <a:xfrm>
              <a:off x="3545" y="1478"/>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pkt0</a:t>
              </a:r>
            </a:p>
          </p:txBody>
        </p:sp>
        <p:sp>
          <p:nvSpPr>
            <p:cNvPr id="181" name="Rectangle 95">
              <a:extLst>
                <a:ext uri="{FF2B5EF4-FFF2-40B4-BE49-F238E27FC236}">
                  <a16:creationId xmlns:a16="http://schemas.microsoft.com/office/drawing/2014/main" id="{870E0127-B41A-4A7A-A44B-F77A0A94897C}"/>
                </a:ext>
              </a:extLst>
            </p:cNvPr>
            <p:cNvSpPr>
              <a:spLocks noChangeArrowheads="1"/>
            </p:cNvSpPr>
            <p:nvPr/>
          </p:nvSpPr>
          <p:spPr bwMode="auto">
            <a:xfrm>
              <a:off x="4740" y="758"/>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2" name="Text Box 96">
              <a:extLst>
                <a:ext uri="{FF2B5EF4-FFF2-40B4-BE49-F238E27FC236}">
                  <a16:creationId xmlns:a16="http://schemas.microsoft.com/office/drawing/2014/main" id="{47618462-21AC-46E3-8317-1FA3F0D2BFC3}"/>
                </a:ext>
              </a:extLst>
            </p:cNvPr>
            <p:cNvSpPr txBox="1">
              <a:spLocks noChangeArrowheads="1"/>
            </p:cNvSpPr>
            <p:nvPr/>
          </p:nvSpPr>
          <p:spPr bwMode="auto">
            <a:xfrm>
              <a:off x="4621" y="727"/>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a:t>
              </a:r>
              <a:r>
                <a:rPr lang="en-US" sz="1200">
                  <a:solidFill>
                    <a:schemeClr val="bg1"/>
                  </a:solidFill>
                  <a:latin typeface="Arial" charset="0"/>
                </a:rPr>
                <a:t> 1 2 3</a:t>
              </a:r>
              <a:r>
                <a:rPr lang="en-US" sz="1200">
                  <a:latin typeface="Arial" charset="0"/>
                </a:rPr>
                <a:t> 0 1 2</a:t>
              </a:r>
            </a:p>
          </p:txBody>
        </p:sp>
        <p:sp>
          <p:nvSpPr>
            <p:cNvPr id="183" name="Rectangle 97">
              <a:extLst>
                <a:ext uri="{FF2B5EF4-FFF2-40B4-BE49-F238E27FC236}">
                  <a16:creationId xmlns:a16="http://schemas.microsoft.com/office/drawing/2014/main" id="{30A68D21-868F-4A9D-B81A-BD7BAF4BED66}"/>
                </a:ext>
              </a:extLst>
            </p:cNvPr>
            <p:cNvSpPr>
              <a:spLocks noChangeArrowheads="1"/>
            </p:cNvSpPr>
            <p:nvPr/>
          </p:nvSpPr>
          <p:spPr bwMode="auto">
            <a:xfrm>
              <a:off x="4816" y="929"/>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4" name="Text Box 98">
              <a:extLst>
                <a:ext uri="{FF2B5EF4-FFF2-40B4-BE49-F238E27FC236}">
                  <a16:creationId xmlns:a16="http://schemas.microsoft.com/office/drawing/2014/main" id="{AA14F0F8-9D52-4493-904D-E85A589337FE}"/>
                </a:ext>
              </a:extLst>
            </p:cNvPr>
            <p:cNvSpPr txBox="1">
              <a:spLocks noChangeArrowheads="1"/>
            </p:cNvSpPr>
            <p:nvPr/>
          </p:nvSpPr>
          <p:spPr bwMode="auto">
            <a:xfrm>
              <a:off x="4619" y="90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0 1</a:t>
              </a:r>
              <a:r>
                <a:rPr lang="en-US" sz="1200">
                  <a:solidFill>
                    <a:schemeClr val="bg1"/>
                  </a:solidFill>
                  <a:latin typeface="Arial" charset="0"/>
                </a:rPr>
                <a:t> 2 3 0</a:t>
              </a:r>
              <a:r>
                <a:rPr lang="en-US" sz="1200">
                  <a:latin typeface="Arial" charset="0"/>
                </a:rPr>
                <a:t> 1 2</a:t>
              </a:r>
            </a:p>
          </p:txBody>
        </p:sp>
        <p:sp>
          <p:nvSpPr>
            <p:cNvPr id="185" name="Rectangle 99">
              <a:extLst>
                <a:ext uri="{FF2B5EF4-FFF2-40B4-BE49-F238E27FC236}">
                  <a16:creationId xmlns:a16="http://schemas.microsoft.com/office/drawing/2014/main" id="{49FD1B3B-3CD0-4B44-9790-CC5D3FDDCC21}"/>
                </a:ext>
              </a:extLst>
            </p:cNvPr>
            <p:cNvSpPr>
              <a:spLocks noChangeArrowheads="1"/>
            </p:cNvSpPr>
            <p:nvPr/>
          </p:nvSpPr>
          <p:spPr bwMode="auto">
            <a:xfrm>
              <a:off x="4898" y="1095"/>
              <a:ext cx="253" cy="119"/>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6" name="Text Box 100">
              <a:extLst>
                <a:ext uri="{FF2B5EF4-FFF2-40B4-BE49-F238E27FC236}">
                  <a16:creationId xmlns:a16="http://schemas.microsoft.com/office/drawing/2014/main" id="{43F77620-3D14-499E-90D1-91C5FA9C0F1D}"/>
                </a:ext>
              </a:extLst>
            </p:cNvPr>
            <p:cNvSpPr txBox="1">
              <a:spLocks noChangeArrowheads="1"/>
            </p:cNvSpPr>
            <p:nvPr/>
          </p:nvSpPr>
          <p:spPr bwMode="auto">
            <a:xfrm>
              <a:off x="4621" y="1066"/>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0 1 2 </a:t>
              </a:r>
              <a:r>
                <a:rPr lang="en-US" sz="1200">
                  <a:solidFill>
                    <a:schemeClr val="bg1"/>
                  </a:solidFill>
                  <a:latin typeface="Arial" charset="0"/>
                </a:rPr>
                <a:t>3 0 1</a:t>
              </a:r>
              <a:r>
                <a:rPr lang="en-US" sz="1200">
                  <a:latin typeface="Arial" charset="0"/>
                </a:rPr>
                <a:t> 2</a:t>
              </a:r>
            </a:p>
          </p:txBody>
        </p:sp>
        <p:sp>
          <p:nvSpPr>
            <p:cNvPr id="187" name="Line 103">
              <a:extLst>
                <a:ext uri="{FF2B5EF4-FFF2-40B4-BE49-F238E27FC236}">
                  <a16:creationId xmlns:a16="http://schemas.microsoft.com/office/drawing/2014/main" id="{600DF0A8-4E17-464A-B958-D07B7C19F283}"/>
                </a:ext>
              </a:extLst>
            </p:cNvPr>
            <p:cNvSpPr>
              <a:spLocks noChangeShapeType="1"/>
            </p:cNvSpPr>
            <p:nvPr/>
          </p:nvSpPr>
          <p:spPr bwMode="auto">
            <a:xfrm flipH="1">
              <a:off x="3453" y="810"/>
              <a:ext cx="1124" cy="463"/>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88" name="Line 104">
              <a:extLst>
                <a:ext uri="{FF2B5EF4-FFF2-40B4-BE49-F238E27FC236}">
                  <a16:creationId xmlns:a16="http://schemas.microsoft.com/office/drawing/2014/main" id="{C536BE9E-C582-45AF-A18B-D1047381309D}"/>
                </a:ext>
              </a:extLst>
            </p:cNvPr>
            <p:cNvSpPr>
              <a:spLocks noChangeShapeType="1"/>
            </p:cNvSpPr>
            <p:nvPr/>
          </p:nvSpPr>
          <p:spPr bwMode="auto">
            <a:xfrm flipH="1">
              <a:off x="3465" y="976"/>
              <a:ext cx="1131" cy="478"/>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89" name="Text Box 107">
              <a:extLst>
                <a:ext uri="{FF2B5EF4-FFF2-40B4-BE49-F238E27FC236}">
                  <a16:creationId xmlns:a16="http://schemas.microsoft.com/office/drawing/2014/main" id="{30BAD47B-10A0-4740-88C2-43AD7BA4552F}"/>
                </a:ext>
              </a:extLst>
            </p:cNvPr>
            <p:cNvSpPr txBox="1">
              <a:spLocks noChangeArrowheads="1"/>
            </p:cNvSpPr>
            <p:nvPr/>
          </p:nvSpPr>
          <p:spPr bwMode="auto">
            <a:xfrm>
              <a:off x="3780" y="1245"/>
              <a:ext cx="204"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b="1">
                  <a:solidFill>
                    <a:srgbClr val="FF0000"/>
                  </a:solidFill>
                </a:rPr>
                <a:t>X</a:t>
              </a:r>
            </a:p>
          </p:txBody>
        </p:sp>
        <p:sp>
          <p:nvSpPr>
            <p:cNvPr id="190" name="Text Box 109">
              <a:extLst>
                <a:ext uri="{FF2B5EF4-FFF2-40B4-BE49-F238E27FC236}">
                  <a16:creationId xmlns:a16="http://schemas.microsoft.com/office/drawing/2014/main" id="{56138CDD-9157-4674-84F4-AD95BBADAE77}"/>
                </a:ext>
              </a:extLst>
            </p:cNvPr>
            <p:cNvSpPr txBox="1">
              <a:spLocks noChangeArrowheads="1"/>
            </p:cNvSpPr>
            <p:nvPr/>
          </p:nvSpPr>
          <p:spPr bwMode="auto">
            <a:xfrm>
              <a:off x="4596" y="1501"/>
              <a:ext cx="1041" cy="1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zh-CN" altLang="en-US" sz="1200" i="1" dirty="0">
                  <a:solidFill>
                    <a:srgbClr val="CC0000"/>
                  </a:solidFill>
                </a:rPr>
                <a:t>接收到序号为</a:t>
              </a:r>
              <a:r>
                <a:rPr lang="en-US" altLang="zh-CN" sz="1200" i="1" dirty="0">
                  <a:solidFill>
                    <a:srgbClr val="CC0000"/>
                  </a:solidFill>
                </a:rPr>
                <a:t>0</a:t>
              </a:r>
              <a:r>
                <a:rPr lang="zh-CN" altLang="en-US" sz="1200" i="1" dirty="0">
                  <a:solidFill>
                    <a:srgbClr val="CC0000"/>
                  </a:solidFill>
                </a:rPr>
                <a:t>的分组</a:t>
              </a:r>
              <a:endParaRPr lang="en-US" sz="1200" i="1" dirty="0">
                <a:solidFill>
                  <a:srgbClr val="CC0000"/>
                </a:solidFill>
              </a:endParaRPr>
            </a:p>
          </p:txBody>
        </p:sp>
        <p:sp>
          <p:nvSpPr>
            <p:cNvPr id="191" name="Line 110">
              <a:extLst>
                <a:ext uri="{FF2B5EF4-FFF2-40B4-BE49-F238E27FC236}">
                  <a16:creationId xmlns:a16="http://schemas.microsoft.com/office/drawing/2014/main" id="{527E2BA6-FD35-407D-9E57-2BE247DCC2BF}"/>
                </a:ext>
              </a:extLst>
            </p:cNvPr>
            <p:cNvSpPr>
              <a:spLocks noChangeShapeType="1"/>
            </p:cNvSpPr>
            <p:nvPr/>
          </p:nvSpPr>
          <p:spPr bwMode="auto">
            <a:xfrm flipH="1" flipV="1">
              <a:off x="5033" y="1253"/>
              <a:ext cx="0" cy="281"/>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92" name="Line 112">
              <a:extLst>
                <a:ext uri="{FF2B5EF4-FFF2-40B4-BE49-F238E27FC236}">
                  <a16:creationId xmlns:a16="http://schemas.microsoft.com/office/drawing/2014/main" id="{33A7AC6A-6AB7-4025-81A8-1425C945A42A}"/>
                </a:ext>
              </a:extLst>
            </p:cNvPr>
            <p:cNvSpPr>
              <a:spLocks noChangeShapeType="1"/>
            </p:cNvSpPr>
            <p:nvPr/>
          </p:nvSpPr>
          <p:spPr bwMode="auto">
            <a:xfrm>
              <a:off x="3475" y="1290"/>
              <a:ext cx="372" cy="46"/>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193" name="Group 115">
              <a:extLst>
                <a:ext uri="{FF2B5EF4-FFF2-40B4-BE49-F238E27FC236}">
                  <a16:creationId xmlns:a16="http://schemas.microsoft.com/office/drawing/2014/main" id="{2F06D994-0E50-4685-9D3B-C6F16DF9204C}"/>
                </a:ext>
              </a:extLst>
            </p:cNvPr>
            <p:cNvGrpSpPr>
              <a:grpSpLocks/>
            </p:cNvGrpSpPr>
            <p:nvPr/>
          </p:nvGrpSpPr>
          <p:grpSpPr bwMode="auto">
            <a:xfrm>
              <a:off x="2838" y="1185"/>
              <a:ext cx="649" cy="173"/>
              <a:chOff x="2667" y="3750"/>
              <a:chExt cx="649" cy="173"/>
            </a:xfrm>
          </p:grpSpPr>
          <p:sp>
            <p:nvSpPr>
              <p:cNvPr id="196" name="Rectangle 113">
                <a:extLst>
                  <a:ext uri="{FF2B5EF4-FFF2-40B4-BE49-F238E27FC236}">
                    <a16:creationId xmlns:a16="http://schemas.microsoft.com/office/drawing/2014/main" id="{9BF4B905-4528-4668-921E-31A96CAD1C40}"/>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7" name="Text Box 114">
                <a:extLst>
                  <a:ext uri="{FF2B5EF4-FFF2-40B4-BE49-F238E27FC236}">
                    <a16:creationId xmlns:a16="http://schemas.microsoft.com/office/drawing/2014/main" id="{4147DF8C-630D-4A02-8F87-80F6925C4BE8}"/>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a:latin typeface="Arial" charset="0"/>
                  </a:rPr>
                  <a:t>0 </a:t>
                </a:r>
                <a:r>
                  <a:rPr lang="en-US" sz="1200">
                    <a:solidFill>
                      <a:schemeClr val="bg1"/>
                    </a:solidFill>
                    <a:latin typeface="Arial" charset="0"/>
                  </a:rPr>
                  <a:t>1 2</a:t>
                </a:r>
                <a:r>
                  <a:rPr lang="en-US" sz="1200">
                    <a:latin typeface="Arial" charset="0"/>
                  </a:rPr>
                  <a:t> </a:t>
                </a:r>
                <a:r>
                  <a:rPr lang="en-US" sz="1200">
                    <a:solidFill>
                      <a:schemeClr val="bg1"/>
                    </a:solidFill>
                    <a:latin typeface="Arial" charset="0"/>
                  </a:rPr>
                  <a:t>3 </a:t>
                </a:r>
                <a:r>
                  <a:rPr lang="en-US" sz="1200">
                    <a:latin typeface="Arial" charset="0"/>
                  </a:rPr>
                  <a:t>0 1 2</a:t>
                </a:r>
              </a:p>
            </p:txBody>
          </p:sp>
        </p:grpSp>
        <p:sp>
          <p:nvSpPr>
            <p:cNvPr id="194" name="Text Box 116">
              <a:extLst>
                <a:ext uri="{FF2B5EF4-FFF2-40B4-BE49-F238E27FC236}">
                  <a16:creationId xmlns:a16="http://schemas.microsoft.com/office/drawing/2014/main" id="{57E3052D-58CC-4748-9084-F67F23CA6CC2}"/>
                </a:ext>
              </a:extLst>
            </p:cNvPr>
            <p:cNvSpPr txBox="1">
              <a:spLocks noChangeArrowheads="1"/>
            </p:cNvSpPr>
            <p:nvPr/>
          </p:nvSpPr>
          <p:spPr bwMode="auto">
            <a:xfrm>
              <a:off x="3547" y="1154"/>
              <a:ext cx="33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t>pkt3</a:t>
              </a:r>
            </a:p>
          </p:txBody>
        </p:sp>
      </p:grpSp>
      <p:sp>
        <p:nvSpPr>
          <p:cNvPr id="11" name="Text Box 41">
            <a:extLst>
              <a:ext uri="{FF2B5EF4-FFF2-40B4-BE49-F238E27FC236}">
                <a16:creationId xmlns:a16="http://schemas.microsoft.com/office/drawing/2014/main" id="{10027014-67D3-4380-A92D-ADA0AD2814EB}"/>
              </a:ext>
            </a:extLst>
          </p:cNvPr>
          <p:cNvSpPr txBox="1">
            <a:spLocks noChangeArrowheads="1"/>
          </p:cNvSpPr>
          <p:nvPr/>
        </p:nvSpPr>
        <p:spPr bwMode="auto">
          <a:xfrm>
            <a:off x="7248019" y="1192117"/>
            <a:ext cx="90281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zh-CN" altLang="en-US" sz="1400" dirty="0"/>
              <a:t>接收窗口</a:t>
            </a:r>
            <a:endParaRPr lang="en-US" sz="1400" dirty="0"/>
          </a:p>
        </p:txBody>
      </p:sp>
      <p:sp>
        <p:nvSpPr>
          <p:cNvPr id="13" name="矩形 12">
            <a:extLst>
              <a:ext uri="{FF2B5EF4-FFF2-40B4-BE49-F238E27FC236}">
                <a16:creationId xmlns:a16="http://schemas.microsoft.com/office/drawing/2014/main" id="{22B55C9D-8A15-41FA-93DC-77D095D498CC}"/>
              </a:ext>
            </a:extLst>
          </p:cNvPr>
          <p:cNvSpPr/>
          <p:nvPr/>
        </p:nvSpPr>
        <p:spPr>
          <a:xfrm>
            <a:off x="678291" y="4093778"/>
            <a:ext cx="3261498" cy="769441"/>
          </a:xfrm>
          <a:prstGeom prst="rect">
            <a:avLst/>
          </a:prstGeom>
          <a:solidFill>
            <a:schemeClr val="accent2">
              <a:lumMod val="20000"/>
              <a:lumOff val="80000"/>
            </a:schemeClr>
          </a:solidFill>
          <a:ln>
            <a:noFill/>
          </a:ln>
          <a:effectLst/>
        </p:spPr>
        <p:txBody>
          <a:bodyPr wrap="square">
            <a:spAutoFit/>
          </a:bodyPr>
          <a:lstStyle/>
          <a:p>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问题：如果窗口大小为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，情况如何？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平行四边形 21">
            <a:extLst>
              <a:ext uri="{FF2B5EF4-FFF2-40B4-BE49-F238E27FC236}">
                <a16:creationId xmlns:a16="http://schemas.microsoft.com/office/drawing/2014/main" id="{C7F74722-03B3-4639-ADE8-F6F800242C3A}"/>
              </a:ext>
            </a:extLst>
          </p:cNvPr>
          <p:cNvSpPr/>
          <p:nvPr/>
        </p:nvSpPr>
        <p:spPr>
          <a:xfrm rot="5400000">
            <a:off x="5434617" y="2380715"/>
            <a:ext cx="2169000" cy="240378"/>
          </a:xfrm>
          <a:prstGeom prst="parallelogram">
            <a:avLst>
              <a:gd name="adj" fmla="val 64072"/>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平行四边形 23">
            <a:extLst>
              <a:ext uri="{FF2B5EF4-FFF2-40B4-BE49-F238E27FC236}">
                <a16:creationId xmlns:a16="http://schemas.microsoft.com/office/drawing/2014/main" id="{C2BC5DE9-8994-4449-8D80-5F6086634FC5}"/>
              </a:ext>
            </a:extLst>
          </p:cNvPr>
          <p:cNvSpPr/>
          <p:nvPr/>
        </p:nvSpPr>
        <p:spPr>
          <a:xfrm rot="5400000">
            <a:off x="5346763" y="4917451"/>
            <a:ext cx="2390748" cy="250824"/>
          </a:xfrm>
          <a:prstGeom prst="parallelogram">
            <a:avLst>
              <a:gd name="adj" fmla="val 64072"/>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爆炸形: 14 pt  85">
            <a:extLst>
              <a:ext uri="{FF2B5EF4-FFF2-40B4-BE49-F238E27FC236}">
                <a16:creationId xmlns:a16="http://schemas.microsoft.com/office/drawing/2014/main" id="{E3771EC8-9759-4267-94A7-491512B8483D}"/>
              </a:ext>
            </a:extLst>
          </p:cNvPr>
          <p:cNvSpPr/>
          <p:nvPr/>
        </p:nvSpPr>
        <p:spPr>
          <a:xfrm>
            <a:off x="245459" y="5425690"/>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3-2</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39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000" fill="hold"/>
                                        <p:tgtEl>
                                          <p:spTgt spid="13"/>
                                        </p:tgtEl>
                                        <p:attrNameLst>
                                          <p:attrName>ppt_x</p:attrName>
                                        </p:attrNameLst>
                                      </p:cBhvr>
                                      <p:tavLst>
                                        <p:tav tm="0">
                                          <p:val>
                                            <p:strVal val="#ppt_x"/>
                                          </p:val>
                                        </p:tav>
                                        <p:tav tm="100000">
                                          <p:val>
                                            <p:strVal val="#ppt_x"/>
                                          </p:val>
                                        </p:tav>
                                      </p:tavLst>
                                    </p:anim>
                                    <p:anim calcmode="lin" valueType="num">
                                      <p:cBhvr additive="base">
                                        <p:cTn id="8" dur="2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74044" y="1058204"/>
            <a:ext cx="8395911" cy="4860177"/>
          </a:xfrm>
          <a:prstGeom prst="rect">
            <a:avLst/>
          </a:prstGeom>
        </p:spPr>
        <p:txBody>
          <a:bodyPr wrap="square">
            <a:spAutoFit/>
          </a:bodyPr>
          <a:lstStyle/>
          <a:p>
            <a:pPr marL="285750" indent="-285750">
              <a:lnSpc>
                <a:spcPct val="1500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协议特点</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ts val="600"/>
              </a:spcBef>
              <a:buFontTx/>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提供可靠服务：按序、可靠交付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提供字节流服务，不识别消息边界</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ts val="600"/>
              </a:spcBef>
              <a:buFontTx/>
              <a:buBlip>
                <a:blip r:embed="rId3"/>
              </a:buBlip>
            </a:pP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可靠传输机制</a:t>
            </a:r>
            <a:endPar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提供差错检测（校验和）功能，正确接收返回确认</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使用序号检测丢失和乱序</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超时重传机制，解决出错、丢失问题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支持流水线机制，自适应窗口</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FC625905-DD69-4362-A404-B0AAD822D0E7}"/>
              </a:ext>
            </a:extLst>
          </p:cNvPr>
          <p:cNvSpPr/>
          <p:nvPr/>
        </p:nvSpPr>
        <p:spPr>
          <a:xfrm>
            <a:off x="5820032" y="792023"/>
            <a:ext cx="3144790" cy="707886"/>
          </a:xfrm>
          <a:prstGeom prst="rect">
            <a:avLst/>
          </a:prstGeom>
          <a:solidFill>
            <a:schemeClr val="accent3">
              <a:lumMod val="20000"/>
              <a:lumOff val="80000"/>
            </a:schemeClr>
          </a:solidFill>
          <a:ln>
            <a:solidFill>
              <a:srgbClr val="C00000"/>
            </a:solidFill>
          </a:ln>
        </p:spPr>
        <p:txBody>
          <a:bodyPr wrap="square">
            <a:spAutoFit/>
          </a:bodyPr>
          <a:lstStyle/>
          <a:p>
            <a:r>
              <a:rPr lang="en-US" altLang="zh-CN" sz="2000" dirty="0">
                <a:latin typeface="Arial" pitchFamily="34" charset="0"/>
                <a:ea typeface="宋体" pitchFamily="2" charset="-122"/>
              </a:rPr>
              <a:t>RFC</a:t>
            </a:r>
            <a:r>
              <a:rPr lang="zh-CN" altLang="en-US" sz="2000" dirty="0">
                <a:latin typeface="Arial" pitchFamily="34" charset="0"/>
                <a:ea typeface="宋体" pitchFamily="2" charset="-122"/>
              </a:rPr>
              <a:t>：</a:t>
            </a:r>
            <a:r>
              <a:rPr lang="en-US" altLang="zh-CN" sz="2000" dirty="0">
                <a:latin typeface="Arial" pitchFamily="34" charset="0"/>
                <a:ea typeface="宋体" pitchFamily="2" charset="-122"/>
              </a:rPr>
              <a:t>793</a:t>
            </a:r>
            <a:r>
              <a:rPr lang="zh-CN" altLang="en-US" sz="2000" dirty="0">
                <a:latin typeface="Arial" pitchFamily="34" charset="0"/>
                <a:ea typeface="宋体" pitchFamily="2" charset="-122"/>
              </a:rPr>
              <a:t>、</a:t>
            </a:r>
            <a:r>
              <a:rPr lang="en-US" altLang="zh-CN" sz="2000" dirty="0">
                <a:latin typeface="Arial" pitchFamily="34" charset="0"/>
                <a:ea typeface="宋体" pitchFamily="2" charset="-122"/>
              </a:rPr>
              <a:t>1122</a:t>
            </a:r>
            <a:r>
              <a:rPr lang="zh-CN" altLang="en-US" sz="2000" dirty="0">
                <a:latin typeface="Arial" pitchFamily="34" charset="0"/>
                <a:ea typeface="宋体" pitchFamily="2" charset="-122"/>
              </a:rPr>
              <a:t>、</a:t>
            </a:r>
            <a:r>
              <a:rPr lang="en-US" altLang="zh-CN" sz="2000" dirty="0">
                <a:latin typeface="Arial" pitchFamily="34" charset="0"/>
                <a:ea typeface="宋体" pitchFamily="2" charset="-122"/>
              </a:rPr>
              <a:t>1323</a:t>
            </a:r>
            <a:r>
              <a:rPr lang="zh-CN" altLang="en-US" sz="2000" dirty="0">
                <a:latin typeface="Arial" pitchFamily="34" charset="0"/>
                <a:ea typeface="宋体" pitchFamily="2" charset="-122"/>
              </a:rPr>
              <a:t>、</a:t>
            </a:r>
            <a:r>
              <a:rPr lang="en-US" altLang="zh-CN" sz="2000" dirty="0">
                <a:latin typeface="Arial" pitchFamily="34" charset="0"/>
                <a:ea typeface="宋体" pitchFamily="2" charset="-122"/>
              </a:rPr>
              <a:t>2018</a:t>
            </a:r>
            <a:r>
              <a:rPr lang="zh-CN" altLang="en-US" sz="2000" dirty="0">
                <a:latin typeface="Arial" pitchFamily="34" charset="0"/>
                <a:ea typeface="宋体" pitchFamily="2" charset="-122"/>
              </a:rPr>
              <a:t>、</a:t>
            </a:r>
            <a:r>
              <a:rPr lang="en-US" altLang="zh-CN" sz="2000" dirty="0">
                <a:latin typeface="Arial" pitchFamily="34" charset="0"/>
                <a:ea typeface="宋体" pitchFamily="2" charset="-122"/>
              </a:rPr>
              <a:t>2581</a:t>
            </a:r>
            <a:endParaRPr lang="zh-CN" altLang="en-US" sz="2000" dirty="0">
              <a:latin typeface="Arial" pitchFamily="34" charset="0"/>
              <a:ea typeface="宋体" pitchFamily="2" charset="-122"/>
            </a:endParaRPr>
          </a:p>
        </p:txBody>
      </p:sp>
      <p:sp>
        <p:nvSpPr>
          <p:cNvPr id="10" name="标题 1">
            <a:extLst>
              <a:ext uri="{FF2B5EF4-FFF2-40B4-BE49-F238E27FC236}">
                <a16:creationId xmlns:a16="http://schemas.microsoft.com/office/drawing/2014/main" id="{79481A25-BC2D-4A72-A6F3-3C452BE4D163}"/>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特点</a:t>
            </a:r>
          </a:p>
        </p:txBody>
      </p:sp>
    </p:spTree>
    <p:extLst>
      <p:ext uri="{BB962C8B-B14F-4D97-AF65-F5344CB8AC3E}">
        <p14:creationId xmlns:p14="http://schemas.microsoft.com/office/powerpoint/2010/main" val="652457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460541" y="1033490"/>
            <a:ext cx="8395911" cy="4343433"/>
          </a:xfrm>
          <a:prstGeom prst="rect">
            <a:avLst/>
          </a:prstGeom>
        </p:spPr>
        <p:txBody>
          <a:bodyPr wrap="square">
            <a:spAutoFit/>
          </a:bodyPr>
          <a:lstStyle/>
          <a:p>
            <a:pPr marL="285750" indent="-285750">
              <a:lnSpc>
                <a:spcPct val="1500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协议特点（续）</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ct val="30000"/>
              </a:spcBef>
              <a:buBlip>
                <a:blip r:embed="rId3"/>
              </a:buBlip>
            </a:pP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面向连接</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：发送数据之前发送方和接收方之间需要握手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三次握手建立连接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177800">
              <a:lnSpc>
                <a:spcPct val="150000"/>
              </a:lnSpc>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初始化所需的参数及分配缓存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ct val="30000"/>
              </a:spcBef>
              <a:buFontTx/>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提供</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分用</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功能</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ct val="30000"/>
              </a:spcBef>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只提供点对点通信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628650" lvl="1" indent="-268288">
              <a:lnSpc>
                <a:spcPct val="150000"/>
              </a:lnSpc>
              <a:spcBef>
                <a:spcPct val="30000"/>
              </a:spcBef>
              <a:buFontTx/>
              <a:buBlip>
                <a:blip r:embed="rId3"/>
              </a:buBlip>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具有</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流量控制</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拥塞控制</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功能</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标题 1">
            <a:extLst>
              <a:ext uri="{FF2B5EF4-FFF2-40B4-BE49-F238E27FC236}">
                <a16:creationId xmlns:a16="http://schemas.microsoft.com/office/drawing/2014/main" id="{79481A25-BC2D-4A72-A6F3-3C452BE4D163}"/>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特点</a:t>
            </a:r>
          </a:p>
        </p:txBody>
      </p:sp>
    </p:spTree>
    <p:extLst>
      <p:ext uri="{BB962C8B-B14F-4D97-AF65-F5344CB8AC3E}">
        <p14:creationId xmlns:p14="http://schemas.microsoft.com/office/powerpoint/2010/main" val="25203452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520673-0FE4-4017-8F96-BB17A78342DC}"/>
              </a:ext>
            </a:extLst>
          </p:cNvPr>
          <p:cNvSpPr/>
          <p:nvPr/>
        </p:nvSpPr>
        <p:spPr>
          <a:xfrm>
            <a:off x="292094" y="763589"/>
            <a:ext cx="8395911" cy="523220"/>
          </a:xfrm>
          <a:prstGeom prst="rect">
            <a:avLst/>
          </a:prstGeom>
        </p:spPr>
        <p:txBody>
          <a:bodyPr wrap="square">
            <a:spAutoFit/>
          </a:bodyPr>
          <a:lstStyle/>
          <a:p>
            <a:pPr marL="285750" indent="-285750">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数据单元（</a:t>
            </a:r>
            <a:r>
              <a:rPr lang="zh-CN" altLang="en-US"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段</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标题 1">
            <a:extLst>
              <a:ext uri="{FF2B5EF4-FFF2-40B4-BE49-F238E27FC236}">
                <a16:creationId xmlns:a16="http://schemas.microsoft.com/office/drawing/2014/main" id="{79481A25-BC2D-4A72-A6F3-3C452BE4D163}"/>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段格式</a:t>
            </a:r>
          </a:p>
        </p:txBody>
      </p:sp>
      <p:pic>
        <p:nvPicPr>
          <p:cNvPr id="5" name="图片 4">
            <a:extLst>
              <a:ext uri="{FF2B5EF4-FFF2-40B4-BE49-F238E27FC236}">
                <a16:creationId xmlns:a16="http://schemas.microsoft.com/office/drawing/2014/main" id="{1A898FC8-4EBD-463E-A8A6-16B8DDF5C55F}"/>
              </a:ext>
            </a:extLst>
          </p:cNvPr>
          <p:cNvPicPr>
            <a:picLocks noChangeAspect="1"/>
          </p:cNvPicPr>
          <p:nvPr/>
        </p:nvPicPr>
        <p:blipFill>
          <a:blip r:embed="rId3"/>
          <a:stretch>
            <a:fillRect/>
          </a:stretch>
        </p:blipFill>
        <p:spPr>
          <a:xfrm>
            <a:off x="2280811" y="6094411"/>
            <a:ext cx="4849038" cy="434709"/>
          </a:xfrm>
          <a:prstGeom prst="rect">
            <a:avLst/>
          </a:prstGeom>
        </p:spPr>
      </p:pic>
      <p:sp>
        <p:nvSpPr>
          <p:cNvPr id="7" name="矩形 6">
            <a:extLst>
              <a:ext uri="{FF2B5EF4-FFF2-40B4-BE49-F238E27FC236}">
                <a16:creationId xmlns:a16="http://schemas.microsoft.com/office/drawing/2014/main" id="{509F5576-329A-4667-B2DA-530C6C186D9E}"/>
              </a:ext>
            </a:extLst>
          </p:cNvPr>
          <p:cNvSpPr/>
          <p:nvPr/>
        </p:nvSpPr>
        <p:spPr>
          <a:xfrm>
            <a:off x="48885" y="4793394"/>
            <a:ext cx="8395911" cy="1759456"/>
          </a:xfrm>
          <a:prstGeom prst="rect">
            <a:avLst/>
          </a:prstGeom>
        </p:spPr>
        <p:txBody>
          <a:bodyPr wrap="square">
            <a:spAutoFit/>
          </a:bodyPr>
          <a:lstStyle/>
          <a:p>
            <a:pPr marL="800100" lvl="1" indent="-342900">
              <a:lnSpc>
                <a:spcPts val="28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头长度：</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字节为计数单位，包含选项部分</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接收窗口通告：指示接收缓存可接收的字节数</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标志位：</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URG</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PSH</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RST</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SYN</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FIN</a:t>
            </a:r>
          </a:p>
          <a:p>
            <a:pPr marL="800100" lvl="1" indent="-342900">
              <a:lnSpc>
                <a:spcPts val="2800"/>
              </a:lnSpc>
              <a:spcBef>
                <a:spcPts val="600"/>
              </a:spcBef>
              <a:buClr>
                <a:srgbClr val="2A09B7"/>
              </a:buClr>
              <a:buFont typeface="Wingdings" panose="05000000000000000000" pitchFamily="2" charset="2"/>
              <a:buChar char="l"/>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选项格式：</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45944C0-75C2-43C4-BC1F-6B95BB2921DC}"/>
              </a:ext>
            </a:extLst>
          </p:cNvPr>
          <p:cNvPicPr>
            <a:picLocks noChangeAspect="1"/>
          </p:cNvPicPr>
          <p:nvPr/>
        </p:nvPicPr>
        <p:blipFill>
          <a:blip r:embed="rId4"/>
          <a:stretch>
            <a:fillRect/>
          </a:stretch>
        </p:blipFill>
        <p:spPr>
          <a:xfrm>
            <a:off x="1461030" y="1361197"/>
            <a:ext cx="6224874" cy="3355396"/>
          </a:xfrm>
          <a:prstGeom prst="rect">
            <a:avLst/>
          </a:prstGeom>
        </p:spPr>
      </p:pic>
    </p:spTree>
    <p:extLst>
      <p:ext uri="{BB962C8B-B14F-4D97-AF65-F5344CB8AC3E}">
        <p14:creationId xmlns:p14="http://schemas.microsoft.com/office/powerpoint/2010/main" val="14742744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41223" y="799521"/>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连接与复用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分用机制</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3CE43C2C-A889-4EE7-8615-4BCA0A34B5EE}"/>
              </a:ext>
            </a:extLst>
          </p:cNvPr>
          <p:cNvSpPr/>
          <p:nvPr/>
        </p:nvSpPr>
        <p:spPr>
          <a:xfrm>
            <a:off x="374078" y="4740613"/>
            <a:ext cx="8395911" cy="1624804"/>
          </a:xfrm>
          <a:prstGeom prst="rect">
            <a:avLst/>
          </a:prstGeom>
        </p:spPr>
        <p:txBody>
          <a:bodyPr wrap="square">
            <a:spAutoFit/>
          </a:bodyPr>
          <a:lstStyle/>
          <a:p>
            <a:pPr marL="266700" indent="-266700">
              <a:lnSpc>
                <a:spcPts val="2600"/>
              </a:lnSpc>
              <a:spcBef>
                <a:spcPts val="600"/>
              </a:spcBef>
              <a:buClr>
                <a:srgbClr val="2A09B7"/>
              </a:buClr>
              <a:buFont typeface="Wingdings" panose="05000000000000000000" pitchFamily="2" charset="2"/>
              <a:buChar char="Ø"/>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通信之前通过三次握手建立</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连接</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600"/>
              </a:lnSpc>
              <a:spcBef>
                <a:spcPts val="600"/>
              </a:spcBef>
              <a:buFont typeface="Times New Roman" panose="02020603050405020304" pitchFamily="18"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分配缓存、协商参数（初始序号、接收缓存大小、最大段尺寸等）</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6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连接标识（</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四元组</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地址、目的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地址、源端口号、目的端口号</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6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连接为应用进程提供</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可靠的字节流服务</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复用分用</a:t>
            </a:r>
          </a:p>
        </p:txBody>
      </p:sp>
      <p:pic>
        <p:nvPicPr>
          <p:cNvPr id="3" name="图片 2">
            <a:extLst>
              <a:ext uri="{FF2B5EF4-FFF2-40B4-BE49-F238E27FC236}">
                <a16:creationId xmlns:a16="http://schemas.microsoft.com/office/drawing/2014/main" id="{D2A68952-52B9-4921-9CF3-0FE741ABC5D8}"/>
              </a:ext>
            </a:extLst>
          </p:cNvPr>
          <p:cNvPicPr>
            <a:picLocks noChangeAspect="1"/>
          </p:cNvPicPr>
          <p:nvPr/>
        </p:nvPicPr>
        <p:blipFill>
          <a:blip r:embed="rId3"/>
          <a:stretch>
            <a:fillRect/>
          </a:stretch>
        </p:blipFill>
        <p:spPr>
          <a:xfrm>
            <a:off x="582524" y="1329061"/>
            <a:ext cx="7978951" cy="3271834"/>
          </a:xfrm>
          <a:prstGeom prst="rect">
            <a:avLst/>
          </a:prstGeom>
        </p:spPr>
      </p:pic>
    </p:spTree>
    <p:extLst>
      <p:ext uri="{BB962C8B-B14F-4D97-AF65-F5344CB8AC3E}">
        <p14:creationId xmlns:p14="http://schemas.microsoft.com/office/powerpoint/2010/main" val="38539815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Freeform 5">
            <a:extLst>
              <a:ext uri="{FF2B5EF4-FFF2-40B4-BE49-F238E27FC236}">
                <a16:creationId xmlns:a16="http://schemas.microsoft.com/office/drawing/2014/main" id="{9B5B23A3-4DB1-45AD-AB5A-C70C4A670474}"/>
              </a:ext>
            </a:extLst>
          </p:cNvPr>
          <p:cNvSpPr>
            <a:spLocks/>
          </p:cNvSpPr>
          <p:nvPr/>
        </p:nvSpPr>
        <p:spPr bwMode="auto">
          <a:xfrm>
            <a:off x="2819400" y="1435923"/>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chemeClr val="bg1"/>
              </a:gs>
              <a:gs pos="100000">
                <a:schemeClr val="folHlink"/>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4" name="Freeform 6">
            <a:extLst>
              <a:ext uri="{FF2B5EF4-FFF2-40B4-BE49-F238E27FC236}">
                <a16:creationId xmlns:a16="http://schemas.microsoft.com/office/drawing/2014/main" id="{007C6700-6963-4D92-955D-2F27092597FB}"/>
              </a:ext>
            </a:extLst>
          </p:cNvPr>
          <p:cNvSpPr>
            <a:spLocks/>
          </p:cNvSpPr>
          <p:nvPr/>
        </p:nvSpPr>
        <p:spPr bwMode="auto">
          <a:xfrm>
            <a:off x="417513" y="1615311"/>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chemeClr val="bg1"/>
              </a:gs>
              <a:gs pos="100000">
                <a:schemeClr val="folHlink"/>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5" name="Rectangle 23">
            <a:extLst>
              <a:ext uri="{FF2B5EF4-FFF2-40B4-BE49-F238E27FC236}">
                <a16:creationId xmlns:a16="http://schemas.microsoft.com/office/drawing/2014/main" id="{2AE256D7-E42C-4047-8CEA-945EDDD5B917}"/>
              </a:ext>
            </a:extLst>
          </p:cNvPr>
          <p:cNvSpPr>
            <a:spLocks noChangeArrowheads="1"/>
          </p:cNvSpPr>
          <p:nvPr/>
        </p:nvSpPr>
        <p:spPr bwMode="auto">
          <a:xfrm>
            <a:off x="933450" y="1581973"/>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56" name="Rectangle 24">
            <a:extLst>
              <a:ext uri="{FF2B5EF4-FFF2-40B4-BE49-F238E27FC236}">
                <a16:creationId xmlns:a16="http://schemas.microsoft.com/office/drawing/2014/main" id="{D892F585-EC10-497D-AC08-A93508E98752}"/>
              </a:ext>
            </a:extLst>
          </p:cNvPr>
          <p:cNvSpPr>
            <a:spLocks noChangeArrowheads="1"/>
          </p:cNvSpPr>
          <p:nvPr/>
        </p:nvSpPr>
        <p:spPr bwMode="auto">
          <a:xfrm>
            <a:off x="895350" y="1635948"/>
            <a:ext cx="1273175" cy="1979613"/>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57" name="Line 25">
            <a:extLst>
              <a:ext uri="{FF2B5EF4-FFF2-40B4-BE49-F238E27FC236}">
                <a16:creationId xmlns:a16="http://schemas.microsoft.com/office/drawing/2014/main" id="{4C5C19CC-FC8C-4D1A-80D8-4102EC2E00EA}"/>
              </a:ext>
            </a:extLst>
          </p:cNvPr>
          <p:cNvSpPr>
            <a:spLocks noChangeShapeType="1"/>
          </p:cNvSpPr>
          <p:nvPr/>
        </p:nvSpPr>
        <p:spPr bwMode="auto">
          <a:xfrm>
            <a:off x="904875" y="239636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8" name="Text Box 26">
            <a:extLst>
              <a:ext uri="{FF2B5EF4-FFF2-40B4-BE49-F238E27FC236}">
                <a16:creationId xmlns:a16="http://schemas.microsoft.com/office/drawing/2014/main" id="{E86A440F-D39D-4D53-97EB-5745B73863A8}"/>
              </a:ext>
            </a:extLst>
          </p:cNvPr>
          <p:cNvSpPr txBox="1">
            <a:spLocks noChangeArrowheads="1"/>
          </p:cNvSpPr>
          <p:nvPr/>
        </p:nvSpPr>
        <p:spPr bwMode="auto">
          <a:xfrm>
            <a:off x="862013" y="2378898"/>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27659" name="Line 27">
            <a:extLst>
              <a:ext uri="{FF2B5EF4-FFF2-40B4-BE49-F238E27FC236}">
                <a16:creationId xmlns:a16="http://schemas.microsoft.com/office/drawing/2014/main" id="{636DFFEB-45BA-47D2-8A44-8F2952391222}"/>
              </a:ext>
            </a:extLst>
          </p:cNvPr>
          <p:cNvSpPr>
            <a:spLocks noChangeShapeType="1"/>
          </p:cNvSpPr>
          <p:nvPr/>
        </p:nvSpPr>
        <p:spPr bwMode="auto">
          <a:xfrm>
            <a:off x="912813" y="271703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28">
            <a:extLst>
              <a:ext uri="{FF2B5EF4-FFF2-40B4-BE49-F238E27FC236}">
                <a16:creationId xmlns:a16="http://schemas.microsoft.com/office/drawing/2014/main" id="{6EC43D0E-D2DC-4A8B-8612-84C6F015011B}"/>
              </a:ext>
            </a:extLst>
          </p:cNvPr>
          <p:cNvSpPr>
            <a:spLocks noChangeShapeType="1"/>
          </p:cNvSpPr>
          <p:nvPr/>
        </p:nvSpPr>
        <p:spPr bwMode="auto">
          <a:xfrm>
            <a:off x="898525" y="302659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29">
            <a:extLst>
              <a:ext uri="{FF2B5EF4-FFF2-40B4-BE49-F238E27FC236}">
                <a16:creationId xmlns:a16="http://schemas.microsoft.com/office/drawing/2014/main" id="{ECC0B07B-2FD5-477F-B116-889AF83B0E77}"/>
              </a:ext>
            </a:extLst>
          </p:cNvPr>
          <p:cNvSpPr>
            <a:spLocks noChangeShapeType="1"/>
          </p:cNvSpPr>
          <p:nvPr/>
        </p:nvSpPr>
        <p:spPr bwMode="auto">
          <a:xfrm>
            <a:off x="898525" y="331234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Text Box 26">
            <a:extLst>
              <a:ext uri="{FF2B5EF4-FFF2-40B4-BE49-F238E27FC236}">
                <a16:creationId xmlns:a16="http://schemas.microsoft.com/office/drawing/2014/main" id="{EF667D04-68BB-4487-A06F-9BDB09EACBA2}"/>
              </a:ext>
            </a:extLst>
          </p:cNvPr>
          <p:cNvSpPr txBox="1">
            <a:spLocks noChangeArrowheads="1"/>
          </p:cNvSpPr>
          <p:nvPr/>
        </p:nvSpPr>
        <p:spPr bwMode="auto">
          <a:xfrm>
            <a:off x="896938" y="1626423"/>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
        <p:nvSpPr>
          <p:cNvPr id="27663" name="Text Box 26">
            <a:extLst>
              <a:ext uri="{FF2B5EF4-FFF2-40B4-BE49-F238E27FC236}">
                <a16:creationId xmlns:a16="http://schemas.microsoft.com/office/drawing/2014/main" id="{456CD6D6-4352-4438-9861-ECCC2192213C}"/>
              </a:ext>
            </a:extLst>
          </p:cNvPr>
          <p:cNvSpPr txBox="1">
            <a:spLocks noChangeArrowheads="1"/>
          </p:cNvSpPr>
          <p:nvPr/>
        </p:nvSpPr>
        <p:spPr bwMode="auto">
          <a:xfrm>
            <a:off x="852488" y="3283773"/>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27664" name="Text Box 26">
            <a:extLst>
              <a:ext uri="{FF2B5EF4-FFF2-40B4-BE49-F238E27FC236}">
                <a16:creationId xmlns:a16="http://schemas.microsoft.com/office/drawing/2014/main" id="{FF3BBFDD-3873-429F-8129-FAAE1D2835E3}"/>
              </a:ext>
            </a:extLst>
          </p:cNvPr>
          <p:cNvSpPr txBox="1">
            <a:spLocks noChangeArrowheads="1"/>
          </p:cNvSpPr>
          <p:nvPr/>
        </p:nvSpPr>
        <p:spPr bwMode="auto">
          <a:xfrm>
            <a:off x="853957" y="2998023"/>
            <a:ext cx="1274904"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27665" name="Text Box 26">
            <a:extLst>
              <a:ext uri="{FF2B5EF4-FFF2-40B4-BE49-F238E27FC236}">
                <a16:creationId xmlns:a16="http://schemas.microsoft.com/office/drawing/2014/main" id="{A5ADA69A-8145-457A-9B00-FAC232E1AC7F}"/>
              </a:ext>
            </a:extLst>
          </p:cNvPr>
          <p:cNvSpPr txBox="1">
            <a:spLocks noChangeArrowheads="1"/>
          </p:cNvSpPr>
          <p:nvPr/>
        </p:nvSpPr>
        <p:spPr bwMode="auto">
          <a:xfrm>
            <a:off x="919786" y="2702748"/>
            <a:ext cx="1259852"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13331" name="Oval 19">
            <a:extLst>
              <a:ext uri="{FF2B5EF4-FFF2-40B4-BE49-F238E27FC236}">
                <a16:creationId xmlns:a16="http://schemas.microsoft.com/office/drawing/2014/main" id="{67FA5031-3454-4B67-AA70-457F448D2DC7}"/>
              </a:ext>
            </a:extLst>
          </p:cNvPr>
          <p:cNvSpPr>
            <a:spLocks noChangeArrowheads="1"/>
          </p:cNvSpPr>
          <p:nvPr/>
        </p:nvSpPr>
        <p:spPr bwMode="auto">
          <a:xfrm>
            <a:off x="1231900" y="1912173"/>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dirty="0">
                <a:latin typeface="Arial" charset="0"/>
                <a:ea typeface="ＭＳ Ｐゴシック" charset="0"/>
              </a:rPr>
              <a:t>P</a:t>
            </a:r>
            <a:r>
              <a:rPr lang="en-US" altLang="zh-CN" dirty="0">
                <a:latin typeface="Arial" charset="0"/>
                <a:ea typeface="ＭＳ Ｐゴシック" charset="0"/>
              </a:rPr>
              <a:t>1</a:t>
            </a:r>
            <a:endParaRPr lang="en-US" dirty="0">
              <a:latin typeface="Arial" charset="0"/>
              <a:ea typeface="ＭＳ Ｐゴシック" charset="0"/>
            </a:endParaRPr>
          </a:p>
        </p:txBody>
      </p:sp>
      <p:grpSp>
        <p:nvGrpSpPr>
          <p:cNvPr id="27667" name="Group 20">
            <a:extLst>
              <a:ext uri="{FF2B5EF4-FFF2-40B4-BE49-F238E27FC236}">
                <a16:creationId xmlns:a16="http://schemas.microsoft.com/office/drawing/2014/main" id="{313DF725-4439-4F78-A6E9-64EE3CAB90A5}"/>
              </a:ext>
            </a:extLst>
          </p:cNvPr>
          <p:cNvGrpSpPr>
            <a:grpSpLocks/>
          </p:cNvGrpSpPr>
          <p:nvPr/>
        </p:nvGrpSpPr>
        <p:grpSpPr bwMode="auto">
          <a:xfrm>
            <a:off x="1200150" y="2236023"/>
            <a:ext cx="620713" cy="228600"/>
            <a:chOff x="1287" y="2524"/>
            <a:chExt cx="260" cy="100"/>
          </a:xfrm>
        </p:grpSpPr>
        <p:sp>
          <p:nvSpPr>
            <p:cNvPr id="13451" name="Rectangle 21">
              <a:extLst>
                <a:ext uri="{FF2B5EF4-FFF2-40B4-BE49-F238E27FC236}">
                  <a16:creationId xmlns:a16="http://schemas.microsoft.com/office/drawing/2014/main" id="{2F2DA872-1341-4077-83EA-20C6E3215BF0}"/>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2" name="Rectangle 22">
              <a:extLst>
                <a:ext uri="{FF2B5EF4-FFF2-40B4-BE49-F238E27FC236}">
                  <a16:creationId xmlns:a16="http://schemas.microsoft.com/office/drawing/2014/main" id="{360EDF1A-EE5D-4AFE-A0A6-22C635E69D4E}"/>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3" name="Rectangle 23">
              <a:extLst>
                <a:ext uri="{FF2B5EF4-FFF2-40B4-BE49-F238E27FC236}">
                  <a16:creationId xmlns:a16="http://schemas.microsoft.com/office/drawing/2014/main" id="{2F644DC4-974C-4B8A-9A8E-566B5A40D52E}"/>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4" name="Rectangle 24">
              <a:extLst>
                <a:ext uri="{FF2B5EF4-FFF2-40B4-BE49-F238E27FC236}">
                  <a16:creationId xmlns:a16="http://schemas.microsoft.com/office/drawing/2014/main" id="{C1A8D3C6-1C02-494A-9DE0-F2790F6B5AB6}"/>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7668" name="Rectangle 23">
            <a:extLst>
              <a:ext uri="{FF2B5EF4-FFF2-40B4-BE49-F238E27FC236}">
                <a16:creationId xmlns:a16="http://schemas.microsoft.com/office/drawing/2014/main" id="{29B570B9-F0EB-48E1-AFE5-D94541892D36}"/>
              </a:ext>
            </a:extLst>
          </p:cNvPr>
          <p:cNvSpPr>
            <a:spLocks noChangeArrowheads="1"/>
          </p:cNvSpPr>
          <p:nvPr/>
        </p:nvSpPr>
        <p:spPr bwMode="auto">
          <a:xfrm>
            <a:off x="3432175" y="1348611"/>
            <a:ext cx="2254250"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69" name="Rectangle 24">
            <a:extLst>
              <a:ext uri="{FF2B5EF4-FFF2-40B4-BE49-F238E27FC236}">
                <a16:creationId xmlns:a16="http://schemas.microsoft.com/office/drawing/2014/main" id="{6D526E0E-BD7B-4A58-BD0D-0D53A53AF3A8}"/>
              </a:ext>
            </a:extLst>
          </p:cNvPr>
          <p:cNvSpPr>
            <a:spLocks noChangeArrowheads="1"/>
          </p:cNvSpPr>
          <p:nvPr/>
        </p:nvSpPr>
        <p:spPr bwMode="auto">
          <a:xfrm>
            <a:off x="3378200" y="1426398"/>
            <a:ext cx="2225675" cy="1979613"/>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13339" name="Oval 36">
            <a:extLst>
              <a:ext uri="{FF2B5EF4-FFF2-40B4-BE49-F238E27FC236}">
                <a16:creationId xmlns:a16="http://schemas.microsoft.com/office/drawing/2014/main" id="{DFE9B8B2-BF6F-483F-BEC9-615954A8C611}"/>
              </a:ext>
            </a:extLst>
          </p:cNvPr>
          <p:cNvSpPr>
            <a:spLocks noChangeArrowheads="1"/>
          </p:cNvSpPr>
          <p:nvPr/>
        </p:nvSpPr>
        <p:spPr bwMode="auto">
          <a:xfrm>
            <a:off x="3497263" y="1685161"/>
            <a:ext cx="598487"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P4</a:t>
            </a:r>
          </a:p>
        </p:txBody>
      </p:sp>
      <p:sp>
        <p:nvSpPr>
          <p:cNvPr id="27675" name="Rectangle 23">
            <a:extLst>
              <a:ext uri="{FF2B5EF4-FFF2-40B4-BE49-F238E27FC236}">
                <a16:creationId xmlns:a16="http://schemas.microsoft.com/office/drawing/2014/main" id="{5181615E-4BA8-44A7-8C0E-823ADF843F75}"/>
              </a:ext>
            </a:extLst>
          </p:cNvPr>
          <p:cNvSpPr>
            <a:spLocks noChangeArrowheads="1"/>
          </p:cNvSpPr>
          <p:nvPr/>
        </p:nvSpPr>
        <p:spPr bwMode="auto">
          <a:xfrm>
            <a:off x="6567488" y="1574036"/>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76" name="Rectangle 24">
            <a:extLst>
              <a:ext uri="{FF2B5EF4-FFF2-40B4-BE49-F238E27FC236}">
                <a16:creationId xmlns:a16="http://schemas.microsoft.com/office/drawing/2014/main" id="{4B93EF51-E980-4EF4-853B-094B189AD849}"/>
              </a:ext>
            </a:extLst>
          </p:cNvPr>
          <p:cNvSpPr>
            <a:spLocks noChangeArrowheads="1"/>
          </p:cNvSpPr>
          <p:nvPr/>
        </p:nvSpPr>
        <p:spPr bwMode="auto">
          <a:xfrm>
            <a:off x="6370638" y="1615311"/>
            <a:ext cx="1631950" cy="1979612"/>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78" name="Text Box 26">
            <a:extLst>
              <a:ext uri="{FF2B5EF4-FFF2-40B4-BE49-F238E27FC236}">
                <a16:creationId xmlns:a16="http://schemas.microsoft.com/office/drawing/2014/main" id="{5A138C45-A918-422A-8A00-B861D2BED887}"/>
              </a:ext>
            </a:extLst>
          </p:cNvPr>
          <p:cNvSpPr txBox="1">
            <a:spLocks noChangeArrowheads="1"/>
          </p:cNvSpPr>
          <p:nvPr/>
        </p:nvSpPr>
        <p:spPr bwMode="auto">
          <a:xfrm>
            <a:off x="6530975" y="1618486"/>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
        <p:nvSpPr>
          <p:cNvPr id="13347" name="Oval 53">
            <a:extLst>
              <a:ext uri="{FF2B5EF4-FFF2-40B4-BE49-F238E27FC236}">
                <a16:creationId xmlns:a16="http://schemas.microsoft.com/office/drawing/2014/main" id="{75954533-8EBF-4B72-A212-11B7F46B1463}"/>
              </a:ext>
            </a:extLst>
          </p:cNvPr>
          <p:cNvSpPr>
            <a:spLocks noChangeArrowheads="1"/>
          </p:cNvSpPr>
          <p:nvPr/>
        </p:nvSpPr>
        <p:spPr bwMode="auto">
          <a:xfrm>
            <a:off x="6451600" y="1912173"/>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P2</a:t>
            </a:r>
          </a:p>
        </p:txBody>
      </p:sp>
      <p:sp>
        <p:nvSpPr>
          <p:cNvPr id="27683" name="Freeform 54">
            <a:extLst>
              <a:ext uri="{FF2B5EF4-FFF2-40B4-BE49-F238E27FC236}">
                <a16:creationId xmlns:a16="http://schemas.microsoft.com/office/drawing/2014/main" id="{637B1676-9418-4018-89E4-8FFE0E1863EC}"/>
              </a:ext>
            </a:extLst>
          </p:cNvPr>
          <p:cNvSpPr>
            <a:spLocks/>
          </p:cNvSpPr>
          <p:nvPr/>
        </p:nvSpPr>
        <p:spPr bwMode="auto">
          <a:xfrm>
            <a:off x="8026400" y="1594673"/>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684" name="Group 76">
            <a:extLst>
              <a:ext uri="{FF2B5EF4-FFF2-40B4-BE49-F238E27FC236}">
                <a16:creationId xmlns:a16="http://schemas.microsoft.com/office/drawing/2014/main" id="{F1C9C027-C96B-4922-BE32-6DA470348C6A}"/>
              </a:ext>
            </a:extLst>
          </p:cNvPr>
          <p:cNvGrpSpPr>
            <a:grpSpLocks/>
          </p:cNvGrpSpPr>
          <p:nvPr/>
        </p:nvGrpSpPr>
        <p:grpSpPr bwMode="auto">
          <a:xfrm>
            <a:off x="2152650" y="4841107"/>
            <a:ext cx="2152651" cy="657224"/>
            <a:chOff x="1291" y="3697"/>
            <a:chExt cx="1356" cy="414"/>
          </a:xfrm>
        </p:grpSpPr>
        <p:sp>
          <p:nvSpPr>
            <p:cNvPr id="13448" name="Rectangle 77">
              <a:extLst>
                <a:ext uri="{FF2B5EF4-FFF2-40B4-BE49-F238E27FC236}">
                  <a16:creationId xmlns:a16="http://schemas.microsoft.com/office/drawing/2014/main" id="{8F044E02-E181-46ED-A47F-DF70F30EB785}"/>
                </a:ext>
              </a:extLst>
            </p:cNvPr>
            <p:cNvSpPr>
              <a:spLocks noChangeArrowheads="1"/>
            </p:cNvSpPr>
            <p:nvPr/>
          </p:nvSpPr>
          <p:spPr bwMode="auto">
            <a:xfrm>
              <a:off x="1553" y="3697"/>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9" name="Line 78">
              <a:extLst>
                <a:ext uri="{FF2B5EF4-FFF2-40B4-BE49-F238E27FC236}">
                  <a16:creationId xmlns:a16="http://schemas.microsoft.com/office/drawing/2014/main" id="{C968116A-9D23-4A81-8308-A72209B50C2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50" name="Text Box 79">
              <a:extLst>
                <a:ext uri="{FF2B5EF4-FFF2-40B4-BE49-F238E27FC236}">
                  <a16:creationId xmlns:a16="http://schemas.microsoft.com/office/drawing/2014/main" id="{EEC59629-DD05-4198-935A-2CE70702A0E2}"/>
                </a:ext>
              </a:extLst>
            </p:cNvPr>
            <p:cNvSpPr txBox="1">
              <a:spLocks noChangeArrowheads="1"/>
            </p:cNvSpPr>
            <p:nvPr/>
          </p:nvSpPr>
          <p:spPr bwMode="auto">
            <a:xfrm>
              <a:off x="1291" y="3822"/>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A</a:t>
              </a:r>
              <a:r>
                <a:rPr lang="en-US" altLang="zh-CN" sz="1400" dirty="0"/>
                <a:t>, </a:t>
              </a:r>
              <a:r>
                <a:rPr lang="zh-CN" altLang="en-US" sz="1400" dirty="0"/>
                <a:t>源端口</a:t>
              </a:r>
              <a:r>
                <a:rPr lang="en-US" altLang="zh-CN" sz="1400" dirty="0"/>
                <a:t>:</a:t>
              </a:r>
              <a:r>
                <a:rPr lang="en-US" altLang="zh-CN" sz="1400" b="1" dirty="0">
                  <a:solidFill>
                    <a:srgbClr val="C00000"/>
                  </a:solidFill>
                </a:rPr>
                <a:t>9175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grpSp>
        <p:nvGrpSpPr>
          <p:cNvPr id="27685" name="Group 80">
            <a:extLst>
              <a:ext uri="{FF2B5EF4-FFF2-40B4-BE49-F238E27FC236}">
                <a16:creationId xmlns:a16="http://schemas.microsoft.com/office/drawing/2014/main" id="{454D73FB-6E15-4FAD-8D72-D30F5AAAEF51}"/>
              </a:ext>
            </a:extLst>
          </p:cNvPr>
          <p:cNvGrpSpPr>
            <a:grpSpLocks/>
          </p:cNvGrpSpPr>
          <p:nvPr/>
        </p:nvGrpSpPr>
        <p:grpSpPr bwMode="auto">
          <a:xfrm>
            <a:off x="1666885" y="4150552"/>
            <a:ext cx="2463805" cy="657226"/>
            <a:chOff x="2741" y="3750"/>
            <a:chExt cx="1552" cy="414"/>
          </a:xfrm>
        </p:grpSpPr>
        <p:sp>
          <p:nvSpPr>
            <p:cNvPr id="13445" name="Rectangle 81">
              <a:extLst>
                <a:ext uri="{FF2B5EF4-FFF2-40B4-BE49-F238E27FC236}">
                  <a16:creationId xmlns:a16="http://schemas.microsoft.com/office/drawing/2014/main" id="{C9567197-A740-41B5-8324-54DE3E23929A}"/>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6" name="Line 82">
              <a:extLst>
                <a:ext uri="{FF2B5EF4-FFF2-40B4-BE49-F238E27FC236}">
                  <a16:creationId xmlns:a16="http://schemas.microsoft.com/office/drawing/2014/main" id="{9BC9C685-7EC3-4234-A685-043EB441CD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47" name="Text Box 83">
              <a:extLst>
                <a:ext uri="{FF2B5EF4-FFF2-40B4-BE49-F238E27FC236}">
                  <a16:creationId xmlns:a16="http://schemas.microsoft.com/office/drawing/2014/main" id="{01D81FE8-B049-4299-A8B3-DD1511CCC601}"/>
                </a:ext>
              </a:extLst>
            </p:cNvPr>
            <p:cNvSpPr txBox="1">
              <a:spLocks noChangeArrowheads="1"/>
            </p:cNvSpPr>
            <p:nvPr/>
          </p:nvSpPr>
          <p:spPr bwMode="auto">
            <a:xfrm>
              <a:off x="2813" y="3875"/>
              <a:ext cx="1480"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lnSpc>
                  <a:spcPct val="85000"/>
                </a:lnSpc>
                <a:defRPr/>
              </a:pPr>
              <a:r>
                <a:rPr lang="zh-CN" altLang="en-US" sz="1400" dirty="0"/>
                <a:t>源</a:t>
              </a:r>
              <a:r>
                <a:rPr lang="en-US" sz="1400" dirty="0"/>
                <a:t>IP:</a:t>
              </a:r>
              <a:r>
                <a:rPr lang="en-US" altLang="zh-CN" sz="1400" dirty="0"/>
                <a:t>IP</a:t>
              </a:r>
              <a:r>
                <a:rPr lang="en-US" altLang="zh-CN" sz="1400" baseline="-25000" dirty="0"/>
                <a:t>S</a:t>
              </a:r>
              <a:r>
                <a:rPr lang="en-US" sz="1400" dirty="0"/>
                <a:t>, </a:t>
              </a:r>
              <a:r>
                <a:rPr lang="zh-CN" altLang="en-US" sz="1400" dirty="0"/>
                <a:t>源端口</a:t>
              </a:r>
              <a:r>
                <a:rPr lang="en-US" altLang="zh-CN" sz="1400" dirty="0"/>
                <a:t>:</a:t>
              </a:r>
              <a:r>
                <a:rPr lang="en-US" sz="1400" dirty="0"/>
                <a:t>80</a:t>
              </a:r>
            </a:p>
            <a:p>
              <a:pPr>
                <a:lnSpc>
                  <a:spcPct val="85000"/>
                </a:lnSpc>
                <a:defRPr/>
              </a:pPr>
              <a:r>
                <a:rPr lang="zh-CN" altLang="en-US" sz="1400" dirty="0"/>
                <a:t>目的</a:t>
              </a:r>
              <a:r>
                <a:rPr lang="en-US" altLang="zh-CN" sz="1400" dirty="0"/>
                <a:t>IP:IP</a:t>
              </a:r>
              <a:r>
                <a:rPr lang="en-US" altLang="zh-CN" sz="1400" baseline="-25000" dirty="0"/>
                <a:t>A</a:t>
              </a:r>
              <a:r>
                <a:rPr lang="en-US" altLang="zh-CN" sz="1400" dirty="0"/>
                <a:t>, </a:t>
              </a:r>
              <a:r>
                <a:rPr lang="zh-CN" altLang="en-US" sz="1400" dirty="0"/>
                <a:t>目的端口</a:t>
              </a:r>
              <a:r>
                <a:rPr lang="en-US" altLang="zh-CN" sz="1400" dirty="0"/>
                <a:t>: 9175</a:t>
              </a:r>
            </a:p>
          </p:txBody>
        </p:sp>
      </p:grpSp>
      <p:sp>
        <p:nvSpPr>
          <p:cNvPr id="13351" name="Text Box 93">
            <a:extLst>
              <a:ext uri="{FF2B5EF4-FFF2-40B4-BE49-F238E27FC236}">
                <a16:creationId xmlns:a16="http://schemas.microsoft.com/office/drawing/2014/main" id="{50D9ED0E-70B2-4127-AF6D-5706DBD70602}"/>
              </a:ext>
            </a:extLst>
          </p:cNvPr>
          <p:cNvSpPr txBox="1">
            <a:spLocks noChangeArrowheads="1"/>
          </p:cNvSpPr>
          <p:nvPr/>
        </p:nvSpPr>
        <p:spPr bwMode="auto">
          <a:xfrm flipH="1">
            <a:off x="935831" y="1231465"/>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0000"/>
              </a:lnSpc>
              <a:defRPr/>
            </a:pPr>
            <a:r>
              <a:rPr lang="zh-CN" altLang="en-US" sz="1800" dirty="0">
                <a:latin typeface="Gill Sans MT" charset="0"/>
              </a:rPr>
              <a:t>主机</a:t>
            </a:r>
            <a:r>
              <a:rPr lang="en-US" altLang="zh-CN" sz="1800" dirty="0">
                <a:latin typeface="Gill Sans MT" charset="0"/>
              </a:rPr>
              <a:t>A</a:t>
            </a:r>
            <a:r>
              <a:rPr lang="en-US" sz="1800" dirty="0">
                <a:latin typeface="Gill Sans MT" charset="0"/>
              </a:rPr>
              <a:t>: IP</a:t>
            </a:r>
            <a:r>
              <a:rPr lang="en-US" altLang="zh-CN" sz="1800" baseline="-25000" dirty="0">
                <a:latin typeface="Gill Sans MT" charset="0"/>
              </a:rPr>
              <a:t>A</a:t>
            </a:r>
            <a:endParaRPr lang="en-US" sz="1800" baseline="-25000" dirty="0">
              <a:latin typeface="Gill Sans MT" charset="0"/>
            </a:endParaRPr>
          </a:p>
        </p:txBody>
      </p:sp>
      <p:sp>
        <p:nvSpPr>
          <p:cNvPr id="13353" name="Line 96">
            <a:extLst>
              <a:ext uri="{FF2B5EF4-FFF2-40B4-BE49-F238E27FC236}">
                <a16:creationId xmlns:a16="http://schemas.microsoft.com/office/drawing/2014/main" id="{FE97E696-15EE-4624-87B5-9753AAC4811C}"/>
              </a:ext>
            </a:extLst>
          </p:cNvPr>
          <p:cNvSpPr>
            <a:spLocks noChangeShapeType="1"/>
          </p:cNvSpPr>
          <p:nvPr/>
        </p:nvSpPr>
        <p:spPr bwMode="auto">
          <a:xfrm>
            <a:off x="3354388" y="3102798"/>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4" name="Line 97">
            <a:extLst>
              <a:ext uri="{FF2B5EF4-FFF2-40B4-BE49-F238E27FC236}">
                <a16:creationId xmlns:a16="http://schemas.microsoft.com/office/drawing/2014/main" id="{8C30A4D3-DD97-44DE-9A97-4A75398ABEA5}"/>
              </a:ext>
            </a:extLst>
          </p:cNvPr>
          <p:cNvSpPr>
            <a:spLocks noChangeShapeType="1"/>
          </p:cNvSpPr>
          <p:nvPr/>
        </p:nvSpPr>
        <p:spPr bwMode="auto">
          <a:xfrm>
            <a:off x="3370263" y="2801173"/>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6" name="Line 99">
            <a:extLst>
              <a:ext uri="{FF2B5EF4-FFF2-40B4-BE49-F238E27FC236}">
                <a16:creationId xmlns:a16="http://schemas.microsoft.com/office/drawing/2014/main" id="{984A8C44-457E-4956-B653-0C23C116E383}"/>
              </a:ext>
            </a:extLst>
          </p:cNvPr>
          <p:cNvSpPr>
            <a:spLocks noChangeShapeType="1"/>
          </p:cNvSpPr>
          <p:nvPr/>
        </p:nvSpPr>
        <p:spPr bwMode="auto">
          <a:xfrm>
            <a:off x="3373438" y="2478911"/>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7" name="Line 100">
            <a:extLst>
              <a:ext uri="{FF2B5EF4-FFF2-40B4-BE49-F238E27FC236}">
                <a16:creationId xmlns:a16="http://schemas.microsoft.com/office/drawing/2014/main" id="{096D12FD-6991-42E6-9AC2-FE6165E9BA46}"/>
              </a:ext>
            </a:extLst>
          </p:cNvPr>
          <p:cNvSpPr>
            <a:spLocks noChangeShapeType="1"/>
          </p:cNvSpPr>
          <p:nvPr/>
        </p:nvSpPr>
        <p:spPr bwMode="auto">
          <a:xfrm>
            <a:off x="3376613" y="2156648"/>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693" name="Group 101">
            <a:extLst>
              <a:ext uri="{FF2B5EF4-FFF2-40B4-BE49-F238E27FC236}">
                <a16:creationId xmlns:a16="http://schemas.microsoft.com/office/drawing/2014/main" id="{BABA1928-0EE5-482D-904A-4E161D719FAC}"/>
              </a:ext>
            </a:extLst>
          </p:cNvPr>
          <p:cNvGrpSpPr>
            <a:grpSpLocks/>
          </p:cNvGrpSpPr>
          <p:nvPr/>
        </p:nvGrpSpPr>
        <p:grpSpPr bwMode="auto">
          <a:xfrm>
            <a:off x="3552825" y="2018536"/>
            <a:ext cx="473075" cy="228600"/>
            <a:chOff x="1287" y="2524"/>
            <a:chExt cx="260" cy="100"/>
          </a:xfrm>
        </p:grpSpPr>
        <p:sp>
          <p:nvSpPr>
            <p:cNvPr id="13441" name="Rectangle 102">
              <a:extLst>
                <a:ext uri="{FF2B5EF4-FFF2-40B4-BE49-F238E27FC236}">
                  <a16:creationId xmlns:a16="http://schemas.microsoft.com/office/drawing/2014/main" id="{A6AB17F7-7AF3-4360-894F-BA8F50430AA9}"/>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2" name="Rectangle 103">
              <a:extLst>
                <a:ext uri="{FF2B5EF4-FFF2-40B4-BE49-F238E27FC236}">
                  <a16:creationId xmlns:a16="http://schemas.microsoft.com/office/drawing/2014/main" id="{D7A0E783-FA06-479D-8118-40AE5BE9EB04}"/>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3" name="Rectangle 104">
              <a:extLst>
                <a:ext uri="{FF2B5EF4-FFF2-40B4-BE49-F238E27FC236}">
                  <a16:creationId xmlns:a16="http://schemas.microsoft.com/office/drawing/2014/main" id="{D72C0B12-06F7-4ABD-A71A-49E43195E179}"/>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4" name="Rectangle 105">
              <a:extLst>
                <a:ext uri="{FF2B5EF4-FFF2-40B4-BE49-F238E27FC236}">
                  <a16:creationId xmlns:a16="http://schemas.microsoft.com/office/drawing/2014/main" id="{AA8FE7D8-89A3-4076-B2DA-17674DDAF43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59" name="Oval 106">
            <a:extLst>
              <a:ext uri="{FF2B5EF4-FFF2-40B4-BE49-F238E27FC236}">
                <a16:creationId xmlns:a16="http://schemas.microsoft.com/office/drawing/2014/main" id="{AFB518B0-CEFF-48E7-9510-8D9CA7C171B1}"/>
              </a:ext>
            </a:extLst>
          </p:cNvPr>
          <p:cNvSpPr>
            <a:spLocks noChangeArrowheads="1"/>
          </p:cNvSpPr>
          <p:nvPr/>
        </p:nvSpPr>
        <p:spPr bwMode="auto">
          <a:xfrm>
            <a:off x="4864100" y="1689923"/>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P6</a:t>
            </a:r>
          </a:p>
        </p:txBody>
      </p:sp>
      <p:sp>
        <p:nvSpPr>
          <p:cNvPr id="13360" name="Oval 112">
            <a:extLst>
              <a:ext uri="{FF2B5EF4-FFF2-40B4-BE49-F238E27FC236}">
                <a16:creationId xmlns:a16="http://schemas.microsoft.com/office/drawing/2014/main" id="{CAD6B036-ECD7-42A7-A82D-ED28300A6632}"/>
              </a:ext>
            </a:extLst>
          </p:cNvPr>
          <p:cNvSpPr>
            <a:spLocks noChangeArrowheads="1"/>
          </p:cNvSpPr>
          <p:nvPr/>
        </p:nvSpPr>
        <p:spPr bwMode="auto">
          <a:xfrm>
            <a:off x="4192588" y="1688336"/>
            <a:ext cx="598487"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P5</a:t>
            </a:r>
          </a:p>
        </p:txBody>
      </p:sp>
      <p:grpSp>
        <p:nvGrpSpPr>
          <p:cNvPr id="27696" name="Group 118">
            <a:extLst>
              <a:ext uri="{FF2B5EF4-FFF2-40B4-BE49-F238E27FC236}">
                <a16:creationId xmlns:a16="http://schemas.microsoft.com/office/drawing/2014/main" id="{3EDCEA1A-ACEA-4DCF-BEA9-7FA824262EA0}"/>
              </a:ext>
            </a:extLst>
          </p:cNvPr>
          <p:cNvGrpSpPr>
            <a:grpSpLocks/>
          </p:cNvGrpSpPr>
          <p:nvPr/>
        </p:nvGrpSpPr>
        <p:grpSpPr bwMode="auto">
          <a:xfrm>
            <a:off x="4257675" y="2023298"/>
            <a:ext cx="473075" cy="228600"/>
            <a:chOff x="1287" y="2524"/>
            <a:chExt cx="260" cy="100"/>
          </a:xfrm>
        </p:grpSpPr>
        <p:sp>
          <p:nvSpPr>
            <p:cNvPr id="13437" name="Rectangle 119">
              <a:extLst>
                <a:ext uri="{FF2B5EF4-FFF2-40B4-BE49-F238E27FC236}">
                  <a16:creationId xmlns:a16="http://schemas.microsoft.com/office/drawing/2014/main" id="{1116D40B-CE8E-4899-A3EA-0C66238F36B9}"/>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8" name="Rectangle 120">
              <a:extLst>
                <a:ext uri="{FF2B5EF4-FFF2-40B4-BE49-F238E27FC236}">
                  <a16:creationId xmlns:a16="http://schemas.microsoft.com/office/drawing/2014/main" id="{0B179E44-F6A9-4474-9343-5C09732D58E4}"/>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9" name="Rectangle 121">
              <a:extLst>
                <a:ext uri="{FF2B5EF4-FFF2-40B4-BE49-F238E27FC236}">
                  <a16:creationId xmlns:a16="http://schemas.microsoft.com/office/drawing/2014/main" id="{B95E4C2F-BF3D-454C-92D3-2591D98027DD}"/>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0" name="Rectangle 122">
              <a:extLst>
                <a:ext uri="{FF2B5EF4-FFF2-40B4-BE49-F238E27FC236}">
                  <a16:creationId xmlns:a16="http://schemas.microsoft.com/office/drawing/2014/main" id="{E45F8ACF-39BB-4CC4-B74F-A959D0A34AE9}"/>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697" name="Group 123">
            <a:extLst>
              <a:ext uri="{FF2B5EF4-FFF2-40B4-BE49-F238E27FC236}">
                <a16:creationId xmlns:a16="http://schemas.microsoft.com/office/drawing/2014/main" id="{EC62FFE8-297D-4FC0-985C-62A460A1F355}"/>
              </a:ext>
            </a:extLst>
          </p:cNvPr>
          <p:cNvGrpSpPr>
            <a:grpSpLocks/>
          </p:cNvGrpSpPr>
          <p:nvPr/>
        </p:nvGrpSpPr>
        <p:grpSpPr bwMode="auto">
          <a:xfrm>
            <a:off x="4929188" y="2028061"/>
            <a:ext cx="473075" cy="228600"/>
            <a:chOff x="1287" y="2524"/>
            <a:chExt cx="260" cy="100"/>
          </a:xfrm>
        </p:grpSpPr>
        <p:sp>
          <p:nvSpPr>
            <p:cNvPr id="13433" name="Rectangle 124">
              <a:extLst>
                <a:ext uri="{FF2B5EF4-FFF2-40B4-BE49-F238E27FC236}">
                  <a16:creationId xmlns:a16="http://schemas.microsoft.com/office/drawing/2014/main" id="{A70E65A3-6824-48BB-BDD8-31659D15601B}"/>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4" name="Rectangle 125">
              <a:extLst>
                <a:ext uri="{FF2B5EF4-FFF2-40B4-BE49-F238E27FC236}">
                  <a16:creationId xmlns:a16="http://schemas.microsoft.com/office/drawing/2014/main" id="{45916073-4E67-4EC9-96F2-B3576F63495C}"/>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5" name="Rectangle 126">
              <a:extLst>
                <a:ext uri="{FF2B5EF4-FFF2-40B4-BE49-F238E27FC236}">
                  <a16:creationId xmlns:a16="http://schemas.microsoft.com/office/drawing/2014/main" id="{8E2D108E-ECA1-4443-95A5-1A1083EE38C4}"/>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6" name="Rectangle 127">
              <a:extLst>
                <a:ext uri="{FF2B5EF4-FFF2-40B4-BE49-F238E27FC236}">
                  <a16:creationId xmlns:a16="http://schemas.microsoft.com/office/drawing/2014/main" id="{B50F0983-8CA6-41CD-A606-0F2BECEFE5A0}"/>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63" name="Line 133">
            <a:extLst>
              <a:ext uri="{FF2B5EF4-FFF2-40B4-BE49-F238E27FC236}">
                <a16:creationId xmlns:a16="http://schemas.microsoft.com/office/drawing/2014/main" id="{7331D56F-95DC-4983-ACC3-C631DE49D1C1}"/>
              </a:ext>
            </a:extLst>
          </p:cNvPr>
          <p:cNvSpPr>
            <a:spLocks noChangeShapeType="1"/>
          </p:cNvSpPr>
          <p:nvPr/>
        </p:nvSpPr>
        <p:spPr bwMode="auto">
          <a:xfrm>
            <a:off x="6362700" y="3318698"/>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4" name="Line 134">
            <a:extLst>
              <a:ext uri="{FF2B5EF4-FFF2-40B4-BE49-F238E27FC236}">
                <a16:creationId xmlns:a16="http://schemas.microsoft.com/office/drawing/2014/main" id="{86B0942A-9813-4B5F-AD71-E03AB5DBAFA9}"/>
              </a:ext>
            </a:extLst>
          </p:cNvPr>
          <p:cNvSpPr>
            <a:spLocks noChangeShapeType="1"/>
          </p:cNvSpPr>
          <p:nvPr/>
        </p:nvSpPr>
        <p:spPr bwMode="auto">
          <a:xfrm>
            <a:off x="6353175" y="3023423"/>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5" name="Line 135">
            <a:extLst>
              <a:ext uri="{FF2B5EF4-FFF2-40B4-BE49-F238E27FC236}">
                <a16:creationId xmlns:a16="http://schemas.microsoft.com/office/drawing/2014/main" id="{02E7AB28-E4ED-419B-8DDE-E427DF61C06F}"/>
              </a:ext>
            </a:extLst>
          </p:cNvPr>
          <p:cNvSpPr>
            <a:spLocks noChangeShapeType="1"/>
          </p:cNvSpPr>
          <p:nvPr/>
        </p:nvSpPr>
        <p:spPr bwMode="auto">
          <a:xfrm>
            <a:off x="6353175" y="2728148"/>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6" name="Line 136">
            <a:extLst>
              <a:ext uri="{FF2B5EF4-FFF2-40B4-BE49-F238E27FC236}">
                <a16:creationId xmlns:a16="http://schemas.microsoft.com/office/drawing/2014/main" id="{BBEFF7CD-AB9D-490F-AAFF-130C185DBA63}"/>
              </a:ext>
            </a:extLst>
          </p:cNvPr>
          <p:cNvSpPr>
            <a:spLocks noChangeShapeType="1"/>
          </p:cNvSpPr>
          <p:nvPr/>
        </p:nvSpPr>
        <p:spPr bwMode="auto">
          <a:xfrm>
            <a:off x="6353175" y="2423348"/>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702" name="Group 128">
            <a:extLst>
              <a:ext uri="{FF2B5EF4-FFF2-40B4-BE49-F238E27FC236}">
                <a16:creationId xmlns:a16="http://schemas.microsoft.com/office/drawing/2014/main" id="{3417058B-3262-4D35-812D-7B8F9E4D3018}"/>
              </a:ext>
            </a:extLst>
          </p:cNvPr>
          <p:cNvGrpSpPr>
            <a:grpSpLocks/>
          </p:cNvGrpSpPr>
          <p:nvPr/>
        </p:nvGrpSpPr>
        <p:grpSpPr bwMode="auto">
          <a:xfrm>
            <a:off x="6505575" y="2250311"/>
            <a:ext cx="473075" cy="228600"/>
            <a:chOff x="1287" y="2524"/>
            <a:chExt cx="260" cy="100"/>
          </a:xfrm>
        </p:grpSpPr>
        <p:sp>
          <p:nvSpPr>
            <p:cNvPr id="13429" name="Rectangle 129">
              <a:extLst>
                <a:ext uri="{FF2B5EF4-FFF2-40B4-BE49-F238E27FC236}">
                  <a16:creationId xmlns:a16="http://schemas.microsoft.com/office/drawing/2014/main" id="{CC85F40D-686B-4007-AB05-F505764617C5}"/>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0" name="Rectangle 130">
              <a:extLst>
                <a:ext uri="{FF2B5EF4-FFF2-40B4-BE49-F238E27FC236}">
                  <a16:creationId xmlns:a16="http://schemas.microsoft.com/office/drawing/2014/main" id="{30AF3E18-6B4A-4578-9C91-8EBD52CB875D}"/>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1" name="Rectangle 131">
              <a:extLst>
                <a:ext uri="{FF2B5EF4-FFF2-40B4-BE49-F238E27FC236}">
                  <a16:creationId xmlns:a16="http://schemas.microsoft.com/office/drawing/2014/main" id="{1172B0DD-3999-445E-AD2E-ED68F6A7C61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2" name="Rectangle 132">
              <a:extLst>
                <a:ext uri="{FF2B5EF4-FFF2-40B4-BE49-F238E27FC236}">
                  <a16:creationId xmlns:a16="http://schemas.microsoft.com/office/drawing/2014/main" id="{9C8C2BF3-95A5-41E8-A83E-8CEC219AC52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703" name="Group 137">
            <a:extLst>
              <a:ext uri="{FF2B5EF4-FFF2-40B4-BE49-F238E27FC236}">
                <a16:creationId xmlns:a16="http://schemas.microsoft.com/office/drawing/2014/main" id="{5FF76AD3-0517-4E3C-90B6-5D47BE730220}"/>
              </a:ext>
            </a:extLst>
          </p:cNvPr>
          <p:cNvGrpSpPr>
            <a:grpSpLocks/>
          </p:cNvGrpSpPr>
          <p:nvPr/>
        </p:nvGrpSpPr>
        <p:grpSpPr bwMode="auto">
          <a:xfrm>
            <a:off x="7300913" y="2240786"/>
            <a:ext cx="473075" cy="228600"/>
            <a:chOff x="1287" y="2524"/>
            <a:chExt cx="260" cy="100"/>
          </a:xfrm>
        </p:grpSpPr>
        <p:sp>
          <p:nvSpPr>
            <p:cNvPr id="13425" name="Rectangle 138">
              <a:extLst>
                <a:ext uri="{FF2B5EF4-FFF2-40B4-BE49-F238E27FC236}">
                  <a16:creationId xmlns:a16="http://schemas.microsoft.com/office/drawing/2014/main" id="{5FBDB063-9D86-4131-BD66-8E7B34B073D3}"/>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6" name="Rectangle 139">
              <a:extLst>
                <a:ext uri="{FF2B5EF4-FFF2-40B4-BE49-F238E27FC236}">
                  <a16:creationId xmlns:a16="http://schemas.microsoft.com/office/drawing/2014/main" id="{707A564A-A424-4DFF-9B01-BBAD10EF145F}"/>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7" name="Rectangle 140">
              <a:extLst>
                <a:ext uri="{FF2B5EF4-FFF2-40B4-BE49-F238E27FC236}">
                  <a16:creationId xmlns:a16="http://schemas.microsoft.com/office/drawing/2014/main" id="{06D1E7FC-7ACD-478D-8CE2-7C3232E2F947}"/>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8" name="Rectangle 141">
              <a:extLst>
                <a:ext uri="{FF2B5EF4-FFF2-40B4-BE49-F238E27FC236}">
                  <a16:creationId xmlns:a16="http://schemas.microsoft.com/office/drawing/2014/main" id="{69CE3F01-CCA9-4AFD-8917-A95D8463F959}"/>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69" name="Oval 143">
            <a:extLst>
              <a:ext uri="{FF2B5EF4-FFF2-40B4-BE49-F238E27FC236}">
                <a16:creationId xmlns:a16="http://schemas.microsoft.com/office/drawing/2014/main" id="{D363C71F-5048-4709-A56A-8ED661180150}"/>
              </a:ext>
            </a:extLst>
          </p:cNvPr>
          <p:cNvSpPr>
            <a:spLocks noChangeArrowheads="1"/>
          </p:cNvSpPr>
          <p:nvPr/>
        </p:nvSpPr>
        <p:spPr bwMode="auto">
          <a:xfrm>
            <a:off x="7242175" y="1907411"/>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P3</a:t>
            </a:r>
          </a:p>
        </p:txBody>
      </p:sp>
      <p:sp>
        <p:nvSpPr>
          <p:cNvPr id="27705" name="Freeform 144">
            <a:extLst>
              <a:ext uri="{FF2B5EF4-FFF2-40B4-BE49-F238E27FC236}">
                <a16:creationId xmlns:a16="http://schemas.microsoft.com/office/drawing/2014/main" id="{9BE08B7F-9526-48B2-AFCB-B5AF592586F8}"/>
              </a:ext>
            </a:extLst>
          </p:cNvPr>
          <p:cNvSpPr>
            <a:spLocks/>
          </p:cNvSpPr>
          <p:nvPr/>
        </p:nvSpPr>
        <p:spPr bwMode="auto">
          <a:xfrm>
            <a:off x="1493838" y="2110611"/>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706" name="Freeform 145">
            <a:extLst>
              <a:ext uri="{FF2B5EF4-FFF2-40B4-BE49-F238E27FC236}">
                <a16:creationId xmlns:a16="http://schemas.microsoft.com/office/drawing/2014/main" id="{B3157814-1BA3-459B-A4D5-61B94ED30A42}"/>
              </a:ext>
            </a:extLst>
          </p:cNvPr>
          <p:cNvSpPr>
            <a:spLocks/>
          </p:cNvSpPr>
          <p:nvPr/>
        </p:nvSpPr>
        <p:spPr bwMode="auto">
          <a:xfrm>
            <a:off x="4479925" y="2142361"/>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707" name="Freeform 146">
            <a:extLst>
              <a:ext uri="{FF2B5EF4-FFF2-40B4-BE49-F238E27FC236}">
                <a16:creationId xmlns:a16="http://schemas.microsoft.com/office/drawing/2014/main" id="{29DD36EE-CC28-4FF8-98AC-BF8EBB8A1BC5}"/>
              </a:ext>
            </a:extLst>
          </p:cNvPr>
          <p:cNvSpPr>
            <a:spLocks/>
          </p:cNvSpPr>
          <p:nvPr/>
        </p:nvSpPr>
        <p:spPr bwMode="auto">
          <a:xfrm>
            <a:off x="5138738" y="2131248"/>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27708" name="Group 147">
            <a:extLst>
              <a:ext uri="{FF2B5EF4-FFF2-40B4-BE49-F238E27FC236}">
                <a16:creationId xmlns:a16="http://schemas.microsoft.com/office/drawing/2014/main" id="{0A6D5982-E260-4B5D-A714-BAA0E239AEF4}"/>
              </a:ext>
            </a:extLst>
          </p:cNvPr>
          <p:cNvGrpSpPr>
            <a:grpSpLocks/>
          </p:cNvGrpSpPr>
          <p:nvPr/>
        </p:nvGrpSpPr>
        <p:grpSpPr bwMode="auto">
          <a:xfrm>
            <a:off x="5237162" y="4355304"/>
            <a:ext cx="2266949" cy="690558"/>
            <a:chOff x="2741" y="3750"/>
            <a:chExt cx="1428" cy="435"/>
          </a:xfrm>
        </p:grpSpPr>
        <p:sp>
          <p:nvSpPr>
            <p:cNvPr id="13422" name="Rectangle 148">
              <a:extLst>
                <a:ext uri="{FF2B5EF4-FFF2-40B4-BE49-F238E27FC236}">
                  <a16:creationId xmlns:a16="http://schemas.microsoft.com/office/drawing/2014/main" id="{2A97B699-11A7-41EE-A25F-3DBA0836EA29}"/>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3" name="Line 149">
              <a:extLst>
                <a:ext uri="{FF2B5EF4-FFF2-40B4-BE49-F238E27FC236}">
                  <a16:creationId xmlns:a16="http://schemas.microsoft.com/office/drawing/2014/main" id="{C8410702-C09B-4213-B45A-AC0FC2700610}"/>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24" name="Text Box 150">
              <a:extLst>
                <a:ext uri="{FF2B5EF4-FFF2-40B4-BE49-F238E27FC236}">
                  <a16:creationId xmlns:a16="http://schemas.microsoft.com/office/drawing/2014/main" id="{6F427672-5B47-497B-89E7-BA006220C629}"/>
                </a:ext>
              </a:extLst>
            </p:cNvPr>
            <p:cNvSpPr txBox="1">
              <a:spLocks noChangeArrowheads="1"/>
            </p:cNvSpPr>
            <p:nvPr/>
          </p:nvSpPr>
          <p:spPr bwMode="auto">
            <a:xfrm>
              <a:off x="2813" y="3896"/>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B</a:t>
              </a:r>
              <a:r>
                <a:rPr lang="en-US" altLang="zh-CN" sz="1400" dirty="0"/>
                <a:t>, </a:t>
              </a:r>
              <a:r>
                <a:rPr lang="zh-CN" altLang="en-US" sz="1400" dirty="0"/>
                <a:t>源端口</a:t>
              </a:r>
              <a:r>
                <a:rPr lang="en-US" altLang="zh-CN" sz="1400" dirty="0"/>
                <a:t>:</a:t>
              </a:r>
              <a:r>
                <a:rPr lang="en-US" altLang="zh-CN" sz="1400" b="1" dirty="0">
                  <a:solidFill>
                    <a:srgbClr val="C00000"/>
                  </a:solidFill>
                </a:rPr>
                <a:t>5775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grpSp>
        <p:nvGrpSpPr>
          <p:cNvPr id="27709" name="Group 151">
            <a:extLst>
              <a:ext uri="{FF2B5EF4-FFF2-40B4-BE49-F238E27FC236}">
                <a16:creationId xmlns:a16="http://schemas.microsoft.com/office/drawing/2014/main" id="{60CD8530-7D8B-454F-B932-9B9409292411}"/>
              </a:ext>
            </a:extLst>
          </p:cNvPr>
          <p:cNvGrpSpPr>
            <a:grpSpLocks/>
          </p:cNvGrpSpPr>
          <p:nvPr/>
        </p:nvGrpSpPr>
        <p:grpSpPr bwMode="auto">
          <a:xfrm>
            <a:off x="5307013" y="5144347"/>
            <a:ext cx="2266950" cy="690566"/>
            <a:chOff x="2741" y="3750"/>
            <a:chExt cx="1428" cy="435"/>
          </a:xfrm>
        </p:grpSpPr>
        <p:sp>
          <p:nvSpPr>
            <p:cNvPr id="13419" name="Rectangle 152">
              <a:extLst>
                <a:ext uri="{FF2B5EF4-FFF2-40B4-BE49-F238E27FC236}">
                  <a16:creationId xmlns:a16="http://schemas.microsoft.com/office/drawing/2014/main" id="{6C5E9648-C051-4D19-BD61-71CCDF5B12F1}"/>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0" name="Line 153">
              <a:extLst>
                <a:ext uri="{FF2B5EF4-FFF2-40B4-BE49-F238E27FC236}">
                  <a16:creationId xmlns:a16="http://schemas.microsoft.com/office/drawing/2014/main" id="{2D5DF5EB-07CF-4C7F-B5AD-16F9FD89C45A}"/>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21" name="Text Box 154">
              <a:extLst>
                <a:ext uri="{FF2B5EF4-FFF2-40B4-BE49-F238E27FC236}">
                  <a16:creationId xmlns:a16="http://schemas.microsoft.com/office/drawing/2014/main" id="{0E0F6ADE-112D-4ABA-B3AC-C97005158F2B}"/>
                </a:ext>
              </a:extLst>
            </p:cNvPr>
            <p:cNvSpPr txBox="1">
              <a:spLocks noChangeArrowheads="1"/>
            </p:cNvSpPr>
            <p:nvPr/>
          </p:nvSpPr>
          <p:spPr bwMode="auto">
            <a:xfrm>
              <a:off x="2813" y="3896"/>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B</a:t>
              </a:r>
              <a:r>
                <a:rPr lang="en-US" altLang="zh-CN" sz="1400" dirty="0"/>
                <a:t>, </a:t>
              </a:r>
              <a:r>
                <a:rPr lang="zh-CN" altLang="en-US" sz="1400" dirty="0"/>
                <a:t>源端口</a:t>
              </a:r>
              <a:r>
                <a:rPr lang="en-US" altLang="zh-CN" sz="1400" dirty="0"/>
                <a:t>:</a:t>
              </a:r>
              <a:r>
                <a:rPr lang="en-US" altLang="zh-CN" sz="1400" b="1" dirty="0">
                  <a:solidFill>
                    <a:srgbClr val="C00000"/>
                  </a:solidFill>
                </a:rPr>
                <a:t>9175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sp>
        <p:nvSpPr>
          <p:cNvPr id="364699" name="Text Box 155">
            <a:extLst>
              <a:ext uri="{FF2B5EF4-FFF2-40B4-BE49-F238E27FC236}">
                <a16:creationId xmlns:a16="http://schemas.microsoft.com/office/drawing/2014/main" id="{C122B238-C34F-4FE6-A4A2-6ED1B7641015}"/>
              </a:ext>
            </a:extLst>
          </p:cNvPr>
          <p:cNvSpPr txBox="1">
            <a:spLocks noChangeArrowheads="1"/>
          </p:cNvSpPr>
          <p:nvPr/>
        </p:nvSpPr>
        <p:spPr bwMode="auto">
          <a:xfrm>
            <a:off x="707368" y="5882612"/>
            <a:ext cx="7613156" cy="707886"/>
          </a:xfrm>
          <a:prstGeom prst="rect">
            <a:avLst/>
          </a:prstGeom>
          <a:solidFill>
            <a:schemeClr val="accent6">
              <a:lumMod val="20000"/>
              <a:lumOff val="80000"/>
            </a:schemeClr>
          </a:solidFill>
          <a:ln>
            <a:solidFill>
              <a:schemeClr val="accent1"/>
            </a:solid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三个段的目的</a:t>
            </a:r>
            <a:r>
              <a:rPr lang="en-US" altLang="zh-CN"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IP</a:t>
            </a:r>
            <a:r>
              <a:rPr lang="zh-CN" alt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地址均为</a:t>
            </a:r>
            <a:r>
              <a:rPr lang="en-US" altLang="zh-CN"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IP</a:t>
            </a:r>
            <a:r>
              <a:rPr lang="en-US" altLang="zh-CN" sz="2000" baseline="-25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S</a:t>
            </a:r>
            <a:r>
              <a:rPr lang="zh-CN" alt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，目的端口均为</a:t>
            </a:r>
            <a:r>
              <a:rPr lang="en-US" altLang="zh-CN"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80</a:t>
            </a:r>
            <a:r>
              <a:rPr lang="zh-CN" alt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。源</a:t>
            </a:r>
            <a:r>
              <a:rPr lang="en-US" altLang="zh-CN"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IP</a:t>
            </a:r>
            <a:r>
              <a:rPr lang="zh-CN" alt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rPr>
              <a:t>地址或源端口不同，指向不同的套接字接口</a:t>
            </a:r>
            <a:endParaRPr lang="en-US" sz="2000" dirty="0">
              <a:solidFill>
                <a:srgbClr val="CC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4700" name="Line 156">
            <a:extLst>
              <a:ext uri="{FF2B5EF4-FFF2-40B4-BE49-F238E27FC236}">
                <a16:creationId xmlns:a16="http://schemas.microsoft.com/office/drawing/2014/main" id="{BEA0988E-C4F9-458E-B4FC-48DB32C09A65}"/>
              </a:ext>
            </a:extLst>
          </p:cNvPr>
          <p:cNvSpPr>
            <a:spLocks noChangeShapeType="1"/>
          </p:cNvSpPr>
          <p:nvPr/>
        </p:nvSpPr>
        <p:spPr bwMode="auto">
          <a:xfrm>
            <a:off x="3949389" y="5441186"/>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364701" name="Line 157">
            <a:extLst>
              <a:ext uri="{FF2B5EF4-FFF2-40B4-BE49-F238E27FC236}">
                <a16:creationId xmlns:a16="http://schemas.microsoft.com/office/drawing/2014/main" id="{3B0BE8C1-B555-4D37-977A-A728755C3844}"/>
              </a:ext>
            </a:extLst>
          </p:cNvPr>
          <p:cNvSpPr>
            <a:spLocks noChangeShapeType="1"/>
          </p:cNvSpPr>
          <p:nvPr/>
        </p:nvSpPr>
        <p:spPr bwMode="auto">
          <a:xfrm>
            <a:off x="7165516" y="4963348"/>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364702" name="Line 158">
            <a:extLst>
              <a:ext uri="{FF2B5EF4-FFF2-40B4-BE49-F238E27FC236}">
                <a16:creationId xmlns:a16="http://schemas.microsoft.com/office/drawing/2014/main" id="{41911D4B-EF58-46B1-B4A0-424C7DC473F4}"/>
              </a:ext>
            </a:extLst>
          </p:cNvPr>
          <p:cNvSpPr>
            <a:spLocks noChangeShapeType="1"/>
          </p:cNvSpPr>
          <p:nvPr/>
        </p:nvSpPr>
        <p:spPr bwMode="auto">
          <a:xfrm>
            <a:off x="7217131" y="5781678"/>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715" name="Group 161">
            <a:extLst>
              <a:ext uri="{FF2B5EF4-FFF2-40B4-BE49-F238E27FC236}">
                <a16:creationId xmlns:a16="http://schemas.microsoft.com/office/drawing/2014/main" id="{F6C61FA1-1645-4919-979D-4C87949D4C14}"/>
              </a:ext>
            </a:extLst>
          </p:cNvPr>
          <p:cNvGrpSpPr>
            <a:grpSpLocks/>
          </p:cNvGrpSpPr>
          <p:nvPr/>
        </p:nvGrpSpPr>
        <p:grpSpPr bwMode="auto">
          <a:xfrm>
            <a:off x="2820988" y="2863086"/>
            <a:ext cx="358775" cy="704850"/>
            <a:chOff x="4140" y="429"/>
            <a:chExt cx="1425" cy="2396"/>
          </a:xfrm>
        </p:grpSpPr>
        <p:sp>
          <p:nvSpPr>
            <p:cNvPr id="27722" name="Freeform 162">
              <a:extLst>
                <a:ext uri="{FF2B5EF4-FFF2-40B4-BE49-F238E27FC236}">
                  <a16:creationId xmlns:a16="http://schemas.microsoft.com/office/drawing/2014/main" id="{29079B5D-2284-45D5-BEC5-7A772877C998}"/>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8" name="Rectangle 163">
              <a:extLst>
                <a:ext uri="{FF2B5EF4-FFF2-40B4-BE49-F238E27FC236}">
                  <a16:creationId xmlns:a16="http://schemas.microsoft.com/office/drawing/2014/main" id="{C9A3A045-34B9-45C5-9A5C-89C9B4863F7F}"/>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24" name="Freeform 164">
              <a:extLst>
                <a:ext uri="{FF2B5EF4-FFF2-40B4-BE49-F238E27FC236}">
                  <a16:creationId xmlns:a16="http://schemas.microsoft.com/office/drawing/2014/main" id="{E6485E53-019D-4B8B-9AC4-2BBB52A9D086}"/>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5" name="Freeform 165">
              <a:extLst>
                <a:ext uri="{FF2B5EF4-FFF2-40B4-BE49-F238E27FC236}">
                  <a16:creationId xmlns:a16="http://schemas.microsoft.com/office/drawing/2014/main" id="{3156E3C6-C79F-4241-803B-4B0B345E7A37}"/>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1" name="Rectangle 166">
              <a:extLst>
                <a:ext uri="{FF2B5EF4-FFF2-40B4-BE49-F238E27FC236}">
                  <a16:creationId xmlns:a16="http://schemas.microsoft.com/office/drawing/2014/main" id="{E3049AD1-FA88-4A29-92E3-D266E2BEB632}"/>
                </a:ext>
              </a:extLst>
            </p:cNvPr>
            <p:cNvSpPr>
              <a:spLocks noChangeArrowheads="1"/>
            </p:cNvSpPr>
            <p:nvPr/>
          </p:nvSpPr>
          <p:spPr bwMode="auto">
            <a:xfrm>
              <a:off x="4209" y="693"/>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27" name="Group 167">
              <a:extLst>
                <a:ext uri="{FF2B5EF4-FFF2-40B4-BE49-F238E27FC236}">
                  <a16:creationId xmlns:a16="http://schemas.microsoft.com/office/drawing/2014/main" id="{578103FC-1846-441B-A474-2ABE0F7A7486}"/>
                </a:ext>
              </a:extLst>
            </p:cNvPr>
            <p:cNvGrpSpPr>
              <a:grpSpLocks/>
            </p:cNvGrpSpPr>
            <p:nvPr/>
          </p:nvGrpSpPr>
          <p:grpSpPr bwMode="auto">
            <a:xfrm>
              <a:off x="4749" y="668"/>
              <a:ext cx="581" cy="145"/>
              <a:chOff x="614" y="2568"/>
              <a:chExt cx="725" cy="139"/>
            </a:xfrm>
          </p:grpSpPr>
          <p:sp>
            <p:nvSpPr>
              <p:cNvPr id="13417" name="AutoShape 168">
                <a:extLst>
                  <a:ext uri="{FF2B5EF4-FFF2-40B4-BE49-F238E27FC236}">
                    <a16:creationId xmlns:a16="http://schemas.microsoft.com/office/drawing/2014/main" id="{E3ECA1CB-7C58-4F90-AE09-5A2148888492}"/>
                  </a:ext>
                </a:extLst>
              </p:cNvPr>
              <p:cNvSpPr>
                <a:spLocks noChangeArrowheads="1"/>
              </p:cNvSpPr>
              <p:nvPr/>
            </p:nvSpPr>
            <p:spPr bwMode="auto">
              <a:xfrm>
                <a:off x="617" y="2567"/>
                <a:ext cx="724"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8" name="AutoShape 169">
                <a:extLst>
                  <a:ext uri="{FF2B5EF4-FFF2-40B4-BE49-F238E27FC236}">
                    <a16:creationId xmlns:a16="http://schemas.microsoft.com/office/drawing/2014/main" id="{94315E85-320D-46D1-B63C-8B19A35C186B}"/>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93" name="Rectangle 170">
              <a:extLst>
                <a:ext uri="{FF2B5EF4-FFF2-40B4-BE49-F238E27FC236}">
                  <a16:creationId xmlns:a16="http://schemas.microsoft.com/office/drawing/2014/main" id="{82E49B73-A502-453E-A1E1-C6B4514366C0}"/>
                </a:ext>
              </a:extLst>
            </p:cNvPr>
            <p:cNvSpPr>
              <a:spLocks noChangeArrowheads="1"/>
            </p:cNvSpPr>
            <p:nvPr/>
          </p:nvSpPr>
          <p:spPr bwMode="auto">
            <a:xfrm>
              <a:off x="4222" y="101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29" name="Group 171">
              <a:extLst>
                <a:ext uri="{FF2B5EF4-FFF2-40B4-BE49-F238E27FC236}">
                  <a16:creationId xmlns:a16="http://schemas.microsoft.com/office/drawing/2014/main" id="{712134E7-DEC6-4BC3-9A10-4B599152B81F}"/>
                </a:ext>
              </a:extLst>
            </p:cNvPr>
            <p:cNvGrpSpPr>
              <a:grpSpLocks/>
            </p:cNvGrpSpPr>
            <p:nvPr/>
          </p:nvGrpSpPr>
          <p:grpSpPr bwMode="auto">
            <a:xfrm>
              <a:off x="4747" y="994"/>
              <a:ext cx="581" cy="134"/>
              <a:chOff x="614" y="2568"/>
              <a:chExt cx="725" cy="139"/>
            </a:xfrm>
          </p:grpSpPr>
          <p:sp>
            <p:nvSpPr>
              <p:cNvPr id="13415" name="AutoShape 172">
                <a:extLst>
                  <a:ext uri="{FF2B5EF4-FFF2-40B4-BE49-F238E27FC236}">
                    <a16:creationId xmlns:a16="http://schemas.microsoft.com/office/drawing/2014/main" id="{C153AA11-1065-4865-99BB-4F3425D146FA}"/>
                  </a:ext>
                </a:extLst>
              </p:cNvPr>
              <p:cNvSpPr>
                <a:spLocks noChangeArrowheads="1"/>
              </p:cNvSpPr>
              <p:nvPr/>
            </p:nvSpPr>
            <p:spPr bwMode="auto">
              <a:xfrm>
                <a:off x="612" y="2570"/>
                <a:ext cx="724" cy="14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6" name="AutoShape 173">
                <a:extLst>
                  <a:ext uri="{FF2B5EF4-FFF2-40B4-BE49-F238E27FC236}">
                    <a16:creationId xmlns:a16="http://schemas.microsoft.com/office/drawing/2014/main" id="{E8E400D7-4557-417A-B9B9-C2A01401AB5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95" name="Rectangle 174">
              <a:extLst>
                <a:ext uri="{FF2B5EF4-FFF2-40B4-BE49-F238E27FC236}">
                  <a16:creationId xmlns:a16="http://schemas.microsoft.com/office/drawing/2014/main" id="{5E194778-58D4-4A70-998B-60290E8C577B}"/>
                </a:ext>
              </a:extLst>
            </p:cNvPr>
            <p:cNvSpPr>
              <a:spLocks noChangeArrowheads="1"/>
            </p:cNvSpPr>
            <p:nvPr/>
          </p:nvSpPr>
          <p:spPr bwMode="auto">
            <a:xfrm>
              <a:off x="4216" y="135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396" name="Rectangle 175">
              <a:extLst>
                <a:ext uri="{FF2B5EF4-FFF2-40B4-BE49-F238E27FC236}">
                  <a16:creationId xmlns:a16="http://schemas.microsoft.com/office/drawing/2014/main" id="{4DF1F13A-37DC-46A3-BC37-EA8535A722BE}"/>
                </a:ext>
              </a:extLst>
            </p:cNvPr>
            <p:cNvSpPr>
              <a:spLocks noChangeArrowheads="1"/>
            </p:cNvSpPr>
            <p:nvPr/>
          </p:nvSpPr>
          <p:spPr bwMode="auto">
            <a:xfrm>
              <a:off x="4228" y="1654"/>
              <a:ext cx="593"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32" name="Group 176">
              <a:extLst>
                <a:ext uri="{FF2B5EF4-FFF2-40B4-BE49-F238E27FC236}">
                  <a16:creationId xmlns:a16="http://schemas.microsoft.com/office/drawing/2014/main" id="{6EF7F4C5-4882-404D-AC86-B717D1F55AEE}"/>
                </a:ext>
              </a:extLst>
            </p:cNvPr>
            <p:cNvGrpSpPr>
              <a:grpSpLocks/>
            </p:cNvGrpSpPr>
            <p:nvPr/>
          </p:nvGrpSpPr>
          <p:grpSpPr bwMode="auto">
            <a:xfrm>
              <a:off x="4735" y="1627"/>
              <a:ext cx="582" cy="151"/>
              <a:chOff x="614" y="2568"/>
              <a:chExt cx="725" cy="139"/>
            </a:xfrm>
          </p:grpSpPr>
          <p:sp>
            <p:nvSpPr>
              <p:cNvPr id="13413" name="AutoShape 177">
                <a:extLst>
                  <a:ext uri="{FF2B5EF4-FFF2-40B4-BE49-F238E27FC236}">
                    <a16:creationId xmlns:a16="http://schemas.microsoft.com/office/drawing/2014/main" id="{9D03B7D5-9C55-4DB0-9855-B669EB0211B0}"/>
                  </a:ext>
                </a:extLst>
              </p:cNvPr>
              <p:cNvSpPr>
                <a:spLocks noChangeArrowheads="1"/>
              </p:cNvSpPr>
              <p:nvPr/>
            </p:nvSpPr>
            <p:spPr bwMode="auto">
              <a:xfrm>
                <a:off x="611" y="2568"/>
                <a:ext cx="730"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4" name="AutoShape 178">
                <a:extLst>
                  <a:ext uri="{FF2B5EF4-FFF2-40B4-BE49-F238E27FC236}">
                    <a16:creationId xmlns:a16="http://schemas.microsoft.com/office/drawing/2014/main" id="{8156593C-39AB-4ADC-B7C9-6C984FBE3F8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7733" name="Freeform 179">
              <a:extLst>
                <a:ext uri="{FF2B5EF4-FFF2-40B4-BE49-F238E27FC236}">
                  <a16:creationId xmlns:a16="http://schemas.microsoft.com/office/drawing/2014/main" id="{4D7E01F4-FC16-4756-B4AB-710BEF42461A}"/>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34" name="Group 180">
              <a:extLst>
                <a:ext uri="{FF2B5EF4-FFF2-40B4-BE49-F238E27FC236}">
                  <a16:creationId xmlns:a16="http://schemas.microsoft.com/office/drawing/2014/main" id="{341278DC-78D7-4C63-9BD0-0B8C61264E21}"/>
                </a:ext>
              </a:extLst>
            </p:cNvPr>
            <p:cNvGrpSpPr>
              <a:grpSpLocks/>
            </p:cNvGrpSpPr>
            <p:nvPr/>
          </p:nvGrpSpPr>
          <p:grpSpPr bwMode="auto">
            <a:xfrm>
              <a:off x="4739" y="1327"/>
              <a:ext cx="582" cy="139"/>
              <a:chOff x="614" y="2568"/>
              <a:chExt cx="725" cy="139"/>
            </a:xfrm>
          </p:grpSpPr>
          <p:sp>
            <p:nvSpPr>
              <p:cNvPr id="13411" name="AutoShape 181">
                <a:extLst>
                  <a:ext uri="{FF2B5EF4-FFF2-40B4-BE49-F238E27FC236}">
                    <a16:creationId xmlns:a16="http://schemas.microsoft.com/office/drawing/2014/main" id="{6E01144C-972C-49AF-90A8-13EF2610594F}"/>
                  </a:ext>
                </a:extLst>
              </p:cNvPr>
              <p:cNvSpPr>
                <a:spLocks noChangeArrowheads="1"/>
              </p:cNvSpPr>
              <p:nvPr/>
            </p:nvSpPr>
            <p:spPr bwMode="auto">
              <a:xfrm>
                <a:off x="614" y="2566"/>
                <a:ext cx="723"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2" name="AutoShape 182">
                <a:extLst>
                  <a:ext uri="{FF2B5EF4-FFF2-40B4-BE49-F238E27FC236}">
                    <a16:creationId xmlns:a16="http://schemas.microsoft.com/office/drawing/2014/main" id="{90102767-33A9-4564-BBFB-D57181A8BC48}"/>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400" name="Rectangle 183">
              <a:extLst>
                <a:ext uri="{FF2B5EF4-FFF2-40B4-BE49-F238E27FC236}">
                  <a16:creationId xmlns:a16="http://schemas.microsoft.com/office/drawing/2014/main" id="{1D12EEE7-62EC-4902-B8F3-CDBE2888985E}"/>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36" name="Freeform 184">
              <a:extLst>
                <a:ext uri="{FF2B5EF4-FFF2-40B4-BE49-F238E27FC236}">
                  <a16:creationId xmlns:a16="http://schemas.microsoft.com/office/drawing/2014/main" id="{99E71E34-4BD3-41E3-9E80-11C5581DE6B3}"/>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37" name="Freeform 185">
              <a:extLst>
                <a:ext uri="{FF2B5EF4-FFF2-40B4-BE49-F238E27FC236}">
                  <a16:creationId xmlns:a16="http://schemas.microsoft.com/office/drawing/2014/main" id="{A102397C-12D9-406D-86BA-094D3B31308B}"/>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3" name="Oval 186">
              <a:extLst>
                <a:ext uri="{FF2B5EF4-FFF2-40B4-BE49-F238E27FC236}">
                  <a16:creationId xmlns:a16="http://schemas.microsoft.com/office/drawing/2014/main" id="{5BAE0886-5892-48F6-A4CF-D322AF13DD76}"/>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39" name="Freeform 187">
              <a:extLst>
                <a:ext uri="{FF2B5EF4-FFF2-40B4-BE49-F238E27FC236}">
                  <a16:creationId xmlns:a16="http://schemas.microsoft.com/office/drawing/2014/main" id="{95C03E80-2A1D-4297-9C45-55C8A7594C72}"/>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5" name="AutoShape 188">
              <a:extLst>
                <a:ext uri="{FF2B5EF4-FFF2-40B4-BE49-F238E27FC236}">
                  <a16:creationId xmlns:a16="http://schemas.microsoft.com/office/drawing/2014/main" id="{83F82DA2-5E6F-435C-8CB1-797752508EF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6" name="AutoShape 189">
              <a:extLst>
                <a:ext uri="{FF2B5EF4-FFF2-40B4-BE49-F238E27FC236}">
                  <a16:creationId xmlns:a16="http://schemas.microsoft.com/office/drawing/2014/main" id="{B0707A55-C0FA-4DE3-B71C-A5E05D853D01}"/>
                </a:ext>
              </a:extLst>
            </p:cNvPr>
            <p:cNvSpPr>
              <a:spLocks noChangeArrowheads="1"/>
            </p:cNvSpPr>
            <p:nvPr/>
          </p:nvSpPr>
          <p:spPr bwMode="auto">
            <a:xfrm>
              <a:off x="4203" y="2712"/>
              <a:ext cx="1072"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7" name="Oval 190">
              <a:extLst>
                <a:ext uri="{FF2B5EF4-FFF2-40B4-BE49-F238E27FC236}">
                  <a16:creationId xmlns:a16="http://schemas.microsoft.com/office/drawing/2014/main" id="{97BA9603-2FCE-4E3A-8303-277F8E3B85C5}"/>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8" name="Oval 191">
              <a:extLst>
                <a:ext uri="{FF2B5EF4-FFF2-40B4-BE49-F238E27FC236}">
                  <a16:creationId xmlns:a16="http://schemas.microsoft.com/office/drawing/2014/main" id="{718EADEC-A970-4BB9-9871-10AAB37B732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13409" name="Oval 192">
              <a:extLst>
                <a:ext uri="{FF2B5EF4-FFF2-40B4-BE49-F238E27FC236}">
                  <a16:creationId xmlns:a16="http://schemas.microsoft.com/office/drawing/2014/main" id="{8152F240-9EE7-4972-A9F2-FCC37C433DA4}"/>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0" name="Rectangle 193">
              <a:extLst>
                <a:ext uri="{FF2B5EF4-FFF2-40B4-BE49-F238E27FC236}">
                  <a16:creationId xmlns:a16="http://schemas.microsoft.com/office/drawing/2014/main" id="{9A02AEC0-DE93-41EF-955D-605FC51923A9}"/>
                </a:ext>
              </a:extLst>
            </p:cNvPr>
            <p:cNvSpPr>
              <a:spLocks noChangeArrowheads="1"/>
            </p:cNvSpPr>
            <p:nvPr/>
          </p:nvSpPr>
          <p:spPr bwMode="auto">
            <a:xfrm>
              <a:off x="5061" y="1837"/>
              <a:ext cx="88" cy="761"/>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716" name="Group 194">
            <a:extLst>
              <a:ext uri="{FF2B5EF4-FFF2-40B4-BE49-F238E27FC236}">
                <a16:creationId xmlns:a16="http://schemas.microsoft.com/office/drawing/2014/main" id="{15447637-B898-4648-9DFA-2AEE16D4F54F}"/>
              </a:ext>
            </a:extLst>
          </p:cNvPr>
          <p:cNvGrpSpPr>
            <a:grpSpLocks/>
          </p:cNvGrpSpPr>
          <p:nvPr/>
        </p:nvGrpSpPr>
        <p:grpSpPr bwMode="auto">
          <a:xfrm>
            <a:off x="-44450" y="3283773"/>
            <a:ext cx="711200" cy="669925"/>
            <a:chOff x="-44" y="1473"/>
            <a:chExt cx="981" cy="1105"/>
          </a:xfrm>
        </p:grpSpPr>
        <p:pic>
          <p:nvPicPr>
            <p:cNvPr id="27720" name="Picture 195" descr="desktop_computer_stylized_medium">
              <a:extLst>
                <a:ext uri="{FF2B5EF4-FFF2-40B4-BE49-F238E27FC236}">
                  <a16:creationId xmlns:a16="http://schemas.microsoft.com/office/drawing/2014/main" id="{8939D440-A27E-438F-B141-4152E3AA0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1" name="Freeform 196">
              <a:extLst>
                <a:ext uri="{FF2B5EF4-FFF2-40B4-BE49-F238E27FC236}">
                  <a16:creationId xmlns:a16="http://schemas.microsoft.com/office/drawing/2014/main" id="{2EE89374-DA7F-4E96-8F8F-B6B60AFC3320}"/>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7717" name="Group 197">
            <a:extLst>
              <a:ext uri="{FF2B5EF4-FFF2-40B4-BE49-F238E27FC236}">
                <a16:creationId xmlns:a16="http://schemas.microsoft.com/office/drawing/2014/main" id="{2594E3C3-718A-4E77-B091-D59CAE112AF5}"/>
              </a:ext>
            </a:extLst>
          </p:cNvPr>
          <p:cNvGrpSpPr>
            <a:grpSpLocks/>
          </p:cNvGrpSpPr>
          <p:nvPr/>
        </p:nvGrpSpPr>
        <p:grpSpPr bwMode="auto">
          <a:xfrm flipH="1">
            <a:off x="8258175" y="3199636"/>
            <a:ext cx="711200" cy="669925"/>
            <a:chOff x="-44" y="1473"/>
            <a:chExt cx="981" cy="1105"/>
          </a:xfrm>
        </p:grpSpPr>
        <p:pic>
          <p:nvPicPr>
            <p:cNvPr id="27718" name="Picture 198" descr="desktop_computer_stylized_medium">
              <a:extLst>
                <a:ext uri="{FF2B5EF4-FFF2-40B4-BE49-F238E27FC236}">
                  <a16:creationId xmlns:a16="http://schemas.microsoft.com/office/drawing/2014/main" id="{15053BCE-A7DF-4652-BAD9-AE8238E4C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19" name="Freeform 199">
              <a:extLst>
                <a:ext uri="{FF2B5EF4-FFF2-40B4-BE49-F238E27FC236}">
                  <a16:creationId xmlns:a16="http://schemas.microsoft.com/office/drawing/2014/main" id="{42DF2831-B693-4208-B162-547B45CF1682}"/>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45" name="标题 1">
            <a:extLst>
              <a:ext uri="{FF2B5EF4-FFF2-40B4-BE49-F238E27FC236}">
                <a16:creationId xmlns:a16="http://schemas.microsoft.com/office/drawing/2014/main" id="{F72799C3-4C91-4780-9626-246A5B72D5A6}"/>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复用分用</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6" name="矩形 145">
            <a:extLst>
              <a:ext uri="{FF2B5EF4-FFF2-40B4-BE49-F238E27FC236}">
                <a16:creationId xmlns:a16="http://schemas.microsoft.com/office/drawing/2014/main" id="{153B41F6-34F9-4690-BD66-05F3D863A2A7}"/>
              </a:ext>
            </a:extLst>
          </p:cNvPr>
          <p:cNvSpPr/>
          <p:nvPr/>
        </p:nvSpPr>
        <p:spPr>
          <a:xfrm>
            <a:off x="341223" y="737937"/>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分用示例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Text Box 93">
            <a:extLst>
              <a:ext uri="{FF2B5EF4-FFF2-40B4-BE49-F238E27FC236}">
                <a16:creationId xmlns:a16="http://schemas.microsoft.com/office/drawing/2014/main" id="{BC887DE5-F771-4520-BC0C-3B4825137EFD}"/>
              </a:ext>
            </a:extLst>
          </p:cNvPr>
          <p:cNvSpPr txBox="1">
            <a:spLocks noChangeArrowheads="1"/>
          </p:cNvSpPr>
          <p:nvPr/>
        </p:nvSpPr>
        <p:spPr bwMode="auto">
          <a:xfrm flipH="1">
            <a:off x="3810861" y="998960"/>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zh-CN" altLang="en-US" sz="1800" dirty="0">
                <a:latin typeface="Gill Sans MT" charset="0"/>
              </a:rPr>
              <a:t>主机</a:t>
            </a:r>
            <a:r>
              <a:rPr lang="en-US" altLang="zh-CN" sz="1800" dirty="0">
                <a:latin typeface="Gill Sans MT" charset="0"/>
              </a:rPr>
              <a:t>S</a:t>
            </a:r>
            <a:r>
              <a:rPr lang="en-US" sz="1800" dirty="0">
                <a:latin typeface="Gill Sans MT" charset="0"/>
              </a:rPr>
              <a:t>: IP</a:t>
            </a:r>
            <a:r>
              <a:rPr lang="en-US" altLang="zh-CN" sz="1800" baseline="-25000" dirty="0">
                <a:latin typeface="Gill Sans MT" charset="0"/>
              </a:rPr>
              <a:t>S</a:t>
            </a:r>
            <a:endParaRPr lang="en-US" sz="1800" baseline="-25000" dirty="0">
              <a:latin typeface="Gill Sans MT" charset="0"/>
            </a:endParaRPr>
          </a:p>
        </p:txBody>
      </p:sp>
      <p:sp>
        <p:nvSpPr>
          <p:cNvPr id="148" name="Text Box 93">
            <a:extLst>
              <a:ext uri="{FF2B5EF4-FFF2-40B4-BE49-F238E27FC236}">
                <a16:creationId xmlns:a16="http://schemas.microsoft.com/office/drawing/2014/main" id="{B9E2DB0E-3D76-4618-ACD9-FD24C4B8963B}"/>
              </a:ext>
            </a:extLst>
          </p:cNvPr>
          <p:cNvSpPr txBox="1">
            <a:spLocks noChangeArrowheads="1"/>
          </p:cNvSpPr>
          <p:nvPr/>
        </p:nvSpPr>
        <p:spPr bwMode="auto">
          <a:xfrm flipH="1">
            <a:off x="6563121" y="1226767"/>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0000"/>
              </a:lnSpc>
              <a:defRPr/>
            </a:pPr>
            <a:r>
              <a:rPr lang="zh-CN" altLang="en-US" sz="1800" dirty="0">
                <a:latin typeface="Gill Sans MT" charset="0"/>
              </a:rPr>
              <a:t>主机</a:t>
            </a:r>
            <a:r>
              <a:rPr lang="en-US" altLang="zh-CN" sz="1800" dirty="0">
                <a:latin typeface="Gill Sans MT" charset="0"/>
              </a:rPr>
              <a:t>B</a:t>
            </a:r>
            <a:r>
              <a:rPr lang="en-US" sz="1800" dirty="0">
                <a:latin typeface="Gill Sans MT" charset="0"/>
              </a:rPr>
              <a:t>: IP</a:t>
            </a:r>
            <a:r>
              <a:rPr lang="en-US" altLang="zh-CN" sz="1800" baseline="-25000" dirty="0">
                <a:latin typeface="Gill Sans MT" charset="0"/>
              </a:rPr>
              <a:t>B</a:t>
            </a:r>
            <a:endParaRPr lang="en-US" sz="1800" baseline="-25000" dirty="0">
              <a:latin typeface="Gill Sans MT" charset="0"/>
            </a:endParaRPr>
          </a:p>
        </p:txBody>
      </p:sp>
      <p:sp>
        <p:nvSpPr>
          <p:cNvPr id="149" name="Line 158">
            <a:extLst>
              <a:ext uri="{FF2B5EF4-FFF2-40B4-BE49-F238E27FC236}">
                <a16:creationId xmlns:a16="http://schemas.microsoft.com/office/drawing/2014/main" id="{4B45FCB2-AB48-497F-86E3-29A33A08EA42}"/>
              </a:ext>
            </a:extLst>
          </p:cNvPr>
          <p:cNvSpPr>
            <a:spLocks noChangeShapeType="1"/>
          </p:cNvSpPr>
          <p:nvPr/>
        </p:nvSpPr>
        <p:spPr bwMode="auto">
          <a:xfrm>
            <a:off x="2814705" y="5488808"/>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0" name="Line 158">
            <a:extLst>
              <a:ext uri="{FF2B5EF4-FFF2-40B4-BE49-F238E27FC236}">
                <a16:creationId xmlns:a16="http://schemas.microsoft.com/office/drawing/2014/main" id="{9425537C-8852-4EA3-B3C3-91071669902E}"/>
              </a:ext>
            </a:extLst>
          </p:cNvPr>
          <p:cNvSpPr>
            <a:spLocks noChangeShapeType="1"/>
          </p:cNvSpPr>
          <p:nvPr/>
        </p:nvSpPr>
        <p:spPr bwMode="auto">
          <a:xfrm>
            <a:off x="6067425" y="5834913"/>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51" name="Line 158">
            <a:extLst>
              <a:ext uri="{FF2B5EF4-FFF2-40B4-BE49-F238E27FC236}">
                <a16:creationId xmlns:a16="http://schemas.microsoft.com/office/drawing/2014/main" id="{36DCC415-07E3-467D-A131-1C7D26667ACF}"/>
              </a:ext>
            </a:extLst>
          </p:cNvPr>
          <p:cNvSpPr>
            <a:spLocks noChangeShapeType="1"/>
          </p:cNvSpPr>
          <p:nvPr/>
        </p:nvSpPr>
        <p:spPr bwMode="auto">
          <a:xfrm>
            <a:off x="6022511" y="5039544"/>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 name="Text Box 26">
            <a:extLst>
              <a:ext uri="{FF2B5EF4-FFF2-40B4-BE49-F238E27FC236}">
                <a16:creationId xmlns:a16="http://schemas.microsoft.com/office/drawing/2014/main" id="{67DB6753-D820-4E5F-8A5F-AB2B6809AB17}"/>
              </a:ext>
            </a:extLst>
          </p:cNvPr>
          <p:cNvSpPr txBox="1">
            <a:spLocks noChangeArrowheads="1"/>
          </p:cNvSpPr>
          <p:nvPr/>
        </p:nvSpPr>
        <p:spPr bwMode="auto">
          <a:xfrm>
            <a:off x="3433608" y="2212400"/>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11" name="Text Box 26">
            <a:extLst>
              <a:ext uri="{FF2B5EF4-FFF2-40B4-BE49-F238E27FC236}">
                <a16:creationId xmlns:a16="http://schemas.microsoft.com/office/drawing/2014/main" id="{4F1BDE5E-AA87-4A30-8551-8F4F0322B63A}"/>
              </a:ext>
            </a:extLst>
          </p:cNvPr>
          <p:cNvSpPr txBox="1">
            <a:spLocks noChangeArrowheads="1"/>
          </p:cNvSpPr>
          <p:nvPr/>
        </p:nvSpPr>
        <p:spPr bwMode="auto">
          <a:xfrm>
            <a:off x="3424083" y="3117275"/>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12" name="Text Box 26">
            <a:extLst>
              <a:ext uri="{FF2B5EF4-FFF2-40B4-BE49-F238E27FC236}">
                <a16:creationId xmlns:a16="http://schemas.microsoft.com/office/drawing/2014/main" id="{D3F91BC8-57EF-4241-94A6-8EB5F9E05EDF}"/>
              </a:ext>
            </a:extLst>
          </p:cNvPr>
          <p:cNvSpPr txBox="1">
            <a:spLocks noChangeArrowheads="1"/>
          </p:cNvSpPr>
          <p:nvPr/>
        </p:nvSpPr>
        <p:spPr bwMode="auto">
          <a:xfrm>
            <a:off x="3432175" y="2799629"/>
            <a:ext cx="1328583"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13" name="Text Box 26">
            <a:extLst>
              <a:ext uri="{FF2B5EF4-FFF2-40B4-BE49-F238E27FC236}">
                <a16:creationId xmlns:a16="http://schemas.microsoft.com/office/drawing/2014/main" id="{4C3FF91C-CB0C-4F54-A7C2-DA30DD692903}"/>
              </a:ext>
            </a:extLst>
          </p:cNvPr>
          <p:cNvSpPr txBox="1">
            <a:spLocks noChangeArrowheads="1"/>
          </p:cNvSpPr>
          <p:nvPr/>
        </p:nvSpPr>
        <p:spPr bwMode="auto">
          <a:xfrm>
            <a:off x="3533775" y="2488398"/>
            <a:ext cx="1217458"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14" name="Text Box 26">
            <a:extLst>
              <a:ext uri="{FF2B5EF4-FFF2-40B4-BE49-F238E27FC236}">
                <a16:creationId xmlns:a16="http://schemas.microsoft.com/office/drawing/2014/main" id="{49AE38DB-0945-45E9-850A-114D00A3F693}"/>
              </a:ext>
            </a:extLst>
          </p:cNvPr>
          <p:cNvSpPr txBox="1">
            <a:spLocks noChangeArrowheads="1"/>
          </p:cNvSpPr>
          <p:nvPr/>
        </p:nvSpPr>
        <p:spPr bwMode="auto">
          <a:xfrm>
            <a:off x="6808788" y="2408153"/>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15" name="Text Box 26">
            <a:extLst>
              <a:ext uri="{FF2B5EF4-FFF2-40B4-BE49-F238E27FC236}">
                <a16:creationId xmlns:a16="http://schemas.microsoft.com/office/drawing/2014/main" id="{FB6F93BD-E4E1-41C8-8FBD-B42A6F4A25C6}"/>
              </a:ext>
            </a:extLst>
          </p:cNvPr>
          <p:cNvSpPr txBox="1">
            <a:spLocks noChangeArrowheads="1"/>
          </p:cNvSpPr>
          <p:nvPr/>
        </p:nvSpPr>
        <p:spPr bwMode="auto">
          <a:xfrm>
            <a:off x="6799263" y="3313028"/>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16" name="Text Box 26">
            <a:extLst>
              <a:ext uri="{FF2B5EF4-FFF2-40B4-BE49-F238E27FC236}">
                <a16:creationId xmlns:a16="http://schemas.microsoft.com/office/drawing/2014/main" id="{4A3C22CF-566D-480C-B2A2-0D19401C84A2}"/>
              </a:ext>
            </a:extLst>
          </p:cNvPr>
          <p:cNvSpPr txBox="1">
            <a:spLocks noChangeArrowheads="1"/>
          </p:cNvSpPr>
          <p:nvPr/>
        </p:nvSpPr>
        <p:spPr bwMode="auto">
          <a:xfrm>
            <a:off x="6799263" y="3027278"/>
            <a:ext cx="133667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17" name="Text Box 26">
            <a:extLst>
              <a:ext uri="{FF2B5EF4-FFF2-40B4-BE49-F238E27FC236}">
                <a16:creationId xmlns:a16="http://schemas.microsoft.com/office/drawing/2014/main" id="{586EC85F-A228-4318-81B7-4059768D178D}"/>
              </a:ext>
            </a:extLst>
          </p:cNvPr>
          <p:cNvSpPr txBox="1">
            <a:spLocks noChangeArrowheads="1"/>
          </p:cNvSpPr>
          <p:nvPr/>
        </p:nvSpPr>
        <p:spPr bwMode="auto">
          <a:xfrm>
            <a:off x="6864351" y="2732003"/>
            <a:ext cx="1262062"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18" name="Text Box 26">
            <a:extLst>
              <a:ext uri="{FF2B5EF4-FFF2-40B4-BE49-F238E27FC236}">
                <a16:creationId xmlns:a16="http://schemas.microsoft.com/office/drawing/2014/main" id="{7A916B3F-13C9-45A2-BFDD-BF0E43F4CCFD}"/>
              </a:ext>
            </a:extLst>
          </p:cNvPr>
          <p:cNvSpPr txBox="1">
            <a:spLocks noChangeArrowheads="1"/>
          </p:cNvSpPr>
          <p:nvPr/>
        </p:nvSpPr>
        <p:spPr bwMode="auto">
          <a:xfrm>
            <a:off x="4139885" y="1389805"/>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4699"/>
                                        </p:tgtEl>
                                        <p:attrNameLst>
                                          <p:attrName>style.visibility</p:attrName>
                                        </p:attrNameLst>
                                      </p:cBhvr>
                                      <p:to>
                                        <p:strVal val="visible"/>
                                      </p:to>
                                    </p:set>
                                    <p:animEffect transition="in" filter="dissolve">
                                      <p:cBhvr>
                                        <p:cTn id="7" dur="500"/>
                                        <p:tgtEl>
                                          <p:spTgt spid="364699"/>
                                        </p:tgtEl>
                                      </p:cBhvr>
                                    </p:animEffect>
                                  </p:childTnLst>
                                </p:cTn>
                              </p:par>
                              <p:par>
                                <p:cTn id="8" presetID="9" presetClass="entr" presetSubtype="0" fill="hold" nodeType="withEffect">
                                  <p:stCondLst>
                                    <p:cond delay="0"/>
                                  </p:stCondLst>
                                  <p:childTnLst>
                                    <p:set>
                                      <p:cBhvr>
                                        <p:cTn id="9" dur="1" fill="hold">
                                          <p:stCondLst>
                                            <p:cond delay="0"/>
                                          </p:stCondLst>
                                        </p:cTn>
                                        <p:tgtEl>
                                          <p:spTgt spid="364700"/>
                                        </p:tgtEl>
                                        <p:attrNameLst>
                                          <p:attrName>style.visibility</p:attrName>
                                        </p:attrNameLst>
                                      </p:cBhvr>
                                      <p:to>
                                        <p:strVal val="visible"/>
                                      </p:to>
                                    </p:set>
                                    <p:animEffect transition="in" filter="dissolve">
                                      <p:cBhvr>
                                        <p:cTn id="10" dur="500"/>
                                        <p:tgtEl>
                                          <p:spTgt spid="364700"/>
                                        </p:tgtEl>
                                      </p:cBhvr>
                                    </p:animEffect>
                                  </p:childTnLst>
                                </p:cTn>
                              </p:par>
                              <p:par>
                                <p:cTn id="11" presetID="9" presetClass="entr" presetSubtype="0" fill="hold" nodeType="withEffect">
                                  <p:stCondLst>
                                    <p:cond delay="0"/>
                                  </p:stCondLst>
                                  <p:childTnLst>
                                    <p:set>
                                      <p:cBhvr>
                                        <p:cTn id="12" dur="1" fill="hold">
                                          <p:stCondLst>
                                            <p:cond delay="0"/>
                                          </p:stCondLst>
                                        </p:cTn>
                                        <p:tgtEl>
                                          <p:spTgt spid="364701"/>
                                        </p:tgtEl>
                                        <p:attrNameLst>
                                          <p:attrName>style.visibility</p:attrName>
                                        </p:attrNameLst>
                                      </p:cBhvr>
                                      <p:to>
                                        <p:strVal val="visible"/>
                                      </p:to>
                                    </p:set>
                                    <p:animEffect transition="in" filter="dissolve">
                                      <p:cBhvr>
                                        <p:cTn id="13" dur="500"/>
                                        <p:tgtEl>
                                          <p:spTgt spid="364701"/>
                                        </p:tgtEl>
                                      </p:cBhvr>
                                    </p:animEffect>
                                  </p:childTnLst>
                                </p:cTn>
                              </p:par>
                              <p:par>
                                <p:cTn id="14" presetID="9" presetClass="entr" presetSubtype="0" fill="hold" nodeType="withEffect">
                                  <p:stCondLst>
                                    <p:cond delay="0"/>
                                  </p:stCondLst>
                                  <p:childTnLst>
                                    <p:set>
                                      <p:cBhvr>
                                        <p:cTn id="15" dur="1" fill="hold">
                                          <p:stCondLst>
                                            <p:cond delay="0"/>
                                          </p:stCondLst>
                                        </p:cTn>
                                        <p:tgtEl>
                                          <p:spTgt spid="364702"/>
                                        </p:tgtEl>
                                        <p:attrNameLst>
                                          <p:attrName>style.visibility</p:attrName>
                                        </p:attrNameLst>
                                      </p:cBhvr>
                                      <p:to>
                                        <p:strVal val="visible"/>
                                      </p:to>
                                    </p:set>
                                    <p:animEffect transition="in" filter="dissolve">
                                      <p:cBhvr>
                                        <p:cTn id="16" dur="500"/>
                                        <p:tgtEl>
                                          <p:spTgt spid="364702"/>
                                        </p:tgtEl>
                                      </p:cBhvr>
                                    </p:animEffect>
                                  </p:childTnLst>
                                </p:cTn>
                              </p:par>
                              <p:par>
                                <p:cTn id="17" presetID="9" presetClass="entr" presetSubtype="0" fill="hold" nodeType="withEffect">
                                  <p:stCondLst>
                                    <p:cond delay="0"/>
                                  </p:stCondLst>
                                  <p:childTnLst>
                                    <p:set>
                                      <p:cBhvr>
                                        <p:cTn id="18" dur="1" fill="hold">
                                          <p:stCondLst>
                                            <p:cond delay="0"/>
                                          </p:stCondLst>
                                        </p:cTn>
                                        <p:tgtEl>
                                          <p:spTgt spid="149"/>
                                        </p:tgtEl>
                                        <p:attrNameLst>
                                          <p:attrName>style.visibility</p:attrName>
                                        </p:attrNameLst>
                                      </p:cBhvr>
                                      <p:to>
                                        <p:strVal val="visible"/>
                                      </p:to>
                                    </p:set>
                                    <p:animEffect transition="in" filter="dissolve">
                                      <p:cBhvr>
                                        <p:cTn id="19" dur="500"/>
                                        <p:tgtEl>
                                          <p:spTgt spid="149"/>
                                        </p:tgtEl>
                                      </p:cBhvr>
                                    </p:animEffect>
                                  </p:childTnLst>
                                </p:cTn>
                              </p:par>
                              <p:par>
                                <p:cTn id="20" presetID="9" presetClass="entr" presetSubtype="0" fill="hold" nodeType="withEffect">
                                  <p:stCondLst>
                                    <p:cond delay="0"/>
                                  </p:stCondLst>
                                  <p:childTnLst>
                                    <p:set>
                                      <p:cBhvr>
                                        <p:cTn id="21" dur="1" fill="hold">
                                          <p:stCondLst>
                                            <p:cond delay="0"/>
                                          </p:stCondLst>
                                        </p:cTn>
                                        <p:tgtEl>
                                          <p:spTgt spid="150"/>
                                        </p:tgtEl>
                                        <p:attrNameLst>
                                          <p:attrName>style.visibility</p:attrName>
                                        </p:attrNameLst>
                                      </p:cBhvr>
                                      <p:to>
                                        <p:strVal val="visible"/>
                                      </p:to>
                                    </p:set>
                                    <p:animEffect transition="in" filter="dissolve">
                                      <p:cBhvr>
                                        <p:cTn id="22" dur="500"/>
                                        <p:tgtEl>
                                          <p:spTgt spid="150"/>
                                        </p:tgtEl>
                                      </p:cBhvr>
                                    </p:animEffect>
                                  </p:childTnLst>
                                </p:cTn>
                              </p:par>
                              <p:par>
                                <p:cTn id="23" presetID="9" presetClass="entr" presetSubtype="0" fill="hold" nodeType="withEffect">
                                  <p:stCondLst>
                                    <p:cond delay="0"/>
                                  </p:stCondLst>
                                  <p:childTnLst>
                                    <p:set>
                                      <p:cBhvr>
                                        <p:cTn id="24" dur="1" fill="hold">
                                          <p:stCondLst>
                                            <p:cond delay="0"/>
                                          </p:stCondLst>
                                        </p:cTn>
                                        <p:tgtEl>
                                          <p:spTgt spid="151"/>
                                        </p:tgtEl>
                                        <p:attrNameLst>
                                          <p:attrName>style.visibility</p:attrName>
                                        </p:attrNameLst>
                                      </p:cBhvr>
                                      <p:to>
                                        <p:strVal val="visible"/>
                                      </p:to>
                                    </p:set>
                                    <p:animEffect transition="in" filter="dissolve">
                                      <p:cBhvr>
                                        <p:cTn id="25"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69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Freeform 5">
            <a:extLst>
              <a:ext uri="{FF2B5EF4-FFF2-40B4-BE49-F238E27FC236}">
                <a16:creationId xmlns:a16="http://schemas.microsoft.com/office/drawing/2014/main" id="{9B5B23A3-4DB1-45AD-AB5A-C70C4A670474}"/>
              </a:ext>
            </a:extLst>
          </p:cNvPr>
          <p:cNvSpPr>
            <a:spLocks/>
          </p:cNvSpPr>
          <p:nvPr/>
        </p:nvSpPr>
        <p:spPr bwMode="auto">
          <a:xfrm>
            <a:off x="2819400" y="1858710"/>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chemeClr val="bg1"/>
              </a:gs>
              <a:gs pos="100000">
                <a:schemeClr val="folHlink"/>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4" name="Freeform 6">
            <a:extLst>
              <a:ext uri="{FF2B5EF4-FFF2-40B4-BE49-F238E27FC236}">
                <a16:creationId xmlns:a16="http://schemas.microsoft.com/office/drawing/2014/main" id="{007C6700-6963-4D92-955D-2F27092597FB}"/>
              </a:ext>
            </a:extLst>
          </p:cNvPr>
          <p:cNvSpPr>
            <a:spLocks/>
          </p:cNvSpPr>
          <p:nvPr/>
        </p:nvSpPr>
        <p:spPr bwMode="auto">
          <a:xfrm>
            <a:off x="417513" y="2038098"/>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chemeClr val="bg1"/>
              </a:gs>
              <a:gs pos="100000">
                <a:schemeClr val="folHlink"/>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5" name="Rectangle 23">
            <a:extLst>
              <a:ext uri="{FF2B5EF4-FFF2-40B4-BE49-F238E27FC236}">
                <a16:creationId xmlns:a16="http://schemas.microsoft.com/office/drawing/2014/main" id="{2AE256D7-E42C-4047-8CEA-945EDDD5B917}"/>
              </a:ext>
            </a:extLst>
          </p:cNvPr>
          <p:cNvSpPr>
            <a:spLocks noChangeArrowheads="1"/>
          </p:cNvSpPr>
          <p:nvPr/>
        </p:nvSpPr>
        <p:spPr bwMode="auto">
          <a:xfrm>
            <a:off x="933450" y="2004760"/>
            <a:ext cx="1296988"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56" name="Rectangle 24">
            <a:extLst>
              <a:ext uri="{FF2B5EF4-FFF2-40B4-BE49-F238E27FC236}">
                <a16:creationId xmlns:a16="http://schemas.microsoft.com/office/drawing/2014/main" id="{D892F585-EC10-497D-AC08-A93508E98752}"/>
              </a:ext>
            </a:extLst>
          </p:cNvPr>
          <p:cNvSpPr>
            <a:spLocks noChangeArrowheads="1"/>
          </p:cNvSpPr>
          <p:nvPr/>
        </p:nvSpPr>
        <p:spPr bwMode="auto">
          <a:xfrm>
            <a:off x="895350" y="2058735"/>
            <a:ext cx="1273175" cy="1979613"/>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57" name="Line 25">
            <a:extLst>
              <a:ext uri="{FF2B5EF4-FFF2-40B4-BE49-F238E27FC236}">
                <a16:creationId xmlns:a16="http://schemas.microsoft.com/office/drawing/2014/main" id="{4C5C19CC-FC8C-4D1A-80D8-4102EC2E00EA}"/>
              </a:ext>
            </a:extLst>
          </p:cNvPr>
          <p:cNvSpPr>
            <a:spLocks noChangeShapeType="1"/>
          </p:cNvSpPr>
          <p:nvPr/>
        </p:nvSpPr>
        <p:spPr bwMode="auto">
          <a:xfrm>
            <a:off x="904875" y="281914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9" name="Line 27">
            <a:extLst>
              <a:ext uri="{FF2B5EF4-FFF2-40B4-BE49-F238E27FC236}">
                <a16:creationId xmlns:a16="http://schemas.microsoft.com/office/drawing/2014/main" id="{636DFFEB-45BA-47D2-8A44-8F2952391222}"/>
              </a:ext>
            </a:extLst>
          </p:cNvPr>
          <p:cNvSpPr>
            <a:spLocks noChangeShapeType="1"/>
          </p:cNvSpPr>
          <p:nvPr/>
        </p:nvSpPr>
        <p:spPr bwMode="auto">
          <a:xfrm>
            <a:off x="912813" y="313982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28">
            <a:extLst>
              <a:ext uri="{FF2B5EF4-FFF2-40B4-BE49-F238E27FC236}">
                <a16:creationId xmlns:a16="http://schemas.microsoft.com/office/drawing/2014/main" id="{6EC43D0E-D2DC-4A8B-8612-84C6F015011B}"/>
              </a:ext>
            </a:extLst>
          </p:cNvPr>
          <p:cNvSpPr>
            <a:spLocks noChangeShapeType="1"/>
          </p:cNvSpPr>
          <p:nvPr/>
        </p:nvSpPr>
        <p:spPr bwMode="auto">
          <a:xfrm>
            <a:off x="898525" y="344938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29">
            <a:extLst>
              <a:ext uri="{FF2B5EF4-FFF2-40B4-BE49-F238E27FC236}">
                <a16:creationId xmlns:a16="http://schemas.microsoft.com/office/drawing/2014/main" id="{ECC0B07B-2FD5-477F-B116-889AF83B0E77}"/>
              </a:ext>
            </a:extLst>
          </p:cNvPr>
          <p:cNvSpPr>
            <a:spLocks noChangeShapeType="1"/>
          </p:cNvSpPr>
          <p:nvPr/>
        </p:nvSpPr>
        <p:spPr bwMode="auto">
          <a:xfrm>
            <a:off x="898525" y="373513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Text Box 26">
            <a:extLst>
              <a:ext uri="{FF2B5EF4-FFF2-40B4-BE49-F238E27FC236}">
                <a16:creationId xmlns:a16="http://schemas.microsoft.com/office/drawing/2014/main" id="{EF667D04-68BB-4487-A06F-9BDB09EACBA2}"/>
              </a:ext>
            </a:extLst>
          </p:cNvPr>
          <p:cNvSpPr txBox="1">
            <a:spLocks noChangeArrowheads="1"/>
          </p:cNvSpPr>
          <p:nvPr/>
        </p:nvSpPr>
        <p:spPr bwMode="auto">
          <a:xfrm>
            <a:off x="896938" y="2049210"/>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
        <p:nvSpPr>
          <p:cNvPr id="13331" name="Oval 19">
            <a:extLst>
              <a:ext uri="{FF2B5EF4-FFF2-40B4-BE49-F238E27FC236}">
                <a16:creationId xmlns:a16="http://schemas.microsoft.com/office/drawing/2014/main" id="{67FA5031-3454-4B67-AA70-457F448D2DC7}"/>
              </a:ext>
            </a:extLst>
          </p:cNvPr>
          <p:cNvSpPr>
            <a:spLocks noChangeArrowheads="1"/>
          </p:cNvSpPr>
          <p:nvPr/>
        </p:nvSpPr>
        <p:spPr bwMode="auto">
          <a:xfrm>
            <a:off x="1231900" y="2334960"/>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dirty="0">
                <a:latin typeface="Arial" charset="0"/>
                <a:ea typeface="ＭＳ Ｐゴシック" charset="0"/>
              </a:rPr>
              <a:t>P</a:t>
            </a:r>
            <a:r>
              <a:rPr lang="en-US" altLang="zh-CN" dirty="0">
                <a:latin typeface="Arial" charset="0"/>
                <a:ea typeface="ＭＳ Ｐゴシック" charset="0"/>
              </a:rPr>
              <a:t>1</a:t>
            </a:r>
            <a:endParaRPr lang="en-US" dirty="0">
              <a:latin typeface="Arial" charset="0"/>
              <a:ea typeface="ＭＳ Ｐゴシック" charset="0"/>
            </a:endParaRPr>
          </a:p>
        </p:txBody>
      </p:sp>
      <p:grpSp>
        <p:nvGrpSpPr>
          <p:cNvPr id="27667" name="Group 20">
            <a:extLst>
              <a:ext uri="{FF2B5EF4-FFF2-40B4-BE49-F238E27FC236}">
                <a16:creationId xmlns:a16="http://schemas.microsoft.com/office/drawing/2014/main" id="{313DF725-4439-4F78-A6E9-64EE3CAB90A5}"/>
              </a:ext>
            </a:extLst>
          </p:cNvPr>
          <p:cNvGrpSpPr>
            <a:grpSpLocks/>
          </p:cNvGrpSpPr>
          <p:nvPr/>
        </p:nvGrpSpPr>
        <p:grpSpPr bwMode="auto">
          <a:xfrm>
            <a:off x="1200150" y="2658810"/>
            <a:ext cx="620713" cy="228600"/>
            <a:chOff x="1287" y="2524"/>
            <a:chExt cx="260" cy="100"/>
          </a:xfrm>
        </p:grpSpPr>
        <p:sp>
          <p:nvSpPr>
            <p:cNvPr id="13451" name="Rectangle 21">
              <a:extLst>
                <a:ext uri="{FF2B5EF4-FFF2-40B4-BE49-F238E27FC236}">
                  <a16:creationId xmlns:a16="http://schemas.microsoft.com/office/drawing/2014/main" id="{2F2DA872-1341-4077-83EA-20C6E3215BF0}"/>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2" name="Rectangle 22">
              <a:extLst>
                <a:ext uri="{FF2B5EF4-FFF2-40B4-BE49-F238E27FC236}">
                  <a16:creationId xmlns:a16="http://schemas.microsoft.com/office/drawing/2014/main" id="{360EDF1A-EE5D-4AFE-A0A6-22C635E69D4E}"/>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3" name="Rectangle 23">
              <a:extLst>
                <a:ext uri="{FF2B5EF4-FFF2-40B4-BE49-F238E27FC236}">
                  <a16:creationId xmlns:a16="http://schemas.microsoft.com/office/drawing/2014/main" id="{2F644DC4-974C-4B8A-9A8E-566B5A40D52E}"/>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54" name="Rectangle 24">
              <a:extLst>
                <a:ext uri="{FF2B5EF4-FFF2-40B4-BE49-F238E27FC236}">
                  <a16:creationId xmlns:a16="http://schemas.microsoft.com/office/drawing/2014/main" id="{C1A8D3C6-1C02-494A-9DE0-F2790F6B5AB6}"/>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7668" name="Rectangle 23">
            <a:extLst>
              <a:ext uri="{FF2B5EF4-FFF2-40B4-BE49-F238E27FC236}">
                <a16:creationId xmlns:a16="http://schemas.microsoft.com/office/drawing/2014/main" id="{29B570B9-F0EB-48E1-AFE5-D94541892D36}"/>
              </a:ext>
            </a:extLst>
          </p:cNvPr>
          <p:cNvSpPr>
            <a:spLocks noChangeArrowheads="1"/>
          </p:cNvSpPr>
          <p:nvPr/>
        </p:nvSpPr>
        <p:spPr bwMode="auto">
          <a:xfrm>
            <a:off x="3432175" y="1771398"/>
            <a:ext cx="2254250"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69" name="Rectangle 24">
            <a:extLst>
              <a:ext uri="{FF2B5EF4-FFF2-40B4-BE49-F238E27FC236}">
                <a16:creationId xmlns:a16="http://schemas.microsoft.com/office/drawing/2014/main" id="{6D526E0E-BD7B-4A58-BD0D-0D53A53AF3A8}"/>
              </a:ext>
            </a:extLst>
          </p:cNvPr>
          <p:cNvSpPr>
            <a:spLocks noChangeArrowheads="1"/>
          </p:cNvSpPr>
          <p:nvPr/>
        </p:nvSpPr>
        <p:spPr bwMode="auto">
          <a:xfrm>
            <a:off x="3378200" y="1849185"/>
            <a:ext cx="2225675" cy="1979613"/>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75" name="Rectangle 23">
            <a:extLst>
              <a:ext uri="{FF2B5EF4-FFF2-40B4-BE49-F238E27FC236}">
                <a16:creationId xmlns:a16="http://schemas.microsoft.com/office/drawing/2014/main" id="{5181615E-4BA8-44A7-8C0E-823ADF843F75}"/>
              </a:ext>
            </a:extLst>
          </p:cNvPr>
          <p:cNvSpPr>
            <a:spLocks noChangeArrowheads="1"/>
          </p:cNvSpPr>
          <p:nvPr/>
        </p:nvSpPr>
        <p:spPr bwMode="auto">
          <a:xfrm>
            <a:off x="6567488" y="1996823"/>
            <a:ext cx="1296987" cy="19812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27676" name="Rectangle 24">
            <a:extLst>
              <a:ext uri="{FF2B5EF4-FFF2-40B4-BE49-F238E27FC236}">
                <a16:creationId xmlns:a16="http://schemas.microsoft.com/office/drawing/2014/main" id="{4B93EF51-E980-4EF4-853B-094B189AD849}"/>
              </a:ext>
            </a:extLst>
          </p:cNvPr>
          <p:cNvSpPr>
            <a:spLocks noChangeArrowheads="1"/>
          </p:cNvSpPr>
          <p:nvPr/>
        </p:nvSpPr>
        <p:spPr bwMode="auto">
          <a:xfrm>
            <a:off x="6370638" y="2038098"/>
            <a:ext cx="1631950" cy="1979612"/>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endParaRPr>
          </a:p>
        </p:txBody>
      </p:sp>
      <p:sp>
        <p:nvSpPr>
          <p:cNvPr id="13347" name="Oval 53">
            <a:extLst>
              <a:ext uri="{FF2B5EF4-FFF2-40B4-BE49-F238E27FC236}">
                <a16:creationId xmlns:a16="http://schemas.microsoft.com/office/drawing/2014/main" id="{75954533-8EBF-4B72-A212-11B7F46B1463}"/>
              </a:ext>
            </a:extLst>
          </p:cNvPr>
          <p:cNvSpPr>
            <a:spLocks noChangeArrowheads="1"/>
          </p:cNvSpPr>
          <p:nvPr/>
        </p:nvSpPr>
        <p:spPr bwMode="auto">
          <a:xfrm>
            <a:off x="6451600" y="2334960"/>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P2</a:t>
            </a:r>
          </a:p>
        </p:txBody>
      </p:sp>
      <p:sp>
        <p:nvSpPr>
          <p:cNvPr id="27683" name="Freeform 54">
            <a:extLst>
              <a:ext uri="{FF2B5EF4-FFF2-40B4-BE49-F238E27FC236}">
                <a16:creationId xmlns:a16="http://schemas.microsoft.com/office/drawing/2014/main" id="{637B1676-9418-4018-89E4-8FFE0E1863EC}"/>
              </a:ext>
            </a:extLst>
          </p:cNvPr>
          <p:cNvSpPr>
            <a:spLocks/>
          </p:cNvSpPr>
          <p:nvPr/>
        </p:nvSpPr>
        <p:spPr bwMode="auto">
          <a:xfrm>
            <a:off x="8026400" y="2017460"/>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684" name="Group 76">
            <a:extLst>
              <a:ext uri="{FF2B5EF4-FFF2-40B4-BE49-F238E27FC236}">
                <a16:creationId xmlns:a16="http://schemas.microsoft.com/office/drawing/2014/main" id="{F1C9C027-C96B-4922-BE32-6DA470348C6A}"/>
              </a:ext>
            </a:extLst>
          </p:cNvPr>
          <p:cNvGrpSpPr>
            <a:grpSpLocks/>
          </p:cNvGrpSpPr>
          <p:nvPr/>
        </p:nvGrpSpPr>
        <p:grpSpPr bwMode="auto">
          <a:xfrm>
            <a:off x="2152650" y="5263894"/>
            <a:ext cx="2152651" cy="657224"/>
            <a:chOff x="1291" y="3697"/>
            <a:chExt cx="1356" cy="414"/>
          </a:xfrm>
        </p:grpSpPr>
        <p:sp>
          <p:nvSpPr>
            <p:cNvPr id="13448" name="Rectangle 77">
              <a:extLst>
                <a:ext uri="{FF2B5EF4-FFF2-40B4-BE49-F238E27FC236}">
                  <a16:creationId xmlns:a16="http://schemas.microsoft.com/office/drawing/2014/main" id="{8F044E02-E181-46ED-A47F-DF70F30EB785}"/>
                </a:ext>
              </a:extLst>
            </p:cNvPr>
            <p:cNvSpPr>
              <a:spLocks noChangeArrowheads="1"/>
            </p:cNvSpPr>
            <p:nvPr/>
          </p:nvSpPr>
          <p:spPr bwMode="auto">
            <a:xfrm>
              <a:off x="1553" y="3697"/>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9" name="Line 78">
              <a:extLst>
                <a:ext uri="{FF2B5EF4-FFF2-40B4-BE49-F238E27FC236}">
                  <a16:creationId xmlns:a16="http://schemas.microsoft.com/office/drawing/2014/main" id="{C968116A-9D23-4A81-8308-A72209B50C2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50" name="Text Box 79">
              <a:extLst>
                <a:ext uri="{FF2B5EF4-FFF2-40B4-BE49-F238E27FC236}">
                  <a16:creationId xmlns:a16="http://schemas.microsoft.com/office/drawing/2014/main" id="{EEC59629-DD05-4198-935A-2CE70702A0E2}"/>
                </a:ext>
              </a:extLst>
            </p:cNvPr>
            <p:cNvSpPr txBox="1">
              <a:spLocks noChangeArrowheads="1"/>
            </p:cNvSpPr>
            <p:nvPr/>
          </p:nvSpPr>
          <p:spPr bwMode="auto">
            <a:xfrm>
              <a:off x="1291" y="3822"/>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A</a:t>
              </a:r>
              <a:r>
                <a:rPr lang="en-US" altLang="zh-CN" sz="1400" dirty="0"/>
                <a:t>, </a:t>
              </a:r>
              <a:r>
                <a:rPr lang="zh-CN" altLang="en-US" sz="1400" dirty="0"/>
                <a:t>源端口</a:t>
              </a:r>
              <a:r>
                <a:rPr lang="en-US" altLang="zh-CN" sz="1400" dirty="0"/>
                <a:t>:</a:t>
              </a:r>
              <a:r>
                <a:rPr lang="en-US" altLang="zh-CN" sz="1400" b="1" dirty="0">
                  <a:solidFill>
                    <a:srgbClr val="C00000"/>
                  </a:solidFill>
                </a:rPr>
                <a:t>9175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grpSp>
        <p:nvGrpSpPr>
          <p:cNvPr id="27685" name="Group 80">
            <a:extLst>
              <a:ext uri="{FF2B5EF4-FFF2-40B4-BE49-F238E27FC236}">
                <a16:creationId xmlns:a16="http://schemas.microsoft.com/office/drawing/2014/main" id="{454D73FB-6E15-4FAD-8D72-D30F5AAAEF51}"/>
              </a:ext>
            </a:extLst>
          </p:cNvPr>
          <p:cNvGrpSpPr>
            <a:grpSpLocks/>
          </p:cNvGrpSpPr>
          <p:nvPr/>
        </p:nvGrpSpPr>
        <p:grpSpPr bwMode="auto">
          <a:xfrm>
            <a:off x="1666885" y="4573339"/>
            <a:ext cx="2463805" cy="657226"/>
            <a:chOff x="2741" y="3750"/>
            <a:chExt cx="1552" cy="414"/>
          </a:xfrm>
        </p:grpSpPr>
        <p:sp>
          <p:nvSpPr>
            <p:cNvPr id="13445" name="Rectangle 81">
              <a:extLst>
                <a:ext uri="{FF2B5EF4-FFF2-40B4-BE49-F238E27FC236}">
                  <a16:creationId xmlns:a16="http://schemas.microsoft.com/office/drawing/2014/main" id="{C9567197-A740-41B5-8324-54DE3E23929A}"/>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6" name="Line 82">
              <a:extLst>
                <a:ext uri="{FF2B5EF4-FFF2-40B4-BE49-F238E27FC236}">
                  <a16:creationId xmlns:a16="http://schemas.microsoft.com/office/drawing/2014/main" id="{9BC9C685-7EC3-4234-A685-043EB441CD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47" name="Text Box 83">
              <a:extLst>
                <a:ext uri="{FF2B5EF4-FFF2-40B4-BE49-F238E27FC236}">
                  <a16:creationId xmlns:a16="http://schemas.microsoft.com/office/drawing/2014/main" id="{01D81FE8-B049-4299-A8B3-DD1511CCC601}"/>
                </a:ext>
              </a:extLst>
            </p:cNvPr>
            <p:cNvSpPr txBox="1">
              <a:spLocks noChangeArrowheads="1"/>
            </p:cNvSpPr>
            <p:nvPr/>
          </p:nvSpPr>
          <p:spPr bwMode="auto">
            <a:xfrm>
              <a:off x="2813" y="3875"/>
              <a:ext cx="1480"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lnSpc>
                  <a:spcPct val="85000"/>
                </a:lnSpc>
                <a:defRPr/>
              </a:pPr>
              <a:r>
                <a:rPr lang="zh-CN" altLang="en-US" sz="1400" dirty="0"/>
                <a:t>源</a:t>
              </a:r>
              <a:r>
                <a:rPr lang="en-US" sz="1400" dirty="0"/>
                <a:t>IP:</a:t>
              </a:r>
              <a:r>
                <a:rPr lang="en-US" altLang="zh-CN" sz="1400" dirty="0"/>
                <a:t>IP</a:t>
              </a:r>
              <a:r>
                <a:rPr lang="en-US" altLang="zh-CN" sz="1400" baseline="-25000" dirty="0"/>
                <a:t>S</a:t>
              </a:r>
              <a:r>
                <a:rPr lang="en-US" sz="1400" dirty="0"/>
                <a:t>, </a:t>
              </a:r>
              <a:r>
                <a:rPr lang="zh-CN" altLang="en-US" sz="1400" dirty="0"/>
                <a:t>源端口</a:t>
              </a:r>
              <a:r>
                <a:rPr lang="en-US" altLang="zh-CN" sz="1400" dirty="0"/>
                <a:t>:</a:t>
              </a:r>
              <a:r>
                <a:rPr lang="en-US" sz="1400" dirty="0"/>
                <a:t>80</a:t>
              </a:r>
            </a:p>
            <a:p>
              <a:pPr>
                <a:lnSpc>
                  <a:spcPct val="85000"/>
                </a:lnSpc>
                <a:defRPr/>
              </a:pPr>
              <a:r>
                <a:rPr lang="zh-CN" altLang="en-US" sz="1400" dirty="0"/>
                <a:t>目的</a:t>
              </a:r>
              <a:r>
                <a:rPr lang="en-US" altLang="zh-CN" sz="1400" dirty="0"/>
                <a:t>IP:IP</a:t>
              </a:r>
              <a:r>
                <a:rPr lang="en-US" altLang="zh-CN" sz="1400" baseline="-25000" dirty="0"/>
                <a:t>A</a:t>
              </a:r>
              <a:r>
                <a:rPr lang="en-US" altLang="zh-CN" sz="1400" dirty="0"/>
                <a:t>, </a:t>
              </a:r>
              <a:r>
                <a:rPr lang="zh-CN" altLang="en-US" sz="1400" dirty="0"/>
                <a:t>目的端口</a:t>
              </a:r>
              <a:r>
                <a:rPr lang="en-US" altLang="zh-CN" sz="1400" dirty="0"/>
                <a:t>: 9175</a:t>
              </a:r>
            </a:p>
          </p:txBody>
        </p:sp>
      </p:grpSp>
      <p:sp>
        <p:nvSpPr>
          <p:cNvPr id="13351" name="Text Box 93">
            <a:extLst>
              <a:ext uri="{FF2B5EF4-FFF2-40B4-BE49-F238E27FC236}">
                <a16:creationId xmlns:a16="http://schemas.microsoft.com/office/drawing/2014/main" id="{50D9ED0E-70B2-4127-AF6D-5706DBD70602}"/>
              </a:ext>
            </a:extLst>
          </p:cNvPr>
          <p:cNvSpPr txBox="1">
            <a:spLocks noChangeArrowheads="1"/>
          </p:cNvSpPr>
          <p:nvPr/>
        </p:nvSpPr>
        <p:spPr bwMode="auto">
          <a:xfrm flipH="1">
            <a:off x="935831" y="1654252"/>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0000"/>
              </a:lnSpc>
              <a:defRPr/>
            </a:pPr>
            <a:r>
              <a:rPr lang="zh-CN" altLang="en-US" sz="1800" dirty="0">
                <a:latin typeface="Gill Sans MT" charset="0"/>
              </a:rPr>
              <a:t>主机</a:t>
            </a:r>
            <a:r>
              <a:rPr lang="en-US" altLang="zh-CN" sz="1800" dirty="0">
                <a:latin typeface="Gill Sans MT" charset="0"/>
              </a:rPr>
              <a:t>A</a:t>
            </a:r>
            <a:r>
              <a:rPr lang="en-US" sz="1800" dirty="0">
                <a:latin typeface="Gill Sans MT" charset="0"/>
              </a:rPr>
              <a:t>: IP</a:t>
            </a:r>
            <a:r>
              <a:rPr lang="en-US" altLang="zh-CN" sz="1800" baseline="-25000" dirty="0">
                <a:latin typeface="Gill Sans MT" charset="0"/>
              </a:rPr>
              <a:t>A</a:t>
            </a:r>
            <a:endParaRPr lang="en-US" sz="1800" baseline="-25000" dirty="0">
              <a:latin typeface="Gill Sans MT" charset="0"/>
            </a:endParaRPr>
          </a:p>
        </p:txBody>
      </p:sp>
      <p:sp>
        <p:nvSpPr>
          <p:cNvPr id="13353" name="Line 96">
            <a:extLst>
              <a:ext uri="{FF2B5EF4-FFF2-40B4-BE49-F238E27FC236}">
                <a16:creationId xmlns:a16="http://schemas.microsoft.com/office/drawing/2014/main" id="{FE97E696-15EE-4624-87B5-9753AAC4811C}"/>
              </a:ext>
            </a:extLst>
          </p:cNvPr>
          <p:cNvSpPr>
            <a:spLocks noChangeShapeType="1"/>
          </p:cNvSpPr>
          <p:nvPr/>
        </p:nvSpPr>
        <p:spPr bwMode="auto">
          <a:xfrm>
            <a:off x="3354388" y="3525585"/>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4" name="Line 97">
            <a:extLst>
              <a:ext uri="{FF2B5EF4-FFF2-40B4-BE49-F238E27FC236}">
                <a16:creationId xmlns:a16="http://schemas.microsoft.com/office/drawing/2014/main" id="{8C30A4D3-DD97-44DE-9A97-4A75398ABEA5}"/>
              </a:ext>
            </a:extLst>
          </p:cNvPr>
          <p:cNvSpPr>
            <a:spLocks noChangeShapeType="1"/>
          </p:cNvSpPr>
          <p:nvPr/>
        </p:nvSpPr>
        <p:spPr bwMode="auto">
          <a:xfrm>
            <a:off x="3370263" y="3223960"/>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6" name="Line 99">
            <a:extLst>
              <a:ext uri="{FF2B5EF4-FFF2-40B4-BE49-F238E27FC236}">
                <a16:creationId xmlns:a16="http://schemas.microsoft.com/office/drawing/2014/main" id="{984A8C44-457E-4956-B653-0C23C116E383}"/>
              </a:ext>
            </a:extLst>
          </p:cNvPr>
          <p:cNvSpPr>
            <a:spLocks noChangeShapeType="1"/>
          </p:cNvSpPr>
          <p:nvPr/>
        </p:nvSpPr>
        <p:spPr bwMode="auto">
          <a:xfrm>
            <a:off x="3373438" y="2901698"/>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57" name="Line 100">
            <a:extLst>
              <a:ext uri="{FF2B5EF4-FFF2-40B4-BE49-F238E27FC236}">
                <a16:creationId xmlns:a16="http://schemas.microsoft.com/office/drawing/2014/main" id="{096D12FD-6991-42E6-9AC2-FE6165E9BA46}"/>
              </a:ext>
            </a:extLst>
          </p:cNvPr>
          <p:cNvSpPr>
            <a:spLocks noChangeShapeType="1"/>
          </p:cNvSpPr>
          <p:nvPr/>
        </p:nvSpPr>
        <p:spPr bwMode="auto">
          <a:xfrm>
            <a:off x="3376613" y="2579435"/>
            <a:ext cx="223361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693" name="Group 101">
            <a:extLst>
              <a:ext uri="{FF2B5EF4-FFF2-40B4-BE49-F238E27FC236}">
                <a16:creationId xmlns:a16="http://schemas.microsoft.com/office/drawing/2014/main" id="{BABA1928-0EE5-482D-904A-4E161D719FAC}"/>
              </a:ext>
            </a:extLst>
          </p:cNvPr>
          <p:cNvGrpSpPr>
            <a:grpSpLocks/>
          </p:cNvGrpSpPr>
          <p:nvPr/>
        </p:nvGrpSpPr>
        <p:grpSpPr bwMode="auto">
          <a:xfrm>
            <a:off x="3552825" y="2441323"/>
            <a:ext cx="473075" cy="228600"/>
            <a:chOff x="1287" y="2524"/>
            <a:chExt cx="260" cy="100"/>
          </a:xfrm>
        </p:grpSpPr>
        <p:sp>
          <p:nvSpPr>
            <p:cNvPr id="13441" name="Rectangle 102">
              <a:extLst>
                <a:ext uri="{FF2B5EF4-FFF2-40B4-BE49-F238E27FC236}">
                  <a16:creationId xmlns:a16="http://schemas.microsoft.com/office/drawing/2014/main" id="{A6AB17F7-7AF3-4360-894F-BA8F50430AA9}"/>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2" name="Rectangle 103">
              <a:extLst>
                <a:ext uri="{FF2B5EF4-FFF2-40B4-BE49-F238E27FC236}">
                  <a16:creationId xmlns:a16="http://schemas.microsoft.com/office/drawing/2014/main" id="{D7A0E783-FA06-479D-8118-40AE5BE9EB04}"/>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3" name="Rectangle 104">
              <a:extLst>
                <a:ext uri="{FF2B5EF4-FFF2-40B4-BE49-F238E27FC236}">
                  <a16:creationId xmlns:a16="http://schemas.microsoft.com/office/drawing/2014/main" id="{D72C0B12-06F7-4ABD-A71A-49E43195E179}"/>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4" name="Rectangle 105">
              <a:extLst>
                <a:ext uri="{FF2B5EF4-FFF2-40B4-BE49-F238E27FC236}">
                  <a16:creationId xmlns:a16="http://schemas.microsoft.com/office/drawing/2014/main" id="{AA8FE7D8-89A3-4076-B2DA-17674DDAF43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696" name="Group 118">
            <a:extLst>
              <a:ext uri="{FF2B5EF4-FFF2-40B4-BE49-F238E27FC236}">
                <a16:creationId xmlns:a16="http://schemas.microsoft.com/office/drawing/2014/main" id="{3EDCEA1A-ACEA-4DCF-BEA9-7FA824262EA0}"/>
              </a:ext>
            </a:extLst>
          </p:cNvPr>
          <p:cNvGrpSpPr>
            <a:grpSpLocks/>
          </p:cNvGrpSpPr>
          <p:nvPr/>
        </p:nvGrpSpPr>
        <p:grpSpPr bwMode="auto">
          <a:xfrm>
            <a:off x="4257675" y="2446085"/>
            <a:ext cx="473075" cy="228600"/>
            <a:chOff x="1287" y="2524"/>
            <a:chExt cx="260" cy="100"/>
          </a:xfrm>
        </p:grpSpPr>
        <p:sp>
          <p:nvSpPr>
            <p:cNvPr id="13437" name="Rectangle 119">
              <a:extLst>
                <a:ext uri="{FF2B5EF4-FFF2-40B4-BE49-F238E27FC236}">
                  <a16:creationId xmlns:a16="http://schemas.microsoft.com/office/drawing/2014/main" id="{1116D40B-CE8E-4899-A3EA-0C66238F36B9}"/>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8" name="Rectangle 120">
              <a:extLst>
                <a:ext uri="{FF2B5EF4-FFF2-40B4-BE49-F238E27FC236}">
                  <a16:creationId xmlns:a16="http://schemas.microsoft.com/office/drawing/2014/main" id="{0B179E44-F6A9-4474-9343-5C09732D58E4}"/>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9" name="Rectangle 121">
              <a:extLst>
                <a:ext uri="{FF2B5EF4-FFF2-40B4-BE49-F238E27FC236}">
                  <a16:creationId xmlns:a16="http://schemas.microsoft.com/office/drawing/2014/main" id="{B95E4C2F-BF3D-454C-92D3-2591D98027DD}"/>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40" name="Rectangle 122">
              <a:extLst>
                <a:ext uri="{FF2B5EF4-FFF2-40B4-BE49-F238E27FC236}">
                  <a16:creationId xmlns:a16="http://schemas.microsoft.com/office/drawing/2014/main" id="{E45F8ACF-39BB-4CC4-B74F-A959D0A34AE9}"/>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697" name="Group 123">
            <a:extLst>
              <a:ext uri="{FF2B5EF4-FFF2-40B4-BE49-F238E27FC236}">
                <a16:creationId xmlns:a16="http://schemas.microsoft.com/office/drawing/2014/main" id="{EC62FFE8-297D-4FC0-985C-62A460A1F355}"/>
              </a:ext>
            </a:extLst>
          </p:cNvPr>
          <p:cNvGrpSpPr>
            <a:grpSpLocks/>
          </p:cNvGrpSpPr>
          <p:nvPr/>
        </p:nvGrpSpPr>
        <p:grpSpPr bwMode="auto">
          <a:xfrm>
            <a:off x="4929188" y="2450848"/>
            <a:ext cx="473075" cy="228600"/>
            <a:chOff x="1287" y="2524"/>
            <a:chExt cx="260" cy="100"/>
          </a:xfrm>
        </p:grpSpPr>
        <p:sp>
          <p:nvSpPr>
            <p:cNvPr id="13433" name="Rectangle 124">
              <a:extLst>
                <a:ext uri="{FF2B5EF4-FFF2-40B4-BE49-F238E27FC236}">
                  <a16:creationId xmlns:a16="http://schemas.microsoft.com/office/drawing/2014/main" id="{A70E65A3-6824-48BB-BDD8-31659D15601B}"/>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4" name="Rectangle 125">
              <a:extLst>
                <a:ext uri="{FF2B5EF4-FFF2-40B4-BE49-F238E27FC236}">
                  <a16:creationId xmlns:a16="http://schemas.microsoft.com/office/drawing/2014/main" id="{45916073-4E67-4EC9-96F2-B3576F63495C}"/>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5" name="Rectangle 126">
              <a:extLst>
                <a:ext uri="{FF2B5EF4-FFF2-40B4-BE49-F238E27FC236}">
                  <a16:creationId xmlns:a16="http://schemas.microsoft.com/office/drawing/2014/main" id="{8E2D108E-ECA1-4443-95A5-1A1083EE38C4}"/>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6" name="Rectangle 127">
              <a:extLst>
                <a:ext uri="{FF2B5EF4-FFF2-40B4-BE49-F238E27FC236}">
                  <a16:creationId xmlns:a16="http://schemas.microsoft.com/office/drawing/2014/main" id="{B50F0983-8CA6-41CD-A606-0F2BECEFE5A0}"/>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63" name="Line 133">
            <a:extLst>
              <a:ext uri="{FF2B5EF4-FFF2-40B4-BE49-F238E27FC236}">
                <a16:creationId xmlns:a16="http://schemas.microsoft.com/office/drawing/2014/main" id="{7331D56F-95DC-4983-ACC3-C631DE49D1C1}"/>
              </a:ext>
            </a:extLst>
          </p:cNvPr>
          <p:cNvSpPr>
            <a:spLocks noChangeShapeType="1"/>
          </p:cNvSpPr>
          <p:nvPr/>
        </p:nvSpPr>
        <p:spPr bwMode="auto">
          <a:xfrm>
            <a:off x="6362700" y="3741485"/>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4" name="Line 134">
            <a:extLst>
              <a:ext uri="{FF2B5EF4-FFF2-40B4-BE49-F238E27FC236}">
                <a16:creationId xmlns:a16="http://schemas.microsoft.com/office/drawing/2014/main" id="{86B0942A-9813-4B5F-AD71-E03AB5DBAFA9}"/>
              </a:ext>
            </a:extLst>
          </p:cNvPr>
          <p:cNvSpPr>
            <a:spLocks noChangeShapeType="1"/>
          </p:cNvSpPr>
          <p:nvPr/>
        </p:nvSpPr>
        <p:spPr bwMode="auto">
          <a:xfrm>
            <a:off x="6353175" y="3446210"/>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5" name="Line 135">
            <a:extLst>
              <a:ext uri="{FF2B5EF4-FFF2-40B4-BE49-F238E27FC236}">
                <a16:creationId xmlns:a16="http://schemas.microsoft.com/office/drawing/2014/main" id="{02E7AB28-E4ED-419B-8DDE-E427DF61C06F}"/>
              </a:ext>
            </a:extLst>
          </p:cNvPr>
          <p:cNvSpPr>
            <a:spLocks noChangeShapeType="1"/>
          </p:cNvSpPr>
          <p:nvPr/>
        </p:nvSpPr>
        <p:spPr bwMode="auto">
          <a:xfrm>
            <a:off x="6353175" y="3150935"/>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366" name="Line 136">
            <a:extLst>
              <a:ext uri="{FF2B5EF4-FFF2-40B4-BE49-F238E27FC236}">
                <a16:creationId xmlns:a16="http://schemas.microsoft.com/office/drawing/2014/main" id="{BBEFF7CD-AB9D-490F-AAFF-130C185DBA63}"/>
              </a:ext>
            </a:extLst>
          </p:cNvPr>
          <p:cNvSpPr>
            <a:spLocks noChangeShapeType="1"/>
          </p:cNvSpPr>
          <p:nvPr/>
        </p:nvSpPr>
        <p:spPr bwMode="auto">
          <a:xfrm>
            <a:off x="6353175" y="2846135"/>
            <a:ext cx="163830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702" name="Group 128">
            <a:extLst>
              <a:ext uri="{FF2B5EF4-FFF2-40B4-BE49-F238E27FC236}">
                <a16:creationId xmlns:a16="http://schemas.microsoft.com/office/drawing/2014/main" id="{3417058B-3262-4D35-812D-7B8F9E4D3018}"/>
              </a:ext>
            </a:extLst>
          </p:cNvPr>
          <p:cNvGrpSpPr>
            <a:grpSpLocks/>
          </p:cNvGrpSpPr>
          <p:nvPr/>
        </p:nvGrpSpPr>
        <p:grpSpPr bwMode="auto">
          <a:xfrm>
            <a:off x="6505575" y="2673098"/>
            <a:ext cx="473075" cy="228600"/>
            <a:chOff x="1287" y="2524"/>
            <a:chExt cx="260" cy="100"/>
          </a:xfrm>
        </p:grpSpPr>
        <p:sp>
          <p:nvSpPr>
            <p:cNvPr id="13429" name="Rectangle 129">
              <a:extLst>
                <a:ext uri="{FF2B5EF4-FFF2-40B4-BE49-F238E27FC236}">
                  <a16:creationId xmlns:a16="http://schemas.microsoft.com/office/drawing/2014/main" id="{CC85F40D-686B-4007-AB05-F505764617C5}"/>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0" name="Rectangle 130">
              <a:extLst>
                <a:ext uri="{FF2B5EF4-FFF2-40B4-BE49-F238E27FC236}">
                  <a16:creationId xmlns:a16="http://schemas.microsoft.com/office/drawing/2014/main" id="{30AF3E18-6B4A-4578-9C91-8EBD52CB875D}"/>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1" name="Rectangle 131">
              <a:extLst>
                <a:ext uri="{FF2B5EF4-FFF2-40B4-BE49-F238E27FC236}">
                  <a16:creationId xmlns:a16="http://schemas.microsoft.com/office/drawing/2014/main" id="{1172B0DD-3999-445E-AD2E-ED68F6A7C61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32" name="Rectangle 132">
              <a:extLst>
                <a:ext uri="{FF2B5EF4-FFF2-40B4-BE49-F238E27FC236}">
                  <a16:creationId xmlns:a16="http://schemas.microsoft.com/office/drawing/2014/main" id="{9C8C2BF3-95A5-41E8-A83E-8CEC219AC52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703" name="Group 137">
            <a:extLst>
              <a:ext uri="{FF2B5EF4-FFF2-40B4-BE49-F238E27FC236}">
                <a16:creationId xmlns:a16="http://schemas.microsoft.com/office/drawing/2014/main" id="{5FF76AD3-0517-4E3C-90B6-5D47BE730220}"/>
              </a:ext>
            </a:extLst>
          </p:cNvPr>
          <p:cNvGrpSpPr>
            <a:grpSpLocks/>
          </p:cNvGrpSpPr>
          <p:nvPr/>
        </p:nvGrpSpPr>
        <p:grpSpPr bwMode="auto">
          <a:xfrm>
            <a:off x="7300913" y="2663573"/>
            <a:ext cx="473075" cy="228600"/>
            <a:chOff x="1287" y="2524"/>
            <a:chExt cx="260" cy="100"/>
          </a:xfrm>
        </p:grpSpPr>
        <p:sp>
          <p:nvSpPr>
            <p:cNvPr id="13425" name="Rectangle 138">
              <a:extLst>
                <a:ext uri="{FF2B5EF4-FFF2-40B4-BE49-F238E27FC236}">
                  <a16:creationId xmlns:a16="http://schemas.microsoft.com/office/drawing/2014/main" id="{5FBDB063-9D86-4131-BD66-8E7B34B073D3}"/>
                </a:ext>
              </a:extLst>
            </p:cNvPr>
            <p:cNvSpPr>
              <a:spLocks noChangeArrowheads="1"/>
            </p:cNvSpPr>
            <p:nvPr/>
          </p:nvSpPr>
          <p:spPr bwMode="auto">
            <a:xfrm>
              <a:off x="1287" y="2524"/>
              <a:ext cx="260" cy="1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6" name="Rectangle 139">
              <a:extLst>
                <a:ext uri="{FF2B5EF4-FFF2-40B4-BE49-F238E27FC236}">
                  <a16:creationId xmlns:a16="http://schemas.microsoft.com/office/drawing/2014/main" id="{707A564A-A424-4DFF-9B01-BBAD10EF145F}"/>
                </a:ext>
              </a:extLst>
            </p:cNvPr>
            <p:cNvSpPr>
              <a:spLocks noChangeArrowheads="1"/>
            </p:cNvSpPr>
            <p:nvPr/>
          </p:nvSpPr>
          <p:spPr bwMode="auto">
            <a:xfrm>
              <a:off x="1338" y="2537"/>
              <a:ext cx="155" cy="76"/>
            </a:xfrm>
            <a:prstGeom prst="rect">
              <a:avLst/>
            </a:prstGeom>
            <a:solidFill>
              <a:schemeClr val="bg1"/>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7" name="Rectangle 140">
              <a:extLst>
                <a:ext uri="{FF2B5EF4-FFF2-40B4-BE49-F238E27FC236}">
                  <a16:creationId xmlns:a16="http://schemas.microsoft.com/office/drawing/2014/main" id="{06D1E7FC-7ACD-478D-8CE2-7C3232E2F947}"/>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8" name="Rectangle 141">
              <a:extLst>
                <a:ext uri="{FF2B5EF4-FFF2-40B4-BE49-F238E27FC236}">
                  <a16:creationId xmlns:a16="http://schemas.microsoft.com/office/drawing/2014/main" id="{69CE3F01-CCA9-4AFD-8917-A95D8463F959}"/>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69" name="Oval 143">
            <a:extLst>
              <a:ext uri="{FF2B5EF4-FFF2-40B4-BE49-F238E27FC236}">
                <a16:creationId xmlns:a16="http://schemas.microsoft.com/office/drawing/2014/main" id="{D363C71F-5048-4709-A56A-8ED661180150}"/>
              </a:ext>
            </a:extLst>
          </p:cNvPr>
          <p:cNvSpPr>
            <a:spLocks noChangeArrowheads="1"/>
          </p:cNvSpPr>
          <p:nvPr/>
        </p:nvSpPr>
        <p:spPr bwMode="auto">
          <a:xfrm>
            <a:off x="7242175" y="2330198"/>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r>
              <a:rPr lang="en-US">
                <a:latin typeface="Arial" charset="0"/>
                <a:ea typeface="ＭＳ Ｐゴシック" charset="0"/>
              </a:rPr>
              <a:t>P3</a:t>
            </a:r>
          </a:p>
        </p:txBody>
      </p:sp>
      <p:sp>
        <p:nvSpPr>
          <p:cNvPr id="27705" name="Freeform 144">
            <a:extLst>
              <a:ext uri="{FF2B5EF4-FFF2-40B4-BE49-F238E27FC236}">
                <a16:creationId xmlns:a16="http://schemas.microsoft.com/office/drawing/2014/main" id="{9BE08B7F-9526-48B2-AFCB-B5AF592586F8}"/>
              </a:ext>
            </a:extLst>
          </p:cNvPr>
          <p:cNvSpPr>
            <a:spLocks/>
          </p:cNvSpPr>
          <p:nvPr/>
        </p:nvSpPr>
        <p:spPr bwMode="auto">
          <a:xfrm>
            <a:off x="1493838" y="2533398"/>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706" name="Freeform 145">
            <a:extLst>
              <a:ext uri="{FF2B5EF4-FFF2-40B4-BE49-F238E27FC236}">
                <a16:creationId xmlns:a16="http://schemas.microsoft.com/office/drawing/2014/main" id="{B3157814-1BA3-459B-A4D5-61B94ED30A42}"/>
              </a:ext>
            </a:extLst>
          </p:cNvPr>
          <p:cNvSpPr>
            <a:spLocks/>
          </p:cNvSpPr>
          <p:nvPr/>
        </p:nvSpPr>
        <p:spPr bwMode="auto">
          <a:xfrm>
            <a:off x="4479925" y="2565148"/>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707" name="Freeform 146">
            <a:extLst>
              <a:ext uri="{FF2B5EF4-FFF2-40B4-BE49-F238E27FC236}">
                <a16:creationId xmlns:a16="http://schemas.microsoft.com/office/drawing/2014/main" id="{29DD36EE-CC28-4FF8-98AC-BF8EBB8A1BC5}"/>
              </a:ext>
            </a:extLst>
          </p:cNvPr>
          <p:cNvSpPr>
            <a:spLocks/>
          </p:cNvSpPr>
          <p:nvPr/>
        </p:nvSpPr>
        <p:spPr bwMode="auto">
          <a:xfrm>
            <a:off x="5138738" y="2554035"/>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27708" name="Group 147">
            <a:extLst>
              <a:ext uri="{FF2B5EF4-FFF2-40B4-BE49-F238E27FC236}">
                <a16:creationId xmlns:a16="http://schemas.microsoft.com/office/drawing/2014/main" id="{0A6D5982-E260-4B5D-A714-BAA0E239AEF4}"/>
              </a:ext>
            </a:extLst>
          </p:cNvPr>
          <p:cNvGrpSpPr>
            <a:grpSpLocks/>
          </p:cNvGrpSpPr>
          <p:nvPr/>
        </p:nvGrpSpPr>
        <p:grpSpPr bwMode="auto">
          <a:xfrm>
            <a:off x="5237162" y="4778091"/>
            <a:ext cx="2266949" cy="690558"/>
            <a:chOff x="2741" y="3750"/>
            <a:chExt cx="1428" cy="435"/>
          </a:xfrm>
        </p:grpSpPr>
        <p:sp>
          <p:nvSpPr>
            <p:cNvPr id="13422" name="Rectangle 148">
              <a:extLst>
                <a:ext uri="{FF2B5EF4-FFF2-40B4-BE49-F238E27FC236}">
                  <a16:creationId xmlns:a16="http://schemas.microsoft.com/office/drawing/2014/main" id="{2A97B699-11A7-41EE-A25F-3DBA0836EA29}"/>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3" name="Line 149">
              <a:extLst>
                <a:ext uri="{FF2B5EF4-FFF2-40B4-BE49-F238E27FC236}">
                  <a16:creationId xmlns:a16="http://schemas.microsoft.com/office/drawing/2014/main" id="{C8410702-C09B-4213-B45A-AC0FC2700610}"/>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24" name="Text Box 150">
              <a:extLst>
                <a:ext uri="{FF2B5EF4-FFF2-40B4-BE49-F238E27FC236}">
                  <a16:creationId xmlns:a16="http://schemas.microsoft.com/office/drawing/2014/main" id="{6F427672-5B47-497B-89E7-BA006220C629}"/>
                </a:ext>
              </a:extLst>
            </p:cNvPr>
            <p:cNvSpPr txBox="1">
              <a:spLocks noChangeArrowheads="1"/>
            </p:cNvSpPr>
            <p:nvPr/>
          </p:nvSpPr>
          <p:spPr bwMode="auto">
            <a:xfrm>
              <a:off x="2813" y="3896"/>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B</a:t>
              </a:r>
              <a:r>
                <a:rPr lang="en-US" altLang="zh-CN" sz="1400" dirty="0"/>
                <a:t>, </a:t>
              </a:r>
              <a:r>
                <a:rPr lang="zh-CN" altLang="en-US" sz="1400" dirty="0"/>
                <a:t>源端口</a:t>
              </a:r>
              <a:r>
                <a:rPr lang="en-US" altLang="zh-CN" sz="1400" dirty="0"/>
                <a:t>:</a:t>
              </a:r>
              <a:r>
                <a:rPr lang="en-US" altLang="zh-CN" sz="1400" b="1" dirty="0">
                  <a:solidFill>
                    <a:srgbClr val="C00000"/>
                  </a:solidFill>
                </a:rPr>
                <a:t>5775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grpSp>
        <p:nvGrpSpPr>
          <p:cNvPr id="27709" name="Group 151">
            <a:extLst>
              <a:ext uri="{FF2B5EF4-FFF2-40B4-BE49-F238E27FC236}">
                <a16:creationId xmlns:a16="http://schemas.microsoft.com/office/drawing/2014/main" id="{60CD8530-7D8B-454F-B932-9B9409292411}"/>
              </a:ext>
            </a:extLst>
          </p:cNvPr>
          <p:cNvGrpSpPr>
            <a:grpSpLocks/>
          </p:cNvGrpSpPr>
          <p:nvPr/>
        </p:nvGrpSpPr>
        <p:grpSpPr bwMode="auto">
          <a:xfrm>
            <a:off x="5307013" y="5567134"/>
            <a:ext cx="2266950" cy="690566"/>
            <a:chOff x="2741" y="3750"/>
            <a:chExt cx="1428" cy="435"/>
          </a:xfrm>
        </p:grpSpPr>
        <p:sp>
          <p:nvSpPr>
            <p:cNvPr id="13419" name="Rectangle 152">
              <a:extLst>
                <a:ext uri="{FF2B5EF4-FFF2-40B4-BE49-F238E27FC236}">
                  <a16:creationId xmlns:a16="http://schemas.microsoft.com/office/drawing/2014/main" id="{6C5E9648-C051-4D19-BD61-71CCDF5B12F1}"/>
                </a:ext>
              </a:extLst>
            </p:cNvPr>
            <p:cNvSpPr>
              <a:spLocks noChangeArrowheads="1"/>
            </p:cNvSpPr>
            <p:nvPr/>
          </p:nvSpPr>
          <p:spPr bwMode="auto">
            <a:xfrm>
              <a:off x="2859" y="3750"/>
              <a:ext cx="678" cy="1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20" name="Line 153">
              <a:extLst>
                <a:ext uri="{FF2B5EF4-FFF2-40B4-BE49-F238E27FC236}">
                  <a16:creationId xmlns:a16="http://schemas.microsoft.com/office/drawing/2014/main" id="{2D5DF5EB-07CF-4C7F-B5AD-16F9FD89C45A}"/>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3421" name="Text Box 154">
              <a:extLst>
                <a:ext uri="{FF2B5EF4-FFF2-40B4-BE49-F238E27FC236}">
                  <a16:creationId xmlns:a16="http://schemas.microsoft.com/office/drawing/2014/main" id="{0E0F6ADE-112D-4ABA-B3AC-C97005158F2B}"/>
                </a:ext>
              </a:extLst>
            </p:cNvPr>
            <p:cNvSpPr txBox="1">
              <a:spLocks noChangeArrowheads="1"/>
            </p:cNvSpPr>
            <p:nvPr/>
          </p:nvSpPr>
          <p:spPr bwMode="auto">
            <a:xfrm>
              <a:off x="2813" y="3896"/>
              <a:ext cx="1356"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5000"/>
                </a:lnSpc>
                <a:defRPr/>
              </a:pPr>
              <a:r>
                <a:rPr lang="zh-CN" altLang="en-US" sz="1400" dirty="0"/>
                <a:t>源</a:t>
              </a:r>
              <a:r>
                <a:rPr lang="en-US" altLang="zh-CN" sz="1400" dirty="0"/>
                <a:t>IP:IP</a:t>
              </a:r>
              <a:r>
                <a:rPr lang="en-US" altLang="zh-CN" sz="1400" baseline="-25000" dirty="0"/>
                <a:t>B</a:t>
              </a:r>
              <a:r>
                <a:rPr lang="en-US" altLang="zh-CN" sz="1400" dirty="0"/>
                <a:t>, </a:t>
              </a:r>
              <a:r>
                <a:rPr lang="zh-CN" altLang="en-US" sz="1400" dirty="0"/>
                <a:t>源端口</a:t>
              </a:r>
              <a:r>
                <a:rPr lang="en-US" altLang="zh-CN" sz="1400" dirty="0"/>
                <a:t>:</a:t>
              </a:r>
              <a:r>
                <a:rPr lang="en-US" altLang="zh-CN" sz="1400" b="1" dirty="0">
                  <a:solidFill>
                    <a:srgbClr val="C00000"/>
                  </a:solidFill>
                </a:rPr>
                <a:t>9175</a:t>
              </a:r>
            </a:p>
            <a:p>
              <a:pPr>
                <a:lnSpc>
                  <a:spcPct val="85000"/>
                </a:lnSpc>
                <a:defRPr/>
              </a:pPr>
              <a:r>
                <a:rPr lang="zh-CN" altLang="en-US" sz="1400" dirty="0"/>
                <a:t>目的</a:t>
              </a:r>
              <a:r>
                <a:rPr lang="en-US" altLang="zh-CN" sz="1400" dirty="0"/>
                <a:t>IP:IP</a:t>
              </a:r>
              <a:r>
                <a:rPr lang="en-US" altLang="zh-CN" sz="1400" baseline="-25000" dirty="0"/>
                <a:t>S</a:t>
              </a:r>
              <a:r>
                <a:rPr lang="en-US" altLang="zh-CN" sz="1400" dirty="0"/>
                <a:t>, </a:t>
              </a:r>
              <a:r>
                <a:rPr lang="zh-CN" altLang="en-US" sz="1400" dirty="0"/>
                <a:t>目的端口</a:t>
              </a:r>
              <a:r>
                <a:rPr lang="en-US" altLang="zh-CN" sz="1400" dirty="0"/>
                <a:t>: 80</a:t>
              </a:r>
            </a:p>
          </p:txBody>
        </p:sp>
      </p:grpSp>
      <p:sp>
        <p:nvSpPr>
          <p:cNvPr id="364700" name="Line 156">
            <a:extLst>
              <a:ext uri="{FF2B5EF4-FFF2-40B4-BE49-F238E27FC236}">
                <a16:creationId xmlns:a16="http://schemas.microsoft.com/office/drawing/2014/main" id="{BEA0988E-C4F9-458E-B4FC-48DB32C09A65}"/>
              </a:ext>
            </a:extLst>
          </p:cNvPr>
          <p:cNvSpPr>
            <a:spLocks noChangeShapeType="1"/>
          </p:cNvSpPr>
          <p:nvPr/>
        </p:nvSpPr>
        <p:spPr bwMode="auto">
          <a:xfrm>
            <a:off x="3949389" y="5878721"/>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364701" name="Line 157">
            <a:extLst>
              <a:ext uri="{FF2B5EF4-FFF2-40B4-BE49-F238E27FC236}">
                <a16:creationId xmlns:a16="http://schemas.microsoft.com/office/drawing/2014/main" id="{3B0BE8C1-B555-4D37-977A-A728755C3844}"/>
              </a:ext>
            </a:extLst>
          </p:cNvPr>
          <p:cNvSpPr>
            <a:spLocks noChangeShapeType="1"/>
          </p:cNvSpPr>
          <p:nvPr/>
        </p:nvSpPr>
        <p:spPr bwMode="auto">
          <a:xfrm>
            <a:off x="7165516" y="5410715"/>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364702" name="Line 158">
            <a:extLst>
              <a:ext uri="{FF2B5EF4-FFF2-40B4-BE49-F238E27FC236}">
                <a16:creationId xmlns:a16="http://schemas.microsoft.com/office/drawing/2014/main" id="{41911D4B-EF58-46B1-B4A0-424C7DC473F4}"/>
              </a:ext>
            </a:extLst>
          </p:cNvPr>
          <p:cNvSpPr>
            <a:spLocks noChangeShapeType="1"/>
          </p:cNvSpPr>
          <p:nvPr/>
        </p:nvSpPr>
        <p:spPr bwMode="auto">
          <a:xfrm>
            <a:off x="7217131" y="6214297"/>
            <a:ext cx="285750"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27715" name="Group 161">
            <a:extLst>
              <a:ext uri="{FF2B5EF4-FFF2-40B4-BE49-F238E27FC236}">
                <a16:creationId xmlns:a16="http://schemas.microsoft.com/office/drawing/2014/main" id="{F6C61FA1-1645-4919-979D-4C87949D4C14}"/>
              </a:ext>
            </a:extLst>
          </p:cNvPr>
          <p:cNvGrpSpPr>
            <a:grpSpLocks/>
          </p:cNvGrpSpPr>
          <p:nvPr/>
        </p:nvGrpSpPr>
        <p:grpSpPr bwMode="auto">
          <a:xfrm>
            <a:off x="2820988" y="3285873"/>
            <a:ext cx="358775" cy="704850"/>
            <a:chOff x="4140" y="429"/>
            <a:chExt cx="1425" cy="2396"/>
          </a:xfrm>
        </p:grpSpPr>
        <p:sp>
          <p:nvSpPr>
            <p:cNvPr id="27722" name="Freeform 162">
              <a:extLst>
                <a:ext uri="{FF2B5EF4-FFF2-40B4-BE49-F238E27FC236}">
                  <a16:creationId xmlns:a16="http://schemas.microsoft.com/office/drawing/2014/main" id="{29079B5D-2284-45D5-BEC5-7A772877C998}"/>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8" name="Rectangle 163">
              <a:extLst>
                <a:ext uri="{FF2B5EF4-FFF2-40B4-BE49-F238E27FC236}">
                  <a16:creationId xmlns:a16="http://schemas.microsoft.com/office/drawing/2014/main" id="{C9A3A045-34B9-45C5-9A5C-89C9B4863F7F}"/>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24" name="Freeform 164">
              <a:extLst>
                <a:ext uri="{FF2B5EF4-FFF2-40B4-BE49-F238E27FC236}">
                  <a16:creationId xmlns:a16="http://schemas.microsoft.com/office/drawing/2014/main" id="{E6485E53-019D-4B8B-9AC4-2BBB52A9D086}"/>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25" name="Freeform 165">
              <a:extLst>
                <a:ext uri="{FF2B5EF4-FFF2-40B4-BE49-F238E27FC236}">
                  <a16:creationId xmlns:a16="http://schemas.microsoft.com/office/drawing/2014/main" id="{3156E3C6-C79F-4241-803B-4B0B345E7A37}"/>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1" name="Rectangle 166">
              <a:extLst>
                <a:ext uri="{FF2B5EF4-FFF2-40B4-BE49-F238E27FC236}">
                  <a16:creationId xmlns:a16="http://schemas.microsoft.com/office/drawing/2014/main" id="{E3049AD1-FA88-4A29-92E3-D266E2BEB632}"/>
                </a:ext>
              </a:extLst>
            </p:cNvPr>
            <p:cNvSpPr>
              <a:spLocks noChangeArrowheads="1"/>
            </p:cNvSpPr>
            <p:nvPr/>
          </p:nvSpPr>
          <p:spPr bwMode="auto">
            <a:xfrm>
              <a:off x="4209" y="693"/>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27" name="Group 167">
              <a:extLst>
                <a:ext uri="{FF2B5EF4-FFF2-40B4-BE49-F238E27FC236}">
                  <a16:creationId xmlns:a16="http://schemas.microsoft.com/office/drawing/2014/main" id="{578103FC-1846-441B-A474-2ABE0F7A7486}"/>
                </a:ext>
              </a:extLst>
            </p:cNvPr>
            <p:cNvGrpSpPr>
              <a:grpSpLocks/>
            </p:cNvGrpSpPr>
            <p:nvPr/>
          </p:nvGrpSpPr>
          <p:grpSpPr bwMode="auto">
            <a:xfrm>
              <a:off x="4749" y="668"/>
              <a:ext cx="581" cy="145"/>
              <a:chOff x="614" y="2568"/>
              <a:chExt cx="725" cy="139"/>
            </a:xfrm>
          </p:grpSpPr>
          <p:sp>
            <p:nvSpPr>
              <p:cNvPr id="13417" name="AutoShape 168">
                <a:extLst>
                  <a:ext uri="{FF2B5EF4-FFF2-40B4-BE49-F238E27FC236}">
                    <a16:creationId xmlns:a16="http://schemas.microsoft.com/office/drawing/2014/main" id="{E3ECA1CB-7C58-4F90-AE09-5A2148888492}"/>
                  </a:ext>
                </a:extLst>
              </p:cNvPr>
              <p:cNvSpPr>
                <a:spLocks noChangeArrowheads="1"/>
              </p:cNvSpPr>
              <p:nvPr/>
            </p:nvSpPr>
            <p:spPr bwMode="auto">
              <a:xfrm>
                <a:off x="617" y="2567"/>
                <a:ext cx="724"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8" name="AutoShape 169">
                <a:extLst>
                  <a:ext uri="{FF2B5EF4-FFF2-40B4-BE49-F238E27FC236}">
                    <a16:creationId xmlns:a16="http://schemas.microsoft.com/office/drawing/2014/main" id="{94315E85-320D-46D1-B63C-8B19A35C186B}"/>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93" name="Rectangle 170">
              <a:extLst>
                <a:ext uri="{FF2B5EF4-FFF2-40B4-BE49-F238E27FC236}">
                  <a16:creationId xmlns:a16="http://schemas.microsoft.com/office/drawing/2014/main" id="{82E49B73-A502-453E-A1E1-C6B4514366C0}"/>
                </a:ext>
              </a:extLst>
            </p:cNvPr>
            <p:cNvSpPr>
              <a:spLocks noChangeArrowheads="1"/>
            </p:cNvSpPr>
            <p:nvPr/>
          </p:nvSpPr>
          <p:spPr bwMode="auto">
            <a:xfrm>
              <a:off x="4222" y="101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29" name="Group 171">
              <a:extLst>
                <a:ext uri="{FF2B5EF4-FFF2-40B4-BE49-F238E27FC236}">
                  <a16:creationId xmlns:a16="http://schemas.microsoft.com/office/drawing/2014/main" id="{712134E7-DEC6-4BC3-9A10-4B599152B81F}"/>
                </a:ext>
              </a:extLst>
            </p:cNvPr>
            <p:cNvGrpSpPr>
              <a:grpSpLocks/>
            </p:cNvGrpSpPr>
            <p:nvPr/>
          </p:nvGrpSpPr>
          <p:grpSpPr bwMode="auto">
            <a:xfrm>
              <a:off x="4747" y="994"/>
              <a:ext cx="581" cy="134"/>
              <a:chOff x="614" y="2568"/>
              <a:chExt cx="725" cy="139"/>
            </a:xfrm>
          </p:grpSpPr>
          <p:sp>
            <p:nvSpPr>
              <p:cNvPr id="13415" name="AutoShape 172">
                <a:extLst>
                  <a:ext uri="{FF2B5EF4-FFF2-40B4-BE49-F238E27FC236}">
                    <a16:creationId xmlns:a16="http://schemas.microsoft.com/office/drawing/2014/main" id="{C153AA11-1065-4865-99BB-4F3425D146FA}"/>
                  </a:ext>
                </a:extLst>
              </p:cNvPr>
              <p:cNvSpPr>
                <a:spLocks noChangeArrowheads="1"/>
              </p:cNvSpPr>
              <p:nvPr/>
            </p:nvSpPr>
            <p:spPr bwMode="auto">
              <a:xfrm>
                <a:off x="612" y="2570"/>
                <a:ext cx="724" cy="146"/>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6" name="AutoShape 173">
                <a:extLst>
                  <a:ext uri="{FF2B5EF4-FFF2-40B4-BE49-F238E27FC236}">
                    <a16:creationId xmlns:a16="http://schemas.microsoft.com/office/drawing/2014/main" id="{E8E400D7-4557-417A-B9B9-C2A01401AB5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395" name="Rectangle 174">
              <a:extLst>
                <a:ext uri="{FF2B5EF4-FFF2-40B4-BE49-F238E27FC236}">
                  <a16:creationId xmlns:a16="http://schemas.microsoft.com/office/drawing/2014/main" id="{5E194778-58D4-4A70-998B-60290E8C577B}"/>
                </a:ext>
              </a:extLst>
            </p:cNvPr>
            <p:cNvSpPr>
              <a:spLocks noChangeArrowheads="1"/>
            </p:cNvSpPr>
            <p:nvPr/>
          </p:nvSpPr>
          <p:spPr bwMode="auto">
            <a:xfrm>
              <a:off x="4216" y="1357"/>
              <a:ext cx="599"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396" name="Rectangle 175">
              <a:extLst>
                <a:ext uri="{FF2B5EF4-FFF2-40B4-BE49-F238E27FC236}">
                  <a16:creationId xmlns:a16="http://schemas.microsoft.com/office/drawing/2014/main" id="{4DF1F13A-37DC-46A3-BC37-EA8535A722BE}"/>
                </a:ext>
              </a:extLst>
            </p:cNvPr>
            <p:cNvSpPr>
              <a:spLocks noChangeArrowheads="1"/>
            </p:cNvSpPr>
            <p:nvPr/>
          </p:nvSpPr>
          <p:spPr bwMode="auto">
            <a:xfrm>
              <a:off x="4228" y="1654"/>
              <a:ext cx="593"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7732" name="Group 176">
              <a:extLst>
                <a:ext uri="{FF2B5EF4-FFF2-40B4-BE49-F238E27FC236}">
                  <a16:creationId xmlns:a16="http://schemas.microsoft.com/office/drawing/2014/main" id="{6EF7F4C5-4882-404D-AC86-B717D1F55AEE}"/>
                </a:ext>
              </a:extLst>
            </p:cNvPr>
            <p:cNvGrpSpPr>
              <a:grpSpLocks/>
            </p:cNvGrpSpPr>
            <p:nvPr/>
          </p:nvGrpSpPr>
          <p:grpSpPr bwMode="auto">
            <a:xfrm>
              <a:off x="4735" y="1627"/>
              <a:ext cx="582" cy="151"/>
              <a:chOff x="614" y="2568"/>
              <a:chExt cx="725" cy="139"/>
            </a:xfrm>
          </p:grpSpPr>
          <p:sp>
            <p:nvSpPr>
              <p:cNvPr id="13413" name="AutoShape 177">
                <a:extLst>
                  <a:ext uri="{FF2B5EF4-FFF2-40B4-BE49-F238E27FC236}">
                    <a16:creationId xmlns:a16="http://schemas.microsoft.com/office/drawing/2014/main" id="{9D03B7D5-9C55-4DB0-9855-B669EB0211B0}"/>
                  </a:ext>
                </a:extLst>
              </p:cNvPr>
              <p:cNvSpPr>
                <a:spLocks noChangeArrowheads="1"/>
              </p:cNvSpPr>
              <p:nvPr/>
            </p:nvSpPr>
            <p:spPr bwMode="auto">
              <a:xfrm>
                <a:off x="611" y="2568"/>
                <a:ext cx="730"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4" name="AutoShape 178">
                <a:extLst>
                  <a:ext uri="{FF2B5EF4-FFF2-40B4-BE49-F238E27FC236}">
                    <a16:creationId xmlns:a16="http://schemas.microsoft.com/office/drawing/2014/main" id="{8156593C-39AB-4ADC-B7C9-6C984FBE3F8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7733" name="Freeform 179">
              <a:extLst>
                <a:ext uri="{FF2B5EF4-FFF2-40B4-BE49-F238E27FC236}">
                  <a16:creationId xmlns:a16="http://schemas.microsoft.com/office/drawing/2014/main" id="{4D7E01F4-FC16-4756-B4AB-710BEF42461A}"/>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34" name="Group 180">
              <a:extLst>
                <a:ext uri="{FF2B5EF4-FFF2-40B4-BE49-F238E27FC236}">
                  <a16:creationId xmlns:a16="http://schemas.microsoft.com/office/drawing/2014/main" id="{341278DC-78D7-4C63-9BD0-0B8C61264E21}"/>
                </a:ext>
              </a:extLst>
            </p:cNvPr>
            <p:cNvGrpSpPr>
              <a:grpSpLocks/>
            </p:cNvGrpSpPr>
            <p:nvPr/>
          </p:nvGrpSpPr>
          <p:grpSpPr bwMode="auto">
            <a:xfrm>
              <a:off x="4739" y="1327"/>
              <a:ext cx="582" cy="139"/>
              <a:chOff x="614" y="2568"/>
              <a:chExt cx="725" cy="139"/>
            </a:xfrm>
          </p:grpSpPr>
          <p:sp>
            <p:nvSpPr>
              <p:cNvPr id="13411" name="AutoShape 181">
                <a:extLst>
                  <a:ext uri="{FF2B5EF4-FFF2-40B4-BE49-F238E27FC236}">
                    <a16:creationId xmlns:a16="http://schemas.microsoft.com/office/drawing/2014/main" id="{6E01144C-972C-49AF-90A8-13EF2610594F}"/>
                  </a:ext>
                </a:extLst>
              </p:cNvPr>
              <p:cNvSpPr>
                <a:spLocks noChangeArrowheads="1"/>
              </p:cNvSpPr>
              <p:nvPr/>
            </p:nvSpPr>
            <p:spPr bwMode="auto">
              <a:xfrm>
                <a:off x="614" y="2566"/>
                <a:ext cx="723"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2" name="AutoShape 182">
                <a:extLst>
                  <a:ext uri="{FF2B5EF4-FFF2-40B4-BE49-F238E27FC236}">
                    <a16:creationId xmlns:a16="http://schemas.microsoft.com/office/drawing/2014/main" id="{90102767-33A9-4564-BBFB-D57181A8BC48}"/>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400" name="Rectangle 183">
              <a:extLst>
                <a:ext uri="{FF2B5EF4-FFF2-40B4-BE49-F238E27FC236}">
                  <a16:creationId xmlns:a16="http://schemas.microsoft.com/office/drawing/2014/main" id="{1D12EEE7-62EC-4902-B8F3-CDBE2888985E}"/>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36" name="Freeform 184">
              <a:extLst>
                <a:ext uri="{FF2B5EF4-FFF2-40B4-BE49-F238E27FC236}">
                  <a16:creationId xmlns:a16="http://schemas.microsoft.com/office/drawing/2014/main" id="{99E71E34-4BD3-41E3-9E80-11C5581DE6B3}"/>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37" name="Freeform 185">
              <a:extLst>
                <a:ext uri="{FF2B5EF4-FFF2-40B4-BE49-F238E27FC236}">
                  <a16:creationId xmlns:a16="http://schemas.microsoft.com/office/drawing/2014/main" id="{A102397C-12D9-406D-86BA-094D3B31308B}"/>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3" name="Oval 186">
              <a:extLst>
                <a:ext uri="{FF2B5EF4-FFF2-40B4-BE49-F238E27FC236}">
                  <a16:creationId xmlns:a16="http://schemas.microsoft.com/office/drawing/2014/main" id="{5BAE0886-5892-48F6-A4CF-D322AF13DD76}"/>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739" name="Freeform 187">
              <a:extLst>
                <a:ext uri="{FF2B5EF4-FFF2-40B4-BE49-F238E27FC236}">
                  <a16:creationId xmlns:a16="http://schemas.microsoft.com/office/drawing/2014/main" id="{95C03E80-2A1D-4297-9C45-55C8A7594C72}"/>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5" name="AutoShape 188">
              <a:extLst>
                <a:ext uri="{FF2B5EF4-FFF2-40B4-BE49-F238E27FC236}">
                  <a16:creationId xmlns:a16="http://schemas.microsoft.com/office/drawing/2014/main" id="{83F82DA2-5E6F-435C-8CB1-797752508EF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6" name="AutoShape 189">
              <a:extLst>
                <a:ext uri="{FF2B5EF4-FFF2-40B4-BE49-F238E27FC236}">
                  <a16:creationId xmlns:a16="http://schemas.microsoft.com/office/drawing/2014/main" id="{B0707A55-C0FA-4DE3-B71C-A5E05D853D01}"/>
                </a:ext>
              </a:extLst>
            </p:cNvPr>
            <p:cNvSpPr>
              <a:spLocks noChangeArrowheads="1"/>
            </p:cNvSpPr>
            <p:nvPr/>
          </p:nvSpPr>
          <p:spPr bwMode="auto">
            <a:xfrm>
              <a:off x="4203" y="2712"/>
              <a:ext cx="1072"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7" name="Oval 190">
              <a:extLst>
                <a:ext uri="{FF2B5EF4-FFF2-40B4-BE49-F238E27FC236}">
                  <a16:creationId xmlns:a16="http://schemas.microsoft.com/office/drawing/2014/main" id="{97BA9603-2FCE-4E3A-8303-277F8E3B85C5}"/>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08" name="Oval 191">
              <a:extLst>
                <a:ext uri="{FF2B5EF4-FFF2-40B4-BE49-F238E27FC236}">
                  <a16:creationId xmlns:a16="http://schemas.microsoft.com/office/drawing/2014/main" id="{718EADEC-A970-4BB9-9871-10AAB37B732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13409" name="Oval 192">
              <a:extLst>
                <a:ext uri="{FF2B5EF4-FFF2-40B4-BE49-F238E27FC236}">
                  <a16:creationId xmlns:a16="http://schemas.microsoft.com/office/drawing/2014/main" id="{8152F240-9EE7-4972-A9F2-FCC37C433DA4}"/>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410" name="Rectangle 193">
              <a:extLst>
                <a:ext uri="{FF2B5EF4-FFF2-40B4-BE49-F238E27FC236}">
                  <a16:creationId xmlns:a16="http://schemas.microsoft.com/office/drawing/2014/main" id="{9A02AEC0-DE93-41EF-955D-605FC51923A9}"/>
                </a:ext>
              </a:extLst>
            </p:cNvPr>
            <p:cNvSpPr>
              <a:spLocks noChangeArrowheads="1"/>
            </p:cNvSpPr>
            <p:nvPr/>
          </p:nvSpPr>
          <p:spPr bwMode="auto">
            <a:xfrm>
              <a:off x="5061" y="1837"/>
              <a:ext cx="88" cy="761"/>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7716" name="Group 194">
            <a:extLst>
              <a:ext uri="{FF2B5EF4-FFF2-40B4-BE49-F238E27FC236}">
                <a16:creationId xmlns:a16="http://schemas.microsoft.com/office/drawing/2014/main" id="{15447637-B898-4648-9DFA-2AEE16D4F54F}"/>
              </a:ext>
            </a:extLst>
          </p:cNvPr>
          <p:cNvGrpSpPr>
            <a:grpSpLocks/>
          </p:cNvGrpSpPr>
          <p:nvPr/>
        </p:nvGrpSpPr>
        <p:grpSpPr bwMode="auto">
          <a:xfrm>
            <a:off x="-44450" y="3706560"/>
            <a:ext cx="711200" cy="669925"/>
            <a:chOff x="-44" y="1473"/>
            <a:chExt cx="981" cy="1105"/>
          </a:xfrm>
        </p:grpSpPr>
        <p:pic>
          <p:nvPicPr>
            <p:cNvPr id="27720" name="Picture 195" descr="desktop_computer_stylized_medium">
              <a:extLst>
                <a:ext uri="{FF2B5EF4-FFF2-40B4-BE49-F238E27FC236}">
                  <a16:creationId xmlns:a16="http://schemas.microsoft.com/office/drawing/2014/main" id="{8939D440-A27E-438F-B141-4152E3AA0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1" name="Freeform 196">
              <a:extLst>
                <a:ext uri="{FF2B5EF4-FFF2-40B4-BE49-F238E27FC236}">
                  <a16:creationId xmlns:a16="http://schemas.microsoft.com/office/drawing/2014/main" id="{2EE89374-DA7F-4E96-8F8F-B6B60AFC3320}"/>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7717" name="Group 197">
            <a:extLst>
              <a:ext uri="{FF2B5EF4-FFF2-40B4-BE49-F238E27FC236}">
                <a16:creationId xmlns:a16="http://schemas.microsoft.com/office/drawing/2014/main" id="{2594E3C3-718A-4E77-B091-D59CAE112AF5}"/>
              </a:ext>
            </a:extLst>
          </p:cNvPr>
          <p:cNvGrpSpPr>
            <a:grpSpLocks/>
          </p:cNvGrpSpPr>
          <p:nvPr/>
        </p:nvGrpSpPr>
        <p:grpSpPr bwMode="auto">
          <a:xfrm flipH="1">
            <a:off x="8258175" y="3622423"/>
            <a:ext cx="711200" cy="669925"/>
            <a:chOff x="-44" y="1473"/>
            <a:chExt cx="981" cy="1105"/>
          </a:xfrm>
        </p:grpSpPr>
        <p:pic>
          <p:nvPicPr>
            <p:cNvPr id="27718" name="Picture 198" descr="desktop_computer_stylized_medium">
              <a:extLst>
                <a:ext uri="{FF2B5EF4-FFF2-40B4-BE49-F238E27FC236}">
                  <a16:creationId xmlns:a16="http://schemas.microsoft.com/office/drawing/2014/main" id="{15053BCE-A7DF-4652-BAD9-AE8238E4C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19" name="Freeform 199">
              <a:extLst>
                <a:ext uri="{FF2B5EF4-FFF2-40B4-BE49-F238E27FC236}">
                  <a16:creationId xmlns:a16="http://schemas.microsoft.com/office/drawing/2014/main" id="{42DF2831-B693-4208-B162-547B45CF1682}"/>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45" name="标题 1">
            <a:extLst>
              <a:ext uri="{FF2B5EF4-FFF2-40B4-BE49-F238E27FC236}">
                <a16:creationId xmlns:a16="http://schemas.microsoft.com/office/drawing/2014/main" id="{F72799C3-4C91-4780-9626-246A5B72D5A6}"/>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复用分用</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6" name="矩形 145">
            <a:extLst>
              <a:ext uri="{FF2B5EF4-FFF2-40B4-BE49-F238E27FC236}">
                <a16:creationId xmlns:a16="http://schemas.microsoft.com/office/drawing/2014/main" id="{153B41F6-34F9-4690-BD66-05F3D863A2A7}"/>
              </a:ext>
            </a:extLst>
          </p:cNvPr>
          <p:cNvSpPr/>
          <p:nvPr/>
        </p:nvSpPr>
        <p:spPr>
          <a:xfrm>
            <a:off x="361344" y="783015"/>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分用示例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7" name="Text Box 93">
            <a:extLst>
              <a:ext uri="{FF2B5EF4-FFF2-40B4-BE49-F238E27FC236}">
                <a16:creationId xmlns:a16="http://schemas.microsoft.com/office/drawing/2014/main" id="{BC887DE5-F771-4520-BC0C-3B4825137EFD}"/>
              </a:ext>
            </a:extLst>
          </p:cNvPr>
          <p:cNvSpPr txBox="1">
            <a:spLocks noChangeArrowheads="1"/>
          </p:cNvSpPr>
          <p:nvPr/>
        </p:nvSpPr>
        <p:spPr bwMode="auto">
          <a:xfrm flipH="1">
            <a:off x="3810861" y="1421747"/>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zh-CN" altLang="en-US" sz="1800" dirty="0">
                <a:latin typeface="Gill Sans MT" charset="0"/>
              </a:rPr>
              <a:t>主机</a:t>
            </a:r>
            <a:r>
              <a:rPr lang="en-US" altLang="zh-CN" sz="1800" dirty="0">
                <a:latin typeface="Gill Sans MT" charset="0"/>
              </a:rPr>
              <a:t>S</a:t>
            </a:r>
            <a:r>
              <a:rPr lang="en-US" sz="1800" dirty="0">
                <a:latin typeface="Gill Sans MT" charset="0"/>
              </a:rPr>
              <a:t>: IP</a:t>
            </a:r>
            <a:r>
              <a:rPr lang="en-US" altLang="zh-CN" sz="1800" baseline="-25000" dirty="0">
                <a:latin typeface="Gill Sans MT" charset="0"/>
              </a:rPr>
              <a:t>S</a:t>
            </a:r>
            <a:endParaRPr lang="en-US" sz="1800" baseline="-25000" dirty="0">
              <a:latin typeface="Gill Sans MT" charset="0"/>
            </a:endParaRPr>
          </a:p>
        </p:txBody>
      </p:sp>
      <p:sp>
        <p:nvSpPr>
          <p:cNvPr id="148" name="Text Box 93">
            <a:extLst>
              <a:ext uri="{FF2B5EF4-FFF2-40B4-BE49-F238E27FC236}">
                <a16:creationId xmlns:a16="http://schemas.microsoft.com/office/drawing/2014/main" id="{B9E2DB0E-3D76-4618-ACD9-FD24C4B8963B}"/>
              </a:ext>
            </a:extLst>
          </p:cNvPr>
          <p:cNvSpPr txBox="1">
            <a:spLocks noChangeArrowheads="1"/>
          </p:cNvSpPr>
          <p:nvPr/>
        </p:nvSpPr>
        <p:spPr bwMode="auto">
          <a:xfrm flipH="1">
            <a:off x="6563121" y="1649554"/>
            <a:ext cx="1253332" cy="3139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a:lnSpc>
                <a:spcPct val="80000"/>
              </a:lnSpc>
              <a:defRPr/>
            </a:pPr>
            <a:r>
              <a:rPr lang="zh-CN" altLang="en-US" sz="1800" dirty="0">
                <a:latin typeface="Gill Sans MT" charset="0"/>
              </a:rPr>
              <a:t>主机</a:t>
            </a:r>
            <a:r>
              <a:rPr lang="en-US" altLang="zh-CN" sz="1800" dirty="0">
                <a:latin typeface="Gill Sans MT" charset="0"/>
              </a:rPr>
              <a:t>B</a:t>
            </a:r>
            <a:r>
              <a:rPr lang="en-US" sz="1800" dirty="0">
                <a:latin typeface="Gill Sans MT" charset="0"/>
              </a:rPr>
              <a:t>: IP</a:t>
            </a:r>
            <a:r>
              <a:rPr lang="en-US" altLang="zh-CN" sz="1800" baseline="-25000" dirty="0">
                <a:latin typeface="Gill Sans MT" charset="0"/>
              </a:rPr>
              <a:t>B</a:t>
            </a:r>
            <a:endParaRPr lang="en-US" sz="1800" baseline="-25000" dirty="0">
              <a:latin typeface="Gill Sans MT" charset="0"/>
            </a:endParaRPr>
          </a:p>
        </p:txBody>
      </p:sp>
      <p:sp>
        <p:nvSpPr>
          <p:cNvPr id="13339" name="Oval 36">
            <a:extLst>
              <a:ext uri="{FF2B5EF4-FFF2-40B4-BE49-F238E27FC236}">
                <a16:creationId xmlns:a16="http://schemas.microsoft.com/office/drawing/2014/main" id="{DFE9B8B2-BF6F-483F-BEC9-615954A8C611}"/>
              </a:ext>
            </a:extLst>
          </p:cNvPr>
          <p:cNvSpPr>
            <a:spLocks noChangeArrowheads="1"/>
          </p:cNvSpPr>
          <p:nvPr/>
        </p:nvSpPr>
        <p:spPr bwMode="auto">
          <a:xfrm>
            <a:off x="3497263" y="2166817"/>
            <a:ext cx="2017711" cy="33257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dirty="0">
                <a:latin typeface="Arial" charset="0"/>
                <a:ea typeface="ＭＳ Ｐゴシック" charset="0"/>
              </a:rPr>
              <a:t>P4</a:t>
            </a:r>
          </a:p>
        </p:txBody>
      </p:sp>
      <p:sp>
        <p:nvSpPr>
          <p:cNvPr id="141" name="Text Box 101">
            <a:extLst>
              <a:ext uri="{FF2B5EF4-FFF2-40B4-BE49-F238E27FC236}">
                <a16:creationId xmlns:a16="http://schemas.microsoft.com/office/drawing/2014/main" id="{96326938-A744-4E44-9CDD-DD43202024CD}"/>
              </a:ext>
            </a:extLst>
          </p:cNvPr>
          <p:cNvSpPr txBox="1">
            <a:spLocks noChangeArrowheads="1"/>
          </p:cNvSpPr>
          <p:nvPr/>
        </p:nvSpPr>
        <p:spPr bwMode="auto">
          <a:xfrm>
            <a:off x="5021983" y="1078070"/>
            <a:ext cx="121058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solidFill>
                  <a:srgbClr val="CC0000"/>
                </a:solidFill>
              </a:rPr>
              <a:t>线程服务器</a:t>
            </a:r>
            <a:endParaRPr lang="en-US" dirty="0">
              <a:solidFill>
                <a:srgbClr val="CC0000"/>
              </a:solidFill>
            </a:endParaRPr>
          </a:p>
        </p:txBody>
      </p:sp>
      <p:sp>
        <p:nvSpPr>
          <p:cNvPr id="142" name="Line 102">
            <a:extLst>
              <a:ext uri="{FF2B5EF4-FFF2-40B4-BE49-F238E27FC236}">
                <a16:creationId xmlns:a16="http://schemas.microsoft.com/office/drawing/2014/main" id="{355B74CE-FC62-4FF7-8990-930E73457F20}"/>
              </a:ext>
            </a:extLst>
          </p:cNvPr>
          <p:cNvSpPr>
            <a:spLocks noChangeShapeType="1"/>
          </p:cNvSpPr>
          <p:nvPr/>
        </p:nvSpPr>
        <p:spPr bwMode="auto">
          <a:xfrm flipH="1">
            <a:off x="4918602" y="1422180"/>
            <a:ext cx="579437" cy="752475"/>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 name="Text Box 26">
            <a:extLst>
              <a:ext uri="{FF2B5EF4-FFF2-40B4-BE49-F238E27FC236}">
                <a16:creationId xmlns:a16="http://schemas.microsoft.com/office/drawing/2014/main" id="{F8C8D554-93CF-408D-918C-212B5CBDE6F9}"/>
              </a:ext>
            </a:extLst>
          </p:cNvPr>
          <p:cNvSpPr txBox="1">
            <a:spLocks noChangeArrowheads="1"/>
          </p:cNvSpPr>
          <p:nvPr/>
        </p:nvSpPr>
        <p:spPr bwMode="auto">
          <a:xfrm>
            <a:off x="868361" y="2836419"/>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11" name="Text Box 26">
            <a:extLst>
              <a:ext uri="{FF2B5EF4-FFF2-40B4-BE49-F238E27FC236}">
                <a16:creationId xmlns:a16="http://schemas.microsoft.com/office/drawing/2014/main" id="{7A793652-37B6-4C31-BAAA-F85C49860FC1}"/>
              </a:ext>
            </a:extLst>
          </p:cNvPr>
          <p:cNvSpPr txBox="1">
            <a:spLocks noChangeArrowheads="1"/>
          </p:cNvSpPr>
          <p:nvPr/>
        </p:nvSpPr>
        <p:spPr bwMode="auto">
          <a:xfrm>
            <a:off x="858836" y="3741294"/>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12" name="Text Box 26">
            <a:extLst>
              <a:ext uri="{FF2B5EF4-FFF2-40B4-BE49-F238E27FC236}">
                <a16:creationId xmlns:a16="http://schemas.microsoft.com/office/drawing/2014/main" id="{B6BEDD12-F182-4970-AE63-EC47451BA8F0}"/>
              </a:ext>
            </a:extLst>
          </p:cNvPr>
          <p:cNvSpPr txBox="1">
            <a:spLocks noChangeArrowheads="1"/>
          </p:cNvSpPr>
          <p:nvPr/>
        </p:nvSpPr>
        <p:spPr bwMode="auto">
          <a:xfrm>
            <a:off x="858836" y="3455544"/>
            <a:ext cx="133667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13" name="Text Box 26">
            <a:extLst>
              <a:ext uri="{FF2B5EF4-FFF2-40B4-BE49-F238E27FC236}">
                <a16:creationId xmlns:a16="http://schemas.microsoft.com/office/drawing/2014/main" id="{584CBC10-C3EE-4612-9970-FCE6EB427E05}"/>
              </a:ext>
            </a:extLst>
          </p:cNvPr>
          <p:cNvSpPr txBox="1">
            <a:spLocks noChangeArrowheads="1"/>
          </p:cNvSpPr>
          <p:nvPr/>
        </p:nvSpPr>
        <p:spPr bwMode="auto">
          <a:xfrm>
            <a:off x="939801" y="3160269"/>
            <a:ext cx="124618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14" name="Text Box 26">
            <a:extLst>
              <a:ext uri="{FF2B5EF4-FFF2-40B4-BE49-F238E27FC236}">
                <a16:creationId xmlns:a16="http://schemas.microsoft.com/office/drawing/2014/main" id="{B2FFB1AA-84EA-420A-A9AF-7DE61610C7F8}"/>
              </a:ext>
            </a:extLst>
          </p:cNvPr>
          <p:cNvSpPr txBox="1">
            <a:spLocks noChangeArrowheads="1"/>
          </p:cNvSpPr>
          <p:nvPr/>
        </p:nvSpPr>
        <p:spPr bwMode="auto">
          <a:xfrm>
            <a:off x="3403601" y="2617816"/>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15" name="Text Box 26">
            <a:extLst>
              <a:ext uri="{FF2B5EF4-FFF2-40B4-BE49-F238E27FC236}">
                <a16:creationId xmlns:a16="http://schemas.microsoft.com/office/drawing/2014/main" id="{2AB735CE-ABCC-43F0-8FE4-C8C14E0F19AE}"/>
              </a:ext>
            </a:extLst>
          </p:cNvPr>
          <p:cNvSpPr txBox="1">
            <a:spLocks noChangeArrowheads="1"/>
          </p:cNvSpPr>
          <p:nvPr/>
        </p:nvSpPr>
        <p:spPr bwMode="auto">
          <a:xfrm>
            <a:off x="3394076" y="3522691"/>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16" name="Text Box 26">
            <a:extLst>
              <a:ext uri="{FF2B5EF4-FFF2-40B4-BE49-F238E27FC236}">
                <a16:creationId xmlns:a16="http://schemas.microsoft.com/office/drawing/2014/main" id="{1EA8092B-0276-4183-9FD2-8AF6E0115F4B}"/>
              </a:ext>
            </a:extLst>
          </p:cNvPr>
          <p:cNvSpPr txBox="1">
            <a:spLocks noChangeArrowheads="1"/>
          </p:cNvSpPr>
          <p:nvPr/>
        </p:nvSpPr>
        <p:spPr bwMode="auto">
          <a:xfrm>
            <a:off x="3394076" y="3236941"/>
            <a:ext cx="1336676"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17" name="Text Box 26">
            <a:extLst>
              <a:ext uri="{FF2B5EF4-FFF2-40B4-BE49-F238E27FC236}">
                <a16:creationId xmlns:a16="http://schemas.microsoft.com/office/drawing/2014/main" id="{AE5ED203-690A-47F0-9A74-8FC36DEE44C9}"/>
              </a:ext>
            </a:extLst>
          </p:cNvPr>
          <p:cNvSpPr txBox="1">
            <a:spLocks noChangeArrowheads="1"/>
          </p:cNvSpPr>
          <p:nvPr/>
        </p:nvSpPr>
        <p:spPr bwMode="auto">
          <a:xfrm>
            <a:off x="3403601" y="2941666"/>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22" name="Text Box 26">
            <a:extLst>
              <a:ext uri="{FF2B5EF4-FFF2-40B4-BE49-F238E27FC236}">
                <a16:creationId xmlns:a16="http://schemas.microsoft.com/office/drawing/2014/main" id="{DD3237F4-9778-456A-BF8D-8DC596D05A39}"/>
              </a:ext>
            </a:extLst>
          </p:cNvPr>
          <p:cNvSpPr txBox="1">
            <a:spLocks noChangeArrowheads="1"/>
          </p:cNvSpPr>
          <p:nvPr/>
        </p:nvSpPr>
        <p:spPr bwMode="auto">
          <a:xfrm>
            <a:off x="6800198" y="2830940"/>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传输层</a:t>
            </a:r>
            <a:endParaRPr lang="en-US" altLang="zh-CN" sz="1400" dirty="0"/>
          </a:p>
        </p:txBody>
      </p:sp>
      <p:sp>
        <p:nvSpPr>
          <p:cNvPr id="23" name="Text Box 26">
            <a:extLst>
              <a:ext uri="{FF2B5EF4-FFF2-40B4-BE49-F238E27FC236}">
                <a16:creationId xmlns:a16="http://schemas.microsoft.com/office/drawing/2014/main" id="{35024116-BAD8-45BD-9D28-AFBF5C0414EA}"/>
              </a:ext>
            </a:extLst>
          </p:cNvPr>
          <p:cNvSpPr txBox="1">
            <a:spLocks noChangeArrowheads="1"/>
          </p:cNvSpPr>
          <p:nvPr/>
        </p:nvSpPr>
        <p:spPr bwMode="auto">
          <a:xfrm>
            <a:off x="6790673" y="3735815"/>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物理层</a:t>
            </a:r>
            <a:endParaRPr lang="en-US" altLang="zh-CN" sz="1400" dirty="0"/>
          </a:p>
        </p:txBody>
      </p:sp>
      <p:sp>
        <p:nvSpPr>
          <p:cNvPr id="24" name="Text Box 26">
            <a:extLst>
              <a:ext uri="{FF2B5EF4-FFF2-40B4-BE49-F238E27FC236}">
                <a16:creationId xmlns:a16="http://schemas.microsoft.com/office/drawing/2014/main" id="{C2A45F9B-149A-4310-812C-0B67ED119B1D}"/>
              </a:ext>
            </a:extLst>
          </p:cNvPr>
          <p:cNvSpPr txBox="1">
            <a:spLocks noChangeArrowheads="1"/>
          </p:cNvSpPr>
          <p:nvPr/>
        </p:nvSpPr>
        <p:spPr bwMode="auto">
          <a:xfrm>
            <a:off x="6794205" y="3450065"/>
            <a:ext cx="1333143"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链路层</a:t>
            </a:r>
            <a:endParaRPr lang="en-US" altLang="zh-CN" sz="1400" dirty="0"/>
          </a:p>
        </p:txBody>
      </p:sp>
      <p:sp>
        <p:nvSpPr>
          <p:cNvPr id="25" name="Text Box 26">
            <a:extLst>
              <a:ext uri="{FF2B5EF4-FFF2-40B4-BE49-F238E27FC236}">
                <a16:creationId xmlns:a16="http://schemas.microsoft.com/office/drawing/2014/main" id="{98CABDDD-2810-452C-95E0-86D27E9F6644}"/>
              </a:ext>
            </a:extLst>
          </p:cNvPr>
          <p:cNvSpPr txBox="1">
            <a:spLocks noChangeArrowheads="1"/>
          </p:cNvSpPr>
          <p:nvPr/>
        </p:nvSpPr>
        <p:spPr bwMode="auto">
          <a:xfrm>
            <a:off x="6800198" y="3154790"/>
            <a:ext cx="1317625" cy="31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en-US" altLang="zh-CN" sz="1400" dirty="0"/>
              <a:t>IP</a:t>
            </a:r>
            <a:r>
              <a:rPr lang="zh-CN" altLang="en-US" sz="1400" dirty="0"/>
              <a:t>层</a:t>
            </a:r>
            <a:endParaRPr lang="en-US" altLang="zh-CN" sz="1400" dirty="0"/>
          </a:p>
        </p:txBody>
      </p:sp>
      <p:sp>
        <p:nvSpPr>
          <p:cNvPr id="26" name="Text Box 26">
            <a:extLst>
              <a:ext uri="{FF2B5EF4-FFF2-40B4-BE49-F238E27FC236}">
                <a16:creationId xmlns:a16="http://schemas.microsoft.com/office/drawing/2014/main" id="{9B571B6D-269A-4E39-8ADA-1B9B4DCA18A5}"/>
              </a:ext>
            </a:extLst>
          </p:cNvPr>
          <p:cNvSpPr txBox="1">
            <a:spLocks noChangeArrowheads="1"/>
          </p:cNvSpPr>
          <p:nvPr/>
        </p:nvSpPr>
        <p:spPr bwMode="auto">
          <a:xfrm>
            <a:off x="4146152" y="1841129"/>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
        <p:nvSpPr>
          <p:cNvPr id="27" name="Text Box 26">
            <a:extLst>
              <a:ext uri="{FF2B5EF4-FFF2-40B4-BE49-F238E27FC236}">
                <a16:creationId xmlns:a16="http://schemas.microsoft.com/office/drawing/2014/main" id="{9F49B0E9-6A11-4B93-ABD3-140C3ED79599}"/>
              </a:ext>
            </a:extLst>
          </p:cNvPr>
          <p:cNvSpPr txBox="1">
            <a:spLocks noChangeArrowheads="1"/>
          </p:cNvSpPr>
          <p:nvPr/>
        </p:nvSpPr>
        <p:spPr bwMode="auto">
          <a:xfrm>
            <a:off x="6800197" y="2014595"/>
            <a:ext cx="1317625" cy="31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nSpc>
                <a:spcPct val="110000"/>
              </a:lnSpc>
            </a:pPr>
            <a:r>
              <a:rPr lang="zh-CN" altLang="en-US" sz="1400" dirty="0"/>
              <a:t>应用层</a:t>
            </a:r>
            <a:endParaRPr lang="en-US" altLang="zh-CN" sz="1400" dirty="0"/>
          </a:p>
        </p:txBody>
      </p:sp>
    </p:spTree>
    <p:extLst>
      <p:ext uri="{BB962C8B-B14F-4D97-AF65-F5344CB8AC3E}">
        <p14:creationId xmlns:p14="http://schemas.microsoft.com/office/powerpoint/2010/main" val="927503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64702"/>
                                        </p:tgtEl>
                                        <p:attrNameLst>
                                          <p:attrName>style.visibility</p:attrName>
                                        </p:attrNameLst>
                                      </p:cBhvr>
                                      <p:to>
                                        <p:strVal val="visible"/>
                                      </p:to>
                                    </p:set>
                                    <p:animEffect transition="in" filter="fade">
                                      <p:cBhvr>
                                        <p:cTn id="7" dur="500"/>
                                        <p:tgtEl>
                                          <p:spTgt spid="3647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14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41223" y="737937"/>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提供可靠字节流服务</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3CE43C2C-A889-4EE7-8615-4BCA0A34B5EE}"/>
              </a:ext>
            </a:extLst>
          </p:cNvPr>
          <p:cNvSpPr/>
          <p:nvPr/>
        </p:nvSpPr>
        <p:spPr>
          <a:xfrm>
            <a:off x="4514763" y="2384156"/>
            <a:ext cx="2259829" cy="1503681"/>
          </a:xfrm>
          <a:prstGeom prst="rect">
            <a:avLst/>
          </a:prstGeom>
          <a:ln>
            <a:solidFill>
              <a:schemeClr val="accent6">
                <a:lumMod val="75000"/>
              </a:schemeClr>
            </a:solidFill>
          </a:ln>
        </p:spPr>
        <p:txBody>
          <a:bodyPr wrap="square">
            <a:spAutoFit/>
          </a:bodyPr>
          <a:lstStyle/>
          <a:p>
            <a:pPr>
              <a:lnSpc>
                <a:spcPts val="2600"/>
              </a:lnSpc>
              <a:spcBef>
                <a:spcPts val="300"/>
              </a:spcBef>
              <a:buClr>
                <a:srgbClr val="2A09B7"/>
              </a:buClr>
            </a:pPr>
            <a:r>
              <a:rPr lang="zh-CN" altLang="en-US"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封装成段的时机</a:t>
            </a:r>
            <a:endParaRPr lang="en-US" altLang="zh-CN"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marL="266700" indent="-266700">
              <a:lnSpc>
                <a:spcPts val="2600"/>
              </a:lnSpc>
              <a:spcBef>
                <a:spcPts val="300"/>
              </a:spcBef>
              <a:buClr>
                <a:srgbClr val="2A09B7"/>
              </a:buClr>
              <a:buFont typeface="Wingdings" panose="05000000000000000000" pitchFamily="2" charset="2"/>
              <a:buChar char="Ø"/>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数据达到</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MSS</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大小</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300"/>
              </a:spcBef>
              <a:buClr>
                <a:srgbClr val="2A09B7"/>
              </a:buClr>
              <a:buFont typeface="Wingdings" panose="05000000000000000000" pitchFamily="2" charset="2"/>
              <a:buChar char="Ø"/>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定时器超时</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300"/>
              </a:spcBef>
              <a:buClr>
                <a:srgbClr val="2A09B7"/>
              </a:buClr>
              <a:buFont typeface="Wingdings" panose="05000000000000000000" pitchFamily="2" charset="2"/>
              <a:buChar char="Ø"/>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应用进程</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PUSH</a:t>
            </a: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a:t>
            </a:r>
          </a:p>
        </p:txBody>
      </p:sp>
      <p:sp>
        <p:nvSpPr>
          <p:cNvPr id="10" name="矩形 9">
            <a:extLst>
              <a:ext uri="{FF2B5EF4-FFF2-40B4-BE49-F238E27FC236}">
                <a16:creationId xmlns:a16="http://schemas.microsoft.com/office/drawing/2014/main" id="{3C86C51B-521A-4A67-A8E3-670B33BB28B1}"/>
              </a:ext>
            </a:extLst>
          </p:cNvPr>
          <p:cNvSpPr/>
          <p:nvPr/>
        </p:nvSpPr>
        <p:spPr>
          <a:xfrm>
            <a:off x="461236" y="5005847"/>
            <a:ext cx="7187596" cy="1114216"/>
          </a:xfrm>
          <a:prstGeom prst="rect">
            <a:avLst/>
          </a:prstGeom>
        </p:spPr>
        <p:txBody>
          <a:bodyPr wrap="square">
            <a:spAutoFit/>
          </a:bodyPr>
          <a:lstStyle/>
          <a:p>
            <a:pPr marL="266700" indent="-266700">
              <a:lnSpc>
                <a:spcPct val="110000"/>
              </a:lnSpc>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最大段长度（</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MSS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Maximum Segment Size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ct val="110000"/>
              </a:lnSpc>
              <a:buClr>
                <a:schemeClr val="tx1"/>
              </a:buClr>
              <a:buFont typeface="Times New Roman" panose="02020603050405020304" pitchFamily="18"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连接建立时通告（选项部分），缺省为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535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字节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ct val="110000"/>
              </a:lnSpc>
              <a:buClr>
                <a:schemeClr val="tx1"/>
              </a:buClr>
              <a:buFont typeface="Times New Roman" panose="02020603050405020304" pitchFamily="18"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MSS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尽可能大，但尽量不使</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层分片</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3" name="图片 12">
            <a:extLst>
              <a:ext uri="{FF2B5EF4-FFF2-40B4-BE49-F238E27FC236}">
                <a16:creationId xmlns:a16="http://schemas.microsoft.com/office/drawing/2014/main" id="{6C6AF9F7-7731-43DA-9AFB-FCC9894DB9C1}"/>
              </a:ext>
            </a:extLst>
          </p:cNvPr>
          <p:cNvPicPr>
            <a:picLocks noChangeAspect="1"/>
          </p:cNvPicPr>
          <p:nvPr/>
        </p:nvPicPr>
        <p:blipFill>
          <a:blip r:embed="rId3"/>
          <a:stretch>
            <a:fillRect/>
          </a:stretch>
        </p:blipFill>
        <p:spPr>
          <a:xfrm>
            <a:off x="1210453" y="1136327"/>
            <a:ext cx="6305781" cy="3999337"/>
          </a:xfrm>
          <a:prstGeom prst="rect">
            <a:avLst/>
          </a:prstGeom>
        </p:spPr>
      </p:pic>
      <p:pic>
        <p:nvPicPr>
          <p:cNvPr id="7" name="图片 6">
            <a:extLst>
              <a:ext uri="{FF2B5EF4-FFF2-40B4-BE49-F238E27FC236}">
                <a16:creationId xmlns:a16="http://schemas.microsoft.com/office/drawing/2014/main" id="{9EB6E2AF-70B5-496B-8D50-43FBB5B3A850}"/>
              </a:ext>
            </a:extLst>
          </p:cNvPr>
          <p:cNvPicPr>
            <a:picLocks noChangeAspect="1"/>
          </p:cNvPicPr>
          <p:nvPr/>
        </p:nvPicPr>
        <p:blipFill>
          <a:blip r:embed="rId4"/>
          <a:stretch>
            <a:fillRect/>
          </a:stretch>
        </p:blipFill>
        <p:spPr>
          <a:xfrm>
            <a:off x="958921" y="6137490"/>
            <a:ext cx="5453453" cy="419576"/>
          </a:xfrm>
          <a:prstGeom prst="rect">
            <a:avLst/>
          </a:prstGeom>
        </p:spPr>
      </p:pic>
    </p:spTree>
    <p:extLst>
      <p:ext uri="{BB962C8B-B14F-4D97-AF65-F5344CB8AC3E}">
        <p14:creationId xmlns:p14="http://schemas.microsoft.com/office/powerpoint/2010/main" val="16086477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41223" y="737937"/>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可靠数据传输</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3C86C51B-521A-4A67-A8E3-670B33BB28B1}"/>
              </a:ext>
            </a:extLst>
          </p:cNvPr>
          <p:cNvSpPr/>
          <p:nvPr/>
        </p:nvSpPr>
        <p:spPr>
          <a:xfrm>
            <a:off x="648759" y="1288598"/>
            <a:ext cx="7963900" cy="4696157"/>
          </a:xfrm>
          <a:prstGeom prst="rect">
            <a:avLst/>
          </a:prstGeom>
        </p:spPr>
        <p:txBody>
          <a:bodyPr wrap="square">
            <a:spAutoFit/>
          </a:bodyPr>
          <a:lstStyle/>
          <a:p>
            <a:pPr marL="266700" indent="-266700">
              <a:lnSpc>
                <a:spcPts val="28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基本机制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发送端：发送数据、等待确认、超时重传</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接收端：进行差错检测，采用累积确认机制（确认按序正确接收字节的下一个字节序号）</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8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支持流水线机制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发送序号：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确认序号：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每个字节都有序号</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，对段的边界没有要求</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800"/>
              </a:lnSpc>
              <a:spcBef>
                <a:spcPts val="600"/>
              </a:spcBef>
              <a:buClr>
                <a:srgbClr val="2A09B7"/>
              </a:buClr>
              <a:buFont typeface="Wingdings" panose="05000000000000000000" pitchFamily="2" charset="2"/>
              <a:buChar char="Ø"/>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乱序段处理：协议没有明确规定</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接收端不缓存，可正常工作，处理简单，效率低</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800"/>
              </a:lnSpc>
              <a:spcBef>
                <a:spcPts val="600"/>
              </a:spcBef>
              <a:buClr>
                <a:schemeClr val="tx1"/>
              </a:buClr>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接收端缓存，处理复杂，效率高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378D9FE0-6AF1-42E7-B98A-51A41E62F747}"/>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 name="文本框 1">
            <a:extLst>
              <a:ext uri="{FF2B5EF4-FFF2-40B4-BE49-F238E27FC236}">
                <a16:creationId xmlns:a16="http://schemas.microsoft.com/office/drawing/2014/main" id="{B2A1D302-27DC-4CE3-A100-ECCC1459ED9A}"/>
              </a:ext>
            </a:extLst>
          </p:cNvPr>
          <p:cNvSpPr txBox="1"/>
          <p:nvPr/>
        </p:nvSpPr>
        <p:spPr>
          <a:xfrm>
            <a:off x="707367" y="6084010"/>
            <a:ext cx="5912889" cy="369332"/>
          </a:xfrm>
          <a:prstGeom prst="rect">
            <a:avLst/>
          </a:prstGeom>
          <a:solidFill>
            <a:schemeClr val="accent2">
              <a:lumMod val="20000"/>
              <a:lumOff val="80000"/>
            </a:schemeClr>
          </a:solidFill>
          <a:ln>
            <a:noFill/>
          </a:ln>
        </p:spPr>
        <p:txBody>
          <a:bodyPr wrap="square" rtlCol="0">
            <a:spAutoFit/>
          </a:bodyPr>
          <a:lstStyle/>
          <a:p>
            <a:r>
              <a:rPr lang="en-US" altLang="zh-CN" dirty="0">
                <a:solidFill>
                  <a:srgbClr val="2618A8"/>
                </a:solidFill>
              </a:rPr>
              <a:t>TCP SACK</a:t>
            </a:r>
            <a:r>
              <a:rPr lang="zh-CN" altLang="en-US" dirty="0">
                <a:solidFill>
                  <a:srgbClr val="2618A8"/>
                </a:solidFill>
              </a:rPr>
              <a:t>扩展：缓存乱序段，结合选择确认机制（</a:t>
            </a:r>
            <a:r>
              <a:rPr lang="en-US" altLang="zh-CN" dirty="0">
                <a:solidFill>
                  <a:srgbClr val="2618A8"/>
                </a:solidFill>
              </a:rPr>
              <a:t>SACK</a:t>
            </a:r>
            <a:r>
              <a:rPr lang="zh-CN" altLang="en-US" dirty="0">
                <a:solidFill>
                  <a:srgbClr val="2618A8"/>
                </a:solidFill>
              </a:rPr>
              <a:t>）</a:t>
            </a:r>
          </a:p>
        </p:txBody>
      </p:sp>
    </p:spTree>
    <p:extLst>
      <p:ext uri="{BB962C8B-B14F-4D97-AF65-F5344CB8AC3E}">
        <p14:creationId xmlns:p14="http://schemas.microsoft.com/office/powerpoint/2010/main" val="5017854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41223" y="730002"/>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发送序号和确认序号</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对话气泡: 矩形 3">
            <a:extLst>
              <a:ext uri="{FF2B5EF4-FFF2-40B4-BE49-F238E27FC236}">
                <a16:creationId xmlns:a16="http://schemas.microsoft.com/office/drawing/2014/main" id="{1C68EDD2-4808-433B-9BAA-1665187A6DB8}"/>
              </a:ext>
            </a:extLst>
          </p:cNvPr>
          <p:cNvSpPr/>
          <p:nvPr/>
        </p:nvSpPr>
        <p:spPr>
          <a:xfrm>
            <a:off x="514218" y="3282132"/>
            <a:ext cx="1631924" cy="1067530"/>
          </a:xfrm>
          <a:prstGeom prst="wedgeRectCallout">
            <a:avLst>
              <a:gd name="adj1" fmla="val 118037"/>
              <a:gd name="adj2" fmla="val -99042"/>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6761785-1F47-4D70-8746-F19878F14D2C}"/>
              </a:ext>
            </a:extLst>
          </p:cNvPr>
          <p:cNvSpPr txBox="1"/>
          <p:nvPr/>
        </p:nvSpPr>
        <p:spPr>
          <a:xfrm>
            <a:off x="514218" y="3282132"/>
            <a:ext cx="1610044" cy="1077218"/>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发送序号：数据部分中第一个字节在字节流中的序号</a:t>
            </a:r>
          </a:p>
        </p:txBody>
      </p:sp>
      <p:sp>
        <p:nvSpPr>
          <p:cNvPr id="11" name="对话气泡: 矩形 10">
            <a:extLst>
              <a:ext uri="{FF2B5EF4-FFF2-40B4-BE49-F238E27FC236}">
                <a16:creationId xmlns:a16="http://schemas.microsoft.com/office/drawing/2014/main" id="{75A5D965-C06F-4AF1-8DE1-A28597CE68FC}"/>
              </a:ext>
            </a:extLst>
          </p:cNvPr>
          <p:cNvSpPr/>
          <p:nvPr/>
        </p:nvSpPr>
        <p:spPr>
          <a:xfrm>
            <a:off x="6410291" y="3282132"/>
            <a:ext cx="1631924" cy="874295"/>
          </a:xfrm>
          <a:prstGeom prst="wedgeRectCallout">
            <a:avLst>
              <a:gd name="adj1" fmla="val -127807"/>
              <a:gd name="adj2" fmla="val 114969"/>
            </a:avLst>
          </a:prstGeom>
          <a:solidFill>
            <a:srgbClr val="DFD1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宋体" panose="02010600030101010101" pitchFamily="2" charset="-122"/>
                <a:ea typeface="宋体" panose="02010600030101010101" pitchFamily="2" charset="-122"/>
              </a:rPr>
              <a:t>确认序号：期望接收的下一个字节的序号</a:t>
            </a:r>
          </a:p>
        </p:txBody>
      </p:sp>
      <p:sp>
        <p:nvSpPr>
          <p:cNvPr id="8" name="标题 1">
            <a:extLst>
              <a:ext uri="{FF2B5EF4-FFF2-40B4-BE49-F238E27FC236}">
                <a16:creationId xmlns:a16="http://schemas.microsoft.com/office/drawing/2014/main" id="{9AE5B628-35B2-4EA8-9ABD-FFD685B47E8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9" name="矩形 8">
            <a:extLst>
              <a:ext uri="{FF2B5EF4-FFF2-40B4-BE49-F238E27FC236}">
                <a16:creationId xmlns:a16="http://schemas.microsoft.com/office/drawing/2014/main" id="{DEE0F34D-DFCE-4552-ADAC-94B916B32C7E}"/>
              </a:ext>
            </a:extLst>
          </p:cNvPr>
          <p:cNvSpPr/>
          <p:nvPr/>
        </p:nvSpPr>
        <p:spPr>
          <a:xfrm>
            <a:off x="888102" y="5657847"/>
            <a:ext cx="7302152" cy="828304"/>
          </a:xfrm>
          <a:prstGeom prst="rect">
            <a:avLst/>
          </a:prstGeom>
          <a:solidFill>
            <a:schemeClr val="accent6">
              <a:lumMod val="20000"/>
              <a:lumOff val="80000"/>
            </a:schemeClr>
          </a:solidFill>
          <a:ln>
            <a:solidFill>
              <a:srgbClr val="C00000"/>
            </a:solidFill>
          </a:ln>
        </p:spPr>
        <p:txBody>
          <a:bodyPr wrap="square">
            <a:spAutoFit/>
          </a:bodyPr>
          <a:lstStyle/>
          <a:p>
            <a:pPr>
              <a:lnSpc>
                <a:spcPts val="3000"/>
              </a:lnSpc>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ISN</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选取</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实体维护一个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位计数器，该计数器每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微秒增</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，建立连接时读取计数器当前值（</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依赖具体实现</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B151D137-1E5E-49BB-9AF4-D6C9C9F1D6F0}"/>
              </a:ext>
            </a:extLst>
          </p:cNvPr>
          <p:cNvPicPr>
            <a:picLocks noChangeAspect="1"/>
          </p:cNvPicPr>
          <p:nvPr/>
        </p:nvPicPr>
        <p:blipFill>
          <a:blip r:embed="rId3"/>
          <a:stretch>
            <a:fillRect/>
          </a:stretch>
        </p:blipFill>
        <p:spPr>
          <a:xfrm>
            <a:off x="1111719" y="1365759"/>
            <a:ext cx="7451837" cy="4030554"/>
          </a:xfrm>
          <a:prstGeom prst="rect">
            <a:avLst/>
          </a:prstGeom>
        </p:spPr>
      </p:pic>
    </p:spTree>
    <p:extLst>
      <p:ext uri="{BB962C8B-B14F-4D97-AF65-F5344CB8AC3E}">
        <p14:creationId xmlns:p14="http://schemas.microsoft.com/office/powerpoint/2010/main" val="663072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a:xfrm>
            <a:off x="323850" y="620713"/>
            <a:ext cx="8569325" cy="792162"/>
          </a:xfrm>
        </p:spPr>
        <p:txBody>
          <a:bodyPr>
            <a:normAutofit/>
          </a:body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可靠数据传输状态机</a:t>
            </a:r>
            <a:endParaRPr lang="en-US" altLang="zh-CN" sz="2800" dirty="0">
              <a:latin typeface="Arial" pitchFamily="34" charset="0"/>
              <a:ea typeface="宋体" pitchFamily="2" charset="-122"/>
            </a:endParaRPr>
          </a:p>
        </p:txBody>
      </p:sp>
      <p:sp>
        <p:nvSpPr>
          <p:cNvPr id="74758" name="Oval 4"/>
          <p:cNvSpPr>
            <a:spLocks noChangeArrowheads="1"/>
          </p:cNvSpPr>
          <p:nvPr/>
        </p:nvSpPr>
        <p:spPr bwMode="auto">
          <a:xfrm>
            <a:off x="700429" y="3108774"/>
            <a:ext cx="1228725" cy="1162050"/>
          </a:xfrm>
          <a:prstGeom prst="ellipse">
            <a:avLst/>
          </a:prstGeom>
          <a:solidFill>
            <a:schemeClr val="accent2"/>
          </a:solidFill>
          <a:ln w="9525">
            <a:noFill/>
            <a:round/>
            <a:headEnd/>
            <a:tailEnd/>
          </a:ln>
        </p:spPr>
        <p:txBody>
          <a:bodyPr wrap="none" anchor="ctr"/>
          <a:lstStyle/>
          <a:p>
            <a:pPr eaLnBrk="0" hangingPunct="0">
              <a:lnSpc>
                <a:spcPct val="100000"/>
              </a:lnSpc>
              <a:spcBef>
                <a:spcPct val="0"/>
              </a:spcBef>
              <a:buClrTx/>
              <a:buFontTx/>
              <a:buNone/>
            </a:pPr>
            <a:r>
              <a:rPr kumimoji="0" lang="en-US" altLang="zh-CN">
                <a:ea typeface="宋体" pitchFamily="2" charset="-122"/>
              </a:rPr>
              <a:t>wait</a:t>
            </a:r>
          </a:p>
          <a:p>
            <a:pPr eaLnBrk="0" hangingPunct="0">
              <a:lnSpc>
                <a:spcPct val="100000"/>
              </a:lnSpc>
              <a:spcBef>
                <a:spcPct val="0"/>
              </a:spcBef>
              <a:buClrTx/>
              <a:buFontTx/>
              <a:buNone/>
            </a:pPr>
            <a:r>
              <a:rPr kumimoji="0" lang="en-US" altLang="zh-CN">
                <a:ea typeface="宋体" pitchFamily="2" charset="-122"/>
              </a:rPr>
              <a:t>for </a:t>
            </a:r>
          </a:p>
          <a:p>
            <a:pPr eaLnBrk="0" hangingPunct="0">
              <a:lnSpc>
                <a:spcPct val="100000"/>
              </a:lnSpc>
              <a:spcBef>
                <a:spcPct val="0"/>
              </a:spcBef>
              <a:buClrTx/>
              <a:buFontTx/>
              <a:buNone/>
            </a:pPr>
            <a:r>
              <a:rPr kumimoji="0" lang="en-US" altLang="zh-CN">
                <a:ea typeface="宋体" pitchFamily="2" charset="-122"/>
              </a:rPr>
              <a:t>event</a:t>
            </a:r>
            <a:endParaRPr kumimoji="0" lang="en-US" altLang="zh-CN" sz="1000">
              <a:latin typeface="Times New Roman" pitchFamily="18" charset="0"/>
              <a:ea typeface="宋体" pitchFamily="2" charset="-122"/>
            </a:endParaRPr>
          </a:p>
        </p:txBody>
      </p:sp>
      <p:sp>
        <p:nvSpPr>
          <p:cNvPr id="74759" name="Oval 5"/>
          <p:cNvSpPr>
            <a:spLocks noChangeArrowheads="1"/>
          </p:cNvSpPr>
          <p:nvPr/>
        </p:nvSpPr>
        <p:spPr bwMode="auto">
          <a:xfrm>
            <a:off x="643279" y="3156399"/>
            <a:ext cx="1228725" cy="1162050"/>
          </a:xfrm>
          <a:prstGeom prst="ellipse">
            <a:avLst/>
          </a:prstGeom>
          <a:solidFill>
            <a:schemeClr val="bg1"/>
          </a:solidFill>
          <a:ln w="9525">
            <a:solidFill>
              <a:schemeClr val="tx1"/>
            </a:solidFill>
            <a:round/>
            <a:headEnd/>
            <a:tailEnd/>
          </a:ln>
        </p:spPr>
        <p:txBody>
          <a:bodyPr wrap="none" anchor="ctr"/>
          <a:lstStyle/>
          <a:p>
            <a:pPr algn="ctr" eaLnBrk="0" hangingPunct="0">
              <a:lnSpc>
                <a:spcPct val="100000"/>
              </a:lnSpc>
              <a:spcBef>
                <a:spcPct val="0"/>
              </a:spcBef>
              <a:buClrTx/>
              <a:buFontTx/>
              <a:buNone/>
            </a:pPr>
            <a:r>
              <a:rPr kumimoji="0" lang="zh-CN" altLang="en-US" sz="2000" dirty="0">
                <a:ea typeface="宋体" pitchFamily="2" charset="-122"/>
              </a:rPr>
              <a:t>等待</a:t>
            </a:r>
            <a:endParaRPr kumimoji="0" lang="en-US" altLang="zh-CN" sz="2000" dirty="0">
              <a:ea typeface="宋体" pitchFamily="2" charset="-122"/>
            </a:endParaRPr>
          </a:p>
          <a:p>
            <a:pPr algn="ctr" eaLnBrk="0" hangingPunct="0">
              <a:lnSpc>
                <a:spcPct val="100000"/>
              </a:lnSpc>
              <a:spcBef>
                <a:spcPct val="0"/>
              </a:spcBef>
              <a:buClrTx/>
              <a:buFontTx/>
              <a:buNone/>
            </a:pPr>
            <a:r>
              <a:rPr kumimoji="0" lang="zh-CN" altLang="en-US" sz="2000" dirty="0">
                <a:ea typeface="宋体" pitchFamily="2" charset="-122"/>
              </a:rPr>
              <a:t>事件</a:t>
            </a:r>
            <a:endParaRPr kumimoji="0" lang="en-US" altLang="zh-CN" sz="1000" dirty="0">
              <a:latin typeface="Times New Roman" pitchFamily="18" charset="0"/>
              <a:ea typeface="宋体" pitchFamily="2" charset="-122"/>
            </a:endParaRPr>
          </a:p>
        </p:txBody>
      </p:sp>
      <p:sp>
        <p:nvSpPr>
          <p:cNvPr id="74760" name="Freeform 6"/>
          <p:cNvSpPr>
            <a:spLocks/>
          </p:cNvSpPr>
          <p:nvPr/>
        </p:nvSpPr>
        <p:spPr bwMode="auto">
          <a:xfrm>
            <a:off x="986179" y="2461074"/>
            <a:ext cx="819150" cy="695325"/>
          </a:xfrm>
          <a:custGeom>
            <a:avLst/>
            <a:gdLst>
              <a:gd name="T0" fmla="*/ 2147483647 w 516"/>
              <a:gd name="T1" fmla="*/ 2147483647 h 438"/>
              <a:gd name="T2" fmla="*/ 2147483647 w 516"/>
              <a:gd name="T3" fmla="*/ 2147483647 h 438"/>
              <a:gd name="T4" fmla="*/ 2147483647 w 516"/>
              <a:gd name="T5" fmla="*/ 2147483647 h 438"/>
              <a:gd name="T6" fmla="*/ 0 60000 65536"/>
              <a:gd name="T7" fmla="*/ 0 60000 65536"/>
              <a:gd name="T8" fmla="*/ 0 60000 65536"/>
              <a:gd name="T9" fmla="*/ 0 w 516"/>
              <a:gd name="T10" fmla="*/ 0 h 438"/>
              <a:gd name="T11" fmla="*/ 516 w 516"/>
              <a:gd name="T12" fmla="*/ 438 h 438"/>
            </a:gdLst>
            <a:ahLst/>
            <a:cxnLst>
              <a:cxn ang="T6">
                <a:pos x="T0" y="T1"/>
              </a:cxn>
              <a:cxn ang="T7">
                <a:pos x="T2" y="T3"/>
              </a:cxn>
              <a:cxn ang="T8">
                <a:pos x="T4" y="T5"/>
              </a:cxn>
            </a:cxnLst>
            <a:rect l="T9" t="T10" r="T11" b="T12"/>
            <a:pathLst>
              <a:path w="516" h="438">
                <a:moveTo>
                  <a:pt x="150" y="432"/>
                </a:moveTo>
                <a:cubicBezTo>
                  <a:pt x="24" y="198"/>
                  <a:pt x="0" y="0"/>
                  <a:pt x="258" y="6"/>
                </a:cubicBezTo>
                <a:cubicBezTo>
                  <a:pt x="516" y="12"/>
                  <a:pt x="462" y="216"/>
                  <a:pt x="348" y="438"/>
                </a:cubicBezTo>
              </a:path>
            </a:pathLst>
          </a:custGeom>
          <a:noFill/>
          <a:ln w="28575">
            <a:solidFill>
              <a:schemeClr val="tx1"/>
            </a:solidFill>
            <a:round/>
            <a:headEnd/>
            <a:tailEnd type="triangle" w="med" len="med"/>
          </a:ln>
        </p:spPr>
        <p:txBody>
          <a:bodyPr wrap="none" anchor="ctr"/>
          <a:lstStyle/>
          <a:p>
            <a:endParaRPr lang="zh-CN" altLang="en-US"/>
          </a:p>
        </p:txBody>
      </p:sp>
      <p:sp>
        <p:nvSpPr>
          <p:cNvPr id="74761" name="Text Box 7"/>
          <p:cNvSpPr txBox="1">
            <a:spLocks noChangeArrowheads="1"/>
          </p:cNvSpPr>
          <p:nvPr/>
        </p:nvSpPr>
        <p:spPr bwMode="auto">
          <a:xfrm>
            <a:off x="424766" y="1487937"/>
            <a:ext cx="2482850" cy="64135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solidFill>
                  <a:srgbClr val="FF0000"/>
                </a:solidFill>
                <a:latin typeface="Arial" charset="0"/>
                <a:ea typeface="宋体" pitchFamily="2" charset="-122"/>
              </a:rPr>
              <a:t>event:</a:t>
            </a:r>
            <a:r>
              <a:rPr kumimoji="0" lang="en-US" altLang="zh-CN" dirty="0">
                <a:latin typeface="Arial" charset="0"/>
                <a:ea typeface="宋体" pitchFamily="2" charset="-122"/>
              </a:rPr>
              <a:t> data received </a:t>
            </a:r>
          </a:p>
          <a:p>
            <a:pPr eaLnBrk="0" hangingPunct="0">
              <a:lnSpc>
                <a:spcPct val="100000"/>
              </a:lnSpc>
              <a:spcBef>
                <a:spcPct val="0"/>
              </a:spcBef>
              <a:buClrTx/>
              <a:buFontTx/>
              <a:buNone/>
            </a:pPr>
            <a:r>
              <a:rPr kumimoji="0" lang="en-US" altLang="zh-CN" dirty="0">
                <a:latin typeface="Arial" charset="0"/>
                <a:ea typeface="宋体" pitchFamily="2" charset="-122"/>
              </a:rPr>
              <a:t>from application above</a:t>
            </a:r>
          </a:p>
        </p:txBody>
      </p:sp>
      <p:sp>
        <p:nvSpPr>
          <p:cNvPr id="74762" name="Freeform 8"/>
          <p:cNvSpPr>
            <a:spLocks/>
          </p:cNvSpPr>
          <p:nvPr/>
        </p:nvSpPr>
        <p:spPr bwMode="auto">
          <a:xfrm rot="5011480">
            <a:off x="1733892" y="3508824"/>
            <a:ext cx="819150" cy="438150"/>
          </a:xfrm>
          <a:custGeom>
            <a:avLst/>
            <a:gdLst>
              <a:gd name="T0" fmla="*/ 2147483647 w 516"/>
              <a:gd name="T1" fmla="*/ 2147483647 h 438"/>
              <a:gd name="T2" fmla="*/ 2147483647 w 516"/>
              <a:gd name="T3" fmla="*/ 2147483647 h 438"/>
              <a:gd name="T4" fmla="*/ 2147483647 w 516"/>
              <a:gd name="T5" fmla="*/ 2147483647 h 438"/>
              <a:gd name="T6" fmla="*/ 0 60000 65536"/>
              <a:gd name="T7" fmla="*/ 0 60000 65536"/>
              <a:gd name="T8" fmla="*/ 0 60000 65536"/>
              <a:gd name="T9" fmla="*/ 0 w 516"/>
              <a:gd name="T10" fmla="*/ 0 h 438"/>
              <a:gd name="T11" fmla="*/ 516 w 516"/>
              <a:gd name="T12" fmla="*/ 438 h 438"/>
            </a:gdLst>
            <a:ahLst/>
            <a:cxnLst>
              <a:cxn ang="T6">
                <a:pos x="T0" y="T1"/>
              </a:cxn>
              <a:cxn ang="T7">
                <a:pos x="T2" y="T3"/>
              </a:cxn>
              <a:cxn ang="T8">
                <a:pos x="T4" y="T5"/>
              </a:cxn>
            </a:cxnLst>
            <a:rect l="T9" t="T10" r="T11" b="T12"/>
            <a:pathLst>
              <a:path w="516" h="438">
                <a:moveTo>
                  <a:pt x="150" y="432"/>
                </a:moveTo>
                <a:cubicBezTo>
                  <a:pt x="24" y="198"/>
                  <a:pt x="0" y="0"/>
                  <a:pt x="258" y="6"/>
                </a:cubicBezTo>
                <a:cubicBezTo>
                  <a:pt x="516" y="12"/>
                  <a:pt x="462" y="216"/>
                  <a:pt x="348" y="438"/>
                </a:cubicBezTo>
              </a:path>
            </a:pathLst>
          </a:custGeom>
          <a:noFill/>
          <a:ln w="28575">
            <a:solidFill>
              <a:schemeClr val="tx1"/>
            </a:solidFill>
            <a:round/>
            <a:headEnd/>
            <a:tailEnd type="triangle" w="med" len="med"/>
          </a:ln>
        </p:spPr>
        <p:txBody>
          <a:bodyPr wrap="none" anchor="ctr"/>
          <a:lstStyle/>
          <a:p>
            <a:endParaRPr lang="zh-CN" altLang="en-US"/>
          </a:p>
        </p:txBody>
      </p:sp>
      <p:sp>
        <p:nvSpPr>
          <p:cNvPr id="74763" name="Freeform 9"/>
          <p:cNvSpPr>
            <a:spLocks/>
          </p:cNvSpPr>
          <p:nvPr/>
        </p:nvSpPr>
        <p:spPr bwMode="auto">
          <a:xfrm rot="10627075">
            <a:off x="938554" y="4308924"/>
            <a:ext cx="819150" cy="695325"/>
          </a:xfrm>
          <a:custGeom>
            <a:avLst/>
            <a:gdLst>
              <a:gd name="T0" fmla="*/ 2147483647 w 516"/>
              <a:gd name="T1" fmla="*/ 2147483647 h 438"/>
              <a:gd name="T2" fmla="*/ 2147483647 w 516"/>
              <a:gd name="T3" fmla="*/ 2147483647 h 438"/>
              <a:gd name="T4" fmla="*/ 2147483647 w 516"/>
              <a:gd name="T5" fmla="*/ 2147483647 h 438"/>
              <a:gd name="T6" fmla="*/ 0 60000 65536"/>
              <a:gd name="T7" fmla="*/ 0 60000 65536"/>
              <a:gd name="T8" fmla="*/ 0 60000 65536"/>
              <a:gd name="T9" fmla="*/ 0 w 516"/>
              <a:gd name="T10" fmla="*/ 0 h 438"/>
              <a:gd name="T11" fmla="*/ 516 w 516"/>
              <a:gd name="T12" fmla="*/ 438 h 438"/>
            </a:gdLst>
            <a:ahLst/>
            <a:cxnLst>
              <a:cxn ang="T6">
                <a:pos x="T0" y="T1"/>
              </a:cxn>
              <a:cxn ang="T7">
                <a:pos x="T2" y="T3"/>
              </a:cxn>
              <a:cxn ang="T8">
                <a:pos x="T4" y="T5"/>
              </a:cxn>
            </a:cxnLst>
            <a:rect l="T9" t="T10" r="T11" b="T12"/>
            <a:pathLst>
              <a:path w="516" h="438">
                <a:moveTo>
                  <a:pt x="150" y="432"/>
                </a:moveTo>
                <a:cubicBezTo>
                  <a:pt x="24" y="198"/>
                  <a:pt x="0" y="0"/>
                  <a:pt x="258" y="6"/>
                </a:cubicBezTo>
                <a:cubicBezTo>
                  <a:pt x="516" y="12"/>
                  <a:pt x="462" y="216"/>
                  <a:pt x="348" y="438"/>
                </a:cubicBezTo>
              </a:path>
            </a:pathLst>
          </a:custGeom>
          <a:noFill/>
          <a:ln w="28575">
            <a:solidFill>
              <a:schemeClr val="tx1"/>
            </a:solidFill>
            <a:round/>
            <a:headEnd/>
            <a:tailEnd type="triangle" w="med" len="med"/>
          </a:ln>
        </p:spPr>
        <p:txBody>
          <a:bodyPr wrap="none" anchor="ctr"/>
          <a:lstStyle/>
          <a:p>
            <a:endParaRPr lang="zh-CN" altLang="en-US"/>
          </a:p>
        </p:txBody>
      </p:sp>
      <p:sp>
        <p:nvSpPr>
          <p:cNvPr id="74764" name="Text Box 10"/>
          <p:cNvSpPr txBox="1">
            <a:spLocks noChangeArrowheads="1"/>
          </p:cNvSpPr>
          <p:nvPr/>
        </p:nvSpPr>
        <p:spPr bwMode="auto">
          <a:xfrm>
            <a:off x="2322854" y="3116712"/>
            <a:ext cx="2584450" cy="64135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solidFill>
                  <a:srgbClr val="FF0000"/>
                </a:solidFill>
                <a:latin typeface="Arial" charset="0"/>
                <a:ea typeface="宋体" pitchFamily="2" charset="-122"/>
              </a:rPr>
              <a:t>event:</a:t>
            </a:r>
            <a:r>
              <a:rPr kumimoji="0" lang="en-US" altLang="zh-CN" dirty="0">
                <a:latin typeface="Arial" charset="0"/>
                <a:ea typeface="宋体" pitchFamily="2" charset="-122"/>
              </a:rPr>
              <a:t> timer timeout for </a:t>
            </a:r>
          </a:p>
          <a:p>
            <a:pPr eaLnBrk="0" hangingPunct="0">
              <a:lnSpc>
                <a:spcPct val="100000"/>
              </a:lnSpc>
              <a:spcBef>
                <a:spcPct val="0"/>
              </a:spcBef>
              <a:buClrTx/>
              <a:buFontTx/>
              <a:buNone/>
            </a:pPr>
            <a:r>
              <a:rPr kumimoji="0" lang="en-US" altLang="zh-CN" dirty="0">
                <a:latin typeface="Arial" charset="0"/>
                <a:ea typeface="宋体" pitchFamily="2" charset="-122"/>
              </a:rPr>
              <a:t>segment with seq # y</a:t>
            </a:r>
          </a:p>
        </p:txBody>
      </p:sp>
      <p:sp>
        <p:nvSpPr>
          <p:cNvPr id="74765" name="Text Box 11"/>
          <p:cNvSpPr txBox="1">
            <a:spLocks noChangeArrowheads="1"/>
          </p:cNvSpPr>
          <p:nvPr/>
        </p:nvSpPr>
        <p:spPr bwMode="auto">
          <a:xfrm>
            <a:off x="396464" y="5012187"/>
            <a:ext cx="2330450" cy="64135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a:solidFill>
                  <a:srgbClr val="FF0000"/>
                </a:solidFill>
                <a:latin typeface="Arial" charset="0"/>
                <a:ea typeface="宋体" pitchFamily="2" charset="-122"/>
              </a:rPr>
              <a:t>event:</a:t>
            </a:r>
            <a:r>
              <a:rPr kumimoji="0" lang="en-US" altLang="zh-CN">
                <a:latin typeface="Arial" charset="0"/>
                <a:ea typeface="宋体" pitchFamily="2" charset="-122"/>
              </a:rPr>
              <a:t> ACK received,</a:t>
            </a:r>
          </a:p>
          <a:p>
            <a:pPr eaLnBrk="0" hangingPunct="0">
              <a:lnSpc>
                <a:spcPct val="100000"/>
              </a:lnSpc>
              <a:spcBef>
                <a:spcPct val="0"/>
              </a:spcBef>
              <a:buClrTx/>
              <a:buFontTx/>
              <a:buNone/>
            </a:pPr>
            <a:r>
              <a:rPr kumimoji="0" lang="en-US" altLang="zh-CN">
                <a:latin typeface="Arial" charset="0"/>
                <a:ea typeface="宋体" pitchFamily="2" charset="-122"/>
              </a:rPr>
              <a:t>with ACK # y</a:t>
            </a:r>
            <a:endParaRPr kumimoji="0" lang="en-US" altLang="zh-CN" sz="1400">
              <a:latin typeface="Arial" charset="0"/>
              <a:ea typeface="宋体" pitchFamily="2" charset="-122"/>
            </a:endParaRPr>
          </a:p>
        </p:txBody>
      </p:sp>
      <p:sp>
        <p:nvSpPr>
          <p:cNvPr id="74766" name="Text Box 12"/>
          <p:cNvSpPr txBox="1">
            <a:spLocks noChangeArrowheads="1"/>
          </p:cNvSpPr>
          <p:nvPr/>
        </p:nvSpPr>
        <p:spPr bwMode="auto">
          <a:xfrm>
            <a:off x="445403" y="2084306"/>
            <a:ext cx="2381250" cy="36671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latin typeface="Arial" charset="0"/>
                <a:ea typeface="宋体" pitchFamily="2" charset="-122"/>
              </a:rPr>
              <a:t>create, send segment</a:t>
            </a:r>
            <a:endParaRPr kumimoji="0" lang="en-US" altLang="zh-CN" sz="1400" dirty="0">
              <a:latin typeface="Arial" charset="0"/>
              <a:ea typeface="宋体" pitchFamily="2" charset="-122"/>
            </a:endParaRPr>
          </a:p>
        </p:txBody>
      </p:sp>
      <p:sp>
        <p:nvSpPr>
          <p:cNvPr id="74767" name="Line 13"/>
          <p:cNvSpPr>
            <a:spLocks noChangeShapeType="1"/>
          </p:cNvSpPr>
          <p:nvPr/>
        </p:nvSpPr>
        <p:spPr bwMode="auto">
          <a:xfrm>
            <a:off x="512078" y="2118174"/>
            <a:ext cx="2419350" cy="1588"/>
          </a:xfrm>
          <a:prstGeom prst="line">
            <a:avLst/>
          </a:prstGeom>
          <a:noFill/>
          <a:ln w="19050">
            <a:solidFill>
              <a:schemeClr val="tx1"/>
            </a:solidFill>
            <a:round/>
            <a:headEnd/>
            <a:tailEnd/>
          </a:ln>
        </p:spPr>
        <p:txBody>
          <a:bodyPr wrap="none" anchor="ctr"/>
          <a:lstStyle/>
          <a:p>
            <a:endParaRPr lang="zh-CN" altLang="en-US"/>
          </a:p>
        </p:txBody>
      </p:sp>
      <p:sp>
        <p:nvSpPr>
          <p:cNvPr id="74768" name="Text Box 14"/>
          <p:cNvSpPr txBox="1">
            <a:spLocks noChangeArrowheads="1"/>
          </p:cNvSpPr>
          <p:nvPr/>
        </p:nvSpPr>
        <p:spPr bwMode="auto">
          <a:xfrm>
            <a:off x="2372967" y="3773937"/>
            <a:ext cx="2326278"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b="1" dirty="0">
                <a:solidFill>
                  <a:srgbClr val="2A09B7"/>
                </a:solidFill>
                <a:latin typeface="Arial" charset="0"/>
                <a:ea typeface="宋体" pitchFamily="2" charset="-122"/>
              </a:rPr>
              <a:t>retransmit segment</a:t>
            </a:r>
            <a:endParaRPr kumimoji="0" lang="en-US" altLang="zh-CN" sz="1400" b="1" dirty="0">
              <a:solidFill>
                <a:srgbClr val="2A09B7"/>
              </a:solidFill>
              <a:latin typeface="Arial" charset="0"/>
              <a:ea typeface="宋体" pitchFamily="2" charset="-122"/>
            </a:endParaRPr>
          </a:p>
        </p:txBody>
      </p:sp>
      <p:sp>
        <p:nvSpPr>
          <p:cNvPr id="74769" name="Line 15"/>
          <p:cNvSpPr>
            <a:spLocks noChangeShapeType="1"/>
          </p:cNvSpPr>
          <p:nvPr/>
        </p:nvSpPr>
        <p:spPr bwMode="auto">
          <a:xfrm flipV="1">
            <a:off x="2453029" y="3775524"/>
            <a:ext cx="2247900" cy="9525"/>
          </a:xfrm>
          <a:prstGeom prst="line">
            <a:avLst/>
          </a:prstGeom>
          <a:noFill/>
          <a:ln w="19050">
            <a:solidFill>
              <a:schemeClr val="tx1"/>
            </a:solidFill>
            <a:round/>
            <a:headEnd/>
            <a:tailEnd/>
          </a:ln>
        </p:spPr>
        <p:txBody>
          <a:bodyPr wrap="none" anchor="ctr"/>
          <a:lstStyle/>
          <a:p>
            <a:endParaRPr lang="zh-CN" altLang="en-US"/>
          </a:p>
        </p:txBody>
      </p:sp>
      <p:sp>
        <p:nvSpPr>
          <p:cNvPr id="74770" name="Line 16"/>
          <p:cNvSpPr>
            <a:spLocks noChangeShapeType="1"/>
          </p:cNvSpPr>
          <p:nvPr/>
        </p:nvSpPr>
        <p:spPr bwMode="auto">
          <a:xfrm>
            <a:off x="521876" y="5661474"/>
            <a:ext cx="2066925" cy="9525"/>
          </a:xfrm>
          <a:prstGeom prst="line">
            <a:avLst/>
          </a:prstGeom>
          <a:noFill/>
          <a:ln w="19050">
            <a:solidFill>
              <a:schemeClr val="tx1"/>
            </a:solidFill>
            <a:round/>
            <a:headEnd/>
            <a:tailEnd/>
          </a:ln>
        </p:spPr>
        <p:txBody>
          <a:bodyPr wrap="none" anchor="ctr"/>
          <a:lstStyle/>
          <a:p>
            <a:endParaRPr lang="zh-CN" altLang="en-US"/>
          </a:p>
        </p:txBody>
      </p:sp>
      <p:sp>
        <p:nvSpPr>
          <p:cNvPr id="74771" name="Text Box 17"/>
          <p:cNvSpPr txBox="1">
            <a:spLocks noChangeArrowheads="1"/>
          </p:cNvSpPr>
          <p:nvPr/>
        </p:nvSpPr>
        <p:spPr bwMode="auto">
          <a:xfrm>
            <a:off x="571588" y="5678936"/>
            <a:ext cx="1822450" cy="36671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latin typeface="Arial" charset="0"/>
                <a:ea typeface="宋体" pitchFamily="2" charset="-122"/>
              </a:rPr>
              <a:t>ACK processing</a:t>
            </a:r>
            <a:endParaRPr kumimoji="0" lang="en-US" altLang="zh-CN" sz="1400" dirty="0">
              <a:latin typeface="Arial" charset="0"/>
              <a:ea typeface="宋体" pitchFamily="2" charset="-122"/>
            </a:endParaRPr>
          </a:p>
        </p:txBody>
      </p:sp>
      <p:sp>
        <p:nvSpPr>
          <p:cNvPr id="18" name="标题 1">
            <a:extLst>
              <a:ext uri="{FF2B5EF4-FFF2-40B4-BE49-F238E27FC236}">
                <a16:creationId xmlns:a16="http://schemas.microsoft.com/office/drawing/2014/main" id="{2E63BB4F-4319-4A7B-BC3D-4C9B76D725F5}"/>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pic>
        <p:nvPicPr>
          <p:cNvPr id="19" name="图片 18">
            <a:extLst>
              <a:ext uri="{FF2B5EF4-FFF2-40B4-BE49-F238E27FC236}">
                <a16:creationId xmlns:a16="http://schemas.microsoft.com/office/drawing/2014/main" id="{5C7EA1A5-2C4C-4EEF-91B2-08159E0760EA}"/>
              </a:ext>
            </a:extLst>
          </p:cNvPr>
          <p:cNvPicPr>
            <a:picLocks noChangeAspect="1"/>
          </p:cNvPicPr>
          <p:nvPr/>
        </p:nvPicPr>
        <p:blipFill>
          <a:blip r:embed="rId3"/>
          <a:stretch>
            <a:fillRect/>
          </a:stretch>
        </p:blipFill>
        <p:spPr>
          <a:xfrm>
            <a:off x="2931428" y="4317273"/>
            <a:ext cx="5816108" cy="2090069"/>
          </a:xfrm>
          <a:prstGeom prst="rect">
            <a:avLst/>
          </a:prstGeom>
        </p:spPr>
      </p:pic>
    </p:spTree>
    <p:extLst>
      <p:ext uri="{BB962C8B-B14F-4D97-AF65-F5344CB8AC3E}">
        <p14:creationId xmlns:p14="http://schemas.microsoft.com/office/powerpoint/2010/main" val="5556755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4986A784-8C8F-4DC9-9642-42D0A8058C1C}"/>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接收端</a:t>
            </a:r>
            <a:r>
              <a:rPr lang="en-US" altLang="zh-CN" sz="2800" dirty="0">
                <a:latin typeface="Arial" pitchFamily="34" charset="0"/>
                <a:ea typeface="宋体" pitchFamily="2" charset="-122"/>
              </a:rPr>
              <a:t>ACK</a:t>
            </a:r>
            <a:r>
              <a:rPr lang="zh-CN" altLang="en-US" sz="2800" dirty="0">
                <a:latin typeface="Arial" pitchFamily="34" charset="0"/>
                <a:ea typeface="宋体" pitchFamily="2" charset="-122"/>
              </a:rPr>
              <a:t>机制</a:t>
            </a:r>
            <a:endParaRPr lang="en-US" altLang="zh-CN" sz="2800" dirty="0">
              <a:latin typeface="Arial" pitchFamily="34" charset="0"/>
              <a:ea typeface="宋体" pitchFamily="2" charset="-122"/>
            </a:endParaRPr>
          </a:p>
        </p:txBody>
      </p:sp>
      <p:sp>
        <p:nvSpPr>
          <p:cNvPr id="12" name="标题 1">
            <a:extLst>
              <a:ext uri="{FF2B5EF4-FFF2-40B4-BE49-F238E27FC236}">
                <a16:creationId xmlns:a16="http://schemas.microsoft.com/office/drawing/2014/main" id="{7B3094D6-28DB-4000-A281-C8D19A8BF3F5}"/>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13" name="Text Box 3">
            <a:extLst>
              <a:ext uri="{FF2B5EF4-FFF2-40B4-BE49-F238E27FC236}">
                <a16:creationId xmlns:a16="http://schemas.microsoft.com/office/drawing/2014/main" id="{80065686-02A6-414E-94F5-B7DDCC272AC7}"/>
              </a:ext>
            </a:extLst>
          </p:cNvPr>
          <p:cNvSpPr txBox="1">
            <a:spLocks noChangeArrowheads="1"/>
          </p:cNvSpPr>
          <p:nvPr/>
        </p:nvSpPr>
        <p:spPr bwMode="auto">
          <a:xfrm>
            <a:off x="608570" y="5871984"/>
            <a:ext cx="6193536" cy="400110"/>
          </a:xfrm>
          <a:prstGeom prst="rect">
            <a:avLst/>
          </a:prstGeom>
          <a:solidFill>
            <a:schemeClr val="accent6">
              <a:lumMod val="20000"/>
              <a:lumOff val="80000"/>
            </a:schemeClr>
          </a:solidFill>
          <a:ln w="9525">
            <a:solidFill>
              <a:schemeClr val="accent1"/>
            </a:solidFill>
            <a:miter lim="800000"/>
            <a:headEnd/>
            <a:tailEnd/>
          </a:ln>
        </p:spPr>
        <p:txBody>
          <a:bodyPr wrap="square">
            <a:spAutoFit/>
          </a:bodyPr>
          <a:lstStyle/>
          <a:p>
            <a:pPr algn="ctr" eaLnBrk="0" hangingPunct="0">
              <a:lnSpc>
                <a:spcPct val="100000"/>
              </a:lnSpc>
              <a:spcBef>
                <a:spcPct val="0"/>
              </a:spcBef>
              <a:buClrTx/>
              <a:buFontTx/>
              <a:buNone/>
            </a:pPr>
            <a:r>
              <a:rPr kumimoji="0" lang="zh-CN" altLang="en-US" sz="2000" dirty="0">
                <a:solidFill>
                  <a:srgbClr val="C00000"/>
                </a:solidFill>
                <a:ea typeface="宋体" pitchFamily="2" charset="-122"/>
              </a:rPr>
              <a:t>思考：</a:t>
            </a:r>
            <a:r>
              <a:rPr kumimoji="0" lang="en-US" altLang="zh-CN" sz="2000" dirty="0">
                <a:solidFill>
                  <a:srgbClr val="C00000"/>
                </a:solidFill>
                <a:ea typeface="宋体" pitchFamily="2" charset="-122"/>
              </a:rPr>
              <a:t>TCP</a:t>
            </a:r>
            <a:r>
              <a:rPr kumimoji="0" lang="zh-CN" altLang="en-US" sz="2000" dirty="0">
                <a:solidFill>
                  <a:srgbClr val="C00000"/>
                </a:solidFill>
                <a:ea typeface="宋体" pitchFamily="2" charset="-122"/>
              </a:rPr>
              <a:t>累积确认机制中，等待</a:t>
            </a:r>
            <a:r>
              <a:rPr kumimoji="0" lang="en-US" altLang="zh-CN" sz="2000" dirty="0">
                <a:solidFill>
                  <a:srgbClr val="C00000"/>
                </a:solidFill>
                <a:ea typeface="宋体" pitchFamily="2" charset="-122"/>
              </a:rPr>
              <a:t>500</a:t>
            </a:r>
            <a:r>
              <a:rPr kumimoji="0" lang="zh-CN" altLang="en-US" sz="2000" dirty="0">
                <a:solidFill>
                  <a:srgbClr val="C00000"/>
                </a:solidFill>
                <a:ea typeface="宋体" pitchFamily="2" charset="-122"/>
              </a:rPr>
              <a:t>毫秒确认的原因</a:t>
            </a:r>
            <a:endParaRPr kumimoji="0" lang="en-US" altLang="zh-CN" sz="1000" dirty="0">
              <a:solidFill>
                <a:srgbClr val="C00000"/>
              </a:solidFill>
              <a:latin typeface="Times New Roman" pitchFamily="18" charset="0"/>
              <a:ea typeface="宋体" pitchFamily="2" charset="-122"/>
            </a:endParaRPr>
          </a:p>
        </p:txBody>
      </p:sp>
      <p:graphicFrame>
        <p:nvGraphicFramePr>
          <p:cNvPr id="2" name="表格 2">
            <a:extLst>
              <a:ext uri="{FF2B5EF4-FFF2-40B4-BE49-F238E27FC236}">
                <a16:creationId xmlns:a16="http://schemas.microsoft.com/office/drawing/2014/main" id="{33B5F37A-299B-439E-AE50-4EC86C1C5EE2}"/>
              </a:ext>
            </a:extLst>
          </p:cNvPr>
          <p:cNvGraphicFramePr>
            <a:graphicFrameLocks noGrp="1"/>
          </p:cNvGraphicFramePr>
          <p:nvPr>
            <p:extLst>
              <p:ext uri="{D42A27DB-BD31-4B8C-83A1-F6EECF244321}">
                <p14:modId xmlns:p14="http://schemas.microsoft.com/office/powerpoint/2010/main" val="1210956563"/>
              </p:ext>
            </p:extLst>
          </p:nvPr>
        </p:nvGraphicFramePr>
        <p:xfrm>
          <a:off x="608570" y="1535277"/>
          <a:ext cx="7926859" cy="4084960"/>
        </p:xfrm>
        <a:graphic>
          <a:graphicData uri="http://schemas.openxmlformats.org/drawingml/2006/table">
            <a:tbl>
              <a:tblPr firstRow="1" bandRow="1">
                <a:tableStyleId>{93296810-A885-4BE3-A3E7-6D5BEEA58F35}</a:tableStyleId>
              </a:tblPr>
              <a:tblGrid>
                <a:gridCol w="4024328">
                  <a:extLst>
                    <a:ext uri="{9D8B030D-6E8A-4147-A177-3AD203B41FA5}">
                      <a16:colId xmlns:a16="http://schemas.microsoft.com/office/drawing/2014/main" val="899795406"/>
                    </a:ext>
                  </a:extLst>
                </a:gridCol>
                <a:gridCol w="3902531">
                  <a:extLst>
                    <a:ext uri="{9D8B030D-6E8A-4147-A177-3AD203B41FA5}">
                      <a16:colId xmlns:a16="http://schemas.microsoft.com/office/drawing/2014/main" val="3265946724"/>
                    </a:ext>
                  </a:extLst>
                </a:gridCol>
              </a:tblGrid>
              <a:tr h="445095">
                <a:tc>
                  <a:txBody>
                    <a:bodyPr/>
                    <a:lstStyle/>
                    <a:p>
                      <a:pPr algn="ctr">
                        <a:lnSpc>
                          <a:spcPts val="2800"/>
                        </a:lnSpc>
                      </a:pPr>
                      <a:r>
                        <a:rPr lang="zh-CN" altLang="en-US" sz="2000" dirty="0">
                          <a:solidFill>
                            <a:srgbClr val="C00000"/>
                          </a:solidFill>
                          <a:latin typeface="宋体" panose="02010600030101010101" pitchFamily="2" charset="-122"/>
                          <a:ea typeface="宋体" panose="02010600030101010101" pitchFamily="2" charset="-122"/>
                        </a:rPr>
                        <a:t>触发事件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ts val="2800"/>
                        </a:lnSpc>
                      </a:pPr>
                      <a:r>
                        <a:rPr lang="zh-CN" altLang="en-US" sz="2000" dirty="0">
                          <a:solidFill>
                            <a:srgbClr val="C00000"/>
                          </a:solidFill>
                          <a:latin typeface="宋体" panose="02010600030101010101" pitchFamily="2" charset="-122"/>
                          <a:ea typeface="宋体" panose="02010600030101010101" pitchFamily="2" charset="-122"/>
                        </a:rPr>
                        <a:t>接收端动作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971067335"/>
                  </a:ext>
                </a:extLst>
              </a:tr>
              <a:tr h="1165549">
                <a:tc>
                  <a:txBody>
                    <a:bodyPr/>
                    <a:lstStyle/>
                    <a:p>
                      <a:pPr>
                        <a:lnSpc>
                          <a:spcPts val="2800"/>
                        </a:lnSpc>
                      </a:pPr>
                      <a:r>
                        <a:rPr lang="zh-CN" altLang="en-US" sz="2000" dirty="0">
                          <a:latin typeface="宋体" panose="02010600030101010101" pitchFamily="2" charset="-122"/>
                          <a:ea typeface="宋体" panose="02010600030101010101" pitchFamily="2" charset="-122"/>
                        </a:rPr>
                        <a:t>期望序号的报文段按序到达，之前的报文段均已被确认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2800"/>
                        </a:lnSpc>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延迟发送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，等待下一个报文段到达；等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500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毫秒，仍未收到下一个报文段，则发送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320042"/>
                  </a:ext>
                </a:extLst>
              </a:tr>
              <a:tr h="820564">
                <a:tc>
                  <a:txBody>
                    <a:bodyPr/>
                    <a:lstStyle/>
                    <a:p>
                      <a:pPr>
                        <a:lnSpc>
                          <a:spcPts val="2800"/>
                        </a:lnSpc>
                      </a:pPr>
                      <a:r>
                        <a:rPr lang="zh-CN" altLang="en-US" sz="2000" dirty="0">
                          <a:latin typeface="宋体" panose="02010600030101010101" pitchFamily="2" charset="-122"/>
                          <a:ea typeface="宋体" panose="02010600030101010101" pitchFamily="2" charset="-122"/>
                        </a:rPr>
                        <a:t>期望序号的报文段按序到达，之前的报文段被延迟确认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2800"/>
                        </a:lnSpc>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，确认两个按序到达的报文段</a:t>
                      </a:r>
                      <a:endParaRPr lang="zh-CN" altLang="en-US" sz="2000" dirty="0">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4591890"/>
                  </a:ext>
                </a:extLst>
              </a:tr>
              <a:tr h="820564">
                <a:tc>
                  <a:txBody>
                    <a:bodyPr/>
                    <a:lstStyle/>
                    <a:p>
                      <a:pPr>
                        <a:lnSpc>
                          <a:spcPts val="2800"/>
                        </a:lnSpc>
                      </a:pPr>
                      <a:r>
                        <a:rPr lang="zh-CN" altLang="en-US" sz="2000" kern="1200" dirty="0">
                          <a:solidFill>
                            <a:schemeClr val="dk1"/>
                          </a:solidFill>
                          <a:latin typeface="宋体" panose="02010600030101010101" pitchFamily="2" charset="-122"/>
                          <a:ea typeface="宋体" panose="02010600030101010101" pitchFamily="2" charset="-122"/>
                          <a:cs typeface="+mn-cs"/>
                        </a:rPr>
                        <a:t>报文段未按序到达，到达的报文段序号高于期望序号，数据流不连续</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ts val="2800"/>
                        </a:lnSpc>
                      </a:pPr>
                      <a:r>
                        <a:rPr lang="zh-CN" altLang="en-US"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重发</a:t>
                      </a:r>
                      <a:r>
                        <a:rPr lang="en-US" altLang="zh-CN"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，确认序号中包含期望接收的序号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27351"/>
                  </a:ext>
                </a:extLst>
              </a:tr>
              <a:tr h="833188">
                <a:tc>
                  <a:txBody>
                    <a:bodyPr/>
                    <a:lstStyle/>
                    <a:p>
                      <a:pPr algn="l">
                        <a:lnSpc>
                          <a:spcPts val="2800"/>
                        </a:lnSpc>
                        <a:defRPr/>
                      </a:pPr>
                      <a:r>
                        <a:rPr lang="zh-CN" altLang="en-US" sz="2000" kern="1200" dirty="0">
                          <a:solidFill>
                            <a:schemeClr val="dk1"/>
                          </a:solidFill>
                          <a:latin typeface="宋体" panose="02010600030101010101" pitchFamily="2" charset="-122"/>
                          <a:ea typeface="宋体" panose="02010600030101010101" pitchFamily="2" charset="-122"/>
                          <a:cs typeface="+mn-cs"/>
                        </a:rPr>
                        <a:t>到达的报文段填补之前数据流的不连续部分</a:t>
                      </a:r>
                      <a:endParaRPr lang="en-US" altLang="zh-CN" sz="2000" kern="1200" dirty="0">
                        <a:solidFill>
                          <a:schemeClr val="dk1"/>
                        </a:solidFill>
                        <a:latin typeface="宋体" panose="02010600030101010101" pitchFamily="2" charset="-122"/>
                        <a:ea typeface="宋体" panose="02010600030101010101"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800"/>
                        </a:lnSpc>
                        <a:defRPr/>
                      </a:pPr>
                      <a:r>
                        <a:rPr lang="zh-CN" altLang="en-US"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，确认序号中包含期望接收的序号</a:t>
                      </a:r>
                      <a:endParaRPr lang="en-US" altLang="zh-CN" sz="2000" kern="12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8513508"/>
                  </a:ext>
                </a:extLst>
              </a:tr>
            </a:tbl>
          </a:graphicData>
        </a:graphic>
      </p:graphicFrame>
      <p:sp>
        <p:nvSpPr>
          <p:cNvPr id="6" name="矩形 5">
            <a:extLst>
              <a:ext uri="{FF2B5EF4-FFF2-40B4-BE49-F238E27FC236}">
                <a16:creationId xmlns:a16="http://schemas.microsoft.com/office/drawing/2014/main" id="{6F6854F2-56B4-4A1F-8CD5-05EC9D16EF28}"/>
              </a:ext>
            </a:extLst>
          </p:cNvPr>
          <p:cNvSpPr/>
          <p:nvPr/>
        </p:nvSpPr>
        <p:spPr>
          <a:xfrm>
            <a:off x="5844327" y="785961"/>
            <a:ext cx="3048848" cy="461665"/>
          </a:xfrm>
          <a:prstGeom prst="rect">
            <a:avLst/>
          </a:prstGeom>
          <a:solidFill>
            <a:schemeClr val="accent3">
              <a:lumMod val="20000"/>
              <a:lumOff val="80000"/>
            </a:schemeClr>
          </a:solidFill>
          <a:ln>
            <a:solidFill>
              <a:srgbClr val="C00000"/>
            </a:solidFill>
          </a:ln>
        </p:spPr>
        <p:txBody>
          <a:bodyPr wrap="none">
            <a:spAutoFit/>
          </a:bodyPr>
          <a:lstStyle/>
          <a:p>
            <a:r>
              <a:rPr lang="en-US" altLang="zh-CN" sz="2200" dirty="0">
                <a:latin typeface="Arial" pitchFamily="34" charset="0"/>
                <a:ea typeface="宋体" pitchFamily="2" charset="-122"/>
              </a:rPr>
              <a:t>RFC </a:t>
            </a:r>
            <a:r>
              <a:rPr lang="en-US" altLang="zh-CN" sz="2400" dirty="0">
                <a:latin typeface="Arial" pitchFamily="34" charset="0"/>
                <a:ea typeface="宋体" pitchFamily="2" charset="-122"/>
              </a:rPr>
              <a:t>1122/2581/5681</a:t>
            </a:r>
            <a:endParaRPr lang="zh-CN" altLang="en-US" sz="2200" dirty="0">
              <a:latin typeface="Arial" pitchFamily="34" charset="0"/>
              <a:ea typeface="宋体" pitchFamily="2" charset="-122"/>
            </a:endParaRPr>
          </a:p>
        </p:txBody>
      </p:sp>
    </p:spTree>
    <p:extLst>
      <p:ext uri="{BB962C8B-B14F-4D97-AF65-F5344CB8AC3E}">
        <p14:creationId xmlns:p14="http://schemas.microsoft.com/office/powerpoint/2010/main" val="29874794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Line 2"/>
          <p:cNvSpPr>
            <a:spLocks noChangeShapeType="1"/>
          </p:cNvSpPr>
          <p:nvPr/>
        </p:nvSpPr>
        <p:spPr bwMode="auto">
          <a:xfrm flipH="1">
            <a:off x="5795963" y="3068638"/>
            <a:ext cx="2490787" cy="129381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177" name="Line 3"/>
          <p:cNvSpPr>
            <a:spLocks noChangeShapeType="1"/>
          </p:cNvSpPr>
          <p:nvPr/>
        </p:nvSpPr>
        <p:spPr bwMode="auto">
          <a:xfrm flipH="1">
            <a:off x="5349875" y="2374900"/>
            <a:ext cx="422275" cy="6350"/>
          </a:xfrm>
          <a:prstGeom prst="line">
            <a:avLst/>
          </a:prstGeom>
          <a:noFill/>
          <a:ln w="19050">
            <a:solidFill>
              <a:schemeClr val="tx1"/>
            </a:solidFill>
            <a:round/>
            <a:headEnd/>
            <a:tailEnd/>
          </a:ln>
        </p:spPr>
        <p:txBody>
          <a:bodyPr wrap="none" anchor="ctr"/>
          <a:lstStyle/>
          <a:p>
            <a:endParaRPr lang="zh-CN" altLang="en-US"/>
          </a:p>
        </p:txBody>
      </p:sp>
      <p:sp>
        <p:nvSpPr>
          <p:cNvPr id="7178" name="Rectangle 4"/>
          <p:cNvSpPr>
            <a:spLocks noChangeArrowheads="1"/>
          </p:cNvSpPr>
          <p:nvPr/>
        </p:nvSpPr>
        <p:spPr bwMode="auto">
          <a:xfrm>
            <a:off x="5546725" y="2273300"/>
            <a:ext cx="203200" cy="1320800"/>
          </a:xfrm>
          <a:prstGeom prst="rect">
            <a:avLst/>
          </a:prstGeom>
          <a:solidFill>
            <a:schemeClr val="bg1"/>
          </a:solidFill>
          <a:ln w="9525">
            <a:noFill/>
            <a:miter lim="800000"/>
            <a:headEnd/>
            <a:tailEnd/>
          </a:ln>
        </p:spPr>
        <p:txBody>
          <a:bodyPr wrap="none" anchor="ctr"/>
          <a:lstStyle/>
          <a:p>
            <a:endParaRPr lang="zh-CN" altLang="en-US"/>
          </a:p>
        </p:txBody>
      </p:sp>
      <p:sp>
        <p:nvSpPr>
          <p:cNvPr id="7179" name="Line 5"/>
          <p:cNvSpPr>
            <a:spLocks noChangeShapeType="1"/>
          </p:cNvSpPr>
          <p:nvPr/>
        </p:nvSpPr>
        <p:spPr bwMode="auto">
          <a:xfrm flipH="1">
            <a:off x="5795963" y="2733675"/>
            <a:ext cx="2528887" cy="1271588"/>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180" name="Rectangle 6"/>
          <p:cNvSpPr>
            <a:spLocks noChangeArrowheads="1"/>
          </p:cNvSpPr>
          <p:nvPr/>
        </p:nvSpPr>
        <p:spPr bwMode="auto">
          <a:xfrm rot="728579">
            <a:off x="6075363" y="3814763"/>
            <a:ext cx="1817687" cy="284162"/>
          </a:xfrm>
          <a:prstGeom prst="rect">
            <a:avLst/>
          </a:prstGeom>
          <a:solidFill>
            <a:schemeClr val="bg1"/>
          </a:solidFill>
          <a:ln w="9525">
            <a:noFill/>
            <a:miter lim="800000"/>
            <a:headEnd/>
            <a:tailEnd/>
          </a:ln>
        </p:spPr>
        <p:txBody>
          <a:bodyPr wrap="none" anchor="ctr"/>
          <a:lstStyle/>
          <a:p>
            <a:endParaRPr lang="zh-CN" altLang="en-US"/>
          </a:p>
        </p:txBody>
      </p:sp>
      <p:grpSp>
        <p:nvGrpSpPr>
          <p:cNvPr id="7182" name="Group 8"/>
          <p:cNvGrpSpPr>
            <a:grpSpLocks/>
          </p:cNvGrpSpPr>
          <p:nvPr/>
        </p:nvGrpSpPr>
        <p:grpSpPr bwMode="auto">
          <a:xfrm>
            <a:off x="380721" y="1466056"/>
            <a:ext cx="3486150" cy="4821237"/>
            <a:chOff x="94" y="1007"/>
            <a:chExt cx="2196" cy="3037"/>
          </a:xfrm>
        </p:grpSpPr>
        <p:sp>
          <p:nvSpPr>
            <p:cNvPr id="7210" name="Line 9"/>
            <p:cNvSpPr>
              <a:spLocks noChangeShapeType="1"/>
            </p:cNvSpPr>
            <p:nvPr/>
          </p:nvSpPr>
          <p:spPr bwMode="auto">
            <a:xfrm flipH="1">
              <a:off x="1164" y="1884"/>
              <a:ext cx="996" cy="306"/>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211" name="Line 10"/>
            <p:cNvSpPr>
              <a:spLocks noChangeShapeType="1"/>
            </p:cNvSpPr>
            <p:nvPr/>
          </p:nvSpPr>
          <p:spPr bwMode="auto">
            <a:xfrm>
              <a:off x="570" y="1428"/>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graphicFrame>
          <p:nvGraphicFramePr>
            <p:cNvPr id="7172" name="Object 11"/>
            <p:cNvGraphicFramePr>
              <a:graphicFrameLocks noChangeAspect="1"/>
            </p:cNvGraphicFramePr>
            <p:nvPr/>
          </p:nvGraphicFramePr>
          <p:xfrm>
            <a:off x="310" y="1007"/>
            <a:ext cx="306" cy="24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7172"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 y="1007"/>
                          <a:ext cx="306"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12" name="Text Box 12"/>
            <p:cNvSpPr txBox="1">
              <a:spLocks noChangeArrowheads="1"/>
            </p:cNvSpPr>
            <p:nvPr/>
          </p:nvSpPr>
          <p:spPr bwMode="auto">
            <a:xfrm>
              <a:off x="568" y="1007"/>
              <a:ext cx="416" cy="21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A</a:t>
              </a:r>
              <a:endParaRPr kumimoji="0" lang="en-US" altLang="zh-CN" sz="1000" dirty="0">
                <a:latin typeface="Times New Roman" pitchFamily="18" charset="0"/>
                <a:ea typeface="宋体" pitchFamily="2" charset="-122"/>
              </a:endParaRPr>
            </a:p>
          </p:txBody>
        </p:sp>
        <p:sp>
          <p:nvSpPr>
            <p:cNvPr id="7213" name="Text Box 13"/>
            <p:cNvSpPr txBox="1">
              <a:spLocks noChangeArrowheads="1"/>
            </p:cNvSpPr>
            <p:nvPr/>
          </p:nvSpPr>
          <p:spPr bwMode="auto">
            <a:xfrm rot="706751">
              <a:off x="840" y="1434"/>
              <a:ext cx="1117" cy="19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Seq=92, 8</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214" name="Text Box 14"/>
            <p:cNvSpPr txBox="1">
              <a:spLocks noChangeArrowheads="1"/>
            </p:cNvSpPr>
            <p:nvPr/>
          </p:nvSpPr>
          <p:spPr bwMode="auto">
            <a:xfrm rot="-982672">
              <a:off x="1368" y="1867"/>
              <a:ext cx="598" cy="19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ACK=100</a:t>
              </a:r>
              <a:endParaRPr kumimoji="0" lang="en-US" altLang="zh-CN" sz="1000">
                <a:latin typeface="Times New Roman" pitchFamily="18" charset="0"/>
                <a:ea typeface="宋体" pitchFamily="2" charset="-122"/>
              </a:endParaRPr>
            </a:p>
          </p:txBody>
        </p:sp>
        <p:sp>
          <p:nvSpPr>
            <p:cNvPr id="7215" name="Text Box 15"/>
            <p:cNvSpPr txBox="1">
              <a:spLocks noChangeArrowheads="1"/>
            </p:cNvSpPr>
            <p:nvPr/>
          </p:nvSpPr>
          <p:spPr bwMode="auto">
            <a:xfrm>
              <a:off x="939" y="2222"/>
              <a:ext cx="371" cy="231"/>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a:solidFill>
                    <a:srgbClr val="FF0000"/>
                  </a:solidFill>
                  <a:ea typeface="宋体" pitchFamily="2" charset="-122"/>
                </a:rPr>
                <a:t>loss</a:t>
              </a:r>
              <a:endParaRPr kumimoji="0" lang="en-US" altLang="zh-CN" sz="1000">
                <a:latin typeface="Times New Roman" pitchFamily="18" charset="0"/>
                <a:ea typeface="宋体" pitchFamily="2" charset="-122"/>
              </a:endParaRPr>
            </a:p>
          </p:txBody>
        </p:sp>
        <p:sp>
          <p:nvSpPr>
            <p:cNvPr id="7216" name="Text Box 16"/>
            <p:cNvSpPr txBox="1">
              <a:spLocks noChangeArrowheads="1"/>
            </p:cNvSpPr>
            <p:nvPr/>
          </p:nvSpPr>
          <p:spPr bwMode="auto">
            <a:xfrm rot="16200000">
              <a:off x="256" y="1936"/>
              <a:ext cx="375" cy="21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1600" dirty="0">
                  <a:ea typeface="宋体" pitchFamily="2" charset="-122"/>
                </a:rPr>
                <a:t>超时</a:t>
              </a:r>
              <a:endParaRPr kumimoji="0" lang="en-US" altLang="zh-CN" sz="1000" dirty="0">
                <a:latin typeface="Times New Roman" pitchFamily="18" charset="0"/>
                <a:ea typeface="宋体" pitchFamily="2" charset="-122"/>
              </a:endParaRPr>
            </a:p>
          </p:txBody>
        </p:sp>
        <p:sp>
          <p:nvSpPr>
            <p:cNvPr id="7217" name="Line 17"/>
            <p:cNvSpPr>
              <a:spLocks noChangeShapeType="1"/>
            </p:cNvSpPr>
            <p:nvPr/>
          </p:nvSpPr>
          <p:spPr bwMode="auto">
            <a:xfrm flipH="1">
              <a:off x="300" y="1200"/>
              <a:ext cx="0" cy="2844"/>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7218" name="Group 18"/>
            <p:cNvGrpSpPr>
              <a:grpSpLocks/>
            </p:cNvGrpSpPr>
            <p:nvPr/>
          </p:nvGrpSpPr>
          <p:grpSpPr bwMode="auto">
            <a:xfrm>
              <a:off x="94" y="3602"/>
              <a:ext cx="415" cy="231"/>
              <a:chOff x="3304" y="3530"/>
              <a:chExt cx="415" cy="231"/>
            </a:xfrm>
          </p:grpSpPr>
          <p:sp>
            <p:nvSpPr>
              <p:cNvPr id="7230" name="Rectangle 19"/>
              <p:cNvSpPr>
                <a:spLocks noChangeArrowheads="1"/>
              </p:cNvSpPr>
              <p:nvPr/>
            </p:nvSpPr>
            <p:spPr bwMode="auto">
              <a:xfrm>
                <a:off x="3342" y="3576"/>
                <a:ext cx="324" cy="156"/>
              </a:xfrm>
              <a:prstGeom prst="rect">
                <a:avLst/>
              </a:prstGeom>
              <a:solidFill>
                <a:schemeClr val="bg1"/>
              </a:solidFill>
              <a:ln w="9525">
                <a:noFill/>
                <a:miter lim="800000"/>
                <a:headEnd/>
                <a:tailEnd/>
              </a:ln>
            </p:spPr>
            <p:txBody>
              <a:bodyPr wrap="none" anchor="ctr"/>
              <a:lstStyle/>
              <a:p>
                <a:endParaRPr lang="zh-CN" altLang="en-US"/>
              </a:p>
            </p:txBody>
          </p:sp>
          <p:sp>
            <p:nvSpPr>
              <p:cNvPr id="7231" name="Text Box 20"/>
              <p:cNvSpPr txBox="1">
                <a:spLocks noChangeArrowheads="1"/>
              </p:cNvSpPr>
              <p:nvPr/>
            </p:nvSpPr>
            <p:spPr bwMode="auto">
              <a:xfrm>
                <a:off x="3304" y="3530"/>
                <a:ext cx="415" cy="231"/>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a:solidFill>
                      <a:srgbClr val="FF0000"/>
                    </a:solidFill>
                    <a:ea typeface="宋体" pitchFamily="2" charset="-122"/>
                  </a:rPr>
                  <a:t>time</a:t>
                </a:r>
                <a:endParaRPr kumimoji="0" lang="en-US" altLang="zh-CN" sz="1000">
                  <a:latin typeface="Times New Roman" pitchFamily="18" charset="0"/>
                  <a:ea typeface="宋体" pitchFamily="2" charset="-122"/>
                </a:endParaRPr>
              </a:p>
            </p:txBody>
          </p:sp>
        </p:grpSp>
        <p:sp>
          <p:nvSpPr>
            <p:cNvPr id="7219" name="Text Box 21"/>
            <p:cNvSpPr txBox="1">
              <a:spLocks noChangeArrowheads="1"/>
            </p:cNvSpPr>
            <p:nvPr/>
          </p:nvSpPr>
          <p:spPr bwMode="auto">
            <a:xfrm>
              <a:off x="918" y="3779"/>
              <a:ext cx="782" cy="25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2000" dirty="0">
                  <a:latin typeface="Times New Roman" panose="02020603050405020304" pitchFamily="18" charset="0"/>
                  <a:ea typeface="宋体" pitchFamily="2" charset="-122"/>
                  <a:cs typeface="Times New Roman" panose="02020603050405020304" pitchFamily="18" charset="0"/>
                </a:rPr>
                <a:t>丢失</a:t>
              </a:r>
              <a:r>
                <a:rPr kumimoji="0" lang="en-US" altLang="zh-CN" sz="2000" dirty="0">
                  <a:latin typeface="Times New Roman" panose="02020603050405020304" pitchFamily="18" charset="0"/>
                  <a:ea typeface="宋体" pitchFamily="2" charset="-122"/>
                  <a:cs typeface="Times New Roman" panose="02020603050405020304" pitchFamily="18" charset="0"/>
                </a:rPr>
                <a:t>ACK</a:t>
              </a:r>
              <a:endParaRPr kumimoji="0" lang="en-US" altLang="zh-CN" sz="1050" dirty="0">
                <a:latin typeface="Times New Roman" panose="02020603050405020304" pitchFamily="18" charset="0"/>
                <a:ea typeface="宋体" pitchFamily="2" charset="-122"/>
                <a:cs typeface="Times New Roman" panose="02020603050405020304" pitchFamily="18" charset="0"/>
              </a:endParaRPr>
            </a:p>
          </p:txBody>
        </p:sp>
        <p:graphicFrame>
          <p:nvGraphicFramePr>
            <p:cNvPr id="7173" name="Object 22"/>
            <p:cNvGraphicFramePr>
              <a:graphicFrameLocks noChangeAspect="1"/>
            </p:cNvGraphicFramePr>
            <p:nvPr/>
          </p:nvGraphicFramePr>
          <p:xfrm>
            <a:off x="1984" y="1013"/>
            <a:ext cx="306" cy="243"/>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7173"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 y="1013"/>
                          <a:ext cx="306"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20" name="Text Box 23"/>
            <p:cNvSpPr txBox="1">
              <a:spLocks noChangeArrowheads="1"/>
            </p:cNvSpPr>
            <p:nvPr/>
          </p:nvSpPr>
          <p:spPr bwMode="auto">
            <a:xfrm>
              <a:off x="1582" y="1020"/>
              <a:ext cx="412" cy="21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B</a:t>
              </a:r>
              <a:endParaRPr kumimoji="0" lang="en-US" altLang="zh-CN" sz="1000" dirty="0">
                <a:latin typeface="Times New Roman" pitchFamily="18" charset="0"/>
                <a:ea typeface="宋体" pitchFamily="2" charset="-122"/>
              </a:endParaRPr>
            </a:p>
          </p:txBody>
        </p:sp>
        <p:sp>
          <p:nvSpPr>
            <p:cNvPr id="7221" name="Text Box 24"/>
            <p:cNvSpPr txBox="1">
              <a:spLocks noChangeArrowheads="1"/>
            </p:cNvSpPr>
            <p:nvPr/>
          </p:nvSpPr>
          <p:spPr bwMode="auto">
            <a:xfrm>
              <a:off x="1006" y="2047"/>
              <a:ext cx="244" cy="288"/>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2400">
                  <a:solidFill>
                    <a:srgbClr val="FF0000"/>
                  </a:solidFill>
                  <a:latin typeface="Arial" charset="0"/>
                  <a:ea typeface="宋体" pitchFamily="2" charset="-122"/>
                </a:rPr>
                <a:t>X</a:t>
              </a:r>
              <a:endParaRPr kumimoji="0" lang="en-US" altLang="zh-CN" sz="1000">
                <a:latin typeface="Times New Roman" pitchFamily="18" charset="0"/>
                <a:ea typeface="宋体" pitchFamily="2" charset="-122"/>
              </a:endParaRPr>
            </a:p>
          </p:txBody>
        </p:sp>
        <p:sp>
          <p:nvSpPr>
            <p:cNvPr id="7222" name="Line 25"/>
            <p:cNvSpPr>
              <a:spLocks noChangeShapeType="1"/>
            </p:cNvSpPr>
            <p:nvPr/>
          </p:nvSpPr>
          <p:spPr bwMode="auto">
            <a:xfrm>
              <a:off x="570" y="2604"/>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223" name="Text Box 26"/>
            <p:cNvSpPr txBox="1">
              <a:spLocks noChangeArrowheads="1"/>
            </p:cNvSpPr>
            <p:nvPr/>
          </p:nvSpPr>
          <p:spPr bwMode="auto">
            <a:xfrm rot="706751">
              <a:off x="786" y="2568"/>
              <a:ext cx="1117" cy="19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Seq=92, 8</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224" name="Line 27"/>
            <p:cNvSpPr>
              <a:spLocks noChangeShapeType="1"/>
            </p:cNvSpPr>
            <p:nvPr/>
          </p:nvSpPr>
          <p:spPr bwMode="auto">
            <a:xfrm>
              <a:off x="564" y="1290"/>
              <a:ext cx="0" cy="2424"/>
            </a:xfrm>
            <a:prstGeom prst="line">
              <a:avLst/>
            </a:prstGeom>
            <a:noFill/>
            <a:ln w="9525">
              <a:solidFill>
                <a:schemeClr val="tx1"/>
              </a:solidFill>
              <a:round/>
              <a:headEnd/>
              <a:tailEnd/>
            </a:ln>
          </p:spPr>
          <p:txBody>
            <a:bodyPr wrap="none" anchor="ctr"/>
            <a:lstStyle/>
            <a:p>
              <a:endParaRPr lang="zh-CN" altLang="en-US"/>
            </a:p>
          </p:txBody>
        </p:sp>
        <p:sp>
          <p:nvSpPr>
            <p:cNvPr id="7225" name="Line 28"/>
            <p:cNvSpPr>
              <a:spLocks noChangeShapeType="1"/>
            </p:cNvSpPr>
            <p:nvPr/>
          </p:nvSpPr>
          <p:spPr bwMode="auto">
            <a:xfrm>
              <a:off x="2148" y="1290"/>
              <a:ext cx="0" cy="2424"/>
            </a:xfrm>
            <a:prstGeom prst="line">
              <a:avLst/>
            </a:prstGeom>
            <a:noFill/>
            <a:ln w="9525">
              <a:solidFill>
                <a:schemeClr val="tx1"/>
              </a:solidFill>
              <a:round/>
              <a:headEnd/>
              <a:tailEnd/>
            </a:ln>
          </p:spPr>
          <p:txBody>
            <a:bodyPr wrap="none" anchor="ctr"/>
            <a:lstStyle/>
            <a:p>
              <a:endParaRPr lang="zh-CN" altLang="en-US"/>
            </a:p>
          </p:txBody>
        </p:sp>
        <p:sp>
          <p:nvSpPr>
            <p:cNvPr id="7226" name="Line 29"/>
            <p:cNvSpPr>
              <a:spLocks noChangeShapeType="1"/>
            </p:cNvSpPr>
            <p:nvPr/>
          </p:nvSpPr>
          <p:spPr bwMode="auto">
            <a:xfrm flipH="1">
              <a:off x="576" y="3096"/>
              <a:ext cx="1572" cy="474"/>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227" name="Text Box 30"/>
            <p:cNvSpPr txBox="1">
              <a:spLocks noChangeArrowheads="1"/>
            </p:cNvSpPr>
            <p:nvPr/>
          </p:nvSpPr>
          <p:spPr bwMode="auto">
            <a:xfrm rot="-926867">
              <a:off x="1086" y="3149"/>
              <a:ext cx="609" cy="192"/>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ACK=100</a:t>
              </a:r>
              <a:endParaRPr kumimoji="0" lang="en-US" altLang="zh-CN" sz="1000">
                <a:latin typeface="Times New Roman" pitchFamily="18" charset="0"/>
                <a:ea typeface="宋体" pitchFamily="2" charset="-122"/>
              </a:endParaRPr>
            </a:p>
          </p:txBody>
        </p:sp>
        <p:sp>
          <p:nvSpPr>
            <p:cNvPr id="7228" name="Line 31"/>
            <p:cNvSpPr>
              <a:spLocks noChangeShapeType="1"/>
            </p:cNvSpPr>
            <p:nvPr/>
          </p:nvSpPr>
          <p:spPr bwMode="auto">
            <a:xfrm flipV="1">
              <a:off x="456" y="1416"/>
              <a:ext cx="0" cy="378"/>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229" name="Line 32"/>
            <p:cNvSpPr>
              <a:spLocks noChangeShapeType="1"/>
            </p:cNvSpPr>
            <p:nvPr/>
          </p:nvSpPr>
          <p:spPr bwMode="auto">
            <a:xfrm flipH="1">
              <a:off x="462" y="2298"/>
              <a:ext cx="0" cy="300"/>
            </a:xfrm>
            <a:prstGeom prst="line">
              <a:avLst/>
            </a:prstGeom>
            <a:noFill/>
            <a:ln w="19050">
              <a:solidFill>
                <a:schemeClr val="tx1"/>
              </a:solidFill>
              <a:round/>
              <a:headEnd/>
              <a:tailEnd type="triangle" w="med" len="med"/>
            </a:ln>
          </p:spPr>
          <p:txBody>
            <a:bodyPr wrap="none" anchor="ctr"/>
            <a:lstStyle/>
            <a:p>
              <a:endParaRPr lang="zh-CN" altLang="en-US"/>
            </a:p>
          </p:txBody>
        </p:sp>
      </p:grpSp>
      <p:sp>
        <p:nvSpPr>
          <p:cNvPr id="7183" name="Line 33"/>
          <p:cNvSpPr>
            <a:spLocks noChangeShapeType="1"/>
          </p:cNvSpPr>
          <p:nvPr/>
        </p:nvSpPr>
        <p:spPr bwMode="auto">
          <a:xfrm>
            <a:off x="5800725" y="2009775"/>
            <a:ext cx="2533650" cy="590550"/>
          </a:xfrm>
          <a:prstGeom prst="line">
            <a:avLst/>
          </a:prstGeom>
          <a:noFill/>
          <a:ln w="28575">
            <a:solidFill>
              <a:schemeClr val="accent2"/>
            </a:solidFill>
            <a:round/>
            <a:headEnd/>
            <a:tailEnd type="triangle" w="med" len="med"/>
          </a:ln>
        </p:spPr>
        <p:txBody>
          <a:bodyPr wrap="none" anchor="ctr"/>
          <a:lstStyle/>
          <a:p>
            <a:endParaRPr lang="zh-CN" altLang="en-US"/>
          </a:p>
        </p:txBody>
      </p:sp>
      <p:graphicFrame>
        <p:nvGraphicFramePr>
          <p:cNvPr id="7170" name="Object 34"/>
          <p:cNvGraphicFramePr>
            <a:graphicFrameLocks noChangeAspect="1"/>
          </p:cNvGraphicFramePr>
          <p:nvPr/>
        </p:nvGraphicFramePr>
        <p:xfrm>
          <a:off x="5387975" y="1341438"/>
          <a:ext cx="485775" cy="385762"/>
        </p:xfrm>
        <a:graphic>
          <a:graphicData uri="http://schemas.openxmlformats.org/presentationml/2006/ole">
            <mc:AlternateContent xmlns:mc="http://schemas.openxmlformats.org/markup-compatibility/2006">
              <mc:Choice xmlns:v="urn:schemas-microsoft-com:vml" Requires="v">
                <p:oleObj name="Clip" r:id="rId6" imgW="1305000" imgH="1085760" progId="MS_ClipArt_Gallery.2">
                  <p:embed/>
                </p:oleObj>
              </mc:Choice>
              <mc:Fallback>
                <p:oleObj name="Clip" r:id="rId6" imgW="1305000" imgH="1085760" progId="MS_ClipArt_Gallery.2">
                  <p:embed/>
                  <p:pic>
                    <p:nvPicPr>
                      <p:cNvPr id="717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7975" y="1341438"/>
                        <a:ext cx="485775"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4" name="Text Box 35"/>
          <p:cNvSpPr txBox="1">
            <a:spLocks noChangeArrowheads="1"/>
          </p:cNvSpPr>
          <p:nvPr/>
        </p:nvSpPr>
        <p:spPr bwMode="auto">
          <a:xfrm>
            <a:off x="5797550" y="1341438"/>
            <a:ext cx="659732" cy="33855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A</a:t>
            </a:r>
            <a:endParaRPr kumimoji="0" lang="en-US" altLang="zh-CN" sz="1000" dirty="0">
              <a:latin typeface="Times New Roman" pitchFamily="18" charset="0"/>
              <a:ea typeface="宋体" pitchFamily="2" charset="-122"/>
            </a:endParaRPr>
          </a:p>
        </p:txBody>
      </p:sp>
      <p:sp>
        <p:nvSpPr>
          <p:cNvPr id="7185" name="Text Box 36"/>
          <p:cNvSpPr txBox="1">
            <a:spLocks noChangeArrowheads="1"/>
          </p:cNvSpPr>
          <p:nvPr/>
        </p:nvSpPr>
        <p:spPr bwMode="auto">
          <a:xfrm rot="808459">
            <a:off x="6030743" y="2419450"/>
            <a:ext cx="1972015"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Seq=100, 20</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186" name="Text Box 37"/>
          <p:cNvSpPr txBox="1">
            <a:spLocks noChangeArrowheads="1"/>
          </p:cNvSpPr>
          <p:nvPr/>
        </p:nvSpPr>
        <p:spPr bwMode="auto">
          <a:xfrm rot="-1448735">
            <a:off x="6743700" y="2997200"/>
            <a:ext cx="949325" cy="30480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ACK=100</a:t>
            </a:r>
            <a:endParaRPr kumimoji="0" lang="en-US" altLang="zh-CN" sz="1000">
              <a:latin typeface="Times New Roman" pitchFamily="18" charset="0"/>
              <a:ea typeface="宋体" pitchFamily="2" charset="-122"/>
            </a:endParaRPr>
          </a:p>
        </p:txBody>
      </p:sp>
      <p:sp>
        <p:nvSpPr>
          <p:cNvPr id="7187" name="Text Box 38"/>
          <p:cNvSpPr txBox="1">
            <a:spLocks noChangeArrowheads="1"/>
          </p:cNvSpPr>
          <p:nvPr/>
        </p:nvSpPr>
        <p:spPr bwMode="auto">
          <a:xfrm rot="16200000">
            <a:off x="5060126" y="2783781"/>
            <a:ext cx="1122423"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ea typeface="宋体" pitchFamily="2" charset="-122"/>
              </a:rPr>
              <a:t>Seq=92 </a:t>
            </a:r>
            <a:r>
              <a:rPr kumimoji="0" lang="zh-CN" altLang="en-US" sz="1400" dirty="0">
                <a:ea typeface="宋体" pitchFamily="2" charset="-122"/>
              </a:rPr>
              <a:t>超时</a:t>
            </a:r>
            <a:endParaRPr kumimoji="0" lang="en-US" altLang="zh-CN" sz="1000" dirty="0">
              <a:latin typeface="Times New Roman" pitchFamily="18" charset="0"/>
              <a:ea typeface="宋体" pitchFamily="2" charset="-122"/>
            </a:endParaRPr>
          </a:p>
        </p:txBody>
      </p:sp>
      <p:sp>
        <p:nvSpPr>
          <p:cNvPr id="7208" name="Rectangle 40"/>
          <p:cNvSpPr>
            <a:spLocks noChangeArrowheads="1"/>
          </p:cNvSpPr>
          <p:nvPr/>
        </p:nvSpPr>
        <p:spPr bwMode="auto">
          <a:xfrm>
            <a:off x="5105403" y="5534026"/>
            <a:ext cx="514351" cy="247650"/>
          </a:xfrm>
          <a:prstGeom prst="rect">
            <a:avLst/>
          </a:prstGeom>
          <a:solidFill>
            <a:schemeClr val="bg1"/>
          </a:solidFill>
          <a:ln w="9525">
            <a:noFill/>
            <a:miter lim="800000"/>
            <a:headEnd/>
            <a:tailEnd/>
          </a:ln>
        </p:spPr>
        <p:txBody>
          <a:bodyPr wrap="none" anchor="ctr"/>
          <a:lstStyle/>
          <a:p>
            <a:endParaRPr lang="zh-CN" altLang="en-US"/>
          </a:p>
        </p:txBody>
      </p:sp>
      <p:sp>
        <p:nvSpPr>
          <p:cNvPr id="7189" name="Text Box 42"/>
          <p:cNvSpPr txBox="1">
            <a:spLocks noChangeArrowheads="1"/>
          </p:cNvSpPr>
          <p:nvPr/>
        </p:nvSpPr>
        <p:spPr bwMode="auto">
          <a:xfrm>
            <a:off x="5794375" y="5853767"/>
            <a:ext cx="2523448" cy="40011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2000" dirty="0">
                <a:latin typeface="Times New Roman" panose="02020603050405020304" pitchFamily="18" charset="0"/>
                <a:ea typeface="宋体" pitchFamily="2" charset="-122"/>
                <a:cs typeface="Times New Roman" panose="02020603050405020304" pitchFamily="18" charset="0"/>
              </a:rPr>
              <a:t>提前超时，累积</a:t>
            </a:r>
            <a:r>
              <a:rPr kumimoji="0" lang="en-US" altLang="zh-CN" sz="2000" dirty="0">
                <a:latin typeface="Times New Roman" panose="02020603050405020304" pitchFamily="18" charset="0"/>
                <a:ea typeface="宋体" pitchFamily="2" charset="-122"/>
                <a:cs typeface="Times New Roman" panose="02020603050405020304" pitchFamily="18" charset="0"/>
              </a:rPr>
              <a:t>ACK</a:t>
            </a:r>
            <a:endParaRPr kumimoji="0" lang="en-US" altLang="zh-CN" sz="1050" dirty="0">
              <a:latin typeface="Times New Roman" panose="02020603050405020304" pitchFamily="18" charset="0"/>
              <a:ea typeface="宋体" pitchFamily="2" charset="-122"/>
              <a:cs typeface="Times New Roman" panose="02020603050405020304" pitchFamily="18" charset="0"/>
            </a:endParaRPr>
          </a:p>
        </p:txBody>
      </p:sp>
      <p:graphicFrame>
        <p:nvGraphicFramePr>
          <p:cNvPr id="7171" name="Object 43"/>
          <p:cNvGraphicFramePr>
            <a:graphicFrameLocks noChangeAspect="1"/>
          </p:cNvGraphicFramePr>
          <p:nvPr/>
        </p:nvGraphicFramePr>
        <p:xfrm>
          <a:off x="8045450" y="1350963"/>
          <a:ext cx="485775" cy="385762"/>
        </p:xfrm>
        <a:graphic>
          <a:graphicData uri="http://schemas.openxmlformats.org/presentationml/2006/ole">
            <mc:AlternateContent xmlns:mc="http://schemas.openxmlformats.org/markup-compatibility/2006">
              <mc:Choice xmlns:v="urn:schemas-microsoft-com:vml" Requires="v">
                <p:oleObj name="Clip" r:id="rId7" imgW="1305000" imgH="1085760" progId="MS_ClipArt_Gallery.2">
                  <p:embed/>
                </p:oleObj>
              </mc:Choice>
              <mc:Fallback>
                <p:oleObj name="Clip" r:id="rId7" imgW="1305000" imgH="1085760" progId="MS_ClipArt_Gallery.2">
                  <p:embed/>
                  <p:pic>
                    <p:nvPicPr>
                      <p:cNvPr id="7171"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5450" y="1350963"/>
                        <a:ext cx="485775"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90" name="Text Box 44"/>
          <p:cNvSpPr txBox="1">
            <a:spLocks noChangeArrowheads="1"/>
          </p:cNvSpPr>
          <p:nvPr/>
        </p:nvSpPr>
        <p:spPr bwMode="auto">
          <a:xfrm>
            <a:off x="7430600" y="1351449"/>
            <a:ext cx="653320" cy="33855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B</a:t>
            </a:r>
            <a:endParaRPr kumimoji="0" lang="en-US" altLang="zh-CN" sz="1000" dirty="0">
              <a:latin typeface="Times New Roman" pitchFamily="18" charset="0"/>
              <a:ea typeface="宋体" pitchFamily="2" charset="-122"/>
            </a:endParaRPr>
          </a:p>
        </p:txBody>
      </p:sp>
      <p:sp>
        <p:nvSpPr>
          <p:cNvPr id="7191" name="Line 45"/>
          <p:cNvSpPr>
            <a:spLocks noChangeShapeType="1"/>
          </p:cNvSpPr>
          <p:nvPr/>
        </p:nvSpPr>
        <p:spPr bwMode="auto">
          <a:xfrm>
            <a:off x="5800725" y="3876675"/>
            <a:ext cx="2516188" cy="488950"/>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192" name="Text Box 46"/>
          <p:cNvSpPr txBox="1">
            <a:spLocks noChangeArrowheads="1"/>
          </p:cNvSpPr>
          <p:nvPr/>
        </p:nvSpPr>
        <p:spPr bwMode="auto">
          <a:xfrm rot="706751">
            <a:off x="6139101" y="3791050"/>
            <a:ext cx="1723549"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Seq=92, </a:t>
            </a:r>
            <a:r>
              <a:rPr lang="en-US" altLang="zh-CN" sz="1400" dirty="0">
                <a:latin typeface="Arial" charset="0"/>
                <a:ea typeface="宋体" pitchFamily="2" charset="-122"/>
              </a:rPr>
              <a:t>8</a:t>
            </a:r>
            <a:r>
              <a:rPr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193" name="Line 47"/>
          <p:cNvSpPr>
            <a:spLocks noChangeShapeType="1"/>
          </p:cNvSpPr>
          <p:nvPr/>
        </p:nvSpPr>
        <p:spPr bwMode="auto">
          <a:xfrm>
            <a:off x="5791200" y="1790700"/>
            <a:ext cx="4763" cy="3943350"/>
          </a:xfrm>
          <a:prstGeom prst="line">
            <a:avLst/>
          </a:prstGeom>
          <a:noFill/>
          <a:ln w="9525">
            <a:solidFill>
              <a:schemeClr val="tx1"/>
            </a:solidFill>
            <a:round/>
            <a:headEnd/>
            <a:tailEnd/>
          </a:ln>
        </p:spPr>
        <p:txBody>
          <a:bodyPr wrap="none" anchor="ctr"/>
          <a:lstStyle/>
          <a:p>
            <a:endParaRPr lang="zh-CN" altLang="en-US"/>
          </a:p>
        </p:txBody>
      </p:sp>
      <p:sp>
        <p:nvSpPr>
          <p:cNvPr id="7194" name="Line 48"/>
          <p:cNvSpPr>
            <a:spLocks noChangeShapeType="1"/>
          </p:cNvSpPr>
          <p:nvPr/>
        </p:nvSpPr>
        <p:spPr bwMode="auto">
          <a:xfrm>
            <a:off x="8305800" y="1790700"/>
            <a:ext cx="11113" cy="3943350"/>
          </a:xfrm>
          <a:prstGeom prst="line">
            <a:avLst/>
          </a:prstGeom>
          <a:noFill/>
          <a:ln w="9525">
            <a:solidFill>
              <a:schemeClr val="tx1"/>
            </a:solidFill>
            <a:round/>
            <a:headEnd/>
            <a:tailEnd/>
          </a:ln>
        </p:spPr>
        <p:txBody>
          <a:bodyPr wrap="none" anchor="ctr"/>
          <a:lstStyle/>
          <a:p>
            <a:endParaRPr lang="zh-CN" altLang="en-US"/>
          </a:p>
        </p:txBody>
      </p:sp>
      <p:sp>
        <p:nvSpPr>
          <p:cNvPr id="7195" name="Text Box 49"/>
          <p:cNvSpPr txBox="1">
            <a:spLocks noChangeArrowheads="1"/>
          </p:cNvSpPr>
          <p:nvPr/>
        </p:nvSpPr>
        <p:spPr bwMode="auto">
          <a:xfrm rot="-1588324">
            <a:off x="7105650" y="3141663"/>
            <a:ext cx="966788" cy="304800"/>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ACK=120</a:t>
            </a:r>
            <a:endParaRPr kumimoji="0" lang="en-US" altLang="zh-CN" sz="1000">
              <a:latin typeface="Times New Roman" pitchFamily="18" charset="0"/>
              <a:ea typeface="宋体" pitchFamily="2" charset="-122"/>
            </a:endParaRPr>
          </a:p>
        </p:txBody>
      </p:sp>
      <p:sp>
        <p:nvSpPr>
          <p:cNvPr id="7196" name="Line 50"/>
          <p:cNvSpPr>
            <a:spLocks noChangeShapeType="1"/>
          </p:cNvSpPr>
          <p:nvPr/>
        </p:nvSpPr>
        <p:spPr bwMode="auto">
          <a:xfrm flipH="1" flipV="1">
            <a:off x="5645149" y="2016124"/>
            <a:ext cx="4757" cy="315875"/>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197" name="Line 51"/>
          <p:cNvSpPr>
            <a:spLocks noChangeShapeType="1"/>
          </p:cNvSpPr>
          <p:nvPr/>
        </p:nvSpPr>
        <p:spPr bwMode="auto">
          <a:xfrm flipH="1">
            <a:off x="5629275" y="3562350"/>
            <a:ext cx="0" cy="30480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198" name="Line 52"/>
          <p:cNvSpPr>
            <a:spLocks noChangeShapeType="1"/>
          </p:cNvSpPr>
          <p:nvPr/>
        </p:nvSpPr>
        <p:spPr bwMode="auto">
          <a:xfrm>
            <a:off x="5788025" y="2362200"/>
            <a:ext cx="2508250" cy="628650"/>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199" name="Text Box 53"/>
          <p:cNvSpPr txBox="1">
            <a:spLocks noChangeArrowheads="1"/>
          </p:cNvSpPr>
          <p:nvPr/>
        </p:nvSpPr>
        <p:spPr bwMode="auto">
          <a:xfrm rot="706751">
            <a:off x="6142829" y="2009875"/>
            <a:ext cx="1773242"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Seq=92, 8</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200" name="Line 54"/>
          <p:cNvSpPr>
            <a:spLocks noChangeShapeType="1"/>
          </p:cNvSpPr>
          <p:nvPr/>
        </p:nvSpPr>
        <p:spPr bwMode="auto">
          <a:xfrm flipH="1">
            <a:off x="5613400" y="3876675"/>
            <a:ext cx="180975" cy="0"/>
          </a:xfrm>
          <a:prstGeom prst="line">
            <a:avLst/>
          </a:prstGeom>
          <a:noFill/>
          <a:ln w="19050">
            <a:solidFill>
              <a:schemeClr val="tx1"/>
            </a:solidFill>
            <a:round/>
            <a:headEnd/>
            <a:tailEnd/>
          </a:ln>
        </p:spPr>
        <p:txBody>
          <a:bodyPr wrap="none" anchor="ctr"/>
          <a:lstStyle/>
          <a:p>
            <a:endParaRPr lang="zh-CN" altLang="en-US"/>
          </a:p>
        </p:txBody>
      </p:sp>
      <p:sp>
        <p:nvSpPr>
          <p:cNvPr id="7201" name="Line 55"/>
          <p:cNvSpPr>
            <a:spLocks noChangeShapeType="1"/>
          </p:cNvSpPr>
          <p:nvPr/>
        </p:nvSpPr>
        <p:spPr bwMode="auto">
          <a:xfrm flipH="1">
            <a:off x="5594350" y="2016125"/>
            <a:ext cx="180975" cy="0"/>
          </a:xfrm>
          <a:prstGeom prst="line">
            <a:avLst/>
          </a:prstGeom>
          <a:noFill/>
          <a:ln w="19050">
            <a:solidFill>
              <a:schemeClr val="tx1"/>
            </a:solidFill>
            <a:round/>
            <a:headEnd/>
            <a:tailEnd/>
          </a:ln>
        </p:spPr>
        <p:txBody>
          <a:bodyPr wrap="none" anchor="ctr"/>
          <a:lstStyle/>
          <a:p>
            <a:endParaRPr lang="zh-CN" altLang="en-US"/>
          </a:p>
        </p:txBody>
      </p:sp>
      <p:sp>
        <p:nvSpPr>
          <p:cNvPr id="7202" name="Line 56"/>
          <p:cNvSpPr>
            <a:spLocks noChangeShapeType="1"/>
          </p:cNvSpPr>
          <p:nvPr/>
        </p:nvSpPr>
        <p:spPr bwMode="auto">
          <a:xfrm flipH="1">
            <a:off x="5368925" y="4430713"/>
            <a:ext cx="422275" cy="6350"/>
          </a:xfrm>
          <a:prstGeom prst="line">
            <a:avLst/>
          </a:prstGeom>
          <a:noFill/>
          <a:ln w="19050">
            <a:solidFill>
              <a:schemeClr val="tx1"/>
            </a:solidFill>
            <a:round/>
            <a:headEnd/>
            <a:tailEnd/>
          </a:ln>
        </p:spPr>
        <p:txBody>
          <a:bodyPr wrap="none" anchor="ctr"/>
          <a:lstStyle/>
          <a:p>
            <a:endParaRPr lang="zh-CN" altLang="en-US"/>
          </a:p>
        </p:txBody>
      </p:sp>
      <p:sp>
        <p:nvSpPr>
          <p:cNvPr id="7203" name="Text Box 57"/>
          <p:cNvSpPr txBox="1">
            <a:spLocks noChangeArrowheads="1"/>
          </p:cNvSpPr>
          <p:nvPr/>
        </p:nvSpPr>
        <p:spPr bwMode="auto">
          <a:xfrm rot="16200000">
            <a:off x="4777902" y="3207644"/>
            <a:ext cx="1213794"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ea typeface="宋体" pitchFamily="2" charset="-122"/>
              </a:rPr>
              <a:t>Seq=100 </a:t>
            </a:r>
            <a:r>
              <a:rPr kumimoji="0" lang="zh-CN" altLang="en-US" sz="1400" dirty="0">
                <a:ea typeface="宋体" pitchFamily="2" charset="-122"/>
              </a:rPr>
              <a:t>超时</a:t>
            </a:r>
            <a:endParaRPr kumimoji="0" lang="en-US" altLang="zh-CN" sz="1000" dirty="0">
              <a:latin typeface="Times New Roman" pitchFamily="18" charset="0"/>
              <a:ea typeface="宋体" pitchFamily="2" charset="-122"/>
            </a:endParaRPr>
          </a:p>
        </p:txBody>
      </p:sp>
      <p:sp>
        <p:nvSpPr>
          <p:cNvPr id="7204" name="Line 58"/>
          <p:cNvSpPr>
            <a:spLocks noChangeShapeType="1"/>
          </p:cNvSpPr>
          <p:nvPr/>
        </p:nvSpPr>
        <p:spPr bwMode="auto">
          <a:xfrm flipV="1">
            <a:off x="5378450" y="2371725"/>
            <a:ext cx="6350" cy="295275"/>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205" name="Line 59"/>
          <p:cNvSpPr>
            <a:spLocks noChangeShapeType="1"/>
          </p:cNvSpPr>
          <p:nvPr/>
        </p:nvSpPr>
        <p:spPr bwMode="auto">
          <a:xfrm flipH="1">
            <a:off x="5387975" y="4089400"/>
            <a:ext cx="0" cy="30480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7206" name="Line 60"/>
          <p:cNvSpPr>
            <a:spLocks noChangeShapeType="1"/>
          </p:cNvSpPr>
          <p:nvPr/>
        </p:nvSpPr>
        <p:spPr bwMode="auto">
          <a:xfrm flipH="1">
            <a:off x="5835864" y="4392183"/>
            <a:ext cx="2452474" cy="129424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7207" name="Text Box 61"/>
          <p:cNvSpPr txBox="1">
            <a:spLocks noChangeArrowheads="1"/>
          </p:cNvSpPr>
          <p:nvPr/>
        </p:nvSpPr>
        <p:spPr bwMode="auto">
          <a:xfrm rot="-1516877">
            <a:off x="6921500" y="4508500"/>
            <a:ext cx="966788" cy="304800"/>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ACK=120</a:t>
            </a:r>
            <a:endParaRPr kumimoji="0" lang="en-US" altLang="zh-CN" sz="1000">
              <a:latin typeface="Times New Roman" pitchFamily="18" charset="0"/>
              <a:ea typeface="宋体" pitchFamily="2" charset="-122"/>
            </a:endParaRPr>
          </a:p>
        </p:txBody>
      </p:sp>
      <p:sp>
        <p:nvSpPr>
          <p:cNvPr id="64" name="Rectangle 2">
            <a:extLst>
              <a:ext uri="{FF2B5EF4-FFF2-40B4-BE49-F238E27FC236}">
                <a16:creationId xmlns:a16="http://schemas.microsoft.com/office/drawing/2014/main" id="{4DDE409D-248C-4653-AA61-AB3DB0279443}"/>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重传场景</a:t>
            </a:r>
            <a:endParaRPr lang="en-US" altLang="zh-CN" sz="2800" dirty="0">
              <a:latin typeface="Arial" pitchFamily="34" charset="0"/>
              <a:ea typeface="宋体" pitchFamily="2" charset="-122"/>
            </a:endParaRPr>
          </a:p>
        </p:txBody>
      </p:sp>
      <p:sp>
        <p:nvSpPr>
          <p:cNvPr id="65" name="Line 17">
            <a:extLst>
              <a:ext uri="{FF2B5EF4-FFF2-40B4-BE49-F238E27FC236}">
                <a16:creationId xmlns:a16="http://schemas.microsoft.com/office/drawing/2014/main" id="{C791C9F1-EDF8-4FE0-86D9-8D5F7766F5B6}"/>
              </a:ext>
            </a:extLst>
          </p:cNvPr>
          <p:cNvSpPr>
            <a:spLocks noChangeShapeType="1"/>
          </p:cNvSpPr>
          <p:nvPr/>
        </p:nvSpPr>
        <p:spPr bwMode="auto">
          <a:xfrm>
            <a:off x="5153298" y="1701799"/>
            <a:ext cx="8612" cy="4579144"/>
          </a:xfrm>
          <a:prstGeom prst="line">
            <a:avLst/>
          </a:prstGeom>
          <a:noFill/>
          <a:ln w="28575">
            <a:solidFill>
              <a:srgbClr val="FF0000"/>
            </a:solidFill>
            <a:round/>
            <a:headEnd/>
            <a:tailEnd type="triangle" w="med" len="med"/>
          </a:ln>
        </p:spPr>
        <p:txBody>
          <a:bodyPr wrap="none" anchor="ctr"/>
          <a:lstStyle/>
          <a:p>
            <a:endParaRPr lang="zh-CN" altLang="en-US"/>
          </a:p>
        </p:txBody>
      </p:sp>
      <p:sp>
        <p:nvSpPr>
          <p:cNvPr id="7209" name="Text Box 41"/>
          <p:cNvSpPr txBox="1">
            <a:spLocks noChangeArrowheads="1"/>
          </p:cNvSpPr>
          <p:nvPr/>
        </p:nvSpPr>
        <p:spPr bwMode="auto">
          <a:xfrm>
            <a:off x="4845053" y="5462588"/>
            <a:ext cx="658813" cy="366713"/>
          </a:xfrm>
          <a:prstGeom prst="rect">
            <a:avLst/>
          </a:prstGeom>
          <a:solidFill>
            <a:schemeClr val="bg1"/>
          </a:solid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solidFill>
                  <a:srgbClr val="FF0000"/>
                </a:solidFill>
                <a:ea typeface="宋体" pitchFamily="2" charset="-122"/>
              </a:rPr>
              <a:t>time</a:t>
            </a:r>
            <a:endParaRPr kumimoji="0" lang="en-US" altLang="zh-CN" sz="1000" dirty="0">
              <a:latin typeface="Times New Roman" pitchFamily="18" charset="0"/>
              <a:ea typeface="宋体" pitchFamily="2" charset="-122"/>
            </a:endParaRPr>
          </a:p>
        </p:txBody>
      </p:sp>
      <p:sp>
        <p:nvSpPr>
          <p:cNvPr id="63" name="标题 1">
            <a:extLst>
              <a:ext uri="{FF2B5EF4-FFF2-40B4-BE49-F238E27FC236}">
                <a16:creationId xmlns:a16="http://schemas.microsoft.com/office/drawing/2014/main" id="{F621B0CE-BA09-4E5B-8760-84E0ACB4EC93}"/>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Tree>
    <p:extLst>
      <p:ext uri="{BB962C8B-B14F-4D97-AF65-F5344CB8AC3E}">
        <p14:creationId xmlns:p14="http://schemas.microsoft.com/office/powerpoint/2010/main" val="29275807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2">
            <a:extLst>
              <a:ext uri="{FF2B5EF4-FFF2-40B4-BE49-F238E27FC236}">
                <a16:creationId xmlns:a16="http://schemas.microsoft.com/office/drawing/2014/main" id="{4DDE409D-248C-4653-AA61-AB3DB0279443}"/>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重传场景</a:t>
            </a:r>
            <a:endParaRPr lang="en-US" altLang="zh-CN" sz="2800" dirty="0">
              <a:latin typeface="Arial" pitchFamily="34" charset="0"/>
              <a:ea typeface="宋体" pitchFamily="2" charset="-122"/>
            </a:endParaRPr>
          </a:p>
        </p:txBody>
      </p:sp>
      <p:sp>
        <p:nvSpPr>
          <p:cNvPr id="63" name="Line 9">
            <a:extLst>
              <a:ext uri="{FF2B5EF4-FFF2-40B4-BE49-F238E27FC236}">
                <a16:creationId xmlns:a16="http://schemas.microsoft.com/office/drawing/2014/main" id="{F4F80700-0798-4796-BCE8-F2956556C93D}"/>
              </a:ext>
            </a:extLst>
          </p:cNvPr>
          <p:cNvSpPr>
            <a:spLocks noChangeShapeType="1"/>
          </p:cNvSpPr>
          <p:nvPr/>
        </p:nvSpPr>
        <p:spPr bwMode="auto">
          <a:xfrm flipH="1">
            <a:off x="2303248" y="2886353"/>
            <a:ext cx="1581150" cy="485775"/>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67" name="Line 10">
            <a:extLst>
              <a:ext uri="{FF2B5EF4-FFF2-40B4-BE49-F238E27FC236}">
                <a16:creationId xmlns:a16="http://schemas.microsoft.com/office/drawing/2014/main" id="{10F4D5CC-E191-4D83-A120-BAB2CF40DC14}"/>
              </a:ext>
            </a:extLst>
          </p:cNvPr>
          <p:cNvSpPr>
            <a:spLocks noChangeShapeType="1"/>
          </p:cNvSpPr>
          <p:nvPr/>
        </p:nvSpPr>
        <p:spPr bwMode="auto">
          <a:xfrm>
            <a:off x="1360273" y="2162453"/>
            <a:ext cx="2533650" cy="590550"/>
          </a:xfrm>
          <a:prstGeom prst="line">
            <a:avLst/>
          </a:prstGeom>
          <a:noFill/>
          <a:ln w="28575">
            <a:solidFill>
              <a:schemeClr val="accent2"/>
            </a:solidFill>
            <a:round/>
            <a:headEnd/>
            <a:tailEnd type="triangle" w="med" len="med"/>
          </a:ln>
        </p:spPr>
        <p:txBody>
          <a:bodyPr wrap="none" anchor="ctr"/>
          <a:lstStyle/>
          <a:p>
            <a:endParaRPr lang="zh-CN" altLang="en-US"/>
          </a:p>
        </p:txBody>
      </p:sp>
      <p:graphicFrame>
        <p:nvGraphicFramePr>
          <p:cNvPr id="68" name="Object 11">
            <a:extLst>
              <a:ext uri="{FF2B5EF4-FFF2-40B4-BE49-F238E27FC236}">
                <a16:creationId xmlns:a16="http://schemas.microsoft.com/office/drawing/2014/main" id="{6383107A-FFFA-4AC5-9DA3-348C4CC266FE}"/>
              </a:ext>
            </a:extLst>
          </p:cNvPr>
          <p:cNvGraphicFramePr>
            <a:graphicFrameLocks noChangeAspect="1"/>
          </p:cNvGraphicFramePr>
          <p:nvPr>
            <p:extLst>
              <p:ext uri="{D42A27DB-BD31-4B8C-83A1-F6EECF244321}">
                <p14:modId xmlns:p14="http://schemas.microsoft.com/office/powerpoint/2010/main" val="668250112"/>
              </p:ext>
            </p:extLst>
          </p:nvPr>
        </p:nvGraphicFramePr>
        <p:xfrm>
          <a:off x="947523" y="1494115"/>
          <a:ext cx="485775" cy="38576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819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523" y="1494115"/>
                        <a:ext cx="485775"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 name="Text Box 12">
            <a:extLst>
              <a:ext uri="{FF2B5EF4-FFF2-40B4-BE49-F238E27FC236}">
                <a16:creationId xmlns:a16="http://schemas.microsoft.com/office/drawing/2014/main" id="{E709BAE1-AD1B-4B13-8BCB-583BD8716797}"/>
              </a:ext>
            </a:extLst>
          </p:cNvPr>
          <p:cNvSpPr txBox="1">
            <a:spLocks noChangeArrowheads="1"/>
          </p:cNvSpPr>
          <p:nvPr/>
        </p:nvSpPr>
        <p:spPr bwMode="auto">
          <a:xfrm>
            <a:off x="1357098" y="1494115"/>
            <a:ext cx="659732" cy="33855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A</a:t>
            </a:r>
            <a:endParaRPr kumimoji="0" lang="en-US" altLang="zh-CN" sz="1000" dirty="0">
              <a:latin typeface="Times New Roman" pitchFamily="18" charset="0"/>
              <a:ea typeface="宋体" pitchFamily="2" charset="-122"/>
            </a:endParaRPr>
          </a:p>
        </p:txBody>
      </p:sp>
      <p:sp>
        <p:nvSpPr>
          <p:cNvPr id="70" name="Text Box 13">
            <a:extLst>
              <a:ext uri="{FF2B5EF4-FFF2-40B4-BE49-F238E27FC236}">
                <a16:creationId xmlns:a16="http://schemas.microsoft.com/office/drawing/2014/main" id="{2A4ED628-5108-46F5-9259-4B611B81A4BC}"/>
              </a:ext>
            </a:extLst>
          </p:cNvPr>
          <p:cNvSpPr txBox="1">
            <a:spLocks noChangeArrowheads="1"/>
          </p:cNvSpPr>
          <p:nvPr/>
        </p:nvSpPr>
        <p:spPr bwMode="auto">
          <a:xfrm rot="706751">
            <a:off x="1812949" y="2172077"/>
            <a:ext cx="1723549"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Seq=92, 8</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71" name="Text Box 14">
            <a:extLst>
              <a:ext uri="{FF2B5EF4-FFF2-40B4-BE49-F238E27FC236}">
                <a16:creationId xmlns:a16="http://schemas.microsoft.com/office/drawing/2014/main" id="{622781C3-E3DC-474B-AE9E-3B23AA19479F}"/>
              </a:ext>
            </a:extLst>
          </p:cNvPr>
          <p:cNvSpPr txBox="1">
            <a:spLocks noChangeArrowheads="1"/>
          </p:cNvSpPr>
          <p:nvPr/>
        </p:nvSpPr>
        <p:spPr bwMode="auto">
          <a:xfrm rot="20617328">
            <a:off x="2966823" y="2775228"/>
            <a:ext cx="949325" cy="30480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ACK=100</a:t>
            </a:r>
            <a:endParaRPr kumimoji="0" lang="en-US" altLang="zh-CN" sz="1000">
              <a:latin typeface="Times New Roman" pitchFamily="18" charset="0"/>
              <a:ea typeface="宋体" pitchFamily="2" charset="-122"/>
            </a:endParaRPr>
          </a:p>
        </p:txBody>
      </p:sp>
      <p:sp>
        <p:nvSpPr>
          <p:cNvPr id="72" name="Text Box 15">
            <a:extLst>
              <a:ext uri="{FF2B5EF4-FFF2-40B4-BE49-F238E27FC236}">
                <a16:creationId xmlns:a16="http://schemas.microsoft.com/office/drawing/2014/main" id="{12DAC40B-03CC-48C1-9827-91B122D8518E}"/>
              </a:ext>
            </a:extLst>
          </p:cNvPr>
          <p:cNvSpPr txBox="1">
            <a:spLocks noChangeArrowheads="1"/>
          </p:cNvSpPr>
          <p:nvPr/>
        </p:nvSpPr>
        <p:spPr bwMode="auto">
          <a:xfrm>
            <a:off x="1946061" y="3422928"/>
            <a:ext cx="588962" cy="36671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a:solidFill>
                  <a:srgbClr val="FF0000"/>
                </a:solidFill>
                <a:ea typeface="宋体" pitchFamily="2" charset="-122"/>
              </a:rPr>
              <a:t>loss</a:t>
            </a:r>
            <a:endParaRPr kumimoji="0" lang="en-US" altLang="zh-CN" sz="1000">
              <a:latin typeface="Times New Roman" pitchFamily="18" charset="0"/>
              <a:ea typeface="宋体" pitchFamily="2" charset="-122"/>
            </a:endParaRPr>
          </a:p>
        </p:txBody>
      </p:sp>
      <p:sp>
        <p:nvSpPr>
          <p:cNvPr id="73" name="Text Box 16">
            <a:extLst>
              <a:ext uri="{FF2B5EF4-FFF2-40B4-BE49-F238E27FC236}">
                <a16:creationId xmlns:a16="http://schemas.microsoft.com/office/drawing/2014/main" id="{3FC0E7E5-E201-4694-9522-28563004912A}"/>
              </a:ext>
            </a:extLst>
          </p:cNvPr>
          <p:cNvSpPr txBox="1">
            <a:spLocks noChangeArrowheads="1"/>
          </p:cNvSpPr>
          <p:nvPr/>
        </p:nvSpPr>
        <p:spPr bwMode="auto">
          <a:xfrm rot="16200000">
            <a:off x="703841" y="2969697"/>
            <a:ext cx="912813" cy="33655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a:ea typeface="宋体" pitchFamily="2" charset="-122"/>
              </a:rPr>
              <a:t>timeout</a:t>
            </a:r>
            <a:endParaRPr kumimoji="0" lang="en-US" altLang="zh-CN" sz="1000">
              <a:latin typeface="Times New Roman" pitchFamily="18" charset="0"/>
              <a:ea typeface="宋体" pitchFamily="2" charset="-122"/>
            </a:endParaRPr>
          </a:p>
        </p:txBody>
      </p:sp>
      <p:sp>
        <p:nvSpPr>
          <p:cNvPr id="74" name="Line 17">
            <a:extLst>
              <a:ext uri="{FF2B5EF4-FFF2-40B4-BE49-F238E27FC236}">
                <a16:creationId xmlns:a16="http://schemas.microsoft.com/office/drawing/2014/main" id="{9EDFB8BE-53B9-4C02-A699-9D03EF154B3B}"/>
              </a:ext>
            </a:extLst>
          </p:cNvPr>
          <p:cNvSpPr>
            <a:spLocks noChangeShapeType="1"/>
          </p:cNvSpPr>
          <p:nvPr/>
        </p:nvSpPr>
        <p:spPr bwMode="auto">
          <a:xfrm flipH="1">
            <a:off x="931648" y="1800503"/>
            <a:ext cx="0" cy="4514850"/>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75" name="Group 18">
            <a:extLst>
              <a:ext uri="{FF2B5EF4-FFF2-40B4-BE49-F238E27FC236}">
                <a16:creationId xmlns:a16="http://schemas.microsoft.com/office/drawing/2014/main" id="{1B05A164-E5A4-4BEA-B789-BDDFFD023161}"/>
              </a:ext>
            </a:extLst>
          </p:cNvPr>
          <p:cNvGrpSpPr>
            <a:grpSpLocks/>
          </p:cNvGrpSpPr>
          <p:nvPr/>
        </p:nvGrpSpPr>
        <p:grpSpPr bwMode="auto">
          <a:xfrm>
            <a:off x="604623" y="5613678"/>
            <a:ext cx="658813" cy="366712"/>
            <a:chOff x="3304" y="3530"/>
            <a:chExt cx="415" cy="231"/>
          </a:xfrm>
        </p:grpSpPr>
        <p:sp>
          <p:nvSpPr>
            <p:cNvPr id="76" name="Rectangle 19">
              <a:extLst>
                <a:ext uri="{FF2B5EF4-FFF2-40B4-BE49-F238E27FC236}">
                  <a16:creationId xmlns:a16="http://schemas.microsoft.com/office/drawing/2014/main" id="{401B5E6E-CD40-4EF8-816A-31C608E38DBA}"/>
                </a:ext>
              </a:extLst>
            </p:cNvPr>
            <p:cNvSpPr>
              <a:spLocks noChangeArrowheads="1"/>
            </p:cNvSpPr>
            <p:nvPr/>
          </p:nvSpPr>
          <p:spPr bwMode="auto">
            <a:xfrm>
              <a:off x="3342" y="3576"/>
              <a:ext cx="324" cy="156"/>
            </a:xfrm>
            <a:prstGeom prst="rect">
              <a:avLst/>
            </a:prstGeom>
            <a:solidFill>
              <a:schemeClr val="bg1"/>
            </a:solidFill>
            <a:ln w="9525">
              <a:noFill/>
              <a:miter lim="800000"/>
              <a:headEnd/>
              <a:tailEnd/>
            </a:ln>
          </p:spPr>
          <p:txBody>
            <a:bodyPr wrap="none" anchor="ctr"/>
            <a:lstStyle/>
            <a:p>
              <a:endParaRPr lang="zh-CN" altLang="en-US"/>
            </a:p>
          </p:txBody>
        </p:sp>
        <p:sp>
          <p:nvSpPr>
            <p:cNvPr id="77" name="Text Box 20">
              <a:extLst>
                <a:ext uri="{FF2B5EF4-FFF2-40B4-BE49-F238E27FC236}">
                  <a16:creationId xmlns:a16="http://schemas.microsoft.com/office/drawing/2014/main" id="{651057A3-F325-48FC-ACDD-46D15E6F9738}"/>
                </a:ext>
              </a:extLst>
            </p:cNvPr>
            <p:cNvSpPr txBox="1">
              <a:spLocks noChangeArrowheads="1"/>
            </p:cNvSpPr>
            <p:nvPr/>
          </p:nvSpPr>
          <p:spPr bwMode="auto">
            <a:xfrm>
              <a:off x="3304" y="3530"/>
              <a:ext cx="415" cy="231"/>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a:solidFill>
                    <a:srgbClr val="FF0000"/>
                  </a:solidFill>
                  <a:ea typeface="宋体" pitchFamily="2" charset="-122"/>
                </a:rPr>
                <a:t>time</a:t>
              </a:r>
              <a:endParaRPr kumimoji="0" lang="en-US" altLang="zh-CN" sz="1000">
                <a:latin typeface="Times New Roman" pitchFamily="18" charset="0"/>
                <a:ea typeface="宋体" pitchFamily="2" charset="-122"/>
              </a:endParaRPr>
            </a:p>
          </p:txBody>
        </p:sp>
      </p:grpSp>
      <p:sp>
        <p:nvSpPr>
          <p:cNvPr id="78" name="Text Box 21">
            <a:extLst>
              <a:ext uri="{FF2B5EF4-FFF2-40B4-BE49-F238E27FC236}">
                <a16:creationId xmlns:a16="http://schemas.microsoft.com/office/drawing/2014/main" id="{3C106B10-60C7-4636-8B42-5A44B24D702D}"/>
              </a:ext>
            </a:extLst>
          </p:cNvPr>
          <p:cNvSpPr txBox="1">
            <a:spLocks noChangeArrowheads="1"/>
          </p:cNvSpPr>
          <p:nvPr/>
        </p:nvSpPr>
        <p:spPr bwMode="auto">
          <a:xfrm>
            <a:off x="1902663" y="5810528"/>
            <a:ext cx="1133644"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lang="zh-CN" altLang="en-US" dirty="0">
                <a:latin typeface="Times New Roman" panose="02020603050405020304" pitchFamily="18" charset="0"/>
                <a:ea typeface="宋体" pitchFamily="2" charset="-122"/>
                <a:cs typeface="Times New Roman" panose="02020603050405020304" pitchFamily="18" charset="0"/>
              </a:rPr>
              <a:t>累积</a:t>
            </a:r>
            <a:r>
              <a:rPr lang="en-US" altLang="zh-CN" dirty="0">
                <a:latin typeface="Times New Roman" panose="02020603050405020304" pitchFamily="18" charset="0"/>
                <a:ea typeface="宋体" pitchFamily="2" charset="-122"/>
                <a:cs typeface="Times New Roman" panose="02020603050405020304" pitchFamily="18" charset="0"/>
              </a:rPr>
              <a:t>ACK</a:t>
            </a:r>
          </a:p>
        </p:txBody>
      </p:sp>
      <p:graphicFrame>
        <p:nvGraphicFramePr>
          <p:cNvPr id="79" name="Object 22">
            <a:extLst>
              <a:ext uri="{FF2B5EF4-FFF2-40B4-BE49-F238E27FC236}">
                <a16:creationId xmlns:a16="http://schemas.microsoft.com/office/drawing/2014/main" id="{5C829553-F809-49B9-AC45-90E144266DE4}"/>
              </a:ext>
            </a:extLst>
          </p:cNvPr>
          <p:cNvGraphicFramePr>
            <a:graphicFrameLocks noChangeAspect="1"/>
          </p:cNvGraphicFramePr>
          <p:nvPr>
            <p:extLst>
              <p:ext uri="{D42A27DB-BD31-4B8C-83A1-F6EECF244321}">
                <p14:modId xmlns:p14="http://schemas.microsoft.com/office/powerpoint/2010/main" val="2911525295"/>
              </p:ext>
            </p:extLst>
          </p:nvPr>
        </p:nvGraphicFramePr>
        <p:xfrm>
          <a:off x="3604998" y="1503640"/>
          <a:ext cx="485775" cy="385763"/>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8195"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4998" y="1503640"/>
                        <a:ext cx="485775"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 name="Text Box 23">
            <a:extLst>
              <a:ext uri="{FF2B5EF4-FFF2-40B4-BE49-F238E27FC236}">
                <a16:creationId xmlns:a16="http://schemas.microsoft.com/office/drawing/2014/main" id="{413CA313-0BE8-4B6F-B8D3-C9AD5B046594}"/>
              </a:ext>
            </a:extLst>
          </p:cNvPr>
          <p:cNvSpPr txBox="1">
            <a:spLocks noChangeArrowheads="1"/>
          </p:cNvSpPr>
          <p:nvPr/>
        </p:nvSpPr>
        <p:spPr bwMode="auto">
          <a:xfrm>
            <a:off x="2881098" y="1513165"/>
            <a:ext cx="653320" cy="338554"/>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ea typeface="宋体" pitchFamily="2" charset="-122"/>
              </a:rPr>
              <a:t>TCP B</a:t>
            </a:r>
            <a:endParaRPr kumimoji="0" lang="en-US" altLang="zh-CN" sz="1000" dirty="0">
              <a:latin typeface="Times New Roman" pitchFamily="18" charset="0"/>
              <a:ea typeface="宋体" pitchFamily="2" charset="-122"/>
            </a:endParaRPr>
          </a:p>
        </p:txBody>
      </p:sp>
      <p:sp>
        <p:nvSpPr>
          <p:cNvPr id="81" name="Text Box 24">
            <a:extLst>
              <a:ext uri="{FF2B5EF4-FFF2-40B4-BE49-F238E27FC236}">
                <a16:creationId xmlns:a16="http://schemas.microsoft.com/office/drawing/2014/main" id="{6F9DC043-AC27-431B-AFF0-23F1C897651F}"/>
              </a:ext>
            </a:extLst>
          </p:cNvPr>
          <p:cNvSpPr txBox="1">
            <a:spLocks noChangeArrowheads="1"/>
          </p:cNvSpPr>
          <p:nvPr/>
        </p:nvSpPr>
        <p:spPr bwMode="auto">
          <a:xfrm>
            <a:off x="2052423" y="3145115"/>
            <a:ext cx="387350" cy="45720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2400">
                <a:solidFill>
                  <a:srgbClr val="FF0000"/>
                </a:solidFill>
                <a:latin typeface="Arial" charset="0"/>
                <a:ea typeface="宋体" pitchFamily="2" charset="-122"/>
              </a:rPr>
              <a:t>X</a:t>
            </a:r>
            <a:endParaRPr kumimoji="0" lang="en-US" altLang="zh-CN" sz="1000">
              <a:latin typeface="Times New Roman" pitchFamily="18" charset="0"/>
              <a:ea typeface="宋体" pitchFamily="2" charset="-122"/>
            </a:endParaRPr>
          </a:p>
        </p:txBody>
      </p:sp>
      <p:sp>
        <p:nvSpPr>
          <p:cNvPr id="82" name="Line 27">
            <a:extLst>
              <a:ext uri="{FF2B5EF4-FFF2-40B4-BE49-F238E27FC236}">
                <a16:creationId xmlns:a16="http://schemas.microsoft.com/office/drawing/2014/main" id="{1402BA45-A1A9-4F43-8061-EF9870DCFA6D}"/>
              </a:ext>
            </a:extLst>
          </p:cNvPr>
          <p:cNvSpPr>
            <a:spLocks noChangeShapeType="1"/>
          </p:cNvSpPr>
          <p:nvPr/>
        </p:nvSpPr>
        <p:spPr bwMode="auto">
          <a:xfrm>
            <a:off x="1350748" y="1943378"/>
            <a:ext cx="0" cy="3848100"/>
          </a:xfrm>
          <a:prstGeom prst="line">
            <a:avLst/>
          </a:prstGeom>
          <a:noFill/>
          <a:ln w="9525">
            <a:solidFill>
              <a:schemeClr val="tx1"/>
            </a:solidFill>
            <a:round/>
            <a:headEnd/>
            <a:tailEnd/>
          </a:ln>
        </p:spPr>
        <p:txBody>
          <a:bodyPr wrap="none" anchor="ctr"/>
          <a:lstStyle/>
          <a:p>
            <a:endParaRPr lang="zh-CN" altLang="en-US"/>
          </a:p>
        </p:txBody>
      </p:sp>
      <p:sp>
        <p:nvSpPr>
          <p:cNvPr id="83" name="Line 28">
            <a:extLst>
              <a:ext uri="{FF2B5EF4-FFF2-40B4-BE49-F238E27FC236}">
                <a16:creationId xmlns:a16="http://schemas.microsoft.com/office/drawing/2014/main" id="{58C97AB9-7462-46B5-9C9B-D2D289DF746A}"/>
              </a:ext>
            </a:extLst>
          </p:cNvPr>
          <p:cNvSpPr>
            <a:spLocks noChangeShapeType="1"/>
          </p:cNvSpPr>
          <p:nvPr/>
        </p:nvSpPr>
        <p:spPr bwMode="auto">
          <a:xfrm>
            <a:off x="3865348" y="1943378"/>
            <a:ext cx="0" cy="3848100"/>
          </a:xfrm>
          <a:prstGeom prst="line">
            <a:avLst/>
          </a:prstGeom>
          <a:noFill/>
          <a:ln w="9525">
            <a:solidFill>
              <a:schemeClr val="tx1"/>
            </a:solidFill>
            <a:round/>
            <a:headEnd/>
            <a:tailEnd/>
          </a:ln>
        </p:spPr>
        <p:txBody>
          <a:bodyPr wrap="none" anchor="ctr"/>
          <a:lstStyle/>
          <a:p>
            <a:endParaRPr lang="zh-CN" altLang="en-US"/>
          </a:p>
        </p:txBody>
      </p:sp>
      <p:sp>
        <p:nvSpPr>
          <p:cNvPr id="84" name="Line 29">
            <a:extLst>
              <a:ext uri="{FF2B5EF4-FFF2-40B4-BE49-F238E27FC236}">
                <a16:creationId xmlns:a16="http://schemas.microsoft.com/office/drawing/2014/main" id="{FC5E5787-37F1-46E7-9909-C02739D61F58}"/>
              </a:ext>
            </a:extLst>
          </p:cNvPr>
          <p:cNvSpPr>
            <a:spLocks noChangeShapeType="1"/>
          </p:cNvSpPr>
          <p:nvPr/>
        </p:nvSpPr>
        <p:spPr bwMode="auto">
          <a:xfrm flipH="1">
            <a:off x="1369798" y="3697565"/>
            <a:ext cx="2495550" cy="752475"/>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85" name="Text Box 30">
            <a:extLst>
              <a:ext uri="{FF2B5EF4-FFF2-40B4-BE49-F238E27FC236}">
                <a16:creationId xmlns:a16="http://schemas.microsoft.com/office/drawing/2014/main" id="{6156EA56-65EE-4D07-BA9B-76A0830CA391}"/>
              </a:ext>
            </a:extLst>
          </p:cNvPr>
          <p:cNvSpPr txBox="1">
            <a:spLocks noChangeArrowheads="1"/>
          </p:cNvSpPr>
          <p:nvPr/>
        </p:nvSpPr>
        <p:spPr bwMode="auto">
          <a:xfrm rot="20673133">
            <a:off x="2179423" y="3781703"/>
            <a:ext cx="966788" cy="304800"/>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1400">
                <a:latin typeface="Arial" charset="0"/>
                <a:ea typeface="宋体" pitchFamily="2" charset="-122"/>
              </a:rPr>
              <a:t>ACK=120</a:t>
            </a:r>
            <a:endParaRPr kumimoji="0" lang="en-US" altLang="zh-CN" sz="1000">
              <a:latin typeface="Times New Roman" pitchFamily="18" charset="0"/>
              <a:ea typeface="宋体" pitchFamily="2" charset="-122"/>
            </a:endParaRPr>
          </a:p>
        </p:txBody>
      </p:sp>
      <p:sp>
        <p:nvSpPr>
          <p:cNvPr id="86" name="Line 31">
            <a:extLst>
              <a:ext uri="{FF2B5EF4-FFF2-40B4-BE49-F238E27FC236}">
                <a16:creationId xmlns:a16="http://schemas.microsoft.com/office/drawing/2014/main" id="{0E953A51-C48E-4D97-8C94-5385F11EBE7E}"/>
              </a:ext>
            </a:extLst>
          </p:cNvPr>
          <p:cNvSpPr>
            <a:spLocks noChangeShapeType="1"/>
          </p:cNvSpPr>
          <p:nvPr/>
        </p:nvSpPr>
        <p:spPr bwMode="auto">
          <a:xfrm flipV="1">
            <a:off x="1179298" y="2143403"/>
            <a:ext cx="0" cy="600075"/>
          </a:xfrm>
          <a:prstGeom prst="line">
            <a:avLst/>
          </a:prstGeom>
          <a:noFill/>
          <a:ln w="19050">
            <a:solidFill>
              <a:schemeClr val="tx1"/>
            </a:solidFill>
            <a:round/>
            <a:headEnd/>
            <a:tailEnd type="triangle" w="med" len="med"/>
          </a:ln>
        </p:spPr>
        <p:txBody>
          <a:bodyPr wrap="none" anchor="ctr"/>
          <a:lstStyle/>
          <a:p>
            <a:endParaRPr lang="zh-CN" altLang="en-US"/>
          </a:p>
        </p:txBody>
      </p:sp>
      <p:sp>
        <p:nvSpPr>
          <p:cNvPr id="87" name="Line 32">
            <a:extLst>
              <a:ext uri="{FF2B5EF4-FFF2-40B4-BE49-F238E27FC236}">
                <a16:creationId xmlns:a16="http://schemas.microsoft.com/office/drawing/2014/main" id="{B810E099-FF49-4C1A-BF62-67FAB666FBD6}"/>
              </a:ext>
            </a:extLst>
          </p:cNvPr>
          <p:cNvSpPr>
            <a:spLocks noChangeShapeType="1"/>
          </p:cNvSpPr>
          <p:nvPr/>
        </p:nvSpPr>
        <p:spPr bwMode="auto">
          <a:xfrm flipH="1">
            <a:off x="1188822" y="3543579"/>
            <a:ext cx="0" cy="1202876"/>
          </a:xfrm>
          <a:prstGeom prst="line">
            <a:avLst/>
          </a:prstGeom>
          <a:noFill/>
          <a:ln w="19050">
            <a:solidFill>
              <a:schemeClr val="tx1"/>
            </a:solidFill>
            <a:round/>
            <a:headEnd/>
            <a:tailEnd type="triangle" w="med" len="med"/>
          </a:ln>
        </p:spPr>
        <p:txBody>
          <a:bodyPr wrap="none" anchor="ctr"/>
          <a:lstStyle/>
          <a:p>
            <a:endParaRPr lang="zh-CN" altLang="en-US"/>
          </a:p>
        </p:txBody>
      </p:sp>
      <p:sp>
        <p:nvSpPr>
          <p:cNvPr id="88" name="Rectangle 63">
            <a:extLst>
              <a:ext uri="{FF2B5EF4-FFF2-40B4-BE49-F238E27FC236}">
                <a16:creationId xmlns:a16="http://schemas.microsoft.com/office/drawing/2014/main" id="{E0E97E4D-6B2A-4BB7-825D-2765EFA7D18F}"/>
              </a:ext>
            </a:extLst>
          </p:cNvPr>
          <p:cNvSpPr>
            <a:spLocks noChangeArrowheads="1"/>
          </p:cNvSpPr>
          <p:nvPr/>
        </p:nvSpPr>
        <p:spPr bwMode="auto">
          <a:xfrm>
            <a:off x="4585282" y="1552942"/>
            <a:ext cx="4002082" cy="3309488"/>
          </a:xfrm>
          <a:prstGeom prst="rect">
            <a:avLst/>
          </a:prstGeom>
          <a:noFill/>
          <a:ln w="9525">
            <a:noFill/>
            <a:miter lim="800000"/>
            <a:headEnd/>
            <a:tailEnd/>
          </a:ln>
        </p:spPr>
        <p:txBody>
          <a:bodyPr/>
          <a:lstStyle/>
          <a:p>
            <a:pPr marL="342900" indent="-342900" eaLnBrk="0" hangingPunct="0">
              <a:lnSpc>
                <a:spcPct val="120000"/>
              </a:lnSpc>
              <a:spcBef>
                <a:spcPct val="40000"/>
              </a:spcBef>
              <a:buClrTx/>
              <a:buFontTx/>
              <a:buBlip>
                <a:blip r:embed="rId7"/>
              </a:buBlip>
            </a:pPr>
            <a:r>
              <a:rPr kumimoji="0" lang="en-US" altLang="zh-CN" sz="2200" dirty="0">
                <a:latin typeface="Times New Roman" panose="02020603050405020304" pitchFamily="18" charset="0"/>
                <a:ea typeface="宋体" pitchFamily="2" charset="-122"/>
                <a:cs typeface="Times New Roman" panose="02020603050405020304" pitchFamily="18" charset="0"/>
              </a:rPr>
              <a:t>TCP</a:t>
            </a:r>
            <a:r>
              <a:rPr kumimoji="0" lang="zh-CN" altLang="en-US" sz="2200" dirty="0">
                <a:latin typeface="Times New Roman" panose="02020603050405020304" pitchFamily="18" charset="0"/>
                <a:ea typeface="宋体" pitchFamily="2" charset="-122"/>
                <a:cs typeface="Times New Roman" panose="02020603050405020304" pitchFamily="18" charset="0"/>
              </a:rPr>
              <a:t>重传策略结合</a:t>
            </a:r>
            <a:r>
              <a:rPr kumimoji="0" lang="en-US" altLang="zh-CN" sz="2200" dirty="0">
                <a:latin typeface="Times New Roman" panose="02020603050405020304" pitchFamily="18" charset="0"/>
                <a:ea typeface="宋体" pitchFamily="2" charset="-122"/>
                <a:cs typeface="Times New Roman" panose="02020603050405020304" pitchFamily="18" charset="0"/>
              </a:rPr>
              <a:t>GBN</a:t>
            </a:r>
            <a:r>
              <a:rPr kumimoji="0" lang="zh-CN" altLang="en-US" sz="2200" dirty="0">
                <a:latin typeface="Times New Roman" panose="02020603050405020304" pitchFamily="18" charset="0"/>
                <a:ea typeface="宋体" pitchFamily="2" charset="-122"/>
                <a:cs typeface="Times New Roman" panose="02020603050405020304" pitchFamily="18" charset="0"/>
              </a:rPr>
              <a:t>和</a:t>
            </a:r>
            <a:r>
              <a:rPr kumimoji="0" lang="en-US" altLang="zh-CN" sz="2200" dirty="0">
                <a:latin typeface="Times New Roman" panose="02020603050405020304" pitchFamily="18" charset="0"/>
                <a:ea typeface="宋体" pitchFamily="2" charset="-122"/>
                <a:cs typeface="Times New Roman" panose="02020603050405020304" pitchFamily="18" charset="0"/>
              </a:rPr>
              <a:t>SR</a:t>
            </a:r>
            <a:r>
              <a:rPr kumimoji="0" lang="zh-CN" altLang="en-US" sz="2200" dirty="0">
                <a:latin typeface="Times New Roman" panose="02020603050405020304" pitchFamily="18" charset="0"/>
                <a:ea typeface="宋体" pitchFamily="2" charset="-122"/>
                <a:cs typeface="Times New Roman" panose="02020603050405020304" pitchFamily="18" charset="0"/>
              </a:rPr>
              <a:t>的某些特点</a:t>
            </a:r>
            <a:endParaRPr kumimoji="0" lang="en-US" altLang="zh-CN" sz="2200" dirty="0">
              <a:latin typeface="Times New Roman" panose="02020603050405020304" pitchFamily="18" charset="0"/>
              <a:ea typeface="宋体" pitchFamily="2" charset="-122"/>
              <a:cs typeface="Times New Roman" panose="02020603050405020304" pitchFamily="18" charset="0"/>
            </a:endParaRPr>
          </a:p>
          <a:p>
            <a:pPr marL="342900" indent="-342900" eaLnBrk="0" hangingPunct="0">
              <a:lnSpc>
                <a:spcPct val="120000"/>
              </a:lnSpc>
              <a:spcBef>
                <a:spcPct val="40000"/>
              </a:spcBef>
              <a:buClrTx/>
              <a:buFontTx/>
              <a:buBlip>
                <a:blip r:embed="rId7"/>
              </a:buBlip>
            </a:pPr>
            <a:r>
              <a:rPr kumimoji="0" lang="en-US" altLang="zh-CN" sz="2200" dirty="0">
                <a:latin typeface="Times New Roman" panose="02020603050405020304" pitchFamily="18" charset="0"/>
                <a:ea typeface="宋体" pitchFamily="2" charset="-122"/>
                <a:cs typeface="Times New Roman" panose="02020603050405020304" pitchFamily="18" charset="0"/>
              </a:rPr>
              <a:t>TCP</a:t>
            </a:r>
            <a:r>
              <a:rPr kumimoji="0" lang="zh-CN" altLang="en-US" sz="2200" dirty="0">
                <a:latin typeface="Times New Roman" panose="02020603050405020304" pitchFamily="18" charset="0"/>
                <a:ea typeface="宋体" pitchFamily="2" charset="-122"/>
                <a:cs typeface="Times New Roman" panose="02020603050405020304" pitchFamily="18" charset="0"/>
              </a:rPr>
              <a:t>协议未明确说明接收</a:t>
            </a:r>
            <a:r>
              <a:rPr lang="zh-CN" altLang="en-US" sz="2200" dirty="0">
                <a:latin typeface="Times New Roman" panose="02020603050405020304" pitchFamily="18" charset="0"/>
                <a:ea typeface="宋体" pitchFamily="2" charset="-122"/>
                <a:cs typeface="Times New Roman" panose="02020603050405020304" pitchFamily="18" charset="0"/>
              </a:rPr>
              <a:t>端如何处理</a:t>
            </a:r>
            <a:r>
              <a:rPr kumimoji="0" lang="zh-CN" altLang="en-US" sz="2200" dirty="0">
                <a:latin typeface="Times New Roman" panose="02020603050405020304" pitchFamily="18" charset="0"/>
                <a:ea typeface="宋体" pitchFamily="2" charset="-122"/>
                <a:cs typeface="Times New Roman" panose="02020603050405020304" pitchFamily="18" charset="0"/>
              </a:rPr>
              <a:t>失序报文段</a:t>
            </a:r>
            <a:endParaRPr kumimoji="0" lang="en-US" altLang="zh-CN" sz="2200" dirty="0">
              <a:latin typeface="Times New Roman" panose="02020603050405020304" pitchFamily="18" charset="0"/>
              <a:ea typeface="宋体" pitchFamily="2" charset="-122"/>
              <a:cs typeface="Times New Roman" panose="02020603050405020304" pitchFamily="18" charset="0"/>
            </a:endParaRPr>
          </a:p>
          <a:p>
            <a:pPr marL="342900" indent="-342900" eaLnBrk="0" hangingPunct="0">
              <a:lnSpc>
                <a:spcPct val="120000"/>
              </a:lnSpc>
              <a:spcBef>
                <a:spcPct val="40000"/>
              </a:spcBef>
              <a:buClrTx/>
              <a:buFontTx/>
              <a:buBlip>
                <a:blip r:embed="rId7"/>
              </a:buBlip>
            </a:pPr>
            <a:r>
              <a:rPr lang="en-US" altLang="zh-CN" sz="2200" dirty="0">
                <a:latin typeface="Times New Roman" panose="02020603050405020304" pitchFamily="18" charset="0"/>
                <a:ea typeface="宋体" pitchFamily="2" charset="-122"/>
                <a:cs typeface="Times New Roman" panose="02020603050405020304" pitchFamily="18" charset="0"/>
              </a:rPr>
              <a:t>TCP SACK</a:t>
            </a:r>
            <a:r>
              <a:rPr lang="zh-CN" altLang="en-US" sz="2200" dirty="0">
                <a:latin typeface="Times New Roman" panose="02020603050405020304" pitchFamily="18" charset="0"/>
                <a:ea typeface="宋体" pitchFamily="2" charset="-122"/>
                <a:cs typeface="Times New Roman" panose="02020603050405020304" pitchFamily="18" charset="0"/>
              </a:rPr>
              <a:t>中使用</a:t>
            </a:r>
            <a:r>
              <a:rPr lang="en-US" altLang="zh-CN" sz="2200" dirty="0">
                <a:latin typeface="Times New Roman" panose="02020603050405020304" pitchFamily="18" charset="0"/>
                <a:ea typeface="宋体" pitchFamily="2" charset="-122"/>
                <a:cs typeface="Times New Roman" panose="02020603050405020304" pitchFamily="18" charset="0"/>
              </a:rPr>
              <a:t>SR</a:t>
            </a:r>
            <a:r>
              <a:rPr lang="zh-CN" altLang="en-US" sz="2200" dirty="0">
                <a:latin typeface="Times New Roman" panose="02020603050405020304" pitchFamily="18" charset="0"/>
                <a:ea typeface="宋体" pitchFamily="2" charset="-122"/>
                <a:cs typeface="Times New Roman" panose="02020603050405020304" pitchFamily="18" charset="0"/>
              </a:rPr>
              <a:t>机制</a:t>
            </a:r>
            <a:endParaRPr lang="en-US" altLang="zh-CN" sz="2200" dirty="0">
              <a:latin typeface="Times New Roman" panose="02020603050405020304" pitchFamily="18" charset="0"/>
              <a:ea typeface="宋体" pitchFamily="2" charset="-122"/>
              <a:cs typeface="Times New Roman" panose="02020603050405020304" pitchFamily="18" charset="0"/>
            </a:endParaRPr>
          </a:p>
          <a:p>
            <a:pPr marL="342900" indent="-342900" eaLnBrk="0" hangingPunct="0">
              <a:lnSpc>
                <a:spcPct val="120000"/>
              </a:lnSpc>
              <a:spcBef>
                <a:spcPct val="40000"/>
              </a:spcBef>
              <a:buClrTx/>
              <a:buFontTx/>
              <a:buBlip>
                <a:blip r:embed="rId7"/>
              </a:buBlip>
            </a:pPr>
            <a:r>
              <a:rPr kumimoji="0" lang="zh-CN" altLang="en-US" sz="2200" b="1" dirty="0">
                <a:solidFill>
                  <a:srgbClr val="FF0000"/>
                </a:solidFill>
                <a:latin typeface="Times New Roman" panose="02020603050405020304" pitchFamily="18" charset="0"/>
                <a:ea typeface="宋体" pitchFamily="2" charset="-122"/>
                <a:cs typeface="Times New Roman" panose="02020603050405020304" pitchFamily="18" charset="0"/>
              </a:rPr>
              <a:t>问题</a:t>
            </a:r>
            <a:r>
              <a:rPr lang="zh-CN" altLang="en-US" sz="2200" dirty="0">
                <a:solidFill>
                  <a:srgbClr val="FF0000"/>
                </a:solidFill>
                <a:latin typeface="Times New Roman" panose="02020603050405020304" pitchFamily="18" charset="0"/>
                <a:ea typeface="宋体" pitchFamily="2" charset="-122"/>
                <a:cs typeface="Times New Roman" panose="02020603050405020304" pitchFamily="18" charset="0"/>
              </a:rPr>
              <a:t>：</a:t>
            </a:r>
            <a:r>
              <a:rPr lang="zh-CN" altLang="en-US" sz="2200" b="1" dirty="0">
                <a:latin typeface="Times New Roman" panose="02020603050405020304" pitchFamily="18" charset="0"/>
                <a:ea typeface="宋体" pitchFamily="2" charset="-122"/>
                <a:cs typeface="Times New Roman" panose="02020603050405020304" pitchFamily="18" charset="0"/>
              </a:rPr>
              <a:t>超时时间（</a:t>
            </a:r>
            <a:r>
              <a:rPr lang="en-US" altLang="zh-CN" sz="2200" b="1" dirty="0">
                <a:latin typeface="Times New Roman" panose="02020603050405020304" pitchFamily="18" charset="0"/>
                <a:ea typeface="宋体" pitchFamily="2" charset="-122"/>
                <a:cs typeface="Times New Roman" panose="02020603050405020304" pitchFamily="18" charset="0"/>
              </a:rPr>
              <a:t>timeout</a:t>
            </a:r>
            <a:r>
              <a:rPr lang="zh-CN" altLang="en-US" sz="2200" b="1" dirty="0">
                <a:latin typeface="Times New Roman" panose="02020603050405020304" pitchFamily="18" charset="0"/>
                <a:ea typeface="宋体" pitchFamily="2" charset="-122"/>
                <a:cs typeface="Times New Roman" panose="02020603050405020304" pitchFamily="18" charset="0"/>
              </a:rPr>
              <a:t>）如何确定？</a:t>
            </a:r>
            <a:endParaRPr lang="en-US" altLang="zh-CN" sz="2200" b="1" dirty="0">
              <a:latin typeface="Times New Roman" panose="02020603050405020304" pitchFamily="18" charset="0"/>
              <a:ea typeface="宋体" pitchFamily="2" charset="-122"/>
              <a:cs typeface="Times New Roman" panose="02020603050405020304" pitchFamily="18" charset="0"/>
            </a:endParaRPr>
          </a:p>
        </p:txBody>
      </p:sp>
      <p:sp>
        <p:nvSpPr>
          <p:cNvPr id="89" name="Text Box 64">
            <a:extLst>
              <a:ext uri="{FF2B5EF4-FFF2-40B4-BE49-F238E27FC236}">
                <a16:creationId xmlns:a16="http://schemas.microsoft.com/office/drawing/2014/main" id="{AC3A7C19-6BC1-4B96-825A-7BEDDD1E7E4F}"/>
              </a:ext>
            </a:extLst>
          </p:cNvPr>
          <p:cNvSpPr txBox="1">
            <a:spLocks noChangeArrowheads="1"/>
          </p:cNvSpPr>
          <p:nvPr/>
        </p:nvSpPr>
        <p:spPr bwMode="auto">
          <a:xfrm rot="808459">
            <a:off x="1608787" y="3010277"/>
            <a:ext cx="1922321"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400" dirty="0">
                <a:latin typeface="Arial" charset="0"/>
                <a:ea typeface="宋体" pitchFamily="2" charset="-122"/>
              </a:rPr>
              <a:t>Seq=100, 20</a:t>
            </a:r>
            <a:r>
              <a:rPr kumimoji="0" lang="zh-CN" altLang="en-US" sz="1400" dirty="0">
                <a:latin typeface="Arial" charset="0"/>
                <a:ea typeface="宋体" pitchFamily="2" charset="-122"/>
              </a:rPr>
              <a:t>字节数据</a:t>
            </a:r>
            <a:endParaRPr kumimoji="0" lang="en-US" altLang="zh-CN" sz="1000" dirty="0">
              <a:latin typeface="Times New Roman" pitchFamily="18" charset="0"/>
              <a:ea typeface="宋体" pitchFamily="2" charset="-122"/>
            </a:endParaRPr>
          </a:p>
        </p:txBody>
      </p:sp>
      <p:sp>
        <p:nvSpPr>
          <p:cNvPr id="90" name="Line 65">
            <a:extLst>
              <a:ext uri="{FF2B5EF4-FFF2-40B4-BE49-F238E27FC236}">
                <a16:creationId xmlns:a16="http://schemas.microsoft.com/office/drawing/2014/main" id="{F8C95E8E-227A-4B5D-BA41-87BF36552D7C}"/>
              </a:ext>
            </a:extLst>
          </p:cNvPr>
          <p:cNvSpPr>
            <a:spLocks noChangeShapeType="1"/>
          </p:cNvSpPr>
          <p:nvPr/>
        </p:nvSpPr>
        <p:spPr bwMode="auto">
          <a:xfrm>
            <a:off x="1341223" y="2953028"/>
            <a:ext cx="2508250" cy="628650"/>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9" name="标题 1">
            <a:extLst>
              <a:ext uri="{FF2B5EF4-FFF2-40B4-BE49-F238E27FC236}">
                <a16:creationId xmlns:a16="http://schemas.microsoft.com/office/drawing/2014/main" id="{1A1E5E07-1B47-4EAC-9024-85233E0870C9}"/>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Tree>
    <p:extLst>
      <p:ext uri="{BB962C8B-B14F-4D97-AF65-F5344CB8AC3E}">
        <p14:creationId xmlns:p14="http://schemas.microsoft.com/office/powerpoint/2010/main" val="1998373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Text Box 3"/>
          <p:cNvSpPr txBox="1">
            <a:spLocks noChangeArrowheads="1"/>
          </p:cNvSpPr>
          <p:nvPr/>
        </p:nvSpPr>
        <p:spPr bwMode="auto">
          <a:xfrm>
            <a:off x="895094" y="1988387"/>
            <a:ext cx="780535" cy="400110"/>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en-US" altLang="zh-CN" sz="2000" dirty="0">
                <a:ea typeface="宋体" pitchFamily="2" charset="-122"/>
              </a:rPr>
              <a:t>TCP A</a:t>
            </a:r>
          </a:p>
        </p:txBody>
      </p:sp>
      <p:sp>
        <p:nvSpPr>
          <p:cNvPr id="77830" name="Text Box 4"/>
          <p:cNvSpPr txBox="1">
            <a:spLocks noChangeArrowheads="1"/>
          </p:cNvSpPr>
          <p:nvPr/>
        </p:nvSpPr>
        <p:spPr bwMode="auto">
          <a:xfrm>
            <a:off x="911079" y="3651649"/>
            <a:ext cx="770917" cy="400110"/>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en-US" altLang="zh-CN" sz="2000" dirty="0">
                <a:ea typeface="宋体" pitchFamily="2" charset="-122"/>
              </a:rPr>
              <a:t>TCP B</a:t>
            </a:r>
          </a:p>
        </p:txBody>
      </p:sp>
      <p:sp>
        <p:nvSpPr>
          <p:cNvPr id="77831" name="Line 5"/>
          <p:cNvSpPr>
            <a:spLocks noChangeShapeType="1"/>
          </p:cNvSpPr>
          <p:nvPr/>
        </p:nvSpPr>
        <p:spPr bwMode="auto">
          <a:xfrm>
            <a:off x="1758196" y="2217591"/>
            <a:ext cx="6759195" cy="0"/>
          </a:xfrm>
          <a:prstGeom prst="line">
            <a:avLst/>
          </a:prstGeom>
          <a:noFill/>
          <a:ln w="38100">
            <a:solidFill>
              <a:schemeClr val="tx1"/>
            </a:solidFill>
            <a:round/>
            <a:headEnd/>
            <a:tailEnd/>
          </a:ln>
        </p:spPr>
        <p:txBody>
          <a:bodyPr/>
          <a:lstStyle/>
          <a:p>
            <a:endParaRPr lang="zh-CN" altLang="en-US"/>
          </a:p>
        </p:txBody>
      </p:sp>
      <p:sp>
        <p:nvSpPr>
          <p:cNvPr id="77832" name="Line 6"/>
          <p:cNvSpPr>
            <a:spLocks noChangeShapeType="1"/>
          </p:cNvSpPr>
          <p:nvPr/>
        </p:nvSpPr>
        <p:spPr bwMode="auto">
          <a:xfrm flipV="1">
            <a:off x="1758196" y="3893990"/>
            <a:ext cx="6816072" cy="1"/>
          </a:xfrm>
          <a:prstGeom prst="line">
            <a:avLst/>
          </a:prstGeom>
          <a:noFill/>
          <a:ln w="38100">
            <a:solidFill>
              <a:schemeClr val="tx1"/>
            </a:solidFill>
            <a:round/>
            <a:headEnd/>
            <a:tailEnd/>
          </a:ln>
        </p:spPr>
        <p:txBody>
          <a:bodyPr/>
          <a:lstStyle/>
          <a:p>
            <a:endParaRPr lang="zh-CN" altLang="en-US"/>
          </a:p>
        </p:txBody>
      </p:sp>
      <p:grpSp>
        <p:nvGrpSpPr>
          <p:cNvPr id="77833" name="Group 7"/>
          <p:cNvGrpSpPr>
            <a:grpSpLocks/>
          </p:cNvGrpSpPr>
          <p:nvPr/>
        </p:nvGrpSpPr>
        <p:grpSpPr bwMode="auto">
          <a:xfrm>
            <a:off x="1834396" y="1882628"/>
            <a:ext cx="1295400" cy="258763"/>
            <a:chOff x="1104" y="1152"/>
            <a:chExt cx="336" cy="144"/>
          </a:xfrm>
          <a:solidFill>
            <a:schemeClr val="accent6">
              <a:lumMod val="40000"/>
              <a:lumOff val="60000"/>
            </a:schemeClr>
          </a:solidFill>
        </p:grpSpPr>
        <p:sp>
          <p:nvSpPr>
            <p:cNvPr id="77859" name="Rectangle 8"/>
            <p:cNvSpPr>
              <a:spLocks noChangeArrowheads="1"/>
            </p:cNvSpPr>
            <p:nvPr/>
          </p:nvSpPr>
          <p:spPr bwMode="auto">
            <a:xfrm>
              <a:off x="1104" y="1152"/>
              <a:ext cx="336" cy="144"/>
            </a:xfrm>
            <a:prstGeom prst="rect">
              <a:avLst/>
            </a:prstGeom>
            <a:grpFill/>
            <a:ln w="9525">
              <a:solidFill>
                <a:schemeClr val="tx1"/>
              </a:solidFill>
              <a:miter lim="800000"/>
              <a:headEnd/>
              <a:tailEnd/>
            </a:ln>
          </p:spPr>
          <p:txBody>
            <a:bodyPr wrap="none" anchor="ctr"/>
            <a:lstStyle/>
            <a:p>
              <a:endParaRPr lang="zh-CN" altLang="en-US"/>
            </a:p>
          </p:txBody>
        </p:sp>
        <p:sp>
          <p:nvSpPr>
            <p:cNvPr id="77860" name="Line 9"/>
            <p:cNvSpPr>
              <a:spLocks noChangeShapeType="1"/>
            </p:cNvSpPr>
            <p:nvPr/>
          </p:nvSpPr>
          <p:spPr bwMode="auto">
            <a:xfrm>
              <a:off x="1344" y="1152"/>
              <a:ext cx="0" cy="144"/>
            </a:xfrm>
            <a:prstGeom prst="line">
              <a:avLst/>
            </a:prstGeom>
            <a:grpFill/>
            <a:ln w="9525">
              <a:solidFill>
                <a:schemeClr val="tx1"/>
              </a:solidFill>
              <a:round/>
              <a:headEnd/>
              <a:tailEnd/>
            </a:ln>
          </p:spPr>
          <p:txBody>
            <a:bodyPr/>
            <a:lstStyle/>
            <a:p>
              <a:endParaRPr lang="zh-CN" altLang="en-US"/>
            </a:p>
          </p:txBody>
        </p:sp>
      </p:grpSp>
      <p:sp>
        <p:nvSpPr>
          <p:cNvPr id="77834" name="Line 10"/>
          <p:cNvSpPr>
            <a:spLocks noChangeShapeType="1"/>
          </p:cNvSpPr>
          <p:nvPr/>
        </p:nvSpPr>
        <p:spPr bwMode="auto">
          <a:xfrm>
            <a:off x="1834396" y="2217591"/>
            <a:ext cx="1447800" cy="1676400"/>
          </a:xfrm>
          <a:prstGeom prst="line">
            <a:avLst/>
          </a:prstGeom>
          <a:noFill/>
          <a:ln w="9525">
            <a:solidFill>
              <a:schemeClr val="tx1"/>
            </a:solidFill>
            <a:round/>
            <a:headEnd/>
            <a:tailEnd type="triangle" w="med" len="med"/>
          </a:ln>
        </p:spPr>
        <p:txBody>
          <a:bodyPr/>
          <a:lstStyle/>
          <a:p>
            <a:endParaRPr lang="zh-CN" altLang="en-US"/>
          </a:p>
        </p:txBody>
      </p:sp>
      <p:sp>
        <p:nvSpPr>
          <p:cNvPr id="77835" name="Line 11"/>
          <p:cNvSpPr>
            <a:spLocks noChangeShapeType="1"/>
          </p:cNvSpPr>
          <p:nvPr/>
        </p:nvSpPr>
        <p:spPr bwMode="auto">
          <a:xfrm flipH="1">
            <a:off x="3282196" y="2217591"/>
            <a:ext cx="1447800" cy="1676400"/>
          </a:xfrm>
          <a:prstGeom prst="line">
            <a:avLst/>
          </a:prstGeom>
          <a:noFill/>
          <a:ln w="9525">
            <a:solidFill>
              <a:schemeClr val="tx1"/>
            </a:solidFill>
            <a:round/>
            <a:headEnd type="triangle" w="med" len="med"/>
            <a:tailEnd/>
          </a:ln>
        </p:spPr>
        <p:txBody>
          <a:bodyPr/>
          <a:lstStyle/>
          <a:p>
            <a:endParaRPr lang="zh-CN" altLang="en-US"/>
          </a:p>
        </p:txBody>
      </p:sp>
      <p:sp>
        <p:nvSpPr>
          <p:cNvPr id="77836" name="Text Box 12"/>
          <p:cNvSpPr txBox="1">
            <a:spLocks noChangeArrowheads="1"/>
          </p:cNvSpPr>
          <p:nvPr/>
        </p:nvSpPr>
        <p:spPr bwMode="auto">
          <a:xfrm>
            <a:off x="3595728" y="3297094"/>
            <a:ext cx="601190" cy="400110"/>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en-US" altLang="zh-CN" sz="2000" dirty="0">
                <a:ea typeface="宋体" pitchFamily="2" charset="-122"/>
              </a:rPr>
              <a:t>ACK</a:t>
            </a:r>
          </a:p>
        </p:txBody>
      </p:sp>
      <p:sp>
        <p:nvSpPr>
          <p:cNvPr id="77837" name="Line 13"/>
          <p:cNvSpPr>
            <a:spLocks noChangeShapeType="1"/>
          </p:cNvSpPr>
          <p:nvPr/>
        </p:nvSpPr>
        <p:spPr bwMode="auto">
          <a:xfrm>
            <a:off x="1834396" y="1607991"/>
            <a:ext cx="2873375" cy="0"/>
          </a:xfrm>
          <a:prstGeom prst="line">
            <a:avLst/>
          </a:prstGeom>
          <a:noFill/>
          <a:ln w="9525">
            <a:solidFill>
              <a:schemeClr val="tx1"/>
            </a:solidFill>
            <a:round/>
            <a:headEnd/>
            <a:tailEnd type="triangle" w="med" len="med"/>
          </a:ln>
        </p:spPr>
        <p:txBody>
          <a:bodyPr/>
          <a:lstStyle/>
          <a:p>
            <a:endParaRPr lang="zh-CN" altLang="en-US"/>
          </a:p>
        </p:txBody>
      </p:sp>
      <p:sp>
        <p:nvSpPr>
          <p:cNvPr id="77838" name="Line 14"/>
          <p:cNvSpPr>
            <a:spLocks noChangeShapeType="1"/>
          </p:cNvSpPr>
          <p:nvPr/>
        </p:nvSpPr>
        <p:spPr bwMode="auto">
          <a:xfrm flipV="1">
            <a:off x="1834396" y="1455591"/>
            <a:ext cx="0" cy="457200"/>
          </a:xfrm>
          <a:prstGeom prst="line">
            <a:avLst/>
          </a:prstGeom>
          <a:noFill/>
          <a:ln w="9525">
            <a:solidFill>
              <a:schemeClr val="tx1"/>
            </a:solidFill>
            <a:round/>
            <a:headEnd/>
            <a:tailEnd/>
          </a:ln>
        </p:spPr>
        <p:txBody>
          <a:bodyPr/>
          <a:lstStyle/>
          <a:p>
            <a:endParaRPr lang="zh-CN" altLang="en-US"/>
          </a:p>
        </p:txBody>
      </p:sp>
      <p:sp>
        <p:nvSpPr>
          <p:cNvPr id="77839" name="Line 15"/>
          <p:cNvSpPr>
            <a:spLocks noChangeShapeType="1"/>
          </p:cNvSpPr>
          <p:nvPr/>
        </p:nvSpPr>
        <p:spPr bwMode="auto">
          <a:xfrm flipV="1">
            <a:off x="4707771" y="1455591"/>
            <a:ext cx="0" cy="685800"/>
          </a:xfrm>
          <a:prstGeom prst="line">
            <a:avLst/>
          </a:prstGeom>
          <a:noFill/>
          <a:ln w="9525">
            <a:solidFill>
              <a:schemeClr val="tx1"/>
            </a:solidFill>
            <a:round/>
            <a:headEnd/>
            <a:tailEnd/>
          </a:ln>
        </p:spPr>
        <p:txBody>
          <a:bodyPr/>
          <a:lstStyle/>
          <a:p>
            <a:endParaRPr lang="zh-CN" altLang="en-US"/>
          </a:p>
        </p:txBody>
      </p:sp>
      <p:sp>
        <p:nvSpPr>
          <p:cNvPr id="77840" name="Text Box 16"/>
          <p:cNvSpPr txBox="1">
            <a:spLocks noChangeArrowheads="1"/>
          </p:cNvSpPr>
          <p:nvPr/>
        </p:nvSpPr>
        <p:spPr bwMode="auto">
          <a:xfrm>
            <a:off x="2186821" y="1261028"/>
            <a:ext cx="1652312" cy="369332"/>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zh-CN" altLang="en-US" dirty="0">
                <a:solidFill>
                  <a:srgbClr val="000099"/>
                </a:solidFill>
                <a:ea typeface="宋体" pitchFamily="2" charset="-122"/>
              </a:rPr>
              <a:t>往返时间 </a:t>
            </a:r>
            <a:r>
              <a:rPr kumimoji="0" lang="en-US" altLang="zh-CN" dirty="0">
                <a:solidFill>
                  <a:srgbClr val="000099"/>
                </a:solidFill>
                <a:ea typeface="宋体" pitchFamily="2" charset="-122"/>
              </a:rPr>
              <a:t>(RTT)</a:t>
            </a:r>
          </a:p>
        </p:txBody>
      </p:sp>
      <p:grpSp>
        <p:nvGrpSpPr>
          <p:cNvPr id="77841" name="Group 17"/>
          <p:cNvGrpSpPr>
            <a:grpSpLocks/>
          </p:cNvGrpSpPr>
          <p:nvPr/>
        </p:nvGrpSpPr>
        <p:grpSpPr bwMode="auto">
          <a:xfrm>
            <a:off x="4707771" y="1882628"/>
            <a:ext cx="1295400" cy="258763"/>
            <a:chOff x="1104" y="1152"/>
            <a:chExt cx="336" cy="144"/>
          </a:xfrm>
          <a:solidFill>
            <a:schemeClr val="accent6">
              <a:lumMod val="40000"/>
              <a:lumOff val="60000"/>
            </a:schemeClr>
          </a:solidFill>
        </p:grpSpPr>
        <p:sp>
          <p:nvSpPr>
            <p:cNvPr id="77857" name="Rectangle 18"/>
            <p:cNvSpPr>
              <a:spLocks noChangeArrowheads="1"/>
            </p:cNvSpPr>
            <p:nvPr/>
          </p:nvSpPr>
          <p:spPr bwMode="auto">
            <a:xfrm>
              <a:off x="1104" y="1152"/>
              <a:ext cx="336" cy="144"/>
            </a:xfrm>
            <a:prstGeom prst="rect">
              <a:avLst/>
            </a:prstGeom>
            <a:grpFill/>
            <a:ln w="9525">
              <a:solidFill>
                <a:schemeClr val="tx1"/>
              </a:solidFill>
              <a:miter lim="800000"/>
              <a:headEnd/>
              <a:tailEnd/>
            </a:ln>
          </p:spPr>
          <p:txBody>
            <a:bodyPr wrap="none" anchor="ctr"/>
            <a:lstStyle/>
            <a:p>
              <a:endParaRPr lang="zh-CN" altLang="en-US"/>
            </a:p>
          </p:txBody>
        </p:sp>
        <p:sp>
          <p:nvSpPr>
            <p:cNvPr id="77858" name="Line 19"/>
            <p:cNvSpPr>
              <a:spLocks noChangeShapeType="1"/>
            </p:cNvSpPr>
            <p:nvPr/>
          </p:nvSpPr>
          <p:spPr bwMode="auto">
            <a:xfrm>
              <a:off x="1344" y="1152"/>
              <a:ext cx="0" cy="144"/>
            </a:xfrm>
            <a:prstGeom prst="line">
              <a:avLst/>
            </a:prstGeom>
            <a:grpFill/>
            <a:ln w="9525">
              <a:solidFill>
                <a:schemeClr val="tx1"/>
              </a:solidFill>
              <a:round/>
              <a:headEnd/>
              <a:tailEnd/>
            </a:ln>
          </p:spPr>
          <p:txBody>
            <a:bodyPr/>
            <a:lstStyle/>
            <a:p>
              <a:endParaRPr lang="zh-CN" altLang="en-US"/>
            </a:p>
          </p:txBody>
        </p:sp>
      </p:grpSp>
      <p:sp>
        <p:nvSpPr>
          <p:cNvPr id="77842" name="Line 20"/>
          <p:cNvSpPr>
            <a:spLocks noChangeShapeType="1"/>
          </p:cNvSpPr>
          <p:nvPr/>
        </p:nvSpPr>
        <p:spPr bwMode="auto">
          <a:xfrm>
            <a:off x="4707771" y="2217591"/>
            <a:ext cx="1447800" cy="1676400"/>
          </a:xfrm>
          <a:prstGeom prst="line">
            <a:avLst/>
          </a:prstGeom>
          <a:noFill/>
          <a:ln w="9525">
            <a:solidFill>
              <a:schemeClr val="tx1"/>
            </a:solidFill>
            <a:round/>
            <a:headEnd/>
            <a:tailEnd type="triangle" w="med" len="med"/>
          </a:ln>
        </p:spPr>
        <p:txBody>
          <a:bodyPr/>
          <a:lstStyle/>
          <a:p>
            <a:endParaRPr lang="zh-CN" altLang="en-US"/>
          </a:p>
        </p:txBody>
      </p:sp>
      <p:sp>
        <p:nvSpPr>
          <p:cNvPr id="77843" name="Line 21"/>
          <p:cNvSpPr>
            <a:spLocks noChangeShapeType="1"/>
          </p:cNvSpPr>
          <p:nvPr/>
        </p:nvSpPr>
        <p:spPr bwMode="auto">
          <a:xfrm flipH="1">
            <a:off x="6155571" y="2903391"/>
            <a:ext cx="855663" cy="990600"/>
          </a:xfrm>
          <a:prstGeom prst="line">
            <a:avLst/>
          </a:prstGeom>
          <a:noFill/>
          <a:ln w="9525">
            <a:solidFill>
              <a:schemeClr val="tx1"/>
            </a:solidFill>
            <a:round/>
            <a:headEnd type="triangle" w="med" len="med"/>
            <a:tailEnd/>
          </a:ln>
        </p:spPr>
        <p:txBody>
          <a:bodyPr/>
          <a:lstStyle/>
          <a:p>
            <a:endParaRPr lang="zh-CN" altLang="en-US"/>
          </a:p>
        </p:txBody>
      </p:sp>
      <p:sp>
        <p:nvSpPr>
          <p:cNvPr id="77844" name="Text Box 22"/>
          <p:cNvSpPr txBox="1">
            <a:spLocks noChangeArrowheads="1"/>
          </p:cNvSpPr>
          <p:nvPr/>
        </p:nvSpPr>
        <p:spPr bwMode="auto">
          <a:xfrm>
            <a:off x="6482596" y="3287119"/>
            <a:ext cx="601190" cy="400110"/>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en-US" altLang="zh-CN" sz="2000" dirty="0">
                <a:ea typeface="宋体" pitchFamily="2" charset="-122"/>
              </a:rPr>
              <a:t>ACK</a:t>
            </a:r>
          </a:p>
        </p:txBody>
      </p:sp>
      <p:sp>
        <p:nvSpPr>
          <p:cNvPr id="77845" name="Line 23"/>
          <p:cNvSpPr>
            <a:spLocks noChangeShapeType="1"/>
          </p:cNvSpPr>
          <p:nvPr/>
        </p:nvSpPr>
        <p:spPr bwMode="auto">
          <a:xfrm>
            <a:off x="4707771" y="1607991"/>
            <a:ext cx="3603625" cy="0"/>
          </a:xfrm>
          <a:prstGeom prst="line">
            <a:avLst/>
          </a:prstGeom>
          <a:noFill/>
          <a:ln w="9525">
            <a:solidFill>
              <a:schemeClr val="tx1"/>
            </a:solidFill>
            <a:round/>
            <a:headEnd/>
            <a:tailEnd type="triangle" w="med" len="med"/>
          </a:ln>
        </p:spPr>
        <p:txBody>
          <a:bodyPr/>
          <a:lstStyle/>
          <a:p>
            <a:endParaRPr lang="zh-CN" altLang="en-US"/>
          </a:p>
        </p:txBody>
      </p:sp>
      <p:sp>
        <p:nvSpPr>
          <p:cNvPr id="77846" name="Line 24"/>
          <p:cNvSpPr>
            <a:spLocks noChangeShapeType="1"/>
          </p:cNvSpPr>
          <p:nvPr/>
        </p:nvSpPr>
        <p:spPr bwMode="auto">
          <a:xfrm flipV="1">
            <a:off x="7603371" y="1882628"/>
            <a:ext cx="0" cy="563563"/>
          </a:xfrm>
          <a:prstGeom prst="line">
            <a:avLst/>
          </a:prstGeom>
          <a:noFill/>
          <a:ln w="9525">
            <a:solidFill>
              <a:schemeClr val="tx1"/>
            </a:solidFill>
            <a:prstDash val="dash"/>
            <a:round/>
            <a:headEnd/>
            <a:tailEnd/>
          </a:ln>
        </p:spPr>
        <p:txBody>
          <a:bodyPr/>
          <a:lstStyle/>
          <a:p>
            <a:endParaRPr lang="zh-CN" altLang="en-US"/>
          </a:p>
        </p:txBody>
      </p:sp>
      <p:sp>
        <p:nvSpPr>
          <p:cNvPr id="77847" name="Text Box 25"/>
          <p:cNvSpPr txBox="1">
            <a:spLocks noChangeArrowheads="1"/>
          </p:cNvSpPr>
          <p:nvPr/>
        </p:nvSpPr>
        <p:spPr bwMode="auto">
          <a:xfrm>
            <a:off x="5007279" y="1254534"/>
            <a:ext cx="2144370" cy="369332"/>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zh-CN" altLang="en-US" dirty="0">
                <a:solidFill>
                  <a:srgbClr val="000099"/>
                </a:solidFill>
                <a:ea typeface="宋体" pitchFamily="2" charset="-122"/>
              </a:rPr>
              <a:t>重传超时时间 </a:t>
            </a:r>
            <a:r>
              <a:rPr kumimoji="0" lang="en-US" altLang="zh-CN" dirty="0">
                <a:solidFill>
                  <a:srgbClr val="000099"/>
                </a:solidFill>
                <a:ea typeface="宋体" pitchFamily="2" charset="-122"/>
              </a:rPr>
              <a:t>(RTO)</a:t>
            </a:r>
          </a:p>
        </p:txBody>
      </p:sp>
      <p:sp>
        <p:nvSpPr>
          <p:cNvPr id="77848" name="Line 26"/>
          <p:cNvSpPr>
            <a:spLocks noChangeShapeType="1"/>
          </p:cNvSpPr>
          <p:nvPr/>
        </p:nvSpPr>
        <p:spPr bwMode="auto">
          <a:xfrm flipV="1">
            <a:off x="8311396" y="1455591"/>
            <a:ext cx="0" cy="685800"/>
          </a:xfrm>
          <a:prstGeom prst="line">
            <a:avLst/>
          </a:prstGeom>
          <a:noFill/>
          <a:ln w="9525">
            <a:solidFill>
              <a:schemeClr val="tx1"/>
            </a:solidFill>
            <a:round/>
            <a:headEnd/>
            <a:tailEnd/>
          </a:ln>
        </p:spPr>
        <p:txBody>
          <a:bodyPr/>
          <a:lstStyle/>
          <a:p>
            <a:endParaRPr lang="zh-CN" altLang="en-US"/>
          </a:p>
        </p:txBody>
      </p:sp>
      <p:sp>
        <p:nvSpPr>
          <p:cNvPr id="77849" name="Text Box 27"/>
          <p:cNvSpPr txBox="1">
            <a:spLocks noChangeArrowheads="1"/>
          </p:cNvSpPr>
          <p:nvPr/>
        </p:nvSpPr>
        <p:spPr bwMode="auto">
          <a:xfrm>
            <a:off x="6870740" y="2401698"/>
            <a:ext cx="1227516" cy="369332"/>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zh-CN" altLang="en-US" dirty="0">
                <a:solidFill>
                  <a:srgbClr val="000099"/>
                </a:solidFill>
                <a:ea typeface="宋体" pitchFamily="2" charset="-122"/>
              </a:rPr>
              <a:t>估算的</a:t>
            </a:r>
            <a:r>
              <a:rPr kumimoji="0" lang="en-US" altLang="zh-CN" dirty="0">
                <a:solidFill>
                  <a:srgbClr val="000099"/>
                </a:solidFill>
                <a:ea typeface="宋体" pitchFamily="2" charset="-122"/>
              </a:rPr>
              <a:t>RTT</a:t>
            </a:r>
          </a:p>
        </p:txBody>
      </p:sp>
      <p:sp>
        <p:nvSpPr>
          <p:cNvPr id="77850" name="Text Box 28"/>
          <p:cNvSpPr txBox="1">
            <a:spLocks noChangeArrowheads="1"/>
          </p:cNvSpPr>
          <p:nvPr/>
        </p:nvSpPr>
        <p:spPr bwMode="auto">
          <a:xfrm>
            <a:off x="1611886" y="2901902"/>
            <a:ext cx="994183" cy="369332"/>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zh-CN" altLang="en-US" dirty="0">
                <a:ea typeface="宋体" pitchFamily="2" charset="-122"/>
              </a:rPr>
              <a:t>报文段</a:t>
            </a:r>
            <a:r>
              <a:rPr kumimoji="0" lang="en-US" altLang="zh-CN" dirty="0">
                <a:ea typeface="宋体" pitchFamily="2" charset="-122"/>
              </a:rPr>
              <a:t>1</a:t>
            </a:r>
          </a:p>
        </p:txBody>
      </p:sp>
      <p:sp>
        <p:nvSpPr>
          <p:cNvPr id="77851" name="Text Box 29"/>
          <p:cNvSpPr txBox="1">
            <a:spLocks noChangeArrowheads="1"/>
          </p:cNvSpPr>
          <p:nvPr/>
        </p:nvSpPr>
        <p:spPr bwMode="auto">
          <a:xfrm>
            <a:off x="4462065" y="2859033"/>
            <a:ext cx="994183" cy="369332"/>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zh-CN" altLang="en-US" dirty="0">
                <a:ea typeface="宋体" pitchFamily="2" charset="-122"/>
              </a:rPr>
              <a:t>报文段</a:t>
            </a:r>
            <a:r>
              <a:rPr kumimoji="0" lang="en-US" altLang="zh-CN" dirty="0">
                <a:ea typeface="宋体" pitchFamily="2" charset="-122"/>
              </a:rPr>
              <a:t>2</a:t>
            </a:r>
          </a:p>
        </p:txBody>
      </p:sp>
      <p:sp>
        <p:nvSpPr>
          <p:cNvPr id="77852" name="Line 30"/>
          <p:cNvSpPr>
            <a:spLocks noChangeShapeType="1"/>
          </p:cNvSpPr>
          <p:nvPr/>
        </p:nvSpPr>
        <p:spPr bwMode="auto">
          <a:xfrm>
            <a:off x="7603371" y="2084241"/>
            <a:ext cx="708025"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77853" name="Text Box 31"/>
          <p:cNvSpPr txBox="1">
            <a:spLocks noChangeArrowheads="1"/>
          </p:cNvSpPr>
          <p:nvPr/>
        </p:nvSpPr>
        <p:spPr bwMode="auto">
          <a:xfrm>
            <a:off x="7508323" y="1762219"/>
            <a:ext cx="898120" cy="290208"/>
          </a:xfrm>
          <a:prstGeom prst="rect">
            <a:avLst/>
          </a:prstGeom>
          <a:noFill/>
          <a:ln w="9525">
            <a:noFill/>
            <a:miter lim="800000"/>
            <a:headEnd/>
            <a:tailEnd/>
          </a:ln>
        </p:spPr>
        <p:txBody>
          <a:bodyPr wrap="square">
            <a:spAutoFit/>
          </a:bodyPr>
          <a:lstStyle/>
          <a:p>
            <a:pPr algn="ctr" eaLnBrk="0" hangingPunct="0">
              <a:lnSpc>
                <a:spcPct val="80000"/>
              </a:lnSpc>
              <a:spcBef>
                <a:spcPct val="0"/>
              </a:spcBef>
              <a:buClrTx/>
              <a:buFontTx/>
              <a:buNone/>
            </a:pPr>
            <a:r>
              <a:rPr kumimoji="0" lang="zh-CN" altLang="en-US" sz="1600" dirty="0">
                <a:solidFill>
                  <a:srgbClr val="000099"/>
                </a:solidFill>
                <a:ea typeface="宋体" pitchFamily="2" charset="-122"/>
              </a:rPr>
              <a:t>保护带</a:t>
            </a:r>
            <a:endParaRPr kumimoji="0" lang="en-US" altLang="zh-CN" sz="1600" dirty="0">
              <a:solidFill>
                <a:srgbClr val="000099"/>
              </a:solidFill>
              <a:ea typeface="宋体" pitchFamily="2" charset="-122"/>
            </a:endParaRPr>
          </a:p>
        </p:txBody>
      </p:sp>
      <p:sp>
        <p:nvSpPr>
          <p:cNvPr id="38" name="Rectangle 2">
            <a:extLst>
              <a:ext uri="{FF2B5EF4-FFF2-40B4-BE49-F238E27FC236}">
                <a16:creationId xmlns:a16="http://schemas.microsoft.com/office/drawing/2014/main" id="{A4A54AF8-8CFE-408E-AB76-94E1BE7731B8}"/>
              </a:ext>
            </a:extLst>
          </p:cNvPr>
          <p:cNvSpPr txBox="1">
            <a:spLocks noChangeArrowheads="1"/>
          </p:cNvSpPr>
          <p:nvPr/>
        </p:nvSpPr>
        <p:spPr>
          <a:xfrm>
            <a:off x="323850" y="620713"/>
            <a:ext cx="8569325" cy="7326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重传超时时间考虑</a:t>
            </a:r>
            <a:endParaRPr lang="en-US" altLang="zh-CN" sz="2800" dirty="0">
              <a:latin typeface="Arial" pitchFamily="34" charset="0"/>
              <a:ea typeface="宋体" pitchFamily="2" charset="-122"/>
            </a:endParaRPr>
          </a:p>
        </p:txBody>
      </p:sp>
      <p:sp>
        <p:nvSpPr>
          <p:cNvPr id="40" name="矩形 39">
            <a:extLst>
              <a:ext uri="{FF2B5EF4-FFF2-40B4-BE49-F238E27FC236}">
                <a16:creationId xmlns:a16="http://schemas.microsoft.com/office/drawing/2014/main" id="{A85CC806-6FB5-46AB-AC88-5FD55E0F4CE8}"/>
              </a:ext>
            </a:extLst>
          </p:cNvPr>
          <p:cNvSpPr/>
          <p:nvPr/>
        </p:nvSpPr>
        <p:spPr>
          <a:xfrm>
            <a:off x="465820" y="4247513"/>
            <a:ext cx="8108448" cy="2232150"/>
          </a:xfrm>
          <a:prstGeom prst="rect">
            <a:avLst/>
          </a:prstGeom>
        </p:spPr>
        <p:txBody>
          <a:bodyPr wrap="square">
            <a:spAutoFit/>
          </a:bodyPr>
          <a:lstStyle/>
          <a:p>
            <a:pPr marL="263525" indent="-263525" eaLnBrk="0" hangingPunct="0">
              <a:lnSpc>
                <a:spcPts val="2800"/>
              </a:lnSpc>
              <a:spcBef>
                <a:spcPct val="30000"/>
              </a:spcBef>
              <a:buClrTx/>
              <a:buSzPct val="100000"/>
              <a:buFont typeface="Wingdings" pitchFamily="2" charset="2"/>
              <a:buBlip>
                <a:blip r:embed="rId3"/>
              </a:buBlip>
            </a:pPr>
            <a:r>
              <a:rPr lang="en-US" altLang="zh-CN" sz="2200" dirty="0">
                <a:latin typeface="Arial" charset="0"/>
                <a:ea typeface="宋体" pitchFamily="2" charset="-122"/>
              </a:rPr>
              <a:t>TCP</a:t>
            </a:r>
            <a:r>
              <a:rPr lang="zh-CN" altLang="en-US" sz="2200" dirty="0">
                <a:latin typeface="Arial" charset="0"/>
                <a:ea typeface="宋体" pitchFamily="2" charset="-122"/>
              </a:rPr>
              <a:t>采用</a:t>
            </a:r>
            <a:r>
              <a:rPr lang="zh-CN" altLang="en-US" sz="2200" b="1" dirty="0">
                <a:solidFill>
                  <a:srgbClr val="C00000"/>
                </a:solidFill>
                <a:latin typeface="楷体" panose="02010609060101010101" pitchFamily="49" charset="-122"/>
                <a:ea typeface="楷体" panose="02010609060101010101" pitchFamily="49" charset="-122"/>
              </a:rPr>
              <a:t>自适应方法</a:t>
            </a:r>
            <a:r>
              <a:rPr lang="zh-CN" altLang="en-US" sz="2200" dirty="0">
                <a:latin typeface="Arial" charset="0"/>
                <a:ea typeface="宋体" pitchFamily="2" charset="-122"/>
              </a:rPr>
              <a:t>计算重传超时时间</a:t>
            </a:r>
            <a:endParaRPr lang="en-US" altLang="zh-CN" sz="2200" dirty="0">
              <a:latin typeface="Arial" charset="0"/>
              <a:ea typeface="宋体" pitchFamily="2" charset="-122"/>
            </a:endParaRPr>
          </a:p>
          <a:p>
            <a:pPr marL="717550" lvl="1" indent="-260350" eaLnBrk="0" hangingPunct="0">
              <a:lnSpc>
                <a:spcPts val="2800"/>
              </a:lnSpc>
              <a:spcBef>
                <a:spcPct val="30000"/>
              </a:spcBef>
              <a:buClr>
                <a:srgbClr val="2A09B7"/>
              </a:buClr>
              <a:buSzPct val="90000"/>
              <a:buFont typeface="Wingdings" panose="05000000000000000000" pitchFamily="2" charset="2"/>
              <a:buChar char="ü"/>
            </a:pPr>
            <a:r>
              <a:rPr lang="zh-CN" altLang="en-US" sz="2000" dirty="0">
                <a:latin typeface="Arial" charset="0"/>
                <a:ea typeface="宋体" pitchFamily="2" charset="-122"/>
              </a:rPr>
              <a:t>基于往返时间（</a:t>
            </a:r>
            <a:r>
              <a:rPr lang="en-US" altLang="zh-CN" sz="2000" dirty="0">
                <a:latin typeface="Arial" charset="0"/>
                <a:ea typeface="宋体" pitchFamily="2" charset="-122"/>
              </a:rPr>
              <a:t>RTT</a:t>
            </a:r>
            <a:r>
              <a:rPr lang="zh-CN" altLang="en-US" sz="2000" dirty="0">
                <a:latin typeface="Arial" charset="0"/>
                <a:ea typeface="宋体" pitchFamily="2" charset="-122"/>
              </a:rPr>
              <a:t>）确定重传超时时间（</a:t>
            </a:r>
            <a:r>
              <a:rPr lang="en-US" altLang="zh-CN" sz="2000" dirty="0">
                <a:latin typeface="Arial" charset="0"/>
                <a:ea typeface="宋体" pitchFamily="2" charset="-122"/>
              </a:rPr>
              <a:t>RTO</a:t>
            </a:r>
            <a:r>
              <a:rPr lang="zh-CN" altLang="en-US" sz="2000" dirty="0">
                <a:latin typeface="Arial" charset="0"/>
                <a:ea typeface="宋体" pitchFamily="2" charset="-122"/>
              </a:rPr>
              <a:t>）</a:t>
            </a:r>
            <a:endParaRPr lang="en-US" altLang="zh-CN" sz="2000" dirty="0">
              <a:latin typeface="Arial" charset="0"/>
              <a:ea typeface="宋体" pitchFamily="2" charset="-122"/>
            </a:endParaRPr>
          </a:p>
          <a:p>
            <a:pPr marL="263525" indent="-263525" eaLnBrk="0" hangingPunct="0">
              <a:lnSpc>
                <a:spcPts val="2800"/>
              </a:lnSpc>
              <a:spcBef>
                <a:spcPct val="30000"/>
              </a:spcBef>
              <a:buClrTx/>
              <a:buSzPct val="100000"/>
              <a:buFont typeface="Wingdings" pitchFamily="2" charset="2"/>
              <a:buBlip>
                <a:blip r:embed="rId3"/>
              </a:buBlip>
            </a:pPr>
            <a:r>
              <a:rPr lang="zh-CN" altLang="en-US" sz="2200" b="1" dirty="0">
                <a:solidFill>
                  <a:srgbClr val="C00000"/>
                </a:solidFill>
                <a:latin typeface="Arial" charset="0"/>
                <a:ea typeface="宋体" pitchFamily="2" charset="-122"/>
              </a:rPr>
              <a:t>问题</a:t>
            </a:r>
            <a:r>
              <a:rPr lang="zh-CN" altLang="en-US" sz="2200" dirty="0">
                <a:latin typeface="Arial" charset="0"/>
                <a:ea typeface="宋体" pitchFamily="2" charset="-122"/>
              </a:rPr>
              <a:t>：如何准确估算</a:t>
            </a:r>
            <a:endParaRPr lang="en-US" altLang="zh-CN" sz="2200" dirty="0">
              <a:latin typeface="Arial" charset="0"/>
              <a:ea typeface="宋体" pitchFamily="2" charset="-122"/>
            </a:endParaRPr>
          </a:p>
          <a:p>
            <a:pPr marL="742950" lvl="1" indent="-285750" eaLnBrk="0" hangingPunct="0">
              <a:lnSpc>
                <a:spcPts val="2800"/>
              </a:lnSpc>
              <a:spcBef>
                <a:spcPct val="30000"/>
              </a:spcBef>
              <a:buClr>
                <a:srgbClr val="2A09B7"/>
              </a:buClr>
              <a:buSzPct val="90000"/>
              <a:buFont typeface="Wingdings" panose="05000000000000000000" pitchFamily="2" charset="2"/>
              <a:buChar char="ü"/>
            </a:pPr>
            <a:r>
              <a:rPr lang="zh-CN" altLang="en-US" sz="2000" dirty="0">
                <a:latin typeface="Arial" charset="0"/>
                <a:ea typeface="宋体" pitchFamily="2" charset="-122"/>
              </a:rPr>
              <a:t>上一次</a:t>
            </a:r>
            <a:r>
              <a:rPr lang="en-US" altLang="zh-CN" sz="2000" dirty="0">
                <a:latin typeface="Arial" charset="0"/>
                <a:ea typeface="宋体" pitchFamily="2" charset="-122"/>
              </a:rPr>
              <a:t>RTT</a:t>
            </a:r>
            <a:r>
              <a:rPr lang="zh-CN" altLang="en-US" sz="2000" dirty="0">
                <a:latin typeface="Arial" charset="0"/>
                <a:ea typeface="宋体" pitchFamily="2" charset="-122"/>
              </a:rPr>
              <a:t>可以测得，下一次</a:t>
            </a:r>
            <a:r>
              <a:rPr lang="en-US" altLang="zh-CN" sz="2000" dirty="0">
                <a:latin typeface="Arial" charset="0"/>
                <a:ea typeface="宋体" pitchFamily="2" charset="-122"/>
              </a:rPr>
              <a:t>RTT</a:t>
            </a:r>
            <a:r>
              <a:rPr lang="zh-CN" altLang="en-US" sz="2000" dirty="0">
                <a:latin typeface="Arial" charset="0"/>
                <a:ea typeface="宋体" pitchFamily="2" charset="-122"/>
              </a:rPr>
              <a:t>需要估算</a:t>
            </a:r>
            <a:endParaRPr lang="en-US" altLang="zh-CN" sz="2000" dirty="0">
              <a:latin typeface="Arial" charset="0"/>
              <a:ea typeface="宋体" pitchFamily="2" charset="-122"/>
            </a:endParaRPr>
          </a:p>
          <a:p>
            <a:pPr marL="742950" lvl="1" indent="-285750" eaLnBrk="0" hangingPunct="0">
              <a:lnSpc>
                <a:spcPts val="2800"/>
              </a:lnSpc>
              <a:spcBef>
                <a:spcPct val="30000"/>
              </a:spcBef>
              <a:buClr>
                <a:srgbClr val="2A09B7"/>
              </a:buClr>
              <a:buSzPct val="90000"/>
              <a:buFont typeface="Wingdings" panose="05000000000000000000" pitchFamily="2" charset="2"/>
              <a:buChar char="ü"/>
            </a:pPr>
            <a:r>
              <a:rPr lang="zh-CN" altLang="en-US" sz="2000" dirty="0">
                <a:latin typeface="Arial" charset="0"/>
                <a:ea typeface="宋体" pitchFamily="2" charset="-122"/>
              </a:rPr>
              <a:t>网络拥塞和路由变化，每次往返时间可能不同，有时变化较大</a:t>
            </a:r>
            <a:endParaRPr lang="en-US" altLang="zh-CN" sz="2000" dirty="0">
              <a:latin typeface="Arial" charset="0"/>
              <a:ea typeface="宋体" pitchFamily="2" charset="-122"/>
            </a:endParaRPr>
          </a:p>
        </p:txBody>
      </p:sp>
      <p:sp>
        <p:nvSpPr>
          <p:cNvPr id="34" name="标题 1">
            <a:extLst>
              <a:ext uri="{FF2B5EF4-FFF2-40B4-BE49-F238E27FC236}">
                <a16:creationId xmlns:a16="http://schemas.microsoft.com/office/drawing/2014/main" id="{C4163D3F-DE15-4B2A-A587-FA72F6D78237}"/>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Tree>
    <p:extLst>
      <p:ext uri="{BB962C8B-B14F-4D97-AF65-F5344CB8AC3E}">
        <p14:creationId xmlns:p14="http://schemas.microsoft.com/office/powerpoint/2010/main" val="1957231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Text Box 3"/>
          <p:cNvSpPr txBox="1">
            <a:spLocks noChangeArrowheads="1"/>
          </p:cNvSpPr>
          <p:nvPr/>
        </p:nvSpPr>
        <p:spPr bwMode="auto">
          <a:xfrm>
            <a:off x="446340" y="1491308"/>
            <a:ext cx="8251319" cy="4745979"/>
          </a:xfrm>
          <a:prstGeom prst="rect">
            <a:avLst/>
          </a:prstGeom>
          <a:noFill/>
          <a:ln w="9525">
            <a:noFill/>
            <a:miter lim="800000"/>
            <a:headEnd/>
            <a:tailEnd/>
          </a:ln>
        </p:spPr>
        <p:txBody>
          <a:bodyPr wrap="square">
            <a:spAutoFit/>
          </a:bodyPr>
          <a:lstStyle/>
          <a:p>
            <a:pPr marL="263525" indent="-263525" eaLnBrk="0" hangingPunct="0">
              <a:lnSpc>
                <a:spcPct val="130000"/>
              </a:lnSpc>
              <a:spcBef>
                <a:spcPts val="600"/>
              </a:spcBef>
              <a:buClrTx/>
              <a:buSzPct val="150000"/>
              <a:buFontTx/>
              <a:buNone/>
            </a:pPr>
            <a:r>
              <a:rPr kumimoji="0"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适当</a:t>
            </a:r>
            <a:r>
              <a:rPr kumimoji="0"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RTO</a:t>
            </a:r>
            <a:r>
              <a:rPr kumimoji="0"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设置的重要性</a:t>
            </a:r>
            <a:r>
              <a:rPr kumimoji="0"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p>
          <a:p>
            <a:pPr marL="266700" indent="-266700" eaLnBrk="0" hangingPunct="0">
              <a:lnSpc>
                <a:spcPct val="130000"/>
              </a:lnSpc>
              <a:spcBef>
                <a:spcPts val="600"/>
              </a:spcBef>
              <a:buClr>
                <a:srgbClr val="2A09B7"/>
              </a:buClr>
              <a:buSzPct val="90000"/>
              <a:buFont typeface="Wingdings" panose="05000000000000000000" pitchFamily="2" charset="2"/>
              <a:buChar char="n"/>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RTO</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设置过大，对于丢失的报文段重传等待的时间过长，对于应用将引入较大的时延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eaLnBrk="0" hangingPunct="0">
              <a:lnSpc>
                <a:spcPct val="130000"/>
              </a:lnSpc>
              <a:spcBef>
                <a:spcPts val="600"/>
              </a:spcBef>
              <a:buClr>
                <a:srgbClr val="2A09B7"/>
              </a:buClr>
              <a:buSzPct val="90000"/>
              <a:buFont typeface="Wingdings" panose="05000000000000000000" pitchFamily="2" charset="2"/>
              <a:buChar char="n"/>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RTO</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设置过小，可能提前超时，引入不必要的重传，浪费带宽资源</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3525" indent="-263525" eaLnBrk="0" hangingPunct="0">
              <a:lnSpc>
                <a:spcPct val="130000"/>
              </a:lnSpc>
              <a:spcBef>
                <a:spcPts val="600"/>
              </a:spcBef>
              <a:buClrTx/>
              <a:buSzPct val="150000"/>
              <a:buFontTx/>
              <a:buNone/>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基本</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RTO</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估算算法：</a:t>
            </a:r>
            <a:endPar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263525" indent="-263525" eaLnBrk="0" hangingPunct="0">
              <a:lnSpc>
                <a:spcPct val="130000"/>
              </a:lnSpc>
              <a:spcBef>
                <a:spcPts val="600"/>
              </a:spcBef>
              <a:buClrTx/>
              <a:buFontTx/>
              <a:buNone/>
            </a:pPr>
            <a:r>
              <a:rPr kumimoji="0"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EstimatedRTT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i="1" dirty="0">
                <a:solidFill>
                  <a:srgbClr val="2A09B7"/>
                </a:solidFill>
                <a:latin typeface="Times New Roman" panose="02020603050405020304" pitchFamily="18" charset="0"/>
                <a:ea typeface="宋体" pitchFamily="2" charset="-122"/>
                <a:cs typeface="Times New Roman" panose="02020603050405020304" pitchFamily="18" charset="0"/>
                <a:sym typeface="Symbol" pitchFamily="18" charset="2"/>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EstimatedRTT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solidFill>
                  <a:srgbClr val="2A09B7"/>
                </a:solidFill>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SampleRTT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推荐</a:t>
            </a:r>
            <a:r>
              <a:rPr lang="en-US" altLang="zh-CN" sz="2000" i="1" dirty="0">
                <a:solidFill>
                  <a:srgbClr val="2A09B7"/>
                </a:solidFill>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/8)</a:t>
            </a:r>
            <a:endPar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endParaRPr>
          </a:p>
          <a:p>
            <a:pPr marL="263525" indent="-263525" eaLnBrk="0" hangingPunct="0">
              <a:lnSpc>
                <a:spcPct val="130000"/>
              </a:lnSpc>
              <a:spcBef>
                <a:spcPts val="600"/>
              </a:spcBef>
              <a:buClrTx/>
              <a:buFontTx/>
              <a:buNone/>
            </a:pP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RTO=</a:t>
            </a:r>
            <a:r>
              <a:rPr kumimoji="0"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EstimatedRTT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a:t>
            </a:r>
            <a:r>
              <a:rPr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&gt;1, </a:t>
            </a:r>
            <a:r>
              <a:rPr kumimoji="0"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推荐</a:t>
            </a:r>
            <a:r>
              <a:rPr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=2)</a:t>
            </a:r>
          </a:p>
          <a:p>
            <a:pPr marL="266700" indent="-266700" eaLnBrk="0" hangingPunct="0">
              <a:lnSpc>
                <a:spcPct val="130000"/>
              </a:lnSpc>
              <a:spcBef>
                <a:spcPts val="600"/>
              </a:spcBef>
              <a:buClr>
                <a:srgbClr val="2A09B7"/>
              </a:buClr>
              <a:buSzPct val="90000"/>
              <a:buFont typeface="Wingdings" panose="05000000000000000000" pitchFamily="2" charset="2"/>
              <a:buChar char="n"/>
            </a:pP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EstimatedRTT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SampleRTT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的加权平均</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eaLnBrk="0" hangingPunct="0">
              <a:lnSpc>
                <a:spcPct val="130000"/>
              </a:lnSpc>
              <a:spcBef>
                <a:spcPts val="600"/>
              </a:spcBef>
              <a:buClr>
                <a:srgbClr val="2A09B7"/>
              </a:buClr>
              <a:buSzPct val="9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最新样本赋予的权值大于老样本的权值（老化算法），越新的样本越能更好地反映网络的当前状况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Rectangle 2">
            <a:extLst>
              <a:ext uri="{FF2B5EF4-FFF2-40B4-BE49-F238E27FC236}">
                <a16:creationId xmlns:a16="http://schemas.microsoft.com/office/drawing/2014/main" id="{B0C92D7F-E087-464C-A9B8-AF2DE983D41B}"/>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重传超时时间计算</a:t>
            </a:r>
            <a:endParaRPr lang="en-US" altLang="zh-CN" sz="2800" dirty="0">
              <a:latin typeface="Arial" pitchFamily="34" charset="0"/>
              <a:ea typeface="宋体" pitchFamily="2" charset="-122"/>
            </a:endParaRPr>
          </a:p>
        </p:txBody>
      </p:sp>
      <p:sp>
        <p:nvSpPr>
          <p:cNvPr id="5" name="标题 1">
            <a:extLst>
              <a:ext uri="{FF2B5EF4-FFF2-40B4-BE49-F238E27FC236}">
                <a16:creationId xmlns:a16="http://schemas.microsoft.com/office/drawing/2014/main" id="{C59330F7-5B62-4441-B2FA-9AADC9AF96A4}"/>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 name="矩形 1">
            <a:extLst>
              <a:ext uri="{FF2B5EF4-FFF2-40B4-BE49-F238E27FC236}">
                <a16:creationId xmlns:a16="http://schemas.microsoft.com/office/drawing/2014/main" id="{B7BA05E5-6F36-4F8E-9B5E-966519CF43BD}"/>
              </a:ext>
            </a:extLst>
          </p:cNvPr>
          <p:cNvSpPr/>
          <p:nvPr/>
        </p:nvSpPr>
        <p:spPr>
          <a:xfrm>
            <a:off x="6714373" y="801350"/>
            <a:ext cx="2178802" cy="430887"/>
          </a:xfrm>
          <a:prstGeom prst="rect">
            <a:avLst/>
          </a:prstGeom>
          <a:solidFill>
            <a:schemeClr val="accent3">
              <a:lumMod val="20000"/>
              <a:lumOff val="80000"/>
            </a:schemeClr>
          </a:solidFill>
          <a:ln>
            <a:solidFill>
              <a:srgbClr val="C00000"/>
            </a:solidFill>
          </a:ln>
        </p:spPr>
        <p:txBody>
          <a:bodyPr wrap="none">
            <a:spAutoFit/>
          </a:bodyPr>
          <a:lstStyle/>
          <a:p>
            <a:r>
              <a:rPr lang="en-US" altLang="zh-CN" sz="2200" dirty="0">
                <a:latin typeface="Arial" pitchFamily="34" charset="0"/>
                <a:ea typeface="宋体" pitchFamily="2" charset="-122"/>
              </a:rPr>
              <a:t>RFC 2988/6298</a:t>
            </a:r>
            <a:endParaRPr lang="zh-CN" altLang="en-US" sz="2200" dirty="0">
              <a:latin typeface="Arial" pitchFamily="34" charset="0"/>
              <a:ea typeface="宋体" pitchFamily="2" charset="-122"/>
            </a:endParaRPr>
          </a:p>
        </p:txBody>
      </p:sp>
    </p:spTree>
    <p:extLst>
      <p:ext uri="{BB962C8B-B14F-4D97-AF65-F5344CB8AC3E}">
        <p14:creationId xmlns:p14="http://schemas.microsoft.com/office/powerpoint/2010/main" val="14989629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0C92D7F-E087-464C-A9B8-AF2DE983D41B}"/>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RTT</a:t>
            </a:r>
            <a:r>
              <a:rPr lang="zh-CN" altLang="en-US" sz="2800" dirty="0">
                <a:latin typeface="Arial" pitchFamily="34" charset="0"/>
                <a:ea typeface="宋体" pitchFamily="2" charset="-122"/>
              </a:rPr>
              <a:t>估算示例</a:t>
            </a:r>
            <a:endParaRPr lang="en-US" altLang="zh-CN" sz="2800" dirty="0">
              <a:latin typeface="Arial" pitchFamily="34" charset="0"/>
              <a:ea typeface="宋体" pitchFamily="2" charset="-122"/>
            </a:endParaRPr>
          </a:p>
        </p:txBody>
      </p:sp>
      <p:pic>
        <p:nvPicPr>
          <p:cNvPr id="2" name="图片 1">
            <a:extLst>
              <a:ext uri="{FF2B5EF4-FFF2-40B4-BE49-F238E27FC236}">
                <a16:creationId xmlns:a16="http://schemas.microsoft.com/office/drawing/2014/main" id="{18EC321E-FDB6-4D77-B74A-2F6ACAE9D0EE}"/>
              </a:ext>
            </a:extLst>
          </p:cNvPr>
          <p:cNvPicPr>
            <a:picLocks noChangeAspect="1"/>
          </p:cNvPicPr>
          <p:nvPr/>
        </p:nvPicPr>
        <p:blipFill>
          <a:blip r:embed="rId3"/>
          <a:stretch>
            <a:fillRect/>
          </a:stretch>
        </p:blipFill>
        <p:spPr>
          <a:xfrm>
            <a:off x="622900" y="1341437"/>
            <a:ext cx="7734300" cy="4895850"/>
          </a:xfrm>
          <a:prstGeom prst="rect">
            <a:avLst/>
          </a:prstGeom>
        </p:spPr>
      </p:pic>
      <p:sp>
        <p:nvSpPr>
          <p:cNvPr id="5" name="标题 1">
            <a:extLst>
              <a:ext uri="{FF2B5EF4-FFF2-40B4-BE49-F238E27FC236}">
                <a16:creationId xmlns:a16="http://schemas.microsoft.com/office/drawing/2014/main" id="{2C897907-5BF8-4B88-B66C-627D193E4D3F}"/>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Tree>
    <p:extLst>
      <p:ext uri="{BB962C8B-B14F-4D97-AF65-F5344CB8AC3E}">
        <p14:creationId xmlns:p14="http://schemas.microsoft.com/office/powerpoint/2010/main" val="19977164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0C92D7F-E087-464C-A9B8-AF2DE983D41B}"/>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重传超时时间计算（续）</a:t>
            </a:r>
            <a:endParaRPr lang="en-US" altLang="zh-CN" sz="2800" dirty="0">
              <a:latin typeface="Arial" pitchFamily="34" charset="0"/>
              <a:ea typeface="宋体" pitchFamily="2" charset="-122"/>
            </a:endParaRPr>
          </a:p>
        </p:txBody>
      </p:sp>
      <p:sp>
        <p:nvSpPr>
          <p:cNvPr id="5" name="Text Box 3">
            <a:extLst>
              <a:ext uri="{FF2B5EF4-FFF2-40B4-BE49-F238E27FC236}">
                <a16:creationId xmlns:a16="http://schemas.microsoft.com/office/drawing/2014/main" id="{CA1F94ED-AA57-434B-BCE3-D5467DE62CE3}"/>
              </a:ext>
            </a:extLst>
          </p:cNvPr>
          <p:cNvSpPr txBox="1">
            <a:spLocks noChangeArrowheads="1"/>
          </p:cNvSpPr>
          <p:nvPr/>
        </p:nvSpPr>
        <p:spPr bwMode="auto">
          <a:xfrm>
            <a:off x="602025" y="1487937"/>
            <a:ext cx="8060061" cy="4360296"/>
          </a:xfrm>
          <a:prstGeom prst="rect">
            <a:avLst/>
          </a:prstGeom>
          <a:noFill/>
          <a:ln w="9525">
            <a:noFill/>
            <a:miter lim="800000"/>
            <a:headEnd/>
            <a:tailEnd/>
          </a:ln>
        </p:spPr>
        <p:txBody>
          <a:bodyPr wrap="square">
            <a:spAutoFit/>
          </a:bodyPr>
          <a:lstStyle/>
          <a:p>
            <a:pPr marL="263525" indent="-263525" eaLnBrk="0" hangingPunct="0">
              <a:lnSpc>
                <a:spcPct val="150000"/>
              </a:lnSpc>
              <a:spcBef>
                <a:spcPts val="600"/>
              </a:spcBef>
              <a:buClrTx/>
              <a:buSzPct val="150000"/>
              <a:buFontTx/>
              <a:buNone/>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基本</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RTO</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估算存在的问题</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lnSpc>
                <a:spcPct val="150000"/>
              </a:lnSpc>
              <a:spcBef>
                <a:spcPts val="600"/>
              </a:spcBef>
              <a:buClr>
                <a:srgbClr val="2A09B7"/>
              </a:buClr>
              <a:buSzPct val="9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没有考虑网络时延的变化情况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lnSpc>
                <a:spcPct val="150000"/>
              </a:lnSpc>
              <a:spcBef>
                <a:spcPts val="600"/>
              </a:spcBef>
              <a:buClr>
                <a:srgbClr val="2A09B7"/>
              </a:buClr>
              <a:buSzPct val="9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在实际情况中，网络拥塞情况对网络时延影响很大</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50000"/>
              </a:lnSpc>
              <a:spcBef>
                <a:spcPts val="600"/>
              </a:spcBef>
              <a:buClr>
                <a:srgbClr val="2A09B7"/>
              </a:buClr>
              <a:buSzPct val="90000"/>
            </a:pP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Jacobson/</a:t>
            </a:r>
            <a:r>
              <a:rPr lang="en-US" altLang="zh-CN" sz="2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Karels</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lnSpc>
                <a:spcPct val="150000"/>
              </a:lnSpc>
              <a:spcBef>
                <a:spcPts val="600"/>
              </a:spcBef>
              <a:buClr>
                <a:srgbClr val="2A09B7"/>
              </a:buClr>
              <a:buSzPct val="90000"/>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对网络时延变化进行估算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50000"/>
              </a:lnSpc>
              <a:spcBef>
                <a:spcPts val="600"/>
              </a:spcBef>
              <a:buClr>
                <a:srgbClr val="000099"/>
              </a:buClr>
              <a:buSzPct val="75000"/>
            </a:pP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EstimatedRTT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EstimatedRTT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SampleRTT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推荐</a:t>
            </a:r>
            <a:r>
              <a:rPr lang="en-US" altLang="zh-CN" sz="2000" i="1" dirty="0">
                <a:solidFill>
                  <a:srgbClr val="2A09B7"/>
                </a:solidFill>
                <a:latin typeface="Times New Roman" panose="02020603050405020304" pitchFamily="18" charset="0"/>
                <a:ea typeface="宋体" pitchFamily="2" charset="-122"/>
                <a:cs typeface="Times New Roman" panose="02020603050405020304" pitchFamily="18" charset="0"/>
                <a:sym typeface="Symbol" pitchFamily="18" charset="2"/>
              </a:rPr>
              <a:t></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kumimoji="0"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/8)</a:t>
            </a:r>
            <a:endPar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50000"/>
              </a:lnSpc>
              <a:spcBef>
                <a:spcPts val="600"/>
              </a:spcBef>
              <a:buClr>
                <a:srgbClr val="000099"/>
              </a:buClr>
              <a:buSzPct val="75000"/>
              <a:buFont typeface="Wingdings" pitchFamily="2" charset="2"/>
              <a:buNone/>
            </a:pPr>
            <a:r>
              <a:rPr lang="en-US" altLang="zh-CN" sz="2000" dirty="0">
                <a:solidFill>
                  <a:srgbClr val="2A09B7"/>
                </a:solidFill>
                <a:latin typeface="Arial" charset="0"/>
                <a:ea typeface="宋体" pitchFamily="2" charset="-122"/>
                <a:cs typeface="Times New Roman" panose="02020603050405020304" pitchFamily="18" charset="0"/>
              </a:rPr>
              <a:t>     </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DevRTT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a:t>
            </a:r>
            <a:r>
              <a:rPr kumimoji="0"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DevRTT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a:t>
            </a:r>
            <a:r>
              <a:rPr kumimoji="0"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EstimatedRTT-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SampleRTT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推荐</a:t>
            </a:r>
            <a:r>
              <a:rPr kumimoji="0" lang="el-GR" altLang="zh-CN" sz="2000" i="1" dirty="0">
                <a:solidFill>
                  <a:srgbClr val="2A09B7"/>
                </a:solidFill>
                <a:latin typeface="Times New Roman" panose="02020603050405020304" pitchFamily="18" charset="0"/>
                <a:ea typeface="宋体" pitchFamily="2" charset="-122"/>
                <a:cs typeface="Times New Roman" panose="02020603050405020304" pitchFamily="18" charset="0"/>
              </a:rPr>
              <a:t>β</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=1/4)</a:t>
            </a:r>
            <a:endPar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50000"/>
              </a:lnSpc>
              <a:spcBef>
                <a:spcPts val="600"/>
              </a:spcBef>
              <a:buClr>
                <a:srgbClr val="000099"/>
              </a:buClr>
              <a:buSzPct val="75000"/>
              <a:buFont typeface="Wingdings" pitchFamily="2" charset="2"/>
              <a:buNone/>
            </a:pP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      RTO=</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EstimatedRTT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en-US" altLang="zh-CN" sz="2000" dirty="0" err="1">
                <a:solidFill>
                  <a:srgbClr val="2A09B7"/>
                </a:solidFill>
                <a:latin typeface="Times New Roman" panose="02020603050405020304" pitchFamily="18" charset="0"/>
                <a:ea typeface="宋体" panose="02010600030101010101" pitchFamily="2" charset="-122"/>
                <a:cs typeface="Times New Roman" panose="02020603050405020304" pitchFamily="18" charset="0"/>
              </a:rPr>
              <a:t>DevRTT</a:t>
            </a:r>
            <a:r>
              <a:rPr lang="en-US" altLang="zh-CN"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(1, 4)</a:t>
            </a:r>
          </a:p>
        </p:txBody>
      </p:sp>
      <p:sp>
        <p:nvSpPr>
          <p:cNvPr id="6" name="标题 1">
            <a:extLst>
              <a:ext uri="{FF2B5EF4-FFF2-40B4-BE49-F238E27FC236}">
                <a16:creationId xmlns:a16="http://schemas.microsoft.com/office/drawing/2014/main" id="{A08FFB95-ECA4-4AFD-8616-590B429664A3}"/>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Tree>
    <p:extLst>
      <p:ext uri="{BB962C8B-B14F-4D97-AF65-F5344CB8AC3E}">
        <p14:creationId xmlns:p14="http://schemas.microsoft.com/office/powerpoint/2010/main" val="22560058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0C92D7F-E087-464C-A9B8-AF2DE983D41B}"/>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58775" indent="-358775">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重传超时时间计算（续）</a:t>
            </a:r>
            <a:endParaRPr lang="en-US" altLang="zh-CN" sz="2800" dirty="0">
              <a:latin typeface="Arial" pitchFamily="34" charset="0"/>
              <a:ea typeface="宋体" pitchFamily="2" charset="-122"/>
            </a:endParaRPr>
          </a:p>
        </p:txBody>
      </p:sp>
      <p:sp>
        <p:nvSpPr>
          <p:cNvPr id="6" name="Line 3">
            <a:extLst>
              <a:ext uri="{FF2B5EF4-FFF2-40B4-BE49-F238E27FC236}">
                <a16:creationId xmlns:a16="http://schemas.microsoft.com/office/drawing/2014/main" id="{D58C131C-0690-498C-9F4B-13A0490EDBD2}"/>
              </a:ext>
            </a:extLst>
          </p:cNvPr>
          <p:cNvSpPr>
            <a:spLocks noChangeShapeType="1"/>
          </p:cNvSpPr>
          <p:nvPr/>
        </p:nvSpPr>
        <p:spPr bwMode="auto">
          <a:xfrm>
            <a:off x="1647400" y="2508024"/>
            <a:ext cx="0" cy="2209800"/>
          </a:xfrm>
          <a:prstGeom prst="line">
            <a:avLst/>
          </a:prstGeom>
          <a:noFill/>
          <a:ln w="28575">
            <a:solidFill>
              <a:schemeClr val="tx1"/>
            </a:solidFill>
            <a:round/>
            <a:headEnd/>
            <a:tailEnd/>
          </a:ln>
        </p:spPr>
        <p:txBody>
          <a:bodyPr wrap="none" anchor="ctr"/>
          <a:lstStyle/>
          <a:p>
            <a:endParaRPr lang="zh-CN" altLang="en-US"/>
          </a:p>
        </p:txBody>
      </p:sp>
      <p:sp>
        <p:nvSpPr>
          <p:cNvPr id="9" name="Line 4">
            <a:extLst>
              <a:ext uri="{FF2B5EF4-FFF2-40B4-BE49-F238E27FC236}">
                <a16:creationId xmlns:a16="http://schemas.microsoft.com/office/drawing/2014/main" id="{BF85B338-BD00-4FF1-8102-3B03B21030AC}"/>
              </a:ext>
            </a:extLst>
          </p:cNvPr>
          <p:cNvSpPr>
            <a:spLocks noChangeShapeType="1"/>
          </p:cNvSpPr>
          <p:nvPr/>
        </p:nvSpPr>
        <p:spPr bwMode="auto">
          <a:xfrm>
            <a:off x="3476200" y="2508024"/>
            <a:ext cx="0" cy="2209800"/>
          </a:xfrm>
          <a:prstGeom prst="line">
            <a:avLst/>
          </a:prstGeom>
          <a:noFill/>
          <a:ln w="28575">
            <a:solidFill>
              <a:schemeClr val="tx1"/>
            </a:solidFill>
            <a:round/>
            <a:headEnd/>
            <a:tailEnd/>
          </a:ln>
        </p:spPr>
        <p:txBody>
          <a:bodyPr wrap="none" anchor="ctr"/>
          <a:lstStyle/>
          <a:p>
            <a:endParaRPr lang="zh-CN" altLang="en-US"/>
          </a:p>
        </p:txBody>
      </p:sp>
      <p:sp>
        <p:nvSpPr>
          <p:cNvPr id="10" name="Line 5">
            <a:extLst>
              <a:ext uri="{FF2B5EF4-FFF2-40B4-BE49-F238E27FC236}">
                <a16:creationId xmlns:a16="http://schemas.microsoft.com/office/drawing/2014/main" id="{868813D3-CF2F-4D3C-A13D-8ED645C26F7B}"/>
              </a:ext>
            </a:extLst>
          </p:cNvPr>
          <p:cNvSpPr>
            <a:spLocks noChangeShapeType="1"/>
          </p:cNvSpPr>
          <p:nvPr/>
        </p:nvSpPr>
        <p:spPr bwMode="auto">
          <a:xfrm>
            <a:off x="1647400" y="2812824"/>
            <a:ext cx="1828800" cy="4572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1" name="Line 6">
            <a:extLst>
              <a:ext uri="{FF2B5EF4-FFF2-40B4-BE49-F238E27FC236}">
                <a16:creationId xmlns:a16="http://schemas.microsoft.com/office/drawing/2014/main" id="{E014E4F9-1179-40DB-8ADD-2FA9A21A8587}"/>
              </a:ext>
            </a:extLst>
          </p:cNvPr>
          <p:cNvSpPr>
            <a:spLocks noChangeShapeType="1"/>
          </p:cNvSpPr>
          <p:nvPr/>
        </p:nvSpPr>
        <p:spPr bwMode="auto">
          <a:xfrm>
            <a:off x="1647400" y="3447824"/>
            <a:ext cx="1828800" cy="4572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2" name="Line 7">
            <a:extLst>
              <a:ext uri="{FF2B5EF4-FFF2-40B4-BE49-F238E27FC236}">
                <a16:creationId xmlns:a16="http://schemas.microsoft.com/office/drawing/2014/main" id="{02EF0CD8-FF28-4970-ABA5-CA68C74C2844}"/>
              </a:ext>
            </a:extLst>
          </p:cNvPr>
          <p:cNvSpPr>
            <a:spLocks noChangeShapeType="1"/>
          </p:cNvSpPr>
          <p:nvPr/>
        </p:nvSpPr>
        <p:spPr bwMode="auto">
          <a:xfrm flipH="1">
            <a:off x="1647400" y="3905024"/>
            <a:ext cx="1828800" cy="584200"/>
          </a:xfrm>
          <a:prstGeom prst="line">
            <a:avLst/>
          </a:prstGeom>
          <a:noFill/>
          <a:ln w="9525">
            <a:solidFill>
              <a:schemeClr val="tx1"/>
            </a:solidFill>
            <a:prstDash val="dash"/>
            <a:round/>
            <a:headEnd/>
            <a:tailEnd type="triangle" w="med" len="med"/>
          </a:ln>
        </p:spPr>
        <p:txBody>
          <a:bodyPr wrap="none" anchor="ctr"/>
          <a:lstStyle/>
          <a:p>
            <a:endParaRPr lang="zh-CN" altLang="en-US"/>
          </a:p>
        </p:txBody>
      </p:sp>
      <p:sp>
        <p:nvSpPr>
          <p:cNvPr id="13" name="Text Box 8">
            <a:extLst>
              <a:ext uri="{FF2B5EF4-FFF2-40B4-BE49-F238E27FC236}">
                <a16:creationId xmlns:a16="http://schemas.microsoft.com/office/drawing/2014/main" id="{62A04B16-C591-489E-A5B5-E9AD96DCD291}"/>
              </a:ext>
            </a:extLst>
          </p:cNvPr>
          <p:cNvSpPr txBox="1">
            <a:spLocks noChangeArrowheads="1"/>
          </p:cNvSpPr>
          <p:nvPr/>
        </p:nvSpPr>
        <p:spPr bwMode="auto">
          <a:xfrm>
            <a:off x="2228472" y="3328109"/>
            <a:ext cx="543739"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1400" dirty="0">
                <a:solidFill>
                  <a:srgbClr val="000099"/>
                </a:solidFill>
                <a:ea typeface="宋体" pitchFamily="2" charset="-122"/>
              </a:rPr>
              <a:t>重传</a:t>
            </a:r>
            <a:endParaRPr kumimoji="0" lang="en-US" altLang="zh-CN" sz="1400" dirty="0">
              <a:solidFill>
                <a:srgbClr val="000099"/>
              </a:solidFill>
              <a:ea typeface="宋体" pitchFamily="2" charset="-122"/>
            </a:endParaRPr>
          </a:p>
        </p:txBody>
      </p:sp>
      <p:sp>
        <p:nvSpPr>
          <p:cNvPr id="14" name="Line 9">
            <a:extLst>
              <a:ext uri="{FF2B5EF4-FFF2-40B4-BE49-F238E27FC236}">
                <a16:creationId xmlns:a16="http://schemas.microsoft.com/office/drawing/2014/main" id="{5A461430-3897-40B0-98CE-430BBE6E8A89}"/>
              </a:ext>
            </a:extLst>
          </p:cNvPr>
          <p:cNvSpPr>
            <a:spLocks noChangeShapeType="1"/>
          </p:cNvSpPr>
          <p:nvPr/>
        </p:nvSpPr>
        <p:spPr bwMode="auto">
          <a:xfrm>
            <a:off x="1418800" y="2812824"/>
            <a:ext cx="228600" cy="0"/>
          </a:xfrm>
          <a:prstGeom prst="line">
            <a:avLst/>
          </a:prstGeom>
          <a:noFill/>
          <a:ln w="9525">
            <a:solidFill>
              <a:schemeClr val="tx1"/>
            </a:solidFill>
            <a:round/>
            <a:headEnd/>
            <a:tailEnd/>
          </a:ln>
        </p:spPr>
        <p:txBody>
          <a:bodyPr wrap="none" anchor="ctr"/>
          <a:lstStyle/>
          <a:p>
            <a:endParaRPr lang="zh-CN" altLang="en-US"/>
          </a:p>
        </p:txBody>
      </p:sp>
      <p:sp>
        <p:nvSpPr>
          <p:cNvPr id="15" name="Line 10">
            <a:extLst>
              <a:ext uri="{FF2B5EF4-FFF2-40B4-BE49-F238E27FC236}">
                <a16:creationId xmlns:a16="http://schemas.microsoft.com/office/drawing/2014/main" id="{ED78B38A-3EC2-4A41-A33F-FBD0D309DBD2}"/>
              </a:ext>
            </a:extLst>
          </p:cNvPr>
          <p:cNvSpPr>
            <a:spLocks noChangeShapeType="1"/>
          </p:cNvSpPr>
          <p:nvPr/>
        </p:nvSpPr>
        <p:spPr bwMode="auto">
          <a:xfrm>
            <a:off x="1418800" y="4489224"/>
            <a:ext cx="228600" cy="0"/>
          </a:xfrm>
          <a:prstGeom prst="line">
            <a:avLst/>
          </a:prstGeom>
          <a:noFill/>
          <a:ln w="9525">
            <a:solidFill>
              <a:schemeClr val="tx1"/>
            </a:solidFill>
            <a:round/>
            <a:headEnd/>
            <a:tailEnd/>
          </a:ln>
        </p:spPr>
        <p:txBody>
          <a:bodyPr wrap="none" anchor="ctr"/>
          <a:lstStyle/>
          <a:p>
            <a:endParaRPr lang="zh-CN" altLang="en-US"/>
          </a:p>
        </p:txBody>
      </p:sp>
      <p:sp>
        <p:nvSpPr>
          <p:cNvPr id="16" name="Line 11">
            <a:extLst>
              <a:ext uri="{FF2B5EF4-FFF2-40B4-BE49-F238E27FC236}">
                <a16:creationId xmlns:a16="http://schemas.microsoft.com/office/drawing/2014/main" id="{BB0EDD45-4883-410D-95F7-783D7BCB98C0}"/>
              </a:ext>
            </a:extLst>
          </p:cNvPr>
          <p:cNvSpPr>
            <a:spLocks noChangeShapeType="1"/>
          </p:cNvSpPr>
          <p:nvPr/>
        </p:nvSpPr>
        <p:spPr bwMode="auto">
          <a:xfrm>
            <a:off x="1523575" y="2812824"/>
            <a:ext cx="0" cy="16764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7" name="Text Box 12">
            <a:extLst>
              <a:ext uri="{FF2B5EF4-FFF2-40B4-BE49-F238E27FC236}">
                <a16:creationId xmlns:a16="http://schemas.microsoft.com/office/drawing/2014/main" id="{D4726348-4606-4DA8-B60B-D5BC6040C9DD}"/>
              </a:ext>
            </a:extLst>
          </p:cNvPr>
          <p:cNvSpPr txBox="1">
            <a:spLocks noChangeArrowheads="1"/>
          </p:cNvSpPr>
          <p:nvPr/>
        </p:nvSpPr>
        <p:spPr bwMode="auto">
          <a:xfrm>
            <a:off x="546809" y="3735489"/>
            <a:ext cx="1048203" cy="523220"/>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zh-CN" altLang="en-US" sz="1400" dirty="0">
                <a:solidFill>
                  <a:srgbClr val="000099"/>
                </a:solidFill>
                <a:ea typeface="宋体" pitchFamily="2" charset="-122"/>
              </a:rPr>
              <a:t>错误的</a:t>
            </a:r>
            <a:endParaRPr kumimoji="0" lang="en-US" altLang="zh-CN" sz="1400" dirty="0">
              <a:solidFill>
                <a:srgbClr val="000099"/>
              </a:solidFill>
              <a:ea typeface="宋体" pitchFamily="2" charset="-122"/>
            </a:endParaRPr>
          </a:p>
          <a:p>
            <a:pPr algn="ctr" eaLnBrk="0" hangingPunct="0">
              <a:lnSpc>
                <a:spcPct val="100000"/>
              </a:lnSpc>
              <a:spcBef>
                <a:spcPct val="0"/>
              </a:spcBef>
              <a:buClrTx/>
              <a:buFontTx/>
              <a:buNone/>
            </a:pPr>
            <a:r>
              <a:rPr lang="en-US" altLang="zh-CN" sz="1400" dirty="0" err="1">
                <a:solidFill>
                  <a:srgbClr val="000099"/>
                </a:solidFill>
                <a:ea typeface="宋体" pitchFamily="2" charset="-122"/>
              </a:rPr>
              <a:t>SampleRTT</a:t>
            </a:r>
            <a:endParaRPr kumimoji="0" lang="en-US" altLang="zh-CN" sz="1400" dirty="0">
              <a:solidFill>
                <a:srgbClr val="000099"/>
              </a:solidFill>
              <a:ea typeface="宋体" pitchFamily="2" charset="-122"/>
            </a:endParaRPr>
          </a:p>
        </p:txBody>
      </p:sp>
      <p:sp>
        <p:nvSpPr>
          <p:cNvPr id="18" name="Text Box 13">
            <a:extLst>
              <a:ext uri="{FF2B5EF4-FFF2-40B4-BE49-F238E27FC236}">
                <a16:creationId xmlns:a16="http://schemas.microsoft.com/office/drawing/2014/main" id="{ECED5636-84CC-49E5-B780-B6859565A5B7}"/>
              </a:ext>
            </a:extLst>
          </p:cNvPr>
          <p:cNvSpPr txBox="1">
            <a:spLocks noChangeArrowheads="1"/>
          </p:cNvSpPr>
          <p:nvPr/>
        </p:nvSpPr>
        <p:spPr bwMode="auto">
          <a:xfrm>
            <a:off x="1114000" y="2122262"/>
            <a:ext cx="720134"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TCP A</a:t>
            </a:r>
          </a:p>
        </p:txBody>
      </p:sp>
      <p:sp>
        <p:nvSpPr>
          <p:cNvPr id="19" name="Text Box 14">
            <a:extLst>
              <a:ext uri="{FF2B5EF4-FFF2-40B4-BE49-F238E27FC236}">
                <a16:creationId xmlns:a16="http://schemas.microsoft.com/office/drawing/2014/main" id="{E6E868D3-C2FD-4076-8824-A8A9BF9DEFE3}"/>
              </a:ext>
            </a:extLst>
          </p:cNvPr>
          <p:cNvSpPr txBox="1">
            <a:spLocks noChangeArrowheads="1"/>
          </p:cNvSpPr>
          <p:nvPr/>
        </p:nvSpPr>
        <p:spPr bwMode="auto">
          <a:xfrm>
            <a:off x="2942800" y="2122262"/>
            <a:ext cx="712118"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TCP B</a:t>
            </a:r>
          </a:p>
        </p:txBody>
      </p:sp>
      <p:sp>
        <p:nvSpPr>
          <p:cNvPr id="20" name="Line 15">
            <a:extLst>
              <a:ext uri="{FF2B5EF4-FFF2-40B4-BE49-F238E27FC236}">
                <a16:creationId xmlns:a16="http://schemas.microsoft.com/office/drawing/2014/main" id="{27098C2A-4F0A-420A-BF67-57C4EE99FA37}"/>
              </a:ext>
            </a:extLst>
          </p:cNvPr>
          <p:cNvSpPr>
            <a:spLocks noChangeShapeType="1"/>
          </p:cNvSpPr>
          <p:nvPr/>
        </p:nvSpPr>
        <p:spPr bwMode="auto">
          <a:xfrm>
            <a:off x="5793950" y="2508024"/>
            <a:ext cx="0" cy="2209800"/>
          </a:xfrm>
          <a:prstGeom prst="line">
            <a:avLst/>
          </a:prstGeom>
          <a:noFill/>
          <a:ln w="28575">
            <a:solidFill>
              <a:schemeClr val="tx1"/>
            </a:solidFill>
            <a:round/>
            <a:headEnd/>
            <a:tailEnd/>
          </a:ln>
        </p:spPr>
        <p:txBody>
          <a:bodyPr wrap="none" anchor="ctr"/>
          <a:lstStyle/>
          <a:p>
            <a:endParaRPr lang="zh-CN" altLang="en-US"/>
          </a:p>
        </p:txBody>
      </p:sp>
      <p:sp>
        <p:nvSpPr>
          <p:cNvPr id="21" name="Line 16">
            <a:extLst>
              <a:ext uri="{FF2B5EF4-FFF2-40B4-BE49-F238E27FC236}">
                <a16:creationId xmlns:a16="http://schemas.microsoft.com/office/drawing/2014/main" id="{257DE32B-EB0A-4FCD-9AD2-95036DE8C448}"/>
              </a:ext>
            </a:extLst>
          </p:cNvPr>
          <p:cNvSpPr>
            <a:spLocks noChangeShapeType="1"/>
          </p:cNvSpPr>
          <p:nvPr/>
        </p:nvSpPr>
        <p:spPr bwMode="auto">
          <a:xfrm>
            <a:off x="7622750" y="2508024"/>
            <a:ext cx="0" cy="2209800"/>
          </a:xfrm>
          <a:prstGeom prst="line">
            <a:avLst/>
          </a:prstGeom>
          <a:noFill/>
          <a:ln w="28575">
            <a:solidFill>
              <a:schemeClr val="tx1"/>
            </a:solidFill>
            <a:round/>
            <a:headEnd/>
            <a:tailEnd/>
          </a:ln>
        </p:spPr>
        <p:txBody>
          <a:bodyPr wrap="none" anchor="ctr"/>
          <a:lstStyle/>
          <a:p>
            <a:endParaRPr lang="zh-CN" altLang="en-US"/>
          </a:p>
        </p:txBody>
      </p:sp>
      <p:sp>
        <p:nvSpPr>
          <p:cNvPr id="22" name="Line 17">
            <a:extLst>
              <a:ext uri="{FF2B5EF4-FFF2-40B4-BE49-F238E27FC236}">
                <a16:creationId xmlns:a16="http://schemas.microsoft.com/office/drawing/2014/main" id="{85A62247-76AC-4FB0-9628-89CEF6EAE0DF}"/>
              </a:ext>
            </a:extLst>
          </p:cNvPr>
          <p:cNvSpPr>
            <a:spLocks noChangeShapeType="1"/>
          </p:cNvSpPr>
          <p:nvPr/>
        </p:nvSpPr>
        <p:spPr bwMode="auto">
          <a:xfrm>
            <a:off x="5793950" y="2812824"/>
            <a:ext cx="1828800" cy="4572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23" name="Line 18">
            <a:extLst>
              <a:ext uri="{FF2B5EF4-FFF2-40B4-BE49-F238E27FC236}">
                <a16:creationId xmlns:a16="http://schemas.microsoft.com/office/drawing/2014/main" id="{6CD6CA9D-7BCC-45A3-B3B5-474D072E8533}"/>
              </a:ext>
            </a:extLst>
          </p:cNvPr>
          <p:cNvSpPr>
            <a:spLocks noChangeShapeType="1"/>
          </p:cNvSpPr>
          <p:nvPr/>
        </p:nvSpPr>
        <p:spPr bwMode="auto">
          <a:xfrm>
            <a:off x="5793950" y="3447824"/>
            <a:ext cx="1828800" cy="4572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24" name="Line 19">
            <a:extLst>
              <a:ext uri="{FF2B5EF4-FFF2-40B4-BE49-F238E27FC236}">
                <a16:creationId xmlns:a16="http://schemas.microsoft.com/office/drawing/2014/main" id="{E0E9B2E6-4436-400F-B52B-988EA1514386}"/>
              </a:ext>
            </a:extLst>
          </p:cNvPr>
          <p:cNvSpPr>
            <a:spLocks noChangeShapeType="1"/>
          </p:cNvSpPr>
          <p:nvPr/>
        </p:nvSpPr>
        <p:spPr bwMode="auto">
          <a:xfrm flipH="1">
            <a:off x="5793950" y="3295424"/>
            <a:ext cx="1828800" cy="1193800"/>
          </a:xfrm>
          <a:prstGeom prst="line">
            <a:avLst/>
          </a:prstGeom>
          <a:noFill/>
          <a:ln w="9525">
            <a:solidFill>
              <a:schemeClr val="tx1"/>
            </a:solidFill>
            <a:prstDash val="dash"/>
            <a:round/>
            <a:headEnd/>
            <a:tailEnd type="triangle" w="med" len="med"/>
          </a:ln>
        </p:spPr>
        <p:txBody>
          <a:bodyPr wrap="none" anchor="ctr"/>
          <a:lstStyle/>
          <a:p>
            <a:endParaRPr lang="zh-CN" altLang="en-US"/>
          </a:p>
        </p:txBody>
      </p:sp>
      <p:sp>
        <p:nvSpPr>
          <p:cNvPr id="26" name="Line 21">
            <a:extLst>
              <a:ext uri="{FF2B5EF4-FFF2-40B4-BE49-F238E27FC236}">
                <a16:creationId xmlns:a16="http://schemas.microsoft.com/office/drawing/2014/main" id="{6BBFE18D-7786-48E6-87E8-042D81F37288}"/>
              </a:ext>
            </a:extLst>
          </p:cNvPr>
          <p:cNvSpPr>
            <a:spLocks noChangeShapeType="1"/>
          </p:cNvSpPr>
          <p:nvPr/>
        </p:nvSpPr>
        <p:spPr bwMode="auto">
          <a:xfrm>
            <a:off x="5565350" y="3447824"/>
            <a:ext cx="228600" cy="0"/>
          </a:xfrm>
          <a:prstGeom prst="line">
            <a:avLst/>
          </a:prstGeom>
          <a:noFill/>
          <a:ln w="9525">
            <a:solidFill>
              <a:schemeClr val="tx1"/>
            </a:solidFill>
            <a:round/>
            <a:headEnd/>
            <a:tailEnd/>
          </a:ln>
        </p:spPr>
        <p:txBody>
          <a:bodyPr wrap="none" anchor="ctr"/>
          <a:lstStyle/>
          <a:p>
            <a:endParaRPr lang="zh-CN" altLang="en-US"/>
          </a:p>
        </p:txBody>
      </p:sp>
      <p:sp>
        <p:nvSpPr>
          <p:cNvPr id="27" name="Line 22">
            <a:extLst>
              <a:ext uri="{FF2B5EF4-FFF2-40B4-BE49-F238E27FC236}">
                <a16:creationId xmlns:a16="http://schemas.microsoft.com/office/drawing/2014/main" id="{13911EBB-C925-4561-ACD9-C64E78E02BFB}"/>
              </a:ext>
            </a:extLst>
          </p:cNvPr>
          <p:cNvSpPr>
            <a:spLocks noChangeShapeType="1"/>
          </p:cNvSpPr>
          <p:nvPr/>
        </p:nvSpPr>
        <p:spPr bwMode="auto">
          <a:xfrm>
            <a:off x="5565350" y="4489224"/>
            <a:ext cx="228600" cy="0"/>
          </a:xfrm>
          <a:prstGeom prst="line">
            <a:avLst/>
          </a:prstGeom>
          <a:noFill/>
          <a:ln w="9525">
            <a:solidFill>
              <a:schemeClr val="tx1"/>
            </a:solidFill>
            <a:round/>
            <a:headEnd/>
            <a:tailEnd/>
          </a:ln>
        </p:spPr>
        <p:txBody>
          <a:bodyPr wrap="none" anchor="ctr"/>
          <a:lstStyle/>
          <a:p>
            <a:endParaRPr lang="zh-CN" altLang="en-US"/>
          </a:p>
        </p:txBody>
      </p:sp>
      <p:sp>
        <p:nvSpPr>
          <p:cNvPr id="28" name="Line 23">
            <a:extLst>
              <a:ext uri="{FF2B5EF4-FFF2-40B4-BE49-F238E27FC236}">
                <a16:creationId xmlns:a16="http://schemas.microsoft.com/office/drawing/2014/main" id="{B6062365-35C6-4E4D-95EE-71CD03C3958A}"/>
              </a:ext>
            </a:extLst>
          </p:cNvPr>
          <p:cNvSpPr>
            <a:spLocks noChangeShapeType="1"/>
          </p:cNvSpPr>
          <p:nvPr/>
        </p:nvSpPr>
        <p:spPr bwMode="auto">
          <a:xfrm>
            <a:off x="5670125" y="3447824"/>
            <a:ext cx="0" cy="10414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0" name="Text Box 25">
            <a:extLst>
              <a:ext uri="{FF2B5EF4-FFF2-40B4-BE49-F238E27FC236}">
                <a16:creationId xmlns:a16="http://schemas.microsoft.com/office/drawing/2014/main" id="{4903A401-C787-4891-A28C-DE8DD65733EA}"/>
              </a:ext>
            </a:extLst>
          </p:cNvPr>
          <p:cNvSpPr txBox="1">
            <a:spLocks noChangeArrowheads="1"/>
          </p:cNvSpPr>
          <p:nvPr/>
        </p:nvSpPr>
        <p:spPr bwMode="auto">
          <a:xfrm>
            <a:off x="5260550" y="2122262"/>
            <a:ext cx="720134"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TCP A</a:t>
            </a:r>
          </a:p>
        </p:txBody>
      </p:sp>
      <p:sp>
        <p:nvSpPr>
          <p:cNvPr id="31" name="Text Box 26">
            <a:extLst>
              <a:ext uri="{FF2B5EF4-FFF2-40B4-BE49-F238E27FC236}">
                <a16:creationId xmlns:a16="http://schemas.microsoft.com/office/drawing/2014/main" id="{F6057EEE-34E2-4547-B7FC-5FC69683249B}"/>
              </a:ext>
            </a:extLst>
          </p:cNvPr>
          <p:cNvSpPr txBox="1">
            <a:spLocks noChangeArrowheads="1"/>
          </p:cNvSpPr>
          <p:nvPr/>
        </p:nvSpPr>
        <p:spPr bwMode="auto">
          <a:xfrm>
            <a:off x="7089350" y="2122262"/>
            <a:ext cx="712118"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TCP B</a:t>
            </a:r>
          </a:p>
        </p:txBody>
      </p:sp>
      <p:sp>
        <p:nvSpPr>
          <p:cNvPr id="32" name="Text Box 27">
            <a:extLst>
              <a:ext uri="{FF2B5EF4-FFF2-40B4-BE49-F238E27FC236}">
                <a16:creationId xmlns:a16="http://schemas.microsoft.com/office/drawing/2014/main" id="{81AE30DF-EF8C-4DAC-95F3-79071AB24BE5}"/>
              </a:ext>
            </a:extLst>
          </p:cNvPr>
          <p:cNvSpPr txBox="1">
            <a:spLocks noChangeArrowheads="1"/>
          </p:cNvSpPr>
          <p:nvPr/>
        </p:nvSpPr>
        <p:spPr bwMode="auto">
          <a:xfrm>
            <a:off x="650875" y="5094790"/>
            <a:ext cx="7842250" cy="422808"/>
          </a:xfrm>
          <a:prstGeom prst="rect">
            <a:avLst/>
          </a:prstGeom>
          <a:noFill/>
          <a:ln w="9525">
            <a:noFill/>
            <a:miter lim="800000"/>
            <a:headEnd/>
            <a:tailEnd/>
          </a:ln>
        </p:spPr>
        <p:txBody>
          <a:bodyPr>
            <a:spAutoFit/>
          </a:bodyPr>
          <a:lstStyle/>
          <a:p>
            <a:pPr eaLnBrk="0" hangingPunct="0">
              <a:lnSpc>
                <a:spcPts val="2800"/>
              </a:lnSpc>
              <a:spcBef>
                <a:spcPct val="0"/>
              </a:spcBef>
              <a:buClr>
                <a:srgbClr val="000099"/>
              </a:buClr>
              <a:buSzPct val="75000"/>
              <a:buFont typeface="Wingdings" pitchFamily="2" charset="2"/>
              <a:buNone/>
            </a:pPr>
            <a:r>
              <a:rPr kumimoji="0" lang="zh-CN" altLang="en-US" sz="2200" b="1" dirty="0">
                <a:solidFill>
                  <a:srgbClr val="FF0000"/>
                </a:solidFill>
                <a:latin typeface="Arial" charset="0"/>
                <a:ea typeface="宋体" pitchFamily="2" charset="-122"/>
              </a:rPr>
              <a:t>问题：</a:t>
            </a:r>
            <a:r>
              <a:rPr kumimoji="0" lang="zh-CN" altLang="en-US" sz="2200" dirty="0">
                <a:latin typeface="Arial" charset="0"/>
                <a:ea typeface="宋体" pitchFamily="2" charset="-122"/>
              </a:rPr>
              <a:t>报文段重传时，如何估算</a:t>
            </a:r>
            <a:r>
              <a:rPr kumimoji="0" lang="en-US" altLang="zh-CN" sz="2200" dirty="0">
                <a:latin typeface="Arial" charset="0"/>
                <a:ea typeface="宋体" pitchFamily="2" charset="-122"/>
              </a:rPr>
              <a:t>RTT</a:t>
            </a:r>
            <a:r>
              <a:rPr kumimoji="0" lang="zh-CN" altLang="en-US" sz="2200" dirty="0">
                <a:latin typeface="Arial" charset="0"/>
                <a:ea typeface="宋体" pitchFamily="2" charset="-122"/>
              </a:rPr>
              <a:t>？</a:t>
            </a:r>
            <a:endParaRPr kumimoji="0" lang="en-US" altLang="zh-CN" sz="2200" dirty="0">
              <a:latin typeface="Arial" charset="0"/>
              <a:ea typeface="宋体" pitchFamily="2" charset="-122"/>
            </a:endParaRPr>
          </a:p>
        </p:txBody>
      </p:sp>
      <p:sp>
        <p:nvSpPr>
          <p:cNvPr id="33" name="Rectangle 28">
            <a:extLst>
              <a:ext uri="{FF2B5EF4-FFF2-40B4-BE49-F238E27FC236}">
                <a16:creationId xmlns:a16="http://schemas.microsoft.com/office/drawing/2014/main" id="{1B4A0F11-5C4D-4FF1-AD98-F998709CA534}"/>
              </a:ext>
            </a:extLst>
          </p:cNvPr>
          <p:cNvSpPr>
            <a:spLocks noChangeArrowheads="1"/>
          </p:cNvSpPr>
          <p:nvPr/>
        </p:nvSpPr>
        <p:spPr bwMode="auto">
          <a:xfrm>
            <a:off x="433225" y="1381731"/>
            <a:ext cx="5184775" cy="618293"/>
          </a:xfrm>
          <a:prstGeom prst="rect">
            <a:avLst/>
          </a:prstGeom>
          <a:noFill/>
          <a:ln w="9525">
            <a:noFill/>
            <a:miter lim="800000"/>
            <a:headEnd/>
            <a:tailEnd/>
          </a:ln>
        </p:spPr>
        <p:txBody>
          <a:bodyPr anchor="ctr"/>
          <a:lstStyle/>
          <a:p>
            <a:pPr eaLnBrk="0" hangingPunct="0">
              <a:lnSpc>
                <a:spcPct val="100000"/>
              </a:lnSpc>
              <a:spcBef>
                <a:spcPct val="0"/>
              </a:spcBef>
              <a:buClrTx/>
              <a:buFontTx/>
              <a:buNone/>
            </a:pPr>
            <a:r>
              <a:rPr lang="en-US" altLang="zh-CN" sz="2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Karn</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/Partridge</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4" name="Text Box 29">
            <a:extLst>
              <a:ext uri="{FF2B5EF4-FFF2-40B4-BE49-F238E27FC236}">
                <a16:creationId xmlns:a16="http://schemas.microsoft.com/office/drawing/2014/main" id="{A9030686-A6DC-429E-A59E-50A92F8D53CB}"/>
              </a:ext>
            </a:extLst>
          </p:cNvPr>
          <p:cNvSpPr txBox="1">
            <a:spLocks noChangeArrowheads="1"/>
          </p:cNvSpPr>
          <p:nvPr/>
        </p:nvSpPr>
        <p:spPr bwMode="auto">
          <a:xfrm>
            <a:off x="649125" y="5602635"/>
            <a:ext cx="7842250" cy="425758"/>
          </a:xfrm>
          <a:prstGeom prst="rect">
            <a:avLst/>
          </a:prstGeom>
          <a:noFill/>
          <a:ln w="9525">
            <a:noFill/>
            <a:miter lim="800000"/>
            <a:headEnd/>
            <a:tailEnd/>
          </a:ln>
        </p:spPr>
        <p:txBody>
          <a:bodyPr wrap="square">
            <a:spAutoFit/>
          </a:bodyPr>
          <a:lstStyle/>
          <a:p>
            <a:pPr eaLnBrk="0" hangingPunct="0">
              <a:lnSpc>
                <a:spcPts val="2600"/>
              </a:lnSpc>
              <a:spcBef>
                <a:spcPct val="0"/>
              </a:spcBef>
              <a:buClr>
                <a:srgbClr val="000099"/>
              </a:buClr>
              <a:buSzPct val="75000"/>
              <a:buFont typeface="Wingdings" pitchFamily="2" charset="2"/>
              <a:buNone/>
            </a:pPr>
            <a:r>
              <a:rPr kumimoji="0" lang="zh-CN" altLang="en-US" sz="2200" b="1" dirty="0">
                <a:solidFill>
                  <a:srgbClr val="FF0000"/>
                </a:solidFill>
                <a:latin typeface="Arial" charset="0"/>
                <a:ea typeface="宋体" pitchFamily="2" charset="-122"/>
              </a:rPr>
              <a:t>解决策略：</a:t>
            </a:r>
            <a:r>
              <a:rPr lang="zh-CN" altLang="en-US" sz="2200" dirty="0">
                <a:latin typeface="Arial" charset="0"/>
                <a:ea typeface="宋体" pitchFamily="2" charset="-122"/>
              </a:rPr>
              <a:t>报文段重传</a:t>
            </a:r>
            <a:r>
              <a:rPr kumimoji="0" lang="zh-CN" altLang="en-US" sz="2200" dirty="0">
                <a:latin typeface="Arial" charset="0"/>
                <a:ea typeface="宋体" pitchFamily="2" charset="-122"/>
              </a:rPr>
              <a:t>时，不修改估算的</a:t>
            </a:r>
            <a:r>
              <a:rPr kumimoji="0" lang="en-US" altLang="zh-CN" sz="2200" dirty="0">
                <a:latin typeface="Arial" charset="0"/>
                <a:ea typeface="宋体" pitchFamily="2" charset="-122"/>
              </a:rPr>
              <a:t>RTT</a:t>
            </a:r>
            <a:r>
              <a:rPr kumimoji="0" lang="zh-CN" altLang="en-US" sz="2200" dirty="0">
                <a:latin typeface="Arial" charset="0"/>
                <a:ea typeface="宋体" pitchFamily="2" charset="-122"/>
              </a:rPr>
              <a:t>，将</a:t>
            </a:r>
            <a:r>
              <a:rPr kumimoji="0" lang="en-US" altLang="zh-CN" sz="2200" dirty="0">
                <a:latin typeface="Arial" charset="0"/>
                <a:ea typeface="宋体" pitchFamily="2" charset="-122"/>
              </a:rPr>
              <a:t>RTO</a:t>
            </a:r>
            <a:r>
              <a:rPr kumimoji="0" lang="zh-CN" altLang="en-US" sz="2200" dirty="0">
                <a:latin typeface="Arial" charset="0"/>
                <a:ea typeface="宋体" pitchFamily="2" charset="-122"/>
              </a:rPr>
              <a:t>值翻倍</a:t>
            </a:r>
            <a:endParaRPr kumimoji="0" lang="en-US" altLang="zh-CN" sz="2200" dirty="0">
              <a:latin typeface="Arial" charset="0"/>
              <a:ea typeface="宋体" pitchFamily="2" charset="-122"/>
            </a:endParaRPr>
          </a:p>
        </p:txBody>
      </p:sp>
      <p:sp>
        <p:nvSpPr>
          <p:cNvPr id="35" name="标题 1">
            <a:extLst>
              <a:ext uri="{FF2B5EF4-FFF2-40B4-BE49-F238E27FC236}">
                <a16:creationId xmlns:a16="http://schemas.microsoft.com/office/drawing/2014/main" id="{FD5E67C4-3242-44B6-80A6-211AD84A0431}"/>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2" name="Text Box 8">
            <a:extLst>
              <a:ext uri="{FF2B5EF4-FFF2-40B4-BE49-F238E27FC236}">
                <a16:creationId xmlns:a16="http://schemas.microsoft.com/office/drawing/2014/main" id="{E0EE1EEA-7915-4D14-A53A-0FAC3F9AB384}"/>
              </a:ext>
            </a:extLst>
          </p:cNvPr>
          <p:cNvSpPr txBox="1">
            <a:spLocks noChangeArrowheads="1"/>
          </p:cNvSpPr>
          <p:nvPr/>
        </p:nvSpPr>
        <p:spPr bwMode="auto">
          <a:xfrm>
            <a:off x="6312656" y="3317628"/>
            <a:ext cx="543739" cy="307777"/>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zh-CN" altLang="en-US" sz="1400" dirty="0">
                <a:solidFill>
                  <a:srgbClr val="000099"/>
                </a:solidFill>
                <a:ea typeface="宋体" pitchFamily="2" charset="-122"/>
              </a:rPr>
              <a:t>重传</a:t>
            </a:r>
            <a:endParaRPr kumimoji="0" lang="en-US" altLang="zh-CN" sz="1400" dirty="0">
              <a:solidFill>
                <a:srgbClr val="000099"/>
              </a:solidFill>
              <a:ea typeface="宋体" pitchFamily="2" charset="-122"/>
            </a:endParaRPr>
          </a:p>
        </p:txBody>
      </p:sp>
      <p:sp>
        <p:nvSpPr>
          <p:cNvPr id="3" name="Text Box 12">
            <a:extLst>
              <a:ext uri="{FF2B5EF4-FFF2-40B4-BE49-F238E27FC236}">
                <a16:creationId xmlns:a16="http://schemas.microsoft.com/office/drawing/2014/main" id="{874FCCE6-A697-4166-B3BD-66782383036C}"/>
              </a:ext>
            </a:extLst>
          </p:cNvPr>
          <p:cNvSpPr txBox="1">
            <a:spLocks noChangeArrowheads="1"/>
          </p:cNvSpPr>
          <p:nvPr/>
        </p:nvSpPr>
        <p:spPr bwMode="auto">
          <a:xfrm>
            <a:off x="4683835" y="3659289"/>
            <a:ext cx="1048203" cy="523220"/>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zh-CN" altLang="en-US" sz="1400" dirty="0">
                <a:solidFill>
                  <a:srgbClr val="000099"/>
                </a:solidFill>
                <a:ea typeface="宋体" pitchFamily="2" charset="-122"/>
              </a:rPr>
              <a:t>错误的</a:t>
            </a:r>
            <a:endParaRPr kumimoji="0" lang="en-US" altLang="zh-CN" sz="1400" dirty="0">
              <a:solidFill>
                <a:srgbClr val="000099"/>
              </a:solidFill>
              <a:ea typeface="宋体" pitchFamily="2" charset="-122"/>
            </a:endParaRPr>
          </a:p>
          <a:p>
            <a:pPr algn="ctr" eaLnBrk="0" hangingPunct="0">
              <a:lnSpc>
                <a:spcPct val="100000"/>
              </a:lnSpc>
              <a:spcBef>
                <a:spcPct val="0"/>
              </a:spcBef>
              <a:buClrTx/>
              <a:buFontTx/>
              <a:buNone/>
            </a:pPr>
            <a:r>
              <a:rPr lang="en-US" altLang="zh-CN" sz="1400" dirty="0" err="1">
                <a:solidFill>
                  <a:srgbClr val="000099"/>
                </a:solidFill>
                <a:ea typeface="宋体" pitchFamily="2" charset="-122"/>
              </a:rPr>
              <a:t>SampleRTT</a:t>
            </a:r>
            <a:endParaRPr kumimoji="0" lang="en-US" altLang="zh-CN" sz="1400" dirty="0">
              <a:solidFill>
                <a:srgbClr val="000099"/>
              </a:solidFill>
              <a:ea typeface="宋体" pitchFamily="2" charset="-122"/>
            </a:endParaRPr>
          </a:p>
        </p:txBody>
      </p:sp>
    </p:spTree>
    <p:extLst>
      <p:ext uri="{BB962C8B-B14F-4D97-AF65-F5344CB8AC3E}">
        <p14:creationId xmlns:p14="http://schemas.microsoft.com/office/powerpoint/2010/main" val="413619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body" sz="half" idx="1"/>
          </p:nvPr>
        </p:nvSpPr>
        <p:spPr>
          <a:xfrm>
            <a:off x="549351" y="1487937"/>
            <a:ext cx="4758869" cy="4924368"/>
          </a:xfrm>
        </p:spPr>
        <p:txBody>
          <a:bodyPr>
            <a:noAutofit/>
          </a:bodyPr>
          <a:lstStyle/>
          <a:p>
            <a:pPr marL="266700" lvl="1" indent="-266700">
              <a:lnSpc>
                <a:spcPct val="120000"/>
              </a:lnSpc>
              <a:spcBef>
                <a:spcPts val="600"/>
              </a:spcBef>
              <a:buBlip>
                <a:blip r:embed="rId3"/>
              </a:buBlip>
            </a:pPr>
            <a:r>
              <a:rPr lang="en-US" altLang="zh-CN" dirty="0">
                <a:latin typeface="Times New Roman" panose="02020603050405020304" pitchFamily="18" charset="0"/>
                <a:ea typeface="宋体" panose="02010600030101010101" pitchFamily="2" charset="-122"/>
                <a:cs typeface="Times New Roman" panose="02020603050405020304" pitchFamily="18" charset="0"/>
              </a:rPr>
              <a:t>RTO</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通常设置相对较长</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625475" lvl="3" indent="-168275">
              <a:lnSpc>
                <a:spcPct val="12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重传丢失</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段引入较长时延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3" indent="-168275">
              <a:lnSpc>
                <a:spcPct val="12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有时发送端连续发出多个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段（如大文件传输）</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5475" lvl="3" indent="-168275">
              <a:lnSpc>
                <a:spcPct val="12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如果一个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段丢失，发送端收到很多重复</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p>
          <a:p>
            <a:pPr marL="625475" lvl="3" indent="-168275">
              <a:lnSpc>
                <a:spcPct val="120000"/>
              </a:lnSpc>
              <a:spcBef>
                <a:spcPts val="600"/>
              </a:spcBef>
              <a:buClr>
                <a:schemeClr val="tx1"/>
              </a:buClr>
              <a:buFont typeface="Times New Roman" panose="02020603050405020304" pitchFamily="18" charset="0"/>
              <a:buChar cha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如果发送端对同一序号收到</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三次重复</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，则假设</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序号指示的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段丢失</a:t>
            </a:r>
            <a:endParaRPr lang="en-US" altLang="zh-CN" sz="2200" dirty="0">
              <a:latin typeface="Arial Unicode MS" pitchFamily="34" charset="-122"/>
              <a:ea typeface="Arial Unicode MS" pitchFamily="34" charset="-122"/>
              <a:cs typeface="Arial Unicode MS" pitchFamily="34" charset="-122"/>
            </a:endParaRPr>
          </a:p>
          <a:p>
            <a:pPr marL="625475" lvl="3" indent="-168275">
              <a:lnSpc>
                <a:spcPct val="120000"/>
              </a:lnSpc>
              <a:spcBef>
                <a:spcPts val="600"/>
              </a:spcBef>
              <a:buClr>
                <a:schemeClr val="tx1"/>
              </a:buClr>
              <a:buFont typeface="Times New Roman" panose="02020603050405020304" pitchFamily="18" charset="0"/>
              <a:buChar char="̵"/>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快速重传</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：在超时之前重传丢失的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段，有效降低时延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2">
            <a:extLst>
              <a:ext uri="{FF2B5EF4-FFF2-40B4-BE49-F238E27FC236}">
                <a16:creationId xmlns:a16="http://schemas.microsoft.com/office/drawing/2014/main" id="{78770DAB-22D7-416E-9443-27CE3DE8DE54}"/>
              </a:ext>
            </a:extLst>
          </p:cNvPr>
          <p:cNvSpPr txBox="1">
            <a:spLocks noChangeArrowheads="1"/>
          </p:cNvSpPr>
          <p:nvPr/>
        </p:nvSpPr>
        <p:spPr>
          <a:xfrm>
            <a:off x="323850" y="620713"/>
            <a:ext cx="8569325" cy="7921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6700" indent="-266700">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快速重传</a:t>
            </a:r>
            <a:endParaRPr lang="en-US" altLang="zh-CN" sz="2800" dirty="0">
              <a:latin typeface="Arial" pitchFamily="34" charset="0"/>
              <a:ea typeface="宋体" pitchFamily="2" charset="-122"/>
            </a:endParaRPr>
          </a:p>
        </p:txBody>
      </p:sp>
      <p:grpSp>
        <p:nvGrpSpPr>
          <p:cNvPr id="6" name="Group 2">
            <a:extLst>
              <a:ext uri="{FF2B5EF4-FFF2-40B4-BE49-F238E27FC236}">
                <a16:creationId xmlns:a16="http://schemas.microsoft.com/office/drawing/2014/main" id="{2AEF2109-AC35-4323-88FC-DB13CDAFFCDC}"/>
              </a:ext>
            </a:extLst>
          </p:cNvPr>
          <p:cNvGrpSpPr>
            <a:grpSpLocks/>
          </p:cNvGrpSpPr>
          <p:nvPr/>
        </p:nvGrpSpPr>
        <p:grpSpPr bwMode="auto">
          <a:xfrm>
            <a:off x="5372100" y="902098"/>
            <a:ext cx="3448050" cy="5510207"/>
            <a:chOff x="677" y="389"/>
            <a:chExt cx="2172" cy="3471"/>
          </a:xfrm>
        </p:grpSpPr>
        <p:sp>
          <p:nvSpPr>
            <p:cNvPr id="7" name="Line 3">
              <a:extLst>
                <a:ext uri="{FF2B5EF4-FFF2-40B4-BE49-F238E27FC236}">
                  <a16:creationId xmlns:a16="http://schemas.microsoft.com/office/drawing/2014/main" id="{9B797762-449E-42BA-A608-30F2748A1D1F}"/>
                </a:ext>
              </a:extLst>
            </p:cNvPr>
            <p:cNvSpPr>
              <a:spLocks noChangeShapeType="1"/>
            </p:cNvSpPr>
            <p:nvPr/>
          </p:nvSpPr>
          <p:spPr bwMode="auto">
            <a:xfrm>
              <a:off x="1008" y="1104"/>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graphicFrame>
          <p:nvGraphicFramePr>
            <p:cNvPr id="9" name="Object 2">
              <a:extLst>
                <a:ext uri="{FF2B5EF4-FFF2-40B4-BE49-F238E27FC236}">
                  <a16:creationId xmlns:a16="http://schemas.microsoft.com/office/drawing/2014/main" id="{484E6A52-351E-4C34-BC03-6F643E26C020}"/>
                </a:ext>
              </a:extLst>
            </p:cNvPr>
            <p:cNvGraphicFramePr>
              <a:graphicFrameLocks noChangeAspect="1"/>
            </p:cNvGraphicFramePr>
            <p:nvPr/>
          </p:nvGraphicFramePr>
          <p:xfrm>
            <a:off x="845" y="635"/>
            <a:ext cx="306" cy="243"/>
          </p:xfrm>
          <a:graphic>
            <a:graphicData uri="http://schemas.openxmlformats.org/presentationml/2006/ole">
              <mc:AlternateContent xmlns:mc="http://schemas.openxmlformats.org/markup-compatibility/2006">
                <mc:Choice xmlns:v="urn:schemas-microsoft-com:vml" Requires="v">
                  <p:oleObj name="Clip" r:id="rId4" imgW="1305000" imgH="1085760" progId="MS_ClipArt_Gallery.2">
                    <p:embed/>
                  </p:oleObj>
                </mc:Choice>
                <mc:Fallback>
                  <p:oleObj name="Clip" r:id="rId4" imgW="1305000" imgH="1085760" progId="MS_ClipArt_Gallery.2">
                    <p:embed/>
                    <p:pic>
                      <p:nvPicPr>
                        <p:cNvPr id="921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5" y="635"/>
                          <a:ext cx="306"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5">
              <a:extLst>
                <a:ext uri="{FF2B5EF4-FFF2-40B4-BE49-F238E27FC236}">
                  <a16:creationId xmlns:a16="http://schemas.microsoft.com/office/drawing/2014/main" id="{1523037E-2DBA-49BB-A536-809F18679DC2}"/>
                </a:ext>
              </a:extLst>
            </p:cNvPr>
            <p:cNvSpPr txBox="1">
              <a:spLocks noChangeArrowheads="1"/>
            </p:cNvSpPr>
            <p:nvPr/>
          </p:nvSpPr>
          <p:spPr bwMode="auto">
            <a:xfrm>
              <a:off x="723" y="389"/>
              <a:ext cx="544" cy="233"/>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TCP A</a:t>
              </a:r>
            </a:p>
          </p:txBody>
        </p:sp>
        <p:sp>
          <p:nvSpPr>
            <p:cNvPr id="11" name="Text Box 6">
              <a:extLst>
                <a:ext uri="{FF2B5EF4-FFF2-40B4-BE49-F238E27FC236}">
                  <a16:creationId xmlns:a16="http://schemas.microsoft.com/office/drawing/2014/main" id="{E68EE265-61AB-4645-BD53-50C997057883}"/>
                </a:ext>
              </a:extLst>
            </p:cNvPr>
            <p:cNvSpPr txBox="1">
              <a:spLocks noChangeArrowheads="1"/>
            </p:cNvSpPr>
            <p:nvPr/>
          </p:nvSpPr>
          <p:spPr bwMode="auto">
            <a:xfrm rot="16200000">
              <a:off x="590" y="1872"/>
              <a:ext cx="407" cy="233"/>
            </a:xfrm>
            <a:prstGeom prst="rect">
              <a:avLst/>
            </a:prstGeom>
            <a:noFill/>
            <a:ln w="9525">
              <a:noFill/>
              <a:miter lim="800000"/>
              <a:headEnd/>
              <a:tailEnd/>
            </a:ln>
          </p:spPr>
          <p:txBody>
            <a:bodyPr wrap="none">
              <a:spAutoFit/>
            </a:bodyPr>
            <a:lstStyle/>
            <a:p>
              <a:r>
                <a:rPr lang="zh-CN" altLang="en-US" dirty="0">
                  <a:latin typeface="Arial Unicode MS" pitchFamily="34" charset="-122"/>
                  <a:ea typeface="Arial Unicode MS" pitchFamily="34" charset="-122"/>
                  <a:cs typeface="Arial Unicode MS" pitchFamily="34" charset="-122"/>
                </a:rPr>
                <a:t>超时</a:t>
              </a:r>
              <a:endParaRPr lang="en-US" altLang="zh-CN" dirty="0">
                <a:latin typeface="Arial Unicode MS" pitchFamily="34" charset="-122"/>
                <a:ea typeface="Arial Unicode MS" pitchFamily="34" charset="-122"/>
                <a:cs typeface="Arial Unicode MS" pitchFamily="34" charset="-122"/>
              </a:endParaRPr>
            </a:p>
          </p:txBody>
        </p:sp>
        <p:graphicFrame>
          <p:nvGraphicFramePr>
            <p:cNvPr id="12" name="Object 3">
              <a:extLst>
                <a:ext uri="{FF2B5EF4-FFF2-40B4-BE49-F238E27FC236}">
                  <a16:creationId xmlns:a16="http://schemas.microsoft.com/office/drawing/2014/main" id="{5996045F-C22E-4A5E-8BA3-5075DC97B711}"/>
                </a:ext>
              </a:extLst>
            </p:cNvPr>
            <p:cNvGraphicFramePr>
              <a:graphicFrameLocks noChangeAspect="1"/>
            </p:cNvGraphicFramePr>
            <p:nvPr/>
          </p:nvGraphicFramePr>
          <p:xfrm>
            <a:off x="2451" y="650"/>
            <a:ext cx="306" cy="243"/>
          </p:xfrm>
          <a:graphic>
            <a:graphicData uri="http://schemas.openxmlformats.org/presentationml/2006/ole">
              <mc:AlternateContent xmlns:mc="http://schemas.openxmlformats.org/markup-compatibility/2006">
                <mc:Choice xmlns:v="urn:schemas-microsoft-com:vml" Requires="v">
                  <p:oleObj name="Clip" r:id="rId6" imgW="1305000" imgH="1085760" progId="MS_ClipArt_Gallery.2">
                    <p:embed/>
                  </p:oleObj>
                </mc:Choice>
                <mc:Fallback>
                  <p:oleObj name="Clip" r:id="rId6" imgW="1305000" imgH="1085760" progId="MS_ClipArt_Gallery.2">
                    <p:embed/>
                    <p:pic>
                      <p:nvPicPr>
                        <p:cNvPr id="921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1" y="650"/>
                          <a:ext cx="306"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8">
              <a:extLst>
                <a:ext uri="{FF2B5EF4-FFF2-40B4-BE49-F238E27FC236}">
                  <a16:creationId xmlns:a16="http://schemas.microsoft.com/office/drawing/2014/main" id="{898559E2-61FC-49CD-BD7A-62744A74DB56}"/>
                </a:ext>
              </a:extLst>
            </p:cNvPr>
            <p:cNvSpPr txBox="1">
              <a:spLocks noChangeArrowheads="1"/>
            </p:cNvSpPr>
            <p:nvPr/>
          </p:nvSpPr>
          <p:spPr bwMode="auto">
            <a:xfrm>
              <a:off x="2305" y="393"/>
              <a:ext cx="544" cy="233"/>
            </a:xfrm>
            <a:prstGeom prst="rect">
              <a:avLst/>
            </a:prstGeom>
            <a:noFill/>
            <a:ln w="9525">
              <a:noFill/>
              <a:miter lim="800000"/>
              <a:headEnd/>
              <a:tailEnd/>
            </a:ln>
          </p:spPr>
          <p:txBody>
            <a:bodyPr wrap="none">
              <a:spAutoFit/>
            </a:bodyPr>
            <a:lstStyle/>
            <a:p>
              <a:r>
                <a:rPr lang="en-US" altLang="zh-CN" dirty="0">
                  <a:latin typeface="Arial Unicode MS" pitchFamily="34" charset="-122"/>
                  <a:ea typeface="Arial Unicode MS" pitchFamily="34" charset="-122"/>
                  <a:cs typeface="Arial Unicode MS" pitchFamily="34" charset="-122"/>
                </a:rPr>
                <a:t>TCP B</a:t>
              </a:r>
            </a:p>
          </p:txBody>
        </p:sp>
        <p:sp>
          <p:nvSpPr>
            <p:cNvPr id="14" name="Line 9">
              <a:extLst>
                <a:ext uri="{FF2B5EF4-FFF2-40B4-BE49-F238E27FC236}">
                  <a16:creationId xmlns:a16="http://schemas.microsoft.com/office/drawing/2014/main" id="{CE2FF8A9-AB1C-4FE9-9F0F-34B96BF45F58}"/>
                </a:ext>
              </a:extLst>
            </p:cNvPr>
            <p:cNvSpPr>
              <a:spLocks noChangeShapeType="1"/>
            </p:cNvSpPr>
            <p:nvPr/>
          </p:nvSpPr>
          <p:spPr bwMode="auto">
            <a:xfrm>
              <a:off x="1008" y="1248"/>
              <a:ext cx="1107" cy="261"/>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15" name="Line 10">
              <a:extLst>
                <a:ext uri="{FF2B5EF4-FFF2-40B4-BE49-F238E27FC236}">
                  <a16:creationId xmlns:a16="http://schemas.microsoft.com/office/drawing/2014/main" id="{D51683DF-8A50-4FE4-BA29-BA296C782175}"/>
                </a:ext>
              </a:extLst>
            </p:cNvPr>
            <p:cNvSpPr>
              <a:spLocks noChangeShapeType="1"/>
            </p:cNvSpPr>
            <p:nvPr/>
          </p:nvSpPr>
          <p:spPr bwMode="auto">
            <a:xfrm>
              <a:off x="1008" y="912"/>
              <a:ext cx="6" cy="2758"/>
            </a:xfrm>
            <a:prstGeom prst="line">
              <a:avLst/>
            </a:prstGeom>
            <a:noFill/>
            <a:ln w="9525">
              <a:solidFill>
                <a:schemeClr val="tx1"/>
              </a:solidFill>
              <a:round/>
              <a:headEnd/>
              <a:tailEnd type="triangle" w="med" len="med"/>
            </a:ln>
          </p:spPr>
          <p:txBody>
            <a:bodyPr wrap="none" anchor="ctr"/>
            <a:lstStyle/>
            <a:p>
              <a:endParaRPr lang="zh-CN" altLang="en-US"/>
            </a:p>
          </p:txBody>
        </p:sp>
        <p:sp>
          <p:nvSpPr>
            <p:cNvPr id="16" name="Line 11">
              <a:extLst>
                <a:ext uri="{FF2B5EF4-FFF2-40B4-BE49-F238E27FC236}">
                  <a16:creationId xmlns:a16="http://schemas.microsoft.com/office/drawing/2014/main" id="{45D82530-F2B6-476E-BB29-BFF3A1FEE5E4}"/>
                </a:ext>
              </a:extLst>
            </p:cNvPr>
            <p:cNvSpPr>
              <a:spLocks noChangeShapeType="1"/>
            </p:cNvSpPr>
            <p:nvPr/>
          </p:nvSpPr>
          <p:spPr bwMode="auto">
            <a:xfrm>
              <a:off x="2592" y="960"/>
              <a:ext cx="14" cy="2743"/>
            </a:xfrm>
            <a:prstGeom prst="line">
              <a:avLst/>
            </a:prstGeom>
            <a:noFill/>
            <a:ln w="9525">
              <a:solidFill>
                <a:schemeClr val="tx1"/>
              </a:solidFill>
              <a:round/>
              <a:headEnd/>
              <a:tailEnd type="triangle" w="med" len="med"/>
            </a:ln>
          </p:spPr>
          <p:txBody>
            <a:bodyPr wrap="none" anchor="ctr"/>
            <a:lstStyle/>
            <a:p>
              <a:endParaRPr lang="zh-CN" altLang="en-US"/>
            </a:p>
          </p:txBody>
        </p:sp>
        <p:sp>
          <p:nvSpPr>
            <p:cNvPr id="17" name="Line 12">
              <a:extLst>
                <a:ext uri="{FF2B5EF4-FFF2-40B4-BE49-F238E27FC236}">
                  <a16:creationId xmlns:a16="http://schemas.microsoft.com/office/drawing/2014/main" id="{9E6CD520-0E7C-42BE-BBA7-9386F31C66F3}"/>
                </a:ext>
              </a:extLst>
            </p:cNvPr>
            <p:cNvSpPr>
              <a:spLocks noChangeShapeType="1"/>
            </p:cNvSpPr>
            <p:nvPr/>
          </p:nvSpPr>
          <p:spPr bwMode="auto">
            <a:xfrm flipH="1">
              <a:off x="1000" y="1488"/>
              <a:ext cx="1572" cy="474"/>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18" name="Text Box 13">
              <a:extLst>
                <a:ext uri="{FF2B5EF4-FFF2-40B4-BE49-F238E27FC236}">
                  <a16:creationId xmlns:a16="http://schemas.microsoft.com/office/drawing/2014/main" id="{DF7B80D7-D21D-455A-A7DB-D34D60FF8BD0}"/>
                </a:ext>
              </a:extLst>
            </p:cNvPr>
            <p:cNvSpPr txBox="1">
              <a:spLocks noChangeArrowheads="1"/>
            </p:cNvSpPr>
            <p:nvPr/>
          </p:nvSpPr>
          <p:spPr bwMode="auto">
            <a:xfrm>
              <a:off x="820" y="3647"/>
              <a:ext cx="375" cy="213"/>
            </a:xfrm>
            <a:prstGeom prst="rect">
              <a:avLst/>
            </a:prstGeom>
            <a:noFill/>
            <a:ln w="9525">
              <a:noFill/>
              <a:miter lim="800000"/>
              <a:headEnd/>
              <a:tailEnd/>
            </a:ln>
          </p:spPr>
          <p:txBody>
            <a:bodyPr wrap="none">
              <a:spAutoFit/>
            </a:bodyPr>
            <a:lstStyle/>
            <a:p>
              <a:r>
                <a:rPr lang="zh-CN" altLang="en-US" sz="1600" b="1" dirty="0">
                  <a:solidFill>
                    <a:srgbClr val="2A09B7"/>
                  </a:solidFill>
                  <a:ea typeface="宋体" pitchFamily="2" charset="-122"/>
                </a:rPr>
                <a:t>时间</a:t>
              </a:r>
              <a:endParaRPr lang="en-US" altLang="zh-CN" sz="1600" b="1" dirty="0">
                <a:solidFill>
                  <a:srgbClr val="2A09B7"/>
                </a:solidFill>
                <a:ea typeface="宋体" pitchFamily="2" charset="-122"/>
              </a:endParaRPr>
            </a:p>
          </p:txBody>
        </p:sp>
        <p:sp>
          <p:nvSpPr>
            <p:cNvPr id="19" name="Line 14">
              <a:extLst>
                <a:ext uri="{FF2B5EF4-FFF2-40B4-BE49-F238E27FC236}">
                  <a16:creationId xmlns:a16="http://schemas.microsoft.com/office/drawing/2014/main" id="{D634E952-135E-41E4-AE91-326A7F539AD8}"/>
                </a:ext>
              </a:extLst>
            </p:cNvPr>
            <p:cNvSpPr>
              <a:spLocks noChangeShapeType="1"/>
            </p:cNvSpPr>
            <p:nvPr/>
          </p:nvSpPr>
          <p:spPr bwMode="auto">
            <a:xfrm>
              <a:off x="1008" y="1392"/>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0" name="Line 15">
              <a:extLst>
                <a:ext uri="{FF2B5EF4-FFF2-40B4-BE49-F238E27FC236}">
                  <a16:creationId xmlns:a16="http://schemas.microsoft.com/office/drawing/2014/main" id="{9E6ECC4A-894C-47EE-987D-17921AEBE8CD}"/>
                </a:ext>
              </a:extLst>
            </p:cNvPr>
            <p:cNvSpPr>
              <a:spLocks noChangeShapeType="1"/>
            </p:cNvSpPr>
            <p:nvPr/>
          </p:nvSpPr>
          <p:spPr bwMode="auto">
            <a:xfrm>
              <a:off x="1008" y="1680"/>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1" name="Line 16">
              <a:extLst>
                <a:ext uri="{FF2B5EF4-FFF2-40B4-BE49-F238E27FC236}">
                  <a16:creationId xmlns:a16="http://schemas.microsoft.com/office/drawing/2014/main" id="{E8A0CD16-903A-439A-9C31-BD0BD0348831}"/>
                </a:ext>
              </a:extLst>
            </p:cNvPr>
            <p:cNvSpPr>
              <a:spLocks noChangeShapeType="1"/>
            </p:cNvSpPr>
            <p:nvPr/>
          </p:nvSpPr>
          <p:spPr bwMode="auto">
            <a:xfrm>
              <a:off x="1008" y="1536"/>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2" name="Line 17">
              <a:extLst>
                <a:ext uri="{FF2B5EF4-FFF2-40B4-BE49-F238E27FC236}">
                  <a16:creationId xmlns:a16="http://schemas.microsoft.com/office/drawing/2014/main" id="{8C3F367F-ABA9-4C36-AE7D-33489F524BB8}"/>
                </a:ext>
              </a:extLst>
            </p:cNvPr>
            <p:cNvSpPr>
              <a:spLocks noChangeShapeType="1"/>
            </p:cNvSpPr>
            <p:nvPr/>
          </p:nvSpPr>
          <p:spPr bwMode="auto">
            <a:xfrm flipH="1">
              <a:off x="1008" y="1776"/>
              <a:ext cx="1572" cy="474"/>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3" name="Line 18">
              <a:extLst>
                <a:ext uri="{FF2B5EF4-FFF2-40B4-BE49-F238E27FC236}">
                  <a16:creationId xmlns:a16="http://schemas.microsoft.com/office/drawing/2014/main" id="{25B26DE9-B584-4504-BD28-0370B34A13C9}"/>
                </a:ext>
              </a:extLst>
            </p:cNvPr>
            <p:cNvSpPr>
              <a:spLocks noChangeShapeType="1"/>
            </p:cNvSpPr>
            <p:nvPr/>
          </p:nvSpPr>
          <p:spPr bwMode="auto">
            <a:xfrm flipH="1">
              <a:off x="1008" y="1920"/>
              <a:ext cx="1572" cy="474"/>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4" name="Line 19">
              <a:extLst>
                <a:ext uri="{FF2B5EF4-FFF2-40B4-BE49-F238E27FC236}">
                  <a16:creationId xmlns:a16="http://schemas.microsoft.com/office/drawing/2014/main" id="{428C35BF-B860-42E6-83E9-FF3F151F29F0}"/>
                </a:ext>
              </a:extLst>
            </p:cNvPr>
            <p:cNvSpPr>
              <a:spLocks noChangeShapeType="1"/>
            </p:cNvSpPr>
            <p:nvPr/>
          </p:nvSpPr>
          <p:spPr bwMode="auto">
            <a:xfrm flipH="1">
              <a:off x="1008" y="2064"/>
              <a:ext cx="1572" cy="474"/>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25" name="Text Box 20">
              <a:extLst>
                <a:ext uri="{FF2B5EF4-FFF2-40B4-BE49-F238E27FC236}">
                  <a16:creationId xmlns:a16="http://schemas.microsoft.com/office/drawing/2014/main" id="{24043590-CD06-4A76-B2A7-35D7FF90DE7E}"/>
                </a:ext>
              </a:extLst>
            </p:cNvPr>
            <p:cNvSpPr txBox="1">
              <a:spLocks noChangeArrowheads="1"/>
            </p:cNvSpPr>
            <p:nvPr/>
          </p:nvSpPr>
          <p:spPr bwMode="auto">
            <a:xfrm>
              <a:off x="2043" y="1425"/>
              <a:ext cx="128" cy="213"/>
            </a:xfrm>
            <a:prstGeom prst="rect">
              <a:avLst/>
            </a:prstGeom>
            <a:noFill/>
            <a:ln w="9525">
              <a:noFill/>
              <a:miter lim="800000"/>
              <a:headEnd/>
              <a:tailEnd/>
            </a:ln>
          </p:spPr>
          <p:txBody>
            <a:bodyPr wrap="square">
              <a:spAutoFit/>
            </a:bodyPr>
            <a:lstStyle/>
            <a:p>
              <a:r>
                <a:rPr lang="en-US" altLang="zh-CN" sz="1600" dirty="0">
                  <a:solidFill>
                    <a:srgbClr val="FF0000"/>
                  </a:solidFill>
                  <a:latin typeface="Arial" charset="0"/>
                  <a:ea typeface="宋体" pitchFamily="2" charset="-122"/>
                </a:rPr>
                <a:t>X</a:t>
              </a:r>
              <a:endParaRPr lang="en-US" altLang="zh-CN" sz="1600" dirty="0">
                <a:latin typeface="Times New Roman" pitchFamily="18" charset="0"/>
                <a:ea typeface="宋体" pitchFamily="2" charset="-122"/>
              </a:endParaRPr>
            </a:p>
          </p:txBody>
        </p:sp>
        <p:sp>
          <p:nvSpPr>
            <p:cNvPr id="26" name="Line 21">
              <a:extLst>
                <a:ext uri="{FF2B5EF4-FFF2-40B4-BE49-F238E27FC236}">
                  <a16:creationId xmlns:a16="http://schemas.microsoft.com/office/drawing/2014/main" id="{98A05805-E77F-4675-AAAC-FB069FC2A600}"/>
                </a:ext>
              </a:extLst>
            </p:cNvPr>
            <p:cNvSpPr>
              <a:spLocks noChangeShapeType="1"/>
            </p:cNvSpPr>
            <p:nvPr/>
          </p:nvSpPr>
          <p:spPr bwMode="auto">
            <a:xfrm flipH="1">
              <a:off x="893" y="1231"/>
              <a:ext cx="7" cy="1562"/>
            </a:xfrm>
            <a:prstGeom prst="line">
              <a:avLst/>
            </a:prstGeom>
            <a:noFill/>
            <a:ln w="9525">
              <a:solidFill>
                <a:schemeClr val="tx1"/>
              </a:solidFill>
              <a:round/>
              <a:headEnd/>
              <a:tailEnd/>
            </a:ln>
          </p:spPr>
          <p:txBody>
            <a:bodyPr/>
            <a:lstStyle/>
            <a:p>
              <a:endParaRPr lang="zh-CN" altLang="en-US"/>
            </a:p>
          </p:txBody>
        </p:sp>
        <p:sp>
          <p:nvSpPr>
            <p:cNvPr id="27" name="Line 22">
              <a:extLst>
                <a:ext uri="{FF2B5EF4-FFF2-40B4-BE49-F238E27FC236}">
                  <a16:creationId xmlns:a16="http://schemas.microsoft.com/office/drawing/2014/main" id="{B3E36D18-1C9A-4585-9DB7-31C307C92767}"/>
                </a:ext>
              </a:extLst>
            </p:cNvPr>
            <p:cNvSpPr>
              <a:spLocks noChangeShapeType="1"/>
            </p:cNvSpPr>
            <p:nvPr/>
          </p:nvSpPr>
          <p:spPr bwMode="auto">
            <a:xfrm>
              <a:off x="900" y="1231"/>
              <a:ext cx="87" cy="8"/>
            </a:xfrm>
            <a:prstGeom prst="line">
              <a:avLst/>
            </a:prstGeom>
            <a:noFill/>
            <a:ln w="9525">
              <a:solidFill>
                <a:schemeClr val="tx1"/>
              </a:solidFill>
              <a:round/>
              <a:headEnd/>
              <a:tailEnd/>
            </a:ln>
          </p:spPr>
          <p:txBody>
            <a:bodyPr/>
            <a:lstStyle/>
            <a:p>
              <a:endParaRPr lang="zh-CN" altLang="en-US"/>
            </a:p>
          </p:txBody>
        </p:sp>
        <p:sp>
          <p:nvSpPr>
            <p:cNvPr id="28" name="Line 23">
              <a:extLst>
                <a:ext uri="{FF2B5EF4-FFF2-40B4-BE49-F238E27FC236}">
                  <a16:creationId xmlns:a16="http://schemas.microsoft.com/office/drawing/2014/main" id="{C32DC4E8-62BD-42B7-9F1D-6BA28163C1C8}"/>
                </a:ext>
              </a:extLst>
            </p:cNvPr>
            <p:cNvSpPr>
              <a:spLocks noChangeShapeType="1"/>
            </p:cNvSpPr>
            <p:nvPr/>
          </p:nvSpPr>
          <p:spPr bwMode="auto">
            <a:xfrm>
              <a:off x="884" y="2798"/>
              <a:ext cx="87" cy="8"/>
            </a:xfrm>
            <a:prstGeom prst="line">
              <a:avLst/>
            </a:prstGeom>
            <a:noFill/>
            <a:ln w="9525">
              <a:solidFill>
                <a:schemeClr val="tx1"/>
              </a:solidFill>
              <a:round/>
              <a:headEnd/>
              <a:tailEnd/>
            </a:ln>
          </p:spPr>
          <p:txBody>
            <a:bodyPr/>
            <a:lstStyle/>
            <a:p>
              <a:endParaRPr lang="zh-CN" altLang="en-US"/>
            </a:p>
          </p:txBody>
        </p:sp>
        <p:sp>
          <p:nvSpPr>
            <p:cNvPr id="29" name="Line 24">
              <a:extLst>
                <a:ext uri="{FF2B5EF4-FFF2-40B4-BE49-F238E27FC236}">
                  <a16:creationId xmlns:a16="http://schemas.microsoft.com/office/drawing/2014/main" id="{45901B90-EC49-4E83-B885-DD8CB6E45C29}"/>
                </a:ext>
              </a:extLst>
            </p:cNvPr>
            <p:cNvSpPr>
              <a:spLocks noChangeShapeType="1"/>
            </p:cNvSpPr>
            <p:nvPr/>
          </p:nvSpPr>
          <p:spPr bwMode="auto">
            <a:xfrm>
              <a:off x="1017" y="2566"/>
              <a:ext cx="1596" cy="372"/>
            </a:xfrm>
            <a:prstGeom prst="line">
              <a:avLst/>
            </a:prstGeom>
            <a:noFill/>
            <a:ln w="28575">
              <a:solidFill>
                <a:schemeClr val="accent2"/>
              </a:solidFill>
              <a:round/>
              <a:headEnd/>
              <a:tailEnd type="triangle" w="med" len="med"/>
            </a:ln>
          </p:spPr>
          <p:txBody>
            <a:bodyPr wrap="none" anchor="ctr"/>
            <a:lstStyle/>
            <a:p>
              <a:endParaRPr lang="zh-CN" altLang="en-US"/>
            </a:p>
          </p:txBody>
        </p:sp>
      </p:grpSp>
      <p:sp>
        <p:nvSpPr>
          <p:cNvPr id="31" name="标题 1">
            <a:extLst>
              <a:ext uri="{FF2B5EF4-FFF2-40B4-BE49-F238E27FC236}">
                <a16:creationId xmlns:a16="http://schemas.microsoft.com/office/drawing/2014/main" id="{A2A506DA-2355-4C56-8099-C03BF032819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80" name="Text Box 40">
            <a:extLst>
              <a:ext uri="{FF2B5EF4-FFF2-40B4-BE49-F238E27FC236}">
                <a16:creationId xmlns:a16="http://schemas.microsoft.com/office/drawing/2014/main" id="{46936739-36F1-4ECE-9ABD-74B05BF8C0D9}"/>
              </a:ext>
            </a:extLst>
          </p:cNvPr>
          <p:cNvSpPr txBox="1">
            <a:spLocks noChangeArrowheads="1"/>
          </p:cNvSpPr>
          <p:nvPr/>
        </p:nvSpPr>
        <p:spPr bwMode="auto">
          <a:xfrm rot="729194">
            <a:off x="5997663" y="1949768"/>
            <a:ext cx="1557158" cy="276999"/>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t>Seq=92, 8 </a:t>
            </a:r>
            <a:r>
              <a:rPr lang="zh-CN" altLang="en-US" sz="1200" dirty="0"/>
              <a:t>字节数据</a:t>
            </a:r>
            <a:endParaRPr lang="en-US" sz="1200" dirty="0"/>
          </a:p>
        </p:txBody>
      </p:sp>
      <p:sp>
        <p:nvSpPr>
          <p:cNvPr id="83" name="Text Box 43">
            <a:extLst>
              <a:ext uri="{FF2B5EF4-FFF2-40B4-BE49-F238E27FC236}">
                <a16:creationId xmlns:a16="http://schemas.microsoft.com/office/drawing/2014/main" id="{D99711C2-7123-486A-9E6C-1E917AD9B9DE}"/>
              </a:ext>
            </a:extLst>
          </p:cNvPr>
          <p:cNvSpPr txBox="1">
            <a:spLocks noChangeArrowheads="1"/>
          </p:cNvSpPr>
          <p:nvPr/>
        </p:nvSpPr>
        <p:spPr bwMode="auto">
          <a:xfrm rot="20571490">
            <a:off x="5966937" y="3233282"/>
            <a:ext cx="844550" cy="2762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latin typeface="Arial" charset="0"/>
              </a:rPr>
              <a:t>ACK=100</a:t>
            </a:r>
            <a:endParaRPr lang="en-US" sz="1200" dirty="0">
              <a:latin typeface="Times New Roman" charset="0"/>
            </a:endParaRPr>
          </a:p>
        </p:txBody>
      </p:sp>
      <p:sp>
        <p:nvSpPr>
          <p:cNvPr id="94" name="Text Box 83">
            <a:extLst>
              <a:ext uri="{FF2B5EF4-FFF2-40B4-BE49-F238E27FC236}">
                <a16:creationId xmlns:a16="http://schemas.microsoft.com/office/drawing/2014/main" id="{78D93768-206A-4FC7-A996-1BD637A6C4CB}"/>
              </a:ext>
            </a:extLst>
          </p:cNvPr>
          <p:cNvSpPr txBox="1">
            <a:spLocks noChangeArrowheads="1"/>
          </p:cNvSpPr>
          <p:nvPr/>
        </p:nvSpPr>
        <p:spPr bwMode="auto">
          <a:xfrm rot="862322">
            <a:off x="5964827" y="2219829"/>
            <a:ext cx="1723870" cy="276999"/>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t>Seq=100, 20 </a:t>
            </a:r>
            <a:r>
              <a:rPr lang="zh-CN" altLang="en-US" sz="1200" dirty="0"/>
              <a:t>字节数据</a:t>
            </a:r>
            <a:endParaRPr lang="en-US" sz="1200" dirty="0"/>
          </a:p>
        </p:txBody>
      </p:sp>
      <p:sp>
        <p:nvSpPr>
          <p:cNvPr id="96" name="Text Box 86">
            <a:extLst>
              <a:ext uri="{FF2B5EF4-FFF2-40B4-BE49-F238E27FC236}">
                <a16:creationId xmlns:a16="http://schemas.microsoft.com/office/drawing/2014/main" id="{C21DEB8E-B2F3-406E-B08A-54B00C64279E}"/>
              </a:ext>
            </a:extLst>
          </p:cNvPr>
          <p:cNvSpPr txBox="1">
            <a:spLocks noChangeArrowheads="1"/>
          </p:cNvSpPr>
          <p:nvPr/>
        </p:nvSpPr>
        <p:spPr bwMode="auto">
          <a:xfrm rot="753617">
            <a:off x="6578518" y="4429952"/>
            <a:ext cx="1723870" cy="276999"/>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t>Seq=100, 20 </a:t>
            </a:r>
            <a:r>
              <a:rPr lang="zh-CN" altLang="en-US" sz="1200" dirty="0"/>
              <a:t>字节数据</a:t>
            </a:r>
            <a:endParaRPr lang="en-US" sz="1200" dirty="0"/>
          </a:p>
        </p:txBody>
      </p:sp>
      <p:sp>
        <p:nvSpPr>
          <p:cNvPr id="97" name="Text Box 43">
            <a:extLst>
              <a:ext uri="{FF2B5EF4-FFF2-40B4-BE49-F238E27FC236}">
                <a16:creationId xmlns:a16="http://schemas.microsoft.com/office/drawing/2014/main" id="{E30A13CF-FE17-4B2B-A9D4-A78B4BFD24F4}"/>
              </a:ext>
            </a:extLst>
          </p:cNvPr>
          <p:cNvSpPr txBox="1">
            <a:spLocks noChangeArrowheads="1"/>
          </p:cNvSpPr>
          <p:nvPr/>
        </p:nvSpPr>
        <p:spPr bwMode="auto">
          <a:xfrm rot="20571490">
            <a:off x="6018813" y="3640305"/>
            <a:ext cx="844550" cy="2762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latin typeface="Arial" charset="0"/>
              </a:rPr>
              <a:t>ACK=100</a:t>
            </a:r>
            <a:endParaRPr lang="en-US" sz="1200" dirty="0">
              <a:latin typeface="Times New Roman" charset="0"/>
            </a:endParaRPr>
          </a:p>
        </p:txBody>
      </p:sp>
      <p:sp>
        <p:nvSpPr>
          <p:cNvPr id="98" name="Text Box 43">
            <a:extLst>
              <a:ext uri="{FF2B5EF4-FFF2-40B4-BE49-F238E27FC236}">
                <a16:creationId xmlns:a16="http://schemas.microsoft.com/office/drawing/2014/main" id="{0BDB3FCA-1BD4-4300-BC1A-266C8B9F16F2}"/>
              </a:ext>
            </a:extLst>
          </p:cNvPr>
          <p:cNvSpPr txBox="1">
            <a:spLocks noChangeArrowheads="1"/>
          </p:cNvSpPr>
          <p:nvPr/>
        </p:nvSpPr>
        <p:spPr bwMode="auto">
          <a:xfrm rot="20571490">
            <a:off x="6023544" y="4109561"/>
            <a:ext cx="844550" cy="2762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latin typeface="Arial" charset="0"/>
              </a:rPr>
              <a:t>ACK=100</a:t>
            </a:r>
            <a:endParaRPr lang="en-US" sz="1200" dirty="0">
              <a:latin typeface="Times New Roman" charset="0"/>
            </a:endParaRPr>
          </a:p>
        </p:txBody>
      </p:sp>
      <p:sp>
        <p:nvSpPr>
          <p:cNvPr id="99" name="Text Box 43">
            <a:extLst>
              <a:ext uri="{FF2B5EF4-FFF2-40B4-BE49-F238E27FC236}">
                <a16:creationId xmlns:a16="http://schemas.microsoft.com/office/drawing/2014/main" id="{DF832A4F-C409-4C91-BCEF-344397BE6F7A}"/>
              </a:ext>
            </a:extLst>
          </p:cNvPr>
          <p:cNvSpPr txBox="1">
            <a:spLocks noChangeArrowheads="1"/>
          </p:cNvSpPr>
          <p:nvPr/>
        </p:nvSpPr>
        <p:spPr bwMode="auto">
          <a:xfrm rot="20571490">
            <a:off x="6019594" y="3874325"/>
            <a:ext cx="844550" cy="2762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200" dirty="0">
                <a:latin typeface="Arial" charset="0"/>
              </a:rPr>
              <a:t>ACK=100</a:t>
            </a:r>
            <a:endParaRPr lang="en-US" sz="1200" dirty="0">
              <a:latin typeface="Times New Roman" charset="0"/>
            </a:endParaRPr>
          </a:p>
        </p:txBody>
      </p:sp>
    </p:spTree>
    <p:extLst>
      <p:ext uri="{BB962C8B-B14F-4D97-AF65-F5344CB8AC3E}">
        <p14:creationId xmlns:p14="http://schemas.microsoft.com/office/powerpoint/2010/main" val="4148578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520673-0FE4-4017-8F96-BB17A78342DC}"/>
              </a:ext>
            </a:extLst>
          </p:cNvPr>
          <p:cNvSpPr/>
          <p:nvPr/>
        </p:nvSpPr>
        <p:spPr>
          <a:xfrm>
            <a:off x="279902" y="1007429"/>
            <a:ext cx="8395911" cy="3330271"/>
          </a:xfrm>
          <a:prstGeom prst="rect">
            <a:avLst/>
          </a:prstGeom>
        </p:spPr>
        <p:txBody>
          <a:bodyPr wrap="square">
            <a:spAutoFit/>
          </a:bodyPr>
          <a:lstStyle/>
          <a:p>
            <a:pPr marL="266700" indent="-266700">
              <a:lnSpc>
                <a:spcPct val="120000"/>
              </a:lnSpc>
              <a:spcBef>
                <a:spcPts val="600"/>
              </a:spcBef>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 TCP</a:t>
            </a:r>
            <a:r>
              <a:rPr lang="zh-CN" altLang="en-US" sz="2800" dirty="0">
                <a:latin typeface="Arial" pitchFamily="34" charset="0"/>
                <a:ea typeface="宋体" pitchFamily="2" charset="-122"/>
              </a:rPr>
              <a:t>选择确认（</a:t>
            </a:r>
            <a:r>
              <a:rPr lang="en-US" altLang="zh-CN" sz="2800" dirty="0">
                <a:latin typeface="Arial" pitchFamily="34" charset="0"/>
                <a:ea typeface="宋体" pitchFamily="2" charset="-122"/>
              </a:rPr>
              <a:t>SACK</a:t>
            </a:r>
            <a:r>
              <a:rPr lang="zh-CN" altLang="en-US" sz="2800" dirty="0">
                <a:latin typeface="Arial" pitchFamily="34" charset="0"/>
                <a:ea typeface="宋体" pitchFamily="2" charset="-122"/>
              </a:rPr>
              <a:t>）</a:t>
            </a:r>
            <a:endParaRPr lang="en-US" altLang="zh-CN" sz="2800" dirty="0">
              <a:latin typeface="Arial" pitchFamily="34" charset="0"/>
              <a:ea typeface="宋体" pitchFamily="2" charset="-122"/>
            </a:endParaRPr>
          </a:p>
          <a:p>
            <a:pPr marL="723900" lvl="2" indent="-266700">
              <a:lnSpc>
                <a:spcPct val="120000"/>
              </a:lnSpc>
              <a:spcBef>
                <a:spcPts val="6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建立连接时，在选项部分通告</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是否支持选择确认</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457200" lvl="2">
              <a:lnSpc>
                <a:spcPct val="120000"/>
              </a:lnSpc>
              <a:spcBef>
                <a:spcPts val="600"/>
              </a:spcBef>
            </a:pP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457200" lvl="2">
              <a:lnSpc>
                <a:spcPct val="120000"/>
              </a:lnSpc>
              <a:spcBef>
                <a:spcPts val="600"/>
              </a:spcBef>
            </a:pP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23900" lvl="2" indent="-266700">
              <a:lnSpc>
                <a:spcPct val="120000"/>
              </a:lnSpc>
              <a:spcBef>
                <a:spcPts val="600"/>
              </a:spcBef>
              <a:buBlip>
                <a:blip r:embed="rId3"/>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确认收到并缓存的</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不连续数据块</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。每个块边界参数包含一个</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字节的序号</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，其中左边界表示不连续块的第一字节的序号，右边界表示不连续块的最后字节的</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下一序号</a:t>
            </a:r>
            <a:endPar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F08A333-F654-45B1-A36F-63852F79C8F5}"/>
              </a:ext>
            </a:extLst>
          </p:cNvPr>
          <p:cNvPicPr>
            <a:picLocks noChangeAspect="1"/>
          </p:cNvPicPr>
          <p:nvPr/>
        </p:nvPicPr>
        <p:blipFill>
          <a:blip r:embed="rId4"/>
          <a:stretch>
            <a:fillRect/>
          </a:stretch>
        </p:blipFill>
        <p:spPr>
          <a:xfrm>
            <a:off x="410815" y="4606727"/>
            <a:ext cx="8323138" cy="472618"/>
          </a:xfrm>
          <a:prstGeom prst="rect">
            <a:avLst/>
          </a:prstGeom>
        </p:spPr>
      </p:pic>
      <p:pic>
        <p:nvPicPr>
          <p:cNvPr id="11" name="图片 10">
            <a:extLst>
              <a:ext uri="{FF2B5EF4-FFF2-40B4-BE49-F238E27FC236}">
                <a16:creationId xmlns:a16="http://schemas.microsoft.com/office/drawing/2014/main" id="{3E811034-0EE7-4D48-851F-D0DAD78A4D53}"/>
              </a:ext>
            </a:extLst>
          </p:cNvPr>
          <p:cNvPicPr>
            <a:picLocks noChangeAspect="1"/>
          </p:cNvPicPr>
          <p:nvPr/>
        </p:nvPicPr>
        <p:blipFill>
          <a:blip r:embed="rId5"/>
          <a:stretch>
            <a:fillRect/>
          </a:stretch>
        </p:blipFill>
        <p:spPr>
          <a:xfrm>
            <a:off x="1145535" y="2261287"/>
            <a:ext cx="3329759" cy="593123"/>
          </a:xfrm>
          <a:prstGeom prst="rect">
            <a:avLst/>
          </a:prstGeom>
        </p:spPr>
      </p:pic>
      <p:sp>
        <p:nvSpPr>
          <p:cNvPr id="12" name="标题 1">
            <a:extLst>
              <a:ext uri="{FF2B5EF4-FFF2-40B4-BE49-F238E27FC236}">
                <a16:creationId xmlns:a16="http://schemas.microsoft.com/office/drawing/2014/main" id="{E8D5B839-64AA-464C-8B7E-3100ABA8E3AB}"/>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sp>
        <p:nvSpPr>
          <p:cNvPr id="6" name="矩形 5">
            <a:extLst>
              <a:ext uri="{FF2B5EF4-FFF2-40B4-BE49-F238E27FC236}">
                <a16:creationId xmlns:a16="http://schemas.microsoft.com/office/drawing/2014/main" id="{6EBB3304-01B3-4D29-A367-48E50E6BDFA9}"/>
              </a:ext>
            </a:extLst>
          </p:cNvPr>
          <p:cNvSpPr/>
          <p:nvPr/>
        </p:nvSpPr>
        <p:spPr>
          <a:xfrm>
            <a:off x="7421297" y="801350"/>
            <a:ext cx="1471878" cy="430887"/>
          </a:xfrm>
          <a:prstGeom prst="rect">
            <a:avLst/>
          </a:prstGeom>
          <a:solidFill>
            <a:schemeClr val="accent3">
              <a:lumMod val="20000"/>
              <a:lumOff val="80000"/>
            </a:schemeClr>
          </a:solidFill>
          <a:ln>
            <a:solidFill>
              <a:srgbClr val="C00000"/>
            </a:solidFill>
          </a:ln>
        </p:spPr>
        <p:txBody>
          <a:bodyPr wrap="none">
            <a:spAutoFit/>
          </a:bodyPr>
          <a:lstStyle/>
          <a:p>
            <a:r>
              <a:rPr lang="en-US" altLang="zh-CN" sz="2200" dirty="0">
                <a:latin typeface="Arial" pitchFamily="34" charset="0"/>
                <a:ea typeface="宋体" pitchFamily="2" charset="-122"/>
              </a:rPr>
              <a:t>RFC 2018</a:t>
            </a:r>
            <a:endParaRPr lang="zh-CN" altLang="en-US" sz="2200" dirty="0">
              <a:latin typeface="Arial" pitchFamily="34" charset="0"/>
              <a:ea typeface="宋体" pitchFamily="2" charset="-122"/>
            </a:endParaRPr>
          </a:p>
        </p:txBody>
      </p:sp>
    </p:spTree>
    <p:extLst>
      <p:ext uri="{BB962C8B-B14F-4D97-AF65-F5344CB8AC3E}">
        <p14:creationId xmlns:p14="http://schemas.microsoft.com/office/powerpoint/2010/main" val="2713400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78770DAB-22D7-416E-9443-27CE3DE8DE54}"/>
              </a:ext>
            </a:extLst>
          </p:cNvPr>
          <p:cNvSpPr txBox="1">
            <a:spLocks noChangeArrowheads="1"/>
          </p:cNvSpPr>
          <p:nvPr/>
        </p:nvSpPr>
        <p:spPr>
          <a:xfrm>
            <a:off x="323850" y="620713"/>
            <a:ext cx="8569325" cy="6345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6700" indent="-266700">
              <a:buClr>
                <a:srgbClr val="C00000"/>
              </a:buClr>
              <a:buSzPct val="90000"/>
              <a:buFont typeface="Wingdings" panose="05000000000000000000" pitchFamily="2" charset="2"/>
              <a:buChar char="n"/>
              <a:defRPr/>
            </a:pP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选择确认示例</a:t>
            </a:r>
            <a:endParaRPr lang="en-US" altLang="zh-CN" sz="2800" dirty="0">
              <a:latin typeface="Arial" pitchFamily="34" charset="0"/>
              <a:ea typeface="宋体" pitchFamily="2" charset="-122"/>
            </a:endParaRPr>
          </a:p>
        </p:txBody>
      </p:sp>
      <p:sp>
        <p:nvSpPr>
          <p:cNvPr id="31" name="标题 1">
            <a:extLst>
              <a:ext uri="{FF2B5EF4-FFF2-40B4-BE49-F238E27FC236}">
                <a16:creationId xmlns:a16="http://schemas.microsoft.com/office/drawing/2014/main" id="{A2A506DA-2355-4C56-8099-C03BF032819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可靠数据传输</a:t>
            </a:r>
          </a:p>
        </p:txBody>
      </p:sp>
      <p:pic>
        <p:nvPicPr>
          <p:cNvPr id="82944" name="图片 82943">
            <a:extLst>
              <a:ext uri="{FF2B5EF4-FFF2-40B4-BE49-F238E27FC236}">
                <a16:creationId xmlns:a16="http://schemas.microsoft.com/office/drawing/2014/main" id="{B077E1C8-50AB-49EB-8530-0F2C0DFB5A97}"/>
              </a:ext>
            </a:extLst>
          </p:cNvPr>
          <p:cNvPicPr>
            <a:picLocks noChangeAspect="1"/>
          </p:cNvPicPr>
          <p:nvPr/>
        </p:nvPicPr>
        <p:blipFill>
          <a:blip r:embed="rId3"/>
          <a:stretch>
            <a:fillRect/>
          </a:stretch>
        </p:blipFill>
        <p:spPr>
          <a:xfrm>
            <a:off x="435124" y="1280485"/>
            <a:ext cx="8346776" cy="3369775"/>
          </a:xfrm>
          <a:prstGeom prst="rect">
            <a:avLst/>
          </a:prstGeom>
          <a:ln>
            <a:solidFill>
              <a:schemeClr val="accent6">
                <a:lumMod val="60000"/>
                <a:lumOff val="40000"/>
              </a:schemeClr>
            </a:solidFill>
          </a:ln>
        </p:spPr>
      </p:pic>
      <p:pic>
        <p:nvPicPr>
          <p:cNvPr id="2" name="图片 1">
            <a:extLst>
              <a:ext uri="{FF2B5EF4-FFF2-40B4-BE49-F238E27FC236}">
                <a16:creationId xmlns:a16="http://schemas.microsoft.com/office/drawing/2014/main" id="{F2286AE9-30C7-4E3D-8F7D-134E591445CF}"/>
              </a:ext>
            </a:extLst>
          </p:cNvPr>
          <p:cNvPicPr>
            <a:picLocks noChangeAspect="1"/>
          </p:cNvPicPr>
          <p:nvPr/>
        </p:nvPicPr>
        <p:blipFill>
          <a:blip r:embed="rId4"/>
          <a:stretch>
            <a:fillRect/>
          </a:stretch>
        </p:blipFill>
        <p:spPr>
          <a:xfrm>
            <a:off x="435124" y="4669084"/>
            <a:ext cx="8352345" cy="1748567"/>
          </a:xfrm>
          <a:prstGeom prst="rect">
            <a:avLst/>
          </a:prstGeom>
        </p:spPr>
      </p:pic>
    </p:spTree>
    <p:extLst>
      <p:ext uri="{BB962C8B-B14F-4D97-AF65-F5344CB8AC3E}">
        <p14:creationId xmlns:p14="http://schemas.microsoft.com/office/powerpoint/2010/main" val="41758367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520673-0FE4-4017-8F96-BB17A78342DC}"/>
              </a:ext>
            </a:extLst>
          </p:cNvPr>
          <p:cNvSpPr/>
          <p:nvPr/>
        </p:nvSpPr>
        <p:spPr>
          <a:xfrm>
            <a:off x="292094" y="897922"/>
            <a:ext cx="8395911" cy="5062155"/>
          </a:xfrm>
          <a:prstGeom prst="rect">
            <a:avLst/>
          </a:prstGeom>
        </p:spPr>
        <p:txBody>
          <a:bodyPr wrap="square">
            <a:spAutoFit/>
          </a:bodyPr>
          <a:lstStyle/>
          <a:p>
            <a:pPr marL="266700" indent="-266700">
              <a:buClr>
                <a:srgbClr val="C00000"/>
              </a:buClr>
              <a:buSzPct val="90000"/>
              <a:buFont typeface="Wingdings" panose="05000000000000000000" pitchFamily="2" charset="2"/>
              <a:buChar char="n"/>
              <a:defRPr/>
            </a:pPr>
            <a:r>
              <a:rPr lang="en-US" altLang="zh-CN" sz="2400" dirty="0">
                <a:latin typeface="Arial" pitchFamily="34" charset="0"/>
                <a:ea typeface="宋体" pitchFamily="2" charset="-122"/>
              </a:rPr>
              <a:t> </a:t>
            </a: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流量控制</a:t>
            </a:r>
            <a:endParaRPr lang="en-US" altLang="zh-CN" sz="2400" dirty="0">
              <a:latin typeface="Arial" pitchFamily="34" charset="0"/>
              <a:ea typeface="宋体" pitchFamily="2" charset="-122"/>
            </a:endParaRPr>
          </a:p>
          <a:p>
            <a:pPr marL="723900" lvl="2" indent="-266700">
              <a:lnSpc>
                <a:spcPts val="3500"/>
              </a:lnSpc>
              <a:spcBef>
                <a:spcPts val="1200"/>
              </a:spcBef>
              <a:buBlip>
                <a:blip r:embed="rId3"/>
              </a:buBlip>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回顾</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流水线机制中，发送端可发出未确认的字节数受发送缓存大小的约束</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7425" lvl="3" indent="-180975">
              <a:spcBef>
                <a:spcPts val="1200"/>
              </a:spcBef>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这部分数据需要由发送端缓存，以备重传</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23900" lvl="2" indent="-266700">
              <a:lnSpc>
                <a:spcPts val="3500"/>
              </a:lnSpc>
              <a:spcBef>
                <a:spcPts val="1200"/>
              </a:spcBef>
              <a:buBlip>
                <a:blip r:embed="rId3"/>
              </a:buBlip>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流量控制目标</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：避免发送端发送数据过快，接收端不能及时处理，造成接收缓存溢出</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987425" lvl="3" indent="-180975">
              <a:spcBef>
                <a:spcPts val="1200"/>
              </a:spcBef>
              <a:buFont typeface="Times New Roman" panose="02020603050405020304" pitchFamily="18"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增加流量控制功能之后，发送窗口还受接收能力的约束</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23900" lvl="2" indent="-266700">
              <a:lnSpc>
                <a:spcPts val="3500"/>
              </a:lnSpc>
              <a:spcBef>
                <a:spcPts val="1200"/>
              </a:spcBef>
              <a:buBlip>
                <a:blip r:embed="rId3"/>
              </a:buBlip>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可变的滑动窗口</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：接收端利用“</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接收窗口通告</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”字段向发送端告知接收端缓存的剩余空间，发送端按照该通告调整</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发送窗口</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大小</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标题 1">
            <a:extLst>
              <a:ext uri="{FF2B5EF4-FFF2-40B4-BE49-F238E27FC236}">
                <a16:creationId xmlns:a16="http://schemas.microsoft.com/office/drawing/2014/main" id="{E8D5B839-64AA-464C-8B7E-3100ABA8E3AB}"/>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p:spTree>
    <p:extLst>
      <p:ext uri="{BB962C8B-B14F-4D97-AF65-F5344CB8AC3E}">
        <p14:creationId xmlns:p14="http://schemas.microsoft.com/office/powerpoint/2010/main" val="35413628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520673-0FE4-4017-8F96-BB17A78342DC}"/>
              </a:ext>
            </a:extLst>
          </p:cNvPr>
          <p:cNvSpPr/>
          <p:nvPr/>
        </p:nvSpPr>
        <p:spPr>
          <a:xfrm>
            <a:off x="292094" y="763589"/>
            <a:ext cx="8395911" cy="523220"/>
          </a:xfrm>
          <a:prstGeom prst="rect">
            <a:avLst/>
          </a:prstGeom>
        </p:spPr>
        <p:txBody>
          <a:bodyPr wrap="square">
            <a:spAutoFit/>
          </a:bodyPr>
          <a:lstStyle/>
          <a:p>
            <a:pPr marL="266700" indent="-266700">
              <a:buClr>
                <a:srgbClr val="C00000"/>
              </a:buClr>
              <a:buSzPct val="90000"/>
              <a:buFont typeface="Wingdings" panose="05000000000000000000" pitchFamily="2" charset="2"/>
              <a:buChar char="n"/>
              <a:defRPr/>
            </a:pPr>
            <a:r>
              <a:rPr lang="en-US" altLang="zh-CN" sz="2400" dirty="0">
                <a:latin typeface="Arial" pitchFamily="34" charset="0"/>
                <a:ea typeface="宋体" pitchFamily="2" charset="-122"/>
              </a:rPr>
              <a:t> </a:t>
            </a: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流量控制：滑动窗口</a:t>
            </a:r>
            <a:endParaRPr lang="en-US" altLang="zh-CN" sz="2400" dirty="0">
              <a:latin typeface="Arial" pitchFamily="34" charset="0"/>
              <a:ea typeface="宋体" pitchFamily="2" charset="-122"/>
            </a:endParaRPr>
          </a:p>
        </p:txBody>
      </p:sp>
      <p:sp>
        <p:nvSpPr>
          <p:cNvPr id="12" name="标题 1">
            <a:extLst>
              <a:ext uri="{FF2B5EF4-FFF2-40B4-BE49-F238E27FC236}">
                <a16:creationId xmlns:a16="http://schemas.microsoft.com/office/drawing/2014/main" id="{E8D5B839-64AA-464C-8B7E-3100ABA8E3AB}"/>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846B421E-D77A-4B1B-B3CC-ABB08A4F2FED}"/>
                  </a:ext>
                </a:extLst>
              </p:cNvPr>
              <p:cNvSpPr txBox="1">
                <a:spLocks noChangeArrowheads="1"/>
              </p:cNvSpPr>
              <p:nvPr/>
            </p:nvSpPr>
            <p:spPr>
              <a:xfrm>
                <a:off x="476922" y="3729821"/>
                <a:ext cx="3886391" cy="21750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000"/>
                  </a:lnSpc>
                  <a:spcBef>
                    <a:spcPts val="0"/>
                  </a:spcBef>
                  <a:buClr>
                    <a:srgbClr val="C00000"/>
                  </a:buClr>
                  <a:buNone/>
                </a:pPr>
                <a:r>
                  <a:rPr lang="zh-CN" altLang="en-US"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发送端</a:t>
                </a:r>
                <a:endParaRPr lang="en-US" altLang="zh-CN"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marL="269875" lvl="1" indent="-269875">
                  <a:lnSpc>
                    <a:spcPts val="3000"/>
                  </a:lnSpc>
                  <a:spcBef>
                    <a:spcPts val="0"/>
                  </a:spcBef>
                  <a:buFont typeface="Arial" panose="020B0604020202020204" pitchFamily="34" charset="0"/>
                  <a:buBlip>
                    <a:blip r:embed="rId3"/>
                  </a:buBlip>
                </a:pPr>
                <a:r>
                  <a:rPr lang="en-US" altLang="zh-CN" sz="1800" dirty="0" err="1">
                    <a:solidFill>
                      <a:srgbClr val="000099"/>
                    </a:solidFill>
                    <a:latin typeface="Times New Roman" panose="02020603050405020304" pitchFamily="18" charset="0"/>
                    <a:cs typeface="Times New Roman" panose="02020603050405020304" pitchFamily="18" charset="0"/>
                  </a:rPr>
                  <a:t>LastByteAcked</a:t>
                </a:r>
                <a:r>
                  <a:rPr lang="en-US" altLang="zh-CN" sz="1800" dirty="0">
                    <a:solidFill>
                      <a:srgbClr val="000099"/>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dirty="0" smtClean="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800" dirty="0">
                    <a:solidFill>
                      <a:srgbClr val="000099"/>
                    </a:solidFill>
                    <a:latin typeface="Times New Roman" panose="02020603050405020304" pitchFamily="18" charset="0"/>
                    <a:cs typeface="Times New Roman" panose="02020603050405020304" pitchFamily="18" charset="0"/>
                  </a:rPr>
                  <a:t> </a:t>
                </a:r>
                <a:r>
                  <a:rPr lang="en-US" altLang="zh-CN" sz="1800" dirty="0" err="1">
                    <a:solidFill>
                      <a:srgbClr val="000099"/>
                    </a:solidFill>
                    <a:latin typeface="Times New Roman" panose="02020603050405020304" pitchFamily="18" charset="0"/>
                    <a:cs typeface="Times New Roman" panose="02020603050405020304" pitchFamily="18" charset="0"/>
                  </a:rPr>
                  <a:t>LastByteSent</a:t>
                </a:r>
                <a:endParaRPr lang="en-US" altLang="zh-CN" sz="1800" dirty="0">
                  <a:solidFill>
                    <a:srgbClr val="000099"/>
                  </a:solidFill>
                  <a:latin typeface="Times New Roman" panose="02020603050405020304" pitchFamily="18" charset="0"/>
                  <a:cs typeface="Times New Roman" panose="02020603050405020304" pitchFamily="18" charset="0"/>
                </a:endParaRPr>
              </a:p>
              <a:p>
                <a:pPr marL="269875" lvl="1" indent="-269875">
                  <a:lnSpc>
                    <a:spcPts val="3000"/>
                  </a:lnSpc>
                  <a:spcBef>
                    <a:spcPts val="0"/>
                  </a:spcBef>
                  <a:buBlip>
                    <a:blip r:embed="rId3"/>
                  </a:buBlip>
                </a:pPr>
                <a:r>
                  <a:rPr lang="en-US" altLang="zh-CN" sz="1800" dirty="0" err="1">
                    <a:solidFill>
                      <a:srgbClr val="000099"/>
                    </a:solidFill>
                    <a:latin typeface="Times New Roman" panose="02020603050405020304" pitchFamily="18" charset="0"/>
                    <a:cs typeface="Times New Roman" panose="02020603050405020304" pitchFamily="18" charset="0"/>
                  </a:rPr>
                  <a:t>LastByteSent</a:t>
                </a:r>
                <a:r>
                  <a:rPr lang="en-US" altLang="zh-CN" sz="1800" dirty="0">
                    <a:solidFill>
                      <a:srgbClr val="000099"/>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dirty="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1800" dirty="0" err="1">
                    <a:solidFill>
                      <a:srgbClr val="000099"/>
                    </a:solidFill>
                    <a:latin typeface="Times New Roman" panose="02020603050405020304" pitchFamily="18" charset="0"/>
                    <a:cs typeface="Times New Roman" panose="02020603050405020304" pitchFamily="18" charset="0"/>
                  </a:rPr>
                  <a:t>LastByteWritten</a:t>
                </a:r>
                <a:endParaRPr lang="en-US" altLang="zh-CN" sz="1800" dirty="0">
                  <a:solidFill>
                    <a:srgbClr val="000099"/>
                  </a:solidFill>
                  <a:latin typeface="Times New Roman" panose="02020603050405020304" pitchFamily="18" charset="0"/>
                  <a:cs typeface="Times New Roman" panose="02020603050405020304" pitchFamily="18" charset="0"/>
                </a:endParaRPr>
              </a:p>
              <a:p>
                <a:pPr marL="269875" lvl="1" indent="-269875">
                  <a:lnSpc>
                    <a:spcPts val="3000"/>
                  </a:lnSpc>
                  <a:spcBef>
                    <a:spcPts val="0"/>
                  </a:spcBef>
                  <a:buBlip>
                    <a:blip r:embed="rId3"/>
                  </a:buBlip>
                </a:pPr>
                <a:r>
                  <a:rPr lang="zh-CN" altLang="en-US" sz="1800" dirty="0">
                    <a:latin typeface="Times New Roman" panose="02020603050405020304" pitchFamily="18" charset="0"/>
                    <a:cs typeface="Times New Roman" panose="02020603050405020304" pitchFamily="18" charset="0"/>
                  </a:rPr>
                  <a:t>缓存的数据</a:t>
                </a:r>
                <a:endParaRPr lang="en-US" altLang="zh-CN" sz="1800" dirty="0">
                  <a:latin typeface="Times New Roman" panose="02020603050405020304" pitchFamily="18" charset="0"/>
                  <a:cs typeface="Times New Roman" panose="02020603050405020304" pitchFamily="18" charset="0"/>
                </a:endParaRPr>
              </a:p>
              <a:p>
                <a:pPr marL="0" lvl="1" indent="0">
                  <a:lnSpc>
                    <a:spcPts val="3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en-US" altLang="zh-CN" sz="1800" dirty="0" err="1">
                    <a:solidFill>
                      <a:srgbClr val="000099"/>
                    </a:solidFill>
                    <a:latin typeface="Times New Roman" panose="02020603050405020304" pitchFamily="18" charset="0"/>
                    <a:cs typeface="Times New Roman" panose="02020603050405020304" pitchFamily="18" charset="0"/>
                  </a:rPr>
                  <a:t>LastByteWritten</a:t>
                </a:r>
                <a14:m>
                  <m:oMath xmlns:m="http://schemas.openxmlformats.org/officeDocument/2006/math">
                    <m:r>
                      <a:rPr lang="en-US" altLang="zh-CN" sz="1800" b="0" i="0" dirty="0" smtClean="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800" i="1" dirty="0" err="1">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800" dirty="0">
                    <a:solidFill>
                      <a:srgbClr val="000099"/>
                    </a:solidFill>
                    <a:latin typeface="Times New Roman" panose="02020603050405020304" pitchFamily="18" charset="0"/>
                    <a:cs typeface="Times New Roman" panose="02020603050405020304" pitchFamily="18" charset="0"/>
                  </a:rPr>
                  <a:t> </a:t>
                </a:r>
                <a:r>
                  <a:rPr lang="en-US" altLang="zh-CN" sz="1800" dirty="0" err="1">
                    <a:solidFill>
                      <a:srgbClr val="000099"/>
                    </a:solidFill>
                    <a:latin typeface="Times New Roman" panose="02020603050405020304" pitchFamily="18" charset="0"/>
                    <a:cs typeface="Times New Roman" panose="02020603050405020304" pitchFamily="18" charset="0"/>
                  </a:rPr>
                  <a:t>LastByteAcked</a:t>
                </a:r>
                <a:endParaRPr lang="en-US" altLang="zh-CN" sz="1800" dirty="0">
                  <a:solidFill>
                    <a:srgbClr val="000099"/>
                  </a:solidFill>
                  <a:latin typeface="Times New Roman" panose="02020603050405020304" pitchFamily="18" charset="0"/>
                  <a:cs typeface="Times New Roman" panose="02020603050405020304" pitchFamily="18" charset="0"/>
                </a:endParaRPr>
              </a:p>
            </p:txBody>
          </p:sp>
        </mc:Choice>
        <mc:Fallback xmlns="">
          <p:sp>
            <p:nvSpPr>
              <p:cNvPr id="10" name="Rectangle 3">
                <a:extLst>
                  <a:ext uri="{FF2B5EF4-FFF2-40B4-BE49-F238E27FC236}">
                    <a16:creationId xmlns:a16="http://schemas.microsoft.com/office/drawing/2014/main" id="{846B421E-D77A-4B1B-B3CC-ABB08A4F2FED}"/>
                  </a:ext>
                </a:extLst>
              </p:cNvPr>
              <p:cNvSpPr txBox="1">
                <a:spLocks noRot="1" noChangeAspect="1" noMove="1" noResize="1" noEditPoints="1" noAdjustHandles="1" noChangeArrowheads="1" noChangeShapeType="1" noTextEdit="1"/>
              </p:cNvSpPr>
              <p:nvPr/>
            </p:nvSpPr>
            <p:spPr>
              <a:xfrm>
                <a:off x="476922" y="3729821"/>
                <a:ext cx="3886391" cy="2175082"/>
              </a:xfrm>
              <a:prstGeom prst="rect">
                <a:avLst/>
              </a:prstGeom>
              <a:blipFill>
                <a:blip r:embed="rId4"/>
                <a:stretch>
                  <a:fillRect l="-2038" t="-2241" r="-627"/>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AAAF305C-D658-46B5-A199-EB7F9A166491}"/>
              </a:ext>
            </a:extLst>
          </p:cNvPr>
          <p:cNvPicPr>
            <a:picLocks noChangeAspect="1"/>
          </p:cNvPicPr>
          <p:nvPr/>
        </p:nvPicPr>
        <p:blipFill>
          <a:blip r:embed="rId5"/>
          <a:stretch>
            <a:fillRect/>
          </a:stretch>
        </p:blipFill>
        <p:spPr>
          <a:xfrm>
            <a:off x="622197" y="1592747"/>
            <a:ext cx="3595842" cy="1874303"/>
          </a:xfrm>
          <a:prstGeom prst="rect">
            <a:avLst/>
          </a:prstGeom>
        </p:spPr>
      </p:pic>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589B4FA0-1B6F-48DE-8CA8-0A4E2DEA3A1B}"/>
                  </a:ext>
                </a:extLst>
              </p:cNvPr>
              <p:cNvSpPr txBox="1">
                <a:spLocks noChangeArrowheads="1"/>
              </p:cNvSpPr>
              <p:nvPr/>
            </p:nvSpPr>
            <p:spPr>
              <a:xfrm>
                <a:off x="4363313" y="3724661"/>
                <a:ext cx="4537587" cy="21415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000"/>
                  </a:lnSpc>
                  <a:spcBef>
                    <a:spcPts val="0"/>
                  </a:spcBef>
                  <a:buClr>
                    <a:srgbClr val="C00000"/>
                  </a:buClr>
                  <a:buNone/>
                </a:pPr>
                <a:r>
                  <a:rPr lang="zh-CN" altLang="en-US"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接收端</a:t>
                </a:r>
                <a:endParaRPr lang="en-US" altLang="zh-CN"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marL="269875" lvl="1" indent="-269875">
                  <a:lnSpc>
                    <a:spcPts val="3000"/>
                  </a:lnSpc>
                  <a:spcBef>
                    <a:spcPts val="0"/>
                  </a:spcBef>
                  <a:buBlip>
                    <a:blip r:embed="rId3"/>
                  </a:buBlip>
                </a:pPr>
                <a:r>
                  <a:rPr lang="en-US" altLang="zh-CN" sz="1800" dirty="0" err="1">
                    <a:solidFill>
                      <a:srgbClr val="000099"/>
                    </a:solidFill>
                    <a:latin typeface="Times New Roman" panose="02020603050405020304" pitchFamily="18" charset="0"/>
                    <a:cs typeface="Times New Roman" panose="02020603050405020304" pitchFamily="18" charset="0"/>
                  </a:rPr>
                  <a:t>LastByteRead</a:t>
                </a:r>
                <a:r>
                  <a:rPr lang="en-US" altLang="zh-CN" sz="1800" dirty="0">
                    <a:solidFill>
                      <a:srgbClr val="000099"/>
                    </a:solidFill>
                    <a:latin typeface="Times New Roman" panose="02020603050405020304" pitchFamily="18" charset="0"/>
                    <a:cs typeface="Times New Roman" panose="02020603050405020304" pitchFamily="18" charset="0"/>
                  </a:rPr>
                  <a:t> &lt; </a:t>
                </a:r>
                <a:r>
                  <a:rPr lang="en-US" altLang="zh-CN" sz="1800" dirty="0" err="1">
                    <a:solidFill>
                      <a:srgbClr val="000099"/>
                    </a:solidFill>
                    <a:latin typeface="Times New Roman" panose="02020603050405020304" pitchFamily="18" charset="0"/>
                    <a:cs typeface="Times New Roman" panose="02020603050405020304" pitchFamily="18" charset="0"/>
                  </a:rPr>
                  <a:t>NextByteExpected</a:t>
                </a:r>
                <a:endParaRPr lang="en-US" altLang="zh-CN" sz="1800" dirty="0">
                  <a:solidFill>
                    <a:srgbClr val="000099"/>
                  </a:solidFill>
                  <a:latin typeface="Times New Roman" panose="02020603050405020304" pitchFamily="18" charset="0"/>
                  <a:cs typeface="Times New Roman" panose="02020603050405020304" pitchFamily="18" charset="0"/>
                </a:endParaRPr>
              </a:p>
              <a:p>
                <a:pPr marL="269875" lvl="1" indent="-269875">
                  <a:lnSpc>
                    <a:spcPts val="3000"/>
                  </a:lnSpc>
                  <a:spcBef>
                    <a:spcPts val="0"/>
                  </a:spcBef>
                  <a:buBlip>
                    <a:blip r:embed="rId3"/>
                  </a:buBlip>
                </a:pPr>
                <a:r>
                  <a:rPr lang="en-US" altLang="zh-CN" sz="1800" dirty="0" err="1">
                    <a:solidFill>
                      <a:srgbClr val="000099"/>
                    </a:solidFill>
                    <a:latin typeface="Times New Roman" panose="02020603050405020304" pitchFamily="18" charset="0"/>
                    <a:cs typeface="Times New Roman" panose="02020603050405020304" pitchFamily="18" charset="0"/>
                  </a:rPr>
                  <a:t>NextByteExpected</a:t>
                </a:r>
                <a:r>
                  <a:rPr lang="en-US" altLang="zh-CN" sz="1800" dirty="0">
                    <a:solidFill>
                      <a:srgbClr val="000099"/>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dirty="0" smtClean="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800" dirty="0">
                    <a:solidFill>
                      <a:srgbClr val="000099"/>
                    </a:solidFill>
                    <a:latin typeface="Times New Roman" panose="02020603050405020304" pitchFamily="18" charset="0"/>
                    <a:cs typeface="Times New Roman" panose="02020603050405020304" pitchFamily="18" charset="0"/>
                  </a:rPr>
                  <a:t> LastByteRcvd</a:t>
                </a:r>
              </a:p>
              <a:p>
                <a:pPr marL="269875" lvl="1" indent="-269875">
                  <a:lnSpc>
                    <a:spcPts val="3000"/>
                  </a:lnSpc>
                  <a:spcBef>
                    <a:spcPts val="0"/>
                  </a:spcBef>
                  <a:buBlip>
                    <a:blip r:embed="rId3"/>
                  </a:buBlip>
                </a:pPr>
                <a:r>
                  <a:rPr lang="zh-CN" altLang="en-US" sz="1800" dirty="0">
                    <a:latin typeface="Times New Roman" panose="02020603050405020304" pitchFamily="18" charset="0"/>
                    <a:cs typeface="Times New Roman" panose="02020603050405020304" pitchFamily="18" charset="0"/>
                  </a:rPr>
                  <a:t>缓存的数据</a:t>
                </a:r>
                <a:endParaRPr lang="en-US" altLang="zh-CN" sz="1800" dirty="0">
                  <a:latin typeface="Times New Roman" panose="02020603050405020304" pitchFamily="18" charset="0"/>
                  <a:cs typeface="Times New Roman" panose="02020603050405020304" pitchFamily="18" charset="0"/>
                </a:endParaRPr>
              </a:p>
              <a:p>
                <a:pPr marL="0" lvl="1" indent="0">
                  <a:lnSpc>
                    <a:spcPts val="3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en-US" altLang="zh-CN" sz="1800" dirty="0" err="1">
                    <a:solidFill>
                      <a:srgbClr val="000099"/>
                    </a:solidFill>
                    <a:latin typeface="Times New Roman" panose="02020603050405020304" pitchFamily="18" charset="0"/>
                    <a:cs typeface="Times New Roman" panose="02020603050405020304" pitchFamily="18" charset="0"/>
                  </a:rPr>
                  <a:t>LastByteRcvd</a:t>
                </a:r>
                <a14:m>
                  <m:oMath xmlns:m="http://schemas.openxmlformats.org/officeDocument/2006/math">
                    <m:r>
                      <a:rPr lang="en-US" altLang="zh-CN" sz="1800" b="0" i="0" dirty="0" smtClean="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800" i="1" dirty="0" err="1">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800" dirty="0">
                    <a:solidFill>
                      <a:srgbClr val="000099"/>
                    </a:solidFill>
                    <a:latin typeface="Times New Roman" panose="02020603050405020304" pitchFamily="18" charset="0"/>
                    <a:cs typeface="Times New Roman" panose="02020603050405020304" pitchFamily="18" charset="0"/>
                  </a:rPr>
                  <a:t> LastByteRead</a:t>
                </a:r>
              </a:p>
            </p:txBody>
          </p:sp>
        </mc:Choice>
        <mc:Fallback xmlns="">
          <p:sp>
            <p:nvSpPr>
              <p:cNvPr id="15" name="Rectangle 3">
                <a:extLst>
                  <a:ext uri="{FF2B5EF4-FFF2-40B4-BE49-F238E27FC236}">
                    <a16:creationId xmlns:a16="http://schemas.microsoft.com/office/drawing/2014/main" id="{589B4FA0-1B6F-48DE-8CA8-0A4E2DEA3A1B}"/>
                  </a:ext>
                </a:extLst>
              </p:cNvPr>
              <p:cNvSpPr txBox="1">
                <a:spLocks noRot="1" noChangeAspect="1" noMove="1" noResize="1" noEditPoints="1" noAdjustHandles="1" noChangeArrowheads="1" noChangeShapeType="1" noTextEdit="1"/>
              </p:cNvSpPr>
              <p:nvPr/>
            </p:nvSpPr>
            <p:spPr>
              <a:xfrm>
                <a:off x="4363313" y="3724661"/>
                <a:ext cx="4537587" cy="2141560"/>
              </a:xfrm>
              <a:prstGeom prst="rect">
                <a:avLst/>
              </a:prstGeom>
              <a:blipFill>
                <a:blip r:embed="rId6"/>
                <a:stretch>
                  <a:fillRect l="-1747" t="-2279"/>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C87BC21-A3E6-4B97-8D20-CA68E21BD7FD}"/>
              </a:ext>
            </a:extLst>
          </p:cNvPr>
          <p:cNvPicPr>
            <a:picLocks noChangeAspect="1"/>
          </p:cNvPicPr>
          <p:nvPr/>
        </p:nvPicPr>
        <p:blipFill>
          <a:blip r:embed="rId7"/>
          <a:stretch>
            <a:fillRect/>
          </a:stretch>
        </p:blipFill>
        <p:spPr>
          <a:xfrm>
            <a:off x="4540078" y="1592403"/>
            <a:ext cx="4055096" cy="1874303"/>
          </a:xfrm>
          <a:prstGeom prst="rect">
            <a:avLst/>
          </a:prstGeom>
        </p:spPr>
      </p:pic>
    </p:spTree>
    <p:extLst>
      <p:ext uri="{BB962C8B-B14F-4D97-AF65-F5344CB8AC3E}">
        <p14:creationId xmlns:p14="http://schemas.microsoft.com/office/powerpoint/2010/main" val="21432066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5520673-0FE4-4017-8F96-BB17A78342DC}"/>
              </a:ext>
            </a:extLst>
          </p:cNvPr>
          <p:cNvSpPr/>
          <p:nvPr/>
        </p:nvSpPr>
        <p:spPr>
          <a:xfrm>
            <a:off x="292094" y="763589"/>
            <a:ext cx="8395911" cy="523220"/>
          </a:xfrm>
          <a:prstGeom prst="rect">
            <a:avLst/>
          </a:prstGeom>
        </p:spPr>
        <p:txBody>
          <a:bodyPr wrap="square">
            <a:spAutoFit/>
          </a:bodyPr>
          <a:lstStyle/>
          <a:p>
            <a:pPr marL="266700" indent="-266700">
              <a:buClr>
                <a:srgbClr val="C00000"/>
              </a:buClr>
              <a:buSzPct val="90000"/>
              <a:buFont typeface="Wingdings" panose="05000000000000000000" pitchFamily="2" charset="2"/>
              <a:buChar char="n"/>
              <a:defRPr/>
            </a:pPr>
            <a:r>
              <a:rPr lang="en-US" altLang="zh-CN" sz="2400" dirty="0">
                <a:latin typeface="Arial" pitchFamily="34" charset="0"/>
                <a:ea typeface="宋体" pitchFamily="2" charset="-122"/>
              </a:rPr>
              <a:t> </a:t>
            </a:r>
            <a:r>
              <a:rPr lang="en-US" altLang="zh-CN" sz="2800" dirty="0">
                <a:latin typeface="Arial" pitchFamily="34" charset="0"/>
                <a:ea typeface="宋体" pitchFamily="2" charset="-122"/>
              </a:rPr>
              <a:t>TCP</a:t>
            </a:r>
            <a:r>
              <a:rPr lang="zh-CN" altLang="en-US" sz="2800" dirty="0">
                <a:latin typeface="Arial" pitchFamily="34" charset="0"/>
                <a:ea typeface="宋体" pitchFamily="2" charset="-122"/>
              </a:rPr>
              <a:t>流量控制：约束</a:t>
            </a:r>
            <a:endParaRPr lang="en-US" altLang="zh-CN" sz="2400" dirty="0">
              <a:latin typeface="Arial" pitchFamily="34" charset="0"/>
              <a:ea typeface="宋体" pitchFamily="2" charset="-122"/>
            </a:endParaRPr>
          </a:p>
        </p:txBody>
      </p:sp>
      <p:sp>
        <p:nvSpPr>
          <p:cNvPr id="12" name="标题 1">
            <a:extLst>
              <a:ext uri="{FF2B5EF4-FFF2-40B4-BE49-F238E27FC236}">
                <a16:creationId xmlns:a16="http://schemas.microsoft.com/office/drawing/2014/main" id="{E8D5B839-64AA-464C-8B7E-3100ABA8E3AB}"/>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en-US" altLang="zh-CN" sz="4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194488A8-6CC7-49AA-9B30-56B8E595DFA1}"/>
                  </a:ext>
                </a:extLst>
              </p:cNvPr>
              <p:cNvSpPr txBox="1">
                <a:spLocks noChangeArrowheads="1"/>
              </p:cNvSpPr>
              <p:nvPr/>
            </p:nvSpPr>
            <p:spPr>
              <a:xfrm>
                <a:off x="5917360" y="634389"/>
                <a:ext cx="3116912" cy="96944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eaLnBrk="0" hangingPunct="0">
                  <a:lnSpc>
                    <a:spcPct val="100000"/>
                  </a:lnSpc>
                  <a:spcBef>
                    <a:spcPts val="600"/>
                  </a:spcBef>
                  <a:buNone/>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发送缓存大小</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000099"/>
                    </a:solidFill>
                    <a:latin typeface="Times New Roman" panose="02020603050405020304" pitchFamily="18" charset="0"/>
                    <a:ea typeface="宋体" pitchFamily="2" charset="-122"/>
                    <a:cs typeface="Times New Roman" panose="02020603050405020304" pitchFamily="18" charset="0"/>
                  </a:rPr>
                  <a:t>MaxSendBuffer</a:t>
                </a:r>
                <a:endParaRPr lang="en-US" altLang="zh-CN" sz="1600" dirty="0">
                  <a:solidFill>
                    <a:srgbClr val="000099"/>
                  </a:solidFill>
                  <a:latin typeface="Times New Roman" panose="02020603050405020304" pitchFamily="18" charset="0"/>
                  <a:ea typeface="宋体" pitchFamily="2" charset="-122"/>
                  <a:cs typeface="Times New Roman" panose="02020603050405020304" pitchFamily="18" charset="0"/>
                </a:endParaRPr>
              </a:p>
              <a:p>
                <a:pPr marL="269875" lvl="1" indent="-269875" eaLnBrk="0" hangingPunct="0">
                  <a:lnSpc>
                    <a:spcPct val="100000"/>
                  </a:lnSpc>
                  <a:spcBef>
                    <a:spcPts val="600"/>
                  </a:spcBef>
                  <a:buNone/>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接收缓存大小</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000099"/>
                    </a:solidFill>
                    <a:latin typeface="Times New Roman" panose="02020603050405020304" pitchFamily="18" charset="0"/>
                    <a:ea typeface="宋体" pitchFamily="2" charset="-122"/>
                    <a:cs typeface="Times New Roman" panose="02020603050405020304" pitchFamily="18" charset="0"/>
                  </a:rPr>
                  <a:t>MaxRcvBuffer</a:t>
                </a:r>
                <a:endParaRPr lang="en-US" altLang="zh-CN" sz="1600" dirty="0">
                  <a:solidFill>
                    <a:srgbClr val="000099"/>
                  </a:solidFill>
                  <a:latin typeface="Times New Roman" panose="02020603050405020304" pitchFamily="18" charset="0"/>
                  <a:ea typeface="宋体" pitchFamily="2" charset="-122"/>
                  <a:cs typeface="Times New Roman" panose="02020603050405020304" pitchFamily="18" charset="0"/>
                </a:endParaRPr>
              </a:p>
              <a:p>
                <a:pPr marL="269875" lvl="1" indent="-269875" eaLnBrk="0" hangingPunct="0">
                  <a:lnSpc>
                    <a:spcPct val="100000"/>
                  </a:lnSpc>
                  <a:spcBef>
                    <a:spcPts val="600"/>
                  </a:spcBef>
                  <a:buNone/>
                </a:pPr>
                <a14:m>
                  <m:oMath xmlns:m="http://schemas.openxmlformats.org/officeDocument/2006/math">
                    <m:r>
                      <m:rPr>
                        <m:nor/>
                      </m:rPr>
                      <a:rPr lang="zh-CN" altLang="en-US" sz="1600" dirty="0">
                        <a:latin typeface="Times New Roman" panose="02020603050405020304" pitchFamily="18" charset="0"/>
                        <a:ea typeface="宋体" panose="02010600030101010101" pitchFamily="2" charset="-122"/>
                        <a:cs typeface="Times New Roman" panose="02020603050405020304" pitchFamily="18" charset="0"/>
                      </a:rPr>
                      <m:t>接收窗口通告</m:t>
                    </m:r>
                    <m:r>
                      <m:rPr>
                        <m:nor/>
                      </m:rPr>
                      <a:rPr lang="en-US" altLang="zh-CN" sz="1600" b="0" i="0" dirty="0" smtClean="0">
                        <a:latin typeface="Times New Roman" panose="02020603050405020304" pitchFamily="18" charset="0"/>
                        <a:ea typeface="宋体" panose="02010600030101010101" pitchFamily="2" charset="-122"/>
                        <a:cs typeface="Times New Roman" panose="02020603050405020304" pitchFamily="18" charset="0"/>
                      </a:rPr>
                      <m:t>: </m:t>
                    </m:r>
                  </m:oMath>
                </a14:m>
                <a:r>
                  <a:rPr lang="en-US" altLang="zh-CN" sz="1600" dirty="0">
                    <a:solidFill>
                      <a:srgbClr val="000099"/>
                    </a:solidFill>
                    <a:latin typeface="Times New Roman" panose="02020603050405020304" pitchFamily="18" charset="0"/>
                    <a:ea typeface="宋体" pitchFamily="2" charset="-122"/>
                    <a:cs typeface="Times New Roman" panose="02020603050405020304" pitchFamily="18" charset="0"/>
                  </a:rPr>
                  <a:t>AdvertisedWindow</a:t>
                </a:r>
              </a:p>
            </p:txBody>
          </p:sp>
        </mc:Choice>
        <mc:Fallback xmlns="">
          <p:sp>
            <p:nvSpPr>
              <p:cNvPr id="9" name="Rectangle 3">
                <a:extLst>
                  <a:ext uri="{FF2B5EF4-FFF2-40B4-BE49-F238E27FC236}">
                    <a16:creationId xmlns:a16="http://schemas.microsoft.com/office/drawing/2014/main" id="{194488A8-6CC7-49AA-9B30-56B8E595DFA1}"/>
                  </a:ext>
                </a:extLst>
              </p:cNvPr>
              <p:cNvSpPr txBox="1">
                <a:spLocks noRot="1" noChangeAspect="1" noMove="1" noResize="1" noEditPoints="1" noAdjustHandles="1" noChangeArrowheads="1" noChangeShapeType="1" noTextEdit="1"/>
              </p:cNvSpPr>
              <p:nvPr/>
            </p:nvSpPr>
            <p:spPr>
              <a:xfrm>
                <a:off x="5917360" y="634389"/>
                <a:ext cx="3116912" cy="969448"/>
              </a:xfrm>
              <a:prstGeom prst="rect">
                <a:avLst/>
              </a:prstGeom>
              <a:blipFill>
                <a:blip r:embed="rId3"/>
                <a:stretch>
                  <a:fillRect l="-1174" t="-2516" b="-88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3">
                <a:extLst>
                  <a:ext uri="{FF2B5EF4-FFF2-40B4-BE49-F238E27FC236}">
                    <a16:creationId xmlns:a16="http://schemas.microsoft.com/office/drawing/2014/main" id="{1EF3BBDF-1C61-458E-A528-9DE295485EED}"/>
                  </a:ext>
                </a:extLst>
              </p:cNvPr>
              <p:cNvSpPr txBox="1">
                <a:spLocks noChangeArrowheads="1"/>
              </p:cNvSpPr>
              <p:nvPr/>
            </p:nvSpPr>
            <p:spPr>
              <a:xfrm>
                <a:off x="576533" y="3502456"/>
                <a:ext cx="8223338" cy="28820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963" indent="-271463" eaLnBrk="0" hangingPunct="0">
                  <a:lnSpc>
                    <a:spcPts val="2600"/>
                  </a:lnSpc>
                  <a:spcBef>
                    <a:spcPts val="600"/>
                  </a:spcBef>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538163" lvl="1" indent="-179388">
                  <a:lnSpc>
                    <a:spcPts val="2600"/>
                  </a:lnSpc>
                  <a:spcBef>
                    <a:spcPts val="600"/>
                  </a:spcBef>
                </a:pP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AdvertisedWindow</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MaxRcvBuffer</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NextByteExpected</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LastByteRead</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-1)</a:t>
                </a:r>
              </a:p>
              <a:p>
                <a:pPr marL="80963" indent="-271463" eaLnBrk="0" hangingPunct="0">
                  <a:lnSpc>
                    <a:spcPts val="2600"/>
                  </a:lnSpc>
                  <a:spcBef>
                    <a:spcPts val="600"/>
                  </a:spcBef>
                  <a:buBlip>
                    <a:blip r:embed="rId4"/>
                  </a:buBlip>
                </a:pPr>
                <a:r>
                  <a:rPr lang="zh-CN" altLang="en-US" sz="2200" dirty="0">
                    <a:latin typeface="Times New Roman" panose="02020603050405020304" pitchFamily="18" charset="0"/>
                    <a:ea typeface="宋体" pitchFamily="2" charset="-122"/>
                    <a:cs typeface="Times New Roman" panose="02020603050405020304" pitchFamily="18" charset="0"/>
                  </a:rPr>
                  <a:t>发送端</a:t>
                </a:r>
                <a:endParaRPr lang="en-US" altLang="zh-CN" sz="2200" dirty="0">
                  <a:latin typeface="Times New Roman" panose="02020603050405020304" pitchFamily="18" charset="0"/>
                  <a:ea typeface="宋体" pitchFamily="2" charset="-122"/>
                  <a:cs typeface="Times New Roman" panose="02020603050405020304" pitchFamily="18" charset="0"/>
                </a:endParaRPr>
              </a:p>
              <a:p>
                <a:pPr marL="538163" lvl="1" indent="-179388">
                  <a:lnSpc>
                    <a:spcPts val="2600"/>
                  </a:lnSpc>
                  <a:spcBef>
                    <a:spcPts val="600"/>
                  </a:spcBef>
                </a:pP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LastByteSent</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LastByteAcked</a:t>
                </a:r>
                <a:r>
                  <a:rPr lang="en-US" altLang="zh-CN" sz="1800" dirty="0">
                    <a:solidFill>
                      <a:srgbClr val="000099"/>
                    </a:solidFill>
                    <a:ea typeface="Cambria Math" panose="02040503050406030204" pitchFamily="18" charset="0"/>
                    <a:cs typeface="Times New Roman" panose="02020603050405020304" pitchFamily="18" charset="0"/>
                  </a:rPr>
                  <a:t> </a:t>
                </a:r>
                <a14:m>
                  <m:oMath xmlns:m="http://schemas.openxmlformats.org/officeDocument/2006/math">
                    <m:r>
                      <a:rPr lang="en-US" altLang="zh-CN" sz="1800" i="1" dirty="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m:t>AdvertisedWindow</m:t>
                    </m:r>
                  </m:oMath>
                </a14:m>
                <a:endPar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endParaRPr>
              </a:p>
              <a:p>
                <a:pPr marL="538163" lvl="1" indent="-179388">
                  <a:lnSpc>
                    <a:spcPts val="2600"/>
                  </a:lnSpc>
                  <a:spcBef>
                    <a:spcPts val="600"/>
                  </a:spcBef>
                </a:pP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EffectiveWindow</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AdvertisedWindow</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LastByteSent</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LastByteAcked</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a:t>
                </a:r>
              </a:p>
              <a:p>
                <a:pPr marL="538163" lvl="1" indent="-179388">
                  <a:lnSpc>
                    <a:spcPts val="2600"/>
                  </a:lnSpc>
                  <a:spcBef>
                    <a:spcPts val="600"/>
                  </a:spcBef>
                </a:pP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LastByteWritten</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LastByteAcked</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a:t>
                </a:r>
                <a14:m>
                  <m:oMath xmlns:m="http://schemas.openxmlformats.org/officeDocument/2006/math">
                    <m:r>
                      <a:rPr lang="en-US" altLang="zh-CN" sz="1800" i="1" dirty="0">
                        <a:solidFill>
                          <a:srgbClr val="000099"/>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MaxSendBuffer</a:t>
                </a:r>
                <a:endPar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endParaRPr>
              </a:p>
              <a:p>
                <a:pPr marL="538163" lvl="1" indent="-179388">
                  <a:lnSpc>
                    <a:spcPts val="2600"/>
                  </a:lnSpc>
                  <a:spcBef>
                    <a:spcPts val="600"/>
                  </a:spcBef>
                </a:pPr>
                <a:r>
                  <a:rPr lang="zh-CN" altLang="en-US" sz="1800" dirty="0">
                    <a:solidFill>
                      <a:srgbClr val="000099"/>
                    </a:solidFill>
                    <a:latin typeface="Times New Roman" panose="02020603050405020304" pitchFamily="18" charset="0"/>
                    <a:ea typeface="宋体" pitchFamily="2" charset="-122"/>
                    <a:cs typeface="Times New Roman" panose="02020603050405020304" pitchFamily="18" charset="0"/>
                  </a:rPr>
                  <a:t>如果</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LastByteWritten</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LastByteAcked</a:t>
                </a:r>
                <a:r>
                  <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rPr>
                  <a:t> + y &gt; </a:t>
                </a:r>
                <a:r>
                  <a:rPr lang="en-US" altLang="zh-CN" sz="1800" dirty="0" err="1">
                    <a:solidFill>
                      <a:srgbClr val="000099"/>
                    </a:solidFill>
                    <a:latin typeface="Times New Roman" panose="02020603050405020304" pitchFamily="18" charset="0"/>
                    <a:ea typeface="宋体" pitchFamily="2" charset="-122"/>
                    <a:cs typeface="Times New Roman" panose="02020603050405020304" pitchFamily="18" charset="0"/>
                  </a:rPr>
                  <a:t>MaxSenderBuffer</a:t>
                </a:r>
                <a:r>
                  <a:rPr lang="zh-CN" altLang="en-US" sz="1800" dirty="0">
                    <a:solidFill>
                      <a:srgbClr val="000099"/>
                    </a:solidFill>
                    <a:latin typeface="Times New Roman" panose="02020603050405020304" pitchFamily="18" charset="0"/>
                    <a:ea typeface="宋体" pitchFamily="2" charset="-122"/>
                    <a:cs typeface="Times New Roman" panose="02020603050405020304" pitchFamily="18" charset="0"/>
                  </a:rPr>
                  <a:t>，则阻塞发送</a:t>
                </a:r>
                <a:endParaRPr lang="en-US" altLang="zh-CN" sz="1800" dirty="0">
                  <a:solidFill>
                    <a:srgbClr val="000099"/>
                  </a:solidFill>
                  <a:latin typeface="Times New Roman" panose="02020603050405020304" pitchFamily="18" charset="0"/>
                  <a:ea typeface="宋体" pitchFamily="2" charset="-122"/>
                  <a:cs typeface="Times New Roman" panose="02020603050405020304" pitchFamily="18" charset="0"/>
                </a:endParaRPr>
              </a:p>
            </p:txBody>
          </p:sp>
        </mc:Choice>
        <mc:Fallback xmlns="">
          <p:sp>
            <p:nvSpPr>
              <p:cNvPr id="13" name="Rectangle 3">
                <a:extLst>
                  <a:ext uri="{FF2B5EF4-FFF2-40B4-BE49-F238E27FC236}">
                    <a16:creationId xmlns:a16="http://schemas.microsoft.com/office/drawing/2014/main" id="{1EF3BBDF-1C61-458E-A528-9DE295485EED}"/>
                  </a:ext>
                </a:extLst>
              </p:cNvPr>
              <p:cNvSpPr txBox="1">
                <a:spLocks noRot="1" noChangeAspect="1" noMove="1" noResize="1" noEditPoints="1" noAdjustHandles="1" noChangeArrowheads="1" noChangeShapeType="1" noTextEdit="1"/>
              </p:cNvSpPr>
              <p:nvPr/>
            </p:nvSpPr>
            <p:spPr>
              <a:xfrm>
                <a:off x="576533" y="3502456"/>
                <a:ext cx="8223338" cy="2882006"/>
              </a:xfrm>
              <a:prstGeom prst="rect">
                <a:avLst/>
              </a:prstGeom>
              <a:blipFill>
                <a:blip r:embed="rId5"/>
                <a:stretch>
                  <a:fillRect t="-2331" b="-190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5FC9504-E396-4BD9-A6A4-65413CB94634}"/>
              </a:ext>
            </a:extLst>
          </p:cNvPr>
          <p:cNvPicPr>
            <a:picLocks noChangeAspect="1"/>
          </p:cNvPicPr>
          <p:nvPr/>
        </p:nvPicPr>
        <p:blipFill>
          <a:blip r:embed="rId6"/>
          <a:stretch>
            <a:fillRect/>
          </a:stretch>
        </p:blipFill>
        <p:spPr>
          <a:xfrm>
            <a:off x="837884" y="1698732"/>
            <a:ext cx="3243036" cy="1690406"/>
          </a:xfrm>
          <a:prstGeom prst="rect">
            <a:avLst/>
          </a:prstGeom>
        </p:spPr>
      </p:pic>
      <p:pic>
        <p:nvPicPr>
          <p:cNvPr id="10" name="图片 9">
            <a:extLst>
              <a:ext uri="{FF2B5EF4-FFF2-40B4-BE49-F238E27FC236}">
                <a16:creationId xmlns:a16="http://schemas.microsoft.com/office/drawing/2014/main" id="{10F6187F-5FBD-43A9-AFB1-B85D1B3A91FA}"/>
              </a:ext>
            </a:extLst>
          </p:cNvPr>
          <p:cNvPicPr>
            <a:picLocks noChangeAspect="1"/>
          </p:cNvPicPr>
          <p:nvPr/>
        </p:nvPicPr>
        <p:blipFill>
          <a:blip r:embed="rId7"/>
          <a:stretch>
            <a:fillRect/>
          </a:stretch>
        </p:blipFill>
        <p:spPr>
          <a:xfrm>
            <a:off x="4614219" y="1682874"/>
            <a:ext cx="3777784" cy="1746126"/>
          </a:xfrm>
          <a:prstGeom prst="rect">
            <a:avLst/>
          </a:prstGeom>
        </p:spPr>
      </p:pic>
    </p:spTree>
    <p:extLst>
      <p:ext uri="{BB962C8B-B14F-4D97-AF65-F5344CB8AC3E}">
        <p14:creationId xmlns:p14="http://schemas.microsoft.com/office/powerpoint/2010/main" val="32303635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70" name="Line 3"/>
          <p:cNvSpPr>
            <a:spLocks noChangeShapeType="1"/>
          </p:cNvSpPr>
          <p:nvPr/>
        </p:nvSpPr>
        <p:spPr bwMode="auto">
          <a:xfrm>
            <a:off x="3852473" y="1538636"/>
            <a:ext cx="2025382" cy="369035"/>
          </a:xfrm>
          <a:prstGeom prst="line">
            <a:avLst/>
          </a:prstGeom>
          <a:noFill/>
          <a:ln w="19050">
            <a:solidFill>
              <a:schemeClr val="accent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71" name="Text Box 5"/>
          <p:cNvSpPr txBox="1">
            <a:spLocks noChangeArrowheads="1"/>
          </p:cNvSpPr>
          <p:nvPr/>
        </p:nvSpPr>
        <p:spPr bwMode="auto">
          <a:xfrm>
            <a:off x="3381644" y="659509"/>
            <a:ext cx="918951" cy="369332"/>
          </a:xfrm>
          <a:prstGeom prst="rect">
            <a:avLst/>
          </a:prstGeom>
          <a:noFill/>
          <a:ln w="9525">
            <a:noFill/>
            <a:miter lim="800000"/>
            <a:headEnd/>
            <a:tailEnd/>
          </a:ln>
        </p:spPr>
        <p:txBody>
          <a:bodyPr wrap="square">
            <a:spAutoFit/>
          </a:bodyPr>
          <a:lstStyle/>
          <a:p>
            <a:r>
              <a:rPr lang="zh-CN" altLang="en-US" dirty="0">
                <a:latin typeface="Arial Unicode MS" pitchFamily="34" charset="-122"/>
                <a:ea typeface="Arial Unicode MS" pitchFamily="34" charset="-122"/>
                <a:cs typeface="Arial Unicode MS" pitchFamily="34" charset="-122"/>
              </a:rPr>
              <a:t>发送端</a:t>
            </a:r>
            <a:endParaRPr lang="en-US" altLang="zh-CN" dirty="0">
              <a:latin typeface="Arial Unicode MS" pitchFamily="34" charset="-122"/>
              <a:ea typeface="Arial Unicode MS" pitchFamily="34" charset="-122"/>
              <a:cs typeface="Arial Unicode MS" pitchFamily="34" charset="-122"/>
            </a:endParaRPr>
          </a:p>
        </p:txBody>
      </p:sp>
      <p:sp>
        <p:nvSpPr>
          <p:cNvPr id="90172" name="Line 10"/>
          <p:cNvSpPr>
            <a:spLocks noChangeShapeType="1"/>
          </p:cNvSpPr>
          <p:nvPr/>
        </p:nvSpPr>
        <p:spPr bwMode="auto">
          <a:xfrm>
            <a:off x="3838032" y="1009705"/>
            <a:ext cx="28934" cy="5536166"/>
          </a:xfrm>
          <a:prstGeom prst="line">
            <a:avLst/>
          </a:prstGeom>
          <a:noFill/>
          <a:ln w="9525">
            <a:solidFill>
              <a:schemeClr val="tx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73" name="Line 11"/>
          <p:cNvSpPr>
            <a:spLocks noChangeShapeType="1"/>
          </p:cNvSpPr>
          <p:nvPr/>
        </p:nvSpPr>
        <p:spPr bwMode="auto">
          <a:xfrm>
            <a:off x="5863845" y="970379"/>
            <a:ext cx="74106" cy="5567128"/>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0174" name="Line 14"/>
          <p:cNvSpPr>
            <a:spLocks noChangeShapeType="1"/>
          </p:cNvSpPr>
          <p:nvPr/>
        </p:nvSpPr>
        <p:spPr bwMode="auto">
          <a:xfrm>
            <a:off x="3843886" y="1815608"/>
            <a:ext cx="2011372" cy="352621"/>
          </a:xfrm>
          <a:prstGeom prst="line">
            <a:avLst/>
          </a:prstGeom>
          <a:noFill/>
          <a:ln w="19050">
            <a:solidFill>
              <a:schemeClr val="accent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75" name="Line 15"/>
          <p:cNvSpPr>
            <a:spLocks noChangeShapeType="1"/>
          </p:cNvSpPr>
          <p:nvPr/>
        </p:nvSpPr>
        <p:spPr bwMode="auto">
          <a:xfrm>
            <a:off x="3841120" y="4211731"/>
            <a:ext cx="2036735" cy="366825"/>
          </a:xfrm>
          <a:prstGeom prst="line">
            <a:avLst/>
          </a:prstGeom>
          <a:noFill/>
          <a:ln w="19050">
            <a:solidFill>
              <a:schemeClr val="accent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76" name="Line 16"/>
          <p:cNvSpPr>
            <a:spLocks noChangeShapeType="1"/>
          </p:cNvSpPr>
          <p:nvPr/>
        </p:nvSpPr>
        <p:spPr bwMode="auto">
          <a:xfrm>
            <a:off x="3834767" y="2097744"/>
            <a:ext cx="2009492" cy="342263"/>
          </a:xfrm>
          <a:prstGeom prst="line">
            <a:avLst/>
          </a:prstGeom>
          <a:noFill/>
          <a:ln w="19050">
            <a:solidFill>
              <a:schemeClr val="accent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77" name="Line 24"/>
          <p:cNvSpPr>
            <a:spLocks noChangeShapeType="1"/>
          </p:cNvSpPr>
          <p:nvPr/>
        </p:nvSpPr>
        <p:spPr bwMode="auto">
          <a:xfrm>
            <a:off x="3858579" y="3869436"/>
            <a:ext cx="2033355" cy="369035"/>
          </a:xfrm>
          <a:prstGeom prst="line">
            <a:avLst/>
          </a:prstGeom>
          <a:noFill/>
          <a:ln w="19050">
            <a:solidFill>
              <a:schemeClr val="accent1"/>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19" name="Text Box 5"/>
          <p:cNvSpPr txBox="1">
            <a:spLocks noChangeArrowheads="1"/>
          </p:cNvSpPr>
          <p:nvPr/>
        </p:nvSpPr>
        <p:spPr bwMode="auto">
          <a:xfrm>
            <a:off x="5407883" y="642165"/>
            <a:ext cx="918951" cy="369332"/>
          </a:xfrm>
          <a:prstGeom prst="rect">
            <a:avLst/>
          </a:prstGeom>
          <a:noFill/>
          <a:ln w="9525">
            <a:noFill/>
            <a:miter lim="800000"/>
            <a:headEnd/>
            <a:tailEnd/>
          </a:ln>
        </p:spPr>
        <p:txBody>
          <a:bodyPr wrap="square">
            <a:spAutoFit/>
          </a:bodyPr>
          <a:lstStyle/>
          <a:p>
            <a:r>
              <a:rPr lang="zh-CN" altLang="en-US" dirty="0">
                <a:latin typeface="Arial Unicode MS" pitchFamily="34" charset="-122"/>
                <a:ea typeface="Arial Unicode MS" pitchFamily="34" charset="-122"/>
                <a:cs typeface="Arial Unicode MS" pitchFamily="34" charset="-122"/>
              </a:rPr>
              <a:t>接收端</a:t>
            </a:r>
            <a:endParaRPr lang="en-US" altLang="zh-CN" dirty="0">
              <a:latin typeface="Arial Unicode MS" pitchFamily="34" charset="-122"/>
              <a:ea typeface="Arial Unicode MS" pitchFamily="34" charset="-122"/>
              <a:cs typeface="Arial Unicode MS" pitchFamily="34" charset="-122"/>
            </a:endParaRPr>
          </a:p>
        </p:txBody>
      </p:sp>
      <p:sp>
        <p:nvSpPr>
          <p:cNvPr id="90120" name="Line 3"/>
          <p:cNvSpPr>
            <a:spLocks noChangeShapeType="1"/>
          </p:cNvSpPr>
          <p:nvPr/>
        </p:nvSpPr>
        <p:spPr bwMode="auto">
          <a:xfrm flipH="1">
            <a:off x="3824947" y="1208767"/>
            <a:ext cx="2011372" cy="315503"/>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2" name="TextBox 35"/>
          <p:cNvSpPr txBox="1">
            <a:spLocks noChangeArrowheads="1"/>
          </p:cNvSpPr>
          <p:nvPr/>
        </p:nvSpPr>
        <p:spPr bwMode="auto">
          <a:xfrm>
            <a:off x="6011868" y="1009705"/>
            <a:ext cx="2311845"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Advertise Window=2500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3" name="Line 3"/>
          <p:cNvSpPr>
            <a:spLocks noChangeShapeType="1"/>
          </p:cNvSpPr>
          <p:nvPr/>
        </p:nvSpPr>
        <p:spPr bwMode="auto">
          <a:xfrm flipH="1">
            <a:off x="3828512" y="1930507"/>
            <a:ext cx="2015747" cy="506602"/>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4" name="Line 3"/>
          <p:cNvSpPr>
            <a:spLocks noChangeShapeType="1"/>
          </p:cNvSpPr>
          <p:nvPr/>
        </p:nvSpPr>
        <p:spPr bwMode="auto">
          <a:xfrm flipH="1">
            <a:off x="3842293" y="2198808"/>
            <a:ext cx="2011487" cy="527050"/>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5" name="Line 3"/>
          <p:cNvSpPr>
            <a:spLocks noChangeShapeType="1"/>
          </p:cNvSpPr>
          <p:nvPr/>
        </p:nvSpPr>
        <p:spPr bwMode="auto">
          <a:xfrm flipH="1">
            <a:off x="3838032" y="2471581"/>
            <a:ext cx="2007777" cy="546754"/>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6" name="Line 3"/>
          <p:cNvSpPr>
            <a:spLocks noChangeShapeType="1"/>
          </p:cNvSpPr>
          <p:nvPr/>
        </p:nvSpPr>
        <p:spPr bwMode="auto">
          <a:xfrm flipH="1">
            <a:off x="3847738" y="4254042"/>
            <a:ext cx="2019621" cy="583240"/>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7" name="Line 3"/>
          <p:cNvSpPr>
            <a:spLocks noChangeShapeType="1"/>
          </p:cNvSpPr>
          <p:nvPr/>
        </p:nvSpPr>
        <p:spPr bwMode="auto">
          <a:xfrm flipH="1">
            <a:off x="3824947" y="3291108"/>
            <a:ext cx="2043273" cy="571678"/>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8" name="Line 3"/>
          <p:cNvSpPr>
            <a:spLocks noChangeShapeType="1"/>
          </p:cNvSpPr>
          <p:nvPr/>
        </p:nvSpPr>
        <p:spPr bwMode="auto">
          <a:xfrm flipH="1">
            <a:off x="3847738" y="4603536"/>
            <a:ext cx="2015748" cy="587924"/>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29" name="Line 3"/>
          <p:cNvSpPr>
            <a:spLocks noChangeShapeType="1"/>
          </p:cNvSpPr>
          <p:nvPr/>
        </p:nvSpPr>
        <p:spPr bwMode="auto">
          <a:xfrm flipH="1">
            <a:off x="3858577" y="5667685"/>
            <a:ext cx="2054629" cy="625757"/>
          </a:xfrm>
          <a:prstGeom prst="line">
            <a:avLst/>
          </a:prstGeom>
          <a:noFill/>
          <a:ln w="19050">
            <a:solidFill>
              <a:srgbClr val="FF0000"/>
            </a:solidFill>
            <a:round/>
            <a:headEnd/>
            <a:tailEnd type="triangle" w="med" len="med"/>
          </a:ln>
        </p:spPr>
        <p:txBody>
          <a:bodyPr wrap="none" anchor="ctr"/>
          <a:lstStyle/>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90130" name="直接连接符 43"/>
          <p:cNvCxnSpPr>
            <a:cxnSpLocks noChangeShapeType="1"/>
          </p:cNvCxnSpPr>
          <p:nvPr/>
        </p:nvCxnSpPr>
        <p:spPr bwMode="auto">
          <a:xfrm>
            <a:off x="5891934" y="3001959"/>
            <a:ext cx="172779" cy="1407"/>
          </a:xfrm>
          <a:prstGeom prst="line">
            <a:avLst/>
          </a:prstGeom>
          <a:noFill/>
          <a:ln w="19050" algn="ctr">
            <a:solidFill>
              <a:srgbClr val="FF0000"/>
            </a:solidFill>
            <a:round/>
            <a:headEnd/>
            <a:tailEnd/>
          </a:ln>
        </p:spPr>
      </p:cxnSp>
      <p:cxnSp>
        <p:nvCxnSpPr>
          <p:cNvPr id="90131" name="直接连接符 44"/>
          <p:cNvCxnSpPr>
            <a:cxnSpLocks noChangeShapeType="1"/>
          </p:cNvCxnSpPr>
          <p:nvPr/>
        </p:nvCxnSpPr>
        <p:spPr bwMode="auto">
          <a:xfrm>
            <a:off x="5871619" y="1904114"/>
            <a:ext cx="172779" cy="1408"/>
          </a:xfrm>
          <a:prstGeom prst="line">
            <a:avLst/>
          </a:prstGeom>
          <a:noFill/>
          <a:ln w="19050" algn="ctr">
            <a:solidFill>
              <a:srgbClr val="FF0000"/>
            </a:solidFill>
            <a:round/>
            <a:headEnd/>
            <a:tailEnd/>
          </a:ln>
        </p:spPr>
      </p:cxnSp>
      <p:cxnSp>
        <p:nvCxnSpPr>
          <p:cNvPr id="90132" name="直接连接符 45"/>
          <p:cNvCxnSpPr>
            <a:cxnSpLocks noChangeShapeType="1"/>
          </p:cNvCxnSpPr>
          <p:nvPr/>
        </p:nvCxnSpPr>
        <p:spPr bwMode="auto">
          <a:xfrm>
            <a:off x="5872898" y="2196040"/>
            <a:ext cx="172779" cy="1408"/>
          </a:xfrm>
          <a:prstGeom prst="line">
            <a:avLst/>
          </a:prstGeom>
          <a:noFill/>
          <a:ln w="19050" algn="ctr">
            <a:solidFill>
              <a:srgbClr val="FF0000"/>
            </a:solidFill>
            <a:round/>
            <a:headEnd/>
            <a:tailEnd/>
          </a:ln>
        </p:spPr>
      </p:cxnSp>
      <p:cxnSp>
        <p:nvCxnSpPr>
          <p:cNvPr id="90133" name="直接连接符 46"/>
          <p:cNvCxnSpPr>
            <a:cxnSpLocks noChangeShapeType="1"/>
          </p:cNvCxnSpPr>
          <p:nvPr/>
        </p:nvCxnSpPr>
        <p:spPr bwMode="auto">
          <a:xfrm>
            <a:off x="5868523" y="2474510"/>
            <a:ext cx="172779" cy="1407"/>
          </a:xfrm>
          <a:prstGeom prst="line">
            <a:avLst/>
          </a:prstGeom>
          <a:noFill/>
          <a:ln w="19050" algn="ctr">
            <a:solidFill>
              <a:srgbClr val="FF0000"/>
            </a:solidFill>
            <a:round/>
            <a:headEnd/>
            <a:tailEnd/>
          </a:ln>
        </p:spPr>
      </p:cxnSp>
      <p:cxnSp>
        <p:nvCxnSpPr>
          <p:cNvPr id="90134" name="直接连接符 47"/>
          <p:cNvCxnSpPr>
            <a:cxnSpLocks noChangeShapeType="1"/>
          </p:cNvCxnSpPr>
          <p:nvPr/>
        </p:nvCxnSpPr>
        <p:spPr bwMode="auto">
          <a:xfrm>
            <a:off x="5895867" y="3269218"/>
            <a:ext cx="172779" cy="1407"/>
          </a:xfrm>
          <a:prstGeom prst="line">
            <a:avLst/>
          </a:prstGeom>
          <a:noFill/>
          <a:ln w="19050" algn="ctr">
            <a:solidFill>
              <a:srgbClr val="FF0000"/>
            </a:solidFill>
            <a:round/>
            <a:headEnd/>
            <a:tailEnd/>
          </a:ln>
        </p:spPr>
      </p:cxnSp>
      <p:cxnSp>
        <p:nvCxnSpPr>
          <p:cNvPr id="90135" name="直接连接符 48"/>
          <p:cNvCxnSpPr>
            <a:cxnSpLocks noChangeShapeType="1"/>
          </p:cNvCxnSpPr>
          <p:nvPr/>
        </p:nvCxnSpPr>
        <p:spPr bwMode="auto">
          <a:xfrm>
            <a:off x="5891934" y="4232298"/>
            <a:ext cx="172778" cy="1407"/>
          </a:xfrm>
          <a:prstGeom prst="line">
            <a:avLst/>
          </a:prstGeom>
          <a:noFill/>
          <a:ln w="19050" algn="ctr">
            <a:solidFill>
              <a:srgbClr val="FF0000"/>
            </a:solidFill>
            <a:round/>
            <a:headEnd/>
            <a:tailEnd/>
          </a:ln>
        </p:spPr>
      </p:cxnSp>
      <p:cxnSp>
        <p:nvCxnSpPr>
          <p:cNvPr id="90136" name="直接连接符 49"/>
          <p:cNvCxnSpPr>
            <a:cxnSpLocks noChangeShapeType="1"/>
          </p:cNvCxnSpPr>
          <p:nvPr/>
        </p:nvCxnSpPr>
        <p:spPr bwMode="auto">
          <a:xfrm>
            <a:off x="5911019" y="4573012"/>
            <a:ext cx="172778" cy="1407"/>
          </a:xfrm>
          <a:prstGeom prst="line">
            <a:avLst/>
          </a:prstGeom>
          <a:noFill/>
          <a:ln w="19050" algn="ctr">
            <a:solidFill>
              <a:srgbClr val="FF0000"/>
            </a:solidFill>
            <a:round/>
            <a:headEnd/>
            <a:tailEnd/>
          </a:ln>
        </p:spPr>
      </p:cxnSp>
      <p:cxnSp>
        <p:nvCxnSpPr>
          <p:cNvPr id="90137" name="直接连接符 50"/>
          <p:cNvCxnSpPr>
            <a:cxnSpLocks noChangeShapeType="1"/>
          </p:cNvCxnSpPr>
          <p:nvPr/>
        </p:nvCxnSpPr>
        <p:spPr bwMode="auto">
          <a:xfrm>
            <a:off x="5911019" y="5667686"/>
            <a:ext cx="172778" cy="1407"/>
          </a:xfrm>
          <a:prstGeom prst="line">
            <a:avLst/>
          </a:prstGeom>
          <a:noFill/>
          <a:ln w="19050" algn="ctr">
            <a:solidFill>
              <a:srgbClr val="FF0000"/>
            </a:solidFill>
            <a:round/>
            <a:headEnd/>
            <a:tailEnd/>
          </a:ln>
        </p:spPr>
      </p:cxnSp>
      <p:cxnSp>
        <p:nvCxnSpPr>
          <p:cNvPr id="90138" name="直接连接符 51"/>
          <p:cNvCxnSpPr>
            <a:cxnSpLocks noChangeShapeType="1"/>
          </p:cNvCxnSpPr>
          <p:nvPr/>
        </p:nvCxnSpPr>
        <p:spPr bwMode="auto">
          <a:xfrm>
            <a:off x="5911019" y="5309719"/>
            <a:ext cx="172778" cy="1407"/>
          </a:xfrm>
          <a:prstGeom prst="line">
            <a:avLst/>
          </a:prstGeom>
          <a:noFill/>
          <a:ln w="19050" algn="ctr">
            <a:solidFill>
              <a:srgbClr val="FF0000"/>
            </a:solidFill>
            <a:round/>
            <a:headEnd/>
            <a:tailEnd/>
          </a:ln>
        </p:spPr>
      </p:cxnSp>
      <p:sp>
        <p:nvSpPr>
          <p:cNvPr id="90139" name="TextBox 52"/>
          <p:cNvSpPr txBox="1">
            <a:spLocks noChangeArrowheads="1"/>
          </p:cNvSpPr>
          <p:nvPr/>
        </p:nvSpPr>
        <p:spPr bwMode="auto">
          <a:xfrm>
            <a:off x="6004182" y="1671444"/>
            <a:ext cx="2756759"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1001  Window = 1500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0" name="TextBox 59"/>
          <p:cNvSpPr txBox="1">
            <a:spLocks noChangeArrowheads="1"/>
          </p:cNvSpPr>
          <p:nvPr/>
        </p:nvSpPr>
        <p:spPr bwMode="auto">
          <a:xfrm>
            <a:off x="6004182" y="1973069"/>
            <a:ext cx="2592062"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2001  Window = 500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1" name="TextBox 60"/>
          <p:cNvSpPr txBox="1">
            <a:spLocks noChangeArrowheads="1"/>
          </p:cNvSpPr>
          <p:nvPr/>
        </p:nvSpPr>
        <p:spPr bwMode="auto">
          <a:xfrm>
            <a:off x="6004182" y="2282631"/>
            <a:ext cx="2415121"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2501  Window = 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2" name="TextBox 61"/>
          <p:cNvSpPr txBox="1">
            <a:spLocks noChangeArrowheads="1"/>
          </p:cNvSpPr>
          <p:nvPr/>
        </p:nvSpPr>
        <p:spPr bwMode="auto">
          <a:xfrm>
            <a:off x="6037416" y="3097626"/>
            <a:ext cx="2710371"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2501  Window = 2000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3" name="TextBox 62"/>
          <p:cNvSpPr txBox="1">
            <a:spLocks noChangeArrowheads="1"/>
          </p:cNvSpPr>
          <p:nvPr/>
        </p:nvSpPr>
        <p:spPr bwMode="auto">
          <a:xfrm>
            <a:off x="6044398" y="4024552"/>
            <a:ext cx="2756759"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3501  Window = 1000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4" name="TextBox 63"/>
          <p:cNvSpPr txBox="1">
            <a:spLocks noChangeArrowheads="1"/>
          </p:cNvSpPr>
          <p:nvPr/>
        </p:nvSpPr>
        <p:spPr bwMode="auto">
          <a:xfrm>
            <a:off x="6044398" y="4397615"/>
            <a:ext cx="2398204"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4501  Window = 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5" name="TextBox 64"/>
          <p:cNvSpPr txBox="1">
            <a:spLocks noChangeArrowheads="1"/>
          </p:cNvSpPr>
          <p:nvPr/>
        </p:nvSpPr>
        <p:spPr bwMode="auto">
          <a:xfrm>
            <a:off x="6049828" y="5454215"/>
            <a:ext cx="2751329" cy="338554"/>
          </a:xfrm>
          <a:prstGeom prst="rect">
            <a:avLst/>
          </a:prstGeom>
          <a:noFill/>
          <a:ln w="9525">
            <a:noFill/>
            <a:miter lim="800000"/>
            <a:headEnd/>
            <a:tailEnd/>
          </a:ln>
        </p:spPr>
        <p:txBody>
          <a:bodyPr wrap="square">
            <a:spAutoFit/>
          </a:bodyPr>
          <a:lstStyle/>
          <a:p>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ACK = 4501  Window = 1000</a:t>
            </a:r>
            <a:endPar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46" name="TextBox 65"/>
          <p:cNvSpPr txBox="1">
            <a:spLocks noChangeArrowheads="1"/>
          </p:cNvSpPr>
          <p:nvPr/>
        </p:nvSpPr>
        <p:spPr bwMode="auto">
          <a:xfrm>
            <a:off x="6032911" y="2802373"/>
            <a:ext cx="2415121" cy="338554"/>
          </a:xfrm>
          <a:prstGeom prst="rect">
            <a:avLst/>
          </a:prstGeom>
          <a:noFill/>
          <a:ln w="9525">
            <a:noFill/>
            <a:miter lim="800000"/>
            <a:headEnd/>
            <a:tailEnd/>
          </a:ln>
        </p:spPr>
        <p:txBody>
          <a:bodyPr wrap="square">
            <a:spAutoFit/>
          </a:bodyPr>
          <a:lstStyle/>
          <a:p>
            <a:r>
              <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应用进程读取 </a:t>
            </a:r>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2000 </a:t>
            </a:r>
            <a:r>
              <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字节</a:t>
            </a:r>
          </a:p>
        </p:txBody>
      </p:sp>
      <p:sp>
        <p:nvSpPr>
          <p:cNvPr id="90147" name="TextBox 66"/>
          <p:cNvSpPr txBox="1">
            <a:spLocks noChangeArrowheads="1"/>
          </p:cNvSpPr>
          <p:nvPr/>
        </p:nvSpPr>
        <p:spPr bwMode="auto">
          <a:xfrm>
            <a:off x="6049828" y="5110581"/>
            <a:ext cx="2369475" cy="338554"/>
          </a:xfrm>
          <a:prstGeom prst="rect">
            <a:avLst/>
          </a:prstGeom>
          <a:noFill/>
          <a:ln w="9525">
            <a:noFill/>
            <a:miter lim="800000"/>
            <a:headEnd/>
            <a:tailEnd/>
          </a:ln>
        </p:spPr>
        <p:txBody>
          <a:bodyPr wrap="square">
            <a:spAutoFit/>
          </a:bodyPr>
          <a:lstStyle/>
          <a:p>
            <a:r>
              <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应用进程读取 </a:t>
            </a:r>
            <a:r>
              <a:rPr lang="en-US" altLang="zh-CN"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1000 </a:t>
            </a:r>
            <a:r>
              <a:rPr lang="zh-CN" altLang="en-US" sz="1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字节</a:t>
            </a:r>
          </a:p>
        </p:txBody>
      </p:sp>
      <p:cxnSp>
        <p:nvCxnSpPr>
          <p:cNvPr id="90148" name="直接连接符 67"/>
          <p:cNvCxnSpPr>
            <a:cxnSpLocks noChangeShapeType="1"/>
          </p:cNvCxnSpPr>
          <p:nvPr/>
        </p:nvCxnSpPr>
        <p:spPr bwMode="auto">
          <a:xfrm>
            <a:off x="3609158" y="1525620"/>
            <a:ext cx="225608" cy="1676"/>
          </a:xfrm>
          <a:prstGeom prst="line">
            <a:avLst/>
          </a:prstGeom>
          <a:noFill/>
          <a:ln w="19050" algn="ctr">
            <a:solidFill>
              <a:schemeClr val="accent1"/>
            </a:solidFill>
            <a:round/>
            <a:headEnd/>
            <a:tailEnd/>
          </a:ln>
        </p:spPr>
      </p:cxnSp>
      <p:cxnSp>
        <p:nvCxnSpPr>
          <p:cNvPr id="90149" name="直接连接符 70"/>
          <p:cNvCxnSpPr>
            <a:cxnSpLocks noChangeShapeType="1"/>
          </p:cNvCxnSpPr>
          <p:nvPr/>
        </p:nvCxnSpPr>
        <p:spPr bwMode="auto">
          <a:xfrm>
            <a:off x="3609158" y="3858182"/>
            <a:ext cx="225608" cy="1675"/>
          </a:xfrm>
          <a:prstGeom prst="line">
            <a:avLst/>
          </a:prstGeom>
          <a:noFill/>
          <a:ln w="19050" algn="ctr">
            <a:solidFill>
              <a:schemeClr val="accent1"/>
            </a:solidFill>
            <a:round/>
            <a:headEnd/>
            <a:tailEnd/>
          </a:ln>
        </p:spPr>
      </p:cxnSp>
      <p:cxnSp>
        <p:nvCxnSpPr>
          <p:cNvPr id="90150" name="直接连接符 71"/>
          <p:cNvCxnSpPr>
            <a:cxnSpLocks noChangeShapeType="1"/>
          </p:cNvCxnSpPr>
          <p:nvPr/>
        </p:nvCxnSpPr>
        <p:spPr bwMode="auto">
          <a:xfrm>
            <a:off x="3609158" y="4215369"/>
            <a:ext cx="225608" cy="1676"/>
          </a:xfrm>
          <a:prstGeom prst="line">
            <a:avLst/>
          </a:prstGeom>
          <a:noFill/>
          <a:ln w="19050" algn="ctr">
            <a:solidFill>
              <a:schemeClr val="accent1"/>
            </a:solidFill>
            <a:round/>
            <a:headEnd/>
            <a:tailEnd/>
          </a:ln>
        </p:spPr>
      </p:cxnSp>
      <p:cxnSp>
        <p:nvCxnSpPr>
          <p:cNvPr id="90151" name="直接连接符 72"/>
          <p:cNvCxnSpPr>
            <a:cxnSpLocks noChangeShapeType="1"/>
          </p:cNvCxnSpPr>
          <p:nvPr/>
        </p:nvCxnSpPr>
        <p:spPr bwMode="auto">
          <a:xfrm>
            <a:off x="3609158" y="2097120"/>
            <a:ext cx="225608" cy="1676"/>
          </a:xfrm>
          <a:prstGeom prst="line">
            <a:avLst/>
          </a:prstGeom>
          <a:noFill/>
          <a:ln w="19050" algn="ctr">
            <a:solidFill>
              <a:schemeClr val="accent1"/>
            </a:solidFill>
            <a:round/>
            <a:headEnd/>
            <a:tailEnd/>
          </a:ln>
        </p:spPr>
      </p:cxnSp>
      <p:cxnSp>
        <p:nvCxnSpPr>
          <p:cNvPr id="90152" name="直接连接符 73"/>
          <p:cNvCxnSpPr>
            <a:cxnSpLocks noChangeShapeType="1"/>
          </p:cNvCxnSpPr>
          <p:nvPr/>
        </p:nvCxnSpPr>
        <p:spPr bwMode="auto">
          <a:xfrm>
            <a:off x="3609158" y="1811370"/>
            <a:ext cx="225608" cy="1676"/>
          </a:xfrm>
          <a:prstGeom prst="line">
            <a:avLst/>
          </a:prstGeom>
          <a:noFill/>
          <a:ln w="19050" algn="ctr">
            <a:solidFill>
              <a:schemeClr val="accent1"/>
            </a:solidFill>
            <a:round/>
            <a:headEnd/>
            <a:tailEnd/>
          </a:ln>
        </p:spPr>
      </p:cxnSp>
      <p:sp>
        <p:nvSpPr>
          <p:cNvPr id="90153" name="TextBox 74"/>
          <p:cNvSpPr txBox="1">
            <a:spLocks noChangeArrowheads="1"/>
          </p:cNvSpPr>
          <p:nvPr/>
        </p:nvSpPr>
        <p:spPr bwMode="auto">
          <a:xfrm>
            <a:off x="1955481" y="1340954"/>
            <a:ext cx="173006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发送字节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1-1000</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54" name="TextBox 75"/>
          <p:cNvSpPr txBox="1">
            <a:spLocks noChangeArrowheads="1"/>
          </p:cNvSpPr>
          <p:nvPr/>
        </p:nvSpPr>
        <p:spPr bwMode="auto">
          <a:xfrm>
            <a:off x="1678733" y="1617238"/>
            <a:ext cx="2013158"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发送字节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1001-2000</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55" name="TextBox 76"/>
          <p:cNvSpPr txBox="1">
            <a:spLocks noChangeArrowheads="1"/>
          </p:cNvSpPr>
          <p:nvPr/>
        </p:nvSpPr>
        <p:spPr bwMode="auto">
          <a:xfrm>
            <a:off x="1639804" y="1902988"/>
            <a:ext cx="2052087"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发送字节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2001-2500</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56" name="TextBox 77"/>
          <p:cNvSpPr txBox="1">
            <a:spLocks noChangeArrowheads="1"/>
          </p:cNvSpPr>
          <p:nvPr/>
        </p:nvSpPr>
        <p:spPr bwMode="auto">
          <a:xfrm>
            <a:off x="1707666" y="3664049"/>
            <a:ext cx="1984226"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发送字节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2501-3500</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57" name="TextBox 78"/>
          <p:cNvSpPr txBox="1">
            <a:spLocks noChangeArrowheads="1"/>
          </p:cNvSpPr>
          <p:nvPr/>
        </p:nvSpPr>
        <p:spPr bwMode="auto">
          <a:xfrm>
            <a:off x="1639804" y="4021237"/>
            <a:ext cx="2052088"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发送字节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3501-4500</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58" name="TextBox 79"/>
          <p:cNvSpPr txBox="1">
            <a:spLocks noChangeArrowheads="1"/>
          </p:cNvSpPr>
          <p:nvPr/>
        </p:nvSpPr>
        <p:spPr bwMode="auto">
          <a:xfrm>
            <a:off x="1880151" y="2250907"/>
            <a:ext cx="181174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 ACK =1001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90159" name="直接连接符 80"/>
          <p:cNvCxnSpPr>
            <a:cxnSpLocks noChangeShapeType="1"/>
          </p:cNvCxnSpPr>
          <p:nvPr/>
        </p:nvCxnSpPr>
        <p:spPr bwMode="auto">
          <a:xfrm>
            <a:off x="3609158" y="2701741"/>
            <a:ext cx="225608" cy="1676"/>
          </a:xfrm>
          <a:prstGeom prst="line">
            <a:avLst/>
          </a:prstGeom>
          <a:noFill/>
          <a:ln w="19050" algn="ctr">
            <a:solidFill>
              <a:schemeClr val="accent1"/>
            </a:solidFill>
            <a:round/>
            <a:headEnd/>
            <a:tailEnd/>
          </a:ln>
        </p:spPr>
      </p:cxnSp>
      <p:cxnSp>
        <p:nvCxnSpPr>
          <p:cNvPr id="90160" name="直接连接符 81"/>
          <p:cNvCxnSpPr>
            <a:cxnSpLocks noChangeShapeType="1"/>
          </p:cNvCxnSpPr>
          <p:nvPr/>
        </p:nvCxnSpPr>
        <p:spPr bwMode="auto">
          <a:xfrm>
            <a:off x="3609158" y="3003366"/>
            <a:ext cx="225608" cy="1676"/>
          </a:xfrm>
          <a:prstGeom prst="line">
            <a:avLst/>
          </a:prstGeom>
          <a:noFill/>
          <a:ln w="19050" algn="ctr">
            <a:solidFill>
              <a:schemeClr val="accent1"/>
            </a:solidFill>
            <a:round/>
            <a:headEnd/>
            <a:tailEnd/>
          </a:ln>
        </p:spPr>
      </p:cxnSp>
      <p:cxnSp>
        <p:nvCxnSpPr>
          <p:cNvPr id="90161" name="直接连接符 82"/>
          <p:cNvCxnSpPr>
            <a:cxnSpLocks noChangeShapeType="1"/>
          </p:cNvCxnSpPr>
          <p:nvPr/>
        </p:nvCxnSpPr>
        <p:spPr bwMode="auto">
          <a:xfrm>
            <a:off x="3632973" y="4827294"/>
            <a:ext cx="225605" cy="1675"/>
          </a:xfrm>
          <a:prstGeom prst="line">
            <a:avLst/>
          </a:prstGeom>
          <a:noFill/>
          <a:ln w="19050" algn="ctr">
            <a:solidFill>
              <a:schemeClr val="accent1"/>
            </a:solidFill>
            <a:round/>
            <a:headEnd/>
            <a:tailEnd/>
          </a:ln>
        </p:spPr>
      </p:cxnSp>
      <p:cxnSp>
        <p:nvCxnSpPr>
          <p:cNvPr id="90162" name="直接连接符 83"/>
          <p:cNvCxnSpPr>
            <a:cxnSpLocks noChangeShapeType="1"/>
          </p:cNvCxnSpPr>
          <p:nvPr/>
        </p:nvCxnSpPr>
        <p:spPr bwMode="auto">
          <a:xfrm>
            <a:off x="3609158" y="2423929"/>
            <a:ext cx="225608" cy="1675"/>
          </a:xfrm>
          <a:prstGeom prst="line">
            <a:avLst/>
          </a:prstGeom>
          <a:noFill/>
          <a:ln w="19050" algn="ctr">
            <a:solidFill>
              <a:schemeClr val="accent1"/>
            </a:solidFill>
            <a:round/>
            <a:headEnd/>
            <a:tailEnd/>
          </a:ln>
        </p:spPr>
      </p:cxnSp>
      <p:cxnSp>
        <p:nvCxnSpPr>
          <p:cNvPr id="90163" name="直接连接符 84"/>
          <p:cNvCxnSpPr>
            <a:cxnSpLocks noChangeShapeType="1"/>
          </p:cNvCxnSpPr>
          <p:nvPr/>
        </p:nvCxnSpPr>
        <p:spPr bwMode="auto">
          <a:xfrm>
            <a:off x="3632973" y="5176544"/>
            <a:ext cx="225605" cy="1675"/>
          </a:xfrm>
          <a:prstGeom prst="line">
            <a:avLst/>
          </a:prstGeom>
          <a:noFill/>
          <a:ln w="19050" algn="ctr">
            <a:solidFill>
              <a:schemeClr val="accent1"/>
            </a:solidFill>
            <a:round/>
            <a:headEnd/>
            <a:tailEnd/>
          </a:ln>
        </p:spPr>
      </p:cxnSp>
      <p:cxnSp>
        <p:nvCxnSpPr>
          <p:cNvPr id="90164" name="直接连接符 85"/>
          <p:cNvCxnSpPr>
            <a:cxnSpLocks noChangeShapeType="1"/>
          </p:cNvCxnSpPr>
          <p:nvPr/>
        </p:nvCxnSpPr>
        <p:spPr bwMode="auto">
          <a:xfrm>
            <a:off x="3640908" y="6291427"/>
            <a:ext cx="225608" cy="1675"/>
          </a:xfrm>
          <a:prstGeom prst="line">
            <a:avLst/>
          </a:prstGeom>
          <a:noFill/>
          <a:ln w="19050" algn="ctr">
            <a:solidFill>
              <a:schemeClr val="accent1"/>
            </a:solidFill>
            <a:round/>
            <a:headEnd/>
            <a:tailEnd/>
          </a:ln>
        </p:spPr>
      </p:cxnSp>
      <p:sp>
        <p:nvSpPr>
          <p:cNvPr id="90165" name="TextBox 86"/>
          <p:cNvSpPr txBox="1">
            <a:spLocks noChangeArrowheads="1"/>
          </p:cNvSpPr>
          <p:nvPr/>
        </p:nvSpPr>
        <p:spPr bwMode="auto">
          <a:xfrm>
            <a:off x="1955481" y="2506495"/>
            <a:ext cx="173006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ACK =2001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66" name="TextBox 87"/>
          <p:cNvSpPr txBox="1">
            <a:spLocks noChangeArrowheads="1"/>
          </p:cNvSpPr>
          <p:nvPr/>
        </p:nvSpPr>
        <p:spPr bwMode="auto">
          <a:xfrm>
            <a:off x="1938019" y="2798595"/>
            <a:ext cx="1753872"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ACK =2501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67" name="TextBox 88"/>
          <p:cNvSpPr txBox="1">
            <a:spLocks noChangeArrowheads="1"/>
          </p:cNvSpPr>
          <p:nvPr/>
        </p:nvSpPr>
        <p:spPr bwMode="auto">
          <a:xfrm>
            <a:off x="1975731" y="6121661"/>
            <a:ext cx="173641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ACK =4501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68" name="TextBox 89"/>
          <p:cNvSpPr txBox="1">
            <a:spLocks noChangeArrowheads="1"/>
          </p:cNvSpPr>
          <p:nvPr/>
        </p:nvSpPr>
        <p:spPr bwMode="auto">
          <a:xfrm>
            <a:off x="1963418" y="5036197"/>
            <a:ext cx="173641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ACK =4501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169" name="TextBox 90"/>
          <p:cNvSpPr txBox="1">
            <a:spLocks noChangeArrowheads="1"/>
          </p:cNvSpPr>
          <p:nvPr/>
        </p:nvSpPr>
        <p:spPr bwMode="auto">
          <a:xfrm>
            <a:off x="1955481" y="4652022"/>
            <a:ext cx="1736410" cy="338554"/>
          </a:xfrm>
          <a:prstGeom prst="rect">
            <a:avLst/>
          </a:prstGeom>
          <a:noFill/>
          <a:ln w="9525">
            <a:noFill/>
            <a:miter lim="800000"/>
            <a:headEnd/>
            <a:tailEnd/>
          </a:ln>
        </p:spPr>
        <p:txBody>
          <a:bodyPr wrap="square">
            <a:spAutoFit/>
          </a:bodyPr>
          <a:lstStyle/>
          <a:p>
            <a:pPr algn="r"/>
            <a:r>
              <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接收 </a:t>
            </a:r>
            <a:r>
              <a:rPr lang="en-US" altLang="zh-CN"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ACK =3501</a:t>
            </a:r>
            <a:endParaRPr lang="zh-CN" altLang="en-US" sz="1600"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0" name="直接连接符 44">
            <a:extLst>
              <a:ext uri="{FF2B5EF4-FFF2-40B4-BE49-F238E27FC236}">
                <a16:creationId xmlns:a16="http://schemas.microsoft.com/office/drawing/2014/main" id="{D624F3A1-6784-4D9D-94C6-0C92413BF14B}"/>
              </a:ext>
            </a:extLst>
          </p:cNvPr>
          <p:cNvCxnSpPr>
            <a:cxnSpLocks noChangeShapeType="1"/>
          </p:cNvCxnSpPr>
          <p:nvPr/>
        </p:nvCxnSpPr>
        <p:spPr bwMode="auto">
          <a:xfrm>
            <a:off x="5860132" y="1214615"/>
            <a:ext cx="172779" cy="1408"/>
          </a:xfrm>
          <a:prstGeom prst="line">
            <a:avLst/>
          </a:prstGeom>
          <a:noFill/>
          <a:ln w="19050" algn="ctr">
            <a:solidFill>
              <a:srgbClr val="FF0000"/>
            </a:solidFill>
            <a:round/>
            <a:headEnd/>
            <a:tailEnd/>
          </a:ln>
        </p:spPr>
      </p:cxnSp>
      <p:sp>
        <p:nvSpPr>
          <p:cNvPr id="81" name="标题 1">
            <a:extLst>
              <a:ext uri="{FF2B5EF4-FFF2-40B4-BE49-F238E27FC236}">
                <a16:creationId xmlns:a16="http://schemas.microsoft.com/office/drawing/2014/main" id="{86FC095B-C6CD-4A74-837B-3AF54BCFD62F}"/>
              </a:ext>
            </a:extLst>
          </p:cNvPr>
          <p:cNvSpPr txBox="1">
            <a:spLocks/>
          </p:cNvSpPr>
          <p:nvPr/>
        </p:nvSpPr>
        <p:spPr>
          <a:xfrm>
            <a:off x="707367" y="32661"/>
            <a:ext cx="7518174"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p:sp>
        <p:nvSpPr>
          <p:cNvPr id="2" name="Rectangle 2">
            <a:extLst>
              <a:ext uri="{FF2B5EF4-FFF2-40B4-BE49-F238E27FC236}">
                <a16:creationId xmlns:a16="http://schemas.microsoft.com/office/drawing/2014/main" id="{952D4D46-C951-4F59-8D47-CC67BD1B3839}"/>
              </a:ext>
            </a:extLst>
          </p:cNvPr>
          <p:cNvSpPr txBox="1">
            <a:spLocks noChangeArrowheads="1"/>
          </p:cNvSpPr>
          <p:nvPr/>
        </p:nvSpPr>
        <p:spPr>
          <a:xfrm>
            <a:off x="363480" y="634164"/>
            <a:ext cx="2790551" cy="583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6700" indent="-266700">
              <a:buClr>
                <a:srgbClr val="C00000"/>
              </a:buClr>
              <a:buSzPct val="90000"/>
              <a:buFont typeface="Wingdings" panose="05000000000000000000" pitchFamily="2" charset="2"/>
              <a:buChar char="n"/>
              <a:defRPr/>
            </a:pPr>
            <a:r>
              <a:rPr lang="zh-CN" altLang="en-US" sz="2800" dirty="0">
                <a:latin typeface="Arial" pitchFamily="34" charset="0"/>
                <a:ea typeface="宋体" pitchFamily="2" charset="-122"/>
              </a:rPr>
              <a:t>流量控制示例</a:t>
            </a:r>
            <a:endParaRPr lang="en-US" altLang="zh-CN" sz="2800" dirty="0">
              <a:latin typeface="Arial" pitchFamily="34" charset="0"/>
              <a:ea typeface="宋体" pitchFamily="2" charset="-122"/>
            </a:endParaRPr>
          </a:p>
        </p:txBody>
      </p:sp>
    </p:spTree>
    <p:extLst>
      <p:ext uri="{BB962C8B-B14F-4D97-AF65-F5344CB8AC3E}">
        <p14:creationId xmlns:p14="http://schemas.microsoft.com/office/powerpoint/2010/main" val="8394952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Text Box 3"/>
          <p:cNvSpPr txBox="1">
            <a:spLocks noChangeArrowheads="1"/>
          </p:cNvSpPr>
          <p:nvPr/>
        </p:nvSpPr>
        <p:spPr bwMode="auto">
          <a:xfrm>
            <a:off x="323850" y="2460391"/>
            <a:ext cx="720134" cy="369332"/>
          </a:xfrm>
          <a:prstGeom prst="rect">
            <a:avLst/>
          </a:prstGeom>
          <a:noFill/>
          <a:ln w="9525">
            <a:noFill/>
            <a:miter lim="800000"/>
            <a:headEnd/>
            <a:tailEnd/>
          </a:ln>
        </p:spPr>
        <p:txBody>
          <a:bodyPr wrap="none">
            <a:spAutoFit/>
          </a:bodyPr>
          <a:lstStyle>
            <a:defPPr>
              <a:defRPr lang="zh-CN"/>
            </a:defPPr>
            <a:lvl1pPr eaLnBrk="0" hangingPunct="0">
              <a:lnSpc>
                <a:spcPct val="100000"/>
              </a:lnSpc>
              <a:spcBef>
                <a:spcPct val="0"/>
              </a:spcBef>
              <a:buClrTx/>
              <a:buFontTx/>
              <a:buNone/>
              <a:defRPr kumimoji="0">
                <a:ea typeface="宋体" pitchFamily="2" charset="-122"/>
              </a:defRPr>
            </a:lvl1pPr>
          </a:lstStyle>
          <a:p>
            <a:r>
              <a:rPr lang="en-US" altLang="zh-CN" dirty="0"/>
              <a:t>TCP A</a:t>
            </a:r>
          </a:p>
        </p:txBody>
      </p:sp>
      <p:sp>
        <p:nvSpPr>
          <p:cNvPr id="91142" name="Text Box 4"/>
          <p:cNvSpPr txBox="1">
            <a:spLocks noChangeArrowheads="1"/>
          </p:cNvSpPr>
          <p:nvPr/>
        </p:nvSpPr>
        <p:spPr bwMode="auto">
          <a:xfrm>
            <a:off x="384165" y="4119529"/>
            <a:ext cx="712118"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TCP B</a:t>
            </a:r>
          </a:p>
        </p:txBody>
      </p:sp>
      <p:sp>
        <p:nvSpPr>
          <p:cNvPr id="91143" name="Line 5"/>
          <p:cNvSpPr>
            <a:spLocks noChangeShapeType="1"/>
          </p:cNvSpPr>
          <p:nvPr/>
        </p:nvSpPr>
        <p:spPr bwMode="auto">
          <a:xfrm>
            <a:off x="1168223" y="2657957"/>
            <a:ext cx="7467600" cy="0"/>
          </a:xfrm>
          <a:prstGeom prst="line">
            <a:avLst/>
          </a:prstGeom>
          <a:noFill/>
          <a:ln w="38100">
            <a:solidFill>
              <a:schemeClr val="tx1"/>
            </a:solidFill>
            <a:round/>
            <a:headEnd/>
            <a:tailEnd/>
          </a:ln>
        </p:spPr>
        <p:txBody>
          <a:bodyPr/>
          <a:lstStyle/>
          <a:p>
            <a:endParaRPr lang="zh-CN" altLang="en-US" sz="1600"/>
          </a:p>
        </p:txBody>
      </p:sp>
      <p:sp>
        <p:nvSpPr>
          <p:cNvPr id="91144" name="Line 6"/>
          <p:cNvSpPr>
            <a:spLocks noChangeShapeType="1"/>
          </p:cNvSpPr>
          <p:nvPr/>
        </p:nvSpPr>
        <p:spPr bwMode="auto">
          <a:xfrm>
            <a:off x="1168223" y="4334357"/>
            <a:ext cx="7467600" cy="0"/>
          </a:xfrm>
          <a:prstGeom prst="line">
            <a:avLst/>
          </a:prstGeom>
          <a:noFill/>
          <a:ln w="38100">
            <a:solidFill>
              <a:schemeClr val="tx1"/>
            </a:solidFill>
            <a:round/>
            <a:headEnd/>
            <a:tailEnd/>
          </a:ln>
        </p:spPr>
        <p:txBody>
          <a:bodyPr/>
          <a:lstStyle/>
          <a:p>
            <a:endParaRPr lang="zh-CN" altLang="en-US"/>
          </a:p>
        </p:txBody>
      </p:sp>
      <p:grpSp>
        <p:nvGrpSpPr>
          <p:cNvPr id="91145" name="Group 7"/>
          <p:cNvGrpSpPr>
            <a:grpSpLocks/>
          </p:cNvGrpSpPr>
          <p:nvPr/>
        </p:nvGrpSpPr>
        <p:grpSpPr bwMode="auto">
          <a:xfrm>
            <a:off x="1244423" y="2429357"/>
            <a:ext cx="1143000" cy="152400"/>
            <a:chOff x="672" y="1152"/>
            <a:chExt cx="1104" cy="144"/>
          </a:xfrm>
          <a:solidFill>
            <a:schemeClr val="accent6">
              <a:lumMod val="60000"/>
              <a:lumOff val="40000"/>
            </a:schemeClr>
          </a:solidFill>
        </p:grpSpPr>
        <p:grpSp>
          <p:nvGrpSpPr>
            <p:cNvPr id="91214" name="Group 8"/>
            <p:cNvGrpSpPr>
              <a:grpSpLocks/>
            </p:cNvGrpSpPr>
            <p:nvPr/>
          </p:nvGrpSpPr>
          <p:grpSpPr bwMode="auto">
            <a:xfrm>
              <a:off x="672" y="1152"/>
              <a:ext cx="336" cy="144"/>
              <a:chOff x="1104" y="1152"/>
              <a:chExt cx="336" cy="144"/>
            </a:xfrm>
            <a:grpFill/>
          </p:grpSpPr>
          <p:sp>
            <p:nvSpPr>
              <p:cNvPr id="91221" name="Rectangle 9"/>
              <p:cNvSpPr>
                <a:spLocks noChangeArrowheads="1"/>
              </p:cNvSpPr>
              <p:nvPr/>
            </p:nvSpPr>
            <p:spPr bwMode="auto">
              <a:xfrm>
                <a:off x="1104" y="1152"/>
                <a:ext cx="336" cy="144"/>
              </a:xfrm>
              <a:prstGeom prst="rect">
                <a:avLst/>
              </a:prstGeom>
              <a:grpFill/>
              <a:ln w="9525">
                <a:solidFill>
                  <a:schemeClr val="tx1"/>
                </a:solidFill>
                <a:miter lim="800000"/>
                <a:headEnd/>
                <a:tailEnd/>
              </a:ln>
            </p:spPr>
            <p:txBody>
              <a:bodyPr wrap="none" anchor="ctr"/>
              <a:lstStyle/>
              <a:p>
                <a:endParaRPr lang="zh-CN" altLang="en-US" sz="1600"/>
              </a:p>
            </p:txBody>
          </p:sp>
          <p:sp>
            <p:nvSpPr>
              <p:cNvPr id="91222" name="Line 10"/>
              <p:cNvSpPr>
                <a:spLocks noChangeShapeType="1"/>
              </p:cNvSpPr>
              <p:nvPr/>
            </p:nvSpPr>
            <p:spPr bwMode="auto">
              <a:xfrm>
                <a:off x="1344" y="1152"/>
                <a:ext cx="0" cy="144"/>
              </a:xfrm>
              <a:prstGeom prst="line">
                <a:avLst/>
              </a:prstGeom>
              <a:grpFill/>
              <a:ln w="9525">
                <a:solidFill>
                  <a:schemeClr val="tx1"/>
                </a:solidFill>
                <a:round/>
                <a:headEnd/>
                <a:tailEnd/>
              </a:ln>
            </p:spPr>
            <p:txBody>
              <a:bodyPr/>
              <a:lstStyle/>
              <a:p>
                <a:endParaRPr lang="zh-CN" altLang="en-US" sz="1600"/>
              </a:p>
            </p:txBody>
          </p:sp>
        </p:grpSp>
        <p:grpSp>
          <p:nvGrpSpPr>
            <p:cNvPr id="91215" name="Group 11"/>
            <p:cNvGrpSpPr>
              <a:grpSpLocks/>
            </p:cNvGrpSpPr>
            <p:nvPr/>
          </p:nvGrpSpPr>
          <p:grpSpPr bwMode="auto">
            <a:xfrm>
              <a:off x="1056" y="1152"/>
              <a:ext cx="336" cy="144"/>
              <a:chOff x="1104" y="1152"/>
              <a:chExt cx="336" cy="144"/>
            </a:xfrm>
            <a:grpFill/>
          </p:grpSpPr>
          <p:sp>
            <p:nvSpPr>
              <p:cNvPr id="91219" name="Rectangle 12"/>
              <p:cNvSpPr>
                <a:spLocks noChangeArrowheads="1"/>
              </p:cNvSpPr>
              <p:nvPr/>
            </p:nvSpPr>
            <p:spPr bwMode="auto">
              <a:xfrm>
                <a:off x="1104" y="1152"/>
                <a:ext cx="336" cy="144"/>
              </a:xfrm>
              <a:prstGeom prst="rect">
                <a:avLst/>
              </a:prstGeom>
              <a:grpFill/>
              <a:ln w="9525">
                <a:solidFill>
                  <a:schemeClr val="tx1"/>
                </a:solidFill>
                <a:miter lim="800000"/>
                <a:headEnd/>
                <a:tailEnd/>
              </a:ln>
            </p:spPr>
            <p:txBody>
              <a:bodyPr wrap="none" anchor="ctr"/>
              <a:lstStyle/>
              <a:p>
                <a:endParaRPr lang="zh-CN" altLang="en-US" sz="1600"/>
              </a:p>
            </p:txBody>
          </p:sp>
          <p:sp>
            <p:nvSpPr>
              <p:cNvPr id="91220" name="Line 13"/>
              <p:cNvSpPr>
                <a:spLocks noChangeShapeType="1"/>
              </p:cNvSpPr>
              <p:nvPr/>
            </p:nvSpPr>
            <p:spPr bwMode="auto">
              <a:xfrm>
                <a:off x="1344" y="1152"/>
                <a:ext cx="0" cy="144"/>
              </a:xfrm>
              <a:prstGeom prst="line">
                <a:avLst/>
              </a:prstGeom>
              <a:grpFill/>
              <a:ln w="9525">
                <a:solidFill>
                  <a:schemeClr val="tx1"/>
                </a:solidFill>
                <a:round/>
                <a:headEnd/>
                <a:tailEnd/>
              </a:ln>
            </p:spPr>
            <p:txBody>
              <a:bodyPr/>
              <a:lstStyle/>
              <a:p>
                <a:endParaRPr lang="zh-CN" altLang="en-US" sz="1600"/>
              </a:p>
            </p:txBody>
          </p:sp>
        </p:grpSp>
        <p:grpSp>
          <p:nvGrpSpPr>
            <p:cNvPr id="91216" name="Group 14"/>
            <p:cNvGrpSpPr>
              <a:grpSpLocks/>
            </p:cNvGrpSpPr>
            <p:nvPr/>
          </p:nvGrpSpPr>
          <p:grpSpPr bwMode="auto">
            <a:xfrm>
              <a:off x="1440" y="1152"/>
              <a:ext cx="336" cy="144"/>
              <a:chOff x="1104" y="1152"/>
              <a:chExt cx="336" cy="144"/>
            </a:xfrm>
            <a:grpFill/>
          </p:grpSpPr>
          <p:sp>
            <p:nvSpPr>
              <p:cNvPr id="91217" name="Rectangle 15"/>
              <p:cNvSpPr>
                <a:spLocks noChangeArrowheads="1"/>
              </p:cNvSpPr>
              <p:nvPr/>
            </p:nvSpPr>
            <p:spPr bwMode="auto">
              <a:xfrm>
                <a:off x="1104" y="1152"/>
                <a:ext cx="336" cy="144"/>
              </a:xfrm>
              <a:prstGeom prst="rect">
                <a:avLst/>
              </a:prstGeom>
              <a:grpFill/>
              <a:ln w="9525">
                <a:solidFill>
                  <a:schemeClr val="tx1"/>
                </a:solidFill>
                <a:miter lim="800000"/>
                <a:headEnd/>
                <a:tailEnd/>
              </a:ln>
            </p:spPr>
            <p:txBody>
              <a:bodyPr wrap="none" anchor="ctr"/>
              <a:lstStyle/>
              <a:p>
                <a:endParaRPr lang="zh-CN" altLang="en-US" sz="1600"/>
              </a:p>
            </p:txBody>
          </p:sp>
          <p:sp>
            <p:nvSpPr>
              <p:cNvPr id="91218" name="Line 16"/>
              <p:cNvSpPr>
                <a:spLocks noChangeShapeType="1"/>
              </p:cNvSpPr>
              <p:nvPr/>
            </p:nvSpPr>
            <p:spPr bwMode="auto">
              <a:xfrm>
                <a:off x="1344" y="1152"/>
                <a:ext cx="0" cy="144"/>
              </a:xfrm>
              <a:prstGeom prst="line">
                <a:avLst/>
              </a:prstGeom>
              <a:grpFill/>
              <a:ln w="9525">
                <a:solidFill>
                  <a:schemeClr val="tx1"/>
                </a:solidFill>
                <a:round/>
                <a:headEnd/>
                <a:tailEnd/>
              </a:ln>
            </p:spPr>
            <p:txBody>
              <a:bodyPr/>
              <a:lstStyle/>
              <a:p>
                <a:endParaRPr lang="zh-CN" altLang="en-US" sz="1600"/>
              </a:p>
            </p:txBody>
          </p:sp>
        </p:grpSp>
      </p:grpSp>
      <p:sp>
        <p:nvSpPr>
          <p:cNvPr id="91146" name="Line 17"/>
          <p:cNvSpPr>
            <a:spLocks noChangeShapeType="1"/>
          </p:cNvSpPr>
          <p:nvPr/>
        </p:nvSpPr>
        <p:spPr bwMode="auto">
          <a:xfrm>
            <a:off x="1244423" y="2657957"/>
            <a:ext cx="1447800" cy="1676400"/>
          </a:xfrm>
          <a:prstGeom prst="line">
            <a:avLst/>
          </a:prstGeom>
          <a:noFill/>
          <a:ln w="9525">
            <a:solidFill>
              <a:schemeClr val="tx1"/>
            </a:solidFill>
            <a:round/>
            <a:headEnd/>
            <a:tailEnd type="triangle" w="med" len="med"/>
          </a:ln>
        </p:spPr>
        <p:txBody>
          <a:bodyPr/>
          <a:lstStyle/>
          <a:p>
            <a:endParaRPr lang="zh-CN" altLang="en-US"/>
          </a:p>
        </p:txBody>
      </p:sp>
      <p:sp>
        <p:nvSpPr>
          <p:cNvPr id="91147" name="Line 18"/>
          <p:cNvSpPr>
            <a:spLocks noChangeShapeType="1"/>
          </p:cNvSpPr>
          <p:nvPr/>
        </p:nvSpPr>
        <p:spPr bwMode="auto">
          <a:xfrm>
            <a:off x="2387423" y="2657957"/>
            <a:ext cx="1447800" cy="1676400"/>
          </a:xfrm>
          <a:prstGeom prst="line">
            <a:avLst/>
          </a:prstGeom>
          <a:noFill/>
          <a:ln w="9525">
            <a:solidFill>
              <a:schemeClr val="tx1"/>
            </a:solidFill>
            <a:round/>
            <a:headEnd/>
            <a:tailEnd type="triangle" w="med" len="med"/>
          </a:ln>
        </p:spPr>
        <p:txBody>
          <a:bodyPr/>
          <a:lstStyle/>
          <a:p>
            <a:endParaRPr lang="zh-CN" altLang="en-US"/>
          </a:p>
        </p:txBody>
      </p:sp>
      <p:sp>
        <p:nvSpPr>
          <p:cNvPr id="91148" name="Text Box 21"/>
          <p:cNvSpPr txBox="1">
            <a:spLocks noChangeArrowheads="1"/>
          </p:cNvSpPr>
          <p:nvPr/>
        </p:nvSpPr>
        <p:spPr bwMode="auto">
          <a:xfrm>
            <a:off x="2777948" y="4304195"/>
            <a:ext cx="559705"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ACK</a:t>
            </a:r>
          </a:p>
        </p:txBody>
      </p:sp>
      <p:sp>
        <p:nvSpPr>
          <p:cNvPr id="91149" name="Line 22"/>
          <p:cNvSpPr>
            <a:spLocks noChangeShapeType="1"/>
          </p:cNvSpPr>
          <p:nvPr/>
        </p:nvSpPr>
        <p:spPr bwMode="auto">
          <a:xfrm>
            <a:off x="1244423" y="2353157"/>
            <a:ext cx="1143000" cy="0"/>
          </a:xfrm>
          <a:prstGeom prst="line">
            <a:avLst/>
          </a:prstGeom>
          <a:noFill/>
          <a:ln w="9525">
            <a:solidFill>
              <a:schemeClr val="tx1"/>
            </a:solidFill>
            <a:round/>
            <a:headEnd type="triangle" w="med" len="med"/>
            <a:tailEnd type="triangle" w="med" len="med"/>
          </a:ln>
        </p:spPr>
        <p:txBody>
          <a:bodyPr/>
          <a:lstStyle/>
          <a:p>
            <a:endParaRPr lang="zh-CN" altLang="en-US" sz="1600"/>
          </a:p>
        </p:txBody>
      </p:sp>
      <p:sp>
        <p:nvSpPr>
          <p:cNvPr id="91150" name="Text Box 23"/>
          <p:cNvSpPr txBox="1">
            <a:spLocks noChangeArrowheads="1"/>
          </p:cNvSpPr>
          <p:nvPr/>
        </p:nvSpPr>
        <p:spPr bwMode="auto">
          <a:xfrm>
            <a:off x="1244423" y="2048357"/>
            <a:ext cx="1142998" cy="338554"/>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lang="zh-CN" altLang="en-US" sz="1600" dirty="0">
                <a:solidFill>
                  <a:srgbClr val="000099"/>
                </a:solidFill>
                <a:ea typeface="宋体" pitchFamily="2" charset="-122"/>
              </a:rPr>
              <a:t>发送</a:t>
            </a:r>
            <a:r>
              <a:rPr kumimoji="0" lang="zh-CN" altLang="en-US" sz="1600" dirty="0">
                <a:solidFill>
                  <a:srgbClr val="000099"/>
                </a:solidFill>
                <a:ea typeface="宋体" pitchFamily="2" charset="-122"/>
              </a:rPr>
              <a:t>窗口</a:t>
            </a:r>
            <a:endParaRPr kumimoji="0" lang="en-US" altLang="zh-CN" sz="1600" dirty="0">
              <a:solidFill>
                <a:srgbClr val="000099"/>
              </a:solidFill>
              <a:ea typeface="宋体" pitchFamily="2" charset="-122"/>
            </a:endParaRPr>
          </a:p>
        </p:txBody>
      </p:sp>
      <p:sp>
        <p:nvSpPr>
          <p:cNvPr id="91151" name="Line 24"/>
          <p:cNvSpPr>
            <a:spLocks noChangeShapeType="1"/>
          </p:cNvSpPr>
          <p:nvPr/>
        </p:nvSpPr>
        <p:spPr bwMode="auto">
          <a:xfrm>
            <a:off x="1244423" y="2048357"/>
            <a:ext cx="2895600" cy="0"/>
          </a:xfrm>
          <a:prstGeom prst="line">
            <a:avLst/>
          </a:prstGeom>
          <a:noFill/>
          <a:ln w="9525">
            <a:solidFill>
              <a:schemeClr val="tx1"/>
            </a:solidFill>
            <a:round/>
            <a:headEnd/>
            <a:tailEnd type="triangle" w="med" len="med"/>
          </a:ln>
        </p:spPr>
        <p:txBody>
          <a:bodyPr/>
          <a:lstStyle/>
          <a:p>
            <a:endParaRPr lang="zh-CN" altLang="en-US" sz="1600"/>
          </a:p>
        </p:txBody>
      </p:sp>
      <p:sp>
        <p:nvSpPr>
          <p:cNvPr id="91152" name="Line 25"/>
          <p:cNvSpPr>
            <a:spLocks noChangeShapeType="1"/>
          </p:cNvSpPr>
          <p:nvPr/>
        </p:nvSpPr>
        <p:spPr bwMode="auto">
          <a:xfrm flipV="1">
            <a:off x="1244423" y="1895957"/>
            <a:ext cx="0" cy="457200"/>
          </a:xfrm>
          <a:prstGeom prst="line">
            <a:avLst/>
          </a:prstGeom>
          <a:noFill/>
          <a:ln w="9525">
            <a:solidFill>
              <a:schemeClr val="tx1"/>
            </a:solidFill>
            <a:round/>
            <a:headEnd/>
            <a:tailEnd/>
          </a:ln>
        </p:spPr>
        <p:txBody>
          <a:bodyPr/>
          <a:lstStyle/>
          <a:p>
            <a:endParaRPr lang="zh-CN" altLang="en-US" sz="1600"/>
          </a:p>
        </p:txBody>
      </p:sp>
      <p:sp>
        <p:nvSpPr>
          <p:cNvPr id="91153" name="Line 26"/>
          <p:cNvSpPr>
            <a:spLocks noChangeShapeType="1"/>
          </p:cNvSpPr>
          <p:nvPr/>
        </p:nvSpPr>
        <p:spPr bwMode="auto">
          <a:xfrm flipV="1">
            <a:off x="4140023" y="1895957"/>
            <a:ext cx="0" cy="685800"/>
          </a:xfrm>
          <a:prstGeom prst="line">
            <a:avLst/>
          </a:prstGeom>
          <a:noFill/>
          <a:ln w="9525">
            <a:solidFill>
              <a:schemeClr val="tx1"/>
            </a:solidFill>
            <a:round/>
            <a:headEnd/>
            <a:tailEnd/>
          </a:ln>
        </p:spPr>
        <p:txBody>
          <a:bodyPr/>
          <a:lstStyle/>
          <a:p>
            <a:endParaRPr lang="zh-CN" altLang="en-US" sz="1600"/>
          </a:p>
        </p:txBody>
      </p:sp>
      <p:sp>
        <p:nvSpPr>
          <p:cNvPr id="91154" name="Text Box 27"/>
          <p:cNvSpPr txBox="1">
            <a:spLocks noChangeArrowheads="1"/>
          </p:cNvSpPr>
          <p:nvPr/>
        </p:nvSpPr>
        <p:spPr bwMode="auto">
          <a:xfrm>
            <a:off x="2039760" y="1757845"/>
            <a:ext cx="1142995" cy="338554"/>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en-US" altLang="zh-CN" sz="1600" dirty="0">
                <a:solidFill>
                  <a:srgbClr val="000099"/>
                </a:solidFill>
                <a:ea typeface="宋体" pitchFamily="2" charset="-122"/>
              </a:rPr>
              <a:t>RTT</a:t>
            </a:r>
          </a:p>
        </p:txBody>
      </p:sp>
      <p:grpSp>
        <p:nvGrpSpPr>
          <p:cNvPr id="91191" name="Group 30"/>
          <p:cNvGrpSpPr>
            <a:grpSpLocks/>
          </p:cNvGrpSpPr>
          <p:nvPr/>
        </p:nvGrpSpPr>
        <p:grpSpPr bwMode="auto">
          <a:xfrm>
            <a:off x="5816432" y="1757845"/>
            <a:ext cx="1593850" cy="3109913"/>
            <a:chOff x="3744" y="1161"/>
            <a:chExt cx="1004" cy="1959"/>
          </a:xfrm>
        </p:grpSpPr>
        <p:sp>
          <p:nvSpPr>
            <p:cNvPr id="91193" name="Line 31"/>
            <p:cNvSpPr>
              <a:spLocks noChangeShapeType="1"/>
            </p:cNvSpPr>
            <p:nvPr/>
          </p:nvSpPr>
          <p:spPr bwMode="auto">
            <a:xfrm>
              <a:off x="3744" y="1161"/>
              <a:ext cx="0" cy="1959"/>
            </a:xfrm>
            <a:prstGeom prst="line">
              <a:avLst/>
            </a:prstGeom>
            <a:noFill/>
            <a:ln w="9525" cap="rnd">
              <a:solidFill>
                <a:schemeClr val="tx1"/>
              </a:solidFill>
              <a:prstDash val="sysDot"/>
              <a:round/>
              <a:headEnd/>
              <a:tailEnd/>
            </a:ln>
          </p:spPr>
          <p:txBody>
            <a:bodyPr/>
            <a:lstStyle/>
            <a:p>
              <a:endParaRPr lang="zh-CN" altLang="en-US"/>
            </a:p>
          </p:txBody>
        </p:sp>
        <p:grpSp>
          <p:nvGrpSpPr>
            <p:cNvPr id="91194" name="Group 32"/>
            <p:cNvGrpSpPr>
              <a:grpSpLocks/>
            </p:cNvGrpSpPr>
            <p:nvPr/>
          </p:nvGrpSpPr>
          <p:grpSpPr bwMode="auto">
            <a:xfrm>
              <a:off x="4028" y="1168"/>
              <a:ext cx="720" cy="1849"/>
              <a:chOff x="4028" y="1168"/>
              <a:chExt cx="720" cy="1849"/>
            </a:xfrm>
          </p:grpSpPr>
          <p:grpSp>
            <p:nvGrpSpPr>
              <p:cNvPr id="91195" name="Group 33"/>
              <p:cNvGrpSpPr>
                <a:grpSpLocks/>
              </p:cNvGrpSpPr>
              <p:nvPr/>
            </p:nvGrpSpPr>
            <p:grpSpPr bwMode="auto">
              <a:xfrm>
                <a:off x="4028" y="1584"/>
                <a:ext cx="720" cy="96"/>
                <a:chOff x="672" y="1152"/>
                <a:chExt cx="1104" cy="144"/>
              </a:xfrm>
            </p:grpSpPr>
            <p:grpSp>
              <p:nvGrpSpPr>
                <p:cNvPr id="91205" name="Group 34"/>
                <p:cNvGrpSpPr>
                  <a:grpSpLocks/>
                </p:cNvGrpSpPr>
                <p:nvPr/>
              </p:nvGrpSpPr>
              <p:grpSpPr bwMode="auto">
                <a:xfrm>
                  <a:off x="672" y="1152"/>
                  <a:ext cx="336" cy="144"/>
                  <a:chOff x="1104" y="1152"/>
                  <a:chExt cx="336" cy="144"/>
                </a:xfrm>
              </p:grpSpPr>
              <p:sp>
                <p:nvSpPr>
                  <p:cNvPr id="91212" name="Rectangle 35"/>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213" name="Line 36"/>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206" name="Group 37"/>
                <p:cNvGrpSpPr>
                  <a:grpSpLocks/>
                </p:cNvGrpSpPr>
                <p:nvPr/>
              </p:nvGrpSpPr>
              <p:grpSpPr bwMode="auto">
                <a:xfrm>
                  <a:off x="1056" y="1152"/>
                  <a:ext cx="336" cy="144"/>
                  <a:chOff x="1104" y="1152"/>
                  <a:chExt cx="336" cy="144"/>
                </a:xfrm>
              </p:grpSpPr>
              <p:sp>
                <p:nvSpPr>
                  <p:cNvPr id="91210" name="Rectangle 38"/>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211" name="Line 39"/>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207" name="Group 40"/>
                <p:cNvGrpSpPr>
                  <a:grpSpLocks/>
                </p:cNvGrpSpPr>
                <p:nvPr/>
              </p:nvGrpSpPr>
              <p:grpSpPr bwMode="auto">
                <a:xfrm>
                  <a:off x="1440" y="1152"/>
                  <a:ext cx="336" cy="144"/>
                  <a:chOff x="1104" y="1152"/>
                  <a:chExt cx="336" cy="144"/>
                </a:xfrm>
              </p:grpSpPr>
              <p:sp>
                <p:nvSpPr>
                  <p:cNvPr id="91208" name="Rectangle 41"/>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209" name="Line 42"/>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sp>
            <p:nvSpPr>
              <p:cNvPr id="91196" name="Line 43"/>
              <p:cNvSpPr>
                <a:spLocks noChangeShapeType="1"/>
              </p:cNvSpPr>
              <p:nvPr/>
            </p:nvSpPr>
            <p:spPr bwMode="auto">
              <a:xfrm>
                <a:off x="4028" y="1728"/>
                <a:ext cx="407" cy="1056"/>
              </a:xfrm>
              <a:prstGeom prst="line">
                <a:avLst/>
              </a:prstGeom>
              <a:noFill/>
              <a:ln w="9525">
                <a:solidFill>
                  <a:schemeClr val="tx1"/>
                </a:solidFill>
                <a:round/>
                <a:headEnd/>
                <a:tailEnd type="triangle" w="med" len="med"/>
              </a:ln>
            </p:spPr>
            <p:txBody>
              <a:bodyPr/>
              <a:lstStyle/>
              <a:p>
                <a:endParaRPr lang="zh-CN" altLang="en-US"/>
              </a:p>
            </p:txBody>
          </p:sp>
          <p:sp>
            <p:nvSpPr>
              <p:cNvPr id="91197" name="Line 44"/>
              <p:cNvSpPr>
                <a:spLocks noChangeShapeType="1"/>
              </p:cNvSpPr>
              <p:nvPr/>
            </p:nvSpPr>
            <p:spPr bwMode="auto">
              <a:xfrm flipH="1">
                <a:off x="4437" y="1728"/>
                <a:ext cx="311" cy="1056"/>
              </a:xfrm>
              <a:prstGeom prst="line">
                <a:avLst/>
              </a:prstGeom>
              <a:noFill/>
              <a:ln w="9525">
                <a:solidFill>
                  <a:schemeClr val="tx1"/>
                </a:solidFill>
                <a:round/>
                <a:headEnd type="triangle" w="med" len="med"/>
                <a:tailEnd/>
              </a:ln>
            </p:spPr>
            <p:txBody>
              <a:bodyPr/>
              <a:lstStyle/>
              <a:p>
                <a:endParaRPr lang="zh-CN" altLang="en-US"/>
              </a:p>
            </p:txBody>
          </p:sp>
          <p:sp>
            <p:nvSpPr>
              <p:cNvPr id="91198" name="Text Box 45"/>
              <p:cNvSpPr txBox="1">
                <a:spLocks noChangeArrowheads="1"/>
              </p:cNvSpPr>
              <p:nvPr/>
            </p:nvSpPr>
            <p:spPr bwMode="auto">
              <a:xfrm>
                <a:off x="4232" y="2784"/>
                <a:ext cx="353" cy="23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ACK</a:t>
                </a:r>
              </a:p>
            </p:txBody>
          </p:sp>
          <p:sp>
            <p:nvSpPr>
              <p:cNvPr id="91199" name="Line 46"/>
              <p:cNvSpPr>
                <a:spLocks noChangeShapeType="1"/>
              </p:cNvSpPr>
              <p:nvPr/>
            </p:nvSpPr>
            <p:spPr bwMode="auto">
              <a:xfrm>
                <a:off x="4028" y="1536"/>
                <a:ext cx="720"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91200" name="Text Box 47"/>
              <p:cNvSpPr txBox="1">
                <a:spLocks noChangeArrowheads="1"/>
              </p:cNvSpPr>
              <p:nvPr/>
            </p:nvSpPr>
            <p:spPr bwMode="auto">
              <a:xfrm>
                <a:off x="4028" y="1344"/>
                <a:ext cx="693" cy="213"/>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zh-CN" altLang="en-US" sz="1600" dirty="0">
                    <a:solidFill>
                      <a:srgbClr val="000099"/>
                    </a:solidFill>
                    <a:ea typeface="宋体" pitchFamily="2" charset="-122"/>
                  </a:rPr>
                  <a:t>发送窗口</a:t>
                </a:r>
                <a:endParaRPr kumimoji="0" lang="en-US" altLang="zh-CN" sz="1600" dirty="0">
                  <a:solidFill>
                    <a:srgbClr val="000099"/>
                  </a:solidFill>
                  <a:ea typeface="宋体" pitchFamily="2" charset="-122"/>
                </a:endParaRPr>
              </a:p>
            </p:txBody>
          </p:sp>
          <p:sp>
            <p:nvSpPr>
              <p:cNvPr id="91201" name="Line 48"/>
              <p:cNvSpPr>
                <a:spLocks noChangeShapeType="1"/>
              </p:cNvSpPr>
              <p:nvPr/>
            </p:nvSpPr>
            <p:spPr bwMode="auto">
              <a:xfrm>
                <a:off x="4028" y="1344"/>
                <a:ext cx="720" cy="0"/>
              </a:xfrm>
              <a:prstGeom prst="line">
                <a:avLst/>
              </a:prstGeom>
              <a:noFill/>
              <a:ln w="9525">
                <a:solidFill>
                  <a:schemeClr val="tx1"/>
                </a:solidFill>
                <a:round/>
                <a:headEnd/>
                <a:tailEnd type="triangle" w="med" len="med"/>
              </a:ln>
            </p:spPr>
            <p:txBody>
              <a:bodyPr/>
              <a:lstStyle/>
              <a:p>
                <a:endParaRPr lang="zh-CN" altLang="en-US"/>
              </a:p>
            </p:txBody>
          </p:sp>
          <p:sp>
            <p:nvSpPr>
              <p:cNvPr id="91202" name="Line 49"/>
              <p:cNvSpPr>
                <a:spLocks noChangeShapeType="1"/>
              </p:cNvSpPr>
              <p:nvPr/>
            </p:nvSpPr>
            <p:spPr bwMode="auto">
              <a:xfrm flipV="1">
                <a:off x="4028" y="1248"/>
                <a:ext cx="0" cy="288"/>
              </a:xfrm>
              <a:prstGeom prst="line">
                <a:avLst/>
              </a:prstGeom>
              <a:noFill/>
              <a:ln w="9525">
                <a:solidFill>
                  <a:schemeClr val="tx1"/>
                </a:solidFill>
                <a:round/>
                <a:headEnd/>
                <a:tailEnd/>
              </a:ln>
            </p:spPr>
            <p:txBody>
              <a:bodyPr/>
              <a:lstStyle/>
              <a:p>
                <a:endParaRPr lang="zh-CN" altLang="en-US"/>
              </a:p>
            </p:txBody>
          </p:sp>
          <p:sp>
            <p:nvSpPr>
              <p:cNvPr id="91203" name="Line 50"/>
              <p:cNvSpPr>
                <a:spLocks noChangeShapeType="1"/>
              </p:cNvSpPr>
              <p:nvPr/>
            </p:nvSpPr>
            <p:spPr bwMode="auto">
              <a:xfrm flipV="1">
                <a:off x="4748" y="1248"/>
                <a:ext cx="0" cy="432"/>
              </a:xfrm>
              <a:prstGeom prst="line">
                <a:avLst/>
              </a:prstGeom>
              <a:noFill/>
              <a:ln w="9525">
                <a:solidFill>
                  <a:schemeClr val="tx1"/>
                </a:solidFill>
                <a:round/>
                <a:headEnd/>
                <a:tailEnd/>
              </a:ln>
            </p:spPr>
            <p:txBody>
              <a:bodyPr/>
              <a:lstStyle/>
              <a:p>
                <a:endParaRPr lang="zh-CN" altLang="en-US"/>
              </a:p>
            </p:txBody>
          </p:sp>
          <p:sp>
            <p:nvSpPr>
              <p:cNvPr id="91204" name="Text Box 51"/>
              <p:cNvSpPr txBox="1">
                <a:spLocks noChangeArrowheads="1"/>
              </p:cNvSpPr>
              <p:nvPr/>
            </p:nvSpPr>
            <p:spPr bwMode="auto">
              <a:xfrm>
                <a:off x="4243" y="1168"/>
                <a:ext cx="313" cy="21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solidFill>
                      <a:srgbClr val="000099"/>
                    </a:solidFill>
                    <a:ea typeface="宋体" pitchFamily="2" charset="-122"/>
                  </a:rPr>
                  <a:t>RTT</a:t>
                </a:r>
              </a:p>
            </p:txBody>
          </p:sp>
        </p:grpSp>
      </p:grpSp>
      <p:grpSp>
        <p:nvGrpSpPr>
          <p:cNvPr id="91157" name="Group 53"/>
          <p:cNvGrpSpPr>
            <a:grpSpLocks/>
          </p:cNvGrpSpPr>
          <p:nvPr/>
        </p:nvGrpSpPr>
        <p:grpSpPr bwMode="auto">
          <a:xfrm>
            <a:off x="7486473" y="2429357"/>
            <a:ext cx="1143000" cy="1905000"/>
            <a:chOff x="4796" y="1584"/>
            <a:chExt cx="720" cy="1200"/>
          </a:xfrm>
        </p:grpSpPr>
        <p:grpSp>
          <p:nvGrpSpPr>
            <p:cNvPr id="91179" name="Group 54"/>
            <p:cNvGrpSpPr>
              <a:grpSpLocks/>
            </p:cNvGrpSpPr>
            <p:nvPr/>
          </p:nvGrpSpPr>
          <p:grpSpPr bwMode="auto">
            <a:xfrm>
              <a:off x="4796" y="1584"/>
              <a:ext cx="720" cy="96"/>
              <a:chOff x="672" y="1152"/>
              <a:chExt cx="1104" cy="144"/>
            </a:xfrm>
          </p:grpSpPr>
          <p:grpSp>
            <p:nvGrpSpPr>
              <p:cNvPr id="91182" name="Group 55"/>
              <p:cNvGrpSpPr>
                <a:grpSpLocks/>
              </p:cNvGrpSpPr>
              <p:nvPr/>
            </p:nvGrpSpPr>
            <p:grpSpPr bwMode="auto">
              <a:xfrm>
                <a:off x="672" y="1152"/>
                <a:ext cx="336" cy="144"/>
                <a:chOff x="1104" y="1152"/>
                <a:chExt cx="336" cy="144"/>
              </a:xfrm>
            </p:grpSpPr>
            <p:sp>
              <p:nvSpPr>
                <p:cNvPr id="91189" name="Rectangle 56"/>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90" name="Line 57"/>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183" name="Group 58"/>
              <p:cNvGrpSpPr>
                <a:grpSpLocks/>
              </p:cNvGrpSpPr>
              <p:nvPr/>
            </p:nvGrpSpPr>
            <p:grpSpPr bwMode="auto">
              <a:xfrm>
                <a:off x="1056" y="1152"/>
                <a:ext cx="336" cy="144"/>
                <a:chOff x="1104" y="1152"/>
                <a:chExt cx="336" cy="144"/>
              </a:xfrm>
            </p:grpSpPr>
            <p:sp>
              <p:nvSpPr>
                <p:cNvPr id="91187" name="Rectangle 59"/>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88" name="Line 60"/>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184" name="Group 61"/>
              <p:cNvGrpSpPr>
                <a:grpSpLocks/>
              </p:cNvGrpSpPr>
              <p:nvPr/>
            </p:nvGrpSpPr>
            <p:grpSpPr bwMode="auto">
              <a:xfrm>
                <a:off x="1440" y="1152"/>
                <a:ext cx="336" cy="144"/>
                <a:chOff x="1104" y="1152"/>
                <a:chExt cx="336" cy="144"/>
              </a:xfrm>
            </p:grpSpPr>
            <p:sp>
              <p:nvSpPr>
                <p:cNvPr id="91185" name="Rectangle 62"/>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86" name="Line 63"/>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sp>
          <p:nvSpPr>
            <p:cNvPr id="91180" name="Line 64"/>
            <p:cNvSpPr>
              <a:spLocks noChangeShapeType="1"/>
            </p:cNvSpPr>
            <p:nvPr/>
          </p:nvSpPr>
          <p:spPr bwMode="auto">
            <a:xfrm>
              <a:off x="4796" y="1728"/>
              <a:ext cx="407" cy="1056"/>
            </a:xfrm>
            <a:prstGeom prst="line">
              <a:avLst/>
            </a:prstGeom>
            <a:noFill/>
            <a:ln w="9525">
              <a:solidFill>
                <a:schemeClr val="tx1"/>
              </a:solidFill>
              <a:round/>
              <a:headEnd/>
              <a:tailEnd type="triangle" w="med" len="med"/>
            </a:ln>
          </p:spPr>
          <p:txBody>
            <a:bodyPr/>
            <a:lstStyle/>
            <a:p>
              <a:endParaRPr lang="zh-CN" altLang="en-US"/>
            </a:p>
          </p:txBody>
        </p:sp>
        <p:sp>
          <p:nvSpPr>
            <p:cNvPr id="91181" name="Line 65"/>
            <p:cNvSpPr>
              <a:spLocks noChangeShapeType="1"/>
            </p:cNvSpPr>
            <p:nvPr/>
          </p:nvSpPr>
          <p:spPr bwMode="auto">
            <a:xfrm flipH="1">
              <a:off x="5205" y="1728"/>
              <a:ext cx="311" cy="1056"/>
            </a:xfrm>
            <a:prstGeom prst="line">
              <a:avLst/>
            </a:prstGeom>
            <a:noFill/>
            <a:ln w="9525">
              <a:solidFill>
                <a:schemeClr val="tx1"/>
              </a:solidFill>
              <a:round/>
              <a:headEnd type="triangle" w="med" len="med"/>
              <a:tailEnd/>
            </a:ln>
          </p:spPr>
          <p:txBody>
            <a:bodyPr/>
            <a:lstStyle/>
            <a:p>
              <a:endParaRPr lang="zh-CN" altLang="en-US"/>
            </a:p>
          </p:txBody>
        </p:sp>
      </p:grpSp>
      <p:sp>
        <p:nvSpPr>
          <p:cNvPr id="91158" name="Text Box 66"/>
          <p:cNvSpPr txBox="1">
            <a:spLocks noChangeArrowheads="1"/>
          </p:cNvSpPr>
          <p:nvPr/>
        </p:nvSpPr>
        <p:spPr bwMode="auto">
          <a:xfrm>
            <a:off x="7810323" y="4334357"/>
            <a:ext cx="559705" cy="369332"/>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dirty="0">
                <a:ea typeface="宋体" pitchFamily="2" charset="-122"/>
              </a:rPr>
              <a:t>ACK</a:t>
            </a:r>
          </a:p>
        </p:txBody>
      </p:sp>
      <p:grpSp>
        <p:nvGrpSpPr>
          <p:cNvPr id="91159" name="Group 84"/>
          <p:cNvGrpSpPr>
            <a:grpSpLocks/>
          </p:cNvGrpSpPr>
          <p:nvPr/>
        </p:nvGrpSpPr>
        <p:grpSpPr bwMode="auto">
          <a:xfrm>
            <a:off x="2716037" y="2048357"/>
            <a:ext cx="2627313" cy="2286000"/>
            <a:chOff x="1776" y="1344"/>
            <a:chExt cx="1655" cy="1440"/>
          </a:xfrm>
        </p:grpSpPr>
        <p:sp>
          <p:nvSpPr>
            <p:cNvPr id="91164" name="Line 19"/>
            <p:cNvSpPr>
              <a:spLocks noChangeShapeType="1"/>
            </p:cNvSpPr>
            <p:nvPr/>
          </p:nvSpPr>
          <p:spPr bwMode="auto">
            <a:xfrm flipH="1">
              <a:off x="1776" y="1728"/>
              <a:ext cx="912" cy="1056"/>
            </a:xfrm>
            <a:prstGeom prst="line">
              <a:avLst/>
            </a:prstGeom>
            <a:noFill/>
            <a:ln w="9525">
              <a:solidFill>
                <a:schemeClr val="tx1"/>
              </a:solidFill>
              <a:round/>
              <a:headEnd type="triangle" w="med" len="med"/>
              <a:tailEnd/>
            </a:ln>
          </p:spPr>
          <p:txBody>
            <a:bodyPr/>
            <a:lstStyle/>
            <a:p>
              <a:endParaRPr lang="zh-CN" altLang="en-US"/>
            </a:p>
          </p:txBody>
        </p:sp>
        <p:sp>
          <p:nvSpPr>
            <p:cNvPr id="91165" name="Line 20"/>
            <p:cNvSpPr>
              <a:spLocks noChangeShapeType="1"/>
            </p:cNvSpPr>
            <p:nvPr/>
          </p:nvSpPr>
          <p:spPr bwMode="auto">
            <a:xfrm flipH="1">
              <a:off x="2496" y="1728"/>
              <a:ext cx="912" cy="1056"/>
            </a:xfrm>
            <a:prstGeom prst="line">
              <a:avLst/>
            </a:prstGeom>
            <a:noFill/>
            <a:ln w="9525">
              <a:solidFill>
                <a:schemeClr val="tx1"/>
              </a:solidFill>
              <a:round/>
              <a:headEnd type="triangle" w="med" len="med"/>
              <a:tailEnd/>
            </a:ln>
          </p:spPr>
          <p:txBody>
            <a:bodyPr/>
            <a:lstStyle/>
            <a:p>
              <a:endParaRPr lang="zh-CN" altLang="en-US"/>
            </a:p>
          </p:txBody>
        </p:sp>
        <p:grpSp>
          <p:nvGrpSpPr>
            <p:cNvPr id="91166" name="Group 67"/>
            <p:cNvGrpSpPr>
              <a:grpSpLocks/>
            </p:cNvGrpSpPr>
            <p:nvPr/>
          </p:nvGrpSpPr>
          <p:grpSpPr bwMode="auto">
            <a:xfrm>
              <a:off x="2688" y="1344"/>
              <a:ext cx="743" cy="336"/>
              <a:chOff x="2688" y="1344"/>
              <a:chExt cx="743" cy="336"/>
            </a:xfrm>
          </p:grpSpPr>
          <p:grpSp>
            <p:nvGrpSpPr>
              <p:cNvPr id="91167" name="Group 68"/>
              <p:cNvGrpSpPr>
                <a:grpSpLocks/>
              </p:cNvGrpSpPr>
              <p:nvPr/>
            </p:nvGrpSpPr>
            <p:grpSpPr bwMode="auto">
              <a:xfrm>
                <a:off x="2688" y="1584"/>
                <a:ext cx="720" cy="96"/>
                <a:chOff x="672" y="1152"/>
                <a:chExt cx="1104" cy="144"/>
              </a:xfrm>
            </p:grpSpPr>
            <p:grpSp>
              <p:nvGrpSpPr>
                <p:cNvPr id="91170" name="Group 69"/>
                <p:cNvGrpSpPr>
                  <a:grpSpLocks/>
                </p:cNvGrpSpPr>
                <p:nvPr/>
              </p:nvGrpSpPr>
              <p:grpSpPr bwMode="auto">
                <a:xfrm>
                  <a:off x="672" y="1152"/>
                  <a:ext cx="336" cy="144"/>
                  <a:chOff x="1104" y="1152"/>
                  <a:chExt cx="336" cy="144"/>
                </a:xfrm>
              </p:grpSpPr>
              <p:sp>
                <p:nvSpPr>
                  <p:cNvPr id="91177" name="Rectangle 70"/>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78" name="Line 71"/>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171" name="Group 72"/>
                <p:cNvGrpSpPr>
                  <a:grpSpLocks/>
                </p:cNvGrpSpPr>
                <p:nvPr/>
              </p:nvGrpSpPr>
              <p:grpSpPr bwMode="auto">
                <a:xfrm>
                  <a:off x="1056" y="1152"/>
                  <a:ext cx="336" cy="144"/>
                  <a:chOff x="1104" y="1152"/>
                  <a:chExt cx="336" cy="144"/>
                </a:xfrm>
              </p:grpSpPr>
              <p:sp>
                <p:nvSpPr>
                  <p:cNvPr id="91175" name="Rectangle 73"/>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76" name="Line 74"/>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nvGrpSpPr>
                <p:cNvPr id="91172" name="Group 75"/>
                <p:cNvGrpSpPr>
                  <a:grpSpLocks/>
                </p:cNvGrpSpPr>
                <p:nvPr/>
              </p:nvGrpSpPr>
              <p:grpSpPr bwMode="auto">
                <a:xfrm>
                  <a:off x="1440" y="1152"/>
                  <a:ext cx="336" cy="144"/>
                  <a:chOff x="1104" y="1152"/>
                  <a:chExt cx="336" cy="144"/>
                </a:xfrm>
              </p:grpSpPr>
              <p:sp>
                <p:nvSpPr>
                  <p:cNvPr id="91173" name="Rectangle 76"/>
                  <p:cNvSpPr>
                    <a:spLocks noChangeArrowheads="1"/>
                  </p:cNvSpPr>
                  <p:nvPr/>
                </p:nvSpPr>
                <p:spPr bwMode="auto">
                  <a:xfrm>
                    <a:off x="1104" y="1152"/>
                    <a:ext cx="336" cy="144"/>
                  </a:xfrm>
                  <a:prstGeom prst="rect">
                    <a:avLst/>
                  </a:prstGeom>
                  <a:solidFill>
                    <a:schemeClr val="accent6">
                      <a:lumMod val="60000"/>
                      <a:lumOff val="40000"/>
                    </a:schemeClr>
                  </a:solidFill>
                  <a:ln w="9525">
                    <a:solidFill>
                      <a:schemeClr val="tx1"/>
                    </a:solidFill>
                    <a:miter lim="800000"/>
                    <a:headEnd/>
                    <a:tailEnd/>
                  </a:ln>
                </p:spPr>
                <p:txBody>
                  <a:bodyPr wrap="none" anchor="ctr"/>
                  <a:lstStyle/>
                  <a:p>
                    <a:endParaRPr lang="zh-CN" altLang="en-US"/>
                  </a:p>
                </p:txBody>
              </p:sp>
              <p:sp>
                <p:nvSpPr>
                  <p:cNvPr id="91174" name="Line 77"/>
                  <p:cNvSpPr>
                    <a:spLocks noChangeShapeType="1"/>
                  </p:cNvSpPr>
                  <p:nvPr/>
                </p:nvSpPr>
                <p:spPr bwMode="auto">
                  <a:xfrm>
                    <a:off x="1344" y="1152"/>
                    <a:ext cx="0" cy="144"/>
                  </a:xfrm>
                  <a:prstGeom prst="line">
                    <a:avLst/>
                  </a:prstGeom>
                  <a:noFill/>
                  <a:ln w="9525">
                    <a:solidFill>
                      <a:schemeClr val="tx1"/>
                    </a:solidFill>
                    <a:round/>
                    <a:headEnd/>
                    <a:tailEnd/>
                  </a:ln>
                </p:spPr>
                <p:txBody>
                  <a:bodyPr/>
                  <a:lstStyle/>
                  <a:p>
                    <a:endParaRPr lang="zh-CN" altLang="en-US"/>
                  </a:p>
                </p:txBody>
              </p:sp>
            </p:grpSp>
          </p:grpSp>
          <p:sp>
            <p:nvSpPr>
              <p:cNvPr id="91168" name="Line 78"/>
              <p:cNvSpPr>
                <a:spLocks noChangeShapeType="1"/>
              </p:cNvSpPr>
              <p:nvPr/>
            </p:nvSpPr>
            <p:spPr bwMode="auto">
              <a:xfrm>
                <a:off x="2688" y="1536"/>
                <a:ext cx="720"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91169" name="Text Box 79"/>
              <p:cNvSpPr txBox="1">
                <a:spLocks noChangeArrowheads="1"/>
              </p:cNvSpPr>
              <p:nvPr/>
            </p:nvSpPr>
            <p:spPr bwMode="auto">
              <a:xfrm>
                <a:off x="2688" y="1344"/>
                <a:ext cx="743" cy="213"/>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zh-CN" altLang="en-US" sz="1600" dirty="0">
                    <a:solidFill>
                      <a:srgbClr val="000099"/>
                    </a:solidFill>
                    <a:ea typeface="宋体" pitchFamily="2" charset="-122"/>
                  </a:rPr>
                  <a:t>发送窗口</a:t>
                </a:r>
                <a:endParaRPr kumimoji="0" lang="en-US" altLang="zh-CN" sz="1600" dirty="0">
                  <a:solidFill>
                    <a:srgbClr val="000099"/>
                  </a:solidFill>
                  <a:ea typeface="宋体" pitchFamily="2" charset="-122"/>
                </a:endParaRPr>
              </a:p>
            </p:txBody>
          </p:sp>
        </p:grpSp>
      </p:grpSp>
      <p:grpSp>
        <p:nvGrpSpPr>
          <p:cNvPr id="91160" name="Group 80"/>
          <p:cNvGrpSpPr>
            <a:grpSpLocks/>
          </p:cNvGrpSpPr>
          <p:nvPr/>
        </p:nvGrpSpPr>
        <p:grpSpPr bwMode="auto">
          <a:xfrm>
            <a:off x="2387423" y="2099157"/>
            <a:ext cx="1752600" cy="406400"/>
            <a:chOff x="1584" y="1376"/>
            <a:chExt cx="1104" cy="256"/>
          </a:xfrm>
        </p:grpSpPr>
        <p:sp>
          <p:nvSpPr>
            <p:cNvPr id="91162" name="Line 81"/>
            <p:cNvSpPr>
              <a:spLocks noChangeShapeType="1"/>
            </p:cNvSpPr>
            <p:nvPr/>
          </p:nvSpPr>
          <p:spPr bwMode="auto">
            <a:xfrm>
              <a:off x="1584" y="1632"/>
              <a:ext cx="1104" cy="0"/>
            </a:xfrm>
            <a:prstGeom prst="line">
              <a:avLst/>
            </a:prstGeom>
            <a:noFill/>
            <a:ln w="38100">
              <a:solidFill>
                <a:srgbClr val="FF3300"/>
              </a:solidFill>
              <a:prstDash val="sysDot"/>
              <a:round/>
              <a:headEnd/>
              <a:tailEnd/>
            </a:ln>
          </p:spPr>
          <p:txBody>
            <a:bodyPr/>
            <a:lstStyle/>
            <a:p>
              <a:endParaRPr lang="zh-CN" altLang="en-US" sz="1600"/>
            </a:p>
          </p:txBody>
        </p:sp>
        <p:sp>
          <p:nvSpPr>
            <p:cNvPr id="91163" name="Text Box 82"/>
            <p:cNvSpPr txBox="1">
              <a:spLocks noChangeArrowheads="1"/>
            </p:cNvSpPr>
            <p:nvPr/>
          </p:nvSpPr>
          <p:spPr bwMode="auto">
            <a:xfrm>
              <a:off x="1948" y="1376"/>
              <a:ext cx="295" cy="213"/>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1600" dirty="0">
                  <a:solidFill>
                    <a:srgbClr val="FF3300"/>
                  </a:solidFill>
                  <a:ea typeface="宋体" pitchFamily="2" charset="-122"/>
                </a:rPr>
                <a:t>???</a:t>
              </a:r>
            </a:p>
          </p:txBody>
        </p:sp>
      </p:grpSp>
      <p:sp>
        <p:nvSpPr>
          <p:cNvPr id="91161" name="Text Box 83"/>
          <p:cNvSpPr txBox="1">
            <a:spLocks noChangeArrowheads="1"/>
          </p:cNvSpPr>
          <p:nvPr/>
        </p:nvSpPr>
        <p:spPr bwMode="auto">
          <a:xfrm>
            <a:off x="521110" y="5110361"/>
            <a:ext cx="5073380" cy="1050096"/>
          </a:xfrm>
          <a:prstGeom prst="rect">
            <a:avLst/>
          </a:prstGeom>
          <a:noFill/>
          <a:ln w="9525">
            <a:noFill/>
            <a:miter lim="800000"/>
            <a:headEnd/>
            <a:tailEnd/>
          </a:ln>
        </p:spPr>
        <p:txBody>
          <a:bodyPr wrap="square">
            <a:spAutoFit/>
          </a:bodyPr>
          <a:lstStyle/>
          <a:p>
            <a:pPr marL="360363" indent="-360363" eaLnBrk="0" hangingPunct="0">
              <a:lnSpc>
                <a:spcPct val="150000"/>
              </a:lnSpc>
              <a:spcBef>
                <a:spcPct val="0"/>
              </a:spcBef>
              <a:buClrTx/>
              <a:buFontTx/>
              <a:buBlip>
                <a:blip r:embed="rId3"/>
              </a:buBlip>
            </a:pPr>
            <a:r>
              <a:rPr kumimoji="0" lang="zh-CN" altLang="en-US" sz="2200" dirty="0">
                <a:ea typeface="宋体" pitchFamily="2" charset="-122"/>
              </a:rPr>
              <a:t>较小的缓存影响网络的吞吐率</a:t>
            </a:r>
            <a:endParaRPr kumimoji="0" lang="en-US" altLang="zh-CN" sz="2200" dirty="0">
              <a:ea typeface="宋体" pitchFamily="2" charset="-122"/>
            </a:endParaRPr>
          </a:p>
          <a:p>
            <a:pPr marL="360363" indent="-360363" eaLnBrk="0" hangingPunct="0">
              <a:lnSpc>
                <a:spcPct val="150000"/>
              </a:lnSpc>
              <a:spcBef>
                <a:spcPct val="0"/>
              </a:spcBef>
              <a:buClrTx/>
              <a:buFontTx/>
              <a:buBlip>
                <a:blip r:embed="rId3"/>
              </a:buBlip>
            </a:pPr>
            <a:r>
              <a:rPr kumimoji="0" lang="zh-CN" altLang="en-US" sz="2200" dirty="0">
                <a:ea typeface="宋体" pitchFamily="2" charset="-122"/>
              </a:rPr>
              <a:t>过大的缓存浪费主机的存储资源</a:t>
            </a:r>
            <a:endParaRPr kumimoji="0" lang="en-US" altLang="zh-CN" sz="2200" dirty="0">
              <a:ea typeface="宋体" pitchFamily="2" charset="-122"/>
            </a:endParaRPr>
          </a:p>
        </p:txBody>
      </p:sp>
      <p:sp>
        <p:nvSpPr>
          <p:cNvPr id="85" name="标题 1">
            <a:extLst>
              <a:ext uri="{FF2B5EF4-FFF2-40B4-BE49-F238E27FC236}">
                <a16:creationId xmlns:a16="http://schemas.microsoft.com/office/drawing/2014/main" id="{68F19126-A935-40AD-9380-483637B472C6}"/>
              </a:ext>
            </a:extLst>
          </p:cNvPr>
          <p:cNvSpPr txBox="1">
            <a:spLocks/>
          </p:cNvSpPr>
          <p:nvPr/>
        </p:nvSpPr>
        <p:spPr>
          <a:xfrm>
            <a:off x="707367" y="32661"/>
            <a:ext cx="7518174"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p:sp>
        <p:nvSpPr>
          <p:cNvPr id="86" name="Rectangle 2">
            <a:extLst>
              <a:ext uri="{FF2B5EF4-FFF2-40B4-BE49-F238E27FC236}">
                <a16:creationId xmlns:a16="http://schemas.microsoft.com/office/drawing/2014/main" id="{B44D5330-DDAB-4554-97C4-CD7A0C4C2A18}"/>
              </a:ext>
            </a:extLst>
          </p:cNvPr>
          <p:cNvSpPr txBox="1">
            <a:spLocks noChangeArrowheads="1"/>
          </p:cNvSpPr>
          <p:nvPr/>
        </p:nvSpPr>
        <p:spPr>
          <a:xfrm>
            <a:off x="323850" y="620713"/>
            <a:ext cx="8569325" cy="7749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6700" indent="-266700">
              <a:buClr>
                <a:srgbClr val="C00000"/>
              </a:buClr>
              <a:buSzPct val="90000"/>
              <a:buFont typeface="Wingdings" panose="05000000000000000000" pitchFamily="2" charset="2"/>
              <a:buChar char="n"/>
              <a:defRPr/>
            </a:pPr>
            <a:r>
              <a:rPr lang="zh-CN" altLang="en-US" sz="2800" dirty="0">
                <a:latin typeface="Arial" charset="0"/>
                <a:ea typeface="宋体" pitchFamily="2" charset="-122"/>
              </a:rPr>
              <a:t>发送窗口对性能的影响</a:t>
            </a:r>
            <a:endParaRPr lang="en-US" altLang="zh-CN" sz="2800" dirty="0">
              <a:latin typeface="Arial" pitchFamily="34" charset="0"/>
              <a:ea typeface="宋体" pitchFamily="2" charset="-122"/>
            </a:endParaRPr>
          </a:p>
        </p:txBody>
      </p:sp>
      <p:sp>
        <p:nvSpPr>
          <p:cNvPr id="83" name="爆炸形: 14 pt  82">
            <a:extLst>
              <a:ext uri="{FF2B5EF4-FFF2-40B4-BE49-F238E27FC236}">
                <a16:creationId xmlns:a16="http://schemas.microsoft.com/office/drawing/2014/main" id="{17202AC9-1381-4D03-96B8-A0B3D732E20E}"/>
              </a:ext>
            </a:extLst>
          </p:cNvPr>
          <p:cNvSpPr/>
          <p:nvPr/>
        </p:nvSpPr>
        <p:spPr>
          <a:xfrm>
            <a:off x="7477372" y="5544515"/>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3-3</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0632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EAB06908-3643-487D-9ADF-5F0307D20B6B}"/>
              </a:ext>
            </a:extLst>
          </p:cNvPr>
          <p:cNvSpPr txBox="1">
            <a:spLocks/>
          </p:cNvSpPr>
          <p:nvPr/>
        </p:nvSpPr>
        <p:spPr>
          <a:xfrm>
            <a:off x="707367" y="32661"/>
            <a:ext cx="7518174"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流量控制</a:t>
            </a:r>
          </a:p>
        </p:txBody>
      </p:sp>
      <p:sp>
        <p:nvSpPr>
          <p:cNvPr id="12" name="Rectangle 2">
            <a:extLst>
              <a:ext uri="{FF2B5EF4-FFF2-40B4-BE49-F238E27FC236}">
                <a16:creationId xmlns:a16="http://schemas.microsoft.com/office/drawing/2014/main" id="{BB18DF31-F092-4E53-9DB9-0D010F520D80}"/>
              </a:ext>
            </a:extLst>
          </p:cNvPr>
          <p:cNvSpPr txBox="1">
            <a:spLocks noChangeArrowheads="1"/>
          </p:cNvSpPr>
          <p:nvPr/>
        </p:nvSpPr>
        <p:spPr>
          <a:xfrm>
            <a:off x="323850" y="620713"/>
            <a:ext cx="85693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6700" indent="-266700">
              <a:buClr>
                <a:srgbClr val="C00000"/>
              </a:buClr>
              <a:buSzPct val="90000"/>
              <a:buFont typeface="Wingdings" panose="05000000000000000000" pitchFamily="2" charset="2"/>
              <a:buChar char="n"/>
              <a:defRPr/>
            </a:pPr>
            <a:r>
              <a:rPr lang="zh-CN" altLang="en-US" sz="2800" dirty="0">
                <a:latin typeface="Arial" charset="0"/>
                <a:ea typeface="宋体" pitchFamily="2" charset="-122"/>
              </a:rPr>
              <a:t>流量控制（糊涂窗口）</a:t>
            </a:r>
            <a:endParaRPr lang="en-US" altLang="zh-CN" sz="2800" dirty="0">
              <a:latin typeface="Arial" pitchFamily="34" charset="0"/>
              <a:ea typeface="宋体" pitchFamily="2" charset="-122"/>
            </a:endParaRPr>
          </a:p>
        </p:txBody>
      </p:sp>
      <p:grpSp>
        <p:nvGrpSpPr>
          <p:cNvPr id="2" name="组合 1">
            <a:extLst>
              <a:ext uri="{FF2B5EF4-FFF2-40B4-BE49-F238E27FC236}">
                <a16:creationId xmlns:a16="http://schemas.microsoft.com/office/drawing/2014/main" id="{4C869C53-F402-4A8A-BCE4-49CDD282B076}"/>
              </a:ext>
            </a:extLst>
          </p:cNvPr>
          <p:cNvGrpSpPr/>
          <p:nvPr/>
        </p:nvGrpSpPr>
        <p:grpSpPr>
          <a:xfrm>
            <a:off x="948793" y="1181361"/>
            <a:ext cx="7667084" cy="4788811"/>
            <a:chOff x="872129" y="1366181"/>
            <a:chExt cx="7667084" cy="4788811"/>
          </a:xfrm>
        </p:grpSpPr>
        <p:pic>
          <p:nvPicPr>
            <p:cNvPr id="4" name="图片 3">
              <a:extLst>
                <a:ext uri="{FF2B5EF4-FFF2-40B4-BE49-F238E27FC236}">
                  <a16:creationId xmlns:a16="http://schemas.microsoft.com/office/drawing/2014/main" id="{081848CF-F2EE-40CE-8B7D-69342BC67C5F}"/>
                </a:ext>
              </a:extLst>
            </p:cNvPr>
            <p:cNvPicPr>
              <a:picLocks noChangeAspect="1"/>
            </p:cNvPicPr>
            <p:nvPr/>
          </p:nvPicPr>
          <p:blipFill>
            <a:blip r:embed="rId3"/>
            <a:stretch>
              <a:fillRect/>
            </a:stretch>
          </p:blipFill>
          <p:spPr>
            <a:xfrm>
              <a:off x="1151219" y="1892942"/>
              <a:ext cx="6842818" cy="4262050"/>
            </a:xfrm>
            <a:prstGeom prst="rect">
              <a:avLst/>
            </a:prstGeom>
          </p:spPr>
        </p:pic>
        <p:sp>
          <p:nvSpPr>
            <p:cNvPr id="14" name="Text Box 28">
              <a:extLst>
                <a:ext uri="{FF2B5EF4-FFF2-40B4-BE49-F238E27FC236}">
                  <a16:creationId xmlns:a16="http://schemas.microsoft.com/office/drawing/2014/main" id="{E4BCEEB8-01E7-4456-A114-E22AB3BD48B0}"/>
                </a:ext>
              </a:extLst>
            </p:cNvPr>
            <p:cNvSpPr txBox="1">
              <a:spLocks noChangeArrowheads="1"/>
            </p:cNvSpPr>
            <p:nvPr/>
          </p:nvSpPr>
          <p:spPr bwMode="auto">
            <a:xfrm>
              <a:off x="872129" y="1446145"/>
              <a:ext cx="780535" cy="40011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2000" dirty="0">
                  <a:solidFill>
                    <a:srgbClr val="000099"/>
                  </a:solidFill>
                  <a:ea typeface="宋体" pitchFamily="2" charset="-122"/>
                </a:rPr>
                <a:t>TCP A</a:t>
              </a:r>
              <a:endParaRPr lang="en-US" altLang="zh-CN" sz="2000" dirty="0">
                <a:solidFill>
                  <a:srgbClr val="000099"/>
                </a:solidFill>
                <a:ea typeface="宋体" pitchFamily="2" charset="-122"/>
              </a:endParaRPr>
            </a:p>
          </p:txBody>
        </p:sp>
        <p:sp>
          <p:nvSpPr>
            <p:cNvPr id="16" name="Text Box 28">
              <a:extLst>
                <a:ext uri="{FF2B5EF4-FFF2-40B4-BE49-F238E27FC236}">
                  <a16:creationId xmlns:a16="http://schemas.microsoft.com/office/drawing/2014/main" id="{E847E850-C07B-45D5-8C6A-8677F5EEB29B}"/>
                </a:ext>
              </a:extLst>
            </p:cNvPr>
            <p:cNvSpPr txBox="1">
              <a:spLocks noChangeArrowheads="1"/>
            </p:cNvSpPr>
            <p:nvPr/>
          </p:nvSpPr>
          <p:spPr bwMode="auto">
            <a:xfrm>
              <a:off x="5232430" y="1376988"/>
              <a:ext cx="770917" cy="40011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kumimoji="0" lang="en-US" altLang="zh-CN" sz="2000" dirty="0">
                  <a:solidFill>
                    <a:srgbClr val="000099"/>
                  </a:solidFill>
                  <a:ea typeface="宋体" pitchFamily="2" charset="-122"/>
                </a:rPr>
                <a:t>TCP B</a:t>
              </a:r>
              <a:endParaRPr lang="en-US" altLang="zh-CN" sz="2000" dirty="0">
                <a:solidFill>
                  <a:srgbClr val="000099"/>
                </a:solidFill>
                <a:ea typeface="宋体" pitchFamily="2" charset="-122"/>
              </a:endParaRPr>
            </a:p>
          </p:txBody>
        </p:sp>
        <p:sp>
          <p:nvSpPr>
            <p:cNvPr id="17" name="Text Box 28">
              <a:extLst>
                <a:ext uri="{FF2B5EF4-FFF2-40B4-BE49-F238E27FC236}">
                  <a16:creationId xmlns:a16="http://schemas.microsoft.com/office/drawing/2014/main" id="{2C58D300-38A2-4292-B177-185DA92AF15D}"/>
                </a:ext>
              </a:extLst>
            </p:cNvPr>
            <p:cNvSpPr txBox="1">
              <a:spLocks noChangeArrowheads="1"/>
            </p:cNvSpPr>
            <p:nvPr/>
          </p:nvSpPr>
          <p:spPr bwMode="auto">
            <a:xfrm>
              <a:off x="7328625" y="1366181"/>
              <a:ext cx="1210588" cy="400110"/>
            </a:xfrm>
            <a:prstGeom prst="rect">
              <a:avLst/>
            </a:prstGeom>
            <a:noFill/>
            <a:ln w="9525">
              <a:noFill/>
              <a:miter lim="800000"/>
              <a:headEnd/>
              <a:tailEnd/>
            </a:ln>
          </p:spPr>
          <p:txBody>
            <a:bodyPr wrap="none">
              <a:spAutoFit/>
            </a:bodyPr>
            <a:lstStyle/>
            <a:p>
              <a:pPr eaLnBrk="0" hangingPunct="0">
                <a:lnSpc>
                  <a:spcPct val="100000"/>
                </a:lnSpc>
                <a:spcBef>
                  <a:spcPct val="0"/>
                </a:spcBef>
                <a:buClrTx/>
                <a:buFontTx/>
                <a:buNone/>
              </a:pPr>
              <a:r>
                <a:rPr lang="zh-CN" altLang="en-US" sz="2000" dirty="0">
                  <a:solidFill>
                    <a:srgbClr val="000099"/>
                  </a:solidFill>
                  <a:ea typeface="宋体" pitchFamily="2" charset="-122"/>
                </a:rPr>
                <a:t>应用进程</a:t>
              </a:r>
              <a:endParaRPr lang="en-US" altLang="zh-CN" sz="2000" dirty="0">
                <a:solidFill>
                  <a:srgbClr val="000099"/>
                </a:solidFill>
                <a:ea typeface="宋体" pitchFamily="2" charset="-122"/>
              </a:endParaRPr>
            </a:p>
          </p:txBody>
        </p:sp>
      </p:grpSp>
      <p:sp>
        <p:nvSpPr>
          <p:cNvPr id="3" name="矩形 2">
            <a:extLst>
              <a:ext uri="{FF2B5EF4-FFF2-40B4-BE49-F238E27FC236}">
                <a16:creationId xmlns:a16="http://schemas.microsoft.com/office/drawing/2014/main" id="{4719DA52-C8F6-4DC6-ACBE-D115088FD102}"/>
              </a:ext>
            </a:extLst>
          </p:cNvPr>
          <p:cNvSpPr/>
          <p:nvPr/>
        </p:nvSpPr>
        <p:spPr>
          <a:xfrm>
            <a:off x="412337" y="6087874"/>
            <a:ext cx="3954870" cy="387286"/>
          </a:xfrm>
          <a:prstGeom prst="rect">
            <a:avLst/>
          </a:prstGeom>
          <a:solidFill>
            <a:schemeClr val="accent1">
              <a:lumMod val="20000"/>
              <a:lumOff val="80000"/>
            </a:schemeClr>
          </a:solidFill>
          <a:ln>
            <a:noFill/>
          </a:ln>
        </p:spPr>
        <p:txBody>
          <a:bodyPr wrap="square">
            <a:spAutoFit/>
          </a:bodyPr>
          <a:lstStyle/>
          <a:p>
            <a:pPr>
              <a:lnSpc>
                <a:spcPts val="2300"/>
              </a:lnSpc>
            </a:pP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发送端和接收端有哪些解决策略？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88648263"/>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41223" y="737937"/>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连接建立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3CE43C2C-A889-4EE7-8615-4BCA0A34B5EE}"/>
              </a:ext>
            </a:extLst>
          </p:cNvPr>
          <p:cNvSpPr/>
          <p:nvPr/>
        </p:nvSpPr>
        <p:spPr>
          <a:xfrm>
            <a:off x="341223" y="4606434"/>
            <a:ext cx="7114754" cy="1886991"/>
          </a:xfrm>
          <a:prstGeom prst="rect">
            <a:avLst/>
          </a:prstGeom>
        </p:spPr>
        <p:txBody>
          <a:bodyPr wrap="square">
            <a:spAutoFit/>
          </a:bodyPr>
          <a:lstStyle/>
          <a:p>
            <a:pPr marL="266700" indent="-266700">
              <a:lnSpc>
                <a:spcPts val="2600"/>
              </a:lnSpc>
              <a:spcBef>
                <a:spcPts val="3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步骤一：</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SYN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600"/>
              </a:lnSpc>
              <a:spcBef>
                <a:spcPts val="300"/>
              </a:spcBef>
              <a:buFont typeface="Times New Roman" panose="02020603050405020304" pitchFamily="18" charset="0"/>
              <a:buChar char="̵"/>
            </a:pP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分配缓存</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初始序号（</a:t>
            </a:r>
            <a:r>
              <a:rPr lang="en-US" altLang="zh-CN" dirty="0">
                <a:latin typeface="Times New Roman" panose="02020603050405020304" pitchFamily="18" charset="0"/>
                <a:ea typeface="宋体" panose="02010600030101010101" pitchFamily="2" charset="-122"/>
                <a:cs typeface="Times New Roman" panose="02020603050405020304" pitchFamily="18" charset="0"/>
              </a:rPr>
              <a:t>ISN</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Initial Sequence Number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3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SYN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段，回送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SYN+ACK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600"/>
              </a:lnSpc>
              <a:spcBef>
                <a:spcPts val="300"/>
              </a:spcBef>
              <a:buClr>
                <a:schemeClr val="tx1"/>
              </a:buClr>
              <a:buFont typeface="Times New Roman" panose="02020603050405020304" pitchFamily="18" charset="0"/>
              <a:buChar char="̵"/>
            </a:pP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分配缓存</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，选择</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的初始序号</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600"/>
              </a:lnSpc>
              <a:spcBef>
                <a:spcPts val="3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SYN+ACK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段，回送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p>
        </p:txBody>
      </p:sp>
      <p:pic>
        <p:nvPicPr>
          <p:cNvPr id="2" name="图片 1">
            <a:extLst>
              <a:ext uri="{FF2B5EF4-FFF2-40B4-BE49-F238E27FC236}">
                <a16:creationId xmlns:a16="http://schemas.microsoft.com/office/drawing/2014/main" id="{D51DBC8D-B4B0-44A5-8EEE-FF7707BBE5FA}"/>
              </a:ext>
            </a:extLst>
          </p:cNvPr>
          <p:cNvPicPr>
            <a:picLocks noChangeAspect="1"/>
          </p:cNvPicPr>
          <p:nvPr/>
        </p:nvPicPr>
        <p:blipFill>
          <a:blip r:embed="rId3"/>
          <a:stretch>
            <a:fillRect/>
          </a:stretch>
        </p:blipFill>
        <p:spPr>
          <a:xfrm>
            <a:off x="4480122" y="655577"/>
            <a:ext cx="4667468" cy="1935344"/>
          </a:xfrm>
          <a:prstGeom prst="rect">
            <a:avLst/>
          </a:prstGeom>
        </p:spPr>
      </p:pic>
      <p:pic>
        <p:nvPicPr>
          <p:cNvPr id="4" name="图片 3">
            <a:extLst>
              <a:ext uri="{FF2B5EF4-FFF2-40B4-BE49-F238E27FC236}">
                <a16:creationId xmlns:a16="http://schemas.microsoft.com/office/drawing/2014/main" id="{382EC451-3985-4769-8A95-B894D24CCC9F}"/>
              </a:ext>
            </a:extLst>
          </p:cNvPr>
          <p:cNvPicPr>
            <a:picLocks noChangeAspect="1"/>
          </p:cNvPicPr>
          <p:nvPr/>
        </p:nvPicPr>
        <p:blipFill>
          <a:blip r:embed="rId4"/>
          <a:stretch>
            <a:fillRect/>
          </a:stretch>
        </p:blipFill>
        <p:spPr>
          <a:xfrm>
            <a:off x="4480122" y="2634672"/>
            <a:ext cx="4663878" cy="1933856"/>
          </a:xfrm>
          <a:prstGeom prst="rect">
            <a:avLst/>
          </a:prstGeom>
        </p:spPr>
      </p:pic>
      <p:pic>
        <p:nvPicPr>
          <p:cNvPr id="7" name="图片 6">
            <a:extLst>
              <a:ext uri="{FF2B5EF4-FFF2-40B4-BE49-F238E27FC236}">
                <a16:creationId xmlns:a16="http://schemas.microsoft.com/office/drawing/2014/main" id="{7BAB5855-8506-498B-8C64-9BEAF3B33EC5}"/>
              </a:ext>
            </a:extLst>
          </p:cNvPr>
          <p:cNvPicPr>
            <a:picLocks noChangeAspect="1"/>
          </p:cNvPicPr>
          <p:nvPr/>
        </p:nvPicPr>
        <p:blipFill>
          <a:blip r:embed="rId5"/>
          <a:stretch>
            <a:fillRect/>
          </a:stretch>
        </p:blipFill>
        <p:spPr>
          <a:xfrm>
            <a:off x="157504" y="1324203"/>
            <a:ext cx="4184142" cy="3238480"/>
          </a:xfrm>
          <a:prstGeom prst="rect">
            <a:avLst/>
          </a:prstGeom>
          <a:ln>
            <a:solidFill>
              <a:schemeClr val="accent6">
                <a:lumMod val="40000"/>
                <a:lumOff val="60000"/>
              </a:schemeClr>
            </a:solidFill>
          </a:ln>
        </p:spPr>
      </p:pic>
      <p:sp>
        <p:nvSpPr>
          <p:cNvPr id="11" name="矩形 10">
            <a:extLst>
              <a:ext uri="{FF2B5EF4-FFF2-40B4-BE49-F238E27FC236}">
                <a16:creationId xmlns:a16="http://schemas.microsoft.com/office/drawing/2014/main" id="{D6EA15B1-E512-4B11-81AD-C7D9472E7EB7}"/>
              </a:ext>
            </a:extLst>
          </p:cNvPr>
          <p:cNvSpPr/>
          <p:nvPr/>
        </p:nvSpPr>
        <p:spPr>
          <a:xfrm>
            <a:off x="6944497" y="6008012"/>
            <a:ext cx="2001894" cy="387286"/>
          </a:xfrm>
          <a:prstGeom prst="rect">
            <a:avLst/>
          </a:prstGeom>
          <a:solidFill>
            <a:schemeClr val="accent2">
              <a:lumMod val="20000"/>
              <a:lumOff val="80000"/>
            </a:schemeClr>
          </a:solidFill>
          <a:ln>
            <a:solidFill>
              <a:schemeClr val="accent1"/>
            </a:solidFill>
          </a:ln>
        </p:spPr>
        <p:txBody>
          <a:bodyPr wrap="square">
            <a:spAutoFit/>
          </a:bodyPr>
          <a:lstStyle/>
          <a:p>
            <a:pPr>
              <a:lnSpc>
                <a:spcPts val="2300"/>
              </a:lnSpc>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SYN</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洪泛攻击？</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22321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7" name="Group 47">
            <a:extLst>
              <a:ext uri="{FF2B5EF4-FFF2-40B4-BE49-F238E27FC236}">
                <a16:creationId xmlns:a16="http://schemas.microsoft.com/office/drawing/2014/main" id="{48EFFCD2-291D-427F-8789-89467A1159CB}"/>
              </a:ext>
            </a:extLst>
          </p:cNvPr>
          <p:cNvGrpSpPr>
            <a:grpSpLocks/>
          </p:cNvGrpSpPr>
          <p:nvPr/>
        </p:nvGrpSpPr>
        <p:grpSpPr bwMode="auto">
          <a:xfrm>
            <a:off x="3690938" y="1246188"/>
            <a:ext cx="876300" cy="827087"/>
            <a:chOff x="1778" y="1720"/>
            <a:chExt cx="722" cy="642"/>
          </a:xfrm>
        </p:grpSpPr>
        <p:sp>
          <p:nvSpPr>
            <p:cNvPr id="82988" name="Oval 41">
              <a:extLst>
                <a:ext uri="{FF2B5EF4-FFF2-40B4-BE49-F238E27FC236}">
                  <a16:creationId xmlns:a16="http://schemas.microsoft.com/office/drawing/2014/main" id="{51BECBA5-5EC4-425B-B6B8-64953FE8290D}"/>
                </a:ext>
              </a:extLst>
            </p:cNvPr>
            <p:cNvSpPr>
              <a:spLocks noChangeArrowheads="1"/>
            </p:cNvSpPr>
            <p:nvPr/>
          </p:nvSpPr>
          <p:spPr bwMode="auto">
            <a:xfrm>
              <a:off x="1825" y="1720"/>
              <a:ext cx="675" cy="612"/>
            </a:xfrm>
            <a:prstGeom prst="ellipse">
              <a:avLst/>
            </a:pr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2989" name="Oval 42">
              <a:extLst>
                <a:ext uri="{FF2B5EF4-FFF2-40B4-BE49-F238E27FC236}">
                  <a16:creationId xmlns:a16="http://schemas.microsoft.com/office/drawing/2014/main" id="{4F1D42D9-3B68-4FAD-83FA-2D29F05AB447}"/>
                </a:ext>
              </a:extLst>
            </p:cNvPr>
            <p:cNvSpPr>
              <a:spLocks noChangeArrowheads="1"/>
            </p:cNvSpPr>
            <p:nvPr/>
          </p:nvSpPr>
          <p:spPr bwMode="auto">
            <a:xfrm>
              <a:off x="1778" y="1750"/>
              <a:ext cx="675" cy="612"/>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2951" name="Text Box 43">
            <a:extLst>
              <a:ext uri="{FF2B5EF4-FFF2-40B4-BE49-F238E27FC236}">
                <a16:creationId xmlns:a16="http://schemas.microsoft.com/office/drawing/2014/main" id="{29484C89-2189-4681-8C92-0454CD537E6E}"/>
              </a:ext>
            </a:extLst>
          </p:cNvPr>
          <p:cNvSpPr txBox="1">
            <a:spLocks noChangeArrowheads="1"/>
          </p:cNvSpPr>
          <p:nvPr/>
        </p:nvSpPr>
        <p:spPr bwMode="auto">
          <a:xfrm>
            <a:off x="3567842" y="1468702"/>
            <a:ext cx="1133644"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tLang="zh-CN" sz="1800" dirty="0">
                <a:latin typeface="Arial" charset="0"/>
              </a:rPr>
              <a:t>CLOSED</a:t>
            </a:r>
            <a:endParaRPr lang="en-US" sz="1800" dirty="0">
              <a:latin typeface="Arial" charset="0"/>
            </a:endParaRPr>
          </a:p>
        </p:txBody>
      </p:sp>
      <p:sp>
        <p:nvSpPr>
          <p:cNvPr id="82952" name="Text Box 46">
            <a:extLst>
              <a:ext uri="{FF2B5EF4-FFF2-40B4-BE49-F238E27FC236}">
                <a16:creationId xmlns:a16="http://schemas.microsoft.com/office/drawing/2014/main" id="{3D8FD4D9-1BEE-48F6-AB33-E4F0CC5BA698}"/>
              </a:ext>
            </a:extLst>
          </p:cNvPr>
          <p:cNvSpPr txBox="1">
            <a:spLocks noChangeArrowheads="1"/>
          </p:cNvSpPr>
          <p:nvPr/>
        </p:nvSpPr>
        <p:spPr bwMode="auto">
          <a:xfrm>
            <a:off x="2694780" y="2458243"/>
            <a:ext cx="341313"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dirty="0">
                <a:latin typeface="Symbol" charset="0"/>
              </a:rPr>
              <a:t>L</a:t>
            </a:r>
          </a:p>
        </p:txBody>
      </p:sp>
      <p:grpSp>
        <p:nvGrpSpPr>
          <p:cNvPr id="100360" name="Group 48">
            <a:extLst>
              <a:ext uri="{FF2B5EF4-FFF2-40B4-BE49-F238E27FC236}">
                <a16:creationId xmlns:a16="http://schemas.microsoft.com/office/drawing/2014/main" id="{EA64B851-1057-47DE-A47D-10C9F0C2BE06}"/>
              </a:ext>
            </a:extLst>
          </p:cNvPr>
          <p:cNvGrpSpPr>
            <a:grpSpLocks/>
          </p:cNvGrpSpPr>
          <p:nvPr/>
        </p:nvGrpSpPr>
        <p:grpSpPr bwMode="auto">
          <a:xfrm>
            <a:off x="3652838" y="3175000"/>
            <a:ext cx="876300" cy="827088"/>
            <a:chOff x="1778" y="1720"/>
            <a:chExt cx="722" cy="642"/>
          </a:xfrm>
        </p:grpSpPr>
        <p:sp>
          <p:nvSpPr>
            <p:cNvPr id="82986" name="Oval 49">
              <a:extLst>
                <a:ext uri="{FF2B5EF4-FFF2-40B4-BE49-F238E27FC236}">
                  <a16:creationId xmlns:a16="http://schemas.microsoft.com/office/drawing/2014/main" id="{DA54E919-AE1E-4381-84FF-596DA48B456F}"/>
                </a:ext>
              </a:extLst>
            </p:cNvPr>
            <p:cNvSpPr>
              <a:spLocks noChangeArrowheads="1"/>
            </p:cNvSpPr>
            <p:nvPr/>
          </p:nvSpPr>
          <p:spPr bwMode="auto">
            <a:xfrm>
              <a:off x="1825" y="1720"/>
              <a:ext cx="675" cy="612"/>
            </a:xfrm>
            <a:prstGeom prst="ellipse">
              <a:avLst/>
            </a:pr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2987" name="Oval 50">
              <a:extLst>
                <a:ext uri="{FF2B5EF4-FFF2-40B4-BE49-F238E27FC236}">
                  <a16:creationId xmlns:a16="http://schemas.microsoft.com/office/drawing/2014/main" id="{2A60C44E-7DEC-44AF-9839-CE400EA70969}"/>
                </a:ext>
              </a:extLst>
            </p:cNvPr>
            <p:cNvSpPr>
              <a:spLocks noChangeArrowheads="1"/>
            </p:cNvSpPr>
            <p:nvPr/>
          </p:nvSpPr>
          <p:spPr bwMode="auto">
            <a:xfrm>
              <a:off x="1778" y="1750"/>
              <a:ext cx="675" cy="612"/>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2954" name="Text Box 51">
            <a:extLst>
              <a:ext uri="{FF2B5EF4-FFF2-40B4-BE49-F238E27FC236}">
                <a16:creationId xmlns:a16="http://schemas.microsoft.com/office/drawing/2014/main" id="{B232DEAB-8B67-44FF-B910-CB35FCFC17CC}"/>
              </a:ext>
            </a:extLst>
          </p:cNvPr>
          <p:cNvSpPr txBox="1">
            <a:spLocks noChangeArrowheads="1"/>
          </p:cNvSpPr>
          <p:nvPr/>
        </p:nvSpPr>
        <p:spPr bwMode="auto">
          <a:xfrm>
            <a:off x="3596798" y="3410111"/>
            <a:ext cx="101647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tLang="zh-CN" sz="1800" dirty="0">
                <a:latin typeface="Arial" charset="0"/>
              </a:rPr>
              <a:t>LISTEN</a:t>
            </a:r>
            <a:endParaRPr lang="en-US" sz="1800" dirty="0">
              <a:latin typeface="Arial" charset="0"/>
            </a:endParaRPr>
          </a:p>
        </p:txBody>
      </p:sp>
      <p:grpSp>
        <p:nvGrpSpPr>
          <p:cNvPr id="100362" name="Group 52">
            <a:extLst>
              <a:ext uri="{FF2B5EF4-FFF2-40B4-BE49-F238E27FC236}">
                <a16:creationId xmlns:a16="http://schemas.microsoft.com/office/drawing/2014/main" id="{ADFF99C2-9851-4366-9F1A-0C19BAFDF4C8}"/>
              </a:ext>
            </a:extLst>
          </p:cNvPr>
          <p:cNvGrpSpPr>
            <a:grpSpLocks/>
          </p:cNvGrpSpPr>
          <p:nvPr/>
        </p:nvGrpSpPr>
        <p:grpSpPr bwMode="auto">
          <a:xfrm>
            <a:off x="1643063" y="4227513"/>
            <a:ext cx="876300" cy="827087"/>
            <a:chOff x="1778" y="1720"/>
            <a:chExt cx="722" cy="642"/>
          </a:xfrm>
        </p:grpSpPr>
        <p:sp>
          <p:nvSpPr>
            <p:cNvPr id="82984" name="Oval 53">
              <a:extLst>
                <a:ext uri="{FF2B5EF4-FFF2-40B4-BE49-F238E27FC236}">
                  <a16:creationId xmlns:a16="http://schemas.microsoft.com/office/drawing/2014/main" id="{474ABB7F-9F10-4A38-B934-638ACC43DC5E}"/>
                </a:ext>
              </a:extLst>
            </p:cNvPr>
            <p:cNvSpPr>
              <a:spLocks noChangeArrowheads="1"/>
            </p:cNvSpPr>
            <p:nvPr/>
          </p:nvSpPr>
          <p:spPr bwMode="auto">
            <a:xfrm>
              <a:off x="1825" y="1720"/>
              <a:ext cx="675" cy="612"/>
            </a:xfrm>
            <a:prstGeom prst="ellipse">
              <a:avLst/>
            </a:pr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2985" name="Oval 54">
              <a:extLst>
                <a:ext uri="{FF2B5EF4-FFF2-40B4-BE49-F238E27FC236}">
                  <a16:creationId xmlns:a16="http://schemas.microsoft.com/office/drawing/2014/main" id="{6677EB39-ED0A-4154-9E69-F11DA4CCF5E7}"/>
                </a:ext>
              </a:extLst>
            </p:cNvPr>
            <p:cNvSpPr>
              <a:spLocks noChangeArrowheads="1"/>
            </p:cNvSpPr>
            <p:nvPr/>
          </p:nvSpPr>
          <p:spPr bwMode="auto">
            <a:xfrm>
              <a:off x="1778" y="1750"/>
              <a:ext cx="675" cy="612"/>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2956" name="Text Box 55">
            <a:extLst>
              <a:ext uri="{FF2B5EF4-FFF2-40B4-BE49-F238E27FC236}">
                <a16:creationId xmlns:a16="http://schemas.microsoft.com/office/drawing/2014/main" id="{A1F92CAC-62B7-4EF7-AED0-103E9DDA826A}"/>
              </a:ext>
            </a:extLst>
          </p:cNvPr>
          <p:cNvSpPr txBox="1">
            <a:spLocks noChangeArrowheads="1"/>
          </p:cNvSpPr>
          <p:nvPr/>
        </p:nvSpPr>
        <p:spPr bwMode="auto">
          <a:xfrm>
            <a:off x="1661635" y="4427810"/>
            <a:ext cx="838691" cy="5355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800" dirty="0">
                <a:latin typeface="Arial" charset="0"/>
              </a:rPr>
              <a:t>SYN</a:t>
            </a:r>
            <a:r>
              <a:rPr lang="en-US" altLang="zh-CN" sz="1800" dirty="0">
                <a:latin typeface="Arial" charset="0"/>
              </a:rPr>
              <a:t>-</a:t>
            </a:r>
            <a:endParaRPr lang="en-US" sz="1800" dirty="0">
              <a:latin typeface="Arial" charset="0"/>
            </a:endParaRPr>
          </a:p>
          <a:p>
            <a:pPr>
              <a:lnSpc>
                <a:spcPct val="80000"/>
              </a:lnSpc>
              <a:defRPr/>
            </a:pPr>
            <a:r>
              <a:rPr lang="en-US" altLang="zh-CN" sz="1800" dirty="0">
                <a:latin typeface="Arial" charset="0"/>
              </a:rPr>
              <a:t>RCVD</a:t>
            </a:r>
            <a:endParaRPr lang="en-US" sz="1800" dirty="0">
              <a:latin typeface="Arial" charset="0"/>
            </a:endParaRPr>
          </a:p>
        </p:txBody>
      </p:sp>
      <p:grpSp>
        <p:nvGrpSpPr>
          <p:cNvPr id="100364" name="Group 56">
            <a:extLst>
              <a:ext uri="{FF2B5EF4-FFF2-40B4-BE49-F238E27FC236}">
                <a16:creationId xmlns:a16="http://schemas.microsoft.com/office/drawing/2014/main" id="{AC060ED5-D898-4820-8827-FA73180E53EA}"/>
              </a:ext>
            </a:extLst>
          </p:cNvPr>
          <p:cNvGrpSpPr>
            <a:grpSpLocks/>
          </p:cNvGrpSpPr>
          <p:nvPr/>
        </p:nvGrpSpPr>
        <p:grpSpPr bwMode="auto">
          <a:xfrm>
            <a:off x="5119688" y="4189413"/>
            <a:ext cx="876300" cy="827087"/>
            <a:chOff x="1778" y="1720"/>
            <a:chExt cx="722" cy="642"/>
          </a:xfrm>
        </p:grpSpPr>
        <p:sp>
          <p:nvSpPr>
            <p:cNvPr id="82982" name="Oval 57">
              <a:extLst>
                <a:ext uri="{FF2B5EF4-FFF2-40B4-BE49-F238E27FC236}">
                  <a16:creationId xmlns:a16="http://schemas.microsoft.com/office/drawing/2014/main" id="{7616BD2C-F967-41B3-8C55-3B9069C03749}"/>
                </a:ext>
              </a:extLst>
            </p:cNvPr>
            <p:cNvSpPr>
              <a:spLocks noChangeArrowheads="1"/>
            </p:cNvSpPr>
            <p:nvPr/>
          </p:nvSpPr>
          <p:spPr bwMode="auto">
            <a:xfrm>
              <a:off x="1825" y="1720"/>
              <a:ext cx="675" cy="612"/>
            </a:xfrm>
            <a:prstGeom prst="ellipse">
              <a:avLst/>
            </a:pr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2983" name="Oval 58">
              <a:extLst>
                <a:ext uri="{FF2B5EF4-FFF2-40B4-BE49-F238E27FC236}">
                  <a16:creationId xmlns:a16="http://schemas.microsoft.com/office/drawing/2014/main" id="{3B6BCCC2-8745-429C-9B1F-0EE273609C3C}"/>
                </a:ext>
              </a:extLst>
            </p:cNvPr>
            <p:cNvSpPr>
              <a:spLocks noChangeArrowheads="1"/>
            </p:cNvSpPr>
            <p:nvPr/>
          </p:nvSpPr>
          <p:spPr bwMode="auto">
            <a:xfrm>
              <a:off x="1778" y="1750"/>
              <a:ext cx="675" cy="612"/>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2958" name="Text Box 59">
            <a:extLst>
              <a:ext uri="{FF2B5EF4-FFF2-40B4-BE49-F238E27FC236}">
                <a16:creationId xmlns:a16="http://schemas.microsoft.com/office/drawing/2014/main" id="{256A5DFE-76B7-4297-91B8-DB702426C61E}"/>
              </a:ext>
            </a:extLst>
          </p:cNvPr>
          <p:cNvSpPr txBox="1">
            <a:spLocks noChangeArrowheads="1"/>
          </p:cNvSpPr>
          <p:nvPr/>
        </p:nvSpPr>
        <p:spPr bwMode="auto">
          <a:xfrm>
            <a:off x="5138725" y="4384105"/>
            <a:ext cx="800219" cy="5355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800" dirty="0">
                <a:latin typeface="Arial" charset="0"/>
              </a:rPr>
              <a:t>SYN</a:t>
            </a:r>
            <a:r>
              <a:rPr lang="en-US" altLang="zh-CN" sz="1800" dirty="0">
                <a:latin typeface="Arial" charset="0"/>
              </a:rPr>
              <a:t>-</a:t>
            </a:r>
            <a:endParaRPr lang="en-US" sz="1800" dirty="0">
              <a:latin typeface="Arial" charset="0"/>
            </a:endParaRPr>
          </a:p>
          <a:p>
            <a:pPr>
              <a:lnSpc>
                <a:spcPct val="80000"/>
              </a:lnSpc>
              <a:defRPr/>
            </a:pPr>
            <a:r>
              <a:rPr lang="en-US" altLang="zh-CN" sz="1800" dirty="0">
                <a:latin typeface="Arial" charset="0"/>
              </a:rPr>
              <a:t>SENT</a:t>
            </a:r>
            <a:endParaRPr lang="en-US" sz="1800" dirty="0">
              <a:latin typeface="Arial" charset="0"/>
            </a:endParaRPr>
          </a:p>
        </p:txBody>
      </p:sp>
      <p:grpSp>
        <p:nvGrpSpPr>
          <p:cNvPr id="100366" name="Group 60">
            <a:extLst>
              <a:ext uri="{FF2B5EF4-FFF2-40B4-BE49-F238E27FC236}">
                <a16:creationId xmlns:a16="http://schemas.microsoft.com/office/drawing/2014/main" id="{D2FE8376-69DB-43B0-BF7D-D683E844FC7D}"/>
              </a:ext>
            </a:extLst>
          </p:cNvPr>
          <p:cNvGrpSpPr>
            <a:grpSpLocks/>
          </p:cNvGrpSpPr>
          <p:nvPr/>
        </p:nvGrpSpPr>
        <p:grpSpPr bwMode="auto">
          <a:xfrm>
            <a:off x="3686175" y="5060950"/>
            <a:ext cx="876300" cy="827088"/>
            <a:chOff x="1778" y="1720"/>
            <a:chExt cx="722" cy="642"/>
          </a:xfrm>
        </p:grpSpPr>
        <p:sp>
          <p:nvSpPr>
            <p:cNvPr id="82980" name="Oval 61">
              <a:extLst>
                <a:ext uri="{FF2B5EF4-FFF2-40B4-BE49-F238E27FC236}">
                  <a16:creationId xmlns:a16="http://schemas.microsoft.com/office/drawing/2014/main" id="{83577179-A797-441B-AC15-F923E57DFE17}"/>
                </a:ext>
              </a:extLst>
            </p:cNvPr>
            <p:cNvSpPr>
              <a:spLocks noChangeArrowheads="1"/>
            </p:cNvSpPr>
            <p:nvPr/>
          </p:nvSpPr>
          <p:spPr bwMode="auto">
            <a:xfrm>
              <a:off x="1825" y="1720"/>
              <a:ext cx="675" cy="612"/>
            </a:xfrm>
            <a:prstGeom prst="ellipse">
              <a:avLst/>
            </a:prstGeom>
            <a:solidFill>
              <a:srgbClr val="000099"/>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2981" name="Oval 62">
              <a:extLst>
                <a:ext uri="{FF2B5EF4-FFF2-40B4-BE49-F238E27FC236}">
                  <a16:creationId xmlns:a16="http://schemas.microsoft.com/office/drawing/2014/main" id="{96E3A97B-5813-4811-82A4-7081BEE0021C}"/>
                </a:ext>
              </a:extLst>
            </p:cNvPr>
            <p:cNvSpPr>
              <a:spLocks noChangeArrowheads="1"/>
            </p:cNvSpPr>
            <p:nvPr/>
          </p:nvSpPr>
          <p:spPr bwMode="auto">
            <a:xfrm>
              <a:off x="1778" y="1750"/>
              <a:ext cx="675" cy="612"/>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2960" name="Text Box 63">
            <a:extLst>
              <a:ext uri="{FF2B5EF4-FFF2-40B4-BE49-F238E27FC236}">
                <a16:creationId xmlns:a16="http://schemas.microsoft.com/office/drawing/2014/main" id="{44E830D8-59BE-4A04-95FE-0B391BB99047}"/>
              </a:ext>
            </a:extLst>
          </p:cNvPr>
          <p:cNvSpPr txBox="1">
            <a:spLocks noChangeArrowheads="1"/>
          </p:cNvSpPr>
          <p:nvPr/>
        </p:nvSpPr>
        <p:spPr bwMode="auto">
          <a:xfrm>
            <a:off x="3596799" y="5252494"/>
            <a:ext cx="1016476" cy="5355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800" dirty="0">
                <a:latin typeface="Arial" charset="0"/>
              </a:rPr>
              <a:t>ESTAB</a:t>
            </a:r>
            <a:r>
              <a:rPr lang="en-US" altLang="zh-CN" sz="1800" dirty="0">
                <a:latin typeface="Arial" charset="0"/>
              </a:rPr>
              <a:t>LISHED</a:t>
            </a:r>
            <a:endParaRPr lang="en-US" sz="1800" dirty="0">
              <a:latin typeface="Arial" charset="0"/>
            </a:endParaRPr>
          </a:p>
        </p:txBody>
      </p:sp>
      <p:sp>
        <p:nvSpPr>
          <p:cNvPr id="82961" name="Text Box 66">
            <a:extLst>
              <a:ext uri="{FF2B5EF4-FFF2-40B4-BE49-F238E27FC236}">
                <a16:creationId xmlns:a16="http://schemas.microsoft.com/office/drawing/2014/main" id="{705F5347-5C81-4B9A-9ED8-A720C599EE50}"/>
              </a:ext>
            </a:extLst>
          </p:cNvPr>
          <p:cNvSpPr txBox="1">
            <a:spLocks noChangeArrowheads="1"/>
          </p:cNvSpPr>
          <p:nvPr/>
        </p:nvSpPr>
        <p:spPr bwMode="auto">
          <a:xfrm>
            <a:off x="5526088" y="2687638"/>
            <a:ext cx="2894012" cy="6397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1200" b="1">
                <a:latin typeface="Courier New" charset="0"/>
              </a:rPr>
              <a:t>Socket clientSocket =   </a:t>
            </a:r>
          </a:p>
          <a:p>
            <a:pPr algn="l">
              <a:defRPr/>
            </a:pPr>
            <a:r>
              <a:rPr lang="en-US" sz="1200" b="1">
                <a:latin typeface="Courier New" charset="0"/>
              </a:rPr>
              <a:t>  newSocket("hostname","port number");</a:t>
            </a:r>
          </a:p>
        </p:txBody>
      </p:sp>
      <p:sp>
        <p:nvSpPr>
          <p:cNvPr id="82962" name="Line 67">
            <a:extLst>
              <a:ext uri="{FF2B5EF4-FFF2-40B4-BE49-F238E27FC236}">
                <a16:creationId xmlns:a16="http://schemas.microsoft.com/office/drawing/2014/main" id="{EB595806-74F6-4453-B723-59AA7F350992}"/>
              </a:ext>
            </a:extLst>
          </p:cNvPr>
          <p:cNvSpPr>
            <a:spLocks noChangeShapeType="1"/>
          </p:cNvSpPr>
          <p:nvPr/>
        </p:nvSpPr>
        <p:spPr bwMode="auto">
          <a:xfrm>
            <a:off x="5656263" y="3317875"/>
            <a:ext cx="252888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963" name="Text Box 68">
            <a:extLst>
              <a:ext uri="{FF2B5EF4-FFF2-40B4-BE49-F238E27FC236}">
                <a16:creationId xmlns:a16="http://schemas.microsoft.com/office/drawing/2014/main" id="{CE925069-F673-4DEE-9DAD-1133FAE16168}"/>
              </a:ext>
            </a:extLst>
          </p:cNvPr>
          <p:cNvSpPr txBox="1">
            <a:spLocks noChangeArrowheads="1"/>
          </p:cNvSpPr>
          <p:nvPr/>
        </p:nvSpPr>
        <p:spPr bwMode="auto">
          <a:xfrm>
            <a:off x="6226249" y="3318718"/>
            <a:ext cx="12620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t>SYN(seq=x)</a:t>
            </a:r>
          </a:p>
        </p:txBody>
      </p:sp>
      <p:sp>
        <p:nvSpPr>
          <p:cNvPr id="100371" name="Freeform 69">
            <a:extLst>
              <a:ext uri="{FF2B5EF4-FFF2-40B4-BE49-F238E27FC236}">
                <a16:creationId xmlns:a16="http://schemas.microsoft.com/office/drawing/2014/main" id="{6D78DDFD-C7CA-409B-A75E-A00502346C4E}"/>
              </a:ext>
            </a:extLst>
          </p:cNvPr>
          <p:cNvSpPr>
            <a:spLocks/>
          </p:cNvSpPr>
          <p:nvPr/>
        </p:nvSpPr>
        <p:spPr bwMode="auto">
          <a:xfrm>
            <a:off x="4583113" y="1727200"/>
            <a:ext cx="914400" cy="2384425"/>
          </a:xfrm>
          <a:custGeom>
            <a:avLst/>
            <a:gdLst>
              <a:gd name="T0" fmla="*/ 0 w 576"/>
              <a:gd name="T1" fmla="*/ 0 h 1138"/>
              <a:gd name="T2" fmla="*/ 2147483647 w 576"/>
              <a:gd name="T3" fmla="*/ 0 h 1138"/>
              <a:gd name="T4" fmla="*/ 2147483647 w 576"/>
              <a:gd name="T5" fmla="*/ 2147483647 h 1138"/>
              <a:gd name="T6" fmla="*/ 0 60000 65536"/>
              <a:gd name="T7" fmla="*/ 0 60000 65536"/>
              <a:gd name="T8" fmla="*/ 0 60000 65536"/>
            </a:gdLst>
            <a:ahLst/>
            <a:cxnLst>
              <a:cxn ang="T6">
                <a:pos x="T0" y="T1"/>
              </a:cxn>
              <a:cxn ang="T7">
                <a:pos x="T2" y="T3"/>
              </a:cxn>
              <a:cxn ang="T8">
                <a:pos x="T4" y="T5"/>
              </a:cxn>
            </a:cxnLst>
            <a:rect l="0" t="0" r="r" b="b"/>
            <a:pathLst>
              <a:path w="576" h="1138">
                <a:moveTo>
                  <a:pt x="0" y="0"/>
                </a:moveTo>
                <a:lnTo>
                  <a:pt x="576" y="0"/>
                </a:lnTo>
                <a:lnTo>
                  <a:pt x="576" y="1138"/>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965" name="Line 70">
            <a:extLst>
              <a:ext uri="{FF2B5EF4-FFF2-40B4-BE49-F238E27FC236}">
                <a16:creationId xmlns:a16="http://schemas.microsoft.com/office/drawing/2014/main" id="{706D651C-4069-4CAB-9627-1BC5F543DD1C}"/>
              </a:ext>
            </a:extLst>
          </p:cNvPr>
          <p:cNvSpPr>
            <a:spLocks noChangeShapeType="1"/>
          </p:cNvSpPr>
          <p:nvPr/>
        </p:nvSpPr>
        <p:spPr bwMode="auto">
          <a:xfrm>
            <a:off x="4075113" y="2133600"/>
            <a:ext cx="0" cy="1016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966" name="Text Box 71">
            <a:extLst>
              <a:ext uri="{FF2B5EF4-FFF2-40B4-BE49-F238E27FC236}">
                <a16:creationId xmlns:a16="http://schemas.microsoft.com/office/drawing/2014/main" id="{4ACA65AB-079B-4DDD-84B5-BA30BA7D6A54}"/>
              </a:ext>
            </a:extLst>
          </p:cNvPr>
          <p:cNvSpPr txBox="1">
            <a:spLocks noChangeArrowheads="1"/>
          </p:cNvSpPr>
          <p:nvPr/>
        </p:nvSpPr>
        <p:spPr bwMode="auto">
          <a:xfrm>
            <a:off x="1524000" y="2074863"/>
            <a:ext cx="25781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1200" b="1">
                <a:latin typeface="Courier New" charset="0"/>
              </a:rPr>
              <a:t>Socket connectionSocket = welcomeSocket.accept();</a:t>
            </a:r>
          </a:p>
        </p:txBody>
      </p:sp>
      <p:sp>
        <p:nvSpPr>
          <p:cNvPr id="82967" name="Line 72">
            <a:extLst>
              <a:ext uri="{FF2B5EF4-FFF2-40B4-BE49-F238E27FC236}">
                <a16:creationId xmlns:a16="http://schemas.microsoft.com/office/drawing/2014/main" id="{AD4EE43E-5EFC-4715-8FAB-605ECE3AF2AA}"/>
              </a:ext>
            </a:extLst>
          </p:cNvPr>
          <p:cNvSpPr>
            <a:spLocks noChangeShapeType="1"/>
          </p:cNvSpPr>
          <p:nvPr/>
        </p:nvSpPr>
        <p:spPr bwMode="auto">
          <a:xfrm>
            <a:off x="1882775" y="2522538"/>
            <a:ext cx="196532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0375" name="Freeform 73">
            <a:extLst>
              <a:ext uri="{FF2B5EF4-FFF2-40B4-BE49-F238E27FC236}">
                <a16:creationId xmlns:a16="http://schemas.microsoft.com/office/drawing/2014/main" id="{600C7316-2ABD-4533-B15C-5D82C1AF88B6}"/>
              </a:ext>
            </a:extLst>
          </p:cNvPr>
          <p:cNvSpPr>
            <a:spLocks/>
          </p:cNvSpPr>
          <p:nvPr/>
        </p:nvSpPr>
        <p:spPr bwMode="auto">
          <a:xfrm>
            <a:off x="2051050" y="3836988"/>
            <a:ext cx="1579563" cy="373062"/>
          </a:xfrm>
          <a:custGeom>
            <a:avLst/>
            <a:gdLst>
              <a:gd name="T0" fmla="*/ 2147483647 w 1123"/>
              <a:gd name="T1" fmla="*/ 0 h 235"/>
              <a:gd name="T2" fmla="*/ 0 w 1123"/>
              <a:gd name="T3" fmla="*/ 0 h 235"/>
              <a:gd name="T4" fmla="*/ 0 w 1123"/>
              <a:gd name="T5" fmla="*/ 2147483647 h 235"/>
              <a:gd name="T6" fmla="*/ 0 60000 65536"/>
              <a:gd name="T7" fmla="*/ 0 60000 65536"/>
              <a:gd name="T8" fmla="*/ 0 60000 65536"/>
            </a:gdLst>
            <a:ahLst/>
            <a:cxnLst>
              <a:cxn ang="T6">
                <a:pos x="T0" y="T1"/>
              </a:cxn>
              <a:cxn ang="T7">
                <a:pos x="T2" y="T3"/>
              </a:cxn>
              <a:cxn ang="T8">
                <a:pos x="T4" y="T5"/>
              </a:cxn>
            </a:cxnLst>
            <a:rect l="0" t="0" r="r" b="b"/>
            <a:pathLst>
              <a:path w="1123" h="235">
                <a:moveTo>
                  <a:pt x="1123" y="0"/>
                </a:moveTo>
                <a:lnTo>
                  <a:pt x="0" y="0"/>
                </a:lnTo>
                <a:lnTo>
                  <a:pt x="0" y="235"/>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969" name="Text Box 74">
            <a:extLst>
              <a:ext uri="{FF2B5EF4-FFF2-40B4-BE49-F238E27FC236}">
                <a16:creationId xmlns:a16="http://schemas.microsoft.com/office/drawing/2014/main" id="{2F1D79C3-24E7-4B90-9101-D0EFEFD12FD4}"/>
              </a:ext>
            </a:extLst>
          </p:cNvPr>
          <p:cNvSpPr txBox="1">
            <a:spLocks noChangeArrowheads="1"/>
          </p:cNvSpPr>
          <p:nvPr/>
        </p:nvSpPr>
        <p:spPr bwMode="auto">
          <a:xfrm>
            <a:off x="1785938" y="2838450"/>
            <a:ext cx="8048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t>SYN(x)</a:t>
            </a:r>
          </a:p>
        </p:txBody>
      </p:sp>
      <p:sp>
        <p:nvSpPr>
          <p:cNvPr id="82970" name="Line 75">
            <a:extLst>
              <a:ext uri="{FF2B5EF4-FFF2-40B4-BE49-F238E27FC236}">
                <a16:creationId xmlns:a16="http://schemas.microsoft.com/office/drawing/2014/main" id="{EB4C6632-F3F3-4FBC-8F4F-C1AB837F67D1}"/>
              </a:ext>
            </a:extLst>
          </p:cNvPr>
          <p:cNvSpPr>
            <a:spLocks noChangeShapeType="1"/>
          </p:cNvSpPr>
          <p:nvPr/>
        </p:nvSpPr>
        <p:spPr bwMode="auto">
          <a:xfrm>
            <a:off x="1246188" y="3136900"/>
            <a:ext cx="196532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971" name="Text Box 76">
            <a:extLst>
              <a:ext uri="{FF2B5EF4-FFF2-40B4-BE49-F238E27FC236}">
                <a16:creationId xmlns:a16="http://schemas.microsoft.com/office/drawing/2014/main" id="{584DF4C4-FE6E-483D-BC2E-22B29E3AA1C8}"/>
              </a:ext>
            </a:extLst>
          </p:cNvPr>
          <p:cNvSpPr txBox="1">
            <a:spLocks noChangeArrowheads="1"/>
          </p:cNvSpPr>
          <p:nvPr/>
        </p:nvSpPr>
        <p:spPr bwMode="auto">
          <a:xfrm>
            <a:off x="930275" y="2989263"/>
            <a:ext cx="2671180" cy="8463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endParaRPr lang="en-US" sz="1400" dirty="0"/>
          </a:p>
          <a:p>
            <a:pPr>
              <a:lnSpc>
                <a:spcPct val="90000"/>
              </a:lnSpc>
              <a:defRPr/>
            </a:pPr>
            <a:r>
              <a:rPr lang="en-US" sz="1400" dirty="0"/>
              <a:t>SYNACK(seq=y, </a:t>
            </a:r>
            <a:r>
              <a:rPr lang="en-US" sz="1400" dirty="0" err="1"/>
              <a:t>ACKnum</a:t>
            </a:r>
            <a:r>
              <a:rPr lang="en-US" sz="1400" dirty="0"/>
              <a:t>=x+1)</a:t>
            </a:r>
          </a:p>
          <a:p>
            <a:pPr>
              <a:lnSpc>
                <a:spcPct val="90000"/>
              </a:lnSpc>
              <a:defRPr/>
            </a:pPr>
            <a:r>
              <a:rPr lang="en-US" sz="1400" dirty="0"/>
              <a:t>create new socket for </a:t>
            </a:r>
          </a:p>
          <a:p>
            <a:pPr>
              <a:lnSpc>
                <a:spcPct val="90000"/>
              </a:lnSpc>
              <a:defRPr/>
            </a:pPr>
            <a:r>
              <a:rPr lang="en-US" sz="1400" dirty="0"/>
              <a:t>communication back to client</a:t>
            </a:r>
          </a:p>
        </p:txBody>
      </p:sp>
      <p:sp>
        <p:nvSpPr>
          <p:cNvPr id="100379" name="Freeform 77">
            <a:extLst>
              <a:ext uri="{FF2B5EF4-FFF2-40B4-BE49-F238E27FC236}">
                <a16:creationId xmlns:a16="http://schemas.microsoft.com/office/drawing/2014/main" id="{8249183E-E5B8-41D9-8FE9-C0B05AFB508B}"/>
              </a:ext>
            </a:extLst>
          </p:cNvPr>
          <p:cNvSpPr>
            <a:spLocks/>
          </p:cNvSpPr>
          <p:nvPr/>
        </p:nvSpPr>
        <p:spPr bwMode="auto">
          <a:xfrm flipV="1">
            <a:off x="2046288" y="5076825"/>
            <a:ext cx="1579562" cy="373063"/>
          </a:xfrm>
          <a:custGeom>
            <a:avLst/>
            <a:gdLst>
              <a:gd name="T0" fmla="*/ 2147483647 w 1123"/>
              <a:gd name="T1" fmla="*/ 0 h 235"/>
              <a:gd name="T2" fmla="*/ 0 w 1123"/>
              <a:gd name="T3" fmla="*/ 0 h 235"/>
              <a:gd name="T4" fmla="*/ 0 w 1123"/>
              <a:gd name="T5" fmla="*/ 2147483647 h 235"/>
              <a:gd name="T6" fmla="*/ 0 60000 65536"/>
              <a:gd name="T7" fmla="*/ 0 60000 65536"/>
              <a:gd name="T8" fmla="*/ 0 60000 65536"/>
            </a:gdLst>
            <a:ahLst/>
            <a:cxnLst>
              <a:cxn ang="T6">
                <a:pos x="T0" y="T1"/>
              </a:cxn>
              <a:cxn ang="T7">
                <a:pos x="T2" y="T3"/>
              </a:cxn>
              <a:cxn ang="T8">
                <a:pos x="T4" y="T5"/>
              </a:cxn>
            </a:cxnLst>
            <a:rect l="0" t="0" r="r" b="b"/>
            <a:pathLst>
              <a:path w="1123" h="235">
                <a:moveTo>
                  <a:pt x="1123" y="0"/>
                </a:moveTo>
                <a:lnTo>
                  <a:pt x="0" y="0"/>
                </a:lnTo>
                <a:lnTo>
                  <a:pt x="0" y="235"/>
                </a:lnTo>
              </a:path>
            </a:pathLst>
          </a:custGeom>
          <a:noFill/>
          <a:ln w="9525"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380" name="Freeform 78">
            <a:extLst>
              <a:ext uri="{FF2B5EF4-FFF2-40B4-BE49-F238E27FC236}">
                <a16:creationId xmlns:a16="http://schemas.microsoft.com/office/drawing/2014/main" id="{0130E3AE-D0E6-44EA-ADBC-CE09889460DE}"/>
              </a:ext>
            </a:extLst>
          </p:cNvPr>
          <p:cNvSpPr>
            <a:spLocks/>
          </p:cNvSpPr>
          <p:nvPr/>
        </p:nvSpPr>
        <p:spPr bwMode="auto">
          <a:xfrm flipH="1" flipV="1">
            <a:off x="4613275" y="5094288"/>
            <a:ext cx="947738" cy="373062"/>
          </a:xfrm>
          <a:custGeom>
            <a:avLst/>
            <a:gdLst>
              <a:gd name="T0" fmla="*/ 2147483647 w 1123"/>
              <a:gd name="T1" fmla="*/ 0 h 235"/>
              <a:gd name="T2" fmla="*/ 0 w 1123"/>
              <a:gd name="T3" fmla="*/ 0 h 235"/>
              <a:gd name="T4" fmla="*/ 0 w 1123"/>
              <a:gd name="T5" fmla="*/ 2147483647 h 235"/>
              <a:gd name="T6" fmla="*/ 0 60000 65536"/>
              <a:gd name="T7" fmla="*/ 0 60000 65536"/>
              <a:gd name="T8" fmla="*/ 0 60000 65536"/>
            </a:gdLst>
            <a:ahLst/>
            <a:cxnLst>
              <a:cxn ang="T6">
                <a:pos x="T0" y="T1"/>
              </a:cxn>
              <a:cxn ang="T7">
                <a:pos x="T2" y="T3"/>
              </a:cxn>
              <a:cxn ang="T8">
                <a:pos x="T4" y="T5"/>
              </a:cxn>
            </a:cxnLst>
            <a:rect l="0" t="0" r="r" b="b"/>
            <a:pathLst>
              <a:path w="1123" h="235">
                <a:moveTo>
                  <a:pt x="1123" y="0"/>
                </a:moveTo>
                <a:lnTo>
                  <a:pt x="0" y="0"/>
                </a:lnTo>
                <a:lnTo>
                  <a:pt x="0" y="235"/>
                </a:lnTo>
              </a:path>
            </a:pathLst>
          </a:custGeom>
          <a:noFill/>
          <a:ln w="9525"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974" name="Text Box 79">
            <a:extLst>
              <a:ext uri="{FF2B5EF4-FFF2-40B4-BE49-F238E27FC236}">
                <a16:creationId xmlns:a16="http://schemas.microsoft.com/office/drawing/2014/main" id="{6FD10857-5F65-4758-807C-44DDAE2C1B17}"/>
              </a:ext>
            </a:extLst>
          </p:cNvPr>
          <p:cNvSpPr txBox="1">
            <a:spLocks noChangeArrowheads="1"/>
          </p:cNvSpPr>
          <p:nvPr/>
        </p:nvSpPr>
        <p:spPr bwMode="auto">
          <a:xfrm>
            <a:off x="5608638" y="4970463"/>
            <a:ext cx="2671180" cy="6524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endParaRPr lang="en-US" sz="1400" dirty="0"/>
          </a:p>
          <a:p>
            <a:pPr>
              <a:lnSpc>
                <a:spcPct val="90000"/>
              </a:lnSpc>
              <a:defRPr/>
            </a:pPr>
            <a:r>
              <a:rPr lang="en-US" sz="1400" dirty="0"/>
              <a:t>SYNACK(seq=y, </a:t>
            </a:r>
            <a:r>
              <a:rPr lang="en-US" sz="1400" dirty="0" err="1"/>
              <a:t>ACKnum</a:t>
            </a:r>
            <a:r>
              <a:rPr lang="en-US" sz="1400" dirty="0"/>
              <a:t>=x+1)</a:t>
            </a:r>
          </a:p>
          <a:p>
            <a:pPr>
              <a:lnSpc>
                <a:spcPct val="90000"/>
              </a:lnSpc>
              <a:defRPr/>
            </a:pPr>
            <a:endParaRPr lang="en-US" sz="1400" dirty="0"/>
          </a:p>
        </p:txBody>
      </p:sp>
      <p:sp>
        <p:nvSpPr>
          <p:cNvPr id="82975" name="Line 80">
            <a:extLst>
              <a:ext uri="{FF2B5EF4-FFF2-40B4-BE49-F238E27FC236}">
                <a16:creationId xmlns:a16="http://schemas.microsoft.com/office/drawing/2014/main" id="{E10D6096-752F-4E81-9E21-DBAE479199B0}"/>
              </a:ext>
            </a:extLst>
          </p:cNvPr>
          <p:cNvSpPr>
            <a:spLocks noChangeShapeType="1"/>
          </p:cNvSpPr>
          <p:nvPr/>
        </p:nvSpPr>
        <p:spPr bwMode="auto">
          <a:xfrm>
            <a:off x="5718175" y="5435600"/>
            <a:ext cx="252888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976" name="Text Box 81">
            <a:extLst>
              <a:ext uri="{FF2B5EF4-FFF2-40B4-BE49-F238E27FC236}">
                <a16:creationId xmlns:a16="http://schemas.microsoft.com/office/drawing/2014/main" id="{FE644ADF-7C25-40D8-8D6A-243FA3B5CFDF}"/>
              </a:ext>
            </a:extLst>
          </p:cNvPr>
          <p:cNvSpPr txBox="1">
            <a:spLocks noChangeArrowheads="1"/>
          </p:cNvSpPr>
          <p:nvPr/>
        </p:nvSpPr>
        <p:spPr bwMode="auto">
          <a:xfrm>
            <a:off x="6018213" y="5248275"/>
            <a:ext cx="1744662" cy="646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endParaRPr lang="en-US" sz="1400" dirty="0"/>
          </a:p>
          <a:p>
            <a:pPr>
              <a:lnSpc>
                <a:spcPct val="90000"/>
              </a:lnSpc>
              <a:defRPr/>
            </a:pPr>
            <a:r>
              <a:rPr lang="en-US" sz="1400" dirty="0"/>
              <a:t>ACK(</a:t>
            </a:r>
            <a:r>
              <a:rPr lang="en-US" sz="1400" dirty="0" err="1"/>
              <a:t>ACKnum</a:t>
            </a:r>
            <a:r>
              <a:rPr lang="en-US" sz="1400" dirty="0"/>
              <a:t>=y+1)</a:t>
            </a:r>
          </a:p>
          <a:p>
            <a:pPr>
              <a:lnSpc>
                <a:spcPct val="90000"/>
              </a:lnSpc>
              <a:defRPr/>
            </a:pPr>
            <a:endParaRPr lang="en-US" sz="1400" dirty="0"/>
          </a:p>
        </p:txBody>
      </p:sp>
      <p:sp>
        <p:nvSpPr>
          <p:cNvPr id="82977" name="Line 82">
            <a:extLst>
              <a:ext uri="{FF2B5EF4-FFF2-40B4-BE49-F238E27FC236}">
                <a16:creationId xmlns:a16="http://schemas.microsoft.com/office/drawing/2014/main" id="{5EDD97A1-4C3A-4B9A-9E4C-7E8DA218D947}"/>
              </a:ext>
            </a:extLst>
          </p:cNvPr>
          <p:cNvSpPr>
            <a:spLocks noChangeShapeType="1"/>
          </p:cNvSpPr>
          <p:nvPr/>
        </p:nvSpPr>
        <p:spPr bwMode="auto">
          <a:xfrm>
            <a:off x="1468745" y="5822950"/>
            <a:ext cx="196532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2978" name="Text Box 83">
            <a:extLst>
              <a:ext uri="{FF2B5EF4-FFF2-40B4-BE49-F238E27FC236}">
                <a16:creationId xmlns:a16="http://schemas.microsoft.com/office/drawing/2014/main" id="{4C8DE582-900F-48B3-9DF9-5493B7882D11}"/>
              </a:ext>
            </a:extLst>
          </p:cNvPr>
          <p:cNvSpPr txBox="1">
            <a:spLocks noChangeArrowheads="1"/>
          </p:cNvSpPr>
          <p:nvPr/>
        </p:nvSpPr>
        <p:spPr bwMode="auto">
          <a:xfrm>
            <a:off x="1529070" y="5356225"/>
            <a:ext cx="1744662" cy="646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endParaRPr lang="en-US" sz="1400" dirty="0"/>
          </a:p>
          <a:p>
            <a:pPr>
              <a:lnSpc>
                <a:spcPct val="90000"/>
              </a:lnSpc>
              <a:defRPr/>
            </a:pPr>
            <a:r>
              <a:rPr lang="en-US" sz="1400" dirty="0"/>
              <a:t>ACK(</a:t>
            </a:r>
            <a:r>
              <a:rPr lang="en-US" sz="1400" dirty="0" err="1"/>
              <a:t>ACKnum</a:t>
            </a:r>
            <a:r>
              <a:rPr lang="en-US" sz="1400" dirty="0"/>
              <a:t>=y+1)</a:t>
            </a:r>
          </a:p>
          <a:p>
            <a:pPr>
              <a:lnSpc>
                <a:spcPct val="90000"/>
              </a:lnSpc>
              <a:defRPr/>
            </a:pPr>
            <a:endParaRPr lang="en-US" sz="1400" dirty="0"/>
          </a:p>
        </p:txBody>
      </p:sp>
      <p:sp>
        <p:nvSpPr>
          <p:cNvPr id="82979" name="Text Box 84">
            <a:extLst>
              <a:ext uri="{FF2B5EF4-FFF2-40B4-BE49-F238E27FC236}">
                <a16:creationId xmlns:a16="http://schemas.microsoft.com/office/drawing/2014/main" id="{0D8C27EE-34D0-4B1E-ABA0-22C31ADCAE8B}"/>
              </a:ext>
            </a:extLst>
          </p:cNvPr>
          <p:cNvSpPr txBox="1">
            <a:spLocks noChangeArrowheads="1"/>
          </p:cNvSpPr>
          <p:nvPr/>
        </p:nvSpPr>
        <p:spPr bwMode="auto">
          <a:xfrm>
            <a:off x="2179945" y="5788025"/>
            <a:ext cx="341312"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800">
                <a:latin typeface="Symbol" charset="0"/>
              </a:rPr>
              <a:t>L</a:t>
            </a:r>
          </a:p>
        </p:txBody>
      </p:sp>
      <p:sp>
        <p:nvSpPr>
          <p:cNvPr id="46" name="标题 1">
            <a:extLst>
              <a:ext uri="{FF2B5EF4-FFF2-40B4-BE49-F238E27FC236}">
                <a16:creationId xmlns:a16="http://schemas.microsoft.com/office/drawing/2014/main" id="{C12A2847-5D4F-42EB-A8BD-E03CAAD4D226}"/>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p>
        </p:txBody>
      </p:sp>
      <p:sp>
        <p:nvSpPr>
          <p:cNvPr id="49" name="矩形 48">
            <a:extLst>
              <a:ext uri="{FF2B5EF4-FFF2-40B4-BE49-F238E27FC236}">
                <a16:creationId xmlns:a16="http://schemas.microsoft.com/office/drawing/2014/main" id="{5A8978B1-CF90-4BDA-BB4C-1DEA29CEC564}"/>
              </a:ext>
            </a:extLst>
          </p:cNvPr>
          <p:cNvSpPr/>
          <p:nvPr/>
        </p:nvSpPr>
        <p:spPr>
          <a:xfrm>
            <a:off x="341223" y="737937"/>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连接建立状态机</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292094" y="682391"/>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连接关闭</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3CE43C2C-A889-4EE7-8615-4BCA0A34B5EE}"/>
              </a:ext>
            </a:extLst>
          </p:cNvPr>
          <p:cNvSpPr/>
          <p:nvPr/>
        </p:nvSpPr>
        <p:spPr>
          <a:xfrm>
            <a:off x="180996" y="4395589"/>
            <a:ext cx="8782008" cy="1990288"/>
          </a:xfrm>
          <a:prstGeom prst="rect">
            <a:avLst/>
          </a:prstGeom>
        </p:spPr>
        <p:txBody>
          <a:bodyPr wrap="square">
            <a:spAutoFit/>
          </a:bodyPr>
          <a:lstStyle/>
          <a:p>
            <a:pPr marL="266700" indent="-266700">
              <a:lnSpc>
                <a:spcPts val="2300"/>
              </a:lnSpc>
              <a:spcBef>
                <a:spcPts val="2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步骤一：</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300"/>
              </a:lnSpc>
              <a:spcBef>
                <a:spcPts val="200"/>
              </a:spcBef>
              <a:buFont typeface="Times New Roman" panose="02020603050405020304" pitchFamily="18"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不再向</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发送数据，但仍可以接收数据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300"/>
              </a:lnSpc>
              <a:spcBef>
                <a:spcPts val="2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段，回送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5475" lvl="1" indent="-168275">
              <a:lnSpc>
                <a:spcPts val="2300"/>
              </a:lnSpc>
              <a:spcBef>
                <a:spcPts val="200"/>
              </a:spcBef>
              <a:buClr>
                <a:schemeClr val="tx1"/>
              </a:buClr>
              <a:buFont typeface="Times New Roman" panose="02020603050405020304" pitchFamily="18"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仍可以向</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发送数据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300"/>
              </a:lnSpc>
              <a:spcBef>
                <a:spcPts val="2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300"/>
              </a:lnSpc>
              <a:spcBef>
                <a:spcPts val="200"/>
              </a:spcBef>
              <a:buClr>
                <a:srgbClr val="2A09B7"/>
              </a:buClr>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步骤四：</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 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接收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段，回送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段，等待两倍</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MSL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后关闭连接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3" name="图片 12">
            <a:extLst>
              <a:ext uri="{FF2B5EF4-FFF2-40B4-BE49-F238E27FC236}">
                <a16:creationId xmlns:a16="http://schemas.microsoft.com/office/drawing/2014/main" id="{99D65E95-1DFA-4AB5-82D2-BFEDCE6E554E}"/>
              </a:ext>
            </a:extLst>
          </p:cNvPr>
          <p:cNvPicPr>
            <a:picLocks noChangeAspect="1"/>
          </p:cNvPicPr>
          <p:nvPr/>
        </p:nvPicPr>
        <p:blipFill>
          <a:blip r:embed="rId3"/>
          <a:stretch>
            <a:fillRect/>
          </a:stretch>
        </p:blipFill>
        <p:spPr>
          <a:xfrm>
            <a:off x="4221989" y="574570"/>
            <a:ext cx="4922011" cy="1733745"/>
          </a:xfrm>
          <a:prstGeom prst="rect">
            <a:avLst/>
          </a:prstGeom>
        </p:spPr>
      </p:pic>
      <p:pic>
        <p:nvPicPr>
          <p:cNvPr id="14" name="图片 13">
            <a:extLst>
              <a:ext uri="{FF2B5EF4-FFF2-40B4-BE49-F238E27FC236}">
                <a16:creationId xmlns:a16="http://schemas.microsoft.com/office/drawing/2014/main" id="{F35A09F5-5226-4F3A-AB80-E4DACA71DFAD}"/>
              </a:ext>
            </a:extLst>
          </p:cNvPr>
          <p:cNvPicPr>
            <a:picLocks noChangeAspect="1"/>
          </p:cNvPicPr>
          <p:nvPr/>
        </p:nvPicPr>
        <p:blipFill>
          <a:blip r:embed="rId4"/>
          <a:stretch>
            <a:fillRect/>
          </a:stretch>
        </p:blipFill>
        <p:spPr>
          <a:xfrm>
            <a:off x="4221989" y="2344143"/>
            <a:ext cx="4922011" cy="1733745"/>
          </a:xfrm>
          <a:prstGeom prst="rect">
            <a:avLst/>
          </a:prstGeom>
        </p:spPr>
      </p:pic>
      <p:pic>
        <p:nvPicPr>
          <p:cNvPr id="4" name="图片 3">
            <a:extLst>
              <a:ext uri="{FF2B5EF4-FFF2-40B4-BE49-F238E27FC236}">
                <a16:creationId xmlns:a16="http://schemas.microsoft.com/office/drawing/2014/main" id="{E67497DD-3B3C-C82F-3BC3-65C1C5547227}"/>
              </a:ext>
            </a:extLst>
          </p:cNvPr>
          <p:cNvPicPr>
            <a:picLocks noChangeAspect="1"/>
          </p:cNvPicPr>
          <p:nvPr/>
        </p:nvPicPr>
        <p:blipFill>
          <a:blip r:embed="rId5"/>
          <a:stretch>
            <a:fillRect/>
          </a:stretch>
        </p:blipFill>
        <p:spPr>
          <a:xfrm>
            <a:off x="180996" y="1292660"/>
            <a:ext cx="3893820" cy="2918460"/>
          </a:xfrm>
          <a:prstGeom prst="rect">
            <a:avLst/>
          </a:prstGeom>
        </p:spPr>
      </p:pic>
    </p:spTree>
    <p:extLst>
      <p:ext uri="{BB962C8B-B14F-4D97-AF65-F5344CB8AC3E}">
        <p14:creationId xmlns:p14="http://schemas.microsoft.com/office/powerpoint/2010/main" val="36596007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292094" y="756484"/>
            <a:ext cx="8395911" cy="45140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同时打开</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关闭连接</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6B1779FB-91CD-4EB2-B738-32A9B5423ED6}"/>
              </a:ext>
            </a:extLst>
          </p:cNvPr>
          <p:cNvPicPr>
            <a:picLocks noChangeAspect="1"/>
          </p:cNvPicPr>
          <p:nvPr/>
        </p:nvPicPr>
        <p:blipFill>
          <a:blip r:embed="rId3"/>
          <a:stretch>
            <a:fillRect/>
          </a:stretch>
        </p:blipFill>
        <p:spPr>
          <a:xfrm>
            <a:off x="141538" y="1296947"/>
            <a:ext cx="4457760" cy="2829030"/>
          </a:xfrm>
          <a:prstGeom prst="rect">
            <a:avLst/>
          </a:prstGeom>
        </p:spPr>
      </p:pic>
      <p:pic>
        <p:nvPicPr>
          <p:cNvPr id="6" name="图片 5">
            <a:extLst>
              <a:ext uri="{FF2B5EF4-FFF2-40B4-BE49-F238E27FC236}">
                <a16:creationId xmlns:a16="http://schemas.microsoft.com/office/drawing/2014/main" id="{06152B73-C1E9-4F39-AD0F-D77C9A4F5E1A}"/>
              </a:ext>
            </a:extLst>
          </p:cNvPr>
          <p:cNvPicPr>
            <a:picLocks noChangeAspect="1"/>
          </p:cNvPicPr>
          <p:nvPr/>
        </p:nvPicPr>
        <p:blipFill>
          <a:blip r:embed="rId4"/>
          <a:stretch>
            <a:fillRect/>
          </a:stretch>
        </p:blipFill>
        <p:spPr>
          <a:xfrm>
            <a:off x="4815401" y="1296947"/>
            <a:ext cx="4203201" cy="2667479"/>
          </a:xfrm>
          <a:prstGeom prst="rect">
            <a:avLst/>
          </a:prstGeom>
        </p:spPr>
      </p:pic>
      <p:sp>
        <p:nvSpPr>
          <p:cNvPr id="11" name="矩形 10">
            <a:extLst>
              <a:ext uri="{FF2B5EF4-FFF2-40B4-BE49-F238E27FC236}">
                <a16:creationId xmlns:a16="http://schemas.microsoft.com/office/drawing/2014/main" id="{0EEA68CC-EF6B-4017-8813-09A91DA16F3A}"/>
              </a:ext>
            </a:extLst>
          </p:cNvPr>
          <p:cNvSpPr/>
          <p:nvPr/>
        </p:nvSpPr>
        <p:spPr>
          <a:xfrm>
            <a:off x="292094" y="4413752"/>
            <a:ext cx="4457760" cy="1931876"/>
          </a:xfrm>
          <a:prstGeom prst="rect">
            <a:avLst/>
          </a:prstGeom>
        </p:spPr>
        <p:txBody>
          <a:bodyPr wrap="square">
            <a:spAutoFit/>
          </a:bodyPr>
          <a:lstStyle/>
          <a:p>
            <a:pPr marL="285750" indent="-285750">
              <a:lnSpc>
                <a:spcPts val="2800"/>
              </a:lnSpc>
              <a:spcBef>
                <a:spcPts val="600"/>
              </a:spcBef>
              <a:buClr>
                <a:srgbClr val="C00000"/>
              </a:buClr>
              <a:buFont typeface="Wingdings" panose="05000000000000000000" pitchFamily="2" charset="2"/>
              <a:buChar char="n"/>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连接的半打开状态：连接一端存在、而另一端不存在</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ts val="28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当一个进程终止连接未能通知另一方时，如主机断电、异常关闭等</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96748BD9-189C-4942-9B3D-3ABC2362FDB5}"/>
              </a:ext>
            </a:extLst>
          </p:cNvPr>
          <p:cNvSpPr/>
          <p:nvPr/>
        </p:nvSpPr>
        <p:spPr>
          <a:xfrm>
            <a:off x="4982098" y="4428408"/>
            <a:ext cx="3869808" cy="1862048"/>
          </a:xfrm>
          <a:prstGeom prst="rect">
            <a:avLst/>
          </a:prstGeom>
          <a:solidFill>
            <a:schemeClr val="accent3">
              <a:lumMod val="20000"/>
              <a:lumOff val="80000"/>
            </a:schemeClr>
          </a:solidFill>
          <a:ln>
            <a:solidFill>
              <a:srgbClr val="C00000"/>
            </a:solidFill>
          </a:ln>
        </p:spPr>
        <p:txBody>
          <a:bodyPr wrap="square">
            <a:spAutoFit/>
          </a:bodyPr>
          <a:lstStyle/>
          <a:p>
            <a:pPr marL="0" lvl="1">
              <a:lnSpc>
                <a:spcPts val="2300"/>
              </a:lnSpc>
              <a:spcBef>
                <a:spcPts val="600"/>
              </a:spcBef>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定时器</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p>
          <a:p>
            <a:pPr marL="266700" lvl="1" indent="-266700">
              <a:lnSpc>
                <a:spcPts val="2300"/>
              </a:lnSpc>
              <a:buFontTx/>
              <a:buBlip>
                <a:blip r:embed="rId5"/>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连接建立定时器（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75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秒）</a:t>
            </a:r>
          </a:p>
          <a:p>
            <a:pPr marL="266700" lvl="1" indent="-266700">
              <a:lnSpc>
                <a:spcPts val="2300"/>
              </a:lnSpc>
              <a:buFontTx/>
              <a:buBlip>
                <a:blip r:embed="rId5"/>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重传定时器（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RTO</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lvl="1" indent="-266700">
              <a:lnSpc>
                <a:spcPts val="2300"/>
              </a:lnSpc>
              <a:buFontTx/>
              <a:buBlip>
                <a:blip r:embed="rId5"/>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持续定时器（避免</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窗口死锁）</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lvl="1" indent="-266700">
              <a:lnSpc>
                <a:spcPts val="2300"/>
              </a:lnSpc>
              <a:buFontTx/>
              <a:buBlip>
                <a:blip r:embed="rId5"/>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保活定时器（避免半打开）</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66700" lvl="1" indent="-266700">
              <a:lnSpc>
                <a:spcPts val="2300"/>
              </a:lnSpc>
              <a:buFontTx/>
              <a:buBlip>
                <a:blip r:embed="rId5"/>
              </a:buBlip>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静默定时器（避免端口号重用）</a:t>
            </a:r>
          </a:p>
        </p:txBody>
      </p:sp>
    </p:spTree>
    <p:extLst>
      <p:ext uri="{BB962C8B-B14F-4D97-AF65-F5344CB8AC3E}">
        <p14:creationId xmlns:p14="http://schemas.microsoft.com/office/powerpoint/2010/main" val="228684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Text Box 5"/>
          <p:cNvSpPr txBox="1">
            <a:spLocks noChangeArrowheads="1"/>
          </p:cNvSpPr>
          <p:nvPr/>
        </p:nvSpPr>
        <p:spPr bwMode="auto">
          <a:xfrm>
            <a:off x="438134" y="810206"/>
            <a:ext cx="4535488" cy="523220"/>
          </a:xfrm>
          <a:prstGeom prst="rect">
            <a:avLst/>
          </a:prstGeom>
          <a:noFill/>
          <a:ln w="9525">
            <a:noFill/>
            <a:miter lim="800000"/>
            <a:headEnd/>
            <a:tailEnd/>
          </a:ln>
        </p:spPr>
        <p:txBody>
          <a:bodyPr>
            <a:spAutoFit/>
          </a:bodyPr>
          <a:lstStyle/>
          <a:p>
            <a:pPr marL="342900" indent="-342900" eaLnBrk="0" hangingPunct="0">
              <a:lnSpc>
                <a:spcPct val="100000"/>
              </a:lnSpc>
              <a:spcBef>
                <a:spcPct val="0"/>
              </a:spcBef>
              <a:buClr>
                <a:srgbClr val="C00000"/>
              </a:buClr>
              <a:buFont typeface="Wingdings" panose="05000000000000000000" pitchFamily="2" charset="2"/>
              <a:buChar char="n"/>
            </a:pPr>
            <a:r>
              <a:rPr kumimoji="0" lang="en-US" altLang="zh-CN" sz="2800" dirty="0">
                <a:ea typeface="宋体" pitchFamily="2" charset="-122"/>
              </a:rPr>
              <a:t>TCP</a:t>
            </a:r>
            <a:r>
              <a:rPr kumimoji="0" lang="zh-CN" altLang="en-US" sz="2800" dirty="0">
                <a:ea typeface="宋体" pitchFamily="2" charset="-122"/>
              </a:rPr>
              <a:t>客户端的生命周期</a:t>
            </a:r>
            <a:endParaRPr kumimoji="0" lang="en-US" altLang="zh-CN"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4C28662B-CF89-46F8-9202-F3FEDC2AC8BC}"/>
              </a:ext>
            </a:extLst>
          </p:cNvPr>
          <p:cNvPicPr>
            <a:picLocks noChangeAspect="1"/>
          </p:cNvPicPr>
          <p:nvPr/>
        </p:nvPicPr>
        <p:blipFill>
          <a:blip r:embed="rId3"/>
          <a:stretch>
            <a:fillRect/>
          </a:stretch>
        </p:blipFill>
        <p:spPr>
          <a:xfrm>
            <a:off x="1586297" y="1597981"/>
            <a:ext cx="5807506" cy="4559206"/>
          </a:xfrm>
          <a:prstGeom prst="rect">
            <a:avLst/>
          </a:prstGeom>
        </p:spPr>
      </p:pic>
      <p:sp>
        <p:nvSpPr>
          <p:cNvPr id="7" name="标题 1">
            <a:extLst>
              <a:ext uri="{FF2B5EF4-FFF2-40B4-BE49-F238E27FC236}">
                <a16:creationId xmlns:a16="http://schemas.microsoft.com/office/drawing/2014/main" id="{B7B80078-8CDB-4CE6-92DC-62C9A315068F}"/>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762576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0AFA617-3B8A-46A4-A195-7860AE2BE19F}"/>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5">
            <a:extLst>
              <a:ext uri="{FF2B5EF4-FFF2-40B4-BE49-F238E27FC236}">
                <a16:creationId xmlns:a16="http://schemas.microsoft.com/office/drawing/2014/main" id="{A71DD2F4-288E-48EF-ABE7-E5FB9E9D9177}"/>
              </a:ext>
            </a:extLst>
          </p:cNvPr>
          <p:cNvSpPr txBox="1">
            <a:spLocks noChangeArrowheads="1"/>
          </p:cNvSpPr>
          <p:nvPr/>
        </p:nvSpPr>
        <p:spPr bwMode="auto">
          <a:xfrm>
            <a:off x="438134" y="810206"/>
            <a:ext cx="4535488" cy="523220"/>
          </a:xfrm>
          <a:prstGeom prst="rect">
            <a:avLst/>
          </a:prstGeom>
          <a:noFill/>
          <a:ln w="9525">
            <a:noFill/>
            <a:miter lim="800000"/>
            <a:headEnd/>
            <a:tailEnd/>
          </a:ln>
        </p:spPr>
        <p:txBody>
          <a:bodyPr>
            <a:spAutoFit/>
          </a:bodyPr>
          <a:lstStyle/>
          <a:p>
            <a:pPr marL="342900" indent="-342900" eaLnBrk="0" hangingPunct="0">
              <a:lnSpc>
                <a:spcPct val="100000"/>
              </a:lnSpc>
              <a:spcBef>
                <a:spcPct val="0"/>
              </a:spcBef>
              <a:buClr>
                <a:srgbClr val="C00000"/>
              </a:buClr>
              <a:buFont typeface="Wingdings" panose="05000000000000000000" pitchFamily="2" charset="2"/>
              <a:buChar char="n"/>
            </a:pPr>
            <a:r>
              <a:rPr kumimoji="0" lang="en-US" altLang="zh-CN" sz="2800" dirty="0">
                <a:ea typeface="宋体" pitchFamily="2" charset="-122"/>
              </a:rPr>
              <a:t>TCP</a:t>
            </a:r>
            <a:r>
              <a:rPr lang="zh-CN" altLang="en-US" sz="2800" dirty="0">
                <a:ea typeface="宋体" pitchFamily="2" charset="-122"/>
              </a:rPr>
              <a:t>服务器的</a:t>
            </a:r>
            <a:r>
              <a:rPr kumimoji="0" lang="zh-CN" altLang="en-US" sz="2800" dirty="0">
                <a:ea typeface="宋体" pitchFamily="2" charset="-122"/>
              </a:rPr>
              <a:t>生命周期</a:t>
            </a:r>
            <a:endParaRPr kumimoji="0" lang="en-US" altLang="zh-CN"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3AC91F38-A7FB-4B54-83F7-D64855F45C95}"/>
              </a:ext>
            </a:extLst>
          </p:cNvPr>
          <p:cNvPicPr>
            <a:picLocks noChangeAspect="1"/>
          </p:cNvPicPr>
          <p:nvPr/>
        </p:nvPicPr>
        <p:blipFill>
          <a:blip r:embed="rId3"/>
          <a:stretch>
            <a:fillRect/>
          </a:stretch>
        </p:blipFill>
        <p:spPr>
          <a:xfrm>
            <a:off x="1798023" y="1493299"/>
            <a:ext cx="5547953" cy="4554495"/>
          </a:xfrm>
          <a:prstGeom prst="rect">
            <a:avLst/>
          </a:prstGeom>
        </p:spPr>
      </p:pic>
      <p:sp>
        <p:nvSpPr>
          <p:cNvPr id="7" name="爆炸形: 14 pt  6">
            <a:extLst>
              <a:ext uri="{FF2B5EF4-FFF2-40B4-BE49-F238E27FC236}">
                <a16:creationId xmlns:a16="http://schemas.microsoft.com/office/drawing/2014/main" id="{48DFC42D-A4B8-4F3B-9D6D-11BDD396141D}"/>
              </a:ext>
            </a:extLst>
          </p:cNvPr>
          <p:cNvSpPr/>
          <p:nvPr/>
        </p:nvSpPr>
        <p:spPr>
          <a:xfrm>
            <a:off x="7437092" y="5579742"/>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3-4</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61884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74042" y="814055"/>
            <a:ext cx="8395911" cy="2519536"/>
          </a:xfrm>
          <a:prstGeom prst="rect">
            <a:avLst/>
          </a:prstGeom>
        </p:spPr>
        <p:txBody>
          <a:bodyPr wrap="square">
            <a:spAutoFit/>
          </a:bodyPr>
          <a:lstStyle/>
          <a:p>
            <a:pPr marL="285750" indent="-285750">
              <a:lnSpc>
                <a:spcPct val="1300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 Reset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报文段</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ct val="1300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客户端和服务器的一方在交互的过程中</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发生异常</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，该方可以向对方发送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Reset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报文段，通告对方释放</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ct val="1300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接收端收到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段，但发现该</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段并不</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在已建立的</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连接列表中</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，则向对方发送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Reset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报文段</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4B95CE90-3EF6-47EF-85A8-AA4F6FDB71CB}"/>
              </a:ext>
            </a:extLst>
          </p:cNvPr>
          <p:cNvPicPr>
            <a:picLocks noChangeAspect="1"/>
          </p:cNvPicPr>
          <p:nvPr/>
        </p:nvPicPr>
        <p:blipFill>
          <a:blip r:embed="rId3"/>
          <a:stretch>
            <a:fillRect/>
          </a:stretch>
        </p:blipFill>
        <p:spPr>
          <a:xfrm>
            <a:off x="948353" y="3601995"/>
            <a:ext cx="7247290" cy="2552808"/>
          </a:xfrm>
          <a:prstGeom prst="rect">
            <a:avLst/>
          </a:prstGeom>
        </p:spPr>
      </p:pic>
    </p:spTree>
    <p:extLst>
      <p:ext uri="{BB962C8B-B14F-4D97-AF65-F5344CB8AC3E}">
        <p14:creationId xmlns:p14="http://schemas.microsoft.com/office/powerpoint/2010/main" val="935262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327875" y="922227"/>
            <a:ext cx="8395911" cy="2450543"/>
          </a:xfrm>
          <a:prstGeom prst="rect">
            <a:avLst/>
          </a:prstGeom>
        </p:spPr>
        <p:txBody>
          <a:bodyPr wrap="square">
            <a:spAutoFit/>
          </a:bodyPr>
          <a:lstStyle/>
          <a:p>
            <a:pPr marL="285750" indent="-285750">
              <a:lnSpc>
                <a:spcPts val="32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 Reset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报文段（续）</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ts val="36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通信的一方</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长期未收到对方的确认报文</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，则在</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超出特定重传次数或时间后</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，主动向对方发送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Reset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报文段释放该连接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ts val="36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有些开发者在设计应用系统时，</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Reset</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报文段快速释放已完成数据交互的</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连接，提高业务交互效率</a:t>
            </a:r>
            <a:endPar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连接管理</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4B95CE90-3EF6-47EF-85A8-AA4F6FDB71CB}"/>
              </a:ext>
            </a:extLst>
          </p:cNvPr>
          <p:cNvPicPr>
            <a:picLocks noChangeAspect="1"/>
          </p:cNvPicPr>
          <p:nvPr/>
        </p:nvPicPr>
        <p:blipFill>
          <a:blip r:embed="rId3"/>
          <a:stretch>
            <a:fillRect/>
          </a:stretch>
        </p:blipFill>
        <p:spPr>
          <a:xfrm>
            <a:off x="853627" y="3593813"/>
            <a:ext cx="7372528" cy="2596922"/>
          </a:xfrm>
          <a:prstGeom prst="rect">
            <a:avLst/>
          </a:prstGeom>
        </p:spPr>
      </p:pic>
    </p:spTree>
    <p:extLst>
      <p:ext uri="{BB962C8B-B14F-4D97-AF65-F5344CB8AC3E}">
        <p14:creationId xmlns:p14="http://schemas.microsoft.com/office/powerpoint/2010/main" val="29700528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84EC9F1-C1F0-4551-B469-E864E9BFD0FB}"/>
              </a:ext>
            </a:extLst>
          </p:cNvPr>
          <p:cNvSpPr/>
          <p:nvPr/>
        </p:nvSpPr>
        <p:spPr>
          <a:xfrm>
            <a:off x="292094" y="779741"/>
            <a:ext cx="8395911" cy="3029612"/>
          </a:xfrm>
          <a:prstGeom prst="rect">
            <a:avLst/>
          </a:prstGeom>
        </p:spPr>
        <p:txBody>
          <a:bodyPr wrap="square">
            <a:spAutoFit/>
          </a:bodyPr>
          <a:lstStyle/>
          <a:p>
            <a:pPr marL="285750" indent="-285750">
              <a:lnSpc>
                <a:spcPts val="3200"/>
              </a:lnSpc>
              <a:spcBef>
                <a:spcPts val="600"/>
              </a:spcBef>
              <a:buClr>
                <a:srgbClr val="C00000"/>
              </a:buClr>
              <a:buFont typeface="Wingdings" panose="05000000000000000000" pitchFamily="2" charset="2"/>
              <a:buChar char="n"/>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问题讨论</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539750" lvl="1" indent="-269875">
              <a:lnSpc>
                <a:spcPct val="150000"/>
              </a:lnSpc>
              <a:spcBef>
                <a:spcPts val="600"/>
              </a:spcBef>
              <a:buClr>
                <a:srgbClr val="2A09B7"/>
              </a:buClr>
              <a:buFont typeface="Wingdings" panose="05000000000000000000" pitchFamily="2" charset="2"/>
              <a:buChar char="ü"/>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接收端队头阻塞问题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25500" lvl="2" indent="-285750">
              <a:lnSpc>
                <a:spcPct val="150000"/>
              </a:lnSpc>
              <a:spcBef>
                <a:spcPts val="600"/>
              </a:spcBef>
              <a:buClr>
                <a:srgbClr val="2A09B7"/>
              </a:buClr>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提供面向字节流的可靠服务，接收的数据需要与发送端一致的顺序提供给应用进程</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25500" lvl="2" indent="-285750">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当数据段丢失时，需要超时重传，接收队列存在队头阻塞问题，影响应用协议性能</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4098C64E-8713-4E6A-B03C-FD5547E0340C}"/>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3.5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传输控制协议</a:t>
            </a:r>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问题讨论</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a:extLst>
              <a:ext uri="{FF2B5EF4-FFF2-40B4-BE49-F238E27FC236}">
                <a16:creationId xmlns:a16="http://schemas.microsoft.com/office/drawing/2014/main" id="{DADFAAD2-8275-4BAF-B5E6-960146A63E29}"/>
              </a:ext>
            </a:extLst>
          </p:cNvPr>
          <p:cNvPicPr>
            <a:picLocks noChangeAspect="1"/>
          </p:cNvPicPr>
          <p:nvPr/>
        </p:nvPicPr>
        <p:blipFill>
          <a:blip r:embed="rId3"/>
          <a:stretch>
            <a:fillRect/>
          </a:stretch>
        </p:blipFill>
        <p:spPr>
          <a:xfrm>
            <a:off x="659504" y="4003806"/>
            <a:ext cx="8028501" cy="1810087"/>
          </a:xfrm>
          <a:prstGeom prst="rect">
            <a:avLst/>
          </a:prstGeom>
        </p:spPr>
      </p:pic>
      <p:sp>
        <p:nvSpPr>
          <p:cNvPr id="4" name="矩形 3">
            <a:extLst>
              <a:ext uri="{FF2B5EF4-FFF2-40B4-BE49-F238E27FC236}">
                <a16:creationId xmlns:a16="http://schemas.microsoft.com/office/drawing/2014/main" id="{B79BD843-4A2E-4C8F-8EC2-1069295AD672}"/>
              </a:ext>
            </a:extLst>
          </p:cNvPr>
          <p:cNvSpPr/>
          <p:nvPr/>
        </p:nvSpPr>
        <p:spPr>
          <a:xfrm>
            <a:off x="952986" y="6008346"/>
            <a:ext cx="7238028" cy="387286"/>
          </a:xfrm>
          <a:prstGeom prst="rect">
            <a:avLst/>
          </a:prstGeom>
          <a:solidFill>
            <a:schemeClr val="accent2">
              <a:lumMod val="20000"/>
              <a:lumOff val="80000"/>
            </a:schemeClr>
          </a:solidFill>
          <a:ln>
            <a:solidFill>
              <a:schemeClr val="accent6">
                <a:lumMod val="20000"/>
                <a:lumOff val="80000"/>
              </a:schemeClr>
            </a:solidFill>
          </a:ln>
        </p:spPr>
        <p:txBody>
          <a:bodyPr wrap="square">
            <a:spAutoFit/>
          </a:bodyPr>
          <a:lstStyle/>
          <a:p>
            <a:pPr algn="ctr">
              <a:lnSpc>
                <a:spcPts val="2300"/>
              </a:lnSpc>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使用多</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连接，或设计</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UDP</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之上的可靠数据传输（如</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QUIC)</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423779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E5BBA8F-F00E-44E3-B328-D9E96F4CE4E1}"/>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A4A77ADE-17A6-4787-82B3-3C4B56FFA9E8}"/>
              </a:ext>
            </a:extLst>
          </p:cNvPr>
          <p:cNvSpPr/>
          <p:nvPr/>
        </p:nvSpPr>
        <p:spPr>
          <a:xfrm>
            <a:off x="374044" y="868600"/>
            <a:ext cx="8395911" cy="1892506"/>
          </a:xfrm>
          <a:prstGeom prst="rect">
            <a:avLst/>
          </a:prstGeom>
        </p:spPr>
        <p:txBody>
          <a:bodyPr wrap="square">
            <a:spAutoFit/>
          </a:bodyPr>
          <a:lstStyle/>
          <a:p>
            <a:pPr marL="285750" indent="-285750">
              <a:lnSpc>
                <a:spcPts val="32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ts val="3600"/>
              </a:lnSpc>
              <a:spcBef>
                <a:spcPts val="600"/>
              </a:spcBef>
              <a:buClr>
                <a:srgbClr val="2A09B7"/>
              </a:buClr>
              <a:buFont typeface="Wingdings" panose="05000000000000000000" pitchFamily="2" charset="2"/>
              <a:buChar char="ü"/>
            </a:pPr>
            <a:r>
              <a:rPr lang="zh-CN" altLang="en-US" sz="2200" b="1" dirty="0">
                <a:solidFill>
                  <a:srgbClr val="FF0000"/>
                </a:solidFill>
                <a:latin typeface="宋体" panose="02010600030101010101" pitchFamily="2" charset="-122"/>
                <a:ea typeface="宋体" panose="02010600030101010101" pitchFamily="2" charset="-122"/>
              </a:rPr>
              <a:t>回顾</a:t>
            </a:r>
            <a:r>
              <a:rPr lang="zh-CN" altLang="en-US" sz="2200" dirty="0">
                <a:latin typeface="宋体" panose="02010600030101010101" pitchFamily="2" charset="-122"/>
                <a:ea typeface="宋体" panose="02010600030101010101" pitchFamily="2" charset="-122"/>
              </a:rPr>
              <a:t>：当报文分组到达时，如果出口链路忙，则分组在路由器缓存中排队等待，</a:t>
            </a:r>
            <a:r>
              <a:rPr lang="zh-CN" altLang="en-US" sz="2200" b="1" dirty="0">
                <a:solidFill>
                  <a:srgbClr val="C00000"/>
                </a:solidFill>
                <a:latin typeface="宋体" panose="02010600030101010101" pitchFamily="2" charset="-122"/>
                <a:ea typeface="宋体" panose="02010600030101010101" pitchFamily="2" charset="-122"/>
              </a:rPr>
              <a:t>引入排队时延</a:t>
            </a:r>
            <a:r>
              <a:rPr lang="zh-CN" altLang="en-US" sz="2200" dirty="0">
                <a:latin typeface="宋体" panose="02010600030101010101" pitchFamily="2" charset="-122"/>
                <a:ea typeface="宋体" panose="02010600030101010101" pitchFamily="2" charset="-122"/>
              </a:rPr>
              <a:t>；如果缓存填满，分组被</a:t>
            </a:r>
            <a:r>
              <a:rPr lang="zh-CN" altLang="en-US" sz="2200" b="1" dirty="0">
                <a:solidFill>
                  <a:srgbClr val="C00000"/>
                </a:solidFill>
                <a:latin typeface="宋体" panose="02010600030101010101" pitchFamily="2" charset="-122"/>
                <a:ea typeface="宋体" panose="02010600030101010101" pitchFamily="2" charset="-122"/>
              </a:rPr>
              <a:t>丢弃</a:t>
            </a:r>
            <a:r>
              <a:rPr lang="zh-CN" altLang="en-US" sz="2200" dirty="0">
                <a:latin typeface="宋体" panose="02010600030101010101" pitchFamily="2" charset="-122"/>
                <a:ea typeface="宋体" panose="02010600030101010101" pitchFamily="2" charset="-122"/>
              </a:rPr>
              <a:t>；</a:t>
            </a:r>
            <a:r>
              <a:rPr lang="zh-CN" altLang="en-US" sz="2200" b="1" dirty="0">
                <a:solidFill>
                  <a:srgbClr val="00B0F0"/>
                </a:solidFill>
                <a:latin typeface="宋体" panose="02010600030101010101" pitchFamily="2" charset="-122"/>
                <a:ea typeface="宋体" panose="02010600030101010101" pitchFamily="2" charset="-122"/>
              </a:rPr>
              <a:t>排队时延过长、丢弃对网络性能有较大影响</a:t>
            </a:r>
            <a:endParaRPr lang="zh-CN" altLang="en-US" sz="2200" b="1"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p:txBody>
      </p:sp>
      <p:grpSp>
        <p:nvGrpSpPr>
          <p:cNvPr id="6" name="组合 5">
            <a:extLst>
              <a:ext uri="{FF2B5EF4-FFF2-40B4-BE49-F238E27FC236}">
                <a16:creationId xmlns:a16="http://schemas.microsoft.com/office/drawing/2014/main" id="{72FF6663-AA7C-4C80-AFF6-756D2A302A33}"/>
              </a:ext>
            </a:extLst>
          </p:cNvPr>
          <p:cNvGrpSpPr/>
          <p:nvPr/>
        </p:nvGrpSpPr>
        <p:grpSpPr>
          <a:xfrm>
            <a:off x="1318437" y="3042318"/>
            <a:ext cx="6342321" cy="3096373"/>
            <a:chOff x="426095" y="1125078"/>
            <a:chExt cx="7889230" cy="3935596"/>
          </a:xfrm>
        </p:grpSpPr>
        <p:sp>
          <p:nvSpPr>
            <p:cNvPr id="7" name="Rectangle 872">
              <a:extLst>
                <a:ext uri="{FF2B5EF4-FFF2-40B4-BE49-F238E27FC236}">
                  <a16:creationId xmlns:a16="http://schemas.microsoft.com/office/drawing/2014/main" id="{4A531E54-AACC-47C7-B0AD-CFE92AC68107}"/>
                </a:ext>
              </a:extLst>
            </p:cNvPr>
            <p:cNvSpPr>
              <a:spLocks noChangeArrowheads="1"/>
            </p:cNvSpPr>
            <p:nvPr/>
          </p:nvSpPr>
          <p:spPr bwMode="auto">
            <a:xfrm>
              <a:off x="426095" y="1264875"/>
              <a:ext cx="42830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lnSpc>
                  <a:spcPct val="120000"/>
                </a:lnSpc>
                <a:buClr>
                  <a:schemeClr val="accent2"/>
                </a:buClr>
                <a:buSzPct val="85000"/>
                <a:buFont typeface="Symbol" panose="05050102010706020507" pitchFamily="18" charset="2"/>
                <a:buBlip>
                  <a:blip r:embed="rId3"/>
                </a:buBlip>
              </a:pPr>
              <a:endParaRPr lang="en-US" altLang="zh-CN" sz="1700">
                <a:ea typeface="宋体" panose="02010600030101010101" pitchFamily="2" charset="-122"/>
                <a:cs typeface="Times New Roman" panose="02020603050405020304" pitchFamily="18" charset="0"/>
              </a:endParaRPr>
            </a:p>
          </p:txBody>
        </p:sp>
        <p:graphicFrame>
          <p:nvGraphicFramePr>
            <p:cNvPr id="8" name="Object 10">
              <a:extLst>
                <a:ext uri="{FF2B5EF4-FFF2-40B4-BE49-F238E27FC236}">
                  <a16:creationId xmlns:a16="http://schemas.microsoft.com/office/drawing/2014/main" id="{26A09B20-60EF-43A8-BA67-79EE59366BA9}"/>
                </a:ext>
              </a:extLst>
            </p:cNvPr>
            <p:cNvGraphicFramePr>
              <a:graphicFrameLocks noChangeAspect="1"/>
            </p:cNvGraphicFramePr>
            <p:nvPr>
              <p:extLst>
                <p:ext uri="{D42A27DB-BD31-4B8C-83A1-F6EECF244321}">
                  <p14:modId xmlns:p14="http://schemas.microsoft.com/office/powerpoint/2010/main" val="872398018"/>
                </p:ext>
              </p:extLst>
            </p:nvPr>
          </p:nvGraphicFramePr>
          <p:xfrm>
            <a:off x="984250" y="2547938"/>
            <a:ext cx="708025" cy="581025"/>
          </p:xfrm>
          <a:graphic>
            <a:graphicData uri="http://schemas.openxmlformats.org/presentationml/2006/ole">
              <mc:AlternateContent xmlns:mc="http://schemas.openxmlformats.org/markup-compatibility/2006">
                <mc:Choice xmlns:v="urn:schemas-microsoft-com:vml" Requires="v">
                  <p:oleObj name="Clip" r:id="rId5" imgW="1307263" imgH="1084139" progId="MS_ClipArt_Gallery.2">
                    <p:embed/>
                  </p:oleObj>
                </mc:Choice>
                <mc:Fallback>
                  <p:oleObj name="Clip" r:id="rId5" imgW="1307263" imgH="1084139" progId="MS_ClipArt_Gallery.2">
                    <p:embed/>
                    <p:pic>
                      <p:nvPicPr>
                        <p:cNvPr id="8" name="Object 10">
                          <a:extLst>
                            <a:ext uri="{FF2B5EF4-FFF2-40B4-BE49-F238E27FC236}">
                              <a16:creationId xmlns:a16="http://schemas.microsoft.com/office/drawing/2014/main" id="{FAED2FDD-42B5-49D3-81BF-3D68C633AF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4250" y="2547938"/>
                          <a:ext cx="708025"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Oval 11">
              <a:extLst>
                <a:ext uri="{FF2B5EF4-FFF2-40B4-BE49-F238E27FC236}">
                  <a16:creationId xmlns:a16="http://schemas.microsoft.com/office/drawing/2014/main" id="{1A6695C6-6642-45A4-9ED6-3C0642E4E9B8}"/>
                </a:ext>
              </a:extLst>
            </p:cNvPr>
            <p:cNvSpPr>
              <a:spLocks noChangeArrowheads="1"/>
            </p:cNvSpPr>
            <p:nvPr/>
          </p:nvSpPr>
          <p:spPr bwMode="auto">
            <a:xfrm>
              <a:off x="2481263" y="2398713"/>
              <a:ext cx="1311275" cy="403225"/>
            </a:xfrm>
            <a:prstGeom prst="ellipse">
              <a:avLst/>
            </a:prstGeom>
            <a:solidFill>
              <a:schemeClr val="accent6">
                <a:lumMod val="60000"/>
                <a:lumOff val="40000"/>
              </a:schemeClr>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10" name="Rectangle 12">
              <a:extLst>
                <a:ext uri="{FF2B5EF4-FFF2-40B4-BE49-F238E27FC236}">
                  <a16:creationId xmlns:a16="http://schemas.microsoft.com/office/drawing/2014/main" id="{947B2E3C-3073-43CB-B066-FDBE7A484CD2}"/>
                </a:ext>
              </a:extLst>
            </p:cNvPr>
            <p:cNvSpPr>
              <a:spLocks noChangeArrowheads="1"/>
            </p:cNvSpPr>
            <p:nvPr/>
          </p:nvSpPr>
          <p:spPr bwMode="auto">
            <a:xfrm>
              <a:off x="2481263" y="2324100"/>
              <a:ext cx="1311275" cy="287338"/>
            </a:xfrm>
            <a:prstGeom prst="rect">
              <a:avLst/>
            </a:prstGeom>
            <a:solidFill>
              <a:schemeClr val="accent6">
                <a:lumMod val="60000"/>
                <a:lumOff val="40000"/>
              </a:schemeClr>
            </a:solidFill>
            <a:ln w="12700">
              <a:noFill/>
              <a:miter lim="800000"/>
              <a:headEnd/>
              <a:tailEnd/>
            </a:ln>
          </p:spPr>
          <p:txBody>
            <a:bodyPr wrap="none" anchor="ctr"/>
            <a:lstStyle/>
            <a:p>
              <a:pPr algn="ctr">
                <a:defRPr/>
              </a:pPr>
              <a:endParaRPr kumimoji="0" lang="zh-CN" altLang="zh-CN" sz="1700">
                <a:latin typeface="Times New Roman" panose="02020603050405020304" pitchFamily="18" charset="0"/>
                <a:ea typeface="宋体" charset="-122"/>
                <a:cs typeface="Times New Roman" panose="02020603050405020304" pitchFamily="18" charset="0"/>
              </a:endParaRPr>
            </a:p>
          </p:txBody>
        </p:sp>
        <p:sp>
          <p:nvSpPr>
            <p:cNvPr id="11" name="Oval 13">
              <a:extLst>
                <a:ext uri="{FF2B5EF4-FFF2-40B4-BE49-F238E27FC236}">
                  <a16:creationId xmlns:a16="http://schemas.microsoft.com/office/drawing/2014/main" id="{1D5C1D7B-C66D-42B4-8761-FFA3825EEF5A}"/>
                </a:ext>
              </a:extLst>
            </p:cNvPr>
            <p:cNvSpPr>
              <a:spLocks noChangeArrowheads="1"/>
            </p:cNvSpPr>
            <p:nvPr/>
          </p:nvSpPr>
          <p:spPr bwMode="auto">
            <a:xfrm>
              <a:off x="2492375" y="2074863"/>
              <a:ext cx="1311275" cy="469900"/>
            </a:xfrm>
            <a:prstGeom prst="ellipse">
              <a:avLst/>
            </a:prstGeom>
            <a:solidFill>
              <a:schemeClr val="accent6">
                <a:lumMod val="60000"/>
                <a:lumOff val="40000"/>
              </a:schemeClr>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nvGrpSpPr>
            <p:cNvPr id="12" name="Group 14">
              <a:extLst>
                <a:ext uri="{FF2B5EF4-FFF2-40B4-BE49-F238E27FC236}">
                  <a16:creationId xmlns:a16="http://schemas.microsoft.com/office/drawing/2014/main" id="{E20E500B-7A4F-4646-BD58-9557A9E047F4}"/>
                </a:ext>
              </a:extLst>
            </p:cNvPr>
            <p:cNvGrpSpPr>
              <a:grpSpLocks/>
            </p:cNvGrpSpPr>
            <p:nvPr/>
          </p:nvGrpSpPr>
          <p:grpSpPr bwMode="auto">
            <a:xfrm>
              <a:off x="2870200" y="2108200"/>
              <a:ext cx="546100" cy="130175"/>
              <a:chOff x="2208" y="2184"/>
              <a:chExt cx="176" cy="69"/>
            </a:xfrm>
          </p:grpSpPr>
          <p:grpSp>
            <p:nvGrpSpPr>
              <p:cNvPr id="86" name="Group 15">
                <a:extLst>
                  <a:ext uri="{FF2B5EF4-FFF2-40B4-BE49-F238E27FC236}">
                    <a16:creationId xmlns:a16="http://schemas.microsoft.com/office/drawing/2014/main" id="{8303B9CE-A603-482E-ABFF-9745C54A31AD}"/>
                  </a:ext>
                </a:extLst>
              </p:cNvPr>
              <p:cNvGrpSpPr>
                <a:grpSpLocks/>
              </p:cNvGrpSpPr>
              <p:nvPr/>
            </p:nvGrpSpPr>
            <p:grpSpPr bwMode="auto">
              <a:xfrm>
                <a:off x="2208" y="2185"/>
                <a:ext cx="176" cy="68"/>
                <a:chOff x="2848" y="848"/>
                <a:chExt cx="140" cy="98"/>
              </a:xfrm>
            </p:grpSpPr>
            <p:sp>
              <p:nvSpPr>
                <p:cNvPr id="91" name="Line 16">
                  <a:extLst>
                    <a:ext uri="{FF2B5EF4-FFF2-40B4-BE49-F238E27FC236}">
                      <a16:creationId xmlns:a16="http://schemas.microsoft.com/office/drawing/2014/main" id="{9542FEAC-D140-4DE6-898C-82CF21050C95}"/>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92" name="Line 17">
                  <a:extLst>
                    <a:ext uri="{FF2B5EF4-FFF2-40B4-BE49-F238E27FC236}">
                      <a16:creationId xmlns:a16="http://schemas.microsoft.com/office/drawing/2014/main" id="{51054536-BC69-4168-B597-122F974FB020}"/>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93" name="Line 18">
                  <a:extLst>
                    <a:ext uri="{FF2B5EF4-FFF2-40B4-BE49-F238E27FC236}">
                      <a16:creationId xmlns:a16="http://schemas.microsoft.com/office/drawing/2014/main" id="{B06E51FD-3155-4EE9-AE5A-5BCE686FF1E0}"/>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nvGrpSpPr>
              <p:cNvPr id="87" name="Group 19">
                <a:extLst>
                  <a:ext uri="{FF2B5EF4-FFF2-40B4-BE49-F238E27FC236}">
                    <a16:creationId xmlns:a16="http://schemas.microsoft.com/office/drawing/2014/main" id="{8B781240-6328-4148-8F05-358B92B8CEEF}"/>
                  </a:ext>
                </a:extLst>
              </p:cNvPr>
              <p:cNvGrpSpPr>
                <a:grpSpLocks/>
              </p:cNvGrpSpPr>
              <p:nvPr/>
            </p:nvGrpSpPr>
            <p:grpSpPr bwMode="auto">
              <a:xfrm flipV="1">
                <a:off x="2208" y="2184"/>
                <a:ext cx="176" cy="68"/>
                <a:chOff x="2848" y="848"/>
                <a:chExt cx="140" cy="98"/>
              </a:xfrm>
            </p:grpSpPr>
            <p:sp>
              <p:nvSpPr>
                <p:cNvPr id="88" name="Line 20">
                  <a:extLst>
                    <a:ext uri="{FF2B5EF4-FFF2-40B4-BE49-F238E27FC236}">
                      <a16:creationId xmlns:a16="http://schemas.microsoft.com/office/drawing/2014/main" id="{8F666D19-379C-468B-A3AD-1ABD3FD64038}"/>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9" name="Line 21">
                  <a:extLst>
                    <a:ext uri="{FF2B5EF4-FFF2-40B4-BE49-F238E27FC236}">
                      <a16:creationId xmlns:a16="http://schemas.microsoft.com/office/drawing/2014/main" id="{2211075C-3023-4074-A0E5-006206CDCFCE}"/>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90" name="Line 22">
                  <a:extLst>
                    <a:ext uri="{FF2B5EF4-FFF2-40B4-BE49-F238E27FC236}">
                      <a16:creationId xmlns:a16="http://schemas.microsoft.com/office/drawing/2014/main" id="{750BB2B2-F99A-4233-BCE7-FA3840333497}"/>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sp>
          <p:nvSpPr>
            <p:cNvPr id="13" name="Oval 23">
              <a:extLst>
                <a:ext uri="{FF2B5EF4-FFF2-40B4-BE49-F238E27FC236}">
                  <a16:creationId xmlns:a16="http://schemas.microsoft.com/office/drawing/2014/main" id="{0103E749-58B0-4C01-A2D2-BE0399BC6A82}"/>
                </a:ext>
              </a:extLst>
            </p:cNvPr>
            <p:cNvSpPr>
              <a:spLocks noChangeArrowheads="1"/>
            </p:cNvSpPr>
            <p:nvPr/>
          </p:nvSpPr>
          <p:spPr bwMode="auto">
            <a:xfrm>
              <a:off x="5870575" y="2419350"/>
              <a:ext cx="1311275" cy="403225"/>
            </a:xfrm>
            <a:prstGeom prst="ellipse">
              <a:avLst/>
            </a:prstGeom>
            <a:solidFill>
              <a:schemeClr val="accent6">
                <a:lumMod val="60000"/>
                <a:lumOff val="40000"/>
              </a:schemeClr>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14" name="Line 24">
              <a:extLst>
                <a:ext uri="{FF2B5EF4-FFF2-40B4-BE49-F238E27FC236}">
                  <a16:creationId xmlns:a16="http://schemas.microsoft.com/office/drawing/2014/main" id="{84360162-1A16-47D6-8526-C001AF6D114D}"/>
                </a:ext>
              </a:extLst>
            </p:cNvPr>
            <p:cNvSpPr>
              <a:spLocks noChangeShapeType="1"/>
            </p:cNvSpPr>
            <p:nvPr/>
          </p:nvSpPr>
          <p:spPr bwMode="auto">
            <a:xfrm>
              <a:off x="5880100" y="2397125"/>
              <a:ext cx="0" cy="249238"/>
            </a:xfrm>
            <a:prstGeom prst="line">
              <a:avLst/>
            </a:prstGeom>
            <a:noFill/>
            <a:ln w="1270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15" name="Rectangle 25">
              <a:extLst>
                <a:ext uri="{FF2B5EF4-FFF2-40B4-BE49-F238E27FC236}">
                  <a16:creationId xmlns:a16="http://schemas.microsoft.com/office/drawing/2014/main" id="{03F3CF36-4274-40BB-9716-0E9644A21A48}"/>
                </a:ext>
              </a:extLst>
            </p:cNvPr>
            <p:cNvSpPr>
              <a:spLocks noChangeArrowheads="1"/>
            </p:cNvSpPr>
            <p:nvPr/>
          </p:nvSpPr>
          <p:spPr bwMode="auto">
            <a:xfrm>
              <a:off x="5880100" y="2355850"/>
              <a:ext cx="1312863" cy="287338"/>
            </a:xfrm>
            <a:prstGeom prst="rect">
              <a:avLst/>
            </a:prstGeom>
            <a:solidFill>
              <a:schemeClr val="accent6">
                <a:lumMod val="60000"/>
                <a:lumOff val="40000"/>
              </a:schemeClr>
            </a:solidFill>
            <a:ln w="12700">
              <a:noFill/>
              <a:miter lim="800000"/>
              <a:headEnd/>
              <a:tailEnd/>
            </a:ln>
          </p:spPr>
          <p:txBody>
            <a:bodyPr wrap="none" anchor="ctr"/>
            <a:lstStyle/>
            <a:p>
              <a:pPr algn="ctr">
                <a:defRPr/>
              </a:pPr>
              <a:endParaRPr kumimoji="0" lang="zh-CN" altLang="zh-CN" sz="1700">
                <a:latin typeface="Times New Roman" panose="02020603050405020304" pitchFamily="18" charset="0"/>
                <a:ea typeface="宋体" charset="-122"/>
                <a:cs typeface="Times New Roman" panose="02020603050405020304" pitchFamily="18" charset="0"/>
              </a:endParaRPr>
            </a:p>
          </p:txBody>
        </p:sp>
        <p:sp>
          <p:nvSpPr>
            <p:cNvPr id="16" name="Oval 26">
              <a:extLst>
                <a:ext uri="{FF2B5EF4-FFF2-40B4-BE49-F238E27FC236}">
                  <a16:creationId xmlns:a16="http://schemas.microsoft.com/office/drawing/2014/main" id="{C77E3BD9-D0D6-4C94-A493-DBB16E121471}"/>
                </a:ext>
              </a:extLst>
            </p:cNvPr>
            <p:cNvSpPr>
              <a:spLocks noChangeArrowheads="1"/>
            </p:cNvSpPr>
            <p:nvPr/>
          </p:nvSpPr>
          <p:spPr bwMode="auto">
            <a:xfrm>
              <a:off x="5891213" y="2106613"/>
              <a:ext cx="1311275" cy="468312"/>
            </a:xfrm>
            <a:prstGeom prst="ellipse">
              <a:avLst/>
            </a:prstGeom>
            <a:solidFill>
              <a:schemeClr val="accent6">
                <a:lumMod val="60000"/>
                <a:lumOff val="40000"/>
              </a:schemeClr>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aphicFrame>
          <p:nvGraphicFramePr>
            <p:cNvPr id="17" name="Object 27">
              <a:extLst>
                <a:ext uri="{FF2B5EF4-FFF2-40B4-BE49-F238E27FC236}">
                  <a16:creationId xmlns:a16="http://schemas.microsoft.com/office/drawing/2014/main" id="{665D8187-58CB-4040-97A3-2A9386072418}"/>
                </a:ext>
              </a:extLst>
            </p:cNvPr>
            <p:cNvGraphicFramePr>
              <a:graphicFrameLocks noChangeAspect="1"/>
            </p:cNvGraphicFramePr>
            <p:nvPr>
              <p:extLst>
                <p:ext uri="{D42A27DB-BD31-4B8C-83A1-F6EECF244321}">
                  <p14:modId xmlns:p14="http://schemas.microsoft.com/office/powerpoint/2010/main" val="2985780523"/>
                </p:ext>
              </p:extLst>
            </p:nvPr>
          </p:nvGraphicFramePr>
          <p:xfrm>
            <a:off x="7607300" y="1539875"/>
            <a:ext cx="708025" cy="582613"/>
          </p:xfrm>
          <a:graphic>
            <a:graphicData uri="http://schemas.openxmlformats.org/presentationml/2006/ole">
              <mc:AlternateContent xmlns:mc="http://schemas.openxmlformats.org/markup-compatibility/2006">
                <mc:Choice xmlns:v="urn:schemas-microsoft-com:vml" Requires="v">
                  <p:oleObj name="Clip" r:id="rId7" imgW="1307263" imgH="1084139" progId="MS_ClipArt_Gallery.2">
                    <p:embed/>
                  </p:oleObj>
                </mc:Choice>
                <mc:Fallback>
                  <p:oleObj name="Clip" r:id="rId7" imgW="1307263" imgH="1084139" progId="MS_ClipArt_Gallery.2">
                    <p:embed/>
                    <p:pic>
                      <p:nvPicPr>
                        <p:cNvPr id="25" name="Object 27">
                          <a:extLst>
                            <a:ext uri="{FF2B5EF4-FFF2-40B4-BE49-F238E27FC236}">
                              <a16:creationId xmlns:a16="http://schemas.microsoft.com/office/drawing/2014/main" id="{DCF9B110-CAA3-423A-9101-DE1F06E6CF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7300" y="1539875"/>
                          <a:ext cx="708025"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28">
              <a:extLst>
                <a:ext uri="{FF2B5EF4-FFF2-40B4-BE49-F238E27FC236}">
                  <a16:creationId xmlns:a16="http://schemas.microsoft.com/office/drawing/2014/main" id="{93AFF75A-19C0-44F4-BEB5-627FB7770CDB}"/>
                </a:ext>
              </a:extLst>
            </p:cNvPr>
            <p:cNvGraphicFramePr>
              <a:graphicFrameLocks noChangeAspect="1"/>
            </p:cNvGraphicFramePr>
            <p:nvPr>
              <p:extLst>
                <p:ext uri="{D42A27DB-BD31-4B8C-83A1-F6EECF244321}">
                  <p14:modId xmlns:p14="http://schemas.microsoft.com/office/powerpoint/2010/main" val="4264879504"/>
                </p:ext>
              </p:extLst>
            </p:nvPr>
          </p:nvGraphicFramePr>
          <p:xfrm>
            <a:off x="996950" y="1560513"/>
            <a:ext cx="708025" cy="582612"/>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26" name="Object 28">
                          <a:extLst>
                            <a:ext uri="{FF2B5EF4-FFF2-40B4-BE49-F238E27FC236}">
                              <a16:creationId xmlns:a16="http://schemas.microsoft.com/office/drawing/2014/main" id="{E5FA2180-52D8-44B1-9659-AB70A2407D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950" y="1560513"/>
                          <a:ext cx="708025"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Line 29">
              <a:extLst>
                <a:ext uri="{FF2B5EF4-FFF2-40B4-BE49-F238E27FC236}">
                  <a16:creationId xmlns:a16="http://schemas.microsoft.com/office/drawing/2014/main" id="{42AAF043-C1AA-4AC0-B3DD-0FA24AC87FE8}"/>
                </a:ext>
              </a:extLst>
            </p:cNvPr>
            <p:cNvSpPr>
              <a:spLocks noChangeShapeType="1"/>
            </p:cNvSpPr>
            <p:nvPr/>
          </p:nvSpPr>
          <p:spPr bwMode="auto">
            <a:xfrm>
              <a:off x="1681163" y="2003425"/>
              <a:ext cx="552450" cy="0"/>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0" name="Line 30">
              <a:extLst>
                <a:ext uri="{FF2B5EF4-FFF2-40B4-BE49-F238E27FC236}">
                  <a16:creationId xmlns:a16="http://schemas.microsoft.com/office/drawing/2014/main" id="{B6A5EDAE-DF8C-4F81-AE58-E907C9BF4A5D}"/>
                </a:ext>
              </a:extLst>
            </p:cNvPr>
            <p:cNvSpPr>
              <a:spLocks noChangeShapeType="1"/>
            </p:cNvSpPr>
            <p:nvPr/>
          </p:nvSpPr>
          <p:spPr bwMode="auto">
            <a:xfrm flipV="1">
              <a:off x="1436688" y="3086100"/>
              <a:ext cx="792162" cy="0"/>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1" name="Line 31">
              <a:extLst>
                <a:ext uri="{FF2B5EF4-FFF2-40B4-BE49-F238E27FC236}">
                  <a16:creationId xmlns:a16="http://schemas.microsoft.com/office/drawing/2014/main" id="{4582BC65-3630-41ED-9B04-830FB944AA52}"/>
                </a:ext>
              </a:extLst>
            </p:cNvPr>
            <p:cNvSpPr>
              <a:spLocks noChangeShapeType="1"/>
            </p:cNvSpPr>
            <p:nvPr/>
          </p:nvSpPr>
          <p:spPr bwMode="auto">
            <a:xfrm>
              <a:off x="3787775" y="2460625"/>
              <a:ext cx="2117725" cy="11113"/>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2" name="Line 32">
              <a:extLst>
                <a:ext uri="{FF2B5EF4-FFF2-40B4-BE49-F238E27FC236}">
                  <a16:creationId xmlns:a16="http://schemas.microsoft.com/office/drawing/2014/main" id="{A01EA938-020F-4EF4-BA5A-0B3887E31DCB}"/>
                </a:ext>
              </a:extLst>
            </p:cNvPr>
            <p:cNvSpPr>
              <a:spLocks noChangeShapeType="1"/>
            </p:cNvSpPr>
            <p:nvPr/>
          </p:nvSpPr>
          <p:spPr bwMode="auto">
            <a:xfrm flipV="1">
              <a:off x="6092825" y="2824163"/>
              <a:ext cx="155575" cy="717550"/>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3" name="Line 33">
              <a:extLst>
                <a:ext uri="{FF2B5EF4-FFF2-40B4-BE49-F238E27FC236}">
                  <a16:creationId xmlns:a16="http://schemas.microsoft.com/office/drawing/2014/main" id="{9DB7D556-91B7-41C5-AD74-CB33BEF593B6}"/>
                </a:ext>
              </a:extLst>
            </p:cNvPr>
            <p:cNvSpPr>
              <a:spLocks noChangeShapeType="1"/>
            </p:cNvSpPr>
            <p:nvPr/>
          </p:nvSpPr>
          <p:spPr bwMode="auto">
            <a:xfrm flipV="1">
              <a:off x="7156450" y="1982788"/>
              <a:ext cx="552450" cy="292100"/>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4" name="Line 34">
              <a:extLst>
                <a:ext uri="{FF2B5EF4-FFF2-40B4-BE49-F238E27FC236}">
                  <a16:creationId xmlns:a16="http://schemas.microsoft.com/office/drawing/2014/main" id="{687A8ADB-260E-4F9E-81BC-F029C8CC17A8}"/>
                </a:ext>
              </a:extLst>
            </p:cNvPr>
            <p:cNvSpPr>
              <a:spLocks noChangeShapeType="1"/>
            </p:cNvSpPr>
            <p:nvPr/>
          </p:nvSpPr>
          <p:spPr bwMode="auto">
            <a:xfrm flipH="1">
              <a:off x="2233613" y="1993900"/>
              <a:ext cx="0" cy="1090613"/>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5" name="Line 35">
              <a:extLst>
                <a:ext uri="{FF2B5EF4-FFF2-40B4-BE49-F238E27FC236}">
                  <a16:creationId xmlns:a16="http://schemas.microsoft.com/office/drawing/2014/main" id="{D4F65587-91AF-4800-A551-75EFF0DE59F9}"/>
                </a:ext>
              </a:extLst>
            </p:cNvPr>
            <p:cNvSpPr>
              <a:spLocks noChangeShapeType="1"/>
            </p:cNvSpPr>
            <p:nvPr/>
          </p:nvSpPr>
          <p:spPr bwMode="auto">
            <a:xfrm>
              <a:off x="2244725" y="2466975"/>
              <a:ext cx="219075" cy="0"/>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6" name="Rectangle 36">
              <a:extLst>
                <a:ext uri="{FF2B5EF4-FFF2-40B4-BE49-F238E27FC236}">
                  <a16:creationId xmlns:a16="http://schemas.microsoft.com/office/drawing/2014/main" id="{BF6EF075-DE7D-4D3E-B80C-7BD6999F58A6}"/>
                </a:ext>
              </a:extLst>
            </p:cNvPr>
            <p:cNvSpPr>
              <a:spLocks noChangeArrowheads="1"/>
            </p:cNvSpPr>
            <p:nvPr/>
          </p:nvSpPr>
          <p:spPr bwMode="auto">
            <a:xfrm>
              <a:off x="3824288" y="2238375"/>
              <a:ext cx="161925" cy="217488"/>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7" name="Rectangle 37">
              <a:extLst>
                <a:ext uri="{FF2B5EF4-FFF2-40B4-BE49-F238E27FC236}">
                  <a16:creationId xmlns:a16="http://schemas.microsoft.com/office/drawing/2014/main" id="{7EEB9014-B892-42D9-91C2-87988A94F08C}"/>
                </a:ext>
              </a:extLst>
            </p:cNvPr>
            <p:cNvSpPr>
              <a:spLocks noChangeArrowheads="1"/>
            </p:cNvSpPr>
            <p:nvPr/>
          </p:nvSpPr>
          <p:spPr bwMode="auto">
            <a:xfrm>
              <a:off x="4002088" y="2238375"/>
              <a:ext cx="161925" cy="217488"/>
            </a:xfrm>
            <a:prstGeom prst="rect">
              <a:avLst/>
            </a:prstGeom>
            <a:solidFill>
              <a:schemeClr val="accent2"/>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8" name="Rectangle 38">
              <a:extLst>
                <a:ext uri="{FF2B5EF4-FFF2-40B4-BE49-F238E27FC236}">
                  <a16:creationId xmlns:a16="http://schemas.microsoft.com/office/drawing/2014/main" id="{B276A57B-AAC1-4BB7-9113-C5D04FEFF272}"/>
                </a:ext>
              </a:extLst>
            </p:cNvPr>
            <p:cNvSpPr>
              <a:spLocks noChangeArrowheads="1"/>
            </p:cNvSpPr>
            <p:nvPr/>
          </p:nvSpPr>
          <p:spPr bwMode="auto">
            <a:xfrm>
              <a:off x="4179888" y="2238375"/>
              <a:ext cx="160337" cy="217488"/>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29" name="Rectangle 39">
              <a:extLst>
                <a:ext uri="{FF2B5EF4-FFF2-40B4-BE49-F238E27FC236}">
                  <a16:creationId xmlns:a16="http://schemas.microsoft.com/office/drawing/2014/main" id="{B4E7A235-1D21-45D0-8065-EBBFB1CACAF7}"/>
                </a:ext>
              </a:extLst>
            </p:cNvPr>
            <p:cNvSpPr>
              <a:spLocks noChangeArrowheads="1"/>
            </p:cNvSpPr>
            <p:nvPr/>
          </p:nvSpPr>
          <p:spPr bwMode="auto">
            <a:xfrm>
              <a:off x="4356100" y="2238375"/>
              <a:ext cx="161925" cy="217488"/>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0" name="Rectangle 40">
              <a:extLst>
                <a:ext uri="{FF2B5EF4-FFF2-40B4-BE49-F238E27FC236}">
                  <a16:creationId xmlns:a16="http://schemas.microsoft.com/office/drawing/2014/main" id="{EE384CAC-F729-450D-BD1C-0B934A3904B2}"/>
                </a:ext>
              </a:extLst>
            </p:cNvPr>
            <p:cNvSpPr>
              <a:spLocks noChangeArrowheads="1"/>
            </p:cNvSpPr>
            <p:nvPr/>
          </p:nvSpPr>
          <p:spPr bwMode="auto">
            <a:xfrm>
              <a:off x="4533900" y="2238375"/>
              <a:ext cx="161925" cy="217488"/>
            </a:xfrm>
            <a:prstGeom prst="rect">
              <a:avLst/>
            </a:prstGeom>
            <a:solidFill>
              <a:schemeClr val="accent2"/>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1" name="Rectangle 41">
              <a:extLst>
                <a:ext uri="{FF2B5EF4-FFF2-40B4-BE49-F238E27FC236}">
                  <a16:creationId xmlns:a16="http://schemas.microsoft.com/office/drawing/2014/main" id="{11CAB73E-94D1-40D7-AB88-984B7EE9F7AC}"/>
                </a:ext>
              </a:extLst>
            </p:cNvPr>
            <p:cNvSpPr>
              <a:spLocks noChangeArrowheads="1"/>
            </p:cNvSpPr>
            <p:nvPr/>
          </p:nvSpPr>
          <p:spPr bwMode="auto">
            <a:xfrm>
              <a:off x="4940300" y="2238375"/>
              <a:ext cx="161925" cy="217488"/>
            </a:xfrm>
            <a:prstGeom prst="rect">
              <a:avLst/>
            </a:prstGeom>
            <a:solidFill>
              <a:schemeClr val="accent2"/>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2" name="Rectangle 42">
              <a:extLst>
                <a:ext uri="{FF2B5EF4-FFF2-40B4-BE49-F238E27FC236}">
                  <a16:creationId xmlns:a16="http://schemas.microsoft.com/office/drawing/2014/main" id="{5E12A380-65B2-421D-A1BD-B879DFB3BEE6}"/>
                </a:ext>
              </a:extLst>
            </p:cNvPr>
            <p:cNvSpPr>
              <a:spLocks noChangeArrowheads="1"/>
            </p:cNvSpPr>
            <p:nvPr/>
          </p:nvSpPr>
          <p:spPr bwMode="auto">
            <a:xfrm>
              <a:off x="5419725" y="2232025"/>
              <a:ext cx="161925" cy="219075"/>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nvGrpSpPr>
            <p:cNvPr id="33" name="Group 43">
              <a:extLst>
                <a:ext uri="{FF2B5EF4-FFF2-40B4-BE49-F238E27FC236}">
                  <a16:creationId xmlns:a16="http://schemas.microsoft.com/office/drawing/2014/main" id="{4D2A5B2A-24FD-4F1A-9AEA-722B123AA80D}"/>
                </a:ext>
              </a:extLst>
            </p:cNvPr>
            <p:cNvGrpSpPr>
              <a:grpSpLocks/>
            </p:cNvGrpSpPr>
            <p:nvPr/>
          </p:nvGrpSpPr>
          <p:grpSpPr bwMode="auto">
            <a:xfrm>
              <a:off x="3068638" y="2320925"/>
              <a:ext cx="693737" cy="217488"/>
              <a:chOff x="1800" y="1425"/>
              <a:chExt cx="399" cy="126"/>
            </a:xfrm>
          </p:grpSpPr>
          <p:sp>
            <p:nvSpPr>
              <p:cNvPr id="82" name="Rectangle 44">
                <a:extLst>
                  <a:ext uri="{FF2B5EF4-FFF2-40B4-BE49-F238E27FC236}">
                    <a16:creationId xmlns:a16="http://schemas.microsoft.com/office/drawing/2014/main" id="{8177564D-0C15-4ED5-85CD-2F1CE81F5AAB}"/>
                  </a:ext>
                </a:extLst>
              </p:cNvPr>
              <p:cNvSpPr>
                <a:spLocks noChangeArrowheads="1"/>
              </p:cNvSpPr>
              <p:nvPr/>
            </p:nvSpPr>
            <p:spPr bwMode="auto">
              <a:xfrm>
                <a:off x="1800" y="1425"/>
                <a:ext cx="93" cy="126"/>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3" name="Rectangle 45">
                <a:extLst>
                  <a:ext uri="{FF2B5EF4-FFF2-40B4-BE49-F238E27FC236}">
                    <a16:creationId xmlns:a16="http://schemas.microsoft.com/office/drawing/2014/main" id="{00FFDD55-54A7-4494-8B51-F0B29C9B6012}"/>
                  </a:ext>
                </a:extLst>
              </p:cNvPr>
              <p:cNvSpPr>
                <a:spLocks noChangeArrowheads="1"/>
              </p:cNvSpPr>
              <p:nvPr/>
            </p:nvSpPr>
            <p:spPr bwMode="auto">
              <a:xfrm>
                <a:off x="1902" y="1425"/>
                <a:ext cx="93" cy="126"/>
              </a:xfrm>
              <a:prstGeom prst="rect">
                <a:avLst/>
              </a:prstGeom>
              <a:solidFill>
                <a:schemeClr val="accent2"/>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4" name="Rectangle 46">
                <a:extLst>
                  <a:ext uri="{FF2B5EF4-FFF2-40B4-BE49-F238E27FC236}">
                    <a16:creationId xmlns:a16="http://schemas.microsoft.com/office/drawing/2014/main" id="{11990D52-E768-42F9-97DA-95F1F9331457}"/>
                  </a:ext>
                </a:extLst>
              </p:cNvPr>
              <p:cNvSpPr>
                <a:spLocks noChangeArrowheads="1"/>
              </p:cNvSpPr>
              <p:nvPr/>
            </p:nvSpPr>
            <p:spPr bwMode="auto">
              <a:xfrm>
                <a:off x="2004" y="1425"/>
                <a:ext cx="93" cy="126"/>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5" name="Rectangle 47">
                <a:extLst>
                  <a:ext uri="{FF2B5EF4-FFF2-40B4-BE49-F238E27FC236}">
                    <a16:creationId xmlns:a16="http://schemas.microsoft.com/office/drawing/2014/main" id="{9953822D-CB6D-400C-A854-F534A096DEAC}"/>
                  </a:ext>
                </a:extLst>
              </p:cNvPr>
              <p:cNvSpPr>
                <a:spLocks noChangeArrowheads="1"/>
              </p:cNvSpPr>
              <p:nvPr/>
            </p:nvSpPr>
            <p:spPr bwMode="auto">
              <a:xfrm>
                <a:off x="2106" y="1425"/>
                <a:ext cx="93" cy="126"/>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sp>
          <p:nvSpPr>
            <p:cNvPr id="34" name="Rectangle 48">
              <a:extLst>
                <a:ext uri="{FF2B5EF4-FFF2-40B4-BE49-F238E27FC236}">
                  <a16:creationId xmlns:a16="http://schemas.microsoft.com/office/drawing/2014/main" id="{5ED0E5AB-5A2F-4DBC-B5AD-4C335BE90910}"/>
                </a:ext>
              </a:extLst>
            </p:cNvPr>
            <p:cNvSpPr>
              <a:spLocks noChangeArrowheads="1"/>
            </p:cNvSpPr>
            <p:nvPr/>
          </p:nvSpPr>
          <p:spPr bwMode="auto">
            <a:xfrm>
              <a:off x="2270125" y="2211388"/>
              <a:ext cx="161925" cy="219075"/>
            </a:xfrm>
            <a:prstGeom prst="rect">
              <a:avLst/>
            </a:prstGeom>
            <a:solidFill>
              <a:schemeClr val="accent1"/>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5" name="Rectangle 49">
              <a:extLst>
                <a:ext uri="{FF2B5EF4-FFF2-40B4-BE49-F238E27FC236}">
                  <a16:creationId xmlns:a16="http://schemas.microsoft.com/office/drawing/2014/main" id="{4FBAEAE4-8EDC-42AE-B917-5AD27A5AF2DF}"/>
                </a:ext>
              </a:extLst>
            </p:cNvPr>
            <p:cNvSpPr>
              <a:spLocks noChangeArrowheads="1"/>
            </p:cNvSpPr>
            <p:nvPr/>
          </p:nvSpPr>
          <p:spPr bwMode="auto">
            <a:xfrm>
              <a:off x="2030413" y="2835275"/>
              <a:ext cx="161925" cy="217488"/>
            </a:xfrm>
            <a:prstGeom prst="rect">
              <a:avLst/>
            </a:prstGeom>
            <a:solidFill>
              <a:schemeClr val="accent2"/>
            </a:solid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6" name="Line 50">
              <a:extLst>
                <a:ext uri="{FF2B5EF4-FFF2-40B4-BE49-F238E27FC236}">
                  <a16:creationId xmlns:a16="http://schemas.microsoft.com/office/drawing/2014/main" id="{E4A6A334-5F5D-444C-B74D-448701867EDE}"/>
                </a:ext>
              </a:extLst>
            </p:cNvPr>
            <p:cNvSpPr>
              <a:spLocks noChangeShapeType="1"/>
            </p:cNvSpPr>
            <p:nvPr/>
          </p:nvSpPr>
          <p:spPr bwMode="auto">
            <a:xfrm>
              <a:off x="2463800" y="2325688"/>
              <a:ext cx="265113" cy="6350"/>
            </a:xfrm>
            <a:prstGeom prst="line">
              <a:avLst/>
            </a:prstGeom>
            <a:noFill/>
            <a:ln w="9525">
              <a:solidFill>
                <a:schemeClr val="tx1"/>
              </a:solidFill>
              <a:round/>
              <a:headE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7" name="Line 51">
              <a:extLst>
                <a:ext uri="{FF2B5EF4-FFF2-40B4-BE49-F238E27FC236}">
                  <a16:creationId xmlns:a16="http://schemas.microsoft.com/office/drawing/2014/main" id="{1E91BEF7-E34F-437F-9E63-2F8C7E856000}"/>
                </a:ext>
              </a:extLst>
            </p:cNvPr>
            <p:cNvSpPr>
              <a:spLocks noChangeShapeType="1"/>
            </p:cNvSpPr>
            <p:nvPr/>
          </p:nvSpPr>
          <p:spPr bwMode="auto">
            <a:xfrm flipV="1">
              <a:off x="2098675" y="2627313"/>
              <a:ext cx="0" cy="192087"/>
            </a:xfrm>
            <a:prstGeom prst="line">
              <a:avLst/>
            </a:prstGeom>
            <a:noFill/>
            <a:ln w="9525">
              <a:solidFill>
                <a:schemeClr val="tx1"/>
              </a:solidFill>
              <a:round/>
              <a:headE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8" name="Line 52">
              <a:extLst>
                <a:ext uri="{FF2B5EF4-FFF2-40B4-BE49-F238E27FC236}">
                  <a16:creationId xmlns:a16="http://schemas.microsoft.com/office/drawing/2014/main" id="{02355B02-3264-49D2-A9C5-DBDD903C0A4D}"/>
                </a:ext>
              </a:extLst>
            </p:cNvPr>
            <p:cNvSpPr>
              <a:spLocks noChangeShapeType="1"/>
            </p:cNvSpPr>
            <p:nvPr/>
          </p:nvSpPr>
          <p:spPr bwMode="auto">
            <a:xfrm>
              <a:off x="4241800" y="2117725"/>
              <a:ext cx="1162050" cy="0"/>
            </a:xfrm>
            <a:prstGeom prst="line">
              <a:avLst/>
            </a:prstGeom>
            <a:noFill/>
            <a:ln w="9525">
              <a:solidFill>
                <a:schemeClr val="tx1"/>
              </a:solidFill>
              <a:round/>
              <a:headE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39" name="Text Box 53">
              <a:extLst>
                <a:ext uri="{FF2B5EF4-FFF2-40B4-BE49-F238E27FC236}">
                  <a16:creationId xmlns:a16="http://schemas.microsoft.com/office/drawing/2014/main" id="{0F7819C8-0E18-4CD0-88BC-9D3C7754D49F}"/>
                </a:ext>
              </a:extLst>
            </p:cNvPr>
            <p:cNvSpPr txBox="1">
              <a:spLocks noChangeArrowheads="1"/>
            </p:cNvSpPr>
            <p:nvPr/>
          </p:nvSpPr>
          <p:spPr bwMode="auto">
            <a:xfrm>
              <a:off x="636588" y="1587501"/>
              <a:ext cx="451615" cy="508053"/>
            </a:xfrm>
            <a:prstGeom prst="rect">
              <a:avLst/>
            </a:prstGeom>
            <a:noFill/>
            <a:ln w="9525">
              <a:noFill/>
              <a:miter lim="800000"/>
              <a:headEnd/>
              <a:tailEnd/>
            </a:ln>
          </p:spPr>
          <p:txBody>
            <a:bodyPr wrap="none">
              <a:spAutoFit/>
            </a:bodyPr>
            <a:lstStyle>
              <a:defPPr>
                <a:defRPr lang="zh-CN"/>
              </a:defPPr>
              <a:lvl1pPr>
                <a:defRPr kumimoji="0" sz="2400">
                  <a:solidFill>
                    <a:schemeClr val="accent2"/>
                  </a:solidFill>
                  <a:ea typeface="宋体" charset="-122"/>
                </a:defRPr>
              </a:lvl1pPr>
            </a:lstStyle>
            <a:p>
              <a:r>
                <a:rPr lang="en-US" altLang="zh-CN" sz="1700" dirty="0">
                  <a:solidFill>
                    <a:schemeClr val="accent1">
                      <a:lumMod val="75000"/>
                    </a:schemeClr>
                  </a:solidFill>
                  <a:latin typeface="Times New Roman" panose="02020603050405020304" pitchFamily="18" charset="0"/>
                  <a:cs typeface="Times New Roman" panose="02020603050405020304" pitchFamily="18" charset="0"/>
                </a:rPr>
                <a:t>A</a:t>
              </a:r>
            </a:p>
          </p:txBody>
        </p:sp>
        <p:sp>
          <p:nvSpPr>
            <p:cNvPr id="40" name="Text Box 54">
              <a:extLst>
                <a:ext uri="{FF2B5EF4-FFF2-40B4-BE49-F238E27FC236}">
                  <a16:creationId xmlns:a16="http://schemas.microsoft.com/office/drawing/2014/main" id="{4E5920AA-0911-4AFB-B9B3-FE6487284AE3}"/>
                </a:ext>
              </a:extLst>
            </p:cNvPr>
            <p:cNvSpPr txBox="1">
              <a:spLocks noChangeArrowheads="1"/>
            </p:cNvSpPr>
            <p:nvPr/>
          </p:nvSpPr>
          <p:spPr bwMode="auto">
            <a:xfrm>
              <a:off x="644526" y="2691700"/>
              <a:ext cx="436788" cy="508053"/>
            </a:xfrm>
            <a:prstGeom prst="rect">
              <a:avLst/>
            </a:prstGeom>
            <a:noFill/>
            <a:ln w="9525">
              <a:noFill/>
              <a:miter lim="800000"/>
              <a:headEnd/>
              <a:tailEnd/>
            </a:ln>
          </p:spPr>
          <p:txBody>
            <a:bodyPr wrap="none">
              <a:spAutoFit/>
            </a:bodyPr>
            <a:lstStyle/>
            <a:p>
              <a:pPr>
                <a:defRPr/>
              </a:pPr>
              <a:r>
                <a:rPr kumimoji="0" lang="en-US" altLang="zh-CN" sz="1700" dirty="0">
                  <a:solidFill>
                    <a:schemeClr val="accent2"/>
                  </a:solidFill>
                  <a:latin typeface="Times New Roman" panose="02020603050405020304" pitchFamily="18" charset="0"/>
                  <a:ea typeface="宋体" charset="-122"/>
                  <a:cs typeface="Times New Roman" panose="02020603050405020304" pitchFamily="18" charset="0"/>
                </a:rPr>
                <a:t>B</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41" name="Text Box 55">
              <a:extLst>
                <a:ext uri="{FF2B5EF4-FFF2-40B4-BE49-F238E27FC236}">
                  <a16:creationId xmlns:a16="http://schemas.microsoft.com/office/drawing/2014/main" id="{095CF337-581F-459F-9B01-4D11951D6BA4}"/>
                </a:ext>
              </a:extLst>
            </p:cNvPr>
            <p:cNvSpPr txBox="1">
              <a:spLocks noChangeArrowheads="1"/>
            </p:cNvSpPr>
            <p:nvPr/>
          </p:nvSpPr>
          <p:spPr bwMode="auto">
            <a:xfrm>
              <a:off x="7796451" y="2074862"/>
              <a:ext cx="436788" cy="508053"/>
            </a:xfrm>
            <a:prstGeom prst="rect">
              <a:avLst/>
            </a:prstGeom>
            <a:noFill/>
            <a:ln w="9525">
              <a:noFill/>
              <a:miter lim="800000"/>
              <a:headEnd/>
              <a:tailEnd/>
            </a:ln>
          </p:spPr>
          <p:txBody>
            <a:bodyPr wrap="none">
              <a:spAutoFit/>
            </a:bodyPr>
            <a:lstStyle/>
            <a:p>
              <a:pPr>
                <a:defRPr/>
              </a:pPr>
              <a:r>
                <a:rPr kumimoji="0" lang="en-US" altLang="zh-CN" sz="1700" dirty="0">
                  <a:solidFill>
                    <a:srgbClr val="FF0000"/>
                  </a:solidFill>
                  <a:latin typeface="Times New Roman" panose="02020603050405020304" pitchFamily="18" charset="0"/>
                  <a:ea typeface="宋体" charset="-122"/>
                  <a:cs typeface="Times New Roman" panose="02020603050405020304" pitchFamily="18" charset="0"/>
                </a:rPr>
                <a:t>C</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42" name="Text Box 56">
              <a:extLst>
                <a:ext uri="{FF2B5EF4-FFF2-40B4-BE49-F238E27FC236}">
                  <a16:creationId xmlns:a16="http://schemas.microsoft.com/office/drawing/2014/main" id="{C031B56B-0221-439F-AC77-1A6A5BC845BC}"/>
                </a:ext>
              </a:extLst>
            </p:cNvPr>
            <p:cNvSpPr txBox="1">
              <a:spLocks noChangeArrowheads="1"/>
            </p:cNvSpPr>
            <p:nvPr/>
          </p:nvSpPr>
          <p:spPr bwMode="auto">
            <a:xfrm>
              <a:off x="1719013" y="1125078"/>
              <a:ext cx="1332815" cy="883571"/>
            </a:xfrm>
            <a:prstGeom prst="rect">
              <a:avLst/>
            </a:prstGeom>
            <a:noFill/>
            <a:ln w="9525">
              <a:noFill/>
              <a:miter lim="800000"/>
              <a:headEnd/>
              <a:tailEnd/>
            </a:ln>
          </p:spPr>
          <p:txBody>
            <a:bodyPr wrap="none">
              <a:spAutoFit/>
            </a:bodyPr>
            <a:lstStyle/>
            <a:p>
              <a:pPr>
                <a:defRPr/>
              </a:pPr>
              <a:r>
                <a:rPr kumimoji="0" lang="en-US" altLang="zh-CN" sz="1700" dirty="0">
                  <a:latin typeface="Times New Roman" panose="02020603050405020304" pitchFamily="18" charset="0"/>
                  <a:ea typeface="宋体" charset="-122"/>
                  <a:cs typeface="Times New Roman" panose="02020603050405020304" pitchFamily="18" charset="0"/>
                </a:rPr>
                <a:t>100Mbps</a:t>
              </a:r>
            </a:p>
            <a:p>
              <a:pPr>
                <a:defRPr/>
              </a:pPr>
              <a:r>
                <a:rPr kumimoji="0" lang="en-US" altLang="zh-CN" sz="1700" dirty="0">
                  <a:latin typeface="Times New Roman" panose="02020603050405020304" pitchFamily="18" charset="0"/>
                  <a:ea typeface="宋体" charset="-122"/>
                  <a:cs typeface="Times New Roman" panose="02020603050405020304" pitchFamily="18" charset="0"/>
                </a:rPr>
                <a:t>Ethernet</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43" name="Text Box 57">
              <a:extLst>
                <a:ext uri="{FF2B5EF4-FFF2-40B4-BE49-F238E27FC236}">
                  <a16:creationId xmlns:a16="http://schemas.microsoft.com/office/drawing/2014/main" id="{CAD6FF1E-3E41-4559-89E7-D53636243381}"/>
                </a:ext>
              </a:extLst>
            </p:cNvPr>
            <p:cNvSpPr txBox="1">
              <a:spLocks noChangeArrowheads="1"/>
            </p:cNvSpPr>
            <p:nvPr/>
          </p:nvSpPr>
          <p:spPr bwMode="auto">
            <a:xfrm>
              <a:off x="4052887" y="2500314"/>
              <a:ext cx="1260794" cy="508053"/>
            </a:xfrm>
            <a:prstGeom prst="rect">
              <a:avLst/>
            </a:prstGeom>
            <a:noFill/>
            <a:ln w="9525">
              <a:noFill/>
              <a:miter lim="800000"/>
              <a:headEnd/>
              <a:tailEnd/>
            </a:ln>
          </p:spPr>
          <p:txBody>
            <a:bodyPr wrap="none">
              <a:spAutoFit/>
            </a:bodyPr>
            <a:lstStyle/>
            <a:p>
              <a:pPr>
                <a:defRPr/>
              </a:pPr>
              <a:r>
                <a:rPr kumimoji="0" lang="en-US" altLang="zh-CN" sz="1700" dirty="0">
                  <a:latin typeface="Times New Roman" panose="02020603050405020304" pitchFamily="18" charset="0"/>
                  <a:ea typeface="宋体" charset="-122"/>
                  <a:cs typeface="Times New Roman" panose="02020603050405020304" pitchFamily="18" charset="0"/>
                </a:rPr>
                <a:t>1.5Mbps</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44" name="Text Box 58">
              <a:extLst>
                <a:ext uri="{FF2B5EF4-FFF2-40B4-BE49-F238E27FC236}">
                  <a16:creationId xmlns:a16="http://schemas.microsoft.com/office/drawing/2014/main" id="{AB82A0C0-8BBA-4C22-9F88-7A3D54787B0F}"/>
                </a:ext>
              </a:extLst>
            </p:cNvPr>
            <p:cNvSpPr txBox="1">
              <a:spLocks noChangeArrowheads="1"/>
            </p:cNvSpPr>
            <p:nvPr/>
          </p:nvSpPr>
          <p:spPr bwMode="auto">
            <a:xfrm>
              <a:off x="6160093" y="3057342"/>
              <a:ext cx="1188773" cy="508053"/>
            </a:xfrm>
            <a:prstGeom prst="rect">
              <a:avLst/>
            </a:prstGeom>
            <a:noFill/>
            <a:ln w="9525">
              <a:noFill/>
              <a:miter lim="800000"/>
              <a:headEnd/>
              <a:tailEnd/>
            </a:ln>
          </p:spPr>
          <p:txBody>
            <a:bodyPr wrap="none">
              <a:spAutoFit/>
            </a:bodyPr>
            <a:lstStyle/>
            <a:p>
              <a:pPr>
                <a:defRPr/>
              </a:pPr>
              <a:r>
                <a:rPr kumimoji="0" lang="en-US" altLang="zh-CN" sz="1700" dirty="0">
                  <a:latin typeface="Times New Roman" panose="02020603050405020304" pitchFamily="18" charset="0"/>
                  <a:ea typeface="宋体" charset="-122"/>
                  <a:cs typeface="Times New Roman" panose="02020603050405020304" pitchFamily="18" charset="0"/>
                </a:rPr>
                <a:t>45Mbps</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45" name="Rectangle 59">
              <a:extLst>
                <a:ext uri="{FF2B5EF4-FFF2-40B4-BE49-F238E27FC236}">
                  <a16:creationId xmlns:a16="http://schemas.microsoft.com/office/drawing/2014/main" id="{8EBA5AAC-37D5-4759-B5C3-1389ACD5D344}"/>
                </a:ext>
              </a:extLst>
            </p:cNvPr>
            <p:cNvSpPr>
              <a:spLocks noChangeArrowheads="1"/>
            </p:cNvSpPr>
            <p:nvPr/>
          </p:nvSpPr>
          <p:spPr bwMode="auto">
            <a:xfrm>
              <a:off x="5926138" y="2259013"/>
              <a:ext cx="161925" cy="217487"/>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46" name="Rectangle 60">
              <a:extLst>
                <a:ext uri="{FF2B5EF4-FFF2-40B4-BE49-F238E27FC236}">
                  <a16:creationId xmlns:a16="http://schemas.microsoft.com/office/drawing/2014/main" id="{048C0BD2-0C10-451C-A88F-58554992B9BE}"/>
                </a:ext>
              </a:extLst>
            </p:cNvPr>
            <p:cNvSpPr>
              <a:spLocks noChangeArrowheads="1"/>
            </p:cNvSpPr>
            <p:nvPr/>
          </p:nvSpPr>
          <p:spPr bwMode="auto">
            <a:xfrm>
              <a:off x="6102350" y="2259013"/>
              <a:ext cx="161925" cy="217487"/>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47" name="Rectangle 61">
              <a:extLst>
                <a:ext uri="{FF2B5EF4-FFF2-40B4-BE49-F238E27FC236}">
                  <a16:creationId xmlns:a16="http://schemas.microsoft.com/office/drawing/2014/main" id="{90FA90DE-E84A-4441-97C2-BA6883C1EE5D}"/>
                </a:ext>
              </a:extLst>
            </p:cNvPr>
            <p:cNvSpPr>
              <a:spLocks noChangeArrowheads="1"/>
            </p:cNvSpPr>
            <p:nvPr/>
          </p:nvSpPr>
          <p:spPr bwMode="auto">
            <a:xfrm>
              <a:off x="6280150" y="2259013"/>
              <a:ext cx="161925" cy="217487"/>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nvGrpSpPr>
            <p:cNvPr id="48" name="Group 62">
              <a:extLst>
                <a:ext uri="{FF2B5EF4-FFF2-40B4-BE49-F238E27FC236}">
                  <a16:creationId xmlns:a16="http://schemas.microsoft.com/office/drawing/2014/main" id="{5F0A2D1A-7E69-4CEC-B09F-BD9915E37731}"/>
                </a:ext>
              </a:extLst>
            </p:cNvPr>
            <p:cNvGrpSpPr>
              <a:grpSpLocks/>
            </p:cNvGrpSpPr>
            <p:nvPr/>
          </p:nvGrpSpPr>
          <p:grpSpPr bwMode="auto">
            <a:xfrm rot="-1962567">
              <a:off x="6197600" y="2497138"/>
              <a:ext cx="692150" cy="219075"/>
              <a:chOff x="4176" y="2211"/>
              <a:chExt cx="399" cy="126"/>
            </a:xfrm>
          </p:grpSpPr>
          <p:sp>
            <p:nvSpPr>
              <p:cNvPr id="78" name="Rectangle 63">
                <a:extLst>
                  <a:ext uri="{FF2B5EF4-FFF2-40B4-BE49-F238E27FC236}">
                    <a16:creationId xmlns:a16="http://schemas.microsoft.com/office/drawing/2014/main" id="{ED7749BE-E91E-463A-A05D-F8A14BF627F7}"/>
                  </a:ext>
                </a:extLst>
              </p:cNvPr>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79" name="Rectangle 64">
                <a:extLst>
                  <a:ext uri="{FF2B5EF4-FFF2-40B4-BE49-F238E27FC236}">
                    <a16:creationId xmlns:a16="http://schemas.microsoft.com/office/drawing/2014/main" id="{EDCE770A-6017-4EA3-8104-D43B27781D36}"/>
                  </a:ext>
                </a:extLst>
              </p:cNvPr>
              <p:cNvSpPr>
                <a:spLocks noChangeArrowheads="1"/>
              </p:cNvSpPr>
              <p:nvPr/>
            </p:nvSpPr>
            <p:spPr bwMode="auto">
              <a:xfrm>
                <a:off x="4276" y="2209"/>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0" name="Rectangle 65">
                <a:extLst>
                  <a:ext uri="{FF2B5EF4-FFF2-40B4-BE49-F238E27FC236}">
                    <a16:creationId xmlns:a16="http://schemas.microsoft.com/office/drawing/2014/main" id="{285BB12F-8241-4258-9BE1-894F6B3107F2}"/>
                  </a:ext>
                </a:extLst>
              </p:cNvPr>
              <p:cNvSpPr>
                <a:spLocks noChangeArrowheads="1"/>
              </p:cNvSpPr>
              <p:nvPr/>
            </p:nvSpPr>
            <p:spPr bwMode="auto">
              <a:xfrm>
                <a:off x="4380" y="2209"/>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81" name="Rectangle 66">
                <a:extLst>
                  <a:ext uri="{FF2B5EF4-FFF2-40B4-BE49-F238E27FC236}">
                    <a16:creationId xmlns:a16="http://schemas.microsoft.com/office/drawing/2014/main" id="{5F0AC2D9-7DB7-431B-97E7-D36B43901D15}"/>
                  </a:ext>
                </a:extLst>
              </p:cNvPr>
              <p:cNvSpPr>
                <a:spLocks noChangeArrowheads="1"/>
              </p:cNvSpPr>
              <p:nvPr/>
            </p:nvSpPr>
            <p:spPr bwMode="auto">
              <a:xfrm>
                <a:off x="4481" y="2208"/>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nvGrpSpPr>
            <p:cNvPr id="49" name="Group 67">
              <a:extLst>
                <a:ext uri="{FF2B5EF4-FFF2-40B4-BE49-F238E27FC236}">
                  <a16:creationId xmlns:a16="http://schemas.microsoft.com/office/drawing/2014/main" id="{7AD8D6C0-2C5A-4626-9FE3-4BA3774A8339}"/>
                </a:ext>
              </a:extLst>
            </p:cNvPr>
            <p:cNvGrpSpPr>
              <a:grpSpLocks/>
            </p:cNvGrpSpPr>
            <p:nvPr/>
          </p:nvGrpSpPr>
          <p:grpSpPr bwMode="auto">
            <a:xfrm>
              <a:off x="4076500" y="3497264"/>
              <a:ext cx="3315935" cy="1563410"/>
              <a:chOff x="1708" y="2009"/>
              <a:chExt cx="1908" cy="903"/>
            </a:xfrm>
          </p:grpSpPr>
          <p:graphicFrame>
            <p:nvGraphicFramePr>
              <p:cNvPr id="53" name="Object 68">
                <a:extLst>
                  <a:ext uri="{FF2B5EF4-FFF2-40B4-BE49-F238E27FC236}">
                    <a16:creationId xmlns:a16="http://schemas.microsoft.com/office/drawing/2014/main" id="{13DC3A73-5DE5-4520-B937-2DC1F3378F0A}"/>
                  </a:ext>
                </a:extLst>
              </p:cNvPr>
              <p:cNvGraphicFramePr>
                <a:graphicFrameLocks noChangeAspect="1"/>
              </p:cNvGraphicFramePr>
              <p:nvPr>
                <p:extLst>
                  <p:ext uri="{D42A27DB-BD31-4B8C-83A1-F6EECF244321}">
                    <p14:modId xmlns:p14="http://schemas.microsoft.com/office/powerpoint/2010/main" val="1080420613"/>
                  </p:ext>
                </p:extLst>
              </p:nvPr>
            </p:nvGraphicFramePr>
            <p:xfrm>
              <a:off x="2971" y="2576"/>
              <a:ext cx="407" cy="336"/>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66" name="Object 68">
                            <a:extLst>
                              <a:ext uri="{FF2B5EF4-FFF2-40B4-BE49-F238E27FC236}">
                                <a16:creationId xmlns:a16="http://schemas.microsoft.com/office/drawing/2014/main" id="{ADA44A5A-F573-4063-BF19-BDDFBD58F0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 y="257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4" name="Group 69">
                <a:extLst>
                  <a:ext uri="{FF2B5EF4-FFF2-40B4-BE49-F238E27FC236}">
                    <a16:creationId xmlns:a16="http://schemas.microsoft.com/office/drawing/2014/main" id="{81170976-9C8D-4304-B960-FF5828E6D96B}"/>
                  </a:ext>
                </a:extLst>
              </p:cNvPr>
              <p:cNvGrpSpPr>
                <a:grpSpLocks/>
              </p:cNvGrpSpPr>
              <p:nvPr/>
            </p:nvGrpSpPr>
            <p:grpSpPr bwMode="auto">
              <a:xfrm>
                <a:off x="2428" y="2009"/>
                <a:ext cx="761" cy="420"/>
                <a:chOff x="1462" y="1283"/>
                <a:chExt cx="761" cy="420"/>
              </a:xfrm>
            </p:grpSpPr>
            <p:sp>
              <p:nvSpPr>
                <p:cNvPr id="65" name="Oval 70">
                  <a:extLst>
                    <a:ext uri="{FF2B5EF4-FFF2-40B4-BE49-F238E27FC236}">
                      <a16:creationId xmlns:a16="http://schemas.microsoft.com/office/drawing/2014/main" id="{9F7E60C3-055C-4897-8E9A-6EF8E8BA593C}"/>
                    </a:ext>
                  </a:extLst>
                </p:cNvPr>
                <p:cNvSpPr>
                  <a:spLocks noChangeArrowheads="1"/>
                </p:cNvSpPr>
                <p:nvPr/>
              </p:nvSpPr>
              <p:spPr bwMode="auto">
                <a:xfrm>
                  <a:off x="1462" y="1470"/>
                  <a:ext cx="755" cy="233"/>
                </a:xfrm>
                <a:prstGeom prst="ellipse">
                  <a:avLst/>
                </a:prstGeom>
                <a:solidFill>
                  <a:schemeClr val="hlink"/>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66" name="Line 71">
                  <a:extLst>
                    <a:ext uri="{FF2B5EF4-FFF2-40B4-BE49-F238E27FC236}">
                      <a16:creationId xmlns:a16="http://schemas.microsoft.com/office/drawing/2014/main" id="{9556EEEF-6445-4F57-A404-82A7E77013F9}"/>
                    </a:ext>
                  </a:extLst>
                </p:cNvPr>
                <p:cNvSpPr>
                  <a:spLocks noChangeShapeType="1"/>
                </p:cNvSpPr>
                <p:nvPr/>
              </p:nvSpPr>
              <p:spPr bwMode="auto">
                <a:xfrm>
                  <a:off x="1462" y="1451"/>
                  <a:ext cx="0" cy="144"/>
                </a:xfrm>
                <a:prstGeom prst="line">
                  <a:avLst/>
                </a:prstGeom>
                <a:noFill/>
                <a:ln w="1270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67" name="Rectangle 72">
                  <a:extLst>
                    <a:ext uri="{FF2B5EF4-FFF2-40B4-BE49-F238E27FC236}">
                      <a16:creationId xmlns:a16="http://schemas.microsoft.com/office/drawing/2014/main" id="{6E111B28-0A6E-42F4-8252-124FB8BCC59A}"/>
                    </a:ext>
                  </a:extLst>
                </p:cNvPr>
                <p:cNvSpPr>
                  <a:spLocks noChangeArrowheads="1"/>
                </p:cNvSpPr>
                <p:nvPr/>
              </p:nvSpPr>
              <p:spPr bwMode="auto">
                <a:xfrm>
                  <a:off x="1462" y="1427"/>
                  <a:ext cx="755" cy="166"/>
                </a:xfrm>
                <a:prstGeom prst="rect">
                  <a:avLst/>
                </a:prstGeom>
                <a:solidFill>
                  <a:schemeClr val="hlink"/>
                </a:solidFill>
                <a:ln w="12700">
                  <a:noFill/>
                  <a:miter lim="800000"/>
                  <a:headEnd/>
                  <a:tailEnd/>
                </a:ln>
              </p:spPr>
              <p:txBody>
                <a:bodyPr wrap="none" anchor="ctr"/>
                <a:lstStyle/>
                <a:p>
                  <a:pPr algn="ctr">
                    <a:defRPr/>
                  </a:pPr>
                  <a:endParaRPr kumimoji="0" lang="zh-CN" altLang="zh-CN" sz="1700">
                    <a:latin typeface="Times New Roman" panose="02020603050405020304" pitchFamily="18" charset="0"/>
                    <a:ea typeface="宋体" charset="-122"/>
                    <a:cs typeface="Times New Roman" panose="02020603050405020304" pitchFamily="18" charset="0"/>
                  </a:endParaRPr>
                </a:p>
              </p:txBody>
            </p:sp>
            <p:sp>
              <p:nvSpPr>
                <p:cNvPr id="68" name="Oval 73">
                  <a:extLst>
                    <a:ext uri="{FF2B5EF4-FFF2-40B4-BE49-F238E27FC236}">
                      <a16:creationId xmlns:a16="http://schemas.microsoft.com/office/drawing/2014/main" id="{A24FEE49-C475-4EB1-93B8-03B598E0CF7F}"/>
                    </a:ext>
                  </a:extLst>
                </p:cNvPr>
                <p:cNvSpPr>
                  <a:spLocks noChangeArrowheads="1"/>
                </p:cNvSpPr>
                <p:nvPr/>
              </p:nvSpPr>
              <p:spPr bwMode="auto">
                <a:xfrm>
                  <a:off x="1468" y="1283"/>
                  <a:ext cx="755" cy="271"/>
                </a:xfrm>
                <a:prstGeom prst="ellipse">
                  <a:avLst/>
                </a:prstGeom>
                <a:solidFill>
                  <a:schemeClr val="hlink"/>
                </a:solidFill>
                <a:ln w="12700">
                  <a:no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nvGrpSpPr>
                <p:cNvPr id="69" name="Group 74">
                  <a:extLst>
                    <a:ext uri="{FF2B5EF4-FFF2-40B4-BE49-F238E27FC236}">
                      <a16:creationId xmlns:a16="http://schemas.microsoft.com/office/drawing/2014/main" id="{5BD32235-EB26-4E56-9551-B866845A5DF2}"/>
                    </a:ext>
                  </a:extLst>
                </p:cNvPr>
                <p:cNvGrpSpPr>
                  <a:grpSpLocks/>
                </p:cNvGrpSpPr>
                <p:nvPr/>
              </p:nvGrpSpPr>
              <p:grpSpPr bwMode="auto">
                <a:xfrm>
                  <a:off x="1686" y="1302"/>
                  <a:ext cx="314" cy="75"/>
                  <a:chOff x="2208" y="2184"/>
                  <a:chExt cx="176" cy="69"/>
                </a:xfrm>
              </p:grpSpPr>
              <p:grpSp>
                <p:nvGrpSpPr>
                  <p:cNvPr id="70" name="Group 75">
                    <a:extLst>
                      <a:ext uri="{FF2B5EF4-FFF2-40B4-BE49-F238E27FC236}">
                        <a16:creationId xmlns:a16="http://schemas.microsoft.com/office/drawing/2014/main" id="{91DF99F5-FC0A-430D-A215-B1ECC8BAF7FB}"/>
                      </a:ext>
                    </a:extLst>
                  </p:cNvPr>
                  <p:cNvGrpSpPr>
                    <a:grpSpLocks/>
                  </p:cNvGrpSpPr>
                  <p:nvPr/>
                </p:nvGrpSpPr>
                <p:grpSpPr bwMode="auto">
                  <a:xfrm>
                    <a:off x="2208" y="2185"/>
                    <a:ext cx="176" cy="68"/>
                    <a:chOff x="2848" y="848"/>
                    <a:chExt cx="140" cy="98"/>
                  </a:xfrm>
                </p:grpSpPr>
                <p:sp>
                  <p:nvSpPr>
                    <p:cNvPr id="75" name="Line 76">
                      <a:extLst>
                        <a:ext uri="{FF2B5EF4-FFF2-40B4-BE49-F238E27FC236}">
                          <a16:creationId xmlns:a16="http://schemas.microsoft.com/office/drawing/2014/main" id="{84634BDF-B001-41F0-84F4-2A9647C9E5FA}"/>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76" name="Line 77">
                      <a:extLst>
                        <a:ext uri="{FF2B5EF4-FFF2-40B4-BE49-F238E27FC236}">
                          <a16:creationId xmlns:a16="http://schemas.microsoft.com/office/drawing/2014/main" id="{566FA593-DAF0-47C6-8ACC-FB3EB0A1B997}"/>
                        </a:ext>
                      </a:extLst>
                    </p:cNvPr>
                    <p:cNvSpPr>
                      <a:spLocks noChangeShapeType="1"/>
                    </p:cNvSpPr>
                    <p:nvPr/>
                  </p:nvSpPr>
                  <p:spPr bwMode="auto">
                    <a:xfrm>
                      <a:off x="2944" y="949"/>
                      <a:ext cx="44" cy="0"/>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77" name="Line 78">
                      <a:extLst>
                        <a:ext uri="{FF2B5EF4-FFF2-40B4-BE49-F238E27FC236}">
                          <a16:creationId xmlns:a16="http://schemas.microsoft.com/office/drawing/2014/main" id="{5F9CA24D-1421-4FBE-95C8-237E7D3E8753}"/>
                        </a:ext>
                      </a:extLst>
                    </p:cNvPr>
                    <p:cNvSpPr>
                      <a:spLocks noChangeShapeType="1"/>
                    </p:cNvSpPr>
                    <p:nvPr/>
                  </p:nvSpPr>
                  <p:spPr bwMode="auto">
                    <a:xfrm>
                      <a:off x="2894" y="851"/>
                      <a:ext cx="52" cy="98"/>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nvGrpSpPr>
                  <p:cNvPr id="71" name="Group 79">
                    <a:extLst>
                      <a:ext uri="{FF2B5EF4-FFF2-40B4-BE49-F238E27FC236}">
                        <a16:creationId xmlns:a16="http://schemas.microsoft.com/office/drawing/2014/main" id="{D6F927E4-D2D5-40EC-BE48-7334BD1BB0BE}"/>
                      </a:ext>
                    </a:extLst>
                  </p:cNvPr>
                  <p:cNvGrpSpPr>
                    <a:grpSpLocks/>
                  </p:cNvGrpSpPr>
                  <p:nvPr/>
                </p:nvGrpSpPr>
                <p:grpSpPr bwMode="auto">
                  <a:xfrm flipV="1">
                    <a:off x="2208" y="2184"/>
                    <a:ext cx="176" cy="68"/>
                    <a:chOff x="2848" y="848"/>
                    <a:chExt cx="140" cy="98"/>
                  </a:xfrm>
                </p:grpSpPr>
                <p:sp>
                  <p:nvSpPr>
                    <p:cNvPr id="72" name="Line 80">
                      <a:extLst>
                        <a:ext uri="{FF2B5EF4-FFF2-40B4-BE49-F238E27FC236}">
                          <a16:creationId xmlns:a16="http://schemas.microsoft.com/office/drawing/2014/main" id="{3108059F-CEE4-4439-9D25-F77AE5BF59F1}"/>
                        </a:ext>
                      </a:extLst>
                    </p:cNvPr>
                    <p:cNvSpPr>
                      <a:spLocks noChangeShapeType="1"/>
                    </p:cNvSpPr>
                    <p:nvPr/>
                  </p:nvSpPr>
                  <p:spPr bwMode="auto">
                    <a:xfrm flipV="1">
                      <a:off x="2848" y="845"/>
                      <a:ext cx="50" cy="0"/>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73" name="Line 81">
                      <a:extLst>
                        <a:ext uri="{FF2B5EF4-FFF2-40B4-BE49-F238E27FC236}">
                          <a16:creationId xmlns:a16="http://schemas.microsoft.com/office/drawing/2014/main" id="{1FC80F94-7A4B-4B09-96A1-FA299B5CB38D}"/>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74" name="Line 82">
                      <a:extLst>
                        <a:ext uri="{FF2B5EF4-FFF2-40B4-BE49-F238E27FC236}">
                          <a16:creationId xmlns:a16="http://schemas.microsoft.com/office/drawing/2014/main" id="{2BD380C9-14A8-409F-AE7F-C4CB00AB770B}"/>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grpSp>
          <p:graphicFrame>
            <p:nvGraphicFramePr>
              <p:cNvPr id="55" name="Object 83">
                <a:extLst>
                  <a:ext uri="{FF2B5EF4-FFF2-40B4-BE49-F238E27FC236}">
                    <a16:creationId xmlns:a16="http://schemas.microsoft.com/office/drawing/2014/main" id="{BBF3C311-90F8-4C07-ABD7-7BCFF8F28367}"/>
                  </a:ext>
                </a:extLst>
              </p:cNvPr>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68" name="Object 83">
                            <a:extLst>
                              <a:ext uri="{FF2B5EF4-FFF2-40B4-BE49-F238E27FC236}">
                                <a16:creationId xmlns:a16="http://schemas.microsoft.com/office/drawing/2014/main" id="{8C0DB99B-EAC4-4AD3-AD0A-94D841E4EA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 name="Line 84">
                <a:extLst>
                  <a:ext uri="{FF2B5EF4-FFF2-40B4-BE49-F238E27FC236}">
                    <a16:creationId xmlns:a16="http://schemas.microsoft.com/office/drawing/2014/main" id="{2B5B56A2-40C7-423B-961D-C8BF7286F0A3}"/>
                  </a:ext>
                </a:extLst>
              </p:cNvPr>
              <p:cNvSpPr>
                <a:spLocks noChangeShapeType="1"/>
              </p:cNvSpPr>
              <p:nvPr/>
            </p:nvSpPr>
            <p:spPr bwMode="auto">
              <a:xfrm flipV="1">
                <a:off x="2214" y="2370"/>
                <a:ext cx="294" cy="252"/>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57" name="Line 85">
                <a:extLst>
                  <a:ext uri="{FF2B5EF4-FFF2-40B4-BE49-F238E27FC236}">
                    <a16:creationId xmlns:a16="http://schemas.microsoft.com/office/drawing/2014/main" id="{CC12FA44-A5EB-47A1-BCB2-FB269D2B4A0C}"/>
                  </a:ext>
                </a:extLst>
              </p:cNvPr>
              <p:cNvSpPr>
                <a:spLocks noChangeShapeType="1"/>
              </p:cNvSpPr>
              <p:nvPr/>
            </p:nvSpPr>
            <p:spPr bwMode="auto">
              <a:xfrm flipH="1" flipV="1">
                <a:off x="2964" y="2406"/>
                <a:ext cx="210" cy="192"/>
              </a:xfrm>
              <a:prstGeom prst="line">
                <a:avLst/>
              </a:prstGeom>
              <a:noFill/>
              <a:ln w="19050">
                <a:solidFill>
                  <a:schemeClr val="tx1"/>
                </a:solidFill>
                <a:round/>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58" name="Text Box 86">
                <a:extLst>
                  <a:ext uri="{FF2B5EF4-FFF2-40B4-BE49-F238E27FC236}">
                    <a16:creationId xmlns:a16="http://schemas.microsoft.com/office/drawing/2014/main" id="{70F1E5AD-C9D8-42E4-9394-7182E8F3C129}"/>
                  </a:ext>
                </a:extLst>
              </p:cNvPr>
              <p:cNvSpPr txBox="1">
                <a:spLocks noChangeArrowheads="1"/>
              </p:cNvSpPr>
              <p:nvPr/>
            </p:nvSpPr>
            <p:spPr bwMode="auto">
              <a:xfrm>
                <a:off x="1708" y="2590"/>
                <a:ext cx="260" cy="293"/>
              </a:xfrm>
              <a:prstGeom prst="rect">
                <a:avLst/>
              </a:prstGeom>
              <a:noFill/>
              <a:ln w="9525">
                <a:noFill/>
                <a:miter lim="800000"/>
                <a:headEnd/>
                <a:tailEnd/>
              </a:ln>
            </p:spPr>
            <p:txBody>
              <a:bodyPr wrap="none">
                <a:spAutoFit/>
              </a:bodyPr>
              <a:lstStyle/>
              <a:p>
                <a:pPr>
                  <a:defRPr/>
                </a:pPr>
                <a:r>
                  <a:rPr kumimoji="0" lang="en-US" altLang="zh-CN" sz="1700" dirty="0">
                    <a:latin typeface="Times New Roman" panose="02020603050405020304" pitchFamily="18" charset="0"/>
                    <a:ea typeface="宋体" charset="-122"/>
                    <a:cs typeface="Times New Roman" panose="02020603050405020304" pitchFamily="18" charset="0"/>
                  </a:rPr>
                  <a:t>D</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59" name="Text Box 87">
                <a:extLst>
                  <a:ext uri="{FF2B5EF4-FFF2-40B4-BE49-F238E27FC236}">
                    <a16:creationId xmlns:a16="http://schemas.microsoft.com/office/drawing/2014/main" id="{D7A4BC96-6517-404A-BE4D-F4BEBADAE274}"/>
                  </a:ext>
                </a:extLst>
              </p:cNvPr>
              <p:cNvSpPr txBox="1">
                <a:spLocks noChangeArrowheads="1"/>
              </p:cNvSpPr>
              <p:nvPr/>
            </p:nvSpPr>
            <p:spPr bwMode="auto">
              <a:xfrm>
                <a:off x="3374" y="2591"/>
                <a:ext cx="242" cy="293"/>
              </a:xfrm>
              <a:prstGeom prst="rect">
                <a:avLst/>
              </a:prstGeom>
              <a:noFill/>
              <a:ln w="9525">
                <a:noFill/>
                <a:miter lim="800000"/>
                <a:headEnd/>
                <a:tailEnd/>
              </a:ln>
            </p:spPr>
            <p:txBody>
              <a:bodyPr wrap="none">
                <a:spAutoFit/>
              </a:bodyPr>
              <a:lstStyle/>
              <a:p>
                <a:pPr>
                  <a:defRPr/>
                </a:pPr>
                <a:r>
                  <a:rPr kumimoji="0" lang="en-US" altLang="zh-CN" sz="1700" dirty="0">
                    <a:latin typeface="Times New Roman" panose="02020603050405020304" pitchFamily="18" charset="0"/>
                    <a:ea typeface="宋体" charset="-122"/>
                    <a:cs typeface="Times New Roman" panose="02020603050405020304" pitchFamily="18" charset="0"/>
                  </a:rPr>
                  <a:t>E</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grpSp>
            <p:nvGrpSpPr>
              <p:cNvPr id="60" name="Group 88">
                <a:extLst>
                  <a:ext uri="{FF2B5EF4-FFF2-40B4-BE49-F238E27FC236}">
                    <a16:creationId xmlns:a16="http://schemas.microsoft.com/office/drawing/2014/main" id="{6381CDDA-0C17-44B0-94E7-24BBAD15CFE4}"/>
                  </a:ext>
                </a:extLst>
              </p:cNvPr>
              <p:cNvGrpSpPr>
                <a:grpSpLocks/>
              </p:cNvGrpSpPr>
              <p:nvPr/>
            </p:nvGrpSpPr>
            <p:grpSpPr bwMode="auto">
              <a:xfrm rot="-2018696">
                <a:off x="2736" y="2139"/>
                <a:ext cx="399" cy="126"/>
                <a:chOff x="4176" y="2211"/>
                <a:chExt cx="399" cy="126"/>
              </a:xfrm>
            </p:grpSpPr>
            <p:sp>
              <p:nvSpPr>
                <p:cNvPr id="61" name="Rectangle 89">
                  <a:extLst>
                    <a:ext uri="{FF2B5EF4-FFF2-40B4-BE49-F238E27FC236}">
                      <a16:creationId xmlns:a16="http://schemas.microsoft.com/office/drawing/2014/main" id="{0FC9E702-A6BF-4346-9A95-F871ECA3A242}"/>
                    </a:ext>
                  </a:extLst>
                </p:cNvPr>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62" name="Rectangle 90">
                  <a:extLst>
                    <a:ext uri="{FF2B5EF4-FFF2-40B4-BE49-F238E27FC236}">
                      <a16:creationId xmlns:a16="http://schemas.microsoft.com/office/drawing/2014/main" id="{3C190811-31ED-4FE8-B9A3-A3209BC007F6}"/>
                    </a:ext>
                  </a:extLst>
                </p:cNvPr>
                <p:cNvSpPr>
                  <a:spLocks noChangeArrowheads="1"/>
                </p:cNvSpPr>
                <p:nvPr/>
              </p:nvSpPr>
              <p:spPr bwMode="auto">
                <a:xfrm>
                  <a:off x="4278" y="2211"/>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63" name="Rectangle 91">
                  <a:extLst>
                    <a:ext uri="{FF2B5EF4-FFF2-40B4-BE49-F238E27FC236}">
                      <a16:creationId xmlns:a16="http://schemas.microsoft.com/office/drawing/2014/main" id="{4B61B569-A650-4062-B080-9C4D0E32BD6D}"/>
                    </a:ext>
                  </a:extLst>
                </p:cNvPr>
                <p:cNvSpPr>
                  <a:spLocks noChangeArrowheads="1"/>
                </p:cNvSpPr>
                <p:nvPr/>
              </p:nvSpPr>
              <p:spPr bwMode="auto">
                <a:xfrm>
                  <a:off x="4378" y="2211"/>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sp>
              <p:nvSpPr>
                <p:cNvPr id="64" name="Rectangle 92">
                  <a:extLst>
                    <a:ext uri="{FF2B5EF4-FFF2-40B4-BE49-F238E27FC236}">
                      <a16:creationId xmlns:a16="http://schemas.microsoft.com/office/drawing/2014/main" id="{540B9CCA-8233-4CBA-B035-F122F3D30750}"/>
                    </a:ext>
                  </a:extLst>
                </p:cNvPr>
                <p:cNvSpPr>
                  <a:spLocks noChangeArrowheads="1"/>
                </p:cNvSpPr>
                <p:nvPr/>
              </p:nvSpPr>
              <p:spPr bwMode="auto">
                <a:xfrm>
                  <a:off x="4482" y="2211"/>
                  <a:ext cx="93" cy="126"/>
                </a:xfrm>
                <a:prstGeom prst="rect">
                  <a:avLst/>
                </a:prstGeom>
                <a:noFill/>
                <a:ln w="9525">
                  <a:solidFill>
                    <a:schemeClr val="tx1"/>
                  </a:solidFill>
                  <a:miter lim="800000"/>
                  <a:headEnd/>
                  <a:tailEn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grpSp>
        <p:sp>
          <p:nvSpPr>
            <p:cNvPr id="50" name="Text Box 93">
              <a:extLst>
                <a:ext uri="{FF2B5EF4-FFF2-40B4-BE49-F238E27FC236}">
                  <a16:creationId xmlns:a16="http://schemas.microsoft.com/office/drawing/2014/main" id="{BC116B69-5049-46A2-AA42-52D88535FAAC}"/>
                </a:ext>
              </a:extLst>
            </p:cNvPr>
            <p:cNvSpPr txBox="1">
              <a:spLocks noChangeArrowheads="1"/>
            </p:cNvSpPr>
            <p:nvPr/>
          </p:nvSpPr>
          <p:spPr bwMode="auto">
            <a:xfrm>
              <a:off x="3961049" y="1694627"/>
              <a:ext cx="1972533" cy="508053"/>
            </a:xfrm>
            <a:prstGeom prst="rect">
              <a:avLst/>
            </a:prstGeom>
            <a:noFill/>
            <a:ln w="9525">
              <a:noFill/>
              <a:miter lim="800000"/>
              <a:headEnd/>
              <a:tailEnd/>
            </a:ln>
          </p:spPr>
          <p:txBody>
            <a:bodyPr wrap="none">
              <a:spAutoFit/>
            </a:bodyPr>
            <a:lstStyle/>
            <a:p>
              <a:pPr>
                <a:defRPr/>
              </a:pPr>
              <a:r>
                <a:rPr kumimoji="0" lang="zh-CN" altLang="en-US" sz="1700" dirty="0">
                  <a:solidFill>
                    <a:srgbClr val="FF0000"/>
                  </a:solidFill>
                  <a:latin typeface="Times New Roman" panose="02020603050405020304" pitchFamily="18" charset="0"/>
                  <a:ea typeface="宋体" charset="-122"/>
                  <a:cs typeface="Times New Roman" panose="02020603050405020304" pitchFamily="18" charset="0"/>
                </a:rPr>
                <a:t>统计多路复用</a:t>
              </a:r>
              <a:endParaRPr kumimoji="0" lang="en-US" altLang="zh-CN" sz="1700" dirty="0">
                <a:solidFill>
                  <a:srgbClr val="FF0000"/>
                </a:solidFill>
                <a:latin typeface="Times New Roman" panose="02020603050405020304" pitchFamily="18" charset="0"/>
                <a:ea typeface="宋体" charset="-122"/>
                <a:cs typeface="Times New Roman" panose="02020603050405020304" pitchFamily="18" charset="0"/>
              </a:endParaRPr>
            </a:p>
          </p:txBody>
        </p:sp>
        <p:sp>
          <p:nvSpPr>
            <p:cNvPr id="51" name="Text Box 94">
              <a:extLst>
                <a:ext uri="{FF2B5EF4-FFF2-40B4-BE49-F238E27FC236}">
                  <a16:creationId xmlns:a16="http://schemas.microsoft.com/office/drawing/2014/main" id="{DCE24477-E33C-4B2A-8F8F-471A39717588}"/>
                </a:ext>
              </a:extLst>
            </p:cNvPr>
            <p:cNvSpPr txBox="1">
              <a:spLocks noChangeArrowheads="1"/>
            </p:cNvSpPr>
            <p:nvPr/>
          </p:nvSpPr>
          <p:spPr bwMode="auto">
            <a:xfrm>
              <a:off x="2122059" y="3108324"/>
              <a:ext cx="1972533" cy="508053"/>
            </a:xfrm>
            <a:prstGeom prst="rect">
              <a:avLst/>
            </a:prstGeom>
            <a:noFill/>
            <a:ln w="9525">
              <a:noFill/>
              <a:miter lim="800000"/>
              <a:headEnd/>
              <a:tailEnd/>
            </a:ln>
          </p:spPr>
          <p:txBody>
            <a:bodyPr wrap="none">
              <a:spAutoFit/>
            </a:bodyPr>
            <a:lstStyle/>
            <a:p>
              <a:pPr algn="ctr">
                <a:defRPr/>
              </a:pPr>
              <a:r>
                <a:rPr kumimoji="0" lang="zh-CN" altLang="en-US" sz="1700" dirty="0">
                  <a:latin typeface="Times New Roman" panose="02020603050405020304" pitchFamily="18" charset="0"/>
                  <a:ea typeface="宋体" charset="-122"/>
                  <a:cs typeface="Times New Roman" panose="02020603050405020304" pitchFamily="18" charset="0"/>
                </a:rPr>
                <a:t>报文分组排队</a:t>
              </a:r>
              <a:endParaRPr kumimoji="0" lang="en-US" altLang="zh-CN" sz="1700" dirty="0">
                <a:solidFill>
                  <a:schemeClr val="accent1"/>
                </a:solidFill>
                <a:latin typeface="Times New Roman" panose="02020603050405020304" pitchFamily="18" charset="0"/>
                <a:ea typeface="宋体" charset="-122"/>
                <a:cs typeface="Times New Roman" panose="02020603050405020304" pitchFamily="18" charset="0"/>
              </a:endParaRPr>
            </a:p>
          </p:txBody>
        </p:sp>
        <p:sp>
          <p:nvSpPr>
            <p:cNvPr id="52" name="Line 95">
              <a:extLst>
                <a:ext uri="{FF2B5EF4-FFF2-40B4-BE49-F238E27FC236}">
                  <a16:creationId xmlns:a16="http://schemas.microsoft.com/office/drawing/2014/main" id="{AEE18692-7D1E-4DA5-B87C-5E38AB73927E}"/>
                </a:ext>
              </a:extLst>
            </p:cNvPr>
            <p:cNvSpPr>
              <a:spLocks noChangeShapeType="1"/>
            </p:cNvSpPr>
            <p:nvPr/>
          </p:nvSpPr>
          <p:spPr bwMode="auto">
            <a:xfrm flipV="1">
              <a:off x="3105150" y="2595563"/>
              <a:ext cx="182563" cy="571500"/>
            </a:xfrm>
            <a:prstGeom prst="line">
              <a:avLst/>
            </a:prstGeom>
            <a:noFill/>
            <a:ln w="9525">
              <a:solidFill>
                <a:schemeClr val="tx1"/>
              </a:solidFill>
              <a:round/>
              <a:headEnd/>
              <a:tailEnd type="triangle" w="med" len="med"/>
            </a:ln>
          </p:spPr>
          <p:txBody>
            <a:bodyPr wrap="none" anchor="ctr"/>
            <a:lstStyle/>
            <a:p>
              <a:pPr eaLnBrk="1" hangingPunct="1">
                <a:lnSpc>
                  <a:spcPct val="120000"/>
                </a:lnSpc>
                <a:spcBef>
                  <a:spcPct val="10000"/>
                </a:spcBef>
                <a:buClr>
                  <a:schemeClr val="tx1"/>
                </a:buClr>
                <a:buFont typeface="Symbol" panose="05050102010706020507" pitchFamily="18" charset="2"/>
                <a:buNone/>
                <a:defRPr/>
              </a:pPr>
              <a:endParaRPr lang="zh-CN" altLang="en-US" sz="17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2052386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E5BBA8F-F00E-44E3-B328-D9E96F4CE4E1}"/>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a:extLst>
              <a:ext uri="{FF2B5EF4-FFF2-40B4-BE49-F238E27FC236}">
                <a16:creationId xmlns:a16="http://schemas.microsoft.com/office/drawing/2014/main" id="{A4A77ADE-17A6-4787-82B3-3C4B56FFA9E8}"/>
              </a:ext>
            </a:extLst>
          </p:cNvPr>
          <p:cNvSpPr/>
          <p:nvPr/>
        </p:nvSpPr>
        <p:spPr>
          <a:xfrm>
            <a:off x="374044" y="1016071"/>
            <a:ext cx="8395911" cy="4598567"/>
          </a:xfrm>
          <a:prstGeom prst="rect">
            <a:avLst/>
          </a:prstGeom>
        </p:spPr>
        <p:txBody>
          <a:bodyPr wrap="square">
            <a:spAutoFit/>
          </a:bodyPr>
          <a:lstStyle/>
          <a:p>
            <a:pPr marL="285750" indent="-285750">
              <a:lnSpc>
                <a:spcPct val="1500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ct val="150000"/>
              </a:lnSpc>
              <a:spcBef>
                <a:spcPts val="600"/>
              </a:spcBef>
              <a:buClr>
                <a:srgbClr val="2A09B7"/>
              </a:buClr>
              <a:buFont typeface="Wingdings" panose="05000000000000000000" pitchFamily="2" charset="2"/>
              <a:buChar char="ü"/>
            </a:pPr>
            <a:r>
              <a:rPr lang="zh-CN" altLang="en-US"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网络拥塞：</a:t>
            </a:r>
            <a:r>
              <a:rPr lang="zh-CN" altLang="en-US" sz="2200" dirty="0">
                <a:latin typeface="宋体" panose="02010600030101010101" pitchFamily="2" charset="-122"/>
                <a:ea typeface="宋体" panose="02010600030101010101" pitchFamily="2" charset="-122"/>
              </a:rPr>
              <a:t>主机发送的数据</a:t>
            </a:r>
            <a:r>
              <a:rPr lang="zh-CN" altLang="en-US" sz="2200" b="1" dirty="0">
                <a:solidFill>
                  <a:srgbClr val="C00000"/>
                </a:solidFill>
                <a:latin typeface="宋体" panose="02010600030101010101" pitchFamily="2" charset="-122"/>
                <a:ea typeface="宋体" panose="02010600030101010101" pitchFamily="2" charset="-122"/>
              </a:rPr>
              <a:t>过多或过快</a:t>
            </a:r>
            <a:r>
              <a:rPr lang="zh-CN" altLang="en-US" sz="2200" dirty="0">
                <a:latin typeface="宋体" panose="02010600030101010101" pitchFamily="2" charset="-122"/>
                <a:ea typeface="宋体" panose="02010600030101010101" pitchFamily="2" charset="-122"/>
              </a:rPr>
              <a:t>，造成网络中的路由器（或其他设备）无法及时处理，从而</a:t>
            </a:r>
            <a:r>
              <a:rPr lang="zh-CN" altLang="en-US" sz="2200" b="1" dirty="0">
                <a:solidFill>
                  <a:srgbClr val="C00000"/>
                </a:solidFill>
                <a:latin typeface="宋体" panose="02010600030101010101" pitchFamily="2" charset="-122"/>
                <a:ea typeface="宋体" panose="02010600030101010101" pitchFamily="2" charset="-122"/>
              </a:rPr>
              <a:t>引入时延或丢弃</a:t>
            </a:r>
            <a:endParaRPr lang="en-US" altLang="zh-CN" sz="2200" b="1" dirty="0">
              <a:solidFill>
                <a:srgbClr val="C00000"/>
              </a:solidFill>
              <a:latin typeface="宋体" panose="02010600030101010101" pitchFamily="2" charset="-122"/>
              <a:ea typeface="宋体" panose="02010600030101010101" pitchFamily="2" charset="-122"/>
            </a:endParaRPr>
          </a:p>
          <a:p>
            <a:pPr marL="627063" lvl="1" indent="-265113">
              <a:lnSpc>
                <a:spcPct val="150000"/>
              </a:lnSpc>
              <a:spcBef>
                <a:spcPts val="600"/>
              </a:spcBef>
              <a:buClr>
                <a:srgbClr val="2A09B7"/>
              </a:buClr>
              <a:buFont typeface="Wingdings" panose="05000000000000000000" pitchFamily="2" charset="2"/>
              <a:buChar char="ü"/>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存储转发交换采用的统计多路复用机制中，拥塞不可避免</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8525" lvl="2" indent="-271463">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统计多路复用可以有效利用链路带宽资源</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8525" lvl="2" indent="-271463">
              <a:lnSpc>
                <a:spcPct val="150000"/>
              </a:lnSpc>
              <a:spcBef>
                <a:spcPts val="600"/>
              </a:spcBef>
              <a:buClr>
                <a:srgbClr val="2A09B7"/>
              </a:buClr>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轻度拥塞可以接受，中度或严重拥塞需要避免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5113">
              <a:lnSpc>
                <a:spcPct val="150000"/>
              </a:lnSpc>
              <a:spcBef>
                <a:spcPts val="600"/>
              </a:spcBef>
              <a:buClr>
                <a:srgbClr val="2A09B7"/>
              </a:buClr>
              <a:buFont typeface="Wingdings" panose="05000000000000000000" pitchFamily="2" charset="2"/>
              <a:buChar char="ü"/>
            </a:pPr>
            <a:r>
              <a:rPr lang="zh-CN" altLang="en-US" sz="22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拥塞控制也是网络中的</a:t>
            </a:r>
            <a:r>
              <a:rPr lang="en-US" altLang="zh-CN" sz="22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Top 10</a:t>
            </a:r>
            <a:r>
              <a:rPr lang="zh-CN" altLang="en-US" sz="22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问题</a:t>
            </a:r>
            <a:endParaRPr lang="en-US" altLang="zh-CN" sz="22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marL="627063" lvl="1" indent="-265113">
              <a:lnSpc>
                <a:spcPct val="150000"/>
              </a:lnSpc>
              <a:spcBef>
                <a:spcPts val="600"/>
              </a:spcBef>
              <a:buClr>
                <a:srgbClr val="2A09B7"/>
              </a:buClr>
              <a:buFont typeface="Wingdings" panose="05000000000000000000" pitchFamily="2" charset="2"/>
              <a:buChar char="ü"/>
            </a:pPr>
            <a:r>
              <a:rPr lang="zh-CN" altLang="en-US" sz="2200" b="1" dirty="0">
                <a:solidFill>
                  <a:srgbClr val="2A09B7"/>
                </a:solidFill>
                <a:latin typeface="Times New Roman" panose="02020603050405020304" pitchFamily="18" charset="0"/>
                <a:ea typeface="楷体" panose="02010609060101010101" pitchFamily="49" charset="-122"/>
                <a:cs typeface="Times New Roman" panose="02020603050405020304" pitchFamily="18" charset="0"/>
              </a:rPr>
              <a:t>注意：拥塞控制与流量控制的区别</a:t>
            </a:r>
            <a:endParaRPr lang="en-US" altLang="zh-CN" sz="2200" b="1" dirty="0">
              <a:solidFill>
                <a:srgbClr val="2A09B7"/>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08043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4A77ADE-17A6-4787-82B3-3C4B56FFA9E8}"/>
              </a:ext>
            </a:extLst>
          </p:cNvPr>
          <p:cNvSpPr/>
          <p:nvPr/>
        </p:nvSpPr>
        <p:spPr>
          <a:xfrm>
            <a:off x="374044" y="727174"/>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6" name="Rectangle 15">
            <a:extLst>
              <a:ext uri="{FF2B5EF4-FFF2-40B4-BE49-F238E27FC236}">
                <a16:creationId xmlns:a16="http://schemas.microsoft.com/office/drawing/2014/main" id="{A4A77F7E-2BA5-4584-B7F1-52A86BAA39EA}"/>
              </a:ext>
            </a:extLst>
          </p:cNvPr>
          <p:cNvSpPr txBox="1">
            <a:spLocks noChangeArrowheads="1"/>
          </p:cNvSpPr>
          <p:nvPr/>
        </p:nvSpPr>
        <p:spPr>
          <a:xfrm>
            <a:off x="739711" y="1410107"/>
            <a:ext cx="5894898" cy="17456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nSpc>
                <a:spcPts val="28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两个发送端与两个接收端</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8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一台路由器，无限缓存</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a:p>
            <a:pPr marL="266700" indent="-266700">
              <a:lnSpc>
                <a:spcPts val="28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输出链路的容量：</a:t>
            </a:r>
            <a:r>
              <a:rPr lang="en-US" sz="2200" dirty="0">
                <a:latin typeface="Times New Roman" panose="02020603050405020304" pitchFamily="18" charset="0"/>
                <a:ea typeface="宋体" panose="02010600030101010101" pitchFamily="2" charset="-122"/>
                <a:cs typeface="Times New Roman" panose="02020603050405020304" pitchFamily="18" charset="0"/>
              </a:rPr>
              <a:t>R</a:t>
            </a:r>
          </a:p>
          <a:p>
            <a:pPr marL="266700" indent="-266700">
              <a:lnSpc>
                <a:spcPts val="2800"/>
              </a:lnSpc>
              <a:spcBef>
                <a:spcPts val="600"/>
              </a:spcBef>
              <a:buClr>
                <a:srgbClr val="2A09B7"/>
              </a:buClr>
              <a:buFont typeface="Wingdings" charset="0"/>
              <a:buChar char="v"/>
              <a:defRPr/>
            </a:pPr>
            <a:r>
              <a:rPr lang="zh-CN" altLang="en-US"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无丢失、无重传，可能造成高时延</a:t>
            </a:r>
            <a:endParaRPr lang="en-US" sz="22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grpSp>
        <p:nvGrpSpPr>
          <p:cNvPr id="2" name="组合 1">
            <a:extLst>
              <a:ext uri="{FF2B5EF4-FFF2-40B4-BE49-F238E27FC236}">
                <a16:creationId xmlns:a16="http://schemas.microsoft.com/office/drawing/2014/main" id="{37DAACF3-91D8-43A3-8BB3-C4961CE524E0}"/>
              </a:ext>
            </a:extLst>
          </p:cNvPr>
          <p:cNvGrpSpPr/>
          <p:nvPr/>
        </p:nvGrpSpPr>
        <p:grpSpPr>
          <a:xfrm>
            <a:off x="1689898" y="3471530"/>
            <a:ext cx="5776745" cy="2554391"/>
            <a:chOff x="373738" y="1418856"/>
            <a:chExt cx="6061215" cy="2746375"/>
          </a:xfrm>
        </p:grpSpPr>
        <p:sp>
          <p:nvSpPr>
            <p:cNvPr id="7" name="Freeform 9">
              <a:extLst>
                <a:ext uri="{FF2B5EF4-FFF2-40B4-BE49-F238E27FC236}">
                  <a16:creationId xmlns:a16="http://schemas.microsoft.com/office/drawing/2014/main" id="{0CC331BB-2017-46EB-8E90-966F3986E1A7}"/>
                </a:ext>
              </a:extLst>
            </p:cNvPr>
            <p:cNvSpPr>
              <a:spLocks/>
            </p:cNvSpPr>
            <p:nvPr/>
          </p:nvSpPr>
          <p:spPr bwMode="auto">
            <a:xfrm flipH="1">
              <a:off x="1742303" y="197606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 name="Group 124">
              <a:extLst>
                <a:ext uri="{FF2B5EF4-FFF2-40B4-BE49-F238E27FC236}">
                  <a16:creationId xmlns:a16="http://schemas.microsoft.com/office/drawing/2014/main" id="{A50587F3-7966-4128-89EE-E4317BFB2C2D}"/>
                </a:ext>
              </a:extLst>
            </p:cNvPr>
            <p:cNvGrpSpPr>
              <a:grpSpLocks/>
            </p:cNvGrpSpPr>
            <p:nvPr/>
          </p:nvGrpSpPr>
          <p:grpSpPr bwMode="auto">
            <a:xfrm>
              <a:off x="1408928" y="2672981"/>
              <a:ext cx="525463" cy="434975"/>
              <a:chOff x="-44" y="1473"/>
              <a:chExt cx="981" cy="1105"/>
            </a:xfrm>
          </p:grpSpPr>
          <p:pic>
            <p:nvPicPr>
              <p:cNvPr id="9" name="Picture 125" descr="desktop_computer_stylized_medium">
                <a:extLst>
                  <a:ext uri="{FF2B5EF4-FFF2-40B4-BE49-F238E27FC236}">
                    <a16:creationId xmlns:a16="http://schemas.microsoft.com/office/drawing/2014/main" id="{A57D0A2B-019E-4B0B-A763-02A84B73BD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126">
                <a:extLst>
                  <a:ext uri="{FF2B5EF4-FFF2-40B4-BE49-F238E27FC236}">
                    <a16:creationId xmlns:a16="http://schemas.microsoft.com/office/drawing/2014/main" id="{90B6007F-0C86-4B8E-99AA-6EB274ECA454}"/>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 name="Freeform 3">
              <a:extLst>
                <a:ext uri="{FF2B5EF4-FFF2-40B4-BE49-F238E27FC236}">
                  <a16:creationId xmlns:a16="http://schemas.microsoft.com/office/drawing/2014/main" id="{DC0B6996-EFD2-4BB1-B513-8B26FA35FB11}"/>
                </a:ext>
              </a:extLst>
            </p:cNvPr>
            <p:cNvSpPr>
              <a:spLocks/>
            </p:cNvSpPr>
            <p:nvPr/>
          </p:nvSpPr>
          <p:spPr bwMode="auto">
            <a:xfrm>
              <a:off x="5726928" y="3168281"/>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Freeform 6">
              <a:extLst>
                <a:ext uri="{FF2B5EF4-FFF2-40B4-BE49-F238E27FC236}">
                  <a16:creationId xmlns:a16="http://schemas.microsoft.com/office/drawing/2014/main" id="{961D0695-F920-4914-8D23-215DE8B84237}"/>
                </a:ext>
              </a:extLst>
            </p:cNvPr>
            <p:cNvSpPr>
              <a:spLocks/>
            </p:cNvSpPr>
            <p:nvPr/>
          </p:nvSpPr>
          <p:spPr bwMode="auto">
            <a:xfrm>
              <a:off x="6103166" y="2187206"/>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Freeform 12">
              <a:extLst>
                <a:ext uri="{FF2B5EF4-FFF2-40B4-BE49-F238E27FC236}">
                  <a16:creationId xmlns:a16="http://schemas.microsoft.com/office/drawing/2014/main" id="{01E6C6AC-8352-459E-8ACA-36FE5CAB3EF4}"/>
                </a:ext>
              </a:extLst>
            </p:cNvPr>
            <p:cNvSpPr>
              <a:spLocks/>
            </p:cNvSpPr>
            <p:nvPr/>
          </p:nvSpPr>
          <p:spPr bwMode="auto">
            <a:xfrm flipH="1">
              <a:off x="867591" y="2917456"/>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Oval 18">
              <a:extLst>
                <a:ext uri="{FF2B5EF4-FFF2-40B4-BE49-F238E27FC236}">
                  <a16:creationId xmlns:a16="http://schemas.microsoft.com/office/drawing/2014/main" id="{4F777D51-7D59-4D88-9556-98A8B21BB6E5}"/>
                </a:ext>
              </a:extLst>
            </p:cNvPr>
            <p:cNvSpPr>
              <a:spLocks noChangeArrowheads="1"/>
            </p:cNvSpPr>
            <p:nvPr/>
          </p:nvSpPr>
          <p:spPr bwMode="auto">
            <a:xfrm>
              <a:off x="3145653" y="3415931"/>
              <a:ext cx="1063625" cy="2349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5" name="Line 19">
              <a:extLst>
                <a:ext uri="{FF2B5EF4-FFF2-40B4-BE49-F238E27FC236}">
                  <a16:creationId xmlns:a16="http://schemas.microsoft.com/office/drawing/2014/main" id="{C3ADA4AC-4147-4B2F-BF77-E75D0FC79F86}"/>
                </a:ext>
              </a:extLst>
            </p:cNvPr>
            <p:cNvSpPr>
              <a:spLocks noChangeShapeType="1"/>
            </p:cNvSpPr>
            <p:nvPr/>
          </p:nvSpPr>
          <p:spPr bwMode="auto">
            <a:xfrm>
              <a:off x="3145653" y="3396881"/>
              <a:ext cx="0" cy="1460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0">
              <a:extLst>
                <a:ext uri="{FF2B5EF4-FFF2-40B4-BE49-F238E27FC236}">
                  <a16:creationId xmlns:a16="http://schemas.microsoft.com/office/drawing/2014/main" id="{907C03B1-C35C-4CF0-AB75-F23ADA0DAA8D}"/>
                </a:ext>
              </a:extLst>
            </p:cNvPr>
            <p:cNvSpPr>
              <a:spLocks noChangeShapeType="1"/>
            </p:cNvSpPr>
            <p:nvPr/>
          </p:nvSpPr>
          <p:spPr bwMode="auto">
            <a:xfrm>
              <a:off x="4209278" y="3396881"/>
              <a:ext cx="0" cy="14605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Rectangle 21">
              <a:extLst>
                <a:ext uri="{FF2B5EF4-FFF2-40B4-BE49-F238E27FC236}">
                  <a16:creationId xmlns:a16="http://schemas.microsoft.com/office/drawing/2014/main" id="{46DD3621-497F-4DE4-B0A1-FEF915DECD69}"/>
                </a:ext>
              </a:extLst>
            </p:cNvPr>
            <p:cNvSpPr>
              <a:spLocks noChangeArrowheads="1"/>
            </p:cNvSpPr>
            <p:nvPr/>
          </p:nvSpPr>
          <p:spPr bwMode="auto">
            <a:xfrm>
              <a:off x="3145653" y="3396881"/>
              <a:ext cx="252413"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8" name="Rectangle 22">
              <a:extLst>
                <a:ext uri="{FF2B5EF4-FFF2-40B4-BE49-F238E27FC236}">
                  <a16:creationId xmlns:a16="http://schemas.microsoft.com/office/drawing/2014/main" id="{1DBDA471-F743-42C9-AB9A-16D154DAE31B}"/>
                </a:ext>
              </a:extLst>
            </p:cNvPr>
            <p:cNvSpPr>
              <a:spLocks noChangeArrowheads="1"/>
            </p:cNvSpPr>
            <p:nvPr/>
          </p:nvSpPr>
          <p:spPr bwMode="auto">
            <a:xfrm>
              <a:off x="3887016" y="3387356"/>
              <a:ext cx="322262"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9" name="Oval 23">
              <a:extLst>
                <a:ext uri="{FF2B5EF4-FFF2-40B4-BE49-F238E27FC236}">
                  <a16:creationId xmlns:a16="http://schemas.microsoft.com/office/drawing/2014/main" id="{9414A3D4-B6FC-4C02-86C8-8349D92471CD}"/>
                </a:ext>
              </a:extLst>
            </p:cNvPr>
            <p:cNvSpPr>
              <a:spLocks noChangeArrowheads="1"/>
            </p:cNvSpPr>
            <p:nvPr/>
          </p:nvSpPr>
          <p:spPr bwMode="auto">
            <a:xfrm>
              <a:off x="3134541" y="3228606"/>
              <a:ext cx="1063625" cy="2730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20" name="Group 24">
              <a:extLst>
                <a:ext uri="{FF2B5EF4-FFF2-40B4-BE49-F238E27FC236}">
                  <a16:creationId xmlns:a16="http://schemas.microsoft.com/office/drawing/2014/main" id="{AB0987DF-783A-4580-B316-E4A39241024C}"/>
                </a:ext>
              </a:extLst>
            </p:cNvPr>
            <p:cNvGrpSpPr>
              <a:grpSpLocks/>
            </p:cNvGrpSpPr>
            <p:nvPr/>
          </p:nvGrpSpPr>
          <p:grpSpPr bwMode="auto">
            <a:xfrm>
              <a:off x="3391716" y="3287343"/>
              <a:ext cx="527050" cy="160338"/>
              <a:chOff x="2848" y="848"/>
              <a:chExt cx="140" cy="98"/>
            </a:xfrm>
          </p:grpSpPr>
          <p:sp>
            <p:nvSpPr>
              <p:cNvPr id="21" name="Line 25">
                <a:extLst>
                  <a:ext uri="{FF2B5EF4-FFF2-40B4-BE49-F238E27FC236}">
                    <a16:creationId xmlns:a16="http://schemas.microsoft.com/office/drawing/2014/main" id="{F3B33E88-489C-459E-AE37-E648872A480E}"/>
                  </a:ext>
                </a:extLst>
              </p:cNvPr>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6">
                <a:extLst>
                  <a:ext uri="{FF2B5EF4-FFF2-40B4-BE49-F238E27FC236}">
                    <a16:creationId xmlns:a16="http://schemas.microsoft.com/office/drawing/2014/main" id="{5093A944-B97A-4030-80DC-1B4B54DC02E9}"/>
                  </a:ext>
                </a:extLst>
              </p:cNvPr>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7">
                <a:extLst>
                  <a:ext uri="{FF2B5EF4-FFF2-40B4-BE49-F238E27FC236}">
                    <a16:creationId xmlns:a16="http://schemas.microsoft.com/office/drawing/2014/main" id="{92B5C392-DA84-4DCD-AF92-F3A5201FF082}"/>
                  </a:ext>
                </a:extLst>
              </p:cNvPr>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4" name="Group 28">
              <a:extLst>
                <a:ext uri="{FF2B5EF4-FFF2-40B4-BE49-F238E27FC236}">
                  <a16:creationId xmlns:a16="http://schemas.microsoft.com/office/drawing/2014/main" id="{B0AD1E64-0C8A-4AA6-835C-E385394D823C}"/>
                </a:ext>
              </a:extLst>
            </p:cNvPr>
            <p:cNvGrpSpPr>
              <a:grpSpLocks/>
            </p:cNvGrpSpPr>
            <p:nvPr/>
          </p:nvGrpSpPr>
          <p:grpSpPr bwMode="auto">
            <a:xfrm flipV="1">
              <a:off x="3391716" y="3285756"/>
              <a:ext cx="527050" cy="158750"/>
              <a:chOff x="2848" y="848"/>
              <a:chExt cx="140" cy="98"/>
            </a:xfrm>
          </p:grpSpPr>
          <p:sp>
            <p:nvSpPr>
              <p:cNvPr id="25" name="Line 29">
                <a:extLst>
                  <a:ext uri="{FF2B5EF4-FFF2-40B4-BE49-F238E27FC236}">
                    <a16:creationId xmlns:a16="http://schemas.microsoft.com/office/drawing/2014/main" id="{F17F9F04-D205-4EF5-AB36-D4493C82E466}"/>
                  </a:ext>
                </a:extLst>
              </p:cNvPr>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30">
                <a:extLst>
                  <a:ext uri="{FF2B5EF4-FFF2-40B4-BE49-F238E27FC236}">
                    <a16:creationId xmlns:a16="http://schemas.microsoft.com/office/drawing/2014/main" id="{4A5CB397-EA4F-42C1-BC78-73DEB7509B3F}"/>
                  </a:ext>
                </a:extLst>
              </p:cNvPr>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31">
                <a:extLst>
                  <a:ext uri="{FF2B5EF4-FFF2-40B4-BE49-F238E27FC236}">
                    <a16:creationId xmlns:a16="http://schemas.microsoft.com/office/drawing/2014/main" id="{2F71CE88-16A9-4E20-B52C-1E00B5E57286}"/>
                  </a:ext>
                </a:extLst>
              </p:cNvPr>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Text Box 32">
              <a:extLst>
                <a:ext uri="{FF2B5EF4-FFF2-40B4-BE49-F238E27FC236}">
                  <a16:creationId xmlns:a16="http://schemas.microsoft.com/office/drawing/2014/main" id="{40788319-6FDC-492F-808D-CBF910BDA7BD}"/>
                </a:ext>
              </a:extLst>
            </p:cNvPr>
            <p:cNvSpPr txBox="1">
              <a:spLocks noChangeArrowheads="1"/>
            </p:cNvSpPr>
            <p:nvPr/>
          </p:nvSpPr>
          <p:spPr bwMode="auto">
            <a:xfrm>
              <a:off x="3467122" y="2631705"/>
              <a:ext cx="14239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zh-CN" altLang="en-US" sz="1200" dirty="0">
                  <a:solidFill>
                    <a:schemeClr val="tx2"/>
                  </a:solidFill>
                  <a:latin typeface="Arial" panose="020B0604020202020204" pitchFamily="34" charset="0"/>
                </a:rPr>
                <a:t>无限输出缓存</a:t>
              </a:r>
              <a:endParaRPr lang="en-US" altLang="zh-CN" sz="1200" dirty="0">
                <a:solidFill>
                  <a:schemeClr val="tx2"/>
                </a:solidFill>
                <a:latin typeface="Arial" panose="020B0604020202020204" pitchFamily="34" charset="0"/>
              </a:endParaRPr>
            </a:p>
          </p:txBody>
        </p:sp>
        <p:sp>
          <p:nvSpPr>
            <p:cNvPr id="29" name="Line 33">
              <a:extLst>
                <a:ext uri="{FF2B5EF4-FFF2-40B4-BE49-F238E27FC236}">
                  <a16:creationId xmlns:a16="http://schemas.microsoft.com/office/drawing/2014/main" id="{3AD45161-68E2-48A6-BE4C-D979ECC1C037}"/>
                </a:ext>
              </a:extLst>
            </p:cNvPr>
            <p:cNvSpPr>
              <a:spLocks noChangeShapeType="1"/>
            </p:cNvSpPr>
            <p:nvPr/>
          </p:nvSpPr>
          <p:spPr bwMode="auto">
            <a:xfrm flipH="1">
              <a:off x="2029641" y="3050806"/>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4">
              <a:extLst>
                <a:ext uri="{FF2B5EF4-FFF2-40B4-BE49-F238E27FC236}">
                  <a16:creationId xmlns:a16="http://schemas.microsoft.com/office/drawing/2014/main" id="{3216514D-B3FC-42C0-98ED-77FA264F4F79}"/>
                </a:ext>
              </a:extLst>
            </p:cNvPr>
            <p:cNvSpPr>
              <a:spLocks noChangeShapeType="1"/>
            </p:cNvSpPr>
            <p:nvPr/>
          </p:nvSpPr>
          <p:spPr bwMode="auto">
            <a:xfrm flipH="1">
              <a:off x="2515416" y="3050806"/>
              <a:ext cx="438150"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1" name="Group 35">
              <a:extLst>
                <a:ext uri="{FF2B5EF4-FFF2-40B4-BE49-F238E27FC236}">
                  <a16:creationId xmlns:a16="http://schemas.microsoft.com/office/drawing/2014/main" id="{A37463EB-C18E-46D0-9287-5F949423B8EC}"/>
                </a:ext>
              </a:extLst>
            </p:cNvPr>
            <p:cNvGrpSpPr>
              <a:grpSpLocks/>
            </p:cNvGrpSpPr>
            <p:nvPr/>
          </p:nvGrpSpPr>
          <p:grpSpPr bwMode="auto">
            <a:xfrm>
              <a:off x="1969316" y="2031631"/>
              <a:ext cx="650875" cy="904875"/>
              <a:chOff x="12762" y="10336"/>
              <a:chExt cx="1027" cy="1700"/>
            </a:xfrm>
          </p:grpSpPr>
          <p:sp>
            <p:nvSpPr>
              <p:cNvPr id="32" name="Rectangle 36">
                <a:extLst>
                  <a:ext uri="{FF2B5EF4-FFF2-40B4-BE49-F238E27FC236}">
                    <a16:creationId xmlns:a16="http://schemas.microsoft.com/office/drawing/2014/main" id="{670F8509-84C9-464D-A3D2-8C6DD915168C}"/>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33" name="Rectangle 37">
                <a:extLst>
                  <a:ext uri="{FF2B5EF4-FFF2-40B4-BE49-F238E27FC236}">
                    <a16:creationId xmlns:a16="http://schemas.microsoft.com/office/drawing/2014/main" id="{3C826D27-453A-4BE3-9423-02C7F6E5BDDC}"/>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34" name="Line 38">
                <a:extLst>
                  <a:ext uri="{FF2B5EF4-FFF2-40B4-BE49-F238E27FC236}">
                    <a16:creationId xmlns:a16="http://schemas.microsoft.com/office/drawing/2014/main" id="{A9735F43-1CE3-4F8A-A1AA-7A724E23811A}"/>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9">
                <a:extLst>
                  <a:ext uri="{FF2B5EF4-FFF2-40B4-BE49-F238E27FC236}">
                    <a16:creationId xmlns:a16="http://schemas.microsoft.com/office/drawing/2014/main" id="{1B10993E-32EB-4D4F-AC5E-261AD6872530}"/>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0">
                <a:extLst>
                  <a:ext uri="{FF2B5EF4-FFF2-40B4-BE49-F238E27FC236}">
                    <a16:creationId xmlns:a16="http://schemas.microsoft.com/office/drawing/2014/main" id="{F5CB8442-1A46-4B25-AD5C-47600BF4F7D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41">
                <a:extLst>
                  <a:ext uri="{FF2B5EF4-FFF2-40B4-BE49-F238E27FC236}">
                    <a16:creationId xmlns:a16="http://schemas.microsoft.com/office/drawing/2014/main" id="{3802F885-37F0-48E8-B3C0-D1232AF2AA87}"/>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 name="Text Box 42">
              <a:extLst>
                <a:ext uri="{FF2B5EF4-FFF2-40B4-BE49-F238E27FC236}">
                  <a16:creationId xmlns:a16="http://schemas.microsoft.com/office/drawing/2014/main" id="{7938D81C-52B4-4530-83FB-195CC3B284B4}"/>
                </a:ext>
              </a:extLst>
            </p:cNvPr>
            <p:cNvSpPr txBox="1">
              <a:spLocks noChangeArrowheads="1"/>
            </p:cNvSpPr>
            <p:nvPr/>
          </p:nvSpPr>
          <p:spPr bwMode="auto">
            <a:xfrm>
              <a:off x="1200351" y="2158287"/>
              <a:ext cx="727715" cy="214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39" name="Text Box 43">
              <a:extLst>
                <a:ext uri="{FF2B5EF4-FFF2-40B4-BE49-F238E27FC236}">
                  <a16:creationId xmlns:a16="http://schemas.microsoft.com/office/drawing/2014/main" id="{D3758DF6-1391-4F22-9A9B-40A8841672A4}"/>
                </a:ext>
              </a:extLst>
            </p:cNvPr>
            <p:cNvSpPr txBox="1">
              <a:spLocks noChangeArrowheads="1"/>
            </p:cNvSpPr>
            <p:nvPr/>
          </p:nvSpPr>
          <p:spPr bwMode="auto">
            <a:xfrm>
              <a:off x="449636" y="1418856"/>
              <a:ext cx="1789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dirty="0">
                  <a:latin typeface="Arial" panose="020B0604020202020204" pitchFamily="34" charset="0"/>
                </a:rPr>
                <a:t>原始数据</a:t>
              </a:r>
              <a:r>
                <a:rPr lang="en-US" altLang="zh-CN" dirty="0">
                  <a:latin typeface="Arial" panose="020B0604020202020204" pitchFamily="34" charset="0"/>
                </a:rPr>
                <a:t>: </a:t>
              </a:r>
              <a:r>
                <a:rPr lang="en-US" altLang="zh-CN" sz="2400" dirty="0" err="1">
                  <a:solidFill>
                    <a:srgbClr val="CC0000"/>
                  </a:solidFill>
                  <a:latin typeface="Symbol" panose="05050102010706020507" pitchFamily="18" charset="2"/>
                </a:rPr>
                <a:t>l</a:t>
              </a:r>
              <a:r>
                <a:rPr lang="en-US" altLang="zh-CN" sz="2400" baseline="-25000" dirty="0" err="1">
                  <a:solidFill>
                    <a:srgbClr val="CC0000"/>
                  </a:solidFill>
                  <a:latin typeface="Arial" panose="020B0604020202020204" pitchFamily="34" charset="0"/>
                </a:rPr>
                <a:t>in</a:t>
              </a:r>
              <a:r>
                <a:rPr lang="en-US" altLang="zh-CN" baseline="-25000" dirty="0">
                  <a:solidFill>
                    <a:srgbClr val="CC0000"/>
                  </a:solidFill>
                  <a:latin typeface="Arial" panose="020B0604020202020204" pitchFamily="34" charset="0"/>
                </a:rPr>
                <a:t> </a:t>
              </a:r>
              <a:endParaRPr lang="en-US" altLang="zh-CN" dirty="0">
                <a:solidFill>
                  <a:srgbClr val="CC0000"/>
                </a:solidFill>
                <a:latin typeface="Arial" panose="020B0604020202020204" pitchFamily="34" charset="0"/>
              </a:endParaRPr>
            </a:p>
          </p:txBody>
        </p:sp>
        <p:sp>
          <p:nvSpPr>
            <p:cNvPr id="40" name="Line 44">
              <a:extLst>
                <a:ext uri="{FF2B5EF4-FFF2-40B4-BE49-F238E27FC236}">
                  <a16:creationId xmlns:a16="http://schemas.microsoft.com/office/drawing/2014/main" id="{976283C3-10CA-4414-BB4F-47A0993CA133}"/>
                </a:ext>
              </a:extLst>
            </p:cNvPr>
            <p:cNvSpPr>
              <a:spLocks noChangeShapeType="1"/>
            </p:cNvSpPr>
            <p:nvPr/>
          </p:nvSpPr>
          <p:spPr bwMode="auto">
            <a:xfrm flipH="1">
              <a:off x="1591491" y="3908056"/>
              <a:ext cx="438150"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1" name="Group 45">
              <a:extLst>
                <a:ext uri="{FF2B5EF4-FFF2-40B4-BE49-F238E27FC236}">
                  <a16:creationId xmlns:a16="http://schemas.microsoft.com/office/drawing/2014/main" id="{DBCE56F0-00A1-470C-8821-E84F885F7E6D}"/>
                </a:ext>
              </a:extLst>
            </p:cNvPr>
            <p:cNvGrpSpPr>
              <a:grpSpLocks/>
            </p:cNvGrpSpPr>
            <p:nvPr/>
          </p:nvGrpSpPr>
          <p:grpSpPr bwMode="auto">
            <a:xfrm>
              <a:off x="1112066" y="2926981"/>
              <a:ext cx="650875" cy="904875"/>
              <a:chOff x="12762" y="10336"/>
              <a:chExt cx="1027" cy="1700"/>
            </a:xfrm>
          </p:grpSpPr>
          <p:sp>
            <p:nvSpPr>
              <p:cNvPr id="42" name="Rectangle 46">
                <a:extLst>
                  <a:ext uri="{FF2B5EF4-FFF2-40B4-BE49-F238E27FC236}">
                    <a16:creationId xmlns:a16="http://schemas.microsoft.com/office/drawing/2014/main" id="{18328489-B6C7-4E1A-87D1-329E5A70E47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43" name="Rectangle 47">
                <a:extLst>
                  <a:ext uri="{FF2B5EF4-FFF2-40B4-BE49-F238E27FC236}">
                    <a16:creationId xmlns:a16="http://schemas.microsoft.com/office/drawing/2014/main" id="{BA6CC37E-3948-4563-A8AF-917CA1F25DFE}"/>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44" name="Line 48">
                <a:extLst>
                  <a:ext uri="{FF2B5EF4-FFF2-40B4-BE49-F238E27FC236}">
                    <a16:creationId xmlns:a16="http://schemas.microsoft.com/office/drawing/2014/main" id="{3F47714F-B0CF-4B23-AE24-A5E3F204743B}"/>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9">
                <a:extLst>
                  <a:ext uri="{FF2B5EF4-FFF2-40B4-BE49-F238E27FC236}">
                    <a16:creationId xmlns:a16="http://schemas.microsoft.com/office/drawing/2014/main" id="{B13044A5-4959-4CA9-AB62-ADF02FBE557D}"/>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50">
                <a:extLst>
                  <a:ext uri="{FF2B5EF4-FFF2-40B4-BE49-F238E27FC236}">
                    <a16:creationId xmlns:a16="http://schemas.microsoft.com/office/drawing/2014/main" id="{085F1142-36B1-4CC7-8508-A3472D7C253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51">
                <a:extLst>
                  <a:ext uri="{FF2B5EF4-FFF2-40B4-BE49-F238E27FC236}">
                    <a16:creationId xmlns:a16="http://schemas.microsoft.com/office/drawing/2014/main" id="{3A820C2C-3C9A-410C-9C21-5DF06A92358E}"/>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8" name="Text Box 52">
              <a:extLst>
                <a:ext uri="{FF2B5EF4-FFF2-40B4-BE49-F238E27FC236}">
                  <a16:creationId xmlns:a16="http://schemas.microsoft.com/office/drawing/2014/main" id="{2C646A1B-388D-42DD-98B3-97D2DAA20201}"/>
                </a:ext>
              </a:extLst>
            </p:cNvPr>
            <p:cNvSpPr txBox="1">
              <a:spLocks noChangeArrowheads="1"/>
            </p:cNvSpPr>
            <p:nvPr/>
          </p:nvSpPr>
          <p:spPr bwMode="auto">
            <a:xfrm>
              <a:off x="373738" y="3173777"/>
              <a:ext cx="85580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sp>
          <p:nvSpPr>
            <p:cNvPr id="49" name="Line 53">
              <a:extLst>
                <a:ext uri="{FF2B5EF4-FFF2-40B4-BE49-F238E27FC236}">
                  <a16:creationId xmlns:a16="http://schemas.microsoft.com/office/drawing/2014/main" id="{BD2260A5-B827-4A1B-8AE8-7E70BEB447BF}"/>
                </a:ext>
              </a:extLst>
            </p:cNvPr>
            <p:cNvSpPr>
              <a:spLocks noChangeShapeType="1"/>
            </p:cNvSpPr>
            <p:nvPr/>
          </p:nvSpPr>
          <p:spPr bwMode="auto">
            <a:xfrm flipH="1">
              <a:off x="2515416" y="3450856"/>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54">
              <a:extLst>
                <a:ext uri="{FF2B5EF4-FFF2-40B4-BE49-F238E27FC236}">
                  <a16:creationId xmlns:a16="http://schemas.microsoft.com/office/drawing/2014/main" id="{25FEA1F6-6E5F-43E9-A576-368CAE70845C}"/>
                </a:ext>
              </a:extLst>
            </p:cNvPr>
            <p:cNvSpPr>
              <a:spLocks noChangeShapeType="1"/>
            </p:cNvSpPr>
            <p:nvPr/>
          </p:nvSpPr>
          <p:spPr bwMode="auto">
            <a:xfrm flipH="1">
              <a:off x="4134666" y="3450856"/>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5">
              <a:extLst>
                <a:ext uri="{FF2B5EF4-FFF2-40B4-BE49-F238E27FC236}">
                  <a16:creationId xmlns:a16="http://schemas.microsoft.com/office/drawing/2014/main" id="{419CE2B7-1917-45AF-8B04-3DA8F370C4B8}"/>
                </a:ext>
              </a:extLst>
            </p:cNvPr>
            <p:cNvSpPr>
              <a:spLocks noChangeShapeType="1"/>
            </p:cNvSpPr>
            <p:nvPr/>
          </p:nvSpPr>
          <p:spPr bwMode="auto">
            <a:xfrm flipH="1">
              <a:off x="4258491" y="3050806"/>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7">
              <a:extLst>
                <a:ext uri="{FF2B5EF4-FFF2-40B4-BE49-F238E27FC236}">
                  <a16:creationId xmlns:a16="http://schemas.microsoft.com/office/drawing/2014/main" id="{7940ACCF-E252-4D87-A45E-889B8E09A0E6}"/>
                </a:ext>
              </a:extLst>
            </p:cNvPr>
            <p:cNvSpPr>
              <a:spLocks noChangeShapeType="1"/>
            </p:cNvSpPr>
            <p:nvPr/>
          </p:nvSpPr>
          <p:spPr bwMode="auto">
            <a:xfrm flipH="1">
              <a:off x="5152253" y="3060331"/>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3" name="Group 58">
              <a:extLst>
                <a:ext uri="{FF2B5EF4-FFF2-40B4-BE49-F238E27FC236}">
                  <a16:creationId xmlns:a16="http://schemas.microsoft.com/office/drawing/2014/main" id="{508133A9-EA08-4526-98A3-58F78D966B47}"/>
                </a:ext>
              </a:extLst>
            </p:cNvPr>
            <p:cNvGrpSpPr>
              <a:grpSpLocks/>
            </p:cNvGrpSpPr>
            <p:nvPr/>
          </p:nvGrpSpPr>
          <p:grpSpPr bwMode="auto">
            <a:xfrm>
              <a:off x="5464991" y="2136406"/>
              <a:ext cx="650875" cy="904875"/>
              <a:chOff x="12762" y="10336"/>
              <a:chExt cx="1027" cy="1700"/>
            </a:xfrm>
          </p:grpSpPr>
          <p:sp>
            <p:nvSpPr>
              <p:cNvPr id="54" name="Rectangle 59">
                <a:extLst>
                  <a:ext uri="{FF2B5EF4-FFF2-40B4-BE49-F238E27FC236}">
                    <a16:creationId xmlns:a16="http://schemas.microsoft.com/office/drawing/2014/main" id="{0717154E-C9C6-44D4-BC06-9068A9241CD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55" name="Rectangle 60">
                <a:extLst>
                  <a:ext uri="{FF2B5EF4-FFF2-40B4-BE49-F238E27FC236}">
                    <a16:creationId xmlns:a16="http://schemas.microsoft.com/office/drawing/2014/main" id="{7296685B-32F0-443D-B904-05186A9F7396}"/>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56" name="Line 61">
                <a:extLst>
                  <a:ext uri="{FF2B5EF4-FFF2-40B4-BE49-F238E27FC236}">
                    <a16:creationId xmlns:a16="http://schemas.microsoft.com/office/drawing/2014/main" id="{CE9A474E-88C6-4D34-863E-0D9DC564754B}"/>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62">
                <a:extLst>
                  <a:ext uri="{FF2B5EF4-FFF2-40B4-BE49-F238E27FC236}">
                    <a16:creationId xmlns:a16="http://schemas.microsoft.com/office/drawing/2014/main" id="{BBD63947-FE50-4AA0-A54B-10A4B3B56D76}"/>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63">
                <a:extLst>
                  <a:ext uri="{FF2B5EF4-FFF2-40B4-BE49-F238E27FC236}">
                    <a16:creationId xmlns:a16="http://schemas.microsoft.com/office/drawing/2014/main" id="{1242A8E2-1E9A-4E98-9C6D-1D6BC586A893}"/>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64">
                <a:extLst>
                  <a:ext uri="{FF2B5EF4-FFF2-40B4-BE49-F238E27FC236}">
                    <a16:creationId xmlns:a16="http://schemas.microsoft.com/office/drawing/2014/main" id="{2664EDD4-DF13-411B-9D96-68D2C138002E}"/>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 name="Group 65">
              <a:extLst>
                <a:ext uri="{FF2B5EF4-FFF2-40B4-BE49-F238E27FC236}">
                  <a16:creationId xmlns:a16="http://schemas.microsoft.com/office/drawing/2014/main" id="{535E1F90-5E78-4B1F-A03C-DAAD6DC9EABF}"/>
                </a:ext>
              </a:extLst>
            </p:cNvPr>
            <p:cNvGrpSpPr>
              <a:grpSpLocks/>
            </p:cNvGrpSpPr>
            <p:nvPr/>
          </p:nvGrpSpPr>
          <p:grpSpPr bwMode="auto">
            <a:xfrm>
              <a:off x="5083991" y="3153993"/>
              <a:ext cx="650875" cy="906463"/>
              <a:chOff x="12762" y="10336"/>
              <a:chExt cx="1027" cy="1700"/>
            </a:xfrm>
          </p:grpSpPr>
          <p:sp>
            <p:nvSpPr>
              <p:cNvPr id="61" name="Rectangle 66">
                <a:extLst>
                  <a:ext uri="{FF2B5EF4-FFF2-40B4-BE49-F238E27FC236}">
                    <a16:creationId xmlns:a16="http://schemas.microsoft.com/office/drawing/2014/main" id="{27D4BA14-C99C-49ED-8F00-F152138010E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2" name="Rectangle 67">
                <a:extLst>
                  <a:ext uri="{FF2B5EF4-FFF2-40B4-BE49-F238E27FC236}">
                    <a16:creationId xmlns:a16="http://schemas.microsoft.com/office/drawing/2014/main" id="{760F66C0-3AE7-49D2-B7BF-15486173C9B7}"/>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3" name="Line 68">
                <a:extLst>
                  <a:ext uri="{FF2B5EF4-FFF2-40B4-BE49-F238E27FC236}">
                    <a16:creationId xmlns:a16="http://schemas.microsoft.com/office/drawing/2014/main" id="{02BCC174-E2C0-4510-8CF2-64F89797758A}"/>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69">
                <a:extLst>
                  <a:ext uri="{FF2B5EF4-FFF2-40B4-BE49-F238E27FC236}">
                    <a16:creationId xmlns:a16="http://schemas.microsoft.com/office/drawing/2014/main" id="{FDE2DB79-EB6A-4EF5-93A7-CF46D1141BF2}"/>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70">
                <a:extLst>
                  <a:ext uri="{FF2B5EF4-FFF2-40B4-BE49-F238E27FC236}">
                    <a16:creationId xmlns:a16="http://schemas.microsoft.com/office/drawing/2014/main" id="{6116B9B3-1482-453C-A91F-42319D0C1940}"/>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71">
                <a:extLst>
                  <a:ext uri="{FF2B5EF4-FFF2-40B4-BE49-F238E27FC236}">
                    <a16:creationId xmlns:a16="http://schemas.microsoft.com/office/drawing/2014/main" id="{5B4A5213-E82E-461E-AB99-6218FA45CD5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7" name="Oval 72">
              <a:extLst>
                <a:ext uri="{FF2B5EF4-FFF2-40B4-BE49-F238E27FC236}">
                  <a16:creationId xmlns:a16="http://schemas.microsoft.com/office/drawing/2014/main" id="{C21348F1-EF49-4994-876E-CA32A41E018B}"/>
                </a:ext>
              </a:extLst>
            </p:cNvPr>
            <p:cNvSpPr>
              <a:spLocks noChangeArrowheads="1"/>
            </p:cNvSpPr>
            <p:nvPr/>
          </p:nvSpPr>
          <p:spPr bwMode="auto">
            <a:xfrm>
              <a:off x="2305866" y="2088781"/>
              <a:ext cx="92075" cy="904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8" name="Oval 73">
              <a:extLst>
                <a:ext uri="{FF2B5EF4-FFF2-40B4-BE49-F238E27FC236}">
                  <a16:creationId xmlns:a16="http://schemas.microsoft.com/office/drawing/2014/main" id="{0B36E48C-7199-40A7-8ED5-34A9EA0D1BA7}"/>
                </a:ext>
              </a:extLst>
            </p:cNvPr>
            <p:cNvSpPr>
              <a:spLocks noChangeArrowheads="1"/>
            </p:cNvSpPr>
            <p:nvPr/>
          </p:nvSpPr>
          <p:spPr bwMode="auto">
            <a:xfrm>
              <a:off x="1362891" y="2965081"/>
              <a:ext cx="92075" cy="904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9" name="Line 74">
              <a:extLst>
                <a:ext uri="{FF2B5EF4-FFF2-40B4-BE49-F238E27FC236}">
                  <a16:creationId xmlns:a16="http://schemas.microsoft.com/office/drawing/2014/main" id="{E392973E-54B9-4F8D-9EE0-8ACE3238DC74}"/>
                </a:ext>
              </a:extLst>
            </p:cNvPr>
            <p:cNvSpPr>
              <a:spLocks noChangeShapeType="1"/>
            </p:cNvSpPr>
            <p:nvPr/>
          </p:nvSpPr>
          <p:spPr bwMode="auto">
            <a:xfrm>
              <a:off x="1880416" y="1868118"/>
              <a:ext cx="369887" cy="2524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Text Box 75">
              <a:extLst>
                <a:ext uri="{FF2B5EF4-FFF2-40B4-BE49-F238E27FC236}">
                  <a16:creationId xmlns:a16="http://schemas.microsoft.com/office/drawing/2014/main" id="{840FC2CB-7CD0-403E-8403-66E63CB39DC3}"/>
                </a:ext>
              </a:extLst>
            </p:cNvPr>
            <p:cNvSpPr txBox="1">
              <a:spLocks noChangeArrowheads="1"/>
            </p:cNvSpPr>
            <p:nvPr/>
          </p:nvSpPr>
          <p:spPr bwMode="auto">
            <a:xfrm>
              <a:off x="4256903" y="1489821"/>
              <a:ext cx="1790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dirty="0">
                  <a:latin typeface="Arial" panose="020B0604020202020204" pitchFamily="34" charset="0"/>
                </a:rPr>
                <a:t>吞吐量</a:t>
              </a:r>
              <a:r>
                <a:rPr lang="en-US" altLang="zh-CN" dirty="0">
                  <a:latin typeface="Arial" panose="020B0604020202020204" pitchFamily="34" charset="0"/>
                </a:rPr>
                <a:t>:</a:t>
              </a:r>
              <a:r>
                <a:rPr lang="en-US" altLang="zh-CN" sz="2400" dirty="0">
                  <a:solidFill>
                    <a:srgbClr val="FF0000"/>
                  </a:solidFill>
                  <a:latin typeface="Symbol" panose="05050102010706020507" pitchFamily="18" charset="2"/>
                </a:rPr>
                <a:t> </a:t>
              </a:r>
              <a:r>
                <a:rPr lang="en-US" altLang="zh-CN" sz="2400" dirty="0">
                  <a:solidFill>
                    <a:srgbClr val="CC0000"/>
                  </a:solidFill>
                  <a:latin typeface="Symbol" panose="05050102010706020507" pitchFamily="18" charset="2"/>
                </a:rPr>
                <a:t>l</a:t>
              </a:r>
              <a:r>
                <a:rPr lang="en-US" altLang="zh-CN" sz="2400" baseline="-25000" dirty="0">
                  <a:solidFill>
                    <a:srgbClr val="CC0000"/>
                  </a:solidFill>
                  <a:latin typeface="Arial" panose="020B0604020202020204" pitchFamily="34" charset="0"/>
                </a:rPr>
                <a:t>out</a:t>
              </a:r>
              <a:endParaRPr lang="en-US" altLang="zh-CN" sz="2400" dirty="0">
                <a:solidFill>
                  <a:srgbClr val="CC0000"/>
                </a:solidFill>
                <a:latin typeface="Comic Sans MS" panose="030F0702030302020204" pitchFamily="66" charset="0"/>
              </a:endParaRPr>
            </a:p>
          </p:txBody>
        </p:sp>
        <p:sp>
          <p:nvSpPr>
            <p:cNvPr id="71" name="Line 76">
              <a:extLst>
                <a:ext uri="{FF2B5EF4-FFF2-40B4-BE49-F238E27FC236}">
                  <a16:creationId xmlns:a16="http://schemas.microsoft.com/office/drawing/2014/main" id="{4F2B309F-3885-4C6A-A495-3947A98B9CC6}"/>
                </a:ext>
              </a:extLst>
            </p:cNvPr>
            <p:cNvSpPr>
              <a:spLocks noChangeShapeType="1"/>
            </p:cNvSpPr>
            <p:nvPr/>
          </p:nvSpPr>
          <p:spPr bwMode="auto">
            <a:xfrm>
              <a:off x="5182416" y="1955431"/>
              <a:ext cx="528637" cy="2413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77">
              <a:extLst>
                <a:ext uri="{FF2B5EF4-FFF2-40B4-BE49-F238E27FC236}">
                  <a16:creationId xmlns:a16="http://schemas.microsoft.com/office/drawing/2014/main" id="{3D416BC2-257C-4BDA-8563-9F067F537A3B}"/>
                </a:ext>
              </a:extLst>
            </p:cNvPr>
            <p:cNvSpPr>
              <a:spLocks noChangeShapeType="1"/>
            </p:cNvSpPr>
            <p:nvPr/>
          </p:nvSpPr>
          <p:spPr bwMode="auto">
            <a:xfrm flipH="1">
              <a:off x="3934641" y="2989167"/>
              <a:ext cx="225478" cy="2616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3" name="Group 78">
              <a:extLst>
                <a:ext uri="{FF2B5EF4-FFF2-40B4-BE49-F238E27FC236}">
                  <a16:creationId xmlns:a16="http://schemas.microsoft.com/office/drawing/2014/main" id="{A307D769-4079-4EF5-92DA-079FB1A3C805}"/>
                </a:ext>
              </a:extLst>
            </p:cNvPr>
            <p:cNvGrpSpPr>
              <a:grpSpLocks/>
            </p:cNvGrpSpPr>
            <p:nvPr/>
          </p:nvGrpSpPr>
          <p:grpSpPr bwMode="auto">
            <a:xfrm>
              <a:off x="3506016" y="3317506"/>
              <a:ext cx="673100" cy="266700"/>
              <a:chOff x="10808" y="10250"/>
              <a:chExt cx="1018" cy="403"/>
            </a:xfrm>
          </p:grpSpPr>
          <p:sp>
            <p:nvSpPr>
              <p:cNvPr id="74" name="Rectangle 79">
                <a:extLst>
                  <a:ext uri="{FF2B5EF4-FFF2-40B4-BE49-F238E27FC236}">
                    <a16:creationId xmlns:a16="http://schemas.microsoft.com/office/drawing/2014/main" id="{DE556156-95E6-431A-9658-A57E9A30CB52}"/>
                  </a:ext>
                </a:extLst>
              </p:cNvPr>
              <p:cNvSpPr>
                <a:spLocks noChangeArrowheads="1"/>
              </p:cNvSpPr>
              <p:nvPr/>
            </p:nvSpPr>
            <p:spPr bwMode="auto">
              <a:xfrm>
                <a:off x="10832" y="10250"/>
                <a:ext cx="994" cy="403"/>
              </a:xfrm>
              <a:prstGeom prst="rect">
                <a:avLst/>
              </a:prstGeom>
              <a:gradFill rotWithShape="1">
                <a:gsLst>
                  <a:gs pos="0">
                    <a:srgbClr val="969696"/>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5" name="Freeform 80">
                <a:extLst>
                  <a:ext uri="{FF2B5EF4-FFF2-40B4-BE49-F238E27FC236}">
                    <a16:creationId xmlns:a16="http://schemas.microsoft.com/office/drawing/2014/main" id="{1F36E9F9-DCDB-4F97-ACBD-E1D45BFBF812}"/>
                  </a:ext>
                </a:extLst>
              </p:cNvPr>
              <p:cNvSpPr>
                <a:spLocks/>
              </p:cNvSpPr>
              <p:nvPr/>
            </p:nvSpPr>
            <p:spPr bwMode="auto">
              <a:xfrm>
                <a:off x="11198" y="10272"/>
                <a:ext cx="610" cy="374"/>
              </a:xfrm>
              <a:custGeom>
                <a:avLst/>
                <a:gdLst>
                  <a:gd name="T0" fmla="*/ 0 w 855"/>
                  <a:gd name="T1" fmla="*/ 0 h 390"/>
                  <a:gd name="T2" fmla="*/ 221 w 855"/>
                  <a:gd name="T3" fmla="*/ 0 h 390"/>
                  <a:gd name="T4" fmla="*/ 221 w 855"/>
                  <a:gd name="T5" fmla="*/ 330 h 390"/>
                  <a:gd name="T6" fmla="*/ 11 w 855"/>
                  <a:gd name="T7" fmla="*/ 330 h 3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5" h="390">
                    <a:moveTo>
                      <a:pt x="0" y="0"/>
                    </a:moveTo>
                    <a:lnTo>
                      <a:pt x="855" y="0"/>
                    </a:lnTo>
                    <a:lnTo>
                      <a:pt x="855" y="390"/>
                    </a:lnTo>
                    <a:lnTo>
                      <a:pt x="45" y="39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 name="Line 81">
                <a:extLst>
                  <a:ext uri="{FF2B5EF4-FFF2-40B4-BE49-F238E27FC236}">
                    <a16:creationId xmlns:a16="http://schemas.microsoft.com/office/drawing/2014/main" id="{FE6326E4-CDE9-48D6-B2BB-03BD852F7F46}"/>
                  </a:ext>
                </a:extLst>
              </p:cNvPr>
              <p:cNvSpPr>
                <a:spLocks noChangeShapeType="1"/>
              </p:cNvSpPr>
              <p:nvPr/>
            </p:nvSpPr>
            <p:spPr bwMode="auto">
              <a:xfrm>
                <a:off x="10808" y="10272"/>
                <a:ext cx="390"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82">
                <a:extLst>
                  <a:ext uri="{FF2B5EF4-FFF2-40B4-BE49-F238E27FC236}">
                    <a16:creationId xmlns:a16="http://schemas.microsoft.com/office/drawing/2014/main" id="{D384ED6B-A3FA-4C7E-BE57-0DC8D70564C1}"/>
                  </a:ext>
                </a:extLst>
              </p:cNvPr>
              <p:cNvSpPr>
                <a:spLocks noChangeShapeType="1"/>
              </p:cNvSpPr>
              <p:nvPr/>
            </p:nvSpPr>
            <p:spPr bwMode="auto">
              <a:xfrm>
                <a:off x="10830" y="10646"/>
                <a:ext cx="387" cy="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83">
                <a:extLst>
                  <a:ext uri="{FF2B5EF4-FFF2-40B4-BE49-F238E27FC236}">
                    <a16:creationId xmlns:a16="http://schemas.microsoft.com/office/drawing/2014/main" id="{076F46B4-0A8A-4FF4-8715-9C9F972A3129}"/>
                  </a:ext>
                </a:extLst>
              </p:cNvPr>
              <p:cNvSpPr>
                <a:spLocks noChangeShapeType="1"/>
              </p:cNvSpPr>
              <p:nvPr/>
            </p:nvSpPr>
            <p:spPr bwMode="auto">
              <a:xfrm>
                <a:off x="11744"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84">
                <a:extLst>
                  <a:ext uri="{FF2B5EF4-FFF2-40B4-BE49-F238E27FC236}">
                    <a16:creationId xmlns:a16="http://schemas.microsoft.com/office/drawing/2014/main" id="{2AC235DD-3482-4C7D-A048-C61A2411C629}"/>
                  </a:ext>
                </a:extLst>
              </p:cNvPr>
              <p:cNvSpPr>
                <a:spLocks noChangeShapeType="1"/>
              </p:cNvSpPr>
              <p:nvPr/>
            </p:nvSpPr>
            <p:spPr bwMode="auto">
              <a:xfrm>
                <a:off x="11679"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85">
                <a:extLst>
                  <a:ext uri="{FF2B5EF4-FFF2-40B4-BE49-F238E27FC236}">
                    <a16:creationId xmlns:a16="http://schemas.microsoft.com/office/drawing/2014/main" id="{040B6BFD-E45A-4C78-996D-F67F40C399B0}"/>
                  </a:ext>
                </a:extLst>
              </p:cNvPr>
              <p:cNvSpPr>
                <a:spLocks noChangeShapeType="1"/>
              </p:cNvSpPr>
              <p:nvPr/>
            </p:nvSpPr>
            <p:spPr bwMode="auto">
              <a:xfrm>
                <a:off x="11614"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86">
                <a:extLst>
                  <a:ext uri="{FF2B5EF4-FFF2-40B4-BE49-F238E27FC236}">
                    <a16:creationId xmlns:a16="http://schemas.microsoft.com/office/drawing/2014/main" id="{CA645472-379A-4762-B58F-345D4F3104B6}"/>
                  </a:ext>
                </a:extLst>
              </p:cNvPr>
              <p:cNvSpPr>
                <a:spLocks noChangeShapeType="1"/>
              </p:cNvSpPr>
              <p:nvPr/>
            </p:nvSpPr>
            <p:spPr bwMode="auto">
              <a:xfrm>
                <a:off x="11549" y="1032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87">
                <a:extLst>
                  <a:ext uri="{FF2B5EF4-FFF2-40B4-BE49-F238E27FC236}">
                    <a16:creationId xmlns:a16="http://schemas.microsoft.com/office/drawing/2014/main" id="{D0A05363-B627-4025-91FC-60D5EA0DC73F}"/>
                  </a:ext>
                </a:extLst>
              </p:cNvPr>
              <p:cNvSpPr>
                <a:spLocks noChangeShapeType="1"/>
              </p:cNvSpPr>
              <p:nvPr/>
            </p:nvSpPr>
            <p:spPr bwMode="auto">
              <a:xfrm>
                <a:off x="11484" y="10322"/>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88">
                <a:extLst>
                  <a:ext uri="{FF2B5EF4-FFF2-40B4-BE49-F238E27FC236}">
                    <a16:creationId xmlns:a16="http://schemas.microsoft.com/office/drawing/2014/main" id="{BA41DE81-FC92-4883-BB7E-C8103E517142}"/>
                  </a:ext>
                </a:extLst>
              </p:cNvPr>
              <p:cNvSpPr>
                <a:spLocks noChangeShapeType="1"/>
              </p:cNvSpPr>
              <p:nvPr/>
            </p:nvSpPr>
            <p:spPr bwMode="auto">
              <a:xfrm>
                <a:off x="11418" y="10322"/>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89">
                <a:extLst>
                  <a:ext uri="{FF2B5EF4-FFF2-40B4-BE49-F238E27FC236}">
                    <a16:creationId xmlns:a16="http://schemas.microsoft.com/office/drawing/2014/main" id="{4FF31E27-08CC-4BB3-97F4-0F8875948EA3}"/>
                  </a:ext>
                </a:extLst>
              </p:cNvPr>
              <p:cNvSpPr>
                <a:spLocks noChangeShapeType="1"/>
              </p:cNvSpPr>
              <p:nvPr/>
            </p:nvSpPr>
            <p:spPr bwMode="auto">
              <a:xfrm>
                <a:off x="10909" y="10452"/>
                <a:ext cx="417"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 name="Freeform 90">
              <a:extLst>
                <a:ext uri="{FF2B5EF4-FFF2-40B4-BE49-F238E27FC236}">
                  <a16:creationId xmlns:a16="http://schemas.microsoft.com/office/drawing/2014/main" id="{B4E2AC68-DAF8-42DF-A915-97F781916373}"/>
                </a:ext>
              </a:extLst>
            </p:cNvPr>
            <p:cNvSpPr>
              <a:spLocks/>
            </p:cNvSpPr>
            <p:nvPr/>
          </p:nvSpPr>
          <p:spPr bwMode="auto">
            <a:xfrm>
              <a:off x="1410516" y="3041281"/>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 name="Freeform 91">
              <a:extLst>
                <a:ext uri="{FF2B5EF4-FFF2-40B4-BE49-F238E27FC236}">
                  <a16:creationId xmlns:a16="http://schemas.microsoft.com/office/drawing/2014/main" id="{68CB734C-0490-49FD-955E-79B2E56CE759}"/>
                </a:ext>
              </a:extLst>
            </p:cNvPr>
            <p:cNvSpPr>
              <a:spLocks/>
            </p:cNvSpPr>
            <p:nvPr/>
          </p:nvSpPr>
          <p:spPr bwMode="auto">
            <a:xfrm>
              <a:off x="2353491" y="2136406"/>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 name="Group 127">
              <a:extLst>
                <a:ext uri="{FF2B5EF4-FFF2-40B4-BE49-F238E27FC236}">
                  <a16:creationId xmlns:a16="http://schemas.microsoft.com/office/drawing/2014/main" id="{67FFBBB5-0343-46BA-B3FA-506AEC97977E}"/>
                </a:ext>
              </a:extLst>
            </p:cNvPr>
            <p:cNvGrpSpPr>
              <a:grpSpLocks/>
            </p:cNvGrpSpPr>
            <p:nvPr/>
          </p:nvGrpSpPr>
          <p:grpSpPr bwMode="auto">
            <a:xfrm>
              <a:off x="6203178" y="2758706"/>
              <a:ext cx="231775" cy="441325"/>
              <a:chOff x="4140" y="429"/>
              <a:chExt cx="1425" cy="2396"/>
            </a:xfrm>
          </p:grpSpPr>
          <p:sp>
            <p:nvSpPr>
              <p:cNvPr id="88" name="Freeform 128">
                <a:extLst>
                  <a:ext uri="{FF2B5EF4-FFF2-40B4-BE49-F238E27FC236}">
                    <a16:creationId xmlns:a16="http://schemas.microsoft.com/office/drawing/2014/main" id="{DF258D22-9D12-4A10-ABAE-18B885D447C5}"/>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Rectangle 129">
                <a:extLst>
                  <a:ext uri="{FF2B5EF4-FFF2-40B4-BE49-F238E27FC236}">
                    <a16:creationId xmlns:a16="http://schemas.microsoft.com/office/drawing/2014/main" id="{6B669472-1CDD-486E-B49C-CD88BB48381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0" name="Freeform 130">
                <a:extLst>
                  <a:ext uri="{FF2B5EF4-FFF2-40B4-BE49-F238E27FC236}">
                    <a16:creationId xmlns:a16="http://schemas.microsoft.com/office/drawing/2014/main" id="{3681A12C-8391-4898-BB2B-732A185004D6}"/>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Freeform 131">
                <a:extLst>
                  <a:ext uri="{FF2B5EF4-FFF2-40B4-BE49-F238E27FC236}">
                    <a16:creationId xmlns:a16="http://schemas.microsoft.com/office/drawing/2014/main" id="{84852E24-5798-4D2B-9D3F-D69CE91BEDA5}"/>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Rectangle 132">
                <a:extLst>
                  <a:ext uri="{FF2B5EF4-FFF2-40B4-BE49-F238E27FC236}">
                    <a16:creationId xmlns:a16="http://schemas.microsoft.com/office/drawing/2014/main" id="{640A90D5-D817-4D2F-BCBD-1C34B119438D}"/>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93" name="Group 133">
                <a:extLst>
                  <a:ext uri="{FF2B5EF4-FFF2-40B4-BE49-F238E27FC236}">
                    <a16:creationId xmlns:a16="http://schemas.microsoft.com/office/drawing/2014/main" id="{A4C85F57-E69E-49E6-A8F0-CFA663F03D7C}"/>
                  </a:ext>
                </a:extLst>
              </p:cNvPr>
              <p:cNvGrpSpPr>
                <a:grpSpLocks/>
              </p:cNvGrpSpPr>
              <p:nvPr/>
            </p:nvGrpSpPr>
            <p:grpSpPr bwMode="auto">
              <a:xfrm>
                <a:off x="4749" y="668"/>
                <a:ext cx="581" cy="145"/>
                <a:chOff x="614" y="2568"/>
                <a:chExt cx="725" cy="139"/>
              </a:xfrm>
            </p:grpSpPr>
            <p:sp>
              <p:nvSpPr>
                <p:cNvPr id="118" name="AutoShape 134">
                  <a:extLst>
                    <a:ext uri="{FF2B5EF4-FFF2-40B4-BE49-F238E27FC236}">
                      <a16:creationId xmlns:a16="http://schemas.microsoft.com/office/drawing/2014/main" id="{6EC2CFEC-CC2F-4A4B-8C73-C9B83A5D2828}"/>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9" name="AutoShape 135">
                  <a:extLst>
                    <a:ext uri="{FF2B5EF4-FFF2-40B4-BE49-F238E27FC236}">
                      <a16:creationId xmlns:a16="http://schemas.microsoft.com/office/drawing/2014/main" id="{EA17915B-7D7D-474E-B888-9CEBF90F4A0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4" name="Rectangle 136">
                <a:extLst>
                  <a:ext uri="{FF2B5EF4-FFF2-40B4-BE49-F238E27FC236}">
                    <a16:creationId xmlns:a16="http://schemas.microsoft.com/office/drawing/2014/main" id="{1C245040-AFD3-4E39-BF33-7A76B567156A}"/>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95" name="Group 137">
                <a:extLst>
                  <a:ext uri="{FF2B5EF4-FFF2-40B4-BE49-F238E27FC236}">
                    <a16:creationId xmlns:a16="http://schemas.microsoft.com/office/drawing/2014/main" id="{D3D565AB-F771-4270-B23F-58663456BA14}"/>
                  </a:ext>
                </a:extLst>
              </p:cNvPr>
              <p:cNvGrpSpPr>
                <a:grpSpLocks/>
              </p:cNvGrpSpPr>
              <p:nvPr/>
            </p:nvGrpSpPr>
            <p:grpSpPr bwMode="auto">
              <a:xfrm>
                <a:off x="4747" y="994"/>
                <a:ext cx="581" cy="134"/>
                <a:chOff x="614" y="2568"/>
                <a:chExt cx="725" cy="139"/>
              </a:xfrm>
            </p:grpSpPr>
            <p:sp>
              <p:nvSpPr>
                <p:cNvPr id="116" name="AutoShape 138">
                  <a:extLst>
                    <a:ext uri="{FF2B5EF4-FFF2-40B4-BE49-F238E27FC236}">
                      <a16:creationId xmlns:a16="http://schemas.microsoft.com/office/drawing/2014/main" id="{CBE3377D-4940-430E-AE2E-37DAC1C7F58E}"/>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7" name="AutoShape 139">
                  <a:extLst>
                    <a:ext uri="{FF2B5EF4-FFF2-40B4-BE49-F238E27FC236}">
                      <a16:creationId xmlns:a16="http://schemas.microsoft.com/office/drawing/2014/main" id="{34E30CC2-CE03-4275-A295-83AA3248296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6" name="Rectangle 140">
                <a:extLst>
                  <a:ext uri="{FF2B5EF4-FFF2-40B4-BE49-F238E27FC236}">
                    <a16:creationId xmlns:a16="http://schemas.microsoft.com/office/drawing/2014/main" id="{B2CCE2AE-E56D-44CB-ADCB-219665F0F0A0}"/>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7" name="Rectangle 141">
                <a:extLst>
                  <a:ext uri="{FF2B5EF4-FFF2-40B4-BE49-F238E27FC236}">
                    <a16:creationId xmlns:a16="http://schemas.microsoft.com/office/drawing/2014/main" id="{9E7BAF86-0591-4344-9144-4B0983BAA1CB}"/>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98" name="Group 142">
                <a:extLst>
                  <a:ext uri="{FF2B5EF4-FFF2-40B4-BE49-F238E27FC236}">
                    <a16:creationId xmlns:a16="http://schemas.microsoft.com/office/drawing/2014/main" id="{2F38F1E1-ABB1-421E-AD05-D443C8E442D2}"/>
                  </a:ext>
                </a:extLst>
              </p:cNvPr>
              <p:cNvGrpSpPr>
                <a:grpSpLocks/>
              </p:cNvGrpSpPr>
              <p:nvPr/>
            </p:nvGrpSpPr>
            <p:grpSpPr bwMode="auto">
              <a:xfrm>
                <a:off x="4735" y="1627"/>
                <a:ext cx="582" cy="151"/>
                <a:chOff x="614" y="2568"/>
                <a:chExt cx="725" cy="139"/>
              </a:xfrm>
            </p:grpSpPr>
            <p:sp>
              <p:nvSpPr>
                <p:cNvPr id="114" name="AutoShape 143">
                  <a:extLst>
                    <a:ext uri="{FF2B5EF4-FFF2-40B4-BE49-F238E27FC236}">
                      <a16:creationId xmlns:a16="http://schemas.microsoft.com/office/drawing/2014/main" id="{13002B48-F4FD-4C10-92FA-473DA3C7B171}"/>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5" name="AutoShape 144">
                  <a:extLst>
                    <a:ext uri="{FF2B5EF4-FFF2-40B4-BE49-F238E27FC236}">
                      <a16:creationId xmlns:a16="http://schemas.microsoft.com/office/drawing/2014/main" id="{D7CF3DF7-97DE-4F0C-B883-F08771F7D843}"/>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9" name="Freeform 145">
                <a:extLst>
                  <a:ext uri="{FF2B5EF4-FFF2-40B4-BE49-F238E27FC236}">
                    <a16:creationId xmlns:a16="http://schemas.microsoft.com/office/drawing/2014/main" id="{85E6292A-7A63-40C0-8042-296B189C217D}"/>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0" name="Group 146">
                <a:extLst>
                  <a:ext uri="{FF2B5EF4-FFF2-40B4-BE49-F238E27FC236}">
                    <a16:creationId xmlns:a16="http://schemas.microsoft.com/office/drawing/2014/main" id="{72949625-D97E-4FDF-B274-F61AD83DD046}"/>
                  </a:ext>
                </a:extLst>
              </p:cNvPr>
              <p:cNvGrpSpPr>
                <a:grpSpLocks/>
              </p:cNvGrpSpPr>
              <p:nvPr/>
            </p:nvGrpSpPr>
            <p:grpSpPr bwMode="auto">
              <a:xfrm>
                <a:off x="4739" y="1327"/>
                <a:ext cx="582" cy="139"/>
                <a:chOff x="614" y="2568"/>
                <a:chExt cx="725" cy="139"/>
              </a:xfrm>
            </p:grpSpPr>
            <p:sp>
              <p:nvSpPr>
                <p:cNvPr id="112" name="AutoShape 147">
                  <a:extLst>
                    <a:ext uri="{FF2B5EF4-FFF2-40B4-BE49-F238E27FC236}">
                      <a16:creationId xmlns:a16="http://schemas.microsoft.com/office/drawing/2014/main" id="{782890BB-FADB-4793-BA0C-2E1DAD5B1899}"/>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3" name="AutoShape 148">
                  <a:extLst>
                    <a:ext uri="{FF2B5EF4-FFF2-40B4-BE49-F238E27FC236}">
                      <a16:creationId xmlns:a16="http://schemas.microsoft.com/office/drawing/2014/main" id="{CE40CAEF-DDCC-4FA0-BA9A-E462D8132FD7}"/>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1" name="Rectangle 149">
                <a:extLst>
                  <a:ext uri="{FF2B5EF4-FFF2-40B4-BE49-F238E27FC236}">
                    <a16:creationId xmlns:a16="http://schemas.microsoft.com/office/drawing/2014/main" id="{650B7A89-4F04-4B0B-AA06-D340B0DAC3F3}"/>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2" name="Freeform 150">
                <a:extLst>
                  <a:ext uri="{FF2B5EF4-FFF2-40B4-BE49-F238E27FC236}">
                    <a16:creationId xmlns:a16="http://schemas.microsoft.com/office/drawing/2014/main" id="{88A61FAF-2ABE-4E45-BABF-F36D0A1BA31A}"/>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Freeform 151">
                <a:extLst>
                  <a:ext uri="{FF2B5EF4-FFF2-40B4-BE49-F238E27FC236}">
                    <a16:creationId xmlns:a16="http://schemas.microsoft.com/office/drawing/2014/main" id="{1F15596F-2268-482F-BBE5-E6F571AAFFB9}"/>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Oval 152">
                <a:extLst>
                  <a:ext uri="{FF2B5EF4-FFF2-40B4-BE49-F238E27FC236}">
                    <a16:creationId xmlns:a16="http://schemas.microsoft.com/office/drawing/2014/main" id="{8761CE44-0F90-4290-AB43-AEBE51E27C2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5" name="Freeform 153">
                <a:extLst>
                  <a:ext uri="{FF2B5EF4-FFF2-40B4-BE49-F238E27FC236}">
                    <a16:creationId xmlns:a16="http://schemas.microsoft.com/office/drawing/2014/main" id="{59E0F9B1-11F5-4047-936B-B037169037BF}"/>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AutoShape 154">
                <a:extLst>
                  <a:ext uri="{FF2B5EF4-FFF2-40B4-BE49-F238E27FC236}">
                    <a16:creationId xmlns:a16="http://schemas.microsoft.com/office/drawing/2014/main" id="{2EFA95A4-7895-46D0-80A8-EF725D4012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7" name="AutoShape 155">
                <a:extLst>
                  <a:ext uri="{FF2B5EF4-FFF2-40B4-BE49-F238E27FC236}">
                    <a16:creationId xmlns:a16="http://schemas.microsoft.com/office/drawing/2014/main" id="{FF0105D2-66B4-4BAD-915B-8DCE62EE3A17}"/>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8" name="Oval 156">
                <a:extLst>
                  <a:ext uri="{FF2B5EF4-FFF2-40B4-BE49-F238E27FC236}">
                    <a16:creationId xmlns:a16="http://schemas.microsoft.com/office/drawing/2014/main" id="{B773462F-3A52-421A-834A-410C8597B6D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9" name="Oval 157">
                <a:extLst>
                  <a:ext uri="{FF2B5EF4-FFF2-40B4-BE49-F238E27FC236}">
                    <a16:creationId xmlns:a16="http://schemas.microsoft.com/office/drawing/2014/main" id="{7EFF6D2B-605A-437E-94DB-81DEB765E63A}"/>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110" name="Oval 158">
                <a:extLst>
                  <a:ext uri="{FF2B5EF4-FFF2-40B4-BE49-F238E27FC236}">
                    <a16:creationId xmlns:a16="http://schemas.microsoft.com/office/drawing/2014/main" id="{B74258F9-BC93-468F-B8A3-0BFB0C2469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1" name="Rectangle 159">
                <a:extLst>
                  <a:ext uri="{FF2B5EF4-FFF2-40B4-BE49-F238E27FC236}">
                    <a16:creationId xmlns:a16="http://schemas.microsoft.com/office/drawing/2014/main" id="{1DE5BD86-DF8A-4C41-9C96-9CC23DA3C1F8}"/>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20" name="Group 160">
              <a:extLst>
                <a:ext uri="{FF2B5EF4-FFF2-40B4-BE49-F238E27FC236}">
                  <a16:creationId xmlns:a16="http://schemas.microsoft.com/office/drawing/2014/main" id="{F9650450-BA3B-405F-A4A6-67197AE7EAD4}"/>
                </a:ext>
              </a:extLst>
            </p:cNvPr>
            <p:cNvGrpSpPr>
              <a:grpSpLocks/>
            </p:cNvGrpSpPr>
            <p:nvPr/>
          </p:nvGrpSpPr>
          <p:grpSpPr bwMode="auto">
            <a:xfrm>
              <a:off x="523103" y="3649293"/>
              <a:ext cx="525463" cy="434975"/>
              <a:chOff x="-44" y="1473"/>
              <a:chExt cx="981" cy="1105"/>
            </a:xfrm>
          </p:grpSpPr>
          <p:pic>
            <p:nvPicPr>
              <p:cNvPr id="121" name="Picture 161" descr="desktop_computer_stylized_medium">
                <a:extLst>
                  <a:ext uri="{FF2B5EF4-FFF2-40B4-BE49-F238E27FC236}">
                    <a16:creationId xmlns:a16="http://schemas.microsoft.com/office/drawing/2014/main" id="{11E1E733-5965-4C6E-BA67-A7E034E34D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162">
                <a:extLst>
                  <a:ext uri="{FF2B5EF4-FFF2-40B4-BE49-F238E27FC236}">
                    <a16:creationId xmlns:a16="http://schemas.microsoft.com/office/drawing/2014/main" id="{F67F5FB9-9ADF-46BA-843C-3B0EB3863170}"/>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23" name="Group 163">
              <a:extLst>
                <a:ext uri="{FF2B5EF4-FFF2-40B4-BE49-F238E27FC236}">
                  <a16:creationId xmlns:a16="http://schemas.microsoft.com/office/drawing/2014/main" id="{FEA1D4D9-1F5D-4989-A680-CED507D337D4}"/>
                </a:ext>
              </a:extLst>
            </p:cNvPr>
            <p:cNvGrpSpPr>
              <a:grpSpLocks/>
            </p:cNvGrpSpPr>
            <p:nvPr/>
          </p:nvGrpSpPr>
          <p:grpSpPr bwMode="auto">
            <a:xfrm>
              <a:off x="5885678" y="3723906"/>
              <a:ext cx="231775" cy="441325"/>
              <a:chOff x="4140" y="429"/>
              <a:chExt cx="1425" cy="2396"/>
            </a:xfrm>
          </p:grpSpPr>
          <p:sp>
            <p:nvSpPr>
              <p:cNvPr id="124" name="Freeform 164">
                <a:extLst>
                  <a:ext uri="{FF2B5EF4-FFF2-40B4-BE49-F238E27FC236}">
                    <a16:creationId xmlns:a16="http://schemas.microsoft.com/office/drawing/2014/main" id="{051B3367-045A-48CC-B51A-0455E2EF5B71}"/>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 name="Rectangle 165">
                <a:extLst>
                  <a:ext uri="{FF2B5EF4-FFF2-40B4-BE49-F238E27FC236}">
                    <a16:creationId xmlns:a16="http://schemas.microsoft.com/office/drawing/2014/main" id="{323C461B-83B8-4A38-93D0-01BACD94B39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26" name="Freeform 166">
                <a:extLst>
                  <a:ext uri="{FF2B5EF4-FFF2-40B4-BE49-F238E27FC236}">
                    <a16:creationId xmlns:a16="http://schemas.microsoft.com/office/drawing/2014/main" id="{4ED18A1F-CB4B-497A-BA90-CA350997C6FB}"/>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 name="Freeform 167">
                <a:extLst>
                  <a:ext uri="{FF2B5EF4-FFF2-40B4-BE49-F238E27FC236}">
                    <a16:creationId xmlns:a16="http://schemas.microsoft.com/office/drawing/2014/main" id="{063D974A-2563-4DEA-9BB4-58E686CF5914}"/>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 name="Rectangle 168">
                <a:extLst>
                  <a:ext uri="{FF2B5EF4-FFF2-40B4-BE49-F238E27FC236}">
                    <a16:creationId xmlns:a16="http://schemas.microsoft.com/office/drawing/2014/main" id="{774AE741-C437-44BB-B79F-75551F55C0D3}"/>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29" name="Group 169">
                <a:extLst>
                  <a:ext uri="{FF2B5EF4-FFF2-40B4-BE49-F238E27FC236}">
                    <a16:creationId xmlns:a16="http://schemas.microsoft.com/office/drawing/2014/main" id="{A96666C8-DF0F-42E4-AC85-FE792C909222}"/>
                  </a:ext>
                </a:extLst>
              </p:cNvPr>
              <p:cNvGrpSpPr>
                <a:grpSpLocks/>
              </p:cNvGrpSpPr>
              <p:nvPr/>
            </p:nvGrpSpPr>
            <p:grpSpPr bwMode="auto">
              <a:xfrm>
                <a:off x="4749" y="668"/>
                <a:ext cx="581" cy="145"/>
                <a:chOff x="614" y="2568"/>
                <a:chExt cx="725" cy="139"/>
              </a:xfrm>
            </p:grpSpPr>
            <p:sp>
              <p:nvSpPr>
                <p:cNvPr id="154" name="AutoShape 170">
                  <a:extLst>
                    <a:ext uri="{FF2B5EF4-FFF2-40B4-BE49-F238E27FC236}">
                      <a16:creationId xmlns:a16="http://schemas.microsoft.com/office/drawing/2014/main" id="{07A67C3B-03F2-4CE3-8BE0-F1B23CF1CA87}"/>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5" name="AutoShape 171">
                  <a:extLst>
                    <a:ext uri="{FF2B5EF4-FFF2-40B4-BE49-F238E27FC236}">
                      <a16:creationId xmlns:a16="http://schemas.microsoft.com/office/drawing/2014/main" id="{0E62CF51-444E-46D4-B1F6-DD8921D09008}"/>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0" name="Rectangle 172">
                <a:extLst>
                  <a:ext uri="{FF2B5EF4-FFF2-40B4-BE49-F238E27FC236}">
                    <a16:creationId xmlns:a16="http://schemas.microsoft.com/office/drawing/2014/main" id="{B9F821D7-7042-453B-B50C-9E5D5937AB93}"/>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31" name="Group 173">
                <a:extLst>
                  <a:ext uri="{FF2B5EF4-FFF2-40B4-BE49-F238E27FC236}">
                    <a16:creationId xmlns:a16="http://schemas.microsoft.com/office/drawing/2014/main" id="{993C1F2B-B2EF-477D-9836-1E0CA6A1D51C}"/>
                  </a:ext>
                </a:extLst>
              </p:cNvPr>
              <p:cNvGrpSpPr>
                <a:grpSpLocks/>
              </p:cNvGrpSpPr>
              <p:nvPr/>
            </p:nvGrpSpPr>
            <p:grpSpPr bwMode="auto">
              <a:xfrm>
                <a:off x="4747" y="994"/>
                <a:ext cx="581" cy="134"/>
                <a:chOff x="614" y="2568"/>
                <a:chExt cx="725" cy="139"/>
              </a:xfrm>
            </p:grpSpPr>
            <p:sp>
              <p:nvSpPr>
                <p:cNvPr id="152" name="AutoShape 174">
                  <a:extLst>
                    <a:ext uri="{FF2B5EF4-FFF2-40B4-BE49-F238E27FC236}">
                      <a16:creationId xmlns:a16="http://schemas.microsoft.com/office/drawing/2014/main" id="{5B1EBBCB-904E-43E9-BFDC-A582138E845E}"/>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3" name="AutoShape 175">
                  <a:extLst>
                    <a:ext uri="{FF2B5EF4-FFF2-40B4-BE49-F238E27FC236}">
                      <a16:creationId xmlns:a16="http://schemas.microsoft.com/office/drawing/2014/main" id="{F9760746-5278-43E0-BD15-7AA5973AD41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2" name="Rectangle 176">
                <a:extLst>
                  <a:ext uri="{FF2B5EF4-FFF2-40B4-BE49-F238E27FC236}">
                    <a16:creationId xmlns:a16="http://schemas.microsoft.com/office/drawing/2014/main" id="{6BB93551-CD71-4105-B270-71B696094442}"/>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3" name="Rectangle 177">
                <a:extLst>
                  <a:ext uri="{FF2B5EF4-FFF2-40B4-BE49-F238E27FC236}">
                    <a16:creationId xmlns:a16="http://schemas.microsoft.com/office/drawing/2014/main" id="{21FB4CDF-6A5E-4A8C-AFA8-31B46D69D0B3}"/>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34" name="Group 178">
                <a:extLst>
                  <a:ext uri="{FF2B5EF4-FFF2-40B4-BE49-F238E27FC236}">
                    <a16:creationId xmlns:a16="http://schemas.microsoft.com/office/drawing/2014/main" id="{93947442-DD7F-48EC-A6C0-A0DBAC2CE68C}"/>
                  </a:ext>
                </a:extLst>
              </p:cNvPr>
              <p:cNvGrpSpPr>
                <a:grpSpLocks/>
              </p:cNvGrpSpPr>
              <p:nvPr/>
            </p:nvGrpSpPr>
            <p:grpSpPr bwMode="auto">
              <a:xfrm>
                <a:off x="4735" y="1627"/>
                <a:ext cx="582" cy="151"/>
                <a:chOff x="614" y="2568"/>
                <a:chExt cx="725" cy="139"/>
              </a:xfrm>
            </p:grpSpPr>
            <p:sp>
              <p:nvSpPr>
                <p:cNvPr id="150" name="AutoShape 179">
                  <a:extLst>
                    <a:ext uri="{FF2B5EF4-FFF2-40B4-BE49-F238E27FC236}">
                      <a16:creationId xmlns:a16="http://schemas.microsoft.com/office/drawing/2014/main" id="{0C08777B-1E85-4991-8A84-5E6305553459}"/>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1" name="AutoShape 180">
                  <a:extLst>
                    <a:ext uri="{FF2B5EF4-FFF2-40B4-BE49-F238E27FC236}">
                      <a16:creationId xmlns:a16="http://schemas.microsoft.com/office/drawing/2014/main" id="{9F247EA5-0353-45A8-86F2-24384FAE154C}"/>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5" name="Freeform 181">
                <a:extLst>
                  <a:ext uri="{FF2B5EF4-FFF2-40B4-BE49-F238E27FC236}">
                    <a16:creationId xmlns:a16="http://schemas.microsoft.com/office/drawing/2014/main" id="{8BBC31F5-D84A-4133-9AFC-27EB95034D57}"/>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6" name="Group 182">
                <a:extLst>
                  <a:ext uri="{FF2B5EF4-FFF2-40B4-BE49-F238E27FC236}">
                    <a16:creationId xmlns:a16="http://schemas.microsoft.com/office/drawing/2014/main" id="{B2CB7B76-25C4-4F57-B3EB-C4901327380F}"/>
                  </a:ext>
                </a:extLst>
              </p:cNvPr>
              <p:cNvGrpSpPr>
                <a:grpSpLocks/>
              </p:cNvGrpSpPr>
              <p:nvPr/>
            </p:nvGrpSpPr>
            <p:grpSpPr bwMode="auto">
              <a:xfrm>
                <a:off x="4739" y="1327"/>
                <a:ext cx="582" cy="139"/>
                <a:chOff x="614" y="2568"/>
                <a:chExt cx="725" cy="139"/>
              </a:xfrm>
            </p:grpSpPr>
            <p:sp>
              <p:nvSpPr>
                <p:cNvPr id="148" name="AutoShape 183">
                  <a:extLst>
                    <a:ext uri="{FF2B5EF4-FFF2-40B4-BE49-F238E27FC236}">
                      <a16:creationId xmlns:a16="http://schemas.microsoft.com/office/drawing/2014/main" id="{F2FFEAA5-3C9D-4BCC-A14A-B1E74AD1C147}"/>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9" name="AutoShape 184">
                  <a:extLst>
                    <a:ext uri="{FF2B5EF4-FFF2-40B4-BE49-F238E27FC236}">
                      <a16:creationId xmlns:a16="http://schemas.microsoft.com/office/drawing/2014/main" id="{F9C5E41E-5F44-4F60-B2FD-B2AA9ADD7211}"/>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37" name="Rectangle 185">
                <a:extLst>
                  <a:ext uri="{FF2B5EF4-FFF2-40B4-BE49-F238E27FC236}">
                    <a16:creationId xmlns:a16="http://schemas.microsoft.com/office/drawing/2014/main" id="{B91FFB19-B815-4F85-BF5B-F560B2DA16CE}"/>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8" name="Freeform 186">
                <a:extLst>
                  <a:ext uri="{FF2B5EF4-FFF2-40B4-BE49-F238E27FC236}">
                    <a16:creationId xmlns:a16="http://schemas.microsoft.com/office/drawing/2014/main" id="{5BC99668-6019-49CC-964A-5F9A2B1848BA}"/>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Freeform 187">
                <a:extLst>
                  <a:ext uri="{FF2B5EF4-FFF2-40B4-BE49-F238E27FC236}">
                    <a16:creationId xmlns:a16="http://schemas.microsoft.com/office/drawing/2014/main" id="{896DEF3C-7562-4B9A-BE22-4B9001F1F27D}"/>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Oval 188">
                <a:extLst>
                  <a:ext uri="{FF2B5EF4-FFF2-40B4-BE49-F238E27FC236}">
                    <a16:creationId xmlns:a16="http://schemas.microsoft.com/office/drawing/2014/main" id="{6C61723B-5B85-481D-9D2F-58BD133A9E6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1" name="Freeform 189">
                <a:extLst>
                  <a:ext uri="{FF2B5EF4-FFF2-40B4-BE49-F238E27FC236}">
                    <a16:creationId xmlns:a16="http://schemas.microsoft.com/office/drawing/2014/main" id="{D6425A1C-FA77-4D52-B9D8-BC00D69B8247}"/>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AutoShape 190">
                <a:extLst>
                  <a:ext uri="{FF2B5EF4-FFF2-40B4-BE49-F238E27FC236}">
                    <a16:creationId xmlns:a16="http://schemas.microsoft.com/office/drawing/2014/main" id="{25ABBE93-3B12-4749-A26F-8593416341F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3" name="AutoShape 191">
                <a:extLst>
                  <a:ext uri="{FF2B5EF4-FFF2-40B4-BE49-F238E27FC236}">
                    <a16:creationId xmlns:a16="http://schemas.microsoft.com/office/drawing/2014/main" id="{BEC38552-FDE1-426A-A229-575C2F1E3E1A}"/>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4" name="Oval 192">
                <a:extLst>
                  <a:ext uri="{FF2B5EF4-FFF2-40B4-BE49-F238E27FC236}">
                    <a16:creationId xmlns:a16="http://schemas.microsoft.com/office/drawing/2014/main" id="{00460BA7-1E15-4E93-90FD-121B2E2CCD6D}"/>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5" name="Oval 193">
                <a:extLst>
                  <a:ext uri="{FF2B5EF4-FFF2-40B4-BE49-F238E27FC236}">
                    <a16:creationId xmlns:a16="http://schemas.microsoft.com/office/drawing/2014/main" id="{9406BEB1-8451-4D44-A6A3-34458001E712}"/>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146" name="Oval 194">
                <a:extLst>
                  <a:ext uri="{FF2B5EF4-FFF2-40B4-BE49-F238E27FC236}">
                    <a16:creationId xmlns:a16="http://schemas.microsoft.com/office/drawing/2014/main" id="{DCE4E929-2A2D-4FC6-9D02-C0DE863329E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7" name="Rectangle 195">
                <a:extLst>
                  <a:ext uri="{FF2B5EF4-FFF2-40B4-BE49-F238E27FC236}">
                    <a16:creationId xmlns:a16="http://schemas.microsoft.com/office/drawing/2014/main" id="{7A7A40F3-B4DB-4A54-84B5-7107F64989D3}"/>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sp>
        <p:nvSpPr>
          <p:cNvPr id="170" name="标题 1">
            <a:extLst>
              <a:ext uri="{FF2B5EF4-FFF2-40B4-BE49-F238E27FC236}">
                <a16:creationId xmlns:a16="http://schemas.microsoft.com/office/drawing/2014/main" id="{19596E91-EF47-4AB0-BE68-E4CE5BA8A77F}"/>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222578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9096" name="Rectangle 2">
                <a:extLst>
                  <a:ext uri="{FF2B5EF4-FFF2-40B4-BE49-F238E27FC236}">
                    <a16:creationId xmlns:a16="http://schemas.microsoft.com/office/drawing/2014/main" id="{2445CD32-9691-44CE-923B-CD2026EBD15B}"/>
                  </a:ext>
                </a:extLst>
              </p:cNvPr>
              <p:cNvSpPr>
                <a:spLocks noGrp="1" noChangeArrowheads="1"/>
              </p:cNvSpPr>
              <p:nvPr>
                <p:ph type="body" sz="half" idx="1"/>
              </p:nvPr>
            </p:nvSpPr>
            <p:spPr>
              <a:xfrm>
                <a:off x="374044" y="1383203"/>
                <a:ext cx="7958574" cy="1803446"/>
              </a:xfrm>
            </p:spPr>
            <p:txBody>
              <a:bodyPr>
                <a:normAutofit/>
              </a:bodyPr>
              <a:lstStyle/>
              <a:p>
                <a:pPr marL="266700" indent="-176213">
                  <a:lnSpc>
                    <a:spcPts val="28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 一台路由器，有限缓存</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marL="266700" indent="-176213">
                  <a:lnSpc>
                    <a:spcPts val="28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 发送端重传超时的报文分组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ts val="28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应用层输入</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应用层输出：</a:t>
                </a: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m:rPr>
                            <m:nor/>
                          </m:rPr>
                          <a:rPr lang="en-US" altLang="zh-CN" sz="2000" dirty="0">
                            <a:latin typeface="Symbol" charset="0"/>
                            <a:ea typeface="ＭＳ Ｐゴシック" charset="0"/>
                          </a:rPr>
                          <m:t>l</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𝑖𝑛</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m:rPr>
                            <m:nor/>
                          </m:rPr>
                          <a:rPr lang="en-US" altLang="zh-CN" sz="2000" dirty="0">
                            <a:latin typeface="Symbol" charset="0"/>
                            <a:ea typeface="ＭＳ Ｐゴシック" charset="0"/>
                          </a:rPr>
                          <m:t>l</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𝑜𝑢𝑡</m:t>
                        </m:r>
                      </m:sub>
                    </m:sSub>
                  </m:oMath>
                </a14:m>
                <a:endParaRPr lang="en-US" altLang="zh-CN" sz="2000" baseline="-25000" dirty="0">
                  <a:latin typeface="Arial" charset="0"/>
                  <a:ea typeface="ＭＳ Ｐゴシック" charset="0"/>
                </a:endParaRPr>
              </a:p>
              <a:p>
                <a:pPr lvl="1">
                  <a:lnSpc>
                    <a:spcPts val="28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传输层输入包括重传报文分组：</a:t>
                </a:r>
                <a14:m>
                  <m:oMath xmlns:m="http://schemas.openxmlformats.org/officeDocument/2006/math">
                    <m:sSubSup>
                      <m:sSubSup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SupPr>
                      <m:e>
                        <m:r>
                          <m:rPr>
                            <m:nor/>
                          </m:rPr>
                          <a:rPr lang="en-US" altLang="zh-CN" sz="2000" dirty="0">
                            <a:latin typeface="Symbol" charset="0"/>
                            <a:ea typeface="ＭＳ Ｐゴシック" charset="0"/>
                          </a:rPr>
                          <m:t>l</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𝑖𝑛</m:t>
                        </m:r>
                      </m:sub>
                      <m:sup>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m:rPr>
                            <m:nor/>
                          </m:rPr>
                          <a:rPr lang="en-US" altLang="zh-CN" sz="2000" dirty="0">
                            <a:latin typeface="Symbol" charset="0"/>
                            <a:ea typeface="ＭＳ Ｐゴシック" charset="0"/>
                          </a:rPr>
                          <m:t>l</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𝑖𝑛</m:t>
                        </m:r>
                      </m:sub>
                    </m:sSub>
                  </m:oMath>
                </a14:m>
                <a:endParaRPr lang="en-US" sz="2000" dirty="0">
                  <a:ea typeface="ＭＳ Ｐゴシック" charset="0"/>
                </a:endParaRPr>
              </a:p>
              <a:p>
                <a:pPr>
                  <a:buFont typeface="Wingdings" charset="0"/>
                  <a:buChar char="v"/>
                  <a:defRPr/>
                </a:pPr>
                <a:endParaRPr lang="en-US" dirty="0">
                  <a:ea typeface="ＭＳ Ｐゴシック" charset="0"/>
                  <a:cs typeface="+mn-cs"/>
                </a:endParaRPr>
              </a:p>
              <a:p>
                <a:pPr>
                  <a:buFont typeface="Wingdings" charset="0"/>
                  <a:buChar char="v"/>
                  <a:defRPr/>
                </a:pPr>
                <a:endParaRPr lang="en-US" dirty="0">
                  <a:ea typeface="ＭＳ Ｐゴシック" charset="0"/>
                  <a:cs typeface="+mn-cs"/>
                </a:endParaRPr>
              </a:p>
            </p:txBody>
          </p:sp>
        </mc:Choice>
        <mc:Fallback xmlns="">
          <p:sp>
            <p:nvSpPr>
              <p:cNvPr id="89096" name="Rectangle 2">
                <a:extLst>
                  <a:ext uri="{FF2B5EF4-FFF2-40B4-BE49-F238E27FC236}">
                    <a16:creationId xmlns:a16="http://schemas.microsoft.com/office/drawing/2014/main" id="{2445CD32-9691-44CE-923B-CD2026EBD15B}"/>
                  </a:ext>
                </a:extLst>
              </p:cNvPr>
              <p:cNvSpPr>
                <a:spLocks noGrp="1" noRot="1" noChangeAspect="1" noMove="1" noResize="1" noEditPoints="1" noAdjustHandles="1" noChangeArrowheads="1" noChangeShapeType="1" noTextEdit="1"/>
              </p:cNvSpPr>
              <p:nvPr>
                <p:ph type="body" sz="half" idx="1"/>
              </p:nvPr>
            </p:nvSpPr>
            <p:spPr>
              <a:xfrm>
                <a:off x="374044" y="1383203"/>
                <a:ext cx="7958574" cy="1803446"/>
              </a:xfrm>
              <a:blipFill>
                <a:blip r:embed="rId3"/>
                <a:stretch>
                  <a:fillRect t="-3716"/>
                </a:stretch>
              </a:blipFill>
            </p:spPr>
            <p:txBody>
              <a:bodyPr/>
              <a:lstStyle/>
              <a:p>
                <a:r>
                  <a:rPr lang="zh-CN" altLang="en-US">
                    <a:noFill/>
                  </a:rPr>
                  <a:t> </a:t>
                </a:r>
              </a:p>
            </p:txBody>
          </p:sp>
        </mc:Fallback>
      </mc:AlternateContent>
      <p:sp>
        <p:nvSpPr>
          <p:cNvPr id="162" name="矩形 161">
            <a:extLst>
              <a:ext uri="{FF2B5EF4-FFF2-40B4-BE49-F238E27FC236}">
                <a16:creationId xmlns:a16="http://schemas.microsoft.com/office/drawing/2014/main" id="{A0DFF15C-A8E2-4009-B925-EDAF35231A0A}"/>
              </a:ext>
            </a:extLst>
          </p:cNvPr>
          <p:cNvSpPr/>
          <p:nvPr/>
        </p:nvSpPr>
        <p:spPr>
          <a:xfrm>
            <a:off x="374044" y="727174"/>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65" name="标题 1">
            <a:extLst>
              <a:ext uri="{FF2B5EF4-FFF2-40B4-BE49-F238E27FC236}">
                <a16:creationId xmlns:a16="http://schemas.microsoft.com/office/drawing/2014/main" id="{54B5A12E-E0AD-497B-92BB-7DF41E83A732}"/>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组合 3">
            <a:extLst>
              <a:ext uri="{FF2B5EF4-FFF2-40B4-BE49-F238E27FC236}">
                <a16:creationId xmlns:a16="http://schemas.microsoft.com/office/drawing/2014/main" id="{75C8CEB5-6B70-46A5-92ED-A7BF693D23F9}"/>
              </a:ext>
            </a:extLst>
          </p:cNvPr>
          <p:cNvGrpSpPr/>
          <p:nvPr/>
        </p:nvGrpSpPr>
        <p:grpSpPr>
          <a:xfrm>
            <a:off x="837280" y="3186649"/>
            <a:ext cx="7248459" cy="2628506"/>
            <a:chOff x="504891" y="3300807"/>
            <a:chExt cx="7669147" cy="2881312"/>
          </a:xfrm>
        </p:grpSpPr>
        <p:sp>
          <p:nvSpPr>
            <p:cNvPr id="106499" name="Freeform 247">
              <a:extLst>
                <a:ext uri="{FF2B5EF4-FFF2-40B4-BE49-F238E27FC236}">
                  <a16:creationId xmlns:a16="http://schemas.microsoft.com/office/drawing/2014/main" id="{AD17E024-DA37-444E-BB2B-C08635D41483}"/>
                </a:ext>
              </a:extLst>
            </p:cNvPr>
            <p:cNvSpPr>
              <a:spLocks/>
            </p:cNvSpPr>
            <p:nvPr/>
          </p:nvSpPr>
          <p:spPr bwMode="auto">
            <a:xfrm flipH="1">
              <a:off x="2111375" y="3338907"/>
              <a:ext cx="250825" cy="1201737"/>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00" name="Group 322">
              <a:extLst>
                <a:ext uri="{FF2B5EF4-FFF2-40B4-BE49-F238E27FC236}">
                  <a16:creationId xmlns:a16="http://schemas.microsoft.com/office/drawing/2014/main" id="{9A7998E7-7DEE-41A0-8A55-B6201410C0E6}"/>
                </a:ext>
              </a:extLst>
            </p:cNvPr>
            <p:cNvGrpSpPr>
              <a:grpSpLocks/>
            </p:cNvGrpSpPr>
            <p:nvPr/>
          </p:nvGrpSpPr>
          <p:grpSpPr bwMode="auto">
            <a:xfrm>
              <a:off x="1716088" y="4299344"/>
              <a:ext cx="525462" cy="434975"/>
              <a:chOff x="-44" y="1473"/>
              <a:chExt cx="981" cy="1105"/>
            </a:xfrm>
          </p:grpSpPr>
          <p:pic>
            <p:nvPicPr>
              <p:cNvPr id="106653" name="Picture 323" descr="desktop_computer_stylized_medium">
                <a:extLst>
                  <a:ext uri="{FF2B5EF4-FFF2-40B4-BE49-F238E27FC236}">
                    <a16:creationId xmlns:a16="http://schemas.microsoft.com/office/drawing/2014/main" id="{4B88E7BC-5B3E-42BC-B044-9AAFE1156FF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654" name="Freeform 324">
                <a:extLst>
                  <a:ext uri="{FF2B5EF4-FFF2-40B4-BE49-F238E27FC236}">
                    <a16:creationId xmlns:a16="http://schemas.microsoft.com/office/drawing/2014/main" id="{F4EB014E-C014-4825-954C-7A3A11ED7869}"/>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6501" name="Freeform 254">
              <a:extLst>
                <a:ext uri="{FF2B5EF4-FFF2-40B4-BE49-F238E27FC236}">
                  <a16:creationId xmlns:a16="http://schemas.microsoft.com/office/drawing/2014/main" id="{1CEA8205-3C21-4628-8436-1F05635A0578}"/>
                </a:ext>
              </a:extLst>
            </p:cNvPr>
            <p:cNvSpPr>
              <a:spLocks/>
            </p:cNvSpPr>
            <p:nvPr/>
          </p:nvSpPr>
          <p:spPr bwMode="auto">
            <a:xfrm>
              <a:off x="6959600" y="4843857"/>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2" name="Freeform 243">
              <a:extLst>
                <a:ext uri="{FF2B5EF4-FFF2-40B4-BE49-F238E27FC236}">
                  <a16:creationId xmlns:a16="http://schemas.microsoft.com/office/drawing/2014/main" id="{2496CF22-5AA8-4F8E-B7C5-A8C44B8373CA}"/>
                </a:ext>
              </a:extLst>
            </p:cNvPr>
            <p:cNvSpPr>
              <a:spLocks/>
            </p:cNvSpPr>
            <p:nvPr/>
          </p:nvSpPr>
          <p:spPr bwMode="auto">
            <a:xfrm flipH="1">
              <a:off x="1066800" y="4540644"/>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4" name="Oval 3">
              <a:extLst>
                <a:ext uri="{FF2B5EF4-FFF2-40B4-BE49-F238E27FC236}">
                  <a16:creationId xmlns:a16="http://schemas.microsoft.com/office/drawing/2014/main" id="{3C14548E-944A-4620-83A6-9A5702C3BE7F}"/>
                </a:ext>
              </a:extLst>
            </p:cNvPr>
            <p:cNvSpPr>
              <a:spLocks noChangeArrowheads="1"/>
            </p:cNvSpPr>
            <p:nvPr/>
          </p:nvSpPr>
          <p:spPr bwMode="auto">
            <a:xfrm>
              <a:off x="3795713" y="5199457"/>
              <a:ext cx="1304925" cy="303212"/>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05" name="Line 4">
              <a:extLst>
                <a:ext uri="{FF2B5EF4-FFF2-40B4-BE49-F238E27FC236}">
                  <a16:creationId xmlns:a16="http://schemas.microsoft.com/office/drawing/2014/main" id="{EAF45F83-8F82-4DCC-A514-479527CC2172}"/>
                </a:ext>
              </a:extLst>
            </p:cNvPr>
            <p:cNvSpPr>
              <a:spLocks noChangeShapeType="1"/>
            </p:cNvSpPr>
            <p:nvPr/>
          </p:nvSpPr>
          <p:spPr bwMode="auto">
            <a:xfrm>
              <a:off x="3795713" y="5175644"/>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6" name="Line 5">
              <a:extLst>
                <a:ext uri="{FF2B5EF4-FFF2-40B4-BE49-F238E27FC236}">
                  <a16:creationId xmlns:a16="http://schemas.microsoft.com/office/drawing/2014/main" id="{36503B02-585E-4B75-AC35-A1C0CED04B40}"/>
                </a:ext>
              </a:extLst>
            </p:cNvPr>
            <p:cNvSpPr>
              <a:spLocks noChangeShapeType="1"/>
            </p:cNvSpPr>
            <p:nvPr/>
          </p:nvSpPr>
          <p:spPr bwMode="auto">
            <a:xfrm>
              <a:off x="5100638" y="5175644"/>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7" name="Rectangle 6">
              <a:extLst>
                <a:ext uri="{FF2B5EF4-FFF2-40B4-BE49-F238E27FC236}">
                  <a16:creationId xmlns:a16="http://schemas.microsoft.com/office/drawing/2014/main" id="{021D0B4A-53EF-417B-ABA3-C80C75773FB5}"/>
                </a:ext>
              </a:extLst>
            </p:cNvPr>
            <p:cNvSpPr>
              <a:spLocks noChangeArrowheads="1"/>
            </p:cNvSpPr>
            <p:nvPr/>
          </p:nvSpPr>
          <p:spPr bwMode="auto">
            <a:xfrm>
              <a:off x="3795713" y="5175644"/>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8" name="Rectangle 7">
              <a:extLst>
                <a:ext uri="{FF2B5EF4-FFF2-40B4-BE49-F238E27FC236}">
                  <a16:creationId xmlns:a16="http://schemas.microsoft.com/office/drawing/2014/main" id="{795ACC3F-8ED6-427C-9358-5FC92C197F84}"/>
                </a:ext>
              </a:extLst>
            </p:cNvPr>
            <p:cNvSpPr>
              <a:spLocks noChangeArrowheads="1"/>
            </p:cNvSpPr>
            <p:nvPr/>
          </p:nvSpPr>
          <p:spPr bwMode="auto">
            <a:xfrm>
              <a:off x="4705350" y="5162944"/>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9" name="Oval 8">
              <a:extLst>
                <a:ext uri="{FF2B5EF4-FFF2-40B4-BE49-F238E27FC236}">
                  <a16:creationId xmlns:a16="http://schemas.microsoft.com/office/drawing/2014/main" id="{309C87FE-4F4A-4EE8-8A13-B8F66700082B}"/>
                </a:ext>
              </a:extLst>
            </p:cNvPr>
            <p:cNvSpPr>
              <a:spLocks noChangeArrowheads="1"/>
            </p:cNvSpPr>
            <p:nvPr/>
          </p:nvSpPr>
          <p:spPr bwMode="auto">
            <a:xfrm>
              <a:off x="3790950" y="4977207"/>
              <a:ext cx="1306513" cy="352425"/>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06510" name="Group 9">
              <a:extLst>
                <a:ext uri="{FF2B5EF4-FFF2-40B4-BE49-F238E27FC236}">
                  <a16:creationId xmlns:a16="http://schemas.microsoft.com/office/drawing/2014/main" id="{D42E5684-E473-4D81-99FC-07D40515DE5E}"/>
                </a:ext>
              </a:extLst>
            </p:cNvPr>
            <p:cNvGrpSpPr>
              <a:grpSpLocks/>
            </p:cNvGrpSpPr>
            <p:nvPr/>
          </p:nvGrpSpPr>
          <p:grpSpPr bwMode="auto">
            <a:xfrm>
              <a:off x="4097338" y="5034357"/>
              <a:ext cx="647700" cy="206375"/>
              <a:chOff x="2848" y="848"/>
              <a:chExt cx="140" cy="98"/>
            </a:xfrm>
          </p:grpSpPr>
          <p:sp>
            <p:nvSpPr>
              <p:cNvPr id="106650" name="Line 10">
                <a:extLst>
                  <a:ext uri="{FF2B5EF4-FFF2-40B4-BE49-F238E27FC236}">
                    <a16:creationId xmlns:a16="http://schemas.microsoft.com/office/drawing/2014/main" id="{F12941F3-B549-4A3D-B44E-C431439E53D4}"/>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1" name="Line 11">
                <a:extLst>
                  <a:ext uri="{FF2B5EF4-FFF2-40B4-BE49-F238E27FC236}">
                    <a16:creationId xmlns:a16="http://schemas.microsoft.com/office/drawing/2014/main" id="{56901E80-0A55-4FFD-AEE0-0611B7555F27}"/>
                  </a:ext>
                </a:extLst>
              </p:cNvPr>
              <p:cNvSpPr>
                <a:spLocks noChangeShapeType="1"/>
              </p:cNvSpPr>
              <p:nvPr/>
            </p:nvSpPr>
            <p:spPr bwMode="auto">
              <a:xfrm>
                <a:off x="2944" y="946"/>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2" name="Line 12">
                <a:extLst>
                  <a:ext uri="{FF2B5EF4-FFF2-40B4-BE49-F238E27FC236}">
                    <a16:creationId xmlns:a16="http://schemas.microsoft.com/office/drawing/2014/main" id="{60AB4CBE-4F43-4A6A-ABF5-86930F99CAD0}"/>
                  </a:ext>
                </a:extLst>
              </p:cNvPr>
              <p:cNvSpPr>
                <a:spLocks noChangeShapeType="1"/>
              </p:cNvSpPr>
              <p:nvPr/>
            </p:nvSpPr>
            <p:spPr bwMode="auto">
              <a:xfrm>
                <a:off x="2894" y="850"/>
                <a:ext cx="52" cy="9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6511" name="Line 13">
              <a:extLst>
                <a:ext uri="{FF2B5EF4-FFF2-40B4-BE49-F238E27FC236}">
                  <a16:creationId xmlns:a16="http://schemas.microsoft.com/office/drawing/2014/main" id="{9EBDC2F3-B85A-4FF0-AC8F-235D8FE035F5}"/>
                </a:ext>
              </a:extLst>
            </p:cNvPr>
            <p:cNvSpPr>
              <a:spLocks noChangeShapeType="1"/>
            </p:cNvSpPr>
            <p:nvPr/>
          </p:nvSpPr>
          <p:spPr bwMode="auto">
            <a:xfrm>
              <a:off x="4097338" y="5232794"/>
              <a:ext cx="231775" cy="47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2" name="Line 14">
              <a:extLst>
                <a:ext uri="{FF2B5EF4-FFF2-40B4-BE49-F238E27FC236}">
                  <a16:creationId xmlns:a16="http://schemas.microsoft.com/office/drawing/2014/main" id="{F875FC55-E602-4E97-9A81-EF20FF8ECB02}"/>
                </a:ext>
              </a:extLst>
            </p:cNvPr>
            <p:cNvSpPr>
              <a:spLocks noChangeShapeType="1"/>
            </p:cNvSpPr>
            <p:nvPr/>
          </p:nvSpPr>
          <p:spPr bwMode="auto">
            <a:xfrm flipV="1">
              <a:off x="4541838" y="5032769"/>
              <a:ext cx="203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3" name="Line 15">
              <a:extLst>
                <a:ext uri="{FF2B5EF4-FFF2-40B4-BE49-F238E27FC236}">
                  <a16:creationId xmlns:a16="http://schemas.microsoft.com/office/drawing/2014/main" id="{2DF7133C-7D65-46AC-847A-F43FE85D9E94}"/>
                </a:ext>
              </a:extLst>
            </p:cNvPr>
            <p:cNvSpPr>
              <a:spLocks noChangeShapeType="1"/>
            </p:cNvSpPr>
            <p:nvPr/>
          </p:nvSpPr>
          <p:spPr bwMode="auto">
            <a:xfrm flipV="1">
              <a:off x="4310063" y="5032769"/>
              <a:ext cx="24130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4" name="Text Box 16">
              <a:extLst>
                <a:ext uri="{FF2B5EF4-FFF2-40B4-BE49-F238E27FC236}">
                  <a16:creationId xmlns:a16="http://schemas.microsoft.com/office/drawing/2014/main" id="{1B256E5D-6A31-4713-8D16-1A75ACA047F9}"/>
                </a:ext>
              </a:extLst>
            </p:cNvPr>
            <p:cNvSpPr txBox="1">
              <a:spLocks noChangeArrowheads="1"/>
            </p:cNvSpPr>
            <p:nvPr/>
          </p:nvSpPr>
          <p:spPr bwMode="auto">
            <a:xfrm>
              <a:off x="3481485" y="5807469"/>
              <a:ext cx="1363565" cy="33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zh-CN" altLang="en-US" sz="1400" dirty="0">
                  <a:solidFill>
                    <a:schemeClr val="tx2"/>
                  </a:solidFill>
                  <a:latin typeface="Arial" panose="020B0604020202020204" pitchFamily="34" charset="0"/>
                </a:rPr>
                <a:t>有限输出缓存</a:t>
              </a:r>
              <a:endParaRPr lang="en-US" altLang="zh-CN" sz="1400" dirty="0">
                <a:solidFill>
                  <a:schemeClr val="tx2"/>
                </a:solidFill>
                <a:latin typeface="Comic Sans MS" panose="030F0702030302020204" pitchFamily="66" charset="0"/>
              </a:endParaRPr>
            </a:p>
          </p:txBody>
        </p:sp>
        <p:sp>
          <p:nvSpPr>
            <p:cNvPr id="106515" name="Line 17">
              <a:extLst>
                <a:ext uri="{FF2B5EF4-FFF2-40B4-BE49-F238E27FC236}">
                  <a16:creationId xmlns:a16="http://schemas.microsoft.com/office/drawing/2014/main" id="{E932C99F-8CDB-4BDA-8D8D-215D2BA4AA38}"/>
                </a:ext>
              </a:extLst>
            </p:cNvPr>
            <p:cNvSpPr>
              <a:spLocks noChangeShapeType="1"/>
            </p:cNvSpPr>
            <p:nvPr/>
          </p:nvSpPr>
          <p:spPr bwMode="auto">
            <a:xfrm flipH="1">
              <a:off x="242411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6" name="Line 18">
              <a:extLst>
                <a:ext uri="{FF2B5EF4-FFF2-40B4-BE49-F238E27FC236}">
                  <a16:creationId xmlns:a16="http://schemas.microsoft.com/office/drawing/2014/main" id="{72021A94-0730-4638-AC7A-17ABB3A73E86}"/>
                </a:ext>
              </a:extLst>
            </p:cNvPr>
            <p:cNvSpPr>
              <a:spLocks noChangeShapeType="1"/>
            </p:cNvSpPr>
            <p:nvPr/>
          </p:nvSpPr>
          <p:spPr bwMode="auto">
            <a:xfrm flipH="1">
              <a:off x="3021013" y="4729557"/>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17" name="Group 59">
              <a:extLst>
                <a:ext uri="{FF2B5EF4-FFF2-40B4-BE49-F238E27FC236}">
                  <a16:creationId xmlns:a16="http://schemas.microsoft.com/office/drawing/2014/main" id="{029C9BBF-BB8B-40DF-8F4B-8F8CD615EB46}"/>
                </a:ext>
              </a:extLst>
            </p:cNvPr>
            <p:cNvGrpSpPr>
              <a:grpSpLocks/>
            </p:cNvGrpSpPr>
            <p:nvPr/>
          </p:nvGrpSpPr>
          <p:grpSpPr bwMode="auto">
            <a:xfrm>
              <a:off x="2351088" y="3415107"/>
              <a:ext cx="798512" cy="1166812"/>
              <a:chOff x="12762" y="10336"/>
              <a:chExt cx="1027" cy="1700"/>
            </a:xfrm>
          </p:grpSpPr>
          <p:sp>
            <p:nvSpPr>
              <p:cNvPr id="106644" name="Rectangle 60">
                <a:extLst>
                  <a:ext uri="{FF2B5EF4-FFF2-40B4-BE49-F238E27FC236}">
                    <a16:creationId xmlns:a16="http://schemas.microsoft.com/office/drawing/2014/main" id="{841AD188-63AA-49BA-9D04-987D7C4DB7E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5" name="Rectangle 61">
                <a:extLst>
                  <a:ext uri="{FF2B5EF4-FFF2-40B4-BE49-F238E27FC236}">
                    <a16:creationId xmlns:a16="http://schemas.microsoft.com/office/drawing/2014/main" id="{1379BAF8-081D-4218-967B-0BFFD964A496}"/>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6" name="Line 62">
                <a:extLst>
                  <a:ext uri="{FF2B5EF4-FFF2-40B4-BE49-F238E27FC236}">
                    <a16:creationId xmlns:a16="http://schemas.microsoft.com/office/drawing/2014/main" id="{8195A961-E81C-4F5D-8DCC-7A776DCA44AD}"/>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7" name="Line 63">
                <a:extLst>
                  <a:ext uri="{FF2B5EF4-FFF2-40B4-BE49-F238E27FC236}">
                    <a16:creationId xmlns:a16="http://schemas.microsoft.com/office/drawing/2014/main" id="{CB0DEE53-5C96-46F7-972A-150CC28A0F95}"/>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8" name="Line 64">
                <a:extLst>
                  <a:ext uri="{FF2B5EF4-FFF2-40B4-BE49-F238E27FC236}">
                    <a16:creationId xmlns:a16="http://schemas.microsoft.com/office/drawing/2014/main" id="{18A6ED1B-1F8F-4E41-BDAE-EAD5EB49DC14}"/>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9" name="Line 65">
                <a:extLst>
                  <a:ext uri="{FF2B5EF4-FFF2-40B4-BE49-F238E27FC236}">
                    <a16:creationId xmlns:a16="http://schemas.microsoft.com/office/drawing/2014/main" id="{7E742FBA-DA53-40B0-829D-60314EA0BD40}"/>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19" name="Text Box 67">
              <a:extLst>
                <a:ext uri="{FF2B5EF4-FFF2-40B4-BE49-F238E27FC236}">
                  <a16:creationId xmlns:a16="http://schemas.microsoft.com/office/drawing/2014/main" id="{D3B8F55B-F541-400F-B682-0A49E50CB9E2}"/>
                </a:ext>
              </a:extLst>
            </p:cNvPr>
            <p:cNvSpPr txBox="1">
              <a:spLocks noChangeArrowheads="1"/>
            </p:cNvSpPr>
            <p:nvPr/>
          </p:nvSpPr>
          <p:spPr bwMode="auto">
            <a:xfrm>
              <a:off x="3368675" y="3300807"/>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dirty="0" err="1">
                  <a:solidFill>
                    <a:srgbClr val="FF0000"/>
                  </a:solidFill>
                  <a:latin typeface="Symbol" panose="05050102010706020507" pitchFamily="18" charset="2"/>
                </a:rPr>
                <a:t>l</a:t>
              </a:r>
              <a:r>
                <a:rPr lang="en-US" altLang="zh-CN" sz="2000" baseline="-25000" dirty="0" err="1">
                  <a:solidFill>
                    <a:srgbClr val="FF0000"/>
                  </a:solidFill>
                  <a:latin typeface="Arial" panose="020B0604020202020204" pitchFamily="34" charset="0"/>
                </a:rPr>
                <a:t>in</a:t>
              </a:r>
              <a:r>
                <a:rPr lang="en-US" altLang="zh-CN" baseline="-25000" dirty="0">
                  <a:solidFill>
                    <a:srgbClr val="FF0000"/>
                  </a:solidFill>
                  <a:latin typeface="Arial" panose="020B0604020202020204" pitchFamily="34" charset="0"/>
                </a:rPr>
                <a:t> </a:t>
              </a:r>
              <a:r>
                <a:rPr lang="en-US" altLang="zh-CN"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a:t>
              </a:r>
              <a:endParaRPr lang="en-US" altLang="zh-CN" dirty="0">
                <a:solidFill>
                  <a:srgbClr val="2A09B7"/>
                </a:solidFill>
                <a:latin typeface="Comic Sans MS" panose="030F0702030302020204" pitchFamily="66" charset="0"/>
              </a:endParaRPr>
            </a:p>
          </p:txBody>
        </p:sp>
        <p:sp>
          <p:nvSpPr>
            <p:cNvPr id="106520" name="Line 68">
              <a:extLst>
                <a:ext uri="{FF2B5EF4-FFF2-40B4-BE49-F238E27FC236}">
                  <a16:creationId xmlns:a16="http://schemas.microsoft.com/office/drawing/2014/main" id="{1D7C5FC8-1BAD-4899-B90A-0D785965DD6D}"/>
                </a:ext>
              </a:extLst>
            </p:cNvPr>
            <p:cNvSpPr>
              <a:spLocks noChangeShapeType="1"/>
            </p:cNvSpPr>
            <p:nvPr/>
          </p:nvSpPr>
          <p:spPr bwMode="auto">
            <a:xfrm flipH="1">
              <a:off x="1885950" y="5834457"/>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1" name="Group 109">
              <a:extLst>
                <a:ext uri="{FF2B5EF4-FFF2-40B4-BE49-F238E27FC236}">
                  <a16:creationId xmlns:a16="http://schemas.microsoft.com/office/drawing/2014/main" id="{A1945731-0CF5-4E74-8500-D1A2EC845EA8}"/>
                </a:ext>
              </a:extLst>
            </p:cNvPr>
            <p:cNvGrpSpPr>
              <a:grpSpLocks/>
            </p:cNvGrpSpPr>
            <p:nvPr/>
          </p:nvGrpSpPr>
          <p:grpSpPr bwMode="auto">
            <a:xfrm>
              <a:off x="1298575" y="4569219"/>
              <a:ext cx="798513" cy="1166813"/>
              <a:chOff x="12762" y="10336"/>
              <a:chExt cx="1027" cy="1700"/>
            </a:xfrm>
          </p:grpSpPr>
          <p:sp>
            <p:nvSpPr>
              <p:cNvPr id="106638" name="Rectangle 110">
                <a:extLst>
                  <a:ext uri="{FF2B5EF4-FFF2-40B4-BE49-F238E27FC236}">
                    <a16:creationId xmlns:a16="http://schemas.microsoft.com/office/drawing/2014/main" id="{B88100E1-8209-43EA-B9C7-F6EFB55142C1}"/>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9" name="Rectangle 111">
                <a:extLst>
                  <a:ext uri="{FF2B5EF4-FFF2-40B4-BE49-F238E27FC236}">
                    <a16:creationId xmlns:a16="http://schemas.microsoft.com/office/drawing/2014/main" id="{8F5A8925-3326-41D6-BA6B-2609395910AD}"/>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0" name="Line 112">
                <a:extLst>
                  <a:ext uri="{FF2B5EF4-FFF2-40B4-BE49-F238E27FC236}">
                    <a16:creationId xmlns:a16="http://schemas.microsoft.com/office/drawing/2014/main" id="{BDF9F642-AD50-49BC-A87A-74E1C033BCB9}"/>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1" name="Line 113">
                <a:extLst>
                  <a:ext uri="{FF2B5EF4-FFF2-40B4-BE49-F238E27FC236}">
                    <a16:creationId xmlns:a16="http://schemas.microsoft.com/office/drawing/2014/main" id="{DB5FA685-A2C5-4926-88A2-FD08EE29891F}"/>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2" name="Line 114">
                <a:extLst>
                  <a:ext uri="{FF2B5EF4-FFF2-40B4-BE49-F238E27FC236}">
                    <a16:creationId xmlns:a16="http://schemas.microsoft.com/office/drawing/2014/main" id="{65C30487-FC9B-4BE4-B71F-A1BCBD0CEAF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3" name="Line 115">
                <a:extLst>
                  <a:ext uri="{FF2B5EF4-FFF2-40B4-BE49-F238E27FC236}">
                    <a16:creationId xmlns:a16="http://schemas.microsoft.com/office/drawing/2014/main" id="{6A24A845-50F8-4491-9F32-B55EF3F3FA4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23" name="Line 117">
              <a:extLst>
                <a:ext uri="{FF2B5EF4-FFF2-40B4-BE49-F238E27FC236}">
                  <a16:creationId xmlns:a16="http://schemas.microsoft.com/office/drawing/2014/main" id="{12DF88F5-B4B6-4627-9FF1-0EE4284C75F7}"/>
                </a:ext>
              </a:extLst>
            </p:cNvPr>
            <p:cNvSpPr>
              <a:spLocks noChangeShapeType="1"/>
            </p:cNvSpPr>
            <p:nvPr/>
          </p:nvSpPr>
          <p:spPr bwMode="auto">
            <a:xfrm flipH="1">
              <a:off x="3021013" y="5245494"/>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4" name="Line 118">
              <a:extLst>
                <a:ext uri="{FF2B5EF4-FFF2-40B4-BE49-F238E27FC236}">
                  <a16:creationId xmlns:a16="http://schemas.microsoft.com/office/drawing/2014/main" id="{A70744C6-F18B-4034-A276-917454C5F10E}"/>
                </a:ext>
              </a:extLst>
            </p:cNvPr>
            <p:cNvSpPr>
              <a:spLocks noChangeShapeType="1"/>
            </p:cNvSpPr>
            <p:nvPr/>
          </p:nvSpPr>
          <p:spPr bwMode="auto">
            <a:xfrm flipH="1">
              <a:off x="5010150" y="5245494"/>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5" name="Line 119">
              <a:extLst>
                <a:ext uri="{FF2B5EF4-FFF2-40B4-BE49-F238E27FC236}">
                  <a16:creationId xmlns:a16="http://schemas.microsoft.com/office/drawing/2014/main" id="{7DB118CF-BE07-452C-AA5E-977A621B5323}"/>
                </a:ext>
              </a:extLst>
            </p:cNvPr>
            <p:cNvSpPr>
              <a:spLocks noChangeShapeType="1"/>
            </p:cNvSpPr>
            <p:nvPr/>
          </p:nvSpPr>
          <p:spPr bwMode="auto">
            <a:xfrm flipH="1">
              <a:off x="516096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6" name="Line 120">
              <a:extLst>
                <a:ext uri="{FF2B5EF4-FFF2-40B4-BE49-F238E27FC236}">
                  <a16:creationId xmlns:a16="http://schemas.microsoft.com/office/drawing/2014/main" id="{6F39A7A8-9965-458C-86A4-D6A1DF18B00D}"/>
                </a:ext>
              </a:extLst>
            </p:cNvPr>
            <p:cNvSpPr>
              <a:spLocks noChangeShapeType="1"/>
            </p:cNvSpPr>
            <p:nvPr/>
          </p:nvSpPr>
          <p:spPr bwMode="auto">
            <a:xfrm flipH="1">
              <a:off x="5149850" y="5847157"/>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7" name="Line 121">
              <a:extLst>
                <a:ext uri="{FF2B5EF4-FFF2-40B4-BE49-F238E27FC236}">
                  <a16:creationId xmlns:a16="http://schemas.microsoft.com/office/drawing/2014/main" id="{CCF39A1B-D525-4737-973E-4A2010FB6027}"/>
                </a:ext>
              </a:extLst>
            </p:cNvPr>
            <p:cNvSpPr>
              <a:spLocks noChangeShapeType="1"/>
            </p:cNvSpPr>
            <p:nvPr/>
          </p:nvSpPr>
          <p:spPr bwMode="auto">
            <a:xfrm flipH="1">
              <a:off x="6259513" y="4742257"/>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8" name="Group 162">
              <a:extLst>
                <a:ext uri="{FF2B5EF4-FFF2-40B4-BE49-F238E27FC236}">
                  <a16:creationId xmlns:a16="http://schemas.microsoft.com/office/drawing/2014/main" id="{88146E87-6C33-4803-B241-96520724E55F}"/>
                </a:ext>
              </a:extLst>
            </p:cNvPr>
            <p:cNvGrpSpPr>
              <a:grpSpLocks/>
            </p:cNvGrpSpPr>
            <p:nvPr/>
          </p:nvGrpSpPr>
          <p:grpSpPr bwMode="auto">
            <a:xfrm>
              <a:off x="6643688" y="3550044"/>
              <a:ext cx="798512" cy="1166813"/>
              <a:chOff x="12762" y="10336"/>
              <a:chExt cx="1027" cy="1700"/>
            </a:xfrm>
          </p:grpSpPr>
          <p:sp>
            <p:nvSpPr>
              <p:cNvPr id="106632" name="Rectangle 163">
                <a:extLst>
                  <a:ext uri="{FF2B5EF4-FFF2-40B4-BE49-F238E27FC236}">
                    <a16:creationId xmlns:a16="http://schemas.microsoft.com/office/drawing/2014/main" id="{EE887CB0-8A50-4E71-9195-430BC2C7CDC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3" name="Rectangle 164">
                <a:extLst>
                  <a:ext uri="{FF2B5EF4-FFF2-40B4-BE49-F238E27FC236}">
                    <a16:creationId xmlns:a16="http://schemas.microsoft.com/office/drawing/2014/main" id="{0E5D7505-0BD7-4A34-9EE3-A372AFED2180}"/>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4" name="Line 165">
                <a:extLst>
                  <a:ext uri="{FF2B5EF4-FFF2-40B4-BE49-F238E27FC236}">
                    <a16:creationId xmlns:a16="http://schemas.microsoft.com/office/drawing/2014/main" id="{C9AC27F7-13C1-48EF-8BC4-7F7B1190800E}"/>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5" name="Line 166">
                <a:extLst>
                  <a:ext uri="{FF2B5EF4-FFF2-40B4-BE49-F238E27FC236}">
                    <a16:creationId xmlns:a16="http://schemas.microsoft.com/office/drawing/2014/main" id="{861E0329-6188-44DA-85EC-755913C388B3}"/>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6" name="Line 167">
                <a:extLst>
                  <a:ext uri="{FF2B5EF4-FFF2-40B4-BE49-F238E27FC236}">
                    <a16:creationId xmlns:a16="http://schemas.microsoft.com/office/drawing/2014/main" id="{AE73F03D-C7B2-4671-BE02-6DD50C0F16EC}"/>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7" name="Line 168">
                <a:extLst>
                  <a:ext uri="{FF2B5EF4-FFF2-40B4-BE49-F238E27FC236}">
                    <a16:creationId xmlns:a16="http://schemas.microsoft.com/office/drawing/2014/main" id="{CA9680F8-7AA0-41A8-A3C5-D60EB2B7360F}"/>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6529" name="Group 209">
              <a:extLst>
                <a:ext uri="{FF2B5EF4-FFF2-40B4-BE49-F238E27FC236}">
                  <a16:creationId xmlns:a16="http://schemas.microsoft.com/office/drawing/2014/main" id="{35492685-981C-4C05-9838-E43183F731F8}"/>
                </a:ext>
              </a:extLst>
            </p:cNvPr>
            <p:cNvGrpSpPr>
              <a:grpSpLocks/>
            </p:cNvGrpSpPr>
            <p:nvPr/>
          </p:nvGrpSpPr>
          <p:grpSpPr bwMode="auto">
            <a:xfrm>
              <a:off x="6175375" y="4862907"/>
              <a:ext cx="798513" cy="1168400"/>
              <a:chOff x="12762" y="10336"/>
              <a:chExt cx="1027" cy="1700"/>
            </a:xfrm>
          </p:grpSpPr>
          <p:sp>
            <p:nvSpPr>
              <p:cNvPr id="106626" name="Rectangle 210">
                <a:extLst>
                  <a:ext uri="{FF2B5EF4-FFF2-40B4-BE49-F238E27FC236}">
                    <a16:creationId xmlns:a16="http://schemas.microsoft.com/office/drawing/2014/main" id="{612B471D-4847-4342-BFF7-39EDF1685BA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7" name="Rectangle 211">
                <a:extLst>
                  <a:ext uri="{FF2B5EF4-FFF2-40B4-BE49-F238E27FC236}">
                    <a16:creationId xmlns:a16="http://schemas.microsoft.com/office/drawing/2014/main" id="{D7D1E0C8-1630-4363-93AD-F450363627A5}"/>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8" name="Line 212">
                <a:extLst>
                  <a:ext uri="{FF2B5EF4-FFF2-40B4-BE49-F238E27FC236}">
                    <a16:creationId xmlns:a16="http://schemas.microsoft.com/office/drawing/2014/main" id="{BD3434FF-99D5-431D-9A37-48800035CA1C}"/>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9" name="Line 213">
                <a:extLst>
                  <a:ext uri="{FF2B5EF4-FFF2-40B4-BE49-F238E27FC236}">
                    <a16:creationId xmlns:a16="http://schemas.microsoft.com/office/drawing/2014/main" id="{BCF9CD94-05D2-4E1E-99AA-8D02C94542E2}"/>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0" name="Line 214">
                <a:extLst>
                  <a:ext uri="{FF2B5EF4-FFF2-40B4-BE49-F238E27FC236}">
                    <a16:creationId xmlns:a16="http://schemas.microsoft.com/office/drawing/2014/main" id="{6564B6B9-8C4D-42B3-870C-1569EB560330}"/>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1" name="Line 215">
                <a:extLst>
                  <a:ext uri="{FF2B5EF4-FFF2-40B4-BE49-F238E27FC236}">
                    <a16:creationId xmlns:a16="http://schemas.microsoft.com/office/drawing/2014/main" id="{EE543B33-3C6C-4C7F-AA7A-67018F165C87}"/>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0" name="Oval 216">
              <a:extLst>
                <a:ext uri="{FF2B5EF4-FFF2-40B4-BE49-F238E27FC236}">
                  <a16:creationId xmlns:a16="http://schemas.microsoft.com/office/drawing/2014/main" id="{29D489F9-0779-49ED-AD5B-BC2B5F0CEC1C}"/>
                </a:ext>
              </a:extLst>
            </p:cNvPr>
            <p:cNvSpPr>
              <a:spLocks noChangeArrowheads="1"/>
            </p:cNvSpPr>
            <p:nvPr/>
          </p:nvSpPr>
          <p:spPr bwMode="auto">
            <a:xfrm>
              <a:off x="2763838" y="3489719"/>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1" name="Oval 217">
              <a:extLst>
                <a:ext uri="{FF2B5EF4-FFF2-40B4-BE49-F238E27FC236}">
                  <a16:creationId xmlns:a16="http://schemas.microsoft.com/office/drawing/2014/main" id="{26759C8B-7FFF-4434-931D-39D003E9FA09}"/>
                </a:ext>
              </a:extLst>
            </p:cNvPr>
            <p:cNvSpPr>
              <a:spLocks noChangeArrowheads="1"/>
            </p:cNvSpPr>
            <p:nvPr/>
          </p:nvSpPr>
          <p:spPr bwMode="auto">
            <a:xfrm>
              <a:off x="1604963" y="4618432"/>
              <a:ext cx="114300" cy="117475"/>
            </a:xfrm>
            <a:prstGeom prst="ellipse">
              <a:avLst/>
            </a:prstGeom>
            <a:solidFill>
              <a:srgbClr val="808080"/>
            </a:solidFill>
            <a:ln w="9525">
              <a:solidFill>
                <a:srgbClr val="80808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2" name="Text Box 218">
              <a:extLst>
                <a:ext uri="{FF2B5EF4-FFF2-40B4-BE49-F238E27FC236}">
                  <a16:creationId xmlns:a16="http://schemas.microsoft.com/office/drawing/2014/main" id="{6A91AAF1-C54B-460F-9510-9491806829F0}"/>
                </a:ext>
              </a:extLst>
            </p:cNvPr>
            <p:cNvSpPr txBox="1">
              <a:spLocks noChangeArrowheads="1"/>
            </p:cNvSpPr>
            <p:nvPr/>
          </p:nvSpPr>
          <p:spPr bwMode="auto">
            <a:xfrm>
              <a:off x="7583488" y="3502419"/>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sp>
          <p:nvSpPr>
            <p:cNvPr id="106533" name="Line 219">
              <a:extLst>
                <a:ext uri="{FF2B5EF4-FFF2-40B4-BE49-F238E27FC236}">
                  <a16:creationId xmlns:a16="http://schemas.microsoft.com/office/drawing/2014/main" id="{450F38FA-4517-41A6-AFA8-DA5A45507F17}"/>
                </a:ext>
              </a:extLst>
            </p:cNvPr>
            <p:cNvSpPr>
              <a:spLocks noChangeShapeType="1"/>
            </p:cNvSpPr>
            <p:nvPr/>
          </p:nvSpPr>
          <p:spPr bwMode="auto">
            <a:xfrm flipH="1" flipV="1">
              <a:off x="4592638" y="5453457"/>
              <a:ext cx="7937" cy="407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6534" name="Group 220">
              <a:extLst>
                <a:ext uri="{FF2B5EF4-FFF2-40B4-BE49-F238E27FC236}">
                  <a16:creationId xmlns:a16="http://schemas.microsoft.com/office/drawing/2014/main" id="{0C17A230-3512-4C38-89FB-8CBDC0DAF16F}"/>
                </a:ext>
              </a:extLst>
            </p:cNvPr>
            <p:cNvGrpSpPr>
              <a:grpSpLocks/>
            </p:cNvGrpSpPr>
            <p:nvPr/>
          </p:nvGrpSpPr>
          <p:grpSpPr bwMode="auto">
            <a:xfrm>
              <a:off x="4587875" y="5085157"/>
              <a:ext cx="385763" cy="319087"/>
              <a:chOff x="11283" y="10423"/>
              <a:chExt cx="475" cy="374"/>
            </a:xfrm>
          </p:grpSpPr>
          <p:sp>
            <p:nvSpPr>
              <p:cNvPr id="106619" name="Rectangle 221">
                <a:extLst>
                  <a:ext uri="{FF2B5EF4-FFF2-40B4-BE49-F238E27FC236}">
                    <a16:creationId xmlns:a16="http://schemas.microsoft.com/office/drawing/2014/main" id="{5390D152-8B55-49BC-8005-CD2795493BDD}"/>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0" name="Line 222">
                <a:extLst>
                  <a:ext uri="{FF2B5EF4-FFF2-40B4-BE49-F238E27FC236}">
                    <a16:creationId xmlns:a16="http://schemas.microsoft.com/office/drawing/2014/main" id="{356A820D-E965-4BBB-A2E4-8E71895924DB}"/>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1" name="Line 223">
                <a:extLst>
                  <a:ext uri="{FF2B5EF4-FFF2-40B4-BE49-F238E27FC236}">
                    <a16:creationId xmlns:a16="http://schemas.microsoft.com/office/drawing/2014/main" id="{1732329D-BF42-4278-AF5B-8CAC206AA78B}"/>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2" name="Line 224">
                <a:extLst>
                  <a:ext uri="{FF2B5EF4-FFF2-40B4-BE49-F238E27FC236}">
                    <a16:creationId xmlns:a16="http://schemas.microsoft.com/office/drawing/2014/main" id="{AF9D5BD5-A145-4A80-9A4C-987BCE7DE4D6}"/>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3" name="Line 225">
                <a:extLst>
                  <a:ext uri="{FF2B5EF4-FFF2-40B4-BE49-F238E27FC236}">
                    <a16:creationId xmlns:a16="http://schemas.microsoft.com/office/drawing/2014/main" id="{D9ACF68F-0B93-4781-9A49-B254185191F8}"/>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4" name="Line 226">
                <a:extLst>
                  <a:ext uri="{FF2B5EF4-FFF2-40B4-BE49-F238E27FC236}">
                    <a16:creationId xmlns:a16="http://schemas.microsoft.com/office/drawing/2014/main" id="{DD045002-1E9B-49B2-B360-7F288B988E72}"/>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5" name="Line 227">
                <a:extLst>
                  <a:ext uri="{FF2B5EF4-FFF2-40B4-BE49-F238E27FC236}">
                    <a16:creationId xmlns:a16="http://schemas.microsoft.com/office/drawing/2014/main" id="{1C918DAE-8723-41D9-B3F7-67FEEE8AAF0B}"/>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5" name="Line 228">
              <a:extLst>
                <a:ext uri="{FF2B5EF4-FFF2-40B4-BE49-F238E27FC236}">
                  <a16:creationId xmlns:a16="http://schemas.microsoft.com/office/drawing/2014/main" id="{4D1A9BC9-71E3-40C7-BD3E-072F126CB7E6}"/>
                </a:ext>
              </a:extLst>
            </p:cNvPr>
            <p:cNvSpPr>
              <a:spLocks noChangeShapeType="1"/>
            </p:cNvSpPr>
            <p:nvPr/>
          </p:nvSpPr>
          <p:spPr bwMode="auto">
            <a:xfrm>
              <a:off x="4845050" y="3869132"/>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6" name="Freeform 229">
              <a:extLst>
                <a:ext uri="{FF2B5EF4-FFF2-40B4-BE49-F238E27FC236}">
                  <a16:creationId xmlns:a16="http://schemas.microsoft.com/office/drawing/2014/main" id="{BD285F49-B6DD-4CD4-B44D-186A1060102C}"/>
                </a:ext>
              </a:extLst>
            </p:cNvPr>
            <p:cNvSpPr>
              <a:spLocks/>
            </p:cNvSpPr>
            <p:nvPr/>
          </p:nvSpPr>
          <p:spPr bwMode="auto">
            <a:xfrm>
              <a:off x="1663700" y="4716857"/>
              <a:ext cx="4854575" cy="1228725"/>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7" name="Freeform 230">
              <a:extLst>
                <a:ext uri="{FF2B5EF4-FFF2-40B4-BE49-F238E27FC236}">
                  <a16:creationId xmlns:a16="http://schemas.microsoft.com/office/drawing/2014/main" id="{CAC131D1-E63F-4FF0-81A7-6563505B76B3}"/>
                </a:ext>
              </a:extLst>
            </p:cNvPr>
            <p:cNvSpPr>
              <a:spLocks/>
            </p:cNvSpPr>
            <p:nvPr/>
          </p:nvSpPr>
          <p:spPr bwMode="auto">
            <a:xfrm>
              <a:off x="2822575" y="3550044"/>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8" name="Oval 231">
              <a:extLst>
                <a:ext uri="{FF2B5EF4-FFF2-40B4-BE49-F238E27FC236}">
                  <a16:creationId xmlns:a16="http://schemas.microsoft.com/office/drawing/2014/main" id="{436B63C5-D88C-4E14-8808-B62626AB618B}"/>
                </a:ext>
              </a:extLst>
            </p:cNvPr>
            <p:cNvSpPr>
              <a:spLocks noChangeArrowheads="1"/>
            </p:cNvSpPr>
            <p:nvPr/>
          </p:nvSpPr>
          <p:spPr bwMode="auto">
            <a:xfrm>
              <a:off x="2763838" y="3723082"/>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9" name="Text Box 232">
              <a:extLst>
                <a:ext uri="{FF2B5EF4-FFF2-40B4-BE49-F238E27FC236}">
                  <a16:creationId xmlns:a16="http://schemas.microsoft.com/office/drawing/2014/main" id="{F606FFB5-1A29-426A-B7B5-6DDBEE9DB464}"/>
                </a:ext>
              </a:extLst>
            </p:cNvPr>
            <p:cNvSpPr txBox="1">
              <a:spLocks noChangeArrowheads="1"/>
            </p:cNvSpPr>
            <p:nvPr/>
          </p:nvSpPr>
          <p:spPr bwMode="auto">
            <a:xfrm>
              <a:off x="3251199" y="3629419"/>
              <a:ext cx="2720551"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en-US" altLang="zh-CN" sz="2000" dirty="0" err="1">
                  <a:solidFill>
                    <a:srgbClr val="FF0000"/>
                  </a:solidFill>
                  <a:latin typeface="Symbol" panose="05050102010706020507" pitchFamily="18" charset="2"/>
                </a:rPr>
                <a:t>l</a:t>
              </a:r>
              <a:r>
                <a:rPr lang="en-US" altLang="zh-CN" sz="2000" dirty="0" err="1">
                  <a:solidFill>
                    <a:srgbClr val="FF0000"/>
                  </a:solidFill>
                  <a:latin typeface="Arial" panose="020B0604020202020204" pitchFamily="34" charset="0"/>
                </a:rPr>
                <a:t>‘</a:t>
              </a:r>
              <a:r>
                <a:rPr lang="en-US" altLang="zh-CN" sz="2000" baseline="-25000" dirty="0" err="1">
                  <a:solidFill>
                    <a:srgbClr val="FF0000"/>
                  </a:solidFill>
                  <a:latin typeface="Arial" panose="020B0604020202020204" pitchFamily="34" charset="0"/>
                </a:rPr>
                <a:t>in</a:t>
              </a:r>
              <a:r>
                <a:rPr lang="en-US" altLang="zh-CN" sz="1800" dirty="0">
                  <a:solidFill>
                    <a:srgbClr val="FF0000"/>
                  </a:solidFill>
                  <a:latin typeface="Arial" panose="020B0604020202020204" pitchFamily="34" charset="0"/>
                </a:rPr>
                <a:t>:</a:t>
              </a:r>
              <a:r>
                <a:rPr lang="en-US" altLang="zh-CN" sz="1400"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原始数据加重传数据</a:t>
              </a:r>
              <a:endParaRPr lang="en-US" altLang="zh-CN" dirty="0">
                <a:solidFill>
                  <a:srgbClr val="2A09B7"/>
                </a:solidFill>
                <a:latin typeface="Comic Sans MS" panose="030F0702030302020204" pitchFamily="66" charset="0"/>
              </a:endParaRPr>
            </a:p>
          </p:txBody>
        </p:sp>
        <p:sp>
          <p:nvSpPr>
            <p:cNvPr id="89133" name="Line 233">
              <a:extLst>
                <a:ext uri="{FF2B5EF4-FFF2-40B4-BE49-F238E27FC236}">
                  <a16:creationId xmlns:a16="http://schemas.microsoft.com/office/drawing/2014/main" id="{9619E815-FB52-4EF7-A41F-5AA8F952B184}"/>
                </a:ext>
              </a:extLst>
            </p:cNvPr>
            <p:cNvSpPr>
              <a:spLocks noChangeShapeType="1"/>
            </p:cNvSpPr>
            <p:nvPr/>
          </p:nvSpPr>
          <p:spPr bwMode="auto">
            <a:xfrm>
              <a:off x="2909888" y="3789757"/>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4" name="Line 234">
              <a:extLst>
                <a:ext uri="{FF2B5EF4-FFF2-40B4-BE49-F238E27FC236}">
                  <a16:creationId xmlns:a16="http://schemas.microsoft.com/office/drawing/2014/main" id="{76565AF0-6748-4C3A-BD18-711EAECB2128}"/>
                </a:ext>
              </a:extLst>
            </p:cNvPr>
            <p:cNvSpPr>
              <a:spLocks noChangeShapeType="1"/>
            </p:cNvSpPr>
            <p:nvPr/>
          </p:nvSpPr>
          <p:spPr bwMode="auto">
            <a:xfrm>
              <a:off x="2905125" y="35563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5" name="Line 235">
              <a:extLst>
                <a:ext uri="{FF2B5EF4-FFF2-40B4-BE49-F238E27FC236}">
                  <a16:creationId xmlns:a16="http://schemas.microsoft.com/office/drawing/2014/main" id="{F1CF374B-7B0B-4020-B2F8-C26FE4F80376}"/>
                </a:ext>
              </a:extLst>
            </p:cNvPr>
            <p:cNvSpPr>
              <a:spLocks noChangeShapeType="1"/>
            </p:cNvSpPr>
            <p:nvPr/>
          </p:nvSpPr>
          <p:spPr bwMode="auto">
            <a:xfrm>
              <a:off x="7116763" y="37087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6547" name="Freeform 250">
              <a:extLst>
                <a:ext uri="{FF2B5EF4-FFF2-40B4-BE49-F238E27FC236}">
                  <a16:creationId xmlns:a16="http://schemas.microsoft.com/office/drawing/2014/main" id="{35445ACB-CB9F-4A32-8ACC-70C0CF16E12C}"/>
                </a:ext>
              </a:extLst>
            </p:cNvPr>
            <p:cNvSpPr>
              <a:spLocks/>
            </p:cNvSpPr>
            <p:nvPr/>
          </p:nvSpPr>
          <p:spPr bwMode="auto">
            <a:xfrm>
              <a:off x="7416800" y="3538932"/>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48" name="Group 256">
              <a:extLst>
                <a:ext uri="{FF2B5EF4-FFF2-40B4-BE49-F238E27FC236}">
                  <a16:creationId xmlns:a16="http://schemas.microsoft.com/office/drawing/2014/main" id="{59721B03-0099-454E-A493-AF220250E257}"/>
                </a:ext>
              </a:extLst>
            </p:cNvPr>
            <p:cNvGrpSpPr>
              <a:grpSpLocks/>
            </p:cNvGrpSpPr>
            <p:nvPr/>
          </p:nvGrpSpPr>
          <p:grpSpPr bwMode="auto">
            <a:xfrm>
              <a:off x="7553325" y="4437457"/>
              <a:ext cx="231775" cy="441325"/>
              <a:chOff x="4140" y="429"/>
              <a:chExt cx="1425" cy="2396"/>
            </a:xfrm>
          </p:grpSpPr>
          <p:sp>
            <p:nvSpPr>
              <p:cNvPr id="106585" name="Freeform 257">
                <a:extLst>
                  <a:ext uri="{FF2B5EF4-FFF2-40B4-BE49-F238E27FC236}">
                    <a16:creationId xmlns:a16="http://schemas.microsoft.com/office/drawing/2014/main" id="{12920BB7-5797-42AD-B21C-6DE962A03BC2}"/>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79" name="Rectangle 258">
                <a:extLst>
                  <a:ext uri="{FF2B5EF4-FFF2-40B4-BE49-F238E27FC236}">
                    <a16:creationId xmlns:a16="http://schemas.microsoft.com/office/drawing/2014/main" id="{6C37FB59-CD7E-4F4C-B4B4-1CA0C82FE35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87" name="Freeform 259">
                <a:extLst>
                  <a:ext uri="{FF2B5EF4-FFF2-40B4-BE49-F238E27FC236}">
                    <a16:creationId xmlns:a16="http://schemas.microsoft.com/office/drawing/2014/main" id="{181FF5BD-F951-427C-9FEB-00033245A267}"/>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88" name="Freeform 260">
                <a:extLst>
                  <a:ext uri="{FF2B5EF4-FFF2-40B4-BE49-F238E27FC236}">
                    <a16:creationId xmlns:a16="http://schemas.microsoft.com/office/drawing/2014/main" id="{98332F21-899F-4676-AFC5-D468C0E55CE8}"/>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82" name="Rectangle 261">
                <a:extLst>
                  <a:ext uri="{FF2B5EF4-FFF2-40B4-BE49-F238E27FC236}">
                    <a16:creationId xmlns:a16="http://schemas.microsoft.com/office/drawing/2014/main" id="{D4E07CA2-E2C4-4B8B-9E21-A91C1EE5CE4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0" name="Group 262">
                <a:extLst>
                  <a:ext uri="{FF2B5EF4-FFF2-40B4-BE49-F238E27FC236}">
                    <a16:creationId xmlns:a16="http://schemas.microsoft.com/office/drawing/2014/main" id="{06E7A4D7-AC51-4D0E-A22F-C79F012631F7}"/>
                  </a:ext>
                </a:extLst>
              </p:cNvPr>
              <p:cNvGrpSpPr>
                <a:grpSpLocks/>
              </p:cNvGrpSpPr>
              <p:nvPr/>
            </p:nvGrpSpPr>
            <p:grpSpPr bwMode="auto">
              <a:xfrm>
                <a:off x="4749" y="668"/>
                <a:ext cx="581" cy="145"/>
                <a:chOff x="614" y="2568"/>
                <a:chExt cx="725" cy="139"/>
              </a:xfrm>
            </p:grpSpPr>
            <p:sp>
              <p:nvSpPr>
                <p:cNvPr id="89208" name="AutoShape 263">
                  <a:extLst>
                    <a:ext uri="{FF2B5EF4-FFF2-40B4-BE49-F238E27FC236}">
                      <a16:creationId xmlns:a16="http://schemas.microsoft.com/office/drawing/2014/main" id="{50E43811-CE86-47E5-B2BA-515A06375DC0}"/>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9" name="AutoShape 264">
                  <a:extLst>
                    <a:ext uri="{FF2B5EF4-FFF2-40B4-BE49-F238E27FC236}">
                      <a16:creationId xmlns:a16="http://schemas.microsoft.com/office/drawing/2014/main" id="{FDC4D4A2-EA62-4FBD-A56F-A5AB316DF92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4" name="Rectangle 265">
                <a:extLst>
                  <a:ext uri="{FF2B5EF4-FFF2-40B4-BE49-F238E27FC236}">
                    <a16:creationId xmlns:a16="http://schemas.microsoft.com/office/drawing/2014/main" id="{27949F01-F040-4730-B7EB-A98D55FE14D8}"/>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2" name="Group 266">
                <a:extLst>
                  <a:ext uri="{FF2B5EF4-FFF2-40B4-BE49-F238E27FC236}">
                    <a16:creationId xmlns:a16="http://schemas.microsoft.com/office/drawing/2014/main" id="{6E126D7E-D480-4412-BE0B-2EADB634B286}"/>
                  </a:ext>
                </a:extLst>
              </p:cNvPr>
              <p:cNvGrpSpPr>
                <a:grpSpLocks/>
              </p:cNvGrpSpPr>
              <p:nvPr/>
            </p:nvGrpSpPr>
            <p:grpSpPr bwMode="auto">
              <a:xfrm>
                <a:off x="4747" y="994"/>
                <a:ext cx="581" cy="134"/>
                <a:chOff x="614" y="2568"/>
                <a:chExt cx="725" cy="139"/>
              </a:xfrm>
            </p:grpSpPr>
            <p:sp>
              <p:nvSpPr>
                <p:cNvPr id="89206" name="AutoShape 267">
                  <a:extLst>
                    <a:ext uri="{FF2B5EF4-FFF2-40B4-BE49-F238E27FC236}">
                      <a16:creationId xmlns:a16="http://schemas.microsoft.com/office/drawing/2014/main" id="{18E074AB-0307-4308-B8A1-AF7C066AB94A}"/>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7" name="AutoShape 268">
                  <a:extLst>
                    <a:ext uri="{FF2B5EF4-FFF2-40B4-BE49-F238E27FC236}">
                      <a16:creationId xmlns:a16="http://schemas.microsoft.com/office/drawing/2014/main" id="{EABC9E69-0134-4D29-808C-E197EEDFFBB4}"/>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6" name="Rectangle 269">
                <a:extLst>
                  <a:ext uri="{FF2B5EF4-FFF2-40B4-BE49-F238E27FC236}">
                    <a16:creationId xmlns:a16="http://schemas.microsoft.com/office/drawing/2014/main" id="{3CB02278-5502-4857-8E06-762B9F19A252}"/>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87" name="Rectangle 270">
                <a:extLst>
                  <a:ext uri="{FF2B5EF4-FFF2-40B4-BE49-F238E27FC236}">
                    <a16:creationId xmlns:a16="http://schemas.microsoft.com/office/drawing/2014/main" id="{3C043ADE-726B-450B-B8DF-C324FF0848A6}"/>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5" name="Group 271">
                <a:extLst>
                  <a:ext uri="{FF2B5EF4-FFF2-40B4-BE49-F238E27FC236}">
                    <a16:creationId xmlns:a16="http://schemas.microsoft.com/office/drawing/2014/main" id="{34905BF7-7CD3-4DE8-AEBD-66ABA8DFC628}"/>
                  </a:ext>
                </a:extLst>
              </p:cNvPr>
              <p:cNvGrpSpPr>
                <a:grpSpLocks/>
              </p:cNvGrpSpPr>
              <p:nvPr/>
            </p:nvGrpSpPr>
            <p:grpSpPr bwMode="auto">
              <a:xfrm>
                <a:off x="4735" y="1627"/>
                <a:ext cx="582" cy="151"/>
                <a:chOff x="614" y="2568"/>
                <a:chExt cx="725" cy="139"/>
              </a:xfrm>
            </p:grpSpPr>
            <p:sp>
              <p:nvSpPr>
                <p:cNvPr id="89204" name="AutoShape 272">
                  <a:extLst>
                    <a:ext uri="{FF2B5EF4-FFF2-40B4-BE49-F238E27FC236}">
                      <a16:creationId xmlns:a16="http://schemas.microsoft.com/office/drawing/2014/main" id="{94E0CF6F-2C4C-465D-B4E6-114D84F9F55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5" name="AutoShape 273">
                  <a:extLst>
                    <a:ext uri="{FF2B5EF4-FFF2-40B4-BE49-F238E27FC236}">
                      <a16:creationId xmlns:a16="http://schemas.microsoft.com/office/drawing/2014/main" id="{61D1C857-7B4C-4213-A9B8-ADC1D8975D1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96" name="Freeform 274">
                <a:extLst>
                  <a:ext uri="{FF2B5EF4-FFF2-40B4-BE49-F238E27FC236}">
                    <a16:creationId xmlns:a16="http://schemas.microsoft.com/office/drawing/2014/main" id="{BB2ED0CD-4C8E-47F7-86C7-BB5B894B5CD2}"/>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97" name="Group 275">
                <a:extLst>
                  <a:ext uri="{FF2B5EF4-FFF2-40B4-BE49-F238E27FC236}">
                    <a16:creationId xmlns:a16="http://schemas.microsoft.com/office/drawing/2014/main" id="{370C9DAF-CBB6-4F0F-A58C-5D925DA6F380}"/>
                  </a:ext>
                </a:extLst>
              </p:cNvPr>
              <p:cNvGrpSpPr>
                <a:grpSpLocks/>
              </p:cNvGrpSpPr>
              <p:nvPr/>
            </p:nvGrpSpPr>
            <p:grpSpPr bwMode="auto">
              <a:xfrm>
                <a:off x="4739" y="1327"/>
                <a:ext cx="582" cy="139"/>
                <a:chOff x="614" y="2568"/>
                <a:chExt cx="725" cy="139"/>
              </a:xfrm>
            </p:grpSpPr>
            <p:sp>
              <p:nvSpPr>
                <p:cNvPr id="89202" name="AutoShape 276">
                  <a:extLst>
                    <a:ext uri="{FF2B5EF4-FFF2-40B4-BE49-F238E27FC236}">
                      <a16:creationId xmlns:a16="http://schemas.microsoft.com/office/drawing/2014/main" id="{4963058F-1581-4DB1-B743-0AA8FF31BC56}"/>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3" name="AutoShape 277">
                  <a:extLst>
                    <a:ext uri="{FF2B5EF4-FFF2-40B4-BE49-F238E27FC236}">
                      <a16:creationId xmlns:a16="http://schemas.microsoft.com/office/drawing/2014/main" id="{B26DCE23-DAE7-4666-B3F7-403407C97C49}"/>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91" name="Rectangle 278">
                <a:extLst>
                  <a:ext uri="{FF2B5EF4-FFF2-40B4-BE49-F238E27FC236}">
                    <a16:creationId xmlns:a16="http://schemas.microsoft.com/office/drawing/2014/main" id="{26BF784C-521B-40E8-87A2-637C777CFA6D}"/>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99" name="Freeform 279">
                <a:extLst>
                  <a:ext uri="{FF2B5EF4-FFF2-40B4-BE49-F238E27FC236}">
                    <a16:creationId xmlns:a16="http://schemas.microsoft.com/office/drawing/2014/main" id="{6B2476E7-88FF-4CE4-86D4-48251ADF6152}"/>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600" name="Freeform 280">
                <a:extLst>
                  <a:ext uri="{FF2B5EF4-FFF2-40B4-BE49-F238E27FC236}">
                    <a16:creationId xmlns:a16="http://schemas.microsoft.com/office/drawing/2014/main" id="{12647C89-437B-4B34-B1CF-3A163487C675}"/>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4" name="Oval 281">
                <a:extLst>
                  <a:ext uri="{FF2B5EF4-FFF2-40B4-BE49-F238E27FC236}">
                    <a16:creationId xmlns:a16="http://schemas.microsoft.com/office/drawing/2014/main" id="{35485175-6619-4676-A476-A2D6D25562C6}"/>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602" name="Freeform 282">
                <a:extLst>
                  <a:ext uri="{FF2B5EF4-FFF2-40B4-BE49-F238E27FC236}">
                    <a16:creationId xmlns:a16="http://schemas.microsoft.com/office/drawing/2014/main" id="{CE877AE6-FFAE-4835-B2D6-162891BBDD7D}"/>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6" name="AutoShape 283">
                <a:extLst>
                  <a:ext uri="{FF2B5EF4-FFF2-40B4-BE49-F238E27FC236}">
                    <a16:creationId xmlns:a16="http://schemas.microsoft.com/office/drawing/2014/main" id="{624A50A0-1C47-4051-AD03-8B33B706FA9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7" name="AutoShape 284">
                <a:extLst>
                  <a:ext uri="{FF2B5EF4-FFF2-40B4-BE49-F238E27FC236}">
                    <a16:creationId xmlns:a16="http://schemas.microsoft.com/office/drawing/2014/main" id="{BDEB5B0F-02B0-47C6-85BE-E8317D3A44ED}"/>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8" name="Oval 285">
                <a:extLst>
                  <a:ext uri="{FF2B5EF4-FFF2-40B4-BE49-F238E27FC236}">
                    <a16:creationId xmlns:a16="http://schemas.microsoft.com/office/drawing/2014/main" id="{269CEF48-70FB-4BE4-9342-793316200BF8}"/>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9" name="Oval 286">
                <a:extLst>
                  <a:ext uri="{FF2B5EF4-FFF2-40B4-BE49-F238E27FC236}">
                    <a16:creationId xmlns:a16="http://schemas.microsoft.com/office/drawing/2014/main" id="{A323021A-D1A7-45EC-97F4-17BB07266FD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200" name="Oval 287">
                <a:extLst>
                  <a:ext uri="{FF2B5EF4-FFF2-40B4-BE49-F238E27FC236}">
                    <a16:creationId xmlns:a16="http://schemas.microsoft.com/office/drawing/2014/main" id="{AD946B8F-04CF-4D99-97C9-0FF2ECE6FC7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1" name="Rectangle 288">
                <a:extLst>
                  <a:ext uri="{FF2B5EF4-FFF2-40B4-BE49-F238E27FC236}">
                    <a16:creationId xmlns:a16="http://schemas.microsoft.com/office/drawing/2014/main" id="{82D5C20F-5F5E-4F03-8D91-D0E0A90F441A}"/>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49" name="Group 289">
              <a:extLst>
                <a:ext uri="{FF2B5EF4-FFF2-40B4-BE49-F238E27FC236}">
                  <a16:creationId xmlns:a16="http://schemas.microsoft.com/office/drawing/2014/main" id="{D0A4F2B0-653F-4852-880B-B2360567D681}"/>
                </a:ext>
              </a:extLst>
            </p:cNvPr>
            <p:cNvGrpSpPr>
              <a:grpSpLocks/>
            </p:cNvGrpSpPr>
            <p:nvPr/>
          </p:nvGrpSpPr>
          <p:grpSpPr bwMode="auto">
            <a:xfrm>
              <a:off x="7135813" y="5740794"/>
              <a:ext cx="231775" cy="441325"/>
              <a:chOff x="4140" y="429"/>
              <a:chExt cx="1425" cy="2396"/>
            </a:xfrm>
          </p:grpSpPr>
          <p:sp>
            <p:nvSpPr>
              <p:cNvPr id="106553" name="Freeform 290">
                <a:extLst>
                  <a:ext uri="{FF2B5EF4-FFF2-40B4-BE49-F238E27FC236}">
                    <a16:creationId xmlns:a16="http://schemas.microsoft.com/office/drawing/2014/main" id="{750F7EE9-C50D-46EB-B5D3-3E7931C83515}"/>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47" name="Rectangle 291">
                <a:extLst>
                  <a:ext uri="{FF2B5EF4-FFF2-40B4-BE49-F238E27FC236}">
                    <a16:creationId xmlns:a16="http://schemas.microsoft.com/office/drawing/2014/main" id="{9A02EF3C-A084-4A87-9ACC-0F9AA325677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55" name="Freeform 292">
                <a:extLst>
                  <a:ext uri="{FF2B5EF4-FFF2-40B4-BE49-F238E27FC236}">
                    <a16:creationId xmlns:a16="http://schemas.microsoft.com/office/drawing/2014/main" id="{56F076B0-2482-4C0A-9982-829EBEA67BAA}"/>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56" name="Freeform 293">
                <a:extLst>
                  <a:ext uri="{FF2B5EF4-FFF2-40B4-BE49-F238E27FC236}">
                    <a16:creationId xmlns:a16="http://schemas.microsoft.com/office/drawing/2014/main" id="{0B4AD151-E1EE-4CDE-81C6-CA4122D44C19}"/>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50" name="Rectangle 294">
                <a:extLst>
                  <a:ext uri="{FF2B5EF4-FFF2-40B4-BE49-F238E27FC236}">
                    <a16:creationId xmlns:a16="http://schemas.microsoft.com/office/drawing/2014/main" id="{E136D017-8223-4C7E-90EF-42659BF4063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58" name="Group 295">
                <a:extLst>
                  <a:ext uri="{FF2B5EF4-FFF2-40B4-BE49-F238E27FC236}">
                    <a16:creationId xmlns:a16="http://schemas.microsoft.com/office/drawing/2014/main" id="{EAACCFEE-C3BD-4077-BECB-D11FD39179BC}"/>
                  </a:ext>
                </a:extLst>
              </p:cNvPr>
              <p:cNvGrpSpPr>
                <a:grpSpLocks/>
              </p:cNvGrpSpPr>
              <p:nvPr/>
            </p:nvGrpSpPr>
            <p:grpSpPr bwMode="auto">
              <a:xfrm>
                <a:off x="4749" y="668"/>
                <a:ext cx="581" cy="145"/>
                <a:chOff x="614" y="2568"/>
                <a:chExt cx="725" cy="139"/>
              </a:xfrm>
            </p:grpSpPr>
            <p:sp>
              <p:nvSpPr>
                <p:cNvPr id="89176" name="AutoShape 296">
                  <a:extLst>
                    <a:ext uri="{FF2B5EF4-FFF2-40B4-BE49-F238E27FC236}">
                      <a16:creationId xmlns:a16="http://schemas.microsoft.com/office/drawing/2014/main" id="{5B3E2ACB-04A2-4357-97E4-098F38EFB2C3}"/>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7" name="AutoShape 297">
                  <a:extLst>
                    <a:ext uri="{FF2B5EF4-FFF2-40B4-BE49-F238E27FC236}">
                      <a16:creationId xmlns:a16="http://schemas.microsoft.com/office/drawing/2014/main" id="{9C809EBC-5AA9-42BC-945B-B5774DFAA27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2" name="Rectangle 298">
                <a:extLst>
                  <a:ext uri="{FF2B5EF4-FFF2-40B4-BE49-F238E27FC236}">
                    <a16:creationId xmlns:a16="http://schemas.microsoft.com/office/drawing/2014/main" id="{9D906A86-B1E5-4A1C-88BA-34D45BADB37B}"/>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0" name="Group 299">
                <a:extLst>
                  <a:ext uri="{FF2B5EF4-FFF2-40B4-BE49-F238E27FC236}">
                    <a16:creationId xmlns:a16="http://schemas.microsoft.com/office/drawing/2014/main" id="{E2C25903-F377-4FEA-A29B-F59E62D1E5A8}"/>
                  </a:ext>
                </a:extLst>
              </p:cNvPr>
              <p:cNvGrpSpPr>
                <a:grpSpLocks/>
              </p:cNvGrpSpPr>
              <p:nvPr/>
            </p:nvGrpSpPr>
            <p:grpSpPr bwMode="auto">
              <a:xfrm>
                <a:off x="4747" y="994"/>
                <a:ext cx="581" cy="134"/>
                <a:chOff x="614" y="2568"/>
                <a:chExt cx="725" cy="139"/>
              </a:xfrm>
            </p:grpSpPr>
            <p:sp>
              <p:nvSpPr>
                <p:cNvPr id="89174" name="AutoShape 300">
                  <a:extLst>
                    <a:ext uri="{FF2B5EF4-FFF2-40B4-BE49-F238E27FC236}">
                      <a16:creationId xmlns:a16="http://schemas.microsoft.com/office/drawing/2014/main" id="{5CBB735E-2C79-45CF-A005-D5B654CCD21C}"/>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5" name="AutoShape 301">
                  <a:extLst>
                    <a:ext uri="{FF2B5EF4-FFF2-40B4-BE49-F238E27FC236}">
                      <a16:creationId xmlns:a16="http://schemas.microsoft.com/office/drawing/2014/main" id="{C7566814-3E62-440A-B324-D1CBB91120E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4" name="Rectangle 302">
                <a:extLst>
                  <a:ext uri="{FF2B5EF4-FFF2-40B4-BE49-F238E27FC236}">
                    <a16:creationId xmlns:a16="http://schemas.microsoft.com/office/drawing/2014/main" id="{5F2E0CEE-548B-49BB-997B-76AE4143F54D}"/>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55" name="Rectangle 303">
                <a:extLst>
                  <a:ext uri="{FF2B5EF4-FFF2-40B4-BE49-F238E27FC236}">
                    <a16:creationId xmlns:a16="http://schemas.microsoft.com/office/drawing/2014/main" id="{21359DB6-C272-4930-B8D1-9BF67A6BA160}"/>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3" name="Group 304">
                <a:extLst>
                  <a:ext uri="{FF2B5EF4-FFF2-40B4-BE49-F238E27FC236}">
                    <a16:creationId xmlns:a16="http://schemas.microsoft.com/office/drawing/2014/main" id="{685D78D9-8633-401D-981F-B642F92BD249}"/>
                  </a:ext>
                </a:extLst>
              </p:cNvPr>
              <p:cNvGrpSpPr>
                <a:grpSpLocks/>
              </p:cNvGrpSpPr>
              <p:nvPr/>
            </p:nvGrpSpPr>
            <p:grpSpPr bwMode="auto">
              <a:xfrm>
                <a:off x="4735" y="1627"/>
                <a:ext cx="582" cy="151"/>
                <a:chOff x="614" y="2568"/>
                <a:chExt cx="725" cy="139"/>
              </a:xfrm>
            </p:grpSpPr>
            <p:sp>
              <p:nvSpPr>
                <p:cNvPr id="89172" name="AutoShape 305">
                  <a:extLst>
                    <a:ext uri="{FF2B5EF4-FFF2-40B4-BE49-F238E27FC236}">
                      <a16:creationId xmlns:a16="http://schemas.microsoft.com/office/drawing/2014/main" id="{FC466596-8E4A-41A9-81DF-223A1B53EB7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3" name="AutoShape 306">
                  <a:extLst>
                    <a:ext uri="{FF2B5EF4-FFF2-40B4-BE49-F238E27FC236}">
                      <a16:creationId xmlns:a16="http://schemas.microsoft.com/office/drawing/2014/main" id="{657735C7-AEDE-4160-B5C8-7BFBF251897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64" name="Freeform 307">
                <a:extLst>
                  <a:ext uri="{FF2B5EF4-FFF2-40B4-BE49-F238E27FC236}">
                    <a16:creationId xmlns:a16="http://schemas.microsoft.com/office/drawing/2014/main" id="{A54330BA-614B-43CE-81DA-B8DEEAEE0811}"/>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65" name="Group 308">
                <a:extLst>
                  <a:ext uri="{FF2B5EF4-FFF2-40B4-BE49-F238E27FC236}">
                    <a16:creationId xmlns:a16="http://schemas.microsoft.com/office/drawing/2014/main" id="{EBFD386E-FBA0-401F-81CD-B7DDCCD9E4AE}"/>
                  </a:ext>
                </a:extLst>
              </p:cNvPr>
              <p:cNvGrpSpPr>
                <a:grpSpLocks/>
              </p:cNvGrpSpPr>
              <p:nvPr/>
            </p:nvGrpSpPr>
            <p:grpSpPr bwMode="auto">
              <a:xfrm>
                <a:off x="4739" y="1327"/>
                <a:ext cx="582" cy="139"/>
                <a:chOff x="614" y="2568"/>
                <a:chExt cx="725" cy="139"/>
              </a:xfrm>
            </p:grpSpPr>
            <p:sp>
              <p:nvSpPr>
                <p:cNvPr id="89170" name="AutoShape 309">
                  <a:extLst>
                    <a:ext uri="{FF2B5EF4-FFF2-40B4-BE49-F238E27FC236}">
                      <a16:creationId xmlns:a16="http://schemas.microsoft.com/office/drawing/2014/main" id="{CE8BD159-D6EC-4E08-B530-CD0288F77970}"/>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1" name="AutoShape 310">
                  <a:extLst>
                    <a:ext uri="{FF2B5EF4-FFF2-40B4-BE49-F238E27FC236}">
                      <a16:creationId xmlns:a16="http://schemas.microsoft.com/office/drawing/2014/main" id="{F932E7BF-3917-4C45-85D4-37991F84A5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9" name="Rectangle 311">
                <a:extLst>
                  <a:ext uri="{FF2B5EF4-FFF2-40B4-BE49-F238E27FC236}">
                    <a16:creationId xmlns:a16="http://schemas.microsoft.com/office/drawing/2014/main" id="{353C16FB-46D5-40CB-88D0-B6DD18534F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67" name="Freeform 312">
                <a:extLst>
                  <a:ext uri="{FF2B5EF4-FFF2-40B4-BE49-F238E27FC236}">
                    <a16:creationId xmlns:a16="http://schemas.microsoft.com/office/drawing/2014/main" id="{F9DB1EAF-D56B-4D70-88A1-8383319BA365}"/>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68" name="Freeform 313">
                <a:extLst>
                  <a:ext uri="{FF2B5EF4-FFF2-40B4-BE49-F238E27FC236}">
                    <a16:creationId xmlns:a16="http://schemas.microsoft.com/office/drawing/2014/main" id="{B205EE54-062D-422B-A6E0-971B63A0CBB8}"/>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2" name="Oval 314">
                <a:extLst>
                  <a:ext uri="{FF2B5EF4-FFF2-40B4-BE49-F238E27FC236}">
                    <a16:creationId xmlns:a16="http://schemas.microsoft.com/office/drawing/2014/main" id="{ACE2953E-B287-454E-A938-97D16BC9DC6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70" name="Freeform 315">
                <a:extLst>
                  <a:ext uri="{FF2B5EF4-FFF2-40B4-BE49-F238E27FC236}">
                    <a16:creationId xmlns:a16="http://schemas.microsoft.com/office/drawing/2014/main" id="{2D2913B9-B726-48EF-AB76-A8FE241B34EA}"/>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4" name="AutoShape 316">
                <a:extLst>
                  <a:ext uri="{FF2B5EF4-FFF2-40B4-BE49-F238E27FC236}">
                    <a16:creationId xmlns:a16="http://schemas.microsoft.com/office/drawing/2014/main" id="{85C11E43-C59E-40B9-906F-509E3AE9364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5" name="AutoShape 317">
                <a:extLst>
                  <a:ext uri="{FF2B5EF4-FFF2-40B4-BE49-F238E27FC236}">
                    <a16:creationId xmlns:a16="http://schemas.microsoft.com/office/drawing/2014/main" id="{A030ECB6-8B62-49EE-B810-EDF1D1A5FAF5}"/>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6" name="Oval 318">
                <a:extLst>
                  <a:ext uri="{FF2B5EF4-FFF2-40B4-BE49-F238E27FC236}">
                    <a16:creationId xmlns:a16="http://schemas.microsoft.com/office/drawing/2014/main" id="{D7310BFF-4F6C-4924-9F32-F599CAE947B0}"/>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7" name="Oval 319">
                <a:extLst>
                  <a:ext uri="{FF2B5EF4-FFF2-40B4-BE49-F238E27FC236}">
                    <a16:creationId xmlns:a16="http://schemas.microsoft.com/office/drawing/2014/main" id="{0C0F745B-59D9-4C3F-B41F-72AD3C894365}"/>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168" name="Oval 320">
                <a:extLst>
                  <a:ext uri="{FF2B5EF4-FFF2-40B4-BE49-F238E27FC236}">
                    <a16:creationId xmlns:a16="http://schemas.microsoft.com/office/drawing/2014/main" id="{5D67E27B-7C44-4319-A029-BC343B11DC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9" name="Rectangle 321">
                <a:extLst>
                  <a:ext uri="{FF2B5EF4-FFF2-40B4-BE49-F238E27FC236}">
                    <a16:creationId xmlns:a16="http://schemas.microsoft.com/office/drawing/2014/main" id="{380B71CA-99B8-438E-9B8A-2CDECEB4AA4E}"/>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50" name="Group 325">
              <a:extLst>
                <a:ext uri="{FF2B5EF4-FFF2-40B4-BE49-F238E27FC236}">
                  <a16:creationId xmlns:a16="http://schemas.microsoft.com/office/drawing/2014/main" id="{80842EDB-59E0-4AA8-AC8B-B801C99CFF84}"/>
                </a:ext>
              </a:extLst>
            </p:cNvPr>
            <p:cNvGrpSpPr>
              <a:grpSpLocks/>
            </p:cNvGrpSpPr>
            <p:nvPr/>
          </p:nvGrpSpPr>
          <p:grpSpPr bwMode="auto">
            <a:xfrm>
              <a:off x="661988" y="5467744"/>
              <a:ext cx="525462" cy="434975"/>
              <a:chOff x="-44" y="1473"/>
              <a:chExt cx="981" cy="1105"/>
            </a:xfrm>
          </p:grpSpPr>
          <p:pic>
            <p:nvPicPr>
              <p:cNvPr id="106551" name="Picture 326" descr="desktop_computer_stylized_medium">
                <a:extLst>
                  <a:ext uri="{FF2B5EF4-FFF2-40B4-BE49-F238E27FC236}">
                    <a16:creationId xmlns:a16="http://schemas.microsoft.com/office/drawing/2014/main" id="{4CFBABE6-2221-4D4E-A1F5-F4310A46DF4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52" name="Freeform 327">
                <a:extLst>
                  <a:ext uri="{FF2B5EF4-FFF2-40B4-BE49-F238E27FC236}">
                    <a16:creationId xmlns:a16="http://schemas.microsoft.com/office/drawing/2014/main" id="{D80C4E83-B0A6-49B2-B217-0D873C98E2A3}"/>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Text Box 42">
              <a:extLst>
                <a:ext uri="{FF2B5EF4-FFF2-40B4-BE49-F238E27FC236}">
                  <a16:creationId xmlns:a16="http://schemas.microsoft.com/office/drawing/2014/main" id="{776902CB-B5D8-43B3-9A97-F843DC614BBA}"/>
                </a:ext>
              </a:extLst>
            </p:cNvPr>
            <p:cNvSpPr txBox="1">
              <a:spLocks noChangeArrowheads="1"/>
            </p:cNvSpPr>
            <p:nvPr/>
          </p:nvSpPr>
          <p:spPr bwMode="auto">
            <a:xfrm>
              <a:off x="1576499" y="3877699"/>
              <a:ext cx="693561" cy="19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3" name="Text Box 52">
              <a:extLst>
                <a:ext uri="{FF2B5EF4-FFF2-40B4-BE49-F238E27FC236}">
                  <a16:creationId xmlns:a16="http://schemas.microsoft.com/office/drawing/2014/main" id="{DEC3BDD2-4980-4751-9DC1-E3018EC95078}"/>
                </a:ext>
              </a:extLst>
            </p:cNvPr>
            <p:cNvSpPr txBox="1">
              <a:spLocks noChangeArrowheads="1"/>
            </p:cNvSpPr>
            <p:nvPr/>
          </p:nvSpPr>
          <p:spPr bwMode="auto">
            <a:xfrm>
              <a:off x="504891" y="5065425"/>
              <a:ext cx="815638" cy="23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grpSp>
      <p:sp>
        <p:nvSpPr>
          <p:cNvPr id="5" name="矩形 4">
            <a:extLst>
              <a:ext uri="{FF2B5EF4-FFF2-40B4-BE49-F238E27FC236}">
                <a16:creationId xmlns:a16="http://schemas.microsoft.com/office/drawing/2014/main" id="{2F46A7B6-AD3D-40E1-AA61-6755D5313384}"/>
              </a:ext>
            </a:extLst>
          </p:cNvPr>
          <p:cNvSpPr/>
          <p:nvPr/>
        </p:nvSpPr>
        <p:spPr>
          <a:xfrm>
            <a:off x="1414725" y="6055977"/>
            <a:ext cx="6238846" cy="387286"/>
          </a:xfrm>
          <a:prstGeom prst="rect">
            <a:avLst/>
          </a:prstGeom>
          <a:solidFill>
            <a:schemeClr val="accent2">
              <a:lumMod val="20000"/>
              <a:lumOff val="80000"/>
            </a:schemeClr>
          </a:solidFill>
          <a:ln>
            <a:solidFill>
              <a:schemeClr val="accent1"/>
            </a:solidFill>
          </a:ln>
        </p:spPr>
        <p:txBody>
          <a:bodyPr wrap="square">
            <a:spAutoFit/>
          </a:bodyPr>
          <a:lstStyle/>
          <a:p>
            <a:pPr algn="ctr">
              <a:lnSpc>
                <a:spcPts val="2300"/>
              </a:lnSpc>
            </a:pP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这种情况下，实际性能在很大程度上取决于如何重传</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2">
            <a:extLst>
              <a:ext uri="{FF2B5EF4-FFF2-40B4-BE49-F238E27FC236}">
                <a16:creationId xmlns:a16="http://schemas.microsoft.com/office/drawing/2014/main" id="{2445CD32-9691-44CE-923B-CD2026EBD15B}"/>
              </a:ext>
            </a:extLst>
          </p:cNvPr>
          <p:cNvSpPr>
            <a:spLocks noGrp="1" noChangeArrowheads="1"/>
          </p:cNvSpPr>
          <p:nvPr>
            <p:ph type="body" sz="half" idx="1"/>
          </p:nvPr>
        </p:nvSpPr>
        <p:spPr>
          <a:xfrm>
            <a:off x="415977" y="1469726"/>
            <a:ext cx="7958574" cy="506999"/>
          </a:xfrm>
        </p:spPr>
        <p:txBody>
          <a:bodyPr>
            <a:normAutofit/>
          </a:bodyPr>
          <a:lstStyle/>
          <a:p>
            <a:pPr marL="266700" indent="-176213">
              <a:lnSpc>
                <a:spcPts val="2800"/>
              </a:lnSpc>
              <a:spcBef>
                <a:spcPts val="600"/>
              </a:spcBef>
              <a:buClr>
                <a:srgbClr val="2A09B7"/>
              </a:buClr>
              <a:buFont typeface="Wingdings" charset="0"/>
              <a:buChar char="v"/>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理想情况：发送端可以知道路由器的缓存是否空闲</a:t>
            </a:r>
            <a:endParaRPr lang="en-US" sz="2200" dirty="0">
              <a:ea typeface="ＭＳ Ｐゴシック" charset="0"/>
              <a:cs typeface="+mn-cs"/>
            </a:endParaRPr>
          </a:p>
          <a:p>
            <a:pPr>
              <a:buFont typeface="Wingdings" charset="0"/>
              <a:buChar char="v"/>
              <a:defRPr/>
            </a:pPr>
            <a:endParaRPr lang="en-US" dirty="0">
              <a:ea typeface="ＭＳ Ｐゴシック" charset="0"/>
              <a:cs typeface="+mn-cs"/>
            </a:endParaRPr>
          </a:p>
        </p:txBody>
      </p:sp>
      <p:sp>
        <p:nvSpPr>
          <p:cNvPr id="162" name="矩形 161">
            <a:extLst>
              <a:ext uri="{FF2B5EF4-FFF2-40B4-BE49-F238E27FC236}">
                <a16:creationId xmlns:a16="http://schemas.microsoft.com/office/drawing/2014/main" id="{A0DFF15C-A8E2-4009-B925-EDAF35231A0A}"/>
              </a:ext>
            </a:extLst>
          </p:cNvPr>
          <p:cNvSpPr/>
          <p:nvPr/>
        </p:nvSpPr>
        <p:spPr>
          <a:xfrm>
            <a:off x="374044" y="727174"/>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65" name="标题 1">
            <a:extLst>
              <a:ext uri="{FF2B5EF4-FFF2-40B4-BE49-F238E27FC236}">
                <a16:creationId xmlns:a16="http://schemas.microsoft.com/office/drawing/2014/main" id="{54B5A12E-E0AD-497B-92BB-7DF41E83A732}"/>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组合 3">
            <a:extLst>
              <a:ext uri="{FF2B5EF4-FFF2-40B4-BE49-F238E27FC236}">
                <a16:creationId xmlns:a16="http://schemas.microsoft.com/office/drawing/2014/main" id="{75C8CEB5-6B70-46A5-92ED-A7BF693D23F9}"/>
              </a:ext>
            </a:extLst>
          </p:cNvPr>
          <p:cNvGrpSpPr/>
          <p:nvPr/>
        </p:nvGrpSpPr>
        <p:grpSpPr>
          <a:xfrm>
            <a:off x="625644" y="2519363"/>
            <a:ext cx="7560544" cy="2902295"/>
            <a:chOff x="504891" y="3300807"/>
            <a:chExt cx="7669147" cy="2881312"/>
          </a:xfrm>
        </p:grpSpPr>
        <p:sp>
          <p:nvSpPr>
            <p:cNvPr id="106499" name="Freeform 247">
              <a:extLst>
                <a:ext uri="{FF2B5EF4-FFF2-40B4-BE49-F238E27FC236}">
                  <a16:creationId xmlns:a16="http://schemas.microsoft.com/office/drawing/2014/main" id="{AD17E024-DA37-444E-BB2B-C08635D41483}"/>
                </a:ext>
              </a:extLst>
            </p:cNvPr>
            <p:cNvSpPr>
              <a:spLocks/>
            </p:cNvSpPr>
            <p:nvPr/>
          </p:nvSpPr>
          <p:spPr bwMode="auto">
            <a:xfrm flipH="1">
              <a:off x="2111375" y="3338907"/>
              <a:ext cx="250825" cy="1201737"/>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00" name="Group 322">
              <a:extLst>
                <a:ext uri="{FF2B5EF4-FFF2-40B4-BE49-F238E27FC236}">
                  <a16:creationId xmlns:a16="http://schemas.microsoft.com/office/drawing/2014/main" id="{9A7998E7-7DEE-41A0-8A55-B6201410C0E6}"/>
                </a:ext>
              </a:extLst>
            </p:cNvPr>
            <p:cNvGrpSpPr>
              <a:grpSpLocks/>
            </p:cNvGrpSpPr>
            <p:nvPr/>
          </p:nvGrpSpPr>
          <p:grpSpPr bwMode="auto">
            <a:xfrm>
              <a:off x="1716088" y="4299344"/>
              <a:ext cx="525462" cy="434975"/>
              <a:chOff x="-44" y="1473"/>
              <a:chExt cx="981" cy="1105"/>
            </a:xfrm>
          </p:grpSpPr>
          <p:pic>
            <p:nvPicPr>
              <p:cNvPr id="106653" name="Picture 323" descr="desktop_computer_stylized_medium">
                <a:extLst>
                  <a:ext uri="{FF2B5EF4-FFF2-40B4-BE49-F238E27FC236}">
                    <a16:creationId xmlns:a16="http://schemas.microsoft.com/office/drawing/2014/main" id="{4B88E7BC-5B3E-42BC-B044-9AAFE1156F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654" name="Freeform 324">
                <a:extLst>
                  <a:ext uri="{FF2B5EF4-FFF2-40B4-BE49-F238E27FC236}">
                    <a16:creationId xmlns:a16="http://schemas.microsoft.com/office/drawing/2014/main" id="{F4EB014E-C014-4825-954C-7A3A11ED7869}"/>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6501" name="Freeform 254">
              <a:extLst>
                <a:ext uri="{FF2B5EF4-FFF2-40B4-BE49-F238E27FC236}">
                  <a16:creationId xmlns:a16="http://schemas.microsoft.com/office/drawing/2014/main" id="{1CEA8205-3C21-4628-8436-1F05635A0578}"/>
                </a:ext>
              </a:extLst>
            </p:cNvPr>
            <p:cNvSpPr>
              <a:spLocks/>
            </p:cNvSpPr>
            <p:nvPr/>
          </p:nvSpPr>
          <p:spPr bwMode="auto">
            <a:xfrm>
              <a:off x="6959600" y="4843857"/>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2" name="Freeform 243">
              <a:extLst>
                <a:ext uri="{FF2B5EF4-FFF2-40B4-BE49-F238E27FC236}">
                  <a16:creationId xmlns:a16="http://schemas.microsoft.com/office/drawing/2014/main" id="{2496CF22-5AA8-4F8E-B7C5-A8C44B8373CA}"/>
                </a:ext>
              </a:extLst>
            </p:cNvPr>
            <p:cNvSpPr>
              <a:spLocks/>
            </p:cNvSpPr>
            <p:nvPr/>
          </p:nvSpPr>
          <p:spPr bwMode="auto">
            <a:xfrm flipH="1">
              <a:off x="1066800" y="4540644"/>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4" name="Oval 3">
              <a:extLst>
                <a:ext uri="{FF2B5EF4-FFF2-40B4-BE49-F238E27FC236}">
                  <a16:creationId xmlns:a16="http://schemas.microsoft.com/office/drawing/2014/main" id="{3C14548E-944A-4620-83A6-9A5702C3BE7F}"/>
                </a:ext>
              </a:extLst>
            </p:cNvPr>
            <p:cNvSpPr>
              <a:spLocks noChangeArrowheads="1"/>
            </p:cNvSpPr>
            <p:nvPr/>
          </p:nvSpPr>
          <p:spPr bwMode="auto">
            <a:xfrm>
              <a:off x="3795713" y="5199457"/>
              <a:ext cx="1304925" cy="303212"/>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05" name="Line 4">
              <a:extLst>
                <a:ext uri="{FF2B5EF4-FFF2-40B4-BE49-F238E27FC236}">
                  <a16:creationId xmlns:a16="http://schemas.microsoft.com/office/drawing/2014/main" id="{EAF45F83-8F82-4DCC-A514-479527CC2172}"/>
                </a:ext>
              </a:extLst>
            </p:cNvPr>
            <p:cNvSpPr>
              <a:spLocks noChangeShapeType="1"/>
            </p:cNvSpPr>
            <p:nvPr/>
          </p:nvSpPr>
          <p:spPr bwMode="auto">
            <a:xfrm>
              <a:off x="3795713" y="5175644"/>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6" name="Line 5">
              <a:extLst>
                <a:ext uri="{FF2B5EF4-FFF2-40B4-BE49-F238E27FC236}">
                  <a16:creationId xmlns:a16="http://schemas.microsoft.com/office/drawing/2014/main" id="{36503B02-585E-4B75-AC35-A1C0CED04B40}"/>
                </a:ext>
              </a:extLst>
            </p:cNvPr>
            <p:cNvSpPr>
              <a:spLocks noChangeShapeType="1"/>
            </p:cNvSpPr>
            <p:nvPr/>
          </p:nvSpPr>
          <p:spPr bwMode="auto">
            <a:xfrm>
              <a:off x="5100638" y="5175644"/>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7" name="Rectangle 6">
              <a:extLst>
                <a:ext uri="{FF2B5EF4-FFF2-40B4-BE49-F238E27FC236}">
                  <a16:creationId xmlns:a16="http://schemas.microsoft.com/office/drawing/2014/main" id="{021D0B4A-53EF-417B-ABA3-C80C75773FB5}"/>
                </a:ext>
              </a:extLst>
            </p:cNvPr>
            <p:cNvSpPr>
              <a:spLocks noChangeArrowheads="1"/>
            </p:cNvSpPr>
            <p:nvPr/>
          </p:nvSpPr>
          <p:spPr bwMode="auto">
            <a:xfrm>
              <a:off x="3795713" y="5175644"/>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8" name="Rectangle 7">
              <a:extLst>
                <a:ext uri="{FF2B5EF4-FFF2-40B4-BE49-F238E27FC236}">
                  <a16:creationId xmlns:a16="http://schemas.microsoft.com/office/drawing/2014/main" id="{795ACC3F-8ED6-427C-9358-5FC92C197F84}"/>
                </a:ext>
              </a:extLst>
            </p:cNvPr>
            <p:cNvSpPr>
              <a:spLocks noChangeArrowheads="1"/>
            </p:cNvSpPr>
            <p:nvPr/>
          </p:nvSpPr>
          <p:spPr bwMode="auto">
            <a:xfrm>
              <a:off x="4705350" y="5162944"/>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9" name="Oval 8">
              <a:extLst>
                <a:ext uri="{FF2B5EF4-FFF2-40B4-BE49-F238E27FC236}">
                  <a16:creationId xmlns:a16="http://schemas.microsoft.com/office/drawing/2014/main" id="{309C87FE-4F4A-4EE8-8A13-B8F66700082B}"/>
                </a:ext>
              </a:extLst>
            </p:cNvPr>
            <p:cNvSpPr>
              <a:spLocks noChangeArrowheads="1"/>
            </p:cNvSpPr>
            <p:nvPr/>
          </p:nvSpPr>
          <p:spPr bwMode="auto">
            <a:xfrm>
              <a:off x="3790950" y="4977207"/>
              <a:ext cx="1306513" cy="352425"/>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06510" name="Group 9">
              <a:extLst>
                <a:ext uri="{FF2B5EF4-FFF2-40B4-BE49-F238E27FC236}">
                  <a16:creationId xmlns:a16="http://schemas.microsoft.com/office/drawing/2014/main" id="{D42E5684-E473-4D81-99FC-07D40515DE5E}"/>
                </a:ext>
              </a:extLst>
            </p:cNvPr>
            <p:cNvGrpSpPr>
              <a:grpSpLocks/>
            </p:cNvGrpSpPr>
            <p:nvPr/>
          </p:nvGrpSpPr>
          <p:grpSpPr bwMode="auto">
            <a:xfrm>
              <a:off x="4097338" y="5034357"/>
              <a:ext cx="647700" cy="206375"/>
              <a:chOff x="2848" y="848"/>
              <a:chExt cx="140" cy="98"/>
            </a:xfrm>
          </p:grpSpPr>
          <p:sp>
            <p:nvSpPr>
              <p:cNvPr id="106650" name="Line 10">
                <a:extLst>
                  <a:ext uri="{FF2B5EF4-FFF2-40B4-BE49-F238E27FC236}">
                    <a16:creationId xmlns:a16="http://schemas.microsoft.com/office/drawing/2014/main" id="{F12941F3-B549-4A3D-B44E-C431439E53D4}"/>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1" name="Line 11">
                <a:extLst>
                  <a:ext uri="{FF2B5EF4-FFF2-40B4-BE49-F238E27FC236}">
                    <a16:creationId xmlns:a16="http://schemas.microsoft.com/office/drawing/2014/main" id="{56901E80-0A55-4FFD-AEE0-0611B7555F27}"/>
                  </a:ext>
                </a:extLst>
              </p:cNvPr>
              <p:cNvSpPr>
                <a:spLocks noChangeShapeType="1"/>
              </p:cNvSpPr>
              <p:nvPr/>
            </p:nvSpPr>
            <p:spPr bwMode="auto">
              <a:xfrm>
                <a:off x="2944" y="946"/>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2" name="Line 12">
                <a:extLst>
                  <a:ext uri="{FF2B5EF4-FFF2-40B4-BE49-F238E27FC236}">
                    <a16:creationId xmlns:a16="http://schemas.microsoft.com/office/drawing/2014/main" id="{60AB4CBE-4F43-4A6A-ABF5-86930F99CAD0}"/>
                  </a:ext>
                </a:extLst>
              </p:cNvPr>
              <p:cNvSpPr>
                <a:spLocks noChangeShapeType="1"/>
              </p:cNvSpPr>
              <p:nvPr/>
            </p:nvSpPr>
            <p:spPr bwMode="auto">
              <a:xfrm>
                <a:off x="2894" y="850"/>
                <a:ext cx="52" cy="9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6511" name="Line 13">
              <a:extLst>
                <a:ext uri="{FF2B5EF4-FFF2-40B4-BE49-F238E27FC236}">
                  <a16:creationId xmlns:a16="http://schemas.microsoft.com/office/drawing/2014/main" id="{9EBDC2F3-B85A-4FF0-AC8F-235D8FE035F5}"/>
                </a:ext>
              </a:extLst>
            </p:cNvPr>
            <p:cNvSpPr>
              <a:spLocks noChangeShapeType="1"/>
            </p:cNvSpPr>
            <p:nvPr/>
          </p:nvSpPr>
          <p:spPr bwMode="auto">
            <a:xfrm>
              <a:off x="4097338" y="5232794"/>
              <a:ext cx="231775" cy="47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2" name="Line 14">
              <a:extLst>
                <a:ext uri="{FF2B5EF4-FFF2-40B4-BE49-F238E27FC236}">
                  <a16:creationId xmlns:a16="http://schemas.microsoft.com/office/drawing/2014/main" id="{F875FC55-E602-4E97-9A81-EF20FF8ECB02}"/>
                </a:ext>
              </a:extLst>
            </p:cNvPr>
            <p:cNvSpPr>
              <a:spLocks noChangeShapeType="1"/>
            </p:cNvSpPr>
            <p:nvPr/>
          </p:nvSpPr>
          <p:spPr bwMode="auto">
            <a:xfrm flipV="1">
              <a:off x="4541838" y="5032769"/>
              <a:ext cx="203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3" name="Line 15">
              <a:extLst>
                <a:ext uri="{FF2B5EF4-FFF2-40B4-BE49-F238E27FC236}">
                  <a16:creationId xmlns:a16="http://schemas.microsoft.com/office/drawing/2014/main" id="{2DF7133C-7D65-46AC-847A-F43FE85D9E94}"/>
                </a:ext>
              </a:extLst>
            </p:cNvPr>
            <p:cNvSpPr>
              <a:spLocks noChangeShapeType="1"/>
            </p:cNvSpPr>
            <p:nvPr/>
          </p:nvSpPr>
          <p:spPr bwMode="auto">
            <a:xfrm flipV="1">
              <a:off x="4310063" y="5032769"/>
              <a:ext cx="24130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4" name="Text Box 16">
              <a:extLst>
                <a:ext uri="{FF2B5EF4-FFF2-40B4-BE49-F238E27FC236}">
                  <a16:creationId xmlns:a16="http://schemas.microsoft.com/office/drawing/2014/main" id="{1B256E5D-6A31-4713-8D16-1A75ACA047F9}"/>
                </a:ext>
              </a:extLst>
            </p:cNvPr>
            <p:cNvSpPr txBox="1">
              <a:spLocks noChangeArrowheads="1"/>
            </p:cNvSpPr>
            <p:nvPr/>
          </p:nvSpPr>
          <p:spPr bwMode="auto">
            <a:xfrm>
              <a:off x="3481485" y="5807469"/>
              <a:ext cx="1363565" cy="33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zh-CN" altLang="en-US" sz="1400" dirty="0">
                  <a:solidFill>
                    <a:schemeClr val="tx2"/>
                  </a:solidFill>
                  <a:latin typeface="Arial" panose="020B0604020202020204" pitchFamily="34" charset="0"/>
                </a:rPr>
                <a:t>有限输出缓存</a:t>
              </a:r>
              <a:endParaRPr lang="en-US" altLang="zh-CN" sz="1400" dirty="0">
                <a:solidFill>
                  <a:schemeClr val="tx2"/>
                </a:solidFill>
                <a:latin typeface="Comic Sans MS" panose="030F0702030302020204" pitchFamily="66" charset="0"/>
              </a:endParaRPr>
            </a:p>
          </p:txBody>
        </p:sp>
        <p:sp>
          <p:nvSpPr>
            <p:cNvPr id="106515" name="Line 17">
              <a:extLst>
                <a:ext uri="{FF2B5EF4-FFF2-40B4-BE49-F238E27FC236}">
                  <a16:creationId xmlns:a16="http://schemas.microsoft.com/office/drawing/2014/main" id="{E932C99F-8CDB-4BDA-8D8D-215D2BA4AA38}"/>
                </a:ext>
              </a:extLst>
            </p:cNvPr>
            <p:cNvSpPr>
              <a:spLocks noChangeShapeType="1"/>
            </p:cNvSpPr>
            <p:nvPr/>
          </p:nvSpPr>
          <p:spPr bwMode="auto">
            <a:xfrm flipH="1">
              <a:off x="242411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6" name="Line 18">
              <a:extLst>
                <a:ext uri="{FF2B5EF4-FFF2-40B4-BE49-F238E27FC236}">
                  <a16:creationId xmlns:a16="http://schemas.microsoft.com/office/drawing/2014/main" id="{72021A94-0730-4638-AC7A-17ABB3A73E86}"/>
                </a:ext>
              </a:extLst>
            </p:cNvPr>
            <p:cNvSpPr>
              <a:spLocks noChangeShapeType="1"/>
            </p:cNvSpPr>
            <p:nvPr/>
          </p:nvSpPr>
          <p:spPr bwMode="auto">
            <a:xfrm flipH="1">
              <a:off x="3021013" y="4729557"/>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17" name="Group 59">
              <a:extLst>
                <a:ext uri="{FF2B5EF4-FFF2-40B4-BE49-F238E27FC236}">
                  <a16:creationId xmlns:a16="http://schemas.microsoft.com/office/drawing/2014/main" id="{029C9BBF-BB8B-40DF-8F4B-8F8CD615EB46}"/>
                </a:ext>
              </a:extLst>
            </p:cNvPr>
            <p:cNvGrpSpPr>
              <a:grpSpLocks/>
            </p:cNvGrpSpPr>
            <p:nvPr/>
          </p:nvGrpSpPr>
          <p:grpSpPr bwMode="auto">
            <a:xfrm>
              <a:off x="2351088" y="3415107"/>
              <a:ext cx="798512" cy="1166812"/>
              <a:chOff x="12762" y="10336"/>
              <a:chExt cx="1027" cy="1700"/>
            </a:xfrm>
          </p:grpSpPr>
          <p:sp>
            <p:nvSpPr>
              <p:cNvPr id="106644" name="Rectangle 60">
                <a:extLst>
                  <a:ext uri="{FF2B5EF4-FFF2-40B4-BE49-F238E27FC236}">
                    <a16:creationId xmlns:a16="http://schemas.microsoft.com/office/drawing/2014/main" id="{841AD188-63AA-49BA-9D04-987D7C4DB7E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5" name="Rectangle 61">
                <a:extLst>
                  <a:ext uri="{FF2B5EF4-FFF2-40B4-BE49-F238E27FC236}">
                    <a16:creationId xmlns:a16="http://schemas.microsoft.com/office/drawing/2014/main" id="{1379BAF8-081D-4218-967B-0BFFD964A496}"/>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6" name="Line 62">
                <a:extLst>
                  <a:ext uri="{FF2B5EF4-FFF2-40B4-BE49-F238E27FC236}">
                    <a16:creationId xmlns:a16="http://schemas.microsoft.com/office/drawing/2014/main" id="{8195A961-E81C-4F5D-8DCC-7A776DCA44AD}"/>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7" name="Line 63">
                <a:extLst>
                  <a:ext uri="{FF2B5EF4-FFF2-40B4-BE49-F238E27FC236}">
                    <a16:creationId xmlns:a16="http://schemas.microsoft.com/office/drawing/2014/main" id="{CB0DEE53-5C96-46F7-972A-150CC28A0F95}"/>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8" name="Line 64">
                <a:extLst>
                  <a:ext uri="{FF2B5EF4-FFF2-40B4-BE49-F238E27FC236}">
                    <a16:creationId xmlns:a16="http://schemas.microsoft.com/office/drawing/2014/main" id="{18A6ED1B-1F8F-4E41-BDAE-EAD5EB49DC14}"/>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9" name="Line 65">
                <a:extLst>
                  <a:ext uri="{FF2B5EF4-FFF2-40B4-BE49-F238E27FC236}">
                    <a16:creationId xmlns:a16="http://schemas.microsoft.com/office/drawing/2014/main" id="{7E742FBA-DA53-40B0-829D-60314EA0BD40}"/>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19" name="Text Box 67">
              <a:extLst>
                <a:ext uri="{FF2B5EF4-FFF2-40B4-BE49-F238E27FC236}">
                  <a16:creationId xmlns:a16="http://schemas.microsoft.com/office/drawing/2014/main" id="{D3B8F55B-F541-400F-B682-0A49E50CB9E2}"/>
                </a:ext>
              </a:extLst>
            </p:cNvPr>
            <p:cNvSpPr txBox="1">
              <a:spLocks noChangeArrowheads="1"/>
            </p:cNvSpPr>
            <p:nvPr/>
          </p:nvSpPr>
          <p:spPr bwMode="auto">
            <a:xfrm>
              <a:off x="3368675" y="3300807"/>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dirty="0" err="1">
                  <a:solidFill>
                    <a:srgbClr val="FF0000"/>
                  </a:solidFill>
                  <a:latin typeface="Symbol" panose="05050102010706020507" pitchFamily="18" charset="2"/>
                </a:rPr>
                <a:t>l</a:t>
              </a:r>
              <a:r>
                <a:rPr lang="en-US" altLang="zh-CN" sz="2000" baseline="-25000" dirty="0" err="1">
                  <a:solidFill>
                    <a:srgbClr val="FF0000"/>
                  </a:solidFill>
                  <a:latin typeface="Arial" panose="020B0604020202020204" pitchFamily="34" charset="0"/>
                </a:rPr>
                <a:t>in</a:t>
              </a:r>
              <a:r>
                <a:rPr lang="en-US" altLang="zh-CN" baseline="-25000" dirty="0">
                  <a:solidFill>
                    <a:srgbClr val="FF0000"/>
                  </a:solidFill>
                  <a:latin typeface="Arial" panose="020B0604020202020204" pitchFamily="34" charset="0"/>
                </a:rPr>
                <a:t> </a:t>
              </a:r>
              <a:r>
                <a:rPr lang="en-US" altLang="zh-CN"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a:t>
              </a:r>
              <a:endParaRPr lang="en-US" altLang="zh-CN" dirty="0">
                <a:solidFill>
                  <a:srgbClr val="2A09B7"/>
                </a:solidFill>
                <a:latin typeface="Comic Sans MS" panose="030F0702030302020204" pitchFamily="66" charset="0"/>
              </a:endParaRPr>
            </a:p>
          </p:txBody>
        </p:sp>
        <p:sp>
          <p:nvSpPr>
            <p:cNvPr id="106520" name="Line 68">
              <a:extLst>
                <a:ext uri="{FF2B5EF4-FFF2-40B4-BE49-F238E27FC236}">
                  <a16:creationId xmlns:a16="http://schemas.microsoft.com/office/drawing/2014/main" id="{1D7C5FC8-1BAD-4899-B90A-0D785965DD6D}"/>
                </a:ext>
              </a:extLst>
            </p:cNvPr>
            <p:cNvSpPr>
              <a:spLocks noChangeShapeType="1"/>
            </p:cNvSpPr>
            <p:nvPr/>
          </p:nvSpPr>
          <p:spPr bwMode="auto">
            <a:xfrm flipH="1">
              <a:off x="1885950" y="5834457"/>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1" name="Group 109">
              <a:extLst>
                <a:ext uri="{FF2B5EF4-FFF2-40B4-BE49-F238E27FC236}">
                  <a16:creationId xmlns:a16="http://schemas.microsoft.com/office/drawing/2014/main" id="{A1945731-0CF5-4E74-8500-D1A2EC845EA8}"/>
                </a:ext>
              </a:extLst>
            </p:cNvPr>
            <p:cNvGrpSpPr>
              <a:grpSpLocks/>
            </p:cNvGrpSpPr>
            <p:nvPr/>
          </p:nvGrpSpPr>
          <p:grpSpPr bwMode="auto">
            <a:xfrm>
              <a:off x="1298575" y="4569219"/>
              <a:ext cx="798513" cy="1166813"/>
              <a:chOff x="12762" y="10336"/>
              <a:chExt cx="1027" cy="1700"/>
            </a:xfrm>
          </p:grpSpPr>
          <p:sp>
            <p:nvSpPr>
              <p:cNvPr id="106638" name="Rectangle 110">
                <a:extLst>
                  <a:ext uri="{FF2B5EF4-FFF2-40B4-BE49-F238E27FC236}">
                    <a16:creationId xmlns:a16="http://schemas.microsoft.com/office/drawing/2014/main" id="{B88100E1-8209-43EA-B9C7-F6EFB55142C1}"/>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9" name="Rectangle 111">
                <a:extLst>
                  <a:ext uri="{FF2B5EF4-FFF2-40B4-BE49-F238E27FC236}">
                    <a16:creationId xmlns:a16="http://schemas.microsoft.com/office/drawing/2014/main" id="{8F5A8925-3326-41D6-BA6B-2609395910AD}"/>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0" name="Line 112">
                <a:extLst>
                  <a:ext uri="{FF2B5EF4-FFF2-40B4-BE49-F238E27FC236}">
                    <a16:creationId xmlns:a16="http://schemas.microsoft.com/office/drawing/2014/main" id="{BDF9F642-AD50-49BC-A87A-74E1C033BCB9}"/>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1" name="Line 113">
                <a:extLst>
                  <a:ext uri="{FF2B5EF4-FFF2-40B4-BE49-F238E27FC236}">
                    <a16:creationId xmlns:a16="http://schemas.microsoft.com/office/drawing/2014/main" id="{DB5FA685-A2C5-4926-88A2-FD08EE29891F}"/>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2" name="Line 114">
                <a:extLst>
                  <a:ext uri="{FF2B5EF4-FFF2-40B4-BE49-F238E27FC236}">
                    <a16:creationId xmlns:a16="http://schemas.microsoft.com/office/drawing/2014/main" id="{65C30487-FC9B-4BE4-B71F-A1BCBD0CEAF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3" name="Line 115">
                <a:extLst>
                  <a:ext uri="{FF2B5EF4-FFF2-40B4-BE49-F238E27FC236}">
                    <a16:creationId xmlns:a16="http://schemas.microsoft.com/office/drawing/2014/main" id="{6A24A845-50F8-4491-9F32-B55EF3F3FA4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23" name="Line 117">
              <a:extLst>
                <a:ext uri="{FF2B5EF4-FFF2-40B4-BE49-F238E27FC236}">
                  <a16:creationId xmlns:a16="http://schemas.microsoft.com/office/drawing/2014/main" id="{12DF88F5-B4B6-4627-9FF1-0EE4284C75F7}"/>
                </a:ext>
              </a:extLst>
            </p:cNvPr>
            <p:cNvSpPr>
              <a:spLocks noChangeShapeType="1"/>
            </p:cNvSpPr>
            <p:nvPr/>
          </p:nvSpPr>
          <p:spPr bwMode="auto">
            <a:xfrm flipH="1">
              <a:off x="3021013" y="5245494"/>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4" name="Line 118">
              <a:extLst>
                <a:ext uri="{FF2B5EF4-FFF2-40B4-BE49-F238E27FC236}">
                  <a16:creationId xmlns:a16="http://schemas.microsoft.com/office/drawing/2014/main" id="{A70744C6-F18B-4034-A276-917454C5F10E}"/>
                </a:ext>
              </a:extLst>
            </p:cNvPr>
            <p:cNvSpPr>
              <a:spLocks noChangeShapeType="1"/>
            </p:cNvSpPr>
            <p:nvPr/>
          </p:nvSpPr>
          <p:spPr bwMode="auto">
            <a:xfrm flipH="1">
              <a:off x="5010150" y="5245494"/>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5" name="Line 119">
              <a:extLst>
                <a:ext uri="{FF2B5EF4-FFF2-40B4-BE49-F238E27FC236}">
                  <a16:creationId xmlns:a16="http://schemas.microsoft.com/office/drawing/2014/main" id="{7DB118CF-BE07-452C-AA5E-977A621B5323}"/>
                </a:ext>
              </a:extLst>
            </p:cNvPr>
            <p:cNvSpPr>
              <a:spLocks noChangeShapeType="1"/>
            </p:cNvSpPr>
            <p:nvPr/>
          </p:nvSpPr>
          <p:spPr bwMode="auto">
            <a:xfrm flipH="1">
              <a:off x="516096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6" name="Line 120">
              <a:extLst>
                <a:ext uri="{FF2B5EF4-FFF2-40B4-BE49-F238E27FC236}">
                  <a16:creationId xmlns:a16="http://schemas.microsoft.com/office/drawing/2014/main" id="{6F39A7A8-9965-458C-86A4-D6A1DF18B00D}"/>
                </a:ext>
              </a:extLst>
            </p:cNvPr>
            <p:cNvSpPr>
              <a:spLocks noChangeShapeType="1"/>
            </p:cNvSpPr>
            <p:nvPr/>
          </p:nvSpPr>
          <p:spPr bwMode="auto">
            <a:xfrm flipH="1">
              <a:off x="5149850" y="5847157"/>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7" name="Line 121">
              <a:extLst>
                <a:ext uri="{FF2B5EF4-FFF2-40B4-BE49-F238E27FC236}">
                  <a16:creationId xmlns:a16="http://schemas.microsoft.com/office/drawing/2014/main" id="{CCF39A1B-D525-4737-973E-4A2010FB6027}"/>
                </a:ext>
              </a:extLst>
            </p:cNvPr>
            <p:cNvSpPr>
              <a:spLocks noChangeShapeType="1"/>
            </p:cNvSpPr>
            <p:nvPr/>
          </p:nvSpPr>
          <p:spPr bwMode="auto">
            <a:xfrm flipH="1">
              <a:off x="6259513" y="4742257"/>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8" name="Group 162">
              <a:extLst>
                <a:ext uri="{FF2B5EF4-FFF2-40B4-BE49-F238E27FC236}">
                  <a16:creationId xmlns:a16="http://schemas.microsoft.com/office/drawing/2014/main" id="{88146E87-6C33-4803-B241-96520724E55F}"/>
                </a:ext>
              </a:extLst>
            </p:cNvPr>
            <p:cNvGrpSpPr>
              <a:grpSpLocks/>
            </p:cNvGrpSpPr>
            <p:nvPr/>
          </p:nvGrpSpPr>
          <p:grpSpPr bwMode="auto">
            <a:xfrm>
              <a:off x="6643688" y="3550044"/>
              <a:ext cx="798512" cy="1166813"/>
              <a:chOff x="12762" y="10336"/>
              <a:chExt cx="1027" cy="1700"/>
            </a:xfrm>
          </p:grpSpPr>
          <p:sp>
            <p:nvSpPr>
              <p:cNvPr id="106632" name="Rectangle 163">
                <a:extLst>
                  <a:ext uri="{FF2B5EF4-FFF2-40B4-BE49-F238E27FC236}">
                    <a16:creationId xmlns:a16="http://schemas.microsoft.com/office/drawing/2014/main" id="{EE887CB0-8A50-4E71-9195-430BC2C7CDC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3" name="Rectangle 164">
                <a:extLst>
                  <a:ext uri="{FF2B5EF4-FFF2-40B4-BE49-F238E27FC236}">
                    <a16:creationId xmlns:a16="http://schemas.microsoft.com/office/drawing/2014/main" id="{0E5D7505-0BD7-4A34-9EE3-A372AFED2180}"/>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4" name="Line 165">
                <a:extLst>
                  <a:ext uri="{FF2B5EF4-FFF2-40B4-BE49-F238E27FC236}">
                    <a16:creationId xmlns:a16="http://schemas.microsoft.com/office/drawing/2014/main" id="{C9AC27F7-13C1-48EF-8BC4-7F7B1190800E}"/>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5" name="Line 166">
                <a:extLst>
                  <a:ext uri="{FF2B5EF4-FFF2-40B4-BE49-F238E27FC236}">
                    <a16:creationId xmlns:a16="http://schemas.microsoft.com/office/drawing/2014/main" id="{861E0329-6188-44DA-85EC-755913C388B3}"/>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6" name="Line 167">
                <a:extLst>
                  <a:ext uri="{FF2B5EF4-FFF2-40B4-BE49-F238E27FC236}">
                    <a16:creationId xmlns:a16="http://schemas.microsoft.com/office/drawing/2014/main" id="{AE73F03D-C7B2-4671-BE02-6DD50C0F16EC}"/>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7" name="Line 168">
                <a:extLst>
                  <a:ext uri="{FF2B5EF4-FFF2-40B4-BE49-F238E27FC236}">
                    <a16:creationId xmlns:a16="http://schemas.microsoft.com/office/drawing/2014/main" id="{CA9680F8-7AA0-41A8-A3C5-D60EB2B7360F}"/>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6529" name="Group 209">
              <a:extLst>
                <a:ext uri="{FF2B5EF4-FFF2-40B4-BE49-F238E27FC236}">
                  <a16:creationId xmlns:a16="http://schemas.microsoft.com/office/drawing/2014/main" id="{35492685-981C-4C05-9838-E43183F731F8}"/>
                </a:ext>
              </a:extLst>
            </p:cNvPr>
            <p:cNvGrpSpPr>
              <a:grpSpLocks/>
            </p:cNvGrpSpPr>
            <p:nvPr/>
          </p:nvGrpSpPr>
          <p:grpSpPr bwMode="auto">
            <a:xfrm>
              <a:off x="6175375" y="4862907"/>
              <a:ext cx="798513" cy="1168400"/>
              <a:chOff x="12762" y="10336"/>
              <a:chExt cx="1027" cy="1700"/>
            </a:xfrm>
          </p:grpSpPr>
          <p:sp>
            <p:nvSpPr>
              <p:cNvPr id="106626" name="Rectangle 210">
                <a:extLst>
                  <a:ext uri="{FF2B5EF4-FFF2-40B4-BE49-F238E27FC236}">
                    <a16:creationId xmlns:a16="http://schemas.microsoft.com/office/drawing/2014/main" id="{612B471D-4847-4342-BFF7-39EDF1685BA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7" name="Rectangle 211">
                <a:extLst>
                  <a:ext uri="{FF2B5EF4-FFF2-40B4-BE49-F238E27FC236}">
                    <a16:creationId xmlns:a16="http://schemas.microsoft.com/office/drawing/2014/main" id="{D7D1E0C8-1630-4363-93AD-F450363627A5}"/>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8" name="Line 212">
                <a:extLst>
                  <a:ext uri="{FF2B5EF4-FFF2-40B4-BE49-F238E27FC236}">
                    <a16:creationId xmlns:a16="http://schemas.microsoft.com/office/drawing/2014/main" id="{BD3434FF-99D5-431D-9A37-48800035CA1C}"/>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9" name="Line 213">
                <a:extLst>
                  <a:ext uri="{FF2B5EF4-FFF2-40B4-BE49-F238E27FC236}">
                    <a16:creationId xmlns:a16="http://schemas.microsoft.com/office/drawing/2014/main" id="{BCF9CD94-05D2-4E1E-99AA-8D02C94542E2}"/>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0" name="Line 214">
                <a:extLst>
                  <a:ext uri="{FF2B5EF4-FFF2-40B4-BE49-F238E27FC236}">
                    <a16:creationId xmlns:a16="http://schemas.microsoft.com/office/drawing/2014/main" id="{6564B6B9-8C4D-42B3-870C-1569EB560330}"/>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1" name="Line 215">
                <a:extLst>
                  <a:ext uri="{FF2B5EF4-FFF2-40B4-BE49-F238E27FC236}">
                    <a16:creationId xmlns:a16="http://schemas.microsoft.com/office/drawing/2014/main" id="{EE543B33-3C6C-4C7F-AA7A-67018F165C87}"/>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0" name="Oval 216">
              <a:extLst>
                <a:ext uri="{FF2B5EF4-FFF2-40B4-BE49-F238E27FC236}">
                  <a16:creationId xmlns:a16="http://schemas.microsoft.com/office/drawing/2014/main" id="{29D489F9-0779-49ED-AD5B-BC2B5F0CEC1C}"/>
                </a:ext>
              </a:extLst>
            </p:cNvPr>
            <p:cNvSpPr>
              <a:spLocks noChangeArrowheads="1"/>
            </p:cNvSpPr>
            <p:nvPr/>
          </p:nvSpPr>
          <p:spPr bwMode="auto">
            <a:xfrm>
              <a:off x="2763838" y="3489719"/>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1" name="Oval 217">
              <a:extLst>
                <a:ext uri="{FF2B5EF4-FFF2-40B4-BE49-F238E27FC236}">
                  <a16:creationId xmlns:a16="http://schemas.microsoft.com/office/drawing/2014/main" id="{26759C8B-7FFF-4434-931D-39D003E9FA09}"/>
                </a:ext>
              </a:extLst>
            </p:cNvPr>
            <p:cNvSpPr>
              <a:spLocks noChangeArrowheads="1"/>
            </p:cNvSpPr>
            <p:nvPr/>
          </p:nvSpPr>
          <p:spPr bwMode="auto">
            <a:xfrm>
              <a:off x="1604963" y="4618432"/>
              <a:ext cx="114300" cy="117475"/>
            </a:xfrm>
            <a:prstGeom prst="ellipse">
              <a:avLst/>
            </a:prstGeom>
            <a:solidFill>
              <a:srgbClr val="808080"/>
            </a:solidFill>
            <a:ln w="9525">
              <a:solidFill>
                <a:srgbClr val="80808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2" name="Text Box 218">
              <a:extLst>
                <a:ext uri="{FF2B5EF4-FFF2-40B4-BE49-F238E27FC236}">
                  <a16:creationId xmlns:a16="http://schemas.microsoft.com/office/drawing/2014/main" id="{6A91AAF1-C54B-460F-9510-9491806829F0}"/>
                </a:ext>
              </a:extLst>
            </p:cNvPr>
            <p:cNvSpPr txBox="1">
              <a:spLocks noChangeArrowheads="1"/>
            </p:cNvSpPr>
            <p:nvPr/>
          </p:nvSpPr>
          <p:spPr bwMode="auto">
            <a:xfrm>
              <a:off x="7583488" y="3502419"/>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sp>
          <p:nvSpPr>
            <p:cNvPr id="106533" name="Line 219">
              <a:extLst>
                <a:ext uri="{FF2B5EF4-FFF2-40B4-BE49-F238E27FC236}">
                  <a16:creationId xmlns:a16="http://schemas.microsoft.com/office/drawing/2014/main" id="{450F38FA-4517-41A6-AFA8-DA5A45507F17}"/>
                </a:ext>
              </a:extLst>
            </p:cNvPr>
            <p:cNvSpPr>
              <a:spLocks noChangeShapeType="1"/>
            </p:cNvSpPr>
            <p:nvPr/>
          </p:nvSpPr>
          <p:spPr bwMode="auto">
            <a:xfrm flipH="1" flipV="1">
              <a:off x="4592638" y="5453457"/>
              <a:ext cx="7937" cy="407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06534" name="Group 220">
              <a:extLst>
                <a:ext uri="{FF2B5EF4-FFF2-40B4-BE49-F238E27FC236}">
                  <a16:creationId xmlns:a16="http://schemas.microsoft.com/office/drawing/2014/main" id="{0C17A230-3512-4C38-89FB-8CBDC0DAF16F}"/>
                </a:ext>
              </a:extLst>
            </p:cNvPr>
            <p:cNvGrpSpPr>
              <a:grpSpLocks/>
            </p:cNvGrpSpPr>
            <p:nvPr/>
          </p:nvGrpSpPr>
          <p:grpSpPr bwMode="auto">
            <a:xfrm>
              <a:off x="4587875" y="5085157"/>
              <a:ext cx="385763" cy="319087"/>
              <a:chOff x="11283" y="10423"/>
              <a:chExt cx="475" cy="374"/>
            </a:xfrm>
          </p:grpSpPr>
          <p:sp>
            <p:nvSpPr>
              <p:cNvPr id="106619" name="Rectangle 221">
                <a:extLst>
                  <a:ext uri="{FF2B5EF4-FFF2-40B4-BE49-F238E27FC236}">
                    <a16:creationId xmlns:a16="http://schemas.microsoft.com/office/drawing/2014/main" id="{5390D152-8B55-49BC-8005-CD2795493BDD}"/>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0" name="Line 222">
                <a:extLst>
                  <a:ext uri="{FF2B5EF4-FFF2-40B4-BE49-F238E27FC236}">
                    <a16:creationId xmlns:a16="http://schemas.microsoft.com/office/drawing/2014/main" id="{356A820D-E965-4BBB-A2E4-8E71895924DB}"/>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1" name="Line 223">
                <a:extLst>
                  <a:ext uri="{FF2B5EF4-FFF2-40B4-BE49-F238E27FC236}">
                    <a16:creationId xmlns:a16="http://schemas.microsoft.com/office/drawing/2014/main" id="{1732329D-BF42-4278-AF5B-8CAC206AA78B}"/>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2" name="Line 224">
                <a:extLst>
                  <a:ext uri="{FF2B5EF4-FFF2-40B4-BE49-F238E27FC236}">
                    <a16:creationId xmlns:a16="http://schemas.microsoft.com/office/drawing/2014/main" id="{AF9D5BD5-A145-4A80-9A4C-987BCE7DE4D6}"/>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3" name="Line 225">
                <a:extLst>
                  <a:ext uri="{FF2B5EF4-FFF2-40B4-BE49-F238E27FC236}">
                    <a16:creationId xmlns:a16="http://schemas.microsoft.com/office/drawing/2014/main" id="{D9ACF68F-0B93-4781-9A49-B254185191F8}"/>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4" name="Line 226">
                <a:extLst>
                  <a:ext uri="{FF2B5EF4-FFF2-40B4-BE49-F238E27FC236}">
                    <a16:creationId xmlns:a16="http://schemas.microsoft.com/office/drawing/2014/main" id="{DD045002-1E9B-49B2-B360-7F288B988E72}"/>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5" name="Line 227">
                <a:extLst>
                  <a:ext uri="{FF2B5EF4-FFF2-40B4-BE49-F238E27FC236}">
                    <a16:creationId xmlns:a16="http://schemas.microsoft.com/office/drawing/2014/main" id="{1C918DAE-8723-41D9-B3F7-67FEEE8AAF0B}"/>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5" name="Line 228">
              <a:extLst>
                <a:ext uri="{FF2B5EF4-FFF2-40B4-BE49-F238E27FC236}">
                  <a16:creationId xmlns:a16="http://schemas.microsoft.com/office/drawing/2014/main" id="{4D1A9BC9-71E3-40C7-BD3E-072F126CB7E6}"/>
                </a:ext>
              </a:extLst>
            </p:cNvPr>
            <p:cNvSpPr>
              <a:spLocks noChangeShapeType="1"/>
            </p:cNvSpPr>
            <p:nvPr/>
          </p:nvSpPr>
          <p:spPr bwMode="auto">
            <a:xfrm>
              <a:off x="4845050" y="3869132"/>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6" name="Freeform 229">
              <a:extLst>
                <a:ext uri="{FF2B5EF4-FFF2-40B4-BE49-F238E27FC236}">
                  <a16:creationId xmlns:a16="http://schemas.microsoft.com/office/drawing/2014/main" id="{BD285F49-B6DD-4CD4-B44D-186A1060102C}"/>
                </a:ext>
              </a:extLst>
            </p:cNvPr>
            <p:cNvSpPr>
              <a:spLocks/>
            </p:cNvSpPr>
            <p:nvPr/>
          </p:nvSpPr>
          <p:spPr bwMode="auto">
            <a:xfrm>
              <a:off x="1663700" y="4716857"/>
              <a:ext cx="4854575" cy="1228725"/>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7" name="Freeform 230">
              <a:extLst>
                <a:ext uri="{FF2B5EF4-FFF2-40B4-BE49-F238E27FC236}">
                  <a16:creationId xmlns:a16="http://schemas.microsoft.com/office/drawing/2014/main" id="{CAC131D1-E63F-4FF0-81A7-6563505B76B3}"/>
                </a:ext>
              </a:extLst>
            </p:cNvPr>
            <p:cNvSpPr>
              <a:spLocks/>
            </p:cNvSpPr>
            <p:nvPr/>
          </p:nvSpPr>
          <p:spPr bwMode="auto">
            <a:xfrm>
              <a:off x="2822575" y="3550044"/>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8" name="Oval 231">
              <a:extLst>
                <a:ext uri="{FF2B5EF4-FFF2-40B4-BE49-F238E27FC236}">
                  <a16:creationId xmlns:a16="http://schemas.microsoft.com/office/drawing/2014/main" id="{436B63C5-D88C-4E14-8808-B62626AB618B}"/>
                </a:ext>
              </a:extLst>
            </p:cNvPr>
            <p:cNvSpPr>
              <a:spLocks noChangeArrowheads="1"/>
            </p:cNvSpPr>
            <p:nvPr/>
          </p:nvSpPr>
          <p:spPr bwMode="auto">
            <a:xfrm>
              <a:off x="2763838" y="3723082"/>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9" name="Text Box 232">
              <a:extLst>
                <a:ext uri="{FF2B5EF4-FFF2-40B4-BE49-F238E27FC236}">
                  <a16:creationId xmlns:a16="http://schemas.microsoft.com/office/drawing/2014/main" id="{F606FFB5-1A29-426A-B7B5-6DDBEE9DB464}"/>
                </a:ext>
              </a:extLst>
            </p:cNvPr>
            <p:cNvSpPr txBox="1">
              <a:spLocks noChangeArrowheads="1"/>
            </p:cNvSpPr>
            <p:nvPr/>
          </p:nvSpPr>
          <p:spPr bwMode="auto">
            <a:xfrm>
              <a:off x="3251199" y="3629419"/>
              <a:ext cx="2662993"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en-US" altLang="zh-CN" sz="2000" dirty="0" err="1">
                  <a:solidFill>
                    <a:srgbClr val="FF0000"/>
                  </a:solidFill>
                  <a:latin typeface="Symbol" panose="05050102010706020507" pitchFamily="18" charset="2"/>
                </a:rPr>
                <a:t>l</a:t>
              </a:r>
              <a:r>
                <a:rPr lang="en-US" altLang="zh-CN" sz="2000" dirty="0" err="1">
                  <a:solidFill>
                    <a:srgbClr val="FF0000"/>
                  </a:solidFill>
                  <a:latin typeface="Arial" panose="020B0604020202020204" pitchFamily="34" charset="0"/>
                </a:rPr>
                <a:t>‘</a:t>
              </a:r>
              <a:r>
                <a:rPr lang="en-US" altLang="zh-CN" sz="2000" baseline="-25000" dirty="0" err="1">
                  <a:solidFill>
                    <a:srgbClr val="FF0000"/>
                  </a:solidFill>
                  <a:latin typeface="Arial" panose="020B0604020202020204" pitchFamily="34" charset="0"/>
                </a:rPr>
                <a:t>in</a:t>
              </a:r>
              <a:r>
                <a:rPr lang="en-US" altLang="zh-CN" sz="1800" dirty="0">
                  <a:solidFill>
                    <a:srgbClr val="FF0000"/>
                  </a:solidFill>
                  <a:latin typeface="Arial" panose="020B0604020202020204" pitchFamily="34" charset="0"/>
                </a:rPr>
                <a:t>:</a:t>
              </a:r>
              <a:r>
                <a:rPr lang="en-US" altLang="zh-CN" sz="1400"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原始数据加重传数据</a:t>
              </a:r>
              <a:endParaRPr lang="en-US" altLang="zh-CN" dirty="0">
                <a:solidFill>
                  <a:srgbClr val="2A09B7"/>
                </a:solidFill>
                <a:latin typeface="Comic Sans MS" panose="030F0702030302020204" pitchFamily="66" charset="0"/>
              </a:endParaRPr>
            </a:p>
          </p:txBody>
        </p:sp>
        <p:sp>
          <p:nvSpPr>
            <p:cNvPr id="89133" name="Line 233">
              <a:extLst>
                <a:ext uri="{FF2B5EF4-FFF2-40B4-BE49-F238E27FC236}">
                  <a16:creationId xmlns:a16="http://schemas.microsoft.com/office/drawing/2014/main" id="{9619E815-FB52-4EF7-A41F-5AA8F952B184}"/>
                </a:ext>
              </a:extLst>
            </p:cNvPr>
            <p:cNvSpPr>
              <a:spLocks noChangeShapeType="1"/>
            </p:cNvSpPr>
            <p:nvPr/>
          </p:nvSpPr>
          <p:spPr bwMode="auto">
            <a:xfrm>
              <a:off x="2909888" y="3789757"/>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4" name="Line 234">
              <a:extLst>
                <a:ext uri="{FF2B5EF4-FFF2-40B4-BE49-F238E27FC236}">
                  <a16:creationId xmlns:a16="http://schemas.microsoft.com/office/drawing/2014/main" id="{76565AF0-6748-4C3A-BD18-711EAECB2128}"/>
                </a:ext>
              </a:extLst>
            </p:cNvPr>
            <p:cNvSpPr>
              <a:spLocks noChangeShapeType="1"/>
            </p:cNvSpPr>
            <p:nvPr/>
          </p:nvSpPr>
          <p:spPr bwMode="auto">
            <a:xfrm>
              <a:off x="2905125" y="35563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5" name="Line 235">
              <a:extLst>
                <a:ext uri="{FF2B5EF4-FFF2-40B4-BE49-F238E27FC236}">
                  <a16:creationId xmlns:a16="http://schemas.microsoft.com/office/drawing/2014/main" id="{F1CF374B-7B0B-4020-B2F8-C26FE4F80376}"/>
                </a:ext>
              </a:extLst>
            </p:cNvPr>
            <p:cNvSpPr>
              <a:spLocks noChangeShapeType="1"/>
            </p:cNvSpPr>
            <p:nvPr/>
          </p:nvSpPr>
          <p:spPr bwMode="auto">
            <a:xfrm>
              <a:off x="7116763" y="37087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6547" name="Freeform 250">
              <a:extLst>
                <a:ext uri="{FF2B5EF4-FFF2-40B4-BE49-F238E27FC236}">
                  <a16:creationId xmlns:a16="http://schemas.microsoft.com/office/drawing/2014/main" id="{35445ACB-CB9F-4A32-8ACC-70C0CF16E12C}"/>
                </a:ext>
              </a:extLst>
            </p:cNvPr>
            <p:cNvSpPr>
              <a:spLocks/>
            </p:cNvSpPr>
            <p:nvPr/>
          </p:nvSpPr>
          <p:spPr bwMode="auto">
            <a:xfrm>
              <a:off x="7416800" y="3538932"/>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48" name="Group 256">
              <a:extLst>
                <a:ext uri="{FF2B5EF4-FFF2-40B4-BE49-F238E27FC236}">
                  <a16:creationId xmlns:a16="http://schemas.microsoft.com/office/drawing/2014/main" id="{59721B03-0099-454E-A493-AF220250E257}"/>
                </a:ext>
              </a:extLst>
            </p:cNvPr>
            <p:cNvGrpSpPr>
              <a:grpSpLocks/>
            </p:cNvGrpSpPr>
            <p:nvPr/>
          </p:nvGrpSpPr>
          <p:grpSpPr bwMode="auto">
            <a:xfrm>
              <a:off x="7553325" y="4437457"/>
              <a:ext cx="231775" cy="441325"/>
              <a:chOff x="4140" y="429"/>
              <a:chExt cx="1425" cy="2396"/>
            </a:xfrm>
          </p:grpSpPr>
          <p:sp>
            <p:nvSpPr>
              <p:cNvPr id="106585" name="Freeform 257">
                <a:extLst>
                  <a:ext uri="{FF2B5EF4-FFF2-40B4-BE49-F238E27FC236}">
                    <a16:creationId xmlns:a16="http://schemas.microsoft.com/office/drawing/2014/main" id="{12920BB7-5797-42AD-B21C-6DE962A03BC2}"/>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79" name="Rectangle 258">
                <a:extLst>
                  <a:ext uri="{FF2B5EF4-FFF2-40B4-BE49-F238E27FC236}">
                    <a16:creationId xmlns:a16="http://schemas.microsoft.com/office/drawing/2014/main" id="{6C37FB59-CD7E-4F4C-B4B4-1CA0C82FE35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87" name="Freeform 259">
                <a:extLst>
                  <a:ext uri="{FF2B5EF4-FFF2-40B4-BE49-F238E27FC236}">
                    <a16:creationId xmlns:a16="http://schemas.microsoft.com/office/drawing/2014/main" id="{181FF5BD-F951-427C-9FEB-00033245A267}"/>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88" name="Freeform 260">
                <a:extLst>
                  <a:ext uri="{FF2B5EF4-FFF2-40B4-BE49-F238E27FC236}">
                    <a16:creationId xmlns:a16="http://schemas.microsoft.com/office/drawing/2014/main" id="{98332F21-899F-4676-AFC5-D468C0E55CE8}"/>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82" name="Rectangle 261">
                <a:extLst>
                  <a:ext uri="{FF2B5EF4-FFF2-40B4-BE49-F238E27FC236}">
                    <a16:creationId xmlns:a16="http://schemas.microsoft.com/office/drawing/2014/main" id="{D4E07CA2-E2C4-4B8B-9E21-A91C1EE5CE4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0" name="Group 262">
                <a:extLst>
                  <a:ext uri="{FF2B5EF4-FFF2-40B4-BE49-F238E27FC236}">
                    <a16:creationId xmlns:a16="http://schemas.microsoft.com/office/drawing/2014/main" id="{06E7A4D7-AC51-4D0E-A22F-C79F012631F7}"/>
                  </a:ext>
                </a:extLst>
              </p:cNvPr>
              <p:cNvGrpSpPr>
                <a:grpSpLocks/>
              </p:cNvGrpSpPr>
              <p:nvPr/>
            </p:nvGrpSpPr>
            <p:grpSpPr bwMode="auto">
              <a:xfrm>
                <a:off x="4749" y="668"/>
                <a:ext cx="581" cy="145"/>
                <a:chOff x="614" y="2568"/>
                <a:chExt cx="725" cy="139"/>
              </a:xfrm>
            </p:grpSpPr>
            <p:sp>
              <p:nvSpPr>
                <p:cNvPr id="89208" name="AutoShape 263">
                  <a:extLst>
                    <a:ext uri="{FF2B5EF4-FFF2-40B4-BE49-F238E27FC236}">
                      <a16:creationId xmlns:a16="http://schemas.microsoft.com/office/drawing/2014/main" id="{50E43811-CE86-47E5-B2BA-515A06375DC0}"/>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9" name="AutoShape 264">
                  <a:extLst>
                    <a:ext uri="{FF2B5EF4-FFF2-40B4-BE49-F238E27FC236}">
                      <a16:creationId xmlns:a16="http://schemas.microsoft.com/office/drawing/2014/main" id="{FDC4D4A2-EA62-4FBD-A56F-A5AB316DF92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4" name="Rectangle 265">
                <a:extLst>
                  <a:ext uri="{FF2B5EF4-FFF2-40B4-BE49-F238E27FC236}">
                    <a16:creationId xmlns:a16="http://schemas.microsoft.com/office/drawing/2014/main" id="{27949F01-F040-4730-B7EB-A98D55FE14D8}"/>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2" name="Group 266">
                <a:extLst>
                  <a:ext uri="{FF2B5EF4-FFF2-40B4-BE49-F238E27FC236}">
                    <a16:creationId xmlns:a16="http://schemas.microsoft.com/office/drawing/2014/main" id="{6E126D7E-D480-4412-BE0B-2EADB634B286}"/>
                  </a:ext>
                </a:extLst>
              </p:cNvPr>
              <p:cNvGrpSpPr>
                <a:grpSpLocks/>
              </p:cNvGrpSpPr>
              <p:nvPr/>
            </p:nvGrpSpPr>
            <p:grpSpPr bwMode="auto">
              <a:xfrm>
                <a:off x="4747" y="994"/>
                <a:ext cx="581" cy="134"/>
                <a:chOff x="614" y="2568"/>
                <a:chExt cx="725" cy="139"/>
              </a:xfrm>
            </p:grpSpPr>
            <p:sp>
              <p:nvSpPr>
                <p:cNvPr id="89206" name="AutoShape 267">
                  <a:extLst>
                    <a:ext uri="{FF2B5EF4-FFF2-40B4-BE49-F238E27FC236}">
                      <a16:creationId xmlns:a16="http://schemas.microsoft.com/office/drawing/2014/main" id="{18E074AB-0307-4308-B8A1-AF7C066AB94A}"/>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7" name="AutoShape 268">
                  <a:extLst>
                    <a:ext uri="{FF2B5EF4-FFF2-40B4-BE49-F238E27FC236}">
                      <a16:creationId xmlns:a16="http://schemas.microsoft.com/office/drawing/2014/main" id="{EABC9E69-0134-4D29-808C-E197EEDFFBB4}"/>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6" name="Rectangle 269">
                <a:extLst>
                  <a:ext uri="{FF2B5EF4-FFF2-40B4-BE49-F238E27FC236}">
                    <a16:creationId xmlns:a16="http://schemas.microsoft.com/office/drawing/2014/main" id="{3CB02278-5502-4857-8E06-762B9F19A252}"/>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87" name="Rectangle 270">
                <a:extLst>
                  <a:ext uri="{FF2B5EF4-FFF2-40B4-BE49-F238E27FC236}">
                    <a16:creationId xmlns:a16="http://schemas.microsoft.com/office/drawing/2014/main" id="{3C043ADE-726B-450B-B8DF-C324FF0848A6}"/>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5" name="Group 271">
                <a:extLst>
                  <a:ext uri="{FF2B5EF4-FFF2-40B4-BE49-F238E27FC236}">
                    <a16:creationId xmlns:a16="http://schemas.microsoft.com/office/drawing/2014/main" id="{34905BF7-7CD3-4DE8-AEBD-66ABA8DFC628}"/>
                  </a:ext>
                </a:extLst>
              </p:cNvPr>
              <p:cNvGrpSpPr>
                <a:grpSpLocks/>
              </p:cNvGrpSpPr>
              <p:nvPr/>
            </p:nvGrpSpPr>
            <p:grpSpPr bwMode="auto">
              <a:xfrm>
                <a:off x="4735" y="1627"/>
                <a:ext cx="582" cy="151"/>
                <a:chOff x="614" y="2568"/>
                <a:chExt cx="725" cy="139"/>
              </a:xfrm>
            </p:grpSpPr>
            <p:sp>
              <p:nvSpPr>
                <p:cNvPr id="89204" name="AutoShape 272">
                  <a:extLst>
                    <a:ext uri="{FF2B5EF4-FFF2-40B4-BE49-F238E27FC236}">
                      <a16:creationId xmlns:a16="http://schemas.microsoft.com/office/drawing/2014/main" id="{94E0CF6F-2C4C-465D-B4E6-114D84F9F55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5" name="AutoShape 273">
                  <a:extLst>
                    <a:ext uri="{FF2B5EF4-FFF2-40B4-BE49-F238E27FC236}">
                      <a16:creationId xmlns:a16="http://schemas.microsoft.com/office/drawing/2014/main" id="{61D1C857-7B4C-4213-A9B8-ADC1D8975D1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96" name="Freeform 274">
                <a:extLst>
                  <a:ext uri="{FF2B5EF4-FFF2-40B4-BE49-F238E27FC236}">
                    <a16:creationId xmlns:a16="http://schemas.microsoft.com/office/drawing/2014/main" id="{BB2ED0CD-4C8E-47F7-86C7-BB5B894B5CD2}"/>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97" name="Group 275">
                <a:extLst>
                  <a:ext uri="{FF2B5EF4-FFF2-40B4-BE49-F238E27FC236}">
                    <a16:creationId xmlns:a16="http://schemas.microsoft.com/office/drawing/2014/main" id="{370C9DAF-CBB6-4F0F-A58C-5D925DA6F380}"/>
                  </a:ext>
                </a:extLst>
              </p:cNvPr>
              <p:cNvGrpSpPr>
                <a:grpSpLocks/>
              </p:cNvGrpSpPr>
              <p:nvPr/>
            </p:nvGrpSpPr>
            <p:grpSpPr bwMode="auto">
              <a:xfrm>
                <a:off x="4739" y="1327"/>
                <a:ext cx="582" cy="139"/>
                <a:chOff x="614" y="2568"/>
                <a:chExt cx="725" cy="139"/>
              </a:xfrm>
            </p:grpSpPr>
            <p:sp>
              <p:nvSpPr>
                <p:cNvPr id="89202" name="AutoShape 276">
                  <a:extLst>
                    <a:ext uri="{FF2B5EF4-FFF2-40B4-BE49-F238E27FC236}">
                      <a16:creationId xmlns:a16="http://schemas.microsoft.com/office/drawing/2014/main" id="{4963058F-1581-4DB1-B743-0AA8FF31BC56}"/>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3" name="AutoShape 277">
                  <a:extLst>
                    <a:ext uri="{FF2B5EF4-FFF2-40B4-BE49-F238E27FC236}">
                      <a16:creationId xmlns:a16="http://schemas.microsoft.com/office/drawing/2014/main" id="{B26DCE23-DAE7-4666-B3F7-403407C97C49}"/>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91" name="Rectangle 278">
                <a:extLst>
                  <a:ext uri="{FF2B5EF4-FFF2-40B4-BE49-F238E27FC236}">
                    <a16:creationId xmlns:a16="http://schemas.microsoft.com/office/drawing/2014/main" id="{26BF784C-521B-40E8-87A2-637C777CFA6D}"/>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99" name="Freeform 279">
                <a:extLst>
                  <a:ext uri="{FF2B5EF4-FFF2-40B4-BE49-F238E27FC236}">
                    <a16:creationId xmlns:a16="http://schemas.microsoft.com/office/drawing/2014/main" id="{6B2476E7-88FF-4CE4-86D4-48251ADF6152}"/>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600" name="Freeform 280">
                <a:extLst>
                  <a:ext uri="{FF2B5EF4-FFF2-40B4-BE49-F238E27FC236}">
                    <a16:creationId xmlns:a16="http://schemas.microsoft.com/office/drawing/2014/main" id="{12647C89-437B-4B34-B1CF-3A163487C675}"/>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4" name="Oval 281">
                <a:extLst>
                  <a:ext uri="{FF2B5EF4-FFF2-40B4-BE49-F238E27FC236}">
                    <a16:creationId xmlns:a16="http://schemas.microsoft.com/office/drawing/2014/main" id="{35485175-6619-4676-A476-A2D6D25562C6}"/>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602" name="Freeform 282">
                <a:extLst>
                  <a:ext uri="{FF2B5EF4-FFF2-40B4-BE49-F238E27FC236}">
                    <a16:creationId xmlns:a16="http://schemas.microsoft.com/office/drawing/2014/main" id="{CE877AE6-FFAE-4835-B2D6-162891BBDD7D}"/>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6" name="AutoShape 283">
                <a:extLst>
                  <a:ext uri="{FF2B5EF4-FFF2-40B4-BE49-F238E27FC236}">
                    <a16:creationId xmlns:a16="http://schemas.microsoft.com/office/drawing/2014/main" id="{624A50A0-1C47-4051-AD03-8B33B706FA9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7" name="AutoShape 284">
                <a:extLst>
                  <a:ext uri="{FF2B5EF4-FFF2-40B4-BE49-F238E27FC236}">
                    <a16:creationId xmlns:a16="http://schemas.microsoft.com/office/drawing/2014/main" id="{BDEB5B0F-02B0-47C6-85BE-E8317D3A44ED}"/>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8" name="Oval 285">
                <a:extLst>
                  <a:ext uri="{FF2B5EF4-FFF2-40B4-BE49-F238E27FC236}">
                    <a16:creationId xmlns:a16="http://schemas.microsoft.com/office/drawing/2014/main" id="{269CEF48-70FB-4BE4-9342-793316200BF8}"/>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9" name="Oval 286">
                <a:extLst>
                  <a:ext uri="{FF2B5EF4-FFF2-40B4-BE49-F238E27FC236}">
                    <a16:creationId xmlns:a16="http://schemas.microsoft.com/office/drawing/2014/main" id="{A323021A-D1A7-45EC-97F4-17BB07266FD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200" name="Oval 287">
                <a:extLst>
                  <a:ext uri="{FF2B5EF4-FFF2-40B4-BE49-F238E27FC236}">
                    <a16:creationId xmlns:a16="http://schemas.microsoft.com/office/drawing/2014/main" id="{AD946B8F-04CF-4D99-97C9-0FF2ECE6FC7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1" name="Rectangle 288">
                <a:extLst>
                  <a:ext uri="{FF2B5EF4-FFF2-40B4-BE49-F238E27FC236}">
                    <a16:creationId xmlns:a16="http://schemas.microsoft.com/office/drawing/2014/main" id="{82D5C20F-5F5E-4F03-8D91-D0E0A90F441A}"/>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49" name="Group 289">
              <a:extLst>
                <a:ext uri="{FF2B5EF4-FFF2-40B4-BE49-F238E27FC236}">
                  <a16:creationId xmlns:a16="http://schemas.microsoft.com/office/drawing/2014/main" id="{D0A4F2B0-653F-4852-880B-B2360567D681}"/>
                </a:ext>
              </a:extLst>
            </p:cNvPr>
            <p:cNvGrpSpPr>
              <a:grpSpLocks/>
            </p:cNvGrpSpPr>
            <p:nvPr/>
          </p:nvGrpSpPr>
          <p:grpSpPr bwMode="auto">
            <a:xfrm>
              <a:off x="7135813" y="5740794"/>
              <a:ext cx="231775" cy="441325"/>
              <a:chOff x="4140" y="429"/>
              <a:chExt cx="1425" cy="2396"/>
            </a:xfrm>
          </p:grpSpPr>
          <p:sp>
            <p:nvSpPr>
              <p:cNvPr id="106553" name="Freeform 290">
                <a:extLst>
                  <a:ext uri="{FF2B5EF4-FFF2-40B4-BE49-F238E27FC236}">
                    <a16:creationId xmlns:a16="http://schemas.microsoft.com/office/drawing/2014/main" id="{750F7EE9-C50D-46EB-B5D3-3E7931C83515}"/>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47" name="Rectangle 291">
                <a:extLst>
                  <a:ext uri="{FF2B5EF4-FFF2-40B4-BE49-F238E27FC236}">
                    <a16:creationId xmlns:a16="http://schemas.microsoft.com/office/drawing/2014/main" id="{9A02EF3C-A084-4A87-9ACC-0F9AA325677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55" name="Freeform 292">
                <a:extLst>
                  <a:ext uri="{FF2B5EF4-FFF2-40B4-BE49-F238E27FC236}">
                    <a16:creationId xmlns:a16="http://schemas.microsoft.com/office/drawing/2014/main" id="{56F076B0-2482-4C0A-9982-829EBEA67BAA}"/>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56" name="Freeform 293">
                <a:extLst>
                  <a:ext uri="{FF2B5EF4-FFF2-40B4-BE49-F238E27FC236}">
                    <a16:creationId xmlns:a16="http://schemas.microsoft.com/office/drawing/2014/main" id="{0B4AD151-E1EE-4CDE-81C6-CA4122D44C19}"/>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50" name="Rectangle 294">
                <a:extLst>
                  <a:ext uri="{FF2B5EF4-FFF2-40B4-BE49-F238E27FC236}">
                    <a16:creationId xmlns:a16="http://schemas.microsoft.com/office/drawing/2014/main" id="{E136D017-8223-4C7E-90EF-42659BF4063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58" name="Group 295">
                <a:extLst>
                  <a:ext uri="{FF2B5EF4-FFF2-40B4-BE49-F238E27FC236}">
                    <a16:creationId xmlns:a16="http://schemas.microsoft.com/office/drawing/2014/main" id="{EAACCFEE-C3BD-4077-BECB-D11FD39179BC}"/>
                  </a:ext>
                </a:extLst>
              </p:cNvPr>
              <p:cNvGrpSpPr>
                <a:grpSpLocks/>
              </p:cNvGrpSpPr>
              <p:nvPr/>
            </p:nvGrpSpPr>
            <p:grpSpPr bwMode="auto">
              <a:xfrm>
                <a:off x="4749" y="668"/>
                <a:ext cx="581" cy="145"/>
                <a:chOff x="614" y="2568"/>
                <a:chExt cx="725" cy="139"/>
              </a:xfrm>
            </p:grpSpPr>
            <p:sp>
              <p:nvSpPr>
                <p:cNvPr id="89176" name="AutoShape 296">
                  <a:extLst>
                    <a:ext uri="{FF2B5EF4-FFF2-40B4-BE49-F238E27FC236}">
                      <a16:creationId xmlns:a16="http://schemas.microsoft.com/office/drawing/2014/main" id="{5B3E2ACB-04A2-4357-97E4-098F38EFB2C3}"/>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7" name="AutoShape 297">
                  <a:extLst>
                    <a:ext uri="{FF2B5EF4-FFF2-40B4-BE49-F238E27FC236}">
                      <a16:creationId xmlns:a16="http://schemas.microsoft.com/office/drawing/2014/main" id="{9C809EBC-5AA9-42BC-945B-B5774DFAA27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2" name="Rectangle 298">
                <a:extLst>
                  <a:ext uri="{FF2B5EF4-FFF2-40B4-BE49-F238E27FC236}">
                    <a16:creationId xmlns:a16="http://schemas.microsoft.com/office/drawing/2014/main" id="{9D906A86-B1E5-4A1C-88BA-34D45BADB37B}"/>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0" name="Group 299">
                <a:extLst>
                  <a:ext uri="{FF2B5EF4-FFF2-40B4-BE49-F238E27FC236}">
                    <a16:creationId xmlns:a16="http://schemas.microsoft.com/office/drawing/2014/main" id="{E2C25903-F377-4FEA-A29B-F59E62D1E5A8}"/>
                  </a:ext>
                </a:extLst>
              </p:cNvPr>
              <p:cNvGrpSpPr>
                <a:grpSpLocks/>
              </p:cNvGrpSpPr>
              <p:nvPr/>
            </p:nvGrpSpPr>
            <p:grpSpPr bwMode="auto">
              <a:xfrm>
                <a:off x="4747" y="994"/>
                <a:ext cx="581" cy="134"/>
                <a:chOff x="614" y="2568"/>
                <a:chExt cx="725" cy="139"/>
              </a:xfrm>
            </p:grpSpPr>
            <p:sp>
              <p:nvSpPr>
                <p:cNvPr id="89174" name="AutoShape 300">
                  <a:extLst>
                    <a:ext uri="{FF2B5EF4-FFF2-40B4-BE49-F238E27FC236}">
                      <a16:creationId xmlns:a16="http://schemas.microsoft.com/office/drawing/2014/main" id="{5CBB735E-2C79-45CF-A005-D5B654CCD21C}"/>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5" name="AutoShape 301">
                  <a:extLst>
                    <a:ext uri="{FF2B5EF4-FFF2-40B4-BE49-F238E27FC236}">
                      <a16:creationId xmlns:a16="http://schemas.microsoft.com/office/drawing/2014/main" id="{C7566814-3E62-440A-B324-D1CBB91120E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4" name="Rectangle 302">
                <a:extLst>
                  <a:ext uri="{FF2B5EF4-FFF2-40B4-BE49-F238E27FC236}">
                    <a16:creationId xmlns:a16="http://schemas.microsoft.com/office/drawing/2014/main" id="{5F2E0CEE-548B-49BB-997B-76AE4143F54D}"/>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55" name="Rectangle 303">
                <a:extLst>
                  <a:ext uri="{FF2B5EF4-FFF2-40B4-BE49-F238E27FC236}">
                    <a16:creationId xmlns:a16="http://schemas.microsoft.com/office/drawing/2014/main" id="{21359DB6-C272-4930-B8D1-9BF67A6BA160}"/>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3" name="Group 304">
                <a:extLst>
                  <a:ext uri="{FF2B5EF4-FFF2-40B4-BE49-F238E27FC236}">
                    <a16:creationId xmlns:a16="http://schemas.microsoft.com/office/drawing/2014/main" id="{685D78D9-8633-401D-981F-B642F92BD249}"/>
                  </a:ext>
                </a:extLst>
              </p:cNvPr>
              <p:cNvGrpSpPr>
                <a:grpSpLocks/>
              </p:cNvGrpSpPr>
              <p:nvPr/>
            </p:nvGrpSpPr>
            <p:grpSpPr bwMode="auto">
              <a:xfrm>
                <a:off x="4735" y="1627"/>
                <a:ext cx="582" cy="151"/>
                <a:chOff x="614" y="2568"/>
                <a:chExt cx="725" cy="139"/>
              </a:xfrm>
            </p:grpSpPr>
            <p:sp>
              <p:nvSpPr>
                <p:cNvPr id="89172" name="AutoShape 305">
                  <a:extLst>
                    <a:ext uri="{FF2B5EF4-FFF2-40B4-BE49-F238E27FC236}">
                      <a16:creationId xmlns:a16="http://schemas.microsoft.com/office/drawing/2014/main" id="{FC466596-8E4A-41A9-81DF-223A1B53EB7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3" name="AutoShape 306">
                  <a:extLst>
                    <a:ext uri="{FF2B5EF4-FFF2-40B4-BE49-F238E27FC236}">
                      <a16:creationId xmlns:a16="http://schemas.microsoft.com/office/drawing/2014/main" id="{657735C7-AEDE-4160-B5C8-7BFBF251897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64" name="Freeform 307">
                <a:extLst>
                  <a:ext uri="{FF2B5EF4-FFF2-40B4-BE49-F238E27FC236}">
                    <a16:creationId xmlns:a16="http://schemas.microsoft.com/office/drawing/2014/main" id="{A54330BA-614B-43CE-81DA-B8DEEAEE0811}"/>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65" name="Group 308">
                <a:extLst>
                  <a:ext uri="{FF2B5EF4-FFF2-40B4-BE49-F238E27FC236}">
                    <a16:creationId xmlns:a16="http://schemas.microsoft.com/office/drawing/2014/main" id="{EBFD386E-FBA0-401F-81CD-B7DDCCD9E4AE}"/>
                  </a:ext>
                </a:extLst>
              </p:cNvPr>
              <p:cNvGrpSpPr>
                <a:grpSpLocks/>
              </p:cNvGrpSpPr>
              <p:nvPr/>
            </p:nvGrpSpPr>
            <p:grpSpPr bwMode="auto">
              <a:xfrm>
                <a:off x="4739" y="1327"/>
                <a:ext cx="582" cy="139"/>
                <a:chOff x="614" y="2568"/>
                <a:chExt cx="725" cy="139"/>
              </a:xfrm>
            </p:grpSpPr>
            <p:sp>
              <p:nvSpPr>
                <p:cNvPr id="89170" name="AutoShape 309">
                  <a:extLst>
                    <a:ext uri="{FF2B5EF4-FFF2-40B4-BE49-F238E27FC236}">
                      <a16:creationId xmlns:a16="http://schemas.microsoft.com/office/drawing/2014/main" id="{CE8BD159-D6EC-4E08-B530-CD0288F77970}"/>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1" name="AutoShape 310">
                  <a:extLst>
                    <a:ext uri="{FF2B5EF4-FFF2-40B4-BE49-F238E27FC236}">
                      <a16:creationId xmlns:a16="http://schemas.microsoft.com/office/drawing/2014/main" id="{F932E7BF-3917-4C45-85D4-37991F84A5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9" name="Rectangle 311">
                <a:extLst>
                  <a:ext uri="{FF2B5EF4-FFF2-40B4-BE49-F238E27FC236}">
                    <a16:creationId xmlns:a16="http://schemas.microsoft.com/office/drawing/2014/main" id="{353C16FB-46D5-40CB-88D0-B6DD18534F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67" name="Freeform 312">
                <a:extLst>
                  <a:ext uri="{FF2B5EF4-FFF2-40B4-BE49-F238E27FC236}">
                    <a16:creationId xmlns:a16="http://schemas.microsoft.com/office/drawing/2014/main" id="{F9DB1EAF-D56B-4D70-88A1-8383319BA365}"/>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68" name="Freeform 313">
                <a:extLst>
                  <a:ext uri="{FF2B5EF4-FFF2-40B4-BE49-F238E27FC236}">
                    <a16:creationId xmlns:a16="http://schemas.microsoft.com/office/drawing/2014/main" id="{B205EE54-062D-422B-A6E0-971B63A0CBB8}"/>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2" name="Oval 314">
                <a:extLst>
                  <a:ext uri="{FF2B5EF4-FFF2-40B4-BE49-F238E27FC236}">
                    <a16:creationId xmlns:a16="http://schemas.microsoft.com/office/drawing/2014/main" id="{ACE2953E-B287-454E-A938-97D16BC9DC6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70" name="Freeform 315">
                <a:extLst>
                  <a:ext uri="{FF2B5EF4-FFF2-40B4-BE49-F238E27FC236}">
                    <a16:creationId xmlns:a16="http://schemas.microsoft.com/office/drawing/2014/main" id="{2D2913B9-B726-48EF-AB76-A8FE241B34EA}"/>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4" name="AutoShape 316">
                <a:extLst>
                  <a:ext uri="{FF2B5EF4-FFF2-40B4-BE49-F238E27FC236}">
                    <a16:creationId xmlns:a16="http://schemas.microsoft.com/office/drawing/2014/main" id="{85C11E43-C59E-40B9-906F-509E3AE9364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5" name="AutoShape 317">
                <a:extLst>
                  <a:ext uri="{FF2B5EF4-FFF2-40B4-BE49-F238E27FC236}">
                    <a16:creationId xmlns:a16="http://schemas.microsoft.com/office/drawing/2014/main" id="{A030ECB6-8B62-49EE-B810-EDF1D1A5FAF5}"/>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6" name="Oval 318">
                <a:extLst>
                  <a:ext uri="{FF2B5EF4-FFF2-40B4-BE49-F238E27FC236}">
                    <a16:creationId xmlns:a16="http://schemas.microsoft.com/office/drawing/2014/main" id="{D7310BFF-4F6C-4924-9F32-F599CAE947B0}"/>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7" name="Oval 319">
                <a:extLst>
                  <a:ext uri="{FF2B5EF4-FFF2-40B4-BE49-F238E27FC236}">
                    <a16:creationId xmlns:a16="http://schemas.microsoft.com/office/drawing/2014/main" id="{0C0F745B-59D9-4C3F-B41F-72AD3C894365}"/>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168" name="Oval 320">
                <a:extLst>
                  <a:ext uri="{FF2B5EF4-FFF2-40B4-BE49-F238E27FC236}">
                    <a16:creationId xmlns:a16="http://schemas.microsoft.com/office/drawing/2014/main" id="{5D67E27B-7C44-4319-A029-BC343B11DC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9" name="Rectangle 321">
                <a:extLst>
                  <a:ext uri="{FF2B5EF4-FFF2-40B4-BE49-F238E27FC236}">
                    <a16:creationId xmlns:a16="http://schemas.microsoft.com/office/drawing/2014/main" id="{380B71CA-99B8-438E-9B8A-2CDECEB4AA4E}"/>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50" name="Group 325">
              <a:extLst>
                <a:ext uri="{FF2B5EF4-FFF2-40B4-BE49-F238E27FC236}">
                  <a16:creationId xmlns:a16="http://schemas.microsoft.com/office/drawing/2014/main" id="{80842EDB-59E0-4AA8-AC8B-B801C99CFF84}"/>
                </a:ext>
              </a:extLst>
            </p:cNvPr>
            <p:cNvGrpSpPr>
              <a:grpSpLocks/>
            </p:cNvGrpSpPr>
            <p:nvPr/>
          </p:nvGrpSpPr>
          <p:grpSpPr bwMode="auto">
            <a:xfrm>
              <a:off x="661988" y="5467744"/>
              <a:ext cx="525462" cy="434975"/>
              <a:chOff x="-44" y="1473"/>
              <a:chExt cx="981" cy="1105"/>
            </a:xfrm>
          </p:grpSpPr>
          <p:pic>
            <p:nvPicPr>
              <p:cNvPr id="106551" name="Picture 326" descr="desktop_computer_stylized_medium">
                <a:extLst>
                  <a:ext uri="{FF2B5EF4-FFF2-40B4-BE49-F238E27FC236}">
                    <a16:creationId xmlns:a16="http://schemas.microsoft.com/office/drawing/2014/main" id="{4CFBABE6-2221-4D4E-A1F5-F4310A46DF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52" name="Freeform 327">
                <a:extLst>
                  <a:ext uri="{FF2B5EF4-FFF2-40B4-BE49-F238E27FC236}">
                    <a16:creationId xmlns:a16="http://schemas.microsoft.com/office/drawing/2014/main" id="{D80C4E83-B0A6-49B2-B217-0D873C98E2A3}"/>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Text Box 42">
              <a:extLst>
                <a:ext uri="{FF2B5EF4-FFF2-40B4-BE49-F238E27FC236}">
                  <a16:creationId xmlns:a16="http://schemas.microsoft.com/office/drawing/2014/main" id="{776902CB-B5D8-43B3-9A97-F843DC614BBA}"/>
                </a:ext>
              </a:extLst>
            </p:cNvPr>
            <p:cNvSpPr txBox="1">
              <a:spLocks noChangeArrowheads="1"/>
            </p:cNvSpPr>
            <p:nvPr/>
          </p:nvSpPr>
          <p:spPr bwMode="auto">
            <a:xfrm>
              <a:off x="1576499" y="3877699"/>
              <a:ext cx="693561" cy="19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3" name="Text Box 52">
              <a:extLst>
                <a:ext uri="{FF2B5EF4-FFF2-40B4-BE49-F238E27FC236}">
                  <a16:creationId xmlns:a16="http://schemas.microsoft.com/office/drawing/2014/main" id="{DEC3BDD2-4980-4751-9DC1-E3018EC95078}"/>
                </a:ext>
              </a:extLst>
            </p:cNvPr>
            <p:cNvSpPr txBox="1">
              <a:spLocks noChangeArrowheads="1"/>
            </p:cNvSpPr>
            <p:nvPr/>
          </p:nvSpPr>
          <p:spPr bwMode="auto">
            <a:xfrm>
              <a:off x="504891" y="5065425"/>
              <a:ext cx="815638" cy="23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grpSp>
      <p:sp>
        <p:nvSpPr>
          <p:cNvPr id="160" name="Rectangle 241">
            <a:extLst>
              <a:ext uri="{FF2B5EF4-FFF2-40B4-BE49-F238E27FC236}">
                <a16:creationId xmlns:a16="http://schemas.microsoft.com/office/drawing/2014/main" id="{AF1D4ED5-F89A-4F1E-A5F5-644CF78FA35A}"/>
              </a:ext>
            </a:extLst>
          </p:cNvPr>
          <p:cNvSpPr>
            <a:spLocks noChangeArrowheads="1"/>
          </p:cNvSpPr>
          <p:nvPr/>
        </p:nvSpPr>
        <p:spPr bwMode="auto">
          <a:xfrm>
            <a:off x="2806595" y="2691636"/>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1" name="Rectangle 242">
            <a:extLst>
              <a:ext uri="{FF2B5EF4-FFF2-40B4-BE49-F238E27FC236}">
                <a16:creationId xmlns:a16="http://schemas.microsoft.com/office/drawing/2014/main" id="{BE34334E-1FCD-4A29-8652-D4C906AA36C9}"/>
              </a:ext>
            </a:extLst>
          </p:cNvPr>
          <p:cNvSpPr>
            <a:spLocks noChangeArrowheads="1"/>
          </p:cNvSpPr>
          <p:nvPr/>
        </p:nvSpPr>
        <p:spPr bwMode="auto">
          <a:xfrm>
            <a:off x="2476395" y="2924999"/>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3" name="Text Box 243">
            <a:extLst>
              <a:ext uri="{FF2B5EF4-FFF2-40B4-BE49-F238E27FC236}">
                <a16:creationId xmlns:a16="http://schemas.microsoft.com/office/drawing/2014/main" id="{B5BB346A-E3F9-4B93-A8CB-744D5FE1873C}"/>
              </a:ext>
            </a:extLst>
          </p:cNvPr>
          <p:cNvSpPr txBox="1">
            <a:spLocks noChangeArrowheads="1"/>
          </p:cNvSpPr>
          <p:nvPr/>
        </p:nvSpPr>
        <p:spPr bwMode="auto">
          <a:xfrm>
            <a:off x="1852508" y="2815461"/>
            <a:ext cx="598241"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b="1" dirty="0">
                <a:solidFill>
                  <a:srgbClr val="006600"/>
                </a:solidFill>
                <a:latin typeface="宋体" panose="02010600030101010101" pitchFamily="2" charset="-122"/>
                <a:ea typeface="宋体" panose="02010600030101010101" pitchFamily="2" charset="-122"/>
              </a:rPr>
              <a:t>复制</a:t>
            </a:r>
            <a:endParaRPr lang="en-US" b="1" dirty="0">
              <a:solidFill>
                <a:srgbClr val="006600"/>
              </a:solidFill>
              <a:latin typeface="宋体" panose="02010600030101010101" pitchFamily="2" charset="-122"/>
              <a:ea typeface="宋体" panose="02010600030101010101" pitchFamily="2" charset="-122"/>
            </a:endParaRPr>
          </a:p>
        </p:txBody>
      </p:sp>
      <p:sp>
        <p:nvSpPr>
          <p:cNvPr id="164" name="Text Box 259">
            <a:extLst>
              <a:ext uri="{FF2B5EF4-FFF2-40B4-BE49-F238E27FC236}">
                <a16:creationId xmlns:a16="http://schemas.microsoft.com/office/drawing/2014/main" id="{C3EF4734-2B48-4507-966D-C57898D99EF4}"/>
              </a:ext>
            </a:extLst>
          </p:cNvPr>
          <p:cNvSpPr txBox="1">
            <a:spLocks noChangeArrowheads="1"/>
          </p:cNvSpPr>
          <p:nvPr/>
        </p:nvSpPr>
        <p:spPr bwMode="auto">
          <a:xfrm>
            <a:off x="3841723" y="3823381"/>
            <a:ext cx="1728358"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i="1" dirty="0">
                <a:solidFill>
                  <a:srgbClr val="006600"/>
                </a:solidFill>
                <a:latin typeface="Arial" charset="0"/>
              </a:rPr>
              <a:t>有空闲的缓存空间 </a:t>
            </a:r>
            <a:r>
              <a:rPr lang="en-US" i="1" dirty="0">
                <a:solidFill>
                  <a:srgbClr val="006600"/>
                </a:solidFill>
                <a:latin typeface="Arial" charset="0"/>
              </a:rPr>
              <a:t>!</a:t>
            </a:r>
          </a:p>
        </p:txBody>
      </p:sp>
    </p:spTree>
    <p:extLst>
      <p:ext uri="{BB962C8B-B14F-4D97-AF65-F5344CB8AC3E}">
        <p14:creationId xmlns:p14="http://schemas.microsoft.com/office/powerpoint/2010/main" val="401428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dissolve">
                                      <p:cBhvr>
                                        <p:cTn id="7" dur="500"/>
                                        <p:tgtEl>
                                          <p:spTgt spid="160"/>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4 L -2.5E-6 0.03541 " pathEditMode="relative" rAng="0" ptsTypes="AA">
                                      <p:cBhvr>
                                        <p:cTn id="10" dur="2000" fill="hold"/>
                                        <p:tgtEl>
                                          <p:spTgt spid="160"/>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161"/>
                                        </p:tgtEl>
                                        <p:attrNameLst>
                                          <p:attrName>style.visibility</p:attrName>
                                        </p:attrNameLst>
                                      </p:cBhvr>
                                      <p:to>
                                        <p:strVal val="visible"/>
                                      </p:to>
                                    </p:set>
                                    <p:animEffect transition="in" filter="dissolve">
                                      <p:cBhvr>
                                        <p:cTn id="14" dur="500"/>
                                        <p:tgtEl>
                                          <p:spTgt spid="161"/>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dissolve">
                                      <p:cBhvr>
                                        <p:cTn id="17" dur="500"/>
                                        <p:tgtEl>
                                          <p:spTgt spid="163"/>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2.5E-6 0.03541 L 0.0007 0.178 L 0.08681 0.17893 L 0.04722 0.24189 L 0.19584 0.24189 " pathEditMode="relative" rAng="0" ptsTypes="AAAAA">
                                      <p:cBhvr>
                                        <p:cTn id="20" dur="2000" fill="hold"/>
                                        <p:tgtEl>
                                          <p:spTgt spid="160"/>
                                        </p:tgtEl>
                                        <p:attrNameLst>
                                          <p:attrName>ppt_x</p:attrName>
                                          <p:attrName>ppt_y</p:attrName>
                                        </p:attrNameLst>
                                      </p:cBhvr>
                                      <p:rCtr x="9792" y="10324"/>
                                    </p:animMotion>
                                  </p:childTnLst>
                                </p:cTn>
                              </p:par>
                              <p:par>
                                <p:cTn id="21" presetID="9" presetClass="exit" presetSubtype="0" fill="hold" grpId="1" nodeType="withEffect">
                                  <p:stCondLst>
                                    <p:cond delay="0"/>
                                  </p:stCondLst>
                                  <p:childTnLst>
                                    <p:animEffect transition="out" filter="dissolve">
                                      <p:cBhvr>
                                        <p:cTn id="22" dur="500"/>
                                        <p:tgtEl>
                                          <p:spTgt spid="163"/>
                                        </p:tgtEl>
                                      </p:cBhvr>
                                    </p:animEffect>
                                    <p:set>
                                      <p:cBhvr>
                                        <p:cTn id="23" dur="1" fill="hold">
                                          <p:stCondLst>
                                            <p:cond delay="499"/>
                                          </p:stCondLst>
                                        </p:cTn>
                                        <p:tgtEl>
                                          <p:spTgt spid="163"/>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164"/>
                                        </p:tgtEl>
                                        <p:attrNameLst>
                                          <p:attrName>style.visibility</p:attrName>
                                        </p:attrNameLst>
                                      </p:cBhvr>
                                      <p:to>
                                        <p:strVal val="visible"/>
                                      </p:to>
                                    </p:set>
                                    <p:animEffect transition="in" filter="dissolve">
                                      <p:cBhvr>
                                        <p:cTn id="27" dur="500"/>
                                        <p:tgtEl>
                                          <p:spTgt spid="164"/>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9584 0.24189 L 0.23889 0.24212 " pathEditMode="relative" rAng="0" ptsTypes="AA">
                                      <p:cBhvr>
                                        <p:cTn id="30" dur="3000" fill="hold"/>
                                        <p:tgtEl>
                                          <p:spTgt spid="160"/>
                                        </p:tgtEl>
                                        <p:attrNameLst>
                                          <p:attrName>ppt_x</p:attrName>
                                          <p:attrName>ppt_y</p:attrName>
                                        </p:attrNameLst>
                                      </p:cBhvr>
                                      <p:rCtr x="2153" y="0"/>
                                    </p:animMotion>
                                  </p:childTnLst>
                                </p:cTn>
                              </p:par>
                            </p:childTnLst>
                          </p:cTn>
                        </p:par>
                        <p:par>
                          <p:cTn id="31" fill="hold">
                            <p:stCondLst>
                              <p:cond delay="8500"/>
                            </p:stCondLst>
                            <p:childTnLst>
                              <p:par>
                                <p:cTn id="32" presetID="9" presetClass="exit" presetSubtype="0" fill="hold" grpId="1" nodeType="afterEffect">
                                  <p:stCondLst>
                                    <p:cond delay="0"/>
                                  </p:stCondLst>
                                  <p:childTnLst>
                                    <p:animEffect transition="out" filter="dissolve">
                                      <p:cBhvr>
                                        <p:cTn id="33" dur="500"/>
                                        <p:tgtEl>
                                          <p:spTgt spid="164"/>
                                        </p:tgtEl>
                                      </p:cBhvr>
                                    </p:animEffect>
                                    <p:set>
                                      <p:cBhvr>
                                        <p:cTn id="34" dur="1" fill="hold">
                                          <p:stCondLst>
                                            <p:cond delay="499"/>
                                          </p:stCondLst>
                                        </p:cTn>
                                        <p:tgtEl>
                                          <p:spTgt spid="164"/>
                                        </p:tgtEl>
                                        <p:attrNameLst>
                                          <p:attrName>style.visibility</p:attrName>
                                        </p:attrNameLst>
                                      </p:cBhvr>
                                      <p:to>
                                        <p:strVal val="hidden"/>
                                      </p:to>
                                    </p:set>
                                  </p:childTnLst>
                                </p:cTn>
                              </p:par>
                            </p:childTnLst>
                          </p:cTn>
                        </p:par>
                        <p:par>
                          <p:cTn id="35" fill="hold">
                            <p:stCondLst>
                              <p:cond delay="9000"/>
                            </p:stCondLst>
                            <p:childTnLst>
                              <p:par>
                                <p:cTn id="36" presetID="0" presetClass="path" presetSubtype="0" accel="50000" decel="50000" fill="hold" grpId="4" nodeType="afterEffect">
                                  <p:stCondLst>
                                    <p:cond delay="0"/>
                                  </p:stCondLst>
                                  <p:childTnLst>
                                    <p:animMotion origin="layout" path="M 0.23889 0.24212 L 0.30625 0.24212 L 0.37084 0.15324 L 0.46042 0.15324 L 0.45903 0.01342 " pathEditMode="relative" rAng="0" ptsTypes="AAAAA">
                                      <p:cBhvr>
                                        <p:cTn id="37" dur="2000" fill="hold"/>
                                        <p:tgtEl>
                                          <p:spTgt spid="160"/>
                                        </p:tgtEl>
                                        <p:attrNameLst>
                                          <p:attrName>ppt_x</p:attrName>
                                          <p:attrName>ppt_y</p:attrName>
                                        </p:attrNameLst>
                                      </p:cBhvr>
                                      <p:rCtr x="11076" y="-11435"/>
                                    </p:animMotion>
                                  </p:childTnLst>
                                </p:cTn>
                              </p:par>
                            </p:childTnLst>
                          </p:cTn>
                        </p:par>
                        <p:par>
                          <p:cTn id="38" fill="hold">
                            <p:stCondLst>
                              <p:cond delay="11000"/>
                            </p:stCondLst>
                            <p:childTnLst>
                              <p:par>
                                <p:cTn id="39" presetID="9" presetClass="exit" presetSubtype="0" fill="hold" grpId="5" nodeType="afterEffect">
                                  <p:stCondLst>
                                    <p:cond delay="0"/>
                                  </p:stCondLst>
                                  <p:childTnLst>
                                    <p:animEffect transition="out" filter="dissolve">
                                      <p:cBhvr>
                                        <p:cTn id="40" dur="500"/>
                                        <p:tgtEl>
                                          <p:spTgt spid="160"/>
                                        </p:tgtEl>
                                      </p:cBhvr>
                                    </p:animEffect>
                                    <p:set>
                                      <p:cBhvr>
                                        <p:cTn id="41" dur="1" fill="hold">
                                          <p:stCondLst>
                                            <p:cond delay="499"/>
                                          </p:stCondLst>
                                        </p:cTn>
                                        <p:tgtEl>
                                          <p:spTgt spid="160"/>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161"/>
                                        </p:tgtEl>
                                      </p:cBhvr>
                                    </p:animEffect>
                                    <p:set>
                                      <p:cBhvr>
                                        <p:cTn id="44" dur="1" fill="hold">
                                          <p:stCondLst>
                                            <p:cond delay="499"/>
                                          </p:stCondLst>
                                        </p:cTn>
                                        <p:tgtEl>
                                          <p:spTgt spid="1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animBg="1"/>
      <p:bldP spid="160" grpId="1" animBg="1"/>
      <p:bldP spid="160" grpId="2" animBg="1"/>
      <p:bldP spid="160" grpId="3" animBg="1"/>
      <p:bldP spid="160" grpId="4" animBg="1"/>
      <p:bldP spid="160" grpId="5" animBg="1"/>
      <p:bldP spid="161" grpId="0" animBg="1"/>
      <p:bldP spid="161" grpId="1" animBg="1"/>
      <p:bldP spid="163" grpId="0"/>
      <p:bldP spid="163" grpId="1"/>
      <p:bldP spid="164" grpId="0"/>
      <p:bldP spid="164" grpId="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2">
            <a:extLst>
              <a:ext uri="{FF2B5EF4-FFF2-40B4-BE49-F238E27FC236}">
                <a16:creationId xmlns:a16="http://schemas.microsoft.com/office/drawing/2014/main" id="{2445CD32-9691-44CE-923B-CD2026EBD15B}"/>
              </a:ext>
            </a:extLst>
          </p:cNvPr>
          <p:cNvSpPr>
            <a:spLocks noGrp="1" noChangeArrowheads="1"/>
          </p:cNvSpPr>
          <p:nvPr>
            <p:ph type="body" sz="half" idx="1"/>
          </p:nvPr>
        </p:nvSpPr>
        <p:spPr>
          <a:xfrm>
            <a:off x="391841" y="1540319"/>
            <a:ext cx="7958574" cy="952290"/>
          </a:xfrm>
        </p:spPr>
        <p:txBody>
          <a:bodyPr>
            <a:normAutofit/>
          </a:bodyPr>
          <a:lstStyle/>
          <a:p>
            <a:pPr marL="266700" indent="-176213">
              <a:lnSpc>
                <a:spcPts val="2800"/>
              </a:lnSpc>
              <a:spcBef>
                <a:spcPts val="600"/>
              </a:spcBef>
              <a:buClr>
                <a:srgbClr val="2A09B7"/>
              </a:buClr>
              <a:buFont typeface="Wingdings" charset="0"/>
              <a:buChar char="v"/>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理想情况：发送端可以知道路由器中的报文分组丢失</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lvl="1">
              <a:lnSpc>
                <a:spcPts val="28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路由器缓存满时，报文分组丢失</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 name="矩形 161">
            <a:extLst>
              <a:ext uri="{FF2B5EF4-FFF2-40B4-BE49-F238E27FC236}">
                <a16:creationId xmlns:a16="http://schemas.microsoft.com/office/drawing/2014/main" id="{A0DFF15C-A8E2-4009-B925-EDAF35231A0A}"/>
              </a:ext>
            </a:extLst>
          </p:cNvPr>
          <p:cNvSpPr/>
          <p:nvPr/>
        </p:nvSpPr>
        <p:spPr>
          <a:xfrm>
            <a:off x="391841" y="763461"/>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65" name="标题 1">
            <a:extLst>
              <a:ext uri="{FF2B5EF4-FFF2-40B4-BE49-F238E27FC236}">
                <a16:creationId xmlns:a16="http://schemas.microsoft.com/office/drawing/2014/main" id="{54B5A12E-E0AD-497B-92BB-7DF41E83A732}"/>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组合 3">
            <a:extLst>
              <a:ext uri="{FF2B5EF4-FFF2-40B4-BE49-F238E27FC236}">
                <a16:creationId xmlns:a16="http://schemas.microsoft.com/office/drawing/2014/main" id="{75C8CEB5-6B70-46A5-92ED-A7BF693D23F9}"/>
              </a:ext>
            </a:extLst>
          </p:cNvPr>
          <p:cNvGrpSpPr/>
          <p:nvPr/>
        </p:nvGrpSpPr>
        <p:grpSpPr>
          <a:xfrm>
            <a:off x="707367" y="3002280"/>
            <a:ext cx="7560544" cy="2902295"/>
            <a:chOff x="504891" y="3300807"/>
            <a:chExt cx="7669147" cy="2881312"/>
          </a:xfrm>
        </p:grpSpPr>
        <p:sp>
          <p:nvSpPr>
            <p:cNvPr id="106499" name="Freeform 247">
              <a:extLst>
                <a:ext uri="{FF2B5EF4-FFF2-40B4-BE49-F238E27FC236}">
                  <a16:creationId xmlns:a16="http://schemas.microsoft.com/office/drawing/2014/main" id="{AD17E024-DA37-444E-BB2B-C08635D41483}"/>
                </a:ext>
              </a:extLst>
            </p:cNvPr>
            <p:cNvSpPr>
              <a:spLocks/>
            </p:cNvSpPr>
            <p:nvPr/>
          </p:nvSpPr>
          <p:spPr bwMode="auto">
            <a:xfrm flipH="1">
              <a:off x="2111375" y="3338907"/>
              <a:ext cx="250825" cy="1201737"/>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00" name="Group 322">
              <a:extLst>
                <a:ext uri="{FF2B5EF4-FFF2-40B4-BE49-F238E27FC236}">
                  <a16:creationId xmlns:a16="http://schemas.microsoft.com/office/drawing/2014/main" id="{9A7998E7-7DEE-41A0-8A55-B6201410C0E6}"/>
                </a:ext>
              </a:extLst>
            </p:cNvPr>
            <p:cNvGrpSpPr>
              <a:grpSpLocks/>
            </p:cNvGrpSpPr>
            <p:nvPr/>
          </p:nvGrpSpPr>
          <p:grpSpPr bwMode="auto">
            <a:xfrm>
              <a:off x="1716088" y="4299344"/>
              <a:ext cx="525462" cy="434975"/>
              <a:chOff x="-44" y="1473"/>
              <a:chExt cx="981" cy="1105"/>
            </a:xfrm>
          </p:grpSpPr>
          <p:pic>
            <p:nvPicPr>
              <p:cNvPr id="106653" name="Picture 323" descr="desktop_computer_stylized_medium">
                <a:extLst>
                  <a:ext uri="{FF2B5EF4-FFF2-40B4-BE49-F238E27FC236}">
                    <a16:creationId xmlns:a16="http://schemas.microsoft.com/office/drawing/2014/main" id="{4B88E7BC-5B3E-42BC-B044-9AAFE1156F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654" name="Freeform 324">
                <a:extLst>
                  <a:ext uri="{FF2B5EF4-FFF2-40B4-BE49-F238E27FC236}">
                    <a16:creationId xmlns:a16="http://schemas.microsoft.com/office/drawing/2014/main" id="{F4EB014E-C014-4825-954C-7A3A11ED7869}"/>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6501" name="Freeform 254">
              <a:extLst>
                <a:ext uri="{FF2B5EF4-FFF2-40B4-BE49-F238E27FC236}">
                  <a16:creationId xmlns:a16="http://schemas.microsoft.com/office/drawing/2014/main" id="{1CEA8205-3C21-4628-8436-1F05635A0578}"/>
                </a:ext>
              </a:extLst>
            </p:cNvPr>
            <p:cNvSpPr>
              <a:spLocks/>
            </p:cNvSpPr>
            <p:nvPr/>
          </p:nvSpPr>
          <p:spPr bwMode="auto">
            <a:xfrm>
              <a:off x="6959600" y="4843857"/>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2" name="Freeform 243">
              <a:extLst>
                <a:ext uri="{FF2B5EF4-FFF2-40B4-BE49-F238E27FC236}">
                  <a16:creationId xmlns:a16="http://schemas.microsoft.com/office/drawing/2014/main" id="{2496CF22-5AA8-4F8E-B7C5-A8C44B8373CA}"/>
                </a:ext>
              </a:extLst>
            </p:cNvPr>
            <p:cNvSpPr>
              <a:spLocks/>
            </p:cNvSpPr>
            <p:nvPr/>
          </p:nvSpPr>
          <p:spPr bwMode="auto">
            <a:xfrm flipH="1">
              <a:off x="1066800" y="4540644"/>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04" name="Oval 3">
              <a:extLst>
                <a:ext uri="{FF2B5EF4-FFF2-40B4-BE49-F238E27FC236}">
                  <a16:creationId xmlns:a16="http://schemas.microsoft.com/office/drawing/2014/main" id="{3C14548E-944A-4620-83A6-9A5702C3BE7F}"/>
                </a:ext>
              </a:extLst>
            </p:cNvPr>
            <p:cNvSpPr>
              <a:spLocks noChangeArrowheads="1"/>
            </p:cNvSpPr>
            <p:nvPr/>
          </p:nvSpPr>
          <p:spPr bwMode="auto">
            <a:xfrm>
              <a:off x="3795713" y="5199457"/>
              <a:ext cx="1304925" cy="303212"/>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05" name="Line 4">
              <a:extLst>
                <a:ext uri="{FF2B5EF4-FFF2-40B4-BE49-F238E27FC236}">
                  <a16:creationId xmlns:a16="http://schemas.microsoft.com/office/drawing/2014/main" id="{EAF45F83-8F82-4DCC-A514-479527CC2172}"/>
                </a:ext>
              </a:extLst>
            </p:cNvPr>
            <p:cNvSpPr>
              <a:spLocks noChangeShapeType="1"/>
            </p:cNvSpPr>
            <p:nvPr/>
          </p:nvSpPr>
          <p:spPr bwMode="auto">
            <a:xfrm>
              <a:off x="3795713" y="5175644"/>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6" name="Line 5">
              <a:extLst>
                <a:ext uri="{FF2B5EF4-FFF2-40B4-BE49-F238E27FC236}">
                  <a16:creationId xmlns:a16="http://schemas.microsoft.com/office/drawing/2014/main" id="{36503B02-585E-4B75-AC35-A1C0CED04B40}"/>
                </a:ext>
              </a:extLst>
            </p:cNvPr>
            <p:cNvSpPr>
              <a:spLocks noChangeShapeType="1"/>
            </p:cNvSpPr>
            <p:nvPr/>
          </p:nvSpPr>
          <p:spPr bwMode="auto">
            <a:xfrm>
              <a:off x="5100638" y="5175644"/>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7" name="Rectangle 6">
              <a:extLst>
                <a:ext uri="{FF2B5EF4-FFF2-40B4-BE49-F238E27FC236}">
                  <a16:creationId xmlns:a16="http://schemas.microsoft.com/office/drawing/2014/main" id="{021D0B4A-53EF-417B-ABA3-C80C75773FB5}"/>
                </a:ext>
              </a:extLst>
            </p:cNvPr>
            <p:cNvSpPr>
              <a:spLocks noChangeArrowheads="1"/>
            </p:cNvSpPr>
            <p:nvPr/>
          </p:nvSpPr>
          <p:spPr bwMode="auto">
            <a:xfrm>
              <a:off x="3795713" y="5175644"/>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8" name="Rectangle 7">
              <a:extLst>
                <a:ext uri="{FF2B5EF4-FFF2-40B4-BE49-F238E27FC236}">
                  <a16:creationId xmlns:a16="http://schemas.microsoft.com/office/drawing/2014/main" id="{795ACC3F-8ED6-427C-9358-5FC92C197F84}"/>
                </a:ext>
              </a:extLst>
            </p:cNvPr>
            <p:cNvSpPr>
              <a:spLocks noChangeArrowheads="1"/>
            </p:cNvSpPr>
            <p:nvPr/>
          </p:nvSpPr>
          <p:spPr bwMode="auto">
            <a:xfrm>
              <a:off x="4705350" y="5162944"/>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06509" name="Oval 8">
              <a:extLst>
                <a:ext uri="{FF2B5EF4-FFF2-40B4-BE49-F238E27FC236}">
                  <a16:creationId xmlns:a16="http://schemas.microsoft.com/office/drawing/2014/main" id="{309C87FE-4F4A-4EE8-8A13-B8F66700082B}"/>
                </a:ext>
              </a:extLst>
            </p:cNvPr>
            <p:cNvSpPr>
              <a:spLocks noChangeArrowheads="1"/>
            </p:cNvSpPr>
            <p:nvPr/>
          </p:nvSpPr>
          <p:spPr bwMode="auto">
            <a:xfrm>
              <a:off x="3790950" y="4977207"/>
              <a:ext cx="1306513" cy="352425"/>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06510" name="Group 9">
              <a:extLst>
                <a:ext uri="{FF2B5EF4-FFF2-40B4-BE49-F238E27FC236}">
                  <a16:creationId xmlns:a16="http://schemas.microsoft.com/office/drawing/2014/main" id="{D42E5684-E473-4D81-99FC-07D40515DE5E}"/>
                </a:ext>
              </a:extLst>
            </p:cNvPr>
            <p:cNvGrpSpPr>
              <a:grpSpLocks/>
            </p:cNvGrpSpPr>
            <p:nvPr/>
          </p:nvGrpSpPr>
          <p:grpSpPr bwMode="auto">
            <a:xfrm>
              <a:off x="4097338" y="5034357"/>
              <a:ext cx="647700" cy="206375"/>
              <a:chOff x="2848" y="848"/>
              <a:chExt cx="140" cy="98"/>
            </a:xfrm>
          </p:grpSpPr>
          <p:sp>
            <p:nvSpPr>
              <p:cNvPr id="106650" name="Line 10">
                <a:extLst>
                  <a:ext uri="{FF2B5EF4-FFF2-40B4-BE49-F238E27FC236}">
                    <a16:creationId xmlns:a16="http://schemas.microsoft.com/office/drawing/2014/main" id="{F12941F3-B549-4A3D-B44E-C431439E53D4}"/>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1" name="Line 11">
                <a:extLst>
                  <a:ext uri="{FF2B5EF4-FFF2-40B4-BE49-F238E27FC236}">
                    <a16:creationId xmlns:a16="http://schemas.microsoft.com/office/drawing/2014/main" id="{56901E80-0A55-4FFD-AEE0-0611B7555F27}"/>
                  </a:ext>
                </a:extLst>
              </p:cNvPr>
              <p:cNvSpPr>
                <a:spLocks noChangeShapeType="1"/>
              </p:cNvSpPr>
              <p:nvPr/>
            </p:nvSpPr>
            <p:spPr bwMode="auto">
              <a:xfrm>
                <a:off x="2944" y="946"/>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52" name="Line 12">
                <a:extLst>
                  <a:ext uri="{FF2B5EF4-FFF2-40B4-BE49-F238E27FC236}">
                    <a16:creationId xmlns:a16="http://schemas.microsoft.com/office/drawing/2014/main" id="{60AB4CBE-4F43-4A6A-ABF5-86930F99CAD0}"/>
                  </a:ext>
                </a:extLst>
              </p:cNvPr>
              <p:cNvSpPr>
                <a:spLocks noChangeShapeType="1"/>
              </p:cNvSpPr>
              <p:nvPr/>
            </p:nvSpPr>
            <p:spPr bwMode="auto">
              <a:xfrm>
                <a:off x="2894" y="850"/>
                <a:ext cx="52" cy="9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6511" name="Line 13">
              <a:extLst>
                <a:ext uri="{FF2B5EF4-FFF2-40B4-BE49-F238E27FC236}">
                  <a16:creationId xmlns:a16="http://schemas.microsoft.com/office/drawing/2014/main" id="{9EBDC2F3-B85A-4FF0-AC8F-235D8FE035F5}"/>
                </a:ext>
              </a:extLst>
            </p:cNvPr>
            <p:cNvSpPr>
              <a:spLocks noChangeShapeType="1"/>
            </p:cNvSpPr>
            <p:nvPr/>
          </p:nvSpPr>
          <p:spPr bwMode="auto">
            <a:xfrm>
              <a:off x="4097338" y="5232794"/>
              <a:ext cx="231775" cy="47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2" name="Line 14">
              <a:extLst>
                <a:ext uri="{FF2B5EF4-FFF2-40B4-BE49-F238E27FC236}">
                  <a16:creationId xmlns:a16="http://schemas.microsoft.com/office/drawing/2014/main" id="{F875FC55-E602-4E97-9A81-EF20FF8ECB02}"/>
                </a:ext>
              </a:extLst>
            </p:cNvPr>
            <p:cNvSpPr>
              <a:spLocks noChangeShapeType="1"/>
            </p:cNvSpPr>
            <p:nvPr/>
          </p:nvSpPr>
          <p:spPr bwMode="auto">
            <a:xfrm flipV="1">
              <a:off x="4541838" y="5032769"/>
              <a:ext cx="203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3" name="Line 15">
              <a:extLst>
                <a:ext uri="{FF2B5EF4-FFF2-40B4-BE49-F238E27FC236}">
                  <a16:creationId xmlns:a16="http://schemas.microsoft.com/office/drawing/2014/main" id="{2DF7133C-7D65-46AC-847A-F43FE85D9E94}"/>
                </a:ext>
              </a:extLst>
            </p:cNvPr>
            <p:cNvSpPr>
              <a:spLocks noChangeShapeType="1"/>
            </p:cNvSpPr>
            <p:nvPr/>
          </p:nvSpPr>
          <p:spPr bwMode="auto">
            <a:xfrm flipV="1">
              <a:off x="4310063" y="5032769"/>
              <a:ext cx="24130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4" name="Text Box 16">
              <a:extLst>
                <a:ext uri="{FF2B5EF4-FFF2-40B4-BE49-F238E27FC236}">
                  <a16:creationId xmlns:a16="http://schemas.microsoft.com/office/drawing/2014/main" id="{1B256E5D-6A31-4713-8D16-1A75ACA047F9}"/>
                </a:ext>
              </a:extLst>
            </p:cNvPr>
            <p:cNvSpPr txBox="1">
              <a:spLocks noChangeArrowheads="1"/>
            </p:cNvSpPr>
            <p:nvPr/>
          </p:nvSpPr>
          <p:spPr bwMode="auto">
            <a:xfrm>
              <a:off x="3080640" y="5570987"/>
              <a:ext cx="1363565" cy="33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zh-CN" altLang="en-US" sz="1400" dirty="0">
                  <a:solidFill>
                    <a:schemeClr val="tx2"/>
                  </a:solidFill>
                  <a:latin typeface="Arial" panose="020B0604020202020204" pitchFamily="34" charset="0"/>
                </a:rPr>
                <a:t>有限输出缓存</a:t>
              </a:r>
              <a:endParaRPr lang="en-US" altLang="zh-CN" sz="1400" dirty="0">
                <a:solidFill>
                  <a:schemeClr val="tx2"/>
                </a:solidFill>
                <a:latin typeface="Comic Sans MS" panose="030F0702030302020204" pitchFamily="66" charset="0"/>
              </a:endParaRPr>
            </a:p>
          </p:txBody>
        </p:sp>
        <p:sp>
          <p:nvSpPr>
            <p:cNvPr id="106515" name="Line 17">
              <a:extLst>
                <a:ext uri="{FF2B5EF4-FFF2-40B4-BE49-F238E27FC236}">
                  <a16:creationId xmlns:a16="http://schemas.microsoft.com/office/drawing/2014/main" id="{E932C99F-8CDB-4BDA-8D8D-215D2BA4AA38}"/>
                </a:ext>
              </a:extLst>
            </p:cNvPr>
            <p:cNvSpPr>
              <a:spLocks noChangeShapeType="1"/>
            </p:cNvSpPr>
            <p:nvPr/>
          </p:nvSpPr>
          <p:spPr bwMode="auto">
            <a:xfrm flipH="1">
              <a:off x="242411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6" name="Line 18">
              <a:extLst>
                <a:ext uri="{FF2B5EF4-FFF2-40B4-BE49-F238E27FC236}">
                  <a16:creationId xmlns:a16="http://schemas.microsoft.com/office/drawing/2014/main" id="{72021A94-0730-4638-AC7A-17ABB3A73E86}"/>
                </a:ext>
              </a:extLst>
            </p:cNvPr>
            <p:cNvSpPr>
              <a:spLocks noChangeShapeType="1"/>
            </p:cNvSpPr>
            <p:nvPr/>
          </p:nvSpPr>
          <p:spPr bwMode="auto">
            <a:xfrm flipH="1">
              <a:off x="3021013" y="4729557"/>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17" name="Group 59">
              <a:extLst>
                <a:ext uri="{FF2B5EF4-FFF2-40B4-BE49-F238E27FC236}">
                  <a16:creationId xmlns:a16="http://schemas.microsoft.com/office/drawing/2014/main" id="{029C9BBF-BB8B-40DF-8F4B-8F8CD615EB46}"/>
                </a:ext>
              </a:extLst>
            </p:cNvPr>
            <p:cNvGrpSpPr>
              <a:grpSpLocks/>
            </p:cNvGrpSpPr>
            <p:nvPr/>
          </p:nvGrpSpPr>
          <p:grpSpPr bwMode="auto">
            <a:xfrm>
              <a:off x="2351088" y="3415107"/>
              <a:ext cx="798512" cy="1166812"/>
              <a:chOff x="12762" y="10336"/>
              <a:chExt cx="1027" cy="1700"/>
            </a:xfrm>
          </p:grpSpPr>
          <p:sp>
            <p:nvSpPr>
              <p:cNvPr id="106644" name="Rectangle 60">
                <a:extLst>
                  <a:ext uri="{FF2B5EF4-FFF2-40B4-BE49-F238E27FC236}">
                    <a16:creationId xmlns:a16="http://schemas.microsoft.com/office/drawing/2014/main" id="{841AD188-63AA-49BA-9D04-987D7C4DB7E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5" name="Rectangle 61">
                <a:extLst>
                  <a:ext uri="{FF2B5EF4-FFF2-40B4-BE49-F238E27FC236}">
                    <a16:creationId xmlns:a16="http://schemas.microsoft.com/office/drawing/2014/main" id="{1379BAF8-081D-4218-967B-0BFFD964A496}"/>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6" name="Line 62">
                <a:extLst>
                  <a:ext uri="{FF2B5EF4-FFF2-40B4-BE49-F238E27FC236}">
                    <a16:creationId xmlns:a16="http://schemas.microsoft.com/office/drawing/2014/main" id="{8195A961-E81C-4F5D-8DCC-7A776DCA44AD}"/>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7" name="Line 63">
                <a:extLst>
                  <a:ext uri="{FF2B5EF4-FFF2-40B4-BE49-F238E27FC236}">
                    <a16:creationId xmlns:a16="http://schemas.microsoft.com/office/drawing/2014/main" id="{CB0DEE53-5C96-46F7-972A-150CC28A0F95}"/>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8" name="Line 64">
                <a:extLst>
                  <a:ext uri="{FF2B5EF4-FFF2-40B4-BE49-F238E27FC236}">
                    <a16:creationId xmlns:a16="http://schemas.microsoft.com/office/drawing/2014/main" id="{18A6ED1B-1F8F-4E41-BDAE-EAD5EB49DC14}"/>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9" name="Line 65">
                <a:extLst>
                  <a:ext uri="{FF2B5EF4-FFF2-40B4-BE49-F238E27FC236}">
                    <a16:creationId xmlns:a16="http://schemas.microsoft.com/office/drawing/2014/main" id="{7E742FBA-DA53-40B0-829D-60314EA0BD40}"/>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19" name="Text Box 67">
              <a:extLst>
                <a:ext uri="{FF2B5EF4-FFF2-40B4-BE49-F238E27FC236}">
                  <a16:creationId xmlns:a16="http://schemas.microsoft.com/office/drawing/2014/main" id="{D3B8F55B-F541-400F-B682-0A49E50CB9E2}"/>
                </a:ext>
              </a:extLst>
            </p:cNvPr>
            <p:cNvSpPr txBox="1">
              <a:spLocks noChangeArrowheads="1"/>
            </p:cNvSpPr>
            <p:nvPr/>
          </p:nvSpPr>
          <p:spPr bwMode="auto">
            <a:xfrm>
              <a:off x="3368675" y="3300807"/>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dirty="0" err="1">
                  <a:solidFill>
                    <a:srgbClr val="FF0000"/>
                  </a:solidFill>
                  <a:latin typeface="Symbol" panose="05050102010706020507" pitchFamily="18" charset="2"/>
                </a:rPr>
                <a:t>l</a:t>
              </a:r>
              <a:r>
                <a:rPr lang="en-US" altLang="zh-CN" sz="2000" baseline="-25000" dirty="0" err="1">
                  <a:solidFill>
                    <a:srgbClr val="FF0000"/>
                  </a:solidFill>
                  <a:latin typeface="Arial" panose="020B0604020202020204" pitchFamily="34" charset="0"/>
                </a:rPr>
                <a:t>in</a:t>
              </a:r>
              <a:r>
                <a:rPr lang="en-US" altLang="zh-CN" baseline="-25000" dirty="0">
                  <a:solidFill>
                    <a:srgbClr val="FF0000"/>
                  </a:solidFill>
                  <a:latin typeface="Arial" panose="020B0604020202020204" pitchFamily="34" charset="0"/>
                </a:rPr>
                <a:t> </a:t>
              </a:r>
              <a:r>
                <a:rPr lang="en-US" altLang="zh-CN"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a:t>
              </a:r>
              <a:endParaRPr lang="en-US" altLang="zh-CN" dirty="0">
                <a:solidFill>
                  <a:srgbClr val="2A09B7"/>
                </a:solidFill>
                <a:latin typeface="Comic Sans MS" panose="030F0702030302020204" pitchFamily="66" charset="0"/>
              </a:endParaRPr>
            </a:p>
          </p:txBody>
        </p:sp>
        <p:sp>
          <p:nvSpPr>
            <p:cNvPr id="106520" name="Line 68">
              <a:extLst>
                <a:ext uri="{FF2B5EF4-FFF2-40B4-BE49-F238E27FC236}">
                  <a16:creationId xmlns:a16="http://schemas.microsoft.com/office/drawing/2014/main" id="{1D7C5FC8-1BAD-4899-B90A-0D785965DD6D}"/>
                </a:ext>
              </a:extLst>
            </p:cNvPr>
            <p:cNvSpPr>
              <a:spLocks noChangeShapeType="1"/>
            </p:cNvSpPr>
            <p:nvPr/>
          </p:nvSpPr>
          <p:spPr bwMode="auto">
            <a:xfrm flipH="1">
              <a:off x="1885950" y="5834457"/>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1" name="Group 109">
              <a:extLst>
                <a:ext uri="{FF2B5EF4-FFF2-40B4-BE49-F238E27FC236}">
                  <a16:creationId xmlns:a16="http://schemas.microsoft.com/office/drawing/2014/main" id="{A1945731-0CF5-4E74-8500-D1A2EC845EA8}"/>
                </a:ext>
              </a:extLst>
            </p:cNvPr>
            <p:cNvGrpSpPr>
              <a:grpSpLocks/>
            </p:cNvGrpSpPr>
            <p:nvPr/>
          </p:nvGrpSpPr>
          <p:grpSpPr bwMode="auto">
            <a:xfrm>
              <a:off x="1298575" y="4569219"/>
              <a:ext cx="798513" cy="1166813"/>
              <a:chOff x="12762" y="10336"/>
              <a:chExt cx="1027" cy="1700"/>
            </a:xfrm>
          </p:grpSpPr>
          <p:sp>
            <p:nvSpPr>
              <p:cNvPr id="106638" name="Rectangle 110">
                <a:extLst>
                  <a:ext uri="{FF2B5EF4-FFF2-40B4-BE49-F238E27FC236}">
                    <a16:creationId xmlns:a16="http://schemas.microsoft.com/office/drawing/2014/main" id="{B88100E1-8209-43EA-B9C7-F6EFB55142C1}"/>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9" name="Rectangle 111">
                <a:extLst>
                  <a:ext uri="{FF2B5EF4-FFF2-40B4-BE49-F238E27FC236}">
                    <a16:creationId xmlns:a16="http://schemas.microsoft.com/office/drawing/2014/main" id="{8F5A8925-3326-41D6-BA6B-2609395910AD}"/>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40" name="Line 112">
                <a:extLst>
                  <a:ext uri="{FF2B5EF4-FFF2-40B4-BE49-F238E27FC236}">
                    <a16:creationId xmlns:a16="http://schemas.microsoft.com/office/drawing/2014/main" id="{BDF9F642-AD50-49BC-A87A-74E1C033BCB9}"/>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1" name="Line 113">
                <a:extLst>
                  <a:ext uri="{FF2B5EF4-FFF2-40B4-BE49-F238E27FC236}">
                    <a16:creationId xmlns:a16="http://schemas.microsoft.com/office/drawing/2014/main" id="{DB5FA685-A2C5-4926-88A2-FD08EE29891F}"/>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2" name="Line 114">
                <a:extLst>
                  <a:ext uri="{FF2B5EF4-FFF2-40B4-BE49-F238E27FC236}">
                    <a16:creationId xmlns:a16="http://schemas.microsoft.com/office/drawing/2014/main" id="{65C30487-FC9B-4BE4-B71F-A1BCBD0CEAF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43" name="Line 115">
                <a:extLst>
                  <a:ext uri="{FF2B5EF4-FFF2-40B4-BE49-F238E27FC236}">
                    <a16:creationId xmlns:a16="http://schemas.microsoft.com/office/drawing/2014/main" id="{6A24A845-50F8-4491-9F32-B55EF3F3FA4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23" name="Line 117">
              <a:extLst>
                <a:ext uri="{FF2B5EF4-FFF2-40B4-BE49-F238E27FC236}">
                  <a16:creationId xmlns:a16="http://schemas.microsoft.com/office/drawing/2014/main" id="{12DF88F5-B4B6-4627-9FF1-0EE4284C75F7}"/>
                </a:ext>
              </a:extLst>
            </p:cNvPr>
            <p:cNvSpPr>
              <a:spLocks noChangeShapeType="1"/>
            </p:cNvSpPr>
            <p:nvPr/>
          </p:nvSpPr>
          <p:spPr bwMode="auto">
            <a:xfrm flipH="1">
              <a:off x="3021013" y="5245494"/>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4" name="Line 118">
              <a:extLst>
                <a:ext uri="{FF2B5EF4-FFF2-40B4-BE49-F238E27FC236}">
                  <a16:creationId xmlns:a16="http://schemas.microsoft.com/office/drawing/2014/main" id="{A70744C6-F18B-4034-A276-917454C5F10E}"/>
                </a:ext>
              </a:extLst>
            </p:cNvPr>
            <p:cNvSpPr>
              <a:spLocks noChangeShapeType="1"/>
            </p:cNvSpPr>
            <p:nvPr/>
          </p:nvSpPr>
          <p:spPr bwMode="auto">
            <a:xfrm flipH="1">
              <a:off x="5010150" y="5245494"/>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5" name="Line 119">
              <a:extLst>
                <a:ext uri="{FF2B5EF4-FFF2-40B4-BE49-F238E27FC236}">
                  <a16:creationId xmlns:a16="http://schemas.microsoft.com/office/drawing/2014/main" id="{7DB118CF-BE07-452C-AA5E-977A621B5323}"/>
                </a:ext>
              </a:extLst>
            </p:cNvPr>
            <p:cNvSpPr>
              <a:spLocks noChangeShapeType="1"/>
            </p:cNvSpPr>
            <p:nvPr/>
          </p:nvSpPr>
          <p:spPr bwMode="auto">
            <a:xfrm flipH="1">
              <a:off x="516096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6" name="Line 120">
              <a:extLst>
                <a:ext uri="{FF2B5EF4-FFF2-40B4-BE49-F238E27FC236}">
                  <a16:creationId xmlns:a16="http://schemas.microsoft.com/office/drawing/2014/main" id="{6F39A7A8-9965-458C-86A4-D6A1DF18B00D}"/>
                </a:ext>
              </a:extLst>
            </p:cNvPr>
            <p:cNvSpPr>
              <a:spLocks noChangeShapeType="1"/>
            </p:cNvSpPr>
            <p:nvPr/>
          </p:nvSpPr>
          <p:spPr bwMode="auto">
            <a:xfrm flipH="1">
              <a:off x="5149850" y="5847157"/>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7" name="Line 121">
              <a:extLst>
                <a:ext uri="{FF2B5EF4-FFF2-40B4-BE49-F238E27FC236}">
                  <a16:creationId xmlns:a16="http://schemas.microsoft.com/office/drawing/2014/main" id="{CCF39A1B-D525-4737-973E-4A2010FB6027}"/>
                </a:ext>
              </a:extLst>
            </p:cNvPr>
            <p:cNvSpPr>
              <a:spLocks noChangeShapeType="1"/>
            </p:cNvSpPr>
            <p:nvPr/>
          </p:nvSpPr>
          <p:spPr bwMode="auto">
            <a:xfrm flipH="1">
              <a:off x="6259513" y="4742257"/>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6528" name="Group 162">
              <a:extLst>
                <a:ext uri="{FF2B5EF4-FFF2-40B4-BE49-F238E27FC236}">
                  <a16:creationId xmlns:a16="http://schemas.microsoft.com/office/drawing/2014/main" id="{88146E87-6C33-4803-B241-96520724E55F}"/>
                </a:ext>
              </a:extLst>
            </p:cNvPr>
            <p:cNvGrpSpPr>
              <a:grpSpLocks/>
            </p:cNvGrpSpPr>
            <p:nvPr/>
          </p:nvGrpSpPr>
          <p:grpSpPr bwMode="auto">
            <a:xfrm>
              <a:off x="6643688" y="3550044"/>
              <a:ext cx="798512" cy="1166813"/>
              <a:chOff x="12762" y="10336"/>
              <a:chExt cx="1027" cy="1700"/>
            </a:xfrm>
          </p:grpSpPr>
          <p:sp>
            <p:nvSpPr>
              <p:cNvPr id="106632" name="Rectangle 163">
                <a:extLst>
                  <a:ext uri="{FF2B5EF4-FFF2-40B4-BE49-F238E27FC236}">
                    <a16:creationId xmlns:a16="http://schemas.microsoft.com/office/drawing/2014/main" id="{EE887CB0-8A50-4E71-9195-430BC2C7CDCA}"/>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3" name="Rectangle 164">
                <a:extLst>
                  <a:ext uri="{FF2B5EF4-FFF2-40B4-BE49-F238E27FC236}">
                    <a16:creationId xmlns:a16="http://schemas.microsoft.com/office/drawing/2014/main" id="{0E5D7505-0BD7-4A34-9EE3-A372AFED2180}"/>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34" name="Line 165">
                <a:extLst>
                  <a:ext uri="{FF2B5EF4-FFF2-40B4-BE49-F238E27FC236}">
                    <a16:creationId xmlns:a16="http://schemas.microsoft.com/office/drawing/2014/main" id="{C9AC27F7-13C1-48EF-8BC4-7F7B1190800E}"/>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5" name="Line 166">
                <a:extLst>
                  <a:ext uri="{FF2B5EF4-FFF2-40B4-BE49-F238E27FC236}">
                    <a16:creationId xmlns:a16="http://schemas.microsoft.com/office/drawing/2014/main" id="{861E0329-6188-44DA-85EC-755913C388B3}"/>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6" name="Line 167">
                <a:extLst>
                  <a:ext uri="{FF2B5EF4-FFF2-40B4-BE49-F238E27FC236}">
                    <a16:creationId xmlns:a16="http://schemas.microsoft.com/office/drawing/2014/main" id="{AE73F03D-C7B2-4671-BE02-6DD50C0F16EC}"/>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7" name="Line 168">
                <a:extLst>
                  <a:ext uri="{FF2B5EF4-FFF2-40B4-BE49-F238E27FC236}">
                    <a16:creationId xmlns:a16="http://schemas.microsoft.com/office/drawing/2014/main" id="{CA9680F8-7AA0-41A8-A3C5-D60EB2B7360F}"/>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6529" name="Group 209">
              <a:extLst>
                <a:ext uri="{FF2B5EF4-FFF2-40B4-BE49-F238E27FC236}">
                  <a16:creationId xmlns:a16="http://schemas.microsoft.com/office/drawing/2014/main" id="{35492685-981C-4C05-9838-E43183F731F8}"/>
                </a:ext>
              </a:extLst>
            </p:cNvPr>
            <p:cNvGrpSpPr>
              <a:grpSpLocks/>
            </p:cNvGrpSpPr>
            <p:nvPr/>
          </p:nvGrpSpPr>
          <p:grpSpPr bwMode="auto">
            <a:xfrm>
              <a:off x="6175375" y="4862907"/>
              <a:ext cx="798513" cy="1168400"/>
              <a:chOff x="12762" y="10336"/>
              <a:chExt cx="1027" cy="1700"/>
            </a:xfrm>
          </p:grpSpPr>
          <p:sp>
            <p:nvSpPr>
              <p:cNvPr id="106626" name="Rectangle 210">
                <a:extLst>
                  <a:ext uri="{FF2B5EF4-FFF2-40B4-BE49-F238E27FC236}">
                    <a16:creationId xmlns:a16="http://schemas.microsoft.com/office/drawing/2014/main" id="{612B471D-4847-4342-BFF7-39EDF1685BA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7" name="Rectangle 211">
                <a:extLst>
                  <a:ext uri="{FF2B5EF4-FFF2-40B4-BE49-F238E27FC236}">
                    <a16:creationId xmlns:a16="http://schemas.microsoft.com/office/drawing/2014/main" id="{D7D1E0C8-1630-4363-93AD-F450363627A5}"/>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8" name="Line 212">
                <a:extLst>
                  <a:ext uri="{FF2B5EF4-FFF2-40B4-BE49-F238E27FC236}">
                    <a16:creationId xmlns:a16="http://schemas.microsoft.com/office/drawing/2014/main" id="{BD3434FF-99D5-431D-9A37-48800035CA1C}"/>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9" name="Line 213">
                <a:extLst>
                  <a:ext uri="{FF2B5EF4-FFF2-40B4-BE49-F238E27FC236}">
                    <a16:creationId xmlns:a16="http://schemas.microsoft.com/office/drawing/2014/main" id="{BCF9CD94-05D2-4E1E-99AA-8D02C94542E2}"/>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0" name="Line 214">
                <a:extLst>
                  <a:ext uri="{FF2B5EF4-FFF2-40B4-BE49-F238E27FC236}">
                    <a16:creationId xmlns:a16="http://schemas.microsoft.com/office/drawing/2014/main" id="{6564B6B9-8C4D-42B3-870C-1569EB560330}"/>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31" name="Line 215">
                <a:extLst>
                  <a:ext uri="{FF2B5EF4-FFF2-40B4-BE49-F238E27FC236}">
                    <a16:creationId xmlns:a16="http://schemas.microsoft.com/office/drawing/2014/main" id="{EE543B33-3C6C-4C7F-AA7A-67018F165C87}"/>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0" name="Oval 216">
              <a:extLst>
                <a:ext uri="{FF2B5EF4-FFF2-40B4-BE49-F238E27FC236}">
                  <a16:creationId xmlns:a16="http://schemas.microsoft.com/office/drawing/2014/main" id="{29D489F9-0779-49ED-AD5B-BC2B5F0CEC1C}"/>
                </a:ext>
              </a:extLst>
            </p:cNvPr>
            <p:cNvSpPr>
              <a:spLocks noChangeArrowheads="1"/>
            </p:cNvSpPr>
            <p:nvPr/>
          </p:nvSpPr>
          <p:spPr bwMode="auto">
            <a:xfrm>
              <a:off x="2763838" y="3489719"/>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1" name="Oval 217">
              <a:extLst>
                <a:ext uri="{FF2B5EF4-FFF2-40B4-BE49-F238E27FC236}">
                  <a16:creationId xmlns:a16="http://schemas.microsoft.com/office/drawing/2014/main" id="{26759C8B-7FFF-4434-931D-39D003E9FA09}"/>
                </a:ext>
              </a:extLst>
            </p:cNvPr>
            <p:cNvSpPr>
              <a:spLocks noChangeArrowheads="1"/>
            </p:cNvSpPr>
            <p:nvPr/>
          </p:nvSpPr>
          <p:spPr bwMode="auto">
            <a:xfrm>
              <a:off x="1604963" y="4618432"/>
              <a:ext cx="114300" cy="117475"/>
            </a:xfrm>
            <a:prstGeom prst="ellipse">
              <a:avLst/>
            </a:prstGeom>
            <a:solidFill>
              <a:srgbClr val="808080"/>
            </a:solidFill>
            <a:ln w="9525">
              <a:solidFill>
                <a:srgbClr val="80808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2" name="Text Box 218">
              <a:extLst>
                <a:ext uri="{FF2B5EF4-FFF2-40B4-BE49-F238E27FC236}">
                  <a16:creationId xmlns:a16="http://schemas.microsoft.com/office/drawing/2014/main" id="{6A91AAF1-C54B-460F-9510-9491806829F0}"/>
                </a:ext>
              </a:extLst>
            </p:cNvPr>
            <p:cNvSpPr txBox="1">
              <a:spLocks noChangeArrowheads="1"/>
            </p:cNvSpPr>
            <p:nvPr/>
          </p:nvSpPr>
          <p:spPr bwMode="auto">
            <a:xfrm>
              <a:off x="7583488" y="3502419"/>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grpSp>
          <p:nvGrpSpPr>
            <p:cNvPr id="106534" name="Group 220">
              <a:extLst>
                <a:ext uri="{FF2B5EF4-FFF2-40B4-BE49-F238E27FC236}">
                  <a16:creationId xmlns:a16="http://schemas.microsoft.com/office/drawing/2014/main" id="{0C17A230-3512-4C38-89FB-8CBDC0DAF16F}"/>
                </a:ext>
              </a:extLst>
            </p:cNvPr>
            <p:cNvGrpSpPr>
              <a:grpSpLocks/>
            </p:cNvGrpSpPr>
            <p:nvPr/>
          </p:nvGrpSpPr>
          <p:grpSpPr bwMode="auto">
            <a:xfrm>
              <a:off x="4587875" y="5085157"/>
              <a:ext cx="385763" cy="319087"/>
              <a:chOff x="11283" y="10423"/>
              <a:chExt cx="475" cy="374"/>
            </a:xfrm>
          </p:grpSpPr>
          <p:sp>
            <p:nvSpPr>
              <p:cNvPr id="106619" name="Rectangle 221">
                <a:extLst>
                  <a:ext uri="{FF2B5EF4-FFF2-40B4-BE49-F238E27FC236}">
                    <a16:creationId xmlns:a16="http://schemas.microsoft.com/office/drawing/2014/main" id="{5390D152-8B55-49BC-8005-CD2795493BDD}"/>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620" name="Line 222">
                <a:extLst>
                  <a:ext uri="{FF2B5EF4-FFF2-40B4-BE49-F238E27FC236}">
                    <a16:creationId xmlns:a16="http://schemas.microsoft.com/office/drawing/2014/main" id="{356A820D-E965-4BBB-A2E4-8E71895924DB}"/>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1" name="Line 223">
                <a:extLst>
                  <a:ext uri="{FF2B5EF4-FFF2-40B4-BE49-F238E27FC236}">
                    <a16:creationId xmlns:a16="http://schemas.microsoft.com/office/drawing/2014/main" id="{1732329D-BF42-4278-AF5B-8CAC206AA78B}"/>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2" name="Line 224">
                <a:extLst>
                  <a:ext uri="{FF2B5EF4-FFF2-40B4-BE49-F238E27FC236}">
                    <a16:creationId xmlns:a16="http://schemas.microsoft.com/office/drawing/2014/main" id="{AF9D5BD5-A145-4A80-9A4C-987BCE7DE4D6}"/>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3" name="Line 225">
                <a:extLst>
                  <a:ext uri="{FF2B5EF4-FFF2-40B4-BE49-F238E27FC236}">
                    <a16:creationId xmlns:a16="http://schemas.microsoft.com/office/drawing/2014/main" id="{D9ACF68F-0B93-4781-9A49-B254185191F8}"/>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4" name="Line 226">
                <a:extLst>
                  <a:ext uri="{FF2B5EF4-FFF2-40B4-BE49-F238E27FC236}">
                    <a16:creationId xmlns:a16="http://schemas.microsoft.com/office/drawing/2014/main" id="{DD045002-1E9B-49B2-B360-7F288B988E72}"/>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625" name="Line 227">
                <a:extLst>
                  <a:ext uri="{FF2B5EF4-FFF2-40B4-BE49-F238E27FC236}">
                    <a16:creationId xmlns:a16="http://schemas.microsoft.com/office/drawing/2014/main" id="{1C918DAE-8723-41D9-B3F7-67FEEE8AAF0B}"/>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6535" name="Line 228">
              <a:extLst>
                <a:ext uri="{FF2B5EF4-FFF2-40B4-BE49-F238E27FC236}">
                  <a16:creationId xmlns:a16="http://schemas.microsoft.com/office/drawing/2014/main" id="{4D1A9BC9-71E3-40C7-BD3E-072F126CB7E6}"/>
                </a:ext>
              </a:extLst>
            </p:cNvPr>
            <p:cNvSpPr>
              <a:spLocks noChangeShapeType="1"/>
            </p:cNvSpPr>
            <p:nvPr/>
          </p:nvSpPr>
          <p:spPr bwMode="auto">
            <a:xfrm>
              <a:off x="4845050" y="3869132"/>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36" name="Freeform 229">
              <a:extLst>
                <a:ext uri="{FF2B5EF4-FFF2-40B4-BE49-F238E27FC236}">
                  <a16:creationId xmlns:a16="http://schemas.microsoft.com/office/drawing/2014/main" id="{BD285F49-B6DD-4CD4-B44D-186A1060102C}"/>
                </a:ext>
              </a:extLst>
            </p:cNvPr>
            <p:cNvSpPr>
              <a:spLocks/>
            </p:cNvSpPr>
            <p:nvPr/>
          </p:nvSpPr>
          <p:spPr bwMode="auto">
            <a:xfrm>
              <a:off x="1663700" y="4716857"/>
              <a:ext cx="4854575" cy="1228725"/>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7" name="Freeform 230">
              <a:extLst>
                <a:ext uri="{FF2B5EF4-FFF2-40B4-BE49-F238E27FC236}">
                  <a16:creationId xmlns:a16="http://schemas.microsoft.com/office/drawing/2014/main" id="{CAC131D1-E63F-4FF0-81A7-6563505B76B3}"/>
                </a:ext>
              </a:extLst>
            </p:cNvPr>
            <p:cNvSpPr>
              <a:spLocks/>
            </p:cNvSpPr>
            <p:nvPr/>
          </p:nvSpPr>
          <p:spPr bwMode="auto">
            <a:xfrm>
              <a:off x="2822575" y="3550044"/>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538" name="Oval 231">
              <a:extLst>
                <a:ext uri="{FF2B5EF4-FFF2-40B4-BE49-F238E27FC236}">
                  <a16:creationId xmlns:a16="http://schemas.microsoft.com/office/drawing/2014/main" id="{436B63C5-D88C-4E14-8808-B62626AB618B}"/>
                </a:ext>
              </a:extLst>
            </p:cNvPr>
            <p:cNvSpPr>
              <a:spLocks noChangeArrowheads="1"/>
            </p:cNvSpPr>
            <p:nvPr/>
          </p:nvSpPr>
          <p:spPr bwMode="auto">
            <a:xfrm>
              <a:off x="2763838" y="3723082"/>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06539" name="Text Box 232">
              <a:extLst>
                <a:ext uri="{FF2B5EF4-FFF2-40B4-BE49-F238E27FC236}">
                  <a16:creationId xmlns:a16="http://schemas.microsoft.com/office/drawing/2014/main" id="{F606FFB5-1A29-426A-B7B5-6DDBEE9DB464}"/>
                </a:ext>
              </a:extLst>
            </p:cNvPr>
            <p:cNvSpPr txBox="1">
              <a:spLocks noChangeArrowheads="1"/>
            </p:cNvSpPr>
            <p:nvPr/>
          </p:nvSpPr>
          <p:spPr bwMode="auto">
            <a:xfrm>
              <a:off x="3251199" y="3629419"/>
              <a:ext cx="2621012"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en-US" altLang="zh-CN" sz="2000" dirty="0" err="1">
                  <a:solidFill>
                    <a:srgbClr val="FF0000"/>
                  </a:solidFill>
                  <a:latin typeface="Symbol" panose="05050102010706020507" pitchFamily="18" charset="2"/>
                </a:rPr>
                <a:t>l</a:t>
              </a:r>
              <a:r>
                <a:rPr lang="en-US" altLang="zh-CN" sz="2000" dirty="0" err="1">
                  <a:solidFill>
                    <a:srgbClr val="FF0000"/>
                  </a:solidFill>
                  <a:latin typeface="Arial" panose="020B0604020202020204" pitchFamily="34" charset="0"/>
                </a:rPr>
                <a:t>‘</a:t>
              </a:r>
              <a:r>
                <a:rPr lang="en-US" altLang="zh-CN" sz="2000" baseline="-25000" dirty="0" err="1">
                  <a:solidFill>
                    <a:srgbClr val="FF0000"/>
                  </a:solidFill>
                  <a:latin typeface="Arial" panose="020B0604020202020204" pitchFamily="34" charset="0"/>
                </a:rPr>
                <a:t>in</a:t>
              </a:r>
              <a:r>
                <a:rPr lang="en-US" altLang="zh-CN" sz="1800" dirty="0">
                  <a:solidFill>
                    <a:srgbClr val="FF0000"/>
                  </a:solidFill>
                  <a:latin typeface="Arial" panose="020B0604020202020204" pitchFamily="34" charset="0"/>
                </a:rPr>
                <a:t>:</a:t>
              </a:r>
              <a:r>
                <a:rPr lang="en-US" altLang="zh-CN" sz="1400"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原始数据加重传数据</a:t>
              </a:r>
              <a:endParaRPr lang="en-US" altLang="zh-CN" dirty="0">
                <a:solidFill>
                  <a:srgbClr val="2A09B7"/>
                </a:solidFill>
                <a:latin typeface="Comic Sans MS" panose="030F0702030302020204" pitchFamily="66" charset="0"/>
              </a:endParaRPr>
            </a:p>
          </p:txBody>
        </p:sp>
        <p:sp>
          <p:nvSpPr>
            <p:cNvPr id="89133" name="Line 233">
              <a:extLst>
                <a:ext uri="{FF2B5EF4-FFF2-40B4-BE49-F238E27FC236}">
                  <a16:creationId xmlns:a16="http://schemas.microsoft.com/office/drawing/2014/main" id="{9619E815-FB52-4EF7-A41F-5AA8F952B184}"/>
                </a:ext>
              </a:extLst>
            </p:cNvPr>
            <p:cNvSpPr>
              <a:spLocks noChangeShapeType="1"/>
            </p:cNvSpPr>
            <p:nvPr/>
          </p:nvSpPr>
          <p:spPr bwMode="auto">
            <a:xfrm>
              <a:off x="2909888" y="3789757"/>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4" name="Line 234">
              <a:extLst>
                <a:ext uri="{FF2B5EF4-FFF2-40B4-BE49-F238E27FC236}">
                  <a16:creationId xmlns:a16="http://schemas.microsoft.com/office/drawing/2014/main" id="{76565AF0-6748-4C3A-BD18-711EAECB2128}"/>
                </a:ext>
              </a:extLst>
            </p:cNvPr>
            <p:cNvSpPr>
              <a:spLocks noChangeShapeType="1"/>
            </p:cNvSpPr>
            <p:nvPr/>
          </p:nvSpPr>
          <p:spPr bwMode="auto">
            <a:xfrm>
              <a:off x="2905125" y="35563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9135" name="Line 235">
              <a:extLst>
                <a:ext uri="{FF2B5EF4-FFF2-40B4-BE49-F238E27FC236}">
                  <a16:creationId xmlns:a16="http://schemas.microsoft.com/office/drawing/2014/main" id="{F1CF374B-7B0B-4020-B2F8-C26FE4F80376}"/>
                </a:ext>
              </a:extLst>
            </p:cNvPr>
            <p:cNvSpPr>
              <a:spLocks noChangeShapeType="1"/>
            </p:cNvSpPr>
            <p:nvPr/>
          </p:nvSpPr>
          <p:spPr bwMode="auto">
            <a:xfrm>
              <a:off x="7116763" y="37087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6547" name="Freeform 250">
              <a:extLst>
                <a:ext uri="{FF2B5EF4-FFF2-40B4-BE49-F238E27FC236}">
                  <a16:creationId xmlns:a16="http://schemas.microsoft.com/office/drawing/2014/main" id="{35445ACB-CB9F-4A32-8ACC-70C0CF16E12C}"/>
                </a:ext>
              </a:extLst>
            </p:cNvPr>
            <p:cNvSpPr>
              <a:spLocks/>
            </p:cNvSpPr>
            <p:nvPr/>
          </p:nvSpPr>
          <p:spPr bwMode="auto">
            <a:xfrm>
              <a:off x="7416800" y="3538932"/>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48" name="Group 256">
              <a:extLst>
                <a:ext uri="{FF2B5EF4-FFF2-40B4-BE49-F238E27FC236}">
                  <a16:creationId xmlns:a16="http://schemas.microsoft.com/office/drawing/2014/main" id="{59721B03-0099-454E-A493-AF220250E257}"/>
                </a:ext>
              </a:extLst>
            </p:cNvPr>
            <p:cNvGrpSpPr>
              <a:grpSpLocks/>
            </p:cNvGrpSpPr>
            <p:nvPr/>
          </p:nvGrpSpPr>
          <p:grpSpPr bwMode="auto">
            <a:xfrm>
              <a:off x="7553325" y="4437457"/>
              <a:ext cx="231775" cy="441325"/>
              <a:chOff x="4140" y="429"/>
              <a:chExt cx="1425" cy="2396"/>
            </a:xfrm>
          </p:grpSpPr>
          <p:sp>
            <p:nvSpPr>
              <p:cNvPr id="106585" name="Freeform 257">
                <a:extLst>
                  <a:ext uri="{FF2B5EF4-FFF2-40B4-BE49-F238E27FC236}">
                    <a16:creationId xmlns:a16="http://schemas.microsoft.com/office/drawing/2014/main" id="{12920BB7-5797-42AD-B21C-6DE962A03BC2}"/>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79" name="Rectangle 258">
                <a:extLst>
                  <a:ext uri="{FF2B5EF4-FFF2-40B4-BE49-F238E27FC236}">
                    <a16:creationId xmlns:a16="http://schemas.microsoft.com/office/drawing/2014/main" id="{6C37FB59-CD7E-4F4C-B4B4-1CA0C82FE35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87" name="Freeform 259">
                <a:extLst>
                  <a:ext uri="{FF2B5EF4-FFF2-40B4-BE49-F238E27FC236}">
                    <a16:creationId xmlns:a16="http://schemas.microsoft.com/office/drawing/2014/main" id="{181FF5BD-F951-427C-9FEB-00033245A267}"/>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88" name="Freeform 260">
                <a:extLst>
                  <a:ext uri="{FF2B5EF4-FFF2-40B4-BE49-F238E27FC236}">
                    <a16:creationId xmlns:a16="http://schemas.microsoft.com/office/drawing/2014/main" id="{98332F21-899F-4676-AFC5-D468C0E55CE8}"/>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82" name="Rectangle 261">
                <a:extLst>
                  <a:ext uri="{FF2B5EF4-FFF2-40B4-BE49-F238E27FC236}">
                    <a16:creationId xmlns:a16="http://schemas.microsoft.com/office/drawing/2014/main" id="{D4E07CA2-E2C4-4B8B-9E21-A91C1EE5CE4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0" name="Group 262">
                <a:extLst>
                  <a:ext uri="{FF2B5EF4-FFF2-40B4-BE49-F238E27FC236}">
                    <a16:creationId xmlns:a16="http://schemas.microsoft.com/office/drawing/2014/main" id="{06E7A4D7-AC51-4D0E-A22F-C79F012631F7}"/>
                  </a:ext>
                </a:extLst>
              </p:cNvPr>
              <p:cNvGrpSpPr>
                <a:grpSpLocks/>
              </p:cNvGrpSpPr>
              <p:nvPr/>
            </p:nvGrpSpPr>
            <p:grpSpPr bwMode="auto">
              <a:xfrm>
                <a:off x="4749" y="668"/>
                <a:ext cx="581" cy="145"/>
                <a:chOff x="614" y="2568"/>
                <a:chExt cx="725" cy="139"/>
              </a:xfrm>
            </p:grpSpPr>
            <p:sp>
              <p:nvSpPr>
                <p:cNvPr id="89208" name="AutoShape 263">
                  <a:extLst>
                    <a:ext uri="{FF2B5EF4-FFF2-40B4-BE49-F238E27FC236}">
                      <a16:creationId xmlns:a16="http://schemas.microsoft.com/office/drawing/2014/main" id="{50E43811-CE86-47E5-B2BA-515A06375DC0}"/>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9" name="AutoShape 264">
                  <a:extLst>
                    <a:ext uri="{FF2B5EF4-FFF2-40B4-BE49-F238E27FC236}">
                      <a16:creationId xmlns:a16="http://schemas.microsoft.com/office/drawing/2014/main" id="{FDC4D4A2-EA62-4FBD-A56F-A5AB316DF92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4" name="Rectangle 265">
                <a:extLst>
                  <a:ext uri="{FF2B5EF4-FFF2-40B4-BE49-F238E27FC236}">
                    <a16:creationId xmlns:a16="http://schemas.microsoft.com/office/drawing/2014/main" id="{27949F01-F040-4730-B7EB-A98D55FE14D8}"/>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2" name="Group 266">
                <a:extLst>
                  <a:ext uri="{FF2B5EF4-FFF2-40B4-BE49-F238E27FC236}">
                    <a16:creationId xmlns:a16="http://schemas.microsoft.com/office/drawing/2014/main" id="{6E126D7E-D480-4412-BE0B-2EADB634B286}"/>
                  </a:ext>
                </a:extLst>
              </p:cNvPr>
              <p:cNvGrpSpPr>
                <a:grpSpLocks/>
              </p:cNvGrpSpPr>
              <p:nvPr/>
            </p:nvGrpSpPr>
            <p:grpSpPr bwMode="auto">
              <a:xfrm>
                <a:off x="4747" y="994"/>
                <a:ext cx="581" cy="134"/>
                <a:chOff x="614" y="2568"/>
                <a:chExt cx="725" cy="139"/>
              </a:xfrm>
            </p:grpSpPr>
            <p:sp>
              <p:nvSpPr>
                <p:cNvPr id="89206" name="AutoShape 267">
                  <a:extLst>
                    <a:ext uri="{FF2B5EF4-FFF2-40B4-BE49-F238E27FC236}">
                      <a16:creationId xmlns:a16="http://schemas.microsoft.com/office/drawing/2014/main" id="{18E074AB-0307-4308-B8A1-AF7C066AB94A}"/>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7" name="AutoShape 268">
                  <a:extLst>
                    <a:ext uri="{FF2B5EF4-FFF2-40B4-BE49-F238E27FC236}">
                      <a16:creationId xmlns:a16="http://schemas.microsoft.com/office/drawing/2014/main" id="{EABC9E69-0134-4D29-808C-E197EEDFFBB4}"/>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86" name="Rectangle 269">
                <a:extLst>
                  <a:ext uri="{FF2B5EF4-FFF2-40B4-BE49-F238E27FC236}">
                    <a16:creationId xmlns:a16="http://schemas.microsoft.com/office/drawing/2014/main" id="{3CB02278-5502-4857-8E06-762B9F19A252}"/>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87" name="Rectangle 270">
                <a:extLst>
                  <a:ext uri="{FF2B5EF4-FFF2-40B4-BE49-F238E27FC236}">
                    <a16:creationId xmlns:a16="http://schemas.microsoft.com/office/drawing/2014/main" id="{3C043ADE-726B-450B-B8DF-C324FF0848A6}"/>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95" name="Group 271">
                <a:extLst>
                  <a:ext uri="{FF2B5EF4-FFF2-40B4-BE49-F238E27FC236}">
                    <a16:creationId xmlns:a16="http://schemas.microsoft.com/office/drawing/2014/main" id="{34905BF7-7CD3-4DE8-AEBD-66ABA8DFC628}"/>
                  </a:ext>
                </a:extLst>
              </p:cNvPr>
              <p:cNvGrpSpPr>
                <a:grpSpLocks/>
              </p:cNvGrpSpPr>
              <p:nvPr/>
            </p:nvGrpSpPr>
            <p:grpSpPr bwMode="auto">
              <a:xfrm>
                <a:off x="4735" y="1627"/>
                <a:ext cx="582" cy="151"/>
                <a:chOff x="614" y="2568"/>
                <a:chExt cx="725" cy="139"/>
              </a:xfrm>
            </p:grpSpPr>
            <p:sp>
              <p:nvSpPr>
                <p:cNvPr id="89204" name="AutoShape 272">
                  <a:extLst>
                    <a:ext uri="{FF2B5EF4-FFF2-40B4-BE49-F238E27FC236}">
                      <a16:creationId xmlns:a16="http://schemas.microsoft.com/office/drawing/2014/main" id="{94E0CF6F-2C4C-465D-B4E6-114D84F9F55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5" name="AutoShape 273">
                  <a:extLst>
                    <a:ext uri="{FF2B5EF4-FFF2-40B4-BE49-F238E27FC236}">
                      <a16:creationId xmlns:a16="http://schemas.microsoft.com/office/drawing/2014/main" id="{61D1C857-7B4C-4213-A9B8-ADC1D8975D1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96" name="Freeform 274">
                <a:extLst>
                  <a:ext uri="{FF2B5EF4-FFF2-40B4-BE49-F238E27FC236}">
                    <a16:creationId xmlns:a16="http://schemas.microsoft.com/office/drawing/2014/main" id="{BB2ED0CD-4C8E-47F7-86C7-BB5B894B5CD2}"/>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97" name="Group 275">
                <a:extLst>
                  <a:ext uri="{FF2B5EF4-FFF2-40B4-BE49-F238E27FC236}">
                    <a16:creationId xmlns:a16="http://schemas.microsoft.com/office/drawing/2014/main" id="{370C9DAF-CBB6-4F0F-A58C-5D925DA6F380}"/>
                  </a:ext>
                </a:extLst>
              </p:cNvPr>
              <p:cNvGrpSpPr>
                <a:grpSpLocks/>
              </p:cNvGrpSpPr>
              <p:nvPr/>
            </p:nvGrpSpPr>
            <p:grpSpPr bwMode="auto">
              <a:xfrm>
                <a:off x="4739" y="1327"/>
                <a:ext cx="582" cy="139"/>
                <a:chOff x="614" y="2568"/>
                <a:chExt cx="725" cy="139"/>
              </a:xfrm>
            </p:grpSpPr>
            <p:sp>
              <p:nvSpPr>
                <p:cNvPr id="89202" name="AutoShape 276">
                  <a:extLst>
                    <a:ext uri="{FF2B5EF4-FFF2-40B4-BE49-F238E27FC236}">
                      <a16:creationId xmlns:a16="http://schemas.microsoft.com/office/drawing/2014/main" id="{4963058F-1581-4DB1-B743-0AA8FF31BC56}"/>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3" name="AutoShape 277">
                  <a:extLst>
                    <a:ext uri="{FF2B5EF4-FFF2-40B4-BE49-F238E27FC236}">
                      <a16:creationId xmlns:a16="http://schemas.microsoft.com/office/drawing/2014/main" id="{B26DCE23-DAE7-4666-B3F7-403407C97C49}"/>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91" name="Rectangle 278">
                <a:extLst>
                  <a:ext uri="{FF2B5EF4-FFF2-40B4-BE49-F238E27FC236}">
                    <a16:creationId xmlns:a16="http://schemas.microsoft.com/office/drawing/2014/main" id="{26BF784C-521B-40E8-87A2-637C777CFA6D}"/>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99" name="Freeform 279">
                <a:extLst>
                  <a:ext uri="{FF2B5EF4-FFF2-40B4-BE49-F238E27FC236}">
                    <a16:creationId xmlns:a16="http://schemas.microsoft.com/office/drawing/2014/main" id="{6B2476E7-88FF-4CE4-86D4-48251ADF6152}"/>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600" name="Freeform 280">
                <a:extLst>
                  <a:ext uri="{FF2B5EF4-FFF2-40B4-BE49-F238E27FC236}">
                    <a16:creationId xmlns:a16="http://schemas.microsoft.com/office/drawing/2014/main" id="{12647C89-437B-4B34-B1CF-3A163487C675}"/>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4" name="Oval 281">
                <a:extLst>
                  <a:ext uri="{FF2B5EF4-FFF2-40B4-BE49-F238E27FC236}">
                    <a16:creationId xmlns:a16="http://schemas.microsoft.com/office/drawing/2014/main" id="{35485175-6619-4676-A476-A2D6D25562C6}"/>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602" name="Freeform 282">
                <a:extLst>
                  <a:ext uri="{FF2B5EF4-FFF2-40B4-BE49-F238E27FC236}">
                    <a16:creationId xmlns:a16="http://schemas.microsoft.com/office/drawing/2014/main" id="{CE877AE6-FFAE-4835-B2D6-162891BBDD7D}"/>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96" name="AutoShape 283">
                <a:extLst>
                  <a:ext uri="{FF2B5EF4-FFF2-40B4-BE49-F238E27FC236}">
                    <a16:creationId xmlns:a16="http://schemas.microsoft.com/office/drawing/2014/main" id="{624A50A0-1C47-4051-AD03-8B33B706FA9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7" name="AutoShape 284">
                <a:extLst>
                  <a:ext uri="{FF2B5EF4-FFF2-40B4-BE49-F238E27FC236}">
                    <a16:creationId xmlns:a16="http://schemas.microsoft.com/office/drawing/2014/main" id="{BDEB5B0F-02B0-47C6-85BE-E8317D3A44ED}"/>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8" name="Oval 285">
                <a:extLst>
                  <a:ext uri="{FF2B5EF4-FFF2-40B4-BE49-F238E27FC236}">
                    <a16:creationId xmlns:a16="http://schemas.microsoft.com/office/drawing/2014/main" id="{269CEF48-70FB-4BE4-9342-793316200BF8}"/>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99" name="Oval 286">
                <a:extLst>
                  <a:ext uri="{FF2B5EF4-FFF2-40B4-BE49-F238E27FC236}">
                    <a16:creationId xmlns:a16="http://schemas.microsoft.com/office/drawing/2014/main" id="{A323021A-D1A7-45EC-97F4-17BB07266FD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200" name="Oval 287">
                <a:extLst>
                  <a:ext uri="{FF2B5EF4-FFF2-40B4-BE49-F238E27FC236}">
                    <a16:creationId xmlns:a16="http://schemas.microsoft.com/office/drawing/2014/main" id="{AD946B8F-04CF-4D99-97C9-0FF2ECE6FC7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201" name="Rectangle 288">
                <a:extLst>
                  <a:ext uri="{FF2B5EF4-FFF2-40B4-BE49-F238E27FC236}">
                    <a16:creationId xmlns:a16="http://schemas.microsoft.com/office/drawing/2014/main" id="{82D5C20F-5F5E-4F03-8D91-D0E0A90F441A}"/>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49" name="Group 289">
              <a:extLst>
                <a:ext uri="{FF2B5EF4-FFF2-40B4-BE49-F238E27FC236}">
                  <a16:creationId xmlns:a16="http://schemas.microsoft.com/office/drawing/2014/main" id="{D0A4F2B0-653F-4852-880B-B2360567D681}"/>
                </a:ext>
              </a:extLst>
            </p:cNvPr>
            <p:cNvGrpSpPr>
              <a:grpSpLocks/>
            </p:cNvGrpSpPr>
            <p:nvPr/>
          </p:nvGrpSpPr>
          <p:grpSpPr bwMode="auto">
            <a:xfrm>
              <a:off x="7135813" y="5740794"/>
              <a:ext cx="231775" cy="441325"/>
              <a:chOff x="4140" y="429"/>
              <a:chExt cx="1425" cy="2396"/>
            </a:xfrm>
          </p:grpSpPr>
          <p:sp>
            <p:nvSpPr>
              <p:cNvPr id="106553" name="Freeform 290">
                <a:extLst>
                  <a:ext uri="{FF2B5EF4-FFF2-40B4-BE49-F238E27FC236}">
                    <a16:creationId xmlns:a16="http://schemas.microsoft.com/office/drawing/2014/main" id="{750F7EE9-C50D-46EB-B5D3-3E7931C83515}"/>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47" name="Rectangle 291">
                <a:extLst>
                  <a:ext uri="{FF2B5EF4-FFF2-40B4-BE49-F238E27FC236}">
                    <a16:creationId xmlns:a16="http://schemas.microsoft.com/office/drawing/2014/main" id="{9A02EF3C-A084-4A87-9ACC-0F9AA325677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55" name="Freeform 292">
                <a:extLst>
                  <a:ext uri="{FF2B5EF4-FFF2-40B4-BE49-F238E27FC236}">
                    <a16:creationId xmlns:a16="http://schemas.microsoft.com/office/drawing/2014/main" id="{56F076B0-2482-4C0A-9982-829EBEA67BAA}"/>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56" name="Freeform 293">
                <a:extLst>
                  <a:ext uri="{FF2B5EF4-FFF2-40B4-BE49-F238E27FC236}">
                    <a16:creationId xmlns:a16="http://schemas.microsoft.com/office/drawing/2014/main" id="{0B4AD151-E1EE-4CDE-81C6-CA4122D44C19}"/>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50" name="Rectangle 294">
                <a:extLst>
                  <a:ext uri="{FF2B5EF4-FFF2-40B4-BE49-F238E27FC236}">
                    <a16:creationId xmlns:a16="http://schemas.microsoft.com/office/drawing/2014/main" id="{E136D017-8223-4C7E-90EF-42659BF40635}"/>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58" name="Group 295">
                <a:extLst>
                  <a:ext uri="{FF2B5EF4-FFF2-40B4-BE49-F238E27FC236}">
                    <a16:creationId xmlns:a16="http://schemas.microsoft.com/office/drawing/2014/main" id="{EAACCFEE-C3BD-4077-BECB-D11FD39179BC}"/>
                  </a:ext>
                </a:extLst>
              </p:cNvPr>
              <p:cNvGrpSpPr>
                <a:grpSpLocks/>
              </p:cNvGrpSpPr>
              <p:nvPr/>
            </p:nvGrpSpPr>
            <p:grpSpPr bwMode="auto">
              <a:xfrm>
                <a:off x="4749" y="668"/>
                <a:ext cx="581" cy="145"/>
                <a:chOff x="614" y="2568"/>
                <a:chExt cx="725" cy="139"/>
              </a:xfrm>
            </p:grpSpPr>
            <p:sp>
              <p:nvSpPr>
                <p:cNvPr id="89176" name="AutoShape 296">
                  <a:extLst>
                    <a:ext uri="{FF2B5EF4-FFF2-40B4-BE49-F238E27FC236}">
                      <a16:creationId xmlns:a16="http://schemas.microsoft.com/office/drawing/2014/main" id="{5B3E2ACB-04A2-4357-97E4-098F38EFB2C3}"/>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7" name="AutoShape 297">
                  <a:extLst>
                    <a:ext uri="{FF2B5EF4-FFF2-40B4-BE49-F238E27FC236}">
                      <a16:creationId xmlns:a16="http://schemas.microsoft.com/office/drawing/2014/main" id="{9C809EBC-5AA9-42BC-945B-B5774DFAA27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2" name="Rectangle 298">
                <a:extLst>
                  <a:ext uri="{FF2B5EF4-FFF2-40B4-BE49-F238E27FC236}">
                    <a16:creationId xmlns:a16="http://schemas.microsoft.com/office/drawing/2014/main" id="{9D906A86-B1E5-4A1C-88BA-34D45BADB37B}"/>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0" name="Group 299">
                <a:extLst>
                  <a:ext uri="{FF2B5EF4-FFF2-40B4-BE49-F238E27FC236}">
                    <a16:creationId xmlns:a16="http://schemas.microsoft.com/office/drawing/2014/main" id="{E2C25903-F377-4FEA-A29B-F59E62D1E5A8}"/>
                  </a:ext>
                </a:extLst>
              </p:cNvPr>
              <p:cNvGrpSpPr>
                <a:grpSpLocks/>
              </p:cNvGrpSpPr>
              <p:nvPr/>
            </p:nvGrpSpPr>
            <p:grpSpPr bwMode="auto">
              <a:xfrm>
                <a:off x="4747" y="994"/>
                <a:ext cx="581" cy="134"/>
                <a:chOff x="614" y="2568"/>
                <a:chExt cx="725" cy="139"/>
              </a:xfrm>
            </p:grpSpPr>
            <p:sp>
              <p:nvSpPr>
                <p:cNvPr id="89174" name="AutoShape 300">
                  <a:extLst>
                    <a:ext uri="{FF2B5EF4-FFF2-40B4-BE49-F238E27FC236}">
                      <a16:creationId xmlns:a16="http://schemas.microsoft.com/office/drawing/2014/main" id="{5CBB735E-2C79-45CF-A005-D5B654CCD21C}"/>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5" name="AutoShape 301">
                  <a:extLst>
                    <a:ext uri="{FF2B5EF4-FFF2-40B4-BE49-F238E27FC236}">
                      <a16:creationId xmlns:a16="http://schemas.microsoft.com/office/drawing/2014/main" id="{C7566814-3E62-440A-B324-D1CBB91120E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4" name="Rectangle 302">
                <a:extLst>
                  <a:ext uri="{FF2B5EF4-FFF2-40B4-BE49-F238E27FC236}">
                    <a16:creationId xmlns:a16="http://schemas.microsoft.com/office/drawing/2014/main" id="{5F2E0CEE-548B-49BB-997B-76AE4143F54D}"/>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55" name="Rectangle 303">
                <a:extLst>
                  <a:ext uri="{FF2B5EF4-FFF2-40B4-BE49-F238E27FC236}">
                    <a16:creationId xmlns:a16="http://schemas.microsoft.com/office/drawing/2014/main" id="{21359DB6-C272-4930-B8D1-9BF67A6BA160}"/>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06563" name="Group 304">
                <a:extLst>
                  <a:ext uri="{FF2B5EF4-FFF2-40B4-BE49-F238E27FC236}">
                    <a16:creationId xmlns:a16="http://schemas.microsoft.com/office/drawing/2014/main" id="{685D78D9-8633-401D-981F-B642F92BD249}"/>
                  </a:ext>
                </a:extLst>
              </p:cNvPr>
              <p:cNvGrpSpPr>
                <a:grpSpLocks/>
              </p:cNvGrpSpPr>
              <p:nvPr/>
            </p:nvGrpSpPr>
            <p:grpSpPr bwMode="auto">
              <a:xfrm>
                <a:off x="4735" y="1627"/>
                <a:ext cx="582" cy="151"/>
                <a:chOff x="614" y="2568"/>
                <a:chExt cx="725" cy="139"/>
              </a:xfrm>
            </p:grpSpPr>
            <p:sp>
              <p:nvSpPr>
                <p:cNvPr id="89172" name="AutoShape 305">
                  <a:extLst>
                    <a:ext uri="{FF2B5EF4-FFF2-40B4-BE49-F238E27FC236}">
                      <a16:creationId xmlns:a16="http://schemas.microsoft.com/office/drawing/2014/main" id="{FC466596-8E4A-41A9-81DF-223A1B53EB72}"/>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3" name="AutoShape 306">
                  <a:extLst>
                    <a:ext uri="{FF2B5EF4-FFF2-40B4-BE49-F238E27FC236}">
                      <a16:creationId xmlns:a16="http://schemas.microsoft.com/office/drawing/2014/main" id="{657735C7-AEDE-4160-B5C8-7BFBF251897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06564" name="Freeform 307">
                <a:extLst>
                  <a:ext uri="{FF2B5EF4-FFF2-40B4-BE49-F238E27FC236}">
                    <a16:creationId xmlns:a16="http://schemas.microsoft.com/office/drawing/2014/main" id="{A54330BA-614B-43CE-81DA-B8DEEAEE0811}"/>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6565" name="Group 308">
                <a:extLst>
                  <a:ext uri="{FF2B5EF4-FFF2-40B4-BE49-F238E27FC236}">
                    <a16:creationId xmlns:a16="http://schemas.microsoft.com/office/drawing/2014/main" id="{EBFD386E-FBA0-401F-81CD-B7DDCCD9E4AE}"/>
                  </a:ext>
                </a:extLst>
              </p:cNvPr>
              <p:cNvGrpSpPr>
                <a:grpSpLocks/>
              </p:cNvGrpSpPr>
              <p:nvPr/>
            </p:nvGrpSpPr>
            <p:grpSpPr bwMode="auto">
              <a:xfrm>
                <a:off x="4739" y="1327"/>
                <a:ext cx="582" cy="139"/>
                <a:chOff x="614" y="2568"/>
                <a:chExt cx="725" cy="139"/>
              </a:xfrm>
            </p:grpSpPr>
            <p:sp>
              <p:nvSpPr>
                <p:cNvPr id="89170" name="AutoShape 309">
                  <a:extLst>
                    <a:ext uri="{FF2B5EF4-FFF2-40B4-BE49-F238E27FC236}">
                      <a16:creationId xmlns:a16="http://schemas.microsoft.com/office/drawing/2014/main" id="{CE8BD159-D6EC-4E08-B530-CD0288F77970}"/>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71" name="AutoShape 310">
                  <a:extLst>
                    <a:ext uri="{FF2B5EF4-FFF2-40B4-BE49-F238E27FC236}">
                      <a16:creationId xmlns:a16="http://schemas.microsoft.com/office/drawing/2014/main" id="{F932E7BF-3917-4C45-85D4-37991F84A5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89159" name="Rectangle 311">
                <a:extLst>
                  <a:ext uri="{FF2B5EF4-FFF2-40B4-BE49-F238E27FC236}">
                    <a16:creationId xmlns:a16="http://schemas.microsoft.com/office/drawing/2014/main" id="{353C16FB-46D5-40CB-88D0-B6DD18534F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67" name="Freeform 312">
                <a:extLst>
                  <a:ext uri="{FF2B5EF4-FFF2-40B4-BE49-F238E27FC236}">
                    <a16:creationId xmlns:a16="http://schemas.microsoft.com/office/drawing/2014/main" id="{F9DB1EAF-D56B-4D70-88A1-8383319BA365}"/>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68" name="Freeform 313">
                <a:extLst>
                  <a:ext uri="{FF2B5EF4-FFF2-40B4-BE49-F238E27FC236}">
                    <a16:creationId xmlns:a16="http://schemas.microsoft.com/office/drawing/2014/main" id="{B205EE54-062D-422B-A6E0-971B63A0CBB8}"/>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2" name="Oval 314">
                <a:extLst>
                  <a:ext uri="{FF2B5EF4-FFF2-40B4-BE49-F238E27FC236}">
                    <a16:creationId xmlns:a16="http://schemas.microsoft.com/office/drawing/2014/main" id="{ACE2953E-B287-454E-A938-97D16BC9DC6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6570" name="Freeform 315">
                <a:extLst>
                  <a:ext uri="{FF2B5EF4-FFF2-40B4-BE49-F238E27FC236}">
                    <a16:creationId xmlns:a16="http://schemas.microsoft.com/office/drawing/2014/main" id="{2D2913B9-B726-48EF-AB76-A8FE241B34EA}"/>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64" name="AutoShape 316">
                <a:extLst>
                  <a:ext uri="{FF2B5EF4-FFF2-40B4-BE49-F238E27FC236}">
                    <a16:creationId xmlns:a16="http://schemas.microsoft.com/office/drawing/2014/main" id="{85C11E43-C59E-40B9-906F-509E3AE9364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5" name="AutoShape 317">
                <a:extLst>
                  <a:ext uri="{FF2B5EF4-FFF2-40B4-BE49-F238E27FC236}">
                    <a16:creationId xmlns:a16="http://schemas.microsoft.com/office/drawing/2014/main" id="{A030ECB6-8B62-49EE-B810-EDF1D1A5FAF5}"/>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6" name="Oval 318">
                <a:extLst>
                  <a:ext uri="{FF2B5EF4-FFF2-40B4-BE49-F238E27FC236}">
                    <a16:creationId xmlns:a16="http://schemas.microsoft.com/office/drawing/2014/main" id="{D7310BFF-4F6C-4924-9F32-F599CAE947B0}"/>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7" name="Oval 319">
                <a:extLst>
                  <a:ext uri="{FF2B5EF4-FFF2-40B4-BE49-F238E27FC236}">
                    <a16:creationId xmlns:a16="http://schemas.microsoft.com/office/drawing/2014/main" id="{0C0F745B-59D9-4C3F-B41F-72AD3C894365}"/>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89168" name="Oval 320">
                <a:extLst>
                  <a:ext uri="{FF2B5EF4-FFF2-40B4-BE49-F238E27FC236}">
                    <a16:creationId xmlns:a16="http://schemas.microsoft.com/office/drawing/2014/main" id="{5D67E27B-7C44-4319-A029-BC343B11DC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9169" name="Rectangle 321">
                <a:extLst>
                  <a:ext uri="{FF2B5EF4-FFF2-40B4-BE49-F238E27FC236}">
                    <a16:creationId xmlns:a16="http://schemas.microsoft.com/office/drawing/2014/main" id="{380B71CA-99B8-438E-9B8A-2CDECEB4AA4E}"/>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06550" name="Group 325">
              <a:extLst>
                <a:ext uri="{FF2B5EF4-FFF2-40B4-BE49-F238E27FC236}">
                  <a16:creationId xmlns:a16="http://schemas.microsoft.com/office/drawing/2014/main" id="{80842EDB-59E0-4AA8-AC8B-B801C99CFF84}"/>
                </a:ext>
              </a:extLst>
            </p:cNvPr>
            <p:cNvGrpSpPr>
              <a:grpSpLocks/>
            </p:cNvGrpSpPr>
            <p:nvPr/>
          </p:nvGrpSpPr>
          <p:grpSpPr bwMode="auto">
            <a:xfrm>
              <a:off x="661988" y="5467744"/>
              <a:ext cx="525462" cy="434975"/>
              <a:chOff x="-44" y="1473"/>
              <a:chExt cx="981" cy="1105"/>
            </a:xfrm>
          </p:grpSpPr>
          <p:pic>
            <p:nvPicPr>
              <p:cNvPr id="106551" name="Picture 326" descr="desktop_computer_stylized_medium">
                <a:extLst>
                  <a:ext uri="{FF2B5EF4-FFF2-40B4-BE49-F238E27FC236}">
                    <a16:creationId xmlns:a16="http://schemas.microsoft.com/office/drawing/2014/main" id="{4CFBABE6-2221-4D4E-A1F5-F4310A46DF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52" name="Freeform 327">
                <a:extLst>
                  <a:ext uri="{FF2B5EF4-FFF2-40B4-BE49-F238E27FC236}">
                    <a16:creationId xmlns:a16="http://schemas.microsoft.com/office/drawing/2014/main" id="{D80C4E83-B0A6-49B2-B217-0D873C98E2A3}"/>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Text Box 42">
              <a:extLst>
                <a:ext uri="{FF2B5EF4-FFF2-40B4-BE49-F238E27FC236}">
                  <a16:creationId xmlns:a16="http://schemas.microsoft.com/office/drawing/2014/main" id="{776902CB-B5D8-43B3-9A97-F843DC614BBA}"/>
                </a:ext>
              </a:extLst>
            </p:cNvPr>
            <p:cNvSpPr txBox="1">
              <a:spLocks noChangeArrowheads="1"/>
            </p:cNvSpPr>
            <p:nvPr/>
          </p:nvSpPr>
          <p:spPr bwMode="auto">
            <a:xfrm>
              <a:off x="1576499" y="3877699"/>
              <a:ext cx="693561" cy="19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3" name="Text Box 52">
              <a:extLst>
                <a:ext uri="{FF2B5EF4-FFF2-40B4-BE49-F238E27FC236}">
                  <a16:creationId xmlns:a16="http://schemas.microsoft.com/office/drawing/2014/main" id="{DEC3BDD2-4980-4751-9DC1-E3018EC95078}"/>
                </a:ext>
              </a:extLst>
            </p:cNvPr>
            <p:cNvSpPr txBox="1">
              <a:spLocks noChangeArrowheads="1"/>
            </p:cNvSpPr>
            <p:nvPr/>
          </p:nvSpPr>
          <p:spPr bwMode="auto">
            <a:xfrm>
              <a:off x="504891" y="5065425"/>
              <a:ext cx="815638" cy="23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grpSp>
      <p:pic>
        <p:nvPicPr>
          <p:cNvPr id="166" name="Picture 2" descr="garbage_can">
            <a:extLst>
              <a:ext uri="{FF2B5EF4-FFF2-40B4-BE49-F238E27FC236}">
                <a16:creationId xmlns:a16="http://schemas.microsoft.com/office/drawing/2014/main" id="{03685ED8-F0FF-42FE-A7A5-7D6930FA52B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9797" y="5253246"/>
            <a:ext cx="4873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234">
            <a:extLst>
              <a:ext uri="{FF2B5EF4-FFF2-40B4-BE49-F238E27FC236}">
                <a16:creationId xmlns:a16="http://schemas.microsoft.com/office/drawing/2014/main" id="{D35B1C44-E7EA-4389-8D96-F918B94A64E6}"/>
              </a:ext>
            </a:extLst>
          </p:cNvPr>
          <p:cNvSpPr>
            <a:spLocks noChangeArrowheads="1"/>
          </p:cNvSpPr>
          <p:nvPr/>
        </p:nvSpPr>
        <p:spPr bwMode="auto">
          <a:xfrm>
            <a:off x="2907480" y="3167383"/>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8" name="Rectangle 235">
            <a:extLst>
              <a:ext uri="{FF2B5EF4-FFF2-40B4-BE49-F238E27FC236}">
                <a16:creationId xmlns:a16="http://schemas.microsoft.com/office/drawing/2014/main" id="{C7DB4F6C-9023-4575-8F7B-0F74810CAF24}"/>
              </a:ext>
            </a:extLst>
          </p:cNvPr>
          <p:cNvSpPr>
            <a:spLocks noChangeArrowheads="1"/>
          </p:cNvSpPr>
          <p:nvPr/>
        </p:nvSpPr>
        <p:spPr bwMode="auto">
          <a:xfrm>
            <a:off x="2577280" y="3400746"/>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9" name="Text Box 236">
            <a:extLst>
              <a:ext uri="{FF2B5EF4-FFF2-40B4-BE49-F238E27FC236}">
                <a16:creationId xmlns:a16="http://schemas.microsoft.com/office/drawing/2014/main" id="{47EC1F94-0787-4DE5-9DCC-C96E9F7774F4}"/>
              </a:ext>
            </a:extLst>
          </p:cNvPr>
          <p:cNvSpPr txBox="1">
            <a:spLocks noChangeArrowheads="1"/>
          </p:cNvSpPr>
          <p:nvPr/>
        </p:nvSpPr>
        <p:spPr bwMode="auto">
          <a:xfrm>
            <a:off x="1953393" y="3291208"/>
            <a:ext cx="543739"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b="1" dirty="0">
                <a:solidFill>
                  <a:srgbClr val="006600"/>
                </a:solidFill>
                <a:latin typeface="宋体" panose="02010600030101010101" pitchFamily="2" charset="-122"/>
                <a:ea typeface="宋体" panose="02010600030101010101" pitchFamily="2" charset="-122"/>
              </a:rPr>
              <a:t>复制</a:t>
            </a:r>
            <a:endParaRPr lang="en-US" sz="1400" b="1" dirty="0">
              <a:solidFill>
                <a:srgbClr val="006600"/>
              </a:solidFill>
              <a:latin typeface="宋体" panose="02010600030101010101" pitchFamily="2" charset="-122"/>
              <a:ea typeface="宋体" panose="02010600030101010101" pitchFamily="2" charset="-122"/>
            </a:endParaRPr>
          </a:p>
        </p:txBody>
      </p:sp>
      <p:sp>
        <p:nvSpPr>
          <p:cNvPr id="170" name="Text Box 237">
            <a:extLst>
              <a:ext uri="{FF2B5EF4-FFF2-40B4-BE49-F238E27FC236}">
                <a16:creationId xmlns:a16="http://schemas.microsoft.com/office/drawing/2014/main" id="{72F30A0B-FB8A-4771-9423-5D81CA2027E3}"/>
              </a:ext>
            </a:extLst>
          </p:cNvPr>
          <p:cNvSpPr txBox="1">
            <a:spLocks noChangeArrowheads="1"/>
          </p:cNvSpPr>
          <p:nvPr/>
        </p:nvSpPr>
        <p:spPr bwMode="auto">
          <a:xfrm>
            <a:off x="3982218" y="4359596"/>
            <a:ext cx="1720343"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i="1" dirty="0">
                <a:solidFill>
                  <a:srgbClr val="006600"/>
                </a:solidFill>
                <a:latin typeface="Arial" charset="0"/>
              </a:rPr>
              <a:t>无空闲的缓存空间 </a:t>
            </a:r>
            <a:r>
              <a:rPr lang="en-US" sz="1400" i="1" dirty="0">
                <a:solidFill>
                  <a:srgbClr val="006600"/>
                </a:solidFill>
                <a:latin typeface="Arial" charset="0"/>
              </a:rPr>
              <a:t>!</a:t>
            </a:r>
          </a:p>
        </p:txBody>
      </p:sp>
    </p:spTree>
    <p:extLst>
      <p:ext uri="{BB962C8B-B14F-4D97-AF65-F5344CB8AC3E}">
        <p14:creationId xmlns:p14="http://schemas.microsoft.com/office/powerpoint/2010/main" val="115839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dissolve">
                                      <p:cBhvr>
                                        <p:cTn id="7" dur="500"/>
                                        <p:tgtEl>
                                          <p:spTgt spid="167"/>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4.16667E-6 0.03542 " pathEditMode="relative" rAng="0" ptsTypes="AA">
                                      <p:cBhvr>
                                        <p:cTn id="10" dur="2000" fill="hold"/>
                                        <p:tgtEl>
                                          <p:spTgt spid="167"/>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168"/>
                                        </p:tgtEl>
                                        <p:attrNameLst>
                                          <p:attrName>style.visibility</p:attrName>
                                        </p:attrNameLst>
                                      </p:cBhvr>
                                      <p:to>
                                        <p:strVal val="visible"/>
                                      </p:to>
                                    </p:set>
                                    <p:animEffect transition="in" filter="dissolve">
                                      <p:cBhvr>
                                        <p:cTn id="14" dur="500"/>
                                        <p:tgtEl>
                                          <p:spTgt spid="168"/>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69"/>
                                        </p:tgtEl>
                                        <p:attrNameLst>
                                          <p:attrName>style.visibility</p:attrName>
                                        </p:attrNameLst>
                                      </p:cBhvr>
                                      <p:to>
                                        <p:strVal val="visible"/>
                                      </p:to>
                                    </p:set>
                                    <p:animEffect transition="in" filter="dissolve">
                                      <p:cBhvr>
                                        <p:cTn id="17" dur="500"/>
                                        <p:tgtEl>
                                          <p:spTgt spid="169"/>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4.16667E-6 0.03542 L 0.0007 0.17801 L 0.08681 0.17894 L 0.04723 0.2419 L 0.19584 0.2419 " pathEditMode="relative" rAng="0" ptsTypes="AAAAA">
                                      <p:cBhvr>
                                        <p:cTn id="20" dur="2000" fill="hold"/>
                                        <p:tgtEl>
                                          <p:spTgt spid="167"/>
                                        </p:tgtEl>
                                        <p:attrNameLst>
                                          <p:attrName>ppt_x</p:attrName>
                                          <p:attrName>ppt_y</p:attrName>
                                        </p:attrNameLst>
                                      </p:cBhvr>
                                      <p:rCtr x="9792" y="10324"/>
                                    </p:animMotion>
                                  </p:childTnLst>
                                </p:cTn>
                              </p:par>
                              <p:par>
                                <p:cTn id="21" presetID="9" presetClass="exit" presetSubtype="0" fill="hold" grpId="1" nodeType="withEffect">
                                  <p:stCondLst>
                                    <p:cond delay="0"/>
                                  </p:stCondLst>
                                  <p:childTnLst>
                                    <p:animEffect transition="out" filter="dissolve">
                                      <p:cBhvr>
                                        <p:cTn id="22" dur="500"/>
                                        <p:tgtEl>
                                          <p:spTgt spid="169"/>
                                        </p:tgtEl>
                                      </p:cBhvr>
                                    </p:animEffect>
                                    <p:set>
                                      <p:cBhvr>
                                        <p:cTn id="23" dur="1" fill="hold">
                                          <p:stCondLst>
                                            <p:cond delay="499"/>
                                          </p:stCondLst>
                                        </p:cTn>
                                        <p:tgtEl>
                                          <p:spTgt spid="169"/>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170"/>
                                        </p:tgtEl>
                                        <p:attrNameLst>
                                          <p:attrName>style.visibility</p:attrName>
                                        </p:attrNameLst>
                                      </p:cBhvr>
                                      <p:to>
                                        <p:strVal val="visible"/>
                                      </p:to>
                                    </p:set>
                                    <p:animEffect transition="in" filter="dissolve">
                                      <p:cBhvr>
                                        <p:cTn id="27" dur="500"/>
                                        <p:tgtEl>
                                          <p:spTgt spid="170"/>
                                        </p:tgtEl>
                                      </p:cBhvr>
                                    </p:animEffect>
                                  </p:childTnLst>
                                </p:cTn>
                              </p:par>
                            </p:childTnLst>
                          </p:cTn>
                        </p:par>
                        <p:par>
                          <p:cTn id="28" fill="hold">
                            <p:stCondLst>
                              <p:cond delay="5500"/>
                            </p:stCondLst>
                            <p:childTnLst>
                              <p:par>
                                <p:cTn id="29" presetID="9" presetClass="entr" presetSubtype="0" fill="hold" nodeType="afterEffect">
                                  <p:stCondLst>
                                    <p:cond delay="0"/>
                                  </p:stCondLst>
                                  <p:childTnLst>
                                    <p:set>
                                      <p:cBhvr>
                                        <p:cTn id="30" dur="1" fill="hold">
                                          <p:stCondLst>
                                            <p:cond delay="0"/>
                                          </p:stCondLst>
                                        </p:cTn>
                                        <p:tgtEl>
                                          <p:spTgt spid="166"/>
                                        </p:tgtEl>
                                        <p:attrNameLst>
                                          <p:attrName>style.visibility</p:attrName>
                                        </p:attrNameLst>
                                      </p:cBhvr>
                                      <p:to>
                                        <p:strVal val="visible"/>
                                      </p:to>
                                    </p:set>
                                    <p:animEffect transition="in" filter="dissolve">
                                      <p:cBhvr>
                                        <p:cTn id="31" dur="500"/>
                                        <p:tgtEl>
                                          <p:spTgt spid="166"/>
                                        </p:tgtEl>
                                      </p:cBhvr>
                                    </p:animEffect>
                                  </p:childTnLst>
                                </p:cTn>
                              </p:par>
                            </p:childTnLst>
                          </p:cTn>
                        </p:par>
                        <p:par>
                          <p:cTn id="32" fill="hold">
                            <p:stCondLst>
                              <p:cond delay="6000"/>
                            </p:stCondLst>
                            <p:childTnLst>
                              <p:par>
                                <p:cTn id="33" presetID="0" presetClass="path" presetSubtype="0" accel="50000" decel="50000" fill="hold" grpId="3" nodeType="afterEffect">
                                  <p:stCondLst>
                                    <p:cond delay="0"/>
                                  </p:stCondLst>
                                  <p:childTnLst>
                                    <p:animMotion origin="layout" path="M 0.19584 0.2419 L 0.19809 0.35139 " pathEditMode="relative" rAng="0" ptsTypes="AA">
                                      <p:cBhvr>
                                        <p:cTn id="34" dur="2000" fill="hold"/>
                                        <p:tgtEl>
                                          <p:spTgt spid="167"/>
                                        </p:tgtEl>
                                        <p:attrNameLst>
                                          <p:attrName>ppt_x</p:attrName>
                                          <p:attrName>ppt_y</p:attrName>
                                        </p:attrNameLst>
                                      </p:cBhvr>
                                      <p:rCtr x="104" y="5463"/>
                                    </p:animMotion>
                                  </p:childTnLst>
                                </p:cTn>
                              </p:par>
                              <p:par>
                                <p:cTn id="35" presetID="9" presetClass="exit" presetSubtype="0" fill="hold" grpId="1" nodeType="withEffect">
                                  <p:stCondLst>
                                    <p:cond delay="0"/>
                                  </p:stCondLst>
                                  <p:childTnLst>
                                    <p:animEffect transition="out" filter="dissolve">
                                      <p:cBhvr>
                                        <p:cTn id="36" dur="500"/>
                                        <p:tgtEl>
                                          <p:spTgt spid="170"/>
                                        </p:tgtEl>
                                      </p:cBhvr>
                                    </p:animEffect>
                                    <p:set>
                                      <p:cBhvr>
                                        <p:cTn id="37" dur="1" fill="hold">
                                          <p:stCondLst>
                                            <p:cond delay="499"/>
                                          </p:stCondLst>
                                        </p:cTn>
                                        <p:tgtEl>
                                          <p:spTgt spid="170"/>
                                        </p:tgtEl>
                                        <p:attrNameLst>
                                          <p:attrName>style.visibility</p:attrName>
                                        </p:attrNameLst>
                                      </p:cBhvr>
                                      <p:to>
                                        <p:strVal val="hidden"/>
                                      </p:to>
                                    </p:set>
                                  </p:childTnLst>
                                </p:cTn>
                              </p:par>
                            </p:childTnLst>
                          </p:cTn>
                        </p:par>
                        <p:par>
                          <p:cTn id="38" fill="hold">
                            <p:stCondLst>
                              <p:cond delay="8000"/>
                            </p:stCondLst>
                            <p:childTnLst>
                              <p:par>
                                <p:cTn id="39" presetID="9" presetClass="exit" presetSubtype="0" fill="hold" grpId="4" nodeType="afterEffect">
                                  <p:stCondLst>
                                    <p:cond delay="0"/>
                                  </p:stCondLst>
                                  <p:childTnLst>
                                    <p:animEffect transition="out" filter="dissolve">
                                      <p:cBhvr>
                                        <p:cTn id="40" dur="500"/>
                                        <p:tgtEl>
                                          <p:spTgt spid="167"/>
                                        </p:tgtEl>
                                      </p:cBhvr>
                                    </p:animEffect>
                                    <p:set>
                                      <p:cBhvr>
                                        <p:cTn id="41" dur="1" fill="hold">
                                          <p:stCondLst>
                                            <p:cond delay="499"/>
                                          </p:stCondLst>
                                        </p:cTn>
                                        <p:tgtEl>
                                          <p:spTgt spid="1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167" grpId="1" animBg="1"/>
      <p:bldP spid="167" grpId="2" animBg="1"/>
      <p:bldP spid="167" grpId="3" animBg="1"/>
      <p:bldP spid="167" grpId="4" animBg="1"/>
      <p:bldP spid="168" grpId="0" animBg="1"/>
      <p:bldP spid="169" grpId="0"/>
      <p:bldP spid="169" grpId="1"/>
      <p:bldP spid="170" grpId="0"/>
      <p:bldP spid="170" grpId="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 name="组合 623">
            <a:extLst>
              <a:ext uri="{FF2B5EF4-FFF2-40B4-BE49-F238E27FC236}">
                <a16:creationId xmlns:a16="http://schemas.microsoft.com/office/drawing/2014/main" id="{A09FC9DB-1072-4C29-8A3B-0DAAAA219EF5}"/>
              </a:ext>
            </a:extLst>
          </p:cNvPr>
          <p:cNvGrpSpPr/>
          <p:nvPr/>
        </p:nvGrpSpPr>
        <p:grpSpPr>
          <a:xfrm>
            <a:off x="707367" y="3026664"/>
            <a:ext cx="7560544" cy="2902295"/>
            <a:chOff x="504891" y="3300807"/>
            <a:chExt cx="7669147" cy="2881312"/>
          </a:xfrm>
        </p:grpSpPr>
        <p:sp>
          <p:nvSpPr>
            <p:cNvPr id="625" name="Freeform 247">
              <a:extLst>
                <a:ext uri="{FF2B5EF4-FFF2-40B4-BE49-F238E27FC236}">
                  <a16:creationId xmlns:a16="http://schemas.microsoft.com/office/drawing/2014/main" id="{442BFD9D-0F6B-43E4-AB15-FB51609F206B}"/>
                </a:ext>
              </a:extLst>
            </p:cNvPr>
            <p:cNvSpPr>
              <a:spLocks/>
            </p:cNvSpPr>
            <p:nvPr/>
          </p:nvSpPr>
          <p:spPr bwMode="auto">
            <a:xfrm flipH="1">
              <a:off x="2111375" y="3338907"/>
              <a:ext cx="250825" cy="1201737"/>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6" name="Group 322">
              <a:extLst>
                <a:ext uri="{FF2B5EF4-FFF2-40B4-BE49-F238E27FC236}">
                  <a16:creationId xmlns:a16="http://schemas.microsoft.com/office/drawing/2014/main" id="{B13D6116-A584-4832-B205-EBE3DD369D97}"/>
                </a:ext>
              </a:extLst>
            </p:cNvPr>
            <p:cNvGrpSpPr>
              <a:grpSpLocks/>
            </p:cNvGrpSpPr>
            <p:nvPr/>
          </p:nvGrpSpPr>
          <p:grpSpPr bwMode="auto">
            <a:xfrm>
              <a:off x="1716088" y="4299344"/>
              <a:ext cx="525462" cy="434975"/>
              <a:chOff x="-44" y="1473"/>
              <a:chExt cx="981" cy="1105"/>
            </a:xfrm>
          </p:grpSpPr>
          <p:pic>
            <p:nvPicPr>
              <p:cNvPr id="771" name="Picture 323" descr="desktop_computer_stylized_medium">
                <a:extLst>
                  <a:ext uri="{FF2B5EF4-FFF2-40B4-BE49-F238E27FC236}">
                    <a16:creationId xmlns:a16="http://schemas.microsoft.com/office/drawing/2014/main" id="{798CDF27-1958-4C84-A915-F3034B29A7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2" name="Freeform 324">
                <a:extLst>
                  <a:ext uri="{FF2B5EF4-FFF2-40B4-BE49-F238E27FC236}">
                    <a16:creationId xmlns:a16="http://schemas.microsoft.com/office/drawing/2014/main" id="{60066976-79CA-4D95-9877-1D5F36E204AC}"/>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27" name="Freeform 254">
              <a:extLst>
                <a:ext uri="{FF2B5EF4-FFF2-40B4-BE49-F238E27FC236}">
                  <a16:creationId xmlns:a16="http://schemas.microsoft.com/office/drawing/2014/main" id="{929A44C2-5D74-4505-8E9F-726637645CD1}"/>
                </a:ext>
              </a:extLst>
            </p:cNvPr>
            <p:cNvSpPr>
              <a:spLocks/>
            </p:cNvSpPr>
            <p:nvPr/>
          </p:nvSpPr>
          <p:spPr bwMode="auto">
            <a:xfrm>
              <a:off x="6959600" y="4843857"/>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8" name="Freeform 243">
              <a:extLst>
                <a:ext uri="{FF2B5EF4-FFF2-40B4-BE49-F238E27FC236}">
                  <a16:creationId xmlns:a16="http://schemas.microsoft.com/office/drawing/2014/main" id="{1174FAA3-4A88-4E30-9AF7-9374A448B984}"/>
                </a:ext>
              </a:extLst>
            </p:cNvPr>
            <p:cNvSpPr>
              <a:spLocks/>
            </p:cNvSpPr>
            <p:nvPr/>
          </p:nvSpPr>
          <p:spPr bwMode="auto">
            <a:xfrm flipH="1">
              <a:off x="1066800" y="4540644"/>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9" name="Oval 3">
              <a:extLst>
                <a:ext uri="{FF2B5EF4-FFF2-40B4-BE49-F238E27FC236}">
                  <a16:creationId xmlns:a16="http://schemas.microsoft.com/office/drawing/2014/main" id="{1F028B51-0E5B-462C-9B15-463A959EB559}"/>
                </a:ext>
              </a:extLst>
            </p:cNvPr>
            <p:cNvSpPr>
              <a:spLocks noChangeArrowheads="1"/>
            </p:cNvSpPr>
            <p:nvPr/>
          </p:nvSpPr>
          <p:spPr bwMode="auto">
            <a:xfrm>
              <a:off x="3795713" y="5199457"/>
              <a:ext cx="1304925" cy="303212"/>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30" name="Line 4">
              <a:extLst>
                <a:ext uri="{FF2B5EF4-FFF2-40B4-BE49-F238E27FC236}">
                  <a16:creationId xmlns:a16="http://schemas.microsoft.com/office/drawing/2014/main" id="{48FE7BAC-F955-4AA0-958F-FF447ACBE267}"/>
                </a:ext>
              </a:extLst>
            </p:cNvPr>
            <p:cNvSpPr>
              <a:spLocks noChangeShapeType="1"/>
            </p:cNvSpPr>
            <p:nvPr/>
          </p:nvSpPr>
          <p:spPr bwMode="auto">
            <a:xfrm>
              <a:off x="3795713" y="5175644"/>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1" name="Line 5">
              <a:extLst>
                <a:ext uri="{FF2B5EF4-FFF2-40B4-BE49-F238E27FC236}">
                  <a16:creationId xmlns:a16="http://schemas.microsoft.com/office/drawing/2014/main" id="{265A8971-3AD0-4D6F-A397-1F20E41A16EF}"/>
                </a:ext>
              </a:extLst>
            </p:cNvPr>
            <p:cNvSpPr>
              <a:spLocks noChangeShapeType="1"/>
            </p:cNvSpPr>
            <p:nvPr/>
          </p:nvSpPr>
          <p:spPr bwMode="auto">
            <a:xfrm>
              <a:off x="5100638" y="5175644"/>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2" name="Rectangle 6">
              <a:extLst>
                <a:ext uri="{FF2B5EF4-FFF2-40B4-BE49-F238E27FC236}">
                  <a16:creationId xmlns:a16="http://schemas.microsoft.com/office/drawing/2014/main" id="{DBAEE474-7D3B-4A43-8782-8F34C1409AB8}"/>
                </a:ext>
              </a:extLst>
            </p:cNvPr>
            <p:cNvSpPr>
              <a:spLocks noChangeArrowheads="1"/>
            </p:cNvSpPr>
            <p:nvPr/>
          </p:nvSpPr>
          <p:spPr bwMode="auto">
            <a:xfrm>
              <a:off x="3795713" y="5175644"/>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633" name="Rectangle 7">
              <a:extLst>
                <a:ext uri="{FF2B5EF4-FFF2-40B4-BE49-F238E27FC236}">
                  <a16:creationId xmlns:a16="http://schemas.microsoft.com/office/drawing/2014/main" id="{0E883E44-82A0-4ED0-B7BE-0C7FF25158EF}"/>
                </a:ext>
              </a:extLst>
            </p:cNvPr>
            <p:cNvSpPr>
              <a:spLocks noChangeArrowheads="1"/>
            </p:cNvSpPr>
            <p:nvPr/>
          </p:nvSpPr>
          <p:spPr bwMode="auto">
            <a:xfrm>
              <a:off x="4705350" y="5162944"/>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634" name="Oval 8">
              <a:extLst>
                <a:ext uri="{FF2B5EF4-FFF2-40B4-BE49-F238E27FC236}">
                  <a16:creationId xmlns:a16="http://schemas.microsoft.com/office/drawing/2014/main" id="{C0A2333D-2874-4681-B561-D1FBE8AB843A}"/>
                </a:ext>
              </a:extLst>
            </p:cNvPr>
            <p:cNvSpPr>
              <a:spLocks noChangeArrowheads="1"/>
            </p:cNvSpPr>
            <p:nvPr/>
          </p:nvSpPr>
          <p:spPr bwMode="auto">
            <a:xfrm>
              <a:off x="3790950" y="4977207"/>
              <a:ext cx="1306513" cy="352425"/>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635" name="Group 9">
              <a:extLst>
                <a:ext uri="{FF2B5EF4-FFF2-40B4-BE49-F238E27FC236}">
                  <a16:creationId xmlns:a16="http://schemas.microsoft.com/office/drawing/2014/main" id="{6C2C5A53-BD1B-4F44-9D5E-776F714792F7}"/>
                </a:ext>
              </a:extLst>
            </p:cNvPr>
            <p:cNvGrpSpPr>
              <a:grpSpLocks/>
            </p:cNvGrpSpPr>
            <p:nvPr/>
          </p:nvGrpSpPr>
          <p:grpSpPr bwMode="auto">
            <a:xfrm>
              <a:off x="4097338" y="5034357"/>
              <a:ext cx="647700" cy="206375"/>
              <a:chOff x="2848" y="848"/>
              <a:chExt cx="140" cy="98"/>
            </a:xfrm>
          </p:grpSpPr>
          <p:sp>
            <p:nvSpPr>
              <p:cNvPr id="768" name="Line 10">
                <a:extLst>
                  <a:ext uri="{FF2B5EF4-FFF2-40B4-BE49-F238E27FC236}">
                    <a16:creationId xmlns:a16="http://schemas.microsoft.com/office/drawing/2014/main" id="{9BD7C615-DD4C-409B-B6C4-CFC2403C964D}"/>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 name="Line 11">
                <a:extLst>
                  <a:ext uri="{FF2B5EF4-FFF2-40B4-BE49-F238E27FC236}">
                    <a16:creationId xmlns:a16="http://schemas.microsoft.com/office/drawing/2014/main" id="{2AB9A9E5-63D0-44AC-B0F6-231C86B846B2}"/>
                  </a:ext>
                </a:extLst>
              </p:cNvPr>
              <p:cNvSpPr>
                <a:spLocks noChangeShapeType="1"/>
              </p:cNvSpPr>
              <p:nvPr/>
            </p:nvSpPr>
            <p:spPr bwMode="auto">
              <a:xfrm>
                <a:off x="2944" y="946"/>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0" name="Line 12">
                <a:extLst>
                  <a:ext uri="{FF2B5EF4-FFF2-40B4-BE49-F238E27FC236}">
                    <a16:creationId xmlns:a16="http://schemas.microsoft.com/office/drawing/2014/main" id="{C744F42C-87EE-4B0B-9DCD-081213E364EF}"/>
                  </a:ext>
                </a:extLst>
              </p:cNvPr>
              <p:cNvSpPr>
                <a:spLocks noChangeShapeType="1"/>
              </p:cNvSpPr>
              <p:nvPr/>
            </p:nvSpPr>
            <p:spPr bwMode="auto">
              <a:xfrm>
                <a:off x="2894" y="850"/>
                <a:ext cx="52" cy="9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36" name="Line 13">
              <a:extLst>
                <a:ext uri="{FF2B5EF4-FFF2-40B4-BE49-F238E27FC236}">
                  <a16:creationId xmlns:a16="http://schemas.microsoft.com/office/drawing/2014/main" id="{4B2E0B2C-8090-4CA7-BC73-83160C86D495}"/>
                </a:ext>
              </a:extLst>
            </p:cNvPr>
            <p:cNvSpPr>
              <a:spLocks noChangeShapeType="1"/>
            </p:cNvSpPr>
            <p:nvPr/>
          </p:nvSpPr>
          <p:spPr bwMode="auto">
            <a:xfrm>
              <a:off x="4097338" y="5232794"/>
              <a:ext cx="231775" cy="47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7" name="Line 14">
              <a:extLst>
                <a:ext uri="{FF2B5EF4-FFF2-40B4-BE49-F238E27FC236}">
                  <a16:creationId xmlns:a16="http://schemas.microsoft.com/office/drawing/2014/main" id="{116BFA06-545C-472D-8538-38E263921049}"/>
                </a:ext>
              </a:extLst>
            </p:cNvPr>
            <p:cNvSpPr>
              <a:spLocks noChangeShapeType="1"/>
            </p:cNvSpPr>
            <p:nvPr/>
          </p:nvSpPr>
          <p:spPr bwMode="auto">
            <a:xfrm flipV="1">
              <a:off x="4541838" y="5032769"/>
              <a:ext cx="203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8" name="Line 15">
              <a:extLst>
                <a:ext uri="{FF2B5EF4-FFF2-40B4-BE49-F238E27FC236}">
                  <a16:creationId xmlns:a16="http://schemas.microsoft.com/office/drawing/2014/main" id="{06412F20-8592-48CB-9CAB-E9933E491FE4}"/>
                </a:ext>
              </a:extLst>
            </p:cNvPr>
            <p:cNvSpPr>
              <a:spLocks noChangeShapeType="1"/>
            </p:cNvSpPr>
            <p:nvPr/>
          </p:nvSpPr>
          <p:spPr bwMode="auto">
            <a:xfrm flipV="1">
              <a:off x="4310063" y="5032769"/>
              <a:ext cx="24130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9" name="Text Box 16">
              <a:extLst>
                <a:ext uri="{FF2B5EF4-FFF2-40B4-BE49-F238E27FC236}">
                  <a16:creationId xmlns:a16="http://schemas.microsoft.com/office/drawing/2014/main" id="{22CEF637-F0FD-4FFD-9198-CD6560D656F5}"/>
                </a:ext>
              </a:extLst>
            </p:cNvPr>
            <p:cNvSpPr txBox="1">
              <a:spLocks noChangeArrowheads="1"/>
            </p:cNvSpPr>
            <p:nvPr/>
          </p:nvSpPr>
          <p:spPr bwMode="auto">
            <a:xfrm>
              <a:off x="3080640" y="5570987"/>
              <a:ext cx="1363565" cy="33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zh-CN" altLang="en-US" sz="1400" dirty="0">
                  <a:solidFill>
                    <a:schemeClr val="tx2"/>
                  </a:solidFill>
                  <a:latin typeface="Arial" panose="020B0604020202020204" pitchFamily="34" charset="0"/>
                </a:rPr>
                <a:t>有限输出缓存</a:t>
              </a:r>
              <a:endParaRPr lang="en-US" altLang="zh-CN" sz="1400" dirty="0">
                <a:solidFill>
                  <a:schemeClr val="tx2"/>
                </a:solidFill>
                <a:latin typeface="Comic Sans MS" panose="030F0702030302020204" pitchFamily="66" charset="0"/>
              </a:endParaRPr>
            </a:p>
          </p:txBody>
        </p:sp>
        <p:sp>
          <p:nvSpPr>
            <p:cNvPr id="640" name="Line 17">
              <a:extLst>
                <a:ext uri="{FF2B5EF4-FFF2-40B4-BE49-F238E27FC236}">
                  <a16:creationId xmlns:a16="http://schemas.microsoft.com/office/drawing/2014/main" id="{6E1AD63B-DDE5-4AF5-8F11-3A29DDE9AA5B}"/>
                </a:ext>
              </a:extLst>
            </p:cNvPr>
            <p:cNvSpPr>
              <a:spLocks noChangeShapeType="1"/>
            </p:cNvSpPr>
            <p:nvPr/>
          </p:nvSpPr>
          <p:spPr bwMode="auto">
            <a:xfrm flipH="1">
              <a:off x="242411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1" name="Line 18">
              <a:extLst>
                <a:ext uri="{FF2B5EF4-FFF2-40B4-BE49-F238E27FC236}">
                  <a16:creationId xmlns:a16="http://schemas.microsoft.com/office/drawing/2014/main" id="{D8C213C7-DFC8-4F7C-9CDD-356115C4B3F2}"/>
                </a:ext>
              </a:extLst>
            </p:cNvPr>
            <p:cNvSpPr>
              <a:spLocks noChangeShapeType="1"/>
            </p:cNvSpPr>
            <p:nvPr/>
          </p:nvSpPr>
          <p:spPr bwMode="auto">
            <a:xfrm flipH="1">
              <a:off x="3021013" y="4729557"/>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2" name="Group 59">
              <a:extLst>
                <a:ext uri="{FF2B5EF4-FFF2-40B4-BE49-F238E27FC236}">
                  <a16:creationId xmlns:a16="http://schemas.microsoft.com/office/drawing/2014/main" id="{01EEE24C-713D-4BC5-A885-EEFA9150DA9B}"/>
                </a:ext>
              </a:extLst>
            </p:cNvPr>
            <p:cNvGrpSpPr>
              <a:grpSpLocks/>
            </p:cNvGrpSpPr>
            <p:nvPr/>
          </p:nvGrpSpPr>
          <p:grpSpPr bwMode="auto">
            <a:xfrm>
              <a:off x="2351088" y="3415107"/>
              <a:ext cx="798512" cy="1166812"/>
              <a:chOff x="12762" y="10336"/>
              <a:chExt cx="1027" cy="1700"/>
            </a:xfrm>
          </p:grpSpPr>
          <p:sp>
            <p:nvSpPr>
              <p:cNvPr id="762" name="Rectangle 60">
                <a:extLst>
                  <a:ext uri="{FF2B5EF4-FFF2-40B4-BE49-F238E27FC236}">
                    <a16:creationId xmlns:a16="http://schemas.microsoft.com/office/drawing/2014/main" id="{824E6C88-E6D3-4926-98D0-25C36C0B2959}"/>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63" name="Rectangle 61">
                <a:extLst>
                  <a:ext uri="{FF2B5EF4-FFF2-40B4-BE49-F238E27FC236}">
                    <a16:creationId xmlns:a16="http://schemas.microsoft.com/office/drawing/2014/main" id="{1EC53631-0276-4DC1-AFAF-3CCBEA097336}"/>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64" name="Line 62">
                <a:extLst>
                  <a:ext uri="{FF2B5EF4-FFF2-40B4-BE49-F238E27FC236}">
                    <a16:creationId xmlns:a16="http://schemas.microsoft.com/office/drawing/2014/main" id="{AA47C870-97F8-49F3-A363-9DAB58728870}"/>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5" name="Line 63">
                <a:extLst>
                  <a:ext uri="{FF2B5EF4-FFF2-40B4-BE49-F238E27FC236}">
                    <a16:creationId xmlns:a16="http://schemas.microsoft.com/office/drawing/2014/main" id="{0DFB3B65-C9E2-47EE-9B67-2FE0CFB424B5}"/>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6" name="Line 64">
                <a:extLst>
                  <a:ext uri="{FF2B5EF4-FFF2-40B4-BE49-F238E27FC236}">
                    <a16:creationId xmlns:a16="http://schemas.microsoft.com/office/drawing/2014/main" id="{EE5E9C18-D73B-4704-9066-52C0CC5F5F21}"/>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7" name="Line 65">
                <a:extLst>
                  <a:ext uri="{FF2B5EF4-FFF2-40B4-BE49-F238E27FC236}">
                    <a16:creationId xmlns:a16="http://schemas.microsoft.com/office/drawing/2014/main" id="{4CE8CE3B-2422-475F-B9F3-0B69F632F85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3" name="Text Box 67">
              <a:extLst>
                <a:ext uri="{FF2B5EF4-FFF2-40B4-BE49-F238E27FC236}">
                  <a16:creationId xmlns:a16="http://schemas.microsoft.com/office/drawing/2014/main" id="{3786394B-CB44-4851-9A99-37C6297577E6}"/>
                </a:ext>
              </a:extLst>
            </p:cNvPr>
            <p:cNvSpPr txBox="1">
              <a:spLocks noChangeArrowheads="1"/>
            </p:cNvSpPr>
            <p:nvPr/>
          </p:nvSpPr>
          <p:spPr bwMode="auto">
            <a:xfrm>
              <a:off x="3368675" y="3300807"/>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dirty="0" err="1">
                  <a:solidFill>
                    <a:srgbClr val="FF0000"/>
                  </a:solidFill>
                  <a:latin typeface="Symbol" panose="05050102010706020507" pitchFamily="18" charset="2"/>
                </a:rPr>
                <a:t>l</a:t>
              </a:r>
              <a:r>
                <a:rPr lang="en-US" altLang="zh-CN" sz="2000" baseline="-25000" dirty="0" err="1">
                  <a:solidFill>
                    <a:srgbClr val="FF0000"/>
                  </a:solidFill>
                  <a:latin typeface="Arial" panose="020B0604020202020204" pitchFamily="34" charset="0"/>
                </a:rPr>
                <a:t>in</a:t>
              </a:r>
              <a:r>
                <a:rPr lang="en-US" altLang="zh-CN" baseline="-25000" dirty="0">
                  <a:solidFill>
                    <a:srgbClr val="FF0000"/>
                  </a:solidFill>
                  <a:latin typeface="Arial" panose="020B0604020202020204" pitchFamily="34" charset="0"/>
                </a:rPr>
                <a:t> </a:t>
              </a:r>
              <a:r>
                <a:rPr lang="en-US" altLang="zh-CN"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a:t>
              </a:r>
              <a:endParaRPr lang="en-US" altLang="zh-CN" dirty="0">
                <a:solidFill>
                  <a:srgbClr val="2A09B7"/>
                </a:solidFill>
                <a:latin typeface="Comic Sans MS" panose="030F0702030302020204" pitchFamily="66" charset="0"/>
              </a:endParaRPr>
            </a:p>
          </p:txBody>
        </p:sp>
        <p:sp>
          <p:nvSpPr>
            <p:cNvPr id="644" name="Line 68">
              <a:extLst>
                <a:ext uri="{FF2B5EF4-FFF2-40B4-BE49-F238E27FC236}">
                  <a16:creationId xmlns:a16="http://schemas.microsoft.com/office/drawing/2014/main" id="{B00E6B17-AD8B-4C37-AC04-4FA96349E3B4}"/>
                </a:ext>
              </a:extLst>
            </p:cNvPr>
            <p:cNvSpPr>
              <a:spLocks noChangeShapeType="1"/>
            </p:cNvSpPr>
            <p:nvPr/>
          </p:nvSpPr>
          <p:spPr bwMode="auto">
            <a:xfrm flipH="1">
              <a:off x="1885950" y="5834457"/>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5" name="Group 109">
              <a:extLst>
                <a:ext uri="{FF2B5EF4-FFF2-40B4-BE49-F238E27FC236}">
                  <a16:creationId xmlns:a16="http://schemas.microsoft.com/office/drawing/2014/main" id="{46F6ECDB-3BF1-46CA-8D0A-A4AE64BD5A3B}"/>
                </a:ext>
              </a:extLst>
            </p:cNvPr>
            <p:cNvGrpSpPr>
              <a:grpSpLocks/>
            </p:cNvGrpSpPr>
            <p:nvPr/>
          </p:nvGrpSpPr>
          <p:grpSpPr bwMode="auto">
            <a:xfrm>
              <a:off x="1298575" y="4569219"/>
              <a:ext cx="798513" cy="1166813"/>
              <a:chOff x="12762" y="10336"/>
              <a:chExt cx="1027" cy="1700"/>
            </a:xfrm>
          </p:grpSpPr>
          <p:sp>
            <p:nvSpPr>
              <p:cNvPr id="756" name="Rectangle 110">
                <a:extLst>
                  <a:ext uri="{FF2B5EF4-FFF2-40B4-BE49-F238E27FC236}">
                    <a16:creationId xmlns:a16="http://schemas.microsoft.com/office/drawing/2014/main" id="{212356B0-8B12-4ED5-80A6-86C6214BD6FF}"/>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57" name="Rectangle 111">
                <a:extLst>
                  <a:ext uri="{FF2B5EF4-FFF2-40B4-BE49-F238E27FC236}">
                    <a16:creationId xmlns:a16="http://schemas.microsoft.com/office/drawing/2014/main" id="{28C2047A-5A4F-4D12-AE03-B0146E777BB5}"/>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58" name="Line 112">
                <a:extLst>
                  <a:ext uri="{FF2B5EF4-FFF2-40B4-BE49-F238E27FC236}">
                    <a16:creationId xmlns:a16="http://schemas.microsoft.com/office/drawing/2014/main" id="{29B0C383-A410-4A1A-BF27-253C3CD2B97A}"/>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 name="Line 113">
                <a:extLst>
                  <a:ext uri="{FF2B5EF4-FFF2-40B4-BE49-F238E27FC236}">
                    <a16:creationId xmlns:a16="http://schemas.microsoft.com/office/drawing/2014/main" id="{38CDE1E3-023B-4C89-8E62-ED152B5926CD}"/>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 name="Line 114">
                <a:extLst>
                  <a:ext uri="{FF2B5EF4-FFF2-40B4-BE49-F238E27FC236}">
                    <a16:creationId xmlns:a16="http://schemas.microsoft.com/office/drawing/2014/main" id="{72D67B5D-12C8-4B22-82DA-C53EDA5AA666}"/>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 name="Line 115">
                <a:extLst>
                  <a:ext uri="{FF2B5EF4-FFF2-40B4-BE49-F238E27FC236}">
                    <a16:creationId xmlns:a16="http://schemas.microsoft.com/office/drawing/2014/main" id="{B85BE316-4BD6-4078-8DCD-40A2AD8E9FA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6" name="Line 117">
              <a:extLst>
                <a:ext uri="{FF2B5EF4-FFF2-40B4-BE49-F238E27FC236}">
                  <a16:creationId xmlns:a16="http://schemas.microsoft.com/office/drawing/2014/main" id="{2DC9B6EA-3A9A-4909-A2EF-86B85C15DF98}"/>
                </a:ext>
              </a:extLst>
            </p:cNvPr>
            <p:cNvSpPr>
              <a:spLocks noChangeShapeType="1"/>
            </p:cNvSpPr>
            <p:nvPr/>
          </p:nvSpPr>
          <p:spPr bwMode="auto">
            <a:xfrm flipH="1">
              <a:off x="3021013" y="5245494"/>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 name="Line 118">
              <a:extLst>
                <a:ext uri="{FF2B5EF4-FFF2-40B4-BE49-F238E27FC236}">
                  <a16:creationId xmlns:a16="http://schemas.microsoft.com/office/drawing/2014/main" id="{17F66E6B-239F-414B-AA4B-437378972A6D}"/>
                </a:ext>
              </a:extLst>
            </p:cNvPr>
            <p:cNvSpPr>
              <a:spLocks noChangeShapeType="1"/>
            </p:cNvSpPr>
            <p:nvPr/>
          </p:nvSpPr>
          <p:spPr bwMode="auto">
            <a:xfrm flipH="1">
              <a:off x="5010150" y="5245494"/>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 name="Line 119">
              <a:extLst>
                <a:ext uri="{FF2B5EF4-FFF2-40B4-BE49-F238E27FC236}">
                  <a16:creationId xmlns:a16="http://schemas.microsoft.com/office/drawing/2014/main" id="{A977B3DA-390F-4CEB-96ED-3B8BDBDBE783}"/>
                </a:ext>
              </a:extLst>
            </p:cNvPr>
            <p:cNvSpPr>
              <a:spLocks noChangeShapeType="1"/>
            </p:cNvSpPr>
            <p:nvPr/>
          </p:nvSpPr>
          <p:spPr bwMode="auto">
            <a:xfrm flipH="1">
              <a:off x="5160963" y="4729557"/>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9" name="Line 120">
              <a:extLst>
                <a:ext uri="{FF2B5EF4-FFF2-40B4-BE49-F238E27FC236}">
                  <a16:creationId xmlns:a16="http://schemas.microsoft.com/office/drawing/2014/main" id="{F6377177-7CA4-41A9-83E4-B2FD5BCAC5D0}"/>
                </a:ext>
              </a:extLst>
            </p:cNvPr>
            <p:cNvSpPr>
              <a:spLocks noChangeShapeType="1"/>
            </p:cNvSpPr>
            <p:nvPr/>
          </p:nvSpPr>
          <p:spPr bwMode="auto">
            <a:xfrm flipH="1">
              <a:off x="5149850" y="5847157"/>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0" name="Line 121">
              <a:extLst>
                <a:ext uri="{FF2B5EF4-FFF2-40B4-BE49-F238E27FC236}">
                  <a16:creationId xmlns:a16="http://schemas.microsoft.com/office/drawing/2014/main" id="{3B42AF55-150B-4A4F-A4F5-19C734531D8B}"/>
                </a:ext>
              </a:extLst>
            </p:cNvPr>
            <p:cNvSpPr>
              <a:spLocks noChangeShapeType="1"/>
            </p:cNvSpPr>
            <p:nvPr/>
          </p:nvSpPr>
          <p:spPr bwMode="auto">
            <a:xfrm flipH="1">
              <a:off x="6259513" y="4742257"/>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51" name="Group 162">
              <a:extLst>
                <a:ext uri="{FF2B5EF4-FFF2-40B4-BE49-F238E27FC236}">
                  <a16:creationId xmlns:a16="http://schemas.microsoft.com/office/drawing/2014/main" id="{B0888901-B307-4006-BA41-9A998059ED6E}"/>
                </a:ext>
              </a:extLst>
            </p:cNvPr>
            <p:cNvGrpSpPr>
              <a:grpSpLocks/>
            </p:cNvGrpSpPr>
            <p:nvPr/>
          </p:nvGrpSpPr>
          <p:grpSpPr bwMode="auto">
            <a:xfrm>
              <a:off x="6643688" y="3550044"/>
              <a:ext cx="798512" cy="1166813"/>
              <a:chOff x="12762" y="10336"/>
              <a:chExt cx="1027" cy="1700"/>
            </a:xfrm>
          </p:grpSpPr>
          <p:sp>
            <p:nvSpPr>
              <p:cNvPr id="750" name="Rectangle 163">
                <a:extLst>
                  <a:ext uri="{FF2B5EF4-FFF2-40B4-BE49-F238E27FC236}">
                    <a16:creationId xmlns:a16="http://schemas.microsoft.com/office/drawing/2014/main" id="{3BEE3060-3C71-4AC4-9690-F5636C2B3171}"/>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51" name="Rectangle 164">
                <a:extLst>
                  <a:ext uri="{FF2B5EF4-FFF2-40B4-BE49-F238E27FC236}">
                    <a16:creationId xmlns:a16="http://schemas.microsoft.com/office/drawing/2014/main" id="{FD64C61A-43DB-4A76-B860-E5204655605A}"/>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52" name="Line 165">
                <a:extLst>
                  <a:ext uri="{FF2B5EF4-FFF2-40B4-BE49-F238E27FC236}">
                    <a16:creationId xmlns:a16="http://schemas.microsoft.com/office/drawing/2014/main" id="{7BF26716-5B9C-4C6E-BC13-261B726B25C2}"/>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3" name="Line 166">
                <a:extLst>
                  <a:ext uri="{FF2B5EF4-FFF2-40B4-BE49-F238E27FC236}">
                    <a16:creationId xmlns:a16="http://schemas.microsoft.com/office/drawing/2014/main" id="{71F53DD2-11B4-41FA-B2CE-7D5963B7D02E}"/>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4" name="Line 167">
                <a:extLst>
                  <a:ext uri="{FF2B5EF4-FFF2-40B4-BE49-F238E27FC236}">
                    <a16:creationId xmlns:a16="http://schemas.microsoft.com/office/drawing/2014/main" id="{0D8C958E-5928-4AF3-A123-39AF28EA8FCA}"/>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5" name="Line 168">
                <a:extLst>
                  <a:ext uri="{FF2B5EF4-FFF2-40B4-BE49-F238E27FC236}">
                    <a16:creationId xmlns:a16="http://schemas.microsoft.com/office/drawing/2014/main" id="{266A3EE1-7B38-4A94-9497-DC524B0FB2C8}"/>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52" name="Group 209">
              <a:extLst>
                <a:ext uri="{FF2B5EF4-FFF2-40B4-BE49-F238E27FC236}">
                  <a16:creationId xmlns:a16="http://schemas.microsoft.com/office/drawing/2014/main" id="{BAECF650-35AC-489D-AB19-5BFC7BB93D5E}"/>
                </a:ext>
              </a:extLst>
            </p:cNvPr>
            <p:cNvGrpSpPr>
              <a:grpSpLocks/>
            </p:cNvGrpSpPr>
            <p:nvPr/>
          </p:nvGrpSpPr>
          <p:grpSpPr bwMode="auto">
            <a:xfrm>
              <a:off x="6175375" y="4862907"/>
              <a:ext cx="798513" cy="1168400"/>
              <a:chOff x="12762" y="10336"/>
              <a:chExt cx="1027" cy="1700"/>
            </a:xfrm>
          </p:grpSpPr>
          <p:sp>
            <p:nvSpPr>
              <p:cNvPr id="744" name="Rectangle 210">
                <a:extLst>
                  <a:ext uri="{FF2B5EF4-FFF2-40B4-BE49-F238E27FC236}">
                    <a16:creationId xmlns:a16="http://schemas.microsoft.com/office/drawing/2014/main" id="{F59DF340-2305-4467-942E-B8D88489703D}"/>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45" name="Rectangle 211">
                <a:extLst>
                  <a:ext uri="{FF2B5EF4-FFF2-40B4-BE49-F238E27FC236}">
                    <a16:creationId xmlns:a16="http://schemas.microsoft.com/office/drawing/2014/main" id="{983BA8FE-9326-48C8-8213-E47AE7F2D412}"/>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46" name="Line 212">
                <a:extLst>
                  <a:ext uri="{FF2B5EF4-FFF2-40B4-BE49-F238E27FC236}">
                    <a16:creationId xmlns:a16="http://schemas.microsoft.com/office/drawing/2014/main" id="{C9D6BAC8-54DD-45B8-A007-13576E6D7851}"/>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 name="Line 213">
                <a:extLst>
                  <a:ext uri="{FF2B5EF4-FFF2-40B4-BE49-F238E27FC236}">
                    <a16:creationId xmlns:a16="http://schemas.microsoft.com/office/drawing/2014/main" id="{EABC2F79-34BC-4F21-B900-C9E2ADC9CB1D}"/>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 name="Line 214">
                <a:extLst>
                  <a:ext uri="{FF2B5EF4-FFF2-40B4-BE49-F238E27FC236}">
                    <a16:creationId xmlns:a16="http://schemas.microsoft.com/office/drawing/2014/main" id="{DC3A95DF-FB02-4B53-B992-0E043D209672}"/>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9" name="Line 215">
                <a:extLst>
                  <a:ext uri="{FF2B5EF4-FFF2-40B4-BE49-F238E27FC236}">
                    <a16:creationId xmlns:a16="http://schemas.microsoft.com/office/drawing/2014/main" id="{56CE951B-AC17-4499-84E8-14754F9385E4}"/>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53" name="Oval 216">
              <a:extLst>
                <a:ext uri="{FF2B5EF4-FFF2-40B4-BE49-F238E27FC236}">
                  <a16:creationId xmlns:a16="http://schemas.microsoft.com/office/drawing/2014/main" id="{2D792FFE-CCE8-450C-8BAB-3640DC6B47B3}"/>
                </a:ext>
              </a:extLst>
            </p:cNvPr>
            <p:cNvSpPr>
              <a:spLocks noChangeArrowheads="1"/>
            </p:cNvSpPr>
            <p:nvPr/>
          </p:nvSpPr>
          <p:spPr bwMode="auto">
            <a:xfrm>
              <a:off x="2763838" y="3489719"/>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54" name="Oval 217">
              <a:extLst>
                <a:ext uri="{FF2B5EF4-FFF2-40B4-BE49-F238E27FC236}">
                  <a16:creationId xmlns:a16="http://schemas.microsoft.com/office/drawing/2014/main" id="{A7A6C7CE-83D3-4024-854E-1A700E2034C2}"/>
                </a:ext>
              </a:extLst>
            </p:cNvPr>
            <p:cNvSpPr>
              <a:spLocks noChangeArrowheads="1"/>
            </p:cNvSpPr>
            <p:nvPr/>
          </p:nvSpPr>
          <p:spPr bwMode="auto">
            <a:xfrm>
              <a:off x="1604963" y="4618432"/>
              <a:ext cx="114300" cy="117475"/>
            </a:xfrm>
            <a:prstGeom prst="ellipse">
              <a:avLst/>
            </a:prstGeom>
            <a:solidFill>
              <a:srgbClr val="808080"/>
            </a:solidFill>
            <a:ln w="9525">
              <a:solidFill>
                <a:srgbClr val="80808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55" name="Text Box 218">
              <a:extLst>
                <a:ext uri="{FF2B5EF4-FFF2-40B4-BE49-F238E27FC236}">
                  <a16:creationId xmlns:a16="http://schemas.microsoft.com/office/drawing/2014/main" id="{399EF9E7-399D-47DE-9FAC-88B9DD2DC349}"/>
                </a:ext>
              </a:extLst>
            </p:cNvPr>
            <p:cNvSpPr txBox="1">
              <a:spLocks noChangeArrowheads="1"/>
            </p:cNvSpPr>
            <p:nvPr/>
          </p:nvSpPr>
          <p:spPr bwMode="auto">
            <a:xfrm>
              <a:off x="7583488" y="3502419"/>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grpSp>
          <p:nvGrpSpPr>
            <p:cNvPr id="656" name="Group 220">
              <a:extLst>
                <a:ext uri="{FF2B5EF4-FFF2-40B4-BE49-F238E27FC236}">
                  <a16:creationId xmlns:a16="http://schemas.microsoft.com/office/drawing/2014/main" id="{1A8CB7DF-9B94-464F-AECF-CB4D63E2611B}"/>
                </a:ext>
              </a:extLst>
            </p:cNvPr>
            <p:cNvGrpSpPr>
              <a:grpSpLocks/>
            </p:cNvGrpSpPr>
            <p:nvPr/>
          </p:nvGrpSpPr>
          <p:grpSpPr bwMode="auto">
            <a:xfrm>
              <a:off x="4587875" y="5085157"/>
              <a:ext cx="385763" cy="319087"/>
              <a:chOff x="11283" y="10423"/>
              <a:chExt cx="475" cy="374"/>
            </a:xfrm>
          </p:grpSpPr>
          <p:sp>
            <p:nvSpPr>
              <p:cNvPr id="737" name="Rectangle 221">
                <a:extLst>
                  <a:ext uri="{FF2B5EF4-FFF2-40B4-BE49-F238E27FC236}">
                    <a16:creationId xmlns:a16="http://schemas.microsoft.com/office/drawing/2014/main" id="{70799250-6300-4679-B0D4-1D1E314BF367}"/>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738" name="Line 222">
                <a:extLst>
                  <a:ext uri="{FF2B5EF4-FFF2-40B4-BE49-F238E27FC236}">
                    <a16:creationId xmlns:a16="http://schemas.microsoft.com/office/drawing/2014/main" id="{0D8D3368-119B-41F3-ACDE-82B0051061EA}"/>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9" name="Line 223">
                <a:extLst>
                  <a:ext uri="{FF2B5EF4-FFF2-40B4-BE49-F238E27FC236}">
                    <a16:creationId xmlns:a16="http://schemas.microsoft.com/office/drawing/2014/main" id="{3ED09845-D341-4FCA-A056-938DD81F7AAB}"/>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0" name="Line 224">
                <a:extLst>
                  <a:ext uri="{FF2B5EF4-FFF2-40B4-BE49-F238E27FC236}">
                    <a16:creationId xmlns:a16="http://schemas.microsoft.com/office/drawing/2014/main" id="{6B848CA7-71C1-4BCE-AD7E-0819433BDD03}"/>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1" name="Line 225">
                <a:extLst>
                  <a:ext uri="{FF2B5EF4-FFF2-40B4-BE49-F238E27FC236}">
                    <a16:creationId xmlns:a16="http://schemas.microsoft.com/office/drawing/2014/main" id="{CE1D038E-74F5-470D-8CAD-8EFF6D0453E8}"/>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2" name="Line 226">
                <a:extLst>
                  <a:ext uri="{FF2B5EF4-FFF2-40B4-BE49-F238E27FC236}">
                    <a16:creationId xmlns:a16="http://schemas.microsoft.com/office/drawing/2014/main" id="{F7E6EC29-D539-4E90-BCE5-F5B5C71077F1}"/>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3" name="Line 227">
                <a:extLst>
                  <a:ext uri="{FF2B5EF4-FFF2-40B4-BE49-F238E27FC236}">
                    <a16:creationId xmlns:a16="http://schemas.microsoft.com/office/drawing/2014/main" id="{0569529B-E6B0-45BA-A0D1-0272818B028C}"/>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57" name="Line 228">
              <a:extLst>
                <a:ext uri="{FF2B5EF4-FFF2-40B4-BE49-F238E27FC236}">
                  <a16:creationId xmlns:a16="http://schemas.microsoft.com/office/drawing/2014/main" id="{51C6F445-AF05-47B1-96B7-4401108ECCB4}"/>
                </a:ext>
              </a:extLst>
            </p:cNvPr>
            <p:cNvSpPr>
              <a:spLocks noChangeShapeType="1"/>
            </p:cNvSpPr>
            <p:nvPr/>
          </p:nvSpPr>
          <p:spPr bwMode="auto">
            <a:xfrm>
              <a:off x="4845050" y="3869132"/>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8" name="Freeform 229">
              <a:extLst>
                <a:ext uri="{FF2B5EF4-FFF2-40B4-BE49-F238E27FC236}">
                  <a16:creationId xmlns:a16="http://schemas.microsoft.com/office/drawing/2014/main" id="{5C0F1910-CC10-4445-8EFD-AD062A22BE3E}"/>
                </a:ext>
              </a:extLst>
            </p:cNvPr>
            <p:cNvSpPr>
              <a:spLocks/>
            </p:cNvSpPr>
            <p:nvPr/>
          </p:nvSpPr>
          <p:spPr bwMode="auto">
            <a:xfrm>
              <a:off x="1663700" y="4716857"/>
              <a:ext cx="4854575" cy="1228725"/>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9" name="Freeform 230">
              <a:extLst>
                <a:ext uri="{FF2B5EF4-FFF2-40B4-BE49-F238E27FC236}">
                  <a16:creationId xmlns:a16="http://schemas.microsoft.com/office/drawing/2014/main" id="{C8DC61B9-5F9C-478E-9CB9-811174F3478A}"/>
                </a:ext>
              </a:extLst>
            </p:cNvPr>
            <p:cNvSpPr>
              <a:spLocks/>
            </p:cNvSpPr>
            <p:nvPr/>
          </p:nvSpPr>
          <p:spPr bwMode="auto">
            <a:xfrm>
              <a:off x="2822575" y="3550044"/>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0" name="Oval 231">
              <a:extLst>
                <a:ext uri="{FF2B5EF4-FFF2-40B4-BE49-F238E27FC236}">
                  <a16:creationId xmlns:a16="http://schemas.microsoft.com/office/drawing/2014/main" id="{29004CE0-3687-4318-BE7F-B431CA673731}"/>
                </a:ext>
              </a:extLst>
            </p:cNvPr>
            <p:cNvSpPr>
              <a:spLocks noChangeArrowheads="1"/>
            </p:cNvSpPr>
            <p:nvPr/>
          </p:nvSpPr>
          <p:spPr bwMode="auto">
            <a:xfrm>
              <a:off x="2763838" y="3723082"/>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661" name="Text Box 232">
              <a:extLst>
                <a:ext uri="{FF2B5EF4-FFF2-40B4-BE49-F238E27FC236}">
                  <a16:creationId xmlns:a16="http://schemas.microsoft.com/office/drawing/2014/main" id="{99D40F64-A0AB-4CDC-8A4A-A003F6A8A55B}"/>
                </a:ext>
              </a:extLst>
            </p:cNvPr>
            <p:cNvSpPr txBox="1">
              <a:spLocks noChangeArrowheads="1"/>
            </p:cNvSpPr>
            <p:nvPr/>
          </p:nvSpPr>
          <p:spPr bwMode="auto">
            <a:xfrm>
              <a:off x="3251199" y="3629419"/>
              <a:ext cx="2621012"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eaLnBrk="1" hangingPunct="1"/>
              <a:r>
                <a:rPr lang="en-US" altLang="zh-CN" sz="2000" dirty="0" err="1">
                  <a:solidFill>
                    <a:srgbClr val="FF0000"/>
                  </a:solidFill>
                  <a:latin typeface="Symbol" panose="05050102010706020507" pitchFamily="18" charset="2"/>
                </a:rPr>
                <a:t>l</a:t>
              </a:r>
              <a:r>
                <a:rPr lang="en-US" altLang="zh-CN" sz="2000" dirty="0" err="1">
                  <a:solidFill>
                    <a:srgbClr val="FF0000"/>
                  </a:solidFill>
                  <a:latin typeface="Arial" panose="020B0604020202020204" pitchFamily="34" charset="0"/>
                </a:rPr>
                <a:t>‘</a:t>
              </a:r>
              <a:r>
                <a:rPr lang="en-US" altLang="zh-CN" sz="2000" baseline="-25000" dirty="0" err="1">
                  <a:solidFill>
                    <a:srgbClr val="FF0000"/>
                  </a:solidFill>
                  <a:latin typeface="Arial" panose="020B0604020202020204" pitchFamily="34" charset="0"/>
                </a:rPr>
                <a:t>in</a:t>
              </a:r>
              <a:r>
                <a:rPr lang="en-US" altLang="zh-CN" sz="1800" dirty="0">
                  <a:solidFill>
                    <a:srgbClr val="FF0000"/>
                  </a:solidFill>
                  <a:latin typeface="Arial" panose="020B0604020202020204" pitchFamily="34" charset="0"/>
                </a:rPr>
                <a:t>:</a:t>
              </a:r>
              <a:r>
                <a:rPr lang="en-US" altLang="zh-CN" sz="1400"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原始数据加重传数据</a:t>
              </a:r>
              <a:endParaRPr lang="en-US" altLang="zh-CN" dirty="0">
                <a:solidFill>
                  <a:srgbClr val="2A09B7"/>
                </a:solidFill>
                <a:latin typeface="Comic Sans MS" panose="030F0702030302020204" pitchFamily="66" charset="0"/>
              </a:endParaRPr>
            </a:p>
          </p:txBody>
        </p:sp>
        <p:sp>
          <p:nvSpPr>
            <p:cNvPr id="662" name="Line 233">
              <a:extLst>
                <a:ext uri="{FF2B5EF4-FFF2-40B4-BE49-F238E27FC236}">
                  <a16:creationId xmlns:a16="http://schemas.microsoft.com/office/drawing/2014/main" id="{10616444-BE65-4D20-AFB8-589201D59073}"/>
                </a:ext>
              </a:extLst>
            </p:cNvPr>
            <p:cNvSpPr>
              <a:spLocks noChangeShapeType="1"/>
            </p:cNvSpPr>
            <p:nvPr/>
          </p:nvSpPr>
          <p:spPr bwMode="auto">
            <a:xfrm>
              <a:off x="2909888" y="3789757"/>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663" name="Line 234">
              <a:extLst>
                <a:ext uri="{FF2B5EF4-FFF2-40B4-BE49-F238E27FC236}">
                  <a16:creationId xmlns:a16="http://schemas.microsoft.com/office/drawing/2014/main" id="{E1995C65-5DA0-4FF4-B229-1AAF3048DA75}"/>
                </a:ext>
              </a:extLst>
            </p:cNvPr>
            <p:cNvSpPr>
              <a:spLocks noChangeShapeType="1"/>
            </p:cNvSpPr>
            <p:nvPr/>
          </p:nvSpPr>
          <p:spPr bwMode="auto">
            <a:xfrm>
              <a:off x="2905125" y="35563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664" name="Line 235">
              <a:extLst>
                <a:ext uri="{FF2B5EF4-FFF2-40B4-BE49-F238E27FC236}">
                  <a16:creationId xmlns:a16="http://schemas.microsoft.com/office/drawing/2014/main" id="{3A9D743D-59C9-4541-8610-10FA4C993E6E}"/>
                </a:ext>
              </a:extLst>
            </p:cNvPr>
            <p:cNvSpPr>
              <a:spLocks noChangeShapeType="1"/>
            </p:cNvSpPr>
            <p:nvPr/>
          </p:nvSpPr>
          <p:spPr bwMode="auto">
            <a:xfrm>
              <a:off x="7116763" y="3708794"/>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665" name="Freeform 250">
              <a:extLst>
                <a:ext uri="{FF2B5EF4-FFF2-40B4-BE49-F238E27FC236}">
                  <a16:creationId xmlns:a16="http://schemas.microsoft.com/office/drawing/2014/main" id="{6CA9E910-2DB2-4E32-9872-4E8570F97626}"/>
                </a:ext>
              </a:extLst>
            </p:cNvPr>
            <p:cNvSpPr>
              <a:spLocks/>
            </p:cNvSpPr>
            <p:nvPr/>
          </p:nvSpPr>
          <p:spPr bwMode="auto">
            <a:xfrm>
              <a:off x="7416800" y="3538932"/>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 name="Group 256">
              <a:extLst>
                <a:ext uri="{FF2B5EF4-FFF2-40B4-BE49-F238E27FC236}">
                  <a16:creationId xmlns:a16="http://schemas.microsoft.com/office/drawing/2014/main" id="{C3B6D1F5-09F0-436A-B986-43C668DE2463}"/>
                </a:ext>
              </a:extLst>
            </p:cNvPr>
            <p:cNvGrpSpPr>
              <a:grpSpLocks/>
            </p:cNvGrpSpPr>
            <p:nvPr/>
          </p:nvGrpSpPr>
          <p:grpSpPr bwMode="auto">
            <a:xfrm>
              <a:off x="7553325" y="4437457"/>
              <a:ext cx="231775" cy="441325"/>
              <a:chOff x="4140" y="429"/>
              <a:chExt cx="1425" cy="2396"/>
            </a:xfrm>
          </p:grpSpPr>
          <p:sp>
            <p:nvSpPr>
              <p:cNvPr id="705" name="Freeform 257">
                <a:extLst>
                  <a:ext uri="{FF2B5EF4-FFF2-40B4-BE49-F238E27FC236}">
                    <a16:creationId xmlns:a16="http://schemas.microsoft.com/office/drawing/2014/main" id="{5728B091-0DEE-46CE-A713-E5B88A3AE93A}"/>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 name="Rectangle 258">
                <a:extLst>
                  <a:ext uri="{FF2B5EF4-FFF2-40B4-BE49-F238E27FC236}">
                    <a16:creationId xmlns:a16="http://schemas.microsoft.com/office/drawing/2014/main" id="{67BB0595-22D2-4104-8EB9-7F0DB8C7EDDF}"/>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07" name="Freeform 259">
                <a:extLst>
                  <a:ext uri="{FF2B5EF4-FFF2-40B4-BE49-F238E27FC236}">
                    <a16:creationId xmlns:a16="http://schemas.microsoft.com/office/drawing/2014/main" id="{1AECEAD7-391A-4047-8866-486AA19FC949}"/>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 name="Freeform 260">
                <a:extLst>
                  <a:ext uri="{FF2B5EF4-FFF2-40B4-BE49-F238E27FC236}">
                    <a16:creationId xmlns:a16="http://schemas.microsoft.com/office/drawing/2014/main" id="{BBF3E284-EE03-4772-9086-C64E155FFD86}"/>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9" name="Rectangle 261">
                <a:extLst>
                  <a:ext uri="{FF2B5EF4-FFF2-40B4-BE49-F238E27FC236}">
                    <a16:creationId xmlns:a16="http://schemas.microsoft.com/office/drawing/2014/main" id="{AB0E8883-C613-4E91-8E1E-47615BF7280A}"/>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710" name="Group 262">
                <a:extLst>
                  <a:ext uri="{FF2B5EF4-FFF2-40B4-BE49-F238E27FC236}">
                    <a16:creationId xmlns:a16="http://schemas.microsoft.com/office/drawing/2014/main" id="{C66DE2DA-1522-4C66-B2E1-C755060A2CF7}"/>
                  </a:ext>
                </a:extLst>
              </p:cNvPr>
              <p:cNvGrpSpPr>
                <a:grpSpLocks/>
              </p:cNvGrpSpPr>
              <p:nvPr/>
            </p:nvGrpSpPr>
            <p:grpSpPr bwMode="auto">
              <a:xfrm>
                <a:off x="4749" y="668"/>
                <a:ext cx="581" cy="145"/>
                <a:chOff x="614" y="2568"/>
                <a:chExt cx="725" cy="139"/>
              </a:xfrm>
            </p:grpSpPr>
            <p:sp>
              <p:nvSpPr>
                <p:cNvPr id="735" name="AutoShape 263">
                  <a:extLst>
                    <a:ext uri="{FF2B5EF4-FFF2-40B4-BE49-F238E27FC236}">
                      <a16:creationId xmlns:a16="http://schemas.microsoft.com/office/drawing/2014/main" id="{436F0477-80DF-495E-A2E6-63992B687F6D}"/>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36" name="AutoShape 264">
                  <a:extLst>
                    <a:ext uri="{FF2B5EF4-FFF2-40B4-BE49-F238E27FC236}">
                      <a16:creationId xmlns:a16="http://schemas.microsoft.com/office/drawing/2014/main" id="{88E4CF41-1CFF-468C-9B95-481EC023CABA}"/>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711" name="Rectangle 265">
                <a:extLst>
                  <a:ext uri="{FF2B5EF4-FFF2-40B4-BE49-F238E27FC236}">
                    <a16:creationId xmlns:a16="http://schemas.microsoft.com/office/drawing/2014/main" id="{9F8969DB-CBFE-4A1C-844B-D708339D7392}"/>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712" name="Group 266">
                <a:extLst>
                  <a:ext uri="{FF2B5EF4-FFF2-40B4-BE49-F238E27FC236}">
                    <a16:creationId xmlns:a16="http://schemas.microsoft.com/office/drawing/2014/main" id="{4061B5E7-5090-4767-80FD-DBE8C519F16A}"/>
                  </a:ext>
                </a:extLst>
              </p:cNvPr>
              <p:cNvGrpSpPr>
                <a:grpSpLocks/>
              </p:cNvGrpSpPr>
              <p:nvPr/>
            </p:nvGrpSpPr>
            <p:grpSpPr bwMode="auto">
              <a:xfrm>
                <a:off x="4747" y="994"/>
                <a:ext cx="581" cy="134"/>
                <a:chOff x="614" y="2568"/>
                <a:chExt cx="725" cy="139"/>
              </a:xfrm>
            </p:grpSpPr>
            <p:sp>
              <p:nvSpPr>
                <p:cNvPr id="733" name="AutoShape 267">
                  <a:extLst>
                    <a:ext uri="{FF2B5EF4-FFF2-40B4-BE49-F238E27FC236}">
                      <a16:creationId xmlns:a16="http://schemas.microsoft.com/office/drawing/2014/main" id="{0820A402-97A1-4D38-A374-DDE1584E8D1E}"/>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34" name="AutoShape 268">
                  <a:extLst>
                    <a:ext uri="{FF2B5EF4-FFF2-40B4-BE49-F238E27FC236}">
                      <a16:creationId xmlns:a16="http://schemas.microsoft.com/office/drawing/2014/main" id="{8E56F819-D7E5-469D-B089-ED5600DFA9C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713" name="Rectangle 269">
                <a:extLst>
                  <a:ext uri="{FF2B5EF4-FFF2-40B4-BE49-F238E27FC236}">
                    <a16:creationId xmlns:a16="http://schemas.microsoft.com/office/drawing/2014/main" id="{98FCC316-FC94-426D-8781-DDD33F051741}"/>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14" name="Rectangle 270">
                <a:extLst>
                  <a:ext uri="{FF2B5EF4-FFF2-40B4-BE49-F238E27FC236}">
                    <a16:creationId xmlns:a16="http://schemas.microsoft.com/office/drawing/2014/main" id="{22A26A62-F558-430D-9048-D9DDFFB72D73}"/>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715" name="Group 271">
                <a:extLst>
                  <a:ext uri="{FF2B5EF4-FFF2-40B4-BE49-F238E27FC236}">
                    <a16:creationId xmlns:a16="http://schemas.microsoft.com/office/drawing/2014/main" id="{251DD3A1-E57D-42DD-B38D-3C29FC59803B}"/>
                  </a:ext>
                </a:extLst>
              </p:cNvPr>
              <p:cNvGrpSpPr>
                <a:grpSpLocks/>
              </p:cNvGrpSpPr>
              <p:nvPr/>
            </p:nvGrpSpPr>
            <p:grpSpPr bwMode="auto">
              <a:xfrm>
                <a:off x="4735" y="1627"/>
                <a:ext cx="582" cy="151"/>
                <a:chOff x="614" y="2568"/>
                <a:chExt cx="725" cy="139"/>
              </a:xfrm>
            </p:grpSpPr>
            <p:sp>
              <p:nvSpPr>
                <p:cNvPr id="731" name="AutoShape 272">
                  <a:extLst>
                    <a:ext uri="{FF2B5EF4-FFF2-40B4-BE49-F238E27FC236}">
                      <a16:creationId xmlns:a16="http://schemas.microsoft.com/office/drawing/2014/main" id="{E918BDAC-BF60-4ED6-AFA9-E2A80954ADB0}"/>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32" name="AutoShape 273">
                  <a:extLst>
                    <a:ext uri="{FF2B5EF4-FFF2-40B4-BE49-F238E27FC236}">
                      <a16:creationId xmlns:a16="http://schemas.microsoft.com/office/drawing/2014/main" id="{4A620BFC-2111-48B2-9956-5D349D6074A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716" name="Freeform 274">
                <a:extLst>
                  <a:ext uri="{FF2B5EF4-FFF2-40B4-BE49-F238E27FC236}">
                    <a16:creationId xmlns:a16="http://schemas.microsoft.com/office/drawing/2014/main" id="{1CB74048-018B-47C5-A3E9-D5792188431B}"/>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7" name="Group 275">
                <a:extLst>
                  <a:ext uri="{FF2B5EF4-FFF2-40B4-BE49-F238E27FC236}">
                    <a16:creationId xmlns:a16="http://schemas.microsoft.com/office/drawing/2014/main" id="{97C210FC-0DBE-4892-B901-A68DE1D95057}"/>
                  </a:ext>
                </a:extLst>
              </p:cNvPr>
              <p:cNvGrpSpPr>
                <a:grpSpLocks/>
              </p:cNvGrpSpPr>
              <p:nvPr/>
            </p:nvGrpSpPr>
            <p:grpSpPr bwMode="auto">
              <a:xfrm>
                <a:off x="4739" y="1327"/>
                <a:ext cx="582" cy="139"/>
                <a:chOff x="614" y="2568"/>
                <a:chExt cx="725" cy="139"/>
              </a:xfrm>
            </p:grpSpPr>
            <p:sp>
              <p:nvSpPr>
                <p:cNvPr id="729" name="AutoShape 276">
                  <a:extLst>
                    <a:ext uri="{FF2B5EF4-FFF2-40B4-BE49-F238E27FC236}">
                      <a16:creationId xmlns:a16="http://schemas.microsoft.com/office/drawing/2014/main" id="{7F22A3DF-5296-483D-92E8-B544F2C77A3F}"/>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30" name="AutoShape 277">
                  <a:extLst>
                    <a:ext uri="{FF2B5EF4-FFF2-40B4-BE49-F238E27FC236}">
                      <a16:creationId xmlns:a16="http://schemas.microsoft.com/office/drawing/2014/main" id="{EBFBAA19-A827-4391-8E3E-D674937FE4F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718" name="Rectangle 278">
                <a:extLst>
                  <a:ext uri="{FF2B5EF4-FFF2-40B4-BE49-F238E27FC236}">
                    <a16:creationId xmlns:a16="http://schemas.microsoft.com/office/drawing/2014/main" id="{14A015BC-A3BA-4C8F-AF83-AAC101A3C75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19" name="Freeform 279">
                <a:extLst>
                  <a:ext uri="{FF2B5EF4-FFF2-40B4-BE49-F238E27FC236}">
                    <a16:creationId xmlns:a16="http://schemas.microsoft.com/office/drawing/2014/main" id="{7FB981C7-E84A-48D5-A00F-C6026E645314}"/>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 name="Freeform 280">
                <a:extLst>
                  <a:ext uri="{FF2B5EF4-FFF2-40B4-BE49-F238E27FC236}">
                    <a16:creationId xmlns:a16="http://schemas.microsoft.com/office/drawing/2014/main" id="{0E221FB7-E913-410E-A8A9-BBE859EF0B22}"/>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 name="Oval 281">
                <a:extLst>
                  <a:ext uri="{FF2B5EF4-FFF2-40B4-BE49-F238E27FC236}">
                    <a16:creationId xmlns:a16="http://schemas.microsoft.com/office/drawing/2014/main" id="{B7A77C35-0465-4C1F-A41E-FB061B7BA790}"/>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22" name="Freeform 282">
                <a:extLst>
                  <a:ext uri="{FF2B5EF4-FFF2-40B4-BE49-F238E27FC236}">
                    <a16:creationId xmlns:a16="http://schemas.microsoft.com/office/drawing/2014/main" id="{5B252836-A7CB-4055-8AE4-5D8EDA5F7CA5}"/>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3" name="AutoShape 283">
                <a:extLst>
                  <a:ext uri="{FF2B5EF4-FFF2-40B4-BE49-F238E27FC236}">
                    <a16:creationId xmlns:a16="http://schemas.microsoft.com/office/drawing/2014/main" id="{3C4AA1EC-0DCA-489D-AA70-840C0B684722}"/>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24" name="AutoShape 284">
                <a:extLst>
                  <a:ext uri="{FF2B5EF4-FFF2-40B4-BE49-F238E27FC236}">
                    <a16:creationId xmlns:a16="http://schemas.microsoft.com/office/drawing/2014/main" id="{D1188D32-F86A-4D02-AC26-2165C8E6F5A2}"/>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25" name="Oval 285">
                <a:extLst>
                  <a:ext uri="{FF2B5EF4-FFF2-40B4-BE49-F238E27FC236}">
                    <a16:creationId xmlns:a16="http://schemas.microsoft.com/office/drawing/2014/main" id="{8EB1FFC2-0ED9-45A6-AB9E-BB750A6D454F}"/>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26" name="Oval 286">
                <a:extLst>
                  <a:ext uri="{FF2B5EF4-FFF2-40B4-BE49-F238E27FC236}">
                    <a16:creationId xmlns:a16="http://schemas.microsoft.com/office/drawing/2014/main" id="{83D82923-6A75-41DF-81B8-2B067F47677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727" name="Oval 287">
                <a:extLst>
                  <a:ext uri="{FF2B5EF4-FFF2-40B4-BE49-F238E27FC236}">
                    <a16:creationId xmlns:a16="http://schemas.microsoft.com/office/drawing/2014/main" id="{5C97D128-2BEB-4449-9AA7-122946A92704}"/>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28" name="Rectangle 288">
                <a:extLst>
                  <a:ext uri="{FF2B5EF4-FFF2-40B4-BE49-F238E27FC236}">
                    <a16:creationId xmlns:a16="http://schemas.microsoft.com/office/drawing/2014/main" id="{A6F083C7-ABC8-4620-BCF2-5BB086D33DCD}"/>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667" name="Group 289">
              <a:extLst>
                <a:ext uri="{FF2B5EF4-FFF2-40B4-BE49-F238E27FC236}">
                  <a16:creationId xmlns:a16="http://schemas.microsoft.com/office/drawing/2014/main" id="{C025E656-31D5-4291-A520-078968DCF297}"/>
                </a:ext>
              </a:extLst>
            </p:cNvPr>
            <p:cNvGrpSpPr>
              <a:grpSpLocks/>
            </p:cNvGrpSpPr>
            <p:nvPr/>
          </p:nvGrpSpPr>
          <p:grpSpPr bwMode="auto">
            <a:xfrm>
              <a:off x="7135813" y="5740794"/>
              <a:ext cx="231775" cy="441325"/>
              <a:chOff x="4140" y="429"/>
              <a:chExt cx="1425" cy="2396"/>
            </a:xfrm>
          </p:grpSpPr>
          <p:sp>
            <p:nvSpPr>
              <p:cNvPr id="673" name="Freeform 290">
                <a:extLst>
                  <a:ext uri="{FF2B5EF4-FFF2-40B4-BE49-F238E27FC236}">
                    <a16:creationId xmlns:a16="http://schemas.microsoft.com/office/drawing/2014/main" id="{6DE91CE0-C0A5-4A20-A210-5585109DA10A}"/>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4" name="Rectangle 291">
                <a:extLst>
                  <a:ext uri="{FF2B5EF4-FFF2-40B4-BE49-F238E27FC236}">
                    <a16:creationId xmlns:a16="http://schemas.microsoft.com/office/drawing/2014/main" id="{9096215B-B405-4455-AC60-41EC46E9F0E6}"/>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75" name="Freeform 292">
                <a:extLst>
                  <a:ext uri="{FF2B5EF4-FFF2-40B4-BE49-F238E27FC236}">
                    <a16:creationId xmlns:a16="http://schemas.microsoft.com/office/drawing/2014/main" id="{61986BE9-C9CD-4E4E-9CB5-2F2FBE6370AD}"/>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 name="Freeform 293">
                <a:extLst>
                  <a:ext uri="{FF2B5EF4-FFF2-40B4-BE49-F238E27FC236}">
                    <a16:creationId xmlns:a16="http://schemas.microsoft.com/office/drawing/2014/main" id="{2C989BA1-5CFF-4CF1-BC51-18232E928C19}"/>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 name="Rectangle 294">
                <a:extLst>
                  <a:ext uri="{FF2B5EF4-FFF2-40B4-BE49-F238E27FC236}">
                    <a16:creationId xmlns:a16="http://schemas.microsoft.com/office/drawing/2014/main" id="{2FDEADEF-9431-48A4-8A17-2188D5F32B8C}"/>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678" name="Group 295">
                <a:extLst>
                  <a:ext uri="{FF2B5EF4-FFF2-40B4-BE49-F238E27FC236}">
                    <a16:creationId xmlns:a16="http://schemas.microsoft.com/office/drawing/2014/main" id="{E43F2D9B-18C7-44ED-909C-617831092CAC}"/>
                  </a:ext>
                </a:extLst>
              </p:cNvPr>
              <p:cNvGrpSpPr>
                <a:grpSpLocks/>
              </p:cNvGrpSpPr>
              <p:nvPr/>
            </p:nvGrpSpPr>
            <p:grpSpPr bwMode="auto">
              <a:xfrm>
                <a:off x="4749" y="668"/>
                <a:ext cx="581" cy="145"/>
                <a:chOff x="614" y="2568"/>
                <a:chExt cx="725" cy="139"/>
              </a:xfrm>
            </p:grpSpPr>
            <p:sp>
              <p:nvSpPr>
                <p:cNvPr id="703" name="AutoShape 296">
                  <a:extLst>
                    <a:ext uri="{FF2B5EF4-FFF2-40B4-BE49-F238E27FC236}">
                      <a16:creationId xmlns:a16="http://schemas.microsoft.com/office/drawing/2014/main" id="{76526A5E-65D7-4700-BC65-9CB0BD9FC3BC}"/>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04" name="AutoShape 297">
                  <a:extLst>
                    <a:ext uri="{FF2B5EF4-FFF2-40B4-BE49-F238E27FC236}">
                      <a16:creationId xmlns:a16="http://schemas.microsoft.com/office/drawing/2014/main" id="{0AB3A3BC-168B-4129-BFF4-6B4C5BB401AD}"/>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79" name="Rectangle 298">
                <a:extLst>
                  <a:ext uri="{FF2B5EF4-FFF2-40B4-BE49-F238E27FC236}">
                    <a16:creationId xmlns:a16="http://schemas.microsoft.com/office/drawing/2014/main" id="{85C7B3B3-B023-47D4-9087-90BEF429828B}"/>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680" name="Group 299">
                <a:extLst>
                  <a:ext uri="{FF2B5EF4-FFF2-40B4-BE49-F238E27FC236}">
                    <a16:creationId xmlns:a16="http://schemas.microsoft.com/office/drawing/2014/main" id="{5958309D-537B-4A14-90F0-3268EE7F9ADA}"/>
                  </a:ext>
                </a:extLst>
              </p:cNvPr>
              <p:cNvGrpSpPr>
                <a:grpSpLocks/>
              </p:cNvGrpSpPr>
              <p:nvPr/>
            </p:nvGrpSpPr>
            <p:grpSpPr bwMode="auto">
              <a:xfrm>
                <a:off x="4747" y="994"/>
                <a:ext cx="581" cy="134"/>
                <a:chOff x="614" y="2568"/>
                <a:chExt cx="725" cy="139"/>
              </a:xfrm>
            </p:grpSpPr>
            <p:sp>
              <p:nvSpPr>
                <p:cNvPr id="701" name="AutoShape 300">
                  <a:extLst>
                    <a:ext uri="{FF2B5EF4-FFF2-40B4-BE49-F238E27FC236}">
                      <a16:creationId xmlns:a16="http://schemas.microsoft.com/office/drawing/2014/main" id="{078C99D3-7E38-4957-9237-4A21E9E4D5FD}"/>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02" name="AutoShape 301">
                  <a:extLst>
                    <a:ext uri="{FF2B5EF4-FFF2-40B4-BE49-F238E27FC236}">
                      <a16:creationId xmlns:a16="http://schemas.microsoft.com/office/drawing/2014/main" id="{EC1B01D1-7455-44C1-BC19-00E68B81368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81" name="Rectangle 302">
                <a:extLst>
                  <a:ext uri="{FF2B5EF4-FFF2-40B4-BE49-F238E27FC236}">
                    <a16:creationId xmlns:a16="http://schemas.microsoft.com/office/drawing/2014/main" id="{13CF60ED-19D0-465E-9FB5-CCF18A51F705}"/>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82" name="Rectangle 303">
                <a:extLst>
                  <a:ext uri="{FF2B5EF4-FFF2-40B4-BE49-F238E27FC236}">
                    <a16:creationId xmlns:a16="http://schemas.microsoft.com/office/drawing/2014/main" id="{562FA008-300F-4961-9571-929E5CEC940D}"/>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683" name="Group 304">
                <a:extLst>
                  <a:ext uri="{FF2B5EF4-FFF2-40B4-BE49-F238E27FC236}">
                    <a16:creationId xmlns:a16="http://schemas.microsoft.com/office/drawing/2014/main" id="{D292EA84-7CA5-4891-8ED7-AF11E4DD83E5}"/>
                  </a:ext>
                </a:extLst>
              </p:cNvPr>
              <p:cNvGrpSpPr>
                <a:grpSpLocks/>
              </p:cNvGrpSpPr>
              <p:nvPr/>
            </p:nvGrpSpPr>
            <p:grpSpPr bwMode="auto">
              <a:xfrm>
                <a:off x="4735" y="1627"/>
                <a:ext cx="582" cy="151"/>
                <a:chOff x="614" y="2568"/>
                <a:chExt cx="725" cy="139"/>
              </a:xfrm>
            </p:grpSpPr>
            <p:sp>
              <p:nvSpPr>
                <p:cNvPr id="699" name="AutoShape 305">
                  <a:extLst>
                    <a:ext uri="{FF2B5EF4-FFF2-40B4-BE49-F238E27FC236}">
                      <a16:creationId xmlns:a16="http://schemas.microsoft.com/office/drawing/2014/main" id="{476BEEFB-EE3C-4BEC-91A4-ABEAD2651F0C}"/>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00" name="AutoShape 306">
                  <a:extLst>
                    <a:ext uri="{FF2B5EF4-FFF2-40B4-BE49-F238E27FC236}">
                      <a16:creationId xmlns:a16="http://schemas.microsoft.com/office/drawing/2014/main" id="{DA61A000-DA6E-43AC-BAEB-5C05902FBF1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84" name="Freeform 307">
                <a:extLst>
                  <a:ext uri="{FF2B5EF4-FFF2-40B4-BE49-F238E27FC236}">
                    <a16:creationId xmlns:a16="http://schemas.microsoft.com/office/drawing/2014/main" id="{43664B00-BD85-49FD-BB40-F9655DEF24CF}"/>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85" name="Group 308">
                <a:extLst>
                  <a:ext uri="{FF2B5EF4-FFF2-40B4-BE49-F238E27FC236}">
                    <a16:creationId xmlns:a16="http://schemas.microsoft.com/office/drawing/2014/main" id="{CA78339B-4DBA-478B-A957-B77B8941F721}"/>
                  </a:ext>
                </a:extLst>
              </p:cNvPr>
              <p:cNvGrpSpPr>
                <a:grpSpLocks/>
              </p:cNvGrpSpPr>
              <p:nvPr/>
            </p:nvGrpSpPr>
            <p:grpSpPr bwMode="auto">
              <a:xfrm>
                <a:off x="4739" y="1327"/>
                <a:ext cx="582" cy="139"/>
                <a:chOff x="614" y="2568"/>
                <a:chExt cx="725" cy="139"/>
              </a:xfrm>
            </p:grpSpPr>
            <p:sp>
              <p:nvSpPr>
                <p:cNvPr id="697" name="AutoShape 309">
                  <a:extLst>
                    <a:ext uri="{FF2B5EF4-FFF2-40B4-BE49-F238E27FC236}">
                      <a16:creationId xmlns:a16="http://schemas.microsoft.com/office/drawing/2014/main" id="{698B9597-671D-4DA6-AEB1-0768AF20881D}"/>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8" name="AutoShape 310">
                  <a:extLst>
                    <a:ext uri="{FF2B5EF4-FFF2-40B4-BE49-F238E27FC236}">
                      <a16:creationId xmlns:a16="http://schemas.microsoft.com/office/drawing/2014/main" id="{7637053B-7793-4599-8B3C-B3B37BF4CFA9}"/>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86" name="Rectangle 311">
                <a:extLst>
                  <a:ext uri="{FF2B5EF4-FFF2-40B4-BE49-F238E27FC236}">
                    <a16:creationId xmlns:a16="http://schemas.microsoft.com/office/drawing/2014/main" id="{69BBD79E-9C77-48F4-AECF-E609A6F6E08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87" name="Freeform 312">
                <a:extLst>
                  <a:ext uri="{FF2B5EF4-FFF2-40B4-BE49-F238E27FC236}">
                    <a16:creationId xmlns:a16="http://schemas.microsoft.com/office/drawing/2014/main" id="{66FEF5DA-E5FA-4C89-9579-1EDCE7CC226B}"/>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8" name="Freeform 313">
                <a:extLst>
                  <a:ext uri="{FF2B5EF4-FFF2-40B4-BE49-F238E27FC236}">
                    <a16:creationId xmlns:a16="http://schemas.microsoft.com/office/drawing/2014/main" id="{1A95992C-100F-485B-86CD-C3674D61F40B}"/>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9" name="Oval 314">
                <a:extLst>
                  <a:ext uri="{FF2B5EF4-FFF2-40B4-BE49-F238E27FC236}">
                    <a16:creationId xmlns:a16="http://schemas.microsoft.com/office/drawing/2014/main" id="{36CF3CD5-ADCA-4CFE-8FFA-75E2172F5AFB}"/>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0" name="Freeform 315">
                <a:extLst>
                  <a:ext uri="{FF2B5EF4-FFF2-40B4-BE49-F238E27FC236}">
                    <a16:creationId xmlns:a16="http://schemas.microsoft.com/office/drawing/2014/main" id="{419E13EA-1D9E-483D-A58F-974456804FB3}"/>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1" name="AutoShape 316">
                <a:extLst>
                  <a:ext uri="{FF2B5EF4-FFF2-40B4-BE49-F238E27FC236}">
                    <a16:creationId xmlns:a16="http://schemas.microsoft.com/office/drawing/2014/main" id="{6789F5E9-4C80-4C25-A3D9-2ABC0AB96B9D}"/>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2" name="AutoShape 317">
                <a:extLst>
                  <a:ext uri="{FF2B5EF4-FFF2-40B4-BE49-F238E27FC236}">
                    <a16:creationId xmlns:a16="http://schemas.microsoft.com/office/drawing/2014/main" id="{B73C0F8C-E0F5-45C6-B9C1-417B1DA31B8F}"/>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3" name="Oval 318">
                <a:extLst>
                  <a:ext uri="{FF2B5EF4-FFF2-40B4-BE49-F238E27FC236}">
                    <a16:creationId xmlns:a16="http://schemas.microsoft.com/office/drawing/2014/main" id="{5457E842-9205-4C21-A353-1953129E9EDA}"/>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4" name="Oval 319">
                <a:extLst>
                  <a:ext uri="{FF2B5EF4-FFF2-40B4-BE49-F238E27FC236}">
                    <a16:creationId xmlns:a16="http://schemas.microsoft.com/office/drawing/2014/main" id="{AA47F344-4AB5-4B8F-A314-BC38CD20F16C}"/>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695" name="Oval 320">
                <a:extLst>
                  <a:ext uri="{FF2B5EF4-FFF2-40B4-BE49-F238E27FC236}">
                    <a16:creationId xmlns:a16="http://schemas.microsoft.com/office/drawing/2014/main" id="{07BA4A1D-0B99-4D73-A3B7-6EBE32FE6A0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96" name="Rectangle 321">
                <a:extLst>
                  <a:ext uri="{FF2B5EF4-FFF2-40B4-BE49-F238E27FC236}">
                    <a16:creationId xmlns:a16="http://schemas.microsoft.com/office/drawing/2014/main" id="{C739E64F-8F4B-4A24-9D6A-FA1D221F039A}"/>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668" name="Group 325">
              <a:extLst>
                <a:ext uri="{FF2B5EF4-FFF2-40B4-BE49-F238E27FC236}">
                  <a16:creationId xmlns:a16="http://schemas.microsoft.com/office/drawing/2014/main" id="{F4CA7BBD-6153-4AD2-A926-10FED16D6F16}"/>
                </a:ext>
              </a:extLst>
            </p:cNvPr>
            <p:cNvGrpSpPr>
              <a:grpSpLocks/>
            </p:cNvGrpSpPr>
            <p:nvPr/>
          </p:nvGrpSpPr>
          <p:grpSpPr bwMode="auto">
            <a:xfrm>
              <a:off x="661988" y="5467744"/>
              <a:ext cx="525462" cy="434975"/>
              <a:chOff x="-44" y="1473"/>
              <a:chExt cx="981" cy="1105"/>
            </a:xfrm>
          </p:grpSpPr>
          <p:pic>
            <p:nvPicPr>
              <p:cNvPr id="671" name="Picture 326" descr="desktop_computer_stylized_medium">
                <a:extLst>
                  <a:ext uri="{FF2B5EF4-FFF2-40B4-BE49-F238E27FC236}">
                    <a16:creationId xmlns:a16="http://schemas.microsoft.com/office/drawing/2014/main" id="{D7A5C78C-68C1-41D9-B575-2D2CC0E2F9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2" name="Freeform 327">
                <a:extLst>
                  <a:ext uri="{FF2B5EF4-FFF2-40B4-BE49-F238E27FC236}">
                    <a16:creationId xmlns:a16="http://schemas.microsoft.com/office/drawing/2014/main" id="{542FC59C-0C6F-4305-8264-85FD885BA3F0}"/>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69" name="Text Box 42">
              <a:extLst>
                <a:ext uri="{FF2B5EF4-FFF2-40B4-BE49-F238E27FC236}">
                  <a16:creationId xmlns:a16="http://schemas.microsoft.com/office/drawing/2014/main" id="{1A0E6B36-8C09-4F04-BFC5-7DCFCD534B22}"/>
                </a:ext>
              </a:extLst>
            </p:cNvPr>
            <p:cNvSpPr txBox="1">
              <a:spLocks noChangeArrowheads="1"/>
            </p:cNvSpPr>
            <p:nvPr/>
          </p:nvSpPr>
          <p:spPr bwMode="auto">
            <a:xfrm>
              <a:off x="1576499" y="3877699"/>
              <a:ext cx="693561" cy="19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670" name="Text Box 52">
              <a:extLst>
                <a:ext uri="{FF2B5EF4-FFF2-40B4-BE49-F238E27FC236}">
                  <a16:creationId xmlns:a16="http://schemas.microsoft.com/office/drawing/2014/main" id="{D9EAF31A-9A86-46FF-9C1D-D64B6ECC9EED}"/>
                </a:ext>
              </a:extLst>
            </p:cNvPr>
            <p:cNvSpPr txBox="1">
              <a:spLocks noChangeArrowheads="1"/>
            </p:cNvSpPr>
            <p:nvPr/>
          </p:nvSpPr>
          <p:spPr bwMode="auto">
            <a:xfrm>
              <a:off x="504891" y="5065425"/>
              <a:ext cx="815638" cy="23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grpSp>
      <p:sp>
        <p:nvSpPr>
          <p:cNvPr id="89096" name="Rectangle 2">
            <a:extLst>
              <a:ext uri="{FF2B5EF4-FFF2-40B4-BE49-F238E27FC236}">
                <a16:creationId xmlns:a16="http://schemas.microsoft.com/office/drawing/2014/main" id="{2445CD32-9691-44CE-923B-CD2026EBD15B}"/>
              </a:ext>
            </a:extLst>
          </p:cNvPr>
          <p:cNvSpPr>
            <a:spLocks noGrp="1" noChangeArrowheads="1"/>
          </p:cNvSpPr>
          <p:nvPr>
            <p:ph type="body" sz="half" idx="1"/>
          </p:nvPr>
        </p:nvSpPr>
        <p:spPr>
          <a:xfrm>
            <a:off x="374044" y="1555916"/>
            <a:ext cx="7958574" cy="929904"/>
          </a:xfrm>
        </p:spPr>
        <p:txBody>
          <a:bodyPr>
            <a:normAutofit/>
          </a:bodyPr>
          <a:lstStyle/>
          <a:p>
            <a:pPr marL="266700" indent="-176213">
              <a:lnSpc>
                <a:spcPts val="2800"/>
              </a:lnSpc>
              <a:spcBef>
                <a:spcPts val="600"/>
              </a:spcBef>
              <a:buClr>
                <a:srgbClr val="2A09B7"/>
              </a:buClr>
              <a:buFont typeface="Wingdings" charset="0"/>
              <a:buChar char="v"/>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理想情况：发送端可以知道路由器中的报文分组丢失</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lvl="1">
              <a:lnSpc>
                <a:spcPts val="28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发送端仅重传已知丢失的报文分组</a:t>
            </a:r>
            <a:endParaRPr lang="en-US" sz="3200" dirty="0">
              <a:ea typeface="ＭＳ Ｐゴシック" charset="0"/>
              <a:cs typeface="+mn-cs"/>
            </a:endParaRPr>
          </a:p>
        </p:txBody>
      </p:sp>
      <p:sp>
        <p:nvSpPr>
          <p:cNvPr id="162" name="矩形 161">
            <a:extLst>
              <a:ext uri="{FF2B5EF4-FFF2-40B4-BE49-F238E27FC236}">
                <a16:creationId xmlns:a16="http://schemas.microsoft.com/office/drawing/2014/main" id="{A0DFF15C-A8E2-4009-B925-EDAF35231A0A}"/>
              </a:ext>
            </a:extLst>
          </p:cNvPr>
          <p:cNvSpPr/>
          <p:nvPr/>
        </p:nvSpPr>
        <p:spPr>
          <a:xfrm>
            <a:off x="374044" y="764722"/>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65" name="标题 1">
            <a:extLst>
              <a:ext uri="{FF2B5EF4-FFF2-40B4-BE49-F238E27FC236}">
                <a16:creationId xmlns:a16="http://schemas.microsoft.com/office/drawing/2014/main" id="{54B5A12E-E0AD-497B-92BB-7DF41E83A732}"/>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4" name="Rectangle 235">
            <a:extLst>
              <a:ext uri="{FF2B5EF4-FFF2-40B4-BE49-F238E27FC236}">
                <a16:creationId xmlns:a16="http://schemas.microsoft.com/office/drawing/2014/main" id="{1EB3D890-333B-4A3E-91E8-B28435EDE5C5}"/>
              </a:ext>
            </a:extLst>
          </p:cNvPr>
          <p:cNvSpPr>
            <a:spLocks noChangeArrowheads="1"/>
          </p:cNvSpPr>
          <p:nvPr/>
        </p:nvSpPr>
        <p:spPr bwMode="auto">
          <a:xfrm>
            <a:off x="2548710" y="3404975"/>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46" name="Rectangle 237">
            <a:extLst>
              <a:ext uri="{FF2B5EF4-FFF2-40B4-BE49-F238E27FC236}">
                <a16:creationId xmlns:a16="http://schemas.microsoft.com/office/drawing/2014/main" id="{20207166-7ADA-4F0E-B68B-85B1EAE9D21D}"/>
              </a:ext>
            </a:extLst>
          </p:cNvPr>
          <p:cNvSpPr>
            <a:spLocks noChangeArrowheads="1"/>
          </p:cNvSpPr>
          <p:nvPr/>
        </p:nvSpPr>
        <p:spPr bwMode="auto">
          <a:xfrm>
            <a:off x="2548710" y="3403387"/>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773" name="Text Box 236">
            <a:extLst>
              <a:ext uri="{FF2B5EF4-FFF2-40B4-BE49-F238E27FC236}">
                <a16:creationId xmlns:a16="http://schemas.microsoft.com/office/drawing/2014/main" id="{F2F0BB15-D54F-4923-982A-F1D4F86C92E9}"/>
              </a:ext>
            </a:extLst>
          </p:cNvPr>
          <p:cNvSpPr txBox="1">
            <a:spLocks noChangeArrowheads="1"/>
          </p:cNvSpPr>
          <p:nvPr/>
        </p:nvSpPr>
        <p:spPr bwMode="auto">
          <a:xfrm>
            <a:off x="3917155" y="4355581"/>
            <a:ext cx="1720343"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i="1" dirty="0">
                <a:solidFill>
                  <a:srgbClr val="006600"/>
                </a:solidFill>
                <a:latin typeface="Arial" charset="0"/>
              </a:rPr>
              <a:t>有空闲的缓存空间 </a:t>
            </a:r>
            <a:r>
              <a:rPr lang="en-US" sz="1400" i="1" dirty="0">
                <a:solidFill>
                  <a:srgbClr val="006600"/>
                </a:solidFill>
                <a:latin typeface="Arial" charset="0"/>
              </a:rPr>
              <a:t>!</a:t>
            </a:r>
          </a:p>
        </p:txBody>
      </p:sp>
      <p:pic>
        <p:nvPicPr>
          <p:cNvPr id="774" name="Picture 2" descr="garbage_can">
            <a:extLst>
              <a:ext uri="{FF2B5EF4-FFF2-40B4-BE49-F238E27FC236}">
                <a16:creationId xmlns:a16="http://schemas.microsoft.com/office/drawing/2014/main" id="{2BF4AA56-D847-4491-B1E3-C088999371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9797" y="5277630"/>
            <a:ext cx="4873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907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1.94444E-6 -7.40741E-7 L 0.03333 -7.40741E-7 L 0.03333 0.14583 L 0.1191 0.14583 L 0.07969 0.20625 L 0.22621 0.20625 " pathEditMode="relative" rAng="0" ptsTypes="AAAAAA">
                                      <p:cBhvr>
                                        <p:cTn id="6" dur="2000" fill="hold"/>
                                        <p:tgtEl>
                                          <p:spTgt spid="244"/>
                                        </p:tgtEl>
                                        <p:attrNameLst>
                                          <p:attrName>ppt_x</p:attrName>
                                          <p:attrName>ppt_y</p:attrName>
                                        </p:attrNameLst>
                                      </p:cBhvr>
                                      <p:rCtr x="11302" y="10301"/>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773"/>
                                        </p:tgtEl>
                                        <p:attrNameLst>
                                          <p:attrName>style.visibility</p:attrName>
                                        </p:attrNameLst>
                                      </p:cBhvr>
                                      <p:to>
                                        <p:strVal val="visible"/>
                                      </p:to>
                                    </p:set>
                                    <p:animEffect transition="in" filter="dissolve">
                                      <p:cBhvr>
                                        <p:cTn id="10" dur="500"/>
                                        <p:tgtEl>
                                          <p:spTgt spid="773"/>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0.22621 0.20625 L 0.275 0.20648 " pathEditMode="relative" rAng="0" ptsTypes="AA">
                                      <p:cBhvr>
                                        <p:cTn id="13" dur="3000" fill="hold"/>
                                        <p:tgtEl>
                                          <p:spTgt spid="244"/>
                                        </p:tgtEl>
                                        <p:attrNameLst>
                                          <p:attrName>ppt_x</p:attrName>
                                          <p:attrName>ppt_y</p:attrName>
                                        </p:attrNameLst>
                                      </p:cBhvr>
                                      <p:rCtr x="2431" y="0"/>
                                    </p:animMotion>
                                  </p:childTnLst>
                                </p:cTn>
                              </p:par>
                            </p:childTnLst>
                          </p:cTn>
                        </p:par>
                        <p:par>
                          <p:cTn id="14" fill="hold">
                            <p:stCondLst>
                              <p:cond delay="5500"/>
                            </p:stCondLst>
                            <p:childTnLst>
                              <p:par>
                                <p:cTn id="15" presetID="9" presetClass="exit" presetSubtype="0" fill="hold" nodeType="afterEffect">
                                  <p:stCondLst>
                                    <p:cond delay="0"/>
                                  </p:stCondLst>
                                  <p:childTnLst>
                                    <p:animEffect transition="out" filter="dissolve">
                                      <p:cBhvr>
                                        <p:cTn id="16" dur="500"/>
                                        <p:tgtEl>
                                          <p:spTgt spid="773"/>
                                        </p:tgtEl>
                                      </p:cBhvr>
                                    </p:animEffect>
                                    <p:set>
                                      <p:cBhvr>
                                        <p:cTn id="17" dur="1" fill="hold">
                                          <p:stCondLst>
                                            <p:cond delay="499"/>
                                          </p:stCondLst>
                                        </p:cTn>
                                        <p:tgtEl>
                                          <p:spTgt spid="773"/>
                                        </p:tgtEl>
                                        <p:attrNameLst>
                                          <p:attrName>style.visibility</p:attrName>
                                        </p:attrNameLst>
                                      </p:cBhvr>
                                      <p:to>
                                        <p:strVal val="hidden"/>
                                      </p:to>
                                    </p:set>
                                  </p:childTnLst>
                                </p:cTn>
                              </p:par>
                            </p:childTnLst>
                          </p:cTn>
                        </p:par>
                        <p:par>
                          <p:cTn id="18" fill="hold">
                            <p:stCondLst>
                              <p:cond delay="6000"/>
                            </p:stCondLst>
                            <p:childTnLst>
                              <p:par>
                                <p:cTn id="19" presetID="0" presetClass="path" presetSubtype="0" accel="50000" decel="50000" fill="hold" grpId="2" nodeType="afterEffect">
                                  <p:stCondLst>
                                    <p:cond delay="0"/>
                                  </p:stCondLst>
                                  <p:childTnLst>
                                    <p:animMotion origin="layout" path="M 0.275 0.20648 L 0.34288 0.20648 L 0.40833 0.11597 L 0.49774 0.12083 L 0.49774 -0.01111 " pathEditMode="relative" rAng="0" ptsTypes="AAAAA">
                                      <p:cBhvr>
                                        <p:cTn id="20" dur="2000" fill="hold"/>
                                        <p:tgtEl>
                                          <p:spTgt spid="244"/>
                                        </p:tgtEl>
                                        <p:attrNameLst>
                                          <p:attrName>ppt_x</p:attrName>
                                          <p:attrName>ppt_y</p:attrName>
                                        </p:attrNameLst>
                                      </p:cBhvr>
                                      <p:rCtr x="11128" y="-10880"/>
                                    </p:animMotion>
                                  </p:childTnLst>
                                </p:cTn>
                              </p:par>
                            </p:childTnLst>
                          </p:cTn>
                        </p:par>
                        <p:par>
                          <p:cTn id="21" fill="hold">
                            <p:stCondLst>
                              <p:cond delay="8000"/>
                            </p:stCondLst>
                            <p:childTnLst>
                              <p:par>
                                <p:cTn id="22" presetID="9" presetClass="exit" presetSubtype="0" fill="hold" grpId="3" nodeType="afterEffect">
                                  <p:stCondLst>
                                    <p:cond delay="0"/>
                                  </p:stCondLst>
                                  <p:childTnLst>
                                    <p:animEffect transition="out" filter="dissolve">
                                      <p:cBhvr>
                                        <p:cTn id="23" dur="500"/>
                                        <p:tgtEl>
                                          <p:spTgt spid="244"/>
                                        </p:tgtEl>
                                      </p:cBhvr>
                                    </p:animEffect>
                                    <p:set>
                                      <p:cBhvr>
                                        <p:cTn id="24" dur="1" fill="hold">
                                          <p:stCondLst>
                                            <p:cond delay="499"/>
                                          </p:stCondLst>
                                        </p:cTn>
                                        <p:tgtEl>
                                          <p:spTgt spid="244"/>
                                        </p:tgtEl>
                                        <p:attrNameLst>
                                          <p:attrName>style.visibility</p:attrName>
                                        </p:attrNameLst>
                                      </p:cBhvr>
                                      <p:to>
                                        <p:strVal val="hidden"/>
                                      </p:to>
                                    </p:set>
                                  </p:childTnLst>
                                </p:cTn>
                              </p:par>
                              <p:par>
                                <p:cTn id="25" presetID="9" presetClass="exit" presetSubtype="0" fill="hold" grpId="0" nodeType="withEffect">
                                  <p:stCondLst>
                                    <p:cond delay="0"/>
                                  </p:stCondLst>
                                  <p:childTnLst>
                                    <p:animEffect transition="out" filter="dissolve">
                                      <p:cBhvr>
                                        <p:cTn id="26" dur="500"/>
                                        <p:tgtEl>
                                          <p:spTgt spid="246"/>
                                        </p:tgtEl>
                                      </p:cBhvr>
                                    </p:animEffect>
                                    <p:set>
                                      <p:cBhvr>
                                        <p:cTn id="27" dur="1" fill="hold">
                                          <p:stCondLst>
                                            <p:cond delay="499"/>
                                          </p:stCondLst>
                                        </p:cTn>
                                        <p:tgtEl>
                                          <p:spTgt spid="2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0" animBg="1"/>
      <p:bldP spid="244" grpId="1" animBg="1"/>
      <p:bldP spid="244" grpId="2" animBg="1"/>
      <p:bldP spid="244" grpId="3" animBg="1"/>
      <p:bldP spid="246" grpId="0" animBg="1"/>
      <p:bldP spid="77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2">
            <a:extLst>
              <a:ext uri="{FF2B5EF4-FFF2-40B4-BE49-F238E27FC236}">
                <a16:creationId xmlns:a16="http://schemas.microsoft.com/office/drawing/2014/main" id="{2445CD32-9691-44CE-923B-CD2026EBD15B}"/>
              </a:ext>
            </a:extLst>
          </p:cNvPr>
          <p:cNvSpPr>
            <a:spLocks noGrp="1" noChangeArrowheads="1"/>
          </p:cNvSpPr>
          <p:nvPr>
            <p:ph type="body" sz="half" idx="1"/>
          </p:nvPr>
        </p:nvSpPr>
        <p:spPr>
          <a:xfrm>
            <a:off x="374044" y="1500732"/>
            <a:ext cx="7958574" cy="959489"/>
          </a:xfrm>
        </p:spPr>
        <p:txBody>
          <a:bodyPr>
            <a:normAutofit/>
          </a:bodyPr>
          <a:lstStyle/>
          <a:p>
            <a:pPr marL="266700" indent="-176213">
              <a:lnSpc>
                <a:spcPts val="2800"/>
              </a:lnSpc>
              <a:spcBef>
                <a:spcPts val="600"/>
              </a:spcBef>
              <a:buClr>
                <a:srgbClr val="2A09B7"/>
              </a:buClr>
              <a:buFont typeface="Wingdings" charset="0"/>
              <a:buChar char="v"/>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实际情况：产生重复的报文分组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lvl="1">
              <a:lnSpc>
                <a:spcPts val="28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发送端提前超时，产生两个相同的报文分组</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 name="矩形 161">
            <a:extLst>
              <a:ext uri="{FF2B5EF4-FFF2-40B4-BE49-F238E27FC236}">
                <a16:creationId xmlns:a16="http://schemas.microsoft.com/office/drawing/2014/main" id="{A0DFF15C-A8E2-4009-B925-EDAF35231A0A}"/>
              </a:ext>
            </a:extLst>
          </p:cNvPr>
          <p:cNvSpPr/>
          <p:nvPr/>
        </p:nvSpPr>
        <p:spPr>
          <a:xfrm>
            <a:off x="385838" y="750027"/>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65" name="标题 1">
            <a:extLst>
              <a:ext uri="{FF2B5EF4-FFF2-40B4-BE49-F238E27FC236}">
                <a16:creationId xmlns:a16="http://schemas.microsoft.com/office/drawing/2014/main" id="{54B5A12E-E0AD-497B-92BB-7DF41E83A732}"/>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8" name="Freeform 273">
            <a:extLst>
              <a:ext uri="{FF2B5EF4-FFF2-40B4-BE49-F238E27FC236}">
                <a16:creationId xmlns:a16="http://schemas.microsoft.com/office/drawing/2014/main" id="{B1A683D5-D05A-439A-A245-AB313AA9640E}"/>
              </a:ext>
            </a:extLst>
          </p:cNvPr>
          <p:cNvSpPr>
            <a:spLocks/>
          </p:cNvSpPr>
          <p:nvPr/>
        </p:nvSpPr>
        <p:spPr bwMode="auto">
          <a:xfrm flipH="1">
            <a:off x="2269955" y="3182944"/>
            <a:ext cx="250825" cy="1201737"/>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 name="Group 357">
            <a:extLst>
              <a:ext uri="{FF2B5EF4-FFF2-40B4-BE49-F238E27FC236}">
                <a16:creationId xmlns:a16="http://schemas.microsoft.com/office/drawing/2014/main" id="{39423BB9-24AB-4CDB-893E-61E8BB9D44F7}"/>
              </a:ext>
            </a:extLst>
          </p:cNvPr>
          <p:cNvGrpSpPr>
            <a:grpSpLocks/>
          </p:cNvGrpSpPr>
          <p:nvPr/>
        </p:nvGrpSpPr>
        <p:grpSpPr bwMode="auto">
          <a:xfrm>
            <a:off x="1874668" y="4086225"/>
            <a:ext cx="525462" cy="434975"/>
            <a:chOff x="-44" y="1473"/>
            <a:chExt cx="981" cy="1105"/>
          </a:xfrm>
        </p:grpSpPr>
        <p:pic>
          <p:nvPicPr>
            <p:cNvPr id="160" name="Picture 358" descr="desktop_computer_stylized_medium">
              <a:extLst>
                <a:ext uri="{FF2B5EF4-FFF2-40B4-BE49-F238E27FC236}">
                  <a16:creationId xmlns:a16="http://schemas.microsoft.com/office/drawing/2014/main" id="{0B84FB29-FB57-4F81-ABE6-71A0F48B8F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Freeform 359">
              <a:extLst>
                <a:ext uri="{FF2B5EF4-FFF2-40B4-BE49-F238E27FC236}">
                  <a16:creationId xmlns:a16="http://schemas.microsoft.com/office/drawing/2014/main" id="{2EC16BC6-1BA3-42C6-9778-5F9E99A509ED}"/>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63" name="Oval 3">
            <a:extLst>
              <a:ext uri="{FF2B5EF4-FFF2-40B4-BE49-F238E27FC236}">
                <a16:creationId xmlns:a16="http://schemas.microsoft.com/office/drawing/2014/main" id="{04673273-6C8D-4DE5-A492-8F80BABACEF3}"/>
              </a:ext>
            </a:extLst>
          </p:cNvPr>
          <p:cNvSpPr>
            <a:spLocks noChangeArrowheads="1"/>
          </p:cNvSpPr>
          <p:nvPr/>
        </p:nvSpPr>
        <p:spPr bwMode="auto">
          <a:xfrm>
            <a:off x="3954293" y="5008563"/>
            <a:ext cx="1304925" cy="303212"/>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64" name="Line 4">
            <a:extLst>
              <a:ext uri="{FF2B5EF4-FFF2-40B4-BE49-F238E27FC236}">
                <a16:creationId xmlns:a16="http://schemas.microsoft.com/office/drawing/2014/main" id="{47AD6ED7-5EBA-4751-846E-076DAEAE2806}"/>
              </a:ext>
            </a:extLst>
          </p:cNvPr>
          <p:cNvSpPr>
            <a:spLocks noChangeShapeType="1"/>
          </p:cNvSpPr>
          <p:nvPr/>
        </p:nvSpPr>
        <p:spPr bwMode="auto">
          <a:xfrm>
            <a:off x="3954293" y="4984750"/>
            <a:ext cx="0" cy="1873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 name="Line 5">
            <a:extLst>
              <a:ext uri="{FF2B5EF4-FFF2-40B4-BE49-F238E27FC236}">
                <a16:creationId xmlns:a16="http://schemas.microsoft.com/office/drawing/2014/main" id="{2EEAFDFC-6AC5-4AD2-BF4F-6157EAEE2AFC}"/>
              </a:ext>
            </a:extLst>
          </p:cNvPr>
          <p:cNvSpPr>
            <a:spLocks noChangeShapeType="1"/>
          </p:cNvSpPr>
          <p:nvPr/>
        </p:nvSpPr>
        <p:spPr bwMode="auto">
          <a:xfrm>
            <a:off x="5259218" y="4984750"/>
            <a:ext cx="0" cy="18732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7" name="Rectangle 6">
            <a:extLst>
              <a:ext uri="{FF2B5EF4-FFF2-40B4-BE49-F238E27FC236}">
                <a16:creationId xmlns:a16="http://schemas.microsoft.com/office/drawing/2014/main" id="{BA4C2F60-1462-4EB1-9996-1F98089258E5}"/>
              </a:ext>
            </a:extLst>
          </p:cNvPr>
          <p:cNvSpPr>
            <a:spLocks noChangeArrowheads="1"/>
          </p:cNvSpPr>
          <p:nvPr/>
        </p:nvSpPr>
        <p:spPr bwMode="auto">
          <a:xfrm>
            <a:off x="3954293" y="4984750"/>
            <a:ext cx="309562"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68" name="Rectangle 7">
            <a:extLst>
              <a:ext uri="{FF2B5EF4-FFF2-40B4-BE49-F238E27FC236}">
                <a16:creationId xmlns:a16="http://schemas.microsoft.com/office/drawing/2014/main" id="{FBBDAF6F-06AD-4C17-BA0C-63CCEBDF0336}"/>
              </a:ext>
            </a:extLst>
          </p:cNvPr>
          <p:cNvSpPr>
            <a:spLocks noChangeArrowheads="1"/>
          </p:cNvSpPr>
          <p:nvPr/>
        </p:nvSpPr>
        <p:spPr bwMode="auto">
          <a:xfrm>
            <a:off x="4863930" y="4972050"/>
            <a:ext cx="395288" cy="18415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69" name="Oval 8">
            <a:extLst>
              <a:ext uri="{FF2B5EF4-FFF2-40B4-BE49-F238E27FC236}">
                <a16:creationId xmlns:a16="http://schemas.microsoft.com/office/drawing/2014/main" id="{787F4ACB-E2A9-4082-AE6D-EC9267AC9102}"/>
              </a:ext>
            </a:extLst>
          </p:cNvPr>
          <p:cNvSpPr>
            <a:spLocks noChangeArrowheads="1"/>
          </p:cNvSpPr>
          <p:nvPr/>
        </p:nvSpPr>
        <p:spPr bwMode="auto">
          <a:xfrm>
            <a:off x="3949530" y="4786313"/>
            <a:ext cx="1306513" cy="352425"/>
          </a:xfrm>
          <a:prstGeom prst="ellipse">
            <a:avLst/>
          </a:prstGeom>
          <a:solidFill>
            <a:srgbClr val="80808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70" name="Group 9">
            <a:extLst>
              <a:ext uri="{FF2B5EF4-FFF2-40B4-BE49-F238E27FC236}">
                <a16:creationId xmlns:a16="http://schemas.microsoft.com/office/drawing/2014/main" id="{7C957536-CCB7-44B9-BA80-CE0068D83610}"/>
              </a:ext>
            </a:extLst>
          </p:cNvPr>
          <p:cNvGrpSpPr>
            <a:grpSpLocks/>
          </p:cNvGrpSpPr>
          <p:nvPr/>
        </p:nvGrpSpPr>
        <p:grpSpPr bwMode="auto">
          <a:xfrm>
            <a:off x="4255918" y="4843463"/>
            <a:ext cx="647700" cy="206375"/>
            <a:chOff x="2848" y="848"/>
            <a:chExt cx="140" cy="98"/>
          </a:xfrm>
        </p:grpSpPr>
        <p:sp>
          <p:nvSpPr>
            <p:cNvPr id="171" name="Line 10">
              <a:extLst>
                <a:ext uri="{FF2B5EF4-FFF2-40B4-BE49-F238E27FC236}">
                  <a16:creationId xmlns:a16="http://schemas.microsoft.com/office/drawing/2014/main" id="{1D748489-F2B4-4C01-A853-770C58BCC3C4}"/>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11">
              <a:extLst>
                <a:ext uri="{FF2B5EF4-FFF2-40B4-BE49-F238E27FC236}">
                  <a16:creationId xmlns:a16="http://schemas.microsoft.com/office/drawing/2014/main" id="{A7E05E3E-C30A-44D0-8997-A0757C4BAB48}"/>
                </a:ext>
              </a:extLst>
            </p:cNvPr>
            <p:cNvSpPr>
              <a:spLocks noChangeShapeType="1"/>
            </p:cNvSpPr>
            <p:nvPr/>
          </p:nvSpPr>
          <p:spPr bwMode="auto">
            <a:xfrm>
              <a:off x="2944" y="946"/>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12">
              <a:extLst>
                <a:ext uri="{FF2B5EF4-FFF2-40B4-BE49-F238E27FC236}">
                  <a16:creationId xmlns:a16="http://schemas.microsoft.com/office/drawing/2014/main" id="{D6E29EEC-DDC7-44EF-87B8-88CCF3FC87D0}"/>
                </a:ext>
              </a:extLst>
            </p:cNvPr>
            <p:cNvSpPr>
              <a:spLocks noChangeShapeType="1"/>
            </p:cNvSpPr>
            <p:nvPr/>
          </p:nvSpPr>
          <p:spPr bwMode="auto">
            <a:xfrm>
              <a:off x="2894" y="850"/>
              <a:ext cx="52" cy="9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4" name="Line 13">
            <a:extLst>
              <a:ext uri="{FF2B5EF4-FFF2-40B4-BE49-F238E27FC236}">
                <a16:creationId xmlns:a16="http://schemas.microsoft.com/office/drawing/2014/main" id="{FF99E0F2-306A-4AB0-9CCB-F2D586D10ACD}"/>
              </a:ext>
            </a:extLst>
          </p:cNvPr>
          <p:cNvSpPr>
            <a:spLocks noChangeShapeType="1"/>
          </p:cNvSpPr>
          <p:nvPr/>
        </p:nvSpPr>
        <p:spPr bwMode="auto">
          <a:xfrm>
            <a:off x="4255918" y="5041900"/>
            <a:ext cx="231775" cy="476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 name="Line 14">
            <a:extLst>
              <a:ext uri="{FF2B5EF4-FFF2-40B4-BE49-F238E27FC236}">
                <a16:creationId xmlns:a16="http://schemas.microsoft.com/office/drawing/2014/main" id="{1A56D167-B8EF-48C6-8471-ABD07383B76A}"/>
              </a:ext>
            </a:extLst>
          </p:cNvPr>
          <p:cNvSpPr>
            <a:spLocks noChangeShapeType="1"/>
          </p:cNvSpPr>
          <p:nvPr/>
        </p:nvSpPr>
        <p:spPr bwMode="auto">
          <a:xfrm flipV="1">
            <a:off x="4700418" y="4841875"/>
            <a:ext cx="2032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15">
            <a:extLst>
              <a:ext uri="{FF2B5EF4-FFF2-40B4-BE49-F238E27FC236}">
                <a16:creationId xmlns:a16="http://schemas.microsoft.com/office/drawing/2014/main" id="{A68E7743-07F0-4FE2-B875-DCCD0060A26B}"/>
              </a:ext>
            </a:extLst>
          </p:cNvPr>
          <p:cNvSpPr>
            <a:spLocks noChangeShapeType="1"/>
          </p:cNvSpPr>
          <p:nvPr/>
        </p:nvSpPr>
        <p:spPr bwMode="auto">
          <a:xfrm flipV="1">
            <a:off x="4468643" y="4841875"/>
            <a:ext cx="24130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Line 16">
            <a:extLst>
              <a:ext uri="{FF2B5EF4-FFF2-40B4-BE49-F238E27FC236}">
                <a16:creationId xmlns:a16="http://schemas.microsoft.com/office/drawing/2014/main" id="{C7271D2F-F534-41B7-ABEF-C6C378F95794}"/>
              </a:ext>
            </a:extLst>
          </p:cNvPr>
          <p:cNvSpPr>
            <a:spLocks noChangeShapeType="1"/>
          </p:cNvSpPr>
          <p:nvPr/>
        </p:nvSpPr>
        <p:spPr bwMode="auto">
          <a:xfrm flipH="1">
            <a:off x="2582693" y="4538663"/>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 name="Line 17">
            <a:extLst>
              <a:ext uri="{FF2B5EF4-FFF2-40B4-BE49-F238E27FC236}">
                <a16:creationId xmlns:a16="http://schemas.microsoft.com/office/drawing/2014/main" id="{6ECD4308-D2F1-4C12-8B74-66F77FF80FB4}"/>
              </a:ext>
            </a:extLst>
          </p:cNvPr>
          <p:cNvSpPr>
            <a:spLocks noChangeShapeType="1"/>
          </p:cNvSpPr>
          <p:nvPr/>
        </p:nvSpPr>
        <p:spPr bwMode="auto">
          <a:xfrm flipH="1">
            <a:off x="3179593" y="4538663"/>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9" name="Group 58">
            <a:extLst>
              <a:ext uri="{FF2B5EF4-FFF2-40B4-BE49-F238E27FC236}">
                <a16:creationId xmlns:a16="http://schemas.microsoft.com/office/drawing/2014/main" id="{9E8E0F9C-A03E-4D61-A13B-D2A5200078BF}"/>
              </a:ext>
            </a:extLst>
          </p:cNvPr>
          <p:cNvGrpSpPr>
            <a:grpSpLocks/>
          </p:cNvGrpSpPr>
          <p:nvPr/>
        </p:nvGrpSpPr>
        <p:grpSpPr bwMode="auto">
          <a:xfrm>
            <a:off x="2509668" y="3224213"/>
            <a:ext cx="798512" cy="1166812"/>
            <a:chOff x="12762" y="10336"/>
            <a:chExt cx="1027" cy="1700"/>
          </a:xfrm>
        </p:grpSpPr>
        <p:sp>
          <p:nvSpPr>
            <p:cNvPr id="180" name="Rectangle 59">
              <a:extLst>
                <a:ext uri="{FF2B5EF4-FFF2-40B4-BE49-F238E27FC236}">
                  <a16:creationId xmlns:a16="http://schemas.microsoft.com/office/drawing/2014/main" id="{A4C42C8E-21D0-4023-926B-E9C5F6075C28}"/>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81" name="Rectangle 60">
              <a:extLst>
                <a:ext uri="{FF2B5EF4-FFF2-40B4-BE49-F238E27FC236}">
                  <a16:creationId xmlns:a16="http://schemas.microsoft.com/office/drawing/2014/main" id="{CC488010-4E37-4439-BCC7-AB6E98A6C00C}"/>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82" name="Line 61">
              <a:extLst>
                <a:ext uri="{FF2B5EF4-FFF2-40B4-BE49-F238E27FC236}">
                  <a16:creationId xmlns:a16="http://schemas.microsoft.com/office/drawing/2014/main" id="{DA280663-E40D-45F9-A170-1A96B9E162E4}"/>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 name="Line 62">
              <a:extLst>
                <a:ext uri="{FF2B5EF4-FFF2-40B4-BE49-F238E27FC236}">
                  <a16:creationId xmlns:a16="http://schemas.microsoft.com/office/drawing/2014/main" id="{219E143B-87CC-462F-873F-6E202E98F1DA}"/>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 name="Line 63">
              <a:extLst>
                <a:ext uri="{FF2B5EF4-FFF2-40B4-BE49-F238E27FC236}">
                  <a16:creationId xmlns:a16="http://schemas.microsoft.com/office/drawing/2014/main" id="{A8A1D0DC-8ABD-4126-BF29-2177947AB13F}"/>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 name="Line 64">
              <a:extLst>
                <a:ext uri="{FF2B5EF4-FFF2-40B4-BE49-F238E27FC236}">
                  <a16:creationId xmlns:a16="http://schemas.microsoft.com/office/drawing/2014/main" id="{2D1B71FB-B7EE-43F3-B420-ADD81A2F5212}"/>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7" name="Text Box 66">
            <a:extLst>
              <a:ext uri="{FF2B5EF4-FFF2-40B4-BE49-F238E27FC236}">
                <a16:creationId xmlns:a16="http://schemas.microsoft.com/office/drawing/2014/main" id="{F0D82478-3946-4706-9137-1EBD4F494E4B}"/>
              </a:ext>
            </a:extLst>
          </p:cNvPr>
          <p:cNvSpPr txBox="1">
            <a:spLocks noChangeArrowheads="1"/>
          </p:cNvSpPr>
          <p:nvPr/>
        </p:nvSpPr>
        <p:spPr bwMode="auto">
          <a:xfrm>
            <a:off x="3527255" y="31099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in</a:t>
            </a:r>
            <a:endParaRPr lang="en-US" altLang="zh-CN">
              <a:solidFill>
                <a:schemeClr val="tx2"/>
              </a:solidFill>
              <a:latin typeface="Comic Sans MS" panose="030F0702030302020204" pitchFamily="66" charset="0"/>
            </a:endParaRPr>
          </a:p>
        </p:txBody>
      </p:sp>
      <p:sp>
        <p:nvSpPr>
          <p:cNvPr id="188" name="Line 67">
            <a:extLst>
              <a:ext uri="{FF2B5EF4-FFF2-40B4-BE49-F238E27FC236}">
                <a16:creationId xmlns:a16="http://schemas.microsoft.com/office/drawing/2014/main" id="{43568D88-686B-423F-AAB7-5EDAB293F4C7}"/>
              </a:ext>
            </a:extLst>
          </p:cNvPr>
          <p:cNvSpPr>
            <a:spLocks noChangeShapeType="1"/>
          </p:cNvSpPr>
          <p:nvPr/>
        </p:nvSpPr>
        <p:spPr bwMode="auto">
          <a:xfrm flipH="1">
            <a:off x="2044530" y="5643563"/>
            <a:ext cx="538163"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9" name="Group 108">
            <a:extLst>
              <a:ext uri="{FF2B5EF4-FFF2-40B4-BE49-F238E27FC236}">
                <a16:creationId xmlns:a16="http://schemas.microsoft.com/office/drawing/2014/main" id="{D8248D9D-AD0B-4DDA-869D-80999FF25C9C}"/>
              </a:ext>
            </a:extLst>
          </p:cNvPr>
          <p:cNvGrpSpPr>
            <a:grpSpLocks/>
          </p:cNvGrpSpPr>
          <p:nvPr/>
        </p:nvGrpSpPr>
        <p:grpSpPr bwMode="auto">
          <a:xfrm>
            <a:off x="1457155" y="4378325"/>
            <a:ext cx="798513" cy="1166813"/>
            <a:chOff x="12762" y="10336"/>
            <a:chExt cx="1027" cy="1700"/>
          </a:xfrm>
        </p:grpSpPr>
        <p:sp>
          <p:nvSpPr>
            <p:cNvPr id="190" name="Rectangle 109">
              <a:extLst>
                <a:ext uri="{FF2B5EF4-FFF2-40B4-BE49-F238E27FC236}">
                  <a16:creationId xmlns:a16="http://schemas.microsoft.com/office/drawing/2014/main" id="{83115EBC-A247-4AD5-9917-1531E0896FCE}"/>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91" name="Rectangle 110">
              <a:extLst>
                <a:ext uri="{FF2B5EF4-FFF2-40B4-BE49-F238E27FC236}">
                  <a16:creationId xmlns:a16="http://schemas.microsoft.com/office/drawing/2014/main" id="{C76C606D-143C-4FA8-A4CA-5BB2C8204072}"/>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92" name="Line 111">
              <a:extLst>
                <a:ext uri="{FF2B5EF4-FFF2-40B4-BE49-F238E27FC236}">
                  <a16:creationId xmlns:a16="http://schemas.microsoft.com/office/drawing/2014/main" id="{AACF613F-6F29-469C-A826-C0F0D3C5C1EC}"/>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 name="Line 112">
              <a:extLst>
                <a:ext uri="{FF2B5EF4-FFF2-40B4-BE49-F238E27FC236}">
                  <a16:creationId xmlns:a16="http://schemas.microsoft.com/office/drawing/2014/main" id="{C2F5043E-AED0-4C91-AC4A-B567D8B017F4}"/>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 name="Line 113">
              <a:extLst>
                <a:ext uri="{FF2B5EF4-FFF2-40B4-BE49-F238E27FC236}">
                  <a16:creationId xmlns:a16="http://schemas.microsoft.com/office/drawing/2014/main" id="{89D17CF7-046B-4D4B-AB99-635AA39B5F79}"/>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5" name="Line 114">
              <a:extLst>
                <a:ext uri="{FF2B5EF4-FFF2-40B4-BE49-F238E27FC236}">
                  <a16:creationId xmlns:a16="http://schemas.microsoft.com/office/drawing/2014/main" id="{B298E308-9178-4058-9278-DA491F543D7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6" name="Line 116">
            <a:extLst>
              <a:ext uri="{FF2B5EF4-FFF2-40B4-BE49-F238E27FC236}">
                <a16:creationId xmlns:a16="http://schemas.microsoft.com/office/drawing/2014/main" id="{0909A514-85C7-4C7A-A97F-580B916E8767}"/>
              </a:ext>
            </a:extLst>
          </p:cNvPr>
          <p:cNvSpPr>
            <a:spLocks noChangeShapeType="1"/>
          </p:cNvSpPr>
          <p:nvPr/>
        </p:nvSpPr>
        <p:spPr bwMode="auto">
          <a:xfrm flipH="1">
            <a:off x="3179593" y="5054600"/>
            <a:ext cx="749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7" name="Line 117">
            <a:extLst>
              <a:ext uri="{FF2B5EF4-FFF2-40B4-BE49-F238E27FC236}">
                <a16:creationId xmlns:a16="http://schemas.microsoft.com/office/drawing/2014/main" id="{1DE20FB8-62EE-4F23-AD85-D2C1FAC1AEAE}"/>
              </a:ext>
            </a:extLst>
          </p:cNvPr>
          <p:cNvSpPr>
            <a:spLocks noChangeShapeType="1"/>
          </p:cNvSpPr>
          <p:nvPr/>
        </p:nvSpPr>
        <p:spPr bwMode="auto">
          <a:xfrm flipH="1">
            <a:off x="5168730" y="5054600"/>
            <a:ext cx="747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 name="Line 118">
            <a:extLst>
              <a:ext uri="{FF2B5EF4-FFF2-40B4-BE49-F238E27FC236}">
                <a16:creationId xmlns:a16="http://schemas.microsoft.com/office/drawing/2014/main" id="{DC6ACA9A-8D2A-41D1-8F82-9FE1AB4E9BEA}"/>
              </a:ext>
            </a:extLst>
          </p:cNvPr>
          <p:cNvSpPr>
            <a:spLocks noChangeShapeType="1"/>
          </p:cNvSpPr>
          <p:nvPr/>
        </p:nvSpPr>
        <p:spPr bwMode="auto">
          <a:xfrm flipH="1">
            <a:off x="5319543" y="4538663"/>
            <a:ext cx="1135062" cy="1117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119">
            <a:extLst>
              <a:ext uri="{FF2B5EF4-FFF2-40B4-BE49-F238E27FC236}">
                <a16:creationId xmlns:a16="http://schemas.microsoft.com/office/drawing/2014/main" id="{8500B186-FE44-4F45-BEED-216472EBC6F1}"/>
              </a:ext>
            </a:extLst>
          </p:cNvPr>
          <p:cNvSpPr>
            <a:spLocks noChangeShapeType="1"/>
          </p:cNvSpPr>
          <p:nvPr/>
        </p:nvSpPr>
        <p:spPr bwMode="auto">
          <a:xfrm flipH="1">
            <a:off x="5308430" y="5656263"/>
            <a:ext cx="677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 name="Line 120">
            <a:extLst>
              <a:ext uri="{FF2B5EF4-FFF2-40B4-BE49-F238E27FC236}">
                <a16:creationId xmlns:a16="http://schemas.microsoft.com/office/drawing/2014/main" id="{ABA09E6A-36B8-4A62-A516-94396F0DDAC3}"/>
              </a:ext>
            </a:extLst>
          </p:cNvPr>
          <p:cNvSpPr>
            <a:spLocks noChangeShapeType="1"/>
          </p:cNvSpPr>
          <p:nvPr/>
        </p:nvSpPr>
        <p:spPr bwMode="auto">
          <a:xfrm flipH="1">
            <a:off x="6418093" y="4551363"/>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01" name="Group 161">
            <a:extLst>
              <a:ext uri="{FF2B5EF4-FFF2-40B4-BE49-F238E27FC236}">
                <a16:creationId xmlns:a16="http://schemas.microsoft.com/office/drawing/2014/main" id="{781A5812-5814-46B5-BA73-4F113597F927}"/>
              </a:ext>
            </a:extLst>
          </p:cNvPr>
          <p:cNvGrpSpPr>
            <a:grpSpLocks/>
          </p:cNvGrpSpPr>
          <p:nvPr/>
        </p:nvGrpSpPr>
        <p:grpSpPr bwMode="auto">
          <a:xfrm>
            <a:off x="6802268" y="3359150"/>
            <a:ext cx="798512" cy="1166813"/>
            <a:chOff x="12762" y="10336"/>
            <a:chExt cx="1027" cy="1700"/>
          </a:xfrm>
        </p:grpSpPr>
        <p:sp>
          <p:nvSpPr>
            <p:cNvPr id="202" name="Rectangle 162">
              <a:extLst>
                <a:ext uri="{FF2B5EF4-FFF2-40B4-BE49-F238E27FC236}">
                  <a16:creationId xmlns:a16="http://schemas.microsoft.com/office/drawing/2014/main" id="{914EC049-4DDF-4685-9680-A663E5D86315}"/>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03" name="Rectangle 163">
              <a:extLst>
                <a:ext uri="{FF2B5EF4-FFF2-40B4-BE49-F238E27FC236}">
                  <a16:creationId xmlns:a16="http://schemas.microsoft.com/office/drawing/2014/main" id="{986C85FB-6CBB-4235-9A9E-49C32B3D59F4}"/>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04" name="Line 164">
              <a:extLst>
                <a:ext uri="{FF2B5EF4-FFF2-40B4-BE49-F238E27FC236}">
                  <a16:creationId xmlns:a16="http://schemas.microsoft.com/office/drawing/2014/main" id="{15A37404-68BF-4AC0-AAE0-5AB07F144331}"/>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 name="Line 165">
              <a:extLst>
                <a:ext uri="{FF2B5EF4-FFF2-40B4-BE49-F238E27FC236}">
                  <a16:creationId xmlns:a16="http://schemas.microsoft.com/office/drawing/2014/main" id="{4C4966E3-5901-446A-8C44-0AFC8DA76198}"/>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 name="Line 166">
              <a:extLst>
                <a:ext uri="{FF2B5EF4-FFF2-40B4-BE49-F238E27FC236}">
                  <a16:creationId xmlns:a16="http://schemas.microsoft.com/office/drawing/2014/main" id="{B2BCEF58-0FDB-4778-9C64-4F1C0D9D0B26}"/>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 name="Line 167">
              <a:extLst>
                <a:ext uri="{FF2B5EF4-FFF2-40B4-BE49-F238E27FC236}">
                  <a16:creationId xmlns:a16="http://schemas.microsoft.com/office/drawing/2014/main" id="{6DE72B1B-DF88-4888-BD89-A0D449E2E2D1}"/>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8" name="Group 208">
            <a:extLst>
              <a:ext uri="{FF2B5EF4-FFF2-40B4-BE49-F238E27FC236}">
                <a16:creationId xmlns:a16="http://schemas.microsoft.com/office/drawing/2014/main" id="{81FD1CDA-1B1D-4AF2-BA4C-E9D5A543805A}"/>
              </a:ext>
            </a:extLst>
          </p:cNvPr>
          <p:cNvGrpSpPr>
            <a:grpSpLocks/>
          </p:cNvGrpSpPr>
          <p:nvPr/>
        </p:nvGrpSpPr>
        <p:grpSpPr bwMode="auto">
          <a:xfrm>
            <a:off x="6333955" y="4672013"/>
            <a:ext cx="798513" cy="1168400"/>
            <a:chOff x="12762" y="10336"/>
            <a:chExt cx="1027" cy="1700"/>
          </a:xfrm>
        </p:grpSpPr>
        <p:sp>
          <p:nvSpPr>
            <p:cNvPr id="209" name="Rectangle 209">
              <a:extLst>
                <a:ext uri="{FF2B5EF4-FFF2-40B4-BE49-F238E27FC236}">
                  <a16:creationId xmlns:a16="http://schemas.microsoft.com/office/drawing/2014/main" id="{72AD7BAB-0160-46F9-B4E2-B9BDD293D9E4}"/>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10" name="Rectangle 210">
              <a:extLst>
                <a:ext uri="{FF2B5EF4-FFF2-40B4-BE49-F238E27FC236}">
                  <a16:creationId xmlns:a16="http://schemas.microsoft.com/office/drawing/2014/main" id="{0C8A636D-9455-4BD5-AEFE-ACD5AEE203EA}"/>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11" name="Line 211">
              <a:extLst>
                <a:ext uri="{FF2B5EF4-FFF2-40B4-BE49-F238E27FC236}">
                  <a16:creationId xmlns:a16="http://schemas.microsoft.com/office/drawing/2014/main" id="{280CE52F-E43D-4F2F-B5C8-B31984A50F36}"/>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Line 212">
              <a:extLst>
                <a:ext uri="{FF2B5EF4-FFF2-40B4-BE49-F238E27FC236}">
                  <a16:creationId xmlns:a16="http://schemas.microsoft.com/office/drawing/2014/main" id="{6C8E79D0-462C-454F-94E0-A318221CA5D7}"/>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3" name="Line 213">
              <a:extLst>
                <a:ext uri="{FF2B5EF4-FFF2-40B4-BE49-F238E27FC236}">
                  <a16:creationId xmlns:a16="http://schemas.microsoft.com/office/drawing/2014/main" id="{A9F63A04-02A4-4D0E-A10E-0A106C6676C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Line 214">
              <a:extLst>
                <a:ext uri="{FF2B5EF4-FFF2-40B4-BE49-F238E27FC236}">
                  <a16:creationId xmlns:a16="http://schemas.microsoft.com/office/drawing/2014/main" id="{4E16657E-0392-4E2B-A11E-4507F977C334}"/>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 name="Oval 215">
            <a:extLst>
              <a:ext uri="{FF2B5EF4-FFF2-40B4-BE49-F238E27FC236}">
                <a16:creationId xmlns:a16="http://schemas.microsoft.com/office/drawing/2014/main" id="{98FCD7AC-88C2-45CD-8A67-278AF07B9BF9}"/>
              </a:ext>
            </a:extLst>
          </p:cNvPr>
          <p:cNvSpPr>
            <a:spLocks noChangeArrowheads="1"/>
          </p:cNvSpPr>
          <p:nvPr/>
        </p:nvSpPr>
        <p:spPr bwMode="auto">
          <a:xfrm>
            <a:off x="2922418" y="32988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16" name="Oval 216">
            <a:extLst>
              <a:ext uri="{FF2B5EF4-FFF2-40B4-BE49-F238E27FC236}">
                <a16:creationId xmlns:a16="http://schemas.microsoft.com/office/drawing/2014/main" id="{64A938F7-CFB1-4B35-8B49-710B14B46455}"/>
              </a:ext>
            </a:extLst>
          </p:cNvPr>
          <p:cNvSpPr>
            <a:spLocks noChangeArrowheads="1"/>
          </p:cNvSpPr>
          <p:nvPr/>
        </p:nvSpPr>
        <p:spPr bwMode="auto">
          <a:xfrm>
            <a:off x="1763543" y="4427538"/>
            <a:ext cx="114300" cy="117475"/>
          </a:xfrm>
          <a:prstGeom prst="ellipse">
            <a:avLst/>
          </a:prstGeom>
          <a:solidFill>
            <a:srgbClr val="808080"/>
          </a:solidFill>
          <a:ln w="9525">
            <a:solidFill>
              <a:srgbClr val="80808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17" name="Text Box 217">
            <a:extLst>
              <a:ext uri="{FF2B5EF4-FFF2-40B4-BE49-F238E27FC236}">
                <a16:creationId xmlns:a16="http://schemas.microsoft.com/office/drawing/2014/main" id="{6323B00E-D3E5-498D-930B-EDCEB997CCF0}"/>
              </a:ext>
            </a:extLst>
          </p:cNvPr>
          <p:cNvSpPr txBox="1">
            <a:spLocks noChangeArrowheads="1"/>
          </p:cNvSpPr>
          <p:nvPr/>
        </p:nvSpPr>
        <p:spPr bwMode="auto">
          <a:xfrm>
            <a:off x="7742068" y="3311525"/>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grpSp>
        <p:nvGrpSpPr>
          <p:cNvPr id="218" name="Group 218">
            <a:extLst>
              <a:ext uri="{FF2B5EF4-FFF2-40B4-BE49-F238E27FC236}">
                <a16:creationId xmlns:a16="http://schemas.microsoft.com/office/drawing/2014/main" id="{489DFB03-78B4-456B-854E-9F601ABF3C99}"/>
              </a:ext>
            </a:extLst>
          </p:cNvPr>
          <p:cNvGrpSpPr>
            <a:grpSpLocks/>
          </p:cNvGrpSpPr>
          <p:nvPr/>
        </p:nvGrpSpPr>
        <p:grpSpPr bwMode="auto">
          <a:xfrm>
            <a:off x="4746455" y="4894263"/>
            <a:ext cx="385763" cy="319087"/>
            <a:chOff x="11283" y="10423"/>
            <a:chExt cx="475" cy="374"/>
          </a:xfrm>
        </p:grpSpPr>
        <p:sp>
          <p:nvSpPr>
            <p:cNvPr id="219" name="Rectangle 219">
              <a:extLst>
                <a:ext uri="{FF2B5EF4-FFF2-40B4-BE49-F238E27FC236}">
                  <a16:creationId xmlns:a16="http://schemas.microsoft.com/office/drawing/2014/main" id="{0684808D-501D-45BB-9D87-2B5A76B99169}"/>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20" name="Line 220">
              <a:extLst>
                <a:ext uri="{FF2B5EF4-FFF2-40B4-BE49-F238E27FC236}">
                  <a16:creationId xmlns:a16="http://schemas.microsoft.com/office/drawing/2014/main" id="{59871C22-FA6E-460C-AA47-CF27BDAE8CB7}"/>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 name="Line 221">
              <a:extLst>
                <a:ext uri="{FF2B5EF4-FFF2-40B4-BE49-F238E27FC236}">
                  <a16:creationId xmlns:a16="http://schemas.microsoft.com/office/drawing/2014/main" id="{6A7BECBA-7BC0-4209-A845-0DD63EDFFFC3}"/>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 name="Line 222">
              <a:extLst>
                <a:ext uri="{FF2B5EF4-FFF2-40B4-BE49-F238E27FC236}">
                  <a16:creationId xmlns:a16="http://schemas.microsoft.com/office/drawing/2014/main" id="{DAE7A871-F8CC-4B41-A205-3DE8B794CB5D}"/>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 name="Line 223">
              <a:extLst>
                <a:ext uri="{FF2B5EF4-FFF2-40B4-BE49-F238E27FC236}">
                  <a16:creationId xmlns:a16="http://schemas.microsoft.com/office/drawing/2014/main" id="{00D88662-4764-4994-B9DC-0B0A92DEB663}"/>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 name="Line 224">
              <a:extLst>
                <a:ext uri="{FF2B5EF4-FFF2-40B4-BE49-F238E27FC236}">
                  <a16:creationId xmlns:a16="http://schemas.microsoft.com/office/drawing/2014/main" id="{41715D3A-954C-4F23-8698-EA7006F5B5CD}"/>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 name="Line 225">
              <a:extLst>
                <a:ext uri="{FF2B5EF4-FFF2-40B4-BE49-F238E27FC236}">
                  <a16:creationId xmlns:a16="http://schemas.microsoft.com/office/drawing/2014/main" id="{82155BDA-E331-494F-B3CF-43270C0CE928}"/>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6" name="Line 226">
            <a:extLst>
              <a:ext uri="{FF2B5EF4-FFF2-40B4-BE49-F238E27FC236}">
                <a16:creationId xmlns:a16="http://schemas.microsoft.com/office/drawing/2014/main" id="{579F1B06-8031-40D4-AE97-028CEEB8291A}"/>
              </a:ext>
            </a:extLst>
          </p:cNvPr>
          <p:cNvSpPr>
            <a:spLocks noChangeShapeType="1"/>
          </p:cNvSpPr>
          <p:nvPr/>
        </p:nvSpPr>
        <p:spPr bwMode="auto">
          <a:xfrm>
            <a:off x="5003630" y="36782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7" name="Freeform 227">
            <a:extLst>
              <a:ext uri="{FF2B5EF4-FFF2-40B4-BE49-F238E27FC236}">
                <a16:creationId xmlns:a16="http://schemas.microsoft.com/office/drawing/2014/main" id="{4EA57EFE-C6A1-4E64-986C-A6E7135540D2}"/>
              </a:ext>
            </a:extLst>
          </p:cNvPr>
          <p:cNvSpPr>
            <a:spLocks/>
          </p:cNvSpPr>
          <p:nvPr/>
        </p:nvSpPr>
        <p:spPr bwMode="auto">
          <a:xfrm>
            <a:off x="1822280" y="4525963"/>
            <a:ext cx="4854575" cy="1228725"/>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80808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8" name="Freeform 228">
            <a:extLst>
              <a:ext uri="{FF2B5EF4-FFF2-40B4-BE49-F238E27FC236}">
                <a16:creationId xmlns:a16="http://schemas.microsoft.com/office/drawing/2014/main" id="{8F09408A-F5A3-4731-8A4A-249162EFCA71}"/>
              </a:ext>
            </a:extLst>
          </p:cNvPr>
          <p:cNvSpPr>
            <a:spLocks/>
          </p:cNvSpPr>
          <p:nvPr/>
        </p:nvSpPr>
        <p:spPr bwMode="auto">
          <a:xfrm>
            <a:off x="2981155" y="3359150"/>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9" name="Oval 229">
            <a:extLst>
              <a:ext uri="{FF2B5EF4-FFF2-40B4-BE49-F238E27FC236}">
                <a16:creationId xmlns:a16="http://schemas.microsoft.com/office/drawing/2014/main" id="{0B23AD20-0649-4694-8D54-A962997E999F}"/>
              </a:ext>
            </a:extLst>
          </p:cNvPr>
          <p:cNvSpPr>
            <a:spLocks noChangeArrowheads="1"/>
          </p:cNvSpPr>
          <p:nvPr/>
        </p:nvSpPr>
        <p:spPr bwMode="auto">
          <a:xfrm>
            <a:off x="2922418" y="35321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30" name="Text Box 230">
            <a:extLst>
              <a:ext uri="{FF2B5EF4-FFF2-40B4-BE49-F238E27FC236}">
                <a16:creationId xmlns:a16="http://schemas.microsoft.com/office/drawing/2014/main" id="{722AE4C9-DBEC-4535-AB96-949F69CB3728}"/>
              </a:ext>
            </a:extLst>
          </p:cNvPr>
          <p:cNvSpPr txBox="1">
            <a:spLocks noChangeArrowheads="1"/>
          </p:cNvSpPr>
          <p:nvPr/>
        </p:nvSpPr>
        <p:spPr bwMode="auto">
          <a:xfrm>
            <a:off x="3520905" y="34385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a:solidFill>
                  <a:srgbClr val="FF0000"/>
                </a:solidFill>
                <a:latin typeface="Arial" panose="020B0604020202020204" pitchFamily="34" charset="0"/>
              </a:rPr>
              <a:t>'</a:t>
            </a:r>
            <a:r>
              <a:rPr lang="en-US" altLang="zh-CN" sz="2000" baseline="-25000">
                <a:solidFill>
                  <a:srgbClr val="FF0000"/>
                </a:solidFill>
                <a:latin typeface="Arial" panose="020B0604020202020204" pitchFamily="34" charset="0"/>
              </a:rPr>
              <a:t>in</a:t>
            </a:r>
            <a:endParaRPr lang="en-US" altLang="zh-CN">
              <a:solidFill>
                <a:schemeClr val="tx2"/>
              </a:solidFill>
              <a:latin typeface="Comic Sans MS" panose="030F0702030302020204" pitchFamily="66" charset="0"/>
            </a:endParaRPr>
          </a:p>
        </p:txBody>
      </p:sp>
      <p:sp>
        <p:nvSpPr>
          <p:cNvPr id="231" name="Line 231">
            <a:extLst>
              <a:ext uri="{FF2B5EF4-FFF2-40B4-BE49-F238E27FC236}">
                <a16:creationId xmlns:a16="http://schemas.microsoft.com/office/drawing/2014/main" id="{98AE52E5-4CF5-4088-8C09-27E9C02E2E8C}"/>
              </a:ext>
            </a:extLst>
          </p:cNvPr>
          <p:cNvSpPr>
            <a:spLocks noChangeShapeType="1"/>
          </p:cNvSpPr>
          <p:nvPr/>
        </p:nvSpPr>
        <p:spPr bwMode="auto">
          <a:xfrm>
            <a:off x="3068468" y="3598863"/>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32" name="Line 232">
            <a:extLst>
              <a:ext uri="{FF2B5EF4-FFF2-40B4-BE49-F238E27FC236}">
                <a16:creationId xmlns:a16="http://schemas.microsoft.com/office/drawing/2014/main" id="{1741F457-E1CF-463B-8380-3475C9021787}"/>
              </a:ext>
            </a:extLst>
          </p:cNvPr>
          <p:cNvSpPr>
            <a:spLocks noChangeShapeType="1"/>
          </p:cNvSpPr>
          <p:nvPr/>
        </p:nvSpPr>
        <p:spPr bwMode="auto">
          <a:xfrm>
            <a:off x="3063705" y="3365500"/>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33" name="Line 233">
            <a:extLst>
              <a:ext uri="{FF2B5EF4-FFF2-40B4-BE49-F238E27FC236}">
                <a16:creationId xmlns:a16="http://schemas.microsoft.com/office/drawing/2014/main" id="{7D8748D1-07C1-49C1-A612-DDDCA089858E}"/>
              </a:ext>
            </a:extLst>
          </p:cNvPr>
          <p:cNvSpPr>
            <a:spLocks noChangeShapeType="1"/>
          </p:cNvSpPr>
          <p:nvPr/>
        </p:nvSpPr>
        <p:spPr bwMode="auto">
          <a:xfrm>
            <a:off x="7275343" y="3517900"/>
            <a:ext cx="514350" cy="0"/>
          </a:xfrm>
          <a:prstGeom prst="line">
            <a:avLst/>
          </a:prstGeom>
          <a:noFill/>
          <a:ln w="1270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234" name="Rectangle 234">
            <a:extLst>
              <a:ext uri="{FF2B5EF4-FFF2-40B4-BE49-F238E27FC236}">
                <a16:creationId xmlns:a16="http://schemas.microsoft.com/office/drawing/2014/main" id="{BF8D4626-4AB8-4AC3-817E-B1CC210D8AFF}"/>
              </a:ext>
            </a:extLst>
          </p:cNvPr>
          <p:cNvSpPr>
            <a:spLocks noChangeArrowheads="1"/>
          </p:cNvSpPr>
          <p:nvPr/>
        </p:nvSpPr>
        <p:spPr bwMode="auto">
          <a:xfrm>
            <a:off x="2870030" y="3273425"/>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35" name="Rectangle 235">
            <a:extLst>
              <a:ext uri="{FF2B5EF4-FFF2-40B4-BE49-F238E27FC236}">
                <a16:creationId xmlns:a16="http://schemas.microsoft.com/office/drawing/2014/main" id="{3E62EA73-216F-4724-B004-E7206D8D531C}"/>
              </a:ext>
            </a:extLst>
          </p:cNvPr>
          <p:cNvSpPr>
            <a:spLocks noChangeArrowheads="1"/>
          </p:cNvSpPr>
          <p:nvPr/>
        </p:nvSpPr>
        <p:spPr bwMode="auto">
          <a:xfrm>
            <a:off x="2539830" y="3506788"/>
            <a:ext cx="244475" cy="155575"/>
          </a:xfrm>
          <a:prstGeom prst="rect">
            <a:avLst/>
          </a:prstGeom>
          <a:solidFill>
            <a:schemeClr val="accent1"/>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36" name="Text Box 236">
            <a:extLst>
              <a:ext uri="{FF2B5EF4-FFF2-40B4-BE49-F238E27FC236}">
                <a16:creationId xmlns:a16="http://schemas.microsoft.com/office/drawing/2014/main" id="{8E8F512F-D494-40AF-97BD-5826984EEE46}"/>
              </a:ext>
            </a:extLst>
          </p:cNvPr>
          <p:cNvSpPr txBox="1">
            <a:spLocks noChangeArrowheads="1"/>
          </p:cNvSpPr>
          <p:nvPr/>
        </p:nvSpPr>
        <p:spPr bwMode="auto">
          <a:xfrm>
            <a:off x="1915943" y="3397250"/>
            <a:ext cx="543739"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dirty="0">
                <a:solidFill>
                  <a:srgbClr val="006600"/>
                </a:solidFill>
                <a:latin typeface="宋体" panose="02010600030101010101" pitchFamily="2" charset="-122"/>
                <a:ea typeface="宋体" panose="02010600030101010101" pitchFamily="2" charset="-122"/>
              </a:rPr>
              <a:t>复制</a:t>
            </a:r>
            <a:endParaRPr lang="en-US" sz="1400" dirty="0">
              <a:solidFill>
                <a:srgbClr val="006600"/>
              </a:solidFill>
              <a:latin typeface="宋体" panose="02010600030101010101" pitchFamily="2" charset="-122"/>
              <a:ea typeface="宋体" panose="02010600030101010101" pitchFamily="2" charset="-122"/>
            </a:endParaRPr>
          </a:p>
        </p:txBody>
      </p:sp>
      <p:sp>
        <p:nvSpPr>
          <p:cNvPr id="237" name="Text Box 237">
            <a:extLst>
              <a:ext uri="{FF2B5EF4-FFF2-40B4-BE49-F238E27FC236}">
                <a16:creationId xmlns:a16="http://schemas.microsoft.com/office/drawing/2014/main" id="{CDA39BC5-CCD4-45AC-A32E-658E96630BD3}"/>
              </a:ext>
            </a:extLst>
          </p:cNvPr>
          <p:cNvSpPr txBox="1">
            <a:spLocks noChangeArrowheads="1"/>
          </p:cNvSpPr>
          <p:nvPr/>
        </p:nvSpPr>
        <p:spPr bwMode="auto">
          <a:xfrm>
            <a:off x="3893151" y="4398547"/>
            <a:ext cx="1941557"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i="1" dirty="0">
                <a:solidFill>
                  <a:srgbClr val="006600"/>
                </a:solidFill>
                <a:latin typeface="Arial" charset="0"/>
              </a:rPr>
              <a:t>有空闲的缓存空间 </a:t>
            </a:r>
            <a:r>
              <a:rPr lang="en-US" i="1" dirty="0">
                <a:solidFill>
                  <a:srgbClr val="006600"/>
                </a:solidFill>
                <a:latin typeface="Arial" charset="0"/>
              </a:rPr>
              <a:t>!</a:t>
            </a:r>
          </a:p>
        </p:txBody>
      </p:sp>
      <p:grpSp>
        <p:nvGrpSpPr>
          <p:cNvPr id="238" name="Group 240">
            <a:extLst>
              <a:ext uri="{FF2B5EF4-FFF2-40B4-BE49-F238E27FC236}">
                <a16:creationId xmlns:a16="http://schemas.microsoft.com/office/drawing/2014/main" id="{F75FC53C-30DD-4E5A-9C43-0C9FE7686FDC}"/>
              </a:ext>
            </a:extLst>
          </p:cNvPr>
          <p:cNvGrpSpPr>
            <a:grpSpLocks/>
          </p:cNvGrpSpPr>
          <p:nvPr/>
        </p:nvGrpSpPr>
        <p:grpSpPr bwMode="auto">
          <a:xfrm>
            <a:off x="1544032" y="2969694"/>
            <a:ext cx="947737" cy="869950"/>
            <a:chOff x="3283" y="2142"/>
            <a:chExt cx="597" cy="548"/>
          </a:xfrm>
        </p:grpSpPr>
        <p:grpSp>
          <p:nvGrpSpPr>
            <p:cNvPr id="239" name="Group 241">
              <a:extLst>
                <a:ext uri="{FF2B5EF4-FFF2-40B4-BE49-F238E27FC236}">
                  <a16:creationId xmlns:a16="http://schemas.microsoft.com/office/drawing/2014/main" id="{75D553FD-FE25-4E29-9559-086DB2BF1CA9}"/>
                </a:ext>
              </a:extLst>
            </p:cNvPr>
            <p:cNvGrpSpPr>
              <a:grpSpLocks/>
            </p:cNvGrpSpPr>
            <p:nvPr/>
          </p:nvGrpSpPr>
          <p:grpSpPr bwMode="auto">
            <a:xfrm>
              <a:off x="3283" y="2387"/>
              <a:ext cx="597" cy="303"/>
              <a:chOff x="990" y="4570"/>
              <a:chExt cx="597" cy="380"/>
            </a:xfrm>
          </p:grpSpPr>
          <p:pic>
            <p:nvPicPr>
              <p:cNvPr id="242" name="Picture 242">
                <a:extLst>
                  <a:ext uri="{FF2B5EF4-FFF2-40B4-BE49-F238E27FC236}">
                    <a16:creationId xmlns:a16="http://schemas.microsoft.com/office/drawing/2014/main" id="{6D0C1043-FD46-484D-AB8C-9835117E31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43" name="Rectangle 243">
                <a:extLst>
                  <a:ext uri="{FF2B5EF4-FFF2-40B4-BE49-F238E27FC236}">
                    <a16:creationId xmlns:a16="http://schemas.microsoft.com/office/drawing/2014/main" id="{6F4392B9-D07D-4168-9315-E329DA7FE91A}"/>
                  </a:ext>
                </a:extLst>
              </p:cNvPr>
              <p:cNvSpPr>
                <a:spLocks noChangeArrowheads="1"/>
              </p:cNvSpPr>
              <p:nvPr/>
            </p:nvSpPr>
            <p:spPr bwMode="auto">
              <a:xfrm>
                <a:off x="1124" y="4679"/>
                <a:ext cx="360" cy="148"/>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40" name="Text Box 244">
              <a:extLst>
                <a:ext uri="{FF2B5EF4-FFF2-40B4-BE49-F238E27FC236}">
                  <a16:creationId xmlns:a16="http://schemas.microsoft.com/office/drawing/2014/main" id="{E028B3E4-CD8F-45A0-8940-25E61B84BA03}"/>
                </a:ext>
              </a:extLst>
            </p:cNvPr>
            <p:cNvSpPr txBox="1">
              <a:spLocks noChangeArrowheads="1"/>
            </p:cNvSpPr>
            <p:nvPr/>
          </p:nvSpPr>
          <p:spPr bwMode="auto">
            <a:xfrm>
              <a:off x="3343" y="2461"/>
              <a:ext cx="479" cy="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200" b="1" i="1" dirty="0">
                  <a:solidFill>
                    <a:schemeClr val="accent2"/>
                  </a:solidFill>
                  <a:latin typeface="Comic Sans MS" charset="0"/>
                </a:rPr>
                <a:t>timeout</a:t>
              </a:r>
            </a:p>
          </p:txBody>
        </p:sp>
        <p:pic>
          <p:nvPicPr>
            <p:cNvPr id="241" name="Picture 245">
              <a:extLst>
                <a:ext uri="{FF2B5EF4-FFF2-40B4-BE49-F238E27FC236}">
                  <a16:creationId xmlns:a16="http://schemas.microsoft.com/office/drawing/2014/main" id="{2400967E-2DC8-473C-BAE1-BD18603DAE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419" y="2142"/>
              <a:ext cx="262" cy="2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sp>
        <p:nvSpPr>
          <p:cNvPr id="245" name="Freeform 264">
            <a:extLst>
              <a:ext uri="{FF2B5EF4-FFF2-40B4-BE49-F238E27FC236}">
                <a16:creationId xmlns:a16="http://schemas.microsoft.com/office/drawing/2014/main" id="{22A52609-D2EC-4710-B335-8538F076F690}"/>
              </a:ext>
            </a:extLst>
          </p:cNvPr>
          <p:cNvSpPr>
            <a:spLocks/>
          </p:cNvSpPr>
          <p:nvPr/>
        </p:nvSpPr>
        <p:spPr bwMode="auto">
          <a:xfrm>
            <a:off x="7095955" y="4641850"/>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7" name="Freeform 267">
            <a:extLst>
              <a:ext uri="{FF2B5EF4-FFF2-40B4-BE49-F238E27FC236}">
                <a16:creationId xmlns:a16="http://schemas.microsoft.com/office/drawing/2014/main" id="{D99713EC-98CF-4980-8630-669D2F87A373}"/>
              </a:ext>
            </a:extLst>
          </p:cNvPr>
          <p:cNvSpPr>
            <a:spLocks/>
          </p:cNvSpPr>
          <p:nvPr/>
        </p:nvSpPr>
        <p:spPr bwMode="auto">
          <a:xfrm>
            <a:off x="7575380" y="3336925"/>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 name="Freeform 270">
            <a:extLst>
              <a:ext uri="{FF2B5EF4-FFF2-40B4-BE49-F238E27FC236}">
                <a16:creationId xmlns:a16="http://schemas.microsoft.com/office/drawing/2014/main" id="{8B9A6819-7279-4E43-832F-3AFEFDE0B765}"/>
              </a:ext>
            </a:extLst>
          </p:cNvPr>
          <p:cNvSpPr>
            <a:spLocks/>
          </p:cNvSpPr>
          <p:nvPr/>
        </p:nvSpPr>
        <p:spPr bwMode="auto">
          <a:xfrm flipH="1">
            <a:off x="1225380" y="4327525"/>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0" name="Group 288">
            <a:extLst>
              <a:ext uri="{FF2B5EF4-FFF2-40B4-BE49-F238E27FC236}">
                <a16:creationId xmlns:a16="http://schemas.microsoft.com/office/drawing/2014/main" id="{73831FF5-D12F-4907-989B-D879EFB6F91E}"/>
              </a:ext>
            </a:extLst>
          </p:cNvPr>
          <p:cNvGrpSpPr>
            <a:grpSpLocks/>
          </p:cNvGrpSpPr>
          <p:nvPr/>
        </p:nvGrpSpPr>
        <p:grpSpPr bwMode="auto">
          <a:xfrm>
            <a:off x="7711905" y="4224338"/>
            <a:ext cx="231775" cy="441325"/>
            <a:chOff x="4140" y="429"/>
            <a:chExt cx="1425" cy="2396"/>
          </a:xfrm>
        </p:grpSpPr>
        <p:sp>
          <p:nvSpPr>
            <p:cNvPr id="251" name="Freeform 289">
              <a:extLst>
                <a:ext uri="{FF2B5EF4-FFF2-40B4-BE49-F238E27FC236}">
                  <a16:creationId xmlns:a16="http://schemas.microsoft.com/office/drawing/2014/main" id="{C62E73D4-1212-41D3-AF20-C26F7FE092DC}"/>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2" name="Rectangle 290">
              <a:extLst>
                <a:ext uri="{FF2B5EF4-FFF2-40B4-BE49-F238E27FC236}">
                  <a16:creationId xmlns:a16="http://schemas.microsoft.com/office/drawing/2014/main" id="{92F2BD9A-9B84-43DC-B381-AD893AE6AE30}"/>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53" name="Freeform 291">
              <a:extLst>
                <a:ext uri="{FF2B5EF4-FFF2-40B4-BE49-F238E27FC236}">
                  <a16:creationId xmlns:a16="http://schemas.microsoft.com/office/drawing/2014/main" id="{792B01CC-8687-4D44-B62B-18207CA1DBA8}"/>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 name="Freeform 292">
              <a:extLst>
                <a:ext uri="{FF2B5EF4-FFF2-40B4-BE49-F238E27FC236}">
                  <a16:creationId xmlns:a16="http://schemas.microsoft.com/office/drawing/2014/main" id="{D191400A-7F1E-465F-B484-3CF565088E4C}"/>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5" name="Rectangle 293">
              <a:extLst>
                <a:ext uri="{FF2B5EF4-FFF2-40B4-BE49-F238E27FC236}">
                  <a16:creationId xmlns:a16="http://schemas.microsoft.com/office/drawing/2014/main" id="{C9747E3E-C594-4643-BF7F-A6A367476F0A}"/>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56" name="Group 294">
              <a:extLst>
                <a:ext uri="{FF2B5EF4-FFF2-40B4-BE49-F238E27FC236}">
                  <a16:creationId xmlns:a16="http://schemas.microsoft.com/office/drawing/2014/main" id="{12DDC493-1169-47C4-B185-94E3FD87D6D5}"/>
                </a:ext>
              </a:extLst>
            </p:cNvPr>
            <p:cNvGrpSpPr>
              <a:grpSpLocks/>
            </p:cNvGrpSpPr>
            <p:nvPr/>
          </p:nvGrpSpPr>
          <p:grpSpPr bwMode="auto">
            <a:xfrm>
              <a:off x="4749" y="668"/>
              <a:ext cx="581" cy="145"/>
              <a:chOff x="614" y="2568"/>
              <a:chExt cx="725" cy="139"/>
            </a:xfrm>
          </p:grpSpPr>
          <p:sp>
            <p:nvSpPr>
              <p:cNvPr id="281" name="AutoShape 295">
                <a:extLst>
                  <a:ext uri="{FF2B5EF4-FFF2-40B4-BE49-F238E27FC236}">
                    <a16:creationId xmlns:a16="http://schemas.microsoft.com/office/drawing/2014/main" id="{29B6309F-B319-4E28-A429-26FD2473A6FE}"/>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82" name="AutoShape 296">
                <a:extLst>
                  <a:ext uri="{FF2B5EF4-FFF2-40B4-BE49-F238E27FC236}">
                    <a16:creationId xmlns:a16="http://schemas.microsoft.com/office/drawing/2014/main" id="{69984F0F-98A8-4B29-8DBD-1294AFA30179}"/>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57" name="Rectangle 297">
              <a:extLst>
                <a:ext uri="{FF2B5EF4-FFF2-40B4-BE49-F238E27FC236}">
                  <a16:creationId xmlns:a16="http://schemas.microsoft.com/office/drawing/2014/main" id="{29D1F8A9-07C6-4A06-9BAF-2C8C6E26BDA3}"/>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58" name="Group 298">
              <a:extLst>
                <a:ext uri="{FF2B5EF4-FFF2-40B4-BE49-F238E27FC236}">
                  <a16:creationId xmlns:a16="http://schemas.microsoft.com/office/drawing/2014/main" id="{ED012273-DA50-4EE9-9D1D-C3891973CAA0}"/>
                </a:ext>
              </a:extLst>
            </p:cNvPr>
            <p:cNvGrpSpPr>
              <a:grpSpLocks/>
            </p:cNvGrpSpPr>
            <p:nvPr/>
          </p:nvGrpSpPr>
          <p:grpSpPr bwMode="auto">
            <a:xfrm>
              <a:off x="4747" y="994"/>
              <a:ext cx="581" cy="134"/>
              <a:chOff x="614" y="2568"/>
              <a:chExt cx="725" cy="139"/>
            </a:xfrm>
          </p:grpSpPr>
          <p:sp>
            <p:nvSpPr>
              <p:cNvPr id="279" name="AutoShape 299">
                <a:extLst>
                  <a:ext uri="{FF2B5EF4-FFF2-40B4-BE49-F238E27FC236}">
                    <a16:creationId xmlns:a16="http://schemas.microsoft.com/office/drawing/2014/main" id="{A7716206-735C-4EA0-A17D-039C76DB8550}"/>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80" name="AutoShape 300">
                <a:extLst>
                  <a:ext uri="{FF2B5EF4-FFF2-40B4-BE49-F238E27FC236}">
                    <a16:creationId xmlns:a16="http://schemas.microsoft.com/office/drawing/2014/main" id="{C13C169C-998E-4208-A0F8-7A0CA23075D3}"/>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59" name="Rectangle 301">
              <a:extLst>
                <a:ext uri="{FF2B5EF4-FFF2-40B4-BE49-F238E27FC236}">
                  <a16:creationId xmlns:a16="http://schemas.microsoft.com/office/drawing/2014/main" id="{036F0770-1006-4F58-B747-AB07E8ADF0A3}"/>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60" name="Rectangle 302">
              <a:extLst>
                <a:ext uri="{FF2B5EF4-FFF2-40B4-BE49-F238E27FC236}">
                  <a16:creationId xmlns:a16="http://schemas.microsoft.com/office/drawing/2014/main" id="{92CD9135-4B8F-45BB-A7E3-9E48A3617E49}"/>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61" name="Group 303">
              <a:extLst>
                <a:ext uri="{FF2B5EF4-FFF2-40B4-BE49-F238E27FC236}">
                  <a16:creationId xmlns:a16="http://schemas.microsoft.com/office/drawing/2014/main" id="{F16C982A-F98E-4CAE-AFFF-765B1DE705CC}"/>
                </a:ext>
              </a:extLst>
            </p:cNvPr>
            <p:cNvGrpSpPr>
              <a:grpSpLocks/>
            </p:cNvGrpSpPr>
            <p:nvPr/>
          </p:nvGrpSpPr>
          <p:grpSpPr bwMode="auto">
            <a:xfrm>
              <a:off x="4735" y="1627"/>
              <a:ext cx="582" cy="151"/>
              <a:chOff x="614" y="2568"/>
              <a:chExt cx="725" cy="139"/>
            </a:xfrm>
          </p:grpSpPr>
          <p:sp>
            <p:nvSpPr>
              <p:cNvPr id="277" name="AutoShape 304">
                <a:extLst>
                  <a:ext uri="{FF2B5EF4-FFF2-40B4-BE49-F238E27FC236}">
                    <a16:creationId xmlns:a16="http://schemas.microsoft.com/office/drawing/2014/main" id="{FA436DC9-B7E3-4ADC-9077-2DF28DDCDE2A}"/>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8" name="AutoShape 305">
                <a:extLst>
                  <a:ext uri="{FF2B5EF4-FFF2-40B4-BE49-F238E27FC236}">
                    <a16:creationId xmlns:a16="http://schemas.microsoft.com/office/drawing/2014/main" id="{B2F48D96-C54E-45E8-9F08-256880971074}"/>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62" name="Freeform 306">
              <a:extLst>
                <a:ext uri="{FF2B5EF4-FFF2-40B4-BE49-F238E27FC236}">
                  <a16:creationId xmlns:a16="http://schemas.microsoft.com/office/drawing/2014/main" id="{69C91773-909C-4E55-8E79-ABB946CD72AE}"/>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3" name="Group 307">
              <a:extLst>
                <a:ext uri="{FF2B5EF4-FFF2-40B4-BE49-F238E27FC236}">
                  <a16:creationId xmlns:a16="http://schemas.microsoft.com/office/drawing/2014/main" id="{F33773B7-101D-4FDE-9620-3B8B711EAA9F}"/>
                </a:ext>
              </a:extLst>
            </p:cNvPr>
            <p:cNvGrpSpPr>
              <a:grpSpLocks/>
            </p:cNvGrpSpPr>
            <p:nvPr/>
          </p:nvGrpSpPr>
          <p:grpSpPr bwMode="auto">
            <a:xfrm>
              <a:off x="4739" y="1327"/>
              <a:ext cx="582" cy="139"/>
              <a:chOff x="614" y="2568"/>
              <a:chExt cx="725" cy="139"/>
            </a:xfrm>
          </p:grpSpPr>
          <p:sp>
            <p:nvSpPr>
              <p:cNvPr id="275" name="AutoShape 308">
                <a:extLst>
                  <a:ext uri="{FF2B5EF4-FFF2-40B4-BE49-F238E27FC236}">
                    <a16:creationId xmlns:a16="http://schemas.microsoft.com/office/drawing/2014/main" id="{6822E28D-FD73-4771-B286-ED4E11FB388F}"/>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6" name="AutoShape 309">
                <a:extLst>
                  <a:ext uri="{FF2B5EF4-FFF2-40B4-BE49-F238E27FC236}">
                    <a16:creationId xmlns:a16="http://schemas.microsoft.com/office/drawing/2014/main" id="{B6644D3B-B78B-4E93-B628-1B1E00FB4DE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64" name="Rectangle 310">
              <a:extLst>
                <a:ext uri="{FF2B5EF4-FFF2-40B4-BE49-F238E27FC236}">
                  <a16:creationId xmlns:a16="http://schemas.microsoft.com/office/drawing/2014/main" id="{7AA412EB-B55C-437D-8FFF-97887EC6A40E}"/>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65" name="Freeform 311">
              <a:extLst>
                <a:ext uri="{FF2B5EF4-FFF2-40B4-BE49-F238E27FC236}">
                  <a16:creationId xmlns:a16="http://schemas.microsoft.com/office/drawing/2014/main" id="{130DA465-5A64-4453-A629-E32373470269}"/>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 name="Freeform 312">
              <a:extLst>
                <a:ext uri="{FF2B5EF4-FFF2-40B4-BE49-F238E27FC236}">
                  <a16:creationId xmlns:a16="http://schemas.microsoft.com/office/drawing/2014/main" id="{457D662E-A1F1-4DE2-A24D-7854FA18979C}"/>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 name="Oval 313">
              <a:extLst>
                <a:ext uri="{FF2B5EF4-FFF2-40B4-BE49-F238E27FC236}">
                  <a16:creationId xmlns:a16="http://schemas.microsoft.com/office/drawing/2014/main" id="{F690AA64-1762-4DC7-BBDC-E99EFA9F45B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68" name="Freeform 314">
              <a:extLst>
                <a:ext uri="{FF2B5EF4-FFF2-40B4-BE49-F238E27FC236}">
                  <a16:creationId xmlns:a16="http://schemas.microsoft.com/office/drawing/2014/main" id="{06A87878-C24E-4E6F-9C01-586744EADF06}"/>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9" name="AutoShape 315">
              <a:extLst>
                <a:ext uri="{FF2B5EF4-FFF2-40B4-BE49-F238E27FC236}">
                  <a16:creationId xmlns:a16="http://schemas.microsoft.com/office/drawing/2014/main" id="{8FAA5716-E949-4676-80AD-861124CA318E}"/>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0" name="AutoShape 316">
              <a:extLst>
                <a:ext uri="{FF2B5EF4-FFF2-40B4-BE49-F238E27FC236}">
                  <a16:creationId xmlns:a16="http://schemas.microsoft.com/office/drawing/2014/main" id="{CD4578FB-776C-4034-9EE6-EFC581F3A091}"/>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1" name="Oval 317">
              <a:extLst>
                <a:ext uri="{FF2B5EF4-FFF2-40B4-BE49-F238E27FC236}">
                  <a16:creationId xmlns:a16="http://schemas.microsoft.com/office/drawing/2014/main" id="{28B770CE-E0A3-4F5D-8573-9CA33C4CD43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2" name="Oval 318">
              <a:extLst>
                <a:ext uri="{FF2B5EF4-FFF2-40B4-BE49-F238E27FC236}">
                  <a16:creationId xmlns:a16="http://schemas.microsoft.com/office/drawing/2014/main" id="{E1B2282F-237B-46B5-8D10-97D20F61847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273" name="Oval 319">
              <a:extLst>
                <a:ext uri="{FF2B5EF4-FFF2-40B4-BE49-F238E27FC236}">
                  <a16:creationId xmlns:a16="http://schemas.microsoft.com/office/drawing/2014/main" id="{D2EDC319-DF7A-434B-9F47-7E69184B326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4" name="Rectangle 320">
              <a:extLst>
                <a:ext uri="{FF2B5EF4-FFF2-40B4-BE49-F238E27FC236}">
                  <a16:creationId xmlns:a16="http://schemas.microsoft.com/office/drawing/2014/main" id="{F0AD8D31-BD53-49DA-8832-0EE2F0244975}"/>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283" name="Group 321">
            <a:extLst>
              <a:ext uri="{FF2B5EF4-FFF2-40B4-BE49-F238E27FC236}">
                <a16:creationId xmlns:a16="http://schemas.microsoft.com/office/drawing/2014/main" id="{B57C05A3-BCB4-489D-B34C-12EE6B0ACF9E}"/>
              </a:ext>
            </a:extLst>
          </p:cNvPr>
          <p:cNvGrpSpPr>
            <a:grpSpLocks/>
          </p:cNvGrpSpPr>
          <p:nvPr/>
        </p:nvGrpSpPr>
        <p:grpSpPr bwMode="auto">
          <a:xfrm>
            <a:off x="7294393" y="5527675"/>
            <a:ext cx="231775" cy="441325"/>
            <a:chOff x="4140" y="429"/>
            <a:chExt cx="1425" cy="2396"/>
          </a:xfrm>
        </p:grpSpPr>
        <p:sp>
          <p:nvSpPr>
            <p:cNvPr id="284" name="Freeform 322">
              <a:extLst>
                <a:ext uri="{FF2B5EF4-FFF2-40B4-BE49-F238E27FC236}">
                  <a16:creationId xmlns:a16="http://schemas.microsoft.com/office/drawing/2014/main" id="{BA2CB592-892F-4EDF-81C1-B0C8368AFAEE}"/>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5" name="Rectangle 323">
              <a:extLst>
                <a:ext uri="{FF2B5EF4-FFF2-40B4-BE49-F238E27FC236}">
                  <a16:creationId xmlns:a16="http://schemas.microsoft.com/office/drawing/2014/main" id="{8180E9C7-0263-440D-9F8B-E61638BA9823}"/>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86" name="Freeform 324">
              <a:extLst>
                <a:ext uri="{FF2B5EF4-FFF2-40B4-BE49-F238E27FC236}">
                  <a16:creationId xmlns:a16="http://schemas.microsoft.com/office/drawing/2014/main" id="{E54F30B0-A7C4-4C75-9AB4-60EAE4AC155A}"/>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 name="Freeform 325">
              <a:extLst>
                <a:ext uri="{FF2B5EF4-FFF2-40B4-BE49-F238E27FC236}">
                  <a16:creationId xmlns:a16="http://schemas.microsoft.com/office/drawing/2014/main" id="{130D8C95-1F9B-4143-B379-039E20063080}"/>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 name="Rectangle 326">
              <a:extLst>
                <a:ext uri="{FF2B5EF4-FFF2-40B4-BE49-F238E27FC236}">
                  <a16:creationId xmlns:a16="http://schemas.microsoft.com/office/drawing/2014/main" id="{AF57CA45-CAF0-4AA0-99C5-C14685311307}"/>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89" name="Group 327">
              <a:extLst>
                <a:ext uri="{FF2B5EF4-FFF2-40B4-BE49-F238E27FC236}">
                  <a16:creationId xmlns:a16="http://schemas.microsoft.com/office/drawing/2014/main" id="{94FC12C3-07F5-4811-8448-EE42AF5B7D36}"/>
                </a:ext>
              </a:extLst>
            </p:cNvPr>
            <p:cNvGrpSpPr>
              <a:grpSpLocks/>
            </p:cNvGrpSpPr>
            <p:nvPr/>
          </p:nvGrpSpPr>
          <p:grpSpPr bwMode="auto">
            <a:xfrm>
              <a:off x="4749" y="668"/>
              <a:ext cx="581" cy="145"/>
              <a:chOff x="614" y="2568"/>
              <a:chExt cx="725" cy="139"/>
            </a:xfrm>
          </p:grpSpPr>
          <p:sp>
            <p:nvSpPr>
              <p:cNvPr id="314" name="AutoShape 328">
                <a:extLst>
                  <a:ext uri="{FF2B5EF4-FFF2-40B4-BE49-F238E27FC236}">
                    <a16:creationId xmlns:a16="http://schemas.microsoft.com/office/drawing/2014/main" id="{718D1EB3-A81E-4C1D-9962-D9EFB252F24A}"/>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15" name="AutoShape 329">
                <a:extLst>
                  <a:ext uri="{FF2B5EF4-FFF2-40B4-BE49-F238E27FC236}">
                    <a16:creationId xmlns:a16="http://schemas.microsoft.com/office/drawing/2014/main" id="{8D90ABCF-CCBC-40DA-A5A6-62C28C75F90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90" name="Rectangle 330">
              <a:extLst>
                <a:ext uri="{FF2B5EF4-FFF2-40B4-BE49-F238E27FC236}">
                  <a16:creationId xmlns:a16="http://schemas.microsoft.com/office/drawing/2014/main" id="{56C7A943-E42E-4F04-9D6F-AC6444B5D1D6}"/>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91" name="Group 331">
              <a:extLst>
                <a:ext uri="{FF2B5EF4-FFF2-40B4-BE49-F238E27FC236}">
                  <a16:creationId xmlns:a16="http://schemas.microsoft.com/office/drawing/2014/main" id="{92945349-3754-4866-BD17-ECFCA134E618}"/>
                </a:ext>
              </a:extLst>
            </p:cNvPr>
            <p:cNvGrpSpPr>
              <a:grpSpLocks/>
            </p:cNvGrpSpPr>
            <p:nvPr/>
          </p:nvGrpSpPr>
          <p:grpSpPr bwMode="auto">
            <a:xfrm>
              <a:off x="4747" y="994"/>
              <a:ext cx="581" cy="134"/>
              <a:chOff x="614" y="2568"/>
              <a:chExt cx="725" cy="139"/>
            </a:xfrm>
          </p:grpSpPr>
          <p:sp>
            <p:nvSpPr>
              <p:cNvPr id="312" name="AutoShape 332">
                <a:extLst>
                  <a:ext uri="{FF2B5EF4-FFF2-40B4-BE49-F238E27FC236}">
                    <a16:creationId xmlns:a16="http://schemas.microsoft.com/office/drawing/2014/main" id="{26CDEF4F-F95C-4BEF-90A1-4DAA1E7710E5}"/>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13" name="AutoShape 333">
                <a:extLst>
                  <a:ext uri="{FF2B5EF4-FFF2-40B4-BE49-F238E27FC236}">
                    <a16:creationId xmlns:a16="http://schemas.microsoft.com/office/drawing/2014/main" id="{0DD93D3B-7AEE-40DA-8375-C4F8806E0F10}"/>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92" name="Rectangle 334">
              <a:extLst>
                <a:ext uri="{FF2B5EF4-FFF2-40B4-BE49-F238E27FC236}">
                  <a16:creationId xmlns:a16="http://schemas.microsoft.com/office/drawing/2014/main" id="{44E00ADB-350C-472E-AF28-4D5875368FB0}"/>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93" name="Rectangle 335">
              <a:extLst>
                <a:ext uri="{FF2B5EF4-FFF2-40B4-BE49-F238E27FC236}">
                  <a16:creationId xmlns:a16="http://schemas.microsoft.com/office/drawing/2014/main" id="{280AFCCB-706D-43FF-8ED4-606CB4BA7EA9}"/>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94" name="Group 336">
              <a:extLst>
                <a:ext uri="{FF2B5EF4-FFF2-40B4-BE49-F238E27FC236}">
                  <a16:creationId xmlns:a16="http://schemas.microsoft.com/office/drawing/2014/main" id="{369D9138-6825-4FE3-A84D-C81DD82CC3AA}"/>
                </a:ext>
              </a:extLst>
            </p:cNvPr>
            <p:cNvGrpSpPr>
              <a:grpSpLocks/>
            </p:cNvGrpSpPr>
            <p:nvPr/>
          </p:nvGrpSpPr>
          <p:grpSpPr bwMode="auto">
            <a:xfrm>
              <a:off x="4735" y="1627"/>
              <a:ext cx="582" cy="151"/>
              <a:chOff x="614" y="2568"/>
              <a:chExt cx="725" cy="139"/>
            </a:xfrm>
          </p:grpSpPr>
          <p:sp>
            <p:nvSpPr>
              <p:cNvPr id="310" name="AutoShape 337">
                <a:extLst>
                  <a:ext uri="{FF2B5EF4-FFF2-40B4-BE49-F238E27FC236}">
                    <a16:creationId xmlns:a16="http://schemas.microsoft.com/office/drawing/2014/main" id="{E44B387D-E8FC-443A-B94B-F9B20F96358B}"/>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11" name="AutoShape 338">
                <a:extLst>
                  <a:ext uri="{FF2B5EF4-FFF2-40B4-BE49-F238E27FC236}">
                    <a16:creationId xmlns:a16="http://schemas.microsoft.com/office/drawing/2014/main" id="{6070FB22-4691-4CF0-AE0A-1CE7FDEE8A7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95" name="Freeform 339">
              <a:extLst>
                <a:ext uri="{FF2B5EF4-FFF2-40B4-BE49-F238E27FC236}">
                  <a16:creationId xmlns:a16="http://schemas.microsoft.com/office/drawing/2014/main" id="{9A4E7D8E-A3D1-48FC-A306-97AFFF04A412}"/>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6" name="Group 340">
              <a:extLst>
                <a:ext uri="{FF2B5EF4-FFF2-40B4-BE49-F238E27FC236}">
                  <a16:creationId xmlns:a16="http://schemas.microsoft.com/office/drawing/2014/main" id="{64A18C08-327D-4DA3-9355-6BB654759902}"/>
                </a:ext>
              </a:extLst>
            </p:cNvPr>
            <p:cNvGrpSpPr>
              <a:grpSpLocks/>
            </p:cNvGrpSpPr>
            <p:nvPr/>
          </p:nvGrpSpPr>
          <p:grpSpPr bwMode="auto">
            <a:xfrm>
              <a:off x="4739" y="1327"/>
              <a:ext cx="582" cy="139"/>
              <a:chOff x="614" y="2568"/>
              <a:chExt cx="725" cy="139"/>
            </a:xfrm>
          </p:grpSpPr>
          <p:sp>
            <p:nvSpPr>
              <p:cNvPr id="308" name="AutoShape 341">
                <a:extLst>
                  <a:ext uri="{FF2B5EF4-FFF2-40B4-BE49-F238E27FC236}">
                    <a16:creationId xmlns:a16="http://schemas.microsoft.com/office/drawing/2014/main" id="{35F77694-2234-42B1-AE29-A7F0661EDD5C}"/>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9" name="AutoShape 342">
                <a:extLst>
                  <a:ext uri="{FF2B5EF4-FFF2-40B4-BE49-F238E27FC236}">
                    <a16:creationId xmlns:a16="http://schemas.microsoft.com/office/drawing/2014/main" id="{459C4DE4-E690-4DDB-848F-3447EF87344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97" name="Rectangle 343">
              <a:extLst>
                <a:ext uri="{FF2B5EF4-FFF2-40B4-BE49-F238E27FC236}">
                  <a16:creationId xmlns:a16="http://schemas.microsoft.com/office/drawing/2014/main" id="{A670BC9C-268E-4B5D-B18B-99787361274B}"/>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98" name="Freeform 344">
              <a:extLst>
                <a:ext uri="{FF2B5EF4-FFF2-40B4-BE49-F238E27FC236}">
                  <a16:creationId xmlns:a16="http://schemas.microsoft.com/office/drawing/2014/main" id="{52CD3ABF-9F65-4BB5-810D-418BB4C306E9}"/>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9" name="Freeform 345">
              <a:extLst>
                <a:ext uri="{FF2B5EF4-FFF2-40B4-BE49-F238E27FC236}">
                  <a16:creationId xmlns:a16="http://schemas.microsoft.com/office/drawing/2014/main" id="{6F3978EF-A20C-44DB-AC93-CA17EF137DE6}"/>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0" name="Oval 346">
              <a:extLst>
                <a:ext uri="{FF2B5EF4-FFF2-40B4-BE49-F238E27FC236}">
                  <a16:creationId xmlns:a16="http://schemas.microsoft.com/office/drawing/2014/main" id="{B0FC25A3-1621-4D93-9103-6540506CA5E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1" name="Freeform 347">
              <a:extLst>
                <a:ext uri="{FF2B5EF4-FFF2-40B4-BE49-F238E27FC236}">
                  <a16:creationId xmlns:a16="http://schemas.microsoft.com/office/drawing/2014/main" id="{E75E9E13-8FC1-4381-958D-137BC9E154F6}"/>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2" name="AutoShape 348">
              <a:extLst>
                <a:ext uri="{FF2B5EF4-FFF2-40B4-BE49-F238E27FC236}">
                  <a16:creationId xmlns:a16="http://schemas.microsoft.com/office/drawing/2014/main" id="{31045140-90B4-4C81-A2B0-A6BC1669D7C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3" name="AutoShape 349">
              <a:extLst>
                <a:ext uri="{FF2B5EF4-FFF2-40B4-BE49-F238E27FC236}">
                  <a16:creationId xmlns:a16="http://schemas.microsoft.com/office/drawing/2014/main" id="{85EE0366-39A5-4B0F-8ED5-E0C2D80C820B}"/>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4" name="Oval 350">
              <a:extLst>
                <a:ext uri="{FF2B5EF4-FFF2-40B4-BE49-F238E27FC236}">
                  <a16:creationId xmlns:a16="http://schemas.microsoft.com/office/drawing/2014/main" id="{C191A551-2462-41A9-BC7C-A745AF6D425E}"/>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5" name="Oval 351">
              <a:extLst>
                <a:ext uri="{FF2B5EF4-FFF2-40B4-BE49-F238E27FC236}">
                  <a16:creationId xmlns:a16="http://schemas.microsoft.com/office/drawing/2014/main" id="{A3FCB3B6-5809-41F6-998B-33A4AE390307}"/>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306" name="Oval 352">
              <a:extLst>
                <a:ext uri="{FF2B5EF4-FFF2-40B4-BE49-F238E27FC236}">
                  <a16:creationId xmlns:a16="http://schemas.microsoft.com/office/drawing/2014/main" id="{634E6F42-7569-4A07-8169-BAB17C695AD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7" name="Rectangle 353">
              <a:extLst>
                <a:ext uri="{FF2B5EF4-FFF2-40B4-BE49-F238E27FC236}">
                  <a16:creationId xmlns:a16="http://schemas.microsoft.com/office/drawing/2014/main" id="{BFD27D9A-26A7-4F8A-99C1-22D3AE2E0AB8}"/>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316" name="Group 354">
            <a:extLst>
              <a:ext uri="{FF2B5EF4-FFF2-40B4-BE49-F238E27FC236}">
                <a16:creationId xmlns:a16="http://schemas.microsoft.com/office/drawing/2014/main" id="{13007F27-0CE4-42B4-A3A6-083034B8F5D5}"/>
              </a:ext>
            </a:extLst>
          </p:cNvPr>
          <p:cNvGrpSpPr>
            <a:grpSpLocks/>
          </p:cNvGrpSpPr>
          <p:nvPr/>
        </p:nvGrpSpPr>
        <p:grpSpPr bwMode="auto">
          <a:xfrm>
            <a:off x="820568" y="5265738"/>
            <a:ext cx="525462" cy="434975"/>
            <a:chOff x="-44" y="1473"/>
            <a:chExt cx="981" cy="1105"/>
          </a:xfrm>
        </p:grpSpPr>
        <p:pic>
          <p:nvPicPr>
            <p:cNvPr id="317" name="Picture 355" descr="desktop_computer_stylized_medium">
              <a:extLst>
                <a:ext uri="{FF2B5EF4-FFF2-40B4-BE49-F238E27FC236}">
                  <a16:creationId xmlns:a16="http://schemas.microsoft.com/office/drawing/2014/main" id="{98087BEE-1C37-44D9-8B6F-193610A90F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 name="Freeform 356">
              <a:extLst>
                <a:ext uri="{FF2B5EF4-FFF2-40B4-BE49-F238E27FC236}">
                  <a16:creationId xmlns:a16="http://schemas.microsoft.com/office/drawing/2014/main" id="{5596DC1A-4C8F-4A10-9F2A-C7807875507E}"/>
                </a:ext>
              </a:extLst>
            </p:cNvPr>
            <p:cNvSpPr>
              <a:spLocks/>
            </p:cNvSpPr>
            <p:nvPr/>
          </p:nvSpPr>
          <p:spPr bwMode="auto">
            <a:xfrm flipH="1">
              <a:off x="374" y="1579"/>
              <a:ext cx="477" cy="506"/>
            </a:xfrm>
            <a:custGeom>
              <a:avLst/>
              <a:gdLst>
                <a:gd name="T0" fmla="*/ 0 w 356"/>
                <a:gd name="T1" fmla="*/ 0 h 368"/>
                <a:gd name="T2" fmla="*/ 967 w 356"/>
                <a:gd name="T3" fmla="*/ 50 h 368"/>
                <a:gd name="T4" fmla="*/ 1147 w 356"/>
                <a:gd name="T5" fmla="*/ 1052 h 368"/>
                <a:gd name="T6" fmla="*/ 253 w 356"/>
                <a:gd name="T7" fmla="*/ 1316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Text Box 42">
            <a:extLst>
              <a:ext uri="{FF2B5EF4-FFF2-40B4-BE49-F238E27FC236}">
                <a16:creationId xmlns:a16="http://schemas.microsoft.com/office/drawing/2014/main" id="{16046320-F34A-45C8-9BC8-7CEEBE47C5BD}"/>
              </a:ext>
            </a:extLst>
          </p:cNvPr>
          <p:cNvSpPr txBox="1">
            <a:spLocks noChangeArrowheads="1"/>
          </p:cNvSpPr>
          <p:nvPr/>
        </p:nvSpPr>
        <p:spPr bwMode="auto">
          <a:xfrm>
            <a:off x="1674982" y="3829922"/>
            <a:ext cx="683739" cy="200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A</a:t>
            </a:r>
            <a:endParaRPr lang="en-US" altLang="zh-CN" sz="1400" dirty="0">
              <a:solidFill>
                <a:schemeClr val="tx2"/>
              </a:solidFill>
              <a:latin typeface="Comic Sans MS" panose="030F0702030302020204" pitchFamily="66" charset="0"/>
            </a:endParaRPr>
          </a:p>
        </p:txBody>
      </p:sp>
      <p:sp>
        <p:nvSpPr>
          <p:cNvPr id="3" name="Text Box 52">
            <a:extLst>
              <a:ext uri="{FF2B5EF4-FFF2-40B4-BE49-F238E27FC236}">
                <a16:creationId xmlns:a16="http://schemas.microsoft.com/office/drawing/2014/main" id="{9EBFDB0A-8AED-47D6-8471-31C14B792D7D}"/>
              </a:ext>
            </a:extLst>
          </p:cNvPr>
          <p:cNvSpPr txBox="1">
            <a:spLocks noChangeArrowheads="1"/>
          </p:cNvSpPr>
          <p:nvPr/>
        </p:nvSpPr>
        <p:spPr bwMode="auto">
          <a:xfrm>
            <a:off x="618549" y="5026298"/>
            <a:ext cx="804088" cy="23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dirty="0"/>
              <a:t>主机</a:t>
            </a:r>
            <a:r>
              <a:rPr lang="en-US" altLang="zh-CN" dirty="0"/>
              <a:t>B</a:t>
            </a:r>
          </a:p>
        </p:txBody>
      </p:sp>
    </p:spTree>
    <p:extLst>
      <p:ext uri="{BB962C8B-B14F-4D97-AF65-F5344CB8AC3E}">
        <p14:creationId xmlns:p14="http://schemas.microsoft.com/office/powerpoint/2010/main" val="260450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dissolve">
                                      <p:cBhvr>
                                        <p:cTn id="7" dur="500"/>
                                        <p:tgtEl>
                                          <p:spTgt spid="234"/>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8 0.00254 L 4.16667E-6 0.03541 " pathEditMode="relative" rAng="0" ptsTypes="AA">
                                      <p:cBhvr>
                                        <p:cTn id="10" dur="2000" fill="hold"/>
                                        <p:tgtEl>
                                          <p:spTgt spid="234"/>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5"/>
                                        </p:tgtEl>
                                        <p:attrNameLst>
                                          <p:attrName>style.visibility</p:attrName>
                                        </p:attrNameLst>
                                      </p:cBhvr>
                                      <p:to>
                                        <p:strVal val="visible"/>
                                      </p:to>
                                    </p:set>
                                    <p:animEffect transition="in" filter="dissolve">
                                      <p:cBhvr>
                                        <p:cTn id="14" dur="500"/>
                                        <p:tgtEl>
                                          <p:spTgt spid="235"/>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6"/>
                                        </p:tgtEl>
                                        <p:attrNameLst>
                                          <p:attrName>style.visibility</p:attrName>
                                        </p:attrNameLst>
                                      </p:cBhvr>
                                      <p:to>
                                        <p:strVal val="visible"/>
                                      </p:to>
                                    </p:set>
                                    <p:animEffect transition="in" filter="dissolve">
                                      <p:cBhvr>
                                        <p:cTn id="17" dur="500"/>
                                        <p:tgtEl>
                                          <p:spTgt spid="236"/>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4.16667E-6 0.03541 L 0.00069 0.17801 L 0.0868 0.17893 L 0.04722 0.24189 L 0.19583 0.24189 " pathEditMode="relative" rAng="0" ptsTypes="AAAAA">
                                      <p:cBhvr>
                                        <p:cTn id="20" dur="2000" fill="hold"/>
                                        <p:tgtEl>
                                          <p:spTgt spid="234"/>
                                        </p:tgtEl>
                                        <p:attrNameLst>
                                          <p:attrName>ppt_x</p:attrName>
                                          <p:attrName>ppt_y</p:attrName>
                                        </p:attrNameLst>
                                      </p:cBhvr>
                                      <p:rCtr x="9792" y="10324"/>
                                    </p:animMotion>
                                  </p:childTnLst>
                                </p:cTn>
                              </p:par>
                              <p:par>
                                <p:cTn id="21" presetID="9" presetClass="exit" presetSubtype="0" fill="hold" grpId="1" nodeType="withEffect">
                                  <p:stCondLst>
                                    <p:cond delay="0"/>
                                  </p:stCondLst>
                                  <p:childTnLst>
                                    <p:animEffect transition="out" filter="dissolve">
                                      <p:cBhvr>
                                        <p:cTn id="22" dur="500"/>
                                        <p:tgtEl>
                                          <p:spTgt spid="236"/>
                                        </p:tgtEl>
                                      </p:cBhvr>
                                    </p:animEffect>
                                    <p:set>
                                      <p:cBhvr>
                                        <p:cTn id="23" dur="1" fill="hold">
                                          <p:stCondLst>
                                            <p:cond delay="499"/>
                                          </p:stCondLst>
                                        </p:cTn>
                                        <p:tgtEl>
                                          <p:spTgt spid="236"/>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7"/>
                                        </p:tgtEl>
                                        <p:attrNameLst>
                                          <p:attrName>style.visibility</p:attrName>
                                        </p:attrNameLst>
                                      </p:cBhvr>
                                      <p:to>
                                        <p:strVal val="visible"/>
                                      </p:to>
                                    </p:set>
                                    <p:animEffect transition="in" filter="dissolve">
                                      <p:cBhvr>
                                        <p:cTn id="27" dur="500"/>
                                        <p:tgtEl>
                                          <p:spTgt spid="237"/>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9583 0.24189 L 0.23593 0.24143 " pathEditMode="relative" rAng="0" ptsTypes="AA">
                                      <p:cBhvr>
                                        <p:cTn id="30" dur="3000" fill="hold"/>
                                        <p:tgtEl>
                                          <p:spTgt spid="234"/>
                                        </p:tgtEl>
                                        <p:attrNameLst>
                                          <p:attrName>ppt_x</p:attrName>
                                          <p:attrName>ppt_y</p:attrName>
                                        </p:attrNameLst>
                                      </p:cBhvr>
                                      <p:rCtr x="1997" y="-23"/>
                                    </p:animMotion>
                                  </p:childTnLst>
                                </p:cTn>
                              </p:par>
                            </p:childTnLst>
                          </p:cTn>
                        </p:par>
                        <p:par>
                          <p:cTn id="31" fill="hold">
                            <p:stCondLst>
                              <p:cond delay="8500"/>
                            </p:stCondLst>
                            <p:childTnLst>
                              <p:par>
                                <p:cTn id="32" presetID="0" presetClass="path" presetSubtype="0" accel="50000" decel="50000" fill="hold" grpId="4" nodeType="afterEffect">
                                  <p:stCondLst>
                                    <p:cond delay="0"/>
                                  </p:stCondLst>
                                  <p:childTnLst>
                                    <p:animMotion origin="layout" path="M 0.23281 0.24074 L 0.30833 0.24074 L 0.34982 0.18055 " pathEditMode="relative" rAng="0" ptsTypes="AAA">
                                      <p:cBhvr>
                                        <p:cTn id="33" dur="2000" fill="hold"/>
                                        <p:tgtEl>
                                          <p:spTgt spid="234"/>
                                        </p:tgtEl>
                                        <p:attrNameLst>
                                          <p:attrName>ppt_x</p:attrName>
                                          <p:attrName>ppt_y</p:attrName>
                                        </p:attrNameLst>
                                      </p:cBhvr>
                                      <p:rCtr x="5851" y="-3009"/>
                                    </p:animMotion>
                                  </p:childTnLst>
                                </p:cTn>
                              </p:par>
                              <p:par>
                                <p:cTn id="34" presetID="9" presetClass="exit" presetSubtype="0" fill="hold" grpId="1" nodeType="withEffect">
                                  <p:stCondLst>
                                    <p:cond delay="0"/>
                                  </p:stCondLst>
                                  <p:childTnLst>
                                    <p:animEffect transition="out" filter="dissolve">
                                      <p:cBhvr>
                                        <p:cTn id="35" dur="500"/>
                                        <p:tgtEl>
                                          <p:spTgt spid="237"/>
                                        </p:tgtEl>
                                      </p:cBhvr>
                                    </p:animEffect>
                                    <p:set>
                                      <p:cBhvr>
                                        <p:cTn id="36" dur="1" fill="hold">
                                          <p:stCondLst>
                                            <p:cond delay="499"/>
                                          </p:stCondLst>
                                        </p:cTn>
                                        <p:tgtEl>
                                          <p:spTgt spid="237"/>
                                        </p:tgtEl>
                                        <p:attrNameLst>
                                          <p:attrName>style.visibility</p:attrName>
                                        </p:attrNameLst>
                                      </p:cBhvr>
                                      <p:to>
                                        <p:strVal val="hidden"/>
                                      </p:to>
                                    </p:set>
                                  </p:childTnLst>
                                </p:cTn>
                              </p:par>
                            </p:childTnLst>
                          </p:cTn>
                        </p:par>
                        <p:par>
                          <p:cTn id="37" fill="hold">
                            <p:stCondLst>
                              <p:cond delay="10500"/>
                            </p:stCondLst>
                            <p:childTnLst>
                              <p:par>
                                <p:cTn id="38" presetID="9" presetClass="entr" presetSubtype="0" fill="hold" nodeType="afterEffect">
                                  <p:stCondLst>
                                    <p:cond delay="0"/>
                                  </p:stCondLst>
                                  <p:childTnLst>
                                    <p:set>
                                      <p:cBhvr>
                                        <p:cTn id="39" dur="1" fill="hold">
                                          <p:stCondLst>
                                            <p:cond delay="0"/>
                                          </p:stCondLst>
                                        </p:cTn>
                                        <p:tgtEl>
                                          <p:spTgt spid="238"/>
                                        </p:tgtEl>
                                        <p:attrNameLst>
                                          <p:attrName>style.visibility</p:attrName>
                                        </p:attrNameLst>
                                      </p:cBhvr>
                                      <p:to>
                                        <p:strVal val="visible"/>
                                      </p:to>
                                    </p:set>
                                    <p:animEffect transition="in" filter="dissolve">
                                      <p:cBhvr>
                                        <p:cTn id="40" dur="500"/>
                                        <p:tgtEl>
                                          <p:spTgt spid="238"/>
                                        </p:tgtEl>
                                      </p:cBhvr>
                                    </p:animEffect>
                                  </p:childTnLst>
                                </p:cTn>
                              </p:par>
                            </p:childTnLst>
                          </p:cTn>
                        </p:par>
                        <p:par>
                          <p:cTn id="41" fill="hold">
                            <p:stCondLst>
                              <p:cond delay="11000"/>
                            </p:stCondLst>
                            <p:childTnLst>
                              <p:par>
                                <p:cTn id="42" presetID="0" presetClass="path" presetSubtype="0" accel="50000" decel="50000" fill="hold" grpId="5" nodeType="afterEffect">
                                  <p:stCondLst>
                                    <p:cond delay="0"/>
                                  </p:stCondLst>
                                  <p:childTnLst>
                                    <p:animMotion origin="layout" path="M 0.34982 0.18055 L 0.3743 0.15277 L 0.46198 0.15277 L 0.46076 0.0162 " pathEditMode="relative" rAng="0" ptsTypes="AAAA">
                                      <p:cBhvr>
                                        <p:cTn id="43" dur="2000" fill="hold"/>
                                        <p:tgtEl>
                                          <p:spTgt spid="234"/>
                                        </p:tgtEl>
                                        <p:attrNameLst>
                                          <p:attrName>ppt_x</p:attrName>
                                          <p:attrName>ppt_y</p:attrName>
                                        </p:attrNameLst>
                                      </p:cBhvr>
                                      <p:rCtr x="5608" y="-8218"/>
                                    </p:animMotion>
                                  </p:childTnLst>
                                </p:cTn>
                              </p:par>
                              <p:par>
                                <p:cTn id="44" presetID="9" presetClass="exit" presetSubtype="0" fill="hold" nodeType="withEffect">
                                  <p:stCondLst>
                                    <p:cond delay="0"/>
                                  </p:stCondLst>
                                  <p:childTnLst>
                                    <p:animEffect transition="out" filter="dissolve">
                                      <p:cBhvr>
                                        <p:cTn id="45" dur="500"/>
                                        <p:tgtEl>
                                          <p:spTgt spid="238"/>
                                        </p:tgtEl>
                                      </p:cBhvr>
                                    </p:animEffect>
                                    <p:set>
                                      <p:cBhvr>
                                        <p:cTn id="46" dur="1" fill="hold">
                                          <p:stCondLst>
                                            <p:cond delay="499"/>
                                          </p:stCondLst>
                                        </p:cTn>
                                        <p:tgtEl>
                                          <p:spTgt spid="238"/>
                                        </p:tgtEl>
                                        <p:attrNameLst>
                                          <p:attrName>style.visibility</p:attrName>
                                        </p:attrNameLst>
                                      </p:cBhvr>
                                      <p:to>
                                        <p:strVal val="hidden"/>
                                      </p:to>
                                    </p:set>
                                  </p:childTnLst>
                                </p:cTn>
                              </p:par>
                              <p:par>
                                <p:cTn id="47" presetID="0" presetClass="path" presetSubtype="0" accel="50000" decel="50000" fill="hold" grpId="1" nodeType="withEffect">
                                  <p:stCondLst>
                                    <p:cond delay="0"/>
                                  </p:stCondLst>
                                  <p:childTnLst>
                                    <p:animMotion origin="layout" path="M -4.72222E-6 -4.07407E-6 L 0.03542 -4.07407E-6 L 0.03785 0.14306 L 0.11719 0.14468 L 0.08421 0.20649 L 0.34271 0.20649 L 0.4099 0.1169 L 0.49636 0.11852 L 0.49636 -0.01805 " pathEditMode="relative" rAng="0" ptsTypes="AAAAAAAAA">
                                      <p:cBhvr>
                                        <p:cTn id="48" dur="2000" fill="hold"/>
                                        <p:tgtEl>
                                          <p:spTgt spid="235"/>
                                        </p:tgtEl>
                                        <p:attrNameLst>
                                          <p:attrName>ppt_x</p:attrName>
                                          <p:attrName>ppt_y</p:attrName>
                                        </p:attrNameLst>
                                      </p:cBhvr>
                                      <p:rCtr x="24809" y="9421"/>
                                    </p:animMotion>
                                  </p:childTnLst>
                                </p:cTn>
                              </p:par>
                            </p:childTnLst>
                          </p:cTn>
                        </p:par>
                        <p:par>
                          <p:cTn id="49" fill="hold">
                            <p:stCondLst>
                              <p:cond delay="13000"/>
                            </p:stCondLst>
                            <p:childTnLst>
                              <p:par>
                                <p:cTn id="50" presetID="9" presetClass="exit" presetSubtype="0" fill="hold" grpId="6" nodeType="afterEffect">
                                  <p:stCondLst>
                                    <p:cond delay="0"/>
                                  </p:stCondLst>
                                  <p:childTnLst>
                                    <p:animEffect transition="out" filter="dissolve">
                                      <p:cBhvr>
                                        <p:cTn id="51" dur="500"/>
                                        <p:tgtEl>
                                          <p:spTgt spid="234"/>
                                        </p:tgtEl>
                                      </p:cBhvr>
                                    </p:animEffect>
                                    <p:set>
                                      <p:cBhvr>
                                        <p:cTn id="52" dur="1" fill="hold">
                                          <p:stCondLst>
                                            <p:cond delay="499"/>
                                          </p:stCondLst>
                                        </p:cTn>
                                        <p:tgtEl>
                                          <p:spTgt spid="2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234" grpId="1" animBg="1"/>
      <p:bldP spid="234" grpId="2" animBg="1"/>
      <p:bldP spid="234" grpId="3" animBg="1"/>
      <p:bldP spid="234" grpId="4" animBg="1"/>
      <p:bldP spid="234" grpId="5" animBg="1"/>
      <p:bldP spid="234" grpId="6" animBg="1"/>
      <p:bldP spid="235" grpId="0" animBg="1"/>
      <p:bldP spid="235" grpId="1" animBg="1"/>
      <p:bldP spid="236" grpId="0"/>
      <p:bldP spid="236" grpId="1"/>
      <p:bldP spid="237" grpId="0"/>
      <p:bldP spid="237"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40" name="Rectangle 3">
            <a:extLst>
              <a:ext uri="{FF2B5EF4-FFF2-40B4-BE49-F238E27FC236}">
                <a16:creationId xmlns:a16="http://schemas.microsoft.com/office/drawing/2014/main" id="{05FFD941-90C7-49B4-9244-39A4F72E6DD1}"/>
              </a:ext>
            </a:extLst>
          </p:cNvPr>
          <p:cNvSpPr>
            <a:spLocks noGrp="1" noChangeArrowheads="1"/>
          </p:cNvSpPr>
          <p:nvPr>
            <p:ph type="body" sz="half" idx="1"/>
          </p:nvPr>
        </p:nvSpPr>
        <p:spPr>
          <a:xfrm>
            <a:off x="506029" y="1418364"/>
            <a:ext cx="1908825" cy="1247775"/>
          </a:xfrm>
        </p:spPr>
        <p:txBody>
          <a:bodyPr>
            <a:noAutofit/>
          </a:bodyPr>
          <a:lstStyle/>
          <a:p>
            <a:pPr marL="360363" indent="-360363">
              <a:buClr>
                <a:srgbClr val="2A09B7"/>
              </a:buClr>
              <a:buFont typeface="Wingdings" charset="0"/>
              <a:buChar char="v"/>
              <a:defRPr/>
            </a:pPr>
            <a:r>
              <a:rPr lang="en-US"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个发送者</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a:p>
            <a:pPr marL="360363" indent="-360363">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多跳路径</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360363" indent="-360363">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超时重传</a:t>
            </a:r>
            <a:endParaRPr 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241" name="Rectangle 7">
            <a:extLst>
              <a:ext uri="{FF2B5EF4-FFF2-40B4-BE49-F238E27FC236}">
                <a16:creationId xmlns:a16="http://schemas.microsoft.com/office/drawing/2014/main" id="{9949E7A8-C486-45B8-B1BF-63F2E921FF3C}"/>
              </a:ext>
            </a:extLst>
          </p:cNvPr>
          <p:cNvSpPr>
            <a:spLocks noChangeArrowheads="1"/>
          </p:cNvSpPr>
          <p:nvPr/>
        </p:nvSpPr>
        <p:spPr bwMode="auto">
          <a:xfrm>
            <a:off x="554314" y="5066893"/>
            <a:ext cx="5021427" cy="4628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lnSpc>
                <a:spcPts val="2600"/>
              </a:lnSpc>
              <a:buClr>
                <a:srgbClr val="000099"/>
              </a:buClr>
              <a:buSzPct val="65000"/>
              <a:buFont typeface="Wingdings" panose="05000000000000000000" pitchFamily="2" charset="2"/>
              <a:buNone/>
            </a:pPr>
            <a:r>
              <a:rPr lang="zh-CN" altLang="en-US" sz="2200" b="1" dirty="0">
                <a:solidFill>
                  <a:srgbClr val="CC0000"/>
                </a:solidFill>
                <a:latin typeface="宋体" panose="02010600030101010101" pitchFamily="2" charset="-122"/>
                <a:ea typeface="宋体" panose="02010600030101010101" pitchFamily="2" charset="-122"/>
              </a:rPr>
              <a:t>问题</a:t>
            </a:r>
            <a:r>
              <a:rPr lang="zh-CN" altLang="en-US" sz="2200" dirty="0">
                <a:solidFill>
                  <a:srgbClr val="CC0000"/>
                </a:solidFill>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cs typeface="Arial" panose="020B0604020202020204" pitchFamily="34" charset="0"/>
              </a:rPr>
              <a:t>随着</a:t>
            </a:r>
            <a:r>
              <a:rPr lang="en-US" altLang="zh-CN" sz="2200" dirty="0" err="1">
                <a:solidFill>
                  <a:srgbClr val="CC0000"/>
                </a:solidFill>
                <a:latin typeface="Symbol" panose="05050102010706020507" pitchFamily="18" charset="2"/>
              </a:rPr>
              <a:t>l</a:t>
            </a:r>
            <a:r>
              <a:rPr lang="en-US" altLang="zh-CN" sz="2200" baseline="-25000" dirty="0" err="1">
                <a:solidFill>
                  <a:srgbClr val="CC0000"/>
                </a:solidFill>
                <a:latin typeface="Gill Sans MT" panose="020B0502020104020203" pitchFamily="34" charset="0"/>
              </a:rPr>
              <a:t>in</a:t>
            </a:r>
            <a:r>
              <a:rPr lang="zh-CN" altLang="en-US" sz="2200" dirty="0">
                <a:latin typeface="宋体" panose="02010600030101010101" pitchFamily="2" charset="-122"/>
                <a:ea typeface="宋体" panose="02010600030101010101" pitchFamily="2" charset="-122"/>
                <a:cs typeface="Arial" panose="020B0604020202020204" pitchFamily="34" charset="0"/>
              </a:rPr>
              <a:t>和</a:t>
            </a:r>
            <a:r>
              <a:rPr lang="en-US" altLang="zh-CN" sz="2200" dirty="0" err="1">
                <a:solidFill>
                  <a:srgbClr val="CC0000"/>
                </a:solidFill>
                <a:latin typeface="Symbol" panose="05050102010706020507" pitchFamily="18" charset="2"/>
              </a:rPr>
              <a:t>l</a:t>
            </a:r>
            <a:r>
              <a:rPr lang="en-US" altLang="zh-CN" sz="2200" baseline="-25000" dirty="0" err="1">
                <a:solidFill>
                  <a:srgbClr val="CC0000"/>
                </a:solidFill>
                <a:latin typeface="Gill Sans MT" panose="020B0502020104020203" pitchFamily="34" charset="0"/>
              </a:rPr>
              <a:t>in</a:t>
            </a:r>
            <a:r>
              <a:rPr lang="ja-JP" altLang="en-US" sz="2200" b="1" baseline="30000" dirty="0">
                <a:solidFill>
                  <a:srgbClr val="CC0000"/>
                </a:solidFill>
                <a:latin typeface="Arial" panose="020B0604020202020204" pitchFamily="34" charset="0"/>
                <a:cs typeface="Arial" panose="020B0604020202020204" pitchFamily="34" charset="0"/>
              </a:rPr>
              <a:t>’</a:t>
            </a:r>
            <a:r>
              <a:rPr lang="zh-CN" altLang="en-US" sz="2200" dirty="0">
                <a:latin typeface="宋体" panose="02010600030101010101" pitchFamily="2" charset="-122"/>
                <a:ea typeface="宋体" panose="02010600030101010101" pitchFamily="2" charset="-122"/>
                <a:cs typeface="Arial" panose="020B0604020202020204" pitchFamily="34" charset="0"/>
              </a:rPr>
              <a:t>的增加将发生什么？</a:t>
            </a:r>
            <a:endParaRPr lang="en-US" altLang="zh-CN" sz="2200" dirty="0">
              <a:latin typeface="Arial" panose="020B0604020202020204" pitchFamily="34" charset="0"/>
              <a:cs typeface="Arial" panose="020B0604020202020204" pitchFamily="34" charset="0"/>
            </a:endParaRPr>
          </a:p>
        </p:txBody>
      </p:sp>
      <p:sp>
        <p:nvSpPr>
          <p:cNvPr id="205156" name="Rectangle 356">
            <a:extLst>
              <a:ext uri="{FF2B5EF4-FFF2-40B4-BE49-F238E27FC236}">
                <a16:creationId xmlns:a16="http://schemas.microsoft.com/office/drawing/2014/main" id="{07A8CCF6-BBCC-497A-9AD9-3B1AE070DEED}"/>
              </a:ext>
            </a:extLst>
          </p:cNvPr>
          <p:cNvSpPr>
            <a:spLocks noChangeArrowheads="1"/>
          </p:cNvSpPr>
          <p:nvPr/>
        </p:nvSpPr>
        <p:spPr bwMode="auto">
          <a:xfrm>
            <a:off x="569171" y="5524502"/>
            <a:ext cx="8020515" cy="8515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marL="0" indent="0">
              <a:lnSpc>
                <a:spcPts val="3200"/>
              </a:lnSpc>
              <a:spcBef>
                <a:spcPct val="20000"/>
              </a:spcBef>
              <a:buClr>
                <a:srgbClr val="000099"/>
              </a:buClr>
              <a:buSzPct val="65000"/>
            </a:pPr>
            <a:r>
              <a:rPr lang="zh-CN" altLang="en-US" sz="2200" b="1" dirty="0">
                <a:solidFill>
                  <a:srgbClr val="CC0000"/>
                </a:solidFill>
                <a:latin typeface="宋体" panose="02010600030101010101" pitchFamily="2" charset="-122"/>
                <a:ea typeface="宋体" panose="02010600030101010101" pitchFamily="2" charset="-122"/>
              </a:rPr>
              <a:t>结果：</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随着红色</a:t>
            </a:r>
            <a:r>
              <a:rPr lang="en-US" altLang="zh-CN" sz="2200" dirty="0" err="1">
                <a:solidFill>
                  <a:srgbClr val="CC0000"/>
                </a:solidFill>
                <a:latin typeface="Symbol" panose="05050102010706020507" pitchFamily="18" charset="2"/>
              </a:rPr>
              <a:t>l</a:t>
            </a:r>
            <a:r>
              <a:rPr lang="en-US" altLang="zh-CN" sz="2200" baseline="-25000" dirty="0" err="1">
                <a:solidFill>
                  <a:srgbClr val="CC0000"/>
                </a:solidFill>
                <a:latin typeface="Gill Sans MT" panose="020B0502020104020203" pitchFamily="34" charset="0"/>
              </a:rPr>
              <a:t>in</a:t>
            </a:r>
            <a:r>
              <a:rPr lang="ja-JP" altLang="en-US" sz="2200" baseline="30000" dirty="0">
                <a:solidFill>
                  <a:srgbClr val="CC0000"/>
                </a:solidFill>
                <a:latin typeface="Gill Sans MT" panose="020B0502020104020203" pitchFamily="34"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增加，所有到达的蓝色报文分组可能被丢弃，蓝色连接的吞吐率可能降为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343" name="矩形 342">
            <a:extLst>
              <a:ext uri="{FF2B5EF4-FFF2-40B4-BE49-F238E27FC236}">
                <a16:creationId xmlns:a16="http://schemas.microsoft.com/office/drawing/2014/main" id="{11E138ED-EEB5-4847-82BE-05CB82E7AAB9}"/>
              </a:ext>
            </a:extLst>
          </p:cNvPr>
          <p:cNvSpPr/>
          <p:nvPr/>
        </p:nvSpPr>
        <p:spPr>
          <a:xfrm>
            <a:off x="374044" y="727174"/>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拥塞的代价：情景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a:t>
            </a:r>
          </a:p>
        </p:txBody>
      </p:sp>
      <p:grpSp>
        <p:nvGrpSpPr>
          <p:cNvPr id="2" name="组合 1">
            <a:extLst>
              <a:ext uri="{FF2B5EF4-FFF2-40B4-BE49-F238E27FC236}">
                <a16:creationId xmlns:a16="http://schemas.microsoft.com/office/drawing/2014/main" id="{832CD1C3-782E-4DF5-9A6D-DB9E1805D0F8}"/>
              </a:ext>
            </a:extLst>
          </p:cNvPr>
          <p:cNvGrpSpPr/>
          <p:nvPr/>
        </p:nvGrpSpPr>
        <p:grpSpPr>
          <a:xfrm>
            <a:off x="1325036" y="1175521"/>
            <a:ext cx="7264400" cy="3598862"/>
            <a:chOff x="396875" y="2846388"/>
            <a:chExt cx="7264400" cy="3598862"/>
          </a:xfrm>
        </p:grpSpPr>
        <p:sp>
          <p:nvSpPr>
            <p:cNvPr id="112643" name="Freeform 354">
              <a:extLst>
                <a:ext uri="{FF2B5EF4-FFF2-40B4-BE49-F238E27FC236}">
                  <a16:creationId xmlns:a16="http://schemas.microsoft.com/office/drawing/2014/main" id="{1DF471E7-57E6-4448-8E9B-0D3C8825C02F}"/>
                </a:ext>
              </a:extLst>
            </p:cNvPr>
            <p:cNvSpPr>
              <a:spLocks/>
            </p:cNvSpPr>
            <p:nvPr/>
          </p:nvSpPr>
          <p:spPr bwMode="auto">
            <a:xfrm flipH="1">
              <a:off x="2568575" y="3136900"/>
              <a:ext cx="236538" cy="1014413"/>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44" name="Freeform 350">
              <a:extLst>
                <a:ext uri="{FF2B5EF4-FFF2-40B4-BE49-F238E27FC236}">
                  <a16:creationId xmlns:a16="http://schemas.microsoft.com/office/drawing/2014/main" id="{5FEF6091-9464-47EE-AEC1-32A7AB56447E}"/>
                </a:ext>
              </a:extLst>
            </p:cNvPr>
            <p:cNvSpPr>
              <a:spLocks/>
            </p:cNvSpPr>
            <p:nvPr/>
          </p:nvSpPr>
          <p:spPr bwMode="auto">
            <a:xfrm flipH="1">
              <a:off x="552450" y="5118100"/>
              <a:ext cx="236538" cy="1014413"/>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45" name="Freeform 347">
              <a:extLst>
                <a:ext uri="{FF2B5EF4-FFF2-40B4-BE49-F238E27FC236}">
                  <a16:creationId xmlns:a16="http://schemas.microsoft.com/office/drawing/2014/main" id="{F81EDE73-2E6A-4123-8082-D2879D082D65}"/>
                </a:ext>
              </a:extLst>
            </p:cNvPr>
            <p:cNvSpPr>
              <a:spLocks/>
            </p:cNvSpPr>
            <p:nvPr/>
          </p:nvSpPr>
          <p:spPr bwMode="auto">
            <a:xfrm>
              <a:off x="6810375" y="5316538"/>
              <a:ext cx="236538" cy="1014412"/>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46" name="Freeform 344">
              <a:extLst>
                <a:ext uri="{FF2B5EF4-FFF2-40B4-BE49-F238E27FC236}">
                  <a16:creationId xmlns:a16="http://schemas.microsoft.com/office/drawing/2014/main" id="{F28B6163-93FC-4F93-9288-476FF8B4BDC5}"/>
                </a:ext>
              </a:extLst>
            </p:cNvPr>
            <p:cNvSpPr>
              <a:spLocks/>
            </p:cNvSpPr>
            <p:nvPr/>
          </p:nvSpPr>
          <p:spPr bwMode="auto">
            <a:xfrm>
              <a:off x="7243763" y="3302000"/>
              <a:ext cx="236537" cy="1014413"/>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chemeClr val="folHlink"/>
                </a:gs>
                <a:gs pos="100000">
                  <a:schemeClr val="bg1"/>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49" name="Text Box 14">
              <a:extLst>
                <a:ext uri="{FF2B5EF4-FFF2-40B4-BE49-F238E27FC236}">
                  <a16:creationId xmlns:a16="http://schemas.microsoft.com/office/drawing/2014/main" id="{AE11522B-E9E5-4396-8C8D-A8E93897543C}"/>
                </a:ext>
              </a:extLst>
            </p:cNvPr>
            <p:cNvSpPr txBox="1">
              <a:spLocks noChangeArrowheads="1"/>
            </p:cNvSpPr>
            <p:nvPr/>
          </p:nvSpPr>
          <p:spPr bwMode="auto">
            <a:xfrm>
              <a:off x="4143361" y="4022725"/>
              <a:ext cx="19129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a:r>
                <a:rPr lang="zh-CN" altLang="en-US" dirty="0">
                  <a:solidFill>
                    <a:schemeClr val="tx2"/>
                  </a:solidFill>
                  <a:latin typeface="Arial" panose="020B0604020202020204" pitchFamily="34" charset="0"/>
                </a:rPr>
                <a:t>有限输出缓存</a:t>
              </a:r>
              <a:endParaRPr lang="en-US" altLang="zh-CN" dirty="0">
                <a:solidFill>
                  <a:schemeClr val="tx2"/>
                </a:solidFill>
                <a:latin typeface="Comic Sans MS" panose="030F0702030302020204" pitchFamily="66" charset="0"/>
              </a:endParaRPr>
            </a:p>
          </p:txBody>
        </p:sp>
        <p:sp>
          <p:nvSpPr>
            <p:cNvPr id="112650" name="Line 15">
              <a:extLst>
                <a:ext uri="{FF2B5EF4-FFF2-40B4-BE49-F238E27FC236}">
                  <a16:creationId xmlns:a16="http://schemas.microsoft.com/office/drawing/2014/main" id="{EBE9DA11-A9E8-4255-8CF5-53B2CA22E9EC}"/>
                </a:ext>
              </a:extLst>
            </p:cNvPr>
            <p:cNvSpPr>
              <a:spLocks noChangeShapeType="1"/>
            </p:cNvSpPr>
            <p:nvPr/>
          </p:nvSpPr>
          <p:spPr bwMode="auto">
            <a:xfrm flipH="1">
              <a:off x="2859088" y="4203700"/>
              <a:ext cx="923925" cy="8667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1" name="Line 16">
              <a:extLst>
                <a:ext uri="{FF2B5EF4-FFF2-40B4-BE49-F238E27FC236}">
                  <a16:creationId xmlns:a16="http://schemas.microsoft.com/office/drawing/2014/main" id="{25961435-EEC5-4D7B-BD64-ACC63FFD07E2}"/>
                </a:ext>
              </a:extLst>
            </p:cNvPr>
            <p:cNvSpPr>
              <a:spLocks noChangeShapeType="1"/>
            </p:cNvSpPr>
            <p:nvPr/>
          </p:nvSpPr>
          <p:spPr bwMode="auto">
            <a:xfrm flipH="1">
              <a:off x="3344863" y="4203700"/>
              <a:ext cx="4381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652" name="Group 58">
              <a:extLst>
                <a:ext uri="{FF2B5EF4-FFF2-40B4-BE49-F238E27FC236}">
                  <a16:creationId xmlns:a16="http://schemas.microsoft.com/office/drawing/2014/main" id="{34429021-9491-4370-A40E-A577971BDBA2}"/>
                </a:ext>
              </a:extLst>
            </p:cNvPr>
            <p:cNvGrpSpPr>
              <a:grpSpLocks/>
            </p:cNvGrpSpPr>
            <p:nvPr/>
          </p:nvGrpSpPr>
          <p:grpSpPr bwMode="auto">
            <a:xfrm>
              <a:off x="2798763" y="3184525"/>
              <a:ext cx="650875" cy="904875"/>
              <a:chOff x="12762" y="10336"/>
              <a:chExt cx="1027" cy="1700"/>
            </a:xfrm>
          </p:grpSpPr>
          <p:sp>
            <p:nvSpPr>
              <p:cNvPr id="112973" name="Rectangle 59">
                <a:extLst>
                  <a:ext uri="{FF2B5EF4-FFF2-40B4-BE49-F238E27FC236}">
                    <a16:creationId xmlns:a16="http://schemas.microsoft.com/office/drawing/2014/main" id="{DC16CBEF-3193-4117-9C57-3A771927787D}"/>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74" name="Rectangle 60">
                <a:extLst>
                  <a:ext uri="{FF2B5EF4-FFF2-40B4-BE49-F238E27FC236}">
                    <a16:creationId xmlns:a16="http://schemas.microsoft.com/office/drawing/2014/main" id="{4DFD2464-D449-486A-9C0B-BEDF994A31BF}"/>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75" name="Line 61">
                <a:extLst>
                  <a:ext uri="{FF2B5EF4-FFF2-40B4-BE49-F238E27FC236}">
                    <a16:creationId xmlns:a16="http://schemas.microsoft.com/office/drawing/2014/main" id="{848189D5-A741-4DF6-8A92-1D6237E61CA3}"/>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6" name="Line 62">
                <a:extLst>
                  <a:ext uri="{FF2B5EF4-FFF2-40B4-BE49-F238E27FC236}">
                    <a16:creationId xmlns:a16="http://schemas.microsoft.com/office/drawing/2014/main" id="{C77293D6-6DC0-4243-908A-29DB23CAE809}"/>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7" name="Line 63">
                <a:extLst>
                  <a:ext uri="{FF2B5EF4-FFF2-40B4-BE49-F238E27FC236}">
                    <a16:creationId xmlns:a16="http://schemas.microsoft.com/office/drawing/2014/main" id="{F11E5614-824D-41C6-865E-902CBC744D30}"/>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8" name="Line 64">
                <a:extLst>
                  <a:ext uri="{FF2B5EF4-FFF2-40B4-BE49-F238E27FC236}">
                    <a16:creationId xmlns:a16="http://schemas.microsoft.com/office/drawing/2014/main" id="{4F3307DF-3F0A-456B-84FD-34C9AA4A853B}"/>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653" name="Text Box 65">
              <a:extLst>
                <a:ext uri="{FF2B5EF4-FFF2-40B4-BE49-F238E27FC236}">
                  <a16:creationId xmlns:a16="http://schemas.microsoft.com/office/drawing/2014/main" id="{63ABEE91-5842-4BF2-877B-E07A2B68A0C0}"/>
                </a:ext>
              </a:extLst>
            </p:cNvPr>
            <p:cNvSpPr txBox="1">
              <a:spLocks noChangeArrowheads="1"/>
            </p:cNvSpPr>
            <p:nvPr/>
          </p:nvSpPr>
          <p:spPr bwMode="auto">
            <a:xfrm>
              <a:off x="2725155" y="2907520"/>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 A</a:t>
              </a:r>
            </a:p>
          </p:txBody>
        </p:sp>
        <p:sp>
          <p:nvSpPr>
            <p:cNvPr id="112654" name="Line 67">
              <a:extLst>
                <a:ext uri="{FF2B5EF4-FFF2-40B4-BE49-F238E27FC236}">
                  <a16:creationId xmlns:a16="http://schemas.microsoft.com/office/drawing/2014/main" id="{23C8BAD5-7021-4978-B7F1-73CEC44B922B}"/>
                </a:ext>
              </a:extLst>
            </p:cNvPr>
            <p:cNvSpPr>
              <a:spLocks noChangeShapeType="1"/>
            </p:cNvSpPr>
            <p:nvPr/>
          </p:nvSpPr>
          <p:spPr bwMode="auto">
            <a:xfrm flipH="1">
              <a:off x="1504950" y="6184900"/>
              <a:ext cx="1458913" cy="11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655" name="Group 109">
              <a:extLst>
                <a:ext uri="{FF2B5EF4-FFF2-40B4-BE49-F238E27FC236}">
                  <a16:creationId xmlns:a16="http://schemas.microsoft.com/office/drawing/2014/main" id="{367F9040-B974-4546-ACB5-B75291473AE0}"/>
                </a:ext>
              </a:extLst>
            </p:cNvPr>
            <p:cNvGrpSpPr>
              <a:grpSpLocks/>
            </p:cNvGrpSpPr>
            <p:nvPr/>
          </p:nvGrpSpPr>
          <p:grpSpPr bwMode="auto">
            <a:xfrm>
              <a:off x="788988" y="5156200"/>
              <a:ext cx="650875" cy="904875"/>
              <a:chOff x="12762" y="10336"/>
              <a:chExt cx="1027" cy="1700"/>
            </a:xfrm>
          </p:grpSpPr>
          <p:sp>
            <p:nvSpPr>
              <p:cNvPr id="112967" name="Rectangle 110">
                <a:extLst>
                  <a:ext uri="{FF2B5EF4-FFF2-40B4-BE49-F238E27FC236}">
                    <a16:creationId xmlns:a16="http://schemas.microsoft.com/office/drawing/2014/main" id="{A97EE399-A118-456B-AD39-C808B822CF56}"/>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68" name="Rectangle 111">
                <a:extLst>
                  <a:ext uri="{FF2B5EF4-FFF2-40B4-BE49-F238E27FC236}">
                    <a16:creationId xmlns:a16="http://schemas.microsoft.com/office/drawing/2014/main" id="{EED4C9DB-C028-422B-B066-102D6BA3349C}"/>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69" name="Line 112">
                <a:extLst>
                  <a:ext uri="{FF2B5EF4-FFF2-40B4-BE49-F238E27FC236}">
                    <a16:creationId xmlns:a16="http://schemas.microsoft.com/office/drawing/2014/main" id="{B9F5AC3E-5B46-461D-B25E-0D683C55890A}"/>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0" name="Line 113">
                <a:extLst>
                  <a:ext uri="{FF2B5EF4-FFF2-40B4-BE49-F238E27FC236}">
                    <a16:creationId xmlns:a16="http://schemas.microsoft.com/office/drawing/2014/main" id="{7B5FB215-B40C-4559-80C8-FE350AFD6FE8}"/>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1" name="Line 114">
                <a:extLst>
                  <a:ext uri="{FF2B5EF4-FFF2-40B4-BE49-F238E27FC236}">
                    <a16:creationId xmlns:a16="http://schemas.microsoft.com/office/drawing/2014/main" id="{86E7B72D-6287-45D8-86A4-91D8F16A2645}"/>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2" name="Line 115">
                <a:extLst>
                  <a:ext uri="{FF2B5EF4-FFF2-40B4-BE49-F238E27FC236}">
                    <a16:creationId xmlns:a16="http://schemas.microsoft.com/office/drawing/2014/main" id="{3F407C17-3DF8-447A-8190-EC445024A4E1}"/>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656" name="Line 117">
              <a:extLst>
                <a:ext uri="{FF2B5EF4-FFF2-40B4-BE49-F238E27FC236}">
                  <a16:creationId xmlns:a16="http://schemas.microsoft.com/office/drawing/2014/main" id="{4F56A072-00CF-43BA-9D07-9692A743036C}"/>
                </a:ext>
              </a:extLst>
            </p:cNvPr>
            <p:cNvSpPr>
              <a:spLocks noChangeShapeType="1"/>
            </p:cNvSpPr>
            <p:nvPr/>
          </p:nvSpPr>
          <p:spPr bwMode="auto">
            <a:xfrm flipH="1">
              <a:off x="3344863" y="4632325"/>
              <a:ext cx="72390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7" name="Line 118">
              <a:extLst>
                <a:ext uri="{FF2B5EF4-FFF2-40B4-BE49-F238E27FC236}">
                  <a16:creationId xmlns:a16="http://schemas.microsoft.com/office/drawing/2014/main" id="{E2B53554-C96B-48F8-8E53-89DCCA1AF407}"/>
                </a:ext>
              </a:extLst>
            </p:cNvPr>
            <p:cNvSpPr>
              <a:spLocks noChangeShapeType="1"/>
            </p:cNvSpPr>
            <p:nvPr/>
          </p:nvSpPr>
          <p:spPr bwMode="auto">
            <a:xfrm flipH="1" flipV="1">
              <a:off x="5126038" y="4651375"/>
              <a:ext cx="779462" cy="95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8" name="Line 119">
              <a:extLst>
                <a:ext uri="{FF2B5EF4-FFF2-40B4-BE49-F238E27FC236}">
                  <a16:creationId xmlns:a16="http://schemas.microsoft.com/office/drawing/2014/main" id="{D7E813B6-C1A3-472D-A6B5-DC0897CB241E}"/>
                </a:ext>
              </a:extLst>
            </p:cNvPr>
            <p:cNvSpPr>
              <a:spLocks noChangeShapeType="1"/>
            </p:cNvSpPr>
            <p:nvPr/>
          </p:nvSpPr>
          <p:spPr bwMode="auto">
            <a:xfrm flipH="1">
              <a:off x="5068888" y="4222750"/>
              <a:ext cx="1296987" cy="12954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9" name="Line 120">
              <a:extLst>
                <a:ext uri="{FF2B5EF4-FFF2-40B4-BE49-F238E27FC236}">
                  <a16:creationId xmlns:a16="http://schemas.microsoft.com/office/drawing/2014/main" id="{647A68CF-8206-4F86-B619-217222757C46}"/>
                </a:ext>
              </a:extLst>
            </p:cNvPr>
            <p:cNvSpPr>
              <a:spLocks noChangeShapeType="1"/>
            </p:cNvSpPr>
            <p:nvPr/>
          </p:nvSpPr>
          <p:spPr bwMode="auto">
            <a:xfrm flipH="1">
              <a:off x="6324600" y="4241800"/>
              <a:ext cx="4397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60" name="Freeform 123">
              <a:extLst>
                <a:ext uri="{FF2B5EF4-FFF2-40B4-BE49-F238E27FC236}">
                  <a16:creationId xmlns:a16="http://schemas.microsoft.com/office/drawing/2014/main" id="{7327E6EA-F7F8-4E81-A247-50DE5B461AB3}"/>
                </a:ext>
              </a:extLst>
            </p:cNvPr>
            <p:cNvSpPr>
              <a:spLocks/>
            </p:cNvSpPr>
            <p:nvPr/>
          </p:nvSpPr>
          <p:spPr bwMode="auto">
            <a:xfrm>
              <a:off x="6750050" y="3659188"/>
              <a:ext cx="315913" cy="360362"/>
            </a:xfrm>
            <a:custGeom>
              <a:avLst/>
              <a:gdLst>
                <a:gd name="T0" fmla="*/ 2147483647 w 650"/>
                <a:gd name="T1" fmla="*/ 2147483647 h 735"/>
                <a:gd name="T2" fmla="*/ 2147483647 w 650"/>
                <a:gd name="T3" fmla="*/ 2147483647 h 735"/>
                <a:gd name="T4" fmla="*/ 2147483647 w 650"/>
                <a:gd name="T5" fmla="*/ 2147483647 h 735"/>
                <a:gd name="T6" fmla="*/ 2147483647 w 650"/>
                <a:gd name="T7" fmla="*/ 2147483647 h 735"/>
                <a:gd name="T8" fmla="*/ 2147483647 w 650"/>
                <a:gd name="T9" fmla="*/ 2147483647 h 735"/>
                <a:gd name="T10" fmla="*/ 2147483647 w 650"/>
                <a:gd name="T11" fmla="*/ 2147483647 h 735"/>
                <a:gd name="T12" fmla="*/ 2147483647 w 650"/>
                <a:gd name="T13" fmla="*/ 2147483647 h 735"/>
                <a:gd name="T14" fmla="*/ 2147483647 w 650"/>
                <a:gd name="T15" fmla="*/ 2147483647 h 735"/>
                <a:gd name="T16" fmla="*/ 2147483647 w 650"/>
                <a:gd name="T17" fmla="*/ 2147483647 h 735"/>
                <a:gd name="T18" fmla="*/ 2147483647 w 650"/>
                <a:gd name="T19" fmla="*/ 0 h 735"/>
                <a:gd name="T20" fmla="*/ 2147483647 w 650"/>
                <a:gd name="T21" fmla="*/ 2147483647 h 735"/>
                <a:gd name="T22" fmla="*/ 2147483647 w 650"/>
                <a:gd name="T23" fmla="*/ 2147483647 h 735"/>
                <a:gd name="T24" fmla="*/ 2147483647 w 650"/>
                <a:gd name="T25" fmla="*/ 2147483647 h 735"/>
                <a:gd name="T26" fmla="*/ 2147483647 w 650"/>
                <a:gd name="T27" fmla="*/ 2147483647 h 735"/>
                <a:gd name="T28" fmla="*/ 2147483647 w 650"/>
                <a:gd name="T29" fmla="*/ 2147483647 h 735"/>
                <a:gd name="T30" fmla="*/ 2147483647 w 650"/>
                <a:gd name="T31" fmla="*/ 2147483647 h 735"/>
                <a:gd name="T32" fmla="*/ 2147483647 w 650"/>
                <a:gd name="T33" fmla="*/ 2147483647 h 735"/>
                <a:gd name="T34" fmla="*/ 2147483647 w 650"/>
                <a:gd name="T35" fmla="*/ 2147483647 h 735"/>
                <a:gd name="T36" fmla="*/ 2147483647 w 650"/>
                <a:gd name="T37" fmla="*/ 2147483647 h 735"/>
                <a:gd name="T38" fmla="*/ 2147483647 w 650"/>
                <a:gd name="T39" fmla="*/ 2147483647 h 735"/>
                <a:gd name="T40" fmla="*/ 2147483647 w 650"/>
                <a:gd name="T41" fmla="*/ 2147483647 h 735"/>
                <a:gd name="T42" fmla="*/ 0 w 650"/>
                <a:gd name="T43" fmla="*/ 2147483647 h 735"/>
                <a:gd name="T44" fmla="*/ 2147483647 w 650"/>
                <a:gd name="T45" fmla="*/ 2147483647 h 735"/>
                <a:gd name="T46" fmla="*/ 2147483647 w 650"/>
                <a:gd name="T47" fmla="*/ 2147483647 h 735"/>
                <a:gd name="T48" fmla="*/ 2147483647 w 650"/>
                <a:gd name="T49" fmla="*/ 2147483647 h 735"/>
                <a:gd name="T50" fmla="*/ 2147483647 w 650"/>
                <a:gd name="T51" fmla="*/ 2147483647 h 735"/>
                <a:gd name="T52" fmla="*/ 2147483647 w 650"/>
                <a:gd name="T53" fmla="*/ 2147483647 h 735"/>
                <a:gd name="T54" fmla="*/ 2147483647 w 650"/>
                <a:gd name="T55" fmla="*/ 2147483647 h 735"/>
                <a:gd name="T56" fmla="*/ 2147483647 w 650"/>
                <a:gd name="T57" fmla="*/ 2147483647 h 735"/>
                <a:gd name="T58" fmla="*/ 2147483647 w 650"/>
                <a:gd name="T59" fmla="*/ 2147483647 h 735"/>
                <a:gd name="T60" fmla="*/ 2147483647 w 650"/>
                <a:gd name="T61" fmla="*/ 2147483647 h 735"/>
                <a:gd name="T62" fmla="*/ 2147483647 w 650"/>
                <a:gd name="T63" fmla="*/ 2147483647 h 735"/>
                <a:gd name="T64" fmla="*/ 2147483647 w 650"/>
                <a:gd name="T65" fmla="*/ 2147483647 h 735"/>
                <a:gd name="T66" fmla="*/ 2147483647 w 650"/>
                <a:gd name="T67" fmla="*/ 2147483647 h 735"/>
                <a:gd name="T68" fmla="*/ 2147483647 w 650"/>
                <a:gd name="T69" fmla="*/ 2147483647 h 735"/>
                <a:gd name="T70" fmla="*/ 2147483647 w 650"/>
                <a:gd name="T71" fmla="*/ 2147483647 h 735"/>
                <a:gd name="T72" fmla="*/ 2147483647 w 650"/>
                <a:gd name="T73" fmla="*/ 2147483647 h 735"/>
                <a:gd name="T74" fmla="*/ 2147483647 w 650"/>
                <a:gd name="T75" fmla="*/ 2147483647 h 735"/>
                <a:gd name="T76" fmla="*/ 2147483647 w 650"/>
                <a:gd name="T77" fmla="*/ 2147483647 h 735"/>
                <a:gd name="T78" fmla="*/ 2147483647 w 650"/>
                <a:gd name="T79" fmla="*/ 2147483647 h 735"/>
                <a:gd name="T80" fmla="*/ 2147483647 w 650"/>
                <a:gd name="T81" fmla="*/ 2147483647 h 735"/>
                <a:gd name="T82" fmla="*/ 2147483647 w 650"/>
                <a:gd name="T83" fmla="*/ 2147483647 h 735"/>
                <a:gd name="T84" fmla="*/ 2147483647 w 650"/>
                <a:gd name="T85" fmla="*/ 2147483647 h 735"/>
                <a:gd name="T86" fmla="*/ 2147483647 w 650"/>
                <a:gd name="T87" fmla="*/ 2147483647 h 735"/>
                <a:gd name="T88" fmla="*/ 2147483647 w 650"/>
                <a:gd name="T89" fmla="*/ 2147483647 h 735"/>
                <a:gd name="T90" fmla="*/ 2147483647 w 650"/>
                <a:gd name="T91" fmla="*/ 2147483647 h 735"/>
                <a:gd name="T92" fmla="*/ 2147483647 w 650"/>
                <a:gd name="T93" fmla="*/ 2147483647 h 735"/>
                <a:gd name="T94" fmla="*/ 2147483647 w 650"/>
                <a:gd name="T95" fmla="*/ 2147483647 h 735"/>
                <a:gd name="T96" fmla="*/ 2147483647 w 650"/>
                <a:gd name="T97" fmla="*/ 2147483647 h 7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50" h="735">
                  <a:moveTo>
                    <a:pt x="645" y="27"/>
                  </a:moveTo>
                  <a:lnTo>
                    <a:pt x="642" y="26"/>
                  </a:lnTo>
                  <a:lnTo>
                    <a:pt x="631" y="23"/>
                  </a:lnTo>
                  <a:lnTo>
                    <a:pt x="615" y="19"/>
                  </a:lnTo>
                  <a:lnTo>
                    <a:pt x="592" y="15"/>
                  </a:lnTo>
                  <a:lnTo>
                    <a:pt x="565" y="10"/>
                  </a:lnTo>
                  <a:lnTo>
                    <a:pt x="533" y="6"/>
                  </a:lnTo>
                  <a:lnTo>
                    <a:pt x="496" y="3"/>
                  </a:lnTo>
                  <a:lnTo>
                    <a:pt x="456" y="1"/>
                  </a:lnTo>
                  <a:lnTo>
                    <a:pt x="411" y="0"/>
                  </a:lnTo>
                  <a:lnTo>
                    <a:pt x="364" y="2"/>
                  </a:lnTo>
                  <a:lnTo>
                    <a:pt x="315" y="6"/>
                  </a:lnTo>
                  <a:lnTo>
                    <a:pt x="262" y="15"/>
                  </a:lnTo>
                  <a:lnTo>
                    <a:pt x="209" y="26"/>
                  </a:lnTo>
                  <a:lnTo>
                    <a:pt x="154" y="42"/>
                  </a:lnTo>
                  <a:lnTo>
                    <a:pt x="98" y="61"/>
                  </a:lnTo>
                  <a:lnTo>
                    <a:pt x="42" y="87"/>
                  </a:lnTo>
                  <a:lnTo>
                    <a:pt x="38" y="101"/>
                  </a:lnTo>
                  <a:lnTo>
                    <a:pt x="28" y="141"/>
                  </a:lnTo>
                  <a:lnTo>
                    <a:pt x="17" y="203"/>
                  </a:lnTo>
                  <a:lnTo>
                    <a:pt x="6" y="283"/>
                  </a:lnTo>
                  <a:lnTo>
                    <a:pt x="0" y="378"/>
                  </a:lnTo>
                  <a:lnTo>
                    <a:pt x="5" y="484"/>
                  </a:lnTo>
                  <a:lnTo>
                    <a:pt x="21" y="599"/>
                  </a:lnTo>
                  <a:lnTo>
                    <a:pt x="54" y="716"/>
                  </a:lnTo>
                  <a:lnTo>
                    <a:pt x="58" y="716"/>
                  </a:lnTo>
                  <a:lnTo>
                    <a:pt x="66" y="715"/>
                  </a:lnTo>
                  <a:lnTo>
                    <a:pt x="80" y="713"/>
                  </a:lnTo>
                  <a:lnTo>
                    <a:pt x="99" y="712"/>
                  </a:lnTo>
                  <a:lnTo>
                    <a:pt x="124" y="710"/>
                  </a:lnTo>
                  <a:lnTo>
                    <a:pt x="153" y="708"/>
                  </a:lnTo>
                  <a:lnTo>
                    <a:pt x="188" y="707"/>
                  </a:lnTo>
                  <a:lnTo>
                    <a:pt x="225" y="706"/>
                  </a:lnTo>
                  <a:lnTo>
                    <a:pt x="267" y="705"/>
                  </a:lnTo>
                  <a:lnTo>
                    <a:pt x="313" y="706"/>
                  </a:lnTo>
                  <a:lnTo>
                    <a:pt x="362" y="707"/>
                  </a:lnTo>
                  <a:lnTo>
                    <a:pt x="415" y="709"/>
                  </a:lnTo>
                  <a:lnTo>
                    <a:pt x="470" y="713"/>
                  </a:lnTo>
                  <a:lnTo>
                    <a:pt x="528" y="719"/>
                  </a:lnTo>
                  <a:lnTo>
                    <a:pt x="588" y="726"/>
                  </a:lnTo>
                  <a:lnTo>
                    <a:pt x="650" y="735"/>
                  </a:lnTo>
                  <a:lnTo>
                    <a:pt x="647" y="713"/>
                  </a:lnTo>
                  <a:lnTo>
                    <a:pt x="641" y="655"/>
                  </a:lnTo>
                  <a:lnTo>
                    <a:pt x="631" y="568"/>
                  </a:lnTo>
                  <a:lnTo>
                    <a:pt x="623" y="462"/>
                  </a:lnTo>
                  <a:lnTo>
                    <a:pt x="618" y="345"/>
                  </a:lnTo>
                  <a:lnTo>
                    <a:pt x="618" y="229"/>
                  </a:lnTo>
                  <a:lnTo>
                    <a:pt x="627" y="119"/>
                  </a:lnTo>
                  <a:lnTo>
                    <a:pt x="645" y="2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1" name="Freeform 124">
              <a:extLst>
                <a:ext uri="{FF2B5EF4-FFF2-40B4-BE49-F238E27FC236}">
                  <a16:creationId xmlns:a16="http://schemas.microsoft.com/office/drawing/2014/main" id="{1629AF82-A5A1-4CF5-BE55-C5FD9CE2E592}"/>
                </a:ext>
              </a:extLst>
            </p:cNvPr>
            <p:cNvSpPr>
              <a:spLocks/>
            </p:cNvSpPr>
            <p:nvPr/>
          </p:nvSpPr>
          <p:spPr bwMode="auto">
            <a:xfrm>
              <a:off x="6784975" y="3757613"/>
              <a:ext cx="519113" cy="357187"/>
            </a:xfrm>
            <a:custGeom>
              <a:avLst/>
              <a:gdLst>
                <a:gd name="T0" fmla="*/ 2147483647 w 1071"/>
                <a:gd name="T1" fmla="*/ 2147483647 h 731"/>
                <a:gd name="T2" fmla="*/ 0 w 1071"/>
                <a:gd name="T3" fmla="*/ 2147483647 h 731"/>
                <a:gd name="T4" fmla="*/ 2147483647 w 1071"/>
                <a:gd name="T5" fmla="*/ 2147483647 h 731"/>
                <a:gd name="T6" fmla="*/ 2147483647 w 1071"/>
                <a:gd name="T7" fmla="*/ 2147483647 h 731"/>
                <a:gd name="T8" fmla="*/ 2147483647 w 1071"/>
                <a:gd name="T9" fmla="*/ 2147483647 h 731"/>
                <a:gd name="T10" fmla="*/ 2147483647 w 1071"/>
                <a:gd name="T11" fmla="*/ 2147483647 h 731"/>
                <a:gd name="T12" fmla="*/ 2147483647 w 1071"/>
                <a:gd name="T13" fmla="*/ 2147483647 h 731"/>
                <a:gd name="T14" fmla="*/ 2147483647 w 1071"/>
                <a:gd name="T15" fmla="*/ 2147483647 h 731"/>
                <a:gd name="T16" fmla="*/ 2147483647 w 1071"/>
                <a:gd name="T17" fmla="*/ 2147483647 h 731"/>
                <a:gd name="T18" fmla="*/ 2147483647 w 1071"/>
                <a:gd name="T19" fmla="*/ 2147483647 h 731"/>
                <a:gd name="T20" fmla="*/ 2147483647 w 1071"/>
                <a:gd name="T21" fmla="*/ 2147483647 h 731"/>
                <a:gd name="T22" fmla="*/ 2147483647 w 1071"/>
                <a:gd name="T23" fmla="*/ 2147483647 h 731"/>
                <a:gd name="T24" fmla="*/ 2147483647 w 1071"/>
                <a:gd name="T25" fmla="*/ 2147483647 h 731"/>
                <a:gd name="T26" fmla="*/ 2147483647 w 1071"/>
                <a:gd name="T27" fmla="*/ 2147483647 h 731"/>
                <a:gd name="T28" fmla="*/ 2147483647 w 1071"/>
                <a:gd name="T29" fmla="*/ 2147483647 h 731"/>
                <a:gd name="T30" fmla="*/ 2147483647 w 1071"/>
                <a:gd name="T31" fmla="*/ 2147483647 h 731"/>
                <a:gd name="T32" fmla="*/ 2147483647 w 1071"/>
                <a:gd name="T33" fmla="*/ 2147483647 h 731"/>
                <a:gd name="T34" fmla="*/ 2147483647 w 1071"/>
                <a:gd name="T35" fmla="*/ 2147483647 h 731"/>
                <a:gd name="T36" fmla="*/ 2147483647 w 1071"/>
                <a:gd name="T37" fmla="*/ 2147483647 h 731"/>
                <a:gd name="T38" fmla="*/ 2147483647 w 1071"/>
                <a:gd name="T39" fmla="*/ 2147483647 h 731"/>
                <a:gd name="T40" fmla="*/ 2147483647 w 1071"/>
                <a:gd name="T41" fmla="*/ 2147483647 h 731"/>
                <a:gd name="T42" fmla="*/ 2147483647 w 1071"/>
                <a:gd name="T43" fmla="*/ 2147483647 h 731"/>
                <a:gd name="T44" fmla="*/ 2147483647 w 1071"/>
                <a:gd name="T45" fmla="*/ 2147483647 h 731"/>
                <a:gd name="T46" fmla="*/ 2147483647 w 1071"/>
                <a:gd name="T47" fmla="*/ 2147483647 h 731"/>
                <a:gd name="T48" fmla="*/ 2147483647 w 1071"/>
                <a:gd name="T49" fmla="*/ 2147483647 h 731"/>
                <a:gd name="T50" fmla="*/ 2147483647 w 1071"/>
                <a:gd name="T51" fmla="*/ 2147483647 h 731"/>
                <a:gd name="T52" fmla="*/ 2147483647 w 1071"/>
                <a:gd name="T53" fmla="*/ 0 h 731"/>
                <a:gd name="T54" fmla="*/ 2147483647 w 1071"/>
                <a:gd name="T55" fmla="*/ 2147483647 h 731"/>
                <a:gd name="T56" fmla="*/ 2147483647 w 1071"/>
                <a:gd name="T57" fmla="*/ 2147483647 h 731"/>
                <a:gd name="T58" fmla="*/ 2147483647 w 1071"/>
                <a:gd name="T59" fmla="*/ 2147483647 h 731"/>
                <a:gd name="T60" fmla="*/ 2147483647 w 1071"/>
                <a:gd name="T61" fmla="*/ 2147483647 h 731"/>
                <a:gd name="T62" fmla="*/ 2147483647 w 1071"/>
                <a:gd name="T63" fmla="*/ 2147483647 h 731"/>
                <a:gd name="T64" fmla="*/ 2147483647 w 1071"/>
                <a:gd name="T65" fmla="*/ 2147483647 h 731"/>
                <a:gd name="T66" fmla="*/ 2147483647 w 1071"/>
                <a:gd name="T67" fmla="*/ 2147483647 h 731"/>
                <a:gd name="T68" fmla="*/ 2147483647 w 1071"/>
                <a:gd name="T69" fmla="*/ 2147483647 h 731"/>
                <a:gd name="T70" fmla="*/ 2147483647 w 1071"/>
                <a:gd name="T71" fmla="*/ 2147483647 h 731"/>
                <a:gd name="T72" fmla="*/ 2147483647 w 1071"/>
                <a:gd name="T73" fmla="*/ 2147483647 h 731"/>
                <a:gd name="T74" fmla="*/ 2147483647 w 1071"/>
                <a:gd name="T75" fmla="*/ 2147483647 h 731"/>
                <a:gd name="T76" fmla="*/ 2147483647 w 1071"/>
                <a:gd name="T77" fmla="*/ 2147483647 h 731"/>
                <a:gd name="T78" fmla="*/ 2147483647 w 1071"/>
                <a:gd name="T79" fmla="*/ 2147483647 h 731"/>
                <a:gd name="T80" fmla="*/ 2147483647 w 1071"/>
                <a:gd name="T81" fmla="*/ 2147483647 h 731"/>
                <a:gd name="T82" fmla="*/ 2147483647 w 1071"/>
                <a:gd name="T83" fmla="*/ 2147483647 h 731"/>
                <a:gd name="T84" fmla="*/ 2147483647 w 1071"/>
                <a:gd name="T85" fmla="*/ 2147483647 h 731"/>
                <a:gd name="T86" fmla="*/ 2147483647 w 1071"/>
                <a:gd name="T87" fmla="*/ 2147483647 h 731"/>
                <a:gd name="T88" fmla="*/ 2147483647 w 1071"/>
                <a:gd name="T89" fmla="*/ 2147483647 h 731"/>
                <a:gd name="T90" fmla="*/ 2147483647 w 1071"/>
                <a:gd name="T91" fmla="*/ 2147483647 h 731"/>
                <a:gd name="T92" fmla="*/ 2147483647 w 1071"/>
                <a:gd name="T93" fmla="*/ 2147483647 h 731"/>
                <a:gd name="T94" fmla="*/ 2147483647 w 1071"/>
                <a:gd name="T95" fmla="*/ 2147483647 h 731"/>
                <a:gd name="T96" fmla="*/ 2147483647 w 1071"/>
                <a:gd name="T97" fmla="*/ 2147483647 h 731"/>
                <a:gd name="T98" fmla="*/ 2147483647 w 1071"/>
                <a:gd name="T99" fmla="*/ 2147483647 h 731"/>
                <a:gd name="T100" fmla="*/ 2147483647 w 1071"/>
                <a:gd name="T101" fmla="*/ 2147483647 h 731"/>
                <a:gd name="T102" fmla="*/ 2147483647 w 1071"/>
                <a:gd name="T103" fmla="*/ 2147483647 h 731"/>
                <a:gd name="T104" fmla="*/ 2147483647 w 1071"/>
                <a:gd name="T105" fmla="*/ 2147483647 h 731"/>
                <a:gd name="T106" fmla="*/ 2147483647 w 1071"/>
                <a:gd name="T107" fmla="*/ 2147483647 h 7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71" h="731">
                  <a:moveTo>
                    <a:pt x="6" y="552"/>
                  </a:moveTo>
                  <a:lnTo>
                    <a:pt x="0" y="642"/>
                  </a:lnTo>
                  <a:lnTo>
                    <a:pt x="698" y="731"/>
                  </a:lnTo>
                  <a:lnTo>
                    <a:pt x="703" y="729"/>
                  </a:lnTo>
                  <a:lnTo>
                    <a:pt x="717" y="722"/>
                  </a:lnTo>
                  <a:lnTo>
                    <a:pt x="740" y="710"/>
                  </a:lnTo>
                  <a:lnTo>
                    <a:pt x="768" y="694"/>
                  </a:lnTo>
                  <a:lnTo>
                    <a:pt x="801" y="672"/>
                  </a:lnTo>
                  <a:lnTo>
                    <a:pt x="838" y="645"/>
                  </a:lnTo>
                  <a:lnTo>
                    <a:pt x="876" y="614"/>
                  </a:lnTo>
                  <a:lnTo>
                    <a:pt x="915" y="577"/>
                  </a:lnTo>
                  <a:lnTo>
                    <a:pt x="953" y="536"/>
                  </a:lnTo>
                  <a:lnTo>
                    <a:pt x="988" y="491"/>
                  </a:lnTo>
                  <a:lnTo>
                    <a:pt x="1018" y="439"/>
                  </a:lnTo>
                  <a:lnTo>
                    <a:pt x="1043" y="383"/>
                  </a:lnTo>
                  <a:lnTo>
                    <a:pt x="1061" y="322"/>
                  </a:lnTo>
                  <a:lnTo>
                    <a:pt x="1071" y="255"/>
                  </a:lnTo>
                  <a:lnTo>
                    <a:pt x="1070" y="185"/>
                  </a:lnTo>
                  <a:lnTo>
                    <a:pt x="1057" y="108"/>
                  </a:lnTo>
                  <a:lnTo>
                    <a:pt x="1055" y="104"/>
                  </a:lnTo>
                  <a:lnTo>
                    <a:pt x="1049" y="92"/>
                  </a:lnTo>
                  <a:lnTo>
                    <a:pt x="1037" y="76"/>
                  </a:lnTo>
                  <a:lnTo>
                    <a:pt x="1022" y="57"/>
                  </a:lnTo>
                  <a:lnTo>
                    <a:pt x="1002" y="37"/>
                  </a:lnTo>
                  <a:lnTo>
                    <a:pt x="979" y="20"/>
                  </a:lnTo>
                  <a:lnTo>
                    <a:pt x="951" y="7"/>
                  </a:lnTo>
                  <a:lnTo>
                    <a:pt x="919" y="0"/>
                  </a:lnTo>
                  <a:lnTo>
                    <a:pt x="924" y="12"/>
                  </a:lnTo>
                  <a:lnTo>
                    <a:pt x="934" y="44"/>
                  </a:lnTo>
                  <a:lnTo>
                    <a:pt x="947" y="94"/>
                  </a:lnTo>
                  <a:lnTo>
                    <a:pt x="958" y="159"/>
                  </a:lnTo>
                  <a:lnTo>
                    <a:pt x="961" y="238"/>
                  </a:lnTo>
                  <a:lnTo>
                    <a:pt x="953" y="324"/>
                  </a:lnTo>
                  <a:lnTo>
                    <a:pt x="928" y="418"/>
                  </a:lnTo>
                  <a:lnTo>
                    <a:pt x="884" y="516"/>
                  </a:lnTo>
                  <a:lnTo>
                    <a:pt x="883" y="518"/>
                  </a:lnTo>
                  <a:lnTo>
                    <a:pt x="879" y="521"/>
                  </a:lnTo>
                  <a:lnTo>
                    <a:pt x="872" y="526"/>
                  </a:lnTo>
                  <a:lnTo>
                    <a:pt x="862" y="534"/>
                  </a:lnTo>
                  <a:lnTo>
                    <a:pt x="851" y="541"/>
                  </a:lnTo>
                  <a:lnTo>
                    <a:pt x="837" y="550"/>
                  </a:lnTo>
                  <a:lnTo>
                    <a:pt x="819" y="559"/>
                  </a:lnTo>
                  <a:lnTo>
                    <a:pt x="800" y="567"/>
                  </a:lnTo>
                  <a:lnTo>
                    <a:pt x="778" y="575"/>
                  </a:lnTo>
                  <a:lnTo>
                    <a:pt x="754" y="582"/>
                  </a:lnTo>
                  <a:lnTo>
                    <a:pt x="727" y="588"/>
                  </a:lnTo>
                  <a:lnTo>
                    <a:pt x="697" y="592"/>
                  </a:lnTo>
                  <a:lnTo>
                    <a:pt x="666" y="593"/>
                  </a:lnTo>
                  <a:lnTo>
                    <a:pt x="631" y="592"/>
                  </a:lnTo>
                  <a:lnTo>
                    <a:pt x="593" y="589"/>
                  </a:lnTo>
                  <a:lnTo>
                    <a:pt x="555" y="581"/>
                  </a:lnTo>
                  <a:lnTo>
                    <a:pt x="555" y="677"/>
                  </a:lnTo>
                  <a:lnTo>
                    <a:pt x="24" y="623"/>
                  </a:lnTo>
                  <a:lnTo>
                    <a:pt x="6" y="5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2" name="Freeform 125">
              <a:extLst>
                <a:ext uri="{FF2B5EF4-FFF2-40B4-BE49-F238E27FC236}">
                  <a16:creationId xmlns:a16="http://schemas.microsoft.com/office/drawing/2014/main" id="{FA154166-0B90-4AB5-B9C8-A0D935258EA7}"/>
                </a:ext>
              </a:extLst>
            </p:cNvPr>
            <p:cNvSpPr>
              <a:spLocks/>
            </p:cNvSpPr>
            <p:nvPr/>
          </p:nvSpPr>
          <p:spPr bwMode="auto">
            <a:xfrm>
              <a:off x="6718300" y="4110038"/>
              <a:ext cx="382588" cy="123825"/>
            </a:xfrm>
            <a:custGeom>
              <a:avLst/>
              <a:gdLst>
                <a:gd name="T0" fmla="*/ 2147483647 w 787"/>
                <a:gd name="T1" fmla="*/ 2147483647 h 253"/>
                <a:gd name="T2" fmla="*/ 2147483647 w 787"/>
                <a:gd name="T3" fmla="*/ 0 h 253"/>
                <a:gd name="T4" fmla="*/ 0 w 787"/>
                <a:gd name="T5" fmla="*/ 2147483647 h 253"/>
                <a:gd name="T6" fmla="*/ 2147483647 w 787"/>
                <a:gd name="T7" fmla="*/ 2147483647 h 253"/>
                <a:gd name="T8" fmla="*/ 2147483647 w 787"/>
                <a:gd name="T9" fmla="*/ 2147483647 h 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7" h="253">
                  <a:moveTo>
                    <a:pt x="787" y="91"/>
                  </a:moveTo>
                  <a:lnTo>
                    <a:pt x="12" y="0"/>
                  </a:lnTo>
                  <a:lnTo>
                    <a:pt x="0" y="91"/>
                  </a:lnTo>
                  <a:lnTo>
                    <a:pt x="764" y="253"/>
                  </a:lnTo>
                  <a:lnTo>
                    <a:pt x="787" y="9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3" name="Freeform 126">
              <a:extLst>
                <a:ext uri="{FF2B5EF4-FFF2-40B4-BE49-F238E27FC236}">
                  <a16:creationId xmlns:a16="http://schemas.microsoft.com/office/drawing/2014/main" id="{3F8E938E-9B18-45D2-8961-16D6809D3E84}"/>
                </a:ext>
              </a:extLst>
            </p:cNvPr>
            <p:cNvSpPr>
              <a:spLocks/>
            </p:cNvSpPr>
            <p:nvPr/>
          </p:nvSpPr>
          <p:spPr bwMode="auto">
            <a:xfrm>
              <a:off x="6908800" y="4149725"/>
              <a:ext cx="163513" cy="55563"/>
            </a:xfrm>
            <a:custGeom>
              <a:avLst/>
              <a:gdLst>
                <a:gd name="T0" fmla="*/ 2147483647 w 336"/>
                <a:gd name="T1" fmla="*/ 2147483647 h 115"/>
                <a:gd name="T2" fmla="*/ 2147483647 w 336"/>
                <a:gd name="T3" fmla="*/ 0 h 115"/>
                <a:gd name="T4" fmla="*/ 0 w 336"/>
                <a:gd name="T5" fmla="*/ 2147483647 h 115"/>
                <a:gd name="T6" fmla="*/ 2147483647 w 336"/>
                <a:gd name="T7" fmla="*/ 2147483647 h 115"/>
                <a:gd name="T8" fmla="*/ 2147483647 w 336"/>
                <a:gd name="T9" fmla="*/ 2147483647 h 1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6" h="115">
                  <a:moveTo>
                    <a:pt x="336" y="50"/>
                  </a:moveTo>
                  <a:lnTo>
                    <a:pt x="4" y="0"/>
                  </a:lnTo>
                  <a:lnTo>
                    <a:pt x="0" y="48"/>
                  </a:lnTo>
                  <a:lnTo>
                    <a:pt x="327" y="115"/>
                  </a:lnTo>
                  <a:lnTo>
                    <a:pt x="336" y="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4" name="Freeform 127">
              <a:extLst>
                <a:ext uri="{FF2B5EF4-FFF2-40B4-BE49-F238E27FC236}">
                  <a16:creationId xmlns:a16="http://schemas.microsoft.com/office/drawing/2014/main" id="{7848B359-DD47-4824-A179-753B3EBF2CED}"/>
                </a:ext>
              </a:extLst>
            </p:cNvPr>
            <p:cNvSpPr>
              <a:spLocks/>
            </p:cNvSpPr>
            <p:nvPr/>
          </p:nvSpPr>
          <p:spPr bwMode="auto">
            <a:xfrm>
              <a:off x="6743700" y="4121150"/>
              <a:ext cx="107950" cy="41275"/>
            </a:xfrm>
            <a:custGeom>
              <a:avLst/>
              <a:gdLst>
                <a:gd name="T0" fmla="*/ 2147483647 w 225"/>
                <a:gd name="T1" fmla="*/ 2147483647 h 85"/>
                <a:gd name="T2" fmla="*/ 0 w 225"/>
                <a:gd name="T3" fmla="*/ 0 h 85"/>
                <a:gd name="T4" fmla="*/ 2147483647 w 225"/>
                <a:gd name="T5" fmla="*/ 2147483647 h 85"/>
                <a:gd name="T6" fmla="*/ 2147483647 w 225"/>
                <a:gd name="T7" fmla="*/ 2147483647 h 85"/>
                <a:gd name="T8" fmla="*/ 2147483647 w 225"/>
                <a:gd name="T9" fmla="*/ 2147483647 h 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85">
                  <a:moveTo>
                    <a:pt x="225" y="39"/>
                  </a:moveTo>
                  <a:lnTo>
                    <a:pt x="0" y="0"/>
                  </a:lnTo>
                  <a:lnTo>
                    <a:pt x="3" y="41"/>
                  </a:lnTo>
                  <a:lnTo>
                    <a:pt x="218" y="85"/>
                  </a:lnTo>
                  <a:lnTo>
                    <a:pt x="225" y="3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5" name="Freeform 128">
              <a:extLst>
                <a:ext uri="{FF2B5EF4-FFF2-40B4-BE49-F238E27FC236}">
                  <a16:creationId xmlns:a16="http://schemas.microsoft.com/office/drawing/2014/main" id="{7AC4D512-CF04-4808-A300-9B6A110531DC}"/>
                </a:ext>
              </a:extLst>
            </p:cNvPr>
            <p:cNvSpPr>
              <a:spLocks/>
            </p:cNvSpPr>
            <p:nvPr/>
          </p:nvSpPr>
          <p:spPr bwMode="auto">
            <a:xfrm>
              <a:off x="6469063" y="4162425"/>
              <a:ext cx="642937" cy="215900"/>
            </a:xfrm>
            <a:custGeom>
              <a:avLst/>
              <a:gdLst>
                <a:gd name="T0" fmla="*/ 0 w 1325"/>
                <a:gd name="T1" fmla="*/ 2147483647 h 439"/>
                <a:gd name="T2" fmla="*/ 2147483647 w 1325"/>
                <a:gd name="T3" fmla="*/ 2147483647 h 439"/>
                <a:gd name="T4" fmla="*/ 2147483647 w 1325"/>
                <a:gd name="T5" fmla="*/ 2147483647 h 439"/>
                <a:gd name="T6" fmla="*/ 2147483647 w 1325"/>
                <a:gd name="T7" fmla="*/ 2147483647 h 439"/>
                <a:gd name="T8" fmla="*/ 2147483647 w 1325"/>
                <a:gd name="T9" fmla="*/ 2147483647 h 439"/>
                <a:gd name="T10" fmla="*/ 2147483647 w 1325"/>
                <a:gd name="T11" fmla="*/ 2147483647 h 439"/>
                <a:gd name="T12" fmla="*/ 2147483647 w 1325"/>
                <a:gd name="T13" fmla="*/ 2147483647 h 439"/>
                <a:gd name="T14" fmla="*/ 2147483647 w 1325"/>
                <a:gd name="T15" fmla="*/ 2147483647 h 439"/>
                <a:gd name="T16" fmla="*/ 2147483647 w 1325"/>
                <a:gd name="T17" fmla="*/ 2147483647 h 439"/>
                <a:gd name="T18" fmla="*/ 2147483647 w 1325"/>
                <a:gd name="T19" fmla="*/ 2147483647 h 439"/>
                <a:gd name="T20" fmla="*/ 2147483647 w 1325"/>
                <a:gd name="T21" fmla="*/ 2147483647 h 439"/>
                <a:gd name="T22" fmla="*/ 2147483647 w 1325"/>
                <a:gd name="T23" fmla="*/ 2147483647 h 439"/>
                <a:gd name="T24" fmla="*/ 2147483647 w 1325"/>
                <a:gd name="T25" fmla="*/ 2147483647 h 439"/>
                <a:gd name="T26" fmla="*/ 2147483647 w 1325"/>
                <a:gd name="T27" fmla="*/ 2147483647 h 439"/>
                <a:gd name="T28" fmla="*/ 2147483647 w 1325"/>
                <a:gd name="T29" fmla="*/ 2147483647 h 439"/>
                <a:gd name="T30" fmla="*/ 2147483647 w 1325"/>
                <a:gd name="T31" fmla="*/ 2147483647 h 439"/>
                <a:gd name="T32" fmla="*/ 2147483647 w 1325"/>
                <a:gd name="T33" fmla="*/ 0 h 439"/>
                <a:gd name="T34" fmla="*/ 2147483647 w 1325"/>
                <a:gd name="T35" fmla="*/ 2147483647 h 439"/>
                <a:gd name="T36" fmla="*/ 2147483647 w 1325"/>
                <a:gd name="T37" fmla="*/ 2147483647 h 439"/>
                <a:gd name="T38" fmla="*/ 2147483647 w 1325"/>
                <a:gd name="T39" fmla="*/ 2147483647 h 439"/>
                <a:gd name="T40" fmla="*/ 2147483647 w 1325"/>
                <a:gd name="T41" fmla="*/ 2147483647 h 439"/>
                <a:gd name="T42" fmla="*/ 2147483647 w 1325"/>
                <a:gd name="T43" fmla="*/ 2147483647 h 439"/>
                <a:gd name="T44" fmla="*/ 2147483647 w 1325"/>
                <a:gd name="T45" fmla="*/ 2147483647 h 439"/>
                <a:gd name="T46" fmla="*/ 2147483647 w 1325"/>
                <a:gd name="T47" fmla="*/ 2147483647 h 439"/>
                <a:gd name="T48" fmla="*/ 2147483647 w 1325"/>
                <a:gd name="T49" fmla="*/ 2147483647 h 439"/>
                <a:gd name="T50" fmla="*/ 2147483647 w 1325"/>
                <a:gd name="T51" fmla="*/ 2147483647 h 439"/>
                <a:gd name="T52" fmla="*/ 2147483647 w 1325"/>
                <a:gd name="T53" fmla="*/ 2147483647 h 439"/>
                <a:gd name="T54" fmla="*/ 2147483647 w 1325"/>
                <a:gd name="T55" fmla="*/ 2147483647 h 439"/>
                <a:gd name="T56" fmla="*/ 2147483647 w 1325"/>
                <a:gd name="T57" fmla="*/ 2147483647 h 439"/>
                <a:gd name="T58" fmla="*/ 2147483647 w 1325"/>
                <a:gd name="T59" fmla="*/ 2147483647 h 439"/>
                <a:gd name="T60" fmla="*/ 2147483647 w 1325"/>
                <a:gd name="T61" fmla="*/ 2147483647 h 439"/>
                <a:gd name="T62" fmla="*/ 2147483647 w 1325"/>
                <a:gd name="T63" fmla="*/ 2147483647 h 439"/>
                <a:gd name="T64" fmla="*/ 2147483647 w 1325"/>
                <a:gd name="T65" fmla="*/ 2147483647 h 439"/>
                <a:gd name="T66" fmla="*/ 2147483647 w 1325"/>
                <a:gd name="T67" fmla="*/ 2147483647 h 439"/>
                <a:gd name="T68" fmla="*/ 0 w 1325"/>
                <a:gd name="T69" fmla="*/ 2147483647 h 4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325" h="439">
                  <a:moveTo>
                    <a:pt x="0" y="132"/>
                  </a:moveTo>
                  <a:lnTo>
                    <a:pt x="3" y="132"/>
                  </a:lnTo>
                  <a:lnTo>
                    <a:pt x="10" y="130"/>
                  </a:lnTo>
                  <a:lnTo>
                    <a:pt x="24" y="128"/>
                  </a:lnTo>
                  <a:lnTo>
                    <a:pt x="42" y="125"/>
                  </a:lnTo>
                  <a:lnTo>
                    <a:pt x="62" y="121"/>
                  </a:lnTo>
                  <a:lnTo>
                    <a:pt x="86" y="116"/>
                  </a:lnTo>
                  <a:lnTo>
                    <a:pt x="113" y="109"/>
                  </a:lnTo>
                  <a:lnTo>
                    <a:pt x="141" y="102"/>
                  </a:lnTo>
                  <a:lnTo>
                    <a:pt x="170" y="94"/>
                  </a:lnTo>
                  <a:lnTo>
                    <a:pt x="199" y="85"/>
                  </a:lnTo>
                  <a:lnTo>
                    <a:pt x="228" y="74"/>
                  </a:lnTo>
                  <a:lnTo>
                    <a:pt x="257" y="62"/>
                  </a:lnTo>
                  <a:lnTo>
                    <a:pt x="285" y="48"/>
                  </a:lnTo>
                  <a:lnTo>
                    <a:pt x="309" y="34"/>
                  </a:lnTo>
                  <a:lnTo>
                    <a:pt x="333" y="18"/>
                  </a:lnTo>
                  <a:lnTo>
                    <a:pt x="352" y="0"/>
                  </a:lnTo>
                  <a:lnTo>
                    <a:pt x="1325" y="223"/>
                  </a:lnTo>
                  <a:lnTo>
                    <a:pt x="1323" y="225"/>
                  </a:lnTo>
                  <a:lnTo>
                    <a:pt x="1318" y="230"/>
                  </a:lnTo>
                  <a:lnTo>
                    <a:pt x="1309" y="239"/>
                  </a:lnTo>
                  <a:lnTo>
                    <a:pt x="1297" y="250"/>
                  </a:lnTo>
                  <a:lnTo>
                    <a:pt x="1282" y="263"/>
                  </a:lnTo>
                  <a:lnTo>
                    <a:pt x="1265" y="278"/>
                  </a:lnTo>
                  <a:lnTo>
                    <a:pt x="1247" y="295"/>
                  </a:lnTo>
                  <a:lnTo>
                    <a:pt x="1225" y="312"/>
                  </a:lnTo>
                  <a:lnTo>
                    <a:pt x="1202" y="331"/>
                  </a:lnTo>
                  <a:lnTo>
                    <a:pt x="1179" y="349"/>
                  </a:lnTo>
                  <a:lnTo>
                    <a:pt x="1154" y="367"/>
                  </a:lnTo>
                  <a:lnTo>
                    <a:pt x="1128" y="385"/>
                  </a:lnTo>
                  <a:lnTo>
                    <a:pt x="1102" y="401"/>
                  </a:lnTo>
                  <a:lnTo>
                    <a:pt x="1077" y="415"/>
                  </a:lnTo>
                  <a:lnTo>
                    <a:pt x="1051" y="428"/>
                  </a:lnTo>
                  <a:lnTo>
                    <a:pt x="1026" y="439"/>
                  </a:lnTo>
                  <a:lnTo>
                    <a:pt x="0" y="1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6" name="Freeform 129">
              <a:extLst>
                <a:ext uri="{FF2B5EF4-FFF2-40B4-BE49-F238E27FC236}">
                  <a16:creationId xmlns:a16="http://schemas.microsoft.com/office/drawing/2014/main" id="{9F8B325C-67F3-4B71-9897-1067AF7D8646}"/>
                </a:ext>
              </a:extLst>
            </p:cNvPr>
            <p:cNvSpPr>
              <a:spLocks/>
            </p:cNvSpPr>
            <p:nvPr/>
          </p:nvSpPr>
          <p:spPr bwMode="auto">
            <a:xfrm>
              <a:off x="7110413" y="4138613"/>
              <a:ext cx="228600" cy="103187"/>
            </a:xfrm>
            <a:custGeom>
              <a:avLst/>
              <a:gdLst>
                <a:gd name="T0" fmla="*/ 2147483647 w 472"/>
                <a:gd name="T1" fmla="*/ 2147483647 h 209"/>
                <a:gd name="T2" fmla="*/ 2147483647 w 472"/>
                <a:gd name="T3" fmla="*/ 2147483647 h 209"/>
                <a:gd name="T4" fmla="*/ 2147483647 w 472"/>
                <a:gd name="T5" fmla="*/ 0 h 209"/>
                <a:gd name="T6" fmla="*/ 2147483647 w 472"/>
                <a:gd name="T7" fmla="*/ 2147483647 h 209"/>
                <a:gd name="T8" fmla="*/ 0 w 472"/>
                <a:gd name="T9" fmla="*/ 2147483647 h 209"/>
                <a:gd name="T10" fmla="*/ 2147483647 w 472"/>
                <a:gd name="T11" fmla="*/ 2147483647 h 2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2" h="209">
                  <a:moveTo>
                    <a:pt x="47" y="209"/>
                  </a:moveTo>
                  <a:lnTo>
                    <a:pt x="472" y="84"/>
                  </a:lnTo>
                  <a:lnTo>
                    <a:pt x="215" y="0"/>
                  </a:lnTo>
                  <a:lnTo>
                    <a:pt x="5" y="24"/>
                  </a:lnTo>
                  <a:lnTo>
                    <a:pt x="0" y="197"/>
                  </a:lnTo>
                  <a:lnTo>
                    <a:pt x="47" y="2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7" name="Freeform 130">
              <a:extLst>
                <a:ext uri="{FF2B5EF4-FFF2-40B4-BE49-F238E27FC236}">
                  <a16:creationId xmlns:a16="http://schemas.microsoft.com/office/drawing/2014/main" id="{5AD63B4E-A902-4C34-80AE-603A8CB39A5E}"/>
                </a:ext>
              </a:extLst>
            </p:cNvPr>
            <p:cNvSpPr>
              <a:spLocks/>
            </p:cNvSpPr>
            <p:nvPr/>
          </p:nvSpPr>
          <p:spPr bwMode="auto">
            <a:xfrm>
              <a:off x="6518275" y="3698875"/>
              <a:ext cx="122238" cy="490538"/>
            </a:xfrm>
            <a:custGeom>
              <a:avLst/>
              <a:gdLst>
                <a:gd name="T0" fmla="*/ 2147483647 w 251"/>
                <a:gd name="T1" fmla="*/ 2147483647 h 999"/>
                <a:gd name="T2" fmla="*/ 2147483647 w 251"/>
                <a:gd name="T3" fmla="*/ 2147483647 h 999"/>
                <a:gd name="T4" fmla="*/ 2147483647 w 251"/>
                <a:gd name="T5" fmla="*/ 2147483647 h 999"/>
                <a:gd name="T6" fmla="*/ 2147483647 w 251"/>
                <a:gd name="T7" fmla="*/ 2147483647 h 999"/>
                <a:gd name="T8" fmla="*/ 2147483647 w 251"/>
                <a:gd name="T9" fmla="*/ 2147483647 h 999"/>
                <a:gd name="T10" fmla="*/ 2147483647 w 251"/>
                <a:gd name="T11" fmla="*/ 2147483647 h 999"/>
                <a:gd name="T12" fmla="*/ 2147483647 w 251"/>
                <a:gd name="T13" fmla="*/ 2147483647 h 999"/>
                <a:gd name="T14" fmla="*/ 2147483647 w 251"/>
                <a:gd name="T15" fmla="*/ 2147483647 h 999"/>
                <a:gd name="T16" fmla="*/ 2147483647 w 251"/>
                <a:gd name="T17" fmla="*/ 2147483647 h 999"/>
                <a:gd name="T18" fmla="*/ 2147483647 w 251"/>
                <a:gd name="T19" fmla="*/ 0 h 999"/>
                <a:gd name="T20" fmla="*/ 2147483647 w 251"/>
                <a:gd name="T21" fmla="*/ 0 h 999"/>
                <a:gd name="T22" fmla="*/ 2147483647 w 251"/>
                <a:gd name="T23" fmla="*/ 2147483647 h 999"/>
                <a:gd name="T24" fmla="*/ 2147483647 w 251"/>
                <a:gd name="T25" fmla="*/ 2147483647 h 999"/>
                <a:gd name="T26" fmla="*/ 2147483647 w 251"/>
                <a:gd name="T27" fmla="*/ 2147483647 h 999"/>
                <a:gd name="T28" fmla="*/ 2147483647 w 251"/>
                <a:gd name="T29" fmla="*/ 2147483647 h 999"/>
                <a:gd name="T30" fmla="*/ 2147483647 w 251"/>
                <a:gd name="T31" fmla="*/ 2147483647 h 999"/>
                <a:gd name="T32" fmla="*/ 0 w 251"/>
                <a:gd name="T33" fmla="*/ 2147483647 h 999"/>
                <a:gd name="T34" fmla="*/ 0 w 251"/>
                <a:gd name="T35" fmla="*/ 2147483647 h 999"/>
                <a:gd name="T36" fmla="*/ 2147483647 w 251"/>
                <a:gd name="T37" fmla="*/ 2147483647 h 999"/>
                <a:gd name="T38" fmla="*/ 2147483647 w 251"/>
                <a:gd name="T39" fmla="*/ 2147483647 h 999"/>
                <a:gd name="T40" fmla="*/ 2147483647 w 251"/>
                <a:gd name="T41" fmla="*/ 2147483647 h 999"/>
                <a:gd name="T42" fmla="*/ 2147483647 w 251"/>
                <a:gd name="T43" fmla="*/ 2147483647 h 999"/>
                <a:gd name="T44" fmla="*/ 2147483647 w 251"/>
                <a:gd name="T45" fmla="*/ 2147483647 h 999"/>
                <a:gd name="T46" fmla="*/ 2147483647 w 251"/>
                <a:gd name="T47" fmla="*/ 2147483647 h 999"/>
                <a:gd name="T48" fmla="*/ 2147483647 w 251"/>
                <a:gd name="T49" fmla="*/ 2147483647 h 999"/>
                <a:gd name="T50" fmla="*/ 2147483647 w 251"/>
                <a:gd name="T51" fmla="*/ 2147483647 h 999"/>
                <a:gd name="T52" fmla="*/ 2147483647 w 251"/>
                <a:gd name="T53" fmla="*/ 2147483647 h 999"/>
                <a:gd name="T54" fmla="*/ 2147483647 w 251"/>
                <a:gd name="T55" fmla="*/ 2147483647 h 999"/>
                <a:gd name="T56" fmla="*/ 2147483647 w 251"/>
                <a:gd name="T57" fmla="*/ 2147483647 h 999"/>
                <a:gd name="T58" fmla="*/ 2147483647 w 251"/>
                <a:gd name="T59" fmla="*/ 2147483647 h 999"/>
                <a:gd name="T60" fmla="*/ 2147483647 w 251"/>
                <a:gd name="T61" fmla="*/ 2147483647 h 999"/>
                <a:gd name="T62" fmla="*/ 2147483647 w 251"/>
                <a:gd name="T63" fmla="*/ 2147483647 h 999"/>
                <a:gd name="T64" fmla="*/ 2147483647 w 251"/>
                <a:gd name="T65" fmla="*/ 2147483647 h 999"/>
                <a:gd name="T66" fmla="*/ 2147483647 w 251"/>
                <a:gd name="T67" fmla="*/ 2147483647 h 999"/>
                <a:gd name="T68" fmla="*/ 2147483647 w 251"/>
                <a:gd name="T69" fmla="*/ 2147483647 h 99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1" h="999">
                  <a:moveTo>
                    <a:pt x="251" y="23"/>
                  </a:moveTo>
                  <a:lnTo>
                    <a:pt x="250" y="22"/>
                  </a:lnTo>
                  <a:lnTo>
                    <a:pt x="246" y="20"/>
                  </a:lnTo>
                  <a:lnTo>
                    <a:pt x="239" y="18"/>
                  </a:lnTo>
                  <a:lnTo>
                    <a:pt x="230" y="15"/>
                  </a:lnTo>
                  <a:lnTo>
                    <a:pt x="218" y="11"/>
                  </a:lnTo>
                  <a:lnTo>
                    <a:pt x="205" y="7"/>
                  </a:lnTo>
                  <a:lnTo>
                    <a:pt x="190" y="4"/>
                  </a:lnTo>
                  <a:lnTo>
                    <a:pt x="173" y="1"/>
                  </a:lnTo>
                  <a:lnTo>
                    <a:pt x="155" y="0"/>
                  </a:lnTo>
                  <a:lnTo>
                    <a:pt x="134" y="0"/>
                  </a:lnTo>
                  <a:lnTo>
                    <a:pt x="114" y="2"/>
                  </a:lnTo>
                  <a:lnTo>
                    <a:pt x="92" y="5"/>
                  </a:lnTo>
                  <a:lnTo>
                    <a:pt x="70" y="12"/>
                  </a:lnTo>
                  <a:lnTo>
                    <a:pt x="47" y="20"/>
                  </a:lnTo>
                  <a:lnTo>
                    <a:pt x="23" y="32"/>
                  </a:lnTo>
                  <a:lnTo>
                    <a:pt x="0" y="47"/>
                  </a:lnTo>
                  <a:lnTo>
                    <a:pt x="0" y="999"/>
                  </a:lnTo>
                  <a:lnTo>
                    <a:pt x="1" y="999"/>
                  </a:lnTo>
                  <a:lnTo>
                    <a:pt x="6" y="999"/>
                  </a:lnTo>
                  <a:lnTo>
                    <a:pt x="14" y="998"/>
                  </a:lnTo>
                  <a:lnTo>
                    <a:pt x="23" y="997"/>
                  </a:lnTo>
                  <a:lnTo>
                    <a:pt x="35" y="995"/>
                  </a:lnTo>
                  <a:lnTo>
                    <a:pt x="49" y="993"/>
                  </a:lnTo>
                  <a:lnTo>
                    <a:pt x="65" y="990"/>
                  </a:lnTo>
                  <a:lnTo>
                    <a:pt x="83" y="985"/>
                  </a:lnTo>
                  <a:lnTo>
                    <a:pt x="102" y="980"/>
                  </a:lnTo>
                  <a:lnTo>
                    <a:pt x="121" y="973"/>
                  </a:lnTo>
                  <a:lnTo>
                    <a:pt x="143" y="966"/>
                  </a:lnTo>
                  <a:lnTo>
                    <a:pt x="164" y="956"/>
                  </a:lnTo>
                  <a:lnTo>
                    <a:pt x="186" y="945"/>
                  </a:lnTo>
                  <a:lnTo>
                    <a:pt x="208" y="934"/>
                  </a:lnTo>
                  <a:lnTo>
                    <a:pt x="230" y="919"/>
                  </a:lnTo>
                  <a:lnTo>
                    <a:pt x="251" y="903"/>
                  </a:lnTo>
                  <a:lnTo>
                    <a:pt x="251"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8" name="Freeform 131">
              <a:extLst>
                <a:ext uri="{FF2B5EF4-FFF2-40B4-BE49-F238E27FC236}">
                  <a16:creationId xmlns:a16="http://schemas.microsoft.com/office/drawing/2014/main" id="{9B0D5F95-2285-4C5F-B328-ED8F8C800422}"/>
                </a:ext>
              </a:extLst>
            </p:cNvPr>
            <p:cNvSpPr>
              <a:spLocks/>
            </p:cNvSpPr>
            <p:nvPr/>
          </p:nvSpPr>
          <p:spPr bwMode="auto">
            <a:xfrm>
              <a:off x="6521450" y="3703638"/>
              <a:ext cx="104775" cy="412750"/>
            </a:xfrm>
            <a:custGeom>
              <a:avLst/>
              <a:gdLst>
                <a:gd name="T0" fmla="*/ 2147483647 w 215"/>
                <a:gd name="T1" fmla="*/ 2147483647 h 843"/>
                <a:gd name="T2" fmla="*/ 2147483647 w 215"/>
                <a:gd name="T3" fmla="*/ 2147483647 h 843"/>
                <a:gd name="T4" fmla="*/ 2147483647 w 215"/>
                <a:gd name="T5" fmla="*/ 2147483647 h 843"/>
                <a:gd name="T6" fmla="*/ 2147483647 w 215"/>
                <a:gd name="T7" fmla="*/ 2147483647 h 843"/>
                <a:gd name="T8" fmla="*/ 2147483647 w 215"/>
                <a:gd name="T9" fmla="*/ 2147483647 h 843"/>
                <a:gd name="T10" fmla="*/ 2147483647 w 215"/>
                <a:gd name="T11" fmla="*/ 2147483647 h 843"/>
                <a:gd name="T12" fmla="*/ 2147483647 w 215"/>
                <a:gd name="T13" fmla="*/ 2147483647 h 843"/>
                <a:gd name="T14" fmla="*/ 2147483647 w 215"/>
                <a:gd name="T15" fmla="*/ 2147483647 h 843"/>
                <a:gd name="T16" fmla="*/ 2147483647 w 215"/>
                <a:gd name="T17" fmla="*/ 2147483647 h 843"/>
                <a:gd name="T18" fmla="*/ 2147483647 w 215"/>
                <a:gd name="T19" fmla="*/ 0 h 843"/>
                <a:gd name="T20" fmla="*/ 2147483647 w 215"/>
                <a:gd name="T21" fmla="*/ 0 h 843"/>
                <a:gd name="T22" fmla="*/ 2147483647 w 215"/>
                <a:gd name="T23" fmla="*/ 2147483647 h 843"/>
                <a:gd name="T24" fmla="*/ 2147483647 w 215"/>
                <a:gd name="T25" fmla="*/ 2147483647 h 843"/>
                <a:gd name="T26" fmla="*/ 2147483647 w 215"/>
                <a:gd name="T27" fmla="*/ 2147483647 h 843"/>
                <a:gd name="T28" fmla="*/ 2147483647 w 215"/>
                <a:gd name="T29" fmla="*/ 2147483647 h 843"/>
                <a:gd name="T30" fmla="*/ 2147483647 w 215"/>
                <a:gd name="T31" fmla="*/ 2147483647 h 843"/>
                <a:gd name="T32" fmla="*/ 0 w 215"/>
                <a:gd name="T33" fmla="*/ 2147483647 h 843"/>
                <a:gd name="T34" fmla="*/ 0 w 215"/>
                <a:gd name="T35" fmla="*/ 2147483647 h 843"/>
                <a:gd name="T36" fmla="*/ 2147483647 w 215"/>
                <a:gd name="T37" fmla="*/ 2147483647 h 843"/>
                <a:gd name="T38" fmla="*/ 2147483647 w 215"/>
                <a:gd name="T39" fmla="*/ 2147483647 h 843"/>
                <a:gd name="T40" fmla="*/ 2147483647 w 215"/>
                <a:gd name="T41" fmla="*/ 2147483647 h 843"/>
                <a:gd name="T42" fmla="*/ 2147483647 w 215"/>
                <a:gd name="T43" fmla="*/ 2147483647 h 843"/>
                <a:gd name="T44" fmla="*/ 2147483647 w 215"/>
                <a:gd name="T45" fmla="*/ 2147483647 h 843"/>
                <a:gd name="T46" fmla="*/ 2147483647 w 215"/>
                <a:gd name="T47" fmla="*/ 2147483647 h 843"/>
                <a:gd name="T48" fmla="*/ 2147483647 w 215"/>
                <a:gd name="T49" fmla="*/ 2147483647 h 843"/>
                <a:gd name="T50" fmla="*/ 2147483647 w 215"/>
                <a:gd name="T51" fmla="*/ 2147483647 h 843"/>
                <a:gd name="T52" fmla="*/ 2147483647 w 215"/>
                <a:gd name="T53" fmla="*/ 2147483647 h 843"/>
                <a:gd name="T54" fmla="*/ 2147483647 w 215"/>
                <a:gd name="T55" fmla="*/ 2147483647 h 843"/>
                <a:gd name="T56" fmla="*/ 2147483647 w 215"/>
                <a:gd name="T57" fmla="*/ 2147483647 h 843"/>
                <a:gd name="T58" fmla="*/ 2147483647 w 215"/>
                <a:gd name="T59" fmla="*/ 2147483647 h 843"/>
                <a:gd name="T60" fmla="*/ 2147483647 w 215"/>
                <a:gd name="T61" fmla="*/ 2147483647 h 843"/>
                <a:gd name="T62" fmla="*/ 2147483647 w 215"/>
                <a:gd name="T63" fmla="*/ 2147483647 h 843"/>
                <a:gd name="T64" fmla="*/ 2147483647 w 215"/>
                <a:gd name="T65" fmla="*/ 2147483647 h 843"/>
                <a:gd name="T66" fmla="*/ 2147483647 w 215"/>
                <a:gd name="T67" fmla="*/ 2147483647 h 843"/>
                <a:gd name="T68" fmla="*/ 2147483647 w 215"/>
                <a:gd name="T69" fmla="*/ 2147483647 h 8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15" h="843">
                  <a:moveTo>
                    <a:pt x="215" y="20"/>
                  </a:moveTo>
                  <a:lnTo>
                    <a:pt x="214" y="19"/>
                  </a:lnTo>
                  <a:lnTo>
                    <a:pt x="211" y="18"/>
                  </a:lnTo>
                  <a:lnTo>
                    <a:pt x="205" y="15"/>
                  </a:lnTo>
                  <a:lnTo>
                    <a:pt x="197" y="12"/>
                  </a:lnTo>
                  <a:lnTo>
                    <a:pt x="187" y="9"/>
                  </a:lnTo>
                  <a:lnTo>
                    <a:pt x="176" y="6"/>
                  </a:lnTo>
                  <a:lnTo>
                    <a:pt x="163" y="4"/>
                  </a:lnTo>
                  <a:lnTo>
                    <a:pt x="149" y="1"/>
                  </a:lnTo>
                  <a:lnTo>
                    <a:pt x="133" y="0"/>
                  </a:lnTo>
                  <a:lnTo>
                    <a:pt x="115" y="0"/>
                  </a:lnTo>
                  <a:lnTo>
                    <a:pt x="98" y="1"/>
                  </a:lnTo>
                  <a:lnTo>
                    <a:pt x="79" y="5"/>
                  </a:lnTo>
                  <a:lnTo>
                    <a:pt x="60" y="10"/>
                  </a:lnTo>
                  <a:lnTo>
                    <a:pt x="40" y="18"/>
                  </a:lnTo>
                  <a:lnTo>
                    <a:pt x="21" y="27"/>
                  </a:lnTo>
                  <a:lnTo>
                    <a:pt x="0" y="40"/>
                  </a:lnTo>
                  <a:lnTo>
                    <a:pt x="0" y="843"/>
                  </a:lnTo>
                  <a:lnTo>
                    <a:pt x="1" y="843"/>
                  </a:lnTo>
                  <a:lnTo>
                    <a:pt x="6" y="843"/>
                  </a:lnTo>
                  <a:lnTo>
                    <a:pt x="12" y="842"/>
                  </a:lnTo>
                  <a:lnTo>
                    <a:pt x="21" y="841"/>
                  </a:lnTo>
                  <a:lnTo>
                    <a:pt x="30" y="840"/>
                  </a:lnTo>
                  <a:lnTo>
                    <a:pt x="43" y="838"/>
                  </a:lnTo>
                  <a:lnTo>
                    <a:pt x="56" y="835"/>
                  </a:lnTo>
                  <a:lnTo>
                    <a:pt x="71" y="831"/>
                  </a:lnTo>
                  <a:lnTo>
                    <a:pt x="87" y="826"/>
                  </a:lnTo>
                  <a:lnTo>
                    <a:pt x="105" y="821"/>
                  </a:lnTo>
                  <a:lnTo>
                    <a:pt x="123" y="814"/>
                  </a:lnTo>
                  <a:lnTo>
                    <a:pt x="141" y="806"/>
                  </a:lnTo>
                  <a:lnTo>
                    <a:pt x="159" y="797"/>
                  </a:lnTo>
                  <a:lnTo>
                    <a:pt x="179" y="786"/>
                  </a:lnTo>
                  <a:lnTo>
                    <a:pt x="197" y="774"/>
                  </a:lnTo>
                  <a:lnTo>
                    <a:pt x="215" y="760"/>
                  </a:lnTo>
                  <a:lnTo>
                    <a:pt x="215"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9" name="Freeform 132">
              <a:extLst>
                <a:ext uri="{FF2B5EF4-FFF2-40B4-BE49-F238E27FC236}">
                  <a16:creationId xmlns:a16="http://schemas.microsoft.com/office/drawing/2014/main" id="{5DA7041C-B612-41EF-8B25-32E9AA703E87}"/>
                </a:ext>
              </a:extLst>
            </p:cNvPr>
            <p:cNvSpPr>
              <a:spLocks/>
            </p:cNvSpPr>
            <p:nvPr/>
          </p:nvSpPr>
          <p:spPr bwMode="auto">
            <a:xfrm>
              <a:off x="6524625" y="3708400"/>
              <a:ext cx="87313" cy="334963"/>
            </a:xfrm>
            <a:custGeom>
              <a:avLst/>
              <a:gdLst>
                <a:gd name="T0" fmla="*/ 2147483647 w 180"/>
                <a:gd name="T1" fmla="*/ 2147483647 h 685"/>
                <a:gd name="T2" fmla="*/ 2147483647 w 180"/>
                <a:gd name="T3" fmla="*/ 2147483647 h 685"/>
                <a:gd name="T4" fmla="*/ 2147483647 w 180"/>
                <a:gd name="T5" fmla="*/ 2147483647 h 685"/>
                <a:gd name="T6" fmla="*/ 2147483647 w 180"/>
                <a:gd name="T7" fmla="*/ 2147483647 h 685"/>
                <a:gd name="T8" fmla="*/ 2147483647 w 180"/>
                <a:gd name="T9" fmla="*/ 2147483647 h 685"/>
                <a:gd name="T10" fmla="*/ 2147483647 w 180"/>
                <a:gd name="T11" fmla="*/ 2147483647 h 685"/>
                <a:gd name="T12" fmla="*/ 2147483647 w 180"/>
                <a:gd name="T13" fmla="*/ 2147483647 h 685"/>
                <a:gd name="T14" fmla="*/ 2147483647 w 180"/>
                <a:gd name="T15" fmla="*/ 2147483647 h 685"/>
                <a:gd name="T16" fmla="*/ 2147483647 w 180"/>
                <a:gd name="T17" fmla="*/ 0 h 685"/>
                <a:gd name="T18" fmla="*/ 2147483647 w 180"/>
                <a:gd name="T19" fmla="*/ 0 h 685"/>
                <a:gd name="T20" fmla="*/ 2147483647 w 180"/>
                <a:gd name="T21" fmla="*/ 0 h 685"/>
                <a:gd name="T22" fmla="*/ 2147483647 w 180"/>
                <a:gd name="T23" fmla="*/ 2147483647 h 685"/>
                <a:gd name="T24" fmla="*/ 2147483647 w 180"/>
                <a:gd name="T25" fmla="*/ 2147483647 h 685"/>
                <a:gd name="T26" fmla="*/ 2147483647 w 180"/>
                <a:gd name="T27" fmla="*/ 2147483647 h 685"/>
                <a:gd name="T28" fmla="*/ 2147483647 w 180"/>
                <a:gd name="T29" fmla="*/ 2147483647 h 685"/>
                <a:gd name="T30" fmla="*/ 2147483647 w 180"/>
                <a:gd name="T31" fmla="*/ 2147483647 h 685"/>
                <a:gd name="T32" fmla="*/ 0 w 180"/>
                <a:gd name="T33" fmla="*/ 2147483647 h 685"/>
                <a:gd name="T34" fmla="*/ 0 w 180"/>
                <a:gd name="T35" fmla="*/ 2147483647 h 685"/>
                <a:gd name="T36" fmla="*/ 2147483647 w 180"/>
                <a:gd name="T37" fmla="*/ 2147483647 h 685"/>
                <a:gd name="T38" fmla="*/ 2147483647 w 180"/>
                <a:gd name="T39" fmla="*/ 2147483647 h 685"/>
                <a:gd name="T40" fmla="*/ 2147483647 w 180"/>
                <a:gd name="T41" fmla="*/ 2147483647 h 685"/>
                <a:gd name="T42" fmla="*/ 2147483647 w 180"/>
                <a:gd name="T43" fmla="*/ 2147483647 h 685"/>
                <a:gd name="T44" fmla="*/ 2147483647 w 180"/>
                <a:gd name="T45" fmla="*/ 2147483647 h 685"/>
                <a:gd name="T46" fmla="*/ 2147483647 w 180"/>
                <a:gd name="T47" fmla="*/ 2147483647 h 685"/>
                <a:gd name="T48" fmla="*/ 2147483647 w 180"/>
                <a:gd name="T49" fmla="*/ 2147483647 h 685"/>
                <a:gd name="T50" fmla="*/ 2147483647 w 180"/>
                <a:gd name="T51" fmla="*/ 2147483647 h 685"/>
                <a:gd name="T52" fmla="*/ 2147483647 w 180"/>
                <a:gd name="T53" fmla="*/ 2147483647 h 685"/>
                <a:gd name="T54" fmla="*/ 2147483647 w 180"/>
                <a:gd name="T55" fmla="*/ 2147483647 h 685"/>
                <a:gd name="T56" fmla="*/ 2147483647 w 180"/>
                <a:gd name="T57" fmla="*/ 2147483647 h 685"/>
                <a:gd name="T58" fmla="*/ 2147483647 w 180"/>
                <a:gd name="T59" fmla="*/ 2147483647 h 685"/>
                <a:gd name="T60" fmla="*/ 2147483647 w 180"/>
                <a:gd name="T61" fmla="*/ 2147483647 h 685"/>
                <a:gd name="T62" fmla="*/ 2147483647 w 180"/>
                <a:gd name="T63" fmla="*/ 2147483647 h 685"/>
                <a:gd name="T64" fmla="*/ 2147483647 w 180"/>
                <a:gd name="T65" fmla="*/ 2147483647 h 685"/>
                <a:gd name="T66" fmla="*/ 2147483647 w 180"/>
                <a:gd name="T67" fmla="*/ 2147483647 h 685"/>
                <a:gd name="T68" fmla="*/ 2147483647 w 180"/>
                <a:gd name="T69" fmla="*/ 2147483647 h 68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80" h="685">
                  <a:moveTo>
                    <a:pt x="180" y="16"/>
                  </a:moveTo>
                  <a:lnTo>
                    <a:pt x="179" y="16"/>
                  </a:lnTo>
                  <a:lnTo>
                    <a:pt x="176" y="14"/>
                  </a:lnTo>
                  <a:lnTo>
                    <a:pt x="172" y="12"/>
                  </a:lnTo>
                  <a:lnTo>
                    <a:pt x="165" y="10"/>
                  </a:lnTo>
                  <a:lnTo>
                    <a:pt x="157" y="8"/>
                  </a:lnTo>
                  <a:lnTo>
                    <a:pt x="147" y="4"/>
                  </a:lnTo>
                  <a:lnTo>
                    <a:pt x="136" y="2"/>
                  </a:lnTo>
                  <a:lnTo>
                    <a:pt x="125" y="0"/>
                  </a:lnTo>
                  <a:lnTo>
                    <a:pt x="111" y="0"/>
                  </a:lnTo>
                  <a:lnTo>
                    <a:pt x="97" y="0"/>
                  </a:lnTo>
                  <a:lnTo>
                    <a:pt x="81" y="1"/>
                  </a:lnTo>
                  <a:lnTo>
                    <a:pt x="66" y="3"/>
                  </a:lnTo>
                  <a:lnTo>
                    <a:pt x="50" y="8"/>
                  </a:lnTo>
                  <a:lnTo>
                    <a:pt x="33" y="14"/>
                  </a:lnTo>
                  <a:lnTo>
                    <a:pt x="17" y="23"/>
                  </a:lnTo>
                  <a:lnTo>
                    <a:pt x="0" y="33"/>
                  </a:lnTo>
                  <a:lnTo>
                    <a:pt x="0" y="685"/>
                  </a:lnTo>
                  <a:lnTo>
                    <a:pt x="1" y="685"/>
                  </a:lnTo>
                  <a:lnTo>
                    <a:pt x="4" y="685"/>
                  </a:lnTo>
                  <a:lnTo>
                    <a:pt x="9" y="684"/>
                  </a:lnTo>
                  <a:lnTo>
                    <a:pt x="17" y="683"/>
                  </a:lnTo>
                  <a:lnTo>
                    <a:pt x="26" y="682"/>
                  </a:lnTo>
                  <a:lnTo>
                    <a:pt x="35" y="681"/>
                  </a:lnTo>
                  <a:lnTo>
                    <a:pt x="47" y="678"/>
                  </a:lnTo>
                  <a:lnTo>
                    <a:pt x="60" y="676"/>
                  </a:lnTo>
                  <a:lnTo>
                    <a:pt x="73" y="671"/>
                  </a:lnTo>
                  <a:lnTo>
                    <a:pt x="87" y="667"/>
                  </a:lnTo>
                  <a:lnTo>
                    <a:pt x="102" y="662"/>
                  </a:lnTo>
                  <a:lnTo>
                    <a:pt x="118" y="655"/>
                  </a:lnTo>
                  <a:lnTo>
                    <a:pt x="133" y="648"/>
                  </a:lnTo>
                  <a:lnTo>
                    <a:pt x="149" y="639"/>
                  </a:lnTo>
                  <a:lnTo>
                    <a:pt x="165" y="628"/>
                  </a:lnTo>
                  <a:lnTo>
                    <a:pt x="180" y="617"/>
                  </a:lnTo>
                  <a:lnTo>
                    <a:pt x="180" y="1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0" name="Freeform 133">
              <a:extLst>
                <a:ext uri="{FF2B5EF4-FFF2-40B4-BE49-F238E27FC236}">
                  <a16:creationId xmlns:a16="http://schemas.microsoft.com/office/drawing/2014/main" id="{CBD3533B-3033-46D8-A22B-48932678F35A}"/>
                </a:ext>
              </a:extLst>
            </p:cNvPr>
            <p:cNvSpPr>
              <a:spLocks/>
            </p:cNvSpPr>
            <p:nvPr/>
          </p:nvSpPr>
          <p:spPr bwMode="auto">
            <a:xfrm>
              <a:off x="6527800" y="3711575"/>
              <a:ext cx="71438" cy="260350"/>
            </a:xfrm>
            <a:custGeom>
              <a:avLst/>
              <a:gdLst>
                <a:gd name="T0" fmla="*/ 2147483647 w 146"/>
                <a:gd name="T1" fmla="*/ 2147483647 h 530"/>
                <a:gd name="T2" fmla="*/ 2147483647 w 146"/>
                <a:gd name="T3" fmla="*/ 2147483647 h 530"/>
                <a:gd name="T4" fmla="*/ 2147483647 w 146"/>
                <a:gd name="T5" fmla="*/ 2147483647 h 530"/>
                <a:gd name="T6" fmla="*/ 2147483647 w 146"/>
                <a:gd name="T7" fmla="*/ 2147483647 h 530"/>
                <a:gd name="T8" fmla="*/ 2147483647 w 146"/>
                <a:gd name="T9" fmla="*/ 2147483647 h 530"/>
                <a:gd name="T10" fmla="*/ 2147483647 w 146"/>
                <a:gd name="T11" fmla="*/ 0 h 530"/>
                <a:gd name="T12" fmla="*/ 2147483647 w 146"/>
                <a:gd name="T13" fmla="*/ 2147483647 h 530"/>
                <a:gd name="T14" fmla="*/ 2147483647 w 146"/>
                <a:gd name="T15" fmla="*/ 2147483647 h 530"/>
                <a:gd name="T16" fmla="*/ 0 w 146"/>
                <a:gd name="T17" fmla="*/ 2147483647 h 530"/>
                <a:gd name="T18" fmla="*/ 0 w 146"/>
                <a:gd name="T19" fmla="*/ 2147483647 h 530"/>
                <a:gd name="T20" fmla="*/ 2147483647 w 146"/>
                <a:gd name="T21" fmla="*/ 2147483647 h 530"/>
                <a:gd name="T22" fmla="*/ 2147483647 w 146"/>
                <a:gd name="T23" fmla="*/ 2147483647 h 530"/>
                <a:gd name="T24" fmla="*/ 2147483647 w 146"/>
                <a:gd name="T25" fmla="*/ 2147483647 h 530"/>
                <a:gd name="T26" fmla="*/ 2147483647 w 146"/>
                <a:gd name="T27" fmla="*/ 2147483647 h 530"/>
                <a:gd name="T28" fmla="*/ 2147483647 w 146"/>
                <a:gd name="T29" fmla="*/ 2147483647 h 530"/>
                <a:gd name="T30" fmla="*/ 2147483647 w 146"/>
                <a:gd name="T31" fmla="*/ 2147483647 h 530"/>
                <a:gd name="T32" fmla="*/ 2147483647 w 146"/>
                <a:gd name="T33" fmla="*/ 2147483647 h 530"/>
                <a:gd name="T34" fmla="*/ 2147483647 w 146"/>
                <a:gd name="T35" fmla="*/ 2147483647 h 530"/>
                <a:gd name="T36" fmla="*/ 2147483647 w 146"/>
                <a:gd name="T37" fmla="*/ 2147483647 h 5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46" h="530">
                  <a:moveTo>
                    <a:pt x="146" y="14"/>
                  </a:moveTo>
                  <a:lnTo>
                    <a:pt x="143" y="12"/>
                  </a:lnTo>
                  <a:lnTo>
                    <a:pt x="134" y="8"/>
                  </a:lnTo>
                  <a:lnTo>
                    <a:pt x="120" y="4"/>
                  </a:lnTo>
                  <a:lnTo>
                    <a:pt x="101" y="1"/>
                  </a:lnTo>
                  <a:lnTo>
                    <a:pt x="79" y="0"/>
                  </a:lnTo>
                  <a:lnTo>
                    <a:pt x="54" y="3"/>
                  </a:lnTo>
                  <a:lnTo>
                    <a:pt x="27" y="11"/>
                  </a:lnTo>
                  <a:lnTo>
                    <a:pt x="0" y="27"/>
                  </a:lnTo>
                  <a:lnTo>
                    <a:pt x="0" y="530"/>
                  </a:lnTo>
                  <a:lnTo>
                    <a:pt x="3" y="530"/>
                  </a:lnTo>
                  <a:lnTo>
                    <a:pt x="14" y="529"/>
                  </a:lnTo>
                  <a:lnTo>
                    <a:pt x="29" y="526"/>
                  </a:lnTo>
                  <a:lnTo>
                    <a:pt x="49" y="521"/>
                  </a:lnTo>
                  <a:lnTo>
                    <a:pt x="71" y="514"/>
                  </a:lnTo>
                  <a:lnTo>
                    <a:pt x="96" y="505"/>
                  </a:lnTo>
                  <a:lnTo>
                    <a:pt x="121" y="492"/>
                  </a:lnTo>
                  <a:lnTo>
                    <a:pt x="146" y="475"/>
                  </a:lnTo>
                  <a:lnTo>
                    <a:pt x="146"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1" name="Freeform 134">
              <a:extLst>
                <a:ext uri="{FF2B5EF4-FFF2-40B4-BE49-F238E27FC236}">
                  <a16:creationId xmlns:a16="http://schemas.microsoft.com/office/drawing/2014/main" id="{33C33A31-B246-4F65-AEA1-209F4276D63D}"/>
                </a:ext>
              </a:extLst>
            </p:cNvPr>
            <p:cNvSpPr>
              <a:spLocks/>
            </p:cNvSpPr>
            <p:nvPr/>
          </p:nvSpPr>
          <p:spPr bwMode="auto">
            <a:xfrm>
              <a:off x="6532563" y="3714750"/>
              <a:ext cx="52387" cy="184150"/>
            </a:xfrm>
            <a:custGeom>
              <a:avLst/>
              <a:gdLst>
                <a:gd name="T0" fmla="*/ 2147483647 w 109"/>
                <a:gd name="T1" fmla="*/ 2147483647 h 373"/>
                <a:gd name="T2" fmla="*/ 2147483647 w 109"/>
                <a:gd name="T3" fmla="*/ 2147483647 h 373"/>
                <a:gd name="T4" fmla="*/ 2147483647 w 109"/>
                <a:gd name="T5" fmla="*/ 2147483647 h 373"/>
                <a:gd name="T6" fmla="*/ 2147483647 w 109"/>
                <a:gd name="T7" fmla="*/ 2147483647 h 373"/>
                <a:gd name="T8" fmla="*/ 2147483647 w 109"/>
                <a:gd name="T9" fmla="*/ 0 h 373"/>
                <a:gd name="T10" fmla="*/ 2147483647 w 109"/>
                <a:gd name="T11" fmla="*/ 0 h 373"/>
                <a:gd name="T12" fmla="*/ 2147483647 w 109"/>
                <a:gd name="T13" fmla="*/ 2147483647 h 373"/>
                <a:gd name="T14" fmla="*/ 2147483647 w 109"/>
                <a:gd name="T15" fmla="*/ 2147483647 h 373"/>
                <a:gd name="T16" fmla="*/ 0 w 109"/>
                <a:gd name="T17" fmla="*/ 2147483647 h 373"/>
                <a:gd name="T18" fmla="*/ 0 w 109"/>
                <a:gd name="T19" fmla="*/ 2147483647 h 373"/>
                <a:gd name="T20" fmla="*/ 2147483647 w 109"/>
                <a:gd name="T21" fmla="*/ 2147483647 h 373"/>
                <a:gd name="T22" fmla="*/ 2147483647 w 109"/>
                <a:gd name="T23" fmla="*/ 2147483647 h 373"/>
                <a:gd name="T24" fmla="*/ 2147483647 w 109"/>
                <a:gd name="T25" fmla="*/ 2147483647 h 373"/>
                <a:gd name="T26" fmla="*/ 2147483647 w 109"/>
                <a:gd name="T27" fmla="*/ 2147483647 h 373"/>
                <a:gd name="T28" fmla="*/ 2147483647 w 109"/>
                <a:gd name="T29" fmla="*/ 2147483647 h 373"/>
                <a:gd name="T30" fmla="*/ 2147483647 w 109"/>
                <a:gd name="T31" fmla="*/ 2147483647 h 373"/>
                <a:gd name="T32" fmla="*/ 2147483647 w 109"/>
                <a:gd name="T33" fmla="*/ 2147483647 h 373"/>
                <a:gd name="T34" fmla="*/ 2147483647 w 109"/>
                <a:gd name="T35" fmla="*/ 2147483647 h 373"/>
                <a:gd name="T36" fmla="*/ 2147483647 w 109"/>
                <a:gd name="T37" fmla="*/ 2147483647 h 3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9" h="373">
                  <a:moveTo>
                    <a:pt x="109" y="10"/>
                  </a:moveTo>
                  <a:lnTo>
                    <a:pt x="107" y="9"/>
                  </a:lnTo>
                  <a:lnTo>
                    <a:pt x="100" y="6"/>
                  </a:lnTo>
                  <a:lnTo>
                    <a:pt x="89" y="2"/>
                  </a:lnTo>
                  <a:lnTo>
                    <a:pt x="75" y="0"/>
                  </a:lnTo>
                  <a:lnTo>
                    <a:pt x="59" y="0"/>
                  </a:lnTo>
                  <a:lnTo>
                    <a:pt x="39" y="2"/>
                  </a:lnTo>
                  <a:lnTo>
                    <a:pt x="20" y="9"/>
                  </a:lnTo>
                  <a:lnTo>
                    <a:pt x="0" y="21"/>
                  </a:lnTo>
                  <a:lnTo>
                    <a:pt x="0" y="373"/>
                  </a:lnTo>
                  <a:lnTo>
                    <a:pt x="2" y="373"/>
                  </a:lnTo>
                  <a:lnTo>
                    <a:pt x="9" y="372"/>
                  </a:lnTo>
                  <a:lnTo>
                    <a:pt x="21" y="369"/>
                  </a:lnTo>
                  <a:lnTo>
                    <a:pt x="36" y="366"/>
                  </a:lnTo>
                  <a:lnTo>
                    <a:pt x="53" y="362"/>
                  </a:lnTo>
                  <a:lnTo>
                    <a:pt x="72" y="354"/>
                  </a:lnTo>
                  <a:lnTo>
                    <a:pt x="90" y="343"/>
                  </a:lnTo>
                  <a:lnTo>
                    <a:pt x="109" y="331"/>
                  </a:lnTo>
                  <a:lnTo>
                    <a:pt x="109" y="1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2" name="Freeform 135">
              <a:extLst>
                <a:ext uri="{FF2B5EF4-FFF2-40B4-BE49-F238E27FC236}">
                  <a16:creationId xmlns:a16="http://schemas.microsoft.com/office/drawing/2014/main" id="{7D5DFC41-8889-4AC3-A659-AEEDA167E0F8}"/>
                </a:ext>
              </a:extLst>
            </p:cNvPr>
            <p:cNvSpPr>
              <a:spLocks/>
            </p:cNvSpPr>
            <p:nvPr/>
          </p:nvSpPr>
          <p:spPr bwMode="auto">
            <a:xfrm>
              <a:off x="6535738" y="3719513"/>
              <a:ext cx="34925" cy="106362"/>
            </a:xfrm>
            <a:custGeom>
              <a:avLst/>
              <a:gdLst>
                <a:gd name="T0" fmla="*/ 2147483647 w 75"/>
                <a:gd name="T1" fmla="*/ 2147483647 h 216"/>
                <a:gd name="T2" fmla="*/ 2147483647 w 75"/>
                <a:gd name="T3" fmla="*/ 2147483647 h 216"/>
                <a:gd name="T4" fmla="*/ 2147483647 w 75"/>
                <a:gd name="T5" fmla="*/ 2147483647 h 216"/>
                <a:gd name="T6" fmla="*/ 2147483647 w 75"/>
                <a:gd name="T7" fmla="*/ 2147483647 h 216"/>
                <a:gd name="T8" fmla="*/ 2147483647 w 75"/>
                <a:gd name="T9" fmla="*/ 0 h 216"/>
                <a:gd name="T10" fmla="*/ 2147483647 w 75"/>
                <a:gd name="T11" fmla="*/ 0 h 216"/>
                <a:gd name="T12" fmla="*/ 2147483647 w 75"/>
                <a:gd name="T13" fmla="*/ 2147483647 h 216"/>
                <a:gd name="T14" fmla="*/ 2147483647 w 75"/>
                <a:gd name="T15" fmla="*/ 2147483647 h 216"/>
                <a:gd name="T16" fmla="*/ 0 w 75"/>
                <a:gd name="T17" fmla="*/ 2147483647 h 216"/>
                <a:gd name="T18" fmla="*/ 0 w 75"/>
                <a:gd name="T19" fmla="*/ 2147483647 h 216"/>
                <a:gd name="T20" fmla="*/ 2147483647 w 75"/>
                <a:gd name="T21" fmla="*/ 2147483647 h 216"/>
                <a:gd name="T22" fmla="*/ 2147483647 w 75"/>
                <a:gd name="T23" fmla="*/ 2147483647 h 216"/>
                <a:gd name="T24" fmla="*/ 2147483647 w 75"/>
                <a:gd name="T25" fmla="*/ 2147483647 h 216"/>
                <a:gd name="T26" fmla="*/ 2147483647 w 75"/>
                <a:gd name="T27" fmla="*/ 2147483647 h 216"/>
                <a:gd name="T28" fmla="*/ 2147483647 w 75"/>
                <a:gd name="T29" fmla="*/ 2147483647 h 216"/>
                <a:gd name="T30" fmla="*/ 2147483647 w 75"/>
                <a:gd name="T31" fmla="*/ 2147483647 h 216"/>
                <a:gd name="T32" fmla="*/ 2147483647 w 75"/>
                <a:gd name="T33" fmla="*/ 2147483647 h 216"/>
                <a:gd name="T34" fmla="*/ 2147483647 w 75"/>
                <a:gd name="T35" fmla="*/ 2147483647 h 216"/>
                <a:gd name="T36" fmla="*/ 2147483647 w 75"/>
                <a:gd name="T37" fmla="*/ 2147483647 h 2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5" h="216">
                  <a:moveTo>
                    <a:pt x="75" y="6"/>
                  </a:moveTo>
                  <a:lnTo>
                    <a:pt x="73" y="5"/>
                  </a:lnTo>
                  <a:lnTo>
                    <a:pt x="69" y="4"/>
                  </a:lnTo>
                  <a:lnTo>
                    <a:pt x="61" y="2"/>
                  </a:lnTo>
                  <a:lnTo>
                    <a:pt x="52" y="0"/>
                  </a:lnTo>
                  <a:lnTo>
                    <a:pt x="41" y="0"/>
                  </a:lnTo>
                  <a:lnTo>
                    <a:pt x="28" y="1"/>
                  </a:lnTo>
                  <a:lnTo>
                    <a:pt x="14" y="6"/>
                  </a:lnTo>
                  <a:lnTo>
                    <a:pt x="0" y="14"/>
                  </a:lnTo>
                  <a:lnTo>
                    <a:pt x="0" y="216"/>
                  </a:lnTo>
                  <a:lnTo>
                    <a:pt x="2" y="216"/>
                  </a:lnTo>
                  <a:lnTo>
                    <a:pt x="7" y="215"/>
                  </a:lnTo>
                  <a:lnTo>
                    <a:pt x="15" y="214"/>
                  </a:lnTo>
                  <a:lnTo>
                    <a:pt x="25" y="211"/>
                  </a:lnTo>
                  <a:lnTo>
                    <a:pt x="37" y="208"/>
                  </a:lnTo>
                  <a:lnTo>
                    <a:pt x="50" y="203"/>
                  </a:lnTo>
                  <a:lnTo>
                    <a:pt x="63" y="195"/>
                  </a:lnTo>
                  <a:lnTo>
                    <a:pt x="75" y="187"/>
                  </a:lnTo>
                  <a:lnTo>
                    <a:pt x="75"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3" name="Freeform 136">
              <a:extLst>
                <a:ext uri="{FF2B5EF4-FFF2-40B4-BE49-F238E27FC236}">
                  <a16:creationId xmlns:a16="http://schemas.microsoft.com/office/drawing/2014/main" id="{EB0AA46B-F2FB-4C58-911D-5B829F150F46}"/>
                </a:ext>
              </a:extLst>
            </p:cNvPr>
            <p:cNvSpPr>
              <a:spLocks/>
            </p:cNvSpPr>
            <p:nvPr/>
          </p:nvSpPr>
          <p:spPr bwMode="auto">
            <a:xfrm>
              <a:off x="6973888" y="4022725"/>
              <a:ext cx="53975" cy="55563"/>
            </a:xfrm>
            <a:custGeom>
              <a:avLst/>
              <a:gdLst>
                <a:gd name="T0" fmla="*/ 2147483647 w 110"/>
                <a:gd name="T1" fmla="*/ 2147483647 h 111"/>
                <a:gd name="T2" fmla="*/ 2147483647 w 110"/>
                <a:gd name="T3" fmla="*/ 2147483647 h 111"/>
                <a:gd name="T4" fmla="*/ 2147483647 w 110"/>
                <a:gd name="T5" fmla="*/ 2147483647 h 111"/>
                <a:gd name="T6" fmla="*/ 2147483647 w 110"/>
                <a:gd name="T7" fmla="*/ 2147483647 h 111"/>
                <a:gd name="T8" fmla="*/ 2147483647 w 110"/>
                <a:gd name="T9" fmla="*/ 2147483647 h 111"/>
                <a:gd name="T10" fmla="*/ 2147483647 w 110"/>
                <a:gd name="T11" fmla="*/ 2147483647 h 111"/>
                <a:gd name="T12" fmla="*/ 2147483647 w 110"/>
                <a:gd name="T13" fmla="*/ 2147483647 h 111"/>
                <a:gd name="T14" fmla="*/ 2147483647 w 110"/>
                <a:gd name="T15" fmla="*/ 2147483647 h 111"/>
                <a:gd name="T16" fmla="*/ 2147483647 w 110"/>
                <a:gd name="T17" fmla="*/ 2147483647 h 111"/>
                <a:gd name="T18" fmla="*/ 2147483647 w 110"/>
                <a:gd name="T19" fmla="*/ 2147483647 h 111"/>
                <a:gd name="T20" fmla="*/ 2147483647 w 110"/>
                <a:gd name="T21" fmla="*/ 2147483647 h 111"/>
                <a:gd name="T22" fmla="*/ 2147483647 w 110"/>
                <a:gd name="T23" fmla="*/ 2147483647 h 111"/>
                <a:gd name="T24" fmla="*/ 2147483647 w 110"/>
                <a:gd name="T25" fmla="*/ 2147483647 h 111"/>
                <a:gd name="T26" fmla="*/ 2147483647 w 110"/>
                <a:gd name="T27" fmla="*/ 2147483647 h 111"/>
                <a:gd name="T28" fmla="*/ 2147483647 w 110"/>
                <a:gd name="T29" fmla="*/ 2147483647 h 111"/>
                <a:gd name="T30" fmla="*/ 2147483647 w 110"/>
                <a:gd name="T31" fmla="*/ 2147483647 h 111"/>
                <a:gd name="T32" fmla="*/ 2147483647 w 110"/>
                <a:gd name="T33" fmla="*/ 0 h 111"/>
                <a:gd name="T34" fmla="*/ 2147483647 w 110"/>
                <a:gd name="T35" fmla="*/ 2147483647 h 111"/>
                <a:gd name="T36" fmla="*/ 2147483647 w 110"/>
                <a:gd name="T37" fmla="*/ 2147483647 h 111"/>
                <a:gd name="T38" fmla="*/ 2147483647 w 110"/>
                <a:gd name="T39" fmla="*/ 2147483647 h 111"/>
                <a:gd name="T40" fmla="*/ 2147483647 w 110"/>
                <a:gd name="T41" fmla="*/ 2147483647 h 111"/>
                <a:gd name="T42" fmla="*/ 2147483647 w 110"/>
                <a:gd name="T43" fmla="*/ 2147483647 h 111"/>
                <a:gd name="T44" fmla="*/ 2147483647 w 110"/>
                <a:gd name="T45" fmla="*/ 2147483647 h 111"/>
                <a:gd name="T46" fmla="*/ 2147483647 w 110"/>
                <a:gd name="T47" fmla="*/ 2147483647 h 111"/>
                <a:gd name="T48" fmla="*/ 0 w 110"/>
                <a:gd name="T49" fmla="*/ 2147483647 h 111"/>
                <a:gd name="T50" fmla="*/ 2147483647 w 110"/>
                <a:gd name="T51" fmla="*/ 2147483647 h 111"/>
                <a:gd name="T52" fmla="*/ 2147483647 w 110"/>
                <a:gd name="T53" fmla="*/ 2147483647 h 111"/>
                <a:gd name="T54" fmla="*/ 2147483647 w 110"/>
                <a:gd name="T55" fmla="*/ 2147483647 h 111"/>
                <a:gd name="T56" fmla="*/ 2147483647 w 110"/>
                <a:gd name="T57" fmla="*/ 2147483647 h 111"/>
                <a:gd name="T58" fmla="*/ 2147483647 w 110"/>
                <a:gd name="T59" fmla="*/ 2147483647 h 111"/>
                <a:gd name="T60" fmla="*/ 2147483647 w 110"/>
                <a:gd name="T61" fmla="*/ 2147483647 h 111"/>
                <a:gd name="T62" fmla="*/ 2147483647 w 110"/>
                <a:gd name="T63" fmla="*/ 2147483647 h 111"/>
                <a:gd name="T64" fmla="*/ 2147483647 w 110"/>
                <a:gd name="T65" fmla="*/ 2147483647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0" h="111">
                  <a:moveTo>
                    <a:pt x="55" y="111"/>
                  </a:moveTo>
                  <a:lnTo>
                    <a:pt x="66" y="110"/>
                  </a:lnTo>
                  <a:lnTo>
                    <a:pt x="76" y="106"/>
                  </a:lnTo>
                  <a:lnTo>
                    <a:pt x="85" y="101"/>
                  </a:lnTo>
                  <a:lnTo>
                    <a:pt x="94" y="94"/>
                  </a:lnTo>
                  <a:lnTo>
                    <a:pt x="100" y="86"/>
                  </a:lnTo>
                  <a:lnTo>
                    <a:pt x="106" y="77"/>
                  </a:lnTo>
                  <a:lnTo>
                    <a:pt x="109" y="66"/>
                  </a:lnTo>
                  <a:lnTo>
                    <a:pt x="110" y="56"/>
                  </a:lnTo>
                  <a:lnTo>
                    <a:pt x="109" y="44"/>
                  </a:lnTo>
                  <a:lnTo>
                    <a:pt x="106" y="34"/>
                  </a:lnTo>
                  <a:lnTo>
                    <a:pt x="100" y="24"/>
                  </a:lnTo>
                  <a:lnTo>
                    <a:pt x="94" y="17"/>
                  </a:lnTo>
                  <a:lnTo>
                    <a:pt x="85" y="9"/>
                  </a:lnTo>
                  <a:lnTo>
                    <a:pt x="76" y="5"/>
                  </a:lnTo>
                  <a:lnTo>
                    <a:pt x="66" y="2"/>
                  </a:lnTo>
                  <a:lnTo>
                    <a:pt x="55" y="0"/>
                  </a:lnTo>
                  <a:lnTo>
                    <a:pt x="44" y="2"/>
                  </a:lnTo>
                  <a:lnTo>
                    <a:pt x="33" y="5"/>
                  </a:lnTo>
                  <a:lnTo>
                    <a:pt x="25" y="9"/>
                  </a:lnTo>
                  <a:lnTo>
                    <a:pt x="16" y="17"/>
                  </a:lnTo>
                  <a:lnTo>
                    <a:pt x="10" y="24"/>
                  </a:lnTo>
                  <a:lnTo>
                    <a:pt x="4" y="34"/>
                  </a:lnTo>
                  <a:lnTo>
                    <a:pt x="1" y="44"/>
                  </a:lnTo>
                  <a:lnTo>
                    <a:pt x="0" y="56"/>
                  </a:lnTo>
                  <a:lnTo>
                    <a:pt x="1" y="66"/>
                  </a:lnTo>
                  <a:lnTo>
                    <a:pt x="4" y="77"/>
                  </a:lnTo>
                  <a:lnTo>
                    <a:pt x="10" y="86"/>
                  </a:lnTo>
                  <a:lnTo>
                    <a:pt x="16" y="94"/>
                  </a:lnTo>
                  <a:lnTo>
                    <a:pt x="25" y="101"/>
                  </a:lnTo>
                  <a:lnTo>
                    <a:pt x="33" y="106"/>
                  </a:lnTo>
                  <a:lnTo>
                    <a:pt x="44" y="110"/>
                  </a:lnTo>
                  <a:lnTo>
                    <a:pt x="55" y="1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4" name="Freeform 137">
              <a:extLst>
                <a:ext uri="{FF2B5EF4-FFF2-40B4-BE49-F238E27FC236}">
                  <a16:creationId xmlns:a16="http://schemas.microsoft.com/office/drawing/2014/main" id="{F630A141-73BD-4784-B0FB-57FB7130E777}"/>
                </a:ext>
              </a:extLst>
            </p:cNvPr>
            <p:cNvSpPr>
              <a:spLocks/>
            </p:cNvSpPr>
            <p:nvPr/>
          </p:nvSpPr>
          <p:spPr bwMode="auto">
            <a:xfrm>
              <a:off x="6810375" y="4024313"/>
              <a:ext cx="26988" cy="26987"/>
            </a:xfrm>
            <a:custGeom>
              <a:avLst/>
              <a:gdLst>
                <a:gd name="T0" fmla="*/ 2147483647 w 55"/>
                <a:gd name="T1" fmla="*/ 2147483647 h 55"/>
                <a:gd name="T2" fmla="*/ 2147483647 w 55"/>
                <a:gd name="T3" fmla="*/ 2147483647 h 55"/>
                <a:gd name="T4" fmla="*/ 2147483647 w 55"/>
                <a:gd name="T5" fmla="*/ 2147483647 h 55"/>
                <a:gd name="T6" fmla="*/ 2147483647 w 55"/>
                <a:gd name="T7" fmla="*/ 2147483647 h 55"/>
                <a:gd name="T8" fmla="*/ 2147483647 w 55"/>
                <a:gd name="T9" fmla="*/ 2147483647 h 55"/>
                <a:gd name="T10" fmla="*/ 2147483647 w 55"/>
                <a:gd name="T11" fmla="*/ 2147483647 h 55"/>
                <a:gd name="T12" fmla="*/ 2147483647 w 55"/>
                <a:gd name="T13" fmla="*/ 2147483647 h 55"/>
                <a:gd name="T14" fmla="*/ 2147483647 w 55"/>
                <a:gd name="T15" fmla="*/ 2147483647 h 55"/>
                <a:gd name="T16" fmla="*/ 2147483647 w 55"/>
                <a:gd name="T17" fmla="*/ 0 h 55"/>
                <a:gd name="T18" fmla="*/ 2147483647 w 55"/>
                <a:gd name="T19" fmla="*/ 2147483647 h 55"/>
                <a:gd name="T20" fmla="*/ 2147483647 w 55"/>
                <a:gd name="T21" fmla="*/ 2147483647 h 55"/>
                <a:gd name="T22" fmla="*/ 2147483647 w 55"/>
                <a:gd name="T23" fmla="*/ 2147483647 h 55"/>
                <a:gd name="T24" fmla="*/ 0 w 55"/>
                <a:gd name="T25" fmla="*/ 2147483647 h 55"/>
                <a:gd name="T26" fmla="*/ 2147483647 w 55"/>
                <a:gd name="T27" fmla="*/ 2147483647 h 55"/>
                <a:gd name="T28" fmla="*/ 2147483647 w 55"/>
                <a:gd name="T29" fmla="*/ 2147483647 h 55"/>
                <a:gd name="T30" fmla="*/ 2147483647 w 55"/>
                <a:gd name="T31" fmla="*/ 2147483647 h 55"/>
                <a:gd name="T32" fmla="*/ 2147483647 w 55"/>
                <a:gd name="T33" fmla="*/ 2147483647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5" h="55">
                  <a:moveTo>
                    <a:pt x="27" y="55"/>
                  </a:moveTo>
                  <a:lnTo>
                    <a:pt x="38" y="53"/>
                  </a:lnTo>
                  <a:lnTo>
                    <a:pt x="48" y="46"/>
                  </a:lnTo>
                  <a:lnTo>
                    <a:pt x="53" y="37"/>
                  </a:lnTo>
                  <a:lnTo>
                    <a:pt x="55" y="27"/>
                  </a:lnTo>
                  <a:lnTo>
                    <a:pt x="53" y="16"/>
                  </a:lnTo>
                  <a:lnTo>
                    <a:pt x="48" y="7"/>
                  </a:lnTo>
                  <a:lnTo>
                    <a:pt x="38" y="2"/>
                  </a:lnTo>
                  <a:lnTo>
                    <a:pt x="27" y="0"/>
                  </a:lnTo>
                  <a:lnTo>
                    <a:pt x="16" y="2"/>
                  </a:lnTo>
                  <a:lnTo>
                    <a:pt x="8" y="7"/>
                  </a:lnTo>
                  <a:lnTo>
                    <a:pt x="2" y="16"/>
                  </a:lnTo>
                  <a:lnTo>
                    <a:pt x="0" y="27"/>
                  </a:lnTo>
                  <a:lnTo>
                    <a:pt x="2" y="37"/>
                  </a:lnTo>
                  <a:lnTo>
                    <a:pt x="8" y="46"/>
                  </a:lnTo>
                  <a:lnTo>
                    <a:pt x="16" y="53"/>
                  </a:lnTo>
                  <a:lnTo>
                    <a:pt x="27"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5" name="Freeform 138">
              <a:extLst>
                <a:ext uri="{FF2B5EF4-FFF2-40B4-BE49-F238E27FC236}">
                  <a16:creationId xmlns:a16="http://schemas.microsoft.com/office/drawing/2014/main" id="{2AC9BE03-174B-4BC6-A5A5-715410FFDA97}"/>
                </a:ext>
              </a:extLst>
            </p:cNvPr>
            <p:cNvSpPr>
              <a:spLocks/>
            </p:cNvSpPr>
            <p:nvPr/>
          </p:nvSpPr>
          <p:spPr bwMode="auto">
            <a:xfrm>
              <a:off x="6856413" y="4025900"/>
              <a:ext cx="26987" cy="26988"/>
            </a:xfrm>
            <a:custGeom>
              <a:avLst/>
              <a:gdLst>
                <a:gd name="T0" fmla="*/ 2147483647 w 55"/>
                <a:gd name="T1" fmla="*/ 2147483647 h 55"/>
                <a:gd name="T2" fmla="*/ 2147483647 w 55"/>
                <a:gd name="T3" fmla="*/ 2147483647 h 55"/>
                <a:gd name="T4" fmla="*/ 2147483647 w 55"/>
                <a:gd name="T5" fmla="*/ 2147483647 h 55"/>
                <a:gd name="T6" fmla="*/ 2147483647 w 55"/>
                <a:gd name="T7" fmla="*/ 2147483647 h 55"/>
                <a:gd name="T8" fmla="*/ 2147483647 w 55"/>
                <a:gd name="T9" fmla="*/ 2147483647 h 55"/>
                <a:gd name="T10" fmla="*/ 2147483647 w 55"/>
                <a:gd name="T11" fmla="*/ 2147483647 h 55"/>
                <a:gd name="T12" fmla="*/ 2147483647 w 55"/>
                <a:gd name="T13" fmla="*/ 2147483647 h 55"/>
                <a:gd name="T14" fmla="*/ 2147483647 w 55"/>
                <a:gd name="T15" fmla="*/ 2147483647 h 55"/>
                <a:gd name="T16" fmla="*/ 2147483647 w 55"/>
                <a:gd name="T17" fmla="*/ 0 h 55"/>
                <a:gd name="T18" fmla="*/ 2147483647 w 55"/>
                <a:gd name="T19" fmla="*/ 2147483647 h 55"/>
                <a:gd name="T20" fmla="*/ 2147483647 w 55"/>
                <a:gd name="T21" fmla="*/ 2147483647 h 55"/>
                <a:gd name="T22" fmla="*/ 2147483647 w 55"/>
                <a:gd name="T23" fmla="*/ 2147483647 h 55"/>
                <a:gd name="T24" fmla="*/ 0 w 55"/>
                <a:gd name="T25" fmla="*/ 2147483647 h 55"/>
                <a:gd name="T26" fmla="*/ 2147483647 w 55"/>
                <a:gd name="T27" fmla="*/ 2147483647 h 55"/>
                <a:gd name="T28" fmla="*/ 2147483647 w 55"/>
                <a:gd name="T29" fmla="*/ 2147483647 h 55"/>
                <a:gd name="T30" fmla="*/ 2147483647 w 55"/>
                <a:gd name="T31" fmla="*/ 2147483647 h 55"/>
                <a:gd name="T32" fmla="*/ 2147483647 w 55"/>
                <a:gd name="T33" fmla="*/ 2147483647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5" h="55">
                  <a:moveTo>
                    <a:pt x="28" y="55"/>
                  </a:moveTo>
                  <a:lnTo>
                    <a:pt x="39" y="53"/>
                  </a:lnTo>
                  <a:lnTo>
                    <a:pt x="47" y="47"/>
                  </a:lnTo>
                  <a:lnTo>
                    <a:pt x="53" y="39"/>
                  </a:lnTo>
                  <a:lnTo>
                    <a:pt x="55" y="28"/>
                  </a:lnTo>
                  <a:lnTo>
                    <a:pt x="53" y="17"/>
                  </a:lnTo>
                  <a:lnTo>
                    <a:pt x="47" y="8"/>
                  </a:lnTo>
                  <a:lnTo>
                    <a:pt x="39" y="2"/>
                  </a:lnTo>
                  <a:lnTo>
                    <a:pt x="28" y="0"/>
                  </a:lnTo>
                  <a:lnTo>
                    <a:pt x="17" y="2"/>
                  </a:lnTo>
                  <a:lnTo>
                    <a:pt x="9" y="8"/>
                  </a:lnTo>
                  <a:lnTo>
                    <a:pt x="2" y="17"/>
                  </a:lnTo>
                  <a:lnTo>
                    <a:pt x="0" y="28"/>
                  </a:lnTo>
                  <a:lnTo>
                    <a:pt x="2" y="39"/>
                  </a:lnTo>
                  <a:lnTo>
                    <a:pt x="9" y="47"/>
                  </a:lnTo>
                  <a:lnTo>
                    <a:pt x="17" y="53"/>
                  </a:lnTo>
                  <a:lnTo>
                    <a:pt x="28"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6" name="Freeform 139">
              <a:extLst>
                <a:ext uri="{FF2B5EF4-FFF2-40B4-BE49-F238E27FC236}">
                  <a16:creationId xmlns:a16="http://schemas.microsoft.com/office/drawing/2014/main" id="{DFCFC3C9-6B66-4A7A-9CD3-0A044DFC092A}"/>
                </a:ext>
              </a:extLst>
            </p:cNvPr>
            <p:cNvSpPr>
              <a:spLocks/>
            </p:cNvSpPr>
            <p:nvPr/>
          </p:nvSpPr>
          <p:spPr bwMode="auto">
            <a:xfrm>
              <a:off x="6677025" y="3656013"/>
              <a:ext cx="76200" cy="368300"/>
            </a:xfrm>
            <a:custGeom>
              <a:avLst/>
              <a:gdLst>
                <a:gd name="T0" fmla="*/ 2147483647 w 156"/>
                <a:gd name="T1" fmla="*/ 2147483647 h 752"/>
                <a:gd name="T2" fmla="*/ 2147483647 w 156"/>
                <a:gd name="T3" fmla="*/ 2147483647 h 752"/>
                <a:gd name="T4" fmla="*/ 2147483647 w 156"/>
                <a:gd name="T5" fmla="*/ 2147483647 h 752"/>
                <a:gd name="T6" fmla="*/ 2147483647 w 156"/>
                <a:gd name="T7" fmla="*/ 2147483647 h 752"/>
                <a:gd name="T8" fmla="*/ 2147483647 w 156"/>
                <a:gd name="T9" fmla="*/ 2147483647 h 752"/>
                <a:gd name="T10" fmla="*/ 0 w 156"/>
                <a:gd name="T11" fmla="*/ 2147483647 h 752"/>
                <a:gd name="T12" fmla="*/ 2147483647 w 156"/>
                <a:gd name="T13" fmla="*/ 2147483647 h 752"/>
                <a:gd name="T14" fmla="*/ 2147483647 w 156"/>
                <a:gd name="T15" fmla="*/ 2147483647 h 752"/>
                <a:gd name="T16" fmla="*/ 2147483647 w 156"/>
                <a:gd name="T17" fmla="*/ 2147483647 h 752"/>
                <a:gd name="T18" fmla="*/ 2147483647 w 156"/>
                <a:gd name="T19" fmla="*/ 2147483647 h 752"/>
                <a:gd name="T20" fmla="*/ 2147483647 w 156"/>
                <a:gd name="T21" fmla="*/ 2147483647 h 752"/>
                <a:gd name="T22" fmla="*/ 2147483647 w 156"/>
                <a:gd name="T23" fmla="*/ 2147483647 h 752"/>
                <a:gd name="T24" fmla="*/ 2147483647 w 156"/>
                <a:gd name="T25" fmla="*/ 2147483647 h 752"/>
                <a:gd name="T26" fmla="*/ 2147483647 w 156"/>
                <a:gd name="T27" fmla="*/ 2147483647 h 752"/>
                <a:gd name="T28" fmla="*/ 2147483647 w 156"/>
                <a:gd name="T29" fmla="*/ 2147483647 h 752"/>
                <a:gd name="T30" fmla="*/ 2147483647 w 156"/>
                <a:gd name="T31" fmla="*/ 2147483647 h 752"/>
                <a:gd name="T32" fmla="*/ 2147483647 w 156"/>
                <a:gd name="T33" fmla="*/ 2147483647 h 752"/>
                <a:gd name="T34" fmla="*/ 2147483647 w 156"/>
                <a:gd name="T35" fmla="*/ 2147483647 h 752"/>
                <a:gd name="T36" fmla="*/ 2147483647 w 156"/>
                <a:gd name="T37" fmla="*/ 2147483647 h 752"/>
                <a:gd name="T38" fmla="*/ 2147483647 w 156"/>
                <a:gd name="T39" fmla="*/ 2147483647 h 752"/>
                <a:gd name="T40" fmla="*/ 2147483647 w 156"/>
                <a:gd name="T41" fmla="*/ 2147483647 h 752"/>
                <a:gd name="T42" fmla="*/ 2147483647 w 156"/>
                <a:gd name="T43" fmla="*/ 0 h 752"/>
                <a:gd name="T44" fmla="*/ 2147483647 w 156"/>
                <a:gd name="T45" fmla="*/ 0 h 752"/>
                <a:gd name="T46" fmla="*/ 2147483647 w 156"/>
                <a:gd name="T47" fmla="*/ 2147483647 h 752"/>
                <a:gd name="T48" fmla="*/ 2147483647 w 156"/>
                <a:gd name="T49" fmla="*/ 2147483647 h 752"/>
                <a:gd name="T50" fmla="*/ 2147483647 w 156"/>
                <a:gd name="T51" fmla="*/ 2147483647 h 7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56" h="752">
                  <a:moveTo>
                    <a:pt x="48" y="15"/>
                  </a:moveTo>
                  <a:lnTo>
                    <a:pt x="44" y="30"/>
                  </a:lnTo>
                  <a:lnTo>
                    <a:pt x="33" y="73"/>
                  </a:lnTo>
                  <a:lnTo>
                    <a:pt x="19" y="140"/>
                  </a:lnTo>
                  <a:lnTo>
                    <a:pt x="7" y="229"/>
                  </a:lnTo>
                  <a:lnTo>
                    <a:pt x="0" y="337"/>
                  </a:lnTo>
                  <a:lnTo>
                    <a:pt x="1" y="462"/>
                  </a:lnTo>
                  <a:lnTo>
                    <a:pt x="14" y="602"/>
                  </a:lnTo>
                  <a:lnTo>
                    <a:pt x="43" y="752"/>
                  </a:lnTo>
                  <a:lnTo>
                    <a:pt x="150" y="746"/>
                  </a:lnTo>
                  <a:lnTo>
                    <a:pt x="146" y="724"/>
                  </a:lnTo>
                  <a:lnTo>
                    <a:pt x="135" y="663"/>
                  </a:lnTo>
                  <a:lnTo>
                    <a:pt x="123" y="574"/>
                  </a:lnTo>
                  <a:lnTo>
                    <a:pt x="111" y="463"/>
                  </a:lnTo>
                  <a:lnTo>
                    <a:pt x="104" y="342"/>
                  </a:lnTo>
                  <a:lnTo>
                    <a:pt x="107" y="220"/>
                  </a:lnTo>
                  <a:lnTo>
                    <a:pt x="124" y="106"/>
                  </a:lnTo>
                  <a:lnTo>
                    <a:pt x="156" y="9"/>
                  </a:lnTo>
                  <a:lnTo>
                    <a:pt x="156" y="8"/>
                  </a:lnTo>
                  <a:lnTo>
                    <a:pt x="156" y="6"/>
                  </a:lnTo>
                  <a:lnTo>
                    <a:pt x="154" y="4"/>
                  </a:lnTo>
                  <a:lnTo>
                    <a:pt x="147" y="0"/>
                  </a:lnTo>
                  <a:lnTo>
                    <a:pt x="134" y="0"/>
                  </a:lnTo>
                  <a:lnTo>
                    <a:pt x="115" y="1"/>
                  </a:lnTo>
                  <a:lnTo>
                    <a:pt x="87" y="7"/>
                  </a:lnTo>
                  <a:lnTo>
                    <a:pt x="48" y="1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7" name="Freeform 140">
              <a:extLst>
                <a:ext uri="{FF2B5EF4-FFF2-40B4-BE49-F238E27FC236}">
                  <a16:creationId xmlns:a16="http://schemas.microsoft.com/office/drawing/2014/main" id="{7B33CE72-B366-49A3-9A4E-03F6BBF782DF}"/>
                </a:ext>
              </a:extLst>
            </p:cNvPr>
            <p:cNvSpPr>
              <a:spLocks/>
            </p:cNvSpPr>
            <p:nvPr/>
          </p:nvSpPr>
          <p:spPr bwMode="auto">
            <a:xfrm>
              <a:off x="7067550" y="3609975"/>
              <a:ext cx="103188" cy="411163"/>
            </a:xfrm>
            <a:custGeom>
              <a:avLst/>
              <a:gdLst>
                <a:gd name="T0" fmla="*/ 2147483647 w 212"/>
                <a:gd name="T1" fmla="*/ 2147483647 h 839"/>
                <a:gd name="T2" fmla="*/ 2147483647 w 212"/>
                <a:gd name="T3" fmla="*/ 2147483647 h 839"/>
                <a:gd name="T4" fmla="*/ 2147483647 w 212"/>
                <a:gd name="T5" fmla="*/ 2147483647 h 839"/>
                <a:gd name="T6" fmla="*/ 2147483647 w 212"/>
                <a:gd name="T7" fmla="*/ 2147483647 h 839"/>
                <a:gd name="T8" fmla="*/ 2147483647 w 212"/>
                <a:gd name="T9" fmla="*/ 2147483647 h 839"/>
                <a:gd name="T10" fmla="*/ 2147483647 w 212"/>
                <a:gd name="T11" fmla="*/ 2147483647 h 839"/>
                <a:gd name="T12" fmla="*/ 2147483647 w 212"/>
                <a:gd name="T13" fmla="*/ 2147483647 h 839"/>
                <a:gd name="T14" fmla="*/ 2147483647 w 212"/>
                <a:gd name="T15" fmla="*/ 2147483647 h 839"/>
                <a:gd name="T16" fmla="*/ 2147483647 w 212"/>
                <a:gd name="T17" fmla="*/ 2147483647 h 839"/>
                <a:gd name="T18" fmla="*/ 2147483647 w 212"/>
                <a:gd name="T19" fmla="*/ 2147483647 h 839"/>
                <a:gd name="T20" fmla="*/ 2147483647 w 212"/>
                <a:gd name="T21" fmla="*/ 2147483647 h 839"/>
                <a:gd name="T22" fmla="*/ 2147483647 w 212"/>
                <a:gd name="T23" fmla="*/ 2147483647 h 839"/>
                <a:gd name="T24" fmla="*/ 2147483647 w 212"/>
                <a:gd name="T25" fmla="*/ 2147483647 h 839"/>
                <a:gd name="T26" fmla="*/ 2147483647 w 212"/>
                <a:gd name="T27" fmla="*/ 2147483647 h 839"/>
                <a:gd name="T28" fmla="*/ 0 w 212"/>
                <a:gd name="T29" fmla="*/ 2147483647 h 839"/>
                <a:gd name="T30" fmla="*/ 2147483647 w 212"/>
                <a:gd name="T31" fmla="*/ 2147483647 h 839"/>
                <a:gd name="T32" fmla="*/ 2147483647 w 212"/>
                <a:gd name="T33" fmla="*/ 2147483647 h 839"/>
                <a:gd name="T34" fmla="*/ 2147483647 w 212"/>
                <a:gd name="T35" fmla="*/ 0 h 839"/>
                <a:gd name="T36" fmla="*/ 2147483647 w 212"/>
                <a:gd name="T37" fmla="*/ 2147483647 h 8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2" h="839">
                  <a:moveTo>
                    <a:pt x="212" y="6"/>
                  </a:moveTo>
                  <a:lnTo>
                    <a:pt x="206" y="11"/>
                  </a:lnTo>
                  <a:lnTo>
                    <a:pt x="192" y="33"/>
                  </a:lnTo>
                  <a:lnTo>
                    <a:pt x="174" y="77"/>
                  </a:lnTo>
                  <a:lnTo>
                    <a:pt x="156" y="148"/>
                  </a:lnTo>
                  <a:lnTo>
                    <a:pt x="141" y="254"/>
                  </a:lnTo>
                  <a:lnTo>
                    <a:pt x="133" y="401"/>
                  </a:lnTo>
                  <a:lnTo>
                    <a:pt x="137" y="593"/>
                  </a:lnTo>
                  <a:lnTo>
                    <a:pt x="158" y="839"/>
                  </a:lnTo>
                  <a:lnTo>
                    <a:pt x="38" y="839"/>
                  </a:lnTo>
                  <a:lnTo>
                    <a:pt x="34" y="814"/>
                  </a:lnTo>
                  <a:lnTo>
                    <a:pt x="24" y="746"/>
                  </a:lnTo>
                  <a:lnTo>
                    <a:pt x="12" y="645"/>
                  </a:lnTo>
                  <a:lnTo>
                    <a:pt x="3" y="521"/>
                  </a:lnTo>
                  <a:lnTo>
                    <a:pt x="0" y="384"/>
                  </a:lnTo>
                  <a:lnTo>
                    <a:pt x="6" y="244"/>
                  </a:lnTo>
                  <a:lnTo>
                    <a:pt x="29" y="114"/>
                  </a:lnTo>
                  <a:lnTo>
                    <a:pt x="68" y="0"/>
                  </a:lnTo>
                  <a:lnTo>
                    <a:pt x="212"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8" name="Freeform 141">
              <a:extLst>
                <a:ext uri="{FF2B5EF4-FFF2-40B4-BE49-F238E27FC236}">
                  <a16:creationId xmlns:a16="http://schemas.microsoft.com/office/drawing/2014/main" id="{92A6C962-F2E4-4F6F-9218-2E449BE8C8A6}"/>
                </a:ext>
              </a:extLst>
            </p:cNvPr>
            <p:cNvSpPr>
              <a:spLocks/>
            </p:cNvSpPr>
            <p:nvPr/>
          </p:nvSpPr>
          <p:spPr bwMode="auto">
            <a:xfrm>
              <a:off x="6680200" y="3678238"/>
              <a:ext cx="66675" cy="322262"/>
            </a:xfrm>
            <a:custGeom>
              <a:avLst/>
              <a:gdLst>
                <a:gd name="T0" fmla="*/ 2147483647 w 137"/>
                <a:gd name="T1" fmla="*/ 2147483647 h 656"/>
                <a:gd name="T2" fmla="*/ 2147483647 w 137"/>
                <a:gd name="T3" fmla="*/ 2147483647 h 656"/>
                <a:gd name="T4" fmla="*/ 2147483647 w 137"/>
                <a:gd name="T5" fmla="*/ 2147483647 h 656"/>
                <a:gd name="T6" fmla="*/ 2147483647 w 137"/>
                <a:gd name="T7" fmla="*/ 2147483647 h 656"/>
                <a:gd name="T8" fmla="*/ 2147483647 w 137"/>
                <a:gd name="T9" fmla="*/ 2147483647 h 656"/>
                <a:gd name="T10" fmla="*/ 0 w 137"/>
                <a:gd name="T11" fmla="*/ 2147483647 h 656"/>
                <a:gd name="T12" fmla="*/ 2147483647 w 137"/>
                <a:gd name="T13" fmla="*/ 2147483647 h 656"/>
                <a:gd name="T14" fmla="*/ 2147483647 w 137"/>
                <a:gd name="T15" fmla="*/ 2147483647 h 656"/>
                <a:gd name="T16" fmla="*/ 2147483647 w 137"/>
                <a:gd name="T17" fmla="*/ 2147483647 h 656"/>
                <a:gd name="T18" fmla="*/ 2147483647 w 137"/>
                <a:gd name="T19" fmla="*/ 2147483647 h 656"/>
                <a:gd name="T20" fmla="*/ 2147483647 w 137"/>
                <a:gd name="T21" fmla="*/ 2147483647 h 656"/>
                <a:gd name="T22" fmla="*/ 2147483647 w 137"/>
                <a:gd name="T23" fmla="*/ 2147483647 h 656"/>
                <a:gd name="T24" fmla="*/ 2147483647 w 137"/>
                <a:gd name="T25" fmla="*/ 2147483647 h 656"/>
                <a:gd name="T26" fmla="*/ 2147483647 w 137"/>
                <a:gd name="T27" fmla="*/ 2147483647 h 656"/>
                <a:gd name="T28" fmla="*/ 2147483647 w 137"/>
                <a:gd name="T29" fmla="*/ 2147483647 h 656"/>
                <a:gd name="T30" fmla="*/ 2147483647 w 137"/>
                <a:gd name="T31" fmla="*/ 2147483647 h 656"/>
                <a:gd name="T32" fmla="*/ 2147483647 w 137"/>
                <a:gd name="T33" fmla="*/ 2147483647 h 656"/>
                <a:gd name="T34" fmla="*/ 2147483647 w 137"/>
                <a:gd name="T35" fmla="*/ 2147483647 h 656"/>
                <a:gd name="T36" fmla="*/ 2147483647 w 137"/>
                <a:gd name="T37" fmla="*/ 2147483647 h 656"/>
                <a:gd name="T38" fmla="*/ 2147483647 w 137"/>
                <a:gd name="T39" fmla="*/ 2147483647 h 656"/>
                <a:gd name="T40" fmla="*/ 2147483647 w 137"/>
                <a:gd name="T41" fmla="*/ 2147483647 h 656"/>
                <a:gd name="T42" fmla="*/ 2147483647 w 137"/>
                <a:gd name="T43" fmla="*/ 0 h 656"/>
                <a:gd name="T44" fmla="*/ 2147483647 w 137"/>
                <a:gd name="T45" fmla="*/ 0 h 656"/>
                <a:gd name="T46" fmla="*/ 2147483647 w 137"/>
                <a:gd name="T47" fmla="*/ 2147483647 h 656"/>
                <a:gd name="T48" fmla="*/ 2147483647 w 137"/>
                <a:gd name="T49" fmla="*/ 2147483647 h 656"/>
                <a:gd name="T50" fmla="*/ 2147483647 w 137"/>
                <a:gd name="T51" fmla="*/ 2147483647 h 6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7" h="656">
                  <a:moveTo>
                    <a:pt x="43" y="12"/>
                  </a:moveTo>
                  <a:lnTo>
                    <a:pt x="39" y="25"/>
                  </a:lnTo>
                  <a:lnTo>
                    <a:pt x="30" y="62"/>
                  </a:lnTo>
                  <a:lnTo>
                    <a:pt x="19" y="122"/>
                  </a:lnTo>
                  <a:lnTo>
                    <a:pt x="7" y="199"/>
                  </a:lnTo>
                  <a:lnTo>
                    <a:pt x="0" y="294"/>
                  </a:lnTo>
                  <a:lnTo>
                    <a:pt x="1" y="403"/>
                  </a:lnTo>
                  <a:lnTo>
                    <a:pt x="12" y="524"/>
                  </a:lnTo>
                  <a:lnTo>
                    <a:pt x="38" y="656"/>
                  </a:lnTo>
                  <a:lnTo>
                    <a:pt x="132" y="650"/>
                  </a:lnTo>
                  <a:lnTo>
                    <a:pt x="127" y="631"/>
                  </a:lnTo>
                  <a:lnTo>
                    <a:pt x="119" y="578"/>
                  </a:lnTo>
                  <a:lnTo>
                    <a:pt x="107" y="499"/>
                  </a:lnTo>
                  <a:lnTo>
                    <a:pt x="97" y="403"/>
                  </a:lnTo>
                  <a:lnTo>
                    <a:pt x="92" y="297"/>
                  </a:lnTo>
                  <a:lnTo>
                    <a:pt x="94" y="192"/>
                  </a:lnTo>
                  <a:lnTo>
                    <a:pt x="108" y="91"/>
                  </a:lnTo>
                  <a:lnTo>
                    <a:pt x="137" y="7"/>
                  </a:lnTo>
                  <a:lnTo>
                    <a:pt x="137" y="6"/>
                  </a:lnTo>
                  <a:lnTo>
                    <a:pt x="137" y="4"/>
                  </a:lnTo>
                  <a:lnTo>
                    <a:pt x="135" y="2"/>
                  </a:lnTo>
                  <a:lnTo>
                    <a:pt x="129" y="0"/>
                  </a:lnTo>
                  <a:lnTo>
                    <a:pt x="119" y="0"/>
                  </a:lnTo>
                  <a:lnTo>
                    <a:pt x="101" y="1"/>
                  </a:lnTo>
                  <a:lnTo>
                    <a:pt x="77" y="5"/>
                  </a:lnTo>
                  <a:lnTo>
                    <a:pt x="43"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9" name="Freeform 142">
              <a:extLst>
                <a:ext uri="{FF2B5EF4-FFF2-40B4-BE49-F238E27FC236}">
                  <a16:creationId xmlns:a16="http://schemas.microsoft.com/office/drawing/2014/main" id="{317A49E0-3ABE-4409-AF1B-E01DADB00AB0}"/>
                </a:ext>
              </a:extLst>
            </p:cNvPr>
            <p:cNvSpPr>
              <a:spLocks/>
            </p:cNvSpPr>
            <p:nvPr/>
          </p:nvSpPr>
          <p:spPr bwMode="auto">
            <a:xfrm>
              <a:off x="6683375" y="3700463"/>
              <a:ext cx="55563" cy="273050"/>
            </a:xfrm>
            <a:custGeom>
              <a:avLst/>
              <a:gdLst>
                <a:gd name="T0" fmla="*/ 2147483647 w 116"/>
                <a:gd name="T1" fmla="*/ 2147483647 h 560"/>
                <a:gd name="T2" fmla="*/ 2147483647 w 116"/>
                <a:gd name="T3" fmla="*/ 2147483647 h 560"/>
                <a:gd name="T4" fmla="*/ 2147483647 w 116"/>
                <a:gd name="T5" fmla="*/ 2147483647 h 560"/>
                <a:gd name="T6" fmla="*/ 2147483647 w 116"/>
                <a:gd name="T7" fmla="*/ 2147483647 h 560"/>
                <a:gd name="T8" fmla="*/ 2147483647 w 116"/>
                <a:gd name="T9" fmla="*/ 2147483647 h 560"/>
                <a:gd name="T10" fmla="*/ 0 w 116"/>
                <a:gd name="T11" fmla="*/ 2147483647 h 560"/>
                <a:gd name="T12" fmla="*/ 2147483647 w 116"/>
                <a:gd name="T13" fmla="*/ 2147483647 h 560"/>
                <a:gd name="T14" fmla="*/ 2147483647 w 116"/>
                <a:gd name="T15" fmla="*/ 2147483647 h 560"/>
                <a:gd name="T16" fmla="*/ 2147483647 w 116"/>
                <a:gd name="T17" fmla="*/ 2147483647 h 560"/>
                <a:gd name="T18" fmla="*/ 2147483647 w 116"/>
                <a:gd name="T19" fmla="*/ 2147483647 h 560"/>
                <a:gd name="T20" fmla="*/ 2147483647 w 116"/>
                <a:gd name="T21" fmla="*/ 2147483647 h 560"/>
                <a:gd name="T22" fmla="*/ 2147483647 w 116"/>
                <a:gd name="T23" fmla="*/ 2147483647 h 560"/>
                <a:gd name="T24" fmla="*/ 2147483647 w 116"/>
                <a:gd name="T25" fmla="*/ 2147483647 h 560"/>
                <a:gd name="T26" fmla="*/ 2147483647 w 116"/>
                <a:gd name="T27" fmla="*/ 2147483647 h 560"/>
                <a:gd name="T28" fmla="*/ 2147483647 w 116"/>
                <a:gd name="T29" fmla="*/ 2147483647 h 560"/>
                <a:gd name="T30" fmla="*/ 2147483647 w 116"/>
                <a:gd name="T31" fmla="*/ 2147483647 h 560"/>
                <a:gd name="T32" fmla="*/ 2147483647 w 116"/>
                <a:gd name="T33" fmla="*/ 2147483647 h 560"/>
                <a:gd name="T34" fmla="*/ 2147483647 w 116"/>
                <a:gd name="T35" fmla="*/ 2147483647 h 560"/>
                <a:gd name="T36" fmla="*/ 2147483647 w 116"/>
                <a:gd name="T37" fmla="*/ 2147483647 h 560"/>
                <a:gd name="T38" fmla="*/ 2147483647 w 116"/>
                <a:gd name="T39" fmla="*/ 2147483647 h 560"/>
                <a:gd name="T40" fmla="*/ 2147483647 w 116"/>
                <a:gd name="T41" fmla="*/ 2147483647 h 560"/>
                <a:gd name="T42" fmla="*/ 2147483647 w 116"/>
                <a:gd name="T43" fmla="*/ 0 h 560"/>
                <a:gd name="T44" fmla="*/ 2147483647 w 116"/>
                <a:gd name="T45" fmla="*/ 0 h 560"/>
                <a:gd name="T46" fmla="*/ 2147483647 w 116"/>
                <a:gd name="T47" fmla="*/ 2147483647 h 560"/>
                <a:gd name="T48" fmla="*/ 2147483647 w 116"/>
                <a:gd name="T49" fmla="*/ 2147483647 h 560"/>
                <a:gd name="T50" fmla="*/ 2147483647 w 116"/>
                <a:gd name="T51" fmla="*/ 2147483647 h 56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6" h="560">
                  <a:moveTo>
                    <a:pt x="36" y="11"/>
                  </a:moveTo>
                  <a:lnTo>
                    <a:pt x="33" y="21"/>
                  </a:lnTo>
                  <a:lnTo>
                    <a:pt x="24" y="53"/>
                  </a:lnTo>
                  <a:lnTo>
                    <a:pt x="15" y="103"/>
                  </a:lnTo>
                  <a:lnTo>
                    <a:pt x="5" y="169"/>
                  </a:lnTo>
                  <a:lnTo>
                    <a:pt x="0" y="250"/>
                  </a:lnTo>
                  <a:lnTo>
                    <a:pt x="1" y="344"/>
                  </a:lnTo>
                  <a:lnTo>
                    <a:pt x="10" y="448"/>
                  </a:lnTo>
                  <a:lnTo>
                    <a:pt x="32" y="560"/>
                  </a:lnTo>
                  <a:lnTo>
                    <a:pt x="112" y="555"/>
                  </a:lnTo>
                  <a:lnTo>
                    <a:pt x="108" y="538"/>
                  </a:lnTo>
                  <a:lnTo>
                    <a:pt x="101" y="493"/>
                  </a:lnTo>
                  <a:lnTo>
                    <a:pt x="91" y="426"/>
                  </a:lnTo>
                  <a:lnTo>
                    <a:pt x="82" y="344"/>
                  </a:lnTo>
                  <a:lnTo>
                    <a:pt x="77" y="255"/>
                  </a:lnTo>
                  <a:lnTo>
                    <a:pt x="79" y="164"/>
                  </a:lnTo>
                  <a:lnTo>
                    <a:pt x="91" y="79"/>
                  </a:lnTo>
                  <a:lnTo>
                    <a:pt x="116" y="6"/>
                  </a:lnTo>
                  <a:lnTo>
                    <a:pt x="116" y="5"/>
                  </a:lnTo>
                  <a:lnTo>
                    <a:pt x="116" y="4"/>
                  </a:lnTo>
                  <a:lnTo>
                    <a:pt x="114" y="2"/>
                  </a:lnTo>
                  <a:lnTo>
                    <a:pt x="109" y="0"/>
                  </a:lnTo>
                  <a:lnTo>
                    <a:pt x="100" y="0"/>
                  </a:lnTo>
                  <a:lnTo>
                    <a:pt x="86" y="1"/>
                  </a:lnTo>
                  <a:lnTo>
                    <a:pt x="65" y="4"/>
                  </a:lnTo>
                  <a:lnTo>
                    <a:pt x="36" y="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0" name="Freeform 143">
              <a:extLst>
                <a:ext uri="{FF2B5EF4-FFF2-40B4-BE49-F238E27FC236}">
                  <a16:creationId xmlns:a16="http://schemas.microsoft.com/office/drawing/2014/main" id="{9866E60E-516D-41FE-A2C3-ADA8C7CA11A7}"/>
                </a:ext>
              </a:extLst>
            </p:cNvPr>
            <p:cNvSpPr>
              <a:spLocks/>
            </p:cNvSpPr>
            <p:nvPr/>
          </p:nvSpPr>
          <p:spPr bwMode="auto">
            <a:xfrm>
              <a:off x="6684963" y="3721100"/>
              <a:ext cx="47625" cy="227013"/>
            </a:xfrm>
            <a:custGeom>
              <a:avLst/>
              <a:gdLst>
                <a:gd name="T0" fmla="*/ 2147483647 w 97"/>
                <a:gd name="T1" fmla="*/ 2147483647 h 463"/>
                <a:gd name="T2" fmla="*/ 2147483647 w 97"/>
                <a:gd name="T3" fmla="*/ 2147483647 h 463"/>
                <a:gd name="T4" fmla="*/ 2147483647 w 97"/>
                <a:gd name="T5" fmla="*/ 2147483647 h 463"/>
                <a:gd name="T6" fmla="*/ 2147483647 w 97"/>
                <a:gd name="T7" fmla="*/ 2147483647 h 463"/>
                <a:gd name="T8" fmla="*/ 2147483647 w 97"/>
                <a:gd name="T9" fmla="*/ 2147483647 h 463"/>
                <a:gd name="T10" fmla="*/ 0 w 97"/>
                <a:gd name="T11" fmla="*/ 2147483647 h 463"/>
                <a:gd name="T12" fmla="*/ 0 w 97"/>
                <a:gd name="T13" fmla="*/ 2147483647 h 463"/>
                <a:gd name="T14" fmla="*/ 2147483647 w 97"/>
                <a:gd name="T15" fmla="*/ 2147483647 h 463"/>
                <a:gd name="T16" fmla="*/ 2147483647 w 97"/>
                <a:gd name="T17" fmla="*/ 2147483647 h 463"/>
                <a:gd name="T18" fmla="*/ 2147483647 w 97"/>
                <a:gd name="T19" fmla="*/ 2147483647 h 463"/>
                <a:gd name="T20" fmla="*/ 2147483647 w 97"/>
                <a:gd name="T21" fmla="*/ 2147483647 h 463"/>
                <a:gd name="T22" fmla="*/ 2147483647 w 97"/>
                <a:gd name="T23" fmla="*/ 2147483647 h 463"/>
                <a:gd name="T24" fmla="*/ 2147483647 w 97"/>
                <a:gd name="T25" fmla="*/ 2147483647 h 463"/>
                <a:gd name="T26" fmla="*/ 2147483647 w 97"/>
                <a:gd name="T27" fmla="*/ 2147483647 h 463"/>
                <a:gd name="T28" fmla="*/ 2147483647 w 97"/>
                <a:gd name="T29" fmla="*/ 2147483647 h 463"/>
                <a:gd name="T30" fmla="*/ 2147483647 w 97"/>
                <a:gd name="T31" fmla="*/ 2147483647 h 463"/>
                <a:gd name="T32" fmla="*/ 2147483647 w 97"/>
                <a:gd name="T33" fmla="*/ 2147483647 h 463"/>
                <a:gd name="T34" fmla="*/ 2147483647 w 97"/>
                <a:gd name="T35" fmla="*/ 2147483647 h 463"/>
                <a:gd name="T36" fmla="*/ 2147483647 w 97"/>
                <a:gd name="T37" fmla="*/ 2147483647 h 463"/>
                <a:gd name="T38" fmla="*/ 2147483647 w 97"/>
                <a:gd name="T39" fmla="*/ 2147483647 h 463"/>
                <a:gd name="T40" fmla="*/ 2147483647 w 97"/>
                <a:gd name="T41" fmla="*/ 2147483647 h 463"/>
                <a:gd name="T42" fmla="*/ 2147483647 w 97"/>
                <a:gd name="T43" fmla="*/ 0 h 463"/>
                <a:gd name="T44" fmla="*/ 2147483647 w 97"/>
                <a:gd name="T45" fmla="*/ 0 h 463"/>
                <a:gd name="T46" fmla="*/ 2147483647 w 97"/>
                <a:gd name="T47" fmla="*/ 0 h 463"/>
                <a:gd name="T48" fmla="*/ 2147483647 w 97"/>
                <a:gd name="T49" fmla="*/ 2147483647 h 463"/>
                <a:gd name="T50" fmla="*/ 2147483647 w 97"/>
                <a:gd name="T51" fmla="*/ 2147483647 h 46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7" h="463">
                  <a:moveTo>
                    <a:pt x="30" y="9"/>
                  </a:moveTo>
                  <a:lnTo>
                    <a:pt x="27" y="17"/>
                  </a:lnTo>
                  <a:lnTo>
                    <a:pt x="20" y="44"/>
                  </a:lnTo>
                  <a:lnTo>
                    <a:pt x="12" y="85"/>
                  </a:lnTo>
                  <a:lnTo>
                    <a:pt x="4" y="140"/>
                  </a:lnTo>
                  <a:lnTo>
                    <a:pt x="0" y="207"/>
                  </a:lnTo>
                  <a:lnTo>
                    <a:pt x="0" y="285"/>
                  </a:lnTo>
                  <a:lnTo>
                    <a:pt x="9" y="370"/>
                  </a:lnTo>
                  <a:lnTo>
                    <a:pt x="26" y="463"/>
                  </a:lnTo>
                  <a:lnTo>
                    <a:pt x="93" y="460"/>
                  </a:lnTo>
                  <a:lnTo>
                    <a:pt x="89" y="446"/>
                  </a:lnTo>
                  <a:lnTo>
                    <a:pt x="83" y="408"/>
                  </a:lnTo>
                  <a:lnTo>
                    <a:pt x="75" y="353"/>
                  </a:lnTo>
                  <a:lnTo>
                    <a:pt x="68" y="285"/>
                  </a:lnTo>
                  <a:lnTo>
                    <a:pt x="65" y="211"/>
                  </a:lnTo>
                  <a:lnTo>
                    <a:pt x="67" y="136"/>
                  </a:lnTo>
                  <a:lnTo>
                    <a:pt x="76" y="65"/>
                  </a:lnTo>
                  <a:lnTo>
                    <a:pt x="97" y="5"/>
                  </a:lnTo>
                  <a:lnTo>
                    <a:pt x="97" y="4"/>
                  </a:lnTo>
                  <a:lnTo>
                    <a:pt x="97" y="3"/>
                  </a:lnTo>
                  <a:lnTo>
                    <a:pt x="95" y="1"/>
                  </a:lnTo>
                  <a:lnTo>
                    <a:pt x="91" y="0"/>
                  </a:lnTo>
                  <a:lnTo>
                    <a:pt x="84" y="0"/>
                  </a:lnTo>
                  <a:lnTo>
                    <a:pt x="71" y="0"/>
                  </a:lnTo>
                  <a:lnTo>
                    <a:pt x="54" y="3"/>
                  </a:lnTo>
                  <a:lnTo>
                    <a:pt x="30" y="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1" name="Freeform 144">
              <a:extLst>
                <a:ext uri="{FF2B5EF4-FFF2-40B4-BE49-F238E27FC236}">
                  <a16:creationId xmlns:a16="http://schemas.microsoft.com/office/drawing/2014/main" id="{E3D075C2-D7D9-4AC7-ACB9-2494BB9FC128}"/>
                </a:ext>
              </a:extLst>
            </p:cNvPr>
            <p:cNvSpPr>
              <a:spLocks/>
            </p:cNvSpPr>
            <p:nvPr/>
          </p:nvSpPr>
          <p:spPr bwMode="auto">
            <a:xfrm>
              <a:off x="6688138" y="3743325"/>
              <a:ext cx="36512" cy="179388"/>
            </a:xfrm>
            <a:custGeom>
              <a:avLst/>
              <a:gdLst>
                <a:gd name="T0" fmla="*/ 2147483647 w 77"/>
                <a:gd name="T1" fmla="*/ 2147483647 h 367"/>
                <a:gd name="T2" fmla="*/ 2147483647 w 77"/>
                <a:gd name="T3" fmla="*/ 2147483647 h 367"/>
                <a:gd name="T4" fmla="*/ 2147483647 w 77"/>
                <a:gd name="T5" fmla="*/ 2147483647 h 367"/>
                <a:gd name="T6" fmla="*/ 2147483647 w 77"/>
                <a:gd name="T7" fmla="*/ 2147483647 h 367"/>
                <a:gd name="T8" fmla="*/ 2147483647 w 77"/>
                <a:gd name="T9" fmla="*/ 2147483647 h 367"/>
                <a:gd name="T10" fmla="*/ 0 w 77"/>
                <a:gd name="T11" fmla="*/ 2147483647 h 367"/>
                <a:gd name="T12" fmla="*/ 0 w 77"/>
                <a:gd name="T13" fmla="*/ 2147483647 h 367"/>
                <a:gd name="T14" fmla="*/ 2147483647 w 77"/>
                <a:gd name="T15" fmla="*/ 2147483647 h 367"/>
                <a:gd name="T16" fmla="*/ 2147483647 w 77"/>
                <a:gd name="T17" fmla="*/ 2147483647 h 367"/>
                <a:gd name="T18" fmla="*/ 2147483647 w 77"/>
                <a:gd name="T19" fmla="*/ 2147483647 h 367"/>
                <a:gd name="T20" fmla="*/ 2147483647 w 77"/>
                <a:gd name="T21" fmla="*/ 2147483647 h 367"/>
                <a:gd name="T22" fmla="*/ 2147483647 w 77"/>
                <a:gd name="T23" fmla="*/ 2147483647 h 367"/>
                <a:gd name="T24" fmla="*/ 2147483647 w 77"/>
                <a:gd name="T25" fmla="*/ 2147483647 h 367"/>
                <a:gd name="T26" fmla="*/ 2147483647 w 77"/>
                <a:gd name="T27" fmla="*/ 2147483647 h 367"/>
                <a:gd name="T28" fmla="*/ 2147483647 w 77"/>
                <a:gd name="T29" fmla="*/ 2147483647 h 367"/>
                <a:gd name="T30" fmla="*/ 2147483647 w 77"/>
                <a:gd name="T31" fmla="*/ 2147483647 h 367"/>
                <a:gd name="T32" fmla="*/ 2147483647 w 77"/>
                <a:gd name="T33" fmla="*/ 2147483647 h 367"/>
                <a:gd name="T34" fmla="*/ 2147483647 w 77"/>
                <a:gd name="T35" fmla="*/ 2147483647 h 367"/>
                <a:gd name="T36" fmla="*/ 2147483647 w 77"/>
                <a:gd name="T37" fmla="*/ 2147483647 h 367"/>
                <a:gd name="T38" fmla="*/ 2147483647 w 77"/>
                <a:gd name="T39" fmla="*/ 2147483647 h 367"/>
                <a:gd name="T40" fmla="*/ 2147483647 w 77"/>
                <a:gd name="T41" fmla="*/ 2147483647 h 367"/>
                <a:gd name="T42" fmla="*/ 2147483647 w 77"/>
                <a:gd name="T43" fmla="*/ 0 h 367"/>
                <a:gd name="T44" fmla="*/ 2147483647 w 77"/>
                <a:gd name="T45" fmla="*/ 0 h 367"/>
                <a:gd name="T46" fmla="*/ 2147483647 w 77"/>
                <a:gd name="T47" fmla="*/ 2147483647 h 367"/>
                <a:gd name="T48" fmla="*/ 2147483647 w 77"/>
                <a:gd name="T49" fmla="*/ 2147483647 h 367"/>
                <a:gd name="T50" fmla="*/ 2147483647 w 77"/>
                <a:gd name="T51" fmla="*/ 2147483647 h 36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77" h="367">
                  <a:moveTo>
                    <a:pt x="24" y="8"/>
                  </a:moveTo>
                  <a:lnTo>
                    <a:pt x="22" y="15"/>
                  </a:lnTo>
                  <a:lnTo>
                    <a:pt x="17" y="36"/>
                  </a:lnTo>
                  <a:lnTo>
                    <a:pt x="10" y="68"/>
                  </a:lnTo>
                  <a:lnTo>
                    <a:pt x="4" y="112"/>
                  </a:lnTo>
                  <a:lnTo>
                    <a:pt x="0" y="164"/>
                  </a:lnTo>
                  <a:lnTo>
                    <a:pt x="0" y="226"/>
                  </a:lnTo>
                  <a:lnTo>
                    <a:pt x="7" y="294"/>
                  </a:lnTo>
                  <a:lnTo>
                    <a:pt x="21" y="367"/>
                  </a:lnTo>
                  <a:lnTo>
                    <a:pt x="74" y="364"/>
                  </a:lnTo>
                  <a:lnTo>
                    <a:pt x="71" y="353"/>
                  </a:lnTo>
                  <a:lnTo>
                    <a:pt x="66" y="323"/>
                  </a:lnTo>
                  <a:lnTo>
                    <a:pt x="60" y="280"/>
                  </a:lnTo>
                  <a:lnTo>
                    <a:pt x="54" y="226"/>
                  </a:lnTo>
                  <a:lnTo>
                    <a:pt x="51" y="168"/>
                  </a:lnTo>
                  <a:lnTo>
                    <a:pt x="53" y="107"/>
                  </a:lnTo>
                  <a:lnTo>
                    <a:pt x="61" y="52"/>
                  </a:lnTo>
                  <a:lnTo>
                    <a:pt x="77" y="5"/>
                  </a:lnTo>
                  <a:lnTo>
                    <a:pt x="77" y="2"/>
                  </a:lnTo>
                  <a:lnTo>
                    <a:pt x="76" y="1"/>
                  </a:lnTo>
                  <a:lnTo>
                    <a:pt x="72" y="0"/>
                  </a:lnTo>
                  <a:lnTo>
                    <a:pt x="66" y="0"/>
                  </a:lnTo>
                  <a:lnTo>
                    <a:pt x="56" y="1"/>
                  </a:lnTo>
                  <a:lnTo>
                    <a:pt x="43" y="4"/>
                  </a:lnTo>
                  <a:lnTo>
                    <a:pt x="24" y="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2" name="Freeform 145">
              <a:extLst>
                <a:ext uri="{FF2B5EF4-FFF2-40B4-BE49-F238E27FC236}">
                  <a16:creationId xmlns:a16="http://schemas.microsoft.com/office/drawing/2014/main" id="{2317F457-0933-43B8-8156-AA22466DC53A}"/>
                </a:ext>
              </a:extLst>
            </p:cNvPr>
            <p:cNvSpPr>
              <a:spLocks/>
            </p:cNvSpPr>
            <p:nvPr/>
          </p:nvSpPr>
          <p:spPr bwMode="auto">
            <a:xfrm>
              <a:off x="6691313" y="3765550"/>
              <a:ext cx="26987" cy="131763"/>
            </a:xfrm>
            <a:custGeom>
              <a:avLst/>
              <a:gdLst>
                <a:gd name="T0" fmla="*/ 2147483647 w 56"/>
                <a:gd name="T1" fmla="*/ 2147483647 h 271"/>
                <a:gd name="T2" fmla="*/ 2147483647 w 56"/>
                <a:gd name="T3" fmla="*/ 2147483647 h 271"/>
                <a:gd name="T4" fmla="*/ 2147483647 w 56"/>
                <a:gd name="T5" fmla="*/ 2147483647 h 271"/>
                <a:gd name="T6" fmla="*/ 2147483647 w 56"/>
                <a:gd name="T7" fmla="*/ 2147483647 h 271"/>
                <a:gd name="T8" fmla="*/ 2147483647 w 56"/>
                <a:gd name="T9" fmla="*/ 2147483647 h 271"/>
                <a:gd name="T10" fmla="*/ 0 w 56"/>
                <a:gd name="T11" fmla="*/ 2147483647 h 271"/>
                <a:gd name="T12" fmla="*/ 0 w 56"/>
                <a:gd name="T13" fmla="*/ 2147483647 h 271"/>
                <a:gd name="T14" fmla="*/ 2147483647 w 56"/>
                <a:gd name="T15" fmla="*/ 2147483647 h 271"/>
                <a:gd name="T16" fmla="*/ 2147483647 w 56"/>
                <a:gd name="T17" fmla="*/ 2147483647 h 271"/>
                <a:gd name="T18" fmla="*/ 2147483647 w 56"/>
                <a:gd name="T19" fmla="*/ 2147483647 h 271"/>
                <a:gd name="T20" fmla="*/ 2147483647 w 56"/>
                <a:gd name="T21" fmla="*/ 2147483647 h 271"/>
                <a:gd name="T22" fmla="*/ 2147483647 w 56"/>
                <a:gd name="T23" fmla="*/ 2147483647 h 271"/>
                <a:gd name="T24" fmla="*/ 2147483647 w 56"/>
                <a:gd name="T25" fmla="*/ 2147483647 h 271"/>
                <a:gd name="T26" fmla="*/ 2147483647 w 56"/>
                <a:gd name="T27" fmla="*/ 2147483647 h 271"/>
                <a:gd name="T28" fmla="*/ 2147483647 w 56"/>
                <a:gd name="T29" fmla="*/ 2147483647 h 271"/>
                <a:gd name="T30" fmla="*/ 2147483647 w 56"/>
                <a:gd name="T31" fmla="*/ 2147483647 h 271"/>
                <a:gd name="T32" fmla="*/ 2147483647 w 56"/>
                <a:gd name="T33" fmla="*/ 2147483647 h 271"/>
                <a:gd name="T34" fmla="*/ 2147483647 w 56"/>
                <a:gd name="T35" fmla="*/ 2147483647 h 271"/>
                <a:gd name="T36" fmla="*/ 2147483647 w 56"/>
                <a:gd name="T37" fmla="*/ 2147483647 h 271"/>
                <a:gd name="T38" fmla="*/ 2147483647 w 56"/>
                <a:gd name="T39" fmla="*/ 2147483647 h 271"/>
                <a:gd name="T40" fmla="*/ 2147483647 w 56"/>
                <a:gd name="T41" fmla="*/ 2147483647 h 271"/>
                <a:gd name="T42" fmla="*/ 2147483647 w 56"/>
                <a:gd name="T43" fmla="*/ 0 h 271"/>
                <a:gd name="T44" fmla="*/ 2147483647 w 56"/>
                <a:gd name="T45" fmla="*/ 0 h 271"/>
                <a:gd name="T46" fmla="*/ 2147483647 w 56"/>
                <a:gd name="T47" fmla="*/ 0 h 271"/>
                <a:gd name="T48" fmla="*/ 2147483647 w 56"/>
                <a:gd name="T49" fmla="*/ 2147483647 h 271"/>
                <a:gd name="T50" fmla="*/ 2147483647 w 56"/>
                <a:gd name="T51" fmla="*/ 2147483647 h 27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6" h="271">
                  <a:moveTo>
                    <a:pt x="17" y="5"/>
                  </a:moveTo>
                  <a:lnTo>
                    <a:pt x="16" y="10"/>
                  </a:lnTo>
                  <a:lnTo>
                    <a:pt x="12" y="25"/>
                  </a:lnTo>
                  <a:lnTo>
                    <a:pt x="6" y="49"/>
                  </a:lnTo>
                  <a:lnTo>
                    <a:pt x="2" y="82"/>
                  </a:lnTo>
                  <a:lnTo>
                    <a:pt x="0" y="122"/>
                  </a:lnTo>
                  <a:lnTo>
                    <a:pt x="0" y="166"/>
                  </a:lnTo>
                  <a:lnTo>
                    <a:pt x="4" y="217"/>
                  </a:lnTo>
                  <a:lnTo>
                    <a:pt x="15" y="271"/>
                  </a:lnTo>
                  <a:lnTo>
                    <a:pt x="54" y="268"/>
                  </a:lnTo>
                  <a:lnTo>
                    <a:pt x="52" y="261"/>
                  </a:lnTo>
                  <a:lnTo>
                    <a:pt x="48" y="238"/>
                  </a:lnTo>
                  <a:lnTo>
                    <a:pt x="44" y="206"/>
                  </a:lnTo>
                  <a:lnTo>
                    <a:pt x="40" y="166"/>
                  </a:lnTo>
                  <a:lnTo>
                    <a:pt x="37" y="123"/>
                  </a:lnTo>
                  <a:lnTo>
                    <a:pt x="39" y="78"/>
                  </a:lnTo>
                  <a:lnTo>
                    <a:pt x="44" y="37"/>
                  </a:lnTo>
                  <a:lnTo>
                    <a:pt x="56" y="3"/>
                  </a:lnTo>
                  <a:lnTo>
                    <a:pt x="56" y="2"/>
                  </a:lnTo>
                  <a:lnTo>
                    <a:pt x="55" y="1"/>
                  </a:lnTo>
                  <a:lnTo>
                    <a:pt x="52" y="0"/>
                  </a:lnTo>
                  <a:lnTo>
                    <a:pt x="48" y="0"/>
                  </a:lnTo>
                  <a:lnTo>
                    <a:pt x="42" y="0"/>
                  </a:lnTo>
                  <a:lnTo>
                    <a:pt x="31" y="2"/>
                  </a:lnTo>
                  <a:lnTo>
                    <a:pt x="17"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3" name="Freeform 146">
              <a:extLst>
                <a:ext uri="{FF2B5EF4-FFF2-40B4-BE49-F238E27FC236}">
                  <a16:creationId xmlns:a16="http://schemas.microsoft.com/office/drawing/2014/main" id="{8D50F3C8-4623-499E-88A5-FBF7A6A584CB}"/>
                </a:ext>
              </a:extLst>
            </p:cNvPr>
            <p:cNvSpPr>
              <a:spLocks/>
            </p:cNvSpPr>
            <p:nvPr/>
          </p:nvSpPr>
          <p:spPr bwMode="auto">
            <a:xfrm>
              <a:off x="7070725" y="3635375"/>
              <a:ext cx="90488" cy="358775"/>
            </a:xfrm>
            <a:custGeom>
              <a:avLst/>
              <a:gdLst>
                <a:gd name="T0" fmla="*/ 2147483647 w 186"/>
                <a:gd name="T1" fmla="*/ 2147483647 h 732"/>
                <a:gd name="T2" fmla="*/ 2147483647 w 186"/>
                <a:gd name="T3" fmla="*/ 2147483647 h 732"/>
                <a:gd name="T4" fmla="*/ 2147483647 w 186"/>
                <a:gd name="T5" fmla="*/ 2147483647 h 732"/>
                <a:gd name="T6" fmla="*/ 2147483647 w 186"/>
                <a:gd name="T7" fmla="*/ 2147483647 h 732"/>
                <a:gd name="T8" fmla="*/ 2147483647 w 186"/>
                <a:gd name="T9" fmla="*/ 2147483647 h 732"/>
                <a:gd name="T10" fmla="*/ 2147483647 w 186"/>
                <a:gd name="T11" fmla="*/ 2147483647 h 732"/>
                <a:gd name="T12" fmla="*/ 2147483647 w 186"/>
                <a:gd name="T13" fmla="*/ 2147483647 h 732"/>
                <a:gd name="T14" fmla="*/ 2147483647 w 186"/>
                <a:gd name="T15" fmla="*/ 2147483647 h 732"/>
                <a:gd name="T16" fmla="*/ 2147483647 w 186"/>
                <a:gd name="T17" fmla="*/ 2147483647 h 732"/>
                <a:gd name="T18" fmla="*/ 2147483647 w 186"/>
                <a:gd name="T19" fmla="*/ 2147483647 h 732"/>
                <a:gd name="T20" fmla="*/ 2147483647 w 186"/>
                <a:gd name="T21" fmla="*/ 2147483647 h 732"/>
                <a:gd name="T22" fmla="*/ 2147483647 w 186"/>
                <a:gd name="T23" fmla="*/ 2147483647 h 732"/>
                <a:gd name="T24" fmla="*/ 2147483647 w 186"/>
                <a:gd name="T25" fmla="*/ 2147483647 h 732"/>
                <a:gd name="T26" fmla="*/ 2147483647 w 186"/>
                <a:gd name="T27" fmla="*/ 2147483647 h 732"/>
                <a:gd name="T28" fmla="*/ 0 w 186"/>
                <a:gd name="T29" fmla="*/ 2147483647 h 732"/>
                <a:gd name="T30" fmla="*/ 2147483647 w 186"/>
                <a:gd name="T31" fmla="*/ 2147483647 h 732"/>
                <a:gd name="T32" fmla="*/ 2147483647 w 186"/>
                <a:gd name="T33" fmla="*/ 2147483647 h 732"/>
                <a:gd name="T34" fmla="*/ 2147483647 w 186"/>
                <a:gd name="T35" fmla="*/ 0 h 732"/>
                <a:gd name="T36" fmla="*/ 2147483647 w 186"/>
                <a:gd name="T37" fmla="*/ 2147483647 h 7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86" h="732">
                  <a:moveTo>
                    <a:pt x="186" y="6"/>
                  </a:moveTo>
                  <a:lnTo>
                    <a:pt x="182" y="11"/>
                  </a:lnTo>
                  <a:lnTo>
                    <a:pt x="169" y="29"/>
                  </a:lnTo>
                  <a:lnTo>
                    <a:pt x="153" y="67"/>
                  </a:lnTo>
                  <a:lnTo>
                    <a:pt x="137" y="130"/>
                  </a:lnTo>
                  <a:lnTo>
                    <a:pt x="124" y="221"/>
                  </a:lnTo>
                  <a:lnTo>
                    <a:pt x="117" y="350"/>
                  </a:lnTo>
                  <a:lnTo>
                    <a:pt x="122" y="517"/>
                  </a:lnTo>
                  <a:lnTo>
                    <a:pt x="139" y="732"/>
                  </a:lnTo>
                  <a:lnTo>
                    <a:pt x="34" y="732"/>
                  </a:lnTo>
                  <a:lnTo>
                    <a:pt x="31" y="711"/>
                  </a:lnTo>
                  <a:lnTo>
                    <a:pt x="22" y="651"/>
                  </a:lnTo>
                  <a:lnTo>
                    <a:pt x="12" y="563"/>
                  </a:lnTo>
                  <a:lnTo>
                    <a:pt x="3" y="454"/>
                  </a:lnTo>
                  <a:lnTo>
                    <a:pt x="0" y="335"/>
                  </a:lnTo>
                  <a:lnTo>
                    <a:pt x="6" y="213"/>
                  </a:lnTo>
                  <a:lnTo>
                    <a:pt x="25" y="98"/>
                  </a:lnTo>
                  <a:lnTo>
                    <a:pt x="60" y="0"/>
                  </a:lnTo>
                  <a:lnTo>
                    <a:pt x="186"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4" name="Freeform 147">
              <a:extLst>
                <a:ext uri="{FF2B5EF4-FFF2-40B4-BE49-F238E27FC236}">
                  <a16:creationId xmlns:a16="http://schemas.microsoft.com/office/drawing/2014/main" id="{0F7E6C4B-A743-4BCB-B548-C3180636FD31}"/>
                </a:ext>
              </a:extLst>
            </p:cNvPr>
            <p:cNvSpPr>
              <a:spLocks/>
            </p:cNvSpPr>
            <p:nvPr/>
          </p:nvSpPr>
          <p:spPr bwMode="auto">
            <a:xfrm>
              <a:off x="7073900" y="3660775"/>
              <a:ext cx="76200" cy="306388"/>
            </a:xfrm>
            <a:custGeom>
              <a:avLst/>
              <a:gdLst>
                <a:gd name="T0" fmla="*/ 2147483647 w 158"/>
                <a:gd name="T1" fmla="*/ 2147483647 h 625"/>
                <a:gd name="T2" fmla="*/ 2147483647 w 158"/>
                <a:gd name="T3" fmla="*/ 2147483647 h 625"/>
                <a:gd name="T4" fmla="*/ 2147483647 w 158"/>
                <a:gd name="T5" fmla="*/ 2147483647 h 625"/>
                <a:gd name="T6" fmla="*/ 2147483647 w 158"/>
                <a:gd name="T7" fmla="*/ 2147483647 h 625"/>
                <a:gd name="T8" fmla="*/ 2147483647 w 158"/>
                <a:gd name="T9" fmla="*/ 2147483647 h 625"/>
                <a:gd name="T10" fmla="*/ 2147483647 w 158"/>
                <a:gd name="T11" fmla="*/ 2147483647 h 625"/>
                <a:gd name="T12" fmla="*/ 2147483647 w 158"/>
                <a:gd name="T13" fmla="*/ 2147483647 h 625"/>
                <a:gd name="T14" fmla="*/ 2147483647 w 158"/>
                <a:gd name="T15" fmla="*/ 2147483647 h 625"/>
                <a:gd name="T16" fmla="*/ 2147483647 w 158"/>
                <a:gd name="T17" fmla="*/ 2147483647 h 625"/>
                <a:gd name="T18" fmla="*/ 2147483647 w 158"/>
                <a:gd name="T19" fmla="*/ 2147483647 h 625"/>
                <a:gd name="T20" fmla="*/ 2147483647 w 158"/>
                <a:gd name="T21" fmla="*/ 2147483647 h 625"/>
                <a:gd name="T22" fmla="*/ 2147483647 w 158"/>
                <a:gd name="T23" fmla="*/ 2147483647 h 625"/>
                <a:gd name="T24" fmla="*/ 2147483647 w 158"/>
                <a:gd name="T25" fmla="*/ 2147483647 h 625"/>
                <a:gd name="T26" fmla="*/ 2147483647 w 158"/>
                <a:gd name="T27" fmla="*/ 2147483647 h 625"/>
                <a:gd name="T28" fmla="*/ 0 w 158"/>
                <a:gd name="T29" fmla="*/ 2147483647 h 625"/>
                <a:gd name="T30" fmla="*/ 2147483647 w 158"/>
                <a:gd name="T31" fmla="*/ 2147483647 h 625"/>
                <a:gd name="T32" fmla="*/ 2147483647 w 158"/>
                <a:gd name="T33" fmla="*/ 2147483647 h 625"/>
                <a:gd name="T34" fmla="*/ 2147483647 w 158"/>
                <a:gd name="T35" fmla="*/ 0 h 625"/>
                <a:gd name="T36" fmla="*/ 2147483647 w 158"/>
                <a:gd name="T37" fmla="*/ 2147483647 h 6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58" h="625">
                  <a:moveTo>
                    <a:pt x="158" y="4"/>
                  </a:moveTo>
                  <a:lnTo>
                    <a:pt x="153" y="9"/>
                  </a:lnTo>
                  <a:lnTo>
                    <a:pt x="144" y="25"/>
                  </a:lnTo>
                  <a:lnTo>
                    <a:pt x="130" y="57"/>
                  </a:lnTo>
                  <a:lnTo>
                    <a:pt x="116" y="110"/>
                  </a:lnTo>
                  <a:lnTo>
                    <a:pt x="105" y="189"/>
                  </a:lnTo>
                  <a:lnTo>
                    <a:pt x="100" y="298"/>
                  </a:lnTo>
                  <a:lnTo>
                    <a:pt x="103" y="441"/>
                  </a:lnTo>
                  <a:lnTo>
                    <a:pt x="118" y="625"/>
                  </a:lnTo>
                  <a:lnTo>
                    <a:pt x="29" y="625"/>
                  </a:lnTo>
                  <a:lnTo>
                    <a:pt x="25" y="607"/>
                  </a:lnTo>
                  <a:lnTo>
                    <a:pt x="18" y="556"/>
                  </a:lnTo>
                  <a:lnTo>
                    <a:pt x="9" y="480"/>
                  </a:lnTo>
                  <a:lnTo>
                    <a:pt x="2" y="387"/>
                  </a:lnTo>
                  <a:lnTo>
                    <a:pt x="0" y="286"/>
                  </a:lnTo>
                  <a:lnTo>
                    <a:pt x="5" y="182"/>
                  </a:lnTo>
                  <a:lnTo>
                    <a:pt x="21" y="84"/>
                  </a:lnTo>
                  <a:lnTo>
                    <a:pt x="51" y="0"/>
                  </a:lnTo>
                  <a:lnTo>
                    <a:pt x="158"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5" name="Freeform 148">
              <a:extLst>
                <a:ext uri="{FF2B5EF4-FFF2-40B4-BE49-F238E27FC236}">
                  <a16:creationId xmlns:a16="http://schemas.microsoft.com/office/drawing/2014/main" id="{6D9C5900-C7DB-46F3-BA53-5661D2F46645}"/>
                </a:ext>
              </a:extLst>
            </p:cNvPr>
            <p:cNvSpPr>
              <a:spLocks/>
            </p:cNvSpPr>
            <p:nvPr/>
          </p:nvSpPr>
          <p:spPr bwMode="auto">
            <a:xfrm>
              <a:off x="7077075" y="3686175"/>
              <a:ext cx="63500" cy="252413"/>
            </a:xfrm>
            <a:custGeom>
              <a:avLst/>
              <a:gdLst>
                <a:gd name="T0" fmla="*/ 2147483647 w 131"/>
                <a:gd name="T1" fmla="*/ 2147483647 h 517"/>
                <a:gd name="T2" fmla="*/ 2147483647 w 131"/>
                <a:gd name="T3" fmla="*/ 2147483647 h 517"/>
                <a:gd name="T4" fmla="*/ 2147483647 w 131"/>
                <a:gd name="T5" fmla="*/ 2147483647 h 517"/>
                <a:gd name="T6" fmla="*/ 2147483647 w 131"/>
                <a:gd name="T7" fmla="*/ 2147483647 h 517"/>
                <a:gd name="T8" fmla="*/ 2147483647 w 131"/>
                <a:gd name="T9" fmla="*/ 2147483647 h 517"/>
                <a:gd name="T10" fmla="*/ 2147483647 w 131"/>
                <a:gd name="T11" fmla="*/ 2147483647 h 517"/>
                <a:gd name="T12" fmla="*/ 2147483647 w 131"/>
                <a:gd name="T13" fmla="*/ 2147483647 h 517"/>
                <a:gd name="T14" fmla="*/ 2147483647 w 131"/>
                <a:gd name="T15" fmla="*/ 2147483647 h 517"/>
                <a:gd name="T16" fmla="*/ 2147483647 w 131"/>
                <a:gd name="T17" fmla="*/ 2147483647 h 517"/>
                <a:gd name="T18" fmla="*/ 2147483647 w 131"/>
                <a:gd name="T19" fmla="*/ 2147483647 h 517"/>
                <a:gd name="T20" fmla="*/ 2147483647 w 131"/>
                <a:gd name="T21" fmla="*/ 2147483647 h 517"/>
                <a:gd name="T22" fmla="*/ 2147483647 w 131"/>
                <a:gd name="T23" fmla="*/ 2147483647 h 517"/>
                <a:gd name="T24" fmla="*/ 2147483647 w 131"/>
                <a:gd name="T25" fmla="*/ 2147483647 h 517"/>
                <a:gd name="T26" fmla="*/ 2147483647 w 131"/>
                <a:gd name="T27" fmla="*/ 2147483647 h 517"/>
                <a:gd name="T28" fmla="*/ 0 w 131"/>
                <a:gd name="T29" fmla="*/ 2147483647 h 517"/>
                <a:gd name="T30" fmla="*/ 2147483647 w 131"/>
                <a:gd name="T31" fmla="*/ 2147483647 h 517"/>
                <a:gd name="T32" fmla="*/ 2147483647 w 131"/>
                <a:gd name="T33" fmla="*/ 2147483647 h 517"/>
                <a:gd name="T34" fmla="*/ 2147483647 w 131"/>
                <a:gd name="T35" fmla="*/ 0 h 517"/>
                <a:gd name="T36" fmla="*/ 2147483647 w 131"/>
                <a:gd name="T37" fmla="*/ 2147483647 h 5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1" h="517">
                  <a:moveTo>
                    <a:pt x="131" y="4"/>
                  </a:moveTo>
                  <a:lnTo>
                    <a:pt x="128" y="7"/>
                  </a:lnTo>
                  <a:lnTo>
                    <a:pt x="119" y="21"/>
                  </a:lnTo>
                  <a:lnTo>
                    <a:pt x="109" y="47"/>
                  </a:lnTo>
                  <a:lnTo>
                    <a:pt x="97" y="91"/>
                  </a:lnTo>
                  <a:lnTo>
                    <a:pt x="88" y="156"/>
                  </a:lnTo>
                  <a:lnTo>
                    <a:pt x="84" y="247"/>
                  </a:lnTo>
                  <a:lnTo>
                    <a:pt x="86" y="366"/>
                  </a:lnTo>
                  <a:lnTo>
                    <a:pt x="99" y="517"/>
                  </a:lnTo>
                  <a:lnTo>
                    <a:pt x="25" y="517"/>
                  </a:lnTo>
                  <a:lnTo>
                    <a:pt x="23" y="502"/>
                  </a:lnTo>
                  <a:lnTo>
                    <a:pt x="16" y="460"/>
                  </a:lnTo>
                  <a:lnTo>
                    <a:pt x="9" y="397"/>
                  </a:lnTo>
                  <a:lnTo>
                    <a:pt x="2" y="320"/>
                  </a:lnTo>
                  <a:lnTo>
                    <a:pt x="0" y="236"/>
                  </a:lnTo>
                  <a:lnTo>
                    <a:pt x="4" y="151"/>
                  </a:lnTo>
                  <a:lnTo>
                    <a:pt x="18" y="70"/>
                  </a:lnTo>
                  <a:lnTo>
                    <a:pt x="43" y="0"/>
                  </a:lnTo>
                  <a:lnTo>
                    <a:pt x="131"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6" name="Freeform 149">
              <a:extLst>
                <a:ext uri="{FF2B5EF4-FFF2-40B4-BE49-F238E27FC236}">
                  <a16:creationId xmlns:a16="http://schemas.microsoft.com/office/drawing/2014/main" id="{88F880B7-DAE8-4AFE-B240-034076D9C532}"/>
                </a:ext>
              </a:extLst>
            </p:cNvPr>
            <p:cNvSpPr>
              <a:spLocks/>
            </p:cNvSpPr>
            <p:nvPr/>
          </p:nvSpPr>
          <p:spPr bwMode="auto">
            <a:xfrm>
              <a:off x="7080250" y="3709988"/>
              <a:ext cx="50800" cy="201612"/>
            </a:xfrm>
            <a:custGeom>
              <a:avLst/>
              <a:gdLst>
                <a:gd name="T0" fmla="*/ 2147483647 w 104"/>
                <a:gd name="T1" fmla="*/ 2147483647 h 411"/>
                <a:gd name="T2" fmla="*/ 2147483647 w 104"/>
                <a:gd name="T3" fmla="*/ 2147483647 h 411"/>
                <a:gd name="T4" fmla="*/ 2147483647 w 104"/>
                <a:gd name="T5" fmla="*/ 2147483647 h 411"/>
                <a:gd name="T6" fmla="*/ 2147483647 w 104"/>
                <a:gd name="T7" fmla="*/ 2147483647 h 411"/>
                <a:gd name="T8" fmla="*/ 2147483647 w 104"/>
                <a:gd name="T9" fmla="*/ 2147483647 h 411"/>
                <a:gd name="T10" fmla="*/ 2147483647 w 104"/>
                <a:gd name="T11" fmla="*/ 2147483647 h 411"/>
                <a:gd name="T12" fmla="*/ 2147483647 w 104"/>
                <a:gd name="T13" fmla="*/ 2147483647 h 411"/>
                <a:gd name="T14" fmla="*/ 2147483647 w 104"/>
                <a:gd name="T15" fmla="*/ 2147483647 h 411"/>
                <a:gd name="T16" fmla="*/ 2147483647 w 104"/>
                <a:gd name="T17" fmla="*/ 2147483647 h 411"/>
                <a:gd name="T18" fmla="*/ 2147483647 w 104"/>
                <a:gd name="T19" fmla="*/ 2147483647 h 411"/>
                <a:gd name="T20" fmla="*/ 2147483647 w 104"/>
                <a:gd name="T21" fmla="*/ 2147483647 h 411"/>
                <a:gd name="T22" fmla="*/ 2147483647 w 104"/>
                <a:gd name="T23" fmla="*/ 2147483647 h 411"/>
                <a:gd name="T24" fmla="*/ 2147483647 w 104"/>
                <a:gd name="T25" fmla="*/ 2147483647 h 411"/>
                <a:gd name="T26" fmla="*/ 2147483647 w 104"/>
                <a:gd name="T27" fmla="*/ 2147483647 h 411"/>
                <a:gd name="T28" fmla="*/ 0 w 104"/>
                <a:gd name="T29" fmla="*/ 2147483647 h 411"/>
                <a:gd name="T30" fmla="*/ 2147483647 w 104"/>
                <a:gd name="T31" fmla="*/ 2147483647 h 411"/>
                <a:gd name="T32" fmla="*/ 2147483647 w 104"/>
                <a:gd name="T33" fmla="*/ 2147483647 h 411"/>
                <a:gd name="T34" fmla="*/ 2147483647 w 104"/>
                <a:gd name="T35" fmla="*/ 0 h 411"/>
                <a:gd name="T36" fmla="*/ 2147483647 w 104"/>
                <a:gd name="T37" fmla="*/ 2147483647 h 4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4" h="411">
                  <a:moveTo>
                    <a:pt x="104" y="4"/>
                  </a:moveTo>
                  <a:lnTo>
                    <a:pt x="101" y="7"/>
                  </a:lnTo>
                  <a:lnTo>
                    <a:pt x="94" y="17"/>
                  </a:lnTo>
                  <a:lnTo>
                    <a:pt x="86" y="38"/>
                  </a:lnTo>
                  <a:lnTo>
                    <a:pt x="76" y="73"/>
                  </a:lnTo>
                  <a:lnTo>
                    <a:pt x="69" y="125"/>
                  </a:lnTo>
                  <a:lnTo>
                    <a:pt x="65" y="196"/>
                  </a:lnTo>
                  <a:lnTo>
                    <a:pt x="67" y="291"/>
                  </a:lnTo>
                  <a:lnTo>
                    <a:pt x="77" y="411"/>
                  </a:lnTo>
                  <a:lnTo>
                    <a:pt x="19" y="411"/>
                  </a:lnTo>
                  <a:lnTo>
                    <a:pt x="17" y="399"/>
                  </a:lnTo>
                  <a:lnTo>
                    <a:pt x="11" y="365"/>
                  </a:lnTo>
                  <a:lnTo>
                    <a:pt x="6" y="316"/>
                  </a:lnTo>
                  <a:lnTo>
                    <a:pt x="2" y="255"/>
                  </a:lnTo>
                  <a:lnTo>
                    <a:pt x="0" y="188"/>
                  </a:lnTo>
                  <a:lnTo>
                    <a:pt x="4" y="120"/>
                  </a:lnTo>
                  <a:lnTo>
                    <a:pt x="15" y="55"/>
                  </a:lnTo>
                  <a:lnTo>
                    <a:pt x="34" y="0"/>
                  </a:lnTo>
                  <a:lnTo>
                    <a:pt x="104"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7" name="Freeform 150">
              <a:extLst>
                <a:ext uri="{FF2B5EF4-FFF2-40B4-BE49-F238E27FC236}">
                  <a16:creationId xmlns:a16="http://schemas.microsoft.com/office/drawing/2014/main" id="{C54086CC-D276-4BEA-BEB3-F8D611D6B2A9}"/>
                </a:ext>
              </a:extLst>
            </p:cNvPr>
            <p:cNvSpPr>
              <a:spLocks/>
            </p:cNvSpPr>
            <p:nvPr/>
          </p:nvSpPr>
          <p:spPr bwMode="auto">
            <a:xfrm>
              <a:off x="7085013" y="3735388"/>
              <a:ext cx="36512" cy="147637"/>
            </a:xfrm>
            <a:custGeom>
              <a:avLst/>
              <a:gdLst>
                <a:gd name="T0" fmla="*/ 2147483647 w 76"/>
                <a:gd name="T1" fmla="*/ 2147483647 h 302"/>
                <a:gd name="T2" fmla="*/ 2147483647 w 76"/>
                <a:gd name="T3" fmla="*/ 2147483647 h 302"/>
                <a:gd name="T4" fmla="*/ 2147483647 w 76"/>
                <a:gd name="T5" fmla="*/ 2147483647 h 302"/>
                <a:gd name="T6" fmla="*/ 2147483647 w 76"/>
                <a:gd name="T7" fmla="*/ 2147483647 h 302"/>
                <a:gd name="T8" fmla="*/ 2147483647 w 76"/>
                <a:gd name="T9" fmla="*/ 2147483647 h 302"/>
                <a:gd name="T10" fmla="*/ 2147483647 w 76"/>
                <a:gd name="T11" fmla="*/ 2147483647 h 302"/>
                <a:gd name="T12" fmla="*/ 2147483647 w 76"/>
                <a:gd name="T13" fmla="*/ 2147483647 h 302"/>
                <a:gd name="T14" fmla="*/ 2147483647 w 76"/>
                <a:gd name="T15" fmla="*/ 2147483647 h 302"/>
                <a:gd name="T16" fmla="*/ 2147483647 w 76"/>
                <a:gd name="T17" fmla="*/ 2147483647 h 302"/>
                <a:gd name="T18" fmla="*/ 2147483647 w 76"/>
                <a:gd name="T19" fmla="*/ 2147483647 h 302"/>
                <a:gd name="T20" fmla="*/ 2147483647 w 76"/>
                <a:gd name="T21" fmla="*/ 2147483647 h 302"/>
                <a:gd name="T22" fmla="*/ 2147483647 w 76"/>
                <a:gd name="T23" fmla="*/ 2147483647 h 302"/>
                <a:gd name="T24" fmla="*/ 2147483647 w 76"/>
                <a:gd name="T25" fmla="*/ 2147483647 h 302"/>
                <a:gd name="T26" fmla="*/ 2147483647 w 76"/>
                <a:gd name="T27" fmla="*/ 2147483647 h 302"/>
                <a:gd name="T28" fmla="*/ 0 w 76"/>
                <a:gd name="T29" fmla="*/ 2147483647 h 302"/>
                <a:gd name="T30" fmla="*/ 2147483647 w 76"/>
                <a:gd name="T31" fmla="*/ 2147483647 h 302"/>
                <a:gd name="T32" fmla="*/ 2147483647 w 76"/>
                <a:gd name="T33" fmla="*/ 2147483647 h 302"/>
                <a:gd name="T34" fmla="*/ 2147483647 w 76"/>
                <a:gd name="T35" fmla="*/ 0 h 302"/>
                <a:gd name="T36" fmla="*/ 2147483647 w 76"/>
                <a:gd name="T37" fmla="*/ 2147483647 h 3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6" h="302">
                  <a:moveTo>
                    <a:pt x="76" y="2"/>
                  </a:moveTo>
                  <a:lnTo>
                    <a:pt x="74" y="4"/>
                  </a:lnTo>
                  <a:lnTo>
                    <a:pt x="70" y="12"/>
                  </a:lnTo>
                  <a:lnTo>
                    <a:pt x="62" y="28"/>
                  </a:lnTo>
                  <a:lnTo>
                    <a:pt x="56" y="53"/>
                  </a:lnTo>
                  <a:lnTo>
                    <a:pt x="51" y="92"/>
                  </a:lnTo>
                  <a:lnTo>
                    <a:pt x="49" y="145"/>
                  </a:lnTo>
                  <a:lnTo>
                    <a:pt x="50" y="214"/>
                  </a:lnTo>
                  <a:lnTo>
                    <a:pt x="57" y="302"/>
                  </a:lnTo>
                  <a:lnTo>
                    <a:pt x="14" y="302"/>
                  </a:lnTo>
                  <a:lnTo>
                    <a:pt x="13" y="294"/>
                  </a:lnTo>
                  <a:lnTo>
                    <a:pt x="9" y="269"/>
                  </a:lnTo>
                  <a:lnTo>
                    <a:pt x="4" y="232"/>
                  </a:lnTo>
                  <a:lnTo>
                    <a:pt x="1" y="188"/>
                  </a:lnTo>
                  <a:lnTo>
                    <a:pt x="0" y="138"/>
                  </a:lnTo>
                  <a:lnTo>
                    <a:pt x="2" y="89"/>
                  </a:lnTo>
                  <a:lnTo>
                    <a:pt x="10" y="41"/>
                  </a:lnTo>
                  <a:lnTo>
                    <a:pt x="25" y="0"/>
                  </a:lnTo>
                  <a:lnTo>
                    <a:pt x="76"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88" name="Rectangle 151">
              <a:extLst>
                <a:ext uri="{FF2B5EF4-FFF2-40B4-BE49-F238E27FC236}">
                  <a16:creationId xmlns:a16="http://schemas.microsoft.com/office/drawing/2014/main" id="{974D4120-93D5-4B7B-819F-CC6409816D75}"/>
                </a:ext>
              </a:extLst>
            </p:cNvPr>
            <p:cNvSpPr>
              <a:spLocks noChangeArrowheads="1"/>
            </p:cNvSpPr>
            <p:nvPr/>
          </p:nvSpPr>
          <p:spPr bwMode="auto">
            <a:xfrm>
              <a:off x="6599238" y="3698875"/>
              <a:ext cx="11112" cy="4699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689" name="Freeform 152">
              <a:extLst>
                <a:ext uri="{FF2B5EF4-FFF2-40B4-BE49-F238E27FC236}">
                  <a16:creationId xmlns:a16="http://schemas.microsoft.com/office/drawing/2014/main" id="{E94051AE-5458-4367-8320-471CD0B8D3E9}"/>
                </a:ext>
              </a:extLst>
            </p:cNvPr>
            <p:cNvSpPr>
              <a:spLocks/>
            </p:cNvSpPr>
            <p:nvPr/>
          </p:nvSpPr>
          <p:spPr bwMode="auto">
            <a:xfrm>
              <a:off x="6764338" y="3692525"/>
              <a:ext cx="180975" cy="214313"/>
            </a:xfrm>
            <a:custGeom>
              <a:avLst/>
              <a:gdLst>
                <a:gd name="T0" fmla="*/ 2147483647 w 375"/>
                <a:gd name="T1" fmla="*/ 2147483647 h 440"/>
                <a:gd name="T2" fmla="*/ 2147483647 w 375"/>
                <a:gd name="T3" fmla="*/ 2147483647 h 440"/>
                <a:gd name="T4" fmla="*/ 2147483647 w 375"/>
                <a:gd name="T5" fmla="*/ 2147483647 h 440"/>
                <a:gd name="T6" fmla="*/ 2147483647 w 375"/>
                <a:gd name="T7" fmla="*/ 2147483647 h 440"/>
                <a:gd name="T8" fmla="*/ 2147483647 w 375"/>
                <a:gd name="T9" fmla="*/ 2147483647 h 440"/>
                <a:gd name="T10" fmla="*/ 2147483647 w 375"/>
                <a:gd name="T11" fmla="*/ 2147483647 h 440"/>
                <a:gd name="T12" fmla="*/ 0 w 375"/>
                <a:gd name="T13" fmla="*/ 2147483647 h 440"/>
                <a:gd name="T14" fmla="*/ 2147483647 w 375"/>
                <a:gd name="T15" fmla="*/ 2147483647 h 440"/>
                <a:gd name="T16" fmla="*/ 2147483647 w 375"/>
                <a:gd name="T17" fmla="*/ 2147483647 h 440"/>
                <a:gd name="T18" fmla="*/ 2147483647 w 375"/>
                <a:gd name="T19" fmla="*/ 2147483647 h 440"/>
                <a:gd name="T20" fmla="*/ 2147483647 w 375"/>
                <a:gd name="T21" fmla="*/ 2147483647 h 440"/>
                <a:gd name="T22" fmla="*/ 2147483647 w 375"/>
                <a:gd name="T23" fmla="*/ 2147483647 h 440"/>
                <a:gd name="T24" fmla="*/ 2147483647 w 375"/>
                <a:gd name="T25" fmla="*/ 2147483647 h 440"/>
                <a:gd name="T26" fmla="*/ 2147483647 w 375"/>
                <a:gd name="T27" fmla="*/ 2147483647 h 440"/>
                <a:gd name="T28" fmla="*/ 2147483647 w 375"/>
                <a:gd name="T29" fmla="*/ 2147483647 h 440"/>
                <a:gd name="T30" fmla="*/ 2147483647 w 375"/>
                <a:gd name="T31" fmla="*/ 2147483647 h 440"/>
                <a:gd name="T32" fmla="*/ 2147483647 w 375"/>
                <a:gd name="T33" fmla="*/ 2147483647 h 440"/>
                <a:gd name="T34" fmla="*/ 2147483647 w 375"/>
                <a:gd name="T35" fmla="*/ 2147483647 h 440"/>
                <a:gd name="T36" fmla="*/ 2147483647 w 375"/>
                <a:gd name="T37" fmla="*/ 2147483647 h 440"/>
                <a:gd name="T38" fmla="*/ 2147483647 w 375"/>
                <a:gd name="T39" fmla="*/ 2147483647 h 440"/>
                <a:gd name="T40" fmla="*/ 2147483647 w 375"/>
                <a:gd name="T41" fmla="*/ 2147483647 h 440"/>
                <a:gd name="T42" fmla="*/ 2147483647 w 375"/>
                <a:gd name="T43" fmla="*/ 2147483647 h 440"/>
                <a:gd name="T44" fmla="*/ 2147483647 w 375"/>
                <a:gd name="T45" fmla="*/ 2147483647 h 440"/>
                <a:gd name="T46" fmla="*/ 2147483647 w 375"/>
                <a:gd name="T47" fmla="*/ 2147483647 h 440"/>
                <a:gd name="T48" fmla="*/ 2147483647 w 375"/>
                <a:gd name="T49" fmla="*/ 2147483647 h 440"/>
                <a:gd name="T50" fmla="*/ 2147483647 w 375"/>
                <a:gd name="T51" fmla="*/ 2147483647 h 440"/>
                <a:gd name="T52" fmla="*/ 2147483647 w 375"/>
                <a:gd name="T53" fmla="*/ 2147483647 h 440"/>
                <a:gd name="T54" fmla="*/ 2147483647 w 375"/>
                <a:gd name="T55" fmla="*/ 2147483647 h 440"/>
                <a:gd name="T56" fmla="*/ 2147483647 w 375"/>
                <a:gd name="T57" fmla="*/ 2147483647 h 440"/>
                <a:gd name="T58" fmla="*/ 2147483647 w 375"/>
                <a:gd name="T59" fmla="*/ 2147483647 h 440"/>
                <a:gd name="T60" fmla="*/ 2147483647 w 375"/>
                <a:gd name="T61" fmla="*/ 2147483647 h 440"/>
                <a:gd name="T62" fmla="*/ 2147483647 w 375"/>
                <a:gd name="T63" fmla="*/ 2147483647 h 440"/>
                <a:gd name="T64" fmla="*/ 2147483647 w 375"/>
                <a:gd name="T65" fmla="*/ 2147483647 h 440"/>
                <a:gd name="T66" fmla="*/ 2147483647 w 375"/>
                <a:gd name="T67" fmla="*/ 2147483647 h 440"/>
                <a:gd name="T68" fmla="*/ 2147483647 w 375"/>
                <a:gd name="T69" fmla="*/ 2147483647 h 440"/>
                <a:gd name="T70" fmla="*/ 2147483647 w 375"/>
                <a:gd name="T71" fmla="*/ 2147483647 h 440"/>
                <a:gd name="T72" fmla="*/ 2147483647 w 375"/>
                <a:gd name="T73" fmla="*/ 2147483647 h 440"/>
                <a:gd name="T74" fmla="*/ 2147483647 w 375"/>
                <a:gd name="T75" fmla="*/ 2147483647 h 440"/>
                <a:gd name="T76" fmla="*/ 2147483647 w 375"/>
                <a:gd name="T77" fmla="*/ 2147483647 h 440"/>
                <a:gd name="T78" fmla="*/ 2147483647 w 375"/>
                <a:gd name="T79" fmla="*/ 2147483647 h 440"/>
                <a:gd name="T80" fmla="*/ 2147483647 w 375"/>
                <a:gd name="T81" fmla="*/ 2147483647 h 440"/>
                <a:gd name="T82" fmla="*/ 2147483647 w 375"/>
                <a:gd name="T83" fmla="*/ 0 h 440"/>
                <a:gd name="T84" fmla="*/ 2147483647 w 375"/>
                <a:gd name="T85" fmla="*/ 2147483647 h 440"/>
                <a:gd name="T86" fmla="*/ 2147483647 w 375"/>
                <a:gd name="T87" fmla="*/ 2147483647 h 440"/>
                <a:gd name="T88" fmla="*/ 2147483647 w 375"/>
                <a:gd name="T89" fmla="*/ 2147483647 h 440"/>
                <a:gd name="T90" fmla="*/ 2147483647 w 375"/>
                <a:gd name="T91" fmla="*/ 2147483647 h 440"/>
                <a:gd name="T92" fmla="*/ 2147483647 w 375"/>
                <a:gd name="T93" fmla="*/ 2147483647 h 440"/>
                <a:gd name="T94" fmla="*/ 2147483647 w 375"/>
                <a:gd name="T95" fmla="*/ 2147483647 h 440"/>
                <a:gd name="T96" fmla="*/ 2147483647 w 375"/>
                <a:gd name="T97" fmla="*/ 2147483647 h 4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75" h="440">
                  <a:moveTo>
                    <a:pt x="35" y="41"/>
                  </a:moveTo>
                  <a:lnTo>
                    <a:pt x="32" y="49"/>
                  </a:lnTo>
                  <a:lnTo>
                    <a:pt x="25" y="74"/>
                  </a:lnTo>
                  <a:lnTo>
                    <a:pt x="17" y="112"/>
                  </a:lnTo>
                  <a:lnTo>
                    <a:pt x="8" y="163"/>
                  </a:lnTo>
                  <a:lnTo>
                    <a:pt x="2" y="223"/>
                  </a:lnTo>
                  <a:lnTo>
                    <a:pt x="0" y="290"/>
                  </a:lnTo>
                  <a:lnTo>
                    <a:pt x="7" y="363"/>
                  </a:lnTo>
                  <a:lnTo>
                    <a:pt x="23" y="440"/>
                  </a:lnTo>
                  <a:lnTo>
                    <a:pt x="23" y="437"/>
                  </a:lnTo>
                  <a:lnTo>
                    <a:pt x="23" y="427"/>
                  </a:lnTo>
                  <a:lnTo>
                    <a:pt x="23" y="411"/>
                  </a:lnTo>
                  <a:lnTo>
                    <a:pt x="23" y="391"/>
                  </a:lnTo>
                  <a:lnTo>
                    <a:pt x="25" y="367"/>
                  </a:lnTo>
                  <a:lnTo>
                    <a:pt x="28" y="341"/>
                  </a:lnTo>
                  <a:lnTo>
                    <a:pt x="33" y="312"/>
                  </a:lnTo>
                  <a:lnTo>
                    <a:pt x="39" y="281"/>
                  </a:lnTo>
                  <a:lnTo>
                    <a:pt x="49" y="251"/>
                  </a:lnTo>
                  <a:lnTo>
                    <a:pt x="61" y="222"/>
                  </a:lnTo>
                  <a:lnTo>
                    <a:pt x="75" y="194"/>
                  </a:lnTo>
                  <a:lnTo>
                    <a:pt x="93" y="168"/>
                  </a:lnTo>
                  <a:lnTo>
                    <a:pt x="116" y="145"/>
                  </a:lnTo>
                  <a:lnTo>
                    <a:pt x="141" y="127"/>
                  </a:lnTo>
                  <a:lnTo>
                    <a:pt x="173" y="114"/>
                  </a:lnTo>
                  <a:lnTo>
                    <a:pt x="208" y="106"/>
                  </a:lnTo>
                  <a:lnTo>
                    <a:pt x="210" y="104"/>
                  </a:lnTo>
                  <a:lnTo>
                    <a:pt x="217" y="100"/>
                  </a:lnTo>
                  <a:lnTo>
                    <a:pt x="227" y="92"/>
                  </a:lnTo>
                  <a:lnTo>
                    <a:pt x="245" y="82"/>
                  </a:lnTo>
                  <a:lnTo>
                    <a:pt x="267" y="69"/>
                  </a:lnTo>
                  <a:lnTo>
                    <a:pt x="296" y="54"/>
                  </a:lnTo>
                  <a:lnTo>
                    <a:pt x="332" y="36"/>
                  </a:lnTo>
                  <a:lnTo>
                    <a:pt x="375" y="17"/>
                  </a:lnTo>
                  <a:lnTo>
                    <a:pt x="373" y="16"/>
                  </a:lnTo>
                  <a:lnTo>
                    <a:pt x="366" y="15"/>
                  </a:lnTo>
                  <a:lnTo>
                    <a:pt x="357" y="13"/>
                  </a:lnTo>
                  <a:lnTo>
                    <a:pt x="343" y="10"/>
                  </a:lnTo>
                  <a:lnTo>
                    <a:pt x="326" y="7"/>
                  </a:lnTo>
                  <a:lnTo>
                    <a:pt x="307" y="5"/>
                  </a:lnTo>
                  <a:lnTo>
                    <a:pt x="285" y="3"/>
                  </a:lnTo>
                  <a:lnTo>
                    <a:pt x="261" y="1"/>
                  </a:lnTo>
                  <a:lnTo>
                    <a:pt x="235" y="0"/>
                  </a:lnTo>
                  <a:lnTo>
                    <a:pt x="208" y="1"/>
                  </a:lnTo>
                  <a:lnTo>
                    <a:pt x="180" y="2"/>
                  </a:lnTo>
                  <a:lnTo>
                    <a:pt x="151" y="5"/>
                  </a:lnTo>
                  <a:lnTo>
                    <a:pt x="122" y="10"/>
                  </a:lnTo>
                  <a:lnTo>
                    <a:pt x="92" y="18"/>
                  </a:lnTo>
                  <a:lnTo>
                    <a:pt x="63" y="28"/>
                  </a:lnTo>
                  <a:lnTo>
                    <a:pt x="35" y="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0" name="Freeform 153">
              <a:extLst>
                <a:ext uri="{FF2B5EF4-FFF2-40B4-BE49-F238E27FC236}">
                  <a16:creationId xmlns:a16="http://schemas.microsoft.com/office/drawing/2014/main" id="{C489F4F0-5F46-4E85-A285-C5907AE5B0E6}"/>
                </a:ext>
              </a:extLst>
            </p:cNvPr>
            <p:cNvSpPr>
              <a:spLocks/>
            </p:cNvSpPr>
            <p:nvPr/>
          </p:nvSpPr>
          <p:spPr bwMode="auto">
            <a:xfrm>
              <a:off x="6511925" y="3852863"/>
              <a:ext cx="149225" cy="39687"/>
            </a:xfrm>
            <a:custGeom>
              <a:avLst/>
              <a:gdLst>
                <a:gd name="T0" fmla="*/ 0 w 305"/>
                <a:gd name="T1" fmla="*/ 2147483647 h 83"/>
                <a:gd name="T2" fmla="*/ 0 w 305"/>
                <a:gd name="T3" fmla="*/ 2147483647 h 83"/>
                <a:gd name="T4" fmla="*/ 2147483647 w 305"/>
                <a:gd name="T5" fmla="*/ 2147483647 h 83"/>
                <a:gd name="T6" fmla="*/ 2147483647 w 305"/>
                <a:gd name="T7" fmla="*/ 2147483647 h 83"/>
                <a:gd name="T8" fmla="*/ 2147483647 w 305"/>
                <a:gd name="T9" fmla="*/ 2147483647 h 83"/>
                <a:gd name="T10" fmla="*/ 2147483647 w 305"/>
                <a:gd name="T11" fmla="*/ 2147483647 h 83"/>
                <a:gd name="T12" fmla="*/ 2147483647 w 305"/>
                <a:gd name="T13" fmla="*/ 2147483647 h 83"/>
                <a:gd name="T14" fmla="*/ 2147483647 w 305"/>
                <a:gd name="T15" fmla="*/ 2147483647 h 83"/>
                <a:gd name="T16" fmla="*/ 2147483647 w 305"/>
                <a:gd name="T17" fmla="*/ 2147483647 h 83"/>
                <a:gd name="T18" fmla="*/ 2147483647 w 305"/>
                <a:gd name="T19" fmla="*/ 2147483647 h 83"/>
                <a:gd name="T20" fmla="*/ 2147483647 w 305"/>
                <a:gd name="T21" fmla="*/ 2147483647 h 83"/>
                <a:gd name="T22" fmla="*/ 2147483647 w 305"/>
                <a:gd name="T23" fmla="*/ 0 h 83"/>
                <a:gd name="T24" fmla="*/ 2147483647 w 305"/>
                <a:gd name="T25" fmla="*/ 0 h 83"/>
                <a:gd name="T26" fmla="*/ 2147483647 w 305"/>
                <a:gd name="T27" fmla="*/ 2147483647 h 83"/>
                <a:gd name="T28" fmla="*/ 2147483647 w 305"/>
                <a:gd name="T29" fmla="*/ 2147483647 h 83"/>
                <a:gd name="T30" fmla="*/ 2147483647 w 305"/>
                <a:gd name="T31" fmla="*/ 2147483647 h 83"/>
                <a:gd name="T32" fmla="*/ 2147483647 w 305"/>
                <a:gd name="T33" fmla="*/ 2147483647 h 83"/>
                <a:gd name="T34" fmla="*/ 2147483647 w 305"/>
                <a:gd name="T35" fmla="*/ 2147483647 h 83"/>
                <a:gd name="T36" fmla="*/ 2147483647 w 305"/>
                <a:gd name="T37" fmla="*/ 2147483647 h 83"/>
                <a:gd name="T38" fmla="*/ 2147483647 w 305"/>
                <a:gd name="T39" fmla="*/ 2147483647 h 83"/>
                <a:gd name="T40" fmla="*/ 2147483647 w 305"/>
                <a:gd name="T41" fmla="*/ 2147483647 h 83"/>
                <a:gd name="T42" fmla="*/ 2147483647 w 305"/>
                <a:gd name="T43" fmla="*/ 2147483647 h 83"/>
                <a:gd name="T44" fmla="*/ 2147483647 w 305"/>
                <a:gd name="T45" fmla="*/ 2147483647 h 83"/>
                <a:gd name="T46" fmla="*/ 2147483647 w 305"/>
                <a:gd name="T47" fmla="*/ 2147483647 h 83"/>
                <a:gd name="T48" fmla="*/ 2147483647 w 305"/>
                <a:gd name="T49" fmla="*/ 2147483647 h 83"/>
                <a:gd name="T50" fmla="*/ 2147483647 w 305"/>
                <a:gd name="T51" fmla="*/ 2147483647 h 83"/>
                <a:gd name="T52" fmla="*/ 2147483647 w 305"/>
                <a:gd name="T53" fmla="*/ 2147483647 h 83"/>
                <a:gd name="T54" fmla="*/ 2147483647 w 305"/>
                <a:gd name="T55" fmla="*/ 2147483647 h 83"/>
                <a:gd name="T56" fmla="*/ 2147483647 w 305"/>
                <a:gd name="T57" fmla="*/ 2147483647 h 83"/>
                <a:gd name="T58" fmla="*/ 2147483647 w 305"/>
                <a:gd name="T59" fmla="*/ 2147483647 h 83"/>
                <a:gd name="T60" fmla="*/ 2147483647 w 305"/>
                <a:gd name="T61" fmla="*/ 2147483647 h 83"/>
                <a:gd name="T62" fmla="*/ 2147483647 w 305"/>
                <a:gd name="T63" fmla="*/ 2147483647 h 83"/>
                <a:gd name="T64" fmla="*/ 2147483647 w 305"/>
                <a:gd name="T65" fmla="*/ 2147483647 h 83"/>
                <a:gd name="T66" fmla="*/ 0 w 305"/>
                <a:gd name="T67" fmla="*/ 2147483647 h 83"/>
                <a:gd name="T68" fmla="*/ 0 w 305"/>
                <a:gd name="T69" fmla="*/ 2147483647 h 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05" h="83">
                  <a:moveTo>
                    <a:pt x="0" y="53"/>
                  </a:moveTo>
                  <a:lnTo>
                    <a:pt x="0" y="52"/>
                  </a:lnTo>
                  <a:lnTo>
                    <a:pt x="2" y="48"/>
                  </a:lnTo>
                  <a:lnTo>
                    <a:pt x="5" y="44"/>
                  </a:lnTo>
                  <a:lnTo>
                    <a:pt x="11" y="37"/>
                  </a:lnTo>
                  <a:lnTo>
                    <a:pt x="18" y="31"/>
                  </a:lnTo>
                  <a:lnTo>
                    <a:pt x="27" y="25"/>
                  </a:lnTo>
                  <a:lnTo>
                    <a:pt x="39" y="18"/>
                  </a:lnTo>
                  <a:lnTo>
                    <a:pt x="54" y="12"/>
                  </a:lnTo>
                  <a:lnTo>
                    <a:pt x="72" y="6"/>
                  </a:lnTo>
                  <a:lnTo>
                    <a:pt x="92" y="2"/>
                  </a:lnTo>
                  <a:lnTo>
                    <a:pt x="118" y="0"/>
                  </a:lnTo>
                  <a:lnTo>
                    <a:pt x="146" y="0"/>
                  </a:lnTo>
                  <a:lnTo>
                    <a:pt x="180" y="2"/>
                  </a:lnTo>
                  <a:lnTo>
                    <a:pt x="216" y="7"/>
                  </a:lnTo>
                  <a:lnTo>
                    <a:pt x="258" y="16"/>
                  </a:lnTo>
                  <a:lnTo>
                    <a:pt x="305" y="29"/>
                  </a:lnTo>
                  <a:lnTo>
                    <a:pt x="299" y="47"/>
                  </a:lnTo>
                  <a:lnTo>
                    <a:pt x="297" y="46"/>
                  </a:lnTo>
                  <a:lnTo>
                    <a:pt x="289" y="44"/>
                  </a:lnTo>
                  <a:lnTo>
                    <a:pt x="277" y="41"/>
                  </a:lnTo>
                  <a:lnTo>
                    <a:pt x="262" y="36"/>
                  </a:lnTo>
                  <a:lnTo>
                    <a:pt x="244" y="32"/>
                  </a:lnTo>
                  <a:lnTo>
                    <a:pt x="224" y="28"/>
                  </a:lnTo>
                  <a:lnTo>
                    <a:pt x="201" y="25"/>
                  </a:lnTo>
                  <a:lnTo>
                    <a:pt x="176" y="22"/>
                  </a:lnTo>
                  <a:lnTo>
                    <a:pt x="152" y="21"/>
                  </a:lnTo>
                  <a:lnTo>
                    <a:pt x="126" y="21"/>
                  </a:lnTo>
                  <a:lnTo>
                    <a:pt x="101" y="23"/>
                  </a:lnTo>
                  <a:lnTo>
                    <a:pt x="77" y="29"/>
                  </a:lnTo>
                  <a:lnTo>
                    <a:pt x="55" y="37"/>
                  </a:lnTo>
                  <a:lnTo>
                    <a:pt x="33" y="48"/>
                  </a:lnTo>
                  <a:lnTo>
                    <a:pt x="15" y="63"/>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1" name="Freeform 154">
              <a:extLst>
                <a:ext uri="{FF2B5EF4-FFF2-40B4-BE49-F238E27FC236}">
                  <a16:creationId xmlns:a16="http://schemas.microsoft.com/office/drawing/2014/main" id="{561CF105-376E-4035-9678-310D7F907F97}"/>
                </a:ext>
              </a:extLst>
            </p:cNvPr>
            <p:cNvSpPr>
              <a:spLocks/>
            </p:cNvSpPr>
            <p:nvPr/>
          </p:nvSpPr>
          <p:spPr bwMode="auto">
            <a:xfrm>
              <a:off x="6511925" y="3754438"/>
              <a:ext cx="149225" cy="41275"/>
            </a:xfrm>
            <a:custGeom>
              <a:avLst/>
              <a:gdLst>
                <a:gd name="T0" fmla="*/ 0 w 305"/>
                <a:gd name="T1" fmla="*/ 2147483647 h 83"/>
                <a:gd name="T2" fmla="*/ 0 w 305"/>
                <a:gd name="T3" fmla="*/ 2147483647 h 83"/>
                <a:gd name="T4" fmla="*/ 2147483647 w 305"/>
                <a:gd name="T5" fmla="*/ 2147483647 h 83"/>
                <a:gd name="T6" fmla="*/ 2147483647 w 305"/>
                <a:gd name="T7" fmla="*/ 2147483647 h 83"/>
                <a:gd name="T8" fmla="*/ 2147483647 w 305"/>
                <a:gd name="T9" fmla="*/ 2147483647 h 83"/>
                <a:gd name="T10" fmla="*/ 2147483647 w 305"/>
                <a:gd name="T11" fmla="*/ 2147483647 h 83"/>
                <a:gd name="T12" fmla="*/ 2147483647 w 305"/>
                <a:gd name="T13" fmla="*/ 2147483647 h 83"/>
                <a:gd name="T14" fmla="*/ 2147483647 w 305"/>
                <a:gd name="T15" fmla="*/ 2147483647 h 83"/>
                <a:gd name="T16" fmla="*/ 2147483647 w 305"/>
                <a:gd name="T17" fmla="*/ 2147483647 h 83"/>
                <a:gd name="T18" fmla="*/ 2147483647 w 305"/>
                <a:gd name="T19" fmla="*/ 2147483647 h 83"/>
                <a:gd name="T20" fmla="*/ 2147483647 w 305"/>
                <a:gd name="T21" fmla="*/ 2147483647 h 83"/>
                <a:gd name="T22" fmla="*/ 2147483647 w 305"/>
                <a:gd name="T23" fmla="*/ 0 h 83"/>
                <a:gd name="T24" fmla="*/ 2147483647 w 305"/>
                <a:gd name="T25" fmla="*/ 0 h 83"/>
                <a:gd name="T26" fmla="*/ 2147483647 w 305"/>
                <a:gd name="T27" fmla="*/ 2147483647 h 83"/>
                <a:gd name="T28" fmla="*/ 2147483647 w 305"/>
                <a:gd name="T29" fmla="*/ 2147483647 h 83"/>
                <a:gd name="T30" fmla="*/ 2147483647 w 305"/>
                <a:gd name="T31" fmla="*/ 2147483647 h 83"/>
                <a:gd name="T32" fmla="*/ 2147483647 w 305"/>
                <a:gd name="T33" fmla="*/ 2147483647 h 83"/>
                <a:gd name="T34" fmla="*/ 2147483647 w 305"/>
                <a:gd name="T35" fmla="*/ 2147483647 h 83"/>
                <a:gd name="T36" fmla="*/ 2147483647 w 305"/>
                <a:gd name="T37" fmla="*/ 2147483647 h 83"/>
                <a:gd name="T38" fmla="*/ 2147483647 w 305"/>
                <a:gd name="T39" fmla="*/ 2147483647 h 83"/>
                <a:gd name="T40" fmla="*/ 2147483647 w 305"/>
                <a:gd name="T41" fmla="*/ 2147483647 h 83"/>
                <a:gd name="T42" fmla="*/ 2147483647 w 305"/>
                <a:gd name="T43" fmla="*/ 2147483647 h 83"/>
                <a:gd name="T44" fmla="*/ 2147483647 w 305"/>
                <a:gd name="T45" fmla="*/ 2147483647 h 83"/>
                <a:gd name="T46" fmla="*/ 2147483647 w 305"/>
                <a:gd name="T47" fmla="*/ 2147483647 h 83"/>
                <a:gd name="T48" fmla="*/ 2147483647 w 305"/>
                <a:gd name="T49" fmla="*/ 2147483647 h 83"/>
                <a:gd name="T50" fmla="*/ 2147483647 w 305"/>
                <a:gd name="T51" fmla="*/ 2147483647 h 83"/>
                <a:gd name="T52" fmla="*/ 2147483647 w 305"/>
                <a:gd name="T53" fmla="*/ 2147483647 h 83"/>
                <a:gd name="T54" fmla="*/ 2147483647 w 305"/>
                <a:gd name="T55" fmla="*/ 2147483647 h 83"/>
                <a:gd name="T56" fmla="*/ 2147483647 w 305"/>
                <a:gd name="T57" fmla="*/ 2147483647 h 83"/>
                <a:gd name="T58" fmla="*/ 2147483647 w 305"/>
                <a:gd name="T59" fmla="*/ 2147483647 h 83"/>
                <a:gd name="T60" fmla="*/ 2147483647 w 305"/>
                <a:gd name="T61" fmla="*/ 2147483647 h 83"/>
                <a:gd name="T62" fmla="*/ 2147483647 w 305"/>
                <a:gd name="T63" fmla="*/ 2147483647 h 83"/>
                <a:gd name="T64" fmla="*/ 2147483647 w 305"/>
                <a:gd name="T65" fmla="*/ 2147483647 h 83"/>
                <a:gd name="T66" fmla="*/ 0 w 305"/>
                <a:gd name="T67" fmla="*/ 2147483647 h 83"/>
                <a:gd name="T68" fmla="*/ 0 w 305"/>
                <a:gd name="T69" fmla="*/ 2147483647 h 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05" h="83">
                  <a:moveTo>
                    <a:pt x="0" y="53"/>
                  </a:moveTo>
                  <a:lnTo>
                    <a:pt x="0" y="52"/>
                  </a:lnTo>
                  <a:lnTo>
                    <a:pt x="2" y="49"/>
                  </a:lnTo>
                  <a:lnTo>
                    <a:pt x="5" y="44"/>
                  </a:lnTo>
                  <a:lnTo>
                    <a:pt x="11" y="38"/>
                  </a:lnTo>
                  <a:lnTo>
                    <a:pt x="18" y="31"/>
                  </a:lnTo>
                  <a:lnTo>
                    <a:pt x="27" y="25"/>
                  </a:lnTo>
                  <a:lnTo>
                    <a:pt x="39" y="17"/>
                  </a:lnTo>
                  <a:lnTo>
                    <a:pt x="54" y="12"/>
                  </a:lnTo>
                  <a:lnTo>
                    <a:pt x="72" y="7"/>
                  </a:lnTo>
                  <a:lnTo>
                    <a:pt x="92" y="2"/>
                  </a:lnTo>
                  <a:lnTo>
                    <a:pt x="118" y="0"/>
                  </a:lnTo>
                  <a:lnTo>
                    <a:pt x="146" y="0"/>
                  </a:lnTo>
                  <a:lnTo>
                    <a:pt x="180" y="2"/>
                  </a:lnTo>
                  <a:lnTo>
                    <a:pt x="216" y="8"/>
                  </a:lnTo>
                  <a:lnTo>
                    <a:pt x="258" y="16"/>
                  </a:lnTo>
                  <a:lnTo>
                    <a:pt x="305" y="29"/>
                  </a:lnTo>
                  <a:lnTo>
                    <a:pt x="299" y="47"/>
                  </a:lnTo>
                  <a:lnTo>
                    <a:pt x="297" y="45"/>
                  </a:lnTo>
                  <a:lnTo>
                    <a:pt x="289" y="43"/>
                  </a:lnTo>
                  <a:lnTo>
                    <a:pt x="277" y="40"/>
                  </a:lnTo>
                  <a:lnTo>
                    <a:pt x="262" y="36"/>
                  </a:lnTo>
                  <a:lnTo>
                    <a:pt x="244" y="33"/>
                  </a:lnTo>
                  <a:lnTo>
                    <a:pt x="224" y="28"/>
                  </a:lnTo>
                  <a:lnTo>
                    <a:pt x="201" y="25"/>
                  </a:lnTo>
                  <a:lnTo>
                    <a:pt x="176" y="22"/>
                  </a:lnTo>
                  <a:lnTo>
                    <a:pt x="152" y="21"/>
                  </a:lnTo>
                  <a:lnTo>
                    <a:pt x="126" y="22"/>
                  </a:lnTo>
                  <a:lnTo>
                    <a:pt x="101" y="24"/>
                  </a:lnTo>
                  <a:lnTo>
                    <a:pt x="77" y="29"/>
                  </a:lnTo>
                  <a:lnTo>
                    <a:pt x="55" y="38"/>
                  </a:lnTo>
                  <a:lnTo>
                    <a:pt x="33" y="49"/>
                  </a:lnTo>
                  <a:lnTo>
                    <a:pt x="15" y="64"/>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2" name="Freeform 155">
              <a:extLst>
                <a:ext uri="{FF2B5EF4-FFF2-40B4-BE49-F238E27FC236}">
                  <a16:creationId xmlns:a16="http://schemas.microsoft.com/office/drawing/2014/main" id="{593329E8-A004-4576-A826-5B5CC3C4F73F}"/>
                </a:ext>
              </a:extLst>
            </p:cNvPr>
            <p:cNvSpPr>
              <a:spLocks/>
            </p:cNvSpPr>
            <p:nvPr/>
          </p:nvSpPr>
          <p:spPr bwMode="auto">
            <a:xfrm>
              <a:off x="6651625" y="3708400"/>
              <a:ext cx="241300" cy="449263"/>
            </a:xfrm>
            <a:custGeom>
              <a:avLst/>
              <a:gdLst>
                <a:gd name="T0" fmla="*/ 0 w 496"/>
                <a:gd name="T1" fmla="*/ 0 h 917"/>
                <a:gd name="T2" fmla="*/ 0 w 496"/>
                <a:gd name="T3" fmla="*/ 2147483647 h 917"/>
                <a:gd name="T4" fmla="*/ 2147483647 w 496"/>
                <a:gd name="T5" fmla="*/ 2147483647 h 917"/>
                <a:gd name="T6" fmla="*/ 2147483647 w 496"/>
                <a:gd name="T7" fmla="*/ 2147483647 h 917"/>
                <a:gd name="T8" fmla="*/ 2147483647 w 496"/>
                <a:gd name="T9" fmla="*/ 2147483647 h 917"/>
                <a:gd name="T10" fmla="*/ 2147483647 w 496"/>
                <a:gd name="T11" fmla="*/ 2147483647 h 917"/>
                <a:gd name="T12" fmla="*/ 2147483647 w 496"/>
                <a:gd name="T13" fmla="*/ 2147483647 h 917"/>
                <a:gd name="T14" fmla="*/ 2147483647 w 496"/>
                <a:gd name="T15" fmla="*/ 2147483647 h 917"/>
                <a:gd name="T16" fmla="*/ 2147483647 w 496"/>
                <a:gd name="T17" fmla="*/ 2147483647 h 917"/>
                <a:gd name="T18" fmla="*/ 2147483647 w 496"/>
                <a:gd name="T19" fmla="*/ 2147483647 h 917"/>
                <a:gd name="T20" fmla="*/ 2147483647 w 496"/>
                <a:gd name="T21" fmla="*/ 2147483647 h 917"/>
                <a:gd name="T22" fmla="*/ 2147483647 w 496"/>
                <a:gd name="T23" fmla="*/ 2147483647 h 917"/>
                <a:gd name="T24" fmla="*/ 2147483647 w 496"/>
                <a:gd name="T25" fmla="*/ 2147483647 h 917"/>
                <a:gd name="T26" fmla="*/ 2147483647 w 496"/>
                <a:gd name="T27" fmla="*/ 2147483647 h 917"/>
                <a:gd name="T28" fmla="*/ 2147483647 w 496"/>
                <a:gd name="T29" fmla="*/ 2147483647 h 917"/>
                <a:gd name="T30" fmla="*/ 2147483647 w 496"/>
                <a:gd name="T31" fmla="*/ 2147483647 h 917"/>
                <a:gd name="T32" fmla="*/ 2147483647 w 496"/>
                <a:gd name="T33" fmla="*/ 2147483647 h 917"/>
                <a:gd name="T34" fmla="*/ 0 w 496"/>
                <a:gd name="T35" fmla="*/ 0 h 91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6" h="917">
                  <a:moveTo>
                    <a:pt x="0" y="0"/>
                  </a:moveTo>
                  <a:lnTo>
                    <a:pt x="0" y="886"/>
                  </a:lnTo>
                  <a:lnTo>
                    <a:pt x="150" y="917"/>
                  </a:lnTo>
                  <a:lnTo>
                    <a:pt x="143" y="797"/>
                  </a:lnTo>
                  <a:lnTo>
                    <a:pt x="496" y="851"/>
                  </a:lnTo>
                  <a:lnTo>
                    <a:pt x="490" y="803"/>
                  </a:lnTo>
                  <a:lnTo>
                    <a:pt x="245" y="773"/>
                  </a:lnTo>
                  <a:lnTo>
                    <a:pt x="239" y="670"/>
                  </a:lnTo>
                  <a:lnTo>
                    <a:pt x="72" y="670"/>
                  </a:lnTo>
                  <a:lnTo>
                    <a:pt x="68" y="657"/>
                  </a:lnTo>
                  <a:lnTo>
                    <a:pt x="56" y="620"/>
                  </a:lnTo>
                  <a:lnTo>
                    <a:pt x="41" y="559"/>
                  </a:lnTo>
                  <a:lnTo>
                    <a:pt x="26" y="480"/>
                  </a:lnTo>
                  <a:lnTo>
                    <a:pt x="15" y="385"/>
                  </a:lnTo>
                  <a:lnTo>
                    <a:pt x="11" y="276"/>
                  </a:lnTo>
                  <a:lnTo>
                    <a:pt x="20" y="158"/>
                  </a:lnTo>
                  <a:lnTo>
                    <a:pt x="42"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3" name="Freeform 156">
              <a:extLst>
                <a:ext uri="{FF2B5EF4-FFF2-40B4-BE49-F238E27FC236}">
                  <a16:creationId xmlns:a16="http://schemas.microsoft.com/office/drawing/2014/main" id="{1D7ADD73-3384-47BC-A635-A14C765D2326}"/>
                </a:ext>
              </a:extLst>
            </p:cNvPr>
            <p:cNvSpPr>
              <a:spLocks/>
            </p:cNvSpPr>
            <p:nvPr/>
          </p:nvSpPr>
          <p:spPr bwMode="auto">
            <a:xfrm>
              <a:off x="6770688" y="3605213"/>
              <a:ext cx="309562" cy="61912"/>
            </a:xfrm>
            <a:custGeom>
              <a:avLst/>
              <a:gdLst>
                <a:gd name="T0" fmla="*/ 0 w 638"/>
                <a:gd name="T1" fmla="*/ 2147483647 h 125"/>
                <a:gd name="T2" fmla="*/ 2147483647 w 638"/>
                <a:gd name="T3" fmla="*/ 2147483647 h 125"/>
                <a:gd name="T4" fmla="*/ 2147483647 w 638"/>
                <a:gd name="T5" fmla="*/ 2147483647 h 125"/>
                <a:gd name="T6" fmla="*/ 2147483647 w 638"/>
                <a:gd name="T7" fmla="*/ 2147483647 h 125"/>
                <a:gd name="T8" fmla="*/ 2147483647 w 638"/>
                <a:gd name="T9" fmla="*/ 2147483647 h 125"/>
                <a:gd name="T10" fmla="*/ 2147483647 w 638"/>
                <a:gd name="T11" fmla="*/ 2147483647 h 125"/>
                <a:gd name="T12" fmla="*/ 2147483647 w 638"/>
                <a:gd name="T13" fmla="*/ 2147483647 h 125"/>
                <a:gd name="T14" fmla="*/ 2147483647 w 638"/>
                <a:gd name="T15" fmla="*/ 2147483647 h 125"/>
                <a:gd name="T16" fmla="*/ 2147483647 w 638"/>
                <a:gd name="T17" fmla="*/ 2147483647 h 125"/>
                <a:gd name="T18" fmla="*/ 2147483647 w 638"/>
                <a:gd name="T19" fmla="*/ 2147483647 h 125"/>
                <a:gd name="T20" fmla="*/ 2147483647 w 638"/>
                <a:gd name="T21" fmla="*/ 2147483647 h 125"/>
                <a:gd name="T22" fmla="*/ 2147483647 w 638"/>
                <a:gd name="T23" fmla="*/ 2147483647 h 125"/>
                <a:gd name="T24" fmla="*/ 2147483647 w 638"/>
                <a:gd name="T25" fmla="*/ 2147483647 h 125"/>
                <a:gd name="T26" fmla="*/ 2147483647 w 638"/>
                <a:gd name="T27" fmla="*/ 2147483647 h 125"/>
                <a:gd name="T28" fmla="*/ 2147483647 w 638"/>
                <a:gd name="T29" fmla="*/ 2147483647 h 125"/>
                <a:gd name="T30" fmla="*/ 2147483647 w 638"/>
                <a:gd name="T31" fmla="*/ 2147483647 h 125"/>
                <a:gd name="T32" fmla="*/ 2147483647 w 638"/>
                <a:gd name="T33" fmla="*/ 2147483647 h 125"/>
                <a:gd name="T34" fmla="*/ 2147483647 w 638"/>
                <a:gd name="T35" fmla="*/ 0 h 125"/>
                <a:gd name="T36" fmla="*/ 2147483647 w 638"/>
                <a:gd name="T37" fmla="*/ 0 h 125"/>
                <a:gd name="T38" fmla="*/ 2147483647 w 638"/>
                <a:gd name="T39" fmla="*/ 0 h 125"/>
                <a:gd name="T40" fmla="*/ 2147483647 w 638"/>
                <a:gd name="T41" fmla="*/ 0 h 125"/>
                <a:gd name="T42" fmla="*/ 2147483647 w 638"/>
                <a:gd name="T43" fmla="*/ 2147483647 h 125"/>
                <a:gd name="T44" fmla="*/ 2147483647 w 638"/>
                <a:gd name="T45" fmla="*/ 2147483647 h 125"/>
                <a:gd name="T46" fmla="*/ 2147483647 w 638"/>
                <a:gd name="T47" fmla="*/ 2147483647 h 125"/>
                <a:gd name="T48" fmla="*/ 2147483647 w 638"/>
                <a:gd name="T49" fmla="*/ 2147483647 h 125"/>
                <a:gd name="T50" fmla="*/ 2147483647 w 638"/>
                <a:gd name="T51" fmla="*/ 2147483647 h 125"/>
                <a:gd name="T52" fmla="*/ 2147483647 w 638"/>
                <a:gd name="T53" fmla="*/ 2147483647 h 125"/>
                <a:gd name="T54" fmla="*/ 2147483647 w 638"/>
                <a:gd name="T55" fmla="*/ 2147483647 h 125"/>
                <a:gd name="T56" fmla="*/ 2147483647 w 638"/>
                <a:gd name="T57" fmla="*/ 2147483647 h 125"/>
                <a:gd name="T58" fmla="*/ 2147483647 w 638"/>
                <a:gd name="T59" fmla="*/ 2147483647 h 125"/>
                <a:gd name="T60" fmla="*/ 2147483647 w 638"/>
                <a:gd name="T61" fmla="*/ 2147483647 h 125"/>
                <a:gd name="T62" fmla="*/ 2147483647 w 638"/>
                <a:gd name="T63" fmla="*/ 2147483647 h 125"/>
                <a:gd name="T64" fmla="*/ 2147483647 w 638"/>
                <a:gd name="T65" fmla="*/ 2147483647 h 125"/>
                <a:gd name="T66" fmla="*/ 0 w 638"/>
                <a:gd name="T67" fmla="*/ 2147483647 h 125"/>
                <a:gd name="T68" fmla="*/ 0 w 638"/>
                <a:gd name="T69" fmla="*/ 2147483647 h 12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38" h="125">
                  <a:moveTo>
                    <a:pt x="0" y="125"/>
                  </a:moveTo>
                  <a:lnTo>
                    <a:pt x="4" y="124"/>
                  </a:lnTo>
                  <a:lnTo>
                    <a:pt x="14" y="119"/>
                  </a:lnTo>
                  <a:lnTo>
                    <a:pt x="31" y="114"/>
                  </a:lnTo>
                  <a:lnTo>
                    <a:pt x="53" y="106"/>
                  </a:lnTo>
                  <a:lnTo>
                    <a:pt x="81" y="98"/>
                  </a:lnTo>
                  <a:lnTo>
                    <a:pt x="113" y="89"/>
                  </a:lnTo>
                  <a:lnTo>
                    <a:pt x="151" y="81"/>
                  </a:lnTo>
                  <a:lnTo>
                    <a:pt x="192" y="73"/>
                  </a:lnTo>
                  <a:lnTo>
                    <a:pt x="237" y="65"/>
                  </a:lnTo>
                  <a:lnTo>
                    <a:pt x="286" y="60"/>
                  </a:lnTo>
                  <a:lnTo>
                    <a:pt x="337" y="56"/>
                  </a:lnTo>
                  <a:lnTo>
                    <a:pt x="390" y="55"/>
                  </a:lnTo>
                  <a:lnTo>
                    <a:pt x="446" y="56"/>
                  </a:lnTo>
                  <a:lnTo>
                    <a:pt x="503" y="61"/>
                  </a:lnTo>
                  <a:lnTo>
                    <a:pt x="561" y="70"/>
                  </a:lnTo>
                  <a:lnTo>
                    <a:pt x="620" y="83"/>
                  </a:lnTo>
                  <a:lnTo>
                    <a:pt x="638" y="0"/>
                  </a:lnTo>
                  <a:lnTo>
                    <a:pt x="634" y="0"/>
                  </a:lnTo>
                  <a:lnTo>
                    <a:pt x="620" y="0"/>
                  </a:lnTo>
                  <a:lnTo>
                    <a:pt x="599" y="0"/>
                  </a:lnTo>
                  <a:lnTo>
                    <a:pt x="571" y="1"/>
                  </a:lnTo>
                  <a:lnTo>
                    <a:pt x="536" y="2"/>
                  </a:lnTo>
                  <a:lnTo>
                    <a:pt x="496" y="3"/>
                  </a:lnTo>
                  <a:lnTo>
                    <a:pt x="452" y="6"/>
                  </a:lnTo>
                  <a:lnTo>
                    <a:pt x="405" y="8"/>
                  </a:lnTo>
                  <a:lnTo>
                    <a:pt x="354" y="13"/>
                  </a:lnTo>
                  <a:lnTo>
                    <a:pt x="302" y="17"/>
                  </a:lnTo>
                  <a:lnTo>
                    <a:pt x="249" y="22"/>
                  </a:lnTo>
                  <a:lnTo>
                    <a:pt x="196" y="30"/>
                  </a:lnTo>
                  <a:lnTo>
                    <a:pt x="144" y="37"/>
                  </a:lnTo>
                  <a:lnTo>
                    <a:pt x="93" y="47"/>
                  </a:lnTo>
                  <a:lnTo>
                    <a:pt x="45" y="58"/>
                  </a:lnTo>
                  <a:lnTo>
                    <a:pt x="0" y="71"/>
                  </a:lnTo>
                  <a:lnTo>
                    <a:pt x="0" y="12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4" name="Freeform 157">
              <a:extLst>
                <a:ext uri="{FF2B5EF4-FFF2-40B4-BE49-F238E27FC236}">
                  <a16:creationId xmlns:a16="http://schemas.microsoft.com/office/drawing/2014/main" id="{A3EDCFAF-B292-4124-9A52-571DAF95546B}"/>
                </a:ext>
              </a:extLst>
            </p:cNvPr>
            <p:cNvSpPr>
              <a:spLocks/>
            </p:cNvSpPr>
            <p:nvPr/>
          </p:nvSpPr>
          <p:spPr bwMode="auto">
            <a:xfrm>
              <a:off x="6588125" y="4167188"/>
              <a:ext cx="522288" cy="174625"/>
            </a:xfrm>
            <a:custGeom>
              <a:avLst/>
              <a:gdLst>
                <a:gd name="T0" fmla="*/ 2147483647 w 1075"/>
                <a:gd name="T1" fmla="*/ 2147483647 h 356"/>
                <a:gd name="T2" fmla="*/ 2147483647 w 1075"/>
                <a:gd name="T3" fmla="*/ 2147483647 h 356"/>
                <a:gd name="T4" fmla="*/ 2147483647 w 1075"/>
                <a:gd name="T5" fmla="*/ 2147483647 h 356"/>
                <a:gd name="T6" fmla="*/ 2147483647 w 1075"/>
                <a:gd name="T7" fmla="*/ 2147483647 h 356"/>
                <a:gd name="T8" fmla="*/ 2147483647 w 1075"/>
                <a:gd name="T9" fmla="*/ 2147483647 h 356"/>
                <a:gd name="T10" fmla="*/ 2147483647 w 1075"/>
                <a:gd name="T11" fmla="*/ 2147483647 h 356"/>
                <a:gd name="T12" fmla="*/ 2147483647 w 1075"/>
                <a:gd name="T13" fmla="*/ 2147483647 h 356"/>
                <a:gd name="T14" fmla="*/ 2147483647 w 1075"/>
                <a:gd name="T15" fmla="*/ 2147483647 h 356"/>
                <a:gd name="T16" fmla="*/ 2147483647 w 1075"/>
                <a:gd name="T17" fmla="*/ 2147483647 h 356"/>
                <a:gd name="T18" fmla="*/ 2147483647 w 1075"/>
                <a:gd name="T19" fmla="*/ 2147483647 h 356"/>
                <a:gd name="T20" fmla="*/ 2147483647 w 1075"/>
                <a:gd name="T21" fmla="*/ 2147483647 h 356"/>
                <a:gd name="T22" fmla="*/ 2147483647 w 1075"/>
                <a:gd name="T23" fmla="*/ 2147483647 h 356"/>
                <a:gd name="T24" fmla="*/ 2147483647 w 1075"/>
                <a:gd name="T25" fmla="*/ 2147483647 h 356"/>
                <a:gd name="T26" fmla="*/ 2147483647 w 1075"/>
                <a:gd name="T27" fmla="*/ 2147483647 h 356"/>
                <a:gd name="T28" fmla="*/ 2147483647 w 1075"/>
                <a:gd name="T29" fmla="*/ 2147483647 h 356"/>
                <a:gd name="T30" fmla="*/ 2147483647 w 1075"/>
                <a:gd name="T31" fmla="*/ 2147483647 h 356"/>
                <a:gd name="T32" fmla="*/ 2147483647 w 1075"/>
                <a:gd name="T33" fmla="*/ 2147483647 h 356"/>
                <a:gd name="T34" fmla="*/ 0 w 1075"/>
                <a:gd name="T35" fmla="*/ 2147483647 h 356"/>
                <a:gd name="T36" fmla="*/ 2147483647 w 1075"/>
                <a:gd name="T37" fmla="*/ 0 h 356"/>
                <a:gd name="T38" fmla="*/ 2147483647 w 1075"/>
                <a:gd name="T39" fmla="*/ 2147483647 h 356"/>
                <a:gd name="T40" fmla="*/ 2147483647 w 1075"/>
                <a:gd name="T41" fmla="*/ 2147483647 h 356"/>
                <a:gd name="T42" fmla="*/ 2147483647 w 1075"/>
                <a:gd name="T43" fmla="*/ 2147483647 h 356"/>
                <a:gd name="T44" fmla="*/ 2147483647 w 1075"/>
                <a:gd name="T45" fmla="*/ 2147483647 h 356"/>
                <a:gd name="T46" fmla="*/ 2147483647 w 1075"/>
                <a:gd name="T47" fmla="*/ 2147483647 h 356"/>
                <a:gd name="T48" fmla="*/ 2147483647 w 1075"/>
                <a:gd name="T49" fmla="*/ 2147483647 h 356"/>
                <a:gd name="T50" fmla="*/ 2147483647 w 1075"/>
                <a:gd name="T51" fmla="*/ 2147483647 h 356"/>
                <a:gd name="T52" fmla="*/ 2147483647 w 1075"/>
                <a:gd name="T53" fmla="*/ 2147483647 h 356"/>
                <a:gd name="T54" fmla="*/ 2147483647 w 1075"/>
                <a:gd name="T55" fmla="*/ 2147483647 h 356"/>
                <a:gd name="T56" fmla="*/ 2147483647 w 1075"/>
                <a:gd name="T57" fmla="*/ 2147483647 h 356"/>
                <a:gd name="T58" fmla="*/ 2147483647 w 1075"/>
                <a:gd name="T59" fmla="*/ 2147483647 h 356"/>
                <a:gd name="T60" fmla="*/ 2147483647 w 1075"/>
                <a:gd name="T61" fmla="*/ 2147483647 h 356"/>
                <a:gd name="T62" fmla="*/ 2147483647 w 1075"/>
                <a:gd name="T63" fmla="*/ 2147483647 h 356"/>
                <a:gd name="T64" fmla="*/ 2147483647 w 1075"/>
                <a:gd name="T65" fmla="*/ 2147483647 h 356"/>
                <a:gd name="T66" fmla="*/ 2147483647 w 1075"/>
                <a:gd name="T67" fmla="*/ 2147483647 h 356"/>
                <a:gd name="T68" fmla="*/ 2147483647 w 1075"/>
                <a:gd name="T69" fmla="*/ 2147483647 h 356"/>
                <a:gd name="T70" fmla="*/ 2147483647 w 1075"/>
                <a:gd name="T71" fmla="*/ 2147483647 h 356"/>
                <a:gd name="T72" fmla="*/ 2147483647 w 1075"/>
                <a:gd name="T73" fmla="*/ 2147483647 h 356"/>
                <a:gd name="T74" fmla="*/ 2147483647 w 1075"/>
                <a:gd name="T75" fmla="*/ 2147483647 h 356"/>
                <a:gd name="T76" fmla="*/ 2147483647 w 1075"/>
                <a:gd name="T77" fmla="*/ 2147483647 h 35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75" h="356">
                  <a:moveTo>
                    <a:pt x="454" y="344"/>
                  </a:moveTo>
                  <a:lnTo>
                    <a:pt x="456" y="343"/>
                  </a:lnTo>
                  <a:lnTo>
                    <a:pt x="463" y="341"/>
                  </a:lnTo>
                  <a:lnTo>
                    <a:pt x="472" y="337"/>
                  </a:lnTo>
                  <a:lnTo>
                    <a:pt x="485" y="332"/>
                  </a:lnTo>
                  <a:lnTo>
                    <a:pt x="501" y="325"/>
                  </a:lnTo>
                  <a:lnTo>
                    <a:pt x="518" y="317"/>
                  </a:lnTo>
                  <a:lnTo>
                    <a:pt x="538" y="308"/>
                  </a:lnTo>
                  <a:lnTo>
                    <a:pt x="558" y="298"/>
                  </a:lnTo>
                  <a:lnTo>
                    <a:pt x="580" y="287"/>
                  </a:lnTo>
                  <a:lnTo>
                    <a:pt x="600" y="274"/>
                  </a:lnTo>
                  <a:lnTo>
                    <a:pt x="621" y="262"/>
                  </a:lnTo>
                  <a:lnTo>
                    <a:pt x="640" y="248"/>
                  </a:lnTo>
                  <a:lnTo>
                    <a:pt x="658" y="234"/>
                  </a:lnTo>
                  <a:lnTo>
                    <a:pt x="674" y="219"/>
                  </a:lnTo>
                  <a:lnTo>
                    <a:pt x="688" y="204"/>
                  </a:lnTo>
                  <a:lnTo>
                    <a:pt x="699" y="189"/>
                  </a:lnTo>
                  <a:lnTo>
                    <a:pt x="0" y="18"/>
                  </a:lnTo>
                  <a:lnTo>
                    <a:pt x="54" y="0"/>
                  </a:lnTo>
                  <a:lnTo>
                    <a:pt x="1075" y="251"/>
                  </a:lnTo>
                  <a:lnTo>
                    <a:pt x="1033" y="274"/>
                  </a:lnTo>
                  <a:lnTo>
                    <a:pt x="738" y="199"/>
                  </a:lnTo>
                  <a:lnTo>
                    <a:pt x="737" y="200"/>
                  </a:lnTo>
                  <a:lnTo>
                    <a:pt x="735" y="203"/>
                  </a:lnTo>
                  <a:lnTo>
                    <a:pt x="730" y="207"/>
                  </a:lnTo>
                  <a:lnTo>
                    <a:pt x="724" y="214"/>
                  </a:lnTo>
                  <a:lnTo>
                    <a:pt x="716" y="222"/>
                  </a:lnTo>
                  <a:lnTo>
                    <a:pt x="706" y="231"/>
                  </a:lnTo>
                  <a:lnTo>
                    <a:pt x="694" y="242"/>
                  </a:lnTo>
                  <a:lnTo>
                    <a:pt x="679" y="253"/>
                  </a:lnTo>
                  <a:lnTo>
                    <a:pt x="662" y="265"/>
                  </a:lnTo>
                  <a:lnTo>
                    <a:pt x="643" y="278"/>
                  </a:lnTo>
                  <a:lnTo>
                    <a:pt x="621" y="291"/>
                  </a:lnTo>
                  <a:lnTo>
                    <a:pt x="597" y="303"/>
                  </a:lnTo>
                  <a:lnTo>
                    <a:pt x="570" y="317"/>
                  </a:lnTo>
                  <a:lnTo>
                    <a:pt x="540" y="330"/>
                  </a:lnTo>
                  <a:lnTo>
                    <a:pt x="508" y="343"/>
                  </a:lnTo>
                  <a:lnTo>
                    <a:pt x="472" y="356"/>
                  </a:lnTo>
                  <a:lnTo>
                    <a:pt x="454" y="3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5" name="Freeform 158">
              <a:extLst>
                <a:ext uri="{FF2B5EF4-FFF2-40B4-BE49-F238E27FC236}">
                  <a16:creationId xmlns:a16="http://schemas.microsoft.com/office/drawing/2014/main" id="{112CDBD5-B9B0-4AFE-8944-5DC644B82729}"/>
                </a:ext>
              </a:extLst>
            </p:cNvPr>
            <p:cNvSpPr>
              <a:spLocks/>
            </p:cNvSpPr>
            <p:nvPr/>
          </p:nvSpPr>
          <p:spPr bwMode="auto">
            <a:xfrm>
              <a:off x="6481763" y="4213225"/>
              <a:ext cx="530225" cy="155575"/>
            </a:xfrm>
            <a:custGeom>
              <a:avLst/>
              <a:gdLst>
                <a:gd name="T0" fmla="*/ 0 w 1095"/>
                <a:gd name="T1" fmla="*/ 0 h 319"/>
                <a:gd name="T2" fmla="*/ 2147483647 w 1095"/>
                <a:gd name="T3" fmla="*/ 2147483647 h 319"/>
                <a:gd name="T4" fmla="*/ 2147483647 w 1095"/>
                <a:gd name="T5" fmla="*/ 2147483647 h 319"/>
                <a:gd name="T6" fmla="*/ 2147483647 w 1095"/>
                <a:gd name="T7" fmla="*/ 0 h 319"/>
                <a:gd name="T8" fmla="*/ 0 w 1095"/>
                <a:gd name="T9" fmla="*/ 0 h 3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5" h="319">
                  <a:moveTo>
                    <a:pt x="0" y="0"/>
                  </a:moveTo>
                  <a:lnTo>
                    <a:pt x="1071" y="319"/>
                  </a:lnTo>
                  <a:lnTo>
                    <a:pt x="1095" y="319"/>
                  </a:lnTo>
                  <a:lnTo>
                    <a:pt x="3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6" name="Freeform 159">
              <a:extLst>
                <a:ext uri="{FF2B5EF4-FFF2-40B4-BE49-F238E27FC236}">
                  <a16:creationId xmlns:a16="http://schemas.microsoft.com/office/drawing/2014/main" id="{FA47D3BA-FB30-4CAF-AD23-E30393782A60}"/>
                </a:ext>
              </a:extLst>
            </p:cNvPr>
            <p:cNvSpPr>
              <a:spLocks/>
            </p:cNvSpPr>
            <p:nvPr/>
          </p:nvSpPr>
          <p:spPr bwMode="auto">
            <a:xfrm>
              <a:off x="6570663" y="4192588"/>
              <a:ext cx="525462" cy="138112"/>
            </a:xfrm>
            <a:custGeom>
              <a:avLst/>
              <a:gdLst>
                <a:gd name="T0" fmla="*/ 0 w 1082"/>
                <a:gd name="T1" fmla="*/ 2147483647 h 285"/>
                <a:gd name="T2" fmla="*/ 2147483647 w 1082"/>
                <a:gd name="T3" fmla="*/ 2147483647 h 285"/>
                <a:gd name="T4" fmla="*/ 2147483647 w 1082"/>
                <a:gd name="T5" fmla="*/ 2147483647 h 285"/>
                <a:gd name="T6" fmla="*/ 2147483647 w 1082"/>
                <a:gd name="T7" fmla="*/ 0 h 285"/>
                <a:gd name="T8" fmla="*/ 0 w 1082"/>
                <a:gd name="T9" fmla="*/ 2147483647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2" h="285">
                  <a:moveTo>
                    <a:pt x="0" y="1"/>
                  </a:moveTo>
                  <a:lnTo>
                    <a:pt x="1058" y="285"/>
                  </a:lnTo>
                  <a:lnTo>
                    <a:pt x="1082" y="284"/>
                  </a:lnTo>
                  <a:lnTo>
                    <a:pt x="3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97" name="Freeform 160">
              <a:extLst>
                <a:ext uri="{FF2B5EF4-FFF2-40B4-BE49-F238E27FC236}">
                  <a16:creationId xmlns:a16="http://schemas.microsoft.com/office/drawing/2014/main" id="{9229A24F-4A85-4086-864C-C7263E0C614A}"/>
                </a:ext>
              </a:extLst>
            </p:cNvPr>
            <p:cNvSpPr>
              <a:spLocks/>
            </p:cNvSpPr>
            <p:nvPr/>
          </p:nvSpPr>
          <p:spPr bwMode="auto">
            <a:xfrm>
              <a:off x="6527800" y="4198938"/>
              <a:ext cx="527050" cy="153987"/>
            </a:xfrm>
            <a:custGeom>
              <a:avLst/>
              <a:gdLst>
                <a:gd name="T0" fmla="*/ 0 w 1087"/>
                <a:gd name="T1" fmla="*/ 0 h 315"/>
                <a:gd name="T2" fmla="*/ 2147483647 w 1087"/>
                <a:gd name="T3" fmla="*/ 2147483647 h 315"/>
                <a:gd name="T4" fmla="*/ 2147483647 w 1087"/>
                <a:gd name="T5" fmla="*/ 2147483647 h 315"/>
                <a:gd name="T6" fmla="*/ 2147483647 w 1087"/>
                <a:gd name="T7" fmla="*/ 0 h 315"/>
                <a:gd name="T8" fmla="*/ 0 w 1087"/>
                <a:gd name="T9" fmla="*/ 0 h 3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7" h="315">
                  <a:moveTo>
                    <a:pt x="0" y="0"/>
                  </a:moveTo>
                  <a:lnTo>
                    <a:pt x="1066" y="315"/>
                  </a:lnTo>
                  <a:lnTo>
                    <a:pt x="1087" y="308"/>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2698" name="Group 161">
              <a:extLst>
                <a:ext uri="{FF2B5EF4-FFF2-40B4-BE49-F238E27FC236}">
                  <a16:creationId xmlns:a16="http://schemas.microsoft.com/office/drawing/2014/main" id="{A1521FDA-A9D2-4F7F-B202-D592E754C0B8}"/>
                </a:ext>
              </a:extLst>
            </p:cNvPr>
            <p:cNvGrpSpPr>
              <a:grpSpLocks/>
            </p:cNvGrpSpPr>
            <p:nvPr/>
          </p:nvGrpSpPr>
          <p:grpSpPr bwMode="auto">
            <a:xfrm>
              <a:off x="6638925" y="3317875"/>
              <a:ext cx="649288" cy="904875"/>
              <a:chOff x="12762" y="10336"/>
              <a:chExt cx="1027" cy="1700"/>
            </a:xfrm>
          </p:grpSpPr>
          <p:sp>
            <p:nvSpPr>
              <p:cNvPr id="112961" name="Rectangle 162">
                <a:extLst>
                  <a:ext uri="{FF2B5EF4-FFF2-40B4-BE49-F238E27FC236}">
                    <a16:creationId xmlns:a16="http://schemas.microsoft.com/office/drawing/2014/main" id="{AB89604B-D197-4ED3-8630-F9BB022BC9B0}"/>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62" name="Rectangle 163">
                <a:extLst>
                  <a:ext uri="{FF2B5EF4-FFF2-40B4-BE49-F238E27FC236}">
                    <a16:creationId xmlns:a16="http://schemas.microsoft.com/office/drawing/2014/main" id="{CD634372-E8F2-4423-B5AC-2212FE3E2733}"/>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63" name="Line 164">
                <a:extLst>
                  <a:ext uri="{FF2B5EF4-FFF2-40B4-BE49-F238E27FC236}">
                    <a16:creationId xmlns:a16="http://schemas.microsoft.com/office/drawing/2014/main" id="{EAE16C06-FCEC-4EDC-8100-05C369DF2821}"/>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4" name="Line 165">
                <a:extLst>
                  <a:ext uri="{FF2B5EF4-FFF2-40B4-BE49-F238E27FC236}">
                    <a16:creationId xmlns:a16="http://schemas.microsoft.com/office/drawing/2014/main" id="{2387D506-C11D-49D2-A1CD-E885CA77F249}"/>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5" name="Line 166">
                <a:extLst>
                  <a:ext uri="{FF2B5EF4-FFF2-40B4-BE49-F238E27FC236}">
                    <a16:creationId xmlns:a16="http://schemas.microsoft.com/office/drawing/2014/main" id="{DE1F6A00-22BE-4C56-8127-A9C98130C0FB}"/>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6" name="Line 167">
                <a:extLst>
                  <a:ext uri="{FF2B5EF4-FFF2-40B4-BE49-F238E27FC236}">
                    <a16:creationId xmlns:a16="http://schemas.microsoft.com/office/drawing/2014/main" id="{79172755-519B-49D5-91DA-2D22295BA843}"/>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2699" name="Group 208">
              <a:extLst>
                <a:ext uri="{FF2B5EF4-FFF2-40B4-BE49-F238E27FC236}">
                  <a16:creationId xmlns:a16="http://schemas.microsoft.com/office/drawing/2014/main" id="{423743A9-9FBF-45B0-A6EC-CD2E81C22FF3}"/>
                </a:ext>
              </a:extLst>
            </p:cNvPr>
            <p:cNvGrpSpPr>
              <a:grpSpLocks/>
            </p:cNvGrpSpPr>
            <p:nvPr/>
          </p:nvGrpSpPr>
          <p:grpSpPr bwMode="auto">
            <a:xfrm>
              <a:off x="6153150" y="5392738"/>
              <a:ext cx="647700" cy="906462"/>
              <a:chOff x="12762" y="10336"/>
              <a:chExt cx="1027" cy="1700"/>
            </a:xfrm>
          </p:grpSpPr>
          <p:sp>
            <p:nvSpPr>
              <p:cNvPr id="112955" name="Rectangle 209">
                <a:extLst>
                  <a:ext uri="{FF2B5EF4-FFF2-40B4-BE49-F238E27FC236}">
                    <a16:creationId xmlns:a16="http://schemas.microsoft.com/office/drawing/2014/main" id="{AACF5D53-F6F5-417D-AA6B-DFDB3E4CE7BC}"/>
                  </a:ext>
                </a:extLst>
              </p:cNvPr>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56" name="Rectangle 210">
                <a:extLst>
                  <a:ext uri="{FF2B5EF4-FFF2-40B4-BE49-F238E27FC236}">
                    <a16:creationId xmlns:a16="http://schemas.microsoft.com/office/drawing/2014/main" id="{FD20FB9B-7AC3-4840-9EC0-2DDAF7839C45}"/>
                  </a:ext>
                </a:extLst>
              </p:cNvPr>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57" name="Line 211">
                <a:extLst>
                  <a:ext uri="{FF2B5EF4-FFF2-40B4-BE49-F238E27FC236}">
                    <a16:creationId xmlns:a16="http://schemas.microsoft.com/office/drawing/2014/main" id="{63086CAF-1A60-46D7-9FFB-8B57C57168AD}"/>
                  </a:ext>
                </a:extLst>
              </p:cNvPr>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8" name="Line 212">
                <a:extLst>
                  <a:ext uri="{FF2B5EF4-FFF2-40B4-BE49-F238E27FC236}">
                    <a16:creationId xmlns:a16="http://schemas.microsoft.com/office/drawing/2014/main" id="{756F2E71-6B6F-48B2-919D-8FD7C98BA864}"/>
                  </a:ext>
                </a:extLst>
              </p:cNvPr>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9" name="Line 213">
                <a:extLst>
                  <a:ext uri="{FF2B5EF4-FFF2-40B4-BE49-F238E27FC236}">
                    <a16:creationId xmlns:a16="http://schemas.microsoft.com/office/drawing/2014/main" id="{5CAF1063-05E0-4F84-AF97-86FB341B9484}"/>
                  </a:ext>
                </a:extLst>
              </p:cNvPr>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0" name="Line 214">
                <a:extLst>
                  <a:ext uri="{FF2B5EF4-FFF2-40B4-BE49-F238E27FC236}">
                    <a16:creationId xmlns:a16="http://schemas.microsoft.com/office/drawing/2014/main" id="{20C74D8E-E480-4F3F-9B1D-E92097A35039}"/>
                  </a:ext>
                </a:extLst>
              </p:cNvPr>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00" name="Line 215">
              <a:extLst>
                <a:ext uri="{FF2B5EF4-FFF2-40B4-BE49-F238E27FC236}">
                  <a16:creationId xmlns:a16="http://schemas.microsoft.com/office/drawing/2014/main" id="{25F45E7B-4B6F-457A-8FF8-C02A40B5C82C}"/>
                </a:ext>
              </a:extLst>
            </p:cNvPr>
            <p:cNvSpPr>
              <a:spLocks noChangeShapeType="1"/>
            </p:cNvSpPr>
            <p:nvPr/>
          </p:nvSpPr>
          <p:spPr bwMode="auto">
            <a:xfrm flipH="1">
              <a:off x="3249613" y="3146425"/>
              <a:ext cx="295275" cy="1047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01" name="Text Box 216">
              <a:extLst>
                <a:ext uri="{FF2B5EF4-FFF2-40B4-BE49-F238E27FC236}">
                  <a16:creationId xmlns:a16="http://schemas.microsoft.com/office/drawing/2014/main" id="{79F626E8-1986-4B92-9562-F1C7724C1562}"/>
                </a:ext>
              </a:extLst>
            </p:cNvPr>
            <p:cNvSpPr txBox="1">
              <a:spLocks noChangeArrowheads="1"/>
            </p:cNvSpPr>
            <p:nvPr/>
          </p:nvSpPr>
          <p:spPr bwMode="auto">
            <a:xfrm>
              <a:off x="6145213" y="2846388"/>
              <a:ext cx="6175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en-US" altLang="zh-CN" sz="2000">
                  <a:solidFill>
                    <a:srgbClr val="FF0000"/>
                  </a:solidFill>
                  <a:latin typeface="Symbol" panose="05050102010706020507" pitchFamily="18" charset="2"/>
                </a:rPr>
                <a:t>l</a:t>
              </a:r>
              <a:r>
                <a:rPr lang="en-US" altLang="zh-CN" sz="2000" baseline="-25000">
                  <a:solidFill>
                    <a:srgbClr val="FF0000"/>
                  </a:solidFill>
                  <a:latin typeface="Arial" panose="020B0604020202020204" pitchFamily="34" charset="0"/>
                </a:rPr>
                <a:t>out</a:t>
              </a:r>
              <a:endParaRPr lang="en-US" altLang="zh-CN" sz="2000">
                <a:solidFill>
                  <a:schemeClr val="tx2"/>
                </a:solidFill>
                <a:latin typeface="Comic Sans MS" panose="030F0702030302020204" pitchFamily="66" charset="0"/>
              </a:endParaRPr>
            </a:p>
          </p:txBody>
        </p:sp>
        <p:sp>
          <p:nvSpPr>
            <p:cNvPr id="112702" name="Line 217">
              <a:extLst>
                <a:ext uri="{FF2B5EF4-FFF2-40B4-BE49-F238E27FC236}">
                  <a16:creationId xmlns:a16="http://schemas.microsoft.com/office/drawing/2014/main" id="{AB835580-9FF3-4D1B-B5DD-B242DE85A5DE}"/>
                </a:ext>
              </a:extLst>
            </p:cNvPr>
            <p:cNvSpPr>
              <a:spLocks noChangeShapeType="1"/>
            </p:cNvSpPr>
            <p:nvPr/>
          </p:nvSpPr>
          <p:spPr bwMode="auto">
            <a:xfrm>
              <a:off x="6650038" y="3194050"/>
              <a:ext cx="200025" cy="2190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2704" name="Group 219">
              <a:extLst>
                <a:ext uri="{FF2B5EF4-FFF2-40B4-BE49-F238E27FC236}">
                  <a16:creationId xmlns:a16="http://schemas.microsoft.com/office/drawing/2014/main" id="{A793A997-1943-4B2C-9E53-5B25C4764F84}"/>
                </a:ext>
              </a:extLst>
            </p:cNvPr>
            <p:cNvGrpSpPr>
              <a:grpSpLocks/>
            </p:cNvGrpSpPr>
            <p:nvPr/>
          </p:nvGrpSpPr>
          <p:grpSpPr bwMode="auto">
            <a:xfrm>
              <a:off x="4041775" y="4400550"/>
              <a:ext cx="1073150" cy="422275"/>
              <a:chOff x="9542" y="11900"/>
              <a:chExt cx="1624" cy="640"/>
            </a:xfrm>
          </p:grpSpPr>
          <p:sp>
            <p:nvSpPr>
              <p:cNvPr id="112933" name="Oval 220">
                <a:extLst>
                  <a:ext uri="{FF2B5EF4-FFF2-40B4-BE49-F238E27FC236}">
                    <a16:creationId xmlns:a16="http://schemas.microsoft.com/office/drawing/2014/main" id="{18B95EF8-0AED-459F-9049-2E9669D6C041}"/>
                  </a:ext>
                </a:extLst>
              </p:cNvPr>
              <p:cNvSpPr>
                <a:spLocks noChangeArrowheads="1"/>
              </p:cNvSpPr>
              <p:nvPr/>
            </p:nvSpPr>
            <p:spPr bwMode="auto">
              <a:xfrm>
                <a:off x="9557" y="12185"/>
                <a:ext cx="1608" cy="355"/>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34" name="Line 221">
                <a:extLst>
                  <a:ext uri="{FF2B5EF4-FFF2-40B4-BE49-F238E27FC236}">
                    <a16:creationId xmlns:a16="http://schemas.microsoft.com/office/drawing/2014/main" id="{7BDAE060-7424-4007-B4F9-0B17181FF525}"/>
                  </a:ext>
                </a:extLst>
              </p:cNvPr>
              <p:cNvSpPr>
                <a:spLocks noChangeShapeType="1"/>
              </p:cNvSpPr>
              <p:nvPr/>
            </p:nvSpPr>
            <p:spPr bwMode="auto">
              <a:xfrm>
                <a:off x="9557" y="12156"/>
                <a:ext cx="1" cy="21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5" name="Line 222">
                <a:extLst>
                  <a:ext uri="{FF2B5EF4-FFF2-40B4-BE49-F238E27FC236}">
                    <a16:creationId xmlns:a16="http://schemas.microsoft.com/office/drawing/2014/main" id="{A9D1954C-C885-4CF4-8B82-77EF5CE2A98E}"/>
                  </a:ext>
                </a:extLst>
              </p:cNvPr>
              <p:cNvSpPr>
                <a:spLocks noChangeShapeType="1"/>
              </p:cNvSpPr>
              <p:nvPr/>
            </p:nvSpPr>
            <p:spPr bwMode="auto">
              <a:xfrm>
                <a:off x="11165" y="12156"/>
                <a:ext cx="1" cy="219"/>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6" name="Rectangle 223">
                <a:extLst>
                  <a:ext uri="{FF2B5EF4-FFF2-40B4-BE49-F238E27FC236}">
                    <a16:creationId xmlns:a16="http://schemas.microsoft.com/office/drawing/2014/main" id="{721B8B70-10DF-4E36-9D79-B10EBEA433A9}"/>
                  </a:ext>
                </a:extLst>
              </p:cNvPr>
              <p:cNvSpPr>
                <a:spLocks noChangeArrowheads="1"/>
              </p:cNvSpPr>
              <p:nvPr/>
            </p:nvSpPr>
            <p:spPr bwMode="auto">
              <a:xfrm>
                <a:off x="9557" y="12156"/>
                <a:ext cx="381" cy="21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937" name="Rectangle 224">
                <a:extLst>
                  <a:ext uri="{FF2B5EF4-FFF2-40B4-BE49-F238E27FC236}">
                    <a16:creationId xmlns:a16="http://schemas.microsoft.com/office/drawing/2014/main" id="{CE41E85D-3FC1-48C2-89A3-7D733B165C96}"/>
                  </a:ext>
                </a:extLst>
              </p:cNvPr>
              <p:cNvSpPr>
                <a:spLocks noChangeArrowheads="1"/>
              </p:cNvSpPr>
              <p:nvPr/>
            </p:nvSpPr>
            <p:spPr bwMode="auto">
              <a:xfrm>
                <a:off x="10679" y="12141"/>
                <a:ext cx="486" cy="21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938" name="Oval 225">
                <a:extLst>
                  <a:ext uri="{FF2B5EF4-FFF2-40B4-BE49-F238E27FC236}">
                    <a16:creationId xmlns:a16="http://schemas.microsoft.com/office/drawing/2014/main" id="{4FC6B89D-A385-4C78-9916-D09126FCBA60}"/>
                  </a:ext>
                </a:extLst>
              </p:cNvPr>
              <p:cNvSpPr>
                <a:spLocks noChangeArrowheads="1"/>
              </p:cNvSpPr>
              <p:nvPr/>
            </p:nvSpPr>
            <p:spPr bwMode="auto">
              <a:xfrm>
                <a:off x="9542" y="11900"/>
                <a:ext cx="1608" cy="414"/>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12939" name="Group 226">
                <a:extLst>
                  <a:ext uri="{FF2B5EF4-FFF2-40B4-BE49-F238E27FC236}">
                    <a16:creationId xmlns:a16="http://schemas.microsoft.com/office/drawing/2014/main" id="{0F88AC4F-8DC4-48A2-BA13-F9E347EE5680}"/>
                  </a:ext>
                </a:extLst>
              </p:cNvPr>
              <p:cNvGrpSpPr>
                <a:grpSpLocks/>
              </p:cNvGrpSpPr>
              <p:nvPr/>
            </p:nvGrpSpPr>
            <p:grpSpPr bwMode="auto">
              <a:xfrm>
                <a:off x="9930" y="11991"/>
                <a:ext cx="796" cy="242"/>
                <a:chOff x="2848" y="848"/>
                <a:chExt cx="140" cy="98"/>
              </a:xfrm>
            </p:grpSpPr>
            <p:sp>
              <p:nvSpPr>
                <p:cNvPr id="112952" name="Line 227">
                  <a:extLst>
                    <a:ext uri="{FF2B5EF4-FFF2-40B4-BE49-F238E27FC236}">
                      <a16:creationId xmlns:a16="http://schemas.microsoft.com/office/drawing/2014/main" id="{CEF26896-3F04-4CBE-9EEC-440330FDDB7F}"/>
                    </a:ext>
                  </a:extLst>
                </p:cNvPr>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3" name="Line 228">
                  <a:extLst>
                    <a:ext uri="{FF2B5EF4-FFF2-40B4-BE49-F238E27FC236}">
                      <a16:creationId xmlns:a16="http://schemas.microsoft.com/office/drawing/2014/main" id="{E8C1A54C-0117-4155-A923-FE4CE40CC895}"/>
                    </a:ext>
                  </a:extLst>
                </p:cNvPr>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4" name="Line 229">
                  <a:extLst>
                    <a:ext uri="{FF2B5EF4-FFF2-40B4-BE49-F238E27FC236}">
                      <a16:creationId xmlns:a16="http://schemas.microsoft.com/office/drawing/2014/main" id="{8A2AD2AC-E156-42EB-912A-101E13832F83}"/>
                    </a:ext>
                  </a:extLst>
                </p:cNvPr>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940" name="Group 230">
                <a:extLst>
                  <a:ext uri="{FF2B5EF4-FFF2-40B4-BE49-F238E27FC236}">
                    <a16:creationId xmlns:a16="http://schemas.microsoft.com/office/drawing/2014/main" id="{5712235D-90D4-4D55-96A1-8DA4D5749424}"/>
                  </a:ext>
                </a:extLst>
              </p:cNvPr>
              <p:cNvGrpSpPr>
                <a:grpSpLocks/>
              </p:cNvGrpSpPr>
              <p:nvPr/>
            </p:nvGrpSpPr>
            <p:grpSpPr bwMode="auto">
              <a:xfrm flipV="1">
                <a:off x="9930" y="11987"/>
                <a:ext cx="796" cy="242"/>
                <a:chOff x="2848" y="848"/>
                <a:chExt cx="140" cy="98"/>
              </a:xfrm>
            </p:grpSpPr>
            <p:sp>
              <p:nvSpPr>
                <p:cNvPr id="112949" name="Line 231">
                  <a:extLst>
                    <a:ext uri="{FF2B5EF4-FFF2-40B4-BE49-F238E27FC236}">
                      <a16:creationId xmlns:a16="http://schemas.microsoft.com/office/drawing/2014/main" id="{C41A017B-A276-4382-A906-05B9EE5CEADC}"/>
                    </a:ext>
                  </a:extLst>
                </p:cNvPr>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0" name="Line 232">
                  <a:extLst>
                    <a:ext uri="{FF2B5EF4-FFF2-40B4-BE49-F238E27FC236}">
                      <a16:creationId xmlns:a16="http://schemas.microsoft.com/office/drawing/2014/main" id="{69995165-2557-4FC7-975C-EF25ED64DACA}"/>
                    </a:ext>
                  </a:extLst>
                </p:cNvPr>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1" name="Line 233">
                  <a:extLst>
                    <a:ext uri="{FF2B5EF4-FFF2-40B4-BE49-F238E27FC236}">
                      <a16:creationId xmlns:a16="http://schemas.microsoft.com/office/drawing/2014/main" id="{59EEE1A8-EAF9-4660-B436-8382AD2AA0B3}"/>
                    </a:ext>
                  </a:extLst>
                </p:cNvPr>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941" name="Group 234">
                <a:extLst>
                  <a:ext uri="{FF2B5EF4-FFF2-40B4-BE49-F238E27FC236}">
                    <a16:creationId xmlns:a16="http://schemas.microsoft.com/office/drawing/2014/main" id="{78A52B3A-3148-4CC2-B4FD-FAC1D201D92B}"/>
                  </a:ext>
                </a:extLst>
              </p:cNvPr>
              <p:cNvGrpSpPr>
                <a:grpSpLocks/>
              </p:cNvGrpSpPr>
              <p:nvPr/>
            </p:nvGrpSpPr>
            <p:grpSpPr bwMode="auto">
              <a:xfrm>
                <a:off x="10534" y="12050"/>
                <a:ext cx="476" cy="374"/>
                <a:chOff x="11283" y="10423"/>
                <a:chExt cx="475" cy="374"/>
              </a:xfrm>
            </p:grpSpPr>
            <p:sp>
              <p:nvSpPr>
                <p:cNvPr id="112942" name="Rectangle 235">
                  <a:extLst>
                    <a:ext uri="{FF2B5EF4-FFF2-40B4-BE49-F238E27FC236}">
                      <a16:creationId xmlns:a16="http://schemas.microsoft.com/office/drawing/2014/main" id="{134FC8F5-3A66-4743-99A4-87BC9542FF08}"/>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43" name="Line 236">
                  <a:extLst>
                    <a:ext uri="{FF2B5EF4-FFF2-40B4-BE49-F238E27FC236}">
                      <a16:creationId xmlns:a16="http://schemas.microsoft.com/office/drawing/2014/main" id="{B6EF1F58-937C-42EE-B62E-036F03D022CB}"/>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4" name="Line 237">
                  <a:extLst>
                    <a:ext uri="{FF2B5EF4-FFF2-40B4-BE49-F238E27FC236}">
                      <a16:creationId xmlns:a16="http://schemas.microsoft.com/office/drawing/2014/main" id="{6DC487A2-625F-48CE-865B-CC56A29D4E88}"/>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5" name="Line 238">
                  <a:extLst>
                    <a:ext uri="{FF2B5EF4-FFF2-40B4-BE49-F238E27FC236}">
                      <a16:creationId xmlns:a16="http://schemas.microsoft.com/office/drawing/2014/main" id="{76F4CD75-73C9-408B-A792-7122A6C194CF}"/>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6" name="Line 239">
                  <a:extLst>
                    <a:ext uri="{FF2B5EF4-FFF2-40B4-BE49-F238E27FC236}">
                      <a16:creationId xmlns:a16="http://schemas.microsoft.com/office/drawing/2014/main" id="{3CB0A2DB-3165-48BB-B5F9-0A8F9D452C83}"/>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7" name="Line 240">
                  <a:extLst>
                    <a:ext uri="{FF2B5EF4-FFF2-40B4-BE49-F238E27FC236}">
                      <a16:creationId xmlns:a16="http://schemas.microsoft.com/office/drawing/2014/main" id="{291AC222-5384-4FBB-A07A-676105E6618A}"/>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8" name="Line 241">
                  <a:extLst>
                    <a:ext uri="{FF2B5EF4-FFF2-40B4-BE49-F238E27FC236}">
                      <a16:creationId xmlns:a16="http://schemas.microsoft.com/office/drawing/2014/main" id="{7CBA5E79-FE90-4D9B-AE88-D4CDE1A207E0}"/>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12705" name="Line 242">
              <a:extLst>
                <a:ext uri="{FF2B5EF4-FFF2-40B4-BE49-F238E27FC236}">
                  <a16:creationId xmlns:a16="http://schemas.microsoft.com/office/drawing/2014/main" id="{91BA533A-3613-45D1-9A22-B8B8281357F5}"/>
                </a:ext>
              </a:extLst>
            </p:cNvPr>
            <p:cNvSpPr>
              <a:spLocks noChangeShapeType="1"/>
            </p:cNvSpPr>
            <p:nvPr/>
          </p:nvSpPr>
          <p:spPr bwMode="auto">
            <a:xfrm>
              <a:off x="5173663" y="3565525"/>
              <a:ext cx="276225" cy="1588"/>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706" name="Group 243">
              <a:extLst>
                <a:ext uri="{FF2B5EF4-FFF2-40B4-BE49-F238E27FC236}">
                  <a16:creationId xmlns:a16="http://schemas.microsoft.com/office/drawing/2014/main" id="{07D23244-A710-4B58-BE9E-9F8E84E25F65}"/>
                </a:ext>
              </a:extLst>
            </p:cNvPr>
            <p:cNvGrpSpPr>
              <a:grpSpLocks/>
            </p:cNvGrpSpPr>
            <p:nvPr/>
          </p:nvGrpSpPr>
          <p:grpSpPr bwMode="auto">
            <a:xfrm>
              <a:off x="3125788" y="3241675"/>
              <a:ext cx="90487" cy="271463"/>
              <a:chOff x="10104" y="10005"/>
              <a:chExt cx="137" cy="411"/>
            </a:xfrm>
          </p:grpSpPr>
          <p:sp>
            <p:nvSpPr>
              <p:cNvPr id="112931" name="Oval 244">
                <a:extLst>
                  <a:ext uri="{FF2B5EF4-FFF2-40B4-BE49-F238E27FC236}">
                    <a16:creationId xmlns:a16="http://schemas.microsoft.com/office/drawing/2014/main" id="{A476C5D4-4950-452C-95A1-0E2D6D2739BE}"/>
                  </a:ext>
                </a:extLst>
              </p:cNvPr>
              <p:cNvSpPr>
                <a:spLocks noChangeArrowheads="1"/>
              </p:cNvSpPr>
              <p:nvPr/>
            </p:nvSpPr>
            <p:spPr bwMode="auto">
              <a:xfrm>
                <a:off x="10104" y="10005"/>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32" name="Oval 245">
                <a:extLst>
                  <a:ext uri="{FF2B5EF4-FFF2-40B4-BE49-F238E27FC236}">
                    <a16:creationId xmlns:a16="http://schemas.microsoft.com/office/drawing/2014/main" id="{0977ECDD-8A42-46F7-A263-AB19F935FA68}"/>
                  </a:ext>
                </a:extLst>
              </p:cNvPr>
              <p:cNvSpPr>
                <a:spLocks noChangeArrowheads="1"/>
              </p:cNvSpPr>
              <p:nvPr/>
            </p:nvSpPr>
            <p:spPr bwMode="auto">
              <a:xfrm>
                <a:off x="10104" y="10278"/>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112707" name="Line 247">
              <a:extLst>
                <a:ext uri="{FF2B5EF4-FFF2-40B4-BE49-F238E27FC236}">
                  <a16:creationId xmlns:a16="http://schemas.microsoft.com/office/drawing/2014/main" id="{C4C29AD5-850C-461E-B529-A29DEE012B2C}"/>
                </a:ext>
              </a:extLst>
            </p:cNvPr>
            <p:cNvSpPr>
              <a:spLocks noChangeShapeType="1"/>
            </p:cNvSpPr>
            <p:nvPr/>
          </p:nvSpPr>
          <p:spPr bwMode="auto">
            <a:xfrm flipH="1">
              <a:off x="3259138" y="3413125"/>
              <a:ext cx="304800" cy="38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08" name="Oval 248">
              <a:extLst>
                <a:ext uri="{FF2B5EF4-FFF2-40B4-BE49-F238E27FC236}">
                  <a16:creationId xmlns:a16="http://schemas.microsoft.com/office/drawing/2014/main" id="{28F59643-7F39-4E89-9898-1DA91E5D18F5}"/>
                </a:ext>
              </a:extLst>
            </p:cNvPr>
            <p:cNvSpPr>
              <a:spLocks noChangeArrowheads="1"/>
            </p:cNvSpPr>
            <p:nvPr/>
          </p:nvSpPr>
          <p:spPr bwMode="auto">
            <a:xfrm>
              <a:off x="4735513" y="5311775"/>
              <a:ext cx="1065212" cy="2349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709" name="Line 249">
              <a:extLst>
                <a:ext uri="{FF2B5EF4-FFF2-40B4-BE49-F238E27FC236}">
                  <a16:creationId xmlns:a16="http://schemas.microsoft.com/office/drawing/2014/main" id="{99B52B9B-ED47-4CD5-AEB2-6D684A4BBCEA}"/>
                </a:ext>
              </a:extLst>
            </p:cNvPr>
            <p:cNvSpPr>
              <a:spLocks noChangeShapeType="1"/>
            </p:cNvSpPr>
            <p:nvPr/>
          </p:nvSpPr>
          <p:spPr bwMode="auto">
            <a:xfrm>
              <a:off x="4735513" y="5292725"/>
              <a:ext cx="1587" cy="1460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0" name="Line 250">
              <a:extLst>
                <a:ext uri="{FF2B5EF4-FFF2-40B4-BE49-F238E27FC236}">
                  <a16:creationId xmlns:a16="http://schemas.microsoft.com/office/drawing/2014/main" id="{7F0296CC-A0C1-4731-A22A-7776C6F5C033}"/>
                </a:ext>
              </a:extLst>
            </p:cNvPr>
            <p:cNvSpPr>
              <a:spLocks noChangeShapeType="1"/>
            </p:cNvSpPr>
            <p:nvPr/>
          </p:nvSpPr>
          <p:spPr bwMode="auto">
            <a:xfrm>
              <a:off x="5800725" y="5292725"/>
              <a:ext cx="0" cy="14605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1" name="Rectangle 251">
              <a:extLst>
                <a:ext uri="{FF2B5EF4-FFF2-40B4-BE49-F238E27FC236}">
                  <a16:creationId xmlns:a16="http://schemas.microsoft.com/office/drawing/2014/main" id="{D2BA2D79-8958-4D4F-8F4E-7BDA4321AC44}"/>
                </a:ext>
              </a:extLst>
            </p:cNvPr>
            <p:cNvSpPr>
              <a:spLocks noChangeArrowheads="1"/>
            </p:cNvSpPr>
            <p:nvPr/>
          </p:nvSpPr>
          <p:spPr bwMode="auto">
            <a:xfrm>
              <a:off x="4735513" y="5292725"/>
              <a:ext cx="252412"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12" name="Rectangle 252">
              <a:extLst>
                <a:ext uri="{FF2B5EF4-FFF2-40B4-BE49-F238E27FC236}">
                  <a16:creationId xmlns:a16="http://schemas.microsoft.com/office/drawing/2014/main" id="{CB96CA00-AAE5-4876-8460-C11484CA144E}"/>
                </a:ext>
              </a:extLst>
            </p:cNvPr>
            <p:cNvSpPr>
              <a:spLocks noChangeArrowheads="1"/>
            </p:cNvSpPr>
            <p:nvPr/>
          </p:nvSpPr>
          <p:spPr bwMode="auto">
            <a:xfrm>
              <a:off x="5478463" y="5283200"/>
              <a:ext cx="322262"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13" name="Oval 253">
              <a:extLst>
                <a:ext uri="{FF2B5EF4-FFF2-40B4-BE49-F238E27FC236}">
                  <a16:creationId xmlns:a16="http://schemas.microsoft.com/office/drawing/2014/main" id="{D22F12EC-3608-4AD0-92B7-7BC4F16A0E92}"/>
                </a:ext>
              </a:extLst>
            </p:cNvPr>
            <p:cNvSpPr>
              <a:spLocks noChangeArrowheads="1"/>
            </p:cNvSpPr>
            <p:nvPr/>
          </p:nvSpPr>
          <p:spPr bwMode="auto">
            <a:xfrm>
              <a:off x="4716463" y="5124450"/>
              <a:ext cx="1063625" cy="2730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12714" name="Group 254">
              <a:extLst>
                <a:ext uri="{FF2B5EF4-FFF2-40B4-BE49-F238E27FC236}">
                  <a16:creationId xmlns:a16="http://schemas.microsoft.com/office/drawing/2014/main" id="{4ABBFE8B-10C6-4FA8-82DB-5161B47F0374}"/>
                </a:ext>
              </a:extLst>
            </p:cNvPr>
            <p:cNvGrpSpPr>
              <a:grpSpLocks/>
            </p:cNvGrpSpPr>
            <p:nvPr/>
          </p:nvGrpSpPr>
          <p:grpSpPr bwMode="auto">
            <a:xfrm>
              <a:off x="4983163" y="5184775"/>
              <a:ext cx="527050" cy="158750"/>
              <a:chOff x="2848" y="848"/>
              <a:chExt cx="140" cy="98"/>
            </a:xfrm>
          </p:grpSpPr>
          <p:sp>
            <p:nvSpPr>
              <p:cNvPr id="112928" name="Line 255">
                <a:extLst>
                  <a:ext uri="{FF2B5EF4-FFF2-40B4-BE49-F238E27FC236}">
                    <a16:creationId xmlns:a16="http://schemas.microsoft.com/office/drawing/2014/main" id="{74CFC954-7A1D-44C1-B6B7-F5C4614CE375}"/>
                  </a:ext>
                </a:extLst>
              </p:cNvPr>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9" name="Line 256">
                <a:extLst>
                  <a:ext uri="{FF2B5EF4-FFF2-40B4-BE49-F238E27FC236}">
                    <a16:creationId xmlns:a16="http://schemas.microsoft.com/office/drawing/2014/main" id="{94298A19-CB66-48BA-9DBA-2BB4F66B8798}"/>
                  </a:ext>
                </a:extLst>
              </p:cNvPr>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0" name="Line 257">
                <a:extLst>
                  <a:ext uri="{FF2B5EF4-FFF2-40B4-BE49-F238E27FC236}">
                    <a16:creationId xmlns:a16="http://schemas.microsoft.com/office/drawing/2014/main" id="{4B9C0374-E4CA-48F5-ABC6-A5AC7E32E32C}"/>
                  </a:ext>
                </a:extLst>
              </p:cNvPr>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15" name="Group 258">
              <a:extLst>
                <a:ext uri="{FF2B5EF4-FFF2-40B4-BE49-F238E27FC236}">
                  <a16:creationId xmlns:a16="http://schemas.microsoft.com/office/drawing/2014/main" id="{307492A3-2834-449E-9011-B6C3E30A218A}"/>
                </a:ext>
              </a:extLst>
            </p:cNvPr>
            <p:cNvGrpSpPr>
              <a:grpSpLocks/>
            </p:cNvGrpSpPr>
            <p:nvPr/>
          </p:nvGrpSpPr>
          <p:grpSpPr bwMode="auto">
            <a:xfrm flipV="1">
              <a:off x="4983163" y="5181600"/>
              <a:ext cx="527050" cy="160338"/>
              <a:chOff x="2848" y="848"/>
              <a:chExt cx="140" cy="98"/>
            </a:xfrm>
          </p:grpSpPr>
          <p:sp>
            <p:nvSpPr>
              <p:cNvPr id="112925" name="Line 259">
                <a:extLst>
                  <a:ext uri="{FF2B5EF4-FFF2-40B4-BE49-F238E27FC236}">
                    <a16:creationId xmlns:a16="http://schemas.microsoft.com/office/drawing/2014/main" id="{2B6E7173-E384-4530-A792-5F3341C3B218}"/>
                  </a:ext>
                </a:extLst>
              </p:cNvPr>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6" name="Line 260">
                <a:extLst>
                  <a:ext uri="{FF2B5EF4-FFF2-40B4-BE49-F238E27FC236}">
                    <a16:creationId xmlns:a16="http://schemas.microsoft.com/office/drawing/2014/main" id="{8DAD683B-7E50-444F-8054-9759E326D9A2}"/>
                  </a:ext>
                </a:extLst>
              </p:cNvPr>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7" name="Line 261">
                <a:extLst>
                  <a:ext uri="{FF2B5EF4-FFF2-40B4-BE49-F238E27FC236}">
                    <a16:creationId xmlns:a16="http://schemas.microsoft.com/office/drawing/2014/main" id="{AFCAB3CA-7A51-425B-9269-D6D2BAD1B335}"/>
                  </a:ext>
                </a:extLst>
              </p:cNvPr>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16" name="Group 262">
              <a:extLst>
                <a:ext uri="{FF2B5EF4-FFF2-40B4-BE49-F238E27FC236}">
                  <a16:creationId xmlns:a16="http://schemas.microsoft.com/office/drawing/2014/main" id="{C17597EF-E4AC-4DF8-8047-72A0C991C1EE}"/>
                </a:ext>
              </a:extLst>
            </p:cNvPr>
            <p:cNvGrpSpPr>
              <a:grpSpLocks/>
            </p:cNvGrpSpPr>
            <p:nvPr/>
          </p:nvGrpSpPr>
          <p:grpSpPr bwMode="auto">
            <a:xfrm rot="7844936">
              <a:off x="4983163" y="5313363"/>
              <a:ext cx="322262" cy="239712"/>
              <a:chOff x="11283" y="10423"/>
              <a:chExt cx="475" cy="374"/>
            </a:xfrm>
          </p:grpSpPr>
          <p:sp>
            <p:nvSpPr>
              <p:cNvPr id="112918" name="Rectangle 263">
                <a:extLst>
                  <a:ext uri="{FF2B5EF4-FFF2-40B4-BE49-F238E27FC236}">
                    <a16:creationId xmlns:a16="http://schemas.microsoft.com/office/drawing/2014/main" id="{3AA8AF64-0444-4A57-B1EE-CA5D106F9334}"/>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19" name="Line 264">
                <a:extLst>
                  <a:ext uri="{FF2B5EF4-FFF2-40B4-BE49-F238E27FC236}">
                    <a16:creationId xmlns:a16="http://schemas.microsoft.com/office/drawing/2014/main" id="{DF70D2CB-9358-40CC-9608-45EBDDC8A255}"/>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0" name="Line 265">
                <a:extLst>
                  <a:ext uri="{FF2B5EF4-FFF2-40B4-BE49-F238E27FC236}">
                    <a16:creationId xmlns:a16="http://schemas.microsoft.com/office/drawing/2014/main" id="{055FC91D-5461-4873-8B9B-FC90E59C1A42}"/>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1" name="Line 266">
                <a:extLst>
                  <a:ext uri="{FF2B5EF4-FFF2-40B4-BE49-F238E27FC236}">
                    <a16:creationId xmlns:a16="http://schemas.microsoft.com/office/drawing/2014/main" id="{6CFB80CB-8B2C-4A85-8B66-8E23460C8551}"/>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2" name="Line 267">
                <a:extLst>
                  <a:ext uri="{FF2B5EF4-FFF2-40B4-BE49-F238E27FC236}">
                    <a16:creationId xmlns:a16="http://schemas.microsoft.com/office/drawing/2014/main" id="{9AE3326E-0F4B-4E2A-B920-A693DE685F23}"/>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3" name="Line 268">
                <a:extLst>
                  <a:ext uri="{FF2B5EF4-FFF2-40B4-BE49-F238E27FC236}">
                    <a16:creationId xmlns:a16="http://schemas.microsoft.com/office/drawing/2014/main" id="{B9A368AD-E148-47C8-947C-C1A06DF55339}"/>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4" name="Line 269">
                <a:extLst>
                  <a:ext uri="{FF2B5EF4-FFF2-40B4-BE49-F238E27FC236}">
                    <a16:creationId xmlns:a16="http://schemas.microsoft.com/office/drawing/2014/main" id="{CECC2BC8-B5CD-43C9-876D-DA405FD1B848}"/>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17" name="Line 270">
              <a:extLst>
                <a:ext uri="{FF2B5EF4-FFF2-40B4-BE49-F238E27FC236}">
                  <a16:creationId xmlns:a16="http://schemas.microsoft.com/office/drawing/2014/main" id="{71FB7058-ADB5-4C75-9FB7-45C2B2F7D0A6}"/>
                </a:ext>
              </a:extLst>
            </p:cNvPr>
            <p:cNvSpPr>
              <a:spLocks noChangeShapeType="1"/>
            </p:cNvSpPr>
            <p:nvPr/>
          </p:nvSpPr>
          <p:spPr bwMode="auto">
            <a:xfrm flipH="1" flipV="1">
              <a:off x="3800475" y="6175375"/>
              <a:ext cx="1981200" cy="190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18" name="Line 271">
              <a:extLst>
                <a:ext uri="{FF2B5EF4-FFF2-40B4-BE49-F238E27FC236}">
                  <a16:creationId xmlns:a16="http://schemas.microsoft.com/office/drawing/2014/main" id="{10B65364-0257-4C80-A687-E76579E87B91}"/>
                </a:ext>
              </a:extLst>
            </p:cNvPr>
            <p:cNvSpPr>
              <a:spLocks noChangeShapeType="1"/>
            </p:cNvSpPr>
            <p:nvPr/>
          </p:nvSpPr>
          <p:spPr bwMode="auto">
            <a:xfrm flipH="1">
              <a:off x="4419600" y="5527675"/>
              <a:ext cx="620713"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19" name="Freeform 272">
              <a:extLst>
                <a:ext uri="{FF2B5EF4-FFF2-40B4-BE49-F238E27FC236}">
                  <a16:creationId xmlns:a16="http://schemas.microsoft.com/office/drawing/2014/main" id="{822EF0F2-A41C-45C7-A59B-193087654344}"/>
                </a:ext>
              </a:extLst>
            </p:cNvPr>
            <p:cNvSpPr>
              <a:spLocks/>
            </p:cNvSpPr>
            <p:nvPr/>
          </p:nvSpPr>
          <p:spPr bwMode="auto">
            <a:xfrm>
              <a:off x="3171825" y="3279775"/>
              <a:ext cx="3305175" cy="2857500"/>
            </a:xfrm>
            <a:custGeom>
              <a:avLst/>
              <a:gdLst>
                <a:gd name="T0" fmla="*/ 0 w 5205"/>
                <a:gd name="T1" fmla="*/ 0 h 4500"/>
                <a:gd name="T2" fmla="*/ 0 w 5205"/>
                <a:gd name="T3" fmla="*/ 2147483647 h 4500"/>
                <a:gd name="T4" fmla="*/ 2147483647 w 5205"/>
                <a:gd name="T5" fmla="*/ 2147483647 h 4500"/>
                <a:gd name="T6" fmla="*/ 2147483647 w 5205"/>
                <a:gd name="T7" fmla="*/ 2147483647 h 4500"/>
                <a:gd name="T8" fmla="*/ 2147483647 w 5205"/>
                <a:gd name="T9" fmla="*/ 2147483647 h 4500"/>
                <a:gd name="T10" fmla="*/ 2147483647 w 5205"/>
                <a:gd name="T11" fmla="*/ 2147483647 h 4500"/>
                <a:gd name="T12" fmla="*/ 2147483647 w 5205"/>
                <a:gd name="T13" fmla="*/ 2147483647 h 4500"/>
                <a:gd name="T14" fmla="*/ 2147483647 w 5205"/>
                <a:gd name="T15" fmla="*/ 2147483647 h 45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05" h="4500">
                  <a:moveTo>
                    <a:pt x="0" y="0"/>
                  </a:moveTo>
                  <a:lnTo>
                    <a:pt x="0" y="1320"/>
                  </a:lnTo>
                  <a:lnTo>
                    <a:pt x="1230" y="1350"/>
                  </a:lnTo>
                  <a:lnTo>
                    <a:pt x="495" y="2040"/>
                  </a:lnTo>
                  <a:lnTo>
                    <a:pt x="4515" y="2115"/>
                  </a:lnTo>
                  <a:lnTo>
                    <a:pt x="2220" y="4500"/>
                  </a:lnTo>
                  <a:lnTo>
                    <a:pt x="5205" y="4500"/>
                  </a:lnTo>
                  <a:lnTo>
                    <a:pt x="5205" y="3405"/>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720" name="Oval 273">
              <a:extLst>
                <a:ext uri="{FF2B5EF4-FFF2-40B4-BE49-F238E27FC236}">
                  <a16:creationId xmlns:a16="http://schemas.microsoft.com/office/drawing/2014/main" id="{0E70A5DB-00E7-42A8-9483-9DA9C6715808}"/>
                </a:ext>
              </a:extLst>
            </p:cNvPr>
            <p:cNvSpPr>
              <a:spLocks noChangeArrowheads="1"/>
            </p:cNvSpPr>
            <p:nvPr/>
          </p:nvSpPr>
          <p:spPr bwMode="auto">
            <a:xfrm>
              <a:off x="2974975" y="6111875"/>
              <a:ext cx="1062038" cy="2349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721" name="Line 274">
              <a:extLst>
                <a:ext uri="{FF2B5EF4-FFF2-40B4-BE49-F238E27FC236}">
                  <a16:creationId xmlns:a16="http://schemas.microsoft.com/office/drawing/2014/main" id="{CF89175D-29C6-495A-8AC3-EA5FEC982D5C}"/>
                </a:ext>
              </a:extLst>
            </p:cNvPr>
            <p:cNvSpPr>
              <a:spLocks noChangeShapeType="1"/>
            </p:cNvSpPr>
            <p:nvPr/>
          </p:nvSpPr>
          <p:spPr bwMode="auto">
            <a:xfrm>
              <a:off x="2974975" y="6092825"/>
              <a:ext cx="0" cy="1444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22" name="Line 275">
              <a:extLst>
                <a:ext uri="{FF2B5EF4-FFF2-40B4-BE49-F238E27FC236}">
                  <a16:creationId xmlns:a16="http://schemas.microsoft.com/office/drawing/2014/main" id="{C72232CC-6728-49CE-A3E3-0419FD50246A}"/>
                </a:ext>
              </a:extLst>
            </p:cNvPr>
            <p:cNvSpPr>
              <a:spLocks noChangeShapeType="1"/>
            </p:cNvSpPr>
            <p:nvPr/>
          </p:nvSpPr>
          <p:spPr bwMode="auto">
            <a:xfrm>
              <a:off x="4037013" y="6092825"/>
              <a:ext cx="1587" cy="144463"/>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23" name="Rectangle 276">
              <a:extLst>
                <a:ext uri="{FF2B5EF4-FFF2-40B4-BE49-F238E27FC236}">
                  <a16:creationId xmlns:a16="http://schemas.microsoft.com/office/drawing/2014/main" id="{87BFA01D-363C-48C1-A54E-884DB529BA8D}"/>
                </a:ext>
              </a:extLst>
            </p:cNvPr>
            <p:cNvSpPr>
              <a:spLocks noChangeArrowheads="1"/>
            </p:cNvSpPr>
            <p:nvPr/>
          </p:nvSpPr>
          <p:spPr bwMode="auto">
            <a:xfrm>
              <a:off x="2974975" y="6092825"/>
              <a:ext cx="250825"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24" name="Rectangle 277">
              <a:extLst>
                <a:ext uri="{FF2B5EF4-FFF2-40B4-BE49-F238E27FC236}">
                  <a16:creationId xmlns:a16="http://schemas.microsoft.com/office/drawing/2014/main" id="{E8359C3C-6F9A-4562-9671-3E64E5AC0BA8}"/>
                </a:ext>
              </a:extLst>
            </p:cNvPr>
            <p:cNvSpPr>
              <a:spLocks noChangeArrowheads="1"/>
            </p:cNvSpPr>
            <p:nvPr/>
          </p:nvSpPr>
          <p:spPr bwMode="auto">
            <a:xfrm>
              <a:off x="3714750" y="6083300"/>
              <a:ext cx="322263" cy="142875"/>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25" name="Oval 278">
              <a:extLst>
                <a:ext uri="{FF2B5EF4-FFF2-40B4-BE49-F238E27FC236}">
                  <a16:creationId xmlns:a16="http://schemas.microsoft.com/office/drawing/2014/main" id="{9FAAA026-8C28-4BDA-AA59-CE53DDA6FB34}"/>
                </a:ext>
              </a:extLst>
            </p:cNvPr>
            <p:cNvSpPr>
              <a:spLocks noChangeArrowheads="1"/>
            </p:cNvSpPr>
            <p:nvPr/>
          </p:nvSpPr>
          <p:spPr bwMode="auto">
            <a:xfrm>
              <a:off x="2963863" y="5924550"/>
              <a:ext cx="1063625" cy="2730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12726" name="Group 279">
              <a:extLst>
                <a:ext uri="{FF2B5EF4-FFF2-40B4-BE49-F238E27FC236}">
                  <a16:creationId xmlns:a16="http://schemas.microsoft.com/office/drawing/2014/main" id="{5A8C553E-0F52-4FD0-A363-3A4D9EC4DD9A}"/>
                </a:ext>
              </a:extLst>
            </p:cNvPr>
            <p:cNvGrpSpPr>
              <a:grpSpLocks/>
            </p:cNvGrpSpPr>
            <p:nvPr/>
          </p:nvGrpSpPr>
          <p:grpSpPr bwMode="auto">
            <a:xfrm>
              <a:off x="3221038" y="5984875"/>
              <a:ext cx="525462" cy="158750"/>
              <a:chOff x="2848" y="848"/>
              <a:chExt cx="140" cy="98"/>
            </a:xfrm>
          </p:grpSpPr>
          <p:sp>
            <p:nvSpPr>
              <p:cNvPr id="112915" name="Line 280">
                <a:extLst>
                  <a:ext uri="{FF2B5EF4-FFF2-40B4-BE49-F238E27FC236}">
                    <a16:creationId xmlns:a16="http://schemas.microsoft.com/office/drawing/2014/main" id="{A95FB51B-8E97-446F-8141-ECF20AF7FA8D}"/>
                  </a:ext>
                </a:extLst>
              </p:cNvPr>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6" name="Line 281">
                <a:extLst>
                  <a:ext uri="{FF2B5EF4-FFF2-40B4-BE49-F238E27FC236}">
                    <a16:creationId xmlns:a16="http://schemas.microsoft.com/office/drawing/2014/main" id="{80BDB297-7EE6-487B-B869-B2ABBE477F9D}"/>
                  </a:ext>
                </a:extLst>
              </p:cNvPr>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7" name="Line 282">
                <a:extLst>
                  <a:ext uri="{FF2B5EF4-FFF2-40B4-BE49-F238E27FC236}">
                    <a16:creationId xmlns:a16="http://schemas.microsoft.com/office/drawing/2014/main" id="{DF8F6146-303D-4004-9887-F7CFECEA188F}"/>
                  </a:ext>
                </a:extLst>
              </p:cNvPr>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27" name="Group 283">
              <a:extLst>
                <a:ext uri="{FF2B5EF4-FFF2-40B4-BE49-F238E27FC236}">
                  <a16:creationId xmlns:a16="http://schemas.microsoft.com/office/drawing/2014/main" id="{DEB1A728-22AE-40B6-B729-9943330657CF}"/>
                </a:ext>
              </a:extLst>
            </p:cNvPr>
            <p:cNvGrpSpPr>
              <a:grpSpLocks/>
            </p:cNvGrpSpPr>
            <p:nvPr/>
          </p:nvGrpSpPr>
          <p:grpSpPr bwMode="auto">
            <a:xfrm flipV="1">
              <a:off x="3221038" y="5981700"/>
              <a:ext cx="525462" cy="158750"/>
              <a:chOff x="2848" y="848"/>
              <a:chExt cx="140" cy="98"/>
            </a:xfrm>
          </p:grpSpPr>
          <p:sp>
            <p:nvSpPr>
              <p:cNvPr id="112912" name="Line 284">
                <a:extLst>
                  <a:ext uri="{FF2B5EF4-FFF2-40B4-BE49-F238E27FC236}">
                    <a16:creationId xmlns:a16="http://schemas.microsoft.com/office/drawing/2014/main" id="{658ED468-137D-480C-8CAE-6045BEB87455}"/>
                  </a:ext>
                </a:extLst>
              </p:cNvPr>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3" name="Line 285">
                <a:extLst>
                  <a:ext uri="{FF2B5EF4-FFF2-40B4-BE49-F238E27FC236}">
                    <a16:creationId xmlns:a16="http://schemas.microsoft.com/office/drawing/2014/main" id="{4E8C16CE-03BC-48BE-BAD1-0658AAD67CE0}"/>
                  </a:ext>
                </a:extLst>
              </p:cNvPr>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4" name="Line 286">
                <a:extLst>
                  <a:ext uri="{FF2B5EF4-FFF2-40B4-BE49-F238E27FC236}">
                    <a16:creationId xmlns:a16="http://schemas.microsoft.com/office/drawing/2014/main" id="{257C5E81-84E3-475F-8E2F-1E1D66938D16}"/>
                  </a:ext>
                </a:extLst>
              </p:cNvPr>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28" name="Group 287">
              <a:extLst>
                <a:ext uri="{FF2B5EF4-FFF2-40B4-BE49-F238E27FC236}">
                  <a16:creationId xmlns:a16="http://schemas.microsoft.com/office/drawing/2014/main" id="{E6972936-937C-4A0A-9C53-5B36EBB1233E}"/>
                </a:ext>
              </a:extLst>
            </p:cNvPr>
            <p:cNvGrpSpPr>
              <a:grpSpLocks/>
            </p:cNvGrpSpPr>
            <p:nvPr/>
          </p:nvGrpSpPr>
          <p:grpSpPr bwMode="auto">
            <a:xfrm>
              <a:off x="3038475" y="6051550"/>
              <a:ext cx="315913" cy="247650"/>
              <a:chOff x="11283" y="10423"/>
              <a:chExt cx="475" cy="374"/>
            </a:xfrm>
          </p:grpSpPr>
          <p:sp>
            <p:nvSpPr>
              <p:cNvPr id="112905" name="Rectangle 288">
                <a:extLst>
                  <a:ext uri="{FF2B5EF4-FFF2-40B4-BE49-F238E27FC236}">
                    <a16:creationId xmlns:a16="http://schemas.microsoft.com/office/drawing/2014/main" id="{4A226098-ECCC-4DFB-8C97-F221812ABA2E}"/>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906" name="Line 289">
                <a:extLst>
                  <a:ext uri="{FF2B5EF4-FFF2-40B4-BE49-F238E27FC236}">
                    <a16:creationId xmlns:a16="http://schemas.microsoft.com/office/drawing/2014/main" id="{B1583D33-6DAB-44E6-9CB6-333F458D6AAF}"/>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7" name="Line 290">
                <a:extLst>
                  <a:ext uri="{FF2B5EF4-FFF2-40B4-BE49-F238E27FC236}">
                    <a16:creationId xmlns:a16="http://schemas.microsoft.com/office/drawing/2014/main" id="{49E87573-688E-4D53-8A69-A492D9D843E8}"/>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8" name="Line 291">
                <a:extLst>
                  <a:ext uri="{FF2B5EF4-FFF2-40B4-BE49-F238E27FC236}">
                    <a16:creationId xmlns:a16="http://schemas.microsoft.com/office/drawing/2014/main" id="{E1B4B833-3B2D-4340-A830-2CB3513E3DBB}"/>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9" name="Line 292">
                <a:extLst>
                  <a:ext uri="{FF2B5EF4-FFF2-40B4-BE49-F238E27FC236}">
                    <a16:creationId xmlns:a16="http://schemas.microsoft.com/office/drawing/2014/main" id="{41BDD4E7-1530-4BDB-9548-2032B955274C}"/>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0" name="Line 293">
                <a:extLst>
                  <a:ext uri="{FF2B5EF4-FFF2-40B4-BE49-F238E27FC236}">
                    <a16:creationId xmlns:a16="http://schemas.microsoft.com/office/drawing/2014/main" id="{F4BE7855-F300-475E-BC95-253CBF25F440}"/>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1" name="Line 294">
                <a:extLst>
                  <a:ext uri="{FF2B5EF4-FFF2-40B4-BE49-F238E27FC236}">
                    <a16:creationId xmlns:a16="http://schemas.microsoft.com/office/drawing/2014/main" id="{4BA6ABA2-B725-47ED-BB66-7539E55C9AA8}"/>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29" name="Oval 295">
              <a:extLst>
                <a:ext uri="{FF2B5EF4-FFF2-40B4-BE49-F238E27FC236}">
                  <a16:creationId xmlns:a16="http://schemas.microsoft.com/office/drawing/2014/main" id="{79819383-62CF-4D77-9F52-65EE19DE82B0}"/>
                </a:ext>
              </a:extLst>
            </p:cNvPr>
            <p:cNvSpPr>
              <a:spLocks noChangeArrowheads="1"/>
            </p:cNvSpPr>
            <p:nvPr/>
          </p:nvSpPr>
          <p:spPr bwMode="auto">
            <a:xfrm>
              <a:off x="2335213" y="5178425"/>
              <a:ext cx="1063625" cy="233363"/>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730" name="Line 296">
              <a:extLst>
                <a:ext uri="{FF2B5EF4-FFF2-40B4-BE49-F238E27FC236}">
                  <a16:creationId xmlns:a16="http://schemas.microsoft.com/office/drawing/2014/main" id="{202CDAB4-1598-421E-9D75-7962EE028DB5}"/>
                </a:ext>
              </a:extLst>
            </p:cNvPr>
            <p:cNvSpPr>
              <a:spLocks noChangeShapeType="1"/>
            </p:cNvSpPr>
            <p:nvPr/>
          </p:nvSpPr>
          <p:spPr bwMode="auto">
            <a:xfrm>
              <a:off x="2335213" y="5159375"/>
              <a:ext cx="1587" cy="1444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1" name="Line 297">
              <a:extLst>
                <a:ext uri="{FF2B5EF4-FFF2-40B4-BE49-F238E27FC236}">
                  <a16:creationId xmlns:a16="http://schemas.microsoft.com/office/drawing/2014/main" id="{A482F5B0-EDA6-419C-BFED-691902E60ABE}"/>
                </a:ext>
              </a:extLst>
            </p:cNvPr>
            <p:cNvSpPr>
              <a:spLocks noChangeShapeType="1"/>
            </p:cNvSpPr>
            <p:nvPr/>
          </p:nvSpPr>
          <p:spPr bwMode="auto">
            <a:xfrm>
              <a:off x="3398838" y="5159375"/>
              <a:ext cx="0" cy="144463"/>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2" name="Rectangle 298">
              <a:extLst>
                <a:ext uri="{FF2B5EF4-FFF2-40B4-BE49-F238E27FC236}">
                  <a16:creationId xmlns:a16="http://schemas.microsoft.com/office/drawing/2014/main" id="{FA05D828-7186-4207-AA35-02A5C5C74DCA}"/>
                </a:ext>
              </a:extLst>
            </p:cNvPr>
            <p:cNvSpPr>
              <a:spLocks noChangeArrowheads="1"/>
            </p:cNvSpPr>
            <p:nvPr/>
          </p:nvSpPr>
          <p:spPr bwMode="auto">
            <a:xfrm>
              <a:off x="2335213" y="5159375"/>
              <a:ext cx="252412" cy="141288"/>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33" name="Rectangle 299">
              <a:extLst>
                <a:ext uri="{FF2B5EF4-FFF2-40B4-BE49-F238E27FC236}">
                  <a16:creationId xmlns:a16="http://schemas.microsoft.com/office/drawing/2014/main" id="{E08B0480-EB81-4A69-B6AA-BFE7D1AB0ADE}"/>
                </a:ext>
              </a:extLst>
            </p:cNvPr>
            <p:cNvSpPr>
              <a:spLocks noChangeArrowheads="1"/>
            </p:cNvSpPr>
            <p:nvPr/>
          </p:nvSpPr>
          <p:spPr bwMode="auto">
            <a:xfrm>
              <a:off x="3076575" y="5149850"/>
              <a:ext cx="322263" cy="141288"/>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eaLnBrk="1" hangingPunct="1"/>
              <a:endParaRPr lang="zh-CN" altLang="zh-CN" sz="2000">
                <a:solidFill>
                  <a:schemeClr val="tx2"/>
                </a:solidFill>
                <a:latin typeface="Comic Sans MS" panose="030F0702030302020204" pitchFamily="66" charset="0"/>
              </a:endParaRPr>
            </a:p>
          </p:txBody>
        </p:sp>
        <p:sp>
          <p:nvSpPr>
            <p:cNvPr id="112734" name="Oval 300">
              <a:extLst>
                <a:ext uri="{FF2B5EF4-FFF2-40B4-BE49-F238E27FC236}">
                  <a16:creationId xmlns:a16="http://schemas.microsoft.com/office/drawing/2014/main" id="{60C3E56D-C0E1-4371-AB0F-A26D6BD82ABE}"/>
                </a:ext>
              </a:extLst>
            </p:cNvPr>
            <p:cNvSpPr>
              <a:spLocks noChangeArrowheads="1"/>
            </p:cNvSpPr>
            <p:nvPr/>
          </p:nvSpPr>
          <p:spPr bwMode="auto">
            <a:xfrm>
              <a:off x="2325688" y="4991100"/>
              <a:ext cx="1063625" cy="273050"/>
            </a:xfrm>
            <a:prstGeom prst="ellipse">
              <a:avLst/>
            </a:prstGeom>
            <a:solidFill>
              <a:srgbClr val="C0C0C0"/>
            </a:solidFill>
            <a:ln w="12700">
              <a:solidFill>
                <a:srgbClr val="808080"/>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nvGrpSpPr>
            <p:cNvPr id="112735" name="Group 301">
              <a:extLst>
                <a:ext uri="{FF2B5EF4-FFF2-40B4-BE49-F238E27FC236}">
                  <a16:creationId xmlns:a16="http://schemas.microsoft.com/office/drawing/2014/main" id="{D86FF281-3885-4D5D-8A36-74DC766E04F5}"/>
                </a:ext>
              </a:extLst>
            </p:cNvPr>
            <p:cNvGrpSpPr>
              <a:grpSpLocks/>
            </p:cNvGrpSpPr>
            <p:nvPr/>
          </p:nvGrpSpPr>
          <p:grpSpPr bwMode="auto">
            <a:xfrm>
              <a:off x="2582863" y="5051425"/>
              <a:ext cx="525462" cy="158750"/>
              <a:chOff x="2848" y="848"/>
              <a:chExt cx="140" cy="98"/>
            </a:xfrm>
          </p:grpSpPr>
          <p:sp>
            <p:nvSpPr>
              <p:cNvPr id="112902" name="Line 302">
                <a:extLst>
                  <a:ext uri="{FF2B5EF4-FFF2-40B4-BE49-F238E27FC236}">
                    <a16:creationId xmlns:a16="http://schemas.microsoft.com/office/drawing/2014/main" id="{E7659EDC-358A-4370-ACEA-4333A2956007}"/>
                  </a:ext>
                </a:extLst>
              </p:cNvPr>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3" name="Line 303">
                <a:extLst>
                  <a:ext uri="{FF2B5EF4-FFF2-40B4-BE49-F238E27FC236}">
                    <a16:creationId xmlns:a16="http://schemas.microsoft.com/office/drawing/2014/main" id="{65545BFD-979D-4B76-BFD5-FB22C34FD9FB}"/>
                  </a:ext>
                </a:extLst>
              </p:cNvPr>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4" name="Line 304">
                <a:extLst>
                  <a:ext uri="{FF2B5EF4-FFF2-40B4-BE49-F238E27FC236}">
                    <a16:creationId xmlns:a16="http://schemas.microsoft.com/office/drawing/2014/main" id="{9F588A2F-7E18-4240-8373-E682C5C6CB14}"/>
                  </a:ext>
                </a:extLst>
              </p:cNvPr>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736" name="Group 305">
              <a:extLst>
                <a:ext uri="{FF2B5EF4-FFF2-40B4-BE49-F238E27FC236}">
                  <a16:creationId xmlns:a16="http://schemas.microsoft.com/office/drawing/2014/main" id="{C8104391-7497-4EF5-A5A0-4994D965BB95}"/>
                </a:ext>
              </a:extLst>
            </p:cNvPr>
            <p:cNvGrpSpPr>
              <a:grpSpLocks/>
            </p:cNvGrpSpPr>
            <p:nvPr/>
          </p:nvGrpSpPr>
          <p:grpSpPr bwMode="auto">
            <a:xfrm flipV="1">
              <a:off x="2582863" y="5048250"/>
              <a:ext cx="525462" cy="158750"/>
              <a:chOff x="2848" y="848"/>
              <a:chExt cx="140" cy="98"/>
            </a:xfrm>
          </p:grpSpPr>
          <p:sp>
            <p:nvSpPr>
              <p:cNvPr id="112899" name="Line 306">
                <a:extLst>
                  <a:ext uri="{FF2B5EF4-FFF2-40B4-BE49-F238E27FC236}">
                    <a16:creationId xmlns:a16="http://schemas.microsoft.com/office/drawing/2014/main" id="{006B8B4E-1BBA-4552-957B-EABA53B61C4F}"/>
                  </a:ext>
                </a:extLst>
              </p:cNvPr>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0" name="Line 307">
                <a:extLst>
                  <a:ext uri="{FF2B5EF4-FFF2-40B4-BE49-F238E27FC236}">
                    <a16:creationId xmlns:a16="http://schemas.microsoft.com/office/drawing/2014/main" id="{261441AB-139E-499E-A946-C323ED1BB61E}"/>
                  </a:ext>
                </a:extLst>
              </p:cNvPr>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1" name="Line 308">
                <a:extLst>
                  <a:ext uri="{FF2B5EF4-FFF2-40B4-BE49-F238E27FC236}">
                    <a16:creationId xmlns:a16="http://schemas.microsoft.com/office/drawing/2014/main" id="{067094E6-FD59-4FB2-9F4E-67DC2E549077}"/>
                  </a:ext>
                </a:extLst>
              </p:cNvPr>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37" name="Line 309">
              <a:extLst>
                <a:ext uri="{FF2B5EF4-FFF2-40B4-BE49-F238E27FC236}">
                  <a16:creationId xmlns:a16="http://schemas.microsoft.com/office/drawing/2014/main" id="{DB9191CA-1641-4A8D-8BD5-2F3732179465}"/>
                </a:ext>
              </a:extLst>
            </p:cNvPr>
            <p:cNvSpPr>
              <a:spLocks noChangeShapeType="1"/>
            </p:cNvSpPr>
            <p:nvPr/>
          </p:nvSpPr>
          <p:spPr bwMode="auto">
            <a:xfrm flipH="1">
              <a:off x="1695450" y="5375275"/>
              <a:ext cx="868363" cy="8112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738" name="Group 310">
              <a:extLst>
                <a:ext uri="{FF2B5EF4-FFF2-40B4-BE49-F238E27FC236}">
                  <a16:creationId xmlns:a16="http://schemas.microsoft.com/office/drawing/2014/main" id="{A557E00A-D17F-4CF7-9CEB-714C2A43E69E}"/>
                </a:ext>
              </a:extLst>
            </p:cNvPr>
            <p:cNvGrpSpPr>
              <a:grpSpLocks/>
            </p:cNvGrpSpPr>
            <p:nvPr/>
          </p:nvGrpSpPr>
          <p:grpSpPr bwMode="auto">
            <a:xfrm rot="8027572">
              <a:off x="2678113" y="4979988"/>
              <a:ext cx="322262" cy="239712"/>
              <a:chOff x="11283" y="10423"/>
              <a:chExt cx="475" cy="374"/>
            </a:xfrm>
          </p:grpSpPr>
          <p:sp>
            <p:nvSpPr>
              <p:cNvPr id="112892" name="Rectangle 311">
                <a:extLst>
                  <a:ext uri="{FF2B5EF4-FFF2-40B4-BE49-F238E27FC236}">
                    <a16:creationId xmlns:a16="http://schemas.microsoft.com/office/drawing/2014/main" id="{8582AC45-5FD1-4F46-8765-3146DAFF86D4}"/>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893" name="Line 312">
                <a:extLst>
                  <a:ext uri="{FF2B5EF4-FFF2-40B4-BE49-F238E27FC236}">
                    <a16:creationId xmlns:a16="http://schemas.microsoft.com/office/drawing/2014/main" id="{2870DEB6-7B60-4C57-8FD3-B67E7EBA6F51}"/>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4" name="Line 313">
                <a:extLst>
                  <a:ext uri="{FF2B5EF4-FFF2-40B4-BE49-F238E27FC236}">
                    <a16:creationId xmlns:a16="http://schemas.microsoft.com/office/drawing/2014/main" id="{81F53990-5E0F-425B-AE39-8F41BC8F1E46}"/>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5" name="Line 314">
                <a:extLst>
                  <a:ext uri="{FF2B5EF4-FFF2-40B4-BE49-F238E27FC236}">
                    <a16:creationId xmlns:a16="http://schemas.microsoft.com/office/drawing/2014/main" id="{4D29F5E4-3841-4C6B-8F7C-5308CA16AEEB}"/>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6" name="Line 315">
                <a:extLst>
                  <a:ext uri="{FF2B5EF4-FFF2-40B4-BE49-F238E27FC236}">
                    <a16:creationId xmlns:a16="http://schemas.microsoft.com/office/drawing/2014/main" id="{0D4CEECC-1923-497E-900E-434ED481FBBE}"/>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7" name="Line 316">
                <a:extLst>
                  <a:ext uri="{FF2B5EF4-FFF2-40B4-BE49-F238E27FC236}">
                    <a16:creationId xmlns:a16="http://schemas.microsoft.com/office/drawing/2014/main" id="{1A13F4CF-5D7D-4015-8A74-C2F544E92766}"/>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8" name="Line 317">
                <a:extLst>
                  <a:ext uri="{FF2B5EF4-FFF2-40B4-BE49-F238E27FC236}">
                    <a16:creationId xmlns:a16="http://schemas.microsoft.com/office/drawing/2014/main" id="{C93F4E8D-4991-49EC-9C2B-9CBAED2D2210}"/>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39" name="Freeform 318">
              <a:extLst>
                <a:ext uri="{FF2B5EF4-FFF2-40B4-BE49-F238E27FC236}">
                  <a16:creationId xmlns:a16="http://schemas.microsoft.com/office/drawing/2014/main" id="{73C009B4-0A24-45AD-A0B4-92E670BB6670}"/>
                </a:ext>
              </a:extLst>
            </p:cNvPr>
            <p:cNvSpPr>
              <a:spLocks/>
            </p:cNvSpPr>
            <p:nvPr/>
          </p:nvSpPr>
          <p:spPr bwMode="auto">
            <a:xfrm>
              <a:off x="1533525" y="3317875"/>
              <a:ext cx="5067300" cy="2933700"/>
            </a:xfrm>
            <a:custGeom>
              <a:avLst/>
              <a:gdLst>
                <a:gd name="T0" fmla="*/ 2147483647 w 7980"/>
                <a:gd name="T1" fmla="*/ 2147483647 h 4620"/>
                <a:gd name="T2" fmla="*/ 2147483647 w 7980"/>
                <a:gd name="T3" fmla="*/ 2147483647 h 4620"/>
                <a:gd name="T4" fmla="*/ 0 w 7980"/>
                <a:gd name="T5" fmla="*/ 2147483647 h 4620"/>
                <a:gd name="T6" fmla="*/ 2147483647 w 7980"/>
                <a:gd name="T7" fmla="*/ 2147483647 h 4620"/>
                <a:gd name="T8" fmla="*/ 2147483647 w 7980"/>
                <a:gd name="T9" fmla="*/ 2147483647 h 4620"/>
                <a:gd name="T10" fmla="*/ 2147483647 w 7980"/>
                <a:gd name="T11" fmla="*/ 0 h 46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80" h="4620">
                  <a:moveTo>
                    <a:pt x="7965" y="3420"/>
                  </a:moveTo>
                  <a:lnTo>
                    <a:pt x="7980" y="4620"/>
                  </a:lnTo>
                  <a:lnTo>
                    <a:pt x="0" y="4605"/>
                  </a:lnTo>
                  <a:lnTo>
                    <a:pt x="3315" y="1485"/>
                  </a:lnTo>
                  <a:lnTo>
                    <a:pt x="2355" y="1455"/>
                  </a:lnTo>
                  <a:lnTo>
                    <a:pt x="2355" y="0"/>
                  </a:lnTo>
                </a:path>
              </a:pathLst>
            </a:custGeom>
            <a:noFill/>
            <a:ln w="38100" cmpd="sng">
              <a:solidFill>
                <a:srgbClr val="FF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740" name="Freeform 319">
              <a:extLst>
                <a:ext uri="{FF2B5EF4-FFF2-40B4-BE49-F238E27FC236}">
                  <a16:creationId xmlns:a16="http://schemas.microsoft.com/office/drawing/2014/main" id="{9AFBE7C9-7585-4234-AA6F-EC4590A961F9}"/>
                </a:ext>
              </a:extLst>
            </p:cNvPr>
            <p:cNvSpPr>
              <a:spLocks/>
            </p:cNvSpPr>
            <p:nvPr/>
          </p:nvSpPr>
          <p:spPr bwMode="auto">
            <a:xfrm>
              <a:off x="1133475" y="3413125"/>
              <a:ext cx="5743575" cy="2886075"/>
            </a:xfrm>
            <a:custGeom>
              <a:avLst/>
              <a:gdLst>
                <a:gd name="T0" fmla="*/ 0 w 9045"/>
                <a:gd name="T1" fmla="*/ 2147483647 h 4545"/>
                <a:gd name="T2" fmla="*/ 0 w 9045"/>
                <a:gd name="T3" fmla="*/ 2147483647 h 4545"/>
                <a:gd name="T4" fmla="*/ 2147483647 w 9045"/>
                <a:gd name="T5" fmla="*/ 2147483647 h 4545"/>
                <a:gd name="T6" fmla="*/ 2147483647 w 9045"/>
                <a:gd name="T7" fmla="*/ 2147483647 h 4545"/>
                <a:gd name="T8" fmla="*/ 2147483647 w 9045"/>
                <a:gd name="T9" fmla="*/ 2147483647 h 4545"/>
                <a:gd name="T10" fmla="*/ 2147483647 w 9045"/>
                <a:gd name="T11" fmla="*/ 2147483647 h 4545"/>
                <a:gd name="T12" fmla="*/ 2147483647 w 9045"/>
                <a:gd name="T13" fmla="*/ 2147483647 h 4545"/>
                <a:gd name="T14" fmla="*/ 2147483647 w 9045"/>
                <a:gd name="T15" fmla="*/ 0 h 4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45" h="4545">
                  <a:moveTo>
                    <a:pt x="0" y="2880"/>
                  </a:moveTo>
                  <a:lnTo>
                    <a:pt x="0" y="4530"/>
                  </a:lnTo>
                  <a:lnTo>
                    <a:pt x="885" y="4545"/>
                  </a:lnTo>
                  <a:lnTo>
                    <a:pt x="3510" y="2010"/>
                  </a:lnTo>
                  <a:lnTo>
                    <a:pt x="7140" y="2055"/>
                  </a:lnTo>
                  <a:lnTo>
                    <a:pt x="8145" y="1020"/>
                  </a:lnTo>
                  <a:lnTo>
                    <a:pt x="9045" y="1020"/>
                  </a:lnTo>
                  <a:lnTo>
                    <a:pt x="9015" y="0"/>
                  </a:lnTo>
                </a:path>
              </a:pathLst>
            </a:custGeom>
            <a:noFill/>
            <a:ln w="38100" cmpd="sng">
              <a:solidFill>
                <a:srgbClr val="00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741" name="Freeform 320">
              <a:extLst>
                <a:ext uri="{FF2B5EF4-FFF2-40B4-BE49-F238E27FC236}">
                  <a16:creationId xmlns:a16="http://schemas.microsoft.com/office/drawing/2014/main" id="{DD9FB610-6F4C-4E01-BC47-608F946B3DD6}"/>
                </a:ext>
              </a:extLst>
            </p:cNvPr>
            <p:cNvSpPr>
              <a:spLocks/>
            </p:cNvSpPr>
            <p:nvPr/>
          </p:nvSpPr>
          <p:spPr bwMode="auto">
            <a:xfrm>
              <a:off x="1257300" y="3460750"/>
              <a:ext cx="5791200" cy="2667000"/>
            </a:xfrm>
            <a:custGeom>
              <a:avLst/>
              <a:gdLst>
                <a:gd name="T0" fmla="*/ 0 w 9120"/>
                <a:gd name="T1" fmla="*/ 2147483647 h 4201"/>
                <a:gd name="T2" fmla="*/ 0 w 9120"/>
                <a:gd name="T3" fmla="*/ 2147483647 h 4201"/>
                <a:gd name="T4" fmla="*/ 2147483647 w 9120"/>
                <a:gd name="T5" fmla="*/ 2147483647 h 4201"/>
                <a:gd name="T6" fmla="*/ 2147483647 w 9120"/>
                <a:gd name="T7" fmla="*/ 2147483647 h 4201"/>
                <a:gd name="T8" fmla="*/ 2147483647 w 9120"/>
                <a:gd name="T9" fmla="*/ 2147483647 h 4201"/>
                <a:gd name="T10" fmla="*/ 2147483647 w 9120"/>
                <a:gd name="T11" fmla="*/ 0 h 42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0" h="4201">
                  <a:moveTo>
                    <a:pt x="0" y="2821"/>
                  </a:moveTo>
                  <a:lnTo>
                    <a:pt x="0" y="4201"/>
                  </a:lnTo>
                  <a:lnTo>
                    <a:pt x="4890" y="4201"/>
                  </a:lnTo>
                  <a:lnTo>
                    <a:pt x="8055" y="1051"/>
                  </a:lnTo>
                  <a:lnTo>
                    <a:pt x="9120" y="1080"/>
                  </a:lnTo>
                  <a:lnTo>
                    <a:pt x="9105" y="0"/>
                  </a:lnTo>
                </a:path>
              </a:pathLst>
            </a:custGeom>
            <a:noFill/>
            <a:ln w="38100" cmpd="sng">
              <a:solidFill>
                <a:srgbClr val="00FF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2742" name="Group 321">
              <a:extLst>
                <a:ext uri="{FF2B5EF4-FFF2-40B4-BE49-F238E27FC236}">
                  <a16:creationId xmlns:a16="http://schemas.microsoft.com/office/drawing/2014/main" id="{55BAF87B-B276-4726-A2A9-61DB23B9FD98}"/>
                </a:ext>
              </a:extLst>
            </p:cNvPr>
            <p:cNvGrpSpPr>
              <a:grpSpLocks/>
            </p:cNvGrpSpPr>
            <p:nvPr/>
          </p:nvGrpSpPr>
          <p:grpSpPr bwMode="auto">
            <a:xfrm>
              <a:off x="1087438" y="5213350"/>
              <a:ext cx="90487" cy="271463"/>
              <a:chOff x="10104" y="10005"/>
              <a:chExt cx="137" cy="411"/>
            </a:xfrm>
          </p:grpSpPr>
          <p:sp>
            <p:nvSpPr>
              <p:cNvPr id="112890" name="Oval 322">
                <a:extLst>
                  <a:ext uri="{FF2B5EF4-FFF2-40B4-BE49-F238E27FC236}">
                    <a16:creationId xmlns:a16="http://schemas.microsoft.com/office/drawing/2014/main" id="{7335502B-FEEA-4085-821C-0A8A42518280}"/>
                  </a:ext>
                </a:extLst>
              </p:cNvPr>
              <p:cNvSpPr>
                <a:spLocks noChangeArrowheads="1"/>
              </p:cNvSpPr>
              <p:nvPr/>
            </p:nvSpPr>
            <p:spPr bwMode="auto">
              <a:xfrm>
                <a:off x="10104" y="10005"/>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891" name="Oval 323">
                <a:extLst>
                  <a:ext uri="{FF2B5EF4-FFF2-40B4-BE49-F238E27FC236}">
                    <a16:creationId xmlns:a16="http://schemas.microsoft.com/office/drawing/2014/main" id="{4C03592A-10FA-4E7D-B784-CE0CD0E1F7FB}"/>
                  </a:ext>
                </a:extLst>
              </p:cNvPr>
              <p:cNvSpPr>
                <a:spLocks noChangeArrowheads="1"/>
              </p:cNvSpPr>
              <p:nvPr/>
            </p:nvSpPr>
            <p:spPr bwMode="auto">
              <a:xfrm>
                <a:off x="10104" y="10278"/>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grpSp>
          <p:nvGrpSpPr>
            <p:cNvPr id="112743" name="Group 324">
              <a:extLst>
                <a:ext uri="{FF2B5EF4-FFF2-40B4-BE49-F238E27FC236}">
                  <a16:creationId xmlns:a16="http://schemas.microsoft.com/office/drawing/2014/main" id="{E22F0EE0-B2AA-47AA-93FC-1D7D65D6D026}"/>
                </a:ext>
              </a:extLst>
            </p:cNvPr>
            <p:cNvGrpSpPr>
              <a:grpSpLocks/>
            </p:cNvGrpSpPr>
            <p:nvPr/>
          </p:nvGrpSpPr>
          <p:grpSpPr bwMode="auto">
            <a:xfrm>
              <a:off x="6543675" y="5449888"/>
              <a:ext cx="92075" cy="271462"/>
              <a:chOff x="10104" y="10005"/>
              <a:chExt cx="137" cy="411"/>
            </a:xfrm>
          </p:grpSpPr>
          <p:sp>
            <p:nvSpPr>
              <p:cNvPr id="112888" name="Oval 325">
                <a:extLst>
                  <a:ext uri="{FF2B5EF4-FFF2-40B4-BE49-F238E27FC236}">
                    <a16:creationId xmlns:a16="http://schemas.microsoft.com/office/drawing/2014/main" id="{BDBCC6C7-43A7-4F77-8C13-FE7BDF8CF9C7}"/>
                  </a:ext>
                </a:extLst>
              </p:cNvPr>
              <p:cNvSpPr>
                <a:spLocks noChangeArrowheads="1"/>
              </p:cNvSpPr>
              <p:nvPr/>
            </p:nvSpPr>
            <p:spPr bwMode="auto">
              <a:xfrm>
                <a:off x="10104" y="10005"/>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889" name="Oval 326">
                <a:extLst>
                  <a:ext uri="{FF2B5EF4-FFF2-40B4-BE49-F238E27FC236}">
                    <a16:creationId xmlns:a16="http://schemas.microsoft.com/office/drawing/2014/main" id="{51E77336-EFD0-4852-8844-9EDD720C37D4}"/>
                  </a:ext>
                </a:extLst>
              </p:cNvPr>
              <p:cNvSpPr>
                <a:spLocks noChangeArrowheads="1"/>
              </p:cNvSpPr>
              <p:nvPr/>
            </p:nvSpPr>
            <p:spPr bwMode="auto">
              <a:xfrm>
                <a:off x="10104" y="10278"/>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grpSp>
          <p:nvGrpSpPr>
            <p:cNvPr id="112744" name="Group 327">
              <a:extLst>
                <a:ext uri="{FF2B5EF4-FFF2-40B4-BE49-F238E27FC236}">
                  <a16:creationId xmlns:a16="http://schemas.microsoft.com/office/drawing/2014/main" id="{A142E3E2-0C96-4F68-BC5D-AE2B0319EA83}"/>
                </a:ext>
              </a:extLst>
            </p:cNvPr>
            <p:cNvGrpSpPr>
              <a:grpSpLocks/>
            </p:cNvGrpSpPr>
            <p:nvPr/>
          </p:nvGrpSpPr>
          <p:grpSpPr bwMode="auto">
            <a:xfrm>
              <a:off x="6991350" y="3392488"/>
              <a:ext cx="90488" cy="271462"/>
              <a:chOff x="10104" y="10005"/>
              <a:chExt cx="137" cy="411"/>
            </a:xfrm>
          </p:grpSpPr>
          <p:sp>
            <p:nvSpPr>
              <p:cNvPr id="112886" name="Oval 328">
                <a:extLst>
                  <a:ext uri="{FF2B5EF4-FFF2-40B4-BE49-F238E27FC236}">
                    <a16:creationId xmlns:a16="http://schemas.microsoft.com/office/drawing/2014/main" id="{43474FEB-3FE6-4675-9DC8-4FDDB91823FC}"/>
                  </a:ext>
                </a:extLst>
              </p:cNvPr>
              <p:cNvSpPr>
                <a:spLocks noChangeArrowheads="1"/>
              </p:cNvSpPr>
              <p:nvPr/>
            </p:nvSpPr>
            <p:spPr bwMode="auto">
              <a:xfrm>
                <a:off x="10104" y="10005"/>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12887" name="Oval 329">
                <a:extLst>
                  <a:ext uri="{FF2B5EF4-FFF2-40B4-BE49-F238E27FC236}">
                    <a16:creationId xmlns:a16="http://schemas.microsoft.com/office/drawing/2014/main" id="{1035655D-94E5-4936-A3A7-3E7429E7B04F}"/>
                  </a:ext>
                </a:extLst>
              </p:cNvPr>
              <p:cNvSpPr>
                <a:spLocks noChangeArrowheads="1"/>
              </p:cNvSpPr>
              <p:nvPr/>
            </p:nvSpPr>
            <p:spPr bwMode="auto">
              <a:xfrm>
                <a:off x="10104" y="10278"/>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grpSp>
        <p:sp>
          <p:nvSpPr>
            <p:cNvPr id="112747" name="Text Box 335">
              <a:extLst>
                <a:ext uri="{FF2B5EF4-FFF2-40B4-BE49-F238E27FC236}">
                  <a16:creationId xmlns:a16="http://schemas.microsoft.com/office/drawing/2014/main" id="{45050746-12D9-4EE1-BCA7-AF279F59B5B2}"/>
                </a:ext>
              </a:extLst>
            </p:cNvPr>
            <p:cNvSpPr txBox="1">
              <a:spLocks noChangeArrowheads="1"/>
            </p:cNvSpPr>
            <p:nvPr/>
          </p:nvSpPr>
          <p:spPr bwMode="auto">
            <a:xfrm>
              <a:off x="6735763" y="3055938"/>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 B</a:t>
              </a:r>
            </a:p>
          </p:txBody>
        </p:sp>
        <p:sp>
          <p:nvSpPr>
            <p:cNvPr id="112748" name="Text Box 336">
              <a:extLst>
                <a:ext uri="{FF2B5EF4-FFF2-40B4-BE49-F238E27FC236}">
                  <a16:creationId xmlns:a16="http://schemas.microsoft.com/office/drawing/2014/main" id="{4FC4AC7F-D6A9-46F2-A7F7-DF13BAE0B3E5}"/>
                </a:ext>
              </a:extLst>
            </p:cNvPr>
            <p:cNvSpPr txBox="1">
              <a:spLocks noChangeArrowheads="1"/>
            </p:cNvSpPr>
            <p:nvPr/>
          </p:nvSpPr>
          <p:spPr bwMode="auto">
            <a:xfrm>
              <a:off x="6188075" y="5116513"/>
              <a:ext cx="73501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 C</a:t>
              </a:r>
            </a:p>
          </p:txBody>
        </p:sp>
        <p:sp>
          <p:nvSpPr>
            <p:cNvPr id="112749" name="Text Box 337">
              <a:extLst>
                <a:ext uri="{FF2B5EF4-FFF2-40B4-BE49-F238E27FC236}">
                  <a16:creationId xmlns:a16="http://schemas.microsoft.com/office/drawing/2014/main" id="{54A586C3-2AE7-4834-9CD8-286514301F2B}"/>
                </a:ext>
              </a:extLst>
            </p:cNvPr>
            <p:cNvSpPr txBox="1">
              <a:spLocks noChangeArrowheads="1"/>
            </p:cNvSpPr>
            <p:nvPr/>
          </p:nvSpPr>
          <p:spPr bwMode="auto">
            <a:xfrm>
              <a:off x="750888" y="4873625"/>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eaLnBrk="1" hangingPunct="1"/>
              <a:r>
                <a:rPr lang="zh-CN" altLang="en-US" sz="1400" dirty="0">
                  <a:solidFill>
                    <a:schemeClr val="tx2"/>
                  </a:solidFill>
                  <a:latin typeface="Arial" panose="020B0604020202020204" pitchFamily="34" charset="0"/>
                </a:rPr>
                <a:t>主机</a:t>
              </a:r>
              <a:r>
                <a:rPr lang="en-US" altLang="zh-CN" sz="1400" dirty="0">
                  <a:solidFill>
                    <a:schemeClr val="tx2"/>
                  </a:solidFill>
                  <a:latin typeface="Arial" panose="020B0604020202020204" pitchFamily="34" charset="0"/>
                </a:rPr>
                <a:t> D</a:t>
              </a:r>
            </a:p>
          </p:txBody>
        </p:sp>
        <p:sp>
          <p:nvSpPr>
            <p:cNvPr id="112750" name="Text Box 338">
              <a:extLst>
                <a:ext uri="{FF2B5EF4-FFF2-40B4-BE49-F238E27FC236}">
                  <a16:creationId xmlns:a16="http://schemas.microsoft.com/office/drawing/2014/main" id="{F0A9ABC4-9BD9-4389-B5CA-4C824498EEA8}"/>
                </a:ext>
              </a:extLst>
            </p:cNvPr>
            <p:cNvSpPr txBox="1">
              <a:spLocks noChangeArrowheads="1"/>
            </p:cNvSpPr>
            <p:nvPr/>
          </p:nvSpPr>
          <p:spPr bwMode="auto">
            <a:xfrm>
              <a:off x="3536950" y="2911475"/>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2000" dirty="0" err="1">
                  <a:solidFill>
                    <a:srgbClr val="FF0000"/>
                  </a:solidFill>
                  <a:latin typeface="Symbol" panose="05050102010706020507" pitchFamily="18" charset="2"/>
                </a:rPr>
                <a:t>l</a:t>
              </a:r>
              <a:r>
                <a:rPr lang="en-US" altLang="zh-CN" sz="2000" baseline="-25000" dirty="0" err="1">
                  <a:solidFill>
                    <a:srgbClr val="FF0000"/>
                  </a:solidFill>
                  <a:latin typeface="Arial" panose="020B0604020202020204" pitchFamily="34" charset="0"/>
                </a:rPr>
                <a:t>in</a:t>
              </a:r>
              <a:r>
                <a:rPr lang="en-US" altLang="zh-CN"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a:t>
              </a:r>
              <a:endParaRPr lang="en-US" altLang="zh-CN" dirty="0">
                <a:solidFill>
                  <a:schemeClr val="tx2"/>
                </a:solidFill>
                <a:latin typeface="Comic Sans MS" panose="030F0702030302020204" pitchFamily="66" charset="0"/>
              </a:endParaRPr>
            </a:p>
          </p:txBody>
        </p:sp>
        <p:sp>
          <p:nvSpPr>
            <p:cNvPr id="112751" name="Line 340">
              <a:extLst>
                <a:ext uri="{FF2B5EF4-FFF2-40B4-BE49-F238E27FC236}">
                  <a16:creationId xmlns:a16="http://schemas.microsoft.com/office/drawing/2014/main" id="{E15C803A-CFD2-48A1-8466-E2074CDB2936}"/>
                </a:ext>
              </a:extLst>
            </p:cNvPr>
            <p:cNvSpPr>
              <a:spLocks noChangeShapeType="1"/>
            </p:cNvSpPr>
            <p:nvPr/>
          </p:nvSpPr>
          <p:spPr bwMode="auto">
            <a:xfrm>
              <a:off x="5013325" y="3479800"/>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52" name="Text Box 341">
              <a:extLst>
                <a:ext uri="{FF2B5EF4-FFF2-40B4-BE49-F238E27FC236}">
                  <a16:creationId xmlns:a16="http://schemas.microsoft.com/office/drawing/2014/main" id="{48035FFA-98DC-4F46-BF3A-A1C0281F4423}"/>
                </a:ext>
              </a:extLst>
            </p:cNvPr>
            <p:cNvSpPr txBox="1">
              <a:spLocks noChangeArrowheads="1"/>
            </p:cNvSpPr>
            <p:nvPr/>
          </p:nvSpPr>
          <p:spPr bwMode="auto">
            <a:xfrm>
              <a:off x="3419474" y="3240088"/>
              <a:ext cx="2601267"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r"/>
              <a:r>
                <a:rPr lang="en-US" altLang="zh-CN" sz="2000" dirty="0" err="1">
                  <a:solidFill>
                    <a:srgbClr val="FF0000"/>
                  </a:solidFill>
                  <a:latin typeface="Symbol" panose="05050102010706020507" pitchFamily="18" charset="2"/>
                </a:rPr>
                <a:t>l</a:t>
              </a:r>
              <a:r>
                <a:rPr lang="en-US" altLang="zh-CN" sz="2000" dirty="0" err="1">
                  <a:solidFill>
                    <a:srgbClr val="FF0000"/>
                  </a:solidFill>
                  <a:latin typeface="Arial" panose="020B0604020202020204" pitchFamily="34" charset="0"/>
                </a:rPr>
                <a:t>’</a:t>
              </a:r>
              <a:r>
                <a:rPr lang="en-US" altLang="zh-CN" sz="2000" baseline="-25000" dirty="0" err="1">
                  <a:solidFill>
                    <a:srgbClr val="FF0000"/>
                  </a:solidFill>
                  <a:latin typeface="Arial" panose="020B0604020202020204" pitchFamily="34" charset="0"/>
                </a:rPr>
                <a:t>in</a:t>
              </a:r>
              <a:r>
                <a:rPr lang="en-US" altLang="zh-CN" sz="1800" dirty="0">
                  <a:solidFill>
                    <a:srgbClr val="FF0000"/>
                  </a:solidFill>
                  <a:latin typeface="Arial" panose="020B0604020202020204" pitchFamily="34" charset="0"/>
                </a:rPr>
                <a:t>: </a:t>
              </a:r>
              <a:r>
                <a:rPr lang="zh-CN" altLang="en-US" dirty="0">
                  <a:solidFill>
                    <a:srgbClr val="2A09B7"/>
                  </a:solidFill>
                  <a:latin typeface="Arial" panose="020B0604020202020204" pitchFamily="34" charset="0"/>
                </a:rPr>
                <a:t>原始数据加重传数据</a:t>
              </a:r>
              <a:endParaRPr lang="en-US" altLang="zh-CN" dirty="0">
                <a:solidFill>
                  <a:srgbClr val="2A09B7"/>
                </a:solidFill>
                <a:latin typeface="Arial" panose="020B0604020202020204" pitchFamily="34" charset="0"/>
              </a:endParaRPr>
            </a:p>
          </p:txBody>
        </p:sp>
        <p:grpSp>
          <p:nvGrpSpPr>
            <p:cNvPr id="112754" name="Group 358">
              <a:extLst>
                <a:ext uri="{FF2B5EF4-FFF2-40B4-BE49-F238E27FC236}">
                  <a16:creationId xmlns:a16="http://schemas.microsoft.com/office/drawing/2014/main" id="{DC5EB916-7B55-4363-9D38-408500F7AA72}"/>
                </a:ext>
              </a:extLst>
            </p:cNvPr>
            <p:cNvGrpSpPr>
              <a:grpSpLocks/>
            </p:cNvGrpSpPr>
            <p:nvPr/>
          </p:nvGrpSpPr>
          <p:grpSpPr bwMode="auto">
            <a:xfrm>
              <a:off x="7429500" y="4146550"/>
              <a:ext cx="231775" cy="441325"/>
              <a:chOff x="4140" y="429"/>
              <a:chExt cx="1425" cy="2396"/>
            </a:xfrm>
          </p:grpSpPr>
          <p:sp>
            <p:nvSpPr>
              <p:cNvPr id="112854" name="Freeform 359">
                <a:extLst>
                  <a:ext uri="{FF2B5EF4-FFF2-40B4-BE49-F238E27FC236}">
                    <a16:creationId xmlns:a16="http://schemas.microsoft.com/office/drawing/2014/main" id="{86952059-FF5B-4668-8DF1-0DDE560343F0}"/>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48" name="Rectangle 360">
                <a:extLst>
                  <a:ext uri="{FF2B5EF4-FFF2-40B4-BE49-F238E27FC236}">
                    <a16:creationId xmlns:a16="http://schemas.microsoft.com/office/drawing/2014/main" id="{BA842775-7A93-41DF-B3DD-6D334D22E25C}"/>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56" name="Freeform 361">
                <a:extLst>
                  <a:ext uri="{FF2B5EF4-FFF2-40B4-BE49-F238E27FC236}">
                    <a16:creationId xmlns:a16="http://schemas.microsoft.com/office/drawing/2014/main" id="{3DFCBC96-F918-456F-A42A-77354336DD2D}"/>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7" name="Freeform 362">
                <a:extLst>
                  <a:ext uri="{FF2B5EF4-FFF2-40B4-BE49-F238E27FC236}">
                    <a16:creationId xmlns:a16="http://schemas.microsoft.com/office/drawing/2014/main" id="{F80738F5-5906-4844-9417-526BB84F4E82}"/>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51" name="Rectangle 363">
                <a:extLst>
                  <a:ext uri="{FF2B5EF4-FFF2-40B4-BE49-F238E27FC236}">
                    <a16:creationId xmlns:a16="http://schemas.microsoft.com/office/drawing/2014/main" id="{214DC313-67B9-4700-AE83-56E710CC0F26}"/>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59" name="Group 364">
                <a:extLst>
                  <a:ext uri="{FF2B5EF4-FFF2-40B4-BE49-F238E27FC236}">
                    <a16:creationId xmlns:a16="http://schemas.microsoft.com/office/drawing/2014/main" id="{114D9746-FCAF-48D6-B943-39DEA692586D}"/>
                  </a:ext>
                </a:extLst>
              </p:cNvPr>
              <p:cNvGrpSpPr>
                <a:grpSpLocks/>
              </p:cNvGrpSpPr>
              <p:nvPr/>
            </p:nvGrpSpPr>
            <p:grpSpPr bwMode="auto">
              <a:xfrm>
                <a:off x="4749" y="668"/>
                <a:ext cx="581" cy="145"/>
                <a:chOff x="614" y="2568"/>
                <a:chExt cx="725" cy="139"/>
              </a:xfrm>
            </p:grpSpPr>
            <p:sp>
              <p:nvSpPr>
                <p:cNvPr id="95477" name="AutoShape 365">
                  <a:extLst>
                    <a:ext uri="{FF2B5EF4-FFF2-40B4-BE49-F238E27FC236}">
                      <a16:creationId xmlns:a16="http://schemas.microsoft.com/office/drawing/2014/main" id="{F548B483-B26E-4E06-9767-8C9DD203E1A9}"/>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78" name="AutoShape 366">
                  <a:extLst>
                    <a:ext uri="{FF2B5EF4-FFF2-40B4-BE49-F238E27FC236}">
                      <a16:creationId xmlns:a16="http://schemas.microsoft.com/office/drawing/2014/main" id="{173A1ABE-75A1-49F2-83E5-EC8250B0ABB3}"/>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53" name="Rectangle 367">
                <a:extLst>
                  <a:ext uri="{FF2B5EF4-FFF2-40B4-BE49-F238E27FC236}">
                    <a16:creationId xmlns:a16="http://schemas.microsoft.com/office/drawing/2014/main" id="{086EF6AC-60B9-4CEE-92BD-14FB1ADCDF2B}"/>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61" name="Group 368">
                <a:extLst>
                  <a:ext uri="{FF2B5EF4-FFF2-40B4-BE49-F238E27FC236}">
                    <a16:creationId xmlns:a16="http://schemas.microsoft.com/office/drawing/2014/main" id="{BF181FD4-B038-40A2-B399-CC600F8DC1CA}"/>
                  </a:ext>
                </a:extLst>
              </p:cNvPr>
              <p:cNvGrpSpPr>
                <a:grpSpLocks/>
              </p:cNvGrpSpPr>
              <p:nvPr/>
            </p:nvGrpSpPr>
            <p:grpSpPr bwMode="auto">
              <a:xfrm>
                <a:off x="4747" y="994"/>
                <a:ext cx="581" cy="134"/>
                <a:chOff x="614" y="2568"/>
                <a:chExt cx="725" cy="139"/>
              </a:xfrm>
            </p:grpSpPr>
            <p:sp>
              <p:nvSpPr>
                <p:cNvPr id="95475" name="AutoShape 369">
                  <a:extLst>
                    <a:ext uri="{FF2B5EF4-FFF2-40B4-BE49-F238E27FC236}">
                      <a16:creationId xmlns:a16="http://schemas.microsoft.com/office/drawing/2014/main" id="{E7E9A3B3-2132-45CF-BE76-71FFAB3510EF}"/>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76" name="AutoShape 370">
                  <a:extLst>
                    <a:ext uri="{FF2B5EF4-FFF2-40B4-BE49-F238E27FC236}">
                      <a16:creationId xmlns:a16="http://schemas.microsoft.com/office/drawing/2014/main" id="{35BE99A4-192D-43FF-B7FD-3BF5A160D072}"/>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55" name="Rectangle 371">
                <a:extLst>
                  <a:ext uri="{FF2B5EF4-FFF2-40B4-BE49-F238E27FC236}">
                    <a16:creationId xmlns:a16="http://schemas.microsoft.com/office/drawing/2014/main" id="{B734F92D-CE39-4650-A8FA-9D7F31ED7FE3}"/>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56" name="Rectangle 372">
                <a:extLst>
                  <a:ext uri="{FF2B5EF4-FFF2-40B4-BE49-F238E27FC236}">
                    <a16:creationId xmlns:a16="http://schemas.microsoft.com/office/drawing/2014/main" id="{62F4013F-25D9-4162-9B28-34E1090BE4ED}"/>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64" name="Group 373">
                <a:extLst>
                  <a:ext uri="{FF2B5EF4-FFF2-40B4-BE49-F238E27FC236}">
                    <a16:creationId xmlns:a16="http://schemas.microsoft.com/office/drawing/2014/main" id="{80C8E1C2-432B-4846-A125-034F5F8FFF33}"/>
                  </a:ext>
                </a:extLst>
              </p:cNvPr>
              <p:cNvGrpSpPr>
                <a:grpSpLocks/>
              </p:cNvGrpSpPr>
              <p:nvPr/>
            </p:nvGrpSpPr>
            <p:grpSpPr bwMode="auto">
              <a:xfrm>
                <a:off x="4735" y="1627"/>
                <a:ext cx="582" cy="151"/>
                <a:chOff x="614" y="2568"/>
                <a:chExt cx="725" cy="139"/>
              </a:xfrm>
            </p:grpSpPr>
            <p:sp>
              <p:nvSpPr>
                <p:cNvPr id="95473" name="AutoShape 374">
                  <a:extLst>
                    <a:ext uri="{FF2B5EF4-FFF2-40B4-BE49-F238E27FC236}">
                      <a16:creationId xmlns:a16="http://schemas.microsoft.com/office/drawing/2014/main" id="{18663BD7-337B-4069-91E3-CE62C0F2515D}"/>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74" name="AutoShape 375">
                  <a:extLst>
                    <a:ext uri="{FF2B5EF4-FFF2-40B4-BE49-F238E27FC236}">
                      <a16:creationId xmlns:a16="http://schemas.microsoft.com/office/drawing/2014/main" id="{82EC63DE-C85E-46AC-8348-2EFFA6EBA8B0}"/>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12865" name="Freeform 376">
                <a:extLst>
                  <a:ext uri="{FF2B5EF4-FFF2-40B4-BE49-F238E27FC236}">
                    <a16:creationId xmlns:a16="http://schemas.microsoft.com/office/drawing/2014/main" id="{6DAB92F9-6087-4379-A3F2-197F3BE1EF45}"/>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866" name="Group 377">
                <a:extLst>
                  <a:ext uri="{FF2B5EF4-FFF2-40B4-BE49-F238E27FC236}">
                    <a16:creationId xmlns:a16="http://schemas.microsoft.com/office/drawing/2014/main" id="{DEB05BFF-9877-40D8-8B2C-3CCD570FCEA0}"/>
                  </a:ext>
                </a:extLst>
              </p:cNvPr>
              <p:cNvGrpSpPr>
                <a:grpSpLocks/>
              </p:cNvGrpSpPr>
              <p:nvPr/>
            </p:nvGrpSpPr>
            <p:grpSpPr bwMode="auto">
              <a:xfrm>
                <a:off x="4739" y="1327"/>
                <a:ext cx="582" cy="139"/>
                <a:chOff x="614" y="2568"/>
                <a:chExt cx="725" cy="139"/>
              </a:xfrm>
            </p:grpSpPr>
            <p:sp>
              <p:nvSpPr>
                <p:cNvPr id="95471" name="AutoShape 378">
                  <a:extLst>
                    <a:ext uri="{FF2B5EF4-FFF2-40B4-BE49-F238E27FC236}">
                      <a16:creationId xmlns:a16="http://schemas.microsoft.com/office/drawing/2014/main" id="{47588066-0441-4082-AD92-039A033FEE47}"/>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72" name="AutoShape 379">
                  <a:extLst>
                    <a:ext uri="{FF2B5EF4-FFF2-40B4-BE49-F238E27FC236}">
                      <a16:creationId xmlns:a16="http://schemas.microsoft.com/office/drawing/2014/main" id="{FB7E7970-A217-4B6D-9CF9-6143D895F537}"/>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60" name="Rectangle 380">
                <a:extLst>
                  <a:ext uri="{FF2B5EF4-FFF2-40B4-BE49-F238E27FC236}">
                    <a16:creationId xmlns:a16="http://schemas.microsoft.com/office/drawing/2014/main" id="{173F3A3F-04BF-4261-A8F1-23D2CAB6718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68" name="Freeform 381">
                <a:extLst>
                  <a:ext uri="{FF2B5EF4-FFF2-40B4-BE49-F238E27FC236}">
                    <a16:creationId xmlns:a16="http://schemas.microsoft.com/office/drawing/2014/main" id="{AFAD3A99-4CDE-4410-83FF-35CAC8A3F3BB}"/>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69" name="Freeform 382">
                <a:extLst>
                  <a:ext uri="{FF2B5EF4-FFF2-40B4-BE49-F238E27FC236}">
                    <a16:creationId xmlns:a16="http://schemas.microsoft.com/office/drawing/2014/main" id="{7FF58F02-C095-43EA-ACBD-2D9706ED5182}"/>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63" name="Oval 383">
                <a:extLst>
                  <a:ext uri="{FF2B5EF4-FFF2-40B4-BE49-F238E27FC236}">
                    <a16:creationId xmlns:a16="http://schemas.microsoft.com/office/drawing/2014/main" id="{802DBDDA-CC12-4CC1-A43C-EA8B887070F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71" name="Freeform 384">
                <a:extLst>
                  <a:ext uri="{FF2B5EF4-FFF2-40B4-BE49-F238E27FC236}">
                    <a16:creationId xmlns:a16="http://schemas.microsoft.com/office/drawing/2014/main" id="{63DEF8E7-8FEE-42A3-B0DA-330BC447F60A}"/>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65" name="AutoShape 385">
                <a:extLst>
                  <a:ext uri="{FF2B5EF4-FFF2-40B4-BE49-F238E27FC236}">
                    <a16:creationId xmlns:a16="http://schemas.microsoft.com/office/drawing/2014/main" id="{1DA69B09-4292-408A-B1B2-8C0BE5F38471}"/>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66" name="AutoShape 386">
                <a:extLst>
                  <a:ext uri="{FF2B5EF4-FFF2-40B4-BE49-F238E27FC236}">
                    <a16:creationId xmlns:a16="http://schemas.microsoft.com/office/drawing/2014/main" id="{D54B768F-2C77-4CF6-A6C4-020F5DBB3776}"/>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67" name="Oval 387">
                <a:extLst>
                  <a:ext uri="{FF2B5EF4-FFF2-40B4-BE49-F238E27FC236}">
                    <a16:creationId xmlns:a16="http://schemas.microsoft.com/office/drawing/2014/main" id="{E6968285-FEAE-479F-BF62-9237686045EC}"/>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68" name="Oval 388">
                <a:extLst>
                  <a:ext uri="{FF2B5EF4-FFF2-40B4-BE49-F238E27FC236}">
                    <a16:creationId xmlns:a16="http://schemas.microsoft.com/office/drawing/2014/main" id="{D20A6C61-566F-4E4C-8254-D7DA8E20FBA2}"/>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95469" name="Oval 389">
                <a:extLst>
                  <a:ext uri="{FF2B5EF4-FFF2-40B4-BE49-F238E27FC236}">
                    <a16:creationId xmlns:a16="http://schemas.microsoft.com/office/drawing/2014/main" id="{C1D866A5-69A9-45AD-B897-ACCA1C8C54F7}"/>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70" name="Rectangle 390">
                <a:extLst>
                  <a:ext uri="{FF2B5EF4-FFF2-40B4-BE49-F238E27FC236}">
                    <a16:creationId xmlns:a16="http://schemas.microsoft.com/office/drawing/2014/main" id="{9CA4BFB6-58AF-4253-9D45-079EFCD3FDDB}"/>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12755" name="Group 391">
              <a:extLst>
                <a:ext uri="{FF2B5EF4-FFF2-40B4-BE49-F238E27FC236}">
                  <a16:creationId xmlns:a16="http://schemas.microsoft.com/office/drawing/2014/main" id="{4F0DF2FD-9173-4BE3-994D-13274FD5425E}"/>
                </a:ext>
              </a:extLst>
            </p:cNvPr>
            <p:cNvGrpSpPr>
              <a:grpSpLocks/>
            </p:cNvGrpSpPr>
            <p:nvPr/>
          </p:nvGrpSpPr>
          <p:grpSpPr bwMode="auto">
            <a:xfrm>
              <a:off x="6950075" y="6003925"/>
              <a:ext cx="231775" cy="441325"/>
              <a:chOff x="4140" y="429"/>
              <a:chExt cx="1425" cy="2396"/>
            </a:xfrm>
          </p:grpSpPr>
          <p:sp>
            <p:nvSpPr>
              <p:cNvPr id="112822" name="Freeform 392">
                <a:extLst>
                  <a:ext uri="{FF2B5EF4-FFF2-40B4-BE49-F238E27FC236}">
                    <a16:creationId xmlns:a16="http://schemas.microsoft.com/office/drawing/2014/main" id="{D8F5FFAD-ED70-4999-BA64-B3037DEAF100}"/>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16" name="Rectangle 393">
                <a:extLst>
                  <a:ext uri="{FF2B5EF4-FFF2-40B4-BE49-F238E27FC236}">
                    <a16:creationId xmlns:a16="http://schemas.microsoft.com/office/drawing/2014/main" id="{D34B993F-5054-4F33-B5BD-AD8534D9C3D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24" name="Freeform 394">
                <a:extLst>
                  <a:ext uri="{FF2B5EF4-FFF2-40B4-BE49-F238E27FC236}">
                    <a16:creationId xmlns:a16="http://schemas.microsoft.com/office/drawing/2014/main" id="{6D4C20D0-C308-4070-9D9A-4C70D93349E4}"/>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25" name="Freeform 395">
                <a:extLst>
                  <a:ext uri="{FF2B5EF4-FFF2-40B4-BE49-F238E27FC236}">
                    <a16:creationId xmlns:a16="http://schemas.microsoft.com/office/drawing/2014/main" id="{7780DB69-97C0-4688-A15B-E991B1FB4A6B}"/>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19" name="Rectangle 396">
                <a:extLst>
                  <a:ext uri="{FF2B5EF4-FFF2-40B4-BE49-F238E27FC236}">
                    <a16:creationId xmlns:a16="http://schemas.microsoft.com/office/drawing/2014/main" id="{6AE85795-15D1-4455-9082-99F7C087B4C9}"/>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27" name="Group 397">
                <a:extLst>
                  <a:ext uri="{FF2B5EF4-FFF2-40B4-BE49-F238E27FC236}">
                    <a16:creationId xmlns:a16="http://schemas.microsoft.com/office/drawing/2014/main" id="{E1E5C1AC-4098-4D7D-B8C4-6B41F8793111}"/>
                  </a:ext>
                </a:extLst>
              </p:cNvPr>
              <p:cNvGrpSpPr>
                <a:grpSpLocks/>
              </p:cNvGrpSpPr>
              <p:nvPr/>
            </p:nvGrpSpPr>
            <p:grpSpPr bwMode="auto">
              <a:xfrm>
                <a:off x="4749" y="668"/>
                <a:ext cx="581" cy="145"/>
                <a:chOff x="614" y="2568"/>
                <a:chExt cx="725" cy="139"/>
              </a:xfrm>
            </p:grpSpPr>
            <p:sp>
              <p:nvSpPr>
                <p:cNvPr id="95445" name="AutoShape 398">
                  <a:extLst>
                    <a:ext uri="{FF2B5EF4-FFF2-40B4-BE49-F238E27FC236}">
                      <a16:creationId xmlns:a16="http://schemas.microsoft.com/office/drawing/2014/main" id="{B02E5124-8DFF-41D2-839E-3E89037FF4E3}"/>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46" name="AutoShape 399">
                  <a:extLst>
                    <a:ext uri="{FF2B5EF4-FFF2-40B4-BE49-F238E27FC236}">
                      <a16:creationId xmlns:a16="http://schemas.microsoft.com/office/drawing/2014/main" id="{3AE7FF31-4220-4D36-AE5B-1CFB5C309F9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21" name="Rectangle 400">
                <a:extLst>
                  <a:ext uri="{FF2B5EF4-FFF2-40B4-BE49-F238E27FC236}">
                    <a16:creationId xmlns:a16="http://schemas.microsoft.com/office/drawing/2014/main" id="{49C05596-D6F5-4856-9BB1-226E4449E7E7}"/>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29" name="Group 401">
                <a:extLst>
                  <a:ext uri="{FF2B5EF4-FFF2-40B4-BE49-F238E27FC236}">
                    <a16:creationId xmlns:a16="http://schemas.microsoft.com/office/drawing/2014/main" id="{B3534BB6-6D4C-4E6F-AAE2-4F70A3950101}"/>
                  </a:ext>
                </a:extLst>
              </p:cNvPr>
              <p:cNvGrpSpPr>
                <a:grpSpLocks/>
              </p:cNvGrpSpPr>
              <p:nvPr/>
            </p:nvGrpSpPr>
            <p:grpSpPr bwMode="auto">
              <a:xfrm>
                <a:off x="4747" y="994"/>
                <a:ext cx="581" cy="134"/>
                <a:chOff x="614" y="2568"/>
                <a:chExt cx="725" cy="139"/>
              </a:xfrm>
            </p:grpSpPr>
            <p:sp>
              <p:nvSpPr>
                <p:cNvPr id="95443" name="AutoShape 402">
                  <a:extLst>
                    <a:ext uri="{FF2B5EF4-FFF2-40B4-BE49-F238E27FC236}">
                      <a16:creationId xmlns:a16="http://schemas.microsoft.com/office/drawing/2014/main" id="{6FC4A79D-15AC-49AD-A04A-7ABD04C3A182}"/>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44" name="AutoShape 403">
                  <a:extLst>
                    <a:ext uri="{FF2B5EF4-FFF2-40B4-BE49-F238E27FC236}">
                      <a16:creationId xmlns:a16="http://schemas.microsoft.com/office/drawing/2014/main" id="{A268A2F3-35AB-4CC3-B1F6-4360D106C392}"/>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23" name="Rectangle 404">
                <a:extLst>
                  <a:ext uri="{FF2B5EF4-FFF2-40B4-BE49-F238E27FC236}">
                    <a16:creationId xmlns:a16="http://schemas.microsoft.com/office/drawing/2014/main" id="{B264C952-FF6F-4098-910D-07B0BC9231F1}"/>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24" name="Rectangle 405">
                <a:extLst>
                  <a:ext uri="{FF2B5EF4-FFF2-40B4-BE49-F238E27FC236}">
                    <a16:creationId xmlns:a16="http://schemas.microsoft.com/office/drawing/2014/main" id="{59D66608-E08E-47CC-886B-19DB15B2418D}"/>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32" name="Group 406">
                <a:extLst>
                  <a:ext uri="{FF2B5EF4-FFF2-40B4-BE49-F238E27FC236}">
                    <a16:creationId xmlns:a16="http://schemas.microsoft.com/office/drawing/2014/main" id="{0D00BA9B-2B19-461F-BB27-362240E64269}"/>
                  </a:ext>
                </a:extLst>
              </p:cNvPr>
              <p:cNvGrpSpPr>
                <a:grpSpLocks/>
              </p:cNvGrpSpPr>
              <p:nvPr/>
            </p:nvGrpSpPr>
            <p:grpSpPr bwMode="auto">
              <a:xfrm>
                <a:off x="4735" y="1627"/>
                <a:ext cx="582" cy="151"/>
                <a:chOff x="614" y="2568"/>
                <a:chExt cx="725" cy="139"/>
              </a:xfrm>
            </p:grpSpPr>
            <p:sp>
              <p:nvSpPr>
                <p:cNvPr id="95441" name="AutoShape 407">
                  <a:extLst>
                    <a:ext uri="{FF2B5EF4-FFF2-40B4-BE49-F238E27FC236}">
                      <a16:creationId xmlns:a16="http://schemas.microsoft.com/office/drawing/2014/main" id="{D13DCA21-30DC-48BC-9945-8E8F6E6D9C36}"/>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42" name="AutoShape 408">
                  <a:extLst>
                    <a:ext uri="{FF2B5EF4-FFF2-40B4-BE49-F238E27FC236}">
                      <a16:creationId xmlns:a16="http://schemas.microsoft.com/office/drawing/2014/main" id="{5EF5B910-D291-4751-B307-EAFA127D3BCD}"/>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12833" name="Freeform 409">
                <a:extLst>
                  <a:ext uri="{FF2B5EF4-FFF2-40B4-BE49-F238E27FC236}">
                    <a16:creationId xmlns:a16="http://schemas.microsoft.com/office/drawing/2014/main" id="{4B18AD61-4EFF-4D0E-932F-AC5D6482E973}"/>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834" name="Group 410">
                <a:extLst>
                  <a:ext uri="{FF2B5EF4-FFF2-40B4-BE49-F238E27FC236}">
                    <a16:creationId xmlns:a16="http://schemas.microsoft.com/office/drawing/2014/main" id="{2A1AA861-ABF2-4918-A02F-9B287ADA59F5}"/>
                  </a:ext>
                </a:extLst>
              </p:cNvPr>
              <p:cNvGrpSpPr>
                <a:grpSpLocks/>
              </p:cNvGrpSpPr>
              <p:nvPr/>
            </p:nvGrpSpPr>
            <p:grpSpPr bwMode="auto">
              <a:xfrm>
                <a:off x="4739" y="1327"/>
                <a:ext cx="582" cy="139"/>
                <a:chOff x="614" y="2568"/>
                <a:chExt cx="725" cy="139"/>
              </a:xfrm>
            </p:grpSpPr>
            <p:sp>
              <p:nvSpPr>
                <p:cNvPr id="95439" name="AutoShape 411">
                  <a:extLst>
                    <a:ext uri="{FF2B5EF4-FFF2-40B4-BE49-F238E27FC236}">
                      <a16:creationId xmlns:a16="http://schemas.microsoft.com/office/drawing/2014/main" id="{EAAEE05A-7231-4DB9-859A-4E547CCC20B0}"/>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40" name="AutoShape 412">
                  <a:extLst>
                    <a:ext uri="{FF2B5EF4-FFF2-40B4-BE49-F238E27FC236}">
                      <a16:creationId xmlns:a16="http://schemas.microsoft.com/office/drawing/2014/main" id="{20217331-24C7-4464-B92E-A2F19834B60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428" name="Rectangle 413">
                <a:extLst>
                  <a:ext uri="{FF2B5EF4-FFF2-40B4-BE49-F238E27FC236}">
                    <a16:creationId xmlns:a16="http://schemas.microsoft.com/office/drawing/2014/main" id="{D2588C2B-E21B-46E0-AC6A-FF9AB3DE2266}"/>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36" name="Freeform 414">
                <a:extLst>
                  <a:ext uri="{FF2B5EF4-FFF2-40B4-BE49-F238E27FC236}">
                    <a16:creationId xmlns:a16="http://schemas.microsoft.com/office/drawing/2014/main" id="{EFD64016-0D41-4855-BB7C-9B3704F40636}"/>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37" name="Freeform 415">
                <a:extLst>
                  <a:ext uri="{FF2B5EF4-FFF2-40B4-BE49-F238E27FC236}">
                    <a16:creationId xmlns:a16="http://schemas.microsoft.com/office/drawing/2014/main" id="{7906B7E1-C473-4E97-8E9B-75FBEDCDD02A}"/>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31" name="Oval 416">
                <a:extLst>
                  <a:ext uri="{FF2B5EF4-FFF2-40B4-BE49-F238E27FC236}">
                    <a16:creationId xmlns:a16="http://schemas.microsoft.com/office/drawing/2014/main" id="{434A32AF-3093-45B6-A212-12AAF68F064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39" name="Freeform 417">
                <a:extLst>
                  <a:ext uri="{FF2B5EF4-FFF2-40B4-BE49-F238E27FC236}">
                    <a16:creationId xmlns:a16="http://schemas.microsoft.com/office/drawing/2014/main" id="{FEA2D502-E61E-48DC-B9C3-242C98BBB638}"/>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33" name="AutoShape 418">
                <a:extLst>
                  <a:ext uri="{FF2B5EF4-FFF2-40B4-BE49-F238E27FC236}">
                    <a16:creationId xmlns:a16="http://schemas.microsoft.com/office/drawing/2014/main" id="{8BF44561-089E-4178-82ED-20CF38483D2F}"/>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34" name="AutoShape 419">
                <a:extLst>
                  <a:ext uri="{FF2B5EF4-FFF2-40B4-BE49-F238E27FC236}">
                    <a16:creationId xmlns:a16="http://schemas.microsoft.com/office/drawing/2014/main" id="{7981CD62-E40D-453D-8CA6-651B6B41C697}"/>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35" name="Oval 420">
                <a:extLst>
                  <a:ext uri="{FF2B5EF4-FFF2-40B4-BE49-F238E27FC236}">
                    <a16:creationId xmlns:a16="http://schemas.microsoft.com/office/drawing/2014/main" id="{CD96327C-0BAC-4CD8-B4E2-7B196C178618}"/>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36" name="Oval 421">
                <a:extLst>
                  <a:ext uri="{FF2B5EF4-FFF2-40B4-BE49-F238E27FC236}">
                    <a16:creationId xmlns:a16="http://schemas.microsoft.com/office/drawing/2014/main" id="{B9B57AB9-1A63-48C7-9B61-24DB84A087F7}"/>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95437" name="Oval 422">
                <a:extLst>
                  <a:ext uri="{FF2B5EF4-FFF2-40B4-BE49-F238E27FC236}">
                    <a16:creationId xmlns:a16="http://schemas.microsoft.com/office/drawing/2014/main" id="{989EF010-CABB-419B-A960-35193534574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38" name="Rectangle 423">
                <a:extLst>
                  <a:ext uri="{FF2B5EF4-FFF2-40B4-BE49-F238E27FC236}">
                    <a16:creationId xmlns:a16="http://schemas.microsoft.com/office/drawing/2014/main" id="{3B0775D8-63F7-48C6-BFDD-E4D93C50498C}"/>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12756" name="Group 424">
              <a:extLst>
                <a:ext uri="{FF2B5EF4-FFF2-40B4-BE49-F238E27FC236}">
                  <a16:creationId xmlns:a16="http://schemas.microsoft.com/office/drawing/2014/main" id="{06BCD5DC-6ED4-450A-8F41-983DB924DD55}"/>
                </a:ext>
              </a:extLst>
            </p:cNvPr>
            <p:cNvGrpSpPr>
              <a:grpSpLocks/>
            </p:cNvGrpSpPr>
            <p:nvPr/>
          </p:nvGrpSpPr>
          <p:grpSpPr bwMode="auto">
            <a:xfrm>
              <a:off x="396875" y="5840413"/>
              <a:ext cx="231775" cy="441325"/>
              <a:chOff x="4140" y="429"/>
              <a:chExt cx="1425" cy="2396"/>
            </a:xfrm>
          </p:grpSpPr>
          <p:sp>
            <p:nvSpPr>
              <p:cNvPr id="112790" name="Freeform 425">
                <a:extLst>
                  <a:ext uri="{FF2B5EF4-FFF2-40B4-BE49-F238E27FC236}">
                    <a16:creationId xmlns:a16="http://schemas.microsoft.com/office/drawing/2014/main" id="{AF387551-6A39-4748-B912-2B1FAEDAFB1E}"/>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84" name="Rectangle 426">
                <a:extLst>
                  <a:ext uri="{FF2B5EF4-FFF2-40B4-BE49-F238E27FC236}">
                    <a16:creationId xmlns:a16="http://schemas.microsoft.com/office/drawing/2014/main" id="{6B498EDD-7393-4608-85EC-36FB4416675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792" name="Freeform 427">
                <a:extLst>
                  <a:ext uri="{FF2B5EF4-FFF2-40B4-BE49-F238E27FC236}">
                    <a16:creationId xmlns:a16="http://schemas.microsoft.com/office/drawing/2014/main" id="{B86645DB-F13D-44AE-861A-29479BDD4D84}"/>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93" name="Freeform 428">
                <a:extLst>
                  <a:ext uri="{FF2B5EF4-FFF2-40B4-BE49-F238E27FC236}">
                    <a16:creationId xmlns:a16="http://schemas.microsoft.com/office/drawing/2014/main" id="{A95097A0-5BBC-43DC-9E3F-2BF061F69F0A}"/>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87" name="Rectangle 429">
                <a:extLst>
                  <a:ext uri="{FF2B5EF4-FFF2-40B4-BE49-F238E27FC236}">
                    <a16:creationId xmlns:a16="http://schemas.microsoft.com/office/drawing/2014/main" id="{252CA355-905A-4A24-A795-35EF65FC70E0}"/>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795" name="Group 430">
                <a:extLst>
                  <a:ext uri="{FF2B5EF4-FFF2-40B4-BE49-F238E27FC236}">
                    <a16:creationId xmlns:a16="http://schemas.microsoft.com/office/drawing/2014/main" id="{1F258813-AFC3-4127-8494-F65B8F78FA4C}"/>
                  </a:ext>
                </a:extLst>
              </p:cNvPr>
              <p:cNvGrpSpPr>
                <a:grpSpLocks/>
              </p:cNvGrpSpPr>
              <p:nvPr/>
            </p:nvGrpSpPr>
            <p:grpSpPr bwMode="auto">
              <a:xfrm>
                <a:off x="4749" y="668"/>
                <a:ext cx="581" cy="145"/>
                <a:chOff x="614" y="2568"/>
                <a:chExt cx="725" cy="139"/>
              </a:xfrm>
            </p:grpSpPr>
            <p:sp>
              <p:nvSpPr>
                <p:cNvPr id="95413" name="AutoShape 431">
                  <a:extLst>
                    <a:ext uri="{FF2B5EF4-FFF2-40B4-BE49-F238E27FC236}">
                      <a16:creationId xmlns:a16="http://schemas.microsoft.com/office/drawing/2014/main" id="{2EF53A8B-4EEC-4191-BDAF-868D6C4D366B}"/>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14" name="AutoShape 432">
                  <a:extLst>
                    <a:ext uri="{FF2B5EF4-FFF2-40B4-BE49-F238E27FC236}">
                      <a16:creationId xmlns:a16="http://schemas.microsoft.com/office/drawing/2014/main" id="{9D1C1BE6-1BBA-4C05-8030-9187CB947580}"/>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89" name="Rectangle 433">
                <a:extLst>
                  <a:ext uri="{FF2B5EF4-FFF2-40B4-BE49-F238E27FC236}">
                    <a16:creationId xmlns:a16="http://schemas.microsoft.com/office/drawing/2014/main" id="{6A954956-C88C-4B79-8A8C-4C909038B660}"/>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797" name="Group 434">
                <a:extLst>
                  <a:ext uri="{FF2B5EF4-FFF2-40B4-BE49-F238E27FC236}">
                    <a16:creationId xmlns:a16="http://schemas.microsoft.com/office/drawing/2014/main" id="{DB3705A5-53B8-4F99-BB58-F17E2F1E5AB3}"/>
                  </a:ext>
                </a:extLst>
              </p:cNvPr>
              <p:cNvGrpSpPr>
                <a:grpSpLocks/>
              </p:cNvGrpSpPr>
              <p:nvPr/>
            </p:nvGrpSpPr>
            <p:grpSpPr bwMode="auto">
              <a:xfrm>
                <a:off x="4747" y="994"/>
                <a:ext cx="581" cy="134"/>
                <a:chOff x="614" y="2568"/>
                <a:chExt cx="725" cy="139"/>
              </a:xfrm>
            </p:grpSpPr>
            <p:sp>
              <p:nvSpPr>
                <p:cNvPr id="95411" name="AutoShape 435">
                  <a:extLst>
                    <a:ext uri="{FF2B5EF4-FFF2-40B4-BE49-F238E27FC236}">
                      <a16:creationId xmlns:a16="http://schemas.microsoft.com/office/drawing/2014/main" id="{8FCB9A76-95A6-4175-8210-FF33A15290A7}"/>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12" name="AutoShape 436">
                  <a:extLst>
                    <a:ext uri="{FF2B5EF4-FFF2-40B4-BE49-F238E27FC236}">
                      <a16:creationId xmlns:a16="http://schemas.microsoft.com/office/drawing/2014/main" id="{EB7BA969-BB3A-4A6D-AA75-3C6846A7CBF0}"/>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91" name="Rectangle 437">
                <a:extLst>
                  <a:ext uri="{FF2B5EF4-FFF2-40B4-BE49-F238E27FC236}">
                    <a16:creationId xmlns:a16="http://schemas.microsoft.com/office/drawing/2014/main" id="{31F5A190-FA39-40DE-A637-A3E57819A134}"/>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92" name="Rectangle 438">
                <a:extLst>
                  <a:ext uri="{FF2B5EF4-FFF2-40B4-BE49-F238E27FC236}">
                    <a16:creationId xmlns:a16="http://schemas.microsoft.com/office/drawing/2014/main" id="{E8852C56-7CB2-4CF7-80C7-9CB7DE6DD8E3}"/>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800" name="Group 439">
                <a:extLst>
                  <a:ext uri="{FF2B5EF4-FFF2-40B4-BE49-F238E27FC236}">
                    <a16:creationId xmlns:a16="http://schemas.microsoft.com/office/drawing/2014/main" id="{53DFBD64-E1DF-48A2-BBAB-831513EE0399}"/>
                  </a:ext>
                </a:extLst>
              </p:cNvPr>
              <p:cNvGrpSpPr>
                <a:grpSpLocks/>
              </p:cNvGrpSpPr>
              <p:nvPr/>
            </p:nvGrpSpPr>
            <p:grpSpPr bwMode="auto">
              <a:xfrm>
                <a:off x="4735" y="1627"/>
                <a:ext cx="582" cy="151"/>
                <a:chOff x="614" y="2568"/>
                <a:chExt cx="725" cy="139"/>
              </a:xfrm>
            </p:grpSpPr>
            <p:sp>
              <p:nvSpPr>
                <p:cNvPr id="95409" name="AutoShape 440">
                  <a:extLst>
                    <a:ext uri="{FF2B5EF4-FFF2-40B4-BE49-F238E27FC236}">
                      <a16:creationId xmlns:a16="http://schemas.microsoft.com/office/drawing/2014/main" id="{5F1C4DB2-56E1-4F94-BF0C-5DEB2ACA1F05}"/>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10" name="AutoShape 441">
                  <a:extLst>
                    <a:ext uri="{FF2B5EF4-FFF2-40B4-BE49-F238E27FC236}">
                      <a16:creationId xmlns:a16="http://schemas.microsoft.com/office/drawing/2014/main" id="{DB8E5D0F-8780-4194-8AF2-381A99F889DD}"/>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12801" name="Freeform 442">
                <a:extLst>
                  <a:ext uri="{FF2B5EF4-FFF2-40B4-BE49-F238E27FC236}">
                    <a16:creationId xmlns:a16="http://schemas.microsoft.com/office/drawing/2014/main" id="{EB44002C-953C-4911-BF4A-6CB197327062}"/>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802" name="Group 443">
                <a:extLst>
                  <a:ext uri="{FF2B5EF4-FFF2-40B4-BE49-F238E27FC236}">
                    <a16:creationId xmlns:a16="http://schemas.microsoft.com/office/drawing/2014/main" id="{9FABFAE3-29DE-4234-A20B-51BE92517C6E}"/>
                  </a:ext>
                </a:extLst>
              </p:cNvPr>
              <p:cNvGrpSpPr>
                <a:grpSpLocks/>
              </p:cNvGrpSpPr>
              <p:nvPr/>
            </p:nvGrpSpPr>
            <p:grpSpPr bwMode="auto">
              <a:xfrm>
                <a:off x="4739" y="1327"/>
                <a:ext cx="582" cy="139"/>
                <a:chOff x="614" y="2568"/>
                <a:chExt cx="725" cy="139"/>
              </a:xfrm>
            </p:grpSpPr>
            <p:sp>
              <p:nvSpPr>
                <p:cNvPr id="95407" name="AutoShape 444">
                  <a:extLst>
                    <a:ext uri="{FF2B5EF4-FFF2-40B4-BE49-F238E27FC236}">
                      <a16:creationId xmlns:a16="http://schemas.microsoft.com/office/drawing/2014/main" id="{9A2666DB-A080-4214-AEE1-F71478A98685}"/>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08" name="AutoShape 445">
                  <a:extLst>
                    <a:ext uri="{FF2B5EF4-FFF2-40B4-BE49-F238E27FC236}">
                      <a16:creationId xmlns:a16="http://schemas.microsoft.com/office/drawing/2014/main" id="{3C25CC20-9931-482B-96A9-7D3D21CAC5EC}"/>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96" name="Rectangle 446">
                <a:extLst>
                  <a:ext uri="{FF2B5EF4-FFF2-40B4-BE49-F238E27FC236}">
                    <a16:creationId xmlns:a16="http://schemas.microsoft.com/office/drawing/2014/main" id="{10CF137B-9F01-4EA5-BFC8-64595D80B9B8}"/>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04" name="Freeform 447">
                <a:extLst>
                  <a:ext uri="{FF2B5EF4-FFF2-40B4-BE49-F238E27FC236}">
                    <a16:creationId xmlns:a16="http://schemas.microsoft.com/office/drawing/2014/main" id="{76CF4812-56E4-42A9-8E84-78D8D2BD17FA}"/>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05" name="Freeform 448">
                <a:extLst>
                  <a:ext uri="{FF2B5EF4-FFF2-40B4-BE49-F238E27FC236}">
                    <a16:creationId xmlns:a16="http://schemas.microsoft.com/office/drawing/2014/main" id="{1C6BAE06-37FA-45D6-8A14-AA34C038E6E0}"/>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99" name="Oval 449">
                <a:extLst>
                  <a:ext uri="{FF2B5EF4-FFF2-40B4-BE49-F238E27FC236}">
                    <a16:creationId xmlns:a16="http://schemas.microsoft.com/office/drawing/2014/main" id="{77D6DCE8-252D-4D56-BDD0-7AE82527F39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807" name="Freeform 450">
                <a:extLst>
                  <a:ext uri="{FF2B5EF4-FFF2-40B4-BE49-F238E27FC236}">
                    <a16:creationId xmlns:a16="http://schemas.microsoft.com/office/drawing/2014/main" id="{684D2ADB-1C0B-4F8F-ABF5-51E1B4BD7161}"/>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401" name="AutoShape 451">
                <a:extLst>
                  <a:ext uri="{FF2B5EF4-FFF2-40B4-BE49-F238E27FC236}">
                    <a16:creationId xmlns:a16="http://schemas.microsoft.com/office/drawing/2014/main" id="{00D3A8F4-DF37-4E7D-BF43-A4189EC56CA2}"/>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02" name="AutoShape 452">
                <a:extLst>
                  <a:ext uri="{FF2B5EF4-FFF2-40B4-BE49-F238E27FC236}">
                    <a16:creationId xmlns:a16="http://schemas.microsoft.com/office/drawing/2014/main" id="{D498CDBD-0D10-45A2-99DA-EC9702849149}"/>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03" name="Oval 453">
                <a:extLst>
                  <a:ext uri="{FF2B5EF4-FFF2-40B4-BE49-F238E27FC236}">
                    <a16:creationId xmlns:a16="http://schemas.microsoft.com/office/drawing/2014/main" id="{39D88913-E1DB-4DFB-9ED6-1E46D771C0D5}"/>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04" name="Oval 454">
                <a:extLst>
                  <a:ext uri="{FF2B5EF4-FFF2-40B4-BE49-F238E27FC236}">
                    <a16:creationId xmlns:a16="http://schemas.microsoft.com/office/drawing/2014/main" id="{AA6BE6BF-9E9B-47DB-A2A7-24FE869402D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95405" name="Oval 455">
                <a:extLst>
                  <a:ext uri="{FF2B5EF4-FFF2-40B4-BE49-F238E27FC236}">
                    <a16:creationId xmlns:a16="http://schemas.microsoft.com/office/drawing/2014/main" id="{B43ACF02-A93A-427B-8DB5-F0A35DFC74A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406" name="Rectangle 456">
                <a:extLst>
                  <a:ext uri="{FF2B5EF4-FFF2-40B4-BE49-F238E27FC236}">
                    <a16:creationId xmlns:a16="http://schemas.microsoft.com/office/drawing/2014/main" id="{E282BE3E-5D20-4B0B-97CF-22C0E1701BEC}"/>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112757" name="Group 457">
              <a:extLst>
                <a:ext uri="{FF2B5EF4-FFF2-40B4-BE49-F238E27FC236}">
                  <a16:creationId xmlns:a16="http://schemas.microsoft.com/office/drawing/2014/main" id="{8E112303-B570-43B4-8399-7527FC9D0841}"/>
                </a:ext>
              </a:extLst>
            </p:cNvPr>
            <p:cNvGrpSpPr>
              <a:grpSpLocks/>
            </p:cNvGrpSpPr>
            <p:nvPr/>
          </p:nvGrpSpPr>
          <p:grpSpPr bwMode="auto">
            <a:xfrm>
              <a:off x="2411413" y="3835400"/>
              <a:ext cx="231775" cy="441325"/>
              <a:chOff x="4140" y="429"/>
              <a:chExt cx="1425" cy="2396"/>
            </a:xfrm>
          </p:grpSpPr>
          <p:sp>
            <p:nvSpPr>
              <p:cNvPr id="112758" name="Freeform 458">
                <a:extLst>
                  <a:ext uri="{FF2B5EF4-FFF2-40B4-BE49-F238E27FC236}">
                    <a16:creationId xmlns:a16="http://schemas.microsoft.com/office/drawing/2014/main" id="{98DE13C3-1707-4C14-B077-77D67FAA377B}"/>
                  </a:ext>
                </a:extLst>
              </p:cNvPr>
              <p:cNvSpPr>
                <a:spLocks/>
              </p:cNvSpPr>
              <p:nvPr/>
            </p:nvSpPr>
            <p:spPr bwMode="auto">
              <a:xfrm>
                <a:off x="5268" y="433"/>
                <a:ext cx="283" cy="2286"/>
              </a:xfrm>
              <a:custGeom>
                <a:avLst/>
                <a:gdLst>
                  <a:gd name="T0" fmla="*/ 26 w 354"/>
                  <a:gd name="T1" fmla="*/ 0 h 2742"/>
                  <a:gd name="T2" fmla="*/ 145 w 354"/>
                  <a:gd name="T3" fmla="*/ 164 h 2742"/>
                  <a:gd name="T4" fmla="*/ 142 w 354"/>
                  <a:gd name="T5" fmla="*/ 1268 h 2742"/>
                  <a:gd name="T6" fmla="*/ 0 w 354"/>
                  <a:gd name="T7" fmla="*/ 1325 h 2742"/>
                  <a:gd name="T8" fmla="*/ 26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52" name="Rectangle 459">
                <a:extLst>
                  <a:ext uri="{FF2B5EF4-FFF2-40B4-BE49-F238E27FC236}">
                    <a16:creationId xmlns:a16="http://schemas.microsoft.com/office/drawing/2014/main" id="{E8522D5E-4FA2-45B0-9D33-C4EDC55B7A6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760" name="Freeform 460">
                <a:extLst>
                  <a:ext uri="{FF2B5EF4-FFF2-40B4-BE49-F238E27FC236}">
                    <a16:creationId xmlns:a16="http://schemas.microsoft.com/office/drawing/2014/main" id="{263ADF4F-26F5-4F0A-BAC8-3B9C35165BA1}"/>
                  </a:ext>
                </a:extLst>
              </p:cNvPr>
              <p:cNvSpPr>
                <a:spLocks/>
              </p:cNvSpPr>
              <p:nvPr/>
            </p:nvSpPr>
            <p:spPr bwMode="auto">
              <a:xfrm>
                <a:off x="5321" y="570"/>
                <a:ext cx="169" cy="2115"/>
              </a:xfrm>
              <a:custGeom>
                <a:avLst/>
                <a:gdLst>
                  <a:gd name="T0" fmla="*/ 3 w 211"/>
                  <a:gd name="T1" fmla="*/ 0 h 2537"/>
                  <a:gd name="T2" fmla="*/ 87 w 211"/>
                  <a:gd name="T3" fmla="*/ 106 h 2537"/>
                  <a:gd name="T4" fmla="*/ 3 w 211"/>
                  <a:gd name="T5" fmla="*/ 1208 h 2537"/>
                  <a:gd name="T6" fmla="*/ 3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61" name="Freeform 461">
                <a:extLst>
                  <a:ext uri="{FF2B5EF4-FFF2-40B4-BE49-F238E27FC236}">
                    <a16:creationId xmlns:a16="http://schemas.microsoft.com/office/drawing/2014/main" id="{702EEA05-ABC9-4319-BDAA-98B2F368D31B}"/>
                  </a:ext>
                </a:extLst>
              </p:cNvPr>
              <p:cNvSpPr>
                <a:spLocks/>
              </p:cNvSpPr>
              <p:nvPr/>
            </p:nvSpPr>
            <p:spPr bwMode="auto">
              <a:xfrm>
                <a:off x="5284" y="1640"/>
                <a:ext cx="263" cy="189"/>
              </a:xfrm>
              <a:custGeom>
                <a:avLst/>
                <a:gdLst>
                  <a:gd name="T0" fmla="*/ 2 w 328"/>
                  <a:gd name="T1" fmla="*/ 0 h 226"/>
                  <a:gd name="T2" fmla="*/ 136 w 328"/>
                  <a:gd name="T3" fmla="*/ 62 h 226"/>
                  <a:gd name="T4" fmla="*/ 135 w 328"/>
                  <a:gd name="T5" fmla="*/ 110 h 226"/>
                  <a:gd name="T6" fmla="*/ 0 w 328"/>
                  <a:gd name="T7" fmla="*/ 4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55" name="Rectangle 462">
                <a:extLst>
                  <a:ext uri="{FF2B5EF4-FFF2-40B4-BE49-F238E27FC236}">
                    <a16:creationId xmlns:a16="http://schemas.microsoft.com/office/drawing/2014/main" id="{50480CBC-4A25-4165-AED4-9A7B2B43F01C}"/>
                  </a:ext>
                </a:extLst>
              </p:cNvPr>
              <p:cNvSpPr>
                <a:spLocks noChangeArrowheads="1"/>
              </p:cNvSpPr>
              <p:nvPr/>
            </p:nvSpPr>
            <p:spPr bwMode="auto">
              <a:xfrm>
                <a:off x="4208" y="696"/>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763" name="Group 463">
                <a:extLst>
                  <a:ext uri="{FF2B5EF4-FFF2-40B4-BE49-F238E27FC236}">
                    <a16:creationId xmlns:a16="http://schemas.microsoft.com/office/drawing/2014/main" id="{305E7784-B01A-4026-8CEB-26663C34C2A9}"/>
                  </a:ext>
                </a:extLst>
              </p:cNvPr>
              <p:cNvGrpSpPr>
                <a:grpSpLocks/>
              </p:cNvGrpSpPr>
              <p:nvPr/>
            </p:nvGrpSpPr>
            <p:grpSpPr bwMode="auto">
              <a:xfrm>
                <a:off x="4749" y="668"/>
                <a:ext cx="581" cy="145"/>
                <a:chOff x="614" y="2568"/>
                <a:chExt cx="725" cy="139"/>
              </a:xfrm>
            </p:grpSpPr>
            <p:sp>
              <p:nvSpPr>
                <p:cNvPr id="95381" name="AutoShape 464">
                  <a:extLst>
                    <a:ext uri="{FF2B5EF4-FFF2-40B4-BE49-F238E27FC236}">
                      <a16:creationId xmlns:a16="http://schemas.microsoft.com/office/drawing/2014/main" id="{9ACF697A-EC67-4243-8BFE-4ECE2BBB4933}"/>
                    </a:ext>
                  </a:extLst>
                </p:cNvPr>
                <p:cNvSpPr>
                  <a:spLocks noChangeArrowheads="1"/>
                </p:cNvSpPr>
                <p:nvPr/>
              </p:nvSpPr>
              <p:spPr bwMode="auto">
                <a:xfrm>
                  <a:off x="609" y="2570"/>
                  <a:ext cx="731"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82" name="AutoShape 465">
                  <a:extLst>
                    <a:ext uri="{FF2B5EF4-FFF2-40B4-BE49-F238E27FC236}">
                      <a16:creationId xmlns:a16="http://schemas.microsoft.com/office/drawing/2014/main" id="{96E833EF-4A1A-44F0-BDFB-A5DBE82784C0}"/>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57" name="Rectangle 466">
                <a:extLst>
                  <a:ext uri="{FF2B5EF4-FFF2-40B4-BE49-F238E27FC236}">
                    <a16:creationId xmlns:a16="http://schemas.microsoft.com/office/drawing/2014/main" id="{C98D23CE-CF86-4DF2-A7B4-0CD729469E81}"/>
                  </a:ext>
                </a:extLst>
              </p:cNvPr>
              <p:cNvSpPr>
                <a:spLocks noChangeArrowheads="1"/>
              </p:cNvSpPr>
              <p:nvPr/>
            </p:nvSpPr>
            <p:spPr bwMode="auto">
              <a:xfrm>
                <a:off x="4228" y="1015"/>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765" name="Group 467">
                <a:extLst>
                  <a:ext uri="{FF2B5EF4-FFF2-40B4-BE49-F238E27FC236}">
                    <a16:creationId xmlns:a16="http://schemas.microsoft.com/office/drawing/2014/main" id="{EF438A9A-41F4-4627-809E-C06DD120B0BE}"/>
                  </a:ext>
                </a:extLst>
              </p:cNvPr>
              <p:cNvGrpSpPr>
                <a:grpSpLocks/>
              </p:cNvGrpSpPr>
              <p:nvPr/>
            </p:nvGrpSpPr>
            <p:grpSpPr bwMode="auto">
              <a:xfrm>
                <a:off x="4747" y="994"/>
                <a:ext cx="581" cy="134"/>
                <a:chOff x="614" y="2568"/>
                <a:chExt cx="725" cy="139"/>
              </a:xfrm>
            </p:grpSpPr>
            <p:sp>
              <p:nvSpPr>
                <p:cNvPr id="95379" name="AutoShape 468">
                  <a:extLst>
                    <a:ext uri="{FF2B5EF4-FFF2-40B4-BE49-F238E27FC236}">
                      <a16:creationId xmlns:a16="http://schemas.microsoft.com/office/drawing/2014/main" id="{0BA34D3D-DDB8-44AD-9E9C-31255DD66EBD}"/>
                    </a:ext>
                  </a:extLst>
                </p:cNvPr>
                <p:cNvSpPr>
                  <a:spLocks noChangeArrowheads="1"/>
                </p:cNvSpPr>
                <p:nvPr/>
              </p:nvSpPr>
              <p:spPr bwMode="auto">
                <a:xfrm>
                  <a:off x="612"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80" name="AutoShape 469">
                  <a:extLst>
                    <a:ext uri="{FF2B5EF4-FFF2-40B4-BE49-F238E27FC236}">
                      <a16:creationId xmlns:a16="http://schemas.microsoft.com/office/drawing/2014/main" id="{6D87BE46-E482-4300-B450-9BC1F08C2FC2}"/>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59" name="Rectangle 470">
                <a:extLst>
                  <a:ext uri="{FF2B5EF4-FFF2-40B4-BE49-F238E27FC236}">
                    <a16:creationId xmlns:a16="http://schemas.microsoft.com/office/drawing/2014/main" id="{F7AE9E15-E0E3-468E-8797-E9DAAC85E392}"/>
                  </a:ext>
                </a:extLst>
              </p:cNvPr>
              <p:cNvSpPr>
                <a:spLocks noChangeArrowheads="1"/>
              </p:cNvSpPr>
              <p:nvPr/>
            </p:nvSpPr>
            <p:spPr bwMode="auto">
              <a:xfrm>
                <a:off x="4218" y="1360"/>
                <a:ext cx="595" cy="43"/>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60" name="Rectangle 471">
                <a:extLst>
                  <a:ext uri="{FF2B5EF4-FFF2-40B4-BE49-F238E27FC236}">
                    <a16:creationId xmlns:a16="http://schemas.microsoft.com/office/drawing/2014/main" id="{2A8D0440-B28F-4A63-98D0-8DAF8DF4723C}"/>
                  </a:ext>
                </a:extLst>
              </p:cNvPr>
              <p:cNvSpPr>
                <a:spLocks noChangeArrowheads="1"/>
              </p:cNvSpPr>
              <p:nvPr/>
            </p:nvSpPr>
            <p:spPr bwMode="auto">
              <a:xfrm>
                <a:off x="4228" y="1653"/>
                <a:ext cx="595" cy="52"/>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12768" name="Group 472">
                <a:extLst>
                  <a:ext uri="{FF2B5EF4-FFF2-40B4-BE49-F238E27FC236}">
                    <a16:creationId xmlns:a16="http://schemas.microsoft.com/office/drawing/2014/main" id="{82848B57-AB4A-4DDD-BD6F-36C6A03C93C7}"/>
                  </a:ext>
                </a:extLst>
              </p:cNvPr>
              <p:cNvGrpSpPr>
                <a:grpSpLocks/>
              </p:cNvGrpSpPr>
              <p:nvPr/>
            </p:nvGrpSpPr>
            <p:grpSpPr bwMode="auto">
              <a:xfrm>
                <a:off x="4735" y="1627"/>
                <a:ext cx="582" cy="151"/>
                <a:chOff x="614" y="2568"/>
                <a:chExt cx="725" cy="139"/>
              </a:xfrm>
            </p:grpSpPr>
            <p:sp>
              <p:nvSpPr>
                <p:cNvPr id="95377" name="AutoShape 473">
                  <a:extLst>
                    <a:ext uri="{FF2B5EF4-FFF2-40B4-BE49-F238E27FC236}">
                      <a16:creationId xmlns:a16="http://schemas.microsoft.com/office/drawing/2014/main" id="{CCD9BF14-F2E5-4785-90CB-8C9368C5A7F9}"/>
                    </a:ext>
                  </a:extLst>
                </p:cNvPr>
                <p:cNvSpPr>
                  <a:spLocks noChangeArrowheads="1"/>
                </p:cNvSpPr>
                <p:nvPr/>
              </p:nvSpPr>
              <p:spPr bwMode="auto">
                <a:xfrm>
                  <a:off x="614" y="2568"/>
                  <a:ext cx="730" cy="151"/>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8" name="AutoShape 474">
                  <a:extLst>
                    <a:ext uri="{FF2B5EF4-FFF2-40B4-BE49-F238E27FC236}">
                      <a16:creationId xmlns:a16="http://schemas.microsoft.com/office/drawing/2014/main" id="{EBE963C7-E786-43B7-B794-27C30F86EBC8}"/>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12769" name="Freeform 475">
                <a:extLst>
                  <a:ext uri="{FF2B5EF4-FFF2-40B4-BE49-F238E27FC236}">
                    <a16:creationId xmlns:a16="http://schemas.microsoft.com/office/drawing/2014/main" id="{122F7EE8-ABC5-4EC4-9BF5-B3722425AB33}"/>
                  </a:ext>
                </a:extLst>
              </p:cNvPr>
              <p:cNvSpPr>
                <a:spLocks/>
              </p:cNvSpPr>
              <p:nvPr/>
            </p:nvSpPr>
            <p:spPr bwMode="auto">
              <a:xfrm>
                <a:off x="5288" y="1354"/>
                <a:ext cx="263" cy="188"/>
              </a:xfrm>
              <a:custGeom>
                <a:avLst/>
                <a:gdLst>
                  <a:gd name="T0" fmla="*/ 2 w 328"/>
                  <a:gd name="T1" fmla="*/ 0 h 226"/>
                  <a:gd name="T2" fmla="*/ 136 w 328"/>
                  <a:gd name="T3" fmla="*/ 61 h 226"/>
                  <a:gd name="T4" fmla="*/ 135 w 328"/>
                  <a:gd name="T5" fmla="*/ 108 h 226"/>
                  <a:gd name="T6" fmla="*/ 0 w 328"/>
                  <a:gd name="T7" fmla="*/ 4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770" name="Group 476">
                <a:extLst>
                  <a:ext uri="{FF2B5EF4-FFF2-40B4-BE49-F238E27FC236}">
                    <a16:creationId xmlns:a16="http://schemas.microsoft.com/office/drawing/2014/main" id="{027FDD2A-476A-4FC2-82F3-1124AFBD7E14}"/>
                  </a:ext>
                </a:extLst>
              </p:cNvPr>
              <p:cNvGrpSpPr>
                <a:grpSpLocks/>
              </p:cNvGrpSpPr>
              <p:nvPr/>
            </p:nvGrpSpPr>
            <p:grpSpPr bwMode="auto">
              <a:xfrm>
                <a:off x="4739" y="1327"/>
                <a:ext cx="582" cy="139"/>
                <a:chOff x="614" y="2568"/>
                <a:chExt cx="725" cy="139"/>
              </a:xfrm>
            </p:grpSpPr>
            <p:sp>
              <p:nvSpPr>
                <p:cNvPr id="95375" name="AutoShape 477">
                  <a:extLst>
                    <a:ext uri="{FF2B5EF4-FFF2-40B4-BE49-F238E27FC236}">
                      <a16:creationId xmlns:a16="http://schemas.microsoft.com/office/drawing/2014/main" id="{23A58D26-1FEA-48C5-A5C5-44C19962FEE7}"/>
                    </a:ext>
                  </a:extLst>
                </p:cNvPr>
                <p:cNvSpPr>
                  <a:spLocks noChangeArrowheads="1"/>
                </p:cNvSpPr>
                <p:nvPr/>
              </p:nvSpPr>
              <p:spPr bwMode="auto">
                <a:xfrm>
                  <a:off x="609" y="2566"/>
                  <a:ext cx="730"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6" name="AutoShape 478">
                  <a:extLst>
                    <a:ext uri="{FF2B5EF4-FFF2-40B4-BE49-F238E27FC236}">
                      <a16:creationId xmlns:a16="http://schemas.microsoft.com/office/drawing/2014/main" id="{900327C5-6003-43C1-B78E-E3AAD7F8451A}"/>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95364" name="Rectangle 479">
                <a:extLst>
                  <a:ext uri="{FF2B5EF4-FFF2-40B4-BE49-F238E27FC236}">
                    <a16:creationId xmlns:a16="http://schemas.microsoft.com/office/drawing/2014/main" id="{A4BAD3D1-8408-4136-A5B4-20AE6F5442EE}"/>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772" name="Freeform 480">
                <a:extLst>
                  <a:ext uri="{FF2B5EF4-FFF2-40B4-BE49-F238E27FC236}">
                    <a16:creationId xmlns:a16="http://schemas.microsoft.com/office/drawing/2014/main" id="{D08858AF-E5CE-47B9-A120-D85AC80CBE72}"/>
                  </a:ext>
                </a:extLst>
              </p:cNvPr>
              <p:cNvSpPr>
                <a:spLocks/>
              </p:cNvSpPr>
              <p:nvPr/>
            </p:nvSpPr>
            <p:spPr bwMode="auto">
              <a:xfrm>
                <a:off x="5312" y="1007"/>
                <a:ext cx="237" cy="213"/>
              </a:xfrm>
              <a:custGeom>
                <a:avLst/>
                <a:gdLst>
                  <a:gd name="T0" fmla="*/ 2 w 296"/>
                  <a:gd name="T1" fmla="*/ 0 h 256"/>
                  <a:gd name="T2" fmla="*/ 120 w 296"/>
                  <a:gd name="T3" fmla="*/ 69 h 256"/>
                  <a:gd name="T4" fmla="*/ 122 w 296"/>
                  <a:gd name="T5" fmla="*/ 122 h 256"/>
                  <a:gd name="T6" fmla="*/ 0 w 296"/>
                  <a:gd name="T7" fmla="*/ 4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73" name="Freeform 481">
                <a:extLst>
                  <a:ext uri="{FF2B5EF4-FFF2-40B4-BE49-F238E27FC236}">
                    <a16:creationId xmlns:a16="http://schemas.microsoft.com/office/drawing/2014/main" id="{7B82AE95-CDA6-44A5-99D4-8D248CF73F12}"/>
                  </a:ext>
                </a:extLst>
              </p:cNvPr>
              <p:cNvSpPr>
                <a:spLocks/>
              </p:cNvSpPr>
              <p:nvPr/>
            </p:nvSpPr>
            <p:spPr bwMode="auto">
              <a:xfrm>
                <a:off x="5315" y="680"/>
                <a:ext cx="244" cy="240"/>
              </a:xfrm>
              <a:custGeom>
                <a:avLst/>
                <a:gdLst>
                  <a:gd name="T0" fmla="*/ 0 w 304"/>
                  <a:gd name="T1" fmla="*/ 0 h 288"/>
                  <a:gd name="T2" fmla="*/ 126 w 304"/>
                  <a:gd name="T3" fmla="*/ 79 h 288"/>
                  <a:gd name="T4" fmla="*/ 118 w 304"/>
                  <a:gd name="T5" fmla="*/ 139 h 288"/>
                  <a:gd name="T6" fmla="*/ 3 w 304"/>
                  <a:gd name="T7" fmla="*/ 6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67" name="Oval 482">
                <a:extLst>
                  <a:ext uri="{FF2B5EF4-FFF2-40B4-BE49-F238E27FC236}">
                    <a16:creationId xmlns:a16="http://schemas.microsoft.com/office/drawing/2014/main" id="{B81459FB-432D-4757-A629-C8C5D90ED34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2775" name="Freeform 483">
                <a:extLst>
                  <a:ext uri="{FF2B5EF4-FFF2-40B4-BE49-F238E27FC236}">
                    <a16:creationId xmlns:a16="http://schemas.microsoft.com/office/drawing/2014/main" id="{834368AD-EC1E-4099-B6EF-18CEFAEE94EF}"/>
                  </a:ext>
                </a:extLst>
              </p:cNvPr>
              <p:cNvSpPr>
                <a:spLocks/>
              </p:cNvSpPr>
              <p:nvPr/>
            </p:nvSpPr>
            <p:spPr bwMode="auto">
              <a:xfrm>
                <a:off x="5302" y="2614"/>
                <a:ext cx="245" cy="200"/>
              </a:xfrm>
              <a:custGeom>
                <a:avLst/>
                <a:gdLst>
                  <a:gd name="T0" fmla="*/ 0 w 306"/>
                  <a:gd name="T1" fmla="*/ 51 h 240"/>
                  <a:gd name="T2" fmla="*/ 2 w 306"/>
                  <a:gd name="T3" fmla="*/ 116 h 240"/>
                  <a:gd name="T4" fmla="*/ 126 w 306"/>
                  <a:gd name="T5" fmla="*/ 53 h 240"/>
                  <a:gd name="T6" fmla="*/ 123 w 306"/>
                  <a:gd name="T7" fmla="*/ 0 h 240"/>
                  <a:gd name="T8" fmla="*/ 0 w 306"/>
                  <a:gd name="T9" fmla="*/ 5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369" name="AutoShape 484">
                <a:extLst>
                  <a:ext uri="{FF2B5EF4-FFF2-40B4-BE49-F238E27FC236}">
                    <a16:creationId xmlns:a16="http://schemas.microsoft.com/office/drawing/2014/main" id="{2B2A3478-2DA1-4FDF-B339-BBA0AFCA1780}"/>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0" name="AutoShape 485">
                <a:extLst>
                  <a:ext uri="{FF2B5EF4-FFF2-40B4-BE49-F238E27FC236}">
                    <a16:creationId xmlns:a16="http://schemas.microsoft.com/office/drawing/2014/main" id="{CEF8DCE4-388F-4A87-9C6D-B0B16C8C25DD}"/>
                  </a:ext>
                </a:extLst>
              </p:cNvPr>
              <p:cNvSpPr>
                <a:spLocks noChangeArrowheads="1"/>
              </p:cNvSpPr>
              <p:nvPr/>
            </p:nvSpPr>
            <p:spPr bwMode="auto">
              <a:xfrm>
                <a:off x="4208" y="2713"/>
                <a:ext cx="1064"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1" name="Oval 486">
                <a:extLst>
                  <a:ext uri="{FF2B5EF4-FFF2-40B4-BE49-F238E27FC236}">
                    <a16:creationId xmlns:a16="http://schemas.microsoft.com/office/drawing/2014/main" id="{4A31C774-85B0-4799-9983-0384789ACD25}"/>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2" name="Oval 487">
                <a:extLst>
                  <a:ext uri="{FF2B5EF4-FFF2-40B4-BE49-F238E27FC236}">
                    <a16:creationId xmlns:a16="http://schemas.microsoft.com/office/drawing/2014/main" id="{28A63BE3-CD75-4593-9C87-CDC50D6F5C1B}"/>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95373" name="Oval 488">
                <a:extLst>
                  <a:ext uri="{FF2B5EF4-FFF2-40B4-BE49-F238E27FC236}">
                    <a16:creationId xmlns:a16="http://schemas.microsoft.com/office/drawing/2014/main" id="{AA7B387D-BFF4-4B2D-B832-3DC9FCB3961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5374" name="Rectangle 489">
                <a:extLst>
                  <a:ext uri="{FF2B5EF4-FFF2-40B4-BE49-F238E27FC236}">
                    <a16:creationId xmlns:a16="http://schemas.microsoft.com/office/drawing/2014/main" id="{885C1E62-6AD4-4D67-8739-9971B4270100}"/>
                  </a:ext>
                </a:extLst>
              </p:cNvPr>
              <p:cNvSpPr>
                <a:spLocks noChangeArrowheads="1"/>
              </p:cNvSpPr>
              <p:nvPr/>
            </p:nvSpPr>
            <p:spPr bwMode="auto">
              <a:xfrm>
                <a:off x="5057" y="1834"/>
                <a:ext cx="88" cy="758"/>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12703" name="Line 218">
              <a:extLst>
                <a:ext uri="{FF2B5EF4-FFF2-40B4-BE49-F238E27FC236}">
                  <a16:creationId xmlns:a16="http://schemas.microsoft.com/office/drawing/2014/main" id="{0BBBD836-A306-4584-B04B-073F2EA26C55}"/>
                </a:ext>
              </a:extLst>
            </p:cNvPr>
            <p:cNvSpPr>
              <a:spLocks noChangeShapeType="1"/>
            </p:cNvSpPr>
            <p:nvPr/>
          </p:nvSpPr>
          <p:spPr bwMode="auto">
            <a:xfrm flipH="1">
              <a:off x="4957762" y="4337006"/>
              <a:ext cx="320491" cy="15879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44" name="标题 1">
            <a:extLst>
              <a:ext uri="{FF2B5EF4-FFF2-40B4-BE49-F238E27FC236}">
                <a16:creationId xmlns:a16="http://schemas.microsoft.com/office/drawing/2014/main" id="{598508DD-F81D-413E-AE88-C251A419C281}"/>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156"/>
                                        </p:tgtEl>
                                        <p:attrNameLst>
                                          <p:attrName>style.visibility</p:attrName>
                                        </p:attrNameLst>
                                      </p:cBhvr>
                                      <p:to>
                                        <p:strVal val="visible"/>
                                      </p:to>
                                    </p:set>
                                    <p:animEffect transition="in" filter="dissolve">
                                      <p:cBhvr>
                                        <p:cTn id="7" dur="500"/>
                                        <p:tgtEl>
                                          <p:spTgt spid="205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5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8" name="Rectangle 9">
            <a:extLst>
              <a:ext uri="{FF2B5EF4-FFF2-40B4-BE49-F238E27FC236}">
                <a16:creationId xmlns:a16="http://schemas.microsoft.com/office/drawing/2014/main" id="{AD2C35D1-A95B-4372-BA2A-63D0DD145A7C}"/>
              </a:ext>
            </a:extLst>
          </p:cNvPr>
          <p:cNvSpPr>
            <a:spLocks noChangeArrowheads="1"/>
          </p:cNvSpPr>
          <p:nvPr/>
        </p:nvSpPr>
        <p:spPr bwMode="auto">
          <a:xfrm>
            <a:off x="894960" y="2331941"/>
            <a:ext cx="2979738" cy="56356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7291" name="Rectangle 11">
            <a:extLst>
              <a:ext uri="{FF2B5EF4-FFF2-40B4-BE49-F238E27FC236}">
                <a16:creationId xmlns:a16="http://schemas.microsoft.com/office/drawing/2014/main" id="{EDE9EFE4-6397-4BF5-AFC5-6C06C3D6FF4F}"/>
              </a:ext>
            </a:extLst>
          </p:cNvPr>
          <p:cNvSpPr>
            <a:spLocks noChangeArrowheads="1"/>
          </p:cNvSpPr>
          <p:nvPr/>
        </p:nvSpPr>
        <p:spPr bwMode="auto">
          <a:xfrm>
            <a:off x="4842243" y="2311963"/>
            <a:ext cx="2866852" cy="5651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 name="矩形 13">
            <a:extLst>
              <a:ext uri="{FF2B5EF4-FFF2-40B4-BE49-F238E27FC236}">
                <a16:creationId xmlns:a16="http://schemas.microsoft.com/office/drawing/2014/main" id="{F3489267-E6AD-45F9-9FD8-E57EDAA722E2}"/>
              </a:ext>
            </a:extLst>
          </p:cNvPr>
          <p:cNvSpPr/>
          <p:nvPr/>
        </p:nvSpPr>
        <p:spPr>
          <a:xfrm>
            <a:off x="374044" y="782113"/>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拥塞控制方法：两种常用方法</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标题 1">
            <a:extLst>
              <a:ext uri="{FF2B5EF4-FFF2-40B4-BE49-F238E27FC236}">
                <a16:creationId xmlns:a16="http://schemas.microsoft.com/office/drawing/2014/main" id="{A6A4A6BD-850A-4E83-AE4A-BAEAD1F5B4C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Rectangle 3">
            <a:extLst>
              <a:ext uri="{FF2B5EF4-FFF2-40B4-BE49-F238E27FC236}">
                <a16:creationId xmlns:a16="http://schemas.microsoft.com/office/drawing/2014/main" id="{D198F328-8FFC-4757-A913-0E178EAF1D6A}"/>
              </a:ext>
            </a:extLst>
          </p:cNvPr>
          <p:cNvSpPr txBox="1">
            <a:spLocks noChangeArrowheads="1"/>
          </p:cNvSpPr>
          <p:nvPr/>
        </p:nvSpPr>
        <p:spPr>
          <a:xfrm>
            <a:off x="656770" y="1621536"/>
            <a:ext cx="7934780" cy="4131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indent="-360363">
              <a:lnSpc>
                <a:spcPct val="1500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端到端的拥塞控制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网络中无明确的反馈</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端系统通过观察丢失、时延，推断是否发生拥塞</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Clr>
                <a:srgbClr val="2A09B7"/>
              </a:buClr>
              <a:buFont typeface="Wingdings" panose="05000000000000000000" pitchFamily="2" charset="2"/>
              <a:buChar char="ü"/>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采用的拥塞控制策略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60363" indent="-360363">
              <a:lnSpc>
                <a:spcPct val="150000"/>
              </a:lnSpc>
              <a:spcBef>
                <a:spcPts val="600"/>
              </a:spcBef>
              <a:buClr>
                <a:srgbClr val="2A09B7"/>
              </a:buClr>
              <a:buFont typeface="Wingdings" charset="0"/>
              <a:buChar char="v"/>
              <a:defRPr/>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网络辅助的拥塞控制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路由器提供到端系统的反馈</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Clr>
                <a:srgbClr val="2A09B7"/>
              </a:buClr>
              <a:buFont typeface="Wingdings" panose="05000000000000000000" pitchFamily="2" charset="2"/>
              <a:buChar char="ü"/>
              <a:defRPr/>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例如：可以使用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位指示拥塞（如</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X.25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ATM</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8" name="Rectangle 9">
            <a:extLst>
              <a:ext uri="{FF2B5EF4-FFF2-40B4-BE49-F238E27FC236}">
                <a16:creationId xmlns:a16="http://schemas.microsoft.com/office/drawing/2014/main" id="{AD2C35D1-A95B-4372-BA2A-63D0DD145A7C}"/>
              </a:ext>
            </a:extLst>
          </p:cNvPr>
          <p:cNvSpPr>
            <a:spLocks noChangeArrowheads="1"/>
          </p:cNvSpPr>
          <p:nvPr/>
        </p:nvSpPr>
        <p:spPr bwMode="auto">
          <a:xfrm>
            <a:off x="894958" y="2455508"/>
            <a:ext cx="2979738" cy="56356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7291" name="Rectangle 11">
            <a:extLst>
              <a:ext uri="{FF2B5EF4-FFF2-40B4-BE49-F238E27FC236}">
                <a16:creationId xmlns:a16="http://schemas.microsoft.com/office/drawing/2014/main" id="{EDE9EFE4-6397-4BF5-AFC5-6C06C3D6FF4F}"/>
              </a:ext>
            </a:extLst>
          </p:cNvPr>
          <p:cNvSpPr>
            <a:spLocks noChangeArrowheads="1"/>
          </p:cNvSpPr>
          <p:nvPr/>
        </p:nvSpPr>
        <p:spPr bwMode="auto">
          <a:xfrm>
            <a:off x="4842241" y="2435530"/>
            <a:ext cx="2866852" cy="56515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 name="矩形 13">
            <a:extLst>
              <a:ext uri="{FF2B5EF4-FFF2-40B4-BE49-F238E27FC236}">
                <a16:creationId xmlns:a16="http://schemas.microsoft.com/office/drawing/2014/main" id="{F3489267-E6AD-45F9-9FD8-E57EDAA722E2}"/>
              </a:ext>
            </a:extLst>
          </p:cNvPr>
          <p:cNvSpPr/>
          <p:nvPr/>
        </p:nvSpPr>
        <p:spPr>
          <a:xfrm>
            <a:off x="374042" y="814208"/>
            <a:ext cx="8395911" cy="518347"/>
          </a:xfrm>
          <a:prstGeom prst="rect">
            <a:avLst/>
          </a:prstGeom>
        </p:spPr>
        <p:txBody>
          <a:bodyPr wrap="square">
            <a:spAutoFit/>
          </a:bodyPr>
          <a:lstStyle/>
          <a:p>
            <a:pPr marL="285750" indent="-285750">
              <a:lnSpc>
                <a:spcPts val="3600"/>
              </a:lnSpc>
              <a:spcBef>
                <a:spcPts val="600"/>
              </a:spcBef>
              <a:buClr>
                <a:srgbClr val="C00000"/>
              </a:buClr>
              <a:buFont typeface="Wingdings" panose="05000000000000000000" pitchFamily="2" charset="2"/>
              <a:buChar char="n"/>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拥塞控制方法：网络辅助的拥塞控制</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标题 1">
            <a:extLst>
              <a:ext uri="{FF2B5EF4-FFF2-40B4-BE49-F238E27FC236}">
                <a16:creationId xmlns:a16="http://schemas.microsoft.com/office/drawing/2014/main" id="{A6A4A6BD-850A-4E83-AE4A-BAEAD1F5B4C8}"/>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3.6 </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理解网络拥塞</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B2EF1CE5-62F0-493D-9BED-F64FEDB0F449}"/>
              </a:ext>
            </a:extLst>
          </p:cNvPr>
          <p:cNvPicPr>
            <a:picLocks noChangeAspect="1"/>
          </p:cNvPicPr>
          <p:nvPr/>
        </p:nvPicPr>
        <p:blipFill>
          <a:blip r:embed="rId3"/>
          <a:stretch>
            <a:fillRect/>
          </a:stretch>
        </p:blipFill>
        <p:spPr>
          <a:xfrm>
            <a:off x="944230" y="2066562"/>
            <a:ext cx="7255533" cy="3618575"/>
          </a:xfrm>
          <a:prstGeom prst="rect">
            <a:avLst/>
          </a:prstGeom>
        </p:spPr>
      </p:pic>
      <p:sp>
        <p:nvSpPr>
          <p:cNvPr id="4" name="Text Box 52">
            <a:extLst>
              <a:ext uri="{FF2B5EF4-FFF2-40B4-BE49-F238E27FC236}">
                <a16:creationId xmlns:a16="http://schemas.microsoft.com/office/drawing/2014/main" id="{88A672E1-C4C2-48D7-A42E-AF3E33F203DA}"/>
              </a:ext>
            </a:extLst>
          </p:cNvPr>
          <p:cNvSpPr txBox="1">
            <a:spLocks noChangeArrowheads="1"/>
          </p:cNvSpPr>
          <p:nvPr/>
        </p:nvSpPr>
        <p:spPr bwMode="auto">
          <a:xfrm>
            <a:off x="7270342" y="1726707"/>
            <a:ext cx="804088" cy="35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sz="1800" dirty="0"/>
              <a:t>主机</a:t>
            </a:r>
            <a:r>
              <a:rPr lang="en-US" altLang="zh-CN" sz="1800" dirty="0"/>
              <a:t>B</a:t>
            </a:r>
          </a:p>
        </p:txBody>
      </p:sp>
      <p:sp>
        <p:nvSpPr>
          <p:cNvPr id="5" name="Text Box 52">
            <a:extLst>
              <a:ext uri="{FF2B5EF4-FFF2-40B4-BE49-F238E27FC236}">
                <a16:creationId xmlns:a16="http://schemas.microsoft.com/office/drawing/2014/main" id="{BA15F5F0-E86F-403F-8490-46AD5ADC06C2}"/>
              </a:ext>
            </a:extLst>
          </p:cNvPr>
          <p:cNvSpPr txBox="1">
            <a:spLocks noChangeArrowheads="1"/>
          </p:cNvSpPr>
          <p:nvPr/>
        </p:nvSpPr>
        <p:spPr bwMode="auto">
          <a:xfrm>
            <a:off x="2805111" y="1997579"/>
            <a:ext cx="3557587" cy="35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sz="1800" dirty="0">
                <a:solidFill>
                  <a:schemeClr val="accent2">
                    <a:lumMod val="75000"/>
                  </a:schemeClr>
                </a:solidFill>
                <a:latin typeface="宋体" panose="02010600030101010101" pitchFamily="2" charset="-122"/>
                <a:ea typeface="宋体" panose="02010600030101010101" pitchFamily="2" charset="-122"/>
              </a:rPr>
              <a:t>通过接收端的网络反馈</a:t>
            </a:r>
            <a:r>
              <a:rPr lang="en-US" altLang="zh-CN" sz="1800" dirty="0">
                <a:solidFill>
                  <a:schemeClr val="accent2">
                    <a:lumMod val="75000"/>
                  </a:schemeClr>
                </a:solidFill>
                <a:latin typeface="宋体" panose="02010600030101010101" pitchFamily="2" charset="-122"/>
                <a:ea typeface="宋体" panose="02010600030101010101" pitchFamily="2" charset="-122"/>
              </a:rPr>
              <a:t>(</a:t>
            </a:r>
            <a:r>
              <a:rPr lang="zh-CN" altLang="en-US" sz="1800" dirty="0">
                <a:solidFill>
                  <a:schemeClr val="accent2">
                    <a:lumMod val="75000"/>
                  </a:schemeClr>
                </a:solidFill>
                <a:latin typeface="宋体" panose="02010600030101010101" pitchFamily="2" charset="-122"/>
                <a:ea typeface="宋体" panose="02010600030101010101" pitchFamily="2" charset="-122"/>
              </a:rPr>
              <a:t>前向反馈</a:t>
            </a:r>
            <a:r>
              <a:rPr lang="en-US" altLang="zh-CN" sz="1800" dirty="0">
                <a:solidFill>
                  <a:schemeClr val="accent2">
                    <a:lumMod val="75000"/>
                  </a:schemeClr>
                </a:solidFill>
                <a:latin typeface="宋体" panose="02010600030101010101" pitchFamily="2" charset="-122"/>
                <a:ea typeface="宋体" panose="02010600030101010101" pitchFamily="2" charset="-122"/>
              </a:rPr>
              <a:t>)</a:t>
            </a:r>
          </a:p>
        </p:txBody>
      </p:sp>
      <p:sp>
        <p:nvSpPr>
          <p:cNvPr id="6" name="Text Box 52">
            <a:extLst>
              <a:ext uri="{FF2B5EF4-FFF2-40B4-BE49-F238E27FC236}">
                <a16:creationId xmlns:a16="http://schemas.microsoft.com/office/drawing/2014/main" id="{5D4CC87D-7CC0-4A66-853A-77A186C2A77D}"/>
              </a:ext>
            </a:extLst>
          </p:cNvPr>
          <p:cNvSpPr txBox="1">
            <a:spLocks noChangeArrowheads="1"/>
          </p:cNvSpPr>
          <p:nvPr/>
        </p:nvSpPr>
        <p:spPr bwMode="auto">
          <a:xfrm>
            <a:off x="944230" y="1751452"/>
            <a:ext cx="804088" cy="35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r>
              <a:rPr lang="zh-CN" altLang="en-US" sz="1800" dirty="0"/>
              <a:t>主机</a:t>
            </a:r>
            <a:r>
              <a:rPr lang="en-US" altLang="zh-CN" sz="1800" dirty="0"/>
              <a:t>A</a:t>
            </a:r>
          </a:p>
        </p:txBody>
      </p:sp>
      <p:sp>
        <p:nvSpPr>
          <p:cNvPr id="7" name="Text Box 52">
            <a:extLst>
              <a:ext uri="{FF2B5EF4-FFF2-40B4-BE49-F238E27FC236}">
                <a16:creationId xmlns:a16="http://schemas.microsoft.com/office/drawing/2014/main" id="{75BEEFCC-FAE1-4A88-B580-D9FC98DBCE07}"/>
              </a:ext>
            </a:extLst>
          </p:cNvPr>
          <p:cNvSpPr txBox="1">
            <a:spLocks noChangeArrowheads="1"/>
          </p:cNvSpPr>
          <p:nvPr/>
        </p:nvSpPr>
        <p:spPr bwMode="auto">
          <a:xfrm>
            <a:off x="4062410" y="2815461"/>
            <a:ext cx="1628775" cy="63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defRPr sz="1400">
                <a:solidFill>
                  <a:schemeClr val="tx2"/>
                </a:solidFill>
                <a:latin typeface="Arial" panose="020B0604020202020204" pitchFamily="34" charset="0"/>
                <a:ea typeface="MS PGothic" panose="020B0600070205080204" pitchFamily="34" charset="-128"/>
              </a:defRPr>
            </a:lvl1pPr>
            <a:lvl2pPr marL="742950" indent="-285750">
              <a:defRPr sz="1600">
                <a:latin typeface="Tahoma" panose="020B0604030504040204" pitchFamily="34" charset="0"/>
                <a:ea typeface="MS PGothic" panose="020B0600070205080204" pitchFamily="34" charset="-128"/>
              </a:defRPr>
            </a:lvl2pPr>
            <a:lvl3pPr marL="1143000" indent="-228600">
              <a:defRPr sz="1600">
                <a:latin typeface="Tahoma" panose="020B0604030504040204" pitchFamily="34" charset="0"/>
                <a:ea typeface="MS PGothic" panose="020B0600070205080204" pitchFamily="34" charset="-128"/>
              </a:defRPr>
            </a:lvl3pPr>
            <a:lvl4pPr marL="1600200" indent="-228600">
              <a:defRPr sz="1600">
                <a:latin typeface="Tahoma" panose="020B0604030504040204" pitchFamily="34" charset="0"/>
                <a:ea typeface="MS PGothic" panose="020B0600070205080204" pitchFamily="34" charset="-128"/>
              </a:defRPr>
            </a:lvl4pPr>
            <a:lvl5pPr marL="2057400" indent="-228600">
              <a:defRPr sz="1600">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latin typeface="Tahoma" panose="020B0604030504040204" pitchFamily="34" charset="0"/>
                <a:ea typeface="MS PGothic" panose="020B0600070205080204" pitchFamily="34" charset="-128"/>
              </a:defRPr>
            </a:lvl9pPr>
          </a:lstStyle>
          <a:p>
            <a:pPr algn="ctr"/>
            <a:r>
              <a:rPr lang="zh-CN" altLang="en-US" sz="1800" dirty="0">
                <a:solidFill>
                  <a:schemeClr val="accent2">
                    <a:lumMod val="75000"/>
                  </a:schemeClr>
                </a:solidFill>
                <a:latin typeface="宋体" panose="02010600030101010101" pitchFamily="2" charset="-122"/>
                <a:ea typeface="宋体" panose="02010600030101010101" pitchFamily="2" charset="-122"/>
              </a:rPr>
              <a:t>直接网络反馈</a:t>
            </a:r>
            <a:r>
              <a:rPr lang="en-US" altLang="zh-CN" sz="1800" dirty="0">
                <a:solidFill>
                  <a:schemeClr val="accent2">
                    <a:lumMod val="75000"/>
                  </a:schemeClr>
                </a:solidFill>
                <a:latin typeface="宋体" panose="02010600030101010101" pitchFamily="2" charset="-122"/>
                <a:ea typeface="宋体" panose="02010600030101010101" pitchFamily="2" charset="-122"/>
              </a:rPr>
              <a:t>(</a:t>
            </a:r>
            <a:r>
              <a:rPr lang="zh-CN" altLang="en-US" sz="1800" dirty="0">
                <a:solidFill>
                  <a:schemeClr val="accent2">
                    <a:lumMod val="75000"/>
                  </a:schemeClr>
                </a:solidFill>
                <a:latin typeface="宋体" panose="02010600030101010101" pitchFamily="2" charset="-122"/>
                <a:ea typeface="宋体" panose="02010600030101010101" pitchFamily="2" charset="-122"/>
              </a:rPr>
              <a:t>后向反馈）</a:t>
            </a:r>
            <a:endParaRPr lang="en-US" altLang="zh-CN" sz="1800" dirty="0">
              <a:solidFill>
                <a:schemeClr val="accent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859154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50" y="805082"/>
            <a:ext cx="8229600" cy="2883641"/>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目标</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既不造成网络严重拥塞，又能更快地传输数据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600"/>
              </a:spcBef>
              <a:buClr>
                <a:schemeClr val="accent2"/>
              </a:buClr>
              <a:buSzPct val="75000"/>
              <a:buFont typeface="Symbol" pitchFamily="18" charset="2"/>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关键问题：发送多快更合适？</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200"/>
              </a:lnSpc>
              <a:spcBef>
                <a:spcPts val="600"/>
              </a:spcBef>
              <a:buClr>
                <a:srgbClr val="C00000"/>
              </a:buClr>
              <a:buSzPct val="85000"/>
              <a:buBlip>
                <a:blip r:embed="rId3"/>
              </a:buBlip>
            </a:pP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带宽探测</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接收到</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提高传输速率，发生丢失事件降低传输速率</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600"/>
              </a:spcBef>
              <a:buClr>
                <a:schemeClr val="accent2"/>
              </a:buClr>
              <a:buSzPct val="75000"/>
              <a:buFont typeface="Symbol" pitchFamily="18" charset="2"/>
              <a:buBlip>
                <a:blip r:embed="rId4"/>
              </a:buBlip>
            </a:pP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ACK</a:t>
            </a:r>
            <a:r>
              <a:rPr lang="zh-CN" altLang="en-US"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返回</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：说明网络并未拥塞，继续提高发送速率</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600"/>
              </a:spcBef>
              <a:buClr>
                <a:schemeClr val="accent2"/>
              </a:buClr>
              <a:buSzPct val="75000"/>
              <a:buFont typeface="Symbol" pitchFamily="18" charset="2"/>
              <a:buBlip>
                <a:blip r:embed="rId4"/>
              </a:buBlip>
            </a:pPr>
            <a:r>
              <a:rPr lang="zh-CN" altLang="en-US"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丢失事件</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假设所有丢失由拥塞造成</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，降低发送速率</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Line 4">
            <a:extLst>
              <a:ext uri="{FF2B5EF4-FFF2-40B4-BE49-F238E27FC236}">
                <a16:creationId xmlns:a16="http://schemas.microsoft.com/office/drawing/2014/main" id="{40B53BA5-0328-4230-974B-49C488929B7D}"/>
              </a:ext>
            </a:extLst>
          </p:cNvPr>
          <p:cNvSpPr>
            <a:spLocks noChangeShapeType="1"/>
          </p:cNvSpPr>
          <p:nvPr/>
        </p:nvSpPr>
        <p:spPr bwMode="auto">
          <a:xfrm flipH="1">
            <a:off x="1059323" y="3983258"/>
            <a:ext cx="2104" cy="2404943"/>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6" name="Line 6">
            <a:extLst>
              <a:ext uri="{FF2B5EF4-FFF2-40B4-BE49-F238E27FC236}">
                <a16:creationId xmlns:a16="http://schemas.microsoft.com/office/drawing/2014/main" id="{05C0BCDC-E3AF-4114-96FE-13BB68821468}"/>
              </a:ext>
            </a:extLst>
          </p:cNvPr>
          <p:cNvSpPr>
            <a:spLocks noChangeShapeType="1"/>
          </p:cNvSpPr>
          <p:nvPr/>
        </p:nvSpPr>
        <p:spPr bwMode="auto">
          <a:xfrm>
            <a:off x="1049800" y="6377089"/>
            <a:ext cx="4105275" cy="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7" name="Line 7">
            <a:extLst>
              <a:ext uri="{FF2B5EF4-FFF2-40B4-BE49-F238E27FC236}">
                <a16:creationId xmlns:a16="http://schemas.microsoft.com/office/drawing/2014/main" id="{7C8DD40C-C80E-4FF7-A677-D655E8E5356E}"/>
              </a:ext>
            </a:extLst>
          </p:cNvPr>
          <p:cNvSpPr>
            <a:spLocks noChangeShapeType="1"/>
          </p:cNvSpPr>
          <p:nvPr/>
        </p:nvSpPr>
        <p:spPr bwMode="auto">
          <a:xfrm flipV="1">
            <a:off x="1068850" y="4943576"/>
            <a:ext cx="671513" cy="57150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8" name="Text Box 8">
            <a:extLst>
              <a:ext uri="{FF2B5EF4-FFF2-40B4-BE49-F238E27FC236}">
                <a16:creationId xmlns:a16="http://schemas.microsoft.com/office/drawing/2014/main" id="{2A34323B-0EBE-4B09-A306-3879CACB8D4A}"/>
              </a:ext>
            </a:extLst>
          </p:cNvPr>
          <p:cNvSpPr txBox="1">
            <a:spLocks noChangeArrowheads="1"/>
          </p:cNvSpPr>
          <p:nvPr/>
        </p:nvSpPr>
        <p:spPr bwMode="auto">
          <a:xfrm>
            <a:off x="1067005" y="3948154"/>
            <a:ext cx="3036409" cy="400110"/>
          </a:xfrm>
          <a:prstGeom prst="rect">
            <a:avLst/>
          </a:prstGeom>
          <a:noFill/>
          <a:ln w="9525">
            <a:noFill/>
            <a:miter lim="800000"/>
            <a:headEnd/>
            <a:tailEnd/>
          </a:ln>
          <a:effectLst/>
        </p:spPr>
        <p:txBody>
          <a:bodyPr wrap="none">
            <a:spAutoFit/>
          </a:bodyPr>
          <a:lstStyle/>
          <a:p>
            <a:pPr>
              <a:lnSpc>
                <a:spcPct val="100000"/>
              </a:lnSpc>
              <a:defRPr/>
            </a:pPr>
            <a:r>
              <a:rPr lang="zh-CN" altLang="en-US" sz="2000" dirty="0">
                <a:latin typeface="Times New Roman" panose="02020603050405020304" pitchFamily="18" charset="0"/>
                <a:ea typeface="宋体" pitchFamily="2" charset="-122"/>
                <a:cs typeface="Times New Roman" panose="02020603050405020304" pitchFamily="18" charset="0"/>
              </a:rPr>
              <a:t>接收</a:t>
            </a:r>
            <a:r>
              <a:rPr lang="en-US" altLang="zh-CN" sz="2000" dirty="0">
                <a:latin typeface="Times New Roman" panose="02020603050405020304" pitchFamily="18" charset="0"/>
                <a:ea typeface="宋体" pitchFamily="2" charset="-122"/>
                <a:cs typeface="Times New Roman" panose="02020603050405020304" pitchFamily="18" charset="0"/>
              </a:rPr>
              <a:t>ACK</a:t>
            </a:r>
            <a:r>
              <a:rPr lang="zh-CN" altLang="en-US" sz="2000" dirty="0">
                <a:latin typeface="Times New Roman" panose="02020603050405020304" pitchFamily="18" charset="0"/>
                <a:ea typeface="宋体" pitchFamily="2" charset="-122"/>
                <a:cs typeface="Times New Roman" panose="02020603050405020304" pitchFamily="18" charset="0"/>
              </a:rPr>
              <a:t>，增加发送速率</a:t>
            </a:r>
            <a:endParaRPr lang="en-US" altLang="zh-CN" sz="2000" dirty="0">
              <a:latin typeface="Times New Roman" panose="02020603050405020304" pitchFamily="18" charset="0"/>
              <a:ea typeface="宋体" pitchFamily="2" charset="-122"/>
              <a:cs typeface="Times New Roman" panose="02020603050405020304" pitchFamily="18" charset="0"/>
            </a:endParaRPr>
          </a:p>
        </p:txBody>
      </p:sp>
      <p:sp>
        <p:nvSpPr>
          <p:cNvPr id="9" name="Line 9">
            <a:extLst>
              <a:ext uri="{FF2B5EF4-FFF2-40B4-BE49-F238E27FC236}">
                <a16:creationId xmlns:a16="http://schemas.microsoft.com/office/drawing/2014/main" id="{32543901-20B0-4681-BEDC-6DD2CA189B71}"/>
              </a:ext>
            </a:extLst>
          </p:cNvPr>
          <p:cNvSpPr>
            <a:spLocks noChangeShapeType="1"/>
          </p:cNvSpPr>
          <p:nvPr/>
        </p:nvSpPr>
        <p:spPr bwMode="auto">
          <a:xfrm>
            <a:off x="1735600" y="4948339"/>
            <a:ext cx="0" cy="700087"/>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0" name="Line 11">
            <a:extLst>
              <a:ext uri="{FF2B5EF4-FFF2-40B4-BE49-F238E27FC236}">
                <a16:creationId xmlns:a16="http://schemas.microsoft.com/office/drawing/2014/main" id="{BDC90280-A27C-4384-A7B6-BACB1B9E05DE}"/>
              </a:ext>
            </a:extLst>
          </p:cNvPr>
          <p:cNvSpPr>
            <a:spLocks noChangeShapeType="1"/>
          </p:cNvSpPr>
          <p:nvPr/>
        </p:nvSpPr>
        <p:spPr bwMode="auto">
          <a:xfrm flipV="1">
            <a:off x="1745125" y="5334101"/>
            <a:ext cx="352425" cy="295275"/>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1" name="Line 12">
            <a:extLst>
              <a:ext uri="{FF2B5EF4-FFF2-40B4-BE49-F238E27FC236}">
                <a16:creationId xmlns:a16="http://schemas.microsoft.com/office/drawing/2014/main" id="{BA3E943B-173A-4819-8E26-5B8E227F454F}"/>
              </a:ext>
            </a:extLst>
          </p:cNvPr>
          <p:cNvSpPr>
            <a:spLocks noChangeShapeType="1"/>
          </p:cNvSpPr>
          <p:nvPr/>
        </p:nvSpPr>
        <p:spPr bwMode="auto">
          <a:xfrm flipH="1">
            <a:off x="2088025" y="5343626"/>
            <a:ext cx="4763" cy="51435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2" name="Line 13">
            <a:extLst>
              <a:ext uri="{FF2B5EF4-FFF2-40B4-BE49-F238E27FC236}">
                <a16:creationId xmlns:a16="http://schemas.microsoft.com/office/drawing/2014/main" id="{A99AF29C-DE36-4F91-8473-84F89A99975F}"/>
              </a:ext>
            </a:extLst>
          </p:cNvPr>
          <p:cNvSpPr>
            <a:spLocks noChangeShapeType="1"/>
          </p:cNvSpPr>
          <p:nvPr/>
        </p:nvSpPr>
        <p:spPr bwMode="auto">
          <a:xfrm>
            <a:off x="3507250" y="4634014"/>
            <a:ext cx="0" cy="871537"/>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3" name="Line 14">
            <a:extLst>
              <a:ext uri="{FF2B5EF4-FFF2-40B4-BE49-F238E27FC236}">
                <a16:creationId xmlns:a16="http://schemas.microsoft.com/office/drawing/2014/main" id="{AB2FCB44-0D97-414B-9F27-F212B7BA2151}"/>
              </a:ext>
            </a:extLst>
          </p:cNvPr>
          <p:cNvSpPr>
            <a:spLocks noChangeShapeType="1"/>
          </p:cNvSpPr>
          <p:nvPr/>
        </p:nvSpPr>
        <p:spPr bwMode="auto">
          <a:xfrm flipV="1">
            <a:off x="2088025" y="4634014"/>
            <a:ext cx="1428750" cy="121920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4" name="Line 15">
            <a:extLst>
              <a:ext uri="{FF2B5EF4-FFF2-40B4-BE49-F238E27FC236}">
                <a16:creationId xmlns:a16="http://schemas.microsoft.com/office/drawing/2014/main" id="{178BBCF4-0F11-4C42-ADFE-6AA2344864C8}"/>
              </a:ext>
            </a:extLst>
          </p:cNvPr>
          <p:cNvSpPr>
            <a:spLocks noChangeShapeType="1"/>
          </p:cNvSpPr>
          <p:nvPr/>
        </p:nvSpPr>
        <p:spPr bwMode="auto">
          <a:xfrm flipH="1">
            <a:off x="4259725" y="4838801"/>
            <a:ext cx="14288" cy="87630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5" name="Line 16">
            <a:extLst>
              <a:ext uri="{FF2B5EF4-FFF2-40B4-BE49-F238E27FC236}">
                <a16:creationId xmlns:a16="http://schemas.microsoft.com/office/drawing/2014/main" id="{04C85027-6777-497E-9FD3-5FDCB3360863}"/>
              </a:ext>
            </a:extLst>
          </p:cNvPr>
          <p:cNvSpPr>
            <a:spLocks noChangeShapeType="1"/>
          </p:cNvSpPr>
          <p:nvPr/>
        </p:nvSpPr>
        <p:spPr bwMode="auto">
          <a:xfrm flipV="1">
            <a:off x="3497725" y="4843564"/>
            <a:ext cx="785813" cy="666750"/>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16" name="Line 17">
            <a:extLst>
              <a:ext uri="{FF2B5EF4-FFF2-40B4-BE49-F238E27FC236}">
                <a16:creationId xmlns:a16="http://schemas.microsoft.com/office/drawing/2014/main" id="{14231273-CE60-4750-87A2-1653827228B1}"/>
              </a:ext>
            </a:extLst>
          </p:cNvPr>
          <p:cNvSpPr>
            <a:spLocks noChangeShapeType="1"/>
          </p:cNvSpPr>
          <p:nvPr/>
        </p:nvSpPr>
        <p:spPr bwMode="auto">
          <a:xfrm flipH="1">
            <a:off x="1449850" y="4529239"/>
            <a:ext cx="4763" cy="542925"/>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latin typeface="+mn-lt"/>
            </a:endParaRPr>
          </a:p>
        </p:txBody>
      </p:sp>
      <p:sp>
        <p:nvSpPr>
          <p:cNvPr id="17" name="Line 18">
            <a:extLst>
              <a:ext uri="{FF2B5EF4-FFF2-40B4-BE49-F238E27FC236}">
                <a16:creationId xmlns:a16="http://schemas.microsoft.com/office/drawing/2014/main" id="{C13A330A-C9D8-4FE5-97B3-99B84577A5C5}"/>
              </a:ext>
            </a:extLst>
          </p:cNvPr>
          <p:cNvSpPr>
            <a:spLocks noChangeShapeType="1"/>
          </p:cNvSpPr>
          <p:nvPr/>
        </p:nvSpPr>
        <p:spPr bwMode="auto">
          <a:xfrm>
            <a:off x="1921338" y="4543526"/>
            <a:ext cx="4762" cy="823913"/>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latin typeface="+mn-lt"/>
            </a:endParaRPr>
          </a:p>
        </p:txBody>
      </p:sp>
      <p:sp>
        <p:nvSpPr>
          <p:cNvPr id="18" name="Line 19">
            <a:extLst>
              <a:ext uri="{FF2B5EF4-FFF2-40B4-BE49-F238E27FC236}">
                <a16:creationId xmlns:a16="http://schemas.microsoft.com/office/drawing/2014/main" id="{4073826C-49C5-4E69-8723-241FD1F48BBB}"/>
              </a:ext>
            </a:extLst>
          </p:cNvPr>
          <p:cNvSpPr>
            <a:spLocks noChangeShapeType="1"/>
          </p:cNvSpPr>
          <p:nvPr/>
        </p:nvSpPr>
        <p:spPr bwMode="auto">
          <a:xfrm>
            <a:off x="2445213" y="4529239"/>
            <a:ext cx="4762" cy="900112"/>
          </a:xfrm>
          <a:prstGeom prst="line">
            <a:avLst/>
          </a:prstGeom>
          <a:noFill/>
          <a:ln w="9525">
            <a:solidFill>
              <a:schemeClr val="tx1"/>
            </a:solidFill>
            <a:prstDash val="dash"/>
            <a:round/>
            <a:headEnd/>
            <a:tailEnd type="triangle" w="med" len="med"/>
          </a:ln>
          <a:effectLst/>
        </p:spPr>
        <p:txBody>
          <a:bodyPr wrap="none"/>
          <a:lstStyle/>
          <a:p>
            <a:pPr>
              <a:defRPr/>
            </a:pPr>
            <a:endParaRPr lang="zh-CN" altLang="en-US" sz="2000">
              <a:latin typeface="+mn-lt"/>
            </a:endParaRPr>
          </a:p>
        </p:txBody>
      </p:sp>
      <p:sp>
        <p:nvSpPr>
          <p:cNvPr id="19" name="Text Box 20">
            <a:extLst>
              <a:ext uri="{FF2B5EF4-FFF2-40B4-BE49-F238E27FC236}">
                <a16:creationId xmlns:a16="http://schemas.microsoft.com/office/drawing/2014/main" id="{CD47BEA8-A5B0-46A2-A5FB-2D9713CB3675}"/>
              </a:ext>
            </a:extLst>
          </p:cNvPr>
          <p:cNvSpPr txBox="1">
            <a:spLocks noChangeArrowheads="1"/>
          </p:cNvSpPr>
          <p:nvPr/>
        </p:nvSpPr>
        <p:spPr bwMode="auto">
          <a:xfrm>
            <a:off x="1546688" y="4714976"/>
            <a:ext cx="357187" cy="461963"/>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0" name="Text Box 21">
            <a:extLst>
              <a:ext uri="{FF2B5EF4-FFF2-40B4-BE49-F238E27FC236}">
                <a16:creationId xmlns:a16="http://schemas.microsoft.com/office/drawing/2014/main" id="{7D2CDCAC-640E-4F20-BEB5-93ADB40FB416}"/>
              </a:ext>
            </a:extLst>
          </p:cNvPr>
          <p:cNvSpPr txBox="1">
            <a:spLocks noChangeArrowheads="1"/>
          </p:cNvSpPr>
          <p:nvPr/>
        </p:nvSpPr>
        <p:spPr bwMode="auto">
          <a:xfrm>
            <a:off x="1895938" y="5132489"/>
            <a:ext cx="355600" cy="460375"/>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1" name="Text Box 22">
            <a:extLst>
              <a:ext uri="{FF2B5EF4-FFF2-40B4-BE49-F238E27FC236}">
                <a16:creationId xmlns:a16="http://schemas.microsoft.com/office/drawing/2014/main" id="{8F88A32B-7936-453D-A437-3D03640912E9}"/>
              </a:ext>
            </a:extLst>
          </p:cNvPr>
          <p:cNvSpPr txBox="1">
            <a:spLocks noChangeArrowheads="1"/>
          </p:cNvSpPr>
          <p:nvPr/>
        </p:nvSpPr>
        <p:spPr bwMode="auto">
          <a:xfrm>
            <a:off x="3324688" y="4432401"/>
            <a:ext cx="355600" cy="460375"/>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sp>
        <p:nvSpPr>
          <p:cNvPr id="22" name="Text Box 23">
            <a:extLst>
              <a:ext uri="{FF2B5EF4-FFF2-40B4-BE49-F238E27FC236}">
                <a16:creationId xmlns:a16="http://schemas.microsoft.com/office/drawing/2014/main" id="{26DAF434-3DDD-434C-BE3C-8034CEC118E0}"/>
              </a:ext>
            </a:extLst>
          </p:cNvPr>
          <p:cNvSpPr txBox="1">
            <a:spLocks noChangeArrowheads="1"/>
          </p:cNvSpPr>
          <p:nvPr/>
        </p:nvSpPr>
        <p:spPr bwMode="auto">
          <a:xfrm>
            <a:off x="4091450" y="4632426"/>
            <a:ext cx="355600" cy="460375"/>
          </a:xfrm>
          <a:prstGeom prst="rect">
            <a:avLst/>
          </a:prstGeom>
          <a:noFill/>
          <a:ln w="9525">
            <a:noFill/>
            <a:miter lim="800000"/>
            <a:headEnd/>
            <a:tailEnd/>
          </a:ln>
        </p:spPr>
        <p:txBody>
          <a:bodyPr wrap="none">
            <a:spAutoFit/>
          </a:bodyPr>
          <a:lstStyle/>
          <a:p>
            <a:r>
              <a:rPr lang="en-US" altLang="zh-CN" sz="2000" b="1">
                <a:solidFill>
                  <a:srgbClr val="FF0000"/>
                </a:solidFill>
                <a:latin typeface="Arial Unicode MS" pitchFamily="34" charset="-122"/>
                <a:ea typeface="Arial Unicode MS" pitchFamily="34" charset="-122"/>
                <a:cs typeface="Arial Unicode MS" pitchFamily="34" charset="-122"/>
              </a:rPr>
              <a:t>X</a:t>
            </a:r>
          </a:p>
        </p:txBody>
      </p:sp>
      <p:grpSp>
        <p:nvGrpSpPr>
          <p:cNvPr id="23" name="Group 26">
            <a:extLst>
              <a:ext uri="{FF2B5EF4-FFF2-40B4-BE49-F238E27FC236}">
                <a16:creationId xmlns:a16="http://schemas.microsoft.com/office/drawing/2014/main" id="{9720521F-E2C2-4F19-B41D-42A369E7B57B}"/>
              </a:ext>
            </a:extLst>
          </p:cNvPr>
          <p:cNvGrpSpPr>
            <a:grpSpLocks/>
          </p:cNvGrpSpPr>
          <p:nvPr/>
        </p:nvGrpSpPr>
        <p:grpSpPr bwMode="auto">
          <a:xfrm>
            <a:off x="4807413" y="3948213"/>
            <a:ext cx="2727326" cy="400051"/>
            <a:chOff x="4085" y="2459"/>
            <a:chExt cx="1718" cy="252"/>
          </a:xfrm>
        </p:grpSpPr>
        <p:sp>
          <p:nvSpPr>
            <p:cNvPr id="24" name="Text Box 24">
              <a:extLst>
                <a:ext uri="{FF2B5EF4-FFF2-40B4-BE49-F238E27FC236}">
                  <a16:creationId xmlns:a16="http://schemas.microsoft.com/office/drawing/2014/main" id="{FB14ACF4-12F3-4AF7-9A8E-6493D7B3C1E9}"/>
                </a:ext>
              </a:extLst>
            </p:cNvPr>
            <p:cNvSpPr txBox="1">
              <a:spLocks noChangeArrowheads="1"/>
            </p:cNvSpPr>
            <p:nvPr/>
          </p:nvSpPr>
          <p:spPr bwMode="auto">
            <a:xfrm>
              <a:off x="4085" y="2459"/>
              <a:ext cx="205" cy="252"/>
            </a:xfrm>
            <a:prstGeom prst="rect">
              <a:avLst/>
            </a:prstGeom>
            <a:noFill/>
            <a:ln w="9525">
              <a:noFill/>
              <a:miter lim="800000"/>
              <a:headEnd/>
              <a:tailEnd/>
            </a:ln>
          </p:spPr>
          <p:txBody>
            <a:bodyPr wrap="none">
              <a:spAutoFit/>
            </a:bodyPr>
            <a:lstStyle/>
            <a:p>
              <a:r>
                <a:rPr lang="en-US" altLang="zh-CN" sz="2000" b="1" dirty="0">
                  <a:solidFill>
                    <a:srgbClr val="FF0000"/>
                  </a:solidFill>
                  <a:ea typeface="Arial Unicode MS" pitchFamily="34" charset="-122"/>
                  <a:cs typeface="Times New Roman" panose="02020603050405020304" pitchFamily="18" charset="0"/>
                </a:rPr>
                <a:t>X</a:t>
              </a:r>
            </a:p>
          </p:txBody>
        </p:sp>
        <p:sp>
          <p:nvSpPr>
            <p:cNvPr id="25" name="Text Box 25">
              <a:extLst>
                <a:ext uri="{FF2B5EF4-FFF2-40B4-BE49-F238E27FC236}">
                  <a16:creationId xmlns:a16="http://schemas.microsoft.com/office/drawing/2014/main" id="{4BC696CC-5EF0-4EFF-99B1-D5D45CE83B0B}"/>
                </a:ext>
              </a:extLst>
            </p:cNvPr>
            <p:cNvSpPr txBox="1">
              <a:spLocks noChangeArrowheads="1"/>
            </p:cNvSpPr>
            <p:nvPr/>
          </p:nvSpPr>
          <p:spPr bwMode="auto">
            <a:xfrm>
              <a:off x="4233" y="2459"/>
              <a:ext cx="1570" cy="252"/>
            </a:xfrm>
            <a:prstGeom prst="rect">
              <a:avLst/>
            </a:prstGeom>
            <a:noFill/>
            <a:ln w="9525">
              <a:noFill/>
              <a:miter lim="800000"/>
              <a:headEnd/>
              <a:tailEnd/>
            </a:ln>
            <a:effectLst/>
          </p:spPr>
          <p:txBody>
            <a:bodyPr wrap="none">
              <a:spAutoFit/>
            </a:bodyPr>
            <a:lstStyle/>
            <a:p>
              <a:pPr>
                <a:defRPr/>
              </a:pPr>
              <a:r>
                <a:rPr lang="zh-CN" altLang="en-US" sz="2000" dirty="0">
                  <a:latin typeface="Times New Roman" panose="02020603050405020304" pitchFamily="18" charset="0"/>
                  <a:ea typeface="宋体" pitchFamily="2" charset="-122"/>
                  <a:cs typeface="Times New Roman" panose="02020603050405020304" pitchFamily="18" charset="0"/>
                </a:rPr>
                <a:t>丢失，降低发送速率</a:t>
              </a:r>
              <a:endParaRPr lang="en-US" altLang="zh-CN" sz="2000" dirty="0">
                <a:latin typeface="Times New Roman" panose="02020603050405020304" pitchFamily="18" charset="0"/>
                <a:ea typeface="宋体" pitchFamily="2" charset="-122"/>
                <a:cs typeface="Times New Roman" panose="02020603050405020304" pitchFamily="18" charset="0"/>
              </a:endParaRPr>
            </a:p>
          </p:txBody>
        </p:sp>
      </p:grpSp>
      <p:sp>
        <p:nvSpPr>
          <p:cNvPr id="26" name="Text Box 27">
            <a:extLst>
              <a:ext uri="{FF2B5EF4-FFF2-40B4-BE49-F238E27FC236}">
                <a16:creationId xmlns:a16="http://schemas.microsoft.com/office/drawing/2014/main" id="{260394FC-8AB4-4EF3-B1F7-336D9EA73DE7}"/>
              </a:ext>
            </a:extLst>
          </p:cNvPr>
          <p:cNvSpPr txBox="1">
            <a:spLocks noChangeArrowheads="1"/>
          </p:cNvSpPr>
          <p:nvPr/>
        </p:nvSpPr>
        <p:spPr bwMode="auto">
          <a:xfrm rot="16200000">
            <a:off x="305301" y="5182772"/>
            <a:ext cx="1107996" cy="369332"/>
          </a:xfrm>
          <a:prstGeom prst="rect">
            <a:avLst/>
          </a:prstGeom>
          <a:noFill/>
          <a:ln w="9525">
            <a:noFill/>
            <a:miter lim="800000"/>
            <a:headEnd/>
            <a:tailEnd/>
          </a:ln>
          <a:effectLst/>
        </p:spPr>
        <p:txBody>
          <a:bodyPr wrap="none">
            <a:spAutoFit/>
          </a:bodyPr>
          <a:lstStyle/>
          <a:p>
            <a:pPr>
              <a:defRPr/>
            </a:pPr>
            <a:r>
              <a:rPr lang="zh-CN" altLang="en-US" dirty="0">
                <a:latin typeface="+mn-lt"/>
                <a:ea typeface="宋体" pitchFamily="2" charset="-122"/>
              </a:rPr>
              <a:t>发送速率</a:t>
            </a:r>
            <a:endParaRPr lang="en-US" altLang="zh-CN" dirty="0">
              <a:latin typeface="+mn-lt"/>
              <a:ea typeface="宋体" pitchFamily="2" charset="-122"/>
            </a:endParaRPr>
          </a:p>
        </p:txBody>
      </p:sp>
      <p:sp>
        <p:nvSpPr>
          <p:cNvPr id="27" name="Text Box 28">
            <a:extLst>
              <a:ext uri="{FF2B5EF4-FFF2-40B4-BE49-F238E27FC236}">
                <a16:creationId xmlns:a16="http://schemas.microsoft.com/office/drawing/2014/main" id="{4E0EBC36-3F64-4020-9C55-AB1BC3AA49E0}"/>
              </a:ext>
            </a:extLst>
          </p:cNvPr>
          <p:cNvSpPr txBox="1">
            <a:spLocks noChangeArrowheads="1"/>
          </p:cNvSpPr>
          <p:nvPr/>
        </p:nvSpPr>
        <p:spPr bwMode="auto">
          <a:xfrm>
            <a:off x="4545457" y="5960365"/>
            <a:ext cx="646331" cy="369332"/>
          </a:xfrm>
          <a:prstGeom prst="rect">
            <a:avLst/>
          </a:prstGeom>
          <a:noFill/>
          <a:ln w="9525">
            <a:noFill/>
            <a:miter lim="800000"/>
            <a:headEnd/>
            <a:tailEnd/>
          </a:ln>
          <a:effectLst/>
        </p:spPr>
        <p:txBody>
          <a:bodyPr wrap="none">
            <a:spAutoFit/>
          </a:bodyPr>
          <a:lstStyle/>
          <a:p>
            <a:pPr>
              <a:defRPr/>
            </a:pPr>
            <a:r>
              <a:rPr lang="zh-CN" altLang="en-US" dirty="0">
                <a:latin typeface="+mn-lt"/>
                <a:ea typeface="宋体" pitchFamily="2" charset="-122"/>
              </a:rPr>
              <a:t>时间</a:t>
            </a:r>
            <a:endParaRPr lang="en-US" altLang="zh-CN" dirty="0">
              <a:latin typeface="+mn-lt"/>
              <a:ea typeface="宋体" pitchFamily="2" charset="-122"/>
            </a:endParaRPr>
          </a:p>
        </p:txBody>
      </p:sp>
      <p:sp>
        <p:nvSpPr>
          <p:cNvPr id="28" name="Line 29">
            <a:extLst>
              <a:ext uri="{FF2B5EF4-FFF2-40B4-BE49-F238E27FC236}">
                <a16:creationId xmlns:a16="http://schemas.microsoft.com/office/drawing/2014/main" id="{EA8E76CA-4E79-467B-8BD4-E0FB3B7C572A}"/>
              </a:ext>
            </a:extLst>
          </p:cNvPr>
          <p:cNvSpPr>
            <a:spLocks noChangeShapeType="1"/>
          </p:cNvSpPr>
          <p:nvPr/>
        </p:nvSpPr>
        <p:spPr bwMode="auto">
          <a:xfrm flipV="1">
            <a:off x="4266075" y="5240439"/>
            <a:ext cx="541338" cy="465137"/>
          </a:xfrm>
          <a:prstGeom prst="line">
            <a:avLst/>
          </a:prstGeom>
          <a:noFill/>
          <a:ln w="19050">
            <a:solidFill>
              <a:schemeClr val="tx1"/>
            </a:solidFill>
            <a:round/>
            <a:headEnd/>
            <a:tailEnd/>
          </a:ln>
          <a:effectLst/>
        </p:spPr>
        <p:txBody>
          <a:bodyPr wrap="none"/>
          <a:lstStyle/>
          <a:p>
            <a:pPr>
              <a:defRPr/>
            </a:pPr>
            <a:endParaRPr lang="zh-CN" altLang="en-US" sz="2000">
              <a:latin typeface="+mn-lt"/>
            </a:endParaRPr>
          </a:p>
        </p:txBody>
      </p:sp>
      <p:sp>
        <p:nvSpPr>
          <p:cNvPr id="29" name="Line 30">
            <a:extLst>
              <a:ext uri="{FF2B5EF4-FFF2-40B4-BE49-F238E27FC236}">
                <a16:creationId xmlns:a16="http://schemas.microsoft.com/office/drawing/2014/main" id="{D99410D5-FAD9-448E-8114-99C0510D4B7C}"/>
              </a:ext>
            </a:extLst>
          </p:cNvPr>
          <p:cNvSpPr>
            <a:spLocks noChangeShapeType="1"/>
          </p:cNvSpPr>
          <p:nvPr/>
        </p:nvSpPr>
        <p:spPr bwMode="auto">
          <a:xfrm flipV="1">
            <a:off x="4812175" y="4905476"/>
            <a:ext cx="392113" cy="327025"/>
          </a:xfrm>
          <a:prstGeom prst="line">
            <a:avLst/>
          </a:prstGeom>
          <a:noFill/>
          <a:ln w="19050">
            <a:solidFill>
              <a:schemeClr val="tx1"/>
            </a:solidFill>
            <a:prstDash val="dash"/>
            <a:round/>
            <a:headEnd/>
            <a:tailEnd/>
          </a:ln>
          <a:effectLst/>
        </p:spPr>
        <p:txBody>
          <a:bodyPr wrap="none"/>
          <a:lstStyle/>
          <a:p>
            <a:pPr>
              <a:defRPr/>
            </a:pPr>
            <a:endParaRPr lang="zh-CN" altLang="en-US" sz="2000">
              <a:latin typeface="+mn-lt"/>
            </a:endParaRPr>
          </a:p>
        </p:txBody>
      </p:sp>
      <p:sp>
        <p:nvSpPr>
          <p:cNvPr id="30" name="Text Box 32">
            <a:extLst>
              <a:ext uri="{FF2B5EF4-FFF2-40B4-BE49-F238E27FC236}">
                <a16:creationId xmlns:a16="http://schemas.microsoft.com/office/drawing/2014/main" id="{10CF2CB7-5AD5-45C8-B4AB-C16693ECA298}"/>
              </a:ext>
            </a:extLst>
          </p:cNvPr>
          <p:cNvSpPr txBox="1">
            <a:spLocks noChangeArrowheads="1"/>
          </p:cNvSpPr>
          <p:nvPr/>
        </p:nvSpPr>
        <p:spPr bwMode="auto">
          <a:xfrm>
            <a:off x="5645691" y="4548408"/>
            <a:ext cx="3241593" cy="430887"/>
          </a:xfrm>
          <a:prstGeom prst="rect">
            <a:avLst/>
          </a:prstGeom>
          <a:solidFill>
            <a:schemeClr val="accent6">
              <a:lumMod val="20000"/>
              <a:lumOff val="80000"/>
            </a:schemeClr>
          </a:solidFill>
          <a:ln w="9525">
            <a:noFill/>
            <a:miter lim="800000"/>
            <a:headEnd/>
            <a:tailEnd/>
          </a:ln>
          <a:effectLst/>
        </p:spPr>
        <p:txBody>
          <a:bodyPr wrap="none">
            <a:spAutoFit/>
          </a:bodyPr>
          <a:lstStyle/>
          <a:p>
            <a:pPr>
              <a:lnSpc>
                <a:spcPct val="100000"/>
              </a:lnSpc>
              <a:defRPr/>
            </a:pPr>
            <a:r>
              <a:rPr lang="en-US" altLang="zh-CN" sz="2200" dirty="0">
                <a:latin typeface="Times New Roman" panose="02020603050405020304" pitchFamily="18" charset="0"/>
                <a:ea typeface="宋体" pitchFamily="2" charset="-122"/>
                <a:cs typeface="Times New Roman" panose="02020603050405020304" pitchFamily="18" charset="0"/>
              </a:rPr>
              <a:t>TCP</a:t>
            </a:r>
            <a:r>
              <a:rPr lang="zh-CN" altLang="en-US" sz="2200" dirty="0">
                <a:latin typeface="Times New Roman" panose="02020603050405020304" pitchFamily="18" charset="0"/>
                <a:ea typeface="宋体" pitchFamily="2" charset="-122"/>
                <a:cs typeface="Times New Roman" panose="02020603050405020304" pitchFamily="18" charset="0"/>
              </a:rPr>
              <a:t>拥塞控制的锯齿现象</a:t>
            </a:r>
            <a:endParaRPr lang="en-US" altLang="zh-CN" sz="2200" dirty="0">
              <a:latin typeface="Times New Roman" panose="02020603050405020304" pitchFamily="18" charset="0"/>
              <a:ea typeface="宋体" pitchFamily="2" charset="-122"/>
              <a:cs typeface="Times New Roman" panose="02020603050405020304" pitchFamily="18" charset="0"/>
            </a:endParaRPr>
          </a:p>
        </p:txBody>
      </p:sp>
      <p:sp>
        <p:nvSpPr>
          <p:cNvPr id="31" name="Text Box 32">
            <a:extLst>
              <a:ext uri="{FF2B5EF4-FFF2-40B4-BE49-F238E27FC236}">
                <a16:creationId xmlns:a16="http://schemas.microsoft.com/office/drawing/2014/main" id="{8F4A004B-7AD6-42ED-83F7-880F2E836329}"/>
              </a:ext>
            </a:extLst>
          </p:cNvPr>
          <p:cNvSpPr txBox="1">
            <a:spLocks noChangeArrowheads="1"/>
          </p:cNvSpPr>
          <p:nvPr/>
        </p:nvSpPr>
        <p:spPr bwMode="auto">
          <a:xfrm>
            <a:off x="5929516" y="5629376"/>
            <a:ext cx="2957768" cy="783420"/>
          </a:xfrm>
          <a:prstGeom prst="rect">
            <a:avLst/>
          </a:prstGeom>
          <a:solidFill>
            <a:schemeClr val="accent1">
              <a:lumMod val="20000"/>
              <a:lumOff val="80000"/>
            </a:schemeClr>
          </a:solidFill>
          <a:ln w="9525">
            <a:noFill/>
            <a:miter lim="800000"/>
            <a:headEnd/>
            <a:tailEnd/>
          </a:ln>
          <a:effectLst/>
        </p:spPr>
        <p:txBody>
          <a:bodyPr wrap="square">
            <a:spAutoFit/>
          </a:bodyPr>
          <a:lstStyle/>
          <a:p>
            <a:pPr>
              <a:lnSpc>
                <a:spcPts val="2800"/>
              </a:lnSpc>
              <a:defRPr/>
            </a:pPr>
            <a:r>
              <a:rPr lang="zh-CN" altLang="en-US" sz="2200" b="1" dirty="0">
                <a:solidFill>
                  <a:srgbClr val="FF0000"/>
                </a:solidFill>
                <a:latin typeface="Times New Roman" panose="02020603050405020304" pitchFamily="18" charset="0"/>
                <a:ea typeface="宋体" pitchFamily="2" charset="-122"/>
                <a:cs typeface="Times New Roman" panose="02020603050405020304" pitchFamily="18" charset="0"/>
              </a:rPr>
              <a:t>问题：</a:t>
            </a:r>
            <a:r>
              <a:rPr lang="zh-CN" altLang="en-US" sz="2200" dirty="0">
                <a:latin typeface="Times New Roman" panose="02020603050405020304" pitchFamily="18" charset="0"/>
                <a:ea typeface="宋体" pitchFamily="2" charset="-122"/>
                <a:cs typeface="Times New Roman" panose="02020603050405020304" pitchFamily="18" charset="0"/>
              </a:rPr>
              <a:t>采用什么速度增长和降低发送速率？</a:t>
            </a:r>
            <a:endParaRPr lang="en-US" altLang="zh-CN" sz="2200" dirty="0">
              <a:latin typeface="Times New Roman" panose="02020603050405020304" pitchFamily="18" charset="0"/>
              <a:ea typeface="宋体" pitchFamily="2" charset="-122"/>
              <a:cs typeface="Times New Roman" panose="02020603050405020304" pitchFamily="18" charset="0"/>
            </a:endParaRPr>
          </a:p>
        </p:txBody>
      </p:sp>
    </p:spTree>
    <p:extLst>
      <p:ext uri="{BB962C8B-B14F-4D97-AF65-F5344CB8AC3E}">
        <p14:creationId xmlns:p14="http://schemas.microsoft.com/office/powerpoint/2010/main" val="1061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2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2000"/>
                                        <p:tgtEl>
                                          <p:spTgt spid="7"/>
                                        </p:tgtEl>
                                      </p:cBhvr>
                                    </p:animEffect>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2000"/>
                                        <p:tgtEl>
                                          <p:spTgt spid="10"/>
                                        </p:tgtEl>
                                      </p:cBhvr>
                                    </p:animEffect>
                                  </p:childTnLst>
                                </p:cTn>
                              </p:par>
                              <p:par>
                                <p:cTn id="30" presetID="1"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par>
                          <p:cTn id="32" fill="hold">
                            <p:stCondLst>
                              <p:cond delay="2000"/>
                            </p:stCondLst>
                            <p:childTnLst>
                              <p:par>
                                <p:cTn id="33" presetID="1"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2000"/>
                                        <p:tgtEl>
                                          <p:spTgt spid="13"/>
                                        </p:tgtEl>
                                      </p:cBhvr>
                                    </p:animEffect>
                                  </p:childTnLst>
                                </p:cTn>
                              </p:par>
                              <p:par>
                                <p:cTn id="48" presetID="1"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par>
                          <p:cTn id="50" fill="hold">
                            <p:stCondLst>
                              <p:cond delay="2000"/>
                            </p:stCondLst>
                            <p:childTnLst>
                              <p:par>
                                <p:cTn id="51" presetID="1" presetClass="entr" presetSubtype="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21"/>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1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left)">
                                      <p:cBhvr>
                                        <p:cTn id="65" dur="1000"/>
                                        <p:tgtEl>
                                          <p:spTgt spid="15"/>
                                        </p:tgtEl>
                                      </p:cBhvr>
                                    </p:animEffect>
                                  </p:childTnLst>
                                </p:cTn>
                              </p:par>
                            </p:childTnLst>
                          </p:cTn>
                        </p:par>
                        <p:par>
                          <p:cTn id="66" fill="hold">
                            <p:stCondLst>
                              <p:cond delay="1000"/>
                            </p:stCondLst>
                            <p:childTnLst>
                              <p:par>
                                <p:cTn id="67" presetID="1"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par>
                          <p:cTn id="69" fill="hold">
                            <p:stCondLst>
                              <p:cond delay="1000"/>
                            </p:stCondLst>
                            <p:childTnLst>
                              <p:par>
                                <p:cTn id="70" presetID="1" presetClass="entr" presetSubtype="0" fill="hold" nodeType="afterEffect">
                                  <p:stCondLst>
                                    <p:cond delay="500"/>
                                  </p:stCondLst>
                                  <p:childTnLst>
                                    <p:set>
                                      <p:cBhvr>
                                        <p:cTn id="71" dur="1" fill="hold">
                                          <p:stCondLst>
                                            <p:cond delay="0"/>
                                          </p:stCondLst>
                                        </p:cTn>
                                        <p:tgtEl>
                                          <p:spTgt spid="14"/>
                                        </p:tgtEl>
                                        <p:attrNameLst>
                                          <p:attrName>style.visibility</p:attrName>
                                        </p:attrNameLst>
                                      </p:cBhvr>
                                      <p:to>
                                        <p:strVal val="visible"/>
                                      </p:to>
                                    </p:set>
                                  </p:childTnLst>
                                </p:cTn>
                              </p:par>
                            </p:childTnLst>
                          </p:cTn>
                        </p:par>
                        <p:par>
                          <p:cTn id="72" fill="hold">
                            <p:stCondLst>
                              <p:cond delay="1500"/>
                            </p:stCondLst>
                            <p:childTnLst>
                              <p:par>
                                <p:cTn id="73" presetID="1" presetClass="exit" presetSubtype="0" fill="hold" grpId="1" nodeType="afterEffect">
                                  <p:stCondLst>
                                    <p:cond delay="0"/>
                                  </p:stCondLst>
                                  <p:childTnLst>
                                    <p:set>
                                      <p:cBhvr>
                                        <p:cTn id="74" dur="1" fill="hold">
                                          <p:stCondLst>
                                            <p:cond delay="0"/>
                                          </p:stCondLst>
                                        </p:cTn>
                                        <p:tgtEl>
                                          <p:spTgt spid="22"/>
                                        </p:tgtEl>
                                        <p:attrNameLst>
                                          <p:attrName>style.visibility</p:attrName>
                                        </p:attrNameLst>
                                      </p:cBhvr>
                                      <p:to>
                                        <p:strVal val="hidden"/>
                                      </p:to>
                                    </p:set>
                                  </p:childTnLst>
                                </p:cTn>
                              </p:par>
                            </p:childTnLst>
                          </p:cTn>
                        </p:par>
                        <p:par>
                          <p:cTn id="75" fill="hold">
                            <p:stCondLst>
                              <p:cond delay="1500"/>
                            </p:stCondLst>
                            <p:childTnLst>
                              <p:par>
                                <p:cTn id="76" presetID="22" presetClass="entr" presetSubtype="8" fill="hold"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wipe(left)">
                                      <p:cBhvr>
                                        <p:cTn id="78" dur="1000"/>
                                        <p:tgtEl>
                                          <p:spTgt spid="28"/>
                                        </p:tgtEl>
                                      </p:cBhvr>
                                    </p:animEffect>
                                  </p:childTnLst>
                                </p:cTn>
                              </p:par>
                            </p:childTnLst>
                          </p:cTn>
                        </p:par>
                        <p:par>
                          <p:cTn id="79" fill="hold">
                            <p:stCondLst>
                              <p:cond delay="2500"/>
                            </p:stCondLst>
                            <p:childTnLst>
                              <p:par>
                                <p:cTn id="80" presetID="22" presetClass="entr" presetSubtype="8" fill="hold"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1000"/>
                                        <p:tgtEl>
                                          <p:spTgt spid="29"/>
                                        </p:tgtEl>
                                      </p:cBhvr>
                                    </p:animEffect>
                                  </p:childTnLst>
                                </p:cTn>
                              </p:par>
                            </p:childTnLst>
                          </p:cTn>
                        </p:par>
                        <p:par>
                          <p:cTn id="83" fill="hold">
                            <p:stCondLst>
                              <p:cond delay="3500"/>
                            </p:stCondLst>
                            <p:childTnLst>
                              <p:par>
                                <p:cTn id="84" presetID="1" presetClass="entr" presetSubtype="0" fill="hold" grpId="0" nodeType="afterEffect">
                                  <p:stCondLst>
                                    <p:cond delay="0"/>
                                  </p:stCondLst>
                                  <p:childTnLst>
                                    <p:set>
                                      <p:cBhvr>
                                        <p:cTn id="85" dur="1" fill="hold">
                                          <p:stCondLst>
                                            <p:cond delay="0"/>
                                          </p:stCondLst>
                                        </p:cTn>
                                        <p:tgtEl>
                                          <p:spTgt spid="30"/>
                                        </p:tgtEl>
                                        <p:attrNameLst>
                                          <p:attrName>style.visibility</p:attrName>
                                        </p:attrNameLst>
                                      </p:cBhvr>
                                      <p:to>
                                        <p:strVal val="visible"/>
                                      </p:to>
                                    </p:set>
                                  </p:childTnLst>
                                </p:cTn>
                              </p:par>
                            </p:childTnLst>
                          </p:cTn>
                        </p:par>
                        <p:par>
                          <p:cTn id="86" fill="hold">
                            <p:stCondLst>
                              <p:cond delay="3500"/>
                            </p:stCondLst>
                            <p:childTnLst>
                              <p:par>
                                <p:cTn id="87" presetID="1" presetClass="entr" presetSubtype="0" fill="hold" grpId="0" nodeType="after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19" grpId="1"/>
      <p:bldP spid="20" grpId="0"/>
      <p:bldP spid="20" grpId="1"/>
      <p:bldP spid="21" grpId="0"/>
      <p:bldP spid="21" grpId="1"/>
      <p:bldP spid="22" grpId="0"/>
      <p:bldP spid="22" grpId="1"/>
      <p:bldP spid="30" grpId="0" animBg="1"/>
      <p:bldP spid="31"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50" y="805083"/>
            <a:ext cx="8229600" cy="143088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拥塞控制窗口</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600"/>
              </a:spcBef>
              <a:buClr>
                <a:schemeClr val="accent2"/>
              </a:buClr>
              <a:buSzPct val="75000"/>
              <a:buFont typeface="Symbol" pitchFamily="18" charset="2"/>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采用</a:t>
            </a:r>
            <a:r>
              <a:rPr lang="zh-CN" altLang="en-US" sz="22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基于窗口的方法</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，通过拥塞窗口的增大或减小控制发送速率</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5426748A-F7FE-4982-B370-D658BE47275B}"/>
              </a:ext>
            </a:extLst>
          </p:cNvPr>
          <p:cNvPicPr>
            <a:picLocks noChangeAspect="1"/>
          </p:cNvPicPr>
          <p:nvPr/>
        </p:nvPicPr>
        <p:blipFill>
          <a:blip r:embed="rId5"/>
          <a:stretch>
            <a:fillRect/>
          </a:stretch>
        </p:blipFill>
        <p:spPr>
          <a:xfrm>
            <a:off x="1460473" y="2495395"/>
            <a:ext cx="6223054" cy="2202917"/>
          </a:xfrm>
          <a:prstGeom prst="rect">
            <a:avLst/>
          </a:prstGeom>
        </p:spPr>
      </p:pic>
      <mc:AlternateContent xmlns:mc="http://schemas.openxmlformats.org/markup-compatibility/2006" xmlns:a14="http://schemas.microsoft.com/office/drawing/2010/main">
        <mc:Choice Requires="a14">
          <p:sp>
            <p:nvSpPr>
              <p:cNvPr id="121856" name="矩形 121855">
                <a:extLst>
                  <a:ext uri="{FF2B5EF4-FFF2-40B4-BE49-F238E27FC236}">
                    <a16:creationId xmlns:a16="http://schemas.microsoft.com/office/drawing/2014/main" id="{844FE476-AC48-4F5E-9449-BFF2FA2064C5}"/>
                  </a:ext>
                </a:extLst>
              </p:cNvPr>
              <p:cNvSpPr/>
              <p:nvPr/>
            </p:nvSpPr>
            <p:spPr>
              <a:xfrm>
                <a:off x="707367" y="5029199"/>
                <a:ext cx="7663894" cy="425758"/>
              </a:xfrm>
              <a:prstGeom prst="rect">
                <a:avLst/>
              </a:prstGeom>
            </p:spPr>
            <p:txBody>
              <a:bodyPr wrap="square">
                <a:spAutoFit/>
              </a:bodyPr>
              <a:lstStyle/>
              <a:p>
                <a:pPr marL="538163" lvl="1" indent="-179388">
                  <a:lnSpc>
                    <a:spcPts val="2600"/>
                  </a:lnSpc>
                  <a:spcBef>
                    <a:spcPts val="600"/>
                  </a:spcBef>
                </a:pPr>
                <a:r>
                  <a:rPr lang="en-US" altLang="zh-CN" sz="2200" dirty="0">
                    <a:solidFill>
                      <a:srgbClr val="000099"/>
                    </a:solidFill>
                    <a:latin typeface="Times New Roman" panose="02020603050405020304" pitchFamily="18" charset="0"/>
                    <a:ea typeface="宋体" pitchFamily="2" charset="-122"/>
                    <a:cs typeface="Times New Roman" panose="02020603050405020304" pitchFamily="18" charset="0"/>
                  </a:rPr>
                  <a:t>LastByteSent - </a:t>
                </a:r>
                <a:r>
                  <a:rPr lang="en-US" altLang="zh-CN" sz="2200" dirty="0" err="1">
                    <a:solidFill>
                      <a:srgbClr val="000099"/>
                    </a:solidFill>
                    <a:latin typeface="Times New Roman" panose="02020603050405020304" pitchFamily="18" charset="0"/>
                    <a:ea typeface="宋体" pitchFamily="2" charset="-122"/>
                    <a:cs typeface="Times New Roman" panose="02020603050405020304" pitchFamily="18" charset="0"/>
                  </a:rPr>
                  <a:t>LastByteAcked</a:t>
                </a:r>
                <a:r>
                  <a:rPr lang="en-US" altLang="zh-CN" sz="2200" dirty="0">
                    <a:solidFill>
                      <a:srgbClr val="000099"/>
                    </a:solidFill>
                    <a:ea typeface="Cambria Math" panose="02040503050406030204" pitchFamily="18" charset="0"/>
                    <a:cs typeface="Times New Roman" panose="02020603050405020304" pitchFamily="18" charset="0"/>
                  </a:rPr>
                  <a:t> </a:t>
                </a:r>
                <a14:m>
                  <m:oMath xmlns:m="http://schemas.openxmlformats.org/officeDocument/2006/math">
                    <m:r>
                      <a:rPr lang="en-US" altLang="zh-CN" sz="2200" dirty="0">
                        <a:solidFill>
                          <a:srgbClr val="000099"/>
                        </a:solidFill>
                        <a:latin typeface="Cambria Math" panose="02040503050406030204" pitchFamily="18" charset="0"/>
                        <a:ea typeface="宋体" pitchFamily="2" charset="-122"/>
                        <a:cs typeface="Times New Roman" panose="02020603050405020304" pitchFamily="18" charset="0"/>
                      </a:rPr>
                      <m:t>≤</m:t>
                    </m:r>
                    <m:r>
                      <m:rPr>
                        <m:sty m:val="p"/>
                      </m:rPr>
                      <a:rPr lang="en-US" altLang="zh-CN" sz="2200" i="1" dirty="0">
                        <a:solidFill>
                          <a:srgbClr val="000099"/>
                        </a:solidFill>
                        <a:latin typeface="Cambria Math" panose="02040503050406030204" pitchFamily="18" charset="0"/>
                        <a:ea typeface="宋体" pitchFamily="2" charset="-122"/>
                        <a:cs typeface="Times New Roman" panose="02020603050405020304" pitchFamily="18" charset="0"/>
                      </a:rPr>
                      <m:t>C</m:t>
                    </m:r>
                    <m:r>
                      <m:rPr>
                        <m:nor/>
                      </m:rPr>
                      <a:rPr lang="en-US" altLang="zh-CN" sz="2200" dirty="0">
                        <a:solidFill>
                          <a:srgbClr val="000099"/>
                        </a:solidFill>
                        <a:latin typeface="Times New Roman" panose="02020603050405020304" pitchFamily="18" charset="0"/>
                        <a:ea typeface="宋体" pitchFamily="2" charset="-122"/>
                        <a:cs typeface="Times New Roman" panose="02020603050405020304" pitchFamily="18" charset="0"/>
                      </a:rPr>
                      <m:t>ongestionWindow</m:t>
                    </m:r>
                    <m:r>
                      <m:rPr>
                        <m:nor/>
                      </m:rPr>
                      <a:rPr lang="en-US" altLang="zh-CN" sz="2200" b="0" i="0" dirty="0" smtClean="0">
                        <a:solidFill>
                          <a:srgbClr val="000099"/>
                        </a:solidFill>
                        <a:latin typeface="Times New Roman" panose="02020603050405020304" pitchFamily="18" charset="0"/>
                        <a:ea typeface="宋体" pitchFamily="2" charset="-122"/>
                        <a:cs typeface="Times New Roman" panose="02020603050405020304" pitchFamily="18" charset="0"/>
                      </a:rPr>
                      <m:t> </m:t>
                    </m:r>
                    <m:r>
                      <a:rPr lang="en-US" altLang="zh-CN" sz="2200" b="0" i="1" dirty="0" smtClean="0">
                        <a:solidFill>
                          <a:srgbClr val="000099"/>
                        </a:solidFill>
                        <a:latin typeface="Cambria Math" panose="02040503050406030204" pitchFamily="18" charset="0"/>
                        <a:ea typeface="宋体" pitchFamily="2" charset="-122"/>
                        <a:cs typeface="Times New Roman" panose="02020603050405020304" pitchFamily="18" charset="0"/>
                      </a:rPr>
                      <m:t>(</m:t>
                    </m:r>
                    <m:r>
                      <m:rPr>
                        <m:sty m:val="p"/>
                      </m:rPr>
                      <a:rPr lang="en-US" altLang="zh-CN" sz="2200" b="0" i="0" dirty="0" smtClean="0">
                        <a:solidFill>
                          <a:srgbClr val="FF0000"/>
                        </a:solidFill>
                        <a:latin typeface="Cambria Math" panose="02040503050406030204" pitchFamily="18" charset="0"/>
                        <a:ea typeface="宋体" pitchFamily="2" charset="-122"/>
                        <a:cs typeface="Times New Roman" panose="02020603050405020304" pitchFamily="18" charset="0"/>
                      </a:rPr>
                      <m:t>cwnd</m:t>
                    </m:r>
                    <m:r>
                      <a:rPr lang="en-US" altLang="zh-CN" sz="2200" b="0" i="1" dirty="0" smtClean="0">
                        <a:solidFill>
                          <a:srgbClr val="000099"/>
                        </a:solidFill>
                        <a:latin typeface="Cambria Math" panose="02040503050406030204" pitchFamily="18" charset="0"/>
                        <a:ea typeface="宋体" pitchFamily="2" charset="-122"/>
                        <a:cs typeface="Times New Roman" panose="02020603050405020304" pitchFamily="18" charset="0"/>
                      </a:rPr>
                      <m:t>)</m:t>
                    </m:r>
                  </m:oMath>
                </a14:m>
                <a:endParaRPr lang="en-US" altLang="zh-CN" sz="2200" dirty="0">
                  <a:solidFill>
                    <a:srgbClr val="000099"/>
                  </a:solidFill>
                  <a:latin typeface="Times New Roman" panose="02020603050405020304" pitchFamily="18" charset="0"/>
                  <a:ea typeface="宋体" pitchFamily="2" charset="-122"/>
                  <a:cs typeface="Times New Roman" panose="02020603050405020304" pitchFamily="18" charset="0"/>
                </a:endParaRPr>
              </a:p>
            </p:txBody>
          </p:sp>
        </mc:Choice>
        <mc:Fallback xmlns="">
          <p:sp>
            <p:nvSpPr>
              <p:cNvPr id="121856" name="矩形 121855">
                <a:extLst>
                  <a:ext uri="{FF2B5EF4-FFF2-40B4-BE49-F238E27FC236}">
                    <a16:creationId xmlns:a16="http://schemas.microsoft.com/office/drawing/2014/main" id="{844FE476-AC48-4F5E-9449-BFF2FA2064C5}"/>
                  </a:ext>
                </a:extLst>
              </p:cNvPr>
              <p:cNvSpPr>
                <a:spLocks noRot="1" noChangeAspect="1" noMove="1" noResize="1" noEditPoints="1" noAdjustHandles="1" noChangeArrowheads="1" noChangeShapeType="1" noTextEdit="1"/>
              </p:cNvSpPr>
              <p:nvPr/>
            </p:nvSpPr>
            <p:spPr>
              <a:xfrm>
                <a:off x="707367" y="5029199"/>
                <a:ext cx="7663894" cy="425758"/>
              </a:xfrm>
              <a:prstGeom prst="rect">
                <a:avLst/>
              </a:prstGeom>
              <a:blipFill>
                <a:blip r:embed="rId6"/>
                <a:stretch>
                  <a:fillRect t="-12857" b="-25714"/>
                </a:stretch>
              </a:blipFill>
            </p:spPr>
            <p:txBody>
              <a:bodyPr/>
              <a:lstStyle/>
              <a:p>
                <a:r>
                  <a:rPr lang="zh-CN" altLang="en-US">
                    <a:noFill/>
                  </a:rPr>
                  <a:t> </a:t>
                </a:r>
              </a:p>
            </p:txBody>
          </p:sp>
        </mc:Fallback>
      </mc:AlternateContent>
      <p:sp>
        <p:nvSpPr>
          <p:cNvPr id="121857" name="矩形 121856">
            <a:extLst>
              <a:ext uri="{FF2B5EF4-FFF2-40B4-BE49-F238E27FC236}">
                <a16:creationId xmlns:a16="http://schemas.microsoft.com/office/drawing/2014/main" id="{8345B2D0-8271-4035-AC0D-58E2D529CBA4}"/>
              </a:ext>
            </a:extLst>
          </p:cNvPr>
          <p:cNvSpPr/>
          <p:nvPr/>
        </p:nvSpPr>
        <p:spPr>
          <a:xfrm>
            <a:off x="556055" y="5859274"/>
            <a:ext cx="8229600" cy="387286"/>
          </a:xfrm>
          <a:prstGeom prst="rect">
            <a:avLst/>
          </a:prstGeom>
          <a:solidFill>
            <a:schemeClr val="accent1">
              <a:lumMod val="20000"/>
              <a:lumOff val="80000"/>
            </a:schemeClr>
          </a:solidFill>
          <a:ln>
            <a:solidFill>
              <a:schemeClr val="accent1"/>
            </a:solidFill>
          </a:ln>
        </p:spPr>
        <p:txBody>
          <a:bodyPr wrap="square">
            <a:spAutoFit/>
          </a:bodyPr>
          <a:lstStyle/>
          <a:p>
            <a:pPr algn="ctr">
              <a:lnSpc>
                <a:spcPts val="2300"/>
              </a:lnSpc>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实际的发送窗口取决于接收通告窗口和拥塞控制窗口中的较小值</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569949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98531" y="1048878"/>
            <a:ext cx="4868545" cy="4721727"/>
          </a:xfrm>
          <a:prstGeom prst="rect">
            <a:avLst/>
          </a:prstGeom>
          <a:noFill/>
          <a:ln w="9525">
            <a:noFill/>
            <a:miter lim="800000"/>
            <a:headEnd/>
            <a:tailEnd/>
          </a:ln>
        </p:spPr>
        <p:txBody>
          <a:bodyPr/>
          <a:lstStyle/>
          <a:p>
            <a:pPr marL="342900" indent="-342900">
              <a:lnSpc>
                <a:spcPct val="1300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慢启动</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当</a:t>
            </a:r>
            <a:r>
              <a:rPr lang="zh-CN" altLang="en-US" sz="22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连接建立</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或</a:t>
            </a:r>
            <a:r>
              <a:rPr lang="zh-CN" altLang="en-US" sz="2200" b="1"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a:t>发现拥塞</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（段超时未确认）时，</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拥塞控制进入慢启动阶段</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Font typeface="Symbol" pitchFamily="18" charset="2"/>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初始拥塞窗口：</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=1(MSS)</a:t>
            </a:r>
          </a:p>
          <a:p>
            <a:pPr marL="742950" lvl="1" indent="-285750">
              <a:lnSpc>
                <a:spcPct val="130000"/>
              </a:lnSpc>
              <a:spcBef>
                <a:spcPts val="600"/>
              </a:spcBef>
              <a:buClr>
                <a:schemeClr val="accent2"/>
              </a:buClr>
              <a:buSzPct val="75000"/>
              <a:buFont typeface="Symbol" pitchFamily="18" charset="2"/>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经过每个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（收到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cwnd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翻倍（指数增长）</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Blip>
                <a:blip r:embed="rId4"/>
              </a:buBlip>
            </a:pPr>
            <a:r>
              <a:rPr lang="zh-CN" altLang="en-US" sz="22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特点</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：初始值非常小，但增长速度快</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Line 6">
            <a:extLst>
              <a:ext uri="{FF2B5EF4-FFF2-40B4-BE49-F238E27FC236}">
                <a16:creationId xmlns:a16="http://schemas.microsoft.com/office/drawing/2014/main" id="{98E59818-D7C8-42B7-8813-4382593AA3D9}"/>
              </a:ext>
            </a:extLst>
          </p:cNvPr>
          <p:cNvSpPr>
            <a:spLocks noChangeShapeType="1"/>
          </p:cNvSpPr>
          <p:nvPr/>
        </p:nvSpPr>
        <p:spPr bwMode="auto">
          <a:xfrm>
            <a:off x="5767658" y="2723590"/>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 name="Text Box 8">
            <a:extLst>
              <a:ext uri="{FF2B5EF4-FFF2-40B4-BE49-F238E27FC236}">
                <a16:creationId xmlns:a16="http://schemas.microsoft.com/office/drawing/2014/main" id="{84388814-77FD-4F67-8C6E-B2A9372745BC}"/>
              </a:ext>
            </a:extLst>
          </p:cNvPr>
          <p:cNvSpPr txBox="1">
            <a:spLocks noChangeArrowheads="1"/>
          </p:cNvSpPr>
          <p:nvPr/>
        </p:nvSpPr>
        <p:spPr bwMode="auto">
          <a:xfrm>
            <a:off x="5433763" y="1585352"/>
            <a:ext cx="731289"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Arial" charset="0"/>
              </a:rPr>
              <a:t>主机</a:t>
            </a:r>
            <a:r>
              <a:rPr lang="en-US" dirty="0">
                <a:latin typeface="Arial" charset="0"/>
              </a:rPr>
              <a:t>A</a:t>
            </a:r>
          </a:p>
        </p:txBody>
      </p:sp>
      <p:sp>
        <p:nvSpPr>
          <p:cNvPr id="9" name="Text Box 9">
            <a:extLst>
              <a:ext uri="{FF2B5EF4-FFF2-40B4-BE49-F238E27FC236}">
                <a16:creationId xmlns:a16="http://schemas.microsoft.com/office/drawing/2014/main" id="{8B2D1DCC-F276-407E-A3C1-4158733E7774}"/>
              </a:ext>
            </a:extLst>
          </p:cNvPr>
          <p:cNvSpPr txBox="1">
            <a:spLocks noChangeArrowheads="1"/>
          </p:cNvSpPr>
          <p:nvPr/>
        </p:nvSpPr>
        <p:spPr bwMode="auto">
          <a:xfrm rot="408567">
            <a:off x="6730489" y="2621803"/>
            <a:ext cx="1002198"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Arial" charset="0"/>
              </a:rPr>
              <a:t>1</a:t>
            </a:r>
            <a:r>
              <a:rPr lang="zh-CN" altLang="en-US" sz="1400" dirty="0">
                <a:latin typeface="Arial" charset="0"/>
              </a:rPr>
              <a:t>个报文段</a:t>
            </a:r>
            <a:endParaRPr lang="en-US" sz="1000" dirty="0">
              <a:latin typeface="Times New Roman" charset="0"/>
            </a:endParaRPr>
          </a:p>
        </p:txBody>
      </p:sp>
      <p:sp>
        <p:nvSpPr>
          <p:cNvPr id="10" name="Text Box 10">
            <a:extLst>
              <a:ext uri="{FF2B5EF4-FFF2-40B4-BE49-F238E27FC236}">
                <a16:creationId xmlns:a16="http://schemas.microsoft.com/office/drawing/2014/main" id="{226EF235-DA54-4757-A532-53B7B70C838A}"/>
              </a:ext>
            </a:extLst>
          </p:cNvPr>
          <p:cNvSpPr txBox="1">
            <a:spLocks noChangeArrowheads="1"/>
          </p:cNvSpPr>
          <p:nvPr/>
        </p:nvSpPr>
        <p:spPr bwMode="auto">
          <a:xfrm rot="16200000">
            <a:off x="5325539" y="2927584"/>
            <a:ext cx="5286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latin typeface="Arial" charset="0"/>
              </a:rPr>
              <a:t>RTT</a:t>
            </a:r>
            <a:endParaRPr lang="en-US" sz="1000">
              <a:latin typeface="Arial" charset="0"/>
            </a:endParaRPr>
          </a:p>
        </p:txBody>
      </p:sp>
      <p:sp>
        <p:nvSpPr>
          <p:cNvPr id="11" name="Text Box 12">
            <a:extLst>
              <a:ext uri="{FF2B5EF4-FFF2-40B4-BE49-F238E27FC236}">
                <a16:creationId xmlns:a16="http://schemas.microsoft.com/office/drawing/2014/main" id="{4F6DBD81-392D-4827-AF1A-23D4138528A1}"/>
              </a:ext>
            </a:extLst>
          </p:cNvPr>
          <p:cNvSpPr txBox="1">
            <a:spLocks noChangeArrowheads="1"/>
          </p:cNvSpPr>
          <p:nvPr/>
        </p:nvSpPr>
        <p:spPr bwMode="auto">
          <a:xfrm>
            <a:off x="7870576" y="1571065"/>
            <a:ext cx="731289"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Arial" charset="0"/>
              </a:rPr>
              <a:t>主机</a:t>
            </a:r>
            <a:r>
              <a:rPr lang="en-US" dirty="0">
                <a:latin typeface="Arial" charset="0"/>
              </a:rPr>
              <a:t>B</a:t>
            </a:r>
          </a:p>
        </p:txBody>
      </p:sp>
      <p:sp>
        <p:nvSpPr>
          <p:cNvPr id="12" name="Line 13">
            <a:extLst>
              <a:ext uri="{FF2B5EF4-FFF2-40B4-BE49-F238E27FC236}">
                <a16:creationId xmlns:a16="http://schemas.microsoft.com/office/drawing/2014/main" id="{F62D6542-7EF0-49A3-B177-4820DCCEBE5D}"/>
              </a:ext>
            </a:extLst>
          </p:cNvPr>
          <p:cNvSpPr>
            <a:spLocks noChangeShapeType="1"/>
          </p:cNvSpPr>
          <p:nvPr/>
        </p:nvSpPr>
        <p:spPr bwMode="auto">
          <a:xfrm>
            <a:off x="5762895" y="2537852"/>
            <a:ext cx="3651" cy="3036709"/>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 name="Line 14">
            <a:extLst>
              <a:ext uri="{FF2B5EF4-FFF2-40B4-BE49-F238E27FC236}">
                <a16:creationId xmlns:a16="http://schemas.microsoft.com/office/drawing/2014/main" id="{328554FB-C105-49FD-A45B-8E9899B6D52B}"/>
              </a:ext>
            </a:extLst>
          </p:cNvPr>
          <p:cNvSpPr>
            <a:spLocks noChangeShapeType="1"/>
          </p:cNvSpPr>
          <p:nvPr/>
        </p:nvSpPr>
        <p:spPr bwMode="auto">
          <a:xfrm>
            <a:off x="8277496" y="2575952"/>
            <a:ext cx="1098" cy="2998609"/>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 name="Line 15">
            <a:extLst>
              <a:ext uri="{FF2B5EF4-FFF2-40B4-BE49-F238E27FC236}">
                <a16:creationId xmlns:a16="http://schemas.microsoft.com/office/drawing/2014/main" id="{AB5BD8BA-41A5-4079-B8FB-B99895A6576C}"/>
              </a:ext>
            </a:extLst>
          </p:cNvPr>
          <p:cNvSpPr>
            <a:spLocks noChangeShapeType="1"/>
          </p:cNvSpPr>
          <p:nvPr/>
        </p:nvSpPr>
        <p:spPr bwMode="auto">
          <a:xfrm flipH="1" flipV="1">
            <a:off x="5581921" y="2687077"/>
            <a:ext cx="4762" cy="2190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 name="Line 16">
            <a:extLst>
              <a:ext uri="{FF2B5EF4-FFF2-40B4-BE49-F238E27FC236}">
                <a16:creationId xmlns:a16="http://schemas.microsoft.com/office/drawing/2014/main" id="{BFCD0262-01D0-4A6F-9AB1-ABD4C131DD2D}"/>
              </a:ext>
            </a:extLst>
          </p:cNvPr>
          <p:cNvSpPr>
            <a:spLocks noChangeShapeType="1"/>
          </p:cNvSpPr>
          <p:nvPr/>
        </p:nvSpPr>
        <p:spPr bwMode="auto">
          <a:xfrm>
            <a:off x="5591446" y="3293502"/>
            <a:ext cx="4762" cy="22383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 name="Line 17">
            <a:extLst>
              <a:ext uri="{FF2B5EF4-FFF2-40B4-BE49-F238E27FC236}">
                <a16:creationId xmlns:a16="http://schemas.microsoft.com/office/drawing/2014/main" id="{79B2EBAF-2A1E-4092-8EAB-EDFC3F7D716C}"/>
              </a:ext>
            </a:extLst>
          </p:cNvPr>
          <p:cNvSpPr>
            <a:spLocks noChangeShapeType="1"/>
          </p:cNvSpPr>
          <p:nvPr/>
        </p:nvSpPr>
        <p:spPr bwMode="auto">
          <a:xfrm flipV="1">
            <a:off x="5743846" y="3128402"/>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7" name="Text Box 20">
            <a:extLst>
              <a:ext uri="{FF2B5EF4-FFF2-40B4-BE49-F238E27FC236}">
                <a16:creationId xmlns:a16="http://schemas.microsoft.com/office/drawing/2014/main" id="{9DDD5672-8881-4D89-87A1-9B15014B2A35}"/>
              </a:ext>
            </a:extLst>
          </p:cNvPr>
          <p:cNvSpPr txBox="1">
            <a:spLocks noChangeArrowheads="1"/>
          </p:cNvSpPr>
          <p:nvPr/>
        </p:nvSpPr>
        <p:spPr bwMode="auto">
          <a:xfrm>
            <a:off x="5517547" y="5603266"/>
            <a:ext cx="543739"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dirty="0">
                <a:latin typeface="Arial" charset="0"/>
              </a:rPr>
              <a:t>时间</a:t>
            </a:r>
            <a:endParaRPr lang="en-US" sz="1400" dirty="0">
              <a:latin typeface="Arial" charset="0"/>
            </a:endParaRPr>
          </a:p>
        </p:txBody>
      </p:sp>
      <p:sp>
        <p:nvSpPr>
          <p:cNvPr id="18" name="Line 21">
            <a:extLst>
              <a:ext uri="{FF2B5EF4-FFF2-40B4-BE49-F238E27FC236}">
                <a16:creationId xmlns:a16="http://schemas.microsoft.com/office/drawing/2014/main" id="{145256F8-7997-4E02-B993-66C844248D3E}"/>
              </a:ext>
            </a:extLst>
          </p:cNvPr>
          <p:cNvSpPr>
            <a:spLocks noChangeShapeType="1"/>
          </p:cNvSpPr>
          <p:nvPr/>
        </p:nvSpPr>
        <p:spPr bwMode="auto">
          <a:xfrm>
            <a:off x="5772421" y="3504640"/>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19" name="Line 22">
            <a:extLst>
              <a:ext uri="{FF2B5EF4-FFF2-40B4-BE49-F238E27FC236}">
                <a16:creationId xmlns:a16="http://schemas.microsoft.com/office/drawing/2014/main" id="{D9A6816D-B2BC-413B-A5CF-D6E2DCF30543}"/>
              </a:ext>
            </a:extLst>
          </p:cNvPr>
          <p:cNvSpPr>
            <a:spLocks noChangeShapeType="1"/>
          </p:cNvSpPr>
          <p:nvPr/>
        </p:nvSpPr>
        <p:spPr bwMode="auto">
          <a:xfrm>
            <a:off x="5767658" y="3590365"/>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0" name="Line 23">
            <a:extLst>
              <a:ext uri="{FF2B5EF4-FFF2-40B4-BE49-F238E27FC236}">
                <a16:creationId xmlns:a16="http://schemas.microsoft.com/office/drawing/2014/main" id="{8E346926-FCE8-4812-8EA5-849FB24BCAB0}"/>
              </a:ext>
            </a:extLst>
          </p:cNvPr>
          <p:cNvSpPr>
            <a:spLocks noChangeShapeType="1"/>
          </p:cNvSpPr>
          <p:nvPr/>
        </p:nvSpPr>
        <p:spPr bwMode="auto">
          <a:xfrm flipV="1">
            <a:off x="5767658" y="3868919"/>
            <a:ext cx="2528888" cy="361950"/>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 name="Line 24">
            <a:extLst>
              <a:ext uri="{FF2B5EF4-FFF2-40B4-BE49-F238E27FC236}">
                <a16:creationId xmlns:a16="http://schemas.microsoft.com/office/drawing/2014/main" id="{2C8452EE-5376-4D14-9F5D-7650FE3BB74F}"/>
              </a:ext>
            </a:extLst>
          </p:cNvPr>
          <p:cNvSpPr>
            <a:spLocks noChangeShapeType="1"/>
          </p:cNvSpPr>
          <p:nvPr/>
        </p:nvSpPr>
        <p:spPr bwMode="auto">
          <a:xfrm flipV="1">
            <a:off x="5765278" y="3983218"/>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 name="Text Box 25">
            <a:extLst>
              <a:ext uri="{FF2B5EF4-FFF2-40B4-BE49-F238E27FC236}">
                <a16:creationId xmlns:a16="http://schemas.microsoft.com/office/drawing/2014/main" id="{23F7FA24-1D6F-49D5-B827-01D041944E6B}"/>
              </a:ext>
            </a:extLst>
          </p:cNvPr>
          <p:cNvSpPr txBox="1">
            <a:spLocks noChangeArrowheads="1"/>
          </p:cNvSpPr>
          <p:nvPr/>
        </p:nvSpPr>
        <p:spPr bwMode="auto">
          <a:xfrm rot="408567">
            <a:off x="6795509" y="3390606"/>
            <a:ext cx="100219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Arial" charset="0"/>
              </a:rPr>
              <a:t>2</a:t>
            </a:r>
            <a:r>
              <a:rPr lang="zh-CN" altLang="en-US" sz="1400" dirty="0">
                <a:latin typeface="Arial" charset="0"/>
              </a:rPr>
              <a:t>个报文段</a:t>
            </a:r>
            <a:endParaRPr lang="en-US" sz="1000" dirty="0">
              <a:latin typeface="Times New Roman" charset="0"/>
            </a:endParaRPr>
          </a:p>
        </p:txBody>
      </p:sp>
      <p:grpSp>
        <p:nvGrpSpPr>
          <p:cNvPr id="23" name="Group 27">
            <a:extLst>
              <a:ext uri="{FF2B5EF4-FFF2-40B4-BE49-F238E27FC236}">
                <a16:creationId xmlns:a16="http://schemas.microsoft.com/office/drawing/2014/main" id="{E8598165-B198-4DFA-B1F3-2C4F237FBB26}"/>
              </a:ext>
            </a:extLst>
          </p:cNvPr>
          <p:cNvGrpSpPr>
            <a:grpSpLocks/>
          </p:cNvGrpSpPr>
          <p:nvPr/>
        </p:nvGrpSpPr>
        <p:grpSpPr bwMode="auto">
          <a:xfrm>
            <a:off x="5762896" y="4264206"/>
            <a:ext cx="2519362" cy="652463"/>
            <a:chOff x="3954" y="2214"/>
            <a:chExt cx="1587" cy="411"/>
          </a:xfrm>
        </p:grpSpPr>
        <p:sp>
          <p:nvSpPr>
            <p:cNvPr id="24" name="Line 28">
              <a:extLst>
                <a:ext uri="{FF2B5EF4-FFF2-40B4-BE49-F238E27FC236}">
                  <a16:creationId xmlns:a16="http://schemas.microsoft.com/office/drawing/2014/main" id="{B9C760A2-31C1-49B2-B401-C73C6FD50AC7}"/>
                </a:ext>
              </a:extLst>
            </p:cNvPr>
            <p:cNvSpPr>
              <a:spLocks noChangeShapeType="1"/>
            </p:cNvSpPr>
            <p:nvPr/>
          </p:nvSpPr>
          <p:spPr bwMode="auto">
            <a:xfrm>
              <a:off x="3963" y="2214"/>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5" name="Line 29">
              <a:extLst>
                <a:ext uri="{FF2B5EF4-FFF2-40B4-BE49-F238E27FC236}">
                  <a16:creationId xmlns:a16="http://schemas.microsoft.com/office/drawing/2014/main" id="{03E8A694-56F0-452E-9874-0763043A7C16}"/>
                </a:ext>
              </a:extLst>
            </p:cNvPr>
            <p:cNvSpPr>
              <a:spLocks noChangeShapeType="1"/>
            </p:cNvSpPr>
            <p:nvPr/>
          </p:nvSpPr>
          <p:spPr bwMode="auto">
            <a:xfrm>
              <a:off x="3954" y="2274"/>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6" name="Line 30">
              <a:extLst>
                <a:ext uri="{FF2B5EF4-FFF2-40B4-BE49-F238E27FC236}">
                  <a16:creationId xmlns:a16="http://schemas.microsoft.com/office/drawing/2014/main" id="{97C06046-4DE4-4744-BE65-CDD673802E11}"/>
                </a:ext>
              </a:extLst>
            </p:cNvPr>
            <p:cNvSpPr>
              <a:spLocks noChangeShapeType="1"/>
            </p:cNvSpPr>
            <p:nvPr/>
          </p:nvSpPr>
          <p:spPr bwMode="auto">
            <a:xfrm>
              <a:off x="3963" y="2340"/>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7" name="Line 31">
              <a:extLst>
                <a:ext uri="{FF2B5EF4-FFF2-40B4-BE49-F238E27FC236}">
                  <a16:creationId xmlns:a16="http://schemas.microsoft.com/office/drawing/2014/main" id="{C43A0F88-D53C-4E0B-BBEA-A7DC0A07D32B}"/>
                </a:ext>
              </a:extLst>
            </p:cNvPr>
            <p:cNvSpPr>
              <a:spLocks noChangeShapeType="1"/>
            </p:cNvSpPr>
            <p:nvPr/>
          </p:nvSpPr>
          <p:spPr bwMode="auto">
            <a:xfrm>
              <a:off x="3957" y="2403"/>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grpSp>
      <p:grpSp>
        <p:nvGrpSpPr>
          <p:cNvPr id="28" name="Group 32">
            <a:extLst>
              <a:ext uri="{FF2B5EF4-FFF2-40B4-BE49-F238E27FC236}">
                <a16:creationId xmlns:a16="http://schemas.microsoft.com/office/drawing/2014/main" id="{55489B2A-D1C5-419D-8C29-BD49753A1B41}"/>
              </a:ext>
            </a:extLst>
          </p:cNvPr>
          <p:cNvGrpSpPr>
            <a:grpSpLocks/>
          </p:cNvGrpSpPr>
          <p:nvPr/>
        </p:nvGrpSpPr>
        <p:grpSpPr bwMode="auto">
          <a:xfrm flipV="1">
            <a:off x="6048646" y="4645206"/>
            <a:ext cx="2228850" cy="604838"/>
            <a:chOff x="3954" y="2214"/>
            <a:chExt cx="1587" cy="411"/>
          </a:xfrm>
        </p:grpSpPr>
        <p:sp>
          <p:nvSpPr>
            <p:cNvPr id="29" name="Line 33">
              <a:extLst>
                <a:ext uri="{FF2B5EF4-FFF2-40B4-BE49-F238E27FC236}">
                  <a16:creationId xmlns:a16="http://schemas.microsoft.com/office/drawing/2014/main" id="{69F64492-D987-492F-94C5-B7C89418260E}"/>
                </a:ext>
              </a:extLst>
            </p:cNvPr>
            <p:cNvSpPr>
              <a:spLocks noChangeShapeType="1"/>
            </p:cNvSpPr>
            <p:nvPr/>
          </p:nvSpPr>
          <p:spPr bwMode="auto">
            <a:xfrm>
              <a:off x="3963" y="2214"/>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 name="Line 34">
              <a:extLst>
                <a:ext uri="{FF2B5EF4-FFF2-40B4-BE49-F238E27FC236}">
                  <a16:creationId xmlns:a16="http://schemas.microsoft.com/office/drawing/2014/main" id="{40EB5132-FC7A-4E83-ADBB-90AA24B68FFF}"/>
                </a:ext>
              </a:extLst>
            </p:cNvPr>
            <p:cNvSpPr>
              <a:spLocks noChangeShapeType="1"/>
            </p:cNvSpPr>
            <p:nvPr/>
          </p:nvSpPr>
          <p:spPr bwMode="auto">
            <a:xfrm>
              <a:off x="3954" y="2274"/>
              <a:ext cx="1578" cy="220"/>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1" name="Line 35">
              <a:extLst>
                <a:ext uri="{FF2B5EF4-FFF2-40B4-BE49-F238E27FC236}">
                  <a16:creationId xmlns:a16="http://schemas.microsoft.com/office/drawing/2014/main" id="{EC609754-2F80-4EBA-9289-154270AADCD8}"/>
                </a:ext>
              </a:extLst>
            </p:cNvPr>
            <p:cNvSpPr>
              <a:spLocks noChangeShapeType="1"/>
            </p:cNvSpPr>
            <p:nvPr/>
          </p:nvSpPr>
          <p:spPr bwMode="auto">
            <a:xfrm>
              <a:off x="3963" y="2340"/>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2" name="Line 36">
              <a:extLst>
                <a:ext uri="{FF2B5EF4-FFF2-40B4-BE49-F238E27FC236}">
                  <a16:creationId xmlns:a16="http://schemas.microsoft.com/office/drawing/2014/main" id="{78098DAB-5FD8-4217-BF60-D7DD032AD6CA}"/>
                </a:ext>
              </a:extLst>
            </p:cNvPr>
            <p:cNvSpPr>
              <a:spLocks noChangeShapeType="1"/>
            </p:cNvSpPr>
            <p:nvPr/>
          </p:nvSpPr>
          <p:spPr bwMode="auto">
            <a:xfrm>
              <a:off x="3957" y="2403"/>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33" name="Group 43">
            <a:extLst>
              <a:ext uri="{FF2B5EF4-FFF2-40B4-BE49-F238E27FC236}">
                <a16:creationId xmlns:a16="http://schemas.microsoft.com/office/drawing/2014/main" id="{371D8FF3-7B40-4C9C-B6D2-2FFC5DCD0E0A}"/>
              </a:ext>
            </a:extLst>
          </p:cNvPr>
          <p:cNvGrpSpPr>
            <a:grpSpLocks/>
          </p:cNvGrpSpPr>
          <p:nvPr/>
        </p:nvGrpSpPr>
        <p:grpSpPr bwMode="auto">
          <a:xfrm>
            <a:off x="5324746" y="1909202"/>
            <a:ext cx="654050" cy="601663"/>
            <a:chOff x="-44" y="1473"/>
            <a:chExt cx="981" cy="1105"/>
          </a:xfrm>
        </p:grpSpPr>
        <p:pic>
          <p:nvPicPr>
            <p:cNvPr id="34" name="Picture 44" descr="desktop_computer_stylized_medium">
              <a:extLst>
                <a:ext uri="{FF2B5EF4-FFF2-40B4-BE49-F238E27FC236}">
                  <a16:creationId xmlns:a16="http://schemas.microsoft.com/office/drawing/2014/main" id="{B710F658-BD66-49CD-AC46-324FC19228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45">
              <a:extLst>
                <a:ext uri="{FF2B5EF4-FFF2-40B4-BE49-F238E27FC236}">
                  <a16:creationId xmlns:a16="http://schemas.microsoft.com/office/drawing/2014/main" id="{EA97F114-E185-4925-B2A5-AB38D49F700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6" name="Group 46">
            <a:extLst>
              <a:ext uri="{FF2B5EF4-FFF2-40B4-BE49-F238E27FC236}">
                <a16:creationId xmlns:a16="http://schemas.microsoft.com/office/drawing/2014/main" id="{FC18728D-34DC-4B8A-8CF8-3431378BF670}"/>
              </a:ext>
            </a:extLst>
          </p:cNvPr>
          <p:cNvGrpSpPr>
            <a:grpSpLocks/>
          </p:cNvGrpSpPr>
          <p:nvPr/>
        </p:nvGrpSpPr>
        <p:grpSpPr bwMode="auto">
          <a:xfrm>
            <a:off x="8060008" y="1923490"/>
            <a:ext cx="382588" cy="547687"/>
            <a:chOff x="4140" y="429"/>
            <a:chExt cx="1425" cy="2396"/>
          </a:xfrm>
        </p:grpSpPr>
        <p:sp>
          <p:nvSpPr>
            <p:cNvPr id="37" name="Freeform 47">
              <a:extLst>
                <a:ext uri="{FF2B5EF4-FFF2-40B4-BE49-F238E27FC236}">
                  <a16:creationId xmlns:a16="http://schemas.microsoft.com/office/drawing/2014/main" id="{CDFBBDDF-528C-48B8-B3DE-D29FD71C02F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Rectangle 48">
              <a:extLst>
                <a:ext uri="{FF2B5EF4-FFF2-40B4-BE49-F238E27FC236}">
                  <a16:creationId xmlns:a16="http://schemas.microsoft.com/office/drawing/2014/main" id="{FBD79493-012B-4CF1-9A10-D1A0ABCC976B}"/>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 name="Freeform 49">
              <a:extLst>
                <a:ext uri="{FF2B5EF4-FFF2-40B4-BE49-F238E27FC236}">
                  <a16:creationId xmlns:a16="http://schemas.microsoft.com/office/drawing/2014/main" id="{BF2F579C-D5FA-4B76-B798-1B4D3085B20A}"/>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Freeform 50">
              <a:extLst>
                <a:ext uri="{FF2B5EF4-FFF2-40B4-BE49-F238E27FC236}">
                  <a16:creationId xmlns:a16="http://schemas.microsoft.com/office/drawing/2014/main" id="{A7F37A9A-2B4E-4E6B-8318-98D610B80CE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51">
              <a:extLst>
                <a:ext uri="{FF2B5EF4-FFF2-40B4-BE49-F238E27FC236}">
                  <a16:creationId xmlns:a16="http://schemas.microsoft.com/office/drawing/2014/main" id="{509F107E-A35D-41EC-BAF7-1096CB8DAC95}"/>
                </a:ext>
              </a:extLst>
            </p:cNvPr>
            <p:cNvSpPr>
              <a:spLocks noChangeArrowheads="1"/>
            </p:cNvSpPr>
            <p:nvPr/>
          </p:nvSpPr>
          <p:spPr bwMode="auto">
            <a:xfrm>
              <a:off x="4211" y="693"/>
              <a:ext cx="59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2" name="Group 52">
              <a:extLst>
                <a:ext uri="{FF2B5EF4-FFF2-40B4-BE49-F238E27FC236}">
                  <a16:creationId xmlns:a16="http://schemas.microsoft.com/office/drawing/2014/main" id="{E1829B95-C06B-49D0-A80B-72121D12E123}"/>
                </a:ext>
              </a:extLst>
            </p:cNvPr>
            <p:cNvGrpSpPr>
              <a:grpSpLocks/>
            </p:cNvGrpSpPr>
            <p:nvPr/>
          </p:nvGrpSpPr>
          <p:grpSpPr bwMode="auto">
            <a:xfrm>
              <a:off x="4749" y="668"/>
              <a:ext cx="581" cy="145"/>
              <a:chOff x="614" y="2568"/>
              <a:chExt cx="725" cy="139"/>
            </a:xfrm>
          </p:grpSpPr>
          <p:sp>
            <p:nvSpPr>
              <p:cNvPr id="67" name="AutoShape 53">
                <a:extLst>
                  <a:ext uri="{FF2B5EF4-FFF2-40B4-BE49-F238E27FC236}">
                    <a16:creationId xmlns:a16="http://schemas.microsoft.com/office/drawing/2014/main" id="{05FB7668-943D-441A-BA78-21F76D4EB77C}"/>
                  </a:ext>
                </a:extLst>
              </p:cNvPr>
              <p:cNvSpPr>
                <a:spLocks noChangeArrowheads="1"/>
              </p:cNvSpPr>
              <p:nvPr/>
            </p:nvSpPr>
            <p:spPr bwMode="auto">
              <a:xfrm>
                <a:off x="614" y="2565"/>
                <a:ext cx="723"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8" name="AutoShape 54">
                <a:extLst>
                  <a:ext uri="{FF2B5EF4-FFF2-40B4-BE49-F238E27FC236}">
                    <a16:creationId xmlns:a16="http://schemas.microsoft.com/office/drawing/2014/main" id="{DAB22C95-5A3F-4074-A9F1-4D6A66827C32}"/>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3" name="Rectangle 55">
              <a:extLst>
                <a:ext uri="{FF2B5EF4-FFF2-40B4-BE49-F238E27FC236}">
                  <a16:creationId xmlns:a16="http://schemas.microsoft.com/office/drawing/2014/main" id="{A9719D6F-4F0B-4317-A039-7A42E8050E2F}"/>
                </a:ext>
              </a:extLst>
            </p:cNvPr>
            <p:cNvSpPr>
              <a:spLocks noChangeArrowheads="1"/>
            </p:cNvSpPr>
            <p:nvPr/>
          </p:nvSpPr>
          <p:spPr bwMode="auto">
            <a:xfrm>
              <a:off x="4223" y="1019"/>
              <a:ext cx="59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4" name="Group 56">
              <a:extLst>
                <a:ext uri="{FF2B5EF4-FFF2-40B4-BE49-F238E27FC236}">
                  <a16:creationId xmlns:a16="http://schemas.microsoft.com/office/drawing/2014/main" id="{E58768A9-C1AF-41E9-938C-082E08640E58}"/>
                </a:ext>
              </a:extLst>
            </p:cNvPr>
            <p:cNvGrpSpPr>
              <a:grpSpLocks/>
            </p:cNvGrpSpPr>
            <p:nvPr/>
          </p:nvGrpSpPr>
          <p:grpSpPr bwMode="auto">
            <a:xfrm>
              <a:off x="4747" y="994"/>
              <a:ext cx="581" cy="134"/>
              <a:chOff x="614" y="2568"/>
              <a:chExt cx="725" cy="139"/>
            </a:xfrm>
          </p:grpSpPr>
          <p:sp>
            <p:nvSpPr>
              <p:cNvPr id="65" name="AutoShape 57">
                <a:extLst>
                  <a:ext uri="{FF2B5EF4-FFF2-40B4-BE49-F238E27FC236}">
                    <a16:creationId xmlns:a16="http://schemas.microsoft.com/office/drawing/2014/main" id="{A84019F5-5C32-41D2-A3D5-EE7D6918F23D}"/>
                  </a:ext>
                </a:extLst>
              </p:cNvPr>
              <p:cNvSpPr>
                <a:spLocks noChangeArrowheads="1"/>
              </p:cNvSpPr>
              <p:nvPr/>
            </p:nvSpPr>
            <p:spPr bwMode="auto">
              <a:xfrm>
                <a:off x="617" y="2565"/>
                <a:ext cx="723"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6" name="AutoShape 58">
                <a:extLst>
                  <a:ext uri="{FF2B5EF4-FFF2-40B4-BE49-F238E27FC236}">
                    <a16:creationId xmlns:a16="http://schemas.microsoft.com/office/drawing/2014/main" id="{61233BB0-872A-4DEC-83CC-8268E40E2456}"/>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5" name="Rectangle 59">
              <a:extLst>
                <a:ext uri="{FF2B5EF4-FFF2-40B4-BE49-F238E27FC236}">
                  <a16:creationId xmlns:a16="http://schemas.microsoft.com/office/drawing/2014/main" id="{688F8E5C-AAF7-4CFC-8349-C7E3DB67C91B}"/>
                </a:ext>
              </a:extLst>
            </p:cNvPr>
            <p:cNvSpPr>
              <a:spLocks noChangeArrowheads="1"/>
            </p:cNvSpPr>
            <p:nvPr/>
          </p:nvSpPr>
          <p:spPr bwMode="auto">
            <a:xfrm>
              <a:off x="4217" y="1360"/>
              <a:ext cx="597"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6" name="Rectangle 60">
              <a:extLst>
                <a:ext uri="{FF2B5EF4-FFF2-40B4-BE49-F238E27FC236}">
                  <a16:creationId xmlns:a16="http://schemas.microsoft.com/office/drawing/2014/main" id="{F29E4658-8C15-4B45-8F1C-66B572FD9DDB}"/>
                </a:ext>
              </a:extLst>
            </p:cNvPr>
            <p:cNvSpPr>
              <a:spLocks noChangeArrowheads="1"/>
            </p:cNvSpPr>
            <p:nvPr/>
          </p:nvSpPr>
          <p:spPr bwMode="auto">
            <a:xfrm>
              <a:off x="4229" y="1658"/>
              <a:ext cx="597"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7" name="Group 61">
              <a:extLst>
                <a:ext uri="{FF2B5EF4-FFF2-40B4-BE49-F238E27FC236}">
                  <a16:creationId xmlns:a16="http://schemas.microsoft.com/office/drawing/2014/main" id="{804F0A29-0193-430C-8CD9-ED38BA59AA47}"/>
                </a:ext>
              </a:extLst>
            </p:cNvPr>
            <p:cNvGrpSpPr>
              <a:grpSpLocks/>
            </p:cNvGrpSpPr>
            <p:nvPr/>
          </p:nvGrpSpPr>
          <p:grpSpPr bwMode="auto">
            <a:xfrm>
              <a:off x="4735" y="1627"/>
              <a:ext cx="582" cy="151"/>
              <a:chOff x="614" y="2568"/>
              <a:chExt cx="725" cy="139"/>
            </a:xfrm>
          </p:grpSpPr>
          <p:sp>
            <p:nvSpPr>
              <p:cNvPr id="63" name="AutoShape 62">
                <a:extLst>
                  <a:ext uri="{FF2B5EF4-FFF2-40B4-BE49-F238E27FC236}">
                    <a16:creationId xmlns:a16="http://schemas.microsoft.com/office/drawing/2014/main" id="{DBF2F066-28FB-4BC9-94C1-B79319679982}"/>
                  </a:ext>
                </a:extLst>
              </p:cNvPr>
              <p:cNvSpPr>
                <a:spLocks noChangeArrowheads="1"/>
              </p:cNvSpPr>
              <p:nvPr/>
            </p:nvSpPr>
            <p:spPr bwMode="auto">
              <a:xfrm>
                <a:off x="617" y="2571"/>
                <a:ext cx="722"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4" name="AutoShape 63">
                <a:extLst>
                  <a:ext uri="{FF2B5EF4-FFF2-40B4-BE49-F238E27FC236}">
                    <a16:creationId xmlns:a16="http://schemas.microsoft.com/office/drawing/2014/main" id="{3CE90262-4BB6-4BED-9E26-7607D353B0FF}"/>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8" name="Freeform 64">
              <a:extLst>
                <a:ext uri="{FF2B5EF4-FFF2-40B4-BE49-F238E27FC236}">
                  <a16:creationId xmlns:a16="http://schemas.microsoft.com/office/drawing/2014/main" id="{BD247199-B08E-4500-B8F1-71C7AFBE38D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9" name="Group 65">
              <a:extLst>
                <a:ext uri="{FF2B5EF4-FFF2-40B4-BE49-F238E27FC236}">
                  <a16:creationId xmlns:a16="http://schemas.microsoft.com/office/drawing/2014/main" id="{C1F7E00D-E0AF-4744-8456-13FAA66E7702}"/>
                </a:ext>
              </a:extLst>
            </p:cNvPr>
            <p:cNvGrpSpPr>
              <a:grpSpLocks/>
            </p:cNvGrpSpPr>
            <p:nvPr/>
          </p:nvGrpSpPr>
          <p:grpSpPr bwMode="auto">
            <a:xfrm>
              <a:off x="4739" y="1327"/>
              <a:ext cx="582" cy="139"/>
              <a:chOff x="614" y="2568"/>
              <a:chExt cx="725" cy="139"/>
            </a:xfrm>
          </p:grpSpPr>
          <p:sp>
            <p:nvSpPr>
              <p:cNvPr id="61" name="AutoShape 66">
                <a:extLst>
                  <a:ext uri="{FF2B5EF4-FFF2-40B4-BE49-F238E27FC236}">
                    <a16:creationId xmlns:a16="http://schemas.microsoft.com/office/drawing/2014/main" id="{68F08DBC-531C-48C2-A4B4-9A7E2E45C435}"/>
                  </a:ext>
                </a:extLst>
              </p:cNvPr>
              <p:cNvSpPr>
                <a:spLocks noChangeArrowheads="1"/>
              </p:cNvSpPr>
              <p:nvPr/>
            </p:nvSpPr>
            <p:spPr bwMode="auto">
              <a:xfrm>
                <a:off x="612" y="2566"/>
                <a:ext cx="729"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2" name="AutoShape 67">
                <a:extLst>
                  <a:ext uri="{FF2B5EF4-FFF2-40B4-BE49-F238E27FC236}">
                    <a16:creationId xmlns:a16="http://schemas.microsoft.com/office/drawing/2014/main" id="{2995C705-D6CE-45E2-8530-55BA0806027F}"/>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50" name="Rectangle 68">
              <a:extLst>
                <a:ext uri="{FF2B5EF4-FFF2-40B4-BE49-F238E27FC236}">
                  <a16:creationId xmlns:a16="http://schemas.microsoft.com/office/drawing/2014/main" id="{026FFA0E-A77E-4009-9E09-189A25FF6B49}"/>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1" name="Freeform 69">
              <a:extLst>
                <a:ext uri="{FF2B5EF4-FFF2-40B4-BE49-F238E27FC236}">
                  <a16:creationId xmlns:a16="http://schemas.microsoft.com/office/drawing/2014/main" id="{1442DD51-E99D-45A4-BAAF-937931DD0C9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Freeform 70">
              <a:extLst>
                <a:ext uri="{FF2B5EF4-FFF2-40B4-BE49-F238E27FC236}">
                  <a16:creationId xmlns:a16="http://schemas.microsoft.com/office/drawing/2014/main" id="{618763D3-1A77-492E-B199-E162800756B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Oval 71">
              <a:extLst>
                <a:ext uri="{FF2B5EF4-FFF2-40B4-BE49-F238E27FC236}">
                  <a16:creationId xmlns:a16="http://schemas.microsoft.com/office/drawing/2014/main" id="{BBA1B2CA-DB6D-4B28-8687-962581EFDB8D}"/>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4" name="Freeform 72">
              <a:extLst>
                <a:ext uri="{FF2B5EF4-FFF2-40B4-BE49-F238E27FC236}">
                  <a16:creationId xmlns:a16="http://schemas.microsoft.com/office/drawing/2014/main" id="{AAB6D06E-14EE-4A58-9B20-6203A978ECF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AutoShape 73">
              <a:extLst>
                <a:ext uri="{FF2B5EF4-FFF2-40B4-BE49-F238E27FC236}">
                  <a16:creationId xmlns:a16="http://schemas.microsoft.com/office/drawing/2014/main" id="{9FFDE7E4-D77D-4279-AE93-A4A13DE78BCC}"/>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6" name="AutoShape 74">
              <a:extLst>
                <a:ext uri="{FF2B5EF4-FFF2-40B4-BE49-F238E27FC236}">
                  <a16:creationId xmlns:a16="http://schemas.microsoft.com/office/drawing/2014/main" id="{930C859C-7227-468B-9CB4-DCB378B72C6D}"/>
                </a:ext>
              </a:extLst>
            </p:cNvPr>
            <p:cNvSpPr>
              <a:spLocks noChangeArrowheads="1"/>
            </p:cNvSpPr>
            <p:nvPr/>
          </p:nvSpPr>
          <p:spPr bwMode="auto">
            <a:xfrm>
              <a:off x="4205" y="2714"/>
              <a:ext cx="1070" cy="7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7" name="Oval 75">
              <a:extLst>
                <a:ext uri="{FF2B5EF4-FFF2-40B4-BE49-F238E27FC236}">
                  <a16:creationId xmlns:a16="http://schemas.microsoft.com/office/drawing/2014/main" id="{BB47349A-B5C3-41EB-8D9F-0297297B6C9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8" name="Oval 76">
              <a:extLst>
                <a:ext uri="{FF2B5EF4-FFF2-40B4-BE49-F238E27FC236}">
                  <a16:creationId xmlns:a16="http://schemas.microsoft.com/office/drawing/2014/main" id="{9BE913AB-A606-4E50-AAFA-63988D8C623F}"/>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59" name="Oval 77">
              <a:extLst>
                <a:ext uri="{FF2B5EF4-FFF2-40B4-BE49-F238E27FC236}">
                  <a16:creationId xmlns:a16="http://schemas.microsoft.com/office/drawing/2014/main" id="{249A0D6A-42C3-4356-9ED6-3140BF521A0D}"/>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0" name="Rectangle 78">
              <a:extLst>
                <a:ext uri="{FF2B5EF4-FFF2-40B4-BE49-F238E27FC236}">
                  <a16:creationId xmlns:a16="http://schemas.microsoft.com/office/drawing/2014/main" id="{A0658DAE-DC19-429D-ADEF-E02E09C9EF79}"/>
                </a:ext>
              </a:extLst>
            </p:cNvPr>
            <p:cNvSpPr>
              <a:spLocks noChangeArrowheads="1"/>
            </p:cNvSpPr>
            <p:nvPr/>
          </p:nvSpPr>
          <p:spPr bwMode="auto">
            <a:xfrm>
              <a:off x="5062" y="1832"/>
              <a:ext cx="83"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9" name="Text Box 25">
            <a:extLst>
              <a:ext uri="{FF2B5EF4-FFF2-40B4-BE49-F238E27FC236}">
                <a16:creationId xmlns:a16="http://schemas.microsoft.com/office/drawing/2014/main" id="{8ACBF3A3-D8BB-4F3A-A43A-6FEDF4DA6722}"/>
              </a:ext>
            </a:extLst>
          </p:cNvPr>
          <p:cNvSpPr txBox="1">
            <a:spLocks noChangeArrowheads="1"/>
          </p:cNvSpPr>
          <p:nvPr/>
        </p:nvSpPr>
        <p:spPr bwMode="auto">
          <a:xfrm rot="408567">
            <a:off x="6840520" y="4184929"/>
            <a:ext cx="1002197" cy="30777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tLang="zh-CN" sz="1400">
                <a:latin typeface="Arial" charset="0"/>
              </a:rPr>
              <a:t>4</a:t>
            </a:r>
            <a:r>
              <a:rPr lang="zh-CN" altLang="en-US" sz="1400">
                <a:latin typeface="Arial" charset="0"/>
              </a:rPr>
              <a:t>个</a:t>
            </a:r>
            <a:r>
              <a:rPr lang="zh-CN" altLang="en-US" sz="1400" dirty="0">
                <a:latin typeface="Arial" charset="0"/>
              </a:rPr>
              <a:t>报文段</a:t>
            </a:r>
            <a:endParaRPr lang="en-US" sz="1000" dirty="0">
              <a:latin typeface="Times New Roman" charset="0"/>
            </a:endParaRPr>
          </a:p>
        </p:txBody>
      </p:sp>
    </p:spTree>
    <p:extLst>
      <p:ext uri="{BB962C8B-B14F-4D97-AF65-F5344CB8AC3E}">
        <p14:creationId xmlns:p14="http://schemas.microsoft.com/office/powerpoint/2010/main" val="24729481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49" y="1077975"/>
            <a:ext cx="5049188" cy="2472189"/>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拥塞避免</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1200"/>
              </a:spcBef>
              <a:buClr>
                <a:schemeClr val="accent2"/>
              </a:buClr>
              <a:buSzPct val="75000"/>
              <a:buBlip>
                <a:blip r:embed="rId4"/>
              </a:buBlip>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阈值</a:t>
            </a:r>
            <a:r>
              <a:rPr lang="en-US" altLang="zh-CN" sz="2200" b="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ssthresh</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：拥塞窗口达到阈值时，进入拥塞避免阶段</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12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经过每个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（收到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cwnd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增</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（线性增长）</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Line 6">
            <a:extLst>
              <a:ext uri="{FF2B5EF4-FFF2-40B4-BE49-F238E27FC236}">
                <a16:creationId xmlns:a16="http://schemas.microsoft.com/office/drawing/2014/main" id="{98E59818-D7C8-42B7-8813-4382593AA3D9}"/>
              </a:ext>
            </a:extLst>
          </p:cNvPr>
          <p:cNvSpPr>
            <a:spLocks noChangeShapeType="1"/>
          </p:cNvSpPr>
          <p:nvPr/>
        </p:nvSpPr>
        <p:spPr bwMode="auto">
          <a:xfrm>
            <a:off x="5934544" y="2720460"/>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8" name="Text Box 8">
            <a:extLst>
              <a:ext uri="{FF2B5EF4-FFF2-40B4-BE49-F238E27FC236}">
                <a16:creationId xmlns:a16="http://schemas.microsoft.com/office/drawing/2014/main" id="{84388814-77FD-4F67-8C6E-B2A9372745BC}"/>
              </a:ext>
            </a:extLst>
          </p:cNvPr>
          <p:cNvSpPr txBox="1">
            <a:spLocks noChangeArrowheads="1"/>
          </p:cNvSpPr>
          <p:nvPr/>
        </p:nvSpPr>
        <p:spPr bwMode="auto">
          <a:xfrm>
            <a:off x="5600649" y="1582222"/>
            <a:ext cx="731289"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Arial" charset="0"/>
              </a:rPr>
              <a:t>主机</a:t>
            </a:r>
            <a:r>
              <a:rPr lang="en-US" dirty="0">
                <a:latin typeface="Arial" charset="0"/>
              </a:rPr>
              <a:t>A</a:t>
            </a:r>
          </a:p>
        </p:txBody>
      </p:sp>
      <p:sp>
        <p:nvSpPr>
          <p:cNvPr id="9" name="Text Box 9">
            <a:extLst>
              <a:ext uri="{FF2B5EF4-FFF2-40B4-BE49-F238E27FC236}">
                <a16:creationId xmlns:a16="http://schemas.microsoft.com/office/drawing/2014/main" id="{8B2D1DCC-F276-407E-A3C1-4158733E7774}"/>
              </a:ext>
            </a:extLst>
          </p:cNvPr>
          <p:cNvSpPr txBox="1">
            <a:spLocks noChangeArrowheads="1"/>
          </p:cNvSpPr>
          <p:nvPr/>
        </p:nvSpPr>
        <p:spPr bwMode="auto">
          <a:xfrm rot="408567">
            <a:off x="6897375" y="2618673"/>
            <a:ext cx="1002198"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Arial" charset="0"/>
              </a:rPr>
              <a:t>1</a:t>
            </a:r>
            <a:r>
              <a:rPr lang="zh-CN" altLang="en-US" sz="1400" dirty="0">
                <a:latin typeface="Arial" charset="0"/>
              </a:rPr>
              <a:t>个报文段</a:t>
            </a:r>
            <a:endParaRPr lang="en-US" sz="1000" dirty="0">
              <a:latin typeface="Times New Roman" charset="0"/>
            </a:endParaRPr>
          </a:p>
        </p:txBody>
      </p:sp>
      <p:sp>
        <p:nvSpPr>
          <p:cNvPr id="10" name="Text Box 10">
            <a:extLst>
              <a:ext uri="{FF2B5EF4-FFF2-40B4-BE49-F238E27FC236}">
                <a16:creationId xmlns:a16="http://schemas.microsoft.com/office/drawing/2014/main" id="{226EF235-DA54-4757-A532-53B7B70C838A}"/>
              </a:ext>
            </a:extLst>
          </p:cNvPr>
          <p:cNvSpPr txBox="1">
            <a:spLocks noChangeArrowheads="1"/>
          </p:cNvSpPr>
          <p:nvPr/>
        </p:nvSpPr>
        <p:spPr bwMode="auto">
          <a:xfrm rot="16200000">
            <a:off x="5492425" y="2924454"/>
            <a:ext cx="5286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a:latin typeface="Arial" charset="0"/>
              </a:rPr>
              <a:t>RTT</a:t>
            </a:r>
            <a:endParaRPr lang="en-US" sz="1000">
              <a:latin typeface="Arial" charset="0"/>
            </a:endParaRPr>
          </a:p>
        </p:txBody>
      </p:sp>
      <p:sp>
        <p:nvSpPr>
          <p:cNvPr id="11" name="Text Box 12">
            <a:extLst>
              <a:ext uri="{FF2B5EF4-FFF2-40B4-BE49-F238E27FC236}">
                <a16:creationId xmlns:a16="http://schemas.microsoft.com/office/drawing/2014/main" id="{4F6DBD81-392D-4827-AF1A-23D4138528A1}"/>
              </a:ext>
            </a:extLst>
          </p:cNvPr>
          <p:cNvSpPr txBox="1">
            <a:spLocks noChangeArrowheads="1"/>
          </p:cNvSpPr>
          <p:nvPr/>
        </p:nvSpPr>
        <p:spPr bwMode="auto">
          <a:xfrm>
            <a:off x="8037462" y="1567935"/>
            <a:ext cx="731289"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dirty="0">
                <a:latin typeface="Arial" charset="0"/>
              </a:rPr>
              <a:t>主机</a:t>
            </a:r>
            <a:r>
              <a:rPr lang="en-US" dirty="0">
                <a:latin typeface="Arial" charset="0"/>
              </a:rPr>
              <a:t>B</a:t>
            </a:r>
          </a:p>
        </p:txBody>
      </p:sp>
      <p:sp>
        <p:nvSpPr>
          <p:cNvPr id="12" name="Line 13">
            <a:extLst>
              <a:ext uri="{FF2B5EF4-FFF2-40B4-BE49-F238E27FC236}">
                <a16:creationId xmlns:a16="http://schemas.microsoft.com/office/drawing/2014/main" id="{F62D6542-7EF0-49A3-B177-4820DCCEBE5D}"/>
              </a:ext>
            </a:extLst>
          </p:cNvPr>
          <p:cNvSpPr>
            <a:spLocks noChangeShapeType="1"/>
          </p:cNvSpPr>
          <p:nvPr/>
        </p:nvSpPr>
        <p:spPr bwMode="auto">
          <a:xfrm>
            <a:off x="5929781" y="2534722"/>
            <a:ext cx="3651" cy="3036709"/>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3" name="Line 14">
            <a:extLst>
              <a:ext uri="{FF2B5EF4-FFF2-40B4-BE49-F238E27FC236}">
                <a16:creationId xmlns:a16="http://schemas.microsoft.com/office/drawing/2014/main" id="{328554FB-C105-49FD-A45B-8E9899B6D52B}"/>
              </a:ext>
            </a:extLst>
          </p:cNvPr>
          <p:cNvSpPr>
            <a:spLocks noChangeShapeType="1"/>
          </p:cNvSpPr>
          <p:nvPr/>
        </p:nvSpPr>
        <p:spPr bwMode="auto">
          <a:xfrm>
            <a:off x="8444382" y="2572822"/>
            <a:ext cx="1098" cy="2998609"/>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 name="Line 15">
            <a:extLst>
              <a:ext uri="{FF2B5EF4-FFF2-40B4-BE49-F238E27FC236}">
                <a16:creationId xmlns:a16="http://schemas.microsoft.com/office/drawing/2014/main" id="{AB5BD8BA-41A5-4079-B8FB-B99895A6576C}"/>
              </a:ext>
            </a:extLst>
          </p:cNvPr>
          <p:cNvSpPr>
            <a:spLocks noChangeShapeType="1"/>
          </p:cNvSpPr>
          <p:nvPr/>
        </p:nvSpPr>
        <p:spPr bwMode="auto">
          <a:xfrm flipH="1" flipV="1">
            <a:off x="5748807" y="2683947"/>
            <a:ext cx="4762" cy="2190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 name="Line 16">
            <a:extLst>
              <a:ext uri="{FF2B5EF4-FFF2-40B4-BE49-F238E27FC236}">
                <a16:creationId xmlns:a16="http://schemas.microsoft.com/office/drawing/2014/main" id="{BFCD0262-01D0-4A6F-9AB1-ABD4C131DD2D}"/>
              </a:ext>
            </a:extLst>
          </p:cNvPr>
          <p:cNvSpPr>
            <a:spLocks noChangeShapeType="1"/>
          </p:cNvSpPr>
          <p:nvPr/>
        </p:nvSpPr>
        <p:spPr bwMode="auto">
          <a:xfrm>
            <a:off x="5758332" y="3290372"/>
            <a:ext cx="4762" cy="22383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 name="Line 17">
            <a:extLst>
              <a:ext uri="{FF2B5EF4-FFF2-40B4-BE49-F238E27FC236}">
                <a16:creationId xmlns:a16="http://schemas.microsoft.com/office/drawing/2014/main" id="{79B2EBAF-2A1E-4092-8EAB-EDFC3F7D716C}"/>
              </a:ext>
            </a:extLst>
          </p:cNvPr>
          <p:cNvSpPr>
            <a:spLocks noChangeShapeType="1"/>
          </p:cNvSpPr>
          <p:nvPr/>
        </p:nvSpPr>
        <p:spPr bwMode="auto">
          <a:xfrm flipV="1">
            <a:off x="5910732" y="3125272"/>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7" name="Text Box 20">
            <a:extLst>
              <a:ext uri="{FF2B5EF4-FFF2-40B4-BE49-F238E27FC236}">
                <a16:creationId xmlns:a16="http://schemas.microsoft.com/office/drawing/2014/main" id="{9DDD5672-8881-4D89-87A1-9B15014B2A35}"/>
              </a:ext>
            </a:extLst>
          </p:cNvPr>
          <p:cNvSpPr txBox="1">
            <a:spLocks noChangeArrowheads="1"/>
          </p:cNvSpPr>
          <p:nvPr/>
        </p:nvSpPr>
        <p:spPr bwMode="auto">
          <a:xfrm>
            <a:off x="5684433" y="5600136"/>
            <a:ext cx="543739"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400" dirty="0">
                <a:latin typeface="Arial" charset="0"/>
              </a:rPr>
              <a:t>时间</a:t>
            </a:r>
            <a:endParaRPr lang="en-US" sz="1400" dirty="0">
              <a:latin typeface="Arial" charset="0"/>
            </a:endParaRPr>
          </a:p>
        </p:txBody>
      </p:sp>
      <p:sp>
        <p:nvSpPr>
          <p:cNvPr id="18" name="Line 21">
            <a:extLst>
              <a:ext uri="{FF2B5EF4-FFF2-40B4-BE49-F238E27FC236}">
                <a16:creationId xmlns:a16="http://schemas.microsoft.com/office/drawing/2014/main" id="{145256F8-7997-4E02-B993-66C844248D3E}"/>
              </a:ext>
            </a:extLst>
          </p:cNvPr>
          <p:cNvSpPr>
            <a:spLocks noChangeShapeType="1"/>
          </p:cNvSpPr>
          <p:nvPr/>
        </p:nvSpPr>
        <p:spPr bwMode="auto">
          <a:xfrm>
            <a:off x="5939307" y="3501510"/>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19" name="Line 22">
            <a:extLst>
              <a:ext uri="{FF2B5EF4-FFF2-40B4-BE49-F238E27FC236}">
                <a16:creationId xmlns:a16="http://schemas.microsoft.com/office/drawing/2014/main" id="{D9A6816D-B2BC-413B-A5CF-D6E2DCF30543}"/>
              </a:ext>
            </a:extLst>
          </p:cNvPr>
          <p:cNvSpPr>
            <a:spLocks noChangeShapeType="1"/>
          </p:cNvSpPr>
          <p:nvPr/>
        </p:nvSpPr>
        <p:spPr bwMode="auto">
          <a:xfrm>
            <a:off x="5934544" y="3587235"/>
            <a:ext cx="2505075" cy="352425"/>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0" name="Line 23">
            <a:extLst>
              <a:ext uri="{FF2B5EF4-FFF2-40B4-BE49-F238E27FC236}">
                <a16:creationId xmlns:a16="http://schemas.microsoft.com/office/drawing/2014/main" id="{8E346926-FCE8-4812-8EA5-849FB24BCAB0}"/>
              </a:ext>
            </a:extLst>
          </p:cNvPr>
          <p:cNvSpPr>
            <a:spLocks noChangeShapeType="1"/>
          </p:cNvSpPr>
          <p:nvPr/>
        </p:nvSpPr>
        <p:spPr bwMode="auto">
          <a:xfrm flipV="1">
            <a:off x="5934544" y="3865789"/>
            <a:ext cx="2528888" cy="361950"/>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 name="Line 24">
            <a:extLst>
              <a:ext uri="{FF2B5EF4-FFF2-40B4-BE49-F238E27FC236}">
                <a16:creationId xmlns:a16="http://schemas.microsoft.com/office/drawing/2014/main" id="{2C8452EE-5376-4D14-9F5D-7650FE3BB74F}"/>
              </a:ext>
            </a:extLst>
          </p:cNvPr>
          <p:cNvSpPr>
            <a:spLocks noChangeShapeType="1"/>
          </p:cNvSpPr>
          <p:nvPr/>
        </p:nvSpPr>
        <p:spPr bwMode="auto">
          <a:xfrm flipV="1">
            <a:off x="5932164" y="3980088"/>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 name="Text Box 25">
            <a:extLst>
              <a:ext uri="{FF2B5EF4-FFF2-40B4-BE49-F238E27FC236}">
                <a16:creationId xmlns:a16="http://schemas.microsoft.com/office/drawing/2014/main" id="{23F7FA24-1D6F-49D5-B827-01D041944E6B}"/>
              </a:ext>
            </a:extLst>
          </p:cNvPr>
          <p:cNvSpPr txBox="1">
            <a:spLocks noChangeArrowheads="1"/>
          </p:cNvSpPr>
          <p:nvPr/>
        </p:nvSpPr>
        <p:spPr bwMode="auto">
          <a:xfrm rot="408567">
            <a:off x="6962395" y="3387476"/>
            <a:ext cx="100219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400" dirty="0">
                <a:latin typeface="Arial" charset="0"/>
              </a:rPr>
              <a:t>2</a:t>
            </a:r>
            <a:r>
              <a:rPr lang="zh-CN" altLang="en-US" sz="1400" dirty="0">
                <a:latin typeface="Arial" charset="0"/>
              </a:rPr>
              <a:t>个报文段</a:t>
            </a:r>
            <a:endParaRPr lang="en-US" sz="1000" dirty="0">
              <a:latin typeface="Times New Roman" charset="0"/>
            </a:endParaRPr>
          </a:p>
        </p:txBody>
      </p:sp>
      <p:grpSp>
        <p:nvGrpSpPr>
          <p:cNvPr id="23" name="Group 27">
            <a:extLst>
              <a:ext uri="{FF2B5EF4-FFF2-40B4-BE49-F238E27FC236}">
                <a16:creationId xmlns:a16="http://schemas.microsoft.com/office/drawing/2014/main" id="{E8598165-B198-4DFA-B1F3-2C4F237FBB26}"/>
              </a:ext>
            </a:extLst>
          </p:cNvPr>
          <p:cNvGrpSpPr>
            <a:grpSpLocks/>
          </p:cNvGrpSpPr>
          <p:nvPr/>
        </p:nvGrpSpPr>
        <p:grpSpPr bwMode="auto">
          <a:xfrm>
            <a:off x="5929782" y="4261073"/>
            <a:ext cx="2519362" cy="552450"/>
            <a:chOff x="3954" y="2214"/>
            <a:chExt cx="1587" cy="348"/>
          </a:xfrm>
        </p:grpSpPr>
        <p:sp>
          <p:nvSpPr>
            <p:cNvPr id="24" name="Line 28">
              <a:extLst>
                <a:ext uri="{FF2B5EF4-FFF2-40B4-BE49-F238E27FC236}">
                  <a16:creationId xmlns:a16="http://schemas.microsoft.com/office/drawing/2014/main" id="{B9C760A2-31C1-49B2-B401-C73C6FD50AC7}"/>
                </a:ext>
              </a:extLst>
            </p:cNvPr>
            <p:cNvSpPr>
              <a:spLocks noChangeShapeType="1"/>
            </p:cNvSpPr>
            <p:nvPr/>
          </p:nvSpPr>
          <p:spPr bwMode="auto">
            <a:xfrm>
              <a:off x="3963" y="2214"/>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5" name="Line 29">
              <a:extLst>
                <a:ext uri="{FF2B5EF4-FFF2-40B4-BE49-F238E27FC236}">
                  <a16:creationId xmlns:a16="http://schemas.microsoft.com/office/drawing/2014/main" id="{03E8A694-56F0-452E-9874-0763043A7C16}"/>
                </a:ext>
              </a:extLst>
            </p:cNvPr>
            <p:cNvSpPr>
              <a:spLocks noChangeShapeType="1"/>
            </p:cNvSpPr>
            <p:nvPr/>
          </p:nvSpPr>
          <p:spPr bwMode="auto">
            <a:xfrm>
              <a:off x="3954" y="2274"/>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sp>
          <p:nvSpPr>
            <p:cNvPr id="26" name="Line 30">
              <a:extLst>
                <a:ext uri="{FF2B5EF4-FFF2-40B4-BE49-F238E27FC236}">
                  <a16:creationId xmlns:a16="http://schemas.microsoft.com/office/drawing/2014/main" id="{97C06046-4DE4-4744-BE65-CDD673802E11}"/>
                </a:ext>
              </a:extLst>
            </p:cNvPr>
            <p:cNvSpPr>
              <a:spLocks noChangeShapeType="1"/>
            </p:cNvSpPr>
            <p:nvPr/>
          </p:nvSpPr>
          <p:spPr bwMode="auto">
            <a:xfrm>
              <a:off x="3963" y="2340"/>
              <a:ext cx="1578" cy="222"/>
            </a:xfrm>
            <a:prstGeom prst="line">
              <a:avLst/>
            </a:prstGeom>
            <a:noFill/>
            <a:ln w="28575">
              <a:solidFill>
                <a:srgbClr val="00B0F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Tahoma" charset="0"/>
                <a:ea typeface="ＭＳ Ｐゴシック" charset="0"/>
              </a:endParaRPr>
            </a:p>
          </p:txBody>
        </p:sp>
      </p:grpSp>
      <p:grpSp>
        <p:nvGrpSpPr>
          <p:cNvPr id="28" name="Group 32">
            <a:extLst>
              <a:ext uri="{FF2B5EF4-FFF2-40B4-BE49-F238E27FC236}">
                <a16:creationId xmlns:a16="http://schemas.microsoft.com/office/drawing/2014/main" id="{55489B2A-D1C5-419D-8C29-BD49753A1B41}"/>
              </a:ext>
            </a:extLst>
          </p:cNvPr>
          <p:cNvGrpSpPr>
            <a:grpSpLocks/>
          </p:cNvGrpSpPr>
          <p:nvPr/>
        </p:nvGrpSpPr>
        <p:grpSpPr bwMode="auto">
          <a:xfrm flipV="1">
            <a:off x="6215532" y="4642080"/>
            <a:ext cx="2228850" cy="516540"/>
            <a:chOff x="3954" y="2274"/>
            <a:chExt cx="1587" cy="351"/>
          </a:xfrm>
        </p:grpSpPr>
        <p:sp>
          <p:nvSpPr>
            <p:cNvPr id="30" name="Line 34">
              <a:extLst>
                <a:ext uri="{FF2B5EF4-FFF2-40B4-BE49-F238E27FC236}">
                  <a16:creationId xmlns:a16="http://schemas.microsoft.com/office/drawing/2014/main" id="{40EB5132-FC7A-4E83-ADBB-90AA24B68FFF}"/>
                </a:ext>
              </a:extLst>
            </p:cNvPr>
            <p:cNvSpPr>
              <a:spLocks noChangeShapeType="1"/>
            </p:cNvSpPr>
            <p:nvPr/>
          </p:nvSpPr>
          <p:spPr bwMode="auto">
            <a:xfrm>
              <a:off x="3954" y="2274"/>
              <a:ext cx="1578" cy="220"/>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1" name="Line 35">
              <a:extLst>
                <a:ext uri="{FF2B5EF4-FFF2-40B4-BE49-F238E27FC236}">
                  <a16:creationId xmlns:a16="http://schemas.microsoft.com/office/drawing/2014/main" id="{EC609754-2F80-4EBA-9289-154270AADCD8}"/>
                </a:ext>
              </a:extLst>
            </p:cNvPr>
            <p:cNvSpPr>
              <a:spLocks noChangeShapeType="1"/>
            </p:cNvSpPr>
            <p:nvPr/>
          </p:nvSpPr>
          <p:spPr bwMode="auto">
            <a:xfrm>
              <a:off x="3963" y="2340"/>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2" name="Line 36">
              <a:extLst>
                <a:ext uri="{FF2B5EF4-FFF2-40B4-BE49-F238E27FC236}">
                  <a16:creationId xmlns:a16="http://schemas.microsoft.com/office/drawing/2014/main" id="{78098DAB-5FD8-4217-BF60-D7DD032AD6CA}"/>
                </a:ext>
              </a:extLst>
            </p:cNvPr>
            <p:cNvSpPr>
              <a:spLocks noChangeShapeType="1"/>
            </p:cNvSpPr>
            <p:nvPr/>
          </p:nvSpPr>
          <p:spPr bwMode="auto">
            <a:xfrm>
              <a:off x="3957" y="2403"/>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33" name="Group 43">
            <a:extLst>
              <a:ext uri="{FF2B5EF4-FFF2-40B4-BE49-F238E27FC236}">
                <a16:creationId xmlns:a16="http://schemas.microsoft.com/office/drawing/2014/main" id="{371D8FF3-7B40-4C9C-B6D2-2FFC5DCD0E0A}"/>
              </a:ext>
            </a:extLst>
          </p:cNvPr>
          <p:cNvGrpSpPr>
            <a:grpSpLocks/>
          </p:cNvGrpSpPr>
          <p:nvPr/>
        </p:nvGrpSpPr>
        <p:grpSpPr bwMode="auto">
          <a:xfrm>
            <a:off x="5491632" y="1906072"/>
            <a:ext cx="654050" cy="601663"/>
            <a:chOff x="-44" y="1473"/>
            <a:chExt cx="981" cy="1105"/>
          </a:xfrm>
        </p:grpSpPr>
        <p:pic>
          <p:nvPicPr>
            <p:cNvPr id="34" name="Picture 44" descr="desktop_computer_stylized_medium">
              <a:extLst>
                <a:ext uri="{FF2B5EF4-FFF2-40B4-BE49-F238E27FC236}">
                  <a16:creationId xmlns:a16="http://schemas.microsoft.com/office/drawing/2014/main" id="{B710F658-BD66-49CD-AC46-324FC19228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45">
              <a:extLst>
                <a:ext uri="{FF2B5EF4-FFF2-40B4-BE49-F238E27FC236}">
                  <a16:creationId xmlns:a16="http://schemas.microsoft.com/office/drawing/2014/main" id="{EA97F114-E185-4925-B2A5-AB38D49F700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6" name="Group 46">
            <a:extLst>
              <a:ext uri="{FF2B5EF4-FFF2-40B4-BE49-F238E27FC236}">
                <a16:creationId xmlns:a16="http://schemas.microsoft.com/office/drawing/2014/main" id="{FC18728D-34DC-4B8A-8CF8-3431378BF670}"/>
              </a:ext>
            </a:extLst>
          </p:cNvPr>
          <p:cNvGrpSpPr>
            <a:grpSpLocks/>
          </p:cNvGrpSpPr>
          <p:nvPr/>
        </p:nvGrpSpPr>
        <p:grpSpPr bwMode="auto">
          <a:xfrm>
            <a:off x="8226894" y="1920360"/>
            <a:ext cx="382588" cy="547687"/>
            <a:chOff x="4140" y="429"/>
            <a:chExt cx="1425" cy="2396"/>
          </a:xfrm>
        </p:grpSpPr>
        <p:sp>
          <p:nvSpPr>
            <p:cNvPr id="37" name="Freeform 47">
              <a:extLst>
                <a:ext uri="{FF2B5EF4-FFF2-40B4-BE49-F238E27FC236}">
                  <a16:creationId xmlns:a16="http://schemas.microsoft.com/office/drawing/2014/main" id="{CDFBBDDF-528C-48B8-B3DE-D29FD71C02F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Rectangle 48">
              <a:extLst>
                <a:ext uri="{FF2B5EF4-FFF2-40B4-BE49-F238E27FC236}">
                  <a16:creationId xmlns:a16="http://schemas.microsoft.com/office/drawing/2014/main" id="{FBD79493-012B-4CF1-9A10-D1A0ABCC976B}"/>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 name="Freeform 49">
              <a:extLst>
                <a:ext uri="{FF2B5EF4-FFF2-40B4-BE49-F238E27FC236}">
                  <a16:creationId xmlns:a16="http://schemas.microsoft.com/office/drawing/2014/main" id="{BF2F579C-D5FA-4B76-B798-1B4D3085B20A}"/>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Freeform 50">
              <a:extLst>
                <a:ext uri="{FF2B5EF4-FFF2-40B4-BE49-F238E27FC236}">
                  <a16:creationId xmlns:a16="http://schemas.microsoft.com/office/drawing/2014/main" id="{A7F37A9A-2B4E-4E6B-8318-98D610B80CE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51">
              <a:extLst>
                <a:ext uri="{FF2B5EF4-FFF2-40B4-BE49-F238E27FC236}">
                  <a16:creationId xmlns:a16="http://schemas.microsoft.com/office/drawing/2014/main" id="{509F107E-A35D-41EC-BAF7-1096CB8DAC95}"/>
                </a:ext>
              </a:extLst>
            </p:cNvPr>
            <p:cNvSpPr>
              <a:spLocks noChangeArrowheads="1"/>
            </p:cNvSpPr>
            <p:nvPr/>
          </p:nvSpPr>
          <p:spPr bwMode="auto">
            <a:xfrm>
              <a:off x="4211" y="693"/>
              <a:ext cx="59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2" name="Group 52">
              <a:extLst>
                <a:ext uri="{FF2B5EF4-FFF2-40B4-BE49-F238E27FC236}">
                  <a16:creationId xmlns:a16="http://schemas.microsoft.com/office/drawing/2014/main" id="{E1829B95-C06B-49D0-A80B-72121D12E123}"/>
                </a:ext>
              </a:extLst>
            </p:cNvPr>
            <p:cNvGrpSpPr>
              <a:grpSpLocks/>
            </p:cNvGrpSpPr>
            <p:nvPr/>
          </p:nvGrpSpPr>
          <p:grpSpPr bwMode="auto">
            <a:xfrm>
              <a:off x="4749" y="668"/>
              <a:ext cx="581" cy="145"/>
              <a:chOff x="614" y="2568"/>
              <a:chExt cx="725" cy="139"/>
            </a:xfrm>
          </p:grpSpPr>
          <p:sp>
            <p:nvSpPr>
              <p:cNvPr id="67" name="AutoShape 53">
                <a:extLst>
                  <a:ext uri="{FF2B5EF4-FFF2-40B4-BE49-F238E27FC236}">
                    <a16:creationId xmlns:a16="http://schemas.microsoft.com/office/drawing/2014/main" id="{05FB7668-943D-441A-BA78-21F76D4EB77C}"/>
                  </a:ext>
                </a:extLst>
              </p:cNvPr>
              <p:cNvSpPr>
                <a:spLocks noChangeArrowheads="1"/>
              </p:cNvSpPr>
              <p:nvPr/>
            </p:nvSpPr>
            <p:spPr bwMode="auto">
              <a:xfrm>
                <a:off x="614" y="2565"/>
                <a:ext cx="723"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8" name="AutoShape 54">
                <a:extLst>
                  <a:ext uri="{FF2B5EF4-FFF2-40B4-BE49-F238E27FC236}">
                    <a16:creationId xmlns:a16="http://schemas.microsoft.com/office/drawing/2014/main" id="{DAB22C95-5A3F-4074-A9F1-4D6A66827C32}"/>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3" name="Rectangle 55">
              <a:extLst>
                <a:ext uri="{FF2B5EF4-FFF2-40B4-BE49-F238E27FC236}">
                  <a16:creationId xmlns:a16="http://schemas.microsoft.com/office/drawing/2014/main" id="{A9719D6F-4F0B-4317-A039-7A42E8050E2F}"/>
                </a:ext>
              </a:extLst>
            </p:cNvPr>
            <p:cNvSpPr>
              <a:spLocks noChangeArrowheads="1"/>
            </p:cNvSpPr>
            <p:nvPr/>
          </p:nvSpPr>
          <p:spPr bwMode="auto">
            <a:xfrm>
              <a:off x="4223" y="1019"/>
              <a:ext cx="597" cy="49"/>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4" name="Group 56">
              <a:extLst>
                <a:ext uri="{FF2B5EF4-FFF2-40B4-BE49-F238E27FC236}">
                  <a16:creationId xmlns:a16="http://schemas.microsoft.com/office/drawing/2014/main" id="{E58768A9-C1AF-41E9-938C-082E08640E58}"/>
                </a:ext>
              </a:extLst>
            </p:cNvPr>
            <p:cNvGrpSpPr>
              <a:grpSpLocks/>
            </p:cNvGrpSpPr>
            <p:nvPr/>
          </p:nvGrpSpPr>
          <p:grpSpPr bwMode="auto">
            <a:xfrm>
              <a:off x="4747" y="994"/>
              <a:ext cx="581" cy="134"/>
              <a:chOff x="614" y="2568"/>
              <a:chExt cx="725" cy="139"/>
            </a:xfrm>
          </p:grpSpPr>
          <p:sp>
            <p:nvSpPr>
              <p:cNvPr id="65" name="AutoShape 57">
                <a:extLst>
                  <a:ext uri="{FF2B5EF4-FFF2-40B4-BE49-F238E27FC236}">
                    <a16:creationId xmlns:a16="http://schemas.microsoft.com/office/drawing/2014/main" id="{A84019F5-5C32-41D2-A3D5-EE7D6918F23D}"/>
                  </a:ext>
                </a:extLst>
              </p:cNvPr>
              <p:cNvSpPr>
                <a:spLocks noChangeArrowheads="1"/>
              </p:cNvSpPr>
              <p:nvPr/>
            </p:nvSpPr>
            <p:spPr bwMode="auto">
              <a:xfrm>
                <a:off x="617" y="2565"/>
                <a:ext cx="723"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6" name="AutoShape 58">
                <a:extLst>
                  <a:ext uri="{FF2B5EF4-FFF2-40B4-BE49-F238E27FC236}">
                    <a16:creationId xmlns:a16="http://schemas.microsoft.com/office/drawing/2014/main" id="{61233BB0-872A-4DEC-83CC-8268E40E2456}"/>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5" name="Rectangle 59">
              <a:extLst>
                <a:ext uri="{FF2B5EF4-FFF2-40B4-BE49-F238E27FC236}">
                  <a16:creationId xmlns:a16="http://schemas.microsoft.com/office/drawing/2014/main" id="{688F8E5C-AAF7-4CFC-8349-C7E3DB67C91B}"/>
                </a:ext>
              </a:extLst>
            </p:cNvPr>
            <p:cNvSpPr>
              <a:spLocks noChangeArrowheads="1"/>
            </p:cNvSpPr>
            <p:nvPr/>
          </p:nvSpPr>
          <p:spPr bwMode="auto">
            <a:xfrm>
              <a:off x="4217" y="1360"/>
              <a:ext cx="597"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6" name="Rectangle 60">
              <a:extLst>
                <a:ext uri="{FF2B5EF4-FFF2-40B4-BE49-F238E27FC236}">
                  <a16:creationId xmlns:a16="http://schemas.microsoft.com/office/drawing/2014/main" id="{F29E4658-8C15-4B45-8F1C-66B572FD9DDB}"/>
                </a:ext>
              </a:extLst>
            </p:cNvPr>
            <p:cNvSpPr>
              <a:spLocks noChangeArrowheads="1"/>
            </p:cNvSpPr>
            <p:nvPr/>
          </p:nvSpPr>
          <p:spPr bwMode="auto">
            <a:xfrm>
              <a:off x="4229" y="1658"/>
              <a:ext cx="597" cy="42"/>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47" name="Group 61">
              <a:extLst>
                <a:ext uri="{FF2B5EF4-FFF2-40B4-BE49-F238E27FC236}">
                  <a16:creationId xmlns:a16="http://schemas.microsoft.com/office/drawing/2014/main" id="{804F0A29-0193-430C-8CD9-ED38BA59AA47}"/>
                </a:ext>
              </a:extLst>
            </p:cNvPr>
            <p:cNvGrpSpPr>
              <a:grpSpLocks/>
            </p:cNvGrpSpPr>
            <p:nvPr/>
          </p:nvGrpSpPr>
          <p:grpSpPr bwMode="auto">
            <a:xfrm>
              <a:off x="4735" y="1627"/>
              <a:ext cx="582" cy="151"/>
              <a:chOff x="614" y="2568"/>
              <a:chExt cx="725" cy="139"/>
            </a:xfrm>
          </p:grpSpPr>
          <p:sp>
            <p:nvSpPr>
              <p:cNvPr id="63" name="AutoShape 62">
                <a:extLst>
                  <a:ext uri="{FF2B5EF4-FFF2-40B4-BE49-F238E27FC236}">
                    <a16:creationId xmlns:a16="http://schemas.microsoft.com/office/drawing/2014/main" id="{DBF2F066-28FB-4BC9-94C1-B79319679982}"/>
                  </a:ext>
                </a:extLst>
              </p:cNvPr>
              <p:cNvSpPr>
                <a:spLocks noChangeArrowheads="1"/>
              </p:cNvSpPr>
              <p:nvPr/>
            </p:nvSpPr>
            <p:spPr bwMode="auto">
              <a:xfrm>
                <a:off x="617" y="2571"/>
                <a:ext cx="722"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4" name="AutoShape 63">
                <a:extLst>
                  <a:ext uri="{FF2B5EF4-FFF2-40B4-BE49-F238E27FC236}">
                    <a16:creationId xmlns:a16="http://schemas.microsoft.com/office/drawing/2014/main" id="{3CE90262-4BB6-4BED-9E26-7607D353B0FF}"/>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8" name="Freeform 64">
              <a:extLst>
                <a:ext uri="{FF2B5EF4-FFF2-40B4-BE49-F238E27FC236}">
                  <a16:creationId xmlns:a16="http://schemas.microsoft.com/office/drawing/2014/main" id="{BD247199-B08E-4500-B8F1-71C7AFBE38D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9" name="Group 65">
              <a:extLst>
                <a:ext uri="{FF2B5EF4-FFF2-40B4-BE49-F238E27FC236}">
                  <a16:creationId xmlns:a16="http://schemas.microsoft.com/office/drawing/2014/main" id="{C1F7E00D-E0AF-4744-8456-13FAA66E7702}"/>
                </a:ext>
              </a:extLst>
            </p:cNvPr>
            <p:cNvGrpSpPr>
              <a:grpSpLocks/>
            </p:cNvGrpSpPr>
            <p:nvPr/>
          </p:nvGrpSpPr>
          <p:grpSpPr bwMode="auto">
            <a:xfrm>
              <a:off x="4739" y="1327"/>
              <a:ext cx="582" cy="139"/>
              <a:chOff x="614" y="2568"/>
              <a:chExt cx="725" cy="139"/>
            </a:xfrm>
          </p:grpSpPr>
          <p:sp>
            <p:nvSpPr>
              <p:cNvPr id="61" name="AutoShape 66">
                <a:extLst>
                  <a:ext uri="{FF2B5EF4-FFF2-40B4-BE49-F238E27FC236}">
                    <a16:creationId xmlns:a16="http://schemas.microsoft.com/office/drawing/2014/main" id="{68F08DBC-531C-48C2-A4B4-9A7E2E45C435}"/>
                  </a:ext>
                </a:extLst>
              </p:cNvPr>
              <p:cNvSpPr>
                <a:spLocks noChangeArrowheads="1"/>
              </p:cNvSpPr>
              <p:nvPr/>
            </p:nvSpPr>
            <p:spPr bwMode="auto">
              <a:xfrm>
                <a:off x="612" y="2566"/>
                <a:ext cx="729"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2" name="AutoShape 67">
                <a:extLst>
                  <a:ext uri="{FF2B5EF4-FFF2-40B4-BE49-F238E27FC236}">
                    <a16:creationId xmlns:a16="http://schemas.microsoft.com/office/drawing/2014/main" id="{2995C705-D6CE-45E2-8530-55BA0806027F}"/>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50" name="Rectangle 68">
              <a:extLst>
                <a:ext uri="{FF2B5EF4-FFF2-40B4-BE49-F238E27FC236}">
                  <a16:creationId xmlns:a16="http://schemas.microsoft.com/office/drawing/2014/main" id="{026FFA0E-A77E-4009-9E09-189A25FF6B49}"/>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1" name="Freeform 69">
              <a:extLst>
                <a:ext uri="{FF2B5EF4-FFF2-40B4-BE49-F238E27FC236}">
                  <a16:creationId xmlns:a16="http://schemas.microsoft.com/office/drawing/2014/main" id="{1442DD51-E99D-45A4-BAAF-937931DD0C9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Freeform 70">
              <a:extLst>
                <a:ext uri="{FF2B5EF4-FFF2-40B4-BE49-F238E27FC236}">
                  <a16:creationId xmlns:a16="http://schemas.microsoft.com/office/drawing/2014/main" id="{618763D3-1A77-492E-B199-E162800756B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Oval 71">
              <a:extLst>
                <a:ext uri="{FF2B5EF4-FFF2-40B4-BE49-F238E27FC236}">
                  <a16:creationId xmlns:a16="http://schemas.microsoft.com/office/drawing/2014/main" id="{BBA1B2CA-DB6D-4B28-8687-962581EFDB8D}"/>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4" name="Freeform 72">
              <a:extLst>
                <a:ext uri="{FF2B5EF4-FFF2-40B4-BE49-F238E27FC236}">
                  <a16:creationId xmlns:a16="http://schemas.microsoft.com/office/drawing/2014/main" id="{AAB6D06E-14EE-4A58-9B20-6203A978ECF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AutoShape 73">
              <a:extLst>
                <a:ext uri="{FF2B5EF4-FFF2-40B4-BE49-F238E27FC236}">
                  <a16:creationId xmlns:a16="http://schemas.microsoft.com/office/drawing/2014/main" id="{9FFDE7E4-D77D-4279-AE93-A4A13DE78BCC}"/>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6" name="AutoShape 74">
              <a:extLst>
                <a:ext uri="{FF2B5EF4-FFF2-40B4-BE49-F238E27FC236}">
                  <a16:creationId xmlns:a16="http://schemas.microsoft.com/office/drawing/2014/main" id="{930C859C-7227-468B-9CB4-DCB378B72C6D}"/>
                </a:ext>
              </a:extLst>
            </p:cNvPr>
            <p:cNvSpPr>
              <a:spLocks noChangeArrowheads="1"/>
            </p:cNvSpPr>
            <p:nvPr/>
          </p:nvSpPr>
          <p:spPr bwMode="auto">
            <a:xfrm>
              <a:off x="4205" y="2714"/>
              <a:ext cx="1070" cy="7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7" name="Oval 75">
              <a:extLst>
                <a:ext uri="{FF2B5EF4-FFF2-40B4-BE49-F238E27FC236}">
                  <a16:creationId xmlns:a16="http://schemas.microsoft.com/office/drawing/2014/main" id="{BB47349A-B5C3-41EB-8D9F-0297297B6C9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8" name="Oval 76">
              <a:extLst>
                <a:ext uri="{FF2B5EF4-FFF2-40B4-BE49-F238E27FC236}">
                  <a16:creationId xmlns:a16="http://schemas.microsoft.com/office/drawing/2014/main" id="{9BE913AB-A606-4E50-AAFA-63988D8C623F}"/>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59" name="Oval 77">
              <a:extLst>
                <a:ext uri="{FF2B5EF4-FFF2-40B4-BE49-F238E27FC236}">
                  <a16:creationId xmlns:a16="http://schemas.microsoft.com/office/drawing/2014/main" id="{249A0D6A-42C3-4356-9ED6-3140BF521A0D}"/>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60" name="Rectangle 78">
              <a:extLst>
                <a:ext uri="{FF2B5EF4-FFF2-40B4-BE49-F238E27FC236}">
                  <a16:creationId xmlns:a16="http://schemas.microsoft.com/office/drawing/2014/main" id="{A0658DAE-DC19-429D-ADEF-E02E09C9EF79}"/>
                </a:ext>
              </a:extLst>
            </p:cNvPr>
            <p:cNvSpPr>
              <a:spLocks noChangeArrowheads="1"/>
            </p:cNvSpPr>
            <p:nvPr/>
          </p:nvSpPr>
          <p:spPr bwMode="auto">
            <a:xfrm>
              <a:off x="5062" y="1832"/>
              <a:ext cx="83" cy="764"/>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69" name="Text Box 25">
            <a:extLst>
              <a:ext uri="{FF2B5EF4-FFF2-40B4-BE49-F238E27FC236}">
                <a16:creationId xmlns:a16="http://schemas.microsoft.com/office/drawing/2014/main" id="{8ACBF3A3-D8BB-4F3A-A43A-6FEDF4DA6722}"/>
              </a:ext>
            </a:extLst>
          </p:cNvPr>
          <p:cNvSpPr txBox="1">
            <a:spLocks noChangeArrowheads="1"/>
          </p:cNvSpPr>
          <p:nvPr/>
        </p:nvSpPr>
        <p:spPr bwMode="auto">
          <a:xfrm rot="408567">
            <a:off x="7007406" y="4181799"/>
            <a:ext cx="1002197" cy="30777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tLang="zh-CN" sz="1400" dirty="0">
                <a:latin typeface="Arial" charset="0"/>
              </a:rPr>
              <a:t>3</a:t>
            </a:r>
            <a:r>
              <a:rPr lang="zh-CN" altLang="en-US" sz="1400" dirty="0">
                <a:latin typeface="Arial" charset="0"/>
              </a:rPr>
              <a:t>个报文段</a:t>
            </a:r>
            <a:endParaRPr lang="en-US" sz="1000" dirty="0">
              <a:latin typeface="Times New Roman" charset="0"/>
            </a:endParaRP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B3D73953-9B09-4DD4-AC8A-3EB47A5E8F65}"/>
                  </a:ext>
                </a:extLst>
              </p:cNvPr>
              <p:cNvSpPr/>
              <p:nvPr/>
            </p:nvSpPr>
            <p:spPr>
              <a:xfrm>
                <a:off x="922724" y="3963078"/>
                <a:ext cx="4475396" cy="1945020"/>
              </a:xfrm>
              <a:prstGeom prst="rect">
                <a:avLst/>
              </a:prstGeom>
            </p:spPr>
            <p:txBody>
              <a:bodyPr wrap="square">
                <a:spAutoFit/>
              </a:bodyPr>
              <a:lstStyle/>
              <a:p>
                <a:pPr eaLnBrk="0" hangingPunct="0">
                  <a:lnSpc>
                    <a:spcPts val="3200"/>
                  </a:lnSpc>
                  <a:spcBef>
                    <a:spcPct val="40000"/>
                  </a:spcBef>
                  <a:buClrTx/>
                  <a:buFontTx/>
                  <a:buNone/>
                </a:pPr>
                <a:r>
                  <a:rPr lang="zh-CN" altLang="en-US" sz="22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注意：</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有些</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实现采用字节计数法，当收到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时，拥塞窗口计算如下：</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a:p>
                <a:pPr eaLnBrk="0" hangingPunct="0">
                  <a:lnSpc>
                    <a:spcPts val="3200"/>
                  </a:lnSpc>
                  <a:spcBef>
                    <a:spcPct val="40000"/>
                  </a:spcBef>
                  <a:buClrTx/>
                  <a:buFontTx/>
                  <a:buNone/>
                </a:pPr>
                <a:r>
                  <a:rPr lang="en-US" altLang="zh-CN" sz="2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𝑐𝑤𝑛𝑑</m:t>
                    </m:r>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𝑐𝑤𝑛𝑑</m:t>
                    </m:r>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𝑀𝑆𝑆</m:t>
                    </m:r>
                    <m:r>
                      <a:rPr lang="en-US" altLang="zh-CN" sz="2200" b="0"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 ∗ </m:t>
                    </m:r>
                    <m:f>
                      <m:fPr>
                        <m:ctrlPr>
                          <a:rPr lang="en-US" altLang="zh-CN" sz="22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𝑀𝑆𝑆</m:t>
                        </m:r>
                      </m:num>
                      <m:den>
                        <m:r>
                          <a:rPr lang="en-US" altLang="zh-CN" sz="22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𝑐𝑤𝑛𝑑</m:t>
                        </m:r>
                      </m:den>
                    </m:f>
                  </m:oMath>
                </a14:m>
                <a:endParaRPr lang="en-US" altLang="zh-CN" sz="2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矩形 1">
                <a:extLst>
                  <a:ext uri="{FF2B5EF4-FFF2-40B4-BE49-F238E27FC236}">
                    <a16:creationId xmlns:a16="http://schemas.microsoft.com/office/drawing/2014/main" id="{B3D73953-9B09-4DD4-AC8A-3EB47A5E8F65}"/>
                  </a:ext>
                </a:extLst>
              </p:cNvPr>
              <p:cNvSpPr>
                <a:spLocks noRot="1" noChangeAspect="1" noMove="1" noResize="1" noEditPoints="1" noAdjustHandles="1" noChangeArrowheads="1" noChangeShapeType="1" noTextEdit="1"/>
              </p:cNvSpPr>
              <p:nvPr/>
            </p:nvSpPr>
            <p:spPr>
              <a:xfrm>
                <a:off x="922724" y="3963078"/>
                <a:ext cx="4475396" cy="1945020"/>
              </a:xfrm>
              <a:prstGeom prst="rect">
                <a:avLst/>
              </a:prstGeom>
              <a:blipFill>
                <a:blip r:embed="rId6"/>
                <a:stretch>
                  <a:fillRect l="-1769" t="-15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77846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25823" y="1082293"/>
            <a:ext cx="8279652" cy="4984875"/>
          </a:xfrm>
          <a:prstGeom prst="rect">
            <a:avLst/>
          </a:prstGeom>
          <a:noFill/>
          <a:ln w="9525">
            <a:noFill/>
            <a:miter lim="800000"/>
            <a:headEnd/>
            <a:tailEnd/>
          </a:ln>
        </p:spPr>
        <p:txBody>
          <a:bodyPr/>
          <a:lstStyle/>
          <a:p>
            <a:pPr marL="342900" indent="-342900">
              <a:lnSpc>
                <a:spcPct val="1300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丢失检测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通过超时检测丢失（基本流程）</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ct val="1300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阈值</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ssthresh</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p>
          <a:p>
            <a:pPr marL="1073150" lvl="2" indent="-265113">
              <a:lnSpc>
                <a:spcPct val="130000"/>
              </a:lnSpc>
              <a:spcBef>
                <a:spcPts val="600"/>
              </a:spcBef>
              <a:buClr>
                <a:schemeClr val="accent2"/>
              </a:buClr>
              <a:buSzPct val="75000"/>
              <a:buFont typeface="Wingdings" panose="05000000000000000000" pitchFamily="2" charset="2"/>
              <a:buChar char="ü"/>
            </a:pP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=1(MSS)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，进入慢启动阶段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通过三次重复</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检测丢失（</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Reno</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ct val="1300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阈值</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ssthresh</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p>
          <a:p>
            <a:pPr marL="1073150" lvl="2" indent="-265113">
              <a:lnSpc>
                <a:spcPct val="130000"/>
              </a:lnSpc>
              <a:spcBef>
                <a:spcPts val="600"/>
              </a:spcBef>
              <a:buClr>
                <a:schemeClr val="accent2"/>
              </a:buClr>
              <a:buSzPct val="75000"/>
              <a:buFont typeface="Wingdings" panose="05000000000000000000" pitchFamily="2" charset="2"/>
              <a:buChar char="ü"/>
            </a:pP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=ssthresh+3(MSS)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，进入拥塞避免阶段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ct val="1300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重复</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指明网络仍可交付一些</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段（拥塞不严重）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30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对于两种丢失检测情况，</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Tahoe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算法使</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cwnd</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=1(MSS)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，进入慢启动阶段</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342655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50224" y="740913"/>
            <a:ext cx="8279652" cy="532049"/>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Reno</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4">
            <a:extLst>
              <a:ext uri="{FF2B5EF4-FFF2-40B4-BE49-F238E27FC236}">
                <a16:creationId xmlns:a16="http://schemas.microsoft.com/office/drawing/2014/main" id="{5F7E7B05-578F-417C-ABD5-DED4A226A5A3}"/>
              </a:ext>
            </a:extLst>
          </p:cNvPr>
          <p:cNvSpPr txBox="1">
            <a:spLocks noChangeArrowheads="1"/>
          </p:cNvSpPr>
          <p:nvPr/>
        </p:nvSpPr>
        <p:spPr bwMode="auto">
          <a:xfrm>
            <a:off x="519671" y="1739943"/>
            <a:ext cx="3887787" cy="1815882"/>
          </a:xfrm>
          <a:prstGeom prst="rect">
            <a:avLst/>
          </a:prstGeom>
          <a:noFill/>
          <a:ln w="9525">
            <a:noFill/>
            <a:miter lim="800000"/>
            <a:headEnd/>
            <a:tailEnd/>
          </a:ln>
        </p:spPr>
        <p:txBody>
          <a:bodyPr>
            <a:spAutoFit/>
          </a:bodyPr>
          <a:lstStyle/>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initialize: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 = 1</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for (each segment </a:t>
            </a:r>
            <a:r>
              <a:rPr kumimoji="0" lang="en-US" altLang="zh-CN" sz="2200" dirty="0" err="1">
                <a:latin typeface="Times New Roman" panose="02020603050405020304" pitchFamily="18" charset="0"/>
                <a:ea typeface="宋体" pitchFamily="2" charset="-122"/>
                <a:cs typeface="Times New Roman" panose="02020603050405020304" pitchFamily="18" charset="0"/>
              </a:rPr>
              <a:t>ACKed</a:t>
            </a:r>
            <a:r>
              <a:rPr kumimoji="0" lang="en-US" altLang="zh-CN" sz="2200" dirty="0">
                <a:latin typeface="Times New Roman" panose="02020603050405020304" pitchFamily="18" charset="0"/>
                <a:ea typeface="宋体" pitchFamily="2" charset="-122"/>
                <a:cs typeface="Times New Roman" panose="02020603050405020304" pitchFamily="18" charset="0"/>
              </a:rPr>
              <a:t>)</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cwnd</a:t>
            </a:r>
            <a:r>
              <a:rPr kumimoji="0" lang="en-US" altLang="zh-CN" dirty="0">
                <a:latin typeface="Times New Roman" panose="02020603050405020304" pitchFamily="18" charset="0"/>
                <a:ea typeface="宋体" pitchFamily="2" charset="-122"/>
                <a:cs typeface="Times New Roman" panose="02020603050405020304" pitchFamily="18" charset="0"/>
              </a:rPr>
              <a:t>×</a:t>
            </a:r>
            <a:r>
              <a:rPr kumimoji="0" lang="en-US" altLang="zh-CN" sz="2200" dirty="0">
                <a:latin typeface="Times New Roman" panose="02020603050405020304" pitchFamily="18" charset="0"/>
                <a:ea typeface="宋体" pitchFamily="2" charset="-122"/>
                <a:cs typeface="Times New Roman" panose="02020603050405020304" pitchFamily="18" charset="0"/>
              </a:rPr>
              <a:t>2</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until (loss event or</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 &gt;= </a:t>
            </a:r>
            <a:r>
              <a:rPr lang="en-US" altLang="zh-CN" sz="2200" dirty="0" err="1">
                <a:latin typeface="Times New Roman" panose="02020603050405020304" pitchFamily="18" charset="0"/>
                <a:ea typeface="宋体" pitchFamily="2" charset="-122"/>
                <a:cs typeface="Times New Roman" panose="02020603050405020304" pitchFamily="18" charset="0"/>
              </a:rPr>
              <a:t>ssthresh</a:t>
            </a:r>
            <a:r>
              <a:rPr kumimoji="0" lang="en-US" altLang="zh-CN" sz="2200" dirty="0">
                <a:latin typeface="Times New Roman" panose="02020603050405020304" pitchFamily="18" charset="0"/>
                <a:ea typeface="宋体" pitchFamily="2" charset="-122"/>
                <a:cs typeface="Times New Roman" panose="02020603050405020304" pitchFamily="18" charset="0"/>
              </a:rPr>
              <a:t>)</a:t>
            </a:r>
          </a:p>
        </p:txBody>
      </p:sp>
      <p:sp>
        <p:nvSpPr>
          <p:cNvPr id="6" name="Rectangle 5">
            <a:extLst>
              <a:ext uri="{FF2B5EF4-FFF2-40B4-BE49-F238E27FC236}">
                <a16:creationId xmlns:a16="http://schemas.microsoft.com/office/drawing/2014/main" id="{0133757A-F71E-4D7D-ABB6-7EA115FB56ED}"/>
              </a:ext>
            </a:extLst>
          </p:cNvPr>
          <p:cNvSpPr>
            <a:spLocks noChangeArrowheads="1"/>
          </p:cNvSpPr>
          <p:nvPr/>
        </p:nvSpPr>
        <p:spPr bwMode="auto">
          <a:xfrm>
            <a:off x="460933" y="1518543"/>
            <a:ext cx="3924300" cy="2094650"/>
          </a:xfrm>
          <a:prstGeom prst="rect">
            <a:avLst/>
          </a:prstGeom>
          <a:noFill/>
          <a:ln w="19050">
            <a:solidFill>
              <a:srgbClr val="FF0000"/>
            </a:solidFill>
            <a:miter lim="800000"/>
            <a:headEnd/>
            <a:tailEnd/>
          </a:ln>
        </p:spPr>
        <p:txBody>
          <a:bodyPr wrap="none" anchor="ctr"/>
          <a:lstStyle/>
          <a:p>
            <a:endParaRPr lang="zh-CN" altLang="en-US"/>
          </a:p>
        </p:txBody>
      </p:sp>
      <p:grpSp>
        <p:nvGrpSpPr>
          <p:cNvPr id="7" name="Group 6">
            <a:extLst>
              <a:ext uri="{FF2B5EF4-FFF2-40B4-BE49-F238E27FC236}">
                <a16:creationId xmlns:a16="http://schemas.microsoft.com/office/drawing/2014/main" id="{F82AB0FA-E3C4-4819-9156-2B3D5F066A57}"/>
              </a:ext>
            </a:extLst>
          </p:cNvPr>
          <p:cNvGrpSpPr>
            <a:grpSpLocks/>
          </p:cNvGrpSpPr>
          <p:nvPr/>
        </p:nvGrpSpPr>
        <p:grpSpPr bwMode="auto">
          <a:xfrm>
            <a:off x="610966" y="1306427"/>
            <a:ext cx="1662678" cy="400050"/>
            <a:chOff x="546" y="2452"/>
            <a:chExt cx="1806" cy="252"/>
          </a:xfrm>
        </p:grpSpPr>
        <p:sp>
          <p:nvSpPr>
            <p:cNvPr id="8" name="Rectangle 7">
              <a:extLst>
                <a:ext uri="{FF2B5EF4-FFF2-40B4-BE49-F238E27FC236}">
                  <a16:creationId xmlns:a16="http://schemas.microsoft.com/office/drawing/2014/main" id="{BD0B4FA5-7E4E-45F7-94DD-CBEC3E6F6295}"/>
                </a:ext>
              </a:extLst>
            </p:cNvPr>
            <p:cNvSpPr>
              <a:spLocks noChangeArrowheads="1"/>
            </p:cNvSpPr>
            <p:nvPr/>
          </p:nvSpPr>
          <p:spPr bwMode="auto">
            <a:xfrm>
              <a:off x="546" y="2502"/>
              <a:ext cx="1806" cy="192"/>
            </a:xfrm>
            <a:prstGeom prst="rect">
              <a:avLst/>
            </a:prstGeom>
            <a:solidFill>
              <a:schemeClr val="bg1"/>
            </a:solidFill>
            <a:ln w="19050">
              <a:noFill/>
              <a:miter lim="800000"/>
              <a:headEnd/>
              <a:tailEnd/>
            </a:ln>
          </p:spPr>
          <p:txBody>
            <a:bodyPr wrap="none" anchor="ctr"/>
            <a:lstStyle/>
            <a:p>
              <a:endParaRPr lang="zh-CN" altLang="en-US"/>
            </a:p>
          </p:txBody>
        </p:sp>
        <p:sp>
          <p:nvSpPr>
            <p:cNvPr id="9" name="Text Box 8">
              <a:extLst>
                <a:ext uri="{FF2B5EF4-FFF2-40B4-BE49-F238E27FC236}">
                  <a16:creationId xmlns:a16="http://schemas.microsoft.com/office/drawing/2014/main" id="{DEEC1EFE-12E5-4A5F-85C7-295C201E281E}"/>
                </a:ext>
              </a:extLst>
            </p:cNvPr>
            <p:cNvSpPr txBox="1">
              <a:spLocks noChangeArrowheads="1"/>
            </p:cNvSpPr>
            <p:nvPr/>
          </p:nvSpPr>
          <p:spPr bwMode="auto">
            <a:xfrm>
              <a:off x="546" y="2452"/>
              <a:ext cx="1677" cy="252"/>
            </a:xfrm>
            <a:prstGeom prst="rect">
              <a:avLst/>
            </a:prstGeom>
            <a:noFill/>
            <a:ln w="9525">
              <a:noFill/>
              <a:miter lim="800000"/>
              <a:headEnd/>
              <a:tailEnd/>
            </a:ln>
          </p:spPr>
          <p:txBody>
            <a:bodyPr wrap="square">
              <a:spAutoFit/>
            </a:bodyPr>
            <a:lstStyle/>
            <a:p>
              <a:pPr algn="ctr" eaLnBrk="0" hangingPunct="0">
                <a:lnSpc>
                  <a:spcPct val="100000"/>
                </a:lnSpc>
                <a:spcBef>
                  <a:spcPct val="0"/>
                </a:spcBef>
                <a:buClrTx/>
                <a:buFontTx/>
                <a:buNone/>
              </a:pPr>
              <a:r>
                <a:rPr kumimoji="0" lang="zh-CN" altLang="en-US" sz="2000" dirty="0">
                  <a:solidFill>
                    <a:srgbClr val="FF0000"/>
                  </a:solidFill>
                  <a:ea typeface="宋体" pitchFamily="2" charset="-122"/>
                </a:rPr>
                <a:t>慢启动算法</a:t>
              </a:r>
              <a:endParaRPr kumimoji="0" lang="en-US" altLang="zh-CN" sz="2000" dirty="0">
                <a:latin typeface="Arial" charset="0"/>
                <a:ea typeface="宋体" pitchFamily="2" charset="-122"/>
              </a:endParaRPr>
            </a:p>
          </p:txBody>
        </p:sp>
      </p:grpSp>
      <p:sp>
        <p:nvSpPr>
          <p:cNvPr id="2" name="Text Box 3">
            <a:extLst>
              <a:ext uri="{FF2B5EF4-FFF2-40B4-BE49-F238E27FC236}">
                <a16:creationId xmlns:a16="http://schemas.microsoft.com/office/drawing/2014/main" id="{30FEF38A-FD85-4A72-8956-64641CA4E7EE}"/>
              </a:ext>
            </a:extLst>
          </p:cNvPr>
          <p:cNvSpPr txBox="1">
            <a:spLocks noChangeArrowheads="1"/>
          </p:cNvSpPr>
          <p:nvPr/>
        </p:nvSpPr>
        <p:spPr bwMode="auto">
          <a:xfrm>
            <a:off x="4726600" y="1623549"/>
            <a:ext cx="4067175" cy="4493538"/>
          </a:xfrm>
          <a:prstGeom prst="rect">
            <a:avLst/>
          </a:prstGeom>
          <a:noFill/>
          <a:ln w="9525">
            <a:noFill/>
            <a:miter lim="800000"/>
            <a:headEnd/>
            <a:tailEnd/>
          </a:ln>
        </p:spPr>
        <p:txBody>
          <a:bodyPr wrap="square">
            <a:spAutoFit/>
          </a:bodyPr>
          <a:lstStyle/>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Until (loss event) {</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every segments </a:t>
            </a:r>
            <a:r>
              <a:rPr kumimoji="0" lang="en-US" altLang="zh-CN" sz="2200" dirty="0" err="1">
                <a:latin typeface="Times New Roman" panose="02020603050405020304" pitchFamily="18" charset="0"/>
                <a:ea typeface="宋体" pitchFamily="2" charset="-122"/>
                <a:cs typeface="Times New Roman" panose="02020603050405020304" pitchFamily="18" charset="0"/>
              </a:rPr>
              <a:t>ACKed</a:t>
            </a:r>
            <a:r>
              <a:rPr kumimoji="0" lang="en-US" altLang="zh-CN" sz="2200" dirty="0">
                <a:latin typeface="Times New Roman" panose="02020603050405020304" pitchFamily="18" charset="0"/>
                <a:ea typeface="宋体" pitchFamily="2" charset="-122"/>
                <a:cs typeface="Times New Roman" panose="02020603050405020304" pitchFamily="18" charset="0"/>
              </a:rPr>
              <a:t>:</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 ++</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a:t>
            </a:r>
          </a:p>
          <a:p>
            <a:pPr eaLnBrk="0" hangingPunct="0">
              <a:lnSpc>
                <a:spcPct val="100000"/>
              </a:lnSpc>
              <a:spcBef>
                <a:spcPct val="0"/>
              </a:spcBef>
              <a:buClrTx/>
              <a:buFontTx/>
              <a:buNone/>
            </a:pPr>
            <a:r>
              <a:rPr lang="en-US" altLang="zh-CN" sz="2200" dirty="0" err="1">
                <a:latin typeface="Times New Roman" panose="02020603050405020304" pitchFamily="18" charset="0"/>
                <a:ea typeface="宋体" pitchFamily="2" charset="-122"/>
                <a:cs typeface="Times New Roman" panose="02020603050405020304" pitchFamily="18" charset="0"/>
              </a:rPr>
              <a:t>ssthresh</a:t>
            </a:r>
            <a:r>
              <a:rPr kumimoji="0" lang="en-US" altLang="zh-CN" sz="2200" dirty="0">
                <a:latin typeface="Times New Roman" panose="02020603050405020304" pitchFamily="18" charset="0"/>
                <a:ea typeface="宋体" pitchFamily="2" charset="-122"/>
                <a:cs typeface="Times New Roman" panose="02020603050405020304" pitchFamily="18" charset="0"/>
              </a:rPr>
              <a:t> =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/2</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If (loss detected by timeout) {</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 = 1</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perform </a:t>
            </a:r>
            <a:r>
              <a:rPr kumimoji="0" lang="en-US" altLang="zh-CN" sz="2200" dirty="0" err="1">
                <a:latin typeface="Times New Roman" panose="02020603050405020304" pitchFamily="18" charset="0"/>
                <a:ea typeface="宋体" pitchFamily="2" charset="-122"/>
                <a:cs typeface="Times New Roman" panose="02020603050405020304" pitchFamily="18" charset="0"/>
              </a:rPr>
              <a:t>SlowStart</a:t>
            </a:r>
            <a:endParaRPr kumimoji="0" lang="en-US" altLang="zh-CN" sz="2200" dirty="0">
              <a:latin typeface="Times New Roman" panose="02020603050405020304" pitchFamily="18" charset="0"/>
              <a:ea typeface="宋体" pitchFamily="2" charset="-122"/>
              <a:cs typeface="Times New Roman" panose="02020603050405020304" pitchFamily="18" charset="0"/>
            </a:endParaRP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If (loss detected by triple ACK) {</a:t>
            </a:r>
          </a:p>
          <a:p>
            <a:pPr eaLnBrk="0" hangingPunct="0">
              <a:lnSpc>
                <a:spcPct val="100000"/>
              </a:lnSpc>
              <a:spcBef>
                <a:spcPct val="0"/>
              </a:spcBef>
              <a:buClrTx/>
              <a:buFontTx/>
              <a:buNone/>
            </a:pPr>
            <a:r>
              <a:rPr kumimoji="0" lang="en-US" altLang="zh-CN" sz="2200" dirty="0">
                <a:latin typeface="Times New Roman" panose="02020603050405020304" pitchFamily="18" charset="0"/>
                <a:ea typeface="宋体" pitchFamily="2" charset="-122"/>
                <a:cs typeface="Times New Roman" panose="02020603050405020304" pitchFamily="18" charset="0"/>
              </a:rPr>
              <a:t>    </a:t>
            </a:r>
            <a:r>
              <a:rPr kumimoji="0" lang="en-US" altLang="zh-CN" sz="2200" dirty="0" err="1">
                <a:latin typeface="Times New Roman" panose="02020603050405020304" pitchFamily="18" charset="0"/>
                <a:ea typeface="宋体" pitchFamily="2" charset="-122"/>
                <a:cs typeface="Times New Roman" panose="02020603050405020304" pitchFamily="18" charset="0"/>
              </a:rPr>
              <a:t>cwnd</a:t>
            </a:r>
            <a:r>
              <a:rPr kumimoji="0" lang="en-US" altLang="zh-CN" sz="2200" dirty="0">
                <a:latin typeface="Times New Roman" panose="02020603050405020304" pitchFamily="18" charset="0"/>
                <a:ea typeface="宋体" pitchFamily="2" charset="-122"/>
                <a:cs typeface="Times New Roman" panose="02020603050405020304" pitchFamily="18" charset="0"/>
              </a:rPr>
              <a:t> = </a:t>
            </a:r>
            <a:r>
              <a:rPr lang="en-US" altLang="zh-CN" sz="2200" dirty="0" err="1">
                <a:latin typeface="Times New Roman" panose="02020603050405020304" pitchFamily="18" charset="0"/>
                <a:ea typeface="宋体" pitchFamily="2" charset="-122"/>
                <a:cs typeface="Times New Roman" panose="02020603050405020304" pitchFamily="18" charset="0"/>
              </a:rPr>
              <a:t>ssthresh</a:t>
            </a:r>
            <a:r>
              <a:rPr lang="en-US" altLang="zh-CN" sz="2200" dirty="0">
                <a:latin typeface="Times New Roman" panose="02020603050405020304" pitchFamily="18" charset="0"/>
                <a:ea typeface="宋体" pitchFamily="2" charset="-122"/>
                <a:cs typeface="Times New Roman" panose="02020603050405020304" pitchFamily="18" charset="0"/>
              </a:rPr>
              <a:t> </a:t>
            </a:r>
            <a:r>
              <a:rPr kumimoji="0" lang="en-US" altLang="zh-CN" sz="2200" dirty="0">
                <a:latin typeface="Times New Roman" panose="02020603050405020304" pitchFamily="18" charset="0"/>
                <a:ea typeface="宋体" pitchFamily="2" charset="-122"/>
                <a:cs typeface="Times New Roman" panose="02020603050405020304" pitchFamily="18" charset="0"/>
              </a:rPr>
              <a:t>+ 3</a:t>
            </a:r>
          </a:p>
          <a:p>
            <a:pPr eaLnBrk="0" hangingPunct="0">
              <a:spcBef>
                <a:spcPct val="0"/>
              </a:spcBef>
            </a:pPr>
            <a:r>
              <a:rPr lang="en-US" altLang="zh-CN" sz="2200" dirty="0">
                <a:latin typeface="Times New Roman" panose="02020603050405020304" pitchFamily="18" charset="0"/>
                <a:ea typeface="宋体" pitchFamily="2" charset="-122"/>
                <a:cs typeface="Times New Roman" panose="02020603050405020304" pitchFamily="18" charset="0"/>
              </a:rPr>
              <a:t>    perform </a:t>
            </a:r>
            <a:r>
              <a:rPr lang="en-US" altLang="zh-CN" sz="2200" dirty="0" err="1">
                <a:latin typeface="Times New Roman" panose="02020603050405020304" pitchFamily="18" charset="0"/>
                <a:ea typeface="宋体" pitchFamily="2" charset="-122"/>
                <a:cs typeface="Times New Roman" panose="02020603050405020304" pitchFamily="18" charset="0"/>
              </a:rPr>
              <a:t>CongestionAvoid</a:t>
            </a:r>
            <a:endParaRPr lang="en-US" altLang="zh-CN" sz="2200" dirty="0">
              <a:latin typeface="Times New Roman" panose="02020603050405020304" pitchFamily="18" charset="0"/>
              <a:ea typeface="宋体" pitchFamily="2" charset="-122"/>
              <a:cs typeface="Times New Roman" panose="02020603050405020304" pitchFamily="18" charset="0"/>
            </a:endParaRPr>
          </a:p>
          <a:p>
            <a:pPr eaLnBrk="0" hangingPunct="0">
              <a:spcBef>
                <a:spcPct val="0"/>
              </a:spcBef>
            </a:pPr>
            <a:r>
              <a:rPr lang="en-US" altLang="zh-CN" sz="2200" dirty="0">
                <a:latin typeface="Times New Roman" panose="02020603050405020304" pitchFamily="18" charset="0"/>
                <a:ea typeface="宋体" pitchFamily="2" charset="-122"/>
                <a:cs typeface="Times New Roman" panose="02020603050405020304" pitchFamily="18" charset="0"/>
              </a:rPr>
              <a:t>}</a:t>
            </a:r>
          </a:p>
        </p:txBody>
      </p:sp>
      <p:sp>
        <p:nvSpPr>
          <p:cNvPr id="3" name="Rectangle 4">
            <a:extLst>
              <a:ext uri="{FF2B5EF4-FFF2-40B4-BE49-F238E27FC236}">
                <a16:creationId xmlns:a16="http://schemas.microsoft.com/office/drawing/2014/main" id="{A9CA9354-DC39-4E6F-BA92-DF09931398A4}"/>
              </a:ext>
            </a:extLst>
          </p:cNvPr>
          <p:cNvSpPr>
            <a:spLocks noChangeArrowheads="1"/>
          </p:cNvSpPr>
          <p:nvPr/>
        </p:nvSpPr>
        <p:spPr bwMode="auto">
          <a:xfrm>
            <a:off x="4726600" y="1518543"/>
            <a:ext cx="4067175" cy="4598544"/>
          </a:xfrm>
          <a:prstGeom prst="rect">
            <a:avLst/>
          </a:prstGeom>
          <a:noFill/>
          <a:ln w="19050">
            <a:solidFill>
              <a:srgbClr val="FF0000"/>
            </a:solidFill>
            <a:miter lim="800000"/>
            <a:headEnd/>
            <a:tailEnd/>
          </a:ln>
        </p:spPr>
        <p:txBody>
          <a:bodyPr wrap="none" anchor="ctr"/>
          <a:lstStyle/>
          <a:p>
            <a:endParaRPr lang="zh-CN" altLang="en-US"/>
          </a:p>
        </p:txBody>
      </p:sp>
      <p:sp>
        <p:nvSpPr>
          <p:cNvPr id="12" name="Rectangle 5">
            <a:extLst>
              <a:ext uri="{FF2B5EF4-FFF2-40B4-BE49-F238E27FC236}">
                <a16:creationId xmlns:a16="http://schemas.microsoft.com/office/drawing/2014/main" id="{AA57A6E3-4E1F-4B47-81E1-3FA682C89110}"/>
              </a:ext>
            </a:extLst>
          </p:cNvPr>
          <p:cNvSpPr>
            <a:spLocks noChangeArrowheads="1"/>
          </p:cNvSpPr>
          <p:nvPr/>
        </p:nvSpPr>
        <p:spPr bwMode="auto">
          <a:xfrm>
            <a:off x="4840902" y="1366143"/>
            <a:ext cx="1210852" cy="304800"/>
          </a:xfrm>
          <a:prstGeom prst="rect">
            <a:avLst/>
          </a:prstGeom>
          <a:solidFill>
            <a:schemeClr val="bg1"/>
          </a:solidFill>
          <a:ln w="19050">
            <a:noFill/>
            <a:miter lim="800000"/>
            <a:headEnd/>
            <a:tailEnd/>
          </a:ln>
        </p:spPr>
        <p:txBody>
          <a:bodyPr wrap="none" anchor="ctr"/>
          <a:lstStyle/>
          <a:p>
            <a:endParaRPr lang="zh-CN" altLang="en-US"/>
          </a:p>
        </p:txBody>
      </p:sp>
      <p:sp>
        <p:nvSpPr>
          <p:cNvPr id="14" name="Text Box 6">
            <a:extLst>
              <a:ext uri="{FF2B5EF4-FFF2-40B4-BE49-F238E27FC236}">
                <a16:creationId xmlns:a16="http://schemas.microsoft.com/office/drawing/2014/main" id="{E383AAE5-A4F1-4F1C-ABA9-8D110B4CDA0B}"/>
              </a:ext>
            </a:extLst>
          </p:cNvPr>
          <p:cNvSpPr txBox="1">
            <a:spLocks noChangeArrowheads="1"/>
          </p:cNvSpPr>
          <p:nvPr/>
        </p:nvSpPr>
        <p:spPr bwMode="auto">
          <a:xfrm>
            <a:off x="4840901" y="1292264"/>
            <a:ext cx="1750741" cy="400110"/>
          </a:xfrm>
          <a:prstGeom prst="rect">
            <a:avLst/>
          </a:prstGeom>
          <a:solidFill>
            <a:schemeClr val="bg1"/>
          </a:solidFill>
          <a:ln w="9525">
            <a:noFill/>
            <a:miter lim="800000"/>
            <a:headEnd/>
            <a:tailEnd/>
          </a:ln>
        </p:spPr>
        <p:txBody>
          <a:bodyPr wrap="square">
            <a:spAutoFit/>
          </a:bodyPr>
          <a:lstStyle/>
          <a:p>
            <a:pPr algn="ctr" eaLnBrk="0" hangingPunct="0">
              <a:lnSpc>
                <a:spcPct val="100000"/>
              </a:lnSpc>
              <a:spcBef>
                <a:spcPct val="0"/>
              </a:spcBef>
              <a:buClrTx/>
              <a:buFontTx/>
              <a:buNone/>
            </a:pPr>
            <a:r>
              <a:rPr lang="zh-CN" altLang="en-US" sz="2000" dirty="0">
                <a:solidFill>
                  <a:srgbClr val="FF0000"/>
                </a:solidFill>
                <a:ea typeface="宋体" pitchFamily="2" charset="-122"/>
              </a:rPr>
              <a:t>拥塞避免算法</a:t>
            </a:r>
            <a:endParaRPr lang="en-US" altLang="zh-CN" sz="2000" dirty="0">
              <a:solidFill>
                <a:srgbClr val="FF0000"/>
              </a:solidFill>
              <a:ea typeface="宋体" pitchFamily="2" charset="-122"/>
            </a:endParaRPr>
          </a:p>
        </p:txBody>
      </p:sp>
      <p:pic>
        <p:nvPicPr>
          <p:cNvPr id="11" name="图片 10">
            <a:extLst>
              <a:ext uri="{FF2B5EF4-FFF2-40B4-BE49-F238E27FC236}">
                <a16:creationId xmlns:a16="http://schemas.microsoft.com/office/drawing/2014/main" id="{BA02C0AA-C979-4EF6-A39D-AAB6147D7056}"/>
              </a:ext>
            </a:extLst>
          </p:cNvPr>
          <p:cNvPicPr>
            <a:picLocks noChangeAspect="1"/>
          </p:cNvPicPr>
          <p:nvPr/>
        </p:nvPicPr>
        <p:blipFill>
          <a:blip r:embed="rId4"/>
          <a:stretch>
            <a:fillRect/>
          </a:stretch>
        </p:blipFill>
        <p:spPr>
          <a:xfrm>
            <a:off x="166501" y="3662534"/>
            <a:ext cx="4513163" cy="2861834"/>
          </a:xfrm>
          <a:prstGeom prst="rect">
            <a:avLst/>
          </a:prstGeom>
        </p:spPr>
      </p:pic>
    </p:spTree>
    <p:extLst>
      <p:ext uri="{BB962C8B-B14F-4D97-AF65-F5344CB8AC3E}">
        <p14:creationId xmlns:p14="http://schemas.microsoft.com/office/powerpoint/2010/main" val="18869567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67086" y="683634"/>
            <a:ext cx="8279652" cy="528071"/>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Reno</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算法状态机</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14" name="Group 240">
            <a:extLst>
              <a:ext uri="{FF2B5EF4-FFF2-40B4-BE49-F238E27FC236}">
                <a16:creationId xmlns:a16="http://schemas.microsoft.com/office/drawing/2014/main" id="{BDD6CE16-514F-4594-AB7A-C7C1D30E1CF3}"/>
              </a:ext>
            </a:extLst>
          </p:cNvPr>
          <p:cNvGrpSpPr>
            <a:grpSpLocks/>
          </p:cNvGrpSpPr>
          <p:nvPr/>
        </p:nvGrpSpPr>
        <p:grpSpPr bwMode="auto">
          <a:xfrm>
            <a:off x="3436384" y="3003993"/>
            <a:ext cx="2133600" cy="814388"/>
            <a:chOff x="2168" y="1727"/>
            <a:chExt cx="1344" cy="513"/>
          </a:xfrm>
        </p:grpSpPr>
        <p:grpSp>
          <p:nvGrpSpPr>
            <p:cNvPr id="115" name="Group 171">
              <a:extLst>
                <a:ext uri="{FF2B5EF4-FFF2-40B4-BE49-F238E27FC236}">
                  <a16:creationId xmlns:a16="http://schemas.microsoft.com/office/drawing/2014/main" id="{C79D9833-F67B-422C-9F25-442369EFA951}"/>
                </a:ext>
              </a:extLst>
            </p:cNvPr>
            <p:cNvGrpSpPr>
              <a:grpSpLocks/>
            </p:cNvGrpSpPr>
            <p:nvPr/>
          </p:nvGrpSpPr>
          <p:grpSpPr bwMode="auto">
            <a:xfrm>
              <a:off x="2280" y="1727"/>
              <a:ext cx="1118" cy="513"/>
              <a:chOff x="2280" y="1727"/>
              <a:chExt cx="1118" cy="513"/>
            </a:xfrm>
          </p:grpSpPr>
          <p:sp>
            <p:nvSpPr>
              <p:cNvPr id="117" name="Text Box 172">
                <a:extLst>
                  <a:ext uri="{FF2B5EF4-FFF2-40B4-BE49-F238E27FC236}">
                    <a16:creationId xmlns:a16="http://schemas.microsoft.com/office/drawing/2014/main" id="{D210836D-A552-428D-9808-B0A0879B0688}"/>
                  </a:ext>
                </a:extLst>
              </p:cNvPr>
              <p:cNvSpPr txBox="1">
                <a:spLocks noChangeArrowheads="1"/>
              </p:cNvSpPr>
              <p:nvPr/>
            </p:nvSpPr>
            <p:spPr bwMode="auto">
              <a:xfrm>
                <a:off x="2640" y="1727"/>
                <a:ext cx="377"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timeout</a:t>
                </a:r>
              </a:p>
            </p:txBody>
          </p:sp>
          <p:sp>
            <p:nvSpPr>
              <p:cNvPr id="118" name="Text Box 173">
                <a:extLst>
                  <a:ext uri="{FF2B5EF4-FFF2-40B4-BE49-F238E27FC236}">
                    <a16:creationId xmlns:a16="http://schemas.microsoft.com/office/drawing/2014/main" id="{B22C3043-FC29-45A7-A6A2-E23327396873}"/>
                  </a:ext>
                </a:extLst>
              </p:cNvPr>
              <p:cNvSpPr txBox="1">
                <a:spLocks noChangeArrowheads="1"/>
              </p:cNvSpPr>
              <p:nvPr/>
            </p:nvSpPr>
            <p:spPr bwMode="auto">
              <a:xfrm>
                <a:off x="2280" y="1838"/>
                <a:ext cx="1118" cy="4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5000"/>
                  </a:lnSpc>
                  <a:defRPr/>
                </a:pPr>
                <a:r>
                  <a:rPr lang="en-US" sz="1000">
                    <a:latin typeface="Arial" charset="0"/>
                  </a:rPr>
                  <a:t>ssthresh = cwnd/2</a:t>
                </a:r>
              </a:p>
              <a:p>
                <a:pPr eaLnBrk="1" hangingPunct="1">
                  <a:lnSpc>
                    <a:spcPct val="85000"/>
                  </a:lnSpc>
                  <a:defRPr/>
                </a:pPr>
                <a:r>
                  <a:rPr lang="en-US" sz="1000">
                    <a:latin typeface="Arial" charset="0"/>
                  </a:rPr>
                  <a:t>cwnd = 1 MSS</a:t>
                </a:r>
              </a:p>
              <a:p>
                <a:pPr eaLnBrk="1" hangingPunct="1">
                  <a:lnSpc>
                    <a:spcPct val="85000"/>
                  </a:lnSpc>
                  <a:defRPr/>
                </a:pPr>
                <a:r>
                  <a:rPr lang="en-US" sz="1000">
                    <a:latin typeface="Arial" charset="0"/>
                  </a:rPr>
                  <a:t>dupACKcount = 0</a:t>
                </a:r>
              </a:p>
              <a:p>
                <a:pPr eaLnBrk="1" hangingPunct="1">
                  <a:lnSpc>
                    <a:spcPct val="85000"/>
                  </a:lnSpc>
                  <a:defRPr/>
                </a:pPr>
                <a:r>
                  <a:rPr lang="en-US" sz="1000" i="1">
                    <a:solidFill>
                      <a:srgbClr val="000099"/>
                    </a:solidFill>
                    <a:latin typeface="Arial" charset="0"/>
                  </a:rPr>
                  <a:t>retransmit missing segment</a:t>
                </a:r>
                <a:r>
                  <a:rPr lang="en-US" sz="1200">
                    <a:latin typeface="Arial" charset="0"/>
                  </a:rPr>
                  <a:t> </a:t>
                </a:r>
              </a:p>
            </p:txBody>
          </p:sp>
          <p:sp>
            <p:nvSpPr>
              <p:cNvPr id="119" name="Line 174">
                <a:extLst>
                  <a:ext uri="{FF2B5EF4-FFF2-40B4-BE49-F238E27FC236}">
                    <a16:creationId xmlns:a16="http://schemas.microsoft.com/office/drawing/2014/main" id="{0F166DF9-3A17-4324-BFB5-E5B5E2BA8D34}"/>
                  </a:ext>
                </a:extLst>
              </p:cNvPr>
              <p:cNvSpPr>
                <a:spLocks noChangeShapeType="1"/>
              </p:cNvSpPr>
              <p:nvPr/>
            </p:nvSpPr>
            <p:spPr bwMode="auto">
              <a:xfrm>
                <a:off x="2491" y="1857"/>
                <a:ext cx="69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sp>
          <p:nvSpPr>
            <p:cNvPr id="116" name="Line 175">
              <a:extLst>
                <a:ext uri="{FF2B5EF4-FFF2-40B4-BE49-F238E27FC236}">
                  <a16:creationId xmlns:a16="http://schemas.microsoft.com/office/drawing/2014/main" id="{FFF3B4D3-1CB6-47A5-BCBA-87BF6E8258FD}"/>
                </a:ext>
              </a:extLst>
            </p:cNvPr>
            <p:cNvSpPr>
              <a:spLocks noChangeShapeType="1"/>
            </p:cNvSpPr>
            <p:nvPr/>
          </p:nvSpPr>
          <p:spPr bwMode="auto">
            <a:xfrm flipH="1">
              <a:off x="2168" y="1734"/>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120" name="Group 239">
            <a:extLst>
              <a:ext uri="{FF2B5EF4-FFF2-40B4-BE49-F238E27FC236}">
                <a16:creationId xmlns:a16="http://schemas.microsoft.com/office/drawing/2014/main" id="{6F84E914-4BB5-4A41-B2AA-32D0D9036E84}"/>
              </a:ext>
            </a:extLst>
          </p:cNvPr>
          <p:cNvGrpSpPr>
            <a:grpSpLocks/>
          </p:cNvGrpSpPr>
          <p:nvPr/>
        </p:nvGrpSpPr>
        <p:grpSpPr bwMode="auto">
          <a:xfrm>
            <a:off x="3466547" y="2527743"/>
            <a:ext cx="2133600" cy="398463"/>
            <a:chOff x="2187" y="1427"/>
            <a:chExt cx="1344" cy="251"/>
          </a:xfrm>
        </p:grpSpPr>
        <p:sp>
          <p:nvSpPr>
            <p:cNvPr id="121" name="Line 176">
              <a:extLst>
                <a:ext uri="{FF2B5EF4-FFF2-40B4-BE49-F238E27FC236}">
                  <a16:creationId xmlns:a16="http://schemas.microsoft.com/office/drawing/2014/main" id="{63E80F3D-1A7A-4D48-A8C1-5007E4D7B08F}"/>
                </a:ext>
              </a:extLst>
            </p:cNvPr>
            <p:cNvSpPr>
              <a:spLocks noChangeShapeType="1"/>
            </p:cNvSpPr>
            <p:nvPr/>
          </p:nvSpPr>
          <p:spPr bwMode="auto">
            <a:xfrm flipH="1">
              <a:off x="2187" y="1673"/>
              <a:ext cx="1344"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22" name="Text Box 181">
              <a:extLst>
                <a:ext uri="{FF2B5EF4-FFF2-40B4-BE49-F238E27FC236}">
                  <a16:creationId xmlns:a16="http://schemas.microsoft.com/office/drawing/2014/main" id="{B99E3160-DBDE-49EE-9FD0-C53527C99030}"/>
                </a:ext>
              </a:extLst>
            </p:cNvPr>
            <p:cNvSpPr txBox="1">
              <a:spLocks noChangeArrowheads="1"/>
            </p:cNvSpPr>
            <p:nvPr/>
          </p:nvSpPr>
          <p:spPr bwMode="auto">
            <a:xfrm>
              <a:off x="2740" y="1543"/>
              <a:ext cx="171" cy="1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0000"/>
                </a:lnSpc>
                <a:defRPr/>
              </a:pPr>
              <a:r>
                <a:rPr lang="en-US" sz="1000">
                  <a:latin typeface="Symbol" charset="0"/>
                </a:rPr>
                <a:t>L</a:t>
              </a:r>
              <a:endParaRPr lang="en-US" sz="1200">
                <a:latin typeface="Symbol" charset="0"/>
              </a:endParaRPr>
            </a:p>
          </p:txBody>
        </p:sp>
        <p:sp>
          <p:nvSpPr>
            <p:cNvPr id="123" name="Line 182">
              <a:extLst>
                <a:ext uri="{FF2B5EF4-FFF2-40B4-BE49-F238E27FC236}">
                  <a16:creationId xmlns:a16="http://schemas.microsoft.com/office/drawing/2014/main" id="{F1E681DF-A1D6-4E8F-98FB-92DBBE7EEB30}"/>
                </a:ext>
              </a:extLst>
            </p:cNvPr>
            <p:cNvSpPr>
              <a:spLocks noChangeShapeType="1"/>
            </p:cNvSpPr>
            <p:nvPr/>
          </p:nvSpPr>
          <p:spPr bwMode="auto">
            <a:xfrm>
              <a:off x="2572" y="1554"/>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nvGrpSpPr>
            <p:cNvPr id="124" name="Group 183">
              <a:extLst>
                <a:ext uri="{FF2B5EF4-FFF2-40B4-BE49-F238E27FC236}">
                  <a16:creationId xmlns:a16="http://schemas.microsoft.com/office/drawing/2014/main" id="{D8116E55-8CF6-4DA0-BE3B-E0687A1DD8B1}"/>
                </a:ext>
              </a:extLst>
            </p:cNvPr>
            <p:cNvGrpSpPr>
              <a:grpSpLocks/>
            </p:cNvGrpSpPr>
            <p:nvPr/>
          </p:nvGrpSpPr>
          <p:grpSpPr bwMode="auto">
            <a:xfrm>
              <a:off x="2486" y="1427"/>
              <a:ext cx="694" cy="154"/>
              <a:chOff x="2458" y="1450"/>
              <a:chExt cx="694" cy="154"/>
            </a:xfrm>
          </p:grpSpPr>
          <p:sp>
            <p:nvSpPr>
              <p:cNvPr id="125" name="Text Box 184">
                <a:extLst>
                  <a:ext uri="{FF2B5EF4-FFF2-40B4-BE49-F238E27FC236}">
                    <a16:creationId xmlns:a16="http://schemas.microsoft.com/office/drawing/2014/main" id="{4A5111AD-C08F-4EA8-841E-B1543C89A809}"/>
                  </a:ext>
                </a:extLst>
              </p:cNvPr>
              <p:cNvSpPr txBox="1">
                <a:spLocks noChangeArrowheads="1"/>
              </p:cNvSpPr>
              <p:nvPr/>
            </p:nvSpPr>
            <p:spPr bwMode="auto">
              <a:xfrm>
                <a:off x="2458" y="1450"/>
                <a:ext cx="69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cwnd &gt; ssthresh</a:t>
                </a:r>
              </a:p>
            </p:txBody>
          </p:sp>
          <p:sp>
            <p:nvSpPr>
              <p:cNvPr id="126" name="Line 185">
                <a:extLst>
                  <a:ext uri="{FF2B5EF4-FFF2-40B4-BE49-F238E27FC236}">
                    <a16:creationId xmlns:a16="http://schemas.microsoft.com/office/drawing/2014/main" id="{0CA507FE-086D-4155-88FF-6B32AE6862AC}"/>
                  </a:ext>
                </a:extLst>
              </p:cNvPr>
              <p:cNvSpPr>
                <a:spLocks noChangeShapeType="1"/>
              </p:cNvSpPr>
              <p:nvPr/>
            </p:nvSpPr>
            <p:spPr bwMode="auto">
              <a:xfrm>
                <a:off x="2724" y="1557"/>
                <a:ext cx="4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grpSp>
        <p:nvGrpSpPr>
          <p:cNvPr id="127" name="Group 242">
            <a:extLst>
              <a:ext uri="{FF2B5EF4-FFF2-40B4-BE49-F238E27FC236}">
                <a16:creationId xmlns:a16="http://schemas.microsoft.com/office/drawing/2014/main" id="{97CB9A51-6892-4921-8BA2-BBD737AFE46D}"/>
              </a:ext>
            </a:extLst>
          </p:cNvPr>
          <p:cNvGrpSpPr>
            <a:grpSpLocks/>
          </p:cNvGrpSpPr>
          <p:nvPr/>
        </p:nvGrpSpPr>
        <p:grpSpPr bwMode="auto">
          <a:xfrm>
            <a:off x="5581097" y="1465706"/>
            <a:ext cx="2682875" cy="2365375"/>
            <a:chOff x="3519" y="786"/>
            <a:chExt cx="1690" cy="1490"/>
          </a:xfrm>
        </p:grpSpPr>
        <p:grpSp>
          <p:nvGrpSpPr>
            <p:cNvPr id="128" name="Group 164">
              <a:extLst>
                <a:ext uri="{FF2B5EF4-FFF2-40B4-BE49-F238E27FC236}">
                  <a16:creationId xmlns:a16="http://schemas.microsoft.com/office/drawing/2014/main" id="{ED0BC27B-ECF4-47E6-ADE0-472DE905964A}"/>
                </a:ext>
              </a:extLst>
            </p:cNvPr>
            <p:cNvGrpSpPr>
              <a:grpSpLocks/>
            </p:cNvGrpSpPr>
            <p:nvPr/>
          </p:nvGrpSpPr>
          <p:grpSpPr bwMode="auto">
            <a:xfrm>
              <a:off x="3602" y="1330"/>
              <a:ext cx="800" cy="754"/>
              <a:chOff x="2293" y="2021"/>
              <a:chExt cx="800" cy="754"/>
            </a:xfrm>
          </p:grpSpPr>
          <p:sp>
            <p:nvSpPr>
              <p:cNvPr id="140" name="Oval 165">
                <a:extLst>
                  <a:ext uri="{FF2B5EF4-FFF2-40B4-BE49-F238E27FC236}">
                    <a16:creationId xmlns:a16="http://schemas.microsoft.com/office/drawing/2014/main" id="{C8A33A32-37BB-4014-9A71-81AC06665938}"/>
                  </a:ext>
                </a:extLst>
              </p:cNvPr>
              <p:cNvSpPr>
                <a:spLocks noChangeArrowheads="1"/>
              </p:cNvSpPr>
              <p:nvPr/>
            </p:nvSpPr>
            <p:spPr bwMode="auto">
              <a:xfrm>
                <a:off x="2293" y="2021"/>
                <a:ext cx="800" cy="754"/>
              </a:xfrm>
              <a:prstGeom prst="ellipse">
                <a:avLst/>
              </a:prstGeom>
              <a:solidFill>
                <a:schemeClr val="accent6">
                  <a:lumMod val="40000"/>
                  <a:lumOff val="6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41" name="Text Box 166">
                <a:extLst>
                  <a:ext uri="{FF2B5EF4-FFF2-40B4-BE49-F238E27FC236}">
                    <a16:creationId xmlns:a16="http://schemas.microsoft.com/office/drawing/2014/main" id="{D38F75A2-4C58-41F9-B638-511B211B341A}"/>
                  </a:ext>
                </a:extLst>
              </p:cNvPr>
              <p:cNvSpPr txBox="1">
                <a:spLocks noChangeArrowheads="1"/>
              </p:cNvSpPr>
              <p:nvPr/>
            </p:nvSpPr>
            <p:spPr bwMode="auto">
              <a:xfrm>
                <a:off x="2347" y="2261"/>
                <a:ext cx="69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defRPr/>
                </a:pPr>
                <a:r>
                  <a:rPr lang="zh-CN" altLang="en-US" sz="1800" b="1" dirty="0">
                    <a:latin typeface="宋体" panose="02010600030101010101" pitchFamily="2" charset="-122"/>
                    <a:ea typeface="宋体" panose="02010600030101010101" pitchFamily="2" charset="-122"/>
                  </a:rPr>
                  <a:t>拥塞避免</a:t>
                </a:r>
                <a:endParaRPr lang="en-US" sz="1800" b="1" dirty="0">
                  <a:latin typeface="宋体" panose="02010600030101010101" pitchFamily="2" charset="-122"/>
                  <a:ea typeface="宋体" panose="02010600030101010101" pitchFamily="2" charset="-122"/>
                </a:endParaRPr>
              </a:p>
            </p:txBody>
          </p:sp>
        </p:grpSp>
        <p:grpSp>
          <p:nvGrpSpPr>
            <p:cNvPr id="129" name="Group 190">
              <a:extLst>
                <a:ext uri="{FF2B5EF4-FFF2-40B4-BE49-F238E27FC236}">
                  <a16:creationId xmlns:a16="http://schemas.microsoft.com/office/drawing/2014/main" id="{81B5027F-FA96-499D-8294-9EB9FC9F78C9}"/>
                </a:ext>
              </a:extLst>
            </p:cNvPr>
            <p:cNvGrpSpPr>
              <a:grpSpLocks/>
            </p:cNvGrpSpPr>
            <p:nvPr/>
          </p:nvGrpSpPr>
          <p:grpSpPr bwMode="auto">
            <a:xfrm>
              <a:off x="3519" y="786"/>
              <a:ext cx="1409" cy="541"/>
              <a:chOff x="3542" y="904"/>
              <a:chExt cx="1409" cy="541"/>
            </a:xfrm>
          </p:grpSpPr>
          <p:sp>
            <p:nvSpPr>
              <p:cNvPr id="136" name="Text Box 191">
                <a:extLst>
                  <a:ext uri="{FF2B5EF4-FFF2-40B4-BE49-F238E27FC236}">
                    <a16:creationId xmlns:a16="http://schemas.microsoft.com/office/drawing/2014/main" id="{F48E4CC2-DA68-4DF2-AA1A-5548B39C3AA3}"/>
                  </a:ext>
                </a:extLst>
              </p:cNvPr>
              <p:cNvSpPr txBox="1">
                <a:spLocks noChangeArrowheads="1"/>
              </p:cNvSpPr>
              <p:nvPr/>
            </p:nvSpPr>
            <p:spPr bwMode="auto">
              <a:xfrm>
                <a:off x="3542" y="1037"/>
                <a:ext cx="1409" cy="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90000"/>
                  </a:lnSpc>
                  <a:defRPr/>
                </a:pPr>
                <a:r>
                  <a:rPr lang="en-US" sz="1000">
                    <a:latin typeface="Arial" charset="0"/>
                  </a:rPr>
                  <a:t>cwnd = cwnd + MSS    (MSS/cwnd)</a:t>
                </a:r>
              </a:p>
              <a:p>
                <a:pPr eaLnBrk="1" hangingPunct="1">
                  <a:lnSpc>
                    <a:spcPct val="90000"/>
                  </a:lnSpc>
                  <a:defRPr/>
                </a:pPr>
                <a:r>
                  <a:rPr lang="en-US" sz="1000">
                    <a:latin typeface="Arial" charset="0"/>
                  </a:rPr>
                  <a:t>dupACKcount = 0</a:t>
                </a:r>
              </a:p>
              <a:p>
                <a:pPr eaLnBrk="1" hangingPunct="1">
                  <a:lnSpc>
                    <a:spcPct val="90000"/>
                  </a:lnSpc>
                  <a:defRPr/>
                </a:pPr>
                <a:r>
                  <a:rPr lang="en-US" sz="1000" i="1">
                    <a:solidFill>
                      <a:srgbClr val="000099"/>
                    </a:solidFill>
                    <a:latin typeface="Arial" charset="0"/>
                  </a:rPr>
                  <a:t>transmit new segment(s), as allowed</a:t>
                </a:r>
              </a:p>
              <a:p>
                <a:pPr eaLnBrk="1" hangingPunct="1">
                  <a:lnSpc>
                    <a:spcPct val="80000"/>
                  </a:lnSpc>
                  <a:defRPr/>
                </a:pPr>
                <a:endParaRPr lang="en-US" sz="1200" i="1">
                  <a:latin typeface="Arial" charset="0"/>
                </a:endParaRPr>
              </a:p>
            </p:txBody>
          </p:sp>
          <p:sp>
            <p:nvSpPr>
              <p:cNvPr id="137" name="Line 192">
                <a:extLst>
                  <a:ext uri="{FF2B5EF4-FFF2-40B4-BE49-F238E27FC236}">
                    <a16:creationId xmlns:a16="http://schemas.microsoft.com/office/drawing/2014/main" id="{748E2760-E8FB-48FD-9D46-DA220D42860E}"/>
                  </a:ext>
                </a:extLst>
              </p:cNvPr>
              <p:cNvSpPr>
                <a:spLocks noChangeShapeType="1"/>
              </p:cNvSpPr>
              <p:nvPr/>
            </p:nvSpPr>
            <p:spPr bwMode="auto">
              <a:xfrm>
                <a:off x="3976" y="1054"/>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38" name="Text Box 193">
                <a:extLst>
                  <a:ext uri="{FF2B5EF4-FFF2-40B4-BE49-F238E27FC236}">
                    <a16:creationId xmlns:a16="http://schemas.microsoft.com/office/drawing/2014/main" id="{AD3704F5-5D22-4388-9287-E311C7828A4B}"/>
                  </a:ext>
                </a:extLst>
              </p:cNvPr>
              <p:cNvSpPr txBox="1">
                <a:spLocks noChangeArrowheads="1"/>
              </p:cNvSpPr>
              <p:nvPr/>
            </p:nvSpPr>
            <p:spPr bwMode="auto">
              <a:xfrm>
                <a:off x="4014" y="923"/>
                <a:ext cx="448"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new ACK</a:t>
                </a:r>
              </a:p>
            </p:txBody>
          </p:sp>
          <p:sp>
            <p:nvSpPr>
              <p:cNvPr id="139" name="Text Box 194">
                <a:extLst>
                  <a:ext uri="{FF2B5EF4-FFF2-40B4-BE49-F238E27FC236}">
                    <a16:creationId xmlns:a16="http://schemas.microsoft.com/office/drawing/2014/main" id="{1050D739-3A26-4304-BA94-A0FD103477B9}"/>
                  </a:ext>
                </a:extLst>
              </p:cNvPr>
              <p:cNvSpPr txBox="1">
                <a:spLocks noChangeArrowheads="1"/>
              </p:cNvSpPr>
              <p:nvPr/>
            </p:nvSpPr>
            <p:spPr bwMode="auto">
              <a:xfrm>
                <a:off x="4311" y="904"/>
                <a:ext cx="16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2400">
                    <a:latin typeface="Times New Roman" charset="0"/>
                  </a:rPr>
                  <a:t>.</a:t>
                </a:r>
              </a:p>
            </p:txBody>
          </p:sp>
        </p:grpSp>
        <p:sp>
          <p:nvSpPr>
            <p:cNvPr id="130" name="Freeform 195">
              <a:extLst>
                <a:ext uri="{FF2B5EF4-FFF2-40B4-BE49-F238E27FC236}">
                  <a16:creationId xmlns:a16="http://schemas.microsoft.com/office/drawing/2014/main" id="{184E0FF3-06CA-4247-8F80-F7689C2D9C60}"/>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1" name="Group 196">
              <a:extLst>
                <a:ext uri="{FF2B5EF4-FFF2-40B4-BE49-F238E27FC236}">
                  <a16:creationId xmlns:a16="http://schemas.microsoft.com/office/drawing/2014/main" id="{EE1A63A7-5151-46B0-B08C-8188C304BE2C}"/>
                </a:ext>
              </a:extLst>
            </p:cNvPr>
            <p:cNvGrpSpPr>
              <a:grpSpLocks/>
            </p:cNvGrpSpPr>
            <p:nvPr/>
          </p:nvGrpSpPr>
          <p:grpSpPr bwMode="auto">
            <a:xfrm>
              <a:off x="4509" y="1909"/>
              <a:ext cx="700" cy="367"/>
              <a:chOff x="4274" y="2922"/>
              <a:chExt cx="700" cy="367"/>
            </a:xfrm>
          </p:grpSpPr>
          <p:sp>
            <p:nvSpPr>
              <p:cNvPr id="133" name="Text Box 197">
                <a:extLst>
                  <a:ext uri="{FF2B5EF4-FFF2-40B4-BE49-F238E27FC236}">
                    <a16:creationId xmlns:a16="http://schemas.microsoft.com/office/drawing/2014/main" id="{392D4577-1947-4A0A-B0AE-52E088370520}"/>
                  </a:ext>
                </a:extLst>
              </p:cNvPr>
              <p:cNvSpPr txBox="1">
                <a:spLocks noChangeArrowheads="1"/>
              </p:cNvSpPr>
              <p:nvPr/>
            </p:nvSpPr>
            <p:spPr bwMode="auto">
              <a:xfrm>
                <a:off x="4274" y="3062"/>
                <a:ext cx="700" cy="2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0000"/>
                  </a:lnSpc>
                  <a:defRPr/>
                </a:pPr>
                <a:r>
                  <a:rPr lang="en-US" sz="1000">
                    <a:latin typeface="Arial" charset="0"/>
                  </a:rPr>
                  <a:t>dupACKcount++</a:t>
                </a:r>
              </a:p>
              <a:p>
                <a:pPr eaLnBrk="1" hangingPunct="1">
                  <a:lnSpc>
                    <a:spcPct val="80000"/>
                  </a:lnSpc>
                  <a:defRPr/>
                </a:pPr>
                <a:endParaRPr lang="en-US" sz="1200">
                  <a:latin typeface="Arial" charset="0"/>
                </a:endParaRPr>
              </a:p>
            </p:txBody>
          </p:sp>
          <p:sp>
            <p:nvSpPr>
              <p:cNvPr id="134" name="Line 198">
                <a:extLst>
                  <a:ext uri="{FF2B5EF4-FFF2-40B4-BE49-F238E27FC236}">
                    <a16:creationId xmlns:a16="http://schemas.microsoft.com/office/drawing/2014/main" id="{4EED6D16-AC54-4A8A-B455-A28FEA97F6E5}"/>
                  </a:ext>
                </a:extLst>
              </p:cNvPr>
              <p:cNvSpPr>
                <a:spLocks noChangeShapeType="1"/>
              </p:cNvSpPr>
              <p:nvPr/>
            </p:nvSpPr>
            <p:spPr bwMode="auto">
              <a:xfrm>
                <a:off x="4353" y="3071"/>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35" name="Text Box 199">
                <a:extLst>
                  <a:ext uri="{FF2B5EF4-FFF2-40B4-BE49-F238E27FC236}">
                    <a16:creationId xmlns:a16="http://schemas.microsoft.com/office/drawing/2014/main" id="{0DF9F90C-C4C5-4EA3-9FE7-F1850F12075F}"/>
                  </a:ext>
                </a:extLst>
              </p:cNvPr>
              <p:cNvSpPr txBox="1">
                <a:spLocks noChangeArrowheads="1"/>
              </p:cNvSpPr>
              <p:nvPr/>
            </p:nvSpPr>
            <p:spPr bwMode="auto">
              <a:xfrm>
                <a:off x="4295" y="2922"/>
                <a:ext cx="62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duplicate ACK</a:t>
                </a:r>
              </a:p>
            </p:txBody>
          </p:sp>
        </p:grpSp>
        <p:sp>
          <p:nvSpPr>
            <p:cNvPr id="132" name="Freeform 200">
              <a:extLst>
                <a:ext uri="{FF2B5EF4-FFF2-40B4-BE49-F238E27FC236}">
                  <a16:creationId xmlns:a16="http://schemas.microsoft.com/office/drawing/2014/main" id="{A1154903-726A-4EAE-8DAE-E55BA958073C}"/>
                </a:ext>
              </a:extLst>
            </p:cNvPr>
            <p:cNvSpPr>
              <a:spLocks/>
            </p:cNvSpPr>
            <p:nvPr/>
          </p:nvSpPr>
          <p:spPr bwMode="auto">
            <a:xfrm rot="-7516021">
              <a:off x="4290" y="1673"/>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2" name="Group 245">
            <a:extLst>
              <a:ext uri="{FF2B5EF4-FFF2-40B4-BE49-F238E27FC236}">
                <a16:creationId xmlns:a16="http://schemas.microsoft.com/office/drawing/2014/main" id="{373460BD-85D7-441E-9EF3-9C7B6D4D3F11}"/>
              </a:ext>
            </a:extLst>
          </p:cNvPr>
          <p:cNvGrpSpPr>
            <a:grpSpLocks/>
          </p:cNvGrpSpPr>
          <p:nvPr/>
        </p:nvGrpSpPr>
        <p:grpSpPr bwMode="auto">
          <a:xfrm>
            <a:off x="4023759" y="4916931"/>
            <a:ext cx="3279775" cy="1717675"/>
            <a:chOff x="2538" y="2960"/>
            <a:chExt cx="2066" cy="1082"/>
          </a:xfrm>
        </p:grpSpPr>
        <p:grpSp>
          <p:nvGrpSpPr>
            <p:cNvPr id="143" name="Group 167">
              <a:extLst>
                <a:ext uri="{FF2B5EF4-FFF2-40B4-BE49-F238E27FC236}">
                  <a16:creationId xmlns:a16="http://schemas.microsoft.com/office/drawing/2014/main" id="{8507E041-A254-4A2A-AEDD-7223B3325E6F}"/>
                </a:ext>
              </a:extLst>
            </p:cNvPr>
            <p:cNvGrpSpPr>
              <a:grpSpLocks/>
            </p:cNvGrpSpPr>
            <p:nvPr/>
          </p:nvGrpSpPr>
          <p:grpSpPr bwMode="auto">
            <a:xfrm>
              <a:off x="2538" y="2960"/>
              <a:ext cx="800" cy="754"/>
              <a:chOff x="2454" y="3045"/>
              <a:chExt cx="800" cy="754"/>
            </a:xfrm>
          </p:grpSpPr>
          <p:sp>
            <p:nvSpPr>
              <p:cNvPr id="149" name="Oval 168">
                <a:extLst>
                  <a:ext uri="{FF2B5EF4-FFF2-40B4-BE49-F238E27FC236}">
                    <a16:creationId xmlns:a16="http://schemas.microsoft.com/office/drawing/2014/main" id="{22F53F18-9A02-4EE7-B068-CAEC90ECF444}"/>
                  </a:ext>
                </a:extLst>
              </p:cNvPr>
              <p:cNvSpPr>
                <a:spLocks noChangeArrowheads="1"/>
              </p:cNvSpPr>
              <p:nvPr/>
            </p:nvSpPr>
            <p:spPr bwMode="auto">
              <a:xfrm>
                <a:off x="2454" y="3045"/>
                <a:ext cx="800" cy="754"/>
              </a:xfrm>
              <a:prstGeom prst="ellipse">
                <a:avLst/>
              </a:prstGeom>
              <a:solidFill>
                <a:schemeClr val="accent6">
                  <a:lumMod val="40000"/>
                  <a:lumOff val="6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50" name="Text Box 169">
                <a:extLst>
                  <a:ext uri="{FF2B5EF4-FFF2-40B4-BE49-F238E27FC236}">
                    <a16:creationId xmlns:a16="http://schemas.microsoft.com/office/drawing/2014/main" id="{D6E94B38-7D59-4A5B-8C32-D085930B7DB0}"/>
                  </a:ext>
                </a:extLst>
              </p:cNvPr>
              <p:cNvSpPr txBox="1">
                <a:spLocks noChangeArrowheads="1"/>
              </p:cNvSpPr>
              <p:nvPr/>
            </p:nvSpPr>
            <p:spPr bwMode="auto">
              <a:xfrm>
                <a:off x="2796" y="3212"/>
                <a:ext cx="156" cy="4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defRPr/>
                </a:pPr>
                <a:r>
                  <a:rPr lang="en-US" sz="1800">
                    <a:latin typeface="Arial" charset="0"/>
                  </a:rPr>
                  <a:t> </a:t>
                </a:r>
              </a:p>
              <a:p>
                <a:pPr eaLnBrk="1" hangingPunct="1">
                  <a:defRPr/>
                </a:pPr>
                <a:endParaRPr lang="en-US" sz="1800">
                  <a:latin typeface="Arial" charset="0"/>
                </a:endParaRPr>
              </a:p>
            </p:txBody>
          </p:sp>
          <p:sp>
            <p:nvSpPr>
              <p:cNvPr id="151" name="Text Box 170">
                <a:extLst>
                  <a:ext uri="{FF2B5EF4-FFF2-40B4-BE49-F238E27FC236}">
                    <a16:creationId xmlns:a16="http://schemas.microsoft.com/office/drawing/2014/main" id="{71E18FC5-CDF7-417F-9FAE-7DB5B9FB3935}"/>
                  </a:ext>
                </a:extLst>
              </p:cNvPr>
              <p:cNvSpPr txBox="1">
                <a:spLocks noChangeArrowheads="1"/>
              </p:cNvSpPr>
              <p:nvPr/>
            </p:nvSpPr>
            <p:spPr bwMode="auto">
              <a:xfrm>
                <a:off x="2505" y="3288"/>
                <a:ext cx="69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800" b="1" dirty="0">
                    <a:solidFill>
                      <a:srgbClr val="FF0000"/>
                    </a:solidFill>
                    <a:latin typeface="宋体" panose="02010600030101010101" pitchFamily="2" charset="-122"/>
                    <a:ea typeface="宋体" panose="02010600030101010101" pitchFamily="2" charset="-122"/>
                  </a:rPr>
                  <a:t>快速恢复</a:t>
                </a:r>
                <a:endParaRPr lang="en-US" sz="1800" b="1" dirty="0">
                  <a:solidFill>
                    <a:srgbClr val="FF0000"/>
                  </a:solidFill>
                  <a:latin typeface="宋体" panose="02010600030101010101" pitchFamily="2" charset="-122"/>
                  <a:ea typeface="宋体" panose="02010600030101010101" pitchFamily="2" charset="-122"/>
                </a:endParaRPr>
              </a:p>
            </p:txBody>
          </p:sp>
        </p:grpSp>
        <p:sp>
          <p:nvSpPr>
            <p:cNvPr id="144" name="Freeform 220">
              <a:extLst>
                <a:ext uri="{FF2B5EF4-FFF2-40B4-BE49-F238E27FC236}">
                  <a16:creationId xmlns:a16="http://schemas.microsoft.com/office/drawing/2014/main" id="{8AA13502-DF64-4FBF-BAA2-A698256221C2}"/>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5" name="Group 221">
              <a:extLst>
                <a:ext uri="{FF2B5EF4-FFF2-40B4-BE49-F238E27FC236}">
                  <a16:creationId xmlns:a16="http://schemas.microsoft.com/office/drawing/2014/main" id="{48C64EFE-6E23-42CA-904E-38E77ECBAB04}"/>
                </a:ext>
              </a:extLst>
            </p:cNvPr>
            <p:cNvGrpSpPr>
              <a:grpSpLocks/>
            </p:cNvGrpSpPr>
            <p:nvPr/>
          </p:nvGrpSpPr>
          <p:grpSpPr bwMode="auto">
            <a:xfrm>
              <a:off x="3191" y="3592"/>
              <a:ext cx="1413" cy="450"/>
              <a:chOff x="3542" y="3496"/>
              <a:chExt cx="1413" cy="450"/>
            </a:xfrm>
          </p:grpSpPr>
          <p:sp>
            <p:nvSpPr>
              <p:cNvPr id="146" name="Text Box 222">
                <a:extLst>
                  <a:ext uri="{FF2B5EF4-FFF2-40B4-BE49-F238E27FC236}">
                    <a16:creationId xmlns:a16="http://schemas.microsoft.com/office/drawing/2014/main" id="{5D93188B-3C6F-4C30-AE93-F2484FEC4048}"/>
                  </a:ext>
                </a:extLst>
              </p:cNvPr>
              <p:cNvSpPr txBox="1">
                <a:spLocks noChangeArrowheads="1"/>
              </p:cNvSpPr>
              <p:nvPr/>
            </p:nvSpPr>
            <p:spPr bwMode="auto">
              <a:xfrm>
                <a:off x="3546" y="3632"/>
                <a:ext cx="1409" cy="3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lnSpc>
                    <a:spcPct val="85000"/>
                  </a:lnSpc>
                  <a:defRPr/>
                </a:pPr>
                <a:r>
                  <a:rPr lang="en-US" sz="1000">
                    <a:latin typeface="Arial" charset="0"/>
                  </a:rPr>
                  <a:t>cwnd = cwnd + MSS</a:t>
                </a:r>
              </a:p>
              <a:p>
                <a:pPr algn="l" eaLnBrk="1" hangingPunct="1">
                  <a:lnSpc>
                    <a:spcPct val="85000"/>
                  </a:lnSpc>
                  <a:defRPr/>
                </a:pPr>
                <a:r>
                  <a:rPr lang="en-US" sz="1000" i="1">
                    <a:solidFill>
                      <a:srgbClr val="000099"/>
                    </a:solidFill>
                    <a:latin typeface="Arial" charset="0"/>
                  </a:rPr>
                  <a:t>transmit new segment(s), as allowed</a:t>
                </a:r>
              </a:p>
              <a:p>
                <a:pPr algn="l" eaLnBrk="1" hangingPunct="1">
                  <a:lnSpc>
                    <a:spcPct val="80000"/>
                  </a:lnSpc>
                  <a:defRPr/>
                </a:pPr>
                <a:endParaRPr lang="en-US" sz="1200" i="1">
                  <a:solidFill>
                    <a:schemeClr val="bg2"/>
                  </a:solidFill>
                  <a:latin typeface="Arial" charset="0"/>
                </a:endParaRPr>
              </a:p>
            </p:txBody>
          </p:sp>
          <p:sp>
            <p:nvSpPr>
              <p:cNvPr id="147" name="Line 223">
                <a:extLst>
                  <a:ext uri="{FF2B5EF4-FFF2-40B4-BE49-F238E27FC236}">
                    <a16:creationId xmlns:a16="http://schemas.microsoft.com/office/drawing/2014/main" id="{33909B31-40C7-4B0E-871F-AB9809F6E28E}"/>
                  </a:ext>
                </a:extLst>
              </p:cNvPr>
              <p:cNvSpPr>
                <a:spLocks noChangeShapeType="1"/>
              </p:cNvSpPr>
              <p:nvPr/>
            </p:nvSpPr>
            <p:spPr bwMode="auto">
              <a:xfrm>
                <a:off x="3600" y="3645"/>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48" name="Text Box 224">
                <a:extLst>
                  <a:ext uri="{FF2B5EF4-FFF2-40B4-BE49-F238E27FC236}">
                    <a16:creationId xmlns:a16="http://schemas.microsoft.com/office/drawing/2014/main" id="{9BE6A500-01FA-4552-A96E-BF53630A930C}"/>
                  </a:ext>
                </a:extLst>
              </p:cNvPr>
              <p:cNvSpPr txBox="1">
                <a:spLocks noChangeArrowheads="1"/>
              </p:cNvSpPr>
              <p:nvPr/>
            </p:nvSpPr>
            <p:spPr bwMode="auto">
              <a:xfrm>
                <a:off x="3542" y="3496"/>
                <a:ext cx="62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duplicate ACK</a:t>
                </a:r>
              </a:p>
            </p:txBody>
          </p:sp>
        </p:grpSp>
      </p:grpSp>
      <p:grpSp>
        <p:nvGrpSpPr>
          <p:cNvPr id="152" name="Group 246">
            <a:extLst>
              <a:ext uri="{FF2B5EF4-FFF2-40B4-BE49-F238E27FC236}">
                <a16:creationId xmlns:a16="http://schemas.microsoft.com/office/drawing/2014/main" id="{7F7CFBF7-0449-4133-A83C-1B01FC33A433}"/>
              </a:ext>
            </a:extLst>
          </p:cNvPr>
          <p:cNvGrpSpPr>
            <a:grpSpLocks/>
          </p:cNvGrpSpPr>
          <p:nvPr/>
        </p:nvGrpSpPr>
        <p:grpSpPr bwMode="auto">
          <a:xfrm>
            <a:off x="872572" y="3597719"/>
            <a:ext cx="3775075" cy="1931988"/>
            <a:chOff x="553" y="2129"/>
            <a:chExt cx="2378" cy="1217"/>
          </a:xfrm>
        </p:grpSpPr>
        <p:grpSp>
          <p:nvGrpSpPr>
            <p:cNvPr id="153" name="Group 212">
              <a:extLst>
                <a:ext uri="{FF2B5EF4-FFF2-40B4-BE49-F238E27FC236}">
                  <a16:creationId xmlns:a16="http://schemas.microsoft.com/office/drawing/2014/main" id="{01950BF0-B028-4E34-B870-438967AB7243}"/>
                </a:ext>
              </a:extLst>
            </p:cNvPr>
            <p:cNvGrpSpPr>
              <a:grpSpLocks/>
            </p:cNvGrpSpPr>
            <p:nvPr/>
          </p:nvGrpSpPr>
          <p:grpSpPr bwMode="auto">
            <a:xfrm>
              <a:off x="553" y="2818"/>
              <a:ext cx="1127" cy="528"/>
              <a:chOff x="412" y="2768"/>
              <a:chExt cx="1127" cy="528"/>
            </a:xfrm>
          </p:grpSpPr>
          <p:sp>
            <p:nvSpPr>
              <p:cNvPr id="160" name="Text Box 213">
                <a:extLst>
                  <a:ext uri="{FF2B5EF4-FFF2-40B4-BE49-F238E27FC236}">
                    <a16:creationId xmlns:a16="http://schemas.microsoft.com/office/drawing/2014/main" id="{7E942D6A-CBE0-43A7-B2AA-A0522F3330C7}"/>
                  </a:ext>
                </a:extLst>
              </p:cNvPr>
              <p:cNvSpPr txBox="1">
                <a:spLocks noChangeArrowheads="1"/>
              </p:cNvSpPr>
              <p:nvPr/>
            </p:nvSpPr>
            <p:spPr bwMode="auto">
              <a:xfrm>
                <a:off x="412" y="2912"/>
                <a:ext cx="1123"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1" hangingPunct="1">
                  <a:lnSpc>
                    <a:spcPct val="80000"/>
                  </a:lnSpc>
                  <a:defRPr/>
                </a:pPr>
                <a:r>
                  <a:rPr lang="en-US" sz="1000" dirty="0" err="1">
                    <a:latin typeface="Arial" charset="0"/>
                  </a:rPr>
                  <a:t>ssthresh</a:t>
                </a:r>
                <a:r>
                  <a:rPr lang="en-US" sz="1000" dirty="0">
                    <a:latin typeface="Arial" charset="0"/>
                  </a:rPr>
                  <a:t>= </a:t>
                </a:r>
                <a:r>
                  <a:rPr lang="en-US" sz="1000" dirty="0" err="1">
                    <a:latin typeface="Arial" charset="0"/>
                  </a:rPr>
                  <a:t>cwnd</a:t>
                </a:r>
                <a:r>
                  <a:rPr lang="en-US" sz="1000" dirty="0">
                    <a:latin typeface="Arial" charset="0"/>
                  </a:rPr>
                  <a:t>/2</a:t>
                </a:r>
              </a:p>
              <a:p>
                <a:pPr algn="r" eaLnBrk="1" hangingPunct="1">
                  <a:lnSpc>
                    <a:spcPct val="80000"/>
                  </a:lnSpc>
                  <a:defRPr/>
                </a:pPr>
                <a:r>
                  <a:rPr lang="en-US" sz="1000" dirty="0" err="1">
                    <a:latin typeface="Arial" charset="0"/>
                  </a:rPr>
                  <a:t>cwnd</a:t>
                </a:r>
                <a:r>
                  <a:rPr lang="en-US" sz="1000" dirty="0">
                    <a:latin typeface="Arial" charset="0"/>
                  </a:rPr>
                  <a:t> = </a:t>
                </a:r>
                <a:r>
                  <a:rPr lang="en-US" sz="1000" dirty="0" err="1">
                    <a:latin typeface="Arial" charset="0"/>
                  </a:rPr>
                  <a:t>ssthresh</a:t>
                </a:r>
                <a:r>
                  <a:rPr lang="en-US" sz="1000" dirty="0">
                    <a:latin typeface="Arial" charset="0"/>
                  </a:rPr>
                  <a:t> + 3 </a:t>
                </a:r>
                <a:r>
                  <a:rPr lang="en-US" altLang="zh-CN" sz="1000" dirty="0">
                    <a:latin typeface="Arial" charset="0"/>
                  </a:rPr>
                  <a:t>MSS</a:t>
                </a:r>
                <a:endParaRPr lang="en-US" sz="1000" dirty="0">
                  <a:latin typeface="Arial" charset="0"/>
                </a:endParaRPr>
              </a:p>
              <a:p>
                <a:pPr algn="r" eaLnBrk="1" hangingPunct="1">
                  <a:lnSpc>
                    <a:spcPct val="80000"/>
                  </a:lnSpc>
                  <a:defRPr/>
                </a:pPr>
                <a:r>
                  <a:rPr lang="en-US" sz="1000" i="1" dirty="0">
                    <a:solidFill>
                      <a:srgbClr val="000099"/>
                    </a:solidFill>
                    <a:latin typeface="Arial" charset="0"/>
                  </a:rPr>
                  <a:t> retransmit missing segment</a:t>
                </a:r>
              </a:p>
              <a:p>
                <a:pPr algn="r" eaLnBrk="1" hangingPunct="1">
                  <a:lnSpc>
                    <a:spcPct val="80000"/>
                  </a:lnSpc>
                  <a:defRPr/>
                </a:pPr>
                <a:endParaRPr lang="en-US" sz="1200" dirty="0">
                  <a:solidFill>
                    <a:schemeClr val="bg2"/>
                  </a:solidFill>
                  <a:latin typeface="Arial" charset="0"/>
                </a:endParaRPr>
              </a:p>
            </p:txBody>
          </p:sp>
          <p:sp>
            <p:nvSpPr>
              <p:cNvPr id="161" name="Line 214">
                <a:extLst>
                  <a:ext uri="{FF2B5EF4-FFF2-40B4-BE49-F238E27FC236}">
                    <a16:creationId xmlns:a16="http://schemas.microsoft.com/office/drawing/2014/main" id="{9E8D08B4-E02B-4463-97DB-FD34B9EA7925}"/>
                  </a:ext>
                </a:extLst>
              </p:cNvPr>
              <p:cNvSpPr>
                <a:spLocks noChangeShapeType="1"/>
              </p:cNvSpPr>
              <p:nvPr/>
            </p:nvSpPr>
            <p:spPr bwMode="auto">
              <a:xfrm>
                <a:off x="925" y="2913"/>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62" name="Text Box 215">
                <a:extLst>
                  <a:ext uri="{FF2B5EF4-FFF2-40B4-BE49-F238E27FC236}">
                    <a16:creationId xmlns:a16="http://schemas.microsoft.com/office/drawing/2014/main" id="{3F3728CA-DA50-4339-977E-077934D12788}"/>
                  </a:ext>
                </a:extLst>
              </p:cNvPr>
              <p:cNvSpPr txBox="1">
                <a:spLocks noChangeArrowheads="1"/>
              </p:cNvSpPr>
              <p:nvPr/>
            </p:nvSpPr>
            <p:spPr bwMode="auto">
              <a:xfrm>
                <a:off x="751" y="2768"/>
                <a:ext cx="788"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dupACKcount == 3</a:t>
                </a:r>
              </a:p>
            </p:txBody>
          </p:sp>
        </p:grpSp>
        <p:grpSp>
          <p:nvGrpSpPr>
            <p:cNvPr id="154" name="Group 216">
              <a:extLst>
                <a:ext uri="{FF2B5EF4-FFF2-40B4-BE49-F238E27FC236}">
                  <a16:creationId xmlns:a16="http://schemas.microsoft.com/office/drawing/2014/main" id="{049F2572-8940-4E91-A5ED-B90C514BE3D2}"/>
                </a:ext>
              </a:extLst>
            </p:cNvPr>
            <p:cNvGrpSpPr>
              <a:grpSpLocks/>
            </p:cNvGrpSpPr>
            <p:nvPr/>
          </p:nvGrpSpPr>
          <p:grpSpPr bwMode="auto">
            <a:xfrm>
              <a:off x="1813" y="2454"/>
              <a:ext cx="1118" cy="519"/>
              <a:chOff x="419" y="2872"/>
              <a:chExt cx="1118" cy="519"/>
            </a:xfrm>
          </p:grpSpPr>
          <p:sp>
            <p:nvSpPr>
              <p:cNvPr id="157" name="Text Box 217">
                <a:extLst>
                  <a:ext uri="{FF2B5EF4-FFF2-40B4-BE49-F238E27FC236}">
                    <a16:creationId xmlns:a16="http://schemas.microsoft.com/office/drawing/2014/main" id="{D29C1BCD-66D9-4646-AF1E-459A4DB45B54}"/>
                  </a:ext>
                </a:extLst>
              </p:cNvPr>
              <p:cNvSpPr txBox="1">
                <a:spLocks noChangeArrowheads="1"/>
              </p:cNvSpPr>
              <p:nvPr/>
            </p:nvSpPr>
            <p:spPr bwMode="auto">
              <a:xfrm>
                <a:off x="439" y="2872"/>
                <a:ext cx="377"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timeout</a:t>
                </a:r>
              </a:p>
            </p:txBody>
          </p:sp>
          <p:sp>
            <p:nvSpPr>
              <p:cNvPr id="158" name="Text Box 218">
                <a:extLst>
                  <a:ext uri="{FF2B5EF4-FFF2-40B4-BE49-F238E27FC236}">
                    <a16:creationId xmlns:a16="http://schemas.microsoft.com/office/drawing/2014/main" id="{601980FD-B0FD-4D68-AB38-0F351B74053D}"/>
                  </a:ext>
                </a:extLst>
              </p:cNvPr>
              <p:cNvSpPr txBox="1">
                <a:spLocks noChangeArrowheads="1"/>
              </p:cNvSpPr>
              <p:nvPr/>
            </p:nvSpPr>
            <p:spPr bwMode="auto">
              <a:xfrm>
                <a:off x="419" y="2989"/>
                <a:ext cx="1118" cy="4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lnSpc>
                    <a:spcPct val="85000"/>
                  </a:lnSpc>
                  <a:defRPr/>
                </a:pPr>
                <a:r>
                  <a:rPr lang="en-US" sz="1000" dirty="0" err="1">
                    <a:latin typeface="Arial" charset="0"/>
                  </a:rPr>
                  <a:t>ssthresh</a:t>
                </a:r>
                <a:r>
                  <a:rPr lang="en-US" sz="1000" dirty="0">
                    <a:latin typeface="Arial" charset="0"/>
                  </a:rPr>
                  <a:t> = </a:t>
                </a:r>
                <a:r>
                  <a:rPr lang="en-US" sz="1000" dirty="0" err="1">
                    <a:latin typeface="Arial" charset="0"/>
                  </a:rPr>
                  <a:t>cwnd</a:t>
                </a:r>
                <a:r>
                  <a:rPr lang="en-US" sz="1000" dirty="0">
                    <a:latin typeface="Arial" charset="0"/>
                  </a:rPr>
                  <a:t>/2</a:t>
                </a:r>
              </a:p>
              <a:p>
                <a:pPr algn="l" eaLnBrk="1" hangingPunct="1">
                  <a:lnSpc>
                    <a:spcPct val="85000"/>
                  </a:lnSpc>
                  <a:defRPr/>
                </a:pPr>
                <a:r>
                  <a:rPr lang="en-US" sz="1000" dirty="0" err="1">
                    <a:latin typeface="Arial" charset="0"/>
                  </a:rPr>
                  <a:t>cwnd</a:t>
                </a:r>
                <a:r>
                  <a:rPr lang="en-US" sz="1000" dirty="0">
                    <a:latin typeface="Arial" charset="0"/>
                  </a:rPr>
                  <a:t> = 1 </a:t>
                </a:r>
                <a:r>
                  <a:rPr lang="en-US" altLang="zh-CN" sz="1000" dirty="0">
                    <a:latin typeface="Arial" charset="0"/>
                  </a:rPr>
                  <a:t>MSS</a:t>
                </a:r>
                <a:endParaRPr lang="en-US" sz="1000" dirty="0">
                  <a:latin typeface="Arial" charset="0"/>
                </a:endParaRPr>
              </a:p>
              <a:p>
                <a:pPr algn="l" eaLnBrk="1" hangingPunct="1">
                  <a:lnSpc>
                    <a:spcPct val="85000"/>
                  </a:lnSpc>
                  <a:defRPr/>
                </a:pPr>
                <a:r>
                  <a:rPr lang="en-US" sz="1000" dirty="0" err="1">
                    <a:latin typeface="Arial" charset="0"/>
                  </a:rPr>
                  <a:t>dupACKcount</a:t>
                </a:r>
                <a:r>
                  <a:rPr lang="en-US" sz="1000" dirty="0">
                    <a:latin typeface="Arial" charset="0"/>
                  </a:rPr>
                  <a:t> = 0</a:t>
                </a:r>
              </a:p>
              <a:p>
                <a:pPr algn="l" eaLnBrk="1" hangingPunct="1">
                  <a:lnSpc>
                    <a:spcPct val="85000"/>
                  </a:lnSpc>
                  <a:defRPr/>
                </a:pPr>
                <a:r>
                  <a:rPr lang="en-US" sz="1000" i="1" dirty="0">
                    <a:solidFill>
                      <a:srgbClr val="000099"/>
                    </a:solidFill>
                    <a:latin typeface="Arial" charset="0"/>
                  </a:rPr>
                  <a:t>retransmit missing segment</a:t>
                </a:r>
                <a:r>
                  <a:rPr lang="en-US" sz="1200" dirty="0">
                    <a:latin typeface="Arial" charset="0"/>
                  </a:rPr>
                  <a:t> </a:t>
                </a:r>
              </a:p>
            </p:txBody>
          </p:sp>
          <p:sp>
            <p:nvSpPr>
              <p:cNvPr id="159" name="Line 219">
                <a:extLst>
                  <a:ext uri="{FF2B5EF4-FFF2-40B4-BE49-F238E27FC236}">
                    <a16:creationId xmlns:a16="http://schemas.microsoft.com/office/drawing/2014/main" id="{9F751BF6-47D8-404B-AB38-F280F82D112D}"/>
                  </a:ext>
                </a:extLst>
              </p:cNvPr>
              <p:cNvSpPr>
                <a:spLocks noChangeShapeType="1"/>
              </p:cNvSpPr>
              <p:nvPr/>
            </p:nvSpPr>
            <p:spPr bwMode="auto">
              <a:xfrm>
                <a:off x="471" y="3014"/>
                <a:ext cx="69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sp>
          <p:nvSpPr>
            <p:cNvPr id="155" name="Freeform 225">
              <a:extLst>
                <a:ext uri="{FF2B5EF4-FFF2-40B4-BE49-F238E27FC236}">
                  <a16:creationId xmlns:a16="http://schemas.microsoft.com/office/drawing/2014/main" id="{17293FD6-1AA1-4440-80D8-37787C828B22}"/>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Freeform 226">
              <a:extLst>
                <a:ext uri="{FF2B5EF4-FFF2-40B4-BE49-F238E27FC236}">
                  <a16:creationId xmlns:a16="http://schemas.microsoft.com/office/drawing/2014/main" id="{3CEDBC40-18DE-4671-810A-8BC1B626BFA1}"/>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3" name="Group 244">
            <a:extLst>
              <a:ext uri="{FF2B5EF4-FFF2-40B4-BE49-F238E27FC236}">
                <a16:creationId xmlns:a16="http://schemas.microsoft.com/office/drawing/2014/main" id="{BD1840A4-E57D-4702-AD08-6EEC395FB162}"/>
              </a:ext>
            </a:extLst>
          </p:cNvPr>
          <p:cNvGrpSpPr>
            <a:grpSpLocks/>
          </p:cNvGrpSpPr>
          <p:nvPr/>
        </p:nvGrpSpPr>
        <p:grpSpPr bwMode="auto">
          <a:xfrm>
            <a:off x="5346147" y="3589781"/>
            <a:ext cx="2921000" cy="1916112"/>
            <a:chOff x="3371" y="2124"/>
            <a:chExt cx="1840" cy="1207"/>
          </a:xfrm>
        </p:grpSpPr>
        <p:grpSp>
          <p:nvGrpSpPr>
            <p:cNvPr id="164" name="Group 201">
              <a:extLst>
                <a:ext uri="{FF2B5EF4-FFF2-40B4-BE49-F238E27FC236}">
                  <a16:creationId xmlns:a16="http://schemas.microsoft.com/office/drawing/2014/main" id="{E40D279A-E4F9-498B-AFAD-D3AC736A9036}"/>
                </a:ext>
              </a:extLst>
            </p:cNvPr>
            <p:cNvGrpSpPr>
              <a:grpSpLocks/>
            </p:cNvGrpSpPr>
            <p:nvPr/>
          </p:nvGrpSpPr>
          <p:grpSpPr bwMode="auto">
            <a:xfrm>
              <a:off x="4120" y="2796"/>
              <a:ext cx="1091" cy="535"/>
              <a:chOff x="4142" y="2802"/>
              <a:chExt cx="1091" cy="535"/>
            </a:xfrm>
          </p:grpSpPr>
          <p:sp>
            <p:nvSpPr>
              <p:cNvPr id="166" name="Text Box 202">
                <a:extLst>
                  <a:ext uri="{FF2B5EF4-FFF2-40B4-BE49-F238E27FC236}">
                    <a16:creationId xmlns:a16="http://schemas.microsoft.com/office/drawing/2014/main" id="{D4F3B943-5B9B-4BF5-9B71-CAB88529C893}"/>
                  </a:ext>
                </a:extLst>
              </p:cNvPr>
              <p:cNvSpPr txBox="1">
                <a:spLocks noChangeArrowheads="1"/>
              </p:cNvSpPr>
              <p:nvPr/>
            </p:nvSpPr>
            <p:spPr bwMode="auto">
              <a:xfrm>
                <a:off x="4142" y="2956"/>
                <a:ext cx="1091" cy="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lnSpc>
                    <a:spcPct val="80000"/>
                  </a:lnSpc>
                  <a:defRPr/>
                </a:pPr>
                <a:r>
                  <a:rPr lang="en-US" sz="1000" dirty="0" err="1">
                    <a:latin typeface="Arial" charset="0"/>
                  </a:rPr>
                  <a:t>ssthresh</a:t>
                </a:r>
                <a:r>
                  <a:rPr lang="en-US" sz="1000" dirty="0">
                    <a:latin typeface="Arial" charset="0"/>
                  </a:rPr>
                  <a:t>= </a:t>
                </a:r>
                <a:r>
                  <a:rPr lang="en-US" sz="1000" dirty="0" err="1">
                    <a:latin typeface="Arial" charset="0"/>
                  </a:rPr>
                  <a:t>cwnd</a:t>
                </a:r>
                <a:r>
                  <a:rPr lang="en-US" sz="1000" dirty="0">
                    <a:latin typeface="Arial" charset="0"/>
                  </a:rPr>
                  <a:t>/2</a:t>
                </a:r>
              </a:p>
              <a:p>
                <a:pPr algn="l" eaLnBrk="1" hangingPunct="1">
                  <a:lnSpc>
                    <a:spcPct val="80000"/>
                  </a:lnSpc>
                  <a:defRPr/>
                </a:pPr>
                <a:r>
                  <a:rPr lang="en-US" sz="1000" dirty="0" err="1">
                    <a:latin typeface="Arial" charset="0"/>
                  </a:rPr>
                  <a:t>cwnd</a:t>
                </a:r>
                <a:r>
                  <a:rPr lang="en-US" sz="1000" dirty="0">
                    <a:latin typeface="Arial" charset="0"/>
                  </a:rPr>
                  <a:t> = </a:t>
                </a:r>
                <a:r>
                  <a:rPr lang="en-US" sz="1000" dirty="0" err="1">
                    <a:latin typeface="Arial" charset="0"/>
                  </a:rPr>
                  <a:t>ssthresh</a:t>
                </a:r>
                <a:r>
                  <a:rPr lang="en-US" sz="1000" dirty="0">
                    <a:latin typeface="Arial" charset="0"/>
                  </a:rPr>
                  <a:t> + 3 </a:t>
                </a:r>
                <a:r>
                  <a:rPr lang="en-US" altLang="zh-CN" sz="1000" dirty="0">
                    <a:latin typeface="Arial" charset="0"/>
                  </a:rPr>
                  <a:t>MSS</a:t>
                </a:r>
                <a:endParaRPr lang="en-US" sz="1000" dirty="0">
                  <a:latin typeface="Arial" charset="0"/>
                </a:endParaRPr>
              </a:p>
              <a:p>
                <a:pPr algn="l" eaLnBrk="1" hangingPunct="1">
                  <a:lnSpc>
                    <a:spcPct val="80000"/>
                  </a:lnSpc>
                  <a:defRPr/>
                </a:pPr>
                <a:r>
                  <a:rPr lang="en-US" sz="1000" i="1" dirty="0">
                    <a:solidFill>
                      <a:srgbClr val="000099"/>
                    </a:solidFill>
                    <a:latin typeface="Arial" charset="0"/>
                  </a:rPr>
                  <a:t>retransmit missing segment</a:t>
                </a:r>
              </a:p>
              <a:p>
                <a:pPr algn="l" eaLnBrk="1" hangingPunct="1">
                  <a:lnSpc>
                    <a:spcPct val="80000"/>
                  </a:lnSpc>
                  <a:defRPr/>
                </a:pPr>
                <a:endParaRPr lang="en-US" sz="1200" i="1" dirty="0">
                  <a:latin typeface="Arial" charset="0"/>
                </a:endParaRPr>
              </a:p>
            </p:txBody>
          </p:sp>
          <p:sp>
            <p:nvSpPr>
              <p:cNvPr id="167" name="Line 203">
                <a:extLst>
                  <a:ext uri="{FF2B5EF4-FFF2-40B4-BE49-F238E27FC236}">
                    <a16:creationId xmlns:a16="http://schemas.microsoft.com/office/drawing/2014/main" id="{F0A49555-93EA-4FAB-AD7F-4BD9C4C7649D}"/>
                  </a:ext>
                </a:extLst>
              </p:cNvPr>
              <p:cNvSpPr>
                <a:spLocks noChangeShapeType="1"/>
              </p:cNvSpPr>
              <p:nvPr/>
            </p:nvSpPr>
            <p:spPr bwMode="auto">
              <a:xfrm>
                <a:off x="4211" y="2950"/>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68" name="Text Box 204">
                <a:extLst>
                  <a:ext uri="{FF2B5EF4-FFF2-40B4-BE49-F238E27FC236}">
                    <a16:creationId xmlns:a16="http://schemas.microsoft.com/office/drawing/2014/main" id="{9082C7BB-43D6-4232-8B69-704302C4E475}"/>
                  </a:ext>
                </a:extLst>
              </p:cNvPr>
              <p:cNvSpPr txBox="1">
                <a:spLocks noChangeArrowheads="1"/>
              </p:cNvSpPr>
              <p:nvPr/>
            </p:nvSpPr>
            <p:spPr bwMode="auto">
              <a:xfrm>
                <a:off x="4154" y="2802"/>
                <a:ext cx="788"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dupACKcount == 3</a:t>
                </a:r>
              </a:p>
            </p:txBody>
          </p:sp>
        </p:grpSp>
        <p:sp>
          <p:nvSpPr>
            <p:cNvPr id="165" name="Freeform 227">
              <a:extLst>
                <a:ext uri="{FF2B5EF4-FFF2-40B4-BE49-F238E27FC236}">
                  <a16:creationId xmlns:a16="http://schemas.microsoft.com/office/drawing/2014/main" id="{70C9DBC0-5EAF-4B6E-8A96-A6692FEE0932}"/>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9" name="Group 243">
            <a:extLst>
              <a:ext uri="{FF2B5EF4-FFF2-40B4-BE49-F238E27FC236}">
                <a16:creationId xmlns:a16="http://schemas.microsoft.com/office/drawing/2014/main" id="{269748E4-353C-42CC-AF2E-08A1AF07BD1A}"/>
              </a:ext>
            </a:extLst>
          </p:cNvPr>
          <p:cNvGrpSpPr>
            <a:grpSpLocks/>
          </p:cNvGrpSpPr>
          <p:nvPr/>
        </p:nvGrpSpPr>
        <p:grpSpPr bwMode="auto">
          <a:xfrm>
            <a:off x="5181047" y="3615181"/>
            <a:ext cx="1206500" cy="1668462"/>
            <a:chOff x="3267" y="2140"/>
            <a:chExt cx="760" cy="1051"/>
          </a:xfrm>
        </p:grpSpPr>
        <p:sp>
          <p:nvSpPr>
            <p:cNvPr id="170" name="Freeform 228">
              <a:extLst>
                <a:ext uri="{FF2B5EF4-FFF2-40B4-BE49-F238E27FC236}">
                  <a16:creationId xmlns:a16="http://schemas.microsoft.com/office/drawing/2014/main" id="{68590D11-1BBD-490E-B17A-2A67492466C4}"/>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1" name="Group 229">
              <a:extLst>
                <a:ext uri="{FF2B5EF4-FFF2-40B4-BE49-F238E27FC236}">
                  <a16:creationId xmlns:a16="http://schemas.microsoft.com/office/drawing/2014/main" id="{EE9EB3DD-759D-4AD0-B54E-2489BFA34847}"/>
                </a:ext>
              </a:extLst>
            </p:cNvPr>
            <p:cNvGrpSpPr>
              <a:grpSpLocks/>
            </p:cNvGrpSpPr>
            <p:nvPr/>
          </p:nvGrpSpPr>
          <p:grpSpPr bwMode="auto">
            <a:xfrm>
              <a:off x="3267" y="2649"/>
              <a:ext cx="741" cy="525"/>
              <a:chOff x="1059" y="3496"/>
              <a:chExt cx="741" cy="525"/>
            </a:xfrm>
          </p:grpSpPr>
          <p:sp>
            <p:nvSpPr>
              <p:cNvPr id="172" name="Text Box 230">
                <a:extLst>
                  <a:ext uri="{FF2B5EF4-FFF2-40B4-BE49-F238E27FC236}">
                    <a16:creationId xmlns:a16="http://schemas.microsoft.com/office/drawing/2014/main" id="{4522B8FB-73BE-47EB-B3C8-B11B9B12C512}"/>
                  </a:ext>
                </a:extLst>
              </p:cNvPr>
              <p:cNvSpPr txBox="1">
                <a:spLocks noChangeArrowheads="1"/>
              </p:cNvSpPr>
              <p:nvPr/>
            </p:nvSpPr>
            <p:spPr bwMode="auto">
              <a:xfrm>
                <a:off x="1059" y="3640"/>
                <a:ext cx="741" cy="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1" hangingPunct="1">
                  <a:lnSpc>
                    <a:spcPct val="80000"/>
                  </a:lnSpc>
                  <a:defRPr/>
                </a:pPr>
                <a:r>
                  <a:rPr lang="en-US" sz="1000">
                    <a:latin typeface="Arial" charset="0"/>
                  </a:rPr>
                  <a:t>cwnd = ssthresh</a:t>
                </a:r>
              </a:p>
              <a:p>
                <a:pPr algn="r" eaLnBrk="1" hangingPunct="1">
                  <a:lnSpc>
                    <a:spcPct val="80000"/>
                  </a:lnSpc>
                  <a:defRPr/>
                </a:pPr>
                <a:r>
                  <a:rPr lang="en-US" sz="1000">
                    <a:latin typeface="Arial" charset="0"/>
                  </a:rPr>
                  <a:t>dupACKcount = 0</a:t>
                </a:r>
              </a:p>
              <a:p>
                <a:pPr algn="r" eaLnBrk="1" hangingPunct="1">
                  <a:lnSpc>
                    <a:spcPct val="80000"/>
                  </a:lnSpc>
                  <a:defRPr/>
                </a:pPr>
                <a:endParaRPr lang="en-US" sz="1000">
                  <a:latin typeface="Arial" charset="0"/>
                </a:endParaRPr>
              </a:p>
              <a:p>
                <a:pPr algn="r" eaLnBrk="1" hangingPunct="1">
                  <a:lnSpc>
                    <a:spcPct val="80000"/>
                  </a:lnSpc>
                  <a:defRPr/>
                </a:pPr>
                <a:endParaRPr lang="en-US" sz="1200">
                  <a:latin typeface="Arial" charset="0"/>
                </a:endParaRPr>
              </a:p>
            </p:txBody>
          </p:sp>
          <p:grpSp>
            <p:nvGrpSpPr>
              <p:cNvPr id="173" name="Group 231">
                <a:extLst>
                  <a:ext uri="{FF2B5EF4-FFF2-40B4-BE49-F238E27FC236}">
                    <a16:creationId xmlns:a16="http://schemas.microsoft.com/office/drawing/2014/main" id="{2BC5C4EB-07DD-4908-B291-3D1DD0B7D732}"/>
                  </a:ext>
                </a:extLst>
              </p:cNvPr>
              <p:cNvGrpSpPr>
                <a:grpSpLocks/>
              </p:cNvGrpSpPr>
              <p:nvPr/>
            </p:nvGrpSpPr>
            <p:grpSpPr bwMode="auto">
              <a:xfrm>
                <a:off x="1190" y="3496"/>
                <a:ext cx="582" cy="154"/>
                <a:chOff x="1190" y="3496"/>
                <a:chExt cx="582" cy="154"/>
              </a:xfrm>
            </p:grpSpPr>
            <p:sp>
              <p:nvSpPr>
                <p:cNvPr id="174" name="Line 232">
                  <a:extLst>
                    <a:ext uri="{FF2B5EF4-FFF2-40B4-BE49-F238E27FC236}">
                      <a16:creationId xmlns:a16="http://schemas.microsoft.com/office/drawing/2014/main" id="{52CFAF92-B96C-4134-86A3-C96ECB9BDDEB}"/>
                    </a:ext>
                  </a:extLst>
                </p:cNvPr>
                <p:cNvSpPr>
                  <a:spLocks noChangeShapeType="1"/>
                </p:cNvSpPr>
                <p:nvPr/>
              </p:nvSpPr>
              <p:spPr bwMode="auto">
                <a:xfrm>
                  <a:off x="1190" y="3641"/>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75" name="Text Box 233">
                  <a:extLst>
                    <a:ext uri="{FF2B5EF4-FFF2-40B4-BE49-F238E27FC236}">
                      <a16:creationId xmlns:a16="http://schemas.microsoft.com/office/drawing/2014/main" id="{C308240A-F221-4C3C-B27C-5023CD955575}"/>
                    </a:ext>
                  </a:extLst>
                </p:cNvPr>
                <p:cNvSpPr txBox="1">
                  <a:spLocks noChangeArrowheads="1"/>
                </p:cNvSpPr>
                <p:nvPr/>
              </p:nvSpPr>
              <p:spPr bwMode="auto">
                <a:xfrm>
                  <a:off x="1310" y="3496"/>
                  <a:ext cx="462"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eaLnBrk="1" hangingPunct="1">
                    <a:defRPr/>
                  </a:pPr>
                  <a:r>
                    <a:rPr lang="en-US" sz="1000">
                      <a:latin typeface="Arial" charset="0"/>
                    </a:rPr>
                    <a:t>New ACK</a:t>
                  </a:r>
                </a:p>
              </p:txBody>
            </p:sp>
          </p:grpSp>
        </p:grpSp>
      </p:grpSp>
      <p:grpSp>
        <p:nvGrpSpPr>
          <p:cNvPr id="176" name="Group 241">
            <a:extLst>
              <a:ext uri="{FF2B5EF4-FFF2-40B4-BE49-F238E27FC236}">
                <a16:creationId xmlns:a16="http://schemas.microsoft.com/office/drawing/2014/main" id="{6578EA57-6676-4F5C-B258-323A0DB7A591}"/>
              </a:ext>
            </a:extLst>
          </p:cNvPr>
          <p:cNvGrpSpPr>
            <a:grpSpLocks/>
          </p:cNvGrpSpPr>
          <p:nvPr/>
        </p:nvGrpSpPr>
        <p:grpSpPr bwMode="auto">
          <a:xfrm>
            <a:off x="815422" y="1581593"/>
            <a:ext cx="4865687" cy="2659063"/>
            <a:chOff x="517" y="859"/>
            <a:chExt cx="3065" cy="1675"/>
          </a:xfrm>
        </p:grpSpPr>
        <p:grpSp>
          <p:nvGrpSpPr>
            <p:cNvPr id="177" name="Group 161">
              <a:extLst>
                <a:ext uri="{FF2B5EF4-FFF2-40B4-BE49-F238E27FC236}">
                  <a16:creationId xmlns:a16="http://schemas.microsoft.com/office/drawing/2014/main" id="{F1DB7563-55FC-4E61-B5C9-FF40518BB3FE}"/>
                </a:ext>
              </a:extLst>
            </p:cNvPr>
            <p:cNvGrpSpPr>
              <a:grpSpLocks/>
            </p:cNvGrpSpPr>
            <p:nvPr/>
          </p:nvGrpSpPr>
          <p:grpSpPr bwMode="auto">
            <a:xfrm>
              <a:off x="1329" y="1320"/>
              <a:ext cx="800" cy="754"/>
              <a:chOff x="996" y="1773"/>
              <a:chExt cx="800" cy="754"/>
            </a:xfrm>
          </p:grpSpPr>
          <p:sp>
            <p:nvSpPr>
              <p:cNvPr id="198" name="Oval 162">
                <a:extLst>
                  <a:ext uri="{FF2B5EF4-FFF2-40B4-BE49-F238E27FC236}">
                    <a16:creationId xmlns:a16="http://schemas.microsoft.com/office/drawing/2014/main" id="{C5AE8533-64E3-4A0C-AB33-3880BF3933CF}"/>
                  </a:ext>
                </a:extLst>
              </p:cNvPr>
              <p:cNvSpPr>
                <a:spLocks noChangeArrowheads="1"/>
              </p:cNvSpPr>
              <p:nvPr/>
            </p:nvSpPr>
            <p:spPr bwMode="auto">
              <a:xfrm>
                <a:off x="996" y="1773"/>
                <a:ext cx="800" cy="754"/>
              </a:xfrm>
              <a:prstGeom prst="ellipse">
                <a:avLst/>
              </a:prstGeom>
              <a:solidFill>
                <a:schemeClr val="accent6">
                  <a:lumMod val="40000"/>
                  <a:lumOff val="6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9" name="Text Box 163">
                <a:extLst>
                  <a:ext uri="{FF2B5EF4-FFF2-40B4-BE49-F238E27FC236}">
                    <a16:creationId xmlns:a16="http://schemas.microsoft.com/office/drawing/2014/main" id="{8EA3BFE5-19B6-48F4-A2F5-EF97586A7BB9}"/>
                  </a:ext>
                </a:extLst>
              </p:cNvPr>
              <p:cNvSpPr txBox="1">
                <a:spLocks noChangeArrowheads="1"/>
              </p:cNvSpPr>
              <p:nvPr/>
            </p:nvSpPr>
            <p:spPr bwMode="auto">
              <a:xfrm>
                <a:off x="1132" y="2020"/>
                <a:ext cx="553"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zh-CN" altLang="en-US" sz="1800" b="1" dirty="0">
                    <a:latin typeface="宋体" panose="02010600030101010101" pitchFamily="2" charset="-122"/>
                    <a:ea typeface="宋体" panose="02010600030101010101" pitchFamily="2" charset="-122"/>
                  </a:rPr>
                  <a:t>慢启动</a:t>
                </a:r>
                <a:endParaRPr lang="en-US" sz="1800" b="1" dirty="0">
                  <a:latin typeface="宋体" panose="02010600030101010101" pitchFamily="2" charset="-122"/>
                  <a:ea typeface="宋体" panose="02010600030101010101" pitchFamily="2" charset="-122"/>
                </a:endParaRPr>
              </a:p>
            </p:txBody>
          </p:sp>
        </p:grpSp>
        <p:grpSp>
          <p:nvGrpSpPr>
            <p:cNvPr id="178" name="Group 177">
              <a:extLst>
                <a:ext uri="{FF2B5EF4-FFF2-40B4-BE49-F238E27FC236}">
                  <a16:creationId xmlns:a16="http://schemas.microsoft.com/office/drawing/2014/main" id="{B92BA938-8657-4B56-BFD6-E1F5079961B3}"/>
                </a:ext>
              </a:extLst>
            </p:cNvPr>
            <p:cNvGrpSpPr>
              <a:grpSpLocks/>
            </p:cNvGrpSpPr>
            <p:nvPr/>
          </p:nvGrpSpPr>
          <p:grpSpPr bwMode="auto">
            <a:xfrm>
              <a:off x="530" y="2026"/>
              <a:ext cx="1118" cy="508"/>
              <a:chOff x="418" y="2713"/>
              <a:chExt cx="1118" cy="508"/>
            </a:xfrm>
          </p:grpSpPr>
          <p:sp>
            <p:nvSpPr>
              <p:cNvPr id="195" name="Text Box 178">
                <a:extLst>
                  <a:ext uri="{FF2B5EF4-FFF2-40B4-BE49-F238E27FC236}">
                    <a16:creationId xmlns:a16="http://schemas.microsoft.com/office/drawing/2014/main" id="{0695F48C-77E0-425F-939C-CEFE70B1BD57}"/>
                  </a:ext>
                </a:extLst>
              </p:cNvPr>
              <p:cNvSpPr txBox="1">
                <a:spLocks noChangeArrowheads="1"/>
              </p:cNvSpPr>
              <p:nvPr/>
            </p:nvSpPr>
            <p:spPr bwMode="auto">
              <a:xfrm>
                <a:off x="777" y="2713"/>
                <a:ext cx="377"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timeout</a:t>
                </a:r>
              </a:p>
            </p:txBody>
          </p:sp>
          <p:sp>
            <p:nvSpPr>
              <p:cNvPr id="196" name="Text Box 179">
                <a:extLst>
                  <a:ext uri="{FF2B5EF4-FFF2-40B4-BE49-F238E27FC236}">
                    <a16:creationId xmlns:a16="http://schemas.microsoft.com/office/drawing/2014/main" id="{1148C87A-C19F-45E5-8D25-752D999C5081}"/>
                  </a:ext>
                </a:extLst>
              </p:cNvPr>
              <p:cNvSpPr txBox="1">
                <a:spLocks noChangeArrowheads="1"/>
              </p:cNvSpPr>
              <p:nvPr/>
            </p:nvSpPr>
            <p:spPr bwMode="auto">
              <a:xfrm>
                <a:off x="418" y="2840"/>
                <a:ext cx="1118" cy="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0000"/>
                  </a:lnSpc>
                  <a:defRPr/>
                </a:pPr>
                <a:r>
                  <a:rPr lang="en-US" sz="1000">
                    <a:latin typeface="Arial" charset="0"/>
                  </a:rPr>
                  <a:t>ssthresh = cwnd/2 </a:t>
                </a:r>
              </a:p>
              <a:p>
                <a:pPr eaLnBrk="1" hangingPunct="1">
                  <a:lnSpc>
                    <a:spcPct val="80000"/>
                  </a:lnSpc>
                  <a:defRPr/>
                </a:pPr>
                <a:r>
                  <a:rPr lang="en-US" sz="1000">
                    <a:latin typeface="Arial" charset="0"/>
                  </a:rPr>
                  <a:t>cwnd = 1 MSS</a:t>
                </a:r>
              </a:p>
              <a:p>
                <a:pPr eaLnBrk="1" hangingPunct="1">
                  <a:lnSpc>
                    <a:spcPct val="80000"/>
                  </a:lnSpc>
                  <a:defRPr/>
                </a:pPr>
                <a:r>
                  <a:rPr lang="en-US" sz="1000">
                    <a:latin typeface="Arial" charset="0"/>
                  </a:rPr>
                  <a:t>dupACKcount = 0</a:t>
                </a:r>
              </a:p>
              <a:p>
                <a:pPr eaLnBrk="1" hangingPunct="1">
                  <a:lnSpc>
                    <a:spcPct val="80000"/>
                  </a:lnSpc>
                  <a:defRPr/>
                </a:pPr>
                <a:r>
                  <a:rPr lang="en-US" sz="1000" i="1">
                    <a:solidFill>
                      <a:srgbClr val="000099"/>
                    </a:solidFill>
                    <a:latin typeface="Arial" charset="0"/>
                  </a:rPr>
                  <a:t>retransmit missing segment</a:t>
                </a:r>
                <a:r>
                  <a:rPr lang="en-US" sz="1200">
                    <a:latin typeface="Arial" charset="0"/>
                  </a:rPr>
                  <a:t> </a:t>
                </a:r>
              </a:p>
            </p:txBody>
          </p:sp>
          <p:sp>
            <p:nvSpPr>
              <p:cNvPr id="197" name="Line 180">
                <a:extLst>
                  <a:ext uri="{FF2B5EF4-FFF2-40B4-BE49-F238E27FC236}">
                    <a16:creationId xmlns:a16="http://schemas.microsoft.com/office/drawing/2014/main" id="{152CFA17-54EE-4860-BA5B-8EEE72F61514}"/>
                  </a:ext>
                </a:extLst>
              </p:cNvPr>
              <p:cNvSpPr>
                <a:spLocks noChangeShapeType="1"/>
              </p:cNvSpPr>
              <p:nvPr/>
            </p:nvSpPr>
            <p:spPr bwMode="auto">
              <a:xfrm>
                <a:off x="709" y="2855"/>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179" name="Group 186">
              <a:extLst>
                <a:ext uri="{FF2B5EF4-FFF2-40B4-BE49-F238E27FC236}">
                  <a16:creationId xmlns:a16="http://schemas.microsoft.com/office/drawing/2014/main" id="{60683AF1-7609-4EDB-9DD3-375CD48AA01E}"/>
                </a:ext>
              </a:extLst>
            </p:cNvPr>
            <p:cNvGrpSpPr>
              <a:grpSpLocks/>
            </p:cNvGrpSpPr>
            <p:nvPr/>
          </p:nvGrpSpPr>
          <p:grpSpPr bwMode="auto">
            <a:xfrm>
              <a:off x="2173" y="960"/>
              <a:ext cx="1409" cy="527"/>
              <a:chOff x="2683" y="798"/>
              <a:chExt cx="1409" cy="527"/>
            </a:xfrm>
          </p:grpSpPr>
          <p:sp>
            <p:nvSpPr>
              <p:cNvPr id="192" name="Text Box 187">
                <a:extLst>
                  <a:ext uri="{FF2B5EF4-FFF2-40B4-BE49-F238E27FC236}">
                    <a16:creationId xmlns:a16="http://schemas.microsoft.com/office/drawing/2014/main" id="{63D8E393-7B2C-4FB1-A666-29C5272FEBC4}"/>
                  </a:ext>
                </a:extLst>
              </p:cNvPr>
              <p:cNvSpPr txBox="1">
                <a:spLocks noChangeArrowheads="1"/>
              </p:cNvSpPr>
              <p:nvPr/>
            </p:nvSpPr>
            <p:spPr bwMode="auto">
              <a:xfrm>
                <a:off x="2683" y="917"/>
                <a:ext cx="1409" cy="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lnSpc>
                    <a:spcPct val="90000"/>
                  </a:lnSpc>
                  <a:defRPr/>
                </a:pPr>
                <a:r>
                  <a:rPr lang="en-US" sz="1000">
                    <a:latin typeface="Arial" charset="0"/>
                  </a:rPr>
                  <a:t>cwnd = cwnd+MSS</a:t>
                </a:r>
              </a:p>
              <a:p>
                <a:pPr algn="l" eaLnBrk="1" hangingPunct="1">
                  <a:lnSpc>
                    <a:spcPct val="90000"/>
                  </a:lnSpc>
                  <a:defRPr/>
                </a:pPr>
                <a:r>
                  <a:rPr lang="en-US" sz="1000">
                    <a:latin typeface="Arial" charset="0"/>
                  </a:rPr>
                  <a:t>dupACKcount = 0</a:t>
                </a:r>
              </a:p>
              <a:p>
                <a:pPr algn="l" eaLnBrk="1" hangingPunct="1">
                  <a:lnSpc>
                    <a:spcPct val="90000"/>
                  </a:lnSpc>
                  <a:defRPr/>
                </a:pPr>
                <a:r>
                  <a:rPr lang="en-US" sz="1000" i="1">
                    <a:solidFill>
                      <a:srgbClr val="000099"/>
                    </a:solidFill>
                    <a:latin typeface="Arial" charset="0"/>
                  </a:rPr>
                  <a:t>transmit new segment(s), as allowed</a:t>
                </a:r>
              </a:p>
              <a:p>
                <a:pPr algn="l" eaLnBrk="1" hangingPunct="1">
                  <a:lnSpc>
                    <a:spcPct val="80000"/>
                  </a:lnSpc>
                  <a:defRPr/>
                </a:pPr>
                <a:endParaRPr lang="en-US" sz="1200">
                  <a:latin typeface="Arial" charset="0"/>
                </a:endParaRPr>
              </a:p>
            </p:txBody>
          </p:sp>
          <p:sp>
            <p:nvSpPr>
              <p:cNvPr id="193" name="Line 188">
                <a:extLst>
                  <a:ext uri="{FF2B5EF4-FFF2-40B4-BE49-F238E27FC236}">
                    <a16:creationId xmlns:a16="http://schemas.microsoft.com/office/drawing/2014/main" id="{F5A5DC95-3FF9-433C-8384-29D536C2792B}"/>
                  </a:ext>
                </a:extLst>
              </p:cNvPr>
              <p:cNvSpPr>
                <a:spLocks noChangeShapeType="1"/>
              </p:cNvSpPr>
              <p:nvPr/>
            </p:nvSpPr>
            <p:spPr bwMode="auto">
              <a:xfrm>
                <a:off x="2744" y="934"/>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94" name="Text Box 189">
                <a:extLst>
                  <a:ext uri="{FF2B5EF4-FFF2-40B4-BE49-F238E27FC236}">
                    <a16:creationId xmlns:a16="http://schemas.microsoft.com/office/drawing/2014/main" id="{2AA07F8F-854B-431E-89EE-19C2A2BE0CF9}"/>
                  </a:ext>
                </a:extLst>
              </p:cNvPr>
              <p:cNvSpPr txBox="1">
                <a:spLocks noChangeArrowheads="1"/>
              </p:cNvSpPr>
              <p:nvPr/>
            </p:nvSpPr>
            <p:spPr bwMode="auto">
              <a:xfrm>
                <a:off x="2697" y="798"/>
                <a:ext cx="448"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new ACK</a:t>
                </a:r>
              </a:p>
            </p:txBody>
          </p:sp>
        </p:grpSp>
        <p:sp>
          <p:nvSpPr>
            <p:cNvPr id="180" name="Freeform 205">
              <a:extLst>
                <a:ext uri="{FF2B5EF4-FFF2-40B4-BE49-F238E27FC236}">
                  <a16:creationId xmlns:a16="http://schemas.microsoft.com/office/drawing/2014/main" id="{72B3E809-22C6-4D08-8180-47A299518EDD}"/>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1" name="Freeform 206">
              <a:extLst>
                <a:ext uri="{FF2B5EF4-FFF2-40B4-BE49-F238E27FC236}">
                  <a16:creationId xmlns:a16="http://schemas.microsoft.com/office/drawing/2014/main" id="{053D028E-797F-4E66-808D-2E20276B2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2" name="Group 207">
              <a:extLst>
                <a:ext uri="{FF2B5EF4-FFF2-40B4-BE49-F238E27FC236}">
                  <a16:creationId xmlns:a16="http://schemas.microsoft.com/office/drawing/2014/main" id="{617BD4F7-F991-414D-A1B1-F1CAC64DCD57}"/>
                </a:ext>
              </a:extLst>
            </p:cNvPr>
            <p:cNvGrpSpPr>
              <a:grpSpLocks/>
            </p:cNvGrpSpPr>
            <p:nvPr/>
          </p:nvGrpSpPr>
          <p:grpSpPr bwMode="auto">
            <a:xfrm>
              <a:off x="1465" y="859"/>
              <a:ext cx="700" cy="367"/>
              <a:chOff x="4274" y="2922"/>
              <a:chExt cx="700" cy="367"/>
            </a:xfrm>
          </p:grpSpPr>
          <p:sp>
            <p:nvSpPr>
              <p:cNvPr id="189" name="Text Box 208">
                <a:extLst>
                  <a:ext uri="{FF2B5EF4-FFF2-40B4-BE49-F238E27FC236}">
                    <a16:creationId xmlns:a16="http://schemas.microsoft.com/office/drawing/2014/main" id="{3D362D5C-B592-47E5-B725-C26488DDCCC5}"/>
                  </a:ext>
                </a:extLst>
              </p:cNvPr>
              <p:cNvSpPr txBox="1">
                <a:spLocks noChangeArrowheads="1"/>
              </p:cNvSpPr>
              <p:nvPr/>
            </p:nvSpPr>
            <p:spPr bwMode="auto">
              <a:xfrm>
                <a:off x="4274" y="3062"/>
                <a:ext cx="700" cy="2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0000"/>
                  </a:lnSpc>
                  <a:defRPr/>
                </a:pPr>
                <a:r>
                  <a:rPr lang="en-US" sz="1000">
                    <a:latin typeface="Arial" charset="0"/>
                  </a:rPr>
                  <a:t>dupACKcount++</a:t>
                </a:r>
              </a:p>
              <a:p>
                <a:pPr eaLnBrk="1" hangingPunct="1">
                  <a:lnSpc>
                    <a:spcPct val="80000"/>
                  </a:lnSpc>
                  <a:defRPr/>
                </a:pPr>
                <a:endParaRPr lang="en-US" sz="1200">
                  <a:latin typeface="Arial" charset="0"/>
                </a:endParaRPr>
              </a:p>
            </p:txBody>
          </p:sp>
          <p:sp>
            <p:nvSpPr>
              <p:cNvPr id="190" name="Line 209">
                <a:extLst>
                  <a:ext uri="{FF2B5EF4-FFF2-40B4-BE49-F238E27FC236}">
                    <a16:creationId xmlns:a16="http://schemas.microsoft.com/office/drawing/2014/main" id="{E683B098-E001-440C-9F64-442A7B8019F7}"/>
                  </a:ext>
                </a:extLst>
              </p:cNvPr>
              <p:cNvSpPr>
                <a:spLocks noChangeShapeType="1"/>
              </p:cNvSpPr>
              <p:nvPr/>
            </p:nvSpPr>
            <p:spPr bwMode="auto">
              <a:xfrm>
                <a:off x="4353" y="3071"/>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91" name="Text Box 210">
                <a:extLst>
                  <a:ext uri="{FF2B5EF4-FFF2-40B4-BE49-F238E27FC236}">
                    <a16:creationId xmlns:a16="http://schemas.microsoft.com/office/drawing/2014/main" id="{35E727C1-81B6-434E-91EB-F6D0722D31F6}"/>
                  </a:ext>
                </a:extLst>
              </p:cNvPr>
              <p:cNvSpPr txBox="1">
                <a:spLocks noChangeArrowheads="1"/>
              </p:cNvSpPr>
              <p:nvPr/>
            </p:nvSpPr>
            <p:spPr bwMode="auto">
              <a:xfrm>
                <a:off x="4295" y="2922"/>
                <a:ext cx="62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Arial" charset="0"/>
                  </a:rPr>
                  <a:t>duplicate ACK</a:t>
                </a:r>
              </a:p>
            </p:txBody>
          </p:sp>
        </p:grpSp>
        <p:sp>
          <p:nvSpPr>
            <p:cNvPr id="183" name="Freeform 211">
              <a:extLst>
                <a:ext uri="{FF2B5EF4-FFF2-40B4-BE49-F238E27FC236}">
                  <a16:creationId xmlns:a16="http://schemas.microsoft.com/office/drawing/2014/main" id="{17E4EBD1-962C-4F30-8154-4DE9D808EA55}"/>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 name="Line 234">
              <a:extLst>
                <a:ext uri="{FF2B5EF4-FFF2-40B4-BE49-F238E27FC236}">
                  <a16:creationId xmlns:a16="http://schemas.microsoft.com/office/drawing/2014/main" id="{F929BA5C-AB1D-44A6-894D-0875152E7934}"/>
                </a:ext>
              </a:extLst>
            </p:cNvPr>
            <p:cNvSpPr>
              <a:spLocks noChangeShapeType="1"/>
            </p:cNvSpPr>
            <p:nvPr/>
          </p:nvSpPr>
          <p:spPr bwMode="auto">
            <a:xfrm>
              <a:off x="536" y="1649"/>
              <a:ext cx="752" cy="1"/>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nvGrpSpPr>
            <p:cNvPr id="185" name="Group 235">
              <a:extLst>
                <a:ext uri="{FF2B5EF4-FFF2-40B4-BE49-F238E27FC236}">
                  <a16:creationId xmlns:a16="http://schemas.microsoft.com/office/drawing/2014/main" id="{7CD47B71-4598-4EF8-8FBD-2A6EEF66E049}"/>
                </a:ext>
              </a:extLst>
            </p:cNvPr>
            <p:cNvGrpSpPr>
              <a:grpSpLocks/>
            </p:cNvGrpSpPr>
            <p:nvPr/>
          </p:nvGrpSpPr>
          <p:grpSpPr bwMode="auto">
            <a:xfrm>
              <a:off x="517" y="1255"/>
              <a:ext cx="741" cy="416"/>
              <a:chOff x="539" y="936"/>
              <a:chExt cx="741" cy="416"/>
            </a:xfrm>
          </p:grpSpPr>
          <p:sp>
            <p:nvSpPr>
              <p:cNvPr id="186" name="Text Box 236">
                <a:extLst>
                  <a:ext uri="{FF2B5EF4-FFF2-40B4-BE49-F238E27FC236}">
                    <a16:creationId xmlns:a16="http://schemas.microsoft.com/office/drawing/2014/main" id="{1BD80071-ECA2-459A-A0BD-FF8E17055967}"/>
                  </a:ext>
                </a:extLst>
              </p:cNvPr>
              <p:cNvSpPr txBox="1">
                <a:spLocks noChangeArrowheads="1"/>
              </p:cNvSpPr>
              <p:nvPr/>
            </p:nvSpPr>
            <p:spPr bwMode="auto">
              <a:xfrm>
                <a:off x="816" y="936"/>
                <a:ext cx="171"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eaLnBrk="1" hangingPunct="1">
                  <a:defRPr/>
                </a:pPr>
                <a:r>
                  <a:rPr lang="en-US" sz="1000">
                    <a:latin typeface="Symbol" charset="0"/>
                  </a:rPr>
                  <a:t>L</a:t>
                </a:r>
              </a:p>
            </p:txBody>
          </p:sp>
          <p:sp>
            <p:nvSpPr>
              <p:cNvPr id="187" name="Text Box 237">
                <a:extLst>
                  <a:ext uri="{FF2B5EF4-FFF2-40B4-BE49-F238E27FC236}">
                    <a16:creationId xmlns:a16="http://schemas.microsoft.com/office/drawing/2014/main" id="{CA8A9E94-28D7-4E9F-8A3E-E9ED1F2EB2F5}"/>
                  </a:ext>
                </a:extLst>
              </p:cNvPr>
              <p:cNvSpPr txBox="1">
                <a:spLocks noChangeArrowheads="1"/>
              </p:cNvSpPr>
              <p:nvPr/>
            </p:nvSpPr>
            <p:spPr bwMode="auto">
              <a:xfrm>
                <a:off x="539" y="1063"/>
                <a:ext cx="741" cy="2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eaLnBrk="1" hangingPunct="1">
                  <a:lnSpc>
                    <a:spcPct val="80000"/>
                  </a:lnSpc>
                  <a:defRPr/>
                </a:pPr>
                <a:r>
                  <a:rPr lang="en-US" sz="1000" dirty="0" err="1">
                    <a:latin typeface="Arial" charset="0"/>
                  </a:rPr>
                  <a:t>cwnd</a:t>
                </a:r>
                <a:r>
                  <a:rPr lang="en-US" sz="1000" dirty="0">
                    <a:latin typeface="Arial" charset="0"/>
                  </a:rPr>
                  <a:t> = 1 MSS</a:t>
                </a:r>
              </a:p>
              <a:p>
                <a:pPr eaLnBrk="1" hangingPunct="1">
                  <a:lnSpc>
                    <a:spcPct val="80000"/>
                  </a:lnSpc>
                  <a:defRPr/>
                </a:pPr>
                <a:r>
                  <a:rPr lang="en-US" sz="1000" dirty="0" err="1">
                    <a:latin typeface="Arial" charset="0"/>
                  </a:rPr>
                  <a:t>ssthresh</a:t>
                </a:r>
                <a:r>
                  <a:rPr lang="en-US" sz="1000" dirty="0">
                    <a:latin typeface="Arial" charset="0"/>
                  </a:rPr>
                  <a:t> = 64 KB</a:t>
                </a:r>
              </a:p>
              <a:p>
                <a:pPr eaLnBrk="1" hangingPunct="1">
                  <a:lnSpc>
                    <a:spcPct val="80000"/>
                  </a:lnSpc>
                  <a:defRPr/>
                </a:pPr>
                <a:r>
                  <a:rPr lang="en-US" sz="1000" dirty="0" err="1">
                    <a:latin typeface="Arial" charset="0"/>
                  </a:rPr>
                  <a:t>dupACKcount</a:t>
                </a:r>
                <a:r>
                  <a:rPr lang="en-US" sz="1000" dirty="0">
                    <a:latin typeface="Arial" charset="0"/>
                  </a:rPr>
                  <a:t> = 0</a:t>
                </a:r>
                <a:endParaRPr lang="en-US" sz="1200" dirty="0">
                  <a:latin typeface="Arial" charset="0"/>
                </a:endParaRPr>
              </a:p>
            </p:txBody>
          </p:sp>
          <p:sp>
            <p:nvSpPr>
              <p:cNvPr id="188" name="Line 238">
                <a:extLst>
                  <a:ext uri="{FF2B5EF4-FFF2-40B4-BE49-F238E27FC236}">
                    <a16:creationId xmlns:a16="http://schemas.microsoft.com/office/drawing/2014/main" id="{BDB55A06-909B-4E22-A8BB-8ECA6F3EB4A5}"/>
                  </a:ext>
                </a:extLst>
              </p:cNvPr>
              <p:cNvSpPr>
                <a:spLocks noChangeShapeType="1"/>
              </p:cNvSpPr>
              <p:nvPr/>
            </p:nvSpPr>
            <p:spPr bwMode="auto">
              <a:xfrm>
                <a:off x="641" y="1078"/>
                <a:ext cx="535"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grpSp>
        <p:nvGrpSpPr>
          <p:cNvPr id="200" name="Group 255">
            <a:extLst>
              <a:ext uri="{FF2B5EF4-FFF2-40B4-BE49-F238E27FC236}">
                <a16:creationId xmlns:a16="http://schemas.microsoft.com/office/drawing/2014/main" id="{9884B678-030D-4978-B954-B1889A635F46}"/>
              </a:ext>
            </a:extLst>
          </p:cNvPr>
          <p:cNvGrpSpPr>
            <a:grpSpLocks/>
          </p:cNvGrpSpPr>
          <p:nvPr/>
        </p:nvGrpSpPr>
        <p:grpSpPr bwMode="auto">
          <a:xfrm>
            <a:off x="799547" y="3018281"/>
            <a:ext cx="3167062" cy="1312862"/>
            <a:chOff x="509" y="1766"/>
            <a:chExt cx="1995" cy="827"/>
          </a:xfrm>
        </p:grpSpPr>
        <p:pic>
          <p:nvPicPr>
            <p:cNvPr id="201" name="Picture 252">
              <a:extLst>
                <a:ext uri="{FF2B5EF4-FFF2-40B4-BE49-F238E27FC236}">
                  <a16:creationId xmlns:a16="http://schemas.microsoft.com/office/drawing/2014/main" id="{42CFD96C-65ED-4029-9ED1-AECA174A7A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509" y="1992"/>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2" name="Picture 253">
              <a:extLst>
                <a:ext uri="{FF2B5EF4-FFF2-40B4-BE49-F238E27FC236}">
                  <a16:creationId xmlns:a16="http://schemas.microsoft.com/office/drawing/2014/main" id="{7244E832-60D9-49B6-90B4-60A0A14AD5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242" y="1766"/>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3" name="Picture 254">
              <a:extLst>
                <a:ext uri="{FF2B5EF4-FFF2-40B4-BE49-F238E27FC236}">
                  <a16:creationId xmlns:a16="http://schemas.microsoft.com/office/drawing/2014/main" id="{31A14E2F-6E23-4FF3-9C83-B4B3012EB3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164" y="2348"/>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204" name="Group 297">
            <a:extLst>
              <a:ext uri="{FF2B5EF4-FFF2-40B4-BE49-F238E27FC236}">
                <a16:creationId xmlns:a16="http://schemas.microsoft.com/office/drawing/2014/main" id="{06AC07B9-8A1A-43D3-9E35-EF25E305D93A}"/>
              </a:ext>
            </a:extLst>
          </p:cNvPr>
          <p:cNvGrpSpPr>
            <a:grpSpLocks/>
          </p:cNvGrpSpPr>
          <p:nvPr/>
        </p:nvGrpSpPr>
        <p:grpSpPr bwMode="auto">
          <a:xfrm>
            <a:off x="3496709" y="1245043"/>
            <a:ext cx="4410091" cy="3243263"/>
            <a:chOff x="2205" y="641"/>
            <a:chExt cx="2778" cy="2043"/>
          </a:xfrm>
        </p:grpSpPr>
        <p:grpSp>
          <p:nvGrpSpPr>
            <p:cNvPr id="205" name="Group 282">
              <a:extLst>
                <a:ext uri="{FF2B5EF4-FFF2-40B4-BE49-F238E27FC236}">
                  <a16:creationId xmlns:a16="http://schemas.microsoft.com/office/drawing/2014/main" id="{280CFB2F-0843-452D-99FE-BF04F733FF35}"/>
                </a:ext>
              </a:extLst>
            </p:cNvPr>
            <p:cNvGrpSpPr>
              <a:grpSpLocks/>
            </p:cNvGrpSpPr>
            <p:nvPr/>
          </p:nvGrpSpPr>
          <p:grpSpPr bwMode="auto">
            <a:xfrm>
              <a:off x="3381" y="2381"/>
              <a:ext cx="583" cy="303"/>
              <a:chOff x="1166" y="3601"/>
              <a:chExt cx="583" cy="303"/>
            </a:xfrm>
          </p:grpSpPr>
          <p:grpSp>
            <p:nvGrpSpPr>
              <p:cNvPr id="216" name="Group 283">
                <a:extLst>
                  <a:ext uri="{FF2B5EF4-FFF2-40B4-BE49-F238E27FC236}">
                    <a16:creationId xmlns:a16="http://schemas.microsoft.com/office/drawing/2014/main" id="{7B19A18A-B2BE-4BD8-9F15-4C4BE8A4A043}"/>
                  </a:ext>
                </a:extLst>
              </p:cNvPr>
              <p:cNvGrpSpPr>
                <a:grpSpLocks/>
              </p:cNvGrpSpPr>
              <p:nvPr/>
            </p:nvGrpSpPr>
            <p:grpSpPr bwMode="auto">
              <a:xfrm>
                <a:off x="1166" y="3601"/>
                <a:ext cx="583" cy="303"/>
                <a:chOff x="990" y="4570"/>
                <a:chExt cx="597" cy="380"/>
              </a:xfrm>
            </p:grpSpPr>
            <p:pic>
              <p:nvPicPr>
                <p:cNvPr id="218" name="Picture 284">
                  <a:extLst>
                    <a:ext uri="{FF2B5EF4-FFF2-40B4-BE49-F238E27FC236}">
                      <a16:creationId xmlns:a16="http://schemas.microsoft.com/office/drawing/2014/main" id="{1CE788D4-89FB-4528-8686-ACF98D723BF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9" name="Rectangle 285">
                  <a:extLst>
                    <a:ext uri="{FF2B5EF4-FFF2-40B4-BE49-F238E27FC236}">
                      <a16:creationId xmlns:a16="http://schemas.microsoft.com/office/drawing/2014/main" id="{F2F7B3DD-4E40-4E52-8310-C2F75415D6E7}"/>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17" name="Text Box 286">
                <a:extLst>
                  <a:ext uri="{FF2B5EF4-FFF2-40B4-BE49-F238E27FC236}">
                    <a16:creationId xmlns:a16="http://schemas.microsoft.com/office/drawing/2014/main" id="{152F47C2-F3A1-4013-89E4-E3087EA4E44A}"/>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200" b="1" i="1">
                    <a:solidFill>
                      <a:schemeClr val="accent2"/>
                    </a:solidFill>
                    <a:latin typeface="Comic Sans MS" charset="0"/>
                  </a:rPr>
                  <a:t>New</a:t>
                </a:r>
              </a:p>
              <a:p>
                <a:pPr>
                  <a:lnSpc>
                    <a:spcPct val="80000"/>
                  </a:lnSpc>
                  <a:defRPr/>
                </a:pPr>
                <a:r>
                  <a:rPr lang="en-US" sz="1200" b="1" i="1">
                    <a:solidFill>
                      <a:schemeClr val="accent2"/>
                    </a:solidFill>
                    <a:latin typeface="Comic Sans MS" charset="0"/>
                  </a:rPr>
                  <a:t>ACK!</a:t>
                </a:r>
              </a:p>
            </p:txBody>
          </p:sp>
        </p:grpSp>
        <p:grpSp>
          <p:nvGrpSpPr>
            <p:cNvPr id="206" name="Group 287">
              <a:extLst>
                <a:ext uri="{FF2B5EF4-FFF2-40B4-BE49-F238E27FC236}">
                  <a16:creationId xmlns:a16="http://schemas.microsoft.com/office/drawing/2014/main" id="{FB186B3F-E6BF-4380-9CA8-8DCBBEBD7A21}"/>
                </a:ext>
              </a:extLst>
            </p:cNvPr>
            <p:cNvGrpSpPr>
              <a:grpSpLocks/>
            </p:cNvGrpSpPr>
            <p:nvPr/>
          </p:nvGrpSpPr>
          <p:grpSpPr bwMode="auto">
            <a:xfrm>
              <a:off x="2205" y="700"/>
              <a:ext cx="583" cy="303"/>
              <a:chOff x="1166" y="3601"/>
              <a:chExt cx="583" cy="303"/>
            </a:xfrm>
          </p:grpSpPr>
          <p:grpSp>
            <p:nvGrpSpPr>
              <p:cNvPr id="212" name="Group 288">
                <a:extLst>
                  <a:ext uri="{FF2B5EF4-FFF2-40B4-BE49-F238E27FC236}">
                    <a16:creationId xmlns:a16="http://schemas.microsoft.com/office/drawing/2014/main" id="{70FA9920-7B21-4D39-A35F-0ED86F0F3DC4}"/>
                  </a:ext>
                </a:extLst>
              </p:cNvPr>
              <p:cNvGrpSpPr>
                <a:grpSpLocks/>
              </p:cNvGrpSpPr>
              <p:nvPr/>
            </p:nvGrpSpPr>
            <p:grpSpPr bwMode="auto">
              <a:xfrm>
                <a:off x="1166" y="3601"/>
                <a:ext cx="583" cy="303"/>
                <a:chOff x="990" y="4570"/>
                <a:chExt cx="597" cy="380"/>
              </a:xfrm>
            </p:grpSpPr>
            <p:pic>
              <p:nvPicPr>
                <p:cNvPr id="214" name="Picture 289">
                  <a:extLst>
                    <a:ext uri="{FF2B5EF4-FFF2-40B4-BE49-F238E27FC236}">
                      <a16:creationId xmlns:a16="http://schemas.microsoft.com/office/drawing/2014/main" id="{46F83449-3AEF-426B-9EDE-5F95FD65225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5" name="Rectangle 290">
                  <a:extLst>
                    <a:ext uri="{FF2B5EF4-FFF2-40B4-BE49-F238E27FC236}">
                      <a16:creationId xmlns:a16="http://schemas.microsoft.com/office/drawing/2014/main" id="{85DA8489-DE03-4ACA-AC5A-FF486D26E6DE}"/>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13" name="Text Box 291">
                <a:extLst>
                  <a:ext uri="{FF2B5EF4-FFF2-40B4-BE49-F238E27FC236}">
                    <a16:creationId xmlns:a16="http://schemas.microsoft.com/office/drawing/2014/main" id="{527927DB-CEE6-48F1-A4AA-162E76561F9E}"/>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200" b="1" i="1">
                    <a:solidFill>
                      <a:schemeClr val="accent2"/>
                    </a:solidFill>
                    <a:latin typeface="Comic Sans MS" charset="0"/>
                  </a:rPr>
                  <a:t>New</a:t>
                </a:r>
              </a:p>
              <a:p>
                <a:pPr>
                  <a:lnSpc>
                    <a:spcPct val="80000"/>
                  </a:lnSpc>
                  <a:defRPr/>
                </a:pPr>
                <a:r>
                  <a:rPr lang="en-US" sz="1200" b="1" i="1">
                    <a:solidFill>
                      <a:schemeClr val="accent2"/>
                    </a:solidFill>
                    <a:latin typeface="Comic Sans MS" charset="0"/>
                  </a:rPr>
                  <a:t>ACK!</a:t>
                </a:r>
              </a:p>
            </p:txBody>
          </p:sp>
        </p:grpSp>
        <p:grpSp>
          <p:nvGrpSpPr>
            <p:cNvPr id="207" name="Group 292">
              <a:extLst>
                <a:ext uri="{FF2B5EF4-FFF2-40B4-BE49-F238E27FC236}">
                  <a16:creationId xmlns:a16="http://schemas.microsoft.com/office/drawing/2014/main" id="{8ACE3303-2CB3-47E8-8E27-62DBA3A096F7}"/>
                </a:ext>
              </a:extLst>
            </p:cNvPr>
            <p:cNvGrpSpPr>
              <a:grpSpLocks/>
            </p:cNvGrpSpPr>
            <p:nvPr/>
          </p:nvGrpSpPr>
          <p:grpSpPr bwMode="auto">
            <a:xfrm>
              <a:off x="4400" y="641"/>
              <a:ext cx="583" cy="303"/>
              <a:chOff x="1214" y="3601"/>
              <a:chExt cx="583" cy="303"/>
            </a:xfrm>
          </p:grpSpPr>
          <p:grpSp>
            <p:nvGrpSpPr>
              <p:cNvPr id="208" name="Group 293">
                <a:extLst>
                  <a:ext uri="{FF2B5EF4-FFF2-40B4-BE49-F238E27FC236}">
                    <a16:creationId xmlns:a16="http://schemas.microsoft.com/office/drawing/2014/main" id="{4A95AEB9-AA9A-4876-99DB-9FD1BC2FEF0D}"/>
                  </a:ext>
                </a:extLst>
              </p:cNvPr>
              <p:cNvGrpSpPr>
                <a:grpSpLocks/>
              </p:cNvGrpSpPr>
              <p:nvPr/>
            </p:nvGrpSpPr>
            <p:grpSpPr bwMode="auto">
              <a:xfrm>
                <a:off x="1214" y="3601"/>
                <a:ext cx="583" cy="303"/>
                <a:chOff x="1038" y="4570"/>
                <a:chExt cx="597" cy="380"/>
              </a:xfrm>
            </p:grpSpPr>
            <p:pic>
              <p:nvPicPr>
                <p:cNvPr id="210" name="Picture 294">
                  <a:extLst>
                    <a:ext uri="{FF2B5EF4-FFF2-40B4-BE49-F238E27FC236}">
                      <a16:creationId xmlns:a16="http://schemas.microsoft.com/office/drawing/2014/main" id="{6335E93C-8324-47B2-AE15-2802177C4C6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8"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1" name="Rectangle 295">
                  <a:extLst>
                    <a:ext uri="{FF2B5EF4-FFF2-40B4-BE49-F238E27FC236}">
                      <a16:creationId xmlns:a16="http://schemas.microsoft.com/office/drawing/2014/main" id="{F440ADAF-61D7-4B57-8A37-75CC9A6187E3}"/>
                    </a:ext>
                  </a:extLst>
                </p:cNvPr>
                <p:cNvSpPr>
                  <a:spLocks noChangeArrowheads="1"/>
                </p:cNvSpPr>
                <p:nvPr/>
              </p:nvSpPr>
              <p:spPr bwMode="auto">
                <a:xfrm>
                  <a:off x="1180"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09" name="Text Box 296">
                <a:extLst>
                  <a:ext uri="{FF2B5EF4-FFF2-40B4-BE49-F238E27FC236}">
                    <a16:creationId xmlns:a16="http://schemas.microsoft.com/office/drawing/2014/main" id="{C69FD498-B9D3-4493-87A7-7743CEBEFDC9}"/>
                  </a:ext>
                </a:extLst>
              </p:cNvPr>
              <p:cNvSpPr txBox="1">
                <a:spLocks noChangeArrowheads="1"/>
              </p:cNvSpPr>
              <p:nvPr/>
            </p:nvSpPr>
            <p:spPr bwMode="auto">
              <a:xfrm>
                <a:off x="1372" y="3634"/>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nSpc>
                    <a:spcPct val="80000"/>
                  </a:lnSpc>
                  <a:defRPr/>
                </a:pPr>
                <a:r>
                  <a:rPr lang="en-US" sz="1200" b="1" i="1" dirty="0">
                    <a:solidFill>
                      <a:schemeClr val="accent2"/>
                    </a:solidFill>
                    <a:latin typeface="Comic Sans MS" charset="0"/>
                  </a:rPr>
                  <a:t>New</a:t>
                </a:r>
              </a:p>
              <a:p>
                <a:pPr>
                  <a:lnSpc>
                    <a:spcPct val="80000"/>
                  </a:lnSpc>
                  <a:defRPr/>
                </a:pPr>
                <a:r>
                  <a:rPr lang="en-US" sz="1200" b="1" i="1" dirty="0">
                    <a:solidFill>
                      <a:schemeClr val="accent2"/>
                    </a:solidFill>
                    <a:latin typeface="Comic Sans MS" charset="0"/>
                  </a:rPr>
                  <a:t>ACK!</a:t>
                </a:r>
              </a:p>
            </p:txBody>
          </p:sp>
        </p:grpSp>
      </p:grpSp>
      <p:sp>
        <p:nvSpPr>
          <p:cNvPr id="10" name="矩形 9">
            <a:extLst>
              <a:ext uri="{FF2B5EF4-FFF2-40B4-BE49-F238E27FC236}">
                <a16:creationId xmlns:a16="http://schemas.microsoft.com/office/drawing/2014/main" id="{671D2A71-3C8D-48FF-A9B9-C4B4F6C5BBDD}"/>
              </a:ext>
            </a:extLst>
          </p:cNvPr>
          <p:cNvSpPr/>
          <p:nvPr/>
        </p:nvSpPr>
        <p:spPr>
          <a:xfrm>
            <a:off x="323707" y="6034530"/>
            <a:ext cx="3642901" cy="387286"/>
          </a:xfrm>
          <a:prstGeom prst="rect">
            <a:avLst/>
          </a:prstGeom>
          <a:solidFill>
            <a:schemeClr val="accent1">
              <a:lumMod val="20000"/>
              <a:lumOff val="80000"/>
            </a:schemeClr>
          </a:solidFill>
          <a:ln>
            <a:solidFill>
              <a:schemeClr val="accent1"/>
            </a:solidFill>
          </a:ln>
        </p:spPr>
        <p:txBody>
          <a:bodyPr wrap="square">
            <a:spAutoFit/>
          </a:bodyPr>
          <a:lstStyle/>
          <a:p>
            <a:pPr algn="ctr">
              <a:lnSpc>
                <a:spcPts val="2300"/>
              </a:lnSpc>
            </a:pP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Reno</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算法的问题→</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New Reno</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1" name="爆炸形: 14 pt  110">
            <a:extLst>
              <a:ext uri="{FF2B5EF4-FFF2-40B4-BE49-F238E27FC236}">
                <a16:creationId xmlns:a16="http://schemas.microsoft.com/office/drawing/2014/main" id="{F6A18AE3-7B6F-4AB3-921D-7C46D362808E}"/>
              </a:ext>
            </a:extLst>
          </p:cNvPr>
          <p:cNvSpPr/>
          <p:nvPr/>
        </p:nvSpPr>
        <p:spPr>
          <a:xfrm>
            <a:off x="7477372" y="5544515"/>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3-5</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36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dissolve">
                                      <p:cBhvr>
                                        <p:cTn id="7" dur="5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wipe(left)">
                                      <p:cBhvr>
                                        <p:cTn id="12" dur="500"/>
                                        <p:tgtEl>
                                          <p:spTgt spid="1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dissolve">
                                      <p:cBhvr>
                                        <p:cTn id="17" dur="500"/>
                                        <p:tgtEl>
                                          <p:spTgt spid="1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14"/>
                                        </p:tgtEl>
                                        <p:attrNameLst>
                                          <p:attrName>style.visibility</p:attrName>
                                        </p:attrNameLst>
                                      </p:cBhvr>
                                      <p:to>
                                        <p:strVal val="visible"/>
                                      </p:to>
                                    </p:set>
                                    <p:animEffect transition="in" filter="wipe(right)">
                                      <p:cBhvr>
                                        <p:cTn id="22" dur="500"/>
                                        <p:tgtEl>
                                          <p:spTgt spid="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3"/>
                                        </p:tgtEl>
                                        <p:attrNameLst>
                                          <p:attrName>style.visibility</p:attrName>
                                        </p:attrNameLst>
                                      </p:cBhvr>
                                      <p:to>
                                        <p:strVal val="visible"/>
                                      </p:to>
                                    </p:set>
                                    <p:animEffect transition="in" filter="wipe(up)">
                                      <p:cBhvr>
                                        <p:cTn id="27" dur="500"/>
                                        <p:tgtEl>
                                          <p:spTgt spid="16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69"/>
                                        </p:tgtEl>
                                        <p:attrNameLst>
                                          <p:attrName>style.visibility</p:attrName>
                                        </p:attrNameLst>
                                      </p:cBhvr>
                                      <p:to>
                                        <p:strVal val="visible"/>
                                      </p:to>
                                    </p:set>
                                    <p:animEffect transition="in" filter="wipe(left)">
                                      <p:cBhvr>
                                        <p:cTn id="36" dur="500"/>
                                        <p:tgtEl>
                                          <p:spTgt spid="16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2"/>
                                        </p:tgtEl>
                                        <p:attrNameLst>
                                          <p:attrName>style.visibility</p:attrName>
                                        </p:attrNameLst>
                                      </p:cBhvr>
                                      <p:to>
                                        <p:strVal val="visible"/>
                                      </p:to>
                                    </p:set>
                                    <p:animEffect transition="in" filter="dissolve">
                                      <p:cBhvr>
                                        <p:cTn id="41" dur="500"/>
                                        <p:tgtEl>
                                          <p:spTgt spid="15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0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04"/>
                                        </p:tgtEl>
                                        <p:attrNameLst>
                                          <p:attrName>style.visibility</p:attrName>
                                        </p:attrNameLst>
                                      </p:cBhvr>
                                      <p:to>
                                        <p:strVal val="visible"/>
                                      </p:to>
                                    </p:set>
                                    <p:animEffect transition="in" filter="dissolve">
                                      <p:cBhvr>
                                        <p:cTn id="50" dur="500"/>
                                        <p:tgtEl>
                                          <p:spTgt spid="204"/>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circle(in)">
                                      <p:cBhvr>
                                        <p:cTn id="5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859" name="Rectangle 8"/>
              <p:cNvSpPr>
                <a:spLocks noChangeArrowheads="1"/>
              </p:cNvSpPr>
              <p:nvPr/>
            </p:nvSpPr>
            <p:spPr bwMode="auto">
              <a:xfrm>
                <a:off x="350224" y="922732"/>
                <a:ext cx="8279652" cy="3555564"/>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拥塞控制：吞吐率问题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12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连接的吞吐率与拥塞窗口大小、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相关，假设：</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忽略慢启动阶段</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连接上一直有数据要发送</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为丢失事件发生时拥塞窗口的大小，</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RTT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不变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buClr>
                    <a:schemeClr val="accent2"/>
                  </a:buClr>
                  <a:buSzPct val="75000"/>
                  <a:buFont typeface="Wingdings" panose="05000000000000000000" pitchFamily="2" charset="2"/>
                  <a:buChar char="ü"/>
                </a:pPr>
                <a14:m>
                  <m:oMath xmlns:m="http://schemas.openxmlformats.org/officeDocument/2006/math">
                    <m:r>
                      <a:rPr lang="zh-CN" altLang="en-US" sz="2000" i="1" dirty="0">
                        <a:latin typeface="Cambria Math" panose="02040503050406030204" pitchFamily="18" charset="0"/>
                        <a:ea typeface="宋体" panose="02010600030101010101" pitchFamily="2" charset="-122"/>
                        <a:cs typeface="Times New Roman" panose="02020603050405020304" pitchFamily="18" charset="0"/>
                      </a:rPr>
                      <m:t>一个</m:t>
                    </m:r>
                    <m:r>
                      <m:rPr>
                        <m:nor/>
                      </m:rPr>
                      <a:rPr lang="zh-CN" altLang="en-US" sz="2000" dirty="0">
                        <a:latin typeface="Times New Roman" panose="02020603050405020304" pitchFamily="18" charset="0"/>
                        <a:ea typeface="宋体" panose="02010600030101010101" pitchFamily="2" charset="-122"/>
                        <a:cs typeface="Times New Roman" panose="02020603050405020304" pitchFamily="18" charset="0"/>
                      </a:rPr>
                      <m:t>连接的平均吞吐率</m:t>
                    </m:r>
                  </m:oMath>
                </a14:m>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037" lvl="2">
                  <a:lnSpc>
                    <a:spcPct val="150000"/>
                  </a:lnSpc>
                  <a:buClr>
                    <a:schemeClr val="accent2"/>
                  </a:buClr>
                  <a:buSzPct val="75000"/>
                </a:pPr>
                <a14:m>
                  <m:oMathPara xmlns:m="http://schemas.openxmlformats.org/officeDocument/2006/math">
                    <m:oMathParaPr>
                      <m:jc m:val="centerGroup"/>
                    </m:oMathParaPr>
                    <m:oMath xmlns:m="http://schemas.openxmlformats.org/officeDocument/2006/math">
                      <m:r>
                        <a:rPr lang="zh-CN" altLang="en-US" sz="2000" i="1" dirty="0" smtClean="0">
                          <a:solidFill>
                            <a:srgbClr val="2A09B7"/>
                          </a:solidFill>
                          <a:latin typeface="Cambria Math" panose="02040503050406030204" pitchFamily="18" charset="0"/>
                          <a:ea typeface="宋体" panose="02010600030101010101" pitchFamily="2" charset="-122"/>
                          <a:cs typeface="Times New Roman" panose="02020603050405020304" pitchFamily="18" charset="0"/>
                        </a:rPr>
                        <m:t>一个</m:t>
                      </m:r>
                      <m:r>
                        <m:rPr>
                          <m:nor/>
                        </m:rPr>
                        <a:rPr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m:t>连接的平均吞吐</m:t>
                      </m:r>
                      <m:r>
                        <a:rPr lang="zh-CN" altLang="en-US"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量</m:t>
                      </m:r>
                      <m: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i="1" dirty="0" smtClean="0">
                              <a:solidFill>
                                <a:srgbClr val="2A09B7"/>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dirty="0" smtClean="0">
                              <a:solidFill>
                                <a:srgbClr val="2A09B7"/>
                              </a:solidFill>
                              <a:latin typeface="Cambria Math" panose="02040503050406030204" pitchFamily="18" charset="0"/>
                              <a:ea typeface="宋体" panose="02010600030101010101" pitchFamily="2" charset="-122"/>
                              <a:cs typeface="Times New Roman" panose="02020603050405020304" pitchFamily="18" charset="0"/>
                            </a:rPr>
                            <m:t>0</m:t>
                          </m:r>
                          <m: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dirty="0" smtClean="0">
                              <a:solidFill>
                                <a:srgbClr val="2A09B7"/>
                              </a:solidFill>
                              <a:latin typeface="Cambria Math" panose="02040503050406030204" pitchFamily="18" charset="0"/>
                              <a:ea typeface="宋体" panose="02010600030101010101" pitchFamily="2" charset="-122"/>
                              <a:cs typeface="Times New Roman" panose="02020603050405020304" pitchFamily="18" charset="0"/>
                            </a:rPr>
                            <m:t>75</m:t>
                          </m:r>
                          <m:r>
                            <a:rPr lang="en-US" altLang="zh-CN" sz="2000" b="0" i="1" dirty="0" smtClean="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W</m:t>
                          </m:r>
                        </m:num>
                        <m:den>
                          <m:r>
                            <m:rPr>
                              <m:sty m:val="p"/>
                            </m:rP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RTT</m:t>
                          </m:r>
                        </m:den>
                      </m:f>
                    </m:oMath>
                  </m:oMathPara>
                </a14:m>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808037" lvl="2">
                  <a:lnSpc>
                    <a:spcPts val="3200"/>
                  </a:lnSpc>
                  <a:buClr>
                    <a:schemeClr val="accent2"/>
                  </a:buClr>
                  <a:buSzPct val="75000"/>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21859" name="Rectangle 8"/>
              <p:cNvSpPr>
                <a:spLocks noRot="1" noChangeAspect="1" noMove="1" noResize="1" noEditPoints="1" noAdjustHandles="1" noChangeArrowheads="1" noChangeShapeType="1" noTextEdit="1"/>
              </p:cNvSpPr>
              <p:nvPr/>
            </p:nvSpPr>
            <p:spPr bwMode="auto">
              <a:xfrm>
                <a:off x="350224" y="922732"/>
                <a:ext cx="8279652" cy="3555564"/>
              </a:xfrm>
              <a:prstGeom prst="rect">
                <a:avLst/>
              </a:prstGeom>
              <a:blipFill>
                <a:blip r:embed="rId5"/>
                <a:stretch>
                  <a:fillRect t="-2740"/>
                </a:stretch>
              </a:blipFill>
              <a:ln w="9525">
                <a:noFill/>
                <a:miter lim="800000"/>
                <a:headEnd/>
                <a:tailEnd/>
              </a:ln>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 name="Group 35">
            <a:extLst>
              <a:ext uri="{FF2B5EF4-FFF2-40B4-BE49-F238E27FC236}">
                <a16:creationId xmlns:a16="http://schemas.microsoft.com/office/drawing/2014/main" id="{B601931B-841C-4F5E-AD02-494B728076D8}"/>
              </a:ext>
            </a:extLst>
          </p:cNvPr>
          <p:cNvGrpSpPr>
            <a:grpSpLocks/>
          </p:cNvGrpSpPr>
          <p:nvPr/>
        </p:nvGrpSpPr>
        <p:grpSpPr bwMode="auto">
          <a:xfrm>
            <a:off x="1114800" y="4628085"/>
            <a:ext cx="4383957" cy="1714416"/>
            <a:chOff x="279" y="2432"/>
            <a:chExt cx="3070" cy="1259"/>
          </a:xfrm>
        </p:grpSpPr>
        <p:sp>
          <p:nvSpPr>
            <p:cNvPr id="6" name="Freeform 26">
              <a:extLst>
                <a:ext uri="{FF2B5EF4-FFF2-40B4-BE49-F238E27FC236}">
                  <a16:creationId xmlns:a16="http://schemas.microsoft.com/office/drawing/2014/main" id="{2E03D55A-D966-42C6-98F3-73F3E3AA2CC1}"/>
                </a:ext>
              </a:extLst>
            </p:cNvPr>
            <p:cNvSpPr>
              <a:spLocks/>
            </p:cNvSpPr>
            <p:nvPr/>
          </p:nvSpPr>
          <p:spPr bwMode="auto">
            <a:xfrm>
              <a:off x="678" y="2556"/>
              <a:ext cx="2481"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28">
              <a:extLst>
                <a:ext uri="{FF2B5EF4-FFF2-40B4-BE49-F238E27FC236}">
                  <a16:creationId xmlns:a16="http://schemas.microsoft.com/office/drawing/2014/main" id="{F17C888C-D56E-451B-BA49-579DB6EE6B53}"/>
                </a:ext>
              </a:extLst>
            </p:cNvPr>
            <p:cNvSpPr>
              <a:spLocks noChangeShapeType="1"/>
            </p:cNvSpPr>
            <p:nvPr/>
          </p:nvSpPr>
          <p:spPr bwMode="auto">
            <a:xfrm>
              <a:off x="675" y="3685"/>
              <a:ext cx="267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8" name="Line 29">
              <a:extLst>
                <a:ext uri="{FF2B5EF4-FFF2-40B4-BE49-F238E27FC236}">
                  <a16:creationId xmlns:a16="http://schemas.microsoft.com/office/drawing/2014/main" id="{E2470795-8567-45AA-ADA9-6E14452B2260}"/>
                </a:ext>
              </a:extLst>
            </p:cNvPr>
            <p:cNvSpPr>
              <a:spLocks noChangeShapeType="1"/>
            </p:cNvSpPr>
            <p:nvPr/>
          </p:nvSpPr>
          <p:spPr bwMode="auto">
            <a:xfrm>
              <a:off x="682" y="2432"/>
              <a:ext cx="0" cy="1259"/>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9" name="Line 31">
              <a:extLst>
                <a:ext uri="{FF2B5EF4-FFF2-40B4-BE49-F238E27FC236}">
                  <a16:creationId xmlns:a16="http://schemas.microsoft.com/office/drawing/2014/main" id="{CF5E6AF0-12C8-469A-962F-38CCB9E9E5D1}"/>
                </a:ext>
              </a:extLst>
            </p:cNvPr>
            <p:cNvSpPr>
              <a:spLocks noChangeShapeType="1"/>
            </p:cNvSpPr>
            <p:nvPr/>
          </p:nvSpPr>
          <p:spPr bwMode="auto">
            <a:xfrm>
              <a:off x="606" y="2571"/>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0" name="Line 32">
              <a:extLst>
                <a:ext uri="{FF2B5EF4-FFF2-40B4-BE49-F238E27FC236}">
                  <a16:creationId xmlns:a16="http://schemas.microsoft.com/office/drawing/2014/main" id="{273D6217-C16D-415E-8831-50C589C77F43}"/>
                </a:ext>
              </a:extLst>
            </p:cNvPr>
            <p:cNvSpPr>
              <a:spLocks noChangeShapeType="1"/>
            </p:cNvSpPr>
            <p:nvPr/>
          </p:nvSpPr>
          <p:spPr bwMode="auto">
            <a:xfrm>
              <a:off x="606" y="3117"/>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sp>
          <p:nvSpPr>
            <p:cNvPr id="11" name="Text Box 33">
              <a:extLst>
                <a:ext uri="{FF2B5EF4-FFF2-40B4-BE49-F238E27FC236}">
                  <a16:creationId xmlns:a16="http://schemas.microsoft.com/office/drawing/2014/main" id="{E85908B9-897D-4A83-9196-4B516A9FA106}"/>
                </a:ext>
              </a:extLst>
            </p:cNvPr>
            <p:cNvSpPr txBox="1">
              <a:spLocks noChangeArrowheads="1"/>
            </p:cNvSpPr>
            <p:nvPr/>
          </p:nvSpPr>
          <p:spPr bwMode="auto">
            <a:xfrm>
              <a:off x="380" y="2453"/>
              <a:ext cx="265" cy="2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dirty="0">
                  <a:latin typeface="Times New Roman" panose="02020603050405020304" pitchFamily="18" charset="0"/>
                  <a:cs typeface="Times New Roman" panose="02020603050405020304" pitchFamily="18" charset="0"/>
                </a:rPr>
                <a:t>W</a:t>
              </a:r>
            </a:p>
          </p:txBody>
        </p:sp>
        <p:sp>
          <p:nvSpPr>
            <p:cNvPr id="12" name="Text Box 34">
              <a:extLst>
                <a:ext uri="{FF2B5EF4-FFF2-40B4-BE49-F238E27FC236}">
                  <a16:creationId xmlns:a16="http://schemas.microsoft.com/office/drawing/2014/main" id="{6A1BC4D1-87C9-4D9C-95BD-55EF6E1DB1A6}"/>
                </a:ext>
              </a:extLst>
            </p:cNvPr>
            <p:cNvSpPr txBox="1">
              <a:spLocks noChangeArrowheads="1"/>
            </p:cNvSpPr>
            <p:nvPr/>
          </p:nvSpPr>
          <p:spPr bwMode="auto">
            <a:xfrm>
              <a:off x="279" y="3008"/>
              <a:ext cx="377" cy="2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latin typeface="Times New Roman" panose="02020603050405020304" pitchFamily="18" charset="0"/>
                  <a:cs typeface="Times New Roman" panose="02020603050405020304" pitchFamily="18" charset="0"/>
                </a:rPr>
                <a:t>W/2</a:t>
              </a:r>
            </a:p>
          </p:txBody>
        </p:sp>
      </p:grpSp>
    </p:spTree>
    <p:extLst>
      <p:ext uri="{BB962C8B-B14F-4D97-AF65-F5344CB8AC3E}">
        <p14:creationId xmlns:p14="http://schemas.microsoft.com/office/powerpoint/2010/main" val="41573418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859" name="Rectangle 8"/>
              <p:cNvSpPr>
                <a:spLocks noChangeArrowheads="1"/>
              </p:cNvSpPr>
              <p:nvPr/>
            </p:nvSpPr>
            <p:spPr bwMode="auto">
              <a:xfrm>
                <a:off x="350224" y="964765"/>
                <a:ext cx="8279652" cy="4631907"/>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拥塞控制：吞吐率问题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12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长肥管道</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例如：报文段长度为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1500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字节，</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RTT</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毫秒</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，为了获得</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10Gbps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的吞吐率，要求</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平均窗口</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长度</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83333</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报文段</a:t>
                </a:r>
                <a:endPar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假设丢包率为</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08037" lvl="2">
                  <a:lnSpc>
                    <a:spcPct val="150000"/>
                  </a:lnSpc>
                  <a:spcBef>
                    <a:spcPts val="600"/>
                  </a:spcBef>
                  <a:buClr>
                    <a:schemeClr val="accent2"/>
                  </a:buClr>
                  <a:buSzPct val="75000"/>
                </a:pPr>
                <a:r>
                  <a:rPr lang="zh-CN" altLang="en-US" sz="2000" dirty="0">
                    <a:solidFill>
                      <a:srgbClr val="2A09B7"/>
                    </a:solidFill>
                    <a:ea typeface="宋体" panose="02010600030101010101" pitchFamily="2" charset="-122"/>
                    <a:cs typeface="Times New Roman" panose="02020603050405020304" pitchFamily="18" charset="0"/>
                  </a:rPr>
                  <a:t>                 </a:t>
                </a:r>
                <a14:m>
                  <m:oMath xmlns:m="http://schemas.openxmlformats.org/officeDocument/2006/math">
                    <m:r>
                      <a:rPr lang="zh-CN" altLang="en-US"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一个</m:t>
                    </m:r>
                    <m:r>
                      <m:rPr>
                        <m:nor/>
                      </m:rPr>
                      <a:rPr lang="zh-CN" altLang="en-US" sz="2000" dirty="0">
                        <a:solidFill>
                          <a:srgbClr val="2A09B7"/>
                        </a:solidFill>
                        <a:latin typeface="Times New Roman" panose="02020603050405020304" pitchFamily="18" charset="0"/>
                        <a:ea typeface="宋体" panose="02010600030101010101" pitchFamily="2" charset="-122"/>
                        <a:cs typeface="Times New Roman" panose="02020603050405020304" pitchFamily="18" charset="0"/>
                      </a:rPr>
                      <m:t>连接的平均吞吐</m:t>
                    </m:r>
                    <m:r>
                      <a:rPr lang="zh-CN" altLang="en-US"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量</m:t>
                    </m:r>
                    <m:r>
                      <a:rPr lang="en-US" altLang="zh-CN" sz="2000" i="1" dirty="0" smtClean="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1.22</m:t>
                        </m:r>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𝑀𝑆𝑆</m:t>
                        </m:r>
                      </m:num>
                      <m:den>
                        <m:r>
                          <a:rPr lang="en-US" altLang="zh-CN" sz="2000" i="1" dirty="0">
                            <a:solidFill>
                              <a:srgbClr val="2A09B7"/>
                            </a:solidFill>
                            <a:latin typeface="Cambria Math" panose="02040503050406030204" pitchFamily="18" charset="0"/>
                            <a:ea typeface="宋体" panose="02010600030101010101" pitchFamily="2" charset="-122"/>
                            <a:cs typeface="Times New Roman" panose="02020603050405020304" pitchFamily="18" charset="0"/>
                          </a:rPr>
                          <m:t>𝑅𝑇𝑇</m:t>
                        </m:r>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𝐿</m:t>
                            </m:r>
                          </m:e>
                        </m:rad>
                      </m:den>
                    </m:f>
                  </m:oMath>
                </a14:m>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marL="1073150" lvl="2" indent="-265113">
                  <a:lnSpc>
                    <a:spcPts val="32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为了获得</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10Gbps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的吞吐量，则</a:t>
                </a:r>
                <a:r>
                  <a:rPr lang="en-US" altLang="zh-CN" sz="2000" dirty="0">
                    <a:solidFill>
                      <a:srgbClr val="2A09B7"/>
                    </a:solidFill>
                    <a:ea typeface="Cambria Math" panose="02040503050406030204" pitchFamily="18" charset="0"/>
                    <a:cs typeface="Times New Roman" panose="02020603050405020304" pitchFamily="18" charset="0"/>
                  </a:rPr>
                  <a:t> </a:t>
                </a:r>
                <a14:m>
                  <m:oMath xmlns:m="http://schemas.openxmlformats.org/officeDocument/2006/math">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000" i="1" dirty="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000" b="0" i="1" dirty="0" smtClean="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dirty="0" smtClean="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000" b="0" i="1" dirty="0" smtClean="0">
                            <a:solidFill>
                              <a:srgbClr val="2A09B7"/>
                            </a:solidFill>
                            <a:latin typeface="Cambria Math" panose="02040503050406030204" pitchFamily="18" charset="0"/>
                            <a:ea typeface="Cambria Math" panose="02040503050406030204" pitchFamily="18" charset="0"/>
                            <a:cs typeface="Times New Roman" panose="02020603050405020304" pitchFamily="18" charset="0"/>
                          </a:rPr>
                          <m:t>−10</m:t>
                        </m:r>
                      </m:sup>
                    </m:sSup>
                  </m:oMath>
                </a14:m>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（非常小的丢失率，很难达到）</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1073150" lvl="2" indent="-265113">
                  <a:lnSpc>
                    <a:spcPts val="3200"/>
                  </a:lnSpc>
                  <a:spcBef>
                    <a:spcPts val="600"/>
                  </a:spcBef>
                  <a:buClr>
                    <a:schemeClr val="accent2"/>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对高速网络需要对</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进行优化（</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RFC 3649</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21859" name="Rectangle 8"/>
              <p:cNvSpPr>
                <a:spLocks noRot="1" noChangeAspect="1" noMove="1" noResize="1" noEditPoints="1" noAdjustHandles="1" noChangeArrowheads="1" noChangeShapeType="1" noTextEdit="1"/>
              </p:cNvSpPr>
              <p:nvPr/>
            </p:nvSpPr>
            <p:spPr bwMode="auto">
              <a:xfrm>
                <a:off x="350224" y="964765"/>
                <a:ext cx="8279652" cy="4631907"/>
              </a:xfrm>
              <a:prstGeom prst="rect">
                <a:avLst/>
              </a:prstGeom>
              <a:blipFill>
                <a:blip r:embed="rId5"/>
                <a:stretch>
                  <a:fillRect t="-2105" r="-3753"/>
                </a:stretch>
              </a:blipFill>
              <a:ln w="9525">
                <a:noFill/>
                <a:miter lim="800000"/>
                <a:headEnd/>
                <a:tailEnd/>
              </a:ln>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786288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50224" y="928154"/>
            <a:ext cx="8279652" cy="151112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拥塞控制：公平性问题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ts val="3200"/>
              </a:lnSpc>
              <a:spcBef>
                <a:spcPts val="1200"/>
              </a:spcBef>
              <a:buClr>
                <a:schemeClr val="accent2"/>
              </a:buClr>
              <a:buSzPct val="75000"/>
              <a:buBlip>
                <a:blip r:embed="rId4"/>
              </a:buBlip>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公平性目标</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：如果有</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连接共享带宽为</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的瓶颈链路，每个连接应获得</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R/K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的平均速率</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a:extLst>
              <a:ext uri="{FF2B5EF4-FFF2-40B4-BE49-F238E27FC236}">
                <a16:creationId xmlns:a16="http://schemas.microsoft.com/office/drawing/2014/main" id="{5FA41655-C79B-45A8-83DE-A2A6ECF34A8B}"/>
              </a:ext>
            </a:extLst>
          </p:cNvPr>
          <p:cNvGrpSpPr/>
          <p:nvPr/>
        </p:nvGrpSpPr>
        <p:grpSpPr>
          <a:xfrm>
            <a:off x="1357549" y="2929780"/>
            <a:ext cx="6057734" cy="2604485"/>
            <a:chOff x="1125538" y="3059668"/>
            <a:chExt cx="5741987" cy="2456339"/>
          </a:xfrm>
        </p:grpSpPr>
        <p:sp>
          <p:nvSpPr>
            <p:cNvPr id="5" name="Line 68">
              <a:extLst>
                <a:ext uri="{FF2B5EF4-FFF2-40B4-BE49-F238E27FC236}">
                  <a16:creationId xmlns:a16="http://schemas.microsoft.com/office/drawing/2014/main" id="{2547487A-552F-4D6E-B17F-9543F687E575}"/>
                </a:ext>
              </a:extLst>
            </p:cNvPr>
            <p:cNvSpPr>
              <a:spLocks noChangeShapeType="1"/>
            </p:cNvSpPr>
            <p:nvPr/>
          </p:nvSpPr>
          <p:spPr bwMode="auto">
            <a:xfrm>
              <a:off x="4857750" y="4229100"/>
              <a:ext cx="558800" cy="3175"/>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defRPr/>
              </a:pPr>
              <a:endParaRPr lang="en-US">
                <a:latin typeface="Tahoma" charset="0"/>
                <a:ea typeface="ＭＳ Ｐゴシック" charset="0"/>
              </a:endParaRPr>
            </a:p>
          </p:txBody>
        </p:sp>
        <p:grpSp>
          <p:nvGrpSpPr>
            <p:cNvPr id="6" name="Group 59">
              <a:extLst>
                <a:ext uri="{FF2B5EF4-FFF2-40B4-BE49-F238E27FC236}">
                  <a16:creationId xmlns:a16="http://schemas.microsoft.com/office/drawing/2014/main" id="{73263876-F370-4599-A9B4-98B4D888AFF6}"/>
                </a:ext>
              </a:extLst>
            </p:cNvPr>
            <p:cNvGrpSpPr>
              <a:grpSpLocks/>
            </p:cNvGrpSpPr>
            <p:nvPr/>
          </p:nvGrpSpPr>
          <p:grpSpPr bwMode="auto">
            <a:xfrm>
              <a:off x="3779838" y="3898900"/>
              <a:ext cx="1082675" cy="538163"/>
              <a:chOff x="2356" y="1300"/>
              <a:chExt cx="555" cy="194"/>
            </a:xfrm>
          </p:grpSpPr>
          <p:sp>
            <p:nvSpPr>
              <p:cNvPr id="7" name="Oval 407">
                <a:extLst>
                  <a:ext uri="{FF2B5EF4-FFF2-40B4-BE49-F238E27FC236}">
                    <a16:creationId xmlns:a16="http://schemas.microsoft.com/office/drawing/2014/main" id="{5599123A-65E9-4674-8F6B-073E457AAB0B}"/>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cs typeface="Arial" panose="020B0604020202020204" pitchFamily="34" charset="0"/>
                </a:endParaRPr>
              </a:p>
            </p:txBody>
          </p:sp>
          <p:sp>
            <p:nvSpPr>
              <p:cNvPr id="8" name="Rectangle 410">
                <a:extLst>
                  <a:ext uri="{FF2B5EF4-FFF2-40B4-BE49-F238E27FC236}">
                    <a16:creationId xmlns:a16="http://schemas.microsoft.com/office/drawing/2014/main" id="{9D737A13-5BF7-4C18-A799-F606244F69A2}"/>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2400">
                  <a:latin typeface="Times New Roman" panose="02020603050405020304" pitchFamily="18" charset="0"/>
                  <a:cs typeface="Arial" panose="020B0604020202020204" pitchFamily="34" charset="0"/>
                </a:endParaRPr>
              </a:p>
            </p:txBody>
          </p:sp>
          <p:sp>
            <p:nvSpPr>
              <p:cNvPr id="9" name="Oval 411">
                <a:extLst>
                  <a:ext uri="{FF2B5EF4-FFF2-40B4-BE49-F238E27FC236}">
                    <a16:creationId xmlns:a16="http://schemas.microsoft.com/office/drawing/2014/main" id="{52B3A0A0-2FAB-4C53-B8A0-65B1573B3F06}"/>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cs typeface="Arial" panose="020B0604020202020204" pitchFamily="34" charset="0"/>
                </a:endParaRPr>
              </a:p>
            </p:txBody>
          </p:sp>
          <p:grpSp>
            <p:nvGrpSpPr>
              <p:cNvPr id="10" name="Group 63">
                <a:extLst>
                  <a:ext uri="{FF2B5EF4-FFF2-40B4-BE49-F238E27FC236}">
                    <a16:creationId xmlns:a16="http://schemas.microsoft.com/office/drawing/2014/main" id="{9D9F7E7F-675D-4124-8AA0-9178C455E580}"/>
                  </a:ext>
                </a:extLst>
              </p:cNvPr>
              <p:cNvGrpSpPr>
                <a:grpSpLocks/>
              </p:cNvGrpSpPr>
              <p:nvPr/>
            </p:nvGrpSpPr>
            <p:grpSpPr bwMode="auto">
              <a:xfrm>
                <a:off x="2468" y="1332"/>
                <a:ext cx="310" cy="60"/>
                <a:chOff x="2468" y="1332"/>
                <a:chExt cx="310" cy="60"/>
              </a:xfrm>
            </p:grpSpPr>
            <p:sp>
              <p:nvSpPr>
                <p:cNvPr id="13" name="Freeform 64">
                  <a:extLst>
                    <a:ext uri="{FF2B5EF4-FFF2-40B4-BE49-F238E27FC236}">
                      <a16:creationId xmlns:a16="http://schemas.microsoft.com/office/drawing/2014/main" id="{1007DFE0-2AFE-4581-8F85-C428FE90CD1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Freeform 65">
                  <a:extLst>
                    <a:ext uri="{FF2B5EF4-FFF2-40B4-BE49-F238E27FC236}">
                      <a16:creationId xmlns:a16="http://schemas.microsoft.com/office/drawing/2014/main" id="{8C6F20CD-3CA7-443D-8BDD-BDF3B84B48B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 name="Line 66">
                <a:extLst>
                  <a:ext uri="{FF2B5EF4-FFF2-40B4-BE49-F238E27FC236}">
                    <a16:creationId xmlns:a16="http://schemas.microsoft.com/office/drawing/2014/main" id="{7556659E-02BF-4901-945A-2BBAA3DDACC7}"/>
                  </a:ext>
                </a:extLst>
              </p:cNvPr>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2" name="Line 67">
                <a:extLst>
                  <a:ext uri="{FF2B5EF4-FFF2-40B4-BE49-F238E27FC236}">
                    <a16:creationId xmlns:a16="http://schemas.microsoft.com/office/drawing/2014/main" id="{565C4EE4-019D-44EF-B427-10258BB53A83}"/>
                  </a:ext>
                </a:extLst>
              </p:cNvPr>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15" name="Group 50">
              <a:extLst>
                <a:ext uri="{FF2B5EF4-FFF2-40B4-BE49-F238E27FC236}">
                  <a16:creationId xmlns:a16="http://schemas.microsoft.com/office/drawing/2014/main" id="{BFC8A8BE-13C8-4A14-9CB0-2E81A253743F}"/>
                </a:ext>
              </a:extLst>
            </p:cNvPr>
            <p:cNvGrpSpPr>
              <a:grpSpLocks/>
            </p:cNvGrpSpPr>
            <p:nvPr/>
          </p:nvGrpSpPr>
          <p:grpSpPr bwMode="auto">
            <a:xfrm>
              <a:off x="5413375" y="3883025"/>
              <a:ext cx="1082675" cy="538163"/>
              <a:chOff x="2356" y="1300"/>
              <a:chExt cx="555" cy="194"/>
            </a:xfrm>
          </p:grpSpPr>
          <p:sp>
            <p:nvSpPr>
              <p:cNvPr id="16" name="Oval 407">
                <a:extLst>
                  <a:ext uri="{FF2B5EF4-FFF2-40B4-BE49-F238E27FC236}">
                    <a16:creationId xmlns:a16="http://schemas.microsoft.com/office/drawing/2014/main" id="{B678E2FF-22C0-4DF1-82E3-7CF23B81ABA4}"/>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cs typeface="Arial" panose="020B0604020202020204" pitchFamily="34" charset="0"/>
                </a:endParaRPr>
              </a:p>
            </p:txBody>
          </p:sp>
          <p:sp>
            <p:nvSpPr>
              <p:cNvPr id="17" name="Rectangle 410">
                <a:extLst>
                  <a:ext uri="{FF2B5EF4-FFF2-40B4-BE49-F238E27FC236}">
                    <a16:creationId xmlns:a16="http://schemas.microsoft.com/office/drawing/2014/main" id="{B47D08C9-CB56-48AC-9447-665215AF9F20}"/>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2400">
                  <a:latin typeface="Times New Roman" panose="02020603050405020304" pitchFamily="18" charset="0"/>
                  <a:cs typeface="Arial" panose="020B0604020202020204" pitchFamily="34" charset="0"/>
                </a:endParaRPr>
              </a:p>
            </p:txBody>
          </p:sp>
          <p:sp>
            <p:nvSpPr>
              <p:cNvPr id="18" name="Oval 411">
                <a:extLst>
                  <a:ext uri="{FF2B5EF4-FFF2-40B4-BE49-F238E27FC236}">
                    <a16:creationId xmlns:a16="http://schemas.microsoft.com/office/drawing/2014/main" id="{7E405566-61B5-4B7C-B6C5-70BF4398579D}"/>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zh-CN" altLang="zh-CN" sz="2400">
                  <a:latin typeface="Times New Roman" panose="02020603050405020304" pitchFamily="18" charset="0"/>
                  <a:cs typeface="Arial" panose="020B0604020202020204" pitchFamily="34" charset="0"/>
                </a:endParaRPr>
              </a:p>
            </p:txBody>
          </p:sp>
          <p:grpSp>
            <p:nvGrpSpPr>
              <p:cNvPr id="19" name="Group 54">
                <a:extLst>
                  <a:ext uri="{FF2B5EF4-FFF2-40B4-BE49-F238E27FC236}">
                    <a16:creationId xmlns:a16="http://schemas.microsoft.com/office/drawing/2014/main" id="{D5654CEE-3840-4F56-95EA-9DB56A66F6DD}"/>
                  </a:ext>
                </a:extLst>
              </p:cNvPr>
              <p:cNvGrpSpPr>
                <a:grpSpLocks/>
              </p:cNvGrpSpPr>
              <p:nvPr/>
            </p:nvGrpSpPr>
            <p:grpSpPr bwMode="auto">
              <a:xfrm>
                <a:off x="2468" y="1332"/>
                <a:ext cx="310" cy="60"/>
                <a:chOff x="2468" y="1332"/>
                <a:chExt cx="310" cy="60"/>
              </a:xfrm>
            </p:grpSpPr>
            <p:sp>
              <p:nvSpPr>
                <p:cNvPr id="22" name="Freeform 55">
                  <a:extLst>
                    <a:ext uri="{FF2B5EF4-FFF2-40B4-BE49-F238E27FC236}">
                      <a16:creationId xmlns:a16="http://schemas.microsoft.com/office/drawing/2014/main" id="{0550586A-B6C7-44A9-A98C-4A80F100055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Freeform 56">
                  <a:extLst>
                    <a:ext uri="{FF2B5EF4-FFF2-40B4-BE49-F238E27FC236}">
                      <a16:creationId xmlns:a16="http://schemas.microsoft.com/office/drawing/2014/main" id="{B81BC01C-3AD5-41C7-907C-FFE2BC2FB99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 name="Line 57">
                <a:extLst>
                  <a:ext uri="{FF2B5EF4-FFF2-40B4-BE49-F238E27FC236}">
                    <a16:creationId xmlns:a16="http://schemas.microsoft.com/office/drawing/2014/main" id="{E0CDD3A8-CD73-4464-9B2B-B969DAF52492}"/>
                  </a:ext>
                </a:extLst>
              </p:cNvPr>
              <p:cNvSpPr>
                <a:spLocks noChangeShapeType="1"/>
              </p:cNvSpPr>
              <p:nvPr/>
            </p:nvSpPr>
            <p:spPr bwMode="auto">
              <a:xfrm>
                <a:off x="2357" y="1361"/>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1" name="Line 58">
                <a:extLst>
                  <a:ext uri="{FF2B5EF4-FFF2-40B4-BE49-F238E27FC236}">
                    <a16:creationId xmlns:a16="http://schemas.microsoft.com/office/drawing/2014/main" id="{A6FA7632-E964-41BB-8DED-D1E26CD3F537}"/>
                  </a:ext>
                </a:extLst>
              </p:cNvPr>
              <p:cNvSpPr>
                <a:spLocks noChangeShapeType="1"/>
              </p:cNvSpPr>
              <p:nvPr/>
            </p:nvSpPr>
            <p:spPr bwMode="auto">
              <a:xfrm>
                <a:off x="2907" y="1363"/>
                <a:ext cx="0" cy="8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sp>
          <p:nvSpPr>
            <p:cNvPr id="24" name="Rectangle 25">
              <a:extLst>
                <a:ext uri="{FF2B5EF4-FFF2-40B4-BE49-F238E27FC236}">
                  <a16:creationId xmlns:a16="http://schemas.microsoft.com/office/drawing/2014/main" id="{9C52DBA7-AA2E-438B-8A5C-93BB02A9AE29}"/>
                </a:ext>
              </a:extLst>
            </p:cNvPr>
            <p:cNvSpPr>
              <a:spLocks noChangeArrowheads="1"/>
            </p:cNvSpPr>
            <p:nvPr/>
          </p:nvSpPr>
          <p:spPr bwMode="auto">
            <a:xfrm>
              <a:off x="5068888" y="4025900"/>
              <a:ext cx="147637" cy="200025"/>
            </a:xfrm>
            <a:prstGeom prst="rect">
              <a:avLst/>
            </a:prstGeom>
            <a:solidFill>
              <a:srgbClr val="0099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6" name="Rectangle 27">
              <a:extLst>
                <a:ext uri="{FF2B5EF4-FFF2-40B4-BE49-F238E27FC236}">
                  <a16:creationId xmlns:a16="http://schemas.microsoft.com/office/drawing/2014/main" id="{74CA71F9-1175-4E98-A0B8-D7F2C4AAF579}"/>
                </a:ext>
              </a:extLst>
            </p:cNvPr>
            <p:cNvSpPr>
              <a:spLocks noChangeArrowheads="1"/>
            </p:cNvSpPr>
            <p:nvPr/>
          </p:nvSpPr>
          <p:spPr bwMode="auto">
            <a:xfrm>
              <a:off x="4830696" y="4025900"/>
              <a:ext cx="147637" cy="200025"/>
            </a:xfrm>
            <a:prstGeom prst="rect">
              <a:avLst/>
            </a:prstGeom>
            <a:solidFill>
              <a:srgbClr val="0099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7" name="Text Box 28">
              <a:extLst>
                <a:ext uri="{FF2B5EF4-FFF2-40B4-BE49-F238E27FC236}">
                  <a16:creationId xmlns:a16="http://schemas.microsoft.com/office/drawing/2014/main" id="{D033F7B4-0629-425A-972A-A05CB57EEE52}"/>
                </a:ext>
              </a:extLst>
            </p:cNvPr>
            <p:cNvSpPr txBox="1">
              <a:spLocks noChangeArrowheads="1"/>
            </p:cNvSpPr>
            <p:nvPr/>
          </p:nvSpPr>
          <p:spPr bwMode="auto">
            <a:xfrm>
              <a:off x="1149205" y="3059668"/>
              <a:ext cx="118494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1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连接</a:t>
              </a:r>
              <a:r>
                <a:rPr lang="en-US" sz="1800"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28" name="Text Box 29">
              <a:extLst>
                <a:ext uri="{FF2B5EF4-FFF2-40B4-BE49-F238E27FC236}">
                  <a16:creationId xmlns:a16="http://schemas.microsoft.com/office/drawing/2014/main" id="{45F25CC7-288D-4E49-891A-907A334A6773}"/>
                </a:ext>
              </a:extLst>
            </p:cNvPr>
            <p:cNvSpPr txBox="1">
              <a:spLocks noChangeArrowheads="1"/>
            </p:cNvSpPr>
            <p:nvPr/>
          </p:nvSpPr>
          <p:spPr bwMode="auto">
            <a:xfrm>
              <a:off x="3327396" y="4490048"/>
              <a:ext cx="21018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defPPr>
                <a:defRPr lang="zh-CN"/>
              </a:defPPr>
              <a:lvl1pPr>
                <a:defRPr>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1600">
                  <a:latin typeface="Tahoma" charset="0"/>
                  <a:ea typeface="ＭＳ Ｐゴシック" charset="0"/>
                </a:defRPr>
              </a:lvl2pPr>
              <a:lvl3pPr marL="1143000" indent="-228600">
                <a:defRPr sz="1600">
                  <a:latin typeface="Tahoma" charset="0"/>
                  <a:ea typeface="ＭＳ Ｐゴシック" charset="0"/>
                </a:defRPr>
              </a:lvl3pPr>
              <a:lvl4pPr marL="1600200" indent="-228600">
                <a:defRPr sz="1600">
                  <a:latin typeface="Tahoma" charset="0"/>
                  <a:ea typeface="ＭＳ Ｐゴシック" charset="0"/>
                </a:defRPr>
              </a:lvl4pPr>
              <a:lvl5pPr marL="2057400" indent="-228600">
                <a:defRPr sz="1600">
                  <a:latin typeface="Tahoma" charset="0"/>
                  <a:ea typeface="ＭＳ Ｐゴシック" charset="0"/>
                </a:defRPr>
              </a:lvl5pPr>
              <a:lvl6pPr marL="2514600" indent="-228600" algn="ctr" eaLnBrk="0" fontAlgn="base" hangingPunct="0">
                <a:spcBef>
                  <a:spcPct val="0"/>
                </a:spcBef>
                <a:spcAft>
                  <a:spcPct val="0"/>
                </a:spcAft>
                <a:defRPr sz="1600">
                  <a:latin typeface="Tahoma" charset="0"/>
                  <a:ea typeface="ＭＳ Ｐゴシック" charset="0"/>
                </a:defRPr>
              </a:lvl6pPr>
              <a:lvl7pPr marL="2971800" indent="-228600" algn="ctr" eaLnBrk="0" fontAlgn="base" hangingPunct="0">
                <a:spcBef>
                  <a:spcPct val="0"/>
                </a:spcBef>
                <a:spcAft>
                  <a:spcPct val="0"/>
                </a:spcAft>
                <a:defRPr sz="1600">
                  <a:latin typeface="Tahoma" charset="0"/>
                  <a:ea typeface="ＭＳ Ｐゴシック" charset="0"/>
                </a:defRPr>
              </a:lvl7pPr>
              <a:lvl8pPr marL="3429000" indent="-228600" algn="ctr" eaLnBrk="0" fontAlgn="base" hangingPunct="0">
                <a:spcBef>
                  <a:spcPct val="0"/>
                </a:spcBef>
                <a:spcAft>
                  <a:spcPct val="0"/>
                </a:spcAft>
                <a:defRPr sz="1600">
                  <a:latin typeface="Tahoma" charset="0"/>
                  <a:ea typeface="ＭＳ Ｐゴシック" charset="0"/>
                </a:defRPr>
              </a:lvl8pPr>
              <a:lvl9pPr marL="3886200" indent="-228600" algn="ctr" eaLnBrk="0" fontAlgn="base" hangingPunct="0">
                <a:spcBef>
                  <a:spcPct val="0"/>
                </a:spcBef>
                <a:spcAft>
                  <a:spcPct val="0"/>
                </a:spcAft>
                <a:defRPr sz="1600">
                  <a:latin typeface="Tahoma" charset="0"/>
                  <a:ea typeface="ＭＳ Ｐゴシック" charset="0"/>
                </a:defRPr>
              </a:lvl9pPr>
            </a:lstStyle>
            <a:p>
              <a:r>
                <a:rPr lang="zh-CN" altLang="en-US" dirty="0"/>
                <a:t>瓶颈路由器带宽</a:t>
              </a:r>
              <a:r>
                <a:rPr lang="en-US" altLang="zh-CN" dirty="0"/>
                <a:t>=</a:t>
              </a:r>
              <a:r>
                <a:rPr lang="en-US" dirty="0"/>
                <a:t>R</a:t>
              </a:r>
            </a:p>
          </p:txBody>
        </p:sp>
        <p:sp>
          <p:nvSpPr>
            <p:cNvPr id="29" name="Freeform 40">
              <a:extLst>
                <a:ext uri="{FF2B5EF4-FFF2-40B4-BE49-F238E27FC236}">
                  <a16:creationId xmlns:a16="http://schemas.microsoft.com/office/drawing/2014/main" id="{AB662D2B-5D3D-4D45-ABBF-365540E8F914}"/>
                </a:ext>
              </a:extLst>
            </p:cNvPr>
            <p:cNvSpPr>
              <a:spLocks/>
            </p:cNvSpPr>
            <p:nvPr/>
          </p:nvSpPr>
          <p:spPr bwMode="auto">
            <a:xfrm>
              <a:off x="2863850" y="3502025"/>
              <a:ext cx="4003675" cy="719138"/>
            </a:xfrm>
            <a:custGeom>
              <a:avLst/>
              <a:gdLst>
                <a:gd name="T0" fmla="*/ 0 w 2412"/>
                <a:gd name="T1" fmla="*/ 0 h 453"/>
                <a:gd name="T2" fmla="*/ 2147483647 w 2412"/>
                <a:gd name="T3" fmla="*/ 2147483647 h 453"/>
                <a:gd name="T4" fmla="*/ 2147483647 w 2412"/>
                <a:gd name="T5" fmla="*/ 2147483647 h 453"/>
                <a:gd name="T6" fmla="*/ 0 60000 65536"/>
                <a:gd name="T7" fmla="*/ 0 60000 65536"/>
                <a:gd name="T8" fmla="*/ 0 60000 65536"/>
              </a:gdLst>
              <a:ahLst/>
              <a:cxnLst>
                <a:cxn ang="T6">
                  <a:pos x="T0" y="T1"/>
                </a:cxn>
                <a:cxn ang="T7">
                  <a:pos x="T2" y="T3"/>
                </a:cxn>
                <a:cxn ang="T8">
                  <a:pos x="T4" y="T5"/>
                </a:cxn>
              </a:cxnLst>
              <a:rect l="0" t="0" r="r" b="b"/>
              <a:pathLst>
                <a:path w="2412" h="453">
                  <a:moveTo>
                    <a:pt x="0" y="0"/>
                  </a:moveTo>
                  <a:cubicBezTo>
                    <a:pt x="93" y="65"/>
                    <a:pt x="156" y="318"/>
                    <a:pt x="558" y="390"/>
                  </a:cubicBezTo>
                  <a:cubicBezTo>
                    <a:pt x="959" y="453"/>
                    <a:pt x="2026" y="423"/>
                    <a:pt x="2412" y="432"/>
                  </a:cubicBezTo>
                </a:path>
              </a:pathLst>
            </a:custGeom>
            <a:noFill/>
            <a:ln w="38100" cap="flat" cmpd="sng">
              <a:solidFill>
                <a:srgbClr val="00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Freeform 42">
              <a:extLst>
                <a:ext uri="{FF2B5EF4-FFF2-40B4-BE49-F238E27FC236}">
                  <a16:creationId xmlns:a16="http://schemas.microsoft.com/office/drawing/2014/main" id="{A49A8E22-37D6-4336-9DC5-4BBECDAABC27}"/>
                </a:ext>
              </a:extLst>
            </p:cNvPr>
            <p:cNvSpPr>
              <a:spLocks/>
            </p:cNvSpPr>
            <p:nvPr/>
          </p:nvSpPr>
          <p:spPr bwMode="auto">
            <a:xfrm>
              <a:off x="2806700" y="4237038"/>
              <a:ext cx="4044950" cy="719137"/>
            </a:xfrm>
            <a:custGeom>
              <a:avLst/>
              <a:gdLst>
                <a:gd name="T0" fmla="*/ 0 w 2412"/>
                <a:gd name="T1" fmla="*/ 2147483647 h 453"/>
                <a:gd name="T2" fmla="*/ 2147483647 w 2412"/>
                <a:gd name="T3" fmla="*/ 2147483647 h 453"/>
                <a:gd name="T4" fmla="*/ 2147483647 w 2412"/>
                <a:gd name="T5" fmla="*/ 2147483647 h 453"/>
                <a:gd name="T6" fmla="*/ 0 60000 65536"/>
                <a:gd name="T7" fmla="*/ 0 60000 65536"/>
                <a:gd name="T8" fmla="*/ 0 60000 65536"/>
              </a:gdLst>
              <a:ahLst/>
              <a:cxnLst>
                <a:cxn ang="T6">
                  <a:pos x="T0" y="T1"/>
                </a:cxn>
                <a:cxn ang="T7">
                  <a:pos x="T2" y="T3"/>
                </a:cxn>
                <a:cxn ang="T8">
                  <a:pos x="T4" y="T5"/>
                </a:cxn>
              </a:cxnLst>
              <a:rect l="0" t="0" r="r" b="b"/>
              <a:pathLst>
                <a:path w="2412" h="453">
                  <a:moveTo>
                    <a:pt x="0" y="453"/>
                  </a:moveTo>
                  <a:cubicBezTo>
                    <a:pt x="93" y="388"/>
                    <a:pt x="156" y="134"/>
                    <a:pt x="558" y="63"/>
                  </a:cubicBezTo>
                  <a:cubicBezTo>
                    <a:pt x="959" y="0"/>
                    <a:pt x="2026" y="36"/>
                    <a:pt x="2412" y="29"/>
                  </a:cubicBezTo>
                </a:path>
              </a:pathLst>
            </a:custGeom>
            <a:noFill/>
            <a:ln w="381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48">
              <a:extLst>
                <a:ext uri="{FF2B5EF4-FFF2-40B4-BE49-F238E27FC236}">
                  <a16:creationId xmlns:a16="http://schemas.microsoft.com/office/drawing/2014/main" id="{43393BA6-CD3F-453F-A737-F48E03B43D4E}"/>
                </a:ext>
              </a:extLst>
            </p:cNvPr>
            <p:cNvSpPr txBox="1">
              <a:spLocks noChangeArrowheads="1"/>
            </p:cNvSpPr>
            <p:nvPr/>
          </p:nvSpPr>
          <p:spPr bwMode="auto">
            <a:xfrm>
              <a:off x="1125538" y="5146675"/>
              <a:ext cx="118494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defPPr>
                <a:defRPr lang="zh-CN"/>
              </a:defPPr>
              <a:lvl1pPr>
                <a:defRPr>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1600">
                  <a:latin typeface="Tahoma" charset="0"/>
                  <a:ea typeface="ＭＳ Ｐゴシック" charset="0"/>
                </a:defRPr>
              </a:lvl2pPr>
              <a:lvl3pPr marL="1143000" indent="-228600">
                <a:defRPr sz="1600">
                  <a:latin typeface="Tahoma" charset="0"/>
                  <a:ea typeface="ＭＳ Ｐゴシック" charset="0"/>
                </a:defRPr>
              </a:lvl3pPr>
              <a:lvl4pPr marL="1600200" indent="-228600">
                <a:defRPr sz="1600">
                  <a:latin typeface="Tahoma" charset="0"/>
                  <a:ea typeface="ＭＳ Ｐゴシック" charset="0"/>
                </a:defRPr>
              </a:lvl4pPr>
              <a:lvl5pPr marL="2057400" indent="-228600">
                <a:defRPr sz="1600">
                  <a:latin typeface="Tahoma" charset="0"/>
                  <a:ea typeface="ＭＳ Ｐゴシック" charset="0"/>
                </a:defRPr>
              </a:lvl5pPr>
              <a:lvl6pPr marL="2514600" indent="-228600" algn="ctr" eaLnBrk="0" fontAlgn="base" hangingPunct="0">
                <a:spcBef>
                  <a:spcPct val="0"/>
                </a:spcBef>
                <a:spcAft>
                  <a:spcPct val="0"/>
                </a:spcAft>
                <a:defRPr sz="1600">
                  <a:latin typeface="Tahoma" charset="0"/>
                  <a:ea typeface="ＭＳ Ｐゴシック" charset="0"/>
                </a:defRPr>
              </a:lvl6pPr>
              <a:lvl7pPr marL="2971800" indent="-228600" algn="ctr" eaLnBrk="0" fontAlgn="base" hangingPunct="0">
                <a:spcBef>
                  <a:spcPct val="0"/>
                </a:spcBef>
                <a:spcAft>
                  <a:spcPct val="0"/>
                </a:spcAft>
                <a:defRPr sz="1600">
                  <a:latin typeface="Tahoma" charset="0"/>
                  <a:ea typeface="ＭＳ Ｐゴシック" charset="0"/>
                </a:defRPr>
              </a:lvl7pPr>
              <a:lvl8pPr marL="3429000" indent="-228600" algn="ctr" eaLnBrk="0" fontAlgn="base" hangingPunct="0">
                <a:spcBef>
                  <a:spcPct val="0"/>
                </a:spcBef>
                <a:spcAft>
                  <a:spcPct val="0"/>
                </a:spcAft>
                <a:defRPr sz="1600">
                  <a:latin typeface="Tahoma" charset="0"/>
                  <a:ea typeface="ＭＳ Ｐゴシック" charset="0"/>
                </a:defRPr>
              </a:lvl8pPr>
              <a:lvl9pPr marL="3886200" indent="-228600" algn="ctr" eaLnBrk="0" fontAlgn="base" hangingPunct="0">
                <a:spcBef>
                  <a:spcPct val="0"/>
                </a:spcBef>
                <a:spcAft>
                  <a:spcPct val="0"/>
                </a:spcAft>
                <a:defRPr sz="1600">
                  <a:latin typeface="Tahoma" charset="0"/>
                  <a:ea typeface="ＭＳ Ｐゴシック" charset="0"/>
                </a:defRPr>
              </a:lvl9pPr>
            </a:lstStyle>
            <a:p>
              <a:r>
                <a:rPr lang="en-US" dirty="0"/>
                <a:t>TCP</a:t>
              </a:r>
              <a:r>
                <a:rPr lang="zh-CN" altLang="en-US" dirty="0"/>
                <a:t>连接</a:t>
              </a:r>
              <a:r>
                <a:rPr lang="en-US" dirty="0"/>
                <a:t>2</a:t>
              </a:r>
            </a:p>
          </p:txBody>
        </p:sp>
        <p:grpSp>
          <p:nvGrpSpPr>
            <p:cNvPr id="33" name="Group 69">
              <a:extLst>
                <a:ext uri="{FF2B5EF4-FFF2-40B4-BE49-F238E27FC236}">
                  <a16:creationId xmlns:a16="http://schemas.microsoft.com/office/drawing/2014/main" id="{1560C7A2-E8CA-4D96-841E-9CD026919D7F}"/>
                </a:ext>
              </a:extLst>
            </p:cNvPr>
            <p:cNvGrpSpPr>
              <a:grpSpLocks/>
            </p:cNvGrpSpPr>
            <p:nvPr/>
          </p:nvGrpSpPr>
          <p:grpSpPr bwMode="auto">
            <a:xfrm>
              <a:off x="2097086" y="3203575"/>
              <a:ext cx="766763" cy="704850"/>
              <a:chOff x="-44" y="1473"/>
              <a:chExt cx="981" cy="1105"/>
            </a:xfrm>
          </p:grpSpPr>
          <p:pic>
            <p:nvPicPr>
              <p:cNvPr id="34" name="Picture 70" descr="desktop_computer_stylized_medium">
                <a:extLst>
                  <a:ext uri="{FF2B5EF4-FFF2-40B4-BE49-F238E27FC236}">
                    <a16:creationId xmlns:a16="http://schemas.microsoft.com/office/drawing/2014/main" id="{717AD7D2-EB11-4927-AA4A-6591E16980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71">
                <a:extLst>
                  <a:ext uri="{FF2B5EF4-FFF2-40B4-BE49-F238E27FC236}">
                    <a16:creationId xmlns:a16="http://schemas.microsoft.com/office/drawing/2014/main" id="{70D6C020-C0B5-4A4F-B566-D05CC528193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6" name="Group 72">
              <a:extLst>
                <a:ext uri="{FF2B5EF4-FFF2-40B4-BE49-F238E27FC236}">
                  <a16:creationId xmlns:a16="http://schemas.microsoft.com/office/drawing/2014/main" id="{53429FAB-D7E4-4C0D-B97E-549257F8202A}"/>
                </a:ext>
              </a:extLst>
            </p:cNvPr>
            <p:cNvGrpSpPr>
              <a:grpSpLocks/>
            </p:cNvGrpSpPr>
            <p:nvPr/>
          </p:nvGrpSpPr>
          <p:grpSpPr bwMode="auto">
            <a:xfrm>
              <a:off x="2085048" y="4583536"/>
              <a:ext cx="766763" cy="704850"/>
              <a:chOff x="-44" y="1473"/>
              <a:chExt cx="981" cy="1105"/>
            </a:xfrm>
          </p:grpSpPr>
          <p:pic>
            <p:nvPicPr>
              <p:cNvPr id="37" name="Picture 73" descr="desktop_computer_stylized_medium">
                <a:extLst>
                  <a:ext uri="{FF2B5EF4-FFF2-40B4-BE49-F238E27FC236}">
                    <a16:creationId xmlns:a16="http://schemas.microsoft.com/office/drawing/2014/main" id="{4BF65250-BB0A-4C94-867D-FFDCDF6101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Freeform 74">
                <a:extLst>
                  <a:ext uri="{FF2B5EF4-FFF2-40B4-BE49-F238E27FC236}">
                    <a16:creationId xmlns:a16="http://schemas.microsoft.com/office/drawing/2014/main" id="{A072F601-E9CC-4716-8174-5A69D058011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5" name="Rectangle 26">
              <a:extLst>
                <a:ext uri="{FF2B5EF4-FFF2-40B4-BE49-F238E27FC236}">
                  <a16:creationId xmlns:a16="http://schemas.microsoft.com/office/drawing/2014/main" id="{9358B1A2-AEB7-4BC0-84F1-3B76D635AE76}"/>
                </a:ext>
              </a:extLst>
            </p:cNvPr>
            <p:cNvSpPr>
              <a:spLocks noChangeArrowheads="1"/>
            </p:cNvSpPr>
            <p:nvPr/>
          </p:nvSpPr>
          <p:spPr bwMode="auto">
            <a:xfrm>
              <a:off x="4378324" y="4110697"/>
              <a:ext cx="147638" cy="200025"/>
            </a:xfrm>
            <a:prstGeom prst="rect">
              <a:avLst/>
            </a:prstGeom>
            <a:solidFill>
              <a:srgbClr val="0099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0" name="Rectangle 41">
              <a:extLst>
                <a:ext uri="{FF2B5EF4-FFF2-40B4-BE49-F238E27FC236}">
                  <a16:creationId xmlns:a16="http://schemas.microsoft.com/office/drawing/2014/main" id="{9BDC2436-5984-4E98-B2AD-002D1FFE569C}"/>
                </a:ext>
              </a:extLst>
            </p:cNvPr>
            <p:cNvSpPr>
              <a:spLocks noChangeArrowheads="1"/>
            </p:cNvSpPr>
            <p:nvPr/>
          </p:nvSpPr>
          <p:spPr bwMode="auto">
            <a:xfrm>
              <a:off x="4540482" y="4110630"/>
              <a:ext cx="147638" cy="20002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Tree>
    <p:extLst>
      <p:ext uri="{BB962C8B-B14F-4D97-AF65-F5344CB8AC3E}">
        <p14:creationId xmlns:p14="http://schemas.microsoft.com/office/powerpoint/2010/main" val="35819221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432174" y="843676"/>
            <a:ext cx="8320376" cy="192965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拥塞控制：公平性问题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spcBef>
                <a:spcPts val="12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是否公平？</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spcBef>
                <a:spcPts val="12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两个竞争的连接：</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1090612" lvl="2" indent="-285750">
              <a:spcBef>
                <a:spcPts val="1200"/>
              </a:spcBef>
              <a:buClr>
                <a:schemeClr val="accent6">
                  <a:lumMod val="75000"/>
                </a:schemeClr>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假设两个连接</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RTT</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相等</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，从源主机到目的主机仅一条</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9" name="Line 4">
            <a:extLst>
              <a:ext uri="{FF2B5EF4-FFF2-40B4-BE49-F238E27FC236}">
                <a16:creationId xmlns:a16="http://schemas.microsoft.com/office/drawing/2014/main" id="{1E749CA1-13BB-4840-A6EF-A7F664491F75}"/>
              </a:ext>
            </a:extLst>
          </p:cNvPr>
          <p:cNvSpPr>
            <a:spLocks noChangeShapeType="1"/>
          </p:cNvSpPr>
          <p:nvPr/>
        </p:nvSpPr>
        <p:spPr bwMode="auto">
          <a:xfrm>
            <a:off x="2063652" y="5996635"/>
            <a:ext cx="363855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0" name="Line 5">
            <a:extLst>
              <a:ext uri="{FF2B5EF4-FFF2-40B4-BE49-F238E27FC236}">
                <a16:creationId xmlns:a16="http://schemas.microsoft.com/office/drawing/2014/main" id="{65C239E8-EC12-44B0-8BA3-1C1AF3B150BC}"/>
              </a:ext>
            </a:extLst>
          </p:cNvPr>
          <p:cNvSpPr>
            <a:spLocks noChangeShapeType="1"/>
          </p:cNvSpPr>
          <p:nvPr/>
        </p:nvSpPr>
        <p:spPr bwMode="auto">
          <a:xfrm flipV="1">
            <a:off x="2063652" y="2901010"/>
            <a:ext cx="0" cy="308610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1" name="Line 6">
            <a:extLst>
              <a:ext uri="{FF2B5EF4-FFF2-40B4-BE49-F238E27FC236}">
                <a16:creationId xmlns:a16="http://schemas.microsoft.com/office/drawing/2014/main" id="{38096387-25EF-46B5-97DB-A9C0D0FD35C3}"/>
              </a:ext>
            </a:extLst>
          </p:cNvPr>
          <p:cNvSpPr>
            <a:spLocks noChangeShapeType="1"/>
          </p:cNvSpPr>
          <p:nvPr/>
        </p:nvSpPr>
        <p:spPr bwMode="auto">
          <a:xfrm rot="-2938105" flipH="1" flipV="1">
            <a:off x="1457227" y="4636148"/>
            <a:ext cx="3560763" cy="14287"/>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2" name="Line 7">
            <a:extLst>
              <a:ext uri="{FF2B5EF4-FFF2-40B4-BE49-F238E27FC236}">
                <a16:creationId xmlns:a16="http://schemas.microsoft.com/office/drawing/2014/main" id="{BC1B42BA-047D-4200-8E90-506FA1504F61}"/>
              </a:ext>
            </a:extLst>
          </p:cNvPr>
          <p:cNvSpPr>
            <a:spLocks noChangeShapeType="1"/>
          </p:cNvSpPr>
          <p:nvPr/>
        </p:nvSpPr>
        <p:spPr bwMode="auto">
          <a:xfrm>
            <a:off x="2087674" y="3238353"/>
            <a:ext cx="2784568" cy="2718595"/>
          </a:xfrm>
          <a:prstGeom prst="line">
            <a:avLst/>
          </a:prstGeom>
          <a:noFill/>
          <a:ln w="3810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3" name="Text Box 8">
            <a:extLst>
              <a:ext uri="{FF2B5EF4-FFF2-40B4-BE49-F238E27FC236}">
                <a16:creationId xmlns:a16="http://schemas.microsoft.com/office/drawing/2014/main" id="{DA30B4CE-FA8C-44AE-AB36-E3139A98721F}"/>
              </a:ext>
            </a:extLst>
          </p:cNvPr>
          <p:cNvSpPr txBox="1">
            <a:spLocks noChangeArrowheads="1"/>
          </p:cNvSpPr>
          <p:nvPr/>
        </p:nvSpPr>
        <p:spPr bwMode="auto">
          <a:xfrm>
            <a:off x="1711962" y="2947409"/>
            <a:ext cx="4032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defPPr>
              <a:defRPr lang="zh-CN"/>
            </a:defPPr>
            <a:lvl1pPr>
              <a:spcBef>
                <a:spcPct val="50000"/>
              </a:spcBef>
              <a:defRPr sz="2000">
                <a:latin typeface="Times New Roman" panose="02020603050405020304" pitchFamily="18" charset="0"/>
                <a:ea typeface="ＭＳ Ｐゴシック" charset="0"/>
                <a:cs typeface="Times New Roman" panose="02020603050405020304" pitchFamily="18" charset="0"/>
              </a:defRPr>
            </a:lvl1pPr>
            <a:lvl2pPr marL="742950" indent="-285750">
              <a:defRPr sz="1600">
                <a:latin typeface="Tahoma" charset="0"/>
                <a:ea typeface="ＭＳ Ｐゴシック" charset="0"/>
              </a:defRPr>
            </a:lvl2pPr>
            <a:lvl3pPr marL="1143000" indent="-228600">
              <a:defRPr sz="1600">
                <a:latin typeface="Tahoma" charset="0"/>
                <a:ea typeface="ＭＳ Ｐゴシック" charset="0"/>
              </a:defRPr>
            </a:lvl3pPr>
            <a:lvl4pPr marL="1600200" indent="-228600">
              <a:defRPr sz="1600">
                <a:latin typeface="Tahoma" charset="0"/>
                <a:ea typeface="ＭＳ Ｐゴシック" charset="0"/>
              </a:defRPr>
            </a:lvl4pPr>
            <a:lvl5pPr marL="2057400" indent="-228600">
              <a:defRPr sz="1600">
                <a:latin typeface="Tahoma" charset="0"/>
                <a:ea typeface="ＭＳ Ｐゴシック" charset="0"/>
              </a:defRPr>
            </a:lvl5pPr>
            <a:lvl6pPr marL="2514600" indent="-228600" algn="ctr" eaLnBrk="0" fontAlgn="base" hangingPunct="0">
              <a:spcBef>
                <a:spcPct val="0"/>
              </a:spcBef>
              <a:spcAft>
                <a:spcPct val="0"/>
              </a:spcAft>
              <a:defRPr sz="1600">
                <a:latin typeface="Tahoma" charset="0"/>
                <a:ea typeface="ＭＳ Ｐゴシック" charset="0"/>
              </a:defRPr>
            </a:lvl6pPr>
            <a:lvl7pPr marL="2971800" indent="-228600" algn="ctr" eaLnBrk="0" fontAlgn="base" hangingPunct="0">
              <a:spcBef>
                <a:spcPct val="0"/>
              </a:spcBef>
              <a:spcAft>
                <a:spcPct val="0"/>
              </a:spcAft>
              <a:defRPr sz="1600">
                <a:latin typeface="Tahoma" charset="0"/>
                <a:ea typeface="ＭＳ Ｐゴシック" charset="0"/>
              </a:defRPr>
            </a:lvl7pPr>
            <a:lvl8pPr marL="3429000" indent="-228600" algn="ctr" eaLnBrk="0" fontAlgn="base" hangingPunct="0">
              <a:spcBef>
                <a:spcPct val="0"/>
              </a:spcBef>
              <a:spcAft>
                <a:spcPct val="0"/>
              </a:spcAft>
              <a:defRPr sz="1600">
                <a:latin typeface="Tahoma" charset="0"/>
                <a:ea typeface="ＭＳ Ｐゴシック" charset="0"/>
              </a:defRPr>
            </a:lvl8pPr>
            <a:lvl9pPr marL="3886200" indent="-228600" algn="ctr" eaLnBrk="0" fontAlgn="base" hangingPunct="0">
              <a:spcBef>
                <a:spcPct val="0"/>
              </a:spcBef>
              <a:spcAft>
                <a:spcPct val="0"/>
              </a:spcAft>
              <a:defRPr sz="1600">
                <a:latin typeface="Tahoma" charset="0"/>
                <a:ea typeface="ＭＳ Ｐゴシック" charset="0"/>
              </a:defRPr>
            </a:lvl9pPr>
          </a:lstStyle>
          <a:p>
            <a:r>
              <a:rPr lang="en-US" dirty="0"/>
              <a:t>R</a:t>
            </a:r>
          </a:p>
        </p:txBody>
      </p:sp>
      <p:sp>
        <p:nvSpPr>
          <p:cNvPr id="44" name="Text Box 9">
            <a:extLst>
              <a:ext uri="{FF2B5EF4-FFF2-40B4-BE49-F238E27FC236}">
                <a16:creationId xmlns:a16="http://schemas.microsoft.com/office/drawing/2014/main" id="{A17ECC01-AD9B-455C-9272-719154C6CC37}"/>
              </a:ext>
            </a:extLst>
          </p:cNvPr>
          <p:cNvSpPr txBox="1">
            <a:spLocks noChangeArrowheads="1"/>
          </p:cNvSpPr>
          <p:nvPr/>
        </p:nvSpPr>
        <p:spPr bwMode="auto">
          <a:xfrm>
            <a:off x="4710840" y="5966472"/>
            <a:ext cx="4032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en-US" sz="2000" dirty="0">
                <a:latin typeface="Times New Roman" panose="02020603050405020304" pitchFamily="18" charset="0"/>
                <a:cs typeface="Times New Roman" panose="02020603050405020304" pitchFamily="18" charset="0"/>
              </a:rPr>
              <a:t>R</a:t>
            </a:r>
            <a:endParaRPr lang="en-US" sz="1000" dirty="0">
              <a:latin typeface="Times New Roman" panose="02020603050405020304" pitchFamily="18" charset="0"/>
              <a:cs typeface="Times New Roman" panose="02020603050405020304" pitchFamily="18" charset="0"/>
            </a:endParaRPr>
          </a:p>
        </p:txBody>
      </p:sp>
      <p:sp>
        <p:nvSpPr>
          <p:cNvPr id="45" name="Text Box 10">
            <a:extLst>
              <a:ext uri="{FF2B5EF4-FFF2-40B4-BE49-F238E27FC236}">
                <a16:creationId xmlns:a16="http://schemas.microsoft.com/office/drawing/2014/main" id="{D316C869-86B5-4373-BC09-CBE377C6DA10}"/>
              </a:ext>
            </a:extLst>
          </p:cNvPr>
          <p:cNvSpPr txBox="1">
            <a:spLocks noChangeArrowheads="1"/>
          </p:cNvSpPr>
          <p:nvPr/>
        </p:nvSpPr>
        <p:spPr bwMode="auto">
          <a:xfrm>
            <a:off x="4411774" y="3098797"/>
            <a:ext cx="1590816"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zh-CN"/>
            </a:defPPr>
            <a:lvl1pPr>
              <a:spcBef>
                <a:spcPct val="50000"/>
              </a:spcBef>
              <a:defRPr>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1600">
                <a:latin typeface="Tahoma" charset="0"/>
                <a:ea typeface="ＭＳ Ｐゴシック" charset="0"/>
              </a:defRPr>
            </a:lvl2pPr>
            <a:lvl3pPr marL="1143000" indent="-228600">
              <a:defRPr sz="1600">
                <a:latin typeface="Tahoma" charset="0"/>
                <a:ea typeface="ＭＳ Ｐゴシック" charset="0"/>
              </a:defRPr>
            </a:lvl3pPr>
            <a:lvl4pPr marL="1600200" indent="-228600">
              <a:defRPr sz="1600">
                <a:latin typeface="Tahoma" charset="0"/>
                <a:ea typeface="ＭＳ Ｐゴシック" charset="0"/>
              </a:defRPr>
            </a:lvl4pPr>
            <a:lvl5pPr marL="2057400" indent="-228600">
              <a:defRPr sz="1600">
                <a:latin typeface="Tahoma" charset="0"/>
                <a:ea typeface="ＭＳ Ｐゴシック" charset="0"/>
              </a:defRPr>
            </a:lvl5pPr>
            <a:lvl6pPr marL="2514600" indent="-228600" algn="ctr" eaLnBrk="0" fontAlgn="base" hangingPunct="0">
              <a:spcBef>
                <a:spcPct val="0"/>
              </a:spcBef>
              <a:spcAft>
                <a:spcPct val="0"/>
              </a:spcAft>
              <a:defRPr sz="1600">
                <a:latin typeface="Tahoma" charset="0"/>
                <a:ea typeface="ＭＳ Ｐゴシック" charset="0"/>
              </a:defRPr>
            </a:lvl6pPr>
            <a:lvl7pPr marL="2971800" indent="-228600" algn="ctr" eaLnBrk="0" fontAlgn="base" hangingPunct="0">
              <a:spcBef>
                <a:spcPct val="0"/>
              </a:spcBef>
              <a:spcAft>
                <a:spcPct val="0"/>
              </a:spcAft>
              <a:defRPr sz="1600">
                <a:latin typeface="Tahoma" charset="0"/>
                <a:ea typeface="ＭＳ Ｐゴシック" charset="0"/>
              </a:defRPr>
            </a:lvl7pPr>
            <a:lvl8pPr marL="3429000" indent="-228600" algn="ctr" eaLnBrk="0" fontAlgn="base" hangingPunct="0">
              <a:spcBef>
                <a:spcPct val="0"/>
              </a:spcBef>
              <a:spcAft>
                <a:spcPct val="0"/>
              </a:spcAft>
              <a:defRPr sz="1600">
                <a:latin typeface="Tahoma" charset="0"/>
                <a:ea typeface="ＭＳ Ｐゴシック" charset="0"/>
              </a:defRPr>
            </a:lvl8pPr>
            <a:lvl9pPr marL="3886200" indent="-228600" algn="ctr" eaLnBrk="0" fontAlgn="base" hangingPunct="0">
              <a:spcBef>
                <a:spcPct val="0"/>
              </a:spcBef>
              <a:spcAft>
                <a:spcPct val="0"/>
              </a:spcAft>
              <a:defRPr sz="1600">
                <a:latin typeface="Tahoma" charset="0"/>
                <a:ea typeface="ＭＳ Ｐゴシック" charset="0"/>
              </a:defRPr>
            </a:lvl9pPr>
          </a:lstStyle>
          <a:p>
            <a:r>
              <a:rPr lang="zh-CN" altLang="en-US" dirty="0"/>
              <a:t>相等带宽份额</a:t>
            </a:r>
            <a:endParaRPr lang="en-US" dirty="0"/>
          </a:p>
        </p:txBody>
      </p:sp>
      <p:sp>
        <p:nvSpPr>
          <p:cNvPr id="46" name="Text Box 11">
            <a:extLst>
              <a:ext uri="{FF2B5EF4-FFF2-40B4-BE49-F238E27FC236}">
                <a16:creationId xmlns:a16="http://schemas.microsoft.com/office/drawing/2014/main" id="{5830AC2F-AE89-4FA2-A51C-1EF2DFBA3CA9}"/>
              </a:ext>
            </a:extLst>
          </p:cNvPr>
          <p:cNvSpPr txBox="1">
            <a:spLocks noChangeArrowheads="1"/>
          </p:cNvSpPr>
          <p:nvPr/>
        </p:nvSpPr>
        <p:spPr bwMode="auto">
          <a:xfrm>
            <a:off x="2634016" y="6006160"/>
            <a:ext cx="182880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连接</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的吞吐量</a:t>
            </a:r>
            <a:endParaRPr lang="en-US" sz="1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Text Box 12">
            <a:extLst>
              <a:ext uri="{FF2B5EF4-FFF2-40B4-BE49-F238E27FC236}">
                <a16:creationId xmlns:a16="http://schemas.microsoft.com/office/drawing/2014/main" id="{FEB6BD44-0DDB-470B-80BA-E1ECFF25F456}"/>
              </a:ext>
            </a:extLst>
          </p:cNvPr>
          <p:cNvSpPr txBox="1">
            <a:spLocks noChangeArrowheads="1"/>
          </p:cNvSpPr>
          <p:nvPr/>
        </p:nvSpPr>
        <p:spPr bwMode="auto">
          <a:xfrm rot="-5396642">
            <a:off x="1008458" y="4342275"/>
            <a:ext cx="1705970"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连接</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的吞吐量</a:t>
            </a:r>
            <a:endParaRPr lang="en-US"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Line 13">
            <a:extLst>
              <a:ext uri="{FF2B5EF4-FFF2-40B4-BE49-F238E27FC236}">
                <a16:creationId xmlns:a16="http://schemas.microsoft.com/office/drawing/2014/main" id="{9B382443-FB61-49EC-9355-8BD7F3FC3217}"/>
              </a:ext>
            </a:extLst>
          </p:cNvPr>
          <p:cNvSpPr>
            <a:spLocks noChangeShapeType="1"/>
          </p:cNvSpPr>
          <p:nvPr/>
        </p:nvSpPr>
        <p:spPr bwMode="auto">
          <a:xfrm rot="-2938105" flipH="1" flipV="1">
            <a:off x="3166964" y="5253686"/>
            <a:ext cx="1293813" cy="4762"/>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0" name="Line 15">
            <a:extLst>
              <a:ext uri="{FF2B5EF4-FFF2-40B4-BE49-F238E27FC236}">
                <a16:creationId xmlns:a16="http://schemas.microsoft.com/office/drawing/2014/main" id="{A880472A-521B-4FF9-B31B-89676DD6F241}"/>
              </a:ext>
            </a:extLst>
          </p:cNvPr>
          <p:cNvSpPr>
            <a:spLocks noChangeShapeType="1"/>
          </p:cNvSpPr>
          <p:nvPr/>
        </p:nvSpPr>
        <p:spPr bwMode="auto">
          <a:xfrm flipH="1">
            <a:off x="3060814" y="4786960"/>
            <a:ext cx="1165012" cy="6604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2" name="Line 17">
            <a:extLst>
              <a:ext uri="{FF2B5EF4-FFF2-40B4-BE49-F238E27FC236}">
                <a16:creationId xmlns:a16="http://schemas.microsoft.com/office/drawing/2014/main" id="{80D456BB-C737-45E5-8C9E-F923799377D3}"/>
              </a:ext>
            </a:extLst>
          </p:cNvPr>
          <p:cNvSpPr>
            <a:spLocks noChangeShapeType="1"/>
          </p:cNvSpPr>
          <p:nvPr/>
        </p:nvSpPr>
        <p:spPr bwMode="auto">
          <a:xfrm rot="-2938105" flipH="1" flipV="1">
            <a:off x="2846290" y="4926660"/>
            <a:ext cx="1303337" cy="23813"/>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4" name="Line 19">
            <a:extLst>
              <a:ext uri="{FF2B5EF4-FFF2-40B4-BE49-F238E27FC236}">
                <a16:creationId xmlns:a16="http://schemas.microsoft.com/office/drawing/2014/main" id="{C2278F2F-9BD0-421C-8A07-6803FE418714}"/>
              </a:ext>
            </a:extLst>
          </p:cNvPr>
          <p:cNvSpPr>
            <a:spLocks noChangeShapeType="1"/>
          </p:cNvSpPr>
          <p:nvPr/>
        </p:nvSpPr>
        <p:spPr bwMode="auto">
          <a:xfrm flipH="1">
            <a:off x="2911377" y="4501210"/>
            <a:ext cx="981075" cy="7651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6" name="Line 21">
            <a:extLst>
              <a:ext uri="{FF2B5EF4-FFF2-40B4-BE49-F238E27FC236}">
                <a16:creationId xmlns:a16="http://schemas.microsoft.com/office/drawing/2014/main" id="{B31B4B73-CA8E-4879-B410-781556E1543A}"/>
              </a:ext>
            </a:extLst>
          </p:cNvPr>
          <p:cNvSpPr>
            <a:spLocks noChangeShapeType="1"/>
          </p:cNvSpPr>
          <p:nvPr/>
        </p:nvSpPr>
        <p:spPr bwMode="auto">
          <a:xfrm rot="-2938105" flipH="1" flipV="1">
            <a:off x="2702621" y="4779817"/>
            <a:ext cx="1279525" cy="14287"/>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7" name="Line 22">
            <a:extLst>
              <a:ext uri="{FF2B5EF4-FFF2-40B4-BE49-F238E27FC236}">
                <a16:creationId xmlns:a16="http://schemas.microsoft.com/office/drawing/2014/main" id="{7BE182B9-C4B3-4AC3-A8F8-9AD3DAFB28BF}"/>
              </a:ext>
            </a:extLst>
          </p:cNvPr>
          <p:cNvSpPr>
            <a:spLocks noChangeShapeType="1"/>
          </p:cNvSpPr>
          <p:nvPr/>
        </p:nvSpPr>
        <p:spPr bwMode="auto">
          <a:xfrm flipH="1">
            <a:off x="2844702" y="4320235"/>
            <a:ext cx="911225" cy="8890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58" name="Line 23">
            <a:extLst>
              <a:ext uri="{FF2B5EF4-FFF2-40B4-BE49-F238E27FC236}">
                <a16:creationId xmlns:a16="http://schemas.microsoft.com/office/drawing/2014/main" id="{1431E4D8-3D7D-4DA8-A8F2-9A033A268774}"/>
              </a:ext>
            </a:extLst>
          </p:cNvPr>
          <p:cNvSpPr>
            <a:spLocks noChangeShapeType="1"/>
          </p:cNvSpPr>
          <p:nvPr/>
        </p:nvSpPr>
        <p:spPr bwMode="auto">
          <a:xfrm rot="-2938105" flipH="1" flipV="1">
            <a:off x="2623246" y="4716317"/>
            <a:ext cx="1279525" cy="14287"/>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 name="Text Box 9">
            <a:extLst>
              <a:ext uri="{FF2B5EF4-FFF2-40B4-BE49-F238E27FC236}">
                <a16:creationId xmlns:a16="http://schemas.microsoft.com/office/drawing/2014/main" id="{3800D0A3-252E-4733-B569-788094157F95}"/>
              </a:ext>
            </a:extLst>
          </p:cNvPr>
          <p:cNvSpPr txBox="1">
            <a:spLocks noChangeArrowheads="1"/>
          </p:cNvSpPr>
          <p:nvPr/>
        </p:nvSpPr>
        <p:spPr bwMode="auto">
          <a:xfrm>
            <a:off x="3119365" y="5584883"/>
            <a:ext cx="28728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en-US" altLang="zh-CN" dirty="0">
                <a:latin typeface="Times New Roman" panose="02020603050405020304" pitchFamily="18" charset="0"/>
                <a:cs typeface="Times New Roman" panose="02020603050405020304" pitchFamily="18" charset="0"/>
              </a:rPr>
              <a:t>A</a:t>
            </a:r>
            <a:endParaRPr lang="en-US" dirty="0">
              <a:latin typeface="Times New Roman" panose="02020603050405020304" pitchFamily="18" charset="0"/>
              <a:cs typeface="Times New Roman" panose="02020603050405020304" pitchFamily="18" charset="0"/>
            </a:endParaRPr>
          </a:p>
        </p:txBody>
      </p:sp>
      <p:sp>
        <p:nvSpPr>
          <p:cNvPr id="121856" name="Text Box 9">
            <a:extLst>
              <a:ext uri="{FF2B5EF4-FFF2-40B4-BE49-F238E27FC236}">
                <a16:creationId xmlns:a16="http://schemas.microsoft.com/office/drawing/2014/main" id="{E00333BA-B391-46D7-856C-A395591339F9}"/>
              </a:ext>
            </a:extLst>
          </p:cNvPr>
          <p:cNvSpPr txBox="1">
            <a:spLocks noChangeArrowheads="1"/>
          </p:cNvSpPr>
          <p:nvPr/>
        </p:nvSpPr>
        <p:spPr bwMode="auto">
          <a:xfrm>
            <a:off x="4191163" y="4496658"/>
            <a:ext cx="28728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en-US" altLang="zh-CN" dirty="0">
                <a:latin typeface="Times New Roman" panose="02020603050405020304" pitchFamily="18" charset="0"/>
                <a:cs typeface="Times New Roman" panose="02020603050405020304" pitchFamily="18" charset="0"/>
              </a:rPr>
              <a:t>B</a:t>
            </a:r>
            <a:endParaRPr lang="en-US" dirty="0">
              <a:latin typeface="Times New Roman" panose="02020603050405020304" pitchFamily="18" charset="0"/>
              <a:cs typeface="Times New Roman" panose="02020603050405020304" pitchFamily="18" charset="0"/>
            </a:endParaRPr>
          </a:p>
        </p:txBody>
      </p:sp>
      <p:sp>
        <p:nvSpPr>
          <p:cNvPr id="121857" name="Text Box 9">
            <a:extLst>
              <a:ext uri="{FF2B5EF4-FFF2-40B4-BE49-F238E27FC236}">
                <a16:creationId xmlns:a16="http://schemas.microsoft.com/office/drawing/2014/main" id="{1637BE10-C333-4529-830E-87E97F956355}"/>
              </a:ext>
            </a:extLst>
          </p:cNvPr>
          <p:cNvSpPr txBox="1">
            <a:spLocks noChangeArrowheads="1"/>
          </p:cNvSpPr>
          <p:nvPr/>
        </p:nvSpPr>
        <p:spPr bwMode="auto">
          <a:xfrm>
            <a:off x="2812575" y="5341362"/>
            <a:ext cx="28728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en-US" altLang="zh-C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p:sp>
        <p:nvSpPr>
          <p:cNvPr id="121858" name="Text Box 9">
            <a:extLst>
              <a:ext uri="{FF2B5EF4-FFF2-40B4-BE49-F238E27FC236}">
                <a16:creationId xmlns:a16="http://schemas.microsoft.com/office/drawing/2014/main" id="{F033210E-4748-4AEF-8719-12FDFDF27F8F}"/>
              </a:ext>
            </a:extLst>
          </p:cNvPr>
          <p:cNvSpPr txBox="1">
            <a:spLocks noChangeArrowheads="1"/>
          </p:cNvSpPr>
          <p:nvPr/>
        </p:nvSpPr>
        <p:spPr bwMode="auto">
          <a:xfrm>
            <a:off x="3847136" y="4187423"/>
            <a:ext cx="28728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spcBef>
                <a:spcPct val="50000"/>
              </a:spcBef>
              <a:defRPr/>
            </a:pPr>
            <a:r>
              <a:rPr lang="en-US" altLang="zh-CN" dirty="0">
                <a:latin typeface="Times New Roman" panose="02020603050405020304" pitchFamily="18" charset="0"/>
                <a:cs typeface="Times New Roman" panose="02020603050405020304" pitchFamily="18" charset="0"/>
              </a:rPr>
              <a:t>D</a:t>
            </a:r>
            <a:endParaRPr lang="en-US" dirty="0">
              <a:latin typeface="Times New Roman" panose="02020603050405020304" pitchFamily="18" charset="0"/>
              <a:cs typeface="Times New Roman" panose="02020603050405020304" pitchFamily="18" charset="0"/>
            </a:endParaRPr>
          </a:p>
        </p:txBody>
      </p:sp>
      <p:sp>
        <p:nvSpPr>
          <p:cNvPr id="121860" name="矩形 121859">
            <a:extLst>
              <a:ext uri="{FF2B5EF4-FFF2-40B4-BE49-F238E27FC236}">
                <a16:creationId xmlns:a16="http://schemas.microsoft.com/office/drawing/2014/main" id="{13B3F52F-8CCD-4B97-9001-B638CBFEAF91}"/>
              </a:ext>
            </a:extLst>
          </p:cNvPr>
          <p:cNvSpPr/>
          <p:nvPr/>
        </p:nvSpPr>
        <p:spPr>
          <a:xfrm>
            <a:off x="5949655" y="4294847"/>
            <a:ext cx="2213341" cy="682238"/>
          </a:xfrm>
          <a:prstGeom prst="rect">
            <a:avLst/>
          </a:prstGeom>
          <a:solidFill>
            <a:schemeClr val="accent1">
              <a:lumMod val="20000"/>
              <a:lumOff val="80000"/>
            </a:schemeClr>
          </a:solidFill>
          <a:ln>
            <a:solidFill>
              <a:schemeClr val="accent1"/>
            </a:solidFill>
          </a:ln>
        </p:spPr>
        <p:txBody>
          <a:bodyPr wrap="square">
            <a:spAutoFit/>
          </a:bodyPr>
          <a:lstStyle/>
          <a:p>
            <a:pPr algn="ctr">
              <a:lnSpc>
                <a:spcPts val="2300"/>
              </a:lnSpc>
            </a:pP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RTT</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越小，拥塞窗口增速越快</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Text Box 10">
            <a:extLst>
              <a:ext uri="{FF2B5EF4-FFF2-40B4-BE49-F238E27FC236}">
                <a16:creationId xmlns:a16="http://schemas.microsoft.com/office/drawing/2014/main" id="{845F3749-E495-4AD3-875B-885CDF6E96B4}"/>
              </a:ext>
            </a:extLst>
          </p:cNvPr>
          <p:cNvSpPr txBox="1">
            <a:spLocks noChangeArrowheads="1"/>
          </p:cNvSpPr>
          <p:nvPr/>
        </p:nvSpPr>
        <p:spPr bwMode="auto">
          <a:xfrm>
            <a:off x="2314460" y="3061547"/>
            <a:ext cx="1160021" cy="646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zh-CN"/>
            </a:defPPr>
            <a:lvl1pPr>
              <a:spcBef>
                <a:spcPct val="50000"/>
              </a:spcBef>
              <a:defRPr>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defRPr sz="1600">
                <a:latin typeface="Tahoma" charset="0"/>
                <a:ea typeface="ＭＳ Ｐゴシック" charset="0"/>
              </a:defRPr>
            </a:lvl2pPr>
            <a:lvl3pPr marL="1143000" indent="-228600">
              <a:defRPr sz="1600">
                <a:latin typeface="Tahoma" charset="0"/>
                <a:ea typeface="ＭＳ Ｐゴシック" charset="0"/>
              </a:defRPr>
            </a:lvl3pPr>
            <a:lvl4pPr marL="1600200" indent="-228600">
              <a:defRPr sz="1600">
                <a:latin typeface="Tahoma" charset="0"/>
                <a:ea typeface="ＭＳ Ｐゴシック" charset="0"/>
              </a:defRPr>
            </a:lvl4pPr>
            <a:lvl5pPr marL="2057400" indent="-228600">
              <a:defRPr sz="1600">
                <a:latin typeface="Tahoma" charset="0"/>
                <a:ea typeface="ＭＳ Ｐゴシック" charset="0"/>
              </a:defRPr>
            </a:lvl5pPr>
            <a:lvl6pPr marL="2514600" indent="-228600" algn="ctr" eaLnBrk="0" fontAlgn="base" hangingPunct="0">
              <a:spcBef>
                <a:spcPct val="0"/>
              </a:spcBef>
              <a:spcAft>
                <a:spcPct val="0"/>
              </a:spcAft>
              <a:defRPr sz="1600">
                <a:latin typeface="Tahoma" charset="0"/>
                <a:ea typeface="ＭＳ Ｐゴシック" charset="0"/>
              </a:defRPr>
            </a:lvl6pPr>
            <a:lvl7pPr marL="2971800" indent="-228600" algn="ctr" eaLnBrk="0" fontAlgn="base" hangingPunct="0">
              <a:spcBef>
                <a:spcPct val="0"/>
              </a:spcBef>
              <a:spcAft>
                <a:spcPct val="0"/>
              </a:spcAft>
              <a:defRPr sz="1600">
                <a:latin typeface="Tahoma" charset="0"/>
                <a:ea typeface="ＭＳ Ｐゴシック" charset="0"/>
              </a:defRPr>
            </a:lvl7pPr>
            <a:lvl8pPr marL="3429000" indent="-228600" algn="ctr" eaLnBrk="0" fontAlgn="base" hangingPunct="0">
              <a:spcBef>
                <a:spcPct val="0"/>
              </a:spcBef>
              <a:spcAft>
                <a:spcPct val="0"/>
              </a:spcAft>
              <a:defRPr sz="1600">
                <a:latin typeface="Tahoma" charset="0"/>
                <a:ea typeface="ＭＳ Ｐゴシック" charset="0"/>
              </a:defRPr>
            </a:lvl8pPr>
            <a:lvl9pPr marL="3886200" indent="-228600" algn="ctr" eaLnBrk="0" fontAlgn="base" hangingPunct="0">
              <a:spcBef>
                <a:spcPct val="0"/>
              </a:spcBef>
              <a:spcAft>
                <a:spcPct val="0"/>
              </a:spcAft>
              <a:defRPr sz="1600">
                <a:latin typeface="Tahoma" charset="0"/>
                <a:ea typeface="ＭＳ Ｐゴシック" charset="0"/>
              </a:defRPr>
            </a:lvl9pPr>
          </a:lstStyle>
          <a:p>
            <a:pPr algn="ctr"/>
            <a:r>
              <a:rPr lang="zh-CN" altLang="en-US" dirty="0"/>
              <a:t>全带宽利用率线</a:t>
            </a:r>
            <a:endParaRPr lang="en-US" dirty="0"/>
          </a:p>
        </p:txBody>
      </p:sp>
    </p:spTree>
    <p:extLst>
      <p:ext uri="{BB962C8B-B14F-4D97-AF65-F5344CB8AC3E}">
        <p14:creationId xmlns:p14="http://schemas.microsoft.com/office/powerpoint/2010/main" val="219730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righ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left)">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right)">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wipe(left)">
                                      <p:cBhvr>
                                        <p:cTn id="27" dur="500"/>
                                        <p:tgtEl>
                                          <p:spTgt spid="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wipe(right)">
                                      <p:cBhvr>
                                        <p:cTn id="32" dur="500"/>
                                        <p:tgtEl>
                                          <p:spTgt spid="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left)">
                                      <p:cBhvr>
                                        <p:cTn id="37" dur="500"/>
                                        <p:tgtEl>
                                          <p:spTgt spid="58"/>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21860"/>
                                        </p:tgtEl>
                                        <p:attrNameLst>
                                          <p:attrName>style.visibility</p:attrName>
                                        </p:attrNameLst>
                                      </p:cBhvr>
                                      <p:to>
                                        <p:strVal val="visible"/>
                                      </p:to>
                                    </p:set>
                                    <p:animEffect transition="in" filter="circle(in)">
                                      <p:cBhvr>
                                        <p:cTn id="42" dur="2000"/>
                                        <p:tgtEl>
                                          <p:spTgt spid="121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50224" y="855845"/>
            <a:ext cx="8279652" cy="5582702"/>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拥塞控制：公平性问题</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32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是否公平？</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3200"/>
              </a:lnSpc>
              <a:spcBef>
                <a:spcPts val="600"/>
              </a:spcBef>
              <a:buClr>
                <a:schemeClr val="accent6">
                  <a:lumMod val="75000"/>
                </a:schemeClr>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有些多媒体应用通常使用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，以恒定的速率发送音视频，能容忍一些丢失，避免</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拥塞控制带来的速率限制及抖动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3200"/>
              </a:lnSpc>
              <a:spcBef>
                <a:spcPts val="600"/>
              </a:spcBef>
              <a:buClr>
                <a:schemeClr val="accent6">
                  <a:lumMod val="75000"/>
                </a:schemeClr>
              </a:buClr>
              <a:buSzPct val="75000"/>
              <a:buFont typeface="Wingdings" panose="05000000000000000000" pitchFamily="2" charset="2"/>
              <a:buChar char="ü"/>
            </a:pP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UDP</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流量压制</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TCP</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流量</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32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多</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连接的公平性问题</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3200"/>
              </a:lnSpc>
              <a:spcBef>
                <a:spcPts val="600"/>
              </a:spcBef>
              <a:buClr>
                <a:schemeClr val="accent6">
                  <a:lumMod val="75000"/>
                </a:schemeClr>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一些应用可以建立多个并行的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连接，提高传输速率及解决</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队头阻塞问题（例如目前的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Web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应用）</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3200"/>
              </a:lnSpc>
              <a:spcBef>
                <a:spcPts val="600"/>
              </a:spcBef>
              <a:buClr>
                <a:schemeClr val="accent6">
                  <a:lumMod val="75000"/>
                </a:schemeClr>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例如：一个带宽为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的链路由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9</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个存在的应用共享，每个应用均使用一个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连接；如果一个新应用使用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连接，则获得</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带宽；如果新应用使用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连接，则获得</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带宽</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3200"/>
              </a:lnSpc>
              <a:spcBef>
                <a:spcPts val="600"/>
              </a:spcBef>
              <a:buClr>
                <a:schemeClr val="accent6">
                  <a:lumMod val="75000"/>
                </a:schemeClr>
              </a:buClr>
              <a:buSzPct val="75000"/>
              <a:buFont typeface="Wingdings" panose="05000000000000000000" pitchFamily="2" charset="2"/>
              <a:buChar char="ü"/>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多</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TCP</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连接存在公平性问题</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815704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51" y="781704"/>
            <a:ext cx="8279652" cy="3298977"/>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拥塞控制：几个典型算法</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26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New Reno</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2600"/>
              </a:lnSpc>
              <a:spcBef>
                <a:spcPts val="600"/>
              </a:spcBef>
              <a:buClr>
                <a:schemeClr val="accent6">
                  <a:lumMod val="75000"/>
                </a:schemeClr>
              </a:buClr>
              <a:buSzPct val="75000"/>
              <a:buFont typeface="Wingdings" panose="05000000000000000000" pitchFamily="2" charset="2"/>
              <a:buChar char="ü"/>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Reno</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仅考虑了每次拥塞发生时仅丢失一个报文段的情形</a:t>
            </a:r>
          </a:p>
          <a:p>
            <a:pPr marL="896938" lvl="2" indent="-269875">
              <a:lnSpc>
                <a:spcPts val="2600"/>
              </a:lnSpc>
              <a:spcBef>
                <a:spcPts val="600"/>
              </a:spcBef>
              <a:buClr>
                <a:schemeClr val="accent6">
                  <a:lumMod val="75000"/>
                </a:schemeClr>
              </a:buClr>
              <a:buSzPct val="75000"/>
              <a:buFont typeface="Wingdings" panose="05000000000000000000" pitchFamily="2" charset="2"/>
              <a:buChar char="ü"/>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New Reno</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主要解决</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一次拥塞多个报文段丢失</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，而造成的拥塞窗口和阈值多次折半问题（使</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吞吐率降低）</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26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Cubic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2600"/>
              </a:lnSpc>
              <a:spcBef>
                <a:spcPts val="600"/>
              </a:spcBef>
              <a:buClr>
                <a:schemeClr val="accent6">
                  <a:lumMod val="75000"/>
                </a:schemeClr>
              </a:buClr>
              <a:buSzPct val="75000"/>
              <a:buFont typeface="Wingdings" panose="05000000000000000000" pitchFamily="2" charset="2"/>
              <a:buChar char="ü"/>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Linux</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内核</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之后的默认</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拥塞控制算法</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2600"/>
              </a:lnSpc>
              <a:spcBef>
                <a:spcPts val="600"/>
              </a:spcBef>
              <a:buClr>
                <a:schemeClr val="accent6">
                  <a:lumMod val="75000"/>
                </a:schemeClr>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解决由</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拥塞窗口变化对</a:t>
            </a:r>
            <a:r>
              <a:rPr lang="en-US" altLang="zh-CN"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RTT</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依赖</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而造成的不公平问题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61B38533-C9E6-4ACA-81A6-A0C7F2A9D53F}"/>
              </a:ext>
            </a:extLst>
          </p:cNvPr>
          <p:cNvPicPr>
            <a:picLocks noChangeAspect="1"/>
          </p:cNvPicPr>
          <p:nvPr/>
        </p:nvPicPr>
        <p:blipFill>
          <a:blip r:embed="rId5"/>
          <a:stretch>
            <a:fillRect/>
          </a:stretch>
        </p:blipFill>
        <p:spPr>
          <a:xfrm>
            <a:off x="2137872" y="4080681"/>
            <a:ext cx="4754409" cy="2466264"/>
          </a:xfrm>
          <a:prstGeom prst="rect">
            <a:avLst/>
          </a:prstGeom>
        </p:spPr>
      </p:pic>
      <p:sp>
        <p:nvSpPr>
          <p:cNvPr id="5" name="爆炸形: 14 pt  4">
            <a:extLst>
              <a:ext uri="{FF2B5EF4-FFF2-40B4-BE49-F238E27FC236}">
                <a16:creationId xmlns:a16="http://schemas.microsoft.com/office/drawing/2014/main" id="{AEF0CC6F-F80A-4804-884B-DD0F9151F414}"/>
              </a:ext>
            </a:extLst>
          </p:cNvPr>
          <p:cNvSpPr/>
          <p:nvPr/>
        </p:nvSpPr>
        <p:spPr>
          <a:xfrm>
            <a:off x="7432661" y="5494902"/>
            <a:ext cx="1440160" cy="9361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3-6</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1065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37644" y="874632"/>
            <a:ext cx="8468711" cy="51299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BBR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ottleneck </a:t>
            </a:r>
            <a:r>
              <a:rPr lang="en-US"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andwidth and </a:t>
            </a:r>
            <a:r>
              <a:rPr lang="en-US"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ound-trip propagation time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8">
            <a:extLst>
              <a:ext uri="{FF2B5EF4-FFF2-40B4-BE49-F238E27FC236}">
                <a16:creationId xmlns:a16="http://schemas.microsoft.com/office/drawing/2014/main" id="{CFB75B6A-5939-49ED-8A68-6FD32DCBC2E9}"/>
              </a:ext>
            </a:extLst>
          </p:cNvPr>
          <p:cNvSpPr>
            <a:spLocks noChangeArrowheads="1"/>
          </p:cNvSpPr>
          <p:nvPr/>
        </p:nvSpPr>
        <p:spPr bwMode="auto">
          <a:xfrm>
            <a:off x="255932" y="1820636"/>
            <a:ext cx="8632133" cy="936721"/>
          </a:xfrm>
          <a:prstGeom prst="rect">
            <a:avLst/>
          </a:prstGeom>
          <a:noFill/>
          <a:ln w="9525">
            <a:noFill/>
            <a:miter lim="800000"/>
            <a:headEnd/>
            <a:tailEnd/>
          </a:ln>
        </p:spPr>
        <p:txBody>
          <a:bodyPr/>
          <a:lstStyle/>
          <a:p>
            <a:pPr marL="627063" lvl="1" indent="-268288">
              <a:lnSpc>
                <a:spcPts val="30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2016</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年由谷歌设计提出，目前已集成到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Linux 4.9</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内核中</a:t>
            </a:r>
          </a:p>
          <a:p>
            <a:pPr marL="627063" lvl="1" indent="-268288">
              <a:lnSpc>
                <a:spcPts val="30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BBR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不将出现丢包或时延变大作为信号，主动探测网络带宽</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EFBDA171-873C-4CE0-AA1B-B19A1D2B4AE9}"/>
              </a:ext>
            </a:extLst>
          </p:cNvPr>
          <p:cNvSpPr/>
          <p:nvPr/>
        </p:nvSpPr>
        <p:spPr>
          <a:xfrm>
            <a:off x="464806" y="5898023"/>
            <a:ext cx="8214388" cy="662521"/>
          </a:xfrm>
          <a:prstGeom prst="rect">
            <a:avLst/>
          </a:prstGeom>
          <a:solidFill>
            <a:srgbClr val="E1E7FF"/>
          </a:solidFill>
          <a:ln w="6350">
            <a:solidFill>
              <a:srgbClr val="FF0000"/>
            </a:solidFill>
            <a:miter lim="800000"/>
            <a:headEnd/>
            <a:tailEnd/>
          </a:ln>
        </p:spPr>
        <p:txBody>
          <a:bodyPr wrap="square" lIns="91408" tIns="45704" rIns="91408" bIns="45704">
            <a:spAutoFit/>
          </a:bodyPr>
          <a:lstStyle/>
          <a:p>
            <a:pPr>
              <a:lnSpc>
                <a:spcPts val="2296"/>
              </a:lnSpc>
            </a:pPr>
            <a:r>
              <a:rPr lang="en-US" altLang="zh-CN" sz="1597" dirty="0">
                <a:ea typeface="宋体" charset="-122"/>
                <a:cs typeface="Times New Roman" panose="02020603050405020304" pitchFamily="18" charset="0"/>
              </a:rPr>
              <a:t>Neal Cardwell, </a:t>
            </a:r>
            <a:r>
              <a:rPr lang="en-US" altLang="zh-CN" sz="1597" dirty="0" err="1">
                <a:ea typeface="宋体" charset="-122"/>
                <a:cs typeface="Times New Roman" panose="02020603050405020304" pitchFamily="18" charset="0"/>
              </a:rPr>
              <a:t>Yuchung</a:t>
            </a:r>
            <a:r>
              <a:rPr lang="en-US" altLang="zh-CN" sz="1597" dirty="0">
                <a:ea typeface="宋体" charset="-122"/>
                <a:cs typeface="Times New Roman" panose="02020603050405020304" pitchFamily="18" charset="0"/>
              </a:rPr>
              <a:t> Cheng, C. Stephen Gunn, Soheil </a:t>
            </a:r>
            <a:r>
              <a:rPr lang="en-US" altLang="zh-CN" sz="1597" dirty="0" err="1">
                <a:ea typeface="宋体" charset="-122"/>
                <a:cs typeface="Times New Roman" panose="02020603050405020304" pitchFamily="18" charset="0"/>
              </a:rPr>
              <a:t>Hassas</a:t>
            </a:r>
            <a:r>
              <a:rPr lang="en-US" altLang="zh-CN" sz="1597" dirty="0">
                <a:ea typeface="宋体" charset="-122"/>
                <a:cs typeface="Times New Roman" panose="02020603050405020304" pitchFamily="18" charset="0"/>
              </a:rPr>
              <a:t> Yeganeh, and </a:t>
            </a:r>
            <a:r>
              <a:rPr lang="en-US" altLang="zh-CN" sz="1597" dirty="0">
                <a:solidFill>
                  <a:srgbClr val="C00000"/>
                </a:solidFill>
                <a:ea typeface="宋体" charset="-122"/>
                <a:cs typeface="Times New Roman" panose="02020603050405020304" pitchFamily="18" charset="0"/>
              </a:rPr>
              <a:t>Van Jacobson</a:t>
            </a:r>
            <a:r>
              <a:rPr lang="en-US" altLang="zh-CN" sz="1597" dirty="0">
                <a:ea typeface="宋体" charset="-122"/>
                <a:cs typeface="Times New Roman" panose="02020603050405020304" pitchFamily="18" charset="0"/>
              </a:rPr>
              <a:t>. BBR: Congestion-Based Congestion Control. Communications of the ACM. Vol. 60, No. 2, 2017</a:t>
            </a:r>
            <a:endParaRPr lang="zh-CN" altLang="en-US" sz="1597" dirty="0">
              <a:ea typeface="宋体" charset="-122"/>
              <a:cs typeface="Times New Roman" panose="02020603050405020304" pitchFamily="18" charset="0"/>
            </a:endParaRPr>
          </a:p>
        </p:txBody>
      </p:sp>
      <p:pic>
        <p:nvPicPr>
          <p:cNvPr id="9" name="Picture 4" descr="BBRoptimal.png">
            <a:extLst>
              <a:ext uri="{FF2B5EF4-FFF2-40B4-BE49-F238E27FC236}">
                <a16:creationId xmlns:a16="http://schemas.microsoft.com/office/drawing/2014/main" id="{DDC03AA1-E327-44CF-8B53-187D20DEB0D7}"/>
              </a:ext>
            </a:extLst>
          </p:cNvPr>
          <p:cNvPicPr>
            <a:picLocks noChangeAspect="1"/>
          </p:cNvPicPr>
          <p:nvPr/>
        </p:nvPicPr>
        <p:blipFill>
          <a:blip r:embed="rId5"/>
          <a:stretch>
            <a:fillRect/>
          </a:stretch>
        </p:blipFill>
        <p:spPr>
          <a:xfrm>
            <a:off x="1343897" y="2994154"/>
            <a:ext cx="5004916" cy="2705492"/>
          </a:xfrm>
          <a:prstGeom prst="rect">
            <a:avLst/>
          </a:prstGeom>
        </p:spPr>
      </p:pic>
      <p:sp>
        <p:nvSpPr>
          <p:cNvPr id="10" name="Rectangular Callout 5">
            <a:extLst>
              <a:ext uri="{FF2B5EF4-FFF2-40B4-BE49-F238E27FC236}">
                <a16:creationId xmlns:a16="http://schemas.microsoft.com/office/drawing/2014/main" id="{A489BC88-DAB5-4343-9362-8913F0B19DEA}"/>
              </a:ext>
            </a:extLst>
          </p:cNvPr>
          <p:cNvSpPr/>
          <p:nvPr/>
        </p:nvSpPr>
        <p:spPr>
          <a:xfrm>
            <a:off x="6348812" y="3867511"/>
            <a:ext cx="1013262" cy="595843"/>
          </a:xfrm>
          <a:prstGeom prst="wedgeRectCallout">
            <a:avLst>
              <a:gd name="adj1" fmla="val -96290"/>
              <a:gd name="adj2" fmla="val 73119"/>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99" dirty="0">
                <a:solidFill>
                  <a:srgbClr val="C00000"/>
                </a:solidFill>
                <a:latin typeface="微软雅黑" panose="020B0503020204020204" pitchFamily="34" charset="-122"/>
                <a:ea typeface="微软雅黑" panose="020B0503020204020204" pitchFamily="34" charset="-122"/>
              </a:rPr>
              <a:t>开始丢包</a:t>
            </a:r>
          </a:p>
        </p:txBody>
      </p:sp>
      <p:sp>
        <p:nvSpPr>
          <p:cNvPr id="11" name="Rectangular Callout 6">
            <a:extLst>
              <a:ext uri="{FF2B5EF4-FFF2-40B4-BE49-F238E27FC236}">
                <a16:creationId xmlns:a16="http://schemas.microsoft.com/office/drawing/2014/main" id="{9B444992-FB38-42B3-B894-5AE38E1B6D58}"/>
              </a:ext>
            </a:extLst>
          </p:cNvPr>
          <p:cNvSpPr/>
          <p:nvPr/>
        </p:nvSpPr>
        <p:spPr>
          <a:xfrm>
            <a:off x="337644" y="3704841"/>
            <a:ext cx="1006254" cy="553660"/>
          </a:xfrm>
          <a:prstGeom prst="wedgeRectCallout">
            <a:avLst>
              <a:gd name="adj1" fmla="val 178818"/>
              <a:gd name="adj2" fmla="val 104405"/>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99" dirty="0">
                <a:latin typeface="微软雅黑" panose="020B0503020204020204" pitchFamily="34" charset="-122"/>
                <a:ea typeface="微软雅黑" panose="020B0503020204020204" pitchFamily="34" charset="-122"/>
              </a:rPr>
              <a:t>开始排队</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C6C5553-F90A-4AB0-A98E-7262B20B9305}"/>
                  </a:ext>
                </a:extLst>
              </p:cNvPr>
              <p:cNvSpPr/>
              <p:nvPr/>
            </p:nvSpPr>
            <p:spPr>
              <a:xfrm>
                <a:off x="5669744" y="2873572"/>
                <a:ext cx="3218321" cy="583694"/>
              </a:xfrm>
              <a:prstGeom prst="rect">
                <a:avLst/>
              </a:prstGeom>
              <a:solidFill>
                <a:schemeClr val="accent5">
                  <a:lumMod val="20000"/>
                  <a:lumOff val="80000"/>
                </a:schemeClr>
              </a:solidFill>
              <a:ln>
                <a:solidFill>
                  <a:srgbClr val="C00000"/>
                </a:solidFill>
              </a:ln>
            </p:spPr>
            <p:txBody>
              <a:bodyPr wrap="none">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瓶颈链路带宽</a:t>
                </a:r>
                <a:r>
                  <a:rPr lang="en-US" altLang="zh-CN" sz="1600" i="1" dirty="0" err="1">
                    <a:latin typeface="Times New Roman" panose="02020603050405020304" pitchFamily="18" charset="0"/>
                    <a:ea typeface="宋体" panose="02010600030101010101" pitchFamily="2" charset="-122"/>
                    <a:cs typeface="Times New Roman" panose="02020603050405020304" pitchFamily="18" charset="0"/>
                  </a:rPr>
                  <a:t>BtlBw</a:t>
                </a:r>
                <a:endParaRPr lang="en-US" altLang="zh-CN" sz="1600" i="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带宽时延积</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BDP</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𝐵𝑡𝑙𝐵</m:t>
                    </m:r>
                    <m:r>
                      <a:rPr lang="en-US" altLang="zh-CN" sz="1600" i="1" smtClean="0">
                        <a:latin typeface="Cambria Math" panose="02040503050406030204" pitchFamily="18" charset="0"/>
                      </a:rPr>
                      <m:t>𝑤</m:t>
                    </m:r>
                    <m:r>
                      <a:rPr lang="en-US" altLang="zh-CN" sz="160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𝑅𝑇𝑝𝑟𝑜𝑝</m:t>
                    </m:r>
                  </m:oMath>
                </a14:m>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1C6C5553-F90A-4AB0-A98E-7262B20B9305}"/>
                  </a:ext>
                </a:extLst>
              </p:cNvPr>
              <p:cNvSpPr>
                <a:spLocks noRot="1" noChangeAspect="1" noMove="1" noResize="1" noEditPoints="1" noAdjustHandles="1" noChangeArrowheads="1" noChangeShapeType="1" noTextEdit="1"/>
              </p:cNvSpPr>
              <p:nvPr/>
            </p:nvSpPr>
            <p:spPr>
              <a:xfrm>
                <a:off x="5669744" y="2873572"/>
                <a:ext cx="3218321" cy="583694"/>
              </a:xfrm>
              <a:prstGeom prst="rect">
                <a:avLst/>
              </a:prstGeom>
              <a:blipFill>
                <a:blip r:embed="rId6"/>
                <a:stretch>
                  <a:fillRect l="-755" t="-3061" b="-12245"/>
                </a:stretch>
              </a:blipFill>
              <a:ln>
                <a:solidFill>
                  <a:srgbClr val="C0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3716730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29369" y="925790"/>
            <a:ext cx="7565366" cy="51299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BBR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算法核心思想</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8">
                <a:extLst>
                  <a:ext uri="{FF2B5EF4-FFF2-40B4-BE49-F238E27FC236}">
                    <a16:creationId xmlns:a16="http://schemas.microsoft.com/office/drawing/2014/main" id="{CFB75B6A-5939-49ED-8A68-6FD32DCBC2E9}"/>
                  </a:ext>
                </a:extLst>
              </p:cNvPr>
              <p:cNvSpPr>
                <a:spLocks noChangeArrowheads="1"/>
              </p:cNvSpPr>
              <p:nvPr/>
            </p:nvSpPr>
            <p:spPr bwMode="auto">
              <a:xfrm>
                <a:off x="212014" y="3429000"/>
                <a:ext cx="5140920" cy="1330839"/>
              </a:xfrm>
              <a:prstGeom prst="rect">
                <a:avLst/>
              </a:prstGeom>
              <a:noFill/>
              <a:ln w="9525">
                <a:noFill/>
                <a:miter lim="800000"/>
                <a:headEnd/>
                <a:tailEnd/>
              </a:ln>
            </p:spPr>
            <p:txBody>
              <a:bodyPr/>
              <a:lstStyle/>
              <a:p>
                <a:pPr marL="896938" lvl="2" indent="-269875">
                  <a:lnSpc>
                    <a:spcPts val="2800"/>
                  </a:lnSpc>
                  <a:spcBef>
                    <a:spcPts val="600"/>
                  </a:spcBef>
                  <a:buClr>
                    <a:schemeClr val="accent6">
                      <a:lumMod val="75000"/>
                    </a:schemeClr>
                  </a:buClr>
                  <a:buSzPct val="75000"/>
                  <a:buFont typeface="Wingdings" panose="05000000000000000000" pitchFamily="2" charset="2"/>
                  <a:buChar char="ü"/>
                </a:pP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rPr>
                  <a:t>RTprop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：往返时间</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2800"/>
                  </a:lnSpc>
                  <a:spcBef>
                    <a:spcPts val="600"/>
                  </a:spcBef>
                  <a:buClr>
                    <a:schemeClr val="accent6">
                      <a:lumMod val="75000"/>
                    </a:schemeClr>
                  </a:buClr>
                  <a:buSzPct val="75000"/>
                  <a:buFont typeface="Wingdings" panose="05000000000000000000" pitchFamily="2" charset="2"/>
                  <a:buChar char="ü"/>
                </a:pP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rPr>
                  <a:t>BtlBw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：瓶颈链路带宽</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896938" lvl="2" indent="-269875">
                  <a:lnSpc>
                    <a:spcPts val="2800"/>
                  </a:lnSpc>
                  <a:spcBef>
                    <a:spcPts val="600"/>
                  </a:spcBef>
                  <a:buClr>
                    <a:schemeClr val="accent6">
                      <a:lumMod val="75000"/>
                    </a:schemeClr>
                  </a:buClr>
                  <a:buSzPct val="75000"/>
                  <a:buFont typeface="Wingdings" panose="05000000000000000000" pitchFamily="2" charset="2"/>
                  <a:buChar char="ü"/>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BDP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：带宽时延积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2000" i="1">
                        <a:latin typeface="Cambria Math" panose="02040503050406030204" pitchFamily="18" charset="0"/>
                      </a:rPr>
                      <m:t>𝐵𝑡𝑙𝐵𝑤</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𝑅𝑇𝑝𝑟𝑜𝑝</m:t>
                    </m:r>
                  </m:oMath>
                </a14:m>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7" name="Rectangle 8">
                <a:extLst>
                  <a:ext uri="{FF2B5EF4-FFF2-40B4-BE49-F238E27FC236}">
                    <a16:creationId xmlns:a16="http://schemas.microsoft.com/office/drawing/2014/main" id="{CFB75B6A-5939-49ED-8A68-6FD32DCBC2E9}"/>
                  </a:ext>
                </a:extLst>
              </p:cNvPr>
              <p:cNvSpPr>
                <a:spLocks noRot="1" noChangeAspect="1" noMove="1" noResize="1" noEditPoints="1" noAdjustHandles="1" noChangeArrowheads="1" noChangeShapeType="1" noTextEdit="1"/>
              </p:cNvSpPr>
              <p:nvPr/>
            </p:nvSpPr>
            <p:spPr bwMode="auto">
              <a:xfrm>
                <a:off x="212014" y="3429000"/>
                <a:ext cx="5140920" cy="1330839"/>
              </a:xfrm>
              <a:prstGeom prst="rect">
                <a:avLst/>
              </a:prstGeom>
              <a:blipFill>
                <a:blip r:embed="rId4"/>
                <a:stretch>
                  <a:fillRect t="-2294" b="-4128"/>
                </a:stretch>
              </a:blipFill>
              <a:ln w="9525">
                <a:noFill/>
                <a:miter lim="800000"/>
                <a:headEnd/>
                <a:tailEnd/>
              </a:ln>
            </p:spPr>
            <p:txBody>
              <a:bodyPr/>
              <a:lstStyle/>
              <a:p>
                <a:r>
                  <a:rPr lang="zh-CN" altLang="en-US">
                    <a:noFill/>
                  </a:rPr>
                  <a:t> </a:t>
                </a:r>
              </a:p>
            </p:txBody>
          </p:sp>
        </mc:Fallback>
      </mc:AlternateContent>
      <p:pic>
        <p:nvPicPr>
          <p:cNvPr id="8" name="Picture 1" descr="C:\Users\mantis\AppData\Roaming\Tencent\Users\429108872\TIM\WinTemp\RichOle\{`OQ4__WSA2BD}}]AW_5ZJL.png">
            <a:extLst>
              <a:ext uri="{FF2B5EF4-FFF2-40B4-BE49-F238E27FC236}">
                <a16:creationId xmlns:a16="http://schemas.microsoft.com/office/drawing/2014/main" id="{D2C5FF09-76C4-49FA-A940-6B5A9FD7E3BA}"/>
              </a:ext>
            </a:extLst>
          </p:cNvPr>
          <p:cNvPicPr>
            <a:picLocks noChangeAspect="1" noChangeArrowheads="1"/>
          </p:cNvPicPr>
          <p:nvPr/>
        </p:nvPicPr>
        <p:blipFill>
          <a:blip r:embed="rId5"/>
          <a:srcRect/>
          <a:stretch>
            <a:fillRect/>
          </a:stretch>
        </p:blipFill>
        <p:spPr bwMode="auto">
          <a:xfrm>
            <a:off x="5352934" y="1415554"/>
            <a:ext cx="3383908" cy="4516656"/>
          </a:xfrm>
          <a:prstGeom prst="rect">
            <a:avLst/>
          </a:prstGeom>
          <a:noFill/>
        </p:spPr>
      </p:pic>
      <p:sp>
        <p:nvSpPr>
          <p:cNvPr id="9" name="Rectangle 8">
            <a:extLst>
              <a:ext uri="{FF2B5EF4-FFF2-40B4-BE49-F238E27FC236}">
                <a16:creationId xmlns:a16="http://schemas.microsoft.com/office/drawing/2014/main" id="{98A46CD1-E59D-481A-989B-E30039F708AF}"/>
              </a:ext>
            </a:extLst>
          </p:cNvPr>
          <p:cNvSpPr>
            <a:spLocks noChangeArrowheads="1"/>
          </p:cNvSpPr>
          <p:nvPr/>
        </p:nvSpPr>
        <p:spPr bwMode="auto">
          <a:xfrm>
            <a:off x="212014" y="1622124"/>
            <a:ext cx="4539649" cy="1806876"/>
          </a:xfrm>
          <a:prstGeom prst="rect">
            <a:avLst/>
          </a:prstGeom>
          <a:noFill/>
          <a:ln w="9525">
            <a:noFill/>
            <a:miter lim="800000"/>
            <a:headEnd/>
            <a:tailEnd/>
          </a:ln>
        </p:spPr>
        <p:txBody>
          <a:bodyPr/>
          <a:lstStyle/>
          <a:p>
            <a:pPr marL="627063" lvl="1" indent="-268288">
              <a:lnSpc>
                <a:spcPts val="3000"/>
              </a:lnSpc>
              <a:spcBef>
                <a:spcPts val="600"/>
              </a:spcBef>
              <a:buClr>
                <a:schemeClr val="accent2"/>
              </a:buClr>
              <a:buSzPct val="75000"/>
              <a:buBlip>
                <a:blip r:embed="rId6"/>
              </a:buBlip>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寻找最高吞吐率、最低时延点</a:t>
            </a:r>
          </a:p>
          <a:p>
            <a:pPr marL="627063" lvl="1" indent="-268288">
              <a:lnSpc>
                <a:spcPts val="3000"/>
              </a:lnSpc>
              <a:spcBef>
                <a:spcPts val="600"/>
              </a:spcBef>
              <a:buClr>
                <a:schemeClr val="accent2"/>
              </a:buClr>
              <a:buSzPct val="75000"/>
              <a:buBlip>
                <a:blip r:embed="rId6"/>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测量图中左侧优化点的</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BtlBw</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，尽量将</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cwnd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收敛到实际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BDP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，从而避免出现丢包</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970695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51" y="905272"/>
            <a:ext cx="7565366" cy="51299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Blip>
                <a:blip r:embed="rId3"/>
              </a:buBlip>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优化点的近似观测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8">
            <a:extLst>
              <a:ext uri="{FF2B5EF4-FFF2-40B4-BE49-F238E27FC236}">
                <a16:creationId xmlns:a16="http://schemas.microsoft.com/office/drawing/2014/main" id="{CFB75B6A-5939-49ED-8A68-6FD32DCBC2E9}"/>
              </a:ext>
            </a:extLst>
          </p:cNvPr>
          <p:cNvSpPr>
            <a:spLocks noChangeArrowheads="1"/>
          </p:cNvSpPr>
          <p:nvPr/>
        </p:nvSpPr>
        <p:spPr bwMode="auto">
          <a:xfrm>
            <a:off x="267247" y="1489851"/>
            <a:ext cx="8315643" cy="857932"/>
          </a:xfrm>
          <a:prstGeom prst="rect">
            <a:avLst/>
          </a:prstGeom>
          <a:noFill/>
          <a:ln w="9525">
            <a:noFill/>
            <a:miter lim="800000"/>
            <a:headEnd/>
            <a:tailEnd/>
          </a:ln>
        </p:spPr>
        <p:txBody>
          <a:bodyPr/>
          <a:lstStyle/>
          <a:p>
            <a:pPr marL="627063" lvl="1" indent="-268288">
              <a:lnSpc>
                <a:spcPts val="3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过去</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秒内的最小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min 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）和最大投递率（</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max BW</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）分别近似</a:t>
            </a:r>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Rtprop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BtlBw</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，根据这两个值估算当前</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BDP</a:t>
            </a:r>
          </a:p>
        </p:txBody>
      </p:sp>
      <p:pic>
        <p:nvPicPr>
          <p:cNvPr id="6" name="Content Placeholder 4" descr="BBRoptimal1.png">
            <a:extLst>
              <a:ext uri="{FF2B5EF4-FFF2-40B4-BE49-F238E27FC236}">
                <a16:creationId xmlns:a16="http://schemas.microsoft.com/office/drawing/2014/main" id="{6AC9B108-4A85-4D62-8174-137CDB2AD696}"/>
              </a:ext>
            </a:extLst>
          </p:cNvPr>
          <p:cNvPicPr>
            <a:picLocks noChangeAspect="1"/>
          </p:cNvPicPr>
          <p:nvPr/>
        </p:nvPicPr>
        <p:blipFill>
          <a:blip r:embed="rId5"/>
          <a:stretch>
            <a:fillRect/>
          </a:stretch>
        </p:blipFill>
        <p:spPr bwMode="auto">
          <a:xfrm>
            <a:off x="1478324" y="2706227"/>
            <a:ext cx="6187351" cy="34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71442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5251" y="781705"/>
            <a:ext cx="7565366" cy="51299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Blip>
                <a:blip r:embed="rId3"/>
              </a:buBlip>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优化点的近似观测</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8">
            <a:extLst>
              <a:ext uri="{FF2B5EF4-FFF2-40B4-BE49-F238E27FC236}">
                <a16:creationId xmlns:a16="http://schemas.microsoft.com/office/drawing/2014/main" id="{CFB75B6A-5939-49ED-8A68-6FD32DCBC2E9}"/>
              </a:ext>
            </a:extLst>
          </p:cNvPr>
          <p:cNvSpPr>
            <a:spLocks noChangeArrowheads="1"/>
          </p:cNvSpPr>
          <p:nvPr/>
        </p:nvSpPr>
        <p:spPr bwMode="auto">
          <a:xfrm>
            <a:off x="271789" y="1464448"/>
            <a:ext cx="8436521" cy="1334042"/>
          </a:xfrm>
          <a:prstGeom prst="rect">
            <a:avLst/>
          </a:prstGeom>
          <a:noFill/>
          <a:ln w="9525">
            <a:noFill/>
            <a:miter lim="800000"/>
            <a:headEnd/>
            <a:tailEnd/>
          </a:ln>
        </p:spPr>
        <p:txBody>
          <a:bodyPr/>
          <a:lstStyle/>
          <a:p>
            <a:pPr marL="627063" lvl="1" indent="-268288">
              <a:lnSpc>
                <a:spcPts val="2800"/>
              </a:lnSpc>
              <a:spcBef>
                <a:spcPts val="600"/>
              </a:spcBef>
              <a:buClr>
                <a:schemeClr val="accent2"/>
              </a:buClr>
              <a:buSzPct val="75000"/>
              <a:buBlip>
                <a:blip r:embed="rId4"/>
              </a:buBlip>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max BW</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min RTT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不能同时测得</a:t>
            </a:r>
          </a:p>
          <a:p>
            <a:pPr marL="896938" lvl="2" indent="-269875">
              <a:lnSpc>
                <a:spcPts val="2800"/>
              </a:lnSpc>
              <a:spcBef>
                <a:spcPts val="600"/>
              </a:spcBef>
              <a:buClr>
                <a:schemeClr val="accent6"/>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为了测最大带宽，填满瓶颈链路，缓存中有分组排队，时延较大</a:t>
            </a:r>
          </a:p>
          <a:p>
            <a:pPr marL="896938" lvl="2" indent="-269875">
              <a:lnSpc>
                <a:spcPts val="2800"/>
              </a:lnSpc>
              <a:spcBef>
                <a:spcPts val="600"/>
              </a:spcBef>
              <a:buClr>
                <a:schemeClr val="accent6"/>
              </a:buClr>
              <a:buSzPct val="75000"/>
              <a:buFont typeface="Wingdings" panose="05000000000000000000" pitchFamily="2" charset="2"/>
              <a:buChar char="ü"/>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为了测最小时延，清空链路队列，网络中分组尽量少，</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cwnd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较小</a:t>
            </a:r>
          </a:p>
        </p:txBody>
      </p:sp>
      <p:pic>
        <p:nvPicPr>
          <p:cNvPr id="8" name="Picture 5" descr="BBRoptimal2.png">
            <a:extLst>
              <a:ext uri="{FF2B5EF4-FFF2-40B4-BE49-F238E27FC236}">
                <a16:creationId xmlns:a16="http://schemas.microsoft.com/office/drawing/2014/main" id="{BA5A9012-C333-4D2E-A8CF-44FC1AB775F0}"/>
              </a:ext>
            </a:extLst>
          </p:cNvPr>
          <p:cNvPicPr>
            <a:picLocks noChangeAspect="1"/>
          </p:cNvPicPr>
          <p:nvPr/>
        </p:nvPicPr>
        <p:blipFill>
          <a:blip r:embed="rId5"/>
          <a:stretch>
            <a:fillRect/>
          </a:stretch>
        </p:blipFill>
        <p:spPr>
          <a:xfrm>
            <a:off x="1878010" y="2968244"/>
            <a:ext cx="5614269" cy="3422662"/>
          </a:xfrm>
          <a:prstGeom prst="rect">
            <a:avLst/>
          </a:prstGeom>
        </p:spPr>
      </p:pic>
    </p:spTree>
    <p:extLst>
      <p:ext uri="{BB962C8B-B14F-4D97-AF65-F5344CB8AC3E}">
        <p14:creationId xmlns:p14="http://schemas.microsoft.com/office/powerpoint/2010/main" val="38010266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8"/>
          <p:cNvSpPr>
            <a:spLocks noChangeArrowheads="1"/>
          </p:cNvSpPr>
          <p:nvPr/>
        </p:nvSpPr>
        <p:spPr bwMode="auto">
          <a:xfrm>
            <a:off x="373236" y="846099"/>
            <a:ext cx="7565366" cy="512990"/>
          </a:xfrm>
          <a:prstGeom prst="rect">
            <a:avLst/>
          </a:prstGeom>
          <a:noFill/>
          <a:ln w="9525">
            <a:noFill/>
            <a:miter lim="800000"/>
            <a:headEnd/>
            <a:tailEnd/>
          </a:ln>
        </p:spPr>
        <p:txBody>
          <a:bodyPr/>
          <a:lstStyle/>
          <a:p>
            <a:pPr marL="342900" indent="-342900">
              <a:lnSpc>
                <a:spcPts val="3200"/>
              </a:lnSpc>
              <a:spcBef>
                <a:spcPts val="600"/>
              </a:spcBef>
              <a:buClr>
                <a:srgbClr val="C00000"/>
              </a:buClr>
              <a:buSzPct val="85000"/>
              <a:buFont typeface="Symbol" pitchFamily="18" charset="2"/>
              <a:buBlip>
                <a:blip r:embed="rId3"/>
              </a:buBlip>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拥塞控制：显式拥塞通知（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ECN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标题 1">
            <a:extLst>
              <a:ext uri="{FF2B5EF4-FFF2-40B4-BE49-F238E27FC236}">
                <a16:creationId xmlns:a16="http://schemas.microsoft.com/office/drawing/2014/main" id="{A82160B1-1E58-4EF5-B9FE-008CAE58C0AD}"/>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3.7 </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拥塞控制</a:t>
            </a:r>
            <a:endPar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8">
            <a:extLst>
              <a:ext uri="{FF2B5EF4-FFF2-40B4-BE49-F238E27FC236}">
                <a16:creationId xmlns:a16="http://schemas.microsoft.com/office/drawing/2014/main" id="{CFB75B6A-5939-49ED-8A68-6FD32DCBC2E9}"/>
              </a:ext>
            </a:extLst>
          </p:cNvPr>
          <p:cNvSpPr>
            <a:spLocks noChangeArrowheads="1"/>
          </p:cNvSpPr>
          <p:nvPr/>
        </p:nvSpPr>
        <p:spPr bwMode="auto">
          <a:xfrm>
            <a:off x="295637" y="1456689"/>
            <a:ext cx="8555967" cy="2203103"/>
          </a:xfrm>
          <a:prstGeom prst="rect">
            <a:avLst/>
          </a:prstGeom>
          <a:noFill/>
          <a:ln w="9525">
            <a:noFill/>
            <a:miter lim="800000"/>
            <a:headEnd/>
            <a:tailEnd/>
          </a:ln>
        </p:spPr>
        <p:txBody>
          <a:bodyPr/>
          <a:lstStyle/>
          <a:p>
            <a:pPr marL="627063" lvl="1" indent="-268288">
              <a:lnSpc>
                <a:spcPts val="3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一种网络辅助的拥塞控制机制（</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RFC3168</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3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数据包头部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TOS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字段中的两位指示网络拥塞</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3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路由器网络拥塞通知携带到接收端</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627063" lvl="1" indent="-268288">
              <a:lnSpc>
                <a:spcPts val="3000"/>
              </a:lnSpc>
              <a:spcBef>
                <a:spcPts val="600"/>
              </a:spcBef>
              <a:buClr>
                <a:schemeClr val="accent2"/>
              </a:buClr>
              <a:buSzPct val="75000"/>
              <a:buBlip>
                <a:blip r:embed="rId4"/>
              </a:buBlip>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接收端在返回的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中设置</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ECE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位（</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报文段的保留字段的低位），将网络拥塞通知给发送端</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 Box 8">
            <a:extLst>
              <a:ext uri="{FF2B5EF4-FFF2-40B4-BE49-F238E27FC236}">
                <a16:creationId xmlns:a16="http://schemas.microsoft.com/office/drawing/2014/main" id="{F51504E2-1185-494C-9D2D-CA1748C17492}"/>
              </a:ext>
            </a:extLst>
          </p:cNvPr>
          <p:cNvSpPr txBox="1">
            <a:spLocks noChangeArrowheads="1"/>
          </p:cNvSpPr>
          <p:nvPr/>
        </p:nvSpPr>
        <p:spPr bwMode="auto">
          <a:xfrm>
            <a:off x="1548258" y="3726052"/>
            <a:ext cx="8002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zh-CN" altLang="en-US" i="1" dirty="0">
                <a:solidFill>
                  <a:srgbClr val="000099"/>
                </a:solidFill>
                <a:latin typeface="Arial" panose="020B0604020202020204" pitchFamily="34" charset="0"/>
              </a:rPr>
              <a:t>发送端</a:t>
            </a:r>
            <a:endParaRPr lang="en-US" altLang="zh-CN" sz="2000" i="1" dirty="0">
              <a:solidFill>
                <a:srgbClr val="000099"/>
              </a:solidFill>
              <a:latin typeface="Arial" panose="020B0604020202020204" pitchFamily="34" charset="0"/>
            </a:endParaRPr>
          </a:p>
        </p:txBody>
      </p:sp>
      <p:sp>
        <p:nvSpPr>
          <p:cNvPr id="11" name="Freeform 10">
            <a:extLst>
              <a:ext uri="{FF2B5EF4-FFF2-40B4-BE49-F238E27FC236}">
                <a16:creationId xmlns:a16="http://schemas.microsoft.com/office/drawing/2014/main" id="{43E73961-DC4A-4454-A43B-18C818811742}"/>
              </a:ext>
            </a:extLst>
          </p:cNvPr>
          <p:cNvSpPr>
            <a:spLocks/>
          </p:cNvSpPr>
          <p:nvPr/>
        </p:nvSpPr>
        <p:spPr bwMode="auto">
          <a:xfrm flipH="1">
            <a:off x="1078948" y="4059843"/>
            <a:ext cx="369887" cy="1368425"/>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Rectangle 23">
            <a:extLst>
              <a:ext uri="{FF2B5EF4-FFF2-40B4-BE49-F238E27FC236}">
                <a16:creationId xmlns:a16="http://schemas.microsoft.com/office/drawing/2014/main" id="{C07FC0B7-6AB4-40AD-A3BF-DAFB93EA0469}"/>
              </a:ext>
            </a:extLst>
          </p:cNvPr>
          <p:cNvSpPr>
            <a:spLocks noChangeArrowheads="1"/>
          </p:cNvSpPr>
          <p:nvPr/>
        </p:nvSpPr>
        <p:spPr bwMode="auto">
          <a:xfrm>
            <a:off x="1452010" y="4058255"/>
            <a:ext cx="1076325" cy="134937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3" name="Rectangle 24">
            <a:extLst>
              <a:ext uri="{FF2B5EF4-FFF2-40B4-BE49-F238E27FC236}">
                <a16:creationId xmlns:a16="http://schemas.microsoft.com/office/drawing/2014/main" id="{4DEFE498-2CE8-49AF-AFED-9382770DB571}"/>
              </a:ext>
            </a:extLst>
          </p:cNvPr>
          <p:cNvSpPr>
            <a:spLocks noChangeArrowheads="1"/>
          </p:cNvSpPr>
          <p:nvPr/>
        </p:nvSpPr>
        <p:spPr bwMode="auto">
          <a:xfrm>
            <a:off x="1412323" y="4123343"/>
            <a:ext cx="1066800" cy="1231900"/>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4" name="Line 25">
            <a:extLst>
              <a:ext uri="{FF2B5EF4-FFF2-40B4-BE49-F238E27FC236}">
                <a16:creationId xmlns:a16="http://schemas.microsoft.com/office/drawing/2014/main" id="{8E3A35ED-5B9A-4F9D-A0FC-3BF64167F0BE}"/>
              </a:ext>
            </a:extLst>
          </p:cNvPr>
          <p:cNvSpPr>
            <a:spLocks noChangeShapeType="1"/>
          </p:cNvSpPr>
          <p:nvPr/>
        </p:nvSpPr>
        <p:spPr bwMode="auto">
          <a:xfrm>
            <a:off x="1412323" y="4401155"/>
            <a:ext cx="105886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26">
            <a:extLst>
              <a:ext uri="{FF2B5EF4-FFF2-40B4-BE49-F238E27FC236}">
                <a16:creationId xmlns:a16="http://schemas.microsoft.com/office/drawing/2014/main" id="{D9BB955E-61C4-4F00-9D15-3E2E14B14DE9}"/>
              </a:ext>
            </a:extLst>
          </p:cNvPr>
          <p:cNvSpPr txBox="1">
            <a:spLocks noChangeArrowheads="1"/>
          </p:cNvSpPr>
          <p:nvPr/>
        </p:nvSpPr>
        <p:spPr bwMode="auto">
          <a:xfrm>
            <a:off x="1375810" y="4091593"/>
            <a:ext cx="1104900" cy="13097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110000"/>
              </a:lnSpc>
              <a:spcBef>
                <a:spcPts val="100"/>
              </a:spcBef>
              <a:defRPr/>
            </a:pPr>
            <a:r>
              <a:rPr lang="zh-CN" altLang="en-US" sz="1400" dirty="0">
                <a:solidFill>
                  <a:schemeClr val="bg1">
                    <a:lumMod val="75000"/>
                  </a:schemeClr>
                </a:solidFill>
              </a:rPr>
              <a:t>应用层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传输层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网络层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链路层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物理层</a:t>
            </a:r>
            <a:endParaRPr lang="en-US" sz="1400" dirty="0">
              <a:solidFill>
                <a:schemeClr val="bg1">
                  <a:lumMod val="75000"/>
                </a:schemeClr>
              </a:solidFill>
            </a:endParaRPr>
          </a:p>
        </p:txBody>
      </p:sp>
      <p:grpSp>
        <p:nvGrpSpPr>
          <p:cNvPr id="16" name="Group 190">
            <a:extLst>
              <a:ext uri="{FF2B5EF4-FFF2-40B4-BE49-F238E27FC236}">
                <a16:creationId xmlns:a16="http://schemas.microsoft.com/office/drawing/2014/main" id="{71EE49D9-27B5-4C11-8AA3-E170E540B714}"/>
              </a:ext>
            </a:extLst>
          </p:cNvPr>
          <p:cNvGrpSpPr>
            <a:grpSpLocks/>
          </p:cNvGrpSpPr>
          <p:nvPr/>
        </p:nvGrpSpPr>
        <p:grpSpPr bwMode="auto">
          <a:xfrm flipH="1">
            <a:off x="748748" y="4598005"/>
            <a:ext cx="673100" cy="701675"/>
            <a:chOff x="-44" y="1473"/>
            <a:chExt cx="981" cy="1105"/>
          </a:xfrm>
        </p:grpSpPr>
        <p:pic>
          <p:nvPicPr>
            <p:cNvPr id="17" name="Picture 191" descr="desktop_computer_stylized_medium">
              <a:extLst>
                <a:ext uri="{FF2B5EF4-FFF2-40B4-BE49-F238E27FC236}">
                  <a16:creationId xmlns:a16="http://schemas.microsoft.com/office/drawing/2014/main" id="{B171C820-3A04-48E7-9094-A6F1A7DFBD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Freeform 192">
              <a:extLst>
                <a:ext uri="{FF2B5EF4-FFF2-40B4-BE49-F238E27FC236}">
                  <a16:creationId xmlns:a16="http://schemas.microsoft.com/office/drawing/2014/main" id="{499B2CBB-1526-4ECB-B7BC-503B83A56B26}"/>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sp>
        <p:nvSpPr>
          <p:cNvPr id="19" name="Line 25">
            <a:extLst>
              <a:ext uri="{FF2B5EF4-FFF2-40B4-BE49-F238E27FC236}">
                <a16:creationId xmlns:a16="http://schemas.microsoft.com/office/drawing/2014/main" id="{5C043B57-C2FE-470C-830A-4937BF23B362}"/>
              </a:ext>
            </a:extLst>
          </p:cNvPr>
          <p:cNvSpPr>
            <a:spLocks noChangeShapeType="1"/>
          </p:cNvSpPr>
          <p:nvPr/>
        </p:nvSpPr>
        <p:spPr bwMode="auto">
          <a:xfrm>
            <a:off x="1417085" y="4629755"/>
            <a:ext cx="105886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5">
            <a:extLst>
              <a:ext uri="{FF2B5EF4-FFF2-40B4-BE49-F238E27FC236}">
                <a16:creationId xmlns:a16="http://schemas.microsoft.com/office/drawing/2014/main" id="{13F46D0F-7CD9-4E9A-A82E-A766E96FA9CC}"/>
              </a:ext>
            </a:extLst>
          </p:cNvPr>
          <p:cNvSpPr>
            <a:spLocks noChangeShapeType="1"/>
          </p:cNvSpPr>
          <p:nvPr/>
        </p:nvSpPr>
        <p:spPr bwMode="auto">
          <a:xfrm>
            <a:off x="1421848" y="4858355"/>
            <a:ext cx="1058862"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5">
            <a:extLst>
              <a:ext uri="{FF2B5EF4-FFF2-40B4-BE49-F238E27FC236}">
                <a16:creationId xmlns:a16="http://schemas.microsoft.com/office/drawing/2014/main" id="{FBF17722-29CF-4A6F-918C-2F71023BB0FE}"/>
              </a:ext>
            </a:extLst>
          </p:cNvPr>
          <p:cNvSpPr>
            <a:spLocks noChangeShapeType="1"/>
          </p:cNvSpPr>
          <p:nvPr/>
        </p:nvSpPr>
        <p:spPr bwMode="auto">
          <a:xfrm>
            <a:off x="1425023" y="5098068"/>
            <a:ext cx="1060450"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 name="Group 3">
            <a:extLst>
              <a:ext uri="{FF2B5EF4-FFF2-40B4-BE49-F238E27FC236}">
                <a16:creationId xmlns:a16="http://schemas.microsoft.com/office/drawing/2014/main" id="{91B95240-5797-4D83-8D9D-584E2DCB8FB1}"/>
              </a:ext>
            </a:extLst>
          </p:cNvPr>
          <p:cNvGrpSpPr>
            <a:grpSpLocks/>
          </p:cNvGrpSpPr>
          <p:nvPr/>
        </p:nvGrpSpPr>
        <p:grpSpPr bwMode="auto">
          <a:xfrm>
            <a:off x="6472403" y="3730592"/>
            <a:ext cx="1967780" cy="1705612"/>
            <a:chOff x="4962805" y="3959021"/>
            <a:chExt cx="1966763" cy="1704829"/>
          </a:xfrm>
        </p:grpSpPr>
        <p:sp>
          <p:nvSpPr>
            <p:cNvPr id="23" name="Text Box 54">
              <a:extLst>
                <a:ext uri="{FF2B5EF4-FFF2-40B4-BE49-F238E27FC236}">
                  <a16:creationId xmlns:a16="http://schemas.microsoft.com/office/drawing/2014/main" id="{BE2E45A0-C412-4EF2-A11C-F11942D22484}"/>
                </a:ext>
              </a:extLst>
            </p:cNvPr>
            <p:cNvSpPr txBox="1">
              <a:spLocks noChangeArrowheads="1"/>
            </p:cNvSpPr>
            <p:nvPr/>
          </p:nvSpPr>
          <p:spPr bwMode="auto">
            <a:xfrm>
              <a:off x="5079440" y="3959021"/>
              <a:ext cx="799805" cy="338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zh-CN" altLang="en-US" i="1" dirty="0">
                  <a:solidFill>
                    <a:srgbClr val="000099"/>
                  </a:solidFill>
                  <a:latin typeface="Arial" panose="020B0604020202020204" pitchFamily="34" charset="0"/>
                </a:rPr>
                <a:t>接收端</a:t>
              </a:r>
              <a:endParaRPr lang="en-US" altLang="zh-CN" sz="2000" i="1" dirty="0">
                <a:solidFill>
                  <a:srgbClr val="000099"/>
                </a:solidFill>
                <a:latin typeface="Arial" panose="020B0604020202020204" pitchFamily="34" charset="0"/>
              </a:endParaRPr>
            </a:p>
          </p:txBody>
        </p:sp>
        <p:grpSp>
          <p:nvGrpSpPr>
            <p:cNvPr id="24" name="Group 2">
              <a:extLst>
                <a:ext uri="{FF2B5EF4-FFF2-40B4-BE49-F238E27FC236}">
                  <a16:creationId xmlns:a16="http://schemas.microsoft.com/office/drawing/2014/main" id="{4DD3A871-2460-41EA-9B7C-E565CBA0CAC6}"/>
                </a:ext>
              </a:extLst>
            </p:cNvPr>
            <p:cNvGrpSpPr>
              <a:grpSpLocks/>
            </p:cNvGrpSpPr>
            <p:nvPr/>
          </p:nvGrpSpPr>
          <p:grpSpPr bwMode="auto">
            <a:xfrm>
              <a:off x="4962805" y="4293078"/>
              <a:ext cx="1966763" cy="1370772"/>
              <a:chOff x="1341249" y="4687783"/>
              <a:chExt cx="1966763" cy="1370772"/>
            </a:xfrm>
          </p:grpSpPr>
          <p:sp>
            <p:nvSpPr>
              <p:cNvPr id="25" name="Freeform 10">
                <a:extLst>
                  <a:ext uri="{FF2B5EF4-FFF2-40B4-BE49-F238E27FC236}">
                    <a16:creationId xmlns:a16="http://schemas.microsoft.com/office/drawing/2014/main" id="{F36F3C18-1072-4597-AF43-2B9BE3A982FF}"/>
                  </a:ext>
                </a:extLst>
              </p:cNvPr>
              <p:cNvSpPr>
                <a:spLocks/>
              </p:cNvSpPr>
              <p:nvPr/>
            </p:nvSpPr>
            <p:spPr bwMode="auto">
              <a:xfrm>
                <a:off x="2432639" y="4689320"/>
                <a:ext cx="302067" cy="1369235"/>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Rectangle 23">
                <a:extLst>
                  <a:ext uri="{FF2B5EF4-FFF2-40B4-BE49-F238E27FC236}">
                    <a16:creationId xmlns:a16="http://schemas.microsoft.com/office/drawing/2014/main" id="{6EBE0965-A05B-46B3-9000-4F2901807CCD}"/>
                  </a:ext>
                </a:extLst>
              </p:cNvPr>
              <p:cNvSpPr>
                <a:spLocks noChangeArrowheads="1"/>
              </p:cNvSpPr>
              <p:nvPr/>
            </p:nvSpPr>
            <p:spPr bwMode="auto">
              <a:xfrm>
                <a:off x="1381170" y="4687783"/>
                <a:ext cx="1076676" cy="135037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7" name="Rectangle 24">
                <a:extLst>
                  <a:ext uri="{FF2B5EF4-FFF2-40B4-BE49-F238E27FC236}">
                    <a16:creationId xmlns:a16="http://schemas.microsoft.com/office/drawing/2014/main" id="{25B84F36-2544-44DB-95C7-5C5897C093E9}"/>
                  </a:ext>
                </a:extLst>
              </p:cNvPr>
              <p:cNvSpPr>
                <a:spLocks noChangeArrowheads="1"/>
              </p:cNvSpPr>
              <p:nvPr/>
            </p:nvSpPr>
            <p:spPr bwMode="auto">
              <a:xfrm>
                <a:off x="1341249" y="4752754"/>
                <a:ext cx="1067215" cy="1231976"/>
              </a:xfrm>
              <a:prstGeom prst="rect">
                <a:avLst/>
              </a:prstGeom>
              <a:solidFill>
                <a:schemeClr val="bg1"/>
              </a:solidFill>
              <a:ln w="28575">
                <a:solidFill>
                  <a:schemeClr val="tx1"/>
                </a:solidFill>
                <a:miter lim="800000"/>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28" name="Line 25">
                <a:extLst>
                  <a:ext uri="{FF2B5EF4-FFF2-40B4-BE49-F238E27FC236}">
                    <a16:creationId xmlns:a16="http://schemas.microsoft.com/office/drawing/2014/main" id="{C8BD49C2-A777-4575-AE51-D21DD3AB3315}"/>
                  </a:ext>
                </a:extLst>
              </p:cNvPr>
              <p:cNvSpPr>
                <a:spLocks noChangeShapeType="1"/>
              </p:cNvSpPr>
              <p:nvPr/>
            </p:nvSpPr>
            <p:spPr bwMode="auto">
              <a:xfrm>
                <a:off x="1341249" y="50313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0" name="Group 190">
                <a:extLst>
                  <a:ext uri="{FF2B5EF4-FFF2-40B4-BE49-F238E27FC236}">
                    <a16:creationId xmlns:a16="http://schemas.microsoft.com/office/drawing/2014/main" id="{353AAAE6-D484-476A-8C69-1DD0ABD0FA55}"/>
                  </a:ext>
                </a:extLst>
              </p:cNvPr>
              <p:cNvGrpSpPr>
                <a:grpSpLocks/>
              </p:cNvGrpSpPr>
              <p:nvPr/>
            </p:nvGrpSpPr>
            <p:grpSpPr bwMode="auto">
              <a:xfrm flipH="1">
                <a:off x="2634682" y="5076164"/>
                <a:ext cx="673330" cy="701684"/>
                <a:chOff x="-44" y="1473"/>
                <a:chExt cx="981" cy="1105"/>
              </a:xfrm>
            </p:grpSpPr>
            <p:pic>
              <p:nvPicPr>
                <p:cNvPr id="34" name="Picture 191" descr="desktop_computer_stylized_medium">
                  <a:extLst>
                    <a:ext uri="{FF2B5EF4-FFF2-40B4-BE49-F238E27FC236}">
                      <a16:creationId xmlns:a16="http://schemas.microsoft.com/office/drawing/2014/main" id="{FF83A042-388D-409F-BB5C-343F1B5BB0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192">
                  <a:extLst>
                    <a:ext uri="{FF2B5EF4-FFF2-40B4-BE49-F238E27FC236}">
                      <a16:creationId xmlns:a16="http://schemas.microsoft.com/office/drawing/2014/main" id="{96D72D9C-89D7-4A8E-8023-0C2FB65090BA}"/>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sp>
            <p:nvSpPr>
              <p:cNvPr id="31" name="Line 25">
                <a:extLst>
                  <a:ext uri="{FF2B5EF4-FFF2-40B4-BE49-F238E27FC236}">
                    <a16:creationId xmlns:a16="http://schemas.microsoft.com/office/drawing/2014/main" id="{2426D901-9506-4C50-9F19-51B8BB611D68}"/>
                  </a:ext>
                </a:extLst>
              </p:cNvPr>
              <p:cNvSpPr>
                <a:spLocks noChangeShapeType="1"/>
              </p:cNvSpPr>
              <p:nvPr/>
            </p:nvSpPr>
            <p:spPr bwMode="auto">
              <a:xfrm>
                <a:off x="1345720" y="5260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a:extLst>
                  <a:ext uri="{FF2B5EF4-FFF2-40B4-BE49-F238E27FC236}">
                    <a16:creationId xmlns:a16="http://schemas.microsoft.com/office/drawing/2014/main" id="{0ADE52B1-41C5-43BF-A87D-5924741FBFB8}"/>
                  </a:ext>
                </a:extLst>
              </p:cNvPr>
              <p:cNvSpPr>
                <a:spLocks noChangeShapeType="1"/>
              </p:cNvSpPr>
              <p:nvPr/>
            </p:nvSpPr>
            <p:spPr bwMode="auto">
              <a:xfrm>
                <a:off x="1350191" y="54891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5">
                <a:extLst>
                  <a:ext uri="{FF2B5EF4-FFF2-40B4-BE49-F238E27FC236}">
                    <a16:creationId xmlns:a16="http://schemas.microsoft.com/office/drawing/2014/main" id="{F7221651-4037-467C-9FE6-4623C10616B6}"/>
                  </a:ext>
                </a:extLst>
              </p:cNvPr>
              <p:cNvSpPr>
                <a:spLocks noChangeShapeType="1"/>
              </p:cNvSpPr>
              <p:nvPr/>
            </p:nvSpPr>
            <p:spPr bwMode="auto">
              <a:xfrm>
                <a:off x="1354662" y="5728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6" name="Freeform 2">
            <a:extLst>
              <a:ext uri="{FF2B5EF4-FFF2-40B4-BE49-F238E27FC236}">
                <a16:creationId xmlns:a16="http://schemas.microsoft.com/office/drawing/2014/main" id="{D0915CD9-1C19-4A44-8A24-5728B2385D64}"/>
              </a:ext>
            </a:extLst>
          </p:cNvPr>
          <p:cNvSpPr>
            <a:spLocks/>
          </p:cNvSpPr>
          <p:nvPr/>
        </p:nvSpPr>
        <p:spPr bwMode="auto">
          <a:xfrm>
            <a:off x="2953785" y="4904393"/>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7" name="Freeform 6">
            <a:extLst>
              <a:ext uri="{FF2B5EF4-FFF2-40B4-BE49-F238E27FC236}">
                <a16:creationId xmlns:a16="http://schemas.microsoft.com/office/drawing/2014/main" id="{577DAE34-9304-4E33-9C7F-5AB5633BA045}"/>
              </a:ext>
            </a:extLst>
          </p:cNvPr>
          <p:cNvSpPr>
            <a:spLocks/>
          </p:cNvSpPr>
          <p:nvPr/>
        </p:nvSpPr>
        <p:spPr bwMode="auto">
          <a:xfrm>
            <a:off x="3591960" y="5207605"/>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8" name="Group 7">
            <a:extLst>
              <a:ext uri="{FF2B5EF4-FFF2-40B4-BE49-F238E27FC236}">
                <a16:creationId xmlns:a16="http://schemas.microsoft.com/office/drawing/2014/main" id="{6134EC15-30ED-49EB-94B6-61A3BA18D018}"/>
              </a:ext>
            </a:extLst>
          </p:cNvPr>
          <p:cNvGrpSpPr>
            <a:grpSpLocks/>
          </p:cNvGrpSpPr>
          <p:nvPr/>
        </p:nvGrpSpPr>
        <p:grpSpPr bwMode="auto">
          <a:xfrm>
            <a:off x="3098248" y="5382230"/>
            <a:ext cx="501650" cy="233363"/>
            <a:chOff x="3600" y="219"/>
            <a:chExt cx="360" cy="175"/>
          </a:xfrm>
        </p:grpSpPr>
        <p:sp>
          <p:nvSpPr>
            <p:cNvPr id="39" name="Oval 8">
              <a:extLst>
                <a:ext uri="{FF2B5EF4-FFF2-40B4-BE49-F238E27FC236}">
                  <a16:creationId xmlns:a16="http://schemas.microsoft.com/office/drawing/2014/main" id="{70063087-182E-4E2F-8AB2-69BE7F31E00C}"/>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40" name="Line 9">
              <a:extLst>
                <a:ext uri="{FF2B5EF4-FFF2-40B4-BE49-F238E27FC236}">
                  <a16:creationId xmlns:a16="http://schemas.microsoft.com/office/drawing/2014/main" id="{FD8BA24D-B6CD-4A5D-921E-5231A802F052}"/>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0">
              <a:extLst>
                <a:ext uri="{FF2B5EF4-FFF2-40B4-BE49-F238E27FC236}">
                  <a16:creationId xmlns:a16="http://schemas.microsoft.com/office/drawing/2014/main" id="{B195AEFB-DE9A-4ED6-AFCF-7CC948FD522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Rectangle 11">
              <a:extLst>
                <a:ext uri="{FF2B5EF4-FFF2-40B4-BE49-F238E27FC236}">
                  <a16:creationId xmlns:a16="http://schemas.microsoft.com/office/drawing/2014/main" id="{50EB157B-2D93-4810-BBAF-DE26BAE703E4}"/>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43" name="Oval 12">
              <a:extLst>
                <a:ext uri="{FF2B5EF4-FFF2-40B4-BE49-F238E27FC236}">
                  <a16:creationId xmlns:a16="http://schemas.microsoft.com/office/drawing/2014/main" id="{792B972B-6762-4438-B5AF-F9AB4861226F}"/>
                </a:ext>
              </a:extLst>
            </p:cNvPr>
            <p:cNvSpPr>
              <a:spLocks noChangeArrowheads="1"/>
            </p:cNvSpPr>
            <p:nvPr/>
          </p:nvSpPr>
          <p:spPr bwMode="auto">
            <a:xfrm>
              <a:off x="3603" y="219"/>
              <a:ext cx="354" cy="113"/>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44" name="Group 13">
              <a:extLst>
                <a:ext uri="{FF2B5EF4-FFF2-40B4-BE49-F238E27FC236}">
                  <a16:creationId xmlns:a16="http://schemas.microsoft.com/office/drawing/2014/main" id="{A3C59141-AAEF-466A-969C-7DB1CC744892}"/>
                </a:ext>
              </a:extLst>
            </p:cNvPr>
            <p:cNvGrpSpPr>
              <a:grpSpLocks/>
            </p:cNvGrpSpPr>
            <p:nvPr/>
          </p:nvGrpSpPr>
          <p:grpSpPr bwMode="auto">
            <a:xfrm>
              <a:off x="3686" y="244"/>
              <a:ext cx="177" cy="66"/>
              <a:chOff x="2848" y="848"/>
              <a:chExt cx="140" cy="98"/>
            </a:xfrm>
          </p:grpSpPr>
          <p:sp>
            <p:nvSpPr>
              <p:cNvPr id="49" name="Line 14">
                <a:extLst>
                  <a:ext uri="{FF2B5EF4-FFF2-40B4-BE49-F238E27FC236}">
                    <a16:creationId xmlns:a16="http://schemas.microsoft.com/office/drawing/2014/main" id="{9AEFAF73-527C-495C-B3C0-74ECEE1846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15">
                <a:extLst>
                  <a:ext uri="{FF2B5EF4-FFF2-40B4-BE49-F238E27FC236}">
                    <a16:creationId xmlns:a16="http://schemas.microsoft.com/office/drawing/2014/main" id="{BE5B6F0B-CEA5-4C29-9EEC-BD106964460B}"/>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16">
                <a:extLst>
                  <a:ext uri="{FF2B5EF4-FFF2-40B4-BE49-F238E27FC236}">
                    <a16:creationId xmlns:a16="http://schemas.microsoft.com/office/drawing/2014/main" id="{288FFC44-4F13-4397-9C06-D0FFC35A53F9}"/>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5" name="Group 17">
              <a:extLst>
                <a:ext uri="{FF2B5EF4-FFF2-40B4-BE49-F238E27FC236}">
                  <a16:creationId xmlns:a16="http://schemas.microsoft.com/office/drawing/2014/main" id="{7B53699A-B652-4DB1-94D3-4157B9DD41EA}"/>
                </a:ext>
              </a:extLst>
            </p:cNvPr>
            <p:cNvGrpSpPr>
              <a:grpSpLocks/>
            </p:cNvGrpSpPr>
            <p:nvPr/>
          </p:nvGrpSpPr>
          <p:grpSpPr bwMode="auto">
            <a:xfrm flipV="1">
              <a:off x="3686" y="243"/>
              <a:ext cx="177" cy="66"/>
              <a:chOff x="2848" y="848"/>
              <a:chExt cx="140" cy="98"/>
            </a:xfrm>
          </p:grpSpPr>
          <p:sp>
            <p:nvSpPr>
              <p:cNvPr id="46" name="Line 18">
                <a:extLst>
                  <a:ext uri="{FF2B5EF4-FFF2-40B4-BE49-F238E27FC236}">
                    <a16:creationId xmlns:a16="http://schemas.microsoft.com/office/drawing/2014/main" id="{36D50FD6-073A-47C3-B44E-4D200C0DCF5A}"/>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19">
                <a:extLst>
                  <a:ext uri="{FF2B5EF4-FFF2-40B4-BE49-F238E27FC236}">
                    <a16:creationId xmlns:a16="http://schemas.microsoft.com/office/drawing/2014/main" id="{33B13CBB-EBEF-4ED8-8C88-F290774E7CB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0">
                <a:extLst>
                  <a:ext uri="{FF2B5EF4-FFF2-40B4-BE49-F238E27FC236}">
                    <a16:creationId xmlns:a16="http://schemas.microsoft.com/office/drawing/2014/main" id="{D64C306F-4A1D-438C-B8AD-AAD62B8E353C}"/>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52" name="Group 21">
            <a:extLst>
              <a:ext uri="{FF2B5EF4-FFF2-40B4-BE49-F238E27FC236}">
                <a16:creationId xmlns:a16="http://schemas.microsoft.com/office/drawing/2014/main" id="{149B81AB-62F0-4BAE-A4F7-7570FC0E6AC5}"/>
              </a:ext>
            </a:extLst>
          </p:cNvPr>
          <p:cNvGrpSpPr>
            <a:grpSpLocks/>
          </p:cNvGrpSpPr>
          <p:nvPr/>
        </p:nvGrpSpPr>
        <p:grpSpPr bwMode="auto">
          <a:xfrm>
            <a:off x="3450673" y="6020405"/>
            <a:ext cx="501650" cy="233363"/>
            <a:chOff x="3600" y="219"/>
            <a:chExt cx="360" cy="175"/>
          </a:xfrm>
        </p:grpSpPr>
        <p:sp>
          <p:nvSpPr>
            <p:cNvPr id="53" name="Oval 22">
              <a:extLst>
                <a:ext uri="{FF2B5EF4-FFF2-40B4-BE49-F238E27FC236}">
                  <a16:creationId xmlns:a16="http://schemas.microsoft.com/office/drawing/2014/main" id="{1284B911-B6F0-4FB4-B9DB-9DBB76C7D039}"/>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54" name="Line 23">
              <a:extLst>
                <a:ext uri="{FF2B5EF4-FFF2-40B4-BE49-F238E27FC236}">
                  <a16:creationId xmlns:a16="http://schemas.microsoft.com/office/drawing/2014/main" id="{B4ED1703-6AAD-4093-913C-84EEBBC6C93C}"/>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4">
              <a:extLst>
                <a:ext uri="{FF2B5EF4-FFF2-40B4-BE49-F238E27FC236}">
                  <a16:creationId xmlns:a16="http://schemas.microsoft.com/office/drawing/2014/main" id="{9E75ECD2-46AE-4D56-B47F-2200A115781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Rectangle 25">
              <a:extLst>
                <a:ext uri="{FF2B5EF4-FFF2-40B4-BE49-F238E27FC236}">
                  <a16:creationId xmlns:a16="http://schemas.microsoft.com/office/drawing/2014/main" id="{35A37373-0AFA-4DBE-8F81-3B2A01D33533}"/>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57" name="Oval 26">
              <a:extLst>
                <a:ext uri="{FF2B5EF4-FFF2-40B4-BE49-F238E27FC236}">
                  <a16:creationId xmlns:a16="http://schemas.microsoft.com/office/drawing/2014/main" id="{72B147A7-D41F-421A-9AF7-9F908DFB1CCC}"/>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58" name="Group 27">
              <a:extLst>
                <a:ext uri="{FF2B5EF4-FFF2-40B4-BE49-F238E27FC236}">
                  <a16:creationId xmlns:a16="http://schemas.microsoft.com/office/drawing/2014/main" id="{840E5989-B3D5-469E-8842-D21820777E25}"/>
                </a:ext>
              </a:extLst>
            </p:cNvPr>
            <p:cNvGrpSpPr>
              <a:grpSpLocks/>
            </p:cNvGrpSpPr>
            <p:nvPr/>
          </p:nvGrpSpPr>
          <p:grpSpPr bwMode="auto">
            <a:xfrm>
              <a:off x="3686" y="244"/>
              <a:ext cx="177" cy="66"/>
              <a:chOff x="2848" y="848"/>
              <a:chExt cx="140" cy="98"/>
            </a:xfrm>
          </p:grpSpPr>
          <p:sp>
            <p:nvSpPr>
              <p:cNvPr id="63" name="Line 28">
                <a:extLst>
                  <a:ext uri="{FF2B5EF4-FFF2-40B4-BE49-F238E27FC236}">
                    <a16:creationId xmlns:a16="http://schemas.microsoft.com/office/drawing/2014/main" id="{BD4947E2-C282-46D8-9BFE-FE4A2024996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29">
                <a:extLst>
                  <a:ext uri="{FF2B5EF4-FFF2-40B4-BE49-F238E27FC236}">
                    <a16:creationId xmlns:a16="http://schemas.microsoft.com/office/drawing/2014/main" id="{EA9BCBB1-CD1E-49CE-BCDD-507A08FE8547}"/>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30">
                <a:extLst>
                  <a:ext uri="{FF2B5EF4-FFF2-40B4-BE49-F238E27FC236}">
                    <a16:creationId xmlns:a16="http://schemas.microsoft.com/office/drawing/2014/main" id="{41AA2512-6189-4B40-84B1-405BF5A139EE}"/>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9" name="Group 31">
              <a:extLst>
                <a:ext uri="{FF2B5EF4-FFF2-40B4-BE49-F238E27FC236}">
                  <a16:creationId xmlns:a16="http://schemas.microsoft.com/office/drawing/2014/main" id="{346853CC-A8BB-44DC-AADF-5EE3ACDA5BFF}"/>
                </a:ext>
              </a:extLst>
            </p:cNvPr>
            <p:cNvGrpSpPr>
              <a:grpSpLocks/>
            </p:cNvGrpSpPr>
            <p:nvPr/>
          </p:nvGrpSpPr>
          <p:grpSpPr bwMode="auto">
            <a:xfrm flipV="1">
              <a:off x="3686" y="243"/>
              <a:ext cx="177" cy="66"/>
              <a:chOff x="2848" y="848"/>
              <a:chExt cx="140" cy="98"/>
            </a:xfrm>
          </p:grpSpPr>
          <p:sp>
            <p:nvSpPr>
              <p:cNvPr id="60" name="Line 32">
                <a:extLst>
                  <a:ext uri="{FF2B5EF4-FFF2-40B4-BE49-F238E27FC236}">
                    <a16:creationId xmlns:a16="http://schemas.microsoft.com/office/drawing/2014/main" id="{A4187C70-A7F3-4404-856B-38908FEDB98D}"/>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33">
                <a:extLst>
                  <a:ext uri="{FF2B5EF4-FFF2-40B4-BE49-F238E27FC236}">
                    <a16:creationId xmlns:a16="http://schemas.microsoft.com/office/drawing/2014/main" id="{CFE71440-9DC4-4309-B892-677E86A4CF2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34">
                <a:extLst>
                  <a:ext uri="{FF2B5EF4-FFF2-40B4-BE49-F238E27FC236}">
                    <a16:creationId xmlns:a16="http://schemas.microsoft.com/office/drawing/2014/main" id="{931A2B01-9F30-4C04-BC56-C0845DA30E1C}"/>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66" name="Group 35">
            <a:extLst>
              <a:ext uri="{FF2B5EF4-FFF2-40B4-BE49-F238E27FC236}">
                <a16:creationId xmlns:a16="http://schemas.microsoft.com/office/drawing/2014/main" id="{4F5A34FD-CA46-441C-B954-98D6F8037B81}"/>
              </a:ext>
            </a:extLst>
          </p:cNvPr>
          <p:cNvGrpSpPr>
            <a:grpSpLocks/>
          </p:cNvGrpSpPr>
          <p:nvPr/>
        </p:nvGrpSpPr>
        <p:grpSpPr bwMode="auto">
          <a:xfrm>
            <a:off x="4125360" y="5077430"/>
            <a:ext cx="501650" cy="233363"/>
            <a:chOff x="3600" y="219"/>
            <a:chExt cx="360" cy="175"/>
          </a:xfrm>
        </p:grpSpPr>
        <p:sp>
          <p:nvSpPr>
            <p:cNvPr id="67" name="Oval 36">
              <a:extLst>
                <a:ext uri="{FF2B5EF4-FFF2-40B4-BE49-F238E27FC236}">
                  <a16:creationId xmlns:a16="http://schemas.microsoft.com/office/drawing/2014/main" id="{F49FCBFB-8D24-4A45-9645-7DAEA0541235}"/>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68" name="Line 37">
              <a:extLst>
                <a:ext uri="{FF2B5EF4-FFF2-40B4-BE49-F238E27FC236}">
                  <a16:creationId xmlns:a16="http://schemas.microsoft.com/office/drawing/2014/main" id="{A8241412-A1C4-4AED-958A-E82CC4004E68}"/>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38">
              <a:extLst>
                <a:ext uri="{FF2B5EF4-FFF2-40B4-BE49-F238E27FC236}">
                  <a16:creationId xmlns:a16="http://schemas.microsoft.com/office/drawing/2014/main" id="{2B7899DC-F098-4CAC-B2D9-D7FC2521B5D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Rectangle 39">
              <a:extLst>
                <a:ext uri="{FF2B5EF4-FFF2-40B4-BE49-F238E27FC236}">
                  <a16:creationId xmlns:a16="http://schemas.microsoft.com/office/drawing/2014/main" id="{8D6C543F-DA14-403D-B115-E4AC566F1611}"/>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71" name="Oval 40">
              <a:extLst>
                <a:ext uri="{FF2B5EF4-FFF2-40B4-BE49-F238E27FC236}">
                  <a16:creationId xmlns:a16="http://schemas.microsoft.com/office/drawing/2014/main" id="{A36CA1FB-EBCC-48D9-9117-D70B8DEB46E3}"/>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72" name="Group 41">
              <a:extLst>
                <a:ext uri="{FF2B5EF4-FFF2-40B4-BE49-F238E27FC236}">
                  <a16:creationId xmlns:a16="http://schemas.microsoft.com/office/drawing/2014/main" id="{3B5D59C4-CD95-4F01-9CEE-EA6DA49634E9}"/>
                </a:ext>
              </a:extLst>
            </p:cNvPr>
            <p:cNvGrpSpPr>
              <a:grpSpLocks/>
            </p:cNvGrpSpPr>
            <p:nvPr/>
          </p:nvGrpSpPr>
          <p:grpSpPr bwMode="auto">
            <a:xfrm>
              <a:off x="3686" y="244"/>
              <a:ext cx="177" cy="66"/>
              <a:chOff x="2848" y="848"/>
              <a:chExt cx="140" cy="98"/>
            </a:xfrm>
          </p:grpSpPr>
          <p:sp>
            <p:nvSpPr>
              <p:cNvPr id="77" name="Line 42">
                <a:extLst>
                  <a:ext uri="{FF2B5EF4-FFF2-40B4-BE49-F238E27FC236}">
                    <a16:creationId xmlns:a16="http://schemas.microsoft.com/office/drawing/2014/main" id="{6473380E-FA21-4F9F-9D16-FEF49A99787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43">
                <a:extLst>
                  <a:ext uri="{FF2B5EF4-FFF2-40B4-BE49-F238E27FC236}">
                    <a16:creationId xmlns:a16="http://schemas.microsoft.com/office/drawing/2014/main" id="{3ABF2A28-5F82-47C8-AC51-F389C1D94802}"/>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44">
                <a:extLst>
                  <a:ext uri="{FF2B5EF4-FFF2-40B4-BE49-F238E27FC236}">
                    <a16:creationId xmlns:a16="http://schemas.microsoft.com/office/drawing/2014/main" id="{14D7AC00-4FE2-4C27-82FD-642011F39070}"/>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3" name="Group 45">
              <a:extLst>
                <a:ext uri="{FF2B5EF4-FFF2-40B4-BE49-F238E27FC236}">
                  <a16:creationId xmlns:a16="http://schemas.microsoft.com/office/drawing/2014/main" id="{574A9530-9645-4D1D-B96E-11578DFAD6FC}"/>
                </a:ext>
              </a:extLst>
            </p:cNvPr>
            <p:cNvGrpSpPr>
              <a:grpSpLocks/>
            </p:cNvGrpSpPr>
            <p:nvPr/>
          </p:nvGrpSpPr>
          <p:grpSpPr bwMode="auto">
            <a:xfrm flipV="1">
              <a:off x="3686" y="243"/>
              <a:ext cx="177" cy="66"/>
              <a:chOff x="2848" y="848"/>
              <a:chExt cx="140" cy="98"/>
            </a:xfrm>
          </p:grpSpPr>
          <p:sp>
            <p:nvSpPr>
              <p:cNvPr id="74" name="Line 46">
                <a:extLst>
                  <a:ext uri="{FF2B5EF4-FFF2-40B4-BE49-F238E27FC236}">
                    <a16:creationId xmlns:a16="http://schemas.microsoft.com/office/drawing/2014/main" id="{EB938194-AD82-4CF9-AF73-CAE162488AC8}"/>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47">
                <a:extLst>
                  <a:ext uri="{FF2B5EF4-FFF2-40B4-BE49-F238E27FC236}">
                    <a16:creationId xmlns:a16="http://schemas.microsoft.com/office/drawing/2014/main" id="{716A4C1A-E89F-4B92-9656-ED1CC3AE13D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48">
                <a:extLst>
                  <a:ext uri="{FF2B5EF4-FFF2-40B4-BE49-F238E27FC236}">
                    <a16:creationId xmlns:a16="http://schemas.microsoft.com/office/drawing/2014/main" id="{8DA5ACE4-AB63-4FFE-B77D-1EE7CA992930}"/>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0" name="Group 18">
            <a:extLst>
              <a:ext uri="{FF2B5EF4-FFF2-40B4-BE49-F238E27FC236}">
                <a16:creationId xmlns:a16="http://schemas.microsoft.com/office/drawing/2014/main" id="{7D51C3C8-8DD9-49DA-8826-03CD35B09168}"/>
              </a:ext>
            </a:extLst>
          </p:cNvPr>
          <p:cNvGrpSpPr>
            <a:grpSpLocks/>
          </p:cNvGrpSpPr>
          <p:nvPr/>
        </p:nvGrpSpPr>
        <p:grpSpPr bwMode="auto">
          <a:xfrm>
            <a:off x="4036460" y="5742593"/>
            <a:ext cx="500063" cy="233362"/>
            <a:chOff x="2269009" y="6392060"/>
            <a:chExt cx="500221" cy="233326"/>
          </a:xfrm>
        </p:grpSpPr>
        <p:sp>
          <p:nvSpPr>
            <p:cNvPr id="81" name="Oval 50">
              <a:extLst>
                <a:ext uri="{FF2B5EF4-FFF2-40B4-BE49-F238E27FC236}">
                  <a16:creationId xmlns:a16="http://schemas.microsoft.com/office/drawing/2014/main" id="{389871EE-639E-48BB-A515-5FD5E6EAE5FE}"/>
                </a:ext>
              </a:extLst>
            </p:cNvPr>
            <p:cNvSpPr>
              <a:spLocks noChangeArrowheads="1"/>
            </p:cNvSpPr>
            <p:nvPr/>
          </p:nvSpPr>
          <p:spPr bwMode="auto">
            <a:xfrm>
              <a:off x="2275957" y="6497390"/>
              <a:ext cx="493273" cy="127996"/>
            </a:xfrm>
            <a:prstGeom prst="ellipse">
              <a:avLst/>
            </a:prstGeom>
            <a:solidFill>
              <a:srgbClr val="CC000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82" name="Line 51">
              <a:extLst>
                <a:ext uri="{FF2B5EF4-FFF2-40B4-BE49-F238E27FC236}">
                  <a16:creationId xmlns:a16="http://schemas.microsoft.com/office/drawing/2014/main" id="{2A678763-4771-4F56-AE9D-2C70E5301939}"/>
                </a:ext>
              </a:extLst>
            </p:cNvPr>
            <p:cNvSpPr>
              <a:spLocks noChangeShapeType="1"/>
            </p:cNvSpPr>
            <p:nvPr/>
          </p:nvSpPr>
          <p:spPr bwMode="auto">
            <a:xfrm>
              <a:off x="2275957"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52">
              <a:extLst>
                <a:ext uri="{FF2B5EF4-FFF2-40B4-BE49-F238E27FC236}">
                  <a16:creationId xmlns:a16="http://schemas.microsoft.com/office/drawing/2014/main" id="{56631812-15E5-44BB-AA09-A32CC6D7C076}"/>
                </a:ext>
              </a:extLst>
            </p:cNvPr>
            <p:cNvSpPr>
              <a:spLocks noChangeShapeType="1"/>
            </p:cNvSpPr>
            <p:nvPr/>
          </p:nvSpPr>
          <p:spPr bwMode="auto">
            <a:xfrm>
              <a:off x="2769229"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Rectangle 53">
              <a:extLst>
                <a:ext uri="{FF2B5EF4-FFF2-40B4-BE49-F238E27FC236}">
                  <a16:creationId xmlns:a16="http://schemas.microsoft.com/office/drawing/2014/main" id="{DC5ED55C-FF8E-426B-B279-E9580D2DBBCE}"/>
                </a:ext>
              </a:extLst>
            </p:cNvPr>
            <p:cNvSpPr>
              <a:spLocks noChangeArrowheads="1"/>
            </p:cNvSpPr>
            <p:nvPr/>
          </p:nvSpPr>
          <p:spPr bwMode="auto">
            <a:xfrm>
              <a:off x="2275957" y="6485390"/>
              <a:ext cx="489104" cy="773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85" name="Oval 54">
              <a:extLst>
                <a:ext uri="{FF2B5EF4-FFF2-40B4-BE49-F238E27FC236}">
                  <a16:creationId xmlns:a16="http://schemas.microsoft.com/office/drawing/2014/main" id="{64C2DF30-B2E4-42F7-A38D-809A69DCF1FB}"/>
                </a:ext>
              </a:extLst>
            </p:cNvPr>
            <p:cNvSpPr>
              <a:spLocks noChangeArrowheads="1"/>
            </p:cNvSpPr>
            <p:nvPr/>
          </p:nvSpPr>
          <p:spPr bwMode="auto">
            <a:xfrm>
              <a:off x="2269009" y="6392060"/>
              <a:ext cx="494662" cy="150662"/>
            </a:xfrm>
            <a:prstGeom prst="ellipse">
              <a:avLst/>
            </a:prstGeom>
            <a:solidFill>
              <a:srgbClr val="CC0000"/>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86" name="Group 55">
              <a:extLst>
                <a:ext uri="{FF2B5EF4-FFF2-40B4-BE49-F238E27FC236}">
                  <a16:creationId xmlns:a16="http://schemas.microsoft.com/office/drawing/2014/main" id="{CD655996-5EA3-487A-BF57-38BA5FB99836}"/>
                </a:ext>
              </a:extLst>
            </p:cNvPr>
            <p:cNvGrpSpPr>
              <a:grpSpLocks/>
            </p:cNvGrpSpPr>
            <p:nvPr/>
          </p:nvGrpSpPr>
          <p:grpSpPr bwMode="auto">
            <a:xfrm>
              <a:off x="2388506" y="6425391"/>
              <a:ext cx="245942" cy="86201"/>
              <a:chOff x="2848" y="848"/>
              <a:chExt cx="140" cy="96"/>
            </a:xfrm>
          </p:grpSpPr>
          <p:sp>
            <p:nvSpPr>
              <p:cNvPr id="91" name="Line 56">
                <a:extLst>
                  <a:ext uri="{FF2B5EF4-FFF2-40B4-BE49-F238E27FC236}">
                    <a16:creationId xmlns:a16="http://schemas.microsoft.com/office/drawing/2014/main" id="{DD4171E8-B32C-4098-A2E3-A89A5BC110F9}"/>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57">
                <a:extLst>
                  <a:ext uri="{FF2B5EF4-FFF2-40B4-BE49-F238E27FC236}">
                    <a16:creationId xmlns:a16="http://schemas.microsoft.com/office/drawing/2014/main" id="{B65AAA23-174B-40D1-B227-325BBEF31267}"/>
                  </a:ext>
                </a:extLst>
              </p:cNvPr>
              <p:cNvSpPr>
                <a:spLocks noChangeShapeType="1"/>
              </p:cNvSpPr>
              <p:nvPr/>
            </p:nvSpPr>
            <p:spPr bwMode="auto">
              <a:xfrm>
                <a:off x="2944" y="942"/>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58">
                <a:extLst>
                  <a:ext uri="{FF2B5EF4-FFF2-40B4-BE49-F238E27FC236}">
                    <a16:creationId xmlns:a16="http://schemas.microsoft.com/office/drawing/2014/main" id="{E35B9DB1-FC87-40E4-8B25-3A7C7F923EA6}"/>
                  </a:ext>
                </a:extLst>
              </p:cNvPr>
              <p:cNvSpPr>
                <a:spLocks noChangeShapeType="1"/>
              </p:cNvSpPr>
              <p:nvPr/>
            </p:nvSpPr>
            <p:spPr bwMode="auto">
              <a:xfrm>
                <a:off x="2894" y="850"/>
                <a:ext cx="52" cy="94"/>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7" name="Group 59">
              <a:extLst>
                <a:ext uri="{FF2B5EF4-FFF2-40B4-BE49-F238E27FC236}">
                  <a16:creationId xmlns:a16="http://schemas.microsoft.com/office/drawing/2014/main" id="{54603009-E82F-40D2-921B-D9352D811F49}"/>
                </a:ext>
              </a:extLst>
            </p:cNvPr>
            <p:cNvGrpSpPr>
              <a:grpSpLocks/>
            </p:cNvGrpSpPr>
            <p:nvPr/>
          </p:nvGrpSpPr>
          <p:grpSpPr bwMode="auto">
            <a:xfrm flipV="1">
              <a:off x="2388506" y="6424059"/>
              <a:ext cx="245942" cy="87997"/>
              <a:chOff x="2848" y="848"/>
              <a:chExt cx="140" cy="98"/>
            </a:xfrm>
          </p:grpSpPr>
          <p:sp>
            <p:nvSpPr>
              <p:cNvPr id="88" name="Line 60">
                <a:extLst>
                  <a:ext uri="{FF2B5EF4-FFF2-40B4-BE49-F238E27FC236}">
                    <a16:creationId xmlns:a16="http://schemas.microsoft.com/office/drawing/2014/main" id="{BC85AD48-12D1-43D3-8916-37F16B51CCBC}"/>
                  </a:ext>
                </a:extLst>
              </p:cNvPr>
              <p:cNvSpPr>
                <a:spLocks noChangeShapeType="1"/>
              </p:cNvSpPr>
              <p:nvPr/>
            </p:nvSpPr>
            <p:spPr bwMode="auto">
              <a:xfrm flipV="1">
                <a:off x="2848" y="846"/>
                <a:ext cx="50" cy="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61">
                <a:extLst>
                  <a:ext uri="{FF2B5EF4-FFF2-40B4-BE49-F238E27FC236}">
                    <a16:creationId xmlns:a16="http://schemas.microsoft.com/office/drawing/2014/main" id="{16B5B83E-0EFF-42C8-9AA4-C769B73B79E0}"/>
                  </a:ext>
                </a:extLst>
              </p:cNvPr>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62">
                <a:extLst>
                  <a:ext uri="{FF2B5EF4-FFF2-40B4-BE49-F238E27FC236}">
                    <a16:creationId xmlns:a16="http://schemas.microsoft.com/office/drawing/2014/main" id="{75419FF1-F530-46BF-8FE4-7F3EE3D65C90}"/>
                  </a:ext>
                </a:extLst>
              </p:cNvPr>
              <p:cNvSpPr>
                <a:spLocks noChangeShapeType="1"/>
              </p:cNvSpPr>
              <p:nvPr/>
            </p:nvSpPr>
            <p:spPr bwMode="auto">
              <a:xfrm>
                <a:off x="2894" y="849"/>
                <a:ext cx="52" cy="9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94" name="Group 63">
            <a:extLst>
              <a:ext uri="{FF2B5EF4-FFF2-40B4-BE49-F238E27FC236}">
                <a16:creationId xmlns:a16="http://schemas.microsoft.com/office/drawing/2014/main" id="{925F3336-24BA-458E-B493-D6FDBFC1F982}"/>
              </a:ext>
            </a:extLst>
          </p:cNvPr>
          <p:cNvGrpSpPr>
            <a:grpSpLocks/>
          </p:cNvGrpSpPr>
          <p:nvPr/>
        </p:nvGrpSpPr>
        <p:grpSpPr bwMode="auto">
          <a:xfrm>
            <a:off x="4682573" y="6039455"/>
            <a:ext cx="503237" cy="233363"/>
            <a:chOff x="3600" y="219"/>
            <a:chExt cx="360" cy="175"/>
          </a:xfrm>
        </p:grpSpPr>
        <p:sp>
          <p:nvSpPr>
            <p:cNvPr id="95" name="Oval 64">
              <a:extLst>
                <a:ext uri="{FF2B5EF4-FFF2-40B4-BE49-F238E27FC236}">
                  <a16:creationId xmlns:a16="http://schemas.microsoft.com/office/drawing/2014/main" id="{052809D3-0428-455E-B12C-5AFF5385EE36}"/>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96" name="Line 65">
              <a:extLst>
                <a:ext uri="{FF2B5EF4-FFF2-40B4-BE49-F238E27FC236}">
                  <a16:creationId xmlns:a16="http://schemas.microsoft.com/office/drawing/2014/main" id="{07C06D8D-E319-4593-BFFB-0F11D6A7A78F}"/>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66">
              <a:extLst>
                <a:ext uri="{FF2B5EF4-FFF2-40B4-BE49-F238E27FC236}">
                  <a16:creationId xmlns:a16="http://schemas.microsoft.com/office/drawing/2014/main" id="{3E05387B-2514-4A76-AD1D-B37BC8C26B6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Rectangle 67">
              <a:extLst>
                <a:ext uri="{FF2B5EF4-FFF2-40B4-BE49-F238E27FC236}">
                  <a16:creationId xmlns:a16="http://schemas.microsoft.com/office/drawing/2014/main" id="{B4EC0433-B271-446D-931A-EB7148BDF190}"/>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99" name="Oval 68">
              <a:extLst>
                <a:ext uri="{FF2B5EF4-FFF2-40B4-BE49-F238E27FC236}">
                  <a16:creationId xmlns:a16="http://schemas.microsoft.com/office/drawing/2014/main" id="{E7280245-77DD-4646-9C57-7F0D8C43C2C0}"/>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100" name="Group 69">
              <a:extLst>
                <a:ext uri="{FF2B5EF4-FFF2-40B4-BE49-F238E27FC236}">
                  <a16:creationId xmlns:a16="http://schemas.microsoft.com/office/drawing/2014/main" id="{B344BE27-14D8-46D4-8EAB-A33D889D41EA}"/>
                </a:ext>
              </a:extLst>
            </p:cNvPr>
            <p:cNvGrpSpPr>
              <a:grpSpLocks/>
            </p:cNvGrpSpPr>
            <p:nvPr/>
          </p:nvGrpSpPr>
          <p:grpSpPr bwMode="auto">
            <a:xfrm>
              <a:off x="3686" y="244"/>
              <a:ext cx="177" cy="66"/>
              <a:chOff x="2848" y="848"/>
              <a:chExt cx="140" cy="98"/>
            </a:xfrm>
          </p:grpSpPr>
          <p:sp>
            <p:nvSpPr>
              <p:cNvPr id="105" name="Line 70">
                <a:extLst>
                  <a:ext uri="{FF2B5EF4-FFF2-40B4-BE49-F238E27FC236}">
                    <a16:creationId xmlns:a16="http://schemas.microsoft.com/office/drawing/2014/main" id="{CB966A53-15FD-475F-817E-AB9BBA480D8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71">
                <a:extLst>
                  <a:ext uri="{FF2B5EF4-FFF2-40B4-BE49-F238E27FC236}">
                    <a16:creationId xmlns:a16="http://schemas.microsoft.com/office/drawing/2014/main" id="{A41C0989-D034-47A8-9EC9-B969E23C3A8B}"/>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72">
                <a:extLst>
                  <a:ext uri="{FF2B5EF4-FFF2-40B4-BE49-F238E27FC236}">
                    <a16:creationId xmlns:a16="http://schemas.microsoft.com/office/drawing/2014/main" id="{3AE5D8C5-DE1F-40B9-8E2D-445FB25A212E}"/>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1" name="Group 73">
              <a:extLst>
                <a:ext uri="{FF2B5EF4-FFF2-40B4-BE49-F238E27FC236}">
                  <a16:creationId xmlns:a16="http://schemas.microsoft.com/office/drawing/2014/main" id="{51E32966-7C8C-4CBE-9325-5434F680ABEA}"/>
                </a:ext>
              </a:extLst>
            </p:cNvPr>
            <p:cNvGrpSpPr>
              <a:grpSpLocks/>
            </p:cNvGrpSpPr>
            <p:nvPr/>
          </p:nvGrpSpPr>
          <p:grpSpPr bwMode="auto">
            <a:xfrm flipV="1">
              <a:off x="3686" y="243"/>
              <a:ext cx="177" cy="66"/>
              <a:chOff x="2848" y="848"/>
              <a:chExt cx="140" cy="98"/>
            </a:xfrm>
          </p:grpSpPr>
          <p:sp>
            <p:nvSpPr>
              <p:cNvPr id="102" name="Line 74">
                <a:extLst>
                  <a:ext uri="{FF2B5EF4-FFF2-40B4-BE49-F238E27FC236}">
                    <a16:creationId xmlns:a16="http://schemas.microsoft.com/office/drawing/2014/main" id="{898E7D69-36AD-484D-BCCB-3810C7C9CFC3}"/>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75">
                <a:extLst>
                  <a:ext uri="{FF2B5EF4-FFF2-40B4-BE49-F238E27FC236}">
                    <a16:creationId xmlns:a16="http://schemas.microsoft.com/office/drawing/2014/main" id="{1621D257-C415-4432-8363-A2DA881B810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76">
                <a:extLst>
                  <a:ext uri="{FF2B5EF4-FFF2-40B4-BE49-F238E27FC236}">
                    <a16:creationId xmlns:a16="http://schemas.microsoft.com/office/drawing/2014/main" id="{38218FB3-A6C1-400E-A022-5186DE52536A}"/>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08" name="Group 77">
            <a:extLst>
              <a:ext uri="{FF2B5EF4-FFF2-40B4-BE49-F238E27FC236}">
                <a16:creationId xmlns:a16="http://schemas.microsoft.com/office/drawing/2014/main" id="{26ADDFE6-AD5D-4F49-9FC4-0086CADDCFA1}"/>
              </a:ext>
            </a:extLst>
          </p:cNvPr>
          <p:cNvGrpSpPr>
            <a:grpSpLocks/>
          </p:cNvGrpSpPr>
          <p:nvPr/>
        </p:nvGrpSpPr>
        <p:grpSpPr bwMode="auto">
          <a:xfrm>
            <a:off x="5128660" y="5383818"/>
            <a:ext cx="501650" cy="233362"/>
            <a:chOff x="3600" y="219"/>
            <a:chExt cx="360" cy="175"/>
          </a:xfrm>
        </p:grpSpPr>
        <p:sp>
          <p:nvSpPr>
            <p:cNvPr id="109" name="Oval 78">
              <a:extLst>
                <a:ext uri="{FF2B5EF4-FFF2-40B4-BE49-F238E27FC236}">
                  <a16:creationId xmlns:a16="http://schemas.microsoft.com/office/drawing/2014/main" id="{8C83C399-6EC2-4A7E-BD93-6065E1224FF9}"/>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sp>
          <p:nvSpPr>
            <p:cNvPr id="110" name="Line 79">
              <a:extLst>
                <a:ext uri="{FF2B5EF4-FFF2-40B4-BE49-F238E27FC236}">
                  <a16:creationId xmlns:a16="http://schemas.microsoft.com/office/drawing/2014/main" id="{1870E065-E2B4-46F2-B021-45796F3D413B}"/>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80">
              <a:extLst>
                <a:ext uri="{FF2B5EF4-FFF2-40B4-BE49-F238E27FC236}">
                  <a16:creationId xmlns:a16="http://schemas.microsoft.com/office/drawing/2014/main" id="{4F7A005F-4584-4F78-AF5C-7F97D98A49C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Rectangle 81">
              <a:extLst>
                <a:ext uri="{FF2B5EF4-FFF2-40B4-BE49-F238E27FC236}">
                  <a16:creationId xmlns:a16="http://schemas.microsoft.com/office/drawing/2014/main" id="{9B03ED75-06A9-4EC6-AEE4-BCA537B7E5FC}"/>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solidFill>
                  <a:srgbClr val="000000"/>
                </a:solidFill>
                <a:latin typeface="Times New Roman" panose="02020603050405020304" pitchFamily="18" charset="0"/>
              </a:endParaRPr>
            </a:p>
          </p:txBody>
        </p:sp>
        <p:sp>
          <p:nvSpPr>
            <p:cNvPr id="113" name="Oval 82">
              <a:extLst>
                <a:ext uri="{FF2B5EF4-FFF2-40B4-BE49-F238E27FC236}">
                  <a16:creationId xmlns:a16="http://schemas.microsoft.com/office/drawing/2014/main" id="{355A374B-D68A-4B07-B0B5-4C87FF459255}"/>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sz="1800">
                <a:solidFill>
                  <a:srgbClr val="000000"/>
                </a:solidFill>
              </a:endParaRPr>
            </a:p>
          </p:txBody>
        </p:sp>
        <p:grpSp>
          <p:nvGrpSpPr>
            <p:cNvPr id="114" name="Group 83">
              <a:extLst>
                <a:ext uri="{FF2B5EF4-FFF2-40B4-BE49-F238E27FC236}">
                  <a16:creationId xmlns:a16="http://schemas.microsoft.com/office/drawing/2014/main" id="{9FB162FA-F3ED-4087-8E81-B139EAA678B1}"/>
                </a:ext>
              </a:extLst>
            </p:cNvPr>
            <p:cNvGrpSpPr>
              <a:grpSpLocks/>
            </p:cNvGrpSpPr>
            <p:nvPr/>
          </p:nvGrpSpPr>
          <p:grpSpPr bwMode="auto">
            <a:xfrm>
              <a:off x="3686" y="244"/>
              <a:ext cx="177" cy="66"/>
              <a:chOff x="2848" y="848"/>
              <a:chExt cx="140" cy="98"/>
            </a:xfrm>
          </p:grpSpPr>
          <p:sp>
            <p:nvSpPr>
              <p:cNvPr id="119" name="Line 84">
                <a:extLst>
                  <a:ext uri="{FF2B5EF4-FFF2-40B4-BE49-F238E27FC236}">
                    <a16:creationId xmlns:a16="http://schemas.microsoft.com/office/drawing/2014/main" id="{3C279842-6D4C-43DE-9CEE-EBF237A179A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85">
                <a:extLst>
                  <a:ext uri="{FF2B5EF4-FFF2-40B4-BE49-F238E27FC236}">
                    <a16:creationId xmlns:a16="http://schemas.microsoft.com/office/drawing/2014/main" id="{A86DA053-8068-4C54-8990-DB9B0A340225}"/>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86">
                <a:extLst>
                  <a:ext uri="{FF2B5EF4-FFF2-40B4-BE49-F238E27FC236}">
                    <a16:creationId xmlns:a16="http://schemas.microsoft.com/office/drawing/2014/main" id="{720C6D3D-BF4E-45B5-A491-CFD00541F20D}"/>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5" name="Group 87">
              <a:extLst>
                <a:ext uri="{FF2B5EF4-FFF2-40B4-BE49-F238E27FC236}">
                  <a16:creationId xmlns:a16="http://schemas.microsoft.com/office/drawing/2014/main" id="{38A44AD8-6B0E-4811-9B54-43A10D574915}"/>
                </a:ext>
              </a:extLst>
            </p:cNvPr>
            <p:cNvGrpSpPr>
              <a:grpSpLocks/>
            </p:cNvGrpSpPr>
            <p:nvPr/>
          </p:nvGrpSpPr>
          <p:grpSpPr bwMode="auto">
            <a:xfrm flipV="1">
              <a:off x="3686" y="243"/>
              <a:ext cx="177" cy="66"/>
              <a:chOff x="2848" y="848"/>
              <a:chExt cx="140" cy="98"/>
            </a:xfrm>
          </p:grpSpPr>
          <p:sp>
            <p:nvSpPr>
              <p:cNvPr id="116" name="Line 88">
                <a:extLst>
                  <a:ext uri="{FF2B5EF4-FFF2-40B4-BE49-F238E27FC236}">
                    <a16:creationId xmlns:a16="http://schemas.microsoft.com/office/drawing/2014/main" id="{3D8DCDDB-9ACD-4AEA-B6D7-C9328384BA06}"/>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89">
                <a:extLst>
                  <a:ext uri="{FF2B5EF4-FFF2-40B4-BE49-F238E27FC236}">
                    <a16:creationId xmlns:a16="http://schemas.microsoft.com/office/drawing/2014/main" id="{491ADA18-5A54-4873-85C5-D18A04F9296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90">
                <a:extLst>
                  <a:ext uri="{FF2B5EF4-FFF2-40B4-BE49-F238E27FC236}">
                    <a16:creationId xmlns:a16="http://schemas.microsoft.com/office/drawing/2014/main" id="{A9B1B075-8726-4009-A99A-954316399017}"/>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22" name="Freeform 91">
            <a:extLst>
              <a:ext uri="{FF2B5EF4-FFF2-40B4-BE49-F238E27FC236}">
                <a16:creationId xmlns:a16="http://schemas.microsoft.com/office/drawing/2014/main" id="{C5B5E51E-36B8-46BD-AD2B-D1848CB93E78}"/>
              </a:ext>
            </a:extLst>
          </p:cNvPr>
          <p:cNvSpPr>
            <a:spLocks/>
          </p:cNvSpPr>
          <p:nvPr/>
        </p:nvSpPr>
        <p:spPr bwMode="auto">
          <a:xfrm>
            <a:off x="4633360" y="5201255"/>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 name="Freeform 92">
            <a:extLst>
              <a:ext uri="{FF2B5EF4-FFF2-40B4-BE49-F238E27FC236}">
                <a16:creationId xmlns:a16="http://schemas.microsoft.com/office/drawing/2014/main" id="{FC69938E-BD4D-40BA-BF18-959B87A23EC5}"/>
              </a:ext>
            </a:extLst>
          </p:cNvPr>
          <p:cNvSpPr>
            <a:spLocks/>
          </p:cNvSpPr>
          <p:nvPr/>
        </p:nvSpPr>
        <p:spPr bwMode="auto">
          <a:xfrm>
            <a:off x="3568148" y="5593368"/>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4" name="Freeform 93">
            <a:extLst>
              <a:ext uri="{FF2B5EF4-FFF2-40B4-BE49-F238E27FC236}">
                <a16:creationId xmlns:a16="http://schemas.microsoft.com/office/drawing/2014/main" id="{041758A7-0780-41B4-9D50-16BF1DACD47C}"/>
              </a:ext>
            </a:extLst>
          </p:cNvPr>
          <p:cNvSpPr>
            <a:spLocks/>
          </p:cNvSpPr>
          <p:nvPr/>
        </p:nvSpPr>
        <p:spPr bwMode="auto">
          <a:xfrm>
            <a:off x="4515885" y="5569555"/>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5" name="Freeform 94">
            <a:extLst>
              <a:ext uri="{FF2B5EF4-FFF2-40B4-BE49-F238E27FC236}">
                <a16:creationId xmlns:a16="http://schemas.microsoft.com/office/drawing/2014/main" id="{6ACFBAB7-C6C4-4107-88F6-51754D11FF30}"/>
              </a:ext>
            </a:extLst>
          </p:cNvPr>
          <p:cNvSpPr>
            <a:spLocks/>
          </p:cNvSpPr>
          <p:nvPr/>
        </p:nvSpPr>
        <p:spPr bwMode="auto">
          <a:xfrm>
            <a:off x="5184223" y="5623530"/>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6" name="Freeform 95">
            <a:extLst>
              <a:ext uri="{FF2B5EF4-FFF2-40B4-BE49-F238E27FC236}">
                <a16:creationId xmlns:a16="http://schemas.microsoft.com/office/drawing/2014/main" id="{D27DB880-6FDF-4EA9-9D9F-4433CE573EBB}"/>
              </a:ext>
            </a:extLst>
          </p:cNvPr>
          <p:cNvSpPr>
            <a:spLocks/>
          </p:cNvSpPr>
          <p:nvPr/>
        </p:nvSpPr>
        <p:spPr bwMode="auto">
          <a:xfrm>
            <a:off x="3947560" y="6156930"/>
            <a:ext cx="736600" cy="74613"/>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7" name="Freeform 96">
            <a:extLst>
              <a:ext uri="{FF2B5EF4-FFF2-40B4-BE49-F238E27FC236}">
                <a16:creationId xmlns:a16="http://schemas.microsoft.com/office/drawing/2014/main" id="{3F9BC812-C008-47DF-BCA2-21D6359712FB}"/>
              </a:ext>
            </a:extLst>
          </p:cNvPr>
          <p:cNvSpPr>
            <a:spLocks/>
          </p:cNvSpPr>
          <p:nvPr/>
        </p:nvSpPr>
        <p:spPr bwMode="auto">
          <a:xfrm>
            <a:off x="3410985" y="5617180"/>
            <a:ext cx="193675" cy="425450"/>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8" name="Freeform 7">
            <a:extLst>
              <a:ext uri="{FF2B5EF4-FFF2-40B4-BE49-F238E27FC236}">
                <a16:creationId xmlns:a16="http://schemas.microsoft.com/office/drawing/2014/main" id="{1B062710-5A11-49DA-86E2-9F69F8FF1211}"/>
              </a:ext>
            </a:extLst>
          </p:cNvPr>
          <p:cNvSpPr>
            <a:spLocks/>
          </p:cNvSpPr>
          <p:nvPr/>
        </p:nvSpPr>
        <p:spPr bwMode="auto">
          <a:xfrm>
            <a:off x="2299735" y="4275743"/>
            <a:ext cx="5156200" cy="1509712"/>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56094" h="1509215">
                <a:moveTo>
                  <a:pt x="0" y="0"/>
                </a:moveTo>
                <a:cubicBezTo>
                  <a:pt x="2320" y="388965"/>
                  <a:pt x="4641" y="777929"/>
                  <a:pt x="6961" y="1166894"/>
                </a:cubicBezTo>
                <a:lnTo>
                  <a:pt x="1130946" y="1169234"/>
                </a:lnTo>
                <a:lnTo>
                  <a:pt x="1754913" y="1488814"/>
                </a:lnTo>
                <a:lnTo>
                  <a:pt x="2207163" y="1509215"/>
                </a:lnTo>
                <a:lnTo>
                  <a:pt x="2988762" y="1197554"/>
                </a:lnTo>
                <a:lnTo>
                  <a:pt x="3391464" y="1209136"/>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130" name="Group 21">
            <a:extLst>
              <a:ext uri="{FF2B5EF4-FFF2-40B4-BE49-F238E27FC236}">
                <a16:creationId xmlns:a16="http://schemas.microsoft.com/office/drawing/2014/main" id="{09929210-D7C6-4B18-AA91-71D6801C4D6F}"/>
              </a:ext>
            </a:extLst>
          </p:cNvPr>
          <p:cNvGrpSpPr>
            <a:grpSpLocks/>
          </p:cNvGrpSpPr>
          <p:nvPr/>
        </p:nvGrpSpPr>
        <p:grpSpPr bwMode="auto">
          <a:xfrm>
            <a:off x="2036210" y="5519743"/>
            <a:ext cx="1493838" cy="307975"/>
            <a:chOff x="1813455" y="5843731"/>
            <a:chExt cx="1493249" cy="307777"/>
          </a:xfrm>
        </p:grpSpPr>
        <p:grpSp>
          <p:nvGrpSpPr>
            <p:cNvPr id="131" name="Group 274">
              <a:extLst>
                <a:ext uri="{FF2B5EF4-FFF2-40B4-BE49-F238E27FC236}">
                  <a16:creationId xmlns:a16="http://schemas.microsoft.com/office/drawing/2014/main" id="{31DF8919-9A2E-4113-AB34-5F6F393C3BB3}"/>
                </a:ext>
              </a:extLst>
            </p:cNvPr>
            <p:cNvGrpSpPr>
              <a:grpSpLocks/>
            </p:cNvGrpSpPr>
            <p:nvPr/>
          </p:nvGrpSpPr>
          <p:grpSpPr bwMode="auto">
            <a:xfrm>
              <a:off x="1813455" y="5843731"/>
              <a:ext cx="1493249" cy="307777"/>
              <a:chOff x="3932659" y="5775338"/>
              <a:chExt cx="1493249" cy="307777"/>
            </a:xfrm>
          </p:grpSpPr>
          <p:grpSp>
            <p:nvGrpSpPr>
              <p:cNvPr id="133" name="Group 275">
                <a:extLst>
                  <a:ext uri="{FF2B5EF4-FFF2-40B4-BE49-F238E27FC236}">
                    <a16:creationId xmlns:a16="http://schemas.microsoft.com/office/drawing/2014/main" id="{7625C11F-4732-4BF3-AE3C-3E64697B7F3F}"/>
                  </a:ext>
                </a:extLst>
              </p:cNvPr>
              <p:cNvGrpSpPr>
                <a:grpSpLocks/>
              </p:cNvGrpSpPr>
              <p:nvPr/>
            </p:nvGrpSpPr>
            <p:grpSpPr bwMode="auto">
              <a:xfrm>
                <a:off x="3999159" y="5783287"/>
                <a:ext cx="806697" cy="257416"/>
                <a:chOff x="-2975754" y="4128742"/>
                <a:chExt cx="1258600" cy="450696"/>
              </a:xfrm>
            </p:grpSpPr>
            <p:sp>
              <p:nvSpPr>
                <p:cNvPr id="135" name="Rectangle 277">
                  <a:extLst>
                    <a:ext uri="{FF2B5EF4-FFF2-40B4-BE49-F238E27FC236}">
                      <a16:creationId xmlns:a16="http://schemas.microsoft.com/office/drawing/2014/main" id="{94B6F977-04F8-4532-A57D-81CD8352D472}"/>
                    </a:ext>
                  </a:extLst>
                </p:cNvPr>
                <p:cNvSpPr/>
                <p:nvPr/>
              </p:nvSpPr>
              <p:spPr>
                <a:xfrm>
                  <a:off x="-2903722" y="4135317"/>
                  <a:ext cx="1151258" cy="341655"/>
                </a:xfrm>
                <a:prstGeom prst="rect">
                  <a:avLst/>
                </a:prstGeom>
                <a:solidFill>
                  <a:srgbClr val="008000"/>
                </a:solidFill>
                <a:ln w="12700">
                  <a:solidFill>
                    <a:schemeClr val="accent1">
                      <a:lumMod val="50000"/>
                    </a:schemeClr>
                  </a:solidFill>
                </a:ln>
              </p:spPr>
              <p:txBody>
                <a:bodyPr wrap="none"/>
                <a:lstStyle/>
                <a:p>
                  <a:pPr>
                    <a:defRPr/>
                  </a:pPr>
                  <a:endParaRPr lang="en-US">
                    <a:ea typeface="ＭＳ Ｐゴシック" charset="0"/>
                    <a:cs typeface="ＭＳ Ｐゴシック" charset="0"/>
                  </a:endParaRPr>
                </a:p>
              </p:txBody>
            </p:sp>
            <p:sp>
              <p:nvSpPr>
                <p:cNvPr id="136" name="Rectangle 278">
                  <a:extLst>
                    <a:ext uri="{FF2B5EF4-FFF2-40B4-BE49-F238E27FC236}">
                      <a16:creationId xmlns:a16="http://schemas.microsoft.com/office/drawing/2014/main" id="{DFF19F51-3EE2-4F88-A2A4-C5C553DD6B65}"/>
                    </a:ext>
                  </a:extLst>
                </p:cNvPr>
                <p:cNvSpPr/>
                <p:nvPr/>
              </p:nvSpPr>
              <p:spPr>
                <a:xfrm>
                  <a:off x="-2968093" y="4221426"/>
                  <a:ext cx="1148783" cy="344432"/>
                </a:xfrm>
                <a:prstGeom prst="rect">
                  <a:avLst/>
                </a:prstGeom>
                <a:solidFill>
                  <a:srgbClr val="008000"/>
                </a:solidFill>
                <a:ln w="12700">
                  <a:solidFill>
                    <a:schemeClr val="accent1">
                      <a:lumMod val="50000"/>
                    </a:schemeClr>
                  </a:solidFill>
                </a:ln>
              </p:spPr>
              <p:txBody>
                <a:bodyPr wrap="none"/>
                <a:lstStyle/>
                <a:p>
                  <a:pPr>
                    <a:defRPr/>
                  </a:pPr>
                  <a:endParaRPr lang="en-US">
                    <a:ea typeface="ＭＳ Ｐゴシック" charset="0"/>
                    <a:cs typeface="ＭＳ Ｐゴシック" charset="0"/>
                  </a:endParaRPr>
                </a:p>
              </p:txBody>
            </p:sp>
            <p:sp>
              <p:nvSpPr>
                <p:cNvPr id="137" name="Freeform 279">
                  <a:extLst>
                    <a:ext uri="{FF2B5EF4-FFF2-40B4-BE49-F238E27FC236}">
                      <a16:creationId xmlns:a16="http://schemas.microsoft.com/office/drawing/2014/main" id="{855746B8-E7BC-49AA-91ED-09A43A4A8138}"/>
                    </a:ext>
                  </a:extLst>
                </p:cNvPr>
                <p:cNvSpPr/>
                <p:nvPr/>
              </p:nvSpPr>
              <p:spPr>
                <a:xfrm>
                  <a:off x="-2975522" y="4129762"/>
                  <a:ext cx="1223057" cy="94441"/>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defRPr/>
                  </a:pPr>
                  <a:endParaRPr lang="en-US">
                    <a:ea typeface="ＭＳ Ｐゴシック" charset="0"/>
                    <a:cs typeface="ＭＳ Ｐゴシック" charset="0"/>
                  </a:endParaRPr>
                </a:p>
              </p:txBody>
            </p:sp>
            <p:sp>
              <p:nvSpPr>
                <p:cNvPr id="138" name="Freeform 280">
                  <a:extLst>
                    <a:ext uri="{FF2B5EF4-FFF2-40B4-BE49-F238E27FC236}">
                      <a16:creationId xmlns:a16="http://schemas.microsoft.com/office/drawing/2014/main" id="{A64D4A96-96E7-4D73-8226-F9031B584514}"/>
                    </a:ext>
                  </a:extLst>
                </p:cNvPr>
                <p:cNvSpPr/>
                <p:nvPr/>
              </p:nvSpPr>
              <p:spPr>
                <a:xfrm rot="21211447" flipV="1">
                  <a:off x="-1853972" y="4146428"/>
                  <a:ext cx="136170" cy="433318"/>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defRPr/>
                  </a:pPr>
                  <a:endParaRPr lang="en-US">
                    <a:ea typeface="ＭＳ Ｐゴシック" charset="0"/>
                    <a:cs typeface="ＭＳ Ｐゴシック" charset="0"/>
                  </a:endParaRPr>
                </a:p>
              </p:txBody>
            </p:sp>
          </p:grpSp>
          <p:sp>
            <p:nvSpPr>
              <p:cNvPr id="134" name="TextBox 276">
                <a:extLst>
                  <a:ext uri="{FF2B5EF4-FFF2-40B4-BE49-F238E27FC236}">
                    <a16:creationId xmlns:a16="http://schemas.microsoft.com/office/drawing/2014/main" id="{696473F2-A39E-47F5-98D0-8067C97B9014}"/>
                  </a:ext>
                </a:extLst>
              </p:cNvPr>
              <p:cNvSpPr txBox="1">
                <a:spLocks noChangeArrowheads="1"/>
              </p:cNvSpPr>
              <p:nvPr/>
            </p:nvSpPr>
            <p:spPr bwMode="auto">
              <a:xfrm>
                <a:off x="3932659" y="5775338"/>
                <a:ext cx="1493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1400" dirty="0">
                    <a:solidFill>
                      <a:schemeClr val="bg1"/>
                    </a:solidFill>
                  </a:rPr>
                  <a:t>ECN=</a:t>
                </a:r>
                <a:r>
                  <a:rPr lang="en-US" altLang="zh-CN" sz="1400" dirty="0">
                    <a:solidFill>
                      <a:srgbClr val="FFFFFF"/>
                    </a:solidFill>
                  </a:rPr>
                  <a:t>00</a:t>
                </a:r>
              </a:p>
            </p:txBody>
          </p:sp>
        </p:grpSp>
        <p:cxnSp>
          <p:nvCxnSpPr>
            <p:cNvPr id="132" name="Straight Arrow Connector 15">
              <a:extLst>
                <a:ext uri="{FF2B5EF4-FFF2-40B4-BE49-F238E27FC236}">
                  <a16:creationId xmlns:a16="http://schemas.microsoft.com/office/drawing/2014/main" id="{D069496D-4A59-430D-B665-305C8EE5883F}"/>
                </a:ext>
              </a:extLst>
            </p:cNvPr>
            <p:cNvCxnSpPr>
              <a:cxnSpLocks noChangeShapeType="1"/>
            </p:cNvCxnSpPr>
            <p:nvPr/>
          </p:nvCxnSpPr>
          <p:spPr bwMode="auto">
            <a:xfrm flipV="1">
              <a:off x="2150568" y="6133267"/>
              <a:ext cx="612066" cy="1"/>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9" name="Group 22">
            <a:extLst>
              <a:ext uri="{FF2B5EF4-FFF2-40B4-BE49-F238E27FC236}">
                <a16:creationId xmlns:a16="http://schemas.microsoft.com/office/drawing/2014/main" id="{CCBADB5D-F3F3-4B82-B773-331A34B9EA3C}"/>
              </a:ext>
            </a:extLst>
          </p:cNvPr>
          <p:cNvGrpSpPr>
            <a:grpSpLocks/>
          </p:cNvGrpSpPr>
          <p:nvPr/>
        </p:nvGrpSpPr>
        <p:grpSpPr bwMode="auto">
          <a:xfrm>
            <a:off x="4162379" y="5450815"/>
            <a:ext cx="1493837" cy="360045"/>
            <a:chOff x="3939513" y="5774672"/>
            <a:chExt cx="1493249" cy="358989"/>
          </a:xfrm>
        </p:grpSpPr>
        <p:grpSp>
          <p:nvGrpSpPr>
            <p:cNvPr id="140" name="Group 13">
              <a:extLst>
                <a:ext uri="{FF2B5EF4-FFF2-40B4-BE49-F238E27FC236}">
                  <a16:creationId xmlns:a16="http://schemas.microsoft.com/office/drawing/2014/main" id="{50B9695B-65E0-4821-8A52-2E1E899C3249}"/>
                </a:ext>
              </a:extLst>
            </p:cNvPr>
            <p:cNvGrpSpPr>
              <a:grpSpLocks/>
            </p:cNvGrpSpPr>
            <p:nvPr/>
          </p:nvGrpSpPr>
          <p:grpSpPr bwMode="auto">
            <a:xfrm>
              <a:off x="3939513" y="5774672"/>
              <a:ext cx="1493249" cy="307777"/>
              <a:chOff x="3939513" y="5774672"/>
              <a:chExt cx="1493249" cy="307777"/>
            </a:xfrm>
          </p:grpSpPr>
          <p:grpSp>
            <p:nvGrpSpPr>
              <p:cNvPr id="142" name="Group 11">
                <a:extLst>
                  <a:ext uri="{FF2B5EF4-FFF2-40B4-BE49-F238E27FC236}">
                    <a16:creationId xmlns:a16="http://schemas.microsoft.com/office/drawing/2014/main" id="{94A0D773-1036-4471-B71A-010BFC34CBFC}"/>
                  </a:ext>
                </a:extLst>
              </p:cNvPr>
              <p:cNvGrpSpPr>
                <a:grpSpLocks/>
              </p:cNvGrpSpPr>
              <p:nvPr/>
            </p:nvGrpSpPr>
            <p:grpSpPr bwMode="auto">
              <a:xfrm>
                <a:off x="3999159" y="5783287"/>
                <a:ext cx="806697" cy="257416"/>
                <a:chOff x="-2975754" y="4128742"/>
                <a:chExt cx="1258600" cy="450696"/>
              </a:xfrm>
            </p:grpSpPr>
            <p:sp>
              <p:nvSpPr>
                <p:cNvPr id="144" name="Rectangle 267">
                  <a:extLst>
                    <a:ext uri="{FF2B5EF4-FFF2-40B4-BE49-F238E27FC236}">
                      <a16:creationId xmlns:a16="http://schemas.microsoft.com/office/drawing/2014/main" id="{C98E96DE-4574-4B28-A469-66C47A8BFA82}"/>
                    </a:ext>
                  </a:extLst>
                </p:cNvPr>
                <p:cNvSpPr/>
                <p:nvPr/>
              </p:nvSpPr>
              <p:spPr>
                <a:xfrm>
                  <a:off x="-2903723" y="4135274"/>
                  <a:ext cx="1151259" cy="340871"/>
                </a:xfrm>
                <a:prstGeom prst="rect">
                  <a:avLst/>
                </a:prstGeom>
                <a:solidFill>
                  <a:srgbClr val="008000"/>
                </a:solidFill>
                <a:ln w="12700">
                  <a:solidFill>
                    <a:schemeClr val="accent1">
                      <a:lumMod val="50000"/>
                    </a:schemeClr>
                  </a:solidFill>
                </a:ln>
              </p:spPr>
              <p:txBody>
                <a:bodyPr wrap="none"/>
                <a:lstStyle/>
                <a:p>
                  <a:pPr>
                    <a:defRPr/>
                  </a:pPr>
                  <a:endParaRPr lang="en-US">
                    <a:ea typeface="ＭＳ Ｐゴシック" charset="0"/>
                    <a:cs typeface="ＭＳ Ｐゴシック" charset="0"/>
                  </a:endParaRPr>
                </a:p>
              </p:txBody>
            </p:sp>
            <p:sp>
              <p:nvSpPr>
                <p:cNvPr id="145" name="Rectangle 8">
                  <a:extLst>
                    <a:ext uri="{FF2B5EF4-FFF2-40B4-BE49-F238E27FC236}">
                      <a16:creationId xmlns:a16="http://schemas.microsoft.com/office/drawing/2014/main" id="{A544F6EE-17FF-4ECD-9E33-98ADE78B1851}"/>
                    </a:ext>
                  </a:extLst>
                </p:cNvPr>
                <p:cNvSpPr/>
                <p:nvPr/>
              </p:nvSpPr>
              <p:spPr>
                <a:xfrm>
                  <a:off x="-2968095" y="4221184"/>
                  <a:ext cx="1148783" cy="343644"/>
                </a:xfrm>
                <a:prstGeom prst="rect">
                  <a:avLst/>
                </a:prstGeom>
                <a:solidFill>
                  <a:srgbClr val="008000"/>
                </a:solidFill>
                <a:ln w="12700">
                  <a:solidFill>
                    <a:schemeClr val="accent1">
                      <a:lumMod val="50000"/>
                    </a:schemeClr>
                  </a:solidFill>
                </a:ln>
              </p:spPr>
              <p:txBody>
                <a:bodyPr wrap="none"/>
                <a:lstStyle/>
                <a:p>
                  <a:pPr>
                    <a:defRPr/>
                  </a:pPr>
                  <a:endParaRPr lang="en-US">
                    <a:ea typeface="ＭＳ Ｐゴシック" charset="0"/>
                    <a:cs typeface="ＭＳ Ｐゴシック" charset="0"/>
                  </a:endParaRPr>
                </a:p>
              </p:txBody>
            </p:sp>
            <p:sp>
              <p:nvSpPr>
                <p:cNvPr id="146" name="Freeform 9">
                  <a:extLst>
                    <a:ext uri="{FF2B5EF4-FFF2-40B4-BE49-F238E27FC236}">
                      <a16:creationId xmlns:a16="http://schemas.microsoft.com/office/drawing/2014/main" id="{8161B57D-59D4-4B77-9736-2097C57C03F5}"/>
                    </a:ext>
                  </a:extLst>
                </p:cNvPr>
                <p:cNvSpPr/>
                <p:nvPr/>
              </p:nvSpPr>
              <p:spPr>
                <a:xfrm>
                  <a:off x="-2975522" y="4129732"/>
                  <a:ext cx="1223057" cy="94225"/>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defRPr/>
                  </a:pPr>
                  <a:endParaRPr lang="en-US">
                    <a:ea typeface="ＭＳ Ｐゴシック" charset="0"/>
                    <a:cs typeface="ＭＳ Ｐゴシック" charset="0"/>
                  </a:endParaRPr>
                </a:p>
              </p:txBody>
            </p:sp>
            <p:sp>
              <p:nvSpPr>
                <p:cNvPr id="147" name="Freeform 269">
                  <a:extLst>
                    <a:ext uri="{FF2B5EF4-FFF2-40B4-BE49-F238E27FC236}">
                      <a16:creationId xmlns:a16="http://schemas.microsoft.com/office/drawing/2014/main" id="{7C35D2CA-231A-4F4C-AE40-9D36353C27A9}"/>
                    </a:ext>
                  </a:extLst>
                </p:cNvPr>
                <p:cNvSpPr/>
                <p:nvPr/>
              </p:nvSpPr>
              <p:spPr>
                <a:xfrm rot="21211447" flipV="1">
                  <a:off x="-1853974" y="4146360"/>
                  <a:ext cx="136171" cy="432326"/>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defRPr/>
                  </a:pPr>
                  <a:endParaRPr lang="en-US">
                    <a:ea typeface="ＭＳ Ｐゴシック" charset="0"/>
                    <a:cs typeface="ＭＳ Ｐゴシック" charset="0"/>
                  </a:endParaRPr>
                </a:p>
              </p:txBody>
            </p:sp>
          </p:grpSp>
          <p:sp>
            <p:nvSpPr>
              <p:cNvPr id="143" name="TextBox 12">
                <a:extLst>
                  <a:ext uri="{FF2B5EF4-FFF2-40B4-BE49-F238E27FC236}">
                    <a16:creationId xmlns:a16="http://schemas.microsoft.com/office/drawing/2014/main" id="{9D3B98F9-48F0-4031-8CEC-A696155F4FC6}"/>
                  </a:ext>
                </a:extLst>
              </p:cNvPr>
              <p:cNvSpPr txBox="1">
                <a:spLocks noChangeArrowheads="1"/>
              </p:cNvSpPr>
              <p:nvPr/>
            </p:nvSpPr>
            <p:spPr bwMode="auto">
              <a:xfrm>
                <a:off x="3939513" y="5774672"/>
                <a:ext cx="1493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1400" dirty="0">
                    <a:solidFill>
                      <a:schemeClr val="bg1"/>
                    </a:solidFill>
                  </a:rPr>
                  <a:t>ECN=</a:t>
                </a:r>
                <a:r>
                  <a:rPr lang="en-US" altLang="zh-CN" sz="1400" dirty="0">
                    <a:solidFill>
                      <a:srgbClr val="FF0000"/>
                    </a:solidFill>
                  </a:rPr>
                  <a:t>11</a:t>
                </a:r>
              </a:p>
            </p:txBody>
          </p:sp>
        </p:grpSp>
        <p:cxnSp>
          <p:nvCxnSpPr>
            <p:cNvPr id="141" name="Straight Arrow Connector 286">
              <a:extLst>
                <a:ext uri="{FF2B5EF4-FFF2-40B4-BE49-F238E27FC236}">
                  <a16:creationId xmlns:a16="http://schemas.microsoft.com/office/drawing/2014/main" id="{9B36A76B-433A-491A-AEAF-61A9C79244B0}"/>
                </a:ext>
              </a:extLst>
            </p:cNvPr>
            <p:cNvCxnSpPr>
              <a:cxnSpLocks noChangeShapeType="1"/>
            </p:cNvCxnSpPr>
            <p:nvPr/>
          </p:nvCxnSpPr>
          <p:spPr bwMode="auto">
            <a:xfrm flipV="1">
              <a:off x="4483694" y="5949896"/>
              <a:ext cx="457353" cy="183765"/>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8" name="Group 28">
            <a:extLst>
              <a:ext uri="{FF2B5EF4-FFF2-40B4-BE49-F238E27FC236}">
                <a16:creationId xmlns:a16="http://schemas.microsoft.com/office/drawing/2014/main" id="{B8FF0053-7D59-4DF1-AD8A-0320261EF659}"/>
              </a:ext>
            </a:extLst>
          </p:cNvPr>
          <p:cNvGrpSpPr>
            <a:grpSpLocks/>
          </p:cNvGrpSpPr>
          <p:nvPr/>
        </p:nvGrpSpPr>
        <p:grpSpPr bwMode="auto">
          <a:xfrm>
            <a:off x="2528348" y="4210494"/>
            <a:ext cx="3953002" cy="379413"/>
            <a:chOff x="2334273" y="4534486"/>
            <a:chExt cx="3951967" cy="378689"/>
          </a:xfrm>
        </p:grpSpPr>
        <p:grpSp>
          <p:nvGrpSpPr>
            <p:cNvPr id="149" name="Group 27">
              <a:extLst>
                <a:ext uri="{FF2B5EF4-FFF2-40B4-BE49-F238E27FC236}">
                  <a16:creationId xmlns:a16="http://schemas.microsoft.com/office/drawing/2014/main" id="{742D7473-882E-4CC0-96B0-D3BF87759129}"/>
                </a:ext>
              </a:extLst>
            </p:cNvPr>
            <p:cNvGrpSpPr>
              <a:grpSpLocks/>
            </p:cNvGrpSpPr>
            <p:nvPr/>
          </p:nvGrpSpPr>
          <p:grpSpPr bwMode="auto">
            <a:xfrm>
              <a:off x="3859774" y="4534486"/>
              <a:ext cx="1142350" cy="307777"/>
              <a:chOff x="3859774" y="4414358"/>
              <a:chExt cx="1142350" cy="307777"/>
            </a:xfrm>
          </p:grpSpPr>
          <p:sp>
            <p:nvSpPr>
              <p:cNvPr id="152" name="Rectangle 297">
                <a:extLst>
                  <a:ext uri="{FF2B5EF4-FFF2-40B4-BE49-F238E27FC236}">
                    <a16:creationId xmlns:a16="http://schemas.microsoft.com/office/drawing/2014/main" id="{70E2EC6C-C6B9-4AEB-B39D-33951EC1EAE8}"/>
                  </a:ext>
                </a:extLst>
              </p:cNvPr>
              <p:cNvSpPr/>
              <p:nvPr/>
            </p:nvSpPr>
            <p:spPr>
              <a:xfrm>
                <a:off x="3907074" y="4428619"/>
                <a:ext cx="736407" cy="194890"/>
              </a:xfrm>
              <a:prstGeom prst="rect">
                <a:avLst/>
              </a:prstGeom>
              <a:solidFill>
                <a:srgbClr val="008000"/>
              </a:solidFill>
              <a:ln w="12700">
                <a:solidFill>
                  <a:schemeClr val="accent1">
                    <a:lumMod val="50000"/>
                  </a:schemeClr>
                </a:solidFill>
              </a:ln>
            </p:spPr>
            <p:txBody>
              <a:bodyPr wrap="none"/>
              <a:lstStyle/>
              <a:p>
                <a:pPr>
                  <a:defRPr/>
                </a:pPr>
                <a:endParaRPr lang="en-US">
                  <a:ea typeface="ＭＳ Ｐゴシック" charset="0"/>
                  <a:cs typeface="ＭＳ Ｐゴシック" charset="0"/>
                </a:endParaRPr>
              </a:p>
            </p:txBody>
          </p:sp>
          <p:sp>
            <p:nvSpPr>
              <p:cNvPr id="153" name="Rectangle 298">
                <a:extLst>
                  <a:ext uri="{FF2B5EF4-FFF2-40B4-BE49-F238E27FC236}">
                    <a16:creationId xmlns:a16="http://schemas.microsoft.com/office/drawing/2014/main" id="{A09BCE1E-323C-4512-958B-062E130DEB28}"/>
                  </a:ext>
                </a:extLst>
              </p:cNvPr>
              <p:cNvSpPr>
                <a:spLocks noChangeArrowheads="1"/>
              </p:cNvSpPr>
              <p:nvPr/>
            </p:nvSpPr>
            <p:spPr bwMode="auto">
              <a:xfrm>
                <a:off x="3863891" y="4478563"/>
                <a:ext cx="737073" cy="196032"/>
              </a:xfrm>
              <a:prstGeom prst="rect">
                <a:avLst/>
              </a:prstGeom>
              <a:solidFill>
                <a:srgbClr val="0000FF"/>
              </a:solidFill>
              <a:ln w="12700">
                <a:solidFill>
                  <a:srgbClr val="000090"/>
                </a:solidFill>
                <a:miter lim="800000"/>
                <a:headEnd/>
                <a:tailEnd/>
              </a:ln>
            </p:spPr>
            <p:txBody>
              <a:bodyPr wrap="none"/>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zh-CN" altLang="zh-CN"/>
              </a:p>
            </p:txBody>
          </p:sp>
          <p:sp>
            <p:nvSpPr>
              <p:cNvPr id="154" name="Freeform 299">
                <a:extLst>
                  <a:ext uri="{FF2B5EF4-FFF2-40B4-BE49-F238E27FC236}">
                    <a16:creationId xmlns:a16="http://schemas.microsoft.com/office/drawing/2014/main" id="{6A9067D1-80C3-4364-826E-C4998C3A851B}"/>
                  </a:ext>
                </a:extLst>
              </p:cNvPr>
              <p:cNvSpPr>
                <a:spLocks/>
              </p:cNvSpPr>
              <p:nvPr/>
            </p:nvSpPr>
            <p:spPr bwMode="auto">
              <a:xfrm>
                <a:off x="3859775" y="4425511"/>
                <a:ext cx="783947" cy="53534"/>
              </a:xfrm>
              <a:custGeom>
                <a:avLst/>
                <a:gdLst>
                  <a:gd name="T0" fmla="*/ 0 w 1223105"/>
                  <a:gd name="T1" fmla="*/ 9475 h 93730"/>
                  <a:gd name="T2" fmla="*/ 11863 w 1223105"/>
                  <a:gd name="T3" fmla="*/ 0 h 93730"/>
                  <a:gd name="T4" fmla="*/ 206422 w 1223105"/>
                  <a:gd name="T5" fmla="*/ 499 h 93730"/>
                  <a:gd name="T6" fmla="*/ 192977 w 1223105"/>
                  <a:gd name="T7" fmla="*/ 9975 h 93730"/>
                  <a:gd name="T8" fmla="*/ 0 w 1223105"/>
                  <a:gd name="T9" fmla="*/ 9475 h 937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3105" h="93730">
                    <a:moveTo>
                      <a:pt x="0" y="89042"/>
                    </a:moveTo>
                    <a:lnTo>
                      <a:pt x="70293" y="0"/>
                    </a:lnTo>
                    <a:lnTo>
                      <a:pt x="1223105" y="4687"/>
                    </a:lnTo>
                    <a:lnTo>
                      <a:pt x="1143439" y="93730"/>
                    </a:lnTo>
                    <a:lnTo>
                      <a:pt x="0" y="89042"/>
                    </a:lnTo>
                    <a:close/>
                  </a:path>
                </a:pathLst>
              </a:custGeom>
              <a:solidFill>
                <a:srgbClr val="3366FF"/>
              </a:solidFill>
              <a:ln w="9525">
                <a:solidFill>
                  <a:srgbClr val="000090"/>
                </a:solidFill>
                <a:round/>
                <a:headEnd/>
                <a:tailEnd/>
              </a:ln>
            </p:spPr>
            <p:txBody>
              <a:bodyPr wrap="none"/>
              <a:lstStyle/>
              <a:p>
                <a:endParaRPr lang="zh-CN" altLang="en-US"/>
              </a:p>
            </p:txBody>
          </p:sp>
          <p:sp>
            <p:nvSpPr>
              <p:cNvPr id="155" name="Freeform 300">
                <a:extLst>
                  <a:ext uri="{FF2B5EF4-FFF2-40B4-BE49-F238E27FC236}">
                    <a16:creationId xmlns:a16="http://schemas.microsoft.com/office/drawing/2014/main" id="{E5C9168D-F473-4E41-A799-E85D22291449}"/>
                  </a:ext>
                </a:extLst>
              </p:cNvPr>
              <p:cNvSpPr>
                <a:spLocks/>
              </p:cNvSpPr>
              <p:nvPr/>
            </p:nvSpPr>
            <p:spPr bwMode="auto">
              <a:xfrm rot="21211447" flipV="1">
                <a:off x="4579084" y="4434448"/>
                <a:ext cx="87388" cy="248479"/>
              </a:xfrm>
              <a:custGeom>
                <a:avLst/>
                <a:gdLst>
                  <a:gd name="T0" fmla="*/ 6079 w 136342"/>
                  <a:gd name="T1" fmla="*/ 4406 h 891908"/>
                  <a:gd name="T2" fmla="*/ 0 w 136342"/>
                  <a:gd name="T3" fmla="*/ 0 h 891908"/>
                  <a:gd name="T4" fmla="*/ 17030 w 136342"/>
                  <a:gd name="T5" fmla="*/ 1037 h 891908"/>
                  <a:gd name="T6" fmla="*/ 23010 w 136342"/>
                  <a:gd name="T7" fmla="*/ 5373 h 891908"/>
                  <a:gd name="T8" fmla="*/ 6079 w 136342"/>
                  <a:gd name="T9" fmla="*/ 4406 h 8919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342" h="891908">
                    <a:moveTo>
                      <a:pt x="36019" y="731496"/>
                    </a:moveTo>
                    <a:lnTo>
                      <a:pt x="0" y="1"/>
                    </a:lnTo>
                    <a:lnTo>
                      <a:pt x="100909" y="172120"/>
                    </a:lnTo>
                    <a:lnTo>
                      <a:pt x="136342" y="891907"/>
                    </a:lnTo>
                    <a:lnTo>
                      <a:pt x="36019" y="731496"/>
                    </a:lnTo>
                    <a:close/>
                  </a:path>
                </a:pathLst>
              </a:custGeom>
              <a:solidFill>
                <a:srgbClr val="3366FF"/>
              </a:solidFill>
              <a:ln w="9525">
                <a:solidFill>
                  <a:srgbClr val="000090"/>
                </a:solidFill>
                <a:round/>
                <a:headEnd/>
                <a:tailEnd/>
              </a:ln>
            </p:spPr>
            <p:txBody>
              <a:bodyPr wrap="none"/>
              <a:lstStyle/>
              <a:p>
                <a:endParaRPr lang="zh-CN" altLang="en-US"/>
              </a:p>
            </p:txBody>
          </p:sp>
          <p:sp>
            <p:nvSpPr>
              <p:cNvPr id="156" name="TextBox 296">
                <a:extLst>
                  <a:ext uri="{FF2B5EF4-FFF2-40B4-BE49-F238E27FC236}">
                    <a16:creationId xmlns:a16="http://schemas.microsoft.com/office/drawing/2014/main" id="{C9C1DE1E-14C4-44B0-BBD9-58E35D365643}"/>
                  </a:ext>
                </a:extLst>
              </p:cNvPr>
              <p:cNvSpPr txBox="1">
                <a:spLocks noChangeArrowheads="1"/>
              </p:cNvSpPr>
              <p:nvPr/>
            </p:nvSpPr>
            <p:spPr bwMode="auto">
              <a:xfrm>
                <a:off x="3859774" y="4414358"/>
                <a:ext cx="11423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1400" dirty="0">
                    <a:solidFill>
                      <a:schemeClr val="bg1"/>
                    </a:solidFill>
                  </a:rPr>
                  <a:t>ECE=</a:t>
                </a:r>
                <a:r>
                  <a:rPr lang="en-US" altLang="zh-CN" sz="1400" dirty="0">
                    <a:solidFill>
                      <a:srgbClr val="FF0000"/>
                    </a:solidFill>
                  </a:rPr>
                  <a:t>1</a:t>
                </a:r>
              </a:p>
            </p:txBody>
          </p:sp>
        </p:grpSp>
        <p:cxnSp>
          <p:nvCxnSpPr>
            <p:cNvPr id="150" name="Straight Arrow Connector 294">
              <a:extLst>
                <a:ext uri="{FF2B5EF4-FFF2-40B4-BE49-F238E27FC236}">
                  <a16:creationId xmlns:a16="http://schemas.microsoft.com/office/drawing/2014/main" id="{B34AB414-D678-4207-A49A-0F4E5899342E}"/>
                </a:ext>
              </a:extLst>
            </p:cNvPr>
            <p:cNvCxnSpPr>
              <a:cxnSpLocks noChangeShapeType="1"/>
            </p:cNvCxnSpPr>
            <p:nvPr/>
          </p:nvCxnSpPr>
          <p:spPr bwMode="auto">
            <a:xfrm flipH="1" flipV="1">
              <a:off x="3801047" y="4905427"/>
              <a:ext cx="697737" cy="774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Arrow Connector 25">
              <a:extLst>
                <a:ext uri="{FF2B5EF4-FFF2-40B4-BE49-F238E27FC236}">
                  <a16:creationId xmlns:a16="http://schemas.microsoft.com/office/drawing/2014/main" id="{B0D84CA0-9487-4003-A57B-4826A39F3AC3}"/>
                </a:ext>
              </a:extLst>
            </p:cNvPr>
            <p:cNvCxnSpPr>
              <a:cxnSpLocks noChangeShapeType="1"/>
            </p:cNvCxnSpPr>
            <p:nvPr/>
          </p:nvCxnSpPr>
          <p:spPr bwMode="auto">
            <a:xfrm flipH="1">
              <a:off x="2334273" y="4839428"/>
              <a:ext cx="3951967" cy="0"/>
            </a:xfrm>
            <a:prstGeom prst="straightConnector1">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7" name="Group 32">
            <a:extLst>
              <a:ext uri="{FF2B5EF4-FFF2-40B4-BE49-F238E27FC236}">
                <a16:creationId xmlns:a16="http://schemas.microsoft.com/office/drawing/2014/main" id="{D546E854-24D6-4B77-8534-64AC4621DF12}"/>
              </a:ext>
            </a:extLst>
          </p:cNvPr>
          <p:cNvGrpSpPr>
            <a:grpSpLocks/>
          </p:cNvGrpSpPr>
          <p:nvPr/>
        </p:nvGrpSpPr>
        <p:grpSpPr bwMode="auto">
          <a:xfrm>
            <a:off x="1124985" y="5837844"/>
            <a:ext cx="1157331" cy="462138"/>
            <a:chOff x="902416" y="6160831"/>
            <a:chExt cx="1157237" cy="462402"/>
          </a:xfrm>
        </p:grpSpPr>
        <p:sp>
          <p:nvSpPr>
            <p:cNvPr id="158" name="TextBox 29">
              <a:extLst>
                <a:ext uri="{FF2B5EF4-FFF2-40B4-BE49-F238E27FC236}">
                  <a16:creationId xmlns:a16="http://schemas.microsoft.com/office/drawing/2014/main" id="{7B775F46-9541-4959-B64E-5608AA9BCE21}"/>
                </a:ext>
              </a:extLst>
            </p:cNvPr>
            <p:cNvSpPr txBox="1">
              <a:spLocks noChangeArrowheads="1"/>
            </p:cNvSpPr>
            <p:nvPr/>
          </p:nvSpPr>
          <p:spPr bwMode="auto">
            <a:xfrm>
              <a:off x="902416" y="6315280"/>
              <a:ext cx="889915" cy="30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1400" dirty="0"/>
                <a:t>IP</a:t>
              </a:r>
              <a:r>
                <a:rPr lang="zh-CN" altLang="en-US" sz="1400" dirty="0"/>
                <a:t>数据包</a:t>
              </a:r>
              <a:endParaRPr lang="en-US" altLang="zh-CN" sz="1400" dirty="0"/>
            </a:p>
          </p:txBody>
        </p:sp>
        <p:cxnSp>
          <p:nvCxnSpPr>
            <p:cNvPr id="159" name="Straight Connector 31">
              <a:extLst>
                <a:ext uri="{FF2B5EF4-FFF2-40B4-BE49-F238E27FC236}">
                  <a16:creationId xmlns:a16="http://schemas.microsoft.com/office/drawing/2014/main" id="{0D12B34A-065D-4F30-9B37-8571522D8DAF}"/>
                </a:ext>
              </a:extLst>
            </p:cNvPr>
            <p:cNvCxnSpPr>
              <a:cxnSpLocks noChangeShapeType="1"/>
            </p:cNvCxnSpPr>
            <p:nvPr/>
          </p:nvCxnSpPr>
          <p:spPr bwMode="auto">
            <a:xfrm flipH="1">
              <a:off x="1785033" y="6160831"/>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0" name="Group 33">
            <a:extLst>
              <a:ext uri="{FF2B5EF4-FFF2-40B4-BE49-F238E27FC236}">
                <a16:creationId xmlns:a16="http://schemas.microsoft.com/office/drawing/2014/main" id="{C87525AA-9841-4D2E-AD09-8C98A642F4CF}"/>
              </a:ext>
            </a:extLst>
          </p:cNvPr>
          <p:cNvGrpSpPr>
            <a:grpSpLocks/>
          </p:cNvGrpSpPr>
          <p:nvPr/>
        </p:nvGrpSpPr>
        <p:grpSpPr bwMode="auto">
          <a:xfrm>
            <a:off x="4755595" y="3672493"/>
            <a:ext cx="868956" cy="515937"/>
            <a:chOff x="4531899" y="3996483"/>
            <a:chExt cx="869021" cy="514832"/>
          </a:xfrm>
        </p:grpSpPr>
        <p:sp>
          <p:nvSpPr>
            <p:cNvPr id="161" name="TextBox 312">
              <a:extLst>
                <a:ext uri="{FF2B5EF4-FFF2-40B4-BE49-F238E27FC236}">
                  <a16:creationId xmlns:a16="http://schemas.microsoft.com/office/drawing/2014/main" id="{022FE8E4-21BE-4AEF-923E-3932B32FDC4C}"/>
                </a:ext>
              </a:extLst>
            </p:cNvPr>
            <p:cNvSpPr txBox="1">
              <a:spLocks noChangeArrowheads="1"/>
            </p:cNvSpPr>
            <p:nvPr/>
          </p:nvSpPr>
          <p:spPr bwMode="auto">
            <a:xfrm>
              <a:off x="4531899" y="3996483"/>
              <a:ext cx="869021" cy="30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r>
                <a:rPr lang="en-US" altLang="zh-CN" sz="1400" dirty="0"/>
                <a:t>TCP ACK</a:t>
              </a:r>
            </a:p>
          </p:txBody>
        </p:sp>
        <p:cxnSp>
          <p:nvCxnSpPr>
            <p:cNvPr id="162" name="Straight Connector 313">
              <a:extLst>
                <a:ext uri="{FF2B5EF4-FFF2-40B4-BE49-F238E27FC236}">
                  <a16:creationId xmlns:a16="http://schemas.microsoft.com/office/drawing/2014/main" id="{07CA34F7-8072-4B0B-8168-4AB497643C9E}"/>
                </a:ext>
              </a:extLst>
            </p:cNvPr>
            <p:cNvCxnSpPr>
              <a:cxnSpLocks noChangeShapeType="1"/>
            </p:cNvCxnSpPr>
            <p:nvPr/>
          </p:nvCxnSpPr>
          <p:spPr bwMode="auto">
            <a:xfrm flipH="1">
              <a:off x="4632144" y="4271060"/>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Text Box 26">
            <a:extLst>
              <a:ext uri="{FF2B5EF4-FFF2-40B4-BE49-F238E27FC236}">
                <a16:creationId xmlns:a16="http://schemas.microsoft.com/office/drawing/2014/main" id="{2AD1DF6D-0B17-4505-8BFF-BECA6FE6A8C3}"/>
              </a:ext>
            </a:extLst>
          </p:cNvPr>
          <p:cNvSpPr txBox="1">
            <a:spLocks noChangeArrowheads="1"/>
          </p:cNvSpPr>
          <p:nvPr/>
        </p:nvSpPr>
        <p:spPr bwMode="auto">
          <a:xfrm>
            <a:off x="6481867" y="4106729"/>
            <a:ext cx="1104900" cy="13097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110000"/>
              </a:lnSpc>
              <a:spcBef>
                <a:spcPts val="100"/>
              </a:spcBef>
              <a:defRPr/>
            </a:pPr>
            <a:r>
              <a:rPr lang="zh-CN" altLang="en-US" sz="1400" dirty="0">
                <a:solidFill>
                  <a:schemeClr val="bg1">
                    <a:lumMod val="75000"/>
                  </a:schemeClr>
                </a:solidFill>
              </a:rPr>
              <a:t>应用层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传输层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网络层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链路层</a:t>
            </a:r>
            <a:endParaRPr lang="en-US" altLang="zh-CN" sz="1400" dirty="0">
              <a:solidFill>
                <a:schemeClr val="bg1">
                  <a:lumMod val="75000"/>
                </a:schemeClr>
              </a:solidFill>
            </a:endParaRPr>
          </a:p>
          <a:p>
            <a:pPr>
              <a:lnSpc>
                <a:spcPct val="110000"/>
              </a:lnSpc>
              <a:spcBef>
                <a:spcPts val="100"/>
              </a:spcBef>
              <a:defRPr/>
            </a:pPr>
            <a:r>
              <a:rPr lang="zh-CN" altLang="en-US" sz="1400" dirty="0">
                <a:solidFill>
                  <a:schemeClr val="bg1">
                    <a:lumMod val="75000"/>
                  </a:schemeClr>
                </a:solidFill>
              </a:rPr>
              <a:t>物理层</a:t>
            </a:r>
            <a:endParaRPr lang="en-US" sz="1400" dirty="0">
              <a:solidFill>
                <a:schemeClr val="bg1">
                  <a:lumMod val="75000"/>
                </a:schemeClr>
              </a:solidFill>
            </a:endParaRPr>
          </a:p>
        </p:txBody>
      </p:sp>
    </p:spTree>
    <p:extLst>
      <p:ext uri="{BB962C8B-B14F-4D97-AF65-F5344CB8AC3E}">
        <p14:creationId xmlns:p14="http://schemas.microsoft.com/office/powerpoint/2010/main" val="143485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left)">
                                      <p:cBhvr>
                                        <p:cTn id="7" dur="500"/>
                                        <p:tgtEl>
                                          <p:spTgt spid="13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7"/>
                                        </p:tgtEl>
                                        <p:attrNameLst>
                                          <p:attrName>style.visibility</p:attrName>
                                        </p:attrNameLst>
                                      </p:cBhvr>
                                      <p:to>
                                        <p:strVal val="visible"/>
                                      </p:to>
                                    </p:set>
                                    <p:animEffect transition="in" filter="dissolve">
                                      <p:cBhvr>
                                        <p:cTn id="11" dur="500"/>
                                        <p:tgtEl>
                                          <p:spTgt spid="1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9"/>
                                        </p:tgtEl>
                                        <p:attrNameLst>
                                          <p:attrName>style.visibility</p:attrName>
                                        </p:attrNameLst>
                                      </p:cBhvr>
                                      <p:to>
                                        <p:strVal val="visible"/>
                                      </p:to>
                                    </p:set>
                                    <p:animEffect transition="in" filter="wipe(left)">
                                      <p:cBhvr>
                                        <p:cTn id="16" dur="500"/>
                                        <p:tgtEl>
                                          <p:spTgt spid="13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48"/>
                                        </p:tgtEl>
                                        <p:attrNameLst>
                                          <p:attrName>style.visibility</p:attrName>
                                        </p:attrNameLst>
                                      </p:cBhvr>
                                      <p:to>
                                        <p:strVal val="visible"/>
                                      </p:to>
                                    </p:set>
                                    <p:animEffect transition="in" filter="wipe(right)">
                                      <p:cBhvr>
                                        <p:cTn id="21" dur="500"/>
                                        <p:tgtEl>
                                          <p:spTgt spid="148"/>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160"/>
                                        </p:tgtEl>
                                        <p:attrNameLst>
                                          <p:attrName>style.visibility</p:attrName>
                                        </p:attrNameLst>
                                      </p:cBhvr>
                                      <p:to>
                                        <p:strVal val="visible"/>
                                      </p:to>
                                    </p:set>
                                    <p:animEffect transition="in" filter="dissolve">
                                      <p:cBhvr>
                                        <p:cTn id="25"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7" name="Rectangle 3"/>
          <p:cNvSpPr>
            <a:spLocks noGrp="1" noChangeArrowheads="1"/>
          </p:cNvSpPr>
          <p:nvPr>
            <p:ph type="body" sz="half" idx="1"/>
          </p:nvPr>
        </p:nvSpPr>
        <p:spPr>
          <a:xfrm>
            <a:off x="707367" y="1124465"/>
            <a:ext cx="7806438" cy="4769707"/>
          </a:xfrm>
        </p:spPr>
        <p:txBody>
          <a:bodyPr>
            <a:normAutofit fontScale="77500" lnSpcReduction="20000"/>
          </a:bodyPr>
          <a:lstStyle/>
          <a:p>
            <a:pPr marL="358775" indent="-358775">
              <a:lnSpc>
                <a:spcPct val="150000"/>
              </a:lnSpc>
              <a:spcBef>
                <a:spcPts val="600"/>
              </a:spcBef>
              <a:buClr>
                <a:srgbClr val="C00000"/>
              </a:buClr>
              <a:buFont typeface="Wingdings" panose="05000000000000000000" pitchFamily="2" charset="2"/>
              <a:buChar char="n"/>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传输层基本概念和原理</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复用</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分用</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可靠数据传输</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流量控制</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拥塞控制</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marL="358775" indent="-358775">
              <a:lnSpc>
                <a:spcPct val="150000"/>
              </a:lnSpc>
              <a:spcBef>
                <a:spcPts val="600"/>
              </a:spcBef>
              <a:buClr>
                <a:srgbClr val="C00000"/>
              </a:buClr>
              <a:buFont typeface="Wingdings" panose="05000000000000000000" pitchFamily="2" charset="2"/>
              <a:buChar char="n"/>
            </a:pP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两个典型传输层协议</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UDP</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协议</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50000"/>
              </a:lnSpc>
              <a:spcBef>
                <a:spcPts val="600"/>
              </a:spcBef>
              <a:buFontTx/>
              <a:buBlip>
                <a:blip r:embed="rId3"/>
              </a:buBlip>
            </a:pP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TCP</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协议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标题 1">
            <a:extLst>
              <a:ext uri="{FF2B5EF4-FFF2-40B4-BE49-F238E27FC236}">
                <a16:creationId xmlns:a16="http://schemas.microsoft.com/office/drawing/2014/main" id="{A5DBBD3A-CDDC-4B3A-9E7B-FDCE96BE30DA}"/>
              </a:ext>
            </a:extLst>
          </p:cNvPr>
          <p:cNvSpPr txBox="1">
            <a:spLocks/>
          </p:cNvSpPr>
          <p:nvPr/>
        </p:nvSpPr>
        <p:spPr>
          <a:xfrm>
            <a:off x="707367" y="32661"/>
            <a:ext cx="7565366"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总  结</a:t>
            </a:r>
          </a:p>
        </p:txBody>
      </p:sp>
    </p:spTree>
    <p:extLst>
      <p:ext uri="{BB962C8B-B14F-4D97-AF65-F5344CB8AC3E}">
        <p14:creationId xmlns:p14="http://schemas.microsoft.com/office/powerpoint/2010/main" val="266174259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2">
            <a:extLst>
              <a:ext uri="{FF2B5EF4-FFF2-40B4-BE49-F238E27FC236}">
                <a16:creationId xmlns:a16="http://schemas.microsoft.com/office/drawing/2014/main" id="{2A6E10AF-4605-49AD-9A69-1FE4D754DB9F}"/>
              </a:ext>
            </a:extLst>
          </p:cNvPr>
          <p:cNvSpPr txBox="1">
            <a:spLocks/>
          </p:cNvSpPr>
          <p:nvPr/>
        </p:nvSpPr>
        <p:spPr>
          <a:xfrm>
            <a:off x="1222860" y="3938015"/>
            <a:ext cx="6709028" cy="109650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chemeClr val="accent5">
                    <a:lumMod val="75000"/>
                  </a:schemeClr>
                </a:solidFill>
                <a:latin typeface="楷体" panose="02010609060101010101" pitchFamily="49" charset="-122"/>
                <a:ea typeface="楷体" panose="02010609060101010101" pitchFamily="49" charset="-122"/>
              </a:rPr>
              <a:t>吴英</a:t>
            </a:r>
            <a:endParaRPr lang="en-US" altLang="zh-CN" sz="2800" dirty="0">
              <a:solidFill>
                <a:schemeClr val="accent5">
                  <a:lumMod val="75000"/>
                </a:schemeClr>
              </a:solidFill>
              <a:latin typeface="楷体" panose="02010609060101010101" pitchFamily="49" charset="-122"/>
              <a:ea typeface="楷体" panose="02010609060101010101" pitchFamily="49" charset="-122"/>
            </a:endParaRPr>
          </a:p>
          <a:p>
            <a:r>
              <a:rPr lang="en-US" altLang="zh-CN" sz="2800" dirty="0">
                <a:solidFill>
                  <a:schemeClr val="accent5">
                    <a:lumMod val="75000"/>
                  </a:schemeClr>
                </a:solidFill>
                <a:latin typeface="Times New Roman" panose="02020603050405020304" pitchFamily="18" charset="0"/>
                <a:ea typeface="楷体" panose="02010609060101010101" pitchFamily="49" charset="-122"/>
                <a:cs typeface="Times New Roman" panose="02020603050405020304" pitchFamily="18" charset="0"/>
              </a:rPr>
              <a:t>wuying@nankai.edu.cn </a:t>
            </a:r>
          </a:p>
          <a:p>
            <a:endParaRPr lang="en-US" altLang="zh-CN" dirty="0">
              <a:solidFill>
                <a:schemeClr val="accent5">
                  <a:lumMod val="75000"/>
                </a:schemeClr>
              </a:solidFill>
              <a:latin typeface="楷体" panose="02010609060101010101" pitchFamily="49" charset="-122"/>
              <a:ea typeface="楷体" panose="02010609060101010101" pitchFamily="49" charset="-122"/>
            </a:endParaRPr>
          </a:p>
        </p:txBody>
      </p:sp>
      <p:sp>
        <p:nvSpPr>
          <p:cNvPr id="2" name="标题 1">
            <a:extLst>
              <a:ext uri="{FF2B5EF4-FFF2-40B4-BE49-F238E27FC236}">
                <a16:creationId xmlns:a16="http://schemas.microsoft.com/office/drawing/2014/main" id="{5AA2F8BF-1A3F-499A-B459-DE65AE711A09}"/>
              </a:ext>
            </a:extLst>
          </p:cNvPr>
          <p:cNvSpPr txBox="1">
            <a:spLocks/>
          </p:cNvSpPr>
          <p:nvPr/>
        </p:nvSpPr>
        <p:spPr>
          <a:xfrm rot="10800000" flipH="1" flipV="1">
            <a:off x="1056736" y="1317523"/>
            <a:ext cx="7030527" cy="22909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800"/>
              </a:lnSpc>
              <a:spcBef>
                <a:spcPts val="600"/>
              </a:spcBef>
              <a:spcAft>
                <a:spcPts val="1200"/>
              </a:spcAft>
            </a:pPr>
            <a:r>
              <a:rPr lang="en-US" altLang="zh-CN" sz="6600" b="1" dirty="0">
                <a:latin typeface="Times New Roman" panose="02020603050405020304" pitchFamily="18" charset="0"/>
                <a:ea typeface="楷体" panose="02010609060101010101" pitchFamily="49" charset="-122"/>
                <a:cs typeface="Times New Roman" panose="02020603050405020304" pitchFamily="18" charset="0"/>
              </a:rPr>
              <a:t>Thank You!</a:t>
            </a:r>
            <a:endParaRPr lang="en-US" altLang="zh-CN" sz="48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8384964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23984</TotalTime>
  <Words>15094</Words>
  <Application>Microsoft Office PowerPoint</Application>
  <PresentationFormat>全屏显示(4:3)</PresentationFormat>
  <Paragraphs>1859</Paragraphs>
  <Slides>111</Slides>
  <Notes>111</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35" baseType="lpstr">
      <vt:lpstr>Arial Unicode MS</vt:lpstr>
      <vt:lpstr>KaTeX_Main</vt:lpstr>
      <vt:lpstr>KaTeX_Math</vt:lpstr>
      <vt:lpstr>ＭＳ Ｐゴシック</vt:lpstr>
      <vt:lpstr>PingFang SC</vt:lpstr>
      <vt:lpstr>PingFang SC</vt:lpstr>
      <vt:lpstr>等线</vt:lpstr>
      <vt:lpstr>黑体</vt:lpstr>
      <vt:lpstr>楷体</vt:lpstr>
      <vt:lpstr>宋体</vt:lpstr>
      <vt:lpstr>微软雅黑</vt:lpstr>
      <vt:lpstr>Arial</vt:lpstr>
      <vt:lpstr>Calibri</vt:lpstr>
      <vt:lpstr>Calibri Light</vt:lpstr>
      <vt:lpstr>Cambria Math</vt:lpstr>
      <vt:lpstr>Comic Sans MS</vt:lpstr>
      <vt:lpstr>Courier New</vt:lpstr>
      <vt:lpstr>Gill Sans MT</vt:lpstr>
      <vt:lpstr>Symbol</vt:lpstr>
      <vt:lpstr>Tahoma</vt:lpstr>
      <vt:lpstr>Times New Roman</vt:lpstr>
      <vt:lpstr>Wingdings</vt:lpstr>
      <vt:lpstr>Office 主题​​</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可靠传输的基本原理</vt:lpstr>
      <vt:lpstr>可靠传输的基本原理</vt:lpstr>
      <vt:lpstr>完全可靠通道上的可靠数据传输：rdt1.0 </vt:lpstr>
      <vt:lpstr>具有位错误通道上的可靠数据传输：rdt2.0 </vt:lpstr>
      <vt:lpstr>rdt2.0：有限状态机</vt:lpstr>
      <vt:lpstr>rdt2.0：无差错情况 </vt:lpstr>
      <vt:lpstr>rdt2.0：有差错情况 </vt:lpstr>
      <vt:lpstr>rdt2.0：存在的问题 </vt:lpstr>
      <vt:lpstr>rdt2.1：解决rdt2.0的问题 </vt:lpstr>
      <vt:lpstr>rdt2.1：发送端状态机</vt:lpstr>
      <vt:lpstr>rdt2.1：接收端状态机</vt:lpstr>
      <vt:lpstr>rdt2.2：对rdt2.1的改进 </vt:lpstr>
      <vt:lpstr>rdt2.2：发送端状态机</vt:lpstr>
      <vt:lpstr>rdt2.2：接收端状态机</vt:lpstr>
      <vt:lpstr>rdt3.0：通道既有差错又有丢失</vt:lpstr>
      <vt:lpstr>rdt3.0：发送端状态机</vt:lpstr>
      <vt:lpstr>rdt3.0：场景示例</vt:lpstr>
      <vt:lpstr>rdt3.0：场景示例</vt:lpstr>
      <vt:lpstr>rdt3.0：性能问题（停等协议）</vt:lpstr>
      <vt:lpstr>rdt3.0：性能问题（停等协议）</vt:lpstr>
      <vt:lpstr>rdt3.0：性能优化</vt:lpstr>
      <vt:lpstr>流水线协议</vt:lpstr>
      <vt:lpstr>回退N：Go-Back-N (GBN)</vt:lpstr>
      <vt:lpstr>GBN发送端扩展FSM </vt:lpstr>
      <vt:lpstr>GBN接收端扩展FSM </vt:lpstr>
      <vt:lpstr>GBN交互示例</vt:lpstr>
      <vt:lpstr>选择重传：Selective Repeat (SR)</vt:lpstr>
      <vt:lpstr>选择重传：Selective Repeat (SR)</vt:lpstr>
      <vt:lpstr>SR交互示例</vt:lpstr>
      <vt:lpstr>SR问题讨论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TCP可靠数据传输状态机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dc:creator>
  <cp:lastModifiedBy>user</cp:lastModifiedBy>
  <cp:revision>1400</cp:revision>
  <cp:lastPrinted>2025-11-05T00:25:06Z</cp:lastPrinted>
  <dcterms:created xsi:type="dcterms:W3CDTF">2019-06-10T02:39:00Z</dcterms:created>
  <dcterms:modified xsi:type="dcterms:W3CDTF">2025-11-12T07:10:33Z</dcterms:modified>
</cp:coreProperties>
</file>