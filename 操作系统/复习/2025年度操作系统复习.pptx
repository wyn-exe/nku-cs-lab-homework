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371" r:id="rId4"/>
    <p:sldId id="257" r:id="rId5"/>
    <p:sldId id="427" r:id="rId6"/>
    <p:sldId id="429" r:id="rId7"/>
    <p:sldId id="428" r:id="rId8"/>
    <p:sldId id="260" r:id="rId9"/>
    <p:sldId id="261" r:id="rId11"/>
    <p:sldId id="262" r:id="rId12"/>
    <p:sldId id="263" r:id="rId13"/>
    <p:sldId id="372" r:id="rId14"/>
    <p:sldId id="336" r:id="rId15"/>
    <p:sldId id="337" r:id="rId16"/>
    <p:sldId id="338" r:id="rId17"/>
    <p:sldId id="339" r:id="rId18"/>
    <p:sldId id="430" r:id="rId19"/>
    <p:sldId id="407" r:id="rId20"/>
    <p:sldId id="398" r:id="rId21"/>
    <p:sldId id="399" r:id="rId22"/>
    <p:sldId id="400" r:id="rId23"/>
    <p:sldId id="401" r:id="rId24"/>
    <p:sldId id="403" r:id="rId25"/>
    <p:sldId id="408" r:id="rId26"/>
    <p:sldId id="282" r:id="rId27"/>
    <p:sldId id="390" r:id="rId28"/>
    <p:sldId id="373" r:id="rId29"/>
    <p:sldId id="374" r:id="rId30"/>
    <p:sldId id="392" r:id="rId31"/>
    <p:sldId id="395" r:id="rId32"/>
    <p:sldId id="396" r:id="rId33"/>
    <p:sldId id="397" r:id="rId34"/>
    <p:sldId id="639" r:id="rId35"/>
    <p:sldId id="292" r:id="rId36"/>
    <p:sldId id="411" r:id="rId37"/>
    <p:sldId id="637" r:id="rId38"/>
    <p:sldId id="638" r:id="rId39"/>
    <p:sldId id="298" r:id="rId40"/>
    <p:sldId id="317" r:id="rId41"/>
    <p:sldId id="510" r:id="rId42"/>
    <p:sldId id="511" r:id="rId43"/>
    <p:sldId id="318" r:id="rId44"/>
    <p:sldId id="351" r:id="rId45"/>
    <p:sldId id="413" r:id="rId46"/>
    <p:sldId id="409" r:id="rId47"/>
    <p:sldId id="410" r:id="rId48"/>
    <p:sldId id="305" r:id="rId49"/>
    <p:sldId id="412" r:id="rId50"/>
    <p:sldId id="417" r:id="rId51"/>
    <p:sldId id="418" r:id="rId52"/>
    <p:sldId id="1971" r:id="rId53"/>
    <p:sldId id="311" r:id="rId54"/>
    <p:sldId id="379" r:id="rId55"/>
    <p:sldId id="1965" r:id="rId56"/>
    <p:sldId id="341" r:id="rId57"/>
    <p:sldId id="391" r:id="rId58"/>
    <p:sldId id="1973" r:id="rId59"/>
    <p:sldId id="1974" r:id="rId60"/>
    <p:sldId id="432" r:id="rId61"/>
    <p:sldId id="433" r:id="rId62"/>
    <p:sldId id="299" r:id="rId63"/>
    <p:sldId id="319" r:id="rId64"/>
    <p:sldId id="320" r:id="rId65"/>
    <p:sldId id="321" r:id="rId66"/>
    <p:sldId id="348" r:id="rId67"/>
    <p:sldId id="424" r:id="rId68"/>
    <p:sldId id="425" r:id="rId69"/>
    <p:sldId id="360" r:id="rId70"/>
    <p:sldId id="361" r:id="rId71"/>
    <p:sldId id="623" r:id="rId72"/>
    <p:sldId id="426" r:id="rId73"/>
    <p:sldId id="312" r:id="rId74"/>
    <p:sldId id="322" r:id="rId75"/>
    <p:sldId id="323" r:id="rId76"/>
    <p:sldId id="324" r:id="rId77"/>
    <p:sldId id="355" r:id="rId78"/>
    <p:sldId id="334" r:id="rId79"/>
    <p:sldId id="2010" r:id="rId80"/>
    <p:sldId id="1999" r:id="rId81"/>
    <p:sldId id="2000" r:id="rId82"/>
    <p:sldId id="2001" r:id="rId83"/>
    <p:sldId id="2002" r:id="rId84"/>
    <p:sldId id="2003" r:id="rId85"/>
    <p:sldId id="2004" r:id="rId86"/>
    <p:sldId id="2005" r:id="rId87"/>
    <p:sldId id="2006" r:id="rId88"/>
    <p:sldId id="2007" r:id="rId89"/>
    <p:sldId id="2008" r:id="rId90"/>
    <p:sldId id="2009" r:id="rId91"/>
    <p:sldId id="2011" r:id="rId92"/>
    <p:sldId id="2012" r:id="rId93"/>
    <p:sldId id="2013" r:id="rId9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318" autoAdjust="0"/>
  </p:normalViewPr>
  <p:slideViewPr>
    <p:cSldViewPr snapToGrid="0">
      <p:cViewPr varScale="1">
        <p:scale>
          <a:sx n="88" d="100"/>
          <a:sy n="88" d="100"/>
        </p:scale>
        <p:origin x="17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912D9-8246-42F7-9545-E1E0F7A522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CB915BA9-F256-46CF-86BF-CD11E9389C43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6924AFF4-F2DD-4502-A83D-2503F3F43765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BC5E53BB-F10A-492F-86CB-12B2A3776726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状态颜色变大一些</a:t>
            </a:r>
            <a:endParaRPr lang="en-US" altLang="zh-CN" dirty="0"/>
          </a:p>
          <a:p>
            <a:r>
              <a:rPr lang="zh-CN" altLang="en-US" dirty="0"/>
              <a:t>加动画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79FEAC-2858-416F-A4F6-E1735B7522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这里利用的函数的栈，把</a:t>
            </a:r>
            <a:r>
              <a:rPr lang="en-US" altLang="zh-CN" dirty="0" err="1"/>
              <a:t>eip</a:t>
            </a:r>
            <a:r>
              <a:rPr lang="zh-CN" altLang="en-US" dirty="0"/>
              <a:t>给保存下来和修改了</a:t>
            </a:r>
            <a:endParaRPr lang="en-US" altLang="zh-CN" dirty="0"/>
          </a:p>
          <a:p>
            <a:r>
              <a:rPr lang="zh-CN" altLang="en-US" dirty="0"/>
              <a:t>因为函数调用之前和之后，都是从栈里保存和恢复</a:t>
            </a:r>
            <a:r>
              <a:rPr lang="en-US" altLang="zh-CN" dirty="0" err="1"/>
              <a:t>eip</a:t>
            </a:r>
            <a:r>
              <a:rPr lang="zh-CN" altLang="en-US" dirty="0"/>
              <a:t>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如果必须等到</a:t>
            </a:r>
            <a:r>
              <a:rPr lang="en-US" altLang="zh-CN" dirty="0"/>
              <a:t>B</a:t>
            </a:r>
            <a:r>
              <a:rPr lang="zh-CN" altLang="en-US" dirty="0"/>
              <a:t>把某件事情做完，</a:t>
            </a:r>
            <a:r>
              <a:rPr lang="en-US" altLang="zh-CN" dirty="0"/>
              <a:t>A</a:t>
            </a:r>
            <a:r>
              <a:rPr lang="zh-CN" altLang="en-US" dirty="0"/>
              <a:t>才能继续前进，那么就会把</a:t>
            </a:r>
            <a:r>
              <a:rPr lang="en-US" altLang="zh-CN" dirty="0"/>
              <a:t>PV</a:t>
            </a:r>
            <a:r>
              <a:rPr lang="zh-CN" altLang="en-US" dirty="0"/>
              <a:t>分开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90204" pitchFamily="34" charset="0"/>
              </a:rPr>
              <a:t>大家可以看到，这种地址转换的需求，是随着多道程序的出现而来的</a:t>
            </a:r>
            <a:endParaRPr lang="en-US" altLang="zh-CN">
              <a:latin typeface="Arial" panose="020B0604020202090204" pitchFamily="34" charset="0"/>
            </a:endParaRPr>
          </a:p>
          <a:p>
            <a:endParaRPr lang="en-US" altLang="zh-CN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在实际的历史发展过程中也是这样，而且是随着我们要求的多样化，内存管理变得越来越复杂越灵活</a:t>
            </a:r>
            <a:endParaRPr lang="en-US" altLang="zh-CN">
              <a:latin typeface="Arial" panose="020B0604020202090204" pitchFamily="34" charset="0"/>
            </a:endParaRPr>
          </a:p>
          <a:p>
            <a:endParaRPr lang="en-US" altLang="zh-CN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我们一起来看一下这个发展历程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2^Y</a:t>
            </a:r>
            <a:r>
              <a:rPr lang="en-US" altLang="zh-CN" baseline="0" dirty="0"/>
              <a:t> == </a:t>
            </a:r>
            <a:r>
              <a:rPr lang="en-US" altLang="zh-CN" baseline="0" dirty="0" err="1"/>
              <a:t>pagesize</a:t>
            </a:r>
            <a:endParaRPr lang="en-US" altLang="zh-CN" baseline="0" dirty="0"/>
          </a:p>
          <a:p>
            <a:r>
              <a:rPr lang="en-US" altLang="zh-CN" baseline="0" dirty="0"/>
              <a:t>2^Y/4 == </a:t>
            </a:r>
            <a:r>
              <a:rPr lang="en-US" altLang="zh-CN" baseline="0" dirty="0" err="1"/>
              <a:t>pageentry</a:t>
            </a:r>
            <a:r>
              <a:rPr lang="en-US" altLang="zh-CN" baseline="0" dirty="0"/>
              <a:t> number</a:t>
            </a:r>
            <a:endParaRPr lang="en-US" altLang="zh-CN" baseline="0" dirty="0"/>
          </a:p>
          <a:p>
            <a:r>
              <a:rPr lang="en-US" altLang="zh-CN" baseline="0" dirty="0"/>
              <a:t>(Y-2)+(Y-2)+Y = 32</a:t>
            </a:r>
            <a:r>
              <a:rPr lang="zh-CN" altLang="en-US" baseline="0" dirty="0"/>
              <a:t>，所以</a:t>
            </a:r>
            <a:r>
              <a:rPr lang="en-US" altLang="zh-CN" baseline="0" dirty="0"/>
              <a:t>Y=12</a:t>
            </a:r>
            <a:r>
              <a:rPr lang="zh-CN" altLang="en-US" baseline="0" dirty="0"/>
              <a:t>，这是一个必然的选择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0091C4-0C9D-4AE4-9467-9A39C3B68CD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1A9CC89D-5B9D-4EDC-88D9-50D4EFCA7004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基于时钟算法做硬件层面的信息采集</a:t>
            </a:r>
            <a:endParaRPr lang="en-US" altLang="zh-CN" dirty="0"/>
          </a:p>
          <a:p>
            <a:r>
              <a:rPr lang="zh-CN" altLang="en-US" dirty="0"/>
              <a:t>红色的页表上进行时钟扫描，也就是虚拟地址空间扫描，用来找到哪些页被访问了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%</a:t>
            </a:r>
            <a:r>
              <a:rPr lang="zh-CN" altLang="en-US" dirty="0"/>
              <a:t>黑色的在</a:t>
            </a:r>
            <a:r>
              <a:rPr lang="en-US" altLang="zh-CN" dirty="0"/>
              <a:t>page-list</a:t>
            </a:r>
            <a:r>
              <a:rPr lang="zh-CN" altLang="en-US" dirty="0"/>
              <a:t>上传，找哪些页可以被踢出了。需要有一个</a:t>
            </a:r>
            <a:r>
              <a:rPr lang="en-US" altLang="zh-CN" dirty="0" err="1"/>
              <a:t>Rmap</a:t>
            </a:r>
            <a:r>
              <a:rPr lang="zh-CN" altLang="en-US" dirty="0"/>
              <a:t>，记录</a:t>
            </a:r>
            <a:r>
              <a:rPr lang="en-US" altLang="zh-CN" dirty="0"/>
              <a:t>page-list</a:t>
            </a:r>
            <a:r>
              <a:rPr lang="zh-CN" altLang="en-US" dirty="0"/>
              <a:t>中的单元在</a:t>
            </a:r>
            <a:r>
              <a:rPr lang="en-US" altLang="zh-CN" dirty="0"/>
              <a:t>page table</a:t>
            </a:r>
            <a:r>
              <a:rPr lang="zh-CN" altLang="en-US" dirty="0"/>
              <a:t>中的位置，这样才能找到</a:t>
            </a:r>
            <a:r>
              <a:rPr lang="en-US" altLang="zh-CN" dirty="0"/>
              <a:t>access bit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逆时针转动，刚刚划过</a:t>
            </a:r>
            <a:r>
              <a:rPr lang="en-US" altLang="zh-CN" dirty="0"/>
              <a:t>T2</a:t>
            </a:r>
            <a:r>
              <a:rPr lang="zh-CN" altLang="en-US" dirty="0"/>
              <a:t>，所以</a:t>
            </a:r>
            <a:r>
              <a:rPr lang="en-US" altLang="zh-CN" dirty="0"/>
              <a:t>T2 </a:t>
            </a:r>
            <a:r>
              <a:rPr lang="zh-CN" altLang="en-US" dirty="0"/>
              <a:t>最年轻，</a:t>
            </a:r>
            <a:r>
              <a:rPr lang="en-US" altLang="zh-CN" dirty="0"/>
              <a:t>T1</a:t>
            </a:r>
            <a:r>
              <a:rPr lang="zh-CN" altLang="en-US" dirty="0"/>
              <a:t>次之，现在</a:t>
            </a:r>
            <a:r>
              <a:rPr lang="en-US" altLang="zh-CN" dirty="0"/>
              <a:t>T0</a:t>
            </a:r>
            <a:r>
              <a:rPr lang="zh-CN" altLang="en-US" dirty="0"/>
              <a:t>是最老的，但是马上要被访问了</a:t>
            </a:r>
            <a:endParaRPr lang="en-US" altLang="zh-CN" dirty="0"/>
          </a:p>
          <a:p>
            <a:r>
              <a:rPr lang="en-US" altLang="zh-CN" dirty="0"/>
              <a:t>Aging</a:t>
            </a:r>
            <a:r>
              <a:rPr lang="zh-CN" altLang="en-US" dirty="0"/>
              <a:t>负责扫描在过去的时间里面有没有访问发生，如果有，就提升到最年轻的，如果没有，就把年龄加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Eviction</a:t>
            </a:r>
            <a:r>
              <a:rPr lang="zh-CN" altLang="en-US" dirty="0"/>
              <a:t>负责扫描并整理这些链表，把年龄相同的汇在一起，然后把最冷的那一波页面写回到磁盘里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这里的贡献体现在两个方面，一个是增加了更多的代系，把页面做了不同的分类，另一个是解耦合，让写回和老化分处不同的线程中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基于时钟算法做硬件层面的信息采集</a:t>
            </a:r>
            <a:endParaRPr lang="en-US" altLang="zh-CN" dirty="0"/>
          </a:p>
          <a:p>
            <a:r>
              <a:rPr lang="zh-CN" altLang="en-US" dirty="0"/>
              <a:t>红色的页表上进行时钟扫描，也就是虚拟地址空间扫描，用来找到哪些页被访问了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%</a:t>
            </a:r>
            <a:r>
              <a:rPr lang="zh-CN" altLang="en-US" dirty="0"/>
              <a:t>黑色的在</a:t>
            </a:r>
            <a:r>
              <a:rPr lang="en-US" altLang="zh-CN" dirty="0"/>
              <a:t>page-list</a:t>
            </a:r>
            <a:r>
              <a:rPr lang="zh-CN" altLang="en-US" dirty="0"/>
              <a:t>上传，找哪些页可以被踢出了。需要有一个</a:t>
            </a:r>
            <a:r>
              <a:rPr lang="en-US" altLang="zh-CN" dirty="0" err="1"/>
              <a:t>Rmap</a:t>
            </a:r>
            <a:r>
              <a:rPr lang="zh-CN" altLang="en-US" dirty="0"/>
              <a:t>，记录</a:t>
            </a:r>
            <a:r>
              <a:rPr lang="en-US" altLang="zh-CN" dirty="0"/>
              <a:t>page-list</a:t>
            </a:r>
            <a:r>
              <a:rPr lang="zh-CN" altLang="en-US" dirty="0"/>
              <a:t>中的单元在</a:t>
            </a:r>
            <a:r>
              <a:rPr lang="en-US" altLang="zh-CN" dirty="0"/>
              <a:t>page table</a:t>
            </a:r>
            <a:r>
              <a:rPr lang="zh-CN" altLang="en-US" dirty="0"/>
              <a:t>中的位置，这样才能找到</a:t>
            </a:r>
            <a:r>
              <a:rPr lang="en-US" altLang="zh-CN" dirty="0"/>
              <a:t>access bit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逆时针转动，刚刚划过</a:t>
            </a:r>
            <a:r>
              <a:rPr lang="en-US" altLang="zh-CN" dirty="0"/>
              <a:t>T2</a:t>
            </a:r>
            <a:r>
              <a:rPr lang="zh-CN" altLang="en-US" dirty="0"/>
              <a:t>，所以</a:t>
            </a:r>
            <a:r>
              <a:rPr lang="en-US" altLang="zh-CN" dirty="0"/>
              <a:t>T2 </a:t>
            </a:r>
            <a:r>
              <a:rPr lang="zh-CN" altLang="en-US" dirty="0"/>
              <a:t>最年轻，</a:t>
            </a:r>
            <a:r>
              <a:rPr lang="en-US" altLang="zh-CN" dirty="0"/>
              <a:t>T1</a:t>
            </a:r>
            <a:r>
              <a:rPr lang="zh-CN" altLang="en-US" dirty="0"/>
              <a:t>次之，现在</a:t>
            </a:r>
            <a:r>
              <a:rPr lang="en-US" altLang="zh-CN" dirty="0"/>
              <a:t>T0</a:t>
            </a:r>
            <a:r>
              <a:rPr lang="zh-CN" altLang="en-US" dirty="0"/>
              <a:t>是最老的，但是马上要被访问了</a:t>
            </a:r>
            <a:endParaRPr lang="en-US" altLang="zh-CN" dirty="0"/>
          </a:p>
          <a:p>
            <a:r>
              <a:rPr lang="en-US" altLang="zh-CN" dirty="0"/>
              <a:t>Aging</a:t>
            </a:r>
            <a:r>
              <a:rPr lang="zh-CN" altLang="en-US" dirty="0"/>
              <a:t>负责扫描在过去的时间里面有没有访问发生，如果有，就提升到最年轻的，如果没有，就把年龄加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Eviction</a:t>
            </a:r>
            <a:r>
              <a:rPr lang="zh-CN" altLang="en-US" dirty="0"/>
              <a:t>负责扫描并整理这些链表，把年龄相同的汇在一起，然后把最冷的那一波页面写回到磁盘里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这里的贡献体现在两个方面，一个是增加了更多的代系，把页面做了不同的分类，另一个是解耦合，让写回和老化分处不同的线程中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fld id="{BC5E53BB-F10A-492F-86CB-12B2A3776726}" type="slidenum">
              <a:rPr lang="zh-CN" altLang="en-US" smtClean="0">
                <a:latin typeface="Arial" panose="020B0604020202090204" pitchFamily="34" charset="0"/>
              </a:rPr>
            </a:fld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90204" pitchFamily="34" charset="0"/>
              </a:rPr>
              <a:t>FAT</a:t>
            </a:r>
            <a:r>
              <a:rPr lang="zh-CN" altLang="en-US">
                <a:latin typeface="Arial" panose="020B0604020202090204" pitchFamily="34" charset="0"/>
              </a:rPr>
              <a:t>文件系统 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90204" pitchFamily="34" charset="0"/>
              </a:rPr>
              <a:t>UNIX</a:t>
            </a:r>
            <a:r>
              <a:rPr lang="zh-CN" altLang="en-US">
                <a:latin typeface="Arial" panose="020B0604020202090204" pitchFamily="34" charset="0"/>
              </a:rPr>
              <a:t>系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磁盘太慢，所以设置了不同层次的缓存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90204" pitchFamily="34" charset="0"/>
              </a:rPr>
              <a:t>忙等待，守候着直到</a:t>
            </a:r>
            <a:r>
              <a:rPr lang="en-US" altLang="zh-CN">
                <a:latin typeface="Arial" panose="020B0604020202090204" pitchFamily="34" charset="0"/>
              </a:rPr>
              <a:t>IO</a:t>
            </a:r>
            <a:r>
              <a:rPr lang="zh-CN" altLang="en-US">
                <a:latin typeface="Arial" panose="020B0604020202090204" pitchFamily="34" charset="0"/>
              </a:rPr>
              <a:t>任务完成</a:t>
            </a:r>
            <a:endParaRPr lang="zh-CN" altLang="en-US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最安全，但是效率很低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90204" pitchFamily="34" charset="0"/>
              </a:rPr>
              <a:t>每次完成一个任务就中断一次</a:t>
            </a:r>
            <a:endParaRPr lang="zh-CN" altLang="en-US">
              <a:latin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</a:rPr>
              <a:t>但是中断太过频繁，总是打断程序的执行，流水线</a:t>
            </a:r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90204" pitchFamily="34" charset="0"/>
              </a:rPr>
              <a:t>批量的安排任务，一次听报告</a:t>
            </a:r>
            <a:endParaRPr lang="zh-CN" altLang="en-US" dirty="0">
              <a:latin typeface="Arial" panose="020B0604020202090204" pitchFamily="34" charset="0"/>
            </a:endParaRPr>
          </a:p>
          <a:p>
            <a:r>
              <a:rPr lang="zh-CN" altLang="en-US" dirty="0">
                <a:latin typeface="Arial" panose="020B0604020202090204" pitchFamily="34" charset="0"/>
              </a:rPr>
              <a:t>及时汇报错误</a:t>
            </a:r>
            <a:endParaRPr lang="zh-CN" altLang="en-US" dirty="0">
              <a:latin typeface="Arial" panose="020B0604020202090204" pitchFamily="34" charset="0"/>
            </a:endParaRPr>
          </a:p>
          <a:p>
            <a:endParaRPr lang="zh-CN" altLang="en-US" dirty="0">
              <a:latin typeface="Arial" panose="020B0604020202090204" pitchFamily="34" charset="0"/>
            </a:endParaRPr>
          </a:p>
          <a:p>
            <a:r>
              <a:rPr lang="zh-CN" altLang="en-US" dirty="0">
                <a:latin typeface="Arial" panose="020B0604020202090204" pitchFamily="34" charset="0"/>
              </a:rPr>
              <a:t>目前来说最合理的批量数据处理方法</a:t>
            </a:r>
            <a:endParaRPr lang="en-US" altLang="zh-CN" dirty="0">
              <a:latin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</a:rPr>
              <a:t> </a:t>
            </a:r>
            <a:endParaRPr lang="en-US" altLang="zh-CN" dirty="0">
              <a:latin typeface="Arial" panose="020B0604020202090204" pitchFamily="34" charset="0"/>
            </a:endParaRPr>
          </a:p>
          <a:p>
            <a:r>
              <a:rPr lang="zh-CN" altLang="en-US" dirty="0">
                <a:latin typeface="Arial" panose="020B0604020202090204" pitchFamily="34" charset="0"/>
              </a:rPr>
              <a:t>优点：数据量大，可以换出</a:t>
            </a: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A98A-52BF-4EE1-8534-CA5ED0CC18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/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-13336"/>
            <a:ext cx="3238500" cy="714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9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6B1CE-A084-46A2-834E-934B9CDD43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40558-D02A-4DC0-9E6E-9B917FB82B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GI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cs.uttyler.edu/Faculty/Rainwater/COSC3355/Animations/diskschedulingfcfs.htm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年度操作系统复习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选择题 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  <a:r>
              <a:rPr lang="en-US" altLang="zh-CN" dirty="0"/>
              <a:t>*15</a:t>
            </a:r>
            <a:endParaRPr lang="en-US" altLang="zh-CN" dirty="0"/>
          </a:p>
          <a:p>
            <a:pPr lvl="1"/>
            <a:r>
              <a:rPr lang="zh-CN" altLang="en-US" dirty="0"/>
              <a:t>基本概念的直接考察，知识的综合运用，脑筋急转弯</a:t>
            </a:r>
            <a:endParaRPr lang="en-US" altLang="zh-CN" dirty="0"/>
          </a:p>
          <a:p>
            <a:r>
              <a:rPr lang="zh-CN" altLang="en-US" dirty="0"/>
              <a:t>计算题 </a:t>
            </a:r>
            <a:r>
              <a:rPr lang="en-US" altLang="zh-CN" dirty="0"/>
              <a:t>10</a:t>
            </a:r>
            <a:r>
              <a:rPr lang="zh-CN" altLang="en-US" dirty="0"/>
              <a:t>分*</a:t>
            </a:r>
            <a:r>
              <a:rPr lang="en-US" altLang="zh-CN" dirty="0"/>
              <a:t>3</a:t>
            </a:r>
            <a:endParaRPr lang="en-US" altLang="zh-CN" dirty="0"/>
          </a:p>
          <a:p>
            <a:pPr lvl="1"/>
            <a:r>
              <a:rPr lang="zh-CN" altLang="en-US" dirty="0"/>
              <a:t>利用某个概念或者原理，进行计算、分析、设计等</a:t>
            </a:r>
            <a:endParaRPr lang="en-US" altLang="zh-CN" dirty="0"/>
          </a:p>
          <a:p>
            <a:r>
              <a:rPr lang="zh-CN" altLang="en-US" dirty="0"/>
              <a:t>系统分析题 </a:t>
            </a:r>
            <a:r>
              <a:rPr lang="en-US" altLang="zh-CN" dirty="0"/>
              <a:t>20</a:t>
            </a:r>
            <a:r>
              <a:rPr lang="zh-CN" altLang="en-US" dirty="0"/>
              <a:t>分*</a:t>
            </a:r>
            <a:r>
              <a:rPr lang="en-US" altLang="zh-CN" dirty="0"/>
              <a:t>2</a:t>
            </a:r>
            <a:endParaRPr lang="en-US" altLang="zh-CN" dirty="0"/>
          </a:p>
          <a:p>
            <a:pPr lvl="1"/>
            <a:r>
              <a:rPr lang="zh-CN" altLang="en-US" dirty="0"/>
              <a:t>运用各种所学知识（包括理论和实验）进行综合设计、分析、优化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有</a:t>
            </a:r>
            <a:r>
              <a:rPr lang="en-US" altLang="zh-CN" dirty="0"/>
              <a:t>10%-20%</a:t>
            </a:r>
            <a:r>
              <a:rPr lang="zh-CN" altLang="en-US" dirty="0"/>
              <a:t>的卷面试题与实验相关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操作系统的试卷组成（不严谨不准确的统计）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进程管理  </a:t>
            </a:r>
            <a:r>
              <a:rPr lang="en-US" altLang="zh-CN" dirty="0">
                <a:solidFill>
                  <a:srgbClr val="FF0000"/>
                </a:solidFill>
              </a:rPr>
              <a:t>30%-45%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内存管理  </a:t>
            </a:r>
            <a:r>
              <a:rPr lang="en-US" altLang="zh-CN" dirty="0">
                <a:solidFill>
                  <a:srgbClr val="FF0000"/>
                </a:solidFill>
              </a:rPr>
              <a:t>30%-45%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文件系统  </a:t>
            </a:r>
            <a:r>
              <a:rPr lang="en-US" altLang="zh-CN" dirty="0"/>
              <a:t>10%-15%</a:t>
            </a:r>
            <a:endParaRPr lang="en-US" altLang="zh-CN" dirty="0"/>
          </a:p>
          <a:p>
            <a:r>
              <a:rPr lang="zh-CN" altLang="en-US" dirty="0"/>
              <a:t>设备管理  </a:t>
            </a:r>
            <a:r>
              <a:rPr lang="en-US" altLang="zh-CN" dirty="0"/>
              <a:t>10%-15%</a:t>
            </a:r>
            <a:endParaRPr lang="en-US" altLang="zh-CN" dirty="0"/>
          </a:p>
          <a:p>
            <a:r>
              <a:rPr lang="zh-CN" altLang="en-US" dirty="0"/>
              <a:t>死锁  </a:t>
            </a:r>
            <a:r>
              <a:rPr lang="en-US" altLang="zh-CN" dirty="0"/>
              <a:t>5%-10%</a:t>
            </a:r>
            <a:endParaRPr lang="en-US" altLang="zh-CN" dirty="0"/>
          </a:p>
          <a:p>
            <a:r>
              <a:rPr lang="zh-CN" altLang="en-US" strike="sngStrike" dirty="0">
                <a:solidFill>
                  <a:srgbClr val="00B050"/>
                </a:solidFill>
              </a:rPr>
              <a:t>安全</a:t>
            </a:r>
            <a:endParaRPr lang="en-US" altLang="zh-CN" strike="sngStrike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进程的概念</a:t>
            </a:r>
            <a:endParaRPr lang="en-US" altLang="zh-CN" dirty="0"/>
          </a:p>
          <a:p>
            <a:r>
              <a:rPr lang="zh-CN" altLang="en-US" dirty="0"/>
              <a:t>并发与并行</a:t>
            </a:r>
            <a:endParaRPr lang="en-US" altLang="zh-CN" dirty="0"/>
          </a:p>
          <a:p>
            <a:r>
              <a:rPr lang="zh-CN" altLang="en-US" dirty="0"/>
              <a:t>进程引入带来的四个特性</a:t>
            </a:r>
            <a:endParaRPr lang="en-US" altLang="zh-CN" dirty="0"/>
          </a:p>
          <a:p>
            <a:pPr lvl="1"/>
            <a:r>
              <a:rPr lang="zh-CN" altLang="en-US" dirty="0"/>
              <a:t>虚拟：每个进程有自己虚拟的地址空间、虚拟的设备，以为自己掌控了这台计算机</a:t>
            </a:r>
            <a:endParaRPr lang="en-US" altLang="zh-CN" dirty="0"/>
          </a:p>
          <a:p>
            <a:pPr lvl="1"/>
            <a:r>
              <a:rPr lang="zh-CN" altLang="en-US" dirty="0"/>
              <a:t>并发：多个进程是在并发交替的执行以提升效率</a:t>
            </a:r>
            <a:endParaRPr lang="en-US" altLang="zh-CN" dirty="0"/>
          </a:p>
          <a:p>
            <a:pPr lvl="1"/>
            <a:r>
              <a:rPr lang="zh-CN" altLang="en-US" dirty="0"/>
              <a:t>共享：资源（设备、内存）在进程 之间共享，分时复用</a:t>
            </a:r>
            <a:endParaRPr lang="en-US" altLang="zh-CN" dirty="0"/>
          </a:p>
          <a:p>
            <a:pPr lvl="1"/>
            <a:r>
              <a:rPr lang="zh-CN" altLang="en-US" dirty="0"/>
              <a:t>不确定：进程无法预知调度在什么时刻发生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并发还是并行？这是个问题</a:t>
            </a:r>
            <a:endParaRPr lang="zh-CN" altLang="en-US" dirty="0"/>
          </a:p>
        </p:txBody>
      </p:sp>
      <p:pic>
        <p:nvPicPr>
          <p:cNvPr id="4" name="Picture 5" descr="并行与并发概念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10" y="2506133"/>
            <a:ext cx="9538512" cy="29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进程的状态迁移模型</a:t>
            </a:r>
            <a:r>
              <a:rPr lang="en-US" altLang="zh-CN" dirty="0"/>
              <a:t>--------</a:t>
            </a:r>
            <a:r>
              <a:rPr lang="zh-CN" altLang="en-US" dirty="0"/>
              <a:t>解决谁停下来的问题</a:t>
            </a:r>
            <a:endParaRPr lang="en-US" altLang="zh-CN" dirty="0"/>
          </a:p>
          <a:p>
            <a:r>
              <a:rPr lang="zh-CN" altLang="en-US" dirty="0"/>
              <a:t>调度算法</a:t>
            </a:r>
            <a:r>
              <a:rPr lang="en-US" altLang="zh-CN" dirty="0"/>
              <a:t>----</a:t>
            </a:r>
            <a:r>
              <a:rPr lang="zh-CN" altLang="en-US" dirty="0"/>
              <a:t>就绪队列里选择一个进程运行，解决谁去运行的问题</a:t>
            </a:r>
            <a:endParaRPr lang="en-US" altLang="zh-CN" dirty="0"/>
          </a:p>
          <a:p>
            <a:r>
              <a:rPr lang="zh-CN" altLang="en-US" dirty="0"/>
              <a:t>进程的实现方法</a:t>
            </a:r>
            <a:r>
              <a:rPr lang="en-US" altLang="zh-CN" dirty="0"/>
              <a:t>----------------</a:t>
            </a:r>
            <a:r>
              <a:rPr lang="zh-CN" altLang="en-US" dirty="0"/>
              <a:t>解决怎么停下来、怎么运行的问题</a:t>
            </a:r>
            <a:endParaRPr lang="en-US" altLang="zh-CN" dirty="0"/>
          </a:p>
          <a:p>
            <a:r>
              <a:rPr lang="zh-CN" altLang="en-US" dirty="0"/>
              <a:t>线程</a:t>
            </a:r>
            <a:r>
              <a:rPr lang="en-US" altLang="zh-CN" dirty="0"/>
              <a:t>----------</a:t>
            </a:r>
            <a:r>
              <a:rPr lang="zh-CN" altLang="en-US" dirty="0"/>
              <a:t>与内存管理解耦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Complex Process States (1)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CITS, </a:t>
            </a:r>
            <a:r>
              <a:rPr lang="en-US" altLang="zh-CN" dirty="0" err="1"/>
              <a:t>NanKai</a:t>
            </a:r>
            <a:r>
              <a:rPr lang="en-US" altLang="zh-CN" dirty="0"/>
              <a:t> University</a:t>
            </a:r>
            <a:endParaRPr lang="en-US" altLang="ko-KR" dirty="0"/>
          </a:p>
        </p:txBody>
      </p:sp>
      <p:sp>
        <p:nvSpPr>
          <p:cNvPr id="419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DF3012-CC4D-4594-A697-2B8D674FBA1E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21" name="Picture 6" descr="process_states_trsnsmi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9944" b="35536"/>
          <a:stretch>
            <a:fillRect/>
          </a:stretch>
        </p:blipFill>
        <p:spPr bwMode="auto">
          <a:xfrm>
            <a:off x="1954214" y="1785939"/>
            <a:ext cx="8713787" cy="388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128933" y="4851400"/>
            <a:ext cx="4631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此时的状态管理单纯是为了</a:t>
            </a:r>
            <a:r>
              <a:rPr lang="en-US" altLang="zh-CN" dirty="0"/>
              <a:t>CPU</a:t>
            </a:r>
            <a:r>
              <a:rPr lang="zh-CN" altLang="en-US" dirty="0"/>
              <a:t>资源的分配</a:t>
            </a:r>
            <a:endParaRPr lang="en-US" altLang="zh-CN" dirty="0"/>
          </a:p>
          <a:p>
            <a:r>
              <a:rPr lang="zh-CN" altLang="en-US" dirty="0"/>
              <a:t>等待是因为发起了</a:t>
            </a:r>
            <a:r>
              <a:rPr lang="en-US" altLang="zh-CN" dirty="0" err="1"/>
              <a:t>syscall</a:t>
            </a:r>
            <a:endParaRPr lang="en-US" altLang="zh-CN" dirty="0"/>
          </a:p>
          <a:p>
            <a:r>
              <a:rPr lang="zh-CN" altLang="en-US" dirty="0"/>
              <a:t>中断导致从阻塞回到了就绪</a:t>
            </a:r>
            <a:endParaRPr lang="en-US" altLang="zh-CN" dirty="0"/>
          </a:p>
          <a:p>
            <a:r>
              <a:rPr lang="zh-CN" altLang="en-US" dirty="0"/>
              <a:t>就绪得到运行，会从</a:t>
            </a:r>
            <a:r>
              <a:rPr lang="en-US" altLang="zh-CN" dirty="0" err="1"/>
              <a:t>syscall</a:t>
            </a:r>
            <a:r>
              <a:rPr lang="zh-CN" altLang="en-US" dirty="0"/>
              <a:t>函数返回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2309C7C6-4B18-4AB9-8413-89D1DC4248B1}" type="slidenum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grpSp>
        <p:nvGrpSpPr>
          <p:cNvPr id="46083" name="Group 3"/>
          <p:cNvGrpSpPr/>
          <p:nvPr/>
        </p:nvGrpSpPr>
        <p:grpSpPr bwMode="auto">
          <a:xfrm>
            <a:off x="1800225" y="2714625"/>
            <a:ext cx="8616950" cy="2662238"/>
            <a:chOff x="165" y="1165"/>
            <a:chExt cx="5428" cy="1677"/>
          </a:xfrm>
        </p:grpSpPr>
        <p:sp>
          <p:nvSpPr>
            <p:cNvPr id="46085" name="Freeform 4"/>
            <p:cNvSpPr/>
            <p:nvPr/>
          </p:nvSpPr>
          <p:spPr bwMode="auto">
            <a:xfrm>
              <a:off x="1673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6" name="Freeform 5"/>
            <p:cNvSpPr/>
            <p:nvPr/>
          </p:nvSpPr>
          <p:spPr bwMode="auto">
            <a:xfrm>
              <a:off x="1673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7" name="Line 6"/>
            <p:cNvSpPr>
              <a:spLocks noChangeShapeType="1"/>
            </p:cNvSpPr>
            <p:nvPr/>
          </p:nvSpPr>
          <p:spPr bwMode="auto">
            <a:xfrm>
              <a:off x="910" y="1402"/>
              <a:ext cx="76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8" name="Rectangle 7"/>
            <p:cNvSpPr>
              <a:spLocks noChangeArrowheads="1"/>
            </p:cNvSpPr>
            <p:nvPr/>
          </p:nvSpPr>
          <p:spPr bwMode="auto">
            <a:xfrm>
              <a:off x="1129" y="1307"/>
              <a:ext cx="378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089" name="Rectangle 8"/>
            <p:cNvSpPr>
              <a:spLocks noChangeArrowheads="1"/>
            </p:cNvSpPr>
            <p:nvPr/>
          </p:nvSpPr>
          <p:spPr bwMode="auto">
            <a:xfrm>
              <a:off x="1141" y="1323"/>
              <a:ext cx="3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0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允许进入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0" name="Freeform 9"/>
            <p:cNvSpPr/>
            <p:nvPr/>
          </p:nvSpPr>
          <p:spPr bwMode="auto">
            <a:xfrm>
              <a:off x="3288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1 w 745"/>
                <a:gd name="T3" fmla="*/ 188 h 426"/>
                <a:gd name="T4" fmla="*/ 10 w 745"/>
                <a:gd name="T5" fmla="*/ 162 h 426"/>
                <a:gd name="T6" fmla="*/ 24 w 745"/>
                <a:gd name="T7" fmla="*/ 138 h 426"/>
                <a:gd name="T8" fmla="*/ 42 w 745"/>
                <a:gd name="T9" fmla="*/ 114 h 426"/>
                <a:gd name="T10" fmla="*/ 65 w 745"/>
                <a:gd name="T11" fmla="*/ 92 h 426"/>
                <a:gd name="T12" fmla="*/ 94 w 745"/>
                <a:gd name="T13" fmla="*/ 72 h 426"/>
                <a:gd name="T14" fmla="*/ 125 w 745"/>
                <a:gd name="T15" fmla="*/ 54 h 426"/>
                <a:gd name="T16" fmla="*/ 160 w 745"/>
                <a:gd name="T17" fmla="*/ 38 h 426"/>
                <a:gd name="T18" fmla="*/ 199 w 745"/>
                <a:gd name="T19" fmla="*/ 24 h 426"/>
                <a:gd name="T20" fmla="*/ 240 w 745"/>
                <a:gd name="T21" fmla="*/ 14 h 426"/>
                <a:gd name="T22" fmla="*/ 282 w 745"/>
                <a:gd name="T23" fmla="*/ 6 h 426"/>
                <a:gd name="T24" fmla="*/ 326 w 745"/>
                <a:gd name="T25" fmla="*/ 1 h 426"/>
                <a:gd name="T26" fmla="*/ 372 w 745"/>
                <a:gd name="T27" fmla="*/ 0 h 426"/>
                <a:gd name="T28" fmla="*/ 417 w 745"/>
                <a:gd name="T29" fmla="*/ 1 h 426"/>
                <a:gd name="T30" fmla="*/ 461 w 745"/>
                <a:gd name="T31" fmla="*/ 6 h 426"/>
                <a:gd name="T32" fmla="*/ 504 w 745"/>
                <a:gd name="T33" fmla="*/ 14 h 426"/>
                <a:gd name="T34" fmla="*/ 545 w 745"/>
                <a:gd name="T35" fmla="*/ 24 h 426"/>
                <a:gd name="T36" fmla="*/ 583 w 745"/>
                <a:gd name="T37" fmla="*/ 38 h 426"/>
                <a:gd name="T38" fmla="*/ 618 w 745"/>
                <a:gd name="T39" fmla="*/ 54 h 426"/>
                <a:gd name="T40" fmla="*/ 651 w 745"/>
                <a:gd name="T41" fmla="*/ 72 h 426"/>
                <a:gd name="T42" fmla="*/ 678 w 745"/>
                <a:gd name="T43" fmla="*/ 92 h 426"/>
                <a:gd name="T44" fmla="*/ 701 w 745"/>
                <a:gd name="T45" fmla="*/ 114 h 426"/>
                <a:gd name="T46" fmla="*/ 719 w 745"/>
                <a:gd name="T47" fmla="*/ 138 h 426"/>
                <a:gd name="T48" fmla="*/ 733 w 745"/>
                <a:gd name="T49" fmla="*/ 162 h 426"/>
                <a:gd name="T50" fmla="*/ 742 w 745"/>
                <a:gd name="T51" fmla="*/ 188 h 426"/>
                <a:gd name="T52" fmla="*/ 745 w 745"/>
                <a:gd name="T53" fmla="*/ 213 h 426"/>
                <a:gd name="T54" fmla="*/ 742 w 745"/>
                <a:gd name="T55" fmla="*/ 239 h 426"/>
                <a:gd name="T56" fmla="*/ 733 w 745"/>
                <a:gd name="T57" fmla="*/ 264 h 426"/>
                <a:gd name="T58" fmla="*/ 719 w 745"/>
                <a:gd name="T59" fmla="*/ 288 h 426"/>
                <a:gd name="T60" fmla="*/ 701 w 745"/>
                <a:gd name="T61" fmla="*/ 313 h 426"/>
                <a:gd name="T62" fmla="*/ 678 w 745"/>
                <a:gd name="T63" fmla="*/ 334 h 426"/>
                <a:gd name="T64" fmla="*/ 651 w 745"/>
                <a:gd name="T65" fmla="*/ 355 h 426"/>
                <a:gd name="T66" fmla="*/ 618 w 745"/>
                <a:gd name="T67" fmla="*/ 372 h 426"/>
                <a:gd name="T68" fmla="*/ 583 w 745"/>
                <a:gd name="T69" fmla="*/ 389 h 426"/>
                <a:gd name="T70" fmla="*/ 545 w 745"/>
                <a:gd name="T71" fmla="*/ 402 h 426"/>
                <a:gd name="T72" fmla="*/ 504 w 745"/>
                <a:gd name="T73" fmla="*/ 412 h 426"/>
                <a:gd name="T74" fmla="*/ 461 w 745"/>
                <a:gd name="T75" fmla="*/ 421 h 426"/>
                <a:gd name="T76" fmla="*/ 417 w 745"/>
                <a:gd name="T77" fmla="*/ 425 h 426"/>
                <a:gd name="T78" fmla="*/ 372 w 745"/>
                <a:gd name="T79" fmla="*/ 426 h 426"/>
                <a:gd name="T80" fmla="*/ 326 w 745"/>
                <a:gd name="T81" fmla="*/ 425 h 426"/>
                <a:gd name="T82" fmla="*/ 282 w 745"/>
                <a:gd name="T83" fmla="*/ 421 h 426"/>
                <a:gd name="T84" fmla="*/ 240 w 745"/>
                <a:gd name="T85" fmla="*/ 412 h 426"/>
                <a:gd name="T86" fmla="*/ 199 w 745"/>
                <a:gd name="T87" fmla="*/ 402 h 426"/>
                <a:gd name="T88" fmla="*/ 160 w 745"/>
                <a:gd name="T89" fmla="*/ 389 h 426"/>
                <a:gd name="T90" fmla="*/ 125 w 745"/>
                <a:gd name="T91" fmla="*/ 372 h 426"/>
                <a:gd name="T92" fmla="*/ 94 w 745"/>
                <a:gd name="T93" fmla="*/ 355 h 426"/>
                <a:gd name="T94" fmla="*/ 65 w 745"/>
                <a:gd name="T95" fmla="*/ 334 h 426"/>
                <a:gd name="T96" fmla="*/ 42 w 745"/>
                <a:gd name="T97" fmla="*/ 313 h 426"/>
                <a:gd name="T98" fmla="*/ 24 w 745"/>
                <a:gd name="T99" fmla="*/ 288 h 426"/>
                <a:gd name="T100" fmla="*/ 10 w 745"/>
                <a:gd name="T101" fmla="*/ 264 h 426"/>
                <a:gd name="T102" fmla="*/ 1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1" y="188"/>
                  </a:lnTo>
                  <a:lnTo>
                    <a:pt x="10" y="162"/>
                  </a:lnTo>
                  <a:lnTo>
                    <a:pt x="24" y="138"/>
                  </a:lnTo>
                  <a:lnTo>
                    <a:pt x="42" y="114"/>
                  </a:lnTo>
                  <a:lnTo>
                    <a:pt x="65" y="92"/>
                  </a:lnTo>
                  <a:lnTo>
                    <a:pt x="94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9" y="24"/>
                  </a:lnTo>
                  <a:lnTo>
                    <a:pt x="240" y="14"/>
                  </a:lnTo>
                  <a:lnTo>
                    <a:pt x="282" y="6"/>
                  </a:lnTo>
                  <a:lnTo>
                    <a:pt x="326" y="1"/>
                  </a:lnTo>
                  <a:lnTo>
                    <a:pt x="372" y="0"/>
                  </a:lnTo>
                  <a:lnTo>
                    <a:pt x="417" y="1"/>
                  </a:lnTo>
                  <a:lnTo>
                    <a:pt x="461" y="6"/>
                  </a:lnTo>
                  <a:lnTo>
                    <a:pt x="504" y="14"/>
                  </a:lnTo>
                  <a:lnTo>
                    <a:pt x="545" y="24"/>
                  </a:lnTo>
                  <a:lnTo>
                    <a:pt x="583" y="38"/>
                  </a:lnTo>
                  <a:lnTo>
                    <a:pt x="618" y="54"/>
                  </a:lnTo>
                  <a:lnTo>
                    <a:pt x="651" y="72"/>
                  </a:lnTo>
                  <a:lnTo>
                    <a:pt x="678" y="92"/>
                  </a:lnTo>
                  <a:lnTo>
                    <a:pt x="701" y="114"/>
                  </a:lnTo>
                  <a:lnTo>
                    <a:pt x="719" y="138"/>
                  </a:lnTo>
                  <a:lnTo>
                    <a:pt x="733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3" y="264"/>
                  </a:lnTo>
                  <a:lnTo>
                    <a:pt x="719" y="288"/>
                  </a:lnTo>
                  <a:lnTo>
                    <a:pt x="701" y="313"/>
                  </a:lnTo>
                  <a:lnTo>
                    <a:pt x="678" y="334"/>
                  </a:lnTo>
                  <a:lnTo>
                    <a:pt x="651" y="355"/>
                  </a:lnTo>
                  <a:lnTo>
                    <a:pt x="618" y="372"/>
                  </a:lnTo>
                  <a:lnTo>
                    <a:pt x="583" y="389"/>
                  </a:lnTo>
                  <a:lnTo>
                    <a:pt x="545" y="402"/>
                  </a:lnTo>
                  <a:lnTo>
                    <a:pt x="504" y="412"/>
                  </a:lnTo>
                  <a:lnTo>
                    <a:pt x="461" y="421"/>
                  </a:lnTo>
                  <a:lnTo>
                    <a:pt x="417" y="425"/>
                  </a:lnTo>
                  <a:lnTo>
                    <a:pt x="372" y="426"/>
                  </a:lnTo>
                  <a:lnTo>
                    <a:pt x="326" y="425"/>
                  </a:lnTo>
                  <a:lnTo>
                    <a:pt x="282" y="421"/>
                  </a:lnTo>
                  <a:lnTo>
                    <a:pt x="240" y="412"/>
                  </a:lnTo>
                  <a:lnTo>
                    <a:pt x="199" y="402"/>
                  </a:lnTo>
                  <a:lnTo>
                    <a:pt x="160" y="389"/>
                  </a:lnTo>
                  <a:lnTo>
                    <a:pt x="125" y="372"/>
                  </a:lnTo>
                  <a:lnTo>
                    <a:pt x="94" y="355"/>
                  </a:lnTo>
                  <a:lnTo>
                    <a:pt x="65" y="334"/>
                  </a:lnTo>
                  <a:lnTo>
                    <a:pt x="42" y="313"/>
                  </a:lnTo>
                  <a:lnTo>
                    <a:pt x="24" y="288"/>
                  </a:lnTo>
                  <a:lnTo>
                    <a:pt x="10" y="264"/>
                  </a:lnTo>
                  <a:lnTo>
                    <a:pt x="1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1" name="Rectangle 10"/>
            <p:cNvSpPr>
              <a:spLocks noChangeArrowheads="1"/>
            </p:cNvSpPr>
            <p:nvPr/>
          </p:nvSpPr>
          <p:spPr bwMode="auto">
            <a:xfrm>
              <a:off x="3411" y="1323"/>
              <a:ext cx="38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运行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2" name="Freeform 11"/>
            <p:cNvSpPr/>
            <p:nvPr/>
          </p:nvSpPr>
          <p:spPr bwMode="auto">
            <a:xfrm>
              <a:off x="165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3 w 745"/>
                <a:gd name="T3" fmla="*/ 188 h 426"/>
                <a:gd name="T4" fmla="*/ 12 w 745"/>
                <a:gd name="T5" fmla="*/ 162 h 426"/>
                <a:gd name="T6" fmla="*/ 24 w 745"/>
                <a:gd name="T7" fmla="*/ 138 h 426"/>
                <a:gd name="T8" fmla="*/ 43 w 745"/>
                <a:gd name="T9" fmla="*/ 114 h 426"/>
                <a:gd name="T10" fmla="*/ 67 w 745"/>
                <a:gd name="T11" fmla="*/ 92 h 426"/>
                <a:gd name="T12" fmla="*/ 94 w 745"/>
                <a:gd name="T13" fmla="*/ 72 h 426"/>
                <a:gd name="T14" fmla="*/ 127 w 745"/>
                <a:gd name="T15" fmla="*/ 54 h 426"/>
                <a:gd name="T16" fmla="*/ 162 w 745"/>
                <a:gd name="T17" fmla="*/ 38 h 426"/>
                <a:gd name="T18" fmla="*/ 200 w 745"/>
                <a:gd name="T19" fmla="*/ 24 h 426"/>
                <a:gd name="T20" fmla="*/ 241 w 745"/>
                <a:gd name="T21" fmla="*/ 14 h 426"/>
                <a:gd name="T22" fmla="*/ 284 w 745"/>
                <a:gd name="T23" fmla="*/ 6 h 426"/>
                <a:gd name="T24" fmla="*/ 328 w 745"/>
                <a:gd name="T25" fmla="*/ 1 h 426"/>
                <a:gd name="T26" fmla="*/ 373 w 745"/>
                <a:gd name="T27" fmla="*/ 0 h 426"/>
                <a:gd name="T28" fmla="*/ 419 w 745"/>
                <a:gd name="T29" fmla="*/ 1 h 426"/>
                <a:gd name="T30" fmla="*/ 463 w 745"/>
                <a:gd name="T31" fmla="*/ 6 h 426"/>
                <a:gd name="T32" fmla="*/ 505 w 745"/>
                <a:gd name="T33" fmla="*/ 14 h 426"/>
                <a:gd name="T34" fmla="*/ 546 w 745"/>
                <a:gd name="T35" fmla="*/ 24 h 426"/>
                <a:gd name="T36" fmla="*/ 585 w 745"/>
                <a:gd name="T37" fmla="*/ 38 h 426"/>
                <a:gd name="T38" fmla="*/ 620 w 745"/>
                <a:gd name="T39" fmla="*/ 54 h 426"/>
                <a:gd name="T40" fmla="*/ 651 w 745"/>
                <a:gd name="T41" fmla="*/ 72 h 426"/>
                <a:gd name="T42" fmla="*/ 680 w 745"/>
                <a:gd name="T43" fmla="*/ 92 h 426"/>
                <a:gd name="T44" fmla="*/ 703 w 745"/>
                <a:gd name="T45" fmla="*/ 114 h 426"/>
                <a:gd name="T46" fmla="*/ 721 w 745"/>
                <a:gd name="T47" fmla="*/ 138 h 426"/>
                <a:gd name="T48" fmla="*/ 735 w 745"/>
                <a:gd name="T49" fmla="*/ 162 h 426"/>
                <a:gd name="T50" fmla="*/ 742 w 745"/>
                <a:gd name="T51" fmla="*/ 188 h 426"/>
                <a:gd name="T52" fmla="*/ 745 w 745"/>
                <a:gd name="T53" fmla="*/ 213 h 426"/>
                <a:gd name="T54" fmla="*/ 742 w 745"/>
                <a:gd name="T55" fmla="*/ 239 h 426"/>
                <a:gd name="T56" fmla="*/ 735 w 745"/>
                <a:gd name="T57" fmla="*/ 264 h 426"/>
                <a:gd name="T58" fmla="*/ 721 w 745"/>
                <a:gd name="T59" fmla="*/ 288 h 426"/>
                <a:gd name="T60" fmla="*/ 703 w 745"/>
                <a:gd name="T61" fmla="*/ 313 h 426"/>
                <a:gd name="T62" fmla="*/ 680 w 745"/>
                <a:gd name="T63" fmla="*/ 334 h 426"/>
                <a:gd name="T64" fmla="*/ 651 w 745"/>
                <a:gd name="T65" fmla="*/ 355 h 426"/>
                <a:gd name="T66" fmla="*/ 620 w 745"/>
                <a:gd name="T67" fmla="*/ 372 h 426"/>
                <a:gd name="T68" fmla="*/ 585 w 745"/>
                <a:gd name="T69" fmla="*/ 389 h 426"/>
                <a:gd name="T70" fmla="*/ 546 w 745"/>
                <a:gd name="T71" fmla="*/ 402 h 426"/>
                <a:gd name="T72" fmla="*/ 505 w 745"/>
                <a:gd name="T73" fmla="*/ 412 h 426"/>
                <a:gd name="T74" fmla="*/ 463 w 745"/>
                <a:gd name="T75" fmla="*/ 421 h 426"/>
                <a:gd name="T76" fmla="*/ 419 w 745"/>
                <a:gd name="T77" fmla="*/ 425 h 426"/>
                <a:gd name="T78" fmla="*/ 373 w 745"/>
                <a:gd name="T79" fmla="*/ 426 h 426"/>
                <a:gd name="T80" fmla="*/ 328 w 745"/>
                <a:gd name="T81" fmla="*/ 425 h 426"/>
                <a:gd name="T82" fmla="*/ 284 w 745"/>
                <a:gd name="T83" fmla="*/ 421 h 426"/>
                <a:gd name="T84" fmla="*/ 241 w 745"/>
                <a:gd name="T85" fmla="*/ 412 h 426"/>
                <a:gd name="T86" fmla="*/ 200 w 745"/>
                <a:gd name="T87" fmla="*/ 402 h 426"/>
                <a:gd name="T88" fmla="*/ 162 w 745"/>
                <a:gd name="T89" fmla="*/ 389 h 426"/>
                <a:gd name="T90" fmla="*/ 127 w 745"/>
                <a:gd name="T91" fmla="*/ 372 h 426"/>
                <a:gd name="T92" fmla="*/ 94 w 745"/>
                <a:gd name="T93" fmla="*/ 355 h 426"/>
                <a:gd name="T94" fmla="*/ 67 w 745"/>
                <a:gd name="T95" fmla="*/ 334 h 426"/>
                <a:gd name="T96" fmla="*/ 43 w 745"/>
                <a:gd name="T97" fmla="*/ 313 h 426"/>
                <a:gd name="T98" fmla="*/ 24 w 745"/>
                <a:gd name="T99" fmla="*/ 288 h 426"/>
                <a:gd name="T100" fmla="*/ 12 w 745"/>
                <a:gd name="T101" fmla="*/ 264 h 426"/>
                <a:gd name="T102" fmla="*/ 3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3" y="188"/>
                  </a:lnTo>
                  <a:lnTo>
                    <a:pt x="12" y="162"/>
                  </a:lnTo>
                  <a:lnTo>
                    <a:pt x="24" y="138"/>
                  </a:lnTo>
                  <a:lnTo>
                    <a:pt x="43" y="114"/>
                  </a:lnTo>
                  <a:lnTo>
                    <a:pt x="67" y="92"/>
                  </a:lnTo>
                  <a:lnTo>
                    <a:pt x="94" y="72"/>
                  </a:lnTo>
                  <a:lnTo>
                    <a:pt x="127" y="54"/>
                  </a:lnTo>
                  <a:lnTo>
                    <a:pt x="162" y="38"/>
                  </a:lnTo>
                  <a:lnTo>
                    <a:pt x="200" y="24"/>
                  </a:lnTo>
                  <a:lnTo>
                    <a:pt x="241" y="14"/>
                  </a:lnTo>
                  <a:lnTo>
                    <a:pt x="284" y="6"/>
                  </a:lnTo>
                  <a:lnTo>
                    <a:pt x="328" y="1"/>
                  </a:lnTo>
                  <a:lnTo>
                    <a:pt x="373" y="0"/>
                  </a:lnTo>
                  <a:lnTo>
                    <a:pt x="419" y="1"/>
                  </a:lnTo>
                  <a:lnTo>
                    <a:pt x="463" y="6"/>
                  </a:lnTo>
                  <a:lnTo>
                    <a:pt x="505" y="14"/>
                  </a:lnTo>
                  <a:lnTo>
                    <a:pt x="546" y="24"/>
                  </a:lnTo>
                  <a:lnTo>
                    <a:pt x="585" y="38"/>
                  </a:lnTo>
                  <a:lnTo>
                    <a:pt x="620" y="54"/>
                  </a:lnTo>
                  <a:lnTo>
                    <a:pt x="651" y="72"/>
                  </a:lnTo>
                  <a:lnTo>
                    <a:pt x="680" y="92"/>
                  </a:lnTo>
                  <a:lnTo>
                    <a:pt x="703" y="114"/>
                  </a:lnTo>
                  <a:lnTo>
                    <a:pt x="721" y="138"/>
                  </a:lnTo>
                  <a:lnTo>
                    <a:pt x="735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5" y="264"/>
                  </a:lnTo>
                  <a:lnTo>
                    <a:pt x="721" y="288"/>
                  </a:lnTo>
                  <a:lnTo>
                    <a:pt x="703" y="313"/>
                  </a:lnTo>
                  <a:lnTo>
                    <a:pt x="680" y="334"/>
                  </a:lnTo>
                  <a:lnTo>
                    <a:pt x="651" y="355"/>
                  </a:lnTo>
                  <a:lnTo>
                    <a:pt x="620" y="372"/>
                  </a:lnTo>
                  <a:lnTo>
                    <a:pt x="585" y="389"/>
                  </a:lnTo>
                  <a:lnTo>
                    <a:pt x="546" y="402"/>
                  </a:lnTo>
                  <a:lnTo>
                    <a:pt x="505" y="412"/>
                  </a:lnTo>
                  <a:lnTo>
                    <a:pt x="463" y="421"/>
                  </a:lnTo>
                  <a:lnTo>
                    <a:pt x="419" y="425"/>
                  </a:lnTo>
                  <a:lnTo>
                    <a:pt x="373" y="426"/>
                  </a:lnTo>
                  <a:lnTo>
                    <a:pt x="328" y="425"/>
                  </a:lnTo>
                  <a:lnTo>
                    <a:pt x="284" y="421"/>
                  </a:lnTo>
                  <a:lnTo>
                    <a:pt x="241" y="412"/>
                  </a:lnTo>
                  <a:lnTo>
                    <a:pt x="200" y="402"/>
                  </a:lnTo>
                  <a:lnTo>
                    <a:pt x="162" y="389"/>
                  </a:lnTo>
                  <a:lnTo>
                    <a:pt x="127" y="372"/>
                  </a:lnTo>
                  <a:lnTo>
                    <a:pt x="94" y="355"/>
                  </a:lnTo>
                  <a:lnTo>
                    <a:pt x="67" y="334"/>
                  </a:lnTo>
                  <a:lnTo>
                    <a:pt x="43" y="313"/>
                  </a:lnTo>
                  <a:lnTo>
                    <a:pt x="24" y="288"/>
                  </a:lnTo>
                  <a:lnTo>
                    <a:pt x="12" y="264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3" name="Rectangle 12"/>
            <p:cNvSpPr>
              <a:spLocks noChangeArrowheads="1"/>
            </p:cNvSpPr>
            <p:nvPr/>
          </p:nvSpPr>
          <p:spPr bwMode="auto">
            <a:xfrm>
              <a:off x="432" y="13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新建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4" name="Freeform 13"/>
            <p:cNvSpPr/>
            <p:nvPr/>
          </p:nvSpPr>
          <p:spPr bwMode="auto">
            <a:xfrm>
              <a:off x="4848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3 w 745"/>
                <a:gd name="T3" fmla="*/ 188 h 426"/>
                <a:gd name="T4" fmla="*/ 10 w 745"/>
                <a:gd name="T5" fmla="*/ 162 h 426"/>
                <a:gd name="T6" fmla="*/ 25 w 745"/>
                <a:gd name="T7" fmla="*/ 138 h 426"/>
                <a:gd name="T8" fmla="*/ 43 w 745"/>
                <a:gd name="T9" fmla="*/ 114 h 426"/>
                <a:gd name="T10" fmla="*/ 66 w 745"/>
                <a:gd name="T11" fmla="*/ 92 h 426"/>
                <a:gd name="T12" fmla="*/ 94 w 745"/>
                <a:gd name="T13" fmla="*/ 72 h 426"/>
                <a:gd name="T14" fmla="*/ 125 w 745"/>
                <a:gd name="T15" fmla="*/ 54 h 426"/>
                <a:gd name="T16" fmla="*/ 161 w 745"/>
                <a:gd name="T17" fmla="*/ 38 h 426"/>
                <a:gd name="T18" fmla="*/ 199 w 745"/>
                <a:gd name="T19" fmla="*/ 24 h 426"/>
                <a:gd name="T20" fmla="*/ 240 w 745"/>
                <a:gd name="T21" fmla="*/ 14 h 426"/>
                <a:gd name="T22" fmla="*/ 283 w 745"/>
                <a:gd name="T23" fmla="*/ 6 h 426"/>
                <a:gd name="T24" fmla="*/ 327 w 745"/>
                <a:gd name="T25" fmla="*/ 1 h 426"/>
                <a:gd name="T26" fmla="*/ 372 w 745"/>
                <a:gd name="T27" fmla="*/ 0 h 426"/>
                <a:gd name="T28" fmla="*/ 418 w 745"/>
                <a:gd name="T29" fmla="*/ 1 h 426"/>
                <a:gd name="T30" fmla="*/ 462 w 745"/>
                <a:gd name="T31" fmla="*/ 6 h 426"/>
                <a:gd name="T32" fmla="*/ 504 w 745"/>
                <a:gd name="T33" fmla="*/ 14 h 426"/>
                <a:gd name="T34" fmla="*/ 545 w 745"/>
                <a:gd name="T35" fmla="*/ 24 h 426"/>
                <a:gd name="T36" fmla="*/ 584 w 745"/>
                <a:gd name="T37" fmla="*/ 38 h 426"/>
                <a:gd name="T38" fmla="*/ 619 w 745"/>
                <a:gd name="T39" fmla="*/ 54 h 426"/>
                <a:gd name="T40" fmla="*/ 652 w 745"/>
                <a:gd name="T41" fmla="*/ 72 h 426"/>
                <a:gd name="T42" fmla="*/ 679 w 745"/>
                <a:gd name="T43" fmla="*/ 92 h 426"/>
                <a:gd name="T44" fmla="*/ 703 w 745"/>
                <a:gd name="T45" fmla="*/ 114 h 426"/>
                <a:gd name="T46" fmla="*/ 721 w 745"/>
                <a:gd name="T47" fmla="*/ 138 h 426"/>
                <a:gd name="T48" fmla="*/ 734 w 745"/>
                <a:gd name="T49" fmla="*/ 162 h 426"/>
                <a:gd name="T50" fmla="*/ 742 w 745"/>
                <a:gd name="T51" fmla="*/ 188 h 426"/>
                <a:gd name="T52" fmla="*/ 745 w 745"/>
                <a:gd name="T53" fmla="*/ 213 h 426"/>
                <a:gd name="T54" fmla="*/ 742 w 745"/>
                <a:gd name="T55" fmla="*/ 239 h 426"/>
                <a:gd name="T56" fmla="*/ 734 w 745"/>
                <a:gd name="T57" fmla="*/ 264 h 426"/>
                <a:gd name="T58" fmla="*/ 721 w 745"/>
                <a:gd name="T59" fmla="*/ 288 h 426"/>
                <a:gd name="T60" fmla="*/ 703 w 745"/>
                <a:gd name="T61" fmla="*/ 313 h 426"/>
                <a:gd name="T62" fmla="*/ 679 w 745"/>
                <a:gd name="T63" fmla="*/ 334 h 426"/>
                <a:gd name="T64" fmla="*/ 652 w 745"/>
                <a:gd name="T65" fmla="*/ 355 h 426"/>
                <a:gd name="T66" fmla="*/ 619 w 745"/>
                <a:gd name="T67" fmla="*/ 372 h 426"/>
                <a:gd name="T68" fmla="*/ 584 w 745"/>
                <a:gd name="T69" fmla="*/ 389 h 426"/>
                <a:gd name="T70" fmla="*/ 545 w 745"/>
                <a:gd name="T71" fmla="*/ 402 h 426"/>
                <a:gd name="T72" fmla="*/ 504 w 745"/>
                <a:gd name="T73" fmla="*/ 412 h 426"/>
                <a:gd name="T74" fmla="*/ 462 w 745"/>
                <a:gd name="T75" fmla="*/ 421 h 426"/>
                <a:gd name="T76" fmla="*/ 418 w 745"/>
                <a:gd name="T77" fmla="*/ 425 h 426"/>
                <a:gd name="T78" fmla="*/ 372 w 745"/>
                <a:gd name="T79" fmla="*/ 426 h 426"/>
                <a:gd name="T80" fmla="*/ 327 w 745"/>
                <a:gd name="T81" fmla="*/ 425 h 426"/>
                <a:gd name="T82" fmla="*/ 283 w 745"/>
                <a:gd name="T83" fmla="*/ 421 h 426"/>
                <a:gd name="T84" fmla="*/ 240 w 745"/>
                <a:gd name="T85" fmla="*/ 412 h 426"/>
                <a:gd name="T86" fmla="*/ 199 w 745"/>
                <a:gd name="T87" fmla="*/ 402 h 426"/>
                <a:gd name="T88" fmla="*/ 161 w 745"/>
                <a:gd name="T89" fmla="*/ 389 h 426"/>
                <a:gd name="T90" fmla="*/ 125 w 745"/>
                <a:gd name="T91" fmla="*/ 372 h 426"/>
                <a:gd name="T92" fmla="*/ 94 w 745"/>
                <a:gd name="T93" fmla="*/ 355 h 426"/>
                <a:gd name="T94" fmla="*/ 66 w 745"/>
                <a:gd name="T95" fmla="*/ 334 h 426"/>
                <a:gd name="T96" fmla="*/ 43 w 745"/>
                <a:gd name="T97" fmla="*/ 313 h 426"/>
                <a:gd name="T98" fmla="*/ 25 w 745"/>
                <a:gd name="T99" fmla="*/ 288 h 426"/>
                <a:gd name="T100" fmla="*/ 10 w 745"/>
                <a:gd name="T101" fmla="*/ 264 h 426"/>
                <a:gd name="T102" fmla="*/ 3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3" y="188"/>
                  </a:lnTo>
                  <a:lnTo>
                    <a:pt x="10" y="162"/>
                  </a:lnTo>
                  <a:lnTo>
                    <a:pt x="25" y="138"/>
                  </a:lnTo>
                  <a:lnTo>
                    <a:pt x="43" y="114"/>
                  </a:lnTo>
                  <a:lnTo>
                    <a:pt x="66" y="92"/>
                  </a:lnTo>
                  <a:lnTo>
                    <a:pt x="94" y="72"/>
                  </a:lnTo>
                  <a:lnTo>
                    <a:pt x="125" y="54"/>
                  </a:lnTo>
                  <a:lnTo>
                    <a:pt x="161" y="38"/>
                  </a:lnTo>
                  <a:lnTo>
                    <a:pt x="199" y="24"/>
                  </a:lnTo>
                  <a:lnTo>
                    <a:pt x="240" y="14"/>
                  </a:lnTo>
                  <a:lnTo>
                    <a:pt x="283" y="6"/>
                  </a:lnTo>
                  <a:lnTo>
                    <a:pt x="327" y="1"/>
                  </a:lnTo>
                  <a:lnTo>
                    <a:pt x="372" y="0"/>
                  </a:lnTo>
                  <a:lnTo>
                    <a:pt x="418" y="1"/>
                  </a:lnTo>
                  <a:lnTo>
                    <a:pt x="462" y="6"/>
                  </a:lnTo>
                  <a:lnTo>
                    <a:pt x="504" y="14"/>
                  </a:lnTo>
                  <a:lnTo>
                    <a:pt x="545" y="24"/>
                  </a:lnTo>
                  <a:lnTo>
                    <a:pt x="584" y="38"/>
                  </a:lnTo>
                  <a:lnTo>
                    <a:pt x="619" y="54"/>
                  </a:lnTo>
                  <a:lnTo>
                    <a:pt x="652" y="72"/>
                  </a:lnTo>
                  <a:lnTo>
                    <a:pt x="679" y="92"/>
                  </a:lnTo>
                  <a:lnTo>
                    <a:pt x="703" y="114"/>
                  </a:lnTo>
                  <a:lnTo>
                    <a:pt x="721" y="138"/>
                  </a:lnTo>
                  <a:lnTo>
                    <a:pt x="734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4" y="264"/>
                  </a:lnTo>
                  <a:lnTo>
                    <a:pt x="721" y="288"/>
                  </a:lnTo>
                  <a:lnTo>
                    <a:pt x="703" y="313"/>
                  </a:lnTo>
                  <a:lnTo>
                    <a:pt x="679" y="334"/>
                  </a:lnTo>
                  <a:lnTo>
                    <a:pt x="652" y="355"/>
                  </a:lnTo>
                  <a:lnTo>
                    <a:pt x="619" y="372"/>
                  </a:lnTo>
                  <a:lnTo>
                    <a:pt x="584" y="389"/>
                  </a:lnTo>
                  <a:lnTo>
                    <a:pt x="545" y="402"/>
                  </a:lnTo>
                  <a:lnTo>
                    <a:pt x="504" y="412"/>
                  </a:lnTo>
                  <a:lnTo>
                    <a:pt x="462" y="421"/>
                  </a:lnTo>
                  <a:lnTo>
                    <a:pt x="418" y="425"/>
                  </a:lnTo>
                  <a:lnTo>
                    <a:pt x="372" y="426"/>
                  </a:lnTo>
                  <a:lnTo>
                    <a:pt x="327" y="425"/>
                  </a:lnTo>
                  <a:lnTo>
                    <a:pt x="283" y="421"/>
                  </a:lnTo>
                  <a:lnTo>
                    <a:pt x="240" y="412"/>
                  </a:lnTo>
                  <a:lnTo>
                    <a:pt x="199" y="402"/>
                  </a:lnTo>
                  <a:lnTo>
                    <a:pt x="161" y="389"/>
                  </a:lnTo>
                  <a:lnTo>
                    <a:pt x="125" y="372"/>
                  </a:lnTo>
                  <a:lnTo>
                    <a:pt x="94" y="355"/>
                  </a:lnTo>
                  <a:lnTo>
                    <a:pt x="66" y="334"/>
                  </a:lnTo>
                  <a:lnTo>
                    <a:pt x="43" y="313"/>
                  </a:lnTo>
                  <a:lnTo>
                    <a:pt x="25" y="288"/>
                  </a:lnTo>
                  <a:lnTo>
                    <a:pt x="10" y="264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5" name="Rectangle 14"/>
            <p:cNvSpPr>
              <a:spLocks noChangeArrowheads="1"/>
            </p:cNvSpPr>
            <p:nvPr/>
          </p:nvSpPr>
          <p:spPr bwMode="auto">
            <a:xfrm>
              <a:off x="5078" y="13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退出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6" name="Freeform 15"/>
            <p:cNvSpPr/>
            <p:nvPr/>
          </p:nvSpPr>
          <p:spPr bwMode="auto">
            <a:xfrm>
              <a:off x="1726" y="1189"/>
              <a:ext cx="745" cy="426"/>
            </a:xfrm>
            <a:custGeom>
              <a:avLst/>
              <a:gdLst>
                <a:gd name="T0" fmla="*/ 0 w 745"/>
                <a:gd name="T1" fmla="*/ 213 h 426"/>
                <a:gd name="T2" fmla="*/ 3 w 745"/>
                <a:gd name="T3" fmla="*/ 188 h 426"/>
                <a:gd name="T4" fmla="*/ 11 w 745"/>
                <a:gd name="T5" fmla="*/ 162 h 426"/>
                <a:gd name="T6" fmla="*/ 25 w 745"/>
                <a:gd name="T7" fmla="*/ 138 h 426"/>
                <a:gd name="T8" fmla="*/ 44 w 745"/>
                <a:gd name="T9" fmla="*/ 114 h 426"/>
                <a:gd name="T10" fmla="*/ 67 w 745"/>
                <a:gd name="T11" fmla="*/ 92 h 426"/>
                <a:gd name="T12" fmla="*/ 94 w 745"/>
                <a:gd name="T13" fmla="*/ 72 h 426"/>
                <a:gd name="T14" fmla="*/ 126 w 745"/>
                <a:gd name="T15" fmla="*/ 54 h 426"/>
                <a:gd name="T16" fmla="*/ 162 w 745"/>
                <a:gd name="T17" fmla="*/ 38 h 426"/>
                <a:gd name="T18" fmla="*/ 200 w 745"/>
                <a:gd name="T19" fmla="*/ 24 h 426"/>
                <a:gd name="T20" fmla="*/ 241 w 745"/>
                <a:gd name="T21" fmla="*/ 14 h 426"/>
                <a:gd name="T22" fmla="*/ 284 w 745"/>
                <a:gd name="T23" fmla="*/ 6 h 426"/>
                <a:gd name="T24" fmla="*/ 328 w 745"/>
                <a:gd name="T25" fmla="*/ 1 h 426"/>
                <a:gd name="T26" fmla="*/ 373 w 745"/>
                <a:gd name="T27" fmla="*/ 0 h 426"/>
                <a:gd name="T28" fmla="*/ 418 w 745"/>
                <a:gd name="T29" fmla="*/ 1 h 426"/>
                <a:gd name="T30" fmla="*/ 462 w 745"/>
                <a:gd name="T31" fmla="*/ 6 h 426"/>
                <a:gd name="T32" fmla="*/ 505 w 745"/>
                <a:gd name="T33" fmla="*/ 14 h 426"/>
                <a:gd name="T34" fmla="*/ 546 w 745"/>
                <a:gd name="T35" fmla="*/ 24 h 426"/>
                <a:gd name="T36" fmla="*/ 584 w 745"/>
                <a:gd name="T37" fmla="*/ 38 h 426"/>
                <a:gd name="T38" fmla="*/ 620 w 745"/>
                <a:gd name="T39" fmla="*/ 54 h 426"/>
                <a:gd name="T40" fmla="*/ 651 w 745"/>
                <a:gd name="T41" fmla="*/ 72 h 426"/>
                <a:gd name="T42" fmla="*/ 679 w 745"/>
                <a:gd name="T43" fmla="*/ 92 h 426"/>
                <a:gd name="T44" fmla="*/ 702 w 745"/>
                <a:gd name="T45" fmla="*/ 114 h 426"/>
                <a:gd name="T46" fmla="*/ 721 w 745"/>
                <a:gd name="T47" fmla="*/ 138 h 426"/>
                <a:gd name="T48" fmla="*/ 735 w 745"/>
                <a:gd name="T49" fmla="*/ 162 h 426"/>
                <a:gd name="T50" fmla="*/ 743 w 745"/>
                <a:gd name="T51" fmla="*/ 188 h 426"/>
                <a:gd name="T52" fmla="*/ 745 w 745"/>
                <a:gd name="T53" fmla="*/ 213 h 426"/>
                <a:gd name="T54" fmla="*/ 743 w 745"/>
                <a:gd name="T55" fmla="*/ 239 h 426"/>
                <a:gd name="T56" fmla="*/ 735 w 745"/>
                <a:gd name="T57" fmla="*/ 264 h 426"/>
                <a:gd name="T58" fmla="*/ 721 w 745"/>
                <a:gd name="T59" fmla="*/ 288 h 426"/>
                <a:gd name="T60" fmla="*/ 702 w 745"/>
                <a:gd name="T61" fmla="*/ 313 h 426"/>
                <a:gd name="T62" fmla="*/ 679 w 745"/>
                <a:gd name="T63" fmla="*/ 334 h 426"/>
                <a:gd name="T64" fmla="*/ 651 w 745"/>
                <a:gd name="T65" fmla="*/ 355 h 426"/>
                <a:gd name="T66" fmla="*/ 620 w 745"/>
                <a:gd name="T67" fmla="*/ 372 h 426"/>
                <a:gd name="T68" fmla="*/ 584 w 745"/>
                <a:gd name="T69" fmla="*/ 389 h 426"/>
                <a:gd name="T70" fmla="*/ 546 w 745"/>
                <a:gd name="T71" fmla="*/ 402 h 426"/>
                <a:gd name="T72" fmla="*/ 505 w 745"/>
                <a:gd name="T73" fmla="*/ 412 h 426"/>
                <a:gd name="T74" fmla="*/ 462 w 745"/>
                <a:gd name="T75" fmla="*/ 421 h 426"/>
                <a:gd name="T76" fmla="*/ 418 w 745"/>
                <a:gd name="T77" fmla="*/ 425 h 426"/>
                <a:gd name="T78" fmla="*/ 373 w 745"/>
                <a:gd name="T79" fmla="*/ 426 h 426"/>
                <a:gd name="T80" fmla="*/ 328 w 745"/>
                <a:gd name="T81" fmla="*/ 425 h 426"/>
                <a:gd name="T82" fmla="*/ 284 w 745"/>
                <a:gd name="T83" fmla="*/ 421 h 426"/>
                <a:gd name="T84" fmla="*/ 241 w 745"/>
                <a:gd name="T85" fmla="*/ 412 h 426"/>
                <a:gd name="T86" fmla="*/ 200 w 745"/>
                <a:gd name="T87" fmla="*/ 402 h 426"/>
                <a:gd name="T88" fmla="*/ 162 w 745"/>
                <a:gd name="T89" fmla="*/ 389 h 426"/>
                <a:gd name="T90" fmla="*/ 126 w 745"/>
                <a:gd name="T91" fmla="*/ 372 h 426"/>
                <a:gd name="T92" fmla="*/ 94 w 745"/>
                <a:gd name="T93" fmla="*/ 355 h 426"/>
                <a:gd name="T94" fmla="*/ 67 w 745"/>
                <a:gd name="T95" fmla="*/ 334 h 426"/>
                <a:gd name="T96" fmla="*/ 44 w 745"/>
                <a:gd name="T97" fmla="*/ 313 h 426"/>
                <a:gd name="T98" fmla="*/ 25 w 745"/>
                <a:gd name="T99" fmla="*/ 288 h 426"/>
                <a:gd name="T100" fmla="*/ 11 w 745"/>
                <a:gd name="T101" fmla="*/ 264 h 426"/>
                <a:gd name="T102" fmla="*/ 3 w 745"/>
                <a:gd name="T103" fmla="*/ 239 h 426"/>
                <a:gd name="T104" fmla="*/ 0 w 745"/>
                <a:gd name="T105" fmla="*/ 213 h 4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6">
                  <a:moveTo>
                    <a:pt x="0" y="213"/>
                  </a:moveTo>
                  <a:lnTo>
                    <a:pt x="3" y="188"/>
                  </a:lnTo>
                  <a:lnTo>
                    <a:pt x="11" y="162"/>
                  </a:lnTo>
                  <a:lnTo>
                    <a:pt x="25" y="138"/>
                  </a:lnTo>
                  <a:lnTo>
                    <a:pt x="44" y="114"/>
                  </a:lnTo>
                  <a:lnTo>
                    <a:pt x="67" y="92"/>
                  </a:lnTo>
                  <a:lnTo>
                    <a:pt x="94" y="72"/>
                  </a:lnTo>
                  <a:lnTo>
                    <a:pt x="126" y="54"/>
                  </a:lnTo>
                  <a:lnTo>
                    <a:pt x="162" y="38"/>
                  </a:lnTo>
                  <a:lnTo>
                    <a:pt x="200" y="24"/>
                  </a:lnTo>
                  <a:lnTo>
                    <a:pt x="241" y="14"/>
                  </a:lnTo>
                  <a:lnTo>
                    <a:pt x="284" y="6"/>
                  </a:lnTo>
                  <a:lnTo>
                    <a:pt x="328" y="1"/>
                  </a:lnTo>
                  <a:lnTo>
                    <a:pt x="373" y="0"/>
                  </a:lnTo>
                  <a:lnTo>
                    <a:pt x="418" y="1"/>
                  </a:lnTo>
                  <a:lnTo>
                    <a:pt x="462" y="6"/>
                  </a:lnTo>
                  <a:lnTo>
                    <a:pt x="505" y="14"/>
                  </a:lnTo>
                  <a:lnTo>
                    <a:pt x="546" y="24"/>
                  </a:lnTo>
                  <a:lnTo>
                    <a:pt x="584" y="38"/>
                  </a:lnTo>
                  <a:lnTo>
                    <a:pt x="620" y="54"/>
                  </a:lnTo>
                  <a:lnTo>
                    <a:pt x="651" y="72"/>
                  </a:lnTo>
                  <a:lnTo>
                    <a:pt x="679" y="92"/>
                  </a:lnTo>
                  <a:lnTo>
                    <a:pt x="702" y="114"/>
                  </a:lnTo>
                  <a:lnTo>
                    <a:pt x="721" y="138"/>
                  </a:lnTo>
                  <a:lnTo>
                    <a:pt x="735" y="162"/>
                  </a:lnTo>
                  <a:lnTo>
                    <a:pt x="743" y="188"/>
                  </a:lnTo>
                  <a:lnTo>
                    <a:pt x="745" y="213"/>
                  </a:lnTo>
                  <a:lnTo>
                    <a:pt x="743" y="239"/>
                  </a:lnTo>
                  <a:lnTo>
                    <a:pt x="735" y="264"/>
                  </a:lnTo>
                  <a:lnTo>
                    <a:pt x="721" y="288"/>
                  </a:lnTo>
                  <a:lnTo>
                    <a:pt x="702" y="313"/>
                  </a:lnTo>
                  <a:lnTo>
                    <a:pt x="679" y="334"/>
                  </a:lnTo>
                  <a:lnTo>
                    <a:pt x="651" y="355"/>
                  </a:lnTo>
                  <a:lnTo>
                    <a:pt x="620" y="372"/>
                  </a:lnTo>
                  <a:lnTo>
                    <a:pt x="584" y="389"/>
                  </a:lnTo>
                  <a:lnTo>
                    <a:pt x="546" y="402"/>
                  </a:lnTo>
                  <a:lnTo>
                    <a:pt x="505" y="412"/>
                  </a:lnTo>
                  <a:lnTo>
                    <a:pt x="462" y="421"/>
                  </a:lnTo>
                  <a:lnTo>
                    <a:pt x="418" y="425"/>
                  </a:lnTo>
                  <a:lnTo>
                    <a:pt x="373" y="426"/>
                  </a:lnTo>
                  <a:lnTo>
                    <a:pt x="328" y="425"/>
                  </a:lnTo>
                  <a:lnTo>
                    <a:pt x="284" y="421"/>
                  </a:lnTo>
                  <a:lnTo>
                    <a:pt x="241" y="412"/>
                  </a:lnTo>
                  <a:lnTo>
                    <a:pt x="200" y="402"/>
                  </a:lnTo>
                  <a:lnTo>
                    <a:pt x="162" y="389"/>
                  </a:lnTo>
                  <a:lnTo>
                    <a:pt x="126" y="372"/>
                  </a:lnTo>
                  <a:lnTo>
                    <a:pt x="94" y="355"/>
                  </a:lnTo>
                  <a:lnTo>
                    <a:pt x="67" y="334"/>
                  </a:lnTo>
                  <a:lnTo>
                    <a:pt x="44" y="313"/>
                  </a:lnTo>
                  <a:lnTo>
                    <a:pt x="25" y="288"/>
                  </a:lnTo>
                  <a:lnTo>
                    <a:pt x="11" y="264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7" name="Rectangle 16"/>
            <p:cNvSpPr>
              <a:spLocks noChangeArrowheads="1"/>
            </p:cNvSpPr>
            <p:nvPr/>
          </p:nvSpPr>
          <p:spPr bwMode="auto">
            <a:xfrm>
              <a:off x="1922" y="13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098" name="Freeform 17"/>
            <p:cNvSpPr/>
            <p:nvPr/>
          </p:nvSpPr>
          <p:spPr bwMode="auto">
            <a:xfrm>
              <a:off x="1726" y="2415"/>
              <a:ext cx="745" cy="427"/>
            </a:xfrm>
            <a:custGeom>
              <a:avLst/>
              <a:gdLst>
                <a:gd name="T0" fmla="*/ 0 w 745"/>
                <a:gd name="T1" fmla="*/ 213 h 427"/>
                <a:gd name="T2" fmla="*/ 3 w 745"/>
                <a:gd name="T3" fmla="*/ 188 h 427"/>
                <a:gd name="T4" fmla="*/ 11 w 745"/>
                <a:gd name="T5" fmla="*/ 162 h 427"/>
                <a:gd name="T6" fmla="*/ 25 w 745"/>
                <a:gd name="T7" fmla="*/ 137 h 427"/>
                <a:gd name="T8" fmla="*/ 44 w 745"/>
                <a:gd name="T9" fmla="*/ 114 h 427"/>
                <a:gd name="T10" fmla="*/ 67 w 745"/>
                <a:gd name="T11" fmla="*/ 91 h 427"/>
                <a:gd name="T12" fmla="*/ 94 w 745"/>
                <a:gd name="T13" fmla="*/ 71 h 427"/>
                <a:gd name="T14" fmla="*/ 126 w 745"/>
                <a:gd name="T15" fmla="*/ 53 h 427"/>
                <a:gd name="T16" fmla="*/ 162 w 745"/>
                <a:gd name="T17" fmla="*/ 37 h 427"/>
                <a:gd name="T18" fmla="*/ 200 w 745"/>
                <a:gd name="T19" fmla="*/ 24 h 427"/>
                <a:gd name="T20" fmla="*/ 241 w 745"/>
                <a:gd name="T21" fmla="*/ 13 h 427"/>
                <a:gd name="T22" fmla="*/ 284 w 745"/>
                <a:gd name="T23" fmla="*/ 6 h 427"/>
                <a:gd name="T24" fmla="*/ 328 w 745"/>
                <a:gd name="T25" fmla="*/ 2 h 427"/>
                <a:gd name="T26" fmla="*/ 373 w 745"/>
                <a:gd name="T27" fmla="*/ 0 h 427"/>
                <a:gd name="T28" fmla="*/ 418 w 745"/>
                <a:gd name="T29" fmla="*/ 2 h 427"/>
                <a:gd name="T30" fmla="*/ 462 w 745"/>
                <a:gd name="T31" fmla="*/ 6 h 427"/>
                <a:gd name="T32" fmla="*/ 505 w 745"/>
                <a:gd name="T33" fmla="*/ 13 h 427"/>
                <a:gd name="T34" fmla="*/ 546 w 745"/>
                <a:gd name="T35" fmla="*/ 24 h 427"/>
                <a:gd name="T36" fmla="*/ 584 w 745"/>
                <a:gd name="T37" fmla="*/ 37 h 427"/>
                <a:gd name="T38" fmla="*/ 620 w 745"/>
                <a:gd name="T39" fmla="*/ 53 h 427"/>
                <a:gd name="T40" fmla="*/ 651 w 745"/>
                <a:gd name="T41" fmla="*/ 71 h 427"/>
                <a:gd name="T42" fmla="*/ 679 w 745"/>
                <a:gd name="T43" fmla="*/ 91 h 427"/>
                <a:gd name="T44" fmla="*/ 702 w 745"/>
                <a:gd name="T45" fmla="*/ 114 h 427"/>
                <a:gd name="T46" fmla="*/ 721 w 745"/>
                <a:gd name="T47" fmla="*/ 137 h 427"/>
                <a:gd name="T48" fmla="*/ 735 w 745"/>
                <a:gd name="T49" fmla="*/ 162 h 427"/>
                <a:gd name="T50" fmla="*/ 743 w 745"/>
                <a:gd name="T51" fmla="*/ 188 h 427"/>
                <a:gd name="T52" fmla="*/ 745 w 745"/>
                <a:gd name="T53" fmla="*/ 213 h 427"/>
                <a:gd name="T54" fmla="*/ 743 w 745"/>
                <a:gd name="T55" fmla="*/ 239 h 427"/>
                <a:gd name="T56" fmla="*/ 735 w 745"/>
                <a:gd name="T57" fmla="*/ 265 h 427"/>
                <a:gd name="T58" fmla="*/ 721 w 745"/>
                <a:gd name="T59" fmla="*/ 289 h 427"/>
                <a:gd name="T60" fmla="*/ 702 w 745"/>
                <a:gd name="T61" fmla="*/ 311 h 427"/>
                <a:gd name="T62" fmla="*/ 679 w 745"/>
                <a:gd name="T63" fmla="*/ 334 h 427"/>
                <a:gd name="T64" fmla="*/ 651 w 745"/>
                <a:gd name="T65" fmla="*/ 354 h 427"/>
                <a:gd name="T66" fmla="*/ 620 w 745"/>
                <a:gd name="T67" fmla="*/ 373 h 427"/>
                <a:gd name="T68" fmla="*/ 584 w 745"/>
                <a:gd name="T69" fmla="*/ 388 h 427"/>
                <a:gd name="T70" fmla="*/ 546 w 745"/>
                <a:gd name="T71" fmla="*/ 401 h 427"/>
                <a:gd name="T72" fmla="*/ 505 w 745"/>
                <a:gd name="T73" fmla="*/ 412 h 427"/>
                <a:gd name="T74" fmla="*/ 462 w 745"/>
                <a:gd name="T75" fmla="*/ 419 h 427"/>
                <a:gd name="T76" fmla="*/ 418 w 745"/>
                <a:gd name="T77" fmla="*/ 425 h 427"/>
                <a:gd name="T78" fmla="*/ 373 w 745"/>
                <a:gd name="T79" fmla="*/ 427 h 427"/>
                <a:gd name="T80" fmla="*/ 328 w 745"/>
                <a:gd name="T81" fmla="*/ 425 h 427"/>
                <a:gd name="T82" fmla="*/ 284 w 745"/>
                <a:gd name="T83" fmla="*/ 419 h 427"/>
                <a:gd name="T84" fmla="*/ 241 w 745"/>
                <a:gd name="T85" fmla="*/ 412 h 427"/>
                <a:gd name="T86" fmla="*/ 200 w 745"/>
                <a:gd name="T87" fmla="*/ 401 h 427"/>
                <a:gd name="T88" fmla="*/ 162 w 745"/>
                <a:gd name="T89" fmla="*/ 388 h 427"/>
                <a:gd name="T90" fmla="*/ 126 w 745"/>
                <a:gd name="T91" fmla="*/ 373 h 427"/>
                <a:gd name="T92" fmla="*/ 94 w 745"/>
                <a:gd name="T93" fmla="*/ 354 h 427"/>
                <a:gd name="T94" fmla="*/ 67 w 745"/>
                <a:gd name="T95" fmla="*/ 334 h 427"/>
                <a:gd name="T96" fmla="*/ 44 w 745"/>
                <a:gd name="T97" fmla="*/ 311 h 427"/>
                <a:gd name="T98" fmla="*/ 25 w 745"/>
                <a:gd name="T99" fmla="*/ 289 h 427"/>
                <a:gd name="T100" fmla="*/ 11 w 745"/>
                <a:gd name="T101" fmla="*/ 265 h 427"/>
                <a:gd name="T102" fmla="*/ 3 w 745"/>
                <a:gd name="T103" fmla="*/ 239 h 427"/>
                <a:gd name="T104" fmla="*/ 0 w 745"/>
                <a:gd name="T105" fmla="*/ 213 h 42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7">
                  <a:moveTo>
                    <a:pt x="0" y="213"/>
                  </a:moveTo>
                  <a:lnTo>
                    <a:pt x="3" y="188"/>
                  </a:lnTo>
                  <a:lnTo>
                    <a:pt x="11" y="162"/>
                  </a:lnTo>
                  <a:lnTo>
                    <a:pt x="25" y="137"/>
                  </a:lnTo>
                  <a:lnTo>
                    <a:pt x="44" y="114"/>
                  </a:lnTo>
                  <a:lnTo>
                    <a:pt x="67" y="91"/>
                  </a:lnTo>
                  <a:lnTo>
                    <a:pt x="94" y="71"/>
                  </a:lnTo>
                  <a:lnTo>
                    <a:pt x="126" y="53"/>
                  </a:lnTo>
                  <a:lnTo>
                    <a:pt x="162" y="37"/>
                  </a:lnTo>
                  <a:lnTo>
                    <a:pt x="200" y="24"/>
                  </a:lnTo>
                  <a:lnTo>
                    <a:pt x="241" y="13"/>
                  </a:lnTo>
                  <a:lnTo>
                    <a:pt x="284" y="6"/>
                  </a:lnTo>
                  <a:lnTo>
                    <a:pt x="328" y="2"/>
                  </a:lnTo>
                  <a:lnTo>
                    <a:pt x="373" y="0"/>
                  </a:lnTo>
                  <a:lnTo>
                    <a:pt x="418" y="2"/>
                  </a:lnTo>
                  <a:lnTo>
                    <a:pt x="462" y="6"/>
                  </a:lnTo>
                  <a:lnTo>
                    <a:pt x="505" y="13"/>
                  </a:lnTo>
                  <a:lnTo>
                    <a:pt x="546" y="24"/>
                  </a:lnTo>
                  <a:lnTo>
                    <a:pt x="584" y="37"/>
                  </a:lnTo>
                  <a:lnTo>
                    <a:pt x="620" y="53"/>
                  </a:lnTo>
                  <a:lnTo>
                    <a:pt x="651" y="71"/>
                  </a:lnTo>
                  <a:lnTo>
                    <a:pt x="679" y="91"/>
                  </a:lnTo>
                  <a:lnTo>
                    <a:pt x="702" y="114"/>
                  </a:lnTo>
                  <a:lnTo>
                    <a:pt x="721" y="137"/>
                  </a:lnTo>
                  <a:lnTo>
                    <a:pt x="735" y="162"/>
                  </a:lnTo>
                  <a:lnTo>
                    <a:pt x="743" y="188"/>
                  </a:lnTo>
                  <a:lnTo>
                    <a:pt x="745" y="213"/>
                  </a:lnTo>
                  <a:lnTo>
                    <a:pt x="743" y="239"/>
                  </a:lnTo>
                  <a:lnTo>
                    <a:pt x="735" y="265"/>
                  </a:lnTo>
                  <a:lnTo>
                    <a:pt x="721" y="289"/>
                  </a:lnTo>
                  <a:lnTo>
                    <a:pt x="702" y="311"/>
                  </a:lnTo>
                  <a:lnTo>
                    <a:pt x="679" y="334"/>
                  </a:lnTo>
                  <a:lnTo>
                    <a:pt x="651" y="354"/>
                  </a:lnTo>
                  <a:lnTo>
                    <a:pt x="620" y="373"/>
                  </a:lnTo>
                  <a:lnTo>
                    <a:pt x="584" y="388"/>
                  </a:lnTo>
                  <a:lnTo>
                    <a:pt x="546" y="401"/>
                  </a:lnTo>
                  <a:lnTo>
                    <a:pt x="505" y="412"/>
                  </a:lnTo>
                  <a:lnTo>
                    <a:pt x="462" y="419"/>
                  </a:lnTo>
                  <a:lnTo>
                    <a:pt x="418" y="425"/>
                  </a:lnTo>
                  <a:lnTo>
                    <a:pt x="373" y="427"/>
                  </a:lnTo>
                  <a:lnTo>
                    <a:pt x="328" y="425"/>
                  </a:lnTo>
                  <a:lnTo>
                    <a:pt x="284" y="419"/>
                  </a:lnTo>
                  <a:lnTo>
                    <a:pt x="241" y="412"/>
                  </a:lnTo>
                  <a:lnTo>
                    <a:pt x="200" y="401"/>
                  </a:lnTo>
                  <a:lnTo>
                    <a:pt x="162" y="388"/>
                  </a:lnTo>
                  <a:lnTo>
                    <a:pt x="126" y="373"/>
                  </a:lnTo>
                  <a:lnTo>
                    <a:pt x="94" y="354"/>
                  </a:lnTo>
                  <a:lnTo>
                    <a:pt x="67" y="334"/>
                  </a:lnTo>
                  <a:lnTo>
                    <a:pt x="44" y="311"/>
                  </a:lnTo>
                  <a:lnTo>
                    <a:pt x="25" y="289"/>
                  </a:lnTo>
                  <a:lnTo>
                    <a:pt x="11" y="265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Rectangle 18"/>
            <p:cNvSpPr>
              <a:spLocks noChangeArrowheads="1"/>
            </p:cNvSpPr>
            <p:nvPr/>
          </p:nvSpPr>
          <p:spPr bwMode="auto">
            <a:xfrm>
              <a:off x="1851" y="2549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00" name="Freeform 19"/>
            <p:cNvSpPr/>
            <p:nvPr/>
          </p:nvSpPr>
          <p:spPr bwMode="auto">
            <a:xfrm>
              <a:off x="3316" y="1242"/>
              <a:ext cx="54" cy="52"/>
            </a:xfrm>
            <a:custGeom>
              <a:avLst/>
              <a:gdLst>
                <a:gd name="T0" fmla="*/ 2 w 54"/>
                <a:gd name="T1" fmla="*/ 0 h 52"/>
                <a:gd name="T2" fmla="*/ 0 w 54"/>
                <a:gd name="T3" fmla="*/ 52 h 52"/>
                <a:gd name="T4" fmla="*/ 54 w 54"/>
                <a:gd name="T5" fmla="*/ 27 h 52"/>
                <a:gd name="T6" fmla="*/ 2 w 54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2" y="0"/>
                  </a:moveTo>
                  <a:lnTo>
                    <a:pt x="0" y="52"/>
                  </a:lnTo>
                  <a:lnTo>
                    <a:pt x="54" y="2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1" name="Freeform 20"/>
            <p:cNvSpPr/>
            <p:nvPr/>
          </p:nvSpPr>
          <p:spPr bwMode="auto">
            <a:xfrm>
              <a:off x="3316" y="1242"/>
              <a:ext cx="54" cy="52"/>
            </a:xfrm>
            <a:custGeom>
              <a:avLst/>
              <a:gdLst>
                <a:gd name="T0" fmla="*/ 2 w 54"/>
                <a:gd name="T1" fmla="*/ 0 h 52"/>
                <a:gd name="T2" fmla="*/ 0 w 54"/>
                <a:gd name="T3" fmla="*/ 52 h 52"/>
                <a:gd name="T4" fmla="*/ 54 w 54"/>
                <a:gd name="T5" fmla="*/ 27 h 52"/>
                <a:gd name="T6" fmla="*/ 2 w 54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2" y="0"/>
                  </a:moveTo>
                  <a:lnTo>
                    <a:pt x="0" y="52"/>
                  </a:lnTo>
                  <a:lnTo>
                    <a:pt x="54" y="27"/>
                  </a:lnTo>
                  <a:lnTo>
                    <a:pt x="2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2" name="Line 21"/>
            <p:cNvSpPr>
              <a:spLocks noChangeShapeType="1"/>
            </p:cNvSpPr>
            <p:nvPr/>
          </p:nvSpPr>
          <p:spPr bwMode="auto">
            <a:xfrm>
              <a:off x="2373" y="1259"/>
              <a:ext cx="943" cy="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3" name="Freeform 22"/>
            <p:cNvSpPr/>
            <p:nvPr/>
          </p:nvSpPr>
          <p:spPr bwMode="auto">
            <a:xfrm>
              <a:off x="2574" y="1165"/>
              <a:ext cx="593" cy="192"/>
            </a:xfrm>
            <a:custGeom>
              <a:avLst/>
              <a:gdLst>
                <a:gd name="T0" fmla="*/ 0 w 593"/>
                <a:gd name="T1" fmla="*/ 185 h 192"/>
                <a:gd name="T2" fmla="*/ 592 w 593"/>
                <a:gd name="T3" fmla="*/ 192 h 192"/>
                <a:gd name="T4" fmla="*/ 593 w 593"/>
                <a:gd name="T5" fmla="*/ 7 h 192"/>
                <a:gd name="T6" fmla="*/ 3 w 593"/>
                <a:gd name="T7" fmla="*/ 0 h 192"/>
                <a:gd name="T8" fmla="*/ 0 w 593"/>
                <a:gd name="T9" fmla="*/ 185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3" h="192">
                  <a:moveTo>
                    <a:pt x="0" y="185"/>
                  </a:moveTo>
                  <a:lnTo>
                    <a:pt x="592" y="192"/>
                  </a:lnTo>
                  <a:lnTo>
                    <a:pt x="593" y="7"/>
                  </a:lnTo>
                  <a:lnTo>
                    <a:pt x="3" y="0"/>
                  </a:lnTo>
                  <a:lnTo>
                    <a:pt x="0" y="1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4" name="Rectangle 23"/>
            <p:cNvSpPr>
              <a:spLocks noChangeArrowheads="1"/>
            </p:cNvSpPr>
            <p:nvPr/>
          </p:nvSpPr>
          <p:spPr bwMode="auto">
            <a:xfrm>
              <a:off x="2587" y="1181"/>
              <a:ext cx="38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分派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05" name="Freeform 24"/>
            <p:cNvSpPr/>
            <p:nvPr/>
          </p:nvSpPr>
          <p:spPr bwMode="auto">
            <a:xfrm>
              <a:off x="2356" y="1530"/>
              <a:ext cx="54" cy="54"/>
            </a:xfrm>
            <a:custGeom>
              <a:avLst/>
              <a:gdLst>
                <a:gd name="T0" fmla="*/ 54 w 54"/>
                <a:gd name="T1" fmla="*/ 0 h 54"/>
                <a:gd name="T2" fmla="*/ 54 w 54"/>
                <a:gd name="T3" fmla="*/ 54 h 54"/>
                <a:gd name="T4" fmla="*/ 0 w 54"/>
                <a:gd name="T5" fmla="*/ 27 h 54"/>
                <a:gd name="T6" fmla="*/ 54 w 5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0"/>
                  </a:moveTo>
                  <a:lnTo>
                    <a:pt x="54" y="54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Freeform 25"/>
            <p:cNvSpPr/>
            <p:nvPr/>
          </p:nvSpPr>
          <p:spPr bwMode="auto">
            <a:xfrm>
              <a:off x="2356" y="1530"/>
              <a:ext cx="54" cy="54"/>
            </a:xfrm>
            <a:custGeom>
              <a:avLst/>
              <a:gdLst>
                <a:gd name="T0" fmla="*/ 54 w 54"/>
                <a:gd name="T1" fmla="*/ 0 h 54"/>
                <a:gd name="T2" fmla="*/ 54 w 54"/>
                <a:gd name="T3" fmla="*/ 54 h 54"/>
                <a:gd name="T4" fmla="*/ 0 w 54"/>
                <a:gd name="T5" fmla="*/ 27 h 54"/>
                <a:gd name="T6" fmla="*/ 54 w 5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0"/>
                  </a:moveTo>
                  <a:lnTo>
                    <a:pt x="54" y="54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7" name="Line 26"/>
            <p:cNvSpPr>
              <a:spLocks noChangeShapeType="1"/>
            </p:cNvSpPr>
            <p:nvPr/>
          </p:nvSpPr>
          <p:spPr bwMode="auto">
            <a:xfrm flipH="1" flipV="1">
              <a:off x="2410" y="1557"/>
              <a:ext cx="1011" cy="1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8" name="Freeform 27"/>
            <p:cNvSpPr/>
            <p:nvPr/>
          </p:nvSpPr>
          <p:spPr bwMode="auto">
            <a:xfrm>
              <a:off x="2628" y="1465"/>
              <a:ext cx="522" cy="189"/>
            </a:xfrm>
            <a:custGeom>
              <a:avLst/>
              <a:gdLst>
                <a:gd name="T0" fmla="*/ 0 w 522"/>
                <a:gd name="T1" fmla="*/ 184 h 189"/>
                <a:gd name="T2" fmla="*/ 519 w 522"/>
                <a:gd name="T3" fmla="*/ 189 h 189"/>
                <a:gd name="T4" fmla="*/ 522 w 522"/>
                <a:gd name="T5" fmla="*/ 4 h 189"/>
                <a:gd name="T6" fmla="*/ 2 w 522"/>
                <a:gd name="T7" fmla="*/ 0 h 189"/>
                <a:gd name="T8" fmla="*/ 0 w 522"/>
                <a:gd name="T9" fmla="*/ 184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2" h="189">
                  <a:moveTo>
                    <a:pt x="0" y="184"/>
                  </a:moveTo>
                  <a:lnTo>
                    <a:pt x="519" y="189"/>
                  </a:lnTo>
                  <a:lnTo>
                    <a:pt x="522" y="4"/>
                  </a:lnTo>
                  <a:lnTo>
                    <a:pt x="2" y="0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9" name="Rectangle 28"/>
            <p:cNvSpPr>
              <a:spLocks noChangeArrowheads="1"/>
            </p:cNvSpPr>
            <p:nvPr/>
          </p:nvSpPr>
          <p:spPr bwMode="auto">
            <a:xfrm>
              <a:off x="2640" y="1479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超时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10" name="Freeform 29"/>
            <p:cNvSpPr/>
            <p:nvPr/>
          </p:nvSpPr>
          <p:spPr bwMode="auto">
            <a:xfrm>
              <a:off x="2471" y="2573"/>
              <a:ext cx="58" cy="55"/>
            </a:xfrm>
            <a:custGeom>
              <a:avLst/>
              <a:gdLst>
                <a:gd name="T0" fmla="*/ 24 w 58"/>
                <a:gd name="T1" fmla="*/ 0 h 55"/>
                <a:gd name="T2" fmla="*/ 58 w 58"/>
                <a:gd name="T3" fmla="*/ 41 h 55"/>
                <a:gd name="T4" fmla="*/ 0 w 58"/>
                <a:gd name="T5" fmla="*/ 55 h 55"/>
                <a:gd name="T6" fmla="*/ 24 w 5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5">
                  <a:moveTo>
                    <a:pt x="24" y="0"/>
                  </a:moveTo>
                  <a:lnTo>
                    <a:pt x="58" y="41"/>
                  </a:lnTo>
                  <a:lnTo>
                    <a:pt x="0" y="5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1" name="Freeform 30"/>
            <p:cNvSpPr/>
            <p:nvPr/>
          </p:nvSpPr>
          <p:spPr bwMode="auto">
            <a:xfrm>
              <a:off x="2471" y="2573"/>
              <a:ext cx="58" cy="55"/>
            </a:xfrm>
            <a:custGeom>
              <a:avLst/>
              <a:gdLst>
                <a:gd name="T0" fmla="*/ 24 w 58"/>
                <a:gd name="T1" fmla="*/ 0 h 55"/>
                <a:gd name="T2" fmla="*/ 58 w 58"/>
                <a:gd name="T3" fmla="*/ 41 h 55"/>
                <a:gd name="T4" fmla="*/ 0 w 58"/>
                <a:gd name="T5" fmla="*/ 55 h 55"/>
                <a:gd name="T6" fmla="*/ 24 w 5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5">
                  <a:moveTo>
                    <a:pt x="24" y="0"/>
                  </a:moveTo>
                  <a:lnTo>
                    <a:pt x="58" y="41"/>
                  </a:lnTo>
                  <a:lnTo>
                    <a:pt x="0" y="55"/>
                  </a:lnTo>
                  <a:lnTo>
                    <a:pt x="2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2" name="Line 31"/>
            <p:cNvSpPr>
              <a:spLocks noChangeShapeType="1"/>
            </p:cNvSpPr>
            <p:nvPr/>
          </p:nvSpPr>
          <p:spPr bwMode="auto">
            <a:xfrm flipH="1">
              <a:off x="2512" y="1615"/>
              <a:ext cx="1148" cy="97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3" name="Freeform 32"/>
            <p:cNvSpPr/>
            <p:nvPr/>
          </p:nvSpPr>
          <p:spPr bwMode="auto">
            <a:xfrm>
              <a:off x="2804" y="1862"/>
              <a:ext cx="519" cy="516"/>
            </a:xfrm>
            <a:custGeom>
              <a:avLst/>
              <a:gdLst>
                <a:gd name="T0" fmla="*/ 230 w 519"/>
                <a:gd name="T1" fmla="*/ 516 h 516"/>
                <a:gd name="T2" fmla="*/ 519 w 519"/>
                <a:gd name="T3" fmla="*/ 270 h 516"/>
                <a:gd name="T4" fmla="*/ 290 w 519"/>
                <a:gd name="T5" fmla="*/ 0 h 516"/>
                <a:gd name="T6" fmla="*/ 0 w 519"/>
                <a:gd name="T7" fmla="*/ 245 h 516"/>
                <a:gd name="T8" fmla="*/ 230 w 519"/>
                <a:gd name="T9" fmla="*/ 516 h 5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9" h="516">
                  <a:moveTo>
                    <a:pt x="230" y="516"/>
                  </a:moveTo>
                  <a:lnTo>
                    <a:pt x="519" y="270"/>
                  </a:lnTo>
                  <a:lnTo>
                    <a:pt x="290" y="0"/>
                  </a:lnTo>
                  <a:lnTo>
                    <a:pt x="0" y="245"/>
                  </a:lnTo>
                  <a:lnTo>
                    <a:pt x="230" y="5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Rectangle 33"/>
            <p:cNvSpPr>
              <a:spLocks noChangeArrowheads="1"/>
            </p:cNvSpPr>
            <p:nvPr/>
          </p:nvSpPr>
          <p:spPr bwMode="auto">
            <a:xfrm rot="19140000">
              <a:off x="2857" y="2005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15" name="Rectangle 34"/>
            <p:cNvSpPr>
              <a:spLocks noChangeArrowheads="1"/>
            </p:cNvSpPr>
            <p:nvPr/>
          </p:nvSpPr>
          <p:spPr bwMode="auto">
            <a:xfrm rot="19140000">
              <a:off x="2996" y="211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等待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16" name="Freeform 35"/>
            <p:cNvSpPr/>
            <p:nvPr/>
          </p:nvSpPr>
          <p:spPr bwMode="auto">
            <a:xfrm>
              <a:off x="2072" y="1615"/>
              <a:ext cx="54" cy="54"/>
            </a:xfrm>
            <a:custGeom>
              <a:avLst/>
              <a:gdLst>
                <a:gd name="T0" fmla="*/ 54 w 54"/>
                <a:gd name="T1" fmla="*/ 54 h 54"/>
                <a:gd name="T2" fmla="*/ 0 w 54"/>
                <a:gd name="T3" fmla="*/ 54 h 54"/>
                <a:gd name="T4" fmla="*/ 27 w 54"/>
                <a:gd name="T5" fmla="*/ 0 h 54"/>
                <a:gd name="T6" fmla="*/ 54 w 54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54"/>
                  </a:moveTo>
                  <a:lnTo>
                    <a:pt x="0" y="54"/>
                  </a:lnTo>
                  <a:lnTo>
                    <a:pt x="27" y="0"/>
                  </a:lnTo>
                  <a:lnTo>
                    <a:pt x="54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Freeform 36"/>
            <p:cNvSpPr/>
            <p:nvPr/>
          </p:nvSpPr>
          <p:spPr bwMode="auto">
            <a:xfrm>
              <a:off x="2072" y="1615"/>
              <a:ext cx="54" cy="54"/>
            </a:xfrm>
            <a:custGeom>
              <a:avLst/>
              <a:gdLst>
                <a:gd name="T0" fmla="*/ 54 w 54"/>
                <a:gd name="T1" fmla="*/ 54 h 54"/>
                <a:gd name="T2" fmla="*/ 0 w 54"/>
                <a:gd name="T3" fmla="*/ 54 h 54"/>
                <a:gd name="T4" fmla="*/ 27 w 54"/>
                <a:gd name="T5" fmla="*/ 0 h 54"/>
                <a:gd name="T6" fmla="*/ 54 w 54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4">
                  <a:moveTo>
                    <a:pt x="54" y="54"/>
                  </a:moveTo>
                  <a:lnTo>
                    <a:pt x="0" y="54"/>
                  </a:lnTo>
                  <a:lnTo>
                    <a:pt x="27" y="0"/>
                  </a:lnTo>
                  <a:lnTo>
                    <a:pt x="54" y="54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8" name="Line 37"/>
            <p:cNvSpPr>
              <a:spLocks noChangeShapeType="1"/>
            </p:cNvSpPr>
            <p:nvPr/>
          </p:nvSpPr>
          <p:spPr bwMode="auto">
            <a:xfrm flipV="1">
              <a:off x="2099" y="1669"/>
              <a:ext cx="1" cy="74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Rectangle 38"/>
            <p:cNvSpPr>
              <a:spLocks noChangeArrowheads="1"/>
            </p:cNvSpPr>
            <p:nvPr/>
          </p:nvSpPr>
          <p:spPr bwMode="auto">
            <a:xfrm>
              <a:off x="1919" y="1790"/>
              <a:ext cx="354" cy="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120" name="Rectangle 39"/>
            <p:cNvSpPr>
              <a:spLocks noChangeArrowheads="1"/>
            </p:cNvSpPr>
            <p:nvPr/>
          </p:nvSpPr>
          <p:spPr bwMode="auto">
            <a:xfrm rot="16200000">
              <a:off x="1892" y="1968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1" name="Rectangle 40"/>
            <p:cNvSpPr>
              <a:spLocks noChangeArrowheads="1"/>
            </p:cNvSpPr>
            <p:nvPr/>
          </p:nvSpPr>
          <p:spPr bwMode="auto">
            <a:xfrm rot="16200000">
              <a:off x="2062" y="2004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2" name="Freeform 41"/>
            <p:cNvSpPr/>
            <p:nvPr/>
          </p:nvSpPr>
          <p:spPr bwMode="auto">
            <a:xfrm>
              <a:off x="4795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3" name="Freeform 42"/>
            <p:cNvSpPr/>
            <p:nvPr/>
          </p:nvSpPr>
          <p:spPr bwMode="auto">
            <a:xfrm>
              <a:off x="4795" y="1375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4" name="Line 43"/>
            <p:cNvSpPr>
              <a:spLocks noChangeShapeType="1"/>
            </p:cNvSpPr>
            <p:nvPr/>
          </p:nvSpPr>
          <p:spPr bwMode="auto">
            <a:xfrm>
              <a:off x="4033" y="1402"/>
              <a:ext cx="76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Rectangle 44"/>
            <p:cNvSpPr>
              <a:spLocks noChangeArrowheads="1"/>
            </p:cNvSpPr>
            <p:nvPr/>
          </p:nvSpPr>
          <p:spPr bwMode="auto">
            <a:xfrm>
              <a:off x="4180" y="1307"/>
              <a:ext cx="520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126" name="Rectangle 45"/>
            <p:cNvSpPr>
              <a:spLocks noChangeArrowheads="1"/>
            </p:cNvSpPr>
            <p:nvPr/>
          </p:nvSpPr>
          <p:spPr bwMode="auto">
            <a:xfrm>
              <a:off x="4192" y="1323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释放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7" name="Freeform 46"/>
            <p:cNvSpPr/>
            <p:nvPr/>
          </p:nvSpPr>
          <p:spPr bwMode="auto">
            <a:xfrm>
              <a:off x="165" y="2415"/>
              <a:ext cx="745" cy="427"/>
            </a:xfrm>
            <a:custGeom>
              <a:avLst/>
              <a:gdLst>
                <a:gd name="T0" fmla="*/ 0 w 745"/>
                <a:gd name="T1" fmla="*/ 213 h 427"/>
                <a:gd name="T2" fmla="*/ 3 w 745"/>
                <a:gd name="T3" fmla="*/ 188 h 427"/>
                <a:gd name="T4" fmla="*/ 12 w 745"/>
                <a:gd name="T5" fmla="*/ 162 h 427"/>
                <a:gd name="T6" fmla="*/ 24 w 745"/>
                <a:gd name="T7" fmla="*/ 137 h 427"/>
                <a:gd name="T8" fmla="*/ 43 w 745"/>
                <a:gd name="T9" fmla="*/ 114 h 427"/>
                <a:gd name="T10" fmla="*/ 67 w 745"/>
                <a:gd name="T11" fmla="*/ 91 h 427"/>
                <a:gd name="T12" fmla="*/ 94 w 745"/>
                <a:gd name="T13" fmla="*/ 71 h 427"/>
                <a:gd name="T14" fmla="*/ 127 w 745"/>
                <a:gd name="T15" fmla="*/ 53 h 427"/>
                <a:gd name="T16" fmla="*/ 162 w 745"/>
                <a:gd name="T17" fmla="*/ 37 h 427"/>
                <a:gd name="T18" fmla="*/ 200 w 745"/>
                <a:gd name="T19" fmla="*/ 24 h 427"/>
                <a:gd name="T20" fmla="*/ 241 w 745"/>
                <a:gd name="T21" fmla="*/ 13 h 427"/>
                <a:gd name="T22" fmla="*/ 284 w 745"/>
                <a:gd name="T23" fmla="*/ 6 h 427"/>
                <a:gd name="T24" fmla="*/ 328 w 745"/>
                <a:gd name="T25" fmla="*/ 2 h 427"/>
                <a:gd name="T26" fmla="*/ 373 w 745"/>
                <a:gd name="T27" fmla="*/ 0 h 427"/>
                <a:gd name="T28" fmla="*/ 419 w 745"/>
                <a:gd name="T29" fmla="*/ 2 h 427"/>
                <a:gd name="T30" fmla="*/ 463 w 745"/>
                <a:gd name="T31" fmla="*/ 6 h 427"/>
                <a:gd name="T32" fmla="*/ 505 w 745"/>
                <a:gd name="T33" fmla="*/ 13 h 427"/>
                <a:gd name="T34" fmla="*/ 546 w 745"/>
                <a:gd name="T35" fmla="*/ 24 h 427"/>
                <a:gd name="T36" fmla="*/ 585 w 745"/>
                <a:gd name="T37" fmla="*/ 37 h 427"/>
                <a:gd name="T38" fmla="*/ 620 w 745"/>
                <a:gd name="T39" fmla="*/ 53 h 427"/>
                <a:gd name="T40" fmla="*/ 651 w 745"/>
                <a:gd name="T41" fmla="*/ 71 h 427"/>
                <a:gd name="T42" fmla="*/ 680 w 745"/>
                <a:gd name="T43" fmla="*/ 91 h 427"/>
                <a:gd name="T44" fmla="*/ 703 w 745"/>
                <a:gd name="T45" fmla="*/ 114 h 427"/>
                <a:gd name="T46" fmla="*/ 721 w 745"/>
                <a:gd name="T47" fmla="*/ 137 h 427"/>
                <a:gd name="T48" fmla="*/ 735 w 745"/>
                <a:gd name="T49" fmla="*/ 162 h 427"/>
                <a:gd name="T50" fmla="*/ 742 w 745"/>
                <a:gd name="T51" fmla="*/ 188 h 427"/>
                <a:gd name="T52" fmla="*/ 745 w 745"/>
                <a:gd name="T53" fmla="*/ 213 h 427"/>
                <a:gd name="T54" fmla="*/ 742 w 745"/>
                <a:gd name="T55" fmla="*/ 239 h 427"/>
                <a:gd name="T56" fmla="*/ 735 w 745"/>
                <a:gd name="T57" fmla="*/ 265 h 427"/>
                <a:gd name="T58" fmla="*/ 721 w 745"/>
                <a:gd name="T59" fmla="*/ 289 h 427"/>
                <a:gd name="T60" fmla="*/ 703 w 745"/>
                <a:gd name="T61" fmla="*/ 311 h 427"/>
                <a:gd name="T62" fmla="*/ 680 w 745"/>
                <a:gd name="T63" fmla="*/ 334 h 427"/>
                <a:gd name="T64" fmla="*/ 651 w 745"/>
                <a:gd name="T65" fmla="*/ 354 h 427"/>
                <a:gd name="T66" fmla="*/ 620 w 745"/>
                <a:gd name="T67" fmla="*/ 373 h 427"/>
                <a:gd name="T68" fmla="*/ 585 w 745"/>
                <a:gd name="T69" fmla="*/ 388 h 427"/>
                <a:gd name="T70" fmla="*/ 546 w 745"/>
                <a:gd name="T71" fmla="*/ 401 h 427"/>
                <a:gd name="T72" fmla="*/ 505 w 745"/>
                <a:gd name="T73" fmla="*/ 412 h 427"/>
                <a:gd name="T74" fmla="*/ 463 w 745"/>
                <a:gd name="T75" fmla="*/ 419 h 427"/>
                <a:gd name="T76" fmla="*/ 419 w 745"/>
                <a:gd name="T77" fmla="*/ 425 h 427"/>
                <a:gd name="T78" fmla="*/ 373 w 745"/>
                <a:gd name="T79" fmla="*/ 427 h 427"/>
                <a:gd name="T80" fmla="*/ 328 w 745"/>
                <a:gd name="T81" fmla="*/ 425 h 427"/>
                <a:gd name="T82" fmla="*/ 284 w 745"/>
                <a:gd name="T83" fmla="*/ 419 h 427"/>
                <a:gd name="T84" fmla="*/ 241 w 745"/>
                <a:gd name="T85" fmla="*/ 412 h 427"/>
                <a:gd name="T86" fmla="*/ 200 w 745"/>
                <a:gd name="T87" fmla="*/ 401 h 427"/>
                <a:gd name="T88" fmla="*/ 162 w 745"/>
                <a:gd name="T89" fmla="*/ 388 h 427"/>
                <a:gd name="T90" fmla="*/ 127 w 745"/>
                <a:gd name="T91" fmla="*/ 373 h 427"/>
                <a:gd name="T92" fmla="*/ 94 w 745"/>
                <a:gd name="T93" fmla="*/ 354 h 427"/>
                <a:gd name="T94" fmla="*/ 67 w 745"/>
                <a:gd name="T95" fmla="*/ 334 h 427"/>
                <a:gd name="T96" fmla="*/ 43 w 745"/>
                <a:gd name="T97" fmla="*/ 311 h 427"/>
                <a:gd name="T98" fmla="*/ 24 w 745"/>
                <a:gd name="T99" fmla="*/ 289 h 427"/>
                <a:gd name="T100" fmla="*/ 12 w 745"/>
                <a:gd name="T101" fmla="*/ 265 h 427"/>
                <a:gd name="T102" fmla="*/ 3 w 745"/>
                <a:gd name="T103" fmla="*/ 239 h 427"/>
                <a:gd name="T104" fmla="*/ 0 w 745"/>
                <a:gd name="T105" fmla="*/ 213 h 42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45" h="427">
                  <a:moveTo>
                    <a:pt x="0" y="213"/>
                  </a:moveTo>
                  <a:lnTo>
                    <a:pt x="3" y="188"/>
                  </a:lnTo>
                  <a:lnTo>
                    <a:pt x="12" y="162"/>
                  </a:lnTo>
                  <a:lnTo>
                    <a:pt x="24" y="137"/>
                  </a:lnTo>
                  <a:lnTo>
                    <a:pt x="43" y="114"/>
                  </a:lnTo>
                  <a:lnTo>
                    <a:pt x="67" y="91"/>
                  </a:lnTo>
                  <a:lnTo>
                    <a:pt x="94" y="71"/>
                  </a:lnTo>
                  <a:lnTo>
                    <a:pt x="127" y="53"/>
                  </a:lnTo>
                  <a:lnTo>
                    <a:pt x="162" y="37"/>
                  </a:lnTo>
                  <a:lnTo>
                    <a:pt x="200" y="24"/>
                  </a:lnTo>
                  <a:lnTo>
                    <a:pt x="241" y="13"/>
                  </a:lnTo>
                  <a:lnTo>
                    <a:pt x="284" y="6"/>
                  </a:lnTo>
                  <a:lnTo>
                    <a:pt x="328" y="2"/>
                  </a:lnTo>
                  <a:lnTo>
                    <a:pt x="373" y="0"/>
                  </a:lnTo>
                  <a:lnTo>
                    <a:pt x="419" y="2"/>
                  </a:lnTo>
                  <a:lnTo>
                    <a:pt x="463" y="6"/>
                  </a:lnTo>
                  <a:lnTo>
                    <a:pt x="505" y="13"/>
                  </a:lnTo>
                  <a:lnTo>
                    <a:pt x="546" y="24"/>
                  </a:lnTo>
                  <a:lnTo>
                    <a:pt x="585" y="37"/>
                  </a:lnTo>
                  <a:lnTo>
                    <a:pt x="620" y="53"/>
                  </a:lnTo>
                  <a:lnTo>
                    <a:pt x="651" y="71"/>
                  </a:lnTo>
                  <a:lnTo>
                    <a:pt x="680" y="91"/>
                  </a:lnTo>
                  <a:lnTo>
                    <a:pt x="703" y="114"/>
                  </a:lnTo>
                  <a:lnTo>
                    <a:pt x="721" y="137"/>
                  </a:lnTo>
                  <a:lnTo>
                    <a:pt x="735" y="162"/>
                  </a:lnTo>
                  <a:lnTo>
                    <a:pt x="742" y="188"/>
                  </a:lnTo>
                  <a:lnTo>
                    <a:pt x="745" y="213"/>
                  </a:lnTo>
                  <a:lnTo>
                    <a:pt x="742" y="239"/>
                  </a:lnTo>
                  <a:lnTo>
                    <a:pt x="735" y="265"/>
                  </a:lnTo>
                  <a:lnTo>
                    <a:pt x="721" y="289"/>
                  </a:lnTo>
                  <a:lnTo>
                    <a:pt x="703" y="311"/>
                  </a:lnTo>
                  <a:lnTo>
                    <a:pt x="680" y="334"/>
                  </a:lnTo>
                  <a:lnTo>
                    <a:pt x="651" y="354"/>
                  </a:lnTo>
                  <a:lnTo>
                    <a:pt x="620" y="373"/>
                  </a:lnTo>
                  <a:lnTo>
                    <a:pt x="585" y="388"/>
                  </a:lnTo>
                  <a:lnTo>
                    <a:pt x="546" y="401"/>
                  </a:lnTo>
                  <a:lnTo>
                    <a:pt x="505" y="412"/>
                  </a:lnTo>
                  <a:lnTo>
                    <a:pt x="463" y="419"/>
                  </a:lnTo>
                  <a:lnTo>
                    <a:pt x="419" y="425"/>
                  </a:lnTo>
                  <a:lnTo>
                    <a:pt x="373" y="427"/>
                  </a:lnTo>
                  <a:lnTo>
                    <a:pt x="328" y="425"/>
                  </a:lnTo>
                  <a:lnTo>
                    <a:pt x="284" y="419"/>
                  </a:lnTo>
                  <a:lnTo>
                    <a:pt x="241" y="412"/>
                  </a:lnTo>
                  <a:lnTo>
                    <a:pt x="200" y="401"/>
                  </a:lnTo>
                  <a:lnTo>
                    <a:pt x="162" y="388"/>
                  </a:lnTo>
                  <a:lnTo>
                    <a:pt x="127" y="373"/>
                  </a:lnTo>
                  <a:lnTo>
                    <a:pt x="94" y="354"/>
                  </a:lnTo>
                  <a:lnTo>
                    <a:pt x="67" y="334"/>
                  </a:lnTo>
                  <a:lnTo>
                    <a:pt x="43" y="311"/>
                  </a:lnTo>
                  <a:lnTo>
                    <a:pt x="24" y="289"/>
                  </a:lnTo>
                  <a:lnTo>
                    <a:pt x="12" y="265"/>
                  </a:lnTo>
                  <a:lnTo>
                    <a:pt x="3" y="239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8" name="Rectangle 47"/>
            <p:cNvSpPr>
              <a:spLocks noChangeArrowheads="1"/>
            </p:cNvSpPr>
            <p:nvPr/>
          </p:nvSpPr>
          <p:spPr bwMode="auto">
            <a:xfrm>
              <a:off x="336" y="2544"/>
              <a:ext cx="32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29" name="Freeform 48"/>
            <p:cNvSpPr/>
            <p:nvPr/>
          </p:nvSpPr>
          <p:spPr bwMode="auto">
            <a:xfrm>
              <a:off x="910" y="2601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0" name="Freeform 49"/>
            <p:cNvSpPr/>
            <p:nvPr/>
          </p:nvSpPr>
          <p:spPr bwMode="auto">
            <a:xfrm>
              <a:off x="910" y="2601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1" name="Line 50"/>
            <p:cNvSpPr>
              <a:spLocks noChangeShapeType="1"/>
            </p:cNvSpPr>
            <p:nvPr/>
          </p:nvSpPr>
          <p:spPr bwMode="auto">
            <a:xfrm>
              <a:off x="964" y="2628"/>
              <a:ext cx="76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2" name="Rectangle 51"/>
            <p:cNvSpPr>
              <a:spLocks noChangeArrowheads="1"/>
            </p:cNvSpPr>
            <p:nvPr/>
          </p:nvSpPr>
          <p:spPr bwMode="auto">
            <a:xfrm>
              <a:off x="1058" y="2533"/>
              <a:ext cx="520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133" name="Rectangle 52"/>
            <p:cNvSpPr>
              <a:spLocks noChangeArrowheads="1"/>
            </p:cNvSpPr>
            <p:nvPr/>
          </p:nvSpPr>
          <p:spPr bwMode="auto">
            <a:xfrm>
              <a:off x="1070" y="2549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6134" name="Freeform 53"/>
            <p:cNvSpPr/>
            <p:nvPr/>
          </p:nvSpPr>
          <p:spPr bwMode="auto">
            <a:xfrm>
              <a:off x="1808" y="1568"/>
              <a:ext cx="58" cy="54"/>
            </a:xfrm>
            <a:custGeom>
              <a:avLst/>
              <a:gdLst>
                <a:gd name="T0" fmla="*/ 33 w 58"/>
                <a:gd name="T1" fmla="*/ 54 h 54"/>
                <a:gd name="T2" fmla="*/ 0 w 58"/>
                <a:gd name="T3" fmla="*/ 13 h 54"/>
                <a:gd name="T4" fmla="*/ 58 w 58"/>
                <a:gd name="T5" fmla="*/ 0 h 54"/>
                <a:gd name="T6" fmla="*/ 33 w 5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33" y="54"/>
                  </a:moveTo>
                  <a:lnTo>
                    <a:pt x="0" y="13"/>
                  </a:lnTo>
                  <a:lnTo>
                    <a:pt x="58" y="0"/>
                  </a:lnTo>
                  <a:lnTo>
                    <a:pt x="3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5" name="Freeform 54"/>
            <p:cNvSpPr/>
            <p:nvPr/>
          </p:nvSpPr>
          <p:spPr bwMode="auto">
            <a:xfrm>
              <a:off x="1808" y="1568"/>
              <a:ext cx="58" cy="54"/>
            </a:xfrm>
            <a:custGeom>
              <a:avLst/>
              <a:gdLst>
                <a:gd name="T0" fmla="*/ 33 w 58"/>
                <a:gd name="T1" fmla="*/ 54 h 54"/>
                <a:gd name="T2" fmla="*/ 0 w 58"/>
                <a:gd name="T3" fmla="*/ 13 h 54"/>
                <a:gd name="T4" fmla="*/ 58 w 58"/>
                <a:gd name="T5" fmla="*/ 0 h 54"/>
                <a:gd name="T6" fmla="*/ 33 w 5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33" y="54"/>
                  </a:moveTo>
                  <a:lnTo>
                    <a:pt x="0" y="13"/>
                  </a:lnTo>
                  <a:lnTo>
                    <a:pt x="58" y="0"/>
                  </a:lnTo>
                  <a:lnTo>
                    <a:pt x="33" y="54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Line 55"/>
            <p:cNvSpPr>
              <a:spLocks noChangeShapeType="1"/>
            </p:cNvSpPr>
            <p:nvPr/>
          </p:nvSpPr>
          <p:spPr bwMode="auto">
            <a:xfrm flipV="1">
              <a:off x="746" y="1601"/>
              <a:ext cx="1079" cy="85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7" name="Freeform 56"/>
            <p:cNvSpPr/>
            <p:nvPr/>
          </p:nvSpPr>
          <p:spPr bwMode="auto">
            <a:xfrm>
              <a:off x="1015" y="1753"/>
              <a:ext cx="579" cy="510"/>
            </a:xfrm>
            <a:custGeom>
              <a:avLst/>
              <a:gdLst>
                <a:gd name="T0" fmla="*/ 114 w 579"/>
                <a:gd name="T1" fmla="*/ 510 h 510"/>
                <a:gd name="T2" fmla="*/ 579 w 579"/>
                <a:gd name="T3" fmla="*/ 145 h 510"/>
                <a:gd name="T4" fmla="*/ 465 w 579"/>
                <a:gd name="T5" fmla="*/ 0 h 510"/>
                <a:gd name="T6" fmla="*/ 0 w 579"/>
                <a:gd name="T7" fmla="*/ 365 h 510"/>
                <a:gd name="T8" fmla="*/ 114 w 579"/>
                <a:gd name="T9" fmla="*/ 510 h 5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9" h="510">
                  <a:moveTo>
                    <a:pt x="114" y="510"/>
                  </a:moveTo>
                  <a:lnTo>
                    <a:pt x="579" y="145"/>
                  </a:lnTo>
                  <a:lnTo>
                    <a:pt x="465" y="0"/>
                  </a:lnTo>
                  <a:lnTo>
                    <a:pt x="0" y="365"/>
                  </a:lnTo>
                  <a:lnTo>
                    <a:pt x="114" y="5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8" name="Rectangle 57"/>
            <p:cNvSpPr>
              <a:spLocks noChangeArrowheads="1"/>
            </p:cNvSpPr>
            <p:nvPr/>
          </p:nvSpPr>
          <p:spPr bwMode="auto">
            <a:xfrm rot="19260000">
              <a:off x="1069" y="2023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6084" name="Rectangle 5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单挂起进程模型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28933" y="4851400"/>
            <a:ext cx="4631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加入内存资源的管理后，挂起状态出现了</a:t>
            </a:r>
            <a:endParaRPr lang="en-US" altLang="zh-CN" dirty="0"/>
          </a:p>
          <a:p>
            <a:r>
              <a:rPr lang="zh-CN" altLang="en-US" dirty="0"/>
              <a:t>挂起的过程，对于用户态程序而言不可见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6FD15ADE-4202-4304-9CAE-3693F97EC9F5}" type="slidenum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grpSp>
        <p:nvGrpSpPr>
          <p:cNvPr id="48131" name="Group 3"/>
          <p:cNvGrpSpPr/>
          <p:nvPr/>
        </p:nvGrpSpPr>
        <p:grpSpPr bwMode="auto">
          <a:xfrm>
            <a:off x="2127250" y="1700213"/>
            <a:ext cx="8540750" cy="4608512"/>
            <a:chOff x="213" y="263"/>
            <a:chExt cx="5380" cy="2903"/>
          </a:xfrm>
        </p:grpSpPr>
        <p:sp>
          <p:nvSpPr>
            <p:cNvPr id="48133" name="Freeform 4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4" name="Freeform 5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5" name="Line 6"/>
            <p:cNvSpPr>
              <a:spLocks noChangeShapeType="1"/>
            </p:cNvSpPr>
            <p:nvPr/>
          </p:nvSpPr>
          <p:spPr bwMode="auto">
            <a:xfrm flipH="1">
              <a:off x="622" y="474"/>
              <a:ext cx="1134" cy="10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6" name="Freeform 7"/>
            <p:cNvSpPr/>
            <p:nvPr/>
          </p:nvSpPr>
          <p:spPr bwMode="auto">
            <a:xfrm>
              <a:off x="967" y="804"/>
              <a:ext cx="402" cy="387"/>
            </a:xfrm>
            <a:custGeom>
              <a:avLst/>
              <a:gdLst>
                <a:gd name="T0" fmla="*/ 122 w 402"/>
                <a:gd name="T1" fmla="*/ 387 h 387"/>
                <a:gd name="T2" fmla="*/ 402 w 402"/>
                <a:gd name="T3" fmla="*/ 136 h 387"/>
                <a:gd name="T4" fmla="*/ 280 w 402"/>
                <a:gd name="T5" fmla="*/ 0 h 387"/>
                <a:gd name="T6" fmla="*/ 0 w 402"/>
                <a:gd name="T7" fmla="*/ 251 h 387"/>
                <a:gd name="T8" fmla="*/ 122 w 402"/>
                <a:gd name="T9" fmla="*/ 387 h 3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2" h="387">
                  <a:moveTo>
                    <a:pt x="122" y="387"/>
                  </a:moveTo>
                  <a:lnTo>
                    <a:pt x="402" y="136"/>
                  </a:lnTo>
                  <a:lnTo>
                    <a:pt x="280" y="0"/>
                  </a:lnTo>
                  <a:lnTo>
                    <a:pt x="0" y="251"/>
                  </a:lnTo>
                  <a:lnTo>
                    <a:pt x="122" y="3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Rectangle 8"/>
            <p:cNvSpPr>
              <a:spLocks noChangeArrowheads="1"/>
            </p:cNvSpPr>
            <p:nvPr/>
          </p:nvSpPr>
          <p:spPr bwMode="auto">
            <a:xfrm rot="-2520000">
              <a:off x="996" y="93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en-US" altLang="zh-CN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Admit</a:t>
              </a:r>
              <a:endParaRPr kumimoji="1" lang="en-US" altLang="zh-CN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38" name="Freeform 9"/>
            <p:cNvSpPr/>
            <p:nvPr/>
          </p:nvSpPr>
          <p:spPr bwMode="auto">
            <a:xfrm>
              <a:off x="3308" y="1525"/>
              <a:ext cx="739" cy="423"/>
            </a:xfrm>
            <a:custGeom>
              <a:avLst/>
              <a:gdLst>
                <a:gd name="T0" fmla="*/ 0 w 739"/>
                <a:gd name="T1" fmla="*/ 212 h 423"/>
                <a:gd name="T2" fmla="*/ 2 w 739"/>
                <a:gd name="T3" fmla="*/ 186 h 423"/>
                <a:gd name="T4" fmla="*/ 10 w 739"/>
                <a:gd name="T5" fmla="*/ 161 h 423"/>
                <a:gd name="T6" fmla="*/ 24 w 739"/>
                <a:gd name="T7" fmla="*/ 137 h 423"/>
                <a:gd name="T8" fmla="*/ 42 w 739"/>
                <a:gd name="T9" fmla="*/ 113 h 423"/>
                <a:gd name="T10" fmla="*/ 65 w 739"/>
                <a:gd name="T11" fmla="*/ 92 h 423"/>
                <a:gd name="T12" fmla="*/ 93 w 739"/>
                <a:gd name="T13" fmla="*/ 71 h 423"/>
                <a:gd name="T14" fmla="*/ 124 w 739"/>
                <a:gd name="T15" fmla="*/ 53 h 423"/>
                <a:gd name="T16" fmla="*/ 159 w 739"/>
                <a:gd name="T17" fmla="*/ 37 h 423"/>
                <a:gd name="T18" fmla="*/ 197 w 739"/>
                <a:gd name="T19" fmla="*/ 24 h 423"/>
                <a:gd name="T20" fmla="*/ 238 w 739"/>
                <a:gd name="T21" fmla="*/ 13 h 423"/>
                <a:gd name="T22" fmla="*/ 280 w 739"/>
                <a:gd name="T23" fmla="*/ 6 h 423"/>
                <a:gd name="T24" fmla="*/ 324 w 739"/>
                <a:gd name="T25" fmla="*/ 2 h 423"/>
                <a:gd name="T26" fmla="*/ 369 w 739"/>
                <a:gd name="T27" fmla="*/ 0 h 423"/>
                <a:gd name="T28" fmla="*/ 414 w 739"/>
                <a:gd name="T29" fmla="*/ 2 h 423"/>
                <a:gd name="T30" fmla="*/ 457 w 739"/>
                <a:gd name="T31" fmla="*/ 6 h 423"/>
                <a:gd name="T32" fmla="*/ 500 w 739"/>
                <a:gd name="T33" fmla="*/ 13 h 423"/>
                <a:gd name="T34" fmla="*/ 540 w 739"/>
                <a:gd name="T35" fmla="*/ 24 h 423"/>
                <a:gd name="T36" fmla="*/ 578 w 739"/>
                <a:gd name="T37" fmla="*/ 37 h 423"/>
                <a:gd name="T38" fmla="*/ 613 w 739"/>
                <a:gd name="T39" fmla="*/ 53 h 423"/>
                <a:gd name="T40" fmla="*/ 646 w 739"/>
                <a:gd name="T41" fmla="*/ 71 h 423"/>
                <a:gd name="T42" fmla="*/ 673 w 739"/>
                <a:gd name="T43" fmla="*/ 92 h 423"/>
                <a:gd name="T44" fmla="*/ 695 w 739"/>
                <a:gd name="T45" fmla="*/ 113 h 423"/>
                <a:gd name="T46" fmla="*/ 713 w 739"/>
                <a:gd name="T47" fmla="*/ 137 h 423"/>
                <a:gd name="T48" fmla="*/ 727 w 739"/>
                <a:gd name="T49" fmla="*/ 161 h 423"/>
                <a:gd name="T50" fmla="*/ 736 w 739"/>
                <a:gd name="T51" fmla="*/ 186 h 423"/>
                <a:gd name="T52" fmla="*/ 739 w 739"/>
                <a:gd name="T53" fmla="*/ 212 h 423"/>
                <a:gd name="T54" fmla="*/ 736 w 739"/>
                <a:gd name="T55" fmla="*/ 237 h 423"/>
                <a:gd name="T56" fmla="*/ 727 w 739"/>
                <a:gd name="T57" fmla="*/ 263 h 423"/>
                <a:gd name="T58" fmla="*/ 713 w 739"/>
                <a:gd name="T59" fmla="*/ 286 h 423"/>
                <a:gd name="T60" fmla="*/ 695 w 739"/>
                <a:gd name="T61" fmla="*/ 309 h 423"/>
                <a:gd name="T62" fmla="*/ 673 w 739"/>
                <a:gd name="T63" fmla="*/ 332 h 423"/>
                <a:gd name="T64" fmla="*/ 646 w 739"/>
                <a:gd name="T65" fmla="*/ 351 h 423"/>
                <a:gd name="T66" fmla="*/ 613 w 739"/>
                <a:gd name="T67" fmla="*/ 370 h 423"/>
                <a:gd name="T68" fmla="*/ 578 w 739"/>
                <a:gd name="T69" fmla="*/ 385 h 423"/>
                <a:gd name="T70" fmla="*/ 540 w 739"/>
                <a:gd name="T71" fmla="*/ 399 h 423"/>
                <a:gd name="T72" fmla="*/ 500 w 739"/>
                <a:gd name="T73" fmla="*/ 409 h 423"/>
                <a:gd name="T74" fmla="*/ 457 w 739"/>
                <a:gd name="T75" fmla="*/ 416 h 423"/>
                <a:gd name="T76" fmla="*/ 414 w 739"/>
                <a:gd name="T77" fmla="*/ 422 h 423"/>
                <a:gd name="T78" fmla="*/ 369 w 739"/>
                <a:gd name="T79" fmla="*/ 423 h 423"/>
                <a:gd name="T80" fmla="*/ 324 w 739"/>
                <a:gd name="T81" fmla="*/ 422 h 423"/>
                <a:gd name="T82" fmla="*/ 280 w 739"/>
                <a:gd name="T83" fmla="*/ 416 h 423"/>
                <a:gd name="T84" fmla="*/ 238 w 739"/>
                <a:gd name="T85" fmla="*/ 409 h 423"/>
                <a:gd name="T86" fmla="*/ 197 w 739"/>
                <a:gd name="T87" fmla="*/ 399 h 423"/>
                <a:gd name="T88" fmla="*/ 159 w 739"/>
                <a:gd name="T89" fmla="*/ 385 h 423"/>
                <a:gd name="T90" fmla="*/ 124 w 739"/>
                <a:gd name="T91" fmla="*/ 370 h 423"/>
                <a:gd name="T92" fmla="*/ 93 w 739"/>
                <a:gd name="T93" fmla="*/ 351 h 423"/>
                <a:gd name="T94" fmla="*/ 65 w 739"/>
                <a:gd name="T95" fmla="*/ 332 h 423"/>
                <a:gd name="T96" fmla="*/ 42 w 739"/>
                <a:gd name="T97" fmla="*/ 309 h 423"/>
                <a:gd name="T98" fmla="*/ 24 w 739"/>
                <a:gd name="T99" fmla="*/ 286 h 423"/>
                <a:gd name="T100" fmla="*/ 10 w 739"/>
                <a:gd name="T101" fmla="*/ 263 h 423"/>
                <a:gd name="T102" fmla="*/ 2 w 739"/>
                <a:gd name="T103" fmla="*/ 237 h 423"/>
                <a:gd name="T104" fmla="*/ 0 w 739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9" h="423">
                  <a:moveTo>
                    <a:pt x="0" y="212"/>
                  </a:moveTo>
                  <a:lnTo>
                    <a:pt x="2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500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3" y="92"/>
                  </a:lnTo>
                  <a:lnTo>
                    <a:pt x="695" y="113"/>
                  </a:lnTo>
                  <a:lnTo>
                    <a:pt x="713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9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3" y="286"/>
                  </a:lnTo>
                  <a:lnTo>
                    <a:pt x="695" y="309"/>
                  </a:lnTo>
                  <a:lnTo>
                    <a:pt x="673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500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2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9" name="Rectangle 10"/>
            <p:cNvSpPr>
              <a:spLocks noChangeArrowheads="1"/>
            </p:cNvSpPr>
            <p:nvPr/>
          </p:nvSpPr>
          <p:spPr bwMode="auto">
            <a:xfrm>
              <a:off x="3431" y="1658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运行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0" name="Freeform 11"/>
            <p:cNvSpPr/>
            <p:nvPr/>
          </p:nvSpPr>
          <p:spPr bwMode="auto">
            <a:xfrm>
              <a:off x="213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6 h 423"/>
                <a:gd name="T32" fmla="*/ 501 w 738"/>
                <a:gd name="T33" fmla="*/ 13 h 423"/>
                <a:gd name="T34" fmla="*/ 542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6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6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2 w 738"/>
                <a:gd name="T71" fmla="*/ 399 h 423"/>
                <a:gd name="T72" fmla="*/ 501 w 738"/>
                <a:gd name="T73" fmla="*/ 409 h 423"/>
                <a:gd name="T74" fmla="*/ 459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6"/>
                  </a:lnTo>
                  <a:lnTo>
                    <a:pt x="501" y="13"/>
                  </a:lnTo>
                  <a:lnTo>
                    <a:pt x="542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6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6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2" y="399"/>
                  </a:lnTo>
                  <a:lnTo>
                    <a:pt x="501" y="409"/>
                  </a:lnTo>
                  <a:lnTo>
                    <a:pt x="459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1" name="Rectangle 12"/>
            <p:cNvSpPr>
              <a:spLocks noChangeArrowheads="1"/>
            </p:cNvSpPr>
            <p:nvPr/>
          </p:nvSpPr>
          <p:spPr bwMode="auto">
            <a:xfrm>
              <a:off x="407" y="157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2" name="Rectangle 13"/>
            <p:cNvSpPr>
              <a:spLocks noChangeArrowheads="1"/>
            </p:cNvSpPr>
            <p:nvPr/>
          </p:nvSpPr>
          <p:spPr bwMode="auto">
            <a:xfrm>
              <a:off x="337" y="174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3" name="Freeform 14"/>
            <p:cNvSpPr/>
            <p:nvPr/>
          </p:nvSpPr>
          <p:spPr bwMode="auto">
            <a:xfrm>
              <a:off x="4855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0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5 w 738"/>
                <a:gd name="T11" fmla="*/ 92 h 423"/>
                <a:gd name="T12" fmla="*/ 93 w 738"/>
                <a:gd name="T13" fmla="*/ 71 h 423"/>
                <a:gd name="T14" fmla="*/ 124 w 738"/>
                <a:gd name="T15" fmla="*/ 53 h 423"/>
                <a:gd name="T16" fmla="*/ 159 w 738"/>
                <a:gd name="T17" fmla="*/ 37 h 423"/>
                <a:gd name="T18" fmla="*/ 197 w 738"/>
                <a:gd name="T19" fmla="*/ 24 h 423"/>
                <a:gd name="T20" fmla="*/ 238 w 738"/>
                <a:gd name="T21" fmla="*/ 13 h 423"/>
                <a:gd name="T22" fmla="*/ 280 w 738"/>
                <a:gd name="T23" fmla="*/ 6 h 423"/>
                <a:gd name="T24" fmla="*/ 324 w 738"/>
                <a:gd name="T25" fmla="*/ 2 h 423"/>
                <a:gd name="T26" fmla="*/ 369 w 738"/>
                <a:gd name="T27" fmla="*/ 0 h 423"/>
                <a:gd name="T28" fmla="*/ 414 w 738"/>
                <a:gd name="T29" fmla="*/ 2 h 423"/>
                <a:gd name="T30" fmla="*/ 457 w 738"/>
                <a:gd name="T31" fmla="*/ 6 h 423"/>
                <a:gd name="T32" fmla="*/ 499 w 738"/>
                <a:gd name="T33" fmla="*/ 13 h 423"/>
                <a:gd name="T34" fmla="*/ 540 w 738"/>
                <a:gd name="T35" fmla="*/ 24 h 423"/>
                <a:gd name="T36" fmla="*/ 578 w 738"/>
                <a:gd name="T37" fmla="*/ 37 h 423"/>
                <a:gd name="T38" fmla="*/ 613 w 738"/>
                <a:gd name="T39" fmla="*/ 53 h 423"/>
                <a:gd name="T40" fmla="*/ 646 w 738"/>
                <a:gd name="T41" fmla="*/ 71 h 423"/>
                <a:gd name="T42" fmla="*/ 672 w 738"/>
                <a:gd name="T43" fmla="*/ 92 h 423"/>
                <a:gd name="T44" fmla="*/ 696 w 738"/>
                <a:gd name="T45" fmla="*/ 113 h 423"/>
                <a:gd name="T46" fmla="*/ 715 w 738"/>
                <a:gd name="T47" fmla="*/ 137 h 423"/>
                <a:gd name="T48" fmla="*/ 727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7 w 738"/>
                <a:gd name="T57" fmla="*/ 263 h 423"/>
                <a:gd name="T58" fmla="*/ 715 w 738"/>
                <a:gd name="T59" fmla="*/ 286 h 423"/>
                <a:gd name="T60" fmla="*/ 696 w 738"/>
                <a:gd name="T61" fmla="*/ 309 h 423"/>
                <a:gd name="T62" fmla="*/ 672 w 738"/>
                <a:gd name="T63" fmla="*/ 332 h 423"/>
                <a:gd name="T64" fmla="*/ 646 w 738"/>
                <a:gd name="T65" fmla="*/ 351 h 423"/>
                <a:gd name="T66" fmla="*/ 613 w 738"/>
                <a:gd name="T67" fmla="*/ 370 h 423"/>
                <a:gd name="T68" fmla="*/ 578 w 738"/>
                <a:gd name="T69" fmla="*/ 385 h 423"/>
                <a:gd name="T70" fmla="*/ 540 w 738"/>
                <a:gd name="T71" fmla="*/ 399 h 423"/>
                <a:gd name="T72" fmla="*/ 499 w 738"/>
                <a:gd name="T73" fmla="*/ 409 h 423"/>
                <a:gd name="T74" fmla="*/ 457 w 738"/>
                <a:gd name="T75" fmla="*/ 416 h 423"/>
                <a:gd name="T76" fmla="*/ 414 w 738"/>
                <a:gd name="T77" fmla="*/ 422 h 423"/>
                <a:gd name="T78" fmla="*/ 369 w 738"/>
                <a:gd name="T79" fmla="*/ 423 h 423"/>
                <a:gd name="T80" fmla="*/ 324 w 738"/>
                <a:gd name="T81" fmla="*/ 422 h 423"/>
                <a:gd name="T82" fmla="*/ 280 w 738"/>
                <a:gd name="T83" fmla="*/ 416 h 423"/>
                <a:gd name="T84" fmla="*/ 238 w 738"/>
                <a:gd name="T85" fmla="*/ 409 h 423"/>
                <a:gd name="T86" fmla="*/ 197 w 738"/>
                <a:gd name="T87" fmla="*/ 399 h 423"/>
                <a:gd name="T88" fmla="*/ 159 w 738"/>
                <a:gd name="T89" fmla="*/ 385 h 423"/>
                <a:gd name="T90" fmla="*/ 124 w 738"/>
                <a:gd name="T91" fmla="*/ 370 h 423"/>
                <a:gd name="T92" fmla="*/ 93 w 738"/>
                <a:gd name="T93" fmla="*/ 351 h 423"/>
                <a:gd name="T94" fmla="*/ 65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0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499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2" y="92"/>
                  </a:lnTo>
                  <a:lnTo>
                    <a:pt x="696" y="113"/>
                  </a:lnTo>
                  <a:lnTo>
                    <a:pt x="715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5" y="286"/>
                  </a:lnTo>
                  <a:lnTo>
                    <a:pt x="696" y="309"/>
                  </a:lnTo>
                  <a:lnTo>
                    <a:pt x="672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499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Rectangle 15"/>
            <p:cNvSpPr>
              <a:spLocks noChangeArrowheads="1"/>
            </p:cNvSpPr>
            <p:nvPr/>
          </p:nvSpPr>
          <p:spPr bwMode="auto">
            <a:xfrm>
              <a:off x="5083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退出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5" name="Freeform 16"/>
            <p:cNvSpPr/>
            <p:nvPr/>
          </p:nvSpPr>
          <p:spPr bwMode="auto">
            <a:xfrm>
              <a:off x="1760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6 h 423"/>
                <a:gd name="T32" fmla="*/ 501 w 738"/>
                <a:gd name="T33" fmla="*/ 13 h 423"/>
                <a:gd name="T34" fmla="*/ 541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5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5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1 w 738"/>
                <a:gd name="T71" fmla="*/ 399 h 423"/>
                <a:gd name="T72" fmla="*/ 501 w 738"/>
                <a:gd name="T73" fmla="*/ 409 h 423"/>
                <a:gd name="T74" fmla="*/ 458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4 w 738"/>
                <a:gd name="T97" fmla="*/ 309 h 423"/>
                <a:gd name="T98" fmla="*/ 25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6"/>
                  </a:lnTo>
                  <a:lnTo>
                    <a:pt x="501" y="13"/>
                  </a:lnTo>
                  <a:lnTo>
                    <a:pt x="541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5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5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1" y="399"/>
                  </a:lnTo>
                  <a:lnTo>
                    <a:pt x="501" y="409"/>
                  </a:lnTo>
                  <a:lnTo>
                    <a:pt x="458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4" y="309"/>
                  </a:lnTo>
                  <a:lnTo>
                    <a:pt x="25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6" name="Rectangle 17"/>
            <p:cNvSpPr>
              <a:spLocks noChangeArrowheads="1"/>
            </p:cNvSpPr>
            <p:nvPr/>
          </p:nvSpPr>
          <p:spPr bwMode="auto">
            <a:xfrm>
              <a:off x="195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7" name="Freeform 18"/>
            <p:cNvSpPr/>
            <p:nvPr/>
          </p:nvSpPr>
          <p:spPr bwMode="auto">
            <a:xfrm>
              <a:off x="1760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7 h 423"/>
                <a:gd name="T32" fmla="*/ 501 w 738"/>
                <a:gd name="T33" fmla="*/ 14 h 423"/>
                <a:gd name="T34" fmla="*/ 541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5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5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1 w 738"/>
                <a:gd name="T71" fmla="*/ 399 h 423"/>
                <a:gd name="T72" fmla="*/ 501 w 738"/>
                <a:gd name="T73" fmla="*/ 410 h 423"/>
                <a:gd name="T74" fmla="*/ 458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4 w 738"/>
                <a:gd name="T97" fmla="*/ 310 h 423"/>
                <a:gd name="T98" fmla="*/ 25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7"/>
                  </a:lnTo>
                  <a:lnTo>
                    <a:pt x="501" y="14"/>
                  </a:lnTo>
                  <a:lnTo>
                    <a:pt x="541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5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5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1" y="399"/>
                  </a:lnTo>
                  <a:lnTo>
                    <a:pt x="501" y="410"/>
                  </a:lnTo>
                  <a:lnTo>
                    <a:pt x="458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4" y="310"/>
                  </a:lnTo>
                  <a:lnTo>
                    <a:pt x="25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8" name="Rectangle 19"/>
            <p:cNvSpPr>
              <a:spLocks noChangeArrowheads="1"/>
            </p:cNvSpPr>
            <p:nvPr/>
          </p:nvSpPr>
          <p:spPr bwMode="auto">
            <a:xfrm>
              <a:off x="1884" y="28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9" name="Freeform 20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0" name="Freeform 21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1" name="Line 22"/>
            <p:cNvSpPr>
              <a:spLocks noChangeShapeType="1"/>
            </p:cNvSpPr>
            <p:nvPr/>
          </p:nvSpPr>
          <p:spPr bwMode="auto">
            <a:xfrm>
              <a:off x="2467" y="1651"/>
              <a:ext cx="808" cy="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2" name="Freeform 23"/>
            <p:cNvSpPr/>
            <p:nvPr/>
          </p:nvSpPr>
          <p:spPr bwMode="auto">
            <a:xfrm>
              <a:off x="2602" y="1559"/>
              <a:ext cx="590" cy="196"/>
            </a:xfrm>
            <a:custGeom>
              <a:avLst/>
              <a:gdLst>
                <a:gd name="T0" fmla="*/ 0 w 590"/>
                <a:gd name="T1" fmla="*/ 183 h 196"/>
                <a:gd name="T2" fmla="*/ 587 w 590"/>
                <a:gd name="T3" fmla="*/ 196 h 196"/>
                <a:gd name="T4" fmla="*/ 590 w 590"/>
                <a:gd name="T5" fmla="*/ 13 h 196"/>
                <a:gd name="T6" fmla="*/ 5 w 590"/>
                <a:gd name="T7" fmla="*/ 0 h 196"/>
                <a:gd name="T8" fmla="*/ 0 w 590"/>
                <a:gd name="T9" fmla="*/ 183 h 1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0" h="196">
                  <a:moveTo>
                    <a:pt x="0" y="183"/>
                  </a:moveTo>
                  <a:lnTo>
                    <a:pt x="587" y="196"/>
                  </a:lnTo>
                  <a:lnTo>
                    <a:pt x="590" y="13"/>
                  </a:lnTo>
                  <a:lnTo>
                    <a:pt x="5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3" name="Rectangle 24"/>
            <p:cNvSpPr>
              <a:spLocks noChangeArrowheads="1"/>
            </p:cNvSpPr>
            <p:nvPr/>
          </p:nvSpPr>
          <p:spPr bwMode="auto">
            <a:xfrm rot="60000">
              <a:off x="2615" y="1577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分派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4" name="Freeform 25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5" name="Freeform 26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6" name="Line 27"/>
            <p:cNvSpPr>
              <a:spLocks noChangeShapeType="1"/>
            </p:cNvSpPr>
            <p:nvPr/>
          </p:nvSpPr>
          <p:spPr bwMode="auto">
            <a:xfrm flipH="1" flipV="1">
              <a:off x="2511" y="1834"/>
              <a:ext cx="84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7" name="Freeform 28"/>
            <p:cNvSpPr/>
            <p:nvPr/>
          </p:nvSpPr>
          <p:spPr bwMode="auto">
            <a:xfrm>
              <a:off x="2647" y="1741"/>
              <a:ext cx="518" cy="186"/>
            </a:xfrm>
            <a:custGeom>
              <a:avLst/>
              <a:gdLst>
                <a:gd name="T0" fmla="*/ 0 w 518"/>
                <a:gd name="T1" fmla="*/ 183 h 186"/>
                <a:gd name="T2" fmla="*/ 516 w 518"/>
                <a:gd name="T3" fmla="*/ 186 h 186"/>
                <a:gd name="T4" fmla="*/ 518 w 518"/>
                <a:gd name="T5" fmla="*/ 3 h 186"/>
                <a:gd name="T6" fmla="*/ 2 w 518"/>
                <a:gd name="T7" fmla="*/ 0 h 186"/>
                <a:gd name="T8" fmla="*/ 0 w 51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8" h="186">
                  <a:moveTo>
                    <a:pt x="0" y="183"/>
                  </a:moveTo>
                  <a:lnTo>
                    <a:pt x="516" y="186"/>
                  </a:lnTo>
                  <a:lnTo>
                    <a:pt x="51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Rectangle 29"/>
            <p:cNvSpPr>
              <a:spLocks noChangeArrowheads="1"/>
            </p:cNvSpPr>
            <p:nvPr/>
          </p:nvSpPr>
          <p:spPr bwMode="auto">
            <a:xfrm>
              <a:off x="2660" y="175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超时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9" name="Freeform 30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Freeform 31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1" name="Line 32"/>
            <p:cNvSpPr>
              <a:spLocks noChangeShapeType="1"/>
            </p:cNvSpPr>
            <p:nvPr/>
          </p:nvSpPr>
          <p:spPr bwMode="auto">
            <a:xfrm flipH="1">
              <a:off x="2539" y="1948"/>
              <a:ext cx="1138" cy="9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2" name="Freeform 33"/>
            <p:cNvSpPr/>
            <p:nvPr/>
          </p:nvSpPr>
          <p:spPr bwMode="auto">
            <a:xfrm>
              <a:off x="2829" y="2192"/>
              <a:ext cx="514" cy="512"/>
            </a:xfrm>
            <a:custGeom>
              <a:avLst/>
              <a:gdLst>
                <a:gd name="T0" fmla="*/ 228 w 514"/>
                <a:gd name="T1" fmla="*/ 512 h 512"/>
                <a:gd name="T2" fmla="*/ 514 w 514"/>
                <a:gd name="T3" fmla="*/ 269 h 512"/>
                <a:gd name="T4" fmla="*/ 287 w 514"/>
                <a:gd name="T5" fmla="*/ 0 h 512"/>
                <a:gd name="T6" fmla="*/ 0 w 514"/>
                <a:gd name="T7" fmla="*/ 244 h 512"/>
                <a:gd name="T8" fmla="*/ 228 w 514"/>
                <a:gd name="T9" fmla="*/ 512 h 5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4" h="512">
                  <a:moveTo>
                    <a:pt x="228" y="512"/>
                  </a:moveTo>
                  <a:lnTo>
                    <a:pt x="514" y="269"/>
                  </a:lnTo>
                  <a:lnTo>
                    <a:pt x="287" y="0"/>
                  </a:lnTo>
                  <a:lnTo>
                    <a:pt x="0" y="244"/>
                  </a:lnTo>
                  <a:lnTo>
                    <a:pt x="228" y="5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3" name="Rectangle 34"/>
            <p:cNvSpPr>
              <a:spLocks noChangeArrowheads="1"/>
            </p:cNvSpPr>
            <p:nvPr/>
          </p:nvSpPr>
          <p:spPr bwMode="auto">
            <a:xfrm rot="-2460000">
              <a:off x="2865" y="2337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4" name="Rectangle 35"/>
            <p:cNvSpPr>
              <a:spLocks noChangeArrowheads="1"/>
            </p:cNvSpPr>
            <p:nvPr/>
          </p:nvSpPr>
          <p:spPr bwMode="auto">
            <a:xfrm rot="-2460000">
              <a:off x="3002" y="244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等待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5" name="Freeform 36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6" name="Freeform 37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7" name="Line 38"/>
            <p:cNvSpPr>
              <a:spLocks noChangeShapeType="1"/>
            </p:cNvSpPr>
            <p:nvPr/>
          </p:nvSpPr>
          <p:spPr bwMode="auto">
            <a:xfrm flipV="1">
              <a:off x="2130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8" name="Rectangle 39"/>
            <p:cNvSpPr>
              <a:spLocks noChangeArrowheads="1"/>
            </p:cNvSpPr>
            <p:nvPr/>
          </p:nvSpPr>
          <p:spPr bwMode="auto">
            <a:xfrm>
              <a:off x="1951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69" name="Rectangle 40"/>
            <p:cNvSpPr>
              <a:spLocks noChangeArrowheads="1"/>
            </p:cNvSpPr>
            <p:nvPr/>
          </p:nvSpPr>
          <p:spPr bwMode="auto">
            <a:xfrm rot="-5400000">
              <a:off x="1916" y="231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0" name="Rectangle 41"/>
            <p:cNvSpPr>
              <a:spLocks noChangeArrowheads="1"/>
            </p:cNvSpPr>
            <p:nvPr/>
          </p:nvSpPr>
          <p:spPr bwMode="auto">
            <a:xfrm rot="-5400000">
              <a:off x="2052" y="231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1" name="Freeform 42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2" name="Freeform 43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Line 44"/>
            <p:cNvSpPr>
              <a:spLocks noChangeShapeType="1"/>
            </p:cNvSpPr>
            <p:nvPr/>
          </p:nvSpPr>
          <p:spPr bwMode="auto">
            <a:xfrm>
              <a:off x="4047" y="1737"/>
              <a:ext cx="75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4" name="Rectangle 45"/>
            <p:cNvSpPr>
              <a:spLocks noChangeArrowheads="1"/>
            </p:cNvSpPr>
            <p:nvPr/>
          </p:nvSpPr>
          <p:spPr bwMode="auto">
            <a:xfrm>
              <a:off x="4193" y="1642"/>
              <a:ext cx="515" cy="1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75" name="Rectangle 46"/>
            <p:cNvSpPr>
              <a:spLocks noChangeArrowheads="1"/>
            </p:cNvSpPr>
            <p:nvPr/>
          </p:nvSpPr>
          <p:spPr bwMode="auto">
            <a:xfrm>
              <a:off x="420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释放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6" name="Freeform 47"/>
            <p:cNvSpPr/>
            <p:nvPr/>
          </p:nvSpPr>
          <p:spPr bwMode="auto">
            <a:xfrm>
              <a:off x="213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7 h 423"/>
                <a:gd name="T32" fmla="*/ 501 w 738"/>
                <a:gd name="T33" fmla="*/ 14 h 423"/>
                <a:gd name="T34" fmla="*/ 542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6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6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2 w 738"/>
                <a:gd name="T71" fmla="*/ 399 h 423"/>
                <a:gd name="T72" fmla="*/ 501 w 738"/>
                <a:gd name="T73" fmla="*/ 410 h 423"/>
                <a:gd name="T74" fmla="*/ 459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2 w 738"/>
                <a:gd name="T97" fmla="*/ 310 h 423"/>
                <a:gd name="T98" fmla="*/ 24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7"/>
                  </a:lnTo>
                  <a:lnTo>
                    <a:pt x="501" y="14"/>
                  </a:lnTo>
                  <a:lnTo>
                    <a:pt x="542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6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6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2" y="399"/>
                  </a:lnTo>
                  <a:lnTo>
                    <a:pt x="501" y="410"/>
                  </a:lnTo>
                  <a:lnTo>
                    <a:pt x="459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2" y="310"/>
                  </a:lnTo>
                  <a:lnTo>
                    <a:pt x="24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Rectangle 48"/>
            <p:cNvSpPr>
              <a:spLocks noChangeArrowheads="1"/>
            </p:cNvSpPr>
            <p:nvPr/>
          </p:nvSpPr>
          <p:spPr bwMode="auto">
            <a:xfrm>
              <a:off x="432" y="2736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8" name="Rectangle 49"/>
            <p:cNvSpPr>
              <a:spLocks noChangeArrowheads="1"/>
            </p:cNvSpPr>
            <p:nvPr/>
          </p:nvSpPr>
          <p:spPr bwMode="auto">
            <a:xfrm>
              <a:off x="337" y="2958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9" name="Freeform 50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0" name="Freeform 51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1" name="Line 52"/>
            <p:cNvSpPr>
              <a:spLocks noChangeShapeType="1"/>
            </p:cNvSpPr>
            <p:nvPr/>
          </p:nvSpPr>
          <p:spPr bwMode="auto">
            <a:xfrm flipV="1">
              <a:off x="932" y="3073"/>
              <a:ext cx="895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2" name="Freeform 53"/>
            <p:cNvSpPr/>
            <p:nvPr/>
          </p:nvSpPr>
          <p:spPr bwMode="auto">
            <a:xfrm>
              <a:off x="1095" y="2980"/>
              <a:ext cx="516" cy="186"/>
            </a:xfrm>
            <a:custGeom>
              <a:avLst/>
              <a:gdLst>
                <a:gd name="T0" fmla="*/ 0 w 516"/>
                <a:gd name="T1" fmla="*/ 186 h 186"/>
                <a:gd name="T2" fmla="*/ 516 w 516"/>
                <a:gd name="T3" fmla="*/ 183 h 186"/>
                <a:gd name="T4" fmla="*/ 515 w 516"/>
                <a:gd name="T5" fmla="*/ 0 h 186"/>
                <a:gd name="T6" fmla="*/ 0 w 516"/>
                <a:gd name="T7" fmla="*/ 3 h 186"/>
                <a:gd name="T8" fmla="*/ 0 w 516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6" h="186">
                  <a:moveTo>
                    <a:pt x="0" y="186"/>
                  </a:moveTo>
                  <a:lnTo>
                    <a:pt x="516" y="183"/>
                  </a:lnTo>
                  <a:lnTo>
                    <a:pt x="515" y="0"/>
                  </a:lnTo>
                  <a:lnTo>
                    <a:pt x="0" y="3"/>
                  </a:lnTo>
                  <a:lnTo>
                    <a:pt x="0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3" name="Rectangle 54"/>
            <p:cNvSpPr>
              <a:spLocks noChangeArrowheads="1"/>
            </p:cNvSpPr>
            <p:nvPr/>
          </p:nvSpPr>
          <p:spPr bwMode="auto">
            <a:xfrm rot="-60000">
              <a:off x="1106" y="29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4" name="Freeform 55"/>
            <p:cNvSpPr/>
            <p:nvPr/>
          </p:nvSpPr>
          <p:spPr bwMode="auto">
            <a:xfrm>
              <a:off x="1756" y="263"/>
              <a:ext cx="738" cy="422"/>
            </a:xfrm>
            <a:custGeom>
              <a:avLst/>
              <a:gdLst>
                <a:gd name="T0" fmla="*/ 0 w 738"/>
                <a:gd name="T1" fmla="*/ 211 h 422"/>
                <a:gd name="T2" fmla="*/ 3 w 738"/>
                <a:gd name="T3" fmla="*/ 186 h 422"/>
                <a:gd name="T4" fmla="*/ 11 w 738"/>
                <a:gd name="T5" fmla="*/ 160 h 422"/>
                <a:gd name="T6" fmla="*/ 24 w 738"/>
                <a:gd name="T7" fmla="*/ 135 h 422"/>
                <a:gd name="T8" fmla="*/ 42 w 738"/>
                <a:gd name="T9" fmla="*/ 112 h 422"/>
                <a:gd name="T10" fmla="*/ 66 w 738"/>
                <a:gd name="T11" fmla="*/ 90 h 422"/>
                <a:gd name="T12" fmla="*/ 93 w 738"/>
                <a:gd name="T13" fmla="*/ 70 h 422"/>
                <a:gd name="T14" fmla="*/ 125 w 738"/>
                <a:gd name="T15" fmla="*/ 52 h 422"/>
                <a:gd name="T16" fmla="*/ 160 w 738"/>
                <a:gd name="T17" fmla="*/ 36 h 422"/>
                <a:gd name="T18" fmla="*/ 198 w 738"/>
                <a:gd name="T19" fmla="*/ 24 h 422"/>
                <a:gd name="T20" fmla="*/ 239 w 738"/>
                <a:gd name="T21" fmla="*/ 12 h 422"/>
                <a:gd name="T22" fmla="*/ 281 w 738"/>
                <a:gd name="T23" fmla="*/ 5 h 422"/>
                <a:gd name="T24" fmla="*/ 325 w 738"/>
                <a:gd name="T25" fmla="*/ 1 h 422"/>
                <a:gd name="T26" fmla="*/ 370 w 738"/>
                <a:gd name="T27" fmla="*/ 0 h 422"/>
                <a:gd name="T28" fmla="*/ 413 w 738"/>
                <a:gd name="T29" fmla="*/ 1 h 422"/>
                <a:gd name="T30" fmla="*/ 458 w 738"/>
                <a:gd name="T31" fmla="*/ 5 h 422"/>
                <a:gd name="T32" fmla="*/ 500 w 738"/>
                <a:gd name="T33" fmla="*/ 12 h 422"/>
                <a:gd name="T34" fmla="*/ 541 w 738"/>
                <a:gd name="T35" fmla="*/ 24 h 422"/>
                <a:gd name="T36" fmla="*/ 579 w 738"/>
                <a:gd name="T37" fmla="*/ 36 h 422"/>
                <a:gd name="T38" fmla="*/ 614 w 738"/>
                <a:gd name="T39" fmla="*/ 52 h 422"/>
                <a:gd name="T40" fmla="*/ 645 w 738"/>
                <a:gd name="T41" fmla="*/ 70 h 422"/>
                <a:gd name="T42" fmla="*/ 673 w 738"/>
                <a:gd name="T43" fmla="*/ 90 h 422"/>
                <a:gd name="T44" fmla="*/ 696 w 738"/>
                <a:gd name="T45" fmla="*/ 112 h 422"/>
                <a:gd name="T46" fmla="*/ 714 w 738"/>
                <a:gd name="T47" fmla="*/ 135 h 422"/>
                <a:gd name="T48" fmla="*/ 728 w 738"/>
                <a:gd name="T49" fmla="*/ 160 h 422"/>
                <a:gd name="T50" fmla="*/ 735 w 738"/>
                <a:gd name="T51" fmla="*/ 186 h 422"/>
                <a:gd name="T52" fmla="*/ 738 w 738"/>
                <a:gd name="T53" fmla="*/ 211 h 422"/>
                <a:gd name="T54" fmla="*/ 735 w 738"/>
                <a:gd name="T55" fmla="*/ 236 h 422"/>
                <a:gd name="T56" fmla="*/ 728 w 738"/>
                <a:gd name="T57" fmla="*/ 262 h 422"/>
                <a:gd name="T58" fmla="*/ 714 w 738"/>
                <a:gd name="T59" fmla="*/ 286 h 422"/>
                <a:gd name="T60" fmla="*/ 696 w 738"/>
                <a:gd name="T61" fmla="*/ 308 h 422"/>
                <a:gd name="T62" fmla="*/ 673 w 738"/>
                <a:gd name="T63" fmla="*/ 331 h 422"/>
                <a:gd name="T64" fmla="*/ 645 w 738"/>
                <a:gd name="T65" fmla="*/ 350 h 422"/>
                <a:gd name="T66" fmla="*/ 614 w 738"/>
                <a:gd name="T67" fmla="*/ 369 h 422"/>
                <a:gd name="T68" fmla="*/ 579 w 738"/>
                <a:gd name="T69" fmla="*/ 384 h 422"/>
                <a:gd name="T70" fmla="*/ 541 w 738"/>
                <a:gd name="T71" fmla="*/ 398 h 422"/>
                <a:gd name="T72" fmla="*/ 500 w 738"/>
                <a:gd name="T73" fmla="*/ 408 h 422"/>
                <a:gd name="T74" fmla="*/ 458 w 738"/>
                <a:gd name="T75" fmla="*/ 415 h 422"/>
                <a:gd name="T76" fmla="*/ 413 w 738"/>
                <a:gd name="T77" fmla="*/ 421 h 422"/>
                <a:gd name="T78" fmla="*/ 370 w 738"/>
                <a:gd name="T79" fmla="*/ 422 h 422"/>
                <a:gd name="T80" fmla="*/ 325 w 738"/>
                <a:gd name="T81" fmla="*/ 421 h 422"/>
                <a:gd name="T82" fmla="*/ 281 w 738"/>
                <a:gd name="T83" fmla="*/ 415 h 422"/>
                <a:gd name="T84" fmla="*/ 239 w 738"/>
                <a:gd name="T85" fmla="*/ 408 h 422"/>
                <a:gd name="T86" fmla="*/ 198 w 738"/>
                <a:gd name="T87" fmla="*/ 398 h 422"/>
                <a:gd name="T88" fmla="*/ 160 w 738"/>
                <a:gd name="T89" fmla="*/ 384 h 422"/>
                <a:gd name="T90" fmla="*/ 125 w 738"/>
                <a:gd name="T91" fmla="*/ 369 h 422"/>
                <a:gd name="T92" fmla="*/ 93 w 738"/>
                <a:gd name="T93" fmla="*/ 350 h 422"/>
                <a:gd name="T94" fmla="*/ 66 w 738"/>
                <a:gd name="T95" fmla="*/ 331 h 422"/>
                <a:gd name="T96" fmla="*/ 42 w 738"/>
                <a:gd name="T97" fmla="*/ 308 h 422"/>
                <a:gd name="T98" fmla="*/ 24 w 738"/>
                <a:gd name="T99" fmla="*/ 286 h 422"/>
                <a:gd name="T100" fmla="*/ 11 w 738"/>
                <a:gd name="T101" fmla="*/ 262 h 422"/>
                <a:gd name="T102" fmla="*/ 3 w 738"/>
                <a:gd name="T103" fmla="*/ 236 h 422"/>
                <a:gd name="T104" fmla="*/ 0 w 738"/>
                <a:gd name="T105" fmla="*/ 211 h 42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2">
                  <a:moveTo>
                    <a:pt x="0" y="211"/>
                  </a:moveTo>
                  <a:lnTo>
                    <a:pt x="3" y="186"/>
                  </a:lnTo>
                  <a:lnTo>
                    <a:pt x="11" y="160"/>
                  </a:lnTo>
                  <a:lnTo>
                    <a:pt x="24" y="135"/>
                  </a:lnTo>
                  <a:lnTo>
                    <a:pt x="42" y="112"/>
                  </a:lnTo>
                  <a:lnTo>
                    <a:pt x="66" y="90"/>
                  </a:lnTo>
                  <a:lnTo>
                    <a:pt x="93" y="70"/>
                  </a:lnTo>
                  <a:lnTo>
                    <a:pt x="125" y="52"/>
                  </a:lnTo>
                  <a:lnTo>
                    <a:pt x="160" y="36"/>
                  </a:lnTo>
                  <a:lnTo>
                    <a:pt x="198" y="24"/>
                  </a:lnTo>
                  <a:lnTo>
                    <a:pt x="239" y="12"/>
                  </a:lnTo>
                  <a:lnTo>
                    <a:pt x="281" y="5"/>
                  </a:lnTo>
                  <a:lnTo>
                    <a:pt x="325" y="1"/>
                  </a:lnTo>
                  <a:lnTo>
                    <a:pt x="370" y="0"/>
                  </a:lnTo>
                  <a:lnTo>
                    <a:pt x="413" y="1"/>
                  </a:lnTo>
                  <a:lnTo>
                    <a:pt x="458" y="5"/>
                  </a:lnTo>
                  <a:lnTo>
                    <a:pt x="500" y="12"/>
                  </a:lnTo>
                  <a:lnTo>
                    <a:pt x="541" y="24"/>
                  </a:lnTo>
                  <a:lnTo>
                    <a:pt x="579" y="36"/>
                  </a:lnTo>
                  <a:lnTo>
                    <a:pt x="614" y="52"/>
                  </a:lnTo>
                  <a:lnTo>
                    <a:pt x="645" y="70"/>
                  </a:lnTo>
                  <a:lnTo>
                    <a:pt x="673" y="90"/>
                  </a:lnTo>
                  <a:lnTo>
                    <a:pt x="696" y="112"/>
                  </a:lnTo>
                  <a:lnTo>
                    <a:pt x="714" y="135"/>
                  </a:lnTo>
                  <a:lnTo>
                    <a:pt x="728" y="160"/>
                  </a:lnTo>
                  <a:lnTo>
                    <a:pt x="735" y="186"/>
                  </a:lnTo>
                  <a:lnTo>
                    <a:pt x="738" y="211"/>
                  </a:lnTo>
                  <a:lnTo>
                    <a:pt x="735" y="236"/>
                  </a:lnTo>
                  <a:lnTo>
                    <a:pt x="728" y="262"/>
                  </a:lnTo>
                  <a:lnTo>
                    <a:pt x="714" y="286"/>
                  </a:lnTo>
                  <a:lnTo>
                    <a:pt x="696" y="308"/>
                  </a:lnTo>
                  <a:lnTo>
                    <a:pt x="673" y="331"/>
                  </a:lnTo>
                  <a:lnTo>
                    <a:pt x="645" y="350"/>
                  </a:lnTo>
                  <a:lnTo>
                    <a:pt x="614" y="369"/>
                  </a:lnTo>
                  <a:lnTo>
                    <a:pt x="579" y="384"/>
                  </a:lnTo>
                  <a:lnTo>
                    <a:pt x="541" y="398"/>
                  </a:lnTo>
                  <a:lnTo>
                    <a:pt x="500" y="408"/>
                  </a:lnTo>
                  <a:lnTo>
                    <a:pt x="458" y="415"/>
                  </a:lnTo>
                  <a:lnTo>
                    <a:pt x="413" y="421"/>
                  </a:lnTo>
                  <a:lnTo>
                    <a:pt x="370" y="422"/>
                  </a:lnTo>
                  <a:lnTo>
                    <a:pt x="325" y="421"/>
                  </a:lnTo>
                  <a:lnTo>
                    <a:pt x="281" y="415"/>
                  </a:lnTo>
                  <a:lnTo>
                    <a:pt x="239" y="408"/>
                  </a:lnTo>
                  <a:lnTo>
                    <a:pt x="198" y="398"/>
                  </a:lnTo>
                  <a:lnTo>
                    <a:pt x="160" y="384"/>
                  </a:lnTo>
                  <a:lnTo>
                    <a:pt x="125" y="369"/>
                  </a:lnTo>
                  <a:lnTo>
                    <a:pt x="93" y="350"/>
                  </a:lnTo>
                  <a:lnTo>
                    <a:pt x="66" y="331"/>
                  </a:lnTo>
                  <a:lnTo>
                    <a:pt x="42" y="308"/>
                  </a:lnTo>
                  <a:lnTo>
                    <a:pt x="24" y="286"/>
                  </a:lnTo>
                  <a:lnTo>
                    <a:pt x="11" y="262"/>
                  </a:lnTo>
                  <a:lnTo>
                    <a:pt x="3" y="236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5" name="Rectangle 56"/>
            <p:cNvSpPr>
              <a:spLocks noChangeArrowheads="1"/>
            </p:cNvSpPr>
            <p:nvPr/>
          </p:nvSpPr>
          <p:spPr bwMode="auto">
            <a:xfrm>
              <a:off x="2020" y="3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新建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6" name="Freeform 57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7" name="Freeform 58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8" name="Line 59"/>
            <p:cNvSpPr>
              <a:spLocks noChangeShapeType="1"/>
            </p:cNvSpPr>
            <p:nvPr/>
          </p:nvSpPr>
          <p:spPr bwMode="auto">
            <a:xfrm flipV="1">
              <a:off x="583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9" name="Rectangle 60"/>
            <p:cNvSpPr>
              <a:spLocks noChangeArrowheads="1"/>
            </p:cNvSpPr>
            <p:nvPr/>
          </p:nvSpPr>
          <p:spPr bwMode="auto">
            <a:xfrm>
              <a:off x="404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90" name="Rectangle 61"/>
            <p:cNvSpPr>
              <a:spLocks noChangeArrowheads="1"/>
            </p:cNvSpPr>
            <p:nvPr/>
          </p:nvSpPr>
          <p:spPr bwMode="auto">
            <a:xfrm rot="-5400000">
              <a:off x="368" y="2312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1" name="Rectangle 62"/>
            <p:cNvSpPr>
              <a:spLocks noChangeArrowheads="1"/>
            </p:cNvSpPr>
            <p:nvPr/>
          </p:nvSpPr>
          <p:spPr bwMode="auto">
            <a:xfrm rot="-5400000">
              <a:off x="505" y="2316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2" name="Freeform 63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3" name="Freeform 64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4" name="Line 65"/>
            <p:cNvSpPr>
              <a:spLocks noChangeShapeType="1"/>
            </p:cNvSpPr>
            <p:nvPr/>
          </p:nvSpPr>
          <p:spPr bwMode="auto">
            <a:xfrm>
              <a:off x="905" y="2849"/>
              <a:ext cx="840" cy="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5" name="Freeform 66"/>
            <p:cNvSpPr/>
            <p:nvPr/>
          </p:nvSpPr>
          <p:spPr bwMode="auto">
            <a:xfrm>
              <a:off x="1057" y="2757"/>
              <a:ext cx="588" cy="190"/>
            </a:xfrm>
            <a:custGeom>
              <a:avLst/>
              <a:gdLst>
                <a:gd name="T0" fmla="*/ 0 w 588"/>
                <a:gd name="T1" fmla="*/ 183 h 190"/>
                <a:gd name="T2" fmla="*/ 586 w 588"/>
                <a:gd name="T3" fmla="*/ 190 h 190"/>
                <a:gd name="T4" fmla="*/ 588 w 588"/>
                <a:gd name="T5" fmla="*/ 7 h 190"/>
                <a:gd name="T6" fmla="*/ 3 w 588"/>
                <a:gd name="T7" fmla="*/ 0 h 190"/>
                <a:gd name="T8" fmla="*/ 0 w 588"/>
                <a:gd name="T9" fmla="*/ 183 h 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90">
                  <a:moveTo>
                    <a:pt x="0" y="183"/>
                  </a:moveTo>
                  <a:lnTo>
                    <a:pt x="586" y="190"/>
                  </a:lnTo>
                  <a:lnTo>
                    <a:pt x="588" y="7"/>
                  </a:lnTo>
                  <a:lnTo>
                    <a:pt x="3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6" name="Rectangle 67"/>
            <p:cNvSpPr>
              <a:spLocks noChangeArrowheads="1"/>
            </p:cNvSpPr>
            <p:nvPr/>
          </p:nvSpPr>
          <p:spPr bwMode="auto">
            <a:xfrm>
              <a:off x="1070" y="27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7" name="Freeform 68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8" name="Freeform 69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9" name="Line 70"/>
            <p:cNvSpPr>
              <a:spLocks noChangeShapeType="1"/>
            </p:cNvSpPr>
            <p:nvPr/>
          </p:nvSpPr>
          <p:spPr bwMode="auto">
            <a:xfrm flipV="1">
              <a:off x="918" y="1850"/>
              <a:ext cx="895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0" name="Freeform 71"/>
            <p:cNvSpPr/>
            <p:nvPr/>
          </p:nvSpPr>
          <p:spPr bwMode="auto">
            <a:xfrm>
              <a:off x="1081" y="1757"/>
              <a:ext cx="517" cy="186"/>
            </a:xfrm>
            <a:custGeom>
              <a:avLst/>
              <a:gdLst>
                <a:gd name="T0" fmla="*/ 1 w 517"/>
                <a:gd name="T1" fmla="*/ 186 h 186"/>
                <a:gd name="T2" fmla="*/ 517 w 517"/>
                <a:gd name="T3" fmla="*/ 183 h 186"/>
                <a:gd name="T4" fmla="*/ 516 w 517"/>
                <a:gd name="T5" fmla="*/ 0 h 186"/>
                <a:gd name="T6" fmla="*/ 0 w 517"/>
                <a:gd name="T7" fmla="*/ 2 h 186"/>
                <a:gd name="T8" fmla="*/ 1 w 517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7" h="186">
                  <a:moveTo>
                    <a:pt x="1" y="186"/>
                  </a:moveTo>
                  <a:lnTo>
                    <a:pt x="517" y="183"/>
                  </a:lnTo>
                  <a:lnTo>
                    <a:pt x="516" y="0"/>
                  </a:lnTo>
                  <a:lnTo>
                    <a:pt x="0" y="2"/>
                  </a:lnTo>
                  <a:lnTo>
                    <a:pt x="1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1" name="Rectangle 72"/>
            <p:cNvSpPr>
              <a:spLocks noChangeArrowheads="1"/>
            </p:cNvSpPr>
            <p:nvPr/>
          </p:nvSpPr>
          <p:spPr bwMode="auto">
            <a:xfrm rot="-60000">
              <a:off x="1092" y="177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2" name="Freeform 73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3" name="Freeform 74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4" name="Line 75"/>
            <p:cNvSpPr>
              <a:spLocks noChangeShapeType="1"/>
            </p:cNvSpPr>
            <p:nvPr/>
          </p:nvSpPr>
          <p:spPr bwMode="auto">
            <a:xfrm>
              <a:off x="904" y="1628"/>
              <a:ext cx="85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5" name="Freeform 76"/>
            <p:cNvSpPr/>
            <p:nvPr/>
          </p:nvSpPr>
          <p:spPr bwMode="auto">
            <a:xfrm>
              <a:off x="1062" y="1534"/>
              <a:ext cx="588" cy="186"/>
            </a:xfrm>
            <a:custGeom>
              <a:avLst/>
              <a:gdLst>
                <a:gd name="T0" fmla="*/ 0 w 588"/>
                <a:gd name="T1" fmla="*/ 183 h 186"/>
                <a:gd name="T2" fmla="*/ 587 w 588"/>
                <a:gd name="T3" fmla="*/ 186 h 186"/>
                <a:gd name="T4" fmla="*/ 588 w 588"/>
                <a:gd name="T5" fmla="*/ 3 h 186"/>
                <a:gd name="T6" fmla="*/ 2 w 588"/>
                <a:gd name="T7" fmla="*/ 0 h 186"/>
                <a:gd name="T8" fmla="*/ 0 w 58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86">
                  <a:moveTo>
                    <a:pt x="0" y="183"/>
                  </a:moveTo>
                  <a:lnTo>
                    <a:pt x="587" y="186"/>
                  </a:lnTo>
                  <a:lnTo>
                    <a:pt x="58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6" name="Rectangle 77"/>
            <p:cNvSpPr>
              <a:spLocks noChangeArrowheads="1"/>
            </p:cNvSpPr>
            <p:nvPr/>
          </p:nvSpPr>
          <p:spPr bwMode="auto">
            <a:xfrm>
              <a:off x="1075" y="155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7" name="Freeform 78"/>
            <p:cNvSpPr/>
            <p:nvPr/>
          </p:nvSpPr>
          <p:spPr bwMode="auto">
            <a:xfrm>
              <a:off x="2103" y="147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0 w 54"/>
                <a:gd name="T3" fmla="*/ 0 h 53"/>
                <a:gd name="T4" fmla="*/ 27 w 54"/>
                <a:gd name="T5" fmla="*/ 53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0" y="0"/>
                  </a:lnTo>
                  <a:lnTo>
                    <a:pt x="27" y="53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8" name="Line 79"/>
            <p:cNvSpPr>
              <a:spLocks noChangeShapeType="1"/>
            </p:cNvSpPr>
            <p:nvPr/>
          </p:nvSpPr>
          <p:spPr bwMode="auto">
            <a:xfrm flipH="1">
              <a:off x="2134" y="14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9" name="Freeform 80"/>
            <p:cNvSpPr/>
            <p:nvPr/>
          </p:nvSpPr>
          <p:spPr bwMode="auto">
            <a:xfrm>
              <a:off x="2103" y="1472"/>
              <a:ext cx="17" cy="5"/>
            </a:xfrm>
            <a:custGeom>
              <a:avLst/>
              <a:gdLst>
                <a:gd name="T0" fmla="*/ 387 w 12"/>
                <a:gd name="T1" fmla="*/ 0 h 4"/>
                <a:gd name="T2" fmla="*/ 0 w 12"/>
                <a:gd name="T3" fmla="*/ 0 h 4"/>
                <a:gd name="T4" fmla="*/ 74 w 12"/>
                <a:gd name="T5" fmla="*/ 39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4">
                  <a:moveTo>
                    <a:pt x="12" y="0"/>
                  </a:moveTo>
                  <a:lnTo>
                    <a:pt x="0" y="0"/>
                  </a:lnTo>
                  <a:lnTo>
                    <a:pt x="2" y="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0" name="Line 81"/>
            <p:cNvSpPr>
              <a:spLocks noChangeShapeType="1"/>
            </p:cNvSpPr>
            <p:nvPr/>
          </p:nvSpPr>
          <p:spPr bwMode="auto">
            <a:xfrm>
              <a:off x="2112" y="1490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1" name="Freeform 82"/>
            <p:cNvSpPr/>
            <p:nvPr/>
          </p:nvSpPr>
          <p:spPr bwMode="auto">
            <a:xfrm>
              <a:off x="2128" y="1508"/>
              <a:ext cx="10" cy="17"/>
            </a:xfrm>
            <a:custGeom>
              <a:avLst/>
              <a:gdLst>
                <a:gd name="T0" fmla="*/ 0 w 7"/>
                <a:gd name="T1" fmla="*/ 327 h 12"/>
                <a:gd name="T2" fmla="*/ 1 w 7"/>
                <a:gd name="T3" fmla="*/ 387 h 12"/>
                <a:gd name="T4" fmla="*/ 244 w 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10"/>
                  </a:moveTo>
                  <a:lnTo>
                    <a:pt x="1" y="12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2" name="Line 83"/>
            <p:cNvSpPr>
              <a:spLocks noChangeShapeType="1"/>
            </p:cNvSpPr>
            <p:nvPr/>
          </p:nvSpPr>
          <p:spPr bwMode="auto">
            <a:xfrm flipV="1">
              <a:off x="2144" y="1476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3" name="Line 84"/>
            <p:cNvSpPr>
              <a:spLocks noChangeShapeType="1"/>
            </p:cNvSpPr>
            <p:nvPr/>
          </p:nvSpPr>
          <p:spPr bwMode="auto">
            <a:xfrm>
              <a:off x="2126" y="68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4" name="Line 85"/>
            <p:cNvSpPr>
              <a:spLocks noChangeShapeType="1"/>
            </p:cNvSpPr>
            <p:nvPr/>
          </p:nvSpPr>
          <p:spPr bwMode="auto">
            <a:xfrm>
              <a:off x="2126" y="722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5" name="Line 86"/>
            <p:cNvSpPr>
              <a:spLocks noChangeShapeType="1"/>
            </p:cNvSpPr>
            <p:nvPr/>
          </p:nvSpPr>
          <p:spPr bwMode="auto">
            <a:xfrm>
              <a:off x="2126" y="75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6" name="Line 87"/>
            <p:cNvSpPr>
              <a:spLocks noChangeShapeType="1"/>
            </p:cNvSpPr>
            <p:nvPr/>
          </p:nvSpPr>
          <p:spPr bwMode="auto">
            <a:xfrm>
              <a:off x="2126" y="79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7" name="Line 88"/>
            <p:cNvSpPr>
              <a:spLocks noChangeShapeType="1"/>
            </p:cNvSpPr>
            <p:nvPr/>
          </p:nvSpPr>
          <p:spPr bwMode="auto">
            <a:xfrm>
              <a:off x="2127" y="83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8" name="Line 89"/>
            <p:cNvSpPr>
              <a:spLocks noChangeShapeType="1"/>
            </p:cNvSpPr>
            <p:nvPr/>
          </p:nvSpPr>
          <p:spPr bwMode="auto">
            <a:xfrm>
              <a:off x="2127" y="86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9" name="Line 90"/>
            <p:cNvSpPr>
              <a:spLocks noChangeShapeType="1"/>
            </p:cNvSpPr>
            <p:nvPr/>
          </p:nvSpPr>
          <p:spPr bwMode="auto">
            <a:xfrm>
              <a:off x="2127" y="90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0" name="Line 91"/>
            <p:cNvSpPr>
              <a:spLocks noChangeShapeType="1"/>
            </p:cNvSpPr>
            <p:nvPr/>
          </p:nvSpPr>
          <p:spPr bwMode="auto">
            <a:xfrm>
              <a:off x="2127" y="94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1" name="Line 92"/>
            <p:cNvSpPr>
              <a:spLocks noChangeShapeType="1"/>
            </p:cNvSpPr>
            <p:nvPr/>
          </p:nvSpPr>
          <p:spPr bwMode="auto">
            <a:xfrm>
              <a:off x="2127" y="97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2" name="Line 93"/>
            <p:cNvSpPr>
              <a:spLocks noChangeShapeType="1"/>
            </p:cNvSpPr>
            <p:nvPr/>
          </p:nvSpPr>
          <p:spPr bwMode="auto">
            <a:xfrm>
              <a:off x="2127" y="101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3" name="Line 94"/>
            <p:cNvSpPr>
              <a:spLocks noChangeShapeType="1"/>
            </p:cNvSpPr>
            <p:nvPr/>
          </p:nvSpPr>
          <p:spPr bwMode="auto">
            <a:xfrm>
              <a:off x="2127" y="105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4" name="Line 95"/>
            <p:cNvSpPr>
              <a:spLocks noChangeShapeType="1"/>
            </p:cNvSpPr>
            <p:nvPr/>
          </p:nvSpPr>
          <p:spPr bwMode="auto">
            <a:xfrm>
              <a:off x="2128" y="108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5" name="Line 96"/>
            <p:cNvSpPr>
              <a:spLocks noChangeShapeType="1"/>
            </p:cNvSpPr>
            <p:nvPr/>
          </p:nvSpPr>
          <p:spPr bwMode="auto">
            <a:xfrm>
              <a:off x="2128" y="112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6" name="Line 97"/>
            <p:cNvSpPr>
              <a:spLocks noChangeShapeType="1"/>
            </p:cNvSpPr>
            <p:nvPr/>
          </p:nvSpPr>
          <p:spPr bwMode="auto">
            <a:xfrm>
              <a:off x="2128" y="116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7" name="Line 98"/>
            <p:cNvSpPr>
              <a:spLocks noChangeShapeType="1"/>
            </p:cNvSpPr>
            <p:nvPr/>
          </p:nvSpPr>
          <p:spPr bwMode="auto">
            <a:xfrm>
              <a:off x="2128" y="119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8" name="Line 99"/>
            <p:cNvSpPr>
              <a:spLocks noChangeShapeType="1"/>
            </p:cNvSpPr>
            <p:nvPr/>
          </p:nvSpPr>
          <p:spPr bwMode="auto">
            <a:xfrm>
              <a:off x="2128" y="123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9" name="Line 100"/>
            <p:cNvSpPr>
              <a:spLocks noChangeShapeType="1"/>
            </p:cNvSpPr>
            <p:nvPr/>
          </p:nvSpPr>
          <p:spPr bwMode="auto">
            <a:xfrm>
              <a:off x="2128" y="127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0" name="Line 101"/>
            <p:cNvSpPr>
              <a:spLocks noChangeShapeType="1"/>
            </p:cNvSpPr>
            <p:nvPr/>
          </p:nvSpPr>
          <p:spPr bwMode="auto">
            <a:xfrm>
              <a:off x="2128" y="130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1" name="Line 102"/>
            <p:cNvSpPr>
              <a:spLocks noChangeShapeType="1"/>
            </p:cNvSpPr>
            <p:nvPr/>
          </p:nvSpPr>
          <p:spPr bwMode="auto">
            <a:xfrm>
              <a:off x="2130" y="134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2" name="Line 103"/>
            <p:cNvSpPr>
              <a:spLocks noChangeShapeType="1"/>
            </p:cNvSpPr>
            <p:nvPr/>
          </p:nvSpPr>
          <p:spPr bwMode="auto">
            <a:xfrm>
              <a:off x="2130" y="138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3" name="Line 104"/>
            <p:cNvSpPr>
              <a:spLocks noChangeShapeType="1"/>
            </p:cNvSpPr>
            <p:nvPr/>
          </p:nvSpPr>
          <p:spPr bwMode="auto">
            <a:xfrm>
              <a:off x="2130" y="141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4" name="Line 105"/>
            <p:cNvSpPr>
              <a:spLocks noChangeShapeType="1"/>
            </p:cNvSpPr>
            <p:nvPr/>
          </p:nvSpPr>
          <p:spPr bwMode="auto">
            <a:xfrm>
              <a:off x="2130" y="1455"/>
              <a:ext cx="1" cy="17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5" name="Freeform 106"/>
            <p:cNvSpPr/>
            <p:nvPr/>
          </p:nvSpPr>
          <p:spPr bwMode="auto">
            <a:xfrm>
              <a:off x="2044" y="945"/>
              <a:ext cx="160" cy="321"/>
            </a:xfrm>
            <a:custGeom>
              <a:avLst/>
              <a:gdLst>
                <a:gd name="T0" fmla="*/ 160 w 160"/>
                <a:gd name="T1" fmla="*/ 320 h 321"/>
                <a:gd name="T2" fmla="*/ 159 w 160"/>
                <a:gd name="T3" fmla="*/ 0 h 321"/>
                <a:gd name="T4" fmla="*/ 0 w 160"/>
                <a:gd name="T5" fmla="*/ 1 h 321"/>
                <a:gd name="T6" fmla="*/ 3 w 160"/>
                <a:gd name="T7" fmla="*/ 321 h 321"/>
                <a:gd name="T8" fmla="*/ 160 w 160"/>
                <a:gd name="T9" fmla="*/ 320 h 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21">
                  <a:moveTo>
                    <a:pt x="160" y="320"/>
                  </a:moveTo>
                  <a:lnTo>
                    <a:pt x="159" y="0"/>
                  </a:lnTo>
                  <a:lnTo>
                    <a:pt x="0" y="1"/>
                  </a:lnTo>
                  <a:lnTo>
                    <a:pt x="3" y="321"/>
                  </a:lnTo>
                  <a:lnTo>
                    <a:pt x="16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6" name="Rectangle 107"/>
            <p:cNvSpPr>
              <a:spLocks noChangeArrowheads="1"/>
            </p:cNvSpPr>
            <p:nvPr/>
          </p:nvSpPr>
          <p:spPr bwMode="auto">
            <a:xfrm rot="-5460000">
              <a:off x="1949" y="1043"/>
              <a:ext cx="32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000">
                  <a:solidFill>
                    <a:schemeClr val="tx1"/>
                  </a:solidFill>
                  <a:ea typeface="黑体" panose="02010609060101010101" pitchFamily="49" charset="-122"/>
                </a:rPr>
                <a:t>允许进入</a:t>
              </a:r>
              <a:endParaRPr kumimoji="1" lang="zh-CN" altLang="en-US" sz="1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37" name="Freeform 108"/>
            <p:cNvSpPr/>
            <p:nvPr/>
          </p:nvSpPr>
          <p:spPr bwMode="auto">
            <a:xfrm>
              <a:off x="764" y="1514"/>
              <a:ext cx="58" cy="51"/>
            </a:xfrm>
            <a:custGeom>
              <a:avLst/>
              <a:gdLst>
                <a:gd name="T0" fmla="*/ 52 w 58"/>
                <a:gd name="T1" fmla="*/ 25 h 51"/>
                <a:gd name="T2" fmla="*/ 58 w 58"/>
                <a:gd name="T3" fmla="*/ 51 h 51"/>
                <a:gd name="T4" fmla="*/ 0 w 58"/>
                <a:gd name="T5" fmla="*/ 38 h 51"/>
                <a:gd name="T6" fmla="*/ 45 w 58"/>
                <a:gd name="T7" fmla="*/ 0 h 51"/>
                <a:gd name="T8" fmla="*/ 52 w 58"/>
                <a:gd name="T9" fmla="*/ 25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1">
                  <a:moveTo>
                    <a:pt x="52" y="25"/>
                  </a:moveTo>
                  <a:lnTo>
                    <a:pt x="58" y="51"/>
                  </a:lnTo>
                  <a:lnTo>
                    <a:pt x="0" y="38"/>
                  </a:lnTo>
                  <a:lnTo>
                    <a:pt x="45" y="0"/>
                  </a:lnTo>
                  <a:lnTo>
                    <a:pt x="52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8" name="Line 109"/>
            <p:cNvSpPr>
              <a:spLocks noChangeShapeType="1"/>
            </p:cNvSpPr>
            <p:nvPr/>
          </p:nvSpPr>
          <p:spPr bwMode="auto">
            <a:xfrm flipV="1">
              <a:off x="816" y="1534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9" name="Line 110"/>
            <p:cNvSpPr>
              <a:spLocks noChangeShapeType="1"/>
            </p:cNvSpPr>
            <p:nvPr/>
          </p:nvSpPr>
          <p:spPr bwMode="auto">
            <a:xfrm flipV="1">
              <a:off x="853" y="1525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0" name="Line 111"/>
            <p:cNvSpPr>
              <a:spLocks noChangeShapeType="1"/>
            </p:cNvSpPr>
            <p:nvPr/>
          </p:nvSpPr>
          <p:spPr bwMode="auto">
            <a:xfrm flipV="1">
              <a:off x="888" y="1517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1" name="Line 112"/>
            <p:cNvSpPr>
              <a:spLocks noChangeShapeType="1"/>
            </p:cNvSpPr>
            <p:nvPr/>
          </p:nvSpPr>
          <p:spPr bwMode="auto">
            <a:xfrm flipV="1">
              <a:off x="923" y="1508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2" name="Freeform 113"/>
            <p:cNvSpPr/>
            <p:nvPr/>
          </p:nvSpPr>
          <p:spPr bwMode="auto">
            <a:xfrm>
              <a:off x="958" y="1500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529 w 16"/>
                <a:gd name="T3" fmla="*/ 0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4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3" name="Line 114"/>
            <p:cNvSpPr>
              <a:spLocks noChangeShapeType="1"/>
            </p:cNvSpPr>
            <p:nvPr/>
          </p:nvSpPr>
          <p:spPr bwMode="auto">
            <a:xfrm flipV="1">
              <a:off x="995" y="1492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4" name="Line 115"/>
            <p:cNvSpPr>
              <a:spLocks noChangeShapeType="1"/>
            </p:cNvSpPr>
            <p:nvPr/>
          </p:nvSpPr>
          <p:spPr bwMode="auto">
            <a:xfrm flipV="1">
              <a:off x="1032" y="1484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5" name="Line 116"/>
            <p:cNvSpPr>
              <a:spLocks noChangeShapeType="1"/>
            </p:cNvSpPr>
            <p:nvPr/>
          </p:nvSpPr>
          <p:spPr bwMode="auto">
            <a:xfrm flipV="1">
              <a:off x="1068" y="147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6" name="Line 117"/>
            <p:cNvSpPr>
              <a:spLocks noChangeShapeType="1"/>
            </p:cNvSpPr>
            <p:nvPr/>
          </p:nvSpPr>
          <p:spPr bwMode="auto">
            <a:xfrm flipV="1">
              <a:off x="1105" y="1469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7" name="Line 118"/>
            <p:cNvSpPr>
              <a:spLocks noChangeShapeType="1"/>
            </p:cNvSpPr>
            <p:nvPr/>
          </p:nvSpPr>
          <p:spPr bwMode="auto">
            <a:xfrm flipV="1">
              <a:off x="1141" y="1462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8" name="Line 119"/>
            <p:cNvSpPr>
              <a:spLocks noChangeShapeType="1"/>
            </p:cNvSpPr>
            <p:nvPr/>
          </p:nvSpPr>
          <p:spPr bwMode="auto">
            <a:xfrm flipV="1">
              <a:off x="1178" y="1456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9" name="Line 120"/>
            <p:cNvSpPr>
              <a:spLocks noChangeShapeType="1"/>
            </p:cNvSpPr>
            <p:nvPr/>
          </p:nvSpPr>
          <p:spPr bwMode="auto">
            <a:xfrm flipV="1">
              <a:off x="1214" y="1449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0" name="Line 121"/>
            <p:cNvSpPr>
              <a:spLocks noChangeShapeType="1"/>
            </p:cNvSpPr>
            <p:nvPr/>
          </p:nvSpPr>
          <p:spPr bwMode="auto">
            <a:xfrm flipV="1">
              <a:off x="1251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1" name="Freeform 122"/>
            <p:cNvSpPr/>
            <p:nvPr/>
          </p:nvSpPr>
          <p:spPr bwMode="auto">
            <a:xfrm>
              <a:off x="1287" y="1437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447 w 16"/>
                <a:gd name="T3" fmla="*/ 1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2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2" name="Line 123"/>
            <p:cNvSpPr>
              <a:spLocks noChangeShapeType="1"/>
            </p:cNvSpPr>
            <p:nvPr/>
          </p:nvSpPr>
          <p:spPr bwMode="auto">
            <a:xfrm flipV="1">
              <a:off x="1324" y="1432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3" name="Line 124"/>
            <p:cNvSpPr>
              <a:spLocks noChangeShapeType="1"/>
            </p:cNvSpPr>
            <p:nvPr/>
          </p:nvSpPr>
          <p:spPr bwMode="auto">
            <a:xfrm flipV="1">
              <a:off x="1361" y="142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4" name="Line 125"/>
            <p:cNvSpPr>
              <a:spLocks noChangeShapeType="1"/>
            </p:cNvSpPr>
            <p:nvPr/>
          </p:nvSpPr>
          <p:spPr bwMode="auto">
            <a:xfrm flipV="1">
              <a:off x="1397" y="142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5" name="Line 126"/>
            <p:cNvSpPr>
              <a:spLocks noChangeShapeType="1"/>
            </p:cNvSpPr>
            <p:nvPr/>
          </p:nvSpPr>
          <p:spPr bwMode="auto">
            <a:xfrm flipV="1">
              <a:off x="1434" y="1415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6" name="Line 127"/>
            <p:cNvSpPr>
              <a:spLocks noChangeShapeType="1"/>
            </p:cNvSpPr>
            <p:nvPr/>
          </p:nvSpPr>
          <p:spPr bwMode="auto">
            <a:xfrm flipV="1">
              <a:off x="1470" y="141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7" name="Line 128"/>
            <p:cNvSpPr>
              <a:spLocks noChangeShapeType="1"/>
            </p:cNvSpPr>
            <p:nvPr/>
          </p:nvSpPr>
          <p:spPr bwMode="auto">
            <a:xfrm flipV="1">
              <a:off x="1507" y="140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8" name="Line 129"/>
            <p:cNvSpPr>
              <a:spLocks noChangeShapeType="1"/>
            </p:cNvSpPr>
            <p:nvPr/>
          </p:nvSpPr>
          <p:spPr bwMode="auto">
            <a:xfrm flipV="1">
              <a:off x="154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9" name="Line 130"/>
            <p:cNvSpPr>
              <a:spLocks noChangeShapeType="1"/>
            </p:cNvSpPr>
            <p:nvPr/>
          </p:nvSpPr>
          <p:spPr bwMode="auto">
            <a:xfrm flipV="1">
              <a:off x="1580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0" name="Freeform 131"/>
            <p:cNvSpPr/>
            <p:nvPr/>
          </p:nvSpPr>
          <p:spPr bwMode="auto">
            <a:xfrm>
              <a:off x="1617" y="1396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18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1" name="Line 132"/>
            <p:cNvSpPr>
              <a:spLocks noChangeShapeType="1"/>
            </p:cNvSpPr>
            <p:nvPr/>
          </p:nvSpPr>
          <p:spPr bwMode="auto">
            <a:xfrm flipV="1">
              <a:off x="1653" y="139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2" name="Line 133"/>
            <p:cNvSpPr>
              <a:spLocks noChangeShapeType="1"/>
            </p:cNvSpPr>
            <p:nvPr/>
          </p:nvSpPr>
          <p:spPr bwMode="auto">
            <a:xfrm flipV="1">
              <a:off x="1690" y="139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3" name="Line 134"/>
            <p:cNvSpPr>
              <a:spLocks noChangeShapeType="1"/>
            </p:cNvSpPr>
            <p:nvPr/>
          </p:nvSpPr>
          <p:spPr bwMode="auto">
            <a:xfrm flipV="1">
              <a:off x="1726" y="1387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4" name="Line 135"/>
            <p:cNvSpPr>
              <a:spLocks noChangeShapeType="1"/>
            </p:cNvSpPr>
            <p:nvPr/>
          </p:nvSpPr>
          <p:spPr bwMode="auto">
            <a:xfrm flipV="1">
              <a:off x="1763" y="1384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5" name="Freeform 136"/>
            <p:cNvSpPr/>
            <p:nvPr/>
          </p:nvSpPr>
          <p:spPr bwMode="auto">
            <a:xfrm>
              <a:off x="1799" y="1382"/>
              <a:ext cx="23" cy="1"/>
            </a:xfrm>
            <a:custGeom>
              <a:avLst/>
              <a:gdLst>
                <a:gd name="T0" fmla="*/ 0 w 16"/>
                <a:gd name="T1" fmla="*/ 1 h 1"/>
                <a:gd name="T2" fmla="*/ 1 w 16"/>
                <a:gd name="T3" fmla="*/ 1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6" name="Line 137"/>
            <p:cNvSpPr>
              <a:spLocks noChangeShapeType="1"/>
            </p:cNvSpPr>
            <p:nvPr/>
          </p:nvSpPr>
          <p:spPr bwMode="auto">
            <a:xfrm flipV="1">
              <a:off x="1836" y="1380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7" name="Line 138"/>
            <p:cNvSpPr>
              <a:spLocks noChangeShapeType="1"/>
            </p:cNvSpPr>
            <p:nvPr/>
          </p:nvSpPr>
          <p:spPr bwMode="auto">
            <a:xfrm>
              <a:off x="1872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8" name="Line 139"/>
            <p:cNvSpPr>
              <a:spLocks noChangeShapeType="1"/>
            </p:cNvSpPr>
            <p:nvPr/>
          </p:nvSpPr>
          <p:spPr bwMode="auto">
            <a:xfrm flipV="1">
              <a:off x="2208" y="1344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9" name="Freeform 140"/>
            <p:cNvSpPr/>
            <p:nvPr/>
          </p:nvSpPr>
          <p:spPr bwMode="auto">
            <a:xfrm>
              <a:off x="1946" y="1375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74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5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0" name="Line 141"/>
            <p:cNvSpPr>
              <a:spLocks noChangeShapeType="1"/>
            </p:cNvSpPr>
            <p:nvPr/>
          </p:nvSpPr>
          <p:spPr bwMode="auto">
            <a:xfrm>
              <a:off x="1982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1" name="Line 142"/>
            <p:cNvSpPr>
              <a:spLocks noChangeShapeType="1"/>
            </p:cNvSpPr>
            <p:nvPr/>
          </p:nvSpPr>
          <p:spPr bwMode="auto">
            <a:xfrm>
              <a:off x="2019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2" name="Line 143"/>
            <p:cNvSpPr>
              <a:spLocks noChangeShapeType="1"/>
            </p:cNvSpPr>
            <p:nvPr/>
          </p:nvSpPr>
          <p:spPr bwMode="auto">
            <a:xfrm>
              <a:off x="2055" y="137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3" name="Line 144"/>
            <p:cNvSpPr>
              <a:spLocks noChangeShapeType="1"/>
            </p:cNvSpPr>
            <p:nvPr/>
          </p:nvSpPr>
          <p:spPr bwMode="auto">
            <a:xfrm>
              <a:off x="2092" y="1372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4" name="Freeform 145"/>
            <p:cNvSpPr/>
            <p:nvPr/>
          </p:nvSpPr>
          <p:spPr bwMode="auto">
            <a:xfrm>
              <a:off x="2128" y="1372"/>
              <a:ext cx="23" cy="1"/>
            </a:xfrm>
            <a:custGeom>
              <a:avLst/>
              <a:gdLst>
                <a:gd name="T0" fmla="*/ 0 w 16"/>
                <a:gd name="T1" fmla="*/ 0 h 1"/>
                <a:gd name="T2" fmla="*/ 116 w 16"/>
                <a:gd name="T3" fmla="*/ 0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5" name="Line 146"/>
            <p:cNvSpPr>
              <a:spLocks noChangeShapeType="1"/>
            </p:cNvSpPr>
            <p:nvPr/>
          </p:nvSpPr>
          <p:spPr bwMode="auto">
            <a:xfrm>
              <a:off x="2165" y="13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6" name="Line 147"/>
            <p:cNvSpPr>
              <a:spLocks noChangeShapeType="1"/>
            </p:cNvSpPr>
            <p:nvPr/>
          </p:nvSpPr>
          <p:spPr bwMode="auto">
            <a:xfrm>
              <a:off x="2202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7" name="Line 148"/>
            <p:cNvSpPr>
              <a:spLocks noChangeShapeType="1"/>
            </p:cNvSpPr>
            <p:nvPr/>
          </p:nvSpPr>
          <p:spPr bwMode="auto">
            <a:xfrm>
              <a:off x="2238" y="1373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8" name="Line 149"/>
            <p:cNvSpPr>
              <a:spLocks noChangeShapeType="1"/>
            </p:cNvSpPr>
            <p:nvPr/>
          </p:nvSpPr>
          <p:spPr bwMode="auto">
            <a:xfrm>
              <a:off x="2275" y="1375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9" name="Line 150"/>
            <p:cNvSpPr>
              <a:spLocks noChangeShapeType="1"/>
            </p:cNvSpPr>
            <p:nvPr/>
          </p:nvSpPr>
          <p:spPr bwMode="auto">
            <a:xfrm>
              <a:off x="2311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0" name="Line 151"/>
            <p:cNvSpPr>
              <a:spLocks noChangeShapeType="1"/>
            </p:cNvSpPr>
            <p:nvPr/>
          </p:nvSpPr>
          <p:spPr bwMode="auto">
            <a:xfrm>
              <a:off x="2348" y="1376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1" name="Line 152"/>
            <p:cNvSpPr>
              <a:spLocks noChangeShapeType="1"/>
            </p:cNvSpPr>
            <p:nvPr/>
          </p:nvSpPr>
          <p:spPr bwMode="auto">
            <a:xfrm>
              <a:off x="2384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2" name="Line 153"/>
            <p:cNvSpPr>
              <a:spLocks noChangeShapeType="1"/>
            </p:cNvSpPr>
            <p:nvPr/>
          </p:nvSpPr>
          <p:spPr bwMode="auto">
            <a:xfrm>
              <a:off x="2421" y="138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3" name="Freeform 154"/>
            <p:cNvSpPr/>
            <p:nvPr/>
          </p:nvSpPr>
          <p:spPr bwMode="auto">
            <a:xfrm>
              <a:off x="2458" y="1382"/>
              <a:ext cx="22" cy="1"/>
            </a:xfrm>
            <a:custGeom>
              <a:avLst/>
              <a:gdLst>
                <a:gd name="T0" fmla="*/ 0 w 16"/>
                <a:gd name="T1" fmla="*/ 0 h 1"/>
                <a:gd name="T2" fmla="*/ 144 w 16"/>
                <a:gd name="T3" fmla="*/ 0 h 1"/>
                <a:gd name="T4" fmla="*/ 380 w 16"/>
                <a:gd name="T5" fmla="*/ 1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6" y="0"/>
                  </a:lnTo>
                  <a:lnTo>
                    <a:pt x="16" y="1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4" name="Line 155"/>
            <p:cNvSpPr>
              <a:spLocks noChangeShapeType="1"/>
            </p:cNvSpPr>
            <p:nvPr/>
          </p:nvSpPr>
          <p:spPr bwMode="auto">
            <a:xfrm>
              <a:off x="2494" y="1384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5" name="Line 156"/>
            <p:cNvSpPr>
              <a:spLocks noChangeShapeType="1"/>
            </p:cNvSpPr>
            <p:nvPr/>
          </p:nvSpPr>
          <p:spPr bwMode="auto">
            <a:xfrm>
              <a:off x="2531" y="1387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6" name="Line 157"/>
            <p:cNvSpPr>
              <a:spLocks noChangeShapeType="1"/>
            </p:cNvSpPr>
            <p:nvPr/>
          </p:nvSpPr>
          <p:spPr bwMode="auto">
            <a:xfrm>
              <a:off x="2567" y="1389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7" name="Line 158"/>
            <p:cNvSpPr>
              <a:spLocks noChangeShapeType="1"/>
            </p:cNvSpPr>
            <p:nvPr/>
          </p:nvSpPr>
          <p:spPr bwMode="auto">
            <a:xfrm>
              <a:off x="2604" y="1391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8" name="Line 159"/>
            <p:cNvSpPr>
              <a:spLocks noChangeShapeType="1"/>
            </p:cNvSpPr>
            <p:nvPr/>
          </p:nvSpPr>
          <p:spPr bwMode="auto">
            <a:xfrm>
              <a:off x="2640" y="1396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9" name="Line 160"/>
            <p:cNvSpPr>
              <a:spLocks noChangeShapeType="1"/>
            </p:cNvSpPr>
            <p:nvPr/>
          </p:nvSpPr>
          <p:spPr bwMode="auto">
            <a:xfrm>
              <a:off x="2677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0" name="Line 161"/>
            <p:cNvSpPr>
              <a:spLocks noChangeShapeType="1"/>
            </p:cNvSpPr>
            <p:nvPr/>
          </p:nvSpPr>
          <p:spPr bwMode="auto">
            <a:xfrm>
              <a:off x="271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1" name="Line 162"/>
            <p:cNvSpPr>
              <a:spLocks noChangeShapeType="1"/>
            </p:cNvSpPr>
            <p:nvPr/>
          </p:nvSpPr>
          <p:spPr bwMode="auto">
            <a:xfrm>
              <a:off x="2750" y="140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2" name="Freeform 163"/>
            <p:cNvSpPr/>
            <p:nvPr/>
          </p:nvSpPr>
          <p:spPr bwMode="auto">
            <a:xfrm>
              <a:off x="2787" y="1411"/>
              <a:ext cx="22" cy="3"/>
            </a:xfrm>
            <a:custGeom>
              <a:avLst/>
              <a:gdLst>
                <a:gd name="T0" fmla="*/ 0 w 16"/>
                <a:gd name="T1" fmla="*/ 0 h 2"/>
                <a:gd name="T2" fmla="*/ 198 w 16"/>
                <a:gd name="T3" fmla="*/ 93 h 2"/>
                <a:gd name="T4" fmla="*/ 380 w 16"/>
                <a:gd name="T5" fmla="*/ 14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lnTo>
                    <a:pt x="8" y="1"/>
                  </a:lnTo>
                  <a:lnTo>
                    <a:pt x="16" y="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3" name="Line 164"/>
            <p:cNvSpPr>
              <a:spLocks noChangeShapeType="1"/>
            </p:cNvSpPr>
            <p:nvPr/>
          </p:nvSpPr>
          <p:spPr bwMode="auto">
            <a:xfrm>
              <a:off x="2823" y="141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4" name="Line 165"/>
            <p:cNvSpPr>
              <a:spLocks noChangeShapeType="1"/>
            </p:cNvSpPr>
            <p:nvPr/>
          </p:nvSpPr>
          <p:spPr bwMode="auto">
            <a:xfrm>
              <a:off x="2860" y="142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5" name="Line 166"/>
            <p:cNvSpPr>
              <a:spLocks noChangeShapeType="1"/>
            </p:cNvSpPr>
            <p:nvPr/>
          </p:nvSpPr>
          <p:spPr bwMode="auto">
            <a:xfrm>
              <a:off x="2896" y="142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6" name="Line 167"/>
            <p:cNvSpPr>
              <a:spLocks noChangeShapeType="1"/>
            </p:cNvSpPr>
            <p:nvPr/>
          </p:nvSpPr>
          <p:spPr bwMode="auto">
            <a:xfrm>
              <a:off x="2933" y="1432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7" name="Line 168"/>
            <p:cNvSpPr>
              <a:spLocks noChangeShapeType="1"/>
            </p:cNvSpPr>
            <p:nvPr/>
          </p:nvSpPr>
          <p:spPr bwMode="auto">
            <a:xfrm>
              <a:off x="2969" y="143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8" name="Line 169"/>
            <p:cNvSpPr>
              <a:spLocks noChangeShapeType="1"/>
            </p:cNvSpPr>
            <p:nvPr/>
          </p:nvSpPr>
          <p:spPr bwMode="auto">
            <a:xfrm>
              <a:off x="3006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9" name="Line 170"/>
            <p:cNvSpPr>
              <a:spLocks noChangeShapeType="1"/>
            </p:cNvSpPr>
            <p:nvPr/>
          </p:nvSpPr>
          <p:spPr bwMode="auto">
            <a:xfrm>
              <a:off x="3043" y="145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0" name="Line 171"/>
            <p:cNvSpPr>
              <a:spLocks noChangeShapeType="1"/>
            </p:cNvSpPr>
            <p:nvPr/>
          </p:nvSpPr>
          <p:spPr bwMode="auto">
            <a:xfrm>
              <a:off x="3079" y="1456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1" name="Freeform 172"/>
            <p:cNvSpPr/>
            <p:nvPr/>
          </p:nvSpPr>
          <p:spPr bwMode="auto">
            <a:xfrm>
              <a:off x="3116" y="1463"/>
              <a:ext cx="22" cy="5"/>
            </a:xfrm>
            <a:custGeom>
              <a:avLst/>
              <a:gdLst>
                <a:gd name="T0" fmla="*/ 0 w 16"/>
                <a:gd name="T1" fmla="*/ 0 h 3"/>
                <a:gd name="T2" fmla="*/ 180 w 16"/>
                <a:gd name="T3" fmla="*/ 172 h 3"/>
                <a:gd name="T4" fmla="*/ 380 w 16"/>
                <a:gd name="T5" fmla="*/ 478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lnTo>
                    <a:pt x="7" y="1"/>
                  </a:lnTo>
                  <a:lnTo>
                    <a:pt x="16" y="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2" name="Line 173"/>
            <p:cNvSpPr>
              <a:spLocks noChangeShapeType="1"/>
            </p:cNvSpPr>
            <p:nvPr/>
          </p:nvSpPr>
          <p:spPr bwMode="auto">
            <a:xfrm>
              <a:off x="3152" y="1470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3" name="Line 174"/>
            <p:cNvSpPr>
              <a:spLocks noChangeShapeType="1"/>
            </p:cNvSpPr>
            <p:nvPr/>
          </p:nvSpPr>
          <p:spPr bwMode="auto">
            <a:xfrm>
              <a:off x="3189" y="1477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4" name="Line 175"/>
            <p:cNvSpPr>
              <a:spLocks noChangeShapeType="1"/>
            </p:cNvSpPr>
            <p:nvPr/>
          </p:nvSpPr>
          <p:spPr bwMode="auto">
            <a:xfrm>
              <a:off x="3225" y="1486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5" name="Line 176"/>
            <p:cNvSpPr>
              <a:spLocks noChangeShapeType="1"/>
            </p:cNvSpPr>
            <p:nvPr/>
          </p:nvSpPr>
          <p:spPr bwMode="auto">
            <a:xfrm>
              <a:off x="3262" y="1493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6" name="Line 177"/>
            <p:cNvSpPr>
              <a:spLocks noChangeShapeType="1"/>
            </p:cNvSpPr>
            <p:nvPr/>
          </p:nvSpPr>
          <p:spPr bwMode="auto">
            <a:xfrm>
              <a:off x="3298" y="1501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7" name="Line 178"/>
            <p:cNvSpPr>
              <a:spLocks noChangeShapeType="1"/>
            </p:cNvSpPr>
            <p:nvPr/>
          </p:nvSpPr>
          <p:spPr bwMode="auto">
            <a:xfrm>
              <a:off x="3335" y="1510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8" name="Line 179"/>
            <p:cNvSpPr>
              <a:spLocks noChangeShapeType="1"/>
            </p:cNvSpPr>
            <p:nvPr/>
          </p:nvSpPr>
          <p:spPr bwMode="auto">
            <a:xfrm>
              <a:off x="3372" y="1518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9" name="Line 180"/>
            <p:cNvSpPr>
              <a:spLocks noChangeShapeType="1"/>
            </p:cNvSpPr>
            <p:nvPr/>
          </p:nvSpPr>
          <p:spPr bwMode="auto">
            <a:xfrm>
              <a:off x="3408" y="152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0" name="Line 181"/>
            <p:cNvSpPr>
              <a:spLocks noChangeShapeType="1"/>
            </p:cNvSpPr>
            <p:nvPr/>
          </p:nvSpPr>
          <p:spPr bwMode="auto">
            <a:xfrm>
              <a:off x="3445" y="1535"/>
              <a:ext cx="5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1" name="Line 182"/>
            <p:cNvSpPr>
              <a:spLocks noChangeShapeType="1"/>
            </p:cNvSpPr>
            <p:nvPr/>
          </p:nvSpPr>
          <p:spPr bwMode="auto">
            <a:xfrm>
              <a:off x="816" y="1539"/>
              <a:ext cx="5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2" name="Line 183"/>
            <p:cNvSpPr>
              <a:spLocks noChangeShapeType="1"/>
            </p:cNvSpPr>
            <p:nvPr/>
          </p:nvSpPr>
          <p:spPr bwMode="auto">
            <a:xfrm flipH="1" flipV="1">
              <a:off x="788" y="155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3" name="Freeform 184"/>
            <p:cNvSpPr/>
            <p:nvPr/>
          </p:nvSpPr>
          <p:spPr bwMode="auto">
            <a:xfrm>
              <a:off x="764" y="1544"/>
              <a:ext cx="10" cy="11"/>
            </a:xfrm>
            <a:custGeom>
              <a:avLst/>
              <a:gdLst>
                <a:gd name="T0" fmla="*/ 244 w 7"/>
                <a:gd name="T1" fmla="*/ 198 h 8"/>
                <a:gd name="T2" fmla="*/ 0 w 7"/>
                <a:gd name="T3" fmla="*/ 144 h 8"/>
                <a:gd name="T4" fmla="*/ 244 w 7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7" y="8"/>
                  </a:moveTo>
                  <a:lnTo>
                    <a:pt x="0" y="6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4" name="Line 185"/>
            <p:cNvSpPr>
              <a:spLocks noChangeShapeType="1"/>
            </p:cNvSpPr>
            <p:nvPr/>
          </p:nvSpPr>
          <p:spPr bwMode="auto">
            <a:xfrm flipV="1">
              <a:off x="785" y="1520"/>
              <a:ext cx="17" cy="1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5" name="Line 186"/>
            <p:cNvSpPr>
              <a:spLocks noChangeShapeType="1"/>
            </p:cNvSpPr>
            <p:nvPr/>
          </p:nvSpPr>
          <p:spPr bwMode="auto">
            <a:xfrm>
              <a:off x="811" y="1518"/>
              <a:ext cx="5" cy="2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6" name="Rectangle 187"/>
            <p:cNvSpPr>
              <a:spLocks noChangeArrowheads="1"/>
            </p:cNvSpPr>
            <p:nvPr/>
          </p:nvSpPr>
          <p:spPr bwMode="auto">
            <a:xfrm>
              <a:off x="2304" y="1296"/>
              <a:ext cx="437" cy="1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317" name="Rectangle 188"/>
            <p:cNvSpPr>
              <a:spLocks noChangeArrowheads="1"/>
            </p:cNvSpPr>
            <p:nvPr/>
          </p:nvSpPr>
          <p:spPr bwMode="auto">
            <a:xfrm>
              <a:off x="2352" y="1307"/>
              <a:ext cx="35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300" i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8132" name="Rectangle 18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双挂起进程模型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5903" y="5290106"/>
            <a:ext cx="463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挂起放到内存管理里面再分析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进程调度算法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先来先服务</a:t>
            </a:r>
            <a:endParaRPr lang="en-US" altLang="zh-CN" dirty="0"/>
          </a:p>
          <a:p>
            <a:r>
              <a:rPr lang="zh-CN" altLang="en-US" dirty="0"/>
              <a:t>短任务优先，剩余时间短任务优先</a:t>
            </a:r>
            <a:endParaRPr lang="en-US" altLang="zh-CN" dirty="0"/>
          </a:p>
          <a:p>
            <a:r>
              <a:rPr lang="zh-CN" altLang="en-US" dirty="0"/>
              <a:t>时间片轮转</a:t>
            </a:r>
            <a:endParaRPr lang="en-US" altLang="zh-CN" dirty="0"/>
          </a:p>
          <a:p>
            <a:r>
              <a:rPr lang="zh-CN" altLang="en-US" dirty="0"/>
              <a:t>优先级队列</a:t>
            </a:r>
            <a:endParaRPr lang="en-US" altLang="zh-CN" dirty="0"/>
          </a:p>
          <a:p>
            <a:r>
              <a:rPr lang="zh-CN" altLang="en-US" dirty="0"/>
              <a:t>调度算法的设计原则：最优解，可以获取的参数，获取和推理的代价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调度的驱动力：进程主动调度（进程主动让出</a:t>
            </a:r>
            <a:r>
              <a:rPr lang="en-US" altLang="zh-CN" dirty="0"/>
              <a:t>CPU</a:t>
            </a:r>
            <a:r>
              <a:rPr lang="zh-CN" altLang="en-US" dirty="0"/>
              <a:t>，或者进程发起</a:t>
            </a:r>
            <a:r>
              <a:rPr lang="en-US" altLang="zh-CN" dirty="0" err="1"/>
              <a:t>syscall</a:t>
            </a:r>
            <a:r>
              <a:rPr lang="zh-CN" altLang="en-US" dirty="0"/>
              <a:t>而</a:t>
            </a:r>
            <a:r>
              <a:rPr lang="en-US" altLang="zh-CN" dirty="0"/>
              <a:t>OS</a:t>
            </a:r>
            <a:r>
              <a:rPr lang="zh-CN" altLang="en-US" dirty="0"/>
              <a:t>认为有必要调度），或者中断抢占调度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52738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>
                <a:cs typeface="+mj-cs"/>
              </a:rPr>
              <a:t>比较调度算法的几个</a:t>
            </a:r>
            <a:r>
              <a:rPr lang="zh-CN" altLang="en-US" dirty="0">
                <a:solidFill>
                  <a:srgbClr val="FF0000"/>
                </a:solidFill>
                <a:cs typeface="+mj-cs"/>
              </a:rPr>
              <a:t>非要重要</a:t>
            </a:r>
            <a:r>
              <a:rPr lang="zh-CN" altLang="en-US" dirty="0">
                <a:cs typeface="+mj-cs"/>
              </a:rPr>
              <a:t>的指标体系</a:t>
            </a:r>
            <a:endParaRPr lang="zh-CN" altLang="en-US" dirty="0">
              <a:cs typeface="+mj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68895" y="3012358"/>
            <a:ext cx="5870247" cy="1000132"/>
            <a:chOff x="844893" y="2155108"/>
            <a:chExt cx="5870247" cy="1000132"/>
          </a:xfrm>
        </p:grpSpPr>
        <p:sp>
          <p:nvSpPr>
            <p:cNvPr id="17" name="内容占位符 2"/>
            <p:cNvSpPr txBox="1"/>
            <p:nvPr/>
          </p:nvSpPr>
          <p:spPr>
            <a:xfrm>
              <a:off x="1142976" y="2155108"/>
              <a:ext cx="142876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周转时间</a:t>
              </a:r>
              <a:endParaRPr lang="zh-CN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893" y="215510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262659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/>
            <p:nvPr/>
          </p:nvSpPr>
          <p:spPr>
            <a:xfrm>
              <a:off x="1394986" y="2483722"/>
              <a:ext cx="5320154" cy="67151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进程从初始化到结束</a:t>
              </a:r>
              <a:r>
                <a:rPr lang="en-US" altLang="zh-CN" dirty="0"/>
                <a:t>(</a:t>
              </a:r>
              <a:r>
                <a:rPr lang="zh-CN" altLang="en-US" dirty="0"/>
                <a:t>包括等待</a:t>
              </a:r>
              <a:r>
                <a:rPr lang="en-US" altLang="zh-CN" dirty="0"/>
                <a:t>)</a:t>
              </a:r>
              <a:r>
                <a:rPr lang="zh-CN" altLang="en-US" dirty="0"/>
                <a:t>的总时间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368895" y="2368284"/>
            <a:ext cx="4084297" cy="713468"/>
            <a:chOff x="844893" y="1511034"/>
            <a:chExt cx="4084297" cy="713468"/>
          </a:xfrm>
        </p:grpSpPr>
        <p:sp>
          <p:nvSpPr>
            <p:cNvPr id="15" name="内容占位符 2"/>
            <p:cNvSpPr txBox="1"/>
            <p:nvPr/>
          </p:nvSpPr>
          <p:spPr>
            <a:xfrm>
              <a:off x="1142976" y="1511034"/>
              <a:ext cx="121444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吞吐量</a:t>
              </a:r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51103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99046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/>
            <p:nvPr/>
          </p:nvSpPr>
          <p:spPr>
            <a:xfrm>
              <a:off x="1394986" y="1847586"/>
              <a:ext cx="3534204" cy="37691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zh-CN" altLang="en-US" dirty="0"/>
                <a:t>单位时间内完成的进程数量</a:t>
              </a:r>
              <a:endParaRPr lang="zh-CN" altLang="en-US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68895" y="3699982"/>
            <a:ext cx="3941421" cy="772436"/>
            <a:chOff x="844893" y="2842732"/>
            <a:chExt cx="3941421" cy="772436"/>
          </a:xfrm>
        </p:grpSpPr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24726" y="332941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/>
            <p:nvPr/>
          </p:nvSpPr>
          <p:spPr>
            <a:xfrm>
              <a:off x="1357290" y="3186540"/>
              <a:ext cx="342902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进程在就绪队列中的总时间</a:t>
              </a:r>
              <a:endParaRPr lang="zh-CN" altLang="en-US" dirty="0"/>
            </a:p>
          </p:txBody>
        </p:sp>
        <p:sp>
          <p:nvSpPr>
            <p:cNvPr id="24" name="内容占位符 2"/>
            <p:cNvSpPr txBox="1"/>
            <p:nvPr/>
          </p:nvSpPr>
          <p:spPr>
            <a:xfrm>
              <a:off x="1142976" y="2842732"/>
              <a:ext cx="128588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等待时间</a:t>
              </a:r>
              <a:endParaRPr lang="zh-CN" alt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4893" y="284273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68895" y="4371952"/>
            <a:ext cx="5870247" cy="1001264"/>
            <a:chOff x="844893" y="3514702"/>
            <a:chExt cx="5870247" cy="1001264"/>
          </a:xfrm>
        </p:grpSpPr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24726" y="400138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6" name="内容占位符 2"/>
            <p:cNvSpPr txBox="1"/>
            <p:nvPr/>
          </p:nvSpPr>
          <p:spPr>
            <a:xfrm>
              <a:off x="1357290" y="3858510"/>
              <a:ext cx="5357850" cy="65745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从提交请求到产生响应所花费的总时间</a:t>
              </a:r>
              <a:endParaRPr lang="zh-CN" altLang="en-US" dirty="0"/>
            </a:p>
          </p:txBody>
        </p:sp>
        <p:sp>
          <p:nvSpPr>
            <p:cNvPr id="27" name="内容占位符 2"/>
            <p:cNvSpPr txBox="1"/>
            <p:nvPr/>
          </p:nvSpPr>
          <p:spPr>
            <a:xfrm>
              <a:off x="1142976" y="3514702"/>
              <a:ext cx="128588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/>
                <a:t>响应时间</a:t>
              </a:r>
              <a:endParaRPr lang="zh-CN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4893" y="351470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368895" y="1726474"/>
            <a:ext cx="4727239" cy="714380"/>
            <a:chOff x="844893" y="869224"/>
            <a:chExt cx="4727239" cy="714380"/>
          </a:xfrm>
        </p:grpSpPr>
        <p:grpSp>
          <p:nvGrpSpPr>
            <p:cNvPr id="6" name="组合 5"/>
            <p:cNvGrpSpPr/>
            <p:nvPr/>
          </p:nvGrpSpPr>
          <p:grpSpPr>
            <a:xfrm>
              <a:off x="844893" y="869224"/>
              <a:ext cx="4727239" cy="714380"/>
              <a:chOff x="844893" y="869224"/>
              <a:chExt cx="4727239" cy="714380"/>
            </a:xfrm>
          </p:grpSpPr>
          <p:sp>
            <p:nvSpPr>
              <p:cNvPr id="9" name="内容占位符 2"/>
              <p:cNvSpPr txBox="1"/>
              <p:nvPr/>
            </p:nvSpPr>
            <p:spPr>
              <a:xfrm>
                <a:off x="1142976" y="869224"/>
                <a:ext cx="1643074" cy="42862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1pPr>
                <a:lvl2pPr marL="269875" indent="-93980">
                  <a:buNone/>
                  <a:defRPr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3pPr>
              </a:lstStyle>
              <a:p>
                <a:r>
                  <a:rPr lang="zh-CN" altLang="en-US" dirty="0"/>
                  <a:t>CPU使用率</a:t>
                </a:r>
                <a:endParaRPr lang="zh-CN" altLang="en-US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44893" y="869224"/>
                <a:ext cx="433390" cy="40011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zh-CN" altLang="en-US" sz="2000" b="1" dirty="0">
                    <a:solidFill>
                      <a:srgbClr val="11576A"/>
                    </a:solidFill>
                    <a:latin typeface="张海山锐谐体2.0-授权联系：Samtype@QQ.com" pitchFamily="2" charset="-122"/>
                    <a:ea typeface="张海山锐谐体2.0-授权联系：Samtype@QQ.com" pitchFamily="2" charset="-122"/>
                  </a:rPr>
                  <a:t>■</a:t>
                </a:r>
                <a:endPara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20" name="内容占位符 2"/>
              <p:cNvSpPr txBox="1"/>
              <p:nvPr/>
            </p:nvSpPr>
            <p:spPr>
              <a:xfrm>
                <a:off x="1394986" y="1175614"/>
                <a:ext cx="4177146" cy="407990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1pPr>
                <a:lvl2pPr marL="269875" indent="-93980">
                  <a:buNone/>
                  <a:defRPr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defRPr>
                </a:lvl3pPr>
              </a:lstStyle>
              <a:p>
                <a:pPr marL="0" indent="0">
                  <a:spcBef>
                    <a:spcPct val="20000"/>
                  </a:spcBef>
                </a:pPr>
                <a:r>
                  <a:rPr lang="zh-CN" altLang="en-US" dirty="0"/>
                  <a:t>CPU处于忙状态的时间百分比</a:t>
                </a:r>
                <a:endParaRPr lang="zh-CN" altLang="en-US" dirty="0"/>
              </a:p>
            </p:txBody>
          </p:sp>
        </p:grpSp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318490"/>
              <a:ext cx="151066" cy="14899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52738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进程切换</a:t>
            </a:r>
            <a:endParaRPr lang="zh-CN" altLang="en-US" dirty="0"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368895" y="2819396"/>
            <a:ext cx="4655801" cy="1428760"/>
            <a:chOff x="844893" y="1962146"/>
            <a:chExt cx="4655801" cy="1428760"/>
          </a:xfrm>
        </p:grpSpPr>
        <p:sp>
          <p:nvSpPr>
            <p:cNvPr id="15" name="内容占位符 2"/>
            <p:cNvSpPr txBox="1"/>
            <p:nvPr/>
          </p:nvSpPr>
          <p:spPr>
            <a:xfrm>
              <a:off x="1142976" y="1962146"/>
              <a:ext cx="250033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进程切换的要求</a:t>
              </a:r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970307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24415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/>
            <p:nvPr/>
          </p:nvSpPr>
          <p:spPr>
            <a:xfrm>
              <a:off x="1394986" y="2298698"/>
              <a:ext cx="324845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切换前，保存进程上下文</a:t>
              </a:r>
              <a:endParaRPr lang="zh-CN" altLang="en-US" dirty="0"/>
            </a:p>
          </p:txBody>
        </p:sp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277812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/>
            <p:nvPr/>
          </p:nvSpPr>
          <p:spPr>
            <a:xfrm>
              <a:off x="1394986" y="2635250"/>
              <a:ext cx="324845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切换后，恢复进程上下文</a:t>
              </a:r>
              <a:endParaRPr lang="zh-CN" altLang="en-US"/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10515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/>
            <p:nvPr/>
          </p:nvSpPr>
          <p:spPr>
            <a:xfrm>
              <a:off x="1394986" y="2962278"/>
              <a:ext cx="41057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快速切换</a:t>
              </a:r>
              <a:endParaRPr lang="zh-CN" altLang="en-US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68893" y="1663177"/>
            <a:ext cx="5890872" cy="1000529"/>
            <a:chOff x="844893" y="805925"/>
            <a:chExt cx="5890872" cy="1000529"/>
          </a:xfrm>
        </p:grpSpPr>
        <p:sp>
          <p:nvSpPr>
            <p:cNvPr id="9" name="内容占位符 2"/>
            <p:cNvSpPr txBox="1"/>
            <p:nvPr/>
          </p:nvSpPr>
          <p:spPr>
            <a:xfrm>
              <a:off x="1163601" y="805925"/>
              <a:ext cx="5572164" cy="100013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进程切换</a:t>
              </a:r>
              <a:r>
                <a:rPr lang="en-US" altLang="zh-CN" dirty="0"/>
                <a:t>(</a:t>
              </a:r>
              <a:r>
                <a:rPr lang="zh-CN" altLang="en-US" dirty="0"/>
                <a:t>上下文切换</a:t>
              </a:r>
              <a:r>
                <a:rPr lang="en-US" altLang="zh-CN" dirty="0"/>
                <a:t>)</a:t>
              </a:r>
              <a:endParaRPr lang="en-US" altLang="zh-CN" dirty="0"/>
            </a:p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   暂停当前运行进程，从运行状态变成其他状态</a:t>
              </a:r>
              <a:endParaRPr lang="en-US" altLang="zh-CN" dirty="0"/>
            </a:p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   调度另一个进程从就绪状态变成运行状态</a:t>
              </a: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1723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19" name="图片 1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305991"/>
              <a:ext cx="151066" cy="148997"/>
            </a:xfrm>
            <a:prstGeom prst="rect">
              <a:avLst/>
            </a:prstGeom>
            <a:effectLst/>
          </p:spPr>
        </p:pic>
        <p:pic>
          <p:nvPicPr>
            <p:cNvPr id="20" name="图片 19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1657457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4" name="组合 3"/>
          <p:cNvGrpSpPr/>
          <p:nvPr/>
        </p:nvGrpSpPr>
        <p:grpSpPr>
          <a:xfrm>
            <a:off x="2368895" y="4151318"/>
            <a:ext cx="3655099" cy="1311168"/>
            <a:chOff x="844893" y="3294068"/>
            <a:chExt cx="3655099" cy="1311168"/>
          </a:xfrm>
        </p:grpSpPr>
        <p:sp>
          <p:nvSpPr>
            <p:cNvPr id="17" name="内容占位符 2"/>
            <p:cNvSpPr txBox="1"/>
            <p:nvPr/>
          </p:nvSpPr>
          <p:spPr>
            <a:xfrm>
              <a:off x="1142976" y="3294068"/>
              <a:ext cx="335701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进程生命周期的信息</a:t>
              </a:r>
              <a:endParaRPr lang="zh-CN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893" y="330781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76555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/>
            <p:nvPr/>
          </p:nvSpPr>
          <p:spPr>
            <a:xfrm>
              <a:off x="1394986" y="3622682"/>
              <a:ext cx="2456289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/>
                <a:t>寄存器 (PC, SP, …</a:t>
              </a:r>
              <a:r>
                <a:rPr lang="en-US" altLang="zh-CN"/>
                <a:t>)</a:t>
              </a:r>
              <a:endParaRPr lang="zh-CN" altLang="en-US"/>
            </a:p>
          </p:txBody>
        </p:sp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410211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/>
            <p:nvPr/>
          </p:nvSpPr>
          <p:spPr>
            <a:xfrm>
              <a:off x="1394986" y="3959234"/>
              <a:ext cx="209689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CPU状态</a:t>
              </a:r>
              <a:endParaRPr lang="en-US" altLang="zh-CN" dirty="0"/>
            </a:p>
            <a:p>
              <a:pPr lvl="0">
                <a:spcBef>
                  <a:spcPct val="20000"/>
                </a:spcBef>
              </a:pPr>
              <a:r>
                <a:rPr lang="zh-CN" altLang="en-US" dirty="0"/>
                <a:t>内存地址空间</a:t>
              </a:r>
              <a:endParaRPr lang="zh-CN" altLang="en-US" dirty="0"/>
            </a:p>
          </p:txBody>
        </p:sp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4456239"/>
              <a:ext cx="151066" cy="14899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142986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/>
              <a:t>上下文切换图示</a:t>
            </a:r>
            <a:endParaRPr lang="zh-CN" altLang="en-US">
              <a:cs typeface="+mj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381886" y="3352482"/>
            <a:ext cx="705903" cy="756000"/>
            <a:chOff x="5857884" y="2495232"/>
            <a:chExt cx="705903" cy="756000"/>
          </a:xfrm>
        </p:grpSpPr>
        <p:sp>
          <p:nvSpPr>
            <p:cNvPr id="9" name="TextBox 8"/>
            <p:cNvSpPr txBox="1"/>
            <p:nvPr/>
          </p:nvSpPr>
          <p:spPr>
            <a:xfrm>
              <a:off x="5942282" y="2705878"/>
              <a:ext cx="621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运行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13" name="下箭头 12"/>
            <p:cNvSpPr/>
            <p:nvPr/>
          </p:nvSpPr>
          <p:spPr>
            <a:xfrm>
              <a:off x="5857884" y="2495232"/>
              <a:ext cx="142876" cy="756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523954" y="2364173"/>
            <a:ext cx="956657" cy="2636469"/>
            <a:chOff x="999952" y="1506921"/>
            <a:chExt cx="956657" cy="2636469"/>
          </a:xfrm>
        </p:grpSpPr>
        <p:grpSp>
          <p:nvGrpSpPr>
            <p:cNvPr id="77" name="组合 76"/>
            <p:cNvGrpSpPr/>
            <p:nvPr/>
          </p:nvGrpSpPr>
          <p:grpSpPr>
            <a:xfrm>
              <a:off x="1770678" y="1637136"/>
              <a:ext cx="185931" cy="2501613"/>
              <a:chOff x="2199306" y="1637136"/>
              <a:chExt cx="185931" cy="2501613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285984" y="1637136"/>
                <a:ext cx="0" cy="2500025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2205237" y="1643056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2199306" y="413716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右大括号 36"/>
            <p:cNvSpPr/>
            <p:nvPr/>
          </p:nvSpPr>
          <p:spPr>
            <a:xfrm flipH="1">
              <a:off x="1506527" y="1506921"/>
              <a:ext cx="229406" cy="2636469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9952" y="266973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33447" y="2032266"/>
            <a:ext cx="619349" cy="455933"/>
            <a:chOff x="1310607" y="1378523"/>
            <a:chExt cx="619349" cy="455933"/>
          </a:xfrm>
        </p:grpSpPr>
        <p:sp>
          <p:nvSpPr>
            <p:cNvPr id="35" name="下箭头 34"/>
            <p:cNvSpPr/>
            <p:nvPr/>
          </p:nvSpPr>
          <p:spPr>
            <a:xfrm>
              <a:off x="1798618" y="1400775"/>
              <a:ext cx="131338" cy="433681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10607" y="1378523"/>
              <a:ext cx="554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运行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806688" y="4996201"/>
            <a:ext cx="642943" cy="313718"/>
            <a:chOff x="1285851" y="4143386"/>
            <a:chExt cx="642943" cy="313718"/>
          </a:xfrm>
        </p:grpSpPr>
        <p:sp>
          <p:nvSpPr>
            <p:cNvPr id="36" name="下箭头 35"/>
            <p:cNvSpPr/>
            <p:nvPr/>
          </p:nvSpPr>
          <p:spPr>
            <a:xfrm>
              <a:off x="1785918" y="4169104"/>
              <a:ext cx="142876" cy="288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85851" y="4143386"/>
              <a:ext cx="579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运行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535790" y="2357430"/>
            <a:ext cx="2007756" cy="176220"/>
            <a:chOff x="2011790" y="1500180"/>
            <a:chExt cx="2007756" cy="176220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3022649" y="1501768"/>
              <a:ext cx="996897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rot="16200000" flipH="1">
              <a:off x="3919420" y="1588289"/>
              <a:ext cx="176220" cy="1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V="1">
              <a:off x="2011790" y="1506922"/>
              <a:ext cx="1045730" cy="134359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5524499" y="3357564"/>
            <a:ext cx="1728793" cy="242685"/>
            <a:chOff x="4000497" y="2500312"/>
            <a:chExt cx="1728793" cy="242685"/>
          </a:xfrm>
        </p:grpSpPr>
        <p:cxnSp>
          <p:nvCxnSpPr>
            <p:cNvPr id="53" name="直接连接符 52"/>
            <p:cNvCxnSpPr/>
            <p:nvPr/>
          </p:nvCxnSpPr>
          <p:spPr>
            <a:xfrm rot="5400000">
              <a:off x="3912874" y="2652997"/>
              <a:ext cx="180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 flipH="1" flipV="1">
              <a:off x="4396170" y="2318953"/>
              <a:ext cx="8753" cy="80010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 flipV="1">
              <a:off x="4800596" y="2500312"/>
              <a:ext cx="928694" cy="214314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5519738" y="3916367"/>
            <a:ext cx="1744670" cy="214309"/>
            <a:chOff x="3995738" y="3059115"/>
            <a:chExt cx="1744670" cy="214309"/>
          </a:xfrm>
        </p:grpSpPr>
        <p:cxnSp>
          <p:nvCxnSpPr>
            <p:cNvPr id="59" name="直接连接符 58"/>
            <p:cNvCxnSpPr/>
            <p:nvPr/>
          </p:nvCxnSpPr>
          <p:spPr>
            <a:xfrm rot="10800000">
              <a:off x="4840408" y="3071132"/>
              <a:ext cx="900000" cy="142876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0800000">
              <a:off x="3995738" y="3071132"/>
              <a:ext cx="85725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rot="16200000" flipH="1">
              <a:off x="3890966" y="3163888"/>
              <a:ext cx="214309" cy="4764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474681" y="4994412"/>
            <a:ext cx="2114907" cy="223552"/>
            <a:chOff x="1950679" y="4167311"/>
            <a:chExt cx="2114907" cy="223552"/>
          </a:xfrm>
        </p:grpSpPr>
        <p:cxnSp>
          <p:nvCxnSpPr>
            <p:cNvPr id="67" name="直接连接符 66"/>
            <p:cNvCxnSpPr>
              <a:stCxn id="32" idx="2"/>
            </p:cNvCxnSpPr>
            <p:nvPr/>
          </p:nvCxnSpPr>
          <p:spPr>
            <a:xfrm>
              <a:off x="4052100" y="4202883"/>
              <a:ext cx="815" cy="18179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 flipV="1">
              <a:off x="3057520" y="4384675"/>
              <a:ext cx="1008066" cy="6188"/>
            </a:xfrm>
            <a:prstGeom prst="line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H="1" flipV="1">
              <a:off x="1950679" y="4167311"/>
              <a:ext cx="1128630" cy="217364"/>
            </a:xfrm>
            <a:prstGeom prst="line">
              <a:avLst/>
            </a:pr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4667242" y="3143250"/>
            <a:ext cx="1809765" cy="276999"/>
            <a:chOff x="3643306" y="1895467"/>
            <a:chExt cx="1809765" cy="276999"/>
          </a:xfrm>
        </p:grpSpPr>
        <p:sp>
          <p:nvSpPr>
            <p:cNvPr id="23" name="矩形 22"/>
            <p:cNvSpPr/>
            <p:nvPr/>
          </p:nvSpPr>
          <p:spPr>
            <a:xfrm>
              <a:off x="3643306" y="1928808"/>
              <a:ext cx="1785950" cy="21431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67121" y="1895467"/>
              <a:ext cx="1785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spc="-60" dirty="0">
                  <a:solidFill>
                    <a:schemeClr val="bg1"/>
                  </a:solidFill>
                  <a:latin typeface="+mn-ea"/>
                </a:rPr>
                <a:t>从</a:t>
              </a:r>
              <a:r>
                <a:rPr lang="en-US" altLang="zh-CN" sz="1200" b="1" spc="-60" dirty="0">
                  <a:solidFill>
                    <a:schemeClr val="bg1"/>
                  </a:solidFill>
                  <a:latin typeface="+mn-ea"/>
                </a:rPr>
                <a:t>PCB</a:t>
              </a:r>
              <a:r>
                <a:rPr lang="en-US" altLang="zh-CN" sz="1200" b="1" spc="-60" baseline="-25000" dirty="0">
                  <a:solidFill>
                    <a:schemeClr val="bg1"/>
                  </a:solidFill>
                  <a:latin typeface="+mn-ea"/>
                </a:rPr>
                <a:t>1</a:t>
              </a:r>
              <a:r>
                <a:rPr lang="zh-CN" altLang="en-US" sz="1200" b="1" dirty="0">
                  <a:solidFill>
                    <a:schemeClr val="bg1"/>
                  </a:solidFill>
                  <a:latin typeface="+mn-ea"/>
                </a:rPr>
                <a:t>恢复进程状态</a:t>
              </a:r>
              <a:endParaRPr lang="zh-CN" altLang="en-US" sz="1200" b="1" spc="-6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581522" y="2047865"/>
            <a:ext cx="1895485" cy="1107527"/>
            <a:chOff x="3057520" y="1190613"/>
            <a:chExt cx="1895485" cy="1107527"/>
          </a:xfrm>
        </p:grpSpPr>
        <p:grpSp>
          <p:nvGrpSpPr>
            <p:cNvPr id="29" name="组合 28"/>
            <p:cNvGrpSpPr/>
            <p:nvPr/>
          </p:nvGrpSpPr>
          <p:grpSpPr>
            <a:xfrm>
              <a:off x="3143240" y="1643056"/>
              <a:ext cx="1809765" cy="276999"/>
              <a:chOff x="3643306" y="1895467"/>
              <a:chExt cx="1809765" cy="276999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3643306" y="1928808"/>
                <a:ext cx="1785950" cy="21431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667121" y="1895467"/>
                <a:ext cx="17859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保存进程状态到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PCB</a:t>
                </a:r>
                <a:r>
                  <a:rPr lang="en-US" altLang="zh-CN" sz="1200" b="1" baseline="-25000" dirty="0">
                    <a:solidFill>
                      <a:schemeClr val="bg1"/>
                    </a:solidFill>
                    <a:latin typeface="+mn-ea"/>
                  </a:rPr>
                  <a:t>0</a:t>
                </a:r>
                <a:endParaRPr lang="zh-CN" altLang="en-US" sz="1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3057520" y="1190613"/>
              <a:ext cx="16584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11576A"/>
                  </a:solidFill>
                  <a:latin typeface="+mn-ea"/>
                </a:rPr>
                <a:t>中断或系统调用</a:t>
              </a:r>
              <a:endParaRPr lang="zh-CN" altLang="en-US" sz="12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779832" y="1928808"/>
              <a:ext cx="428322" cy="369332"/>
            </a:xfrm>
            <a:prstGeom prst="rect">
              <a:avLst/>
            </a:prstGeom>
            <a:noFill/>
            <a:scene3d>
              <a:camera prst="orthographicFront">
                <a:rot lat="0" lon="0" rev="54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rPr>
                <a:t>…</a:t>
              </a:r>
              <a:endParaRPr lang="en-US" altLang="zh-CN" b="1" spc="100">
                <a:solidFill>
                  <a:srgbClr val="11576A"/>
                </a:solidFill>
                <a:latin typeface="华文琥珀" pitchFamily="2" charset="-122"/>
                <a:ea typeface="华文琥珀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659312" y="4752987"/>
            <a:ext cx="1809765" cy="276999"/>
            <a:chOff x="3643306" y="1895467"/>
            <a:chExt cx="1809765" cy="276999"/>
          </a:xfrm>
        </p:grpSpPr>
        <p:sp>
          <p:nvSpPr>
            <p:cNvPr id="31" name="矩形 30"/>
            <p:cNvSpPr/>
            <p:nvPr/>
          </p:nvSpPr>
          <p:spPr>
            <a:xfrm>
              <a:off x="3643306" y="1928808"/>
              <a:ext cx="1785950" cy="214314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67121" y="1895467"/>
              <a:ext cx="1785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spc="-60" dirty="0">
                  <a:solidFill>
                    <a:schemeClr val="bg1"/>
                  </a:solidFill>
                  <a:latin typeface="+mn-ea"/>
                </a:rPr>
                <a:t>从</a:t>
              </a:r>
              <a:r>
                <a:rPr lang="en-US" altLang="zh-CN" sz="1200" b="1" spc="-60" dirty="0">
                  <a:solidFill>
                    <a:schemeClr val="bg1"/>
                  </a:solidFill>
                  <a:latin typeface="+mn-ea"/>
                </a:rPr>
                <a:t>PCB</a:t>
              </a:r>
              <a:r>
                <a:rPr lang="en-US" altLang="zh-CN" sz="1200" b="1" spc="-60" baseline="-25000" dirty="0">
                  <a:solidFill>
                    <a:schemeClr val="bg1"/>
                  </a:solidFill>
                  <a:latin typeface="+mn-ea"/>
                </a:rPr>
                <a:t>0</a:t>
              </a:r>
              <a:r>
                <a:rPr lang="zh-CN" altLang="en-US" sz="1200" b="1" dirty="0">
                  <a:solidFill>
                    <a:schemeClr val="bg1"/>
                  </a:solidFill>
                  <a:latin typeface="+mn-ea"/>
                </a:rPr>
                <a:t>恢复进程状态</a:t>
              </a:r>
              <a:endParaRPr lang="zh-CN" altLang="en-US" sz="1200" b="1" spc="-6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583898" y="3655499"/>
            <a:ext cx="2000264" cy="1071529"/>
            <a:chOff x="3059898" y="2798247"/>
            <a:chExt cx="2000264" cy="1071529"/>
          </a:xfrm>
        </p:grpSpPr>
        <p:grpSp>
          <p:nvGrpSpPr>
            <p:cNvPr id="25" name="组合 24"/>
            <p:cNvGrpSpPr/>
            <p:nvPr/>
          </p:nvGrpSpPr>
          <p:grpSpPr>
            <a:xfrm>
              <a:off x="3144806" y="3253971"/>
              <a:ext cx="1809765" cy="276999"/>
              <a:chOff x="3643306" y="1895467"/>
              <a:chExt cx="1809765" cy="276999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3643306" y="1928808"/>
                <a:ext cx="1785950" cy="214314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667121" y="1895467"/>
                <a:ext cx="17859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保存进程状态到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PCB</a:t>
                </a:r>
                <a:r>
                  <a:rPr lang="en-US" altLang="zh-CN" sz="1200" b="1" baseline="-25000" dirty="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zh-CN" altLang="en-US" sz="1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3059898" y="2798247"/>
              <a:ext cx="20002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11576A"/>
                  </a:solidFill>
                  <a:latin typeface="+mn-ea"/>
                </a:rPr>
                <a:t>中断或系统调用</a:t>
              </a:r>
              <a:endParaRPr lang="zh-CN" altLang="en-US" sz="12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794120" y="3500444"/>
              <a:ext cx="428322" cy="369332"/>
            </a:xfrm>
            <a:prstGeom prst="rect">
              <a:avLst/>
            </a:prstGeom>
            <a:noFill/>
            <a:scene3d>
              <a:camera prst="orthographicFront">
                <a:rot lat="0" lon="0" rev="54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rPr>
                <a:t>…</a:t>
              </a:r>
              <a:endParaRPr lang="en-US" altLang="zh-CN" b="1" spc="100">
                <a:solidFill>
                  <a:srgbClr val="11576A"/>
                </a:solidFill>
                <a:latin typeface="华文琥珀" pitchFamily="2" charset="-122"/>
                <a:ea typeface="华文琥珀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809854" y="1719396"/>
            <a:ext cx="5357061" cy="327384"/>
            <a:chOff x="1285852" y="862146"/>
            <a:chExt cx="5357061" cy="327384"/>
          </a:xfrm>
        </p:grpSpPr>
        <p:sp>
          <p:nvSpPr>
            <p:cNvPr id="74" name="TextBox 73"/>
            <p:cNvSpPr txBox="1"/>
            <p:nvPr/>
          </p:nvSpPr>
          <p:spPr>
            <a:xfrm>
              <a:off x="3563888" y="862146"/>
              <a:ext cx="15716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操作系统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642781" y="881753"/>
              <a:ext cx="1000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进程</a:t>
              </a:r>
              <a:r>
                <a:rPr lang="en-US" altLang="zh-CN" sz="1400" b="1" dirty="0">
                  <a:solidFill>
                    <a:srgbClr val="11576A"/>
                  </a:solidFill>
                  <a:latin typeface="+mn-ea"/>
                </a:rPr>
                <a:t> P</a:t>
              </a:r>
              <a:r>
                <a:rPr lang="en-US" altLang="zh-CN" sz="1400" b="1" baseline="-25000" dirty="0">
                  <a:solidFill>
                    <a:srgbClr val="11576A"/>
                  </a:solidFill>
                  <a:latin typeface="+mn-ea"/>
                </a:rPr>
                <a:t>1</a:t>
              </a:r>
              <a:endParaRPr lang="zh-CN" altLang="en-US" sz="1400" b="1" baseline="-25000" dirty="0">
                <a:solidFill>
                  <a:srgbClr val="11576A"/>
                </a:solidFill>
                <a:latin typeface="+mn-ea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285852" y="880414"/>
              <a:ext cx="1000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进程</a:t>
              </a:r>
              <a:r>
                <a:rPr lang="en-US" altLang="zh-CN" sz="1400" b="1" dirty="0">
                  <a:solidFill>
                    <a:srgbClr val="11576A"/>
                  </a:solidFill>
                  <a:latin typeface="+mn-ea"/>
                </a:rPr>
                <a:t> P</a:t>
              </a:r>
              <a:r>
                <a:rPr lang="en-US" altLang="zh-CN" sz="1400" b="1" baseline="-25000" dirty="0">
                  <a:solidFill>
                    <a:srgbClr val="11576A"/>
                  </a:solidFill>
                  <a:latin typeface="+mn-ea"/>
                </a:rPr>
                <a:t>0</a:t>
              </a:r>
              <a:endParaRPr lang="zh-CN" altLang="en-US" sz="1400" b="1" baseline="-25000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352721" y="2054516"/>
            <a:ext cx="892787" cy="1290346"/>
            <a:chOff x="5828719" y="1197266"/>
            <a:chExt cx="892787" cy="1290346"/>
          </a:xfrm>
        </p:grpSpPr>
        <p:sp>
          <p:nvSpPr>
            <p:cNvPr id="4" name="右大括号 3"/>
            <p:cNvSpPr/>
            <p:nvPr/>
          </p:nvSpPr>
          <p:spPr>
            <a:xfrm>
              <a:off x="6025869" y="1218368"/>
              <a:ext cx="208800" cy="1263189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77767" y="171236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5838834" y="2486024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5928528" y="1197266"/>
              <a:ext cx="0" cy="1278552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5828719" y="120955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/>
          <p:cNvGrpSpPr/>
          <p:nvPr/>
        </p:nvGrpSpPr>
        <p:grpSpPr>
          <a:xfrm>
            <a:off x="7362834" y="4117982"/>
            <a:ext cx="892556" cy="907363"/>
            <a:chOff x="5838834" y="3260730"/>
            <a:chExt cx="892556" cy="907363"/>
          </a:xfrm>
        </p:grpSpPr>
        <p:sp>
          <p:nvSpPr>
            <p:cNvPr id="7" name="TextBox 6"/>
            <p:cNvSpPr txBox="1"/>
            <p:nvPr/>
          </p:nvSpPr>
          <p:spPr>
            <a:xfrm>
              <a:off x="6187651" y="36001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5838834" y="326073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930116" y="3261218"/>
              <a:ext cx="0" cy="894708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右大括号 79"/>
            <p:cNvSpPr/>
            <p:nvPr/>
          </p:nvSpPr>
          <p:spPr>
            <a:xfrm>
              <a:off x="6073706" y="3273486"/>
              <a:ext cx="166840" cy="893019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4" name="直接连接符 123"/>
            <p:cNvCxnSpPr/>
            <p:nvPr/>
          </p:nvCxnSpPr>
          <p:spPr>
            <a:xfrm>
              <a:off x="5838834" y="4166505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>
            <a:off x="2554032" y="2511304"/>
            <a:ext cx="931378" cy="841178"/>
            <a:chOff x="1019300" y="1506921"/>
            <a:chExt cx="931378" cy="841178"/>
          </a:xfrm>
        </p:grpSpPr>
        <p:grpSp>
          <p:nvGrpSpPr>
            <p:cNvPr id="82" name="组合 81"/>
            <p:cNvGrpSpPr/>
            <p:nvPr/>
          </p:nvGrpSpPr>
          <p:grpSpPr>
            <a:xfrm>
              <a:off x="1770678" y="1506921"/>
              <a:ext cx="180000" cy="841178"/>
              <a:chOff x="2199306" y="1506921"/>
              <a:chExt cx="180000" cy="841178"/>
            </a:xfrm>
          </p:grpSpPr>
          <p:cxnSp>
            <p:nvCxnSpPr>
              <p:cNvPr id="85" name="直接连接符 84"/>
              <p:cNvCxnSpPr/>
              <p:nvPr/>
            </p:nvCxnSpPr>
            <p:spPr>
              <a:xfrm>
                <a:off x="2285984" y="1506921"/>
                <a:ext cx="0" cy="829384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2199306" y="234651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右大括号 82"/>
            <p:cNvSpPr/>
            <p:nvPr/>
          </p:nvSpPr>
          <p:spPr>
            <a:xfrm flipH="1">
              <a:off x="1506527" y="1506921"/>
              <a:ext cx="229406" cy="839590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TextBox 37"/>
            <p:cNvSpPr txBox="1"/>
            <p:nvPr/>
          </p:nvSpPr>
          <p:spPr>
            <a:xfrm>
              <a:off x="1019300" y="179241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2554202" y="2502134"/>
            <a:ext cx="918992" cy="1628430"/>
            <a:chOff x="1031686" y="1506921"/>
            <a:chExt cx="918992" cy="1628430"/>
          </a:xfrm>
        </p:grpSpPr>
        <p:grpSp>
          <p:nvGrpSpPr>
            <p:cNvPr id="89" name="组合 88"/>
            <p:cNvGrpSpPr/>
            <p:nvPr/>
          </p:nvGrpSpPr>
          <p:grpSpPr>
            <a:xfrm>
              <a:off x="1770678" y="1506921"/>
              <a:ext cx="180000" cy="1615672"/>
              <a:chOff x="2199306" y="1506921"/>
              <a:chExt cx="180000" cy="1615672"/>
            </a:xfrm>
          </p:grpSpPr>
          <p:cxnSp>
            <p:nvCxnSpPr>
              <p:cNvPr id="92" name="直接连接符 91"/>
              <p:cNvCxnSpPr/>
              <p:nvPr/>
            </p:nvCxnSpPr>
            <p:spPr>
              <a:xfrm>
                <a:off x="2285984" y="1506921"/>
                <a:ext cx="0" cy="1615672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>
                <a:off x="2199306" y="311543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右大括号 89"/>
            <p:cNvSpPr/>
            <p:nvPr/>
          </p:nvSpPr>
          <p:spPr>
            <a:xfrm flipH="1">
              <a:off x="1506527" y="1506921"/>
              <a:ext cx="229406" cy="1628430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TextBox 37"/>
            <p:cNvSpPr txBox="1"/>
            <p:nvPr/>
          </p:nvSpPr>
          <p:spPr>
            <a:xfrm>
              <a:off x="1031686" y="221579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7362687" y="2054291"/>
            <a:ext cx="892705" cy="479131"/>
            <a:chOff x="5855679" y="1200781"/>
            <a:chExt cx="892705" cy="479131"/>
          </a:xfrm>
        </p:grpSpPr>
        <p:sp>
          <p:nvSpPr>
            <p:cNvPr id="107" name="右大括号 106"/>
            <p:cNvSpPr/>
            <p:nvPr/>
          </p:nvSpPr>
          <p:spPr>
            <a:xfrm>
              <a:off x="6063493" y="1218368"/>
              <a:ext cx="171175" cy="458029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TextBox 5"/>
            <p:cNvSpPr txBox="1"/>
            <p:nvPr/>
          </p:nvSpPr>
          <p:spPr>
            <a:xfrm>
              <a:off x="6204645" y="129349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09" name="直接连接符 108"/>
            <p:cNvCxnSpPr/>
            <p:nvPr/>
          </p:nvCxnSpPr>
          <p:spPr>
            <a:xfrm>
              <a:off x="5855679" y="1676397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5945679" y="1200781"/>
              <a:ext cx="0" cy="479131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5855679" y="1214537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/>
          <p:cNvGrpSpPr/>
          <p:nvPr/>
        </p:nvGrpSpPr>
        <p:grpSpPr>
          <a:xfrm>
            <a:off x="7362685" y="2063779"/>
            <a:ext cx="939878" cy="1092662"/>
            <a:chOff x="5838528" y="1197266"/>
            <a:chExt cx="939878" cy="1092662"/>
          </a:xfrm>
        </p:grpSpPr>
        <p:sp>
          <p:nvSpPr>
            <p:cNvPr id="113" name="右大括号 112"/>
            <p:cNvSpPr/>
            <p:nvPr/>
          </p:nvSpPr>
          <p:spPr>
            <a:xfrm>
              <a:off x="6066331" y="1218368"/>
              <a:ext cx="182406" cy="1067630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TextBox 5"/>
            <p:cNvSpPr txBox="1"/>
            <p:nvPr/>
          </p:nvSpPr>
          <p:spPr>
            <a:xfrm>
              <a:off x="6234667" y="161227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15" name="直接连接符 114"/>
            <p:cNvCxnSpPr/>
            <p:nvPr/>
          </p:nvCxnSpPr>
          <p:spPr>
            <a:xfrm>
              <a:off x="5855679" y="228834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5928528" y="1197266"/>
              <a:ext cx="0" cy="1088732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5838528" y="1206034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/>
          <p:cNvGrpSpPr/>
          <p:nvPr/>
        </p:nvGrpSpPr>
        <p:grpSpPr>
          <a:xfrm>
            <a:off x="7359517" y="4111805"/>
            <a:ext cx="895875" cy="646736"/>
            <a:chOff x="5838834" y="3254184"/>
            <a:chExt cx="895875" cy="646736"/>
          </a:xfrm>
        </p:grpSpPr>
        <p:sp>
          <p:nvSpPr>
            <p:cNvPr id="126" name="TextBox 6"/>
            <p:cNvSpPr txBox="1"/>
            <p:nvPr/>
          </p:nvSpPr>
          <p:spPr>
            <a:xfrm>
              <a:off x="6190970" y="344646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27" name="直接连接符 126"/>
            <p:cNvCxnSpPr/>
            <p:nvPr/>
          </p:nvCxnSpPr>
          <p:spPr>
            <a:xfrm>
              <a:off x="5838834" y="326073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5930116" y="3254184"/>
              <a:ext cx="0" cy="646736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右大括号 128"/>
            <p:cNvSpPr/>
            <p:nvPr/>
          </p:nvSpPr>
          <p:spPr>
            <a:xfrm>
              <a:off x="6085649" y="3273487"/>
              <a:ext cx="154897" cy="620124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5838834" y="389361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/>
          <p:cNvGrpSpPr/>
          <p:nvPr/>
        </p:nvGrpSpPr>
        <p:grpSpPr>
          <a:xfrm>
            <a:off x="2602572" y="2505689"/>
            <a:ext cx="875431" cy="644229"/>
            <a:chOff x="1075247" y="1506920"/>
            <a:chExt cx="875431" cy="644229"/>
          </a:xfrm>
        </p:grpSpPr>
        <p:grpSp>
          <p:nvGrpSpPr>
            <p:cNvPr id="134" name="组合 133"/>
            <p:cNvGrpSpPr/>
            <p:nvPr/>
          </p:nvGrpSpPr>
          <p:grpSpPr>
            <a:xfrm>
              <a:off x="1770678" y="1506921"/>
              <a:ext cx="180000" cy="644228"/>
              <a:chOff x="2199306" y="1506921"/>
              <a:chExt cx="180000" cy="644228"/>
            </a:xfrm>
          </p:grpSpPr>
          <p:cxnSp>
            <p:nvCxnSpPr>
              <p:cNvPr id="137" name="直接连接符 136"/>
              <p:cNvCxnSpPr/>
              <p:nvPr/>
            </p:nvCxnSpPr>
            <p:spPr>
              <a:xfrm>
                <a:off x="2285984" y="1506921"/>
                <a:ext cx="0" cy="642640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2199306" y="214956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右大括号 134"/>
            <p:cNvSpPr/>
            <p:nvPr/>
          </p:nvSpPr>
          <p:spPr>
            <a:xfrm flipH="1">
              <a:off x="1579034" y="1506920"/>
              <a:ext cx="155219" cy="642641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TextBox 37"/>
            <p:cNvSpPr txBox="1"/>
            <p:nvPr/>
          </p:nvSpPr>
          <p:spPr>
            <a:xfrm>
              <a:off x="1075247" y="169299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2511738" y="2501722"/>
            <a:ext cx="961456" cy="2242656"/>
            <a:chOff x="989222" y="1506920"/>
            <a:chExt cx="961456" cy="2242656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770678" y="1506921"/>
              <a:ext cx="180000" cy="2242655"/>
              <a:chOff x="2199306" y="1506921"/>
              <a:chExt cx="180000" cy="2242655"/>
            </a:xfrm>
          </p:grpSpPr>
          <p:cxnSp>
            <p:nvCxnSpPr>
              <p:cNvPr id="146" name="直接连接符 145"/>
              <p:cNvCxnSpPr/>
              <p:nvPr/>
            </p:nvCxnSpPr>
            <p:spPr>
              <a:xfrm>
                <a:off x="2285984" y="1506921"/>
                <a:ext cx="0" cy="2218994"/>
              </a:xfrm>
              <a:prstGeom prst="line">
                <a:avLst/>
              </a:prstGeom>
              <a:ln w="508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2199306" y="1506921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2199306" y="3747988"/>
                <a:ext cx="180000" cy="15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右大括号 143"/>
            <p:cNvSpPr/>
            <p:nvPr/>
          </p:nvSpPr>
          <p:spPr>
            <a:xfrm flipH="1">
              <a:off x="1506527" y="1506920"/>
              <a:ext cx="229406" cy="2241067"/>
            </a:xfrm>
            <a:prstGeom prst="rightBrace">
              <a:avLst>
                <a:gd name="adj1" fmla="val 48192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TextBox 37"/>
            <p:cNvSpPr txBox="1"/>
            <p:nvPr/>
          </p:nvSpPr>
          <p:spPr>
            <a:xfrm>
              <a:off x="989222" y="24614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7363688" y="4120278"/>
            <a:ext cx="881818" cy="1183700"/>
            <a:chOff x="5838834" y="3260730"/>
            <a:chExt cx="881818" cy="1183700"/>
          </a:xfrm>
        </p:grpSpPr>
        <p:sp>
          <p:nvSpPr>
            <p:cNvPr id="159" name="TextBox 6"/>
            <p:cNvSpPr txBox="1"/>
            <p:nvPr/>
          </p:nvSpPr>
          <p:spPr>
            <a:xfrm>
              <a:off x="6176913" y="368763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+mn-ea"/>
                </a:rPr>
                <a:t>空闲</a:t>
              </a:r>
              <a:endParaRPr lang="zh-CN" altLang="en-US" sz="1400" b="1" dirty="0">
                <a:solidFill>
                  <a:srgbClr val="11576A"/>
                </a:solidFill>
                <a:latin typeface="+mn-ea"/>
              </a:endParaRPr>
            </a:p>
          </p:txBody>
        </p:sp>
        <p:cxnSp>
          <p:nvCxnSpPr>
            <p:cNvPr id="160" name="直接连接符 159"/>
            <p:cNvCxnSpPr/>
            <p:nvPr/>
          </p:nvCxnSpPr>
          <p:spPr>
            <a:xfrm>
              <a:off x="5838834" y="3260730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5930116" y="3261218"/>
              <a:ext cx="0" cy="1181624"/>
            </a:xfrm>
            <a:prstGeom prst="line">
              <a:avLst/>
            </a:prstGeom>
            <a:ln w="508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右大括号 161"/>
            <p:cNvSpPr/>
            <p:nvPr/>
          </p:nvSpPr>
          <p:spPr>
            <a:xfrm>
              <a:off x="6082330" y="3273486"/>
              <a:ext cx="158216" cy="1145037"/>
            </a:xfrm>
            <a:prstGeom prst="rightBrace">
              <a:avLst>
                <a:gd name="adj1" fmla="val 30963"/>
                <a:gd name="adj2" fmla="val 50000"/>
              </a:avLst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3" name="直接连接符 162"/>
            <p:cNvCxnSpPr/>
            <p:nvPr/>
          </p:nvCxnSpPr>
          <p:spPr>
            <a:xfrm>
              <a:off x="5838834" y="4442842"/>
              <a:ext cx="180000" cy="1588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09800" y="947726"/>
            <a:ext cx="77724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342900" indent="-342900" algn="ctr">
              <a:spcBef>
                <a:spcPct val="20000"/>
              </a:spcBef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进程切换</a:t>
            </a:r>
            <a:endParaRPr lang="zh-CN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sym typeface="MS PGothic" pitchFamily="34" charset="-128"/>
            </a:endParaRPr>
          </a:p>
        </p:txBody>
      </p:sp>
      <p:sp>
        <p:nvSpPr>
          <p:cNvPr id="38" name="Line 25"/>
          <p:cNvSpPr>
            <a:spLocks noChangeShapeType="1"/>
          </p:cNvSpPr>
          <p:nvPr/>
        </p:nvSpPr>
        <p:spPr bwMode="auto">
          <a:xfrm>
            <a:off x="9230022" y="2008075"/>
            <a:ext cx="0" cy="2981325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</a:ln>
        </p:spPr>
        <p:txBody>
          <a:bodyPr wrap="none" anchor="ctr"/>
          <a:lstStyle/>
          <a:p>
            <a:endParaRPr lang="en-US">
              <a:latin typeface="微软雅黑" charset="-122"/>
              <a:ea typeface="微软雅黑" charset="-122"/>
            </a:endParaRPr>
          </a:p>
        </p:txBody>
      </p:sp>
      <p:sp>
        <p:nvSpPr>
          <p:cNvPr id="62" name="Line 49"/>
          <p:cNvSpPr>
            <a:spLocks noChangeShapeType="1"/>
          </p:cNvSpPr>
          <p:nvPr/>
        </p:nvSpPr>
        <p:spPr bwMode="auto">
          <a:xfrm>
            <a:off x="7718722" y="3332048"/>
            <a:ext cx="17399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prstDash val="lgDash"/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微软雅黑" charset="-122"/>
              <a:ea typeface="微软雅黑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654098" y="2265250"/>
            <a:ext cx="1007007" cy="775455"/>
            <a:chOff x="2554032" y="1407998"/>
            <a:chExt cx="1007007" cy="775455"/>
          </a:xfrm>
        </p:grpSpPr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2694483" y="17223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>
              <a:off x="2694483" y="176994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2694483" y="181757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>
              <a:off x="2694483" y="18651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2694483" y="19128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554032" y="1875676"/>
              <a:ext cx="1007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i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k</a:t>
              </a:r>
              <a:r>
                <a:rPr 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: </a:t>
              </a: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sleep()</a:t>
              </a:r>
              <a:endParaRPr lang="en-US" sz="1400" b="1" dirty="0"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0" name="Text Box 78"/>
            <p:cNvSpPr txBox="1">
              <a:spLocks noChangeArrowheads="1"/>
            </p:cNvSpPr>
            <p:nvPr/>
          </p:nvSpPr>
          <p:spPr bwMode="auto">
            <a:xfrm>
              <a:off x="2605583" y="1407998"/>
              <a:ext cx="8515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main{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16748" y="1919262"/>
            <a:ext cx="5871740" cy="419855"/>
            <a:chOff x="2516684" y="1062010"/>
            <a:chExt cx="5871740" cy="419855"/>
          </a:xfrm>
        </p:grpSpPr>
        <p:sp>
          <p:nvSpPr>
            <p:cNvPr id="27" name="Text Box 12"/>
            <p:cNvSpPr txBox="1">
              <a:spLocks noChangeArrowheads="1"/>
            </p:cNvSpPr>
            <p:nvPr/>
          </p:nvSpPr>
          <p:spPr bwMode="auto">
            <a:xfrm>
              <a:off x="2516684" y="1081755"/>
              <a:ext cx="9558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程序</a:t>
              </a:r>
              <a:r>
                <a:rPr 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 1</a:t>
              </a:r>
              <a:endParaRPr 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5818684" y="1062705"/>
              <a:ext cx="9558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程序</a:t>
              </a:r>
              <a:r>
                <a:rPr 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 2</a:t>
              </a:r>
              <a:endParaRPr 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9" name="Text Box 14"/>
            <p:cNvSpPr txBox="1">
              <a:spLocks noChangeArrowheads="1"/>
            </p:cNvSpPr>
            <p:nvPr/>
          </p:nvSpPr>
          <p:spPr bwMode="auto">
            <a:xfrm>
              <a:off x="4141266" y="1062010"/>
              <a:ext cx="12105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操作系统</a:t>
              </a:r>
              <a:endParaRPr 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30" name="Text Box 15"/>
            <p:cNvSpPr txBox="1">
              <a:spLocks noChangeArrowheads="1"/>
            </p:cNvSpPr>
            <p:nvPr/>
          </p:nvSpPr>
          <p:spPr bwMode="auto">
            <a:xfrm>
              <a:off x="7272413" y="1117474"/>
              <a:ext cx="11160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>
                <a:lnSpc>
                  <a:spcPct val="80000"/>
                </a:lnSpc>
                <a:buFont typeface="Monotype Sorts" charset="0"/>
                <a:buNone/>
              </a:pPr>
              <a:r>
                <a:rPr lang="en-US" altLang="zh-CN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I/O</a:t>
              </a: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设备</a:t>
              </a:r>
              <a:endParaRPr 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4" name="Line 81"/>
            <p:cNvSpPr>
              <a:spLocks noChangeShapeType="1"/>
            </p:cNvSpPr>
            <p:nvPr/>
          </p:nvSpPr>
          <p:spPr bwMode="auto">
            <a:xfrm>
              <a:off x="2570658" y="1435370"/>
              <a:ext cx="58039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648624" y="2655773"/>
            <a:ext cx="1730145" cy="792538"/>
            <a:chOff x="3548558" y="1798523"/>
            <a:chExt cx="1730145" cy="792538"/>
          </a:xfrm>
        </p:grpSpPr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3548558" y="2027123"/>
              <a:ext cx="5715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grpSp>
          <p:nvGrpSpPr>
            <p:cNvPr id="47" name="Group 31"/>
            <p:cNvGrpSpPr/>
            <p:nvPr/>
          </p:nvGrpSpPr>
          <p:grpSpPr bwMode="auto">
            <a:xfrm>
              <a:off x="4218483" y="2141423"/>
              <a:ext cx="736600" cy="238125"/>
              <a:chOff x="0" y="0"/>
              <a:chExt cx="488" cy="200"/>
            </a:xfrm>
          </p:grpSpPr>
          <p:sp>
            <p:nvSpPr>
              <p:cNvPr id="48" name="Line 35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9" name="Line 36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0" name="Line 37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1" name="Line 38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2" name="Line 39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3" name="Line 40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59" name="Text Box 46"/>
            <p:cNvSpPr txBox="1">
              <a:spLocks noChangeArrowheads="1"/>
            </p:cNvSpPr>
            <p:nvPr/>
          </p:nvSpPr>
          <p:spPr bwMode="auto">
            <a:xfrm>
              <a:off x="4048879" y="2283284"/>
              <a:ext cx="12298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dirty="0" err="1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add_timer</a:t>
              </a: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()</a:t>
              </a:r>
              <a:endParaRPr lang="en-US" sz="1400" b="1" dirty="0">
                <a:solidFill>
                  <a:schemeClr val="hlink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6" name="Text Box 83"/>
            <p:cNvSpPr txBox="1">
              <a:spLocks noChangeArrowheads="1"/>
            </p:cNvSpPr>
            <p:nvPr/>
          </p:nvSpPr>
          <p:spPr bwMode="auto">
            <a:xfrm>
              <a:off x="4117583" y="1798523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sleep{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93324" y="3484449"/>
            <a:ext cx="1256341" cy="1104901"/>
            <a:chOff x="5593258" y="2627197"/>
            <a:chExt cx="1256341" cy="1104901"/>
          </a:xfrm>
        </p:grpSpPr>
        <p:sp>
          <p:nvSpPr>
            <p:cNvPr id="54" name="Line 41"/>
            <p:cNvSpPr>
              <a:spLocks noChangeShapeType="1"/>
            </p:cNvSpPr>
            <p:nvPr/>
          </p:nvSpPr>
          <p:spPr bwMode="auto">
            <a:xfrm>
              <a:off x="6067921" y="29700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5" name="Line 42"/>
            <p:cNvSpPr>
              <a:spLocks noChangeShapeType="1"/>
            </p:cNvSpPr>
            <p:nvPr/>
          </p:nvSpPr>
          <p:spPr bwMode="auto">
            <a:xfrm>
              <a:off x="6067921" y="30177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6" name="Line 43"/>
            <p:cNvSpPr>
              <a:spLocks noChangeShapeType="1"/>
            </p:cNvSpPr>
            <p:nvPr/>
          </p:nvSpPr>
          <p:spPr bwMode="auto">
            <a:xfrm>
              <a:off x="6067921" y="306534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" name="Line 44"/>
            <p:cNvSpPr>
              <a:spLocks noChangeShapeType="1"/>
            </p:cNvSpPr>
            <p:nvPr/>
          </p:nvSpPr>
          <p:spPr bwMode="auto">
            <a:xfrm>
              <a:off x="6067921" y="311297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8" name="Line 45"/>
            <p:cNvSpPr>
              <a:spLocks noChangeShapeType="1"/>
            </p:cNvSpPr>
            <p:nvPr/>
          </p:nvSpPr>
          <p:spPr bwMode="auto">
            <a:xfrm>
              <a:off x="6067921" y="31605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3" name="Line 50"/>
            <p:cNvSpPr>
              <a:spLocks noChangeShapeType="1"/>
            </p:cNvSpPr>
            <p:nvPr/>
          </p:nvSpPr>
          <p:spPr bwMode="auto">
            <a:xfrm>
              <a:off x="5593258" y="2846273"/>
              <a:ext cx="3937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grpSp>
          <p:nvGrpSpPr>
            <p:cNvPr id="64" name="Group 48"/>
            <p:cNvGrpSpPr/>
            <p:nvPr/>
          </p:nvGrpSpPr>
          <p:grpSpPr bwMode="auto">
            <a:xfrm>
              <a:off x="6067921" y="3208223"/>
              <a:ext cx="736600" cy="238125"/>
              <a:chOff x="0" y="0"/>
              <a:chExt cx="488" cy="200"/>
            </a:xfrm>
          </p:grpSpPr>
          <p:sp>
            <p:nvSpPr>
              <p:cNvPr id="65" name="Line 52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6" name="Line 53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7" name="Line 54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8" name="Line 55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69" name="Line 56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0" name="Line 57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101" name="Text Box 79"/>
            <p:cNvSpPr txBox="1">
              <a:spLocks noChangeArrowheads="1"/>
            </p:cNvSpPr>
            <p:nvPr/>
          </p:nvSpPr>
          <p:spPr bwMode="auto">
            <a:xfrm>
              <a:off x="5998084" y="2627197"/>
              <a:ext cx="8515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main{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110" name="Group 84"/>
            <p:cNvGrpSpPr/>
            <p:nvPr/>
          </p:nvGrpSpPr>
          <p:grpSpPr bwMode="auto">
            <a:xfrm>
              <a:off x="6067921" y="3493973"/>
              <a:ext cx="736600" cy="238125"/>
              <a:chOff x="0" y="0"/>
              <a:chExt cx="488" cy="200"/>
            </a:xfrm>
          </p:grpSpPr>
          <p:sp>
            <p:nvSpPr>
              <p:cNvPr id="111" name="Line 88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2" name="Line 89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3" name="Line 90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4" name="Line 91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5" name="Line 92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6" name="Line 93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</p:grpSp>
      <p:sp>
        <p:nvSpPr>
          <p:cNvPr id="127" name="Line 98"/>
          <p:cNvSpPr>
            <a:spLocks noChangeShapeType="1"/>
          </p:cNvSpPr>
          <p:nvPr/>
        </p:nvSpPr>
        <p:spPr bwMode="auto">
          <a:xfrm>
            <a:off x="5039022" y="5732348"/>
            <a:ext cx="12827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微软雅黑" charset="-122"/>
              <a:ea typeface="微软雅黑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169058" y="4971541"/>
            <a:ext cx="2076464" cy="977741"/>
            <a:chOff x="2068994" y="4114289"/>
            <a:chExt cx="2076464" cy="977741"/>
          </a:xfrm>
        </p:grpSpPr>
        <p:sp>
          <p:nvSpPr>
            <p:cNvPr id="37" name="Text Box 24"/>
            <p:cNvSpPr txBox="1">
              <a:spLocks noChangeArrowheads="1"/>
            </p:cNvSpPr>
            <p:nvPr/>
          </p:nvSpPr>
          <p:spPr bwMode="auto">
            <a:xfrm>
              <a:off x="2068994" y="4114289"/>
              <a:ext cx="7072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 i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k</a:t>
              </a: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+1: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40" name="Group 24"/>
            <p:cNvGrpSpPr/>
            <p:nvPr/>
          </p:nvGrpSpPr>
          <p:grpSpPr bwMode="auto">
            <a:xfrm>
              <a:off x="2694483" y="4255973"/>
              <a:ext cx="736600" cy="238125"/>
              <a:chOff x="0" y="0"/>
              <a:chExt cx="488" cy="200"/>
            </a:xfrm>
          </p:grpSpPr>
          <p:sp>
            <p:nvSpPr>
              <p:cNvPr id="41" name="Line 28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2" name="Line 29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3" name="Line 30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4" name="Line 31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5" name="Line 32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46" name="Line 33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98" name="Line 76"/>
            <p:cNvSpPr>
              <a:spLocks noChangeShapeType="1"/>
            </p:cNvSpPr>
            <p:nvPr/>
          </p:nvSpPr>
          <p:spPr bwMode="auto">
            <a:xfrm flipH="1">
              <a:off x="3472358" y="4255973"/>
              <a:ext cx="6731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5" name="Text Box 82"/>
            <p:cNvSpPr txBox="1">
              <a:spLocks noChangeArrowheads="1"/>
            </p:cNvSpPr>
            <p:nvPr/>
          </p:nvSpPr>
          <p:spPr bwMode="auto">
            <a:xfrm>
              <a:off x="2605584" y="4722698"/>
              <a:ext cx="2744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}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128" name="Group 96"/>
            <p:cNvGrpSpPr/>
            <p:nvPr/>
          </p:nvGrpSpPr>
          <p:grpSpPr bwMode="auto">
            <a:xfrm>
              <a:off x="2694483" y="4494098"/>
              <a:ext cx="736600" cy="238125"/>
              <a:chOff x="0" y="0"/>
              <a:chExt cx="488" cy="200"/>
            </a:xfrm>
          </p:grpSpPr>
          <p:sp>
            <p:nvSpPr>
              <p:cNvPr id="129" name="Line 100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0" name="Line 101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1" name="Line 102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2" name="Line 103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3" name="Line 104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34" name="Line 105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4645322" y="3398723"/>
            <a:ext cx="2670206" cy="788432"/>
            <a:chOff x="2545258" y="2541473"/>
            <a:chExt cx="2670206" cy="788432"/>
          </a:xfrm>
        </p:grpSpPr>
        <p:sp>
          <p:nvSpPr>
            <p:cNvPr id="60" name="Line 47"/>
            <p:cNvSpPr>
              <a:spLocks noChangeShapeType="1"/>
            </p:cNvSpPr>
            <p:nvPr/>
          </p:nvSpPr>
          <p:spPr bwMode="auto">
            <a:xfrm>
              <a:off x="4205783" y="25509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1" name="Line 48"/>
            <p:cNvSpPr>
              <a:spLocks noChangeShapeType="1"/>
            </p:cNvSpPr>
            <p:nvPr/>
          </p:nvSpPr>
          <p:spPr bwMode="auto">
            <a:xfrm>
              <a:off x="4205783" y="25986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3" name="Line 80"/>
            <p:cNvSpPr>
              <a:spLocks noChangeShapeType="1"/>
            </p:cNvSpPr>
            <p:nvPr/>
          </p:nvSpPr>
          <p:spPr bwMode="auto">
            <a:xfrm>
              <a:off x="4205783" y="264624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7" name="Text Box 84"/>
            <p:cNvSpPr txBox="1">
              <a:spLocks noChangeArrowheads="1"/>
            </p:cNvSpPr>
            <p:nvPr/>
          </p:nvSpPr>
          <p:spPr bwMode="auto">
            <a:xfrm>
              <a:off x="4154984" y="2960573"/>
              <a:ext cx="2744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}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36" name="Line 107"/>
            <p:cNvSpPr>
              <a:spLocks noChangeShapeType="1"/>
            </p:cNvSpPr>
            <p:nvPr/>
          </p:nvSpPr>
          <p:spPr bwMode="auto">
            <a:xfrm>
              <a:off x="4205783" y="269387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7" name="Line 108"/>
            <p:cNvSpPr>
              <a:spLocks noChangeShapeType="1"/>
            </p:cNvSpPr>
            <p:nvPr/>
          </p:nvSpPr>
          <p:spPr bwMode="auto">
            <a:xfrm>
              <a:off x="4205783" y="2741498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8" name="Line 109"/>
            <p:cNvSpPr>
              <a:spLocks noChangeShapeType="1"/>
            </p:cNvSpPr>
            <p:nvPr/>
          </p:nvSpPr>
          <p:spPr bwMode="auto">
            <a:xfrm>
              <a:off x="4205783" y="2789123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5" name="AutoShape 125"/>
            <p:cNvSpPr/>
            <p:nvPr/>
          </p:nvSpPr>
          <p:spPr bwMode="auto">
            <a:xfrm>
              <a:off x="3994646" y="2541473"/>
              <a:ext cx="74613" cy="266700"/>
            </a:xfrm>
            <a:prstGeom prst="leftBrace">
              <a:avLst>
                <a:gd name="adj1" fmla="val 39716"/>
                <a:gd name="adj2" fmla="val 50000"/>
              </a:avLst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56" name="Oval 126"/>
            <p:cNvSpPr>
              <a:spLocks noChangeArrowheads="1"/>
            </p:cNvSpPr>
            <p:nvPr/>
          </p:nvSpPr>
          <p:spPr bwMode="auto">
            <a:xfrm>
              <a:off x="2545258" y="2570051"/>
              <a:ext cx="1079500" cy="514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107763" dir="2700000" algn="ctr" rotWithShape="0">
                <a:srgbClr val="B2B2B2">
                  <a:alpha val="71999"/>
                </a:srgbClr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保存现场</a:t>
              </a:r>
              <a:endParaRPr 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7" name="Line 127"/>
            <p:cNvSpPr>
              <a:spLocks noChangeShapeType="1"/>
            </p:cNvSpPr>
            <p:nvPr/>
          </p:nvSpPr>
          <p:spPr bwMode="auto">
            <a:xfrm flipH="1">
              <a:off x="3612058" y="2674823"/>
              <a:ext cx="355600" cy="28575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8" name="Text Box 131"/>
            <p:cNvSpPr txBox="1">
              <a:spLocks noChangeArrowheads="1"/>
            </p:cNvSpPr>
            <p:nvPr/>
          </p:nvSpPr>
          <p:spPr bwMode="auto">
            <a:xfrm>
              <a:off x="4096247" y="2752902"/>
              <a:ext cx="111921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schedule()</a:t>
              </a:r>
              <a:endParaRPr lang="en-US" sz="1400" b="1" dirty="0">
                <a:solidFill>
                  <a:schemeClr val="hlink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518947" y="3227273"/>
            <a:ext cx="736600" cy="1190625"/>
            <a:chOff x="7418883" y="2370021"/>
            <a:chExt cx="736600" cy="1190625"/>
          </a:xfrm>
        </p:grpSpPr>
        <p:grpSp>
          <p:nvGrpSpPr>
            <p:cNvPr id="71" name="Group 55"/>
            <p:cNvGrpSpPr/>
            <p:nvPr/>
          </p:nvGrpSpPr>
          <p:grpSpPr bwMode="auto">
            <a:xfrm>
              <a:off x="7418883" y="2465271"/>
              <a:ext cx="736600" cy="238125"/>
              <a:chOff x="0" y="0"/>
              <a:chExt cx="488" cy="200"/>
            </a:xfrm>
          </p:grpSpPr>
          <p:sp>
            <p:nvSpPr>
              <p:cNvPr id="72" name="Line 59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3" name="Line 60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4" name="Line 61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5" name="Line 62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6" name="Line 63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77" name="Line 64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grpSp>
          <p:nvGrpSpPr>
            <p:cNvPr id="78" name="Group 62"/>
            <p:cNvGrpSpPr/>
            <p:nvPr/>
          </p:nvGrpSpPr>
          <p:grpSpPr bwMode="auto">
            <a:xfrm>
              <a:off x="7418883" y="2751021"/>
              <a:ext cx="736600" cy="238125"/>
              <a:chOff x="0" y="0"/>
              <a:chExt cx="488" cy="200"/>
            </a:xfrm>
          </p:grpSpPr>
          <p:sp>
            <p:nvSpPr>
              <p:cNvPr id="79" name="Line 66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0" name="Line 67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1" name="Line 68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2" name="Line 69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3" name="Line 70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84" name="Line 71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88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87" name="Line 72"/>
            <p:cNvSpPr>
              <a:spLocks noChangeShapeType="1"/>
            </p:cNvSpPr>
            <p:nvPr/>
          </p:nvSpPr>
          <p:spPr bwMode="auto">
            <a:xfrm>
              <a:off x="7418883" y="33701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5" name="Line 73"/>
            <p:cNvSpPr>
              <a:spLocks noChangeShapeType="1"/>
            </p:cNvSpPr>
            <p:nvPr/>
          </p:nvSpPr>
          <p:spPr bwMode="auto">
            <a:xfrm>
              <a:off x="7418883" y="34177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7" name="Line 94"/>
            <p:cNvSpPr>
              <a:spLocks noChangeShapeType="1"/>
            </p:cNvSpPr>
            <p:nvPr/>
          </p:nvSpPr>
          <p:spPr bwMode="auto">
            <a:xfrm>
              <a:off x="7418883" y="34177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0" name="Line 95"/>
            <p:cNvSpPr>
              <a:spLocks noChangeShapeType="1"/>
            </p:cNvSpPr>
            <p:nvPr/>
          </p:nvSpPr>
          <p:spPr bwMode="auto">
            <a:xfrm>
              <a:off x="7418883" y="346539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5" name="Line 96"/>
            <p:cNvSpPr>
              <a:spLocks noChangeShapeType="1"/>
            </p:cNvSpPr>
            <p:nvPr/>
          </p:nvSpPr>
          <p:spPr bwMode="auto">
            <a:xfrm>
              <a:off x="7418883" y="35130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6" name="Line 97"/>
            <p:cNvSpPr>
              <a:spLocks noChangeShapeType="1"/>
            </p:cNvSpPr>
            <p:nvPr/>
          </p:nvSpPr>
          <p:spPr bwMode="auto">
            <a:xfrm>
              <a:off x="7418883" y="35606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6" name="Line 117"/>
            <p:cNvSpPr>
              <a:spLocks noChangeShapeType="1"/>
            </p:cNvSpPr>
            <p:nvPr/>
          </p:nvSpPr>
          <p:spPr bwMode="auto">
            <a:xfrm>
              <a:off x="7418883" y="30367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7" name="Line 118"/>
            <p:cNvSpPr>
              <a:spLocks noChangeShapeType="1"/>
            </p:cNvSpPr>
            <p:nvPr/>
          </p:nvSpPr>
          <p:spPr bwMode="auto">
            <a:xfrm>
              <a:off x="7418883" y="308439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8" name="Line 119"/>
            <p:cNvSpPr>
              <a:spLocks noChangeShapeType="1"/>
            </p:cNvSpPr>
            <p:nvPr/>
          </p:nvSpPr>
          <p:spPr bwMode="auto">
            <a:xfrm>
              <a:off x="7418883" y="31320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9" name="Line 120"/>
            <p:cNvSpPr>
              <a:spLocks noChangeShapeType="1"/>
            </p:cNvSpPr>
            <p:nvPr/>
          </p:nvSpPr>
          <p:spPr bwMode="auto">
            <a:xfrm>
              <a:off x="7418883" y="31796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0" name="Line 121"/>
            <p:cNvSpPr>
              <a:spLocks noChangeShapeType="1"/>
            </p:cNvSpPr>
            <p:nvPr/>
          </p:nvSpPr>
          <p:spPr bwMode="auto">
            <a:xfrm>
              <a:off x="7418883" y="32272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1" name="Line 122"/>
            <p:cNvSpPr>
              <a:spLocks noChangeShapeType="1"/>
            </p:cNvSpPr>
            <p:nvPr/>
          </p:nvSpPr>
          <p:spPr bwMode="auto">
            <a:xfrm>
              <a:off x="7418883" y="322727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2" name="Line 123"/>
            <p:cNvSpPr>
              <a:spLocks noChangeShapeType="1"/>
            </p:cNvSpPr>
            <p:nvPr/>
          </p:nvSpPr>
          <p:spPr bwMode="auto">
            <a:xfrm>
              <a:off x="7418883" y="327489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3" name="Line 124"/>
            <p:cNvSpPr>
              <a:spLocks noChangeShapeType="1"/>
            </p:cNvSpPr>
            <p:nvPr/>
          </p:nvSpPr>
          <p:spPr bwMode="auto">
            <a:xfrm>
              <a:off x="7418883" y="33225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3" name="Line 136"/>
            <p:cNvSpPr>
              <a:spLocks noChangeShapeType="1"/>
            </p:cNvSpPr>
            <p:nvPr/>
          </p:nvSpPr>
          <p:spPr bwMode="auto">
            <a:xfrm>
              <a:off x="7418883" y="2370021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4" name="Line 137"/>
            <p:cNvSpPr>
              <a:spLocks noChangeShapeType="1"/>
            </p:cNvSpPr>
            <p:nvPr/>
          </p:nvSpPr>
          <p:spPr bwMode="auto">
            <a:xfrm>
              <a:off x="7418883" y="2417646"/>
              <a:ext cx="736600" cy="0"/>
            </a:xfrm>
            <a:prstGeom prst="line">
              <a:avLst/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049696" y="4421808"/>
            <a:ext cx="4087977" cy="390306"/>
            <a:chOff x="3949630" y="3564558"/>
            <a:chExt cx="4087977" cy="390306"/>
          </a:xfrm>
        </p:grpSpPr>
        <p:sp>
          <p:nvSpPr>
            <p:cNvPr id="96" name="Line 74"/>
            <p:cNvSpPr>
              <a:spLocks noChangeShapeType="1"/>
            </p:cNvSpPr>
            <p:nvPr/>
          </p:nvSpPr>
          <p:spPr bwMode="auto">
            <a:xfrm flipH="1">
              <a:off x="5288458" y="3779723"/>
              <a:ext cx="2070100" cy="0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7" name="Text Box 75"/>
            <p:cNvSpPr txBox="1">
              <a:spLocks noChangeArrowheads="1"/>
            </p:cNvSpPr>
            <p:nvPr/>
          </p:nvSpPr>
          <p:spPr bwMode="auto">
            <a:xfrm>
              <a:off x="3949630" y="3564558"/>
              <a:ext cx="13388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b="1" dirty="0">
                  <a:solidFill>
                    <a:srgbClr val="C00000"/>
                  </a:solidFill>
                  <a:latin typeface="微软雅黑" charset="-122"/>
                  <a:ea typeface="微软雅黑" charset="-122"/>
                  <a:cs typeface="宋体" charset="0"/>
                </a:rPr>
                <a:t>定时时间到</a:t>
              </a:r>
              <a:endParaRPr lang="en-US" b="1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99" name="Text Box 77"/>
            <p:cNvSpPr txBox="1">
              <a:spLocks noChangeArrowheads="1"/>
            </p:cNvSpPr>
            <p:nvPr/>
          </p:nvSpPr>
          <p:spPr bwMode="auto">
            <a:xfrm>
              <a:off x="7378452" y="3585532"/>
              <a:ext cx="6591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中断</a:t>
              </a:r>
              <a:endParaRPr 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42575" y="4713164"/>
            <a:ext cx="3601799" cy="1092100"/>
            <a:chOff x="4042509" y="3735373"/>
            <a:chExt cx="3601799" cy="1092100"/>
          </a:xfrm>
        </p:grpSpPr>
        <p:sp>
          <p:nvSpPr>
            <p:cNvPr id="108" name="Text Box 85"/>
            <p:cNvSpPr txBox="1">
              <a:spLocks noChangeArrowheads="1"/>
            </p:cNvSpPr>
            <p:nvPr/>
          </p:nvSpPr>
          <p:spPr bwMode="auto">
            <a:xfrm>
              <a:off x="4154984" y="4275023"/>
              <a:ext cx="2744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}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09" name="Text Box 86"/>
            <p:cNvSpPr txBox="1">
              <a:spLocks noChangeArrowheads="1"/>
            </p:cNvSpPr>
            <p:nvPr/>
          </p:nvSpPr>
          <p:spPr bwMode="auto">
            <a:xfrm>
              <a:off x="4042509" y="3735373"/>
              <a:ext cx="111921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en-US" sz="1400" b="1" dirty="0">
                  <a:solidFill>
                    <a:schemeClr val="hlink"/>
                  </a:solidFill>
                  <a:latin typeface="微软雅黑" charset="-122"/>
                  <a:ea typeface="微软雅黑" charset="-122"/>
                  <a:cs typeface="宋体" charset="0"/>
                </a:rPr>
                <a:t>schedule()</a:t>
              </a:r>
              <a:endParaRPr lang="en-US" sz="1400" b="1" dirty="0">
                <a:solidFill>
                  <a:schemeClr val="hlink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139" name="Group 107"/>
            <p:cNvGrpSpPr/>
            <p:nvPr/>
          </p:nvGrpSpPr>
          <p:grpSpPr bwMode="auto">
            <a:xfrm>
              <a:off x="4205783" y="4008323"/>
              <a:ext cx="736600" cy="238125"/>
              <a:chOff x="0" y="0"/>
              <a:chExt cx="464" cy="200"/>
            </a:xfrm>
          </p:grpSpPr>
          <p:sp>
            <p:nvSpPr>
              <p:cNvPr id="140" name="Line 111"/>
              <p:cNvSpPr>
                <a:spLocks noChangeShapeType="1"/>
              </p:cNvSpPr>
              <p:nvPr/>
            </p:nvSpPr>
            <p:spPr bwMode="auto">
              <a:xfrm>
                <a:off x="0" y="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1" name="Line 112"/>
              <p:cNvSpPr>
                <a:spLocks noChangeShapeType="1"/>
              </p:cNvSpPr>
              <p:nvPr/>
            </p:nvSpPr>
            <p:spPr bwMode="auto">
              <a:xfrm>
                <a:off x="0" y="4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2" name="Line 113"/>
              <p:cNvSpPr>
                <a:spLocks noChangeShapeType="1"/>
              </p:cNvSpPr>
              <p:nvPr/>
            </p:nvSpPr>
            <p:spPr bwMode="auto">
              <a:xfrm>
                <a:off x="0" y="8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3" name="Line 114"/>
              <p:cNvSpPr>
                <a:spLocks noChangeShapeType="1"/>
              </p:cNvSpPr>
              <p:nvPr/>
            </p:nvSpPr>
            <p:spPr bwMode="auto">
              <a:xfrm>
                <a:off x="0" y="12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4" name="Line 115"/>
              <p:cNvSpPr>
                <a:spLocks noChangeShapeType="1"/>
              </p:cNvSpPr>
              <p:nvPr/>
            </p:nvSpPr>
            <p:spPr bwMode="auto">
              <a:xfrm>
                <a:off x="0" y="16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45" name="Line 116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464" cy="0"/>
              </a:xfrm>
              <a:prstGeom prst="line">
                <a:avLst/>
              </a:prstGeom>
              <a:noFill/>
              <a:ln w="19050" cmpd="sng">
                <a:solidFill>
                  <a:srgbClr val="11576A"/>
                </a:solidFill>
                <a:round/>
              </a:ln>
            </p:spPr>
            <p:txBody>
              <a:bodyPr wrap="none" anchor="ctr"/>
              <a:lstStyle/>
              <a:p>
                <a:endParaRPr lang="en-US">
                  <a:latin typeface="微软雅黑" charset="-122"/>
                  <a:ea typeface="微软雅黑" charset="-122"/>
                </a:endParaRPr>
              </a:p>
            </p:txBody>
          </p:sp>
        </p:grpSp>
        <p:sp>
          <p:nvSpPr>
            <p:cNvPr id="160" name="AutoShape 129"/>
            <p:cNvSpPr/>
            <p:nvPr/>
          </p:nvSpPr>
          <p:spPr bwMode="auto">
            <a:xfrm flipH="1">
              <a:off x="5137646" y="4017848"/>
              <a:ext cx="74612" cy="266700"/>
            </a:xfrm>
            <a:prstGeom prst="leftBrace">
              <a:avLst>
                <a:gd name="adj1" fmla="val 39716"/>
                <a:gd name="adj2" fmla="val 50000"/>
              </a:avLst>
            </a:prstGeom>
            <a:noFill/>
            <a:ln w="19050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61" name="Line 130"/>
            <p:cNvSpPr>
              <a:spLocks noChangeShapeType="1"/>
            </p:cNvSpPr>
            <p:nvPr/>
          </p:nvSpPr>
          <p:spPr bwMode="auto">
            <a:xfrm flipH="1" flipV="1">
              <a:off x="5224958" y="4160723"/>
              <a:ext cx="520700" cy="200025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2" name="Oval 128"/>
            <p:cNvSpPr>
              <a:spLocks noChangeArrowheads="1"/>
            </p:cNvSpPr>
            <p:nvPr/>
          </p:nvSpPr>
          <p:spPr bwMode="auto">
            <a:xfrm>
              <a:off x="5377358" y="4313123"/>
              <a:ext cx="1079500" cy="514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107763" dir="2700000" algn="ctr" rotWithShape="0">
                <a:srgbClr val="B2B2B2">
                  <a:alpha val="71999"/>
                </a:srgbClr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恢复现场</a:t>
              </a:r>
              <a:endParaRPr 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6" name="Oval 140"/>
            <p:cNvSpPr>
              <a:spLocks noChangeArrowheads="1"/>
            </p:cNvSpPr>
            <p:nvPr/>
          </p:nvSpPr>
          <p:spPr bwMode="auto">
            <a:xfrm>
              <a:off x="6564808" y="4027373"/>
              <a:ext cx="1079500" cy="514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107763" dir="2700000" algn="ctr" rotWithShape="0">
                <a:srgbClr val="B2B2B2">
                  <a:alpha val="71999"/>
                </a:srgbClr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保存现场</a:t>
              </a:r>
              <a:endParaRPr 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7" name="Line 141"/>
            <p:cNvSpPr>
              <a:spLocks noChangeShapeType="1"/>
            </p:cNvSpPr>
            <p:nvPr/>
          </p:nvSpPr>
          <p:spPr bwMode="auto">
            <a:xfrm flipH="1" flipV="1">
              <a:off x="5199558" y="4160723"/>
              <a:ext cx="1358900" cy="104775"/>
            </a:xfrm>
            <a:prstGeom prst="line">
              <a:avLst/>
            </a:prstGeom>
            <a:noFill/>
            <a:ln w="28575" cmpd="sng">
              <a:solidFill>
                <a:srgbClr val="11576A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79576" y="2214556"/>
            <a:ext cx="2268000" cy="3314947"/>
            <a:chOff x="179512" y="1357304"/>
            <a:chExt cx="2268000" cy="3314947"/>
          </a:xfrm>
        </p:grpSpPr>
        <p:sp>
          <p:nvSpPr>
            <p:cNvPr id="135" name="Text Box 106"/>
            <p:cNvSpPr txBox="1">
              <a:spLocks noChangeArrowheads="1"/>
            </p:cNvSpPr>
            <p:nvPr/>
          </p:nvSpPr>
          <p:spPr bwMode="auto">
            <a:xfrm>
              <a:off x="660555" y="4302919"/>
              <a:ext cx="1107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>
                <a:buFont typeface="Monotype Sorts" charset="0"/>
                <a:buNone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地址空间</a:t>
              </a:r>
              <a:endParaRPr lang="en-US" b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79512" y="1357304"/>
              <a:ext cx="2268000" cy="2772000"/>
              <a:chOff x="179512" y="1357304"/>
              <a:chExt cx="2268000" cy="2772000"/>
            </a:xfrm>
          </p:grpSpPr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 rot="16200000">
                <a:off x="901278" y="1754476"/>
                <a:ext cx="57900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en-US" sz="3600" b="1">
                    <a:latin typeface="微软雅黑" charset="-122"/>
                    <a:ea typeface="微软雅黑" charset="-122"/>
                    <a:cs typeface="宋体" charset="0"/>
                  </a:rPr>
                  <a:t>...</a:t>
                </a:r>
                <a:endParaRPr lang="en-US" sz="3600" b="1"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179512" y="1357304"/>
                <a:ext cx="2268000" cy="277200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393826" y="1464461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093DD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0" name="Text Box 12"/>
              <p:cNvSpPr txBox="1">
                <a:spLocks noChangeArrowheads="1"/>
              </p:cNvSpPr>
              <p:nvPr/>
            </p:nvSpPr>
            <p:spPr bwMode="auto">
              <a:xfrm>
                <a:off x="896121" y="1441795"/>
                <a:ext cx="79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进程</a:t>
                </a:r>
                <a:r>
                  <a:rPr lang="en-US" altLang="zh-CN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n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393826" y="2357436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093DD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2" name="Text Box 12"/>
              <p:cNvSpPr txBox="1">
                <a:spLocks noChangeArrowheads="1"/>
              </p:cNvSpPr>
              <p:nvPr/>
            </p:nvSpPr>
            <p:spPr bwMode="auto">
              <a:xfrm>
                <a:off x="896121" y="2334770"/>
                <a:ext cx="79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进程</a:t>
                </a:r>
                <a:r>
                  <a:rPr lang="en-US" altLang="zh-CN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2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393826" y="2770113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093DD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4" name="Text Box 12"/>
              <p:cNvSpPr txBox="1">
                <a:spLocks noChangeArrowheads="1"/>
              </p:cNvSpPr>
              <p:nvPr/>
            </p:nvSpPr>
            <p:spPr bwMode="auto">
              <a:xfrm>
                <a:off x="896121" y="2747447"/>
                <a:ext cx="79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进程</a:t>
                </a:r>
                <a:r>
                  <a:rPr lang="en-US" altLang="zh-CN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1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393826" y="3214692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6" name="Text Box 12"/>
              <p:cNvSpPr txBox="1">
                <a:spLocks noChangeArrowheads="1"/>
              </p:cNvSpPr>
              <p:nvPr/>
            </p:nvSpPr>
            <p:spPr bwMode="auto">
              <a:xfrm>
                <a:off x="512890" y="3192026"/>
                <a:ext cx="15696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系统应用软件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393826" y="3643320"/>
                <a:ext cx="1800000" cy="32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78" name="Text Box 12"/>
              <p:cNvSpPr txBox="1">
                <a:spLocks noChangeArrowheads="1"/>
              </p:cNvSpPr>
              <p:nvPr/>
            </p:nvSpPr>
            <p:spPr bwMode="auto">
              <a:xfrm>
                <a:off x="784354" y="3620654"/>
                <a:ext cx="110799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zh-CN" altLang="en-US" b="1">
                    <a:solidFill>
                      <a:schemeClr val="bg1"/>
                    </a:solidFill>
                    <a:latin typeface="微软雅黑" charset="-122"/>
                    <a:ea typeface="微软雅黑" charset="-122"/>
                    <a:cs typeface="宋体" charset="0"/>
                  </a:rPr>
                  <a:t>操作系统</a:t>
                </a:r>
                <a:endParaRPr lang="en-US" b="1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宋体" charset="0"/>
                </a:endParaRPr>
              </a:p>
            </p:txBody>
          </p:sp>
          <p:sp>
            <p:nvSpPr>
              <p:cNvPr id="179" name="Text Box 11"/>
              <p:cNvSpPr txBox="1">
                <a:spLocks noChangeArrowheads="1"/>
              </p:cNvSpPr>
              <p:nvPr/>
            </p:nvSpPr>
            <p:spPr bwMode="auto">
              <a:xfrm rot="16200000">
                <a:off x="852340" y="1754476"/>
                <a:ext cx="55496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>
                  <a:buFont typeface="Monotype Sorts" charset="0"/>
                  <a:buNone/>
                </a:pPr>
                <a:r>
                  <a:rPr lang="en-US" sz="3600" b="1">
                    <a:solidFill>
                      <a:srgbClr val="11576A"/>
                    </a:solidFill>
                    <a:ea typeface="宋体" charset="0"/>
                    <a:cs typeface="宋体" charset="0"/>
                  </a:rPr>
                  <a:t>...</a:t>
                </a:r>
                <a:endParaRPr lang="en-US" sz="3600" b="1">
                  <a:solidFill>
                    <a:srgbClr val="11576A"/>
                  </a:solidFill>
                  <a:ea typeface="宋体" charset="0"/>
                  <a:cs typeface="宋体" charset="0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7325024" y="536448"/>
            <a:ext cx="3513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同步的还有地址空间的切换</a:t>
            </a:r>
            <a:endParaRPr lang="zh-CN" altLang="en-US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62" grpId="0" animBg="1"/>
      <p:bldP spid="12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4583832" y="188641"/>
            <a:ext cx="5439548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>
              <a:lnSpc>
                <a:spcPts val="1300"/>
              </a:lnSpc>
            </a:pPr>
            <a:r>
              <a:rPr lang="en-US" altLang="en-US" sz="2800" spc="-100" dirty="0" err="1"/>
              <a:t>switch_to</a:t>
            </a:r>
            <a:r>
              <a:rPr lang="zh-CN" altLang="en-US" sz="2800" spc="-100" dirty="0"/>
              <a:t>的实现</a:t>
            </a:r>
            <a:endParaRPr lang="zh-CN" altLang="en-US" sz="2800" spc="-100" dirty="0"/>
          </a:p>
        </p:txBody>
      </p:sp>
      <p:grpSp>
        <p:nvGrpSpPr>
          <p:cNvPr id="2" name="组合 1"/>
          <p:cNvGrpSpPr/>
          <p:nvPr/>
        </p:nvGrpSpPr>
        <p:grpSpPr>
          <a:xfrm>
            <a:off x="2423592" y="692696"/>
            <a:ext cx="8244408" cy="5688632"/>
            <a:chOff x="755576" y="794436"/>
            <a:chExt cx="6210591" cy="4562564"/>
          </a:xfrm>
        </p:grpSpPr>
        <p:sp>
          <p:nvSpPr>
            <p:cNvPr id="19" name="矩形 18"/>
            <p:cNvSpPr/>
            <p:nvPr/>
          </p:nvSpPr>
          <p:spPr>
            <a:xfrm>
              <a:off x="1115616" y="4994950"/>
              <a:ext cx="2786082" cy="3620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pushl 0(%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               # push 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eip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4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     ret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55576" y="794436"/>
              <a:ext cx="3643338" cy="4751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.text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300"/>
                </a:lnSpc>
              </a:pP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.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globl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switch_to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300"/>
                </a:lnSpc>
              </a:pP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switch_to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:                      # </a:t>
              </a:r>
              <a:r>
                <a:rPr lang="en-US" altLang="en-US" sz="14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switch_to</a:t>
              </a:r>
              <a:r>
                <a:rPr lang="en-US" altLang="en-US" sz="14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(from, to)   </a:t>
              </a:r>
              <a:endParaRPr lang="zh-CN" altLang="en-US" sz="14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65375" y="1403832"/>
              <a:ext cx="4000528" cy="1719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# save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from's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registers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4(%esp),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     #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points to from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popl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0(%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                # save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eip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!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popl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%esp, 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ecx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12(%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16(%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esi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20(%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edi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24(%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ebp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, 28(%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65375" y="3194205"/>
              <a:ext cx="6000792" cy="1719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# restore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to's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registers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4(%esp),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     # not 8(%esp): popped return address already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                                               #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now points to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to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28(%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ebp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24(%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edi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20(%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esi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16(%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edx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12(%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ecx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8(%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ebx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movl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4(%</a:t>
              </a:r>
              <a:r>
                <a:rPr lang="en-US" altLang="en-US" sz="1600" b="1" spc="-100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eax</a:t>
              </a:r>
              <a:r>
                <a:rPr lang="en-US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), %esp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9" name="标题 1"/>
          <p:cNvSpPr txBox="1"/>
          <p:nvPr/>
        </p:nvSpPr>
        <p:spPr>
          <a:xfrm>
            <a:off x="1991544" y="404665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 altLang="en-US" sz="1600" dirty="0"/>
              <a:t>kern-</a:t>
            </a:r>
            <a:r>
              <a:rPr lang="en-US" altLang="en-US" sz="1600" dirty="0" err="1"/>
              <a:t>ucore</a:t>
            </a:r>
            <a:r>
              <a:rPr lang="en-US" altLang="en-US" sz="1600" dirty="0"/>
              <a:t>/arch/i386/process/</a:t>
            </a:r>
            <a:r>
              <a:rPr lang="en-US" altLang="en-US" sz="1600" dirty="0" err="1"/>
              <a:t>switch.S</a:t>
            </a:r>
            <a:endParaRPr lang="zh-CN" altLang="en-US" sz="1600" dirty="0"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76160" y="4901184"/>
            <a:ext cx="3755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宋体" charset="0"/>
              </a:rPr>
              <a:t>进程上下文的衍生问题：</a:t>
            </a:r>
            <a:endParaRPr lang="en-US" altLang="zh-CN" sz="2000" b="1" dirty="0">
              <a:solidFill>
                <a:srgbClr val="FF0000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地址空间的切换是如何实现的？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进程切换的代价有多大？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r>
              <a: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线程呢？</a:t>
            </a:r>
            <a:endParaRPr lang="zh-CN" altLang="en-US" sz="2000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0698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20372" y="76751"/>
            <a:ext cx="3339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/>
              <a:t>在哪里换的虚拟地址空间？</a:t>
            </a:r>
            <a:r>
              <a:rPr lang="en-US" altLang="zh-CN" sz="2000" dirty="0" err="1">
                <a:solidFill>
                  <a:srgbClr val="FF0000"/>
                </a:solidFill>
              </a:rPr>
              <a:t>cr3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换了空间为啥不影响</a:t>
            </a:r>
            <a:r>
              <a:rPr lang="en-US" altLang="zh-CN" sz="2000" dirty="0" err="1"/>
              <a:t>switch_to</a:t>
            </a:r>
            <a:r>
              <a:rPr lang="zh-CN" altLang="en-US" sz="2000" dirty="0"/>
              <a:t>的执行？</a:t>
            </a:r>
            <a:r>
              <a:rPr lang="zh-CN" altLang="en-US" sz="2000" dirty="0">
                <a:solidFill>
                  <a:srgbClr val="FF0000"/>
                </a:solidFill>
              </a:rPr>
              <a:t>地址空间重叠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2000" dirty="0" err="1"/>
              <a:t>TLB</a:t>
            </a:r>
            <a:r>
              <a:rPr lang="zh-CN" altLang="en-US" sz="2000" dirty="0"/>
              <a:t>中存的是什么？</a:t>
            </a:r>
            <a:r>
              <a:rPr lang="zh-CN" altLang="en-US" sz="2000" dirty="0">
                <a:solidFill>
                  <a:srgbClr val="FF0000"/>
                </a:solidFill>
              </a:rPr>
              <a:t>页表的部分信息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为什么换页表不用管</a:t>
            </a:r>
            <a:r>
              <a:rPr lang="en-US" altLang="zh-CN" sz="2000" dirty="0" err="1"/>
              <a:t>TLB</a:t>
            </a:r>
            <a:r>
              <a:rPr lang="zh-CN" altLang="en-US" sz="2000" dirty="0"/>
              <a:t>？</a:t>
            </a:r>
            <a:r>
              <a:rPr lang="zh-CN" altLang="en-US" sz="2000" dirty="0">
                <a:solidFill>
                  <a:srgbClr val="FF0000"/>
                </a:solidFill>
              </a:rPr>
              <a:t>写入</a:t>
            </a:r>
            <a:r>
              <a:rPr lang="en-US" altLang="zh-CN" sz="2000" dirty="0" err="1">
                <a:solidFill>
                  <a:srgbClr val="FF0000"/>
                </a:solidFill>
              </a:rPr>
              <a:t>cr3</a:t>
            </a:r>
            <a:r>
              <a:rPr lang="zh-CN" altLang="en-US" sz="2000" dirty="0">
                <a:solidFill>
                  <a:srgbClr val="FF0000"/>
                </a:solidFill>
              </a:rPr>
              <a:t>时自动失效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这样有什么缺陷？</a:t>
            </a:r>
            <a:r>
              <a:rPr lang="zh-CN" altLang="en-US" sz="2000" dirty="0">
                <a:solidFill>
                  <a:srgbClr val="FF0000"/>
                </a:solidFill>
              </a:rPr>
              <a:t>重复的页表项也没了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有</a:t>
            </a:r>
            <a:r>
              <a:rPr lang="en-US" altLang="zh-CN" sz="2000" dirty="0"/>
              <a:t>cache</a:t>
            </a:r>
            <a:r>
              <a:rPr lang="zh-CN" altLang="en-US" sz="2000" dirty="0"/>
              <a:t>吗？</a:t>
            </a:r>
            <a:r>
              <a:rPr lang="en-US" altLang="zh-CN" sz="2000" dirty="0"/>
              <a:t>Cache</a:t>
            </a:r>
            <a:r>
              <a:rPr lang="zh-CN" altLang="en-US" sz="2000" dirty="0"/>
              <a:t>怎么办？丢弃，或者用实地址</a:t>
            </a:r>
            <a:r>
              <a:rPr lang="en-US" altLang="zh-CN" sz="2000" dirty="0"/>
              <a:t>cache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为什么换了地址空间不需要重新定位变量？因为多个进程之间内核空间是共享和统一的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itchFamily="2" charset="-122"/>
              </a:rPr>
              <a:t>调度的代价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5363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ea typeface="宋体" pitchFamily="2" charset="-122"/>
              </a:rPr>
              <a:t>i7</a:t>
            </a:r>
            <a:r>
              <a:rPr lang="zh-CN" altLang="en-US" sz="2400" dirty="0">
                <a:ea typeface="宋体" pitchFamily="2" charset="-122"/>
              </a:rPr>
              <a:t>四核处理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四个完全独立的程序</a:t>
            </a:r>
            <a:r>
              <a:rPr lang="en-US" altLang="zh-CN" sz="2400" dirty="0">
                <a:ea typeface="宋体" pitchFamily="2" charset="-122"/>
              </a:rPr>
              <a:t>(</a:t>
            </a:r>
            <a:r>
              <a:rPr lang="zh-CN" altLang="en-US" sz="2400" dirty="0">
                <a:ea typeface="宋体" pitchFamily="2" charset="-122"/>
              </a:rPr>
              <a:t>用泰勒级数计算</a:t>
            </a:r>
            <a:r>
              <a:rPr lang="en-US" altLang="zh-CN" sz="2400" dirty="0" err="1">
                <a:ea typeface="宋体" pitchFamily="2" charset="-122"/>
              </a:rPr>
              <a:t>pai</a:t>
            </a:r>
            <a:r>
              <a:rPr lang="en-US" altLang="zh-CN" sz="2400" dirty="0">
                <a:ea typeface="宋体" pitchFamily="2" charset="-122"/>
              </a:rPr>
              <a:t>)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最后一个线程的完成时截止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单线程执行约</a:t>
            </a:r>
            <a:r>
              <a:rPr lang="en-US" altLang="zh-CN" sz="2400" dirty="0">
                <a:ea typeface="宋体" pitchFamily="2" charset="-122"/>
              </a:rPr>
              <a:t>5</a:t>
            </a:r>
            <a:r>
              <a:rPr lang="zh-CN" altLang="en-US" sz="2400" dirty="0">
                <a:ea typeface="宋体" pitchFamily="2" charset="-122"/>
              </a:rPr>
              <a:t>分钟</a:t>
            </a:r>
            <a:endParaRPr lang="en-US" altLang="zh-CN" sz="2400" dirty="0">
              <a:ea typeface="宋体" pitchFamily="2" charset="-122"/>
            </a:endParaRPr>
          </a:p>
          <a:p>
            <a:r>
              <a:rPr lang="zh-CN" altLang="en-US" sz="2400" dirty="0">
                <a:ea typeface="宋体" pitchFamily="2" charset="-122"/>
              </a:rPr>
              <a:t>四线程与单线程一致</a:t>
            </a:r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400" dirty="0">
                <a:ea typeface="宋体" pitchFamily="2" charset="-122"/>
              </a:rPr>
              <a:t>5</a:t>
            </a:r>
            <a:r>
              <a:rPr lang="zh-CN" altLang="en-US" sz="2400" dirty="0">
                <a:ea typeface="宋体" pitchFamily="2" charset="-122"/>
              </a:rPr>
              <a:t>线程时，需要</a:t>
            </a:r>
            <a:r>
              <a:rPr lang="en-US" altLang="zh-CN" sz="2400" dirty="0">
                <a:ea typeface="宋体" pitchFamily="2" charset="-122"/>
              </a:rPr>
              <a:t>8</a:t>
            </a:r>
            <a:r>
              <a:rPr lang="zh-CN" altLang="en-US" sz="2400" dirty="0">
                <a:ea typeface="宋体" pitchFamily="2" charset="-122"/>
              </a:rPr>
              <a:t>分</a:t>
            </a:r>
            <a:r>
              <a:rPr lang="en-US" altLang="zh-CN" sz="2400" dirty="0">
                <a:ea typeface="宋体" pitchFamily="2" charset="-122"/>
              </a:rPr>
              <a:t>40</a:t>
            </a:r>
            <a:r>
              <a:rPr lang="zh-CN" altLang="en-US" sz="2400" dirty="0">
                <a:ea typeface="宋体" pitchFamily="2" charset="-122"/>
              </a:rPr>
              <a:t>秒（理论值为</a:t>
            </a:r>
            <a:r>
              <a:rPr lang="en-US" altLang="zh-CN" sz="2400" dirty="0">
                <a:ea typeface="宋体" pitchFamily="2" charset="-122"/>
              </a:rPr>
              <a:t>6</a:t>
            </a:r>
            <a:r>
              <a:rPr lang="zh-CN" altLang="en-US" sz="2400" dirty="0">
                <a:ea typeface="宋体" pitchFamily="2" charset="-122"/>
              </a:rPr>
              <a:t>分</a:t>
            </a:r>
            <a:r>
              <a:rPr lang="en-US" altLang="zh-CN" sz="2400" dirty="0">
                <a:ea typeface="宋体" pitchFamily="2" charset="-122"/>
              </a:rPr>
              <a:t>15</a:t>
            </a:r>
            <a:r>
              <a:rPr lang="zh-CN" altLang="en-US" sz="2400" dirty="0">
                <a:ea typeface="宋体" pitchFamily="2" charset="-122"/>
              </a:rPr>
              <a:t>秒）</a:t>
            </a:r>
            <a:endParaRPr lang="en-US" altLang="zh-CN" sz="2400" dirty="0">
              <a:ea typeface="宋体" pitchFamily="2" charset="-122"/>
            </a:endParaRPr>
          </a:p>
          <a:p>
            <a:endParaRPr lang="en-US" altLang="zh-CN" sz="2400" dirty="0">
              <a:ea typeface="宋体" pitchFamily="2" charset="-122"/>
            </a:endParaRPr>
          </a:p>
          <a:p>
            <a:endParaRPr lang="zh-CN" altLang="en-US" dirty="0">
              <a:ea typeface="宋体" pitchFamily="2" charset="-122"/>
            </a:endParaRPr>
          </a:p>
        </p:txBody>
      </p:sp>
      <p:pic>
        <p:nvPicPr>
          <p:cNvPr id="15364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6" y="4005264"/>
            <a:ext cx="5045075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423592" y="4653137"/>
            <a:ext cx="288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实验表明：华为鲲鹏</a:t>
            </a:r>
            <a:r>
              <a:rPr lang="en-US" altLang="zh-CN" dirty="0"/>
              <a:t>916</a:t>
            </a:r>
            <a:r>
              <a:rPr lang="zh-CN" altLang="en-US" dirty="0"/>
              <a:t>服务器的</a:t>
            </a:r>
            <a:r>
              <a:rPr lang="zh-CN" altLang="en-US" dirty="0">
                <a:solidFill>
                  <a:srgbClr val="FF0000"/>
                </a:solidFill>
              </a:rPr>
              <a:t>线程调度</a:t>
            </a:r>
            <a:r>
              <a:rPr lang="zh-CN" altLang="en-US" dirty="0"/>
              <a:t>时间约为</a:t>
            </a:r>
            <a:r>
              <a:rPr lang="en-US" altLang="zh-CN" dirty="0"/>
              <a:t>1900ns</a:t>
            </a:r>
            <a:r>
              <a:rPr lang="zh-CN" altLang="en-US" dirty="0"/>
              <a:t>，可供</a:t>
            </a:r>
            <a:r>
              <a:rPr lang="en-US" altLang="zh-CN" dirty="0"/>
              <a:t>1000</a:t>
            </a:r>
            <a:r>
              <a:rPr lang="zh-CN" altLang="en-US" dirty="0"/>
              <a:t>余条机器指令执行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进程间通信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信号</a:t>
            </a:r>
            <a:endParaRPr lang="en-US" altLang="zh-CN" dirty="0"/>
          </a:p>
          <a:p>
            <a:r>
              <a:rPr lang="zh-CN" altLang="en-US" dirty="0"/>
              <a:t>管道</a:t>
            </a:r>
            <a:endParaRPr lang="en-US" altLang="zh-CN" dirty="0"/>
          </a:p>
          <a:p>
            <a:r>
              <a:rPr lang="zh-CN" altLang="en-US" dirty="0"/>
              <a:t>消息队列</a:t>
            </a:r>
            <a:endParaRPr lang="en-US" altLang="zh-CN" dirty="0"/>
          </a:p>
          <a:p>
            <a:r>
              <a:rPr lang="zh-CN" altLang="en-US" dirty="0"/>
              <a:t>共享内存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几种线程的实现方案对比</a:t>
            </a:r>
            <a:endParaRPr lang="en-US" altLang="zh-CN" dirty="0"/>
          </a:p>
          <a:p>
            <a:pPr lvl="1"/>
            <a:r>
              <a:rPr lang="zh-CN" altLang="en-US" dirty="0"/>
              <a:t>用户空间线程</a:t>
            </a:r>
            <a:endParaRPr lang="en-US" altLang="zh-CN" dirty="0"/>
          </a:p>
          <a:p>
            <a:pPr lvl="1"/>
            <a:r>
              <a:rPr lang="zh-CN" altLang="en-US" dirty="0"/>
              <a:t>内核线程</a:t>
            </a:r>
            <a:endParaRPr lang="en-US" altLang="zh-CN" dirty="0"/>
          </a:p>
          <a:p>
            <a:pPr lvl="1"/>
            <a:r>
              <a:rPr lang="zh-CN" altLang="en-US" dirty="0"/>
              <a:t>组合式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84040" y="116632"/>
            <a:ext cx="77724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342900" indent="-342900" algn="ctr">
              <a:spcBef>
                <a:spcPct val="20000"/>
              </a:spcBef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MS PGothic" pitchFamily="34" charset="-128"/>
              </a:rPr>
              <a:t>线程的概念</a:t>
            </a:r>
            <a:endParaRPr lang="zh-CN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sym typeface="MS PGothic" pitchFamily="34" charset="-128"/>
            </a:endParaRPr>
          </a:p>
        </p:txBody>
      </p:sp>
      <p:sp>
        <p:nvSpPr>
          <p:cNvPr id="32" name="文本框 1"/>
          <p:cNvSpPr txBox="1"/>
          <p:nvPr/>
        </p:nvSpPr>
        <p:spPr>
          <a:xfrm>
            <a:off x="2547088" y="1591169"/>
            <a:ext cx="712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线程是进程的一部分，描述指令流执行状态。它是进程中的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宋体" charset="0"/>
              </a:rPr>
              <a:t>指令执行流</a:t>
            </a: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的最小单元，是</a:t>
            </a:r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CPU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宋体" charset="0"/>
              </a:rPr>
              <a:t>调度</a:t>
            </a: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的基本单位。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  <a:cs typeface="宋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723138" y="2090156"/>
            <a:ext cx="1973263" cy="3931132"/>
            <a:chOff x="6010572" y="1206018"/>
            <a:chExt cx="1973263" cy="3931132"/>
          </a:xfrm>
        </p:grpSpPr>
        <p:sp>
          <p:nvSpPr>
            <p:cNvPr id="26" name="Rectangle 42"/>
            <p:cNvSpPr>
              <a:spLocks noChangeArrowheads="1"/>
            </p:cNvSpPr>
            <p:nvPr/>
          </p:nvSpPr>
          <p:spPr bwMode="auto">
            <a:xfrm>
              <a:off x="6186596" y="4767176"/>
              <a:ext cx="1570943" cy="3699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进程地址空间</a:t>
              </a:r>
              <a:endParaRPr 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1" name="Rectangle 20"/>
            <p:cNvSpPr>
              <a:spLocks noChangeArrowheads="1"/>
            </p:cNvSpPr>
            <p:nvPr/>
          </p:nvSpPr>
          <p:spPr bwMode="auto">
            <a:xfrm>
              <a:off x="6012160" y="1209588"/>
              <a:ext cx="1968500" cy="3557588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12" name="Rectangle 23"/>
            <p:cNvSpPr>
              <a:spLocks noChangeArrowheads="1"/>
            </p:cNvSpPr>
            <p:nvPr/>
          </p:nvSpPr>
          <p:spPr bwMode="auto">
            <a:xfrm>
              <a:off x="6015335" y="4237918"/>
              <a:ext cx="1968500" cy="540000"/>
            </a:xfrm>
            <a:prstGeom prst="rect">
              <a:avLst/>
            </a:prstGeom>
            <a:gradFill>
              <a:gsLst>
                <a:gs pos="100000">
                  <a:srgbClr val="9966CC"/>
                </a:gs>
                <a:gs pos="0">
                  <a:srgbClr val="CC99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6727075" y="4354800"/>
              <a:ext cx="545021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代码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6015335" y="3809852"/>
              <a:ext cx="1968500" cy="468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15" name="Rectangle 27"/>
            <p:cNvSpPr>
              <a:spLocks noChangeArrowheads="1"/>
            </p:cNvSpPr>
            <p:nvPr/>
          </p:nvSpPr>
          <p:spPr bwMode="auto">
            <a:xfrm>
              <a:off x="6457770" y="3877357"/>
              <a:ext cx="1083630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初始化数据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19" name="Rectangle 34"/>
            <p:cNvSpPr>
              <a:spLocks noChangeArrowheads="1"/>
            </p:cNvSpPr>
            <p:nvPr/>
          </p:nvSpPr>
          <p:spPr bwMode="auto">
            <a:xfrm>
              <a:off x="6010572" y="1881101"/>
              <a:ext cx="1968500" cy="390525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21" name="Rectangle 36"/>
            <p:cNvSpPr>
              <a:spLocks noChangeArrowheads="1"/>
            </p:cNvSpPr>
            <p:nvPr/>
          </p:nvSpPr>
          <p:spPr bwMode="auto">
            <a:xfrm>
              <a:off x="6812080" y="1922154"/>
              <a:ext cx="365485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堆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2" name="Rectangle 37"/>
            <p:cNvSpPr>
              <a:spLocks noChangeArrowheads="1"/>
            </p:cNvSpPr>
            <p:nvPr/>
          </p:nvSpPr>
          <p:spPr bwMode="auto">
            <a:xfrm>
              <a:off x="6010572" y="1495339"/>
              <a:ext cx="1968500" cy="390525"/>
            </a:xfrm>
            <a:prstGeom prst="rect">
              <a:avLst/>
            </a:prstGeom>
            <a:gradFill>
              <a:gsLst>
                <a:gs pos="100000">
                  <a:srgbClr val="FF9900"/>
                </a:gs>
                <a:gs pos="0">
                  <a:srgbClr val="FFCC66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23" name="Rectangle 38"/>
            <p:cNvSpPr>
              <a:spLocks noChangeArrowheads="1"/>
            </p:cNvSpPr>
            <p:nvPr/>
          </p:nvSpPr>
          <p:spPr bwMode="auto">
            <a:xfrm>
              <a:off x="6453007" y="1541774"/>
              <a:ext cx="1083630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代码共享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库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24" name="Rectangle 39"/>
            <p:cNvSpPr>
              <a:spLocks noChangeArrowheads="1"/>
            </p:cNvSpPr>
            <p:nvPr/>
          </p:nvSpPr>
          <p:spPr bwMode="auto">
            <a:xfrm>
              <a:off x="6012160" y="1216732"/>
              <a:ext cx="1968500" cy="276225"/>
            </a:xfrm>
            <a:prstGeom prst="rect">
              <a:avLst/>
            </a:prstGeom>
            <a:gradFill>
              <a:gsLst>
                <a:gs pos="100000">
                  <a:srgbClr val="339900"/>
                </a:gs>
                <a:gs pos="0">
                  <a:srgbClr val="CCFF99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>
                <a:buFont typeface="Monotype Sorts" charset="0"/>
                <a:buNone/>
              </a:pPr>
              <a:endParaRPr lang="zh-CN" altLang="en-US">
                <a:ea typeface="宋体" charset="0"/>
                <a:cs typeface="宋体" charset="0"/>
              </a:endParaRPr>
            </a:p>
          </p:txBody>
        </p:sp>
        <p:sp>
          <p:nvSpPr>
            <p:cNvPr id="25" name="Rectangle 40"/>
            <p:cNvSpPr>
              <a:spLocks noChangeArrowheads="1"/>
            </p:cNvSpPr>
            <p:nvPr/>
          </p:nvSpPr>
          <p:spPr bwMode="auto">
            <a:xfrm>
              <a:off x="6723900" y="1206018"/>
              <a:ext cx="545021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段表</a:t>
              </a:r>
              <a:endParaRPr 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44" name="下箭头 43"/>
            <p:cNvSpPr/>
            <p:nvPr/>
          </p:nvSpPr>
          <p:spPr>
            <a:xfrm>
              <a:off x="6782096" y="2289719"/>
              <a:ext cx="428628" cy="252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669527" y="2412794"/>
            <a:ext cx="2673545" cy="1477328"/>
            <a:chOff x="865833" y="2168522"/>
            <a:chExt cx="2673545" cy="1477328"/>
          </a:xfrm>
        </p:grpSpPr>
        <p:sp>
          <p:nvSpPr>
            <p:cNvPr id="48" name="文本框 1"/>
            <p:cNvSpPr txBox="1"/>
            <p:nvPr/>
          </p:nvSpPr>
          <p:spPr>
            <a:xfrm>
              <a:off x="990192" y="2168522"/>
              <a:ext cx="254918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进程的资源分配角色：进程由一组相关资源构成，包括地址空间（代码段、数据段）、打开的文件等各种资源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pic>
          <p:nvPicPr>
            <p:cNvPr id="42" name="图片 41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5833" y="2272628"/>
              <a:ext cx="152577" cy="148997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2671246" y="3897289"/>
            <a:ext cx="2602108" cy="923330"/>
            <a:chOff x="865833" y="3605849"/>
            <a:chExt cx="2602108" cy="923330"/>
          </a:xfrm>
        </p:grpSpPr>
        <p:sp>
          <p:nvSpPr>
            <p:cNvPr id="43" name="文本框 1"/>
            <p:cNvSpPr txBox="1"/>
            <p:nvPr/>
          </p:nvSpPr>
          <p:spPr>
            <a:xfrm>
              <a:off x="990193" y="3605849"/>
              <a:ext cx="24777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线程的处理机调度角色：线程描述在进程资源环境中的指令流执行状态</a:t>
              </a:r>
              <a:endPara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pic>
          <p:nvPicPr>
            <p:cNvPr id="46" name="图片 45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5833" y="3709955"/>
              <a:ext cx="152577" cy="148997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7723136" y="3468484"/>
            <a:ext cx="1968500" cy="1227146"/>
            <a:chOff x="6015335" y="2622078"/>
            <a:chExt cx="1968500" cy="1227146"/>
          </a:xfrm>
        </p:grpSpPr>
        <p:sp>
          <p:nvSpPr>
            <p:cNvPr id="16" name="Rectangle 31"/>
            <p:cNvSpPr>
              <a:spLocks noChangeArrowheads="1"/>
            </p:cNvSpPr>
            <p:nvPr/>
          </p:nvSpPr>
          <p:spPr bwMode="auto">
            <a:xfrm>
              <a:off x="6015335" y="3489224"/>
              <a:ext cx="1968500" cy="360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 algn="ctr">
                <a:buFont typeface="Monotype Sorts" charset="0"/>
                <a:buNone/>
              </a:pPr>
              <a:endParaRPr lang="zh-CN" altLang="en-US">
                <a:latin typeface="Times New Roman" panose="02020503050405090304" charset="0"/>
                <a:ea typeface="宋体" charset="0"/>
                <a:cs typeface="宋体" charset="0"/>
              </a:endParaRPr>
            </a:p>
          </p:txBody>
        </p:sp>
        <p:sp>
          <p:nvSpPr>
            <p:cNvPr id="17" name="Rectangle 32"/>
            <p:cNvSpPr>
              <a:spLocks noChangeArrowheads="1"/>
            </p:cNvSpPr>
            <p:nvPr/>
          </p:nvSpPr>
          <p:spPr bwMode="auto">
            <a:xfrm>
              <a:off x="6492235" y="3515015"/>
              <a:ext cx="835165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线程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2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栈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  <p:sp>
          <p:nvSpPr>
            <p:cNvPr id="45" name="下箭头 44"/>
            <p:cNvSpPr/>
            <p:nvPr/>
          </p:nvSpPr>
          <p:spPr>
            <a:xfrm>
              <a:off x="6782096" y="2622078"/>
              <a:ext cx="428628" cy="252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6015335" y="2861792"/>
              <a:ext cx="1968500" cy="360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</a:ln>
          </p:spPr>
          <p:txBody>
            <a:bodyPr wrap="none" anchor="ctr"/>
            <a:lstStyle/>
            <a:p>
              <a:pPr algn="ctr">
                <a:buFont typeface="Monotype Sorts" charset="0"/>
                <a:buNone/>
              </a:pPr>
              <a:endParaRPr lang="zh-CN" altLang="en-US">
                <a:latin typeface="Times New Roman" panose="02020503050405090304" charset="0"/>
                <a:ea typeface="宋体" charset="0"/>
                <a:cs typeface="宋体" charset="0"/>
              </a:endParaRPr>
            </a:p>
          </p:txBody>
        </p:sp>
        <p:sp>
          <p:nvSpPr>
            <p:cNvPr id="51" name="Rectangle 32"/>
            <p:cNvSpPr>
              <a:spLocks noChangeArrowheads="1"/>
            </p:cNvSpPr>
            <p:nvPr/>
          </p:nvSpPr>
          <p:spPr bwMode="auto">
            <a:xfrm>
              <a:off x="6492235" y="2899892"/>
              <a:ext cx="835165" cy="308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buFont typeface="Monotype Sorts" charset="0"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线程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1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栈</a:t>
              </a:r>
              <a:endParaRPr lang="en-US" altLang="en-US" sz="14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79996" y="2194932"/>
            <a:ext cx="2143140" cy="3395686"/>
            <a:chOff x="3867432" y="1310794"/>
            <a:chExt cx="2143140" cy="3395686"/>
          </a:xfrm>
        </p:grpSpPr>
        <p:sp>
          <p:nvSpPr>
            <p:cNvPr id="52" name="矩形 51"/>
            <p:cNvSpPr/>
            <p:nvPr/>
          </p:nvSpPr>
          <p:spPr>
            <a:xfrm>
              <a:off x="3905532" y="1622504"/>
              <a:ext cx="1214446" cy="121444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6534" y="1610362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PC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266534" y="190825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SP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266534" y="2479760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…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67432" y="218924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其他寄存器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3905532" y="3479892"/>
              <a:ext cx="1214446" cy="121444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66534" y="346775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PC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66534" y="376564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  <a:latin typeface="微软雅黑" charset="-122"/>
                  <a:ea typeface="微软雅黑" charset="-122"/>
                </a:rPr>
                <a:t>SP</a:t>
              </a:r>
              <a:endParaRPr lang="zh-CN" altLang="en-US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266534" y="4337148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…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67432" y="404663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其他寄存器</a:t>
              </a:r>
              <a:endParaRPr lang="zh-CN" altLang="en-US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92415" y="1310794"/>
              <a:ext cx="775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TCB1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92415" y="3122702"/>
              <a:ext cx="775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TCB2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4724688" y="1777522"/>
              <a:ext cx="107157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5400000">
              <a:off x="4465129" y="3099125"/>
              <a:ext cx="264320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>
              <a:off x="5773398" y="4420728"/>
              <a:ext cx="214314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V="1">
              <a:off x="4758977" y="3684758"/>
              <a:ext cx="894405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5400000">
              <a:off x="5189035" y="4149105"/>
              <a:ext cx="928694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>
              <a:off x="5638142" y="4613452"/>
              <a:ext cx="285752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4758186" y="3950310"/>
              <a:ext cx="75231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5400000" flipH="1" flipV="1">
              <a:off x="5037526" y="3487808"/>
              <a:ext cx="9612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>
              <a:off x="5510506" y="3014828"/>
              <a:ext cx="428628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>
              <a:stCxn id="54" idx="3"/>
            </p:cNvCxnSpPr>
            <p:nvPr/>
          </p:nvCxnSpPr>
          <p:spPr>
            <a:xfrm flipV="1">
              <a:off x="4742946" y="2090902"/>
              <a:ext cx="50085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rot="5400000">
              <a:off x="4479418" y="2827662"/>
              <a:ext cx="1500198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/>
            <p:nvPr/>
          </p:nvCxnSpPr>
          <p:spPr>
            <a:xfrm>
              <a:off x="5224754" y="3563472"/>
              <a:ext cx="785818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线程应该在用户态还是内核态？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用户态线程 </a:t>
            </a:r>
            <a:r>
              <a:rPr lang="en-US" altLang="zh-CN" dirty="0"/>
              <a:t>vs </a:t>
            </a:r>
            <a:r>
              <a:rPr lang="zh-CN" altLang="en-US" dirty="0"/>
              <a:t>内核态线程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6" descr="2-13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71" y="2348490"/>
            <a:ext cx="5153025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2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2289752"/>
            <a:ext cx="4203700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50305040509030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50305040509030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50305040509030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FF67F7-7A22-4DB6-97BB-C99E438C2660}" type="slidenum">
              <a:rPr lang="zh-CN" altLang="en-US" sz="1400">
                <a:solidFill>
                  <a:schemeClr val="tx1"/>
                </a:solidFill>
              </a:rPr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131762" y="512428"/>
            <a:ext cx="5617874" cy="5669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50305040509030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50305040509030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50305040509030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zh-CN" sz="2400" b="1" dirty="0">
                <a:solidFill>
                  <a:schemeClr val="tx1"/>
                </a:solidFill>
                <a:ea typeface="宋体" pitchFamily="2" charset="-122"/>
              </a:rPr>
              <a:t>管理优势:</a:t>
            </a:r>
            <a:endParaRPr kumimoji="1" lang="zh-CN" altLang="zh-CN" sz="2400" b="1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线程切换不需要内核模式特权.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线程调用可以是应用程序级的,根据需要可改变调度算法,但不会影响底层的操作系统调度程序.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管理模式可以在任何操作系统中运行,不需要修改系统内核,线程库是提供应用的实用程序。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en-US" sz="2400" b="1" dirty="0">
                <a:solidFill>
                  <a:schemeClr val="tx1"/>
                </a:solidFill>
                <a:ea typeface="宋体" pitchFamily="2" charset="-122"/>
              </a:rPr>
              <a:t>的劣势:</a:t>
            </a:r>
            <a:endParaRPr kumimoji="1" lang="zh-CN" altLang="en-US" sz="2400" b="1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系统调用会引起进程阻塞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这种线程不利于使用多处理器并行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6269180" y="747955"/>
            <a:ext cx="508461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50305040509030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50305040509030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50305040509030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>
              <a:spcBef>
                <a:spcPct val="5000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核心级线程（</a:t>
            </a:r>
            <a:r>
              <a:rPr lang="en-US" altLang="zh-CN" sz="2400" dirty="0">
                <a:solidFill>
                  <a:schemeClr val="tx1"/>
                </a:solidFill>
              </a:rPr>
              <a:t>KLT）：</a:t>
            </a:r>
            <a:r>
              <a:rPr lang="zh-CN" altLang="en-US" sz="2400" dirty="0">
                <a:solidFill>
                  <a:schemeClr val="tx1"/>
                </a:solidFill>
              </a:rPr>
              <a:t>线程由</a:t>
            </a:r>
            <a:r>
              <a:rPr lang="en-US" altLang="zh-CN" sz="2400" dirty="0">
                <a:solidFill>
                  <a:schemeClr val="tx1"/>
                </a:solidFill>
              </a:rPr>
              <a:t>OS</a:t>
            </a:r>
            <a:r>
              <a:rPr lang="zh-CN" altLang="en-US" sz="2400" dirty="0">
                <a:solidFill>
                  <a:schemeClr val="tx1"/>
                </a:solidFill>
              </a:rPr>
              <a:t>内核进行管理，内核给应用程序级提供系统调用</a:t>
            </a:r>
            <a:r>
              <a:rPr lang="en-US" altLang="zh-CN" sz="2400" dirty="0">
                <a:solidFill>
                  <a:schemeClr val="tx1"/>
                </a:solidFill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</a:rPr>
              <a:t>实现对线程的使用。</a:t>
            </a:r>
            <a:endParaRPr kumimoji="1" lang="en-US" altLang="zh-CN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特点: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线程在内核中有保存的信息,系统调度是基于线程完成的.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可克服</a:t>
            </a:r>
            <a:r>
              <a:rPr kumimoji="1" lang="en-US" altLang="zh-CN" sz="2400" dirty="0">
                <a:solidFill>
                  <a:schemeClr val="tx1"/>
                </a:solidFill>
                <a:ea typeface="宋体" pitchFamily="2" charset="-122"/>
              </a:rPr>
              <a:t>ULT</a:t>
            </a: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的两个缺点,且内核程序本身也可以是多线程结构的.</a:t>
            </a:r>
            <a:endParaRPr kumimoji="1" lang="en-US" altLang="zh-CN" sz="240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ea typeface="宋体" pitchFamily="2" charset="-122"/>
              </a:rPr>
              <a:t>劣势：</a:t>
            </a:r>
            <a:endParaRPr kumimoji="1" lang="zh-CN" altLang="en-US" sz="2400" b="1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 线程间的控制转换需要转换到内核模式.（</a:t>
            </a:r>
            <a:r>
              <a:rPr kumimoji="1" lang="zh-CN" altLang="en-US" sz="2400" dirty="0">
                <a:solidFill>
                  <a:srgbClr val="FF0000"/>
                </a:solidFill>
                <a:ea typeface="宋体" pitchFamily="2" charset="-122"/>
              </a:rPr>
              <a:t>为什么</a:t>
            </a: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）</a:t>
            </a:r>
            <a:endParaRPr kumimoji="1" lang="zh-CN" altLang="en-US" sz="2400" dirty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进程管理中的新概念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913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纤程 </a:t>
            </a:r>
            <a:r>
              <a:rPr lang="en-US" altLang="zh-CN" dirty="0"/>
              <a:t>Fiber, </a:t>
            </a:r>
            <a:r>
              <a:rPr lang="en-US" altLang="zh-CN" dirty="0" err="1"/>
              <a:t>ucontext</a:t>
            </a:r>
            <a:endParaRPr lang="en-US" altLang="zh-CN" dirty="0"/>
          </a:p>
          <a:p>
            <a:r>
              <a:rPr lang="zh-CN" altLang="en-US" dirty="0"/>
              <a:t>协程 </a:t>
            </a:r>
            <a:r>
              <a:rPr lang="en-US" altLang="zh-CN" dirty="0" err="1"/>
              <a:t>coroutine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发挥</a:t>
            </a:r>
            <a:r>
              <a:rPr lang="en-US" altLang="zh-CN" dirty="0"/>
              <a:t>ULT</a:t>
            </a:r>
            <a:r>
              <a:rPr lang="zh-CN" altLang="en-US" dirty="0"/>
              <a:t>快速切换的优势</a:t>
            </a:r>
            <a:endParaRPr lang="en-US" altLang="zh-CN" dirty="0"/>
          </a:p>
          <a:p>
            <a:r>
              <a:rPr lang="zh-CN" altLang="en-US" dirty="0"/>
              <a:t>避免无序的争抢，切换都是程序员有意识的发生的</a:t>
            </a:r>
            <a:endParaRPr lang="en-US" altLang="zh-CN" dirty="0"/>
          </a:p>
          <a:p>
            <a:r>
              <a:rPr lang="zh-CN" altLang="en-US" dirty="0"/>
              <a:t>在编程时提出对程序员的限制，要求他们妥善的设计代码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ucontext</a:t>
            </a:r>
            <a:r>
              <a:rPr lang="zh-CN" altLang="en-US" dirty="0"/>
              <a:t>是如何实现的？这仍然是个新兴的研究课题</a:t>
            </a:r>
            <a:endParaRPr lang="en-US" altLang="zh-CN" dirty="0"/>
          </a:p>
          <a:p>
            <a:r>
              <a:rPr lang="zh-CN" altLang="en-US" dirty="0"/>
              <a:t>面向对象的运行时包装原来的</a:t>
            </a:r>
            <a:r>
              <a:rPr lang="en-US" altLang="zh-CN" dirty="0"/>
              <a:t>user space thread</a:t>
            </a:r>
            <a:endParaRPr lang="en-US" altLang="zh-CN" dirty="0"/>
          </a:p>
          <a:p>
            <a:r>
              <a:rPr lang="zh-CN" altLang="en-US" dirty="0"/>
              <a:t>使用体系结构支持用户空间的</a:t>
            </a:r>
            <a:r>
              <a:rPr lang="en-US" altLang="zh-CN" dirty="0"/>
              <a:t>context switch</a:t>
            </a:r>
            <a:r>
              <a:rPr lang="zh-CN" altLang="en-US" dirty="0"/>
              <a:t>等等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7" name="文本框 6"/>
          <p:cNvSpPr txBox="1"/>
          <p:nvPr/>
        </p:nvSpPr>
        <p:spPr>
          <a:xfrm>
            <a:off x="7101879" y="1508155"/>
            <a:ext cx="3441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论文数据展示：华为鲲鹏</a:t>
            </a:r>
            <a:r>
              <a:rPr lang="en-US" altLang="zh-CN" dirty="0"/>
              <a:t>916</a:t>
            </a:r>
            <a:r>
              <a:rPr lang="zh-CN" altLang="en-US" dirty="0"/>
              <a:t>服务器的</a:t>
            </a:r>
            <a:r>
              <a:rPr lang="zh-CN" altLang="en-US" dirty="0">
                <a:solidFill>
                  <a:srgbClr val="FF0000"/>
                </a:solidFill>
              </a:rPr>
              <a:t>线程调度</a:t>
            </a:r>
            <a:r>
              <a:rPr lang="zh-CN" altLang="en-US" dirty="0"/>
              <a:t>时间从</a:t>
            </a:r>
            <a:r>
              <a:rPr lang="en-US" altLang="zh-CN" dirty="0"/>
              <a:t>2500ns</a:t>
            </a:r>
            <a:r>
              <a:rPr lang="zh-CN" altLang="en-US" dirty="0"/>
              <a:t>左右被用户级</a:t>
            </a:r>
            <a:r>
              <a:rPr lang="en-US" altLang="zh-CN" dirty="0"/>
              <a:t>context</a:t>
            </a:r>
            <a:r>
              <a:rPr lang="zh-CN" altLang="en-US" dirty="0"/>
              <a:t>缩减致</a:t>
            </a:r>
            <a:r>
              <a:rPr lang="en-US" altLang="zh-CN" dirty="0"/>
              <a:t>900ns</a:t>
            </a:r>
            <a:r>
              <a:rPr lang="zh-CN" altLang="en-US" dirty="0"/>
              <a:t>左右，性能提升近</a:t>
            </a:r>
            <a:r>
              <a:rPr lang="en-US" altLang="zh-CN" dirty="0"/>
              <a:t>60%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并发与同步（进程间通信</a:t>
            </a:r>
            <a:r>
              <a:rPr lang="en-US" altLang="zh-CN" dirty="0"/>
              <a:t>vs</a:t>
            </a:r>
            <a:r>
              <a:rPr lang="zh-CN" altLang="en-US" dirty="0"/>
              <a:t>线程间并发）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6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竞争、临界区</a:t>
            </a:r>
            <a:endParaRPr lang="en-US" altLang="zh-CN" dirty="0"/>
          </a:p>
          <a:p>
            <a:pPr lvl="1"/>
            <a:r>
              <a:rPr lang="zh-CN" altLang="en-US" dirty="0"/>
              <a:t>几种常见的错误</a:t>
            </a:r>
            <a:endParaRPr lang="en-US" altLang="zh-CN" dirty="0"/>
          </a:p>
          <a:p>
            <a:pPr lvl="1"/>
            <a:r>
              <a:rPr lang="zh-CN" altLang="en-US" dirty="0"/>
              <a:t>几种基于高级语言的“取巧”的设计</a:t>
            </a:r>
            <a:endParaRPr lang="en-US" altLang="zh-CN" dirty="0"/>
          </a:p>
          <a:p>
            <a:r>
              <a:rPr lang="zh-CN" altLang="en-US" dirty="0"/>
              <a:t>互斥、同步</a:t>
            </a:r>
            <a:r>
              <a:rPr lang="en-US" altLang="zh-CN" dirty="0"/>
              <a:t>---</a:t>
            </a:r>
            <a:r>
              <a:rPr lang="zh-CN" altLang="en-US" dirty="0"/>
              <a:t>空闲则入，忙则等待，有限等待</a:t>
            </a:r>
            <a:endParaRPr lang="en-US" altLang="zh-CN" dirty="0"/>
          </a:p>
          <a:p>
            <a:r>
              <a:rPr lang="zh-CN" altLang="en-US" dirty="0"/>
              <a:t>关中断</a:t>
            </a:r>
            <a:r>
              <a:rPr lang="en-US" altLang="zh-CN" dirty="0"/>
              <a:t>---</a:t>
            </a:r>
            <a:r>
              <a:rPr lang="zh-CN" altLang="en-US" dirty="0"/>
              <a:t>理论上能够解决单核心的问题，但是不安全因此不能用（</a:t>
            </a:r>
            <a:r>
              <a:rPr lang="zh-CN" altLang="en-US" dirty="0">
                <a:solidFill>
                  <a:srgbClr val="FF0000"/>
                </a:solidFill>
              </a:rPr>
              <a:t>为什么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原语、信号量、</a:t>
            </a:r>
            <a:r>
              <a:rPr lang="zh-CN" altLang="en-US" dirty="0">
                <a:solidFill>
                  <a:srgbClr val="FF0000"/>
                </a:solidFill>
              </a:rPr>
              <a:t>管程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借助体系结构（</a:t>
            </a:r>
            <a:r>
              <a:rPr lang="en-US" altLang="zh-CN" dirty="0"/>
              <a:t>TSL</a:t>
            </a:r>
            <a:r>
              <a:rPr lang="zh-CN" altLang="en-US" dirty="0"/>
              <a:t>指令）</a:t>
            </a:r>
            <a:endParaRPr lang="en-US" altLang="zh-CN" dirty="0"/>
          </a:p>
          <a:p>
            <a:pPr lvl="1"/>
            <a:r>
              <a:rPr lang="zh-CN" altLang="en-US" dirty="0"/>
              <a:t>借助操作系统的封装，使关中断和配套的操作暴露给用户（系统调用得到的信号量）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借助编程语言再次升级易用性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经典问题</a:t>
            </a:r>
            <a:endParaRPr lang="en-US" altLang="zh-CN" dirty="0"/>
          </a:p>
          <a:p>
            <a:pPr lvl="1"/>
            <a:r>
              <a:rPr lang="zh-CN" altLang="en-US" dirty="0"/>
              <a:t>生产者消费者</a:t>
            </a:r>
            <a:endParaRPr lang="en-US" altLang="zh-CN" dirty="0"/>
          </a:p>
          <a:p>
            <a:pPr lvl="1"/>
            <a:r>
              <a:rPr lang="zh-CN" altLang="en-US" dirty="0"/>
              <a:t>沉睡的理发师</a:t>
            </a:r>
            <a:endParaRPr lang="en-US" altLang="zh-CN" dirty="0"/>
          </a:p>
          <a:p>
            <a:pPr lvl="1"/>
            <a:r>
              <a:rPr lang="zh-CN" altLang="en-US" dirty="0"/>
              <a:t>饥饿的哲学家</a:t>
            </a:r>
            <a:endParaRPr lang="en-US" altLang="zh-CN" dirty="0"/>
          </a:p>
          <a:p>
            <a:pPr lvl="1"/>
            <a:r>
              <a:rPr lang="zh-CN" altLang="en-US" dirty="0"/>
              <a:t>读者写者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具有方案设计或既有方案</a:t>
            </a:r>
            <a:r>
              <a:rPr lang="en-US" altLang="zh-CN" dirty="0">
                <a:solidFill>
                  <a:srgbClr val="FF0000"/>
                </a:solidFill>
              </a:rPr>
              <a:t>bug</a:t>
            </a:r>
            <a:r>
              <a:rPr lang="zh-CN" altLang="en-US" dirty="0">
                <a:solidFill>
                  <a:srgbClr val="FF0000"/>
                </a:solidFill>
              </a:rPr>
              <a:t>分析的能力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记住设计的套路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spect="1" noChangeArrowheads="1"/>
          </p:cNvSpPr>
          <p:nvPr/>
        </p:nvSpPr>
        <p:spPr bwMode="auto">
          <a:xfrm>
            <a:off x="6505755" y="3357562"/>
            <a:ext cx="692769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锁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24" name="Rectangle 14"/>
          <p:cNvSpPr>
            <a:spLocks noChangeAspect="1" noChangeArrowheads="1"/>
          </p:cNvSpPr>
          <p:nvPr/>
        </p:nvSpPr>
        <p:spPr bwMode="auto">
          <a:xfrm>
            <a:off x="7345665" y="3357562"/>
            <a:ext cx="1167259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>
                <a:solidFill>
                  <a:srgbClr val="11576A"/>
                </a:solidFill>
                <a:latin typeface="+mn-ea"/>
                <a:cs typeface="宋体" charset="0"/>
              </a:rPr>
              <a:t>条件变量</a:t>
            </a:r>
            <a:endParaRPr lang="en-US" altLang="zh-CN" b="1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31" name="Rectangle 6"/>
          <p:cNvSpPr>
            <a:spLocks noChangeAspect="1" noChangeArrowheads="1"/>
          </p:cNvSpPr>
          <p:nvPr/>
        </p:nvSpPr>
        <p:spPr bwMode="auto">
          <a:xfrm>
            <a:off x="5425634" y="3357562"/>
            <a:ext cx="936104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bevel/>
          </a:ln>
          <a:effectLst/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信号量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675239" y="4173542"/>
            <a:ext cx="2592773" cy="684218"/>
            <a:chOff x="3390499" y="3316292"/>
            <a:chExt cx="2592773" cy="684218"/>
          </a:xfrm>
        </p:grpSpPr>
        <p:sp>
          <p:nvSpPr>
            <p:cNvPr id="32" name="AutoShape 7"/>
            <p:cNvSpPr>
              <a:spLocks noChangeArrowheads="1"/>
            </p:cNvSpPr>
            <p:nvPr/>
          </p:nvSpPr>
          <p:spPr bwMode="auto">
            <a:xfrm>
              <a:off x="4652948" y="3316292"/>
              <a:ext cx="294377" cy="612000"/>
            </a:xfrm>
            <a:prstGeom prst="upArrow">
              <a:avLst>
                <a:gd name="adj1" fmla="val 50000"/>
                <a:gd name="adj2" fmla="val 58088"/>
              </a:avLst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eaVert" wrap="none" anchor="ctr"/>
            <a:lstStyle/>
            <a:p>
              <a:pPr eaLnBrk="1" hangingPunct="1">
                <a:buFont typeface="Monotype Sorts" charset="0"/>
                <a:buNone/>
              </a:pPr>
              <a:endParaRPr lang="zh-CN" altLang="en-US" b="1">
                <a:latin typeface="+mn-ea"/>
                <a:cs typeface="宋体" charset="0"/>
              </a:endParaRP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4867261" y="3354179"/>
              <a:ext cx="111601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忙等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(</a:t>
              </a: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自旋锁</a:t>
              </a: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)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</p:txBody>
        </p: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3390499" y="3354179"/>
              <a:ext cx="134844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algn="r"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阻塞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  <a:p>
              <a:pPr algn="r" eaLnBrk="1" hangingPunct="1">
                <a:buFont typeface="Monotype Sorts" charset="0"/>
                <a:buNone/>
              </a:pP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(</a:t>
              </a: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等待队列</a:t>
              </a:r>
              <a:r>
                <a:rPr lang="en-US" altLang="zh-CN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)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</p:txBody>
        </p:sp>
      </p:grpSp>
      <p:sp>
        <p:nvSpPr>
          <p:cNvPr id="35" name="内容占位符 2"/>
          <p:cNvSpPr txBox="1"/>
          <p:nvPr/>
        </p:nvSpPr>
        <p:spPr>
          <a:xfrm>
            <a:off x="2927648" y="2071678"/>
            <a:ext cx="1428760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pPr>
              <a:spcBef>
                <a:spcPct val="20000"/>
              </a:spcBef>
              <a:defRPr/>
            </a:pPr>
            <a:r>
              <a:rPr lang="zh-CN" altLang="en-US" dirty="0"/>
              <a:t>并发编程</a:t>
            </a:r>
            <a:endParaRPr lang="zh-CN" altLang="en-US" dirty="0"/>
          </a:p>
        </p:txBody>
      </p:sp>
      <p:sp>
        <p:nvSpPr>
          <p:cNvPr id="37" name="内容占位符 2"/>
          <p:cNvSpPr txBox="1"/>
          <p:nvPr/>
        </p:nvSpPr>
        <p:spPr>
          <a:xfrm>
            <a:off x="2927648" y="5000636"/>
            <a:ext cx="1214446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pPr lvl="0">
              <a:spcBef>
                <a:spcPct val="20000"/>
              </a:spcBef>
            </a:pPr>
            <a:r>
              <a:rPr lang="zh-CN" altLang="en-US" dirty="0"/>
              <a:t>硬件支持</a:t>
            </a:r>
            <a:endParaRPr lang="zh-CN" altLang="en-US" dirty="0"/>
          </a:p>
        </p:txBody>
      </p:sp>
      <p:sp>
        <p:nvSpPr>
          <p:cNvPr id="38" name="Rectangle 6"/>
          <p:cNvSpPr>
            <a:spLocks noChangeAspect="1" noChangeArrowheads="1"/>
          </p:cNvSpPr>
          <p:nvPr/>
        </p:nvSpPr>
        <p:spPr bwMode="auto">
          <a:xfrm>
            <a:off x="4330755" y="4833938"/>
            <a:ext cx="1380000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禁用中断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39" name="Rectangle 7"/>
          <p:cNvSpPr>
            <a:spLocks noChangeAspect="1" noChangeArrowheads="1"/>
          </p:cNvSpPr>
          <p:nvPr/>
        </p:nvSpPr>
        <p:spPr bwMode="auto">
          <a:xfrm>
            <a:off x="5887842" y="4833938"/>
            <a:ext cx="2400000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原子操作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  <a:p>
            <a:pPr algn="ctr" eaLnBrk="1" hangingPunct="1">
              <a:buFont typeface="Monotype Sorts" charset="0"/>
              <a:buNone/>
            </a:pP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(</a:t>
            </a: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如</a:t>
            </a: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TS</a:t>
            </a: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指令</a:t>
            </a: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)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40" name="Rectangle 6"/>
          <p:cNvSpPr>
            <a:spLocks noChangeAspect="1" noChangeArrowheads="1"/>
          </p:cNvSpPr>
          <p:nvPr/>
        </p:nvSpPr>
        <p:spPr bwMode="auto">
          <a:xfrm>
            <a:off x="8464929" y="4833938"/>
            <a:ext cx="1380000" cy="720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原子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  <a:p>
            <a:pPr algn="ctr" eaLnBrk="1" hangingPunct="1">
              <a:buFont typeface="Monotype Sorts" charset="0"/>
              <a:buNone/>
            </a:pPr>
            <a:r>
              <a:rPr lang="en-US" altLang="zh-CN" b="1" dirty="0">
                <a:solidFill>
                  <a:srgbClr val="11576A"/>
                </a:solidFill>
                <a:latin typeface="+mn-ea"/>
                <a:cs typeface="宋体" charset="0"/>
              </a:rPr>
              <a:t>Load/Store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41" name="内容占位符 2"/>
          <p:cNvSpPr txBox="1"/>
          <p:nvPr/>
        </p:nvSpPr>
        <p:spPr>
          <a:xfrm>
            <a:off x="2927648" y="3490128"/>
            <a:ext cx="1285884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pPr lvl="0">
              <a:spcBef>
                <a:spcPct val="20000"/>
              </a:spcBef>
            </a:pPr>
            <a:r>
              <a:rPr lang="zh-CN" altLang="en-US" dirty="0"/>
              <a:t>高层抽象</a:t>
            </a:r>
            <a:endParaRPr lang="zh-CN" altLang="en-US" dirty="0"/>
          </a:p>
        </p:txBody>
      </p:sp>
      <p:sp>
        <p:nvSpPr>
          <p:cNvPr id="42" name="AutoShape 7"/>
          <p:cNvSpPr>
            <a:spLocks noChangeArrowheads="1"/>
          </p:cNvSpPr>
          <p:nvPr/>
        </p:nvSpPr>
        <p:spPr bwMode="auto">
          <a:xfrm>
            <a:off x="6937688" y="2735258"/>
            <a:ext cx="294377" cy="612000"/>
          </a:xfrm>
          <a:prstGeom prst="upArrow">
            <a:avLst>
              <a:gd name="adj1" fmla="val 50000"/>
              <a:gd name="adj2" fmla="val 58088"/>
            </a:avLst>
          </a:prstGeom>
          <a:gradFill>
            <a:gsLst>
              <a:gs pos="100000">
                <a:srgbClr val="11576A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</p:spPr>
        <p:txBody>
          <a:bodyPr vert="eaVert" wrap="none" anchor="ctr"/>
          <a:lstStyle/>
          <a:p>
            <a:pPr eaLnBrk="1" hangingPunct="1">
              <a:buFont typeface="Monotype Sorts" charset="0"/>
              <a:buNone/>
            </a:pPr>
            <a:endParaRPr lang="zh-CN" altLang="en-US" b="1">
              <a:latin typeface="+mn-ea"/>
              <a:cs typeface="宋体" charset="0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1981200" y="1063231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algn="ctr">
              <a:defRPr/>
            </a:pPr>
            <a:r>
              <a:rPr lang="zh-CN" altLang="en-US" dirty="0">
                <a:cs typeface="+mj-cs"/>
              </a:rPr>
              <a:t>基本同步方法</a:t>
            </a:r>
            <a:endParaRPr lang="zh-CN" altLang="en-US" dirty="0">
              <a:cs typeface="+mj-cs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822623" y="3740150"/>
            <a:ext cx="592445" cy="1041400"/>
          </a:xfrm>
          <a:custGeom>
            <a:avLst/>
            <a:gdLst>
              <a:gd name="connsiteX0" fmla="*/ 27517 w 1030817"/>
              <a:gd name="connsiteY0" fmla="*/ 1041400 h 1041400"/>
              <a:gd name="connsiteX1" fmla="*/ 167217 w 1030817"/>
              <a:gd name="connsiteY1" fmla="*/ 317500 h 1041400"/>
              <a:gd name="connsiteX2" fmla="*/ 1030817 w 1030817"/>
              <a:gd name="connsiteY2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0817" h="1041400">
                <a:moveTo>
                  <a:pt x="27517" y="1041400"/>
                </a:moveTo>
                <a:cubicBezTo>
                  <a:pt x="13758" y="766233"/>
                  <a:pt x="0" y="491067"/>
                  <a:pt x="167217" y="317500"/>
                </a:cubicBezTo>
                <a:cubicBezTo>
                  <a:pt x="334434" y="143933"/>
                  <a:pt x="682625" y="71966"/>
                  <a:pt x="1030817" y="0"/>
                </a:cubicBezTo>
              </a:path>
            </a:pathLst>
          </a:custGeom>
          <a:ln w="76200"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8330494" y="3740152"/>
            <a:ext cx="1701845" cy="1062557"/>
            <a:chOff x="6045754" y="2882900"/>
            <a:chExt cx="1701845" cy="1062557"/>
          </a:xfrm>
        </p:grpSpPr>
        <p:sp>
          <p:nvSpPr>
            <p:cNvPr id="27" name="任意多边形 26"/>
            <p:cNvSpPr/>
            <p:nvPr/>
          </p:nvSpPr>
          <p:spPr>
            <a:xfrm>
              <a:off x="6045754" y="2882900"/>
              <a:ext cx="804847" cy="1041400"/>
            </a:xfrm>
            <a:custGeom>
              <a:avLst/>
              <a:gdLst>
                <a:gd name="connsiteX0" fmla="*/ 27517 w 1030817"/>
                <a:gd name="connsiteY0" fmla="*/ 1041400 h 1041400"/>
                <a:gd name="connsiteX1" fmla="*/ 167217 w 1030817"/>
                <a:gd name="connsiteY1" fmla="*/ 317500 h 1041400"/>
                <a:gd name="connsiteX2" fmla="*/ 1030817 w 1030817"/>
                <a:gd name="connsiteY2" fmla="*/ 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0817" h="1041400">
                  <a:moveTo>
                    <a:pt x="27517" y="1041400"/>
                  </a:moveTo>
                  <a:cubicBezTo>
                    <a:pt x="13758" y="766233"/>
                    <a:pt x="0" y="491067"/>
                    <a:pt x="167217" y="317500"/>
                  </a:cubicBezTo>
                  <a:cubicBezTo>
                    <a:pt x="334434" y="143933"/>
                    <a:pt x="682625" y="71966"/>
                    <a:pt x="1030817" y="0"/>
                  </a:cubicBezTo>
                </a:path>
              </a:pathLst>
            </a:custGeom>
            <a:ln w="76200"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tailEnd type="triangle"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7101268" y="3299126"/>
              <a:ext cx="64633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软件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1800" b="1" dirty="0">
                  <a:solidFill>
                    <a:srgbClr val="11576A"/>
                  </a:solidFill>
                  <a:latin typeface="+mn-ea"/>
                  <a:ea typeface="+mn-ea"/>
                  <a:cs typeface="宋体" charset="0"/>
                </a:rPr>
                <a:t>解决</a:t>
              </a:r>
              <a:endParaRPr lang="en-US" altLang="zh-CN" sz="1800" b="1" dirty="0">
                <a:solidFill>
                  <a:srgbClr val="11576A"/>
                </a:solidFill>
                <a:latin typeface="+mn-ea"/>
                <a:ea typeface="+mn-ea"/>
                <a:cs typeface="宋体" charset="0"/>
              </a:endParaRPr>
            </a:p>
          </p:txBody>
        </p:sp>
      </p:grpSp>
      <p:sp>
        <p:nvSpPr>
          <p:cNvPr id="29" name="Rectangle 13"/>
          <p:cNvSpPr>
            <a:spLocks noChangeAspect="1" noChangeArrowheads="1"/>
          </p:cNvSpPr>
          <p:nvPr/>
        </p:nvSpPr>
        <p:spPr bwMode="auto">
          <a:xfrm>
            <a:off x="5909498" y="1924050"/>
            <a:ext cx="1163264" cy="792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临界区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  <p:sp>
        <p:nvSpPr>
          <p:cNvPr id="30" name="Rectangle 15"/>
          <p:cNvSpPr>
            <a:spLocks noChangeAspect="1" noChangeArrowheads="1"/>
          </p:cNvSpPr>
          <p:nvPr/>
        </p:nvSpPr>
        <p:spPr bwMode="auto">
          <a:xfrm>
            <a:off x="7232063" y="1924050"/>
            <a:ext cx="1053434" cy="792000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  <a:miter lim="800000"/>
          </a:ln>
        </p:spPr>
        <p:txBody>
          <a:bodyPr wrap="none" anchor="ctr"/>
          <a:lstStyle/>
          <a:p>
            <a:pPr algn="ctr" eaLnBrk="1" hangingPunct="1">
              <a:buFont typeface="Monotype Sorts" charset="0"/>
              <a:buNone/>
            </a:pPr>
            <a:r>
              <a:rPr lang="zh-CN" altLang="en-US" b="1" dirty="0">
                <a:solidFill>
                  <a:srgbClr val="11576A"/>
                </a:solidFill>
                <a:latin typeface="+mn-ea"/>
                <a:cs typeface="宋体" charset="0"/>
              </a:rPr>
              <a:t>管程</a:t>
            </a:r>
            <a:endParaRPr lang="en-US" altLang="zh-CN" b="1" dirty="0">
              <a:solidFill>
                <a:srgbClr val="11576A"/>
              </a:solidFill>
              <a:latin typeface="+mn-ea"/>
              <a:cs typeface="宋体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用信号量实现临界区的另一种伪码形式</a:t>
            </a:r>
            <a:endParaRPr lang="zh-CN" altLang="en-US" dirty="0"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01160" y="4128032"/>
            <a:ext cx="3952520" cy="354014"/>
            <a:chOff x="1262422" y="3198774"/>
            <a:chExt cx="3952520" cy="354014"/>
          </a:xfrm>
        </p:grpSpPr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30355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/>
            <p:nvPr/>
          </p:nvSpPr>
          <p:spPr>
            <a:xfrm>
              <a:off x="1394986" y="3198774"/>
              <a:ext cx="3819956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P()</a:t>
              </a:r>
              <a:r>
                <a:rPr lang="zh-CN" altLang="en-US" dirty="0"/>
                <a:t>操作保证互斥访问临界资源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201160" y="4800002"/>
            <a:ext cx="4595462" cy="357190"/>
            <a:chOff x="1262422" y="3870744"/>
            <a:chExt cx="4595462" cy="357190"/>
          </a:xfrm>
        </p:grpSpPr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96282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/>
            <p:nvPr/>
          </p:nvSpPr>
          <p:spPr>
            <a:xfrm>
              <a:off x="1394986" y="3870744"/>
              <a:ext cx="4462898" cy="3571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PV</a:t>
              </a:r>
              <a:r>
                <a:rPr lang="zh-CN" altLang="en-US" dirty="0"/>
                <a:t>操作</a:t>
              </a:r>
              <a:r>
                <a:rPr lang="zh-CN" altLang="en-US" dirty="0">
                  <a:solidFill>
                    <a:srgbClr val="C00000"/>
                  </a:solidFill>
                </a:rPr>
                <a:t>不能次序错误、重复或遗漏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83633" y="3790004"/>
            <a:ext cx="4375179" cy="428628"/>
            <a:chOff x="844893" y="2874922"/>
            <a:chExt cx="4375179" cy="428628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1142976" y="2874922"/>
              <a:ext cx="407709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必须</a:t>
              </a:r>
              <a:r>
                <a:rPr lang="zh-CN" altLang="en-US" dirty="0">
                  <a:solidFill>
                    <a:srgbClr val="C00000"/>
                  </a:solidFill>
                </a:rPr>
                <a:t>成对使用</a:t>
              </a:r>
              <a:r>
                <a:rPr lang="en-US" altLang="zh-CN" dirty="0"/>
                <a:t>P()</a:t>
              </a:r>
              <a:r>
                <a:rPr lang="zh-CN" altLang="en-US" dirty="0"/>
                <a:t>操作和</a:t>
              </a:r>
              <a:r>
                <a:rPr lang="en-US" altLang="zh-CN" dirty="0"/>
                <a:t>V()</a:t>
              </a:r>
              <a:r>
                <a:rPr lang="zh-CN" altLang="en-US" dirty="0"/>
                <a:t>操作</a:t>
              </a:r>
              <a:endParaRPr lang="zh-CN" alt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4893" y="287492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01160" y="4451884"/>
            <a:ext cx="6261906" cy="354014"/>
            <a:chOff x="1262422" y="3522626"/>
            <a:chExt cx="6261906" cy="354014"/>
          </a:xfrm>
        </p:grpSpPr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2422" y="362740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/>
            <p:nvPr/>
          </p:nvSpPr>
          <p:spPr>
            <a:xfrm>
              <a:off x="1394986" y="3522626"/>
              <a:ext cx="6129342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  <a:lvl2pPr marL="269875" indent="-93980">
                <a:buNone/>
                <a:defRPr sz="2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V()</a:t>
              </a:r>
              <a:r>
                <a:rPr lang="zh-CN" altLang="en-US" dirty="0"/>
                <a:t>操作在使用后释放临界资源</a:t>
              </a:r>
              <a:endParaRPr lang="zh-CN" altLang="en-US" dirty="0"/>
            </a:p>
          </p:txBody>
        </p:sp>
      </p:grp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3653218" y="2251098"/>
            <a:ext cx="3629198" cy="366767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1" hangingPunct="1">
              <a:buFont typeface="Monotype Sorts" charset="0"/>
              <a:buNone/>
            </a:pPr>
            <a:r>
              <a:rPr lang="en-US" altLang="zh-CN" b="1" dirty="0" err="1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mutex</a:t>
            </a:r>
            <a:r>
              <a:rPr lang="en-US" altLang="zh-CN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 = new Semaphore(1);</a:t>
            </a:r>
            <a:endParaRPr lang="en-US" altLang="zh-CN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3653218" y="2721694"/>
            <a:ext cx="3629198" cy="923330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800" b="1" dirty="0" err="1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mutex</a:t>
            </a:r>
            <a:r>
              <a:rPr lang="en-US" altLang="zh-CN" sz="1800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  <a:sym typeface="Wingdings" panose="05000000000000000000" charset="0"/>
              </a:rPr>
              <a:t>-&gt;P();</a:t>
            </a:r>
            <a:endParaRPr lang="en-US" altLang="zh-CN" sz="1800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Critical Section;</a:t>
            </a:r>
            <a:endParaRPr lang="en-US" altLang="zh-CN" sz="1800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 err="1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</a:rPr>
              <a:t>mutex</a:t>
            </a:r>
            <a:r>
              <a:rPr lang="en-US" altLang="zh-CN" sz="1800" b="1" dirty="0">
                <a:latin typeface="Courier New" panose="02070409020205090404" pitchFamily="49" charset="0"/>
                <a:ea typeface="微软雅黑" charset="-122"/>
                <a:cs typeface="Courier New" panose="02070409020205090404" pitchFamily="49" charset="0"/>
                <a:sym typeface="Wingdings" panose="05000000000000000000" charset="0"/>
              </a:rPr>
              <a:t>-&gt;V();</a:t>
            </a:r>
            <a:endParaRPr lang="en-US" altLang="zh-CN" sz="1800" b="1" dirty="0">
              <a:latin typeface="Courier New" panose="02070409020205090404" pitchFamily="49" charset="0"/>
              <a:ea typeface="微软雅黑" charset="-122"/>
              <a:cs typeface="Courier New" panose="02070409020205090404" pitchFamily="49" charset="0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3013401" y="1759664"/>
            <a:ext cx="6937466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r>
              <a:rPr lang="zh-CN" altLang="en-US" dirty="0"/>
              <a:t>每个临界区设置一个信号量，其初值为</a:t>
            </a:r>
            <a:r>
              <a:rPr lang="en-US" altLang="zh-CN" dirty="0"/>
              <a:t>1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3" grpId="0" animBg="1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用信号量实现条件同步</a:t>
            </a:r>
            <a:endParaRPr lang="zh-CN" altLang="en-US" dirty="0">
              <a:cs typeface="+mj-cs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3046966" y="1893321"/>
            <a:ext cx="5929354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  <a:lvl2pPr marL="269875" indent="-93980">
              <a:buNone/>
              <a:defRPr sz="2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3pPr>
          </a:lstStyle>
          <a:p>
            <a:r>
              <a:rPr lang="zh-CN" altLang="en-US" dirty="0"/>
              <a:t>每个条件同步设置一个信号量，其初值为</a:t>
            </a:r>
            <a:r>
              <a:rPr lang="en-US" altLang="zh-CN" dirty="0"/>
              <a:t>0</a:t>
            </a:r>
            <a:endParaRPr lang="en-US" altLang="zh-CN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547034" y="2390598"/>
            <a:ext cx="4645501" cy="397545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1" hangingPunct="1">
              <a:buFont typeface="Monotype Sorts" charset="0"/>
              <a:buNone/>
            </a:pPr>
            <a:r>
              <a:rPr lang="en-US" altLang="zh-CN" sz="2000" b="1" dirty="0">
                <a:latin typeface="Courier New" panose="02070409020205090404" pitchFamily="49" charset="0"/>
                <a:cs typeface="Courier New" panose="02070409020205090404" pitchFamily="49" charset="0"/>
              </a:rPr>
              <a:t>condition = new Semaphore(0);</a:t>
            </a:r>
            <a:endParaRPr lang="en-US" altLang="zh-CN" sz="20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60814" y="2889465"/>
            <a:ext cx="5257112" cy="2627769"/>
            <a:chOff x="971072" y="2032213"/>
            <a:chExt cx="5257112" cy="2627769"/>
          </a:xfrm>
        </p:grpSpPr>
        <p:sp>
          <p:nvSpPr>
            <p:cNvPr id="16" name="Text Box 5"/>
            <p:cNvSpPr txBox="1">
              <a:spLocks noChangeAspect="1" noChangeArrowheads="1"/>
            </p:cNvSpPr>
            <p:nvPr/>
          </p:nvSpPr>
          <p:spPr bwMode="auto">
            <a:xfrm>
              <a:off x="971072" y="2413213"/>
              <a:ext cx="2391500" cy="2246769"/>
            </a:xfrm>
            <a:prstGeom prst="rect">
              <a:avLst/>
            </a:prstGeom>
            <a:gradFill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M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en-US" altLang="zh-CN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N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</p:txBody>
        </p:sp>
        <p:sp>
          <p:nvSpPr>
            <p:cNvPr id="17" name="Text Box 5"/>
            <p:cNvSpPr txBox="1">
              <a:spLocks noChangeAspect="1" noChangeArrowheads="1"/>
            </p:cNvSpPr>
            <p:nvPr/>
          </p:nvSpPr>
          <p:spPr bwMode="auto">
            <a:xfrm>
              <a:off x="3857620" y="2413213"/>
              <a:ext cx="2370564" cy="2246769"/>
            </a:xfrm>
            <a:prstGeom prst="rect">
              <a:avLst/>
            </a:prstGeom>
            <a:gradFill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X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en-US" altLang="zh-CN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Y</a:t>
              </a:r>
              <a:r>
                <a:rPr lang="en-US" altLang="zh-CN" sz="2000" b="1" dirty="0">
                  <a:latin typeface="Courier New" panose="02070409020205090404" pitchFamily="49" charset="0"/>
                  <a:ea typeface="+mn-ea"/>
                  <a:cs typeface="Courier New" panose="02070409020205090404" pitchFamily="49" charset="0"/>
                </a:rPr>
                <a:t> …</a:t>
              </a: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endParaRPr>
            </a:p>
          </p:txBody>
        </p:sp>
        <p:sp>
          <p:nvSpPr>
            <p:cNvPr id="18" name="TextBox 6"/>
            <p:cNvSpPr txBox="1">
              <a:spLocks noChangeArrowheads="1"/>
            </p:cNvSpPr>
            <p:nvPr/>
          </p:nvSpPr>
          <p:spPr bwMode="auto">
            <a:xfrm>
              <a:off x="1572156" y="2032213"/>
              <a:ext cx="8306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+mn-ea"/>
                  <a:ea typeface="+mn-ea"/>
                </a:rPr>
                <a:t>线程</a:t>
              </a: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</a:rPr>
                <a:t>A</a:t>
              </a:r>
              <a:endParaRPr lang="en-US" altLang="zh-CN" sz="20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4395204" y="2032213"/>
              <a:ext cx="8306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panose="02020503050405090304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Arial" panose="020B0604020202090204" pitchFamily="34" charset="0"/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+mn-ea"/>
                  <a:ea typeface="+mn-ea"/>
                </a:rPr>
                <a:t>线程</a:t>
              </a: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</a:rPr>
                <a:t>B</a:t>
              </a:r>
              <a:endParaRPr lang="en-US" altLang="zh-CN" sz="20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5" name="直接箭头连接符 4"/>
          <p:cNvCxnSpPr/>
          <p:nvPr/>
        </p:nvCxnSpPr>
        <p:spPr>
          <a:xfrm>
            <a:off x="5493950" y="4098336"/>
            <a:ext cx="648072" cy="5760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5"/>
          <p:cNvSpPr txBox="1">
            <a:spLocks noChangeAspect="1" noChangeArrowheads="1"/>
          </p:cNvSpPr>
          <p:nvPr/>
        </p:nvSpPr>
        <p:spPr bwMode="auto">
          <a:xfrm>
            <a:off x="3160814" y="3593211"/>
            <a:ext cx="2391500" cy="1631216"/>
          </a:xfrm>
          <a:prstGeom prst="rect">
            <a:avLst/>
          </a:prstGeom>
          <a:noFill/>
          <a:ln w="19050"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condition-</a:t>
            </a: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  <a:sym typeface="Wingdings" panose="05000000000000000000" charset="0"/>
              </a:rPr>
              <a:t>&gt;P();</a:t>
            </a: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</p:txBody>
      </p:sp>
      <p:sp>
        <p:nvSpPr>
          <p:cNvPr id="21" name="Text Box 5"/>
          <p:cNvSpPr txBox="1">
            <a:spLocks noChangeAspect="1" noChangeArrowheads="1"/>
          </p:cNvSpPr>
          <p:nvPr/>
        </p:nvSpPr>
        <p:spPr bwMode="auto">
          <a:xfrm>
            <a:off x="6047362" y="3593211"/>
            <a:ext cx="2370564" cy="1631216"/>
          </a:xfrm>
          <a:prstGeom prst="rect">
            <a:avLst/>
          </a:prstGeom>
          <a:noFill/>
          <a:ln w="19050"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panose="02020503050405090304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condition-</a:t>
            </a:r>
            <a:r>
              <a:rPr lang="zh-CN" altLang="en-US" sz="2000" b="1" dirty="0">
                <a:latin typeface="Courier New" panose="02070409020205090404" pitchFamily="49" charset="0"/>
                <a:ea typeface="+mn-ea"/>
                <a:cs typeface="Courier New" panose="02070409020205090404" pitchFamily="49" charset="0"/>
                <a:sym typeface="Wingdings" panose="05000000000000000000" charset="0"/>
              </a:rPr>
              <a:t>&gt;V();</a:t>
            </a: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20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学会使用信号量设计问题的解决方案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532418" cy="4351338"/>
          </a:xfrm>
        </p:spPr>
        <p:txBody>
          <a:bodyPr/>
          <a:lstStyle/>
          <a:p>
            <a:r>
              <a:rPr lang="zh-CN" altLang="en-US" dirty="0"/>
              <a:t>如何设计信号量，可以使得车辆在通行时不会发生事故？</a:t>
            </a:r>
            <a:endParaRPr lang="en-US" altLang="zh-CN" dirty="0"/>
          </a:p>
          <a:p>
            <a:r>
              <a:rPr lang="zh-CN" altLang="en-US" dirty="0"/>
              <a:t>如何设计，可以使得不出现一方堵塞时间过长的情况？</a:t>
            </a:r>
            <a:endParaRPr lang="en-US" altLang="zh-CN" dirty="0"/>
          </a:p>
          <a:p>
            <a:r>
              <a:rPr lang="zh-CN" altLang="en-US" dirty="0"/>
              <a:t>如何设计可以避免死锁？</a:t>
            </a:r>
            <a:endParaRPr lang="zh-CN" altLang="en-US" dirty="0"/>
          </a:p>
        </p:txBody>
      </p:sp>
      <p:sp>
        <p:nvSpPr>
          <p:cNvPr id="4" name="十字形 3"/>
          <p:cNvSpPr/>
          <p:nvPr/>
        </p:nvSpPr>
        <p:spPr>
          <a:xfrm>
            <a:off x="7578437" y="1936966"/>
            <a:ext cx="4225636" cy="4128655"/>
          </a:xfrm>
          <a:prstGeom prst="plus">
            <a:avLst>
              <a:gd name="adj" fmla="val 41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96400" y="3643745"/>
            <a:ext cx="360218" cy="3186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8964" y="3643745"/>
            <a:ext cx="360218" cy="318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10251" y="4017819"/>
            <a:ext cx="360218" cy="31865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32815" y="4017819"/>
            <a:ext cx="360218" cy="3186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4909" y="1825625"/>
            <a:ext cx="6885709" cy="4351338"/>
          </a:xfrm>
        </p:spPr>
        <p:txBody>
          <a:bodyPr/>
          <a:lstStyle/>
          <a:p>
            <a:r>
              <a:rPr lang="zh-CN" altLang="en-US" dirty="0"/>
              <a:t>申请四个信号量</a:t>
            </a:r>
            <a:r>
              <a:rPr lang="en-US" altLang="zh-CN" dirty="0"/>
              <a:t>R,Y,B,G</a:t>
            </a:r>
            <a:r>
              <a:rPr lang="zh-CN" altLang="en-US" dirty="0"/>
              <a:t>分别对应四块路面</a:t>
            </a:r>
            <a:endParaRPr lang="en-US" altLang="zh-CN" dirty="0"/>
          </a:p>
          <a:p>
            <a:r>
              <a:rPr lang="zh-CN" altLang="en-US" dirty="0"/>
              <a:t>以从左到右通行的车辆为例</a:t>
            </a:r>
            <a:endParaRPr lang="en-US" altLang="zh-CN" dirty="0"/>
          </a:p>
          <a:p>
            <a:pPr lvl="1"/>
            <a:r>
              <a:rPr lang="en-US" altLang="zh-CN" dirty="0"/>
              <a:t>P(B), P(G)</a:t>
            </a:r>
            <a:r>
              <a:rPr lang="zh-CN" altLang="en-US" dirty="0"/>
              <a:t>成功后，就可以通行了，通行离开后，释放资源即可</a:t>
            </a:r>
            <a:endParaRPr lang="en-US" altLang="zh-CN" dirty="0"/>
          </a:p>
          <a:p>
            <a:pPr lvl="1"/>
            <a:r>
              <a:rPr lang="zh-CN" altLang="en-US" dirty="0"/>
              <a:t>问题？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十字形 3"/>
          <p:cNvSpPr/>
          <p:nvPr/>
        </p:nvSpPr>
        <p:spPr>
          <a:xfrm>
            <a:off x="7578437" y="1936966"/>
            <a:ext cx="4225636" cy="4128655"/>
          </a:xfrm>
          <a:prstGeom prst="plus">
            <a:avLst>
              <a:gd name="adj" fmla="val 41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96400" y="3643745"/>
            <a:ext cx="360218" cy="3186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8964" y="3643745"/>
            <a:ext cx="360218" cy="318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10251" y="4017819"/>
            <a:ext cx="360218" cy="31865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32815" y="4017819"/>
            <a:ext cx="360218" cy="3186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4909" y="1825625"/>
            <a:ext cx="6885709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申请四个信号量</a:t>
            </a:r>
            <a:r>
              <a:rPr lang="en-US" altLang="zh-CN" dirty="0"/>
              <a:t>R,Y,B,G</a:t>
            </a:r>
            <a:r>
              <a:rPr lang="zh-CN" altLang="en-US" dirty="0"/>
              <a:t>分别对应四块路面</a:t>
            </a:r>
            <a:endParaRPr lang="en-US" altLang="zh-CN" dirty="0"/>
          </a:p>
          <a:p>
            <a:r>
              <a:rPr lang="zh-CN" altLang="en-US" dirty="0"/>
              <a:t>以从左到右通行的车辆为例</a:t>
            </a:r>
            <a:endParaRPr lang="en-US" altLang="zh-CN" dirty="0"/>
          </a:p>
          <a:p>
            <a:pPr lvl="1"/>
            <a:r>
              <a:rPr lang="en-US" altLang="zh-CN" dirty="0"/>
              <a:t>P(B), P(G)</a:t>
            </a:r>
            <a:r>
              <a:rPr lang="zh-CN" altLang="en-US" dirty="0"/>
              <a:t>成功后，就可以通行了，通行离开后，释放资源即可</a:t>
            </a:r>
            <a:endParaRPr lang="en-US" altLang="zh-CN" dirty="0"/>
          </a:p>
          <a:p>
            <a:r>
              <a:rPr lang="zh-CN" altLang="en-US" dirty="0"/>
              <a:t>通过观察不难发现，最极端的情况，也只能有</a:t>
            </a:r>
            <a:r>
              <a:rPr lang="en-US" altLang="zh-CN" dirty="0"/>
              <a:t>3</a:t>
            </a:r>
            <a:r>
              <a:rPr lang="zh-CN" altLang="en-US" dirty="0"/>
              <a:t>辆车同时通过，所以可以再设置一个进入路口用的信号量，不要让</a:t>
            </a:r>
            <a:r>
              <a:rPr lang="en-US" altLang="zh-CN" dirty="0"/>
              <a:t>4</a:t>
            </a:r>
            <a:r>
              <a:rPr lang="zh-CN" altLang="en-US" dirty="0"/>
              <a:t>辆车同时到达路口</a:t>
            </a:r>
            <a:endParaRPr lang="en-US" altLang="zh-CN" dirty="0"/>
          </a:p>
          <a:p>
            <a:r>
              <a:rPr lang="zh-CN" altLang="en-US" dirty="0"/>
              <a:t>如何设计，可以使得不出现一方堵塞时间过长的情况？</a:t>
            </a:r>
            <a:endParaRPr lang="en-US" altLang="zh-CN" dirty="0"/>
          </a:p>
          <a:p>
            <a:r>
              <a:rPr lang="zh-CN" altLang="en-US" dirty="0"/>
              <a:t>死锁？？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十字形 3"/>
          <p:cNvSpPr/>
          <p:nvPr/>
        </p:nvSpPr>
        <p:spPr>
          <a:xfrm>
            <a:off x="7578437" y="1936966"/>
            <a:ext cx="4225636" cy="4128655"/>
          </a:xfrm>
          <a:prstGeom prst="plus">
            <a:avLst>
              <a:gd name="adj" fmla="val 41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96400" y="3643745"/>
            <a:ext cx="360218" cy="3186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8964" y="3643745"/>
            <a:ext cx="360218" cy="318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10251" y="4017819"/>
            <a:ext cx="360218" cy="31865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32815" y="4017819"/>
            <a:ext cx="360218" cy="3186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另一个解题思路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参考哲学家就餐问题，这两块地面资源，其实就是两支筷子，需要同时拿到，才可以通行</a:t>
            </a:r>
            <a:endParaRPr lang="en-US" altLang="zh-CN" dirty="0"/>
          </a:p>
          <a:p>
            <a:r>
              <a:rPr lang="zh-CN" altLang="en-US" dirty="0"/>
              <a:t>因此，为车辆加入状态，如果左向或右向车正在通行，则上向或下向车等待，反之亦然</a:t>
            </a:r>
            <a:endParaRPr lang="en-US" altLang="zh-CN" dirty="0"/>
          </a:p>
          <a:p>
            <a:r>
              <a:rPr lang="zh-CN" altLang="en-US" dirty="0"/>
              <a:t>请参考哲学家就餐，自行实现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再一个例题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3331" y="1112298"/>
            <a:ext cx="10538854" cy="5827590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多核</a:t>
            </a:r>
            <a:r>
              <a:rPr lang="en-US" altLang="zh-CN" dirty="0"/>
              <a:t>SMP</a:t>
            </a:r>
            <a:r>
              <a:rPr lang="zh-CN" altLang="en-US" dirty="0"/>
              <a:t>结构下指令可以乱序执行引发的新问题</a:t>
            </a:r>
            <a:endParaRPr lang="zh-CN" altLang="en-US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731837" y="1336432"/>
            <a:ext cx="10728325" cy="467554"/>
          </a:xfrm>
          <a:prstGeom prst="rect">
            <a:avLst/>
          </a:prstGeom>
        </p:spPr>
        <p:txBody>
          <a:bodyPr/>
          <a:lstStyle>
            <a:lvl1pPr marL="301625" indent="-30162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marR="0" lvl="0" indent="0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黑简体"/>
                <a:ea typeface="方正兰亭黑简体"/>
                <a:cs typeface="+mn-cs"/>
                <a:sym typeface="Huawei Sans" panose="020C0503030203020204" pitchFamily="34" charset="0"/>
              </a:rPr>
              <a:t>考虑如下代码：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  <a:p>
            <a:pPr marL="0" marR="0" lvl="0" indent="0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  <a:p>
            <a:pPr marL="301625" marR="0" lvl="0" indent="-301625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  <a:p>
            <a:pPr marL="301625" marR="0" lvl="0" indent="-301625" algn="l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兰亭黑简体"/>
              <a:ea typeface="方正兰亭黑简体"/>
              <a:cs typeface="+mn-cs"/>
              <a:sym typeface="Huawei Sans" panose="020C0503030203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838" y="2048619"/>
          <a:ext cx="4681879" cy="327068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4681879"/>
              </a:tblGrid>
              <a:tr h="657317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CPU0                CPU1</a:t>
                      </a:r>
                      <a:endParaRPr lang="zh-CN" sz="160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>
                    <a:solidFill>
                      <a:srgbClr val="C81F1F"/>
                    </a:solidFill>
                  </a:tcPr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a = 1;                while (true) {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b = 2;                    if (flag)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c = 3;                        </a:t>
                      </a:r>
                      <a:r>
                        <a:rPr lang="en-US" altLang="zh-CN" sz="1600" b="0" kern="0" dirty="0" err="1">
                          <a:effectLst/>
                        </a:rPr>
                        <a:t>do_something</a:t>
                      </a:r>
                      <a:r>
                        <a:rPr lang="en-US" altLang="zh-CN" sz="1600" b="0" kern="0" dirty="0">
                          <a:effectLst/>
                        </a:rPr>
                        <a:t>(a, b, c);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flag = true;        }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28509" y="2048619"/>
          <a:ext cx="5031654" cy="327068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5031654"/>
              </a:tblGrid>
              <a:tr h="657317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CPU0                CPU1</a:t>
                      </a:r>
                      <a:endParaRPr lang="zh-CN" sz="160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a = 1;                while (true) {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b = 2;                    if</a:t>
                      </a:r>
                      <a:r>
                        <a:rPr lang="en-US" sz="1600" b="0" kern="0" baseline="0" dirty="0">
                          <a:effectLst/>
                        </a:rPr>
                        <a:t> (flag)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flag = true;                </a:t>
                      </a:r>
                      <a:r>
                        <a:rPr lang="en-US" altLang="zh-CN" sz="1600" b="0" kern="0" dirty="0" err="1">
                          <a:effectLst/>
                        </a:rPr>
                        <a:t>do_something</a:t>
                      </a:r>
                      <a:r>
                        <a:rPr lang="en-US" altLang="zh-CN" sz="1600" b="0" kern="0" dirty="0">
                          <a:effectLst/>
                        </a:rPr>
                        <a:t>(a, b, c);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c = 3;                }</a:t>
                      </a:r>
                      <a:endParaRPr lang="zh-CN" sz="1600" b="0" kern="100" dirty="0">
                        <a:effectLst/>
                        <a:latin typeface="Times New Roman" panose="02020503050405090304" charset="0"/>
                        <a:ea typeface="宋体" panose="02010600030101010101" pitchFamily="2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5477020" y="3649065"/>
            <a:ext cx="915725" cy="277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77020" y="3275111"/>
            <a:ext cx="979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乱序执行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837" y="5584874"/>
            <a:ext cx="4717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如果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顺序执行，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b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初始化完毕后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CPU1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do something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，符合预期。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8509" y="5614075"/>
            <a:ext cx="5133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当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乱序执行，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还未初始化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CPU1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do something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，出错。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3073" y="6262344"/>
            <a:ext cx="10863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Peterson</a:t>
            </a:r>
            <a:r>
              <a:rPr lang="zh-CN" altLang="en-US" sz="2000" b="1" dirty="0">
                <a:solidFill>
                  <a:srgbClr val="FF0000"/>
                </a:solidFill>
              </a:rPr>
              <a:t>算法和</a:t>
            </a:r>
            <a:r>
              <a:rPr lang="en-US" altLang="zh-CN" sz="2000" b="1" dirty="0" err="1">
                <a:solidFill>
                  <a:srgbClr val="FF0000"/>
                </a:solidFill>
              </a:rPr>
              <a:t>Deckers</a:t>
            </a:r>
            <a:r>
              <a:rPr lang="zh-CN" altLang="en-US" sz="2000" b="1" dirty="0">
                <a:solidFill>
                  <a:srgbClr val="FF0000"/>
                </a:solidFill>
              </a:rPr>
              <a:t>算法能够在理论上完成单核正确性的证明，但是在多核运行时，由于指令执行顺序交换而导致原来的依赖性问题无法保障，因此需要内存屏障指令才能保证其正确性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系统调用和保护机制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如何实现内存的保护？设置不同的权限</a:t>
            </a:r>
            <a:endParaRPr lang="en-US" altLang="zh-CN" dirty="0"/>
          </a:p>
          <a:p>
            <a:r>
              <a:rPr lang="zh-CN" altLang="en-US" dirty="0"/>
              <a:t>系统调用：切换系统的权限状态</a:t>
            </a:r>
            <a:endParaRPr lang="en-US" altLang="zh-CN" dirty="0"/>
          </a:p>
          <a:p>
            <a:pPr lvl="1"/>
            <a:r>
              <a:rPr lang="zh-CN" altLang="en-US" dirty="0"/>
              <a:t>系统调用的本质是一个函数，一个由</a:t>
            </a:r>
            <a:r>
              <a:rPr lang="en-US" altLang="zh-CN" dirty="0"/>
              <a:t>OS</a:t>
            </a:r>
            <a:r>
              <a:rPr lang="zh-CN" altLang="en-US" dirty="0"/>
              <a:t>提供的函数</a:t>
            </a:r>
            <a:endParaRPr lang="en-US" altLang="zh-CN" dirty="0"/>
          </a:p>
          <a:p>
            <a:pPr lvl="1"/>
            <a:r>
              <a:rPr lang="zh-CN" altLang="en-US" dirty="0"/>
              <a:t>提升权限的过程是一个中断，一个用户程序可以主动发起的中断</a:t>
            </a:r>
            <a:endParaRPr lang="en-US" altLang="zh-CN" dirty="0"/>
          </a:p>
          <a:p>
            <a:pPr lvl="1"/>
            <a:r>
              <a:rPr lang="zh-CN" altLang="en-US" dirty="0"/>
              <a:t>系统调用的意义是什么？</a:t>
            </a:r>
            <a:endParaRPr lang="en-US" altLang="zh-CN" dirty="0"/>
          </a:p>
          <a:p>
            <a:pPr lvl="1"/>
            <a:r>
              <a:rPr lang="zh-CN" altLang="en-US" dirty="0"/>
              <a:t>系统调用的代价是什么？</a:t>
            </a:r>
            <a:endParaRPr lang="en-US" altLang="zh-CN" dirty="0"/>
          </a:p>
          <a:p>
            <a:pPr lvl="1"/>
            <a:r>
              <a:rPr lang="zh-CN" altLang="en-US" dirty="0"/>
              <a:t>系统调用（权限转换）有没有高性能的实现方式？（另一个有趣的科研话题，比如</a:t>
            </a:r>
            <a:r>
              <a:rPr lang="en-US" altLang="zh-CN" dirty="0"/>
              <a:t>Intel</a:t>
            </a:r>
            <a:r>
              <a:rPr lang="zh-CN" altLang="en-US" dirty="0"/>
              <a:t>的</a:t>
            </a:r>
            <a:r>
              <a:rPr lang="en-US" altLang="zh-CN" dirty="0" err="1"/>
              <a:t>Sysenter</a:t>
            </a:r>
            <a:r>
              <a:rPr lang="en-US" altLang="zh-CN" dirty="0"/>
              <a:t> &amp; </a:t>
            </a:r>
            <a:r>
              <a:rPr lang="en-US" altLang="zh-CN" dirty="0" err="1"/>
              <a:t>sysexit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51280" y="5123884"/>
            <a:ext cx="8056562" cy="404813"/>
          </a:xfrm>
          <a:prstGeom prst="rect">
            <a:avLst/>
          </a:prstGeom>
          <a:solidFill>
            <a:schemeClr val="accent1"/>
          </a:solidFill>
          <a:ln w="38100">
            <a:solidFill>
              <a:srgbClr val="000000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" name="Freeform 7"/>
          <p:cNvSpPr/>
          <p:nvPr/>
        </p:nvSpPr>
        <p:spPr bwMode="auto">
          <a:xfrm>
            <a:off x="2054517" y="5469959"/>
            <a:ext cx="7345363" cy="1311275"/>
          </a:xfrm>
          <a:custGeom>
            <a:avLst/>
            <a:gdLst>
              <a:gd name="T0" fmla="*/ 2147483646 w 5582"/>
              <a:gd name="T1" fmla="*/ 2147483646 h 826"/>
              <a:gd name="T2" fmla="*/ 2147483646 w 5582"/>
              <a:gd name="T3" fmla="*/ 2147483646 h 826"/>
              <a:gd name="T4" fmla="*/ 2147483646 w 5582"/>
              <a:gd name="T5" fmla="*/ 2147483646 h 826"/>
              <a:gd name="T6" fmla="*/ 2147483646 w 5582"/>
              <a:gd name="T7" fmla="*/ 2147483646 h 826"/>
              <a:gd name="T8" fmla="*/ 2147483646 w 5582"/>
              <a:gd name="T9" fmla="*/ 2147483646 h 826"/>
              <a:gd name="T10" fmla="*/ 2147483646 w 5582"/>
              <a:gd name="T11" fmla="*/ 2147483646 h 826"/>
              <a:gd name="T12" fmla="*/ 2147483646 w 5582"/>
              <a:gd name="T13" fmla="*/ 2147483646 h 826"/>
              <a:gd name="T14" fmla="*/ 2147483646 w 5582"/>
              <a:gd name="T15" fmla="*/ 2147483646 h 826"/>
              <a:gd name="T16" fmla="*/ 2147483646 w 5582"/>
              <a:gd name="T17" fmla="*/ 2147483646 h 826"/>
              <a:gd name="T18" fmla="*/ 2147483646 w 5582"/>
              <a:gd name="T19" fmla="*/ 2147483646 h 826"/>
              <a:gd name="T20" fmla="*/ 2147483646 w 5582"/>
              <a:gd name="T21" fmla="*/ 2147483646 h 826"/>
              <a:gd name="T22" fmla="*/ 2147483646 w 5582"/>
              <a:gd name="T23" fmla="*/ 2147483646 h 826"/>
              <a:gd name="T24" fmla="*/ 2147483646 w 5582"/>
              <a:gd name="T25" fmla="*/ 2147483646 h 826"/>
              <a:gd name="T26" fmla="*/ 2147483646 w 5582"/>
              <a:gd name="T27" fmla="*/ 2147483646 h 826"/>
              <a:gd name="T28" fmla="*/ 2147483646 w 5582"/>
              <a:gd name="T29" fmla="*/ 2147483646 h 826"/>
              <a:gd name="T30" fmla="*/ 2147483646 w 5582"/>
              <a:gd name="T31" fmla="*/ 2147483646 h 826"/>
              <a:gd name="T32" fmla="*/ 2147483646 w 5582"/>
              <a:gd name="T33" fmla="*/ 2147483646 h 826"/>
              <a:gd name="T34" fmla="*/ 2147483646 w 5582"/>
              <a:gd name="T35" fmla="*/ 2147483646 h 826"/>
              <a:gd name="T36" fmla="*/ 2147483646 w 5582"/>
              <a:gd name="T37" fmla="*/ 2147483646 h 826"/>
              <a:gd name="T38" fmla="*/ 2147483646 w 5582"/>
              <a:gd name="T39" fmla="*/ 2147483646 h 826"/>
              <a:gd name="T40" fmla="*/ 2147483646 w 5582"/>
              <a:gd name="T41" fmla="*/ 2147483646 h 826"/>
              <a:gd name="T42" fmla="*/ 2147483646 w 5582"/>
              <a:gd name="T43" fmla="*/ 2147483646 h 826"/>
              <a:gd name="T44" fmla="*/ 2147483646 w 5582"/>
              <a:gd name="T45" fmla="*/ 2147483646 h 826"/>
              <a:gd name="T46" fmla="*/ 2147483646 w 5582"/>
              <a:gd name="T47" fmla="*/ 2147483646 h 826"/>
              <a:gd name="T48" fmla="*/ 2147483646 w 5582"/>
              <a:gd name="T49" fmla="*/ 2147483646 h 826"/>
              <a:gd name="T50" fmla="*/ 2147483646 w 5582"/>
              <a:gd name="T51" fmla="*/ 2147483646 h 826"/>
              <a:gd name="T52" fmla="*/ 2147483646 w 5582"/>
              <a:gd name="T53" fmla="*/ 2147483646 h 826"/>
              <a:gd name="T54" fmla="*/ 2147483646 w 5582"/>
              <a:gd name="T55" fmla="*/ 2147483646 h 826"/>
              <a:gd name="T56" fmla="*/ 2147483646 w 5582"/>
              <a:gd name="T57" fmla="*/ 2147483646 h 826"/>
              <a:gd name="T58" fmla="*/ 2147483646 w 5582"/>
              <a:gd name="T59" fmla="*/ 2147483646 h 826"/>
              <a:gd name="T60" fmla="*/ 2147483646 w 5582"/>
              <a:gd name="T61" fmla="*/ 2147483646 h 826"/>
              <a:gd name="T62" fmla="*/ 2147483646 w 5582"/>
              <a:gd name="T63" fmla="*/ 2147483646 h 826"/>
              <a:gd name="T64" fmla="*/ 2147483646 w 5582"/>
              <a:gd name="T65" fmla="*/ 2147483646 h 826"/>
              <a:gd name="T66" fmla="*/ 2147483646 w 5582"/>
              <a:gd name="T67" fmla="*/ 2147483646 h 826"/>
              <a:gd name="T68" fmla="*/ 2147483646 w 5582"/>
              <a:gd name="T69" fmla="*/ 2147483646 h 826"/>
              <a:gd name="T70" fmla="*/ 2147483646 w 5582"/>
              <a:gd name="T71" fmla="*/ 2147483646 h 8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582"/>
              <a:gd name="T109" fmla="*/ 0 h 826"/>
              <a:gd name="T110" fmla="*/ 5582 w 5582"/>
              <a:gd name="T111" fmla="*/ 826 h 82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5582" h="826">
                <a:moveTo>
                  <a:pt x="94" y="490"/>
                </a:moveTo>
                <a:cubicBezTo>
                  <a:pt x="288" y="345"/>
                  <a:pt x="482" y="200"/>
                  <a:pt x="658" y="154"/>
                </a:cubicBezTo>
                <a:cubicBezTo>
                  <a:pt x="834" y="108"/>
                  <a:pt x="1008" y="216"/>
                  <a:pt x="1150" y="214"/>
                </a:cubicBezTo>
                <a:cubicBezTo>
                  <a:pt x="1292" y="212"/>
                  <a:pt x="1398" y="160"/>
                  <a:pt x="1510" y="142"/>
                </a:cubicBezTo>
                <a:cubicBezTo>
                  <a:pt x="1622" y="124"/>
                  <a:pt x="1716" y="82"/>
                  <a:pt x="1822" y="106"/>
                </a:cubicBezTo>
                <a:cubicBezTo>
                  <a:pt x="1928" y="130"/>
                  <a:pt x="2064" y="218"/>
                  <a:pt x="2146" y="286"/>
                </a:cubicBezTo>
                <a:cubicBezTo>
                  <a:pt x="2228" y="354"/>
                  <a:pt x="2214" y="542"/>
                  <a:pt x="2314" y="514"/>
                </a:cubicBezTo>
                <a:cubicBezTo>
                  <a:pt x="2414" y="486"/>
                  <a:pt x="2646" y="160"/>
                  <a:pt x="2746" y="118"/>
                </a:cubicBezTo>
                <a:cubicBezTo>
                  <a:pt x="2846" y="76"/>
                  <a:pt x="2830" y="260"/>
                  <a:pt x="2914" y="262"/>
                </a:cubicBezTo>
                <a:cubicBezTo>
                  <a:pt x="2998" y="264"/>
                  <a:pt x="3122" y="72"/>
                  <a:pt x="3250" y="130"/>
                </a:cubicBezTo>
                <a:cubicBezTo>
                  <a:pt x="3378" y="188"/>
                  <a:pt x="3588" y="620"/>
                  <a:pt x="3682" y="610"/>
                </a:cubicBezTo>
                <a:cubicBezTo>
                  <a:pt x="3776" y="600"/>
                  <a:pt x="3722" y="140"/>
                  <a:pt x="3814" y="70"/>
                </a:cubicBezTo>
                <a:cubicBezTo>
                  <a:pt x="3906" y="0"/>
                  <a:pt x="4112" y="134"/>
                  <a:pt x="4234" y="190"/>
                </a:cubicBezTo>
                <a:cubicBezTo>
                  <a:pt x="4356" y="246"/>
                  <a:pt x="4454" y="408"/>
                  <a:pt x="4546" y="406"/>
                </a:cubicBezTo>
                <a:cubicBezTo>
                  <a:pt x="4638" y="404"/>
                  <a:pt x="4708" y="200"/>
                  <a:pt x="4786" y="178"/>
                </a:cubicBezTo>
                <a:cubicBezTo>
                  <a:pt x="4864" y="156"/>
                  <a:pt x="4926" y="300"/>
                  <a:pt x="5014" y="274"/>
                </a:cubicBezTo>
                <a:cubicBezTo>
                  <a:pt x="5102" y="248"/>
                  <a:pt x="5252" y="8"/>
                  <a:pt x="5314" y="22"/>
                </a:cubicBezTo>
                <a:cubicBezTo>
                  <a:pt x="5376" y="36"/>
                  <a:pt x="5356" y="266"/>
                  <a:pt x="5386" y="358"/>
                </a:cubicBezTo>
                <a:cubicBezTo>
                  <a:pt x="5416" y="450"/>
                  <a:pt x="5582" y="522"/>
                  <a:pt x="5494" y="574"/>
                </a:cubicBezTo>
                <a:cubicBezTo>
                  <a:pt x="5406" y="626"/>
                  <a:pt x="5056" y="630"/>
                  <a:pt x="4858" y="670"/>
                </a:cubicBezTo>
                <a:cubicBezTo>
                  <a:pt x="4660" y="710"/>
                  <a:pt x="4448" y="814"/>
                  <a:pt x="4306" y="814"/>
                </a:cubicBezTo>
                <a:cubicBezTo>
                  <a:pt x="4164" y="814"/>
                  <a:pt x="4102" y="670"/>
                  <a:pt x="4006" y="670"/>
                </a:cubicBezTo>
                <a:cubicBezTo>
                  <a:pt x="3910" y="670"/>
                  <a:pt x="3862" y="802"/>
                  <a:pt x="3730" y="814"/>
                </a:cubicBezTo>
                <a:cubicBezTo>
                  <a:pt x="3598" y="826"/>
                  <a:pt x="3374" y="770"/>
                  <a:pt x="3214" y="742"/>
                </a:cubicBezTo>
                <a:cubicBezTo>
                  <a:pt x="3054" y="714"/>
                  <a:pt x="2876" y="644"/>
                  <a:pt x="2770" y="646"/>
                </a:cubicBezTo>
                <a:cubicBezTo>
                  <a:pt x="2664" y="648"/>
                  <a:pt x="2696" y="740"/>
                  <a:pt x="2578" y="754"/>
                </a:cubicBezTo>
                <a:cubicBezTo>
                  <a:pt x="2460" y="768"/>
                  <a:pt x="2188" y="756"/>
                  <a:pt x="2062" y="730"/>
                </a:cubicBezTo>
                <a:cubicBezTo>
                  <a:pt x="1936" y="704"/>
                  <a:pt x="1936" y="600"/>
                  <a:pt x="1822" y="598"/>
                </a:cubicBezTo>
                <a:cubicBezTo>
                  <a:pt x="1708" y="596"/>
                  <a:pt x="1530" y="696"/>
                  <a:pt x="1378" y="718"/>
                </a:cubicBezTo>
                <a:cubicBezTo>
                  <a:pt x="1226" y="740"/>
                  <a:pt x="1026" y="768"/>
                  <a:pt x="910" y="730"/>
                </a:cubicBezTo>
                <a:cubicBezTo>
                  <a:pt x="794" y="692"/>
                  <a:pt x="762" y="546"/>
                  <a:pt x="682" y="490"/>
                </a:cubicBezTo>
                <a:cubicBezTo>
                  <a:pt x="602" y="434"/>
                  <a:pt x="526" y="380"/>
                  <a:pt x="430" y="394"/>
                </a:cubicBezTo>
                <a:cubicBezTo>
                  <a:pt x="334" y="408"/>
                  <a:pt x="176" y="550"/>
                  <a:pt x="106" y="574"/>
                </a:cubicBezTo>
                <a:cubicBezTo>
                  <a:pt x="36" y="598"/>
                  <a:pt x="20" y="564"/>
                  <a:pt x="10" y="538"/>
                </a:cubicBezTo>
                <a:cubicBezTo>
                  <a:pt x="0" y="512"/>
                  <a:pt x="22" y="446"/>
                  <a:pt x="46" y="418"/>
                </a:cubicBezTo>
                <a:cubicBezTo>
                  <a:pt x="70" y="390"/>
                  <a:pt x="134" y="368"/>
                  <a:pt x="154" y="370"/>
                </a:cubicBezTo>
              </a:path>
            </a:pathLst>
          </a:custGeom>
          <a:solidFill>
            <a:srgbClr val="66FF66"/>
          </a:solidFill>
          <a:ln w="38100">
            <a:solidFill>
              <a:srgbClr val="000000"/>
            </a:solidFill>
            <a:rou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151730" y="5123884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993300"/>
                </a:solidFill>
                <a:latin typeface="Tahoma" panose="020B0604030504040204" pitchFamily="34" charset="0"/>
              </a:rPr>
              <a:t>OS</a:t>
            </a:r>
            <a:endParaRPr kumimoji="0" lang="en-US" altLang="zh-CN" sz="2000" b="1">
              <a:solidFill>
                <a:srgbClr val="9933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280067" y="5989072"/>
            <a:ext cx="1438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990000"/>
                </a:solidFill>
                <a:latin typeface="Tahoma" panose="020B0604030504040204" pitchFamily="34" charset="0"/>
              </a:rPr>
              <a:t>Hardware</a:t>
            </a:r>
            <a:endParaRPr kumimoji="0" lang="en-US" altLang="zh-CN" sz="2000" b="1">
              <a:solidFill>
                <a:srgbClr val="99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1">
            <a:spLocks noChangeArrowheads="1"/>
          </p:cNvSpPr>
          <p:nvPr/>
        </p:nvSpPr>
        <p:spPr>
          <a:xfrm>
            <a:off x="4403743" y="1016002"/>
            <a:ext cx="4478341" cy="5111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系统调用库接口示例</a:t>
            </a:r>
            <a:endParaRPr lang="en-US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cs typeface="MS PGothic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28612" y="1626206"/>
            <a:ext cx="6806804" cy="1728713"/>
            <a:chOff x="904612" y="768954"/>
            <a:chExt cx="6806804" cy="1728713"/>
          </a:xfrm>
        </p:grpSpPr>
        <p:sp>
          <p:nvSpPr>
            <p:cNvPr id="9" name="TextBox 4"/>
            <p:cNvSpPr txBox="1">
              <a:spLocks noChangeArrowheads="1"/>
            </p:cNvSpPr>
            <p:nvPr/>
          </p:nvSpPr>
          <p:spPr bwMode="auto">
            <a:xfrm>
              <a:off x="904612" y="768954"/>
              <a:ext cx="5661256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342900" lvl="2" indent="-342900"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sfs_filetest1.c: ret=read(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fd,data,len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cs typeface="宋体" charset="0"/>
                </a:rPr>
                <a:t>);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endParaRPr>
            </a:p>
          </p:txBody>
        </p:sp>
        <p:sp>
          <p:nvSpPr>
            <p:cNvPr id="28" name="矩形 5"/>
            <p:cNvSpPr>
              <a:spLocks noChangeArrowheads="1"/>
            </p:cNvSpPr>
            <p:nvPr/>
          </p:nvSpPr>
          <p:spPr bwMode="auto">
            <a:xfrm>
              <a:off x="908978" y="928007"/>
              <a:ext cx="6802438" cy="156966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……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8029a1:	8b 45 10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0x10(%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ebp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),%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8029a4:	89 44 24 08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%eax,0x8(%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esp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8029a8:	8b 45 0c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0xc(%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ebp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),%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8029ab:	89 44 24 04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%eax,0x4(%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esp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8029af:	8b 45 08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0x8(%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ebp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),%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8029b2:	89 04 24             	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mov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eax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,(%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esp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)    ; 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以上代码在填充栈</a:t>
              </a:r>
              <a:endParaRPr lang="en-US" altLang="zh-CN" sz="12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  <a:p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8029b5:	e8 33 d8 ff </a:t>
              </a:r>
              <a:r>
                <a:rPr lang="en-US" altLang="zh-CN" sz="1200" b="1" dirty="0" err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ff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       	call   8001ed &lt;read&gt; ；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这里的</a:t>
              </a:r>
              <a:r>
                <a:rPr lang="en-US" altLang="zh-CN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read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是宏</a:t>
              </a:r>
              <a:r>
                <a:rPr lang="en-US" altLang="zh-CN" sz="12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==6</a:t>
              </a:r>
              <a:endPara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Comic Sans MS" panose="030F0902030302020204" charset="0"/>
              </a:endParaRPr>
            </a:p>
          </p:txBody>
        </p:sp>
      </p:grpSp>
      <p:sp>
        <p:nvSpPr>
          <p:cNvPr id="29" name="TextBox 5"/>
          <p:cNvSpPr>
            <a:spLocks noChangeArrowheads="1"/>
          </p:cNvSpPr>
          <p:nvPr/>
        </p:nvSpPr>
        <p:spPr bwMode="auto">
          <a:xfrm>
            <a:off x="2428612" y="3284984"/>
            <a:ext cx="6942138" cy="286232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syscall(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int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num, ...) {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...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asm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volatile (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“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int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%1;“//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这一句会个产生一个中断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: "=a" (ret)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: “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i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” (T_SYSCALL), //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这句指定中断号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“a” (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num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),      //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这一句的作用是把</a:t>
            </a:r>
            <a:r>
              <a:rPr lang="en-US" altLang="zh-CN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6</a:t>
            </a:r>
            <a:r>
              <a:rPr lang="zh-CN" altLang="en-US" sz="12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放进了</a:t>
            </a:r>
            <a:r>
              <a:rPr lang="en-US" altLang="zh-CN" sz="120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eax</a:t>
            </a:r>
            <a:endParaRPr lang="en-US" altLang="zh-CN" sz="12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"d" (a[0]),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"c" (a[1]),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"b" (a[2]),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"D" (a[3]),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  "S" (a[4])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		: "cc", "memory");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	return ret;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endParaRPr lang="en-US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510718" y="188640"/>
            <a:ext cx="2160240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// System call numbers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SYS_fork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1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SYS_exit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2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SYS_wait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3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SYS_pipe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4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SYS_write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5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SYS_read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6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SYS_close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7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SYS_kill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8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SYS_exec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9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SYS_open</a:t>
            </a:r>
            <a:r>
              <a:rPr lang="en-US" altLang="zh-CN" sz="1200" b="1" dirty="0">
                <a:solidFill>
                  <a:srgbClr val="C00000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10</a:t>
            </a:r>
            <a:endParaRPr lang="en-US" altLang="zh-CN" sz="1200" b="1" dirty="0">
              <a:solidFill>
                <a:srgbClr val="C00000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SYS_mknod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11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SYS_unlink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12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SYS_fstat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13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SYS_link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14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SYS_mkdir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15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SYS_chdir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16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SYS_dup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 17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SYS_getpid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18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SYS_sbrk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 19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SYS_sleep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 20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  <a:sym typeface="Comic Sans MS" panose="030F0902030302020204" charset="0"/>
            </a:endParaRPr>
          </a:p>
          <a:p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#define </a:t>
            </a:r>
            <a:r>
              <a:rPr lang="en-US" altLang="zh-CN" sz="12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SYS_procmem</a:t>
            </a:r>
            <a:r>
              <a: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Comic Sans MS" panose="030F0902030302020204" charset="0"/>
              </a:rPr>
              <a:t> 21</a:t>
            </a:r>
            <a:endParaRPr lang="en-US" altLang="zh-CN" sz="12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226455" y="302359"/>
            <a:ext cx="270971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/>
              <a:t>哪一个指令提升了权限 ？</a:t>
            </a:r>
            <a:r>
              <a:rPr lang="en-US" altLang="zh-CN" sz="2000" dirty="0">
                <a:solidFill>
                  <a:srgbClr val="FF0000"/>
                </a:solidFill>
              </a:rPr>
              <a:t>int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为什么提升了权限不会破坏安全性？</a:t>
            </a:r>
            <a:r>
              <a:rPr lang="zh-CN" altLang="en-US" sz="2000" dirty="0">
                <a:solidFill>
                  <a:srgbClr val="FF0000"/>
                </a:solidFill>
              </a:rPr>
              <a:t>因为权限提升之后只会执行固定的代码，而这段代码一定会回收权限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怎么知道要干什么？</a:t>
            </a:r>
            <a:r>
              <a:rPr lang="zh-CN" altLang="en-US" sz="2000" dirty="0">
                <a:solidFill>
                  <a:srgbClr val="FF0000"/>
                </a:solidFill>
              </a:rPr>
              <a:t>编号和参数是用户和</a:t>
            </a:r>
            <a:r>
              <a:rPr lang="en-US" altLang="zh-CN" sz="2000" dirty="0">
                <a:solidFill>
                  <a:srgbClr val="FF0000"/>
                </a:solidFill>
              </a:rPr>
              <a:t>OS</a:t>
            </a:r>
            <a:r>
              <a:rPr lang="zh-CN" altLang="en-US" sz="2000" dirty="0">
                <a:solidFill>
                  <a:srgbClr val="FF0000"/>
                </a:solidFill>
              </a:rPr>
              <a:t>的约定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000" dirty="0"/>
              <a:t>为什么</a:t>
            </a:r>
            <a:r>
              <a:rPr lang="en-US" altLang="zh-CN" sz="2000" dirty="0" err="1"/>
              <a:t>syscall</a:t>
            </a:r>
            <a:r>
              <a:rPr lang="zh-CN" altLang="en-US" sz="2000" dirty="0"/>
              <a:t>的代价大？</a:t>
            </a:r>
            <a:r>
              <a:rPr lang="zh-CN" altLang="en-US" sz="2000" dirty="0">
                <a:solidFill>
                  <a:srgbClr val="FF0000"/>
                </a:solidFill>
              </a:rPr>
              <a:t>因为要有复杂的参数检查、安全性检查，导致运行了一些无用的代码，以及硬件上的清理工作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/>
          <p:cNvSpPr>
            <a:spLocks noChangeArrowheads="1"/>
          </p:cNvSpPr>
          <p:nvPr/>
        </p:nvSpPr>
        <p:spPr bwMode="auto">
          <a:xfrm>
            <a:off x="2309788" y="1785926"/>
            <a:ext cx="617463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1. kern/trap/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trapentry.S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alltraps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"/>
          <p:cNvSpPr txBox="1">
            <a:spLocks noChangeArrowheads="1"/>
          </p:cNvSpPr>
          <p:nvPr/>
        </p:nvSpPr>
        <p:spPr>
          <a:xfrm>
            <a:off x="1952598" y="1016002"/>
            <a:ext cx="8407431" cy="511175"/>
          </a:xfrm>
          <a:prstGeom prst="rect">
            <a:avLst/>
          </a:prstGeom>
        </p:spPr>
        <p:txBody>
          <a:bodyPr/>
          <a:lstStyle/>
          <a:p>
            <a:pPr lvl="0" algn="ctr">
              <a:defRPr/>
            </a:pP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系统调用</a:t>
            </a:r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read</a:t>
            </a:r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(</a:t>
            </a:r>
            <a:r>
              <a:rPr lang="en-US" altLang="zh-CN" sz="3000" b="1" dirty="0" err="1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fd</a:t>
            </a:r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宋体" charset="0"/>
              </a:rPr>
              <a:t>, buffer, length)</a:t>
            </a: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  <a:cs typeface="MS PGothic" charset="0"/>
              </a:rPr>
              <a:t>的实现</a:t>
            </a:r>
            <a:endParaRPr lang="en-US" altLang="zh-CN" sz="3000" b="1" dirty="0">
              <a:solidFill>
                <a:srgbClr val="11576A"/>
              </a:solidFill>
              <a:latin typeface="微软雅黑" charset="-122"/>
              <a:ea typeface="微软雅黑" charset="-122"/>
              <a:cs typeface="MS PGothic" charset="0"/>
            </a:endParaRPr>
          </a:p>
        </p:txBody>
      </p:sp>
      <p:sp>
        <p:nvSpPr>
          <p:cNvPr id="4" name="TextBox 5"/>
          <p:cNvSpPr>
            <a:spLocks noChangeArrowheads="1"/>
          </p:cNvSpPr>
          <p:nvPr/>
        </p:nvSpPr>
        <p:spPr bwMode="auto">
          <a:xfrm>
            <a:off x="2309788" y="2186036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2. kern/trap/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trap()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-&gt;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trapno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== T_SYSCALL</a:t>
            </a:r>
            <a:endParaRPr lang="en-US" altLang="zh-CN" sz="2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TextBox 5"/>
          <p:cNvSpPr>
            <a:spLocks noChangeArrowheads="1"/>
          </p:cNvSpPr>
          <p:nvPr/>
        </p:nvSpPr>
        <p:spPr bwMode="auto">
          <a:xfrm>
            <a:off x="2311613" y="2890733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3. kern/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-&gt;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tf_regs.reg_eax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==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SYS_read</a:t>
            </a:r>
            <a:endParaRPr lang="en-US" altLang="zh-CN" sz="2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5"/>
          <p:cNvSpPr>
            <a:spLocks noChangeArrowheads="1"/>
          </p:cNvSpPr>
          <p:nvPr/>
        </p:nvSpPr>
        <p:spPr bwMode="auto">
          <a:xfrm>
            <a:off x="2309788" y="3595430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4. kern/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syscall.c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sys_read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从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-&gt;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sp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获取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fd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, 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buf</a:t>
            </a:r>
            <a:r>
              <a:rPr lang="en-US" altLang="zh-CN" sz="2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, length</a:t>
            </a:r>
            <a:endParaRPr lang="en-US" altLang="zh-CN" sz="2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5"/>
          <p:cNvSpPr>
            <a:spLocks noChangeArrowheads="1"/>
          </p:cNvSpPr>
          <p:nvPr/>
        </p:nvSpPr>
        <p:spPr bwMode="auto">
          <a:xfrm>
            <a:off x="2307963" y="4283878"/>
            <a:ext cx="617463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5. kern/fs/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sysfile.c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sysfile_read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	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读取文件</a:t>
            </a:r>
            <a:endParaRPr lang="en-US" altLang="zh-CN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TextBox 5"/>
          <p:cNvSpPr>
            <a:spLocks noChangeArrowheads="1"/>
          </p:cNvSpPr>
          <p:nvPr/>
        </p:nvSpPr>
        <p:spPr bwMode="auto">
          <a:xfrm>
            <a:off x="2307962" y="4988575"/>
            <a:ext cx="617463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6. kern/trap/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trapentry.S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: 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charset="-122"/>
                <a:ea typeface="微软雅黑" charset="-122"/>
              </a:rPr>
              <a:t>trapret</a:t>
            </a:r>
            <a:r>
              <a: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()</a:t>
            </a:r>
            <a:endParaRPr lang="en-US" altLang="zh-CN" sz="2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9" grpId="0"/>
      <p:bldP spid="10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几个地址之间的关系</a:t>
            </a:r>
            <a:endParaRPr lang="en-US" altLang="zh-CN" dirty="0"/>
          </a:p>
          <a:p>
            <a:pPr lvl="1"/>
            <a:r>
              <a:rPr lang="zh-CN" altLang="en-US" dirty="0"/>
              <a:t>逻辑地址、虚拟地址、线性地址、物理地址</a:t>
            </a:r>
            <a:endParaRPr lang="en-US" altLang="zh-CN" dirty="0"/>
          </a:p>
          <a:p>
            <a:pPr lvl="1"/>
            <a:r>
              <a:rPr lang="zh-CN" altLang="en-US" dirty="0"/>
              <a:t>它们之间的转换是如何实现的</a:t>
            </a:r>
            <a:endParaRPr lang="en-US" altLang="zh-CN" dirty="0"/>
          </a:p>
          <a:p>
            <a:r>
              <a:rPr lang="zh-CN" altLang="en-US" dirty="0"/>
              <a:t>连续内存管理</a:t>
            </a:r>
            <a:endParaRPr lang="en-US" altLang="zh-CN" dirty="0"/>
          </a:p>
          <a:p>
            <a:pPr lvl="1"/>
            <a:r>
              <a:rPr lang="zh-CN" altLang="en-US" dirty="0"/>
              <a:t>覆盖技术，紧缩技术</a:t>
            </a:r>
            <a:endParaRPr lang="en-US" altLang="zh-CN" dirty="0"/>
          </a:p>
          <a:p>
            <a:pPr lvl="1"/>
            <a:r>
              <a:rPr lang="zh-CN" altLang="en-US" dirty="0"/>
              <a:t>内存空洞管理方法</a:t>
            </a:r>
            <a:endParaRPr lang="en-US" altLang="zh-CN" dirty="0"/>
          </a:p>
          <a:p>
            <a:r>
              <a:rPr lang="zh-CN" altLang="en-US" dirty="0"/>
              <a:t>页式内存管理</a:t>
            </a:r>
            <a:endParaRPr lang="en-US" altLang="zh-CN" dirty="0"/>
          </a:p>
          <a:p>
            <a:pPr lvl="1"/>
            <a:r>
              <a:rPr lang="zh-CN" altLang="en-US" dirty="0"/>
              <a:t>页、页框、页表、地址转换、</a:t>
            </a:r>
            <a:r>
              <a:rPr lang="en-US" altLang="zh-CN" dirty="0"/>
              <a:t>TLB</a:t>
            </a:r>
            <a:endParaRPr lang="en-US" altLang="zh-CN" dirty="0"/>
          </a:p>
          <a:p>
            <a:pPr lvl="1"/>
            <a:r>
              <a:rPr lang="zh-CN" altLang="en-US" dirty="0"/>
              <a:t>页面置换算法</a:t>
            </a:r>
            <a:endParaRPr lang="en-US" altLang="zh-CN" dirty="0"/>
          </a:p>
          <a:p>
            <a:pPr lvl="1"/>
            <a:r>
              <a:rPr lang="zh-CN" altLang="en-US" dirty="0"/>
              <a:t>虚拟地址管理</a:t>
            </a:r>
            <a:endParaRPr lang="en-US" altLang="zh-CN" dirty="0"/>
          </a:p>
          <a:p>
            <a:r>
              <a:rPr lang="zh-CN" altLang="en-US" dirty="0"/>
              <a:t>段式内存管理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Model of Memory Management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184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B6CB9A-9703-4447-9E38-2673CAD5DB48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8" name="流程图: 磁盘 7"/>
          <p:cNvSpPr>
            <a:spLocks noChangeArrowheads="1"/>
          </p:cNvSpPr>
          <p:nvPr/>
        </p:nvSpPr>
        <p:spPr bwMode="auto">
          <a:xfrm>
            <a:off x="2309814" y="5143500"/>
            <a:ext cx="2143125" cy="642938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monoprogramming</a:t>
            </a:r>
            <a:endParaRPr lang="zh-CN" altLang="en-US" sz="1800" b="1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9" name="流程图: 磁盘 8"/>
          <p:cNvSpPr>
            <a:spLocks noChangeArrowheads="1"/>
          </p:cNvSpPr>
          <p:nvPr/>
        </p:nvSpPr>
        <p:spPr bwMode="auto">
          <a:xfrm>
            <a:off x="4024314" y="3857625"/>
            <a:ext cx="2143125" cy="1143000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Multiprogramming</a:t>
            </a:r>
            <a:endParaRPr lang="en-US" altLang="zh-CN" sz="1800" b="1">
              <a:solidFill>
                <a:srgbClr val="FF0000"/>
              </a:solidFill>
              <a:latin typeface="Times New Roman" panose="0202050305040509030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imes New Roman" panose="02020503050405090304" charset="0"/>
              </a:rPr>
              <a:t>Fixed partitions</a:t>
            </a:r>
            <a:endParaRPr lang="zh-CN" altLang="en-US" sz="1800" b="1">
              <a:solidFill>
                <a:srgbClr val="FF0000"/>
              </a:solidFill>
              <a:latin typeface="Times New Roman" panose="02020503050405090304" charset="0"/>
            </a:endParaRPr>
          </a:p>
        </p:txBody>
      </p:sp>
      <p:sp>
        <p:nvSpPr>
          <p:cNvPr id="11" name="流程图: 磁盘 10"/>
          <p:cNvSpPr>
            <a:spLocks noChangeArrowheads="1"/>
          </p:cNvSpPr>
          <p:nvPr/>
        </p:nvSpPr>
        <p:spPr bwMode="auto">
          <a:xfrm>
            <a:off x="5953126" y="2571750"/>
            <a:ext cx="2143125" cy="1143000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Multiprogramming</a:t>
            </a:r>
            <a:endParaRPr lang="en-US" altLang="zh-CN" sz="1800" b="1">
              <a:solidFill>
                <a:srgbClr val="FF0000"/>
              </a:solidFill>
              <a:latin typeface="Times New Roman" panose="0202050305040509030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imes New Roman" panose="02020503050405090304" charset="0"/>
              </a:rPr>
              <a:t>Dynatic partitions</a:t>
            </a:r>
            <a:endParaRPr lang="zh-CN" altLang="en-US" sz="1800" b="1">
              <a:solidFill>
                <a:srgbClr val="FF0000"/>
              </a:solidFill>
              <a:latin typeface="Times New Roman" panose="02020503050405090304" charset="0"/>
            </a:endParaRPr>
          </a:p>
        </p:txBody>
      </p:sp>
      <p:sp>
        <p:nvSpPr>
          <p:cNvPr id="12" name="流程图: 磁盘 11"/>
          <p:cNvSpPr>
            <a:spLocks noChangeArrowheads="1"/>
          </p:cNvSpPr>
          <p:nvPr/>
        </p:nvSpPr>
        <p:spPr bwMode="auto">
          <a:xfrm>
            <a:off x="7810501" y="1285875"/>
            <a:ext cx="2786063" cy="1143000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latin typeface="Times New Roman" panose="02020503050405090304" charset="0"/>
              </a:rPr>
              <a:t>Multiprogramming</a:t>
            </a:r>
            <a:endParaRPr lang="en-US" altLang="zh-CN" sz="1800" b="1">
              <a:solidFill>
                <a:srgbClr val="FF0000"/>
              </a:solidFill>
              <a:latin typeface="Times New Roman" panose="0202050305040509030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Times New Roman" panose="02020503050405090304" charset="0"/>
              </a:rPr>
              <a:t>Paging and segmentations</a:t>
            </a:r>
            <a:endParaRPr lang="zh-CN" altLang="en-US" sz="1800" b="1">
              <a:solidFill>
                <a:srgbClr val="FF0000"/>
              </a:solidFill>
              <a:latin typeface="Times New Roman" panose="02020503050405090304" charset="0"/>
            </a:endParaRPr>
          </a:p>
        </p:txBody>
      </p:sp>
      <p:sp>
        <p:nvSpPr>
          <p:cNvPr id="13" name="上弧形箭头 12"/>
          <p:cNvSpPr>
            <a:spLocks noChangeArrowheads="1"/>
          </p:cNvSpPr>
          <p:nvPr/>
        </p:nvSpPr>
        <p:spPr bwMode="auto">
          <a:xfrm rot="-2173205">
            <a:off x="2782889" y="3397250"/>
            <a:ext cx="1285875" cy="5715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4" name="上弧形箭头 13"/>
          <p:cNvSpPr>
            <a:spLocks noChangeArrowheads="1"/>
          </p:cNvSpPr>
          <p:nvPr/>
        </p:nvSpPr>
        <p:spPr bwMode="auto">
          <a:xfrm rot="-2173205">
            <a:off x="4497389" y="2254250"/>
            <a:ext cx="1285875" cy="5715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5" name="上弧形箭头 14"/>
          <p:cNvSpPr>
            <a:spLocks noChangeArrowheads="1"/>
          </p:cNvSpPr>
          <p:nvPr/>
        </p:nvSpPr>
        <p:spPr bwMode="auto">
          <a:xfrm rot="-2173205">
            <a:off x="6211889" y="1182688"/>
            <a:ext cx="1285875" cy="5715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9-2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6" y="2940051"/>
            <a:ext cx="148431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8" name="组合 47"/>
          <p:cNvGrpSpPr/>
          <p:nvPr/>
        </p:nvGrpSpPr>
        <p:grpSpPr bwMode="auto">
          <a:xfrm>
            <a:off x="8577264" y="2257426"/>
            <a:ext cx="1285875" cy="557213"/>
            <a:chOff x="7073724" y="932190"/>
            <a:chExt cx="1285696" cy="557383"/>
          </a:xfrm>
        </p:grpSpPr>
        <p:sp>
          <p:nvSpPr>
            <p:cNvPr id="51" name="矩形 50"/>
            <p:cNvSpPr/>
            <p:nvPr/>
          </p:nvSpPr>
          <p:spPr>
            <a:xfrm>
              <a:off x="7203881" y="992533"/>
              <a:ext cx="1025382" cy="497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4" name="矩形 51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4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5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 bwMode="auto">
          <a:xfrm>
            <a:off x="8574089" y="3695701"/>
            <a:ext cx="1285875" cy="344325"/>
            <a:chOff x="7073724" y="932190"/>
            <a:chExt cx="1285696" cy="343982"/>
          </a:xfrm>
        </p:grpSpPr>
        <p:sp>
          <p:nvSpPr>
            <p:cNvPr id="54" name="矩形 53"/>
            <p:cNvSpPr/>
            <p:nvPr/>
          </p:nvSpPr>
          <p:spPr>
            <a:xfrm>
              <a:off x="7203881" y="992455"/>
              <a:ext cx="1025382" cy="2458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2" name="矩形 54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3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3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 bwMode="auto">
          <a:xfrm>
            <a:off x="8570914" y="1762126"/>
            <a:ext cx="1284287" cy="557213"/>
            <a:chOff x="7073724" y="932190"/>
            <a:chExt cx="1285696" cy="557383"/>
          </a:xfrm>
        </p:grpSpPr>
        <p:sp>
          <p:nvSpPr>
            <p:cNvPr id="32" name="矩形 31"/>
            <p:cNvSpPr/>
            <p:nvPr/>
          </p:nvSpPr>
          <p:spPr>
            <a:xfrm>
              <a:off x="7204042" y="992533"/>
              <a:ext cx="1025060" cy="4970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0" name="矩形 77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4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6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 bwMode="auto">
          <a:xfrm>
            <a:off x="8597901" y="2811463"/>
            <a:ext cx="1285875" cy="920750"/>
            <a:chOff x="7073724" y="1981429"/>
            <a:chExt cx="1285696" cy="921427"/>
          </a:xfrm>
        </p:grpSpPr>
        <p:sp>
          <p:nvSpPr>
            <p:cNvPr id="33" name="矩形 32"/>
            <p:cNvSpPr/>
            <p:nvPr/>
          </p:nvSpPr>
          <p:spPr>
            <a:xfrm>
              <a:off x="7188008" y="1981429"/>
              <a:ext cx="1023795" cy="9214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8" name="矩形 34"/>
            <p:cNvSpPr>
              <a:spLocks noChangeArrowheads="1"/>
            </p:cNvSpPr>
            <p:nvPr/>
          </p:nvSpPr>
          <p:spPr bwMode="auto">
            <a:xfrm>
              <a:off x="7073724" y="2134117"/>
              <a:ext cx="1285696" cy="344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4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 bwMode="auto">
          <a:xfrm>
            <a:off x="8588376" y="4014789"/>
            <a:ext cx="1285875" cy="949325"/>
            <a:chOff x="7064444" y="3157356"/>
            <a:chExt cx="1285696" cy="949294"/>
          </a:xfrm>
        </p:grpSpPr>
        <p:sp>
          <p:nvSpPr>
            <p:cNvPr id="34" name="矩形 33"/>
            <p:cNvSpPr/>
            <p:nvPr/>
          </p:nvSpPr>
          <p:spPr>
            <a:xfrm>
              <a:off x="7188252" y="3157356"/>
              <a:ext cx="1023795" cy="94929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6" name="矩形 36"/>
            <p:cNvSpPr>
              <a:spLocks noChangeArrowheads="1"/>
            </p:cNvSpPr>
            <p:nvPr/>
          </p:nvSpPr>
          <p:spPr bwMode="auto">
            <a:xfrm>
              <a:off x="7064444" y="3334557"/>
              <a:ext cx="1285696" cy="344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2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8588376" y="4946650"/>
            <a:ext cx="1285875" cy="673100"/>
            <a:chOff x="7064444" y="4089493"/>
            <a:chExt cx="1285696" cy="672790"/>
          </a:xfrm>
        </p:grpSpPr>
        <p:sp>
          <p:nvSpPr>
            <p:cNvPr id="50" name="矩形 49"/>
            <p:cNvSpPr/>
            <p:nvPr/>
          </p:nvSpPr>
          <p:spPr>
            <a:xfrm>
              <a:off x="7188252" y="4089493"/>
              <a:ext cx="1023795" cy="67279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4" name="矩形 48"/>
            <p:cNvSpPr>
              <a:spLocks noChangeArrowheads="1"/>
            </p:cNvSpPr>
            <p:nvPr/>
          </p:nvSpPr>
          <p:spPr bwMode="auto">
            <a:xfrm>
              <a:off x="7064444" y="4283851"/>
              <a:ext cx="1285696" cy="344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1</a:t>
              </a:r>
              <a:endParaRPr lang="zh-CN" altLang="en-US" sz="16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31753" name="Text Box 38"/>
          <p:cNvSpPr>
            <a:spLocks noChangeArrowheads="1"/>
          </p:cNvSpPr>
          <p:nvPr/>
        </p:nvSpPr>
        <p:spPr bwMode="auto">
          <a:xfrm>
            <a:off x="2130425" y="1008064"/>
            <a:ext cx="7956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 anchor="b"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</a:pPr>
            <a:r>
              <a:rPr lang="zh-CN" altLang="en-US" sz="3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rPr>
              <a:t>连续内存分配：动态分区分配</a:t>
            </a:r>
            <a:endParaRPr lang="zh-CN" altLang="en-US" sz="3000" b="1">
              <a:solidFill>
                <a:srgbClr val="11576A"/>
              </a:solidFill>
              <a:latin typeface="微软雅黑" charset="-122"/>
              <a:ea typeface="微软雅黑" charset="-122"/>
              <a:sym typeface="Times New Roman" panose="02020503050405090304" charset="0"/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2363789" y="1809750"/>
            <a:ext cx="4884737" cy="1320800"/>
            <a:chOff x="694777" y="952131"/>
            <a:chExt cx="4884937" cy="1321171"/>
          </a:xfrm>
        </p:grpSpPr>
        <p:sp>
          <p:nvSpPr>
            <p:cNvPr id="31767" name="矩形 8"/>
            <p:cNvSpPr>
              <a:spLocks noChangeArrowheads="1"/>
            </p:cNvSpPr>
            <p:nvPr/>
          </p:nvSpPr>
          <p:spPr bwMode="auto">
            <a:xfrm>
              <a:off x="694777" y="952131"/>
              <a:ext cx="324141" cy="369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endParaRPr lang="zh-CN" altLang="en-US" b="1">
                <a:solidFill>
                  <a:srgbClr val="11576A"/>
                </a:solidFill>
                <a:latin typeface="Calibri" charset="0"/>
              </a:endParaRPr>
            </a:p>
          </p:txBody>
        </p:sp>
        <p:pic>
          <p:nvPicPr>
            <p:cNvPr id="31768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032" y="1361815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9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032" y="1984892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70" name="矩形 14"/>
            <p:cNvSpPr>
              <a:spLocks noChangeArrowheads="1"/>
            </p:cNvSpPr>
            <p:nvPr/>
          </p:nvSpPr>
          <p:spPr bwMode="auto">
            <a:xfrm>
              <a:off x="1028217" y="956937"/>
              <a:ext cx="17235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动态分区分配</a:t>
              </a:r>
              <a:endParaRPr lang="zh-CN" altLang="en-US" sz="2000"/>
            </a:p>
          </p:txBody>
        </p:sp>
        <p:sp>
          <p:nvSpPr>
            <p:cNvPr id="31771" name="矩形 15"/>
            <p:cNvSpPr>
              <a:spLocks noChangeArrowheads="1"/>
            </p:cNvSpPr>
            <p:nvPr/>
          </p:nvSpPr>
          <p:spPr bwMode="auto">
            <a:xfrm>
              <a:off x="1314909" y="1242501"/>
              <a:ext cx="426480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当程序被加载执行时，分配一个进程指定大小可变的分区</a:t>
              </a:r>
              <a:r>
                <a:rPr lang="en-US" altLang="zh-CN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(</a:t>
              </a: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块、内存块</a:t>
              </a:r>
              <a:r>
                <a:rPr lang="en-US" altLang="zh-CN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)</a:t>
              </a:r>
              <a:endParaRPr lang="zh-CN" altLang="en-US" sz="2000"/>
            </a:p>
          </p:txBody>
        </p:sp>
        <p:sp>
          <p:nvSpPr>
            <p:cNvPr id="31772" name="矩形 16"/>
            <p:cNvSpPr>
              <a:spLocks noChangeArrowheads="1"/>
            </p:cNvSpPr>
            <p:nvPr/>
          </p:nvSpPr>
          <p:spPr bwMode="auto">
            <a:xfrm>
              <a:off x="1243283" y="1873192"/>
              <a:ext cx="25699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marL="0" lvl="1">
                <a:buClr>
                  <a:srgbClr val="000099"/>
                </a:buClr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 分区的地址是连续的</a:t>
              </a:r>
              <a:endParaRPr lang="zh-CN" alt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2363789" y="3201989"/>
            <a:ext cx="4714875" cy="1031875"/>
            <a:chOff x="694777" y="2344338"/>
            <a:chExt cx="4714876" cy="1031929"/>
          </a:xfrm>
        </p:grpSpPr>
        <p:sp>
          <p:nvSpPr>
            <p:cNvPr id="31760" name="矩形 18"/>
            <p:cNvSpPr>
              <a:spLocks noChangeArrowheads="1"/>
            </p:cNvSpPr>
            <p:nvPr/>
          </p:nvSpPr>
          <p:spPr bwMode="auto">
            <a:xfrm>
              <a:off x="837653" y="2690405"/>
              <a:ext cx="4572000" cy="374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800100" indent="-3429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lvl="1">
                <a:lnSpc>
                  <a:spcPct val="90000"/>
                </a:lnSpc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所有进程的已分配分区</a:t>
              </a:r>
              <a:endParaRPr lang="en-US" altLang="zh-CN" sz="2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  <p:grpSp>
          <p:nvGrpSpPr>
            <p:cNvPr id="31761" name="组合 7"/>
            <p:cNvGrpSpPr/>
            <p:nvPr/>
          </p:nvGrpSpPr>
          <p:grpSpPr bwMode="auto">
            <a:xfrm>
              <a:off x="694777" y="2344338"/>
              <a:ext cx="3852352" cy="1031929"/>
              <a:chOff x="694777" y="2344338"/>
              <a:chExt cx="3852352" cy="1031929"/>
            </a:xfrm>
          </p:grpSpPr>
          <p:sp>
            <p:nvSpPr>
              <p:cNvPr id="31762" name="矩形 8"/>
              <p:cNvSpPr>
                <a:spLocks noChangeArrowheads="1"/>
              </p:cNvSpPr>
              <p:nvPr/>
            </p:nvSpPr>
            <p:spPr bwMode="auto">
              <a:xfrm>
                <a:off x="694777" y="2356401"/>
                <a:ext cx="324128" cy="3693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b="1">
                    <a:solidFill>
                      <a:srgbClr val="11576A"/>
                    </a:solidFill>
                    <a:latin typeface="张海山锐谐体2.0-授权联系：Samtype@QQ.com"/>
                    <a:ea typeface="张海山锐谐体2.0-授权联系：Samtype@QQ.com"/>
                    <a:cs typeface="张海山锐谐体2.0-授权联系：Samtype@QQ.com"/>
                  </a:rPr>
                  <a:t>■</a:t>
                </a:r>
                <a:endParaRPr lang="zh-CN" altLang="en-US" b="1">
                  <a:solidFill>
                    <a:srgbClr val="11576A"/>
                  </a:solidFill>
                  <a:latin typeface="Calibri" charset="0"/>
                </a:endParaRPr>
              </a:p>
            </p:txBody>
          </p:sp>
          <p:pic>
            <p:nvPicPr>
              <p:cNvPr id="31763" name="图片 8" descr="小点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766" y="2799940"/>
                <a:ext cx="149225" cy="14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764" name="图片 8" descr="小点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6032" y="3095095"/>
                <a:ext cx="149225" cy="14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765" name="矩形 17"/>
              <p:cNvSpPr>
                <a:spLocks noChangeArrowheads="1"/>
              </p:cNvSpPr>
              <p:nvPr/>
            </p:nvSpPr>
            <p:spPr bwMode="auto">
              <a:xfrm>
                <a:off x="1028217" y="2344338"/>
                <a:ext cx="35189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pPr>
                  <a:buSzPct val="100000"/>
                </a:pPr>
                <a:r>
                  <a:rPr lang="zh-CN" altLang="en-US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操作系统需要维护的数据结构</a:t>
                </a:r>
                <a:endPara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endParaRPr>
              </a:p>
            </p:txBody>
          </p:sp>
          <p:sp>
            <p:nvSpPr>
              <p:cNvPr id="31766" name="矩形 19"/>
              <p:cNvSpPr>
                <a:spLocks noChangeArrowheads="1"/>
              </p:cNvSpPr>
              <p:nvPr/>
            </p:nvSpPr>
            <p:spPr bwMode="auto">
              <a:xfrm>
                <a:off x="1290971" y="2976157"/>
                <a:ext cx="3171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804030504040204" pitchFamily="34" charset="0"/>
                    <a:ea typeface="宋体" pitchFamily="2" charset="-122"/>
                  </a:defRPr>
                </a:lvl9pPr>
              </a:lstStyle>
              <a:p>
                <a:r>
                  <a:rPr lang="zh-CN" altLang="en-US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空闲分区</a:t>
                </a:r>
                <a:r>
                  <a:rPr lang="en-US" altLang="zh-CN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(</a:t>
                </a:r>
                <a:r>
                  <a:rPr lang="zh-CN" altLang="en-US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Empty-blocks</a:t>
                </a:r>
                <a:r>
                  <a:rPr lang="en-US" altLang="zh-CN" sz="2000" b="1">
                    <a:solidFill>
                      <a:srgbClr val="11576A"/>
                    </a:solidFill>
                    <a:latin typeface="微软雅黑" charset="-122"/>
                    <a:ea typeface="微软雅黑" charset="-122"/>
                    <a:sym typeface="Times New Roman" panose="02020503050405090304" charset="0"/>
                  </a:rPr>
                  <a:t>)</a:t>
                </a:r>
                <a:endParaRPr lang="zh-CN" altLang="en-US" sz="2000"/>
              </a:p>
            </p:txBody>
          </p:sp>
        </p:grpSp>
      </p:grpSp>
      <p:grpSp>
        <p:nvGrpSpPr>
          <p:cNvPr id="3" name="组合 2"/>
          <p:cNvGrpSpPr/>
          <p:nvPr/>
        </p:nvGrpSpPr>
        <p:grpSpPr bwMode="auto">
          <a:xfrm>
            <a:off x="7945438" y="1703388"/>
            <a:ext cx="1784350" cy="4043362"/>
            <a:chOff x="5385992" y="817121"/>
            <a:chExt cx="1784631" cy="4042888"/>
          </a:xfrm>
        </p:grpSpPr>
        <p:sp>
          <p:nvSpPr>
            <p:cNvPr id="31757" name="矩形 75"/>
            <p:cNvSpPr>
              <a:spLocks noChangeArrowheads="1"/>
            </p:cNvSpPr>
            <p:nvPr/>
          </p:nvSpPr>
          <p:spPr bwMode="auto">
            <a:xfrm>
              <a:off x="5385992" y="817121"/>
              <a:ext cx="7569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MAX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1758" name="矩形 76"/>
            <p:cNvSpPr>
              <a:spLocks noChangeArrowheads="1"/>
            </p:cNvSpPr>
            <p:nvPr/>
          </p:nvSpPr>
          <p:spPr bwMode="auto">
            <a:xfrm>
              <a:off x="5829395" y="4490677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0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31759" name="图片 2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6213" y="907079"/>
              <a:ext cx="1024410" cy="3855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82716E-6 L -0.17569 -0.40709 " pathEditMode="relative" rAng="0" ptsTypes="AA">
                                      <p:cBhvr>
                                        <p:cTn id="22" dur="2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5" y="-2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83951E-6 L -0.18594 -0.2466 " pathEditMode="relative" rAng="0" ptsTypes="AA">
                                      <p:cBhvr>
                                        <p:cTn id="28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06" y="-123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-0.18438 -0.13642 " pathEditMode="relative" rAng="0" ptsTypes="AA">
                                      <p:cBhvr>
                                        <p:cTn id="34" dur="20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19" y="-68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-0.17847 -0.01666 " pathEditMode="relative" rAng="0" ptsTypes="AA">
                                      <p:cBhvr>
                                        <p:cTn id="40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24" y="-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5679E-6 L -0.17622 0.12007 " pathEditMode="relative" rAng="0" ptsTypes="AA">
                                      <p:cBhvr>
                                        <p:cTn id="46" dur="2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19" y="59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7284E-6 L -0.17778 0.2179 " pathEditMode="relative" rAng="0" ptsTypes="AA">
                                      <p:cBhvr>
                                        <p:cTn id="52" dur="2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89" y="108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196138" y="1730376"/>
            <a:ext cx="925512" cy="11350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7178675" y="2211389"/>
            <a:ext cx="928688" cy="2695575"/>
            <a:chOff x="5645894" y="1354694"/>
            <a:chExt cx="929292" cy="2695375"/>
          </a:xfrm>
        </p:grpSpPr>
        <p:sp>
          <p:nvSpPr>
            <p:cNvPr id="14" name="矩形 13"/>
            <p:cNvSpPr/>
            <p:nvPr/>
          </p:nvSpPr>
          <p:spPr>
            <a:xfrm>
              <a:off x="5645894" y="1354694"/>
              <a:ext cx="926115" cy="6524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649071" y="2929377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5645894" y="3824661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 bwMode="auto">
          <a:xfrm>
            <a:off x="6992939" y="1704975"/>
            <a:ext cx="1285875" cy="488950"/>
            <a:chOff x="5469239" y="873483"/>
            <a:chExt cx="1285696" cy="488490"/>
          </a:xfrm>
        </p:grpSpPr>
        <p:sp>
          <p:nvSpPr>
            <p:cNvPr id="23" name="矩形 22"/>
            <p:cNvSpPr/>
            <p:nvPr/>
          </p:nvSpPr>
          <p:spPr>
            <a:xfrm>
              <a:off x="5662887" y="916306"/>
              <a:ext cx="946018" cy="44566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81" name="矩形 27"/>
            <p:cNvSpPr>
              <a:spLocks noChangeArrowheads="1"/>
            </p:cNvSpPr>
            <p:nvPr/>
          </p:nvSpPr>
          <p:spPr bwMode="auto">
            <a:xfrm>
              <a:off x="5469239" y="873483"/>
              <a:ext cx="1285696" cy="312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4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6992939" y="2865439"/>
            <a:ext cx="1285875" cy="922337"/>
            <a:chOff x="5469239" y="2008419"/>
            <a:chExt cx="1285696" cy="921427"/>
          </a:xfrm>
        </p:grpSpPr>
        <p:sp>
          <p:nvSpPr>
            <p:cNvPr id="18" name="矩形 17"/>
            <p:cNvSpPr/>
            <p:nvPr/>
          </p:nvSpPr>
          <p:spPr>
            <a:xfrm>
              <a:off x="5645426" y="2008419"/>
              <a:ext cx="946018" cy="9214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9" name="矩形 28"/>
            <p:cNvSpPr>
              <a:spLocks noChangeArrowheads="1"/>
            </p:cNvSpPr>
            <p:nvPr/>
          </p:nvSpPr>
          <p:spPr bwMode="auto">
            <a:xfrm>
              <a:off x="5469239" y="2195213"/>
              <a:ext cx="1285696" cy="31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3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 bwMode="auto">
          <a:xfrm>
            <a:off x="7000875" y="3995738"/>
            <a:ext cx="1284288" cy="677862"/>
            <a:chOff x="5476138" y="3155531"/>
            <a:chExt cx="1285696" cy="677366"/>
          </a:xfrm>
        </p:grpSpPr>
        <p:sp>
          <p:nvSpPr>
            <p:cNvPr id="17" name="矩形 16"/>
            <p:cNvSpPr/>
            <p:nvPr/>
          </p:nvSpPr>
          <p:spPr>
            <a:xfrm>
              <a:off x="5646187" y="3155531"/>
              <a:ext cx="945598" cy="6773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7" name="矩形 29"/>
            <p:cNvSpPr>
              <a:spLocks noChangeArrowheads="1"/>
            </p:cNvSpPr>
            <p:nvPr/>
          </p:nvSpPr>
          <p:spPr bwMode="auto">
            <a:xfrm>
              <a:off x="5476138" y="3315724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2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7016751" y="4894263"/>
            <a:ext cx="1285875" cy="677862"/>
            <a:chOff x="5493106" y="4037699"/>
            <a:chExt cx="1285696" cy="677366"/>
          </a:xfrm>
        </p:grpSpPr>
        <p:sp>
          <p:nvSpPr>
            <p:cNvPr id="32" name="矩形 31"/>
            <p:cNvSpPr/>
            <p:nvPr/>
          </p:nvSpPr>
          <p:spPr>
            <a:xfrm>
              <a:off x="5642310" y="4037699"/>
              <a:ext cx="946018" cy="6773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5" name="矩形 30"/>
            <p:cNvSpPr>
              <a:spLocks noChangeArrowheads="1"/>
            </p:cNvSpPr>
            <p:nvPr/>
          </p:nvSpPr>
          <p:spPr bwMode="auto">
            <a:xfrm>
              <a:off x="5493106" y="4229142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charset="-122"/>
                  <a:ea typeface="微软雅黑" charset="-122"/>
                  <a:sym typeface="Comic Sans MS" panose="030F0902030302020204" charset="0"/>
                </a:rPr>
                <a:t>1</a:t>
              </a:r>
              <a:endParaRPr lang="zh-CN" altLang="en-US" sz="1400" b="1">
                <a:solidFill>
                  <a:srgbClr val="C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57352" name="Text Box 1"/>
          <p:cNvSpPr>
            <a:spLocks noChangeArrowheads="1"/>
          </p:cNvSpPr>
          <p:nvPr/>
        </p:nvSpPr>
        <p:spPr bwMode="auto">
          <a:xfrm>
            <a:off x="2149475" y="971551"/>
            <a:ext cx="7956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 anchor="b"/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</a:pPr>
            <a:r>
              <a:rPr lang="zh-CN" altLang="en-US" sz="3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rPr>
              <a:t>碎片整理：紧凑</a:t>
            </a:r>
            <a:r>
              <a:rPr lang="en-US" altLang="zh-CN" sz="3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rPr>
              <a:t>(compaction)</a:t>
            </a:r>
            <a:endParaRPr lang="en-US" altLang="zh-CN" sz="3000" b="1">
              <a:solidFill>
                <a:srgbClr val="11576A"/>
              </a:solidFill>
              <a:latin typeface="微软雅黑" charset="-122"/>
              <a:ea typeface="微软雅黑" charset="-122"/>
              <a:sym typeface="Times New Roman" panose="02020503050405090304" charset="0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6380163" y="1689101"/>
            <a:ext cx="1746250" cy="3978275"/>
            <a:chOff x="4844628" y="837932"/>
            <a:chExt cx="1747484" cy="3978401"/>
          </a:xfrm>
        </p:grpSpPr>
        <p:pic>
          <p:nvPicPr>
            <p:cNvPr id="57371" name="图片 2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2063" y="887609"/>
              <a:ext cx="960049" cy="3855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2" name="矩形 25"/>
            <p:cNvSpPr>
              <a:spLocks noChangeArrowheads="1"/>
            </p:cNvSpPr>
            <p:nvPr/>
          </p:nvSpPr>
          <p:spPr bwMode="auto">
            <a:xfrm>
              <a:off x="4844628" y="837932"/>
              <a:ext cx="7569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MAX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373" name="矩形 26"/>
            <p:cNvSpPr>
              <a:spLocks noChangeArrowheads="1"/>
            </p:cNvSpPr>
            <p:nvPr/>
          </p:nvSpPr>
          <p:spPr bwMode="auto">
            <a:xfrm>
              <a:off x="5262886" y="4447001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Courier New" panose="02070409020205090404" pitchFamily="49" charset="0"/>
                </a:rPr>
                <a:t>0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 bwMode="auto">
          <a:xfrm>
            <a:off x="2424114" y="2884488"/>
            <a:ext cx="3959225" cy="793750"/>
            <a:chOff x="899592" y="2027130"/>
            <a:chExt cx="3960440" cy="794298"/>
          </a:xfrm>
        </p:grpSpPr>
        <p:sp>
          <p:nvSpPr>
            <p:cNvPr id="57368" name="Text Box 2"/>
            <p:cNvSpPr>
              <a:spLocks noChangeArrowheads="1"/>
            </p:cNvSpPr>
            <p:nvPr/>
          </p:nvSpPr>
          <p:spPr bwMode="auto">
            <a:xfrm>
              <a:off x="899592" y="2027130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 dirty="0">
                  <a:solidFill>
                    <a:srgbClr val="11576A"/>
                  </a:solidFill>
                  <a:latin typeface="Calibri" charset="0"/>
                </a:rPr>
                <a:t> 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碎片紧凑</a:t>
              </a:r>
              <a:r>
                <a:rPr lang="en-US" altLang="zh-CN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(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紧缩）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  <p:pic>
          <p:nvPicPr>
            <p:cNvPr id="57369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2492751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0" name="Text Box 2"/>
            <p:cNvSpPr>
              <a:spLocks noChangeArrowheads="1"/>
            </p:cNvSpPr>
            <p:nvPr/>
          </p:nvSpPr>
          <p:spPr bwMode="auto">
            <a:xfrm>
              <a:off x="1425553" y="2398167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通过移动分配给进程的内存分区，以合并外部碎片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2808289" y="3856039"/>
            <a:ext cx="4110037" cy="746125"/>
            <a:chOff x="1285061" y="2999431"/>
            <a:chExt cx="4109665" cy="746187"/>
          </a:xfrm>
        </p:grpSpPr>
        <p:sp>
          <p:nvSpPr>
            <p:cNvPr id="57365" name="Text Box 2"/>
            <p:cNvSpPr>
              <a:spLocks noChangeArrowheads="1"/>
            </p:cNvSpPr>
            <p:nvPr/>
          </p:nvSpPr>
          <p:spPr bwMode="auto">
            <a:xfrm>
              <a:off x="1434286" y="2999431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碎片紧凑的条件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57366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109163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7" name="Text Box 2"/>
            <p:cNvSpPr>
              <a:spLocks noChangeArrowheads="1"/>
            </p:cNvSpPr>
            <p:nvPr/>
          </p:nvSpPr>
          <p:spPr bwMode="auto">
            <a:xfrm>
              <a:off x="1463824" y="3322357"/>
              <a:ext cx="355600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所有的应用程序可动态重定位</a:t>
              </a:r>
              <a:endParaRPr lang="zh-CN" altLang="en-US" sz="1600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 bwMode="auto">
          <a:xfrm>
            <a:off x="2424114" y="1843088"/>
            <a:ext cx="3959225" cy="793750"/>
            <a:chOff x="899592" y="985364"/>
            <a:chExt cx="3960440" cy="794298"/>
          </a:xfrm>
        </p:grpSpPr>
        <p:sp>
          <p:nvSpPr>
            <p:cNvPr id="57362" name="Text Box 2"/>
            <p:cNvSpPr>
              <a:spLocks noChangeArrowheads="1"/>
            </p:cNvSpPr>
            <p:nvPr/>
          </p:nvSpPr>
          <p:spPr bwMode="auto">
            <a:xfrm>
              <a:off x="899592" y="985364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>
                  <a:solidFill>
                    <a:srgbClr val="11576A"/>
                  </a:solidFill>
                  <a:latin typeface="Calibri" charset="0"/>
                </a:rPr>
                <a:t>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charset="-122"/>
                  <a:ea typeface="微软雅黑" charset="-122"/>
                  <a:sym typeface="Times New Roman" panose="02020503050405090304" charset="0"/>
                </a:rPr>
                <a:t>碎片整理</a:t>
              </a:r>
              <a:endParaRPr lang="zh-CN" altLang="en-US" sz="2000" b="1">
                <a:solidFill>
                  <a:srgbClr val="11576A"/>
                </a:solidFill>
                <a:latin typeface="微软雅黑" charset="-122"/>
                <a:ea typeface="微软雅黑" charset="-122"/>
                <a:sym typeface="Times New Roman" panose="02020503050405090304" charset="0"/>
              </a:endParaRPr>
            </a:p>
          </p:txBody>
        </p:sp>
        <p:pic>
          <p:nvPicPr>
            <p:cNvPr id="57363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1450985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4" name="Text Box 2"/>
            <p:cNvSpPr>
              <a:spLocks noChangeArrowheads="1"/>
            </p:cNvSpPr>
            <p:nvPr/>
          </p:nvSpPr>
          <p:spPr bwMode="auto">
            <a:xfrm>
              <a:off x="1425553" y="1356401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通过调整进程占用的分区位置来减少或避免分区碎片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2808288" y="4521200"/>
            <a:ext cx="4102100" cy="1131888"/>
            <a:chOff x="1285061" y="3664266"/>
            <a:chExt cx="4100932" cy="1132126"/>
          </a:xfrm>
        </p:grpSpPr>
        <p:sp>
          <p:nvSpPr>
            <p:cNvPr id="57358" name="Text Box 2"/>
            <p:cNvSpPr>
              <a:spLocks noChangeArrowheads="1"/>
            </p:cNvSpPr>
            <p:nvPr/>
          </p:nvSpPr>
          <p:spPr bwMode="auto">
            <a:xfrm>
              <a:off x="1425553" y="3664266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需要解决的问题</a:t>
              </a:r>
              <a:endParaRPr lang="zh-CN" altLang="en-US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359" name="Text Box 2"/>
            <p:cNvSpPr>
              <a:spLocks noChangeArrowheads="1"/>
            </p:cNvSpPr>
            <p:nvPr/>
          </p:nvSpPr>
          <p:spPr bwMode="auto">
            <a:xfrm>
              <a:off x="1452156" y="401751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什么时候移动</a:t>
              </a: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?</a:t>
              </a:r>
              <a:endParaRPr lang="en-US" altLang="zh-CN" sz="1600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360" name="Text Box 2"/>
            <p:cNvSpPr>
              <a:spLocks noChangeArrowheads="1"/>
            </p:cNvSpPr>
            <p:nvPr/>
          </p:nvSpPr>
          <p:spPr bwMode="auto">
            <a:xfrm>
              <a:off x="1452157" y="437313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80403050404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开销</a:t>
              </a:r>
              <a:endParaRPr lang="zh-CN" altLang="en-US" sz="1600" b="1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57361" name="图片 8" descr="小点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753957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07407E-6 L 2.77778E-6 0.0447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7284E-6 L 0.0007 0.0851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425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0.00925 L -0.00295 0.21605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10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虚拟内存方案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覆盖式</a:t>
            </a:r>
            <a:endParaRPr lang="en-US" altLang="zh-CN" dirty="0"/>
          </a:p>
          <a:p>
            <a:r>
              <a:rPr lang="zh-CN" altLang="en-US" dirty="0"/>
              <a:t>分页式</a:t>
            </a:r>
            <a:endParaRPr lang="en-US" altLang="zh-CN" dirty="0"/>
          </a:p>
          <a:p>
            <a:r>
              <a:rPr lang="zh-CN" altLang="en-US" dirty="0"/>
              <a:t>分段式</a:t>
            </a:r>
            <a:endParaRPr lang="en-US" altLang="zh-CN" dirty="0"/>
          </a:p>
          <a:p>
            <a:r>
              <a:rPr lang="zh-CN" altLang="en-US" dirty="0"/>
              <a:t>段页结合式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4" name="Group 5"/>
          <p:cNvGrpSpPr/>
          <p:nvPr/>
        </p:nvGrpSpPr>
        <p:grpSpPr bwMode="auto">
          <a:xfrm>
            <a:off x="1214438" y="3286125"/>
            <a:ext cx="3095625" cy="2913063"/>
            <a:chOff x="384" y="1140"/>
            <a:chExt cx="2160" cy="2356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08" y="1140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A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8K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296" y="2628"/>
              <a:ext cx="43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E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4K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112" y="2628"/>
              <a:ext cx="43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F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10K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720" y="1716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1920" y="1716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720" y="1716"/>
              <a:ext cx="12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1536" y="2484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448" y="2484"/>
              <a:ext cx="0" cy="14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V="1">
              <a:off x="1536" y="2484"/>
              <a:ext cx="91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720" y="2244"/>
              <a:ext cx="0" cy="38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1920" y="2244"/>
              <a:ext cx="0" cy="24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1296" y="1524"/>
              <a:ext cx="0" cy="19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1584" y="1860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C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10K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384" y="1860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B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8K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384" y="2628"/>
              <a:ext cx="672" cy="3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D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12K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662" y="3222"/>
              <a:ext cx="155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Structure of Job X</a:t>
              </a:r>
              <a:endParaRPr kumimoji="1" lang="zh-CN" altLang="en-US" sz="20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21" name="Group 46"/>
          <p:cNvGrpSpPr/>
          <p:nvPr/>
        </p:nvGrpSpPr>
        <p:grpSpPr bwMode="auto">
          <a:xfrm>
            <a:off x="4716463" y="2852738"/>
            <a:ext cx="3927475" cy="3440112"/>
            <a:chOff x="2971" y="1797"/>
            <a:chExt cx="2155" cy="2167"/>
          </a:xfrm>
        </p:grpSpPr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947" y="1797"/>
              <a:ext cx="1179" cy="216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3947" y="2130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947" y="2430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3947" y="2931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947" y="3631"/>
              <a:ext cx="1179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4018" y="2146"/>
              <a:ext cx="106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Resident: A</a:t>
              </a:r>
              <a:endParaRPr kumimoji="1" lang="zh-CN" altLang="en-US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4153" y="2552"/>
              <a:ext cx="783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Overlays 0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（</a:t>
              </a: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10K</a:t>
              </a: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）</a:t>
              </a:r>
              <a:endParaRPr kumimoji="1" lang="zh-CN" altLang="en-US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4126" y="3139"/>
              <a:ext cx="783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Overlays 1</a:t>
              </a:r>
              <a:endParaRPr kumimoji="1" lang="en-US" altLang="zh-CN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（</a:t>
              </a:r>
              <a:r>
                <a:rPr kumimoji="1" lang="en-US" altLang="zh-CN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12K</a:t>
              </a:r>
              <a:r>
                <a:rPr kumimoji="1" lang="zh-CN" altLang="en-US" sz="1800" b="1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）</a:t>
              </a:r>
              <a:endParaRPr kumimoji="1" lang="zh-CN" altLang="en-US" sz="1800" b="1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3518" y="2430"/>
              <a:ext cx="250" cy="3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125" y="2430"/>
              <a:ext cx="250" cy="467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180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2982" y="3031"/>
              <a:ext cx="250" cy="466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3304" y="3031"/>
              <a:ext cx="250" cy="333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3625" y="2931"/>
              <a:ext cx="250" cy="7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3625" y="2497"/>
              <a:ext cx="32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3733" y="3564"/>
              <a:ext cx="214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3447" y="3297"/>
              <a:ext cx="50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089" y="3431"/>
              <a:ext cx="85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3232" y="2797"/>
              <a:ext cx="715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41"/>
            <p:cNvSpPr txBox="1">
              <a:spLocks noChangeArrowheads="1"/>
            </p:cNvSpPr>
            <p:nvPr/>
          </p:nvSpPr>
          <p:spPr bwMode="auto">
            <a:xfrm>
              <a:off x="3515" y="2432"/>
              <a:ext cx="25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 B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41" name="Text Box 42"/>
            <p:cNvSpPr txBox="1">
              <a:spLocks noChangeArrowheads="1"/>
            </p:cNvSpPr>
            <p:nvPr/>
          </p:nvSpPr>
          <p:spPr bwMode="auto">
            <a:xfrm>
              <a:off x="3158" y="2592"/>
              <a:ext cx="19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C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42" name="Text Box 43"/>
            <p:cNvSpPr txBox="1">
              <a:spLocks noChangeArrowheads="1"/>
            </p:cNvSpPr>
            <p:nvPr/>
          </p:nvSpPr>
          <p:spPr bwMode="auto">
            <a:xfrm>
              <a:off x="3614" y="3052"/>
              <a:ext cx="22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D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43" name="Text Box 44"/>
            <p:cNvSpPr txBox="1">
              <a:spLocks noChangeArrowheads="1"/>
            </p:cNvSpPr>
            <p:nvPr/>
          </p:nvSpPr>
          <p:spPr bwMode="auto">
            <a:xfrm>
              <a:off x="3293" y="3105"/>
              <a:ext cx="24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 E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44" name="Text Box 45"/>
            <p:cNvSpPr txBox="1">
              <a:spLocks noChangeArrowheads="1"/>
            </p:cNvSpPr>
            <p:nvPr/>
          </p:nvSpPr>
          <p:spPr bwMode="auto">
            <a:xfrm>
              <a:off x="2971" y="3152"/>
              <a:ext cx="19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F</a:t>
              </a:r>
              <a:endParaRPr kumimoji="1" lang="en-US" altLang="zh-CN" sz="1800">
                <a:solidFill>
                  <a:srgbClr val="FF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页表与多级页表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要有页表的设计能力</a:t>
            </a:r>
            <a:endParaRPr lang="zh-CN" altLang="en-US" dirty="0"/>
          </a:p>
        </p:txBody>
      </p:sp>
      <p:grpSp>
        <p:nvGrpSpPr>
          <p:cNvPr id="4" name="Group 65"/>
          <p:cNvGrpSpPr/>
          <p:nvPr/>
        </p:nvGrpSpPr>
        <p:grpSpPr bwMode="auto">
          <a:xfrm>
            <a:off x="1845607" y="2997200"/>
            <a:ext cx="2951162" cy="985838"/>
            <a:chOff x="113" y="1888"/>
            <a:chExt cx="1859" cy="621"/>
          </a:xfrm>
        </p:grpSpPr>
        <p:grpSp>
          <p:nvGrpSpPr>
            <p:cNvPr id="5" name="Group 16"/>
            <p:cNvGrpSpPr/>
            <p:nvPr/>
          </p:nvGrpSpPr>
          <p:grpSpPr bwMode="auto">
            <a:xfrm>
              <a:off x="113" y="1888"/>
              <a:ext cx="1859" cy="409"/>
              <a:chOff x="249" y="3203"/>
              <a:chExt cx="2177" cy="409"/>
            </a:xfrm>
          </p:grpSpPr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249" y="3204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PT1</a:t>
                </a:r>
                <a:endParaRPr lang="en-US" altLang="zh-CN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8" name="Rectangle 14"/>
              <p:cNvSpPr>
                <a:spLocks noChangeArrowheads="1"/>
              </p:cNvSpPr>
              <p:nvPr/>
            </p:nvSpPr>
            <p:spPr bwMode="auto">
              <a:xfrm>
                <a:off x="975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PT2</a:t>
                </a:r>
                <a:endParaRPr lang="en-US" altLang="zh-CN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9" name="Rectangle 15"/>
              <p:cNvSpPr>
                <a:spLocks noChangeArrowheads="1"/>
              </p:cNvSpPr>
              <p:nvPr/>
            </p:nvSpPr>
            <p:spPr bwMode="auto">
              <a:xfrm>
                <a:off x="1701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Offset</a:t>
                </a:r>
                <a:endParaRPr lang="en-US" altLang="zh-CN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90204" pitchFamily="34" charset="0"/>
                  </a:rPr>
                  <a:t>(12bit)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90204" pitchFamily="34" charset="0"/>
                </a:endParaRPr>
              </a:p>
            </p:txBody>
          </p:sp>
        </p:grpSp>
        <p:sp>
          <p:nvSpPr>
            <p:cNvPr id="6" name="Text Box 17"/>
            <p:cNvSpPr txBox="1">
              <a:spLocks noChangeArrowheads="1"/>
            </p:cNvSpPr>
            <p:nvPr/>
          </p:nvSpPr>
          <p:spPr bwMode="auto">
            <a:xfrm>
              <a:off x="308" y="2296"/>
              <a:ext cx="13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Page table entry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0" name="组合 125"/>
          <p:cNvGrpSpPr/>
          <p:nvPr/>
        </p:nvGrpSpPr>
        <p:grpSpPr bwMode="auto">
          <a:xfrm>
            <a:off x="4971394" y="1773238"/>
            <a:ext cx="5041900" cy="3954462"/>
            <a:chOff x="3959257" y="1773238"/>
            <a:chExt cx="5041899" cy="3954471"/>
          </a:xfrm>
        </p:grpSpPr>
        <p:sp>
          <p:nvSpPr>
            <p:cNvPr id="11" name="Text Box 75"/>
            <p:cNvSpPr txBox="1">
              <a:spLocks noChangeArrowheads="1"/>
            </p:cNvSpPr>
            <p:nvPr/>
          </p:nvSpPr>
          <p:spPr bwMode="auto">
            <a:xfrm>
              <a:off x="8072462" y="4500570"/>
              <a:ext cx="928694" cy="313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Frame</a:t>
              </a:r>
              <a:endParaRPr kumimoji="1" lang="zh-CN" altLang="en-US" sz="18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2" name="Line 95"/>
            <p:cNvSpPr>
              <a:spLocks noChangeShapeType="1"/>
            </p:cNvSpPr>
            <p:nvPr/>
          </p:nvSpPr>
          <p:spPr bwMode="auto">
            <a:xfrm>
              <a:off x="7775607" y="2276476"/>
              <a:ext cx="1008063" cy="2159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" name="Group 52"/>
            <p:cNvGrpSpPr/>
            <p:nvPr/>
          </p:nvGrpSpPr>
          <p:grpSpPr bwMode="auto">
            <a:xfrm>
              <a:off x="3959257" y="2630488"/>
              <a:ext cx="1584325" cy="2012950"/>
              <a:chOff x="2200" y="1117"/>
              <a:chExt cx="672" cy="1082"/>
            </a:xfrm>
          </p:grpSpPr>
          <p:sp>
            <p:nvSpPr>
              <p:cNvPr id="43" name="Rectangle 20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4" name="Rectangle 22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5" name="Rectangle 24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6" name="Rectangle 26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7" name="Rectangle 28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8" name="Rectangle 30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24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sp>
          <p:nvSpPr>
            <p:cNvPr id="14" name="Text Box 64"/>
            <p:cNvSpPr txBox="1">
              <a:spLocks noChangeArrowheads="1"/>
            </p:cNvSpPr>
            <p:nvPr/>
          </p:nvSpPr>
          <p:spPr bwMode="auto">
            <a:xfrm>
              <a:off x="4103720" y="2133601"/>
              <a:ext cx="12969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Top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15" name="Text Box 66"/>
            <p:cNvSpPr txBox="1">
              <a:spLocks noChangeArrowheads="1"/>
            </p:cNvSpPr>
            <p:nvPr/>
          </p:nvSpPr>
          <p:spPr bwMode="auto">
            <a:xfrm>
              <a:off x="6429388" y="1773238"/>
              <a:ext cx="164307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Second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16" name="Group 68"/>
            <p:cNvGrpSpPr/>
            <p:nvPr/>
          </p:nvGrpSpPr>
          <p:grpSpPr bwMode="auto">
            <a:xfrm>
              <a:off x="6407182" y="2209801"/>
              <a:ext cx="1584325" cy="1012825"/>
              <a:chOff x="2200" y="1117"/>
              <a:chExt cx="672" cy="1082"/>
            </a:xfrm>
          </p:grpSpPr>
          <p:sp>
            <p:nvSpPr>
              <p:cNvPr id="37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8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9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0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1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42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sp>
          <p:nvSpPr>
            <p:cNvPr id="17" name="Line 90"/>
            <p:cNvSpPr>
              <a:spLocks noChangeShapeType="1"/>
            </p:cNvSpPr>
            <p:nvPr/>
          </p:nvSpPr>
          <p:spPr bwMode="auto">
            <a:xfrm>
              <a:off x="5399120" y="4508501"/>
              <a:ext cx="936625" cy="73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V="1">
              <a:off x="5472145" y="3500438"/>
              <a:ext cx="936625" cy="720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5399120" y="2276476"/>
              <a:ext cx="1008063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96"/>
            <p:cNvSpPr>
              <a:spLocks noChangeShapeType="1"/>
            </p:cNvSpPr>
            <p:nvPr/>
          </p:nvSpPr>
          <p:spPr bwMode="auto">
            <a:xfrm>
              <a:off x="7920070" y="2781301"/>
              <a:ext cx="719138" cy="142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68"/>
            <p:cNvGrpSpPr/>
            <p:nvPr/>
          </p:nvGrpSpPr>
          <p:grpSpPr bwMode="auto">
            <a:xfrm>
              <a:off x="6429388" y="3429000"/>
              <a:ext cx="1584325" cy="1012825"/>
              <a:chOff x="2200" y="1117"/>
              <a:chExt cx="672" cy="1082"/>
            </a:xfrm>
          </p:grpSpPr>
          <p:sp>
            <p:nvSpPr>
              <p:cNvPr id="31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2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3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4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5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6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grpSp>
          <p:nvGrpSpPr>
            <p:cNvPr id="22" name="Group 68"/>
            <p:cNvGrpSpPr/>
            <p:nvPr/>
          </p:nvGrpSpPr>
          <p:grpSpPr bwMode="auto">
            <a:xfrm>
              <a:off x="6429388" y="4714884"/>
              <a:ext cx="1584325" cy="1012825"/>
              <a:chOff x="2200" y="1117"/>
              <a:chExt cx="672" cy="1082"/>
            </a:xfrm>
          </p:grpSpPr>
          <p:sp>
            <p:nvSpPr>
              <p:cNvPr id="25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1023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6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7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…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8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2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9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1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0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503050405090304" charset="0"/>
                  </a:rPr>
                  <a:t>0</a:t>
                </a:r>
                <a:endParaRPr kumimoji="1" lang="en-US" altLang="zh-CN" sz="1200" b="1">
                  <a:solidFill>
                    <a:srgbClr val="800080"/>
                  </a:solidFill>
                  <a:latin typeface="Times New Roman" panose="02020503050405090304" charset="0"/>
                </a:endParaRPr>
              </a:p>
            </p:txBody>
          </p:sp>
        </p:grpSp>
        <p:sp>
          <p:nvSpPr>
            <p:cNvPr id="23" name="Line 93"/>
            <p:cNvSpPr>
              <a:spLocks noChangeShapeType="1"/>
            </p:cNvSpPr>
            <p:nvPr/>
          </p:nvSpPr>
          <p:spPr bwMode="auto">
            <a:xfrm>
              <a:off x="7786710" y="4000504"/>
              <a:ext cx="863600" cy="2889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94"/>
            <p:cNvSpPr>
              <a:spLocks noChangeShapeType="1"/>
            </p:cNvSpPr>
            <p:nvPr/>
          </p:nvSpPr>
          <p:spPr bwMode="auto">
            <a:xfrm flipV="1">
              <a:off x="7847045" y="5214950"/>
              <a:ext cx="582607" cy="3016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685800" y="5516555"/>
            <a:ext cx="496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还记得对这个页表的解释吗？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4K</a:t>
            </a:r>
            <a:r>
              <a:rPr lang="zh-CN" altLang="en-US" dirty="0"/>
              <a:t>产生了什么深远意义的影响？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页对齐发生在系统的哪些地方？</a:t>
            </a:r>
            <a:endParaRPr lang="en-US" altLang="zh-CN" dirty="0"/>
          </a:p>
          <a:p>
            <a:pPr lvl="1"/>
            <a:r>
              <a:rPr lang="en-US" altLang="zh-CN" dirty="0"/>
              <a:t>Elf</a:t>
            </a:r>
            <a:r>
              <a:rPr lang="zh-CN" altLang="en-US" dirty="0"/>
              <a:t>文件中的数据格式？</a:t>
            </a:r>
            <a:endParaRPr lang="en-US" altLang="zh-CN" dirty="0"/>
          </a:p>
          <a:p>
            <a:pPr lvl="1"/>
            <a:r>
              <a:rPr lang="zh-CN" altLang="en-US" dirty="0"/>
              <a:t>缓存向</a:t>
            </a:r>
            <a:r>
              <a:rPr lang="en-US" altLang="zh-CN" dirty="0"/>
              <a:t>IO</a:t>
            </a:r>
            <a:r>
              <a:rPr lang="zh-CN" altLang="en-US" dirty="0"/>
              <a:t>更新的数据块大小？</a:t>
            </a:r>
            <a:endParaRPr lang="en-US" altLang="zh-CN" dirty="0"/>
          </a:p>
          <a:p>
            <a:pPr lvl="1"/>
            <a:r>
              <a:rPr lang="zh-CN" altLang="en-US" dirty="0"/>
              <a:t>网络数据传输？</a:t>
            </a:r>
            <a:endParaRPr lang="en-US" altLang="zh-CN" dirty="0"/>
          </a:p>
          <a:p>
            <a:pPr lvl="1"/>
            <a:r>
              <a:rPr lang="en-US" altLang="zh-CN" dirty="0"/>
              <a:t>…………</a:t>
            </a:r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X64</a:t>
            </a:r>
            <a:r>
              <a:rPr lang="zh-CN" altLang="en-US" dirty="0"/>
              <a:t>的页表是什么样的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如果给你一个机会重新定义</a:t>
            </a:r>
            <a:r>
              <a:rPr lang="en-US" altLang="zh-CN" dirty="0"/>
              <a:t>IT</a:t>
            </a:r>
            <a:r>
              <a:rPr lang="zh-CN" altLang="en-US" dirty="0"/>
              <a:t>世界，你打算怎么设计</a:t>
            </a:r>
            <a:r>
              <a:rPr lang="en-US" altLang="zh-CN" dirty="0"/>
              <a:t>64</a:t>
            </a:r>
            <a:r>
              <a:rPr lang="zh-CN" altLang="en-US" dirty="0"/>
              <a:t>位的页表？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Picture 2" descr="Four level page table for 64-bit machin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97348" y="1314737"/>
            <a:ext cx="7261527" cy="48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X64</a:t>
            </a:r>
            <a:r>
              <a:rPr lang="zh-CN" altLang="en-US" dirty="0"/>
              <a:t>的页表是什么样的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每个页表里面有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en-US" altLang="zh-CN" dirty="0"/>
              <a:t>4k/8</a:t>
            </a:r>
            <a:r>
              <a:rPr lang="zh-CN" altLang="en-US" dirty="0"/>
              <a:t>字节</a:t>
            </a:r>
            <a:r>
              <a:rPr lang="en-US" altLang="zh-CN" dirty="0"/>
              <a:t>(64bit)  = 512</a:t>
            </a:r>
            <a:endParaRPr lang="en-US" altLang="zh-CN" dirty="0"/>
          </a:p>
          <a:p>
            <a:pPr lvl="1"/>
            <a:r>
              <a:rPr lang="zh-CN" altLang="en-US" dirty="0"/>
              <a:t>因此用于页表项的寻址部分仅有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类似的，页目录项也只有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zh-CN" altLang="en-US" dirty="0"/>
              <a:t>页目录项也只有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页表扩展为</a:t>
            </a:r>
            <a:r>
              <a:rPr lang="en-US" altLang="zh-CN" dirty="0"/>
              <a:t>4</a:t>
            </a:r>
            <a:r>
              <a:rPr lang="zh-CN" altLang="en-US" dirty="0"/>
              <a:t>级，每级都是</a:t>
            </a:r>
            <a:r>
              <a:rPr lang="en-US" altLang="zh-CN" dirty="0"/>
              <a:t>9</a:t>
            </a:r>
            <a:r>
              <a:rPr lang="zh-CN" altLang="en-US" dirty="0"/>
              <a:t>位地址</a:t>
            </a:r>
            <a:endParaRPr lang="en-US" altLang="zh-CN" dirty="0"/>
          </a:p>
          <a:p>
            <a:pPr lvl="1"/>
            <a:r>
              <a:rPr lang="zh-CN" altLang="en-US" dirty="0"/>
              <a:t>寻址空间最大为</a:t>
            </a:r>
            <a:r>
              <a:rPr lang="en-US" altLang="zh-CN" dirty="0"/>
              <a:t>256T</a:t>
            </a:r>
            <a:endParaRPr lang="en-US" altLang="zh-CN" dirty="0"/>
          </a:p>
          <a:p>
            <a:pPr lvl="1"/>
            <a:r>
              <a:rPr lang="zh-CN" altLang="en-US" dirty="0"/>
              <a:t>最高的</a:t>
            </a:r>
            <a:r>
              <a:rPr lang="en-US" altLang="zh-CN" dirty="0"/>
              <a:t>16</a:t>
            </a:r>
            <a:r>
              <a:rPr lang="zh-CN" altLang="en-US" dirty="0"/>
              <a:t>位目前没有使用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>
          <a:xfrm>
            <a:off x="2495551" y="304801"/>
            <a:ext cx="7777163" cy="981075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Mechanism of TLB</a:t>
            </a:r>
            <a:endParaRPr lang="zh-CN" altLang="en-US" sz="32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849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239836-D5B9-4166-83F6-6C7C2DCFABEC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grpSp>
        <p:nvGrpSpPr>
          <p:cNvPr id="2" name="Group 66"/>
          <p:cNvGrpSpPr/>
          <p:nvPr/>
        </p:nvGrpSpPr>
        <p:grpSpPr bwMode="auto">
          <a:xfrm>
            <a:off x="2738438" y="1357314"/>
            <a:ext cx="7632700" cy="4981575"/>
            <a:chOff x="431" y="1026"/>
            <a:chExt cx="4808" cy="3138"/>
          </a:xfrm>
        </p:grpSpPr>
        <p:sp>
          <p:nvSpPr>
            <p:cNvPr id="84999" name="Text Box 50"/>
            <p:cNvSpPr txBox="1">
              <a:spLocks noChangeArrowheads="1"/>
            </p:cNvSpPr>
            <p:nvPr/>
          </p:nvSpPr>
          <p:spPr bwMode="auto">
            <a:xfrm>
              <a:off x="3941" y="3951"/>
              <a:ext cx="12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Physical Address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0" name="Rectangle 7"/>
            <p:cNvSpPr>
              <a:spLocks noChangeArrowheads="1"/>
            </p:cNvSpPr>
            <p:nvPr/>
          </p:nvSpPr>
          <p:spPr bwMode="auto">
            <a:xfrm>
              <a:off x="1167" y="2414"/>
              <a:ext cx="788" cy="112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p’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1" name="Text Box 8"/>
            <p:cNvSpPr txBox="1">
              <a:spLocks noChangeArrowheads="1"/>
            </p:cNvSpPr>
            <p:nvPr/>
          </p:nvSpPr>
          <p:spPr bwMode="auto">
            <a:xfrm>
              <a:off x="1338" y="2115"/>
              <a:ext cx="101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Page Table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2" name="Line 9"/>
            <p:cNvSpPr>
              <a:spLocks noChangeShapeType="1"/>
            </p:cNvSpPr>
            <p:nvPr/>
          </p:nvSpPr>
          <p:spPr bwMode="auto">
            <a:xfrm>
              <a:off x="1167" y="2976"/>
              <a:ext cx="788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3" name="Line 10"/>
            <p:cNvSpPr>
              <a:spLocks noChangeShapeType="1"/>
            </p:cNvSpPr>
            <p:nvPr/>
          </p:nvSpPr>
          <p:spPr bwMode="auto">
            <a:xfrm>
              <a:off x="1167" y="3277"/>
              <a:ext cx="788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4" name="Text Box 11"/>
            <p:cNvSpPr txBox="1">
              <a:spLocks noChangeArrowheads="1"/>
            </p:cNvSpPr>
            <p:nvPr/>
          </p:nvSpPr>
          <p:spPr bwMode="auto">
            <a:xfrm>
              <a:off x="2086" y="2564"/>
              <a:ext cx="76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Overflow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5" name="Rectangle 12"/>
            <p:cNvSpPr>
              <a:spLocks noChangeArrowheads="1"/>
            </p:cNvSpPr>
            <p:nvPr/>
          </p:nvSpPr>
          <p:spPr bwMode="auto">
            <a:xfrm>
              <a:off x="1955" y="1288"/>
              <a:ext cx="964" cy="2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</a:rPr>
                <a:t>PT Length</a:t>
              </a:r>
              <a:endParaRPr kumimoji="1" lang="en-US" altLang="zh-CN" sz="2000" b="1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85006" name="Oval 13"/>
            <p:cNvSpPr>
              <a:spLocks noChangeArrowheads="1"/>
            </p:cNvSpPr>
            <p:nvPr/>
          </p:nvSpPr>
          <p:spPr bwMode="auto">
            <a:xfrm>
              <a:off x="2262" y="1813"/>
              <a:ext cx="350" cy="26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check</a:t>
              </a:r>
              <a:endParaRPr kumimoji="1" lang="zh-CN" altLang="en-US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7" name="Text Box 14"/>
            <p:cNvSpPr txBox="1">
              <a:spLocks noChangeArrowheads="1"/>
            </p:cNvSpPr>
            <p:nvPr/>
          </p:nvSpPr>
          <p:spPr bwMode="auto">
            <a:xfrm>
              <a:off x="2463" y="2087"/>
              <a:ext cx="552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P&gt;=1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08" name="Line 15"/>
            <p:cNvSpPr>
              <a:spLocks noChangeShapeType="1"/>
            </p:cNvSpPr>
            <p:nvPr/>
          </p:nvSpPr>
          <p:spPr bwMode="auto">
            <a:xfrm>
              <a:off x="2437" y="1513"/>
              <a:ext cx="1" cy="30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9" name="Line 16"/>
            <p:cNvSpPr>
              <a:spLocks noChangeShapeType="1"/>
            </p:cNvSpPr>
            <p:nvPr/>
          </p:nvSpPr>
          <p:spPr bwMode="auto">
            <a:xfrm>
              <a:off x="2437" y="2089"/>
              <a:ext cx="1" cy="45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0" name="Line 17"/>
            <p:cNvSpPr>
              <a:spLocks noChangeShapeType="1"/>
            </p:cNvSpPr>
            <p:nvPr/>
          </p:nvSpPr>
          <p:spPr bwMode="auto">
            <a:xfrm flipH="1">
              <a:off x="1167" y="1964"/>
              <a:ext cx="1095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1" name="Rectangle 18"/>
            <p:cNvSpPr>
              <a:spLocks noChangeArrowheads="1"/>
            </p:cNvSpPr>
            <p:nvPr/>
          </p:nvSpPr>
          <p:spPr bwMode="auto">
            <a:xfrm>
              <a:off x="3269" y="2414"/>
              <a:ext cx="657" cy="86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2" name="Text Box 19"/>
            <p:cNvSpPr txBox="1">
              <a:spLocks noChangeArrowheads="1"/>
            </p:cNvSpPr>
            <p:nvPr/>
          </p:nvSpPr>
          <p:spPr bwMode="auto">
            <a:xfrm>
              <a:off x="3313" y="2704"/>
              <a:ext cx="21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3" name="Text Box 20"/>
            <p:cNvSpPr txBox="1">
              <a:spLocks noChangeArrowheads="1"/>
            </p:cNvSpPr>
            <p:nvPr/>
          </p:nvSpPr>
          <p:spPr bwMode="auto">
            <a:xfrm>
              <a:off x="3663" y="2714"/>
              <a:ext cx="306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p’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4" name="Line 21"/>
            <p:cNvSpPr>
              <a:spLocks noChangeShapeType="1"/>
            </p:cNvSpPr>
            <p:nvPr/>
          </p:nvSpPr>
          <p:spPr bwMode="auto">
            <a:xfrm>
              <a:off x="3269" y="2526"/>
              <a:ext cx="657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5" name="Line 22"/>
            <p:cNvSpPr>
              <a:spLocks noChangeShapeType="1"/>
            </p:cNvSpPr>
            <p:nvPr/>
          </p:nvSpPr>
          <p:spPr bwMode="auto">
            <a:xfrm>
              <a:off x="3269" y="2736"/>
              <a:ext cx="65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6" name="Line 23"/>
            <p:cNvSpPr>
              <a:spLocks noChangeShapeType="1"/>
            </p:cNvSpPr>
            <p:nvPr/>
          </p:nvSpPr>
          <p:spPr bwMode="auto">
            <a:xfrm>
              <a:off x="3269" y="2939"/>
              <a:ext cx="657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7" name="Text Box 24"/>
            <p:cNvSpPr txBox="1">
              <a:spLocks noChangeArrowheads="1"/>
            </p:cNvSpPr>
            <p:nvPr/>
          </p:nvSpPr>
          <p:spPr bwMode="auto">
            <a:xfrm>
              <a:off x="3400" y="2939"/>
              <a:ext cx="11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8" name="Text Box 25"/>
            <p:cNvSpPr txBox="1">
              <a:spLocks noChangeArrowheads="1"/>
            </p:cNvSpPr>
            <p:nvPr/>
          </p:nvSpPr>
          <p:spPr bwMode="auto">
            <a:xfrm>
              <a:off x="3506" y="2939"/>
              <a:ext cx="16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.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19" name="Text Box 26"/>
            <p:cNvSpPr txBox="1">
              <a:spLocks noChangeArrowheads="1"/>
            </p:cNvSpPr>
            <p:nvPr/>
          </p:nvSpPr>
          <p:spPr bwMode="auto">
            <a:xfrm>
              <a:off x="3619" y="2939"/>
              <a:ext cx="16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.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20" name="Text Box 27"/>
            <p:cNvSpPr txBox="1">
              <a:spLocks noChangeArrowheads="1"/>
            </p:cNvSpPr>
            <p:nvPr/>
          </p:nvSpPr>
          <p:spPr bwMode="auto">
            <a:xfrm>
              <a:off x="3356" y="2164"/>
              <a:ext cx="504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TLB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21" name="Line 28"/>
            <p:cNvSpPr>
              <a:spLocks noChangeShapeType="1"/>
            </p:cNvSpPr>
            <p:nvPr/>
          </p:nvSpPr>
          <p:spPr bwMode="auto">
            <a:xfrm>
              <a:off x="3488" y="2752"/>
              <a:ext cx="1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2" name="Line 29"/>
            <p:cNvSpPr>
              <a:spLocks noChangeShapeType="1"/>
            </p:cNvSpPr>
            <p:nvPr/>
          </p:nvSpPr>
          <p:spPr bwMode="auto">
            <a:xfrm>
              <a:off x="3663" y="2752"/>
              <a:ext cx="1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3" name="Line 30"/>
            <p:cNvSpPr>
              <a:spLocks noChangeShapeType="1"/>
            </p:cNvSpPr>
            <p:nvPr/>
          </p:nvSpPr>
          <p:spPr bwMode="auto">
            <a:xfrm>
              <a:off x="3006" y="1964"/>
              <a:ext cx="1" cy="123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4" name="Line 31"/>
            <p:cNvSpPr>
              <a:spLocks noChangeShapeType="1"/>
            </p:cNvSpPr>
            <p:nvPr/>
          </p:nvSpPr>
          <p:spPr bwMode="auto">
            <a:xfrm>
              <a:off x="3006" y="2451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5" name="Line 32"/>
            <p:cNvSpPr>
              <a:spLocks noChangeShapeType="1"/>
            </p:cNvSpPr>
            <p:nvPr/>
          </p:nvSpPr>
          <p:spPr bwMode="auto">
            <a:xfrm>
              <a:off x="3006" y="2639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6" name="Line 33"/>
            <p:cNvSpPr>
              <a:spLocks noChangeShapeType="1"/>
            </p:cNvSpPr>
            <p:nvPr/>
          </p:nvSpPr>
          <p:spPr bwMode="auto">
            <a:xfrm>
              <a:off x="3006" y="2827"/>
              <a:ext cx="263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7" name="Line 34"/>
            <p:cNvSpPr>
              <a:spLocks noChangeShapeType="1"/>
            </p:cNvSpPr>
            <p:nvPr/>
          </p:nvSpPr>
          <p:spPr bwMode="auto">
            <a:xfrm>
              <a:off x="3006" y="3014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8" name="Line 35"/>
            <p:cNvSpPr>
              <a:spLocks noChangeShapeType="1"/>
            </p:cNvSpPr>
            <p:nvPr/>
          </p:nvSpPr>
          <p:spPr bwMode="auto">
            <a:xfrm>
              <a:off x="3006" y="3202"/>
              <a:ext cx="263" cy="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9" name="Line 36"/>
            <p:cNvSpPr>
              <a:spLocks noChangeShapeType="1"/>
            </p:cNvSpPr>
            <p:nvPr/>
          </p:nvSpPr>
          <p:spPr bwMode="auto">
            <a:xfrm>
              <a:off x="3926" y="2827"/>
              <a:ext cx="3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0" name="Rectangle 37"/>
            <p:cNvSpPr>
              <a:spLocks noChangeArrowheads="1"/>
            </p:cNvSpPr>
            <p:nvPr/>
          </p:nvSpPr>
          <p:spPr bwMode="auto">
            <a:xfrm>
              <a:off x="511" y="1288"/>
              <a:ext cx="963" cy="2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</a:rPr>
                <a:t>PT Address</a:t>
              </a:r>
              <a:endParaRPr kumimoji="1" lang="en-US" altLang="zh-CN" sz="200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85031" name="Oval 38"/>
            <p:cNvSpPr>
              <a:spLocks noChangeArrowheads="1"/>
            </p:cNvSpPr>
            <p:nvPr/>
          </p:nvSpPr>
          <p:spPr bwMode="auto">
            <a:xfrm>
              <a:off x="817" y="1813"/>
              <a:ext cx="350" cy="26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3200" b="1">
                  <a:solidFill>
                    <a:srgbClr val="000000"/>
                  </a:solidFill>
                  <a:latin typeface="Times New Roman" panose="02020503050405090304" charset="0"/>
                </a:rPr>
                <a:t>+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85032" name="Line 39"/>
            <p:cNvSpPr>
              <a:spLocks noChangeShapeType="1"/>
            </p:cNvSpPr>
            <p:nvPr/>
          </p:nvSpPr>
          <p:spPr bwMode="auto">
            <a:xfrm>
              <a:off x="992" y="1513"/>
              <a:ext cx="0" cy="30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3" name="Line 40"/>
            <p:cNvSpPr>
              <a:spLocks noChangeShapeType="1"/>
            </p:cNvSpPr>
            <p:nvPr/>
          </p:nvSpPr>
          <p:spPr bwMode="auto">
            <a:xfrm>
              <a:off x="992" y="2076"/>
              <a:ext cx="0" cy="108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4" name="Line 41"/>
            <p:cNvSpPr>
              <a:spLocks noChangeShapeType="1"/>
            </p:cNvSpPr>
            <p:nvPr/>
          </p:nvSpPr>
          <p:spPr bwMode="auto">
            <a:xfrm>
              <a:off x="992" y="3164"/>
              <a:ext cx="175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5035" name="Group 63"/>
            <p:cNvGrpSpPr/>
            <p:nvPr/>
          </p:nvGrpSpPr>
          <p:grpSpPr bwMode="auto">
            <a:xfrm>
              <a:off x="3356" y="1288"/>
              <a:ext cx="1883" cy="225"/>
              <a:chOff x="3356" y="1288"/>
              <a:chExt cx="1883" cy="225"/>
            </a:xfrm>
          </p:grpSpPr>
          <p:sp>
            <p:nvSpPr>
              <p:cNvPr id="85053" name="Rectangle 42"/>
              <p:cNvSpPr>
                <a:spLocks noChangeArrowheads="1"/>
              </p:cNvSpPr>
              <p:nvPr/>
            </p:nvSpPr>
            <p:spPr bwMode="auto">
              <a:xfrm>
                <a:off x="3356" y="1288"/>
                <a:ext cx="1883" cy="225"/>
              </a:xfrm>
              <a:prstGeom prst="rect">
                <a:avLst/>
              </a:prstGeom>
              <a:solidFill>
                <a:schemeClr val="hlink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8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8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Page Num    Offset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85054" name="Line 43"/>
              <p:cNvSpPr>
                <a:spLocks noChangeShapeType="1"/>
              </p:cNvSpPr>
              <p:nvPr/>
            </p:nvSpPr>
            <p:spPr bwMode="auto">
              <a:xfrm>
                <a:off x="4256" y="1288"/>
                <a:ext cx="0" cy="22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5036" name="Line 44"/>
            <p:cNvSpPr>
              <a:spLocks noChangeShapeType="1"/>
            </p:cNvSpPr>
            <p:nvPr/>
          </p:nvSpPr>
          <p:spPr bwMode="auto">
            <a:xfrm>
              <a:off x="3750" y="1513"/>
              <a:ext cx="0" cy="451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7" name="Line 45"/>
            <p:cNvSpPr>
              <a:spLocks noChangeShapeType="1"/>
            </p:cNvSpPr>
            <p:nvPr/>
          </p:nvSpPr>
          <p:spPr bwMode="auto">
            <a:xfrm flipH="1">
              <a:off x="2612" y="1964"/>
              <a:ext cx="1138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8" name="Rectangle 46"/>
            <p:cNvSpPr>
              <a:spLocks noChangeArrowheads="1"/>
            </p:cNvSpPr>
            <p:nvPr/>
          </p:nvSpPr>
          <p:spPr bwMode="auto">
            <a:xfrm>
              <a:off x="3882" y="3615"/>
              <a:ext cx="963" cy="187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1800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39" name="Line 47"/>
            <p:cNvSpPr>
              <a:spLocks noChangeShapeType="1"/>
            </p:cNvSpPr>
            <p:nvPr/>
          </p:nvSpPr>
          <p:spPr bwMode="auto">
            <a:xfrm>
              <a:off x="4363" y="3615"/>
              <a:ext cx="0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0" name="Text Box 48"/>
            <p:cNvSpPr txBox="1">
              <a:spLocks noChangeArrowheads="1"/>
            </p:cNvSpPr>
            <p:nvPr/>
          </p:nvSpPr>
          <p:spPr bwMode="auto">
            <a:xfrm>
              <a:off x="3960" y="3623"/>
              <a:ext cx="25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P’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41" name="Text Box 49"/>
            <p:cNvSpPr txBox="1">
              <a:spLocks noChangeArrowheads="1"/>
            </p:cNvSpPr>
            <p:nvPr/>
          </p:nvSpPr>
          <p:spPr bwMode="auto">
            <a:xfrm>
              <a:off x="4617" y="3623"/>
              <a:ext cx="19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d</a:t>
              </a:r>
              <a:endParaRPr kumimoji="1" lang="en-US" altLang="zh-CN" sz="18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42" name="Line 51"/>
            <p:cNvSpPr>
              <a:spLocks noChangeShapeType="1"/>
            </p:cNvSpPr>
            <p:nvPr/>
          </p:nvSpPr>
          <p:spPr bwMode="auto">
            <a:xfrm>
              <a:off x="2245" y="3144"/>
              <a:ext cx="1" cy="286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3" name="Line 52"/>
            <p:cNvSpPr>
              <a:spLocks noChangeShapeType="1"/>
            </p:cNvSpPr>
            <p:nvPr/>
          </p:nvSpPr>
          <p:spPr bwMode="auto">
            <a:xfrm flipV="1">
              <a:off x="2245" y="3428"/>
              <a:ext cx="1812" cy="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4" name="Line 53"/>
            <p:cNvSpPr>
              <a:spLocks noChangeShapeType="1"/>
            </p:cNvSpPr>
            <p:nvPr/>
          </p:nvSpPr>
          <p:spPr bwMode="auto">
            <a:xfrm>
              <a:off x="4057" y="3427"/>
              <a:ext cx="1" cy="18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5" name="Line 54"/>
            <p:cNvSpPr>
              <a:spLocks noChangeShapeType="1"/>
            </p:cNvSpPr>
            <p:nvPr/>
          </p:nvSpPr>
          <p:spPr bwMode="auto">
            <a:xfrm flipV="1">
              <a:off x="3575" y="3277"/>
              <a:ext cx="1" cy="15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6" name="Line 55"/>
            <p:cNvSpPr>
              <a:spLocks noChangeShapeType="1"/>
            </p:cNvSpPr>
            <p:nvPr/>
          </p:nvSpPr>
          <p:spPr bwMode="auto">
            <a:xfrm>
              <a:off x="3926" y="2827"/>
              <a:ext cx="306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7" name="Line 56"/>
            <p:cNvSpPr>
              <a:spLocks noChangeShapeType="1"/>
            </p:cNvSpPr>
            <p:nvPr/>
          </p:nvSpPr>
          <p:spPr bwMode="auto">
            <a:xfrm>
              <a:off x="4232" y="2827"/>
              <a:ext cx="1" cy="788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8" name="Line 57"/>
            <p:cNvSpPr>
              <a:spLocks noChangeShapeType="1"/>
            </p:cNvSpPr>
            <p:nvPr/>
          </p:nvSpPr>
          <p:spPr bwMode="auto">
            <a:xfrm>
              <a:off x="4670" y="1513"/>
              <a:ext cx="1" cy="210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9" name="Text Box 58"/>
            <p:cNvSpPr txBox="1">
              <a:spLocks noChangeArrowheads="1"/>
            </p:cNvSpPr>
            <p:nvPr/>
          </p:nvSpPr>
          <p:spPr bwMode="auto">
            <a:xfrm>
              <a:off x="431" y="1026"/>
              <a:ext cx="6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Register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50" name="Text Box 59"/>
            <p:cNvSpPr txBox="1">
              <a:spLocks noChangeArrowheads="1"/>
            </p:cNvSpPr>
            <p:nvPr/>
          </p:nvSpPr>
          <p:spPr bwMode="auto">
            <a:xfrm>
              <a:off x="1837" y="1026"/>
              <a:ext cx="6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Register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51" name="Text Box 60"/>
            <p:cNvSpPr txBox="1">
              <a:spLocks noChangeArrowheads="1"/>
            </p:cNvSpPr>
            <p:nvPr/>
          </p:nvSpPr>
          <p:spPr bwMode="auto">
            <a:xfrm>
              <a:off x="4014" y="1026"/>
              <a:ext cx="11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503050405090304" charset="0"/>
                  <a:ea typeface="楷体_GB2312" panose="02010609030101010101" pitchFamily="49" charset="-122"/>
                </a:rPr>
                <a:t>Logical address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503050405090304" charset="0"/>
                <a:ea typeface="楷体_GB2312" panose="02010609030101010101" pitchFamily="49" charset="-122"/>
              </a:endParaRPr>
            </a:p>
          </p:txBody>
        </p:sp>
        <p:sp>
          <p:nvSpPr>
            <p:cNvPr id="85052" name="Line 64"/>
            <p:cNvSpPr>
              <a:spLocks noChangeShapeType="1"/>
            </p:cNvSpPr>
            <p:nvPr/>
          </p:nvSpPr>
          <p:spPr bwMode="auto">
            <a:xfrm flipV="1">
              <a:off x="1837" y="3158"/>
              <a:ext cx="408" cy="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28263" y="5168902"/>
            <a:ext cx="347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过程分析，原理分析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4K</a:t>
            </a:r>
            <a:r>
              <a:rPr lang="zh-CN" altLang="en-US" dirty="0"/>
              <a:t>的页真的是不可动摇的吗：回忆</a:t>
            </a:r>
            <a:r>
              <a:rPr lang="en-US" altLang="zh-CN" dirty="0" err="1"/>
              <a:t>ucore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4K</a:t>
            </a:r>
            <a:r>
              <a:rPr lang="zh-CN" altLang="en-US" dirty="0"/>
              <a:t>的页</a:t>
            </a:r>
            <a:endParaRPr lang="en-US" altLang="zh-CN" dirty="0"/>
          </a:p>
          <a:p>
            <a:r>
              <a:rPr lang="en-US" altLang="zh-CN" dirty="0"/>
              <a:t>2M</a:t>
            </a:r>
            <a:r>
              <a:rPr lang="zh-CN" altLang="en-US" dirty="0"/>
              <a:t>的页</a:t>
            </a:r>
            <a:endParaRPr lang="en-US" altLang="zh-CN" dirty="0"/>
          </a:p>
          <a:p>
            <a:r>
              <a:rPr lang="en-US" altLang="zh-CN" dirty="0"/>
              <a:t>1G</a:t>
            </a:r>
            <a:r>
              <a:rPr lang="zh-CN" altLang="en-US" dirty="0"/>
              <a:t>的页</a:t>
            </a:r>
            <a:endParaRPr lang="en-US" altLang="zh-CN" dirty="0"/>
          </a:p>
          <a:p>
            <a:r>
              <a:rPr lang="zh-CN" altLang="en-US" dirty="0"/>
              <a:t>大页有什么优缺点？</a:t>
            </a:r>
            <a:endParaRPr lang="en-US" altLang="zh-CN" dirty="0"/>
          </a:p>
          <a:p>
            <a:pPr lvl="1"/>
            <a:r>
              <a:rPr lang="zh-CN" altLang="en-US" dirty="0"/>
              <a:t>省页表的查找时间</a:t>
            </a:r>
            <a:endParaRPr lang="en-US" altLang="zh-CN" dirty="0"/>
          </a:p>
          <a:p>
            <a:pPr lvl="1"/>
            <a:r>
              <a:rPr lang="zh-CN" altLang="en-US" dirty="0"/>
              <a:t>省</a:t>
            </a:r>
            <a:r>
              <a:rPr lang="en-US" altLang="zh-CN" dirty="0"/>
              <a:t>TLB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zh-CN" altLang="en-US" dirty="0"/>
              <a:t>浪费内存（是吗？）</a:t>
            </a:r>
            <a:endParaRPr lang="en-US" altLang="zh-CN" dirty="0"/>
          </a:p>
          <a:p>
            <a:pPr lvl="1"/>
            <a:r>
              <a:rPr lang="zh-CN" altLang="en-US" dirty="0"/>
              <a:t>破坏兼容性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326" y="1690688"/>
            <a:ext cx="3724275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fork</a:t>
            </a:r>
            <a:r>
              <a:rPr lang="zh-CN" altLang="en-US" dirty="0"/>
              <a:t>调用后</a:t>
            </a:r>
            <a:r>
              <a:rPr lang="en-US" altLang="zh-CN" dirty="0"/>
              <a:t>,exec</a:t>
            </a:r>
            <a:r>
              <a:rPr lang="zh-CN" altLang="en-US" dirty="0"/>
              <a:t>调用后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87489" y="1340769"/>
            <a:ext cx="3527425" cy="11509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 rot="5400000">
            <a:off x="3867151" y="1343943"/>
            <a:ext cx="1143000" cy="1152525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774826" y="1699544"/>
            <a:ext cx="176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进程</a:t>
            </a:r>
            <a:r>
              <a:rPr lang="en-US" altLang="zh-CN" sz="1800">
                <a:solidFill>
                  <a:schemeClr val="tx1"/>
                </a:solidFill>
              </a:rPr>
              <a:t>A</a:t>
            </a:r>
            <a:r>
              <a:rPr lang="zh-CN" altLang="en-US" sz="1800">
                <a:solidFill>
                  <a:schemeClr val="tx1"/>
                </a:solidFill>
              </a:rPr>
              <a:t>用户空间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4133851" y="1616993"/>
            <a:ext cx="9255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内核</a:t>
            </a:r>
            <a:endParaRPr lang="en-US" altLang="zh-CN" sz="1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空间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168777" y="4365105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2855913" y="5435600"/>
            <a:ext cx="5543550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855914" y="5445125"/>
            <a:ext cx="287337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3143251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3432175" y="5445125"/>
            <a:ext cx="287338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719514" y="5445125"/>
            <a:ext cx="288925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4008439" y="5445125"/>
            <a:ext cx="287337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4295775" y="5445125"/>
            <a:ext cx="287338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4583114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872039" y="5445125"/>
            <a:ext cx="287337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5159376" y="5445125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5448300" y="5445125"/>
            <a:ext cx="287338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735639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7175501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7464425" y="5445125"/>
            <a:ext cx="287338" cy="585788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7751764" y="5445125"/>
            <a:ext cx="288925" cy="585788"/>
          </a:xfrm>
          <a:prstGeom prst="rect">
            <a:avLst/>
          </a:prstGeom>
          <a:solidFill>
            <a:srgbClr val="5CAD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8040689" y="5445125"/>
            <a:ext cx="287337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8328026" y="5445125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8616950" y="5445125"/>
            <a:ext cx="287338" cy="585788"/>
          </a:xfrm>
          <a:prstGeom prst="rect">
            <a:avLst/>
          </a:prstGeom>
          <a:solidFill>
            <a:srgbClr val="ADD6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8904289" y="5445125"/>
            <a:ext cx="287337" cy="585788"/>
          </a:xfrm>
          <a:prstGeom prst="rect">
            <a:avLst/>
          </a:prstGeom>
          <a:solidFill>
            <a:srgbClr val="5CAD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9191626" y="5445125"/>
            <a:ext cx="288925" cy="585788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9480550" y="5445125"/>
            <a:ext cx="287338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5614484" y="4365104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7018054" y="4365104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5280821" y="3526382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49" name="直接箭头连接符 48"/>
          <p:cNvCxnSpPr>
            <a:stCxn id="45" idx="2"/>
            <a:endCxn id="43" idx="0"/>
          </p:cNvCxnSpPr>
          <p:nvPr/>
        </p:nvCxnSpPr>
        <p:spPr bwMode="auto">
          <a:xfrm>
            <a:off x="5812386" y="3758157"/>
            <a:ext cx="333663" cy="6069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直接箭头连接符 50"/>
          <p:cNvCxnSpPr>
            <a:stCxn id="45" idx="3"/>
            <a:endCxn id="44" idx="0"/>
          </p:cNvCxnSpPr>
          <p:nvPr/>
        </p:nvCxnSpPr>
        <p:spPr bwMode="auto">
          <a:xfrm>
            <a:off x="6343950" y="3642269"/>
            <a:ext cx="1205669" cy="722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直接箭头连接符 52"/>
          <p:cNvCxnSpPr>
            <a:stCxn id="45" idx="1"/>
            <a:endCxn id="15" idx="0"/>
          </p:cNvCxnSpPr>
          <p:nvPr/>
        </p:nvCxnSpPr>
        <p:spPr bwMode="auto">
          <a:xfrm flipH="1">
            <a:off x="4700341" y="3642270"/>
            <a:ext cx="580480" cy="7228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直接箭头连接符 54"/>
          <p:cNvCxnSpPr/>
          <p:nvPr/>
        </p:nvCxnSpPr>
        <p:spPr bwMode="auto">
          <a:xfrm flipH="1">
            <a:off x="4872039" y="3294758"/>
            <a:ext cx="2592387" cy="10703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直接箭头连接符 56"/>
          <p:cNvCxnSpPr>
            <a:endCxn id="27" idx="0"/>
          </p:cNvCxnSpPr>
          <p:nvPr/>
        </p:nvCxnSpPr>
        <p:spPr bwMode="auto">
          <a:xfrm flipH="1">
            <a:off x="5303839" y="4592117"/>
            <a:ext cx="503237" cy="8530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直接箭头连接符 58"/>
          <p:cNvCxnSpPr>
            <a:endCxn id="28" idx="0"/>
          </p:cNvCxnSpPr>
          <p:nvPr/>
        </p:nvCxnSpPr>
        <p:spPr bwMode="auto">
          <a:xfrm flipH="1">
            <a:off x="5591969" y="4596877"/>
            <a:ext cx="539998" cy="848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直接箭头连接符 60"/>
          <p:cNvCxnSpPr>
            <a:stCxn id="44" idx="2"/>
            <a:endCxn id="38" idx="0"/>
          </p:cNvCxnSpPr>
          <p:nvPr/>
        </p:nvCxnSpPr>
        <p:spPr bwMode="auto">
          <a:xfrm>
            <a:off x="7549618" y="4596879"/>
            <a:ext cx="922870" cy="8482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矩形 61"/>
          <p:cNvSpPr>
            <a:spLocks noChangeArrowheads="1"/>
          </p:cNvSpPr>
          <p:nvPr/>
        </p:nvSpPr>
        <p:spPr bwMode="auto">
          <a:xfrm>
            <a:off x="5447036" y="5445224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8327356" y="5445224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65" name="直接箭头连接符 64"/>
          <p:cNvCxnSpPr>
            <a:stCxn id="15" idx="2"/>
          </p:cNvCxnSpPr>
          <p:nvPr/>
        </p:nvCxnSpPr>
        <p:spPr bwMode="auto">
          <a:xfrm flipH="1">
            <a:off x="4448573" y="4596879"/>
            <a:ext cx="251768" cy="8291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直接箭头连接符 66"/>
          <p:cNvCxnSpPr>
            <a:endCxn id="22" idx="0"/>
          </p:cNvCxnSpPr>
          <p:nvPr/>
        </p:nvCxnSpPr>
        <p:spPr bwMode="auto">
          <a:xfrm flipH="1">
            <a:off x="3863976" y="4480991"/>
            <a:ext cx="288130" cy="9641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9" name="直接箭头连接符 68"/>
          <p:cNvCxnSpPr>
            <a:endCxn id="21" idx="0"/>
          </p:cNvCxnSpPr>
          <p:nvPr/>
        </p:nvCxnSpPr>
        <p:spPr bwMode="auto">
          <a:xfrm flipH="1">
            <a:off x="3575844" y="4480991"/>
            <a:ext cx="583804" cy="9641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直接箭头连接符 70"/>
          <p:cNvCxnSpPr>
            <a:endCxn id="19" idx="0"/>
          </p:cNvCxnSpPr>
          <p:nvPr/>
        </p:nvCxnSpPr>
        <p:spPr bwMode="auto">
          <a:xfrm flipH="1">
            <a:off x="2999582" y="4476229"/>
            <a:ext cx="1151730" cy="9688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矩形 71"/>
          <p:cNvSpPr>
            <a:spLocks noChangeArrowheads="1"/>
          </p:cNvSpPr>
          <p:nvPr/>
        </p:nvSpPr>
        <p:spPr bwMode="auto">
          <a:xfrm>
            <a:off x="6023993" y="5435500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6312025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4" name="矩形 73"/>
          <p:cNvSpPr>
            <a:spLocks noChangeArrowheads="1"/>
          </p:cNvSpPr>
          <p:nvPr/>
        </p:nvSpPr>
        <p:spPr bwMode="auto">
          <a:xfrm>
            <a:off x="6600057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7751292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8616281" y="5445224"/>
            <a:ext cx="288925" cy="585788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8903420" y="5445224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107" name="直接箭头连接符 106"/>
          <p:cNvCxnSpPr>
            <a:stCxn id="121" idx="2"/>
          </p:cNvCxnSpPr>
          <p:nvPr/>
        </p:nvCxnSpPr>
        <p:spPr bwMode="auto">
          <a:xfrm flipH="1">
            <a:off x="5735638" y="1861720"/>
            <a:ext cx="2408858" cy="17112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8" name="组合 77"/>
          <p:cNvGrpSpPr/>
          <p:nvPr/>
        </p:nvGrpSpPr>
        <p:grpSpPr>
          <a:xfrm>
            <a:off x="5468502" y="1196753"/>
            <a:ext cx="4875970" cy="785815"/>
            <a:chOff x="3131840" y="1924047"/>
            <a:chExt cx="4875970" cy="785815"/>
          </a:xfrm>
        </p:grpSpPr>
        <p:grpSp>
          <p:nvGrpSpPr>
            <p:cNvPr id="81" name="组合 80"/>
            <p:cNvGrpSpPr/>
            <p:nvPr/>
          </p:nvGrpSpPr>
          <p:grpSpPr>
            <a:xfrm>
              <a:off x="3890663" y="1924047"/>
              <a:ext cx="648000" cy="404813"/>
              <a:chOff x="2714612" y="2871791"/>
              <a:chExt cx="648000" cy="404813"/>
            </a:xfrm>
          </p:grpSpPr>
          <p:grpSp>
            <p:nvGrpSpPr>
              <p:cNvPr id="122" name="组合 121"/>
              <p:cNvGrpSpPr/>
              <p:nvPr/>
            </p:nvGrpSpPr>
            <p:grpSpPr>
              <a:xfrm>
                <a:off x="2714612" y="2928940"/>
                <a:ext cx="648000" cy="285334"/>
                <a:chOff x="3571868" y="2538416"/>
                <a:chExt cx="648000" cy="285334"/>
              </a:xfrm>
            </p:grpSpPr>
            <p:sp>
              <p:nvSpPr>
                <p:cNvPr id="125" name="矩形 124"/>
                <p:cNvSpPr/>
                <p:nvPr/>
              </p:nvSpPr>
              <p:spPr>
                <a:xfrm>
                  <a:off x="3571868" y="2538416"/>
                  <a:ext cx="648000" cy="144000"/>
                </a:xfrm>
                <a:prstGeom prst="rect">
                  <a:avLst/>
                </a:prstGeom>
                <a:gradFill>
                  <a:gsLst>
                    <a:gs pos="100000">
                      <a:srgbClr val="11576A"/>
                    </a:gs>
                    <a:gs pos="0">
                      <a:srgbClr val="0EB1C8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158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3571868" y="2679750"/>
                  <a:ext cx="648000" cy="144000"/>
                </a:xfrm>
                <a:prstGeom prst="rect">
                  <a:avLst/>
                </a:prstGeom>
                <a:gradFill>
                  <a:gsLst>
                    <a:gs pos="100000">
                      <a:srgbClr val="FF9900"/>
                    </a:gs>
                    <a:gs pos="0">
                      <a:srgbClr val="FFCC66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 w="15875">
                  <a:solidFill>
                    <a:srgbClr val="1157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23" name="TextBox 69"/>
              <p:cNvSpPr txBox="1"/>
              <p:nvPr/>
            </p:nvSpPr>
            <p:spPr>
              <a:xfrm>
                <a:off x="2776524" y="2871791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b="1">
                    <a:solidFill>
                      <a:schemeClr val="bg1"/>
                    </a:solidFill>
                    <a:latin typeface="+mn-ea"/>
                  </a:rPr>
                  <a:t>head</a:t>
                </a:r>
                <a:endParaRPr lang="zh-CN" altLang="en-US" sz="105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24" name="TextBox 70"/>
              <p:cNvSpPr txBox="1"/>
              <p:nvPr/>
            </p:nvSpPr>
            <p:spPr>
              <a:xfrm>
                <a:off x="2833680" y="3022688"/>
                <a:ext cx="4539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b="1">
                    <a:solidFill>
                      <a:srgbClr val="11576A"/>
                    </a:solidFill>
                    <a:latin typeface="+mn-ea"/>
                  </a:rPr>
                  <a:t>tail</a:t>
                </a:r>
                <a:endParaRPr lang="zh-CN" altLang="en-US" sz="1050" b="1">
                  <a:solidFill>
                    <a:srgbClr val="11576A"/>
                  </a:solidFill>
                  <a:latin typeface="+mn-ea"/>
                </a:endParaRP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5476366" y="1995485"/>
              <a:ext cx="662368" cy="593529"/>
              <a:chOff x="3657516" y="2786064"/>
              <a:chExt cx="662368" cy="593529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3671884" y="2786064"/>
                <a:ext cx="648000" cy="14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3671884" y="2928940"/>
                <a:ext cx="648000" cy="432000"/>
              </a:xfrm>
              <a:prstGeom prst="rect">
                <a:avLst/>
              </a:prstGeom>
              <a:gradFill>
                <a:gsLst>
                  <a:gs pos="100000">
                    <a:srgbClr val="FF9900"/>
                  </a:gs>
                  <a:gs pos="0">
                    <a:srgbClr val="FFCC66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9" name="直接连接符 118"/>
              <p:cNvCxnSpPr/>
              <p:nvPr/>
            </p:nvCxnSpPr>
            <p:spPr>
              <a:xfrm rot="10800000" flipH="1">
                <a:off x="3671884" y="3073495"/>
                <a:ext cx="648000" cy="1588"/>
              </a:xfrm>
              <a:prstGeom prst="line">
                <a:avLst/>
              </a:prstGeom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75"/>
              <p:cNvSpPr txBox="1"/>
              <p:nvPr/>
            </p:nvSpPr>
            <p:spPr>
              <a:xfrm>
                <a:off x="3657516" y="2897375"/>
                <a:ext cx="65915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>
                    <a:solidFill>
                      <a:srgbClr val="11576A"/>
                    </a:solidFill>
                    <a:latin typeface="+mn-ea"/>
                  </a:rPr>
                  <a:t>寄存器组</a:t>
                </a:r>
                <a:endParaRPr lang="zh-CN" altLang="en-US" sz="900" b="1" dirty="0">
                  <a:solidFill>
                    <a:srgbClr val="11576A"/>
                  </a:solidFill>
                  <a:latin typeface="+mn-ea"/>
                </a:endParaRPr>
              </a:p>
            </p:txBody>
          </p:sp>
          <p:sp>
            <p:nvSpPr>
              <p:cNvPr id="121" name="TextBox 82"/>
              <p:cNvSpPr txBox="1"/>
              <p:nvPr/>
            </p:nvSpPr>
            <p:spPr>
              <a:xfrm>
                <a:off x="3800471" y="3071816"/>
                <a:ext cx="377026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spc="100">
                    <a:solidFill>
                      <a:srgbClr val="11576A"/>
                    </a:solidFill>
                    <a:latin typeface="华文琥珀" pitchFamily="2" charset="-122"/>
                    <a:ea typeface="华文琥珀" pitchFamily="2" charset="-122"/>
                  </a:rPr>
                  <a:t>…</a:t>
                </a:r>
                <a:endParaRPr lang="en-US" altLang="zh-CN" sz="1400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7013345" y="1995485"/>
              <a:ext cx="651911" cy="593529"/>
              <a:chOff x="3667973" y="2786064"/>
              <a:chExt cx="651911" cy="593529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3671884" y="2786064"/>
                <a:ext cx="648000" cy="14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3671884" y="2928940"/>
                <a:ext cx="648000" cy="432000"/>
              </a:xfrm>
              <a:prstGeom prst="rect">
                <a:avLst/>
              </a:prstGeom>
              <a:gradFill>
                <a:gsLst>
                  <a:gs pos="100000">
                    <a:srgbClr val="FF9900"/>
                  </a:gs>
                  <a:gs pos="0">
                    <a:srgbClr val="FFCC66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rot="10800000" flipH="1">
                <a:off x="3671884" y="3073495"/>
                <a:ext cx="648000" cy="1588"/>
              </a:xfrm>
              <a:prstGeom prst="line">
                <a:avLst/>
              </a:prstGeom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Box 95"/>
              <p:cNvSpPr txBox="1"/>
              <p:nvPr/>
            </p:nvSpPr>
            <p:spPr>
              <a:xfrm>
                <a:off x="3667973" y="2880511"/>
                <a:ext cx="6463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>
                    <a:solidFill>
                      <a:srgbClr val="11576A"/>
                    </a:solidFill>
                    <a:latin typeface="+mn-ea"/>
                  </a:rPr>
                  <a:t>寄存器组</a:t>
                </a:r>
                <a:endParaRPr lang="zh-CN" altLang="en-US" sz="900" b="1" dirty="0">
                  <a:solidFill>
                    <a:srgbClr val="11576A"/>
                  </a:solidFill>
                  <a:latin typeface="+mn-ea"/>
                </a:endParaRPr>
              </a:p>
            </p:txBody>
          </p:sp>
          <p:sp>
            <p:nvSpPr>
              <p:cNvPr id="116" name="TextBox 96"/>
              <p:cNvSpPr txBox="1"/>
              <p:nvPr/>
            </p:nvSpPr>
            <p:spPr>
              <a:xfrm>
                <a:off x="3800471" y="3071816"/>
                <a:ext cx="377026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spc="100">
                    <a:solidFill>
                      <a:srgbClr val="11576A"/>
                    </a:solidFill>
                    <a:latin typeface="华文琥珀" pitchFamily="2" charset="-122"/>
                    <a:ea typeface="华文琥珀" pitchFamily="2" charset="-122"/>
                  </a:rPr>
                  <a:t>…</a:t>
                </a:r>
                <a:endParaRPr lang="en-US" altLang="zh-CN" sz="1400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endParaRPr>
              </a:p>
            </p:txBody>
          </p:sp>
        </p:grpSp>
        <p:cxnSp>
          <p:nvCxnSpPr>
            <p:cNvPr id="92" name="直接箭头连接符 91"/>
            <p:cNvCxnSpPr/>
            <p:nvPr/>
          </p:nvCxnSpPr>
          <p:spPr>
            <a:xfrm>
              <a:off x="4485093" y="2054852"/>
              <a:ext cx="1005641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/>
          </p:nvCxnSpPr>
          <p:spPr>
            <a:xfrm>
              <a:off x="6019809" y="2054852"/>
              <a:ext cx="1005641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组合 93"/>
            <p:cNvGrpSpPr/>
            <p:nvPr/>
          </p:nvGrpSpPr>
          <p:grpSpPr>
            <a:xfrm>
              <a:off x="7610497" y="2066923"/>
              <a:ext cx="397313" cy="73026"/>
              <a:chOff x="4589868" y="2795588"/>
              <a:chExt cx="397313" cy="73026"/>
            </a:xfrm>
          </p:grpSpPr>
          <p:cxnSp>
            <p:nvCxnSpPr>
              <p:cNvPr id="108" name="直接连接符 107"/>
              <p:cNvCxnSpPr/>
              <p:nvPr/>
            </p:nvCxnSpPr>
            <p:spPr>
              <a:xfrm flipV="1">
                <a:off x="4589868" y="2795588"/>
                <a:ext cx="358370" cy="0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 rot="5400000">
                <a:off x="4921508" y="2813588"/>
                <a:ext cx="36000" cy="1588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4879181" y="2836073"/>
                <a:ext cx="108000" cy="1588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4895294" y="2867026"/>
                <a:ext cx="72000" cy="1588"/>
              </a:xfrm>
              <a:prstGeom prst="line">
                <a:avLst/>
              </a:prstGeom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任意多边形 94"/>
            <p:cNvSpPr/>
            <p:nvPr/>
          </p:nvSpPr>
          <p:spPr>
            <a:xfrm>
              <a:off x="4448175" y="2190750"/>
              <a:ext cx="2543175" cy="519112"/>
            </a:xfrm>
            <a:custGeom>
              <a:avLst/>
              <a:gdLst>
                <a:gd name="connsiteX0" fmla="*/ 0 w 2543175"/>
                <a:gd name="connsiteY0" fmla="*/ 0 h 519112"/>
                <a:gd name="connsiteX1" fmla="*/ 1371600 w 2543175"/>
                <a:gd name="connsiteY1" fmla="*/ 476250 h 519112"/>
                <a:gd name="connsiteX2" fmla="*/ 2543175 w 2543175"/>
                <a:gd name="connsiteY2" fmla="*/ 257175 h 51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43175" h="519112">
                  <a:moveTo>
                    <a:pt x="0" y="0"/>
                  </a:moveTo>
                  <a:cubicBezTo>
                    <a:pt x="473869" y="216694"/>
                    <a:pt x="947738" y="433388"/>
                    <a:pt x="1371600" y="476250"/>
                  </a:cubicBezTo>
                  <a:cubicBezTo>
                    <a:pt x="1795462" y="519112"/>
                    <a:pt x="2346325" y="296863"/>
                    <a:pt x="2543175" y="257175"/>
                  </a:cubicBezTo>
                </a:path>
              </a:pathLst>
            </a:cu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TextBox 168"/>
            <p:cNvSpPr txBox="1"/>
            <p:nvPr/>
          </p:nvSpPr>
          <p:spPr>
            <a:xfrm>
              <a:off x="3131840" y="1981733"/>
              <a:ext cx="800219" cy="220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000"/>
                </a:lnSpc>
              </a:pPr>
              <a:r>
                <a:rPr lang="zh-CN" altLang="en-US" b="1" baseline="-25000" dirty="0">
                  <a:solidFill>
                    <a:srgbClr val="11576A"/>
                  </a:solidFill>
                  <a:latin typeface="+mn-ea"/>
                </a:rPr>
                <a:t>就绪队列</a:t>
              </a:r>
              <a:endParaRPr lang="zh-CN" altLang="en-US" b="1" baseline="-25000" dirty="0">
                <a:solidFill>
                  <a:srgbClr val="11576A"/>
                </a:solidFill>
                <a:latin typeface="+mn-ea"/>
              </a:endParaRPr>
            </a:p>
          </p:txBody>
        </p:sp>
      </p:grpSp>
      <p:sp>
        <p:nvSpPr>
          <p:cNvPr id="127" name="矩形 126"/>
          <p:cNvSpPr>
            <a:spLocks noChangeArrowheads="1"/>
          </p:cNvSpPr>
          <p:nvPr/>
        </p:nvSpPr>
        <p:spPr bwMode="auto">
          <a:xfrm>
            <a:off x="1516014" y="2566096"/>
            <a:ext cx="3527425" cy="1150937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28" name="矩形 127"/>
          <p:cNvSpPr>
            <a:spLocks noChangeArrowheads="1"/>
          </p:cNvSpPr>
          <p:nvPr/>
        </p:nvSpPr>
        <p:spPr bwMode="auto">
          <a:xfrm rot="5400000">
            <a:off x="3895676" y="2569270"/>
            <a:ext cx="1143000" cy="1152525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129" name="文本框 128"/>
          <p:cNvSpPr txBox="1">
            <a:spLocks noChangeArrowheads="1"/>
          </p:cNvSpPr>
          <p:nvPr/>
        </p:nvSpPr>
        <p:spPr bwMode="auto">
          <a:xfrm>
            <a:off x="1803351" y="2924871"/>
            <a:ext cx="176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</a:rPr>
              <a:t>进程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zh-CN" altLang="en-US" sz="1800" dirty="0">
                <a:solidFill>
                  <a:schemeClr val="tx1"/>
                </a:solidFill>
              </a:rPr>
              <a:t>用户空间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30" name="文本框 129"/>
          <p:cNvSpPr txBox="1">
            <a:spLocks noChangeArrowheads="1"/>
          </p:cNvSpPr>
          <p:nvPr/>
        </p:nvSpPr>
        <p:spPr bwMode="auto">
          <a:xfrm>
            <a:off x="4162376" y="2842320"/>
            <a:ext cx="9255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内核</a:t>
            </a:r>
            <a:endParaRPr lang="en-US" altLang="zh-CN" sz="1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空间</a:t>
            </a:r>
            <a:endParaRPr lang="zh-CN" altLang="en-US" sz="1800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>
            <a:stCxn id="116" idx="2"/>
            <a:endCxn id="97" idx="0"/>
          </p:cNvCxnSpPr>
          <p:nvPr/>
        </p:nvCxnSpPr>
        <p:spPr bwMode="auto">
          <a:xfrm flipH="1">
            <a:off x="7931660" y="1861720"/>
            <a:ext cx="1739359" cy="12072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矩形 89"/>
          <p:cNvSpPr>
            <a:spLocks noChangeArrowheads="1"/>
          </p:cNvSpPr>
          <p:nvPr/>
        </p:nvSpPr>
        <p:spPr bwMode="auto">
          <a:xfrm>
            <a:off x="7733758" y="3907683"/>
            <a:ext cx="1063128" cy="23177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B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96" name="矩形 95"/>
          <p:cNvSpPr>
            <a:spLocks noChangeArrowheads="1"/>
          </p:cNvSpPr>
          <p:nvPr/>
        </p:nvSpPr>
        <p:spPr bwMode="auto">
          <a:xfrm>
            <a:off x="9137328" y="3907683"/>
            <a:ext cx="1063128" cy="23177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B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sp>
        <p:nvSpPr>
          <p:cNvPr id="97" name="矩形 96"/>
          <p:cNvSpPr>
            <a:spLocks noChangeArrowheads="1"/>
          </p:cNvSpPr>
          <p:nvPr/>
        </p:nvSpPr>
        <p:spPr bwMode="auto">
          <a:xfrm>
            <a:off x="7400095" y="3068961"/>
            <a:ext cx="1063128" cy="23177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503050405090304" charset="0"/>
              </a:rPr>
              <a:t>B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503050405090304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503050405090304" charset="0"/>
            </a:endParaRPr>
          </a:p>
        </p:txBody>
      </p:sp>
      <p:cxnSp>
        <p:nvCxnSpPr>
          <p:cNvPr id="98" name="直接箭头连接符 97"/>
          <p:cNvCxnSpPr>
            <a:stCxn id="97" idx="2"/>
            <a:endCxn id="90" idx="0"/>
          </p:cNvCxnSpPr>
          <p:nvPr/>
        </p:nvCxnSpPr>
        <p:spPr bwMode="auto">
          <a:xfrm>
            <a:off x="7931660" y="3300736"/>
            <a:ext cx="333663" cy="6069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直接箭头连接符 98"/>
          <p:cNvCxnSpPr>
            <a:stCxn id="97" idx="3"/>
            <a:endCxn id="96" idx="0"/>
          </p:cNvCxnSpPr>
          <p:nvPr/>
        </p:nvCxnSpPr>
        <p:spPr bwMode="auto">
          <a:xfrm>
            <a:off x="8463224" y="3184848"/>
            <a:ext cx="1205669" cy="722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接箭头连接符 12"/>
          <p:cNvCxnSpPr>
            <a:stCxn id="90" idx="2"/>
            <a:endCxn id="35" idx="0"/>
          </p:cNvCxnSpPr>
          <p:nvPr/>
        </p:nvCxnSpPr>
        <p:spPr bwMode="auto">
          <a:xfrm flipH="1">
            <a:off x="7608094" y="4139457"/>
            <a:ext cx="657228" cy="1305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>
            <a:endCxn id="76" idx="0"/>
          </p:cNvCxnSpPr>
          <p:nvPr/>
        </p:nvCxnSpPr>
        <p:spPr bwMode="auto">
          <a:xfrm flipH="1">
            <a:off x="8760743" y="4139458"/>
            <a:ext cx="589264" cy="13057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直接箭头连接符 30"/>
          <p:cNvCxnSpPr>
            <a:endCxn id="41" idx="0"/>
          </p:cNvCxnSpPr>
          <p:nvPr/>
        </p:nvCxnSpPr>
        <p:spPr bwMode="auto">
          <a:xfrm flipH="1">
            <a:off x="9336088" y="4139457"/>
            <a:ext cx="144462" cy="1305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虚拟地址空间真正的布局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这样有什么风险？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</a:fld>
            <a:endParaRPr lang="en-US" altLang="ko-KR"/>
          </a:p>
        </p:txBody>
      </p:sp>
      <p:sp>
        <p:nvSpPr>
          <p:cNvPr id="8" name="矩形 7"/>
          <p:cNvSpPr/>
          <p:nvPr/>
        </p:nvSpPr>
        <p:spPr bwMode="auto">
          <a:xfrm>
            <a:off x="5375920" y="2492896"/>
            <a:ext cx="3528392" cy="11521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117205" y="2492896"/>
            <a:ext cx="3528392" cy="115212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 rot="5400000">
            <a:off x="4305337" y="3681028"/>
            <a:ext cx="3528392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 rot="5400000">
            <a:off x="5497661" y="2497088"/>
            <a:ext cx="1143744" cy="1152128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Times New Roman" panose="0202050305040509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05237" y="2852936"/>
            <a:ext cx="176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进程</a:t>
            </a:r>
            <a:r>
              <a:rPr lang="en-US" altLang="zh-CN" dirty="0"/>
              <a:t>A</a:t>
            </a:r>
            <a:r>
              <a:rPr lang="zh-CN" altLang="en-US" dirty="0"/>
              <a:t>用户空间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897711" y="2843644"/>
            <a:ext cx="176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进程</a:t>
            </a:r>
            <a:r>
              <a:rPr lang="en-US" altLang="zh-CN" dirty="0"/>
              <a:t>B</a:t>
            </a:r>
            <a:r>
              <a:rPr lang="zh-CN" altLang="en-US" dirty="0"/>
              <a:t>用户空间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 rot="5400000">
            <a:off x="5187478" y="4542005"/>
            <a:ext cx="176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进程</a:t>
            </a:r>
            <a:r>
              <a:rPr lang="en-US" altLang="zh-CN" dirty="0"/>
              <a:t>C</a:t>
            </a:r>
            <a:r>
              <a:rPr lang="zh-CN" altLang="en-US" dirty="0"/>
              <a:t>用户空间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764969" y="2769333"/>
            <a:ext cx="92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内核</a:t>
            </a:r>
            <a:endParaRPr lang="en-US" altLang="zh-CN" dirty="0"/>
          </a:p>
          <a:p>
            <a:r>
              <a:rPr lang="zh-CN" altLang="en-US" dirty="0"/>
              <a:t>空间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408333" y="4800600"/>
            <a:ext cx="363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至此，我们才回答了为什么切换页表之后程序没有受到影响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748141" y="2284423"/>
            <a:ext cx="3105179" cy="2098520"/>
            <a:chOff x="1730172" y="1285337"/>
            <a:chExt cx="3105179" cy="2098520"/>
          </a:xfrm>
        </p:grpSpPr>
        <p:grpSp>
          <p:nvGrpSpPr>
            <p:cNvPr id="20" name="组合 19"/>
            <p:cNvGrpSpPr/>
            <p:nvPr/>
          </p:nvGrpSpPr>
          <p:grpSpPr>
            <a:xfrm>
              <a:off x="3692343" y="1458693"/>
              <a:ext cx="1143008" cy="1925164"/>
              <a:chOff x="7643834" y="1673536"/>
              <a:chExt cx="1143008" cy="1925164"/>
            </a:xfrm>
            <a:gradFill>
              <a:gsLst>
                <a:gs pos="100000">
                  <a:srgbClr val="007C8B"/>
                </a:gs>
                <a:gs pos="5000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21" name="椭圆 20"/>
              <p:cNvSpPr/>
              <p:nvPr/>
            </p:nvSpPr>
            <p:spPr>
              <a:xfrm>
                <a:off x="7643834" y="3274700"/>
                <a:ext cx="1143008" cy="32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643834" y="1673536"/>
                <a:ext cx="1143008" cy="17554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椭圆 22"/>
            <p:cNvSpPr/>
            <p:nvPr/>
          </p:nvSpPr>
          <p:spPr>
            <a:xfrm>
              <a:off x="3692343" y="1285337"/>
              <a:ext cx="1143008" cy="324000"/>
            </a:xfrm>
            <a:prstGeom prst="ellipse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730172" y="1390120"/>
              <a:ext cx="1652588" cy="4762"/>
            </a:xfrm>
            <a:custGeom>
              <a:avLst/>
              <a:gdLst>
                <a:gd name="connsiteX0" fmla="*/ 0 w 1652588"/>
                <a:gd name="connsiteY0" fmla="*/ 0 h 4762"/>
                <a:gd name="connsiteX1" fmla="*/ 1652588 w 1652588"/>
                <a:gd name="connsiteY1" fmla="*/ 4762 h 4762"/>
                <a:gd name="connsiteX2" fmla="*/ 1652588 w 1652588"/>
                <a:gd name="connsiteY2" fmla="*/ 4762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2588" h="4762">
                  <a:moveTo>
                    <a:pt x="0" y="0"/>
                  </a:moveTo>
                  <a:lnTo>
                    <a:pt x="1652588" y="4762"/>
                  </a:lnTo>
                  <a:lnTo>
                    <a:pt x="1652588" y="4762"/>
                  </a:lnTo>
                </a:path>
              </a:pathLst>
            </a:cu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3373235" y="1394881"/>
              <a:ext cx="890612" cy="819149"/>
            </a:xfrm>
            <a:custGeom>
              <a:avLst/>
              <a:gdLst>
                <a:gd name="connsiteX0" fmla="*/ 314325 w 314325"/>
                <a:gd name="connsiteY0" fmla="*/ 285750 h 285750"/>
                <a:gd name="connsiteX1" fmla="*/ 0 w 314325"/>
                <a:gd name="connsiteY1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285750">
                  <a:moveTo>
                    <a:pt x="314325" y="2857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4154309" y="2220155"/>
              <a:ext cx="214314" cy="244930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38624" y="2536841"/>
            <a:ext cx="758828" cy="1152000"/>
            <a:chOff x="1720657" y="1537755"/>
            <a:chExt cx="758828" cy="115200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720657" y="1542511"/>
              <a:ext cx="75724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1903485" y="2113755"/>
              <a:ext cx="1152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2263583" y="2685526"/>
              <a:ext cx="214314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248212" y="1887215"/>
            <a:ext cx="1924064" cy="461665"/>
            <a:chOff x="2230245" y="1067074"/>
            <a:chExt cx="1924064" cy="461665"/>
          </a:xfrm>
        </p:grpSpPr>
        <p:sp>
          <p:nvSpPr>
            <p:cNvPr id="47" name="Oval 91"/>
            <p:cNvSpPr>
              <a:spLocks noChangeArrowheads="1"/>
            </p:cNvSpPr>
            <p:nvPr/>
          </p:nvSpPr>
          <p:spPr bwMode="auto">
            <a:xfrm>
              <a:off x="2230245" y="1083723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3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2447734" y="1067074"/>
              <a:ext cx="170657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通过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maps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查找该页数据在外存中的位置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754163" y="2994947"/>
            <a:ext cx="1248044" cy="504241"/>
            <a:chOff x="650462" y="1964854"/>
            <a:chExt cx="1248044" cy="504241"/>
          </a:xfrm>
        </p:grpSpPr>
        <p:sp>
          <p:nvSpPr>
            <p:cNvPr id="48" name="Oval 91"/>
            <p:cNvSpPr>
              <a:spLocks noChangeArrowheads="1"/>
            </p:cNvSpPr>
            <p:nvPr/>
          </p:nvSpPr>
          <p:spPr bwMode="auto">
            <a:xfrm>
              <a:off x="1231701" y="2220381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1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4" name="TextBox 7"/>
            <p:cNvSpPr txBox="1">
              <a:spLocks noChangeArrowheads="1"/>
            </p:cNvSpPr>
            <p:nvPr/>
          </p:nvSpPr>
          <p:spPr bwMode="auto">
            <a:xfrm>
              <a:off x="650462" y="1964854"/>
              <a:ext cx="124804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地址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对应的页表项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40441" y="2882917"/>
            <a:ext cx="547355" cy="503631"/>
            <a:chOff x="2422472" y="1883829"/>
            <a:chExt cx="547355" cy="503631"/>
          </a:xfrm>
        </p:grpSpPr>
        <p:sp>
          <p:nvSpPr>
            <p:cNvPr id="46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2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2422472" y="2110461"/>
              <a:ext cx="547355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异常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5600" y="3394093"/>
            <a:ext cx="642942" cy="571504"/>
            <a:chOff x="477633" y="2395007"/>
            <a:chExt cx="642942" cy="571504"/>
          </a:xfrm>
        </p:grpSpPr>
        <p:sp>
          <p:nvSpPr>
            <p:cNvPr id="36" name="矩形 35"/>
            <p:cNvSpPr/>
            <p:nvPr/>
          </p:nvSpPr>
          <p:spPr>
            <a:xfrm>
              <a:off x="536371" y="2395007"/>
              <a:ext cx="500066" cy="571504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Box 7"/>
            <p:cNvSpPr txBox="1">
              <a:spLocks noChangeArrowheads="1"/>
            </p:cNvSpPr>
            <p:nvPr/>
          </p:nvSpPr>
          <p:spPr bwMode="auto">
            <a:xfrm>
              <a:off x="477633" y="2569633"/>
              <a:ext cx="642942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load M</a:t>
              </a:r>
              <a:endParaRPr lang="zh-CN" altLang="en-US" sz="1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978912" y="3689367"/>
            <a:ext cx="802572" cy="1137917"/>
            <a:chOff x="960945" y="2690279"/>
            <a:chExt cx="802572" cy="1137917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053907" y="2690279"/>
              <a:ext cx="70961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91"/>
            <p:cNvSpPr>
              <a:spLocks noChangeArrowheads="1"/>
            </p:cNvSpPr>
            <p:nvPr/>
          </p:nvSpPr>
          <p:spPr bwMode="auto">
            <a:xfrm>
              <a:off x="1231701" y="2739497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9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8" name="TextBox 7"/>
            <p:cNvSpPr txBox="1">
              <a:spLocks noChangeArrowheads="1"/>
            </p:cNvSpPr>
            <p:nvPr/>
          </p:nvSpPr>
          <p:spPr bwMode="auto">
            <a:xfrm>
              <a:off x="960945" y="2997199"/>
              <a:ext cx="720904" cy="8309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重新执行导致异常的指令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71862" y="3031819"/>
            <a:ext cx="1818253" cy="1201669"/>
            <a:chOff x="1053893" y="2032731"/>
            <a:chExt cx="1818253" cy="1201669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53893" y="2499783"/>
              <a:ext cx="504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10800000">
              <a:off x="1549204" y="2499783"/>
              <a:ext cx="216695" cy="17383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1763517" y="2032731"/>
              <a:ext cx="1108629" cy="1201669"/>
              <a:chOff x="1763517" y="2032731"/>
              <a:chExt cx="1108629" cy="1201669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763517" y="2032731"/>
                <a:ext cx="500066" cy="933780"/>
              </a:xfrm>
              <a:prstGeom prst="rect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763517" y="2610909"/>
                <a:ext cx="500066" cy="142876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TextBox 7"/>
              <p:cNvSpPr txBox="1">
                <a:spLocks noChangeArrowheads="1"/>
              </p:cNvSpPr>
              <p:nvPr/>
            </p:nvSpPr>
            <p:spPr bwMode="auto">
              <a:xfrm>
                <a:off x="2087369" y="2577571"/>
                <a:ext cx="214314" cy="2308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en-US" altLang="zh-CN" sz="900" b="1" dirty="0" err="1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i</a:t>
                </a:r>
                <a:endParaRPr lang="zh-CN" altLang="en-US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59" name="TextBox 7"/>
              <p:cNvSpPr txBox="1">
                <a:spLocks noChangeArrowheads="1"/>
              </p:cNvSpPr>
              <p:nvPr/>
            </p:nvSpPr>
            <p:spPr bwMode="auto">
              <a:xfrm>
                <a:off x="1777436" y="2957401"/>
                <a:ext cx="1094710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页表</a:t>
                </a:r>
                <a:endPara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rot="5400000">
                <a:off x="2064350" y="2684728"/>
                <a:ext cx="142876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组合 72"/>
          <p:cNvGrpSpPr/>
          <p:nvPr/>
        </p:nvGrpSpPr>
        <p:grpSpPr>
          <a:xfrm>
            <a:off x="3339366" y="3738250"/>
            <a:ext cx="1292233" cy="1173822"/>
            <a:chOff x="1321397" y="2739164"/>
            <a:chExt cx="1292233" cy="1173822"/>
          </a:xfrm>
        </p:grpSpPr>
        <p:grpSp>
          <p:nvGrpSpPr>
            <p:cNvPr id="72" name="组合 71"/>
            <p:cNvGrpSpPr/>
            <p:nvPr/>
          </p:nvGrpSpPr>
          <p:grpSpPr>
            <a:xfrm>
              <a:off x="1620641" y="2739164"/>
              <a:ext cx="992989" cy="566483"/>
              <a:chOff x="1620641" y="2739164"/>
              <a:chExt cx="992989" cy="566483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10800000" flipV="1">
                <a:off x="1623023" y="2739164"/>
                <a:ext cx="145259" cy="144000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620641" y="3292528"/>
                <a:ext cx="992989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1410993" y="3089647"/>
                <a:ext cx="432000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Oval 91"/>
            <p:cNvSpPr>
              <a:spLocks noChangeArrowheads="1"/>
            </p:cNvSpPr>
            <p:nvPr/>
          </p:nvSpPr>
          <p:spPr bwMode="auto">
            <a:xfrm>
              <a:off x="1746055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8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5" name="TextBox 7"/>
            <p:cNvSpPr txBox="1">
              <a:spLocks noChangeArrowheads="1"/>
            </p:cNvSpPr>
            <p:nvPr/>
          </p:nvSpPr>
          <p:spPr bwMode="auto">
            <a:xfrm>
              <a:off x="1321397" y="3635987"/>
              <a:ext cx="1185936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页表项修改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034863" y="3645024"/>
            <a:ext cx="1277161" cy="694497"/>
            <a:chOff x="3203546" y="3344339"/>
            <a:chExt cx="1277161" cy="694497"/>
          </a:xfrm>
        </p:grpSpPr>
        <p:sp>
          <p:nvSpPr>
            <p:cNvPr id="51" name="Oval 91"/>
            <p:cNvSpPr>
              <a:spLocks noChangeArrowheads="1"/>
            </p:cNvSpPr>
            <p:nvPr/>
          </p:nvSpPr>
          <p:spPr bwMode="auto">
            <a:xfrm>
              <a:off x="3535179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7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6" name="TextBox 7"/>
            <p:cNvSpPr txBox="1">
              <a:spLocks noChangeArrowheads="1"/>
            </p:cNvSpPr>
            <p:nvPr/>
          </p:nvSpPr>
          <p:spPr bwMode="auto">
            <a:xfrm>
              <a:off x="3203546" y="3577171"/>
              <a:ext cx="1277161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页面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换入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503977" y="3803673"/>
            <a:ext cx="931094" cy="1686709"/>
            <a:chOff x="4503977" y="3803673"/>
            <a:chExt cx="931094" cy="1686709"/>
          </a:xfrm>
        </p:grpSpPr>
        <p:sp>
          <p:nvSpPr>
            <p:cNvPr id="39" name="矩形 38"/>
            <p:cNvSpPr/>
            <p:nvPr/>
          </p:nvSpPr>
          <p:spPr>
            <a:xfrm>
              <a:off x="4632390" y="3803673"/>
              <a:ext cx="577854" cy="1409710"/>
            </a:xfrm>
            <a:prstGeom prst="rect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4638740" y="4208489"/>
              <a:ext cx="571504" cy="206880"/>
            </a:xfrm>
            <a:prstGeom prst="rect">
              <a:avLst/>
            </a:prstGeom>
            <a:noFill/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4638740" y="4011637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4638740" y="4595841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4638740" y="4795867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4638740" y="499271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7"/>
            <p:cNvSpPr txBox="1">
              <a:spLocks noChangeArrowheads="1"/>
            </p:cNvSpPr>
            <p:nvPr/>
          </p:nvSpPr>
          <p:spPr bwMode="auto">
            <a:xfrm>
              <a:off x="4503977" y="5213383"/>
              <a:ext cx="931094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物理内存</a:t>
              </a:r>
              <a:endParaRPr lang="en-US" altLang="zh-CN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88448" y="2141547"/>
            <a:ext cx="932312" cy="838462"/>
            <a:chOff x="1070481" y="1142461"/>
            <a:chExt cx="932312" cy="838462"/>
          </a:xfrm>
        </p:grpSpPr>
        <p:sp>
          <p:nvSpPr>
            <p:cNvPr id="26" name="矩形 25"/>
            <p:cNvSpPr/>
            <p:nvPr/>
          </p:nvSpPr>
          <p:spPr>
            <a:xfrm>
              <a:off x="1215828" y="1142461"/>
              <a:ext cx="500066" cy="571504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TextBox 7"/>
            <p:cNvSpPr txBox="1">
              <a:spLocks noChangeArrowheads="1"/>
            </p:cNvSpPr>
            <p:nvPr/>
          </p:nvSpPr>
          <p:spPr bwMode="auto">
            <a:xfrm>
              <a:off x="1070481" y="1703924"/>
              <a:ext cx="932312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操作系统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19769" y="3465531"/>
            <a:ext cx="1071570" cy="820744"/>
            <a:chOff x="3201802" y="2466445"/>
            <a:chExt cx="1071570" cy="820744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3201802" y="3285601"/>
              <a:ext cx="1071570" cy="1588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6200000" flipH="1">
              <a:off x="3851888" y="2873642"/>
              <a:ext cx="819156" cy="476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文本框 52"/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章节4：内存管理</a:t>
            </a:r>
            <a:endParaRPr lang="zh-CN" altLang="en-US" sz="36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63" name="标题 8"/>
          <p:cNvSpPr txBox="1"/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r>
              <a:rPr lang="zh-CN" altLang="en-US" b="0" kern="0" dirty="0"/>
              <a:t>缺页异常（缺页中断）的处理流程</a:t>
            </a:r>
            <a:endParaRPr lang="zh-CN" altLang="en-US" b="0" kern="0" dirty="0"/>
          </a:p>
        </p:txBody>
      </p:sp>
      <p:grpSp>
        <p:nvGrpSpPr>
          <p:cNvPr id="80" name="组合 79"/>
          <p:cNvGrpSpPr/>
          <p:nvPr/>
        </p:nvGrpSpPr>
        <p:grpSpPr>
          <a:xfrm>
            <a:off x="3759089" y="3563541"/>
            <a:ext cx="567185" cy="238070"/>
            <a:chOff x="670350" y="3718419"/>
            <a:chExt cx="567185" cy="238070"/>
          </a:xfrm>
        </p:grpSpPr>
        <p:sp>
          <p:nvSpPr>
            <p:cNvPr id="81" name="矩形 80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0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4" name="TextBox 7"/>
            <p:cNvSpPr txBox="1">
              <a:spLocks noChangeArrowheads="1"/>
            </p:cNvSpPr>
            <p:nvPr/>
          </p:nvSpPr>
          <p:spPr bwMode="auto">
            <a:xfrm>
              <a:off x="670350" y="3718419"/>
              <a:ext cx="424383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无效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754849" y="3576627"/>
            <a:ext cx="567184" cy="238070"/>
            <a:chOff x="670351" y="3718419"/>
            <a:chExt cx="567184" cy="238070"/>
          </a:xfrm>
        </p:grpSpPr>
        <p:sp>
          <p:nvSpPr>
            <p:cNvPr id="76" name="矩形 75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1</a:t>
              </a:r>
              <a:endParaRPr lang="zh-CN" altLang="en-US" sz="9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9" name="TextBox 7"/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85" name="TextBox 4"/>
          <p:cNvSpPr txBox="1">
            <a:spLocks noChangeArrowheads="1"/>
          </p:cNvSpPr>
          <p:nvPr/>
        </p:nvSpPr>
        <p:spPr bwMode="auto">
          <a:xfrm>
            <a:off x="7176120" y="1484784"/>
            <a:ext cx="431891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1. CPU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发出访存指令到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，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根据地址高位部分得到页号，以页号查页表；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6" name="TextBox 7"/>
          <p:cNvSpPr txBox="1">
            <a:spLocks noChangeArrowheads="1"/>
          </p:cNvSpPr>
          <p:nvPr/>
        </p:nvSpPr>
        <p:spPr bwMode="auto">
          <a:xfrm>
            <a:off x="7176120" y="2020930"/>
            <a:ext cx="431891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查表发现该页表项未填入有效值，因此产生缺页异常</a:t>
            </a:r>
            <a:endParaRPr lang="en-US" altLang="zh-CN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7" name="TextBox 7"/>
          <p:cNvSpPr txBox="1">
            <a:spLocks noChangeArrowheads="1"/>
          </p:cNvSpPr>
          <p:nvPr/>
        </p:nvSpPr>
        <p:spPr bwMode="auto">
          <a:xfrm>
            <a:off x="7176120" y="2557077"/>
            <a:ext cx="409631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缺页异常由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响应，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需要分配对应的页帧，并找到该页的内容在磁盘中的位置；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8" name="TextBox 7"/>
          <p:cNvSpPr txBox="1">
            <a:spLocks noChangeArrowheads="1"/>
          </p:cNvSpPr>
          <p:nvPr/>
        </p:nvSpPr>
        <p:spPr bwMode="auto">
          <a:xfrm>
            <a:off x="7176120" y="5484031"/>
            <a:ext cx="4207613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8.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将页帧号填入页表中，并修改页表的有效位；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9" name="TextBox 7"/>
          <p:cNvSpPr txBox="1">
            <a:spLocks noChangeArrowheads="1"/>
          </p:cNvSpPr>
          <p:nvPr/>
        </p:nvSpPr>
        <p:spPr bwMode="auto">
          <a:xfrm>
            <a:off x="7176120" y="6020178"/>
            <a:ext cx="4318913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9.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异常返回，重新执行产生缺页的指令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0" name="TextBox 7"/>
          <p:cNvSpPr txBox="1">
            <a:spLocks noChangeArrowheads="1"/>
          </p:cNvSpPr>
          <p:nvPr/>
        </p:nvSpPr>
        <p:spPr bwMode="auto">
          <a:xfrm>
            <a:off x="7176120" y="4947884"/>
            <a:ext cx="4207613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7.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找到系统中的空闲页帧，从磁盘中读取相应的数据填入页帧中；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3769861" y="3122243"/>
            <a:ext cx="567184" cy="238070"/>
            <a:chOff x="670351" y="3718419"/>
            <a:chExt cx="567184" cy="238070"/>
          </a:xfrm>
        </p:grpSpPr>
        <p:sp>
          <p:nvSpPr>
            <p:cNvPr id="92" name="矩形 91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连接符 92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1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5" name="TextBox 7"/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3773016" y="3116303"/>
            <a:ext cx="567184" cy="238070"/>
            <a:chOff x="670351" y="3718419"/>
            <a:chExt cx="567184" cy="238070"/>
          </a:xfrm>
        </p:grpSpPr>
        <p:sp>
          <p:nvSpPr>
            <p:cNvPr id="98" name="矩形 97"/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9" name="直接连接符 98"/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7"/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0</a:t>
              </a:r>
              <a:endParaRPr lang="zh-CN" altLang="en-US" sz="9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1" name="TextBox 7"/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p</a:t>
              </a:r>
              <a:endParaRPr lang="zh-CN" altLang="en-US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4581362" y="4198964"/>
            <a:ext cx="785818" cy="246221"/>
            <a:chOff x="5404479" y="5906310"/>
            <a:chExt cx="785818" cy="246221"/>
          </a:xfrm>
        </p:grpSpPr>
        <p:sp>
          <p:nvSpPr>
            <p:cNvPr id="111" name="矩形 110"/>
            <p:cNvSpPr/>
            <p:nvPr/>
          </p:nvSpPr>
          <p:spPr>
            <a:xfrm>
              <a:off x="5469802" y="5919289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TextBox 7"/>
            <p:cNvSpPr txBox="1">
              <a:spLocks noChangeArrowheads="1"/>
            </p:cNvSpPr>
            <p:nvPr/>
          </p:nvSpPr>
          <p:spPr bwMode="auto">
            <a:xfrm>
              <a:off x="5404479" y="5906310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K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的页帧</a:t>
              </a:r>
              <a:endParaRPr lang="zh-CN" altLang="en-US" sz="10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1279891" y="2980009"/>
            <a:ext cx="2489970" cy="506623"/>
            <a:chOff x="1279891" y="2980009"/>
            <a:chExt cx="2489970" cy="506623"/>
          </a:xfrm>
        </p:grpSpPr>
        <p:cxnSp>
          <p:nvCxnSpPr>
            <p:cNvPr id="106" name="直接连接符 105"/>
            <p:cNvCxnSpPr>
              <a:endCxn id="95" idx="1"/>
            </p:cNvCxnSpPr>
            <p:nvPr/>
          </p:nvCxnSpPr>
          <p:spPr>
            <a:xfrm flipV="1">
              <a:off x="1306555" y="3237659"/>
              <a:ext cx="2463306" cy="5777"/>
            </a:xfrm>
            <a:prstGeom prst="line">
              <a:avLst/>
            </a:prstGeom>
            <a:ln w="28575">
              <a:solidFill>
                <a:srgbClr val="11576A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1279891" y="2980009"/>
              <a:ext cx="1229689" cy="506623"/>
              <a:chOff x="1050490" y="4495825"/>
              <a:chExt cx="1229689" cy="506623"/>
            </a:xfrm>
          </p:grpSpPr>
          <p:sp>
            <p:nvSpPr>
              <p:cNvPr id="113" name="Oval 91"/>
              <p:cNvSpPr>
                <a:spLocks noChangeArrowheads="1"/>
              </p:cNvSpPr>
              <p:nvPr/>
            </p:nvSpPr>
            <p:spPr bwMode="auto">
              <a:xfrm>
                <a:off x="1419605" y="4495825"/>
                <a:ext cx="256738" cy="248714"/>
              </a:xfrm>
              <a:prstGeom prst="ellipse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  <a:round/>
              </a:ln>
            </p:spPr>
            <p:txBody>
              <a:bodyPr wrap="none" lIns="90487" tIns="44450" rIns="90487" bIns="44450" anchor="ctr"/>
              <a:lstStyle/>
              <a:p>
                <a:pPr algn="ctr"/>
                <a:r>
                  <a:rPr lang="en-US" altLang="zh-CN" sz="1100" b="1" dirty="0">
                    <a:solidFill>
                      <a:schemeClr val="bg1"/>
                    </a:solidFill>
                    <a:latin typeface="微软雅黑" charset="-122"/>
                    <a:ea typeface="微软雅黑" charset="-122"/>
                  </a:rPr>
                  <a:t>4</a:t>
                </a:r>
                <a:endPara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endParaRPr>
              </a:p>
            </p:txBody>
          </p:sp>
          <p:sp>
            <p:nvSpPr>
              <p:cNvPr id="114" name="TextBox 7"/>
              <p:cNvSpPr txBox="1">
                <a:spLocks noChangeArrowheads="1"/>
              </p:cNvSpPr>
              <p:nvPr/>
            </p:nvSpPr>
            <p:spPr bwMode="auto">
              <a:xfrm>
                <a:off x="1050490" y="4725449"/>
                <a:ext cx="1229689" cy="2769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选中换出页面</a:t>
                </a:r>
                <a:r>
                  <a:rPr lang="en-US" altLang="zh-CN" sz="1200" b="1" dirty="0">
                    <a:solidFill>
                      <a:srgbClr val="11576A"/>
                    </a:solidFill>
                    <a:latin typeface="微软雅黑" charset="-122"/>
                    <a:ea typeface="微软雅黑" charset="-122"/>
                  </a:rPr>
                  <a:t>K</a:t>
                </a:r>
                <a:endPara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endParaRPr>
              </a:p>
            </p:txBody>
          </p:sp>
        </p:grpSp>
      </p:grpSp>
      <p:grpSp>
        <p:nvGrpSpPr>
          <p:cNvPr id="120" name="组合 119"/>
          <p:cNvGrpSpPr/>
          <p:nvPr/>
        </p:nvGrpSpPr>
        <p:grpSpPr>
          <a:xfrm>
            <a:off x="5219768" y="3832142"/>
            <a:ext cx="1524304" cy="578471"/>
            <a:chOff x="5219768" y="3832142"/>
            <a:chExt cx="1524304" cy="578471"/>
          </a:xfrm>
        </p:grpSpPr>
        <p:grpSp>
          <p:nvGrpSpPr>
            <p:cNvPr id="102" name="组合 101"/>
            <p:cNvGrpSpPr/>
            <p:nvPr/>
          </p:nvGrpSpPr>
          <p:grpSpPr>
            <a:xfrm rot="16200000" flipH="1">
              <a:off x="5745212" y="3533498"/>
              <a:ext cx="351671" cy="1402560"/>
              <a:chOff x="3201802" y="1833993"/>
              <a:chExt cx="643699" cy="1460241"/>
            </a:xfrm>
          </p:grpSpPr>
          <p:cxnSp>
            <p:nvCxnSpPr>
              <p:cNvPr id="103" name="直接连接符 102"/>
              <p:cNvCxnSpPr/>
              <p:nvPr/>
            </p:nvCxnSpPr>
            <p:spPr>
              <a:xfrm rot="16200000" flipH="1">
                <a:off x="3523651" y="2963751"/>
                <a:ext cx="1" cy="643699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 rot="16200000" flipH="1">
                <a:off x="3112228" y="2564114"/>
                <a:ext cx="1460241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9" name="矩形 118"/>
            <p:cNvSpPr/>
            <p:nvPr/>
          </p:nvSpPr>
          <p:spPr>
            <a:xfrm>
              <a:off x="6529758" y="3832142"/>
              <a:ext cx="214314" cy="244930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568297" y="4195040"/>
            <a:ext cx="785818" cy="246221"/>
            <a:chOff x="5404479" y="5906310"/>
            <a:chExt cx="785818" cy="246221"/>
          </a:xfrm>
        </p:grpSpPr>
        <p:sp>
          <p:nvSpPr>
            <p:cNvPr id="40" name="矩形 39"/>
            <p:cNvSpPr/>
            <p:nvPr/>
          </p:nvSpPr>
          <p:spPr>
            <a:xfrm>
              <a:off x="5469802" y="5919289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TextBox 7"/>
            <p:cNvSpPr txBox="1">
              <a:spLocks noChangeArrowheads="1"/>
            </p:cNvSpPr>
            <p:nvPr/>
          </p:nvSpPr>
          <p:spPr bwMode="auto">
            <a:xfrm>
              <a:off x="5404479" y="5906310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空闲页帧</a:t>
              </a:r>
              <a:endParaRPr lang="zh-CN" altLang="en-US" sz="1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4575862" y="4218298"/>
            <a:ext cx="785818" cy="246221"/>
            <a:chOff x="5404479" y="5906310"/>
            <a:chExt cx="785818" cy="246221"/>
          </a:xfrm>
        </p:grpSpPr>
        <p:sp>
          <p:nvSpPr>
            <p:cNvPr id="122" name="矩形 121"/>
            <p:cNvSpPr/>
            <p:nvPr/>
          </p:nvSpPr>
          <p:spPr>
            <a:xfrm>
              <a:off x="5469802" y="5919289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TextBox 7"/>
            <p:cNvSpPr txBox="1">
              <a:spLocks noChangeArrowheads="1"/>
            </p:cNvSpPr>
            <p:nvPr/>
          </p:nvSpPr>
          <p:spPr bwMode="auto">
            <a:xfrm>
              <a:off x="5404479" y="5906310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m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charset="-122"/>
                  <a:ea typeface="微软雅黑" charset="-122"/>
                </a:rPr>
                <a:t>的页帧</a:t>
              </a:r>
              <a:endParaRPr lang="zh-CN" altLang="en-US" sz="1000" b="1" dirty="0">
                <a:solidFill>
                  <a:srgbClr val="FF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5475343" y="4463889"/>
            <a:ext cx="1277161" cy="509831"/>
            <a:chOff x="3203546" y="3344339"/>
            <a:chExt cx="1277161" cy="509831"/>
          </a:xfrm>
        </p:grpSpPr>
        <p:sp>
          <p:nvSpPr>
            <p:cNvPr id="125" name="Oval 91"/>
            <p:cNvSpPr>
              <a:spLocks noChangeArrowheads="1"/>
            </p:cNvSpPr>
            <p:nvPr/>
          </p:nvSpPr>
          <p:spPr bwMode="auto">
            <a:xfrm>
              <a:off x="3535179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5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6" name="TextBox 7"/>
            <p:cNvSpPr txBox="1">
              <a:spLocks noChangeArrowheads="1"/>
            </p:cNvSpPr>
            <p:nvPr/>
          </p:nvSpPr>
          <p:spPr bwMode="auto">
            <a:xfrm>
              <a:off x="3203546" y="3577171"/>
              <a:ext cx="1277161" cy="2769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页面换出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2648323" y="1700823"/>
            <a:ext cx="719114" cy="700876"/>
            <a:chOff x="2368482" y="1883829"/>
            <a:chExt cx="719114" cy="700876"/>
          </a:xfrm>
        </p:grpSpPr>
        <p:sp>
          <p:nvSpPr>
            <p:cNvPr id="128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6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9" name="TextBox 7"/>
            <p:cNvSpPr txBox="1">
              <a:spLocks noChangeArrowheads="1"/>
            </p:cNvSpPr>
            <p:nvPr/>
          </p:nvSpPr>
          <p:spPr bwMode="auto">
            <a:xfrm>
              <a:off x="2368482" y="2123040"/>
              <a:ext cx="71911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更新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maps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698909" y="2963942"/>
            <a:ext cx="719114" cy="700876"/>
            <a:chOff x="2368482" y="1883829"/>
            <a:chExt cx="719114" cy="700876"/>
          </a:xfrm>
        </p:grpSpPr>
        <p:sp>
          <p:nvSpPr>
            <p:cNvPr id="131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charset="-122"/>
                  <a:ea typeface="微软雅黑" charset="-122"/>
                </a:rPr>
                <a:t>6</a:t>
              </a:r>
              <a:endParaRPr lang="en-US" altLang="zh-CN" sz="1100" b="1" dirty="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2" name="TextBox 7"/>
            <p:cNvSpPr txBox="1">
              <a:spLocks noChangeArrowheads="1"/>
            </p:cNvSpPr>
            <p:nvPr/>
          </p:nvSpPr>
          <p:spPr bwMode="auto">
            <a:xfrm>
              <a:off x="2368482" y="2123040"/>
              <a:ext cx="71911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更新页表项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134" name="TextBox 7"/>
          <p:cNvSpPr txBox="1">
            <a:spLocks noChangeArrowheads="1"/>
          </p:cNvSpPr>
          <p:nvPr/>
        </p:nvSpPr>
        <p:spPr bwMode="auto">
          <a:xfrm>
            <a:off x="7176120" y="3093223"/>
            <a:ext cx="409631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4.OS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发现没有可用的空间页帧，于是启动页面换出过程，选出准备换出的页面；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5" name="TextBox 7"/>
          <p:cNvSpPr txBox="1">
            <a:spLocks noChangeArrowheads="1"/>
          </p:cNvSpPr>
          <p:nvPr/>
        </p:nvSpPr>
        <p:spPr bwMode="auto">
          <a:xfrm>
            <a:off x="7176120" y="3629369"/>
            <a:ext cx="409631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5.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找到待换出页面对应的页帧，将其数据写回到磁盘上以避免丢失；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6" name="TextBox 7"/>
          <p:cNvSpPr txBox="1">
            <a:spLocks noChangeArrowheads="1"/>
          </p:cNvSpPr>
          <p:nvPr/>
        </p:nvSpPr>
        <p:spPr bwMode="auto">
          <a:xfrm>
            <a:off x="7176120" y="4165515"/>
            <a:ext cx="4096318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6.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 将换出页的页表项失效，并修改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maps</a:t>
            </a: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记录该页内存的存储位置，同时将页帧标记为空闲 ；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3" name="TextBox 7"/>
          <p:cNvSpPr txBox="1">
            <a:spLocks noChangeArrowheads="1"/>
          </p:cNvSpPr>
          <p:nvPr/>
        </p:nvSpPr>
        <p:spPr bwMode="auto">
          <a:xfrm>
            <a:off x="4414643" y="4246666"/>
            <a:ext cx="436080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9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p</a:t>
            </a:r>
            <a:endParaRPr lang="zh-CN" altLang="en-US" sz="9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7" name="标题 1"/>
          <p:cNvSpPr>
            <a:spLocks noGrp="1"/>
          </p:cNvSpPr>
          <p:nvPr>
            <p:ph type="title"/>
          </p:nvPr>
        </p:nvSpPr>
        <p:spPr>
          <a:xfrm>
            <a:off x="96315" y="5114556"/>
            <a:ext cx="4471982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分页并没有创造更多的内存，分页使得内存可以被延迟加载</a:t>
            </a:r>
            <a:r>
              <a:rPr lang="en-US" altLang="zh-CN" dirty="0"/>
              <a:t>/</a:t>
            </a:r>
            <a:r>
              <a:rPr lang="zh-CN" altLang="en-US" dirty="0"/>
              <a:t>按需加载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  <p:bldP spid="134" grpId="0"/>
      <p:bldP spid="135" grpId="0"/>
      <p:bldP spid="136" grpId="0"/>
      <p:bldP spid="133" grpId="0"/>
      <p:bldP spid="13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>
          <a:xfrm>
            <a:off x="2495551" y="304801"/>
            <a:ext cx="7777163" cy="981075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Summary: Page replacement algorithm</a:t>
            </a:r>
            <a:endParaRPr lang="zh-CN" altLang="en-US" sz="32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72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0435B3-1B10-4E23-A48E-46CC2B153C81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graphicFrame>
        <p:nvGraphicFramePr>
          <p:cNvPr id="8" name="Group 6"/>
          <p:cNvGraphicFramePr>
            <a:graphicFrameLocks noGrp="1"/>
          </p:cNvGraphicFramePr>
          <p:nvPr>
            <p:ph idx="1"/>
          </p:nvPr>
        </p:nvGraphicFramePr>
        <p:xfrm>
          <a:off x="2381251" y="1905001"/>
          <a:ext cx="8072437" cy="4846876"/>
        </p:xfrm>
        <a:graphic>
          <a:graphicData uri="http://schemas.openxmlformats.org/drawingml/2006/table">
            <a:tbl>
              <a:tblPr/>
              <a:tblGrid>
                <a:gridCol w="1785917"/>
                <a:gridCol w="2643196"/>
                <a:gridCol w="3643324"/>
              </a:tblGrid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Principle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Performance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1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最优算法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按照轨迹置换最远的未来使用的页面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性能最好，但是需要预知未来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NRU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“RM” classification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Not bad, time-consuming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FIFO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Time sorting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Not reasonable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LRU &amp; NFU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Locally optimal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Approach “perfect”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工作集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找到最适合工作集的内存域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Stable and efficiency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缺页率算法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根据缺页发生的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+mn-ea"/>
                        </a:rPr>
                        <a:t>Stable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+mn-ea"/>
                        </a:rPr>
                        <a:t>，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+mn-ea"/>
                        </a:rPr>
                        <a:t>efficiency and practical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+mn-ea"/>
                      </a:endParaRPr>
                    </a:p>
                  </a:txBody>
                  <a:tcPr marT="45727" marB="4572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421624" y="1036777"/>
            <a:ext cx="3121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理解算法的原理</a:t>
            </a:r>
            <a:endParaRPr lang="en-US" altLang="zh-CN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推演算法的过程</a:t>
            </a:r>
            <a:endParaRPr lang="zh-CN" altLang="en-US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1524000" y="1071546"/>
            <a:ext cx="914400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示例：工作集置换算法过程推演</a:t>
            </a:r>
            <a:endParaRPr lang="zh-CN" altLang="en-US" sz="3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67608" y="2564904"/>
            <a:ext cx="6552728" cy="2376264"/>
          </a:xfrm>
          <a:prstGeom prst="rect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548398" y="2564904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567608" y="3286653"/>
            <a:ext cx="6552728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567608" y="2899032"/>
            <a:ext cx="6552728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567608" y="4549048"/>
            <a:ext cx="6552728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72700" y="3293530"/>
            <a:ext cx="0" cy="1246355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379276" y="2557203"/>
            <a:ext cx="0" cy="1986847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139772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688284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211078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59590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82384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5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830896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4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353690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3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902202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2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24996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1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973508" y="256490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0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567608" y="2587524"/>
            <a:ext cx="71438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时间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567608" y="2918910"/>
            <a:ext cx="1285884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访问页面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596108" y="4581128"/>
            <a:ext cx="105162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缺页状态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594118" y="291891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d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139772" y="291891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688284" y="291891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e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211078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759590" y="291891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e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82384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830896" y="291891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b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353690" y="291891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d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902202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424996" y="29189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067992" y="3275896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a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067186" y="3514030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b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061057" y="3986655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d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060374" y="4234368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e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066973" y="3751418"/>
            <a:ext cx="10001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页面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2553163" y="3287888"/>
            <a:ext cx="554853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逻辑面页状态</a:t>
            </a:r>
            <a:endParaRPr lang="en-US" altLang="zh-CN" sz="1600" b="1" spc="-100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045031" y="3342662"/>
            <a:ext cx="173797" cy="173797"/>
          </a:xfrm>
          <a:prstGeom prst="ellipse">
            <a:avLst/>
          </a:prstGeom>
          <a:solidFill>
            <a:srgbClr val="1157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椭圆 138"/>
          <p:cNvSpPr/>
          <p:nvPr/>
        </p:nvSpPr>
        <p:spPr>
          <a:xfrm>
            <a:off x="4049905" y="4054168"/>
            <a:ext cx="173797" cy="173797"/>
          </a:xfrm>
          <a:prstGeom prst="ellipse">
            <a:avLst/>
          </a:prstGeom>
          <a:solidFill>
            <a:srgbClr val="1157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/>
          <p:cNvSpPr/>
          <p:nvPr/>
        </p:nvSpPr>
        <p:spPr>
          <a:xfrm>
            <a:off x="4052043" y="4290541"/>
            <a:ext cx="173797" cy="173797"/>
          </a:xfrm>
          <a:prstGeom prst="ellipse">
            <a:avLst/>
          </a:prstGeom>
          <a:solidFill>
            <a:srgbClr val="1157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4972451" y="3342662"/>
            <a:ext cx="178672" cy="885303"/>
            <a:chOff x="3448451" y="2485410"/>
            <a:chExt cx="178672" cy="885303"/>
          </a:xfrm>
        </p:grpSpPr>
        <p:sp>
          <p:nvSpPr>
            <p:cNvPr id="195" name="椭圆 194"/>
            <p:cNvSpPr/>
            <p:nvPr/>
          </p:nvSpPr>
          <p:spPr>
            <a:xfrm>
              <a:off x="3448452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椭圆 196"/>
            <p:cNvSpPr/>
            <p:nvPr/>
          </p:nvSpPr>
          <p:spPr>
            <a:xfrm>
              <a:off x="3453326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椭圆 198"/>
            <p:cNvSpPr/>
            <p:nvPr/>
          </p:nvSpPr>
          <p:spPr>
            <a:xfrm>
              <a:off x="3448451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436798" y="3342662"/>
            <a:ext cx="178672" cy="885303"/>
            <a:chOff x="3912798" y="2485410"/>
            <a:chExt cx="178672" cy="885303"/>
          </a:xfrm>
        </p:grpSpPr>
        <p:sp>
          <p:nvSpPr>
            <p:cNvPr id="200" name="椭圆 199"/>
            <p:cNvSpPr/>
            <p:nvPr/>
          </p:nvSpPr>
          <p:spPr>
            <a:xfrm>
              <a:off x="3912799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/>
            <p:cNvSpPr/>
            <p:nvPr/>
          </p:nvSpPr>
          <p:spPr>
            <a:xfrm>
              <a:off x="3917673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椭圆 203"/>
            <p:cNvSpPr/>
            <p:nvPr/>
          </p:nvSpPr>
          <p:spPr>
            <a:xfrm>
              <a:off x="3912798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363024" y="3573018"/>
            <a:ext cx="178672" cy="654947"/>
            <a:chOff x="4839024" y="2715766"/>
            <a:chExt cx="178672" cy="654947"/>
          </a:xfrm>
        </p:grpSpPr>
        <p:sp>
          <p:nvSpPr>
            <p:cNvPr id="211" name="椭圆 210"/>
            <p:cNvSpPr/>
            <p:nvPr/>
          </p:nvSpPr>
          <p:spPr>
            <a:xfrm>
              <a:off x="4839026" y="271576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椭圆 211"/>
            <p:cNvSpPr/>
            <p:nvPr/>
          </p:nvSpPr>
          <p:spPr>
            <a:xfrm>
              <a:off x="4843899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/>
            <p:cNvSpPr/>
            <p:nvPr/>
          </p:nvSpPr>
          <p:spPr>
            <a:xfrm>
              <a:off x="4839024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288641" y="3573016"/>
            <a:ext cx="180810" cy="891320"/>
            <a:chOff x="5764641" y="2715766"/>
            <a:chExt cx="180810" cy="891320"/>
          </a:xfrm>
        </p:grpSpPr>
        <p:sp>
          <p:nvSpPr>
            <p:cNvPr id="221" name="椭圆 220"/>
            <p:cNvSpPr/>
            <p:nvPr/>
          </p:nvSpPr>
          <p:spPr>
            <a:xfrm>
              <a:off x="5764643" y="271576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椭圆 222"/>
            <p:cNvSpPr/>
            <p:nvPr/>
          </p:nvSpPr>
          <p:spPr>
            <a:xfrm>
              <a:off x="5771654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椭圆 223"/>
            <p:cNvSpPr/>
            <p:nvPr/>
          </p:nvSpPr>
          <p:spPr>
            <a:xfrm>
              <a:off x="5764641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769420" y="3814026"/>
            <a:ext cx="180810" cy="662165"/>
            <a:chOff x="6245420" y="2956774"/>
            <a:chExt cx="180810" cy="662165"/>
          </a:xfrm>
        </p:grpSpPr>
        <p:sp>
          <p:nvSpPr>
            <p:cNvPr id="228" name="椭圆 227"/>
            <p:cNvSpPr/>
            <p:nvPr/>
          </p:nvSpPr>
          <p:spPr>
            <a:xfrm>
              <a:off x="6252433" y="3445142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椭圆 228"/>
            <p:cNvSpPr/>
            <p:nvPr/>
          </p:nvSpPr>
          <p:spPr>
            <a:xfrm>
              <a:off x="6245420" y="2956774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0" name="TextBox 134"/>
          <p:cNvSpPr txBox="1"/>
          <p:nvPr/>
        </p:nvSpPr>
        <p:spPr>
          <a:xfrm>
            <a:off x="3931991" y="3442433"/>
            <a:ext cx="413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t=0</a:t>
            </a:r>
            <a:endParaRPr lang="zh-CN" altLang="en-US" sz="1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41" name="TextBox 135"/>
          <p:cNvSpPr txBox="1"/>
          <p:nvPr/>
        </p:nvSpPr>
        <p:spPr>
          <a:xfrm>
            <a:off x="3914107" y="4129027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t=-1</a:t>
            </a:r>
            <a:endParaRPr lang="zh-CN" altLang="en-US" sz="1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42" name="TextBox 136"/>
          <p:cNvSpPr txBox="1"/>
          <p:nvPr/>
        </p:nvSpPr>
        <p:spPr>
          <a:xfrm>
            <a:off x="3908593" y="4363528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微软雅黑" charset="-122"/>
                <a:ea typeface="微软雅黑" charset="-122"/>
              </a:rPr>
              <a:t>t=-2</a:t>
            </a:r>
            <a:endParaRPr lang="zh-CN" altLang="en-US" sz="1000" b="1" dirty="0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99788" y="3342662"/>
            <a:ext cx="187013" cy="1481911"/>
            <a:chOff x="2975786" y="2485410"/>
            <a:chExt cx="187013" cy="1481911"/>
          </a:xfrm>
        </p:grpSpPr>
        <p:sp>
          <p:nvSpPr>
            <p:cNvPr id="190" name="椭圆 189"/>
            <p:cNvSpPr/>
            <p:nvPr/>
          </p:nvSpPr>
          <p:spPr>
            <a:xfrm>
              <a:off x="2981990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/>
            <p:cNvSpPr/>
            <p:nvPr/>
          </p:nvSpPr>
          <p:spPr>
            <a:xfrm>
              <a:off x="2986864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椭圆 192"/>
            <p:cNvSpPr/>
            <p:nvPr/>
          </p:nvSpPr>
          <p:spPr>
            <a:xfrm>
              <a:off x="2989002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椭圆 193"/>
            <p:cNvSpPr/>
            <p:nvPr/>
          </p:nvSpPr>
          <p:spPr>
            <a:xfrm>
              <a:off x="2981989" y="2944921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243" name="AutoShape 100"/>
            <p:cNvSpPr>
              <a:spLocks noChangeArrowheads="1"/>
            </p:cNvSpPr>
            <p:nvPr/>
          </p:nvSpPr>
          <p:spPr bwMode="auto">
            <a:xfrm>
              <a:off x="2975786" y="3787321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915566" y="3573018"/>
            <a:ext cx="184875" cy="1264629"/>
            <a:chOff x="4391564" y="2715766"/>
            <a:chExt cx="184875" cy="1264629"/>
          </a:xfrm>
        </p:grpSpPr>
        <p:sp>
          <p:nvSpPr>
            <p:cNvPr id="206" name="椭圆 205"/>
            <p:cNvSpPr/>
            <p:nvPr/>
          </p:nvSpPr>
          <p:spPr>
            <a:xfrm>
              <a:off x="4397769" y="2715766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椭圆 206"/>
            <p:cNvSpPr/>
            <p:nvPr/>
          </p:nvSpPr>
          <p:spPr>
            <a:xfrm>
              <a:off x="4402642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椭圆 208"/>
            <p:cNvSpPr/>
            <p:nvPr/>
          </p:nvSpPr>
          <p:spPr>
            <a:xfrm>
              <a:off x="4397767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AutoShape 100"/>
            <p:cNvSpPr>
              <a:spLocks noChangeArrowheads="1"/>
            </p:cNvSpPr>
            <p:nvPr/>
          </p:nvSpPr>
          <p:spPr bwMode="auto">
            <a:xfrm>
              <a:off x="4391564" y="3800395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832377" y="3573016"/>
            <a:ext cx="188016" cy="1258876"/>
            <a:chOff x="5308377" y="2715766"/>
            <a:chExt cx="188016" cy="1258876"/>
          </a:xfrm>
        </p:grpSpPr>
        <p:sp>
          <p:nvSpPr>
            <p:cNvPr id="216" name="椭圆 215"/>
            <p:cNvSpPr/>
            <p:nvPr/>
          </p:nvSpPr>
          <p:spPr>
            <a:xfrm>
              <a:off x="5315585" y="271576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椭圆 216"/>
            <p:cNvSpPr/>
            <p:nvPr/>
          </p:nvSpPr>
          <p:spPr>
            <a:xfrm>
              <a:off x="5320458" y="3196916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椭圆 217"/>
            <p:cNvSpPr/>
            <p:nvPr/>
          </p:nvSpPr>
          <p:spPr>
            <a:xfrm>
              <a:off x="5322596" y="3433289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椭圆 218"/>
            <p:cNvSpPr/>
            <p:nvPr/>
          </p:nvSpPr>
          <p:spPr>
            <a:xfrm>
              <a:off x="5315583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AutoShape 100"/>
            <p:cNvSpPr>
              <a:spLocks noChangeArrowheads="1"/>
            </p:cNvSpPr>
            <p:nvPr/>
          </p:nvSpPr>
          <p:spPr bwMode="auto">
            <a:xfrm>
              <a:off x="5308377" y="3794642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215663" y="3342660"/>
            <a:ext cx="187013" cy="1497390"/>
            <a:chOff x="6691661" y="2485410"/>
            <a:chExt cx="187013" cy="1497390"/>
          </a:xfrm>
        </p:grpSpPr>
        <p:sp>
          <p:nvSpPr>
            <p:cNvPr id="230" name="椭圆 229"/>
            <p:cNvSpPr/>
            <p:nvPr/>
          </p:nvSpPr>
          <p:spPr>
            <a:xfrm>
              <a:off x="6691662" y="2485410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椭圆 232"/>
            <p:cNvSpPr/>
            <p:nvPr/>
          </p:nvSpPr>
          <p:spPr>
            <a:xfrm>
              <a:off x="6698674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/>
            <p:cNvSpPr/>
            <p:nvPr/>
          </p:nvSpPr>
          <p:spPr>
            <a:xfrm>
              <a:off x="6691661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AutoShape 100"/>
            <p:cNvSpPr>
              <a:spLocks noChangeArrowheads="1"/>
            </p:cNvSpPr>
            <p:nvPr/>
          </p:nvSpPr>
          <p:spPr bwMode="auto">
            <a:xfrm>
              <a:off x="6698674" y="3802800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69342" y="3342660"/>
            <a:ext cx="180810" cy="1497390"/>
            <a:chOff x="7145342" y="2485410"/>
            <a:chExt cx="180810" cy="1497390"/>
          </a:xfrm>
        </p:grpSpPr>
        <p:sp>
          <p:nvSpPr>
            <p:cNvPr id="235" name="椭圆 234"/>
            <p:cNvSpPr/>
            <p:nvPr/>
          </p:nvSpPr>
          <p:spPr>
            <a:xfrm>
              <a:off x="7145343" y="2485410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椭圆 236"/>
            <p:cNvSpPr/>
            <p:nvPr/>
          </p:nvSpPr>
          <p:spPr>
            <a:xfrm>
              <a:off x="7150217" y="3196916"/>
              <a:ext cx="173797" cy="1737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椭圆 237"/>
            <p:cNvSpPr/>
            <p:nvPr/>
          </p:nvSpPr>
          <p:spPr>
            <a:xfrm>
              <a:off x="7152355" y="3433289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椭圆 238"/>
            <p:cNvSpPr/>
            <p:nvPr/>
          </p:nvSpPr>
          <p:spPr>
            <a:xfrm>
              <a:off x="7145342" y="2944921"/>
              <a:ext cx="173797" cy="173797"/>
            </a:xfrm>
            <a:prstGeom prst="ellipse">
              <a:avLst/>
            </a:prstGeom>
            <a:solidFill>
              <a:srgbClr val="11576A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AutoShape 100"/>
            <p:cNvSpPr>
              <a:spLocks noChangeArrowheads="1"/>
            </p:cNvSpPr>
            <p:nvPr/>
          </p:nvSpPr>
          <p:spPr bwMode="auto">
            <a:xfrm>
              <a:off x="7145342" y="3802800"/>
              <a:ext cx="180000" cy="180000"/>
            </a:xfrm>
            <a:prstGeom prst="octagon">
              <a:avLst>
                <a:gd name="adj" fmla="val 29282"/>
              </a:avLst>
            </a:prstGeom>
            <a:solidFill>
              <a:srgbClr val="7030A0"/>
            </a:solidFill>
            <a:ln>
              <a:noFill/>
            </a:ln>
          </p:spPr>
          <p:txBody>
            <a:bodyPr wrap="none" anchor="ctr"/>
            <a:lstStyle/>
            <a:p>
              <a:endParaRPr lang="en-US">
                <a:solidFill>
                  <a:srgbClr val="000099"/>
                </a:solidFill>
              </a:endParaRPr>
            </a:p>
          </p:txBody>
        </p:sp>
      </p:grpSp>
      <p:sp>
        <p:nvSpPr>
          <p:cNvPr id="92" name="TextBox 19"/>
          <p:cNvSpPr txBox="1"/>
          <p:nvPr/>
        </p:nvSpPr>
        <p:spPr>
          <a:xfrm>
            <a:off x="2598829" y="2143990"/>
            <a:ext cx="147230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华文楷体" panose="02010600040101010101" charset="-122"/>
              </a:rPr>
              <a:t>τ </a:t>
            </a:r>
            <a:r>
              <a: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= 4</a:t>
            </a:r>
            <a:endParaRPr lang="zh-CN" altLang="en-US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790021" y="867816"/>
            <a:ext cx="10693615" cy="55931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章节4：内存管理</a:t>
            </a:r>
            <a:endParaRPr lang="zh-CN" altLang="en-US" sz="36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标题 8"/>
          <p:cNvSpPr txBox="1"/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r>
              <a:rPr lang="en-US" altLang="zh-CN" b="0" kern="0" dirty="0">
                <a:solidFill>
                  <a:srgbClr val="FF0000"/>
                </a:solidFill>
              </a:rPr>
              <a:t>MGLRU</a:t>
            </a:r>
            <a:r>
              <a:rPr lang="zh-CN" altLang="en-US" b="0" kern="0" dirty="0">
                <a:solidFill>
                  <a:srgbClr val="FF0000"/>
                </a:solidFill>
              </a:rPr>
              <a:t>（</a:t>
            </a:r>
            <a:r>
              <a:rPr lang="en-US" altLang="zh-CN" b="0" kern="0" dirty="0">
                <a:solidFill>
                  <a:srgbClr val="FF0000"/>
                </a:solidFill>
              </a:rPr>
              <a:t>Linux</a:t>
            </a:r>
            <a:r>
              <a:rPr lang="zh-CN" altLang="en-US" b="0" kern="0" dirty="0">
                <a:solidFill>
                  <a:srgbClr val="FF0000"/>
                </a:solidFill>
              </a:rPr>
              <a:t>内核中决策换出哪一页的新机制）</a:t>
            </a:r>
            <a:endParaRPr lang="zh-CN" altLang="en-US" b="0" kern="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61736" y="6174355"/>
            <a:ext cx="810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图片来源：</a:t>
            </a:r>
            <a:r>
              <a:rPr lang="en-US" altLang="zh-CN" dirty="0"/>
              <a:t>https://www.youtube.com/watch?v=9HvJfN21H9Y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1524000" y="1071546"/>
            <a:ext cx="914400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3000" b="1" dirty="0">
                <a:solidFill>
                  <a:srgbClr val="11576A"/>
                </a:solidFill>
                <a:latin typeface="微软雅黑" charset="-122"/>
                <a:ea typeface="微软雅黑" charset="-122"/>
              </a:rPr>
              <a:t>利用率与并发进程数的关系</a:t>
            </a:r>
            <a:endParaRPr lang="zh-CN" altLang="en-US" sz="30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87864" y="4263846"/>
            <a:ext cx="6648496" cy="400110"/>
            <a:chOff x="586158" y="3227152"/>
            <a:chExt cx="6648496" cy="400110"/>
          </a:xfrm>
        </p:grpSpPr>
        <p:sp>
          <p:nvSpPr>
            <p:cNvPr id="83" name="TextBox 82"/>
            <p:cNvSpPr txBox="1"/>
            <p:nvPr/>
          </p:nvSpPr>
          <p:spPr>
            <a:xfrm>
              <a:off x="586158" y="322715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00484" y="3227152"/>
              <a:ext cx="6334170" cy="3847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indent="1905">
                <a:lnSpc>
                  <a:spcPct val="95000"/>
                </a:lnSpc>
                <a:tabLst>
                  <a:tab pos="715645" algn="l"/>
                </a:tabLst>
              </a:pPr>
              <a:r>
                <a:rPr lang="en-US" altLang="zh-CN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利用率与并发进程数存在相互促进和制约的关系</a:t>
              </a:r>
              <a:endParaRPr lang="en-US" altLang="zh-CN" sz="20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113064" y="4582936"/>
            <a:ext cx="5564478" cy="369332"/>
            <a:chOff x="1011358" y="3546242"/>
            <a:chExt cx="5564478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1141786" y="3546242"/>
              <a:ext cx="543405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进程数少时，提高并发进程数，可提高</a:t>
              </a:r>
              <a:r>
                <a:rPr lang="en-US" altLang="zh-CN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7" name="图片 6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3655780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5" name="组合 4"/>
          <p:cNvGrpSpPr/>
          <p:nvPr/>
        </p:nvGrpSpPr>
        <p:grpSpPr>
          <a:xfrm>
            <a:off x="3113064" y="4906788"/>
            <a:ext cx="3294338" cy="369332"/>
            <a:chOff x="1011358" y="3870094"/>
            <a:chExt cx="3294338" cy="369332"/>
          </a:xfrm>
        </p:grpSpPr>
        <p:sp>
          <p:nvSpPr>
            <p:cNvPr id="8" name="TextBox 7"/>
            <p:cNvSpPr txBox="1"/>
            <p:nvPr/>
          </p:nvSpPr>
          <p:spPr>
            <a:xfrm>
              <a:off x="1141786" y="3870094"/>
              <a:ext cx="316391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并发进程导致内存访问增加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3979632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6" name="组合 5"/>
          <p:cNvGrpSpPr/>
          <p:nvPr/>
        </p:nvGrpSpPr>
        <p:grpSpPr>
          <a:xfrm>
            <a:off x="3113064" y="5192540"/>
            <a:ext cx="5564478" cy="369332"/>
            <a:chOff x="1011358" y="4155846"/>
            <a:chExt cx="5564478" cy="369332"/>
          </a:xfrm>
        </p:grpSpPr>
        <p:sp>
          <p:nvSpPr>
            <p:cNvPr id="13" name="TextBox 12"/>
            <p:cNvSpPr txBox="1"/>
            <p:nvPr/>
          </p:nvSpPr>
          <p:spPr>
            <a:xfrm>
              <a:off x="1141786" y="4155846"/>
              <a:ext cx="543405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并发进程的内存访问会降低了访存的局部性特征</a:t>
              </a:r>
              <a:endParaRPr lang="en-US" altLang="zh-CN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4265384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10" name="组合 9"/>
          <p:cNvGrpSpPr/>
          <p:nvPr/>
        </p:nvGrpSpPr>
        <p:grpSpPr>
          <a:xfrm>
            <a:off x="3113064" y="5507940"/>
            <a:ext cx="5937544" cy="369332"/>
            <a:chOff x="1011358" y="4471246"/>
            <a:chExt cx="5937544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1141786" y="4471246"/>
              <a:ext cx="5807116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lvl="1"/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局部性特征的下降会导致缺页率上升和</a:t>
              </a:r>
              <a:r>
                <a:rPr lang="en-US" altLang="zh-CN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利用率下降</a:t>
              </a:r>
              <a:endParaRPr lang="zh-CN" altLang="en-US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pic>
          <p:nvPicPr>
            <p:cNvPr id="16" name="图片 15" descr="小点1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1358" y="4580784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2" name="组合 1"/>
          <p:cNvGrpSpPr/>
          <p:nvPr/>
        </p:nvGrpSpPr>
        <p:grpSpPr>
          <a:xfrm>
            <a:off x="3309514" y="1785658"/>
            <a:ext cx="4024994" cy="2442305"/>
            <a:chOff x="1547138" y="2405060"/>
            <a:chExt cx="4024994" cy="2442305"/>
          </a:xfrm>
        </p:grpSpPr>
        <p:cxnSp>
          <p:nvCxnSpPr>
            <p:cNvPr id="20" name="直接箭头连接符 19"/>
            <p:cNvCxnSpPr/>
            <p:nvPr/>
          </p:nvCxnSpPr>
          <p:spPr>
            <a:xfrm>
              <a:off x="1936463" y="4540268"/>
              <a:ext cx="3635669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1936463" y="2405060"/>
              <a:ext cx="0" cy="213520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406899" y="4508811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并发进程数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547138" y="2477117"/>
              <a:ext cx="430887" cy="1062150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US" altLang="zh-CN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CPU</a:t>
              </a:r>
              <a:r>
                <a:rPr lang="zh-CN" altLang="en-US" sz="1600" b="1" spc="-100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利用率</a:t>
              </a:r>
              <a:endParaRPr lang="zh-CN" altLang="en-US" sz="1600" b="1" spc="-100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978025" y="3352800"/>
              <a:ext cx="2862263" cy="1168400"/>
            </a:xfrm>
            <a:custGeom>
              <a:avLst/>
              <a:gdLst>
                <a:gd name="connsiteX0" fmla="*/ 0 w 2862263"/>
                <a:gd name="connsiteY0" fmla="*/ 1168400 h 1168400"/>
                <a:gd name="connsiteX1" fmla="*/ 492125 w 2862263"/>
                <a:gd name="connsiteY1" fmla="*/ 714375 h 1168400"/>
                <a:gd name="connsiteX2" fmla="*/ 841375 w 2862263"/>
                <a:gd name="connsiteY2" fmla="*/ 444500 h 1168400"/>
                <a:gd name="connsiteX3" fmla="*/ 1257300 w 2862263"/>
                <a:gd name="connsiteY3" fmla="*/ 196850 h 1168400"/>
                <a:gd name="connsiteX4" fmla="*/ 1571625 w 2862263"/>
                <a:gd name="connsiteY4" fmla="*/ 79375 h 1168400"/>
                <a:gd name="connsiteX5" fmla="*/ 1908175 w 2862263"/>
                <a:gd name="connsiteY5" fmla="*/ 12700 h 1168400"/>
                <a:gd name="connsiteX6" fmla="*/ 2095500 w 2862263"/>
                <a:gd name="connsiteY6" fmla="*/ 3175 h 1168400"/>
                <a:gd name="connsiteX7" fmla="*/ 2212975 w 2862263"/>
                <a:gd name="connsiteY7" fmla="*/ 19050 h 1168400"/>
                <a:gd name="connsiteX8" fmla="*/ 2308225 w 2862263"/>
                <a:gd name="connsiteY8" fmla="*/ 69850 h 1168400"/>
                <a:gd name="connsiteX9" fmla="*/ 2368550 w 2862263"/>
                <a:gd name="connsiteY9" fmla="*/ 130175 h 1168400"/>
                <a:gd name="connsiteX10" fmla="*/ 2397125 w 2862263"/>
                <a:gd name="connsiteY10" fmla="*/ 200025 h 1168400"/>
                <a:gd name="connsiteX11" fmla="*/ 2425700 w 2862263"/>
                <a:gd name="connsiteY11" fmla="*/ 304800 h 1168400"/>
                <a:gd name="connsiteX12" fmla="*/ 2447925 w 2862263"/>
                <a:gd name="connsiteY12" fmla="*/ 473075 h 1168400"/>
                <a:gd name="connsiteX13" fmla="*/ 2463800 w 2862263"/>
                <a:gd name="connsiteY13" fmla="*/ 603250 h 1168400"/>
                <a:gd name="connsiteX14" fmla="*/ 2495550 w 2862263"/>
                <a:gd name="connsiteY14" fmla="*/ 777875 h 1168400"/>
                <a:gd name="connsiteX15" fmla="*/ 2527300 w 2862263"/>
                <a:gd name="connsiteY15" fmla="*/ 876300 h 1168400"/>
                <a:gd name="connsiteX16" fmla="*/ 2574925 w 2862263"/>
                <a:gd name="connsiteY16" fmla="*/ 996950 h 1168400"/>
                <a:gd name="connsiteX17" fmla="*/ 2632075 w 2862263"/>
                <a:gd name="connsiteY17" fmla="*/ 1069975 h 1168400"/>
                <a:gd name="connsiteX18" fmla="*/ 2717800 w 2862263"/>
                <a:gd name="connsiteY18" fmla="*/ 1133475 h 1168400"/>
                <a:gd name="connsiteX19" fmla="*/ 2806700 w 2862263"/>
                <a:gd name="connsiteY19" fmla="*/ 1155700 h 1168400"/>
                <a:gd name="connsiteX20" fmla="*/ 2854325 w 2862263"/>
                <a:gd name="connsiteY20" fmla="*/ 1162050 h 1168400"/>
                <a:gd name="connsiteX21" fmla="*/ 2854325 w 2862263"/>
                <a:gd name="connsiteY21" fmla="*/ 1165225 h 116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62263" h="1168400">
                  <a:moveTo>
                    <a:pt x="0" y="1168400"/>
                  </a:moveTo>
                  <a:cubicBezTo>
                    <a:pt x="175948" y="1001712"/>
                    <a:pt x="351896" y="835025"/>
                    <a:pt x="492125" y="714375"/>
                  </a:cubicBezTo>
                  <a:cubicBezTo>
                    <a:pt x="632354" y="593725"/>
                    <a:pt x="713846" y="530754"/>
                    <a:pt x="841375" y="444500"/>
                  </a:cubicBezTo>
                  <a:cubicBezTo>
                    <a:pt x="968904" y="358246"/>
                    <a:pt x="1135592" y="257704"/>
                    <a:pt x="1257300" y="196850"/>
                  </a:cubicBezTo>
                  <a:cubicBezTo>
                    <a:pt x="1379008" y="135996"/>
                    <a:pt x="1463146" y="110067"/>
                    <a:pt x="1571625" y="79375"/>
                  </a:cubicBezTo>
                  <a:cubicBezTo>
                    <a:pt x="1680104" y="48683"/>
                    <a:pt x="1820862" y="25400"/>
                    <a:pt x="1908175" y="12700"/>
                  </a:cubicBezTo>
                  <a:cubicBezTo>
                    <a:pt x="1995488" y="0"/>
                    <a:pt x="2044700" y="2117"/>
                    <a:pt x="2095500" y="3175"/>
                  </a:cubicBezTo>
                  <a:cubicBezTo>
                    <a:pt x="2146300" y="4233"/>
                    <a:pt x="2177521" y="7938"/>
                    <a:pt x="2212975" y="19050"/>
                  </a:cubicBezTo>
                  <a:cubicBezTo>
                    <a:pt x="2248429" y="30163"/>
                    <a:pt x="2282296" y="51329"/>
                    <a:pt x="2308225" y="69850"/>
                  </a:cubicBezTo>
                  <a:cubicBezTo>
                    <a:pt x="2334154" y="88371"/>
                    <a:pt x="2353733" y="108479"/>
                    <a:pt x="2368550" y="130175"/>
                  </a:cubicBezTo>
                  <a:cubicBezTo>
                    <a:pt x="2383367" y="151871"/>
                    <a:pt x="2387600" y="170921"/>
                    <a:pt x="2397125" y="200025"/>
                  </a:cubicBezTo>
                  <a:cubicBezTo>
                    <a:pt x="2406650" y="229129"/>
                    <a:pt x="2417233" y="259292"/>
                    <a:pt x="2425700" y="304800"/>
                  </a:cubicBezTo>
                  <a:cubicBezTo>
                    <a:pt x="2434167" y="350308"/>
                    <a:pt x="2441575" y="423333"/>
                    <a:pt x="2447925" y="473075"/>
                  </a:cubicBezTo>
                  <a:cubicBezTo>
                    <a:pt x="2454275" y="522817"/>
                    <a:pt x="2455862" y="552450"/>
                    <a:pt x="2463800" y="603250"/>
                  </a:cubicBezTo>
                  <a:cubicBezTo>
                    <a:pt x="2471738" y="654050"/>
                    <a:pt x="2484967" y="732367"/>
                    <a:pt x="2495550" y="777875"/>
                  </a:cubicBezTo>
                  <a:cubicBezTo>
                    <a:pt x="2506133" y="823383"/>
                    <a:pt x="2514071" y="839788"/>
                    <a:pt x="2527300" y="876300"/>
                  </a:cubicBezTo>
                  <a:cubicBezTo>
                    <a:pt x="2540529" y="912813"/>
                    <a:pt x="2557463" y="964671"/>
                    <a:pt x="2574925" y="996950"/>
                  </a:cubicBezTo>
                  <a:cubicBezTo>
                    <a:pt x="2592387" y="1029229"/>
                    <a:pt x="2608263" y="1047221"/>
                    <a:pt x="2632075" y="1069975"/>
                  </a:cubicBezTo>
                  <a:cubicBezTo>
                    <a:pt x="2655887" y="1092729"/>
                    <a:pt x="2688696" y="1119188"/>
                    <a:pt x="2717800" y="1133475"/>
                  </a:cubicBezTo>
                  <a:cubicBezTo>
                    <a:pt x="2746904" y="1147762"/>
                    <a:pt x="2783946" y="1150937"/>
                    <a:pt x="2806700" y="1155700"/>
                  </a:cubicBezTo>
                  <a:cubicBezTo>
                    <a:pt x="2829454" y="1160463"/>
                    <a:pt x="2846387" y="1160462"/>
                    <a:pt x="2854325" y="1162050"/>
                  </a:cubicBezTo>
                  <a:cubicBezTo>
                    <a:pt x="2862263" y="1163638"/>
                    <a:pt x="2858294" y="1164431"/>
                    <a:pt x="2854325" y="1165225"/>
                  </a:cubicBezTo>
                </a:path>
              </a:pathLst>
            </a:custGeom>
            <a:ln w="38100">
              <a:solidFill>
                <a:srgbClr val="0E4D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20064" y="2310332"/>
            <a:ext cx="906469" cy="419081"/>
            <a:chOff x="4018356" y="1273636"/>
            <a:chExt cx="906469" cy="419081"/>
          </a:xfrm>
        </p:grpSpPr>
        <p:cxnSp>
          <p:nvCxnSpPr>
            <p:cNvPr id="31" name="直接连接符 30"/>
            <p:cNvCxnSpPr/>
            <p:nvPr/>
          </p:nvCxnSpPr>
          <p:spPr>
            <a:xfrm rot="5400000">
              <a:off x="3950093" y="1379999"/>
              <a:ext cx="214314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>
              <a:off x="4067569" y="1383968"/>
              <a:ext cx="857256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27"/>
            <p:cNvSpPr txBox="1"/>
            <p:nvPr/>
          </p:nvSpPr>
          <p:spPr>
            <a:xfrm>
              <a:off x="4018356" y="1415718"/>
              <a:ext cx="5052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charset="-122"/>
                  <a:ea typeface="微软雅黑" charset="-122"/>
                </a:rPr>
                <a:t>抖动</a:t>
              </a:r>
              <a:endParaRPr lang="zh-CN" altLang="en-US" sz="1200" b="1" dirty="0">
                <a:solidFill>
                  <a:srgbClr val="11576A"/>
                </a:solidFill>
                <a:latin typeface="微软雅黑" charset="-122"/>
                <a:ea typeface="微软雅黑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页面置换算法的问题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Belady</a:t>
            </a:r>
            <a:r>
              <a:rPr lang="zh-CN" altLang="en-US" dirty="0"/>
              <a:t>现象是什么？</a:t>
            </a:r>
            <a:r>
              <a:rPr lang="zh-CN" altLang="en-US" dirty="0">
                <a:solidFill>
                  <a:srgbClr val="FF0000"/>
                </a:solidFill>
              </a:rPr>
              <a:t>增加页面不能降低缺页。</a:t>
            </a:r>
            <a:r>
              <a:rPr lang="zh-CN" altLang="en-US" dirty="0"/>
              <a:t>它的本质是什么？</a:t>
            </a:r>
            <a:endParaRPr lang="en-US" altLang="zh-CN" dirty="0"/>
          </a:p>
          <a:p>
            <a:pPr lvl="1"/>
            <a:r>
              <a:rPr lang="zh-CN" altLang="en-US" dirty="0"/>
              <a:t>是什么导致了增加物理页不能降低缺页</a:t>
            </a:r>
            <a:endParaRPr lang="en-US" altLang="zh-CN" dirty="0"/>
          </a:p>
          <a:p>
            <a:pPr lvl="1"/>
            <a:r>
              <a:rPr lang="zh-CN" altLang="en-US" dirty="0"/>
              <a:t>违背了局部性原理是不是就是违背程序员世界的真理？</a:t>
            </a:r>
            <a:endParaRPr lang="en-US" altLang="zh-CN" dirty="0"/>
          </a:p>
          <a:p>
            <a:r>
              <a:rPr lang="en-US" altLang="zh-CN" dirty="0"/>
              <a:t>LRU</a:t>
            </a:r>
            <a:r>
              <a:rPr lang="zh-CN" altLang="en-US" dirty="0"/>
              <a:t>看起来很不错，为什么不在现在的</a:t>
            </a:r>
            <a:r>
              <a:rPr lang="en-US" altLang="zh-CN" dirty="0"/>
              <a:t>OS</a:t>
            </a:r>
            <a:r>
              <a:rPr lang="zh-CN" altLang="en-US" dirty="0"/>
              <a:t>中使用？</a:t>
            </a:r>
            <a:endParaRPr lang="en-US" altLang="zh-CN" dirty="0"/>
          </a:p>
          <a:p>
            <a:pPr lvl="1"/>
            <a:r>
              <a:rPr lang="zh-CN" altLang="en-US" dirty="0"/>
              <a:t>如何探测工作集，仍然是一个开放问题</a:t>
            </a:r>
            <a:endParaRPr lang="en-US" altLang="zh-CN" dirty="0"/>
          </a:p>
          <a:p>
            <a:pPr lvl="1"/>
            <a:r>
              <a:rPr lang="zh-CN" altLang="en-US" dirty="0"/>
              <a:t>借助硬件、编译器或者程序员的帮助，会更加有效的找到工作集</a:t>
            </a:r>
            <a:endParaRPr lang="en-US" altLang="zh-CN" dirty="0"/>
          </a:p>
          <a:p>
            <a:pPr lvl="1"/>
            <a:r>
              <a:rPr lang="en-US" altLang="zh-CN" dirty="0"/>
              <a:t>LRU</a:t>
            </a:r>
            <a:r>
              <a:rPr lang="zh-CN" altLang="en-US" dirty="0"/>
              <a:t>剩下的东西，是不是工作集？</a:t>
            </a:r>
            <a:endParaRPr lang="en-US" altLang="zh-CN" dirty="0"/>
          </a:p>
          <a:p>
            <a:r>
              <a:rPr lang="zh-CN" altLang="en-US" dirty="0"/>
              <a:t>抖动问题的根本原因是什么？有没有“两全齐美”的解决方案？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790021" y="867816"/>
            <a:ext cx="10693615" cy="55931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章节4：内存管理</a:t>
            </a:r>
            <a:endParaRPr lang="zh-CN" altLang="en-US" sz="36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标题 8"/>
          <p:cNvSpPr txBox="1"/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r>
              <a:rPr lang="en-US" altLang="zh-CN" b="0" kern="0" dirty="0">
                <a:solidFill>
                  <a:srgbClr val="FF0000"/>
                </a:solidFill>
              </a:rPr>
              <a:t>MGLRU</a:t>
            </a:r>
            <a:r>
              <a:rPr lang="zh-CN" altLang="en-US" b="0" kern="0" dirty="0">
                <a:solidFill>
                  <a:srgbClr val="FF0000"/>
                </a:solidFill>
              </a:rPr>
              <a:t>（</a:t>
            </a:r>
            <a:r>
              <a:rPr lang="en-US" altLang="zh-CN" b="0" kern="0" dirty="0">
                <a:solidFill>
                  <a:srgbClr val="FF0000"/>
                </a:solidFill>
              </a:rPr>
              <a:t>Linux</a:t>
            </a:r>
            <a:r>
              <a:rPr lang="zh-CN" altLang="en-US" b="0" kern="0" dirty="0">
                <a:solidFill>
                  <a:srgbClr val="FF0000"/>
                </a:solidFill>
              </a:rPr>
              <a:t>内核中决策换出哪一页的新机制）</a:t>
            </a:r>
            <a:endParaRPr lang="zh-CN" altLang="en-US" b="0" kern="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61736" y="6174355"/>
            <a:ext cx="810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图片来源：</a:t>
            </a:r>
            <a:r>
              <a:rPr lang="en-US" altLang="zh-CN" dirty="0"/>
              <a:t>https://www.youtube.com/watch?v=9HvJfN21H9Y</a:t>
            </a:r>
            <a:endParaRPr lang="zh-CN" altLang="en-US" dirty="0"/>
          </a:p>
        </p:txBody>
      </p:sp>
      <p:pic>
        <p:nvPicPr>
          <p:cNvPr id="1026" name="Picture 2" descr="https://pic4.zhimg.com/v2-aa172d54e184fea1aab76540fafd4283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013"/>
            <a:ext cx="12192000" cy="640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页面置换算法在</a:t>
            </a:r>
            <a:r>
              <a:rPr lang="en-US" altLang="zh-CN" dirty="0"/>
              <a:t>NUMA</a:t>
            </a:r>
            <a:r>
              <a:rPr lang="zh-CN" altLang="en-US" dirty="0"/>
              <a:t>问题的应用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</a:t>
            </a:r>
            <a:r>
              <a:rPr lang="en-US" altLang="zh-CN" dirty="0"/>
              <a:t>LRU</a:t>
            </a:r>
            <a:r>
              <a:rPr lang="zh-CN" altLang="en-US" dirty="0"/>
              <a:t>、</a:t>
            </a:r>
            <a:r>
              <a:rPr lang="en-US" altLang="zh-CN" dirty="0"/>
              <a:t>LFU</a:t>
            </a:r>
            <a:r>
              <a:rPr lang="zh-CN" altLang="en-US" dirty="0"/>
              <a:t>看起来很好，不在</a:t>
            </a:r>
            <a:r>
              <a:rPr lang="en-US" altLang="zh-CN" dirty="0"/>
              <a:t>NUMA</a:t>
            </a:r>
            <a:r>
              <a:rPr lang="zh-CN" altLang="en-US" dirty="0"/>
              <a:t>里面使用？</a:t>
            </a:r>
            <a:endParaRPr lang="en-US" altLang="zh-CN" dirty="0"/>
          </a:p>
          <a:p>
            <a:pPr lvl="1"/>
            <a:r>
              <a:rPr lang="zh-CN" altLang="en-US" dirty="0"/>
              <a:t>难以有效的追踪每一句的访存</a:t>
            </a:r>
            <a:endParaRPr lang="en-US" altLang="zh-CN" dirty="0"/>
          </a:p>
          <a:p>
            <a:pPr lvl="1"/>
            <a:r>
              <a:rPr lang="zh-CN" altLang="en-US" dirty="0"/>
              <a:t>难以高效存储整个访存记录</a:t>
            </a:r>
            <a:endParaRPr lang="en-US" altLang="zh-CN" dirty="0"/>
          </a:p>
          <a:p>
            <a:pPr lvl="1"/>
            <a:r>
              <a:rPr lang="zh-CN" altLang="en-US" dirty="0"/>
              <a:t>即使有了这些记录，利用过去预测未来仍然充满挑战 </a:t>
            </a:r>
            <a:endParaRPr lang="en-US" altLang="zh-CN" dirty="0"/>
          </a:p>
          <a:p>
            <a:pPr lvl="1"/>
            <a:r>
              <a:rPr lang="en-US" altLang="zh-CN" dirty="0"/>
              <a:t>LRU</a:t>
            </a:r>
            <a:r>
              <a:rPr lang="zh-CN" altLang="en-US" dirty="0"/>
              <a:t>剩下的东西，是不是工作集？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页面置换算法的问题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我们为了缓解内存不足都做了什么？</a:t>
            </a:r>
            <a:endParaRPr lang="en-US" altLang="zh-CN" dirty="0"/>
          </a:p>
          <a:p>
            <a:r>
              <a:rPr lang="zh-CN" altLang="en-US" dirty="0"/>
              <a:t>一个进程不常用的页面，可以提前换出去</a:t>
            </a:r>
            <a:endParaRPr lang="en-US" altLang="zh-CN" dirty="0"/>
          </a:p>
          <a:p>
            <a:pPr lvl="1"/>
            <a:r>
              <a:rPr lang="zh-CN" altLang="en-US" dirty="0"/>
              <a:t>什么状态的进程？</a:t>
            </a:r>
            <a:endParaRPr lang="en-US" altLang="zh-CN" dirty="0"/>
          </a:p>
          <a:p>
            <a:r>
              <a:rPr lang="zh-CN" altLang="en-US" dirty="0"/>
              <a:t>一个不怎么运行的进程，可以整体换出去</a:t>
            </a:r>
            <a:endParaRPr lang="en-US" altLang="zh-CN" dirty="0"/>
          </a:p>
          <a:p>
            <a:pPr lvl="1"/>
            <a:r>
              <a:rPr lang="zh-CN" altLang="en-US" dirty="0"/>
              <a:t>什么状态的进程？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6FD15ADE-4202-4304-9CAE-3693F97EC9F5}" type="slidenum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grpSp>
        <p:nvGrpSpPr>
          <p:cNvPr id="48131" name="Group 3"/>
          <p:cNvGrpSpPr/>
          <p:nvPr/>
        </p:nvGrpSpPr>
        <p:grpSpPr bwMode="auto">
          <a:xfrm>
            <a:off x="2127250" y="1700213"/>
            <a:ext cx="8540750" cy="4608512"/>
            <a:chOff x="213" y="263"/>
            <a:chExt cx="5380" cy="2903"/>
          </a:xfrm>
        </p:grpSpPr>
        <p:sp>
          <p:nvSpPr>
            <p:cNvPr id="48133" name="Freeform 4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4" name="Freeform 5"/>
            <p:cNvSpPr/>
            <p:nvPr/>
          </p:nvSpPr>
          <p:spPr bwMode="auto">
            <a:xfrm>
              <a:off x="583" y="1470"/>
              <a:ext cx="56" cy="55"/>
            </a:xfrm>
            <a:custGeom>
              <a:avLst/>
              <a:gdLst>
                <a:gd name="T0" fmla="*/ 56 w 56"/>
                <a:gd name="T1" fmla="*/ 40 h 55"/>
                <a:gd name="T2" fmla="*/ 21 w 56"/>
                <a:gd name="T3" fmla="*/ 0 h 55"/>
                <a:gd name="T4" fmla="*/ 0 w 56"/>
                <a:gd name="T5" fmla="*/ 55 h 55"/>
                <a:gd name="T6" fmla="*/ 56 w 56"/>
                <a:gd name="T7" fmla="*/ 4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5">
                  <a:moveTo>
                    <a:pt x="56" y="40"/>
                  </a:moveTo>
                  <a:lnTo>
                    <a:pt x="21" y="0"/>
                  </a:lnTo>
                  <a:lnTo>
                    <a:pt x="0" y="55"/>
                  </a:lnTo>
                  <a:lnTo>
                    <a:pt x="56" y="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5" name="Line 6"/>
            <p:cNvSpPr>
              <a:spLocks noChangeShapeType="1"/>
            </p:cNvSpPr>
            <p:nvPr/>
          </p:nvSpPr>
          <p:spPr bwMode="auto">
            <a:xfrm flipH="1">
              <a:off x="622" y="474"/>
              <a:ext cx="1134" cy="10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6" name="Freeform 7"/>
            <p:cNvSpPr/>
            <p:nvPr/>
          </p:nvSpPr>
          <p:spPr bwMode="auto">
            <a:xfrm>
              <a:off x="967" y="804"/>
              <a:ext cx="402" cy="387"/>
            </a:xfrm>
            <a:custGeom>
              <a:avLst/>
              <a:gdLst>
                <a:gd name="T0" fmla="*/ 122 w 402"/>
                <a:gd name="T1" fmla="*/ 387 h 387"/>
                <a:gd name="T2" fmla="*/ 402 w 402"/>
                <a:gd name="T3" fmla="*/ 136 h 387"/>
                <a:gd name="T4" fmla="*/ 280 w 402"/>
                <a:gd name="T5" fmla="*/ 0 h 387"/>
                <a:gd name="T6" fmla="*/ 0 w 402"/>
                <a:gd name="T7" fmla="*/ 251 h 387"/>
                <a:gd name="T8" fmla="*/ 122 w 402"/>
                <a:gd name="T9" fmla="*/ 387 h 3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2" h="387">
                  <a:moveTo>
                    <a:pt x="122" y="387"/>
                  </a:moveTo>
                  <a:lnTo>
                    <a:pt x="402" y="136"/>
                  </a:lnTo>
                  <a:lnTo>
                    <a:pt x="280" y="0"/>
                  </a:lnTo>
                  <a:lnTo>
                    <a:pt x="0" y="251"/>
                  </a:lnTo>
                  <a:lnTo>
                    <a:pt x="122" y="3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Rectangle 8"/>
            <p:cNvSpPr>
              <a:spLocks noChangeArrowheads="1"/>
            </p:cNvSpPr>
            <p:nvPr/>
          </p:nvSpPr>
          <p:spPr bwMode="auto">
            <a:xfrm rot="-2520000">
              <a:off x="996" y="93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en-US" altLang="zh-CN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Admit</a:t>
              </a:r>
              <a:endParaRPr kumimoji="1" lang="en-US" altLang="zh-CN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38" name="Freeform 9"/>
            <p:cNvSpPr/>
            <p:nvPr/>
          </p:nvSpPr>
          <p:spPr bwMode="auto">
            <a:xfrm>
              <a:off x="3308" y="1525"/>
              <a:ext cx="739" cy="423"/>
            </a:xfrm>
            <a:custGeom>
              <a:avLst/>
              <a:gdLst>
                <a:gd name="T0" fmla="*/ 0 w 739"/>
                <a:gd name="T1" fmla="*/ 212 h 423"/>
                <a:gd name="T2" fmla="*/ 2 w 739"/>
                <a:gd name="T3" fmla="*/ 186 h 423"/>
                <a:gd name="T4" fmla="*/ 10 w 739"/>
                <a:gd name="T5" fmla="*/ 161 h 423"/>
                <a:gd name="T6" fmla="*/ 24 w 739"/>
                <a:gd name="T7" fmla="*/ 137 h 423"/>
                <a:gd name="T8" fmla="*/ 42 w 739"/>
                <a:gd name="T9" fmla="*/ 113 h 423"/>
                <a:gd name="T10" fmla="*/ 65 w 739"/>
                <a:gd name="T11" fmla="*/ 92 h 423"/>
                <a:gd name="T12" fmla="*/ 93 w 739"/>
                <a:gd name="T13" fmla="*/ 71 h 423"/>
                <a:gd name="T14" fmla="*/ 124 w 739"/>
                <a:gd name="T15" fmla="*/ 53 h 423"/>
                <a:gd name="T16" fmla="*/ 159 w 739"/>
                <a:gd name="T17" fmla="*/ 37 h 423"/>
                <a:gd name="T18" fmla="*/ 197 w 739"/>
                <a:gd name="T19" fmla="*/ 24 h 423"/>
                <a:gd name="T20" fmla="*/ 238 w 739"/>
                <a:gd name="T21" fmla="*/ 13 h 423"/>
                <a:gd name="T22" fmla="*/ 280 w 739"/>
                <a:gd name="T23" fmla="*/ 6 h 423"/>
                <a:gd name="T24" fmla="*/ 324 w 739"/>
                <a:gd name="T25" fmla="*/ 2 h 423"/>
                <a:gd name="T26" fmla="*/ 369 w 739"/>
                <a:gd name="T27" fmla="*/ 0 h 423"/>
                <a:gd name="T28" fmla="*/ 414 w 739"/>
                <a:gd name="T29" fmla="*/ 2 h 423"/>
                <a:gd name="T30" fmla="*/ 457 w 739"/>
                <a:gd name="T31" fmla="*/ 6 h 423"/>
                <a:gd name="T32" fmla="*/ 500 w 739"/>
                <a:gd name="T33" fmla="*/ 13 h 423"/>
                <a:gd name="T34" fmla="*/ 540 w 739"/>
                <a:gd name="T35" fmla="*/ 24 h 423"/>
                <a:gd name="T36" fmla="*/ 578 w 739"/>
                <a:gd name="T37" fmla="*/ 37 h 423"/>
                <a:gd name="T38" fmla="*/ 613 w 739"/>
                <a:gd name="T39" fmla="*/ 53 h 423"/>
                <a:gd name="T40" fmla="*/ 646 w 739"/>
                <a:gd name="T41" fmla="*/ 71 h 423"/>
                <a:gd name="T42" fmla="*/ 673 w 739"/>
                <a:gd name="T43" fmla="*/ 92 h 423"/>
                <a:gd name="T44" fmla="*/ 695 w 739"/>
                <a:gd name="T45" fmla="*/ 113 h 423"/>
                <a:gd name="T46" fmla="*/ 713 w 739"/>
                <a:gd name="T47" fmla="*/ 137 h 423"/>
                <a:gd name="T48" fmla="*/ 727 w 739"/>
                <a:gd name="T49" fmla="*/ 161 h 423"/>
                <a:gd name="T50" fmla="*/ 736 w 739"/>
                <a:gd name="T51" fmla="*/ 186 h 423"/>
                <a:gd name="T52" fmla="*/ 739 w 739"/>
                <a:gd name="T53" fmla="*/ 212 h 423"/>
                <a:gd name="T54" fmla="*/ 736 w 739"/>
                <a:gd name="T55" fmla="*/ 237 h 423"/>
                <a:gd name="T56" fmla="*/ 727 w 739"/>
                <a:gd name="T57" fmla="*/ 263 h 423"/>
                <a:gd name="T58" fmla="*/ 713 w 739"/>
                <a:gd name="T59" fmla="*/ 286 h 423"/>
                <a:gd name="T60" fmla="*/ 695 w 739"/>
                <a:gd name="T61" fmla="*/ 309 h 423"/>
                <a:gd name="T62" fmla="*/ 673 w 739"/>
                <a:gd name="T63" fmla="*/ 332 h 423"/>
                <a:gd name="T64" fmla="*/ 646 w 739"/>
                <a:gd name="T65" fmla="*/ 351 h 423"/>
                <a:gd name="T66" fmla="*/ 613 w 739"/>
                <a:gd name="T67" fmla="*/ 370 h 423"/>
                <a:gd name="T68" fmla="*/ 578 w 739"/>
                <a:gd name="T69" fmla="*/ 385 h 423"/>
                <a:gd name="T70" fmla="*/ 540 w 739"/>
                <a:gd name="T71" fmla="*/ 399 h 423"/>
                <a:gd name="T72" fmla="*/ 500 w 739"/>
                <a:gd name="T73" fmla="*/ 409 h 423"/>
                <a:gd name="T74" fmla="*/ 457 w 739"/>
                <a:gd name="T75" fmla="*/ 416 h 423"/>
                <a:gd name="T76" fmla="*/ 414 w 739"/>
                <a:gd name="T77" fmla="*/ 422 h 423"/>
                <a:gd name="T78" fmla="*/ 369 w 739"/>
                <a:gd name="T79" fmla="*/ 423 h 423"/>
                <a:gd name="T80" fmla="*/ 324 w 739"/>
                <a:gd name="T81" fmla="*/ 422 h 423"/>
                <a:gd name="T82" fmla="*/ 280 w 739"/>
                <a:gd name="T83" fmla="*/ 416 h 423"/>
                <a:gd name="T84" fmla="*/ 238 w 739"/>
                <a:gd name="T85" fmla="*/ 409 h 423"/>
                <a:gd name="T86" fmla="*/ 197 w 739"/>
                <a:gd name="T87" fmla="*/ 399 h 423"/>
                <a:gd name="T88" fmla="*/ 159 w 739"/>
                <a:gd name="T89" fmla="*/ 385 h 423"/>
                <a:gd name="T90" fmla="*/ 124 w 739"/>
                <a:gd name="T91" fmla="*/ 370 h 423"/>
                <a:gd name="T92" fmla="*/ 93 w 739"/>
                <a:gd name="T93" fmla="*/ 351 h 423"/>
                <a:gd name="T94" fmla="*/ 65 w 739"/>
                <a:gd name="T95" fmla="*/ 332 h 423"/>
                <a:gd name="T96" fmla="*/ 42 w 739"/>
                <a:gd name="T97" fmla="*/ 309 h 423"/>
                <a:gd name="T98" fmla="*/ 24 w 739"/>
                <a:gd name="T99" fmla="*/ 286 h 423"/>
                <a:gd name="T100" fmla="*/ 10 w 739"/>
                <a:gd name="T101" fmla="*/ 263 h 423"/>
                <a:gd name="T102" fmla="*/ 2 w 739"/>
                <a:gd name="T103" fmla="*/ 237 h 423"/>
                <a:gd name="T104" fmla="*/ 0 w 739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9" h="423">
                  <a:moveTo>
                    <a:pt x="0" y="212"/>
                  </a:moveTo>
                  <a:lnTo>
                    <a:pt x="2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500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3" y="92"/>
                  </a:lnTo>
                  <a:lnTo>
                    <a:pt x="695" y="113"/>
                  </a:lnTo>
                  <a:lnTo>
                    <a:pt x="713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9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3" y="286"/>
                  </a:lnTo>
                  <a:lnTo>
                    <a:pt x="695" y="309"/>
                  </a:lnTo>
                  <a:lnTo>
                    <a:pt x="673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500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2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9" name="Rectangle 10"/>
            <p:cNvSpPr>
              <a:spLocks noChangeArrowheads="1"/>
            </p:cNvSpPr>
            <p:nvPr/>
          </p:nvSpPr>
          <p:spPr bwMode="auto">
            <a:xfrm>
              <a:off x="3431" y="1658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运行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0" name="Freeform 11"/>
            <p:cNvSpPr/>
            <p:nvPr/>
          </p:nvSpPr>
          <p:spPr bwMode="auto">
            <a:xfrm>
              <a:off x="213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6 h 423"/>
                <a:gd name="T32" fmla="*/ 501 w 738"/>
                <a:gd name="T33" fmla="*/ 13 h 423"/>
                <a:gd name="T34" fmla="*/ 542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6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6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2 w 738"/>
                <a:gd name="T71" fmla="*/ 399 h 423"/>
                <a:gd name="T72" fmla="*/ 501 w 738"/>
                <a:gd name="T73" fmla="*/ 409 h 423"/>
                <a:gd name="T74" fmla="*/ 459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6"/>
                  </a:lnTo>
                  <a:lnTo>
                    <a:pt x="501" y="13"/>
                  </a:lnTo>
                  <a:lnTo>
                    <a:pt x="542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6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6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2" y="399"/>
                  </a:lnTo>
                  <a:lnTo>
                    <a:pt x="501" y="409"/>
                  </a:lnTo>
                  <a:lnTo>
                    <a:pt x="459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1" name="Rectangle 12"/>
            <p:cNvSpPr>
              <a:spLocks noChangeArrowheads="1"/>
            </p:cNvSpPr>
            <p:nvPr/>
          </p:nvSpPr>
          <p:spPr bwMode="auto">
            <a:xfrm>
              <a:off x="407" y="157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2" name="Rectangle 13"/>
            <p:cNvSpPr>
              <a:spLocks noChangeArrowheads="1"/>
            </p:cNvSpPr>
            <p:nvPr/>
          </p:nvSpPr>
          <p:spPr bwMode="auto">
            <a:xfrm>
              <a:off x="337" y="174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3" name="Freeform 14"/>
            <p:cNvSpPr/>
            <p:nvPr/>
          </p:nvSpPr>
          <p:spPr bwMode="auto">
            <a:xfrm>
              <a:off x="4855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0 w 738"/>
                <a:gd name="T5" fmla="*/ 161 h 423"/>
                <a:gd name="T6" fmla="*/ 24 w 738"/>
                <a:gd name="T7" fmla="*/ 137 h 423"/>
                <a:gd name="T8" fmla="*/ 42 w 738"/>
                <a:gd name="T9" fmla="*/ 113 h 423"/>
                <a:gd name="T10" fmla="*/ 65 w 738"/>
                <a:gd name="T11" fmla="*/ 92 h 423"/>
                <a:gd name="T12" fmla="*/ 93 w 738"/>
                <a:gd name="T13" fmla="*/ 71 h 423"/>
                <a:gd name="T14" fmla="*/ 124 w 738"/>
                <a:gd name="T15" fmla="*/ 53 h 423"/>
                <a:gd name="T16" fmla="*/ 159 w 738"/>
                <a:gd name="T17" fmla="*/ 37 h 423"/>
                <a:gd name="T18" fmla="*/ 197 w 738"/>
                <a:gd name="T19" fmla="*/ 24 h 423"/>
                <a:gd name="T20" fmla="*/ 238 w 738"/>
                <a:gd name="T21" fmla="*/ 13 h 423"/>
                <a:gd name="T22" fmla="*/ 280 w 738"/>
                <a:gd name="T23" fmla="*/ 6 h 423"/>
                <a:gd name="T24" fmla="*/ 324 w 738"/>
                <a:gd name="T25" fmla="*/ 2 h 423"/>
                <a:gd name="T26" fmla="*/ 369 w 738"/>
                <a:gd name="T27" fmla="*/ 0 h 423"/>
                <a:gd name="T28" fmla="*/ 414 w 738"/>
                <a:gd name="T29" fmla="*/ 2 h 423"/>
                <a:gd name="T30" fmla="*/ 457 w 738"/>
                <a:gd name="T31" fmla="*/ 6 h 423"/>
                <a:gd name="T32" fmla="*/ 499 w 738"/>
                <a:gd name="T33" fmla="*/ 13 h 423"/>
                <a:gd name="T34" fmla="*/ 540 w 738"/>
                <a:gd name="T35" fmla="*/ 24 h 423"/>
                <a:gd name="T36" fmla="*/ 578 w 738"/>
                <a:gd name="T37" fmla="*/ 37 h 423"/>
                <a:gd name="T38" fmla="*/ 613 w 738"/>
                <a:gd name="T39" fmla="*/ 53 h 423"/>
                <a:gd name="T40" fmla="*/ 646 w 738"/>
                <a:gd name="T41" fmla="*/ 71 h 423"/>
                <a:gd name="T42" fmla="*/ 672 w 738"/>
                <a:gd name="T43" fmla="*/ 92 h 423"/>
                <a:gd name="T44" fmla="*/ 696 w 738"/>
                <a:gd name="T45" fmla="*/ 113 h 423"/>
                <a:gd name="T46" fmla="*/ 715 w 738"/>
                <a:gd name="T47" fmla="*/ 137 h 423"/>
                <a:gd name="T48" fmla="*/ 727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7 w 738"/>
                <a:gd name="T57" fmla="*/ 263 h 423"/>
                <a:gd name="T58" fmla="*/ 715 w 738"/>
                <a:gd name="T59" fmla="*/ 286 h 423"/>
                <a:gd name="T60" fmla="*/ 696 w 738"/>
                <a:gd name="T61" fmla="*/ 309 h 423"/>
                <a:gd name="T62" fmla="*/ 672 w 738"/>
                <a:gd name="T63" fmla="*/ 332 h 423"/>
                <a:gd name="T64" fmla="*/ 646 w 738"/>
                <a:gd name="T65" fmla="*/ 351 h 423"/>
                <a:gd name="T66" fmla="*/ 613 w 738"/>
                <a:gd name="T67" fmla="*/ 370 h 423"/>
                <a:gd name="T68" fmla="*/ 578 w 738"/>
                <a:gd name="T69" fmla="*/ 385 h 423"/>
                <a:gd name="T70" fmla="*/ 540 w 738"/>
                <a:gd name="T71" fmla="*/ 399 h 423"/>
                <a:gd name="T72" fmla="*/ 499 w 738"/>
                <a:gd name="T73" fmla="*/ 409 h 423"/>
                <a:gd name="T74" fmla="*/ 457 w 738"/>
                <a:gd name="T75" fmla="*/ 416 h 423"/>
                <a:gd name="T76" fmla="*/ 414 w 738"/>
                <a:gd name="T77" fmla="*/ 422 h 423"/>
                <a:gd name="T78" fmla="*/ 369 w 738"/>
                <a:gd name="T79" fmla="*/ 423 h 423"/>
                <a:gd name="T80" fmla="*/ 324 w 738"/>
                <a:gd name="T81" fmla="*/ 422 h 423"/>
                <a:gd name="T82" fmla="*/ 280 w 738"/>
                <a:gd name="T83" fmla="*/ 416 h 423"/>
                <a:gd name="T84" fmla="*/ 238 w 738"/>
                <a:gd name="T85" fmla="*/ 409 h 423"/>
                <a:gd name="T86" fmla="*/ 197 w 738"/>
                <a:gd name="T87" fmla="*/ 399 h 423"/>
                <a:gd name="T88" fmla="*/ 159 w 738"/>
                <a:gd name="T89" fmla="*/ 385 h 423"/>
                <a:gd name="T90" fmla="*/ 124 w 738"/>
                <a:gd name="T91" fmla="*/ 370 h 423"/>
                <a:gd name="T92" fmla="*/ 93 w 738"/>
                <a:gd name="T93" fmla="*/ 351 h 423"/>
                <a:gd name="T94" fmla="*/ 65 w 738"/>
                <a:gd name="T95" fmla="*/ 332 h 423"/>
                <a:gd name="T96" fmla="*/ 42 w 738"/>
                <a:gd name="T97" fmla="*/ 309 h 423"/>
                <a:gd name="T98" fmla="*/ 24 w 738"/>
                <a:gd name="T99" fmla="*/ 286 h 423"/>
                <a:gd name="T100" fmla="*/ 10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0" y="161"/>
                  </a:lnTo>
                  <a:lnTo>
                    <a:pt x="24" y="137"/>
                  </a:lnTo>
                  <a:lnTo>
                    <a:pt x="42" y="113"/>
                  </a:lnTo>
                  <a:lnTo>
                    <a:pt x="65" y="92"/>
                  </a:lnTo>
                  <a:lnTo>
                    <a:pt x="93" y="71"/>
                  </a:lnTo>
                  <a:lnTo>
                    <a:pt x="124" y="53"/>
                  </a:lnTo>
                  <a:lnTo>
                    <a:pt x="159" y="37"/>
                  </a:lnTo>
                  <a:lnTo>
                    <a:pt x="197" y="24"/>
                  </a:lnTo>
                  <a:lnTo>
                    <a:pt x="238" y="13"/>
                  </a:lnTo>
                  <a:lnTo>
                    <a:pt x="280" y="6"/>
                  </a:lnTo>
                  <a:lnTo>
                    <a:pt x="324" y="2"/>
                  </a:lnTo>
                  <a:lnTo>
                    <a:pt x="369" y="0"/>
                  </a:lnTo>
                  <a:lnTo>
                    <a:pt x="414" y="2"/>
                  </a:lnTo>
                  <a:lnTo>
                    <a:pt x="457" y="6"/>
                  </a:lnTo>
                  <a:lnTo>
                    <a:pt x="499" y="13"/>
                  </a:lnTo>
                  <a:lnTo>
                    <a:pt x="540" y="24"/>
                  </a:lnTo>
                  <a:lnTo>
                    <a:pt x="578" y="37"/>
                  </a:lnTo>
                  <a:lnTo>
                    <a:pt x="613" y="53"/>
                  </a:lnTo>
                  <a:lnTo>
                    <a:pt x="646" y="71"/>
                  </a:lnTo>
                  <a:lnTo>
                    <a:pt x="672" y="92"/>
                  </a:lnTo>
                  <a:lnTo>
                    <a:pt x="696" y="113"/>
                  </a:lnTo>
                  <a:lnTo>
                    <a:pt x="715" y="137"/>
                  </a:lnTo>
                  <a:lnTo>
                    <a:pt x="727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7" y="263"/>
                  </a:lnTo>
                  <a:lnTo>
                    <a:pt x="715" y="286"/>
                  </a:lnTo>
                  <a:lnTo>
                    <a:pt x="696" y="309"/>
                  </a:lnTo>
                  <a:lnTo>
                    <a:pt x="672" y="332"/>
                  </a:lnTo>
                  <a:lnTo>
                    <a:pt x="646" y="351"/>
                  </a:lnTo>
                  <a:lnTo>
                    <a:pt x="613" y="370"/>
                  </a:lnTo>
                  <a:lnTo>
                    <a:pt x="578" y="385"/>
                  </a:lnTo>
                  <a:lnTo>
                    <a:pt x="540" y="399"/>
                  </a:lnTo>
                  <a:lnTo>
                    <a:pt x="499" y="409"/>
                  </a:lnTo>
                  <a:lnTo>
                    <a:pt x="457" y="416"/>
                  </a:lnTo>
                  <a:lnTo>
                    <a:pt x="414" y="422"/>
                  </a:lnTo>
                  <a:lnTo>
                    <a:pt x="369" y="423"/>
                  </a:lnTo>
                  <a:lnTo>
                    <a:pt x="324" y="422"/>
                  </a:lnTo>
                  <a:lnTo>
                    <a:pt x="280" y="416"/>
                  </a:lnTo>
                  <a:lnTo>
                    <a:pt x="238" y="409"/>
                  </a:lnTo>
                  <a:lnTo>
                    <a:pt x="197" y="399"/>
                  </a:lnTo>
                  <a:lnTo>
                    <a:pt x="159" y="385"/>
                  </a:lnTo>
                  <a:lnTo>
                    <a:pt x="124" y="370"/>
                  </a:lnTo>
                  <a:lnTo>
                    <a:pt x="93" y="351"/>
                  </a:lnTo>
                  <a:lnTo>
                    <a:pt x="65" y="332"/>
                  </a:lnTo>
                  <a:lnTo>
                    <a:pt x="42" y="309"/>
                  </a:lnTo>
                  <a:lnTo>
                    <a:pt x="24" y="286"/>
                  </a:lnTo>
                  <a:lnTo>
                    <a:pt x="10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Rectangle 15"/>
            <p:cNvSpPr>
              <a:spLocks noChangeArrowheads="1"/>
            </p:cNvSpPr>
            <p:nvPr/>
          </p:nvSpPr>
          <p:spPr bwMode="auto">
            <a:xfrm>
              <a:off x="5083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退出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5" name="Freeform 16"/>
            <p:cNvSpPr/>
            <p:nvPr/>
          </p:nvSpPr>
          <p:spPr bwMode="auto">
            <a:xfrm>
              <a:off x="1760" y="1525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3 h 423"/>
                <a:gd name="T10" fmla="*/ 66 w 738"/>
                <a:gd name="T11" fmla="*/ 92 h 423"/>
                <a:gd name="T12" fmla="*/ 93 w 738"/>
                <a:gd name="T13" fmla="*/ 71 h 423"/>
                <a:gd name="T14" fmla="*/ 125 w 738"/>
                <a:gd name="T15" fmla="*/ 53 h 423"/>
                <a:gd name="T16" fmla="*/ 160 w 738"/>
                <a:gd name="T17" fmla="*/ 37 h 423"/>
                <a:gd name="T18" fmla="*/ 198 w 738"/>
                <a:gd name="T19" fmla="*/ 24 h 423"/>
                <a:gd name="T20" fmla="*/ 239 w 738"/>
                <a:gd name="T21" fmla="*/ 13 h 423"/>
                <a:gd name="T22" fmla="*/ 281 w 738"/>
                <a:gd name="T23" fmla="*/ 6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6 h 423"/>
                <a:gd name="T32" fmla="*/ 501 w 738"/>
                <a:gd name="T33" fmla="*/ 13 h 423"/>
                <a:gd name="T34" fmla="*/ 541 w 738"/>
                <a:gd name="T35" fmla="*/ 24 h 423"/>
                <a:gd name="T36" fmla="*/ 579 w 738"/>
                <a:gd name="T37" fmla="*/ 37 h 423"/>
                <a:gd name="T38" fmla="*/ 615 w 738"/>
                <a:gd name="T39" fmla="*/ 53 h 423"/>
                <a:gd name="T40" fmla="*/ 645 w 738"/>
                <a:gd name="T41" fmla="*/ 71 h 423"/>
                <a:gd name="T42" fmla="*/ 674 w 738"/>
                <a:gd name="T43" fmla="*/ 92 h 423"/>
                <a:gd name="T44" fmla="*/ 696 w 738"/>
                <a:gd name="T45" fmla="*/ 113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3 h 423"/>
                <a:gd name="T58" fmla="*/ 714 w 738"/>
                <a:gd name="T59" fmla="*/ 286 h 423"/>
                <a:gd name="T60" fmla="*/ 696 w 738"/>
                <a:gd name="T61" fmla="*/ 309 h 423"/>
                <a:gd name="T62" fmla="*/ 674 w 738"/>
                <a:gd name="T63" fmla="*/ 332 h 423"/>
                <a:gd name="T64" fmla="*/ 645 w 738"/>
                <a:gd name="T65" fmla="*/ 351 h 423"/>
                <a:gd name="T66" fmla="*/ 615 w 738"/>
                <a:gd name="T67" fmla="*/ 370 h 423"/>
                <a:gd name="T68" fmla="*/ 579 w 738"/>
                <a:gd name="T69" fmla="*/ 385 h 423"/>
                <a:gd name="T70" fmla="*/ 541 w 738"/>
                <a:gd name="T71" fmla="*/ 399 h 423"/>
                <a:gd name="T72" fmla="*/ 501 w 738"/>
                <a:gd name="T73" fmla="*/ 409 h 423"/>
                <a:gd name="T74" fmla="*/ 458 w 738"/>
                <a:gd name="T75" fmla="*/ 416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6 h 423"/>
                <a:gd name="T84" fmla="*/ 239 w 738"/>
                <a:gd name="T85" fmla="*/ 409 h 423"/>
                <a:gd name="T86" fmla="*/ 198 w 738"/>
                <a:gd name="T87" fmla="*/ 399 h 423"/>
                <a:gd name="T88" fmla="*/ 160 w 738"/>
                <a:gd name="T89" fmla="*/ 385 h 423"/>
                <a:gd name="T90" fmla="*/ 125 w 738"/>
                <a:gd name="T91" fmla="*/ 370 h 423"/>
                <a:gd name="T92" fmla="*/ 93 w 738"/>
                <a:gd name="T93" fmla="*/ 351 h 423"/>
                <a:gd name="T94" fmla="*/ 66 w 738"/>
                <a:gd name="T95" fmla="*/ 332 h 423"/>
                <a:gd name="T96" fmla="*/ 44 w 738"/>
                <a:gd name="T97" fmla="*/ 309 h 423"/>
                <a:gd name="T98" fmla="*/ 25 w 738"/>
                <a:gd name="T99" fmla="*/ 286 h 423"/>
                <a:gd name="T100" fmla="*/ 11 w 738"/>
                <a:gd name="T101" fmla="*/ 263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3"/>
                  </a:lnTo>
                  <a:lnTo>
                    <a:pt x="66" y="92"/>
                  </a:lnTo>
                  <a:lnTo>
                    <a:pt x="93" y="71"/>
                  </a:lnTo>
                  <a:lnTo>
                    <a:pt x="125" y="53"/>
                  </a:lnTo>
                  <a:lnTo>
                    <a:pt x="160" y="37"/>
                  </a:lnTo>
                  <a:lnTo>
                    <a:pt x="198" y="24"/>
                  </a:lnTo>
                  <a:lnTo>
                    <a:pt x="239" y="13"/>
                  </a:lnTo>
                  <a:lnTo>
                    <a:pt x="281" y="6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6"/>
                  </a:lnTo>
                  <a:lnTo>
                    <a:pt x="501" y="13"/>
                  </a:lnTo>
                  <a:lnTo>
                    <a:pt x="541" y="24"/>
                  </a:lnTo>
                  <a:lnTo>
                    <a:pt x="579" y="37"/>
                  </a:lnTo>
                  <a:lnTo>
                    <a:pt x="615" y="53"/>
                  </a:lnTo>
                  <a:lnTo>
                    <a:pt x="645" y="71"/>
                  </a:lnTo>
                  <a:lnTo>
                    <a:pt x="674" y="92"/>
                  </a:lnTo>
                  <a:lnTo>
                    <a:pt x="696" y="113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3"/>
                  </a:lnTo>
                  <a:lnTo>
                    <a:pt x="714" y="286"/>
                  </a:lnTo>
                  <a:lnTo>
                    <a:pt x="696" y="309"/>
                  </a:lnTo>
                  <a:lnTo>
                    <a:pt x="674" y="332"/>
                  </a:lnTo>
                  <a:lnTo>
                    <a:pt x="645" y="351"/>
                  </a:lnTo>
                  <a:lnTo>
                    <a:pt x="615" y="370"/>
                  </a:lnTo>
                  <a:lnTo>
                    <a:pt x="579" y="385"/>
                  </a:lnTo>
                  <a:lnTo>
                    <a:pt x="541" y="399"/>
                  </a:lnTo>
                  <a:lnTo>
                    <a:pt x="501" y="409"/>
                  </a:lnTo>
                  <a:lnTo>
                    <a:pt x="458" y="416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6"/>
                  </a:lnTo>
                  <a:lnTo>
                    <a:pt x="239" y="409"/>
                  </a:lnTo>
                  <a:lnTo>
                    <a:pt x="198" y="399"/>
                  </a:lnTo>
                  <a:lnTo>
                    <a:pt x="160" y="385"/>
                  </a:lnTo>
                  <a:lnTo>
                    <a:pt x="125" y="370"/>
                  </a:lnTo>
                  <a:lnTo>
                    <a:pt x="93" y="351"/>
                  </a:lnTo>
                  <a:lnTo>
                    <a:pt x="66" y="332"/>
                  </a:lnTo>
                  <a:lnTo>
                    <a:pt x="44" y="309"/>
                  </a:lnTo>
                  <a:lnTo>
                    <a:pt x="25" y="286"/>
                  </a:lnTo>
                  <a:lnTo>
                    <a:pt x="11" y="263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6" name="Rectangle 17"/>
            <p:cNvSpPr>
              <a:spLocks noChangeArrowheads="1"/>
            </p:cNvSpPr>
            <p:nvPr/>
          </p:nvSpPr>
          <p:spPr bwMode="auto">
            <a:xfrm>
              <a:off x="195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就绪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7" name="Freeform 18"/>
            <p:cNvSpPr/>
            <p:nvPr/>
          </p:nvSpPr>
          <p:spPr bwMode="auto">
            <a:xfrm>
              <a:off x="1760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5 w 738"/>
                <a:gd name="T7" fmla="*/ 137 h 423"/>
                <a:gd name="T8" fmla="*/ 44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8 w 738"/>
                <a:gd name="T31" fmla="*/ 7 h 423"/>
                <a:gd name="T32" fmla="*/ 501 w 738"/>
                <a:gd name="T33" fmla="*/ 14 h 423"/>
                <a:gd name="T34" fmla="*/ 541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5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8 w 738"/>
                <a:gd name="T49" fmla="*/ 161 h 423"/>
                <a:gd name="T50" fmla="*/ 737 w 738"/>
                <a:gd name="T51" fmla="*/ 186 h 423"/>
                <a:gd name="T52" fmla="*/ 738 w 738"/>
                <a:gd name="T53" fmla="*/ 212 h 423"/>
                <a:gd name="T54" fmla="*/ 737 w 738"/>
                <a:gd name="T55" fmla="*/ 237 h 423"/>
                <a:gd name="T56" fmla="*/ 728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5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1 w 738"/>
                <a:gd name="T71" fmla="*/ 399 h 423"/>
                <a:gd name="T72" fmla="*/ 501 w 738"/>
                <a:gd name="T73" fmla="*/ 410 h 423"/>
                <a:gd name="T74" fmla="*/ 458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4 w 738"/>
                <a:gd name="T97" fmla="*/ 310 h 423"/>
                <a:gd name="T98" fmla="*/ 25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5" y="137"/>
                  </a:lnTo>
                  <a:lnTo>
                    <a:pt x="44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8" y="7"/>
                  </a:lnTo>
                  <a:lnTo>
                    <a:pt x="501" y="14"/>
                  </a:lnTo>
                  <a:lnTo>
                    <a:pt x="541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5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8" y="161"/>
                  </a:lnTo>
                  <a:lnTo>
                    <a:pt x="737" y="186"/>
                  </a:lnTo>
                  <a:lnTo>
                    <a:pt x="738" y="212"/>
                  </a:lnTo>
                  <a:lnTo>
                    <a:pt x="737" y="237"/>
                  </a:lnTo>
                  <a:lnTo>
                    <a:pt x="728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5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1" y="399"/>
                  </a:lnTo>
                  <a:lnTo>
                    <a:pt x="501" y="410"/>
                  </a:lnTo>
                  <a:lnTo>
                    <a:pt x="458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4" y="310"/>
                  </a:lnTo>
                  <a:lnTo>
                    <a:pt x="25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8" name="Rectangle 19"/>
            <p:cNvSpPr>
              <a:spLocks noChangeArrowheads="1"/>
            </p:cNvSpPr>
            <p:nvPr/>
          </p:nvSpPr>
          <p:spPr bwMode="auto">
            <a:xfrm>
              <a:off x="1884" y="28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49" name="Freeform 20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0" name="Freeform 21"/>
            <p:cNvSpPr/>
            <p:nvPr/>
          </p:nvSpPr>
          <p:spPr bwMode="auto">
            <a:xfrm>
              <a:off x="3275" y="1641"/>
              <a:ext cx="53" cy="52"/>
            </a:xfrm>
            <a:custGeom>
              <a:avLst/>
              <a:gdLst>
                <a:gd name="T0" fmla="*/ 0 w 53"/>
                <a:gd name="T1" fmla="*/ 0 h 52"/>
                <a:gd name="T2" fmla="*/ 0 w 53"/>
                <a:gd name="T3" fmla="*/ 52 h 52"/>
                <a:gd name="T4" fmla="*/ 53 w 53"/>
                <a:gd name="T5" fmla="*/ 27 h 52"/>
                <a:gd name="T6" fmla="*/ 0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0"/>
                  </a:moveTo>
                  <a:lnTo>
                    <a:pt x="0" y="52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1" name="Line 22"/>
            <p:cNvSpPr>
              <a:spLocks noChangeShapeType="1"/>
            </p:cNvSpPr>
            <p:nvPr/>
          </p:nvSpPr>
          <p:spPr bwMode="auto">
            <a:xfrm>
              <a:off x="2467" y="1651"/>
              <a:ext cx="808" cy="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2" name="Freeform 23"/>
            <p:cNvSpPr/>
            <p:nvPr/>
          </p:nvSpPr>
          <p:spPr bwMode="auto">
            <a:xfrm>
              <a:off x="2602" y="1559"/>
              <a:ext cx="590" cy="196"/>
            </a:xfrm>
            <a:custGeom>
              <a:avLst/>
              <a:gdLst>
                <a:gd name="T0" fmla="*/ 0 w 590"/>
                <a:gd name="T1" fmla="*/ 183 h 196"/>
                <a:gd name="T2" fmla="*/ 587 w 590"/>
                <a:gd name="T3" fmla="*/ 196 h 196"/>
                <a:gd name="T4" fmla="*/ 590 w 590"/>
                <a:gd name="T5" fmla="*/ 13 h 196"/>
                <a:gd name="T6" fmla="*/ 5 w 590"/>
                <a:gd name="T7" fmla="*/ 0 h 196"/>
                <a:gd name="T8" fmla="*/ 0 w 590"/>
                <a:gd name="T9" fmla="*/ 183 h 1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0" h="196">
                  <a:moveTo>
                    <a:pt x="0" y="183"/>
                  </a:moveTo>
                  <a:lnTo>
                    <a:pt x="587" y="196"/>
                  </a:lnTo>
                  <a:lnTo>
                    <a:pt x="590" y="13"/>
                  </a:lnTo>
                  <a:lnTo>
                    <a:pt x="5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3" name="Rectangle 24"/>
            <p:cNvSpPr>
              <a:spLocks noChangeArrowheads="1"/>
            </p:cNvSpPr>
            <p:nvPr/>
          </p:nvSpPr>
          <p:spPr bwMode="auto">
            <a:xfrm rot="60000">
              <a:off x="2615" y="1577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分派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4" name="Freeform 25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5" name="Freeform 26"/>
            <p:cNvSpPr/>
            <p:nvPr/>
          </p:nvSpPr>
          <p:spPr bwMode="auto">
            <a:xfrm>
              <a:off x="2459" y="1807"/>
              <a:ext cx="52" cy="52"/>
            </a:xfrm>
            <a:custGeom>
              <a:avLst/>
              <a:gdLst>
                <a:gd name="T0" fmla="*/ 52 w 52"/>
                <a:gd name="T1" fmla="*/ 0 h 52"/>
                <a:gd name="T2" fmla="*/ 52 w 52"/>
                <a:gd name="T3" fmla="*/ 52 h 52"/>
                <a:gd name="T4" fmla="*/ 0 w 52"/>
                <a:gd name="T5" fmla="*/ 26 h 52"/>
                <a:gd name="T6" fmla="*/ 52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2">
                  <a:moveTo>
                    <a:pt x="52" y="0"/>
                  </a:moveTo>
                  <a:lnTo>
                    <a:pt x="52" y="52"/>
                  </a:lnTo>
                  <a:lnTo>
                    <a:pt x="0" y="26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6" name="Line 27"/>
            <p:cNvSpPr>
              <a:spLocks noChangeShapeType="1"/>
            </p:cNvSpPr>
            <p:nvPr/>
          </p:nvSpPr>
          <p:spPr bwMode="auto">
            <a:xfrm flipH="1" flipV="1">
              <a:off x="2511" y="1834"/>
              <a:ext cx="84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7" name="Freeform 28"/>
            <p:cNvSpPr/>
            <p:nvPr/>
          </p:nvSpPr>
          <p:spPr bwMode="auto">
            <a:xfrm>
              <a:off x="2647" y="1741"/>
              <a:ext cx="518" cy="186"/>
            </a:xfrm>
            <a:custGeom>
              <a:avLst/>
              <a:gdLst>
                <a:gd name="T0" fmla="*/ 0 w 518"/>
                <a:gd name="T1" fmla="*/ 183 h 186"/>
                <a:gd name="T2" fmla="*/ 516 w 518"/>
                <a:gd name="T3" fmla="*/ 186 h 186"/>
                <a:gd name="T4" fmla="*/ 518 w 518"/>
                <a:gd name="T5" fmla="*/ 3 h 186"/>
                <a:gd name="T6" fmla="*/ 2 w 518"/>
                <a:gd name="T7" fmla="*/ 0 h 186"/>
                <a:gd name="T8" fmla="*/ 0 w 51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8" h="186">
                  <a:moveTo>
                    <a:pt x="0" y="183"/>
                  </a:moveTo>
                  <a:lnTo>
                    <a:pt x="516" y="186"/>
                  </a:lnTo>
                  <a:lnTo>
                    <a:pt x="51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Rectangle 29"/>
            <p:cNvSpPr>
              <a:spLocks noChangeArrowheads="1"/>
            </p:cNvSpPr>
            <p:nvPr/>
          </p:nvSpPr>
          <p:spPr bwMode="auto">
            <a:xfrm>
              <a:off x="2660" y="175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超时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59" name="Freeform 30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Freeform 31"/>
            <p:cNvSpPr/>
            <p:nvPr/>
          </p:nvSpPr>
          <p:spPr bwMode="auto">
            <a:xfrm>
              <a:off x="2498" y="2898"/>
              <a:ext cx="58" cy="54"/>
            </a:xfrm>
            <a:custGeom>
              <a:avLst/>
              <a:gdLst>
                <a:gd name="T0" fmla="*/ 24 w 58"/>
                <a:gd name="T1" fmla="*/ 0 h 54"/>
                <a:gd name="T2" fmla="*/ 58 w 58"/>
                <a:gd name="T3" fmla="*/ 40 h 54"/>
                <a:gd name="T4" fmla="*/ 0 w 58"/>
                <a:gd name="T5" fmla="*/ 54 h 54"/>
                <a:gd name="T6" fmla="*/ 24 w 5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54">
                  <a:moveTo>
                    <a:pt x="24" y="0"/>
                  </a:moveTo>
                  <a:lnTo>
                    <a:pt x="58" y="40"/>
                  </a:lnTo>
                  <a:lnTo>
                    <a:pt x="0" y="54"/>
                  </a:lnTo>
                  <a:lnTo>
                    <a:pt x="2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1" name="Line 32"/>
            <p:cNvSpPr>
              <a:spLocks noChangeShapeType="1"/>
            </p:cNvSpPr>
            <p:nvPr/>
          </p:nvSpPr>
          <p:spPr bwMode="auto">
            <a:xfrm flipH="1">
              <a:off x="2539" y="1948"/>
              <a:ext cx="1138" cy="9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2" name="Freeform 33"/>
            <p:cNvSpPr/>
            <p:nvPr/>
          </p:nvSpPr>
          <p:spPr bwMode="auto">
            <a:xfrm>
              <a:off x="2829" y="2192"/>
              <a:ext cx="514" cy="512"/>
            </a:xfrm>
            <a:custGeom>
              <a:avLst/>
              <a:gdLst>
                <a:gd name="T0" fmla="*/ 228 w 514"/>
                <a:gd name="T1" fmla="*/ 512 h 512"/>
                <a:gd name="T2" fmla="*/ 514 w 514"/>
                <a:gd name="T3" fmla="*/ 269 h 512"/>
                <a:gd name="T4" fmla="*/ 287 w 514"/>
                <a:gd name="T5" fmla="*/ 0 h 512"/>
                <a:gd name="T6" fmla="*/ 0 w 514"/>
                <a:gd name="T7" fmla="*/ 244 h 512"/>
                <a:gd name="T8" fmla="*/ 228 w 514"/>
                <a:gd name="T9" fmla="*/ 512 h 5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4" h="512">
                  <a:moveTo>
                    <a:pt x="228" y="512"/>
                  </a:moveTo>
                  <a:lnTo>
                    <a:pt x="514" y="269"/>
                  </a:lnTo>
                  <a:lnTo>
                    <a:pt x="287" y="0"/>
                  </a:lnTo>
                  <a:lnTo>
                    <a:pt x="0" y="244"/>
                  </a:lnTo>
                  <a:lnTo>
                    <a:pt x="228" y="5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3" name="Rectangle 34"/>
            <p:cNvSpPr>
              <a:spLocks noChangeArrowheads="1"/>
            </p:cNvSpPr>
            <p:nvPr/>
          </p:nvSpPr>
          <p:spPr bwMode="auto">
            <a:xfrm rot="-2460000">
              <a:off x="2865" y="2337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4" name="Rectangle 35"/>
            <p:cNvSpPr>
              <a:spLocks noChangeArrowheads="1"/>
            </p:cNvSpPr>
            <p:nvPr/>
          </p:nvSpPr>
          <p:spPr bwMode="auto">
            <a:xfrm rot="-2460000">
              <a:off x="3002" y="2443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等待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65" name="Freeform 36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6" name="Freeform 37"/>
            <p:cNvSpPr/>
            <p:nvPr/>
          </p:nvSpPr>
          <p:spPr bwMode="auto">
            <a:xfrm>
              <a:off x="2103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7" name="Line 38"/>
            <p:cNvSpPr>
              <a:spLocks noChangeShapeType="1"/>
            </p:cNvSpPr>
            <p:nvPr/>
          </p:nvSpPr>
          <p:spPr bwMode="auto">
            <a:xfrm flipV="1">
              <a:off x="2130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8" name="Rectangle 39"/>
            <p:cNvSpPr>
              <a:spLocks noChangeArrowheads="1"/>
            </p:cNvSpPr>
            <p:nvPr/>
          </p:nvSpPr>
          <p:spPr bwMode="auto">
            <a:xfrm>
              <a:off x="1951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69" name="Rectangle 40"/>
            <p:cNvSpPr>
              <a:spLocks noChangeArrowheads="1"/>
            </p:cNvSpPr>
            <p:nvPr/>
          </p:nvSpPr>
          <p:spPr bwMode="auto">
            <a:xfrm rot="-5400000">
              <a:off x="1916" y="231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0" name="Rectangle 41"/>
            <p:cNvSpPr>
              <a:spLocks noChangeArrowheads="1"/>
            </p:cNvSpPr>
            <p:nvPr/>
          </p:nvSpPr>
          <p:spPr bwMode="auto">
            <a:xfrm rot="-5400000">
              <a:off x="2052" y="2315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1" name="Freeform 42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2" name="Freeform 43"/>
            <p:cNvSpPr/>
            <p:nvPr/>
          </p:nvSpPr>
          <p:spPr bwMode="auto">
            <a:xfrm>
              <a:off x="4802" y="1710"/>
              <a:ext cx="53" cy="54"/>
            </a:xfrm>
            <a:custGeom>
              <a:avLst/>
              <a:gdLst>
                <a:gd name="T0" fmla="*/ 0 w 53"/>
                <a:gd name="T1" fmla="*/ 0 h 54"/>
                <a:gd name="T2" fmla="*/ 0 w 53"/>
                <a:gd name="T3" fmla="*/ 54 h 54"/>
                <a:gd name="T4" fmla="*/ 53 w 53"/>
                <a:gd name="T5" fmla="*/ 27 h 54"/>
                <a:gd name="T6" fmla="*/ 0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0" y="0"/>
                  </a:moveTo>
                  <a:lnTo>
                    <a:pt x="0" y="54"/>
                  </a:lnTo>
                  <a:lnTo>
                    <a:pt x="53" y="2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Line 44"/>
            <p:cNvSpPr>
              <a:spLocks noChangeShapeType="1"/>
            </p:cNvSpPr>
            <p:nvPr/>
          </p:nvSpPr>
          <p:spPr bwMode="auto">
            <a:xfrm>
              <a:off x="4047" y="1737"/>
              <a:ext cx="75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4" name="Rectangle 45"/>
            <p:cNvSpPr>
              <a:spLocks noChangeArrowheads="1"/>
            </p:cNvSpPr>
            <p:nvPr/>
          </p:nvSpPr>
          <p:spPr bwMode="auto">
            <a:xfrm>
              <a:off x="4193" y="1642"/>
              <a:ext cx="515" cy="1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75" name="Rectangle 46"/>
            <p:cNvSpPr>
              <a:spLocks noChangeArrowheads="1"/>
            </p:cNvSpPr>
            <p:nvPr/>
          </p:nvSpPr>
          <p:spPr bwMode="auto">
            <a:xfrm>
              <a:off x="4204" y="1658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释放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6" name="Freeform 47"/>
            <p:cNvSpPr/>
            <p:nvPr/>
          </p:nvSpPr>
          <p:spPr bwMode="auto">
            <a:xfrm>
              <a:off x="213" y="2740"/>
              <a:ext cx="738" cy="423"/>
            </a:xfrm>
            <a:custGeom>
              <a:avLst/>
              <a:gdLst>
                <a:gd name="T0" fmla="*/ 0 w 738"/>
                <a:gd name="T1" fmla="*/ 212 h 423"/>
                <a:gd name="T2" fmla="*/ 3 w 738"/>
                <a:gd name="T3" fmla="*/ 186 h 423"/>
                <a:gd name="T4" fmla="*/ 11 w 738"/>
                <a:gd name="T5" fmla="*/ 161 h 423"/>
                <a:gd name="T6" fmla="*/ 24 w 738"/>
                <a:gd name="T7" fmla="*/ 137 h 423"/>
                <a:gd name="T8" fmla="*/ 42 w 738"/>
                <a:gd name="T9" fmla="*/ 114 h 423"/>
                <a:gd name="T10" fmla="*/ 66 w 738"/>
                <a:gd name="T11" fmla="*/ 92 h 423"/>
                <a:gd name="T12" fmla="*/ 93 w 738"/>
                <a:gd name="T13" fmla="*/ 72 h 423"/>
                <a:gd name="T14" fmla="*/ 125 w 738"/>
                <a:gd name="T15" fmla="*/ 54 h 423"/>
                <a:gd name="T16" fmla="*/ 160 w 738"/>
                <a:gd name="T17" fmla="*/ 38 h 423"/>
                <a:gd name="T18" fmla="*/ 198 w 738"/>
                <a:gd name="T19" fmla="*/ 24 h 423"/>
                <a:gd name="T20" fmla="*/ 239 w 738"/>
                <a:gd name="T21" fmla="*/ 14 h 423"/>
                <a:gd name="T22" fmla="*/ 281 w 738"/>
                <a:gd name="T23" fmla="*/ 7 h 423"/>
                <a:gd name="T24" fmla="*/ 325 w 738"/>
                <a:gd name="T25" fmla="*/ 2 h 423"/>
                <a:gd name="T26" fmla="*/ 370 w 738"/>
                <a:gd name="T27" fmla="*/ 0 h 423"/>
                <a:gd name="T28" fmla="*/ 415 w 738"/>
                <a:gd name="T29" fmla="*/ 2 h 423"/>
                <a:gd name="T30" fmla="*/ 459 w 738"/>
                <a:gd name="T31" fmla="*/ 7 h 423"/>
                <a:gd name="T32" fmla="*/ 501 w 738"/>
                <a:gd name="T33" fmla="*/ 14 h 423"/>
                <a:gd name="T34" fmla="*/ 542 w 738"/>
                <a:gd name="T35" fmla="*/ 24 h 423"/>
                <a:gd name="T36" fmla="*/ 579 w 738"/>
                <a:gd name="T37" fmla="*/ 38 h 423"/>
                <a:gd name="T38" fmla="*/ 615 w 738"/>
                <a:gd name="T39" fmla="*/ 54 h 423"/>
                <a:gd name="T40" fmla="*/ 646 w 738"/>
                <a:gd name="T41" fmla="*/ 72 h 423"/>
                <a:gd name="T42" fmla="*/ 674 w 738"/>
                <a:gd name="T43" fmla="*/ 92 h 423"/>
                <a:gd name="T44" fmla="*/ 696 w 738"/>
                <a:gd name="T45" fmla="*/ 114 h 423"/>
                <a:gd name="T46" fmla="*/ 714 w 738"/>
                <a:gd name="T47" fmla="*/ 137 h 423"/>
                <a:gd name="T48" fmla="*/ 729 w 738"/>
                <a:gd name="T49" fmla="*/ 161 h 423"/>
                <a:gd name="T50" fmla="*/ 736 w 738"/>
                <a:gd name="T51" fmla="*/ 186 h 423"/>
                <a:gd name="T52" fmla="*/ 738 w 738"/>
                <a:gd name="T53" fmla="*/ 212 h 423"/>
                <a:gd name="T54" fmla="*/ 736 w 738"/>
                <a:gd name="T55" fmla="*/ 237 h 423"/>
                <a:gd name="T56" fmla="*/ 729 w 738"/>
                <a:gd name="T57" fmla="*/ 262 h 423"/>
                <a:gd name="T58" fmla="*/ 714 w 738"/>
                <a:gd name="T59" fmla="*/ 288 h 423"/>
                <a:gd name="T60" fmla="*/ 696 w 738"/>
                <a:gd name="T61" fmla="*/ 310 h 423"/>
                <a:gd name="T62" fmla="*/ 674 w 738"/>
                <a:gd name="T63" fmla="*/ 333 h 423"/>
                <a:gd name="T64" fmla="*/ 646 w 738"/>
                <a:gd name="T65" fmla="*/ 353 h 423"/>
                <a:gd name="T66" fmla="*/ 615 w 738"/>
                <a:gd name="T67" fmla="*/ 371 h 423"/>
                <a:gd name="T68" fmla="*/ 579 w 738"/>
                <a:gd name="T69" fmla="*/ 386 h 423"/>
                <a:gd name="T70" fmla="*/ 542 w 738"/>
                <a:gd name="T71" fmla="*/ 399 h 423"/>
                <a:gd name="T72" fmla="*/ 501 w 738"/>
                <a:gd name="T73" fmla="*/ 410 h 423"/>
                <a:gd name="T74" fmla="*/ 459 w 738"/>
                <a:gd name="T75" fmla="*/ 417 h 423"/>
                <a:gd name="T76" fmla="*/ 415 w 738"/>
                <a:gd name="T77" fmla="*/ 422 h 423"/>
                <a:gd name="T78" fmla="*/ 370 w 738"/>
                <a:gd name="T79" fmla="*/ 423 h 423"/>
                <a:gd name="T80" fmla="*/ 325 w 738"/>
                <a:gd name="T81" fmla="*/ 422 h 423"/>
                <a:gd name="T82" fmla="*/ 281 w 738"/>
                <a:gd name="T83" fmla="*/ 417 h 423"/>
                <a:gd name="T84" fmla="*/ 239 w 738"/>
                <a:gd name="T85" fmla="*/ 410 h 423"/>
                <a:gd name="T86" fmla="*/ 198 w 738"/>
                <a:gd name="T87" fmla="*/ 399 h 423"/>
                <a:gd name="T88" fmla="*/ 160 w 738"/>
                <a:gd name="T89" fmla="*/ 386 h 423"/>
                <a:gd name="T90" fmla="*/ 125 w 738"/>
                <a:gd name="T91" fmla="*/ 371 h 423"/>
                <a:gd name="T92" fmla="*/ 93 w 738"/>
                <a:gd name="T93" fmla="*/ 353 h 423"/>
                <a:gd name="T94" fmla="*/ 66 w 738"/>
                <a:gd name="T95" fmla="*/ 333 h 423"/>
                <a:gd name="T96" fmla="*/ 42 w 738"/>
                <a:gd name="T97" fmla="*/ 310 h 423"/>
                <a:gd name="T98" fmla="*/ 24 w 738"/>
                <a:gd name="T99" fmla="*/ 288 h 423"/>
                <a:gd name="T100" fmla="*/ 11 w 738"/>
                <a:gd name="T101" fmla="*/ 262 h 423"/>
                <a:gd name="T102" fmla="*/ 3 w 738"/>
                <a:gd name="T103" fmla="*/ 237 h 423"/>
                <a:gd name="T104" fmla="*/ 0 w 738"/>
                <a:gd name="T105" fmla="*/ 212 h 4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3">
                  <a:moveTo>
                    <a:pt x="0" y="212"/>
                  </a:moveTo>
                  <a:lnTo>
                    <a:pt x="3" y="186"/>
                  </a:lnTo>
                  <a:lnTo>
                    <a:pt x="11" y="161"/>
                  </a:lnTo>
                  <a:lnTo>
                    <a:pt x="24" y="137"/>
                  </a:lnTo>
                  <a:lnTo>
                    <a:pt x="42" y="114"/>
                  </a:lnTo>
                  <a:lnTo>
                    <a:pt x="66" y="92"/>
                  </a:lnTo>
                  <a:lnTo>
                    <a:pt x="93" y="72"/>
                  </a:lnTo>
                  <a:lnTo>
                    <a:pt x="125" y="54"/>
                  </a:lnTo>
                  <a:lnTo>
                    <a:pt x="160" y="38"/>
                  </a:lnTo>
                  <a:lnTo>
                    <a:pt x="198" y="24"/>
                  </a:lnTo>
                  <a:lnTo>
                    <a:pt x="239" y="14"/>
                  </a:lnTo>
                  <a:lnTo>
                    <a:pt x="281" y="7"/>
                  </a:lnTo>
                  <a:lnTo>
                    <a:pt x="325" y="2"/>
                  </a:lnTo>
                  <a:lnTo>
                    <a:pt x="370" y="0"/>
                  </a:lnTo>
                  <a:lnTo>
                    <a:pt x="415" y="2"/>
                  </a:lnTo>
                  <a:lnTo>
                    <a:pt x="459" y="7"/>
                  </a:lnTo>
                  <a:lnTo>
                    <a:pt x="501" y="14"/>
                  </a:lnTo>
                  <a:lnTo>
                    <a:pt x="542" y="24"/>
                  </a:lnTo>
                  <a:lnTo>
                    <a:pt x="579" y="38"/>
                  </a:lnTo>
                  <a:lnTo>
                    <a:pt x="615" y="54"/>
                  </a:lnTo>
                  <a:lnTo>
                    <a:pt x="646" y="72"/>
                  </a:lnTo>
                  <a:lnTo>
                    <a:pt x="674" y="92"/>
                  </a:lnTo>
                  <a:lnTo>
                    <a:pt x="696" y="114"/>
                  </a:lnTo>
                  <a:lnTo>
                    <a:pt x="714" y="137"/>
                  </a:lnTo>
                  <a:lnTo>
                    <a:pt x="729" y="161"/>
                  </a:lnTo>
                  <a:lnTo>
                    <a:pt x="736" y="186"/>
                  </a:lnTo>
                  <a:lnTo>
                    <a:pt x="738" y="212"/>
                  </a:lnTo>
                  <a:lnTo>
                    <a:pt x="736" y="237"/>
                  </a:lnTo>
                  <a:lnTo>
                    <a:pt x="729" y="262"/>
                  </a:lnTo>
                  <a:lnTo>
                    <a:pt x="714" y="288"/>
                  </a:lnTo>
                  <a:lnTo>
                    <a:pt x="696" y="310"/>
                  </a:lnTo>
                  <a:lnTo>
                    <a:pt x="674" y="333"/>
                  </a:lnTo>
                  <a:lnTo>
                    <a:pt x="646" y="353"/>
                  </a:lnTo>
                  <a:lnTo>
                    <a:pt x="615" y="371"/>
                  </a:lnTo>
                  <a:lnTo>
                    <a:pt x="579" y="386"/>
                  </a:lnTo>
                  <a:lnTo>
                    <a:pt x="542" y="399"/>
                  </a:lnTo>
                  <a:lnTo>
                    <a:pt x="501" y="410"/>
                  </a:lnTo>
                  <a:lnTo>
                    <a:pt x="459" y="417"/>
                  </a:lnTo>
                  <a:lnTo>
                    <a:pt x="415" y="422"/>
                  </a:lnTo>
                  <a:lnTo>
                    <a:pt x="370" y="423"/>
                  </a:lnTo>
                  <a:lnTo>
                    <a:pt x="325" y="422"/>
                  </a:lnTo>
                  <a:lnTo>
                    <a:pt x="281" y="417"/>
                  </a:lnTo>
                  <a:lnTo>
                    <a:pt x="239" y="410"/>
                  </a:lnTo>
                  <a:lnTo>
                    <a:pt x="198" y="399"/>
                  </a:lnTo>
                  <a:lnTo>
                    <a:pt x="160" y="386"/>
                  </a:lnTo>
                  <a:lnTo>
                    <a:pt x="125" y="371"/>
                  </a:lnTo>
                  <a:lnTo>
                    <a:pt x="93" y="353"/>
                  </a:lnTo>
                  <a:lnTo>
                    <a:pt x="66" y="333"/>
                  </a:lnTo>
                  <a:lnTo>
                    <a:pt x="42" y="310"/>
                  </a:lnTo>
                  <a:lnTo>
                    <a:pt x="24" y="288"/>
                  </a:lnTo>
                  <a:lnTo>
                    <a:pt x="11" y="262"/>
                  </a:lnTo>
                  <a:lnTo>
                    <a:pt x="3" y="237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Rectangle 48"/>
            <p:cNvSpPr>
              <a:spLocks noChangeArrowheads="1"/>
            </p:cNvSpPr>
            <p:nvPr/>
          </p:nvSpPr>
          <p:spPr bwMode="auto">
            <a:xfrm>
              <a:off x="432" y="2736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阻塞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8" name="Rectangle 49"/>
            <p:cNvSpPr>
              <a:spLocks noChangeArrowheads="1"/>
            </p:cNvSpPr>
            <p:nvPr/>
          </p:nvSpPr>
          <p:spPr bwMode="auto">
            <a:xfrm>
              <a:off x="337" y="2958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79" name="Freeform 50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0" name="Freeform 51"/>
            <p:cNvSpPr/>
            <p:nvPr/>
          </p:nvSpPr>
          <p:spPr bwMode="auto">
            <a:xfrm>
              <a:off x="878" y="305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54 w 54"/>
                <a:gd name="T3" fmla="*/ 53 h 53"/>
                <a:gd name="T4" fmla="*/ 0 w 54"/>
                <a:gd name="T5" fmla="*/ 27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54" y="53"/>
                  </a:lnTo>
                  <a:lnTo>
                    <a:pt x="0" y="27"/>
                  </a:lnTo>
                  <a:lnTo>
                    <a:pt x="54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1" name="Line 52"/>
            <p:cNvSpPr>
              <a:spLocks noChangeShapeType="1"/>
            </p:cNvSpPr>
            <p:nvPr/>
          </p:nvSpPr>
          <p:spPr bwMode="auto">
            <a:xfrm flipV="1">
              <a:off x="932" y="3073"/>
              <a:ext cx="895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2" name="Freeform 53"/>
            <p:cNvSpPr/>
            <p:nvPr/>
          </p:nvSpPr>
          <p:spPr bwMode="auto">
            <a:xfrm>
              <a:off x="1095" y="2980"/>
              <a:ext cx="516" cy="186"/>
            </a:xfrm>
            <a:custGeom>
              <a:avLst/>
              <a:gdLst>
                <a:gd name="T0" fmla="*/ 0 w 516"/>
                <a:gd name="T1" fmla="*/ 186 h 186"/>
                <a:gd name="T2" fmla="*/ 516 w 516"/>
                <a:gd name="T3" fmla="*/ 183 h 186"/>
                <a:gd name="T4" fmla="*/ 515 w 516"/>
                <a:gd name="T5" fmla="*/ 0 h 186"/>
                <a:gd name="T6" fmla="*/ 0 w 516"/>
                <a:gd name="T7" fmla="*/ 3 h 186"/>
                <a:gd name="T8" fmla="*/ 0 w 516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6" h="186">
                  <a:moveTo>
                    <a:pt x="0" y="186"/>
                  </a:moveTo>
                  <a:lnTo>
                    <a:pt x="516" y="183"/>
                  </a:lnTo>
                  <a:lnTo>
                    <a:pt x="515" y="0"/>
                  </a:lnTo>
                  <a:lnTo>
                    <a:pt x="0" y="3"/>
                  </a:lnTo>
                  <a:lnTo>
                    <a:pt x="0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3" name="Rectangle 54"/>
            <p:cNvSpPr>
              <a:spLocks noChangeArrowheads="1"/>
            </p:cNvSpPr>
            <p:nvPr/>
          </p:nvSpPr>
          <p:spPr bwMode="auto">
            <a:xfrm rot="-60000">
              <a:off x="1106" y="29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4" name="Freeform 55"/>
            <p:cNvSpPr/>
            <p:nvPr/>
          </p:nvSpPr>
          <p:spPr bwMode="auto">
            <a:xfrm>
              <a:off x="1756" y="263"/>
              <a:ext cx="738" cy="422"/>
            </a:xfrm>
            <a:custGeom>
              <a:avLst/>
              <a:gdLst>
                <a:gd name="T0" fmla="*/ 0 w 738"/>
                <a:gd name="T1" fmla="*/ 211 h 422"/>
                <a:gd name="T2" fmla="*/ 3 w 738"/>
                <a:gd name="T3" fmla="*/ 186 h 422"/>
                <a:gd name="T4" fmla="*/ 11 w 738"/>
                <a:gd name="T5" fmla="*/ 160 h 422"/>
                <a:gd name="T6" fmla="*/ 24 w 738"/>
                <a:gd name="T7" fmla="*/ 135 h 422"/>
                <a:gd name="T8" fmla="*/ 42 w 738"/>
                <a:gd name="T9" fmla="*/ 112 h 422"/>
                <a:gd name="T10" fmla="*/ 66 w 738"/>
                <a:gd name="T11" fmla="*/ 90 h 422"/>
                <a:gd name="T12" fmla="*/ 93 w 738"/>
                <a:gd name="T13" fmla="*/ 70 h 422"/>
                <a:gd name="T14" fmla="*/ 125 w 738"/>
                <a:gd name="T15" fmla="*/ 52 h 422"/>
                <a:gd name="T16" fmla="*/ 160 w 738"/>
                <a:gd name="T17" fmla="*/ 36 h 422"/>
                <a:gd name="T18" fmla="*/ 198 w 738"/>
                <a:gd name="T19" fmla="*/ 24 h 422"/>
                <a:gd name="T20" fmla="*/ 239 w 738"/>
                <a:gd name="T21" fmla="*/ 12 h 422"/>
                <a:gd name="T22" fmla="*/ 281 w 738"/>
                <a:gd name="T23" fmla="*/ 5 h 422"/>
                <a:gd name="T24" fmla="*/ 325 w 738"/>
                <a:gd name="T25" fmla="*/ 1 h 422"/>
                <a:gd name="T26" fmla="*/ 370 w 738"/>
                <a:gd name="T27" fmla="*/ 0 h 422"/>
                <a:gd name="T28" fmla="*/ 413 w 738"/>
                <a:gd name="T29" fmla="*/ 1 h 422"/>
                <a:gd name="T30" fmla="*/ 458 w 738"/>
                <a:gd name="T31" fmla="*/ 5 h 422"/>
                <a:gd name="T32" fmla="*/ 500 w 738"/>
                <a:gd name="T33" fmla="*/ 12 h 422"/>
                <a:gd name="T34" fmla="*/ 541 w 738"/>
                <a:gd name="T35" fmla="*/ 24 h 422"/>
                <a:gd name="T36" fmla="*/ 579 w 738"/>
                <a:gd name="T37" fmla="*/ 36 h 422"/>
                <a:gd name="T38" fmla="*/ 614 w 738"/>
                <a:gd name="T39" fmla="*/ 52 h 422"/>
                <a:gd name="T40" fmla="*/ 645 w 738"/>
                <a:gd name="T41" fmla="*/ 70 h 422"/>
                <a:gd name="T42" fmla="*/ 673 w 738"/>
                <a:gd name="T43" fmla="*/ 90 h 422"/>
                <a:gd name="T44" fmla="*/ 696 w 738"/>
                <a:gd name="T45" fmla="*/ 112 h 422"/>
                <a:gd name="T46" fmla="*/ 714 w 738"/>
                <a:gd name="T47" fmla="*/ 135 h 422"/>
                <a:gd name="T48" fmla="*/ 728 w 738"/>
                <a:gd name="T49" fmla="*/ 160 h 422"/>
                <a:gd name="T50" fmla="*/ 735 w 738"/>
                <a:gd name="T51" fmla="*/ 186 h 422"/>
                <a:gd name="T52" fmla="*/ 738 w 738"/>
                <a:gd name="T53" fmla="*/ 211 h 422"/>
                <a:gd name="T54" fmla="*/ 735 w 738"/>
                <a:gd name="T55" fmla="*/ 236 h 422"/>
                <a:gd name="T56" fmla="*/ 728 w 738"/>
                <a:gd name="T57" fmla="*/ 262 h 422"/>
                <a:gd name="T58" fmla="*/ 714 w 738"/>
                <a:gd name="T59" fmla="*/ 286 h 422"/>
                <a:gd name="T60" fmla="*/ 696 w 738"/>
                <a:gd name="T61" fmla="*/ 308 h 422"/>
                <a:gd name="T62" fmla="*/ 673 w 738"/>
                <a:gd name="T63" fmla="*/ 331 h 422"/>
                <a:gd name="T64" fmla="*/ 645 w 738"/>
                <a:gd name="T65" fmla="*/ 350 h 422"/>
                <a:gd name="T66" fmla="*/ 614 w 738"/>
                <a:gd name="T67" fmla="*/ 369 h 422"/>
                <a:gd name="T68" fmla="*/ 579 w 738"/>
                <a:gd name="T69" fmla="*/ 384 h 422"/>
                <a:gd name="T70" fmla="*/ 541 w 738"/>
                <a:gd name="T71" fmla="*/ 398 h 422"/>
                <a:gd name="T72" fmla="*/ 500 w 738"/>
                <a:gd name="T73" fmla="*/ 408 h 422"/>
                <a:gd name="T74" fmla="*/ 458 w 738"/>
                <a:gd name="T75" fmla="*/ 415 h 422"/>
                <a:gd name="T76" fmla="*/ 413 w 738"/>
                <a:gd name="T77" fmla="*/ 421 h 422"/>
                <a:gd name="T78" fmla="*/ 370 w 738"/>
                <a:gd name="T79" fmla="*/ 422 h 422"/>
                <a:gd name="T80" fmla="*/ 325 w 738"/>
                <a:gd name="T81" fmla="*/ 421 h 422"/>
                <a:gd name="T82" fmla="*/ 281 w 738"/>
                <a:gd name="T83" fmla="*/ 415 h 422"/>
                <a:gd name="T84" fmla="*/ 239 w 738"/>
                <a:gd name="T85" fmla="*/ 408 h 422"/>
                <a:gd name="T86" fmla="*/ 198 w 738"/>
                <a:gd name="T87" fmla="*/ 398 h 422"/>
                <a:gd name="T88" fmla="*/ 160 w 738"/>
                <a:gd name="T89" fmla="*/ 384 h 422"/>
                <a:gd name="T90" fmla="*/ 125 w 738"/>
                <a:gd name="T91" fmla="*/ 369 h 422"/>
                <a:gd name="T92" fmla="*/ 93 w 738"/>
                <a:gd name="T93" fmla="*/ 350 h 422"/>
                <a:gd name="T94" fmla="*/ 66 w 738"/>
                <a:gd name="T95" fmla="*/ 331 h 422"/>
                <a:gd name="T96" fmla="*/ 42 w 738"/>
                <a:gd name="T97" fmla="*/ 308 h 422"/>
                <a:gd name="T98" fmla="*/ 24 w 738"/>
                <a:gd name="T99" fmla="*/ 286 h 422"/>
                <a:gd name="T100" fmla="*/ 11 w 738"/>
                <a:gd name="T101" fmla="*/ 262 h 422"/>
                <a:gd name="T102" fmla="*/ 3 w 738"/>
                <a:gd name="T103" fmla="*/ 236 h 422"/>
                <a:gd name="T104" fmla="*/ 0 w 738"/>
                <a:gd name="T105" fmla="*/ 211 h 42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8" h="422">
                  <a:moveTo>
                    <a:pt x="0" y="211"/>
                  </a:moveTo>
                  <a:lnTo>
                    <a:pt x="3" y="186"/>
                  </a:lnTo>
                  <a:lnTo>
                    <a:pt x="11" y="160"/>
                  </a:lnTo>
                  <a:lnTo>
                    <a:pt x="24" y="135"/>
                  </a:lnTo>
                  <a:lnTo>
                    <a:pt x="42" y="112"/>
                  </a:lnTo>
                  <a:lnTo>
                    <a:pt x="66" y="90"/>
                  </a:lnTo>
                  <a:lnTo>
                    <a:pt x="93" y="70"/>
                  </a:lnTo>
                  <a:lnTo>
                    <a:pt x="125" y="52"/>
                  </a:lnTo>
                  <a:lnTo>
                    <a:pt x="160" y="36"/>
                  </a:lnTo>
                  <a:lnTo>
                    <a:pt x="198" y="24"/>
                  </a:lnTo>
                  <a:lnTo>
                    <a:pt x="239" y="12"/>
                  </a:lnTo>
                  <a:lnTo>
                    <a:pt x="281" y="5"/>
                  </a:lnTo>
                  <a:lnTo>
                    <a:pt x="325" y="1"/>
                  </a:lnTo>
                  <a:lnTo>
                    <a:pt x="370" y="0"/>
                  </a:lnTo>
                  <a:lnTo>
                    <a:pt x="413" y="1"/>
                  </a:lnTo>
                  <a:lnTo>
                    <a:pt x="458" y="5"/>
                  </a:lnTo>
                  <a:lnTo>
                    <a:pt x="500" y="12"/>
                  </a:lnTo>
                  <a:lnTo>
                    <a:pt x="541" y="24"/>
                  </a:lnTo>
                  <a:lnTo>
                    <a:pt x="579" y="36"/>
                  </a:lnTo>
                  <a:lnTo>
                    <a:pt x="614" y="52"/>
                  </a:lnTo>
                  <a:lnTo>
                    <a:pt x="645" y="70"/>
                  </a:lnTo>
                  <a:lnTo>
                    <a:pt x="673" y="90"/>
                  </a:lnTo>
                  <a:lnTo>
                    <a:pt x="696" y="112"/>
                  </a:lnTo>
                  <a:lnTo>
                    <a:pt x="714" y="135"/>
                  </a:lnTo>
                  <a:lnTo>
                    <a:pt x="728" y="160"/>
                  </a:lnTo>
                  <a:lnTo>
                    <a:pt x="735" y="186"/>
                  </a:lnTo>
                  <a:lnTo>
                    <a:pt x="738" y="211"/>
                  </a:lnTo>
                  <a:lnTo>
                    <a:pt x="735" y="236"/>
                  </a:lnTo>
                  <a:lnTo>
                    <a:pt x="728" y="262"/>
                  </a:lnTo>
                  <a:lnTo>
                    <a:pt x="714" y="286"/>
                  </a:lnTo>
                  <a:lnTo>
                    <a:pt x="696" y="308"/>
                  </a:lnTo>
                  <a:lnTo>
                    <a:pt x="673" y="331"/>
                  </a:lnTo>
                  <a:lnTo>
                    <a:pt x="645" y="350"/>
                  </a:lnTo>
                  <a:lnTo>
                    <a:pt x="614" y="369"/>
                  </a:lnTo>
                  <a:lnTo>
                    <a:pt x="579" y="384"/>
                  </a:lnTo>
                  <a:lnTo>
                    <a:pt x="541" y="398"/>
                  </a:lnTo>
                  <a:lnTo>
                    <a:pt x="500" y="408"/>
                  </a:lnTo>
                  <a:lnTo>
                    <a:pt x="458" y="415"/>
                  </a:lnTo>
                  <a:lnTo>
                    <a:pt x="413" y="421"/>
                  </a:lnTo>
                  <a:lnTo>
                    <a:pt x="370" y="422"/>
                  </a:lnTo>
                  <a:lnTo>
                    <a:pt x="325" y="421"/>
                  </a:lnTo>
                  <a:lnTo>
                    <a:pt x="281" y="415"/>
                  </a:lnTo>
                  <a:lnTo>
                    <a:pt x="239" y="408"/>
                  </a:lnTo>
                  <a:lnTo>
                    <a:pt x="198" y="398"/>
                  </a:lnTo>
                  <a:lnTo>
                    <a:pt x="160" y="384"/>
                  </a:lnTo>
                  <a:lnTo>
                    <a:pt x="125" y="369"/>
                  </a:lnTo>
                  <a:lnTo>
                    <a:pt x="93" y="350"/>
                  </a:lnTo>
                  <a:lnTo>
                    <a:pt x="66" y="331"/>
                  </a:lnTo>
                  <a:lnTo>
                    <a:pt x="42" y="308"/>
                  </a:lnTo>
                  <a:lnTo>
                    <a:pt x="24" y="286"/>
                  </a:lnTo>
                  <a:lnTo>
                    <a:pt x="11" y="262"/>
                  </a:lnTo>
                  <a:lnTo>
                    <a:pt x="3" y="236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5" name="Rectangle 56"/>
            <p:cNvSpPr>
              <a:spLocks noChangeArrowheads="1"/>
            </p:cNvSpPr>
            <p:nvPr/>
          </p:nvSpPr>
          <p:spPr bwMode="auto">
            <a:xfrm>
              <a:off x="2020" y="395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新建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6" name="Freeform 57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7" name="Freeform 58"/>
            <p:cNvSpPr/>
            <p:nvPr/>
          </p:nvSpPr>
          <p:spPr bwMode="auto">
            <a:xfrm>
              <a:off x="556" y="1948"/>
              <a:ext cx="54" cy="52"/>
            </a:xfrm>
            <a:custGeom>
              <a:avLst/>
              <a:gdLst>
                <a:gd name="T0" fmla="*/ 54 w 54"/>
                <a:gd name="T1" fmla="*/ 52 h 52"/>
                <a:gd name="T2" fmla="*/ 0 w 54"/>
                <a:gd name="T3" fmla="*/ 52 h 52"/>
                <a:gd name="T4" fmla="*/ 27 w 54"/>
                <a:gd name="T5" fmla="*/ 0 h 52"/>
                <a:gd name="T6" fmla="*/ 54 w 54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2">
                  <a:moveTo>
                    <a:pt x="54" y="52"/>
                  </a:moveTo>
                  <a:lnTo>
                    <a:pt x="0" y="52"/>
                  </a:lnTo>
                  <a:lnTo>
                    <a:pt x="27" y="0"/>
                  </a:lnTo>
                  <a:lnTo>
                    <a:pt x="54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8" name="Line 59"/>
            <p:cNvSpPr>
              <a:spLocks noChangeShapeType="1"/>
            </p:cNvSpPr>
            <p:nvPr/>
          </p:nvSpPr>
          <p:spPr bwMode="auto">
            <a:xfrm flipV="1">
              <a:off x="583" y="2000"/>
              <a:ext cx="1" cy="7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9" name="Rectangle 60"/>
            <p:cNvSpPr>
              <a:spLocks noChangeArrowheads="1"/>
            </p:cNvSpPr>
            <p:nvPr/>
          </p:nvSpPr>
          <p:spPr bwMode="auto">
            <a:xfrm>
              <a:off x="404" y="2122"/>
              <a:ext cx="352" cy="4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190" name="Rectangle 61"/>
            <p:cNvSpPr>
              <a:spLocks noChangeArrowheads="1"/>
            </p:cNvSpPr>
            <p:nvPr/>
          </p:nvSpPr>
          <p:spPr bwMode="auto">
            <a:xfrm rot="-5400000">
              <a:off x="368" y="2312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事件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1" name="Rectangle 62"/>
            <p:cNvSpPr>
              <a:spLocks noChangeArrowheads="1"/>
            </p:cNvSpPr>
            <p:nvPr/>
          </p:nvSpPr>
          <p:spPr bwMode="auto">
            <a:xfrm rot="-5400000">
              <a:off x="505" y="2316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发生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2" name="Freeform 63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3" name="Freeform 64"/>
            <p:cNvSpPr/>
            <p:nvPr/>
          </p:nvSpPr>
          <p:spPr bwMode="auto">
            <a:xfrm>
              <a:off x="1745" y="2833"/>
              <a:ext cx="53" cy="52"/>
            </a:xfrm>
            <a:custGeom>
              <a:avLst/>
              <a:gdLst>
                <a:gd name="T0" fmla="*/ 0 w 53"/>
                <a:gd name="T1" fmla="*/ 52 h 52"/>
                <a:gd name="T2" fmla="*/ 0 w 53"/>
                <a:gd name="T3" fmla="*/ 0 h 52"/>
                <a:gd name="T4" fmla="*/ 53 w 53"/>
                <a:gd name="T5" fmla="*/ 27 h 52"/>
                <a:gd name="T6" fmla="*/ 0 w 5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0" y="0"/>
                  </a:lnTo>
                  <a:lnTo>
                    <a:pt x="53" y="27"/>
                  </a:lnTo>
                  <a:lnTo>
                    <a:pt x="0" y="5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4" name="Line 65"/>
            <p:cNvSpPr>
              <a:spLocks noChangeShapeType="1"/>
            </p:cNvSpPr>
            <p:nvPr/>
          </p:nvSpPr>
          <p:spPr bwMode="auto">
            <a:xfrm>
              <a:off x="905" y="2849"/>
              <a:ext cx="840" cy="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5" name="Freeform 66"/>
            <p:cNvSpPr/>
            <p:nvPr/>
          </p:nvSpPr>
          <p:spPr bwMode="auto">
            <a:xfrm>
              <a:off x="1057" y="2757"/>
              <a:ext cx="588" cy="190"/>
            </a:xfrm>
            <a:custGeom>
              <a:avLst/>
              <a:gdLst>
                <a:gd name="T0" fmla="*/ 0 w 588"/>
                <a:gd name="T1" fmla="*/ 183 h 190"/>
                <a:gd name="T2" fmla="*/ 586 w 588"/>
                <a:gd name="T3" fmla="*/ 190 h 190"/>
                <a:gd name="T4" fmla="*/ 588 w 588"/>
                <a:gd name="T5" fmla="*/ 7 h 190"/>
                <a:gd name="T6" fmla="*/ 3 w 588"/>
                <a:gd name="T7" fmla="*/ 0 h 190"/>
                <a:gd name="T8" fmla="*/ 0 w 588"/>
                <a:gd name="T9" fmla="*/ 183 h 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90">
                  <a:moveTo>
                    <a:pt x="0" y="183"/>
                  </a:moveTo>
                  <a:lnTo>
                    <a:pt x="586" y="190"/>
                  </a:lnTo>
                  <a:lnTo>
                    <a:pt x="588" y="7"/>
                  </a:lnTo>
                  <a:lnTo>
                    <a:pt x="3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6" name="Rectangle 67"/>
            <p:cNvSpPr>
              <a:spLocks noChangeArrowheads="1"/>
            </p:cNvSpPr>
            <p:nvPr/>
          </p:nvSpPr>
          <p:spPr bwMode="auto">
            <a:xfrm>
              <a:off x="1070" y="2773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97" name="Freeform 68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8" name="Freeform 69"/>
            <p:cNvSpPr/>
            <p:nvPr/>
          </p:nvSpPr>
          <p:spPr bwMode="auto">
            <a:xfrm>
              <a:off x="866" y="1827"/>
              <a:ext cx="53" cy="54"/>
            </a:xfrm>
            <a:custGeom>
              <a:avLst/>
              <a:gdLst>
                <a:gd name="T0" fmla="*/ 52 w 53"/>
                <a:gd name="T1" fmla="*/ 0 h 54"/>
                <a:gd name="T2" fmla="*/ 53 w 53"/>
                <a:gd name="T3" fmla="*/ 54 h 54"/>
                <a:gd name="T4" fmla="*/ 0 w 53"/>
                <a:gd name="T5" fmla="*/ 27 h 54"/>
                <a:gd name="T6" fmla="*/ 52 w 53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54">
                  <a:moveTo>
                    <a:pt x="52" y="0"/>
                  </a:moveTo>
                  <a:lnTo>
                    <a:pt x="53" y="54"/>
                  </a:lnTo>
                  <a:lnTo>
                    <a:pt x="0" y="27"/>
                  </a:lnTo>
                  <a:lnTo>
                    <a:pt x="5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9" name="Line 70"/>
            <p:cNvSpPr>
              <a:spLocks noChangeShapeType="1"/>
            </p:cNvSpPr>
            <p:nvPr/>
          </p:nvSpPr>
          <p:spPr bwMode="auto">
            <a:xfrm flipV="1">
              <a:off x="918" y="1850"/>
              <a:ext cx="895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0" name="Freeform 71"/>
            <p:cNvSpPr/>
            <p:nvPr/>
          </p:nvSpPr>
          <p:spPr bwMode="auto">
            <a:xfrm>
              <a:off x="1081" y="1757"/>
              <a:ext cx="517" cy="186"/>
            </a:xfrm>
            <a:custGeom>
              <a:avLst/>
              <a:gdLst>
                <a:gd name="T0" fmla="*/ 1 w 517"/>
                <a:gd name="T1" fmla="*/ 186 h 186"/>
                <a:gd name="T2" fmla="*/ 517 w 517"/>
                <a:gd name="T3" fmla="*/ 183 h 186"/>
                <a:gd name="T4" fmla="*/ 516 w 517"/>
                <a:gd name="T5" fmla="*/ 0 h 186"/>
                <a:gd name="T6" fmla="*/ 0 w 517"/>
                <a:gd name="T7" fmla="*/ 2 h 186"/>
                <a:gd name="T8" fmla="*/ 1 w 517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7" h="186">
                  <a:moveTo>
                    <a:pt x="1" y="186"/>
                  </a:moveTo>
                  <a:lnTo>
                    <a:pt x="517" y="183"/>
                  </a:lnTo>
                  <a:lnTo>
                    <a:pt x="516" y="0"/>
                  </a:lnTo>
                  <a:lnTo>
                    <a:pt x="0" y="2"/>
                  </a:lnTo>
                  <a:lnTo>
                    <a:pt x="1" y="1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1" name="Rectangle 72"/>
            <p:cNvSpPr>
              <a:spLocks noChangeArrowheads="1"/>
            </p:cNvSpPr>
            <p:nvPr/>
          </p:nvSpPr>
          <p:spPr bwMode="auto">
            <a:xfrm rot="-60000">
              <a:off x="1092" y="1771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2" name="Freeform 73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3" name="Freeform 74"/>
            <p:cNvSpPr/>
            <p:nvPr/>
          </p:nvSpPr>
          <p:spPr bwMode="auto">
            <a:xfrm>
              <a:off x="1757" y="1604"/>
              <a:ext cx="52" cy="54"/>
            </a:xfrm>
            <a:custGeom>
              <a:avLst/>
              <a:gdLst>
                <a:gd name="T0" fmla="*/ 0 w 52"/>
                <a:gd name="T1" fmla="*/ 54 h 54"/>
                <a:gd name="T2" fmla="*/ 0 w 52"/>
                <a:gd name="T3" fmla="*/ 0 h 54"/>
                <a:gd name="T4" fmla="*/ 52 w 52"/>
                <a:gd name="T5" fmla="*/ 27 h 54"/>
                <a:gd name="T6" fmla="*/ 0 w 52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4">
                  <a:moveTo>
                    <a:pt x="0" y="54"/>
                  </a:moveTo>
                  <a:lnTo>
                    <a:pt x="0" y="0"/>
                  </a:lnTo>
                  <a:lnTo>
                    <a:pt x="52" y="27"/>
                  </a:lnTo>
                  <a:lnTo>
                    <a:pt x="0" y="5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4" name="Line 75"/>
            <p:cNvSpPr>
              <a:spLocks noChangeShapeType="1"/>
            </p:cNvSpPr>
            <p:nvPr/>
          </p:nvSpPr>
          <p:spPr bwMode="auto">
            <a:xfrm>
              <a:off x="904" y="1628"/>
              <a:ext cx="85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5" name="Freeform 76"/>
            <p:cNvSpPr/>
            <p:nvPr/>
          </p:nvSpPr>
          <p:spPr bwMode="auto">
            <a:xfrm>
              <a:off x="1062" y="1534"/>
              <a:ext cx="588" cy="186"/>
            </a:xfrm>
            <a:custGeom>
              <a:avLst/>
              <a:gdLst>
                <a:gd name="T0" fmla="*/ 0 w 588"/>
                <a:gd name="T1" fmla="*/ 183 h 186"/>
                <a:gd name="T2" fmla="*/ 587 w 588"/>
                <a:gd name="T3" fmla="*/ 186 h 186"/>
                <a:gd name="T4" fmla="*/ 588 w 588"/>
                <a:gd name="T5" fmla="*/ 3 h 186"/>
                <a:gd name="T6" fmla="*/ 2 w 588"/>
                <a:gd name="T7" fmla="*/ 0 h 186"/>
                <a:gd name="T8" fmla="*/ 0 w 588"/>
                <a:gd name="T9" fmla="*/ 183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186">
                  <a:moveTo>
                    <a:pt x="0" y="183"/>
                  </a:moveTo>
                  <a:lnTo>
                    <a:pt x="587" y="186"/>
                  </a:lnTo>
                  <a:lnTo>
                    <a:pt x="588" y="3"/>
                  </a:lnTo>
                  <a:lnTo>
                    <a:pt x="2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6" name="Rectangle 77"/>
            <p:cNvSpPr>
              <a:spLocks noChangeArrowheads="1"/>
            </p:cNvSpPr>
            <p:nvPr/>
          </p:nvSpPr>
          <p:spPr bwMode="auto">
            <a:xfrm>
              <a:off x="1075" y="1550"/>
              <a:ext cx="3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6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激活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07" name="Freeform 78"/>
            <p:cNvSpPr/>
            <p:nvPr/>
          </p:nvSpPr>
          <p:spPr bwMode="auto">
            <a:xfrm>
              <a:off x="2103" y="1472"/>
              <a:ext cx="54" cy="53"/>
            </a:xfrm>
            <a:custGeom>
              <a:avLst/>
              <a:gdLst>
                <a:gd name="T0" fmla="*/ 54 w 54"/>
                <a:gd name="T1" fmla="*/ 0 h 53"/>
                <a:gd name="T2" fmla="*/ 0 w 54"/>
                <a:gd name="T3" fmla="*/ 0 h 53"/>
                <a:gd name="T4" fmla="*/ 27 w 54"/>
                <a:gd name="T5" fmla="*/ 53 h 53"/>
                <a:gd name="T6" fmla="*/ 54 w 5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3">
                  <a:moveTo>
                    <a:pt x="54" y="0"/>
                  </a:moveTo>
                  <a:lnTo>
                    <a:pt x="0" y="0"/>
                  </a:lnTo>
                  <a:lnTo>
                    <a:pt x="27" y="53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8" name="Line 79"/>
            <p:cNvSpPr>
              <a:spLocks noChangeShapeType="1"/>
            </p:cNvSpPr>
            <p:nvPr/>
          </p:nvSpPr>
          <p:spPr bwMode="auto">
            <a:xfrm flipH="1">
              <a:off x="2134" y="14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9" name="Freeform 80"/>
            <p:cNvSpPr/>
            <p:nvPr/>
          </p:nvSpPr>
          <p:spPr bwMode="auto">
            <a:xfrm>
              <a:off x="2103" y="1472"/>
              <a:ext cx="17" cy="5"/>
            </a:xfrm>
            <a:custGeom>
              <a:avLst/>
              <a:gdLst>
                <a:gd name="T0" fmla="*/ 387 w 12"/>
                <a:gd name="T1" fmla="*/ 0 h 4"/>
                <a:gd name="T2" fmla="*/ 0 w 12"/>
                <a:gd name="T3" fmla="*/ 0 h 4"/>
                <a:gd name="T4" fmla="*/ 74 w 12"/>
                <a:gd name="T5" fmla="*/ 39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4">
                  <a:moveTo>
                    <a:pt x="12" y="0"/>
                  </a:moveTo>
                  <a:lnTo>
                    <a:pt x="0" y="0"/>
                  </a:lnTo>
                  <a:lnTo>
                    <a:pt x="2" y="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0" name="Line 81"/>
            <p:cNvSpPr>
              <a:spLocks noChangeShapeType="1"/>
            </p:cNvSpPr>
            <p:nvPr/>
          </p:nvSpPr>
          <p:spPr bwMode="auto">
            <a:xfrm>
              <a:off x="2112" y="1490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1" name="Freeform 82"/>
            <p:cNvSpPr/>
            <p:nvPr/>
          </p:nvSpPr>
          <p:spPr bwMode="auto">
            <a:xfrm>
              <a:off x="2128" y="1508"/>
              <a:ext cx="10" cy="17"/>
            </a:xfrm>
            <a:custGeom>
              <a:avLst/>
              <a:gdLst>
                <a:gd name="T0" fmla="*/ 0 w 7"/>
                <a:gd name="T1" fmla="*/ 327 h 12"/>
                <a:gd name="T2" fmla="*/ 1 w 7"/>
                <a:gd name="T3" fmla="*/ 387 h 12"/>
                <a:gd name="T4" fmla="*/ 244 w 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10"/>
                  </a:moveTo>
                  <a:lnTo>
                    <a:pt x="1" y="12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2" name="Line 83"/>
            <p:cNvSpPr>
              <a:spLocks noChangeShapeType="1"/>
            </p:cNvSpPr>
            <p:nvPr/>
          </p:nvSpPr>
          <p:spPr bwMode="auto">
            <a:xfrm flipV="1">
              <a:off x="2144" y="1476"/>
              <a:ext cx="11" cy="2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3" name="Line 84"/>
            <p:cNvSpPr>
              <a:spLocks noChangeShapeType="1"/>
            </p:cNvSpPr>
            <p:nvPr/>
          </p:nvSpPr>
          <p:spPr bwMode="auto">
            <a:xfrm>
              <a:off x="2126" y="68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4" name="Line 85"/>
            <p:cNvSpPr>
              <a:spLocks noChangeShapeType="1"/>
            </p:cNvSpPr>
            <p:nvPr/>
          </p:nvSpPr>
          <p:spPr bwMode="auto">
            <a:xfrm>
              <a:off x="2126" y="722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5" name="Line 86"/>
            <p:cNvSpPr>
              <a:spLocks noChangeShapeType="1"/>
            </p:cNvSpPr>
            <p:nvPr/>
          </p:nvSpPr>
          <p:spPr bwMode="auto">
            <a:xfrm>
              <a:off x="2126" y="75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6" name="Line 87"/>
            <p:cNvSpPr>
              <a:spLocks noChangeShapeType="1"/>
            </p:cNvSpPr>
            <p:nvPr/>
          </p:nvSpPr>
          <p:spPr bwMode="auto">
            <a:xfrm>
              <a:off x="2126" y="79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7" name="Line 88"/>
            <p:cNvSpPr>
              <a:spLocks noChangeShapeType="1"/>
            </p:cNvSpPr>
            <p:nvPr/>
          </p:nvSpPr>
          <p:spPr bwMode="auto">
            <a:xfrm>
              <a:off x="2127" y="83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8" name="Line 89"/>
            <p:cNvSpPr>
              <a:spLocks noChangeShapeType="1"/>
            </p:cNvSpPr>
            <p:nvPr/>
          </p:nvSpPr>
          <p:spPr bwMode="auto">
            <a:xfrm>
              <a:off x="2127" y="86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19" name="Line 90"/>
            <p:cNvSpPr>
              <a:spLocks noChangeShapeType="1"/>
            </p:cNvSpPr>
            <p:nvPr/>
          </p:nvSpPr>
          <p:spPr bwMode="auto">
            <a:xfrm>
              <a:off x="2127" y="90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0" name="Line 91"/>
            <p:cNvSpPr>
              <a:spLocks noChangeShapeType="1"/>
            </p:cNvSpPr>
            <p:nvPr/>
          </p:nvSpPr>
          <p:spPr bwMode="auto">
            <a:xfrm>
              <a:off x="2127" y="94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1" name="Line 92"/>
            <p:cNvSpPr>
              <a:spLocks noChangeShapeType="1"/>
            </p:cNvSpPr>
            <p:nvPr/>
          </p:nvSpPr>
          <p:spPr bwMode="auto">
            <a:xfrm>
              <a:off x="2127" y="979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2" name="Line 93"/>
            <p:cNvSpPr>
              <a:spLocks noChangeShapeType="1"/>
            </p:cNvSpPr>
            <p:nvPr/>
          </p:nvSpPr>
          <p:spPr bwMode="auto">
            <a:xfrm>
              <a:off x="2127" y="101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3" name="Line 94"/>
            <p:cNvSpPr>
              <a:spLocks noChangeShapeType="1"/>
            </p:cNvSpPr>
            <p:nvPr/>
          </p:nvSpPr>
          <p:spPr bwMode="auto">
            <a:xfrm>
              <a:off x="2127" y="105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4" name="Line 95"/>
            <p:cNvSpPr>
              <a:spLocks noChangeShapeType="1"/>
            </p:cNvSpPr>
            <p:nvPr/>
          </p:nvSpPr>
          <p:spPr bwMode="auto">
            <a:xfrm>
              <a:off x="2128" y="108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5" name="Line 96"/>
            <p:cNvSpPr>
              <a:spLocks noChangeShapeType="1"/>
            </p:cNvSpPr>
            <p:nvPr/>
          </p:nvSpPr>
          <p:spPr bwMode="auto">
            <a:xfrm>
              <a:off x="2128" y="112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6" name="Line 97"/>
            <p:cNvSpPr>
              <a:spLocks noChangeShapeType="1"/>
            </p:cNvSpPr>
            <p:nvPr/>
          </p:nvSpPr>
          <p:spPr bwMode="auto">
            <a:xfrm>
              <a:off x="2128" y="116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7" name="Line 98"/>
            <p:cNvSpPr>
              <a:spLocks noChangeShapeType="1"/>
            </p:cNvSpPr>
            <p:nvPr/>
          </p:nvSpPr>
          <p:spPr bwMode="auto">
            <a:xfrm>
              <a:off x="2128" y="119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8" name="Line 99"/>
            <p:cNvSpPr>
              <a:spLocks noChangeShapeType="1"/>
            </p:cNvSpPr>
            <p:nvPr/>
          </p:nvSpPr>
          <p:spPr bwMode="auto">
            <a:xfrm>
              <a:off x="2128" y="123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29" name="Line 100"/>
            <p:cNvSpPr>
              <a:spLocks noChangeShapeType="1"/>
            </p:cNvSpPr>
            <p:nvPr/>
          </p:nvSpPr>
          <p:spPr bwMode="auto">
            <a:xfrm>
              <a:off x="2128" y="127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0" name="Line 101"/>
            <p:cNvSpPr>
              <a:spLocks noChangeShapeType="1"/>
            </p:cNvSpPr>
            <p:nvPr/>
          </p:nvSpPr>
          <p:spPr bwMode="auto">
            <a:xfrm>
              <a:off x="2128" y="130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1" name="Line 102"/>
            <p:cNvSpPr>
              <a:spLocks noChangeShapeType="1"/>
            </p:cNvSpPr>
            <p:nvPr/>
          </p:nvSpPr>
          <p:spPr bwMode="auto">
            <a:xfrm>
              <a:off x="2130" y="1345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2" name="Line 103"/>
            <p:cNvSpPr>
              <a:spLocks noChangeShapeType="1"/>
            </p:cNvSpPr>
            <p:nvPr/>
          </p:nvSpPr>
          <p:spPr bwMode="auto">
            <a:xfrm>
              <a:off x="2130" y="1382"/>
              <a:ext cx="1" cy="2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3" name="Line 104"/>
            <p:cNvSpPr>
              <a:spLocks noChangeShapeType="1"/>
            </p:cNvSpPr>
            <p:nvPr/>
          </p:nvSpPr>
          <p:spPr bwMode="auto">
            <a:xfrm>
              <a:off x="2130" y="1418"/>
              <a:ext cx="1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4" name="Line 105"/>
            <p:cNvSpPr>
              <a:spLocks noChangeShapeType="1"/>
            </p:cNvSpPr>
            <p:nvPr/>
          </p:nvSpPr>
          <p:spPr bwMode="auto">
            <a:xfrm>
              <a:off x="2130" y="1455"/>
              <a:ext cx="1" cy="17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5" name="Freeform 106"/>
            <p:cNvSpPr/>
            <p:nvPr/>
          </p:nvSpPr>
          <p:spPr bwMode="auto">
            <a:xfrm>
              <a:off x="2044" y="945"/>
              <a:ext cx="160" cy="321"/>
            </a:xfrm>
            <a:custGeom>
              <a:avLst/>
              <a:gdLst>
                <a:gd name="T0" fmla="*/ 160 w 160"/>
                <a:gd name="T1" fmla="*/ 320 h 321"/>
                <a:gd name="T2" fmla="*/ 159 w 160"/>
                <a:gd name="T3" fmla="*/ 0 h 321"/>
                <a:gd name="T4" fmla="*/ 0 w 160"/>
                <a:gd name="T5" fmla="*/ 1 h 321"/>
                <a:gd name="T6" fmla="*/ 3 w 160"/>
                <a:gd name="T7" fmla="*/ 321 h 321"/>
                <a:gd name="T8" fmla="*/ 160 w 160"/>
                <a:gd name="T9" fmla="*/ 320 h 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21">
                  <a:moveTo>
                    <a:pt x="160" y="320"/>
                  </a:moveTo>
                  <a:lnTo>
                    <a:pt x="159" y="0"/>
                  </a:lnTo>
                  <a:lnTo>
                    <a:pt x="0" y="1"/>
                  </a:lnTo>
                  <a:lnTo>
                    <a:pt x="3" y="321"/>
                  </a:lnTo>
                  <a:lnTo>
                    <a:pt x="16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6" name="Rectangle 107"/>
            <p:cNvSpPr>
              <a:spLocks noChangeArrowheads="1"/>
            </p:cNvSpPr>
            <p:nvPr/>
          </p:nvSpPr>
          <p:spPr bwMode="auto">
            <a:xfrm rot="-5460000">
              <a:off x="1949" y="1043"/>
              <a:ext cx="32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000">
                  <a:solidFill>
                    <a:schemeClr val="tx1"/>
                  </a:solidFill>
                  <a:ea typeface="黑体" panose="02010609060101010101" pitchFamily="49" charset="-122"/>
                </a:rPr>
                <a:t>允许进入</a:t>
              </a:r>
              <a:endParaRPr kumimoji="1" lang="zh-CN" altLang="en-US" sz="1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237" name="Freeform 108"/>
            <p:cNvSpPr/>
            <p:nvPr/>
          </p:nvSpPr>
          <p:spPr bwMode="auto">
            <a:xfrm>
              <a:off x="764" y="1514"/>
              <a:ext cx="58" cy="51"/>
            </a:xfrm>
            <a:custGeom>
              <a:avLst/>
              <a:gdLst>
                <a:gd name="T0" fmla="*/ 52 w 58"/>
                <a:gd name="T1" fmla="*/ 25 h 51"/>
                <a:gd name="T2" fmla="*/ 58 w 58"/>
                <a:gd name="T3" fmla="*/ 51 h 51"/>
                <a:gd name="T4" fmla="*/ 0 w 58"/>
                <a:gd name="T5" fmla="*/ 38 h 51"/>
                <a:gd name="T6" fmla="*/ 45 w 58"/>
                <a:gd name="T7" fmla="*/ 0 h 51"/>
                <a:gd name="T8" fmla="*/ 52 w 58"/>
                <a:gd name="T9" fmla="*/ 25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1">
                  <a:moveTo>
                    <a:pt x="52" y="25"/>
                  </a:moveTo>
                  <a:lnTo>
                    <a:pt x="58" y="51"/>
                  </a:lnTo>
                  <a:lnTo>
                    <a:pt x="0" y="38"/>
                  </a:lnTo>
                  <a:lnTo>
                    <a:pt x="45" y="0"/>
                  </a:lnTo>
                  <a:lnTo>
                    <a:pt x="52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8" name="Line 109"/>
            <p:cNvSpPr>
              <a:spLocks noChangeShapeType="1"/>
            </p:cNvSpPr>
            <p:nvPr/>
          </p:nvSpPr>
          <p:spPr bwMode="auto">
            <a:xfrm flipV="1">
              <a:off x="816" y="1534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39" name="Line 110"/>
            <p:cNvSpPr>
              <a:spLocks noChangeShapeType="1"/>
            </p:cNvSpPr>
            <p:nvPr/>
          </p:nvSpPr>
          <p:spPr bwMode="auto">
            <a:xfrm flipV="1">
              <a:off x="853" y="1525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0" name="Line 111"/>
            <p:cNvSpPr>
              <a:spLocks noChangeShapeType="1"/>
            </p:cNvSpPr>
            <p:nvPr/>
          </p:nvSpPr>
          <p:spPr bwMode="auto">
            <a:xfrm flipV="1">
              <a:off x="888" y="1517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1" name="Line 112"/>
            <p:cNvSpPr>
              <a:spLocks noChangeShapeType="1"/>
            </p:cNvSpPr>
            <p:nvPr/>
          </p:nvSpPr>
          <p:spPr bwMode="auto">
            <a:xfrm flipV="1">
              <a:off x="923" y="1508"/>
              <a:ext cx="21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2" name="Freeform 113"/>
            <p:cNvSpPr/>
            <p:nvPr/>
          </p:nvSpPr>
          <p:spPr bwMode="auto">
            <a:xfrm>
              <a:off x="958" y="1500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529 w 16"/>
                <a:gd name="T3" fmla="*/ 0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4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3" name="Line 114"/>
            <p:cNvSpPr>
              <a:spLocks noChangeShapeType="1"/>
            </p:cNvSpPr>
            <p:nvPr/>
          </p:nvSpPr>
          <p:spPr bwMode="auto">
            <a:xfrm flipV="1">
              <a:off x="995" y="1492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4" name="Line 115"/>
            <p:cNvSpPr>
              <a:spLocks noChangeShapeType="1"/>
            </p:cNvSpPr>
            <p:nvPr/>
          </p:nvSpPr>
          <p:spPr bwMode="auto">
            <a:xfrm flipV="1">
              <a:off x="1032" y="1484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5" name="Line 116"/>
            <p:cNvSpPr>
              <a:spLocks noChangeShapeType="1"/>
            </p:cNvSpPr>
            <p:nvPr/>
          </p:nvSpPr>
          <p:spPr bwMode="auto">
            <a:xfrm flipV="1">
              <a:off x="1068" y="147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6" name="Line 117"/>
            <p:cNvSpPr>
              <a:spLocks noChangeShapeType="1"/>
            </p:cNvSpPr>
            <p:nvPr/>
          </p:nvSpPr>
          <p:spPr bwMode="auto">
            <a:xfrm flipV="1">
              <a:off x="1105" y="1469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7" name="Line 118"/>
            <p:cNvSpPr>
              <a:spLocks noChangeShapeType="1"/>
            </p:cNvSpPr>
            <p:nvPr/>
          </p:nvSpPr>
          <p:spPr bwMode="auto">
            <a:xfrm flipV="1">
              <a:off x="1141" y="1462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8" name="Line 119"/>
            <p:cNvSpPr>
              <a:spLocks noChangeShapeType="1"/>
            </p:cNvSpPr>
            <p:nvPr/>
          </p:nvSpPr>
          <p:spPr bwMode="auto">
            <a:xfrm flipV="1">
              <a:off x="1178" y="1456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49" name="Line 120"/>
            <p:cNvSpPr>
              <a:spLocks noChangeShapeType="1"/>
            </p:cNvSpPr>
            <p:nvPr/>
          </p:nvSpPr>
          <p:spPr bwMode="auto">
            <a:xfrm flipV="1">
              <a:off x="1214" y="1449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0" name="Line 121"/>
            <p:cNvSpPr>
              <a:spLocks noChangeShapeType="1"/>
            </p:cNvSpPr>
            <p:nvPr/>
          </p:nvSpPr>
          <p:spPr bwMode="auto">
            <a:xfrm flipV="1">
              <a:off x="1251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1" name="Freeform 122"/>
            <p:cNvSpPr/>
            <p:nvPr/>
          </p:nvSpPr>
          <p:spPr bwMode="auto">
            <a:xfrm>
              <a:off x="1287" y="1437"/>
              <a:ext cx="23" cy="4"/>
            </a:xfrm>
            <a:custGeom>
              <a:avLst/>
              <a:gdLst>
                <a:gd name="T0" fmla="*/ 0 w 16"/>
                <a:gd name="T1" fmla="*/ 49 h 3"/>
                <a:gd name="T2" fmla="*/ 447 w 16"/>
                <a:gd name="T3" fmla="*/ 1 h 3"/>
                <a:gd name="T4" fmla="*/ 604 w 16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3"/>
                  </a:moveTo>
                  <a:lnTo>
                    <a:pt x="12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2" name="Line 123"/>
            <p:cNvSpPr>
              <a:spLocks noChangeShapeType="1"/>
            </p:cNvSpPr>
            <p:nvPr/>
          </p:nvSpPr>
          <p:spPr bwMode="auto">
            <a:xfrm flipV="1">
              <a:off x="1324" y="1432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3" name="Line 124"/>
            <p:cNvSpPr>
              <a:spLocks noChangeShapeType="1"/>
            </p:cNvSpPr>
            <p:nvPr/>
          </p:nvSpPr>
          <p:spPr bwMode="auto">
            <a:xfrm flipV="1">
              <a:off x="1361" y="142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4" name="Line 125"/>
            <p:cNvSpPr>
              <a:spLocks noChangeShapeType="1"/>
            </p:cNvSpPr>
            <p:nvPr/>
          </p:nvSpPr>
          <p:spPr bwMode="auto">
            <a:xfrm flipV="1">
              <a:off x="1397" y="142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5" name="Line 126"/>
            <p:cNvSpPr>
              <a:spLocks noChangeShapeType="1"/>
            </p:cNvSpPr>
            <p:nvPr/>
          </p:nvSpPr>
          <p:spPr bwMode="auto">
            <a:xfrm flipV="1">
              <a:off x="1434" y="1415"/>
              <a:ext cx="22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6" name="Line 127"/>
            <p:cNvSpPr>
              <a:spLocks noChangeShapeType="1"/>
            </p:cNvSpPr>
            <p:nvPr/>
          </p:nvSpPr>
          <p:spPr bwMode="auto">
            <a:xfrm flipV="1">
              <a:off x="1470" y="1411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7" name="Line 128"/>
            <p:cNvSpPr>
              <a:spLocks noChangeShapeType="1"/>
            </p:cNvSpPr>
            <p:nvPr/>
          </p:nvSpPr>
          <p:spPr bwMode="auto">
            <a:xfrm flipV="1">
              <a:off x="1507" y="1407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8" name="Line 129"/>
            <p:cNvSpPr>
              <a:spLocks noChangeShapeType="1"/>
            </p:cNvSpPr>
            <p:nvPr/>
          </p:nvSpPr>
          <p:spPr bwMode="auto">
            <a:xfrm flipV="1">
              <a:off x="154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59" name="Line 130"/>
            <p:cNvSpPr>
              <a:spLocks noChangeShapeType="1"/>
            </p:cNvSpPr>
            <p:nvPr/>
          </p:nvSpPr>
          <p:spPr bwMode="auto">
            <a:xfrm flipV="1">
              <a:off x="1580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0" name="Freeform 131"/>
            <p:cNvSpPr/>
            <p:nvPr/>
          </p:nvSpPr>
          <p:spPr bwMode="auto">
            <a:xfrm>
              <a:off x="1617" y="1396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18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1" name="Line 132"/>
            <p:cNvSpPr>
              <a:spLocks noChangeShapeType="1"/>
            </p:cNvSpPr>
            <p:nvPr/>
          </p:nvSpPr>
          <p:spPr bwMode="auto">
            <a:xfrm flipV="1">
              <a:off x="1653" y="139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2" name="Line 133"/>
            <p:cNvSpPr>
              <a:spLocks noChangeShapeType="1"/>
            </p:cNvSpPr>
            <p:nvPr/>
          </p:nvSpPr>
          <p:spPr bwMode="auto">
            <a:xfrm flipV="1">
              <a:off x="1690" y="139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3" name="Line 134"/>
            <p:cNvSpPr>
              <a:spLocks noChangeShapeType="1"/>
            </p:cNvSpPr>
            <p:nvPr/>
          </p:nvSpPr>
          <p:spPr bwMode="auto">
            <a:xfrm flipV="1">
              <a:off x="1726" y="1387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4" name="Line 135"/>
            <p:cNvSpPr>
              <a:spLocks noChangeShapeType="1"/>
            </p:cNvSpPr>
            <p:nvPr/>
          </p:nvSpPr>
          <p:spPr bwMode="auto">
            <a:xfrm flipV="1">
              <a:off x="1763" y="1384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5" name="Freeform 136"/>
            <p:cNvSpPr/>
            <p:nvPr/>
          </p:nvSpPr>
          <p:spPr bwMode="auto">
            <a:xfrm>
              <a:off x="1799" y="1382"/>
              <a:ext cx="23" cy="1"/>
            </a:xfrm>
            <a:custGeom>
              <a:avLst/>
              <a:gdLst>
                <a:gd name="T0" fmla="*/ 0 w 16"/>
                <a:gd name="T1" fmla="*/ 1 h 1"/>
                <a:gd name="T2" fmla="*/ 1 w 16"/>
                <a:gd name="T3" fmla="*/ 1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" y="1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6" name="Line 137"/>
            <p:cNvSpPr>
              <a:spLocks noChangeShapeType="1"/>
            </p:cNvSpPr>
            <p:nvPr/>
          </p:nvSpPr>
          <p:spPr bwMode="auto">
            <a:xfrm flipV="1">
              <a:off x="1836" y="1380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7" name="Line 138"/>
            <p:cNvSpPr>
              <a:spLocks noChangeShapeType="1"/>
            </p:cNvSpPr>
            <p:nvPr/>
          </p:nvSpPr>
          <p:spPr bwMode="auto">
            <a:xfrm>
              <a:off x="1872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8" name="Line 139"/>
            <p:cNvSpPr>
              <a:spLocks noChangeShapeType="1"/>
            </p:cNvSpPr>
            <p:nvPr/>
          </p:nvSpPr>
          <p:spPr bwMode="auto">
            <a:xfrm flipV="1">
              <a:off x="2208" y="1344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9" name="Freeform 140"/>
            <p:cNvSpPr/>
            <p:nvPr/>
          </p:nvSpPr>
          <p:spPr bwMode="auto">
            <a:xfrm>
              <a:off x="1946" y="1375"/>
              <a:ext cx="22" cy="1"/>
            </a:xfrm>
            <a:custGeom>
              <a:avLst/>
              <a:gdLst>
                <a:gd name="T0" fmla="*/ 0 w 16"/>
                <a:gd name="T1" fmla="*/ 1 h 1"/>
                <a:gd name="T2" fmla="*/ 374 w 16"/>
                <a:gd name="T3" fmla="*/ 0 h 1"/>
                <a:gd name="T4" fmla="*/ 380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15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0" name="Line 141"/>
            <p:cNvSpPr>
              <a:spLocks noChangeShapeType="1"/>
            </p:cNvSpPr>
            <p:nvPr/>
          </p:nvSpPr>
          <p:spPr bwMode="auto">
            <a:xfrm>
              <a:off x="1982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1" name="Line 142"/>
            <p:cNvSpPr>
              <a:spLocks noChangeShapeType="1"/>
            </p:cNvSpPr>
            <p:nvPr/>
          </p:nvSpPr>
          <p:spPr bwMode="auto">
            <a:xfrm>
              <a:off x="2019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2" name="Line 143"/>
            <p:cNvSpPr>
              <a:spLocks noChangeShapeType="1"/>
            </p:cNvSpPr>
            <p:nvPr/>
          </p:nvSpPr>
          <p:spPr bwMode="auto">
            <a:xfrm>
              <a:off x="2055" y="1373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3" name="Line 144"/>
            <p:cNvSpPr>
              <a:spLocks noChangeShapeType="1"/>
            </p:cNvSpPr>
            <p:nvPr/>
          </p:nvSpPr>
          <p:spPr bwMode="auto">
            <a:xfrm>
              <a:off x="2092" y="1372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4" name="Freeform 145"/>
            <p:cNvSpPr/>
            <p:nvPr/>
          </p:nvSpPr>
          <p:spPr bwMode="auto">
            <a:xfrm>
              <a:off x="2128" y="1372"/>
              <a:ext cx="23" cy="1"/>
            </a:xfrm>
            <a:custGeom>
              <a:avLst/>
              <a:gdLst>
                <a:gd name="T0" fmla="*/ 0 w 16"/>
                <a:gd name="T1" fmla="*/ 0 h 1"/>
                <a:gd name="T2" fmla="*/ 116 w 16"/>
                <a:gd name="T3" fmla="*/ 0 h 1"/>
                <a:gd name="T4" fmla="*/ 604 w 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3" y="0"/>
                  </a:lnTo>
                  <a:lnTo>
                    <a:pt x="16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5" name="Line 146"/>
            <p:cNvSpPr>
              <a:spLocks noChangeShapeType="1"/>
            </p:cNvSpPr>
            <p:nvPr/>
          </p:nvSpPr>
          <p:spPr bwMode="auto">
            <a:xfrm>
              <a:off x="2165" y="1372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6" name="Line 147"/>
            <p:cNvSpPr>
              <a:spLocks noChangeShapeType="1"/>
            </p:cNvSpPr>
            <p:nvPr/>
          </p:nvSpPr>
          <p:spPr bwMode="auto">
            <a:xfrm>
              <a:off x="2202" y="1373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7" name="Line 148"/>
            <p:cNvSpPr>
              <a:spLocks noChangeShapeType="1"/>
            </p:cNvSpPr>
            <p:nvPr/>
          </p:nvSpPr>
          <p:spPr bwMode="auto">
            <a:xfrm>
              <a:off x="2238" y="1373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8" name="Line 149"/>
            <p:cNvSpPr>
              <a:spLocks noChangeShapeType="1"/>
            </p:cNvSpPr>
            <p:nvPr/>
          </p:nvSpPr>
          <p:spPr bwMode="auto">
            <a:xfrm>
              <a:off x="2275" y="1375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79" name="Line 150"/>
            <p:cNvSpPr>
              <a:spLocks noChangeShapeType="1"/>
            </p:cNvSpPr>
            <p:nvPr/>
          </p:nvSpPr>
          <p:spPr bwMode="auto">
            <a:xfrm>
              <a:off x="2311" y="1375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0" name="Line 151"/>
            <p:cNvSpPr>
              <a:spLocks noChangeShapeType="1"/>
            </p:cNvSpPr>
            <p:nvPr/>
          </p:nvSpPr>
          <p:spPr bwMode="auto">
            <a:xfrm>
              <a:off x="2348" y="1376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1" name="Line 152"/>
            <p:cNvSpPr>
              <a:spLocks noChangeShapeType="1"/>
            </p:cNvSpPr>
            <p:nvPr/>
          </p:nvSpPr>
          <p:spPr bwMode="auto">
            <a:xfrm>
              <a:off x="2384" y="1379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2" name="Line 153"/>
            <p:cNvSpPr>
              <a:spLocks noChangeShapeType="1"/>
            </p:cNvSpPr>
            <p:nvPr/>
          </p:nvSpPr>
          <p:spPr bwMode="auto">
            <a:xfrm>
              <a:off x="2421" y="138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3" name="Freeform 154"/>
            <p:cNvSpPr/>
            <p:nvPr/>
          </p:nvSpPr>
          <p:spPr bwMode="auto">
            <a:xfrm>
              <a:off x="2458" y="1382"/>
              <a:ext cx="22" cy="1"/>
            </a:xfrm>
            <a:custGeom>
              <a:avLst/>
              <a:gdLst>
                <a:gd name="T0" fmla="*/ 0 w 16"/>
                <a:gd name="T1" fmla="*/ 0 h 1"/>
                <a:gd name="T2" fmla="*/ 144 w 16"/>
                <a:gd name="T3" fmla="*/ 0 h 1"/>
                <a:gd name="T4" fmla="*/ 380 w 16"/>
                <a:gd name="T5" fmla="*/ 1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lnTo>
                    <a:pt x="6" y="0"/>
                  </a:lnTo>
                  <a:lnTo>
                    <a:pt x="16" y="1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4" name="Line 155"/>
            <p:cNvSpPr>
              <a:spLocks noChangeShapeType="1"/>
            </p:cNvSpPr>
            <p:nvPr/>
          </p:nvSpPr>
          <p:spPr bwMode="auto">
            <a:xfrm>
              <a:off x="2494" y="1384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5" name="Line 156"/>
            <p:cNvSpPr>
              <a:spLocks noChangeShapeType="1"/>
            </p:cNvSpPr>
            <p:nvPr/>
          </p:nvSpPr>
          <p:spPr bwMode="auto">
            <a:xfrm>
              <a:off x="2531" y="1387"/>
              <a:ext cx="22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6" name="Line 157"/>
            <p:cNvSpPr>
              <a:spLocks noChangeShapeType="1"/>
            </p:cNvSpPr>
            <p:nvPr/>
          </p:nvSpPr>
          <p:spPr bwMode="auto">
            <a:xfrm>
              <a:off x="2567" y="1389"/>
              <a:ext cx="23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7" name="Line 158"/>
            <p:cNvSpPr>
              <a:spLocks noChangeShapeType="1"/>
            </p:cNvSpPr>
            <p:nvPr/>
          </p:nvSpPr>
          <p:spPr bwMode="auto">
            <a:xfrm>
              <a:off x="2604" y="1391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8" name="Line 159"/>
            <p:cNvSpPr>
              <a:spLocks noChangeShapeType="1"/>
            </p:cNvSpPr>
            <p:nvPr/>
          </p:nvSpPr>
          <p:spPr bwMode="auto">
            <a:xfrm>
              <a:off x="2640" y="1396"/>
              <a:ext cx="2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89" name="Line 160"/>
            <p:cNvSpPr>
              <a:spLocks noChangeShapeType="1"/>
            </p:cNvSpPr>
            <p:nvPr/>
          </p:nvSpPr>
          <p:spPr bwMode="auto">
            <a:xfrm>
              <a:off x="2677" y="1400"/>
              <a:ext cx="2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0" name="Line 161"/>
            <p:cNvSpPr>
              <a:spLocks noChangeShapeType="1"/>
            </p:cNvSpPr>
            <p:nvPr/>
          </p:nvSpPr>
          <p:spPr bwMode="auto">
            <a:xfrm>
              <a:off x="2713" y="1403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1" name="Line 162"/>
            <p:cNvSpPr>
              <a:spLocks noChangeShapeType="1"/>
            </p:cNvSpPr>
            <p:nvPr/>
          </p:nvSpPr>
          <p:spPr bwMode="auto">
            <a:xfrm>
              <a:off x="2750" y="140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2" name="Freeform 163"/>
            <p:cNvSpPr/>
            <p:nvPr/>
          </p:nvSpPr>
          <p:spPr bwMode="auto">
            <a:xfrm>
              <a:off x="2787" y="1411"/>
              <a:ext cx="22" cy="3"/>
            </a:xfrm>
            <a:custGeom>
              <a:avLst/>
              <a:gdLst>
                <a:gd name="T0" fmla="*/ 0 w 16"/>
                <a:gd name="T1" fmla="*/ 0 h 2"/>
                <a:gd name="T2" fmla="*/ 198 w 16"/>
                <a:gd name="T3" fmla="*/ 93 h 2"/>
                <a:gd name="T4" fmla="*/ 380 w 16"/>
                <a:gd name="T5" fmla="*/ 14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lnTo>
                    <a:pt x="8" y="1"/>
                  </a:lnTo>
                  <a:lnTo>
                    <a:pt x="16" y="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3" name="Line 164"/>
            <p:cNvSpPr>
              <a:spLocks noChangeShapeType="1"/>
            </p:cNvSpPr>
            <p:nvPr/>
          </p:nvSpPr>
          <p:spPr bwMode="auto">
            <a:xfrm>
              <a:off x="2823" y="141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4" name="Line 165"/>
            <p:cNvSpPr>
              <a:spLocks noChangeShapeType="1"/>
            </p:cNvSpPr>
            <p:nvPr/>
          </p:nvSpPr>
          <p:spPr bwMode="auto">
            <a:xfrm>
              <a:off x="2860" y="142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5" name="Line 166"/>
            <p:cNvSpPr>
              <a:spLocks noChangeShapeType="1"/>
            </p:cNvSpPr>
            <p:nvPr/>
          </p:nvSpPr>
          <p:spPr bwMode="auto">
            <a:xfrm>
              <a:off x="2896" y="1427"/>
              <a:ext cx="23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6" name="Line 167"/>
            <p:cNvSpPr>
              <a:spLocks noChangeShapeType="1"/>
            </p:cNvSpPr>
            <p:nvPr/>
          </p:nvSpPr>
          <p:spPr bwMode="auto">
            <a:xfrm>
              <a:off x="2933" y="1432"/>
              <a:ext cx="22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7" name="Line 168"/>
            <p:cNvSpPr>
              <a:spLocks noChangeShapeType="1"/>
            </p:cNvSpPr>
            <p:nvPr/>
          </p:nvSpPr>
          <p:spPr bwMode="auto">
            <a:xfrm>
              <a:off x="2969" y="143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8" name="Line 169"/>
            <p:cNvSpPr>
              <a:spLocks noChangeShapeType="1"/>
            </p:cNvSpPr>
            <p:nvPr/>
          </p:nvSpPr>
          <p:spPr bwMode="auto">
            <a:xfrm>
              <a:off x="3006" y="1444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99" name="Line 170"/>
            <p:cNvSpPr>
              <a:spLocks noChangeShapeType="1"/>
            </p:cNvSpPr>
            <p:nvPr/>
          </p:nvSpPr>
          <p:spPr bwMode="auto">
            <a:xfrm>
              <a:off x="3043" y="1451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0" name="Line 171"/>
            <p:cNvSpPr>
              <a:spLocks noChangeShapeType="1"/>
            </p:cNvSpPr>
            <p:nvPr/>
          </p:nvSpPr>
          <p:spPr bwMode="auto">
            <a:xfrm>
              <a:off x="3079" y="1456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1" name="Freeform 172"/>
            <p:cNvSpPr/>
            <p:nvPr/>
          </p:nvSpPr>
          <p:spPr bwMode="auto">
            <a:xfrm>
              <a:off x="3116" y="1463"/>
              <a:ext cx="22" cy="5"/>
            </a:xfrm>
            <a:custGeom>
              <a:avLst/>
              <a:gdLst>
                <a:gd name="T0" fmla="*/ 0 w 16"/>
                <a:gd name="T1" fmla="*/ 0 h 3"/>
                <a:gd name="T2" fmla="*/ 180 w 16"/>
                <a:gd name="T3" fmla="*/ 172 h 3"/>
                <a:gd name="T4" fmla="*/ 380 w 16"/>
                <a:gd name="T5" fmla="*/ 478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lnTo>
                    <a:pt x="7" y="1"/>
                  </a:lnTo>
                  <a:lnTo>
                    <a:pt x="16" y="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2" name="Line 173"/>
            <p:cNvSpPr>
              <a:spLocks noChangeShapeType="1"/>
            </p:cNvSpPr>
            <p:nvPr/>
          </p:nvSpPr>
          <p:spPr bwMode="auto">
            <a:xfrm>
              <a:off x="3152" y="1470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3" name="Line 174"/>
            <p:cNvSpPr>
              <a:spLocks noChangeShapeType="1"/>
            </p:cNvSpPr>
            <p:nvPr/>
          </p:nvSpPr>
          <p:spPr bwMode="auto">
            <a:xfrm>
              <a:off x="3189" y="1477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4" name="Line 175"/>
            <p:cNvSpPr>
              <a:spLocks noChangeShapeType="1"/>
            </p:cNvSpPr>
            <p:nvPr/>
          </p:nvSpPr>
          <p:spPr bwMode="auto">
            <a:xfrm>
              <a:off x="3225" y="1486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5" name="Line 176"/>
            <p:cNvSpPr>
              <a:spLocks noChangeShapeType="1"/>
            </p:cNvSpPr>
            <p:nvPr/>
          </p:nvSpPr>
          <p:spPr bwMode="auto">
            <a:xfrm>
              <a:off x="3262" y="1493"/>
              <a:ext cx="22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6" name="Line 177"/>
            <p:cNvSpPr>
              <a:spLocks noChangeShapeType="1"/>
            </p:cNvSpPr>
            <p:nvPr/>
          </p:nvSpPr>
          <p:spPr bwMode="auto">
            <a:xfrm>
              <a:off x="3298" y="1501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7" name="Line 178"/>
            <p:cNvSpPr>
              <a:spLocks noChangeShapeType="1"/>
            </p:cNvSpPr>
            <p:nvPr/>
          </p:nvSpPr>
          <p:spPr bwMode="auto">
            <a:xfrm>
              <a:off x="3335" y="1510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8" name="Line 179"/>
            <p:cNvSpPr>
              <a:spLocks noChangeShapeType="1"/>
            </p:cNvSpPr>
            <p:nvPr/>
          </p:nvSpPr>
          <p:spPr bwMode="auto">
            <a:xfrm>
              <a:off x="3372" y="1518"/>
              <a:ext cx="22" cy="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09" name="Line 180"/>
            <p:cNvSpPr>
              <a:spLocks noChangeShapeType="1"/>
            </p:cNvSpPr>
            <p:nvPr/>
          </p:nvSpPr>
          <p:spPr bwMode="auto">
            <a:xfrm>
              <a:off x="3408" y="1527"/>
              <a:ext cx="23" cy="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0" name="Line 181"/>
            <p:cNvSpPr>
              <a:spLocks noChangeShapeType="1"/>
            </p:cNvSpPr>
            <p:nvPr/>
          </p:nvSpPr>
          <p:spPr bwMode="auto">
            <a:xfrm>
              <a:off x="3445" y="1535"/>
              <a:ext cx="5" cy="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1" name="Line 182"/>
            <p:cNvSpPr>
              <a:spLocks noChangeShapeType="1"/>
            </p:cNvSpPr>
            <p:nvPr/>
          </p:nvSpPr>
          <p:spPr bwMode="auto">
            <a:xfrm>
              <a:off x="816" y="1539"/>
              <a:ext cx="5" cy="2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2" name="Line 183"/>
            <p:cNvSpPr>
              <a:spLocks noChangeShapeType="1"/>
            </p:cNvSpPr>
            <p:nvPr/>
          </p:nvSpPr>
          <p:spPr bwMode="auto">
            <a:xfrm flipH="1" flipV="1">
              <a:off x="788" y="1558"/>
              <a:ext cx="23" cy="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3" name="Freeform 184"/>
            <p:cNvSpPr/>
            <p:nvPr/>
          </p:nvSpPr>
          <p:spPr bwMode="auto">
            <a:xfrm>
              <a:off x="764" y="1544"/>
              <a:ext cx="10" cy="11"/>
            </a:xfrm>
            <a:custGeom>
              <a:avLst/>
              <a:gdLst>
                <a:gd name="T0" fmla="*/ 244 w 7"/>
                <a:gd name="T1" fmla="*/ 198 h 8"/>
                <a:gd name="T2" fmla="*/ 0 w 7"/>
                <a:gd name="T3" fmla="*/ 144 h 8"/>
                <a:gd name="T4" fmla="*/ 244 w 7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7" y="8"/>
                  </a:moveTo>
                  <a:lnTo>
                    <a:pt x="0" y="6"/>
                  </a:lnTo>
                  <a:lnTo>
                    <a:pt x="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4" name="Line 185"/>
            <p:cNvSpPr>
              <a:spLocks noChangeShapeType="1"/>
            </p:cNvSpPr>
            <p:nvPr/>
          </p:nvSpPr>
          <p:spPr bwMode="auto">
            <a:xfrm flipV="1">
              <a:off x="785" y="1520"/>
              <a:ext cx="17" cy="1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5" name="Line 186"/>
            <p:cNvSpPr>
              <a:spLocks noChangeShapeType="1"/>
            </p:cNvSpPr>
            <p:nvPr/>
          </p:nvSpPr>
          <p:spPr bwMode="auto">
            <a:xfrm>
              <a:off x="811" y="1518"/>
              <a:ext cx="5" cy="2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16" name="Rectangle 187"/>
            <p:cNvSpPr>
              <a:spLocks noChangeArrowheads="1"/>
            </p:cNvSpPr>
            <p:nvPr/>
          </p:nvSpPr>
          <p:spPr bwMode="auto">
            <a:xfrm>
              <a:off x="2304" y="1296"/>
              <a:ext cx="437" cy="1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317" name="Rectangle 188"/>
            <p:cNvSpPr>
              <a:spLocks noChangeArrowheads="1"/>
            </p:cNvSpPr>
            <p:nvPr/>
          </p:nvSpPr>
          <p:spPr bwMode="auto">
            <a:xfrm>
              <a:off x="2352" y="1307"/>
              <a:ext cx="35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8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8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8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1" lang="zh-CN" altLang="en-US" sz="1300" i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挂起</a:t>
              </a:r>
              <a:endParaRPr kumimoji="1" lang="zh-CN" altLang="en-US" sz="2000">
                <a:solidFill>
                  <a:schemeClr val="tx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8132" name="Rectangle 18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itchFamily="2" charset="-122"/>
              </a:rPr>
              <a:t>挂起进程模型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5903" y="5290106"/>
            <a:ext cx="4631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为什么挂起了进程？</a:t>
            </a:r>
            <a:endParaRPr lang="en-US" altLang="zh-CN" dirty="0"/>
          </a:p>
          <a:p>
            <a:r>
              <a:rPr lang="zh-CN" altLang="en-US" dirty="0"/>
              <a:t>挂进的进程，数据去了哪里？</a:t>
            </a:r>
            <a:endParaRPr lang="en-US" altLang="zh-CN" dirty="0"/>
          </a:p>
          <a:p>
            <a:r>
              <a:rPr lang="zh-CN" altLang="en-US" dirty="0"/>
              <a:t>阻塞的进程，是不是所有的数据都在内存中？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文件的管理</a:t>
            </a:r>
            <a:endParaRPr lang="en-US" altLang="zh-CN" dirty="0"/>
          </a:p>
          <a:p>
            <a:pPr lvl="1"/>
            <a:r>
              <a:rPr lang="zh-CN" altLang="en-US" dirty="0"/>
              <a:t>链表型、树型</a:t>
            </a:r>
            <a:endParaRPr lang="en-US" altLang="zh-CN" dirty="0"/>
          </a:p>
          <a:p>
            <a:r>
              <a:rPr lang="zh-CN" altLang="en-US" dirty="0"/>
              <a:t>文件夹的管理</a:t>
            </a:r>
            <a:endParaRPr lang="en-US" altLang="zh-CN" dirty="0"/>
          </a:p>
          <a:p>
            <a:r>
              <a:rPr lang="zh-CN" altLang="en-US" dirty="0"/>
              <a:t>文件数据一致性</a:t>
            </a:r>
            <a:endParaRPr lang="en-US" altLang="zh-CN" dirty="0"/>
          </a:p>
          <a:p>
            <a:r>
              <a:rPr lang="en-US" altLang="zh-CN" dirty="0"/>
              <a:t>VFS</a:t>
            </a:r>
            <a:endParaRPr lang="en-US" altLang="zh-CN" dirty="0"/>
          </a:p>
          <a:p>
            <a:r>
              <a:rPr lang="zh-CN" altLang="en-US" dirty="0"/>
              <a:t>用户权限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itchFamily="2" charset="-122"/>
              </a:rPr>
              <a:t>Physical structure of file: link table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286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5A7262-84D8-4C3B-9CE5-354BF997B5E0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28678" name="Picture 8" descr="文件的链接表分配方式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1271588"/>
            <a:ext cx="7974012" cy="47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itchFamily="2" charset="-122"/>
              </a:rPr>
              <a:t>Physical structure of file: index table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07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B92BBD-1402-4085-8CAD-FF813EB263FE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8" name="Picture 11" descr="文件的索引表分配方式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428750"/>
            <a:ext cx="8497888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itchFamily="2" charset="-122"/>
              </a:rPr>
              <a:t>Summary of file physical structure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48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61E58E-960D-4F33-8182-68323C7FC770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ph idx="1"/>
          </p:nvPr>
        </p:nvGraphicFramePr>
        <p:xfrm>
          <a:off x="1738313" y="1571625"/>
          <a:ext cx="8642350" cy="4144992"/>
        </p:xfrm>
        <a:graphic>
          <a:graphicData uri="http://schemas.openxmlformats.org/drawingml/2006/table">
            <a:tbl>
              <a:tblPr/>
              <a:tblGrid>
                <a:gridCol w="1143008"/>
                <a:gridCol w="1017580"/>
                <a:gridCol w="2162175"/>
                <a:gridCol w="2159000"/>
                <a:gridCol w="2160587"/>
              </a:tblGrid>
              <a:tr h="6857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Continuous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Link table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Index table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57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media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tape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Unsupported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unsupported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573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disk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01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Access mode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Sequential &amp; random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sequential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Sequential &amp; random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57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Efficiency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Low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Middle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High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01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Application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To simple to be used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Not popular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anose="020B0604030504040204" pitchFamily="34" charset="0"/>
                          <a:ea typeface="宋体" pitchFamily="2" charset="-122"/>
                        </a:rPr>
                        <a:t>Widely used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232648" y="614432"/>
            <a:ext cx="3121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理解相应数据结构的原理</a:t>
            </a:r>
            <a:endParaRPr lang="en-US" altLang="zh-CN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推演文件系统访问磁盘的过程</a:t>
            </a:r>
            <a:endParaRPr lang="zh-CN" altLang="en-US" sz="20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文件系统与硬盘管理的结合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文件在逻辑上是树形的</a:t>
            </a:r>
            <a:endParaRPr lang="en-US" altLang="zh-CN" dirty="0"/>
          </a:p>
          <a:p>
            <a:r>
              <a:rPr lang="zh-CN" altLang="en-US" dirty="0"/>
              <a:t>文件在物理上是线性的</a:t>
            </a:r>
            <a:endParaRPr lang="en-US" altLang="zh-CN" dirty="0"/>
          </a:p>
          <a:p>
            <a:r>
              <a:rPr lang="zh-CN" altLang="en-US" dirty="0"/>
              <a:t>文件系统解决的是数据块在扇区和磁道上的分布</a:t>
            </a:r>
            <a:endParaRPr lang="en-US" altLang="zh-CN" dirty="0"/>
          </a:p>
          <a:p>
            <a:r>
              <a:rPr lang="zh-CN" altLang="en-US" dirty="0"/>
              <a:t>硬盘的调度算法是控制磁臂移动的</a:t>
            </a:r>
            <a:endParaRPr lang="en-US" altLang="zh-CN" dirty="0"/>
          </a:p>
          <a:p>
            <a:r>
              <a:rPr lang="zh-CN" altLang="en-US" dirty="0"/>
              <a:t>优化的目标：</a:t>
            </a:r>
            <a:endParaRPr lang="en-US" altLang="zh-CN" dirty="0"/>
          </a:p>
          <a:p>
            <a:pPr lvl="1"/>
            <a:r>
              <a:rPr lang="zh-CN" altLang="en-US" dirty="0"/>
              <a:t>减少磁盘读写次数</a:t>
            </a:r>
            <a:endParaRPr lang="en-US" altLang="zh-CN" dirty="0"/>
          </a:p>
          <a:p>
            <a:pPr lvl="1"/>
            <a:r>
              <a:rPr lang="zh-CN" altLang="en-US" dirty="0"/>
              <a:t>减少磁臂的移动</a:t>
            </a:r>
            <a:endParaRPr lang="zh-CN" altLang="en-US" dirty="0"/>
          </a:p>
        </p:txBody>
      </p:sp>
      <p:pic>
        <p:nvPicPr>
          <p:cNvPr id="4" name="Picture 2" descr="http://blog.chinaunix.net/attachment/201108/26/667478_1314329274Q57q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529" y="4001294"/>
            <a:ext cx="6276975" cy="22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存储体系结构的使用</a:t>
            </a:r>
            <a:endParaRPr lang="zh-CN" altLang="en-US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7017"/>
            <a:ext cx="10515600" cy="418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计算机世界的时间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123" y="1576243"/>
            <a:ext cx="6544482" cy="4351338"/>
          </a:xfr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2895600" y="513776"/>
            <a:ext cx="6324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latin typeface="宋体" pitchFamily="2" charset="-122"/>
              </a:rPr>
              <a:t>7.</a:t>
            </a:r>
            <a:r>
              <a:rPr lang="en-US" altLang="zh-CN" sz="3200">
                <a:latin typeface="Arial Black" panose="020B0A04020102020204" pitchFamily="34" charset="0"/>
              </a:rPr>
              <a:t> </a:t>
            </a:r>
            <a:r>
              <a:rPr lang="zh-CN" altLang="en-US" sz="3200">
                <a:latin typeface="Arial Black" panose="020B0A04020102020204" pitchFamily="34" charset="0"/>
              </a:rPr>
              <a:t>磁盘访问调度策略</a:t>
            </a:r>
            <a:endParaRPr lang="zh-CN" altLang="en-US" sz="3200">
              <a:latin typeface="Arial Black" panose="020B0A04020102020204" pitchFamily="34" charset="0"/>
            </a:endParaRP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2351089" y="1412876"/>
            <a:ext cx="7921625" cy="345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来自不同进程的磁盘</a:t>
            </a:r>
            <a:r>
              <a:rPr lang="en-US" altLang="zh-CN" sz="2400">
                <a:latin typeface="Times New Roman" panose="02020503050405090304" charset="0"/>
              </a:rPr>
              <a:t>I/O</a:t>
            </a:r>
            <a:r>
              <a:rPr lang="zh-CN" altLang="en-US" sz="2400">
                <a:latin typeface="Times New Roman" panose="02020503050405090304" charset="0"/>
              </a:rPr>
              <a:t>请求会构成一个随机分布的请求队列。对磁盘访问包含了三个因素：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１）磁头臂移到柱面的时间（寻道）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２）等待扇区到位时间（旋转延时）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　　３）数据传输时间</a:t>
            </a:r>
            <a:endParaRPr lang="zh-CN" altLang="en-US" sz="2400">
              <a:latin typeface="Times New Roman" panose="0202050305040509030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503050405090304" charset="0"/>
              </a:rPr>
              <a:t>磁盘调度的主要目标就是减少请求队列对应的平均柱面定位时间。</a:t>
            </a:r>
            <a:endParaRPr lang="zh-CN" altLang="en-US" sz="2400">
              <a:latin typeface="Times New Roman" panose="02020503050405090304" charset="0"/>
            </a:endParaRPr>
          </a:p>
        </p:txBody>
      </p:sp>
      <p:sp>
        <p:nvSpPr>
          <p:cNvPr id="88068" name="灯片编号占位符 1"/>
          <p:cNvSpPr txBox="1">
            <a:spLocks noGrp="1"/>
          </p:cNvSpPr>
          <p:nvPr/>
        </p:nvSpPr>
        <p:spPr bwMode="auto">
          <a:xfrm>
            <a:off x="7772400" y="6248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86EA7F95-7070-4B6A-BDA8-AAAEBE894656}" type="slidenum">
              <a:rPr lang="en-US" altLang="zh-CN" sz="1200">
                <a:latin typeface="Times New Roman" panose="02020503050405090304" charset="0"/>
              </a:rPr>
            </a:fld>
            <a:endParaRPr lang="en-US" altLang="zh-CN" sz="1200">
              <a:latin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2424113" y="1125539"/>
            <a:ext cx="74168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/>
              <a:t>先进先出算法（</a:t>
            </a:r>
            <a:r>
              <a:rPr lang="en-US" altLang="zh-CN" sz="2400"/>
              <a:t>FIFO</a:t>
            </a:r>
            <a:r>
              <a:rPr lang="zh-CN" altLang="en-US" sz="2400"/>
              <a:t>）：按进入队列的先后分配磁盘。体现公平。</a:t>
            </a:r>
            <a:endParaRPr lang="zh-CN" altLang="en-US" sz="24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/>
              <a:t>优先级算法（</a:t>
            </a:r>
            <a:r>
              <a:rPr lang="en-US" altLang="zh-CN" sz="2400"/>
              <a:t>PRI</a:t>
            </a:r>
            <a:r>
              <a:rPr lang="zh-CN" altLang="en-US" sz="2400"/>
              <a:t>）：按请求进程的优先级分配磁盘。满足进程性能需要。</a:t>
            </a:r>
            <a:endParaRPr lang="zh-CN" altLang="en-US" sz="24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/>
              <a:t>后进先出算法（</a:t>
            </a:r>
            <a:r>
              <a:rPr lang="en-US" altLang="zh-CN" sz="2400"/>
              <a:t>LIFO</a:t>
            </a:r>
            <a:r>
              <a:rPr lang="zh-CN" altLang="en-US" sz="2400"/>
              <a:t>）：后进入请求队列的进程先分配。符合局部性原理，可使资源利用率较高。</a:t>
            </a:r>
            <a:endParaRPr lang="zh-CN" altLang="en-US" sz="2400"/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2566988" y="476250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503050405090304" charset="0"/>
              </a:rPr>
              <a:t>算法描述：</a:t>
            </a:r>
            <a:endParaRPr lang="zh-CN" altLang="en-US" sz="2400" b="1">
              <a:latin typeface="Times New Roman" panose="02020503050405090304" charset="0"/>
            </a:endParaRPr>
          </a:p>
        </p:txBody>
      </p:sp>
      <p:sp>
        <p:nvSpPr>
          <p:cNvPr id="89092" name="灯片编号占位符 1"/>
          <p:cNvSpPr txBox="1">
            <a:spLocks noGrp="1"/>
          </p:cNvSpPr>
          <p:nvPr/>
        </p:nvSpPr>
        <p:spPr bwMode="auto">
          <a:xfrm>
            <a:off x="7772400" y="6248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BC4DFDF-38D1-47DD-B0B8-9B10B59AD66B}" type="slidenum">
              <a:rPr lang="en-US" altLang="zh-CN" sz="1200">
                <a:latin typeface="Times New Roman" panose="02020503050405090304" charset="0"/>
              </a:rPr>
            </a:fld>
            <a:endParaRPr lang="en-US" altLang="zh-CN" sz="1200">
              <a:latin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"/>
          <p:cNvSpPr>
            <a:spLocks noChangeArrowheads="1"/>
          </p:cNvSpPr>
          <p:nvPr/>
        </p:nvSpPr>
        <p:spPr bwMode="auto">
          <a:xfrm>
            <a:off x="2566990" y="7524740"/>
            <a:ext cx="7733207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MS PGothic"/>
                <a:ea typeface="MS PGothic" charset="0"/>
                <a:cs typeface="MS PGothic" charset="0"/>
                <a:hlinkClick r:id="rId1"/>
              </a:rPr>
              <a:t>http://cs.uttyler.edu/Faculty/Rainwater/COSC3355/Animations/diskschedulingfcfs.htm</a:t>
            </a:r>
            <a:endParaRPr lang="en-US" altLang="zh-CN" sz="1600" dirty="0">
              <a:solidFill>
                <a:srgbClr val="000099"/>
              </a:solidFill>
              <a:latin typeface="MS PGothic"/>
              <a:ea typeface="MS PGothic" charset="0"/>
              <a:cs typeface="MS PGothic" charset="0"/>
            </a:endParaRPr>
          </a:p>
        </p:txBody>
      </p:sp>
      <p:sp>
        <p:nvSpPr>
          <p:cNvPr id="6" name="Text Box 3"/>
          <p:cNvSpPr>
            <a:spLocks noChangeArrowheads="1"/>
          </p:cNvSpPr>
          <p:nvPr/>
        </p:nvSpPr>
        <p:spPr bwMode="auto">
          <a:xfrm>
            <a:off x="2855640" y="5813965"/>
            <a:ext cx="19816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zh-CN" altLang="en-US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合计磁头移动距离</a:t>
            </a: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=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61864" y="1700808"/>
            <a:ext cx="6609253" cy="349888"/>
            <a:chOff x="1237860" y="843558"/>
            <a:chExt cx="6609253" cy="349888"/>
          </a:xfrm>
        </p:grpSpPr>
        <p:sp>
          <p:nvSpPr>
            <p:cNvPr id="9" name="TextBox 8"/>
            <p:cNvSpPr txBox="1"/>
            <p:nvPr/>
          </p:nvSpPr>
          <p:spPr>
            <a:xfrm>
              <a:off x="1237860" y="854892"/>
              <a:ext cx="45143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磁盘访问序列 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= 98,183,37,122,14,124,65,67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18380" y="843558"/>
              <a:ext cx="1928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初始磁头位置：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77133" y="1995641"/>
            <a:ext cx="6967188" cy="556760"/>
            <a:chOff x="1053133" y="1138391"/>
            <a:chExt cx="6967188" cy="556760"/>
          </a:xfrm>
        </p:grpSpPr>
        <p:sp>
          <p:nvSpPr>
            <p:cNvPr id="11" name="TextBox 10"/>
            <p:cNvSpPr txBox="1"/>
            <p:nvPr/>
          </p:nvSpPr>
          <p:spPr>
            <a:xfrm>
              <a:off x="1053133" y="1138391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0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33364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33836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37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5160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53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6516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65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76439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67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21485" y="1138391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98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68974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122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34930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124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982527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183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55743" y="1138391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600" b="1" dirty="0">
                  <a:solidFill>
                    <a:srgbClr val="005072"/>
                  </a:solidFill>
                  <a:latin typeface="微软雅黑"/>
                  <a:ea typeface="微软雅黑"/>
                </a:rPr>
                <a:t>199</a:t>
              </a:r>
              <a:endParaRPr lang="zh-CN" altLang="en-US" sz="1600" b="1" dirty="0">
                <a:solidFill>
                  <a:srgbClr val="005072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741493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217340" y="1407151"/>
              <a:ext cx="0" cy="288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300689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532179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26236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535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426346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3366914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2462808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069357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658913" y="1407151"/>
              <a:ext cx="0" cy="144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5400000">
              <a:off x="4480172" y="-1711025"/>
              <a:ext cx="0" cy="6516000"/>
            </a:xfrm>
            <a:prstGeom prst="line">
              <a:avLst/>
            </a:prstGeom>
            <a:ln w="38100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接连接符 36"/>
          <p:cNvCxnSpPr/>
          <p:nvPr/>
        </p:nvCxnSpPr>
        <p:spPr>
          <a:xfrm>
            <a:off x="4577557" y="2560710"/>
            <a:ext cx="305927" cy="364234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883480" y="2968816"/>
            <a:ext cx="66866" cy="388176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4007768" y="3392162"/>
            <a:ext cx="942578" cy="180854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3182913" y="3604950"/>
            <a:ext cx="805240" cy="328106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182917" y="3975260"/>
            <a:ext cx="2874615" cy="381022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6096000" y="4356286"/>
            <a:ext cx="720080" cy="275995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817476" y="4645442"/>
            <a:ext cx="63100" cy="329108"/>
          </a:xfrm>
          <a:prstGeom prst="line">
            <a:avLst/>
          </a:prstGeom>
          <a:ln w="28575">
            <a:solidFill>
              <a:srgbClr val="00507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80769" y="5013372"/>
            <a:ext cx="1997920" cy="437417"/>
            <a:chOff x="3359480" y="4159451"/>
            <a:chExt cx="1997920" cy="437417"/>
          </a:xfrm>
        </p:grpSpPr>
        <p:cxnSp>
          <p:nvCxnSpPr>
            <p:cNvPr id="44" name="直接连接符 43"/>
            <p:cNvCxnSpPr>
              <a:endCxn id="45" idx="2"/>
            </p:cNvCxnSpPr>
            <p:nvPr/>
          </p:nvCxnSpPr>
          <p:spPr>
            <a:xfrm>
              <a:off x="3359480" y="4159451"/>
              <a:ext cx="1889920" cy="383417"/>
            </a:xfrm>
            <a:prstGeom prst="line">
              <a:avLst/>
            </a:prstGeom>
            <a:ln w="28575">
              <a:solidFill>
                <a:srgbClr val="005072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5249400" y="4488868"/>
              <a:ext cx="108000" cy="108000"/>
            </a:xfrm>
            <a:prstGeom prst="ellipse">
              <a:avLst/>
            </a:prstGeom>
            <a:solidFill>
              <a:srgbClr val="00507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46" name="Text Box 3"/>
          <p:cNvSpPr>
            <a:spLocks noChangeArrowheads="1"/>
          </p:cNvSpPr>
          <p:nvPr/>
        </p:nvSpPr>
        <p:spPr bwMode="auto">
          <a:xfrm>
            <a:off x="4663577" y="5826750"/>
            <a:ext cx="437941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12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7" name="Text Box 3"/>
          <p:cNvSpPr>
            <a:spLocks noChangeArrowheads="1"/>
          </p:cNvSpPr>
          <p:nvPr/>
        </p:nvSpPr>
        <p:spPr bwMode="auto">
          <a:xfrm>
            <a:off x="4913325" y="5824673"/>
            <a:ext cx="466794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8" name="Text Box 3"/>
          <p:cNvSpPr>
            <a:spLocks noChangeArrowheads="1"/>
          </p:cNvSpPr>
          <p:nvPr/>
        </p:nvSpPr>
        <p:spPr bwMode="auto">
          <a:xfrm>
            <a:off x="5199204" y="5824315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+30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9" name="Text Box 3"/>
          <p:cNvSpPr>
            <a:spLocks noChangeArrowheads="1"/>
          </p:cNvSpPr>
          <p:nvPr/>
        </p:nvSpPr>
        <p:spPr bwMode="auto">
          <a:xfrm>
            <a:off x="5606012" y="5822216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+23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0" name="Text Box 3"/>
          <p:cNvSpPr>
            <a:spLocks noChangeArrowheads="1"/>
          </p:cNvSpPr>
          <p:nvPr/>
        </p:nvSpPr>
        <p:spPr bwMode="auto">
          <a:xfrm>
            <a:off x="6022253" y="5820548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+84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1" name="Text Box 3"/>
          <p:cNvSpPr>
            <a:spLocks noChangeArrowheads="1"/>
          </p:cNvSpPr>
          <p:nvPr/>
        </p:nvSpPr>
        <p:spPr bwMode="auto">
          <a:xfrm>
            <a:off x="6425337" y="5814320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+24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2" name="Text Box 3"/>
          <p:cNvSpPr>
            <a:spLocks noChangeArrowheads="1"/>
          </p:cNvSpPr>
          <p:nvPr/>
        </p:nvSpPr>
        <p:spPr bwMode="auto">
          <a:xfrm>
            <a:off x="6832145" y="5810345"/>
            <a:ext cx="466794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+2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3" name="Text Box 3"/>
          <p:cNvSpPr>
            <a:spLocks noChangeArrowheads="1"/>
          </p:cNvSpPr>
          <p:nvPr/>
        </p:nvSpPr>
        <p:spPr bwMode="auto">
          <a:xfrm>
            <a:off x="7129799" y="5810248"/>
            <a:ext cx="593432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+59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4" name="Text Box 3"/>
          <p:cNvSpPr>
            <a:spLocks noChangeArrowheads="1"/>
          </p:cNvSpPr>
          <p:nvPr/>
        </p:nvSpPr>
        <p:spPr bwMode="auto">
          <a:xfrm>
            <a:off x="7563129" y="5808140"/>
            <a:ext cx="720069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charset="-122"/>
                <a:ea typeface="微软雅黑" charset="-122"/>
                <a:sym typeface="宋体" charset="0"/>
              </a:rPr>
              <a:t>=236</a:t>
            </a:r>
            <a:endParaRPr lang="zh-CN" altLang="en-US" sz="1600" b="1" dirty="0">
              <a:solidFill>
                <a:srgbClr val="11576A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SSTF</a:t>
            </a:r>
            <a:r>
              <a:rPr lang="zh-CN" altLang="en-US" dirty="0"/>
              <a:t>算法示例</a:t>
            </a:r>
            <a:endParaRPr lang="zh-CN" altLang="en-US" dirty="0"/>
          </a:p>
        </p:txBody>
      </p:sp>
      <p:sp>
        <p:nvSpPr>
          <p:cNvPr id="55" name="灯片编号占位符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981200" y="1063231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charset="-122"/>
                <a:ea typeface="微软雅黑" charset="-122"/>
              </a:defRPr>
            </a:lvl1pPr>
          </a:lstStyle>
          <a:p>
            <a:pPr algn="ctr">
              <a:spcBef>
                <a:spcPct val="0"/>
              </a:spcBef>
              <a:defRPr/>
            </a:pPr>
            <a:r>
              <a:rPr lang="zh-CN" altLang="en-US" dirty="0"/>
              <a:t>多种磁盘缓存位置</a:t>
            </a:r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5400000">
            <a:off x="5684656" y="2667226"/>
            <a:ext cx="2774348" cy="2160240"/>
            <a:chOff x="2051720" y="1491630"/>
            <a:chExt cx="2774348" cy="2160240"/>
          </a:xfrm>
        </p:grpSpPr>
        <p:sp>
          <p:nvSpPr>
            <p:cNvPr id="4" name="矩形 3"/>
            <p:cNvSpPr/>
            <p:nvPr/>
          </p:nvSpPr>
          <p:spPr>
            <a:xfrm>
              <a:off x="2051720" y="1491630"/>
              <a:ext cx="2160240" cy="2160240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244451" y="1697144"/>
              <a:ext cx="1772505" cy="1800200"/>
            </a:xfrm>
            <a:prstGeom prst="rect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233941" y="2067694"/>
              <a:ext cx="1772505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261496" y="2819304"/>
              <a:ext cx="176400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261496" y="3147814"/>
              <a:ext cx="176400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标题 1"/>
            <p:cNvSpPr txBox="1"/>
            <p:nvPr/>
          </p:nvSpPr>
          <p:spPr>
            <a:xfrm>
              <a:off x="2626222" y="1728674"/>
              <a:ext cx="129770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页面缓存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  <p:sp>
          <p:nvSpPr>
            <p:cNvPr id="11" name="标题 1"/>
            <p:cNvSpPr txBox="1"/>
            <p:nvPr/>
          </p:nvSpPr>
          <p:spPr>
            <a:xfrm rot="16200000">
              <a:off x="3754768" y="2416422"/>
              <a:ext cx="1800200" cy="342401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 algn="ctr">
                <a:spcBef>
                  <a:spcPct val="0"/>
                </a:spcBef>
                <a:defRPr/>
              </a:pPr>
              <a:r>
                <a:rPr lang="zh-CN" altLang="en-US" sz="1600" dirty="0"/>
                <a:t>内存</a:t>
              </a:r>
              <a:endParaRPr lang="zh-CN" altLang="en-US" sz="1600" dirty="0"/>
            </a:p>
          </p:txBody>
        </p:sp>
        <p:sp>
          <p:nvSpPr>
            <p:cNvPr id="12" name="标题 1"/>
            <p:cNvSpPr txBox="1"/>
            <p:nvPr/>
          </p:nvSpPr>
          <p:spPr>
            <a:xfrm>
              <a:off x="2297712" y="2808794"/>
              <a:ext cx="1704048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 algn="ctr"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文件系统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  <p:sp>
          <p:nvSpPr>
            <p:cNvPr id="13" name="标题 1"/>
            <p:cNvSpPr txBox="1"/>
            <p:nvPr/>
          </p:nvSpPr>
          <p:spPr>
            <a:xfrm>
              <a:off x="2417584" y="3147814"/>
              <a:ext cx="158417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 algn="ctr"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数据块缓存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042780" y="3291332"/>
            <a:ext cx="64807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923100" y="3292193"/>
            <a:ext cx="64807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8616280" y="3009734"/>
            <a:ext cx="864096" cy="948493"/>
            <a:chOff x="296260" y="2283718"/>
            <a:chExt cx="864096" cy="948493"/>
          </a:xfrm>
        </p:grpSpPr>
        <p:sp>
          <p:nvSpPr>
            <p:cNvPr id="17" name="标题 1"/>
            <p:cNvSpPr txBox="1"/>
            <p:nvPr/>
          </p:nvSpPr>
          <p:spPr>
            <a:xfrm>
              <a:off x="404272" y="2872171"/>
              <a:ext cx="648072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en-US" altLang="zh-CN" sz="1600" dirty="0"/>
                <a:t>CPU</a:t>
              </a:r>
              <a:endParaRPr lang="zh-CN" altLang="en-US" sz="16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296260" y="2283718"/>
              <a:ext cx="864096" cy="547658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890652" y="2824205"/>
            <a:ext cx="1224136" cy="1263052"/>
            <a:chOff x="5065546" y="1965718"/>
            <a:chExt cx="1224136" cy="1263052"/>
          </a:xfrm>
        </p:grpSpPr>
        <p:sp>
          <p:nvSpPr>
            <p:cNvPr id="16" name="矩形 15"/>
            <p:cNvSpPr/>
            <p:nvPr/>
          </p:nvSpPr>
          <p:spPr>
            <a:xfrm>
              <a:off x="5107586" y="1965718"/>
              <a:ext cx="1080120" cy="894064"/>
            </a:xfrm>
            <a:prstGeom prst="rect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273969" y="2109734"/>
              <a:ext cx="739754" cy="627052"/>
            </a:xfrm>
            <a:prstGeom prst="rect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5065546" y="2868730"/>
              <a:ext cx="1224136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/>
                <a:t>磁盘控制器</a:t>
              </a:r>
              <a:endParaRPr lang="zh-CN" altLang="en-US" sz="1600" dirty="0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5332763" y="2123872"/>
              <a:ext cx="762121" cy="576064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扇区</a:t>
              </a:r>
              <a:endParaRPr lang="en-US" altLang="zh-CN" sz="1600" dirty="0">
                <a:solidFill>
                  <a:prstClr val="white"/>
                </a:solidFill>
              </a:endParaRPr>
            </a:p>
            <a:p>
              <a:pPr>
                <a:spcBef>
                  <a:spcPct val="0"/>
                </a:spcBef>
                <a:defRPr/>
              </a:pPr>
              <a:r>
                <a:rPr lang="zh-CN" altLang="en-US" sz="1600" dirty="0">
                  <a:solidFill>
                    <a:prstClr val="white"/>
                  </a:solidFill>
                </a:rPr>
                <a:t>缓存</a:t>
              </a:r>
              <a:endParaRPr lang="zh-CN" altLang="en-US" sz="16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23" name="直接连接符 22"/>
          <p:cNvCxnSpPr/>
          <p:nvPr/>
        </p:nvCxnSpPr>
        <p:spPr>
          <a:xfrm>
            <a:off x="3232070" y="3270391"/>
            <a:ext cx="658582" cy="0"/>
          </a:xfrm>
          <a:prstGeom prst="line">
            <a:avLst/>
          </a:prstGeom>
          <a:ln w="28575">
            <a:solidFill>
              <a:srgbClr val="11576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2531448" y="2707881"/>
            <a:ext cx="679602" cy="1430364"/>
            <a:chOff x="7072822" y="1807354"/>
            <a:chExt cx="679602" cy="1430364"/>
          </a:xfrm>
        </p:grpSpPr>
        <p:sp>
          <p:nvSpPr>
            <p:cNvPr id="24" name="标题 1"/>
            <p:cNvSpPr txBox="1"/>
            <p:nvPr/>
          </p:nvSpPr>
          <p:spPr>
            <a:xfrm>
              <a:off x="7104352" y="2877678"/>
              <a:ext cx="648072" cy="360040"/>
            </a:xfrm>
            <a:prstGeom prst="rect">
              <a:avLst/>
            </a:prstGeom>
          </p:spPr>
          <p:txBody>
            <a:bodyPr/>
            <a:lstStyle>
              <a:lvl1pPr>
                <a:defRPr sz="3000" b="1">
                  <a:solidFill>
                    <a:srgbClr val="11576A"/>
                  </a:solidFill>
                  <a:latin typeface="微软雅黑" charset="-122"/>
                  <a:ea typeface="微软雅黑" charset="-122"/>
                </a:defRPr>
              </a:lvl1pPr>
            </a:lstStyle>
            <a:p>
              <a:pPr>
                <a:spcBef>
                  <a:spcPct val="0"/>
                </a:spcBef>
                <a:defRPr/>
              </a:pPr>
              <a:r>
                <a:rPr lang="zh-CN" altLang="en-US" sz="1600" dirty="0"/>
                <a:t>磁盘</a:t>
              </a:r>
              <a:endParaRPr lang="zh-CN" altLang="en-US" sz="1600" dirty="0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072822" y="1923678"/>
              <a:ext cx="649562" cy="957124"/>
              <a:chOff x="7420790" y="2355726"/>
              <a:chExt cx="649562" cy="957124"/>
            </a:xfr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160000" scaled="0"/>
            </a:gradFill>
          </p:grpSpPr>
          <p:sp>
            <p:nvSpPr>
              <p:cNvPr id="26" name="矩形 25"/>
              <p:cNvSpPr/>
              <p:nvPr/>
            </p:nvSpPr>
            <p:spPr>
              <a:xfrm>
                <a:off x="7420790" y="2355726"/>
                <a:ext cx="648072" cy="864096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422352" y="3096826"/>
                <a:ext cx="648000" cy="216024"/>
              </a:xfrm>
              <a:prstGeom prst="ellipse">
                <a:avLst/>
              </a:prstGeom>
              <a:grpFill/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</p:grpSp>
        <p:sp>
          <p:nvSpPr>
            <p:cNvPr id="28" name="椭圆 27"/>
            <p:cNvSpPr/>
            <p:nvPr/>
          </p:nvSpPr>
          <p:spPr>
            <a:xfrm>
              <a:off x="7074384" y="1807354"/>
              <a:ext cx="648000" cy="216024"/>
            </a:xfrm>
            <a:prstGeom prst="ellipse">
              <a:avLst/>
            </a:prstGeom>
            <a:gradFill>
              <a:gsLst>
                <a:gs pos="0">
                  <a:srgbClr val="0EB1C8"/>
                </a:gs>
                <a:gs pos="100000">
                  <a:srgbClr val="11576A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设备管理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IO</a:t>
            </a:r>
            <a:r>
              <a:rPr lang="zh-CN" altLang="en-US" dirty="0"/>
              <a:t>资源的管理</a:t>
            </a:r>
            <a:endParaRPr lang="en-US" altLang="zh-CN" dirty="0"/>
          </a:p>
          <a:p>
            <a:pPr lvl="1"/>
            <a:r>
              <a:rPr lang="zh-CN" altLang="en-US" dirty="0"/>
              <a:t>独立编址、共享编址、混合式</a:t>
            </a:r>
            <a:endParaRPr lang="en-US" altLang="zh-CN" dirty="0"/>
          </a:p>
          <a:p>
            <a:r>
              <a:rPr lang="zh-CN" altLang="en-US" dirty="0"/>
              <a:t>三种设备的通信模式</a:t>
            </a:r>
            <a:endParaRPr lang="en-US" altLang="zh-CN" dirty="0"/>
          </a:p>
          <a:p>
            <a:pPr lvl="1"/>
            <a:r>
              <a:rPr lang="zh-CN" altLang="en-US" dirty="0"/>
              <a:t>忙等待、中断、</a:t>
            </a:r>
            <a:r>
              <a:rPr lang="en-US" altLang="zh-CN" dirty="0"/>
              <a:t>DMA</a:t>
            </a:r>
            <a:endParaRPr lang="en-US" altLang="zh-CN" dirty="0"/>
          </a:p>
          <a:p>
            <a:r>
              <a:rPr lang="zh-CN" altLang="en-US" dirty="0"/>
              <a:t>驱动程序设计中的典型问题</a:t>
            </a:r>
            <a:endParaRPr lang="en-US" altLang="zh-CN" dirty="0"/>
          </a:p>
          <a:p>
            <a:pPr lvl="1"/>
            <a:r>
              <a:rPr lang="zh-CN" altLang="en-US" dirty="0"/>
              <a:t>异步、缓冲、</a:t>
            </a:r>
            <a:r>
              <a:rPr lang="en-US" altLang="zh-CN" dirty="0"/>
              <a:t>spooling</a:t>
            </a:r>
            <a:endParaRPr lang="en-US" altLang="zh-CN" dirty="0"/>
          </a:p>
          <a:p>
            <a:r>
              <a:rPr lang="zh-CN" altLang="en-US" dirty="0"/>
              <a:t>硬盘管理中的若干问题</a:t>
            </a:r>
            <a:endParaRPr lang="en-US" altLang="zh-CN" dirty="0"/>
          </a:p>
          <a:p>
            <a:pPr lvl="1"/>
            <a:r>
              <a:rPr lang="en-US" altLang="zh-CN" dirty="0"/>
              <a:t>RAID</a:t>
            </a:r>
            <a:endParaRPr lang="en-US" altLang="zh-CN" dirty="0"/>
          </a:p>
          <a:p>
            <a:pPr lvl="1"/>
            <a:r>
              <a:rPr lang="zh-CN" altLang="en-US" dirty="0"/>
              <a:t>磁臂管理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2495550" y="304801"/>
            <a:ext cx="8172450" cy="892175"/>
          </a:xfrm>
        </p:spPr>
        <p:txBody>
          <a:bodyPr/>
          <a:lstStyle/>
          <a:p>
            <a:r>
              <a:rPr lang="en-US" altLang="zh-CN" sz="3600">
                <a:ea typeface="宋体" pitchFamily="2" charset="-122"/>
              </a:rPr>
              <a:t>Working mode of devices: busy waiting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17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26359B-E881-4674-BC90-4A61F0823E02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pic>
        <p:nvPicPr>
          <p:cNvPr id="8" name="Picture 6" descr="程序控制IO机制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1143001"/>
            <a:ext cx="88963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内容占位符 2"/>
          <p:cNvSpPr>
            <a:spLocks noGrp="1"/>
          </p:cNvSpPr>
          <p:nvPr>
            <p:ph idx="1"/>
          </p:nvPr>
        </p:nvSpPr>
        <p:spPr>
          <a:xfrm>
            <a:off x="2381250" y="3643314"/>
            <a:ext cx="8064500" cy="2700337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Special kernel process sends the data to device port;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process checks the port repeatedly until the port is available and sends rest data;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user process continues run after the kernel process is finished;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Disadvantage: CPU is wasted too much</a:t>
            </a:r>
            <a:endParaRPr lang="en-US" altLang="zh-CN" sz="200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2495550" y="304801"/>
            <a:ext cx="8172450" cy="892175"/>
          </a:xfrm>
        </p:spPr>
        <p:txBody>
          <a:bodyPr/>
          <a:lstStyle/>
          <a:p>
            <a:r>
              <a:rPr lang="en-US" altLang="zh-CN" sz="3600">
                <a:ea typeface="宋体" pitchFamily="2" charset="-122"/>
              </a:rPr>
              <a:t>Working mode of devices: interrupt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37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B9E086-77FD-4F27-97E7-572FAE0C0DC4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33798" name="内容占位符 2"/>
          <p:cNvSpPr>
            <a:spLocks noGrp="1"/>
          </p:cNvSpPr>
          <p:nvPr>
            <p:ph idx="1"/>
          </p:nvPr>
        </p:nvSpPr>
        <p:spPr>
          <a:xfrm>
            <a:off x="2381250" y="3786189"/>
            <a:ext cx="8064500" cy="2700337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Special kernel process sends the data to device port;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process goes to sleep and CPU will run other processes;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device send interrupt to CPU after the data buffer is empty;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The kernel process is waked up and send the rest data</a:t>
            </a:r>
            <a:endParaRPr lang="en-US" altLang="zh-CN" sz="2000">
              <a:ea typeface="宋体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宋体" pitchFamily="2" charset="-122"/>
              </a:rPr>
              <a:t>Disadvantage: frequent interrupts are time-consuming </a:t>
            </a:r>
            <a:endParaRPr lang="en-US" altLang="zh-CN" sz="2000">
              <a:ea typeface="宋体" pitchFamily="2" charset="-122"/>
            </a:endParaRPr>
          </a:p>
        </p:txBody>
      </p:sp>
      <p:pic>
        <p:nvPicPr>
          <p:cNvPr id="10" name="Picture 6" descr="中断控制IO机制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071564"/>
            <a:ext cx="9012238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2495550" y="304801"/>
            <a:ext cx="8172450" cy="892175"/>
          </a:xfrm>
        </p:spPr>
        <p:txBody>
          <a:bodyPr/>
          <a:lstStyle/>
          <a:p>
            <a:r>
              <a:rPr lang="en-US" altLang="zh-CN" sz="3600">
                <a:ea typeface="宋体" pitchFamily="2" charset="-122"/>
              </a:rPr>
              <a:t>Working mode of devices: DMA</a:t>
            </a:r>
            <a:endParaRPr lang="zh-CN" altLang="en-US" sz="360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358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8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8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8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540642-481A-4F04-B71C-0F211D4CD43E}" type="slidenum">
              <a:rPr lang="en-US" altLang="ko-KR" sz="1200">
                <a:solidFill>
                  <a:schemeClr val="bg1"/>
                </a:solidFill>
              </a:rPr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381250" y="4286251"/>
            <a:ext cx="8064500" cy="2200275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User process causes a CPU trap, the special kernel process sets the registers in device and exits;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Device read data from memory directly;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The device send interrupt to CPU after the job is done;</a:t>
            </a: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000" dirty="0">
                <a:ea typeface="宋体" pitchFamily="2" charset="-122"/>
              </a:rPr>
              <a:t>The user process is waked up and continues run</a:t>
            </a:r>
            <a:endParaRPr lang="en-US" altLang="zh-CN" sz="2000" dirty="0">
              <a:ea typeface="宋体" pitchFamily="2" charset="-122"/>
            </a:endParaRPr>
          </a:p>
        </p:txBody>
      </p:sp>
      <p:pic>
        <p:nvPicPr>
          <p:cNvPr id="8" name="Picture 6" descr="DMA控制IO机制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1062039"/>
            <a:ext cx="8748712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6" descr="1-1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719" y="365125"/>
            <a:ext cx="8057933" cy="581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死锁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四种方案</a:t>
            </a:r>
            <a:endParaRPr lang="en-US" altLang="zh-CN" dirty="0"/>
          </a:p>
          <a:p>
            <a:r>
              <a:rPr lang="zh-CN" altLang="en-US" dirty="0"/>
              <a:t>银行家算法</a:t>
            </a:r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D010A1-1273-4915-A416-083AACD8D289}" type="slidenum">
              <a:rPr lang="en-US" altLang="ko-KR"/>
            </a:fld>
            <a:endParaRPr lang="en-US" altLang="ko-KR"/>
          </a:p>
        </p:txBody>
      </p:sp>
      <p:pic>
        <p:nvPicPr>
          <p:cNvPr id="3891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38" y="1341439"/>
            <a:ext cx="909955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569720"/>
            <a:ext cx="11229340" cy="4351655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处理外部中断时，应该由操作系统保存的是(</a:t>
            </a:r>
            <a:r>
              <a:rPr lang="en-US" altLang="zh-CN" dirty="0"/>
              <a:t> </a:t>
            </a:r>
            <a:r>
              <a:rPr lang="zh-CN" altLang="en-US" dirty="0"/>
              <a:t>)。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A.</a:t>
            </a:r>
            <a:r>
              <a:rPr lang="en-US" altLang="zh-CN" dirty="0"/>
              <a:t> </a:t>
            </a:r>
            <a:r>
              <a:rPr lang="zh-CN" altLang="en-US" dirty="0"/>
              <a:t>程序计数器(PC)的内容</a:t>
            </a:r>
            <a:r>
              <a:rPr lang="en-US" altLang="zh-CN" dirty="0"/>
              <a:t>		</a:t>
            </a:r>
            <a:r>
              <a:rPr lang="zh-CN" altLang="en-US" dirty="0"/>
              <a:t>         </a:t>
            </a:r>
            <a:r>
              <a:rPr lang="zh-CN" altLang="en-US" dirty="0">
                <a:sym typeface="+mn-ea"/>
              </a:rPr>
              <a:t>B.通用寄存器的内容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/>
              <a:t>C.</a:t>
            </a:r>
            <a:r>
              <a:rPr lang="en-US" altLang="zh-CN" dirty="0"/>
              <a:t> </a:t>
            </a:r>
            <a:r>
              <a:rPr lang="zh-CN" altLang="en-US" dirty="0"/>
              <a:t>块表(TLB)中的内容</a:t>
            </a:r>
            <a:r>
              <a:rPr lang="en-US" altLang="zh-CN" dirty="0"/>
              <a:t>			</a:t>
            </a:r>
            <a:r>
              <a:rPr lang="zh-CN" altLang="en-US" dirty="0">
                <a:sym typeface="+mn-ea"/>
              </a:rPr>
              <a:t>D.Cache 中的内容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执行系统调用的过程包括如下主要操作: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① 返回用户态；② 执行陷入(trap)指令；③ 传递系统调用参数；④ 执行相应的服务程序。正确的执行顺序是( )。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>
                <a:sym typeface="+mn-ea"/>
              </a:rPr>
              <a:t>A.②→③→①→④</a:t>
            </a:r>
            <a:r>
              <a:rPr lang="en-US" altLang="zh-CN" dirty="0">
                <a:sym typeface="+mn-ea"/>
              </a:rPr>
              <a:t>			</a:t>
            </a:r>
            <a:r>
              <a:rPr lang="zh-CN" altLang="en-US" dirty="0">
                <a:sym typeface="+mn-ea"/>
              </a:rPr>
              <a:t>B.②→④→③→①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>
                <a:sym typeface="+mn-ea"/>
              </a:rPr>
              <a:t>C.③→②→④→①</a:t>
            </a:r>
            <a:r>
              <a:rPr lang="en-US" altLang="zh-CN" dirty="0">
                <a:sym typeface="+mn-ea"/>
              </a:rPr>
              <a:t>			</a:t>
            </a:r>
            <a:r>
              <a:rPr lang="zh-CN" altLang="en-US" dirty="0">
                <a:sym typeface="+mn-ea"/>
              </a:rPr>
              <a:t>D.③→④→②→①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07415"/>
            <a:ext cx="10801350" cy="5013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在进程转换时，下列()转换是不可能发生的。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A.就绪态→运行态</a:t>
            </a:r>
            <a:r>
              <a:rPr lang="en-US" altLang="zh-CN"/>
              <a:t>		</a:t>
            </a:r>
            <a:r>
              <a:rPr lang="zh-CN" altLang="en-US"/>
              <a:t>B.运行态→就绪态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C.运行态→阻塞态</a:t>
            </a:r>
            <a:r>
              <a:rPr lang="en-US" altLang="zh-CN"/>
              <a:t>		</a:t>
            </a:r>
            <a:r>
              <a:rPr lang="en-US" altLang="zh-CN">
                <a:sym typeface="+mn-ea"/>
              </a:rPr>
              <a:t>D.</a:t>
            </a:r>
            <a:r>
              <a:rPr lang="zh-CN" altLang="en-US">
                <a:sym typeface="+mn-ea"/>
              </a:rPr>
              <a:t>阻塞态→运行态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4. </a:t>
            </a:r>
            <a:r>
              <a:rPr lang="zh-CN" altLang="en-US"/>
              <a:t>下列关于管道(Pipe)通信的叙述中，正确的是()。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A.一个管道可实现双向数据传输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B.管道的容量仅受磁盘容量大小限制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C.进程对管道进行读操作和写操作都可能被阻塞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D.一个管道只能有一个读进程或一个写进程对其操作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88695"/>
            <a:ext cx="10976610" cy="5314315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(</a:t>
            </a:r>
            <a:r>
              <a:rPr lang="en-US" altLang="zh-CN" dirty="0"/>
              <a:t> </a:t>
            </a:r>
            <a:r>
              <a:rPr lang="zh-CN" altLang="en-US" dirty="0"/>
              <a:t>)有利于CPU繁忙型的作业，而不利于</a:t>
            </a:r>
            <a:r>
              <a:rPr lang="en-US" altLang="zh-CN" dirty="0"/>
              <a:t>I/O</a:t>
            </a:r>
            <a:r>
              <a:rPr lang="zh-CN" altLang="en-US" dirty="0"/>
              <a:t>繁忙型的作业。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A.时间片轮转调度算法</a:t>
            </a:r>
            <a:r>
              <a:rPr lang="en-US" altLang="zh-CN" dirty="0"/>
              <a:t>		</a:t>
            </a:r>
            <a:r>
              <a:rPr lang="zh-CN" altLang="en-US" dirty="0"/>
              <a:t>B.先来先服务调度算法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C.短作业(进程)优先算法</a:t>
            </a:r>
            <a:r>
              <a:rPr lang="en-US" altLang="zh-CN" dirty="0"/>
              <a:t>		</a:t>
            </a:r>
            <a:r>
              <a:rPr lang="zh-CN" altLang="en-US" dirty="0"/>
              <a:t>D.优先权调度算法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6. </a:t>
            </a:r>
            <a:r>
              <a:rPr lang="zh-CN" altLang="en-US" dirty="0"/>
              <a:t>下列进程调度算法中，综合考虑进程等待时间和执行时间的是( )。</a:t>
            </a:r>
            <a:endParaRPr lang="zh-CN" altLang="en-US" dirty="0"/>
          </a:p>
          <a:p>
            <a:pPr marL="0" indent="457200">
              <a:buNone/>
            </a:pPr>
            <a:r>
              <a:rPr lang="zh-CN" altLang="en-US" dirty="0"/>
              <a:t>A.时间片轮转调度算法</a:t>
            </a:r>
            <a:r>
              <a:rPr lang="en-US" altLang="zh-CN" dirty="0"/>
              <a:t>			</a:t>
            </a:r>
            <a:r>
              <a:rPr lang="zh-CN" altLang="en-US" dirty="0">
                <a:sym typeface="+mn-ea"/>
              </a:rPr>
              <a:t>B.短进程优先调度算法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/>
              <a:t>C.先来先服务调度算法</a:t>
            </a:r>
            <a:r>
              <a:rPr lang="en-US" altLang="zh-CN" dirty="0"/>
              <a:t>			</a:t>
            </a:r>
            <a:r>
              <a:rPr lang="zh-CN" altLang="en-US" dirty="0"/>
              <a:t>D.高响应比优先调度算法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7. </a:t>
            </a:r>
            <a:r>
              <a:rPr lang="zh-CN" altLang="en-US" dirty="0"/>
              <a:t>以下不是同步机制应遵循的准则的是(</a:t>
            </a:r>
            <a:r>
              <a:rPr lang="en-US" altLang="zh-CN" dirty="0"/>
              <a:t> </a:t>
            </a:r>
            <a:r>
              <a:rPr lang="zh-CN" altLang="en-US" dirty="0"/>
              <a:t>)。</a:t>
            </a:r>
            <a:endParaRPr lang="zh-CN" altLang="en-US" dirty="0"/>
          </a:p>
          <a:p>
            <a:pPr marL="0" lvl="0" indent="457200">
              <a:buNone/>
            </a:pPr>
            <a:r>
              <a:rPr lang="zh-CN" altLang="en-US" dirty="0"/>
              <a:t>A.让权等待</a:t>
            </a:r>
            <a:r>
              <a:rPr lang="en-US" altLang="zh-CN" dirty="0"/>
              <a:t>				</a:t>
            </a:r>
            <a:r>
              <a:rPr lang="zh-CN" altLang="en-US" dirty="0"/>
              <a:t>B.</a:t>
            </a:r>
            <a:r>
              <a:rPr lang="zh-CN" altLang="en-US" dirty="0">
                <a:sym typeface="+mn-ea"/>
              </a:rPr>
              <a:t>空闲让进</a:t>
            </a:r>
            <a:endParaRPr lang="zh-CN" altLang="en-US" dirty="0">
              <a:sym typeface="+mn-ea"/>
            </a:endParaRPr>
          </a:p>
          <a:p>
            <a:pPr marL="0" indent="457200">
              <a:buNone/>
            </a:pPr>
            <a:r>
              <a:rPr lang="zh-CN" altLang="en-US" dirty="0"/>
              <a:t>C.忙则等待</a:t>
            </a:r>
            <a:r>
              <a:rPr lang="en-US" altLang="zh-CN" dirty="0"/>
              <a:t>				</a:t>
            </a:r>
            <a:r>
              <a:rPr lang="zh-CN" altLang="en-US" dirty="0"/>
              <a:t>D.无限等待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22655"/>
            <a:ext cx="11367135" cy="4998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8. </a:t>
            </a:r>
            <a:r>
              <a:rPr lang="zh-CN" altLang="en-US"/>
              <a:t>下列有关基于时间片的进程调度的叙述中，错误的是( )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A.时间片越短，进程切换的次数越多，系统开销越大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B.当前进程的时间片用完后，该进程状态由执行态变为阻塞态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C.时钟中断发生后，系统会修改当前进程在时间片内的剩余时间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D.影响时间片大小的主要因素包括响应时间、系统开销和进程数量等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9. </a:t>
            </a:r>
            <a:r>
              <a:rPr lang="zh-CN" altLang="en-US"/>
              <a:t>用P、V操作实现进程同步，信号量的初值为( 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A.-1</a:t>
            </a:r>
            <a:r>
              <a:rPr lang="en-US" altLang="zh-CN"/>
              <a:t>			</a:t>
            </a:r>
            <a:r>
              <a:rPr lang="zh-CN" altLang="en-US"/>
              <a:t>B. 0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C.1</a:t>
            </a:r>
            <a:r>
              <a:rPr lang="en-US" altLang="zh-CN"/>
              <a:t>			</a:t>
            </a:r>
            <a:r>
              <a:rPr lang="zh-CN" altLang="en-US"/>
              <a:t>D.由用户确定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99160"/>
            <a:ext cx="10801350" cy="5471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10. </a:t>
            </a:r>
            <a:r>
              <a:rPr lang="zh-CN" altLang="en-US"/>
              <a:t>下列关于管程的叙述中，错误的是(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A.管程只能用于实现进程的互斥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B.管程是由编程语言支持的进程同步机制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C.任何时候只能有一个进程在管程中执行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D.管程中定义的变量只能被管程内的过程访问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11. </a:t>
            </a:r>
            <a:r>
              <a:rPr lang="zh-CN" altLang="en-US"/>
              <a:t>在9个生产者、6个消费者共享容量为8的缓冲器的生产者-消费者问题中，互斥使用缓冲器的信号量初始值为(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</a:t>
            </a:r>
            <a:r>
              <a:rPr lang="en-US" altLang="zh-CN"/>
              <a:t>1			</a:t>
            </a:r>
            <a:r>
              <a:rPr lang="zh-CN" altLang="en-US">
                <a:sym typeface="+mn-ea"/>
              </a:rPr>
              <a:t>B.6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C.8</a:t>
            </a:r>
            <a:r>
              <a:rPr lang="en-US" altLang="zh-CN"/>
              <a:t>			</a:t>
            </a:r>
            <a:r>
              <a:rPr lang="zh-CN" altLang="en-US">
                <a:sym typeface="+mn-ea"/>
              </a:rPr>
              <a:t>D.9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54710"/>
            <a:ext cx="10801350" cy="5749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500"/>
              <a:t>12. </a:t>
            </a:r>
            <a:r>
              <a:rPr lang="zh-CN" altLang="en-US" sz="2500"/>
              <a:t>在操作系统中，死锁出现是指(</a:t>
            </a:r>
            <a:r>
              <a:rPr lang="en-US" altLang="zh-CN" sz="2500"/>
              <a:t> </a:t>
            </a:r>
            <a:r>
              <a:rPr lang="zh-CN" altLang="en-US" sz="2500"/>
              <a:t>)。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A.计算机系统发生重大故障</a:t>
            </a:r>
            <a:r>
              <a:rPr lang="en-US" altLang="zh-CN" sz="2500"/>
              <a:t>		</a:t>
            </a:r>
            <a:r>
              <a:rPr lang="zh-CN" altLang="en-US" sz="2500"/>
              <a:t>B.资源个数远远小于进程数</a:t>
            </a:r>
            <a:endParaRPr lang="zh-CN" altLang="en-US" sz="2500"/>
          </a:p>
          <a:p>
            <a:pPr marL="0" indent="457200">
              <a:buNone/>
            </a:pPr>
            <a:r>
              <a:rPr lang="en-US" altLang="zh-CN" sz="2500"/>
              <a:t>C.</a:t>
            </a:r>
            <a:r>
              <a:rPr lang="zh-CN" altLang="en-US" sz="2500"/>
              <a:t>若干进程因竞争资源而无限等待其他进程释放已占有的资源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D.进程同时申请的资源数超过资源总数</a:t>
            </a:r>
            <a:endParaRPr lang="zh-CN" altLang="en-US" sz="2500"/>
          </a:p>
          <a:p>
            <a:pPr marL="0" indent="457200">
              <a:buNone/>
            </a:pPr>
            <a:endParaRPr lang="zh-CN" altLang="en-US" sz="2500"/>
          </a:p>
          <a:p>
            <a:pPr marL="0" indent="0">
              <a:buNone/>
            </a:pPr>
            <a:r>
              <a:rPr lang="en-US" altLang="zh-CN" sz="2500"/>
              <a:t>13. </a:t>
            </a:r>
            <a:r>
              <a:rPr lang="zh-CN" altLang="en-US" sz="2500"/>
              <a:t>死锁的四个必要条件中，无法破坏的是(</a:t>
            </a:r>
            <a:r>
              <a:rPr lang="en-US" altLang="zh-CN" sz="2500"/>
              <a:t> </a:t>
            </a:r>
            <a:r>
              <a:rPr lang="zh-CN" altLang="en-US" sz="2500"/>
              <a:t>)。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A.环路等待资源</a:t>
            </a:r>
            <a:r>
              <a:rPr lang="en-US" altLang="zh-CN" sz="2500"/>
              <a:t>			</a:t>
            </a:r>
            <a:r>
              <a:rPr lang="zh-CN" altLang="en-US" sz="2500"/>
              <a:t>B.互斥使用资源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C.占有且等待资源</a:t>
            </a:r>
            <a:r>
              <a:rPr lang="en-US" altLang="zh-CN" sz="2500"/>
              <a:t>		</a:t>
            </a:r>
            <a:r>
              <a:rPr lang="zh-CN" altLang="en-US" sz="2500"/>
              <a:t>D.非抢夺式分配</a:t>
            </a:r>
            <a:endParaRPr lang="zh-CN" altLang="en-US" sz="2500"/>
          </a:p>
          <a:p>
            <a:pPr marL="0" indent="457200">
              <a:buNone/>
            </a:pPr>
            <a:endParaRPr lang="zh-CN" altLang="en-US" sz="2500"/>
          </a:p>
          <a:p>
            <a:pPr marL="0" indent="0">
              <a:buNone/>
            </a:pPr>
            <a:r>
              <a:rPr lang="en-US" altLang="zh-CN" sz="2500"/>
              <a:t>14. </a:t>
            </a:r>
            <a:r>
              <a:rPr lang="zh-CN" altLang="en-US" sz="2500"/>
              <a:t>采用段式存储管理时，一个程序如何分段是在(</a:t>
            </a:r>
            <a:r>
              <a:rPr lang="en-US" altLang="zh-CN" sz="2500"/>
              <a:t> </a:t>
            </a:r>
            <a:r>
              <a:rPr lang="zh-CN" altLang="en-US" sz="2500"/>
              <a:t>)时决定的。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/>
              <a:t>A.分配主存</a:t>
            </a:r>
            <a:r>
              <a:rPr lang="en-US" altLang="zh-CN" sz="2500"/>
              <a:t>			</a:t>
            </a:r>
            <a:r>
              <a:rPr lang="zh-CN" altLang="en-US" sz="2500"/>
              <a:t>B. 用户编程</a:t>
            </a:r>
            <a:endParaRPr lang="zh-CN" altLang="en-US" sz="2500"/>
          </a:p>
          <a:p>
            <a:pPr marL="0" indent="457200">
              <a:buNone/>
            </a:pPr>
            <a:r>
              <a:rPr lang="zh-CN" altLang="en-US" sz="2500">
                <a:sym typeface="+mn-ea"/>
              </a:rPr>
              <a:t>C.装作业</a:t>
            </a:r>
            <a:r>
              <a:rPr lang="en-US" altLang="zh-CN" sz="2500">
                <a:sym typeface="+mn-ea"/>
              </a:rPr>
              <a:t>				</a:t>
            </a:r>
            <a:r>
              <a:rPr lang="zh-CN" altLang="en-US" sz="2500"/>
              <a:t>D.程序执行</a:t>
            </a:r>
            <a:endParaRPr lang="zh-CN" altLang="en-US" sz="25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793115"/>
            <a:ext cx="11308080" cy="57734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00" dirty="0"/>
              <a:t>15. </a:t>
            </a:r>
            <a:r>
              <a:rPr lang="zh-CN" altLang="en-US" sz="2600" dirty="0"/>
              <a:t>操作系统实现( )存储管理的代价最小。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A.分区</a:t>
            </a:r>
            <a:r>
              <a:rPr lang="en-US" altLang="zh-CN" sz="2600" dirty="0"/>
              <a:t>			</a:t>
            </a:r>
            <a:r>
              <a:rPr lang="zh-CN" altLang="en-US" sz="2600" dirty="0">
                <a:sym typeface="+mn-ea"/>
              </a:rPr>
              <a:t>B.分页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C.分段</a:t>
            </a:r>
            <a:r>
              <a:rPr lang="en-US" altLang="zh-CN" sz="2600" dirty="0"/>
              <a:t>			</a:t>
            </a:r>
            <a:r>
              <a:rPr lang="zh-CN" altLang="en-US" sz="2600" dirty="0"/>
              <a:t>D.段页式</a:t>
            </a:r>
            <a:endParaRPr lang="zh-CN" altLang="en-US" sz="2600" dirty="0"/>
          </a:p>
          <a:p>
            <a:pPr marL="0" indent="457200">
              <a:buNone/>
            </a:pPr>
            <a:endParaRPr lang="zh-CN" altLang="en-US" sz="2600" dirty="0"/>
          </a:p>
          <a:p>
            <a:pPr marL="0" indent="0">
              <a:buNone/>
            </a:pPr>
            <a:r>
              <a:rPr lang="en-US" altLang="zh-CN" sz="2600" dirty="0"/>
              <a:t>16. </a:t>
            </a:r>
            <a:r>
              <a:rPr lang="zh-CN" altLang="en-US" sz="2600" dirty="0"/>
              <a:t>当系统发生抖动时，可以采取的有效措施是(</a:t>
            </a:r>
            <a:r>
              <a:rPr lang="en-US" altLang="zh-CN" sz="2600" dirty="0"/>
              <a:t> </a:t>
            </a:r>
            <a:r>
              <a:rPr lang="zh-CN" altLang="en-US" sz="2600" dirty="0"/>
              <a:t>)。</a:t>
            </a:r>
            <a:endParaRPr lang="zh-CN" altLang="en-US" sz="2600" dirty="0"/>
          </a:p>
          <a:p>
            <a:pPr marL="0" indent="457200">
              <a:buNone/>
            </a:pPr>
            <a:r>
              <a:rPr lang="en-US" altLang="zh-CN" sz="2600" dirty="0"/>
              <a:t>I</a:t>
            </a:r>
            <a:r>
              <a:rPr lang="zh-CN" altLang="en-US" sz="2600" dirty="0"/>
              <a:t>.</a:t>
            </a:r>
            <a:r>
              <a:rPr lang="en-US" altLang="zh-CN" sz="2600" dirty="0"/>
              <a:t> </a:t>
            </a:r>
            <a:r>
              <a:rPr lang="zh-CN" altLang="en-US" sz="2600" dirty="0"/>
              <a:t>撤销部分进程</a:t>
            </a:r>
            <a:r>
              <a:rPr lang="en-US" altLang="zh-CN" sz="2600" dirty="0"/>
              <a:t>	    II</a:t>
            </a:r>
            <a:r>
              <a:rPr lang="zh-CN" altLang="en-US" sz="2600" dirty="0"/>
              <a:t>.增加磁盘交换区的容量</a:t>
            </a:r>
            <a:r>
              <a:rPr lang="en-US" altLang="zh-CN" sz="2600" dirty="0"/>
              <a:t>    </a:t>
            </a:r>
            <a:r>
              <a:rPr lang="zh-CN" altLang="en-US" sz="2600" dirty="0"/>
              <a:t>II</a:t>
            </a:r>
            <a:r>
              <a:rPr lang="en-US" altLang="zh-CN" sz="2600" dirty="0"/>
              <a:t>I</a:t>
            </a:r>
            <a:r>
              <a:rPr lang="zh-CN" altLang="en-US" sz="2600" dirty="0"/>
              <a:t>.提高用户进程的优先级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A.仅I</a:t>
            </a:r>
            <a:r>
              <a:rPr lang="en-US" altLang="zh-CN" sz="2600" dirty="0"/>
              <a:t>			</a:t>
            </a:r>
            <a:r>
              <a:rPr lang="zh-CN" altLang="en-US" sz="2600" dirty="0"/>
              <a:t>B.仅</a:t>
            </a:r>
            <a:r>
              <a:rPr lang="en-US" altLang="zh-CN" sz="2600" dirty="0"/>
              <a:t>II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C.仅</a:t>
            </a:r>
            <a:r>
              <a:rPr lang="en-US" altLang="zh-CN" sz="2600" dirty="0"/>
              <a:t>III			D</a:t>
            </a:r>
            <a:r>
              <a:rPr lang="zh-CN" altLang="en-US" sz="2600" dirty="0"/>
              <a:t>.仅I、II</a:t>
            </a:r>
            <a:endParaRPr lang="zh-CN" altLang="en-US" sz="2600" dirty="0"/>
          </a:p>
          <a:p>
            <a:pPr marL="0" indent="457200">
              <a:buNone/>
            </a:pPr>
            <a:endParaRPr lang="zh-CN" altLang="en-US" sz="2600" dirty="0"/>
          </a:p>
          <a:p>
            <a:pPr marL="0" indent="0">
              <a:buNone/>
            </a:pPr>
            <a:r>
              <a:rPr lang="en-US" altLang="zh-CN" sz="2600" dirty="0"/>
              <a:t>17. </a:t>
            </a:r>
            <a:r>
              <a:rPr lang="zh-CN" altLang="en-US" sz="2600" dirty="0"/>
              <a:t>在磁盘中读取数据的下列时间中，影响最大的是(</a:t>
            </a:r>
            <a:r>
              <a:rPr lang="en-US" altLang="zh-CN" sz="2600" dirty="0"/>
              <a:t> </a:t>
            </a:r>
            <a:r>
              <a:rPr lang="zh-CN" altLang="en-US" sz="2600" dirty="0"/>
              <a:t>)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A</a:t>
            </a:r>
            <a:r>
              <a:rPr lang="en-US" altLang="zh-CN" sz="2600" dirty="0"/>
              <a:t>.</a:t>
            </a:r>
            <a:r>
              <a:rPr lang="zh-CN" altLang="en-US" sz="2600" dirty="0"/>
              <a:t>处理时间</a:t>
            </a:r>
            <a:r>
              <a:rPr lang="en-US" altLang="zh-CN" sz="2600" dirty="0"/>
              <a:t>		</a:t>
            </a:r>
            <a:r>
              <a:rPr lang="zh-CN" altLang="en-US" sz="2600" dirty="0">
                <a:sym typeface="+mn-ea"/>
              </a:rPr>
              <a:t>B.延迟时间</a:t>
            </a:r>
            <a:endParaRPr lang="zh-CN" altLang="en-US" sz="2600" dirty="0"/>
          </a:p>
          <a:p>
            <a:pPr marL="0" indent="457200">
              <a:buNone/>
            </a:pPr>
            <a:r>
              <a:rPr lang="zh-CN" altLang="en-US" sz="2600" dirty="0"/>
              <a:t>C.传送时间</a:t>
            </a:r>
            <a:r>
              <a:rPr lang="en-US" altLang="zh-CN" sz="2600" dirty="0"/>
              <a:t>		</a:t>
            </a:r>
            <a:r>
              <a:rPr lang="zh-CN" altLang="en-US" sz="2600" dirty="0"/>
              <a:t>D.寻找时间</a:t>
            </a:r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59790"/>
            <a:ext cx="11231880" cy="56019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18. </a:t>
            </a:r>
            <a:r>
              <a:rPr lang="zh-CN" altLang="en-US"/>
              <a:t>在页式虚拟存储管理系统中，采用某些页面置换算法会出现Belady 异常现象，即进程的缺页次数会随着分配给该进程的页框个数的增加而增加。下列算法中，可能出现Belady异常现象的是(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I. LRU 算法</a:t>
            </a:r>
            <a:r>
              <a:rPr lang="en-US" altLang="zh-CN"/>
              <a:t>		</a:t>
            </a:r>
            <a:r>
              <a:rPr lang="zh-CN" altLang="en-US"/>
              <a:t>II.FIFO 算法</a:t>
            </a:r>
            <a:r>
              <a:rPr lang="en-US" altLang="zh-CN"/>
              <a:t>		I</a:t>
            </a:r>
            <a:r>
              <a:rPr lang="zh-CN" altLang="en-US"/>
              <a:t>II. OPT 算法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A.仅I</a:t>
            </a:r>
            <a:r>
              <a:rPr lang="en-US" altLang="zh-CN"/>
              <a:t>I				</a:t>
            </a:r>
            <a:r>
              <a:rPr lang="zh-CN" altLang="en-US">
                <a:sym typeface="+mn-ea"/>
              </a:rPr>
              <a:t>B.仅I、I</a:t>
            </a:r>
            <a:r>
              <a:rPr lang="en-US" altLang="zh-CN">
                <a:sym typeface="+mn-ea"/>
              </a:rPr>
              <a:t>I</a:t>
            </a:r>
            <a:endParaRPr lang="zh-CN" altLang="en-US">
              <a:sym typeface="+mn-ea"/>
            </a:endParaRPr>
          </a:p>
          <a:p>
            <a:pPr marL="0" indent="457200">
              <a:buNone/>
            </a:pPr>
            <a:r>
              <a:rPr lang="zh-CN" altLang="en-US"/>
              <a:t>C.仅I、</a:t>
            </a:r>
            <a:r>
              <a:rPr lang="en-US" altLang="zh-CN"/>
              <a:t>III			</a:t>
            </a:r>
            <a:r>
              <a:rPr lang="zh-CN" altLang="en-US">
                <a:sym typeface="+mn-ea"/>
              </a:rPr>
              <a:t>D.仅</a:t>
            </a:r>
            <a:r>
              <a:rPr lang="en-US" altLang="zh-CN">
                <a:sym typeface="+mn-ea"/>
              </a:rPr>
              <a:t>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III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19. 下列优化方法中，可以提高文件访问速度的是( )。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I 提前读	II.为文件分配连续的簇	III.延迟写	IV.采用磁盘高速缓存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仅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				B.仅II、III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C.仅I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IV			D.I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III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IV</a:t>
            </a:r>
            <a:endParaRPr lang="en-US" altLang="zh-CN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31545"/>
            <a:ext cx="11194415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20. </a:t>
            </a:r>
            <a:r>
              <a:rPr lang="zh-CN" altLang="en-US"/>
              <a:t>若文件f</a:t>
            </a:r>
            <a:r>
              <a:rPr lang="en-US" altLang="zh-CN"/>
              <a:t>1</a:t>
            </a:r>
            <a:r>
              <a:rPr lang="zh-CN" altLang="en-US"/>
              <a:t>的硬链接为</a:t>
            </a:r>
            <a:r>
              <a:rPr lang="en-US" altLang="zh-CN"/>
              <a:t>f</a:t>
            </a:r>
            <a:r>
              <a:rPr lang="zh-CN" altLang="en-US"/>
              <a:t>2，两个进程分别打开</a:t>
            </a:r>
            <a:r>
              <a:rPr lang="en-US" altLang="zh-CN"/>
              <a:t>f1</a:t>
            </a:r>
            <a:r>
              <a:rPr lang="zh-CN" altLang="en-US"/>
              <a:t>和</a:t>
            </a:r>
            <a:r>
              <a:rPr lang="en-US" altLang="zh-CN"/>
              <a:t>f</a:t>
            </a:r>
            <a:r>
              <a:rPr lang="zh-CN" altLang="en-US"/>
              <a:t>2，获得对应的文件描述符为fd1和f</a:t>
            </a:r>
            <a:r>
              <a:rPr lang="en-US" altLang="zh-CN"/>
              <a:t>d</a:t>
            </a:r>
            <a:r>
              <a:rPr lang="zh-CN" altLang="en-US"/>
              <a:t>2，则下列叙述中，正确的是(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I.</a:t>
            </a:r>
            <a:r>
              <a:rPr lang="en-US" altLang="zh-CN"/>
              <a:t>f</a:t>
            </a:r>
            <a:r>
              <a:rPr lang="zh-CN" altLang="en-US"/>
              <a:t>1和</a:t>
            </a:r>
            <a:r>
              <a:rPr lang="en-US" altLang="zh-CN"/>
              <a:t>f2</a:t>
            </a:r>
            <a:r>
              <a:rPr lang="zh-CN" altLang="en-US"/>
              <a:t>的读写指针位置保持相同</a:t>
            </a:r>
            <a:r>
              <a:rPr lang="en-US" altLang="zh-CN"/>
              <a:t>	</a:t>
            </a:r>
            <a:r>
              <a:rPr lang="zh-CN" altLang="en-US"/>
              <a:t>II.</a:t>
            </a:r>
            <a:r>
              <a:rPr lang="en-US" altLang="zh-CN"/>
              <a:t>f1</a:t>
            </a:r>
            <a:r>
              <a:rPr lang="zh-CN" altLang="en-US"/>
              <a:t>和</a:t>
            </a:r>
            <a:r>
              <a:rPr lang="en-US" altLang="zh-CN"/>
              <a:t>f2</a:t>
            </a:r>
            <a:r>
              <a:rPr lang="zh-CN" altLang="en-US"/>
              <a:t>共享同一个内存索引结点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I</a:t>
            </a:r>
            <a:r>
              <a:rPr lang="zh-CN" altLang="en-US"/>
              <a:t>II.fd1和fd2分别指向各自的用户打开文件表中的一项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A.仅</a:t>
            </a:r>
            <a:r>
              <a:rPr lang="en-US" altLang="zh-CN"/>
              <a:t>III				</a:t>
            </a:r>
            <a:r>
              <a:rPr lang="zh-CN" altLang="en-US"/>
              <a:t>B.仅</a:t>
            </a:r>
            <a:r>
              <a:rPr lang="en-US" altLang="zh-CN"/>
              <a:t>II</a:t>
            </a:r>
            <a:r>
              <a:rPr lang="zh-CN" altLang="en-US"/>
              <a:t>、</a:t>
            </a:r>
            <a:r>
              <a:rPr lang="en-US" altLang="zh-CN"/>
              <a:t>III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C.仅I、</a:t>
            </a:r>
            <a:r>
              <a:rPr lang="en-US" altLang="zh-CN"/>
              <a:t>II				D.I</a:t>
            </a:r>
            <a:r>
              <a:rPr lang="zh-CN" altLang="en-US"/>
              <a:t>、</a:t>
            </a:r>
            <a:r>
              <a:rPr lang="en-US" altLang="zh-CN"/>
              <a:t>II</a:t>
            </a:r>
            <a:r>
              <a:rPr lang="zh-CN" altLang="en-US"/>
              <a:t>和</a:t>
            </a:r>
            <a:r>
              <a:rPr lang="en-US" altLang="zh-CN"/>
              <a:t>III</a:t>
            </a: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21. 位示图可用于( )。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A.文件目录的查找		</a:t>
            </a:r>
            <a:r>
              <a:rPr lang="en-US" altLang="zh-CN"/>
              <a:t>B.磁盘空间的管理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C.主存空间的管理		D文件的保密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850265"/>
            <a:ext cx="10801350" cy="5071110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22. </a:t>
            </a:r>
            <a:r>
              <a:rPr lang="zh-CN" altLang="en-US"/>
              <a:t>若某文件系统索引结点(imode)中有直接地址项和间接地址项，则下列选项中，与单个文件长度无关的因素是(</a:t>
            </a:r>
            <a:r>
              <a:rPr lang="en-US" altLang="zh-CN"/>
              <a:t> </a:t>
            </a:r>
            <a:r>
              <a:rPr lang="zh-CN" altLang="en-US"/>
              <a:t>)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A.索引结点的总数</a:t>
            </a:r>
            <a:r>
              <a:rPr lang="en-US" altLang="zh-CN"/>
              <a:t>			</a:t>
            </a:r>
            <a:r>
              <a:rPr lang="zh-CN" altLang="en-US"/>
              <a:t>B.间接地址索引的级数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C.地址项的个数</a:t>
            </a:r>
            <a:r>
              <a:rPr lang="en-US" altLang="zh-CN"/>
              <a:t>			</a:t>
            </a:r>
            <a:r>
              <a:rPr lang="zh-CN" altLang="en-US">
                <a:sym typeface="+mn-ea"/>
              </a:rPr>
              <a:t>D.文件块大小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en-US" altLang="zh-CN"/>
              <a:t>23. </a:t>
            </a:r>
            <a:r>
              <a:rPr lang="zh-CN" altLang="en-US"/>
              <a:t>在操作系统中，( )指的是一种硬件机制。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A.通道技术</a:t>
            </a:r>
            <a:r>
              <a:rPr lang="en-US" altLang="zh-CN"/>
              <a:t>				</a:t>
            </a:r>
            <a:r>
              <a:rPr lang="zh-CN" altLang="en-US">
                <a:sym typeface="+mn-ea"/>
              </a:rPr>
              <a:t>B.缓冲池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C.SPOOLing技术</a:t>
            </a:r>
            <a:r>
              <a:rPr lang="en-US" altLang="zh-CN"/>
              <a:t>			</a:t>
            </a:r>
            <a:r>
              <a:rPr lang="zh-CN" altLang="en-US"/>
              <a:t>D.内存覆盖技术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975360"/>
            <a:ext cx="10801350" cy="4946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24. </a:t>
            </a:r>
            <a:r>
              <a:rPr lang="zh-CN" altLang="en-US"/>
              <a:t>用户程序发出磁盘</a:t>
            </a:r>
            <a:r>
              <a:rPr lang="en-US" altLang="zh-CN"/>
              <a:t>I/O</a:t>
            </a:r>
            <a:r>
              <a:rPr lang="zh-CN" altLang="en-US"/>
              <a:t>请求后,系统的正确处理流程是( )。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A.用户程序→系统调用处理程序→中断处理程序-设备驱动程序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B.用户程序→系统调用处理程序→设备驱动程序→中断处理程序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C.用户程序一设备驱动程序→系统调用处理程序一中断处理程序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D.用户程序→设备驱动程序→中断处理程序→系统调用处理程序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25. </a:t>
            </a:r>
            <a:r>
              <a:rPr lang="zh-CN" altLang="en-US"/>
              <a:t>在系统内存中设置磁盘缓冲区的主要目的是(</a:t>
            </a:r>
            <a:r>
              <a:rPr lang="en-US" altLang="zh-CN"/>
              <a:t> </a:t>
            </a:r>
            <a:r>
              <a:rPr lang="zh-CN" altLang="en-US"/>
              <a:t>)。</a:t>
            </a:r>
            <a:endParaRPr lang="zh-CN" altLang="en-US"/>
          </a:p>
          <a:p>
            <a:pPr marL="0" indent="457200">
              <a:buNone/>
            </a:pPr>
            <a:r>
              <a:rPr lang="zh-CN" altLang="en-US">
                <a:sym typeface="+mn-ea"/>
              </a:rPr>
              <a:t>A.减少磁盘 I/O 次数</a:t>
            </a:r>
            <a:r>
              <a:rPr lang="en-US" altLang="zh-CN">
                <a:sym typeface="+mn-ea"/>
              </a:rPr>
              <a:t>		</a:t>
            </a:r>
            <a:r>
              <a:rPr lang="zh-CN" altLang="en-US"/>
              <a:t>B.减少平均寻道时间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C.提高磁盘数据可靠性</a:t>
            </a:r>
            <a:r>
              <a:rPr lang="en-US" altLang="zh-CN"/>
              <a:t>		</a:t>
            </a:r>
            <a:r>
              <a:rPr lang="zh-CN" altLang="en-US">
                <a:sym typeface="+mn-ea"/>
              </a:rPr>
              <a:t>D.实现设备无关性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在一个磁盘上，有 </a:t>
            </a:r>
            <a:r>
              <a:rPr kumimoji="1" lang="en-US" altLang="zh-CN" dirty="0"/>
              <a:t>1000</a:t>
            </a:r>
            <a:r>
              <a:rPr kumimoji="1" lang="zh-CN" altLang="en-US" dirty="0"/>
              <a:t>个柱面，编号为</a:t>
            </a:r>
            <a:r>
              <a:rPr kumimoji="1" lang="en-US" altLang="zh-CN" dirty="0"/>
              <a:t>0~999,</a:t>
            </a:r>
            <a:r>
              <a:rPr kumimoji="1" lang="zh-CN" altLang="en-US" dirty="0"/>
              <a:t>用下面的算法计算为满足磁盘队列中的所有请求，磁盘臂必须移过的磁道的数目。假设最后服务的请求是在磁道 </a:t>
            </a:r>
            <a:r>
              <a:rPr kumimoji="1" lang="en-US" altLang="zh-CN" dirty="0"/>
              <a:t>345 </a:t>
            </a:r>
            <a:r>
              <a:rPr kumimoji="1" lang="zh-CN" altLang="en-US" dirty="0"/>
              <a:t>上，并且读写头正在朝磁道</a:t>
            </a:r>
            <a:r>
              <a:rPr kumimoji="1" lang="en-US" altLang="zh-CN" dirty="0"/>
              <a:t>0</a:t>
            </a:r>
            <a:r>
              <a:rPr kumimoji="1" lang="zh-CN" altLang="en-US" dirty="0"/>
              <a:t>移动。在按 </a:t>
            </a:r>
            <a:r>
              <a:rPr kumimoji="1" lang="en-US" altLang="zh-CN" dirty="0"/>
              <a:t>FIFO </a:t>
            </a:r>
            <a:r>
              <a:rPr kumimoji="1" lang="zh-CN" altLang="en-US" dirty="0"/>
              <a:t>顺序排列的队列中包含了如下磁道上的请求</a:t>
            </a:r>
            <a:r>
              <a:rPr kumimoji="1" lang="en-US" altLang="zh-CN" dirty="0"/>
              <a:t>:123,874,692,475,105,376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1)FIFO;</a:t>
            </a:r>
            <a:r>
              <a:rPr kumimoji="1" lang="zh-CN" altLang="en-US" dirty="0"/>
              <a:t> </a:t>
            </a:r>
            <a:r>
              <a:rPr kumimoji="1" lang="en-US" altLang="zh-CN" dirty="0"/>
              <a:t>2)SSTF;3)SCAN;4)LOOK;5)C-SCAN;6)C-LOOK.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某个文件系统中，外存为硬盘。物理块大小为</a:t>
            </a:r>
            <a:r>
              <a:rPr kumimoji="1" lang="en-US" altLang="zh-CN" dirty="0"/>
              <a:t>512B</a:t>
            </a:r>
            <a:r>
              <a:rPr kumimoji="1" lang="zh-CN" altLang="en-US" dirty="0"/>
              <a:t>，有文件</a:t>
            </a:r>
            <a:r>
              <a:rPr kumimoji="1" lang="en-US" altLang="zh-CN" dirty="0"/>
              <a:t>A</a:t>
            </a:r>
            <a:r>
              <a:rPr kumimoji="1" lang="zh-CN" altLang="en-US" dirty="0"/>
              <a:t>包含</a:t>
            </a:r>
            <a:r>
              <a:rPr kumimoji="1" lang="en-US" altLang="zh-CN" dirty="0"/>
              <a:t>598</a:t>
            </a:r>
            <a:r>
              <a:rPr kumimoji="1" lang="zh-CN" altLang="en-US" dirty="0"/>
              <a:t>条记录，每条记录占</a:t>
            </a:r>
            <a:r>
              <a:rPr kumimoji="1" lang="en-US" altLang="zh-CN" dirty="0"/>
              <a:t>255B</a:t>
            </a:r>
            <a:r>
              <a:rPr kumimoji="1" lang="zh-CN" altLang="en-US" dirty="0"/>
              <a:t>，每个物理块放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条记录。文件</a:t>
            </a:r>
            <a:r>
              <a:rPr kumimoji="1" lang="en-US" altLang="zh-CN" dirty="0"/>
              <a:t>A</a:t>
            </a:r>
            <a:r>
              <a:rPr kumimoji="1" lang="zh-CN" altLang="en-US" dirty="0"/>
              <a:t>所在的目录如下图所示。文件目录采用多级树形目录结构，由根目录结点、作为目录文件的中间结点和作为信息文件的树叶组成，每个目录项占</a:t>
            </a:r>
            <a:r>
              <a:rPr kumimoji="1" lang="en-US" altLang="zh-CN" dirty="0"/>
              <a:t>127B</a:t>
            </a:r>
            <a:r>
              <a:rPr kumimoji="1" lang="zh-CN" altLang="en-US" dirty="0"/>
              <a:t>，每个物理块放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个目录项，根目录的第一块常驻内存。试问</a:t>
            </a:r>
            <a:r>
              <a:rPr kumimoji="1" lang="en-US" altLang="zh-CN" dirty="0"/>
              <a:t>:</a:t>
            </a:r>
            <a:endParaRPr kumimoji="1" lang="en-US" altLang="zh-CN" dirty="0"/>
          </a:p>
          <a:p>
            <a:r>
              <a:rPr kumimoji="1" lang="en-US" altLang="zh-CN" dirty="0"/>
              <a:t>1)</a:t>
            </a:r>
            <a:r>
              <a:rPr kumimoji="1" lang="zh-CN" altLang="en-US" dirty="0"/>
              <a:t>若文件的物理结构采用链式存储方式，链指针地址占 </a:t>
            </a:r>
            <a:r>
              <a:rPr kumimoji="1" lang="en-US" altLang="zh-CN" dirty="0"/>
              <a:t>2B</a:t>
            </a:r>
            <a:r>
              <a:rPr kumimoji="1" lang="zh-CN" altLang="en-US" dirty="0"/>
              <a:t>，则要将文件 </a:t>
            </a:r>
            <a:r>
              <a:rPr kumimoji="1" lang="en-US" altLang="zh-CN" dirty="0"/>
              <a:t>A </a:t>
            </a:r>
            <a:r>
              <a:rPr kumimoji="1" lang="zh-CN" altLang="en-US" dirty="0"/>
              <a:t>读入内存，至少需要存取几次硬盘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r>
              <a:rPr kumimoji="1" lang="en-US" altLang="zh-CN" dirty="0"/>
              <a:t>2)</a:t>
            </a:r>
            <a:r>
              <a:rPr kumimoji="1" lang="zh-CN" altLang="en-US" dirty="0"/>
              <a:t>若文件为连续文件，则要读文件</a:t>
            </a:r>
            <a:r>
              <a:rPr kumimoji="1" lang="en-US" altLang="zh-CN" dirty="0"/>
              <a:t>A</a:t>
            </a:r>
            <a:r>
              <a:rPr kumimoji="1" lang="zh-CN" altLang="en-US" dirty="0"/>
              <a:t>的第</a:t>
            </a:r>
            <a:r>
              <a:rPr kumimoji="1" lang="en-US" altLang="zh-CN" dirty="0"/>
              <a:t>487</a:t>
            </a:r>
            <a:r>
              <a:rPr kumimoji="1" lang="zh-CN" altLang="en-US" dirty="0"/>
              <a:t>条记录至少要存取几次硬盘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r>
              <a:rPr kumimoji="1" lang="en-US" altLang="zh-CN" dirty="0"/>
              <a:t>3)</a:t>
            </a:r>
            <a:r>
              <a:rPr kumimoji="1" lang="zh-CN" altLang="en-US" dirty="0"/>
              <a:t>一般为减少读盘次数，可采取什么措施，此时可减少几次存取操作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某文件系统采用索引结点存放文件的属性和地址信息簇大小为 </a:t>
            </a:r>
            <a:r>
              <a:rPr kumimoji="1" lang="en-US" altLang="zh-CN" dirty="0"/>
              <a:t>4KB</a:t>
            </a:r>
            <a:r>
              <a:rPr kumimoji="1" lang="zh-CN" altLang="en-US" dirty="0"/>
              <a:t>。每个文件索引结点占</a:t>
            </a:r>
            <a:r>
              <a:rPr kumimoji="1" lang="en-US" altLang="zh-CN" dirty="0"/>
              <a:t>64B</a:t>
            </a:r>
            <a:r>
              <a:rPr kumimoji="1" lang="zh-CN" altLang="en-US" dirty="0"/>
              <a:t>，有</a:t>
            </a:r>
            <a:r>
              <a:rPr kumimoji="1" lang="en-US" altLang="zh-CN" dirty="0"/>
              <a:t>11</a:t>
            </a:r>
            <a:r>
              <a:rPr kumimoji="1" lang="zh-CN" altLang="en-US" dirty="0"/>
              <a:t>个地址项，其中直接地址项</a:t>
            </a:r>
            <a:r>
              <a:rPr kumimoji="1" lang="en-US" altLang="zh-CN" dirty="0"/>
              <a:t>8</a:t>
            </a:r>
            <a:r>
              <a:rPr kumimoji="1" lang="zh-CN" altLang="en-US" dirty="0"/>
              <a:t>个，一级、二级和三级间接地址项各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个，每个地址项长度为</a:t>
            </a:r>
            <a:r>
              <a:rPr kumimoji="1" lang="en-US" altLang="zh-CN" dirty="0"/>
              <a:t>4B</a:t>
            </a:r>
            <a:r>
              <a:rPr kumimoji="1" lang="zh-CN" altLang="en-US" dirty="0"/>
              <a:t>请回答下列问题</a:t>
            </a:r>
            <a:r>
              <a:rPr kumimoji="1" lang="en-US" altLang="zh-CN" dirty="0"/>
              <a:t>:</a:t>
            </a:r>
            <a:endParaRPr kumimoji="1" lang="en-US" altLang="zh-CN" dirty="0"/>
          </a:p>
          <a:p>
            <a:r>
              <a:rPr kumimoji="1" lang="en-US" altLang="zh-CN" dirty="0"/>
              <a:t>1)</a:t>
            </a:r>
            <a:r>
              <a:rPr kumimoji="1" lang="zh-CN" altLang="en-US" dirty="0"/>
              <a:t>该文件系统能支持的最大文件长度是多少</a:t>
            </a:r>
            <a:r>
              <a:rPr kumimoji="1" lang="en-US" altLang="zh-CN" dirty="0"/>
              <a:t>?(</a:t>
            </a:r>
            <a:r>
              <a:rPr kumimoji="1" lang="zh-CN" altLang="en-US" dirty="0"/>
              <a:t>给出计算表达式即可</a:t>
            </a:r>
            <a:r>
              <a:rPr kumimoji="1" lang="en-US" altLang="zh-CN" dirty="0"/>
              <a:t>2)</a:t>
            </a:r>
            <a:r>
              <a:rPr kumimoji="1" lang="zh-CN" altLang="en-US" dirty="0"/>
              <a:t>文件系统用</a:t>
            </a:r>
            <a:r>
              <a:rPr kumimoji="1" lang="en-US" altLang="zh-CN" dirty="0"/>
              <a:t>1M(1M=220)</a:t>
            </a:r>
            <a:r>
              <a:rPr kumimoji="1" lang="zh-CN" altLang="en-US" dirty="0"/>
              <a:t>个簇存放文件索引结点，用</a:t>
            </a:r>
            <a:r>
              <a:rPr kumimoji="1" lang="en-US" altLang="zh-CN" dirty="0"/>
              <a:t>512M</a:t>
            </a:r>
            <a:r>
              <a:rPr kumimoji="1" lang="zh-CN" altLang="en-US" dirty="0"/>
              <a:t>个簇存放文件数据若一个图像文件的大小为 </a:t>
            </a:r>
            <a:r>
              <a:rPr kumimoji="1" lang="en-US" altLang="zh-CN" dirty="0"/>
              <a:t>5600B,</a:t>
            </a:r>
            <a:r>
              <a:rPr kumimoji="1" lang="zh-CN" altLang="en-US" dirty="0"/>
              <a:t>则该文件系统最多能存放多少个这样的图像文件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r>
              <a:rPr kumimoji="1" lang="en-US" altLang="zh-CN" dirty="0"/>
              <a:t>3)</a:t>
            </a:r>
            <a:r>
              <a:rPr kumimoji="1" lang="zh-CN" altLang="en-US" dirty="0"/>
              <a:t>若文件 </a:t>
            </a:r>
            <a:r>
              <a:rPr kumimoji="1" lang="en-US" altLang="zh-CN" dirty="0"/>
              <a:t>F1 </a:t>
            </a:r>
            <a:r>
              <a:rPr kumimoji="1" lang="zh-CN" altLang="en-US" dirty="0"/>
              <a:t>的大小为 </a:t>
            </a:r>
            <a:r>
              <a:rPr kumimoji="1" lang="en-US" altLang="zh-CN" dirty="0"/>
              <a:t>6KB</a:t>
            </a:r>
            <a:r>
              <a:rPr kumimoji="1" lang="zh-CN" altLang="en-US" dirty="0"/>
              <a:t>，文件 </a:t>
            </a:r>
            <a:r>
              <a:rPr kumimoji="1" lang="en-US" altLang="zh-CN" dirty="0"/>
              <a:t>F2</a:t>
            </a:r>
            <a:r>
              <a:rPr kumimoji="1" lang="zh-CN" altLang="en-US" dirty="0"/>
              <a:t>的大小为 </a:t>
            </a:r>
            <a:r>
              <a:rPr kumimoji="1" lang="en-US" altLang="zh-CN" dirty="0"/>
              <a:t>40KB</a:t>
            </a:r>
            <a:r>
              <a:rPr kumimoji="1" lang="zh-CN" altLang="en-US" dirty="0"/>
              <a:t>，则该文系统获取 </a:t>
            </a:r>
            <a:r>
              <a:rPr kumimoji="1" lang="en-US" altLang="zh-CN" dirty="0"/>
              <a:t>F1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F2</a:t>
            </a:r>
            <a:r>
              <a:rPr kumimoji="1" lang="zh-CN" altLang="en-US" dirty="0"/>
              <a:t>最后一个簇的簇号需要的时间是否相同</a:t>
            </a:r>
            <a:r>
              <a:rPr kumimoji="1" lang="en-US" altLang="zh-CN" dirty="0"/>
              <a:t>?</a:t>
            </a:r>
            <a:r>
              <a:rPr kumimoji="1" lang="zh-CN" altLang="en-US" dirty="0"/>
              <a:t>为什么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15381</Words>
  <Application>WPS 文字</Application>
  <PresentationFormat>宽屏</PresentationFormat>
  <Paragraphs>1899</Paragraphs>
  <Slides>91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35" baseType="lpstr">
      <vt:lpstr>Arial</vt:lpstr>
      <vt:lpstr>宋体</vt:lpstr>
      <vt:lpstr>Wingdings</vt:lpstr>
      <vt:lpstr>喵呜黑体</vt:lpstr>
      <vt:lpstr>汉仪书宋二KW</vt:lpstr>
      <vt:lpstr>Verdana</vt:lpstr>
      <vt:lpstr>黑体</vt:lpstr>
      <vt:lpstr>汉仪中黑KW</vt:lpstr>
      <vt:lpstr>Calibri Light</vt:lpstr>
      <vt:lpstr>Helvetica Neue</vt:lpstr>
      <vt:lpstr>Calibri</vt:lpstr>
      <vt:lpstr>微软雅黑</vt:lpstr>
      <vt:lpstr>汉仪旗黑</vt:lpstr>
      <vt:lpstr>宋体</vt:lpstr>
      <vt:lpstr>Arial Unicode MS</vt:lpstr>
      <vt:lpstr>张海山锐谐体2.0-授权联系：Samtype@QQ.com</vt:lpstr>
      <vt:lpstr>苹方-简</vt:lpstr>
      <vt:lpstr>华文琥珀</vt:lpstr>
      <vt:lpstr>MS PGothic</vt:lpstr>
      <vt:lpstr>Monotype Sorts</vt:lpstr>
      <vt:lpstr>宋体</vt:lpstr>
      <vt:lpstr>Times New Roman</vt:lpstr>
      <vt:lpstr>MS PGothic</vt:lpstr>
      <vt:lpstr>Courier New</vt:lpstr>
      <vt:lpstr>Wingdings</vt:lpstr>
      <vt:lpstr>FrutigerNext LT Light</vt:lpstr>
      <vt:lpstr>FrutigerNext LT Medium</vt:lpstr>
      <vt:lpstr>方正兰亭黑简体</vt:lpstr>
      <vt:lpstr>Huawei Sans</vt:lpstr>
      <vt:lpstr>宋体</vt:lpstr>
      <vt:lpstr>Huawei Sans</vt:lpstr>
      <vt:lpstr>Tahoma</vt:lpstr>
      <vt:lpstr>Comic Sans MS</vt:lpstr>
      <vt:lpstr>张海山锐谐体2.0-授权联系：Samtype@QQ.com</vt:lpstr>
      <vt:lpstr>楷体_GB2312</vt:lpstr>
      <vt:lpstr>汉仪楷体简</vt:lpstr>
      <vt:lpstr>华文楷体</vt:lpstr>
      <vt:lpstr>Arial Black</vt:lpstr>
      <vt:lpstr>MS PGothic</vt:lpstr>
      <vt:lpstr>Thonburi</vt:lpstr>
      <vt:lpstr>微软雅黑</vt:lpstr>
      <vt:lpstr>Malgun Gothic</vt:lpstr>
      <vt:lpstr>Apple SD Gothic Neo</vt:lpstr>
      <vt:lpstr>Office 主题</vt:lpstr>
      <vt:lpstr>2025年度操作系统复习</vt:lpstr>
      <vt:lpstr>题型</vt:lpstr>
      <vt:lpstr>操作系统的试卷组成（不严谨不准确的统计）</vt:lpstr>
      <vt:lpstr>进程模型</vt:lpstr>
      <vt:lpstr>并发还是并行？这是个问题</vt:lpstr>
      <vt:lpstr>进程实现</vt:lpstr>
      <vt:lpstr>Complex Process States (1)</vt:lpstr>
      <vt:lpstr>单挂起进程模型</vt:lpstr>
      <vt:lpstr>双挂起进程模型</vt:lpstr>
      <vt:lpstr>进程调度算法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调度的代价</vt:lpstr>
      <vt:lpstr>进程间通信</vt:lpstr>
      <vt:lpstr>线程</vt:lpstr>
      <vt:lpstr>PowerPoint 演示文稿</vt:lpstr>
      <vt:lpstr>线程应该在用户态还是内核态？</vt:lpstr>
      <vt:lpstr>PowerPoint 演示文稿</vt:lpstr>
      <vt:lpstr>进程管理中的新概念</vt:lpstr>
      <vt:lpstr>并发与同步（进程间通信vs线程间并发）</vt:lpstr>
      <vt:lpstr>PowerPoint 演示文稿</vt:lpstr>
      <vt:lpstr>PowerPoint 演示文稿</vt:lpstr>
      <vt:lpstr>PowerPoint 演示文稿</vt:lpstr>
      <vt:lpstr>学会使用信号量设计问题的解决方案</vt:lpstr>
      <vt:lpstr>解析</vt:lpstr>
      <vt:lpstr>解析</vt:lpstr>
      <vt:lpstr>另一个解题思路</vt:lpstr>
      <vt:lpstr>再一个例题</vt:lpstr>
      <vt:lpstr>多核SMP结构下指令可以乱序执行引发的新问题</vt:lpstr>
      <vt:lpstr>系统调用和保护机制</vt:lpstr>
      <vt:lpstr>PowerPoint 演示文稿</vt:lpstr>
      <vt:lpstr>PowerPoint 演示文稿</vt:lpstr>
      <vt:lpstr>内存管理</vt:lpstr>
      <vt:lpstr>Model of Memory Management</vt:lpstr>
      <vt:lpstr>PowerPoint 演示文稿</vt:lpstr>
      <vt:lpstr>PowerPoint 演示文稿</vt:lpstr>
      <vt:lpstr>虚拟内存方案</vt:lpstr>
      <vt:lpstr>页表与多级页表</vt:lpstr>
      <vt:lpstr>4K产生了什么深远意义的影响？</vt:lpstr>
      <vt:lpstr>X64的页表是什么样的</vt:lpstr>
      <vt:lpstr>X64的页表是什么样的</vt:lpstr>
      <vt:lpstr>Mechanism of TLB</vt:lpstr>
      <vt:lpstr>4K的页真的是不可动摇的吗：回忆ucore</vt:lpstr>
      <vt:lpstr>fork调用后,exec调用后</vt:lpstr>
      <vt:lpstr>虚拟地址空间真正的布局</vt:lpstr>
      <vt:lpstr>分页并没有创造更多的内存，分页使得内存可以被延迟加载/按需加载</vt:lpstr>
      <vt:lpstr>Summary: Page replacement algorithm</vt:lpstr>
      <vt:lpstr>PowerPoint 演示文稿</vt:lpstr>
      <vt:lpstr>PowerPoint 演示文稿</vt:lpstr>
      <vt:lpstr>PowerPoint 演示文稿</vt:lpstr>
      <vt:lpstr>页面置换算法的问题</vt:lpstr>
      <vt:lpstr>PowerPoint 演示文稿</vt:lpstr>
      <vt:lpstr>页面置换算法在NUMA问题的应用</vt:lpstr>
      <vt:lpstr>页面置换算法的问题</vt:lpstr>
      <vt:lpstr>挂起进程模型</vt:lpstr>
      <vt:lpstr>文件系统</vt:lpstr>
      <vt:lpstr>Physical structure of file: link table</vt:lpstr>
      <vt:lpstr>Physical structure of file: index table</vt:lpstr>
      <vt:lpstr>Summary of file physical structure</vt:lpstr>
      <vt:lpstr>文件系统与硬盘管理的结合</vt:lpstr>
      <vt:lpstr>存储体系结构的使用</vt:lpstr>
      <vt:lpstr>计算机世界的时间</vt:lpstr>
      <vt:lpstr>PowerPoint 演示文稿</vt:lpstr>
      <vt:lpstr>PowerPoint 演示文稿</vt:lpstr>
      <vt:lpstr>SSTF算法示例</vt:lpstr>
      <vt:lpstr>PowerPoint 演示文稿</vt:lpstr>
      <vt:lpstr>设备管理</vt:lpstr>
      <vt:lpstr>Working mode of devices: busy waiting</vt:lpstr>
      <vt:lpstr>Working mode of devices: interrupt</vt:lpstr>
      <vt:lpstr>Working mode of devices: DMA</vt:lpstr>
      <vt:lpstr>PowerPoint 演示文稿</vt:lpstr>
      <vt:lpstr>死锁</vt:lpstr>
      <vt:lpstr>PowerPoint 演示文稿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2015年度操作系统复习</dc:title>
  <dc:creator>BruinPiggy</dc:creator>
  <cp:lastModifiedBy>李浩然</cp:lastModifiedBy>
  <cp:revision>295</cp:revision>
  <dcterms:created xsi:type="dcterms:W3CDTF">2025-12-30T03:09:16Z</dcterms:created>
  <dcterms:modified xsi:type="dcterms:W3CDTF">2025-12-30T03:09:16Z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6D1AA26BC6F9628D014253699EA36F17_43</vt:lpwstr>
  </property>
  <property fmtid="{D5CDD505-2E9C-101B-9397-08002B2CF9AE}" pid="3" name="KSOProductBuildVer">
    <vt:lpwstr>2052-6.7.1.8828</vt:lpwstr>
  </property>
</Properties>
</file>